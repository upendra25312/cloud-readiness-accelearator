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2.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theme/theme3.xml" ContentType="application/vnd.openxmlformats-officedocument.theme+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theme/theme4.xml" ContentType="application/vnd.openxmlformats-officedocument.theme+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theme/theme5.xml" ContentType="application/vnd.openxmlformats-officedocument.theme+xml"/>
  <Override PartName="/ppt/tags/tag3.xml" ContentType="application/vnd.openxmlformats-officedocument.presentationml.tags+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6.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theme/theme7.xml" ContentType="application/vnd.openxmlformats-officedocument.theme+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theme/theme8.xml" ContentType="application/vnd.openxmlformats-officedocument.theme+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theme/theme9.xml" ContentType="application/vnd.openxmlformats-officedocument.theme+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theme/theme10.xml" ContentType="application/vnd.openxmlformats-officedocument.theme+xml"/>
  <Override PartName="/ppt/tags/tag4.xml" ContentType="application/vnd.openxmlformats-officedocument.presentationml.tags+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theme/theme11.xml" ContentType="application/vnd.openxmlformats-officedocument.theme+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theme/theme12.xml" ContentType="application/vnd.openxmlformats-officedocument.theme+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theme/theme13.xml" ContentType="application/vnd.openxmlformats-officedocument.theme+xml"/>
  <Override PartName="/ppt/tags/tag5.xml" ContentType="application/vnd.openxmlformats-officedocument.presentationml.tags+xml"/>
  <Override PartName="/ppt/tags/tag6.xml" ContentType="application/vnd.openxmlformats-officedocument.presentationml.tags+xml"/>
  <Override PartName="/ppt/theme/theme14.xml" ContentType="application/vnd.openxmlformats-officedocument.theme+xml"/>
  <Override PartName="/ppt/theme/theme1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notesSlides/notesSlide10.xml" ContentType="application/vnd.openxmlformats-officedocument.presentationml.notesSlide+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8.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19.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drawings/drawing1.xml" ContentType="application/vnd.openxmlformats-officedocument.drawingml.chartshapes+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drawings/drawing2.xml" ContentType="application/vnd.openxmlformats-officedocument.drawingml.chartshapes+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drawings/drawing3.xml" ContentType="application/vnd.openxmlformats-officedocument.drawingml.chartshapes+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drawings/drawing4.xml" ContentType="application/vnd.openxmlformats-officedocument.drawingml.chartshapes+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tags/tag32.xml" ContentType="application/vnd.openxmlformats-officedocument.presentationml.tags+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7" Type="http://schemas.microsoft.com/office/2020/02/relationships/classificationlabels" Target="docMetadata/LabelInfo.xml"/><Relationship Id="rId2" Type="http://schemas.openxmlformats.org/officeDocument/2006/relationships/officeDocument" Target="ppt/presentation.xml"/><Relationship Id="rId1" Type="http://schemas.microsoft.com/office/2011/relationships/webextensiontaskpanes" Target="ppt/webextensions/taskpanes.xml"/><Relationship Id="rId6" Type="http://schemas.openxmlformats.org/officeDocument/2006/relationships/custom-properties" Target="docProps/custom.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073" r:id="rId4"/>
    <p:sldMasterId id="2147484107" r:id="rId5"/>
    <p:sldMasterId id="2147484163" r:id="rId6"/>
    <p:sldMasterId id="2147484375" r:id="rId7"/>
    <p:sldMasterId id="2147484405" r:id="rId8"/>
    <p:sldMasterId id="2147484435" r:id="rId9"/>
    <p:sldMasterId id="2147484481" r:id="rId10"/>
    <p:sldMasterId id="2147484513" r:id="rId11"/>
    <p:sldMasterId id="2147484530" r:id="rId12"/>
    <p:sldMasterId id="2147484602" r:id="rId13"/>
    <p:sldMasterId id="2147484660" r:id="rId14"/>
    <p:sldMasterId id="2147484704" r:id="rId15"/>
    <p:sldMasterId id="2147484738" r:id="rId16"/>
  </p:sldMasterIdLst>
  <p:notesMasterIdLst>
    <p:notesMasterId r:id="rId142"/>
  </p:notesMasterIdLst>
  <p:handoutMasterIdLst>
    <p:handoutMasterId r:id="rId143"/>
  </p:handoutMasterIdLst>
  <p:sldIdLst>
    <p:sldId id="257" r:id="rId17"/>
    <p:sldId id="2147483644" r:id="rId18"/>
    <p:sldId id="2147477957" r:id="rId19"/>
    <p:sldId id="260" r:id="rId20"/>
    <p:sldId id="261" r:id="rId21"/>
    <p:sldId id="2147483645" r:id="rId22"/>
    <p:sldId id="2147483646" r:id="rId23"/>
    <p:sldId id="2147482977" r:id="rId24"/>
    <p:sldId id="267" r:id="rId25"/>
    <p:sldId id="275" r:id="rId26"/>
    <p:sldId id="263" r:id="rId27"/>
    <p:sldId id="273" r:id="rId28"/>
    <p:sldId id="274" r:id="rId29"/>
    <p:sldId id="271" r:id="rId30"/>
    <p:sldId id="2147483647" r:id="rId31"/>
    <p:sldId id="256" r:id="rId32"/>
    <p:sldId id="265" r:id="rId33"/>
    <p:sldId id="258" r:id="rId34"/>
    <p:sldId id="272" r:id="rId35"/>
    <p:sldId id="279" r:id="rId36"/>
    <p:sldId id="2147479005" r:id="rId37"/>
    <p:sldId id="269" r:id="rId38"/>
    <p:sldId id="2147483037" r:id="rId39"/>
    <p:sldId id="280" r:id="rId40"/>
    <p:sldId id="2147483021" r:id="rId41"/>
    <p:sldId id="2147483022" r:id="rId42"/>
    <p:sldId id="2147482988" r:id="rId43"/>
    <p:sldId id="2147483114" r:id="rId44"/>
    <p:sldId id="2147483066" r:id="rId45"/>
    <p:sldId id="281" r:id="rId46"/>
    <p:sldId id="2147483089" r:id="rId47"/>
    <p:sldId id="2147478952" r:id="rId48"/>
    <p:sldId id="2147478955" r:id="rId49"/>
    <p:sldId id="2147478954" r:id="rId50"/>
    <p:sldId id="2147483048" r:id="rId51"/>
    <p:sldId id="2147483038" r:id="rId52"/>
    <p:sldId id="2147482987" r:id="rId53"/>
    <p:sldId id="2147483061" r:id="rId54"/>
    <p:sldId id="2147483006" r:id="rId55"/>
    <p:sldId id="2147483086" r:id="rId56"/>
    <p:sldId id="2147482998" r:id="rId57"/>
    <p:sldId id="2147483049" r:id="rId58"/>
    <p:sldId id="2147478958" r:id="rId59"/>
    <p:sldId id="2147482979" r:id="rId60"/>
    <p:sldId id="2147478960" r:id="rId61"/>
    <p:sldId id="2147483014" r:id="rId62"/>
    <p:sldId id="2147483019" r:id="rId63"/>
    <p:sldId id="2147483020" r:id="rId64"/>
    <p:sldId id="2147483044" r:id="rId65"/>
    <p:sldId id="2147483009" r:id="rId66"/>
    <p:sldId id="2147483045" r:id="rId67"/>
    <p:sldId id="2147483050" r:id="rId68"/>
    <p:sldId id="2147483108" r:id="rId69"/>
    <p:sldId id="2147483059" r:id="rId70"/>
    <p:sldId id="2147483130" r:id="rId71"/>
    <p:sldId id="2147478948" r:id="rId72"/>
    <p:sldId id="276" r:id="rId73"/>
    <p:sldId id="277" r:id="rId74"/>
    <p:sldId id="270" r:id="rId75"/>
    <p:sldId id="2147483051" r:id="rId76"/>
    <p:sldId id="262" r:id="rId77"/>
    <p:sldId id="2147470909" r:id="rId78"/>
    <p:sldId id="2147483062" r:id="rId79"/>
    <p:sldId id="266" r:id="rId80"/>
    <p:sldId id="268" r:id="rId81"/>
    <p:sldId id="2147483126" r:id="rId82"/>
    <p:sldId id="2147483115" r:id="rId83"/>
    <p:sldId id="2147483058" r:id="rId84"/>
    <p:sldId id="2113417577" r:id="rId85"/>
    <p:sldId id="278" r:id="rId86"/>
    <p:sldId id="2147483040" r:id="rId87"/>
    <p:sldId id="2147483088" r:id="rId88"/>
    <p:sldId id="2147478983" r:id="rId89"/>
    <p:sldId id="2147482991" r:id="rId90"/>
    <p:sldId id="2147482993" r:id="rId91"/>
    <p:sldId id="2147482990" r:id="rId92"/>
    <p:sldId id="2147483064" r:id="rId93"/>
    <p:sldId id="2147483063" r:id="rId94"/>
    <p:sldId id="2147482994" r:id="rId95"/>
    <p:sldId id="2147483109" r:id="rId96"/>
    <p:sldId id="2147483129" r:id="rId97"/>
    <p:sldId id="2147483127" r:id="rId98"/>
    <p:sldId id="2147482997" r:id="rId99"/>
    <p:sldId id="2147483041" r:id="rId100"/>
    <p:sldId id="2147478999" r:id="rId101"/>
    <p:sldId id="2147483028" r:id="rId102"/>
    <p:sldId id="2147483073" r:id="rId103"/>
    <p:sldId id="2147483116" r:id="rId104"/>
    <p:sldId id="2147483083" r:id="rId105"/>
    <p:sldId id="2147483098" r:id="rId106"/>
    <p:sldId id="2147483075" r:id="rId107"/>
    <p:sldId id="2147483077" r:id="rId108"/>
    <p:sldId id="2147483079" r:id="rId109"/>
    <p:sldId id="2147483099" r:id="rId110"/>
    <p:sldId id="2147483100" r:id="rId111"/>
    <p:sldId id="2147483101" r:id="rId112"/>
    <p:sldId id="2147483070" r:id="rId113"/>
    <p:sldId id="2147483102" r:id="rId114"/>
    <p:sldId id="2147483103" r:id="rId115"/>
    <p:sldId id="2147483104" r:id="rId116"/>
    <p:sldId id="2147483105" r:id="rId117"/>
    <p:sldId id="2147483069" r:id="rId118"/>
    <p:sldId id="2147483106" r:id="rId119"/>
    <p:sldId id="264" r:id="rId120"/>
    <p:sldId id="2147483068" r:id="rId121"/>
    <p:sldId id="2147478949" r:id="rId122"/>
    <p:sldId id="2147478468" r:id="rId123"/>
    <p:sldId id="2147478496" r:id="rId124"/>
    <p:sldId id="2147478994" r:id="rId125"/>
    <p:sldId id="2147483093" r:id="rId126"/>
    <p:sldId id="2147483094" r:id="rId127"/>
    <p:sldId id="2147483071" r:id="rId128"/>
    <p:sldId id="2147483072" r:id="rId129"/>
    <p:sldId id="2147483095" r:id="rId130"/>
    <p:sldId id="2147483096" r:id="rId131"/>
    <p:sldId id="2147483097" r:id="rId132"/>
    <p:sldId id="2147483090" r:id="rId133"/>
    <p:sldId id="2147483007" r:id="rId134"/>
    <p:sldId id="2113417374" r:id="rId135"/>
    <p:sldId id="2147483091" r:id="rId136"/>
    <p:sldId id="2147478927" r:id="rId137"/>
    <p:sldId id="2147482974" r:id="rId138"/>
    <p:sldId id="2147482975" r:id="rId139"/>
    <p:sldId id="2147483011" r:id="rId140"/>
    <p:sldId id="2113417372" r:id="rId141"/>
  </p:sldIdLst>
  <p:sldSz cx="24384000" cy="13716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AD61A069-7D16-4269-866C-031499F67833}">
          <p14:sldIdLst>
            <p14:sldId id="257"/>
            <p14:sldId id="2147483644"/>
            <p14:sldId id="2147477957"/>
            <p14:sldId id="260"/>
            <p14:sldId id="261"/>
            <p14:sldId id="2147483645"/>
            <p14:sldId id="2147483646"/>
            <p14:sldId id="2147482977"/>
            <p14:sldId id="267"/>
            <p14:sldId id="275"/>
            <p14:sldId id="263"/>
            <p14:sldId id="273"/>
            <p14:sldId id="274"/>
            <p14:sldId id="271"/>
            <p14:sldId id="2147483647"/>
            <p14:sldId id="256"/>
            <p14:sldId id="265"/>
            <p14:sldId id="258"/>
            <p14:sldId id="272"/>
            <p14:sldId id="279"/>
            <p14:sldId id="2147479005"/>
            <p14:sldId id="269"/>
            <p14:sldId id="2147483037"/>
            <p14:sldId id="280"/>
            <p14:sldId id="2147483021"/>
            <p14:sldId id="2147483022"/>
            <p14:sldId id="2147482988"/>
            <p14:sldId id="2147483114"/>
            <p14:sldId id="2147483066"/>
            <p14:sldId id="281"/>
            <p14:sldId id="2147483089"/>
            <p14:sldId id="2147478952"/>
            <p14:sldId id="2147478955"/>
            <p14:sldId id="2147478954"/>
            <p14:sldId id="2147483048"/>
            <p14:sldId id="2147483038"/>
            <p14:sldId id="2147482987"/>
            <p14:sldId id="2147483061"/>
            <p14:sldId id="2147483006"/>
            <p14:sldId id="2147483086"/>
            <p14:sldId id="2147482998"/>
            <p14:sldId id="2147483049"/>
            <p14:sldId id="2147478958"/>
            <p14:sldId id="2147482979"/>
            <p14:sldId id="2147478960"/>
            <p14:sldId id="2147483014"/>
            <p14:sldId id="2147483019"/>
            <p14:sldId id="2147483020"/>
            <p14:sldId id="2147483044"/>
            <p14:sldId id="2147483009"/>
            <p14:sldId id="2147483045"/>
            <p14:sldId id="2147483050"/>
            <p14:sldId id="2147483108"/>
            <p14:sldId id="2147483059"/>
            <p14:sldId id="2147483130"/>
            <p14:sldId id="2147478948"/>
            <p14:sldId id="276"/>
            <p14:sldId id="277"/>
            <p14:sldId id="270"/>
            <p14:sldId id="2147483051"/>
            <p14:sldId id="262"/>
            <p14:sldId id="2147470909"/>
            <p14:sldId id="2147483062"/>
            <p14:sldId id="266"/>
            <p14:sldId id="268"/>
            <p14:sldId id="2147483126"/>
            <p14:sldId id="2147483115"/>
            <p14:sldId id="2147483058"/>
            <p14:sldId id="2113417577"/>
            <p14:sldId id="278"/>
            <p14:sldId id="2147483040"/>
            <p14:sldId id="2147483088"/>
            <p14:sldId id="2147478983"/>
            <p14:sldId id="2147482991"/>
            <p14:sldId id="2147482993"/>
            <p14:sldId id="2147482990"/>
            <p14:sldId id="2147483064"/>
            <p14:sldId id="2147483063"/>
            <p14:sldId id="2147482994"/>
            <p14:sldId id="2147483109"/>
            <p14:sldId id="2147483129"/>
            <p14:sldId id="2147483127"/>
            <p14:sldId id="2147482997"/>
            <p14:sldId id="2147483041"/>
            <p14:sldId id="2147478999"/>
            <p14:sldId id="2147483028"/>
            <p14:sldId id="2147483073"/>
            <p14:sldId id="2147483116"/>
            <p14:sldId id="2147483083"/>
            <p14:sldId id="2147483098"/>
            <p14:sldId id="2147483075"/>
            <p14:sldId id="2147483077"/>
            <p14:sldId id="2147483079"/>
            <p14:sldId id="2147483099"/>
            <p14:sldId id="2147483100"/>
            <p14:sldId id="2147483101"/>
            <p14:sldId id="2147483070"/>
            <p14:sldId id="2147483102"/>
            <p14:sldId id="2147483103"/>
            <p14:sldId id="2147483104"/>
            <p14:sldId id="2147483105"/>
            <p14:sldId id="2147483069"/>
            <p14:sldId id="2147483106"/>
            <p14:sldId id="264"/>
            <p14:sldId id="2147483068"/>
            <p14:sldId id="2147478949"/>
            <p14:sldId id="2147478468"/>
            <p14:sldId id="2147478496"/>
            <p14:sldId id="2147478994"/>
            <p14:sldId id="2147483093"/>
            <p14:sldId id="2147483094"/>
            <p14:sldId id="2147483071"/>
            <p14:sldId id="2147483072"/>
            <p14:sldId id="2147483095"/>
            <p14:sldId id="2147483096"/>
            <p14:sldId id="2147483097"/>
            <p14:sldId id="2147483090"/>
            <p14:sldId id="2147483007"/>
            <p14:sldId id="2113417374"/>
            <p14:sldId id="2147483091"/>
            <p14:sldId id="2147478927"/>
            <p14:sldId id="2147482974"/>
            <p14:sldId id="2147482975"/>
            <p14:sldId id="2147483011"/>
            <p14:sldId id="2113417372"/>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12CFAD03-C1D1-6FC9-E855-8005EE1C9A07}" name="Scott Beckford" initials="SB" userId="S::scott.beckford@rackspace.com::97f88ce4-fa8b-4163-b87d-92edb22d088f" providerId="AD"/>
  <p188:author id="{E8978822-E693-3C50-0FF3-6484C5E26D79}" name="Matthew Wright" initials="MW" userId="S::matthew.wright@rackspace.com::0d3ab189-59d5-47dc-8275-9fbc0b028d65" providerId="AD"/>
  <p188:author id="{EFE7A935-1A5E-1AD6-433E-A89DB6DE14E7}" name="Rashid Anwar Cheema" initials="RA" userId="S::rashid.anwarcheema@rackspace.com::93d5814b-5360-4dda-8d6a-3ba5986ce669"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Ashley Miesner" initials="AM" lastIdx="5" clrIdx="0">
    <p:extLst>
      <p:ext uri="{19B8F6BF-5375-455C-9EA6-DF929625EA0E}">
        <p15:presenceInfo xmlns:p15="http://schemas.microsoft.com/office/powerpoint/2012/main" userId="ad8e07fa54b49bda" providerId="Windows Live"/>
      </p:ext>
    </p:extLst>
  </p:cmAuthor>
  <p:cmAuthor id="2" name="Abi Watson" initials="AW" lastIdx="6" clrIdx="1">
    <p:extLst>
      <p:ext uri="{19B8F6BF-5375-455C-9EA6-DF929625EA0E}">
        <p15:presenceInfo xmlns:p15="http://schemas.microsoft.com/office/powerpoint/2012/main" userId="S::abi.watson@rackspace.co.uk::cbd6f91d-7bfe-46bf-bc79-2b67dca856ba" providerId="AD"/>
      </p:ext>
    </p:extLst>
  </p:cmAuthor>
  <p:cmAuthor id="3" name="Adam Evans" initials="AE" lastIdx="1" clrIdx="2">
    <p:extLst>
      <p:ext uri="{19B8F6BF-5375-455C-9EA6-DF929625EA0E}">
        <p15:presenceInfo xmlns:p15="http://schemas.microsoft.com/office/powerpoint/2012/main" userId="S::Adam.Evans@rackspace.co.uk::9762edaf-6122-415d-b47d-f06fb146bf0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5008A"/>
    <a:srgbClr val="00B0F0"/>
    <a:srgbClr val="E57100"/>
    <a:srgbClr val="0059C8"/>
    <a:srgbClr val="222E63"/>
    <a:srgbClr val="0070C0"/>
    <a:srgbClr val="005F5E"/>
    <a:srgbClr val="00BEBC"/>
    <a:srgbClr val="B9B9B9"/>
    <a:srgbClr val="19265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E8034E78-7F5D-4C2E-B375-FC64B27BC917}" styleName="Dark Style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2862"/>
    <p:restoredTop sz="94570"/>
  </p:normalViewPr>
  <p:slideViewPr>
    <p:cSldViewPr snapToGrid="0">
      <p:cViewPr varScale="1">
        <p:scale>
          <a:sx n="73" d="100"/>
          <a:sy n="73" d="100"/>
        </p:scale>
        <p:origin x="1272" y="22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1.xml"/><Relationship Id="rId21" Type="http://schemas.openxmlformats.org/officeDocument/2006/relationships/slide" Target="slides/slide5.xml"/><Relationship Id="rId42" Type="http://schemas.openxmlformats.org/officeDocument/2006/relationships/slide" Target="slides/slide26.xml"/><Relationship Id="rId63" Type="http://schemas.openxmlformats.org/officeDocument/2006/relationships/slide" Target="slides/slide47.xml"/><Relationship Id="rId84" Type="http://schemas.openxmlformats.org/officeDocument/2006/relationships/slide" Target="slides/slide68.xml"/><Relationship Id="rId138" Type="http://schemas.openxmlformats.org/officeDocument/2006/relationships/slide" Target="slides/slide122.xml"/><Relationship Id="rId107" Type="http://schemas.openxmlformats.org/officeDocument/2006/relationships/slide" Target="slides/slide91.xml"/><Relationship Id="rId11" Type="http://schemas.openxmlformats.org/officeDocument/2006/relationships/slideMaster" Target="slideMasters/slideMaster8.xml"/><Relationship Id="rId32" Type="http://schemas.openxmlformats.org/officeDocument/2006/relationships/slide" Target="slides/slide16.xml"/><Relationship Id="rId53" Type="http://schemas.openxmlformats.org/officeDocument/2006/relationships/slide" Target="slides/slide37.xml"/><Relationship Id="rId74" Type="http://schemas.openxmlformats.org/officeDocument/2006/relationships/slide" Target="slides/slide58.xml"/><Relationship Id="rId128" Type="http://schemas.openxmlformats.org/officeDocument/2006/relationships/slide" Target="slides/slide112.xml"/><Relationship Id="rId149" Type="http://schemas.microsoft.com/office/2016/11/relationships/changesInfo" Target="changesInfos/changesInfo1.xml"/><Relationship Id="rId5" Type="http://schemas.openxmlformats.org/officeDocument/2006/relationships/slideMaster" Target="slideMasters/slideMaster2.xml"/><Relationship Id="rId95" Type="http://schemas.openxmlformats.org/officeDocument/2006/relationships/slide" Target="slides/slide79.xml"/><Relationship Id="rId22" Type="http://schemas.openxmlformats.org/officeDocument/2006/relationships/slide" Target="slides/slide6.xml"/><Relationship Id="rId27" Type="http://schemas.openxmlformats.org/officeDocument/2006/relationships/slide" Target="slides/slide11.xml"/><Relationship Id="rId43" Type="http://schemas.openxmlformats.org/officeDocument/2006/relationships/slide" Target="slides/slide27.xml"/><Relationship Id="rId48" Type="http://schemas.openxmlformats.org/officeDocument/2006/relationships/slide" Target="slides/slide32.xml"/><Relationship Id="rId64" Type="http://schemas.openxmlformats.org/officeDocument/2006/relationships/slide" Target="slides/slide48.xml"/><Relationship Id="rId69" Type="http://schemas.openxmlformats.org/officeDocument/2006/relationships/slide" Target="slides/slide53.xml"/><Relationship Id="rId113" Type="http://schemas.openxmlformats.org/officeDocument/2006/relationships/slide" Target="slides/slide97.xml"/><Relationship Id="rId118" Type="http://schemas.openxmlformats.org/officeDocument/2006/relationships/slide" Target="slides/slide102.xml"/><Relationship Id="rId134" Type="http://schemas.openxmlformats.org/officeDocument/2006/relationships/slide" Target="slides/slide118.xml"/><Relationship Id="rId139" Type="http://schemas.openxmlformats.org/officeDocument/2006/relationships/slide" Target="slides/slide123.xml"/><Relationship Id="rId80" Type="http://schemas.openxmlformats.org/officeDocument/2006/relationships/slide" Target="slides/slide64.xml"/><Relationship Id="rId85" Type="http://schemas.openxmlformats.org/officeDocument/2006/relationships/slide" Target="slides/slide69.xml"/><Relationship Id="rId150" Type="http://schemas.microsoft.com/office/2018/10/relationships/authors" Target="authors.xml"/><Relationship Id="rId12" Type="http://schemas.openxmlformats.org/officeDocument/2006/relationships/slideMaster" Target="slideMasters/slideMaster9.xml"/><Relationship Id="rId17" Type="http://schemas.openxmlformats.org/officeDocument/2006/relationships/slide" Target="slides/slide1.xml"/><Relationship Id="rId33" Type="http://schemas.openxmlformats.org/officeDocument/2006/relationships/slide" Target="slides/slide17.xml"/><Relationship Id="rId38" Type="http://schemas.openxmlformats.org/officeDocument/2006/relationships/slide" Target="slides/slide22.xml"/><Relationship Id="rId59" Type="http://schemas.openxmlformats.org/officeDocument/2006/relationships/slide" Target="slides/slide43.xml"/><Relationship Id="rId103" Type="http://schemas.openxmlformats.org/officeDocument/2006/relationships/slide" Target="slides/slide87.xml"/><Relationship Id="rId108" Type="http://schemas.openxmlformats.org/officeDocument/2006/relationships/slide" Target="slides/slide92.xml"/><Relationship Id="rId124" Type="http://schemas.openxmlformats.org/officeDocument/2006/relationships/slide" Target="slides/slide108.xml"/><Relationship Id="rId129" Type="http://schemas.openxmlformats.org/officeDocument/2006/relationships/slide" Target="slides/slide113.xml"/><Relationship Id="rId54" Type="http://schemas.openxmlformats.org/officeDocument/2006/relationships/slide" Target="slides/slide38.xml"/><Relationship Id="rId70" Type="http://schemas.openxmlformats.org/officeDocument/2006/relationships/slide" Target="slides/slide54.xml"/><Relationship Id="rId75" Type="http://schemas.openxmlformats.org/officeDocument/2006/relationships/slide" Target="slides/slide59.xml"/><Relationship Id="rId91" Type="http://schemas.openxmlformats.org/officeDocument/2006/relationships/slide" Target="slides/slide75.xml"/><Relationship Id="rId96" Type="http://schemas.openxmlformats.org/officeDocument/2006/relationships/slide" Target="slides/slide80.xml"/><Relationship Id="rId140" Type="http://schemas.openxmlformats.org/officeDocument/2006/relationships/slide" Target="slides/slide124.xml"/><Relationship Id="rId145"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7.xml"/><Relationship Id="rId28" Type="http://schemas.openxmlformats.org/officeDocument/2006/relationships/slide" Target="slides/slide12.xml"/><Relationship Id="rId49" Type="http://schemas.openxmlformats.org/officeDocument/2006/relationships/slide" Target="slides/slide33.xml"/><Relationship Id="rId114" Type="http://schemas.openxmlformats.org/officeDocument/2006/relationships/slide" Target="slides/slide98.xml"/><Relationship Id="rId119" Type="http://schemas.openxmlformats.org/officeDocument/2006/relationships/slide" Target="slides/slide103.xml"/><Relationship Id="rId44" Type="http://schemas.openxmlformats.org/officeDocument/2006/relationships/slide" Target="slides/slide28.xml"/><Relationship Id="rId60" Type="http://schemas.openxmlformats.org/officeDocument/2006/relationships/slide" Target="slides/slide44.xml"/><Relationship Id="rId65" Type="http://schemas.openxmlformats.org/officeDocument/2006/relationships/slide" Target="slides/slide49.xml"/><Relationship Id="rId81" Type="http://schemas.openxmlformats.org/officeDocument/2006/relationships/slide" Target="slides/slide65.xml"/><Relationship Id="rId86" Type="http://schemas.openxmlformats.org/officeDocument/2006/relationships/slide" Target="slides/slide70.xml"/><Relationship Id="rId130" Type="http://schemas.openxmlformats.org/officeDocument/2006/relationships/slide" Target="slides/slide114.xml"/><Relationship Id="rId135" Type="http://schemas.openxmlformats.org/officeDocument/2006/relationships/slide" Target="slides/slide119.xml"/><Relationship Id="rId13" Type="http://schemas.openxmlformats.org/officeDocument/2006/relationships/slideMaster" Target="slideMasters/slideMaster10.xml"/><Relationship Id="rId18" Type="http://schemas.openxmlformats.org/officeDocument/2006/relationships/slide" Target="slides/slide2.xml"/><Relationship Id="rId39" Type="http://schemas.openxmlformats.org/officeDocument/2006/relationships/slide" Target="slides/slide23.xml"/><Relationship Id="rId109" Type="http://schemas.openxmlformats.org/officeDocument/2006/relationships/slide" Target="slides/slide93.xml"/><Relationship Id="rId34" Type="http://schemas.openxmlformats.org/officeDocument/2006/relationships/slide" Target="slides/slide18.xml"/><Relationship Id="rId50" Type="http://schemas.openxmlformats.org/officeDocument/2006/relationships/slide" Target="slides/slide34.xml"/><Relationship Id="rId55" Type="http://schemas.openxmlformats.org/officeDocument/2006/relationships/slide" Target="slides/slide39.xml"/><Relationship Id="rId76" Type="http://schemas.openxmlformats.org/officeDocument/2006/relationships/slide" Target="slides/slide60.xml"/><Relationship Id="rId97" Type="http://schemas.openxmlformats.org/officeDocument/2006/relationships/slide" Target="slides/slide81.xml"/><Relationship Id="rId104" Type="http://schemas.openxmlformats.org/officeDocument/2006/relationships/slide" Target="slides/slide88.xml"/><Relationship Id="rId120" Type="http://schemas.openxmlformats.org/officeDocument/2006/relationships/slide" Target="slides/slide104.xml"/><Relationship Id="rId125" Type="http://schemas.openxmlformats.org/officeDocument/2006/relationships/slide" Target="slides/slide109.xml"/><Relationship Id="rId141" Type="http://schemas.openxmlformats.org/officeDocument/2006/relationships/slide" Target="slides/slide125.xml"/><Relationship Id="rId146" Type="http://schemas.openxmlformats.org/officeDocument/2006/relationships/viewProps" Target="viewProps.xml"/><Relationship Id="rId7" Type="http://schemas.openxmlformats.org/officeDocument/2006/relationships/slideMaster" Target="slideMasters/slideMaster4.xml"/><Relationship Id="rId71" Type="http://schemas.openxmlformats.org/officeDocument/2006/relationships/slide" Target="slides/slide55.xml"/><Relationship Id="rId92" Type="http://schemas.openxmlformats.org/officeDocument/2006/relationships/slide" Target="slides/slide76.xml"/><Relationship Id="rId2" Type="http://schemas.openxmlformats.org/officeDocument/2006/relationships/customXml" Target="../customXml/item2.xml"/><Relationship Id="rId29" Type="http://schemas.openxmlformats.org/officeDocument/2006/relationships/slide" Target="slides/slide13.xml"/><Relationship Id="rId24" Type="http://schemas.openxmlformats.org/officeDocument/2006/relationships/slide" Target="slides/slide8.xml"/><Relationship Id="rId40" Type="http://schemas.openxmlformats.org/officeDocument/2006/relationships/slide" Target="slides/slide24.xml"/><Relationship Id="rId45" Type="http://schemas.openxmlformats.org/officeDocument/2006/relationships/slide" Target="slides/slide29.xml"/><Relationship Id="rId66" Type="http://schemas.openxmlformats.org/officeDocument/2006/relationships/slide" Target="slides/slide50.xml"/><Relationship Id="rId87" Type="http://schemas.openxmlformats.org/officeDocument/2006/relationships/slide" Target="slides/slide71.xml"/><Relationship Id="rId110" Type="http://schemas.openxmlformats.org/officeDocument/2006/relationships/slide" Target="slides/slide94.xml"/><Relationship Id="rId115" Type="http://schemas.openxmlformats.org/officeDocument/2006/relationships/slide" Target="slides/slide99.xml"/><Relationship Id="rId131" Type="http://schemas.openxmlformats.org/officeDocument/2006/relationships/slide" Target="slides/slide115.xml"/><Relationship Id="rId136" Type="http://schemas.openxmlformats.org/officeDocument/2006/relationships/slide" Target="slides/slide120.xml"/><Relationship Id="rId61" Type="http://schemas.openxmlformats.org/officeDocument/2006/relationships/slide" Target="slides/slide45.xml"/><Relationship Id="rId82" Type="http://schemas.openxmlformats.org/officeDocument/2006/relationships/slide" Target="slides/slide66.xml"/><Relationship Id="rId19" Type="http://schemas.openxmlformats.org/officeDocument/2006/relationships/slide" Target="slides/slide3.xml"/><Relationship Id="rId14" Type="http://schemas.openxmlformats.org/officeDocument/2006/relationships/slideMaster" Target="slideMasters/slideMaster11.xml"/><Relationship Id="rId30" Type="http://schemas.openxmlformats.org/officeDocument/2006/relationships/slide" Target="slides/slide14.xml"/><Relationship Id="rId35" Type="http://schemas.openxmlformats.org/officeDocument/2006/relationships/slide" Target="slides/slide19.xml"/><Relationship Id="rId56" Type="http://schemas.openxmlformats.org/officeDocument/2006/relationships/slide" Target="slides/slide40.xml"/><Relationship Id="rId77" Type="http://schemas.openxmlformats.org/officeDocument/2006/relationships/slide" Target="slides/slide61.xml"/><Relationship Id="rId100" Type="http://schemas.openxmlformats.org/officeDocument/2006/relationships/slide" Target="slides/slide84.xml"/><Relationship Id="rId105" Type="http://schemas.openxmlformats.org/officeDocument/2006/relationships/slide" Target="slides/slide89.xml"/><Relationship Id="rId126" Type="http://schemas.openxmlformats.org/officeDocument/2006/relationships/slide" Target="slides/slide110.xml"/><Relationship Id="rId147" Type="http://schemas.openxmlformats.org/officeDocument/2006/relationships/theme" Target="theme/theme1.xml"/><Relationship Id="rId8" Type="http://schemas.openxmlformats.org/officeDocument/2006/relationships/slideMaster" Target="slideMasters/slideMaster5.xml"/><Relationship Id="rId51" Type="http://schemas.openxmlformats.org/officeDocument/2006/relationships/slide" Target="slides/slide35.xml"/><Relationship Id="rId72" Type="http://schemas.openxmlformats.org/officeDocument/2006/relationships/slide" Target="slides/slide56.xml"/><Relationship Id="rId93" Type="http://schemas.openxmlformats.org/officeDocument/2006/relationships/slide" Target="slides/slide77.xml"/><Relationship Id="rId98" Type="http://schemas.openxmlformats.org/officeDocument/2006/relationships/slide" Target="slides/slide82.xml"/><Relationship Id="rId121" Type="http://schemas.openxmlformats.org/officeDocument/2006/relationships/slide" Target="slides/slide105.xml"/><Relationship Id="rId142" Type="http://schemas.openxmlformats.org/officeDocument/2006/relationships/notesMaster" Target="notesMasters/notesMaster1.xml"/><Relationship Id="rId3" Type="http://schemas.openxmlformats.org/officeDocument/2006/relationships/customXml" Target="../customXml/item3.xml"/><Relationship Id="rId25" Type="http://schemas.openxmlformats.org/officeDocument/2006/relationships/slide" Target="slides/slide9.xml"/><Relationship Id="rId46" Type="http://schemas.openxmlformats.org/officeDocument/2006/relationships/slide" Target="slides/slide30.xml"/><Relationship Id="rId67" Type="http://schemas.openxmlformats.org/officeDocument/2006/relationships/slide" Target="slides/slide51.xml"/><Relationship Id="rId116" Type="http://schemas.openxmlformats.org/officeDocument/2006/relationships/slide" Target="slides/slide100.xml"/><Relationship Id="rId137" Type="http://schemas.openxmlformats.org/officeDocument/2006/relationships/slide" Target="slides/slide121.xml"/><Relationship Id="rId20" Type="http://schemas.openxmlformats.org/officeDocument/2006/relationships/slide" Target="slides/slide4.xml"/><Relationship Id="rId41" Type="http://schemas.openxmlformats.org/officeDocument/2006/relationships/slide" Target="slides/slide25.xml"/><Relationship Id="rId62" Type="http://schemas.openxmlformats.org/officeDocument/2006/relationships/slide" Target="slides/slide46.xml"/><Relationship Id="rId83" Type="http://schemas.openxmlformats.org/officeDocument/2006/relationships/slide" Target="slides/slide67.xml"/><Relationship Id="rId88" Type="http://schemas.openxmlformats.org/officeDocument/2006/relationships/slide" Target="slides/slide72.xml"/><Relationship Id="rId111" Type="http://schemas.openxmlformats.org/officeDocument/2006/relationships/slide" Target="slides/slide95.xml"/><Relationship Id="rId132" Type="http://schemas.openxmlformats.org/officeDocument/2006/relationships/slide" Target="slides/slide116.xml"/><Relationship Id="rId15" Type="http://schemas.openxmlformats.org/officeDocument/2006/relationships/slideMaster" Target="slideMasters/slideMaster12.xml"/><Relationship Id="rId36" Type="http://schemas.openxmlformats.org/officeDocument/2006/relationships/slide" Target="slides/slide20.xml"/><Relationship Id="rId57" Type="http://schemas.openxmlformats.org/officeDocument/2006/relationships/slide" Target="slides/slide41.xml"/><Relationship Id="rId106" Type="http://schemas.openxmlformats.org/officeDocument/2006/relationships/slide" Target="slides/slide90.xml"/><Relationship Id="rId127" Type="http://schemas.openxmlformats.org/officeDocument/2006/relationships/slide" Target="slides/slide111.xml"/><Relationship Id="rId10" Type="http://schemas.openxmlformats.org/officeDocument/2006/relationships/slideMaster" Target="slideMasters/slideMaster7.xml"/><Relationship Id="rId31" Type="http://schemas.openxmlformats.org/officeDocument/2006/relationships/slide" Target="slides/slide15.xml"/><Relationship Id="rId52" Type="http://schemas.openxmlformats.org/officeDocument/2006/relationships/slide" Target="slides/slide36.xml"/><Relationship Id="rId73" Type="http://schemas.openxmlformats.org/officeDocument/2006/relationships/slide" Target="slides/slide57.xml"/><Relationship Id="rId78" Type="http://schemas.openxmlformats.org/officeDocument/2006/relationships/slide" Target="slides/slide62.xml"/><Relationship Id="rId94" Type="http://schemas.openxmlformats.org/officeDocument/2006/relationships/slide" Target="slides/slide78.xml"/><Relationship Id="rId99" Type="http://schemas.openxmlformats.org/officeDocument/2006/relationships/slide" Target="slides/slide83.xml"/><Relationship Id="rId101" Type="http://schemas.openxmlformats.org/officeDocument/2006/relationships/slide" Target="slides/slide85.xml"/><Relationship Id="rId122" Type="http://schemas.openxmlformats.org/officeDocument/2006/relationships/slide" Target="slides/slide106.xml"/><Relationship Id="rId143" Type="http://schemas.openxmlformats.org/officeDocument/2006/relationships/handoutMaster" Target="handoutMasters/handoutMaster1.xml"/><Relationship Id="rId148"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Master" Target="slideMasters/slideMaster6.xml"/><Relationship Id="rId26" Type="http://schemas.openxmlformats.org/officeDocument/2006/relationships/slide" Target="slides/slide10.xml"/><Relationship Id="rId47" Type="http://schemas.openxmlformats.org/officeDocument/2006/relationships/slide" Target="slides/slide31.xml"/><Relationship Id="rId68" Type="http://schemas.openxmlformats.org/officeDocument/2006/relationships/slide" Target="slides/slide52.xml"/><Relationship Id="rId89" Type="http://schemas.openxmlformats.org/officeDocument/2006/relationships/slide" Target="slides/slide73.xml"/><Relationship Id="rId112" Type="http://schemas.openxmlformats.org/officeDocument/2006/relationships/slide" Target="slides/slide96.xml"/><Relationship Id="rId133" Type="http://schemas.openxmlformats.org/officeDocument/2006/relationships/slide" Target="slides/slide117.xml"/><Relationship Id="rId16" Type="http://schemas.openxmlformats.org/officeDocument/2006/relationships/slideMaster" Target="slideMasters/slideMaster13.xml"/><Relationship Id="rId37" Type="http://schemas.openxmlformats.org/officeDocument/2006/relationships/slide" Target="slides/slide21.xml"/><Relationship Id="rId58" Type="http://schemas.openxmlformats.org/officeDocument/2006/relationships/slide" Target="slides/slide42.xml"/><Relationship Id="rId79" Type="http://schemas.openxmlformats.org/officeDocument/2006/relationships/slide" Target="slides/slide63.xml"/><Relationship Id="rId102" Type="http://schemas.openxmlformats.org/officeDocument/2006/relationships/slide" Target="slides/slide86.xml"/><Relationship Id="rId123" Type="http://schemas.openxmlformats.org/officeDocument/2006/relationships/slide" Target="slides/slide107.xml"/><Relationship Id="rId144" Type="http://schemas.openxmlformats.org/officeDocument/2006/relationships/commentAuthors" Target="commentAuthors.xml"/><Relationship Id="rId90" Type="http://schemas.openxmlformats.org/officeDocument/2006/relationships/slide" Target="slides/slide74.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cott Beckford" userId="97f88ce4-fa8b-4163-b87d-92edb22d088f" providerId="ADAL" clId="{ADC934EB-76DE-5A1C-92BA-F001C2335EFE}"/>
    <pc:docChg chg="undo custSel addSld delSld modSld sldOrd modSection">
      <pc:chgData name="Scott Beckford" userId="97f88ce4-fa8b-4163-b87d-92edb22d088f" providerId="ADAL" clId="{ADC934EB-76DE-5A1C-92BA-F001C2335EFE}" dt="2026-04-21T09:50:21.382" v="6471" actId="20577"/>
      <pc:docMkLst>
        <pc:docMk/>
      </pc:docMkLst>
      <pc:sldChg chg="modSp mod">
        <pc:chgData name="Scott Beckford" userId="97f88ce4-fa8b-4163-b87d-92edb22d088f" providerId="ADAL" clId="{ADC934EB-76DE-5A1C-92BA-F001C2335EFE}" dt="2026-04-17T16:15:50.428" v="6425" actId="20577"/>
        <pc:sldMkLst>
          <pc:docMk/>
          <pc:sldMk cId="1607316324" sldId="257"/>
        </pc:sldMkLst>
        <pc:spChg chg="mod">
          <ac:chgData name="Scott Beckford" userId="97f88ce4-fa8b-4163-b87d-92edb22d088f" providerId="ADAL" clId="{ADC934EB-76DE-5A1C-92BA-F001C2335EFE}" dt="2026-04-17T16:15:50.428" v="6425" actId="20577"/>
          <ac:spMkLst>
            <pc:docMk/>
            <pc:sldMk cId="1607316324" sldId="257"/>
            <ac:spMk id="7" creationId="{C025BC2F-6F2A-8421-D263-916FA05BF815}"/>
          </ac:spMkLst>
        </pc:spChg>
        <pc:spChg chg="mod">
          <ac:chgData name="Scott Beckford" userId="97f88ce4-fa8b-4163-b87d-92edb22d088f" providerId="ADAL" clId="{ADC934EB-76DE-5A1C-92BA-F001C2335EFE}" dt="2026-04-17T16:15:44.627" v="6408" actId="20577"/>
          <ac:spMkLst>
            <pc:docMk/>
            <pc:sldMk cId="1607316324" sldId="257"/>
            <ac:spMk id="8" creationId="{19B21124-8BEB-7358-0E7A-030BADF717A1}"/>
          </ac:spMkLst>
        </pc:spChg>
      </pc:sldChg>
      <pc:sldChg chg="modSp mod">
        <pc:chgData name="Scott Beckford" userId="97f88ce4-fa8b-4163-b87d-92edb22d088f" providerId="ADAL" clId="{ADC934EB-76DE-5A1C-92BA-F001C2335EFE}" dt="2026-04-17T16:17:26.113" v="6469" actId="404"/>
        <pc:sldMkLst>
          <pc:docMk/>
          <pc:sldMk cId="920250159" sldId="263"/>
        </pc:sldMkLst>
        <pc:spChg chg="mod">
          <ac:chgData name="Scott Beckford" userId="97f88ce4-fa8b-4163-b87d-92edb22d088f" providerId="ADAL" clId="{ADC934EB-76DE-5A1C-92BA-F001C2335EFE}" dt="2026-04-17T16:17:26.113" v="6469" actId="404"/>
          <ac:spMkLst>
            <pc:docMk/>
            <pc:sldMk cId="920250159" sldId="263"/>
            <ac:spMk id="7" creationId="{FE2DB053-C94B-762C-2A67-12C4EF24D66D}"/>
          </ac:spMkLst>
        </pc:spChg>
      </pc:sldChg>
      <pc:sldChg chg="addSp delSp modSp add mod ord modShow">
        <pc:chgData name="Scott Beckford" userId="97f88ce4-fa8b-4163-b87d-92edb22d088f" providerId="ADAL" clId="{ADC934EB-76DE-5A1C-92BA-F001C2335EFE}" dt="2026-03-30T13:22:37.751" v="6403" actId="729"/>
        <pc:sldMkLst>
          <pc:docMk/>
          <pc:sldMk cId="1604724767" sldId="265"/>
        </pc:sldMkLst>
        <pc:spChg chg="mod">
          <ac:chgData name="Scott Beckford" userId="97f88ce4-fa8b-4163-b87d-92edb22d088f" providerId="ADAL" clId="{ADC934EB-76DE-5A1C-92BA-F001C2335EFE}" dt="2026-03-30T12:50:13.469" v="6330" actId="20577"/>
          <ac:spMkLst>
            <pc:docMk/>
            <pc:sldMk cId="1604724767" sldId="265"/>
            <ac:spMk id="11" creationId="{4F60C7BD-C67F-E607-6B1A-06FDCDBBA56C}"/>
          </ac:spMkLst>
        </pc:spChg>
      </pc:sldChg>
      <pc:sldChg chg="modSp add mod">
        <pc:chgData name="Scott Beckford" userId="97f88ce4-fa8b-4163-b87d-92edb22d088f" providerId="ADAL" clId="{ADC934EB-76DE-5A1C-92BA-F001C2335EFE}" dt="2026-03-26T09:29:08.611" v="6328" actId="20577"/>
        <pc:sldMkLst>
          <pc:docMk/>
          <pc:sldMk cId="2084889987" sldId="270"/>
        </pc:sldMkLst>
        <pc:spChg chg="mod">
          <ac:chgData name="Scott Beckford" userId="97f88ce4-fa8b-4163-b87d-92edb22d088f" providerId="ADAL" clId="{ADC934EB-76DE-5A1C-92BA-F001C2335EFE}" dt="2026-03-23T10:21:47.991" v="6314" actId="20577"/>
          <ac:spMkLst>
            <pc:docMk/>
            <pc:sldMk cId="2084889987" sldId="270"/>
            <ac:spMk id="5" creationId="{A7B141A9-22F9-B40C-1448-FB0241016EE1}"/>
          </ac:spMkLst>
        </pc:spChg>
        <pc:spChg chg="mod">
          <ac:chgData name="Scott Beckford" userId="97f88ce4-fa8b-4163-b87d-92edb22d088f" providerId="ADAL" clId="{ADC934EB-76DE-5A1C-92BA-F001C2335EFE}" dt="2026-03-26T09:29:08.611" v="6328" actId="20577"/>
          <ac:spMkLst>
            <pc:docMk/>
            <pc:sldMk cId="2084889987" sldId="270"/>
            <ac:spMk id="47" creationId="{14FEC6B5-3972-9CF0-C398-39CE193AFF68}"/>
          </ac:spMkLst>
        </pc:spChg>
        <pc:spChg chg="mod">
          <ac:chgData name="Scott Beckford" userId="97f88ce4-fa8b-4163-b87d-92edb22d088f" providerId="ADAL" clId="{ADC934EB-76DE-5A1C-92BA-F001C2335EFE}" dt="2026-03-23T10:21:08.641" v="6193" actId="20577"/>
          <ac:spMkLst>
            <pc:docMk/>
            <pc:sldMk cId="2084889987" sldId="270"/>
            <ac:spMk id="48" creationId="{D3283EF5-BF4A-5798-4907-F4034A3EB465}"/>
          </ac:spMkLst>
        </pc:spChg>
        <pc:spChg chg="mod">
          <ac:chgData name="Scott Beckford" userId="97f88ce4-fa8b-4163-b87d-92edb22d088f" providerId="ADAL" clId="{ADC934EB-76DE-5A1C-92BA-F001C2335EFE}" dt="2026-03-26T09:29:05.296" v="6326" actId="20577"/>
          <ac:spMkLst>
            <pc:docMk/>
            <pc:sldMk cId="2084889987" sldId="270"/>
            <ac:spMk id="49" creationId="{EFB4DF99-D9F5-3B9B-DC75-A8CB285E6531}"/>
          </ac:spMkLst>
        </pc:spChg>
      </pc:sldChg>
      <pc:sldChg chg="addSp delSp modSp add mod">
        <pc:chgData name="Scott Beckford" userId="97f88ce4-fa8b-4163-b87d-92edb22d088f" providerId="ADAL" clId="{ADC934EB-76DE-5A1C-92BA-F001C2335EFE}" dt="2026-04-17T16:18:19.577" v="6470" actId="12"/>
        <pc:sldMkLst>
          <pc:docMk/>
          <pc:sldMk cId="3420915891" sldId="275"/>
        </pc:sldMkLst>
        <pc:spChg chg="mod">
          <ac:chgData name="Scott Beckford" userId="97f88ce4-fa8b-4163-b87d-92edb22d088f" providerId="ADAL" clId="{ADC934EB-76DE-5A1C-92BA-F001C2335EFE}" dt="2026-04-17T16:18:19.577" v="6470" actId="12"/>
          <ac:spMkLst>
            <pc:docMk/>
            <pc:sldMk cId="3420915891" sldId="275"/>
            <ac:spMk id="92" creationId="{BC3411D3-99BA-854B-A126-003865779291}"/>
          </ac:spMkLst>
        </pc:spChg>
      </pc:sldChg>
      <pc:sldChg chg="modSp add mod">
        <pc:chgData name="Scott Beckford" userId="97f88ce4-fa8b-4163-b87d-92edb22d088f" providerId="ADAL" clId="{ADC934EB-76DE-5A1C-92BA-F001C2335EFE}" dt="2026-03-30T12:51:48.025" v="6362" actId="14100"/>
        <pc:sldMkLst>
          <pc:docMk/>
          <pc:sldMk cId="2103987027" sldId="280"/>
        </pc:sldMkLst>
        <pc:spChg chg="mod">
          <ac:chgData name="Scott Beckford" userId="97f88ce4-fa8b-4163-b87d-92edb22d088f" providerId="ADAL" clId="{ADC934EB-76DE-5A1C-92BA-F001C2335EFE}" dt="2026-03-30T12:51:48.025" v="6362" actId="14100"/>
          <ac:spMkLst>
            <pc:docMk/>
            <pc:sldMk cId="2103987027" sldId="280"/>
            <ac:spMk id="3" creationId="{386000EF-3613-C6D3-A086-6793CECE3E9D}"/>
          </ac:spMkLst>
        </pc:spChg>
      </pc:sldChg>
      <pc:sldChg chg="modSp add mod">
        <pc:chgData name="Scott Beckford" userId="97f88ce4-fa8b-4163-b87d-92edb22d088f" providerId="ADAL" clId="{ADC934EB-76DE-5A1C-92BA-F001C2335EFE}" dt="2026-03-30T13:20:06.649" v="6395" actId="20577"/>
        <pc:sldMkLst>
          <pc:docMk/>
          <pc:sldMk cId="2262575372" sldId="281"/>
        </pc:sldMkLst>
        <pc:spChg chg="mod">
          <ac:chgData name="Scott Beckford" userId="97f88ce4-fa8b-4163-b87d-92edb22d088f" providerId="ADAL" clId="{ADC934EB-76DE-5A1C-92BA-F001C2335EFE}" dt="2026-03-30T13:20:06.649" v="6395" actId="20577"/>
          <ac:spMkLst>
            <pc:docMk/>
            <pc:sldMk cId="2262575372" sldId="281"/>
            <ac:spMk id="3" creationId="{1E4C26C7-9355-F8FC-21DF-2E48778B31B1}"/>
          </ac:spMkLst>
        </pc:spChg>
      </pc:sldChg>
      <pc:sldChg chg="modSp mod">
        <pc:chgData name="Scott Beckford" userId="97f88ce4-fa8b-4163-b87d-92edb22d088f" providerId="ADAL" clId="{ADC934EB-76DE-5A1C-92BA-F001C2335EFE}" dt="2026-04-21T09:50:21.382" v="6471" actId="20577"/>
        <pc:sldMkLst>
          <pc:docMk/>
          <pc:sldMk cId="2169000556" sldId="2147477957"/>
        </pc:sldMkLst>
        <pc:graphicFrameChg chg="modGraphic">
          <ac:chgData name="Scott Beckford" userId="97f88ce4-fa8b-4163-b87d-92edb22d088f" providerId="ADAL" clId="{ADC934EB-76DE-5A1C-92BA-F001C2335EFE}" dt="2026-04-21T09:50:21.382" v="6471" actId="20577"/>
          <ac:graphicFrameMkLst>
            <pc:docMk/>
            <pc:sldMk cId="2169000556" sldId="2147477957"/>
            <ac:graphicFrameMk id="2" creationId="{897652D1-C334-5768-D881-E2516A5D136A}"/>
          </ac:graphicFrameMkLst>
        </pc:graphicFrameChg>
      </pc:sldChg>
      <pc:sldChg chg="modSp mod">
        <pc:chgData name="Scott Beckford" userId="97f88ce4-fa8b-4163-b87d-92edb22d088f" providerId="ADAL" clId="{ADC934EB-76DE-5A1C-92BA-F001C2335EFE}" dt="2026-03-30T13:21:32.186" v="6402" actId="20577"/>
        <pc:sldMkLst>
          <pc:docMk/>
          <pc:sldMk cId="3048431346" sldId="2147478952"/>
        </pc:sldMkLst>
        <pc:spChg chg="mod">
          <ac:chgData name="Scott Beckford" userId="97f88ce4-fa8b-4163-b87d-92edb22d088f" providerId="ADAL" clId="{ADC934EB-76DE-5A1C-92BA-F001C2335EFE}" dt="2026-03-30T13:21:32.186" v="6402" actId="20577"/>
          <ac:spMkLst>
            <pc:docMk/>
            <pc:sldMk cId="3048431346" sldId="2147478952"/>
            <ac:spMk id="16" creationId="{77FA72EB-394E-7BDE-118A-D32BC1D1A928}"/>
          </ac:spMkLst>
        </pc:spChg>
      </pc:sldChg>
      <pc:sldChg chg="mod modShow">
        <pc:chgData name="Scott Beckford" userId="97f88ce4-fa8b-4163-b87d-92edb22d088f" providerId="ADAL" clId="{ADC934EB-76DE-5A1C-92BA-F001C2335EFE}" dt="2026-03-30T12:51:01.913" v="6331" actId="729"/>
        <pc:sldMkLst>
          <pc:docMk/>
          <pc:sldMk cId="1758738936" sldId="2147479005"/>
        </pc:sldMkLst>
      </pc:sldChg>
      <pc:sldChg chg="modSp add mod">
        <pc:chgData name="Scott Beckford" userId="97f88ce4-fa8b-4163-b87d-92edb22d088f" providerId="ADAL" clId="{ADC934EB-76DE-5A1C-92BA-F001C2335EFE}" dt="2026-03-30T13:20:57.989" v="6398" actId="207"/>
        <pc:sldMkLst>
          <pc:docMk/>
          <pc:sldMk cId="2961474827" sldId="2147483021"/>
        </pc:sldMkLst>
        <pc:spChg chg="mod">
          <ac:chgData name="Scott Beckford" userId="97f88ce4-fa8b-4163-b87d-92edb22d088f" providerId="ADAL" clId="{ADC934EB-76DE-5A1C-92BA-F001C2335EFE}" dt="2026-03-30T13:20:57.989" v="6398" actId="207"/>
          <ac:spMkLst>
            <pc:docMk/>
            <pc:sldMk cId="2961474827" sldId="2147483021"/>
            <ac:spMk id="2" creationId="{7BF018CB-F39F-0AC6-B65B-762B2F6A1ED7}"/>
          </ac:spMkLst>
        </pc:spChg>
      </pc:sldChg>
      <pc:sldChg chg="modSp add mod">
        <pc:chgData name="Scott Beckford" userId="97f88ce4-fa8b-4163-b87d-92edb22d088f" providerId="ADAL" clId="{ADC934EB-76DE-5A1C-92BA-F001C2335EFE}" dt="2026-03-30T13:20:50.086" v="6397" actId="207"/>
        <pc:sldMkLst>
          <pc:docMk/>
          <pc:sldMk cId="2678790771" sldId="2147483022"/>
        </pc:sldMkLst>
        <pc:spChg chg="mod">
          <ac:chgData name="Scott Beckford" userId="97f88ce4-fa8b-4163-b87d-92edb22d088f" providerId="ADAL" clId="{ADC934EB-76DE-5A1C-92BA-F001C2335EFE}" dt="2026-03-30T13:20:50.086" v="6397" actId="207"/>
          <ac:spMkLst>
            <pc:docMk/>
            <pc:sldMk cId="2678790771" sldId="2147483022"/>
            <ac:spMk id="26" creationId="{00ABFA18-9442-B8EC-C71A-3C091EC41CB3}"/>
          </ac:spMkLst>
        </pc:spChg>
      </pc:sldChg>
      <pc:sldChg chg="mod modShow">
        <pc:chgData name="Scott Beckford" userId="97f88ce4-fa8b-4163-b87d-92edb22d088f" providerId="ADAL" clId="{ADC934EB-76DE-5A1C-92BA-F001C2335EFE}" dt="2026-03-30T12:51:12.468" v="6332" actId="729"/>
        <pc:sldMkLst>
          <pc:docMk/>
          <pc:sldMk cId="2957450932" sldId="2147483037"/>
        </pc:sldMkLst>
      </pc:sldChg>
      <pc:sldChg chg="addSp modSp add mod">
        <pc:chgData name="Scott Beckford" userId="97f88ce4-fa8b-4163-b87d-92edb22d088f" providerId="ADAL" clId="{ADC934EB-76DE-5A1C-92BA-F001C2335EFE}" dt="2026-03-30T13:23:55.664" v="6406" actId="20577"/>
        <pc:sldMkLst>
          <pc:docMk/>
          <pc:sldMk cId="1049019904" sldId="2147483075"/>
        </pc:sldMkLst>
        <pc:graphicFrameChg chg="modGraphic">
          <ac:chgData name="Scott Beckford" userId="97f88ce4-fa8b-4163-b87d-92edb22d088f" providerId="ADAL" clId="{ADC934EB-76DE-5A1C-92BA-F001C2335EFE}" dt="2026-03-30T13:23:55.664" v="6406" actId="20577"/>
          <ac:graphicFrameMkLst>
            <pc:docMk/>
            <pc:sldMk cId="1049019904" sldId="2147483075"/>
            <ac:graphicFrameMk id="8" creationId="{AB56D64B-F98D-3B0A-0C9B-4F980BA18B8E}"/>
          </ac:graphicFrameMkLst>
        </pc:graphicFrame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chartUserShapes" Target="../drawings/drawing1.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chartUserShapes" Target="../drawings/drawing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chartUserShapes" Target="../drawings/drawing3.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chartUserShapes" Target="../drawings/drawing4.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Worksheet26.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55374469756697"/>
          <c:y val="8.6303074937450777E-2"/>
          <c:w val="0.56289251060486611"/>
          <c:h val="0.44908031881341659"/>
        </c:manualLayout>
      </c:layout>
      <c:doughnutChart>
        <c:varyColors val="1"/>
        <c:ser>
          <c:idx val="0"/>
          <c:order val="0"/>
          <c:tx>
            <c:strRef>
              <c:f>Sheet1!$B$1</c:f>
              <c:strCache>
                <c:ptCount val="1"/>
                <c:pt idx="0">
                  <c:v>Platform</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E56B-486D-8056-FFB224C3B1E7}"/>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E56B-486D-8056-FFB224C3B1E7}"/>
              </c:ext>
            </c:extLst>
          </c:dPt>
          <c:dLbls>
            <c:dLbl>
              <c:idx val="0"/>
              <c:layout>
                <c:manualLayout>
                  <c:x val="0.1392256438288223"/>
                  <c:y val="-6.047619047619047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56B-486D-8056-FFB224C3B1E7}"/>
                </c:ext>
              </c:extLst>
            </c:dLbl>
            <c:dLbl>
              <c:idx val="1"/>
              <c:tx>
                <c:rich>
                  <a:bodyPr/>
                  <a:lstStyle/>
                  <a:p>
                    <a:fld id="{7769AE3C-F337-4D5F-9C46-C15486669127}" type="VALUE">
                      <a:rPr lang="en-US">
                        <a:solidFill>
                          <a:schemeClr val="bg1"/>
                        </a:solidFill>
                      </a:rPr>
                      <a:pPr/>
                      <a:t>[VALUE]</a:t>
                    </a:fld>
                    <a:endParaRPr lang="en-GB"/>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E56B-486D-8056-FFB224C3B1E7}"/>
                </c:ext>
              </c:extLst>
            </c:dLbl>
            <c:spPr>
              <a:noFill/>
              <a:ln>
                <a:noFill/>
              </a:ln>
              <a:effectLst/>
            </c:spPr>
            <c:txPr>
              <a:bodyPr rot="0" spcFirstLastPara="1" vertOverflow="ellipsis" vert="horz" wrap="square" lIns="38100" tIns="19050" rIns="38100" bIns="19050" anchor="ctr" anchorCtr="1">
                <a:spAutoFit/>
              </a:bodyPr>
              <a:lstStyle/>
              <a:p>
                <a:pPr>
                  <a:defRPr lang="en-US" sz="1197" b="1" i="0" u="none" strike="noStrike" kern="1200" baseline="0">
                    <a:solidFill>
                      <a:schemeClr val="accent2"/>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Physical</c:v>
                </c:pt>
                <c:pt idx="1">
                  <c:v>Virtual</c:v>
                </c:pt>
              </c:strCache>
            </c:strRef>
          </c:cat>
          <c:val>
            <c:numRef>
              <c:f>Sheet1!$B$2:$B$3</c:f>
              <c:numCache>
                <c:formatCode>General</c:formatCode>
                <c:ptCount val="2"/>
                <c:pt idx="0">
                  <c:v>0</c:v>
                </c:pt>
                <c:pt idx="1">
                  <c:v>182</c:v>
                </c:pt>
              </c:numCache>
            </c:numRef>
          </c:val>
          <c:extLst>
            <c:ext xmlns:c16="http://schemas.microsoft.com/office/drawing/2014/chart" uri="{C3380CC4-5D6E-409C-BE32-E72D297353CC}">
              <c16:uniqueId val="{00000006-E56B-486D-8056-FFB224C3B1E7}"/>
            </c:ext>
          </c:extLst>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t"/>
      <c:layout>
        <c:manualLayout>
          <c:xMode val="edge"/>
          <c:yMode val="edge"/>
          <c:x val="4.9999827204136045E-2"/>
          <c:y val="0.57970810258716532"/>
          <c:w val="0.89999996160091911"/>
          <c:h val="7.484217559491077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0075171567874044"/>
          <c:y val="6.2479671197982103E-2"/>
          <c:w val="0.37039325012667418"/>
          <c:h val="0.8832651572080461"/>
        </c:manualLayout>
      </c:layout>
      <c:barChart>
        <c:barDir val="bar"/>
        <c:grouping val="clustered"/>
        <c:varyColors val="0"/>
        <c:ser>
          <c:idx val="0"/>
          <c:order val="0"/>
          <c:tx>
            <c:strRef>
              <c:f>Sheet1!$B$1</c:f>
              <c:strCache>
                <c:ptCount val="1"/>
                <c:pt idx="0">
                  <c:v>Operating Systems</c:v>
                </c:pt>
              </c:strCache>
            </c:strRef>
          </c:tx>
          <c:spPr>
            <a:solidFill>
              <a:schemeClr val="accent2"/>
            </a:solidFill>
            <a:ln w="19050">
              <a:solidFill>
                <a:schemeClr val="lt1"/>
              </a:solidFill>
            </a:ln>
            <a:effectLst/>
          </c:spPr>
          <c:invertIfNegative val="0"/>
          <c:dPt>
            <c:idx val="7"/>
            <c:invertIfNegative val="0"/>
            <c:bubble3D val="0"/>
            <c:spPr>
              <a:solidFill>
                <a:schemeClr val="accent2"/>
              </a:solidFill>
              <a:ln w="19050">
                <a:solidFill>
                  <a:schemeClr val="lt1"/>
                </a:solidFill>
              </a:ln>
              <a:effectLst/>
            </c:spPr>
            <c:extLst>
              <c:ext xmlns:c16="http://schemas.microsoft.com/office/drawing/2014/chart" uri="{C3380CC4-5D6E-409C-BE32-E72D297353CC}">
                <c16:uniqueId val="{00000001-5774-4485-80E1-0843F88F7CFE}"/>
              </c:ext>
            </c:extLst>
          </c:dPt>
          <c:dPt>
            <c:idx val="8"/>
            <c:invertIfNegative val="0"/>
            <c:bubble3D val="0"/>
            <c:extLst>
              <c:ext xmlns:c16="http://schemas.microsoft.com/office/drawing/2014/chart" uri="{C3380CC4-5D6E-409C-BE32-E72D297353CC}">
                <c16:uniqueId val="{00000002-5774-4485-80E1-0843F88F7CFE}"/>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accent2"/>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RHEL 7.9</c:v>
                </c:pt>
                <c:pt idx="1">
                  <c:v>RHEL 8.10</c:v>
                </c:pt>
                <c:pt idx="2">
                  <c:v>RHEL 9.4</c:v>
                </c:pt>
                <c:pt idx="3">
                  <c:v>Windows 2012 Datacenter</c:v>
                </c:pt>
                <c:pt idx="4">
                  <c:v>Windows 2012 Standard</c:v>
                </c:pt>
                <c:pt idx="5">
                  <c:v>Windows 2016 Datacenter</c:v>
                </c:pt>
                <c:pt idx="6">
                  <c:v>Windows 2016 Standard</c:v>
                </c:pt>
                <c:pt idx="7">
                  <c:v>Windows 2019 Datacenter</c:v>
                </c:pt>
                <c:pt idx="8">
                  <c:v>Windows 2019 Standard </c:v>
                </c:pt>
              </c:strCache>
            </c:strRef>
          </c:cat>
          <c:val>
            <c:numRef>
              <c:f>Sheet1!$B$2:$B$10</c:f>
              <c:numCache>
                <c:formatCode>General</c:formatCode>
                <c:ptCount val="9"/>
                <c:pt idx="0">
                  <c:v>65</c:v>
                </c:pt>
                <c:pt idx="1">
                  <c:v>10</c:v>
                </c:pt>
                <c:pt idx="2" formatCode="0">
                  <c:v>2</c:v>
                </c:pt>
                <c:pt idx="3" formatCode="0">
                  <c:v>4</c:v>
                </c:pt>
                <c:pt idx="4">
                  <c:v>4</c:v>
                </c:pt>
                <c:pt idx="5">
                  <c:v>11</c:v>
                </c:pt>
                <c:pt idx="6">
                  <c:v>19</c:v>
                </c:pt>
                <c:pt idx="7">
                  <c:v>10</c:v>
                </c:pt>
                <c:pt idx="8">
                  <c:v>57</c:v>
                </c:pt>
              </c:numCache>
            </c:numRef>
          </c:val>
          <c:extLst>
            <c:ext xmlns:c16="http://schemas.microsoft.com/office/drawing/2014/chart" uri="{C3380CC4-5D6E-409C-BE32-E72D297353CC}">
              <c16:uniqueId val="{00000006-4E11-4545-94BE-79B2CEC9B2DB}"/>
            </c:ext>
          </c:extLst>
        </c:ser>
        <c:dLbls>
          <c:dLblPos val="outEnd"/>
          <c:showLegendKey val="0"/>
          <c:showVal val="1"/>
          <c:showCatName val="0"/>
          <c:showSerName val="0"/>
          <c:showPercent val="0"/>
          <c:showBubbleSize val="0"/>
        </c:dLbls>
        <c:gapWidth val="102"/>
        <c:axId val="306704352"/>
        <c:axId val="306706976"/>
      </c:barChart>
      <c:catAx>
        <c:axId val="306704352"/>
        <c:scaling>
          <c:orientation val="minMax"/>
        </c:scaling>
        <c:delete val="0"/>
        <c:axPos val="l"/>
        <c:numFmt formatCode="General" sourceLinked="1"/>
        <c:majorTickMark val="out"/>
        <c:minorTickMark val="none"/>
        <c:tickLblPos val="nextTo"/>
        <c:spPr>
          <a:noFill/>
          <a:ln w="6350"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306706976"/>
        <c:crosses val="autoZero"/>
        <c:auto val="1"/>
        <c:lblAlgn val="ctr"/>
        <c:lblOffset val="100"/>
        <c:noMultiLvlLbl val="0"/>
      </c:catAx>
      <c:valAx>
        <c:axId val="30670697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one"/>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3067043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55374469756697"/>
          <c:y val="8.6303074937450777E-2"/>
          <c:w val="0.56289251060486611"/>
          <c:h val="0.44908031881341659"/>
        </c:manualLayout>
      </c:layout>
      <c:doughnutChart>
        <c:varyColors val="1"/>
        <c:ser>
          <c:idx val="0"/>
          <c:order val="0"/>
          <c:tx>
            <c:strRef>
              <c:f>Sheet1!$B$1</c:f>
              <c:strCache>
                <c:ptCount val="1"/>
                <c:pt idx="0">
                  <c:v>Platforms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FE18-4FEC-9EFE-24CF9A04A19A}"/>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FE18-4FEC-9EFE-24CF9A04A19A}"/>
              </c:ext>
            </c:extLst>
          </c:dPt>
          <c:dLbls>
            <c:dLbl>
              <c:idx val="0"/>
              <c:layout>
                <c:manualLayout>
                  <c:x val="0.19118710254817023"/>
                  <c:y val="-6.0476190476190475E-2"/>
                </c:manualLayout>
              </c:layout>
              <c:tx>
                <c:rich>
                  <a:bodyPr/>
                  <a:lstStyle/>
                  <a:p>
                    <a:fld id="{7A373501-51A9-456D-9D24-C1DD71A7A7D0}" type="VALUE">
                      <a:rPr lang="en-US">
                        <a:solidFill>
                          <a:srgbClr val="95008A"/>
                        </a:solidFill>
                      </a:rPr>
                      <a:pPr/>
                      <a:t>[VALUE]</a:t>
                    </a:fld>
                    <a:r>
                      <a:rPr lang="en-US" baseline="0"/>
                      <a:t>, </a:t>
                    </a:r>
                    <a:fld id="{BE4DD4F7-6802-4E44-B97C-C807C3F94872}" type="PERCENTAGE">
                      <a:rPr lang="en-US" baseline="0"/>
                      <a:pPr/>
                      <a:t>[PERCENTAGE]</a:t>
                    </a:fld>
                    <a:endParaRPr lang="en-US" baseline="0"/>
                  </a:p>
                </c:rich>
              </c:tx>
              <c:showLegendKey val="0"/>
              <c:showVal val="1"/>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FE18-4FEC-9EFE-24CF9A04A19A}"/>
                </c:ext>
              </c:extLst>
            </c:dLbl>
            <c:dLbl>
              <c:idx val="1"/>
              <c:layout>
                <c:manualLayout>
                  <c:x val="-0.15772935960224052"/>
                  <c:y val="-2.0158730158730157E-2"/>
                </c:manualLayout>
              </c:layout>
              <c:tx>
                <c:rich>
                  <a:bodyPr rot="0" spcFirstLastPara="1" vertOverflow="ellipsis" vert="horz" wrap="square" lIns="38100" tIns="19050" rIns="38100" bIns="19050" anchor="ctr" anchorCtr="0">
                    <a:spAutoFit/>
                  </a:bodyPr>
                  <a:lstStyle/>
                  <a:p>
                    <a:pPr algn="ctr">
                      <a:defRPr sz="1197" b="1" i="0" u="none" strike="noStrike" kern="1200" baseline="0">
                        <a:solidFill>
                          <a:schemeClr val="bg1"/>
                        </a:solidFill>
                        <a:latin typeface="+mn-lt"/>
                        <a:ea typeface="+mn-ea"/>
                        <a:cs typeface="+mn-cs"/>
                      </a:defRPr>
                    </a:pPr>
                    <a:fld id="{3B7FE26C-5689-4890-8D7D-AD4ACAFDE11A}" type="VALUE">
                      <a:rPr lang="en-US">
                        <a:solidFill>
                          <a:srgbClr val="0059C8"/>
                        </a:solidFill>
                      </a:rPr>
                      <a:pPr algn="ctr">
                        <a:defRPr b="1">
                          <a:solidFill>
                            <a:schemeClr val="bg1"/>
                          </a:solidFill>
                        </a:defRPr>
                      </a:pPr>
                      <a:t>[VALUE]</a:t>
                    </a:fld>
                    <a:r>
                      <a:rPr lang="en-US" baseline="0"/>
                      <a:t>, </a:t>
                    </a:r>
                    <a:fld id="{1636AFAB-ED96-4E53-961A-D9A9E73165D5}" type="PERCENTAGE">
                      <a:rPr lang="en-US" baseline="0"/>
                      <a:pPr algn="ctr">
                        <a:defRPr b="1">
                          <a:solidFill>
                            <a:schemeClr val="bg1"/>
                          </a:solidFill>
                        </a:defRPr>
                      </a:pPr>
                      <a:t>[PERCENTAGE]</a:t>
                    </a:fld>
                    <a:endParaRPr lang="en-US" baseline="0"/>
                  </a:p>
                </c:rich>
              </c:tx>
              <c:spPr>
                <a:noFill/>
                <a:ln>
                  <a:noFill/>
                </a:ln>
                <a:effectLst/>
              </c:spPr>
              <c:txPr>
                <a:bodyPr rot="0" spcFirstLastPara="1" vertOverflow="ellipsis" vert="horz" wrap="square" lIns="38100" tIns="19050" rIns="38100" bIns="19050" anchor="ctr" anchorCtr="0">
                  <a:spAutoFit/>
                </a:bodyPr>
                <a:lstStyle/>
                <a:p>
                  <a:pPr algn="ctr">
                    <a:defRPr sz="1197" b="1" i="0" u="none" strike="noStrike" kern="1200" baseline="0">
                      <a:solidFill>
                        <a:schemeClr val="bg1"/>
                      </a:solidFill>
                      <a:latin typeface="+mn-lt"/>
                      <a:ea typeface="+mn-ea"/>
                      <a:cs typeface="+mn-cs"/>
                    </a:defRPr>
                  </a:pPr>
                  <a:endParaRPr lang="en-US"/>
                </a:p>
              </c:txPr>
              <c:showLegendKey val="0"/>
              <c:showVal val="1"/>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FE18-4FEC-9EFE-24CF9A04A19A}"/>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showLegendKey val="0"/>
            <c:showVal val="1"/>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Windows</c:v>
                </c:pt>
                <c:pt idx="1">
                  <c:v>Linux</c:v>
                </c:pt>
              </c:strCache>
            </c:strRef>
          </c:cat>
          <c:val>
            <c:numRef>
              <c:f>Sheet1!$B$2:$B$3</c:f>
              <c:numCache>
                <c:formatCode>General</c:formatCode>
                <c:ptCount val="2"/>
                <c:pt idx="0">
                  <c:v>105</c:v>
                </c:pt>
                <c:pt idx="1">
                  <c:v>77</c:v>
                </c:pt>
              </c:numCache>
            </c:numRef>
          </c:val>
          <c:extLst>
            <c:ext xmlns:c16="http://schemas.microsoft.com/office/drawing/2014/chart" uri="{C3380CC4-5D6E-409C-BE32-E72D297353CC}">
              <c16:uniqueId val="{00000006-FE18-4FEC-9EFE-24CF9A04A19A}"/>
            </c:ext>
          </c:extLst>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t"/>
      <c:layout>
        <c:manualLayout>
          <c:xMode val="edge"/>
          <c:yMode val="edge"/>
          <c:x val="4.9999827204136045E-2"/>
          <c:y val="0.57970810258716532"/>
          <c:w val="0.89999996160091911"/>
          <c:h val="7.484217559491077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289813612984919"/>
          <c:y val="6.2479671197982103E-2"/>
          <c:w val="0.41824682967556542"/>
          <c:h val="0.8832651572080461"/>
        </c:manualLayout>
      </c:layout>
      <c:barChart>
        <c:barDir val="bar"/>
        <c:grouping val="clustered"/>
        <c:varyColors val="0"/>
        <c:ser>
          <c:idx val="0"/>
          <c:order val="0"/>
          <c:tx>
            <c:strRef>
              <c:f>Sheet1!$B$1</c:f>
              <c:strCache>
                <c:ptCount val="1"/>
                <c:pt idx="0">
                  <c:v>Edition</c:v>
                </c:pt>
              </c:strCache>
            </c:strRef>
          </c:tx>
          <c:spPr>
            <a:solidFill>
              <a:schemeClr val="accent6"/>
            </a:solidFill>
            <a:ln w="19050">
              <a:solidFill>
                <a:schemeClr val="lt1"/>
              </a:solidFill>
            </a:ln>
            <a:effectLst/>
          </c:spPr>
          <c:invertIfNegative val="0"/>
          <c:dPt>
            <c:idx val="0"/>
            <c:invertIfNegative val="0"/>
            <c:bubble3D val="0"/>
            <c:spPr>
              <a:solidFill>
                <a:schemeClr val="accent6">
                  <a:lumMod val="75000"/>
                </a:schemeClr>
              </a:solidFill>
              <a:ln w="19050">
                <a:solidFill>
                  <a:schemeClr val="lt1"/>
                </a:solidFill>
              </a:ln>
              <a:effectLst/>
            </c:spPr>
            <c:extLst>
              <c:ext xmlns:c16="http://schemas.microsoft.com/office/drawing/2014/chart" uri="{C3380CC4-5D6E-409C-BE32-E72D297353CC}">
                <c16:uniqueId val="{0000000A-E945-4F03-90EB-82BC7DF974F7}"/>
              </c:ext>
            </c:extLst>
          </c:dPt>
          <c:dPt>
            <c:idx val="1"/>
            <c:invertIfNegative val="0"/>
            <c:bubble3D val="0"/>
            <c:spPr>
              <a:solidFill>
                <a:schemeClr val="accent6"/>
              </a:solidFill>
              <a:ln w="19050">
                <a:solidFill>
                  <a:schemeClr val="lt1"/>
                </a:solidFill>
              </a:ln>
              <a:effectLst/>
            </c:spPr>
            <c:extLst>
              <c:ext xmlns:c16="http://schemas.microsoft.com/office/drawing/2014/chart" uri="{C3380CC4-5D6E-409C-BE32-E72D297353CC}">
                <c16:uniqueId val="{00000001-CC35-4792-9741-B1DB7203B1FF}"/>
              </c:ext>
            </c:extLst>
          </c:dPt>
          <c:dPt>
            <c:idx val="2"/>
            <c:invertIfNegative val="0"/>
            <c:bubble3D val="0"/>
            <c:spPr>
              <a:solidFill>
                <a:schemeClr val="accent6"/>
              </a:solidFill>
              <a:ln w="19050">
                <a:solidFill>
                  <a:schemeClr val="lt1"/>
                </a:solidFill>
              </a:ln>
              <a:effectLst/>
            </c:spPr>
            <c:extLst>
              <c:ext xmlns:c16="http://schemas.microsoft.com/office/drawing/2014/chart" uri="{C3380CC4-5D6E-409C-BE32-E72D297353CC}">
                <c16:uniqueId val="{00000002-3EF5-41A4-81A9-163E9EAD2BFC}"/>
              </c:ext>
            </c:extLst>
          </c:dPt>
          <c:dPt>
            <c:idx val="3"/>
            <c:invertIfNegative val="0"/>
            <c:bubble3D val="0"/>
            <c:spPr>
              <a:solidFill>
                <a:schemeClr val="accent6"/>
              </a:solidFill>
              <a:ln w="19050">
                <a:solidFill>
                  <a:schemeClr val="lt1"/>
                </a:solidFill>
              </a:ln>
              <a:effectLst/>
            </c:spPr>
            <c:extLst>
              <c:ext xmlns:c16="http://schemas.microsoft.com/office/drawing/2014/chart" uri="{C3380CC4-5D6E-409C-BE32-E72D297353CC}">
                <c16:uniqueId val="{00000001-3EF5-41A4-81A9-163E9EAD2BFC}"/>
              </c:ext>
            </c:extLst>
          </c:dPt>
          <c:dPt>
            <c:idx val="4"/>
            <c:invertIfNegative val="0"/>
            <c:bubble3D val="0"/>
            <c:spPr>
              <a:solidFill>
                <a:schemeClr val="accent6"/>
              </a:solidFill>
              <a:ln w="19050">
                <a:solidFill>
                  <a:schemeClr val="lt1"/>
                </a:solidFill>
              </a:ln>
              <a:effectLst/>
            </c:spPr>
            <c:extLst>
              <c:ext xmlns:c16="http://schemas.microsoft.com/office/drawing/2014/chart" uri="{C3380CC4-5D6E-409C-BE32-E72D297353CC}">
                <c16:uniqueId val="{00000000-3EF5-41A4-81A9-163E9EAD2BFC}"/>
              </c:ext>
            </c:extLst>
          </c:dPt>
          <c:dPt>
            <c:idx val="5"/>
            <c:invertIfNegative val="0"/>
            <c:bubble3D val="0"/>
            <c:spPr>
              <a:solidFill>
                <a:schemeClr val="accent6"/>
              </a:solidFill>
              <a:ln w="19050">
                <a:solidFill>
                  <a:schemeClr val="lt1"/>
                </a:solidFill>
              </a:ln>
              <a:effectLst/>
            </c:spPr>
            <c:extLst>
              <c:ext xmlns:c16="http://schemas.microsoft.com/office/drawing/2014/chart" uri="{C3380CC4-5D6E-409C-BE32-E72D297353CC}">
                <c16:uniqueId val="{00000003-3EF5-41A4-81A9-163E9EAD2BFC}"/>
              </c:ext>
            </c:extLst>
          </c:dPt>
          <c:dLbls>
            <c:dLbl>
              <c:idx val="0"/>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accent6">
                          <a:lumMod val="75000"/>
                        </a:schemeClr>
                      </a:solidFill>
                      <a:latin typeface="+mn-lt"/>
                      <a:ea typeface="+mn-ea"/>
                      <a:cs typeface="+mn-cs"/>
                    </a:defRPr>
                  </a:pPr>
                  <a:endParaRPr lang="en-US"/>
                </a:p>
              </c:txPr>
              <c:dLblPos val="outEnd"/>
              <c:showLegendKey val="0"/>
              <c:showVal val="1"/>
              <c:showCatName val="0"/>
              <c:showSerName val="0"/>
              <c:showPercent val="0"/>
              <c:showBubbleSize val="0"/>
              <c:extLst>
                <c:ext xmlns:c16="http://schemas.microsoft.com/office/drawing/2014/chart" uri="{C3380CC4-5D6E-409C-BE32-E72D297353CC}">
                  <c16:uniqueId val="{0000000A-E945-4F03-90EB-82BC7DF974F7}"/>
                </c:ext>
              </c:extLst>
            </c:dLbl>
            <c:dLbl>
              <c:idx val="1"/>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accent6"/>
                      </a:solidFill>
                      <a:latin typeface="+mn-lt"/>
                      <a:ea typeface="+mn-ea"/>
                      <a:cs typeface="+mn-cs"/>
                    </a:defRPr>
                  </a:pPr>
                  <a:endParaRPr lang="en-US"/>
                </a:p>
              </c:txPr>
              <c:dLblPos val="outEnd"/>
              <c:showLegendKey val="0"/>
              <c:showVal val="1"/>
              <c:showCatName val="0"/>
              <c:showSerName val="0"/>
              <c:showPercent val="0"/>
              <c:showBubbleSize val="0"/>
              <c:extLst>
                <c:ext xmlns:c16="http://schemas.microsoft.com/office/drawing/2014/chart" uri="{C3380CC4-5D6E-409C-BE32-E72D297353CC}">
                  <c16:uniqueId val="{00000001-CC35-4792-9741-B1DB7203B1FF}"/>
                </c:ext>
              </c:extLst>
            </c:dLbl>
            <c:dLbl>
              <c:idx val="2"/>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accent6"/>
                      </a:solidFill>
                      <a:latin typeface="+mn-lt"/>
                      <a:ea typeface="+mn-ea"/>
                      <a:cs typeface="+mn-cs"/>
                    </a:defRPr>
                  </a:pPr>
                  <a:endParaRPr lang="en-US"/>
                </a:p>
              </c:txPr>
              <c:dLblPos val="outEnd"/>
              <c:showLegendKey val="0"/>
              <c:showVal val="1"/>
              <c:showCatName val="0"/>
              <c:showSerName val="0"/>
              <c:showPercent val="0"/>
              <c:showBubbleSize val="0"/>
              <c:extLst>
                <c:ext xmlns:c16="http://schemas.microsoft.com/office/drawing/2014/chart" uri="{C3380CC4-5D6E-409C-BE32-E72D297353CC}">
                  <c16:uniqueId val="{00000002-3EF5-41A4-81A9-163E9EAD2BFC}"/>
                </c:ext>
              </c:extLst>
            </c:dLbl>
            <c:dLbl>
              <c:idx val="3"/>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accent6"/>
                      </a:solidFill>
                      <a:latin typeface="+mn-lt"/>
                      <a:ea typeface="+mn-ea"/>
                      <a:cs typeface="+mn-cs"/>
                    </a:defRPr>
                  </a:pPr>
                  <a:endParaRPr lang="en-US"/>
                </a:p>
              </c:txPr>
              <c:dLblPos val="outEnd"/>
              <c:showLegendKey val="0"/>
              <c:showVal val="1"/>
              <c:showCatName val="0"/>
              <c:showSerName val="0"/>
              <c:showPercent val="0"/>
              <c:showBubbleSize val="0"/>
              <c:extLst>
                <c:ext xmlns:c16="http://schemas.microsoft.com/office/drawing/2014/chart" uri="{C3380CC4-5D6E-409C-BE32-E72D297353CC}">
                  <c16:uniqueId val="{00000001-3EF5-41A4-81A9-163E9EAD2BFC}"/>
                </c:ext>
              </c:extLst>
            </c:dLbl>
            <c:dLbl>
              <c:idx val="4"/>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accent6"/>
                      </a:solidFill>
                      <a:latin typeface="+mn-lt"/>
                      <a:ea typeface="+mn-ea"/>
                      <a:cs typeface="+mn-cs"/>
                    </a:defRPr>
                  </a:pPr>
                  <a:endParaRPr lang="en-US"/>
                </a:p>
              </c:txPr>
              <c:dLblPos val="outEnd"/>
              <c:showLegendKey val="0"/>
              <c:showVal val="1"/>
              <c:showCatName val="0"/>
              <c:showSerName val="0"/>
              <c:showPercent val="0"/>
              <c:showBubbleSize val="0"/>
              <c:extLst>
                <c:ext xmlns:c16="http://schemas.microsoft.com/office/drawing/2014/chart" uri="{C3380CC4-5D6E-409C-BE32-E72D297353CC}">
                  <c16:uniqueId val="{00000000-3EF5-41A4-81A9-163E9EAD2BFC}"/>
                </c:ext>
              </c:extLst>
            </c:dLbl>
            <c:dLbl>
              <c:idx val="5"/>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accent6"/>
                      </a:solidFill>
                      <a:latin typeface="+mn-lt"/>
                      <a:ea typeface="+mn-ea"/>
                      <a:cs typeface="+mn-cs"/>
                    </a:defRPr>
                  </a:pPr>
                  <a:endParaRPr lang="en-US"/>
                </a:p>
              </c:txPr>
              <c:dLblPos val="outEnd"/>
              <c:showLegendKey val="0"/>
              <c:showVal val="1"/>
              <c:showCatName val="0"/>
              <c:showSerName val="0"/>
              <c:showPercent val="0"/>
              <c:showBubbleSize val="0"/>
              <c:extLst>
                <c:ext xmlns:c16="http://schemas.microsoft.com/office/drawing/2014/chart" uri="{C3380CC4-5D6E-409C-BE32-E72D297353CC}">
                  <c16:uniqueId val="{00000003-3EF5-41A4-81A9-163E9EAD2BFC}"/>
                </c:ext>
              </c:extLst>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accent2"/>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Microsoft SQL Server</c:v>
                </c:pt>
                <c:pt idx="1">
                  <c:v>Neo4j</c:v>
                </c:pt>
                <c:pt idx="2">
                  <c:v>MongoDB</c:v>
                </c:pt>
                <c:pt idx="3">
                  <c:v>Redis</c:v>
                </c:pt>
                <c:pt idx="4">
                  <c:v>MySQL</c:v>
                </c:pt>
                <c:pt idx="5">
                  <c:v>SAP IQDB</c:v>
                </c:pt>
              </c:strCache>
            </c:strRef>
          </c:cat>
          <c:val>
            <c:numRef>
              <c:f>Sheet1!$B$2:$B$7</c:f>
              <c:numCache>
                <c:formatCode>0</c:formatCode>
                <c:ptCount val="6"/>
                <c:pt idx="0" formatCode="General">
                  <c:v>45</c:v>
                </c:pt>
                <c:pt idx="1">
                  <c:v>18</c:v>
                </c:pt>
                <c:pt idx="2">
                  <c:v>4</c:v>
                </c:pt>
                <c:pt idx="3">
                  <c:v>4</c:v>
                </c:pt>
                <c:pt idx="4">
                  <c:v>2</c:v>
                </c:pt>
                <c:pt idx="5">
                  <c:v>1</c:v>
                </c:pt>
              </c:numCache>
            </c:numRef>
          </c:val>
          <c:extLst>
            <c:ext xmlns:c16="http://schemas.microsoft.com/office/drawing/2014/chart" uri="{C3380CC4-5D6E-409C-BE32-E72D297353CC}">
              <c16:uniqueId val="{00000006-4E5E-488B-A38F-6D6F0EC3655E}"/>
            </c:ext>
          </c:extLst>
        </c:ser>
        <c:dLbls>
          <c:dLblPos val="outEnd"/>
          <c:showLegendKey val="0"/>
          <c:showVal val="1"/>
          <c:showCatName val="0"/>
          <c:showSerName val="0"/>
          <c:showPercent val="0"/>
          <c:showBubbleSize val="0"/>
        </c:dLbls>
        <c:gapWidth val="102"/>
        <c:axId val="306704352"/>
        <c:axId val="306706976"/>
      </c:barChart>
      <c:catAx>
        <c:axId val="306704352"/>
        <c:scaling>
          <c:orientation val="minMax"/>
        </c:scaling>
        <c:delete val="0"/>
        <c:axPos val="l"/>
        <c:numFmt formatCode="General" sourceLinked="1"/>
        <c:majorTickMark val="out"/>
        <c:minorTickMark val="none"/>
        <c:tickLblPos val="nextTo"/>
        <c:spPr>
          <a:noFill/>
          <a:ln w="6350"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06706976"/>
        <c:crosses val="autoZero"/>
        <c:auto val="1"/>
        <c:lblAlgn val="ctr"/>
        <c:lblOffset val="100"/>
        <c:noMultiLvlLbl val="0"/>
      </c:catAx>
      <c:valAx>
        <c:axId val="30670697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one"/>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306704352"/>
        <c:crosses val="autoZero"/>
        <c:crossBetween val="between"/>
        <c:minorUnit val="5"/>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55374469756697"/>
          <c:y val="8.6303074937450777E-2"/>
          <c:w val="0.56289251060486611"/>
          <c:h val="0.44908031881341659"/>
        </c:manualLayout>
      </c:layout>
      <c:doughnutChart>
        <c:varyColors val="1"/>
        <c:ser>
          <c:idx val="0"/>
          <c:order val="0"/>
          <c:tx>
            <c:strRef>
              <c:f>Sheet1!$B$1</c:f>
              <c:strCache>
                <c:ptCount val="1"/>
                <c:pt idx="0">
                  <c:v>Platforms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C04F-4CC0-A922-F911DA70DDB9}"/>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C04F-4CC0-A922-F911DA70DDB9}"/>
              </c:ext>
            </c:extLst>
          </c:dPt>
          <c:dLbls>
            <c:dLbl>
              <c:idx val="0"/>
              <c:layout>
                <c:manualLayout>
                  <c:x val="0.21986516793039584"/>
                  <c:y val="2.0158730158730067E-2"/>
                </c:manualLayout>
              </c:layout>
              <c:tx>
                <c:rich>
                  <a:bodyPr rot="0" spcFirstLastPara="1" vertOverflow="ellipsis" vert="horz" wrap="square" lIns="38100" tIns="19050" rIns="38100" bIns="19050" anchor="ctr" anchorCtr="1">
                    <a:spAutoFit/>
                  </a:bodyPr>
                  <a:lstStyle/>
                  <a:p>
                    <a:pPr>
                      <a:defRPr sz="1197" b="0" i="0" u="none" strike="noStrike" kern="1200" baseline="0">
                        <a:solidFill>
                          <a:srgbClr val="590053"/>
                        </a:solidFill>
                        <a:latin typeface="+mn-lt"/>
                        <a:ea typeface="+mn-ea"/>
                        <a:cs typeface="+mn-cs"/>
                      </a:defRPr>
                    </a:pPr>
                    <a:r>
                      <a:rPr lang="en-US" baseline="0">
                        <a:solidFill>
                          <a:srgbClr val="590053"/>
                        </a:solidFill>
                      </a:rPr>
                      <a:t> </a:t>
                    </a:r>
                    <a:fld id="{101803D2-7F4C-4B0C-BE25-B8F344C948DC}" type="PERCENTAGE">
                      <a:rPr lang="en-US" baseline="0">
                        <a:solidFill>
                          <a:srgbClr val="590053"/>
                        </a:solidFill>
                      </a:rPr>
                      <a:pPr>
                        <a:defRPr>
                          <a:solidFill>
                            <a:srgbClr val="590053"/>
                          </a:solidFill>
                        </a:defRPr>
                      </a:pPr>
                      <a:t>[PERCENTAGE]</a:t>
                    </a:fld>
                    <a:endParaRPr lang="en-US" baseline="0">
                      <a:solidFill>
                        <a:srgbClr val="590053"/>
                      </a:solidFill>
                    </a:endParaRPr>
                  </a:p>
                </c:rich>
              </c:tx>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590053"/>
                      </a:solidFill>
                      <a:latin typeface="+mn-lt"/>
                      <a:ea typeface="+mn-ea"/>
                      <a:cs typeface="+mn-cs"/>
                    </a:defRPr>
                  </a:pPr>
                  <a:endParaRPr lang="en-US"/>
                </a:p>
              </c:txPr>
              <c:showLegendKey val="0"/>
              <c:showVal val="1"/>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C04F-4CC0-A922-F911DA70DDB9}"/>
                </c:ext>
              </c:extLst>
            </c:dLbl>
            <c:dLbl>
              <c:idx val="1"/>
              <c:layout>
                <c:manualLayout>
                  <c:x val="-0.18162774742076179"/>
                  <c:y val="-3.5277777777777776E-2"/>
                </c:manualLayout>
              </c:layout>
              <c:tx>
                <c:rich>
                  <a:bodyPr rot="0" spcFirstLastPara="1" vertOverflow="ellipsis" vert="horz" wrap="square" lIns="38100" tIns="19050" rIns="38100" bIns="19050" anchor="ctr" anchorCtr="1">
                    <a:spAutoFit/>
                  </a:bodyPr>
                  <a:lstStyle/>
                  <a:p>
                    <a:pPr>
                      <a:defRPr sz="1197" b="0" i="0" u="none" strike="noStrike" kern="1200" baseline="0">
                        <a:solidFill>
                          <a:srgbClr val="0059C8"/>
                        </a:solidFill>
                        <a:latin typeface="+mn-lt"/>
                        <a:ea typeface="+mn-ea"/>
                        <a:cs typeface="+mn-cs"/>
                      </a:defRPr>
                    </a:pPr>
                    <a:fld id="{0A07A502-0B3F-4EC6-A1DE-7361A032E254}" type="PERCENTAGE">
                      <a:rPr lang="en-US" baseline="0" smtClean="0">
                        <a:solidFill>
                          <a:srgbClr val="0059C8"/>
                        </a:solidFill>
                      </a:rPr>
                      <a:pPr>
                        <a:defRPr>
                          <a:solidFill>
                            <a:srgbClr val="0059C8"/>
                          </a:solidFill>
                        </a:defRPr>
                      </a:pPr>
                      <a:t>[PERCENTAGE]</a:t>
                    </a:fld>
                    <a:endParaRPr lang="en-GB"/>
                  </a:p>
                </c:rich>
              </c:tx>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0059C8"/>
                      </a:solidFill>
                      <a:latin typeface="+mn-lt"/>
                      <a:ea typeface="+mn-ea"/>
                      <a:cs typeface="+mn-cs"/>
                    </a:defRPr>
                  </a:pPr>
                  <a:endParaRPr lang="en-GB"/>
                </a:p>
              </c:txPr>
              <c:showLegendKey val="0"/>
              <c:showVal val="1"/>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C04F-4CC0-A922-F911DA70DDB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Proprietary</c:v>
                </c:pt>
                <c:pt idx="1">
                  <c:v>Open Source</c:v>
                </c:pt>
              </c:strCache>
            </c:strRef>
          </c:cat>
          <c:val>
            <c:numRef>
              <c:f>Sheet1!$B$2:$B$3</c:f>
              <c:numCache>
                <c:formatCode>General</c:formatCode>
                <c:ptCount val="2"/>
                <c:pt idx="0">
                  <c:v>90</c:v>
                </c:pt>
                <c:pt idx="1">
                  <c:v>10</c:v>
                </c:pt>
              </c:numCache>
            </c:numRef>
          </c:val>
          <c:extLst>
            <c:ext xmlns:c16="http://schemas.microsoft.com/office/drawing/2014/chart" uri="{C3380CC4-5D6E-409C-BE32-E72D297353CC}">
              <c16:uniqueId val="{00000004-C04F-4CC0-A922-F911DA70DDB9}"/>
            </c:ext>
          </c:extLst>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t"/>
      <c:layout>
        <c:manualLayout>
          <c:xMode val="edge"/>
          <c:yMode val="edge"/>
          <c:x val="4.9999827204136045E-2"/>
          <c:y val="0.57970810258716532"/>
          <c:w val="0.89999996160091911"/>
          <c:h val="7.484217559491077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55374469756697"/>
          <c:y val="8.6303074937450777E-2"/>
          <c:w val="0.56289251060486611"/>
          <c:h val="0.44908031881341659"/>
        </c:manualLayout>
      </c:layout>
      <c:doughnutChart>
        <c:varyColors val="1"/>
        <c:ser>
          <c:idx val="0"/>
          <c:order val="0"/>
          <c:tx>
            <c:strRef>
              <c:f>Sheet1!$B$1</c:f>
              <c:strCache>
                <c:ptCount val="1"/>
                <c:pt idx="0">
                  <c:v>Sales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D5D3-43CC-9F2E-F9783F37FB85}"/>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D5D3-43CC-9F2E-F9783F37FB85}"/>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D5D3-43CC-9F2E-F9783F37FB85}"/>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Business App</c:v>
                </c:pt>
                <c:pt idx="1">
                  <c:v>Shared Service</c:v>
                </c:pt>
                <c:pt idx="2">
                  <c:v>Appliance</c:v>
                </c:pt>
              </c:strCache>
            </c:strRef>
          </c:cat>
          <c:val>
            <c:numRef>
              <c:f>Sheet1!$B$2:$B$4</c:f>
              <c:numCache>
                <c:formatCode>General</c:formatCode>
                <c:ptCount val="3"/>
                <c:pt idx="0">
                  <c:v>13</c:v>
                </c:pt>
                <c:pt idx="1">
                  <c:v>15</c:v>
                </c:pt>
                <c:pt idx="2">
                  <c:v>4</c:v>
                </c:pt>
              </c:numCache>
            </c:numRef>
          </c:val>
          <c:extLst>
            <c:ext xmlns:c16="http://schemas.microsoft.com/office/drawing/2014/chart" uri="{C3380CC4-5D6E-409C-BE32-E72D297353CC}">
              <c16:uniqueId val="{00000006-D5D3-43CC-9F2E-F9783F37FB85}"/>
            </c:ext>
          </c:extLst>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t"/>
      <c:layout>
        <c:manualLayout>
          <c:xMode val="edge"/>
          <c:yMode val="edge"/>
          <c:x val="0.38308135881708216"/>
          <c:y val="0.56962857142857148"/>
          <c:w val="0.22984781018762596"/>
          <c:h val="0.35202460317460316"/>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55374469756697"/>
          <c:y val="8.6303074937450777E-2"/>
          <c:w val="0.56289251060486611"/>
          <c:h val="0.44908031881341659"/>
        </c:manualLayout>
      </c:layout>
      <c:doughnutChart>
        <c:varyColors val="1"/>
        <c:ser>
          <c:idx val="0"/>
          <c:order val="0"/>
          <c:tx>
            <c:strRef>
              <c:f>Sheet1!$B$1</c:f>
              <c:strCache>
                <c:ptCount val="1"/>
                <c:pt idx="0">
                  <c:v>Applications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F071-47E8-AFEC-58BF84E783C3}"/>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F071-47E8-AFEC-58BF84E783C3}"/>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F071-47E8-AFEC-58BF84E783C3}"/>
              </c:ext>
            </c:extLst>
          </c:dPt>
          <c:dPt>
            <c:idx val="3"/>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7-70CF-43D7-A026-D4B2B682FBBE}"/>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High</c:v>
                </c:pt>
                <c:pt idx="1">
                  <c:v>Low</c:v>
                </c:pt>
                <c:pt idx="2">
                  <c:v>Medium</c:v>
                </c:pt>
                <c:pt idx="3">
                  <c:v>N/A</c:v>
                </c:pt>
              </c:strCache>
            </c:strRef>
          </c:cat>
          <c:val>
            <c:numRef>
              <c:f>Sheet1!$B$2:$B$5</c:f>
              <c:numCache>
                <c:formatCode>General</c:formatCode>
                <c:ptCount val="4"/>
                <c:pt idx="0">
                  <c:v>18</c:v>
                </c:pt>
                <c:pt idx="1">
                  <c:v>2</c:v>
                </c:pt>
                <c:pt idx="2">
                  <c:v>4</c:v>
                </c:pt>
                <c:pt idx="3">
                  <c:v>8</c:v>
                </c:pt>
              </c:numCache>
            </c:numRef>
          </c:val>
          <c:extLst>
            <c:ext xmlns:c16="http://schemas.microsoft.com/office/drawing/2014/chart" uri="{C3380CC4-5D6E-409C-BE32-E72D297353CC}">
              <c16:uniqueId val="{00000006-F071-47E8-AFEC-58BF84E783C3}"/>
            </c:ext>
          </c:extLst>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t"/>
      <c:layout>
        <c:manualLayout>
          <c:xMode val="edge"/>
          <c:yMode val="edge"/>
          <c:x val="4.9999827204136045E-2"/>
          <c:y val="0.57970810258716532"/>
          <c:w val="0.89999996160091911"/>
          <c:h val="7.484217559491077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55374469756697"/>
          <c:y val="8.6303074937450777E-2"/>
          <c:w val="0.56289251060486611"/>
          <c:h val="0.44908031881341659"/>
        </c:manualLayout>
      </c:layout>
      <c:doughnutChart>
        <c:varyColors val="1"/>
        <c:ser>
          <c:idx val="0"/>
          <c:order val="0"/>
          <c:tx>
            <c:strRef>
              <c:f>Sheet1!$B$1</c:f>
              <c:strCache>
                <c:ptCount val="1"/>
                <c:pt idx="0">
                  <c:v>Sales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26C4-7045-A28C-212FA855D028}"/>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26C4-7045-A28C-212FA855D028}"/>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26C4-7045-A28C-212FA855D028}"/>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2"/>
                <c:pt idx="0">
                  <c:v>Internal</c:v>
                </c:pt>
                <c:pt idx="1">
                  <c:v>External</c:v>
                </c:pt>
              </c:strCache>
            </c:strRef>
          </c:cat>
          <c:val>
            <c:numRef>
              <c:f>Sheet1!$B$2:$B$4</c:f>
              <c:numCache>
                <c:formatCode>General</c:formatCode>
                <c:ptCount val="3"/>
                <c:pt idx="0">
                  <c:v>21</c:v>
                </c:pt>
                <c:pt idx="1">
                  <c:v>11</c:v>
                </c:pt>
              </c:numCache>
            </c:numRef>
          </c:val>
          <c:extLst>
            <c:ext xmlns:c16="http://schemas.microsoft.com/office/drawing/2014/chart" uri="{C3380CC4-5D6E-409C-BE32-E72D297353CC}">
              <c16:uniqueId val="{00000006-26C4-7045-A28C-212FA855D028}"/>
            </c:ext>
          </c:extLst>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t"/>
      <c:legendEntry>
        <c:idx val="2"/>
        <c:delete val="1"/>
      </c:legendEntry>
      <c:layout>
        <c:manualLayout>
          <c:xMode val="edge"/>
          <c:yMode val="edge"/>
          <c:x val="4.9999827204136045E-2"/>
          <c:y val="0.57970810258716532"/>
          <c:w val="0.89999996160091911"/>
          <c:h val="7.484217559491077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55374469756697"/>
          <c:y val="8.6303074937450777E-2"/>
          <c:w val="0.56289251060486611"/>
          <c:h val="0.44908031881341659"/>
        </c:manualLayout>
      </c:layout>
      <c:doughnutChart>
        <c:varyColors val="1"/>
        <c:ser>
          <c:idx val="0"/>
          <c:order val="0"/>
          <c:tx>
            <c:strRef>
              <c:f>Sheet1!$B$1</c:f>
              <c:strCache>
                <c:ptCount val="1"/>
                <c:pt idx="0">
                  <c:v>Sales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14C4-8B4D-BB53-5F964B21C2BF}"/>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14C4-8B4D-BB53-5F964B21C2BF}"/>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14C4-8B4D-BB53-5F964B21C2B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2"/>
                <c:pt idx="0">
                  <c:v>Internal Data</c:v>
                </c:pt>
                <c:pt idx="1">
                  <c:v>External Data</c:v>
                </c:pt>
              </c:strCache>
            </c:strRef>
          </c:cat>
          <c:val>
            <c:numRef>
              <c:f>Sheet1!$B$2:$B$4</c:f>
              <c:numCache>
                <c:formatCode>General</c:formatCode>
                <c:ptCount val="3"/>
                <c:pt idx="0" formatCode="0%">
                  <c:v>1</c:v>
                </c:pt>
              </c:numCache>
            </c:numRef>
          </c:val>
          <c:extLst>
            <c:ext xmlns:c16="http://schemas.microsoft.com/office/drawing/2014/chart" uri="{C3380CC4-5D6E-409C-BE32-E72D297353CC}">
              <c16:uniqueId val="{00000006-14C4-8B4D-BB53-5F964B21C2BF}"/>
            </c:ext>
          </c:extLst>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t"/>
      <c:legendEntry>
        <c:idx val="2"/>
        <c:delete val="1"/>
      </c:legendEntry>
      <c:layout>
        <c:manualLayout>
          <c:xMode val="edge"/>
          <c:yMode val="edge"/>
          <c:x val="4.9999827204136045E-2"/>
          <c:y val="0.57970810258716532"/>
          <c:w val="0.89999996160091911"/>
          <c:h val="7.484217559491077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55374469756697"/>
          <c:y val="8.6303074937450777E-2"/>
          <c:w val="0.56289251060486611"/>
          <c:h val="0.44908031881341659"/>
        </c:manualLayout>
      </c:layout>
      <c:doughnutChart>
        <c:varyColors val="1"/>
        <c:ser>
          <c:idx val="0"/>
          <c:order val="0"/>
          <c:tx>
            <c:strRef>
              <c:f>Sheet1!$B$1</c:f>
              <c:strCache>
                <c:ptCount val="1"/>
                <c:pt idx="0">
                  <c:v>Platform</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66DE-4C78-89BE-44872C5C6A92}"/>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66DE-4C78-89BE-44872C5C6A92}"/>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66DE-4C78-89BE-44872C5C6A92}"/>
              </c:ext>
            </c:extLst>
          </c:dPt>
          <c:dLbls>
            <c:dLbl>
              <c:idx val="0"/>
              <c:layout>
                <c:manualLayout>
                  <c:x val="0.1392256438288223"/>
                  <c:y val="-6.047619047619047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DE-4C78-89BE-44872C5C6A92}"/>
                </c:ext>
              </c:extLst>
            </c:dLbl>
            <c:dLbl>
              <c:idx val="1"/>
              <c:layout>
                <c:manualLayout>
                  <c:x val="-0.2016371393382945"/>
                  <c:y val="-4.0317460317460314E-2"/>
                </c:manualLayout>
              </c:layout>
              <c:tx>
                <c:rich>
                  <a:bodyPr/>
                  <a:lstStyle/>
                  <a:p>
                    <a:fld id="{7769AE3C-F337-4D5F-9C46-C15486669127}" type="VALUE">
                      <a:rPr lang="en-US">
                        <a:solidFill>
                          <a:schemeClr val="tx1"/>
                        </a:solidFill>
                      </a:rPr>
                      <a:pPr/>
                      <a:t>[VALUE]</a:t>
                    </a:fld>
                    <a:endParaRPr lang="en-GB"/>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66DE-4C78-89BE-44872C5C6A92}"/>
                </c:ext>
              </c:extLst>
            </c:dLbl>
            <c:dLbl>
              <c:idx val="2"/>
              <c:layout>
                <c:manualLayout>
                  <c:x val="-0.27845128765764476"/>
                  <c:y val="-7.055555555555556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6DE-4C78-89BE-44872C5C6A9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Optimal</c:v>
                </c:pt>
                <c:pt idx="1">
                  <c:v>Over</c:v>
                </c:pt>
                <c:pt idx="2">
                  <c:v>Idle</c:v>
                </c:pt>
              </c:strCache>
            </c:strRef>
          </c:cat>
          <c:val>
            <c:numRef>
              <c:f>Sheet1!$B$2:$B$4</c:f>
              <c:numCache>
                <c:formatCode>General</c:formatCode>
                <c:ptCount val="3"/>
                <c:pt idx="0">
                  <c:v>87</c:v>
                </c:pt>
                <c:pt idx="1">
                  <c:v>47</c:v>
                </c:pt>
                <c:pt idx="2">
                  <c:v>22</c:v>
                </c:pt>
              </c:numCache>
            </c:numRef>
          </c:val>
          <c:extLst>
            <c:ext xmlns:c16="http://schemas.microsoft.com/office/drawing/2014/chart" uri="{C3380CC4-5D6E-409C-BE32-E72D297353CC}">
              <c16:uniqueId val="{00000004-66DE-4C78-89BE-44872C5C6A92}"/>
            </c:ext>
          </c:extLst>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b"/>
      <c:layout>
        <c:manualLayout>
          <c:xMode val="edge"/>
          <c:yMode val="edge"/>
          <c:x val="0.14214813487536224"/>
          <c:y val="0.5805150793650794"/>
          <c:w val="0.70610196170935668"/>
          <c:h val="9.6945238095238084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2661982387401236E-2"/>
          <c:y val="0.24451118765577307"/>
          <c:w val="0.66971826187544881"/>
          <c:h val="0.51097762468845387"/>
        </c:manualLayout>
      </c:layout>
      <c:barChart>
        <c:barDir val="bar"/>
        <c:grouping val="clustered"/>
        <c:varyColors val="0"/>
        <c:ser>
          <c:idx val="0"/>
          <c:order val="0"/>
          <c:tx>
            <c:strRef>
              <c:f>Sheet1!$B$1</c:f>
              <c:strCache>
                <c:ptCount val="1"/>
                <c:pt idx="0">
                  <c:v>Estate</c:v>
                </c:pt>
              </c:strCache>
            </c:strRef>
          </c:tx>
          <c:spPr>
            <a:solidFill>
              <a:srgbClr val="FFB04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29</c:v>
                </c:pt>
              </c:numCache>
            </c:numRef>
          </c:val>
          <c:extLst>
            <c:ext xmlns:c16="http://schemas.microsoft.com/office/drawing/2014/chart" uri="{C3380CC4-5D6E-409C-BE32-E72D297353CC}">
              <c16:uniqueId val="{00000000-087A-49E1-9921-ED386DA4D225}"/>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2662020181004885E-2"/>
          <c:y val="0.24451118765577307"/>
          <c:w val="0.52439404972433168"/>
          <c:h val="0.51097762468845387"/>
        </c:manualLayout>
      </c:layout>
      <c:barChart>
        <c:barDir val="bar"/>
        <c:grouping val="clustered"/>
        <c:varyColors val="0"/>
        <c:ser>
          <c:idx val="0"/>
          <c:order val="0"/>
          <c:tx>
            <c:strRef>
              <c:f>Sheet1!$B$1</c:f>
              <c:strCache>
                <c:ptCount val="1"/>
                <c:pt idx="0">
                  <c:v>Estate</c:v>
                </c:pt>
              </c:strCache>
            </c:strRef>
          </c:tx>
          <c:spPr>
            <a:solidFill>
              <a:srgbClr val="FF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8</c:v>
                </c:pt>
              </c:numCache>
            </c:numRef>
          </c:val>
          <c:extLst>
            <c:ext xmlns:c16="http://schemas.microsoft.com/office/drawing/2014/chart" uri="{C3380CC4-5D6E-409C-BE32-E72D297353CC}">
              <c16:uniqueId val="{00000000-511F-4E87-BA9E-C5CB0942A82F}"/>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2661982387401236E-2"/>
          <c:y val="0.24451118765577307"/>
          <c:w val="0.71571940637582387"/>
          <c:h val="0.51097762468845387"/>
        </c:manualLayout>
      </c:layout>
      <c:barChart>
        <c:barDir val="bar"/>
        <c:grouping val="clustered"/>
        <c:varyColors val="0"/>
        <c:ser>
          <c:idx val="0"/>
          <c:order val="0"/>
          <c:tx>
            <c:strRef>
              <c:f>Sheet1!$B$1</c:f>
              <c:strCache>
                <c:ptCount val="1"/>
                <c:pt idx="0">
                  <c:v>Estate</c:v>
                </c:pt>
              </c:strCache>
            </c:strRef>
          </c:tx>
          <c:spPr>
            <a:solidFill>
              <a:srgbClr val="98EE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64</c:v>
                </c:pt>
              </c:numCache>
            </c:numRef>
          </c:val>
          <c:extLst>
            <c:ext xmlns:c16="http://schemas.microsoft.com/office/drawing/2014/chart" uri="{C3380CC4-5D6E-409C-BE32-E72D297353CC}">
              <c16:uniqueId val="{00000000-3D91-4A39-9855-5EE487A9F0C1}"/>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26545322781458"/>
          <c:y val="0.12100912759039448"/>
          <c:w val="0.4831901212073404"/>
          <c:h val="0.80864848983429305"/>
        </c:manualLayout>
      </c:layout>
      <c:doughnutChart>
        <c:varyColors val="1"/>
        <c:ser>
          <c:idx val="0"/>
          <c:order val="0"/>
          <c:tx>
            <c:strRef>
              <c:f>Sheet1!$B$1</c:f>
              <c:strCache>
                <c:ptCount val="1"/>
                <c:pt idx="0">
                  <c:v>Servers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07A1-49C3-8651-8CDAF15E3D0C}"/>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07A1-49C3-8651-8CDAF15E3D0C}"/>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07A1-49C3-8651-8CDAF15E3D0C}"/>
              </c:ext>
            </c:extLst>
          </c:dPt>
          <c:dPt>
            <c:idx val="3"/>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7-07A1-49C3-8651-8CDAF15E3D0C}"/>
              </c:ext>
            </c:extLst>
          </c:dPt>
          <c:dPt>
            <c:idx val="4"/>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09-07A1-49C3-8651-8CDAF15E3D0C}"/>
              </c:ext>
            </c:extLst>
          </c:dPt>
          <c:dPt>
            <c:idx val="5"/>
            <c:bubble3D val="0"/>
            <c:spPr>
              <a:solidFill>
                <a:schemeClr val="accent6">
                  <a:lumMod val="60000"/>
                </a:schemeClr>
              </a:solidFill>
              <a:ln w="19050">
                <a:solidFill>
                  <a:schemeClr val="lt1"/>
                </a:solidFill>
              </a:ln>
              <a:effectLst/>
            </c:spPr>
            <c:extLst>
              <c:ext xmlns:c16="http://schemas.microsoft.com/office/drawing/2014/chart" uri="{C3380CC4-5D6E-409C-BE32-E72D297353CC}">
                <c16:uniqueId val="{0000000B-07A1-49C3-8651-8CDAF15E3D0C}"/>
              </c:ext>
            </c:extLst>
          </c:dPt>
          <c:cat>
            <c:strRef>
              <c:f>Sheet1!$A$2:$A$7</c:f>
              <c:strCache>
                <c:ptCount val="2"/>
                <c:pt idx="0">
                  <c:v>Windows</c:v>
                </c:pt>
                <c:pt idx="1">
                  <c:v>Linux</c:v>
                </c:pt>
              </c:strCache>
            </c:strRef>
          </c:cat>
          <c:val>
            <c:numRef>
              <c:f>Sheet1!$B$2:$B$7</c:f>
              <c:numCache>
                <c:formatCode>0</c:formatCode>
                <c:ptCount val="6"/>
                <c:pt idx="0">
                  <c:v>105</c:v>
                </c:pt>
                <c:pt idx="1">
                  <c:v>76</c:v>
                </c:pt>
              </c:numCache>
            </c:numRef>
          </c:val>
          <c:extLst>
            <c:ext xmlns:c16="http://schemas.microsoft.com/office/drawing/2014/chart" uri="{C3380CC4-5D6E-409C-BE32-E72D297353CC}">
              <c16:uniqueId val="{0000000C-07A1-49C3-8651-8CDAF15E3D0C}"/>
            </c:ext>
          </c:extLst>
        </c:ser>
        <c:dLbls>
          <c:showLegendKey val="0"/>
          <c:showVal val="0"/>
          <c:showCatName val="0"/>
          <c:showSerName val="0"/>
          <c:showPercent val="0"/>
          <c:showBubbleSize val="0"/>
          <c:showLeaderLines val="1"/>
        </c:dLbls>
        <c:firstSliceAng val="0"/>
        <c:holeSize val="66"/>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userShapes r:id="rId4"/>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Estate</c:v>
                </c:pt>
              </c:strCache>
            </c:strRef>
          </c:tx>
          <c:spPr>
            <a:solidFill>
              <a:srgbClr val="98EE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3</c:v>
                </c:pt>
              </c:numCache>
            </c:numRef>
          </c:val>
          <c:extLst>
            <c:ext xmlns:c16="http://schemas.microsoft.com/office/drawing/2014/chart" uri="{C3380CC4-5D6E-409C-BE32-E72D297353CC}">
              <c16:uniqueId val="{00000000-FE1E-4ACE-9F7E-93B1E11DA5B3}"/>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2662020181004885E-2"/>
          <c:y val="0.24451118765577307"/>
          <c:w val="0.52439404972433168"/>
          <c:h val="0.51097762468845387"/>
        </c:manualLayout>
      </c:layout>
      <c:barChart>
        <c:barDir val="bar"/>
        <c:grouping val="clustered"/>
        <c:varyColors val="0"/>
        <c:ser>
          <c:idx val="0"/>
          <c:order val="0"/>
          <c:tx>
            <c:strRef>
              <c:f>Sheet1!$B$1</c:f>
              <c:strCache>
                <c:ptCount val="1"/>
                <c:pt idx="0">
                  <c:v>Estate</c:v>
                </c:pt>
              </c:strCache>
            </c:strRef>
          </c:tx>
          <c:spPr>
            <a:solidFill>
              <a:srgbClr val="98EE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12</c:v>
                </c:pt>
              </c:numCache>
            </c:numRef>
          </c:val>
          <c:extLst>
            <c:ext xmlns:c16="http://schemas.microsoft.com/office/drawing/2014/chart" uri="{C3380CC4-5D6E-409C-BE32-E72D297353CC}">
              <c16:uniqueId val="{00000000-511F-4E87-BA9E-C5CB0942A82F}"/>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Estate</c:v>
                </c:pt>
              </c:strCache>
            </c:strRef>
          </c:tx>
          <c:spPr>
            <a:solidFill>
              <a:srgbClr val="FF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85</c:v>
                </c:pt>
              </c:numCache>
            </c:numRef>
          </c:val>
          <c:extLst>
            <c:ext xmlns:c16="http://schemas.microsoft.com/office/drawing/2014/chart" uri="{C3380CC4-5D6E-409C-BE32-E72D297353CC}">
              <c16:uniqueId val="{00000000-84C2-478A-B6B3-8B879BA834F2}"/>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26545322781458"/>
          <c:y val="0.12100912759039448"/>
          <c:w val="0.4831901212073404"/>
          <c:h val="0.80864848983429305"/>
        </c:manualLayout>
      </c:layout>
      <c:doughnutChart>
        <c:varyColors val="1"/>
        <c:ser>
          <c:idx val="0"/>
          <c:order val="0"/>
          <c:tx>
            <c:strRef>
              <c:f>Sheet1!$B$1</c:f>
              <c:strCache>
                <c:ptCount val="1"/>
                <c:pt idx="0">
                  <c:v>Servers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07A1-49C3-8651-8CDAF15E3D0C}"/>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07A1-49C3-8651-8CDAF15E3D0C}"/>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07A1-49C3-8651-8CDAF15E3D0C}"/>
              </c:ext>
            </c:extLst>
          </c:dPt>
          <c:dPt>
            <c:idx val="3"/>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7-07A1-49C3-8651-8CDAF15E3D0C}"/>
              </c:ext>
            </c:extLst>
          </c:dPt>
          <c:dPt>
            <c:idx val="4"/>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09-07A1-49C3-8651-8CDAF15E3D0C}"/>
              </c:ext>
            </c:extLst>
          </c:dPt>
          <c:dPt>
            <c:idx val="5"/>
            <c:bubble3D val="0"/>
            <c:spPr>
              <a:solidFill>
                <a:schemeClr val="accent6">
                  <a:lumMod val="60000"/>
                </a:schemeClr>
              </a:solidFill>
              <a:ln w="19050">
                <a:solidFill>
                  <a:schemeClr val="lt1"/>
                </a:solidFill>
              </a:ln>
              <a:effectLst/>
            </c:spPr>
            <c:extLst>
              <c:ext xmlns:c16="http://schemas.microsoft.com/office/drawing/2014/chart" uri="{C3380CC4-5D6E-409C-BE32-E72D297353CC}">
                <c16:uniqueId val="{0000000B-07A1-49C3-8651-8CDAF15E3D0C}"/>
              </c:ext>
            </c:extLst>
          </c:dPt>
          <c:cat>
            <c:strRef>
              <c:f>Sheet1!$A$2:$A$7</c:f>
              <c:strCache>
                <c:ptCount val="2"/>
                <c:pt idx="0">
                  <c:v>Windows</c:v>
                </c:pt>
                <c:pt idx="1">
                  <c:v>Linux</c:v>
                </c:pt>
              </c:strCache>
            </c:strRef>
          </c:cat>
          <c:val>
            <c:numRef>
              <c:f>Sheet1!$B$2:$B$7</c:f>
              <c:numCache>
                <c:formatCode>0</c:formatCode>
                <c:ptCount val="6"/>
                <c:pt idx="0">
                  <c:v>80</c:v>
                </c:pt>
                <c:pt idx="1">
                  <c:v>76</c:v>
                </c:pt>
              </c:numCache>
            </c:numRef>
          </c:val>
          <c:extLst>
            <c:ext xmlns:c16="http://schemas.microsoft.com/office/drawing/2014/chart" uri="{C3380CC4-5D6E-409C-BE32-E72D297353CC}">
              <c16:uniqueId val="{0000000C-07A1-49C3-8651-8CDAF15E3D0C}"/>
            </c:ext>
          </c:extLst>
        </c:ser>
        <c:dLbls>
          <c:showLegendKey val="0"/>
          <c:showVal val="0"/>
          <c:showCatName val="0"/>
          <c:showSerName val="0"/>
          <c:showPercent val="0"/>
          <c:showBubbleSize val="0"/>
          <c:showLeaderLines val="1"/>
        </c:dLbls>
        <c:firstSliceAng val="0"/>
        <c:holeSize val="66"/>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userShapes r:id="rId4"/>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26545322781458"/>
          <c:y val="0.12100912759039448"/>
          <c:w val="0.4831901212073404"/>
          <c:h val="0.80864848983429305"/>
        </c:manualLayout>
      </c:layout>
      <c:doughnutChart>
        <c:varyColors val="1"/>
        <c:ser>
          <c:idx val="0"/>
          <c:order val="0"/>
          <c:tx>
            <c:strRef>
              <c:f>Sheet1!$B$1</c:f>
              <c:strCache>
                <c:ptCount val="1"/>
                <c:pt idx="0">
                  <c:v>Servers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E575-43FC-B58C-11B1C60CA291}"/>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E575-43FC-B58C-11B1C60CA291}"/>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E575-43FC-B58C-11B1C60CA291}"/>
              </c:ext>
            </c:extLst>
          </c:dPt>
          <c:dPt>
            <c:idx val="3"/>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7-E575-43FC-B58C-11B1C60CA291}"/>
              </c:ext>
            </c:extLst>
          </c:dPt>
          <c:dPt>
            <c:idx val="4"/>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09-E575-43FC-B58C-11B1C60CA291}"/>
              </c:ext>
            </c:extLst>
          </c:dPt>
          <c:dPt>
            <c:idx val="5"/>
            <c:bubble3D val="0"/>
            <c:spPr>
              <a:solidFill>
                <a:schemeClr val="accent6">
                  <a:lumMod val="60000"/>
                </a:schemeClr>
              </a:solidFill>
              <a:ln w="19050">
                <a:solidFill>
                  <a:schemeClr val="lt1"/>
                </a:solidFill>
              </a:ln>
              <a:effectLst/>
            </c:spPr>
            <c:extLst>
              <c:ext xmlns:c16="http://schemas.microsoft.com/office/drawing/2014/chart" uri="{C3380CC4-5D6E-409C-BE32-E72D297353CC}">
                <c16:uniqueId val="{0000000B-E575-43FC-B58C-11B1C60CA291}"/>
              </c:ext>
            </c:extLst>
          </c:dPt>
          <c:cat>
            <c:strRef>
              <c:f>Sheet1!$A$2:$A$7</c:f>
              <c:strCache>
                <c:ptCount val="2"/>
                <c:pt idx="0">
                  <c:v>DB1</c:v>
                </c:pt>
                <c:pt idx="1">
                  <c:v>DB2</c:v>
                </c:pt>
              </c:strCache>
            </c:strRef>
          </c:cat>
          <c:val>
            <c:numRef>
              <c:f>Sheet1!$B$2:$B$7</c:f>
              <c:numCache>
                <c:formatCode>0</c:formatCode>
                <c:ptCount val="6"/>
                <c:pt idx="0">
                  <c:v>20</c:v>
                </c:pt>
                <c:pt idx="1">
                  <c:v>15</c:v>
                </c:pt>
              </c:numCache>
            </c:numRef>
          </c:val>
          <c:extLst>
            <c:ext xmlns:c16="http://schemas.microsoft.com/office/drawing/2014/chart" uri="{C3380CC4-5D6E-409C-BE32-E72D297353CC}">
              <c16:uniqueId val="{0000000C-E575-43FC-B58C-11B1C60CA291}"/>
            </c:ext>
          </c:extLst>
        </c:ser>
        <c:dLbls>
          <c:showLegendKey val="0"/>
          <c:showVal val="0"/>
          <c:showCatName val="0"/>
          <c:showSerName val="0"/>
          <c:showPercent val="0"/>
          <c:showBubbleSize val="0"/>
          <c:showLeaderLines val="1"/>
        </c:dLbls>
        <c:firstSliceAng val="0"/>
        <c:holeSize val="66"/>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userShapes r:id="rId4"/>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2661982387401236E-2"/>
          <c:y val="0.24451118765577307"/>
          <c:w val="0.71571940637582387"/>
          <c:h val="0.51097762468845387"/>
        </c:manualLayout>
      </c:layout>
      <c:barChart>
        <c:barDir val="bar"/>
        <c:grouping val="clustered"/>
        <c:varyColors val="0"/>
        <c:ser>
          <c:idx val="0"/>
          <c:order val="0"/>
          <c:tx>
            <c:strRef>
              <c:f>Sheet1!$B$1</c:f>
              <c:strCache>
                <c:ptCount val="1"/>
                <c:pt idx="0">
                  <c:v>Estate</c:v>
                </c:pt>
              </c:strCache>
            </c:strRef>
          </c:tx>
          <c:spPr>
            <a:solidFill>
              <a:srgbClr val="98EE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55.5</c:v>
                </c:pt>
              </c:numCache>
            </c:numRef>
          </c:val>
          <c:extLst>
            <c:ext xmlns:c16="http://schemas.microsoft.com/office/drawing/2014/chart" uri="{C3380CC4-5D6E-409C-BE32-E72D297353CC}">
              <c16:uniqueId val="{00000000-3968-4F8E-A009-9BD57A931631}"/>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2661982387401236E-2"/>
          <c:y val="0.24451118765577307"/>
          <c:w val="0.49031405344240303"/>
          <c:h val="0.51097762468845387"/>
        </c:manualLayout>
      </c:layout>
      <c:barChart>
        <c:barDir val="bar"/>
        <c:grouping val="clustered"/>
        <c:varyColors val="0"/>
        <c:ser>
          <c:idx val="0"/>
          <c:order val="0"/>
          <c:tx>
            <c:strRef>
              <c:f>Sheet1!$B$1</c:f>
              <c:strCache>
                <c:ptCount val="1"/>
                <c:pt idx="0">
                  <c:v>Estate</c:v>
                </c:pt>
              </c:strCache>
            </c:strRef>
          </c:tx>
          <c:spPr>
            <a:solidFill>
              <a:srgbClr val="98EE99"/>
            </a:solidFill>
            <a:ln>
              <a:noFill/>
            </a:ln>
            <a:effectLst/>
          </c:spPr>
          <c:invertIfNegative val="0"/>
          <c:dPt>
            <c:idx val="0"/>
            <c:invertIfNegative val="0"/>
            <c:bubble3D val="0"/>
            <c:spPr>
              <a:solidFill>
                <a:srgbClr val="FFB04C"/>
              </a:solidFill>
              <a:ln>
                <a:noFill/>
              </a:ln>
              <a:effectLst/>
            </c:spPr>
            <c:extLst>
              <c:ext xmlns:c16="http://schemas.microsoft.com/office/drawing/2014/chart" uri="{C3380CC4-5D6E-409C-BE32-E72D297353CC}">
                <c16:uniqueId val="{00000001-D721-45DF-96DF-CAE77FB87D2A}"/>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44.5</c:v>
                </c:pt>
              </c:numCache>
            </c:numRef>
          </c:val>
          <c:extLst>
            <c:ext xmlns:c16="http://schemas.microsoft.com/office/drawing/2014/chart" uri="{C3380CC4-5D6E-409C-BE32-E72D297353CC}">
              <c16:uniqueId val="{00000002-D721-45DF-96DF-CAE77FB87D2A}"/>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26545322781458"/>
          <c:y val="0.12100912759039448"/>
          <c:w val="0.4831901212073404"/>
          <c:h val="0.80864848983429305"/>
        </c:manualLayout>
      </c:layout>
      <c:doughnutChart>
        <c:varyColors val="1"/>
        <c:ser>
          <c:idx val="0"/>
          <c:order val="0"/>
          <c:tx>
            <c:strRef>
              <c:f>Sheet1!$B$1</c:f>
              <c:strCache>
                <c:ptCount val="1"/>
                <c:pt idx="0">
                  <c:v>Servers</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E575-43FC-B58C-11B1C60CA291}"/>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E575-43FC-B58C-11B1C60CA291}"/>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E575-43FC-B58C-11B1C60CA291}"/>
              </c:ext>
            </c:extLst>
          </c:dPt>
          <c:dPt>
            <c:idx val="3"/>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7-E575-43FC-B58C-11B1C60CA291}"/>
              </c:ext>
            </c:extLst>
          </c:dPt>
          <c:dPt>
            <c:idx val="4"/>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09-E575-43FC-B58C-11B1C60CA291}"/>
              </c:ext>
            </c:extLst>
          </c:dPt>
          <c:dPt>
            <c:idx val="5"/>
            <c:bubble3D val="0"/>
            <c:spPr>
              <a:solidFill>
                <a:schemeClr val="accent6">
                  <a:lumMod val="60000"/>
                </a:schemeClr>
              </a:solidFill>
              <a:ln w="19050">
                <a:solidFill>
                  <a:schemeClr val="lt1"/>
                </a:solidFill>
              </a:ln>
              <a:effectLst/>
            </c:spPr>
            <c:extLst>
              <c:ext xmlns:c16="http://schemas.microsoft.com/office/drawing/2014/chart" uri="{C3380CC4-5D6E-409C-BE32-E72D297353CC}">
                <c16:uniqueId val="{0000000B-E575-43FC-B58C-11B1C60CA291}"/>
              </c:ext>
            </c:extLst>
          </c:dPt>
          <c:cat>
            <c:strRef>
              <c:f>Sheet1!$A$2:$A$7</c:f>
              <c:strCache>
                <c:ptCount val="2"/>
                <c:pt idx="0">
                  <c:v>DB1</c:v>
                </c:pt>
                <c:pt idx="1">
                  <c:v>DB2</c:v>
                </c:pt>
              </c:strCache>
            </c:strRef>
          </c:cat>
          <c:val>
            <c:numRef>
              <c:f>Sheet1!$B$2:$B$7</c:f>
              <c:numCache>
                <c:formatCode>0</c:formatCode>
                <c:ptCount val="6"/>
                <c:pt idx="0">
                  <c:v>4</c:v>
                </c:pt>
                <c:pt idx="1">
                  <c:v>14</c:v>
                </c:pt>
              </c:numCache>
            </c:numRef>
          </c:val>
          <c:extLst>
            <c:ext xmlns:c16="http://schemas.microsoft.com/office/drawing/2014/chart" uri="{C3380CC4-5D6E-409C-BE32-E72D297353CC}">
              <c16:uniqueId val="{0000000C-E575-43FC-B58C-11B1C60CA291}"/>
            </c:ext>
          </c:extLst>
        </c:ser>
        <c:dLbls>
          <c:showLegendKey val="0"/>
          <c:showVal val="0"/>
          <c:showCatName val="0"/>
          <c:showSerName val="0"/>
          <c:showPercent val="0"/>
          <c:showBubbleSize val="0"/>
          <c:showLeaderLines val="1"/>
        </c:dLbls>
        <c:firstSliceAng val="0"/>
        <c:holeSize val="66"/>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userShapes r:id="rId4"/>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Estate</c:v>
                </c:pt>
              </c:strCache>
            </c:strRef>
          </c:tx>
          <c:spPr>
            <a:solidFill>
              <a:srgbClr val="FF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22</c:v>
                </c:pt>
              </c:numCache>
            </c:numRef>
          </c:val>
          <c:extLst>
            <c:ext xmlns:c16="http://schemas.microsoft.com/office/drawing/2014/chart" uri="{C3380CC4-5D6E-409C-BE32-E72D297353CC}">
              <c16:uniqueId val="{00000000-B7C4-4D4F-9141-EE6C1918A585}"/>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Estate</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Count</c:v>
                </c:pt>
              </c:strCache>
            </c:strRef>
          </c:cat>
          <c:val>
            <c:numRef>
              <c:f>Sheet1!$B$2</c:f>
              <c:numCache>
                <c:formatCode>General</c:formatCode>
                <c:ptCount val="1"/>
                <c:pt idx="0">
                  <c:v>78</c:v>
                </c:pt>
              </c:numCache>
            </c:numRef>
          </c:val>
          <c:extLst>
            <c:ext xmlns:c16="http://schemas.microsoft.com/office/drawing/2014/chart" uri="{C3380CC4-5D6E-409C-BE32-E72D297353CC}">
              <c16:uniqueId val="{00000000-857C-44DD-8491-975D564289BB}"/>
            </c:ext>
          </c:extLst>
        </c:ser>
        <c:dLbls>
          <c:showLegendKey val="0"/>
          <c:showVal val="0"/>
          <c:showCatName val="0"/>
          <c:showSerName val="0"/>
          <c:showPercent val="0"/>
          <c:showBubbleSize val="0"/>
        </c:dLbls>
        <c:gapWidth val="100"/>
        <c:axId val="1564117583"/>
        <c:axId val="1564125743"/>
      </c:barChart>
      <c:catAx>
        <c:axId val="1564117583"/>
        <c:scaling>
          <c:orientation val="minMax"/>
        </c:scaling>
        <c:delete val="1"/>
        <c:axPos val="l"/>
        <c:numFmt formatCode="General" sourceLinked="1"/>
        <c:majorTickMark val="none"/>
        <c:minorTickMark val="none"/>
        <c:tickLblPos val="nextTo"/>
        <c:crossAx val="1564125743"/>
        <c:crosses val="autoZero"/>
        <c:auto val="1"/>
        <c:lblAlgn val="ctr"/>
        <c:lblOffset val="100"/>
        <c:noMultiLvlLbl val="0"/>
      </c:catAx>
      <c:valAx>
        <c:axId val="1564125743"/>
        <c:scaling>
          <c:orientation val="minMax"/>
        </c:scaling>
        <c:delete val="1"/>
        <c:axPos val="b"/>
        <c:numFmt formatCode="General" sourceLinked="1"/>
        <c:majorTickMark val="none"/>
        <c:minorTickMark val="none"/>
        <c:tickLblPos val="nextTo"/>
        <c:crossAx val="1564117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radarChart>
        <c:radarStyle val="filled"/>
        <c:varyColors val="0"/>
        <c:ser>
          <c:idx val="0"/>
          <c:order val="0"/>
          <c:tx>
            <c:strRef>
              <c:f>Sheet1!$B$1</c:f>
              <c:strCache>
                <c:ptCount val="1"/>
                <c:pt idx="0">
                  <c:v>Perspectives</c:v>
                </c:pt>
              </c:strCache>
            </c:strRef>
          </c:tx>
          <c:spPr>
            <a:solidFill>
              <a:srgbClr val="FF9B00"/>
            </a:solidFill>
          </c:spPr>
          <c:cat>
            <c:strRef>
              <c:f>Sheet1!$A$2:$A$7</c:f>
              <c:strCache>
                <c:ptCount val="6"/>
                <c:pt idx="0">
                  <c:v>Business</c:v>
                </c:pt>
                <c:pt idx="1">
                  <c:v>Platform</c:v>
                </c:pt>
                <c:pt idx="2">
                  <c:v>People</c:v>
                </c:pt>
                <c:pt idx="3">
                  <c:v>Governance</c:v>
                </c:pt>
                <c:pt idx="4">
                  <c:v>Operations</c:v>
                </c:pt>
                <c:pt idx="5">
                  <c:v>Security</c:v>
                </c:pt>
              </c:strCache>
            </c:strRef>
          </c:cat>
          <c:val>
            <c:numRef>
              <c:f>Sheet1!$B$2:$B$7</c:f>
              <c:numCache>
                <c:formatCode>General</c:formatCode>
                <c:ptCount val="6"/>
                <c:pt idx="0">
                  <c:v>58.339999999999996</c:v>
                </c:pt>
                <c:pt idx="1">
                  <c:v>64</c:v>
                </c:pt>
                <c:pt idx="2">
                  <c:v>52</c:v>
                </c:pt>
                <c:pt idx="3">
                  <c:v>56.36</c:v>
                </c:pt>
                <c:pt idx="4">
                  <c:v>46</c:v>
                </c:pt>
                <c:pt idx="5">
                  <c:v>44.28</c:v>
                </c:pt>
              </c:numCache>
            </c:numRef>
          </c:val>
          <c:extLst>
            <c:ext xmlns:c16="http://schemas.microsoft.com/office/drawing/2014/chart" uri="{C3380CC4-5D6E-409C-BE32-E72D297353CC}">
              <c16:uniqueId val="{00000000-27C4-E740-AFB1-59102A56F693}"/>
            </c:ext>
          </c:extLst>
        </c:ser>
        <c:ser>
          <c:idx val="1"/>
          <c:order val="1"/>
          <c:tx>
            <c:strRef>
              <c:f>Sheet1!$C$1</c:f>
              <c:strCache>
                <c:ptCount val="1"/>
                <c:pt idx="0">
                  <c:v>Guide</c:v>
                </c:pt>
              </c:strCache>
            </c:strRef>
          </c:tx>
          <c:spPr>
            <a:noFill/>
            <a:ln w="45720">
              <a:solidFill>
                <a:srgbClr val="00FF00"/>
              </a:solidFill>
            </a:ln>
          </c:spPr>
          <c:cat>
            <c:strRef>
              <c:f>Sheet1!$A$2:$A$7</c:f>
              <c:strCache>
                <c:ptCount val="6"/>
                <c:pt idx="0">
                  <c:v>Business</c:v>
                </c:pt>
                <c:pt idx="1">
                  <c:v>Platform</c:v>
                </c:pt>
                <c:pt idx="2">
                  <c:v>People</c:v>
                </c:pt>
                <c:pt idx="3">
                  <c:v>Governance</c:v>
                </c:pt>
                <c:pt idx="4">
                  <c:v>Operations</c:v>
                </c:pt>
                <c:pt idx="5">
                  <c:v>Security</c:v>
                </c:pt>
              </c:strCache>
            </c:strRef>
          </c:cat>
          <c:val>
            <c:numRef>
              <c:f>Sheet1!$C$2:$C$7</c:f>
              <c:numCache>
                <c:formatCode>General</c:formatCode>
                <c:ptCount val="6"/>
                <c:pt idx="0">
                  <c:v>80</c:v>
                </c:pt>
                <c:pt idx="1">
                  <c:v>80</c:v>
                </c:pt>
                <c:pt idx="2">
                  <c:v>80</c:v>
                </c:pt>
                <c:pt idx="3">
                  <c:v>80</c:v>
                </c:pt>
                <c:pt idx="4">
                  <c:v>80</c:v>
                </c:pt>
                <c:pt idx="5">
                  <c:v>80</c:v>
                </c:pt>
              </c:numCache>
            </c:numRef>
          </c:val>
          <c:extLst>
            <c:ext xmlns:c16="http://schemas.microsoft.com/office/drawing/2014/chart" uri="{C3380CC4-5D6E-409C-BE32-E72D297353CC}">
              <c16:uniqueId val="{00000001-27C4-E740-AFB1-59102A56F693}"/>
            </c:ext>
          </c:extLst>
        </c:ser>
        <c:dLbls>
          <c:showLegendKey val="0"/>
          <c:showVal val="0"/>
          <c:showCatName val="0"/>
          <c:showSerName val="0"/>
          <c:showPercent val="0"/>
          <c:showBubbleSize val="0"/>
        </c:dLbls>
        <c:axId val="2073612648"/>
        <c:axId val="-2112772216"/>
      </c:radarChart>
      <c:catAx>
        <c:axId val="2073612648"/>
        <c:scaling>
          <c:orientation val="minMax"/>
        </c:scaling>
        <c:delete val="0"/>
        <c:axPos val="b"/>
        <c:majorGridlines/>
        <c:numFmt formatCode="General" sourceLinked="1"/>
        <c:majorTickMark val="out"/>
        <c:minorTickMark val="none"/>
        <c:tickLblPos val="nextTo"/>
        <c:txPr>
          <a:bodyPr/>
          <a:lstStyle/>
          <a:p>
            <a:pPr>
              <a:defRPr sz="1100"/>
            </a:pPr>
            <a:endParaRPr lang="en-US"/>
          </a:p>
        </c:txPr>
        <c:crossAx val="-2112772216"/>
        <c:crosses val="autoZero"/>
        <c:auto val="1"/>
        <c:lblAlgn val="ctr"/>
        <c:lblOffset val="100"/>
        <c:noMultiLvlLbl val="0"/>
      </c:catAx>
      <c:valAx>
        <c:axId val="-2112772216"/>
        <c:scaling>
          <c:orientation val="minMax"/>
          <c:max val="100"/>
        </c:scaling>
        <c:delete val="0"/>
        <c:axPos val="l"/>
        <c:majorGridlines/>
        <c:numFmt formatCode="0&quot;%&quot;" sourceLinked="0"/>
        <c:majorTickMark val="cross"/>
        <c:minorTickMark val="none"/>
        <c:tickLblPos val="nextTo"/>
        <c:txPr>
          <a:bodyPr/>
          <a:lstStyle/>
          <a:p>
            <a:pPr>
              <a:defRPr sz="1050" b="1">
                <a:solidFill>
                  <a:schemeClr val="tx1"/>
                </a:solidFill>
              </a:defRPr>
            </a:pPr>
            <a:endParaRPr lang="en-US"/>
          </a:p>
        </c:txPr>
        <c:crossAx val="2073612648"/>
        <c:crosses val="autoZero"/>
        <c:crossBetween val="between"/>
        <c:majorUnit val="20"/>
      </c:valAx>
    </c:plotArea>
    <c:plotVisOnly val="1"/>
    <c:dispBlanksAs val="gap"/>
    <c:showDLblsOverMax val="0"/>
  </c:chart>
  <c:txPr>
    <a:bodyPr/>
    <a:lstStyle/>
    <a:p>
      <a:pPr>
        <a:defRPr sz="1800"/>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radarChart>
        <c:radarStyle val="filled"/>
        <c:varyColors val="0"/>
        <c:ser>
          <c:idx val="0"/>
          <c:order val="0"/>
          <c:tx>
            <c:strRef>
              <c:f>Sheet1!$B$1</c:f>
              <c:strCache>
                <c:ptCount val="1"/>
                <c:pt idx="0">
                  <c:v>Workstreams</c:v>
                </c:pt>
              </c:strCache>
            </c:strRef>
          </c:tx>
          <c:spPr>
            <a:solidFill>
              <a:srgbClr val="FF9B00"/>
            </a:solidFill>
          </c:spPr>
          <c:cat>
            <c:strRef>
              <c:f>Sheet1!$A$2:$A$9</c:f>
              <c:strCache>
                <c:ptCount val="8"/>
                <c:pt idx="0">
                  <c:v>Business Case</c:v>
                </c:pt>
                <c:pt idx="1">
                  <c:v>Customer Migration Project Plan</c:v>
                </c:pt>
                <c:pt idx="2">
                  <c:v>Skills &amp; COE</c:v>
                </c:pt>
                <c:pt idx="3">
                  <c:v>Landing Zone</c:v>
                </c:pt>
                <c:pt idx="4">
                  <c:v>Application Portfolio Discovery &amp; Planning</c:v>
                </c:pt>
                <c:pt idx="5">
                  <c:v>Migration Process &amp; Experience</c:v>
                </c:pt>
                <c:pt idx="6">
                  <c:v>Operating Model</c:v>
                </c:pt>
                <c:pt idx="7">
                  <c:v>Security &amp; Compliance</c:v>
                </c:pt>
              </c:strCache>
            </c:strRef>
          </c:cat>
          <c:val>
            <c:numRef>
              <c:f>Sheet1!$B$2:$B$9</c:f>
              <c:numCache>
                <c:formatCode>General</c:formatCode>
                <c:ptCount val="8"/>
                <c:pt idx="0">
                  <c:v>68</c:v>
                </c:pt>
                <c:pt idx="1">
                  <c:v>66.66</c:v>
                </c:pt>
                <c:pt idx="2">
                  <c:v>56</c:v>
                </c:pt>
                <c:pt idx="3">
                  <c:v>40</c:v>
                </c:pt>
                <c:pt idx="4">
                  <c:v>71.12</c:v>
                </c:pt>
                <c:pt idx="5">
                  <c:v>20</c:v>
                </c:pt>
                <c:pt idx="6">
                  <c:v>45.88</c:v>
                </c:pt>
                <c:pt idx="7">
                  <c:v>42.5</c:v>
                </c:pt>
              </c:numCache>
            </c:numRef>
          </c:val>
          <c:extLst>
            <c:ext xmlns:c16="http://schemas.microsoft.com/office/drawing/2014/chart" uri="{C3380CC4-5D6E-409C-BE32-E72D297353CC}">
              <c16:uniqueId val="{00000000-D4BA-8548-91A6-ECEDA3B3B2D3}"/>
            </c:ext>
          </c:extLst>
        </c:ser>
        <c:ser>
          <c:idx val="1"/>
          <c:order val="1"/>
          <c:tx>
            <c:strRef>
              <c:f>Sheet1!$C$1</c:f>
              <c:strCache>
                <c:ptCount val="1"/>
                <c:pt idx="0">
                  <c:v>Guide</c:v>
                </c:pt>
              </c:strCache>
            </c:strRef>
          </c:tx>
          <c:spPr>
            <a:noFill/>
            <a:ln w="45720">
              <a:solidFill>
                <a:srgbClr val="00FF00"/>
              </a:solidFill>
            </a:ln>
          </c:spPr>
          <c:cat>
            <c:strRef>
              <c:f>Sheet1!$A$2:$A$9</c:f>
              <c:strCache>
                <c:ptCount val="8"/>
                <c:pt idx="0">
                  <c:v>Business Case</c:v>
                </c:pt>
                <c:pt idx="1">
                  <c:v>Customer Migration Project Plan</c:v>
                </c:pt>
                <c:pt idx="2">
                  <c:v>Skills &amp; COE</c:v>
                </c:pt>
                <c:pt idx="3">
                  <c:v>Landing Zone</c:v>
                </c:pt>
                <c:pt idx="4">
                  <c:v>Application Portfolio Discovery &amp; Planning</c:v>
                </c:pt>
                <c:pt idx="5">
                  <c:v>Migration Process &amp; Experience</c:v>
                </c:pt>
                <c:pt idx="6">
                  <c:v>Operating Model</c:v>
                </c:pt>
                <c:pt idx="7">
                  <c:v>Security &amp; Compliance</c:v>
                </c:pt>
              </c:strCache>
            </c:strRef>
          </c:cat>
          <c:val>
            <c:numRef>
              <c:f>Sheet1!$C$2:$C$9</c:f>
              <c:numCache>
                <c:formatCode>General</c:formatCode>
                <c:ptCount val="8"/>
                <c:pt idx="0">
                  <c:v>80</c:v>
                </c:pt>
                <c:pt idx="1">
                  <c:v>80</c:v>
                </c:pt>
                <c:pt idx="2">
                  <c:v>80</c:v>
                </c:pt>
                <c:pt idx="3">
                  <c:v>80</c:v>
                </c:pt>
                <c:pt idx="4">
                  <c:v>80</c:v>
                </c:pt>
                <c:pt idx="5">
                  <c:v>80</c:v>
                </c:pt>
                <c:pt idx="6">
                  <c:v>80</c:v>
                </c:pt>
                <c:pt idx="7">
                  <c:v>80</c:v>
                </c:pt>
              </c:numCache>
            </c:numRef>
          </c:val>
          <c:extLst>
            <c:ext xmlns:c16="http://schemas.microsoft.com/office/drawing/2014/chart" uri="{C3380CC4-5D6E-409C-BE32-E72D297353CC}">
              <c16:uniqueId val="{00000001-D4BA-8548-91A6-ECEDA3B3B2D3}"/>
            </c:ext>
          </c:extLst>
        </c:ser>
        <c:dLbls>
          <c:showLegendKey val="0"/>
          <c:showVal val="0"/>
          <c:showCatName val="0"/>
          <c:showSerName val="0"/>
          <c:showPercent val="0"/>
          <c:showBubbleSize val="0"/>
        </c:dLbls>
        <c:axId val="2073612648"/>
        <c:axId val="-2112772216"/>
      </c:radarChart>
      <c:catAx>
        <c:axId val="2073612648"/>
        <c:scaling>
          <c:orientation val="minMax"/>
        </c:scaling>
        <c:delete val="0"/>
        <c:axPos val="b"/>
        <c:majorGridlines/>
        <c:numFmt formatCode="General" sourceLinked="1"/>
        <c:majorTickMark val="out"/>
        <c:minorTickMark val="none"/>
        <c:tickLblPos val="nextTo"/>
        <c:txPr>
          <a:bodyPr/>
          <a:lstStyle/>
          <a:p>
            <a:pPr>
              <a:defRPr sz="900"/>
            </a:pPr>
            <a:endParaRPr lang="en-US"/>
          </a:p>
        </c:txPr>
        <c:crossAx val="-2112772216"/>
        <c:crosses val="autoZero"/>
        <c:auto val="1"/>
        <c:lblAlgn val="ctr"/>
        <c:lblOffset val="100"/>
        <c:noMultiLvlLbl val="0"/>
      </c:catAx>
      <c:valAx>
        <c:axId val="-2112772216"/>
        <c:scaling>
          <c:orientation val="minMax"/>
          <c:max val="100"/>
        </c:scaling>
        <c:delete val="0"/>
        <c:axPos val="l"/>
        <c:majorGridlines/>
        <c:numFmt formatCode="0&quot;%&quot;" sourceLinked="0"/>
        <c:majorTickMark val="cross"/>
        <c:minorTickMark val="none"/>
        <c:tickLblPos val="nextTo"/>
        <c:txPr>
          <a:bodyPr/>
          <a:lstStyle/>
          <a:p>
            <a:pPr>
              <a:defRPr sz="1000" b="1">
                <a:solidFill>
                  <a:schemeClr val="tx1"/>
                </a:solidFill>
              </a:defRPr>
            </a:pPr>
            <a:endParaRPr lang="en-US"/>
          </a:p>
        </c:txPr>
        <c:crossAx val="2073612648"/>
        <c:crosses val="autoZero"/>
        <c:crossBetween val="between"/>
        <c:majorUnit val="20"/>
      </c:valAx>
    </c:plotArea>
    <c:plotVisOnly val="1"/>
    <c:dispBlanksAs val="gap"/>
    <c:showDLblsOverMax val="0"/>
  </c:chart>
  <c:txPr>
    <a:bodyPr/>
    <a:lstStyle/>
    <a:p>
      <a:pPr>
        <a:defRPr sz="1800"/>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1"/>
  <mc:AlternateContent xmlns:mc="http://schemas.openxmlformats.org/markup-compatibility/2006">
    <mc:Choice xmlns:c14="http://schemas.microsoft.com/office/drawing/2007/8/2/chart" Requires="c14">
      <c14:style val="102"/>
    </mc:Choice>
    <mc:Fallback>
      <c:style val="2"/>
    </mc:Fallback>
  </mc:AlternateContent>
  <c:chart>
    <c:title>
      <c:overlay val="0"/>
    </c:title>
    <c:autoTitleDeleted val="0"/>
    <c:plotArea>
      <c:layout/>
      <c:barChart>
        <c:barDir val="bar"/>
        <c:grouping val="clustered"/>
        <c:varyColors val="1"/>
        <c:ser>
          <c:idx val="0"/>
          <c:order val="0"/>
          <c:tx>
            <c:strRef>
              <c:f>Sheet1!$B$1</c:f>
              <c:strCache>
                <c:ptCount val="1"/>
                <c:pt idx="0">
                  <c:v>Average Readiness Scores</c:v>
                </c:pt>
              </c:strCache>
            </c:strRef>
          </c:tx>
          <c:invertIfNegative val="1"/>
          <c:dPt>
            <c:idx val="0"/>
            <c:invertIfNegative val="1"/>
            <c:bubble3D val="0"/>
            <c:spPr>
              <a:solidFill>
                <a:srgbClr val="FFB04C"/>
              </a:solidFill>
              <a:ln w="25400">
                <a:solidFill>
                  <a:srgbClr val="000000"/>
                </a:solidFill>
              </a:ln>
            </c:spPr>
            <c:extLst>
              <c:ext xmlns:c16="http://schemas.microsoft.com/office/drawing/2014/chart" uri="{C3380CC4-5D6E-409C-BE32-E72D297353CC}">
                <c16:uniqueId val="{00000001-DC59-A844-942D-A23639C33DC0}"/>
              </c:ext>
            </c:extLst>
          </c:dPt>
          <c:dPt>
            <c:idx val="1"/>
            <c:invertIfNegative val="1"/>
            <c:bubble3D val="0"/>
            <c:spPr>
              <a:solidFill>
                <a:srgbClr val="FFB04C"/>
              </a:solidFill>
              <a:ln w="25400">
                <a:solidFill>
                  <a:srgbClr val="000000"/>
                </a:solidFill>
              </a:ln>
            </c:spPr>
            <c:extLst>
              <c:ext xmlns:c16="http://schemas.microsoft.com/office/drawing/2014/chart" uri="{C3380CC4-5D6E-409C-BE32-E72D297353CC}">
                <c16:uniqueId val="{00000003-DC59-A844-942D-A23639C33DC0}"/>
              </c:ext>
            </c:extLst>
          </c:dPt>
          <c:dPt>
            <c:idx val="2"/>
            <c:invertIfNegative val="1"/>
            <c:bubble3D val="0"/>
            <c:spPr>
              <a:solidFill>
                <a:schemeClr val="bg2">
                  <a:lumMod val="60000"/>
                  <a:lumOff val="40000"/>
                </a:schemeClr>
              </a:solidFill>
              <a:ln w="25400">
                <a:solidFill>
                  <a:srgbClr val="000000"/>
                </a:solidFill>
              </a:ln>
            </c:spPr>
            <c:extLst>
              <c:ext xmlns:c16="http://schemas.microsoft.com/office/drawing/2014/chart" uri="{C3380CC4-5D6E-409C-BE32-E72D297353CC}">
                <c16:uniqueId val="{00000005-DC59-A844-942D-A23639C33DC0}"/>
              </c:ext>
            </c:extLst>
          </c:dPt>
          <c:dPt>
            <c:idx val="3"/>
            <c:invertIfNegative val="1"/>
            <c:bubble3D val="0"/>
            <c:spPr>
              <a:solidFill>
                <a:srgbClr val="FFB04C"/>
              </a:solidFill>
              <a:ln w="25400">
                <a:solidFill>
                  <a:srgbClr val="000000"/>
                </a:solidFill>
              </a:ln>
            </c:spPr>
            <c:extLst>
              <c:ext xmlns:c16="http://schemas.microsoft.com/office/drawing/2014/chart" uri="{C3380CC4-5D6E-409C-BE32-E72D297353CC}">
                <c16:uniqueId val="{00000007-DC59-A844-942D-A23639C33DC0}"/>
              </c:ext>
            </c:extLst>
          </c:dPt>
          <c:dPt>
            <c:idx val="4"/>
            <c:invertIfNegative val="1"/>
            <c:bubble3D val="0"/>
            <c:spPr>
              <a:solidFill>
                <a:srgbClr val="FFB04C"/>
              </a:solidFill>
              <a:ln w="25400">
                <a:solidFill>
                  <a:srgbClr val="000000"/>
                </a:solidFill>
              </a:ln>
            </c:spPr>
            <c:extLst>
              <c:ext xmlns:c16="http://schemas.microsoft.com/office/drawing/2014/chart" uri="{C3380CC4-5D6E-409C-BE32-E72D297353CC}">
                <c16:uniqueId val="{00000009-DC59-A844-942D-A23639C33DC0}"/>
              </c:ext>
            </c:extLst>
          </c:dPt>
          <c:dPt>
            <c:idx val="5"/>
            <c:invertIfNegative val="1"/>
            <c:bubble3D val="0"/>
            <c:spPr>
              <a:solidFill>
                <a:srgbClr val="FFC000"/>
              </a:solidFill>
              <a:ln w="25400">
                <a:solidFill>
                  <a:srgbClr val="000000"/>
                </a:solidFill>
              </a:ln>
            </c:spPr>
            <c:extLst>
              <c:ext xmlns:c16="http://schemas.microsoft.com/office/drawing/2014/chart" uri="{C3380CC4-5D6E-409C-BE32-E72D297353CC}">
                <c16:uniqueId val="{0000000B-DC59-A844-942D-A23639C33DC0}"/>
              </c:ext>
            </c:extLst>
          </c:dPt>
          <c:dPt>
            <c:idx val="6"/>
            <c:invertIfNegative val="1"/>
            <c:bubble3D val="0"/>
            <c:spPr>
              <a:solidFill>
                <a:srgbClr val="FFC000"/>
              </a:solidFill>
              <a:ln w="25400">
                <a:solidFill>
                  <a:srgbClr val="000000"/>
                </a:solidFill>
              </a:ln>
            </c:spPr>
            <c:extLst>
              <c:ext xmlns:c16="http://schemas.microsoft.com/office/drawing/2014/chart" uri="{C3380CC4-5D6E-409C-BE32-E72D297353CC}">
                <c16:uniqueId val="{0000000D-DC59-A844-942D-A23639C33DC0}"/>
              </c:ext>
            </c:extLst>
          </c:dPt>
          <c:dPt>
            <c:idx val="7"/>
            <c:invertIfNegative val="1"/>
            <c:bubble3D val="0"/>
            <c:spPr>
              <a:solidFill>
                <a:srgbClr val="FFB04C"/>
              </a:solidFill>
              <a:ln w="25400">
                <a:solidFill>
                  <a:srgbClr val="000000"/>
                </a:solidFill>
              </a:ln>
            </c:spPr>
            <c:extLst>
              <c:ext xmlns:c16="http://schemas.microsoft.com/office/drawing/2014/chart" uri="{C3380CC4-5D6E-409C-BE32-E72D297353CC}">
                <c16:uniqueId val="{0000000F-DC59-A844-942D-A23639C33DC0}"/>
              </c:ext>
            </c:extLst>
          </c:dPt>
          <c:dLbls>
            <c:spPr>
              <a:noFill/>
              <a:ln>
                <a:noFill/>
              </a:ln>
              <a:effectLst/>
            </c:sp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Sheet1!$A$2:$A$9</c:f>
              <c:strCache>
                <c:ptCount val="8"/>
                <c:pt idx="0">
                  <c:v>Security &amp; Compliance</c:v>
                </c:pt>
                <c:pt idx="1">
                  <c:v>Operating Model</c:v>
                </c:pt>
                <c:pt idx="2">
                  <c:v>Migration Process &amp; Experience</c:v>
                </c:pt>
                <c:pt idx="3">
                  <c:v>Application Portfolio Disco...</c:v>
                </c:pt>
                <c:pt idx="4">
                  <c:v>Landing Zone</c:v>
                </c:pt>
                <c:pt idx="5">
                  <c:v>Skills &amp; COE</c:v>
                </c:pt>
                <c:pt idx="6">
                  <c:v>Customer Migration Project ...</c:v>
                </c:pt>
                <c:pt idx="7">
                  <c:v>Business Case</c:v>
                </c:pt>
              </c:strCache>
            </c:strRef>
          </c:cat>
          <c:val>
            <c:numRef>
              <c:f>Sheet1!$B$2:$B$9</c:f>
              <c:numCache>
                <c:formatCode>General</c:formatCode>
                <c:ptCount val="8"/>
                <c:pt idx="0">
                  <c:v>2.1</c:v>
                </c:pt>
                <c:pt idx="1">
                  <c:v>2.2999999999999998</c:v>
                </c:pt>
                <c:pt idx="2">
                  <c:v>1</c:v>
                </c:pt>
                <c:pt idx="3">
                  <c:v>3.6</c:v>
                </c:pt>
                <c:pt idx="4">
                  <c:v>2</c:v>
                </c:pt>
                <c:pt idx="5">
                  <c:v>2.8</c:v>
                </c:pt>
                <c:pt idx="6">
                  <c:v>3.3</c:v>
                </c:pt>
                <c:pt idx="7">
                  <c:v>3.4</c:v>
                </c:pt>
              </c:numCache>
            </c:numRef>
          </c:val>
          <c:extLst>
            <c:ext xmlns:c16="http://schemas.microsoft.com/office/drawing/2014/chart" uri="{C3380CC4-5D6E-409C-BE32-E72D297353CC}">
              <c16:uniqueId val="{00000010-DC59-A844-942D-A23639C33DC0}"/>
            </c:ext>
          </c:extLst>
        </c:ser>
        <c:dLbls>
          <c:dLblPos val="inEnd"/>
          <c:showLegendKey val="0"/>
          <c:showVal val="1"/>
          <c:showCatName val="0"/>
          <c:showSerName val="0"/>
          <c:showPercent val="0"/>
          <c:showBubbleSize val="0"/>
        </c:dLbls>
        <c:gapWidth val="48"/>
        <c:axId val="-2068027336"/>
        <c:axId val="-2113994440"/>
      </c:barChart>
      <c:catAx>
        <c:axId val="-2068027336"/>
        <c:scaling>
          <c:orientation val="minMax"/>
        </c:scaling>
        <c:delete val="0"/>
        <c:axPos val="l"/>
        <c:numFmt formatCode="General" sourceLinked="0"/>
        <c:majorTickMark val="out"/>
        <c:minorTickMark val="none"/>
        <c:tickLblPos val="nextTo"/>
        <c:crossAx val="-2113994440"/>
        <c:crosses val="autoZero"/>
        <c:auto val="1"/>
        <c:lblAlgn val="ctr"/>
        <c:lblOffset val="100"/>
        <c:noMultiLvlLbl val="0"/>
      </c:catAx>
      <c:valAx>
        <c:axId val="-2113994440"/>
        <c:scaling>
          <c:orientation val="minMax"/>
          <c:max val="5"/>
          <c:min val="0"/>
        </c:scaling>
        <c:delete val="0"/>
        <c:axPos val="b"/>
        <c:majorGridlines/>
        <c:numFmt formatCode="General" sourceLinked="1"/>
        <c:majorTickMark val="out"/>
        <c:minorTickMark val="none"/>
        <c:tickLblPos val="none"/>
        <c:crossAx val="-2068027336"/>
        <c:crosses val="autoZero"/>
        <c:crossBetween val="between"/>
        <c:majorUnit val="1"/>
      </c:valAx>
    </c:plotArea>
    <c:plotVisOnly val="1"/>
    <c:dispBlanksAs val="gap"/>
    <c:showDLblsOverMax val="1"/>
  </c:chart>
  <c:txPr>
    <a:bodyPr/>
    <a:lstStyle/>
    <a:p>
      <a:pPr>
        <a:defRPr sz="8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0.27165</cdr:x>
      <cdr:y>0.40916</cdr:y>
    </cdr:from>
    <cdr:to>
      <cdr:x>0.72835</cdr:x>
      <cdr:y>0.69048</cdr:y>
    </cdr:to>
    <cdr:sp macro="" textlink="">
      <cdr:nvSpPr>
        <cdr:cNvPr id="2" name="Text Placeholder 5">
          <a:extLst xmlns:a="http://schemas.openxmlformats.org/drawingml/2006/main">
            <a:ext uri="{FF2B5EF4-FFF2-40B4-BE49-F238E27FC236}">
              <a16:creationId xmlns:a16="http://schemas.microsoft.com/office/drawing/2014/main" id="{0AD3DF23-FE6C-F8EE-055D-41A89348DB6E}"/>
            </a:ext>
          </a:extLst>
        </cdr:cNvPr>
        <cdr:cNvSpPr txBox="1">
          <a:spLocks xmlns:a="http://schemas.openxmlformats.org/drawingml/2006/main"/>
        </cdr:cNvSpPr>
      </cdr:nvSpPr>
      <cdr:spPr>
        <a:xfrm xmlns:a="http://schemas.openxmlformats.org/drawingml/2006/main">
          <a:off x="592072" y="704006"/>
          <a:ext cx="995426" cy="484042"/>
        </a:xfrm>
        <a:prstGeom xmlns:a="http://schemas.openxmlformats.org/drawingml/2006/main" prst="rect">
          <a:avLst/>
        </a:prstGeom>
      </cdr:spPr>
      <cdr:txBody>
        <a:bodyPr xmlns:a="http://schemas.openxmlformats.org/drawingml/2006/main"/>
        <a:lstStyle xmlns:a="http://schemas.openxmlformats.org/drawingml/2006/main">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xmlns:a="http://schemas.openxmlformats.org/drawingml/2006/main">
          <a:pPr marL="0" indent="0" algn="ctr">
            <a:buNone/>
          </a:pPr>
          <a:r>
            <a:rPr lang="en-US" sz="1800" b="1" dirty="0">
              <a:solidFill>
                <a:schemeClr val="bg1"/>
              </a:solidFill>
            </a:rPr>
            <a:t>105</a:t>
          </a:r>
        </a:p>
      </cdr:txBody>
    </cdr:sp>
  </cdr:relSizeAnchor>
</c:userShapes>
</file>

<file path=ppt/drawings/drawing2.xml><?xml version="1.0" encoding="utf-8"?>
<c:userShapes xmlns:c="http://schemas.openxmlformats.org/drawingml/2006/chart">
  <cdr:relSizeAnchor xmlns:cdr="http://schemas.openxmlformats.org/drawingml/2006/chartDrawing">
    <cdr:from>
      <cdr:x>0.27165</cdr:x>
      <cdr:y>0.40916</cdr:y>
    </cdr:from>
    <cdr:to>
      <cdr:x>0.72835</cdr:x>
      <cdr:y>0.69048</cdr:y>
    </cdr:to>
    <cdr:sp macro="" textlink="">
      <cdr:nvSpPr>
        <cdr:cNvPr id="2" name="Text Placeholder 5">
          <a:extLst xmlns:a="http://schemas.openxmlformats.org/drawingml/2006/main">
            <a:ext uri="{FF2B5EF4-FFF2-40B4-BE49-F238E27FC236}">
              <a16:creationId xmlns:a16="http://schemas.microsoft.com/office/drawing/2014/main" id="{0AD3DF23-FE6C-F8EE-055D-41A89348DB6E}"/>
            </a:ext>
          </a:extLst>
        </cdr:cNvPr>
        <cdr:cNvSpPr txBox="1">
          <a:spLocks xmlns:a="http://schemas.openxmlformats.org/drawingml/2006/main"/>
        </cdr:cNvSpPr>
      </cdr:nvSpPr>
      <cdr:spPr>
        <a:xfrm xmlns:a="http://schemas.openxmlformats.org/drawingml/2006/main">
          <a:off x="592072" y="704006"/>
          <a:ext cx="995426" cy="484042"/>
        </a:xfrm>
        <a:prstGeom xmlns:a="http://schemas.openxmlformats.org/drawingml/2006/main" prst="rect">
          <a:avLst/>
        </a:prstGeom>
      </cdr:spPr>
      <cdr:txBody>
        <a:bodyPr xmlns:a="http://schemas.openxmlformats.org/drawingml/2006/main"/>
        <a:lstStyle xmlns:a="http://schemas.openxmlformats.org/drawingml/2006/main">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xmlns:a="http://schemas.openxmlformats.org/drawingml/2006/main">
          <a:pPr marL="0" indent="0" algn="ctr">
            <a:buNone/>
          </a:pPr>
          <a:r>
            <a:rPr lang="en-US" sz="1800" b="1" dirty="0">
              <a:solidFill>
                <a:schemeClr val="bg1"/>
              </a:solidFill>
            </a:rPr>
            <a:t>76</a:t>
          </a:r>
        </a:p>
      </cdr:txBody>
    </cdr:sp>
  </cdr:relSizeAnchor>
</c:userShapes>
</file>

<file path=ppt/drawings/drawing3.xml><?xml version="1.0" encoding="utf-8"?>
<c:userShapes xmlns:c="http://schemas.openxmlformats.org/drawingml/2006/chart">
  <cdr:relSizeAnchor xmlns:cdr="http://schemas.openxmlformats.org/drawingml/2006/chartDrawing">
    <cdr:from>
      <cdr:x>0.27165</cdr:x>
      <cdr:y>0.40916</cdr:y>
    </cdr:from>
    <cdr:to>
      <cdr:x>0.72835</cdr:x>
      <cdr:y>0.69048</cdr:y>
    </cdr:to>
    <cdr:sp macro="" textlink="">
      <cdr:nvSpPr>
        <cdr:cNvPr id="2" name="Text Placeholder 5">
          <a:extLst xmlns:a="http://schemas.openxmlformats.org/drawingml/2006/main">
            <a:ext uri="{FF2B5EF4-FFF2-40B4-BE49-F238E27FC236}">
              <a16:creationId xmlns:a16="http://schemas.microsoft.com/office/drawing/2014/main" id="{0AD3DF23-FE6C-F8EE-055D-41A89348DB6E}"/>
            </a:ext>
          </a:extLst>
        </cdr:cNvPr>
        <cdr:cNvSpPr txBox="1">
          <a:spLocks xmlns:a="http://schemas.openxmlformats.org/drawingml/2006/main"/>
        </cdr:cNvSpPr>
      </cdr:nvSpPr>
      <cdr:spPr>
        <a:xfrm xmlns:a="http://schemas.openxmlformats.org/drawingml/2006/main">
          <a:off x="592072" y="704006"/>
          <a:ext cx="995426" cy="484042"/>
        </a:xfrm>
        <a:prstGeom xmlns:a="http://schemas.openxmlformats.org/drawingml/2006/main" prst="rect">
          <a:avLst/>
        </a:prstGeom>
      </cdr:spPr>
      <cdr:txBody>
        <a:bodyPr xmlns:a="http://schemas.openxmlformats.org/drawingml/2006/main"/>
        <a:lstStyle xmlns:a="http://schemas.openxmlformats.org/drawingml/2006/main">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xmlns:a="http://schemas.openxmlformats.org/drawingml/2006/main">
          <a:pPr marL="0" indent="0" algn="ctr">
            <a:buNone/>
          </a:pPr>
          <a:r>
            <a:rPr lang="en-US" sz="1800" b="1" dirty="0">
              <a:solidFill>
                <a:schemeClr val="bg1"/>
              </a:solidFill>
            </a:rPr>
            <a:t>45</a:t>
          </a:r>
        </a:p>
      </cdr:txBody>
    </cdr:sp>
  </cdr:relSizeAnchor>
</c:userShapes>
</file>

<file path=ppt/drawings/drawing4.xml><?xml version="1.0" encoding="utf-8"?>
<c:userShapes xmlns:c="http://schemas.openxmlformats.org/drawingml/2006/chart">
  <cdr:relSizeAnchor xmlns:cdr="http://schemas.openxmlformats.org/drawingml/2006/chartDrawing">
    <cdr:from>
      <cdr:x>0.27165</cdr:x>
      <cdr:y>0.40916</cdr:y>
    </cdr:from>
    <cdr:to>
      <cdr:x>0.72835</cdr:x>
      <cdr:y>0.69048</cdr:y>
    </cdr:to>
    <cdr:sp macro="" textlink="">
      <cdr:nvSpPr>
        <cdr:cNvPr id="2" name="Text Placeholder 5">
          <a:extLst xmlns:a="http://schemas.openxmlformats.org/drawingml/2006/main">
            <a:ext uri="{FF2B5EF4-FFF2-40B4-BE49-F238E27FC236}">
              <a16:creationId xmlns:a16="http://schemas.microsoft.com/office/drawing/2014/main" id="{0AD3DF23-FE6C-F8EE-055D-41A89348DB6E}"/>
            </a:ext>
          </a:extLst>
        </cdr:cNvPr>
        <cdr:cNvSpPr txBox="1">
          <a:spLocks xmlns:a="http://schemas.openxmlformats.org/drawingml/2006/main"/>
        </cdr:cNvSpPr>
      </cdr:nvSpPr>
      <cdr:spPr>
        <a:xfrm xmlns:a="http://schemas.openxmlformats.org/drawingml/2006/main">
          <a:off x="592072" y="704006"/>
          <a:ext cx="995426" cy="484042"/>
        </a:xfrm>
        <a:prstGeom xmlns:a="http://schemas.openxmlformats.org/drawingml/2006/main" prst="rect">
          <a:avLst/>
        </a:prstGeom>
      </cdr:spPr>
      <cdr:txBody>
        <a:bodyPr xmlns:a="http://schemas.openxmlformats.org/drawingml/2006/main"/>
        <a:lstStyle xmlns:a="http://schemas.openxmlformats.org/drawingml/2006/main">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xmlns:a="http://schemas.openxmlformats.org/drawingml/2006/main">
          <a:pPr marL="0" indent="0" algn="ctr">
            <a:buNone/>
          </a:pPr>
          <a:r>
            <a:rPr lang="en-US" sz="1800" b="1" dirty="0">
              <a:solidFill>
                <a:schemeClr val="bg1"/>
              </a:solidFill>
            </a:rPr>
            <a:t>18</a:t>
          </a: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BDA0C39B-B38C-4AAA-B27A-B351D17E993D}"/>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97458503-EC51-4570-9EFC-84D0DE753D3F}"/>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CA8552C3-53A9-4EAE-98D2-96F7E807C082}" type="datetimeFigureOut">
              <a:rPr lang="en-US" smtClean="0"/>
              <a:t>4/21/26</a:t>
            </a:fld>
            <a:endParaRPr lang="en-US"/>
          </a:p>
        </p:txBody>
      </p:sp>
      <p:sp>
        <p:nvSpPr>
          <p:cNvPr id="4" name="Footer Placeholder 3">
            <a:extLst>
              <a:ext uri="{FF2B5EF4-FFF2-40B4-BE49-F238E27FC236}">
                <a16:creationId xmlns:a16="http://schemas.microsoft.com/office/drawing/2014/main" id="{CF9542E6-4148-41C6-8765-7774913CF98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80FD1801-DC87-4EE6-ADE9-B29C555E1DBC}"/>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6FBD4D7-8404-432A-8B7A-5DDC046EC741}" type="slidenum">
              <a:rPr lang="en-US" smtClean="0"/>
              <a:t>‹#›</a:t>
            </a:fld>
            <a:endParaRPr lang="en-US"/>
          </a:p>
        </p:txBody>
      </p:sp>
    </p:spTree>
    <p:extLst>
      <p:ext uri="{BB962C8B-B14F-4D97-AF65-F5344CB8AC3E}">
        <p14:creationId xmlns:p14="http://schemas.microsoft.com/office/powerpoint/2010/main" val="358277107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4C1FFEF-7AA5-49AA-AC58-7D6786C64E8F}" type="datetimeFigureOut">
              <a:rPr lang="en-US" smtClean="0"/>
              <a:t>4/21/26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43F7EE4-7D84-4D77-B4B2-0C966043B366}" type="slidenum">
              <a:rPr lang="en-US" smtClean="0"/>
              <a:t>‹#›</a:t>
            </a:fld>
            <a:endParaRPr lang="en-US"/>
          </a:p>
        </p:txBody>
      </p:sp>
    </p:spTree>
    <p:extLst>
      <p:ext uri="{BB962C8B-B14F-4D97-AF65-F5344CB8AC3E}">
        <p14:creationId xmlns:p14="http://schemas.microsoft.com/office/powerpoint/2010/main" val="730966419"/>
      </p:ext>
    </p:extLst>
  </p:cSld>
  <p:clrMap bg1="lt1" tx1="dk1" bg2="lt2" tx2="dk2" accent1="accent1" accent2="accent2" accent3="accent3" accent4="accent4" accent5="accent5" accent6="accent6" hlink="hlink" folHlink="folHlink"/>
  <p:notesStyle>
    <a:lvl1pPr marL="0" algn="l" defTabSz="1828800" rtl="0" eaLnBrk="1" latinLnBrk="0" hangingPunct="1">
      <a:defRPr sz="2400" kern="1200">
        <a:solidFill>
          <a:schemeClr val="tx1"/>
        </a:solidFill>
        <a:latin typeface="+mn-lt"/>
        <a:ea typeface="+mn-ea"/>
        <a:cs typeface="+mn-cs"/>
      </a:defRPr>
    </a:lvl1pPr>
    <a:lvl2pPr marL="914400" algn="l" defTabSz="1828800" rtl="0" eaLnBrk="1" latinLnBrk="0" hangingPunct="1">
      <a:defRPr sz="2400" kern="1200">
        <a:solidFill>
          <a:schemeClr val="tx1"/>
        </a:solidFill>
        <a:latin typeface="+mn-lt"/>
        <a:ea typeface="+mn-ea"/>
        <a:cs typeface="+mn-cs"/>
      </a:defRPr>
    </a:lvl2pPr>
    <a:lvl3pPr marL="1828800" algn="l" defTabSz="1828800" rtl="0" eaLnBrk="1" latinLnBrk="0" hangingPunct="1">
      <a:defRPr sz="2400" kern="1200">
        <a:solidFill>
          <a:schemeClr val="tx1"/>
        </a:solidFill>
        <a:latin typeface="+mn-lt"/>
        <a:ea typeface="+mn-ea"/>
        <a:cs typeface="+mn-cs"/>
      </a:defRPr>
    </a:lvl3pPr>
    <a:lvl4pPr marL="2743200" algn="l" defTabSz="1828800" rtl="0" eaLnBrk="1" latinLnBrk="0" hangingPunct="1">
      <a:defRPr sz="2400" kern="1200">
        <a:solidFill>
          <a:schemeClr val="tx1"/>
        </a:solidFill>
        <a:latin typeface="+mn-lt"/>
        <a:ea typeface="+mn-ea"/>
        <a:cs typeface="+mn-cs"/>
      </a:defRPr>
    </a:lvl4pPr>
    <a:lvl5pPr marL="3657600" algn="l" defTabSz="1828800" rtl="0" eaLnBrk="1" latinLnBrk="0" hangingPunct="1">
      <a:defRPr sz="2400" kern="1200">
        <a:solidFill>
          <a:schemeClr val="tx1"/>
        </a:solidFill>
        <a:latin typeface="+mn-lt"/>
        <a:ea typeface="+mn-ea"/>
        <a:cs typeface="+mn-cs"/>
      </a:defRPr>
    </a:lvl5pPr>
    <a:lvl6pPr marL="4572000" algn="l" defTabSz="1828800" rtl="0" eaLnBrk="1" latinLnBrk="0" hangingPunct="1">
      <a:defRPr sz="2400" kern="1200">
        <a:solidFill>
          <a:schemeClr val="tx1"/>
        </a:solidFill>
        <a:latin typeface="+mn-lt"/>
        <a:ea typeface="+mn-ea"/>
        <a:cs typeface="+mn-cs"/>
      </a:defRPr>
    </a:lvl6pPr>
    <a:lvl7pPr marL="5486400" algn="l" defTabSz="1828800" rtl="0" eaLnBrk="1" latinLnBrk="0" hangingPunct="1">
      <a:defRPr sz="2400" kern="1200">
        <a:solidFill>
          <a:schemeClr val="tx1"/>
        </a:solidFill>
        <a:latin typeface="+mn-lt"/>
        <a:ea typeface="+mn-ea"/>
        <a:cs typeface="+mn-cs"/>
      </a:defRPr>
    </a:lvl7pPr>
    <a:lvl8pPr marL="6400800" algn="l" defTabSz="1828800" rtl="0" eaLnBrk="1" latinLnBrk="0" hangingPunct="1">
      <a:defRPr sz="2400" kern="1200">
        <a:solidFill>
          <a:schemeClr val="tx1"/>
        </a:solidFill>
        <a:latin typeface="+mn-lt"/>
        <a:ea typeface="+mn-ea"/>
        <a:cs typeface="+mn-cs"/>
      </a:defRPr>
    </a:lvl8pPr>
    <a:lvl9pPr marL="7315200" algn="l" defTabSz="1828800"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90600" y="349250"/>
            <a:ext cx="4876800" cy="2743200"/>
          </a:xfrm>
        </p:spPr>
        <p:txBody>
          <a:bodyPr/>
          <a:lstStyle/>
          <a:p>
            <a:endParaRPr lang="en-GB"/>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228600" rtl="0" eaLnBrk="1" fontAlgn="auto" latinLnBrk="0" hangingPunct="1">
              <a:lnSpc>
                <a:spcPct val="100000"/>
              </a:lnSpc>
              <a:spcBef>
                <a:spcPts val="0"/>
              </a:spcBef>
              <a:spcAft>
                <a:spcPts val="0"/>
              </a:spcAft>
              <a:buClrTx/>
              <a:buSzTx/>
              <a:buFontTx/>
              <a:buNone/>
              <a:tabLst/>
              <a:defRPr/>
            </a:pPr>
            <a:fld id="{743F7EE4-7D84-4D77-B4B2-0C966043B366}" type="slidenum">
              <a:rPr kumimoji="0" lang="en-US" sz="10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228600" rtl="0" eaLnBrk="1" fontAlgn="auto" latinLnBrk="0" hangingPunct="1">
                <a:lnSpc>
                  <a:spcPct val="100000"/>
                </a:lnSpc>
                <a:spcBef>
                  <a:spcPts val="0"/>
                </a:spcBef>
                <a:spcAft>
                  <a:spcPts val="0"/>
                </a:spcAft>
                <a:buClrTx/>
                <a:buSzTx/>
                <a:buFontTx/>
                <a:buNone/>
                <a:tabLst/>
                <a:defRPr/>
              </a:pPr>
              <a:t>1</a:t>
            </a:fld>
            <a:endParaRPr kumimoji="0" lang="en-US" sz="1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548705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90600" y="349250"/>
            <a:ext cx="4876800" cy="2743200"/>
          </a:xfrm>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228600" rtl="0" eaLnBrk="1" fontAlgn="auto" latinLnBrk="0" hangingPunct="1">
              <a:lnSpc>
                <a:spcPct val="100000"/>
              </a:lnSpc>
              <a:spcBef>
                <a:spcPts val="0"/>
              </a:spcBef>
              <a:spcAft>
                <a:spcPts val="0"/>
              </a:spcAft>
              <a:buClrTx/>
              <a:buSzTx/>
              <a:buFontTx/>
              <a:buNone/>
              <a:tabLst/>
              <a:defRPr/>
            </a:pPr>
            <a:fld id="{DB9668C2-2C0E-B74D-8F24-0DA7DB3BC0EC}" type="slidenum">
              <a:rPr kumimoji="0" lang="en-US" sz="10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228600" rtl="0" eaLnBrk="1" fontAlgn="auto" latinLnBrk="0" hangingPunct="1">
                <a:lnSpc>
                  <a:spcPct val="100000"/>
                </a:lnSpc>
                <a:spcBef>
                  <a:spcPts val="0"/>
                </a:spcBef>
                <a:spcAft>
                  <a:spcPts val="0"/>
                </a:spcAft>
                <a:buClrTx/>
                <a:buSzTx/>
                <a:buFontTx/>
                <a:buNone/>
                <a:tabLst/>
                <a:defRPr/>
              </a:pPr>
              <a:t>3</a:t>
            </a:fld>
            <a:endParaRPr kumimoji="0" lang="en-US" sz="1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19770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A07E84-DD9E-5243-843F-6B36B395A4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D661435-87B5-2AF9-3C9D-1430BA3E2A62}"/>
              </a:ext>
            </a:extLst>
          </p:cNvPr>
          <p:cNvSpPr>
            <a:spLocks noGrp="1" noRot="1" noChangeAspect="1"/>
          </p:cNvSpPr>
          <p:nvPr>
            <p:ph type="sldImg"/>
          </p:nvPr>
        </p:nvSpPr>
        <p:spPr>
          <a:xfrm>
            <a:off x="990600" y="349250"/>
            <a:ext cx="4876800" cy="2743200"/>
          </a:xfrm>
        </p:spPr>
        <p:txBody>
          <a:bodyPr/>
          <a:lstStyle/>
          <a:p>
            <a:endParaRPr lang="en-GB"/>
          </a:p>
        </p:txBody>
      </p:sp>
      <p:sp>
        <p:nvSpPr>
          <p:cNvPr id="3" name="Notes Placeholder 2">
            <a:extLst>
              <a:ext uri="{FF2B5EF4-FFF2-40B4-BE49-F238E27FC236}">
                <a16:creationId xmlns:a16="http://schemas.microsoft.com/office/drawing/2014/main" id="{87068E33-2328-2CAF-06D9-FF9C9C9DF95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4DA6E4A7-BB6F-7449-4FB3-BDEEFEE79237}"/>
              </a:ext>
            </a:extLst>
          </p:cNvPr>
          <p:cNvSpPr>
            <a:spLocks noGrp="1"/>
          </p:cNvSpPr>
          <p:nvPr>
            <p:ph type="sldNum" sz="quarter" idx="5"/>
          </p:nvPr>
        </p:nvSpPr>
        <p:spPr/>
        <p:txBody>
          <a:bodyPr/>
          <a:lstStyle/>
          <a:p>
            <a:pPr marL="0" marR="0" lvl="0" indent="0" algn="r" defTabSz="228600" rtl="0" eaLnBrk="1" fontAlgn="auto" latinLnBrk="0" hangingPunct="1">
              <a:lnSpc>
                <a:spcPct val="100000"/>
              </a:lnSpc>
              <a:spcBef>
                <a:spcPts val="0"/>
              </a:spcBef>
              <a:spcAft>
                <a:spcPts val="0"/>
              </a:spcAft>
              <a:buClrTx/>
              <a:buSzTx/>
              <a:buFontTx/>
              <a:buNone/>
              <a:tabLst/>
              <a:defRPr/>
            </a:pPr>
            <a:fld id="{DB9668C2-2C0E-B74D-8F24-0DA7DB3BC0EC}" type="slidenum">
              <a:rPr kumimoji="0" lang="en-US" sz="10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228600" rtl="0" eaLnBrk="1" fontAlgn="auto" latinLnBrk="0" hangingPunct="1">
                <a:lnSpc>
                  <a:spcPct val="100000"/>
                </a:lnSpc>
                <a:spcBef>
                  <a:spcPts val="0"/>
                </a:spcBef>
                <a:spcAft>
                  <a:spcPts val="0"/>
                </a:spcAft>
                <a:buClrTx/>
                <a:buSzTx/>
                <a:buFontTx/>
                <a:buNone/>
                <a:tabLst/>
                <a:defRPr/>
              </a:pPr>
              <a:t>4</a:t>
            </a:fld>
            <a:endParaRPr kumimoji="0" lang="en-US" sz="1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54691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6D82AE-6333-CC57-AA2F-0228CAAA84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682B63-7692-A89B-8557-B15F21D9951E}"/>
              </a:ext>
            </a:extLst>
          </p:cNvPr>
          <p:cNvSpPr>
            <a:spLocks noGrp="1" noRot="1" noChangeAspect="1"/>
          </p:cNvSpPr>
          <p:nvPr>
            <p:ph type="sldImg"/>
          </p:nvPr>
        </p:nvSpPr>
        <p:spPr>
          <a:xfrm>
            <a:off x="990600" y="349250"/>
            <a:ext cx="4876800" cy="2743200"/>
          </a:xfrm>
        </p:spPr>
        <p:txBody>
          <a:bodyPr/>
          <a:lstStyle/>
          <a:p>
            <a:endParaRPr lang="en-GB"/>
          </a:p>
        </p:txBody>
      </p:sp>
      <p:sp>
        <p:nvSpPr>
          <p:cNvPr id="3" name="Notes Placeholder 2">
            <a:extLst>
              <a:ext uri="{FF2B5EF4-FFF2-40B4-BE49-F238E27FC236}">
                <a16:creationId xmlns:a16="http://schemas.microsoft.com/office/drawing/2014/main" id="{7ACF087C-0C89-D1F1-94CE-E96A9386E86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20AB33A-570D-230D-70A2-07AE34E2EC85}"/>
              </a:ext>
            </a:extLst>
          </p:cNvPr>
          <p:cNvSpPr>
            <a:spLocks noGrp="1"/>
          </p:cNvSpPr>
          <p:nvPr>
            <p:ph type="sldNum" sz="quarter" idx="5"/>
          </p:nvPr>
        </p:nvSpPr>
        <p:spPr/>
        <p:txBody>
          <a:bodyPr/>
          <a:lstStyle/>
          <a:p>
            <a:pPr marL="0" marR="0" lvl="0" indent="0" algn="r" defTabSz="228600" rtl="0" eaLnBrk="1" fontAlgn="auto" latinLnBrk="0" hangingPunct="1">
              <a:lnSpc>
                <a:spcPct val="100000"/>
              </a:lnSpc>
              <a:spcBef>
                <a:spcPts val="0"/>
              </a:spcBef>
              <a:spcAft>
                <a:spcPts val="0"/>
              </a:spcAft>
              <a:buClrTx/>
              <a:buSzTx/>
              <a:buFontTx/>
              <a:buNone/>
              <a:tabLst/>
              <a:defRPr/>
            </a:pPr>
            <a:fld id="{DB9668C2-2C0E-B74D-8F24-0DA7DB3BC0EC}" type="slidenum">
              <a:rPr kumimoji="0" lang="en-US" sz="10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228600" rtl="0" eaLnBrk="1" fontAlgn="auto" latinLnBrk="0" hangingPunct="1">
                <a:lnSpc>
                  <a:spcPct val="100000"/>
                </a:lnSpc>
                <a:spcBef>
                  <a:spcPts val="0"/>
                </a:spcBef>
                <a:spcAft>
                  <a:spcPts val="0"/>
                </a:spcAft>
                <a:buClrTx/>
                <a:buSzTx/>
                <a:buFontTx/>
                <a:buNone/>
                <a:tabLst/>
                <a:defRPr/>
              </a:pPr>
              <a:t>5</a:t>
            </a:fld>
            <a:endParaRPr kumimoji="0" lang="en-US" sz="1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742592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27F3A1-B4A2-3300-9826-CA3231FB64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944D56-3BC8-37F6-7847-EBC91A1B7CC5}"/>
              </a:ext>
            </a:extLst>
          </p:cNvPr>
          <p:cNvSpPr>
            <a:spLocks noGrp="1" noRot="1" noChangeAspect="1"/>
          </p:cNvSpPr>
          <p:nvPr>
            <p:ph type="sldImg"/>
          </p:nvPr>
        </p:nvSpPr>
        <p:spPr>
          <a:xfrm>
            <a:off x="990600" y="349250"/>
            <a:ext cx="4876800" cy="2743200"/>
          </a:xfrm>
        </p:spPr>
        <p:txBody>
          <a:bodyPr/>
          <a:lstStyle/>
          <a:p>
            <a:endParaRPr lang="en-GB"/>
          </a:p>
        </p:txBody>
      </p:sp>
      <p:sp>
        <p:nvSpPr>
          <p:cNvPr id="3" name="Notes Placeholder 2">
            <a:extLst>
              <a:ext uri="{FF2B5EF4-FFF2-40B4-BE49-F238E27FC236}">
                <a16:creationId xmlns:a16="http://schemas.microsoft.com/office/drawing/2014/main" id="{99FCD43A-CA75-F05D-1169-E417D12D9D6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EDD6179-5E1F-4508-6EE9-3181C2D3D414}"/>
              </a:ext>
            </a:extLst>
          </p:cNvPr>
          <p:cNvSpPr>
            <a:spLocks noGrp="1"/>
          </p:cNvSpPr>
          <p:nvPr>
            <p:ph type="sldNum" sz="quarter" idx="5"/>
          </p:nvPr>
        </p:nvSpPr>
        <p:spPr/>
        <p:txBody>
          <a:bodyPr/>
          <a:lstStyle/>
          <a:p>
            <a:pPr marL="0" marR="0" lvl="0" indent="0" algn="r" defTabSz="228600" rtl="0" eaLnBrk="1" fontAlgn="auto" latinLnBrk="0" hangingPunct="1">
              <a:lnSpc>
                <a:spcPct val="100000"/>
              </a:lnSpc>
              <a:spcBef>
                <a:spcPts val="0"/>
              </a:spcBef>
              <a:spcAft>
                <a:spcPts val="0"/>
              </a:spcAft>
              <a:buClrTx/>
              <a:buSzTx/>
              <a:buFontTx/>
              <a:buNone/>
              <a:tabLst/>
              <a:defRPr/>
            </a:pPr>
            <a:fld id="{DB9668C2-2C0E-B74D-8F24-0DA7DB3BC0EC}" type="slidenum">
              <a:rPr kumimoji="0" lang="en-US" sz="10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228600" rtl="0" eaLnBrk="1" fontAlgn="auto" latinLnBrk="0" hangingPunct="1">
                <a:lnSpc>
                  <a:spcPct val="100000"/>
                </a:lnSpc>
                <a:spcBef>
                  <a:spcPts val="0"/>
                </a:spcBef>
                <a:spcAft>
                  <a:spcPts val="0"/>
                </a:spcAft>
                <a:buClrTx/>
                <a:buSzTx/>
                <a:buFontTx/>
                <a:buNone/>
                <a:tabLst/>
                <a:defRPr/>
              </a:pPr>
              <a:t>7</a:t>
            </a:fld>
            <a:endParaRPr kumimoji="0" lang="en-US" sz="1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366375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743F7EE4-7D84-4D77-B4B2-0C966043B366}" type="slidenum">
              <a:rPr lang="en-US" smtClean="0"/>
              <a:t>8</a:t>
            </a:fld>
            <a:endParaRPr lang="en-US"/>
          </a:p>
        </p:txBody>
      </p:sp>
    </p:spTree>
    <p:extLst>
      <p:ext uri="{BB962C8B-B14F-4D97-AF65-F5344CB8AC3E}">
        <p14:creationId xmlns:p14="http://schemas.microsoft.com/office/powerpoint/2010/main" val="88181729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2A59C5-CC78-5ACB-E1AE-B4565A13F6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458A57C-6572-0A45-76EE-31745EF2F155}"/>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D915A125-5FD4-74EB-4DDC-F5E2F5F0469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37CBA03-1878-72A6-CC7A-261FEAEB9102}"/>
              </a:ext>
            </a:extLst>
          </p:cNvPr>
          <p:cNvSpPr>
            <a:spLocks noGrp="1"/>
          </p:cNvSpPr>
          <p:nvPr>
            <p:ph type="sldNum" sz="quarter" idx="5"/>
          </p:nvPr>
        </p:nvSpPr>
        <p:spPr/>
        <p:txBody>
          <a:bodyPr/>
          <a:lstStyle/>
          <a:p>
            <a:fld id="{743F7EE4-7D84-4D77-B4B2-0C966043B366}" type="slidenum">
              <a:rPr lang="en-US" smtClean="0"/>
              <a:t>10</a:t>
            </a:fld>
            <a:endParaRPr lang="en-US"/>
          </a:p>
        </p:txBody>
      </p:sp>
    </p:spTree>
    <p:extLst>
      <p:ext uri="{BB962C8B-B14F-4D97-AF65-F5344CB8AC3E}">
        <p14:creationId xmlns:p14="http://schemas.microsoft.com/office/powerpoint/2010/main" val="385120827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4F4468-8624-D0D6-44D1-CDE2BD92CB5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592C957-B234-ECC5-7DD9-95E59F485F24}"/>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BE9BD262-F68C-8787-2986-D748A66EDFB6}"/>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FCE9A74-3846-F86B-ECE4-69AAAFF97E88}"/>
              </a:ext>
            </a:extLst>
          </p:cNvPr>
          <p:cNvSpPr>
            <a:spLocks noGrp="1"/>
          </p:cNvSpPr>
          <p:nvPr>
            <p:ph type="sldNum" sz="quarter" idx="5"/>
          </p:nvPr>
        </p:nvSpPr>
        <p:spPr/>
        <p:txBody>
          <a:bodyPr/>
          <a:lstStyle/>
          <a:p>
            <a:fld id="{743F7EE4-7D84-4D77-B4B2-0C966043B366}" type="slidenum">
              <a:rPr lang="en-US" smtClean="0"/>
              <a:t>17</a:t>
            </a:fld>
            <a:endParaRPr lang="en-US"/>
          </a:p>
        </p:txBody>
      </p:sp>
    </p:spTree>
    <p:extLst>
      <p:ext uri="{BB962C8B-B14F-4D97-AF65-F5344CB8AC3E}">
        <p14:creationId xmlns:p14="http://schemas.microsoft.com/office/powerpoint/2010/main" val="36654392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A3F010-3164-7619-29A7-742A180D6C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B70B8A-A823-5ED5-7687-1B8AA9300A64}"/>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ED7B74A0-6CBC-D3D0-6F99-FD706C1EAC4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D02F527-F1D4-2407-C4B9-4D1A9710C7C5}"/>
              </a:ext>
            </a:extLst>
          </p:cNvPr>
          <p:cNvSpPr>
            <a:spLocks noGrp="1"/>
          </p:cNvSpPr>
          <p:nvPr>
            <p:ph type="sldNum" sz="quarter" idx="5"/>
          </p:nvPr>
        </p:nvSpPr>
        <p:spPr/>
        <p:txBody>
          <a:bodyPr/>
          <a:lstStyle/>
          <a:p>
            <a:fld id="{743F7EE4-7D84-4D77-B4B2-0C966043B366}" type="slidenum">
              <a:rPr lang="en-US" smtClean="0"/>
              <a:t>18</a:t>
            </a:fld>
            <a:endParaRPr lang="en-US"/>
          </a:p>
        </p:txBody>
      </p:sp>
    </p:spTree>
    <p:extLst>
      <p:ext uri="{BB962C8B-B14F-4D97-AF65-F5344CB8AC3E}">
        <p14:creationId xmlns:p14="http://schemas.microsoft.com/office/powerpoint/2010/main" val="245200022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err="1"/>
              <a:t>Leceister</a:t>
            </a:r>
            <a:r>
              <a:rPr lang="en-GB"/>
              <a:t>, Manchester</a:t>
            </a:r>
          </a:p>
        </p:txBody>
      </p:sp>
      <p:sp>
        <p:nvSpPr>
          <p:cNvPr id="4" name="Slide Number Placeholder 3"/>
          <p:cNvSpPr>
            <a:spLocks noGrp="1"/>
          </p:cNvSpPr>
          <p:nvPr>
            <p:ph type="sldNum" sz="quarter" idx="5"/>
          </p:nvPr>
        </p:nvSpPr>
        <p:spPr/>
        <p:txBody>
          <a:bodyPr/>
          <a:lstStyle/>
          <a:p>
            <a:fld id="{743F7EE4-7D84-4D77-B4B2-0C966043B366}" type="slidenum">
              <a:rPr lang="en-US" smtClean="0"/>
              <a:t>22</a:t>
            </a:fld>
            <a:endParaRPr lang="en-US"/>
          </a:p>
        </p:txBody>
      </p:sp>
    </p:spTree>
    <p:extLst>
      <p:ext uri="{BB962C8B-B14F-4D97-AF65-F5344CB8AC3E}">
        <p14:creationId xmlns:p14="http://schemas.microsoft.com/office/powerpoint/2010/main" val="15038136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C6B658-DDB0-1C9A-03E7-3588E96825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5BA3BB9-70EF-7232-64EF-41B7308AD74C}"/>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60ED0F5F-0646-5B8C-D89D-484D0D39C152}"/>
              </a:ext>
            </a:extLst>
          </p:cNvPr>
          <p:cNvSpPr>
            <a:spLocks noGrp="1"/>
          </p:cNvSpPr>
          <p:nvPr>
            <p:ph type="body" idx="1"/>
          </p:nvPr>
        </p:nvSpPr>
        <p:spPr/>
        <p:txBody>
          <a:bodyPr/>
          <a:lstStyle/>
          <a:p>
            <a:r>
              <a:rPr lang="en-GB"/>
              <a:t>Current state workshop</a:t>
            </a:r>
          </a:p>
          <a:p>
            <a:r>
              <a:rPr lang="en-GB"/>
              <a:t>Risk &amp; Motivation workshop</a:t>
            </a:r>
          </a:p>
          <a:p>
            <a:r>
              <a:rPr lang="en-GB"/>
              <a:t>Migration Readiness Assessment questionnaire </a:t>
            </a:r>
          </a:p>
        </p:txBody>
      </p:sp>
      <p:sp>
        <p:nvSpPr>
          <p:cNvPr id="4" name="Slide Number Placeholder 3">
            <a:extLst>
              <a:ext uri="{FF2B5EF4-FFF2-40B4-BE49-F238E27FC236}">
                <a16:creationId xmlns:a16="http://schemas.microsoft.com/office/drawing/2014/main" id="{5B5E997E-C073-07C9-A4FB-EB95DFAE9836}"/>
              </a:ext>
            </a:extLst>
          </p:cNvPr>
          <p:cNvSpPr>
            <a:spLocks noGrp="1"/>
          </p:cNvSpPr>
          <p:nvPr>
            <p:ph type="sldNum" sz="quarter" idx="5"/>
          </p:nvPr>
        </p:nvSpPr>
        <p:spPr/>
        <p:txBody>
          <a:bodyPr/>
          <a:lstStyle/>
          <a:p>
            <a:pPr marL="0" marR="0" lvl="0" indent="0" algn="r" defTabSz="247679" rtl="0" eaLnBrk="1" fontAlgn="auto" latinLnBrk="0" hangingPunct="1">
              <a:lnSpc>
                <a:spcPct val="100000"/>
              </a:lnSpc>
              <a:spcBef>
                <a:spcPts val="0"/>
              </a:spcBef>
              <a:spcAft>
                <a:spcPts val="0"/>
              </a:spcAft>
              <a:buClrTx/>
              <a:buSzTx/>
              <a:buFontTx/>
              <a:buNone/>
              <a:tabLst/>
              <a:defRPr/>
            </a:pPr>
            <a:fld id="{743F7EE4-7D84-4D77-B4B2-0C966043B366}" type="slidenum">
              <a:rPr kumimoji="0" lang="en-US" sz="11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247679"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860104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B93421-69F0-D646-96CE-17400A04F3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286DD2F-076A-BC49-53AC-0ACCE852FCCE}"/>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F441C4A0-8678-B9A5-78D6-CFBCA65F436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EB61E17-8F11-ED5B-A936-F99574DF2FC4}"/>
              </a:ext>
            </a:extLst>
          </p:cNvPr>
          <p:cNvSpPr>
            <a:spLocks noGrp="1"/>
          </p:cNvSpPr>
          <p:nvPr>
            <p:ph type="sldNum" sz="quarter" idx="5"/>
          </p:nvPr>
        </p:nvSpPr>
        <p:spPr/>
        <p:txBody>
          <a:bodyPr/>
          <a:lstStyle/>
          <a:p>
            <a:pPr marL="0" marR="0" lvl="0" indent="0" algn="r" defTabSz="228600" rtl="0" eaLnBrk="1" fontAlgn="auto" latinLnBrk="0" hangingPunct="1">
              <a:lnSpc>
                <a:spcPct val="100000"/>
              </a:lnSpc>
              <a:spcBef>
                <a:spcPts val="0"/>
              </a:spcBef>
              <a:spcAft>
                <a:spcPts val="0"/>
              </a:spcAft>
              <a:buClrTx/>
              <a:buSzTx/>
              <a:buFontTx/>
              <a:buNone/>
              <a:tabLst/>
              <a:defRPr/>
            </a:pPr>
            <a:fld id="{743F7EE4-7D84-4D77-B4B2-0C966043B366}" type="slidenum">
              <a:rPr kumimoji="0" lang="en-US" sz="11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2286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28204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GB"/>
          </a:p>
          <a:p>
            <a:endParaRPr lang="en-GB"/>
          </a:p>
          <a:p>
            <a:endParaRPr lang="en-GB"/>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27</a:t>
            </a:fld>
            <a:endParaRPr lang="en-US">
              <a:solidFill>
                <a:prstClr val="black"/>
              </a:solidFill>
              <a:latin typeface="Calibri" panose="020F0502020204030204"/>
            </a:endParaRPr>
          </a:p>
        </p:txBody>
      </p:sp>
    </p:spTree>
    <p:extLst>
      <p:ext uri="{BB962C8B-B14F-4D97-AF65-F5344CB8AC3E}">
        <p14:creationId xmlns:p14="http://schemas.microsoft.com/office/powerpoint/2010/main" val="41999898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DBD2FD-8F62-9BF7-7A3A-0B138FF7F1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0394C8-CBD4-7DDB-439B-65D680180CE9}"/>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4DAB3546-391C-2F05-6B7F-202E4E40CBBC}"/>
              </a:ext>
            </a:extLst>
          </p:cNvPr>
          <p:cNvSpPr>
            <a:spLocks noGrp="1"/>
          </p:cNvSpPr>
          <p:nvPr>
            <p:ph type="body" idx="1"/>
          </p:nvPr>
        </p:nvSpPr>
        <p:spPr/>
        <p:txBody>
          <a:bodyPr/>
          <a:lstStyle/>
          <a:p>
            <a:endParaRPr lang="en-GB"/>
          </a:p>
          <a:p>
            <a:endParaRPr lang="en-GB"/>
          </a:p>
          <a:p>
            <a:endParaRPr lang="en-GB"/>
          </a:p>
        </p:txBody>
      </p:sp>
      <p:sp>
        <p:nvSpPr>
          <p:cNvPr id="4" name="Slide Number Placeholder 3">
            <a:extLst>
              <a:ext uri="{FF2B5EF4-FFF2-40B4-BE49-F238E27FC236}">
                <a16:creationId xmlns:a16="http://schemas.microsoft.com/office/drawing/2014/main" id="{B2C5257B-79B9-1C67-6C7F-1C5CF96728AE}"/>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28</a:t>
            </a:fld>
            <a:endParaRPr lang="en-US">
              <a:solidFill>
                <a:prstClr val="black"/>
              </a:solidFill>
              <a:latin typeface="Calibri" panose="020F0502020204030204"/>
            </a:endParaRPr>
          </a:p>
        </p:txBody>
      </p:sp>
    </p:spTree>
    <p:extLst>
      <p:ext uri="{BB962C8B-B14F-4D97-AF65-F5344CB8AC3E}">
        <p14:creationId xmlns:p14="http://schemas.microsoft.com/office/powerpoint/2010/main" val="286906578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03FE08-BF66-0D35-95CB-2153C048D2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250941-AED9-0768-57F3-B92925796E92}"/>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45DF83F3-49CB-E032-A640-60CE7569605A}"/>
              </a:ext>
            </a:extLst>
          </p:cNvPr>
          <p:cNvSpPr>
            <a:spLocks noGrp="1"/>
          </p:cNvSpPr>
          <p:nvPr>
            <p:ph type="body" idx="1"/>
          </p:nvPr>
        </p:nvSpPr>
        <p:spPr/>
        <p:txBody>
          <a:bodyPr/>
          <a:lstStyle/>
          <a:p>
            <a:endParaRPr lang="en-GB"/>
          </a:p>
          <a:p>
            <a:endParaRPr lang="en-GB"/>
          </a:p>
          <a:p>
            <a:endParaRPr lang="en-GB"/>
          </a:p>
        </p:txBody>
      </p:sp>
      <p:sp>
        <p:nvSpPr>
          <p:cNvPr id="4" name="Slide Number Placeholder 3">
            <a:extLst>
              <a:ext uri="{FF2B5EF4-FFF2-40B4-BE49-F238E27FC236}">
                <a16:creationId xmlns:a16="http://schemas.microsoft.com/office/drawing/2014/main" id="{2E07A9D2-36E2-299B-B0FC-D5C5BCF34402}"/>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29</a:t>
            </a:fld>
            <a:endParaRPr lang="en-US">
              <a:solidFill>
                <a:prstClr val="black"/>
              </a:solidFill>
              <a:latin typeface="Calibri" panose="020F0502020204030204"/>
            </a:endParaRPr>
          </a:p>
        </p:txBody>
      </p:sp>
    </p:spTree>
    <p:extLst>
      <p:ext uri="{BB962C8B-B14F-4D97-AF65-F5344CB8AC3E}">
        <p14:creationId xmlns:p14="http://schemas.microsoft.com/office/powerpoint/2010/main" val="371219346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C36502-1CEB-F3EC-A9F9-127B664C1C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BD549A8-AEFD-E347-FE1F-3EB64C9888B4}"/>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D79806B5-BFCD-6C0D-3C87-B6778492C5EB}"/>
              </a:ext>
            </a:extLst>
          </p:cNvPr>
          <p:cNvSpPr>
            <a:spLocks noGrp="1"/>
          </p:cNvSpPr>
          <p:nvPr>
            <p:ph type="body" idx="1"/>
          </p:nvPr>
        </p:nvSpPr>
        <p:spPr/>
        <p:txBody>
          <a:bodyPr/>
          <a:lstStyle/>
          <a:p>
            <a:endParaRPr lang="en-GB"/>
          </a:p>
          <a:p>
            <a:endParaRPr lang="en-GB"/>
          </a:p>
          <a:p>
            <a:endParaRPr lang="en-GB"/>
          </a:p>
        </p:txBody>
      </p:sp>
      <p:sp>
        <p:nvSpPr>
          <p:cNvPr id="4" name="Slide Number Placeholder 3">
            <a:extLst>
              <a:ext uri="{FF2B5EF4-FFF2-40B4-BE49-F238E27FC236}">
                <a16:creationId xmlns:a16="http://schemas.microsoft.com/office/drawing/2014/main" id="{C2411392-7C68-1427-E67C-0FE3C33074B2}"/>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31</a:t>
            </a:fld>
            <a:endParaRPr lang="en-US">
              <a:solidFill>
                <a:prstClr val="black"/>
              </a:solidFill>
              <a:latin typeface="Calibri" panose="020F0502020204030204"/>
            </a:endParaRPr>
          </a:p>
        </p:txBody>
      </p:sp>
    </p:spTree>
    <p:extLst>
      <p:ext uri="{BB962C8B-B14F-4D97-AF65-F5344CB8AC3E}">
        <p14:creationId xmlns:p14="http://schemas.microsoft.com/office/powerpoint/2010/main" val="16356709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AE"/>
          </a:p>
        </p:txBody>
      </p:sp>
      <p:sp>
        <p:nvSpPr>
          <p:cNvPr id="4" name="Slide Number Placeholder 3"/>
          <p:cNvSpPr>
            <a:spLocks noGrp="1"/>
          </p:cNvSpPr>
          <p:nvPr>
            <p:ph type="sldNum" sz="quarter" idx="5"/>
          </p:nvPr>
        </p:nvSpPr>
        <p:spPr/>
        <p:txBody>
          <a:bodyPr/>
          <a:lstStyle/>
          <a:p>
            <a:fld id="{743F7EE4-7D84-4D77-B4B2-0C966043B366}" type="slidenum">
              <a:rPr lang="en-US" smtClean="0"/>
              <a:pPr/>
              <a:t>32</a:t>
            </a:fld>
            <a:endParaRPr lang="en-US"/>
          </a:p>
        </p:txBody>
      </p:sp>
    </p:spTree>
    <p:extLst>
      <p:ext uri="{BB962C8B-B14F-4D97-AF65-F5344CB8AC3E}">
        <p14:creationId xmlns:p14="http://schemas.microsoft.com/office/powerpoint/2010/main" val="252210053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AE"/>
          </a:p>
        </p:txBody>
      </p:sp>
      <p:sp>
        <p:nvSpPr>
          <p:cNvPr id="4" name="Slide Number Placeholder 3"/>
          <p:cNvSpPr>
            <a:spLocks noGrp="1"/>
          </p:cNvSpPr>
          <p:nvPr>
            <p:ph type="sldNum" sz="quarter" idx="5"/>
          </p:nvPr>
        </p:nvSpPr>
        <p:spPr/>
        <p:txBody>
          <a:bodyPr/>
          <a:lstStyle/>
          <a:p>
            <a:fld id="{743F7EE4-7D84-4D77-B4B2-0C966043B366}" type="slidenum">
              <a:rPr lang="en-US" smtClean="0"/>
              <a:pPr/>
              <a:t>33</a:t>
            </a:fld>
            <a:endParaRPr lang="en-US"/>
          </a:p>
        </p:txBody>
      </p:sp>
    </p:spTree>
    <p:extLst>
      <p:ext uri="{BB962C8B-B14F-4D97-AF65-F5344CB8AC3E}">
        <p14:creationId xmlns:p14="http://schemas.microsoft.com/office/powerpoint/2010/main" val="39852600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367BBC-6FA0-C9EA-EFF1-82EA53A87AF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29B8640-3597-D8C2-DAEA-4DF165715A83}"/>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6E35DE56-CEDD-C1E6-7AF5-5C07DBEB3EC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BCB3535-A838-3E0C-2F01-63E9429C4496}"/>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35</a:t>
            </a:fld>
            <a:endParaRPr lang="en-US">
              <a:solidFill>
                <a:prstClr val="black"/>
              </a:solidFill>
              <a:latin typeface="Calibri" panose="020F0502020204030204"/>
            </a:endParaRPr>
          </a:p>
        </p:txBody>
      </p:sp>
    </p:spTree>
    <p:extLst>
      <p:ext uri="{BB962C8B-B14F-4D97-AF65-F5344CB8AC3E}">
        <p14:creationId xmlns:p14="http://schemas.microsoft.com/office/powerpoint/2010/main" val="30625858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743F7EE4-7D84-4D77-B4B2-0C966043B366}" type="slidenum">
              <a:rPr lang="en-US" smtClean="0"/>
              <a:pPr/>
              <a:t>37</a:t>
            </a:fld>
            <a:endParaRPr lang="en-US"/>
          </a:p>
        </p:txBody>
      </p:sp>
    </p:spTree>
    <p:extLst>
      <p:ext uri="{BB962C8B-B14F-4D97-AF65-F5344CB8AC3E}">
        <p14:creationId xmlns:p14="http://schemas.microsoft.com/office/powerpoint/2010/main" val="418564856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743F7EE4-7D84-4D77-B4B2-0C966043B366}" type="slidenum">
              <a:rPr lang="en-US" smtClean="0"/>
              <a:pPr/>
              <a:t>38</a:t>
            </a:fld>
            <a:endParaRPr lang="en-US"/>
          </a:p>
        </p:txBody>
      </p:sp>
    </p:spTree>
    <p:extLst>
      <p:ext uri="{BB962C8B-B14F-4D97-AF65-F5344CB8AC3E}">
        <p14:creationId xmlns:p14="http://schemas.microsoft.com/office/powerpoint/2010/main" val="82812611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743F7EE4-7D84-4D77-B4B2-0C966043B366}" type="slidenum">
              <a:rPr lang="en-US" smtClean="0"/>
              <a:pPr/>
              <a:t>39</a:t>
            </a:fld>
            <a:endParaRPr lang="en-US"/>
          </a:p>
        </p:txBody>
      </p:sp>
    </p:spTree>
    <p:extLst>
      <p:ext uri="{BB962C8B-B14F-4D97-AF65-F5344CB8AC3E}">
        <p14:creationId xmlns:p14="http://schemas.microsoft.com/office/powerpoint/2010/main" val="273710141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fld id="{743F7EE4-7D84-4D77-B4B2-0C966043B366}" type="slidenum">
              <a:rPr lang="en-US" smtClean="0"/>
              <a:pPr/>
              <a:t>40</a:t>
            </a:fld>
            <a:endParaRPr lang="en-US"/>
          </a:p>
        </p:txBody>
      </p:sp>
    </p:spTree>
    <p:extLst>
      <p:ext uri="{BB962C8B-B14F-4D97-AF65-F5344CB8AC3E}">
        <p14:creationId xmlns:p14="http://schemas.microsoft.com/office/powerpoint/2010/main" val="49852206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696AE5-84BF-0C6D-48F9-EABF47D0888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CE90CCE-DDA6-A241-C985-D35416F20AB5}"/>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035D9938-0153-5779-2017-BE39C1BFB130}"/>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04C3AF7F-0671-1399-F6A1-DCB9431A5EBD}"/>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41</a:t>
            </a:fld>
            <a:endParaRPr lang="en-US">
              <a:solidFill>
                <a:prstClr val="black"/>
              </a:solidFill>
              <a:latin typeface="Calibri" panose="020F0502020204030204"/>
            </a:endParaRPr>
          </a:p>
        </p:txBody>
      </p:sp>
    </p:spTree>
    <p:extLst>
      <p:ext uri="{BB962C8B-B14F-4D97-AF65-F5344CB8AC3E}">
        <p14:creationId xmlns:p14="http://schemas.microsoft.com/office/powerpoint/2010/main" val="26692931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335190-D504-7FF1-B7F5-D50B47E5CF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6BBD7F-BFC0-8F99-ABCB-94BF8345261C}"/>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2E601114-6514-F636-B7B7-31840D82F44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270DD36-AAFF-5462-A1C6-0DA3570C6BEF}"/>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42</a:t>
            </a:fld>
            <a:endParaRPr lang="en-US">
              <a:solidFill>
                <a:prstClr val="black"/>
              </a:solidFill>
              <a:latin typeface="Calibri" panose="020F0502020204030204"/>
            </a:endParaRPr>
          </a:p>
        </p:txBody>
      </p:sp>
    </p:spTree>
    <p:extLst>
      <p:ext uri="{BB962C8B-B14F-4D97-AF65-F5344CB8AC3E}">
        <p14:creationId xmlns:p14="http://schemas.microsoft.com/office/powerpoint/2010/main" val="11132452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E700BE-A631-232A-01BE-472AE9C311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4AEC2B0-6157-D5E8-41CB-515D60B664E6}"/>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F77BEF92-C8CA-166C-660B-AF9D28AE2E0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A6E8C52-B8F7-8DD5-C3AE-CA3012C53348}"/>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47</a:t>
            </a:fld>
            <a:endParaRPr lang="en-US">
              <a:solidFill>
                <a:prstClr val="black"/>
              </a:solidFill>
              <a:latin typeface="Calibri" panose="020F0502020204030204"/>
            </a:endParaRPr>
          </a:p>
        </p:txBody>
      </p:sp>
    </p:spTree>
    <p:extLst>
      <p:ext uri="{BB962C8B-B14F-4D97-AF65-F5344CB8AC3E}">
        <p14:creationId xmlns:p14="http://schemas.microsoft.com/office/powerpoint/2010/main" val="291383626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242519-E405-94BB-0534-BA4C414D1A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C9EC42-96C7-5FDB-158D-9A362F871715}"/>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6818815C-39BE-F265-2E85-BC5323444E89}"/>
              </a:ext>
            </a:extLst>
          </p:cNvPr>
          <p:cNvSpPr>
            <a:spLocks noGrp="1"/>
          </p:cNvSpPr>
          <p:nvPr>
            <p:ph type="body" idx="1"/>
          </p:nvPr>
        </p:nvSpPr>
        <p:spPr/>
        <p:txBody>
          <a:bodyPr/>
          <a:lstStyle/>
          <a:p>
            <a:endParaRPr lang="en-GB"/>
          </a:p>
          <a:p>
            <a:endParaRPr lang="en-GB"/>
          </a:p>
          <a:p>
            <a:endParaRPr lang="en-GB"/>
          </a:p>
        </p:txBody>
      </p:sp>
      <p:sp>
        <p:nvSpPr>
          <p:cNvPr id="4" name="Slide Number Placeholder 3">
            <a:extLst>
              <a:ext uri="{FF2B5EF4-FFF2-40B4-BE49-F238E27FC236}">
                <a16:creationId xmlns:a16="http://schemas.microsoft.com/office/drawing/2014/main" id="{DA74DC5A-B9A0-40D7-332D-7EF2F4B52896}"/>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48</a:t>
            </a:fld>
            <a:endParaRPr lang="en-US">
              <a:solidFill>
                <a:prstClr val="black"/>
              </a:solidFill>
              <a:latin typeface="Calibri" panose="020F0502020204030204"/>
            </a:endParaRPr>
          </a:p>
        </p:txBody>
      </p:sp>
    </p:spTree>
    <p:extLst>
      <p:ext uri="{BB962C8B-B14F-4D97-AF65-F5344CB8AC3E}">
        <p14:creationId xmlns:p14="http://schemas.microsoft.com/office/powerpoint/2010/main" val="335179634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FCA5C2-012E-76BC-CE79-031D373913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ED15001-EB3F-6A9A-95B9-5452321B23B2}"/>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98ADA1AA-A530-67A3-E384-4AE071C30650}"/>
              </a:ext>
            </a:extLst>
          </p:cNvPr>
          <p:cNvSpPr>
            <a:spLocks noGrp="1"/>
          </p:cNvSpPr>
          <p:nvPr>
            <p:ph type="body" idx="1"/>
          </p:nvPr>
        </p:nvSpPr>
        <p:spPr/>
        <p:txBody>
          <a:bodyPr/>
          <a:lstStyle/>
          <a:p>
            <a:endParaRPr lang="en-GB"/>
          </a:p>
          <a:p>
            <a:endParaRPr lang="en-GB"/>
          </a:p>
          <a:p>
            <a:endParaRPr lang="en-GB"/>
          </a:p>
        </p:txBody>
      </p:sp>
      <p:sp>
        <p:nvSpPr>
          <p:cNvPr id="4" name="Slide Number Placeholder 3">
            <a:extLst>
              <a:ext uri="{FF2B5EF4-FFF2-40B4-BE49-F238E27FC236}">
                <a16:creationId xmlns:a16="http://schemas.microsoft.com/office/drawing/2014/main" id="{2DA4BC0D-D6CB-58AA-3090-E6D7E12FDA70}"/>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49</a:t>
            </a:fld>
            <a:endParaRPr lang="en-US">
              <a:solidFill>
                <a:prstClr val="black"/>
              </a:solidFill>
              <a:latin typeface="Calibri" panose="020F0502020204030204"/>
            </a:endParaRPr>
          </a:p>
        </p:txBody>
      </p:sp>
    </p:spTree>
    <p:extLst>
      <p:ext uri="{BB962C8B-B14F-4D97-AF65-F5344CB8AC3E}">
        <p14:creationId xmlns:p14="http://schemas.microsoft.com/office/powerpoint/2010/main" val="333507245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4F4AAF-6481-3FC9-45B6-F5C55FEDBC9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3E3B02D-AB40-6660-6CAC-1C926367E25B}"/>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6A528C99-AFF0-5BCE-84BD-37F92D27B94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F611910-FF34-0EA1-7057-74EBE843C918}"/>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52</a:t>
            </a:fld>
            <a:endParaRPr lang="en-US">
              <a:solidFill>
                <a:prstClr val="black"/>
              </a:solidFill>
              <a:latin typeface="Calibri" panose="020F0502020204030204"/>
            </a:endParaRPr>
          </a:p>
        </p:txBody>
      </p:sp>
    </p:spTree>
    <p:extLst>
      <p:ext uri="{BB962C8B-B14F-4D97-AF65-F5344CB8AC3E}">
        <p14:creationId xmlns:p14="http://schemas.microsoft.com/office/powerpoint/2010/main" val="308789382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2A1401-2E38-8AF2-FA2E-8E8BEDAA52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938B0C6-EA1B-3B42-B9BE-3D4A43FE5C19}"/>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6D893345-89D0-D4D2-37B0-E3C26295972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C839A3F-ED81-23A8-7FE1-EDBD76AC0120}"/>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55</a:t>
            </a:fld>
            <a:endParaRPr lang="en-US">
              <a:solidFill>
                <a:prstClr val="black"/>
              </a:solidFill>
              <a:latin typeface="Calibri" panose="020F0502020204030204"/>
            </a:endParaRPr>
          </a:p>
        </p:txBody>
      </p:sp>
    </p:spTree>
    <p:extLst>
      <p:ext uri="{BB962C8B-B14F-4D97-AF65-F5344CB8AC3E}">
        <p14:creationId xmlns:p14="http://schemas.microsoft.com/office/powerpoint/2010/main" val="316806079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AE"/>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56</a:t>
            </a:fld>
            <a:endParaRPr lang="en-US">
              <a:solidFill>
                <a:prstClr val="black"/>
              </a:solidFill>
              <a:latin typeface="Calibri" panose="020F0502020204030204"/>
            </a:endParaRPr>
          </a:p>
        </p:txBody>
      </p:sp>
    </p:spTree>
    <p:extLst>
      <p:ext uri="{BB962C8B-B14F-4D97-AF65-F5344CB8AC3E}">
        <p14:creationId xmlns:p14="http://schemas.microsoft.com/office/powerpoint/2010/main" val="5024960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359BF1-6450-E1F2-3526-748C03A11E8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4E998FA-AA74-0A2C-ECB3-1BC28535FC4E}"/>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3D8795ED-D9B3-88B5-61F2-0E6FCB311DB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4C5EFE1-C6C7-B9F0-2BCF-023DAA5B80D0}"/>
              </a:ext>
            </a:extLst>
          </p:cNvPr>
          <p:cNvSpPr>
            <a:spLocks noGrp="1"/>
          </p:cNvSpPr>
          <p:nvPr>
            <p:ph type="sldNum" sz="quarter" idx="5"/>
          </p:nvPr>
        </p:nvSpPr>
        <p:spPr/>
        <p:txBody>
          <a:bodyPr/>
          <a:lstStyle/>
          <a:p>
            <a:fld id="{743F7EE4-7D84-4D77-B4B2-0C966043B366}" type="slidenum">
              <a:rPr lang="en-US" smtClean="0"/>
              <a:t>58</a:t>
            </a:fld>
            <a:endParaRPr lang="en-US"/>
          </a:p>
        </p:txBody>
      </p:sp>
    </p:spTree>
    <p:extLst>
      <p:ext uri="{BB962C8B-B14F-4D97-AF65-F5344CB8AC3E}">
        <p14:creationId xmlns:p14="http://schemas.microsoft.com/office/powerpoint/2010/main" val="180385178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F442F-CA2D-54A5-F9F7-5CEE52C026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46E92CD-D073-576D-5A9A-2A486A66B11B}"/>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A9E7786A-5D88-878F-9122-212F6B4A767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76D82D0-6AE1-423C-3D28-C28430B5E4AB}"/>
              </a:ext>
            </a:extLst>
          </p:cNvPr>
          <p:cNvSpPr>
            <a:spLocks noGrp="1"/>
          </p:cNvSpPr>
          <p:nvPr>
            <p:ph type="sldNum" sz="quarter" idx="5"/>
          </p:nvPr>
        </p:nvSpPr>
        <p:spPr/>
        <p:txBody>
          <a:bodyPr/>
          <a:lstStyle/>
          <a:p>
            <a:fld id="{743F7EE4-7D84-4D77-B4B2-0C966043B366}" type="slidenum">
              <a:rPr lang="en-US" smtClean="0"/>
              <a:t>59</a:t>
            </a:fld>
            <a:endParaRPr lang="en-US"/>
          </a:p>
        </p:txBody>
      </p:sp>
    </p:spTree>
    <p:extLst>
      <p:ext uri="{BB962C8B-B14F-4D97-AF65-F5344CB8AC3E}">
        <p14:creationId xmlns:p14="http://schemas.microsoft.com/office/powerpoint/2010/main" val="1539015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FA7CD3-2D61-8EF3-FC67-27778E86084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52E8BF-A469-B3E5-0E90-558F45D7AE76}"/>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8C5AEF13-08BE-39DB-2836-A8D1B1607BC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2F0397A-5166-BCD2-A1CB-2B1B5604C4D6}"/>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60</a:t>
            </a:fld>
            <a:endParaRPr lang="en-US">
              <a:solidFill>
                <a:prstClr val="black"/>
              </a:solidFill>
              <a:latin typeface="Calibri" panose="020F0502020204030204"/>
            </a:endParaRPr>
          </a:p>
        </p:txBody>
      </p:sp>
    </p:spTree>
    <p:extLst>
      <p:ext uri="{BB962C8B-B14F-4D97-AF65-F5344CB8AC3E}">
        <p14:creationId xmlns:p14="http://schemas.microsoft.com/office/powerpoint/2010/main" val="3984161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61</a:t>
            </a:fld>
            <a:endParaRPr lang="en-US">
              <a:solidFill>
                <a:prstClr val="black"/>
              </a:solidFill>
              <a:latin typeface="Calibri" panose="020F0502020204030204"/>
            </a:endParaRPr>
          </a:p>
        </p:txBody>
      </p:sp>
    </p:spTree>
    <p:extLst>
      <p:ext uri="{BB962C8B-B14F-4D97-AF65-F5344CB8AC3E}">
        <p14:creationId xmlns:p14="http://schemas.microsoft.com/office/powerpoint/2010/main" val="77582607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defTabSz="990715">
              <a:defRPr/>
            </a:pPr>
            <a:fld id="{4F887DE0-8279-43A8-83B3-7AFC2F9FFFF9}" type="slidenum">
              <a:rPr lang="en-GB" sz="1300">
                <a:solidFill>
                  <a:prstClr val="black"/>
                </a:solidFill>
                <a:latin typeface="Calibri" panose="020F0502020204030204"/>
              </a:rPr>
              <a:pPr defTabSz="990715">
                <a:defRPr/>
              </a:pPr>
              <a:t>62</a:t>
            </a:fld>
            <a:endParaRPr lang="en-GB" sz="1300">
              <a:solidFill>
                <a:prstClr val="black"/>
              </a:solidFill>
              <a:latin typeface="Calibri" panose="020F0502020204030204"/>
            </a:endParaRPr>
          </a:p>
        </p:txBody>
      </p:sp>
    </p:spTree>
    <p:extLst>
      <p:ext uri="{BB962C8B-B14F-4D97-AF65-F5344CB8AC3E}">
        <p14:creationId xmlns:p14="http://schemas.microsoft.com/office/powerpoint/2010/main" val="359050868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64</a:t>
            </a:fld>
            <a:endParaRPr lang="en-US">
              <a:solidFill>
                <a:prstClr val="black"/>
              </a:solidFill>
              <a:latin typeface="Calibri" panose="020F0502020204030204"/>
            </a:endParaRPr>
          </a:p>
        </p:txBody>
      </p:sp>
    </p:spTree>
    <p:extLst>
      <p:ext uri="{BB962C8B-B14F-4D97-AF65-F5344CB8AC3E}">
        <p14:creationId xmlns:p14="http://schemas.microsoft.com/office/powerpoint/2010/main" val="289979225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65</a:t>
            </a:fld>
            <a:endParaRPr lang="en-US">
              <a:solidFill>
                <a:prstClr val="black"/>
              </a:solidFill>
              <a:latin typeface="Calibri" panose="020F0502020204030204"/>
            </a:endParaRPr>
          </a:p>
        </p:txBody>
      </p:sp>
    </p:spTree>
    <p:extLst>
      <p:ext uri="{BB962C8B-B14F-4D97-AF65-F5344CB8AC3E}">
        <p14:creationId xmlns:p14="http://schemas.microsoft.com/office/powerpoint/2010/main" val="322579979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ADDC57-BCE3-4AFD-87CF-27044EDE95C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74CCE0F-5070-0882-B6AF-40C6934CCE50}"/>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E985AF6E-BFDA-3BB0-6931-34543ABBC0D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D4B1348-644A-33C2-87EA-791EB89CEED1}"/>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73</a:t>
            </a:fld>
            <a:endParaRPr lang="en-US">
              <a:solidFill>
                <a:prstClr val="black"/>
              </a:solidFill>
              <a:latin typeface="Calibri" panose="020F0502020204030204"/>
            </a:endParaRPr>
          </a:p>
        </p:txBody>
      </p:sp>
    </p:spTree>
    <p:extLst>
      <p:ext uri="{BB962C8B-B14F-4D97-AF65-F5344CB8AC3E}">
        <p14:creationId xmlns:p14="http://schemas.microsoft.com/office/powerpoint/2010/main" val="349275865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844317-D01F-6564-629F-F9854D2C0CE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3EE9AB-E8AF-9763-D80C-1DFE0629A56B}"/>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29357610-EEFD-A098-F983-5E25C71730F4}"/>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65161DF6-252D-2C97-2ED7-76EC495B1246}"/>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74</a:t>
            </a:fld>
            <a:endParaRPr lang="en-US">
              <a:solidFill>
                <a:prstClr val="black"/>
              </a:solidFill>
              <a:latin typeface="Calibri" panose="020F0502020204030204"/>
            </a:endParaRPr>
          </a:p>
        </p:txBody>
      </p:sp>
    </p:spTree>
    <p:extLst>
      <p:ext uri="{BB962C8B-B14F-4D97-AF65-F5344CB8AC3E}">
        <p14:creationId xmlns:p14="http://schemas.microsoft.com/office/powerpoint/2010/main" val="426070311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A79F54-7792-D13C-019A-9206D6449D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B73F919-A162-A964-3CF4-F62E2CA3D3C2}"/>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DE7DBF0A-92C7-1C21-9D48-9362E587CD47}"/>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2331901F-8F0F-6112-A87B-ECAEFCA7B857}"/>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75</a:t>
            </a:fld>
            <a:endParaRPr lang="en-US">
              <a:solidFill>
                <a:prstClr val="black"/>
              </a:solidFill>
              <a:latin typeface="Calibri" panose="020F0502020204030204"/>
            </a:endParaRPr>
          </a:p>
        </p:txBody>
      </p:sp>
    </p:spTree>
    <p:extLst>
      <p:ext uri="{BB962C8B-B14F-4D97-AF65-F5344CB8AC3E}">
        <p14:creationId xmlns:p14="http://schemas.microsoft.com/office/powerpoint/2010/main" val="354232059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4FC2E9-0733-5127-CE3C-7EAB840AE0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ED3F5C-E2D0-796B-6C44-FF7F7672FBC4}"/>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E13A82D5-9C4F-A8D6-B8C4-2CC0BD43622B}"/>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1F9A3FAA-3331-DAA0-DA39-24C0E409AF8D}"/>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76</a:t>
            </a:fld>
            <a:endParaRPr lang="en-US">
              <a:solidFill>
                <a:prstClr val="black"/>
              </a:solidFill>
              <a:latin typeface="Calibri" panose="020F0502020204030204"/>
            </a:endParaRPr>
          </a:p>
        </p:txBody>
      </p:sp>
    </p:spTree>
    <p:extLst>
      <p:ext uri="{BB962C8B-B14F-4D97-AF65-F5344CB8AC3E}">
        <p14:creationId xmlns:p14="http://schemas.microsoft.com/office/powerpoint/2010/main" val="32634333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BC081E-289E-50AB-907C-FF20D0FD466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3E120B-37E9-4967-D7CA-F507DF261766}"/>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1AEC904A-A42F-F7FF-A820-0A853D67ED63}"/>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BD8D6BC7-E039-CE50-3BB3-33D3B2133DD8}"/>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77</a:t>
            </a:fld>
            <a:endParaRPr lang="en-US">
              <a:solidFill>
                <a:prstClr val="black"/>
              </a:solidFill>
              <a:latin typeface="Calibri" panose="020F0502020204030204"/>
            </a:endParaRPr>
          </a:p>
        </p:txBody>
      </p:sp>
    </p:spTree>
    <p:extLst>
      <p:ext uri="{BB962C8B-B14F-4D97-AF65-F5344CB8AC3E}">
        <p14:creationId xmlns:p14="http://schemas.microsoft.com/office/powerpoint/2010/main" val="393443821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796D76-8FD9-8EC0-80FE-7906F5E8E5A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5743FA6-339C-F1E1-9E01-EA6070C029F6}"/>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F35FAAF1-302B-0D5E-DE72-C310B304CA2A}"/>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B27B1568-4727-8810-F50D-267ADEA1FD62}"/>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78</a:t>
            </a:fld>
            <a:endParaRPr lang="en-US">
              <a:solidFill>
                <a:prstClr val="black"/>
              </a:solidFill>
              <a:latin typeface="Calibri" panose="020F0502020204030204"/>
            </a:endParaRPr>
          </a:p>
        </p:txBody>
      </p:sp>
    </p:spTree>
    <p:extLst>
      <p:ext uri="{BB962C8B-B14F-4D97-AF65-F5344CB8AC3E}">
        <p14:creationId xmlns:p14="http://schemas.microsoft.com/office/powerpoint/2010/main" val="296264843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B0DE69-B67E-7E6F-92C7-1F260A0A20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48AD67-74EA-4397-04E4-3358824E65D1}"/>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99B5E780-A07A-7A96-F918-25DF0573E147}"/>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2056E413-F017-89AA-E674-14850F66CACA}"/>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79</a:t>
            </a:fld>
            <a:endParaRPr lang="en-US">
              <a:solidFill>
                <a:prstClr val="black"/>
              </a:solidFill>
              <a:latin typeface="Calibri" panose="020F0502020204030204"/>
            </a:endParaRPr>
          </a:p>
        </p:txBody>
      </p:sp>
    </p:spTree>
    <p:extLst>
      <p:ext uri="{BB962C8B-B14F-4D97-AF65-F5344CB8AC3E}">
        <p14:creationId xmlns:p14="http://schemas.microsoft.com/office/powerpoint/2010/main" val="322344213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117860-FB9C-5088-08BD-075EBE0C01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E78A8A-16DF-6514-D6A9-6EFFC910CFD3}"/>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D4DEA985-0A91-2A21-9C0E-FC7C34C908FA}"/>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CB779F7D-747A-46E1-C06B-39FA4557F71F}"/>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80</a:t>
            </a:fld>
            <a:endParaRPr lang="en-US">
              <a:solidFill>
                <a:prstClr val="black"/>
              </a:solidFill>
              <a:latin typeface="Calibri" panose="020F0502020204030204"/>
            </a:endParaRPr>
          </a:p>
        </p:txBody>
      </p:sp>
    </p:spTree>
    <p:extLst>
      <p:ext uri="{BB962C8B-B14F-4D97-AF65-F5344CB8AC3E}">
        <p14:creationId xmlns:p14="http://schemas.microsoft.com/office/powerpoint/2010/main" val="372186117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CDD15F-D50F-73F3-4758-F2F161E1051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F58F1C-53C1-14DF-F5FD-D12E9898DF6B}"/>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2343186E-E364-2754-716E-8A2B3A09CF11}"/>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FB214BF0-0CAC-B676-4B2C-51272BDC23EC}"/>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81</a:t>
            </a:fld>
            <a:endParaRPr lang="en-US">
              <a:solidFill>
                <a:prstClr val="black"/>
              </a:solidFill>
              <a:latin typeface="Calibri" panose="020F0502020204030204"/>
            </a:endParaRPr>
          </a:p>
        </p:txBody>
      </p:sp>
    </p:spTree>
    <p:extLst>
      <p:ext uri="{BB962C8B-B14F-4D97-AF65-F5344CB8AC3E}">
        <p14:creationId xmlns:p14="http://schemas.microsoft.com/office/powerpoint/2010/main" val="3356220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779F26-DFD5-5E86-9730-746D2F13CF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4460B08-64B3-77D7-1AD9-3EF8CD9AA7BC}"/>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FCD6ABBE-4E20-10C4-1C05-D5F4927BD692}"/>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F557F158-9092-5600-EFA2-AD47F6B8259C}"/>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82</a:t>
            </a:fld>
            <a:endParaRPr lang="en-US">
              <a:solidFill>
                <a:prstClr val="black"/>
              </a:solidFill>
              <a:latin typeface="Calibri" panose="020F0502020204030204"/>
            </a:endParaRPr>
          </a:p>
        </p:txBody>
      </p:sp>
    </p:spTree>
    <p:extLst>
      <p:ext uri="{BB962C8B-B14F-4D97-AF65-F5344CB8AC3E}">
        <p14:creationId xmlns:p14="http://schemas.microsoft.com/office/powerpoint/2010/main" val="125193038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78B45F-CDED-DFD5-C952-DDA74AF493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E6B8111-E141-6ECD-7780-E2CA4D5D9829}"/>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B0DC9208-4C4C-1B75-C64A-124FE95A9994}"/>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3C784F35-9CE0-3C1C-B4B8-78C14BFA0AD0}"/>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83</a:t>
            </a:fld>
            <a:endParaRPr lang="en-US">
              <a:solidFill>
                <a:prstClr val="black"/>
              </a:solidFill>
              <a:latin typeface="Calibri" panose="020F0502020204030204"/>
            </a:endParaRPr>
          </a:p>
        </p:txBody>
      </p:sp>
    </p:spTree>
    <p:extLst>
      <p:ext uri="{BB962C8B-B14F-4D97-AF65-F5344CB8AC3E}">
        <p14:creationId xmlns:p14="http://schemas.microsoft.com/office/powerpoint/2010/main" val="418595100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78B45F-CDED-DFD5-C952-DDA74AF493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E6B8111-E141-6ECD-7780-E2CA4D5D9829}"/>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B0DC9208-4C4C-1B75-C64A-124FE95A9994}"/>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3C784F35-9CE0-3C1C-B4B8-78C14BFA0AD0}"/>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84</a:t>
            </a:fld>
            <a:endParaRPr lang="en-US">
              <a:solidFill>
                <a:prstClr val="black"/>
              </a:solidFill>
              <a:latin typeface="Calibri" panose="020F0502020204030204"/>
            </a:endParaRPr>
          </a:p>
        </p:txBody>
      </p:sp>
    </p:spTree>
    <p:extLst>
      <p:ext uri="{BB962C8B-B14F-4D97-AF65-F5344CB8AC3E}">
        <p14:creationId xmlns:p14="http://schemas.microsoft.com/office/powerpoint/2010/main" val="378465560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ADDC57-BCE3-4AFD-87CF-27044EDE95C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74CCE0F-5070-0882-B6AF-40C6934CCE50}"/>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E985AF6E-BFDA-3BB0-6931-34543ABBC0D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D4B1348-644A-33C2-87EA-791EB89CEED1}"/>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85</a:t>
            </a:fld>
            <a:endParaRPr lang="en-US">
              <a:solidFill>
                <a:prstClr val="black"/>
              </a:solidFill>
              <a:latin typeface="Calibri" panose="020F0502020204030204"/>
            </a:endParaRPr>
          </a:p>
        </p:txBody>
      </p:sp>
    </p:spTree>
    <p:extLst>
      <p:ext uri="{BB962C8B-B14F-4D97-AF65-F5344CB8AC3E}">
        <p14:creationId xmlns:p14="http://schemas.microsoft.com/office/powerpoint/2010/main" val="311739658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C449D8-F98D-9B2A-A06D-4158033A59C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BA5F96-982B-A552-3204-A1DA608D8879}"/>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1E5FA8DE-835F-13C0-1375-78D10C73D8CF}"/>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6D513E35-0E3F-8505-6008-0AE424197A7F}"/>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86</a:t>
            </a:fld>
            <a:endParaRPr lang="en-US">
              <a:solidFill>
                <a:prstClr val="black"/>
              </a:solidFill>
              <a:latin typeface="Calibri" panose="020F0502020204030204"/>
            </a:endParaRPr>
          </a:p>
        </p:txBody>
      </p:sp>
    </p:spTree>
    <p:extLst>
      <p:ext uri="{BB962C8B-B14F-4D97-AF65-F5344CB8AC3E}">
        <p14:creationId xmlns:p14="http://schemas.microsoft.com/office/powerpoint/2010/main" val="318239504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87</a:t>
            </a:fld>
            <a:endParaRPr lang="en-US">
              <a:solidFill>
                <a:prstClr val="black"/>
              </a:solidFill>
              <a:latin typeface="Calibri" panose="020F0502020204030204"/>
            </a:endParaRPr>
          </a:p>
        </p:txBody>
      </p:sp>
    </p:spTree>
    <p:extLst>
      <p:ext uri="{BB962C8B-B14F-4D97-AF65-F5344CB8AC3E}">
        <p14:creationId xmlns:p14="http://schemas.microsoft.com/office/powerpoint/2010/main" val="44748619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F36044-B2C8-BAD6-DB17-6878DF8611A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208877-1BDB-901A-038D-B1587383B420}"/>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A112AFDD-1A48-C6CF-FCCB-421F6C06F70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52A087F-E655-C1EF-588E-BC0DE469877F}"/>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88</a:t>
            </a:fld>
            <a:endParaRPr lang="en-US">
              <a:solidFill>
                <a:prstClr val="black"/>
              </a:solidFill>
              <a:latin typeface="Calibri" panose="020F0502020204030204"/>
            </a:endParaRPr>
          </a:p>
        </p:txBody>
      </p:sp>
    </p:spTree>
    <p:extLst>
      <p:ext uri="{BB962C8B-B14F-4D97-AF65-F5344CB8AC3E}">
        <p14:creationId xmlns:p14="http://schemas.microsoft.com/office/powerpoint/2010/main" val="104841575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B17ADA-2B61-94C3-1AC4-7C7DF7BCD6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A77B839-BAC8-C9D4-30DA-4CD8D1C908F7}"/>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9F58B57B-DF0C-D588-70F6-9445140D4738}"/>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9E436764-9F0F-08F8-1F22-E9AABC6CB4DB}"/>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89</a:t>
            </a:fld>
            <a:endParaRPr lang="en-US">
              <a:solidFill>
                <a:prstClr val="black"/>
              </a:solidFill>
              <a:latin typeface="Calibri" panose="020F0502020204030204"/>
            </a:endParaRPr>
          </a:p>
        </p:txBody>
      </p:sp>
    </p:spTree>
    <p:extLst>
      <p:ext uri="{BB962C8B-B14F-4D97-AF65-F5344CB8AC3E}">
        <p14:creationId xmlns:p14="http://schemas.microsoft.com/office/powerpoint/2010/main" val="313061569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B9B50C-1DD4-EC1A-86BD-29C877F18A9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7BFAF8-321F-8364-8F87-4D001614E83C}"/>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4E34C10E-6333-3505-7288-C43825862488}"/>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C72DFB1-F19B-0853-1B31-91F779E65A4A}"/>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90</a:t>
            </a:fld>
            <a:endParaRPr lang="en-US">
              <a:solidFill>
                <a:prstClr val="black"/>
              </a:solidFill>
              <a:latin typeface="Calibri" panose="020F0502020204030204"/>
            </a:endParaRPr>
          </a:p>
        </p:txBody>
      </p:sp>
    </p:spTree>
    <p:extLst>
      <p:ext uri="{BB962C8B-B14F-4D97-AF65-F5344CB8AC3E}">
        <p14:creationId xmlns:p14="http://schemas.microsoft.com/office/powerpoint/2010/main" val="197690104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082489-B224-8CE6-43C7-41AA12F7C1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4E46CC-BD01-5813-9E62-EFAADA74D82B}"/>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C987C90B-DD61-34B7-B5B2-DA826F7DD90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2238590-CAB6-5EED-4C50-18920C50CFFD}"/>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91</a:t>
            </a:fld>
            <a:endParaRPr lang="en-US">
              <a:solidFill>
                <a:prstClr val="black"/>
              </a:solidFill>
              <a:latin typeface="Calibri" panose="020F0502020204030204"/>
            </a:endParaRPr>
          </a:p>
        </p:txBody>
      </p:sp>
    </p:spTree>
    <p:extLst>
      <p:ext uri="{BB962C8B-B14F-4D97-AF65-F5344CB8AC3E}">
        <p14:creationId xmlns:p14="http://schemas.microsoft.com/office/powerpoint/2010/main" val="419307727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46C456-E49E-8FAC-6358-8149571478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81BF970-B1E5-B5A8-9A43-61A19DB0DB58}"/>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00B78E89-47D6-DABC-2CD3-15288181A652}"/>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657A2337-06FD-9FDA-1EC1-D1EAEE5656E8}"/>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92</a:t>
            </a:fld>
            <a:endParaRPr lang="en-US">
              <a:solidFill>
                <a:prstClr val="black"/>
              </a:solidFill>
              <a:latin typeface="Calibri" panose="020F0502020204030204"/>
            </a:endParaRPr>
          </a:p>
        </p:txBody>
      </p:sp>
    </p:spTree>
    <p:extLst>
      <p:ext uri="{BB962C8B-B14F-4D97-AF65-F5344CB8AC3E}">
        <p14:creationId xmlns:p14="http://schemas.microsoft.com/office/powerpoint/2010/main" val="57432418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D7FA13-DE00-49D7-58AD-3BBC8671A4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DF40FC-5F38-C86A-24CF-EAD3D12D84A4}"/>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4FB231D3-80F6-54E3-A8DF-D04017CD6543}"/>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FE906758-E96E-4E0E-E6C1-F46E7AEE181C}"/>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93</a:t>
            </a:fld>
            <a:endParaRPr lang="en-US">
              <a:solidFill>
                <a:prstClr val="black"/>
              </a:solidFill>
              <a:latin typeface="Calibri" panose="020F0502020204030204"/>
            </a:endParaRPr>
          </a:p>
        </p:txBody>
      </p:sp>
    </p:spTree>
    <p:extLst>
      <p:ext uri="{BB962C8B-B14F-4D97-AF65-F5344CB8AC3E}">
        <p14:creationId xmlns:p14="http://schemas.microsoft.com/office/powerpoint/2010/main" val="136291083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2C9C58-6B7D-5F7E-FE12-1FD87D361D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117D14-BDB6-F5FB-B67A-D4ED478F4CBC}"/>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1732ACDE-B66D-A31C-8021-DF8D61CB529A}"/>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37A0978-EB73-FAA9-7D14-9553EDB253BC}"/>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94</a:t>
            </a:fld>
            <a:endParaRPr lang="en-US">
              <a:solidFill>
                <a:prstClr val="black"/>
              </a:solidFill>
              <a:latin typeface="Calibri" panose="020F0502020204030204"/>
            </a:endParaRPr>
          </a:p>
        </p:txBody>
      </p:sp>
    </p:spTree>
    <p:extLst>
      <p:ext uri="{BB962C8B-B14F-4D97-AF65-F5344CB8AC3E}">
        <p14:creationId xmlns:p14="http://schemas.microsoft.com/office/powerpoint/2010/main" val="327660381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AE"/>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95</a:t>
            </a:fld>
            <a:endParaRPr lang="en-US">
              <a:solidFill>
                <a:prstClr val="black"/>
              </a:solidFill>
              <a:latin typeface="Calibri" panose="020F0502020204030204"/>
            </a:endParaRPr>
          </a:p>
        </p:txBody>
      </p:sp>
    </p:spTree>
    <p:extLst>
      <p:ext uri="{BB962C8B-B14F-4D97-AF65-F5344CB8AC3E}">
        <p14:creationId xmlns:p14="http://schemas.microsoft.com/office/powerpoint/2010/main" val="144874380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AE"/>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96</a:t>
            </a:fld>
            <a:endParaRPr lang="en-US">
              <a:solidFill>
                <a:prstClr val="black"/>
              </a:solidFill>
              <a:latin typeface="Calibri" panose="020F0502020204030204"/>
            </a:endParaRPr>
          </a:p>
        </p:txBody>
      </p:sp>
    </p:spTree>
    <p:extLst>
      <p:ext uri="{BB962C8B-B14F-4D97-AF65-F5344CB8AC3E}">
        <p14:creationId xmlns:p14="http://schemas.microsoft.com/office/powerpoint/2010/main" val="72523245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54362A-51FB-A4C9-41D2-EB72CA40A0E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FFB16F-C51A-9268-56A2-2BFBFE5ED53C}"/>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E1910387-54A5-5EDF-0324-69C1CC9148CA}"/>
              </a:ext>
            </a:extLst>
          </p:cNvPr>
          <p:cNvSpPr>
            <a:spLocks noGrp="1"/>
          </p:cNvSpPr>
          <p:nvPr>
            <p:ph type="body" idx="1"/>
          </p:nvPr>
        </p:nvSpPr>
        <p:spPr/>
        <p:txBody>
          <a:bodyPr/>
          <a:lstStyle/>
          <a:p>
            <a:endParaRPr lang="en-AE"/>
          </a:p>
        </p:txBody>
      </p:sp>
      <p:sp>
        <p:nvSpPr>
          <p:cNvPr id="4" name="Slide Number Placeholder 3">
            <a:extLst>
              <a:ext uri="{FF2B5EF4-FFF2-40B4-BE49-F238E27FC236}">
                <a16:creationId xmlns:a16="http://schemas.microsoft.com/office/drawing/2014/main" id="{DCBCE33A-7E5C-E5FA-9340-2DD58AFDB23B}"/>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97</a:t>
            </a:fld>
            <a:endParaRPr lang="en-US">
              <a:solidFill>
                <a:prstClr val="black"/>
              </a:solidFill>
              <a:latin typeface="Calibri" panose="020F0502020204030204"/>
            </a:endParaRPr>
          </a:p>
        </p:txBody>
      </p:sp>
    </p:spTree>
    <p:extLst>
      <p:ext uri="{BB962C8B-B14F-4D97-AF65-F5344CB8AC3E}">
        <p14:creationId xmlns:p14="http://schemas.microsoft.com/office/powerpoint/2010/main" val="332462003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11B08C-BE96-DB75-4271-12C065B2FE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CAECF2-447A-4712-1661-7191D4641127}"/>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46519D90-8B51-C85E-1022-77BA10C6426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0B152C5-1349-C7EF-3D54-ED20CA6E3590}"/>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104</a:t>
            </a:fld>
            <a:endParaRPr lang="en-US">
              <a:solidFill>
                <a:prstClr val="black"/>
              </a:solidFill>
              <a:latin typeface="Calibri" panose="020F0502020204030204"/>
            </a:endParaRPr>
          </a:p>
        </p:txBody>
      </p:sp>
    </p:spTree>
    <p:extLst>
      <p:ext uri="{BB962C8B-B14F-4D97-AF65-F5344CB8AC3E}">
        <p14:creationId xmlns:p14="http://schemas.microsoft.com/office/powerpoint/2010/main" val="43377021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106</a:t>
            </a:fld>
            <a:endParaRPr lang="en-US">
              <a:solidFill>
                <a:prstClr val="black"/>
              </a:solidFill>
              <a:latin typeface="Calibri" panose="020F0502020204030204"/>
            </a:endParaRPr>
          </a:p>
        </p:txBody>
      </p:sp>
    </p:spTree>
    <p:extLst>
      <p:ext uri="{BB962C8B-B14F-4D97-AF65-F5344CB8AC3E}">
        <p14:creationId xmlns:p14="http://schemas.microsoft.com/office/powerpoint/2010/main" val="14352932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ADDC57-BCE3-4AFD-87CF-27044EDE95C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74CCE0F-5070-0882-B6AF-40C6934CCE50}"/>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E985AF6E-BFDA-3BB0-6931-34543ABBC0D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D4B1348-644A-33C2-87EA-791EB89CEED1}"/>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109</a:t>
            </a:fld>
            <a:endParaRPr lang="en-US">
              <a:solidFill>
                <a:prstClr val="black"/>
              </a:solidFill>
              <a:latin typeface="Calibri" panose="020F0502020204030204"/>
            </a:endParaRPr>
          </a:p>
        </p:txBody>
      </p:sp>
    </p:spTree>
    <p:extLst>
      <p:ext uri="{BB962C8B-B14F-4D97-AF65-F5344CB8AC3E}">
        <p14:creationId xmlns:p14="http://schemas.microsoft.com/office/powerpoint/2010/main" val="30294537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CFE893-237D-919D-4C49-331F51C307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42D97D-81ED-16E2-588D-15134DC52D65}"/>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E5E67319-CEDB-4CF0-7D35-01740CAAF4A8}"/>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065AD6A-7BED-31FB-78AE-125EF2E2AA60}"/>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110</a:t>
            </a:fld>
            <a:endParaRPr lang="en-US">
              <a:solidFill>
                <a:prstClr val="black"/>
              </a:solidFill>
              <a:latin typeface="Calibri" panose="020F0502020204030204"/>
            </a:endParaRPr>
          </a:p>
        </p:txBody>
      </p:sp>
    </p:spTree>
    <p:extLst>
      <p:ext uri="{BB962C8B-B14F-4D97-AF65-F5344CB8AC3E}">
        <p14:creationId xmlns:p14="http://schemas.microsoft.com/office/powerpoint/2010/main" val="295074071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E16F7A-D906-672D-9F2F-86001A1C77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7A0E200-0FE6-2E7C-9510-EAF3D35A853B}"/>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CE925FC1-BDB7-EBA6-E116-85446A5A655A}"/>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1B7629A-1BE9-0D0F-027E-DAAACEAE9C0B}"/>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117</a:t>
            </a:fld>
            <a:endParaRPr lang="en-US">
              <a:solidFill>
                <a:prstClr val="black"/>
              </a:solidFill>
              <a:latin typeface="Calibri" panose="020F0502020204030204"/>
            </a:endParaRPr>
          </a:p>
        </p:txBody>
      </p:sp>
    </p:spTree>
    <p:extLst>
      <p:ext uri="{BB962C8B-B14F-4D97-AF65-F5344CB8AC3E}">
        <p14:creationId xmlns:p14="http://schemas.microsoft.com/office/powerpoint/2010/main" val="132787147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22325" y="390525"/>
            <a:ext cx="5459413" cy="3071813"/>
          </a:xfrm>
        </p:spPr>
        <p:txBody>
          <a:bodyPr/>
          <a:lstStyle/>
          <a:p>
            <a:endParaRPr lang="en-GB"/>
          </a:p>
        </p:txBody>
      </p:sp>
      <p:sp>
        <p:nvSpPr>
          <p:cNvPr id="3" name="Notes Placeholder 2"/>
          <p:cNvSpPr>
            <a:spLocks noGrp="1"/>
          </p:cNvSpPr>
          <p:nvPr>
            <p:ph type="body" idx="1"/>
          </p:nvPr>
        </p:nvSpPr>
        <p:spPr/>
        <p:txBody>
          <a:bodyPr/>
          <a:lstStyle/>
          <a:p>
            <a:endParaRPr lang="en-AE"/>
          </a:p>
        </p:txBody>
      </p:sp>
      <p:sp>
        <p:nvSpPr>
          <p:cNvPr id="4" name="Slide Number Placeholder 3"/>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119</a:t>
            </a:fld>
            <a:endParaRPr lang="en-US">
              <a:solidFill>
                <a:prstClr val="black"/>
              </a:solidFill>
              <a:latin typeface="Calibri" panose="020F0502020204030204"/>
            </a:endParaRPr>
          </a:p>
        </p:txBody>
      </p:sp>
    </p:spTree>
    <p:extLst>
      <p:ext uri="{BB962C8B-B14F-4D97-AF65-F5344CB8AC3E}">
        <p14:creationId xmlns:p14="http://schemas.microsoft.com/office/powerpoint/2010/main" val="373583757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6A105C-FD38-4AF5-D329-E69BECE8B8C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6CD00C5-CF00-C8A7-4A50-E9C3C5C50B6D}"/>
              </a:ext>
            </a:extLst>
          </p:cNvPr>
          <p:cNvSpPr>
            <a:spLocks noGrp="1" noRot="1" noChangeAspect="1"/>
          </p:cNvSpPr>
          <p:nvPr>
            <p:ph type="sldImg"/>
          </p:nvPr>
        </p:nvSpPr>
        <p:spPr>
          <a:xfrm>
            <a:off x="822325" y="390525"/>
            <a:ext cx="5459413" cy="3071813"/>
          </a:xfrm>
        </p:spPr>
        <p:txBody>
          <a:bodyPr/>
          <a:lstStyle/>
          <a:p>
            <a:endParaRPr lang="en-GB"/>
          </a:p>
        </p:txBody>
      </p:sp>
      <p:sp>
        <p:nvSpPr>
          <p:cNvPr id="3" name="Notes Placeholder 2">
            <a:extLst>
              <a:ext uri="{FF2B5EF4-FFF2-40B4-BE49-F238E27FC236}">
                <a16:creationId xmlns:a16="http://schemas.microsoft.com/office/drawing/2014/main" id="{AC7523A6-5FC4-13B3-C888-FED2BC12D83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803082E7-5C06-1D03-158E-381A107B0158}"/>
              </a:ext>
            </a:extLst>
          </p:cNvPr>
          <p:cNvSpPr>
            <a:spLocks noGrp="1"/>
          </p:cNvSpPr>
          <p:nvPr>
            <p:ph type="sldNum" sz="quarter" idx="5"/>
          </p:nvPr>
        </p:nvSpPr>
        <p:spPr/>
        <p:txBody>
          <a:bodyPr/>
          <a:lstStyle/>
          <a:p>
            <a:pPr defTabSz="247679">
              <a:defRPr/>
            </a:pPr>
            <a:fld id="{743F7EE4-7D84-4D77-B4B2-0C966043B366}" type="slidenum">
              <a:rPr lang="en-US">
                <a:solidFill>
                  <a:prstClr val="black"/>
                </a:solidFill>
                <a:latin typeface="Calibri" panose="020F0502020204030204"/>
              </a:rPr>
              <a:pPr defTabSz="247679">
                <a:defRPr/>
              </a:pPr>
              <a:t>120</a:t>
            </a:fld>
            <a:endParaRPr lang="en-US">
              <a:solidFill>
                <a:prstClr val="black"/>
              </a:solidFill>
              <a:latin typeface="Calibri" panose="020F0502020204030204"/>
            </a:endParaRPr>
          </a:p>
        </p:txBody>
      </p:sp>
    </p:spTree>
    <p:extLst>
      <p:ext uri="{BB962C8B-B14F-4D97-AF65-F5344CB8AC3E}">
        <p14:creationId xmlns:p14="http://schemas.microsoft.com/office/powerpoint/2010/main" val="392135618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2.sv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 Id="rId4" Type="http://schemas.openxmlformats.org/officeDocument/2006/relationships/image" Target="../media/image2.sv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 Id="rId4" Type="http://schemas.openxmlformats.org/officeDocument/2006/relationships/image" Target="../media/image8.png"/></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Master" Target="../slideMasters/slideMaster1.xml"/><Relationship Id="rId1" Type="http://schemas.openxmlformats.org/officeDocument/2006/relationships/tags" Target="../tags/tag1.xml"/><Relationship Id="rId5" Type="http://schemas.openxmlformats.org/officeDocument/2006/relationships/image" Target="../media/image6.svg"/><Relationship Id="rId4" Type="http://schemas.openxmlformats.org/officeDocument/2006/relationships/image" Target="../media/image5.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11.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11.png"/></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2.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Master" Target="../slideMasters/slideMaster1.xml"/><Relationship Id="rId1" Type="http://schemas.openxmlformats.org/officeDocument/2006/relationships/tags" Target="../tags/tag2.xml"/><Relationship Id="rId4" Type="http://schemas.openxmlformats.org/officeDocument/2006/relationships/image" Target="../media/image14.sv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1.xml"/><Relationship Id="rId4" Type="http://schemas.openxmlformats.org/officeDocument/2006/relationships/image" Target="../media/image8.png"/></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png"/><Relationship Id="rId1" Type="http://schemas.openxmlformats.org/officeDocument/2006/relationships/slideMaster" Target="../slideMasters/slideMaster1.xml"/><Relationship Id="rId4" Type="http://schemas.openxmlformats.org/officeDocument/2006/relationships/image" Target="../media/image15.svg"/></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15.svg"/></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15.svg"/></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15.svg"/></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15.svg"/></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2.png"/><Relationship Id="rId1" Type="http://schemas.openxmlformats.org/officeDocument/2006/relationships/slideMaster" Target="../slideMasters/slideMaster1.xml"/><Relationship Id="rId4" Type="http://schemas.openxmlformats.org/officeDocument/2006/relationships/image" Target="../media/image15.svg"/></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1.xml"/><Relationship Id="rId4" Type="http://schemas.openxmlformats.org/officeDocument/2006/relationships/image" Target="../media/image15.sv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2.svg"/></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0.png"/><Relationship Id="rId1" Type="http://schemas.openxmlformats.org/officeDocument/2006/relationships/slideMaster" Target="../slideMasters/slideMaster1.xml"/><Relationship Id="rId4" Type="http://schemas.openxmlformats.org/officeDocument/2006/relationships/image" Target="../media/image6.sv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2.xml"/><Relationship Id="rId4" Type="http://schemas.openxmlformats.org/officeDocument/2006/relationships/image" Target="../media/image6.svg"/></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2.png"/><Relationship Id="rId1" Type="http://schemas.openxmlformats.org/officeDocument/2006/relationships/slideMaster" Target="../slideMasters/slideMaster2.xml"/><Relationship Id="rId4" Type="http://schemas.openxmlformats.org/officeDocument/2006/relationships/image" Target="../media/image23.svg"/></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4.png"/><Relationship Id="rId1" Type="http://schemas.openxmlformats.org/officeDocument/2006/relationships/slideMaster" Target="../slideMasters/slideMaster2.xml"/><Relationship Id="rId4" Type="http://schemas.openxmlformats.org/officeDocument/2006/relationships/image" Target="../media/image6.svg"/></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5.png"/><Relationship Id="rId1" Type="http://schemas.openxmlformats.org/officeDocument/2006/relationships/slideMaster" Target="../slideMasters/slideMaster2.xml"/><Relationship Id="rId4" Type="http://schemas.openxmlformats.org/officeDocument/2006/relationships/image" Target="../media/image23.svg"/></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23.svg"/><Relationship Id="rId2" Type="http://schemas.openxmlformats.org/officeDocument/2006/relationships/image" Target="../media/image5.png"/><Relationship Id="rId1" Type="http://schemas.openxmlformats.org/officeDocument/2006/relationships/slideMaster" Target="../slideMasters/slideMaster2.xml"/><Relationship Id="rId4" Type="http://schemas.openxmlformats.org/officeDocument/2006/relationships/image" Target="../media/image26.png"/></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2.xml"/><Relationship Id="rId4" Type="http://schemas.openxmlformats.org/officeDocument/2006/relationships/image" Target="../media/image27.png"/></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2.xml"/><Relationship Id="rId4" Type="http://schemas.openxmlformats.org/officeDocument/2006/relationships/image" Target="../media/image6.sv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2.xml"/><Relationship Id="rId4" Type="http://schemas.openxmlformats.org/officeDocument/2006/relationships/image" Target="../media/image6.svg"/></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2.xml"/><Relationship Id="rId4" Type="http://schemas.openxmlformats.org/officeDocument/2006/relationships/image" Target="../media/image6.svg"/></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2.xml"/><Relationship Id="rId4" Type="http://schemas.openxmlformats.org/officeDocument/2006/relationships/image" Target="../media/image6.svg"/></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2.xml"/><Relationship Id="rId4" Type="http://schemas.openxmlformats.org/officeDocument/2006/relationships/image" Target="../media/image6.svg"/></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0.png"/><Relationship Id="rId1" Type="http://schemas.openxmlformats.org/officeDocument/2006/relationships/slideMaster" Target="../slideMasters/slideMaster2.xml"/><Relationship Id="rId4" Type="http://schemas.openxmlformats.org/officeDocument/2006/relationships/image" Target="../media/image6.sv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4.xml"/><Relationship Id="rId4" Type="http://schemas.openxmlformats.org/officeDocument/2006/relationships/image" Target="../media/image2.svg"/></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4.xml"/><Relationship Id="rId4" Type="http://schemas.openxmlformats.org/officeDocument/2006/relationships/image" Target="../media/image2.svg"/></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4.xml"/><Relationship Id="rId4" Type="http://schemas.openxmlformats.org/officeDocument/2006/relationships/image" Target="../media/image6.svg"/></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4.xml"/><Relationship Id="rId4" Type="http://schemas.openxmlformats.org/officeDocument/2006/relationships/image" Target="../media/image8.png"/></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png"/><Relationship Id="rId1" Type="http://schemas.openxmlformats.org/officeDocument/2006/relationships/slideMaster" Target="../slideMasters/slideMaster4.xml"/><Relationship Id="rId4" Type="http://schemas.openxmlformats.org/officeDocument/2006/relationships/image" Target="../media/image15.svg"/></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4.xml"/><Relationship Id="rId4" Type="http://schemas.openxmlformats.org/officeDocument/2006/relationships/image" Target="../media/image15.svg"/></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 Id="rId4" Type="http://schemas.openxmlformats.org/officeDocument/2006/relationships/image" Target="../media/image10.png"/></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 Id="rId4" Type="http://schemas.openxmlformats.org/officeDocument/2006/relationships/image" Target="../media/image10.png"/></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 Id="rId4" Type="http://schemas.openxmlformats.org/officeDocument/2006/relationships/image" Target="../media/image11.png"/></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 Id="rId4" Type="http://schemas.openxmlformats.org/officeDocument/2006/relationships/image" Target="../media/image11.png"/></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4.xml"/><Relationship Id="rId4" Type="http://schemas.openxmlformats.org/officeDocument/2006/relationships/image" Target="../media/image15.svg"/></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4.xml"/><Relationship Id="rId4" Type="http://schemas.openxmlformats.org/officeDocument/2006/relationships/image" Target="../media/image15.svg"/></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4.xml"/><Relationship Id="rId4" Type="http://schemas.openxmlformats.org/officeDocument/2006/relationships/image" Target="../media/image15.svg"/></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2.png"/><Relationship Id="rId1" Type="http://schemas.openxmlformats.org/officeDocument/2006/relationships/slideMaster" Target="../slideMasters/slideMaster4.xml"/><Relationship Id="rId4" Type="http://schemas.openxmlformats.org/officeDocument/2006/relationships/image" Target="../media/image15.svg"/></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5.xml"/><Relationship Id="rId4" Type="http://schemas.openxmlformats.org/officeDocument/2006/relationships/image" Target="../media/image2.svg"/></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5.xml"/><Relationship Id="rId4" Type="http://schemas.openxmlformats.org/officeDocument/2006/relationships/image" Target="../media/image2.svg"/></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5.xml"/><Relationship Id="rId4" Type="http://schemas.openxmlformats.org/officeDocument/2006/relationships/image" Target="../media/image15.svg"/></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5.xml"/><Relationship Id="rId4" Type="http://schemas.openxmlformats.org/officeDocument/2006/relationships/image" Target="../media/image8.png"/></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png"/><Relationship Id="rId1" Type="http://schemas.openxmlformats.org/officeDocument/2006/relationships/slideMaster" Target="../slideMasters/slideMaster5.xml"/><Relationship Id="rId4" Type="http://schemas.openxmlformats.org/officeDocument/2006/relationships/image" Target="../media/image15.svg"/></Relationships>
</file>

<file path=ppt/slideLayouts/_rels/slideLayout13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5.xml"/><Relationship Id="rId4" Type="http://schemas.openxmlformats.org/officeDocument/2006/relationships/image" Target="../media/image15.svg"/></Relationships>
</file>

<file path=ppt/slideLayouts/_rels/slideLayout13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 Id="rId4" Type="http://schemas.openxmlformats.org/officeDocument/2006/relationships/image" Target="../media/image10.png"/></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 Id="rId4" Type="http://schemas.openxmlformats.org/officeDocument/2006/relationships/image" Target="../media/image10.png"/></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 Id="rId4" Type="http://schemas.openxmlformats.org/officeDocument/2006/relationships/image" Target="../media/image11.png"/></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 Id="rId4" Type="http://schemas.openxmlformats.org/officeDocument/2006/relationships/image" Target="../media/image11.png"/></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5.xml"/><Relationship Id="rId4" Type="http://schemas.openxmlformats.org/officeDocument/2006/relationships/image" Target="../media/image15.svg"/></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5.xml"/><Relationship Id="rId4" Type="http://schemas.openxmlformats.org/officeDocument/2006/relationships/image" Target="../media/image15.svg"/></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5.xml"/><Relationship Id="rId4" Type="http://schemas.openxmlformats.org/officeDocument/2006/relationships/image" Target="../media/image15.svg"/></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2.png"/><Relationship Id="rId1" Type="http://schemas.openxmlformats.org/officeDocument/2006/relationships/slideMaster" Target="../slideMasters/slideMaster5.xml"/><Relationship Id="rId4" Type="http://schemas.openxmlformats.org/officeDocument/2006/relationships/image" Target="../media/image15.svg"/></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Master" Target="../slideMasters/slideMaster5.xml"/><Relationship Id="rId1" Type="http://schemas.openxmlformats.org/officeDocument/2006/relationships/tags" Target="../tags/tag3.xml"/><Relationship Id="rId4" Type="http://schemas.openxmlformats.org/officeDocument/2006/relationships/image" Target="../media/image30.svg"/></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6.xml"/><Relationship Id="rId4" Type="http://schemas.openxmlformats.org/officeDocument/2006/relationships/image" Target="../media/image15.svg"/></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2.png"/><Relationship Id="rId1" Type="http://schemas.openxmlformats.org/officeDocument/2006/relationships/slideMaster" Target="../slideMasters/slideMaster6.xml"/><Relationship Id="rId4" Type="http://schemas.openxmlformats.org/officeDocument/2006/relationships/image" Target="../media/image31.svg"/></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4.png"/><Relationship Id="rId1" Type="http://schemas.openxmlformats.org/officeDocument/2006/relationships/slideMaster" Target="../slideMasters/slideMaster6.xml"/><Relationship Id="rId4" Type="http://schemas.openxmlformats.org/officeDocument/2006/relationships/image" Target="../media/image15.svg"/></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5.png"/><Relationship Id="rId1" Type="http://schemas.openxmlformats.org/officeDocument/2006/relationships/slideMaster" Target="../slideMasters/slideMaster6.xml"/><Relationship Id="rId4" Type="http://schemas.openxmlformats.org/officeDocument/2006/relationships/image" Target="../media/image31.svg"/></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31.svg"/><Relationship Id="rId2" Type="http://schemas.openxmlformats.org/officeDocument/2006/relationships/image" Target="../media/image5.png"/><Relationship Id="rId1" Type="http://schemas.openxmlformats.org/officeDocument/2006/relationships/slideMaster" Target="../slideMasters/slideMaster6.xml"/><Relationship Id="rId4" Type="http://schemas.openxmlformats.org/officeDocument/2006/relationships/image" Target="../media/image26.png"/></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6.xml"/><Relationship Id="rId4" Type="http://schemas.openxmlformats.org/officeDocument/2006/relationships/image" Target="../media/image27.png"/></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6.xml"/><Relationship Id="rId4" Type="http://schemas.openxmlformats.org/officeDocument/2006/relationships/image" Target="../media/image6.svg"/></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6.xml"/><Relationship Id="rId4" Type="http://schemas.openxmlformats.org/officeDocument/2006/relationships/image" Target="../media/image15.svg"/></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6.xml"/><Relationship Id="rId4" Type="http://schemas.openxmlformats.org/officeDocument/2006/relationships/image" Target="../media/image15.svg"/></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6.xml"/><Relationship Id="rId4" Type="http://schemas.openxmlformats.org/officeDocument/2006/relationships/image" Target="../media/image15.svg"/></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6.xml"/><Relationship Id="rId4" Type="http://schemas.openxmlformats.org/officeDocument/2006/relationships/image" Target="../media/image15.svg"/></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0.png"/><Relationship Id="rId1" Type="http://schemas.openxmlformats.org/officeDocument/2006/relationships/slideMaster" Target="../slideMasters/slideMaster6.xml"/><Relationship Id="rId4" Type="http://schemas.openxmlformats.org/officeDocument/2006/relationships/image" Target="../media/image15.svg"/></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7.xml"/><Relationship Id="rId4" Type="http://schemas.openxmlformats.org/officeDocument/2006/relationships/image" Target="../media/image2.svg"/></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7.xml"/><Relationship Id="rId4" Type="http://schemas.openxmlformats.org/officeDocument/2006/relationships/image" Target="../media/image2.svg"/></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7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7.xml"/><Relationship Id="rId4" Type="http://schemas.openxmlformats.org/officeDocument/2006/relationships/image" Target="../media/image15.svg"/></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7.xml"/><Relationship Id="rId4" Type="http://schemas.openxmlformats.org/officeDocument/2006/relationships/image" Target="../media/image8.png"/></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png"/><Relationship Id="rId1" Type="http://schemas.openxmlformats.org/officeDocument/2006/relationships/slideMaster" Target="../slideMasters/slideMaster7.xml"/><Relationship Id="rId4" Type="http://schemas.openxmlformats.org/officeDocument/2006/relationships/image" Target="../media/image15.svg"/></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7.xml"/><Relationship Id="rId4" Type="http://schemas.openxmlformats.org/officeDocument/2006/relationships/image" Target="../media/image15.svg"/></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10.png"/></Relationships>
</file>

<file path=ppt/slideLayouts/_rels/slideLayout17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10.png"/></Relationships>
</file>

<file path=ppt/slideLayouts/_rels/slideLayout18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11.png"/></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11.png"/></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7.xml"/><Relationship Id="rId4" Type="http://schemas.openxmlformats.org/officeDocument/2006/relationships/image" Target="../media/image15.svg"/></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7.xml"/><Relationship Id="rId4" Type="http://schemas.openxmlformats.org/officeDocument/2006/relationships/image" Target="../media/image15.svg"/></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7.xml"/><Relationship Id="rId4" Type="http://schemas.openxmlformats.org/officeDocument/2006/relationships/image" Target="../media/image15.svg"/></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2.png"/><Relationship Id="rId1" Type="http://schemas.openxmlformats.org/officeDocument/2006/relationships/slideMaster" Target="../slideMasters/slideMaster7.xml"/><Relationship Id="rId4" Type="http://schemas.openxmlformats.org/officeDocument/2006/relationships/image" Target="../media/image15.svg"/></Relationships>
</file>

<file path=ppt/slideLayouts/_rels/slideLayout18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0.png"/><Relationship Id="rId1" Type="http://schemas.openxmlformats.org/officeDocument/2006/relationships/slideMaster" Target="../slideMasters/slideMaster7.xml"/><Relationship Id="rId4" Type="http://schemas.openxmlformats.org/officeDocument/2006/relationships/image" Target="../media/image15.svg"/></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8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7.xml"/><Relationship Id="rId4" Type="http://schemas.openxmlformats.org/officeDocument/2006/relationships/image" Target="../media/image6.svg"/></Relationships>
</file>

<file path=ppt/slideLayouts/_rels/slideLayout18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8.xml"/><Relationship Id="rId4" Type="http://schemas.openxmlformats.org/officeDocument/2006/relationships/image" Target="../media/image15.svg"/></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2.png"/><Relationship Id="rId1" Type="http://schemas.openxmlformats.org/officeDocument/2006/relationships/slideMaster" Target="../slideMasters/slideMaster8.xml"/><Relationship Id="rId4" Type="http://schemas.openxmlformats.org/officeDocument/2006/relationships/image" Target="../media/image31.svg"/></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4.png"/><Relationship Id="rId1" Type="http://schemas.openxmlformats.org/officeDocument/2006/relationships/slideMaster" Target="../slideMasters/slideMaster8.xml"/><Relationship Id="rId4" Type="http://schemas.openxmlformats.org/officeDocument/2006/relationships/image" Target="../media/image15.svg"/></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5.png"/><Relationship Id="rId1" Type="http://schemas.openxmlformats.org/officeDocument/2006/relationships/slideMaster" Target="../slideMasters/slideMaster8.xml"/><Relationship Id="rId4" Type="http://schemas.openxmlformats.org/officeDocument/2006/relationships/image" Target="../media/image23.svg"/></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31.svg"/><Relationship Id="rId2" Type="http://schemas.openxmlformats.org/officeDocument/2006/relationships/image" Target="../media/image5.png"/><Relationship Id="rId1" Type="http://schemas.openxmlformats.org/officeDocument/2006/relationships/slideMaster" Target="../slideMasters/slideMaster8.xml"/><Relationship Id="rId4" Type="http://schemas.openxmlformats.org/officeDocument/2006/relationships/image" Target="../media/image26.png"/></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5.png"/><Relationship Id="rId1" Type="http://schemas.openxmlformats.org/officeDocument/2006/relationships/slideMaster" Target="../slideMasters/slideMaster8.xml"/><Relationship Id="rId4" Type="http://schemas.openxmlformats.org/officeDocument/2006/relationships/image" Target="../media/image27.png"/></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8.xml"/><Relationship Id="rId4" Type="http://schemas.openxmlformats.org/officeDocument/2006/relationships/image" Target="../media/image6.svg"/></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8.xml"/><Relationship Id="rId4" Type="http://schemas.openxmlformats.org/officeDocument/2006/relationships/image" Target="../media/image15.svg"/></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8.xml"/><Relationship Id="rId4" Type="http://schemas.openxmlformats.org/officeDocument/2006/relationships/image" Target="../media/image15.svg"/></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8.xml"/><Relationship Id="rId4" Type="http://schemas.openxmlformats.org/officeDocument/2006/relationships/image" Target="../media/image15.svg"/></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8.xml"/><Relationship Id="rId4" Type="http://schemas.openxmlformats.org/officeDocument/2006/relationships/image" Target="../media/image15.svg"/></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0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0.png"/><Relationship Id="rId1" Type="http://schemas.openxmlformats.org/officeDocument/2006/relationships/slideMaster" Target="../slideMasters/slideMaster8.xml"/><Relationship Id="rId4" Type="http://schemas.openxmlformats.org/officeDocument/2006/relationships/image" Target="../media/image15.svg"/></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8.xml"/><Relationship Id="rId4" Type="http://schemas.openxmlformats.org/officeDocument/2006/relationships/image" Target="../media/image6.svg"/></Relationships>
</file>

<file path=ppt/slideLayouts/_rels/slideLayout20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8.xml"/><Relationship Id="rId4" Type="http://schemas.openxmlformats.org/officeDocument/2006/relationships/image" Target="../media/image2.svg"/></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53.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7.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4.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299.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08.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27.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Master" Target="../slideMasters/slideMaster1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2.xml"/><Relationship Id="rId4" Type="http://schemas.openxmlformats.org/officeDocument/2006/relationships/image" Target="../media/image2.svg"/></Relationships>
</file>

<file path=ppt/slideLayouts/_rels/slideLayout3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2.xml"/><Relationship Id="rId4" Type="http://schemas.openxmlformats.org/officeDocument/2006/relationships/image" Target="../media/image2.svg"/></Relationships>
</file>

<file path=ppt/slideLayouts/_rels/slideLayout3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2.xml"/><Relationship Id="rId4" Type="http://schemas.openxmlformats.org/officeDocument/2006/relationships/image" Target="../media/image2.svg"/></Relationships>
</file>

<file path=ppt/slideLayouts/_rels/slideLayout3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2.xml"/><Relationship Id="rId4" Type="http://schemas.openxmlformats.org/officeDocument/2006/relationships/image" Target="../media/image2.svg"/></Relationships>
</file>

<file path=ppt/slideLayouts/_rels/slideLayout33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4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34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34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34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34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345.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2.xml"/></Relationships>
</file>

<file path=ppt/slideLayouts/_rels/slideLayout34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47.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34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4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5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 Id="rId4" Type="http://schemas.openxmlformats.org/officeDocument/2006/relationships/image" Target="../media/image10.png"/></Relationships>
</file>

<file path=ppt/slideLayouts/_rels/slideLayout35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 Id="rId4" Type="http://schemas.openxmlformats.org/officeDocument/2006/relationships/image" Target="../media/image10.png"/></Relationships>
</file>

<file path=ppt/slideLayouts/_rels/slideLayout35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 Id="rId4" Type="http://schemas.openxmlformats.org/officeDocument/2006/relationships/image" Target="../media/image11.png"/></Relationships>
</file>

<file path=ppt/slideLayouts/_rels/slideLayout35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2.xml"/><Relationship Id="rId4" Type="http://schemas.openxmlformats.org/officeDocument/2006/relationships/image" Target="../media/image11.png"/></Relationships>
</file>

<file path=ppt/slideLayouts/_rels/slideLayout35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5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5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5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2.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5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8.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5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12.xml"/><Relationship Id="rId4" Type="http://schemas.openxmlformats.org/officeDocument/2006/relationships/image" Target="../media/image6.svg"/></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3.xml"/><Relationship Id="rId4" Type="http://schemas.openxmlformats.org/officeDocument/2006/relationships/image" Target="../media/image2.svg"/></Relationships>
</file>

<file path=ppt/slideLayouts/_rels/slideLayout3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3.xml"/><Relationship Id="rId4" Type="http://schemas.openxmlformats.org/officeDocument/2006/relationships/image" Target="../media/image2.svg"/></Relationships>
</file>

<file path=ppt/slideLayouts/_rels/slideLayout36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37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37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37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37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375.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3.xml"/></Relationships>
</file>

<file path=ppt/slideLayouts/_rels/slideLayout37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png"/><Relationship Id="rId1" Type="http://schemas.openxmlformats.org/officeDocument/2006/relationships/slideMaster" Target="../slideMasters/slideMaster13.xml"/><Relationship Id="rId4" Type="http://schemas.openxmlformats.org/officeDocument/2006/relationships/image" Target="../media/image6.svg"/></Relationships>
</file>

<file path=ppt/slideLayouts/_rels/slideLayout377.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3.xml"/><Relationship Id="rId4" Type="http://schemas.openxmlformats.org/officeDocument/2006/relationships/image" Target="../media/image8.png"/></Relationships>
</file>

<file path=ppt/slideLayouts/_rels/slideLayout37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png"/><Relationship Id="rId1" Type="http://schemas.openxmlformats.org/officeDocument/2006/relationships/slideMaster" Target="../slideMasters/slideMaster13.xml"/><Relationship Id="rId4" Type="http://schemas.openxmlformats.org/officeDocument/2006/relationships/image" Target="../media/image6.svg"/></Relationships>
</file>

<file path=ppt/slideLayouts/_rels/slideLayout37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3.xml"/><Relationship Id="rId4" Type="http://schemas.openxmlformats.org/officeDocument/2006/relationships/image" Target="../media/image6.svg"/></Relationships>
</file>

<file path=ppt/slideLayouts/_rels/slideLayout38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 Id="rId4" Type="http://schemas.openxmlformats.org/officeDocument/2006/relationships/image" Target="../media/image10.png"/></Relationships>
</file>

<file path=ppt/slideLayouts/_rels/slideLayout38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 Id="rId4" Type="http://schemas.openxmlformats.org/officeDocument/2006/relationships/image" Target="../media/image10.png"/></Relationships>
</file>

<file path=ppt/slideLayouts/_rels/slideLayout38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 Id="rId4" Type="http://schemas.openxmlformats.org/officeDocument/2006/relationships/image" Target="../media/image11.png"/></Relationships>
</file>

<file path=ppt/slideLayouts/_rels/slideLayout38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3.xml"/><Relationship Id="rId4" Type="http://schemas.openxmlformats.org/officeDocument/2006/relationships/image" Target="../media/image11.png"/></Relationships>
</file>

<file path=ppt/slideLayouts/_rels/slideLayout38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3.xml"/><Relationship Id="rId4" Type="http://schemas.openxmlformats.org/officeDocument/2006/relationships/image" Target="../media/image6.svg"/></Relationships>
</file>

<file path=ppt/slideLayouts/_rels/slideLayout38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3.xml"/><Relationship Id="rId4" Type="http://schemas.openxmlformats.org/officeDocument/2006/relationships/image" Target="../media/image6.svg"/></Relationships>
</file>

<file path=ppt/slideLayouts/_rels/slideLayout38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Master" Target="../slideMasters/slideMaster13.xml"/><Relationship Id="rId4" Type="http://schemas.openxmlformats.org/officeDocument/2006/relationships/image" Target="../media/image6.svg"/></Relationships>
</file>

<file path=ppt/slideLayouts/_rels/slideLayout38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2.png"/><Relationship Id="rId1" Type="http://schemas.openxmlformats.org/officeDocument/2006/relationships/slideMaster" Target="../slideMasters/slideMaster13.xml"/><Relationship Id="rId4" Type="http://schemas.openxmlformats.org/officeDocument/2006/relationships/image" Target="../media/image6.svg"/></Relationships>
</file>

<file path=ppt/slideLayouts/_rels/slideLayout38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Master" Target="../slideMasters/slideMaster13.xml"/><Relationship Id="rId1" Type="http://schemas.openxmlformats.org/officeDocument/2006/relationships/tags" Target="../tags/tag5.xml"/><Relationship Id="rId4" Type="http://schemas.openxmlformats.org/officeDocument/2006/relationships/image" Target="../media/image14.svg"/></Relationships>
</file>

<file path=ppt/slideLayouts/_rels/slideLayout38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13.xml"/><Relationship Id="rId1" Type="http://schemas.openxmlformats.org/officeDocument/2006/relationships/tags" Target="../tags/tag6.xml"/><Relationship Id="rId4" Type="http://schemas.openxmlformats.org/officeDocument/2006/relationships/image" Target="../media/image6.sv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3724767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lvl1pPr>
              <a:defRPr>
                <a:solidFill>
                  <a:schemeClr val="tx1"/>
                </a:solidFill>
              </a:defRPr>
            </a:lvl1p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Graphic 2">
            <a:extLst>
              <a:ext uri="{FF2B5EF4-FFF2-40B4-BE49-F238E27FC236}">
                <a16:creationId xmlns:a16="http://schemas.microsoft.com/office/drawing/2014/main" id="{00D83E88-A286-BF1F-719B-20F1C44734C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cxnSp>
        <p:nvCxnSpPr>
          <p:cNvPr id="2" name="Straight Connector 1">
            <a:extLst>
              <a:ext uri="{FF2B5EF4-FFF2-40B4-BE49-F238E27FC236}">
                <a16:creationId xmlns:a16="http://schemas.microsoft.com/office/drawing/2014/main" id="{9720D620-A98D-8E56-CDB8-0DC6E5725E42}"/>
              </a:ext>
            </a:extLst>
          </p:cNvPr>
          <p:cNvCxnSpPr>
            <a:cxnSpLocks/>
          </p:cNvCxnSpPr>
          <p:nvPr userDrawn="1"/>
        </p:nvCxnSpPr>
        <p:spPr>
          <a:xfrm flipV="1">
            <a:off x="0" y="2151390"/>
            <a:ext cx="24384000" cy="147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65536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ingle column Simple - with subhea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3739563"/>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674407F1-A2F8-A84F-8E52-03F123F4BEF5}"/>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C88CD766-7446-9844-8381-BB1A5421A8C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
        <p:nvSpPr>
          <p:cNvPr id="3" name="Text Placeholder 2">
            <a:extLst>
              <a:ext uri="{FF2B5EF4-FFF2-40B4-BE49-F238E27FC236}">
                <a16:creationId xmlns:a16="http://schemas.microsoft.com/office/drawing/2014/main" id="{3D5AAC42-935B-0E18-6CAC-AB1A022B59F1}"/>
              </a:ext>
            </a:extLst>
          </p:cNvPr>
          <p:cNvSpPr>
            <a:spLocks noGrp="1"/>
          </p:cNvSpPr>
          <p:nvPr>
            <p:ph type="body" sz="quarter" idx="13" hasCustomPrompt="1"/>
          </p:nvPr>
        </p:nvSpPr>
        <p:spPr>
          <a:xfrm>
            <a:off x="341756" y="2781300"/>
            <a:ext cx="22936200" cy="584776"/>
          </a:xfrm>
        </p:spPr>
        <p:txBody>
          <a:bodyPr/>
          <a:lstStyle>
            <a:lvl1pPr marL="0" indent="0">
              <a:buNone/>
              <a:defRPr sz="3800" b="1"/>
            </a:lvl1pPr>
            <a:lvl2pPr marL="566736" indent="0">
              <a:buNone/>
              <a:defRPr/>
            </a:lvl2pPr>
          </a:lstStyle>
          <a:p>
            <a:r>
              <a:rPr lang="en-US"/>
              <a:t>Subtitle or callout if needed, all titles and subtitles are sentence case </a:t>
            </a:r>
          </a:p>
        </p:txBody>
      </p:sp>
    </p:spTree>
    <p:extLst>
      <p:ext uri="{BB962C8B-B14F-4D97-AF65-F5344CB8AC3E}">
        <p14:creationId xmlns:p14="http://schemas.microsoft.com/office/powerpoint/2010/main" val="221079172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1" y="-4805"/>
            <a:ext cx="25334686" cy="2199366"/>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99430995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Title Only_2 lin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F274A9-9392-1E6D-7D16-896285565278}"/>
              </a:ext>
            </a:extLst>
          </p:cNvPr>
          <p:cNvSpPr/>
          <p:nvPr userDrawn="1"/>
        </p:nvSpPr>
        <p:spPr>
          <a:xfrm>
            <a:off x="0" y="0"/>
            <a:ext cx="24384000" cy="308008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4" name="Picture 3">
            <a:extLst>
              <a:ext uri="{FF2B5EF4-FFF2-40B4-BE49-F238E27FC236}">
                <a16:creationId xmlns:a16="http://schemas.microsoft.com/office/drawing/2014/main" id="{4F67146D-3C58-F6B2-201A-B16919DBC4A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8203113" y="-16457"/>
            <a:ext cx="17160602" cy="3096542"/>
          </a:xfrm>
          <a:prstGeom prst="rect">
            <a:avLst/>
          </a:prstGeom>
        </p:spPr>
      </p:pic>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2855507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39510180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1716024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10728346" cy="968086"/>
          </a:xfrm>
        </p:spPr>
        <p:txBody>
          <a:bodyPr wrap="square">
            <a:spAutoFit/>
          </a:bodyPr>
          <a:lstStyle/>
          <a:p>
            <a:r>
              <a:rPr lang="en-US"/>
              <a:t>Click to edit Master title style</a:t>
            </a:r>
          </a:p>
        </p:txBody>
      </p:sp>
      <p:sp>
        <p:nvSpPr>
          <p:cNvPr id="8" name="Footer Placeholder 4">
            <a:extLst>
              <a:ext uri="{FF2B5EF4-FFF2-40B4-BE49-F238E27FC236}">
                <a16:creationId xmlns:a16="http://schemas.microsoft.com/office/drawing/2014/main" id="{7D4F1EC5-6BB8-4049-A825-325656113ED2}"/>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E7854F2A-2BBB-9446-B185-6215C140A16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19125743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08EE2D0-C5F7-40AF-BD24-47EFB4DD9E34}"/>
              </a:ext>
            </a:extLst>
          </p:cNvPr>
          <p:cNvSpPr>
            <a:spLocks noGrp="1"/>
          </p:cNvSpPr>
          <p:nvPr>
            <p:ph idx="1"/>
          </p:nvPr>
        </p:nvSpPr>
        <p:spPr>
          <a:xfrm>
            <a:off x="16059154" y="2777165"/>
            <a:ext cx="7600948" cy="3488134"/>
          </a:xfrm>
          <a:prstGeom prst="rect">
            <a:avLst/>
          </a:prstGeom>
        </p:spPr>
        <p:txBody>
          <a:bodyPr vert="horz"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731520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0" y="2777164"/>
            <a:ext cx="5468112" cy="2339102"/>
          </a:xfrm>
        </p:spPr>
        <p:txBody>
          <a:bodyPr vert="horz" lIns="0" tIns="0" rIns="0" bIns="0" rtlCol="0">
            <a:spAutoFit/>
          </a:bodyPr>
          <a:lstStyle>
            <a:lvl1pPr>
              <a:defRPr lang="en-US" sz="3800" dirty="0">
                <a:ln w="3175">
                  <a:noFill/>
                </a:ln>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spAutoFit/>
          </a:bodyPr>
          <a:lstStyle>
            <a:lvl1pPr>
              <a:defRPr/>
            </a:lvl1pPr>
          </a:lstStyle>
          <a:p>
            <a:r>
              <a:rPr lang="en-US"/>
              <a:t>Click to edit Master title style</a:t>
            </a:r>
          </a:p>
        </p:txBody>
      </p:sp>
      <p:sp>
        <p:nvSpPr>
          <p:cNvPr id="11" name="Footer Placeholder 4">
            <a:extLst>
              <a:ext uri="{FF2B5EF4-FFF2-40B4-BE49-F238E27FC236}">
                <a16:creationId xmlns:a16="http://schemas.microsoft.com/office/drawing/2014/main" id="{BD398495-5CA8-A54C-9A38-9431C227BC1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2" name="Slide Number Placeholder 5">
            <a:extLst>
              <a:ext uri="{FF2B5EF4-FFF2-40B4-BE49-F238E27FC236}">
                <a16:creationId xmlns:a16="http://schemas.microsoft.com/office/drawing/2014/main" id="{A111FE5C-B17D-C948-BFCC-6ED5E14CB16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0" name="Straight Connector 9">
            <a:extLst>
              <a:ext uri="{FF2B5EF4-FFF2-40B4-BE49-F238E27FC236}">
                <a16:creationId xmlns:a16="http://schemas.microsoft.com/office/drawing/2014/main" id="{A44C8227-D505-9341-8E5C-224832E8A51F}"/>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054935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454140" y="7086755"/>
            <a:ext cx="17183100" cy="553998"/>
          </a:xfrm>
        </p:spPr>
        <p:txBody>
          <a:bodyPr>
            <a:spAutoFit/>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a:xfrm>
            <a:off x="668995" y="537179"/>
            <a:ext cx="5466338" cy="968086"/>
          </a:xfrm>
        </p:spPr>
        <p:txBody>
          <a:bodyPr>
            <a:spAutoFit/>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8" name="Footer Placeholder 4">
            <a:extLst>
              <a:ext uri="{FF2B5EF4-FFF2-40B4-BE49-F238E27FC236}">
                <a16:creationId xmlns:a16="http://schemas.microsoft.com/office/drawing/2014/main" id="{6814554E-586D-8349-951F-737144ECEFF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AED0D651-E967-D846-AE30-12C061B6AD3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1" name="Straight Connector 10">
            <a:extLst>
              <a:ext uri="{FF2B5EF4-FFF2-40B4-BE49-F238E27FC236}">
                <a16:creationId xmlns:a16="http://schemas.microsoft.com/office/drawing/2014/main" id="{675D0394-D778-4C4A-B92A-6E09A7B88B9A}"/>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14921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a:xfrm>
            <a:off x="668995" y="537179"/>
            <a:ext cx="5466338" cy="968086"/>
          </a:xfrm>
        </p:spPr>
        <p:txBody>
          <a:bodyPr>
            <a:spAutoFit/>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8" name="Footer Placeholder 4">
            <a:extLst>
              <a:ext uri="{FF2B5EF4-FFF2-40B4-BE49-F238E27FC236}">
                <a16:creationId xmlns:a16="http://schemas.microsoft.com/office/drawing/2014/main" id="{D53B314B-9934-844F-8E14-6C502D2AE42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3CFD438D-CA4D-3A43-9B82-E14EC033B7C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45983684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1754326"/>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2017604"/>
          </a:xfrm>
        </p:spPr>
        <p:txBody>
          <a:bodyPr>
            <a:spAutoFit/>
          </a:bodyPr>
          <a:lstStyle>
            <a:lvl1pPr>
              <a:defRPr>
                <a:solidFill>
                  <a:schemeClr val="tx1"/>
                </a:solidFill>
              </a:defRPr>
            </a:lvl1pPr>
          </a:lstStyle>
          <a:p>
            <a:r>
              <a:rPr lang="en-US"/>
              <a:t>Click to edit Master title style</a:t>
            </a:r>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userDrawn="1"/>
        </p:nvCxnSpPr>
        <p:spPr>
          <a:xfrm>
            <a:off x="8382000" y="0"/>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 Placeholder 2">
            <a:extLst>
              <a:ext uri="{FF2B5EF4-FFF2-40B4-BE49-F238E27FC236}">
                <a16:creationId xmlns:a16="http://schemas.microsoft.com/office/drawing/2014/main" id="{9F9C88D5-EA56-4ED2-8CB6-44F2BBA4023F}"/>
              </a:ext>
            </a:extLst>
          </p:cNvPr>
          <p:cNvSpPr>
            <a:spLocks noGrp="1"/>
          </p:cNvSpPr>
          <p:nvPr>
            <p:ph idx="1"/>
          </p:nvPr>
        </p:nvSpPr>
        <p:spPr>
          <a:xfrm>
            <a:off x="8382000" y="624971"/>
            <a:ext cx="15255604" cy="3488134"/>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BD6CB0B8-ED09-5144-8406-07EDCA221F9D}"/>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2AD6F17-DC4F-CE4D-A30F-37972705D1E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5F1A3402-461B-144B-A624-EADA6F4A5FE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1653235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1201D0FE-A135-6A46-ABB9-BBF42B08B05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A428A25E-B962-BD41-AC5A-2B7F8C365999}"/>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0" name="Slide Number Placeholder 5">
            <a:extLst>
              <a:ext uri="{FF2B5EF4-FFF2-40B4-BE49-F238E27FC236}">
                <a16:creationId xmlns:a16="http://schemas.microsoft.com/office/drawing/2014/main" id="{5A8BC5D7-A295-2344-8AAD-7A638D124615}"/>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20379828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2">
            <a:extLst>
              <a:ext uri="{FF2B5EF4-FFF2-40B4-BE49-F238E27FC236}">
                <a16:creationId xmlns:a16="http://schemas.microsoft.com/office/drawing/2014/main" id="{FD053F94-CE8F-4987-AA33-DA71ADDB4BC1}"/>
              </a:ext>
            </a:extLst>
          </p:cNvPr>
          <p:cNvSpPr>
            <a:spLocks noGrp="1"/>
          </p:cNvSpPr>
          <p:nvPr>
            <p:ph idx="1"/>
          </p:nvPr>
        </p:nvSpPr>
        <p:spPr>
          <a:xfrm>
            <a:off x="17945102" y="624970"/>
            <a:ext cx="5715000" cy="4042132"/>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2D21F748-F78B-AA44-87E0-992F504FBC08}"/>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69668EDE-1295-9546-ABA0-27E4B7F5041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361D0353-9518-CE4F-AEC9-0A3AD47D4590}"/>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03336449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3488134"/>
          </a:xfrm>
        </p:spPr>
        <p:txBody>
          <a:bodyPr lIns="0">
            <a:spAutoFit/>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Graphic 8">
            <a:extLst>
              <a:ext uri="{FF2B5EF4-FFF2-40B4-BE49-F238E27FC236}">
                <a16:creationId xmlns:a16="http://schemas.microsoft.com/office/drawing/2014/main" id="{59F508EA-9B74-CF42-99A9-ABCDB2E9903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35545590-189E-BE41-BDD7-DCC3999A6E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1D0045EB-86A1-6D46-873D-E4EC1E9D359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27090392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3488134"/>
          </a:xfr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169550"/>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9C7DEFAB-97E6-284D-BD67-FB08386B5E6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2DA1221E-A67C-744E-9C4B-331BEF727F33}"/>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46CF78B-534F-E345-BE6A-BED63A26C73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55190686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3" y="4800600"/>
            <a:ext cx="5714998" cy="4114800"/>
          </a:xfrm>
          <a:prstGeom prst="rect">
            <a:avLst/>
          </a:prstGeom>
          <a:solidFill>
            <a:schemeClr val="bg1"/>
          </a:solidFill>
        </p:spPr>
        <p:txBody>
          <a:bodyPr vert="horz" lIns="182880" tIns="137160" rIns="18288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1"/>
                </a:solidFill>
              </a:defRPr>
            </a:lvl1pPr>
          </a:lstStyle>
          <a:p>
            <a:pPr marL="0" lvl="0" indent="0">
              <a:spcAft>
                <a:spcPts val="3000"/>
              </a:spcAft>
              <a:buFont typeface="Arial" panose="020B0604020202020204" pitchFamily="34" charset="0"/>
            </a:pPr>
            <a:r>
              <a:rPr lang="en-US"/>
              <a:t>Click to edit Master title style</a:t>
            </a:r>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0" name="Graphic 9">
            <a:extLst>
              <a:ext uri="{FF2B5EF4-FFF2-40B4-BE49-F238E27FC236}">
                <a16:creationId xmlns:a16="http://schemas.microsoft.com/office/drawing/2014/main" id="{D97CAA73-BE46-614E-9C41-8AF7FB50184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A4D9BADF-324E-5B4F-A422-61F7145DA2D8}"/>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700835EC-3A47-8644-806F-A3840BA3472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04255598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4" name="Picture 3">
            <a:extLst>
              <a:ext uri="{FF2B5EF4-FFF2-40B4-BE49-F238E27FC236}">
                <a16:creationId xmlns:a16="http://schemas.microsoft.com/office/drawing/2014/main" id="{DC3D7A00-2891-24B2-ED6C-5B28CC4847A3}"/>
              </a:ext>
            </a:extLst>
          </p:cNvPr>
          <p:cNvPicPr>
            <a:picLocks noChangeAspect="1"/>
          </p:cNvPicPr>
          <p:nvPr userDrawn="1"/>
        </p:nvPicPr>
        <p:blipFill>
          <a:blip r:embed="rId2"/>
          <a:stretch>
            <a:fillRect/>
          </a:stretch>
        </p:blipFill>
        <p:spPr>
          <a:xfrm>
            <a:off x="0" y="4419600"/>
            <a:ext cx="6477000" cy="9296400"/>
          </a:xfrm>
          <a:prstGeom prst="rect">
            <a:avLst/>
          </a:prstGeom>
        </p:spPr>
      </p:pic>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66213919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1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4" name="Picture 3">
            <a:extLst>
              <a:ext uri="{FF2B5EF4-FFF2-40B4-BE49-F238E27FC236}">
                <a16:creationId xmlns:a16="http://schemas.microsoft.com/office/drawing/2014/main" id="{80CA3236-00EC-F44A-FE12-1CA61956F0E7}"/>
              </a:ext>
            </a:extLst>
          </p:cNvPr>
          <p:cNvPicPr>
            <a:picLocks noChangeAspect="1"/>
          </p:cNvPicPr>
          <p:nvPr userDrawn="1"/>
        </p:nvPicPr>
        <p:blipFill>
          <a:blip r:embed="rId4"/>
          <a:stretch>
            <a:fillRect/>
          </a:stretch>
        </p:blipFill>
        <p:spPr>
          <a:xfrm>
            <a:off x="0" y="9491472"/>
            <a:ext cx="6452388" cy="4224528"/>
          </a:xfrm>
          <a:prstGeom prst="rect">
            <a:avLst/>
          </a:prstGeom>
        </p:spPr>
      </p:pic>
    </p:spTree>
    <p:extLst>
      <p:ext uri="{BB962C8B-B14F-4D97-AF65-F5344CB8AC3E}">
        <p14:creationId xmlns:p14="http://schemas.microsoft.com/office/powerpoint/2010/main" val="212786940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2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flipH="1">
            <a:off x="6477000" y="0"/>
            <a:ext cx="1790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6" name="Picture 5">
            <a:extLst>
              <a:ext uri="{FF2B5EF4-FFF2-40B4-BE49-F238E27FC236}">
                <a16:creationId xmlns:a16="http://schemas.microsoft.com/office/drawing/2014/main" id="{33331F37-F452-DCB3-4411-C1A01ACA6086}"/>
              </a:ext>
            </a:extLst>
          </p:cNvPr>
          <p:cNvPicPr>
            <a:picLocks noChangeAspect="1"/>
          </p:cNvPicPr>
          <p:nvPr userDrawn="1"/>
        </p:nvPicPr>
        <p:blipFill>
          <a:blip r:embed="rId2"/>
          <a:stretch>
            <a:fillRect/>
          </a:stretch>
        </p:blipFill>
        <p:spPr>
          <a:xfrm>
            <a:off x="6477000" y="3505200"/>
            <a:ext cx="15595600" cy="1021080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tx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4129396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Three Quarters Image Slide">
    <p:bg>
      <p:bgPr>
        <a:solidFill>
          <a:schemeClr val="tx1"/>
        </a:solidFill>
        <a:effectLst/>
      </p:bgPr>
    </p:bg>
    <p:spTree>
      <p:nvGrpSpPr>
        <p:cNvPr id="1" name=""/>
        <p:cNvGrpSpPr/>
        <p:nvPr/>
      </p:nvGrpSpPr>
      <p:grpSpPr>
        <a:xfrm>
          <a:off x="0" y="0"/>
          <a:ext cx="0" cy="0"/>
          <a:chOff x="0" y="0"/>
          <a:chExt cx="0" cy="0"/>
        </a:xfrm>
      </p:grpSpPr>
      <p:sp>
        <p:nvSpPr>
          <p:cNvPr id="3" name="Do not remove" hidden="1">
            <a:extLst>
              <a:ext uri="{FF2B5EF4-FFF2-40B4-BE49-F238E27FC236}">
                <a16:creationId xmlns:a16="http://schemas.microsoft.com/office/drawing/2014/main" id="{72EA0346-F25C-266C-9220-E0A94729862A}"/>
              </a:ext>
            </a:extLst>
          </p:cNvPr>
          <p:cNvSpPr/>
          <p:nvPr userDrawn="1">
            <p:custDataLst>
              <p:tags r:id="rId1"/>
            </p:custDataLst>
          </p:nvPr>
        </p:nvSpPr>
        <p:spPr>
          <a:xfrm>
            <a:off x="0" y="0"/>
            <a:ext cx="12700" cy="12700"/>
          </a:xfrm>
          <a:prstGeom prst="octagon">
            <a:avLst/>
          </a:prstGeom>
          <a:noFill/>
          <a:ln>
            <a:noFill/>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pic>
        <p:nvPicPr>
          <p:cNvPr id="2" name="Picture 1">
            <a:extLst>
              <a:ext uri="{FF2B5EF4-FFF2-40B4-BE49-F238E27FC236}">
                <a16:creationId xmlns:a16="http://schemas.microsoft.com/office/drawing/2014/main" id="{5275A4A0-E19C-C4F8-98F8-140F87325D35}"/>
              </a:ext>
            </a:extLst>
          </p:cNvPr>
          <p:cNvPicPr>
            <a:picLocks noChangeAspect="1"/>
          </p:cNvPicPr>
          <p:nvPr userDrawn="1"/>
        </p:nvPicPr>
        <p:blipFill>
          <a:blip r:embed="rId3"/>
          <a:stretch>
            <a:fillRect/>
          </a:stretch>
        </p:blipFill>
        <p:spPr>
          <a:xfrm>
            <a:off x="1828801" y="1561559"/>
            <a:ext cx="4661586" cy="12154442"/>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6" y="3687499"/>
            <a:ext cx="3621768" cy="2923878"/>
          </a:xfrm>
        </p:spPr>
        <p:txBody>
          <a:bodyPr wrap="square"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35F2CBC9-A0AF-2443-B4F3-88F00DA34117}"/>
              </a:ext>
            </a:extLst>
          </p:cNvPr>
          <p:cNvPicPr>
            <a:picLocks noChangeAspect="1"/>
          </p:cNvPicPr>
          <p:nvPr userDrawn="1"/>
        </p:nvPicPr>
        <p: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EA2D8B16-7E02-9445-B5E1-B56444A338A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58296D2F-477C-6447-A70C-6F56CD3959A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67994899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1/2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584776"/>
          </a:xfrm>
          <a:ln>
            <a:noFill/>
          </a:ln>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1" y="7127210"/>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4"/>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6"/>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312078178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1/2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381088645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1/4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2"/>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9" name="Picture 8">
            <a:extLst>
              <a:ext uri="{FF2B5EF4-FFF2-40B4-BE49-F238E27FC236}">
                <a16:creationId xmlns:a16="http://schemas.microsoft.com/office/drawing/2014/main" id="{18F9BD06-D191-BDCC-0EAC-42370967C2BC}"/>
              </a:ext>
            </a:extLst>
          </p:cNvPr>
          <p:cNvPicPr>
            <a:picLocks noChangeAspect="1"/>
          </p:cNvPicPr>
          <p:nvPr userDrawn="1"/>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200182331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1/4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Picture 2">
            <a:extLst>
              <a:ext uri="{FF2B5EF4-FFF2-40B4-BE49-F238E27FC236}">
                <a16:creationId xmlns:a16="http://schemas.microsoft.com/office/drawing/2014/main" id="{C7C982CA-A7CF-7C04-1CB1-C8824A257D5C}"/>
              </a:ext>
            </a:extLst>
          </p:cNvPr>
          <p:cNvPicPr>
            <a:picLocks noChangeAspect="1"/>
          </p:cNvPicPr>
          <p:nvPr userDrawn="1"/>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38113147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Half Image Slide">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AE153A-C27C-ED1B-A797-B1AF88EB49A5}"/>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1169551"/>
          </a:xfrm>
        </p:spPr>
        <p:txBody>
          <a:bodyPr vert="horz" lIns="0" tIns="0" rIns="0" bIns="0" rtlCol="0">
            <a:spAutoFit/>
          </a:bodyPr>
          <a:lstStyle>
            <a:lvl1pPr marL="22226" indent="-22226" algn="l">
              <a:buFontTx/>
              <a:buNone/>
              <a:tabLst/>
              <a:defRPr lang="en-US" sz="3800" dirty="0">
                <a:ln w="3175">
                  <a:noFill/>
                </a:ln>
                <a:solidFill>
                  <a:schemeClr val="bg1"/>
                </a:solidFill>
              </a:defRPr>
            </a:lvl1pPr>
          </a:lstStyle>
          <a:p>
            <a:pPr marL="285750" lvl="0" indent="-285750" fontAlgn="base"/>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26862568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Half Image Slide - CLEAN">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6E9DF5-DA4D-AF41-F284-D6545E66BD73}"/>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54058703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Half Imag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21FBB69-2B1F-1005-8EB3-A8CA021F7215}"/>
              </a:ext>
            </a:extLst>
          </p:cNvPr>
          <p:cNvPicPr>
            <a:picLocks noChangeAspect="1"/>
          </p:cNvPicPr>
          <p:nvPr userDrawn="1"/>
        </p:nvPicPr>
        <p:blipFill>
          <a:blip r:embed="rId2"/>
          <a:stretch>
            <a:fillRect/>
          </a:stretch>
        </p:blipFill>
        <p:spPr>
          <a:xfrm>
            <a:off x="2024380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pic>
        <p:nvPicPr>
          <p:cNvPr id="11" name="Graphic 10">
            <a:extLst>
              <a:ext uri="{FF2B5EF4-FFF2-40B4-BE49-F238E27FC236}">
                <a16:creationId xmlns:a16="http://schemas.microsoft.com/office/drawing/2014/main" id="{560D37C1-D211-7745-B68E-02001098F85F}"/>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1169551"/>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Footer Placeholder 4">
            <a:extLst>
              <a:ext uri="{FF2B5EF4-FFF2-40B4-BE49-F238E27FC236}">
                <a16:creationId xmlns:a16="http://schemas.microsoft.com/office/drawing/2014/main" id="{030F3032-5515-C84F-A5D0-90898242F86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FEAC8327-2A21-3A42-BA7B-F64F4DEAA72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32979638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Half Imag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7E79AC3-2DC9-96CB-4501-666928E88325}"/>
              </a:ext>
            </a:extLst>
          </p:cNvPr>
          <p:cNvPicPr>
            <a:picLocks noChangeAspect="1"/>
          </p:cNvPicPr>
          <p:nvPr userDrawn="1"/>
        </p:nvPicPr>
        <p:blipFill>
          <a:blip r:embed="rId2"/>
          <a:stretch>
            <a:fillRect/>
          </a:stretch>
        </p:blipFill>
        <p:spPr>
          <a:xfrm>
            <a:off x="1219200" y="0"/>
            <a:ext cx="23164800" cy="13716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339102"/>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4042132"/>
          </a:xfrm>
        </p:spPr>
        <p:txBody>
          <a:bodyPr vert="horz" lIns="0" tIns="0" rIns="0" bIns="0" rtlCol="0">
            <a:spAutoFit/>
          </a:bodyPr>
          <a:lstStyle>
            <a:lvl1pPr marL="285750" marR="0" indent="-28575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38317098-BF10-BA42-A3E5-65C0634430A9}"/>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B4D4954A-7D78-384F-A44A-7BC1E849140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49BE3EAB-DEA7-184A-90BB-B4E1E574417C}"/>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97422899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userDrawn="1">
  <p:cSld name="Breaker">
    <p:bg>
      <p:bgPr>
        <a:solidFill>
          <a:srgbClr val="EB0000"/>
        </a:solidFill>
        <a:effectLst/>
      </p:bgPr>
    </p:bg>
    <p:spTree>
      <p:nvGrpSpPr>
        <p:cNvPr id="1" name=""/>
        <p:cNvGrpSpPr/>
        <p:nvPr/>
      </p:nvGrpSpPr>
      <p:grpSpPr>
        <a:xfrm>
          <a:off x="0" y="0"/>
          <a:ext cx="0" cy="0"/>
          <a:chOff x="0" y="0"/>
          <a:chExt cx="0" cy="0"/>
        </a:xfrm>
      </p:grpSpPr>
      <p:sp>
        <p:nvSpPr>
          <p:cNvPr id="3" name="Do not remove" hidden="1">
            <a:extLst>
              <a:ext uri="{FF2B5EF4-FFF2-40B4-BE49-F238E27FC236}">
                <a16:creationId xmlns:a16="http://schemas.microsoft.com/office/drawing/2014/main" id="{7BA5F6E2-C36B-50E8-D29A-B716E4997AE7}"/>
              </a:ext>
            </a:extLst>
          </p:cNvPr>
          <p:cNvSpPr/>
          <p:nvPr userDrawn="1">
            <p:custDataLst>
              <p:tags r:id="rId1"/>
            </p:custDataLst>
          </p:nvPr>
        </p:nvSpPr>
        <p:spPr>
          <a:xfrm>
            <a:off x="0" y="0"/>
            <a:ext cx="12700" cy="12700"/>
          </a:xfrm>
          <a:prstGeom prst="octagon">
            <a:avLst/>
          </a:prstGeom>
          <a:noFill/>
          <a:ln>
            <a:noFill/>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723901" y="653291"/>
            <a:ext cx="11160126" cy="4200146"/>
          </a:xfrm>
          <a:noFill/>
          <a:ln>
            <a:noFill/>
          </a:ln>
        </p:spPr>
        <p:txBody>
          <a:bodyPr vert="horz" lIns="0" tIns="0" rIns="0" bIns="0" rtlCol="0" anchor="b">
            <a:noAutofit/>
          </a:bodyPr>
          <a:lstStyle>
            <a:lvl1pPr marL="0" indent="0" fontAlgn="base">
              <a:lnSpc>
                <a:spcPct val="112000"/>
              </a:lnSpc>
              <a:spcBef>
                <a:spcPts val="0"/>
              </a:spcBef>
              <a:buNone/>
              <a:defRPr lang="en-US" sz="90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758826" y="4998536"/>
            <a:ext cx="11125200" cy="1627188"/>
          </a:xfrm>
        </p:spPr>
        <p:txBody>
          <a:bodyPr vert="horz" lIns="0" tIns="0" rIns="0" bIns="0" rtlCol="0" anchor="t">
            <a:noAutofit/>
          </a:bodyPr>
          <a:lstStyle>
            <a:lvl1pPr marL="0" indent="0">
              <a:buNone/>
              <a:defRPr lang="en-US" sz="5200" dirty="0">
                <a:ln>
                  <a:noFill/>
                </a:ln>
                <a:solidFill>
                  <a:schemeClr val="bg1"/>
                </a:solidFill>
              </a:defRPr>
            </a:lvl1pPr>
          </a:lstStyle>
          <a:p>
            <a:pPr lvl="0"/>
            <a:r>
              <a:rPr lang="en-US"/>
              <a:t>All titles/subtitles are sentence case</a:t>
            </a:r>
          </a:p>
        </p:txBody>
      </p:sp>
      <p:sp>
        <p:nvSpPr>
          <p:cNvPr id="6" name="Freeform 5">
            <a:extLst>
              <a:ext uri="{FF2B5EF4-FFF2-40B4-BE49-F238E27FC236}">
                <a16:creationId xmlns:a16="http://schemas.microsoft.com/office/drawing/2014/main" id="{B96AE158-57F3-42F7-BA5B-F9CAC8029C8B}"/>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pic>
        <p:nvPicPr>
          <p:cNvPr id="11" name="Graphic 10">
            <a:extLst>
              <a:ext uri="{FF2B5EF4-FFF2-40B4-BE49-F238E27FC236}">
                <a16:creationId xmlns:a16="http://schemas.microsoft.com/office/drawing/2014/main" id="{E2097F27-DC5D-B0F0-CE35-0D1889844CE1}"/>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19159050" y="11386529"/>
            <a:ext cx="4567724" cy="2058482"/>
          </a:xfrm>
          <a:prstGeom prst="rect">
            <a:avLst/>
          </a:prstGeom>
        </p:spPr>
      </p:pic>
    </p:spTree>
    <p:extLst>
      <p:ext uri="{BB962C8B-B14F-4D97-AF65-F5344CB8AC3E}">
        <p14:creationId xmlns:p14="http://schemas.microsoft.com/office/powerpoint/2010/main" val="170633108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1_Single Column - Simple">
  <p:cSld name="2_Single Column - Simple">
    <p:spTree>
      <p:nvGrpSpPr>
        <p:cNvPr id="1" name="Shape 190"/>
        <p:cNvGrpSpPr/>
        <p:nvPr/>
      </p:nvGrpSpPr>
      <p:grpSpPr>
        <a:xfrm>
          <a:off x="0" y="0"/>
          <a:ext cx="0" cy="0"/>
          <a:chOff x="0" y="0"/>
          <a:chExt cx="0" cy="0"/>
        </a:xfrm>
      </p:grpSpPr>
      <p:sp>
        <p:nvSpPr>
          <p:cNvPr id="191" name="Google Shape;191;p31"/>
          <p:cNvSpPr txBox="1">
            <a:spLocks noGrp="1"/>
          </p:cNvSpPr>
          <p:nvPr>
            <p:ph type="body" idx="1"/>
          </p:nvPr>
        </p:nvSpPr>
        <p:spPr>
          <a:xfrm>
            <a:off x="723900" y="2781301"/>
            <a:ext cx="22936200" cy="553998"/>
          </a:xfrm>
          <a:prstGeom prst="rect">
            <a:avLst/>
          </a:prstGeom>
          <a:noFill/>
          <a:ln>
            <a:noFill/>
          </a:ln>
        </p:spPr>
        <p:txBody>
          <a:bodyPr spcFirstLastPara="1" wrap="square" lIns="0" tIns="0" rIns="0" bIns="0" anchor="t" anchorCtr="0">
            <a:spAutoFit/>
          </a:bodyPr>
          <a:lstStyle>
            <a:lvl1pPr marL="914400" lvl="0" indent="-685800" algn="l">
              <a:lnSpc>
                <a:spcPct val="100000"/>
              </a:lnSpc>
              <a:spcBef>
                <a:spcPts val="0"/>
              </a:spcBef>
              <a:spcAft>
                <a:spcPts val="0"/>
              </a:spcAft>
              <a:buSzPts val="1800"/>
              <a:buChar char="•"/>
              <a:defRPr/>
            </a:lvl1pPr>
            <a:lvl2pPr marL="1828800" lvl="1" indent="-685800" algn="l">
              <a:lnSpc>
                <a:spcPct val="100000"/>
              </a:lnSpc>
              <a:spcBef>
                <a:spcPts val="1400"/>
              </a:spcBef>
              <a:spcAft>
                <a:spcPts val="0"/>
              </a:spcAft>
              <a:buSzPts val="1800"/>
              <a:buChar char="•"/>
              <a:defRPr/>
            </a:lvl2pPr>
            <a:lvl3pPr marL="2743200" lvl="2" indent="-685800" algn="l">
              <a:lnSpc>
                <a:spcPct val="100000"/>
              </a:lnSpc>
              <a:spcBef>
                <a:spcPts val="1400"/>
              </a:spcBef>
              <a:spcAft>
                <a:spcPts val="0"/>
              </a:spcAft>
              <a:buSzPts val="1800"/>
              <a:buChar char="•"/>
              <a:defRPr/>
            </a:lvl3pPr>
            <a:lvl4pPr marL="3657600" lvl="3" indent="-685800" algn="l">
              <a:lnSpc>
                <a:spcPct val="100000"/>
              </a:lnSpc>
              <a:spcBef>
                <a:spcPts val="1400"/>
              </a:spcBef>
              <a:spcAft>
                <a:spcPts val="0"/>
              </a:spcAft>
              <a:buSzPts val="1800"/>
              <a:buChar char="•"/>
              <a:defRPr/>
            </a:lvl4pPr>
            <a:lvl5pPr marL="4572000" lvl="4" indent="-685800" algn="l">
              <a:lnSpc>
                <a:spcPct val="100000"/>
              </a:lnSpc>
              <a:spcBef>
                <a:spcPts val="1400"/>
              </a:spcBef>
              <a:spcAft>
                <a:spcPts val="0"/>
              </a:spcAft>
              <a:buSzPts val="1800"/>
              <a:buChar char="•"/>
              <a:defRPr/>
            </a:lvl5pPr>
            <a:lvl6pPr marL="5486400" lvl="5" indent="-685800" algn="l">
              <a:lnSpc>
                <a:spcPct val="90000"/>
              </a:lnSpc>
              <a:spcBef>
                <a:spcPts val="1400"/>
              </a:spcBef>
              <a:spcAft>
                <a:spcPts val="0"/>
              </a:spcAft>
              <a:buClr>
                <a:schemeClr val="dk1"/>
              </a:buClr>
              <a:buSzPts val="1800"/>
              <a:buChar char="•"/>
              <a:defRPr/>
            </a:lvl6pPr>
            <a:lvl7pPr marL="6400800" lvl="6" indent="-685800" algn="l">
              <a:lnSpc>
                <a:spcPct val="90000"/>
              </a:lnSpc>
              <a:spcBef>
                <a:spcPts val="1000"/>
              </a:spcBef>
              <a:spcAft>
                <a:spcPts val="0"/>
              </a:spcAft>
              <a:buClr>
                <a:schemeClr val="dk1"/>
              </a:buClr>
              <a:buSzPts val="1800"/>
              <a:buChar char="•"/>
              <a:defRPr/>
            </a:lvl7pPr>
            <a:lvl8pPr marL="7315200" lvl="7" indent="-685800" algn="l">
              <a:lnSpc>
                <a:spcPct val="90000"/>
              </a:lnSpc>
              <a:spcBef>
                <a:spcPts val="1000"/>
              </a:spcBef>
              <a:spcAft>
                <a:spcPts val="0"/>
              </a:spcAft>
              <a:buClr>
                <a:schemeClr val="dk1"/>
              </a:buClr>
              <a:buSzPts val="1800"/>
              <a:buChar char="•"/>
              <a:defRPr/>
            </a:lvl8pPr>
            <a:lvl9pPr marL="8229600" lvl="8" indent="-685800" algn="l">
              <a:lnSpc>
                <a:spcPct val="90000"/>
              </a:lnSpc>
              <a:spcBef>
                <a:spcPts val="1000"/>
              </a:spcBef>
              <a:spcAft>
                <a:spcPts val="0"/>
              </a:spcAft>
              <a:buClr>
                <a:schemeClr val="dk1"/>
              </a:buClr>
              <a:buSzPts val="1800"/>
              <a:buChar char="•"/>
              <a:defRPr/>
            </a:lvl9pPr>
          </a:lstStyle>
          <a:p>
            <a:endParaRPr/>
          </a:p>
        </p:txBody>
      </p:sp>
      <p:sp>
        <p:nvSpPr>
          <p:cNvPr id="192" name="Google Shape;192;p31"/>
          <p:cNvSpPr txBox="1">
            <a:spLocks noGrp="1"/>
          </p:cNvSpPr>
          <p:nvPr>
            <p:ph type="title"/>
          </p:nvPr>
        </p:nvSpPr>
        <p:spPr>
          <a:xfrm>
            <a:off x="668992" y="537179"/>
            <a:ext cx="22991108" cy="1049518"/>
          </a:xfrm>
          <a:prstGeom prst="rect">
            <a:avLst/>
          </a:prstGeom>
          <a:noFill/>
          <a:ln>
            <a:noFill/>
          </a:ln>
        </p:spPr>
        <p:txBody>
          <a:bodyPr spcFirstLastPara="1" wrap="square" lIns="0" tIns="0" rIns="0" bIns="0" anchor="t" anchorCtr="0">
            <a:spAutoFit/>
          </a:bodyPr>
          <a:lstStyle>
            <a:lvl1pPr lvl="0" algn="l">
              <a:lnSpc>
                <a:spcPct val="110000"/>
              </a:lnSpc>
              <a:spcBef>
                <a:spcPts val="0"/>
              </a:spcBef>
              <a:spcAft>
                <a:spcPts val="0"/>
              </a:spcAft>
              <a:buClr>
                <a:schemeClr val="l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3" name="Google Shape;193;p31"/>
          <p:cNvSpPr txBox="1">
            <a:spLocks noGrp="1"/>
          </p:cNvSpPr>
          <p:nvPr>
            <p:ph type="ftr" idx="11"/>
          </p:nvPr>
        </p:nvSpPr>
        <p:spPr>
          <a:xfrm>
            <a:off x="13887450" y="13271500"/>
            <a:ext cx="8146364" cy="215444"/>
          </a:xfrm>
          <a:prstGeom prst="rect">
            <a:avLst/>
          </a:prstGeom>
          <a:noFill/>
          <a:ln>
            <a:noFill/>
          </a:ln>
        </p:spPr>
        <p:txBody>
          <a:bodyPr spcFirstLastPara="1" wrap="square" lIns="0" tIns="0" rIns="0" bIns="0" anchor="t" anchorCtr="0">
            <a:spAutoFit/>
          </a:bodyPr>
          <a:lstStyle>
            <a:lvl1pPr lvl="0" algn="r">
              <a:lnSpc>
                <a:spcPct val="100000"/>
              </a:lnSpc>
              <a:spcBef>
                <a:spcPts val="0"/>
              </a:spcBef>
              <a:spcAft>
                <a:spcPts val="0"/>
              </a:spcAft>
              <a:buSzPts val="1400"/>
              <a:buNone/>
              <a:defRPr sz="14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4" name="Google Shape;194;p31"/>
          <p:cNvSpPr txBox="1">
            <a:spLocks noGrp="1"/>
          </p:cNvSpPr>
          <p:nvPr>
            <p:ph type="sldNum" idx="12"/>
          </p:nvPr>
        </p:nvSpPr>
        <p:spPr>
          <a:xfrm>
            <a:off x="22402802" y="13271500"/>
            <a:ext cx="1234804" cy="215444"/>
          </a:xfrm>
          <a:prstGeom prst="rect">
            <a:avLst/>
          </a:prstGeom>
          <a:noFill/>
          <a:ln>
            <a:noFill/>
          </a:ln>
        </p:spPr>
        <p:txBody>
          <a:bodyPr spcFirstLastPara="1" wrap="square" lIns="0" tIns="0" rIns="0" bIns="0" anchor="t" anchorCtr="0">
            <a:spAutoFit/>
          </a:bodyPr>
          <a:lstStyle>
            <a:lvl1pPr marL="0" marR="0" lvl="0"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700"/>
              <a:buFont typeface="Arial"/>
              <a:buNone/>
              <a:defRPr sz="1400" b="0" i="0" u="none" strike="noStrike" cap="none">
                <a:solidFill>
                  <a:schemeClr val="dk1"/>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83662874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2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3" y="4800600"/>
            <a:ext cx="5714998" cy="4114800"/>
          </a:xfrm>
          <a:prstGeom prst="rect">
            <a:avLst/>
          </a:prstGeom>
          <a:solidFill>
            <a:schemeClr val="bg1"/>
          </a:solidFill>
        </p:spPr>
        <p:txBody>
          <a:bodyPr vert="horz" lIns="182880" tIns="137160" rIns="18288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1"/>
                </a:solidFill>
              </a:defRPr>
            </a:lvl1pPr>
          </a:lstStyle>
          <a:p>
            <a:pPr marL="0" lvl="0" indent="0">
              <a:spcAft>
                <a:spcPts val="3000"/>
              </a:spcAft>
              <a:buFont typeface="Arial" panose="020B0604020202020204" pitchFamily="34" charset="0"/>
            </a:pPr>
            <a:r>
              <a:rPr lang="en-US"/>
              <a:t>Click to edit Master title style</a:t>
            </a:r>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0" name="Graphic 9">
            <a:extLst>
              <a:ext uri="{FF2B5EF4-FFF2-40B4-BE49-F238E27FC236}">
                <a16:creationId xmlns:a16="http://schemas.microsoft.com/office/drawing/2014/main" id="{D97CAA73-BE46-614E-9C41-8AF7FB50184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A4D9BADF-324E-5B4F-A422-61F7145DA2D8}"/>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700835EC-3A47-8644-806F-A3840BA3472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48558225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4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4" name="Picture 3">
            <a:extLst>
              <a:ext uri="{FF2B5EF4-FFF2-40B4-BE49-F238E27FC236}">
                <a16:creationId xmlns:a16="http://schemas.microsoft.com/office/drawing/2014/main" id="{80CA3236-00EC-F44A-FE12-1CA61956F0E7}"/>
              </a:ext>
            </a:extLst>
          </p:cNvPr>
          <p:cNvPicPr>
            <a:picLocks noChangeAspect="1"/>
          </p:cNvPicPr>
          <p:nvPr userDrawn="1"/>
        </p:nvPicPr>
        <p:blipFill>
          <a:blip r:embed="rId4"/>
          <a:stretch>
            <a:fillRect/>
          </a:stretch>
        </p:blipFill>
        <p:spPr>
          <a:xfrm>
            <a:off x="0" y="9491472"/>
            <a:ext cx="6452388" cy="4224528"/>
          </a:xfrm>
          <a:prstGeom prst="rect">
            <a:avLst/>
          </a:prstGeom>
        </p:spPr>
      </p:pic>
    </p:spTree>
    <p:extLst>
      <p:ext uri="{BB962C8B-B14F-4D97-AF65-F5344CB8AC3E}">
        <p14:creationId xmlns:p14="http://schemas.microsoft.com/office/powerpoint/2010/main" val="394111994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3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flipH="1">
            <a:off x="6477000" y="0"/>
            <a:ext cx="1790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6" name="Picture 5">
            <a:extLst>
              <a:ext uri="{FF2B5EF4-FFF2-40B4-BE49-F238E27FC236}">
                <a16:creationId xmlns:a16="http://schemas.microsoft.com/office/drawing/2014/main" id="{33331F37-F452-DCB3-4411-C1A01ACA6086}"/>
              </a:ext>
            </a:extLst>
          </p:cNvPr>
          <p:cNvPicPr>
            <a:picLocks noChangeAspect="1"/>
          </p:cNvPicPr>
          <p:nvPr userDrawn="1"/>
        </p:nvPicPr>
        <p:blipFill>
          <a:blip r:embed="rId2"/>
          <a:stretch>
            <a:fillRect/>
          </a:stretch>
        </p:blipFill>
        <p:spPr>
          <a:xfrm>
            <a:off x="6477000" y="3505200"/>
            <a:ext cx="15595600" cy="1021080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tx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728580291"/>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1_Three Quarters Image Slide">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275A4A0-E19C-C4F8-98F8-140F87325D35}"/>
              </a:ext>
            </a:extLst>
          </p:cNvPr>
          <p:cNvPicPr>
            <a:picLocks noChangeAspect="1"/>
          </p:cNvPicPr>
          <p:nvPr userDrawn="1"/>
        </p:nvPicPr>
        <p:blipFill>
          <a:blip r:embed="rId2"/>
          <a:stretch>
            <a:fillRect/>
          </a:stretch>
        </p:blipFill>
        <p:spPr>
          <a:xfrm>
            <a:off x="1828801" y="1561559"/>
            <a:ext cx="4661586" cy="12154442"/>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6" y="3687499"/>
            <a:ext cx="3621768" cy="2923878"/>
          </a:xfrm>
        </p:spPr>
        <p:txBody>
          <a:bodyPr wrap="square"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35F2CBC9-A0AF-2443-B4F3-88F00DA34117}"/>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EA2D8B16-7E02-9445-B5E1-B56444A338A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58296D2F-477C-6447-A70C-6F56CD3959A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50885251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1_Half Image Slide">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AE153A-C27C-ED1B-A797-B1AF88EB49A5}"/>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1169551"/>
          </a:xfrm>
        </p:spPr>
        <p:txBody>
          <a:bodyPr vert="horz" lIns="0" tIns="0" rIns="0" bIns="0" rtlCol="0">
            <a:spAutoFit/>
          </a:bodyPr>
          <a:lstStyle>
            <a:lvl1pPr marL="22226" indent="-22226" algn="l">
              <a:buFontTx/>
              <a:buNone/>
              <a:tabLst/>
              <a:defRPr lang="en-US" sz="3800" dirty="0">
                <a:ln w="3175">
                  <a:noFill/>
                </a:ln>
                <a:solidFill>
                  <a:schemeClr val="bg1"/>
                </a:solidFill>
              </a:defRPr>
            </a:lvl1pPr>
          </a:lstStyle>
          <a:p>
            <a:pPr marL="285750" lvl="0" indent="-285750" fontAlgn="base"/>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45369204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1_Half Image Slide - CLEAN">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6E9DF5-DA4D-AF41-F284-D6545E66BD73}"/>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43012898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1_Half Imag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21FBB69-2B1F-1005-8EB3-A8CA021F7215}"/>
              </a:ext>
            </a:extLst>
          </p:cNvPr>
          <p:cNvPicPr>
            <a:picLocks noChangeAspect="1"/>
          </p:cNvPicPr>
          <p:nvPr userDrawn="1"/>
        </p:nvPicPr>
        <p:blipFill>
          <a:blip r:embed="rId2"/>
          <a:stretch>
            <a:fillRect/>
          </a:stretch>
        </p:blipFill>
        <p:spPr>
          <a:xfrm>
            <a:off x="2024380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pic>
        <p:nvPicPr>
          <p:cNvPr id="11" name="Graphic 10">
            <a:extLst>
              <a:ext uri="{FF2B5EF4-FFF2-40B4-BE49-F238E27FC236}">
                <a16:creationId xmlns:a16="http://schemas.microsoft.com/office/drawing/2014/main" id="{560D37C1-D211-7745-B68E-02001098F85F}"/>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1169551"/>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Footer Placeholder 4">
            <a:extLst>
              <a:ext uri="{FF2B5EF4-FFF2-40B4-BE49-F238E27FC236}">
                <a16:creationId xmlns:a16="http://schemas.microsoft.com/office/drawing/2014/main" id="{030F3032-5515-C84F-A5D0-90898242F86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FEAC8327-2A21-3A42-BA7B-F64F4DEAA72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73390680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1_Half Imag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7E79AC3-2DC9-96CB-4501-666928E88325}"/>
              </a:ext>
            </a:extLst>
          </p:cNvPr>
          <p:cNvPicPr>
            <a:picLocks noChangeAspect="1"/>
          </p:cNvPicPr>
          <p:nvPr userDrawn="1"/>
        </p:nvPicPr>
        <p:blipFill>
          <a:blip r:embed="rId2"/>
          <a:stretch>
            <a:fillRect/>
          </a:stretch>
        </p:blipFill>
        <p:spPr>
          <a:xfrm>
            <a:off x="1219200" y="0"/>
            <a:ext cx="23164800" cy="13716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339102"/>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4042132"/>
          </a:xfrm>
        </p:spPr>
        <p:txBody>
          <a:bodyPr vert="horz" lIns="0" tIns="0" rIns="0" bIns="0" rtlCol="0">
            <a:spAutoFit/>
          </a:bodyPr>
          <a:lstStyle>
            <a:lvl1pPr marL="285750" marR="0" indent="-28575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38317098-BF10-BA42-A3E5-65C0634430A9}"/>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B4D4954A-7D78-384F-A44A-7BC1E849140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49BE3EAB-DEA7-184A-90BB-B4E1E574417C}"/>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31503644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userDrawn="1">
  <p:cSld name="2_Breaker">
    <p:bg>
      <p:bgPr>
        <a:solidFill>
          <a:srgbClr val="EB0000"/>
        </a:solidFill>
        <a:effectLst/>
      </p:bgPr>
    </p:bg>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723901" y="653291"/>
            <a:ext cx="11160126" cy="4200146"/>
          </a:xfrm>
          <a:noFill/>
          <a:ln>
            <a:noFill/>
          </a:ln>
        </p:spPr>
        <p:txBody>
          <a:bodyPr vert="horz" lIns="0" tIns="0" rIns="0" bIns="0" rtlCol="0" anchor="b">
            <a:noAutofit/>
          </a:bodyPr>
          <a:lstStyle>
            <a:lvl1pPr marL="0" indent="0" fontAlgn="base">
              <a:lnSpc>
                <a:spcPct val="112000"/>
              </a:lnSpc>
              <a:spcBef>
                <a:spcPts val="0"/>
              </a:spcBef>
              <a:buNone/>
              <a:defRPr lang="en-US" sz="90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758826" y="4998536"/>
            <a:ext cx="11125200" cy="1627188"/>
          </a:xfrm>
        </p:spPr>
        <p:txBody>
          <a:bodyPr vert="horz" lIns="0" tIns="0" rIns="0" bIns="0" rtlCol="0" anchor="t">
            <a:noAutofit/>
          </a:bodyPr>
          <a:lstStyle>
            <a:lvl1pPr marL="0" indent="0">
              <a:buNone/>
              <a:defRPr lang="en-US" sz="5200" dirty="0">
                <a:ln>
                  <a:noFill/>
                </a:ln>
                <a:solidFill>
                  <a:schemeClr val="bg1"/>
                </a:solidFill>
              </a:defRPr>
            </a:lvl1pPr>
          </a:lstStyle>
          <a:p>
            <a:pPr lvl="0"/>
            <a:r>
              <a:rPr lang="en-US"/>
              <a:t>All titles/subtitles are sentence case</a:t>
            </a:r>
          </a:p>
        </p:txBody>
      </p:sp>
      <p:sp>
        <p:nvSpPr>
          <p:cNvPr id="6" name="Freeform 5">
            <a:extLst>
              <a:ext uri="{FF2B5EF4-FFF2-40B4-BE49-F238E27FC236}">
                <a16:creationId xmlns:a16="http://schemas.microsoft.com/office/drawing/2014/main" id="{B96AE158-57F3-42F7-BA5B-F9CAC8029C8B}"/>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pic>
        <p:nvPicPr>
          <p:cNvPr id="11" name="Graphic 10">
            <a:extLst>
              <a:ext uri="{FF2B5EF4-FFF2-40B4-BE49-F238E27FC236}">
                <a16:creationId xmlns:a16="http://schemas.microsoft.com/office/drawing/2014/main" id="{E2097F27-DC5D-B0F0-CE35-0D1889844CE1}"/>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9159050" y="11386529"/>
            <a:ext cx="4567724" cy="2058482"/>
          </a:xfrm>
          <a:prstGeom prst="rect">
            <a:avLst/>
          </a:prstGeom>
        </p:spPr>
      </p:pic>
    </p:spTree>
    <p:extLst>
      <p:ext uri="{BB962C8B-B14F-4D97-AF65-F5344CB8AC3E}">
        <p14:creationId xmlns:p14="http://schemas.microsoft.com/office/powerpoint/2010/main" val="2703362085"/>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userDrawn="1">
  <p:cSld name="1_Blan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US"/>
              <a:t>Click to edit Master title style</a:t>
            </a:r>
          </a:p>
        </p:txBody>
      </p:sp>
      <p:sp>
        <p:nvSpPr>
          <p:cNvPr id="3" name="Footer Placeholder 2">
            <a:extLst>
              <a:ext uri="{FF2B5EF4-FFF2-40B4-BE49-F238E27FC236}">
                <a16:creationId xmlns:a16="http://schemas.microsoft.com/office/drawing/2014/main" id="{476EBF41-6E4F-CC45-9467-0CE6DA4A5B1A}"/>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A82870D3-B21C-6F49-A89A-D8B3AEF5AC9C}"/>
              </a:ext>
            </a:extLst>
          </p:cNvPr>
          <p:cNvSpPr>
            <a:spLocks noGrp="1"/>
          </p:cNvSpPr>
          <p:nvPr>
            <p:ph type="sldNum" sz="quarter" idx="11"/>
          </p:nvPr>
        </p:nvSpPr>
        <p:spPr/>
        <p:txBody>
          <a:bodyPr/>
          <a:lstStyle/>
          <a:p>
            <a:fld id="{762E77F0-FB5B-4E8E-9BC9-34F14560A017}" type="slidenum">
              <a:rPr lang="en-US" smtClean="0"/>
              <a:pPr/>
              <a:t>‹#›</a:t>
            </a:fld>
            <a:endParaRPr lang="en-US"/>
          </a:p>
        </p:txBody>
      </p:sp>
      <p:pic>
        <p:nvPicPr>
          <p:cNvPr id="6" name="Picture 5">
            <a:extLst>
              <a:ext uri="{FF2B5EF4-FFF2-40B4-BE49-F238E27FC236}">
                <a16:creationId xmlns:a16="http://schemas.microsoft.com/office/drawing/2014/main" id="{3F9E8279-BFE3-42FA-89A5-BD1779547B5B}"/>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404021253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8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4" name="Picture 3">
            <a:extLst>
              <a:ext uri="{FF2B5EF4-FFF2-40B4-BE49-F238E27FC236}">
                <a16:creationId xmlns:a16="http://schemas.microsoft.com/office/drawing/2014/main" id="{DC3D7A00-2891-24B2-ED6C-5B28CC4847A3}"/>
              </a:ext>
            </a:extLst>
          </p:cNvPr>
          <p:cNvPicPr>
            <a:picLocks noChangeAspect="1"/>
          </p:cNvPicPr>
          <p:nvPr userDrawn="1"/>
        </p:nvPicPr>
        <p:blipFill>
          <a:blip r:embed="rId2"/>
          <a:stretch>
            <a:fillRect/>
          </a:stretch>
        </p:blipFill>
        <p:spPr>
          <a:xfrm>
            <a:off x="0" y="4419600"/>
            <a:ext cx="6477000" cy="9296400"/>
          </a:xfrm>
          <a:prstGeom prst="rect">
            <a:avLst/>
          </a:prstGeom>
        </p:spPr>
      </p:pic>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35004505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cSld name="2_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B3CEBEF5-5F64-D477-77CA-127C6A5E8558}"/>
              </a:ext>
            </a:extLst>
          </p:cNvPr>
          <p:cNvSpPr>
            <a:spLocks noGrp="1"/>
          </p:cNvSpPr>
          <p:nvPr>
            <p:ph type="ftr" sz="quarter" idx="10"/>
          </p:nvPr>
        </p:nvSpPr>
        <p:spPr/>
        <p:txBody>
          <a:bodyPr/>
          <a:lstStyle/>
          <a:p>
            <a:endParaRPr lang="en-US"/>
          </a:p>
        </p:txBody>
      </p:sp>
      <p:sp>
        <p:nvSpPr>
          <p:cNvPr id="3" name="Slide Number Placeholder 2">
            <a:extLst>
              <a:ext uri="{FF2B5EF4-FFF2-40B4-BE49-F238E27FC236}">
                <a16:creationId xmlns:a16="http://schemas.microsoft.com/office/drawing/2014/main" id="{28261476-9687-C505-0878-3971DD50217B}"/>
              </a:ext>
            </a:extLst>
          </p:cNvPr>
          <p:cNvSpPr>
            <a:spLocks noGrp="1"/>
          </p:cNvSpPr>
          <p:nvPr>
            <p:ph type="sldNum" sz="quarter" idx="11"/>
          </p:nvPr>
        </p:nvSpPr>
        <p:spPr/>
        <p:txBody>
          <a:bodyPr/>
          <a:lstStyle/>
          <a:p>
            <a:fld id="{762E77F0-FB5B-4E8E-9BC9-34F14560A017}" type="slidenum">
              <a:rPr lang="en-US" smtClean="0"/>
              <a:pPr/>
              <a:t>‹#›</a:t>
            </a:fld>
            <a:endParaRPr lang="en-US"/>
          </a:p>
        </p:txBody>
      </p:sp>
    </p:spTree>
    <p:extLst>
      <p:ext uri="{BB962C8B-B14F-4D97-AF65-F5344CB8AC3E}">
        <p14:creationId xmlns:p14="http://schemas.microsoft.com/office/powerpoint/2010/main" val="356227944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userDrawn="1">
  <p:cSld name="1_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1" y="0"/>
            <a:ext cx="25334686" cy="1520796"/>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086"/>
          </a:xfrm>
        </p:spPr>
        <p:txBody>
          <a:bodyPr/>
          <a:lstStyle/>
          <a:p>
            <a:r>
              <a:rPr lang="en-GB"/>
              <a:t>Click to edit Master title style</a:t>
            </a:r>
            <a:endParaRPr lang="en-US"/>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232775558"/>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userDrawn="1">
  <p:cSld name="1_Breaker">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B8DA39-5EB3-C1BA-D804-706D71953C1A}"/>
              </a:ext>
            </a:extLst>
          </p:cNvPr>
          <p:cNvPicPr>
            <a:picLocks noChangeAspect="1"/>
          </p:cNvPicPr>
          <p:nvPr userDrawn="1"/>
        </p:nvPicPr>
        <p:blipFill>
          <a:blip r:embed="rId2"/>
          <a:stretch>
            <a:fillRect/>
          </a:stretch>
        </p:blipFill>
        <p:spPr>
          <a:xfrm flipH="1">
            <a:off x="0" y="0"/>
            <a:ext cx="14909800" cy="12547600"/>
          </a:xfrm>
          <a:prstGeom prst="rect">
            <a:avLst/>
          </a:prstGeom>
        </p:spPr>
      </p:pic>
      <p:pic>
        <p:nvPicPr>
          <p:cNvPr id="35" name="Graphic 34">
            <a:extLst>
              <a:ext uri="{FF2B5EF4-FFF2-40B4-BE49-F238E27FC236}">
                <a16:creationId xmlns:a16="http://schemas.microsoft.com/office/drawing/2014/main" id="{B740DB18-FB40-8A40-9C99-C82E37F311C5}"/>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4183359" y="2227766"/>
            <a:ext cx="10200642" cy="4485136"/>
          </a:xfrm>
          <a:prstGeom prst="rect">
            <a:avLst/>
          </a:prstGeom>
          <a:noFill/>
          <a:ln>
            <a:noFill/>
          </a:ln>
        </p:spPr>
        <p:txBody>
          <a:bodyPr vert="horz" lIns="0" tIns="0" rIns="0" bIns="0" rtlCol="0" anchor="b">
            <a:noAutofit/>
          </a:bodyPr>
          <a:lstStyle>
            <a:lvl1pPr marL="0" indent="0" fontAlgn="base">
              <a:lnSpc>
                <a:spcPct val="100000"/>
              </a:lnSpc>
              <a:spcBef>
                <a:spcPts val="0"/>
              </a:spcBef>
              <a:buNone/>
              <a:defRPr lang="en-US" sz="76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4218285" y="6858001"/>
            <a:ext cx="10168718" cy="615554"/>
          </a:xfrm>
          <a:prstGeom prst="rect">
            <a:avLst/>
          </a:prstGeom>
        </p:spPr>
        <p:txBody>
          <a:bodyPr vert="horz" wrap="square" lIns="0" tIns="0" rIns="0" bIns="0" rtlCol="0" anchor="t">
            <a:spAutoFit/>
          </a:bodyPr>
          <a:lstStyle>
            <a:lvl1pPr marL="0" indent="0">
              <a:buNone/>
              <a:defRPr lang="en-US" sz="4000" dirty="0">
                <a:ln>
                  <a:noFill/>
                </a:ln>
                <a:solidFill>
                  <a:schemeClr val="bg1"/>
                </a:solidFill>
              </a:defRPr>
            </a:lvl1pPr>
          </a:lstStyle>
          <a:p>
            <a:pPr lvl="0"/>
            <a:r>
              <a:rPr lang="en-US"/>
              <a:t>All titles/subtitles are sentence case</a:t>
            </a:r>
          </a:p>
        </p:txBody>
      </p:sp>
      <p:sp>
        <p:nvSpPr>
          <p:cNvPr id="3" name="Graphic 2">
            <a:extLst>
              <a:ext uri="{FF2B5EF4-FFF2-40B4-BE49-F238E27FC236}">
                <a16:creationId xmlns:a16="http://schemas.microsoft.com/office/drawing/2014/main" id="{7EF60E61-AA73-8D8E-6D66-BA84E61610FC}"/>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31544073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2_Single Column - Simple">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5073842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userDrawn="1">
  <p:cSld name="Thank you UK">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FFCA8B3-607E-EB86-6B92-3EC70005FC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1" kern="1200">
                <a:solidFill>
                  <a:schemeClr val="tx1"/>
                </a:solidFill>
                <a:latin typeface="+mn-lt"/>
                <a:ea typeface="+mn-ea"/>
                <a:cs typeface="+mn-cs"/>
              </a:rPr>
              <a:t>Rackspace Technology</a:t>
            </a:r>
          </a:p>
          <a:p>
            <a:pPr marL="0" algn="l" defTabSz="457200" rtl="0" eaLnBrk="1" latinLnBrk="0" hangingPunct="1">
              <a:lnSpc>
                <a:spcPct val="110000"/>
              </a:lnSpc>
              <a:spcBef>
                <a:spcPts val="600"/>
              </a:spcBef>
              <a:spcAft>
                <a:spcPts val="600"/>
              </a:spcAft>
            </a:pPr>
            <a:r>
              <a:rPr lang="en-US" sz="3000" kern="1200">
                <a:solidFill>
                  <a:schemeClr val="tx1"/>
                </a:solidFill>
                <a:latin typeface="+mn-lt"/>
                <a:ea typeface="+mn-ea"/>
                <a:cs typeface="+mn-cs"/>
              </a:rPr>
              <a:t>Unit 2, 6 Millington Road</a:t>
            </a:r>
            <a:br>
              <a:rPr lang="en-US" sz="3000" kern="1200">
                <a:solidFill>
                  <a:schemeClr val="tx1"/>
                </a:solidFill>
                <a:latin typeface="+mn-lt"/>
                <a:ea typeface="+mn-ea"/>
                <a:cs typeface="+mn-cs"/>
              </a:rPr>
            </a:br>
            <a:r>
              <a:rPr lang="en-US" sz="3000" kern="1200">
                <a:solidFill>
                  <a:schemeClr val="tx1"/>
                </a:solidFill>
                <a:latin typeface="+mn-lt"/>
                <a:ea typeface="+mn-ea"/>
                <a:cs typeface="+mn-cs"/>
              </a:rPr>
              <a:t>Hayes, Middlesex </a:t>
            </a:r>
            <a:br>
              <a:rPr lang="en-US" sz="3000" kern="1200">
                <a:solidFill>
                  <a:schemeClr val="tx1"/>
                </a:solidFill>
                <a:latin typeface="+mn-lt"/>
                <a:ea typeface="+mn-ea"/>
                <a:cs typeface="+mn-cs"/>
              </a:rPr>
            </a:br>
            <a:r>
              <a:rPr lang="en-US" sz="3000" kern="1200">
                <a:solidFill>
                  <a:schemeClr val="tx1"/>
                </a:solidFill>
                <a:latin typeface="+mn-lt"/>
                <a:ea typeface="+mn-ea"/>
                <a:cs typeface="+mn-cs"/>
              </a:rPr>
              <a:t>UB3 4AZ</a:t>
            </a:r>
          </a:p>
          <a:p>
            <a:pPr>
              <a:lnSpc>
                <a:spcPct val="110000"/>
              </a:lnSpc>
              <a:spcBef>
                <a:spcPts val="600"/>
              </a:spcBef>
              <a:spcAft>
                <a:spcPts val="600"/>
              </a:spcAft>
            </a:pPr>
            <a:r>
              <a:rPr lang="en-US" sz="3000">
                <a:solidFill>
                  <a:schemeClr val="tx1"/>
                </a:solidFill>
              </a:rPr>
              <a:t>U.K. sales: 0800 988 0100  </a:t>
            </a:r>
            <a:br>
              <a:rPr lang="en-US" sz="3000">
                <a:solidFill>
                  <a:schemeClr val="tx1"/>
                </a:solidFill>
              </a:rPr>
            </a:br>
            <a:r>
              <a:rPr lang="en-US" sz="3000">
                <a:solidFill>
                  <a:schemeClr val="tx1"/>
                </a:solidFill>
              </a:rPr>
              <a:t>U.K. support: 0800 988 0300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www.rackspace.co.uk</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cap="none" baseline="0">
              <a:solidFill>
                <a:schemeClr val="tx1"/>
              </a:solidFill>
            </a:endParaRPr>
          </a:p>
          <a:p>
            <a:pPr>
              <a:spcBef>
                <a:spcPts val="600"/>
              </a:spcBef>
              <a:spcAft>
                <a:spcPts val="600"/>
              </a:spcAft>
            </a:pPr>
            <a:endParaRPr lang="en-US" sz="900">
              <a:solidFill>
                <a:schemeClr val="tx1"/>
              </a:solidFill>
            </a:endParaRPr>
          </a:p>
        </p:txBody>
      </p:sp>
      <p:pic>
        <p:nvPicPr>
          <p:cNvPr id="6" name="Graphic 5">
            <a:extLst>
              <a:ext uri="{FF2B5EF4-FFF2-40B4-BE49-F238E27FC236}">
                <a16:creationId xmlns:a16="http://schemas.microsoft.com/office/drawing/2014/main" id="{7C797846-2FE7-1F4B-A5B0-CC5DA49A249B}"/>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A5CD6002-EFB6-8A46-9A72-06D0A61799C8}"/>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sp>
        <p:nvSpPr>
          <p:cNvPr id="5" name="Graphic 2">
            <a:extLst>
              <a:ext uri="{FF2B5EF4-FFF2-40B4-BE49-F238E27FC236}">
                <a16:creationId xmlns:a16="http://schemas.microsoft.com/office/drawing/2014/main" id="{9EFADF9F-D78A-35D2-A20F-2DD7BA53DB69}"/>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1251265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userDrawn="1">
  <p:cSld name="3_Logo">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FBFEA71-1AC6-4DFC-15E0-24BA7D731D78}"/>
              </a:ext>
            </a:extLst>
          </p:cNvPr>
          <p:cNvPicPr>
            <a:picLocks noChangeAspect="1"/>
          </p:cNvPicPr>
          <p:nvPr userDrawn="1"/>
        </p:nvPicPr>
        <p:blipFill>
          <a:blip r:embed="rId2"/>
          <a:stretch>
            <a:fillRect/>
          </a:stretch>
        </p:blipFill>
        <p:spPr>
          <a:xfrm>
            <a:off x="1676400" y="0"/>
            <a:ext cx="21031200" cy="13716000"/>
          </a:xfrm>
          <a:prstGeom prst="rect">
            <a:avLst/>
          </a:prstGeom>
        </p:spPr>
      </p:pic>
      <p:pic>
        <p:nvPicPr>
          <p:cNvPr id="3" name="Graphic 2">
            <a:extLst>
              <a:ext uri="{FF2B5EF4-FFF2-40B4-BE49-F238E27FC236}">
                <a16:creationId xmlns:a16="http://schemas.microsoft.com/office/drawing/2014/main" id="{510642B9-F25A-374A-99F2-0224B52C46A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8335214" y="5983498"/>
            <a:ext cx="8023116" cy="2487168"/>
          </a:xfrm>
          <a:prstGeom prst="rect">
            <a:avLst/>
          </a:prstGeom>
        </p:spPr>
      </p:pic>
      <p:sp>
        <p:nvSpPr>
          <p:cNvPr id="6" name="Graphic 2">
            <a:extLst>
              <a:ext uri="{FF2B5EF4-FFF2-40B4-BE49-F238E27FC236}">
                <a16:creationId xmlns:a16="http://schemas.microsoft.com/office/drawing/2014/main" id="{0D8656DC-2D22-C2DA-13A1-B73DAEC9EBA5}"/>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72685997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userDrawn="1">
  <p:cSld name="Single Column - Re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a:xfrm>
            <a:off x="0" y="0"/>
            <a:ext cx="64770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6EFB90B-468B-48EC-9C17-1C9C6FB59342}"/>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14244886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Titl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852BA2-98D6-7533-BEC6-1C416BA117B0}"/>
              </a:ext>
            </a:extLst>
          </p:cNvPr>
          <p:cNvPicPr>
            <a:picLocks noChangeAspect="1"/>
          </p:cNvPicPr>
          <p:nvPr userDrawn="1"/>
        </p:nvPicPr>
        <p:blipFill>
          <a:blip r:embed="rId2"/>
          <a:stretch>
            <a:fillRect/>
          </a:stretch>
        </p:blipFill>
        <p:spPr>
          <a:xfrm>
            <a:off x="9474200" y="0"/>
            <a:ext cx="14909800" cy="12547600"/>
          </a:xfrm>
          <a:prstGeom prst="rect">
            <a:avLst/>
          </a:prstGeom>
        </p:spPr>
      </p:pic>
      <p:pic>
        <p:nvPicPr>
          <p:cNvPr id="8" name="Graphic 7">
            <a:extLst>
              <a:ext uri="{FF2B5EF4-FFF2-40B4-BE49-F238E27FC236}">
                <a16:creationId xmlns:a16="http://schemas.microsoft.com/office/drawing/2014/main" id="{269A90C7-9D7B-A646-8F2F-D8E6C28659C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4" name="Text Placeholder 16">
            <a:extLst>
              <a:ext uri="{FF2B5EF4-FFF2-40B4-BE49-F238E27FC236}">
                <a16:creationId xmlns:a16="http://schemas.microsoft.com/office/drawing/2014/main" id="{2968C323-10BA-3F4F-90A6-9A79E5FF2F52}"/>
              </a:ext>
            </a:extLst>
          </p:cNvPr>
          <p:cNvSpPr>
            <a:spLocks noGrp="1"/>
          </p:cNvSpPr>
          <p:nvPr>
            <p:ph type="body" sz="quarter" idx="10" hasCustomPrompt="1"/>
          </p:nvPr>
        </p:nvSpPr>
        <p:spPr>
          <a:xfrm>
            <a:off x="697741" y="10634525"/>
            <a:ext cx="11372850" cy="923330"/>
          </a:xfrm>
          <a:prstGeom prst="rect">
            <a:avLst/>
          </a:prstGeom>
        </p:spPr>
        <p:txBody>
          <a:bodyPr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1C861E3C-8230-296F-72BF-BEB912769B1B}"/>
              </a:ext>
            </a:extLst>
          </p:cNvPr>
          <p:cNvSpPr>
            <a:spLocks noGrp="1"/>
          </p:cNvSpPr>
          <p:nvPr>
            <p:ph type="ctrTitle" hasCustomPrompt="1"/>
          </p:nvPr>
        </p:nvSpPr>
        <p:spPr>
          <a:xfrm>
            <a:off x="647091" y="2023304"/>
            <a:ext cx="7039170" cy="390927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2863497-253D-0001-302A-BF7F6FB0FAE4}"/>
              </a:ext>
            </a:extLst>
          </p:cNvPr>
          <p:cNvSpPr>
            <a:spLocks noGrp="1"/>
          </p:cNvSpPr>
          <p:nvPr>
            <p:ph type="subTitle" idx="1" hasCustomPrompt="1"/>
          </p:nvPr>
        </p:nvSpPr>
        <p:spPr>
          <a:xfrm>
            <a:off x="677318" y="8726846"/>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9" name="Graphic 2">
            <a:extLst>
              <a:ext uri="{FF2B5EF4-FFF2-40B4-BE49-F238E27FC236}">
                <a16:creationId xmlns:a16="http://schemas.microsoft.com/office/drawing/2014/main" id="{0D088DC0-E273-1CE5-DFE6-10BBE1FC38A2}"/>
              </a:ext>
            </a:extLst>
          </p:cNvPr>
          <p:cNvSpPr/>
          <p:nvPr/>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5336012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preserve="1" userDrawn="1">
  <p:cSld name="Titl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4165BA7-6ECE-E932-9733-522489AB48D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2716813" y="0"/>
            <a:ext cx="21667186" cy="13716000"/>
          </a:xfrm>
          <a:prstGeom prst="rect">
            <a:avLst/>
          </a:prstGeom>
        </p:spPr>
      </p:pic>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866296"/>
            <a:ext cx="9530580" cy="253043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4181062"/>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2" name="Graphic 2">
            <a:extLst>
              <a:ext uri="{FF2B5EF4-FFF2-40B4-BE49-F238E27FC236}">
                <a16:creationId xmlns:a16="http://schemas.microsoft.com/office/drawing/2014/main" id="{457CADE9-063A-C4C9-1176-8F57C2E75155}"/>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39101156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userDrawn="1">
  <p:cSld name="1_Title Slide 2">
    <p:bg>
      <p:bgPr>
        <a:solidFill>
          <a:schemeClr val="tx1"/>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BDEC1B2-A9FA-0B77-AC13-22F8DA3B7D44}"/>
              </a:ext>
            </a:extLst>
          </p:cNvPr>
          <p:cNvPicPr>
            <a:picLocks noChangeAspect="1"/>
          </p:cNvPicPr>
          <p:nvPr userDrawn="1"/>
        </p:nvPicPr>
        <p:blipFill>
          <a:blip r:embed="rId2"/>
          <a:stretch>
            <a:fillRect/>
          </a:stretch>
        </p:blipFill>
        <p:spPr>
          <a:xfrm>
            <a:off x="8585200" y="0"/>
            <a:ext cx="15798800" cy="13716000"/>
          </a:xfrm>
          <a:prstGeom prst="rect">
            <a:avLst/>
          </a:prstGeom>
        </p:spPr>
      </p:pic>
      <p:pic>
        <p:nvPicPr>
          <p:cNvPr id="8" name="Graphic 7">
            <a:extLst>
              <a:ext uri="{FF2B5EF4-FFF2-40B4-BE49-F238E27FC236}">
                <a16:creationId xmlns:a16="http://schemas.microsoft.com/office/drawing/2014/main" id="{269A90C7-9D7B-A646-8F2F-D8E6C28659C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4" name="Text Placeholder 16">
            <a:extLst>
              <a:ext uri="{FF2B5EF4-FFF2-40B4-BE49-F238E27FC236}">
                <a16:creationId xmlns:a16="http://schemas.microsoft.com/office/drawing/2014/main" id="{2968C323-10BA-3F4F-90A6-9A79E5FF2F52}"/>
              </a:ext>
            </a:extLst>
          </p:cNvPr>
          <p:cNvSpPr>
            <a:spLocks noGrp="1"/>
          </p:cNvSpPr>
          <p:nvPr>
            <p:ph type="body" sz="quarter" idx="10" hasCustomPrompt="1"/>
          </p:nvPr>
        </p:nvSpPr>
        <p:spPr>
          <a:xfrm>
            <a:off x="697741" y="10634525"/>
            <a:ext cx="11372850" cy="923330"/>
          </a:xfrm>
          <a:prstGeom prst="rect">
            <a:avLst/>
          </a:prstGeom>
        </p:spPr>
        <p:txBody>
          <a:bodyPr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1C861E3C-8230-296F-72BF-BEB912769B1B}"/>
              </a:ext>
            </a:extLst>
          </p:cNvPr>
          <p:cNvSpPr>
            <a:spLocks noGrp="1"/>
          </p:cNvSpPr>
          <p:nvPr>
            <p:ph type="ctrTitle" hasCustomPrompt="1"/>
          </p:nvPr>
        </p:nvSpPr>
        <p:spPr>
          <a:xfrm>
            <a:off x="647091" y="689014"/>
            <a:ext cx="7039170" cy="390927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2863497-253D-0001-302A-BF7F6FB0FAE4}"/>
              </a:ext>
            </a:extLst>
          </p:cNvPr>
          <p:cNvSpPr>
            <a:spLocks noGrp="1"/>
          </p:cNvSpPr>
          <p:nvPr>
            <p:ph type="subTitle" idx="1" hasCustomPrompt="1"/>
          </p:nvPr>
        </p:nvSpPr>
        <p:spPr>
          <a:xfrm>
            <a:off x="677318" y="8726846"/>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2" name="Graphic 2">
            <a:extLst>
              <a:ext uri="{FF2B5EF4-FFF2-40B4-BE49-F238E27FC236}">
                <a16:creationId xmlns:a16="http://schemas.microsoft.com/office/drawing/2014/main" id="{B4239C57-54FA-A50C-6C7B-5EFD7193668D}"/>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62627239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2_Title Slide 3">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3DD463D2-A0CD-1A39-8F26-8419F763EB28}"/>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545612" y="0"/>
            <a:ext cx="19838388" cy="13716000"/>
          </a:xfrm>
          <a:prstGeom prst="rect">
            <a:avLst/>
          </a:prstGeom>
        </p:spPr>
      </p:pic>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1874118"/>
            <a:ext cx="9530580" cy="253043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5188884"/>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3" name="Graphic 2">
            <a:extLst>
              <a:ext uri="{FF2B5EF4-FFF2-40B4-BE49-F238E27FC236}">
                <a16:creationId xmlns:a16="http://schemas.microsoft.com/office/drawing/2014/main" id="{B077200D-89FC-938D-58D7-7538DC70F329}"/>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85328701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1_Title Slide 3">
    <p:bg>
      <p:bgPr>
        <a:solidFill>
          <a:schemeClr val="tx1"/>
        </a:solidFill>
        <a:effectLst/>
      </p:bgPr>
    </p:bg>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2065906"/>
            <a:ext cx="9530580" cy="253043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5380672"/>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pic>
        <p:nvPicPr>
          <p:cNvPr id="3" name="Picture 2">
            <a:extLst>
              <a:ext uri="{FF2B5EF4-FFF2-40B4-BE49-F238E27FC236}">
                <a16:creationId xmlns:a16="http://schemas.microsoft.com/office/drawing/2014/main" id="{AE28AD9D-E530-B3D6-1DA4-6BDBE343733C}"/>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10695047" y="0"/>
            <a:ext cx="13688954" cy="13716000"/>
          </a:xfrm>
          <a:prstGeom prst="rect">
            <a:avLst/>
          </a:prstGeom>
        </p:spPr>
      </p:pic>
      <p:sp>
        <p:nvSpPr>
          <p:cNvPr id="2" name="Graphic 2">
            <a:extLst>
              <a:ext uri="{FF2B5EF4-FFF2-40B4-BE49-F238E27FC236}">
                <a16:creationId xmlns:a16="http://schemas.microsoft.com/office/drawing/2014/main" id="{7E7E76DF-5156-C21D-C055-E4AEB1A5577E}"/>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14802550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Breaker">
    <p:bg>
      <p:bgPr>
        <a:solidFill>
          <a:schemeClr val="tx1"/>
        </a:solidFill>
        <a:effectLst/>
      </p:bgPr>
    </p:bg>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0873689" y="623811"/>
            <a:ext cx="11160126" cy="4200146"/>
          </a:xfrm>
          <a:prstGeom prst="rect">
            <a:avLst/>
          </a:prstGeom>
          <a:noFill/>
          <a:ln>
            <a:noFill/>
          </a:ln>
        </p:spPr>
        <p:txBody>
          <a:bodyPr vert="horz" lIns="0" tIns="0" rIns="0" bIns="0" rtlCol="0" anchor="b">
            <a:noAutofit/>
          </a:bodyPr>
          <a:lstStyle>
            <a:lvl1pPr marL="0" indent="0" fontAlgn="base">
              <a:lnSpc>
                <a:spcPct val="112000"/>
              </a:lnSpc>
              <a:spcBef>
                <a:spcPts val="0"/>
              </a:spcBef>
              <a:buNone/>
              <a:defRPr lang="en-US" sz="90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0908615" y="4969057"/>
            <a:ext cx="8875710" cy="1600438"/>
          </a:xfrm>
          <a:prstGeom prst="rect">
            <a:avLst/>
          </a:prstGeom>
        </p:spPr>
        <p:txBody>
          <a:bodyPr vert="horz" wrap="square" lIns="0" tIns="0" rIns="0" bIns="0" rtlCol="0" anchor="t">
            <a:spAutoFit/>
          </a:bodyPr>
          <a:lstStyle>
            <a:lvl1pPr marL="0" indent="0">
              <a:buNone/>
              <a:defRPr lang="en-US" sz="5200" dirty="0">
                <a:ln>
                  <a:noFill/>
                </a:ln>
                <a:solidFill>
                  <a:schemeClr val="bg1"/>
                </a:solidFill>
              </a:defRPr>
            </a:lvl1pPr>
          </a:lstStyle>
          <a:p>
            <a:pPr lvl="0"/>
            <a:r>
              <a:rPr lang="en-US"/>
              <a:t>All titles/subtitles are sentence case</a:t>
            </a:r>
          </a:p>
        </p:txBody>
      </p:sp>
      <p:pic>
        <p:nvPicPr>
          <p:cNvPr id="6" name="Graphic 5">
            <a:extLst>
              <a:ext uri="{FF2B5EF4-FFF2-40B4-BE49-F238E27FC236}">
                <a16:creationId xmlns:a16="http://schemas.microsoft.com/office/drawing/2014/main" id="{C0F6F2E4-2F4C-BB43-8EB6-24C72650C2E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 name="Graphic 2">
            <a:extLst>
              <a:ext uri="{FF2B5EF4-FFF2-40B4-BE49-F238E27FC236}">
                <a16:creationId xmlns:a16="http://schemas.microsoft.com/office/drawing/2014/main" id="{4765CAD0-7126-5B70-C779-9CC35C2AEB1D}"/>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pic>
        <p:nvPicPr>
          <p:cNvPr id="5" name="Picture 4">
            <a:extLst>
              <a:ext uri="{FF2B5EF4-FFF2-40B4-BE49-F238E27FC236}">
                <a16:creationId xmlns:a16="http://schemas.microsoft.com/office/drawing/2014/main" id="{0678CA17-1D97-0236-79E4-26F5DC7150C4}"/>
              </a:ext>
            </a:extLst>
          </p:cNvPr>
          <p:cNvPicPr>
            <a:picLocks noChangeAspect="1"/>
          </p:cNvPicPr>
          <p:nvPr userDrawn="1"/>
        </p:nvPicPr>
        <p:blipFill>
          <a:blip r:embed="rId4"/>
          <a:stretch>
            <a:fillRect/>
          </a:stretch>
        </p:blipFill>
        <p:spPr>
          <a:xfrm>
            <a:off x="3810000" y="0"/>
            <a:ext cx="20574000" cy="13716000"/>
          </a:xfrm>
          <a:prstGeom prst="rect">
            <a:avLst/>
          </a:prstGeom>
        </p:spPr>
      </p:pic>
    </p:spTree>
    <p:extLst>
      <p:ext uri="{BB962C8B-B14F-4D97-AF65-F5344CB8AC3E}">
        <p14:creationId xmlns:p14="http://schemas.microsoft.com/office/powerpoint/2010/main" val="279079281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1_Breaker">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B8DA39-5EB3-C1BA-D804-706D71953C1A}"/>
              </a:ext>
            </a:extLst>
          </p:cNvPr>
          <p:cNvPicPr>
            <a:picLocks noChangeAspect="1"/>
          </p:cNvPicPr>
          <p:nvPr userDrawn="1"/>
        </p:nvPicPr>
        <p:blipFill>
          <a:blip r:embed="rId2"/>
          <a:stretch>
            <a:fillRect/>
          </a:stretch>
        </p:blipFill>
        <p:spPr>
          <a:xfrm flipH="1">
            <a:off x="0" y="0"/>
            <a:ext cx="14909800" cy="12547600"/>
          </a:xfrm>
          <a:prstGeom prst="rect">
            <a:avLst/>
          </a:prstGeom>
        </p:spPr>
      </p:pic>
      <p:pic>
        <p:nvPicPr>
          <p:cNvPr id="35" name="Graphic 34">
            <a:extLst>
              <a:ext uri="{FF2B5EF4-FFF2-40B4-BE49-F238E27FC236}">
                <a16:creationId xmlns:a16="http://schemas.microsoft.com/office/drawing/2014/main" id="{B740DB18-FB40-8A40-9C99-C82E37F311C5}"/>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4183359" y="2227766"/>
            <a:ext cx="10200642" cy="4485136"/>
          </a:xfrm>
          <a:prstGeom prst="rect">
            <a:avLst/>
          </a:prstGeom>
          <a:noFill/>
          <a:ln>
            <a:noFill/>
          </a:ln>
        </p:spPr>
        <p:txBody>
          <a:bodyPr vert="horz" lIns="0" tIns="0" rIns="0" bIns="0" rtlCol="0" anchor="b">
            <a:noAutofit/>
          </a:bodyPr>
          <a:lstStyle>
            <a:lvl1pPr marL="0" indent="0" fontAlgn="base">
              <a:lnSpc>
                <a:spcPct val="100000"/>
              </a:lnSpc>
              <a:spcBef>
                <a:spcPts val="0"/>
              </a:spcBef>
              <a:buNone/>
              <a:defRPr lang="en-US" sz="76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4218285" y="6858001"/>
            <a:ext cx="10168718" cy="615554"/>
          </a:xfrm>
          <a:prstGeom prst="rect">
            <a:avLst/>
          </a:prstGeom>
        </p:spPr>
        <p:txBody>
          <a:bodyPr vert="horz" wrap="square" lIns="0" tIns="0" rIns="0" bIns="0" rtlCol="0" anchor="t">
            <a:spAutoFit/>
          </a:bodyPr>
          <a:lstStyle>
            <a:lvl1pPr marL="0" indent="0">
              <a:buNone/>
              <a:defRPr lang="en-US" sz="4000" dirty="0">
                <a:ln>
                  <a:noFill/>
                </a:ln>
                <a:solidFill>
                  <a:schemeClr val="bg1"/>
                </a:solidFill>
              </a:defRPr>
            </a:lvl1pPr>
          </a:lstStyle>
          <a:p>
            <a:pPr lvl="0"/>
            <a:r>
              <a:rPr lang="en-US"/>
              <a:t>All titles/subtitles are sentence case</a:t>
            </a:r>
          </a:p>
        </p:txBody>
      </p:sp>
      <p:sp>
        <p:nvSpPr>
          <p:cNvPr id="3" name="Graphic 2">
            <a:extLst>
              <a:ext uri="{FF2B5EF4-FFF2-40B4-BE49-F238E27FC236}">
                <a16:creationId xmlns:a16="http://schemas.microsoft.com/office/drawing/2014/main" id="{7EF60E61-AA73-8D8E-6D66-BA84E61610FC}"/>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99309094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Thank you US">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8542DD0-7F78-EC7A-D5FC-D2A142724A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3104" y="618382"/>
            <a:ext cx="519747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a:lnSpc>
                <a:spcPct val="110000"/>
              </a:lnSpc>
              <a:spcBef>
                <a:spcPts val="600"/>
              </a:spcBef>
              <a:spcAft>
                <a:spcPts val="600"/>
              </a:spcAft>
            </a:pPr>
            <a:r>
              <a:rPr lang="en-US" sz="3000" b="1">
                <a:solidFill>
                  <a:schemeClr val="tx1"/>
                </a:solidFill>
              </a:rPr>
              <a:t>Rackspace Technology</a:t>
            </a:r>
          </a:p>
          <a:p>
            <a:pPr>
              <a:lnSpc>
                <a:spcPct val="110000"/>
              </a:lnSpc>
              <a:spcBef>
                <a:spcPts val="600"/>
              </a:spcBef>
              <a:spcAft>
                <a:spcPts val="600"/>
              </a:spcAft>
            </a:pPr>
            <a:r>
              <a:rPr lang="en-US" sz="3000">
                <a:solidFill>
                  <a:schemeClr val="tx1"/>
                </a:solidFill>
              </a:rPr>
              <a:t>One Fanatical Place</a:t>
            </a:r>
            <a:br>
              <a:rPr lang="en-US" sz="3000">
                <a:solidFill>
                  <a:schemeClr val="tx1"/>
                </a:solidFill>
              </a:rPr>
            </a:br>
            <a:r>
              <a:rPr lang="en-US" sz="3000">
                <a:solidFill>
                  <a:schemeClr val="tx1"/>
                </a:solidFill>
              </a:rPr>
              <a:t>San Antonio, TX 78218</a:t>
            </a:r>
          </a:p>
          <a:p>
            <a:pPr>
              <a:lnSpc>
                <a:spcPct val="110000"/>
              </a:lnSpc>
              <a:spcBef>
                <a:spcPts val="600"/>
              </a:spcBef>
              <a:spcAft>
                <a:spcPts val="600"/>
              </a:spcAft>
            </a:pPr>
            <a:r>
              <a:rPr lang="en-US" sz="3000">
                <a:solidFill>
                  <a:schemeClr val="tx1"/>
                </a:solidFill>
              </a:rPr>
              <a:t>US sales: 1-800-961-2888 </a:t>
            </a:r>
            <a:br>
              <a:rPr lang="en-US" sz="3000">
                <a:solidFill>
                  <a:schemeClr val="tx1"/>
                </a:solidFill>
              </a:rPr>
            </a:br>
            <a:r>
              <a:rPr lang="en-US" sz="3000">
                <a:solidFill>
                  <a:schemeClr val="tx1"/>
                </a:solidFill>
              </a:rPr>
              <a:t>US support: 1-800-961-4454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www.rackspace.com</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p>
          <a:p>
            <a:pPr marL="0" marR="0" lvl="0" indent="0" algn="l" defTabSz="1828800" rtl="0" eaLnBrk="1" fontAlgn="auto" latinLnBrk="0" hangingPunct="1">
              <a:lnSpc>
                <a:spcPct val="110000"/>
              </a:lnSpc>
              <a:spcBef>
                <a:spcPts val="600"/>
              </a:spcBef>
              <a:spcAft>
                <a:spcPts val="600"/>
              </a:spcAft>
              <a:buClrTx/>
              <a:buSzTx/>
              <a:buFont typeface="Arial" panose="020B0604020202020204" pitchFamily="34" charset="0"/>
              <a:buNone/>
              <a:tabLst/>
              <a:defRPr/>
            </a:pPr>
            <a:endParaRPr lang="en-US" sz="900" cap="none" baseline="0">
              <a:solidFill>
                <a:schemeClr val="tx1"/>
              </a:solidFill>
            </a:endParaRPr>
          </a:p>
          <a:p>
            <a:pPr>
              <a:spcBef>
                <a:spcPts val="600"/>
              </a:spcBef>
              <a:spcAft>
                <a:spcPts val="600"/>
              </a:spcAft>
            </a:pPr>
            <a:endParaRPr lang="en-US" sz="900">
              <a:solidFill>
                <a:schemeClr val="tx1"/>
              </a:solidFill>
            </a:endParaRPr>
          </a:p>
        </p:txBody>
      </p:sp>
      <p:sp>
        <p:nvSpPr>
          <p:cNvPr id="8" name="Title 1">
            <a:extLst>
              <a:ext uri="{FF2B5EF4-FFF2-40B4-BE49-F238E27FC236}">
                <a16:creationId xmlns:a16="http://schemas.microsoft.com/office/drawing/2014/main" id="{CA8D6980-0755-4BDF-90B7-CB35F8A5326B}"/>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pic>
        <p:nvPicPr>
          <p:cNvPr id="9" name="Graphic 8">
            <a:extLst>
              <a:ext uri="{FF2B5EF4-FFF2-40B4-BE49-F238E27FC236}">
                <a16:creationId xmlns:a16="http://schemas.microsoft.com/office/drawing/2014/main" id="{40B8DA9A-ED61-5E43-8362-4E63965DB80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5" name="Graphic 2">
            <a:extLst>
              <a:ext uri="{FF2B5EF4-FFF2-40B4-BE49-F238E27FC236}">
                <a16:creationId xmlns:a16="http://schemas.microsoft.com/office/drawing/2014/main" id="{F5C83CB2-275A-FBA6-BB3A-46CB8C63DAB1}"/>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87704920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Thank you UK">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FFCA8B3-607E-EB86-6B92-3EC70005FC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1" kern="1200">
                <a:solidFill>
                  <a:schemeClr val="tx1"/>
                </a:solidFill>
                <a:latin typeface="+mn-lt"/>
                <a:ea typeface="+mn-ea"/>
                <a:cs typeface="+mn-cs"/>
              </a:rPr>
              <a:t>Rackspace Technology</a:t>
            </a:r>
          </a:p>
          <a:p>
            <a:pPr marL="0" algn="l" defTabSz="457200" rtl="0" eaLnBrk="1" latinLnBrk="0" hangingPunct="1">
              <a:lnSpc>
                <a:spcPct val="110000"/>
              </a:lnSpc>
              <a:spcBef>
                <a:spcPts val="600"/>
              </a:spcBef>
              <a:spcAft>
                <a:spcPts val="600"/>
              </a:spcAft>
            </a:pPr>
            <a:r>
              <a:rPr lang="en-US" sz="3000" kern="1200">
                <a:solidFill>
                  <a:schemeClr val="tx1"/>
                </a:solidFill>
                <a:latin typeface="+mn-lt"/>
                <a:ea typeface="+mn-ea"/>
                <a:cs typeface="+mn-cs"/>
              </a:rPr>
              <a:t>8 Millington Road</a:t>
            </a:r>
            <a:br>
              <a:rPr lang="en-US" sz="3000" kern="1200">
                <a:solidFill>
                  <a:schemeClr val="tx1"/>
                </a:solidFill>
                <a:latin typeface="+mn-lt"/>
                <a:ea typeface="+mn-ea"/>
                <a:cs typeface="+mn-cs"/>
              </a:rPr>
            </a:br>
            <a:r>
              <a:rPr lang="en-US" sz="3000" kern="1200">
                <a:solidFill>
                  <a:schemeClr val="tx1"/>
                </a:solidFill>
                <a:latin typeface="+mn-lt"/>
                <a:ea typeface="+mn-ea"/>
                <a:cs typeface="+mn-cs"/>
              </a:rPr>
              <a:t>Hayes, Middlesex </a:t>
            </a:r>
            <a:br>
              <a:rPr lang="en-US" sz="3000" kern="1200">
                <a:solidFill>
                  <a:schemeClr val="tx1"/>
                </a:solidFill>
                <a:latin typeface="+mn-lt"/>
                <a:ea typeface="+mn-ea"/>
                <a:cs typeface="+mn-cs"/>
              </a:rPr>
            </a:br>
            <a:r>
              <a:rPr lang="en-US" sz="3000" kern="1200">
                <a:solidFill>
                  <a:schemeClr val="tx1"/>
                </a:solidFill>
                <a:latin typeface="+mn-lt"/>
                <a:ea typeface="+mn-ea"/>
                <a:cs typeface="+mn-cs"/>
              </a:rPr>
              <a:t>UB3 4AZ</a:t>
            </a:r>
          </a:p>
          <a:p>
            <a:pPr>
              <a:lnSpc>
                <a:spcPct val="110000"/>
              </a:lnSpc>
              <a:spcBef>
                <a:spcPts val="600"/>
              </a:spcBef>
              <a:spcAft>
                <a:spcPts val="600"/>
              </a:spcAft>
            </a:pPr>
            <a:r>
              <a:rPr lang="en-US" sz="3000">
                <a:solidFill>
                  <a:schemeClr val="tx1"/>
                </a:solidFill>
              </a:rPr>
              <a:t>U.K. sales: 020 8734 2600  </a:t>
            </a:r>
            <a:br>
              <a:rPr lang="en-US" sz="3000">
                <a:solidFill>
                  <a:schemeClr val="tx1"/>
                </a:solidFill>
              </a:rPr>
            </a:br>
            <a:r>
              <a:rPr lang="en-US" sz="3000">
                <a:solidFill>
                  <a:schemeClr val="tx1"/>
                </a:solidFill>
              </a:rPr>
              <a:t>U.K. support: 020 8734 2700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www.rackspace.co.uk</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cap="none" baseline="0">
              <a:solidFill>
                <a:schemeClr val="tx1"/>
              </a:solidFill>
            </a:endParaRPr>
          </a:p>
          <a:p>
            <a:pPr>
              <a:spcBef>
                <a:spcPts val="600"/>
              </a:spcBef>
              <a:spcAft>
                <a:spcPts val="600"/>
              </a:spcAft>
            </a:pPr>
            <a:endParaRPr lang="en-US" sz="900">
              <a:solidFill>
                <a:schemeClr val="tx1"/>
              </a:solidFill>
            </a:endParaRPr>
          </a:p>
        </p:txBody>
      </p:sp>
      <p:pic>
        <p:nvPicPr>
          <p:cNvPr id="6" name="Graphic 5">
            <a:extLst>
              <a:ext uri="{FF2B5EF4-FFF2-40B4-BE49-F238E27FC236}">
                <a16:creationId xmlns:a16="http://schemas.microsoft.com/office/drawing/2014/main" id="{7C797846-2FE7-1F4B-A5B0-CC5DA49A249B}"/>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A5CD6002-EFB6-8A46-9A72-06D0A61799C8}"/>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sp>
        <p:nvSpPr>
          <p:cNvPr id="5" name="Graphic 2">
            <a:extLst>
              <a:ext uri="{FF2B5EF4-FFF2-40B4-BE49-F238E27FC236}">
                <a16:creationId xmlns:a16="http://schemas.microsoft.com/office/drawing/2014/main" id="{9EFADF9F-D78A-35D2-A20F-2DD7BA53DB69}"/>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72315825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Thank you AUS">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56B11D-EA4E-5DD4-8089-D6B4F96745E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1" kern="1200">
                <a:solidFill>
                  <a:schemeClr val="tx1"/>
                </a:solidFill>
                <a:latin typeface="+mn-lt"/>
                <a:ea typeface="+mn-ea"/>
                <a:cs typeface="+mn-cs"/>
              </a:rPr>
              <a:t>Rackspace Technology</a:t>
            </a:r>
          </a:p>
          <a:p>
            <a:pPr marL="0" algn="l" defTabSz="457200" rtl="0" eaLnBrk="1" latinLnBrk="0" hangingPunct="1">
              <a:lnSpc>
                <a:spcPct val="110000"/>
              </a:lnSpc>
              <a:spcBef>
                <a:spcPts val="600"/>
              </a:spcBef>
              <a:spcAft>
                <a:spcPts val="600"/>
              </a:spcAft>
            </a:pPr>
            <a:r>
              <a:rPr lang="en-US" sz="3000" kern="1200">
                <a:solidFill>
                  <a:schemeClr val="tx1"/>
                </a:solidFill>
                <a:latin typeface="+mn-lt"/>
                <a:ea typeface="+mn-ea"/>
                <a:cs typeface="+mn-cs"/>
              </a:rPr>
              <a:t>Level 1, 37 Pitt Street,</a:t>
            </a:r>
            <a:br>
              <a:rPr lang="en-US" sz="3000" kern="1200">
                <a:solidFill>
                  <a:schemeClr val="tx1"/>
                </a:solidFill>
                <a:latin typeface="+mn-lt"/>
                <a:ea typeface="+mn-ea"/>
                <a:cs typeface="+mn-cs"/>
              </a:rPr>
            </a:br>
            <a:r>
              <a:rPr lang="en-US" sz="3000" kern="1200">
                <a:solidFill>
                  <a:schemeClr val="tx1"/>
                </a:solidFill>
                <a:latin typeface="+mn-lt"/>
                <a:ea typeface="+mn-ea"/>
                <a:cs typeface="+mn-cs"/>
              </a:rPr>
              <a:t>Sydney NSW 2000, Australia</a:t>
            </a:r>
          </a:p>
          <a:p>
            <a:pPr>
              <a:lnSpc>
                <a:spcPct val="110000"/>
              </a:lnSpc>
              <a:spcBef>
                <a:spcPts val="600"/>
              </a:spcBef>
              <a:spcAft>
                <a:spcPts val="600"/>
              </a:spcAft>
            </a:pPr>
            <a:r>
              <a:rPr lang="en-US" sz="3000">
                <a:solidFill>
                  <a:schemeClr val="tx1"/>
                </a:solidFill>
              </a:rPr>
              <a:t>AUS sales: 1-800-722-577</a:t>
            </a:r>
            <a:br>
              <a:rPr lang="en-US" sz="3000">
                <a:solidFill>
                  <a:schemeClr val="tx1"/>
                </a:solidFill>
              </a:rPr>
            </a:br>
            <a:r>
              <a:rPr lang="en-US" sz="3000">
                <a:solidFill>
                  <a:schemeClr val="tx1"/>
                </a:solidFill>
              </a:rPr>
              <a:t>AUS support: 1-800-421-267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www.rackspace.co.au</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cap="none" baseline="0">
              <a:solidFill>
                <a:schemeClr val="tx1"/>
              </a:solidFill>
            </a:endParaRPr>
          </a:p>
          <a:p>
            <a:pPr>
              <a:spcBef>
                <a:spcPts val="600"/>
              </a:spcBef>
              <a:spcAft>
                <a:spcPts val="600"/>
              </a:spcAft>
            </a:pPr>
            <a:endParaRPr lang="en-US" sz="900">
              <a:solidFill>
                <a:schemeClr val="tx1"/>
              </a:solidFill>
            </a:endParaRPr>
          </a:p>
        </p:txBody>
      </p:sp>
      <p:pic>
        <p:nvPicPr>
          <p:cNvPr id="6" name="Graphic 5">
            <a:extLst>
              <a:ext uri="{FF2B5EF4-FFF2-40B4-BE49-F238E27FC236}">
                <a16:creationId xmlns:a16="http://schemas.microsoft.com/office/drawing/2014/main" id="{AC0FA533-2CE7-6E47-81C4-BFCDCCE0C1C4}"/>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1D0A5DDB-735A-4943-B6C8-C8D38CE28960}"/>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sp>
        <p:nvSpPr>
          <p:cNvPr id="5" name="Graphic 2">
            <a:extLst>
              <a:ext uri="{FF2B5EF4-FFF2-40B4-BE49-F238E27FC236}">
                <a16:creationId xmlns:a16="http://schemas.microsoft.com/office/drawing/2014/main" id="{624A405F-8B3B-B4AB-17B8-B5417AC9E53C}"/>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408133925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Thank you ASIA">
    <p:bg>
      <p:bgPr>
        <a:solidFill>
          <a:schemeClr val="tx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497F4D2-160B-C97C-40D9-A804160E6AD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123703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1" kern="1200">
                <a:solidFill>
                  <a:schemeClr val="tx1"/>
                </a:solidFill>
                <a:latin typeface="+mn-lt"/>
                <a:ea typeface="+mn-ea"/>
                <a:cs typeface="+mn-cs"/>
              </a:rPr>
              <a:t>Rackspace Technology</a:t>
            </a:r>
          </a:p>
          <a:p>
            <a:pPr marL="0" marR="0" lvl="0" indent="0" algn="l" defTabSz="457200" rtl="0" eaLnBrk="1" fontAlgn="auto" latinLnBrk="0" hangingPunct="1">
              <a:lnSpc>
                <a:spcPct val="110000"/>
              </a:lnSpc>
              <a:spcBef>
                <a:spcPts val="600"/>
              </a:spcBef>
              <a:spcAft>
                <a:spcPts val="1200"/>
              </a:spcAft>
              <a:buClrTx/>
              <a:buSzTx/>
              <a:buFontTx/>
              <a:buNone/>
              <a:tabLst/>
              <a:defRPr/>
            </a:pPr>
            <a:r>
              <a:rPr lang="en-US" sz="3000" kern="1200" cap="none">
                <a:solidFill>
                  <a:schemeClr val="tx1"/>
                </a:solidFill>
                <a:latin typeface="+mn-lt"/>
                <a:ea typeface="+mn-ea"/>
                <a:cs typeface="+mn-cs"/>
              </a:rPr>
              <a:t>9/F., Cambridge House</a:t>
            </a:r>
            <a:br>
              <a:rPr lang="en-US" sz="3000" kern="1200" cap="none">
                <a:solidFill>
                  <a:schemeClr val="tx1"/>
                </a:solidFill>
                <a:latin typeface="+mn-lt"/>
                <a:ea typeface="+mn-ea"/>
                <a:cs typeface="+mn-cs"/>
              </a:rPr>
            </a:br>
            <a:r>
              <a:rPr lang="en-US" sz="3000" kern="1200" cap="none">
                <a:solidFill>
                  <a:schemeClr val="tx1"/>
                </a:solidFill>
                <a:latin typeface="+mn-lt"/>
                <a:ea typeface="+mn-ea"/>
                <a:cs typeface="+mn-cs"/>
              </a:rPr>
              <a:t>Taikoo Place, 979 King's Road</a:t>
            </a:r>
            <a:br>
              <a:rPr lang="en-US" sz="3000" kern="1200" cap="none">
                <a:solidFill>
                  <a:schemeClr val="tx1"/>
                </a:solidFill>
                <a:latin typeface="+mn-lt"/>
                <a:ea typeface="+mn-ea"/>
                <a:cs typeface="+mn-cs"/>
              </a:rPr>
            </a:br>
            <a:r>
              <a:rPr lang="en-US" sz="3000" kern="1200" cap="none">
                <a:solidFill>
                  <a:schemeClr val="tx1"/>
                </a:solidFill>
                <a:latin typeface="+mn-lt"/>
                <a:ea typeface="+mn-ea"/>
                <a:cs typeface="+mn-cs"/>
              </a:rPr>
              <a:t>Quarry Bay, Hong Kong</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China: +86 21 5058 8808 </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Hong Kong: +852 3752 6488 </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India: 000800 100 8796</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Philippines: 1 800 1110 1468 </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Singapore: +65 6428 6102 </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Taiwan: +886 2 2650 7441</a:t>
            </a:r>
          </a:p>
          <a:p>
            <a:pPr marL="0" algn="l" defTabSz="457200" rtl="0" eaLnBrk="1" latinLnBrk="0" hangingPunct="1">
              <a:lnSpc>
                <a:spcPct val="110000"/>
              </a:lnSpc>
              <a:spcBef>
                <a:spcPts val="600"/>
              </a:spcBef>
              <a:spcAft>
                <a:spcPts val="1200"/>
              </a:spcAft>
            </a:pPr>
            <a:r>
              <a:rPr lang="en-US" sz="3000" kern="1200" cap="none">
                <a:solidFill>
                  <a:schemeClr val="tx1"/>
                </a:solidFill>
                <a:latin typeface="+mn-lt"/>
                <a:ea typeface="+mn-ea"/>
                <a:cs typeface="+mn-cs"/>
              </a:rPr>
              <a:t>Thailand: +66 2105 5712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www.rackspace.com</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cap="none" baseline="0">
              <a:solidFill>
                <a:schemeClr val="tx1"/>
              </a:solidFill>
            </a:endParaRPr>
          </a:p>
          <a:p>
            <a:pPr>
              <a:spcBef>
                <a:spcPts val="600"/>
              </a:spcBef>
              <a:spcAft>
                <a:spcPts val="600"/>
              </a:spcAft>
            </a:pPr>
            <a:endParaRPr lang="en-US" sz="900">
              <a:solidFill>
                <a:schemeClr val="tx1"/>
              </a:solidFill>
            </a:endParaRPr>
          </a:p>
        </p:txBody>
      </p:sp>
      <p:pic>
        <p:nvPicPr>
          <p:cNvPr id="6" name="Graphic 5">
            <a:extLst>
              <a:ext uri="{FF2B5EF4-FFF2-40B4-BE49-F238E27FC236}">
                <a16:creationId xmlns:a16="http://schemas.microsoft.com/office/drawing/2014/main" id="{55E1009B-6DDE-3A4A-A67D-3789AA6DC5A4}"/>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62B38B6C-0963-FC49-B60A-104F4423F171}"/>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sp>
        <p:nvSpPr>
          <p:cNvPr id="4" name="Graphic 2">
            <a:extLst>
              <a:ext uri="{FF2B5EF4-FFF2-40B4-BE49-F238E27FC236}">
                <a16:creationId xmlns:a16="http://schemas.microsoft.com/office/drawing/2014/main" id="{3B656623-07C0-9359-8C07-651BB1DF88A2}"/>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48771280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2_Logo">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F4F7020-A4CC-335A-1D32-F7778AF48C3F}"/>
              </a:ext>
            </a:extLst>
          </p:cNvPr>
          <p:cNvPicPr>
            <a:picLocks noChangeAspect="1"/>
          </p:cNvPicPr>
          <p:nvPr userDrawn="1"/>
        </p:nvPicPr>
        <p:blipFill>
          <a:blip r:embed="rId2"/>
          <a:stretch>
            <a:fillRect/>
          </a:stretch>
        </p:blipFill>
        <p:spPr>
          <a:xfrm>
            <a:off x="1676400" y="0"/>
            <a:ext cx="21031200" cy="13716000"/>
          </a:xfrm>
          <a:prstGeom prst="rect">
            <a:avLst/>
          </a:prstGeom>
        </p:spPr>
      </p:pic>
      <p:sp>
        <p:nvSpPr>
          <p:cNvPr id="7" name="Graphic 5">
            <a:extLst>
              <a:ext uri="{FF2B5EF4-FFF2-40B4-BE49-F238E27FC236}">
                <a16:creationId xmlns:a16="http://schemas.microsoft.com/office/drawing/2014/main" id="{08DE7455-B783-AA7A-0958-9BF73F5F802D}"/>
              </a:ext>
            </a:extLst>
          </p:cNvPr>
          <p:cNvSpPr>
            <a:spLocks noChangeAspect="1"/>
          </p:cNvSpPr>
          <p:nvPr/>
        </p:nvSpPr>
        <p:spPr>
          <a:xfrm>
            <a:off x="5647010" y="5614416"/>
            <a:ext cx="13089980" cy="2487168"/>
          </a:xfrm>
          <a:custGeom>
            <a:avLst/>
            <a:gdLst>
              <a:gd name="connsiteX0" fmla="*/ 3216560 w 4875349"/>
              <a:gd name="connsiteY0" fmla="*/ 504882 h 926343"/>
              <a:gd name="connsiteX1" fmla="*/ 3216558 w 4875349"/>
              <a:gd name="connsiteY1" fmla="*/ 113422 h 926343"/>
              <a:gd name="connsiteX2" fmla="*/ 3240379 w 4875349"/>
              <a:gd name="connsiteY2" fmla="*/ 113422 h 926343"/>
              <a:gd name="connsiteX3" fmla="*/ 3240381 w 4875349"/>
              <a:gd name="connsiteY3" fmla="*/ 504882 h 926343"/>
              <a:gd name="connsiteX4" fmla="*/ 3216560 w 4875349"/>
              <a:gd name="connsiteY4" fmla="*/ 504882 h 926343"/>
              <a:gd name="connsiteX5" fmla="*/ 4045162 w 4875349"/>
              <a:gd name="connsiteY5" fmla="*/ 501503 h 926343"/>
              <a:gd name="connsiteX6" fmla="*/ 4065592 w 4875349"/>
              <a:gd name="connsiteY6" fmla="*/ 501503 h 926343"/>
              <a:gd name="connsiteX7" fmla="*/ 4065592 w 4875349"/>
              <a:gd name="connsiteY7" fmla="*/ 436819 h 926343"/>
              <a:gd name="connsiteX8" fmla="*/ 4113948 w 4875349"/>
              <a:gd name="connsiteY8" fmla="*/ 436819 h 926343"/>
              <a:gd name="connsiteX9" fmla="*/ 4113948 w 4875349"/>
              <a:gd name="connsiteY9" fmla="*/ 420806 h 926343"/>
              <a:gd name="connsiteX10" fmla="*/ 4065592 w 4875349"/>
              <a:gd name="connsiteY10" fmla="*/ 420806 h 926343"/>
              <a:gd name="connsiteX11" fmla="*/ 4065592 w 4875349"/>
              <a:gd name="connsiteY11" fmla="*/ 370635 h 926343"/>
              <a:gd name="connsiteX12" fmla="*/ 4121465 w 4875349"/>
              <a:gd name="connsiteY12" fmla="*/ 370635 h 926343"/>
              <a:gd name="connsiteX13" fmla="*/ 4123838 w 4875349"/>
              <a:gd name="connsiteY13" fmla="*/ 354398 h 926343"/>
              <a:gd name="connsiteX14" fmla="*/ 4045162 w 4875349"/>
              <a:gd name="connsiteY14" fmla="*/ 354398 h 926343"/>
              <a:gd name="connsiteX15" fmla="*/ 4045162 w 4875349"/>
              <a:gd name="connsiteY15" fmla="*/ 501503 h 926343"/>
              <a:gd name="connsiteX16" fmla="*/ 4173291 w 4875349"/>
              <a:gd name="connsiteY16" fmla="*/ 348426 h 926343"/>
              <a:gd name="connsiteX17" fmla="*/ 4159329 w 4875349"/>
              <a:gd name="connsiteY17" fmla="*/ 361661 h 926343"/>
              <a:gd name="connsiteX18" fmla="*/ 4145567 w 4875349"/>
              <a:gd name="connsiteY18" fmla="*/ 348426 h 926343"/>
              <a:gd name="connsiteX19" fmla="*/ 4159329 w 4875349"/>
              <a:gd name="connsiteY19" fmla="*/ 334968 h 926343"/>
              <a:gd name="connsiteX20" fmla="*/ 4173291 w 4875349"/>
              <a:gd name="connsiteY20" fmla="*/ 348426 h 926343"/>
              <a:gd name="connsiteX21" fmla="*/ 4169419 w 4875349"/>
              <a:gd name="connsiteY21" fmla="*/ 501497 h 926343"/>
              <a:gd name="connsiteX22" fmla="*/ 4149638 w 4875349"/>
              <a:gd name="connsiteY22" fmla="*/ 501497 h 926343"/>
              <a:gd name="connsiteX23" fmla="*/ 4149638 w 4875349"/>
              <a:gd name="connsiteY23" fmla="*/ 388985 h 926343"/>
              <a:gd name="connsiteX24" fmla="*/ 4169419 w 4875349"/>
              <a:gd name="connsiteY24" fmla="*/ 388985 h 926343"/>
              <a:gd name="connsiteX25" fmla="*/ 4169419 w 4875349"/>
              <a:gd name="connsiteY25" fmla="*/ 501497 h 926343"/>
              <a:gd name="connsiteX26" fmla="*/ 4270675 w 4875349"/>
              <a:gd name="connsiteY26" fmla="*/ 387709 h 926343"/>
              <a:gd name="connsiteX27" fmla="*/ 4267016 w 4875349"/>
              <a:gd name="connsiteY27" fmla="*/ 406922 h 926343"/>
              <a:gd name="connsiteX28" fmla="*/ 4257138 w 4875349"/>
              <a:gd name="connsiteY28" fmla="*/ 405632 h 926343"/>
              <a:gd name="connsiteX29" fmla="*/ 4230050 w 4875349"/>
              <a:gd name="connsiteY29" fmla="*/ 437236 h 926343"/>
              <a:gd name="connsiteX30" fmla="*/ 4230050 w 4875349"/>
              <a:gd name="connsiteY30" fmla="*/ 501498 h 926343"/>
              <a:gd name="connsiteX31" fmla="*/ 4210269 w 4875349"/>
              <a:gd name="connsiteY31" fmla="*/ 501498 h 926343"/>
              <a:gd name="connsiteX32" fmla="*/ 4210269 w 4875349"/>
              <a:gd name="connsiteY32" fmla="*/ 388999 h 926343"/>
              <a:gd name="connsiteX33" fmla="*/ 4227253 w 4875349"/>
              <a:gd name="connsiteY33" fmla="*/ 388999 h 926343"/>
              <a:gd name="connsiteX34" fmla="*/ 4229188 w 4875349"/>
              <a:gd name="connsiteY34" fmla="*/ 411834 h 926343"/>
              <a:gd name="connsiteX35" fmla="*/ 4259498 w 4875349"/>
              <a:gd name="connsiteY35" fmla="*/ 386419 h 926343"/>
              <a:gd name="connsiteX36" fmla="*/ 4270675 w 4875349"/>
              <a:gd name="connsiteY36" fmla="*/ 387709 h 926343"/>
              <a:gd name="connsiteX37" fmla="*/ 4362473 w 4875349"/>
              <a:gd name="connsiteY37" fmla="*/ 399240 h 926343"/>
              <a:gd name="connsiteX38" fmla="*/ 4354080 w 4875349"/>
              <a:gd name="connsiteY38" fmla="*/ 411619 h 926343"/>
              <a:gd name="connsiteX39" fmla="*/ 4324646 w 4875349"/>
              <a:gd name="connsiteY39" fmla="*/ 402019 h 926343"/>
              <a:gd name="connsiteX40" fmla="*/ 4303790 w 4875349"/>
              <a:gd name="connsiteY40" fmla="*/ 416742 h 926343"/>
              <a:gd name="connsiteX41" fmla="*/ 4328079 w 4875349"/>
              <a:gd name="connsiteY41" fmla="*/ 434888 h 926343"/>
              <a:gd name="connsiteX42" fmla="*/ 4365695 w 4875349"/>
              <a:gd name="connsiteY42" fmla="*/ 469903 h 926343"/>
              <a:gd name="connsiteX43" fmla="*/ 4320986 w 4875349"/>
              <a:gd name="connsiteY43" fmla="*/ 504062 h 926343"/>
              <a:gd name="connsiteX44" fmla="*/ 4278214 w 4875349"/>
              <a:gd name="connsiteY44" fmla="*/ 489327 h 926343"/>
              <a:gd name="connsiteX45" fmla="*/ 4288741 w 4875349"/>
              <a:gd name="connsiteY45" fmla="*/ 477370 h 926343"/>
              <a:gd name="connsiteX46" fmla="*/ 4320549 w 4875349"/>
              <a:gd name="connsiteY46" fmla="*/ 488260 h 926343"/>
              <a:gd name="connsiteX47" fmla="*/ 4344839 w 4875349"/>
              <a:gd name="connsiteY47" fmla="*/ 471180 h 926343"/>
              <a:gd name="connsiteX48" fmla="*/ 4317327 w 4875349"/>
              <a:gd name="connsiteY48" fmla="*/ 450045 h 926343"/>
              <a:gd name="connsiteX49" fmla="*/ 4283147 w 4875349"/>
              <a:gd name="connsiteY49" fmla="*/ 417387 h 926343"/>
              <a:gd name="connsiteX50" fmla="*/ 4323996 w 4875349"/>
              <a:gd name="connsiteY50" fmla="*/ 386428 h 926343"/>
              <a:gd name="connsiteX51" fmla="*/ 4362473 w 4875349"/>
              <a:gd name="connsiteY51" fmla="*/ 399240 h 926343"/>
              <a:gd name="connsiteX52" fmla="*/ 4450831 w 4875349"/>
              <a:gd name="connsiteY52" fmla="*/ 496374 h 926343"/>
              <a:gd name="connsiteX53" fmla="*/ 4425467 w 4875349"/>
              <a:gd name="connsiteY53" fmla="*/ 504064 h 926343"/>
              <a:gd name="connsiteX54" fmla="*/ 4394933 w 4875349"/>
              <a:gd name="connsiteY54" fmla="*/ 472039 h 926343"/>
              <a:gd name="connsiteX55" fmla="*/ 4394933 w 4875349"/>
              <a:gd name="connsiteY55" fmla="*/ 404142 h 926343"/>
              <a:gd name="connsiteX56" fmla="*/ 4375164 w 4875349"/>
              <a:gd name="connsiteY56" fmla="*/ 404142 h 926343"/>
              <a:gd name="connsiteX57" fmla="*/ 4375164 w 4875349"/>
              <a:gd name="connsiteY57" fmla="*/ 388998 h 926343"/>
              <a:gd name="connsiteX58" fmla="*/ 4394933 w 4875349"/>
              <a:gd name="connsiteY58" fmla="*/ 388998 h 926343"/>
              <a:gd name="connsiteX59" fmla="*/ 4394933 w 4875349"/>
              <a:gd name="connsiteY59" fmla="*/ 363583 h 926343"/>
              <a:gd name="connsiteX60" fmla="*/ 4414715 w 4875349"/>
              <a:gd name="connsiteY60" fmla="*/ 361226 h 926343"/>
              <a:gd name="connsiteX61" fmla="*/ 4414715 w 4875349"/>
              <a:gd name="connsiteY61" fmla="*/ 388998 h 926343"/>
              <a:gd name="connsiteX62" fmla="*/ 4441590 w 4875349"/>
              <a:gd name="connsiteY62" fmla="*/ 388998 h 926343"/>
              <a:gd name="connsiteX63" fmla="*/ 4439429 w 4875349"/>
              <a:gd name="connsiteY63" fmla="*/ 404142 h 926343"/>
              <a:gd name="connsiteX64" fmla="*/ 4414715 w 4875349"/>
              <a:gd name="connsiteY64" fmla="*/ 404142 h 926343"/>
              <a:gd name="connsiteX65" fmla="*/ 4414715 w 4875349"/>
              <a:gd name="connsiteY65" fmla="*/ 471183 h 926343"/>
              <a:gd name="connsiteX66" fmla="*/ 4428252 w 4875349"/>
              <a:gd name="connsiteY66" fmla="*/ 487841 h 926343"/>
              <a:gd name="connsiteX67" fmla="*/ 4443301 w 4875349"/>
              <a:gd name="connsiteY67" fmla="*/ 483351 h 926343"/>
              <a:gd name="connsiteX68" fmla="*/ 4450831 w 4875349"/>
              <a:gd name="connsiteY68" fmla="*/ 496374 h 926343"/>
              <a:gd name="connsiteX69" fmla="*/ 4491457 w 4875349"/>
              <a:gd name="connsiteY69" fmla="*/ 489118 h 926343"/>
              <a:gd name="connsiteX70" fmla="*/ 4476408 w 4875349"/>
              <a:gd name="connsiteY70" fmla="*/ 504064 h 926343"/>
              <a:gd name="connsiteX71" fmla="*/ 4461572 w 4875349"/>
              <a:gd name="connsiteY71" fmla="*/ 489118 h 926343"/>
              <a:gd name="connsiteX72" fmla="*/ 4476408 w 4875349"/>
              <a:gd name="connsiteY72" fmla="*/ 474383 h 926343"/>
              <a:gd name="connsiteX73" fmla="*/ 4491457 w 4875349"/>
              <a:gd name="connsiteY73" fmla="*/ 489118 h 926343"/>
              <a:gd name="connsiteX74" fmla="*/ 3521774 w 4875349"/>
              <a:gd name="connsiteY74" fmla="*/ 366146 h 926343"/>
              <a:gd name="connsiteX75" fmla="*/ 3505002 w 4875349"/>
              <a:gd name="connsiteY75" fmla="*/ 385996 h 926343"/>
              <a:gd name="connsiteX76" fmla="*/ 3478129 w 4875349"/>
              <a:gd name="connsiteY76" fmla="*/ 375748 h 926343"/>
              <a:gd name="connsiteX77" fmla="*/ 3445681 w 4875349"/>
              <a:gd name="connsiteY77" fmla="*/ 427204 h 926343"/>
              <a:gd name="connsiteX78" fmla="*/ 3478562 w 4875349"/>
              <a:gd name="connsiteY78" fmla="*/ 478013 h 926343"/>
              <a:gd name="connsiteX79" fmla="*/ 3507795 w 4875349"/>
              <a:gd name="connsiteY79" fmla="*/ 466055 h 926343"/>
              <a:gd name="connsiteX80" fmla="*/ 3523496 w 4875349"/>
              <a:gd name="connsiteY80" fmla="*/ 486133 h 926343"/>
              <a:gd name="connsiteX81" fmla="*/ 3476841 w 4875349"/>
              <a:gd name="connsiteY81" fmla="*/ 505135 h 926343"/>
              <a:gd name="connsiteX82" fmla="*/ 3408707 w 4875349"/>
              <a:gd name="connsiteY82" fmla="*/ 427204 h 926343"/>
              <a:gd name="connsiteX83" fmla="*/ 3476419 w 4875349"/>
              <a:gd name="connsiteY83" fmla="*/ 349918 h 926343"/>
              <a:gd name="connsiteX84" fmla="*/ 3521774 w 4875349"/>
              <a:gd name="connsiteY84" fmla="*/ 366145 h 926343"/>
              <a:gd name="connsiteX85" fmla="*/ 3537463 w 4875349"/>
              <a:gd name="connsiteY85" fmla="*/ 472680 h 926343"/>
              <a:gd name="connsiteX86" fmla="*/ 3537463 w 4875349"/>
              <a:gd name="connsiteY86" fmla="*/ 343090 h 926343"/>
              <a:gd name="connsiteX87" fmla="*/ 3571428 w 4875349"/>
              <a:gd name="connsiteY87" fmla="*/ 339455 h 926343"/>
              <a:gd name="connsiteX88" fmla="*/ 3571428 w 4875349"/>
              <a:gd name="connsiteY88" fmla="*/ 471401 h 926343"/>
              <a:gd name="connsiteX89" fmla="*/ 3577231 w 4875349"/>
              <a:gd name="connsiteY89" fmla="*/ 478444 h 926343"/>
              <a:gd name="connsiteX90" fmla="*/ 3582818 w 4875349"/>
              <a:gd name="connsiteY90" fmla="*/ 477380 h 926343"/>
              <a:gd name="connsiteX91" fmla="*/ 3589475 w 4875349"/>
              <a:gd name="connsiteY91" fmla="*/ 501284 h 926343"/>
              <a:gd name="connsiteX92" fmla="*/ 3568839 w 4875349"/>
              <a:gd name="connsiteY92" fmla="*/ 505135 h 926343"/>
              <a:gd name="connsiteX93" fmla="*/ 3537463 w 4875349"/>
              <a:gd name="connsiteY93" fmla="*/ 472680 h 926343"/>
              <a:gd name="connsiteX94" fmla="*/ 3708782 w 4875349"/>
              <a:gd name="connsiteY94" fmla="*/ 444927 h 926343"/>
              <a:gd name="connsiteX95" fmla="*/ 3652892 w 4875349"/>
              <a:gd name="connsiteY95" fmla="*/ 505123 h 926343"/>
              <a:gd name="connsiteX96" fmla="*/ 3597003 w 4875349"/>
              <a:gd name="connsiteY96" fmla="*/ 444712 h 926343"/>
              <a:gd name="connsiteX97" fmla="*/ 3652892 w 4875349"/>
              <a:gd name="connsiteY97" fmla="*/ 384502 h 926343"/>
              <a:gd name="connsiteX98" fmla="*/ 3708782 w 4875349"/>
              <a:gd name="connsiteY98" fmla="*/ 444927 h 926343"/>
              <a:gd name="connsiteX99" fmla="*/ 3632256 w 4875349"/>
              <a:gd name="connsiteY99" fmla="*/ 444712 h 926343"/>
              <a:gd name="connsiteX100" fmla="*/ 3652892 w 4875349"/>
              <a:gd name="connsiteY100" fmla="*/ 480371 h 926343"/>
              <a:gd name="connsiteX101" fmla="*/ 3673529 w 4875349"/>
              <a:gd name="connsiteY101" fmla="*/ 444927 h 926343"/>
              <a:gd name="connsiteX102" fmla="*/ 3652892 w 4875349"/>
              <a:gd name="connsiteY102" fmla="*/ 409267 h 926343"/>
              <a:gd name="connsiteX103" fmla="*/ 3632256 w 4875349"/>
              <a:gd name="connsiteY103" fmla="*/ 444712 h 926343"/>
              <a:gd name="connsiteX104" fmla="*/ 3827431 w 4875349"/>
              <a:gd name="connsiteY104" fmla="*/ 501502 h 926343"/>
              <a:gd name="connsiteX105" fmla="*/ 3797981 w 4875349"/>
              <a:gd name="connsiteY105" fmla="*/ 501502 h 926343"/>
              <a:gd name="connsiteX106" fmla="*/ 3796477 w 4875349"/>
              <a:gd name="connsiteY106" fmla="*/ 487200 h 926343"/>
              <a:gd name="connsiteX107" fmla="*/ 3761874 w 4875349"/>
              <a:gd name="connsiteY107" fmla="*/ 505125 h 926343"/>
              <a:gd name="connsiteX108" fmla="*/ 3730052 w 4875349"/>
              <a:gd name="connsiteY108" fmla="*/ 469478 h 926343"/>
              <a:gd name="connsiteX109" fmla="*/ 3730052 w 4875349"/>
              <a:gd name="connsiteY109" fmla="*/ 388139 h 926343"/>
              <a:gd name="connsiteX110" fmla="*/ 3764017 w 4875349"/>
              <a:gd name="connsiteY110" fmla="*/ 388139 h 926343"/>
              <a:gd name="connsiteX111" fmla="*/ 3764017 w 4875349"/>
              <a:gd name="connsiteY111" fmla="*/ 465209 h 926343"/>
              <a:gd name="connsiteX112" fmla="*/ 3774985 w 4875349"/>
              <a:gd name="connsiteY112" fmla="*/ 480157 h 926343"/>
              <a:gd name="connsiteX113" fmla="*/ 3793466 w 4875349"/>
              <a:gd name="connsiteY113" fmla="*/ 466919 h 926343"/>
              <a:gd name="connsiteX114" fmla="*/ 3793466 w 4875349"/>
              <a:gd name="connsiteY114" fmla="*/ 388139 h 926343"/>
              <a:gd name="connsiteX115" fmla="*/ 3827431 w 4875349"/>
              <a:gd name="connsiteY115" fmla="*/ 388139 h 926343"/>
              <a:gd name="connsiteX116" fmla="*/ 3827431 w 4875349"/>
              <a:gd name="connsiteY116" fmla="*/ 501502 h 926343"/>
              <a:gd name="connsiteX117" fmla="*/ 3956398 w 4875349"/>
              <a:gd name="connsiteY117" fmla="*/ 343082 h 926343"/>
              <a:gd name="connsiteX118" fmla="*/ 3956398 w 4875349"/>
              <a:gd name="connsiteY118" fmla="*/ 501503 h 926343"/>
              <a:gd name="connsiteX119" fmla="*/ 3926297 w 4875349"/>
              <a:gd name="connsiteY119" fmla="*/ 501503 h 926343"/>
              <a:gd name="connsiteX120" fmla="*/ 3924589 w 4875349"/>
              <a:gd name="connsiteY120" fmla="*/ 488265 h 926343"/>
              <a:gd name="connsiteX121" fmla="*/ 3892129 w 4875349"/>
              <a:gd name="connsiteY121" fmla="*/ 505126 h 926343"/>
              <a:gd name="connsiteX122" fmla="*/ 3848700 w 4875349"/>
              <a:gd name="connsiteY122" fmla="*/ 444499 h 926343"/>
              <a:gd name="connsiteX123" fmla="*/ 3895343 w 4875349"/>
              <a:gd name="connsiteY123" fmla="*/ 384505 h 926343"/>
              <a:gd name="connsiteX124" fmla="*/ 3922433 w 4875349"/>
              <a:gd name="connsiteY124" fmla="*/ 395184 h 926343"/>
              <a:gd name="connsiteX125" fmla="*/ 3922433 w 4875349"/>
              <a:gd name="connsiteY125" fmla="*/ 339459 h 926343"/>
              <a:gd name="connsiteX126" fmla="*/ 3956398 w 4875349"/>
              <a:gd name="connsiteY126" fmla="*/ 343082 h 926343"/>
              <a:gd name="connsiteX127" fmla="*/ 3922433 w 4875349"/>
              <a:gd name="connsiteY127" fmla="*/ 467554 h 926343"/>
              <a:gd name="connsiteX128" fmla="*/ 3922433 w 4875349"/>
              <a:gd name="connsiteY128" fmla="*/ 418669 h 926343"/>
              <a:gd name="connsiteX129" fmla="*/ 3904590 w 4875349"/>
              <a:gd name="connsiteY129" fmla="*/ 409055 h 926343"/>
              <a:gd name="connsiteX130" fmla="*/ 3883953 w 4875349"/>
              <a:gd name="connsiteY130" fmla="*/ 444714 h 926343"/>
              <a:gd name="connsiteX131" fmla="*/ 3902651 w 4875349"/>
              <a:gd name="connsiteY131" fmla="*/ 480361 h 926343"/>
              <a:gd name="connsiteX132" fmla="*/ 3922433 w 4875349"/>
              <a:gd name="connsiteY132" fmla="*/ 467554 h 926343"/>
              <a:gd name="connsiteX133" fmla="*/ 3476419 w 4875349"/>
              <a:gd name="connsiteY133" fmla="*/ 113000 h 926343"/>
              <a:gd name="connsiteX134" fmla="*/ 3408707 w 4875349"/>
              <a:gd name="connsiteY134" fmla="*/ 190285 h 926343"/>
              <a:gd name="connsiteX135" fmla="*/ 3476841 w 4875349"/>
              <a:gd name="connsiteY135" fmla="*/ 268216 h 926343"/>
              <a:gd name="connsiteX136" fmla="*/ 3523496 w 4875349"/>
              <a:gd name="connsiteY136" fmla="*/ 249215 h 926343"/>
              <a:gd name="connsiteX137" fmla="*/ 3507795 w 4875349"/>
              <a:gd name="connsiteY137" fmla="*/ 229136 h 926343"/>
              <a:gd name="connsiteX138" fmla="*/ 3478562 w 4875349"/>
              <a:gd name="connsiteY138" fmla="*/ 241095 h 926343"/>
              <a:gd name="connsiteX139" fmla="*/ 3445681 w 4875349"/>
              <a:gd name="connsiteY139" fmla="*/ 190285 h 926343"/>
              <a:gd name="connsiteX140" fmla="*/ 3478129 w 4875349"/>
              <a:gd name="connsiteY140" fmla="*/ 138829 h 926343"/>
              <a:gd name="connsiteX141" fmla="*/ 3505002 w 4875349"/>
              <a:gd name="connsiteY141" fmla="*/ 149077 h 926343"/>
              <a:gd name="connsiteX142" fmla="*/ 3521774 w 4875349"/>
              <a:gd name="connsiteY142" fmla="*/ 129227 h 926343"/>
              <a:gd name="connsiteX143" fmla="*/ 3476419 w 4875349"/>
              <a:gd name="connsiteY143" fmla="*/ 113000 h 926343"/>
              <a:gd name="connsiteX144" fmla="*/ 3633546 w 4875349"/>
              <a:gd name="connsiteY144" fmla="*/ 264584 h 926343"/>
              <a:gd name="connsiteX145" fmla="*/ 3604096 w 4875349"/>
              <a:gd name="connsiteY145" fmla="*/ 264584 h 926343"/>
              <a:gd name="connsiteX146" fmla="*/ 3602591 w 4875349"/>
              <a:gd name="connsiteY146" fmla="*/ 250282 h 926343"/>
              <a:gd name="connsiteX147" fmla="*/ 3567988 w 4875349"/>
              <a:gd name="connsiteY147" fmla="*/ 268220 h 926343"/>
              <a:gd name="connsiteX148" fmla="*/ 3536166 w 4875349"/>
              <a:gd name="connsiteY148" fmla="*/ 232560 h 926343"/>
              <a:gd name="connsiteX149" fmla="*/ 3536166 w 4875349"/>
              <a:gd name="connsiteY149" fmla="*/ 151221 h 926343"/>
              <a:gd name="connsiteX150" fmla="*/ 3570131 w 4875349"/>
              <a:gd name="connsiteY150" fmla="*/ 151221 h 926343"/>
              <a:gd name="connsiteX151" fmla="*/ 3570131 w 4875349"/>
              <a:gd name="connsiteY151" fmla="*/ 228291 h 926343"/>
              <a:gd name="connsiteX152" fmla="*/ 3581100 w 4875349"/>
              <a:gd name="connsiteY152" fmla="*/ 243239 h 926343"/>
              <a:gd name="connsiteX153" fmla="*/ 3599580 w 4875349"/>
              <a:gd name="connsiteY153" fmla="*/ 230001 h 926343"/>
              <a:gd name="connsiteX154" fmla="*/ 3599580 w 4875349"/>
              <a:gd name="connsiteY154" fmla="*/ 151221 h 926343"/>
              <a:gd name="connsiteX155" fmla="*/ 3633546 w 4875349"/>
              <a:gd name="connsiteY155" fmla="*/ 151221 h 926343"/>
              <a:gd name="connsiteX156" fmla="*/ 3633546 w 4875349"/>
              <a:gd name="connsiteY156" fmla="*/ 264584 h 926343"/>
              <a:gd name="connsiteX157" fmla="*/ 3744461 w 4875349"/>
              <a:gd name="connsiteY157" fmla="*/ 161465 h 926343"/>
              <a:gd name="connsiteX158" fmla="*/ 3732000 w 4875349"/>
              <a:gd name="connsiteY158" fmla="*/ 180466 h 926343"/>
              <a:gd name="connsiteX159" fmla="*/ 3703838 w 4875349"/>
              <a:gd name="connsiteY159" fmla="*/ 171713 h 926343"/>
              <a:gd name="connsiteX160" fmla="*/ 3690076 w 4875349"/>
              <a:gd name="connsiteY160" fmla="*/ 180251 h 926343"/>
              <a:gd name="connsiteX161" fmla="*/ 3713506 w 4875349"/>
              <a:gd name="connsiteY161" fmla="*/ 194768 h 926343"/>
              <a:gd name="connsiteX162" fmla="*/ 3748759 w 4875349"/>
              <a:gd name="connsiteY162" fmla="*/ 230845 h 926343"/>
              <a:gd name="connsiteX163" fmla="*/ 3698022 w 4875349"/>
              <a:gd name="connsiteY163" fmla="*/ 268215 h 926343"/>
              <a:gd name="connsiteX164" fmla="*/ 3650308 w 4875349"/>
              <a:gd name="connsiteY164" fmla="*/ 251342 h 926343"/>
              <a:gd name="connsiteX165" fmla="*/ 3666864 w 4875349"/>
              <a:gd name="connsiteY165" fmla="*/ 232986 h 926343"/>
              <a:gd name="connsiteX166" fmla="*/ 3697167 w 4875349"/>
              <a:gd name="connsiteY166" fmla="*/ 244083 h 926343"/>
              <a:gd name="connsiteX167" fmla="*/ 3713723 w 4875349"/>
              <a:gd name="connsiteY167" fmla="*/ 233417 h 926343"/>
              <a:gd name="connsiteX168" fmla="*/ 3689643 w 4875349"/>
              <a:gd name="connsiteY168" fmla="*/ 217608 h 926343"/>
              <a:gd name="connsiteX169" fmla="*/ 3655895 w 4875349"/>
              <a:gd name="connsiteY169" fmla="*/ 182176 h 926343"/>
              <a:gd name="connsiteX170" fmla="*/ 3702550 w 4875349"/>
              <a:gd name="connsiteY170" fmla="*/ 147594 h 926343"/>
              <a:gd name="connsiteX171" fmla="*/ 3744461 w 4875349"/>
              <a:gd name="connsiteY171" fmla="*/ 161465 h 926343"/>
              <a:gd name="connsiteX172" fmla="*/ 3839894 w 4875349"/>
              <a:gd name="connsiteY172" fmla="*/ 259246 h 926343"/>
              <a:gd name="connsiteX173" fmla="*/ 3808939 w 4875349"/>
              <a:gd name="connsiteY173" fmla="*/ 268215 h 926343"/>
              <a:gd name="connsiteX174" fmla="*/ 3771543 w 4875349"/>
              <a:gd name="connsiteY174" fmla="*/ 227222 h 926343"/>
              <a:gd name="connsiteX175" fmla="*/ 3771543 w 4875349"/>
              <a:gd name="connsiteY175" fmla="*/ 174702 h 926343"/>
              <a:gd name="connsiteX176" fmla="*/ 3755421 w 4875349"/>
              <a:gd name="connsiteY176" fmla="*/ 174702 h 926343"/>
              <a:gd name="connsiteX177" fmla="*/ 3755421 w 4875349"/>
              <a:gd name="connsiteY177" fmla="*/ 151216 h 926343"/>
              <a:gd name="connsiteX178" fmla="*/ 3771543 w 4875349"/>
              <a:gd name="connsiteY178" fmla="*/ 151216 h 926343"/>
              <a:gd name="connsiteX179" fmla="*/ 3771543 w 4875349"/>
              <a:gd name="connsiteY179" fmla="*/ 126667 h 926343"/>
              <a:gd name="connsiteX180" fmla="*/ 3805495 w 4875349"/>
              <a:gd name="connsiteY180" fmla="*/ 122828 h 926343"/>
              <a:gd name="connsiteX181" fmla="*/ 3805495 w 4875349"/>
              <a:gd name="connsiteY181" fmla="*/ 151216 h 926343"/>
              <a:gd name="connsiteX182" fmla="*/ 3831731 w 4875349"/>
              <a:gd name="connsiteY182" fmla="*/ 151216 h 926343"/>
              <a:gd name="connsiteX183" fmla="*/ 3828070 w 4875349"/>
              <a:gd name="connsiteY183" fmla="*/ 174702 h 926343"/>
              <a:gd name="connsiteX184" fmla="*/ 3805495 w 4875349"/>
              <a:gd name="connsiteY184" fmla="*/ 174702 h 926343"/>
              <a:gd name="connsiteX185" fmla="*/ 3805495 w 4875349"/>
              <a:gd name="connsiteY185" fmla="*/ 226792 h 926343"/>
              <a:gd name="connsiteX186" fmla="*/ 3816247 w 4875349"/>
              <a:gd name="connsiteY186" fmla="*/ 241524 h 926343"/>
              <a:gd name="connsiteX187" fmla="*/ 3828504 w 4875349"/>
              <a:gd name="connsiteY187" fmla="*/ 237901 h 926343"/>
              <a:gd name="connsiteX188" fmla="*/ 3839894 w 4875349"/>
              <a:gd name="connsiteY188" fmla="*/ 259246 h 926343"/>
              <a:gd name="connsiteX189" fmla="*/ 3954894 w 4875349"/>
              <a:gd name="connsiteY189" fmla="*/ 208009 h 926343"/>
              <a:gd name="connsiteX190" fmla="*/ 3899004 w 4875349"/>
              <a:gd name="connsiteY190" fmla="*/ 268219 h 926343"/>
              <a:gd name="connsiteX191" fmla="*/ 3843115 w 4875349"/>
              <a:gd name="connsiteY191" fmla="*/ 207794 h 926343"/>
              <a:gd name="connsiteX192" fmla="*/ 3899004 w 4875349"/>
              <a:gd name="connsiteY192" fmla="*/ 147585 h 926343"/>
              <a:gd name="connsiteX193" fmla="*/ 3954894 w 4875349"/>
              <a:gd name="connsiteY193" fmla="*/ 208009 h 926343"/>
              <a:gd name="connsiteX194" fmla="*/ 3878368 w 4875349"/>
              <a:gd name="connsiteY194" fmla="*/ 207794 h 926343"/>
              <a:gd name="connsiteX195" fmla="*/ 3899004 w 4875349"/>
              <a:gd name="connsiteY195" fmla="*/ 243453 h 926343"/>
              <a:gd name="connsiteX196" fmla="*/ 3919641 w 4875349"/>
              <a:gd name="connsiteY196" fmla="*/ 208009 h 926343"/>
              <a:gd name="connsiteX197" fmla="*/ 3899004 w 4875349"/>
              <a:gd name="connsiteY197" fmla="*/ 172350 h 926343"/>
              <a:gd name="connsiteX198" fmla="*/ 3878368 w 4875349"/>
              <a:gd name="connsiteY198" fmla="*/ 207794 h 926343"/>
              <a:gd name="connsiteX199" fmla="*/ 4132231 w 4875349"/>
              <a:gd name="connsiteY199" fmla="*/ 181748 h 926343"/>
              <a:gd name="connsiteX200" fmla="*/ 4132231 w 4875349"/>
              <a:gd name="connsiteY200" fmla="*/ 264582 h 926343"/>
              <a:gd name="connsiteX201" fmla="*/ 4098266 w 4875349"/>
              <a:gd name="connsiteY201" fmla="*/ 264582 h 926343"/>
              <a:gd name="connsiteX202" fmla="*/ 4098266 w 4875349"/>
              <a:gd name="connsiteY202" fmla="*/ 187512 h 926343"/>
              <a:gd name="connsiteX203" fmla="*/ 4088598 w 4875349"/>
              <a:gd name="connsiteY203" fmla="*/ 172349 h 926343"/>
              <a:gd name="connsiteX204" fmla="*/ 4071176 w 4875349"/>
              <a:gd name="connsiteY204" fmla="*/ 187081 h 926343"/>
              <a:gd name="connsiteX205" fmla="*/ 4071176 w 4875349"/>
              <a:gd name="connsiteY205" fmla="*/ 264582 h 926343"/>
              <a:gd name="connsiteX206" fmla="*/ 4037224 w 4875349"/>
              <a:gd name="connsiteY206" fmla="*/ 264582 h 926343"/>
              <a:gd name="connsiteX207" fmla="*/ 4037224 w 4875349"/>
              <a:gd name="connsiteY207" fmla="*/ 187512 h 926343"/>
              <a:gd name="connsiteX208" fmla="*/ 4027543 w 4875349"/>
              <a:gd name="connsiteY208" fmla="*/ 172349 h 926343"/>
              <a:gd name="connsiteX209" fmla="*/ 4010134 w 4875349"/>
              <a:gd name="connsiteY209" fmla="*/ 187081 h 926343"/>
              <a:gd name="connsiteX210" fmla="*/ 4010134 w 4875349"/>
              <a:gd name="connsiteY210" fmla="*/ 264582 h 926343"/>
              <a:gd name="connsiteX211" fmla="*/ 3976168 w 4875349"/>
              <a:gd name="connsiteY211" fmla="*/ 264582 h 926343"/>
              <a:gd name="connsiteX212" fmla="*/ 3976168 w 4875349"/>
              <a:gd name="connsiteY212" fmla="*/ 151219 h 926343"/>
              <a:gd name="connsiteX213" fmla="*/ 4005836 w 4875349"/>
              <a:gd name="connsiteY213" fmla="*/ 151219 h 926343"/>
              <a:gd name="connsiteX214" fmla="*/ 4008208 w 4875349"/>
              <a:gd name="connsiteY214" fmla="*/ 164457 h 926343"/>
              <a:gd name="connsiteX215" fmla="*/ 4041305 w 4875349"/>
              <a:gd name="connsiteY215" fmla="*/ 147583 h 926343"/>
              <a:gd name="connsiteX216" fmla="*/ 4068179 w 4875349"/>
              <a:gd name="connsiteY216" fmla="*/ 165521 h 926343"/>
              <a:gd name="connsiteX217" fmla="*/ 4102347 w 4875349"/>
              <a:gd name="connsiteY217" fmla="*/ 147583 h 926343"/>
              <a:gd name="connsiteX218" fmla="*/ 4132231 w 4875349"/>
              <a:gd name="connsiteY218" fmla="*/ 181748 h 926343"/>
              <a:gd name="connsiteX219" fmla="*/ 4258838 w 4875349"/>
              <a:gd name="connsiteY219" fmla="*/ 217827 h 926343"/>
              <a:gd name="connsiteX220" fmla="*/ 4188115 w 4875349"/>
              <a:gd name="connsiteY220" fmla="*/ 217827 h 926343"/>
              <a:gd name="connsiteX221" fmla="*/ 4214122 w 4875349"/>
              <a:gd name="connsiteY221" fmla="*/ 243656 h 926343"/>
              <a:gd name="connsiteX222" fmla="*/ 4241429 w 4875349"/>
              <a:gd name="connsiteY222" fmla="*/ 233623 h 926343"/>
              <a:gd name="connsiteX223" fmla="*/ 4255394 w 4875349"/>
              <a:gd name="connsiteY223" fmla="*/ 252409 h 926343"/>
              <a:gd name="connsiteX224" fmla="*/ 4210894 w 4875349"/>
              <a:gd name="connsiteY224" fmla="*/ 268219 h 926343"/>
              <a:gd name="connsiteX225" fmla="*/ 4153499 w 4875349"/>
              <a:gd name="connsiteY225" fmla="*/ 208440 h 926343"/>
              <a:gd name="connsiteX226" fmla="*/ 4206812 w 4875349"/>
              <a:gd name="connsiteY226" fmla="*/ 147585 h 926343"/>
              <a:gd name="connsiteX227" fmla="*/ 4259475 w 4875349"/>
              <a:gd name="connsiteY227" fmla="*/ 205666 h 926343"/>
              <a:gd name="connsiteX228" fmla="*/ 4258838 w 4875349"/>
              <a:gd name="connsiteY228" fmla="*/ 217827 h 926343"/>
              <a:gd name="connsiteX229" fmla="*/ 4226161 w 4875349"/>
              <a:gd name="connsiteY229" fmla="*/ 196051 h 926343"/>
              <a:gd name="connsiteX230" fmla="*/ 4207680 w 4875349"/>
              <a:gd name="connsiteY230" fmla="*/ 170006 h 926343"/>
              <a:gd name="connsiteX231" fmla="*/ 4188115 w 4875349"/>
              <a:gd name="connsiteY231" fmla="*/ 197546 h 926343"/>
              <a:gd name="connsiteX232" fmla="*/ 4226161 w 4875349"/>
              <a:gd name="connsiteY232" fmla="*/ 197546 h 926343"/>
              <a:gd name="connsiteX233" fmla="*/ 4226161 w 4875349"/>
              <a:gd name="connsiteY233" fmla="*/ 196051 h 926343"/>
              <a:gd name="connsiteX234" fmla="*/ 4429055 w 4875349"/>
              <a:gd name="connsiteY234" fmla="*/ 117480 h 926343"/>
              <a:gd name="connsiteX235" fmla="*/ 4507732 w 4875349"/>
              <a:gd name="connsiteY235" fmla="*/ 117480 h 926343"/>
              <a:gd name="connsiteX236" fmla="*/ 4505359 w 4875349"/>
              <a:gd name="connsiteY236" fmla="*/ 133716 h 926343"/>
              <a:gd name="connsiteX237" fmla="*/ 4449486 w 4875349"/>
              <a:gd name="connsiteY237" fmla="*/ 133716 h 926343"/>
              <a:gd name="connsiteX238" fmla="*/ 4449486 w 4875349"/>
              <a:gd name="connsiteY238" fmla="*/ 183887 h 926343"/>
              <a:gd name="connsiteX239" fmla="*/ 4497841 w 4875349"/>
              <a:gd name="connsiteY239" fmla="*/ 183887 h 926343"/>
              <a:gd name="connsiteX240" fmla="*/ 4497841 w 4875349"/>
              <a:gd name="connsiteY240" fmla="*/ 199900 h 926343"/>
              <a:gd name="connsiteX241" fmla="*/ 4449486 w 4875349"/>
              <a:gd name="connsiteY241" fmla="*/ 199900 h 926343"/>
              <a:gd name="connsiteX242" fmla="*/ 4449486 w 4875349"/>
              <a:gd name="connsiteY242" fmla="*/ 264584 h 926343"/>
              <a:gd name="connsiteX243" fmla="*/ 4429055 w 4875349"/>
              <a:gd name="connsiteY243" fmla="*/ 264584 h 926343"/>
              <a:gd name="connsiteX244" fmla="*/ 4429055 w 4875349"/>
              <a:gd name="connsiteY244" fmla="*/ 117479 h 926343"/>
              <a:gd name="connsiteX245" fmla="*/ 4557185 w 4875349"/>
              <a:gd name="connsiteY245" fmla="*/ 111507 h 926343"/>
              <a:gd name="connsiteX246" fmla="*/ 4543223 w 4875349"/>
              <a:gd name="connsiteY246" fmla="*/ 124742 h 926343"/>
              <a:gd name="connsiteX247" fmla="*/ 4529461 w 4875349"/>
              <a:gd name="connsiteY247" fmla="*/ 111507 h 926343"/>
              <a:gd name="connsiteX248" fmla="*/ 4543223 w 4875349"/>
              <a:gd name="connsiteY248" fmla="*/ 98050 h 926343"/>
              <a:gd name="connsiteX249" fmla="*/ 4557185 w 4875349"/>
              <a:gd name="connsiteY249" fmla="*/ 111507 h 926343"/>
              <a:gd name="connsiteX250" fmla="*/ 4553313 w 4875349"/>
              <a:gd name="connsiteY250" fmla="*/ 264578 h 926343"/>
              <a:gd name="connsiteX251" fmla="*/ 4533532 w 4875349"/>
              <a:gd name="connsiteY251" fmla="*/ 264578 h 926343"/>
              <a:gd name="connsiteX252" fmla="*/ 4533532 w 4875349"/>
              <a:gd name="connsiteY252" fmla="*/ 152066 h 926343"/>
              <a:gd name="connsiteX253" fmla="*/ 4553313 w 4875349"/>
              <a:gd name="connsiteY253" fmla="*/ 152066 h 926343"/>
              <a:gd name="connsiteX254" fmla="*/ 4553313 w 4875349"/>
              <a:gd name="connsiteY254" fmla="*/ 264578 h 926343"/>
              <a:gd name="connsiteX255" fmla="*/ 4654569 w 4875349"/>
              <a:gd name="connsiteY255" fmla="*/ 150790 h 926343"/>
              <a:gd name="connsiteX256" fmla="*/ 4650909 w 4875349"/>
              <a:gd name="connsiteY256" fmla="*/ 170003 h 926343"/>
              <a:gd name="connsiteX257" fmla="*/ 4641032 w 4875349"/>
              <a:gd name="connsiteY257" fmla="*/ 168713 h 926343"/>
              <a:gd name="connsiteX258" fmla="*/ 4613944 w 4875349"/>
              <a:gd name="connsiteY258" fmla="*/ 200317 h 926343"/>
              <a:gd name="connsiteX259" fmla="*/ 4613944 w 4875349"/>
              <a:gd name="connsiteY259" fmla="*/ 264579 h 926343"/>
              <a:gd name="connsiteX260" fmla="*/ 4594163 w 4875349"/>
              <a:gd name="connsiteY260" fmla="*/ 264579 h 926343"/>
              <a:gd name="connsiteX261" fmla="*/ 4594163 w 4875349"/>
              <a:gd name="connsiteY261" fmla="*/ 152080 h 926343"/>
              <a:gd name="connsiteX262" fmla="*/ 4611147 w 4875349"/>
              <a:gd name="connsiteY262" fmla="*/ 152080 h 926343"/>
              <a:gd name="connsiteX263" fmla="*/ 4613082 w 4875349"/>
              <a:gd name="connsiteY263" fmla="*/ 174915 h 926343"/>
              <a:gd name="connsiteX264" fmla="*/ 4643391 w 4875349"/>
              <a:gd name="connsiteY264" fmla="*/ 149500 h 926343"/>
              <a:gd name="connsiteX265" fmla="*/ 4654568 w 4875349"/>
              <a:gd name="connsiteY265" fmla="*/ 150790 h 926343"/>
              <a:gd name="connsiteX266" fmla="*/ 4746366 w 4875349"/>
              <a:gd name="connsiteY266" fmla="*/ 162322 h 926343"/>
              <a:gd name="connsiteX267" fmla="*/ 4737974 w 4875349"/>
              <a:gd name="connsiteY267" fmla="*/ 174700 h 926343"/>
              <a:gd name="connsiteX268" fmla="*/ 4708539 w 4875349"/>
              <a:gd name="connsiteY268" fmla="*/ 165100 h 926343"/>
              <a:gd name="connsiteX269" fmla="*/ 4687684 w 4875349"/>
              <a:gd name="connsiteY269" fmla="*/ 179823 h 926343"/>
              <a:gd name="connsiteX270" fmla="*/ 4711973 w 4875349"/>
              <a:gd name="connsiteY270" fmla="*/ 197969 h 926343"/>
              <a:gd name="connsiteX271" fmla="*/ 4749588 w 4875349"/>
              <a:gd name="connsiteY271" fmla="*/ 232984 h 926343"/>
              <a:gd name="connsiteX272" fmla="*/ 4704880 w 4875349"/>
              <a:gd name="connsiteY272" fmla="*/ 267143 h 926343"/>
              <a:gd name="connsiteX273" fmla="*/ 4662107 w 4875349"/>
              <a:gd name="connsiteY273" fmla="*/ 252408 h 926343"/>
              <a:gd name="connsiteX274" fmla="*/ 4672635 w 4875349"/>
              <a:gd name="connsiteY274" fmla="*/ 240451 h 926343"/>
              <a:gd name="connsiteX275" fmla="*/ 4704443 w 4875349"/>
              <a:gd name="connsiteY275" fmla="*/ 251341 h 926343"/>
              <a:gd name="connsiteX276" fmla="*/ 4728733 w 4875349"/>
              <a:gd name="connsiteY276" fmla="*/ 234261 h 926343"/>
              <a:gd name="connsiteX277" fmla="*/ 4701221 w 4875349"/>
              <a:gd name="connsiteY277" fmla="*/ 213126 h 926343"/>
              <a:gd name="connsiteX278" fmla="*/ 4667040 w 4875349"/>
              <a:gd name="connsiteY278" fmla="*/ 180468 h 926343"/>
              <a:gd name="connsiteX279" fmla="*/ 4707890 w 4875349"/>
              <a:gd name="connsiteY279" fmla="*/ 149509 h 926343"/>
              <a:gd name="connsiteX280" fmla="*/ 4746366 w 4875349"/>
              <a:gd name="connsiteY280" fmla="*/ 162322 h 926343"/>
              <a:gd name="connsiteX281" fmla="*/ 4834725 w 4875349"/>
              <a:gd name="connsiteY281" fmla="*/ 259455 h 926343"/>
              <a:gd name="connsiteX282" fmla="*/ 4809361 w 4875349"/>
              <a:gd name="connsiteY282" fmla="*/ 267145 h 926343"/>
              <a:gd name="connsiteX283" fmla="*/ 4778827 w 4875349"/>
              <a:gd name="connsiteY283" fmla="*/ 235120 h 926343"/>
              <a:gd name="connsiteX284" fmla="*/ 4778827 w 4875349"/>
              <a:gd name="connsiteY284" fmla="*/ 167223 h 926343"/>
              <a:gd name="connsiteX285" fmla="*/ 4759057 w 4875349"/>
              <a:gd name="connsiteY285" fmla="*/ 167223 h 926343"/>
              <a:gd name="connsiteX286" fmla="*/ 4759057 w 4875349"/>
              <a:gd name="connsiteY286" fmla="*/ 152079 h 926343"/>
              <a:gd name="connsiteX287" fmla="*/ 4778827 w 4875349"/>
              <a:gd name="connsiteY287" fmla="*/ 152079 h 926343"/>
              <a:gd name="connsiteX288" fmla="*/ 4778827 w 4875349"/>
              <a:gd name="connsiteY288" fmla="*/ 126664 h 926343"/>
              <a:gd name="connsiteX289" fmla="*/ 4798608 w 4875349"/>
              <a:gd name="connsiteY289" fmla="*/ 124308 h 926343"/>
              <a:gd name="connsiteX290" fmla="*/ 4798608 w 4875349"/>
              <a:gd name="connsiteY290" fmla="*/ 152079 h 926343"/>
              <a:gd name="connsiteX291" fmla="*/ 4825484 w 4875349"/>
              <a:gd name="connsiteY291" fmla="*/ 152079 h 926343"/>
              <a:gd name="connsiteX292" fmla="*/ 4823323 w 4875349"/>
              <a:gd name="connsiteY292" fmla="*/ 167223 h 926343"/>
              <a:gd name="connsiteX293" fmla="*/ 4798608 w 4875349"/>
              <a:gd name="connsiteY293" fmla="*/ 167223 h 926343"/>
              <a:gd name="connsiteX294" fmla="*/ 4798608 w 4875349"/>
              <a:gd name="connsiteY294" fmla="*/ 234264 h 926343"/>
              <a:gd name="connsiteX295" fmla="*/ 4812146 w 4875349"/>
              <a:gd name="connsiteY295" fmla="*/ 250922 h 926343"/>
              <a:gd name="connsiteX296" fmla="*/ 4827194 w 4875349"/>
              <a:gd name="connsiteY296" fmla="*/ 246432 h 926343"/>
              <a:gd name="connsiteX297" fmla="*/ 4834725 w 4875349"/>
              <a:gd name="connsiteY297" fmla="*/ 259455 h 926343"/>
              <a:gd name="connsiteX298" fmla="*/ 4875350 w 4875349"/>
              <a:gd name="connsiteY298" fmla="*/ 252199 h 926343"/>
              <a:gd name="connsiteX299" fmla="*/ 4860302 w 4875349"/>
              <a:gd name="connsiteY299" fmla="*/ 267145 h 926343"/>
              <a:gd name="connsiteX300" fmla="*/ 4845465 w 4875349"/>
              <a:gd name="connsiteY300" fmla="*/ 252199 h 926343"/>
              <a:gd name="connsiteX301" fmla="*/ 4860302 w 4875349"/>
              <a:gd name="connsiteY301" fmla="*/ 237464 h 926343"/>
              <a:gd name="connsiteX302" fmla="*/ 4875350 w 4875349"/>
              <a:gd name="connsiteY302" fmla="*/ 252199 h 926343"/>
              <a:gd name="connsiteX303" fmla="*/ 4354043 w 4875349"/>
              <a:gd name="connsiteY303" fmla="*/ 149509 h 926343"/>
              <a:gd name="connsiteX304" fmla="*/ 4348673 w 4875349"/>
              <a:gd name="connsiteY304" fmla="*/ 182179 h 926343"/>
              <a:gd name="connsiteX305" fmla="*/ 4338355 w 4875349"/>
              <a:gd name="connsiteY305" fmla="*/ 180684 h 926343"/>
              <a:gd name="connsiteX306" fmla="*/ 4314709 w 4875349"/>
              <a:gd name="connsiteY306" fmla="*/ 208439 h 926343"/>
              <a:gd name="connsiteX307" fmla="*/ 4314709 w 4875349"/>
              <a:gd name="connsiteY307" fmla="*/ 264582 h 926343"/>
              <a:gd name="connsiteX308" fmla="*/ 4280743 w 4875349"/>
              <a:gd name="connsiteY308" fmla="*/ 264582 h 926343"/>
              <a:gd name="connsiteX309" fmla="*/ 4280743 w 4875349"/>
              <a:gd name="connsiteY309" fmla="*/ 151219 h 926343"/>
              <a:gd name="connsiteX310" fmla="*/ 4310397 w 4875349"/>
              <a:gd name="connsiteY310" fmla="*/ 151219 h 926343"/>
              <a:gd name="connsiteX311" fmla="*/ 4313203 w 4875349"/>
              <a:gd name="connsiteY311" fmla="*/ 173210 h 926343"/>
              <a:gd name="connsiteX312" fmla="*/ 4342653 w 4875349"/>
              <a:gd name="connsiteY312" fmla="*/ 148014 h 926343"/>
              <a:gd name="connsiteX313" fmla="*/ 4354043 w 4875349"/>
              <a:gd name="connsiteY313" fmla="*/ 149509 h 926343"/>
              <a:gd name="connsiteX314" fmla="*/ 2977074 w 4875349"/>
              <a:gd name="connsiteY314" fmla="*/ 861572 h 926343"/>
              <a:gd name="connsiteX315" fmla="*/ 2938180 w 4875349"/>
              <a:gd name="connsiteY315" fmla="*/ 819204 h 926343"/>
              <a:gd name="connsiteX316" fmla="*/ 2984781 w 4875349"/>
              <a:gd name="connsiteY316" fmla="*/ 776658 h 926343"/>
              <a:gd name="connsiteX317" fmla="*/ 3023675 w 4875349"/>
              <a:gd name="connsiteY317" fmla="*/ 819204 h 926343"/>
              <a:gd name="connsiteX318" fmla="*/ 2977074 w 4875349"/>
              <a:gd name="connsiteY318" fmla="*/ 861572 h 926343"/>
              <a:gd name="connsiteX319" fmla="*/ 2984780 w 4875349"/>
              <a:gd name="connsiteY319" fmla="*/ 782889 h 926343"/>
              <a:gd name="connsiteX320" fmla="*/ 2944273 w 4875349"/>
              <a:gd name="connsiteY320" fmla="*/ 819738 h 926343"/>
              <a:gd name="connsiteX321" fmla="*/ 2977074 w 4875349"/>
              <a:gd name="connsiteY321" fmla="*/ 855519 h 926343"/>
              <a:gd name="connsiteX322" fmla="*/ 3017580 w 4875349"/>
              <a:gd name="connsiteY322" fmla="*/ 818670 h 926343"/>
              <a:gd name="connsiteX323" fmla="*/ 2984780 w 4875349"/>
              <a:gd name="connsiteY323" fmla="*/ 782889 h 926343"/>
              <a:gd name="connsiteX324" fmla="*/ 2988007 w 4875349"/>
              <a:gd name="connsiteY324" fmla="*/ 824366 h 926343"/>
              <a:gd name="connsiteX325" fmla="*/ 3001629 w 4875349"/>
              <a:gd name="connsiteY325" fmla="*/ 806743 h 926343"/>
              <a:gd name="connsiteX326" fmla="*/ 2988186 w 4875349"/>
              <a:gd name="connsiteY326" fmla="*/ 794104 h 926343"/>
              <a:gd name="connsiteX327" fmla="*/ 2971697 w 4875349"/>
              <a:gd name="connsiteY327" fmla="*/ 794104 h 926343"/>
              <a:gd name="connsiteX328" fmla="*/ 2962197 w 4875349"/>
              <a:gd name="connsiteY328" fmla="*/ 844126 h 926343"/>
              <a:gd name="connsiteX329" fmla="*/ 2968470 w 4875349"/>
              <a:gd name="connsiteY329" fmla="*/ 844126 h 926343"/>
              <a:gd name="connsiteX330" fmla="*/ 2972055 w 4875349"/>
              <a:gd name="connsiteY330" fmla="*/ 824900 h 926343"/>
              <a:gd name="connsiteX331" fmla="*/ 2981554 w 4875349"/>
              <a:gd name="connsiteY331" fmla="*/ 824900 h 926343"/>
              <a:gd name="connsiteX332" fmla="*/ 2988186 w 4875349"/>
              <a:gd name="connsiteY332" fmla="*/ 844126 h 926343"/>
              <a:gd name="connsiteX333" fmla="*/ 2994818 w 4875349"/>
              <a:gd name="connsiteY333" fmla="*/ 844126 h 926343"/>
              <a:gd name="connsiteX334" fmla="*/ 2988007 w 4875349"/>
              <a:gd name="connsiteY334" fmla="*/ 824366 h 926343"/>
              <a:gd name="connsiteX335" fmla="*/ 2988007 w 4875349"/>
              <a:gd name="connsiteY335" fmla="*/ 824366 h 926343"/>
              <a:gd name="connsiteX336" fmla="*/ 2995355 w 4875349"/>
              <a:gd name="connsiteY336" fmla="*/ 808879 h 926343"/>
              <a:gd name="connsiteX337" fmla="*/ 2983526 w 4875349"/>
              <a:gd name="connsiteY337" fmla="*/ 818848 h 926343"/>
              <a:gd name="connsiteX338" fmla="*/ 2973130 w 4875349"/>
              <a:gd name="connsiteY338" fmla="*/ 818848 h 926343"/>
              <a:gd name="connsiteX339" fmla="*/ 2976715 w 4875349"/>
              <a:gd name="connsiteY339" fmla="*/ 800156 h 926343"/>
              <a:gd name="connsiteX340" fmla="*/ 2988186 w 4875349"/>
              <a:gd name="connsiteY340" fmla="*/ 800156 h 926343"/>
              <a:gd name="connsiteX341" fmla="*/ 2995355 w 4875349"/>
              <a:gd name="connsiteY341" fmla="*/ 808879 h 926343"/>
              <a:gd name="connsiteX342" fmla="*/ 1498985 w 4875349"/>
              <a:gd name="connsiteY342" fmla="*/ 270374 h 926343"/>
              <a:gd name="connsiteX343" fmla="*/ 1453828 w 4875349"/>
              <a:gd name="connsiteY343" fmla="*/ 227989 h 926343"/>
              <a:gd name="connsiteX344" fmla="*/ 1501834 w 4875349"/>
              <a:gd name="connsiteY344" fmla="*/ 195649 h 926343"/>
              <a:gd name="connsiteX345" fmla="*/ 1597180 w 4875349"/>
              <a:gd name="connsiteY345" fmla="*/ 222644 h 926343"/>
              <a:gd name="connsiteX346" fmla="*/ 1613401 w 4875349"/>
              <a:gd name="connsiteY346" fmla="*/ 137908 h 926343"/>
              <a:gd name="connsiteX347" fmla="*/ 1507205 w 4875349"/>
              <a:gd name="connsiteY347" fmla="*/ 113411 h 926343"/>
              <a:gd name="connsiteX348" fmla="*/ 1340970 w 4875349"/>
              <a:gd name="connsiteY348" fmla="*/ 243327 h 926343"/>
              <a:gd name="connsiteX349" fmla="*/ 1420637 w 4875349"/>
              <a:gd name="connsiteY349" fmla="*/ 342530 h 926343"/>
              <a:gd name="connsiteX350" fmla="*/ 1467348 w 4875349"/>
              <a:gd name="connsiteY350" fmla="*/ 390260 h 926343"/>
              <a:gd name="connsiteX351" fmla="*/ 1420899 w 4875349"/>
              <a:gd name="connsiteY351" fmla="*/ 423380 h 926343"/>
              <a:gd name="connsiteX352" fmla="*/ 1316170 w 4875349"/>
              <a:gd name="connsiteY352" fmla="*/ 394058 h 926343"/>
              <a:gd name="connsiteX353" fmla="*/ 1299920 w 4875349"/>
              <a:gd name="connsiteY353" fmla="*/ 478961 h 926343"/>
              <a:gd name="connsiteX354" fmla="*/ 1410107 w 4875349"/>
              <a:gd name="connsiteY354" fmla="*/ 504852 h 926343"/>
              <a:gd name="connsiteX355" fmla="*/ 1549514 w 4875349"/>
              <a:gd name="connsiteY355" fmla="*/ 458861 h 926343"/>
              <a:gd name="connsiteX356" fmla="*/ 1584075 w 4875349"/>
              <a:gd name="connsiteY356" fmla="*/ 372652 h 926343"/>
              <a:gd name="connsiteX357" fmla="*/ 1498985 w 4875349"/>
              <a:gd name="connsiteY357" fmla="*/ 270374 h 926343"/>
              <a:gd name="connsiteX358" fmla="*/ 970363 w 4875349"/>
              <a:gd name="connsiteY358" fmla="*/ 127406 h 926343"/>
              <a:gd name="connsiteX359" fmla="*/ 952989 w 4875349"/>
              <a:gd name="connsiteY359" fmla="*/ 217938 h 926343"/>
              <a:gd name="connsiteX360" fmla="*/ 891107 w 4875349"/>
              <a:gd name="connsiteY360" fmla="*/ 203307 h 926343"/>
              <a:gd name="connsiteX361" fmla="*/ 763747 w 4875349"/>
              <a:gd name="connsiteY361" fmla="*/ 338997 h 926343"/>
              <a:gd name="connsiteX362" fmla="*/ 837167 w 4875349"/>
              <a:gd name="connsiteY362" fmla="*/ 415748 h 926343"/>
              <a:gd name="connsiteX363" fmla="*/ 930953 w 4875349"/>
              <a:gd name="connsiteY363" fmla="*/ 391664 h 926343"/>
              <a:gd name="connsiteX364" fmla="*/ 913201 w 4875349"/>
              <a:gd name="connsiteY364" fmla="*/ 484779 h 926343"/>
              <a:gd name="connsiteX365" fmla="*/ 805571 w 4875349"/>
              <a:gd name="connsiteY365" fmla="*/ 504852 h 926343"/>
              <a:gd name="connsiteX366" fmla="*/ 646266 w 4875349"/>
              <a:gd name="connsiteY366" fmla="*/ 351250 h 926343"/>
              <a:gd name="connsiteX367" fmla="*/ 892662 w 4875349"/>
              <a:gd name="connsiteY367" fmla="*/ 114188 h 926343"/>
              <a:gd name="connsiteX368" fmla="*/ 970363 w 4875349"/>
              <a:gd name="connsiteY368" fmla="*/ 127406 h 926343"/>
              <a:gd name="connsiteX369" fmla="*/ 2778278 w 4875349"/>
              <a:gd name="connsiteY369" fmla="*/ 343325 h 926343"/>
              <a:gd name="connsiteX370" fmla="*/ 2993476 w 4875349"/>
              <a:gd name="connsiteY370" fmla="*/ 302896 h 926343"/>
              <a:gd name="connsiteX371" fmla="*/ 3023855 w 4875349"/>
              <a:gd name="connsiteY371" fmla="*/ 226484 h 926343"/>
              <a:gd name="connsiteX372" fmla="*/ 2892289 w 4875349"/>
              <a:gd name="connsiteY372" fmla="*/ 113423 h 926343"/>
              <a:gd name="connsiteX373" fmla="*/ 2730905 w 4875349"/>
              <a:gd name="connsiteY373" fmla="*/ 187174 h 926343"/>
              <a:gd name="connsiteX374" fmla="*/ 2672078 w 4875349"/>
              <a:gd name="connsiteY374" fmla="*/ 346655 h 926343"/>
              <a:gd name="connsiteX375" fmla="*/ 2836038 w 4875349"/>
              <a:gd name="connsiteY375" fmla="*/ 504881 h 926343"/>
              <a:gd name="connsiteX376" fmla="*/ 2976777 w 4875349"/>
              <a:gd name="connsiteY376" fmla="*/ 474840 h 926343"/>
              <a:gd name="connsiteX377" fmla="*/ 2994734 w 4875349"/>
              <a:gd name="connsiteY377" fmla="*/ 381111 h 926343"/>
              <a:gd name="connsiteX378" fmla="*/ 2863005 w 4875349"/>
              <a:gd name="connsiteY378" fmla="*/ 418032 h 926343"/>
              <a:gd name="connsiteX379" fmla="*/ 2778278 w 4875349"/>
              <a:gd name="connsiteY379" fmla="*/ 343325 h 926343"/>
              <a:gd name="connsiteX380" fmla="*/ 2878412 w 4875349"/>
              <a:gd name="connsiteY380" fmla="*/ 194883 h 926343"/>
              <a:gd name="connsiteX381" fmla="*/ 2909510 w 4875349"/>
              <a:gd name="connsiteY381" fmla="*/ 249117 h 926343"/>
              <a:gd name="connsiteX382" fmla="*/ 2790539 w 4875349"/>
              <a:gd name="connsiteY382" fmla="*/ 271078 h 926343"/>
              <a:gd name="connsiteX383" fmla="*/ 2878412 w 4875349"/>
              <a:gd name="connsiteY383" fmla="*/ 194883 h 926343"/>
              <a:gd name="connsiteX384" fmla="*/ 2693048 w 4875349"/>
              <a:gd name="connsiteY384" fmla="*/ 127406 h 926343"/>
              <a:gd name="connsiteX385" fmla="*/ 2675674 w 4875349"/>
              <a:gd name="connsiteY385" fmla="*/ 217938 h 926343"/>
              <a:gd name="connsiteX386" fmla="*/ 2613791 w 4875349"/>
              <a:gd name="connsiteY386" fmla="*/ 203307 h 926343"/>
              <a:gd name="connsiteX387" fmla="*/ 2486431 w 4875349"/>
              <a:gd name="connsiteY387" fmla="*/ 338997 h 926343"/>
              <a:gd name="connsiteX388" fmla="*/ 2559852 w 4875349"/>
              <a:gd name="connsiteY388" fmla="*/ 415748 h 926343"/>
              <a:gd name="connsiteX389" fmla="*/ 2653638 w 4875349"/>
              <a:gd name="connsiteY389" fmla="*/ 391664 h 926343"/>
              <a:gd name="connsiteX390" fmla="*/ 2635886 w 4875349"/>
              <a:gd name="connsiteY390" fmla="*/ 484779 h 926343"/>
              <a:gd name="connsiteX391" fmla="*/ 2528256 w 4875349"/>
              <a:gd name="connsiteY391" fmla="*/ 504852 h 926343"/>
              <a:gd name="connsiteX392" fmla="*/ 2368950 w 4875349"/>
              <a:gd name="connsiteY392" fmla="*/ 351250 h 926343"/>
              <a:gd name="connsiteX393" fmla="*/ 2615346 w 4875349"/>
              <a:gd name="connsiteY393" fmla="*/ 114188 h 926343"/>
              <a:gd name="connsiteX394" fmla="*/ 2693048 w 4875349"/>
              <a:gd name="connsiteY394" fmla="*/ 127406 h 926343"/>
              <a:gd name="connsiteX395" fmla="*/ 2329634 w 4875349"/>
              <a:gd name="connsiteY395" fmla="*/ 152058 h 926343"/>
              <a:gd name="connsiteX396" fmla="*/ 2229388 w 4875349"/>
              <a:gd name="connsiteY396" fmla="*/ 113412 h 926343"/>
              <a:gd name="connsiteX397" fmla="*/ 2074640 w 4875349"/>
              <a:gd name="connsiteY397" fmla="*/ 176365 h 926343"/>
              <a:gd name="connsiteX398" fmla="*/ 1995666 w 4875349"/>
              <a:gd name="connsiteY398" fmla="*/ 374196 h 926343"/>
              <a:gd name="connsiteX399" fmla="*/ 2103884 w 4875349"/>
              <a:gd name="connsiteY399" fmla="*/ 505631 h 926343"/>
              <a:gd name="connsiteX400" fmla="*/ 2216888 w 4875349"/>
              <a:gd name="connsiteY400" fmla="*/ 424869 h 926343"/>
              <a:gd name="connsiteX401" fmla="*/ 2202971 w 4875349"/>
              <a:gd name="connsiteY401" fmla="*/ 497208 h 926343"/>
              <a:gd name="connsiteX402" fmla="*/ 2310065 w 4875349"/>
              <a:gd name="connsiteY402" fmla="*/ 497208 h 926343"/>
              <a:gd name="connsiteX403" fmla="*/ 2350499 w 4875349"/>
              <a:gd name="connsiteY403" fmla="*/ 287037 h 926343"/>
              <a:gd name="connsiteX404" fmla="*/ 2329634 w 4875349"/>
              <a:gd name="connsiteY404" fmla="*/ 152058 h 926343"/>
              <a:gd name="connsiteX405" fmla="*/ 2237095 w 4875349"/>
              <a:gd name="connsiteY405" fmla="*/ 310500 h 926343"/>
              <a:gd name="connsiteX406" fmla="*/ 2149081 w 4875349"/>
              <a:gd name="connsiteY406" fmla="*/ 414918 h 926343"/>
              <a:gd name="connsiteX407" fmla="*/ 2108903 w 4875349"/>
              <a:gd name="connsiteY407" fmla="*/ 351174 h 926343"/>
              <a:gd name="connsiteX408" fmla="*/ 2207291 w 4875349"/>
              <a:gd name="connsiteY408" fmla="*/ 197893 h 926343"/>
              <a:gd name="connsiteX409" fmla="*/ 2247393 w 4875349"/>
              <a:gd name="connsiteY409" fmla="*/ 238683 h 926343"/>
              <a:gd name="connsiteX410" fmla="*/ 2237095 w 4875349"/>
              <a:gd name="connsiteY410" fmla="*/ 310500 h 926343"/>
              <a:gd name="connsiteX411" fmla="*/ 606951 w 4875349"/>
              <a:gd name="connsiteY411" fmla="*/ 152058 h 926343"/>
              <a:gd name="connsiteX412" fmla="*/ 506706 w 4875349"/>
              <a:gd name="connsiteY412" fmla="*/ 113412 h 926343"/>
              <a:gd name="connsiteX413" fmla="*/ 351958 w 4875349"/>
              <a:gd name="connsiteY413" fmla="*/ 176365 h 926343"/>
              <a:gd name="connsiteX414" fmla="*/ 272985 w 4875349"/>
              <a:gd name="connsiteY414" fmla="*/ 374196 h 926343"/>
              <a:gd name="connsiteX415" fmla="*/ 381203 w 4875349"/>
              <a:gd name="connsiteY415" fmla="*/ 505631 h 926343"/>
              <a:gd name="connsiteX416" fmla="*/ 494206 w 4875349"/>
              <a:gd name="connsiteY416" fmla="*/ 424869 h 926343"/>
              <a:gd name="connsiteX417" fmla="*/ 480290 w 4875349"/>
              <a:gd name="connsiteY417" fmla="*/ 497208 h 926343"/>
              <a:gd name="connsiteX418" fmla="*/ 587383 w 4875349"/>
              <a:gd name="connsiteY418" fmla="*/ 497208 h 926343"/>
              <a:gd name="connsiteX419" fmla="*/ 627817 w 4875349"/>
              <a:gd name="connsiteY419" fmla="*/ 287037 h 926343"/>
              <a:gd name="connsiteX420" fmla="*/ 606951 w 4875349"/>
              <a:gd name="connsiteY420" fmla="*/ 152058 h 926343"/>
              <a:gd name="connsiteX421" fmla="*/ 514414 w 4875349"/>
              <a:gd name="connsiteY421" fmla="*/ 310500 h 926343"/>
              <a:gd name="connsiteX422" fmla="*/ 426399 w 4875349"/>
              <a:gd name="connsiteY422" fmla="*/ 414918 h 926343"/>
              <a:gd name="connsiteX423" fmla="*/ 386220 w 4875349"/>
              <a:gd name="connsiteY423" fmla="*/ 351174 h 926343"/>
              <a:gd name="connsiteX424" fmla="*/ 484610 w 4875349"/>
              <a:gd name="connsiteY424" fmla="*/ 197893 h 926343"/>
              <a:gd name="connsiteX425" fmla="*/ 524712 w 4875349"/>
              <a:gd name="connsiteY425" fmla="*/ 238683 h 926343"/>
              <a:gd name="connsiteX426" fmla="*/ 514414 w 4875349"/>
              <a:gd name="connsiteY426" fmla="*/ 310500 h 926343"/>
              <a:gd name="connsiteX427" fmla="*/ 1865864 w 4875349"/>
              <a:gd name="connsiteY427" fmla="*/ 113412 h 926343"/>
              <a:gd name="connsiteX428" fmla="*/ 1749875 w 4875349"/>
              <a:gd name="connsiteY428" fmla="*/ 180686 h 926343"/>
              <a:gd name="connsiteX429" fmla="*/ 1761420 w 4875349"/>
              <a:gd name="connsiteY429" fmla="*/ 120329 h 926343"/>
              <a:gd name="connsiteX430" fmla="*/ 1662666 w 4875349"/>
              <a:gd name="connsiteY430" fmla="*/ 120329 h 926343"/>
              <a:gd name="connsiteX431" fmla="*/ 1567483 w 4875349"/>
              <a:gd name="connsiteY431" fmla="*/ 617550 h 926343"/>
              <a:gd name="connsiteX432" fmla="*/ 1679604 w 4875349"/>
              <a:gd name="connsiteY432" fmla="*/ 617550 h 926343"/>
              <a:gd name="connsiteX433" fmla="*/ 1708085 w 4875349"/>
              <a:gd name="connsiteY433" fmla="*/ 468046 h 926343"/>
              <a:gd name="connsiteX434" fmla="*/ 1782974 w 4875349"/>
              <a:gd name="connsiteY434" fmla="*/ 505635 h 926343"/>
              <a:gd name="connsiteX435" fmla="*/ 1864479 w 4875349"/>
              <a:gd name="connsiteY435" fmla="*/ 483389 h 926343"/>
              <a:gd name="connsiteX436" fmla="*/ 1988181 w 4875349"/>
              <a:gd name="connsiteY436" fmla="*/ 256331 h 926343"/>
              <a:gd name="connsiteX437" fmla="*/ 1865864 w 4875349"/>
              <a:gd name="connsiteY437" fmla="*/ 113412 h 926343"/>
              <a:gd name="connsiteX438" fmla="*/ 1769434 w 4875349"/>
              <a:gd name="connsiteY438" fmla="*/ 421096 h 926343"/>
              <a:gd name="connsiteX439" fmla="*/ 1735618 w 4875349"/>
              <a:gd name="connsiteY439" fmla="*/ 323009 h 926343"/>
              <a:gd name="connsiteX440" fmla="*/ 1826299 w 4875349"/>
              <a:gd name="connsiteY440" fmla="*/ 204083 h 926343"/>
              <a:gd name="connsiteX441" fmla="*/ 1871576 w 4875349"/>
              <a:gd name="connsiteY441" fmla="*/ 264766 h 926343"/>
              <a:gd name="connsiteX442" fmla="*/ 1769434 w 4875349"/>
              <a:gd name="connsiteY442" fmla="*/ 421096 h 926343"/>
              <a:gd name="connsiteX443" fmla="*/ 312690 w 4875349"/>
              <a:gd name="connsiteY443" fmla="*/ 112292 h 926343"/>
              <a:gd name="connsiteX444" fmla="*/ 290790 w 4875349"/>
              <a:gd name="connsiteY444" fmla="*/ 226685 h 926343"/>
              <a:gd name="connsiteX445" fmla="*/ 142422 w 4875349"/>
              <a:gd name="connsiteY445" fmla="*/ 345714 h 926343"/>
              <a:gd name="connsiteX446" fmla="*/ 112141 w 4875349"/>
              <a:gd name="connsiteY446" fmla="*/ 503840 h 926343"/>
              <a:gd name="connsiteX447" fmla="*/ 0 w 4875349"/>
              <a:gd name="connsiteY447" fmla="*/ 503840 h 926343"/>
              <a:gd name="connsiteX448" fmla="*/ 73440 w 4875349"/>
              <a:gd name="connsiteY448" fmla="*/ 120329 h 926343"/>
              <a:gd name="connsiteX449" fmla="*/ 172185 w 4875349"/>
              <a:gd name="connsiteY449" fmla="*/ 120329 h 926343"/>
              <a:gd name="connsiteX450" fmla="*/ 156202 w 4875349"/>
              <a:gd name="connsiteY450" fmla="*/ 203879 h 926343"/>
              <a:gd name="connsiteX451" fmla="*/ 312690 w 4875349"/>
              <a:gd name="connsiteY451" fmla="*/ 112292 h 926343"/>
              <a:gd name="connsiteX452" fmla="*/ 944243 w 4875349"/>
              <a:gd name="connsiteY452" fmla="*/ 497208 h 926343"/>
              <a:gd name="connsiteX453" fmla="*/ 1039422 w 4875349"/>
              <a:gd name="connsiteY453" fmla="*/ 0 h 926343"/>
              <a:gd name="connsiteX454" fmla="*/ 1150777 w 4875349"/>
              <a:gd name="connsiteY454" fmla="*/ 0 h 926343"/>
              <a:gd name="connsiteX455" fmla="*/ 1094906 w 4875349"/>
              <a:gd name="connsiteY455" fmla="*/ 291909 h 926343"/>
              <a:gd name="connsiteX456" fmla="*/ 1239347 w 4875349"/>
              <a:gd name="connsiteY456" fmla="*/ 120329 h 926343"/>
              <a:gd name="connsiteX457" fmla="*/ 1361754 w 4875349"/>
              <a:gd name="connsiteY457" fmla="*/ 120329 h 926343"/>
              <a:gd name="connsiteX458" fmla="*/ 1212060 w 4875349"/>
              <a:gd name="connsiteY458" fmla="*/ 293812 h 926343"/>
              <a:gd name="connsiteX459" fmla="*/ 1294315 w 4875349"/>
              <a:gd name="connsiteY459" fmla="*/ 497208 h 926343"/>
              <a:gd name="connsiteX460" fmla="*/ 1173734 w 4875349"/>
              <a:gd name="connsiteY460" fmla="*/ 497208 h 926343"/>
              <a:gd name="connsiteX461" fmla="*/ 1094235 w 4875349"/>
              <a:gd name="connsiteY461" fmla="*/ 295415 h 926343"/>
              <a:gd name="connsiteX462" fmla="*/ 1055611 w 4875349"/>
              <a:gd name="connsiteY462" fmla="*/ 497208 h 926343"/>
              <a:gd name="connsiteX463" fmla="*/ 944243 w 4875349"/>
              <a:gd name="connsiteY463" fmla="*/ 497208 h 926343"/>
              <a:gd name="connsiteX464" fmla="*/ 2280316 w 4875349"/>
              <a:gd name="connsiteY464" fmla="*/ 695157 h 926343"/>
              <a:gd name="connsiteX465" fmla="*/ 2187788 w 4875349"/>
              <a:gd name="connsiteY465" fmla="*/ 795876 h 926343"/>
              <a:gd name="connsiteX466" fmla="*/ 2253291 w 4875349"/>
              <a:gd name="connsiteY466" fmla="*/ 861573 h 926343"/>
              <a:gd name="connsiteX467" fmla="*/ 2345820 w 4875349"/>
              <a:gd name="connsiteY467" fmla="*/ 760854 h 926343"/>
              <a:gd name="connsiteX468" fmla="*/ 2280316 w 4875349"/>
              <a:gd name="connsiteY468" fmla="*/ 695157 h 926343"/>
              <a:gd name="connsiteX469" fmla="*/ 2275683 w 4875349"/>
              <a:gd name="connsiteY469" fmla="*/ 724555 h 926343"/>
              <a:gd name="connsiteX470" fmla="*/ 2306312 w 4875349"/>
              <a:gd name="connsiteY470" fmla="*/ 761174 h 926343"/>
              <a:gd name="connsiteX471" fmla="*/ 2258568 w 4875349"/>
              <a:gd name="connsiteY471" fmla="*/ 832175 h 926343"/>
              <a:gd name="connsiteX472" fmla="*/ 2227296 w 4875349"/>
              <a:gd name="connsiteY472" fmla="*/ 794885 h 926343"/>
              <a:gd name="connsiteX473" fmla="*/ 2275683 w 4875349"/>
              <a:gd name="connsiteY473" fmla="*/ 724555 h 926343"/>
              <a:gd name="connsiteX474" fmla="*/ 2541237 w 4875349"/>
              <a:gd name="connsiteY474" fmla="*/ 695157 h 926343"/>
              <a:gd name="connsiteX475" fmla="*/ 2448709 w 4875349"/>
              <a:gd name="connsiteY475" fmla="*/ 795876 h 926343"/>
              <a:gd name="connsiteX476" fmla="*/ 2514212 w 4875349"/>
              <a:gd name="connsiteY476" fmla="*/ 861573 h 926343"/>
              <a:gd name="connsiteX477" fmla="*/ 2606741 w 4875349"/>
              <a:gd name="connsiteY477" fmla="*/ 760854 h 926343"/>
              <a:gd name="connsiteX478" fmla="*/ 2541237 w 4875349"/>
              <a:gd name="connsiteY478" fmla="*/ 695157 h 926343"/>
              <a:gd name="connsiteX479" fmla="*/ 2536604 w 4875349"/>
              <a:gd name="connsiteY479" fmla="*/ 724555 h 926343"/>
              <a:gd name="connsiteX480" fmla="*/ 2567233 w 4875349"/>
              <a:gd name="connsiteY480" fmla="*/ 761174 h 926343"/>
              <a:gd name="connsiteX481" fmla="*/ 2519488 w 4875349"/>
              <a:gd name="connsiteY481" fmla="*/ 832175 h 926343"/>
              <a:gd name="connsiteX482" fmla="*/ 2488217 w 4875349"/>
              <a:gd name="connsiteY482" fmla="*/ 794885 h 926343"/>
              <a:gd name="connsiteX483" fmla="*/ 2536604 w 4875349"/>
              <a:gd name="connsiteY483" fmla="*/ 724555 h 926343"/>
              <a:gd name="connsiteX484" fmla="*/ 2441704 w 4875349"/>
              <a:gd name="connsiteY484" fmla="*/ 646623 h 926343"/>
              <a:gd name="connsiteX485" fmla="*/ 2400932 w 4875349"/>
              <a:gd name="connsiteY485" fmla="*/ 857994 h 926343"/>
              <a:gd name="connsiteX486" fmla="*/ 2362712 w 4875349"/>
              <a:gd name="connsiteY486" fmla="*/ 857994 h 926343"/>
              <a:gd name="connsiteX487" fmla="*/ 2403190 w 4875349"/>
              <a:gd name="connsiteY487" fmla="*/ 646623 h 926343"/>
              <a:gd name="connsiteX488" fmla="*/ 2441704 w 4875349"/>
              <a:gd name="connsiteY488" fmla="*/ 646623 h 926343"/>
              <a:gd name="connsiteX489" fmla="*/ 1819430 w 4875349"/>
              <a:gd name="connsiteY489" fmla="*/ 701970 h 926343"/>
              <a:gd name="connsiteX490" fmla="*/ 1813367 w 4875349"/>
              <a:gd name="connsiteY490" fmla="*/ 733641 h 926343"/>
              <a:gd name="connsiteX491" fmla="*/ 1783826 w 4875349"/>
              <a:gd name="connsiteY491" fmla="*/ 726217 h 926343"/>
              <a:gd name="connsiteX492" fmla="*/ 1723567 w 4875349"/>
              <a:gd name="connsiteY492" fmla="*/ 793256 h 926343"/>
              <a:gd name="connsiteX493" fmla="*/ 1758796 w 4875349"/>
              <a:gd name="connsiteY493" fmla="*/ 830514 h 926343"/>
              <a:gd name="connsiteX494" fmla="*/ 1801876 w 4875349"/>
              <a:gd name="connsiteY494" fmla="*/ 818489 h 926343"/>
              <a:gd name="connsiteX495" fmla="*/ 1795551 w 4875349"/>
              <a:gd name="connsiteY495" fmla="*/ 851535 h 926343"/>
              <a:gd name="connsiteX496" fmla="*/ 1748275 w 4875349"/>
              <a:gd name="connsiteY496" fmla="*/ 861253 h 926343"/>
              <a:gd name="connsiteX497" fmla="*/ 1683415 w 4875349"/>
              <a:gd name="connsiteY497" fmla="*/ 797825 h 926343"/>
              <a:gd name="connsiteX498" fmla="*/ 1785145 w 4875349"/>
              <a:gd name="connsiteY498" fmla="*/ 695477 h 926343"/>
              <a:gd name="connsiteX499" fmla="*/ 1819430 w 4875349"/>
              <a:gd name="connsiteY499" fmla="*/ 701970 h 926343"/>
              <a:gd name="connsiteX500" fmla="*/ 1599026 w 4875349"/>
              <a:gd name="connsiteY500" fmla="*/ 831504 h 926343"/>
              <a:gd name="connsiteX501" fmla="*/ 1657309 w 4875349"/>
              <a:gd name="connsiteY501" fmla="*/ 812360 h 926343"/>
              <a:gd name="connsiteX502" fmla="*/ 1650747 w 4875349"/>
              <a:gd name="connsiteY502" fmla="*/ 846645 h 926343"/>
              <a:gd name="connsiteX503" fmla="*/ 1590147 w 4875349"/>
              <a:gd name="connsiteY503" fmla="*/ 861573 h 926343"/>
              <a:gd name="connsiteX504" fmla="*/ 1524289 w 4875349"/>
              <a:gd name="connsiteY504" fmla="*/ 795524 h 926343"/>
              <a:gd name="connsiteX505" fmla="*/ 1615145 w 4875349"/>
              <a:gd name="connsiteY505" fmla="*/ 695157 h 926343"/>
              <a:gd name="connsiteX506" fmla="*/ 1666846 w 4875349"/>
              <a:gd name="connsiteY506" fmla="*/ 739957 h 926343"/>
              <a:gd name="connsiteX507" fmla="*/ 1561835 w 4875349"/>
              <a:gd name="connsiteY507" fmla="*/ 792585 h 926343"/>
              <a:gd name="connsiteX508" fmla="*/ 1566114 w 4875349"/>
              <a:gd name="connsiteY508" fmla="*/ 815176 h 926343"/>
              <a:gd name="connsiteX509" fmla="*/ 1599026 w 4875349"/>
              <a:gd name="connsiteY509" fmla="*/ 831504 h 926343"/>
              <a:gd name="connsiteX510" fmla="*/ 1565760 w 4875349"/>
              <a:gd name="connsiteY510" fmla="*/ 764114 h 926343"/>
              <a:gd name="connsiteX511" fmla="*/ 1630620 w 4875349"/>
              <a:gd name="connsiteY511" fmla="*/ 739956 h 926343"/>
              <a:gd name="connsiteX512" fmla="*/ 1610222 w 4875349"/>
              <a:gd name="connsiteY512" fmla="*/ 723596 h 926343"/>
              <a:gd name="connsiteX513" fmla="*/ 1565760 w 4875349"/>
              <a:gd name="connsiteY513" fmla="*/ 764114 h 926343"/>
              <a:gd name="connsiteX514" fmla="*/ 2158533 w 4875349"/>
              <a:gd name="connsiteY514" fmla="*/ 765136 h 926343"/>
              <a:gd name="connsiteX515" fmla="*/ 2140621 w 4875349"/>
              <a:gd name="connsiteY515" fmla="*/ 857994 h 926343"/>
              <a:gd name="connsiteX516" fmla="*/ 2102401 w 4875349"/>
              <a:gd name="connsiteY516" fmla="*/ 857994 h 926343"/>
              <a:gd name="connsiteX517" fmla="*/ 2119621 w 4875349"/>
              <a:gd name="connsiteY517" fmla="*/ 768076 h 926343"/>
              <a:gd name="connsiteX518" fmla="*/ 2121512 w 4875349"/>
              <a:gd name="connsiteY518" fmla="*/ 749095 h 926343"/>
              <a:gd name="connsiteX519" fmla="*/ 2101404 w 4875349"/>
              <a:gd name="connsiteY519" fmla="*/ 726216 h 926343"/>
              <a:gd name="connsiteX520" fmla="*/ 2055042 w 4875349"/>
              <a:gd name="connsiteY520" fmla="*/ 784436 h 926343"/>
              <a:gd name="connsiteX521" fmla="*/ 2040853 w 4875349"/>
              <a:gd name="connsiteY521" fmla="*/ 857994 h 926343"/>
              <a:gd name="connsiteX522" fmla="*/ 2002633 w 4875349"/>
              <a:gd name="connsiteY522" fmla="*/ 857994 h 926343"/>
              <a:gd name="connsiteX523" fmla="*/ 2033316 w 4875349"/>
              <a:gd name="connsiteY523" fmla="*/ 697777 h 926343"/>
              <a:gd name="connsiteX524" fmla="*/ 2067888 w 4875349"/>
              <a:gd name="connsiteY524" fmla="*/ 697777 h 926343"/>
              <a:gd name="connsiteX525" fmla="*/ 2061951 w 4875349"/>
              <a:gd name="connsiteY525" fmla="*/ 728554 h 926343"/>
              <a:gd name="connsiteX526" fmla="*/ 2120514 w 4875349"/>
              <a:gd name="connsiteY526" fmla="*/ 695157 h 926343"/>
              <a:gd name="connsiteX527" fmla="*/ 2161341 w 4875349"/>
              <a:gd name="connsiteY527" fmla="*/ 738934 h 926343"/>
              <a:gd name="connsiteX528" fmla="*/ 2158533 w 4875349"/>
              <a:gd name="connsiteY528" fmla="*/ 765136 h 926343"/>
              <a:gd name="connsiteX529" fmla="*/ 1980144 w 4875349"/>
              <a:gd name="connsiteY529" fmla="*/ 738934 h 926343"/>
              <a:gd name="connsiteX530" fmla="*/ 1977335 w 4875349"/>
              <a:gd name="connsiteY530" fmla="*/ 765136 h 926343"/>
              <a:gd name="connsiteX531" fmla="*/ 1959424 w 4875349"/>
              <a:gd name="connsiteY531" fmla="*/ 857994 h 926343"/>
              <a:gd name="connsiteX532" fmla="*/ 1921204 w 4875349"/>
              <a:gd name="connsiteY532" fmla="*/ 857994 h 926343"/>
              <a:gd name="connsiteX533" fmla="*/ 1938424 w 4875349"/>
              <a:gd name="connsiteY533" fmla="*/ 768076 h 926343"/>
              <a:gd name="connsiteX534" fmla="*/ 1940315 w 4875349"/>
              <a:gd name="connsiteY534" fmla="*/ 749095 h 926343"/>
              <a:gd name="connsiteX535" fmla="*/ 1920206 w 4875349"/>
              <a:gd name="connsiteY535" fmla="*/ 726216 h 926343"/>
              <a:gd name="connsiteX536" fmla="*/ 1873845 w 4875349"/>
              <a:gd name="connsiteY536" fmla="*/ 784436 h 926343"/>
              <a:gd name="connsiteX537" fmla="*/ 1873845 w 4875349"/>
              <a:gd name="connsiteY537" fmla="*/ 784436 h 926343"/>
              <a:gd name="connsiteX538" fmla="*/ 1859656 w 4875349"/>
              <a:gd name="connsiteY538" fmla="*/ 857994 h 926343"/>
              <a:gd name="connsiteX539" fmla="*/ 1821436 w 4875349"/>
              <a:gd name="connsiteY539" fmla="*/ 857994 h 926343"/>
              <a:gd name="connsiteX540" fmla="*/ 1861915 w 4875349"/>
              <a:gd name="connsiteY540" fmla="*/ 646623 h 926343"/>
              <a:gd name="connsiteX541" fmla="*/ 1900428 w 4875349"/>
              <a:gd name="connsiteY541" fmla="*/ 646623 h 926343"/>
              <a:gd name="connsiteX542" fmla="*/ 1885984 w 4875349"/>
              <a:gd name="connsiteY542" fmla="*/ 721502 h 926343"/>
              <a:gd name="connsiteX543" fmla="*/ 1939317 w 4875349"/>
              <a:gd name="connsiteY543" fmla="*/ 695157 h 926343"/>
              <a:gd name="connsiteX544" fmla="*/ 1980144 w 4875349"/>
              <a:gd name="connsiteY544" fmla="*/ 738934 h 926343"/>
              <a:gd name="connsiteX545" fmla="*/ 1486679 w 4875349"/>
              <a:gd name="connsiteY545" fmla="*/ 698736 h 926343"/>
              <a:gd name="connsiteX546" fmla="*/ 1522584 w 4875349"/>
              <a:gd name="connsiteY546" fmla="*/ 698736 h 926343"/>
              <a:gd name="connsiteX547" fmla="*/ 1516664 w 4875349"/>
              <a:gd name="connsiteY547" fmla="*/ 728165 h 926343"/>
              <a:gd name="connsiteX548" fmla="*/ 1480760 w 4875349"/>
              <a:gd name="connsiteY548" fmla="*/ 728165 h 926343"/>
              <a:gd name="connsiteX549" fmla="*/ 1468243 w 4875349"/>
              <a:gd name="connsiteY549" fmla="*/ 792264 h 926343"/>
              <a:gd name="connsiteX550" fmla="*/ 1465285 w 4875349"/>
              <a:gd name="connsiteY550" fmla="*/ 814824 h 926343"/>
              <a:gd name="connsiteX551" fmla="*/ 1479440 w 4875349"/>
              <a:gd name="connsiteY551" fmla="*/ 829236 h 926343"/>
              <a:gd name="connsiteX552" fmla="*/ 1494778 w 4875349"/>
              <a:gd name="connsiteY552" fmla="*/ 827801 h 926343"/>
              <a:gd name="connsiteX553" fmla="*/ 1488997 w 4875349"/>
              <a:gd name="connsiteY553" fmla="*/ 857990 h 926343"/>
              <a:gd name="connsiteX554" fmla="*/ 1488996 w 4875349"/>
              <a:gd name="connsiteY554" fmla="*/ 857994 h 926343"/>
              <a:gd name="connsiteX555" fmla="*/ 1463965 w 4875349"/>
              <a:gd name="connsiteY555" fmla="*/ 861254 h 926343"/>
              <a:gd name="connsiteX556" fmla="*/ 1426097 w 4875349"/>
              <a:gd name="connsiteY556" fmla="*/ 828564 h 926343"/>
              <a:gd name="connsiteX557" fmla="*/ 1429411 w 4875349"/>
              <a:gd name="connsiteY557" fmla="*/ 799135 h 926343"/>
              <a:gd name="connsiteX558" fmla="*/ 1443247 w 4875349"/>
              <a:gd name="connsiteY558" fmla="*/ 728165 h 926343"/>
              <a:gd name="connsiteX559" fmla="*/ 1421818 w 4875349"/>
              <a:gd name="connsiteY559" fmla="*/ 728165 h 926343"/>
              <a:gd name="connsiteX560" fmla="*/ 1427416 w 4875349"/>
              <a:gd name="connsiteY560" fmla="*/ 698736 h 926343"/>
              <a:gd name="connsiteX561" fmla="*/ 1448813 w 4875349"/>
              <a:gd name="connsiteY561" fmla="*/ 698736 h 926343"/>
              <a:gd name="connsiteX562" fmla="*/ 1457003 w 4875349"/>
              <a:gd name="connsiteY562" fmla="*/ 657748 h 926343"/>
              <a:gd name="connsiteX563" fmla="*/ 1494288 w 4875349"/>
              <a:gd name="connsiteY563" fmla="*/ 657748 h 926343"/>
              <a:gd name="connsiteX564" fmla="*/ 1486679 w 4875349"/>
              <a:gd name="connsiteY564" fmla="*/ 698736 h 926343"/>
              <a:gd name="connsiteX565" fmla="*/ 2788298 w 4875349"/>
              <a:gd name="connsiteY565" fmla="*/ 886433 h 926343"/>
              <a:gd name="connsiteX566" fmla="*/ 2828271 w 4875349"/>
              <a:gd name="connsiteY566" fmla="*/ 878611 h 926343"/>
              <a:gd name="connsiteX567" fmla="*/ 2840780 w 4875349"/>
              <a:gd name="connsiteY567" fmla="*/ 853718 h 926343"/>
              <a:gd name="connsiteX568" fmla="*/ 2812203 w 4875349"/>
              <a:gd name="connsiteY568" fmla="*/ 697777 h 926343"/>
              <a:gd name="connsiteX569" fmla="*/ 2852387 w 4875349"/>
              <a:gd name="connsiteY569" fmla="*/ 697777 h 926343"/>
              <a:gd name="connsiteX570" fmla="*/ 2867179 w 4875349"/>
              <a:gd name="connsiteY570" fmla="*/ 816325 h 926343"/>
              <a:gd name="connsiteX571" fmla="*/ 2928097 w 4875349"/>
              <a:gd name="connsiteY571" fmla="*/ 697777 h 926343"/>
              <a:gd name="connsiteX572" fmla="*/ 2968924 w 4875349"/>
              <a:gd name="connsiteY572" fmla="*/ 697777 h 926343"/>
              <a:gd name="connsiteX573" fmla="*/ 2861660 w 4875349"/>
              <a:gd name="connsiteY573" fmla="*/ 887677 h 926343"/>
              <a:gd name="connsiteX574" fmla="*/ 2861660 w 4875349"/>
              <a:gd name="connsiteY574" fmla="*/ 887739 h 926343"/>
              <a:gd name="connsiteX575" fmla="*/ 2782349 w 4875349"/>
              <a:gd name="connsiteY575" fmla="*/ 917510 h 926343"/>
              <a:gd name="connsiteX576" fmla="*/ 2788298 w 4875349"/>
              <a:gd name="connsiteY576" fmla="*/ 886433 h 926343"/>
              <a:gd name="connsiteX577" fmla="*/ 2783865 w 4875349"/>
              <a:gd name="connsiteY577" fmla="*/ 738023 h 926343"/>
              <a:gd name="connsiteX578" fmla="*/ 2780573 w 4875349"/>
              <a:gd name="connsiteY578" fmla="*/ 765507 h 926343"/>
              <a:gd name="connsiteX579" fmla="*/ 2766056 w 4875349"/>
              <a:gd name="connsiteY579" fmla="*/ 837735 h 926343"/>
              <a:gd name="connsiteX580" fmla="*/ 2732771 w 4875349"/>
              <a:gd name="connsiteY580" fmla="*/ 908673 h 926343"/>
              <a:gd name="connsiteX581" fmla="*/ 2672895 w 4875349"/>
              <a:gd name="connsiteY581" fmla="*/ 926343 h 926343"/>
              <a:gd name="connsiteX582" fmla="*/ 2625597 w 4875349"/>
              <a:gd name="connsiteY582" fmla="*/ 917510 h 926343"/>
              <a:gd name="connsiteX583" fmla="*/ 2631546 w 4875349"/>
              <a:gd name="connsiteY583" fmla="*/ 886433 h 926343"/>
              <a:gd name="connsiteX584" fmla="*/ 2673692 w 4875349"/>
              <a:gd name="connsiteY584" fmla="*/ 895923 h 926343"/>
              <a:gd name="connsiteX585" fmla="*/ 2725716 w 4875349"/>
              <a:gd name="connsiteY585" fmla="*/ 847194 h 926343"/>
              <a:gd name="connsiteX586" fmla="*/ 2728786 w 4875349"/>
              <a:gd name="connsiteY586" fmla="*/ 833259 h 926343"/>
              <a:gd name="connsiteX587" fmla="*/ 2675487 w 4875349"/>
              <a:gd name="connsiteY587" fmla="*/ 861694 h 926343"/>
              <a:gd name="connsiteX588" fmla="*/ 2627062 w 4875349"/>
              <a:gd name="connsiteY588" fmla="*/ 805419 h 926343"/>
              <a:gd name="connsiteX589" fmla="*/ 2730167 w 4875349"/>
              <a:gd name="connsiteY589" fmla="*/ 695157 h 926343"/>
              <a:gd name="connsiteX590" fmla="*/ 2783865 w 4875349"/>
              <a:gd name="connsiteY590" fmla="*/ 738023 h 926343"/>
              <a:gd name="connsiteX591" fmla="*/ 2744332 w 4875349"/>
              <a:gd name="connsiteY591" fmla="*/ 744568 h 926343"/>
              <a:gd name="connsiteX592" fmla="*/ 2722919 w 4875349"/>
              <a:gd name="connsiteY592" fmla="*/ 724282 h 926343"/>
              <a:gd name="connsiteX593" fmla="*/ 2667246 w 4875349"/>
              <a:gd name="connsiteY593" fmla="*/ 798548 h 926343"/>
              <a:gd name="connsiteX594" fmla="*/ 2692615 w 4875349"/>
              <a:gd name="connsiteY594" fmla="*/ 830614 h 926343"/>
              <a:gd name="connsiteX595" fmla="*/ 2739395 w 4875349"/>
              <a:gd name="connsiteY595" fmla="*/ 778262 h 926343"/>
              <a:gd name="connsiteX596" fmla="*/ 2742357 w 4875349"/>
              <a:gd name="connsiteY596" fmla="*/ 763539 h 926343"/>
              <a:gd name="connsiteX597" fmla="*/ 2744331 w 4875349"/>
              <a:gd name="connsiteY597" fmla="*/ 744568 h 92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Lst>
            <a:rect l="l" t="t" r="r" b="b"/>
            <a:pathLst>
              <a:path w="4875349" h="926343">
                <a:moveTo>
                  <a:pt x="3216560" y="504882"/>
                </a:moveTo>
                <a:lnTo>
                  <a:pt x="3216558" y="113422"/>
                </a:lnTo>
                <a:lnTo>
                  <a:pt x="3240379" y="113422"/>
                </a:lnTo>
                <a:lnTo>
                  <a:pt x="3240381" y="504882"/>
                </a:lnTo>
                <a:lnTo>
                  <a:pt x="3216560" y="504882"/>
                </a:lnTo>
                <a:close/>
                <a:moveTo>
                  <a:pt x="4045162" y="501503"/>
                </a:moveTo>
                <a:lnTo>
                  <a:pt x="4065592" y="501503"/>
                </a:lnTo>
                <a:lnTo>
                  <a:pt x="4065592" y="436819"/>
                </a:lnTo>
                <a:lnTo>
                  <a:pt x="4113948" y="436819"/>
                </a:lnTo>
                <a:lnTo>
                  <a:pt x="4113948" y="420806"/>
                </a:lnTo>
                <a:lnTo>
                  <a:pt x="4065592" y="420806"/>
                </a:lnTo>
                <a:lnTo>
                  <a:pt x="4065592" y="370635"/>
                </a:lnTo>
                <a:lnTo>
                  <a:pt x="4121465" y="370635"/>
                </a:lnTo>
                <a:lnTo>
                  <a:pt x="4123838" y="354398"/>
                </a:lnTo>
                <a:lnTo>
                  <a:pt x="4045162" y="354398"/>
                </a:lnTo>
                <a:lnTo>
                  <a:pt x="4045162" y="501503"/>
                </a:lnTo>
                <a:close/>
                <a:moveTo>
                  <a:pt x="4173291" y="348426"/>
                </a:moveTo>
                <a:cubicBezTo>
                  <a:pt x="4173291" y="355905"/>
                  <a:pt x="4167708" y="361661"/>
                  <a:pt x="4159329" y="361661"/>
                </a:cubicBezTo>
                <a:cubicBezTo>
                  <a:pt x="4151149" y="361661"/>
                  <a:pt x="4145567" y="355905"/>
                  <a:pt x="4145567" y="348426"/>
                </a:cubicBezTo>
                <a:cubicBezTo>
                  <a:pt x="4145567" y="340736"/>
                  <a:pt x="4151149" y="334968"/>
                  <a:pt x="4159329" y="334968"/>
                </a:cubicBezTo>
                <a:cubicBezTo>
                  <a:pt x="4167708" y="334968"/>
                  <a:pt x="4173291" y="340736"/>
                  <a:pt x="4173291" y="348426"/>
                </a:cubicBezTo>
                <a:close/>
                <a:moveTo>
                  <a:pt x="4169419" y="501497"/>
                </a:moveTo>
                <a:lnTo>
                  <a:pt x="4149638" y="501497"/>
                </a:lnTo>
                <a:lnTo>
                  <a:pt x="4149638" y="388985"/>
                </a:lnTo>
                <a:lnTo>
                  <a:pt x="4169419" y="388985"/>
                </a:lnTo>
                <a:lnTo>
                  <a:pt x="4169419" y="501497"/>
                </a:lnTo>
                <a:close/>
                <a:moveTo>
                  <a:pt x="4270675" y="387709"/>
                </a:moveTo>
                <a:lnTo>
                  <a:pt x="4267016" y="406922"/>
                </a:lnTo>
                <a:cubicBezTo>
                  <a:pt x="4263582" y="406066"/>
                  <a:pt x="4261209" y="405632"/>
                  <a:pt x="4257138" y="405632"/>
                </a:cubicBezTo>
                <a:cubicBezTo>
                  <a:pt x="4242938" y="405632"/>
                  <a:pt x="4234783" y="415679"/>
                  <a:pt x="4230050" y="437236"/>
                </a:cubicBezTo>
                <a:lnTo>
                  <a:pt x="4230050" y="501498"/>
                </a:lnTo>
                <a:lnTo>
                  <a:pt x="4210269" y="501498"/>
                </a:lnTo>
                <a:lnTo>
                  <a:pt x="4210269" y="388999"/>
                </a:lnTo>
                <a:lnTo>
                  <a:pt x="4227253" y="388999"/>
                </a:lnTo>
                <a:lnTo>
                  <a:pt x="4229188" y="411834"/>
                </a:lnTo>
                <a:cubicBezTo>
                  <a:pt x="4235208" y="394965"/>
                  <a:pt x="4245749" y="386419"/>
                  <a:pt x="4259498" y="386419"/>
                </a:cubicBezTo>
                <a:cubicBezTo>
                  <a:pt x="4263144" y="386419"/>
                  <a:pt x="4267240" y="386853"/>
                  <a:pt x="4270675" y="387709"/>
                </a:cubicBezTo>
                <a:close/>
                <a:moveTo>
                  <a:pt x="4362473" y="399240"/>
                </a:moveTo>
                <a:lnTo>
                  <a:pt x="4354080" y="411619"/>
                </a:lnTo>
                <a:cubicBezTo>
                  <a:pt x="4343990" y="405207"/>
                  <a:pt x="4335160" y="402019"/>
                  <a:pt x="4324646" y="402019"/>
                </a:cubicBezTo>
                <a:cubicBezTo>
                  <a:pt x="4311733" y="402019"/>
                  <a:pt x="4303790" y="407774"/>
                  <a:pt x="4303790" y="416742"/>
                </a:cubicBezTo>
                <a:cubicBezTo>
                  <a:pt x="4303790" y="425920"/>
                  <a:pt x="4309796" y="430187"/>
                  <a:pt x="4328079" y="434888"/>
                </a:cubicBezTo>
                <a:cubicBezTo>
                  <a:pt x="4351933" y="440866"/>
                  <a:pt x="4365695" y="450256"/>
                  <a:pt x="4365695" y="469903"/>
                </a:cubicBezTo>
                <a:cubicBezTo>
                  <a:pt x="4365695" y="493382"/>
                  <a:pt x="4343990" y="504062"/>
                  <a:pt x="4320986" y="504062"/>
                </a:cubicBezTo>
                <a:cubicBezTo>
                  <a:pt x="4301842" y="504062"/>
                  <a:pt x="4288092" y="497860"/>
                  <a:pt x="4278214" y="489327"/>
                </a:cubicBezTo>
                <a:lnTo>
                  <a:pt x="4288741" y="477370"/>
                </a:lnTo>
                <a:cubicBezTo>
                  <a:pt x="4297770" y="484204"/>
                  <a:pt x="4308298" y="488260"/>
                  <a:pt x="4320549" y="488260"/>
                </a:cubicBezTo>
                <a:cubicBezTo>
                  <a:pt x="4335385" y="488260"/>
                  <a:pt x="4344839" y="481847"/>
                  <a:pt x="4344839" y="471180"/>
                </a:cubicBezTo>
                <a:cubicBezTo>
                  <a:pt x="4344839" y="460079"/>
                  <a:pt x="4339257" y="455812"/>
                  <a:pt x="4317327" y="450045"/>
                </a:cubicBezTo>
                <a:cubicBezTo>
                  <a:pt x="4292825" y="443645"/>
                  <a:pt x="4283147" y="433176"/>
                  <a:pt x="4283147" y="417387"/>
                </a:cubicBezTo>
                <a:cubicBezTo>
                  <a:pt x="4283147" y="399451"/>
                  <a:pt x="4300568" y="386428"/>
                  <a:pt x="4323996" y="386428"/>
                </a:cubicBezTo>
                <a:cubicBezTo>
                  <a:pt x="4339894" y="386428"/>
                  <a:pt x="4351720" y="391129"/>
                  <a:pt x="4362473" y="399240"/>
                </a:cubicBezTo>
                <a:close/>
                <a:moveTo>
                  <a:pt x="4450831" y="496374"/>
                </a:moveTo>
                <a:cubicBezTo>
                  <a:pt x="4443300" y="501497"/>
                  <a:pt x="4435133" y="504064"/>
                  <a:pt x="4425467" y="504064"/>
                </a:cubicBezTo>
                <a:cubicBezTo>
                  <a:pt x="4406322" y="504064"/>
                  <a:pt x="4394933" y="492963"/>
                  <a:pt x="4394933" y="472039"/>
                </a:cubicBezTo>
                <a:lnTo>
                  <a:pt x="4394933" y="404142"/>
                </a:lnTo>
                <a:lnTo>
                  <a:pt x="4375164" y="404142"/>
                </a:lnTo>
                <a:lnTo>
                  <a:pt x="4375164" y="388998"/>
                </a:lnTo>
                <a:lnTo>
                  <a:pt x="4394933" y="388998"/>
                </a:lnTo>
                <a:lnTo>
                  <a:pt x="4394933" y="363583"/>
                </a:lnTo>
                <a:lnTo>
                  <a:pt x="4414715" y="361226"/>
                </a:lnTo>
                <a:lnTo>
                  <a:pt x="4414715" y="388998"/>
                </a:lnTo>
                <a:lnTo>
                  <a:pt x="4441590" y="388998"/>
                </a:lnTo>
                <a:lnTo>
                  <a:pt x="4439429" y="404142"/>
                </a:lnTo>
                <a:lnTo>
                  <a:pt x="4414715" y="404142"/>
                </a:lnTo>
                <a:lnTo>
                  <a:pt x="4414715" y="471183"/>
                </a:lnTo>
                <a:cubicBezTo>
                  <a:pt x="4414715" y="482495"/>
                  <a:pt x="4418362" y="487841"/>
                  <a:pt x="4428252" y="487841"/>
                </a:cubicBezTo>
                <a:cubicBezTo>
                  <a:pt x="4433198" y="487841"/>
                  <a:pt x="4437719" y="486340"/>
                  <a:pt x="4443301" y="483351"/>
                </a:cubicBezTo>
                <a:lnTo>
                  <a:pt x="4450831" y="496374"/>
                </a:lnTo>
                <a:close/>
                <a:moveTo>
                  <a:pt x="4491457" y="489118"/>
                </a:moveTo>
                <a:cubicBezTo>
                  <a:pt x="4491457" y="497441"/>
                  <a:pt x="4485000" y="504064"/>
                  <a:pt x="4476408" y="504064"/>
                </a:cubicBezTo>
                <a:cubicBezTo>
                  <a:pt x="4468029" y="504064"/>
                  <a:pt x="4461572" y="497441"/>
                  <a:pt x="4461572" y="489118"/>
                </a:cubicBezTo>
                <a:cubicBezTo>
                  <a:pt x="4461572" y="481006"/>
                  <a:pt x="4468029" y="474383"/>
                  <a:pt x="4476408" y="474383"/>
                </a:cubicBezTo>
                <a:cubicBezTo>
                  <a:pt x="4485000" y="474383"/>
                  <a:pt x="4491457" y="481006"/>
                  <a:pt x="4491457" y="489118"/>
                </a:cubicBezTo>
                <a:close/>
                <a:moveTo>
                  <a:pt x="3521774" y="366146"/>
                </a:moveTo>
                <a:lnTo>
                  <a:pt x="3505002" y="385996"/>
                </a:lnTo>
                <a:cubicBezTo>
                  <a:pt x="3496623" y="379599"/>
                  <a:pt x="3488242" y="375748"/>
                  <a:pt x="3478129" y="375748"/>
                </a:cubicBezTo>
                <a:cubicBezTo>
                  <a:pt x="3458997" y="375748"/>
                  <a:pt x="3445681" y="390911"/>
                  <a:pt x="3445681" y="427204"/>
                </a:cubicBezTo>
                <a:cubicBezTo>
                  <a:pt x="3445681" y="462863"/>
                  <a:pt x="3458793" y="478013"/>
                  <a:pt x="3478562" y="478013"/>
                </a:cubicBezTo>
                <a:cubicBezTo>
                  <a:pt x="3490386" y="478013"/>
                  <a:pt x="3498995" y="472680"/>
                  <a:pt x="3507795" y="466055"/>
                </a:cubicBezTo>
                <a:lnTo>
                  <a:pt x="3523496" y="486133"/>
                </a:lnTo>
                <a:cubicBezTo>
                  <a:pt x="3513599" y="495951"/>
                  <a:pt x="3497477" y="505135"/>
                  <a:pt x="3476841" y="505135"/>
                </a:cubicBezTo>
                <a:cubicBezTo>
                  <a:pt x="3436001" y="505135"/>
                  <a:pt x="3408707" y="477798"/>
                  <a:pt x="3408707" y="427204"/>
                </a:cubicBezTo>
                <a:cubicBezTo>
                  <a:pt x="3408707" y="377673"/>
                  <a:pt x="3437723" y="349918"/>
                  <a:pt x="3476419" y="349918"/>
                </a:cubicBezTo>
                <a:cubicBezTo>
                  <a:pt x="3495768" y="349918"/>
                  <a:pt x="3509313" y="355682"/>
                  <a:pt x="3521774" y="366145"/>
                </a:cubicBezTo>
                <a:close/>
                <a:moveTo>
                  <a:pt x="3537463" y="472680"/>
                </a:moveTo>
                <a:lnTo>
                  <a:pt x="3537463" y="343090"/>
                </a:lnTo>
                <a:lnTo>
                  <a:pt x="3571428" y="339455"/>
                </a:lnTo>
                <a:lnTo>
                  <a:pt x="3571428" y="471401"/>
                </a:lnTo>
                <a:cubicBezTo>
                  <a:pt x="3571428" y="476101"/>
                  <a:pt x="3573149" y="478444"/>
                  <a:pt x="3577231" y="478444"/>
                </a:cubicBezTo>
                <a:cubicBezTo>
                  <a:pt x="3579590" y="478444"/>
                  <a:pt x="3581312" y="478013"/>
                  <a:pt x="3582818" y="477380"/>
                </a:cubicBezTo>
                <a:lnTo>
                  <a:pt x="3589475" y="501284"/>
                </a:lnTo>
                <a:cubicBezTo>
                  <a:pt x="3584323" y="503425"/>
                  <a:pt x="3577014" y="505135"/>
                  <a:pt x="3568839" y="505135"/>
                </a:cubicBezTo>
                <a:cubicBezTo>
                  <a:pt x="3549069" y="505135"/>
                  <a:pt x="3537463" y="493392"/>
                  <a:pt x="3537463" y="472680"/>
                </a:cubicBezTo>
                <a:close/>
                <a:moveTo>
                  <a:pt x="3708782" y="444927"/>
                </a:moveTo>
                <a:cubicBezTo>
                  <a:pt x="3708782" y="481220"/>
                  <a:pt x="3687712" y="505123"/>
                  <a:pt x="3652892" y="505123"/>
                </a:cubicBezTo>
                <a:cubicBezTo>
                  <a:pt x="3618290" y="505123"/>
                  <a:pt x="3597003" y="482930"/>
                  <a:pt x="3597003" y="444712"/>
                </a:cubicBezTo>
                <a:cubicBezTo>
                  <a:pt x="3597003" y="408419"/>
                  <a:pt x="3618073" y="384502"/>
                  <a:pt x="3652892" y="384502"/>
                </a:cubicBezTo>
                <a:cubicBezTo>
                  <a:pt x="3687711" y="384502"/>
                  <a:pt x="3708782" y="406709"/>
                  <a:pt x="3708782" y="444927"/>
                </a:cubicBezTo>
                <a:close/>
                <a:moveTo>
                  <a:pt x="3632256" y="444712"/>
                </a:moveTo>
                <a:cubicBezTo>
                  <a:pt x="3632256" y="469907"/>
                  <a:pt x="3639131" y="480371"/>
                  <a:pt x="3652892" y="480371"/>
                </a:cubicBezTo>
                <a:cubicBezTo>
                  <a:pt x="3666655" y="480371"/>
                  <a:pt x="3673529" y="469477"/>
                  <a:pt x="3673529" y="444927"/>
                </a:cubicBezTo>
                <a:cubicBezTo>
                  <a:pt x="3673529" y="419731"/>
                  <a:pt x="3666655" y="409267"/>
                  <a:pt x="3652892" y="409267"/>
                </a:cubicBezTo>
                <a:cubicBezTo>
                  <a:pt x="3639131" y="409267"/>
                  <a:pt x="3632256" y="420162"/>
                  <a:pt x="3632256" y="444712"/>
                </a:cubicBezTo>
                <a:close/>
                <a:moveTo>
                  <a:pt x="3827431" y="501502"/>
                </a:moveTo>
                <a:lnTo>
                  <a:pt x="3797981" y="501502"/>
                </a:lnTo>
                <a:lnTo>
                  <a:pt x="3796477" y="487200"/>
                </a:lnTo>
                <a:cubicBezTo>
                  <a:pt x="3788097" y="499158"/>
                  <a:pt x="3776924" y="505125"/>
                  <a:pt x="3761874" y="505125"/>
                </a:cubicBezTo>
                <a:cubicBezTo>
                  <a:pt x="3740587" y="505125"/>
                  <a:pt x="3730052" y="491469"/>
                  <a:pt x="3730052" y="469478"/>
                </a:cubicBezTo>
                <a:lnTo>
                  <a:pt x="3730052" y="388139"/>
                </a:lnTo>
                <a:lnTo>
                  <a:pt x="3764017" y="388139"/>
                </a:lnTo>
                <a:lnTo>
                  <a:pt x="3764017" y="465209"/>
                </a:lnTo>
                <a:cubicBezTo>
                  <a:pt x="3764017" y="476737"/>
                  <a:pt x="3767893" y="480157"/>
                  <a:pt x="3774985" y="480157"/>
                </a:cubicBezTo>
                <a:cubicBezTo>
                  <a:pt x="3782077" y="480157"/>
                  <a:pt x="3788531" y="475457"/>
                  <a:pt x="3793466" y="466919"/>
                </a:cubicBezTo>
                <a:lnTo>
                  <a:pt x="3793466" y="388139"/>
                </a:lnTo>
                <a:lnTo>
                  <a:pt x="3827431" y="388139"/>
                </a:lnTo>
                <a:lnTo>
                  <a:pt x="3827431" y="501502"/>
                </a:lnTo>
                <a:close/>
                <a:moveTo>
                  <a:pt x="3956398" y="343082"/>
                </a:moveTo>
                <a:lnTo>
                  <a:pt x="3956398" y="501503"/>
                </a:lnTo>
                <a:lnTo>
                  <a:pt x="3926297" y="501503"/>
                </a:lnTo>
                <a:lnTo>
                  <a:pt x="3924589" y="488265"/>
                </a:lnTo>
                <a:cubicBezTo>
                  <a:pt x="3917918" y="497652"/>
                  <a:pt x="3907599" y="505126"/>
                  <a:pt x="3892129" y="505126"/>
                </a:cubicBezTo>
                <a:cubicBezTo>
                  <a:pt x="3863100" y="505126"/>
                  <a:pt x="3848700" y="481222"/>
                  <a:pt x="3848700" y="444499"/>
                </a:cubicBezTo>
                <a:cubicBezTo>
                  <a:pt x="3848700" y="409486"/>
                  <a:pt x="3867182" y="384505"/>
                  <a:pt x="3895343" y="384505"/>
                </a:cubicBezTo>
                <a:cubicBezTo>
                  <a:pt x="3906528" y="384505"/>
                  <a:pt x="3915763" y="388559"/>
                  <a:pt x="3922433" y="395184"/>
                </a:cubicBezTo>
                <a:lnTo>
                  <a:pt x="3922433" y="339459"/>
                </a:lnTo>
                <a:lnTo>
                  <a:pt x="3956398" y="343082"/>
                </a:lnTo>
                <a:close/>
                <a:moveTo>
                  <a:pt x="3922433" y="467554"/>
                </a:moveTo>
                <a:lnTo>
                  <a:pt x="3922433" y="418669"/>
                </a:lnTo>
                <a:cubicBezTo>
                  <a:pt x="3917267" y="412690"/>
                  <a:pt x="3912115" y="409055"/>
                  <a:pt x="3904590" y="409055"/>
                </a:cubicBezTo>
                <a:cubicBezTo>
                  <a:pt x="3892549" y="409055"/>
                  <a:pt x="3883953" y="419303"/>
                  <a:pt x="3883953" y="444714"/>
                </a:cubicBezTo>
                <a:cubicBezTo>
                  <a:pt x="3883953" y="472887"/>
                  <a:pt x="3891695" y="480361"/>
                  <a:pt x="3902651" y="480361"/>
                </a:cubicBezTo>
                <a:cubicBezTo>
                  <a:pt x="3910827" y="480361"/>
                  <a:pt x="3917063" y="476092"/>
                  <a:pt x="3922433" y="467554"/>
                </a:cubicBezTo>
                <a:close/>
                <a:moveTo>
                  <a:pt x="3476419" y="113000"/>
                </a:moveTo>
                <a:cubicBezTo>
                  <a:pt x="3437722" y="113000"/>
                  <a:pt x="3408707" y="140754"/>
                  <a:pt x="3408707" y="190285"/>
                </a:cubicBezTo>
                <a:cubicBezTo>
                  <a:pt x="3408707" y="240892"/>
                  <a:pt x="3436001" y="268216"/>
                  <a:pt x="3476841" y="268216"/>
                </a:cubicBezTo>
                <a:cubicBezTo>
                  <a:pt x="3497477" y="268216"/>
                  <a:pt x="3513599" y="259032"/>
                  <a:pt x="3523496" y="249215"/>
                </a:cubicBezTo>
                <a:lnTo>
                  <a:pt x="3507795" y="229136"/>
                </a:lnTo>
                <a:cubicBezTo>
                  <a:pt x="3498995" y="235762"/>
                  <a:pt x="3490386" y="241095"/>
                  <a:pt x="3478562" y="241095"/>
                </a:cubicBezTo>
                <a:cubicBezTo>
                  <a:pt x="3458793" y="241095"/>
                  <a:pt x="3445681" y="225944"/>
                  <a:pt x="3445681" y="190285"/>
                </a:cubicBezTo>
                <a:cubicBezTo>
                  <a:pt x="3445681" y="153992"/>
                  <a:pt x="3458997" y="138829"/>
                  <a:pt x="3478129" y="138829"/>
                </a:cubicBezTo>
                <a:cubicBezTo>
                  <a:pt x="3488242" y="138829"/>
                  <a:pt x="3496623" y="142680"/>
                  <a:pt x="3505002" y="149077"/>
                </a:cubicBezTo>
                <a:lnTo>
                  <a:pt x="3521774" y="129227"/>
                </a:lnTo>
                <a:cubicBezTo>
                  <a:pt x="3509314" y="118763"/>
                  <a:pt x="3495768" y="113000"/>
                  <a:pt x="3476419" y="113000"/>
                </a:cubicBezTo>
                <a:close/>
                <a:moveTo>
                  <a:pt x="3633546" y="264584"/>
                </a:moveTo>
                <a:lnTo>
                  <a:pt x="3604096" y="264584"/>
                </a:lnTo>
                <a:lnTo>
                  <a:pt x="3602591" y="250282"/>
                </a:lnTo>
                <a:cubicBezTo>
                  <a:pt x="3594211" y="262241"/>
                  <a:pt x="3583038" y="268220"/>
                  <a:pt x="3567988" y="268220"/>
                </a:cubicBezTo>
                <a:cubicBezTo>
                  <a:pt x="3546701" y="268220"/>
                  <a:pt x="3536166" y="254551"/>
                  <a:pt x="3536166" y="232560"/>
                </a:cubicBezTo>
                <a:lnTo>
                  <a:pt x="3536166" y="151221"/>
                </a:lnTo>
                <a:lnTo>
                  <a:pt x="3570131" y="151221"/>
                </a:lnTo>
                <a:lnTo>
                  <a:pt x="3570131" y="228291"/>
                </a:lnTo>
                <a:cubicBezTo>
                  <a:pt x="3570131" y="239819"/>
                  <a:pt x="3574008" y="243239"/>
                  <a:pt x="3581100" y="243239"/>
                </a:cubicBezTo>
                <a:cubicBezTo>
                  <a:pt x="3588191" y="243239"/>
                  <a:pt x="3594645" y="238539"/>
                  <a:pt x="3599580" y="230001"/>
                </a:cubicBezTo>
                <a:lnTo>
                  <a:pt x="3599580" y="151221"/>
                </a:lnTo>
                <a:lnTo>
                  <a:pt x="3633546" y="151221"/>
                </a:lnTo>
                <a:lnTo>
                  <a:pt x="3633546" y="264584"/>
                </a:lnTo>
                <a:close/>
                <a:moveTo>
                  <a:pt x="3744461" y="161465"/>
                </a:moveTo>
                <a:lnTo>
                  <a:pt x="3732000" y="180466"/>
                </a:lnTo>
                <a:cubicBezTo>
                  <a:pt x="3723174" y="174918"/>
                  <a:pt x="3713723" y="171713"/>
                  <a:pt x="3703838" y="171713"/>
                </a:cubicBezTo>
                <a:cubicBezTo>
                  <a:pt x="3694591" y="171713"/>
                  <a:pt x="3690076" y="175133"/>
                  <a:pt x="3690076" y="180251"/>
                </a:cubicBezTo>
                <a:cubicBezTo>
                  <a:pt x="3690076" y="186230"/>
                  <a:pt x="3693086" y="188789"/>
                  <a:pt x="3713506" y="194768"/>
                </a:cubicBezTo>
                <a:cubicBezTo>
                  <a:pt x="3736081" y="201178"/>
                  <a:pt x="3748759" y="210564"/>
                  <a:pt x="3748759" y="230845"/>
                </a:cubicBezTo>
                <a:cubicBezTo>
                  <a:pt x="3748759" y="254331"/>
                  <a:pt x="3726401" y="268215"/>
                  <a:pt x="3698022" y="268215"/>
                </a:cubicBezTo>
                <a:cubicBezTo>
                  <a:pt x="3678253" y="268215"/>
                  <a:pt x="3661481" y="261387"/>
                  <a:pt x="3650308" y="251342"/>
                </a:cubicBezTo>
                <a:lnTo>
                  <a:pt x="3666864" y="232986"/>
                </a:lnTo>
                <a:cubicBezTo>
                  <a:pt x="3675460" y="239611"/>
                  <a:pt x="3685995" y="244083"/>
                  <a:pt x="3697167" y="244083"/>
                </a:cubicBezTo>
                <a:cubicBezTo>
                  <a:pt x="3707486" y="244083"/>
                  <a:pt x="3713723" y="240245"/>
                  <a:pt x="3713723" y="233417"/>
                </a:cubicBezTo>
                <a:cubicBezTo>
                  <a:pt x="3713723" y="225728"/>
                  <a:pt x="3710279" y="223384"/>
                  <a:pt x="3689643" y="217608"/>
                </a:cubicBezTo>
                <a:cubicBezTo>
                  <a:pt x="3667067" y="211211"/>
                  <a:pt x="3655895" y="199683"/>
                  <a:pt x="3655895" y="182176"/>
                </a:cubicBezTo>
                <a:cubicBezTo>
                  <a:pt x="3655895" y="162744"/>
                  <a:pt x="3673738" y="147594"/>
                  <a:pt x="3702550" y="147594"/>
                </a:cubicBezTo>
                <a:cubicBezTo>
                  <a:pt x="3719092" y="147594"/>
                  <a:pt x="3733926" y="152927"/>
                  <a:pt x="3744461" y="161465"/>
                </a:cubicBezTo>
                <a:close/>
                <a:moveTo>
                  <a:pt x="3839894" y="259246"/>
                </a:moveTo>
                <a:cubicBezTo>
                  <a:pt x="3831297" y="265225"/>
                  <a:pt x="3819257" y="268215"/>
                  <a:pt x="3808939" y="268215"/>
                </a:cubicBezTo>
                <a:cubicBezTo>
                  <a:pt x="3783787" y="267999"/>
                  <a:pt x="3771543" y="253913"/>
                  <a:pt x="3771543" y="227222"/>
                </a:cubicBezTo>
                <a:lnTo>
                  <a:pt x="3771543" y="174702"/>
                </a:lnTo>
                <a:lnTo>
                  <a:pt x="3755421" y="174702"/>
                </a:lnTo>
                <a:lnTo>
                  <a:pt x="3755421" y="151216"/>
                </a:lnTo>
                <a:lnTo>
                  <a:pt x="3771543" y="151216"/>
                </a:lnTo>
                <a:lnTo>
                  <a:pt x="3771543" y="126667"/>
                </a:lnTo>
                <a:lnTo>
                  <a:pt x="3805495" y="122828"/>
                </a:lnTo>
                <a:lnTo>
                  <a:pt x="3805495" y="151216"/>
                </a:lnTo>
                <a:lnTo>
                  <a:pt x="3831731" y="151216"/>
                </a:lnTo>
                <a:lnTo>
                  <a:pt x="3828070" y="174702"/>
                </a:lnTo>
                <a:lnTo>
                  <a:pt x="3805495" y="174702"/>
                </a:lnTo>
                <a:lnTo>
                  <a:pt x="3805495" y="226792"/>
                </a:lnTo>
                <a:cubicBezTo>
                  <a:pt x="3805495" y="237686"/>
                  <a:pt x="3809156" y="241524"/>
                  <a:pt x="3816247" y="241524"/>
                </a:cubicBezTo>
                <a:cubicBezTo>
                  <a:pt x="3820125" y="241524"/>
                  <a:pt x="3823989" y="240460"/>
                  <a:pt x="3828504" y="237901"/>
                </a:cubicBezTo>
                <a:lnTo>
                  <a:pt x="3839894" y="259246"/>
                </a:lnTo>
                <a:close/>
                <a:moveTo>
                  <a:pt x="3954894" y="208009"/>
                </a:moveTo>
                <a:cubicBezTo>
                  <a:pt x="3954894" y="244302"/>
                  <a:pt x="3933824" y="268219"/>
                  <a:pt x="3899004" y="268219"/>
                </a:cubicBezTo>
                <a:cubicBezTo>
                  <a:pt x="3864402" y="268219"/>
                  <a:pt x="3843115" y="246012"/>
                  <a:pt x="3843115" y="207794"/>
                </a:cubicBezTo>
                <a:cubicBezTo>
                  <a:pt x="3843115" y="171501"/>
                  <a:pt x="3864185" y="147585"/>
                  <a:pt x="3899004" y="147585"/>
                </a:cubicBezTo>
                <a:cubicBezTo>
                  <a:pt x="3933823" y="147585"/>
                  <a:pt x="3954894" y="169791"/>
                  <a:pt x="3954894" y="208009"/>
                </a:cubicBezTo>
                <a:close/>
                <a:moveTo>
                  <a:pt x="3878368" y="207794"/>
                </a:moveTo>
                <a:cubicBezTo>
                  <a:pt x="3878368" y="232990"/>
                  <a:pt x="3885243" y="243453"/>
                  <a:pt x="3899004" y="243453"/>
                </a:cubicBezTo>
                <a:cubicBezTo>
                  <a:pt x="3912767" y="243453"/>
                  <a:pt x="3919641" y="232559"/>
                  <a:pt x="3919641" y="208009"/>
                </a:cubicBezTo>
                <a:cubicBezTo>
                  <a:pt x="3919641" y="182813"/>
                  <a:pt x="3912767" y="172350"/>
                  <a:pt x="3899004" y="172350"/>
                </a:cubicBezTo>
                <a:cubicBezTo>
                  <a:pt x="3885243" y="172350"/>
                  <a:pt x="3878368" y="183244"/>
                  <a:pt x="3878368" y="207794"/>
                </a:cubicBezTo>
                <a:close/>
                <a:moveTo>
                  <a:pt x="4132231" y="181748"/>
                </a:moveTo>
                <a:lnTo>
                  <a:pt x="4132231" y="264582"/>
                </a:lnTo>
                <a:lnTo>
                  <a:pt x="4098266" y="264582"/>
                </a:lnTo>
                <a:lnTo>
                  <a:pt x="4098266" y="187512"/>
                </a:lnTo>
                <a:cubicBezTo>
                  <a:pt x="4098266" y="175554"/>
                  <a:pt x="4093751" y="172349"/>
                  <a:pt x="4088598" y="172349"/>
                </a:cubicBezTo>
                <a:cubicBezTo>
                  <a:pt x="4081290" y="172349"/>
                  <a:pt x="4076125" y="177695"/>
                  <a:pt x="4071176" y="187081"/>
                </a:cubicBezTo>
                <a:lnTo>
                  <a:pt x="4071176" y="264582"/>
                </a:lnTo>
                <a:lnTo>
                  <a:pt x="4037224" y="264582"/>
                </a:lnTo>
                <a:lnTo>
                  <a:pt x="4037224" y="187512"/>
                </a:lnTo>
                <a:cubicBezTo>
                  <a:pt x="4037224" y="175554"/>
                  <a:pt x="4032709" y="172349"/>
                  <a:pt x="4027543" y="172349"/>
                </a:cubicBezTo>
                <a:cubicBezTo>
                  <a:pt x="4020452" y="172349"/>
                  <a:pt x="4015082" y="177695"/>
                  <a:pt x="4010134" y="187081"/>
                </a:cubicBezTo>
                <a:lnTo>
                  <a:pt x="4010134" y="264582"/>
                </a:lnTo>
                <a:lnTo>
                  <a:pt x="3976168" y="264582"/>
                </a:lnTo>
                <a:lnTo>
                  <a:pt x="3976168" y="151219"/>
                </a:lnTo>
                <a:lnTo>
                  <a:pt x="4005836" y="151219"/>
                </a:lnTo>
                <a:lnTo>
                  <a:pt x="4008208" y="164457"/>
                </a:lnTo>
                <a:cubicBezTo>
                  <a:pt x="4017021" y="153347"/>
                  <a:pt x="4027339" y="147583"/>
                  <a:pt x="4041305" y="147583"/>
                </a:cubicBezTo>
                <a:cubicBezTo>
                  <a:pt x="4053983" y="147583"/>
                  <a:pt x="4063880" y="153993"/>
                  <a:pt x="4068179" y="165521"/>
                </a:cubicBezTo>
                <a:cubicBezTo>
                  <a:pt x="4077196" y="153563"/>
                  <a:pt x="4087744" y="147583"/>
                  <a:pt x="4102347" y="147583"/>
                </a:cubicBezTo>
                <a:cubicBezTo>
                  <a:pt x="4119974" y="147583"/>
                  <a:pt x="4132231" y="160188"/>
                  <a:pt x="4132231" y="181748"/>
                </a:cubicBezTo>
                <a:close/>
                <a:moveTo>
                  <a:pt x="4258838" y="217827"/>
                </a:moveTo>
                <a:lnTo>
                  <a:pt x="4188115" y="217827"/>
                </a:lnTo>
                <a:cubicBezTo>
                  <a:pt x="4190475" y="238108"/>
                  <a:pt x="4200155" y="243656"/>
                  <a:pt x="4214122" y="243656"/>
                </a:cubicBezTo>
                <a:cubicBezTo>
                  <a:pt x="4223368" y="243656"/>
                  <a:pt x="4231531" y="240464"/>
                  <a:pt x="4241429" y="233623"/>
                </a:cubicBezTo>
                <a:lnTo>
                  <a:pt x="4255394" y="252409"/>
                </a:lnTo>
                <a:cubicBezTo>
                  <a:pt x="4244004" y="261378"/>
                  <a:pt x="4229388" y="268219"/>
                  <a:pt x="4210894" y="268219"/>
                </a:cubicBezTo>
                <a:cubicBezTo>
                  <a:pt x="4172848" y="268219"/>
                  <a:pt x="4153499" y="243871"/>
                  <a:pt x="4153499" y="208440"/>
                </a:cubicBezTo>
                <a:cubicBezTo>
                  <a:pt x="4153499" y="174491"/>
                  <a:pt x="4172210" y="147585"/>
                  <a:pt x="4206812" y="147585"/>
                </a:cubicBezTo>
                <a:cubicBezTo>
                  <a:pt x="4239489" y="147585"/>
                  <a:pt x="4259475" y="168942"/>
                  <a:pt x="4259475" y="205666"/>
                </a:cubicBezTo>
                <a:cubicBezTo>
                  <a:pt x="4259475" y="209289"/>
                  <a:pt x="4259258" y="214406"/>
                  <a:pt x="4258838" y="217827"/>
                </a:cubicBezTo>
                <a:close/>
                <a:moveTo>
                  <a:pt x="4226161" y="196051"/>
                </a:moveTo>
                <a:cubicBezTo>
                  <a:pt x="4225944" y="180685"/>
                  <a:pt x="4221212" y="170006"/>
                  <a:pt x="4207680" y="170006"/>
                </a:cubicBezTo>
                <a:cubicBezTo>
                  <a:pt x="4196278" y="170006"/>
                  <a:pt x="4189620" y="177265"/>
                  <a:pt x="4188115" y="197546"/>
                </a:cubicBezTo>
                <a:lnTo>
                  <a:pt x="4226161" y="197546"/>
                </a:lnTo>
                <a:lnTo>
                  <a:pt x="4226161" y="196051"/>
                </a:lnTo>
                <a:close/>
                <a:moveTo>
                  <a:pt x="4429055" y="117480"/>
                </a:moveTo>
                <a:lnTo>
                  <a:pt x="4507732" y="117480"/>
                </a:lnTo>
                <a:lnTo>
                  <a:pt x="4505359" y="133716"/>
                </a:lnTo>
                <a:lnTo>
                  <a:pt x="4449486" y="133716"/>
                </a:lnTo>
                <a:lnTo>
                  <a:pt x="4449486" y="183887"/>
                </a:lnTo>
                <a:lnTo>
                  <a:pt x="4497841" y="183887"/>
                </a:lnTo>
                <a:lnTo>
                  <a:pt x="4497841" y="199900"/>
                </a:lnTo>
                <a:lnTo>
                  <a:pt x="4449486" y="199900"/>
                </a:lnTo>
                <a:lnTo>
                  <a:pt x="4449486" y="264584"/>
                </a:lnTo>
                <a:lnTo>
                  <a:pt x="4429055" y="264584"/>
                </a:lnTo>
                <a:lnTo>
                  <a:pt x="4429055" y="117479"/>
                </a:lnTo>
                <a:close/>
                <a:moveTo>
                  <a:pt x="4557185" y="111507"/>
                </a:moveTo>
                <a:cubicBezTo>
                  <a:pt x="4557185" y="118986"/>
                  <a:pt x="4551602" y="124742"/>
                  <a:pt x="4543223" y="124742"/>
                </a:cubicBezTo>
                <a:cubicBezTo>
                  <a:pt x="4535043" y="124742"/>
                  <a:pt x="4529461" y="118986"/>
                  <a:pt x="4529461" y="111507"/>
                </a:cubicBezTo>
                <a:cubicBezTo>
                  <a:pt x="4529461" y="103817"/>
                  <a:pt x="4535043" y="98050"/>
                  <a:pt x="4543223" y="98050"/>
                </a:cubicBezTo>
                <a:cubicBezTo>
                  <a:pt x="4551602" y="98050"/>
                  <a:pt x="4557185" y="103817"/>
                  <a:pt x="4557185" y="111507"/>
                </a:cubicBezTo>
                <a:close/>
                <a:moveTo>
                  <a:pt x="4553313" y="264578"/>
                </a:moveTo>
                <a:lnTo>
                  <a:pt x="4533532" y="264578"/>
                </a:lnTo>
                <a:lnTo>
                  <a:pt x="4533532" y="152066"/>
                </a:lnTo>
                <a:lnTo>
                  <a:pt x="4553313" y="152066"/>
                </a:lnTo>
                <a:lnTo>
                  <a:pt x="4553313" y="264578"/>
                </a:lnTo>
                <a:close/>
                <a:moveTo>
                  <a:pt x="4654569" y="150790"/>
                </a:moveTo>
                <a:lnTo>
                  <a:pt x="4650909" y="170003"/>
                </a:lnTo>
                <a:cubicBezTo>
                  <a:pt x="4647475" y="169147"/>
                  <a:pt x="4645102" y="168713"/>
                  <a:pt x="4641032" y="168713"/>
                </a:cubicBezTo>
                <a:cubicBezTo>
                  <a:pt x="4626832" y="168713"/>
                  <a:pt x="4618677" y="178760"/>
                  <a:pt x="4613944" y="200317"/>
                </a:cubicBezTo>
                <a:lnTo>
                  <a:pt x="4613944" y="264579"/>
                </a:lnTo>
                <a:lnTo>
                  <a:pt x="4594163" y="264579"/>
                </a:lnTo>
                <a:lnTo>
                  <a:pt x="4594163" y="152080"/>
                </a:lnTo>
                <a:lnTo>
                  <a:pt x="4611147" y="152080"/>
                </a:lnTo>
                <a:lnTo>
                  <a:pt x="4613082" y="174915"/>
                </a:lnTo>
                <a:cubicBezTo>
                  <a:pt x="4619101" y="158046"/>
                  <a:pt x="4629642" y="149500"/>
                  <a:pt x="4643391" y="149500"/>
                </a:cubicBezTo>
                <a:cubicBezTo>
                  <a:pt x="4647038" y="149500"/>
                  <a:pt x="4651134" y="149934"/>
                  <a:pt x="4654568" y="150790"/>
                </a:cubicBezTo>
                <a:close/>
                <a:moveTo>
                  <a:pt x="4746366" y="162322"/>
                </a:moveTo>
                <a:lnTo>
                  <a:pt x="4737974" y="174700"/>
                </a:lnTo>
                <a:cubicBezTo>
                  <a:pt x="4727884" y="168288"/>
                  <a:pt x="4719054" y="165100"/>
                  <a:pt x="4708539" y="165100"/>
                </a:cubicBezTo>
                <a:cubicBezTo>
                  <a:pt x="4695626" y="165100"/>
                  <a:pt x="4687684" y="170855"/>
                  <a:pt x="4687684" y="179823"/>
                </a:cubicBezTo>
                <a:cubicBezTo>
                  <a:pt x="4687684" y="189001"/>
                  <a:pt x="4693690" y="193268"/>
                  <a:pt x="4711973" y="197969"/>
                </a:cubicBezTo>
                <a:cubicBezTo>
                  <a:pt x="4735826" y="203948"/>
                  <a:pt x="4749588" y="213337"/>
                  <a:pt x="4749588" y="232984"/>
                </a:cubicBezTo>
                <a:cubicBezTo>
                  <a:pt x="4749588" y="256464"/>
                  <a:pt x="4727884" y="267143"/>
                  <a:pt x="4704880" y="267143"/>
                </a:cubicBezTo>
                <a:cubicBezTo>
                  <a:pt x="4685735" y="267143"/>
                  <a:pt x="4671986" y="260941"/>
                  <a:pt x="4662107" y="252408"/>
                </a:cubicBezTo>
                <a:lnTo>
                  <a:pt x="4672635" y="240451"/>
                </a:lnTo>
                <a:cubicBezTo>
                  <a:pt x="4681664" y="247285"/>
                  <a:pt x="4692191" y="251341"/>
                  <a:pt x="4704443" y="251341"/>
                </a:cubicBezTo>
                <a:cubicBezTo>
                  <a:pt x="4719279" y="251341"/>
                  <a:pt x="4728733" y="244928"/>
                  <a:pt x="4728733" y="234261"/>
                </a:cubicBezTo>
                <a:cubicBezTo>
                  <a:pt x="4728733" y="223160"/>
                  <a:pt x="4723150" y="218894"/>
                  <a:pt x="4701221" y="213126"/>
                </a:cubicBezTo>
                <a:cubicBezTo>
                  <a:pt x="4676718" y="206726"/>
                  <a:pt x="4667040" y="196257"/>
                  <a:pt x="4667040" y="180468"/>
                </a:cubicBezTo>
                <a:cubicBezTo>
                  <a:pt x="4667040" y="162532"/>
                  <a:pt x="4684462" y="149509"/>
                  <a:pt x="4707890" y="149509"/>
                </a:cubicBezTo>
                <a:cubicBezTo>
                  <a:pt x="4723787" y="149509"/>
                  <a:pt x="4735614" y="154210"/>
                  <a:pt x="4746366" y="162322"/>
                </a:cubicBezTo>
                <a:close/>
                <a:moveTo>
                  <a:pt x="4834725" y="259455"/>
                </a:moveTo>
                <a:cubicBezTo>
                  <a:pt x="4827194" y="264578"/>
                  <a:pt x="4819027" y="267145"/>
                  <a:pt x="4809361" y="267145"/>
                </a:cubicBezTo>
                <a:cubicBezTo>
                  <a:pt x="4790216" y="267145"/>
                  <a:pt x="4778827" y="256044"/>
                  <a:pt x="4778827" y="235120"/>
                </a:cubicBezTo>
                <a:lnTo>
                  <a:pt x="4778827" y="167223"/>
                </a:lnTo>
                <a:lnTo>
                  <a:pt x="4759057" y="167223"/>
                </a:lnTo>
                <a:lnTo>
                  <a:pt x="4759057" y="152079"/>
                </a:lnTo>
                <a:lnTo>
                  <a:pt x="4778827" y="152079"/>
                </a:lnTo>
                <a:lnTo>
                  <a:pt x="4778827" y="126664"/>
                </a:lnTo>
                <a:lnTo>
                  <a:pt x="4798608" y="124308"/>
                </a:lnTo>
                <a:lnTo>
                  <a:pt x="4798608" y="152079"/>
                </a:lnTo>
                <a:lnTo>
                  <a:pt x="4825484" y="152079"/>
                </a:lnTo>
                <a:lnTo>
                  <a:pt x="4823323" y="167223"/>
                </a:lnTo>
                <a:lnTo>
                  <a:pt x="4798608" y="167223"/>
                </a:lnTo>
                <a:lnTo>
                  <a:pt x="4798608" y="234264"/>
                </a:lnTo>
                <a:cubicBezTo>
                  <a:pt x="4798608" y="245576"/>
                  <a:pt x="4802255" y="250922"/>
                  <a:pt x="4812146" y="250922"/>
                </a:cubicBezTo>
                <a:cubicBezTo>
                  <a:pt x="4817091" y="250922"/>
                  <a:pt x="4821612" y="249421"/>
                  <a:pt x="4827194" y="246432"/>
                </a:cubicBezTo>
                <a:lnTo>
                  <a:pt x="4834725" y="259455"/>
                </a:lnTo>
                <a:close/>
                <a:moveTo>
                  <a:pt x="4875350" y="252199"/>
                </a:moveTo>
                <a:cubicBezTo>
                  <a:pt x="4875350" y="260522"/>
                  <a:pt x="4868893" y="267145"/>
                  <a:pt x="4860302" y="267145"/>
                </a:cubicBezTo>
                <a:cubicBezTo>
                  <a:pt x="4851922" y="267145"/>
                  <a:pt x="4845465" y="260522"/>
                  <a:pt x="4845465" y="252199"/>
                </a:cubicBezTo>
                <a:cubicBezTo>
                  <a:pt x="4845465" y="244087"/>
                  <a:pt x="4851922" y="237464"/>
                  <a:pt x="4860302" y="237464"/>
                </a:cubicBezTo>
                <a:cubicBezTo>
                  <a:pt x="4868893" y="237464"/>
                  <a:pt x="4875350" y="244087"/>
                  <a:pt x="4875350" y="252199"/>
                </a:cubicBezTo>
                <a:close/>
                <a:moveTo>
                  <a:pt x="4354043" y="149509"/>
                </a:moveTo>
                <a:lnTo>
                  <a:pt x="4348673" y="182179"/>
                </a:lnTo>
                <a:cubicBezTo>
                  <a:pt x="4345013" y="181317"/>
                  <a:pt x="4342220" y="180684"/>
                  <a:pt x="4338355" y="180684"/>
                </a:cubicBezTo>
                <a:cubicBezTo>
                  <a:pt x="4324159" y="180684"/>
                  <a:pt x="4318356" y="191147"/>
                  <a:pt x="4314709" y="208439"/>
                </a:cubicBezTo>
                <a:lnTo>
                  <a:pt x="4314709" y="264582"/>
                </a:lnTo>
                <a:lnTo>
                  <a:pt x="4280743" y="264582"/>
                </a:lnTo>
                <a:lnTo>
                  <a:pt x="4280743" y="151219"/>
                </a:lnTo>
                <a:lnTo>
                  <a:pt x="4310397" y="151219"/>
                </a:lnTo>
                <a:lnTo>
                  <a:pt x="4313203" y="173210"/>
                </a:lnTo>
                <a:cubicBezTo>
                  <a:pt x="4318356" y="157413"/>
                  <a:pt x="4329542" y="148014"/>
                  <a:pt x="4342653" y="148014"/>
                </a:cubicBezTo>
                <a:cubicBezTo>
                  <a:pt x="4346951" y="148014"/>
                  <a:pt x="4350395" y="148445"/>
                  <a:pt x="4354043" y="149509"/>
                </a:cubicBezTo>
                <a:close/>
                <a:moveTo>
                  <a:pt x="2977074" y="861572"/>
                </a:moveTo>
                <a:cubicBezTo>
                  <a:pt x="2951801" y="861572"/>
                  <a:pt x="2935849" y="840744"/>
                  <a:pt x="2938180" y="819204"/>
                </a:cubicBezTo>
                <a:cubicBezTo>
                  <a:pt x="2940330" y="795706"/>
                  <a:pt x="2961122" y="776658"/>
                  <a:pt x="2984781" y="776658"/>
                </a:cubicBezTo>
                <a:cubicBezTo>
                  <a:pt x="3008440" y="776658"/>
                  <a:pt x="3025825" y="795706"/>
                  <a:pt x="3023675" y="819204"/>
                </a:cubicBezTo>
                <a:cubicBezTo>
                  <a:pt x="3021524" y="842702"/>
                  <a:pt x="3000732" y="861750"/>
                  <a:pt x="2977074" y="861572"/>
                </a:cubicBezTo>
                <a:close/>
                <a:moveTo>
                  <a:pt x="2984780" y="782889"/>
                </a:moveTo>
                <a:cubicBezTo>
                  <a:pt x="2964169" y="782889"/>
                  <a:pt x="2946066" y="799622"/>
                  <a:pt x="2944273" y="819738"/>
                </a:cubicBezTo>
                <a:cubicBezTo>
                  <a:pt x="2942481" y="839498"/>
                  <a:pt x="2956999" y="855519"/>
                  <a:pt x="2977074" y="855519"/>
                </a:cubicBezTo>
                <a:cubicBezTo>
                  <a:pt x="2997506" y="855519"/>
                  <a:pt x="3015788" y="838964"/>
                  <a:pt x="3017580" y="818670"/>
                </a:cubicBezTo>
                <a:cubicBezTo>
                  <a:pt x="3019373" y="798910"/>
                  <a:pt x="3004675" y="782889"/>
                  <a:pt x="2984780" y="782889"/>
                </a:cubicBezTo>
                <a:close/>
                <a:moveTo>
                  <a:pt x="2988007" y="824366"/>
                </a:moveTo>
                <a:cubicBezTo>
                  <a:pt x="2997148" y="821874"/>
                  <a:pt x="3001808" y="813329"/>
                  <a:pt x="3001629" y="806743"/>
                </a:cubicBezTo>
                <a:cubicBezTo>
                  <a:pt x="3001450" y="799622"/>
                  <a:pt x="2995714" y="794104"/>
                  <a:pt x="2988186" y="794104"/>
                </a:cubicBezTo>
                <a:lnTo>
                  <a:pt x="2971697" y="794104"/>
                </a:lnTo>
                <a:lnTo>
                  <a:pt x="2962197" y="844126"/>
                </a:lnTo>
                <a:lnTo>
                  <a:pt x="2968470" y="844126"/>
                </a:lnTo>
                <a:lnTo>
                  <a:pt x="2972055" y="824900"/>
                </a:lnTo>
                <a:lnTo>
                  <a:pt x="2981554" y="824900"/>
                </a:lnTo>
                <a:lnTo>
                  <a:pt x="2988186" y="844126"/>
                </a:lnTo>
                <a:lnTo>
                  <a:pt x="2994818" y="844126"/>
                </a:lnTo>
                <a:lnTo>
                  <a:pt x="2988007" y="824366"/>
                </a:lnTo>
                <a:lnTo>
                  <a:pt x="2988007" y="824366"/>
                </a:lnTo>
                <a:close/>
                <a:moveTo>
                  <a:pt x="2995355" y="808879"/>
                </a:moveTo>
                <a:cubicBezTo>
                  <a:pt x="2993922" y="814575"/>
                  <a:pt x="2989082" y="818848"/>
                  <a:pt x="2983526" y="818848"/>
                </a:cubicBezTo>
                <a:lnTo>
                  <a:pt x="2973130" y="818848"/>
                </a:lnTo>
                <a:lnTo>
                  <a:pt x="2976715" y="800156"/>
                </a:lnTo>
                <a:lnTo>
                  <a:pt x="2988186" y="800156"/>
                </a:lnTo>
                <a:cubicBezTo>
                  <a:pt x="2992846" y="800156"/>
                  <a:pt x="2996431" y="804428"/>
                  <a:pt x="2995355" y="808879"/>
                </a:cubicBezTo>
                <a:close/>
                <a:moveTo>
                  <a:pt x="1498985" y="270374"/>
                </a:moveTo>
                <a:cubicBezTo>
                  <a:pt x="1468316" y="255526"/>
                  <a:pt x="1453828" y="242512"/>
                  <a:pt x="1453828" y="227989"/>
                </a:cubicBezTo>
                <a:cubicBezTo>
                  <a:pt x="1453828" y="207743"/>
                  <a:pt x="1472761" y="195649"/>
                  <a:pt x="1501834" y="195649"/>
                </a:cubicBezTo>
                <a:cubicBezTo>
                  <a:pt x="1543697" y="195649"/>
                  <a:pt x="1582079" y="211373"/>
                  <a:pt x="1597180" y="222644"/>
                </a:cubicBezTo>
                <a:lnTo>
                  <a:pt x="1613401" y="137908"/>
                </a:lnTo>
                <a:cubicBezTo>
                  <a:pt x="1594348" y="125765"/>
                  <a:pt x="1559986" y="113411"/>
                  <a:pt x="1507205" y="113411"/>
                </a:cubicBezTo>
                <a:cubicBezTo>
                  <a:pt x="1407454" y="113411"/>
                  <a:pt x="1340970" y="165801"/>
                  <a:pt x="1340970" y="243327"/>
                </a:cubicBezTo>
                <a:cubicBezTo>
                  <a:pt x="1340970" y="282728"/>
                  <a:pt x="1367537" y="316159"/>
                  <a:pt x="1420637" y="342530"/>
                </a:cubicBezTo>
                <a:cubicBezTo>
                  <a:pt x="1454206" y="358843"/>
                  <a:pt x="1467348" y="371767"/>
                  <a:pt x="1467348" y="390260"/>
                </a:cubicBezTo>
                <a:cubicBezTo>
                  <a:pt x="1467348" y="410662"/>
                  <a:pt x="1448653" y="423380"/>
                  <a:pt x="1420899" y="423380"/>
                </a:cubicBezTo>
                <a:cubicBezTo>
                  <a:pt x="1387200" y="423380"/>
                  <a:pt x="1342028" y="408651"/>
                  <a:pt x="1316170" y="394058"/>
                </a:cubicBezTo>
                <a:lnTo>
                  <a:pt x="1299920" y="478961"/>
                </a:lnTo>
                <a:cubicBezTo>
                  <a:pt x="1324314" y="493849"/>
                  <a:pt x="1367431" y="504151"/>
                  <a:pt x="1410107" y="504852"/>
                </a:cubicBezTo>
                <a:cubicBezTo>
                  <a:pt x="1469572" y="505307"/>
                  <a:pt x="1519028" y="488918"/>
                  <a:pt x="1549514" y="458861"/>
                </a:cubicBezTo>
                <a:cubicBezTo>
                  <a:pt x="1572432" y="436279"/>
                  <a:pt x="1584075" y="407299"/>
                  <a:pt x="1584075" y="372652"/>
                </a:cubicBezTo>
                <a:cubicBezTo>
                  <a:pt x="1584075" y="319558"/>
                  <a:pt x="1538942" y="290202"/>
                  <a:pt x="1498985" y="270374"/>
                </a:cubicBezTo>
                <a:close/>
                <a:moveTo>
                  <a:pt x="970363" y="127406"/>
                </a:moveTo>
                <a:lnTo>
                  <a:pt x="952989" y="217938"/>
                </a:lnTo>
                <a:cubicBezTo>
                  <a:pt x="935533" y="208075"/>
                  <a:pt x="915292" y="203307"/>
                  <a:pt x="891107" y="203307"/>
                </a:cubicBezTo>
                <a:cubicBezTo>
                  <a:pt x="811295" y="203307"/>
                  <a:pt x="763747" y="272410"/>
                  <a:pt x="763747" y="338997"/>
                </a:cubicBezTo>
                <a:cubicBezTo>
                  <a:pt x="763747" y="395504"/>
                  <a:pt x="801745" y="415748"/>
                  <a:pt x="837167" y="415748"/>
                </a:cubicBezTo>
                <a:cubicBezTo>
                  <a:pt x="869148" y="415748"/>
                  <a:pt x="896280" y="408737"/>
                  <a:pt x="930953" y="391664"/>
                </a:cubicBezTo>
                <a:lnTo>
                  <a:pt x="913201" y="484779"/>
                </a:lnTo>
                <a:cubicBezTo>
                  <a:pt x="887273" y="497313"/>
                  <a:pt x="847002" y="504852"/>
                  <a:pt x="805571" y="504852"/>
                </a:cubicBezTo>
                <a:cubicBezTo>
                  <a:pt x="708709" y="504852"/>
                  <a:pt x="646266" y="444585"/>
                  <a:pt x="646266" y="351250"/>
                </a:cubicBezTo>
                <a:cubicBezTo>
                  <a:pt x="646266" y="216101"/>
                  <a:pt x="752144" y="114188"/>
                  <a:pt x="892662" y="114188"/>
                </a:cubicBezTo>
                <a:cubicBezTo>
                  <a:pt x="921178" y="114188"/>
                  <a:pt x="950277" y="119151"/>
                  <a:pt x="970363" y="127406"/>
                </a:cubicBezTo>
                <a:close/>
                <a:moveTo>
                  <a:pt x="2778278" y="343325"/>
                </a:moveTo>
                <a:cubicBezTo>
                  <a:pt x="2862884" y="359827"/>
                  <a:pt x="2955783" y="339380"/>
                  <a:pt x="2993476" y="302896"/>
                </a:cubicBezTo>
                <a:cubicBezTo>
                  <a:pt x="3013625" y="283392"/>
                  <a:pt x="3023855" y="257710"/>
                  <a:pt x="3023855" y="226484"/>
                </a:cubicBezTo>
                <a:cubicBezTo>
                  <a:pt x="3023855" y="158962"/>
                  <a:pt x="2971211" y="113423"/>
                  <a:pt x="2892289" y="113423"/>
                </a:cubicBezTo>
                <a:cubicBezTo>
                  <a:pt x="2829229" y="113423"/>
                  <a:pt x="2771906" y="139599"/>
                  <a:pt x="2730905" y="187174"/>
                </a:cubicBezTo>
                <a:cubicBezTo>
                  <a:pt x="2693535" y="230519"/>
                  <a:pt x="2672078" y="288647"/>
                  <a:pt x="2672078" y="346655"/>
                </a:cubicBezTo>
                <a:cubicBezTo>
                  <a:pt x="2672078" y="447258"/>
                  <a:pt x="2731715" y="504881"/>
                  <a:pt x="2836038" y="504881"/>
                </a:cubicBezTo>
                <a:cubicBezTo>
                  <a:pt x="2860557" y="504881"/>
                  <a:pt x="2923337" y="501938"/>
                  <a:pt x="2976777" y="474840"/>
                </a:cubicBezTo>
                <a:lnTo>
                  <a:pt x="2994734" y="381111"/>
                </a:lnTo>
                <a:cubicBezTo>
                  <a:pt x="2950484" y="406640"/>
                  <a:pt x="2909899" y="418032"/>
                  <a:pt x="2863005" y="418032"/>
                </a:cubicBezTo>
                <a:cubicBezTo>
                  <a:pt x="2810134" y="418032"/>
                  <a:pt x="2774248" y="390673"/>
                  <a:pt x="2778278" y="343325"/>
                </a:cubicBezTo>
                <a:close/>
                <a:moveTo>
                  <a:pt x="2878412" y="194883"/>
                </a:moveTo>
                <a:cubicBezTo>
                  <a:pt x="2921523" y="194883"/>
                  <a:pt x="2926998" y="231859"/>
                  <a:pt x="2909510" y="249117"/>
                </a:cubicBezTo>
                <a:cubicBezTo>
                  <a:pt x="2893357" y="265003"/>
                  <a:pt x="2856343" y="271614"/>
                  <a:pt x="2790539" y="271078"/>
                </a:cubicBezTo>
                <a:cubicBezTo>
                  <a:pt x="2799027" y="234378"/>
                  <a:pt x="2829908" y="194883"/>
                  <a:pt x="2878412" y="194883"/>
                </a:cubicBezTo>
                <a:close/>
                <a:moveTo>
                  <a:pt x="2693048" y="127406"/>
                </a:moveTo>
                <a:lnTo>
                  <a:pt x="2675674" y="217938"/>
                </a:lnTo>
                <a:cubicBezTo>
                  <a:pt x="2658218" y="208075"/>
                  <a:pt x="2637977" y="203307"/>
                  <a:pt x="2613791" y="203307"/>
                </a:cubicBezTo>
                <a:cubicBezTo>
                  <a:pt x="2533980" y="203307"/>
                  <a:pt x="2486431" y="272410"/>
                  <a:pt x="2486431" y="338997"/>
                </a:cubicBezTo>
                <a:cubicBezTo>
                  <a:pt x="2486431" y="395505"/>
                  <a:pt x="2524430" y="415748"/>
                  <a:pt x="2559852" y="415748"/>
                </a:cubicBezTo>
                <a:cubicBezTo>
                  <a:pt x="2591833" y="415748"/>
                  <a:pt x="2618964" y="408738"/>
                  <a:pt x="2653638" y="391664"/>
                </a:cubicBezTo>
                <a:lnTo>
                  <a:pt x="2635886" y="484779"/>
                </a:lnTo>
                <a:cubicBezTo>
                  <a:pt x="2609958" y="497313"/>
                  <a:pt x="2569687" y="504852"/>
                  <a:pt x="2528256" y="504852"/>
                </a:cubicBezTo>
                <a:cubicBezTo>
                  <a:pt x="2431394" y="504852"/>
                  <a:pt x="2368950" y="444585"/>
                  <a:pt x="2368950" y="351250"/>
                </a:cubicBezTo>
                <a:cubicBezTo>
                  <a:pt x="2368950" y="216101"/>
                  <a:pt x="2474828" y="114188"/>
                  <a:pt x="2615346" y="114188"/>
                </a:cubicBezTo>
                <a:cubicBezTo>
                  <a:pt x="2643863" y="114188"/>
                  <a:pt x="2672962" y="119152"/>
                  <a:pt x="2693048" y="127406"/>
                </a:cubicBezTo>
                <a:close/>
                <a:moveTo>
                  <a:pt x="2329634" y="152058"/>
                </a:moveTo>
                <a:cubicBezTo>
                  <a:pt x="2308543" y="126672"/>
                  <a:pt x="2274886" y="113592"/>
                  <a:pt x="2229388" y="113412"/>
                </a:cubicBezTo>
                <a:cubicBezTo>
                  <a:pt x="2169583" y="113412"/>
                  <a:pt x="2116089" y="135174"/>
                  <a:pt x="2074640" y="176365"/>
                </a:cubicBezTo>
                <a:cubicBezTo>
                  <a:pt x="2025158" y="225550"/>
                  <a:pt x="1995615" y="299510"/>
                  <a:pt x="1995666" y="374196"/>
                </a:cubicBezTo>
                <a:cubicBezTo>
                  <a:pt x="1995706" y="439939"/>
                  <a:pt x="2029377" y="505631"/>
                  <a:pt x="2103884" y="505631"/>
                </a:cubicBezTo>
                <a:cubicBezTo>
                  <a:pt x="2165274" y="505631"/>
                  <a:pt x="2201867" y="469953"/>
                  <a:pt x="2216888" y="424869"/>
                </a:cubicBezTo>
                <a:lnTo>
                  <a:pt x="2202971" y="497208"/>
                </a:lnTo>
                <a:lnTo>
                  <a:pt x="2310065" y="497208"/>
                </a:lnTo>
                <a:lnTo>
                  <a:pt x="2350499" y="287037"/>
                </a:lnTo>
                <a:cubicBezTo>
                  <a:pt x="2358289" y="246027"/>
                  <a:pt x="2360850" y="189628"/>
                  <a:pt x="2329634" y="152058"/>
                </a:cubicBezTo>
                <a:close/>
                <a:moveTo>
                  <a:pt x="2237095" y="310500"/>
                </a:moveTo>
                <a:cubicBezTo>
                  <a:pt x="2225009" y="372547"/>
                  <a:pt x="2189874" y="414918"/>
                  <a:pt x="2149081" y="414918"/>
                </a:cubicBezTo>
                <a:cubicBezTo>
                  <a:pt x="2123576" y="414918"/>
                  <a:pt x="2108917" y="390455"/>
                  <a:pt x="2108903" y="351174"/>
                </a:cubicBezTo>
                <a:cubicBezTo>
                  <a:pt x="2108862" y="288302"/>
                  <a:pt x="2154552" y="197893"/>
                  <a:pt x="2207291" y="197893"/>
                </a:cubicBezTo>
                <a:cubicBezTo>
                  <a:pt x="2232196" y="197893"/>
                  <a:pt x="2246086" y="212182"/>
                  <a:pt x="2247393" y="238683"/>
                </a:cubicBezTo>
                <a:cubicBezTo>
                  <a:pt x="2248144" y="255113"/>
                  <a:pt x="2241212" y="289532"/>
                  <a:pt x="2237095" y="310500"/>
                </a:cubicBezTo>
                <a:close/>
                <a:moveTo>
                  <a:pt x="606951" y="152058"/>
                </a:moveTo>
                <a:cubicBezTo>
                  <a:pt x="585861" y="126672"/>
                  <a:pt x="552204" y="113592"/>
                  <a:pt x="506706" y="113412"/>
                </a:cubicBezTo>
                <a:cubicBezTo>
                  <a:pt x="446901" y="113412"/>
                  <a:pt x="393408" y="135174"/>
                  <a:pt x="351958" y="176365"/>
                </a:cubicBezTo>
                <a:cubicBezTo>
                  <a:pt x="302476" y="225550"/>
                  <a:pt x="272933" y="299510"/>
                  <a:pt x="272985" y="374196"/>
                </a:cubicBezTo>
                <a:cubicBezTo>
                  <a:pt x="273024" y="439939"/>
                  <a:pt x="306695" y="505631"/>
                  <a:pt x="381203" y="505631"/>
                </a:cubicBezTo>
                <a:cubicBezTo>
                  <a:pt x="442592" y="505631"/>
                  <a:pt x="479185" y="469953"/>
                  <a:pt x="494206" y="424869"/>
                </a:cubicBezTo>
                <a:lnTo>
                  <a:pt x="480290" y="497208"/>
                </a:lnTo>
                <a:lnTo>
                  <a:pt x="587383" y="497208"/>
                </a:lnTo>
                <a:lnTo>
                  <a:pt x="627817" y="287037"/>
                </a:lnTo>
                <a:cubicBezTo>
                  <a:pt x="635608" y="246027"/>
                  <a:pt x="638169" y="189628"/>
                  <a:pt x="606951" y="152058"/>
                </a:cubicBezTo>
                <a:close/>
                <a:moveTo>
                  <a:pt x="514414" y="310500"/>
                </a:moveTo>
                <a:cubicBezTo>
                  <a:pt x="502328" y="372547"/>
                  <a:pt x="467193" y="414918"/>
                  <a:pt x="426399" y="414918"/>
                </a:cubicBezTo>
                <a:cubicBezTo>
                  <a:pt x="400893" y="414918"/>
                  <a:pt x="386235" y="390455"/>
                  <a:pt x="386220" y="351174"/>
                </a:cubicBezTo>
                <a:cubicBezTo>
                  <a:pt x="386180" y="288302"/>
                  <a:pt x="431870" y="197893"/>
                  <a:pt x="484610" y="197893"/>
                </a:cubicBezTo>
                <a:cubicBezTo>
                  <a:pt x="509515" y="197893"/>
                  <a:pt x="523404" y="212182"/>
                  <a:pt x="524712" y="238683"/>
                </a:cubicBezTo>
                <a:cubicBezTo>
                  <a:pt x="525462" y="255113"/>
                  <a:pt x="518530" y="289532"/>
                  <a:pt x="514414" y="310500"/>
                </a:cubicBezTo>
                <a:close/>
                <a:moveTo>
                  <a:pt x="1865864" y="113412"/>
                </a:moveTo>
                <a:cubicBezTo>
                  <a:pt x="1819094" y="113412"/>
                  <a:pt x="1777774" y="140376"/>
                  <a:pt x="1749875" y="180686"/>
                </a:cubicBezTo>
                <a:lnTo>
                  <a:pt x="1761420" y="120329"/>
                </a:lnTo>
                <a:lnTo>
                  <a:pt x="1662666" y="120329"/>
                </a:lnTo>
                <a:lnTo>
                  <a:pt x="1567483" y="617550"/>
                </a:lnTo>
                <a:lnTo>
                  <a:pt x="1679604" y="617550"/>
                </a:lnTo>
                <a:lnTo>
                  <a:pt x="1708085" y="468046"/>
                </a:lnTo>
                <a:cubicBezTo>
                  <a:pt x="1720816" y="490846"/>
                  <a:pt x="1743145" y="505632"/>
                  <a:pt x="1782974" y="505635"/>
                </a:cubicBezTo>
                <a:cubicBezTo>
                  <a:pt x="1807282" y="505361"/>
                  <a:pt x="1835253" y="498863"/>
                  <a:pt x="1864479" y="483389"/>
                </a:cubicBezTo>
                <a:cubicBezTo>
                  <a:pt x="1944040" y="441264"/>
                  <a:pt x="1988181" y="347642"/>
                  <a:pt x="1988181" y="256331"/>
                </a:cubicBezTo>
                <a:cubicBezTo>
                  <a:pt x="1988181" y="169267"/>
                  <a:pt x="1940069" y="113412"/>
                  <a:pt x="1865864" y="113412"/>
                </a:cubicBezTo>
                <a:close/>
                <a:moveTo>
                  <a:pt x="1769434" y="421096"/>
                </a:moveTo>
                <a:cubicBezTo>
                  <a:pt x="1717848" y="421096"/>
                  <a:pt x="1730940" y="347514"/>
                  <a:pt x="1735618" y="323009"/>
                </a:cubicBezTo>
                <a:cubicBezTo>
                  <a:pt x="1749285" y="251336"/>
                  <a:pt x="1784539" y="204083"/>
                  <a:pt x="1826299" y="204083"/>
                </a:cubicBezTo>
                <a:cubicBezTo>
                  <a:pt x="1867368" y="204083"/>
                  <a:pt x="1871576" y="247067"/>
                  <a:pt x="1871576" y="264766"/>
                </a:cubicBezTo>
                <a:cubicBezTo>
                  <a:pt x="1871576" y="338066"/>
                  <a:pt x="1828326" y="421096"/>
                  <a:pt x="1769434" y="421096"/>
                </a:cubicBezTo>
                <a:close/>
                <a:moveTo>
                  <a:pt x="312690" y="112292"/>
                </a:moveTo>
                <a:lnTo>
                  <a:pt x="290790" y="226685"/>
                </a:lnTo>
                <a:cubicBezTo>
                  <a:pt x="214138" y="215159"/>
                  <a:pt x="160276" y="252471"/>
                  <a:pt x="142422" y="345714"/>
                </a:cubicBezTo>
                <a:lnTo>
                  <a:pt x="112141" y="503840"/>
                </a:lnTo>
                <a:lnTo>
                  <a:pt x="0" y="503840"/>
                </a:lnTo>
                <a:lnTo>
                  <a:pt x="73440" y="120329"/>
                </a:lnTo>
                <a:lnTo>
                  <a:pt x="172185" y="120329"/>
                </a:lnTo>
                <a:lnTo>
                  <a:pt x="156202" y="203879"/>
                </a:lnTo>
                <a:cubicBezTo>
                  <a:pt x="182129" y="145253"/>
                  <a:pt x="243682" y="106042"/>
                  <a:pt x="312690" y="112292"/>
                </a:cubicBezTo>
                <a:close/>
                <a:moveTo>
                  <a:pt x="944243" y="497208"/>
                </a:moveTo>
                <a:lnTo>
                  <a:pt x="1039422" y="0"/>
                </a:lnTo>
                <a:lnTo>
                  <a:pt x="1150777" y="0"/>
                </a:lnTo>
                <a:lnTo>
                  <a:pt x="1094906" y="291909"/>
                </a:lnTo>
                <a:lnTo>
                  <a:pt x="1239347" y="120329"/>
                </a:lnTo>
                <a:lnTo>
                  <a:pt x="1361754" y="120329"/>
                </a:lnTo>
                <a:lnTo>
                  <a:pt x="1212060" y="293812"/>
                </a:lnTo>
                <a:lnTo>
                  <a:pt x="1294315" y="497208"/>
                </a:lnTo>
                <a:lnTo>
                  <a:pt x="1173734" y="497208"/>
                </a:lnTo>
                <a:lnTo>
                  <a:pt x="1094235" y="295415"/>
                </a:lnTo>
                <a:lnTo>
                  <a:pt x="1055611" y="497208"/>
                </a:lnTo>
                <a:lnTo>
                  <a:pt x="944243" y="497208"/>
                </a:lnTo>
                <a:close/>
                <a:moveTo>
                  <a:pt x="2280316" y="695157"/>
                </a:moveTo>
                <a:cubicBezTo>
                  <a:pt x="2225655" y="695157"/>
                  <a:pt x="2187788" y="741906"/>
                  <a:pt x="2187788" y="795876"/>
                </a:cubicBezTo>
                <a:cubicBezTo>
                  <a:pt x="2187788" y="833773"/>
                  <a:pt x="2212818" y="861573"/>
                  <a:pt x="2253291" y="861573"/>
                </a:cubicBezTo>
                <a:cubicBezTo>
                  <a:pt x="2307953" y="861573"/>
                  <a:pt x="2345820" y="815176"/>
                  <a:pt x="2345820" y="760854"/>
                </a:cubicBezTo>
                <a:cubicBezTo>
                  <a:pt x="2345820" y="725897"/>
                  <a:pt x="2323428" y="695157"/>
                  <a:pt x="2280316" y="695157"/>
                </a:cubicBezTo>
                <a:close/>
                <a:moveTo>
                  <a:pt x="2275683" y="724555"/>
                </a:moveTo>
                <a:cubicBezTo>
                  <a:pt x="2298751" y="724555"/>
                  <a:pt x="2306312" y="744845"/>
                  <a:pt x="2306312" y="761174"/>
                </a:cubicBezTo>
                <a:cubicBezTo>
                  <a:pt x="2306312" y="792936"/>
                  <a:pt x="2287233" y="832175"/>
                  <a:pt x="2258568" y="832175"/>
                </a:cubicBezTo>
                <a:cubicBezTo>
                  <a:pt x="2238814" y="832175"/>
                  <a:pt x="2227296" y="816774"/>
                  <a:pt x="2227296" y="794885"/>
                </a:cubicBezTo>
                <a:cubicBezTo>
                  <a:pt x="2227296" y="765136"/>
                  <a:pt x="2245087" y="724555"/>
                  <a:pt x="2275683" y="724555"/>
                </a:cubicBezTo>
                <a:close/>
                <a:moveTo>
                  <a:pt x="2541237" y="695157"/>
                </a:moveTo>
                <a:cubicBezTo>
                  <a:pt x="2486576" y="695157"/>
                  <a:pt x="2448709" y="741906"/>
                  <a:pt x="2448709" y="795876"/>
                </a:cubicBezTo>
                <a:cubicBezTo>
                  <a:pt x="2448709" y="833773"/>
                  <a:pt x="2473739" y="861573"/>
                  <a:pt x="2514212" y="861573"/>
                </a:cubicBezTo>
                <a:cubicBezTo>
                  <a:pt x="2568874" y="861573"/>
                  <a:pt x="2606741" y="815176"/>
                  <a:pt x="2606741" y="760854"/>
                </a:cubicBezTo>
                <a:cubicBezTo>
                  <a:pt x="2606741" y="725897"/>
                  <a:pt x="2584349" y="695157"/>
                  <a:pt x="2541237" y="695157"/>
                </a:cubicBezTo>
                <a:close/>
                <a:moveTo>
                  <a:pt x="2536604" y="724555"/>
                </a:moveTo>
                <a:cubicBezTo>
                  <a:pt x="2559672" y="724555"/>
                  <a:pt x="2567233" y="744845"/>
                  <a:pt x="2567233" y="761174"/>
                </a:cubicBezTo>
                <a:cubicBezTo>
                  <a:pt x="2567233" y="792936"/>
                  <a:pt x="2548154" y="832175"/>
                  <a:pt x="2519488" y="832175"/>
                </a:cubicBezTo>
                <a:cubicBezTo>
                  <a:pt x="2499734" y="832175"/>
                  <a:pt x="2488217" y="816774"/>
                  <a:pt x="2488217" y="794885"/>
                </a:cubicBezTo>
                <a:cubicBezTo>
                  <a:pt x="2488217" y="765136"/>
                  <a:pt x="2506008" y="724555"/>
                  <a:pt x="2536604" y="724555"/>
                </a:cubicBezTo>
                <a:close/>
                <a:moveTo>
                  <a:pt x="2441704" y="646623"/>
                </a:moveTo>
                <a:lnTo>
                  <a:pt x="2400932" y="857994"/>
                </a:lnTo>
                <a:lnTo>
                  <a:pt x="2362712" y="857994"/>
                </a:lnTo>
                <a:lnTo>
                  <a:pt x="2403190" y="646623"/>
                </a:lnTo>
                <a:lnTo>
                  <a:pt x="2441704" y="646623"/>
                </a:lnTo>
                <a:close/>
                <a:moveTo>
                  <a:pt x="1819430" y="701970"/>
                </a:moveTo>
                <a:lnTo>
                  <a:pt x="1813367" y="733641"/>
                </a:lnTo>
                <a:cubicBezTo>
                  <a:pt x="1806719" y="730152"/>
                  <a:pt x="1798148" y="726217"/>
                  <a:pt x="1783826" y="726217"/>
                </a:cubicBezTo>
                <a:cubicBezTo>
                  <a:pt x="1746957" y="726217"/>
                  <a:pt x="1723567" y="759896"/>
                  <a:pt x="1723567" y="793256"/>
                </a:cubicBezTo>
                <a:cubicBezTo>
                  <a:pt x="1723567" y="817093"/>
                  <a:pt x="1737401" y="830514"/>
                  <a:pt x="1758796" y="830514"/>
                </a:cubicBezTo>
                <a:cubicBezTo>
                  <a:pt x="1780522" y="830514"/>
                  <a:pt x="1796308" y="821596"/>
                  <a:pt x="1801876" y="818489"/>
                </a:cubicBezTo>
                <a:lnTo>
                  <a:pt x="1795551" y="851535"/>
                </a:lnTo>
                <a:cubicBezTo>
                  <a:pt x="1786178" y="856289"/>
                  <a:pt x="1769537" y="861253"/>
                  <a:pt x="1748275" y="861253"/>
                </a:cubicBezTo>
                <a:cubicBezTo>
                  <a:pt x="1708092" y="861253"/>
                  <a:pt x="1683415" y="835754"/>
                  <a:pt x="1683415" y="797825"/>
                </a:cubicBezTo>
                <a:cubicBezTo>
                  <a:pt x="1683415" y="742225"/>
                  <a:pt x="1725883" y="695477"/>
                  <a:pt x="1785145" y="695477"/>
                </a:cubicBezTo>
                <a:cubicBezTo>
                  <a:pt x="1800432" y="695477"/>
                  <a:pt x="1813804" y="699277"/>
                  <a:pt x="1819430" y="701970"/>
                </a:cubicBezTo>
                <a:close/>
                <a:moveTo>
                  <a:pt x="1599026" y="831504"/>
                </a:moveTo>
                <a:cubicBezTo>
                  <a:pt x="1625535" y="831504"/>
                  <a:pt x="1644256" y="821717"/>
                  <a:pt x="1657309" y="812360"/>
                </a:cubicBezTo>
                <a:lnTo>
                  <a:pt x="1650747" y="846645"/>
                </a:lnTo>
                <a:cubicBezTo>
                  <a:pt x="1634704" y="856213"/>
                  <a:pt x="1611229" y="861573"/>
                  <a:pt x="1590147" y="861573"/>
                </a:cubicBezTo>
                <a:cubicBezTo>
                  <a:pt x="1545684" y="861573"/>
                  <a:pt x="1524289" y="834444"/>
                  <a:pt x="1524289" y="795524"/>
                </a:cubicBezTo>
                <a:cubicBezTo>
                  <a:pt x="1524289" y="747466"/>
                  <a:pt x="1559840" y="695157"/>
                  <a:pt x="1615145" y="695157"/>
                </a:cubicBezTo>
                <a:cubicBezTo>
                  <a:pt x="1646771" y="695157"/>
                  <a:pt x="1666846" y="713115"/>
                  <a:pt x="1666846" y="739957"/>
                </a:cubicBezTo>
                <a:cubicBezTo>
                  <a:pt x="1666846" y="780794"/>
                  <a:pt x="1623735" y="793895"/>
                  <a:pt x="1561835" y="792585"/>
                </a:cubicBezTo>
                <a:cubicBezTo>
                  <a:pt x="1561159" y="798145"/>
                  <a:pt x="1562478" y="808945"/>
                  <a:pt x="1566114" y="815176"/>
                </a:cubicBezTo>
                <a:cubicBezTo>
                  <a:pt x="1572355" y="825944"/>
                  <a:pt x="1583873" y="831504"/>
                  <a:pt x="1599026" y="831504"/>
                </a:cubicBezTo>
                <a:close/>
                <a:moveTo>
                  <a:pt x="1565760" y="764114"/>
                </a:moveTo>
                <a:cubicBezTo>
                  <a:pt x="1605268" y="764465"/>
                  <a:pt x="1630620" y="759225"/>
                  <a:pt x="1630620" y="739956"/>
                </a:cubicBezTo>
                <a:cubicBezTo>
                  <a:pt x="1630620" y="729796"/>
                  <a:pt x="1622416" y="723596"/>
                  <a:pt x="1610222" y="723596"/>
                </a:cubicBezTo>
                <a:cubicBezTo>
                  <a:pt x="1586189" y="723596"/>
                  <a:pt x="1570393" y="744846"/>
                  <a:pt x="1565760" y="764114"/>
                </a:cubicBezTo>
                <a:close/>
                <a:moveTo>
                  <a:pt x="2158533" y="765136"/>
                </a:moveTo>
                <a:lnTo>
                  <a:pt x="2140621" y="857994"/>
                </a:lnTo>
                <a:lnTo>
                  <a:pt x="2102401" y="857994"/>
                </a:lnTo>
                <a:lnTo>
                  <a:pt x="2119621" y="768076"/>
                </a:lnTo>
                <a:cubicBezTo>
                  <a:pt x="2120746" y="762183"/>
                  <a:pt x="2121512" y="755294"/>
                  <a:pt x="2121512" y="749095"/>
                </a:cubicBezTo>
                <a:cubicBezTo>
                  <a:pt x="2121512" y="735675"/>
                  <a:pt x="2116557" y="726216"/>
                  <a:pt x="2101404" y="726216"/>
                </a:cubicBezTo>
                <a:cubicBezTo>
                  <a:pt x="2083966" y="726216"/>
                  <a:pt x="2061959" y="747114"/>
                  <a:pt x="2055042" y="784436"/>
                </a:cubicBezTo>
                <a:lnTo>
                  <a:pt x="2040853" y="857994"/>
                </a:lnTo>
                <a:lnTo>
                  <a:pt x="2002633" y="857994"/>
                </a:lnTo>
                <a:lnTo>
                  <a:pt x="2033316" y="697777"/>
                </a:lnTo>
                <a:lnTo>
                  <a:pt x="2067888" y="697777"/>
                </a:lnTo>
                <a:lnTo>
                  <a:pt x="2061951" y="728554"/>
                </a:lnTo>
                <a:cubicBezTo>
                  <a:pt x="2076820" y="706392"/>
                  <a:pt x="2097643" y="695157"/>
                  <a:pt x="2120514" y="695157"/>
                </a:cubicBezTo>
                <a:cubicBezTo>
                  <a:pt x="2143550" y="695157"/>
                  <a:pt x="2161341" y="708865"/>
                  <a:pt x="2161341" y="738934"/>
                </a:cubicBezTo>
                <a:cubicBezTo>
                  <a:pt x="2161341" y="746156"/>
                  <a:pt x="2160173" y="757276"/>
                  <a:pt x="2158533" y="765136"/>
                </a:cubicBezTo>
                <a:close/>
                <a:moveTo>
                  <a:pt x="1980144" y="738934"/>
                </a:moveTo>
                <a:cubicBezTo>
                  <a:pt x="1980144" y="746156"/>
                  <a:pt x="1978976" y="757276"/>
                  <a:pt x="1977335" y="765136"/>
                </a:cubicBezTo>
                <a:lnTo>
                  <a:pt x="1959424" y="857994"/>
                </a:lnTo>
                <a:lnTo>
                  <a:pt x="1921204" y="857994"/>
                </a:lnTo>
                <a:lnTo>
                  <a:pt x="1938424" y="768076"/>
                </a:lnTo>
                <a:cubicBezTo>
                  <a:pt x="1939549" y="762183"/>
                  <a:pt x="1940315" y="755294"/>
                  <a:pt x="1940315" y="749095"/>
                </a:cubicBezTo>
                <a:cubicBezTo>
                  <a:pt x="1940315" y="735675"/>
                  <a:pt x="1935360" y="726216"/>
                  <a:pt x="1920206" y="726216"/>
                </a:cubicBezTo>
                <a:cubicBezTo>
                  <a:pt x="1902769" y="726216"/>
                  <a:pt x="1880762" y="747114"/>
                  <a:pt x="1873845" y="784436"/>
                </a:cubicBezTo>
                <a:lnTo>
                  <a:pt x="1873845" y="784436"/>
                </a:lnTo>
                <a:lnTo>
                  <a:pt x="1859656" y="857994"/>
                </a:lnTo>
                <a:lnTo>
                  <a:pt x="1821436" y="857994"/>
                </a:lnTo>
                <a:lnTo>
                  <a:pt x="1861915" y="646623"/>
                </a:lnTo>
                <a:lnTo>
                  <a:pt x="1900428" y="646623"/>
                </a:lnTo>
                <a:lnTo>
                  <a:pt x="1885984" y="721502"/>
                </a:lnTo>
                <a:cubicBezTo>
                  <a:pt x="1900326" y="704012"/>
                  <a:pt x="1919014" y="695157"/>
                  <a:pt x="1939317" y="695157"/>
                </a:cubicBezTo>
                <a:cubicBezTo>
                  <a:pt x="1962353" y="695157"/>
                  <a:pt x="1980144" y="708865"/>
                  <a:pt x="1980144" y="738934"/>
                </a:cubicBezTo>
                <a:close/>
                <a:moveTo>
                  <a:pt x="1486679" y="698736"/>
                </a:moveTo>
                <a:lnTo>
                  <a:pt x="1522584" y="698736"/>
                </a:lnTo>
                <a:lnTo>
                  <a:pt x="1516664" y="728165"/>
                </a:lnTo>
                <a:lnTo>
                  <a:pt x="1480760" y="728165"/>
                </a:lnTo>
                <a:lnTo>
                  <a:pt x="1468243" y="792264"/>
                </a:lnTo>
                <a:cubicBezTo>
                  <a:pt x="1466603" y="799775"/>
                  <a:pt x="1465285" y="807955"/>
                  <a:pt x="1465285" y="814824"/>
                </a:cubicBezTo>
                <a:cubicBezTo>
                  <a:pt x="1465285" y="823675"/>
                  <a:pt x="1469241" y="829236"/>
                  <a:pt x="1479440" y="829236"/>
                </a:cubicBezTo>
                <a:cubicBezTo>
                  <a:pt x="1484941" y="829236"/>
                  <a:pt x="1490390" y="828740"/>
                  <a:pt x="1494778" y="827801"/>
                </a:cubicBezTo>
                <a:lnTo>
                  <a:pt x="1488997" y="857990"/>
                </a:lnTo>
                <a:lnTo>
                  <a:pt x="1488996" y="857994"/>
                </a:lnTo>
                <a:cubicBezTo>
                  <a:pt x="1483398" y="860295"/>
                  <a:pt x="1473198" y="861254"/>
                  <a:pt x="1463965" y="861254"/>
                </a:cubicBezTo>
                <a:cubicBezTo>
                  <a:pt x="1437648" y="861254"/>
                  <a:pt x="1426097" y="846874"/>
                  <a:pt x="1426097" y="828564"/>
                </a:cubicBezTo>
                <a:cubicBezTo>
                  <a:pt x="1426097" y="819713"/>
                  <a:pt x="1427096" y="810894"/>
                  <a:pt x="1429411" y="799135"/>
                </a:cubicBezTo>
                <a:lnTo>
                  <a:pt x="1443247" y="728165"/>
                </a:lnTo>
                <a:lnTo>
                  <a:pt x="1421818" y="728165"/>
                </a:lnTo>
                <a:lnTo>
                  <a:pt x="1427416" y="698736"/>
                </a:lnTo>
                <a:lnTo>
                  <a:pt x="1448813" y="698736"/>
                </a:lnTo>
                <a:lnTo>
                  <a:pt x="1457003" y="657748"/>
                </a:lnTo>
                <a:lnTo>
                  <a:pt x="1494288" y="657748"/>
                </a:lnTo>
                <a:lnTo>
                  <a:pt x="1486679" y="698736"/>
                </a:lnTo>
                <a:close/>
                <a:moveTo>
                  <a:pt x="2788298" y="886433"/>
                </a:moveTo>
                <a:cubicBezTo>
                  <a:pt x="2797421" y="891459"/>
                  <a:pt x="2817033" y="897683"/>
                  <a:pt x="2828271" y="878611"/>
                </a:cubicBezTo>
                <a:lnTo>
                  <a:pt x="2840780" y="853718"/>
                </a:lnTo>
                <a:lnTo>
                  <a:pt x="2812203" y="697777"/>
                </a:lnTo>
                <a:lnTo>
                  <a:pt x="2852387" y="697777"/>
                </a:lnTo>
                <a:lnTo>
                  <a:pt x="2867179" y="816325"/>
                </a:lnTo>
                <a:lnTo>
                  <a:pt x="2928097" y="697777"/>
                </a:lnTo>
                <a:lnTo>
                  <a:pt x="2968924" y="697777"/>
                </a:lnTo>
                <a:lnTo>
                  <a:pt x="2861660" y="887677"/>
                </a:lnTo>
                <a:lnTo>
                  <a:pt x="2861660" y="887739"/>
                </a:lnTo>
                <a:cubicBezTo>
                  <a:pt x="2840670" y="925032"/>
                  <a:pt x="2811722" y="931006"/>
                  <a:pt x="2782349" y="917510"/>
                </a:cubicBezTo>
                <a:lnTo>
                  <a:pt x="2788298" y="886433"/>
                </a:lnTo>
                <a:close/>
                <a:moveTo>
                  <a:pt x="2783865" y="738023"/>
                </a:moveTo>
                <a:cubicBezTo>
                  <a:pt x="2783865" y="746856"/>
                  <a:pt x="2782548" y="756668"/>
                  <a:pt x="2780573" y="765507"/>
                </a:cubicBezTo>
                <a:lnTo>
                  <a:pt x="2766056" y="837735"/>
                </a:lnTo>
                <a:cubicBezTo>
                  <a:pt x="2760075" y="868795"/>
                  <a:pt x="2751071" y="893655"/>
                  <a:pt x="2732771" y="908673"/>
                </a:cubicBezTo>
                <a:cubicBezTo>
                  <a:pt x="2715803" y="922413"/>
                  <a:pt x="2693178" y="926343"/>
                  <a:pt x="2672895" y="926343"/>
                </a:cubicBezTo>
                <a:cubicBezTo>
                  <a:pt x="2654111" y="926343"/>
                  <a:pt x="2636689" y="922930"/>
                  <a:pt x="2625597" y="917510"/>
                </a:cubicBezTo>
                <a:lnTo>
                  <a:pt x="2631546" y="886433"/>
                </a:lnTo>
                <a:cubicBezTo>
                  <a:pt x="2640780" y="891993"/>
                  <a:pt x="2658539" y="895923"/>
                  <a:pt x="2673692" y="895923"/>
                </a:cubicBezTo>
                <a:cubicBezTo>
                  <a:pt x="2698723" y="895923"/>
                  <a:pt x="2717833" y="884164"/>
                  <a:pt x="2725716" y="847194"/>
                </a:cubicBezTo>
                <a:lnTo>
                  <a:pt x="2728786" y="833259"/>
                </a:lnTo>
                <a:cubicBezTo>
                  <a:pt x="2715922" y="851397"/>
                  <a:pt x="2696745" y="861694"/>
                  <a:pt x="2675487" y="861694"/>
                </a:cubicBezTo>
                <a:cubicBezTo>
                  <a:pt x="2641227" y="861694"/>
                  <a:pt x="2627062" y="833883"/>
                  <a:pt x="2627062" y="805419"/>
                </a:cubicBezTo>
                <a:cubicBezTo>
                  <a:pt x="2627062" y="755034"/>
                  <a:pt x="2661981" y="695157"/>
                  <a:pt x="2730167" y="695157"/>
                </a:cubicBezTo>
                <a:cubicBezTo>
                  <a:pt x="2763769" y="695157"/>
                  <a:pt x="2783865" y="709232"/>
                  <a:pt x="2783865" y="738023"/>
                </a:cubicBezTo>
                <a:close/>
                <a:moveTo>
                  <a:pt x="2744332" y="744568"/>
                </a:moveTo>
                <a:cubicBezTo>
                  <a:pt x="2744002" y="731479"/>
                  <a:pt x="2736426" y="724282"/>
                  <a:pt x="2722919" y="724282"/>
                </a:cubicBezTo>
                <a:cubicBezTo>
                  <a:pt x="2689323" y="724282"/>
                  <a:pt x="2667246" y="767142"/>
                  <a:pt x="2667246" y="798548"/>
                </a:cubicBezTo>
                <a:cubicBezTo>
                  <a:pt x="2667246" y="815892"/>
                  <a:pt x="2674829" y="830614"/>
                  <a:pt x="2692615" y="830614"/>
                </a:cubicBezTo>
                <a:cubicBezTo>
                  <a:pt x="2712381" y="830614"/>
                  <a:pt x="2732806" y="810328"/>
                  <a:pt x="2739395" y="778262"/>
                </a:cubicBezTo>
                <a:lnTo>
                  <a:pt x="2742357" y="763539"/>
                </a:lnTo>
                <a:cubicBezTo>
                  <a:pt x="2743358" y="757739"/>
                  <a:pt x="2744661" y="752092"/>
                  <a:pt x="2744331" y="744568"/>
                </a:cubicBezTo>
                <a:close/>
              </a:path>
            </a:pathLst>
          </a:custGeom>
          <a:solidFill>
            <a:schemeClr val="bg1"/>
          </a:solidFill>
          <a:ln w="9525" cap="flat">
            <a:noFill/>
            <a:prstDash val="solid"/>
            <a:miter/>
          </a:ln>
        </p:spPr>
        <p:txBody>
          <a:bodyPr rtlCol="0" anchor="ctr"/>
          <a:lstStyle/>
          <a:p>
            <a:endParaRPr lang="en-US" sz="3600"/>
          </a:p>
        </p:txBody>
      </p:sp>
    </p:spTree>
    <p:extLst>
      <p:ext uri="{BB962C8B-B14F-4D97-AF65-F5344CB8AC3E}">
        <p14:creationId xmlns:p14="http://schemas.microsoft.com/office/powerpoint/2010/main" val="39445183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3_Logo">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FBFEA71-1AC6-4DFC-15E0-24BA7D731D78}"/>
              </a:ext>
            </a:extLst>
          </p:cNvPr>
          <p:cNvPicPr>
            <a:picLocks noChangeAspect="1"/>
          </p:cNvPicPr>
          <p:nvPr userDrawn="1"/>
        </p:nvPicPr>
        <p:blipFill>
          <a:blip r:embed="rId2"/>
          <a:stretch>
            <a:fillRect/>
          </a:stretch>
        </p:blipFill>
        <p:spPr>
          <a:xfrm>
            <a:off x="1676400" y="0"/>
            <a:ext cx="21031200" cy="13716000"/>
          </a:xfrm>
          <a:prstGeom prst="rect">
            <a:avLst/>
          </a:prstGeom>
        </p:spPr>
      </p:pic>
      <p:pic>
        <p:nvPicPr>
          <p:cNvPr id="3" name="Graphic 2">
            <a:extLst>
              <a:ext uri="{FF2B5EF4-FFF2-40B4-BE49-F238E27FC236}">
                <a16:creationId xmlns:a16="http://schemas.microsoft.com/office/drawing/2014/main" id="{510642B9-F25A-374A-99F2-0224B52C46A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8335214" y="5983498"/>
            <a:ext cx="8023116" cy="2487168"/>
          </a:xfrm>
          <a:prstGeom prst="rect">
            <a:avLst/>
          </a:prstGeom>
        </p:spPr>
      </p:pic>
      <p:sp>
        <p:nvSpPr>
          <p:cNvPr id="6" name="Graphic 2">
            <a:extLst>
              <a:ext uri="{FF2B5EF4-FFF2-40B4-BE49-F238E27FC236}">
                <a16:creationId xmlns:a16="http://schemas.microsoft.com/office/drawing/2014/main" id="{0D8656DC-2D22-C2DA-13A1-B73DAEC9EBA5}"/>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20076244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Single Column - Sim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80F77ED-A2A4-4EFE-8DC0-C63FB58288D9}"/>
              </a:ext>
            </a:extLst>
          </p:cNvPr>
          <p:cNvSpPr/>
          <p:nvPr userDrawn="1"/>
        </p:nvSpPr>
        <p:spPr bwMode="white">
          <a:xfrm>
            <a:off x="6164826" y="0"/>
            <a:ext cx="560440" cy="13716000"/>
          </a:xfrm>
          <a:prstGeom prst="rect">
            <a:avLst/>
          </a:prstGeom>
          <a:solidFill>
            <a:srgbClr val="1C1C1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1752601"/>
            <a:ext cx="22936200" cy="3488134"/>
          </a:xfrm>
          <a:prstGeom prst="rect">
            <a:avLst/>
          </a:prstGeo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10" name="Footer Placeholder 4">
            <a:extLst>
              <a:ext uri="{FF2B5EF4-FFF2-40B4-BE49-F238E27FC236}">
                <a16:creationId xmlns:a16="http://schemas.microsoft.com/office/drawing/2014/main" id="{A78695ED-2F1E-494A-BB48-9F1643AA5F5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8F85B9C0-2FA3-C642-B0A2-F972FA128415}"/>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45327766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Single Column - Simple with Sub">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80F77ED-A2A4-4EFE-8DC0-C63FB58288D9}"/>
              </a:ext>
            </a:extLst>
          </p:cNvPr>
          <p:cNvSpPr/>
          <p:nvPr userDrawn="1"/>
        </p:nvSpPr>
        <p:spPr bwMode="white">
          <a:xfrm>
            <a:off x="6164826" y="0"/>
            <a:ext cx="560440" cy="13716000"/>
          </a:xfrm>
          <a:prstGeom prst="rect">
            <a:avLst/>
          </a:prstGeom>
          <a:solidFill>
            <a:srgbClr val="1C1C1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a:prstGeom prst="rect">
            <a:avLst/>
          </a:prstGeo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1752602"/>
            <a:ext cx="22971126" cy="584776"/>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11" name="Footer Placeholder 4">
            <a:extLst>
              <a:ext uri="{FF2B5EF4-FFF2-40B4-BE49-F238E27FC236}">
                <a16:creationId xmlns:a16="http://schemas.microsoft.com/office/drawing/2014/main" id="{EF68921A-3D84-0C43-BCF7-2359425BBAF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3C34AF9E-CC5A-D94B-A257-8357FE5D4D4C}"/>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6509125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3"/>
            <a:ext cx="17160240" cy="3488134"/>
          </a:xfrm>
          <a:prstGeom prst="rect">
            <a:avLst/>
          </a:prstGeo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p>
            <a:r>
              <a:rPr lang="en-US"/>
              <a:t>Click to edit Master title style</a:t>
            </a:r>
          </a:p>
        </p:txBody>
      </p:sp>
      <p:sp>
        <p:nvSpPr>
          <p:cNvPr id="11" name="Footer Placeholder 4">
            <a:extLst>
              <a:ext uri="{FF2B5EF4-FFF2-40B4-BE49-F238E27FC236}">
                <a16:creationId xmlns:a16="http://schemas.microsoft.com/office/drawing/2014/main" id="{40A38931-98FA-BE47-B1AE-523C0961A6B7}"/>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969D2E81-8C3B-0043-9477-955DB211D4CB}"/>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82112853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08EE2D0-C5F7-40AF-BD24-47EFB4DD9E34}"/>
              </a:ext>
            </a:extLst>
          </p:cNvPr>
          <p:cNvSpPr>
            <a:spLocks noGrp="1"/>
          </p:cNvSpPr>
          <p:nvPr>
            <p:ph idx="1"/>
          </p:nvPr>
        </p:nvSpPr>
        <p:spPr>
          <a:xfrm>
            <a:off x="16059154" y="624971"/>
            <a:ext cx="7600948" cy="3488134"/>
          </a:xfrm>
          <a:prstGeom prst="rect">
            <a:avLst/>
          </a:prstGeom>
        </p:spPr>
        <p:txBody>
          <a:bodyPr vert="horz"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6297"/>
            <a:ext cx="7315200" cy="3488134"/>
          </a:xfrm>
          <a:prstGeom prst="rect">
            <a:avLst/>
          </a:prstGeo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0" y="3685032"/>
            <a:ext cx="5468112" cy="2339102"/>
          </a:xfrm>
          <a:prstGeom prst="rect">
            <a:avLst/>
          </a:prstGeom>
        </p:spPr>
        <p:txBody>
          <a:bodyPr vert="horz" lIns="0" tIns="0" rIns="0" bIns="0" rtlCol="0">
            <a:spAutoFit/>
          </a:bodyPr>
          <a:lstStyle>
            <a:lvl1pPr>
              <a:defRPr lang="en-US" sz="3800" dirty="0">
                <a:ln w="3175">
                  <a:noFill/>
                </a:ln>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spAutoFit/>
          </a:bodyPr>
          <a:lstStyle>
            <a:lvl1pPr>
              <a:defRPr/>
            </a:lvl1pPr>
          </a:lstStyle>
          <a:p>
            <a:r>
              <a:rPr lang="en-US"/>
              <a:t>Click to edit Master title style</a:t>
            </a:r>
          </a:p>
        </p:txBody>
      </p:sp>
      <p:sp>
        <p:nvSpPr>
          <p:cNvPr id="10" name="Footer Placeholder 4">
            <a:extLst>
              <a:ext uri="{FF2B5EF4-FFF2-40B4-BE49-F238E27FC236}">
                <a16:creationId xmlns:a16="http://schemas.microsoft.com/office/drawing/2014/main" id="{156A0A62-087E-784B-9DD1-38534E1A4B07}"/>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8E27B880-B2E3-2C46-B7F9-CAD8D1E9265C}"/>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81479446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454140" y="4833410"/>
            <a:ext cx="17183100" cy="553998"/>
          </a:xfrm>
          <a:prstGeom prst="rect">
            <a:avLst/>
          </a:prstGeom>
        </p:spPr>
        <p:txBody>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a:xfrm>
            <a:off x="668995" y="537179"/>
            <a:ext cx="5466338" cy="968086"/>
          </a:xfrm>
        </p:spPr>
        <p:txBody>
          <a:bodyPr>
            <a:spAutoFit/>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2" y="3687499"/>
            <a:ext cx="5468112" cy="2339102"/>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11" name="Text Placeholder 2">
            <a:extLst>
              <a:ext uri="{FF2B5EF4-FFF2-40B4-BE49-F238E27FC236}">
                <a16:creationId xmlns:a16="http://schemas.microsoft.com/office/drawing/2014/main" id="{A208867F-67F6-E940-A59D-2EEB7E6B95FA}"/>
              </a:ext>
            </a:extLst>
          </p:cNvPr>
          <p:cNvSpPr>
            <a:spLocks noGrp="1"/>
          </p:cNvSpPr>
          <p:nvPr>
            <p:ph idx="1" hasCustomPrompt="1"/>
          </p:nvPr>
        </p:nvSpPr>
        <p:spPr>
          <a:xfrm>
            <a:off x="6477003" y="624971"/>
            <a:ext cx="17160602" cy="3488134"/>
          </a:xfrm>
          <a:prstGeom prst="rect">
            <a:avLst/>
          </a:prstGeom>
        </p:spPr>
        <p:txBody>
          <a:bodyPr vert="horz" lIns="182880" tIns="0" rIns="0" bIns="0" rtlCol="0">
            <a:spAutoFit/>
          </a:bodyPr>
          <a:lstStyle>
            <a:lvl1pPr marL="571500" indent="-571500">
              <a:buClr>
                <a:schemeClr val="bg1"/>
              </a:buClr>
              <a:buFont typeface="Arial" panose="020B0604020202020204" pitchFamily="34" charset="0"/>
              <a:buChar char="•"/>
              <a:defRPr>
                <a:solidFill>
                  <a:schemeClr val="bg1"/>
                </a:solidFill>
              </a:defRPr>
            </a:lvl1pPr>
            <a:lvl2pPr marL="1485900" indent="-571500">
              <a:buClr>
                <a:schemeClr val="bg1"/>
              </a:buClr>
              <a:buFont typeface="Arial" panose="020B0604020202020204" pitchFamily="34" charset="0"/>
              <a:buChar char="•"/>
              <a:defRPr>
                <a:solidFill>
                  <a:schemeClr val="bg1"/>
                </a:solidFill>
              </a:defRPr>
            </a:lvl2pPr>
            <a:lvl3pPr marL="2400300" indent="-571500">
              <a:buClr>
                <a:schemeClr val="bg1"/>
              </a:buClr>
              <a:buFont typeface="Arial" panose="020B0604020202020204" pitchFamily="34" charset="0"/>
              <a:buChar char="•"/>
              <a:defRPr>
                <a:solidFill>
                  <a:schemeClr val="bg1"/>
                </a:solidFill>
              </a:defRPr>
            </a:lvl3pPr>
            <a:lvl4pPr marL="3314700" indent="-571500">
              <a:buClr>
                <a:schemeClr val="bg1"/>
              </a:buClr>
              <a:buFont typeface="Arial" panose="020B0604020202020204" pitchFamily="34" charset="0"/>
              <a:buChar char="•"/>
              <a:defRPr>
                <a:solidFill>
                  <a:schemeClr val="bg1"/>
                </a:solidFill>
              </a:defRPr>
            </a:lvl4pPr>
            <a:lvl5pPr marL="4229100" indent="-571500">
              <a:buClr>
                <a:schemeClr val="bg1"/>
              </a:buClr>
              <a:buFont typeface="Arial" panose="020B0604020202020204" pitchFamily="34" charset="0"/>
              <a:buChar cha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Footer Placeholder 4">
            <a:extLst>
              <a:ext uri="{FF2B5EF4-FFF2-40B4-BE49-F238E27FC236}">
                <a16:creationId xmlns:a16="http://schemas.microsoft.com/office/drawing/2014/main" id="{11EF6F69-B713-564F-BAF2-3A8E767B5BD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5" name="Slide Number Placeholder 5">
            <a:extLst>
              <a:ext uri="{FF2B5EF4-FFF2-40B4-BE49-F238E27FC236}">
                <a16:creationId xmlns:a16="http://schemas.microsoft.com/office/drawing/2014/main" id="{5991D8A6-7F67-9440-AF41-53A069C8F40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70256095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a:xfrm>
            <a:off x="668995" y="537179"/>
            <a:ext cx="5466338" cy="968086"/>
          </a:xfrm>
        </p:spPr>
        <p:txBody>
          <a:bodyPr>
            <a:spAutoFit/>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2" y="3687499"/>
            <a:ext cx="5468112" cy="2339102"/>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12" name="Text Placeholder 2">
            <a:extLst>
              <a:ext uri="{FF2B5EF4-FFF2-40B4-BE49-F238E27FC236}">
                <a16:creationId xmlns:a16="http://schemas.microsoft.com/office/drawing/2014/main" id="{3CAAA4C2-3C05-F041-9337-D10DF6DF7FE4}"/>
              </a:ext>
            </a:extLst>
          </p:cNvPr>
          <p:cNvSpPr>
            <a:spLocks noGrp="1"/>
          </p:cNvSpPr>
          <p:nvPr>
            <p:ph idx="1" hasCustomPrompt="1"/>
          </p:nvPr>
        </p:nvSpPr>
        <p:spPr>
          <a:xfrm>
            <a:off x="6477003" y="624971"/>
            <a:ext cx="17160602" cy="3488134"/>
          </a:xfrm>
          <a:prstGeom prst="rect">
            <a:avLst/>
          </a:prstGeom>
        </p:spPr>
        <p:txBody>
          <a:bodyPr vert="horz" lIns="182880" tIns="0" rIns="0" bIns="0" rtlCol="0">
            <a:spAutoFit/>
          </a:bodyPr>
          <a:lstStyle>
            <a:lvl1pPr marL="571500" indent="-571500">
              <a:buClr>
                <a:schemeClr val="bg1"/>
              </a:buClr>
              <a:buFont typeface="Arial" panose="020B0604020202020204" pitchFamily="34" charset="0"/>
              <a:buChar char="•"/>
              <a:defRPr>
                <a:solidFill>
                  <a:schemeClr val="bg1"/>
                </a:solidFill>
              </a:defRPr>
            </a:lvl1pPr>
            <a:lvl2pPr marL="1485900" indent="-571500">
              <a:buClr>
                <a:schemeClr val="bg1"/>
              </a:buClr>
              <a:buFont typeface="Arial" panose="020B0604020202020204" pitchFamily="34" charset="0"/>
              <a:buChar char="•"/>
              <a:defRPr>
                <a:solidFill>
                  <a:schemeClr val="bg1"/>
                </a:solidFill>
              </a:defRPr>
            </a:lvl2pPr>
            <a:lvl3pPr marL="2400300" indent="-571500">
              <a:buClr>
                <a:schemeClr val="bg1"/>
              </a:buClr>
              <a:buFont typeface="Arial" panose="020B0604020202020204" pitchFamily="34" charset="0"/>
              <a:buChar char="•"/>
              <a:defRPr>
                <a:solidFill>
                  <a:schemeClr val="bg1"/>
                </a:solidFill>
              </a:defRPr>
            </a:lvl3pPr>
            <a:lvl4pPr marL="3314700" indent="-571500">
              <a:buClr>
                <a:schemeClr val="bg1"/>
              </a:buClr>
              <a:buFont typeface="Arial" panose="020B0604020202020204" pitchFamily="34" charset="0"/>
              <a:buChar char="•"/>
              <a:defRPr>
                <a:solidFill>
                  <a:schemeClr val="bg1"/>
                </a:solidFill>
              </a:defRPr>
            </a:lvl4pPr>
            <a:lvl5pPr marL="4229100" indent="-571500">
              <a:buClr>
                <a:schemeClr val="bg1"/>
              </a:buClr>
              <a:buFont typeface="Arial" panose="020B0604020202020204" pitchFamily="34" charset="0"/>
              <a:buChar cha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Footer Placeholder 4">
            <a:extLst>
              <a:ext uri="{FF2B5EF4-FFF2-40B4-BE49-F238E27FC236}">
                <a16:creationId xmlns:a16="http://schemas.microsoft.com/office/drawing/2014/main" id="{74285A73-5F89-444B-B12F-B9E47CB2DFD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7D747C1E-E5F9-3847-87C2-C1E33BFF68C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3691654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pic>
        <p:nvPicPr>
          <p:cNvPr id="7" name="Graphic 6">
            <a:extLst>
              <a:ext uri="{FF2B5EF4-FFF2-40B4-BE49-F238E27FC236}">
                <a16:creationId xmlns:a16="http://schemas.microsoft.com/office/drawing/2014/main" id="{29CC8F76-A361-314D-B285-35441B7FF5E1}"/>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2B6F1109-EB65-C94A-AA12-2CF4DF38E7E5}"/>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EAFEC2A3-61A0-3C4C-A1C7-F1D9EA9DE3D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59593051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1754326"/>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2017604"/>
          </a:xfrm>
        </p:spPr>
        <p:txBody>
          <a:bodyPr>
            <a:spAutoFit/>
          </a:bodyPr>
          <a:lstStyle/>
          <a:p>
            <a:r>
              <a:rPr lang="en-US"/>
              <a:t>Click to edit Master title style</a:t>
            </a:r>
          </a:p>
        </p:txBody>
      </p:sp>
      <p:sp>
        <p:nvSpPr>
          <p:cNvPr id="11" name="Text Placeholder 2">
            <a:extLst>
              <a:ext uri="{FF2B5EF4-FFF2-40B4-BE49-F238E27FC236}">
                <a16:creationId xmlns:a16="http://schemas.microsoft.com/office/drawing/2014/main" id="{9F9C88D5-EA56-4ED2-8CB6-44F2BBA4023F}"/>
              </a:ext>
            </a:extLst>
          </p:cNvPr>
          <p:cNvSpPr>
            <a:spLocks noGrp="1"/>
          </p:cNvSpPr>
          <p:nvPr>
            <p:ph idx="1"/>
          </p:nvPr>
        </p:nvSpPr>
        <p:spPr>
          <a:xfrm>
            <a:off x="8382000" y="624971"/>
            <a:ext cx="15255604" cy="3488134"/>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BD6CB0B8-ED09-5144-8406-07EDCA221F9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06D1107E-377F-1C4D-825D-2D388EB1CC11}"/>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5" name="Slide Number Placeholder 5">
            <a:extLst>
              <a:ext uri="{FF2B5EF4-FFF2-40B4-BE49-F238E27FC236}">
                <a16:creationId xmlns:a16="http://schemas.microsoft.com/office/drawing/2014/main" id="{5EA424A9-9F99-5C4C-867C-130C2A181E2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88798582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prstGeom prst="rect">
            <a:avLst/>
          </a:prstGeo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lvl1pPr>
          </a:lstStyle>
          <a:p>
            <a:r>
              <a:rPr lang="en-US"/>
              <a:t>Click to edit Master title style</a:t>
            </a:r>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339102"/>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1201D0FE-A135-6A46-ABB9-BBF42B08B052}"/>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62696866-BC8C-9147-9465-61E5AEA4F581}"/>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EF17C66D-3409-BF41-8787-FD6B3224F20F}"/>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26350596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prstGeom prst="rect">
            <a:avLst/>
          </a:prstGeo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lvl1pPr>
          </a:lstStyle>
          <a:p>
            <a:r>
              <a:rPr lang="en-US"/>
              <a:t>Click to edit Master title style</a:t>
            </a:r>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339102"/>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9" name="Text Placeholder 2">
            <a:extLst>
              <a:ext uri="{FF2B5EF4-FFF2-40B4-BE49-F238E27FC236}">
                <a16:creationId xmlns:a16="http://schemas.microsoft.com/office/drawing/2014/main" id="{FD053F94-CE8F-4987-AA33-DA71ADDB4BC1}"/>
              </a:ext>
            </a:extLst>
          </p:cNvPr>
          <p:cNvSpPr>
            <a:spLocks noGrp="1"/>
          </p:cNvSpPr>
          <p:nvPr>
            <p:ph idx="1"/>
          </p:nvPr>
        </p:nvSpPr>
        <p:spPr>
          <a:xfrm>
            <a:off x="17945102" y="624970"/>
            <a:ext cx="5715000" cy="4042132"/>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0" name="Graphic 9">
            <a:extLst>
              <a:ext uri="{FF2B5EF4-FFF2-40B4-BE49-F238E27FC236}">
                <a16:creationId xmlns:a16="http://schemas.microsoft.com/office/drawing/2014/main" id="{834B8D64-D2B5-B04A-8E1B-280A11CF824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5" name="Footer Placeholder 4">
            <a:extLst>
              <a:ext uri="{FF2B5EF4-FFF2-40B4-BE49-F238E27FC236}">
                <a16:creationId xmlns:a16="http://schemas.microsoft.com/office/drawing/2014/main" id="{D6781EC2-90CC-EA49-9C4F-F63A18DB9A4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6" name="Slide Number Placeholder 5">
            <a:extLst>
              <a:ext uri="{FF2B5EF4-FFF2-40B4-BE49-F238E27FC236}">
                <a16:creationId xmlns:a16="http://schemas.microsoft.com/office/drawing/2014/main" id="{773A6A02-6A23-704D-B348-F117251E3C9B}"/>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994314876"/>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prstGeom prst="rect">
            <a:avLst/>
          </a:prstGeo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3488134"/>
          </a:xfrm>
          <a:prstGeom prst="rect">
            <a:avLst/>
          </a:prstGeom>
        </p:spPr>
        <p:txBody>
          <a:bodyPr lIns="0">
            <a:spAutoFit/>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Footer Placeholder 4">
            <a:extLst>
              <a:ext uri="{FF2B5EF4-FFF2-40B4-BE49-F238E27FC236}">
                <a16:creationId xmlns:a16="http://schemas.microsoft.com/office/drawing/2014/main" id="{35545590-189E-BE41-BDD7-DCC3999A6E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1D0045EB-86A1-6D46-873D-E4EC1E9D359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pic>
        <p:nvPicPr>
          <p:cNvPr id="8" name="Graphic 7">
            <a:extLst>
              <a:ext uri="{FF2B5EF4-FFF2-40B4-BE49-F238E27FC236}">
                <a16:creationId xmlns:a16="http://schemas.microsoft.com/office/drawing/2014/main" id="{16E729CA-D7F7-9D4C-8995-BE11C5ADAE1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Tree>
    <p:extLst>
      <p:ext uri="{BB962C8B-B14F-4D97-AF65-F5344CB8AC3E}">
        <p14:creationId xmlns:p14="http://schemas.microsoft.com/office/powerpoint/2010/main" val="371047956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prstGeom prst="rect">
            <a:avLst/>
          </a:prstGeo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3488134"/>
          </a:xfrm>
          <a:prstGeom prst="rect">
            <a:avLst/>
          </a:prstGeo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169550"/>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12" name="Footer Placeholder 4">
            <a:extLst>
              <a:ext uri="{FF2B5EF4-FFF2-40B4-BE49-F238E27FC236}">
                <a16:creationId xmlns:a16="http://schemas.microsoft.com/office/drawing/2014/main" id="{2DA1221E-A67C-744E-9C4B-331BEF727F33}"/>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46CF78B-534F-E345-BE6A-BED63A26C73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pic>
        <p:nvPicPr>
          <p:cNvPr id="11" name="Graphic 10">
            <a:extLst>
              <a:ext uri="{FF2B5EF4-FFF2-40B4-BE49-F238E27FC236}">
                <a16:creationId xmlns:a16="http://schemas.microsoft.com/office/drawing/2014/main" id="{6EC9CD29-2B0B-D84F-9F82-1452EF9A6C53}"/>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Tree>
    <p:extLst>
      <p:ext uri="{BB962C8B-B14F-4D97-AF65-F5344CB8AC3E}">
        <p14:creationId xmlns:p14="http://schemas.microsoft.com/office/powerpoint/2010/main" val="102282216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Image Slide 4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prstGeom prst="rect">
            <a:avLst/>
          </a:prstGeo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4"/>
            <a:ext cx="5210098" cy="4042132"/>
          </a:xfrm>
          <a:prstGeom prst="rect">
            <a:avLst/>
          </a:prstGeo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6C63B45C-B418-7748-8927-54F5E6F9FA61}"/>
              </a:ext>
            </a:extLst>
          </p:cNvPr>
          <p:cNvSpPr>
            <a:spLocks noGrp="1"/>
          </p:cNvSpPr>
          <p:nvPr>
            <p:ph type="body" sz="quarter" idx="16"/>
          </p:nvPr>
        </p:nvSpPr>
        <p:spPr>
          <a:xfrm>
            <a:off x="6477000" y="1752604"/>
            <a:ext cx="5333924" cy="4042132"/>
          </a:xfrm>
          <a:prstGeom prst="rect">
            <a:avLst/>
          </a:prstGeo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Footer Placeholder 4">
            <a:extLst>
              <a:ext uri="{FF2B5EF4-FFF2-40B4-BE49-F238E27FC236}">
                <a16:creationId xmlns:a16="http://schemas.microsoft.com/office/drawing/2014/main" id="{E2B02E0F-958B-D343-8575-8BC713243DC7}"/>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934D70E-9CAD-904F-9B97-4F8F754E836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pic>
        <p:nvPicPr>
          <p:cNvPr id="11" name="Graphic 10">
            <a:extLst>
              <a:ext uri="{FF2B5EF4-FFF2-40B4-BE49-F238E27FC236}">
                <a16:creationId xmlns:a16="http://schemas.microsoft.com/office/drawing/2014/main" id="{48BF7A79-7B50-4445-9318-39F0053D656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Tree>
    <p:extLst>
      <p:ext uri="{BB962C8B-B14F-4D97-AF65-F5344CB8AC3E}">
        <p14:creationId xmlns:p14="http://schemas.microsoft.com/office/powerpoint/2010/main" val="2618894935"/>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Image Slide 4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prstGeom prst="rect">
            <a:avLst/>
          </a:prstGeo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6"/>
            <a:ext cx="5210098" cy="4042132"/>
          </a:xfrm>
          <a:prstGeom prst="rect">
            <a:avLst/>
          </a:prstGeo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6C63B45C-B418-7748-8927-54F5E6F9FA61}"/>
              </a:ext>
            </a:extLst>
          </p:cNvPr>
          <p:cNvSpPr>
            <a:spLocks noGrp="1"/>
          </p:cNvSpPr>
          <p:nvPr>
            <p:ph type="body" sz="quarter" idx="16"/>
          </p:nvPr>
        </p:nvSpPr>
        <p:spPr>
          <a:xfrm>
            <a:off x="6477000" y="3169804"/>
            <a:ext cx="5333924" cy="4042132"/>
          </a:xfrm>
          <a:prstGeom prst="rect">
            <a:avLst/>
          </a:prstGeo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8">
            <a:extLst>
              <a:ext uri="{FF2B5EF4-FFF2-40B4-BE49-F238E27FC236}">
                <a16:creationId xmlns:a16="http://schemas.microsoft.com/office/drawing/2014/main" id="{9192A8DF-7DE3-4714-9178-8644E5472F7A}"/>
              </a:ext>
            </a:extLst>
          </p:cNvPr>
          <p:cNvSpPr>
            <a:spLocks noGrp="1"/>
          </p:cNvSpPr>
          <p:nvPr>
            <p:ph type="body" sz="quarter" idx="13" hasCustomPrompt="1"/>
          </p:nvPr>
        </p:nvSpPr>
        <p:spPr>
          <a:xfrm>
            <a:off x="688979" y="1752605"/>
            <a:ext cx="11122026" cy="1169550"/>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14" name="Footer Placeholder 4">
            <a:extLst>
              <a:ext uri="{FF2B5EF4-FFF2-40B4-BE49-F238E27FC236}">
                <a16:creationId xmlns:a16="http://schemas.microsoft.com/office/drawing/2014/main" id="{17A9286D-8AD3-CB46-B613-DFA76629A081}"/>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5" name="Slide Number Placeholder 5">
            <a:extLst>
              <a:ext uri="{FF2B5EF4-FFF2-40B4-BE49-F238E27FC236}">
                <a16:creationId xmlns:a16="http://schemas.microsoft.com/office/drawing/2014/main" id="{BF77D4FD-4664-EC48-9279-63E7C134C6A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pic>
        <p:nvPicPr>
          <p:cNvPr id="12" name="Graphic 11">
            <a:extLst>
              <a:ext uri="{FF2B5EF4-FFF2-40B4-BE49-F238E27FC236}">
                <a16:creationId xmlns:a16="http://schemas.microsoft.com/office/drawing/2014/main" id="{904AB782-EA23-4E4B-9915-D9A394CD6B3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Tree>
    <p:extLst>
      <p:ext uri="{BB962C8B-B14F-4D97-AF65-F5344CB8AC3E}">
        <p14:creationId xmlns:p14="http://schemas.microsoft.com/office/powerpoint/2010/main" val="389185362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prstGeom prst="rect">
            <a:avLst/>
          </a:prstGeo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3" y="4800600"/>
            <a:ext cx="5714998" cy="4114800"/>
          </a:xfrm>
          <a:prstGeom prst="rect">
            <a:avLst/>
          </a:prstGeom>
          <a:solidFill>
            <a:schemeClr val="bg1"/>
          </a:solidFill>
        </p:spPr>
        <p:txBody>
          <a:bodyPr vert="horz" lIns="182880" tIns="137160" rIns="18288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2"/>
                </a:solidFill>
              </a:defRPr>
            </a:lvl1pPr>
          </a:lstStyle>
          <a:p>
            <a:pPr marL="0" lvl="0" indent="0">
              <a:spcAft>
                <a:spcPts val="3000"/>
              </a:spcAft>
              <a:buFont typeface="Arial" panose="020B0604020202020204" pitchFamily="34" charset="0"/>
            </a:pPr>
            <a:r>
              <a:rPr lang="en-US"/>
              <a:t>Click to edit Master title style</a:t>
            </a:r>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0" name="Graphic 9">
            <a:extLst>
              <a:ext uri="{FF2B5EF4-FFF2-40B4-BE49-F238E27FC236}">
                <a16:creationId xmlns:a16="http://schemas.microsoft.com/office/drawing/2014/main" id="{D97CAA73-BE46-614E-9C41-8AF7FB50184C}"/>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A4D9BADF-324E-5B4F-A422-61F7145DA2D8}"/>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700835EC-3A47-8644-806F-A3840BA3472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73906472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4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prstGeom prst="rect">
            <a:avLst/>
          </a:prstGeom>
          <a:solidFill>
            <a:schemeClr val="bg1">
              <a:lumMod val="75000"/>
            </a:schemeClr>
          </a:solidFill>
        </p:spPr>
        <p:txBody>
          <a:bodyPr vert="horz" lIns="365760" tIns="0" rIns="0" bIns="0" rtlCol="0">
            <a:noAutofit/>
          </a:bodyPr>
          <a:lstStyle>
            <a:lvl1pPr>
              <a:defRPr lang="en-US" noProof="0" dirty="0"/>
            </a:lvl1pPr>
          </a:lstStyle>
          <a:p>
            <a:pPr marR="0" lvl="0" fontAlgn="auto">
              <a:buSzTx/>
              <a:tabLst/>
            </a:pPr>
            <a:r>
              <a:rPr kumimoji="0" lang="en-US" sz="3600" b="0" i="0" u="none" strike="noStrike" kern="1200" cap="none" spc="0" normalizeH="0" baseline="0" noProof="0">
                <a:ln>
                  <a:noFill/>
                </a:ln>
                <a:solidFill>
                  <a:prstClr val="black"/>
                </a:solidFill>
                <a:effectLst/>
                <a:uLnTx/>
                <a:uFillTx/>
                <a:latin typeface="+mn-lt"/>
                <a:ea typeface="+mn-ea"/>
                <a:cs typeface="+mn-cs"/>
              </a:rPr>
              <a:t>Click icon in the center of the slide to add picture</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92000"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2"/>
                </a:solidFill>
              </a:defRPr>
            </a:lvl1pPr>
          </a:lstStyle>
          <a:p>
            <a:pPr marL="0" lvl="0" indent="0">
              <a:spcAft>
                <a:spcPts val="3000"/>
              </a:spcAft>
              <a:buFont typeface="Arial" panose="020B0604020202020204" pitchFamily="34" charset="0"/>
            </a:pPr>
            <a:r>
              <a:rPr lang="en-US"/>
              <a:t>Click to edit Master title style</a:t>
            </a:r>
          </a:p>
        </p:txBody>
      </p:sp>
      <p:sp>
        <p:nvSpPr>
          <p:cNvPr id="5" name="Content Placeholder 4">
            <a:extLst>
              <a:ext uri="{FF2B5EF4-FFF2-40B4-BE49-F238E27FC236}">
                <a16:creationId xmlns:a16="http://schemas.microsoft.com/office/drawing/2014/main" id="{A1FC5E1F-F93B-45F5-A1E9-06CBE05062C0}"/>
              </a:ext>
            </a:extLst>
          </p:cNvPr>
          <p:cNvSpPr>
            <a:spLocks noGrp="1"/>
          </p:cNvSpPr>
          <p:nvPr>
            <p:ph sz="quarter" idx="13"/>
          </p:nvPr>
        </p:nvSpPr>
        <p:spPr>
          <a:xfrm>
            <a:off x="17945100" y="4800600"/>
            <a:ext cx="5715000" cy="4180632"/>
          </a:xfrm>
          <a:prstGeom prst="rect">
            <a:avLst/>
          </a:prstGeom>
          <a:solidFill>
            <a:schemeClr val="bg1"/>
          </a:solidFill>
        </p:spPr>
        <p:txBody>
          <a:bodyPr tIns="137160" rIns="18288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Graphic 8">
            <a:extLst>
              <a:ext uri="{FF2B5EF4-FFF2-40B4-BE49-F238E27FC236}">
                <a16:creationId xmlns:a16="http://schemas.microsoft.com/office/drawing/2014/main" id="{541E3877-4B41-9F45-BD42-A1FE25C7E33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E9B603E0-8FA9-9847-B36F-F5BA639FA393}"/>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343FC31D-21A8-9944-9030-294192AB357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78242779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Call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731692-D7FB-43A5-9242-6381F710CEE4}"/>
              </a:ext>
            </a:extLst>
          </p:cNvPr>
          <p:cNvSpPr/>
          <p:nvPr userDrawn="1"/>
        </p:nvSpPr>
        <p:spPr bwMode="white">
          <a:xfrm>
            <a:off x="17945100" y="0"/>
            <a:ext cx="64389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8452592" y="621793"/>
            <a:ext cx="5202936" cy="2572435"/>
          </a:xfrm>
          <a:prstGeom prst="rect">
            <a:avLst/>
          </a:prstGeom>
        </p:spPr>
        <p:txBody>
          <a:bodyPr vert="horz" lIns="0" tIns="0" rIns="0" bIns="0" rtlCol="0">
            <a:spAutoFit/>
          </a:bodyPr>
          <a:lstStyle>
            <a:lvl1pPr marL="0" indent="0">
              <a:lnSpc>
                <a:spcPct val="110000"/>
              </a:lnSpc>
              <a:buNone/>
              <a:defRPr lang="en-US" sz="5200" dirty="0">
                <a:ln w="3175">
                  <a:noFill/>
                </a:ln>
                <a:solidFill>
                  <a:schemeClr val="bg1"/>
                </a:solidFill>
              </a:defRPr>
            </a:lvl1pPr>
          </a:lstStyle>
          <a:p>
            <a:pPr lvl="0" fontAlgn="base">
              <a:spcAft>
                <a:spcPts val="5250"/>
              </a:spcAft>
            </a:pPr>
            <a:r>
              <a:rPr lang="en-US"/>
              <a:t>Additional information if needed</a:t>
            </a:r>
          </a:p>
        </p:txBody>
      </p:sp>
      <p:sp>
        <p:nvSpPr>
          <p:cNvPr id="12" name="Text Placeholder 11">
            <a:extLst>
              <a:ext uri="{FF2B5EF4-FFF2-40B4-BE49-F238E27FC236}">
                <a16:creationId xmlns:a16="http://schemas.microsoft.com/office/drawing/2014/main" id="{C7C1E554-861B-49F4-AA38-891CFFC9B9FC}"/>
              </a:ext>
            </a:extLst>
          </p:cNvPr>
          <p:cNvSpPr>
            <a:spLocks noGrp="1"/>
          </p:cNvSpPr>
          <p:nvPr>
            <p:ph type="body" sz="quarter" idx="14" hasCustomPrompt="1"/>
          </p:nvPr>
        </p:nvSpPr>
        <p:spPr>
          <a:xfrm>
            <a:off x="723903" y="400053"/>
            <a:ext cx="16935450" cy="1928990"/>
          </a:xfrm>
          <a:prstGeom prst="rect">
            <a:avLst/>
          </a:prstGeom>
        </p:spPr>
        <p:txBody>
          <a:bodyPr lIns="0">
            <a:spAutoFit/>
          </a:bodyPr>
          <a:lstStyle>
            <a:lvl1pPr marL="0" indent="0">
              <a:buFont typeface="Arial" panose="020B0604020202020204" pitchFamily="34" charset="0"/>
              <a:buNone/>
              <a:defRPr lang="en-US" sz="13400" kern="1200" dirty="0">
                <a:ln w="38100">
                  <a:noFill/>
                </a:ln>
                <a:solidFill>
                  <a:schemeClr val="bg1"/>
                </a:solidFill>
                <a:latin typeface="+mj-lt"/>
                <a:ea typeface="+mj-ea"/>
                <a:cs typeface="+mj-cs"/>
              </a:defRPr>
            </a:lvl1pPr>
          </a:lstStyle>
          <a:p>
            <a:pPr marL="285750" lvl="0" indent="-285750" fontAlgn="b">
              <a:lnSpc>
                <a:spcPct val="112000"/>
              </a:lnSpc>
              <a:spcBef>
                <a:spcPct val="0"/>
              </a:spcBef>
            </a:pPr>
            <a:r>
              <a:rPr lang="en-US"/>
              <a:t>Callout slide</a:t>
            </a:r>
          </a:p>
        </p:txBody>
      </p:sp>
      <p:sp>
        <p:nvSpPr>
          <p:cNvPr id="11" name="Footer Placeholder 4">
            <a:extLst>
              <a:ext uri="{FF2B5EF4-FFF2-40B4-BE49-F238E27FC236}">
                <a16:creationId xmlns:a16="http://schemas.microsoft.com/office/drawing/2014/main" id="{9FD5F880-4836-C449-9783-CE04F8417CA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A2F629D-4995-C54F-9A64-51737169A442}"/>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pic>
        <p:nvPicPr>
          <p:cNvPr id="8" name="Graphic 7">
            <a:extLst>
              <a:ext uri="{FF2B5EF4-FFF2-40B4-BE49-F238E27FC236}">
                <a16:creationId xmlns:a16="http://schemas.microsoft.com/office/drawing/2014/main" id="{E4CAF95C-E5AE-C248-B874-0BFED819A78A}"/>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Tree>
    <p:extLst>
      <p:ext uri="{BB962C8B-B14F-4D97-AF65-F5344CB8AC3E}">
        <p14:creationId xmlns:p14="http://schemas.microsoft.com/office/powerpoint/2010/main" val="4083925110"/>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731692-D7FB-43A5-9242-6381F710CEE4}"/>
              </a:ext>
            </a:extLst>
          </p:cNvPr>
          <p:cNvSpPr/>
          <p:nvPr userDrawn="1"/>
        </p:nvSpPr>
        <p:spPr bwMode="white">
          <a:xfrm>
            <a:off x="17945100" y="0"/>
            <a:ext cx="6438900" cy="13716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Content Placeholder 7">
            <a:extLst>
              <a:ext uri="{FF2B5EF4-FFF2-40B4-BE49-F238E27FC236}">
                <a16:creationId xmlns:a16="http://schemas.microsoft.com/office/drawing/2014/main" id="{6CA01019-F071-4E1A-99E8-170815F58D79}"/>
              </a:ext>
            </a:extLst>
          </p:cNvPr>
          <p:cNvSpPr>
            <a:spLocks noGrp="1"/>
          </p:cNvSpPr>
          <p:nvPr>
            <p:ph sz="quarter" idx="15" hasCustomPrompt="1"/>
          </p:nvPr>
        </p:nvSpPr>
        <p:spPr>
          <a:xfrm>
            <a:off x="18440399" y="628653"/>
            <a:ext cx="5238750" cy="2640722"/>
          </a:xfrm>
          <a:prstGeom prst="rect">
            <a:avLst/>
          </a:prstGeom>
        </p:spPr>
        <p:txBody>
          <a:bodyPr lIns="0">
            <a:spAutoFit/>
          </a:bodyPr>
          <a:lstStyle>
            <a:lvl1pPr marL="0" indent="0">
              <a:lnSpc>
                <a:spcPct val="110000"/>
              </a:lnSpc>
              <a:buNone/>
              <a:defRPr sz="5200">
                <a:solidFill>
                  <a:schemeClr val="bg1"/>
                </a:solidFill>
              </a:defRPr>
            </a:lvl1pPr>
            <a:lvl2pPr marL="566736" indent="0">
              <a:buNone/>
              <a:defRPr sz="5200">
                <a:solidFill>
                  <a:schemeClr val="bg1"/>
                </a:solidFill>
              </a:defRPr>
            </a:lvl2pPr>
            <a:lvl3pPr marL="1133474" indent="0">
              <a:buNone/>
              <a:defRPr sz="5200">
                <a:solidFill>
                  <a:schemeClr val="bg1"/>
                </a:solidFill>
              </a:defRPr>
            </a:lvl3pPr>
            <a:lvl4pPr marL="1700212" indent="0">
              <a:buNone/>
              <a:defRPr sz="5200">
                <a:solidFill>
                  <a:schemeClr val="bg1"/>
                </a:solidFill>
              </a:defRPr>
            </a:lvl4pPr>
            <a:lvl5pPr marL="2266950" indent="0">
              <a:buNone/>
              <a:defRPr sz="5200">
                <a:solidFill>
                  <a:schemeClr val="bg1"/>
                </a:solidFill>
              </a:defRPr>
            </a:lvl5pPr>
          </a:lstStyle>
          <a:p>
            <a:pPr lvl="0"/>
            <a:r>
              <a:rPr lang="en-US"/>
              <a:t>Additional information if needed</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hasCustomPrompt="1"/>
          </p:nvPr>
        </p:nvSpPr>
        <p:spPr>
          <a:xfrm>
            <a:off x="585219" y="393193"/>
            <a:ext cx="17192098" cy="1928990"/>
          </a:xfrm>
          <a:prstGeom prst="rect">
            <a:avLst/>
          </a:prstGeom>
          <a:ln w="12700">
            <a:noFill/>
          </a:ln>
        </p:spPr>
        <p:txBody>
          <a:bodyPr vert="horz" lIns="0" tIns="0" rIns="0" bIns="0" rtlCol="0" anchor="t" anchorCtr="0">
            <a:spAutoFit/>
          </a:bodyPr>
          <a:lstStyle>
            <a:lvl1pPr marL="0" indent="0">
              <a:buNone/>
              <a:defRPr lang="en-US" sz="13400" i="1" dirty="0">
                <a:ln w="38100">
                  <a:noFill/>
                </a:ln>
                <a:solidFill>
                  <a:schemeClr val="bg1"/>
                </a:solidFill>
                <a:latin typeface="+mj-lt"/>
                <a:ea typeface="+mj-ea"/>
                <a:cs typeface="+mj-cs"/>
              </a:defRPr>
            </a:lvl1pPr>
          </a:lstStyle>
          <a:p>
            <a:pPr marL="285750" lvl="0" indent="-285750" fontAlgn="b">
              <a:lnSpc>
                <a:spcPct val="112000"/>
              </a:lnSpc>
              <a:spcBef>
                <a:spcPct val="0"/>
              </a:spcBef>
            </a:pPr>
            <a:r>
              <a:rPr lang="en-US"/>
              <a:t>“Quote” slide</a:t>
            </a:r>
          </a:p>
        </p:txBody>
      </p:sp>
      <p:sp>
        <p:nvSpPr>
          <p:cNvPr id="6" name="Text Placeholder 5">
            <a:extLst>
              <a:ext uri="{FF2B5EF4-FFF2-40B4-BE49-F238E27FC236}">
                <a16:creationId xmlns:a16="http://schemas.microsoft.com/office/drawing/2014/main" id="{3044BCD3-75F2-9749-A1BD-AE47F442AD56}"/>
              </a:ext>
            </a:extLst>
          </p:cNvPr>
          <p:cNvSpPr>
            <a:spLocks noGrp="1"/>
          </p:cNvSpPr>
          <p:nvPr>
            <p:ph type="body" sz="quarter" idx="14" hasCustomPrompt="1"/>
          </p:nvPr>
        </p:nvSpPr>
        <p:spPr>
          <a:xfrm>
            <a:off x="690774" y="10814036"/>
            <a:ext cx="17106900" cy="553998"/>
          </a:xfrm>
          <a:prstGeom prst="rect">
            <a:avLst/>
          </a:prstGeom>
        </p:spPr>
        <p:txBody>
          <a:bodyPr vert="horz" lIns="0" tIns="0" rIns="0" bIns="0" rtlCol="0">
            <a:spAutoFit/>
          </a:bodyPr>
          <a:lstStyle>
            <a:lvl1pPr marL="0" indent="0">
              <a:buNone/>
              <a:defRPr lang="en-US" sz="3600" smtClean="0">
                <a:solidFill>
                  <a:schemeClr val="bg1"/>
                </a:solidFill>
              </a:defRPr>
            </a:lvl1pPr>
            <a:lvl2pPr>
              <a:defRPr lang="en-US" smtClean="0"/>
            </a:lvl2pPr>
            <a:lvl3pPr>
              <a:defRPr lang="en-US" smtClean="0"/>
            </a:lvl3pPr>
            <a:lvl4pPr>
              <a:defRPr lang="en-US" smtClean="0"/>
            </a:lvl4pPr>
            <a:lvl5pPr>
              <a:defRPr lang="en-US"/>
            </a:lvl5pPr>
          </a:lstStyle>
          <a:p>
            <a:pPr marL="285750" lvl="0" indent="-285750"/>
            <a:r>
              <a:rPr lang="en-US"/>
              <a:t>Quote Source (Name)</a:t>
            </a:r>
          </a:p>
        </p:txBody>
      </p:sp>
      <p:pic>
        <p:nvPicPr>
          <p:cNvPr id="9" name="Graphic 8">
            <a:extLst>
              <a:ext uri="{FF2B5EF4-FFF2-40B4-BE49-F238E27FC236}">
                <a16:creationId xmlns:a16="http://schemas.microsoft.com/office/drawing/2014/main" id="{B8B09FA7-0368-CA42-9C8A-2E48C9D933B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336C8641-33A4-5C4F-9DA7-173CE0A5090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4536EE17-66CB-DB42-BBD8-8F288A5837A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28250370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Single Column - Re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2F422BAE-8942-5945-8107-A11B1B5BB162}"/>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79117891-6452-0048-963A-6E5C5F95F905}"/>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
        <p:nvSpPr>
          <p:cNvPr id="19" name="Text Placeholder 6">
            <a:extLst>
              <a:ext uri="{FF2B5EF4-FFF2-40B4-BE49-F238E27FC236}">
                <a16:creationId xmlns:a16="http://schemas.microsoft.com/office/drawing/2014/main" id="{FD62A0E5-A248-554A-A834-720A8AF128B8}"/>
              </a:ext>
            </a:extLst>
          </p:cNvPr>
          <p:cNvSpPr>
            <a:spLocks noGrp="1"/>
          </p:cNvSpPr>
          <p:nvPr>
            <p:ph type="body" sz="quarter" idx="23"/>
          </p:nvPr>
        </p:nvSpPr>
        <p:spPr>
          <a:xfrm>
            <a:off x="6477000" y="621793"/>
            <a:ext cx="17154144" cy="3488134"/>
          </a:xfrm>
          <a:prstGeom prst="rect">
            <a:avLst/>
          </a:prstGeom>
        </p:spPr>
        <p:txBody>
          <a:bodyPr lIns="182880">
            <a:spAutoFit/>
          </a:bodyPr>
          <a:lstStyle>
            <a:lvl1pPr marL="285750" marR="0" indent="-285750"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5346141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Image Slide - case study">
    <p:spTree>
      <p:nvGrpSpPr>
        <p:cNvPr id="1" name=""/>
        <p:cNvGrpSpPr/>
        <p:nvPr/>
      </p:nvGrpSpPr>
      <p:grpSpPr>
        <a:xfrm>
          <a:off x="0" y="0"/>
          <a:ext cx="0" cy="0"/>
          <a:chOff x="0" y="0"/>
          <a:chExt cx="0" cy="0"/>
        </a:xfrm>
      </p:grpSpPr>
      <p:sp>
        <p:nvSpPr>
          <p:cNvPr id="11" name="Picture Placeholder 4">
            <a:extLst>
              <a:ext uri="{FF2B5EF4-FFF2-40B4-BE49-F238E27FC236}">
                <a16:creationId xmlns:a16="http://schemas.microsoft.com/office/drawing/2014/main" id="{7C7733D8-84F1-0447-9A12-FCC275403537}"/>
              </a:ext>
            </a:extLst>
          </p:cNvPr>
          <p:cNvSpPr>
            <a:spLocks noGrp="1"/>
          </p:cNvSpPr>
          <p:nvPr>
            <p:ph type="pic" sz="quarter" idx="18" hasCustomPrompt="1"/>
          </p:nvPr>
        </p:nvSpPr>
        <p:spPr>
          <a:xfrm>
            <a:off x="14538706" y="0"/>
            <a:ext cx="9838944" cy="553998"/>
          </a:xfrm>
          <a:prstGeom prst="rect">
            <a:avLst/>
          </a:prstGeom>
        </p:spPr>
        <p:txBody>
          <a:bodyPr/>
          <a:lstStyle>
            <a:lvl1pPr marL="0" marR="0" indent="0"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None/>
              <a:tabLst/>
              <a:defRPr/>
            </a:lvl1pPr>
          </a:lstStyle>
          <a:p>
            <a:pPr marL="285750" marR="0" lvl="0" indent="-285750"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pPr>
            <a:r>
              <a:rPr lang="en-US"/>
              <a:t>Image Size: 5.38” x 7.5”</a:t>
            </a:r>
          </a:p>
        </p:txBody>
      </p:sp>
      <p:sp>
        <p:nvSpPr>
          <p:cNvPr id="9" name="Picture Placeholder 8">
            <a:extLst>
              <a:ext uri="{FF2B5EF4-FFF2-40B4-BE49-F238E27FC236}">
                <a16:creationId xmlns:a16="http://schemas.microsoft.com/office/drawing/2014/main" id="{F8BB2227-3D4D-4CC6-A74E-E59F4C42E1E7}"/>
              </a:ext>
            </a:extLst>
          </p:cNvPr>
          <p:cNvSpPr>
            <a:spLocks noGrp="1"/>
          </p:cNvSpPr>
          <p:nvPr>
            <p:ph type="pic" sz="quarter" idx="17" hasCustomPrompt="1"/>
          </p:nvPr>
        </p:nvSpPr>
        <p:spPr>
          <a:xfrm>
            <a:off x="10659995" y="12497521"/>
            <a:ext cx="3333750" cy="553998"/>
          </a:xfrm>
          <a:prstGeom prst="rect">
            <a:avLst/>
          </a:prstGeom>
        </p:spPr>
        <p:txBody>
          <a:bodyPr anchor="ctr" anchorCtr="0"/>
          <a:lstStyle>
            <a:lvl1pPr marL="0" indent="0" algn="ctr">
              <a:buNone/>
              <a:defRPr b="0">
                <a:solidFill>
                  <a:schemeClr val="tx1"/>
                </a:solidFill>
                <a:highlight>
                  <a:srgbClr val="FFFF00"/>
                </a:highlight>
              </a:defRPr>
            </a:lvl1pPr>
          </a:lstStyle>
          <a:p>
            <a:r>
              <a:rPr lang="en-US"/>
              <a:t>LOGO</a:t>
            </a:r>
          </a:p>
        </p:txBody>
      </p:sp>
      <p:pic>
        <p:nvPicPr>
          <p:cNvPr id="5" name="Graphic 4">
            <a:extLst>
              <a:ext uri="{FF2B5EF4-FFF2-40B4-BE49-F238E27FC236}">
                <a16:creationId xmlns:a16="http://schemas.microsoft.com/office/drawing/2014/main" id="{A69AB107-F3A5-DE49-9656-1D28E392B3E3}"/>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Tree>
    <p:extLst>
      <p:ext uri="{BB962C8B-B14F-4D97-AF65-F5344CB8AC3E}">
        <p14:creationId xmlns:p14="http://schemas.microsoft.com/office/powerpoint/2010/main" val="2301071495"/>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Single Column - Pur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2" name="Graphic 11">
            <a:extLst>
              <a:ext uri="{FF2B5EF4-FFF2-40B4-BE49-F238E27FC236}">
                <a16:creationId xmlns:a16="http://schemas.microsoft.com/office/drawing/2014/main" id="{855C35C3-B5B3-484A-A7C7-CDC7F3EAC55A}"/>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C71E9504-2C71-DF49-8C52-11EB893E6931}"/>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67AAD467-AB33-084D-85C9-C24EC0BEEE68}"/>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
        <p:nvSpPr>
          <p:cNvPr id="13" name="Text Placeholder 6">
            <a:extLst>
              <a:ext uri="{FF2B5EF4-FFF2-40B4-BE49-F238E27FC236}">
                <a16:creationId xmlns:a16="http://schemas.microsoft.com/office/drawing/2014/main" id="{B48B9AFD-8D2A-7742-85F5-9C9AA8908214}"/>
              </a:ext>
            </a:extLst>
          </p:cNvPr>
          <p:cNvSpPr>
            <a:spLocks noGrp="1"/>
          </p:cNvSpPr>
          <p:nvPr>
            <p:ph type="body" sz="quarter" idx="23"/>
          </p:nvPr>
        </p:nvSpPr>
        <p:spPr>
          <a:xfrm>
            <a:off x="6477000" y="621793"/>
            <a:ext cx="17154144" cy="3488134"/>
          </a:xfrm>
          <a:prstGeom prst="rect">
            <a:avLst/>
          </a:prstGeom>
        </p:spPr>
        <p:txBody>
          <a:bodyPr lIns="182880">
            <a:spAutoFit/>
          </a:bodyPr>
          <a:lstStyle>
            <a:lvl1pPr marL="285750" marR="0" indent="-285750"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3184089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Single Column - Blu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a:prstGeom prst="rect">
            <a:avLst/>
          </a:prstGeo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sp>
        <p:nvSpPr>
          <p:cNvPr id="10" name="Text Placeholder 2">
            <a:extLst>
              <a:ext uri="{FF2B5EF4-FFF2-40B4-BE49-F238E27FC236}">
                <a16:creationId xmlns:a16="http://schemas.microsoft.com/office/drawing/2014/main" id="{D4D50CFA-DD46-479A-871F-605CCAC6B671}"/>
              </a:ext>
            </a:extLst>
          </p:cNvPr>
          <p:cNvSpPr>
            <a:spLocks noGrp="1"/>
          </p:cNvSpPr>
          <p:nvPr>
            <p:ph idx="1"/>
          </p:nvPr>
        </p:nvSpPr>
        <p:spPr>
          <a:xfrm>
            <a:off x="6477003" y="624971"/>
            <a:ext cx="17160602" cy="3488134"/>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1" name="Graphic 10">
            <a:extLst>
              <a:ext uri="{FF2B5EF4-FFF2-40B4-BE49-F238E27FC236}">
                <a16:creationId xmlns:a16="http://schemas.microsoft.com/office/drawing/2014/main" id="{85D6DF84-7473-9D43-9A0F-FDEC9041151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48748410-6EFE-A249-927D-70B7A0DF1CE2}"/>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5" name="Slide Number Placeholder 5">
            <a:extLst>
              <a:ext uri="{FF2B5EF4-FFF2-40B4-BE49-F238E27FC236}">
                <a16:creationId xmlns:a16="http://schemas.microsoft.com/office/drawing/2014/main" id="{9FF8626B-572A-5841-BDEC-6538B51FA2A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74523916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matchingName="Title">
  <p:cSld name="Title">
    <p:bg>
      <p:bgPr>
        <a:solidFill>
          <a:schemeClr val="lt1"/>
        </a:solidFill>
        <a:effectLst/>
      </p:bgPr>
    </p:bg>
    <p:spTree>
      <p:nvGrpSpPr>
        <p:cNvPr id="1" name="Shape 13"/>
        <p:cNvGrpSpPr/>
        <p:nvPr/>
      </p:nvGrpSpPr>
      <p:grpSpPr>
        <a:xfrm>
          <a:off x="0" y="0"/>
          <a:ext cx="0" cy="0"/>
          <a:chOff x="0" y="0"/>
          <a:chExt cx="0" cy="0"/>
        </a:xfrm>
      </p:grpSpPr>
      <p:pic>
        <p:nvPicPr>
          <p:cNvPr id="14" name="Google Shape;14;p12"/>
          <p:cNvPicPr preferRelativeResize="0"/>
          <p:nvPr/>
        </p:nvPicPr>
        <p:blipFill rotWithShape="1">
          <a:blip r:embed="rId2">
            <a:alphaModFix/>
          </a:blip>
          <a:srcRect/>
          <a:stretch/>
        </p:blipFill>
        <p:spPr>
          <a:xfrm>
            <a:off x="1099629" y="11937201"/>
            <a:ext cx="4304950" cy="1334534"/>
          </a:xfrm>
          <a:prstGeom prst="rect">
            <a:avLst/>
          </a:prstGeom>
          <a:noFill/>
          <a:ln>
            <a:noFill/>
          </a:ln>
        </p:spPr>
      </p:pic>
      <p:sp>
        <p:nvSpPr>
          <p:cNvPr id="15" name="Google Shape;15;p12"/>
          <p:cNvSpPr txBox="1">
            <a:spLocks noGrp="1"/>
          </p:cNvSpPr>
          <p:nvPr>
            <p:ph type="body" idx="1"/>
          </p:nvPr>
        </p:nvSpPr>
        <p:spPr>
          <a:xfrm>
            <a:off x="1101601" y="9020336"/>
            <a:ext cx="11088118" cy="507831"/>
          </a:xfrm>
          <a:prstGeom prst="rect">
            <a:avLst/>
          </a:prstGeom>
          <a:noFill/>
          <a:ln>
            <a:noFill/>
          </a:ln>
        </p:spPr>
        <p:txBody>
          <a:bodyPr spcFirstLastPara="1" wrap="square" lIns="0" tIns="0" rIns="0" bIns="0" anchor="t" anchorCtr="0">
            <a:spAutoFit/>
          </a:bodyPr>
          <a:lstStyle>
            <a:lvl1pPr marL="914400" lvl="0" indent="-635000" algn="l">
              <a:lnSpc>
                <a:spcPct val="100000"/>
              </a:lnSpc>
              <a:spcBef>
                <a:spcPts val="600"/>
              </a:spcBef>
              <a:spcAft>
                <a:spcPts val="0"/>
              </a:spcAft>
              <a:buClr>
                <a:schemeClr val="dk1"/>
              </a:buClr>
              <a:buSzPts val="1400"/>
              <a:buChar char="​"/>
              <a:defRPr sz="2800"/>
            </a:lvl1pPr>
            <a:lvl2pPr marL="1828800" lvl="1" indent="-708660" algn="l">
              <a:lnSpc>
                <a:spcPct val="100000"/>
              </a:lnSpc>
              <a:spcBef>
                <a:spcPts val="600"/>
              </a:spcBef>
              <a:spcAft>
                <a:spcPts val="0"/>
              </a:spcAft>
              <a:buClr>
                <a:schemeClr val="dk1"/>
              </a:buClr>
              <a:buSzPts val="1980"/>
              <a:buChar char="•"/>
              <a:defRPr/>
            </a:lvl2pPr>
            <a:lvl3pPr marL="2743200" lvl="2" indent="-708660" algn="l">
              <a:lnSpc>
                <a:spcPct val="100000"/>
              </a:lnSpc>
              <a:spcBef>
                <a:spcPts val="600"/>
              </a:spcBef>
              <a:spcAft>
                <a:spcPts val="0"/>
              </a:spcAft>
              <a:buClr>
                <a:schemeClr val="dk1"/>
              </a:buClr>
              <a:buSzPts val="1980"/>
              <a:buChar char="‒"/>
              <a:defRPr/>
            </a:lvl3pPr>
            <a:lvl4pPr marL="3657600" lvl="3" indent="-685800" algn="l">
              <a:lnSpc>
                <a:spcPct val="100000"/>
              </a:lnSpc>
              <a:spcBef>
                <a:spcPts val="600"/>
              </a:spcBef>
              <a:spcAft>
                <a:spcPts val="0"/>
              </a:spcAft>
              <a:buClr>
                <a:schemeClr val="dk1"/>
              </a:buClr>
              <a:buSzPts val="1800"/>
              <a:buChar char="•"/>
              <a:defRPr/>
            </a:lvl4pPr>
            <a:lvl5pPr marL="4572000" lvl="4" indent="-685800" algn="l">
              <a:lnSpc>
                <a:spcPct val="100000"/>
              </a:lnSpc>
              <a:spcBef>
                <a:spcPts val="600"/>
              </a:spcBef>
              <a:spcAft>
                <a:spcPts val="0"/>
              </a:spcAft>
              <a:buClr>
                <a:schemeClr val="dk1"/>
              </a:buClr>
              <a:buSzPts val="1800"/>
              <a:buChar char="̶"/>
              <a:defRPr/>
            </a:lvl5pPr>
            <a:lvl6pPr marL="5486400" lvl="5" indent="-685800" algn="l">
              <a:lnSpc>
                <a:spcPct val="100000"/>
              </a:lnSpc>
              <a:spcBef>
                <a:spcPts val="600"/>
              </a:spcBef>
              <a:spcAft>
                <a:spcPts val="0"/>
              </a:spcAft>
              <a:buClr>
                <a:schemeClr val="dk1"/>
              </a:buClr>
              <a:buSzPts val="1800"/>
              <a:buChar char="▫"/>
              <a:defRPr/>
            </a:lvl6pPr>
            <a:lvl7pPr marL="6400800" lvl="6" indent="-685800" algn="l">
              <a:lnSpc>
                <a:spcPct val="100000"/>
              </a:lnSpc>
              <a:spcBef>
                <a:spcPts val="600"/>
              </a:spcBef>
              <a:spcAft>
                <a:spcPts val="0"/>
              </a:spcAft>
              <a:buClr>
                <a:schemeClr val="dk1"/>
              </a:buClr>
              <a:buSzPts val="1800"/>
              <a:buChar char="▫"/>
              <a:defRPr/>
            </a:lvl7pPr>
            <a:lvl8pPr marL="7315200" lvl="7" indent="-685800" algn="l">
              <a:lnSpc>
                <a:spcPct val="100000"/>
              </a:lnSpc>
              <a:spcBef>
                <a:spcPts val="600"/>
              </a:spcBef>
              <a:spcAft>
                <a:spcPts val="0"/>
              </a:spcAft>
              <a:buClr>
                <a:schemeClr val="dk1"/>
              </a:buClr>
              <a:buSzPts val="1800"/>
              <a:buChar char="▫"/>
              <a:defRPr/>
            </a:lvl8pPr>
            <a:lvl9pPr marL="8229600" lvl="8" indent="-685800" algn="l">
              <a:lnSpc>
                <a:spcPct val="100000"/>
              </a:lnSpc>
              <a:spcBef>
                <a:spcPts val="600"/>
              </a:spcBef>
              <a:spcAft>
                <a:spcPts val="600"/>
              </a:spcAft>
              <a:buClr>
                <a:schemeClr val="dk1"/>
              </a:buClr>
              <a:buSzPts val="1800"/>
              <a:buChar char="▫"/>
              <a:defRPr/>
            </a:lvl9pPr>
          </a:lstStyle>
          <a:p>
            <a:endParaRPr/>
          </a:p>
        </p:txBody>
      </p:sp>
      <p:sp>
        <p:nvSpPr>
          <p:cNvPr id="16" name="Google Shape;16;p12"/>
          <p:cNvSpPr txBox="1">
            <a:spLocks noGrp="1"/>
          </p:cNvSpPr>
          <p:nvPr>
            <p:ph type="subTitle" idx="2"/>
          </p:nvPr>
        </p:nvSpPr>
        <p:spPr>
          <a:xfrm>
            <a:off x="1103883" y="8185119"/>
            <a:ext cx="11088118" cy="692497"/>
          </a:xfrm>
          <a:prstGeom prst="rect">
            <a:avLst/>
          </a:prstGeom>
          <a:noFill/>
          <a:ln>
            <a:noFill/>
          </a:ln>
        </p:spPr>
        <p:txBody>
          <a:bodyPr spcFirstLastPara="1" wrap="square" lIns="0" tIns="0" rIns="0" bIns="0" anchor="t" anchorCtr="0">
            <a:spAutoFit/>
          </a:bodyPr>
          <a:lstStyle>
            <a:lvl1pPr lvl="0" algn="l">
              <a:lnSpc>
                <a:spcPct val="100000"/>
              </a:lnSpc>
              <a:spcBef>
                <a:spcPts val="600"/>
              </a:spcBef>
              <a:spcAft>
                <a:spcPts val="0"/>
              </a:spcAft>
              <a:buClr>
                <a:schemeClr val="dk1"/>
              </a:buClr>
              <a:buSzPts val="2000"/>
              <a:buChar char="​"/>
              <a:defRPr sz="4000"/>
            </a:lvl1pPr>
            <a:lvl2pPr lvl="1" algn="l">
              <a:lnSpc>
                <a:spcPct val="100000"/>
              </a:lnSpc>
              <a:spcBef>
                <a:spcPts val="600"/>
              </a:spcBef>
              <a:spcAft>
                <a:spcPts val="0"/>
              </a:spcAft>
              <a:buClr>
                <a:schemeClr val="dk1"/>
              </a:buClr>
              <a:buSzPts val="1980"/>
              <a:buChar char="•"/>
              <a:defRPr/>
            </a:lvl2pPr>
            <a:lvl3pPr lvl="2" algn="l">
              <a:lnSpc>
                <a:spcPct val="100000"/>
              </a:lnSpc>
              <a:spcBef>
                <a:spcPts val="600"/>
              </a:spcBef>
              <a:spcAft>
                <a:spcPts val="0"/>
              </a:spcAft>
              <a:buClr>
                <a:schemeClr val="dk1"/>
              </a:buClr>
              <a:buSzPts val="1980"/>
              <a:buChar char="‒"/>
              <a:defRPr/>
            </a:lvl3pPr>
            <a:lvl4pPr lvl="3" algn="l">
              <a:lnSpc>
                <a:spcPct val="100000"/>
              </a:lnSpc>
              <a:spcBef>
                <a:spcPts val="600"/>
              </a:spcBef>
              <a:spcAft>
                <a:spcPts val="0"/>
              </a:spcAft>
              <a:buClr>
                <a:schemeClr val="dk1"/>
              </a:buClr>
              <a:buSzPts val="1800"/>
              <a:buChar char="•"/>
              <a:defRPr/>
            </a:lvl4pPr>
            <a:lvl5pPr lvl="4" algn="l">
              <a:lnSpc>
                <a:spcPct val="100000"/>
              </a:lnSpc>
              <a:spcBef>
                <a:spcPts val="600"/>
              </a:spcBef>
              <a:spcAft>
                <a:spcPts val="0"/>
              </a:spcAft>
              <a:buClr>
                <a:schemeClr val="dk1"/>
              </a:buClr>
              <a:buSzPts val="1800"/>
              <a:buChar char="̶"/>
              <a:defRPr/>
            </a:lvl5pPr>
            <a:lvl6pPr lvl="5" algn="l">
              <a:lnSpc>
                <a:spcPct val="100000"/>
              </a:lnSpc>
              <a:spcBef>
                <a:spcPts val="600"/>
              </a:spcBef>
              <a:spcAft>
                <a:spcPts val="0"/>
              </a:spcAft>
              <a:buClr>
                <a:schemeClr val="dk1"/>
              </a:buClr>
              <a:buSzPts val="1800"/>
              <a:buChar char="▫"/>
              <a:defRPr/>
            </a:lvl6pPr>
            <a:lvl7pPr lvl="6" algn="l">
              <a:lnSpc>
                <a:spcPct val="100000"/>
              </a:lnSpc>
              <a:spcBef>
                <a:spcPts val="600"/>
              </a:spcBef>
              <a:spcAft>
                <a:spcPts val="0"/>
              </a:spcAft>
              <a:buClr>
                <a:schemeClr val="dk1"/>
              </a:buClr>
              <a:buSzPts val="1800"/>
              <a:buChar char="▫"/>
              <a:defRPr/>
            </a:lvl7pPr>
            <a:lvl8pPr lvl="7" algn="l">
              <a:lnSpc>
                <a:spcPct val="100000"/>
              </a:lnSpc>
              <a:spcBef>
                <a:spcPts val="600"/>
              </a:spcBef>
              <a:spcAft>
                <a:spcPts val="0"/>
              </a:spcAft>
              <a:buClr>
                <a:schemeClr val="dk1"/>
              </a:buClr>
              <a:buSzPts val="1800"/>
              <a:buChar char="▫"/>
              <a:defRPr/>
            </a:lvl8pPr>
            <a:lvl9pPr lvl="8" algn="l">
              <a:lnSpc>
                <a:spcPct val="100000"/>
              </a:lnSpc>
              <a:spcBef>
                <a:spcPts val="600"/>
              </a:spcBef>
              <a:spcAft>
                <a:spcPts val="600"/>
              </a:spcAft>
              <a:buClr>
                <a:schemeClr val="dk1"/>
              </a:buClr>
              <a:buSzPts val="1800"/>
              <a:buChar char="▫"/>
              <a:defRPr/>
            </a:lvl9pPr>
          </a:lstStyle>
          <a:p>
            <a:endParaRPr/>
          </a:p>
        </p:txBody>
      </p:sp>
      <p:sp>
        <p:nvSpPr>
          <p:cNvPr id="17" name="Google Shape;17;p12"/>
          <p:cNvSpPr txBox="1">
            <a:spLocks noGrp="1"/>
          </p:cNvSpPr>
          <p:nvPr>
            <p:ph type="title"/>
          </p:nvPr>
        </p:nvSpPr>
        <p:spPr>
          <a:xfrm>
            <a:off x="1103883" y="6588810"/>
            <a:ext cx="11088118" cy="1354217"/>
          </a:xfrm>
          <a:prstGeom prst="rect">
            <a:avLst/>
          </a:prstGeom>
          <a:noFill/>
          <a:ln>
            <a:noFill/>
          </a:ln>
        </p:spPr>
        <p:txBody>
          <a:bodyPr spcFirstLastPara="1" wrap="square" lIns="0" tIns="0" rIns="0" bIns="0" anchor="b" anchorCtr="0">
            <a:spAutoFit/>
          </a:bodyPr>
          <a:lstStyle>
            <a:lvl1pPr lvl="0" algn="l">
              <a:lnSpc>
                <a:spcPct val="100000"/>
              </a:lnSpc>
              <a:spcBef>
                <a:spcPts val="0"/>
              </a:spcBef>
              <a:spcAft>
                <a:spcPts val="0"/>
              </a:spcAft>
              <a:buClr>
                <a:schemeClr val="dk1"/>
              </a:buClr>
              <a:buSzPts val="4400"/>
              <a:buFont typeface="Arial"/>
              <a:buNone/>
              <a:defRPr sz="88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 name="Google Shape;18;p12"/>
          <p:cNvPicPr preferRelativeResize="0"/>
          <p:nvPr/>
        </p:nvPicPr>
        <p:blipFill rotWithShape="1">
          <a:blip r:embed="rId3">
            <a:alphaModFix/>
          </a:blip>
          <a:srcRect/>
          <a:stretch/>
        </p:blipFill>
        <p:spPr>
          <a:xfrm>
            <a:off x="13457730" y="0"/>
            <a:ext cx="9822388" cy="13716000"/>
          </a:xfrm>
          <a:prstGeom prst="rect">
            <a:avLst/>
          </a:prstGeom>
          <a:noFill/>
          <a:ln>
            <a:noFill/>
          </a:ln>
        </p:spPr>
      </p:pic>
    </p:spTree>
    <p:extLst>
      <p:ext uri="{BB962C8B-B14F-4D97-AF65-F5344CB8AC3E}">
        <p14:creationId xmlns:p14="http://schemas.microsoft.com/office/powerpoint/2010/main" val="16574942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1_Default">
  <p:cSld name="1_Default">
    <p:spTree>
      <p:nvGrpSpPr>
        <p:cNvPr id="1" name="Shape 24"/>
        <p:cNvGrpSpPr/>
        <p:nvPr/>
      </p:nvGrpSpPr>
      <p:grpSpPr>
        <a:xfrm>
          <a:off x="0" y="0"/>
          <a:ext cx="0" cy="0"/>
          <a:chOff x="0" y="0"/>
          <a:chExt cx="0" cy="0"/>
        </a:xfrm>
      </p:grpSpPr>
      <p:sp>
        <p:nvSpPr>
          <p:cNvPr id="25" name="Google Shape;25;p34"/>
          <p:cNvSpPr/>
          <p:nvPr/>
        </p:nvSpPr>
        <p:spPr>
          <a:xfrm>
            <a:off x="0" y="0"/>
            <a:ext cx="24384000" cy="13716000"/>
          </a:xfrm>
          <a:prstGeom prst="rect">
            <a:avLst/>
          </a:prstGeom>
          <a:gradFill>
            <a:gsLst>
              <a:gs pos="0">
                <a:srgbClr val="C50034"/>
              </a:gs>
              <a:gs pos="100000">
                <a:srgbClr val="8B0084">
                  <a:alpha val="84313"/>
                </a:srgbClr>
              </a:gs>
            </a:gsLst>
            <a:lin ang="3000000" scaled="0"/>
          </a:gradFill>
          <a:ln>
            <a:noFill/>
          </a:ln>
        </p:spPr>
        <p:txBody>
          <a:bodyPr spcFirstLastPara="1" wrap="square" lIns="182850" tIns="91400" rIns="182850" bIns="91400" anchor="ctr" anchorCtr="0">
            <a:noAutofit/>
          </a:bodyPr>
          <a:lstStyle/>
          <a:p>
            <a:pPr marL="0" marR="0" lvl="0" indent="0" algn="ctr" rtl="0">
              <a:lnSpc>
                <a:spcPct val="100000"/>
              </a:lnSpc>
              <a:spcBef>
                <a:spcPts val="0"/>
              </a:spcBef>
              <a:spcAft>
                <a:spcPts val="0"/>
              </a:spcAft>
              <a:buClr>
                <a:schemeClr val="lt1"/>
              </a:buClr>
              <a:buSzPts val="1500"/>
              <a:buFont typeface="Arial"/>
              <a:buNone/>
            </a:pPr>
            <a:endParaRPr sz="3000" b="1" i="0" u="none" strike="noStrike" cap="none">
              <a:solidFill>
                <a:srgbClr val="FFFFFF"/>
              </a:solidFill>
              <a:latin typeface="Arial"/>
              <a:ea typeface="Arial"/>
              <a:cs typeface="Arial"/>
              <a:sym typeface="Arial"/>
            </a:endParaRPr>
          </a:p>
        </p:txBody>
      </p:sp>
      <p:sp>
        <p:nvSpPr>
          <p:cNvPr id="26" name="Google Shape;26;p34"/>
          <p:cNvSpPr/>
          <p:nvPr/>
        </p:nvSpPr>
        <p:spPr>
          <a:xfrm>
            <a:off x="1107944" y="12931792"/>
            <a:ext cx="2192448" cy="436740"/>
          </a:xfrm>
          <a:custGeom>
            <a:avLst/>
            <a:gdLst/>
            <a:ahLst/>
            <a:cxnLst/>
            <a:rect l="l" t="t" r="r" b="b"/>
            <a:pathLst>
              <a:path w="5691" h="1139" extrusionOk="0">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lt1"/>
          </a:solidFill>
          <a:ln>
            <a:noFill/>
          </a:ln>
        </p:spPr>
        <p:txBody>
          <a:bodyPr spcFirstLastPara="1" wrap="square" lIns="182800" tIns="91400" rIns="182800" bIns="91400" anchor="t" anchorCtr="0">
            <a:noAutofit/>
          </a:bodyPr>
          <a:lstStyle/>
          <a:p>
            <a:pPr marL="0" marR="0" lvl="0" indent="0" algn="l" rtl="0">
              <a:lnSpc>
                <a:spcPct val="100000"/>
              </a:lnSpc>
              <a:spcBef>
                <a:spcPts val="0"/>
              </a:spcBef>
              <a:spcAft>
                <a:spcPts val="0"/>
              </a:spcAft>
              <a:buClr>
                <a:srgbClr val="000000"/>
              </a:buClr>
              <a:buSzPts val="450"/>
              <a:buFont typeface="Arial"/>
              <a:buNone/>
            </a:pPr>
            <a:endParaRPr sz="1800" b="0" i="0" u="none" strike="noStrike" cap="none">
              <a:solidFill>
                <a:schemeClr val="dk1"/>
              </a:solidFill>
              <a:latin typeface="Arial"/>
              <a:ea typeface="Arial"/>
              <a:cs typeface="Arial"/>
              <a:sym typeface="Arial"/>
            </a:endParaRPr>
          </a:p>
        </p:txBody>
      </p:sp>
      <p:sp>
        <p:nvSpPr>
          <p:cNvPr id="27" name="Google Shape;27;p34"/>
          <p:cNvSpPr txBox="1">
            <a:spLocks noGrp="1"/>
          </p:cNvSpPr>
          <p:nvPr>
            <p:ph type="title"/>
          </p:nvPr>
        </p:nvSpPr>
        <p:spPr>
          <a:xfrm>
            <a:off x="1109472" y="344425"/>
            <a:ext cx="22165056" cy="954107"/>
          </a:xfrm>
          <a:prstGeom prst="rect">
            <a:avLst/>
          </a:prstGeom>
          <a:noFill/>
          <a:ln>
            <a:noFill/>
          </a:ln>
        </p:spPr>
        <p:txBody>
          <a:bodyPr spcFirstLastPara="1" wrap="square" lIns="0" tIns="0" rIns="0" bIns="0" anchor="t" anchorCtr="0">
            <a:spAutoFit/>
          </a:bodyPr>
          <a:lstStyle>
            <a:lvl1pPr lvl="0" algn="l">
              <a:lnSpc>
                <a:spcPct val="100000"/>
              </a:lnSpc>
              <a:spcBef>
                <a:spcPts val="0"/>
              </a:spcBef>
              <a:spcAft>
                <a:spcPts val="0"/>
              </a:spcAft>
              <a:buClr>
                <a:schemeClr val="lt1"/>
              </a:buClr>
              <a:buSzPts val="25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 name="Google Shape;28;p34"/>
          <p:cNvSpPr txBox="1">
            <a:spLocks noGrp="1"/>
          </p:cNvSpPr>
          <p:nvPr>
            <p:ph type="subTitle" idx="1"/>
          </p:nvPr>
        </p:nvSpPr>
        <p:spPr>
          <a:xfrm>
            <a:off x="1109472" y="1215453"/>
            <a:ext cx="22165056" cy="630942"/>
          </a:xfrm>
          <a:prstGeom prst="rect">
            <a:avLst/>
          </a:prstGeom>
          <a:noFill/>
          <a:ln>
            <a:noFill/>
          </a:ln>
        </p:spPr>
        <p:txBody>
          <a:bodyPr spcFirstLastPara="1" wrap="square" lIns="0" tIns="0" rIns="0" bIns="0" anchor="t" anchorCtr="0">
            <a:spAutoFit/>
          </a:bodyPr>
          <a:lstStyle>
            <a:lvl1pPr lvl="0" algn="l">
              <a:lnSpc>
                <a:spcPct val="100000"/>
              </a:lnSpc>
              <a:spcBef>
                <a:spcPts val="600"/>
              </a:spcBef>
              <a:spcAft>
                <a:spcPts val="0"/>
              </a:spcAft>
              <a:buClr>
                <a:schemeClr val="lt1"/>
              </a:buClr>
              <a:buSzPts val="1800"/>
              <a:buChar char="​"/>
              <a:defRPr sz="3600" b="0">
                <a:solidFill>
                  <a:schemeClr val="lt1"/>
                </a:solidFill>
              </a:defRPr>
            </a:lvl1pPr>
            <a:lvl2pPr lvl="1" algn="l">
              <a:lnSpc>
                <a:spcPct val="100000"/>
              </a:lnSpc>
              <a:spcBef>
                <a:spcPts val="600"/>
              </a:spcBef>
              <a:spcAft>
                <a:spcPts val="0"/>
              </a:spcAft>
              <a:buClr>
                <a:schemeClr val="dk1"/>
              </a:buClr>
              <a:buSzPts val="1980"/>
              <a:buChar char="•"/>
              <a:defRPr/>
            </a:lvl2pPr>
            <a:lvl3pPr lvl="2" algn="l">
              <a:lnSpc>
                <a:spcPct val="100000"/>
              </a:lnSpc>
              <a:spcBef>
                <a:spcPts val="600"/>
              </a:spcBef>
              <a:spcAft>
                <a:spcPts val="0"/>
              </a:spcAft>
              <a:buClr>
                <a:schemeClr val="dk1"/>
              </a:buClr>
              <a:buSzPts val="1980"/>
              <a:buChar char="‒"/>
              <a:defRPr/>
            </a:lvl3pPr>
            <a:lvl4pPr lvl="3" algn="l">
              <a:lnSpc>
                <a:spcPct val="100000"/>
              </a:lnSpc>
              <a:spcBef>
                <a:spcPts val="600"/>
              </a:spcBef>
              <a:spcAft>
                <a:spcPts val="0"/>
              </a:spcAft>
              <a:buClr>
                <a:schemeClr val="dk1"/>
              </a:buClr>
              <a:buSzPts val="1800"/>
              <a:buChar char="•"/>
              <a:defRPr/>
            </a:lvl4pPr>
            <a:lvl5pPr lvl="4" algn="l">
              <a:lnSpc>
                <a:spcPct val="100000"/>
              </a:lnSpc>
              <a:spcBef>
                <a:spcPts val="600"/>
              </a:spcBef>
              <a:spcAft>
                <a:spcPts val="0"/>
              </a:spcAft>
              <a:buClr>
                <a:schemeClr val="dk1"/>
              </a:buClr>
              <a:buSzPts val="1800"/>
              <a:buChar char="̶"/>
              <a:defRPr/>
            </a:lvl5pPr>
            <a:lvl6pPr lvl="5" algn="l">
              <a:lnSpc>
                <a:spcPct val="100000"/>
              </a:lnSpc>
              <a:spcBef>
                <a:spcPts val="600"/>
              </a:spcBef>
              <a:spcAft>
                <a:spcPts val="0"/>
              </a:spcAft>
              <a:buClr>
                <a:schemeClr val="dk1"/>
              </a:buClr>
              <a:buSzPts val="1800"/>
              <a:buChar char="▫"/>
              <a:defRPr/>
            </a:lvl6pPr>
            <a:lvl7pPr lvl="6" algn="l">
              <a:lnSpc>
                <a:spcPct val="100000"/>
              </a:lnSpc>
              <a:spcBef>
                <a:spcPts val="600"/>
              </a:spcBef>
              <a:spcAft>
                <a:spcPts val="0"/>
              </a:spcAft>
              <a:buClr>
                <a:schemeClr val="dk1"/>
              </a:buClr>
              <a:buSzPts val="1800"/>
              <a:buChar char="▫"/>
              <a:defRPr/>
            </a:lvl7pPr>
            <a:lvl8pPr lvl="7" algn="l">
              <a:lnSpc>
                <a:spcPct val="100000"/>
              </a:lnSpc>
              <a:spcBef>
                <a:spcPts val="600"/>
              </a:spcBef>
              <a:spcAft>
                <a:spcPts val="0"/>
              </a:spcAft>
              <a:buClr>
                <a:schemeClr val="dk1"/>
              </a:buClr>
              <a:buSzPts val="1800"/>
              <a:buChar char="▫"/>
              <a:defRPr/>
            </a:lvl8pPr>
            <a:lvl9pPr lvl="8" algn="l">
              <a:lnSpc>
                <a:spcPct val="100000"/>
              </a:lnSpc>
              <a:spcBef>
                <a:spcPts val="600"/>
              </a:spcBef>
              <a:spcAft>
                <a:spcPts val="600"/>
              </a:spcAft>
              <a:buClr>
                <a:schemeClr val="dk1"/>
              </a:buClr>
              <a:buSzPts val="1800"/>
              <a:buChar char="▫"/>
              <a:defRPr/>
            </a:lvl9pPr>
          </a:lstStyle>
          <a:p>
            <a:endParaRPr/>
          </a:p>
        </p:txBody>
      </p:sp>
      <p:sp>
        <p:nvSpPr>
          <p:cNvPr id="29" name="Google Shape;29;p34"/>
          <p:cNvSpPr/>
          <p:nvPr/>
        </p:nvSpPr>
        <p:spPr>
          <a:xfrm>
            <a:off x="22625051" y="12997508"/>
            <a:ext cx="651002" cy="276999"/>
          </a:xfrm>
          <a:prstGeom prst="rect">
            <a:avLst/>
          </a:prstGeom>
          <a:noFill/>
          <a:ln>
            <a:noFill/>
          </a:ln>
        </p:spPr>
        <p:txBody>
          <a:bodyPr spcFirstLastPara="1" wrap="square" lIns="0" tIns="0" rIns="0" bIns="0" anchor="b" anchorCtr="0">
            <a:spAutoFit/>
          </a:bodyPr>
          <a:lstStyle/>
          <a:p>
            <a:pPr marL="0" marR="0" lvl="0" indent="0" algn="r" rtl="0">
              <a:lnSpc>
                <a:spcPct val="100000"/>
              </a:lnSpc>
              <a:spcBef>
                <a:spcPts val="0"/>
              </a:spcBef>
              <a:spcAft>
                <a:spcPts val="0"/>
              </a:spcAft>
              <a:buClr>
                <a:srgbClr val="000000"/>
              </a:buClr>
              <a:buSzPts val="900"/>
              <a:buFont typeface="Arial"/>
              <a:buNone/>
            </a:pPr>
            <a:fld id="{00000000-1234-1234-1234-123412341234}" type="slidenum">
              <a:rPr lang="en-US" sz="1800" b="0" i="0" u="none" strike="noStrike" cap="none">
                <a:solidFill>
                  <a:schemeClr val="lt1"/>
                </a:solidFill>
                <a:latin typeface="Arial"/>
                <a:ea typeface="Arial"/>
                <a:cs typeface="Arial"/>
                <a:sym typeface="Arial"/>
              </a:rPr>
              <a:pPr marL="0" marR="0" lvl="0" indent="0" algn="r" rtl="0">
                <a:lnSpc>
                  <a:spcPct val="100000"/>
                </a:lnSpc>
                <a:spcBef>
                  <a:spcPts val="0"/>
                </a:spcBef>
                <a:spcAft>
                  <a:spcPts val="0"/>
                </a:spcAft>
                <a:buClr>
                  <a:srgbClr val="000000"/>
                </a:buClr>
                <a:buSzPts val="900"/>
                <a:buFont typeface="Arial"/>
                <a:buNone/>
              </a:pPr>
              <a:t>‹#›</a:t>
            </a:fld>
            <a:endParaRPr sz="1800" b="0" i="0" u="none" strike="noStrike" cap="none">
              <a:solidFill>
                <a:schemeClr val="lt1"/>
              </a:solidFill>
              <a:latin typeface="Arial"/>
              <a:ea typeface="Arial"/>
              <a:cs typeface="Arial"/>
              <a:sym typeface="Arial"/>
            </a:endParaRPr>
          </a:p>
        </p:txBody>
      </p:sp>
      <p:sp>
        <p:nvSpPr>
          <p:cNvPr id="30" name="Google Shape;30;p34"/>
          <p:cNvSpPr txBox="1">
            <a:spLocks noGrp="1"/>
          </p:cNvSpPr>
          <p:nvPr>
            <p:ph type="body" idx="2"/>
          </p:nvPr>
        </p:nvSpPr>
        <p:spPr>
          <a:xfrm>
            <a:off x="1109470" y="83195"/>
            <a:ext cx="7686676" cy="323165"/>
          </a:xfrm>
          <a:prstGeom prst="rect">
            <a:avLst/>
          </a:prstGeom>
          <a:noFill/>
          <a:ln>
            <a:noFill/>
          </a:ln>
        </p:spPr>
        <p:txBody>
          <a:bodyPr spcFirstLastPara="1" wrap="square" lIns="0" tIns="0" rIns="0" bIns="0" anchor="t" anchorCtr="0">
            <a:spAutoFit/>
          </a:bodyPr>
          <a:lstStyle>
            <a:lvl1pPr marL="914400" lvl="0" indent="-558800" algn="l">
              <a:lnSpc>
                <a:spcPct val="100000"/>
              </a:lnSpc>
              <a:spcBef>
                <a:spcPts val="600"/>
              </a:spcBef>
              <a:spcAft>
                <a:spcPts val="0"/>
              </a:spcAft>
              <a:buClr>
                <a:schemeClr val="lt1"/>
              </a:buClr>
              <a:buSzPts val="800"/>
              <a:buChar char="​"/>
              <a:defRPr sz="1600" b="0">
                <a:solidFill>
                  <a:schemeClr val="lt1"/>
                </a:solidFill>
              </a:defRPr>
            </a:lvl1pPr>
            <a:lvl2pPr marL="1828800" lvl="1" indent="-708660" algn="l">
              <a:lnSpc>
                <a:spcPct val="100000"/>
              </a:lnSpc>
              <a:spcBef>
                <a:spcPts val="600"/>
              </a:spcBef>
              <a:spcAft>
                <a:spcPts val="0"/>
              </a:spcAft>
              <a:buClr>
                <a:schemeClr val="dk1"/>
              </a:buClr>
              <a:buSzPts val="1980"/>
              <a:buChar char="•"/>
              <a:defRPr/>
            </a:lvl2pPr>
            <a:lvl3pPr marL="2743200" lvl="2" indent="-708660" algn="l">
              <a:lnSpc>
                <a:spcPct val="100000"/>
              </a:lnSpc>
              <a:spcBef>
                <a:spcPts val="600"/>
              </a:spcBef>
              <a:spcAft>
                <a:spcPts val="0"/>
              </a:spcAft>
              <a:buClr>
                <a:schemeClr val="dk1"/>
              </a:buClr>
              <a:buSzPts val="1980"/>
              <a:buChar char="‒"/>
              <a:defRPr/>
            </a:lvl3pPr>
            <a:lvl4pPr marL="3657600" lvl="3" indent="-685800" algn="l">
              <a:lnSpc>
                <a:spcPct val="100000"/>
              </a:lnSpc>
              <a:spcBef>
                <a:spcPts val="600"/>
              </a:spcBef>
              <a:spcAft>
                <a:spcPts val="0"/>
              </a:spcAft>
              <a:buClr>
                <a:schemeClr val="dk1"/>
              </a:buClr>
              <a:buSzPts val="1800"/>
              <a:buChar char="•"/>
              <a:defRPr/>
            </a:lvl4pPr>
            <a:lvl5pPr marL="4572000" lvl="4" indent="-685800" algn="l">
              <a:lnSpc>
                <a:spcPct val="100000"/>
              </a:lnSpc>
              <a:spcBef>
                <a:spcPts val="600"/>
              </a:spcBef>
              <a:spcAft>
                <a:spcPts val="0"/>
              </a:spcAft>
              <a:buClr>
                <a:schemeClr val="dk1"/>
              </a:buClr>
              <a:buSzPts val="1800"/>
              <a:buChar char="̶"/>
              <a:defRPr/>
            </a:lvl5pPr>
            <a:lvl6pPr marL="5486400" lvl="5" indent="-685800" algn="l">
              <a:lnSpc>
                <a:spcPct val="100000"/>
              </a:lnSpc>
              <a:spcBef>
                <a:spcPts val="600"/>
              </a:spcBef>
              <a:spcAft>
                <a:spcPts val="0"/>
              </a:spcAft>
              <a:buClr>
                <a:schemeClr val="dk1"/>
              </a:buClr>
              <a:buSzPts val="1800"/>
              <a:buChar char="▫"/>
              <a:defRPr/>
            </a:lvl6pPr>
            <a:lvl7pPr marL="6400800" lvl="6" indent="-685800" algn="l">
              <a:lnSpc>
                <a:spcPct val="100000"/>
              </a:lnSpc>
              <a:spcBef>
                <a:spcPts val="600"/>
              </a:spcBef>
              <a:spcAft>
                <a:spcPts val="0"/>
              </a:spcAft>
              <a:buClr>
                <a:schemeClr val="dk1"/>
              </a:buClr>
              <a:buSzPts val="1800"/>
              <a:buChar char="▫"/>
              <a:defRPr/>
            </a:lvl7pPr>
            <a:lvl8pPr marL="7315200" lvl="7" indent="-685800" algn="l">
              <a:lnSpc>
                <a:spcPct val="100000"/>
              </a:lnSpc>
              <a:spcBef>
                <a:spcPts val="600"/>
              </a:spcBef>
              <a:spcAft>
                <a:spcPts val="0"/>
              </a:spcAft>
              <a:buClr>
                <a:schemeClr val="dk1"/>
              </a:buClr>
              <a:buSzPts val="1800"/>
              <a:buChar char="▫"/>
              <a:defRPr/>
            </a:lvl8pPr>
            <a:lvl9pPr marL="8229600" lvl="8" indent="-685800" algn="l">
              <a:lnSpc>
                <a:spcPct val="100000"/>
              </a:lnSpc>
              <a:spcBef>
                <a:spcPts val="600"/>
              </a:spcBef>
              <a:spcAft>
                <a:spcPts val="600"/>
              </a:spcAft>
              <a:buClr>
                <a:schemeClr val="dk1"/>
              </a:buClr>
              <a:buSzPts val="1800"/>
              <a:buChar char="▫"/>
              <a:defRPr/>
            </a:lvl9pPr>
          </a:lstStyle>
          <a:p>
            <a:endParaRPr/>
          </a:p>
        </p:txBody>
      </p:sp>
    </p:spTree>
    <p:extLst>
      <p:ext uri="{BB962C8B-B14F-4D97-AF65-F5344CB8AC3E}">
        <p14:creationId xmlns:p14="http://schemas.microsoft.com/office/powerpoint/2010/main" val="425112034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103"/>
        <p:cNvGrpSpPr/>
        <p:nvPr/>
      </p:nvGrpSpPr>
      <p:grpSpPr>
        <a:xfrm>
          <a:off x="0" y="0"/>
          <a:ext cx="0" cy="0"/>
          <a:chOff x="0" y="0"/>
          <a:chExt cx="0" cy="0"/>
        </a:xfrm>
      </p:grpSpPr>
      <p:sp>
        <p:nvSpPr>
          <p:cNvPr id="104" name="Google Shape;104;p49"/>
          <p:cNvSpPr txBox="1">
            <a:spLocks noGrp="1"/>
          </p:cNvSpPr>
          <p:nvPr>
            <p:ph type="title"/>
          </p:nvPr>
        </p:nvSpPr>
        <p:spPr>
          <a:xfrm>
            <a:off x="1109472" y="344425"/>
            <a:ext cx="22165056" cy="954107"/>
          </a:xfrm>
          <a:prstGeom prst="rect">
            <a:avLst/>
          </a:prstGeom>
          <a:noFill/>
          <a:ln>
            <a:noFill/>
          </a:ln>
        </p:spPr>
        <p:txBody>
          <a:bodyPr spcFirstLastPara="1" wrap="square" lIns="0" tIns="0" rIns="0" bIns="0" anchor="t" anchorCtr="0">
            <a:spAutoFit/>
          </a:bodyPr>
          <a:lstStyle>
            <a:lvl1pPr lvl="0" algn="l">
              <a:lnSpc>
                <a:spcPct val="100000"/>
              </a:lnSpc>
              <a:spcBef>
                <a:spcPts val="0"/>
              </a:spcBef>
              <a:spcAft>
                <a:spcPts val="0"/>
              </a:spcAft>
              <a:buClr>
                <a:schemeClr val="accent2"/>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 name="Google Shape;105;p49"/>
          <p:cNvSpPr txBox="1"/>
          <p:nvPr/>
        </p:nvSpPr>
        <p:spPr>
          <a:xfrm>
            <a:off x="23304106" y="13280966"/>
            <a:ext cx="256480" cy="251159"/>
          </a:xfrm>
          <a:prstGeom prst="rect">
            <a:avLst/>
          </a:prstGeom>
          <a:noFill/>
          <a:ln>
            <a:noFill/>
          </a:ln>
        </p:spPr>
        <p:txBody>
          <a:bodyPr spcFirstLastPara="1" wrap="square" lIns="0" tIns="0" rIns="0" bIns="0" anchor="ctr" anchorCtr="0">
            <a:spAutoFit/>
          </a:bodyPr>
          <a:lstStyle/>
          <a:p>
            <a:pPr marL="0" marR="0" lvl="0" indent="0" algn="l" rtl="0">
              <a:lnSpc>
                <a:spcPct val="100000"/>
              </a:lnSpc>
              <a:spcBef>
                <a:spcPts val="0"/>
              </a:spcBef>
              <a:spcAft>
                <a:spcPts val="0"/>
              </a:spcAft>
              <a:buClr>
                <a:srgbClr val="000000"/>
              </a:buClr>
              <a:buSzPts val="816"/>
              <a:buFont typeface="Arial"/>
              <a:buNone/>
            </a:pPr>
            <a:fld id="{00000000-1234-1234-1234-123412341234}" type="slidenum">
              <a:rPr lang="en-US" sz="1632" b="0" i="0" u="none" strike="noStrike" cap="none">
                <a:solidFill>
                  <a:srgbClr val="808080"/>
                </a:solidFill>
                <a:latin typeface="Arial"/>
                <a:ea typeface="Arial"/>
                <a:cs typeface="Arial"/>
                <a:sym typeface="Arial"/>
              </a:rPr>
              <a:pPr marL="0" marR="0" lvl="0" indent="0" algn="l" rtl="0">
                <a:lnSpc>
                  <a:spcPct val="100000"/>
                </a:lnSpc>
                <a:spcBef>
                  <a:spcPts val="0"/>
                </a:spcBef>
                <a:spcAft>
                  <a:spcPts val="0"/>
                </a:spcAft>
                <a:buClr>
                  <a:srgbClr val="000000"/>
                </a:buClr>
                <a:buSzPts val="816"/>
                <a:buFont typeface="Arial"/>
                <a:buNone/>
              </a:pPr>
              <a:t>‹#›</a:t>
            </a:fld>
            <a:endParaRPr sz="1632" b="0" i="0" u="none" strike="noStrike" cap="none">
              <a:solidFill>
                <a:srgbClr val="808080"/>
              </a:solidFill>
              <a:latin typeface="Arial"/>
              <a:ea typeface="Arial"/>
              <a:cs typeface="Arial"/>
              <a:sym typeface="Arial"/>
            </a:endParaRPr>
          </a:p>
        </p:txBody>
      </p:sp>
      <p:sp>
        <p:nvSpPr>
          <p:cNvPr id="106" name="Google Shape;106;p49"/>
          <p:cNvSpPr/>
          <p:nvPr/>
        </p:nvSpPr>
        <p:spPr>
          <a:xfrm>
            <a:off x="20971988" y="13280966"/>
            <a:ext cx="2058256" cy="251159"/>
          </a:xfrm>
          <a:prstGeom prst="rect">
            <a:avLst/>
          </a:prstGeom>
          <a:noFill/>
          <a:ln>
            <a:noFill/>
          </a:ln>
        </p:spPr>
        <p:txBody>
          <a:bodyPr spcFirstLastPara="1" wrap="square" lIns="0" tIns="0" rIns="0" bIns="0" anchor="ctr" anchorCtr="0">
            <a:spAutoFit/>
          </a:bodyPr>
          <a:lstStyle/>
          <a:p>
            <a:pPr marL="0" marR="0" lvl="0" indent="0" algn="r" rtl="0">
              <a:lnSpc>
                <a:spcPct val="100000"/>
              </a:lnSpc>
              <a:spcBef>
                <a:spcPts val="0"/>
              </a:spcBef>
              <a:spcAft>
                <a:spcPts val="0"/>
              </a:spcAft>
              <a:buClr>
                <a:srgbClr val="000000"/>
              </a:buClr>
              <a:buSzPts val="816"/>
              <a:buFont typeface="Arial"/>
              <a:buNone/>
            </a:pPr>
            <a:r>
              <a:rPr lang="en-US" sz="1632" b="0" i="0" u="none" strike="noStrike" cap="none">
                <a:solidFill>
                  <a:srgbClr val="808080"/>
                </a:solidFill>
                <a:latin typeface="Arial"/>
                <a:ea typeface="Arial"/>
                <a:cs typeface="Arial"/>
                <a:sym typeface="Arial"/>
              </a:rPr>
              <a:t>McKinsey &amp; Company</a:t>
            </a:r>
            <a:endParaRPr sz="28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2317037981"/>
      </p:ext>
    </p:extLst>
  </p:cSld>
  <p:clrMapOvr>
    <a:masterClrMapping/>
  </p:clrMapOvr>
  <p:extLst>
    <p:ext uri="{DCECCB84-F9BA-43D5-87BE-67443E8EF086}">
      <p15:sldGuideLst xmlns:p15="http://schemas.microsoft.com/office/powerpoint/2012/main">
        <p15:guide id="1" pos="5505">
          <p15:clr>
            <a:srgbClr val="F26B43"/>
          </p15:clr>
        </p15:guide>
        <p15:guide id="2" pos="74">
          <p15:clr>
            <a:srgbClr val="F26B43"/>
          </p15:clr>
        </p15:guide>
        <p15:guide id="3" orient="horz" pos="571">
          <p15:clr>
            <a:srgbClr val="F26B43"/>
          </p15:clr>
        </p15:guide>
        <p15:guide id="4" orient="horz" pos="3911">
          <p15:clr>
            <a:srgbClr val="F26B43"/>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p:cSld name="1_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GB"/>
              <a:t>Click to edit Master title style</a:t>
            </a:r>
            <a:endParaRPr lang="en-US"/>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07981412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p:cSld name="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lvl1pPr>
              <a:defRPr>
                <a:solidFill>
                  <a:schemeClr val="tx1"/>
                </a:solidFill>
              </a:defRPr>
            </a:lvl1pPr>
          </a:lstStyle>
          <a:p>
            <a:r>
              <a:rPr lang="en-GB"/>
              <a:t>Click to edit Master title style</a:t>
            </a:r>
            <a:endParaRPr lang="en-US"/>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Graphic 2">
            <a:extLst>
              <a:ext uri="{FF2B5EF4-FFF2-40B4-BE49-F238E27FC236}">
                <a16:creationId xmlns:a16="http://schemas.microsoft.com/office/drawing/2014/main" id="{00D83E88-A286-BF1F-719B-20F1C44734CF}"/>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cxnSp>
        <p:nvCxnSpPr>
          <p:cNvPr id="2" name="Straight Connector 1">
            <a:extLst>
              <a:ext uri="{FF2B5EF4-FFF2-40B4-BE49-F238E27FC236}">
                <a16:creationId xmlns:a16="http://schemas.microsoft.com/office/drawing/2014/main" id="{9720D620-A98D-8E56-CDB8-0DC6E5725E42}"/>
              </a:ext>
            </a:extLst>
          </p:cNvPr>
          <p:cNvCxnSpPr>
            <a:cxnSpLocks/>
          </p:cNvCxnSpPr>
          <p:nvPr/>
        </p:nvCxnSpPr>
        <p:spPr>
          <a:xfrm flipV="1">
            <a:off x="0" y="2151390"/>
            <a:ext cx="24384000" cy="147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1406502"/>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p:cSld name="Single column Simple - with subhea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3739563"/>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GB"/>
              <a:t>Click to edit Master title style</a:t>
            </a:r>
            <a:endParaRPr lang="en-US"/>
          </a:p>
        </p:txBody>
      </p:sp>
      <p:sp>
        <p:nvSpPr>
          <p:cNvPr id="8" name="Footer Placeholder 4">
            <a:extLst>
              <a:ext uri="{FF2B5EF4-FFF2-40B4-BE49-F238E27FC236}">
                <a16:creationId xmlns:a16="http://schemas.microsoft.com/office/drawing/2014/main" id="{674407F1-A2F8-A84F-8E52-03F123F4BEF5}"/>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C88CD766-7446-9844-8381-BB1A5421A8C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
        <p:nvSpPr>
          <p:cNvPr id="3" name="Text Placeholder 2">
            <a:extLst>
              <a:ext uri="{FF2B5EF4-FFF2-40B4-BE49-F238E27FC236}">
                <a16:creationId xmlns:a16="http://schemas.microsoft.com/office/drawing/2014/main" id="{3D5AAC42-935B-0E18-6CAC-AB1A022B59F1}"/>
              </a:ext>
            </a:extLst>
          </p:cNvPr>
          <p:cNvSpPr>
            <a:spLocks noGrp="1"/>
          </p:cNvSpPr>
          <p:nvPr>
            <p:ph type="body" sz="quarter" idx="13" hasCustomPrompt="1"/>
          </p:nvPr>
        </p:nvSpPr>
        <p:spPr>
          <a:xfrm>
            <a:off x="341756" y="2781300"/>
            <a:ext cx="22936200" cy="584776"/>
          </a:xfrm>
        </p:spPr>
        <p:txBody>
          <a:bodyPr/>
          <a:lstStyle>
            <a:lvl1pPr marL="0" indent="0">
              <a:buNone/>
              <a:defRPr sz="3800" b="1"/>
            </a:lvl1pPr>
            <a:lvl2pPr marL="566736" indent="0">
              <a:buNone/>
              <a:defRPr/>
            </a:lvl2pPr>
          </a:lstStyle>
          <a:p>
            <a:r>
              <a:rPr lang="en-US"/>
              <a:t>Subtitle or callout if needed, all titles and subtitles are sentence case </a:t>
            </a:r>
          </a:p>
        </p:txBody>
      </p:sp>
    </p:spTree>
    <p:extLst>
      <p:ext uri="{BB962C8B-B14F-4D97-AF65-F5344CB8AC3E}">
        <p14:creationId xmlns:p14="http://schemas.microsoft.com/office/powerpoint/2010/main" val="122941135"/>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p:cSld name="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p:nvGrpSpPr>
        <p:grpSpPr>
          <a:xfrm>
            <a:off x="1" y="-4805"/>
            <a:ext cx="25334686" cy="2199366"/>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10" name="Picture 9">
              <a:extLst>
                <a:ext uri="{FF2B5EF4-FFF2-40B4-BE49-F238E27FC236}">
                  <a16:creationId xmlns:a16="http://schemas.microsoft.com/office/drawing/2014/main" id="{528A3E14-429A-2111-9034-26AFC851FE02}"/>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GB"/>
              <a:t>Click to edit Master title style</a:t>
            </a:r>
            <a:endParaRPr lang="en-US"/>
          </a:p>
        </p:txBody>
      </p:sp>
      <p:pic>
        <p:nvPicPr>
          <p:cNvPr id="6" name="Graphic 5">
            <a:extLst>
              <a:ext uri="{FF2B5EF4-FFF2-40B4-BE49-F238E27FC236}">
                <a16:creationId xmlns:a16="http://schemas.microsoft.com/office/drawing/2014/main" id="{12884396-8B33-D54E-9D5C-8DF3AC225E8C}"/>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70127806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p:cSld name="Title Only_2 lin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F274A9-9392-1E6D-7D16-896285565278}"/>
              </a:ext>
            </a:extLst>
          </p:cNvPr>
          <p:cNvSpPr/>
          <p:nvPr/>
        </p:nvSpPr>
        <p:spPr>
          <a:xfrm>
            <a:off x="0" y="0"/>
            <a:ext cx="24384000" cy="308008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4" name="Picture 3">
            <a:extLst>
              <a:ext uri="{FF2B5EF4-FFF2-40B4-BE49-F238E27FC236}">
                <a16:creationId xmlns:a16="http://schemas.microsoft.com/office/drawing/2014/main" id="{4F67146D-3C58-F6B2-201A-B16919DBC4AF}"/>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8203113" y="-16457"/>
            <a:ext cx="17160602" cy="3096542"/>
          </a:xfrm>
          <a:prstGeom prst="rect">
            <a:avLst/>
          </a:prstGeom>
        </p:spPr>
      </p:pic>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GB"/>
              <a:t>Click to edit Master title style</a:t>
            </a:r>
            <a:endParaRPr lang="en-US"/>
          </a:p>
        </p:txBody>
      </p:sp>
      <p:pic>
        <p:nvPicPr>
          <p:cNvPr id="6" name="Graphic 5">
            <a:extLst>
              <a:ext uri="{FF2B5EF4-FFF2-40B4-BE49-F238E27FC236}">
                <a16:creationId xmlns:a16="http://schemas.microsoft.com/office/drawing/2014/main" id="{12884396-8B33-D54E-9D5C-8DF3AC225E8C}"/>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934499289"/>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p:cSld name="Blank">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2884396-8B33-D54E-9D5C-8DF3AC225E8C}"/>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33394962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p:cSld name="Single Column">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1716024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10728346" cy="968086"/>
          </a:xfrm>
        </p:spPr>
        <p:txBody>
          <a:bodyPr wrap="square">
            <a:spAutoFit/>
          </a:bodyPr>
          <a:lstStyle/>
          <a:p>
            <a:r>
              <a:rPr lang="en-GB"/>
              <a:t>Click to edit Master title style</a:t>
            </a:r>
            <a:endParaRPr lang="en-US"/>
          </a:p>
        </p:txBody>
      </p:sp>
      <p:sp>
        <p:nvSpPr>
          <p:cNvPr id="8" name="Footer Placeholder 4">
            <a:extLst>
              <a:ext uri="{FF2B5EF4-FFF2-40B4-BE49-F238E27FC236}">
                <a16:creationId xmlns:a16="http://schemas.microsoft.com/office/drawing/2014/main" id="{7D4F1EC5-6BB8-4049-A825-325656113ED2}"/>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E7854F2A-2BBB-9446-B185-6215C140A16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72790392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Double Column">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08EE2D0-C5F7-40AF-BD24-47EFB4DD9E34}"/>
              </a:ext>
            </a:extLst>
          </p:cNvPr>
          <p:cNvSpPr>
            <a:spLocks noGrp="1"/>
          </p:cNvSpPr>
          <p:nvPr>
            <p:ph idx="1"/>
          </p:nvPr>
        </p:nvSpPr>
        <p:spPr>
          <a:xfrm>
            <a:off x="16059154" y="2777165"/>
            <a:ext cx="7600948" cy="3488134"/>
          </a:xfrm>
          <a:prstGeom prst="rect">
            <a:avLst/>
          </a:prstGeom>
        </p:spPr>
        <p:txBody>
          <a:bodyPr vert="horz" lIns="0" tIns="0" rIns="0" bIns="0" rtlCol="0">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731520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0" y="2777164"/>
            <a:ext cx="5468112" cy="2339102"/>
          </a:xfrm>
        </p:spPr>
        <p:txBody>
          <a:bodyPr vert="horz" lIns="0" tIns="0" rIns="0" bIns="0" rtlCol="0">
            <a:spAutoFit/>
          </a:bodyPr>
          <a:lstStyle>
            <a:lvl1pPr>
              <a:defRPr lang="en-US" sz="3800" dirty="0">
                <a:ln w="3175">
                  <a:noFill/>
                </a:ln>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spAutoFit/>
          </a:bodyPr>
          <a:lstStyle>
            <a:lvl1pPr>
              <a:defRPr/>
            </a:lvl1pPr>
          </a:lstStyle>
          <a:p>
            <a:r>
              <a:rPr lang="en-GB"/>
              <a:t>Click to edit Master title style</a:t>
            </a:r>
            <a:endParaRPr lang="en-US"/>
          </a:p>
        </p:txBody>
      </p:sp>
      <p:sp>
        <p:nvSpPr>
          <p:cNvPr id="11" name="Footer Placeholder 4">
            <a:extLst>
              <a:ext uri="{FF2B5EF4-FFF2-40B4-BE49-F238E27FC236}">
                <a16:creationId xmlns:a16="http://schemas.microsoft.com/office/drawing/2014/main" id="{BD398495-5CA8-A54C-9A38-9431C227BC1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2" name="Slide Number Placeholder 5">
            <a:extLst>
              <a:ext uri="{FF2B5EF4-FFF2-40B4-BE49-F238E27FC236}">
                <a16:creationId xmlns:a16="http://schemas.microsoft.com/office/drawing/2014/main" id="{A111FE5C-B17D-C948-BFCC-6ED5E14CB16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0" name="Straight Connector 9">
            <a:extLst>
              <a:ext uri="{FF2B5EF4-FFF2-40B4-BE49-F238E27FC236}">
                <a16:creationId xmlns:a16="http://schemas.microsoft.com/office/drawing/2014/main" id="{A44C8227-D505-9341-8E5C-224832E8A51F}"/>
              </a:ext>
            </a:extLst>
          </p:cNvPr>
          <p:cNvCxnSpPr>
            <a:cxnSpLocks/>
          </p:cNvCxnSpPr>
          <p:nvPr/>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8485628"/>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Chart Slide">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454140" y="7086755"/>
            <a:ext cx="17183100" cy="553998"/>
          </a:xfrm>
        </p:spPr>
        <p:txBody>
          <a:bodyPr>
            <a:spAutoFit/>
          </a:bodyPr>
          <a:lstStyle/>
          <a:p>
            <a:r>
              <a:rPr lang="en-GB"/>
              <a:t>Click icon to add chart</a:t>
            </a:r>
            <a:endParaRPr lang="en-US"/>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a:xfrm>
            <a:off x="668995" y="537179"/>
            <a:ext cx="5466338" cy="968086"/>
          </a:xfrm>
        </p:spPr>
        <p:txBody>
          <a:bodyPr>
            <a:spAutoFit/>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8" name="Footer Placeholder 4">
            <a:extLst>
              <a:ext uri="{FF2B5EF4-FFF2-40B4-BE49-F238E27FC236}">
                <a16:creationId xmlns:a16="http://schemas.microsoft.com/office/drawing/2014/main" id="{6814554E-586D-8349-951F-737144ECEFF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AED0D651-E967-D846-AE30-12C061B6AD3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1" name="Straight Connector 10">
            <a:extLst>
              <a:ext uri="{FF2B5EF4-FFF2-40B4-BE49-F238E27FC236}">
                <a16:creationId xmlns:a16="http://schemas.microsoft.com/office/drawing/2014/main" id="{675D0394-D778-4C4A-B92A-6E09A7B88B9A}"/>
              </a:ext>
            </a:extLst>
          </p:cNvPr>
          <p:cNvCxnSpPr>
            <a:cxnSpLocks/>
          </p:cNvCxnSpPr>
          <p:nvPr/>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4444845"/>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p:cSld name="Table Slid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a:xfrm>
            <a:off x="668995" y="537179"/>
            <a:ext cx="5466338" cy="968086"/>
          </a:xfrm>
        </p:spPr>
        <p:txBody>
          <a:bodyPr>
            <a:spAutoFit/>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8" name="Footer Placeholder 4">
            <a:extLst>
              <a:ext uri="{FF2B5EF4-FFF2-40B4-BE49-F238E27FC236}">
                <a16:creationId xmlns:a16="http://schemas.microsoft.com/office/drawing/2014/main" id="{D53B314B-9934-844F-8E14-6C502D2AE42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3CFD438D-CA4D-3A43-9B82-E14EC033B7C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048623753"/>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p:cSld name="Wide Layout Single Column">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1754326"/>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2017604"/>
          </a:xfrm>
        </p:spPr>
        <p:txBody>
          <a:bodyPr>
            <a:spAutoFit/>
          </a:bodyPr>
          <a:lstStyle>
            <a:lvl1pPr>
              <a:defRPr>
                <a:solidFill>
                  <a:schemeClr val="tx1"/>
                </a:solidFill>
              </a:defRPr>
            </a:lvl1pPr>
          </a:lstStyle>
          <a:p>
            <a:r>
              <a:rPr lang="en-GB"/>
              <a:t>Click to edit Master title style</a:t>
            </a:r>
            <a:endParaRPr lang="en-US"/>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p:nvCxnSpPr>
        <p:spPr>
          <a:xfrm>
            <a:off x="8382000" y="0"/>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 Placeholder 2">
            <a:extLst>
              <a:ext uri="{FF2B5EF4-FFF2-40B4-BE49-F238E27FC236}">
                <a16:creationId xmlns:a16="http://schemas.microsoft.com/office/drawing/2014/main" id="{9F9C88D5-EA56-4ED2-8CB6-44F2BBA4023F}"/>
              </a:ext>
            </a:extLst>
          </p:cNvPr>
          <p:cNvSpPr>
            <a:spLocks noGrp="1"/>
          </p:cNvSpPr>
          <p:nvPr>
            <p:ph idx="1"/>
          </p:nvPr>
        </p:nvSpPr>
        <p:spPr>
          <a:xfrm>
            <a:off x="8382000" y="624971"/>
            <a:ext cx="15255604" cy="3488134"/>
          </a:xfrm>
          <a:prstGeom prst="rect">
            <a:avLst/>
          </a:prstGeom>
        </p:spPr>
        <p:txBody>
          <a:bodyPr vert="horz" lIns="182880" tIns="0" rIns="0" bIns="0" rtlCol="0">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pic>
        <p:nvPicPr>
          <p:cNvPr id="12" name="Graphic 11">
            <a:extLst>
              <a:ext uri="{FF2B5EF4-FFF2-40B4-BE49-F238E27FC236}">
                <a16:creationId xmlns:a16="http://schemas.microsoft.com/office/drawing/2014/main" id="{BD6CB0B8-ED09-5144-8406-07EDCA221F9D}"/>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2AD6F17-DC4F-CE4D-A30F-37972705D1E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5F1A3402-461B-144B-A624-EADA6F4A5FE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87094296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GB"/>
              <a:t>Click to edit Master title style</a:t>
            </a:r>
            <a:endParaRPr lang="en-US"/>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1201D0FE-A135-6A46-ABB9-BBF42B08B052}"/>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A428A25E-B962-BD41-AC5A-2B7F8C365999}"/>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0" name="Slide Number Placeholder 5">
            <a:extLst>
              <a:ext uri="{FF2B5EF4-FFF2-40B4-BE49-F238E27FC236}">
                <a16:creationId xmlns:a16="http://schemas.microsoft.com/office/drawing/2014/main" id="{5A8BC5D7-A295-2344-8AAD-7A638D124615}"/>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4971229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GB"/>
              <a:t>Click to edit Master title style</a:t>
            </a:r>
            <a:endParaRPr lang="en-US"/>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2">
            <a:extLst>
              <a:ext uri="{FF2B5EF4-FFF2-40B4-BE49-F238E27FC236}">
                <a16:creationId xmlns:a16="http://schemas.microsoft.com/office/drawing/2014/main" id="{FD053F94-CE8F-4987-AA33-DA71ADDB4BC1}"/>
              </a:ext>
            </a:extLst>
          </p:cNvPr>
          <p:cNvSpPr>
            <a:spLocks noGrp="1"/>
          </p:cNvSpPr>
          <p:nvPr>
            <p:ph idx="1"/>
          </p:nvPr>
        </p:nvSpPr>
        <p:spPr>
          <a:xfrm>
            <a:off x="17945102" y="624970"/>
            <a:ext cx="5715000" cy="4042132"/>
          </a:xfrm>
          <a:prstGeom prst="rect">
            <a:avLst/>
          </a:prstGeom>
        </p:spPr>
        <p:txBody>
          <a:bodyPr vert="horz" lIns="182880" tIns="0" rIns="0" bIns="0" rtlCol="0">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pic>
        <p:nvPicPr>
          <p:cNvPr id="12" name="Graphic 11">
            <a:extLst>
              <a:ext uri="{FF2B5EF4-FFF2-40B4-BE49-F238E27FC236}">
                <a16:creationId xmlns:a16="http://schemas.microsoft.com/office/drawing/2014/main" id="{2D21F748-F78B-AA44-87E0-992F504FBC08}"/>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69668EDE-1295-9546-ABA0-27E4B7F5041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361D0353-9518-CE4F-AEC9-0A3AD47D4590}"/>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98794427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lstStyle>
            <a:lvl1pPr>
              <a:defRPr>
                <a:solidFill>
                  <a:schemeClr val="tx1"/>
                </a:solidFill>
              </a:defRPr>
            </a:lvl1pPr>
          </a:lstStyle>
          <a:p>
            <a:r>
              <a:rPr lang="en-GB"/>
              <a:t>Click to edit Master title style</a:t>
            </a:r>
            <a:endParaRPr lang="en-US"/>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3488134"/>
          </a:xfrm>
        </p:spPr>
        <p:txBody>
          <a:bodyPr lIns="0">
            <a:spAutoFit/>
          </a:bodyPr>
          <a:lstStyle>
            <a:lvl1pPr>
              <a:defRPr/>
            </a:lvl1pPr>
            <a:lvl2pPr>
              <a:defRPr/>
            </a:lvl2pPr>
            <a:lvl3pPr>
              <a:defRPr/>
            </a:lvl3pPr>
            <a:lvl4pPr>
              <a:defRPr/>
            </a:lvl4pPr>
            <a:lvl5pPr>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pic>
        <p:nvPicPr>
          <p:cNvPr id="9" name="Graphic 8">
            <a:extLst>
              <a:ext uri="{FF2B5EF4-FFF2-40B4-BE49-F238E27FC236}">
                <a16:creationId xmlns:a16="http://schemas.microsoft.com/office/drawing/2014/main" id="{59F508EA-9B74-CF42-99A9-ABCDB2E99032}"/>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35545590-189E-BE41-BDD7-DCC3999A6E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1D0045EB-86A1-6D46-873D-E4EC1E9D359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317791154"/>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solidFill>
                  <a:schemeClr val="tx1"/>
                </a:solidFill>
              </a:defRPr>
            </a:lvl1pPr>
          </a:lstStyle>
          <a:p>
            <a:r>
              <a:rPr lang="en-GB"/>
              <a:t>Click to edit Master title style</a:t>
            </a:r>
            <a:endParaRPr lang="en-US"/>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3488134"/>
          </a:xfrm>
        </p:spPr>
        <p:txBody>
          <a:bodyPr lIns="0">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169550"/>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9C7DEFAB-97E6-284D-BD67-FB08386B5E62}"/>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2DA1221E-A67C-744E-9C4B-331BEF727F33}"/>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46CF78B-534F-E345-BE6A-BED63A26C73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15989165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3" y="4800600"/>
            <a:ext cx="5714998" cy="4114800"/>
          </a:xfrm>
          <a:prstGeom prst="rect">
            <a:avLst/>
          </a:prstGeom>
          <a:solidFill>
            <a:schemeClr val="bg1"/>
          </a:solidFill>
        </p:spPr>
        <p:txBody>
          <a:bodyPr vert="horz" lIns="182880" tIns="137160" rIns="182880" bIns="0" rtlCol="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1"/>
                </a:solidFill>
              </a:defRPr>
            </a:lvl1pPr>
          </a:lstStyle>
          <a:p>
            <a:pPr marL="0" lvl="0" indent="0">
              <a:spcAft>
                <a:spcPts val="3000"/>
              </a:spcAft>
              <a:buFont typeface="Arial" panose="020B0604020202020204" pitchFamily="34" charset="0"/>
            </a:pPr>
            <a:r>
              <a:rPr lang="en-GB"/>
              <a:t>Click to edit Master title style</a:t>
            </a:r>
            <a:endParaRPr lang="en-US"/>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0" name="Graphic 9">
            <a:extLst>
              <a:ext uri="{FF2B5EF4-FFF2-40B4-BE49-F238E27FC236}">
                <a16:creationId xmlns:a16="http://schemas.microsoft.com/office/drawing/2014/main" id="{D97CAA73-BE46-614E-9C41-8AF7FB50184C}"/>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A4D9BADF-324E-5B4F-A422-61F7145DA2D8}"/>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700835EC-3A47-8644-806F-A3840BA3472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15095230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preserve="1">
  <p:cSld name="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4" name="Picture 3">
            <a:extLst>
              <a:ext uri="{FF2B5EF4-FFF2-40B4-BE49-F238E27FC236}">
                <a16:creationId xmlns:a16="http://schemas.microsoft.com/office/drawing/2014/main" id="{DC3D7A00-2891-24B2-ED6C-5B28CC4847A3}"/>
              </a:ext>
            </a:extLst>
          </p:cNvPr>
          <p:cNvPicPr>
            <a:picLocks noChangeAspect="1"/>
          </p:cNvPicPr>
          <p:nvPr/>
        </p:nvPicPr>
        <p:blipFill>
          <a:blip r:embed="rId2"/>
          <a:stretch>
            <a:fillRect/>
          </a:stretch>
        </p:blipFill>
        <p:spPr>
          <a:xfrm>
            <a:off x="0" y="4419600"/>
            <a:ext cx="6477000" cy="9296400"/>
          </a:xfrm>
          <a:prstGeom prst="rect">
            <a:avLst/>
          </a:prstGeom>
        </p:spPr>
      </p:pic>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GB"/>
              <a:t>Click to edit Master title style</a:t>
            </a:r>
            <a:endParaRPr lang="en-US"/>
          </a:p>
        </p:txBody>
      </p:sp>
      <p:pic>
        <p:nvPicPr>
          <p:cNvPr id="10" name="Graphic 9">
            <a:extLst>
              <a:ext uri="{FF2B5EF4-FFF2-40B4-BE49-F238E27FC236}">
                <a16:creationId xmlns:a16="http://schemas.microsoft.com/office/drawing/2014/main" id="{560B9142-7D87-064B-BCED-0E0338E2CEB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5143089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p:cSld name="1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GB"/>
              <a:t>Click to edit Master title style</a:t>
            </a:r>
            <a:endParaRPr lang="en-US"/>
          </a:p>
        </p:txBody>
      </p:sp>
      <p:pic>
        <p:nvPicPr>
          <p:cNvPr id="10" name="Graphic 9">
            <a:extLst>
              <a:ext uri="{FF2B5EF4-FFF2-40B4-BE49-F238E27FC236}">
                <a16:creationId xmlns:a16="http://schemas.microsoft.com/office/drawing/2014/main" id="{560B9142-7D87-064B-BCED-0E0338E2CEBB}"/>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4" name="Picture 3">
            <a:extLst>
              <a:ext uri="{FF2B5EF4-FFF2-40B4-BE49-F238E27FC236}">
                <a16:creationId xmlns:a16="http://schemas.microsoft.com/office/drawing/2014/main" id="{80CA3236-00EC-F44A-FE12-1CA61956F0E7}"/>
              </a:ext>
            </a:extLst>
          </p:cNvPr>
          <p:cNvPicPr>
            <a:picLocks noChangeAspect="1"/>
          </p:cNvPicPr>
          <p:nvPr/>
        </p:nvPicPr>
        <p:blipFill>
          <a:blip r:embed="rId4"/>
          <a:stretch>
            <a:fillRect/>
          </a:stretch>
        </p:blipFill>
        <p:spPr>
          <a:xfrm>
            <a:off x="0" y="9491472"/>
            <a:ext cx="6452388" cy="4224528"/>
          </a:xfrm>
          <a:prstGeom prst="rect">
            <a:avLst/>
          </a:prstGeom>
        </p:spPr>
      </p:pic>
    </p:spTree>
    <p:extLst>
      <p:ext uri="{BB962C8B-B14F-4D97-AF65-F5344CB8AC3E}">
        <p14:creationId xmlns:p14="http://schemas.microsoft.com/office/powerpoint/2010/main" val="395248044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p:cSld name="2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p:nvSpPr>
        <p:spPr bwMode="white">
          <a:xfrm flipH="1">
            <a:off x="6477000" y="0"/>
            <a:ext cx="1790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6" name="Picture 5">
            <a:extLst>
              <a:ext uri="{FF2B5EF4-FFF2-40B4-BE49-F238E27FC236}">
                <a16:creationId xmlns:a16="http://schemas.microsoft.com/office/drawing/2014/main" id="{33331F37-F452-DCB3-4411-C1A01ACA6086}"/>
              </a:ext>
            </a:extLst>
          </p:cNvPr>
          <p:cNvPicPr>
            <a:picLocks noChangeAspect="1"/>
          </p:cNvPicPr>
          <p:nvPr/>
        </p:nvPicPr>
        <p:blipFill>
          <a:blip r:embed="rId2"/>
          <a:stretch>
            <a:fillRect/>
          </a:stretch>
        </p:blipFill>
        <p:spPr>
          <a:xfrm>
            <a:off x="6477000" y="3505200"/>
            <a:ext cx="15595600" cy="1021080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tx1"/>
                </a:solidFill>
              </a:defRPr>
            </a:lvl1pPr>
          </a:lstStyle>
          <a:p>
            <a:r>
              <a:rPr lang="en-GB"/>
              <a:t>Click to edit Master title style</a:t>
            </a:r>
            <a:endParaRPr lang="en-US"/>
          </a:p>
        </p:txBody>
      </p:sp>
      <p:pic>
        <p:nvPicPr>
          <p:cNvPr id="10" name="Graphic 9">
            <a:extLst>
              <a:ext uri="{FF2B5EF4-FFF2-40B4-BE49-F238E27FC236}">
                <a16:creationId xmlns:a16="http://schemas.microsoft.com/office/drawing/2014/main" id="{560B9142-7D87-064B-BCED-0E0338E2CEB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5223524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p:cSld name="Three Quarters Image Slide">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275A4A0-E19C-C4F8-98F8-140F87325D35}"/>
              </a:ext>
            </a:extLst>
          </p:cNvPr>
          <p:cNvPicPr>
            <a:picLocks noChangeAspect="1"/>
          </p:cNvPicPr>
          <p:nvPr/>
        </p:nvPicPr>
        <p:blipFill>
          <a:blip r:embed="rId2"/>
          <a:stretch>
            <a:fillRect/>
          </a:stretch>
        </p:blipFill>
        <p:spPr>
          <a:xfrm>
            <a:off x="1828801" y="1561559"/>
            <a:ext cx="4661586" cy="12154442"/>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GB"/>
              <a:t>Click to edit Master title style</a:t>
            </a:r>
            <a:endParaRPr lang="en-US"/>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6" y="3687499"/>
            <a:ext cx="3621768" cy="2923878"/>
          </a:xfrm>
        </p:spPr>
        <p:txBody>
          <a:bodyPr wrap="square"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35F2CBC9-A0AF-2443-B4F3-88F00DA34117}"/>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EA2D8B16-7E02-9445-B5E1-B56444A338A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58296D2F-477C-6447-A70C-6F56CD3959A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058536599"/>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p:cSld name="1/2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GB"/>
              <a:t>Click to edit Master title style</a:t>
            </a:r>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584776"/>
          </a:xfrm>
          <a:ln>
            <a:noFill/>
          </a:ln>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1" y="7127210"/>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4"/>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6"/>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409929162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p:cSld name="1/2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GB"/>
              <a:t>Click to edit Master title style</a:t>
            </a:r>
            <a:endParaRPr lang="en-US"/>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37867484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p:cSld name="1/4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GB"/>
              <a:t>Click to edit Master title style</a:t>
            </a:r>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2"/>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9" name="Picture 8">
            <a:extLst>
              <a:ext uri="{FF2B5EF4-FFF2-40B4-BE49-F238E27FC236}">
                <a16:creationId xmlns:a16="http://schemas.microsoft.com/office/drawing/2014/main" id="{18F9BD06-D191-BDCC-0EAC-42370967C2BC}"/>
              </a:ext>
            </a:extLst>
          </p:cNvPr>
          <p:cNvPicPr>
            <a:picLocks noChangeAspect="1"/>
          </p:cNvPicPr>
          <p:nvPr/>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74937589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p:cSld name="1/4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GB"/>
              <a:t>Click to edit Master title style</a:t>
            </a:r>
            <a:endParaRPr lang="en-US"/>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Picture 2">
            <a:extLst>
              <a:ext uri="{FF2B5EF4-FFF2-40B4-BE49-F238E27FC236}">
                <a16:creationId xmlns:a16="http://schemas.microsoft.com/office/drawing/2014/main" id="{C7C982CA-A7CF-7C04-1CB1-C8824A257D5C}"/>
              </a:ext>
            </a:extLst>
          </p:cNvPr>
          <p:cNvPicPr>
            <a:picLocks noChangeAspect="1"/>
          </p:cNvPicPr>
          <p:nvPr/>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96801500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p:cSld name="Half Image Slide">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AE153A-C27C-ED1B-A797-B1AF88EB49A5}"/>
              </a:ext>
            </a:extLst>
          </p:cNvPr>
          <p:cNvPicPr>
            <a:picLocks noChangeAspect="1"/>
          </p:cNvPicPr>
          <p:nvPr/>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1169551"/>
          </a:xfrm>
        </p:spPr>
        <p:txBody>
          <a:bodyPr vert="horz" lIns="0" tIns="0" rIns="0" bIns="0" rtlCol="0">
            <a:spAutoFit/>
          </a:bodyPr>
          <a:lstStyle>
            <a:lvl1pPr marL="22226" indent="-22226" algn="l">
              <a:buFontTx/>
              <a:buNone/>
              <a:tabLst/>
              <a:defRPr lang="en-US" sz="3800" dirty="0">
                <a:ln w="3175">
                  <a:noFill/>
                </a:ln>
                <a:solidFill>
                  <a:schemeClr val="bg1"/>
                </a:solidFill>
              </a:defRPr>
            </a:lvl1pPr>
          </a:lstStyle>
          <a:p>
            <a:pPr marL="285750" lvl="0" indent="-285750" fontAlgn="base"/>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GB"/>
              <a:t>Click to edit Master title style</a:t>
            </a:r>
            <a:endParaRPr lang="en-US"/>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289787928"/>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preserve="1">
  <p:cSld name="Half Image Slide - CLEAN">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6E9DF5-DA4D-AF41-F284-D6545E66BD73}"/>
              </a:ext>
            </a:extLst>
          </p:cNvPr>
          <p:cNvPicPr>
            <a:picLocks noChangeAspect="1"/>
          </p:cNvPicPr>
          <p:nvPr/>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GB"/>
              <a:t>Click to edit Master title style</a:t>
            </a:r>
            <a:endParaRPr lang="en-US"/>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14548524"/>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p:cSld name="Half Imag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21FBB69-2B1F-1005-8EB3-A8CA021F7215}"/>
              </a:ext>
            </a:extLst>
          </p:cNvPr>
          <p:cNvPicPr>
            <a:picLocks noChangeAspect="1"/>
          </p:cNvPicPr>
          <p:nvPr/>
        </p:nvPicPr>
        <p:blipFill>
          <a:blip r:embed="rId2"/>
          <a:stretch>
            <a:fillRect/>
          </a:stretch>
        </p:blipFill>
        <p:spPr>
          <a:xfrm>
            <a:off x="2024380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pic>
        <p:nvPicPr>
          <p:cNvPr id="11" name="Graphic 10">
            <a:extLst>
              <a:ext uri="{FF2B5EF4-FFF2-40B4-BE49-F238E27FC236}">
                <a16:creationId xmlns:a16="http://schemas.microsoft.com/office/drawing/2014/main" id="{560D37C1-D211-7745-B68E-02001098F85F}"/>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1169551"/>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968086"/>
          </a:xfrm>
        </p:spPr>
        <p:txBody>
          <a:bodyPr>
            <a:spAutoFit/>
          </a:bodyPr>
          <a:lstStyle>
            <a:lvl1pPr>
              <a:defRPr>
                <a:ln w="9525">
                  <a:noFill/>
                </a:ln>
                <a:solidFill>
                  <a:schemeClr val="bg1"/>
                </a:solidFill>
              </a:defRPr>
            </a:lvl1pPr>
          </a:lstStyle>
          <a:p>
            <a:r>
              <a:rPr lang="en-GB"/>
              <a:t>Click to edit Master title style</a:t>
            </a:r>
            <a:endParaRPr lang="en-US"/>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2" name="Footer Placeholder 4">
            <a:extLst>
              <a:ext uri="{FF2B5EF4-FFF2-40B4-BE49-F238E27FC236}">
                <a16:creationId xmlns:a16="http://schemas.microsoft.com/office/drawing/2014/main" id="{030F3032-5515-C84F-A5D0-90898242F86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FEAC8327-2A21-3A42-BA7B-F64F4DEAA72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304360"/>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p:cSld name="Half Imag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7E79AC3-2DC9-96CB-4501-666928E88325}"/>
              </a:ext>
            </a:extLst>
          </p:cNvPr>
          <p:cNvPicPr>
            <a:picLocks noChangeAspect="1"/>
          </p:cNvPicPr>
          <p:nvPr/>
        </p:nvPicPr>
        <p:blipFill>
          <a:blip r:embed="rId2"/>
          <a:stretch>
            <a:fillRect/>
          </a:stretch>
        </p:blipFill>
        <p:spPr>
          <a:xfrm>
            <a:off x="1219200" y="0"/>
            <a:ext cx="23164800" cy="13716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339102"/>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4042132"/>
          </a:xfrm>
        </p:spPr>
        <p:txBody>
          <a:bodyPr vert="horz" lIns="0" tIns="0" rIns="0" bIns="0" rtlCol="0">
            <a:spAutoFit/>
          </a:bodyPr>
          <a:lstStyle>
            <a:lvl1pPr marL="285750" marR="0" indent="-28575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GB"/>
              <a:t>Click to edit Master title style</a:t>
            </a:r>
            <a:endParaRPr lang="en-US"/>
          </a:p>
        </p:txBody>
      </p:sp>
      <p:pic>
        <p:nvPicPr>
          <p:cNvPr id="10" name="Graphic 9">
            <a:extLst>
              <a:ext uri="{FF2B5EF4-FFF2-40B4-BE49-F238E27FC236}">
                <a16:creationId xmlns:a16="http://schemas.microsoft.com/office/drawing/2014/main" id="{38317098-BF10-BA42-A3E5-65C0634430A9}"/>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B4D4954A-7D78-384F-A44A-7BC1E849140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49BE3EAB-DEA7-184A-90BB-B4E1E574417C}"/>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1311057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cSld name="Breaker">
    <p:bg>
      <p:bgPr>
        <a:solidFill>
          <a:srgbClr val="EB0000"/>
        </a:solidFill>
        <a:effectLst/>
      </p:bgPr>
    </p:bg>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723901" y="653291"/>
            <a:ext cx="11160126" cy="4200146"/>
          </a:xfrm>
          <a:noFill/>
          <a:ln>
            <a:noFill/>
          </a:ln>
        </p:spPr>
        <p:txBody>
          <a:bodyPr vert="horz" lIns="0" tIns="0" rIns="0" bIns="0" rtlCol="0" anchor="b">
            <a:noAutofit/>
          </a:bodyPr>
          <a:lstStyle>
            <a:lvl1pPr marL="0" indent="0" fontAlgn="base">
              <a:lnSpc>
                <a:spcPct val="112000"/>
              </a:lnSpc>
              <a:spcBef>
                <a:spcPts val="0"/>
              </a:spcBef>
              <a:buNone/>
              <a:defRPr lang="en-US" sz="90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758826" y="4998536"/>
            <a:ext cx="11125200" cy="1627188"/>
          </a:xfrm>
        </p:spPr>
        <p:txBody>
          <a:bodyPr vert="horz" lIns="0" tIns="0" rIns="0" bIns="0" rtlCol="0" anchor="t">
            <a:noAutofit/>
          </a:bodyPr>
          <a:lstStyle>
            <a:lvl1pPr marL="0" indent="0">
              <a:buNone/>
              <a:defRPr lang="en-US" sz="5200" dirty="0">
                <a:ln>
                  <a:noFill/>
                </a:ln>
                <a:solidFill>
                  <a:schemeClr val="bg1"/>
                </a:solidFill>
              </a:defRPr>
            </a:lvl1pPr>
          </a:lstStyle>
          <a:p>
            <a:pPr lvl="0"/>
            <a:r>
              <a:rPr lang="en-US"/>
              <a:t>All titles/subtitles are sentence case</a:t>
            </a:r>
          </a:p>
        </p:txBody>
      </p:sp>
      <p:sp>
        <p:nvSpPr>
          <p:cNvPr id="6" name="Freeform 5">
            <a:extLst>
              <a:ext uri="{FF2B5EF4-FFF2-40B4-BE49-F238E27FC236}">
                <a16:creationId xmlns:a16="http://schemas.microsoft.com/office/drawing/2014/main" id="{B96AE158-57F3-42F7-BA5B-F9CAC8029C8B}"/>
              </a:ext>
            </a:extLst>
          </p:cNvPr>
          <p:cNvSpPr>
            <a:spLocks noEditPoints="1"/>
          </p:cNvSpPr>
          <p:nvPr/>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pic>
        <p:nvPicPr>
          <p:cNvPr id="11" name="Graphic 10">
            <a:extLst>
              <a:ext uri="{FF2B5EF4-FFF2-40B4-BE49-F238E27FC236}">
                <a16:creationId xmlns:a16="http://schemas.microsoft.com/office/drawing/2014/main" id="{E2097F27-DC5D-B0F0-CE35-0D1889844CE1}"/>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9159050" y="11386529"/>
            <a:ext cx="4567724" cy="2058482"/>
          </a:xfrm>
          <a:prstGeom prst="rect">
            <a:avLst/>
          </a:prstGeom>
        </p:spPr>
      </p:pic>
    </p:spTree>
    <p:extLst>
      <p:ext uri="{BB962C8B-B14F-4D97-AF65-F5344CB8AC3E}">
        <p14:creationId xmlns:p14="http://schemas.microsoft.com/office/powerpoint/2010/main" val="370573453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_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847579155"/>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lvl1pPr>
              <a:defRPr>
                <a:solidFill>
                  <a:schemeClr val="tx1"/>
                </a:solidFill>
              </a:defRPr>
            </a:lvl1p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Graphic 2">
            <a:extLst>
              <a:ext uri="{FF2B5EF4-FFF2-40B4-BE49-F238E27FC236}">
                <a16:creationId xmlns:a16="http://schemas.microsoft.com/office/drawing/2014/main" id="{00D83E88-A286-BF1F-719B-20F1C44734C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cxnSp>
        <p:nvCxnSpPr>
          <p:cNvPr id="2" name="Straight Connector 1">
            <a:extLst>
              <a:ext uri="{FF2B5EF4-FFF2-40B4-BE49-F238E27FC236}">
                <a16:creationId xmlns:a16="http://schemas.microsoft.com/office/drawing/2014/main" id="{9720D620-A98D-8E56-CDB8-0DC6E5725E42}"/>
              </a:ext>
            </a:extLst>
          </p:cNvPr>
          <p:cNvCxnSpPr>
            <a:cxnSpLocks/>
          </p:cNvCxnSpPr>
          <p:nvPr userDrawn="1"/>
        </p:nvCxnSpPr>
        <p:spPr>
          <a:xfrm flipV="1">
            <a:off x="0" y="2151390"/>
            <a:ext cx="24384000" cy="147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058157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Single column Simple - with subhea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3739563"/>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674407F1-A2F8-A84F-8E52-03F123F4BEF5}"/>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C88CD766-7446-9844-8381-BB1A5421A8C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
        <p:nvSpPr>
          <p:cNvPr id="3" name="Text Placeholder 2">
            <a:extLst>
              <a:ext uri="{FF2B5EF4-FFF2-40B4-BE49-F238E27FC236}">
                <a16:creationId xmlns:a16="http://schemas.microsoft.com/office/drawing/2014/main" id="{3D5AAC42-935B-0E18-6CAC-AB1A022B59F1}"/>
              </a:ext>
            </a:extLst>
          </p:cNvPr>
          <p:cNvSpPr>
            <a:spLocks noGrp="1"/>
          </p:cNvSpPr>
          <p:nvPr>
            <p:ph type="body" sz="quarter" idx="13" hasCustomPrompt="1"/>
          </p:nvPr>
        </p:nvSpPr>
        <p:spPr>
          <a:xfrm>
            <a:off x="341756" y="2781300"/>
            <a:ext cx="22936200" cy="584776"/>
          </a:xfrm>
        </p:spPr>
        <p:txBody>
          <a:bodyPr/>
          <a:lstStyle>
            <a:lvl1pPr marL="0" indent="0">
              <a:buNone/>
              <a:defRPr sz="3800" b="1"/>
            </a:lvl1pPr>
            <a:lvl2pPr marL="566736" indent="0">
              <a:buNone/>
              <a:defRPr/>
            </a:lvl2pPr>
          </a:lstStyle>
          <a:p>
            <a:r>
              <a:rPr lang="en-US"/>
              <a:t>Subtitle or callout if needed, all titles and subtitles are sentence case </a:t>
            </a:r>
          </a:p>
        </p:txBody>
      </p:sp>
    </p:spTree>
    <p:extLst>
      <p:ext uri="{BB962C8B-B14F-4D97-AF65-F5344CB8AC3E}">
        <p14:creationId xmlns:p14="http://schemas.microsoft.com/office/powerpoint/2010/main" val="160577050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1" y="-4805"/>
            <a:ext cx="25334686" cy="2199366"/>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769779906"/>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Title Only_2 lin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F274A9-9392-1E6D-7D16-896285565278}"/>
              </a:ext>
            </a:extLst>
          </p:cNvPr>
          <p:cNvSpPr/>
          <p:nvPr userDrawn="1"/>
        </p:nvSpPr>
        <p:spPr>
          <a:xfrm>
            <a:off x="0" y="0"/>
            <a:ext cx="24384000" cy="308008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4" name="Picture 3">
            <a:extLst>
              <a:ext uri="{FF2B5EF4-FFF2-40B4-BE49-F238E27FC236}">
                <a16:creationId xmlns:a16="http://schemas.microsoft.com/office/drawing/2014/main" id="{4F67146D-3C58-F6B2-201A-B16919DBC4A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8203113" y="-16457"/>
            <a:ext cx="17160602" cy="3096542"/>
          </a:xfrm>
          <a:prstGeom prst="rect">
            <a:avLst/>
          </a:prstGeom>
        </p:spPr>
      </p:pic>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771677549"/>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96731110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1716024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10728346" cy="968086"/>
          </a:xfrm>
        </p:spPr>
        <p:txBody>
          <a:bodyPr wrap="square">
            <a:spAutoFit/>
          </a:bodyPr>
          <a:lstStyle/>
          <a:p>
            <a:r>
              <a:rPr lang="en-US"/>
              <a:t>Click to edit Master title style</a:t>
            </a:r>
          </a:p>
        </p:txBody>
      </p:sp>
      <p:sp>
        <p:nvSpPr>
          <p:cNvPr id="8" name="Footer Placeholder 4">
            <a:extLst>
              <a:ext uri="{FF2B5EF4-FFF2-40B4-BE49-F238E27FC236}">
                <a16:creationId xmlns:a16="http://schemas.microsoft.com/office/drawing/2014/main" id="{7D4F1EC5-6BB8-4049-A825-325656113ED2}"/>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E7854F2A-2BBB-9446-B185-6215C140A16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58220489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08EE2D0-C5F7-40AF-BD24-47EFB4DD9E34}"/>
              </a:ext>
            </a:extLst>
          </p:cNvPr>
          <p:cNvSpPr>
            <a:spLocks noGrp="1"/>
          </p:cNvSpPr>
          <p:nvPr>
            <p:ph idx="1"/>
          </p:nvPr>
        </p:nvSpPr>
        <p:spPr>
          <a:xfrm>
            <a:off x="16059154" y="2777165"/>
            <a:ext cx="7600948" cy="3488134"/>
          </a:xfrm>
          <a:prstGeom prst="rect">
            <a:avLst/>
          </a:prstGeom>
        </p:spPr>
        <p:txBody>
          <a:bodyPr vert="horz"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731520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0" y="2777164"/>
            <a:ext cx="5468112" cy="2339102"/>
          </a:xfrm>
        </p:spPr>
        <p:txBody>
          <a:bodyPr vert="horz" lIns="0" tIns="0" rIns="0" bIns="0" rtlCol="0">
            <a:spAutoFit/>
          </a:bodyPr>
          <a:lstStyle>
            <a:lvl1pPr>
              <a:defRPr lang="en-US" sz="3800" dirty="0">
                <a:ln w="3175">
                  <a:noFill/>
                </a:ln>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spAutoFit/>
          </a:bodyPr>
          <a:lstStyle>
            <a:lvl1pPr>
              <a:defRPr/>
            </a:lvl1pPr>
          </a:lstStyle>
          <a:p>
            <a:r>
              <a:rPr lang="en-US"/>
              <a:t>Click to edit Master title style</a:t>
            </a:r>
          </a:p>
        </p:txBody>
      </p:sp>
      <p:sp>
        <p:nvSpPr>
          <p:cNvPr id="11" name="Footer Placeholder 4">
            <a:extLst>
              <a:ext uri="{FF2B5EF4-FFF2-40B4-BE49-F238E27FC236}">
                <a16:creationId xmlns:a16="http://schemas.microsoft.com/office/drawing/2014/main" id="{BD398495-5CA8-A54C-9A38-9431C227BC1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2" name="Slide Number Placeholder 5">
            <a:extLst>
              <a:ext uri="{FF2B5EF4-FFF2-40B4-BE49-F238E27FC236}">
                <a16:creationId xmlns:a16="http://schemas.microsoft.com/office/drawing/2014/main" id="{A111FE5C-B17D-C948-BFCC-6ED5E14CB16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0" name="Straight Connector 9">
            <a:extLst>
              <a:ext uri="{FF2B5EF4-FFF2-40B4-BE49-F238E27FC236}">
                <a16:creationId xmlns:a16="http://schemas.microsoft.com/office/drawing/2014/main" id="{A44C8227-D505-9341-8E5C-224832E8A51F}"/>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51542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454140" y="7086755"/>
            <a:ext cx="17183100" cy="553998"/>
          </a:xfrm>
        </p:spPr>
        <p:txBody>
          <a:bodyPr>
            <a:spAutoFit/>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a:xfrm>
            <a:off x="668995" y="537179"/>
            <a:ext cx="5466338" cy="968086"/>
          </a:xfrm>
        </p:spPr>
        <p:txBody>
          <a:bodyPr>
            <a:spAutoFit/>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8" name="Footer Placeholder 4">
            <a:extLst>
              <a:ext uri="{FF2B5EF4-FFF2-40B4-BE49-F238E27FC236}">
                <a16:creationId xmlns:a16="http://schemas.microsoft.com/office/drawing/2014/main" id="{6814554E-586D-8349-951F-737144ECEFF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AED0D651-E967-D846-AE30-12C061B6AD3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1" name="Straight Connector 10">
            <a:extLst>
              <a:ext uri="{FF2B5EF4-FFF2-40B4-BE49-F238E27FC236}">
                <a16:creationId xmlns:a16="http://schemas.microsoft.com/office/drawing/2014/main" id="{675D0394-D778-4C4A-B92A-6E09A7B88B9A}"/>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1498644"/>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a:xfrm>
            <a:off x="668995" y="537179"/>
            <a:ext cx="5466338" cy="968086"/>
          </a:xfrm>
        </p:spPr>
        <p:txBody>
          <a:bodyPr>
            <a:spAutoFit/>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8" name="Footer Placeholder 4">
            <a:extLst>
              <a:ext uri="{FF2B5EF4-FFF2-40B4-BE49-F238E27FC236}">
                <a16:creationId xmlns:a16="http://schemas.microsoft.com/office/drawing/2014/main" id="{D53B314B-9934-844F-8E14-6C502D2AE42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3CFD438D-CA4D-3A43-9B82-E14EC033B7C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378813440"/>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1754326"/>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2017604"/>
          </a:xfrm>
        </p:spPr>
        <p:txBody>
          <a:bodyPr>
            <a:spAutoFit/>
          </a:bodyPr>
          <a:lstStyle>
            <a:lvl1pPr>
              <a:defRPr>
                <a:solidFill>
                  <a:schemeClr val="tx1"/>
                </a:solidFill>
              </a:defRPr>
            </a:lvl1pPr>
          </a:lstStyle>
          <a:p>
            <a:r>
              <a:rPr lang="en-US"/>
              <a:t>Click to edit Master title style</a:t>
            </a:r>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userDrawn="1"/>
        </p:nvCxnSpPr>
        <p:spPr>
          <a:xfrm>
            <a:off x="8382000" y="0"/>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 Placeholder 2">
            <a:extLst>
              <a:ext uri="{FF2B5EF4-FFF2-40B4-BE49-F238E27FC236}">
                <a16:creationId xmlns:a16="http://schemas.microsoft.com/office/drawing/2014/main" id="{9F9C88D5-EA56-4ED2-8CB6-44F2BBA4023F}"/>
              </a:ext>
            </a:extLst>
          </p:cNvPr>
          <p:cNvSpPr>
            <a:spLocks noGrp="1"/>
          </p:cNvSpPr>
          <p:nvPr>
            <p:ph idx="1"/>
          </p:nvPr>
        </p:nvSpPr>
        <p:spPr>
          <a:xfrm>
            <a:off x="8382000" y="624971"/>
            <a:ext cx="15255604" cy="3488134"/>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BD6CB0B8-ED09-5144-8406-07EDCA221F9D}"/>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2AD6F17-DC4F-CE4D-A30F-37972705D1E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5F1A3402-461B-144B-A624-EADA6F4A5FE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13969527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1201D0FE-A135-6A46-ABB9-BBF42B08B05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A428A25E-B962-BD41-AC5A-2B7F8C365999}"/>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0" name="Slide Number Placeholder 5">
            <a:extLst>
              <a:ext uri="{FF2B5EF4-FFF2-40B4-BE49-F238E27FC236}">
                <a16:creationId xmlns:a16="http://schemas.microsoft.com/office/drawing/2014/main" id="{5A8BC5D7-A295-2344-8AAD-7A638D124615}"/>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08489451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2">
            <a:extLst>
              <a:ext uri="{FF2B5EF4-FFF2-40B4-BE49-F238E27FC236}">
                <a16:creationId xmlns:a16="http://schemas.microsoft.com/office/drawing/2014/main" id="{FD053F94-CE8F-4987-AA33-DA71ADDB4BC1}"/>
              </a:ext>
            </a:extLst>
          </p:cNvPr>
          <p:cNvSpPr>
            <a:spLocks noGrp="1"/>
          </p:cNvSpPr>
          <p:nvPr>
            <p:ph idx="1"/>
          </p:nvPr>
        </p:nvSpPr>
        <p:spPr>
          <a:xfrm>
            <a:off x="17945102" y="624970"/>
            <a:ext cx="5715000" cy="4042132"/>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2D21F748-F78B-AA44-87E0-992F504FBC08}"/>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69668EDE-1295-9546-ABA0-27E4B7F5041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361D0353-9518-CE4F-AEC9-0A3AD47D4590}"/>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42399750"/>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3488134"/>
          </a:xfrm>
        </p:spPr>
        <p:txBody>
          <a:bodyPr lIns="0">
            <a:spAutoFit/>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Graphic 8">
            <a:extLst>
              <a:ext uri="{FF2B5EF4-FFF2-40B4-BE49-F238E27FC236}">
                <a16:creationId xmlns:a16="http://schemas.microsoft.com/office/drawing/2014/main" id="{59F508EA-9B74-CF42-99A9-ABCDB2E9903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35545590-189E-BE41-BDD7-DCC3999A6E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1D0045EB-86A1-6D46-873D-E4EC1E9D359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22541583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3488134"/>
          </a:xfr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169550"/>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9C7DEFAB-97E6-284D-BD67-FB08386B5E6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2DA1221E-A67C-744E-9C4B-331BEF727F33}"/>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46CF78B-534F-E345-BE6A-BED63A26C73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248045987"/>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3" y="4800600"/>
            <a:ext cx="5714998" cy="4114800"/>
          </a:xfrm>
          <a:prstGeom prst="rect">
            <a:avLst/>
          </a:prstGeom>
          <a:solidFill>
            <a:schemeClr val="bg1"/>
          </a:solidFill>
        </p:spPr>
        <p:txBody>
          <a:bodyPr vert="horz" lIns="182880" tIns="137160" rIns="18288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1"/>
                </a:solidFill>
              </a:defRPr>
            </a:lvl1pPr>
          </a:lstStyle>
          <a:p>
            <a:pPr marL="0" lvl="0" indent="0">
              <a:spcAft>
                <a:spcPts val="3000"/>
              </a:spcAft>
              <a:buFont typeface="Arial" panose="020B0604020202020204" pitchFamily="34" charset="0"/>
            </a:pPr>
            <a:r>
              <a:rPr lang="en-US"/>
              <a:t>Click to edit Master title style</a:t>
            </a:r>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0" name="Graphic 9">
            <a:extLst>
              <a:ext uri="{FF2B5EF4-FFF2-40B4-BE49-F238E27FC236}">
                <a16:creationId xmlns:a16="http://schemas.microsoft.com/office/drawing/2014/main" id="{D97CAA73-BE46-614E-9C41-8AF7FB50184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A4D9BADF-324E-5B4F-A422-61F7145DA2D8}"/>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700835EC-3A47-8644-806F-A3840BA3472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719047920"/>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4" name="Picture 3">
            <a:extLst>
              <a:ext uri="{FF2B5EF4-FFF2-40B4-BE49-F238E27FC236}">
                <a16:creationId xmlns:a16="http://schemas.microsoft.com/office/drawing/2014/main" id="{DC3D7A00-2891-24B2-ED6C-5B28CC4847A3}"/>
              </a:ext>
            </a:extLst>
          </p:cNvPr>
          <p:cNvPicPr>
            <a:picLocks noChangeAspect="1"/>
          </p:cNvPicPr>
          <p:nvPr userDrawn="1"/>
        </p:nvPicPr>
        <p:blipFill>
          <a:blip r:embed="rId2"/>
          <a:stretch>
            <a:fillRect/>
          </a:stretch>
        </p:blipFill>
        <p:spPr>
          <a:xfrm>
            <a:off x="0" y="4419600"/>
            <a:ext cx="6477000" cy="9296400"/>
          </a:xfrm>
          <a:prstGeom prst="rect">
            <a:avLst/>
          </a:prstGeom>
        </p:spPr>
      </p:pic>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639856075"/>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1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4" name="Picture 3">
            <a:extLst>
              <a:ext uri="{FF2B5EF4-FFF2-40B4-BE49-F238E27FC236}">
                <a16:creationId xmlns:a16="http://schemas.microsoft.com/office/drawing/2014/main" id="{80CA3236-00EC-F44A-FE12-1CA61956F0E7}"/>
              </a:ext>
            </a:extLst>
          </p:cNvPr>
          <p:cNvPicPr>
            <a:picLocks noChangeAspect="1"/>
          </p:cNvPicPr>
          <p:nvPr userDrawn="1"/>
        </p:nvPicPr>
        <p:blipFill>
          <a:blip r:embed="rId4"/>
          <a:stretch>
            <a:fillRect/>
          </a:stretch>
        </p:blipFill>
        <p:spPr>
          <a:xfrm>
            <a:off x="0" y="9491472"/>
            <a:ext cx="6452388" cy="4224528"/>
          </a:xfrm>
          <a:prstGeom prst="rect">
            <a:avLst/>
          </a:prstGeom>
        </p:spPr>
      </p:pic>
    </p:spTree>
    <p:extLst>
      <p:ext uri="{BB962C8B-B14F-4D97-AF65-F5344CB8AC3E}">
        <p14:creationId xmlns:p14="http://schemas.microsoft.com/office/powerpoint/2010/main" val="549525902"/>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2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flipH="1">
            <a:off x="6477000" y="0"/>
            <a:ext cx="1790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6" name="Picture 5">
            <a:extLst>
              <a:ext uri="{FF2B5EF4-FFF2-40B4-BE49-F238E27FC236}">
                <a16:creationId xmlns:a16="http://schemas.microsoft.com/office/drawing/2014/main" id="{33331F37-F452-DCB3-4411-C1A01ACA6086}"/>
              </a:ext>
            </a:extLst>
          </p:cNvPr>
          <p:cNvPicPr>
            <a:picLocks noChangeAspect="1"/>
          </p:cNvPicPr>
          <p:nvPr userDrawn="1"/>
        </p:nvPicPr>
        <p:blipFill>
          <a:blip r:embed="rId2"/>
          <a:stretch>
            <a:fillRect/>
          </a:stretch>
        </p:blipFill>
        <p:spPr>
          <a:xfrm>
            <a:off x="6477000" y="3505200"/>
            <a:ext cx="15595600" cy="1021080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tx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4465045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Three Quarters Image Slide">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275A4A0-E19C-C4F8-98F8-140F87325D35}"/>
              </a:ext>
            </a:extLst>
          </p:cNvPr>
          <p:cNvPicPr>
            <a:picLocks noChangeAspect="1"/>
          </p:cNvPicPr>
          <p:nvPr userDrawn="1"/>
        </p:nvPicPr>
        <p:blipFill>
          <a:blip r:embed="rId2"/>
          <a:stretch>
            <a:fillRect/>
          </a:stretch>
        </p:blipFill>
        <p:spPr>
          <a:xfrm>
            <a:off x="1828801" y="1561559"/>
            <a:ext cx="4661586" cy="12154442"/>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6" y="3687499"/>
            <a:ext cx="3621768" cy="2923878"/>
          </a:xfrm>
        </p:spPr>
        <p:txBody>
          <a:bodyPr wrap="square"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35F2CBC9-A0AF-2443-B4F3-88F00DA34117}"/>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EA2D8B16-7E02-9445-B5E1-B56444A338A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58296D2F-477C-6447-A70C-6F56CD3959A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65869881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1/2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584776"/>
          </a:xfrm>
          <a:ln>
            <a:noFill/>
          </a:ln>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1" y="7127210"/>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4"/>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6"/>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371343623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preserve="1" userDrawn="1">
  <p:cSld name="1/2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4217457363"/>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1/4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2"/>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9" name="Picture 8">
            <a:extLst>
              <a:ext uri="{FF2B5EF4-FFF2-40B4-BE49-F238E27FC236}">
                <a16:creationId xmlns:a16="http://schemas.microsoft.com/office/drawing/2014/main" id="{18F9BD06-D191-BDCC-0EAC-42370967C2BC}"/>
              </a:ext>
            </a:extLst>
          </p:cNvPr>
          <p:cNvPicPr>
            <a:picLocks noChangeAspect="1"/>
          </p:cNvPicPr>
          <p:nvPr userDrawn="1"/>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236749597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preserve="1" userDrawn="1">
  <p:cSld name="1/4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Picture 2">
            <a:extLst>
              <a:ext uri="{FF2B5EF4-FFF2-40B4-BE49-F238E27FC236}">
                <a16:creationId xmlns:a16="http://schemas.microsoft.com/office/drawing/2014/main" id="{C7C982CA-A7CF-7C04-1CB1-C8824A257D5C}"/>
              </a:ext>
            </a:extLst>
          </p:cNvPr>
          <p:cNvPicPr>
            <a:picLocks noChangeAspect="1"/>
          </p:cNvPicPr>
          <p:nvPr userDrawn="1"/>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19118413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reserve="1" userDrawn="1">
  <p:cSld name="Half Image Slide">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AE153A-C27C-ED1B-A797-B1AF88EB49A5}"/>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1169551"/>
          </a:xfrm>
        </p:spPr>
        <p:txBody>
          <a:bodyPr vert="horz" lIns="0" tIns="0" rIns="0" bIns="0" rtlCol="0">
            <a:spAutoFit/>
          </a:bodyPr>
          <a:lstStyle>
            <a:lvl1pPr marL="22226" indent="-22226" algn="l">
              <a:buFontTx/>
              <a:buNone/>
              <a:tabLst/>
              <a:defRPr lang="en-US" sz="3800" dirty="0">
                <a:ln w="3175">
                  <a:noFill/>
                </a:ln>
                <a:solidFill>
                  <a:schemeClr val="bg1"/>
                </a:solidFill>
              </a:defRPr>
            </a:lvl1pPr>
          </a:lstStyle>
          <a:p>
            <a:pPr marL="285750" lvl="0" indent="-285750" fontAlgn="base"/>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13162165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preserve="1" userDrawn="1">
  <p:cSld name="Half Image Slide - CLEAN">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6E9DF5-DA4D-AF41-F284-D6545E66BD73}"/>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444181330"/>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userDrawn="1">
  <p:cSld name="Half Imag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21FBB69-2B1F-1005-8EB3-A8CA021F7215}"/>
              </a:ext>
            </a:extLst>
          </p:cNvPr>
          <p:cNvPicPr>
            <a:picLocks noChangeAspect="1"/>
          </p:cNvPicPr>
          <p:nvPr userDrawn="1"/>
        </p:nvPicPr>
        <p:blipFill>
          <a:blip r:embed="rId2"/>
          <a:stretch>
            <a:fillRect/>
          </a:stretch>
        </p:blipFill>
        <p:spPr>
          <a:xfrm>
            <a:off x="2024380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pic>
        <p:nvPicPr>
          <p:cNvPr id="11" name="Graphic 10">
            <a:extLst>
              <a:ext uri="{FF2B5EF4-FFF2-40B4-BE49-F238E27FC236}">
                <a16:creationId xmlns:a16="http://schemas.microsoft.com/office/drawing/2014/main" id="{560D37C1-D211-7745-B68E-02001098F85F}"/>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1169551"/>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Footer Placeholder 4">
            <a:extLst>
              <a:ext uri="{FF2B5EF4-FFF2-40B4-BE49-F238E27FC236}">
                <a16:creationId xmlns:a16="http://schemas.microsoft.com/office/drawing/2014/main" id="{030F3032-5515-C84F-A5D0-90898242F86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FEAC8327-2A21-3A42-BA7B-F64F4DEAA72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960027349"/>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userDrawn="1">
  <p:cSld name="Half Imag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7E79AC3-2DC9-96CB-4501-666928E88325}"/>
              </a:ext>
            </a:extLst>
          </p:cNvPr>
          <p:cNvPicPr>
            <a:picLocks noChangeAspect="1"/>
          </p:cNvPicPr>
          <p:nvPr userDrawn="1"/>
        </p:nvPicPr>
        <p:blipFill>
          <a:blip r:embed="rId2"/>
          <a:stretch>
            <a:fillRect/>
          </a:stretch>
        </p:blipFill>
        <p:spPr>
          <a:xfrm>
            <a:off x="1219200" y="0"/>
            <a:ext cx="23164800" cy="13716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339102"/>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4042132"/>
          </a:xfrm>
        </p:spPr>
        <p:txBody>
          <a:bodyPr vert="horz" lIns="0" tIns="0" rIns="0" bIns="0" rtlCol="0">
            <a:spAutoFit/>
          </a:bodyPr>
          <a:lstStyle>
            <a:lvl1pPr marL="285750" marR="0" indent="-28575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38317098-BF10-BA42-A3E5-65C0634430A9}"/>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B4D4954A-7D78-384F-A44A-7BC1E849140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49BE3EAB-DEA7-184A-90BB-B4E1E574417C}"/>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591203961"/>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userDrawn="1">
  <p:cSld name="Breaker">
    <p:bg>
      <p:bgPr>
        <a:solidFill>
          <a:srgbClr val="EB0000"/>
        </a:solidFill>
        <a:effectLst/>
      </p:bgPr>
    </p:bg>
    <p:spTree>
      <p:nvGrpSpPr>
        <p:cNvPr id="1" name=""/>
        <p:cNvGrpSpPr/>
        <p:nvPr/>
      </p:nvGrpSpPr>
      <p:grpSpPr>
        <a:xfrm>
          <a:off x="0" y="0"/>
          <a:ext cx="0" cy="0"/>
          <a:chOff x="0" y="0"/>
          <a:chExt cx="0" cy="0"/>
        </a:xfrm>
      </p:grpSpPr>
      <p:sp>
        <p:nvSpPr>
          <p:cNvPr id="2" name="Do not remove" hidden="1">
            <a:extLst>
              <a:ext uri="{FF2B5EF4-FFF2-40B4-BE49-F238E27FC236}">
                <a16:creationId xmlns:a16="http://schemas.microsoft.com/office/drawing/2014/main" id="{17727FDA-86D3-4D06-C926-1BD82F47BE17}"/>
              </a:ext>
            </a:extLst>
          </p:cNvPr>
          <p:cNvSpPr/>
          <p:nvPr userDrawn="1">
            <p:custDataLst>
              <p:tags r:id="rId1"/>
            </p:custDataLst>
          </p:nvPr>
        </p:nvSpPr>
        <p:spPr>
          <a:xfrm>
            <a:off x="0" y="0"/>
            <a:ext cx="12700" cy="12700"/>
          </a:xfrm>
          <a:prstGeom prst="octagon">
            <a:avLst/>
          </a:prstGeom>
          <a:noFill/>
          <a:ln>
            <a:noFill/>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723901" y="653291"/>
            <a:ext cx="11160126" cy="4200146"/>
          </a:xfrm>
          <a:noFill/>
          <a:ln>
            <a:noFill/>
          </a:ln>
        </p:spPr>
        <p:txBody>
          <a:bodyPr vert="horz" lIns="0" tIns="0" rIns="0" bIns="0" rtlCol="0" anchor="b">
            <a:noAutofit/>
          </a:bodyPr>
          <a:lstStyle>
            <a:lvl1pPr marL="0" indent="0" fontAlgn="base">
              <a:lnSpc>
                <a:spcPct val="112000"/>
              </a:lnSpc>
              <a:spcBef>
                <a:spcPts val="0"/>
              </a:spcBef>
              <a:buNone/>
              <a:defRPr lang="en-US" sz="90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758826" y="4998536"/>
            <a:ext cx="11125200" cy="1627188"/>
          </a:xfrm>
        </p:spPr>
        <p:txBody>
          <a:bodyPr vert="horz" lIns="0" tIns="0" rIns="0" bIns="0" rtlCol="0" anchor="t">
            <a:noAutofit/>
          </a:bodyPr>
          <a:lstStyle>
            <a:lvl1pPr marL="0" indent="0">
              <a:buNone/>
              <a:defRPr lang="en-US" sz="5200" dirty="0">
                <a:ln>
                  <a:noFill/>
                </a:ln>
                <a:solidFill>
                  <a:schemeClr val="bg1"/>
                </a:solidFill>
              </a:defRPr>
            </a:lvl1pPr>
          </a:lstStyle>
          <a:p>
            <a:pPr lvl="0"/>
            <a:r>
              <a:rPr lang="en-US"/>
              <a:t>All titles/subtitles are sentence case</a:t>
            </a:r>
          </a:p>
        </p:txBody>
      </p:sp>
      <p:sp>
        <p:nvSpPr>
          <p:cNvPr id="6" name="Freeform 5">
            <a:extLst>
              <a:ext uri="{FF2B5EF4-FFF2-40B4-BE49-F238E27FC236}">
                <a16:creationId xmlns:a16="http://schemas.microsoft.com/office/drawing/2014/main" id="{B96AE158-57F3-42F7-BA5B-F9CAC8029C8B}"/>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pic>
        <p:nvPicPr>
          <p:cNvPr id="11" name="Graphic 10">
            <a:extLst>
              <a:ext uri="{FF2B5EF4-FFF2-40B4-BE49-F238E27FC236}">
                <a16:creationId xmlns:a16="http://schemas.microsoft.com/office/drawing/2014/main" id="{E2097F27-DC5D-B0F0-CE35-0D1889844CE1}"/>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19159050" y="11386529"/>
            <a:ext cx="4567724" cy="2058482"/>
          </a:xfrm>
          <a:prstGeom prst="rect">
            <a:avLst/>
          </a:prstGeom>
        </p:spPr>
      </p:pic>
    </p:spTree>
    <p:extLst>
      <p:ext uri="{BB962C8B-B14F-4D97-AF65-F5344CB8AC3E}">
        <p14:creationId xmlns:p14="http://schemas.microsoft.com/office/powerpoint/2010/main" val="2717980038"/>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preserve="1" userDrawn="1">
  <p:cSld name="Titl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852BA2-98D6-7533-BEC6-1C416BA117B0}"/>
              </a:ext>
            </a:extLst>
          </p:cNvPr>
          <p:cNvPicPr>
            <a:picLocks noChangeAspect="1"/>
          </p:cNvPicPr>
          <p:nvPr userDrawn="1"/>
        </p:nvPicPr>
        <p:blipFill>
          <a:blip r:embed="rId2"/>
          <a:stretch>
            <a:fillRect/>
          </a:stretch>
        </p:blipFill>
        <p:spPr>
          <a:xfrm>
            <a:off x="9474200" y="0"/>
            <a:ext cx="14909800" cy="12547600"/>
          </a:xfrm>
          <a:prstGeom prst="rect">
            <a:avLst/>
          </a:prstGeom>
        </p:spPr>
      </p:pic>
      <p:pic>
        <p:nvPicPr>
          <p:cNvPr id="8" name="Graphic 7">
            <a:extLst>
              <a:ext uri="{FF2B5EF4-FFF2-40B4-BE49-F238E27FC236}">
                <a16:creationId xmlns:a16="http://schemas.microsoft.com/office/drawing/2014/main" id="{269A90C7-9D7B-A646-8F2F-D8E6C28659C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4" name="Text Placeholder 16">
            <a:extLst>
              <a:ext uri="{FF2B5EF4-FFF2-40B4-BE49-F238E27FC236}">
                <a16:creationId xmlns:a16="http://schemas.microsoft.com/office/drawing/2014/main" id="{2968C323-10BA-3F4F-90A6-9A79E5FF2F52}"/>
              </a:ext>
            </a:extLst>
          </p:cNvPr>
          <p:cNvSpPr>
            <a:spLocks noGrp="1"/>
          </p:cNvSpPr>
          <p:nvPr>
            <p:ph type="body" sz="quarter" idx="10" hasCustomPrompt="1"/>
          </p:nvPr>
        </p:nvSpPr>
        <p:spPr>
          <a:xfrm>
            <a:off x="697741" y="10634525"/>
            <a:ext cx="11372850" cy="923330"/>
          </a:xfrm>
          <a:prstGeom prst="rect">
            <a:avLst/>
          </a:prstGeom>
        </p:spPr>
        <p:txBody>
          <a:bodyPr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1C861E3C-8230-296F-72BF-BEB912769B1B}"/>
              </a:ext>
            </a:extLst>
          </p:cNvPr>
          <p:cNvSpPr>
            <a:spLocks noGrp="1"/>
          </p:cNvSpPr>
          <p:nvPr>
            <p:ph type="ctrTitle" hasCustomPrompt="1"/>
          </p:nvPr>
        </p:nvSpPr>
        <p:spPr>
          <a:xfrm>
            <a:off x="647091" y="2023304"/>
            <a:ext cx="7039170" cy="390927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2863497-253D-0001-302A-BF7F6FB0FAE4}"/>
              </a:ext>
            </a:extLst>
          </p:cNvPr>
          <p:cNvSpPr>
            <a:spLocks noGrp="1"/>
          </p:cNvSpPr>
          <p:nvPr>
            <p:ph type="subTitle" idx="1" hasCustomPrompt="1"/>
          </p:nvPr>
        </p:nvSpPr>
        <p:spPr>
          <a:xfrm>
            <a:off x="677318" y="8726846"/>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9" name="Graphic 2">
            <a:extLst>
              <a:ext uri="{FF2B5EF4-FFF2-40B4-BE49-F238E27FC236}">
                <a16:creationId xmlns:a16="http://schemas.microsoft.com/office/drawing/2014/main" id="{0D088DC0-E273-1CE5-DFE6-10BBE1FC38A2}"/>
              </a:ext>
            </a:extLst>
          </p:cNvPr>
          <p:cNvSpPr/>
          <p:nvPr/>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17069678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Titl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4165BA7-6ECE-E932-9733-522489AB48D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2716813" y="0"/>
            <a:ext cx="21667186" cy="13716000"/>
          </a:xfrm>
          <a:prstGeom prst="rect">
            <a:avLst/>
          </a:prstGeom>
        </p:spPr>
      </p:pic>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866296"/>
            <a:ext cx="9530580" cy="253043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4181062"/>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2" name="Graphic 2">
            <a:extLst>
              <a:ext uri="{FF2B5EF4-FFF2-40B4-BE49-F238E27FC236}">
                <a16:creationId xmlns:a16="http://schemas.microsoft.com/office/drawing/2014/main" id="{457CADE9-063A-C4C9-1176-8F57C2E75155}"/>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1574615096"/>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1_Title Slide 2">
    <p:bg>
      <p:bgPr>
        <a:solidFill>
          <a:schemeClr val="tx1"/>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BDEC1B2-A9FA-0B77-AC13-22F8DA3B7D44}"/>
              </a:ext>
            </a:extLst>
          </p:cNvPr>
          <p:cNvPicPr>
            <a:picLocks noChangeAspect="1"/>
          </p:cNvPicPr>
          <p:nvPr userDrawn="1"/>
        </p:nvPicPr>
        <p:blipFill>
          <a:blip r:embed="rId2"/>
          <a:stretch>
            <a:fillRect/>
          </a:stretch>
        </p:blipFill>
        <p:spPr>
          <a:xfrm>
            <a:off x="8585200" y="0"/>
            <a:ext cx="15798800" cy="13716000"/>
          </a:xfrm>
          <a:prstGeom prst="rect">
            <a:avLst/>
          </a:prstGeom>
        </p:spPr>
      </p:pic>
      <p:pic>
        <p:nvPicPr>
          <p:cNvPr id="8" name="Graphic 7">
            <a:extLst>
              <a:ext uri="{FF2B5EF4-FFF2-40B4-BE49-F238E27FC236}">
                <a16:creationId xmlns:a16="http://schemas.microsoft.com/office/drawing/2014/main" id="{269A90C7-9D7B-A646-8F2F-D8E6C28659C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4" name="Text Placeholder 16">
            <a:extLst>
              <a:ext uri="{FF2B5EF4-FFF2-40B4-BE49-F238E27FC236}">
                <a16:creationId xmlns:a16="http://schemas.microsoft.com/office/drawing/2014/main" id="{2968C323-10BA-3F4F-90A6-9A79E5FF2F52}"/>
              </a:ext>
            </a:extLst>
          </p:cNvPr>
          <p:cNvSpPr>
            <a:spLocks noGrp="1"/>
          </p:cNvSpPr>
          <p:nvPr>
            <p:ph type="body" sz="quarter" idx="10" hasCustomPrompt="1"/>
          </p:nvPr>
        </p:nvSpPr>
        <p:spPr>
          <a:xfrm>
            <a:off x="697741" y="10634525"/>
            <a:ext cx="11372850" cy="923330"/>
          </a:xfrm>
          <a:prstGeom prst="rect">
            <a:avLst/>
          </a:prstGeom>
        </p:spPr>
        <p:txBody>
          <a:bodyPr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1C861E3C-8230-296F-72BF-BEB912769B1B}"/>
              </a:ext>
            </a:extLst>
          </p:cNvPr>
          <p:cNvSpPr>
            <a:spLocks noGrp="1"/>
          </p:cNvSpPr>
          <p:nvPr>
            <p:ph type="ctrTitle" hasCustomPrompt="1"/>
          </p:nvPr>
        </p:nvSpPr>
        <p:spPr>
          <a:xfrm>
            <a:off x="647091" y="689014"/>
            <a:ext cx="7039170" cy="390927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2863497-253D-0001-302A-BF7F6FB0FAE4}"/>
              </a:ext>
            </a:extLst>
          </p:cNvPr>
          <p:cNvSpPr>
            <a:spLocks noGrp="1"/>
          </p:cNvSpPr>
          <p:nvPr>
            <p:ph type="subTitle" idx="1" hasCustomPrompt="1"/>
          </p:nvPr>
        </p:nvSpPr>
        <p:spPr>
          <a:xfrm>
            <a:off x="677318" y="8726846"/>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2" name="Graphic 2">
            <a:extLst>
              <a:ext uri="{FF2B5EF4-FFF2-40B4-BE49-F238E27FC236}">
                <a16:creationId xmlns:a16="http://schemas.microsoft.com/office/drawing/2014/main" id="{B4239C57-54FA-A50C-6C7B-5EFD7193668D}"/>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630026448"/>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2_Title Slide 3">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3DD463D2-A0CD-1A39-8F26-8419F763EB28}"/>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545612" y="0"/>
            <a:ext cx="19838388" cy="13716000"/>
          </a:xfrm>
          <a:prstGeom prst="rect">
            <a:avLst/>
          </a:prstGeom>
        </p:spPr>
      </p:pic>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1874118"/>
            <a:ext cx="9530580" cy="253043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5188884"/>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3" name="Graphic 2">
            <a:extLst>
              <a:ext uri="{FF2B5EF4-FFF2-40B4-BE49-F238E27FC236}">
                <a16:creationId xmlns:a16="http://schemas.microsoft.com/office/drawing/2014/main" id="{B077200D-89FC-938D-58D7-7538DC70F329}"/>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590542989"/>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1_Title Slide 3">
    <p:bg>
      <p:bgPr>
        <a:solidFill>
          <a:schemeClr val="tx1"/>
        </a:solidFill>
        <a:effectLst/>
      </p:bgPr>
    </p:bg>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a:solidFill>
                  <a:schemeClr val="bg1"/>
                </a:solidFill>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2065906"/>
            <a:ext cx="9530580" cy="2530436"/>
          </a:xfrm>
          <a:prstGeom prst="rect">
            <a:avLst/>
          </a:prstGeom>
        </p:spPr>
        <p:txBody>
          <a:bodyPr wrap="square" lIns="0" tIns="0" rIns="0" bIns="0" anchor="b" anchorCtr="0">
            <a:spAutoFit/>
          </a:bodyPr>
          <a:lstStyle>
            <a:lvl1pPr algn="l" fontAlgn="b">
              <a:lnSpc>
                <a:spcPct val="112000"/>
              </a:lnSpc>
              <a:defRPr sz="8000">
                <a:solidFill>
                  <a:schemeClr val="bg1"/>
                </a:solidFill>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5380672"/>
            <a:ext cx="4835588" cy="1477328"/>
          </a:xfrm>
          <a:prstGeom prst="rect">
            <a:avLst/>
          </a:prstGeom>
        </p:spPr>
        <p:txBody>
          <a:bodyPr wrap="square" lIns="0" tIns="0" rIns="0" bIns="0" anchor="t">
            <a:spAutoFit/>
          </a:bodyPr>
          <a:lstStyle>
            <a:lvl1pPr marL="0" indent="0" algn="l">
              <a:buNone/>
              <a:defRPr sz="4800">
                <a:ln>
                  <a:noFill/>
                </a:ln>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pic>
        <p:nvPicPr>
          <p:cNvPr id="3" name="Picture 2">
            <a:extLst>
              <a:ext uri="{FF2B5EF4-FFF2-40B4-BE49-F238E27FC236}">
                <a16:creationId xmlns:a16="http://schemas.microsoft.com/office/drawing/2014/main" id="{AE28AD9D-E530-B3D6-1DA4-6BDBE343733C}"/>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10695047" y="0"/>
            <a:ext cx="13688954" cy="13716000"/>
          </a:xfrm>
          <a:prstGeom prst="rect">
            <a:avLst/>
          </a:prstGeom>
        </p:spPr>
      </p:pic>
      <p:sp>
        <p:nvSpPr>
          <p:cNvPr id="2" name="Graphic 2">
            <a:extLst>
              <a:ext uri="{FF2B5EF4-FFF2-40B4-BE49-F238E27FC236}">
                <a16:creationId xmlns:a16="http://schemas.microsoft.com/office/drawing/2014/main" id="{7E7E76DF-5156-C21D-C055-E4AEB1A5577E}"/>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26896329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Breaker">
    <p:bg>
      <p:bgPr>
        <a:solidFill>
          <a:schemeClr val="tx1"/>
        </a:solidFill>
        <a:effectLst/>
      </p:bgPr>
    </p:bg>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0873689" y="623811"/>
            <a:ext cx="11160126" cy="4200146"/>
          </a:xfrm>
          <a:prstGeom prst="rect">
            <a:avLst/>
          </a:prstGeom>
          <a:noFill/>
          <a:ln>
            <a:noFill/>
          </a:ln>
        </p:spPr>
        <p:txBody>
          <a:bodyPr vert="horz" lIns="0" tIns="0" rIns="0" bIns="0" rtlCol="0" anchor="b">
            <a:noAutofit/>
          </a:bodyPr>
          <a:lstStyle>
            <a:lvl1pPr marL="0" indent="0" fontAlgn="base">
              <a:lnSpc>
                <a:spcPct val="112000"/>
              </a:lnSpc>
              <a:spcBef>
                <a:spcPts val="0"/>
              </a:spcBef>
              <a:buNone/>
              <a:defRPr lang="en-US" sz="90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0908615" y="4969057"/>
            <a:ext cx="8875710" cy="1600438"/>
          </a:xfrm>
          <a:prstGeom prst="rect">
            <a:avLst/>
          </a:prstGeom>
        </p:spPr>
        <p:txBody>
          <a:bodyPr vert="horz" wrap="square" lIns="0" tIns="0" rIns="0" bIns="0" rtlCol="0" anchor="t">
            <a:spAutoFit/>
          </a:bodyPr>
          <a:lstStyle>
            <a:lvl1pPr marL="0" indent="0">
              <a:buNone/>
              <a:defRPr lang="en-US" sz="5200" dirty="0">
                <a:ln>
                  <a:noFill/>
                </a:ln>
                <a:solidFill>
                  <a:schemeClr val="bg1"/>
                </a:solidFill>
              </a:defRPr>
            </a:lvl1pPr>
          </a:lstStyle>
          <a:p>
            <a:pPr lvl="0"/>
            <a:r>
              <a:rPr lang="en-US"/>
              <a:t>All titles/subtitles are sentence case</a:t>
            </a:r>
          </a:p>
        </p:txBody>
      </p:sp>
      <p:pic>
        <p:nvPicPr>
          <p:cNvPr id="6" name="Graphic 5">
            <a:extLst>
              <a:ext uri="{FF2B5EF4-FFF2-40B4-BE49-F238E27FC236}">
                <a16:creationId xmlns:a16="http://schemas.microsoft.com/office/drawing/2014/main" id="{C0F6F2E4-2F4C-BB43-8EB6-24C72650C2E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 name="Graphic 2">
            <a:extLst>
              <a:ext uri="{FF2B5EF4-FFF2-40B4-BE49-F238E27FC236}">
                <a16:creationId xmlns:a16="http://schemas.microsoft.com/office/drawing/2014/main" id="{4765CAD0-7126-5B70-C779-9CC35C2AEB1D}"/>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pic>
        <p:nvPicPr>
          <p:cNvPr id="5" name="Picture 4">
            <a:extLst>
              <a:ext uri="{FF2B5EF4-FFF2-40B4-BE49-F238E27FC236}">
                <a16:creationId xmlns:a16="http://schemas.microsoft.com/office/drawing/2014/main" id="{0678CA17-1D97-0236-79E4-26F5DC7150C4}"/>
              </a:ext>
            </a:extLst>
          </p:cNvPr>
          <p:cNvPicPr>
            <a:picLocks noChangeAspect="1"/>
          </p:cNvPicPr>
          <p:nvPr userDrawn="1"/>
        </p:nvPicPr>
        <p:blipFill>
          <a:blip r:embed="rId4"/>
          <a:stretch>
            <a:fillRect/>
          </a:stretch>
        </p:blipFill>
        <p:spPr>
          <a:xfrm>
            <a:off x="3810000" y="0"/>
            <a:ext cx="20574000" cy="13716000"/>
          </a:xfrm>
          <a:prstGeom prst="rect">
            <a:avLst/>
          </a:prstGeom>
        </p:spPr>
      </p:pic>
    </p:spTree>
    <p:extLst>
      <p:ext uri="{BB962C8B-B14F-4D97-AF65-F5344CB8AC3E}">
        <p14:creationId xmlns:p14="http://schemas.microsoft.com/office/powerpoint/2010/main" val="289919401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userDrawn="1">
  <p:cSld name="1_Breaker">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B8DA39-5EB3-C1BA-D804-706D71953C1A}"/>
              </a:ext>
            </a:extLst>
          </p:cNvPr>
          <p:cNvPicPr>
            <a:picLocks noChangeAspect="1"/>
          </p:cNvPicPr>
          <p:nvPr userDrawn="1"/>
        </p:nvPicPr>
        <p:blipFill>
          <a:blip r:embed="rId2"/>
          <a:stretch>
            <a:fillRect/>
          </a:stretch>
        </p:blipFill>
        <p:spPr>
          <a:xfrm flipH="1">
            <a:off x="0" y="0"/>
            <a:ext cx="14909800" cy="12547600"/>
          </a:xfrm>
          <a:prstGeom prst="rect">
            <a:avLst/>
          </a:prstGeom>
        </p:spPr>
      </p:pic>
      <p:pic>
        <p:nvPicPr>
          <p:cNvPr id="35" name="Graphic 34">
            <a:extLst>
              <a:ext uri="{FF2B5EF4-FFF2-40B4-BE49-F238E27FC236}">
                <a16:creationId xmlns:a16="http://schemas.microsoft.com/office/drawing/2014/main" id="{B740DB18-FB40-8A40-9C99-C82E37F311C5}"/>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4183359" y="2227766"/>
            <a:ext cx="10200642" cy="4485136"/>
          </a:xfrm>
          <a:prstGeom prst="rect">
            <a:avLst/>
          </a:prstGeom>
          <a:noFill/>
          <a:ln>
            <a:noFill/>
          </a:ln>
        </p:spPr>
        <p:txBody>
          <a:bodyPr vert="horz" lIns="0" tIns="0" rIns="0" bIns="0" rtlCol="0" anchor="b">
            <a:noAutofit/>
          </a:bodyPr>
          <a:lstStyle>
            <a:lvl1pPr marL="0" indent="0" fontAlgn="base">
              <a:lnSpc>
                <a:spcPct val="100000"/>
              </a:lnSpc>
              <a:spcBef>
                <a:spcPts val="0"/>
              </a:spcBef>
              <a:buNone/>
              <a:defRPr lang="en-US" sz="76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4218285" y="6858001"/>
            <a:ext cx="10168718" cy="615554"/>
          </a:xfrm>
          <a:prstGeom prst="rect">
            <a:avLst/>
          </a:prstGeom>
        </p:spPr>
        <p:txBody>
          <a:bodyPr vert="horz" wrap="square" lIns="0" tIns="0" rIns="0" bIns="0" rtlCol="0" anchor="t">
            <a:spAutoFit/>
          </a:bodyPr>
          <a:lstStyle>
            <a:lvl1pPr marL="0" indent="0">
              <a:buNone/>
              <a:defRPr lang="en-US" sz="4000" dirty="0">
                <a:ln>
                  <a:noFill/>
                </a:ln>
                <a:solidFill>
                  <a:schemeClr val="bg1"/>
                </a:solidFill>
              </a:defRPr>
            </a:lvl1pPr>
          </a:lstStyle>
          <a:p>
            <a:pPr lvl="0"/>
            <a:r>
              <a:rPr lang="en-US"/>
              <a:t>All titles/subtitles are sentence case</a:t>
            </a:r>
          </a:p>
        </p:txBody>
      </p:sp>
      <p:sp>
        <p:nvSpPr>
          <p:cNvPr id="3" name="Graphic 2">
            <a:extLst>
              <a:ext uri="{FF2B5EF4-FFF2-40B4-BE49-F238E27FC236}">
                <a16:creationId xmlns:a16="http://schemas.microsoft.com/office/drawing/2014/main" id="{7EF60E61-AA73-8D8E-6D66-BA84E61610FC}"/>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534348971"/>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userDrawn="1">
  <p:cSld name="Thank you US">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8542DD0-7F78-EC7A-D5FC-D2A142724A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3104" y="618382"/>
            <a:ext cx="519747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a:lnSpc>
                <a:spcPct val="110000"/>
              </a:lnSpc>
              <a:spcBef>
                <a:spcPts val="600"/>
              </a:spcBef>
              <a:spcAft>
                <a:spcPts val="600"/>
              </a:spcAft>
            </a:pPr>
            <a:r>
              <a:rPr lang="en-US" sz="3000" b="1">
                <a:solidFill>
                  <a:schemeClr val="tx1"/>
                </a:solidFill>
              </a:rPr>
              <a:t>Rackspace Technology</a:t>
            </a:r>
          </a:p>
          <a:p>
            <a:pPr>
              <a:lnSpc>
                <a:spcPct val="110000"/>
              </a:lnSpc>
              <a:spcBef>
                <a:spcPts val="600"/>
              </a:spcBef>
              <a:spcAft>
                <a:spcPts val="600"/>
              </a:spcAft>
            </a:pPr>
            <a:r>
              <a:rPr lang="en-US" sz="3000">
                <a:solidFill>
                  <a:schemeClr val="tx1"/>
                </a:solidFill>
              </a:rPr>
              <a:t>One Fanatical Place</a:t>
            </a:r>
            <a:br>
              <a:rPr lang="en-US" sz="3000">
                <a:solidFill>
                  <a:schemeClr val="tx1"/>
                </a:solidFill>
              </a:rPr>
            </a:br>
            <a:r>
              <a:rPr lang="en-US" sz="3000">
                <a:solidFill>
                  <a:schemeClr val="tx1"/>
                </a:solidFill>
              </a:rPr>
              <a:t>San Antonio, TX 78218</a:t>
            </a:r>
          </a:p>
          <a:p>
            <a:pPr>
              <a:lnSpc>
                <a:spcPct val="110000"/>
              </a:lnSpc>
              <a:spcBef>
                <a:spcPts val="600"/>
              </a:spcBef>
              <a:spcAft>
                <a:spcPts val="600"/>
              </a:spcAft>
            </a:pPr>
            <a:r>
              <a:rPr lang="en-US" sz="3000">
                <a:solidFill>
                  <a:schemeClr val="tx1"/>
                </a:solidFill>
              </a:rPr>
              <a:t>US sales: 1-800-961-2888 </a:t>
            </a:r>
            <a:br>
              <a:rPr lang="en-US" sz="3000">
                <a:solidFill>
                  <a:schemeClr val="tx1"/>
                </a:solidFill>
              </a:rPr>
            </a:br>
            <a:r>
              <a:rPr lang="en-US" sz="3000">
                <a:solidFill>
                  <a:schemeClr val="tx1"/>
                </a:solidFill>
              </a:rPr>
              <a:t>US support: 1-800-961-4454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www.rackspace.com</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p>
          <a:p>
            <a:pPr marL="0" marR="0" lvl="0" indent="0" algn="l" defTabSz="1828800" rtl="0" eaLnBrk="1" fontAlgn="auto" latinLnBrk="0" hangingPunct="1">
              <a:lnSpc>
                <a:spcPct val="110000"/>
              </a:lnSpc>
              <a:spcBef>
                <a:spcPts val="600"/>
              </a:spcBef>
              <a:spcAft>
                <a:spcPts val="600"/>
              </a:spcAft>
              <a:buClrTx/>
              <a:buSzTx/>
              <a:buFont typeface="Arial" panose="020B0604020202020204" pitchFamily="34" charset="0"/>
              <a:buNone/>
              <a:tabLst/>
              <a:defRPr/>
            </a:pPr>
            <a:endParaRPr lang="en-US" sz="900" cap="none" baseline="0">
              <a:solidFill>
                <a:schemeClr val="tx1"/>
              </a:solidFill>
            </a:endParaRPr>
          </a:p>
          <a:p>
            <a:pPr>
              <a:spcBef>
                <a:spcPts val="600"/>
              </a:spcBef>
              <a:spcAft>
                <a:spcPts val="600"/>
              </a:spcAft>
            </a:pPr>
            <a:endParaRPr lang="en-US" sz="900">
              <a:solidFill>
                <a:schemeClr val="tx1"/>
              </a:solidFill>
            </a:endParaRPr>
          </a:p>
        </p:txBody>
      </p:sp>
      <p:sp>
        <p:nvSpPr>
          <p:cNvPr id="8" name="Title 1">
            <a:extLst>
              <a:ext uri="{FF2B5EF4-FFF2-40B4-BE49-F238E27FC236}">
                <a16:creationId xmlns:a16="http://schemas.microsoft.com/office/drawing/2014/main" id="{CA8D6980-0755-4BDF-90B7-CB35F8A5326B}"/>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pic>
        <p:nvPicPr>
          <p:cNvPr id="9" name="Graphic 8">
            <a:extLst>
              <a:ext uri="{FF2B5EF4-FFF2-40B4-BE49-F238E27FC236}">
                <a16:creationId xmlns:a16="http://schemas.microsoft.com/office/drawing/2014/main" id="{40B8DA9A-ED61-5E43-8362-4E63965DB80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5" name="Graphic 2">
            <a:extLst>
              <a:ext uri="{FF2B5EF4-FFF2-40B4-BE49-F238E27FC236}">
                <a16:creationId xmlns:a16="http://schemas.microsoft.com/office/drawing/2014/main" id="{F5C83CB2-275A-FBA6-BB3A-46CB8C63DAB1}"/>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59718418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preserve="1" userDrawn="1">
  <p:cSld name="Thank you UK">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FFCA8B3-607E-EB86-6B92-3EC70005FC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1" kern="1200">
                <a:solidFill>
                  <a:schemeClr val="tx1"/>
                </a:solidFill>
                <a:latin typeface="+mn-lt"/>
                <a:ea typeface="+mn-ea"/>
                <a:cs typeface="+mn-cs"/>
              </a:rPr>
              <a:t>Rackspace Technology</a:t>
            </a:r>
          </a:p>
          <a:p>
            <a:pPr marL="0" algn="l" defTabSz="457200" rtl="0" eaLnBrk="1" latinLnBrk="0" hangingPunct="1">
              <a:lnSpc>
                <a:spcPct val="110000"/>
              </a:lnSpc>
              <a:spcBef>
                <a:spcPts val="600"/>
              </a:spcBef>
              <a:spcAft>
                <a:spcPts val="600"/>
              </a:spcAft>
            </a:pPr>
            <a:r>
              <a:rPr lang="en-US" sz="3000" kern="1200">
                <a:solidFill>
                  <a:schemeClr val="tx1"/>
                </a:solidFill>
                <a:latin typeface="+mn-lt"/>
                <a:ea typeface="+mn-ea"/>
                <a:cs typeface="+mn-cs"/>
              </a:rPr>
              <a:t>8 Millington Road</a:t>
            </a:r>
            <a:br>
              <a:rPr lang="en-US" sz="3000" kern="1200">
                <a:solidFill>
                  <a:schemeClr val="tx1"/>
                </a:solidFill>
                <a:latin typeface="+mn-lt"/>
                <a:ea typeface="+mn-ea"/>
                <a:cs typeface="+mn-cs"/>
              </a:rPr>
            </a:br>
            <a:r>
              <a:rPr lang="en-US" sz="3000" kern="1200">
                <a:solidFill>
                  <a:schemeClr val="tx1"/>
                </a:solidFill>
                <a:latin typeface="+mn-lt"/>
                <a:ea typeface="+mn-ea"/>
                <a:cs typeface="+mn-cs"/>
              </a:rPr>
              <a:t>Hayes, Middlesex </a:t>
            </a:r>
            <a:br>
              <a:rPr lang="en-US" sz="3000" kern="1200">
                <a:solidFill>
                  <a:schemeClr val="tx1"/>
                </a:solidFill>
                <a:latin typeface="+mn-lt"/>
                <a:ea typeface="+mn-ea"/>
                <a:cs typeface="+mn-cs"/>
              </a:rPr>
            </a:br>
            <a:r>
              <a:rPr lang="en-US" sz="3000" kern="1200">
                <a:solidFill>
                  <a:schemeClr val="tx1"/>
                </a:solidFill>
                <a:latin typeface="+mn-lt"/>
                <a:ea typeface="+mn-ea"/>
                <a:cs typeface="+mn-cs"/>
              </a:rPr>
              <a:t>UB3 4AZ</a:t>
            </a:r>
          </a:p>
          <a:p>
            <a:pPr>
              <a:lnSpc>
                <a:spcPct val="110000"/>
              </a:lnSpc>
              <a:spcBef>
                <a:spcPts val="600"/>
              </a:spcBef>
              <a:spcAft>
                <a:spcPts val="600"/>
              </a:spcAft>
            </a:pPr>
            <a:r>
              <a:rPr lang="en-US" sz="3000">
                <a:solidFill>
                  <a:schemeClr val="tx1"/>
                </a:solidFill>
              </a:rPr>
              <a:t>U.K. sales: 020 8734 2600  </a:t>
            </a:r>
            <a:br>
              <a:rPr lang="en-US" sz="3000">
                <a:solidFill>
                  <a:schemeClr val="tx1"/>
                </a:solidFill>
              </a:rPr>
            </a:br>
            <a:r>
              <a:rPr lang="en-US" sz="3000">
                <a:solidFill>
                  <a:schemeClr val="tx1"/>
                </a:solidFill>
              </a:rPr>
              <a:t>U.K. support: 020 8734 2700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www.rackspace.co.uk</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cap="none" baseline="0">
              <a:solidFill>
                <a:schemeClr val="tx1"/>
              </a:solidFill>
            </a:endParaRPr>
          </a:p>
          <a:p>
            <a:pPr>
              <a:spcBef>
                <a:spcPts val="600"/>
              </a:spcBef>
              <a:spcAft>
                <a:spcPts val="600"/>
              </a:spcAft>
            </a:pPr>
            <a:endParaRPr lang="en-US" sz="900">
              <a:solidFill>
                <a:schemeClr val="tx1"/>
              </a:solidFill>
            </a:endParaRPr>
          </a:p>
        </p:txBody>
      </p:sp>
      <p:pic>
        <p:nvPicPr>
          <p:cNvPr id="6" name="Graphic 5">
            <a:extLst>
              <a:ext uri="{FF2B5EF4-FFF2-40B4-BE49-F238E27FC236}">
                <a16:creationId xmlns:a16="http://schemas.microsoft.com/office/drawing/2014/main" id="{7C797846-2FE7-1F4B-A5B0-CC5DA49A249B}"/>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A5CD6002-EFB6-8A46-9A72-06D0A61799C8}"/>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sp>
        <p:nvSpPr>
          <p:cNvPr id="5" name="Graphic 2">
            <a:extLst>
              <a:ext uri="{FF2B5EF4-FFF2-40B4-BE49-F238E27FC236}">
                <a16:creationId xmlns:a16="http://schemas.microsoft.com/office/drawing/2014/main" id="{9EFADF9F-D78A-35D2-A20F-2DD7BA53DB69}"/>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60783666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preserve="1" userDrawn="1">
  <p:cSld name="Thank you AUS">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56B11D-EA4E-5DD4-8089-D6B4F96745E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1" kern="1200">
                <a:solidFill>
                  <a:schemeClr val="tx1"/>
                </a:solidFill>
                <a:latin typeface="+mn-lt"/>
                <a:ea typeface="+mn-ea"/>
                <a:cs typeface="+mn-cs"/>
              </a:rPr>
              <a:t>Rackspace Technology</a:t>
            </a:r>
          </a:p>
          <a:p>
            <a:pPr marL="0" algn="l" defTabSz="457200" rtl="0" eaLnBrk="1" latinLnBrk="0" hangingPunct="1">
              <a:lnSpc>
                <a:spcPct val="110000"/>
              </a:lnSpc>
              <a:spcBef>
                <a:spcPts val="600"/>
              </a:spcBef>
              <a:spcAft>
                <a:spcPts val="600"/>
              </a:spcAft>
            </a:pPr>
            <a:r>
              <a:rPr lang="en-US" sz="3000" kern="1200">
                <a:solidFill>
                  <a:schemeClr val="tx1"/>
                </a:solidFill>
                <a:latin typeface="+mn-lt"/>
                <a:ea typeface="+mn-ea"/>
                <a:cs typeface="+mn-cs"/>
              </a:rPr>
              <a:t>Level 1, 37 Pitt Street,</a:t>
            </a:r>
            <a:br>
              <a:rPr lang="en-US" sz="3000" kern="1200">
                <a:solidFill>
                  <a:schemeClr val="tx1"/>
                </a:solidFill>
                <a:latin typeface="+mn-lt"/>
                <a:ea typeface="+mn-ea"/>
                <a:cs typeface="+mn-cs"/>
              </a:rPr>
            </a:br>
            <a:r>
              <a:rPr lang="en-US" sz="3000" kern="1200">
                <a:solidFill>
                  <a:schemeClr val="tx1"/>
                </a:solidFill>
                <a:latin typeface="+mn-lt"/>
                <a:ea typeface="+mn-ea"/>
                <a:cs typeface="+mn-cs"/>
              </a:rPr>
              <a:t>Sydney NSW 2000, Australia</a:t>
            </a:r>
          </a:p>
          <a:p>
            <a:pPr>
              <a:lnSpc>
                <a:spcPct val="110000"/>
              </a:lnSpc>
              <a:spcBef>
                <a:spcPts val="600"/>
              </a:spcBef>
              <a:spcAft>
                <a:spcPts val="600"/>
              </a:spcAft>
            </a:pPr>
            <a:r>
              <a:rPr lang="en-US" sz="3000">
                <a:solidFill>
                  <a:schemeClr val="tx1"/>
                </a:solidFill>
              </a:rPr>
              <a:t>AUS sales: 1-800-722-577</a:t>
            </a:r>
            <a:br>
              <a:rPr lang="en-US" sz="3000">
                <a:solidFill>
                  <a:schemeClr val="tx1"/>
                </a:solidFill>
              </a:rPr>
            </a:br>
            <a:r>
              <a:rPr lang="en-US" sz="3000">
                <a:solidFill>
                  <a:schemeClr val="tx1"/>
                </a:solidFill>
              </a:rPr>
              <a:t>AUS support: 1-800-421-267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www.rackspace.co.au</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cap="none" baseline="0">
              <a:solidFill>
                <a:schemeClr val="tx1"/>
              </a:solidFill>
            </a:endParaRPr>
          </a:p>
          <a:p>
            <a:pPr>
              <a:spcBef>
                <a:spcPts val="600"/>
              </a:spcBef>
              <a:spcAft>
                <a:spcPts val="600"/>
              </a:spcAft>
            </a:pPr>
            <a:endParaRPr lang="en-US" sz="900">
              <a:solidFill>
                <a:schemeClr val="tx1"/>
              </a:solidFill>
            </a:endParaRPr>
          </a:p>
        </p:txBody>
      </p:sp>
      <p:pic>
        <p:nvPicPr>
          <p:cNvPr id="6" name="Graphic 5">
            <a:extLst>
              <a:ext uri="{FF2B5EF4-FFF2-40B4-BE49-F238E27FC236}">
                <a16:creationId xmlns:a16="http://schemas.microsoft.com/office/drawing/2014/main" id="{AC0FA533-2CE7-6E47-81C4-BFCDCCE0C1C4}"/>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1D0A5DDB-735A-4943-B6C8-C8D38CE28960}"/>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sp>
        <p:nvSpPr>
          <p:cNvPr id="5" name="Graphic 2">
            <a:extLst>
              <a:ext uri="{FF2B5EF4-FFF2-40B4-BE49-F238E27FC236}">
                <a16:creationId xmlns:a16="http://schemas.microsoft.com/office/drawing/2014/main" id="{624A405F-8B3B-B4AB-17B8-B5417AC9E53C}"/>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96852765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preserve="1" userDrawn="1">
  <p:cSld name="Thank you ASIA">
    <p:bg>
      <p:bgPr>
        <a:solidFill>
          <a:schemeClr val="tx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497F4D2-160B-C97C-40D9-A804160E6AD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123703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1" kern="1200">
                <a:solidFill>
                  <a:schemeClr val="tx1"/>
                </a:solidFill>
                <a:latin typeface="+mn-lt"/>
                <a:ea typeface="+mn-ea"/>
                <a:cs typeface="+mn-cs"/>
              </a:rPr>
              <a:t>Rackspace Technology</a:t>
            </a:r>
          </a:p>
          <a:p>
            <a:pPr marL="0" marR="0" lvl="0" indent="0" algn="l" defTabSz="457200" rtl="0" eaLnBrk="1" fontAlgn="auto" latinLnBrk="0" hangingPunct="1">
              <a:lnSpc>
                <a:spcPct val="110000"/>
              </a:lnSpc>
              <a:spcBef>
                <a:spcPts val="600"/>
              </a:spcBef>
              <a:spcAft>
                <a:spcPts val="1200"/>
              </a:spcAft>
              <a:buClrTx/>
              <a:buSzTx/>
              <a:buFontTx/>
              <a:buNone/>
              <a:tabLst/>
              <a:defRPr/>
            </a:pPr>
            <a:r>
              <a:rPr lang="en-US" sz="3000" kern="1200" cap="none">
                <a:solidFill>
                  <a:schemeClr val="tx1"/>
                </a:solidFill>
                <a:latin typeface="+mn-lt"/>
                <a:ea typeface="+mn-ea"/>
                <a:cs typeface="+mn-cs"/>
              </a:rPr>
              <a:t>9/F., Cambridge House</a:t>
            </a:r>
            <a:br>
              <a:rPr lang="en-US" sz="3000" kern="1200" cap="none">
                <a:solidFill>
                  <a:schemeClr val="tx1"/>
                </a:solidFill>
                <a:latin typeface="+mn-lt"/>
                <a:ea typeface="+mn-ea"/>
                <a:cs typeface="+mn-cs"/>
              </a:rPr>
            </a:br>
            <a:r>
              <a:rPr lang="en-US" sz="3000" kern="1200" cap="none">
                <a:solidFill>
                  <a:schemeClr val="tx1"/>
                </a:solidFill>
                <a:latin typeface="+mn-lt"/>
                <a:ea typeface="+mn-ea"/>
                <a:cs typeface="+mn-cs"/>
              </a:rPr>
              <a:t>Taikoo Place, 979 King's Road</a:t>
            </a:r>
            <a:br>
              <a:rPr lang="en-US" sz="3000" kern="1200" cap="none">
                <a:solidFill>
                  <a:schemeClr val="tx1"/>
                </a:solidFill>
                <a:latin typeface="+mn-lt"/>
                <a:ea typeface="+mn-ea"/>
                <a:cs typeface="+mn-cs"/>
              </a:rPr>
            </a:br>
            <a:r>
              <a:rPr lang="en-US" sz="3000" kern="1200" cap="none">
                <a:solidFill>
                  <a:schemeClr val="tx1"/>
                </a:solidFill>
                <a:latin typeface="+mn-lt"/>
                <a:ea typeface="+mn-ea"/>
                <a:cs typeface="+mn-cs"/>
              </a:rPr>
              <a:t>Quarry Bay, Hong Kong</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China: +86 21 5058 8808 </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Hong Kong: +852 3752 6488 </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India: 000800 100 8796</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Philippines: 1 800 1110 1468 </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Singapore: +65 6428 6102 </a:t>
            </a:r>
          </a:p>
          <a:p>
            <a:pPr marL="0" algn="l" defTabSz="457200" rtl="0" eaLnBrk="1" latinLnBrk="0" hangingPunct="1">
              <a:lnSpc>
                <a:spcPct val="110000"/>
              </a:lnSpc>
              <a:spcBef>
                <a:spcPts val="600"/>
              </a:spcBef>
              <a:spcAft>
                <a:spcPts val="0"/>
              </a:spcAft>
            </a:pPr>
            <a:r>
              <a:rPr lang="en-US" sz="3000" kern="1200" cap="none">
                <a:solidFill>
                  <a:schemeClr val="tx1"/>
                </a:solidFill>
                <a:latin typeface="+mn-lt"/>
                <a:ea typeface="+mn-ea"/>
                <a:cs typeface="+mn-cs"/>
              </a:rPr>
              <a:t>Taiwan: +886 2 2650 7441</a:t>
            </a:r>
          </a:p>
          <a:p>
            <a:pPr marL="0" algn="l" defTabSz="457200" rtl="0" eaLnBrk="1" latinLnBrk="0" hangingPunct="1">
              <a:lnSpc>
                <a:spcPct val="110000"/>
              </a:lnSpc>
              <a:spcBef>
                <a:spcPts val="600"/>
              </a:spcBef>
              <a:spcAft>
                <a:spcPts val="1200"/>
              </a:spcAft>
            </a:pPr>
            <a:r>
              <a:rPr lang="en-US" sz="3000" kern="1200" cap="none">
                <a:solidFill>
                  <a:schemeClr val="tx1"/>
                </a:solidFill>
                <a:latin typeface="+mn-lt"/>
                <a:ea typeface="+mn-ea"/>
                <a:cs typeface="+mn-cs"/>
              </a:rPr>
              <a:t>Thailand: +66 2105 5712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www.rackspace.com</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cap="none" baseline="0">
              <a:solidFill>
                <a:schemeClr val="tx1"/>
              </a:solidFill>
            </a:endParaRPr>
          </a:p>
          <a:p>
            <a:pPr>
              <a:spcBef>
                <a:spcPts val="600"/>
              </a:spcBef>
              <a:spcAft>
                <a:spcPts val="600"/>
              </a:spcAft>
            </a:pPr>
            <a:endParaRPr lang="en-US" sz="900">
              <a:solidFill>
                <a:schemeClr val="tx1"/>
              </a:solidFill>
            </a:endParaRPr>
          </a:p>
        </p:txBody>
      </p:sp>
      <p:pic>
        <p:nvPicPr>
          <p:cNvPr id="6" name="Graphic 5">
            <a:extLst>
              <a:ext uri="{FF2B5EF4-FFF2-40B4-BE49-F238E27FC236}">
                <a16:creationId xmlns:a16="http://schemas.microsoft.com/office/drawing/2014/main" id="{55E1009B-6DDE-3A4A-A67D-3789AA6DC5A4}"/>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62B38B6C-0963-FC49-B60A-104F4423F171}"/>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sp>
        <p:nvSpPr>
          <p:cNvPr id="4" name="Graphic 2">
            <a:extLst>
              <a:ext uri="{FF2B5EF4-FFF2-40B4-BE49-F238E27FC236}">
                <a16:creationId xmlns:a16="http://schemas.microsoft.com/office/drawing/2014/main" id="{3B656623-07C0-9359-8C07-651BB1DF88A2}"/>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1690365937"/>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userDrawn="1">
  <p:cSld name="2_Logo">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F4F7020-A4CC-335A-1D32-F7778AF48C3F}"/>
              </a:ext>
            </a:extLst>
          </p:cNvPr>
          <p:cNvPicPr>
            <a:picLocks noChangeAspect="1"/>
          </p:cNvPicPr>
          <p:nvPr userDrawn="1"/>
        </p:nvPicPr>
        <p:blipFill>
          <a:blip r:embed="rId2"/>
          <a:stretch>
            <a:fillRect/>
          </a:stretch>
        </p:blipFill>
        <p:spPr>
          <a:xfrm>
            <a:off x="1676400" y="0"/>
            <a:ext cx="21031200" cy="13716000"/>
          </a:xfrm>
          <a:prstGeom prst="rect">
            <a:avLst/>
          </a:prstGeom>
        </p:spPr>
      </p:pic>
      <p:sp>
        <p:nvSpPr>
          <p:cNvPr id="7" name="Graphic 5">
            <a:extLst>
              <a:ext uri="{FF2B5EF4-FFF2-40B4-BE49-F238E27FC236}">
                <a16:creationId xmlns:a16="http://schemas.microsoft.com/office/drawing/2014/main" id="{08DE7455-B783-AA7A-0958-9BF73F5F802D}"/>
              </a:ext>
            </a:extLst>
          </p:cNvPr>
          <p:cNvSpPr>
            <a:spLocks noChangeAspect="1"/>
          </p:cNvSpPr>
          <p:nvPr/>
        </p:nvSpPr>
        <p:spPr>
          <a:xfrm>
            <a:off x="5647010" y="5614416"/>
            <a:ext cx="13089980" cy="2487168"/>
          </a:xfrm>
          <a:custGeom>
            <a:avLst/>
            <a:gdLst>
              <a:gd name="connsiteX0" fmla="*/ 3216560 w 4875349"/>
              <a:gd name="connsiteY0" fmla="*/ 504882 h 926343"/>
              <a:gd name="connsiteX1" fmla="*/ 3216558 w 4875349"/>
              <a:gd name="connsiteY1" fmla="*/ 113422 h 926343"/>
              <a:gd name="connsiteX2" fmla="*/ 3240379 w 4875349"/>
              <a:gd name="connsiteY2" fmla="*/ 113422 h 926343"/>
              <a:gd name="connsiteX3" fmla="*/ 3240381 w 4875349"/>
              <a:gd name="connsiteY3" fmla="*/ 504882 h 926343"/>
              <a:gd name="connsiteX4" fmla="*/ 3216560 w 4875349"/>
              <a:gd name="connsiteY4" fmla="*/ 504882 h 926343"/>
              <a:gd name="connsiteX5" fmla="*/ 4045162 w 4875349"/>
              <a:gd name="connsiteY5" fmla="*/ 501503 h 926343"/>
              <a:gd name="connsiteX6" fmla="*/ 4065592 w 4875349"/>
              <a:gd name="connsiteY6" fmla="*/ 501503 h 926343"/>
              <a:gd name="connsiteX7" fmla="*/ 4065592 w 4875349"/>
              <a:gd name="connsiteY7" fmla="*/ 436819 h 926343"/>
              <a:gd name="connsiteX8" fmla="*/ 4113948 w 4875349"/>
              <a:gd name="connsiteY8" fmla="*/ 436819 h 926343"/>
              <a:gd name="connsiteX9" fmla="*/ 4113948 w 4875349"/>
              <a:gd name="connsiteY9" fmla="*/ 420806 h 926343"/>
              <a:gd name="connsiteX10" fmla="*/ 4065592 w 4875349"/>
              <a:gd name="connsiteY10" fmla="*/ 420806 h 926343"/>
              <a:gd name="connsiteX11" fmla="*/ 4065592 w 4875349"/>
              <a:gd name="connsiteY11" fmla="*/ 370635 h 926343"/>
              <a:gd name="connsiteX12" fmla="*/ 4121465 w 4875349"/>
              <a:gd name="connsiteY12" fmla="*/ 370635 h 926343"/>
              <a:gd name="connsiteX13" fmla="*/ 4123838 w 4875349"/>
              <a:gd name="connsiteY13" fmla="*/ 354398 h 926343"/>
              <a:gd name="connsiteX14" fmla="*/ 4045162 w 4875349"/>
              <a:gd name="connsiteY14" fmla="*/ 354398 h 926343"/>
              <a:gd name="connsiteX15" fmla="*/ 4045162 w 4875349"/>
              <a:gd name="connsiteY15" fmla="*/ 501503 h 926343"/>
              <a:gd name="connsiteX16" fmla="*/ 4173291 w 4875349"/>
              <a:gd name="connsiteY16" fmla="*/ 348426 h 926343"/>
              <a:gd name="connsiteX17" fmla="*/ 4159329 w 4875349"/>
              <a:gd name="connsiteY17" fmla="*/ 361661 h 926343"/>
              <a:gd name="connsiteX18" fmla="*/ 4145567 w 4875349"/>
              <a:gd name="connsiteY18" fmla="*/ 348426 h 926343"/>
              <a:gd name="connsiteX19" fmla="*/ 4159329 w 4875349"/>
              <a:gd name="connsiteY19" fmla="*/ 334968 h 926343"/>
              <a:gd name="connsiteX20" fmla="*/ 4173291 w 4875349"/>
              <a:gd name="connsiteY20" fmla="*/ 348426 h 926343"/>
              <a:gd name="connsiteX21" fmla="*/ 4169419 w 4875349"/>
              <a:gd name="connsiteY21" fmla="*/ 501497 h 926343"/>
              <a:gd name="connsiteX22" fmla="*/ 4149638 w 4875349"/>
              <a:gd name="connsiteY22" fmla="*/ 501497 h 926343"/>
              <a:gd name="connsiteX23" fmla="*/ 4149638 w 4875349"/>
              <a:gd name="connsiteY23" fmla="*/ 388985 h 926343"/>
              <a:gd name="connsiteX24" fmla="*/ 4169419 w 4875349"/>
              <a:gd name="connsiteY24" fmla="*/ 388985 h 926343"/>
              <a:gd name="connsiteX25" fmla="*/ 4169419 w 4875349"/>
              <a:gd name="connsiteY25" fmla="*/ 501497 h 926343"/>
              <a:gd name="connsiteX26" fmla="*/ 4270675 w 4875349"/>
              <a:gd name="connsiteY26" fmla="*/ 387709 h 926343"/>
              <a:gd name="connsiteX27" fmla="*/ 4267016 w 4875349"/>
              <a:gd name="connsiteY27" fmla="*/ 406922 h 926343"/>
              <a:gd name="connsiteX28" fmla="*/ 4257138 w 4875349"/>
              <a:gd name="connsiteY28" fmla="*/ 405632 h 926343"/>
              <a:gd name="connsiteX29" fmla="*/ 4230050 w 4875349"/>
              <a:gd name="connsiteY29" fmla="*/ 437236 h 926343"/>
              <a:gd name="connsiteX30" fmla="*/ 4230050 w 4875349"/>
              <a:gd name="connsiteY30" fmla="*/ 501498 h 926343"/>
              <a:gd name="connsiteX31" fmla="*/ 4210269 w 4875349"/>
              <a:gd name="connsiteY31" fmla="*/ 501498 h 926343"/>
              <a:gd name="connsiteX32" fmla="*/ 4210269 w 4875349"/>
              <a:gd name="connsiteY32" fmla="*/ 388999 h 926343"/>
              <a:gd name="connsiteX33" fmla="*/ 4227253 w 4875349"/>
              <a:gd name="connsiteY33" fmla="*/ 388999 h 926343"/>
              <a:gd name="connsiteX34" fmla="*/ 4229188 w 4875349"/>
              <a:gd name="connsiteY34" fmla="*/ 411834 h 926343"/>
              <a:gd name="connsiteX35" fmla="*/ 4259498 w 4875349"/>
              <a:gd name="connsiteY35" fmla="*/ 386419 h 926343"/>
              <a:gd name="connsiteX36" fmla="*/ 4270675 w 4875349"/>
              <a:gd name="connsiteY36" fmla="*/ 387709 h 926343"/>
              <a:gd name="connsiteX37" fmla="*/ 4362473 w 4875349"/>
              <a:gd name="connsiteY37" fmla="*/ 399240 h 926343"/>
              <a:gd name="connsiteX38" fmla="*/ 4354080 w 4875349"/>
              <a:gd name="connsiteY38" fmla="*/ 411619 h 926343"/>
              <a:gd name="connsiteX39" fmla="*/ 4324646 w 4875349"/>
              <a:gd name="connsiteY39" fmla="*/ 402019 h 926343"/>
              <a:gd name="connsiteX40" fmla="*/ 4303790 w 4875349"/>
              <a:gd name="connsiteY40" fmla="*/ 416742 h 926343"/>
              <a:gd name="connsiteX41" fmla="*/ 4328079 w 4875349"/>
              <a:gd name="connsiteY41" fmla="*/ 434888 h 926343"/>
              <a:gd name="connsiteX42" fmla="*/ 4365695 w 4875349"/>
              <a:gd name="connsiteY42" fmla="*/ 469903 h 926343"/>
              <a:gd name="connsiteX43" fmla="*/ 4320986 w 4875349"/>
              <a:gd name="connsiteY43" fmla="*/ 504062 h 926343"/>
              <a:gd name="connsiteX44" fmla="*/ 4278214 w 4875349"/>
              <a:gd name="connsiteY44" fmla="*/ 489327 h 926343"/>
              <a:gd name="connsiteX45" fmla="*/ 4288741 w 4875349"/>
              <a:gd name="connsiteY45" fmla="*/ 477370 h 926343"/>
              <a:gd name="connsiteX46" fmla="*/ 4320549 w 4875349"/>
              <a:gd name="connsiteY46" fmla="*/ 488260 h 926343"/>
              <a:gd name="connsiteX47" fmla="*/ 4344839 w 4875349"/>
              <a:gd name="connsiteY47" fmla="*/ 471180 h 926343"/>
              <a:gd name="connsiteX48" fmla="*/ 4317327 w 4875349"/>
              <a:gd name="connsiteY48" fmla="*/ 450045 h 926343"/>
              <a:gd name="connsiteX49" fmla="*/ 4283147 w 4875349"/>
              <a:gd name="connsiteY49" fmla="*/ 417387 h 926343"/>
              <a:gd name="connsiteX50" fmla="*/ 4323996 w 4875349"/>
              <a:gd name="connsiteY50" fmla="*/ 386428 h 926343"/>
              <a:gd name="connsiteX51" fmla="*/ 4362473 w 4875349"/>
              <a:gd name="connsiteY51" fmla="*/ 399240 h 926343"/>
              <a:gd name="connsiteX52" fmla="*/ 4450831 w 4875349"/>
              <a:gd name="connsiteY52" fmla="*/ 496374 h 926343"/>
              <a:gd name="connsiteX53" fmla="*/ 4425467 w 4875349"/>
              <a:gd name="connsiteY53" fmla="*/ 504064 h 926343"/>
              <a:gd name="connsiteX54" fmla="*/ 4394933 w 4875349"/>
              <a:gd name="connsiteY54" fmla="*/ 472039 h 926343"/>
              <a:gd name="connsiteX55" fmla="*/ 4394933 w 4875349"/>
              <a:gd name="connsiteY55" fmla="*/ 404142 h 926343"/>
              <a:gd name="connsiteX56" fmla="*/ 4375164 w 4875349"/>
              <a:gd name="connsiteY56" fmla="*/ 404142 h 926343"/>
              <a:gd name="connsiteX57" fmla="*/ 4375164 w 4875349"/>
              <a:gd name="connsiteY57" fmla="*/ 388998 h 926343"/>
              <a:gd name="connsiteX58" fmla="*/ 4394933 w 4875349"/>
              <a:gd name="connsiteY58" fmla="*/ 388998 h 926343"/>
              <a:gd name="connsiteX59" fmla="*/ 4394933 w 4875349"/>
              <a:gd name="connsiteY59" fmla="*/ 363583 h 926343"/>
              <a:gd name="connsiteX60" fmla="*/ 4414715 w 4875349"/>
              <a:gd name="connsiteY60" fmla="*/ 361226 h 926343"/>
              <a:gd name="connsiteX61" fmla="*/ 4414715 w 4875349"/>
              <a:gd name="connsiteY61" fmla="*/ 388998 h 926343"/>
              <a:gd name="connsiteX62" fmla="*/ 4441590 w 4875349"/>
              <a:gd name="connsiteY62" fmla="*/ 388998 h 926343"/>
              <a:gd name="connsiteX63" fmla="*/ 4439429 w 4875349"/>
              <a:gd name="connsiteY63" fmla="*/ 404142 h 926343"/>
              <a:gd name="connsiteX64" fmla="*/ 4414715 w 4875349"/>
              <a:gd name="connsiteY64" fmla="*/ 404142 h 926343"/>
              <a:gd name="connsiteX65" fmla="*/ 4414715 w 4875349"/>
              <a:gd name="connsiteY65" fmla="*/ 471183 h 926343"/>
              <a:gd name="connsiteX66" fmla="*/ 4428252 w 4875349"/>
              <a:gd name="connsiteY66" fmla="*/ 487841 h 926343"/>
              <a:gd name="connsiteX67" fmla="*/ 4443301 w 4875349"/>
              <a:gd name="connsiteY67" fmla="*/ 483351 h 926343"/>
              <a:gd name="connsiteX68" fmla="*/ 4450831 w 4875349"/>
              <a:gd name="connsiteY68" fmla="*/ 496374 h 926343"/>
              <a:gd name="connsiteX69" fmla="*/ 4491457 w 4875349"/>
              <a:gd name="connsiteY69" fmla="*/ 489118 h 926343"/>
              <a:gd name="connsiteX70" fmla="*/ 4476408 w 4875349"/>
              <a:gd name="connsiteY70" fmla="*/ 504064 h 926343"/>
              <a:gd name="connsiteX71" fmla="*/ 4461572 w 4875349"/>
              <a:gd name="connsiteY71" fmla="*/ 489118 h 926343"/>
              <a:gd name="connsiteX72" fmla="*/ 4476408 w 4875349"/>
              <a:gd name="connsiteY72" fmla="*/ 474383 h 926343"/>
              <a:gd name="connsiteX73" fmla="*/ 4491457 w 4875349"/>
              <a:gd name="connsiteY73" fmla="*/ 489118 h 926343"/>
              <a:gd name="connsiteX74" fmla="*/ 3521774 w 4875349"/>
              <a:gd name="connsiteY74" fmla="*/ 366146 h 926343"/>
              <a:gd name="connsiteX75" fmla="*/ 3505002 w 4875349"/>
              <a:gd name="connsiteY75" fmla="*/ 385996 h 926343"/>
              <a:gd name="connsiteX76" fmla="*/ 3478129 w 4875349"/>
              <a:gd name="connsiteY76" fmla="*/ 375748 h 926343"/>
              <a:gd name="connsiteX77" fmla="*/ 3445681 w 4875349"/>
              <a:gd name="connsiteY77" fmla="*/ 427204 h 926343"/>
              <a:gd name="connsiteX78" fmla="*/ 3478562 w 4875349"/>
              <a:gd name="connsiteY78" fmla="*/ 478013 h 926343"/>
              <a:gd name="connsiteX79" fmla="*/ 3507795 w 4875349"/>
              <a:gd name="connsiteY79" fmla="*/ 466055 h 926343"/>
              <a:gd name="connsiteX80" fmla="*/ 3523496 w 4875349"/>
              <a:gd name="connsiteY80" fmla="*/ 486133 h 926343"/>
              <a:gd name="connsiteX81" fmla="*/ 3476841 w 4875349"/>
              <a:gd name="connsiteY81" fmla="*/ 505135 h 926343"/>
              <a:gd name="connsiteX82" fmla="*/ 3408707 w 4875349"/>
              <a:gd name="connsiteY82" fmla="*/ 427204 h 926343"/>
              <a:gd name="connsiteX83" fmla="*/ 3476419 w 4875349"/>
              <a:gd name="connsiteY83" fmla="*/ 349918 h 926343"/>
              <a:gd name="connsiteX84" fmla="*/ 3521774 w 4875349"/>
              <a:gd name="connsiteY84" fmla="*/ 366145 h 926343"/>
              <a:gd name="connsiteX85" fmla="*/ 3537463 w 4875349"/>
              <a:gd name="connsiteY85" fmla="*/ 472680 h 926343"/>
              <a:gd name="connsiteX86" fmla="*/ 3537463 w 4875349"/>
              <a:gd name="connsiteY86" fmla="*/ 343090 h 926343"/>
              <a:gd name="connsiteX87" fmla="*/ 3571428 w 4875349"/>
              <a:gd name="connsiteY87" fmla="*/ 339455 h 926343"/>
              <a:gd name="connsiteX88" fmla="*/ 3571428 w 4875349"/>
              <a:gd name="connsiteY88" fmla="*/ 471401 h 926343"/>
              <a:gd name="connsiteX89" fmla="*/ 3577231 w 4875349"/>
              <a:gd name="connsiteY89" fmla="*/ 478444 h 926343"/>
              <a:gd name="connsiteX90" fmla="*/ 3582818 w 4875349"/>
              <a:gd name="connsiteY90" fmla="*/ 477380 h 926343"/>
              <a:gd name="connsiteX91" fmla="*/ 3589475 w 4875349"/>
              <a:gd name="connsiteY91" fmla="*/ 501284 h 926343"/>
              <a:gd name="connsiteX92" fmla="*/ 3568839 w 4875349"/>
              <a:gd name="connsiteY92" fmla="*/ 505135 h 926343"/>
              <a:gd name="connsiteX93" fmla="*/ 3537463 w 4875349"/>
              <a:gd name="connsiteY93" fmla="*/ 472680 h 926343"/>
              <a:gd name="connsiteX94" fmla="*/ 3708782 w 4875349"/>
              <a:gd name="connsiteY94" fmla="*/ 444927 h 926343"/>
              <a:gd name="connsiteX95" fmla="*/ 3652892 w 4875349"/>
              <a:gd name="connsiteY95" fmla="*/ 505123 h 926343"/>
              <a:gd name="connsiteX96" fmla="*/ 3597003 w 4875349"/>
              <a:gd name="connsiteY96" fmla="*/ 444712 h 926343"/>
              <a:gd name="connsiteX97" fmla="*/ 3652892 w 4875349"/>
              <a:gd name="connsiteY97" fmla="*/ 384502 h 926343"/>
              <a:gd name="connsiteX98" fmla="*/ 3708782 w 4875349"/>
              <a:gd name="connsiteY98" fmla="*/ 444927 h 926343"/>
              <a:gd name="connsiteX99" fmla="*/ 3632256 w 4875349"/>
              <a:gd name="connsiteY99" fmla="*/ 444712 h 926343"/>
              <a:gd name="connsiteX100" fmla="*/ 3652892 w 4875349"/>
              <a:gd name="connsiteY100" fmla="*/ 480371 h 926343"/>
              <a:gd name="connsiteX101" fmla="*/ 3673529 w 4875349"/>
              <a:gd name="connsiteY101" fmla="*/ 444927 h 926343"/>
              <a:gd name="connsiteX102" fmla="*/ 3652892 w 4875349"/>
              <a:gd name="connsiteY102" fmla="*/ 409267 h 926343"/>
              <a:gd name="connsiteX103" fmla="*/ 3632256 w 4875349"/>
              <a:gd name="connsiteY103" fmla="*/ 444712 h 926343"/>
              <a:gd name="connsiteX104" fmla="*/ 3827431 w 4875349"/>
              <a:gd name="connsiteY104" fmla="*/ 501502 h 926343"/>
              <a:gd name="connsiteX105" fmla="*/ 3797981 w 4875349"/>
              <a:gd name="connsiteY105" fmla="*/ 501502 h 926343"/>
              <a:gd name="connsiteX106" fmla="*/ 3796477 w 4875349"/>
              <a:gd name="connsiteY106" fmla="*/ 487200 h 926343"/>
              <a:gd name="connsiteX107" fmla="*/ 3761874 w 4875349"/>
              <a:gd name="connsiteY107" fmla="*/ 505125 h 926343"/>
              <a:gd name="connsiteX108" fmla="*/ 3730052 w 4875349"/>
              <a:gd name="connsiteY108" fmla="*/ 469478 h 926343"/>
              <a:gd name="connsiteX109" fmla="*/ 3730052 w 4875349"/>
              <a:gd name="connsiteY109" fmla="*/ 388139 h 926343"/>
              <a:gd name="connsiteX110" fmla="*/ 3764017 w 4875349"/>
              <a:gd name="connsiteY110" fmla="*/ 388139 h 926343"/>
              <a:gd name="connsiteX111" fmla="*/ 3764017 w 4875349"/>
              <a:gd name="connsiteY111" fmla="*/ 465209 h 926343"/>
              <a:gd name="connsiteX112" fmla="*/ 3774985 w 4875349"/>
              <a:gd name="connsiteY112" fmla="*/ 480157 h 926343"/>
              <a:gd name="connsiteX113" fmla="*/ 3793466 w 4875349"/>
              <a:gd name="connsiteY113" fmla="*/ 466919 h 926343"/>
              <a:gd name="connsiteX114" fmla="*/ 3793466 w 4875349"/>
              <a:gd name="connsiteY114" fmla="*/ 388139 h 926343"/>
              <a:gd name="connsiteX115" fmla="*/ 3827431 w 4875349"/>
              <a:gd name="connsiteY115" fmla="*/ 388139 h 926343"/>
              <a:gd name="connsiteX116" fmla="*/ 3827431 w 4875349"/>
              <a:gd name="connsiteY116" fmla="*/ 501502 h 926343"/>
              <a:gd name="connsiteX117" fmla="*/ 3956398 w 4875349"/>
              <a:gd name="connsiteY117" fmla="*/ 343082 h 926343"/>
              <a:gd name="connsiteX118" fmla="*/ 3956398 w 4875349"/>
              <a:gd name="connsiteY118" fmla="*/ 501503 h 926343"/>
              <a:gd name="connsiteX119" fmla="*/ 3926297 w 4875349"/>
              <a:gd name="connsiteY119" fmla="*/ 501503 h 926343"/>
              <a:gd name="connsiteX120" fmla="*/ 3924589 w 4875349"/>
              <a:gd name="connsiteY120" fmla="*/ 488265 h 926343"/>
              <a:gd name="connsiteX121" fmla="*/ 3892129 w 4875349"/>
              <a:gd name="connsiteY121" fmla="*/ 505126 h 926343"/>
              <a:gd name="connsiteX122" fmla="*/ 3848700 w 4875349"/>
              <a:gd name="connsiteY122" fmla="*/ 444499 h 926343"/>
              <a:gd name="connsiteX123" fmla="*/ 3895343 w 4875349"/>
              <a:gd name="connsiteY123" fmla="*/ 384505 h 926343"/>
              <a:gd name="connsiteX124" fmla="*/ 3922433 w 4875349"/>
              <a:gd name="connsiteY124" fmla="*/ 395184 h 926343"/>
              <a:gd name="connsiteX125" fmla="*/ 3922433 w 4875349"/>
              <a:gd name="connsiteY125" fmla="*/ 339459 h 926343"/>
              <a:gd name="connsiteX126" fmla="*/ 3956398 w 4875349"/>
              <a:gd name="connsiteY126" fmla="*/ 343082 h 926343"/>
              <a:gd name="connsiteX127" fmla="*/ 3922433 w 4875349"/>
              <a:gd name="connsiteY127" fmla="*/ 467554 h 926343"/>
              <a:gd name="connsiteX128" fmla="*/ 3922433 w 4875349"/>
              <a:gd name="connsiteY128" fmla="*/ 418669 h 926343"/>
              <a:gd name="connsiteX129" fmla="*/ 3904590 w 4875349"/>
              <a:gd name="connsiteY129" fmla="*/ 409055 h 926343"/>
              <a:gd name="connsiteX130" fmla="*/ 3883953 w 4875349"/>
              <a:gd name="connsiteY130" fmla="*/ 444714 h 926343"/>
              <a:gd name="connsiteX131" fmla="*/ 3902651 w 4875349"/>
              <a:gd name="connsiteY131" fmla="*/ 480361 h 926343"/>
              <a:gd name="connsiteX132" fmla="*/ 3922433 w 4875349"/>
              <a:gd name="connsiteY132" fmla="*/ 467554 h 926343"/>
              <a:gd name="connsiteX133" fmla="*/ 3476419 w 4875349"/>
              <a:gd name="connsiteY133" fmla="*/ 113000 h 926343"/>
              <a:gd name="connsiteX134" fmla="*/ 3408707 w 4875349"/>
              <a:gd name="connsiteY134" fmla="*/ 190285 h 926343"/>
              <a:gd name="connsiteX135" fmla="*/ 3476841 w 4875349"/>
              <a:gd name="connsiteY135" fmla="*/ 268216 h 926343"/>
              <a:gd name="connsiteX136" fmla="*/ 3523496 w 4875349"/>
              <a:gd name="connsiteY136" fmla="*/ 249215 h 926343"/>
              <a:gd name="connsiteX137" fmla="*/ 3507795 w 4875349"/>
              <a:gd name="connsiteY137" fmla="*/ 229136 h 926343"/>
              <a:gd name="connsiteX138" fmla="*/ 3478562 w 4875349"/>
              <a:gd name="connsiteY138" fmla="*/ 241095 h 926343"/>
              <a:gd name="connsiteX139" fmla="*/ 3445681 w 4875349"/>
              <a:gd name="connsiteY139" fmla="*/ 190285 h 926343"/>
              <a:gd name="connsiteX140" fmla="*/ 3478129 w 4875349"/>
              <a:gd name="connsiteY140" fmla="*/ 138829 h 926343"/>
              <a:gd name="connsiteX141" fmla="*/ 3505002 w 4875349"/>
              <a:gd name="connsiteY141" fmla="*/ 149077 h 926343"/>
              <a:gd name="connsiteX142" fmla="*/ 3521774 w 4875349"/>
              <a:gd name="connsiteY142" fmla="*/ 129227 h 926343"/>
              <a:gd name="connsiteX143" fmla="*/ 3476419 w 4875349"/>
              <a:gd name="connsiteY143" fmla="*/ 113000 h 926343"/>
              <a:gd name="connsiteX144" fmla="*/ 3633546 w 4875349"/>
              <a:gd name="connsiteY144" fmla="*/ 264584 h 926343"/>
              <a:gd name="connsiteX145" fmla="*/ 3604096 w 4875349"/>
              <a:gd name="connsiteY145" fmla="*/ 264584 h 926343"/>
              <a:gd name="connsiteX146" fmla="*/ 3602591 w 4875349"/>
              <a:gd name="connsiteY146" fmla="*/ 250282 h 926343"/>
              <a:gd name="connsiteX147" fmla="*/ 3567988 w 4875349"/>
              <a:gd name="connsiteY147" fmla="*/ 268220 h 926343"/>
              <a:gd name="connsiteX148" fmla="*/ 3536166 w 4875349"/>
              <a:gd name="connsiteY148" fmla="*/ 232560 h 926343"/>
              <a:gd name="connsiteX149" fmla="*/ 3536166 w 4875349"/>
              <a:gd name="connsiteY149" fmla="*/ 151221 h 926343"/>
              <a:gd name="connsiteX150" fmla="*/ 3570131 w 4875349"/>
              <a:gd name="connsiteY150" fmla="*/ 151221 h 926343"/>
              <a:gd name="connsiteX151" fmla="*/ 3570131 w 4875349"/>
              <a:gd name="connsiteY151" fmla="*/ 228291 h 926343"/>
              <a:gd name="connsiteX152" fmla="*/ 3581100 w 4875349"/>
              <a:gd name="connsiteY152" fmla="*/ 243239 h 926343"/>
              <a:gd name="connsiteX153" fmla="*/ 3599580 w 4875349"/>
              <a:gd name="connsiteY153" fmla="*/ 230001 h 926343"/>
              <a:gd name="connsiteX154" fmla="*/ 3599580 w 4875349"/>
              <a:gd name="connsiteY154" fmla="*/ 151221 h 926343"/>
              <a:gd name="connsiteX155" fmla="*/ 3633546 w 4875349"/>
              <a:gd name="connsiteY155" fmla="*/ 151221 h 926343"/>
              <a:gd name="connsiteX156" fmla="*/ 3633546 w 4875349"/>
              <a:gd name="connsiteY156" fmla="*/ 264584 h 926343"/>
              <a:gd name="connsiteX157" fmla="*/ 3744461 w 4875349"/>
              <a:gd name="connsiteY157" fmla="*/ 161465 h 926343"/>
              <a:gd name="connsiteX158" fmla="*/ 3732000 w 4875349"/>
              <a:gd name="connsiteY158" fmla="*/ 180466 h 926343"/>
              <a:gd name="connsiteX159" fmla="*/ 3703838 w 4875349"/>
              <a:gd name="connsiteY159" fmla="*/ 171713 h 926343"/>
              <a:gd name="connsiteX160" fmla="*/ 3690076 w 4875349"/>
              <a:gd name="connsiteY160" fmla="*/ 180251 h 926343"/>
              <a:gd name="connsiteX161" fmla="*/ 3713506 w 4875349"/>
              <a:gd name="connsiteY161" fmla="*/ 194768 h 926343"/>
              <a:gd name="connsiteX162" fmla="*/ 3748759 w 4875349"/>
              <a:gd name="connsiteY162" fmla="*/ 230845 h 926343"/>
              <a:gd name="connsiteX163" fmla="*/ 3698022 w 4875349"/>
              <a:gd name="connsiteY163" fmla="*/ 268215 h 926343"/>
              <a:gd name="connsiteX164" fmla="*/ 3650308 w 4875349"/>
              <a:gd name="connsiteY164" fmla="*/ 251342 h 926343"/>
              <a:gd name="connsiteX165" fmla="*/ 3666864 w 4875349"/>
              <a:gd name="connsiteY165" fmla="*/ 232986 h 926343"/>
              <a:gd name="connsiteX166" fmla="*/ 3697167 w 4875349"/>
              <a:gd name="connsiteY166" fmla="*/ 244083 h 926343"/>
              <a:gd name="connsiteX167" fmla="*/ 3713723 w 4875349"/>
              <a:gd name="connsiteY167" fmla="*/ 233417 h 926343"/>
              <a:gd name="connsiteX168" fmla="*/ 3689643 w 4875349"/>
              <a:gd name="connsiteY168" fmla="*/ 217608 h 926343"/>
              <a:gd name="connsiteX169" fmla="*/ 3655895 w 4875349"/>
              <a:gd name="connsiteY169" fmla="*/ 182176 h 926343"/>
              <a:gd name="connsiteX170" fmla="*/ 3702550 w 4875349"/>
              <a:gd name="connsiteY170" fmla="*/ 147594 h 926343"/>
              <a:gd name="connsiteX171" fmla="*/ 3744461 w 4875349"/>
              <a:gd name="connsiteY171" fmla="*/ 161465 h 926343"/>
              <a:gd name="connsiteX172" fmla="*/ 3839894 w 4875349"/>
              <a:gd name="connsiteY172" fmla="*/ 259246 h 926343"/>
              <a:gd name="connsiteX173" fmla="*/ 3808939 w 4875349"/>
              <a:gd name="connsiteY173" fmla="*/ 268215 h 926343"/>
              <a:gd name="connsiteX174" fmla="*/ 3771543 w 4875349"/>
              <a:gd name="connsiteY174" fmla="*/ 227222 h 926343"/>
              <a:gd name="connsiteX175" fmla="*/ 3771543 w 4875349"/>
              <a:gd name="connsiteY175" fmla="*/ 174702 h 926343"/>
              <a:gd name="connsiteX176" fmla="*/ 3755421 w 4875349"/>
              <a:gd name="connsiteY176" fmla="*/ 174702 h 926343"/>
              <a:gd name="connsiteX177" fmla="*/ 3755421 w 4875349"/>
              <a:gd name="connsiteY177" fmla="*/ 151216 h 926343"/>
              <a:gd name="connsiteX178" fmla="*/ 3771543 w 4875349"/>
              <a:gd name="connsiteY178" fmla="*/ 151216 h 926343"/>
              <a:gd name="connsiteX179" fmla="*/ 3771543 w 4875349"/>
              <a:gd name="connsiteY179" fmla="*/ 126667 h 926343"/>
              <a:gd name="connsiteX180" fmla="*/ 3805495 w 4875349"/>
              <a:gd name="connsiteY180" fmla="*/ 122828 h 926343"/>
              <a:gd name="connsiteX181" fmla="*/ 3805495 w 4875349"/>
              <a:gd name="connsiteY181" fmla="*/ 151216 h 926343"/>
              <a:gd name="connsiteX182" fmla="*/ 3831731 w 4875349"/>
              <a:gd name="connsiteY182" fmla="*/ 151216 h 926343"/>
              <a:gd name="connsiteX183" fmla="*/ 3828070 w 4875349"/>
              <a:gd name="connsiteY183" fmla="*/ 174702 h 926343"/>
              <a:gd name="connsiteX184" fmla="*/ 3805495 w 4875349"/>
              <a:gd name="connsiteY184" fmla="*/ 174702 h 926343"/>
              <a:gd name="connsiteX185" fmla="*/ 3805495 w 4875349"/>
              <a:gd name="connsiteY185" fmla="*/ 226792 h 926343"/>
              <a:gd name="connsiteX186" fmla="*/ 3816247 w 4875349"/>
              <a:gd name="connsiteY186" fmla="*/ 241524 h 926343"/>
              <a:gd name="connsiteX187" fmla="*/ 3828504 w 4875349"/>
              <a:gd name="connsiteY187" fmla="*/ 237901 h 926343"/>
              <a:gd name="connsiteX188" fmla="*/ 3839894 w 4875349"/>
              <a:gd name="connsiteY188" fmla="*/ 259246 h 926343"/>
              <a:gd name="connsiteX189" fmla="*/ 3954894 w 4875349"/>
              <a:gd name="connsiteY189" fmla="*/ 208009 h 926343"/>
              <a:gd name="connsiteX190" fmla="*/ 3899004 w 4875349"/>
              <a:gd name="connsiteY190" fmla="*/ 268219 h 926343"/>
              <a:gd name="connsiteX191" fmla="*/ 3843115 w 4875349"/>
              <a:gd name="connsiteY191" fmla="*/ 207794 h 926343"/>
              <a:gd name="connsiteX192" fmla="*/ 3899004 w 4875349"/>
              <a:gd name="connsiteY192" fmla="*/ 147585 h 926343"/>
              <a:gd name="connsiteX193" fmla="*/ 3954894 w 4875349"/>
              <a:gd name="connsiteY193" fmla="*/ 208009 h 926343"/>
              <a:gd name="connsiteX194" fmla="*/ 3878368 w 4875349"/>
              <a:gd name="connsiteY194" fmla="*/ 207794 h 926343"/>
              <a:gd name="connsiteX195" fmla="*/ 3899004 w 4875349"/>
              <a:gd name="connsiteY195" fmla="*/ 243453 h 926343"/>
              <a:gd name="connsiteX196" fmla="*/ 3919641 w 4875349"/>
              <a:gd name="connsiteY196" fmla="*/ 208009 h 926343"/>
              <a:gd name="connsiteX197" fmla="*/ 3899004 w 4875349"/>
              <a:gd name="connsiteY197" fmla="*/ 172350 h 926343"/>
              <a:gd name="connsiteX198" fmla="*/ 3878368 w 4875349"/>
              <a:gd name="connsiteY198" fmla="*/ 207794 h 926343"/>
              <a:gd name="connsiteX199" fmla="*/ 4132231 w 4875349"/>
              <a:gd name="connsiteY199" fmla="*/ 181748 h 926343"/>
              <a:gd name="connsiteX200" fmla="*/ 4132231 w 4875349"/>
              <a:gd name="connsiteY200" fmla="*/ 264582 h 926343"/>
              <a:gd name="connsiteX201" fmla="*/ 4098266 w 4875349"/>
              <a:gd name="connsiteY201" fmla="*/ 264582 h 926343"/>
              <a:gd name="connsiteX202" fmla="*/ 4098266 w 4875349"/>
              <a:gd name="connsiteY202" fmla="*/ 187512 h 926343"/>
              <a:gd name="connsiteX203" fmla="*/ 4088598 w 4875349"/>
              <a:gd name="connsiteY203" fmla="*/ 172349 h 926343"/>
              <a:gd name="connsiteX204" fmla="*/ 4071176 w 4875349"/>
              <a:gd name="connsiteY204" fmla="*/ 187081 h 926343"/>
              <a:gd name="connsiteX205" fmla="*/ 4071176 w 4875349"/>
              <a:gd name="connsiteY205" fmla="*/ 264582 h 926343"/>
              <a:gd name="connsiteX206" fmla="*/ 4037224 w 4875349"/>
              <a:gd name="connsiteY206" fmla="*/ 264582 h 926343"/>
              <a:gd name="connsiteX207" fmla="*/ 4037224 w 4875349"/>
              <a:gd name="connsiteY207" fmla="*/ 187512 h 926343"/>
              <a:gd name="connsiteX208" fmla="*/ 4027543 w 4875349"/>
              <a:gd name="connsiteY208" fmla="*/ 172349 h 926343"/>
              <a:gd name="connsiteX209" fmla="*/ 4010134 w 4875349"/>
              <a:gd name="connsiteY209" fmla="*/ 187081 h 926343"/>
              <a:gd name="connsiteX210" fmla="*/ 4010134 w 4875349"/>
              <a:gd name="connsiteY210" fmla="*/ 264582 h 926343"/>
              <a:gd name="connsiteX211" fmla="*/ 3976168 w 4875349"/>
              <a:gd name="connsiteY211" fmla="*/ 264582 h 926343"/>
              <a:gd name="connsiteX212" fmla="*/ 3976168 w 4875349"/>
              <a:gd name="connsiteY212" fmla="*/ 151219 h 926343"/>
              <a:gd name="connsiteX213" fmla="*/ 4005836 w 4875349"/>
              <a:gd name="connsiteY213" fmla="*/ 151219 h 926343"/>
              <a:gd name="connsiteX214" fmla="*/ 4008208 w 4875349"/>
              <a:gd name="connsiteY214" fmla="*/ 164457 h 926343"/>
              <a:gd name="connsiteX215" fmla="*/ 4041305 w 4875349"/>
              <a:gd name="connsiteY215" fmla="*/ 147583 h 926343"/>
              <a:gd name="connsiteX216" fmla="*/ 4068179 w 4875349"/>
              <a:gd name="connsiteY216" fmla="*/ 165521 h 926343"/>
              <a:gd name="connsiteX217" fmla="*/ 4102347 w 4875349"/>
              <a:gd name="connsiteY217" fmla="*/ 147583 h 926343"/>
              <a:gd name="connsiteX218" fmla="*/ 4132231 w 4875349"/>
              <a:gd name="connsiteY218" fmla="*/ 181748 h 926343"/>
              <a:gd name="connsiteX219" fmla="*/ 4258838 w 4875349"/>
              <a:gd name="connsiteY219" fmla="*/ 217827 h 926343"/>
              <a:gd name="connsiteX220" fmla="*/ 4188115 w 4875349"/>
              <a:gd name="connsiteY220" fmla="*/ 217827 h 926343"/>
              <a:gd name="connsiteX221" fmla="*/ 4214122 w 4875349"/>
              <a:gd name="connsiteY221" fmla="*/ 243656 h 926343"/>
              <a:gd name="connsiteX222" fmla="*/ 4241429 w 4875349"/>
              <a:gd name="connsiteY222" fmla="*/ 233623 h 926343"/>
              <a:gd name="connsiteX223" fmla="*/ 4255394 w 4875349"/>
              <a:gd name="connsiteY223" fmla="*/ 252409 h 926343"/>
              <a:gd name="connsiteX224" fmla="*/ 4210894 w 4875349"/>
              <a:gd name="connsiteY224" fmla="*/ 268219 h 926343"/>
              <a:gd name="connsiteX225" fmla="*/ 4153499 w 4875349"/>
              <a:gd name="connsiteY225" fmla="*/ 208440 h 926343"/>
              <a:gd name="connsiteX226" fmla="*/ 4206812 w 4875349"/>
              <a:gd name="connsiteY226" fmla="*/ 147585 h 926343"/>
              <a:gd name="connsiteX227" fmla="*/ 4259475 w 4875349"/>
              <a:gd name="connsiteY227" fmla="*/ 205666 h 926343"/>
              <a:gd name="connsiteX228" fmla="*/ 4258838 w 4875349"/>
              <a:gd name="connsiteY228" fmla="*/ 217827 h 926343"/>
              <a:gd name="connsiteX229" fmla="*/ 4226161 w 4875349"/>
              <a:gd name="connsiteY229" fmla="*/ 196051 h 926343"/>
              <a:gd name="connsiteX230" fmla="*/ 4207680 w 4875349"/>
              <a:gd name="connsiteY230" fmla="*/ 170006 h 926343"/>
              <a:gd name="connsiteX231" fmla="*/ 4188115 w 4875349"/>
              <a:gd name="connsiteY231" fmla="*/ 197546 h 926343"/>
              <a:gd name="connsiteX232" fmla="*/ 4226161 w 4875349"/>
              <a:gd name="connsiteY232" fmla="*/ 197546 h 926343"/>
              <a:gd name="connsiteX233" fmla="*/ 4226161 w 4875349"/>
              <a:gd name="connsiteY233" fmla="*/ 196051 h 926343"/>
              <a:gd name="connsiteX234" fmla="*/ 4429055 w 4875349"/>
              <a:gd name="connsiteY234" fmla="*/ 117480 h 926343"/>
              <a:gd name="connsiteX235" fmla="*/ 4507732 w 4875349"/>
              <a:gd name="connsiteY235" fmla="*/ 117480 h 926343"/>
              <a:gd name="connsiteX236" fmla="*/ 4505359 w 4875349"/>
              <a:gd name="connsiteY236" fmla="*/ 133716 h 926343"/>
              <a:gd name="connsiteX237" fmla="*/ 4449486 w 4875349"/>
              <a:gd name="connsiteY237" fmla="*/ 133716 h 926343"/>
              <a:gd name="connsiteX238" fmla="*/ 4449486 w 4875349"/>
              <a:gd name="connsiteY238" fmla="*/ 183887 h 926343"/>
              <a:gd name="connsiteX239" fmla="*/ 4497841 w 4875349"/>
              <a:gd name="connsiteY239" fmla="*/ 183887 h 926343"/>
              <a:gd name="connsiteX240" fmla="*/ 4497841 w 4875349"/>
              <a:gd name="connsiteY240" fmla="*/ 199900 h 926343"/>
              <a:gd name="connsiteX241" fmla="*/ 4449486 w 4875349"/>
              <a:gd name="connsiteY241" fmla="*/ 199900 h 926343"/>
              <a:gd name="connsiteX242" fmla="*/ 4449486 w 4875349"/>
              <a:gd name="connsiteY242" fmla="*/ 264584 h 926343"/>
              <a:gd name="connsiteX243" fmla="*/ 4429055 w 4875349"/>
              <a:gd name="connsiteY243" fmla="*/ 264584 h 926343"/>
              <a:gd name="connsiteX244" fmla="*/ 4429055 w 4875349"/>
              <a:gd name="connsiteY244" fmla="*/ 117479 h 926343"/>
              <a:gd name="connsiteX245" fmla="*/ 4557185 w 4875349"/>
              <a:gd name="connsiteY245" fmla="*/ 111507 h 926343"/>
              <a:gd name="connsiteX246" fmla="*/ 4543223 w 4875349"/>
              <a:gd name="connsiteY246" fmla="*/ 124742 h 926343"/>
              <a:gd name="connsiteX247" fmla="*/ 4529461 w 4875349"/>
              <a:gd name="connsiteY247" fmla="*/ 111507 h 926343"/>
              <a:gd name="connsiteX248" fmla="*/ 4543223 w 4875349"/>
              <a:gd name="connsiteY248" fmla="*/ 98050 h 926343"/>
              <a:gd name="connsiteX249" fmla="*/ 4557185 w 4875349"/>
              <a:gd name="connsiteY249" fmla="*/ 111507 h 926343"/>
              <a:gd name="connsiteX250" fmla="*/ 4553313 w 4875349"/>
              <a:gd name="connsiteY250" fmla="*/ 264578 h 926343"/>
              <a:gd name="connsiteX251" fmla="*/ 4533532 w 4875349"/>
              <a:gd name="connsiteY251" fmla="*/ 264578 h 926343"/>
              <a:gd name="connsiteX252" fmla="*/ 4533532 w 4875349"/>
              <a:gd name="connsiteY252" fmla="*/ 152066 h 926343"/>
              <a:gd name="connsiteX253" fmla="*/ 4553313 w 4875349"/>
              <a:gd name="connsiteY253" fmla="*/ 152066 h 926343"/>
              <a:gd name="connsiteX254" fmla="*/ 4553313 w 4875349"/>
              <a:gd name="connsiteY254" fmla="*/ 264578 h 926343"/>
              <a:gd name="connsiteX255" fmla="*/ 4654569 w 4875349"/>
              <a:gd name="connsiteY255" fmla="*/ 150790 h 926343"/>
              <a:gd name="connsiteX256" fmla="*/ 4650909 w 4875349"/>
              <a:gd name="connsiteY256" fmla="*/ 170003 h 926343"/>
              <a:gd name="connsiteX257" fmla="*/ 4641032 w 4875349"/>
              <a:gd name="connsiteY257" fmla="*/ 168713 h 926343"/>
              <a:gd name="connsiteX258" fmla="*/ 4613944 w 4875349"/>
              <a:gd name="connsiteY258" fmla="*/ 200317 h 926343"/>
              <a:gd name="connsiteX259" fmla="*/ 4613944 w 4875349"/>
              <a:gd name="connsiteY259" fmla="*/ 264579 h 926343"/>
              <a:gd name="connsiteX260" fmla="*/ 4594163 w 4875349"/>
              <a:gd name="connsiteY260" fmla="*/ 264579 h 926343"/>
              <a:gd name="connsiteX261" fmla="*/ 4594163 w 4875349"/>
              <a:gd name="connsiteY261" fmla="*/ 152080 h 926343"/>
              <a:gd name="connsiteX262" fmla="*/ 4611147 w 4875349"/>
              <a:gd name="connsiteY262" fmla="*/ 152080 h 926343"/>
              <a:gd name="connsiteX263" fmla="*/ 4613082 w 4875349"/>
              <a:gd name="connsiteY263" fmla="*/ 174915 h 926343"/>
              <a:gd name="connsiteX264" fmla="*/ 4643391 w 4875349"/>
              <a:gd name="connsiteY264" fmla="*/ 149500 h 926343"/>
              <a:gd name="connsiteX265" fmla="*/ 4654568 w 4875349"/>
              <a:gd name="connsiteY265" fmla="*/ 150790 h 926343"/>
              <a:gd name="connsiteX266" fmla="*/ 4746366 w 4875349"/>
              <a:gd name="connsiteY266" fmla="*/ 162322 h 926343"/>
              <a:gd name="connsiteX267" fmla="*/ 4737974 w 4875349"/>
              <a:gd name="connsiteY267" fmla="*/ 174700 h 926343"/>
              <a:gd name="connsiteX268" fmla="*/ 4708539 w 4875349"/>
              <a:gd name="connsiteY268" fmla="*/ 165100 h 926343"/>
              <a:gd name="connsiteX269" fmla="*/ 4687684 w 4875349"/>
              <a:gd name="connsiteY269" fmla="*/ 179823 h 926343"/>
              <a:gd name="connsiteX270" fmla="*/ 4711973 w 4875349"/>
              <a:gd name="connsiteY270" fmla="*/ 197969 h 926343"/>
              <a:gd name="connsiteX271" fmla="*/ 4749588 w 4875349"/>
              <a:gd name="connsiteY271" fmla="*/ 232984 h 926343"/>
              <a:gd name="connsiteX272" fmla="*/ 4704880 w 4875349"/>
              <a:gd name="connsiteY272" fmla="*/ 267143 h 926343"/>
              <a:gd name="connsiteX273" fmla="*/ 4662107 w 4875349"/>
              <a:gd name="connsiteY273" fmla="*/ 252408 h 926343"/>
              <a:gd name="connsiteX274" fmla="*/ 4672635 w 4875349"/>
              <a:gd name="connsiteY274" fmla="*/ 240451 h 926343"/>
              <a:gd name="connsiteX275" fmla="*/ 4704443 w 4875349"/>
              <a:gd name="connsiteY275" fmla="*/ 251341 h 926343"/>
              <a:gd name="connsiteX276" fmla="*/ 4728733 w 4875349"/>
              <a:gd name="connsiteY276" fmla="*/ 234261 h 926343"/>
              <a:gd name="connsiteX277" fmla="*/ 4701221 w 4875349"/>
              <a:gd name="connsiteY277" fmla="*/ 213126 h 926343"/>
              <a:gd name="connsiteX278" fmla="*/ 4667040 w 4875349"/>
              <a:gd name="connsiteY278" fmla="*/ 180468 h 926343"/>
              <a:gd name="connsiteX279" fmla="*/ 4707890 w 4875349"/>
              <a:gd name="connsiteY279" fmla="*/ 149509 h 926343"/>
              <a:gd name="connsiteX280" fmla="*/ 4746366 w 4875349"/>
              <a:gd name="connsiteY280" fmla="*/ 162322 h 926343"/>
              <a:gd name="connsiteX281" fmla="*/ 4834725 w 4875349"/>
              <a:gd name="connsiteY281" fmla="*/ 259455 h 926343"/>
              <a:gd name="connsiteX282" fmla="*/ 4809361 w 4875349"/>
              <a:gd name="connsiteY282" fmla="*/ 267145 h 926343"/>
              <a:gd name="connsiteX283" fmla="*/ 4778827 w 4875349"/>
              <a:gd name="connsiteY283" fmla="*/ 235120 h 926343"/>
              <a:gd name="connsiteX284" fmla="*/ 4778827 w 4875349"/>
              <a:gd name="connsiteY284" fmla="*/ 167223 h 926343"/>
              <a:gd name="connsiteX285" fmla="*/ 4759057 w 4875349"/>
              <a:gd name="connsiteY285" fmla="*/ 167223 h 926343"/>
              <a:gd name="connsiteX286" fmla="*/ 4759057 w 4875349"/>
              <a:gd name="connsiteY286" fmla="*/ 152079 h 926343"/>
              <a:gd name="connsiteX287" fmla="*/ 4778827 w 4875349"/>
              <a:gd name="connsiteY287" fmla="*/ 152079 h 926343"/>
              <a:gd name="connsiteX288" fmla="*/ 4778827 w 4875349"/>
              <a:gd name="connsiteY288" fmla="*/ 126664 h 926343"/>
              <a:gd name="connsiteX289" fmla="*/ 4798608 w 4875349"/>
              <a:gd name="connsiteY289" fmla="*/ 124308 h 926343"/>
              <a:gd name="connsiteX290" fmla="*/ 4798608 w 4875349"/>
              <a:gd name="connsiteY290" fmla="*/ 152079 h 926343"/>
              <a:gd name="connsiteX291" fmla="*/ 4825484 w 4875349"/>
              <a:gd name="connsiteY291" fmla="*/ 152079 h 926343"/>
              <a:gd name="connsiteX292" fmla="*/ 4823323 w 4875349"/>
              <a:gd name="connsiteY292" fmla="*/ 167223 h 926343"/>
              <a:gd name="connsiteX293" fmla="*/ 4798608 w 4875349"/>
              <a:gd name="connsiteY293" fmla="*/ 167223 h 926343"/>
              <a:gd name="connsiteX294" fmla="*/ 4798608 w 4875349"/>
              <a:gd name="connsiteY294" fmla="*/ 234264 h 926343"/>
              <a:gd name="connsiteX295" fmla="*/ 4812146 w 4875349"/>
              <a:gd name="connsiteY295" fmla="*/ 250922 h 926343"/>
              <a:gd name="connsiteX296" fmla="*/ 4827194 w 4875349"/>
              <a:gd name="connsiteY296" fmla="*/ 246432 h 926343"/>
              <a:gd name="connsiteX297" fmla="*/ 4834725 w 4875349"/>
              <a:gd name="connsiteY297" fmla="*/ 259455 h 926343"/>
              <a:gd name="connsiteX298" fmla="*/ 4875350 w 4875349"/>
              <a:gd name="connsiteY298" fmla="*/ 252199 h 926343"/>
              <a:gd name="connsiteX299" fmla="*/ 4860302 w 4875349"/>
              <a:gd name="connsiteY299" fmla="*/ 267145 h 926343"/>
              <a:gd name="connsiteX300" fmla="*/ 4845465 w 4875349"/>
              <a:gd name="connsiteY300" fmla="*/ 252199 h 926343"/>
              <a:gd name="connsiteX301" fmla="*/ 4860302 w 4875349"/>
              <a:gd name="connsiteY301" fmla="*/ 237464 h 926343"/>
              <a:gd name="connsiteX302" fmla="*/ 4875350 w 4875349"/>
              <a:gd name="connsiteY302" fmla="*/ 252199 h 926343"/>
              <a:gd name="connsiteX303" fmla="*/ 4354043 w 4875349"/>
              <a:gd name="connsiteY303" fmla="*/ 149509 h 926343"/>
              <a:gd name="connsiteX304" fmla="*/ 4348673 w 4875349"/>
              <a:gd name="connsiteY304" fmla="*/ 182179 h 926343"/>
              <a:gd name="connsiteX305" fmla="*/ 4338355 w 4875349"/>
              <a:gd name="connsiteY305" fmla="*/ 180684 h 926343"/>
              <a:gd name="connsiteX306" fmla="*/ 4314709 w 4875349"/>
              <a:gd name="connsiteY306" fmla="*/ 208439 h 926343"/>
              <a:gd name="connsiteX307" fmla="*/ 4314709 w 4875349"/>
              <a:gd name="connsiteY307" fmla="*/ 264582 h 926343"/>
              <a:gd name="connsiteX308" fmla="*/ 4280743 w 4875349"/>
              <a:gd name="connsiteY308" fmla="*/ 264582 h 926343"/>
              <a:gd name="connsiteX309" fmla="*/ 4280743 w 4875349"/>
              <a:gd name="connsiteY309" fmla="*/ 151219 h 926343"/>
              <a:gd name="connsiteX310" fmla="*/ 4310397 w 4875349"/>
              <a:gd name="connsiteY310" fmla="*/ 151219 h 926343"/>
              <a:gd name="connsiteX311" fmla="*/ 4313203 w 4875349"/>
              <a:gd name="connsiteY311" fmla="*/ 173210 h 926343"/>
              <a:gd name="connsiteX312" fmla="*/ 4342653 w 4875349"/>
              <a:gd name="connsiteY312" fmla="*/ 148014 h 926343"/>
              <a:gd name="connsiteX313" fmla="*/ 4354043 w 4875349"/>
              <a:gd name="connsiteY313" fmla="*/ 149509 h 926343"/>
              <a:gd name="connsiteX314" fmla="*/ 2977074 w 4875349"/>
              <a:gd name="connsiteY314" fmla="*/ 861572 h 926343"/>
              <a:gd name="connsiteX315" fmla="*/ 2938180 w 4875349"/>
              <a:gd name="connsiteY315" fmla="*/ 819204 h 926343"/>
              <a:gd name="connsiteX316" fmla="*/ 2984781 w 4875349"/>
              <a:gd name="connsiteY316" fmla="*/ 776658 h 926343"/>
              <a:gd name="connsiteX317" fmla="*/ 3023675 w 4875349"/>
              <a:gd name="connsiteY317" fmla="*/ 819204 h 926343"/>
              <a:gd name="connsiteX318" fmla="*/ 2977074 w 4875349"/>
              <a:gd name="connsiteY318" fmla="*/ 861572 h 926343"/>
              <a:gd name="connsiteX319" fmla="*/ 2984780 w 4875349"/>
              <a:gd name="connsiteY319" fmla="*/ 782889 h 926343"/>
              <a:gd name="connsiteX320" fmla="*/ 2944273 w 4875349"/>
              <a:gd name="connsiteY320" fmla="*/ 819738 h 926343"/>
              <a:gd name="connsiteX321" fmla="*/ 2977074 w 4875349"/>
              <a:gd name="connsiteY321" fmla="*/ 855519 h 926343"/>
              <a:gd name="connsiteX322" fmla="*/ 3017580 w 4875349"/>
              <a:gd name="connsiteY322" fmla="*/ 818670 h 926343"/>
              <a:gd name="connsiteX323" fmla="*/ 2984780 w 4875349"/>
              <a:gd name="connsiteY323" fmla="*/ 782889 h 926343"/>
              <a:gd name="connsiteX324" fmla="*/ 2988007 w 4875349"/>
              <a:gd name="connsiteY324" fmla="*/ 824366 h 926343"/>
              <a:gd name="connsiteX325" fmla="*/ 3001629 w 4875349"/>
              <a:gd name="connsiteY325" fmla="*/ 806743 h 926343"/>
              <a:gd name="connsiteX326" fmla="*/ 2988186 w 4875349"/>
              <a:gd name="connsiteY326" fmla="*/ 794104 h 926343"/>
              <a:gd name="connsiteX327" fmla="*/ 2971697 w 4875349"/>
              <a:gd name="connsiteY327" fmla="*/ 794104 h 926343"/>
              <a:gd name="connsiteX328" fmla="*/ 2962197 w 4875349"/>
              <a:gd name="connsiteY328" fmla="*/ 844126 h 926343"/>
              <a:gd name="connsiteX329" fmla="*/ 2968470 w 4875349"/>
              <a:gd name="connsiteY329" fmla="*/ 844126 h 926343"/>
              <a:gd name="connsiteX330" fmla="*/ 2972055 w 4875349"/>
              <a:gd name="connsiteY330" fmla="*/ 824900 h 926343"/>
              <a:gd name="connsiteX331" fmla="*/ 2981554 w 4875349"/>
              <a:gd name="connsiteY331" fmla="*/ 824900 h 926343"/>
              <a:gd name="connsiteX332" fmla="*/ 2988186 w 4875349"/>
              <a:gd name="connsiteY332" fmla="*/ 844126 h 926343"/>
              <a:gd name="connsiteX333" fmla="*/ 2994818 w 4875349"/>
              <a:gd name="connsiteY333" fmla="*/ 844126 h 926343"/>
              <a:gd name="connsiteX334" fmla="*/ 2988007 w 4875349"/>
              <a:gd name="connsiteY334" fmla="*/ 824366 h 926343"/>
              <a:gd name="connsiteX335" fmla="*/ 2988007 w 4875349"/>
              <a:gd name="connsiteY335" fmla="*/ 824366 h 926343"/>
              <a:gd name="connsiteX336" fmla="*/ 2995355 w 4875349"/>
              <a:gd name="connsiteY336" fmla="*/ 808879 h 926343"/>
              <a:gd name="connsiteX337" fmla="*/ 2983526 w 4875349"/>
              <a:gd name="connsiteY337" fmla="*/ 818848 h 926343"/>
              <a:gd name="connsiteX338" fmla="*/ 2973130 w 4875349"/>
              <a:gd name="connsiteY338" fmla="*/ 818848 h 926343"/>
              <a:gd name="connsiteX339" fmla="*/ 2976715 w 4875349"/>
              <a:gd name="connsiteY339" fmla="*/ 800156 h 926343"/>
              <a:gd name="connsiteX340" fmla="*/ 2988186 w 4875349"/>
              <a:gd name="connsiteY340" fmla="*/ 800156 h 926343"/>
              <a:gd name="connsiteX341" fmla="*/ 2995355 w 4875349"/>
              <a:gd name="connsiteY341" fmla="*/ 808879 h 926343"/>
              <a:gd name="connsiteX342" fmla="*/ 1498985 w 4875349"/>
              <a:gd name="connsiteY342" fmla="*/ 270374 h 926343"/>
              <a:gd name="connsiteX343" fmla="*/ 1453828 w 4875349"/>
              <a:gd name="connsiteY343" fmla="*/ 227989 h 926343"/>
              <a:gd name="connsiteX344" fmla="*/ 1501834 w 4875349"/>
              <a:gd name="connsiteY344" fmla="*/ 195649 h 926343"/>
              <a:gd name="connsiteX345" fmla="*/ 1597180 w 4875349"/>
              <a:gd name="connsiteY345" fmla="*/ 222644 h 926343"/>
              <a:gd name="connsiteX346" fmla="*/ 1613401 w 4875349"/>
              <a:gd name="connsiteY346" fmla="*/ 137908 h 926343"/>
              <a:gd name="connsiteX347" fmla="*/ 1507205 w 4875349"/>
              <a:gd name="connsiteY347" fmla="*/ 113411 h 926343"/>
              <a:gd name="connsiteX348" fmla="*/ 1340970 w 4875349"/>
              <a:gd name="connsiteY348" fmla="*/ 243327 h 926343"/>
              <a:gd name="connsiteX349" fmla="*/ 1420637 w 4875349"/>
              <a:gd name="connsiteY349" fmla="*/ 342530 h 926343"/>
              <a:gd name="connsiteX350" fmla="*/ 1467348 w 4875349"/>
              <a:gd name="connsiteY350" fmla="*/ 390260 h 926343"/>
              <a:gd name="connsiteX351" fmla="*/ 1420899 w 4875349"/>
              <a:gd name="connsiteY351" fmla="*/ 423380 h 926343"/>
              <a:gd name="connsiteX352" fmla="*/ 1316170 w 4875349"/>
              <a:gd name="connsiteY352" fmla="*/ 394058 h 926343"/>
              <a:gd name="connsiteX353" fmla="*/ 1299920 w 4875349"/>
              <a:gd name="connsiteY353" fmla="*/ 478961 h 926343"/>
              <a:gd name="connsiteX354" fmla="*/ 1410107 w 4875349"/>
              <a:gd name="connsiteY354" fmla="*/ 504852 h 926343"/>
              <a:gd name="connsiteX355" fmla="*/ 1549514 w 4875349"/>
              <a:gd name="connsiteY355" fmla="*/ 458861 h 926343"/>
              <a:gd name="connsiteX356" fmla="*/ 1584075 w 4875349"/>
              <a:gd name="connsiteY356" fmla="*/ 372652 h 926343"/>
              <a:gd name="connsiteX357" fmla="*/ 1498985 w 4875349"/>
              <a:gd name="connsiteY357" fmla="*/ 270374 h 926343"/>
              <a:gd name="connsiteX358" fmla="*/ 970363 w 4875349"/>
              <a:gd name="connsiteY358" fmla="*/ 127406 h 926343"/>
              <a:gd name="connsiteX359" fmla="*/ 952989 w 4875349"/>
              <a:gd name="connsiteY359" fmla="*/ 217938 h 926343"/>
              <a:gd name="connsiteX360" fmla="*/ 891107 w 4875349"/>
              <a:gd name="connsiteY360" fmla="*/ 203307 h 926343"/>
              <a:gd name="connsiteX361" fmla="*/ 763747 w 4875349"/>
              <a:gd name="connsiteY361" fmla="*/ 338997 h 926343"/>
              <a:gd name="connsiteX362" fmla="*/ 837167 w 4875349"/>
              <a:gd name="connsiteY362" fmla="*/ 415748 h 926343"/>
              <a:gd name="connsiteX363" fmla="*/ 930953 w 4875349"/>
              <a:gd name="connsiteY363" fmla="*/ 391664 h 926343"/>
              <a:gd name="connsiteX364" fmla="*/ 913201 w 4875349"/>
              <a:gd name="connsiteY364" fmla="*/ 484779 h 926343"/>
              <a:gd name="connsiteX365" fmla="*/ 805571 w 4875349"/>
              <a:gd name="connsiteY365" fmla="*/ 504852 h 926343"/>
              <a:gd name="connsiteX366" fmla="*/ 646266 w 4875349"/>
              <a:gd name="connsiteY366" fmla="*/ 351250 h 926343"/>
              <a:gd name="connsiteX367" fmla="*/ 892662 w 4875349"/>
              <a:gd name="connsiteY367" fmla="*/ 114188 h 926343"/>
              <a:gd name="connsiteX368" fmla="*/ 970363 w 4875349"/>
              <a:gd name="connsiteY368" fmla="*/ 127406 h 926343"/>
              <a:gd name="connsiteX369" fmla="*/ 2778278 w 4875349"/>
              <a:gd name="connsiteY369" fmla="*/ 343325 h 926343"/>
              <a:gd name="connsiteX370" fmla="*/ 2993476 w 4875349"/>
              <a:gd name="connsiteY370" fmla="*/ 302896 h 926343"/>
              <a:gd name="connsiteX371" fmla="*/ 3023855 w 4875349"/>
              <a:gd name="connsiteY371" fmla="*/ 226484 h 926343"/>
              <a:gd name="connsiteX372" fmla="*/ 2892289 w 4875349"/>
              <a:gd name="connsiteY372" fmla="*/ 113423 h 926343"/>
              <a:gd name="connsiteX373" fmla="*/ 2730905 w 4875349"/>
              <a:gd name="connsiteY373" fmla="*/ 187174 h 926343"/>
              <a:gd name="connsiteX374" fmla="*/ 2672078 w 4875349"/>
              <a:gd name="connsiteY374" fmla="*/ 346655 h 926343"/>
              <a:gd name="connsiteX375" fmla="*/ 2836038 w 4875349"/>
              <a:gd name="connsiteY375" fmla="*/ 504881 h 926343"/>
              <a:gd name="connsiteX376" fmla="*/ 2976777 w 4875349"/>
              <a:gd name="connsiteY376" fmla="*/ 474840 h 926343"/>
              <a:gd name="connsiteX377" fmla="*/ 2994734 w 4875349"/>
              <a:gd name="connsiteY377" fmla="*/ 381111 h 926343"/>
              <a:gd name="connsiteX378" fmla="*/ 2863005 w 4875349"/>
              <a:gd name="connsiteY378" fmla="*/ 418032 h 926343"/>
              <a:gd name="connsiteX379" fmla="*/ 2778278 w 4875349"/>
              <a:gd name="connsiteY379" fmla="*/ 343325 h 926343"/>
              <a:gd name="connsiteX380" fmla="*/ 2878412 w 4875349"/>
              <a:gd name="connsiteY380" fmla="*/ 194883 h 926343"/>
              <a:gd name="connsiteX381" fmla="*/ 2909510 w 4875349"/>
              <a:gd name="connsiteY381" fmla="*/ 249117 h 926343"/>
              <a:gd name="connsiteX382" fmla="*/ 2790539 w 4875349"/>
              <a:gd name="connsiteY382" fmla="*/ 271078 h 926343"/>
              <a:gd name="connsiteX383" fmla="*/ 2878412 w 4875349"/>
              <a:gd name="connsiteY383" fmla="*/ 194883 h 926343"/>
              <a:gd name="connsiteX384" fmla="*/ 2693048 w 4875349"/>
              <a:gd name="connsiteY384" fmla="*/ 127406 h 926343"/>
              <a:gd name="connsiteX385" fmla="*/ 2675674 w 4875349"/>
              <a:gd name="connsiteY385" fmla="*/ 217938 h 926343"/>
              <a:gd name="connsiteX386" fmla="*/ 2613791 w 4875349"/>
              <a:gd name="connsiteY386" fmla="*/ 203307 h 926343"/>
              <a:gd name="connsiteX387" fmla="*/ 2486431 w 4875349"/>
              <a:gd name="connsiteY387" fmla="*/ 338997 h 926343"/>
              <a:gd name="connsiteX388" fmla="*/ 2559852 w 4875349"/>
              <a:gd name="connsiteY388" fmla="*/ 415748 h 926343"/>
              <a:gd name="connsiteX389" fmla="*/ 2653638 w 4875349"/>
              <a:gd name="connsiteY389" fmla="*/ 391664 h 926343"/>
              <a:gd name="connsiteX390" fmla="*/ 2635886 w 4875349"/>
              <a:gd name="connsiteY390" fmla="*/ 484779 h 926343"/>
              <a:gd name="connsiteX391" fmla="*/ 2528256 w 4875349"/>
              <a:gd name="connsiteY391" fmla="*/ 504852 h 926343"/>
              <a:gd name="connsiteX392" fmla="*/ 2368950 w 4875349"/>
              <a:gd name="connsiteY392" fmla="*/ 351250 h 926343"/>
              <a:gd name="connsiteX393" fmla="*/ 2615346 w 4875349"/>
              <a:gd name="connsiteY393" fmla="*/ 114188 h 926343"/>
              <a:gd name="connsiteX394" fmla="*/ 2693048 w 4875349"/>
              <a:gd name="connsiteY394" fmla="*/ 127406 h 926343"/>
              <a:gd name="connsiteX395" fmla="*/ 2329634 w 4875349"/>
              <a:gd name="connsiteY395" fmla="*/ 152058 h 926343"/>
              <a:gd name="connsiteX396" fmla="*/ 2229388 w 4875349"/>
              <a:gd name="connsiteY396" fmla="*/ 113412 h 926343"/>
              <a:gd name="connsiteX397" fmla="*/ 2074640 w 4875349"/>
              <a:gd name="connsiteY397" fmla="*/ 176365 h 926343"/>
              <a:gd name="connsiteX398" fmla="*/ 1995666 w 4875349"/>
              <a:gd name="connsiteY398" fmla="*/ 374196 h 926343"/>
              <a:gd name="connsiteX399" fmla="*/ 2103884 w 4875349"/>
              <a:gd name="connsiteY399" fmla="*/ 505631 h 926343"/>
              <a:gd name="connsiteX400" fmla="*/ 2216888 w 4875349"/>
              <a:gd name="connsiteY400" fmla="*/ 424869 h 926343"/>
              <a:gd name="connsiteX401" fmla="*/ 2202971 w 4875349"/>
              <a:gd name="connsiteY401" fmla="*/ 497208 h 926343"/>
              <a:gd name="connsiteX402" fmla="*/ 2310065 w 4875349"/>
              <a:gd name="connsiteY402" fmla="*/ 497208 h 926343"/>
              <a:gd name="connsiteX403" fmla="*/ 2350499 w 4875349"/>
              <a:gd name="connsiteY403" fmla="*/ 287037 h 926343"/>
              <a:gd name="connsiteX404" fmla="*/ 2329634 w 4875349"/>
              <a:gd name="connsiteY404" fmla="*/ 152058 h 926343"/>
              <a:gd name="connsiteX405" fmla="*/ 2237095 w 4875349"/>
              <a:gd name="connsiteY405" fmla="*/ 310500 h 926343"/>
              <a:gd name="connsiteX406" fmla="*/ 2149081 w 4875349"/>
              <a:gd name="connsiteY406" fmla="*/ 414918 h 926343"/>
              <a:gd name="connsiteX407" fmla="*/ 2108903 w 4875349"/>
              <a:gd name="connsiteY407" fmla="*/ 351174 h 926343"/>
              <a:gd name="connsiteX408" fmla="*/ 2207291 w 4875349"/>
              <a:gd name="connsiteY408" fmla="*/ 197893 h 926343"/>
              <a:gd name="connsiteX409" fmla="*/ 2247393 w 4875349"/>
              <a:gd name="connsiteY409" fmla="*/ 238683 h 926343"/>
              <a:gd name="connsiteX410" fmla="*/ 2237095 w 4875349"/>
              <a:gd name="connsiteY410" fmla="*/ 310500 h 926343"/>
              <a:gd name="connsiteX411" fmla="*/ 606951 w 4875349"/>
              <a:gd name="connsiteY411" fmla="*/ 152058 h 926343"/>
              <a:gd name="connsiteX412" fmla="*/ 506706 w 4875349"/>
              <a:gd name="connsiteY412" fmla="*/ 113412 h 926343"/>
              <a:gd name="connsiteX413" fmla="*/ 351958 w 4875349"/>
              <a:gd name="connsiteY413" fmla="*/ 176365 h 926343"/>
              <a:gd name="connsiteX414" fmla="*/ 272985 w 4875349"/>
              <a:gd name="connsiteY414" fmla="*/ 374196 h 926343"/>
              <a:gd name="connsiteX415" fmla="*/ 381203 w 4875349"/>
              <a:gd name="connsiteY415" fmla="*/ 505631 h 926343"/>
              <a:gd name="connsiteX416" fmla="*/ 494206 w 4875349"/>
              <a:gd name="connsiteY416" fmla="*/ 424869 h 926343"/>
              <a:gd name="connsiteX417" fmla="*/ 480290 w 4875349"/>
              <a:gd name="connsiteY417" fmla="*/ 497208 h 926343"/>
              <a:gd name="connsiteX418" fmla="*/ 587383 w 4875349"/>
              <a:gd name="connsiteY418" fmla="*/ 497208 h 926343"/>
              <a:gd name="connsiteX419" fmla="*/ 627817 w 4875349"/>
              <a:gd name="connsiteY419" fmla="*/ 287037 h 926343"/>
              <a:gd name="connsiteX420" fmla="*/ 606951 w 4875349"/>
              <a:gd name="connsiteY420" fmla="*/ 152058 h 926343"/>
              <a:gd name="connsiteX421" fmla="*/ 514414 w 4875349"/>
              <a:gd name="connsiteY421" fmla="*/ 310500 h 926343"/>
              <a:gd name="connsiteX422" fmla="*/ 426399 w 4875349"/>
              <a:gd name="connsiteY422" fmla="*/ 414918 h 926343"/>
              <a:gd name="connsiteX423" fmla="*/ 386220 w 4875349"/>
              <a:gd name="connsiteY423" fmla="*/ 351174 h 926343"/>
              <a:gd name="connsiteX424" fmla="*/ 484610 w 4875349"/>
              <a:gd name="connsiteY424" fmla="*/ 197893 h 926343"/>
              <a:gd name="connsiteX425" fmla="*/ 524712 w 4875349"/>
              <a:gd name="connsiteY425" fmla="*/ 238683 h 926343"/>
              <a:gd name="connsiteX426" fmla="*/ 514414 w 4875349"/>
              <a:gd name="connsiteY426" fmla="*/ 310500 h 926343"/>
              <a:gd name="connsiteX427" fmla="*/ 1865864 w 4875349"/>
              <a:gd name="connsiteY427" fmla="*/ 113412 h 926343"/>
              <a:gd name="connsiteX428" fmla="*/ 1749875 w 4875349"/>
              <a:gd name="connsiteY428" fmla="*/ 180686 h 926343"/>
              <a:gd name="connsiteX429" fmla="*/ 1761420 w 4875349"/>
              <a:gd name="connsiteY429" fmla="*/ 120329 h 926343"/>
              <a:gd name="connsiteX430" fmla="*/ 1662666 w 4875349"/>
              <a:gd name="connsiteY430" fmla="*/ 120329 h 926343"/>
              <a:gd name="connsiteX431" fmla="*/ 1567483 w 4875349"/>
              <a:gd name="connsiteY431" fmla="*/ 617550 h 926343"/>
              <a:gd name="connsiteX432" fmla="*/ 1679604 w 4875349"/>
              <a:gd name="connsiteY432" fmla="*/ 617550 h 926343"/>
              <a:gd name="connsiteX433" fmla="*/ 1708085 w 4875349"/>
              <a:gd name="connsiteY433" fmla="*/ 468046 h 926343"/>
              <a:gd name="connsiteX434" fmla="*/ 1782974 w 4875349"/>
              <a:gd name="connsiteY434" fmla="*/ 505635 h 926343"/>
              <a:gd name="connsiteX435" fmla="*/ 1864479 w 4875349"/>
              <a:gd name="connsiteY435" fmla="*/ 483389 h 926343"/>
              <a:gd name="connsiteX436" fmla="*/ 1988181 w 4875349"/>
              <a:gd name="connsiteY436" fmla="*/ 256331 h 926343"/>
              <a:gd name="connsiteX437" fmla="*/ 1865864 w 4875349"/>
              <a:gd name="connsiteY437" fmla="*/ 113412 h 926343"/>
              <a:gd name="connsiteX438" fmla="*/ 1769434 w 4875349"/>
              <a:gd name="connsiteY438" fmla="*/ 421096 h 926343"/>
              <a:gd name="connsiteX439" fmla="*/ 1735618 w 4875349"/>
              <a:gd name="connsiteY439" fmla="*/ 323009 h 926343"/>
              <a:gd name="connsiteX440" fmla="*/ 1826299 w 4875349"/>
              <a:gd name="connsiteY440" fmla="*/ 204083 h 926343"/>
              <a:gd name="connsiteX441" fmla="*/ 1871576 w 4875349"/>
              <a:gd name="connsiteY441" fmla="*/ 264766 h 926343"/>
              <a:gd name="connsiteX442" fmla="*/ 1769434 w 4875349"/>
              <a:gd name="connsiteY442" fmla="*/ 421096 h 926343"/>
              <a:gd name="connsiteX443" fmla="*/ 312690 w 4875349"/>
              <a:gd name="connsiteY443" fmla="*/ 112292 h 926343"/>
              <a:gd name="connsiteX444" fmla="*/ 290790 w 4875349"/>
              <a:gd name="connsiteY444" fmla="*/ 226685 h 926343"/>
              <a:gd name="connsiteX445" fmla="*/ 142422 w 4875349"/>
              <a:gd name="connsiteY445" fmla="*/ 345714 h 926343"/>
              <a:gd name="connsiteX446" fmla="*/ 112141 w 4875349"/>
              <a:gd name="connsiteY446" fmla="*/ 503840 h 926343"/>
              <a:gd name="connsiteX447" fmla="*/ 0 w 4875349"/>
              <a:gd name="connsiteY447" fmla="*/ 503840 h 926343"/>
              <a:gd name="connsiteX448" fmla="*/ 73440 w 4875349"/>
              <a:gd name="connsiteY448" fmla="*/ 120329 h 926343"/>
              <a:gd name="connsiteX449" fmla="*/ 172185 w 4875349"/>
              <a:gd name="connsiteY449" fmla="*/ 120329 h 926343"/>
              <a:gd name="connsiteX450" fmla="*/ 156202 w 4875349"/>
              <a:gd name="connsiteY450" fmla="*/ 203879 h 926343"/>
              <a:gd name="connsiteX451" fmla="*/ 312690 w 4875349"/>
              <a:gd name="connsiteY451" fmla="*/ 112292 h 926343"/>
              <a:gd name="connsiteX452" fmla="*/ 944243 w 4875349"/>
              <a:gd name="connsiteY452" fmla="*/ 497208 h 926343"/>
              <a:gd name="connsiteX453" fmla="*/ 1039422 w 4875349"/>
              <a:gd name="connsiteY453" fmla="*/ 0 h 926343"/>
              <a:gd name="connsiteX454" fmla="*/ 1150777 w 4875349"/>
              <a:gd name="connsiteY454" fmla="*/ 0 h 926343"/>
              <a:gd name="connsiteX455" fmla="*/ 1094906 w 4875349"/>
              <a:gd name="connsiteY455" fmla="*/ 291909 h 926343"/>
              <a:gd name="connsiteX456" fmla="*/ 1239347 w 4875349"/>
              <a:gd name="connsiteY456" fmla="*/ 120329 h 926343"/>
              <a:gd name="connsiteX457" fmla="*/ 1361754 w 4875349"/>
              <a:gd name="connsiteY457" fmla="*/ 120329 h 926343"/>
              <a:gd name="connsiteX458" fmla="*/ 1212060 w 4875349"/>
              <a:gd name="connsiteY458" fmla="*/ 293812 h 926343"/>
              <a:gd name="connsiteX459" fmla="*/ 1294315 w 4875349"/>
              <a:gd name="connsiteY459" fmla="*/ 497208 h 926343"/>
              <a:gd name="connsiteX460" fmla="*/ 1173734 w 4875349"/>
              <a:gd name="connsiteY460" fmla="*/ 497208 h 926343"/>
              <a:gd name="connsiteX461" fmla="*/ 1094235 w 4875349"/>
              <a:gd name="connsiteY461" fmla="*/ 295415 h 926343"/>
              <a:gd name="connsiteX462" fmla="*/ 1055611 w 4875349"/>
              <a:gd name="connsiteY462" fmla="*/ 497208 h 926343"/>
              <a:gd name="connsiteX463" fmla="*/ 944243 w 4875349"/>
              <a:gd name="connsiteY463" fmla="*/ 497208 h 926343"/>
              <a:gd name="connsiteX464" fmla="*/ 2280316 w 4875349"/>
              <a:gd name="connsiteY464" fmla="*/ 695157 h 926343"/>
              <a:gd name="connsiteX465" fmla="*/ 2187788 w 4875349"/>
              <a:gd name="connsiteY465" fmla="*/ 795876 h 926343"/>
              <a:gd name="connsiteX466" fmla="*/ 2253291 w 4875349"/>
              <a:gd name="connsiteY466" fmla="*/ 861573 h 926343"/>
              <a:gd name="connsiteX467" fmla="*/ 2345820 w 4875349"/>
              <a:gd name="connsiteY467" fmla="*/ 760854 h 926343"/>
              <a:gd name="connsiteX468" fmla="*/ 2280316 w 4875349"/>
              <a:gd name="connsiteY468" fmla="*/ 695157 h 926343"/>
              <a:gd name="connsiteX469" fmla="*/ 2275683 w 4875349"/>
              <a:gd name="connsiteY469" fmla="*/ 724555 h 926343"/>
              <a:gd name="connsiteX470" fmla="*/ 2306312 w 4875349"/>
              <a:gd name="connsiteY470" fmla="*/ 761174 h 926343"/>
              <a:gd name="connsiteX471" fmla="*/ 2258568 w 4875349"/>
              <a:gd name="connsiteY471" fmla="*/ 832175 h 926343"/>
              <a:gd name="connsiteX472" fmla="*/ 2227296 w 4875349"/>
              <a:gd name="connsiteY472" fmla="*/ 794885 h 926343"/>
              <a:gd name="connsiteX473" fmla="*/ 2275683 w 4875349"/>
              <a:gd name="connsiteY473" fmla="*/ 724555 h 926343"/>
              <a:gd name="connsiteX474" fmla="*/ 2541237 w 4875349"/>
              <a:gd name="connsiteY474" fmla="*/ 695157 h 926343"/>
              <a:gd name="connsiteX475" fmla="*/ 2448709 w 4875349"/>
              <a:gd name="connsiteY475" fmla="*/ 795876 h 926343"/>
              <a:gd name="connsiteX476" fmla="*/ 2514212 w 4875349"/>
              <a:gd name="connsiteY476" fmla="*/ 861573 h 926343"/>
              <a:gd name="connsiteX477" fmla="*/ 2606741 w 4875349"/>
              <a:gd name="connsiteY477" fmla="*/ 760854 h 926343"/>
              <a:gd name="connsiteX478" fmla="*/ 2541237 w 4875349"/>
              <a:gd name="connsiteY478" fmla="*/ 695157 h 926343"/>
              <a:gd name="connsiteX479" fmla="*/ 2536604 w 4875349"/>
              <a:gd name="connsiteY479" fmla="*/ 724555 h 926343"/>
              <a:gd name="connsiteX480" fmla="*/ 2567233 w 4875349"/>
              <a:gd name="connsiteY480" fmla="*/ 761174 h 926343"/>
              <a:gd name="connsiteX481" fmla="*/ 2519488 w 4875349"/>
              <a:gd name="connsiteY481" fmla="*/ 832175 h 926343"/>
              <a:gd name="connsiteX482" fmla="*/ 2488217 w 4875349"/>
              <a:gd name="connsiteY482" fmla="*/ 794885 h 926343"/>
              <a:gd name="connsiteX483" fmla="*/ 2536604 w 4875349"/>
              <a:gd name="connsiteY483" fmla="*/ 724555 h 926343"/>
              <a:gd name="connsiteX484" fmla="*/ 2441704 w 4875349"/>
              <a:gd name="connsiteY484" fmla="*/ 646623 h 926343"/>
              <a:gd name="connsiteX485" fmla="*/ 2400932 w 4875349"/>
              <a:gd name="connsiteY485" fmla="*/ 857994 h 926343"/>
              <a:gd name="connsiteX486" fmla="*/ 2362712 w 4875349"/>
              <a:gd name="connsiteY486" fmla="*/ 857994 h 926343"/>
              <a:gd name="connsiteX487" fmla="*/ 2403190 w 4875349"/>
              <a:gd name="connsiteY487" fmla="*/ 646623 h 926343"/>
              <a:gd name="connsiteX488" fmla="*/ 2441704 w 4875349"/>
              <a:gd name="connsiteY488" fmla="*/ 646623 h 926343"/>
              <a:gd name="connsiteX489" fmla="*/ 1819430 w 4875349"/>
              <a:gd name="connsiteY489" fmla="*/ 701970 h 926343"/>
              <a:gd name="connsiteX490" fmla="*/ 1813367 w 4875349"/>
              <a:gd name="connsiteY490" fmla="*/ 733641 h 926343"/>
              <a:gd name="connsiteX491" fmla="*/ 1783826 w 4875349"/>
              <a:gd name="connsiteY491" fmla="*/ 726217 h 926343"/>
              <a:gd name="connsiteX492" fmla="*/ 1723567 w 4875349"/>
              <a:gd name="connsiteY492" fmla="*/ 793256 h 926343"/>
              <a:gd name="connsiteX493" fmla="*/ 1758796 w 4875349"/>
              <a:gd name="connsiteY493" fmla="*/ 830514 h 926343"/>
              <a:gd name="connsiteX494" fmla="*/ 1801876 w 4875349"/>
              <a:gd name="connsiteY494" fmla="*/ 818489 h 926343"/>
              <a:gd name="connsiteX495" fmla="*/ 1795551 w 4875349"/>
              <a:gd name="connsiteY495" fmla="*/ 851535 h 926343"/>
              <a:gd name="connsiteX496" fmla="*/ 1748275 w 4875349"/>
              <a:gd name="connsiteY496" fmla="*/ 861253 h 926343"/>
              <a:gd name="connsiteX497" fmla="*/ 1683415 w 4875349"/>
              <a:gd name="connsiteY497" fmla="*/ 797825 h 926343"/>
              <a:gd name="connsiteX498" fmla="*/ 1785145 w 4875349"/>
              <a:gd name="connsiteY498" fmla="*/ 695477 h 926343"/>
              <a:gd name="connsiteX499" fmla="*/ 1819430 w 4875349"/>
              <a:gd name="connsiteY499" fmla="*/ 701970 h 926343"/>
              <a:gd name="connsiteX500" fmla="*/ 1599026 w 4875349"/>
              <a:gd name="connsiteY500" fmla="*/ 831504 h 926343"/>
              <a:gd name="connsiteX501" fmla="*/ 1657309 w 4875349"/>
              <a:gd name="connsiteY501" fmla="*/ 812360 h 926343"/>
              <a:gd name="connsiteX502" fmla="*/ 1650747 w 4875349"/>
              <a:gd name="connsiteY502" fmla="*/ 846645 h 926343"/>
              <a:gd name="connsiteX503" fmla="*/ 1590147 w 4875349"/>
              <a:gd name="connsiteY503" fmla="*/ 861573 h 926343"/>
              <a:gd name="connsiteX504" fmla="*/ 1524289 w 4875349"/>
              <a:gd name="connsiteY504" fmla="*/ 795524 h 926343"/>
              <a:gd name="connsiteX505" fmla="*/ 1615145 w 4875349"/>
              <a:gd name="connsiteY505" fmla="*/ 695157 h 926343"/>
              <a:gd name="connsiteX506" fmla="*/ 1666846 w 4875349"/>
              <a:gd name="connsiteY506" fmla="*/ 739957 h 926343"/>
              <a:gd name="connsiteX507" fmla="*/ 1561835 w 4875349"/>
              <a:gd name="connsiteY507" fmla="*/ 792585 h 926343"/>
              <a:gd name="connsiteX508" fmla="*/ 1566114 w 4875349"/>
              <a:gd name="connsiteY508" fmla="*/ 815176 h 926343"/>
              <a:gd name="connsiteX509" fmla="*/ 1599026 w 4875349"/>
              <a:gd name="connsiteY509" fmla="*/ 831504 h 926343"/>
              <a:gd name="connsiteX510" fmla="*/ 1565760 w 4875349"/>
              <a:gd name="connsiteY510" fmla="*/ 764114 h 926343"/>
              <a:gd name="connsiteX511" fmla="*/ 1630620 w 4875349"/>
              <a:gd name="connsiteY511" fmla="*/ 739956 h 926343"/>
              <a:gd name="connsiteX512" fmla="*/ 1610222 w 4875349"/>
              <a:gd name="connsiteY512" fmla="*/ 723596 h 926343"/>
              <a:gd name="connsiteX513" fmla="*/ 1565760 w 4875349"/>
              <a:gd name="connsiteY513" fmla="*/ 764114 h 926343"/>
              <a:gd name="connsiteX514" fmla="*/ 2158533 w 4875349"/>
              <a:gd name="connsiteY514" fmla="*/ 765136 h 926343"/>
              <a:gd name="connsiteX515" fmla="*/ 2140621 w 4875349"/>
              <a:gd name="connsiteY515" fmla="*/ 857994 h 926343"/>
              <a:gd name="connsiteX516" fmla="*/ 2102401 w 4875349"/>
              <a:gd name="connsiteY516" fmla="*/ 857994 h 926343"/>
              <a:gd name="connsiteX517" fmla="*/ 2119621 w 4875349"/>
              <a:gd name="connsiteY517" fmla="*/ 768076 h 926343"/>
              <a:gd name="connsiteX518" fmla="*/ 2121512 w 4875349"/>
              <a:gd name="connsiteY518" fmla="*/ 749095 h 926343"/>
              <a:gd name="connsiteX519" fmla="*/ 2101404 w 4875349"/>
              <a:gd name="connsiteY519" fmla="*/ 726216 h 926343"/>
              <a:gd name="connsiteX520" fmla="*/ 2055042 w 4875349"/>
              <a:gd name="connsiteY520" fmla="*/ 784436 h 926343"/>
              <a:gd name="connsiteX521" fmla="*/ 2040853 w 4875349"/>
              <a:gd name="connsiteY521" fmla="*/ 857994 h 926343"/>
              <a:gd name="connsiteX522" fmla="*/ 2002633 w 4875349"/>
              <a:gd name="connsiteY522" fmla="*/ 857994 h 926343"/>
              <a:gd name="connsiteX523" fmla="*/ 2033316 w 4875349"/>
              <a:gd name="connsiteY523" fmla="*/ 697777 h 926343"/>
              <a:gd name="connsiteX524" fmla="*/ 2067888 w 4875349"/>
              <a:gd name="connsiteY524" fmla="*/ 697777 h 926343"/>
              <a:gd name="connsiteX525" fmla="*/ 2061951 w 4875349"/>
              <a:gd name="connsiteY525" fmla="*/ 728554 h 926343"/>
              <a:gd name="connsiteX526" fmla="*/ 2120514 w 4875349"/>
              <a:gd name="connsiteY526" fmla="*/ 695157 h 926343"/>
              <a:gd name="connsiteX527" fmla="*/ 2161341 w 4875349"/>
              <a:gd name="connsiteY527" fmla="*/ 738934 h 926343"/>
              <a:gd name="connsiteX528" fmla="*/ 2158533 w 4875349"/>
              <a:gd name="connsiteY528" fmla="*/ 765136 h 926343"/>
              <a:gd name="connsiteX529" fmla="*/ 1980144 w 4875349"/>
              <a:gd name="connsiteY529" fmla="*/ 738934 h 926343"/>
              <a:gd name="connsiteX530" fmla="*/ 1977335 w 4875349"/>
              <a:gd name="connsiteY530" fmla="*/ 765136 h 926343"/>
              <a:gd name="connsiteX531" fmla="*/ 1959424 w 4875349"/>
              <a:gd name="connsiteY531" fmla="*/ 857994 h 926343"/>
              <a:gd name="connsiteX532" fmla="*/ 1921204 w 4875349"/>
              <a:gd name="connsiteY532" fmla="*/ 857994 h 926343"/>
              <a:gd name="connsiteX533" fmla="*/ 1938424 w 4875349"/>
              <a:gd name="connsiteY533" fmla="*/ 768076 h 926343"/>
              <a:gd name="connsiteX534" fmla="*/ 1940315 w 4875349"/>
              <a:gd name="connsiteY534" fmla="*/ 749095 h 926343"/>
              <a:gd name="connsiteX535" fmla="*/ 1920206 w 4875349"/>
              <a:gd name="connsiteY535" fmla="*/ 726216 h 926343"/>
              <a:gd name="connsiteX536" fmla="*/ 1873845 w 4875349"/>
              <a:gd name="connsiteY536" fmla="*/ 784436 h 926343"/>
              <a:gd name="connsiteX537" fmla="*/ 1873845 w 4875349"/>
              <a:gd name="connsiteY537" fmla="*/ 784436 h 926343"/>
              <a:gd name="connsiteX538" fmla="*/ 1859656 w 4875349"/>
              <a:gd name="connsiteY538" fmla="*/ 857994 h 926343"/>
              <a:gd name="connsiteX539" fmla="*/ 1821436 w 4875349"/>
              <a:gd name="connsiteY539" fmla="*/ 857994 h 926343"/>
              <a:gd name="connsiteX540" fmla="*/ 1861915 w 4875349"/>
              <a:gd name="connsiteY540" fmla="*/ 646623 h 926343"/>
              <a:gd name="connsiteX541" fmla="*/ 1900428 w 4875349"/>
              <a:gd name="connsiteY541" fmla="*/ 646623 h 926343"/>
              <a:gd name="connsiteX542" fmla="*/ 1885984 w 4875349"/>
              <a:gd name="connsiteY542" fmla="*/ 721502 h 926343"/>
              <a:gd name="connsiteX543" fmla="*/ 1939317 w 4875349"/>
              <a:gd name="connsiteY543" fmla="*/ 695157 h 926343"/>
              <a:gd name="connsiteX544" fmla="*/ 1980144 w 4875349"/>
              <a:gd name="connsiteY544" fmla="*/ 738934 h 926343"/>
              <a:gd name="connsiteX545" fmla="*/ 1486679 w 4875349"/>
              <a:gd name="connsiteY545" fmla="*/ 698736 h 926343"/>
              <a:gd name="connsiteX546" fmla="*/ 1522584 w 4875349"/>
              <a:gd name="connsiteY546" fmla="*/ 698736 h 926343"/>
              <a:gd name="connsiteX547" fmla="*/ 1516664 w 4875349"/>
              <a:gd name="connsiteY547" fmla="*/ 728165 h 926343"/>
              <a:gd name="connsiteX548" fmla="*/ 1480760 w 4875349"/>
              <a:gd name="connsiteY548" fmla="*/ 728165 h 926343"/>
              <a:gd name="connsiteX549" fmla="*/ 1468243 w 4875349"/>
              <a:gd name="connsiteY549" fmla="*/ 792264 h 926343"/>
              <a:gd name="connsiteX550" fmla="*/ 1465285 w 4875349"/>
              <a:gd name="connsiteY550" fmla="*/ 814824 h 926343"/>
              <a:gd name="connsiteX551" fmla="*/ 1479440 w 4875349"/>
              <a:gd name="connsiteY551" fmla="*/ 829236 h 926343"/>
              <a:gd name="connsiteX552" fmla="*/ 1494778 w 4875349"/>
              <a:gd name="connsiteY552" fmla="*/ 827801 h 926343"/>
              <a:gd name="connsiteX553" fmla="*/ 1488997 w 4875349"/>
              <a:gd name="connsiteY553" fmla="*/ 857990 h 926343"/>
              <a:gd name="connsiteX554" fmla="*/ 1488996 w 4875349"/>
              <a:gd name="connsiteY554" fmla="*/ 857994 h 926343"/>
              <a:gd name="connsiteX555" fmla="*/ 1463965 w 4875349"/>
              <a:gd name="connsiteY555" fmla="*/ 861254 h 926343"/>
              <a:gd name="connsiteX556" fmla="*/ 1426097 w 4875349"/>
              <a:gd name="connsiteY556" fmla="*/ 828564 h 926343"/>
              <a:gd name="connsiteX557" fmla="*/ 1429411 w 4875349"/>
              <a:gd name="connsiteY557" fmla="*/ 799135 h 926343"/>
              <a:gd name="connsiteX558" fmla="*/ 1443247 w 4875349"/>
              <a:gd name="connsiteY558" fmla="*/ 728165 h 926343"/>
              <a:gd name="connsiteX559" fmla="*/ 1421818 w 4875349"/>
              <a:gd name="connsiteY559" fmla="*/ 728165 h 926343"/>
              <a:gd name="connsiteX560" fmla="*/ 1427416 w 4875349"/>
              <a:gd name="connsiteY560" fmla="*/ 698736 h 926343"/>
              <a:gd name="connsiteX561" fmla="*/ 1448813 w 4875349"/>
              <a:gd name="connsiteY561" fmla="*/ 698736 h 926343"/>
              <a:gd name="connsiteX562" fmla="*/ 1457003 w 4875349"/>
              <a:gd name="connsiteY562" fmla="*/ 657748 h 926343"/>
              <a:gd name="connsiteX563" fmla="*/ 1494288 w 4875349"/>
              <a:gd name="connsiteY563" fmla="*/ 657748 h 926343"/>
              <a:gd name="connsiteX564" fmla="*/ 1486679 w 4875349"/>
              <a:gd name="connsiteY564" fmla="*/ 698736 h 926343"/>
              <a:gd name="connsiteX565" fmla="*/ 2788298 w 4875349"/>
              <a:gd name="connsiteY565" fmla="*/ 886433 h 926343"/>
              <a:gd name="connsiteX566" fmla="*/ 2828271 w 4875349"/>
              <a:gd name="connsiteY566" fmla="*/ 878611 h 926343"/>
              <a:gd name="connsiteX567" fmla="*/ 2840780 w 4875349"/>
              <a:gd name="connsiteY567" fmla="*/ 853718 h 926343"/>
              <a:gd name="connsiteX568" fmla="*/ 2812203 w 4875349"/>
              <a:gd name="connsiteY568" fmla="*/ 697777 h 926343"/>
              <a:gd name="connsiteX569" fmla="*/ 2852387 w 4875349"/>
              <a:gd name="connsiteY569" fmla="*/ 697777 h 926343"/>
              <a:gd name="connsiteX570" fmla="*/ 2867179 w 4875349"/>
              <a:gd name="connsiteY570" fmla="*/ 816325 h 926343"/>
              <a:gd name="connsiteX571" fmla="*/ 2928097 w 4875349"/>
              <a:gd name="connsiteY571" fmla="*/ 697777 h 926343"/>
              <a:gd name="connsiteX572" fmla="*/ 2968924 w 4875349"/>
              <a:gd name="connsiteY572" fmla="*/ 697777 h 926343"/>
              <a:gd name="connsiteX573" fmla="*/ 2861660 w 4875349"/>
              <a:gd name="connsiteY573" fmla="*/ 887677 h 926343"/>
              <a:gd name="connsiteX574" fmla="*/ 2861660 w 4875349"/>
              <a:gd name="connsiteY574" fmla="*/ 887739 h 926343"/>
              <a:gd name="connsiteX575" fmla="*/ 2782349 w 4875349"/>
              <a:gd name="connsiteY575" fmla="*/ 917510 h 926343"/>
              <a:gd name="connsiteX576" fmla="*/ 2788298 w 4875349"/>
              <a:gd name="connsiteY576" fmla="*/ 886433 h 926343"/>
              <a:gd name="connsiteX577" fmla="*/ 2783865 w 4875349"/>
              <a:gd name="connsiteY577" fmla="*/ 738023 h 926343"/>
              <a:gd name="connsiteX578" fmla="*/ 2780573 w 4875349"/>
              <a:gd name="connsiteY578" fmla="*/ 765507 h 926343"/>
              <a:gd name="connsiteX579" fmla="*/ 2766056 w 4875349"/>
              <a:gd name="connsiteY579" fmla="*/ 837735 h 926343"/>
              <a:gd name="connsiteX580" fmla="*/ 2732771 w 4875349"/>
              <a:gd name="connsiteY580" fmla="*/ 908673 h 926343"/>
              <a:gd name="connsiteX581" fmla="*/ 2672895 w 4875349"/>
              <a:gd name="connsiteY581" fmla="*/ 926343 h 926343"/>
              <a:gd name="connsiteX582" fmla="*/ 2625597 w 4875349"/>
              <a:gd name="connsiteY582" fmla="*/ 917510 h 926343"/>
              <a:gd name="connsiteX583" fmla="*/ 2631546 w 4875349"/>
              <a:gd name="connsiteY583" fmla="*/ 886433 h 926343"/>
              <a:gd name="connsiteX584" fmla="*/ 2673692 w 4875349"/>
              <a:gd name="connsiteY584" fmla="*/ 895923 h 926343"/>
              <a:gd name="connsiteX585" fmla="*/ 2725716 w 4875349"/>
              <a:gd name="connsiteY585" fmla="*/ 847194 h 926343"/>
              <a:gd name="connsiteX586" fmla="*/ 2728786 w 4875349"/>
              <a:gd name="connsiteY586" fmla="*/ 833259 h 926343"/>
              <a:gd name="connsiteX587" fmla="*/ 2675487 w 4875349"/>
              <a:gd name="connsiteY587" fmla="*/ 861694 h 926343"/>
              <a:gd name="connsiteX588" fmla="*/ 2627062 w 4875349"/>
              <a:gd name="connsiteY588" fmla="*/ 805419 h 926343"/>
              <a:gd name="connsiteX589" fmla="*/ 2730167 w 4875349"/>
              <a:gd name="connsiteY589" fmla="*/ 695157 h 926343"/>
              <a:gd name="connsiteX590" fmla="*/ 2783865 w 4875349"/>
              <a:gd name="connsiteY590" fmla="*/ 738023 h 926343"/>
              <a:gd name="connsiteX591" fmla="*/ 2744332 w 4875349"/>
              <a:gd name="connsiteY591" fmla="*/ 744568 h 926343"/>
              <a:gd name="connsiteX592" fmla="*/ 2722919 w 4875349"/>
              <a:gd name="connsiteY592" fmla="*/ 724282 h 926343"/>
              <a:gd name="connsiteX593" fmla="*/ 2667246 w 4875349"/>
              <a:gd name="connsiteY593" fmla="*/ 798548 h 926343"/>
              <a:gd name="connsiteX594" fmla="*/ 2692615 w 4875349"/>
              <a:gd name="connsiteY594" fmla="*/ 830614 h 926343"/>
              <a:gd name="connsiteX595" fmla="*/ 2739395 w 4875349"/>
              <a:gd name="connsiteY595" fmla="*/ 778262 h 926343"/>
              <a:gd name="connsiteX596" fmla="*/ 2742357 w 4875349"/>
              <a:gd name="connsiteY596" fmla="*/ 763539 h 926343"/>
              <a:gd name="connsiteX597" fmla="*/ 2744331 w 4875349"/>
              <a:gd name="connsiteY597" fmla="*/ 744568 h 92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Lst>
            <a:rect l="l" t="t" r="r" b="b"/>
            <a:pathLst>
              <a:path w="4875349" h="926343">
                <a:moveTo>
                  <a:pt x="3216560" y="504882"/>
                </a:moveTo>
                <a:lnTo>
                  <a:pt x="3216558" y="113422"/>
                </a:lnTo>
                <a:lnTo>
                  <a:pt x="3240379" y="113422"/>
                </a:lnTo>
                <a:lnTo>
                  <a:pt x="3240381" y="504882"/>
                </a:lnTo>
                <a:lnTo>
                  <a:pt x="3216560" y="504882"/>
                </a:lnTo>
                <a:close/>
                <a:moveTo>
                  <a:pt x="4045162" y="501503"/>
                </a:moveTo>
                <a:lnTo>
                  <a:pt x="4065592" y="501503"/>
                </a:lnTo>
                <a:lnTo>
                  <a:pt x="4065592" y="436819"/>
                </a:lnTo>
                <a:lnTo>
                  <a:pt x="4113948" y="436819"/>
                </a:lnTo>
                <a:lnTo>
                  <a:pt x="4113948" y="420806"/>
                </a:lnTo>
                <a:lnTo>
                  <a:pt x="4065592" y="420806"/>
                </a:lnTo>
                <a:lnTo>
                  <a:pt x="4065592" y="370635"/>
                </a:lnTo>
                <a:lnTo>
                  <a:pt x="4121465" y="370635"/>
                </a:lnTo>
                <a:lnTo>
                  <a:pt x="4123838" y="354398"/>
                </a:lnTo>
                <a:lnTo>
                  <a:pt x="4045162" y="354398"/>
                </a:lnTo>
                <a:lnTo>
                  <a:pt x="4045162" y="501503"/>
                </a:lnTo>
                <a:close/>
                <a:moveTo>
                  <a:pt x="4173291" y="348426"/>
                </a:moveTo>
                <a:cubicBezTo>
                  <a:pt x="4173291" y="355905"/>
                  <a:pt x="4167708" y="361661"/>
                  <a:pt x="4159329" y="361661"/>
                </a:cubicBezTo>
                <a:cubicBezTo>
                  <a:pt x="4151149" y="361661"/>
                  <a:pt x="4145567" y="355905"/>
                  <a:pt x="4145567" y="348426"/>
                </a:cubicBezTo>
                <a:cubicBezTo>
                  <a:pt x="4145567" y="340736"/>
                  <a:pt x="4151149" y="334968"/>
                  <a:pt x="4159329" y="334968"/>
                </a:cubicBezTo>
                <a:cubicBezTo>
                  <a:pt x="4167708" y="334968"/>
                  <a:pt x="4173291" y="340736"/>
                  <a:pt x="4173291" y="348426"/>
                </a:cubicBezTo>
                <a:close/>
                <a:moveTo>
                  <a:pt x="4169419" y="501497"/>
                </a:moveTo>
                <a:lnTo>
                  <a:pt x="4149638" y="501497"/>
                </a:lnTo>
                <a:lnTo>
                  <a:pt x="4149638" y="388985"/>
                </a:lnTo>
                <a:lnTo>
                  <a:pt x="4169419" y="388985"/>
                </a:lnTo>
                <a:lnTo>
                  <a:pt x="4169419" y="501497"/>
                </a:lnTo>
                <a:close/>
                <a:moveTo>
                  <a:pt x="4270675" y="387709"/>
                </a:moveTo>
                <a:lnTo>
                  <a:pt x="4267016" y="406922"/>
                </a:lnTo>
                <a:cubicBezTo>
                  <a:pt x="4263582" y="406066"/>
                  <a:pt x="4261209" y="405632"/>
                  <a:pt x="4257138" y="405632"/>
                </a:cubicBezTo>
                <a:cubicBezTo>
                  <a:pt x="4242938" y="405632"/>
                  <a:pt x="4234783" y="415679"/>
                  <a:pt x="4230050" y="437236"/>
                </a:cubicBezTo>
                <a:lnTo>
                  <a:pt x="4230050" y="501498"/>
                </a:lnTo>
                <a:lnTo>
                  <a:pt x="4210269" y="501498"/>
                </a:lnTo>
                <a:lnTo>
                  <a:pt x="4210269" y="388999"/>
                </a:lnTo>
                <a:lnTo>
                  <a:pt x="4227253" y="388999"/>
                </a:lnTo>
                <a:lnTo>
                  <a:pt x="4229188" y="411834"/>
                </a:lnTo>
                <a:cubicBezTo>
                  <a:pt x="4235208" y="394965"/>
                  <a:pt x="4245749" y="386419"/>
                  <a:pt x="4259498" y="386419"/>
                </a:cubicBezTo>
                <a:cubicBezTo>
                  <a:pt x="4263144" y="386419"/>
                  <a:pt x="4267240" y="386853"/>
                  <a:pt x="4270675" y="387709"/>
                </a:cubicBezTo>
                <a:close/>
                <a:moveTo>
                  <a:pt x="4362473" y="399240"/>
                </a:moveTo>
                <a:lnTo>
                  <a:pt x="4354080" y="411619"/>
                </a:lnTo>
                <a:cubicBezTo>
                  <a:pt x="4343990" y="405207"/>
                  <a:pt x="4335160" y="402019"/>
                  <a:pt x="4324646" y="402019"/>
                </a:cubicBezTo>
                <a:cubicBezTo>
                  <a:pt x="4311733" y="402019"/>
                  <a:pt x="4303790" y="407774"/>
                  <a:pt x="4303790" y="416742"/>
                </a:cubicBezTo>
                <a:cubicBezTo>
                  <a:pt x="4303790" y="425920"/>
                  <a:pt x="4309796" y="430187"/>
                  <a:pt x="4328079" y="434888"/>
                </a:cubicBezTo>
                <a:cubicBezTo>
                  <a:pt x="4351933" y="440866"/>
                  <a:pt x="4365695" y="450256"/>
                  <a:pt x="4365695" y="469903"/>
                </a:cubicBezTo>
                <a:cubicBezTo>
                  <a:pt x="4365695" y="493382"/>
                  <a:pt x="4343990" y="504062"/>
                  <a:pt x="4320986" y="504062"/>
                </a:cubicBezTo>
                <a:cubicBezTo>
                  <a:pt x="4301842" y="504062"/>
                  <a:pt x="4288092" y="497860"/>
                  <a:pt x="4278214" y="489327"/>
                </a:cubicBezTo>
                <a:lnTo>
                  <a:pt x="4288741" y="477370"/>
                </a:lnTo>
                <a:cubicBezTo>
                  <a:pt x="4297770" y="484204"/>
                  <a:pt x="4308298" y="488260"/>
                  <a:pt x="4320549" y="488260"/>
                </a:cubicBezTo>
                <a:cubicBezTo>
                  <a:pt x="4335385" y="488260"/>
                  <a:pt x="4344839" y="481847"/>
                  <a:pt x="4344839" y="471180"/>
                </a:cubicBezTo>
                <a:cubicBezTo>
                  <a:pt x="4344839" y="460079"/>
                  <a:pt x="4339257" y="455812"/>
                  <a:pt x="4317327" y="450045"/>
                </a:cubicBezTo>
                <a:cubicBezTo>
                  <a:pt x="4292825" y="443645"/>
                  <a:pt x="4283147" y="433176"/>
                  <a:pt x="4283147" y="417387"/>
                </a:cubicBezTo>
                <a:cubicBezTo>
                  <a:pt x="4283147" y="399451"/>
                  <a:pt x="4300568" y="386428"/>
                  <a:pt x="4323996" y="386428"/>
                </a:cubicBezTo>
                <a:cubicBezTo>
                  <a:pt x="4339894" y="386428"/>
                  <a:pt x="4351720" y="391129"/>
                  <a:pt x="4362473" y="399240"/>
                </a:cubicBezTo>
                <a:close/>
                <a:moveTo>
                  <a:pt x="4450831" y="496374"/>
                </a:moveTo>
                <a:cubicBezTo>
                  <a:pt x="4443300" y="501497"/>
                  <a:pt x="4435133" y="504064"/>
                  <a:pt x="4425467" y="504064"/>
                </a:cubicBezTo>
                <a:cubicBezTo>
                  <a:pt x="4406322" y="504064"/>
                  <a:pt x="4394933" y="492963"/>
                  <a:pt x="4394933" y="472039"/>
                </a:cubicBezTo>
                <a:lnTo>
                  <a:pt x="4394933" y="404142"/>
                </a:lnTo>
                <a:lnTo>
                  <a:pt x="4375164" y="404142"/>
                </a:lnTo>
                <a:lnTo>
                  <a:pt x="4375164" y="388998"/>
                </a:lnTo>
                <a:lnTo>
                  <a:pt x="4394933" y="388998"/>
                </a:lnTo>
                <a:lnTo>
                  <a:pt x="4394933" y="363583"/>
                </a:lnTo>
                <a:lnTo>
                  <a:pt x="4414715" y="361226"/>
                </a:lnTo>
                <a:lnTo>
                  <a:pt x="4414715" y="388998"/>
                </a:lnTo>
                <a:lnTo>
                  <a:pt x="4441590" y="388998"/>
                </a:lnTo>
                <a:lnTo>
                  <a:pt x="4439429" y="404142"/>
                </a:lnTo>
                <a:lnTo>
                  <a:pt x="4414715" y="404142"/>
                </a:lnTo>
                <a:lnTo>
                  <a:pt x="4414715" y="471183"/>
                </a:lnTo>
                <a:cubicBezTo>
                  <a:pt x="4414715" y="482495"/>
                  <a:pt x="4418362" y="487841"/>
                  <a:pt x="4428252" y="487841"/>
                </a:cubicBezTo>
                <a:cubicBezTo>
                  <a:pt x="4433198" y="487841"/>
                  <a:pt x="4437719" y="486340"/>
                  <a:pt x="4443301" y="483351"/>
                </a:cubicBezTo>
                <a:lnTo>
                  <a:pt x="4450831" y="496374"/>
                </a:lnTo>
                <a:close/>
                <a:moveTo>
                  <a:pt x="4491457" y="489118"/>
                </a:moveTo>
                <a:cubicBezTo>
                  <a:pt x="4491457" y="497441"/>
                  <a:pt x="4485000" y="504064"/>
                  <a:pt x="4476408" y="504064"/>
                </a:cubicBezTo>
                <a:cubicBezTo>
                  <a:pt x="4468029" y="504064"/>
                  <a:pt x="4461572" y="497441"/>
                  <a:pt x="4461572" y="489118"/>
                </a:cubicBezTo>
                <a:cubicBezTo>
                  <a:pt x="4461572" y="481006"/>
                  <a:pt x="4468029" y="474383"/>
                  <a:pt x="4476408" y="474383"/>
                </a:cubicBezTo>
                <a:cubicBezTo>
                  <a:pt x="4485000" y="474383"/>
                  <a:pt x="4491457" y="481006"/>
                  <a:pt x="4491457" y="489118"/>
                </a:cubicBezTo>
                <a:close/>
                <a:moveTo>
                  <a:pt x="3521774" y="366146"/>
                </a:moveTo>
                <a:lnTo>
                  <a:pt x="3505002" y="385996"/>
                </a:lnTo>
                <a:cubicBezTo>
                  <a:pt x="3496623" y="379599"/>
                  <a:pt x="3488242" y="375748"/>
                  <a:pt x="3478129" y="375748"/>
                </a:cubicBezTo>
                <a:cubicBezTo>
                  <a:pt x="3458997" y="375748"/>
                  <a:pt x="3445681" y="390911"/>
                  <a:pt x="3445681" y="427204"/>
                </a:cubicBezTo>
                <a:cubicBezTo>
                  <a:pt x="3445681" y="462863"/>
                  <a:pt x="3458793" y="478013"/>
                  <a:pt x="3478562" y="478013"/>
                </a:cubicBezTo>
                <a:cubicBezTo>
                  <a:pt x="3490386" y="478013"/>
                  <a:pt x="3498995" y="472680"/>
                  <a:pt x="3507795" y="466055"/>
                </a:cubicBezTo>
                <a:lnTo>
                  <a:pt x="3523496" y="486133"/>
                </a:lnTo>
                <a:cubicBezTo>
                  <a:pt x="3513599" y="495951"/>
                  <a:pt x="3497477" y="505135"/>
                  <a:pt x="3476841" y="505135"/>
                </a:cubicBezTo>
                <a:cubicBezTo>
                  <a:pt x="3436001" y="505135"/>
                  <a:pt x="3408707" y="477798"/>
                  <a:pt x="3408707" y="427204"/>
                </a:cubicBezTo>
                <a:cubicBezTo>
                  <a:pt x="3408707" y="377673"/>
                  <a:pt x="3437723" y="349918"/>
                  <a:pt x="3476419" y="349918"/>
                </a:cubicBezTo>
                <a:cubicBezTo>
                  <a:pt x="3495768" y="349918"/>
                  <a:pt x="3509313" y="355682"/>
                  <a:pt x="3521774" y="366145"/>
                </a:cubicBezTo>
                <a:close/>
                <a:moveTo>
                  <a:pt x="3537463" y="472680"/>
                </a:moveTo>
                <a:lnTo>
                  <a:pt x="3537463" y="343090"/>
                </a:lnTo>
                <a:lnTo>
                  <a:pt x="3571428" y="339455"/>
                </a:lnTo>
                <a:lnTo>
                  <a:pt x="3571428" y="471401"/>
                </a:lnTo>
                <a:cubicBezTo>
                  <a:pt x="3571428" y="476101"/>
                  <a:pt x="3573149" y="478444"/>
                  <a:pt x="3577231" y="478444"/>
                </a:cubicBezTo>
                <a:cubicBezTo>
                  <a:pt x="3579590" y="478444"/>
                  <a:pt x="3581312" y="478013"/>
                  <a:pt x="3582818" y="477380"/>
                </a:cubicBezTo>
                <a:lnTo>
                  <a:pt x="3589475" y="501284"/>
                </a:lnTo>
                <a:cubicBezTo>
                  <a:pt x="3584323" y="503425"/>
                  <a:pt x="3577014" y="505135"/>
                  <a:pt x="3568839" y="505135"/>
                </a:cubicBezTo>
                <a:cubicBezTo>
                  <a:pt x="3549069" y="505135"/>
                  <a:pt x="3537463" y="493392"/>
                  <a:pt x="3537463" y="472680"/>
                </a:cubicBezTo>
                <a:close/>
                <a:moveTo>
                  <a:pt x="3708782" y="444927"/>
                </a:moveTo>
                <a:cubicBezTo>
                  <a:pt x="3708782" y="481220"/>
                  <a:pt x="3687712" y="505123"/>
                  <a:pt x="3652892" y="505123"/>
                </a:cubicBezTo>
                <a:cubicBezTo>
                  <a:pt x="3618290" y="505123"/>
                  <a:pt x="3597003" y="482930"/>
                  <a:pt x="3597003" y="444712"/>
                </a:cubicBezTo>
                <a:cubicBezTo>
                  <a:pt x="3597003" y="408419"/>
                  <a:pt x="3618073" y="384502"/>
                  <a:pt x="3652892" y="384502"/>
                </a:cubicBezTo>
                <a:cubicBezTo>
                  <a:pt x="3687711" y="384502"/>
                  <a:pt x="3708782" y="406709"/>
                  <a:pt x="3708782" y="444927"/>
                </a:cubicBezTo>
                <a:close/>
                <a:moveTo>
                  <a:pt x="3632256" y="444712"/>
                </a:moveTo>
                <a:cubicBezTo>
                  <a:pt x="3632256" y="469907"/>
                  <a:pt x="3639131" y="480371"/>
                  <a:pt x="3652892" y="480371"/>
                </a:cubicBezTo>
                <a:cubicBezTo>
                  <a:pt x="3666655" y="480371"/>
                  <a:pt x="3673529" y="469477"/>
                  <a:pt x="3673529" y="444927"/>
                </a:cubicBezTo>
                <a:cubicBezTo>
                  <a:pt x="3673529" y="419731"/>
                  <a:pt x="3666655" y="409267"/>
                  <a:pt x="3652892" y="409267"/>
                </a:cubicBezTo>
                <a:cubicBezTo>
                  <a:pt x="3639131" y="409267"/>
                  <a:pt x="3632256" y="420162"/>
                  <a:pt x="3632256" y="444712"/>
                </a:cubicBezTo>
                <a:close/>
                <a:moveTo>
                  <a:pt x="3827431" y="501502"/>
                </a:moveTo>
                <a:lnTo>
                  <a:pt x="3797981" y="501502"/>
                </a:lnTo>
                <a:lnTo>
                  <a:pt x="3796477" y="487200"/>
                </a:lnTo>
                <a:cubicBezTo>
                  <a:pt x="3788097" y="499158"/>
                  <a:pt x="3776924" y="505125"/>
                  <a:pt x="3761874" y="505125"/>
                </a:cubicBezTo>
                <a:cubicBezTo>
                  <a:pt x="3740587" y="505125"/>
                  <a:pt x="3730052" y="491469"/>
                  <a:pt x="3730052" y="469478"/>
                </a:cubicBezTo>
                <a:lnTo>
                  <a:pt x="3730052" y="388139"/>
                </a:lnTo>
                <a:lnTo>
                  <a:pt x="3764017" y="388139"/>
                </a:lnTo>
                <a:lnTo>
                  <a:pt x="3764017" y="465209"/>
                </a:lnTo>
                <a:cubicBezTo>
                  <a:pt x="3764017" y="476737"/>
                  <a:pt x="3767893" y="480157"/>
                  <a:pt x="3774985" y="480157"/>
                </a:cubicBezTo>
                <a:cubicBezTo>
                  <a:pt x="3782077" y="480157"/>
                  <a:pt x="3788531" y="475457"/>
                  <a:pt x="3793466" y="466919"/>
                </a:cubicBezTo>
                <a:lnTo>
                  <a:pt x="3793466" y="388139"/>
                </a:lnTo>
                <a:lnTo>
                  <a:pt x="3827431" y="388139"/>
                </a:lnTo>
                <a:lnTo>
                  <a:pt x="3827431" y="501502"/>
                </a:lnTo>
                <a:close/>
                <a:moveTo>
                  <a:pt x="3956398" y="343082"/>
                </a:moveTo>
                <a:lnTo>
                  <a:pt x="3956398" y="501503"/>
                </a:lnTo>
                <a:lnTo>
                  <a:pt x="3926297" y="501503"/>
                </a:lnTo>
                <a:lnTo>
                  <a:pt x="3924589" y="488265"/>
                </a:lnTo>
                <a:cubicBezTo>
                  <a:pt x="3917918" y="497652"/>
                  <a:pt x="3907599" y="505126"/>
                  <a:pt x="3892129" y="505126"/>
                </a:cubicBezTo>
                <a:cubicBezTo>
                  <a:pt x="3863100" y="505126"/>
                  <a:pt x="3848700" y="481222"/>
                  <a:pt x="3848700" y="444499"/>
                </a:cubicBezTo>
                <a:cubicBezTo>
                  <a:pt x="3848700" y="409486"/>
                  <a:pt x="3867182" y="384505"/>
                  <a:pt x="3895343" y="384505"/>
                </a:cubicBezTo>
                <a:cubicBezTo>
                  <a:pt x="3906528" y="384505"/>
                  <a:pt x="3915763" y="388559"/>
                  <a:pt x="3922433" y="395184"/>
                </a:cubicBezTo>
                <a:lnTo>
                  <a:pt x="3922433" y="339459"/>
                </a:lnTo>
                <a:lnTo>
                  <a:pt x="3956398" y="343082"/>
                </a:lnTo>
                <a:close/>
                <a:moveTo>
                  <a:pt x="3922433" y="467554"/>
                </a:moveTo>
                <a:lnTo>
                  <a:pt x="3922433" y="418669"/>
                </a:lnTo>
                <a:cubicBezTo>
                  <a:pt x="3917267" y="412690"/>
                  <a:pt x="3912115" y="409055"/>
                  <a:pt x="3904590" y="409055"/>
                </a:cubicBezTo>
                <a:cubicBezTo>
                  <a:pt x="3892549" y="409055"/>
                  <a:pt x="3883953" y="419303"/>
                  <a:pt x="3883953" y="444714"/>
                </a:cubicBezTo>
                <a:cubicBezTo>
                  <a:pt x="3883953" y="472887"/>
                  <a:pt x="3891695" y="480361"/>
                  <a:pt x="3902651" y="480361"/>
                </a:cubicBezTo>
                <a:cubicBezTo>
                  <a:pt x="3910827" y="480361"/>
                  <a:pt x="3917063" y="476092"/>
                  <a:pt x="3922433" y="467554"/>
                </a:cubicBezTo>
                <a:close/>
                <a:moveTo>
                  <a:pt x="3476419" y="113000"/>
                </a:moveTo>
                <a:cubicBezTo>
                  <a:pt x="3437722" y="113000"/>
                  <a:pt x="3408707" y="140754"/>
                  <a:pt x="3408707" y="190285"/>
                </a:cubicBezTo>
                <a:cubicBezTo>
                  <a:pt x="3408707" y="240892"/>
                  <a:pt x="3436001" y="268216"/>
                  <a:pt x="3476841" y="268216"/>
                </a:cubicBezTo>
                <a:cubicBezTo>
                  <a:pt x="3497477" y="268216"/>
                  <a:pt x="3513599" y="259032"/>
                  <a:pt x="3523496" y="249215"/>
                </a:cubicBezTo>
                <a:lnTo>
                  <a:pt x="3507795" y="229136"/>
                </a:lnTo>
                <a:cubicBezTo>
                  <a:pt x="3498995" y="235762"/>
                  <a:pt x="3490386" y="241095"/>
                  <a:pt x="3478562" y="241095"/>
                </a:cubicBezTo>
                <a:cubicBezTo>
                  <a:pt x="3458793" y="241095"/>
                  <a:pt x="3445681" y="225944"/>
                  <a:pt x="3445681" y="190285"/>
                </a:cubicBezTo>
                <a:cubicBezTo>
                  <a:pt x="3445681" y="153992"/>
                  <a:pt x="3458997" y="138829"/>
                  <a:pt x="3478129" y="138829"/>
                </a:cubicBezTo>
                <a:cubicBezTo>
                  <a:pt x="3488242" y="138829"/>
                  <a:pt x="3496623" y="142680"/>
                  <a:pt x="3505002" y="149077"/>
                </a:cubicBezTo>
                <a:lnTo>
                  <a:pt x="3521774" y="129227"/>
                </a:lnTo>
                <a:cubicBezTo>
                  <a:pt x="3509314" y="118763"/>
                  <a:pt x="3495768" y="113000"/>
                  <a:pt x="3476419" y="113000"/>
                </a:cubicBezTo>
                <a:close/>
                <a:moveTo>
                  <a:pt x="3633546" y="264584"/>
                </a:moveTo>
                <a:lnTo>
                  <a:pt x="3604096" y="264584"/>
                </a:lnTo>
                <a:lnTo>
                  <a:pt x="3602591" y="250282"/>
                </a:lnTo>
                <a:cubicBezTo>
                  <a:pt x="3594211" y="262241"/>
                  <a:pt x="3583038" y="268220"/>
                  <a:pt x="3567988" y="268220"/>
                </a:cubicBezTo>
                <a:cubicBezTo>
                  <a:pt x="3546701" y="268220"/>
                  <a:pt x="3536166" y="254551"/>
                  <a:pt x="3536166" y="232560"/>
                </a:cubicBezTo>
                <a:lnTo>
                  <a:pt x="3536166" y="151221"/>
                </a:lnTo>
                <a:lnTo>
                  <a:pt x="3570131" y="151221"/>
                </a:lnTo>
                <a:lnTo>
                  <a:pt x="3570131" y="228291"/>
                </a:lnTo>
                <a:cubicBezTo>
                  <a:pt x="3570131" y="239819"/>
                  <a:pt x="3574008" y="243239"/>
                  <a:pt x="3581100" y="243239"/>
                </a:cubicBezTo>
                <a:cubicBezTo>
                  <a:pt x="3588191" y="243239"/>
                  <a:pt x="3594645" y="238539"/>
                  <a:pt x="3599580" y="230001"/>
                </a:cubicBezTo>
                <a:lnTo>
                  <a:pt x="3599580" y="151221"/>
                </a:lnTo>
                <a:lnTo>
                  <a:pt x="3633546" y="151221"/>
                </a:lnTo>
                <a:lnTo>
                  <a:pt x="3633546" y="264584"/>
                </a:lnTo>
                <a:close/>
                <a:moveTo>
                  <a:pt x="3744461" y="161465"/>
                </a:moveTo>
                <a:lnTo>
                  <a:pt x="3732000" y="180466"/>
                </a:lnTo>
                <a:cubicBezTo>
                  <a:pt x="3723174" y="174918"/>
                  <a:pt x="3713723" y="171713"/>
                  <a:pt x="3703838" y="171713"/>
                </a:cubicBezTo>
                <a:cubicBezTo>
                  <a:pt x="3694591" y="171713"/>
                  <a:pt x="3690076" y="175133"/>
                  <a:pt x="3690076" y="180251"/>
                </a:cubicBezTo>
                <a:cubicBezTo>
                  <a:pt x="3690076" y="186230"/>
                  <a:pt x="3693086" y="188789"/>
                  <a:pt x="3713506" y="194768"/>
                </a:cubicBezTo>
                <a:cubicBezTo>
                  <a:pt x="3736081" y="201178"/>
                  <a:pt x="3748759" y="210564"/>
                  <a:pt x="3748759" y="230845"/>
                </a:cubicBezTo>
                <a:cubicBezTo>
                  <a:pt x="3748759" y="254331"/>
                  <a:pt x="3726401" y="268215"/>
                  <a:pt x="3698022" y="268215"/>
                </a:cubicBezTo>
                <a:cubicBezTo>
                  <a:pt x="3678253" y="268215"/>
                  <a:pt x="3661481" y="261387"/>
                  <a:pt x="3650308" y="251342"/>
                </a:cubicBezTo>
                <a:lnTo>
                  <a:pt x="3666864" y="232986"/>
                </a:lnTo>
                <a:cubicBezTo>
                  <a:pt x="3675460" y="239611"/>
                  <a:pt x="3685995" y="244083"/>
                  <a:pt x="3697167" y="244083"/>
                </a:cubicBezTo>
                <a:cubicBezTo>
                  <a:pt x="3707486" y="244083"/>
                  <a:pt x="3713723" y="240245"/>
                  <a:pt x="3713723" y="233417"/>
                </a:cubicBezTo>
                <a:cubicBezTo>
                  <a:pt x="3713723" y="225728"/>
                  <a:pt x="3710279" y="223384"/>
                  <a:pt x="3689643" y="217608"/>
                </a:cubicBezTo>
                <a:cubicBezTo>
                  <a:pt x="3667067" y="211211"/>
                  <a:pt x="3655895" y="199683"/>
                  <a:pt x="3655895" y="182176"/>
                </a:cubicBezTo>
                <a:cubicBezTo>
                  <a:pt x="3655895" y="162744"/>
                  <a:pt x="3673738" y="147594"/>
                  <a:pt x="3702550" y="147594"/>
                </a:cubicBezTo>
                <a:cubicBezTo>
                  <a:pt x="3719092" y="147594"/>
                  <a:pt x="3733926" y="152927"/>
                  <a:pt x="3744461" y="161465"/>
                </a:cubicBezTo>
                <a:close/>
                <a:moveTo>
                  <a:pt x="3839894" y="259246"/>
                </a:moveTo>
                <a:cubicBezTo>
                  <a:pt x="3831297" y="265225"/>
                  <a:pt x="3819257" y="268215"/>
                  <a:pt x="3808939" y="268215"/>
                </a:cubicBezTo>
                <a:cubicBezTo>
                  <a:pt x="3783787" y="267999"/>
                  <a:pt x="3771543" y="253913"/>
                  <a:pt x="3771543" y="227222"/>
                </a:cubicBezTo>
                <a:lnTo>
                  <a:pt x="3771543" y="174702"/>
                </a:lnTo>
                <a:lnTo>
                  <a:pt x="3755421" y="174702"/>
                </a:lnTo>
                <a:lnTo>
                  <a:pt x="3755421" y="151216"/>
                </a:lnTo>
                <a:lnTo>
                  <a:pt x="3771543" y="151216"/>
                </a:lnTo>
                <a:lnTo>
                  <a:pt x="3771543" y="126667"/>
                </a:lnTo>
                <a:lnTo>
                  <a:pt x="3805495" y="122828"/>
                </a:lnTo>
                <a:lnTo>
                  <a:pt x="3805495" y="151216"/>
                </a:lnTo>
                <a:lnTo>
                  <a:pt x="3831731" y="151216"/>
                </a:lnTo>
                <a:lnTo>
                  <a:pt x="3828070" y="174702"/>
                </a:lnTo>
                <a:lnTo>
                  <a:pt x="3805495" y="174702"/>
                </a:lnTo>
                <a:lnTo>
                  <a:pt x="3805495" y="226792"/>
                </a:lnTo>
                <a:cubicBezTo>
                  <a:pt x="3805495" y="237686"/>
                  <a:pt x="3809156" y="241524"/>
                  <a:pt x="3816247" y="241524"/>
                </a:cubicBezTo>
                <a:cubicBezTo>
                  <a:pt x="3820125" y="241524"/>
                  <a:pt x="3823989" y="240460"/>
                  <a:pt x="3828504" y="237901"/>
                </a:cubicBezTo>
                <a:lnTo>
                  <a:pt x="3839894" y="259246"/>
                </a:lnTo>
                <a:close/>
                <a:moveTo>
                  <a:pt x="3954894" y="208009"/>
                </a:moveTo>
                <a:cubicBezTo>
                  <a:pt x="3954894" y="244302"/>
                  <a:pt x="3933824" y="268219"/>
                  <a:pt x="3899004" y="268219"/>
                </a:cubicBezTo>
                <a:cubicBezTo>
                  <a:pt x="3864402" y="268219"/>
                  <a:pt x="3843115" y="246012"/>
                  <a:pt x="3843115" y="207794"/>
                </a:cubicBezTo>
                <a:cubicBezTo>
                  <a:pt x="3843115" y="171501"/>
                  <a:pt x="3864185" y="147585"/>
                  <a:pt x="3899004" y="147585"/>
                </a:cubicBezTo>
                <a:cubicBezTo>
                  <a:pt x="3933823" y="147585"/>
                  <a:pt x="3954894" y="169791"/>
                  <a:pt x="3954894" y="208009"/>
                </a:cubicBezTo>
                <a:close/>
                <a:moveTo>
                  <a:pt x="3878368" y="207794"/>
                </a:moveTo>
                <a:cubicBezTo>
                  <a:pt x="3878368" y="232990"/>
                  <a:pt x="3885243" y="243453"/>
                  <a:pt x="3899004" y="243453"/>
                </a:cubicBezTo>
                <a:cubicBezTo>
                  <a:pt x="3912767" y="243453"/>
                  <a:pt x="3919641" y="232559"/>
                  <a:pt x="3919641" y="208009"/>
                </a:cubicBezTo>
                <a:cubicBezTo>
                  <a:pt x="3919641" y="182813"/>
                  <a:pt x="3912767" y="172350"/>
                  <a:pt x="3899004" y="172350"/>
                </a:cubicBezTo>
                <a:cubicBezTo>
                  <a:pt x="3885243" y="172350"/>
                  <a:pt x="3878368" y="183244"/>
                  <a:pt x="3878368" y="207794"/>
                </a:cubicBezTo>
                <a:close/>
                <a:moveTo>
                  <a:pt x="4132231" y="181748"/>
                </a:moveTo>
                <a:lnTo>
                  <a:pt x="4132231" y="264582"/>
                </a:lnTo>
                <a:lnTo>
                  <a:pt x="4098266" y="264582"/>
                </a:lnTo>
                <a:lnTo>
                  <a:pt x="4098266" y="187512"/>
                </a:lnTo>
                <a:cubicBezTo>
                  <a:pt x="4098266" y="175554"/>
                  <a:pt x="4093751" y="172349"/>
                  <a:pt x="4088598" y="172349"/>
                </a:cubicBezTo>
                <a:cubicBezTo>
                  <a:pt x="4081290" y="172349"/>
                  <a:pt x="4076125" y="177695"/>
                  <a:pt x="4071176" y="187081"/>
                </a:cubicBezTo>
                <a:lnTo>
                  <a:pt x="4071176" y="264582"/>
                </a:lnTo>
                <a:lnTo>
                  <a:pt x="4037224" y="264582"/>
                </a:lnTo>
                <a:lnTo>
                  <a:pt x="4037224" y="187512"/>
                </a:lnTo>
                <a:cubicBezTo>
                  <a:pt x="4037224" y="175554"/>
                  <a:pt x="4032709" y="172349"/>
                  <a:pt x="4027543" y="172349"/>
                </a:cubicBezTo>
                <a:cubicBezTo>
                  <a:pt x="4020452" y="172349"/>
                  <a:pt x="4015082" y="177695"/>
                  <a:pt x="4010134" y="187081"/>
                </a:cubicBezTo>
                <a:lnTo>
                  <a:pt x="4010134" y="264582"/>
                </a:lnTo>
                <a:lnTo>
                  <a:pt x="3976168" y="264582"/>
                </a:lnTo>
                <a:lnTo>
                  <a:pt x="3976168" y="151219"/>
                </a:lnTo>
                <a:lnTo>
                  <a:pt x="4005836" y="151219"/>
                </a:lnTo>
                <a:lnTo>
                  <a:pt x="4008208" y="164457"/>
                </a:lnTo>
                <a:cubicBezTo>
                  <a:pt x="4017021" y="153347"/>
                  <a:pt x="4027339" y="147583"/>
                  <a:pt x="4041305" y="147583"/>
                </a:cubicBezTo>
                <a:cubicBezTo>
                  <a:pt x="4053983" y="147583"/>
                  <a:pt x="4063880" y="153993"/>
                  <a:pt x="4068179" y="165521"/>
                </a:cubicBezTo>
                <a:cubicBezTo>
                  <a:pt x="4077196" y="153563"/>
                  <a:pt x="4087744" y="147583"/>
                  <a:pt x="4102347" y="147583"/>
                </a:cubicBezTo>
                <a:cubicBezTo>
                  <a:pt x="4119974" y="147583"/>
                  <a:pt x="4132231" y="160188"/>
                  <a:pt x="4132231" y="181748"/>
                </a:cubicBezTo>
                <a:close/>
                <a:moveTo>
                  <a:pt x="4258838" y="217827"/>
                </a:moveTo>
                <a:lnTo>
                  <a:pt x="4188115" y="217827"/>
                </a:lnTo>
                <a:cubicBezTo>
                  <a:pt x="4190475" y="238108"/>
                  <a:pt x="4200155" y="243656"/>
                  <a:pt x="4214122" y="243656"/>
                </a:cubicBezTo>
                <a:cubicBezTo>
                  <a:pt x="4223368" y="243656"/>
                  <a:pt x="4231531" y="240464"/>
                  <a:pt x="4241429" y="233623"/>
                </a:cubicBezTo>
                <a:lnTo>
                  <a:pt x="4255394" y="252409"/>
                </a:lnTo>
                <a:cubicBezTo>
                  <a:pt x="4244004" y="261378"/>
                  <a:pt x="4229388" y="268219"/>
                  <a:pt x="4210894" y="268219"/>
                </a:cubicBezTo>
                <a:cubicBezTo>
                  <a:pt x="4172848" y="268219"/>
                  <a:pt x="4153499" y="243871"/>
                  <a:pt x="4153499" y="208440"/>
                </a:cubicBezTo>
                <a:cubicBezTo>
                  <a:pt x="4153499" y="174491"/>
                  <a:pt x="4172210" y="147585"/>
                  <a:pt x="4206812" y="147585"/>
                </a:cubicBezTo>
                <a:cubicBezTo>
                  <a:pt x="4239489" y="147585"/>
                  <a:pt x="4259475" y="168942"/>
                  <a:pt x="4259475" y="205666"/>
                </a:cubicBezTo>
                <a:cubicBezTo>
                  <a:pt x="4259475" y="209289"/>
                  <a:pt x="4259258" y="214406"/>
                  <a:pt x="4258838" y="217827"/>
                </a:cubicBezTo>
                <a:close/>
                <a:moveTo>
                  <a:pt x="4226161" y="196051"/>
                </a:moveTo>
                <a:cubicBezTo>
                  <a:pt x="4225944" y="180685"/>
                  <a:pt x="4221212" y="170006"/>
                  <a:pt x="4207680" y="170006"/>
                </a:cubicBezTo>
                <a:cubicBezTo>
                  <a:pt x="4196278" y="170006"/>
                  <a:pt x="4189620" y="177265"/>
                  <a:pt x="4188115" y="197546"/>
                </a:cubicBezTo>
                <a:lnTo>
                  <a:pt x="4226161" y="197546"/>
                </a:lnTo>
                <a:lnTo>
                  <a:pt x="4226161" y="196051"/>
                </a:lnTo>
                <a:close/>
                <a:moveTo>
                  <a:pt x="4429055" y="117480"/>
                </a:moveTo>
                <a:lnTo>
                  <a:pt x="4507732" y="117480"/>
                </a:lnTo>
                <a:lnTo>
                  <a:pt x="4505359" y="133716"/>
                </a:lnTo>
                <a:lnTo>
                  <a:pt x="4449486" y="133716"/>
                </a:lnTo>
                <a:lnTo>
                  <a:pt x="4449486" y="183887"/>
                </a:lnTo>
                <a:lnTo>
                  <a:pt x="4497841" y="183887"/>
                </a:lnTo>
                <a:lnTo>
                  <a:pt x="4497841" y="199900"/>
                </a:lnTo>
                <a:lnTo>
                  <a:pt x="4449486" y="199900"/>
                </a:lnTo>
                <a:lnTo>
                  <a:pt x="4449486" y="264584"/>
                </a:lnTo>
                <a:lnTo>
                  <a:pt x="4429055" y="264584"/>
                </a:lnTo>
                <a:lnTo>
                  <a:pt x="4429055" y="117479"/>
                </a:lnTo>
                <a:close/>
                <a:moveTo>
                  <a:pt x="4557185" y="111507"/>
                </a:moveTo>
                <a:cubicBezTo>
                  <a:pt x="4557185" y="118986"/>
                  <a:pt x="4551602" y="124742"/>
                  <a:pt x="4543223" y="124742"/>
                </a:cubicBezTo>
                <a:cubicBezTo>
                  <a:pt x="4535043" y="124742"/>
                  <a:pt x="4529461" y="118986"/>
                  <a:pt x="4529461" y="111507"/>
                </a:cubicBezTo>
                <a:cubicBezTo>
                  <a:pt x="4529461" y="103817"/>
                  <a:pt x="4535043" y="98050"/>
                  <a:pt x="4543223" y="98050"/>
                </a:cubicBezTo>
                <a:cubicBezTo>
                  <a:pt x="4551602" y="98050"/>
                  <a:pt x="4557185" y="103817"/>
                  <a:pt x="4557185" y="111507"/>
                </a:cubicBezTo>
                <a:close/>
                <a:moveTo>
                  <a:pt x="4553313" y="264578"/>
                </a:moveTo>
                <a:lnTo>
                  <a:pt x="4533532" y="264578"/>
                </a:lnTo>
                <a:lnTo>
                  <a:pt x="4533532" y="152066"/>
                </a:lnTo>
                <a:lnTo>
                  <a:pt x="4553313" y="152066"/>
                </a:lnTo>
                <a:lnTo>
                  <a:pt x="4553313" y="264578"/>
                </a:lnTo>
                <a:close/>
                <a:moveTo>
                  <a:pt x="4654569" y="150790"/>
                </a:moveTo>
                <a:lnTo>
                  <a:pt x="4650909" y="170003"/>
                </a:lnTo>
                <a:cubicBezTo>
                  <a:pt x="4647475" y="169147"/>
                  <a:pt x="4645102" y="168713"/>
                  <a:pt x="4641032" y="168713"/>
                </a:cubicBezTo>
                <a:cubicBezTo>
                  <a:pt x="4626832" y="168713"/>
                  <a:pt x="4618677" y="178760"/>
                  <a:pt x="4613944" y="200317"/>
                </a:cubicBezTo>
                <a:lnTo>
                  <a:pt x="4613944" y="264579"/>
                </a:lnTo>
                <a:lnTo>
                  <a:pt x="4594163" y="264579"/>
                </a:lnTo>
                <a:lnTo>
                  <a:pt x="4594163" y="152080"/>
                </a:lnTo>
                <a:lnTo>
                  <a:pt x="4611147" y="152080"/>
                </a:lnTo>
                <a:lnTo>
                  <a:pt x="4613082" y="174915"/>
                </a:lnTo>
                <a:cubicBezTo>
                  <a:pt x="4619101" y="158046"/>
                  <a:pt x="4629642" y="149500"/>
                  <a:pt x="4643391" y="149500"/>
                </a:cubicBezTo>
                <a:cubicBezTo>
                  <a:pt x="4647038" y="149500"/>
                  <a:pt x="4651134" y="149934"/>
                  <a:pt x="4654568" y="150790"/>
                </a:cubicBezTo>
                <a:close/>
                <a:moveTo>
                  <a:pt x="4746366" y="162322"/>
                </a:moveTo>
                <a:lnTo>
                  <a:pt x="4737974" y="174700"/>
                </a:lnTo>
                <a:cubicBezTo>
                  <a:pt x="4727884" y="168288"/>
                  <a:pt x="4719054" y="165100"/>
                  <a:pt x="4708539" y="165100"/>
                </a:cubicBezTo>
                <a:cubicBezTo>
                  <a:pt x="4695626" y="165100"/>
                  <a:pt x="4687684" y="170855"/>
                  <a:pt x="4687684" y="179823"/>
                </a:cubicBezTo>
                <a:cubicBezTo>
                  <a:pt x="4687684" y="189001"/>
                  <a:pt x="4693690" y="193268"/>
                  <a:pt x="4711973" y="197969"/>
                </a:cubicBezTo>
                <a:cubicBezTo>
                  <a:pt x="4735826" y="203948"/>
                  <a:pt x="4749588" y="213337"/>
                  <a:pt x="4749588" y="232984"/>
                </a:cubicBezTo>
                <a:cubicBezTo>
                  <a:pt x="4749588" y="256464"/>
                  <a:pt x="4727884" y="267143"/>
                  <a:pt x="4704880" y="267143"/>
                </a:cubicBezTo>
                <a:cubicBezTo>
                  <a:pt x="4685735" y="267143"/>
                  <a:pt x="4671986" y="260941"/>
                  <a:pt x="4662107" y="252408"/>
                </a:cubicBezTo>
                <a:lnTo>
                  <a:pt x="4672635" y="240451"/>
                </a:lnTo>
                <a:cubicBezTo>
                  <a:pt x="4681664" y="247285"/>
                  <a:pt x="4692191" y="251341"/>
                  <a:pt x="4704443" y="251341"/>
                </a:cubicBezTo>
                <a:cubicBezTo>
                  <a:pt x="4719279" y="251341"/>
                  <a:pt x="4728733" y="244928"/>
                  <a:pt x="4728733" y="234261"/>
                </a:cubicBezTo>
                <a:cubicBezTo>
                  <a:pt x="4728733" y="223160"/>
                  <a:pt x="4723150" y="218894"/>
                  <a:pt x="4701221" y="213126"/>
                </a:cubicBezTo>
                <a:cubicBezTo>
                  <a:pt x="4676718" y="206726"/>
                  <a:pt x="4667040" y="196257"/>
                  <a:pt x="4667040" y="180468"/>
                </a:cubicBezTo>
                <a:cubicBezTo>
                  <a:pt x="4667040" y="162532"/>
                  <a:pt x="4684462" y="149509"/>
                  <a:pt x="4707890" y="149509"/>
                </a:cubicBezTo>
                <a:cubicBezTo>
                  <a:pt x="4723787" y="149509"/>
                  <a:pt x="4735614" y="154210"/>
                  <a:pt x="4746366" y="162322"/>
                </a:cubicBezTo>
                <a:close/>
                <a:moveTo>
                  <a:pt x="4834725" y="259455"/>
                </a:moveTo>
                <a:cubicBezTo>
                  <a:pt x="4827194" y="264578"/>
                  <a:pt x="4819027" y="267145"/>
                  <a:pt x="4809361" y="267145"/>
                </a:cubicBezTo>
                <a:cubicBezTo>
                  <a:pt x="4790216" y="267145"/>
                  <a:pt x="4778827" y="256044"/>
                  <a:pt x="4778827" y="235120"/>
                </a:cubicBezTo>
                <a:lnTo>
                  <a:pt x="4778827" y="167223"/>
                </a:lnTo>
                <a:lnTo>
                  <a:pt x="4759057" y="167223"/>
                </a:lnTo>
                <a:lnTo>
                  <a:pt x="4759057" y="152079"/>
                </a:lnTo>
                <a:lnTo>
                  <a:pt x="4778827" y="152079"/>
                </a:lnTo>
                <a:lnTo>
                  <a:pt x="4778827" y="126664"/>
                </a:lnTo>
                <a:lnTo>
                  <a:pt x="4798608" y="124308"/>
                </a:lnTo>
                <a:lnTo>
                  <a:pt x="4798608" y="152079"/>
                </a:lnTo>
                <a:lnTo>
                  <a:pt x="4825484" y="152079"/>
                </a:lnTo>
                <a:lnTo>
                  <a:pt x="4823323" y="167223"/>
                </a:lnTo>
                <a:lnTo>
                  <a:pt x="4798608" y="167223"/>
                </a:lnTo>
                <a:lnTo>
                  <a:pt x="4798608" y="234264"/>
                </a:lnTo>
                <a:cubicBezTo>
                  <a:pt x="4798608" y="245576"/>
                  <a:pt x="4802255" y="250922"/>
                  <a:pt x="4812146" y="250922"/>
                </a:cubicBezTo>
                <a:cubicBezTo>
                  <a:pt x="4817091" y="250922"/>
                  <a:pt x="4821612" y="249421"/>
                  <a:pt x="4827194" y="246432"/>
                </a:cubicBezTo>
                <a:lnTo>
                  <a:pt x="4834725" y="259455"/>
                </a:lnTo>
                <a:close/>
                <a:moveTo>
                  <a:pt x="4875350" y="252199"/>
                </a:moveTo>
                <a:cubicBezTo>
                  <a:pt x="4875350" y="260522"/>
                  <a:pt x="4868893" y="267145"/>
                  <a:pt x="4860302" y="267145"/>
                </a:cubicBezTo>
                <a:cubicBezTo>
                  <a:pt x="4851922" y="267145"/>
                  <a:pt x="4845465" y="260522"/>
                  <a:pt x="4845465" y="252199"/>
                </a:cubicBezTo>
                <a:cubicBezTo>
                  <a:pt x="4845465" y="244087"/>
                  <a:pt x="4851922" y="237464"/>
                  <a:pt x="4860302" y="237464"/>
                </a:cubicBezTo>
                <a:cubicBezTo>
                  <a:pt x="4868893" y="237464"/>
                  <a:pt x="4875350" y="244087"/>
                  <a:pt x="4875350" y="252199"/>
                </a:cubicBezTo>
                <a:close/>
                <a:moveTo>
                  <a:pt x="4354043" y="149509"/>
                </a:moveTo>
                <a:lnTo>
                  <a:pt x="4348673" y="182179"/>
                </a:lnTo>
                <a:cubicBezTo>
                  <a:pt x="4345013" y="181317"/>
                  <a:pt x="4342220" y="180684"/>
                  <a:pt x="4338355" y="180684"/>
                </a:cubicBezTo>
                <a:cubicBezTo>
                  <a:pt x="4324159" y="180684"/>
                  <a:pt x="4318356" y="191147"/>
                  <a:pt x="4314709" y="208439"/>
                </a:cubicBezTo>
                <a:lnTo>
                  <a:pt x="4314709" y="264582"/>
                </a:lnTo>
                <a:lnTo>
                  <a:pt x="4280743" y="264582"/>
                </a:lnTo>
                <a:lnTo>
                  <a:pt x="4280743" y="151219"/>
                </a:lnTo>
                <a:lnTo>
                  <a:pt x="4310397" y="151219"/>
                </a:lnTo>
                <a:lnTo>
                  <a:pt x="4313203" y="173210"/>
                </a:lnTo>
                <a:cubicBezTo>
                  <a:pt x="4318356" y="157413"/>
                  <a:pt x="4329542" y="148014"/>
                  <a:pt x="4342653" y="148014"/>
                </a:cubicBezTo>
                <a:cubicBezTo>
                  <a:pt x="4346951" y="148014"/>
                  <a:pt x="4350395" y="148445"/>
                  <a:pt x="4354043" y="149509"/>
                </a:cubicBezTo>
                <a:close/>
                <a:moveTo>
                  <a:pt x="2977074" y="861572"/>
                </a:moveTo>
                <a:cubicBezTo>
                  <a:pt x="2951801" y="861572"/>
                  <a:pt x="2935849" y="840744"/>
                  <a:pt x="2938180" y="819204"/>
                </a:cubicBezTo>
                <a:cubicBezTo>
                  <a:pt x="2940330" y="795706"/>
                  <a:pt x="2961122" y="776658"/>
                  <a:pt x="2984781" y="776658"/>
                </a:cubicBezTo>
                <a:cubicBezTo>
                  <a:pt x="3008440" y="776658"/>
                  <a:pt x="3025825" y="795706"/>
                  <a:pt x="3023675" y="819204"/>
                </a:cubicBezTo>
                <a:cubicBezTo>
                  <a:pt x="3021524" y="842702"/>
                  <a:pt x="3000732" y="861750"/>
                  <a:pt x="2977074" y="861572"/>
                </a:cubicBezTo>
                <a:close/>
                <a:moveTo>
                  <a:pt x="2984780" y="782889"/>
                </a:moveTo>
                <a:cubicBezTo>
                  <a:pt x="2964169" y="782889"/>
                  <a:pt x="2946066" y="799622"/>
                  <a:pt x="2944273" y="819738"/>
                </a:cubicBezTo>
                <a:cubicBezTo>
                  <a:pt x="2942481" y="839498"/>
                  <a:pt x="2956999" y="855519"/>
                  <a:pt x="2977074" y="855519"/>
                </a:cubicBezTo>
                <a:cubicBezTo>
                  <a:pt x="2997506" y="855519"/>
                  <a:pt x="3015788" y="838964"/>
                  <a:pt x="3017580" y="818670"/>
                </a:cubicBezTo>
                <a:cubicBezTo>
                  <a:pt x="3019373" y="798910"/>
                  <a:pt x="3004675" y="782889"/>
                  <a:pt x="2984780" y="782889"/>
                </a:cubicBezTo>
                <a:close/>
                <a:moveTo>
                  <a:pt x="2988007" y="824366"/>
                </a:moveTo>
                <a:cubicBezTo>
                  <a:pt x="2997148" y="821874"/>
                  <a:pt x="3001808" y="813329"/>
                  <a:pt x="3001629" y="806743"/>
                </a:cubicBezTo>
                <a:cubicBezTo>
                  <a:pt x="3001450" y="799622"/>
                  <a:pt x="2995714" y="794104"/>
                  <a:pt x="2988186" y="794104"/>
                </a:cubicBezTo>
                <a:lnTo>
                  <a:pt x="2971697" y="794104"/>
                </a:lnTo>
                <a:lnTo>
                  <a:pt x="2962197" y="844126"/>
                </a:lnTo>
                <a:lnTo>
                  <a:pt x="2968470" y="844126"/>
                </a:lnTo>
                <a:lnTo>
                  <a:pt x="2972055" y="824900"/>
                </a:lnTo>
                <a:lnTo>
                  <a:pt x="2981554" y="824900"/>
                </a:lnTo>
                <a:lnTo>
                  <a:pt x="2988186" y="844126"/>
                </a:lnTo>
                <a:lnTo>
                  <a:pt x="2994818" y="844126"/>
                </a:lnTo>
                <a:lnTo>
                  <a:pt x="2988007" y="824366"/>
                </a:lnTo>
                <a:lnTo>
                  <a:pt x="2988007" y="824366"/>
                </a:lnTo>
                <a:close/>
                <a:moveTo>
                  <a:pt x="2995355" y="808879"/>
                </a:moveTo>
                <a:cubicBezTo>
                  <a:pt x="2993922" y="814575"/>
                  <a:pt x="2989082" y="818848"/>
                  <a:pt x="2983526" y="818848"/>
                </a:cubicBezTo>
                <a:lnTo>
                  <a:pt x="2973130" y="818848"/>
                </a:lnTo>
                <a:lnTo>
                  <a:pt x="2976715" y="800156"/>
                </a:lnTo>
                <a:lnTo>
                  <a:pt x="2988186" y="800156"/>
                </a:lnTo>
                <a:cubicBezTo>
                  <a:pt x="2992846" y="800156"/>
                  <a:pt x="2996431" y="804428"/>
                  <a:pt x="2995355" y="808879"/>
                </a:cubicBezTo>
                <a:close/>
                <a:moveTo>
                  <a:pt x="1498985" y="270374"/>
                </a:moveTo>
                <a:cubicBezTo>
                  <a:pt x="1468316" y="255526"/>
                  <a:pt x="1453828" y="242512"/>
                  <a:pt x="1453828" y="227989"/>
                </a:cubicBezTo>
                <a:cubicBezTo>
                  <a:pt x="1453828" y="207743"/>
                  <a:pt x="1472761" y="195649"/>
                  <a:pt x="1501834" y="195649"/>
                </a:cubicBezTo>
                <a:cubicBezTo>
                  <a:pt x="1543697" y="195649"/>
                  <a:pt x="1582079" y="211373"/>
                  <a:pt x="1597180" y="222644"/>
                </a:cubicBezTo>
                <a:lnTo>
                  <a:pt x="1613401" y="137908"/>
                </a:lnTo>
                <a:cubicBezTo>
                  <a:pt x="1594348" y="125765"/>
                  <a:pt x="1559986" y="113411"/>
                  <a:pt x="1507205" y="113411"/>
                </a:cubicBezTo>
                <a:cubicBezTo>
                  <a:pt x="1407454" y="113411"/>
                  <a:pt x="1340970" y="165801"/>
                  <a:pt x="1340970" y="243327"/>
                </a:cubicBezTo>
                <a:cubicBezTo>
                  <a:pt x="1340970" y="282728"/>
                  <a:pt x="1367537" y="316159"/>
                  <a:pt x="1420637" y="342530"/>
                </a:cubicBezTo>
                <a:cubicBezTo>
                  <a:pt x="1454206" y="358843"/>
                  <a:pt x="1467348" y="371767"/>
                  <a:pt x="1467348" y="390260"/>
                </a:cubicBezTo>
                <a:cubicBezTo>
                  <a:pt x="1467348" y="410662"/>
                  <a:pt x="1448653" y="423380"/>
                  <a:pt x="1420899" y="423380"/>
                </a:cubicBezTo>
                <a:cubicBezTo>
                  <a:pt x="1387200" y="423380"/>
                  <a:pt x="1342028" y="408651"/>
                  <a:pt x="1316170" y="394058"/>
                </a:cubicBezTo>
                <a:lnTo>
                  <a:pt x="1299920" y="478961"/>
                </a:lnTo>
                <a:cubicBezTo>
                  <a:pt x="1324314" y="493849"/>
                  <a:pt x="1367431" y="504151"/>
                  <a:pt x="1410107" y="504852"/>
                </a:cubicBezTo>
                <a:cubicBezTo>
                  <a:pt x="1469572" y="505307"/>
                  <a:pt x="1519028" y="488918"/>
                  <a:pt x="1549514" y="458861"/>
                </a:cubicBezTo>
                <a:cubicBezTo>
                  <a:pt x="1572432" y="436279"/>
                  <a:pt x="1584075" y="407299"/>
                  <a:pt x="1584075" y="372652"/>
                </a:cubicBezTo>
                <a:cubicBezTo>
                  <a:pt x="1584075" y="319558"/>
                  <a:pt x="1538942" y="290202"/>
                  <a:pt x="1498985" y="270374"/>
                </a:cubicBezTo>
                <a:close/>
                <a:moveTo>
                  <a:pt x="970363" y="127406"/>
                </a:moveTo>
                <a:lnTo>
                  <a:pt x="952989" y="217938"/>
                </a:lnTo>
                <a:cubicBezTo>
                  <a:pt x="935533" y="208075"/>
                  <a:pt x="915292" y="203307"/>
                  <a:pt x="891107" y="203307"/>
                </a:cubicBezTo>
                <a:cubicBezTo>
                  <a:pt x="811295" y="203307"/>
                  <a:pt x="763747" y="272410"/>
                  <a:pt x="763747" y="338997"/>
                </a:cubicBezTo>
                <a:cubicBezTo>
                  <a:pt x="763747" y="395504"/>
                  <a:pt x="801745" y="415748"/>
                  <a:pt x="837167" y="415748"/>
                </a:cubicBezTo>
                <a:cubicBezTo>
                  <a:pt x="869148" y="415748"/>
                  <a:pt x="896280" y="408737"/>
                  <a:pt x="930953" y="391664"/>
                </a:cubicBezTo>
                <a:lnTo>
                  <a:pt x="913201" y="484779"/>
                </a:lnTo>
                <a:cubicBezTo>
                  <a:pt x="887273" y="497313"/>
                  <a:pt x="847002" y="504852"/>
                  <a:pt x="805571" y="504852"/>
                </a:cubicBezTo>
                <a:cubicBezTo>
                  <a:pt x="708709" y="504852"/>
                  <a:pt x="646266" y="444585"/>
                  <a:pt x="646266" y="351250"/>
                </a:cubicBezTo>
                <a:cubicBezTo>
                  <a:pt x="646266" y="216101"/>
                  <a:pt x="752144" y="114188"/>
                  <a:pt x="892662" y="114188"/>
                </a:cubicBezTo>
                <a:cubicBezTo>
                  <a:pt x="921178" y="114188"/>
                  <a:pt x="950277" y="119151"/>
                  <a:pt x="970363" y="127406"/>
                </a:cubicBezTo>
                <a:close/>
                <a:moveTo>
                  <a:pt x="2778278" y="343325"/>
                </a:moveTo>
                <a:cubicBezTo>
                  <a:pt x="2862884" y="359827"/>
                  <a:pt x="2955783" y="339380"/>
                  <a:pt x="2993476" y="302896"/>
                </a:cubicBezTo>
                <a:cubicBezTo>
                  <a:pt x="3013625" y="283392"/>
                  <a:pt x="3023855" y="257710"/>
                  <a:pt x="3023855" y="226484"/>
                </a:cubicBezTo>
                <a:cubicBezTo>
                  <a:pt x="3023855" y="158962"/>
                  <a:pt x="2971211" y="113423"/>
                  <a:pt x="2892289" y="113423"/>
                </a:cubicBezTo>
                <a:cubicBezTo>
                  <a:pt x="2829229" y="113423"/>
                  <a:pt x="2771906" y="139599"/>
                  <a:pt x="2730905" y="187174"/>
                </a:cubicBezTo>
                <a:cubicBezTo>
                  <a:pt x="2693535" y="230519"/>
                  <a:pt x="2672078" y="288647"/>
                  <a:pt x="2672078" y="346655"/>
                </a:cubicBezTo>
                <a:cubicBezTo>
                  <a:pt x="2672078" y="447258"/>
                  <a:pt x="2731715" y="504881"/>
                  <a:pt x="2836038" y="504881"/>
                </a:cubicBezTo>
                <a:cubicBezTo>
                  <a:pt x="2860557" y="504881"/>
                  <a:pt x="2923337" y="501938"/>
                  <a:pt x="2976777" y="474840"/>
                </a:cubicBezTo>
                <a:lnTo>
                  <a:pt x="2994734" y="381111"/>
                </a:lnTo>
                <a:cubicBezTo>
                  <a:pt x="2950484" y="406640"/>
                  <a:pt x="2909899" y="418032"/>
                  <a:pt x="2863005" y="418032"/>
                </a:cubicBezTo>
                <a:cubicBezTo>
                  <a:pt x="2810134" y="418032"/>
                  <a:pt x="2774248" y="390673"/>
                  <a:pt x="2778278" y="343325"/>
                </a:cubicBezTo>
                <a:close/>
                <a:moveTo>
                  <a:pt x="2878412" y="194883"/>
                </a:moveTo>
                <a:cubicBezTo>
                  <a:pt x="2921523" y="194883"/>
                  <a:pt x="2926998" y="231859"/>
                  <a:pt x="2909510" y="249117"/>
                </a:cubicBezTo>
                <a:cubicBezTo>
                  <a:pt x="2893357" y="265003"/>
                  <a:pt x="2856343" y="271614"/>
                  <a:pt x="2790539" y="271078"/>
                </a:cubicBezTo>
                <a:cubicBezTo>
                  <a:pt x="2799027" y="234378"/>
                  <a:pt x="2829908" y="194883"/>
                  <a:pt x="2878412" y="194883"/>
                </a:cubicBezTo>
                <a:close/>
                <a:moveTo>
                  <a:pt x="2693048" y="127406"/>
                </a:moveTo>
                <a:lnTo>
                  <a:pt x="2675674" y="217938"/>
                </a:lnTo>
                <a:cubicBezTo>
                  <a:pt x="2658218" y="208075"/>
                  <a:pt x="2637977" y="203307"/>
                  <a:pt x="2613791" y="203307"/>
                </a:cubicBezTo>
                <a:cubicBezTo>
                  <a:pt x="2533980" y="203307"/>
                  <a:pt x="2486431" y="272410"/>
                  <a:pt x="2486431" y="338997"/>
                </a:cubicBezTo>
                <a:cubicBezTo>
                  <a:pt x="2486431" y="395505"/>
                  <a:pt x="2524430" y="415748"/>
                  <a:pt x="2559852" y="415748"/>
                </a:cubicBezTo>
                <a:cubicBezTo>
                  <a:pt x="2591833" y="415748"/>
                  <a:pt x="2618964" y="408738"/>
                  <a:pt x="2653638" y="391664"/>
                </a:cubicBezTo>
                <a:lnTo>
                  <a:pt x="2635886" y="484779"/>
                </a:lnTo>
                <a:cubicBezTo>
                  <a:pt x="2609958" y="497313"/>
                  <a:pt x="2569687" y="504852"/>
                  <a:pt x="2528256" y="504852"/>
                </a:cubicBezTo>
                <a:cubicBezTo>
                  <a:pt x="2431394" y="504852"/>
                  <a:pt x="2368950" y="444585"/>
                  <a:pt x="2368950" y="351250"/>
                </a:cubicBezTo>
                <a:cubicBezTo>
                  <a:pt x="2368950" y="216101"/>
                  <a:pt x="2474828" y="114188"/>
                  <a:pt x="2615346" y="114188"/>
                </a:cubicBezTo>
                <a:cubicBezTo>
                  <a:pt x="2643863" y="114188"/>
                  <a:pt x="2672962" y="119152"/>
                  <a:pt x="2693048" y="127406"/>
                </a:cubicBezTo>
                <a:close/>
                <a:moveTo>
                  <a:pt x="2329634" y="152058"/>
                </a:moveTo>
                <a:cubicBezTo>
                  <a:pt x="2308543" y="126672"/>
                  <a:pt x="2274886" y="113592"/>
                  <a:pt x="2229388" y="113412"/>
                </a:cubicBezTo>
                <a:cubicBezTo>
                  <a:pt x="2169583" y="113412"/>
                  <a:pt x="2116089" y="135174"/>
                  <a:pt x="2074640" y="176365"/>
                </a:cubicBezTo>
                <a:cubicBezTo>
                  <a:pt x="2025158" y="225550"/>
                  <a:pt x="1995615" y="299510"/>
                  <a:pt x="1995666" y="374196"/>
                </a:cubicBezTo>
                <a:cubicBezTo>
                  <a:pt x="1995706" y="439939"/>
                  <a:pt x="2029377" y="505631"/>
                  <a:pt x="2103884" y="505631"/>
                </a:cubicBezTo>
                <a:cubicBezTo>
                  <a:pt x="2165274" y="505631"/>
                  <a:pt x="2201867" y="469953"/>
                  <a:pt x="2216888" y="424869"/>
                </a:cubicBezTo>
                <a:lnTo>
                  <a:pt x="2202971" y="497208"/>
                </a:lnTo>
                <a:lnTo>
                  <a:pt x="2310065" y="497208"/>
                </a:lnTo>
                <a:lnTo>
                  <a:pt x="2350499" y="287037"/>
                </a:lnTo>
                <a:cubicBezTo>
                  <a:pt x="2358289" y="246027"/>
                  <a:pt x="2360850" y="189628"/>
                  <a:pt x="2329634" y="152058"/>
                </a:cubicBezTo>
                <a:close/>
                <a:moveTo>
                  <a:pt x="2237095" y="310500"/>
                </a:moveTo>
                <a:cubicBezTo>
                  <a:pt x="2225009" y="372547"/>
                  <a:pt x="2189874" y="414918"/>
                  <a:pt x="2149081" y="414918"/>
                </a:cubicBezTo>
                <a:cubicBezTo>
                  <a:pt x="2123576" y="414918"/>
                  <a:pt x="2108917" y="390455"/>
                  <a:pt x="2108903" y="351174"/>
                </a:cubicBezTo>
                <a:cubicBezTo>
                  <a:pt x="2108862" y="288302"/>
                  <a:pt x="2154552" y="197893"/>
                  <a:pt x="2207291" y="197893"/>
                </a:cubicBezTo>
                <a:cubicBezTo>
                  <a:pt x="2232196" y="197893"/>
                  <a:pt x="2246086" y="212182"/>
                  <a:pt x="2247393" y="238683"/>
                </a:cubicBezTo>
                <a:cubicBezTo>
                  <a:pt x="2248144" y="255113"/>
                  <a:pt x="2241212" y="289532"/>
                  <a:pt x="2237095" y="310500"/>
                </a:cubicBezTo>
                <a:close/>
                <a:moveTo>
                  <a:pt x="606951" y="152058"/>
                </a:moveTo>
                <a:cubicBezTo>
                  <a:pt x="585861" y="126672"/>
                  <a:pt x="552204" y="113592"/>
                  <a:pt x="506706" y="113412"/>
                </a:cubicBezTo>
                <a:cubicBezTo>
                  <a:pt x="446901" y="113412"/>
                  <a:pt x="393408" y="135174"/>
                  <a:pt x="351958" y="176365"/>
                </a:cubicBezTo>
                <a:cubicBezTo>
                  <a:pt x="302476" y="225550"/>
                  <a:pt x="272933" y="299510"/>
                  <a:pt x="272985" y="374196"/>
                </a:cubicBezTo>
                <a:cubicBezTo>
                  <a:pt x="273024" y="439939"/>
                  <a:pt x="306695" y="505631"/>
                  <a:pt x="381203" y="505631"/>
                </a:cubicBezTo>
                <a:cubicBezTo>
                  <a:pt x="442592" y="505631"/>
                  <a:pt x="479185" y="469953"/>
                  <a:pt x="494206" y="424869"/>
                </a:cubicBezTo>
                <a:lnTo>
                  <a:pt x="480290" y="497208"/>
                </a:lnTo>
                <a:lnTo>
                  <a:pt x="587383" y="497208"/>
                </a:lnTo>
                <a:lnTo>
                  <a:pt x="627817" y="287037"/>
                </a:lnTo>
                <a:cubicBezTo>
                  <a:pt x="635608" y="246027"/>
                  <a:pt x="638169" y="189628"/>
                  <a:pt x="606951" y="152058"/>
                </a:cubicBezTo>
                <a:close/>
                <a:moveTo>
                  <a:pt x="514414" y="310500"/>
                </a:moveTo>
                <a:cubicBezTo>
                  <a:pt x="502328" y="372547"/>
                  <a:pt x="467193" y="414918"/>
                  <a:pt x="426399" y="414918"/>
                </a:cubicBezTo>
                <a:cubicBezTo>
                  <a:pt x="400893" y="414918"/>
                  <a:pt x="386235" y="390455"/>
                  <a:pt x="386220" y="351174"/>
                </a:cubicBezTo>
                <a:cubicBezTo>
                  <a:pt x="386180" y="288302"/>
                  <a:pt x="431870" y="197893"/>
                  <a:pt x="484610" y="197893"/>
                </a:cubicBezTo>
                <a:cubicBezTo>
                  <a:pt x="509515" y="197893"/>
                  <a:pt x="523404" y="212182"/>
                  <a:pt x="524712" y="238683"/>
                </a:cubicBezTo>
                <a:cubicBezTo>
                  <a:pt x="525462" y="255113"/>
                  <a:pt x="518530" y="289532"/>
                  <a:pt x="514414" y="310500"/>
                </a:cubicBezTo>
                <a:close/>
                <a:moveTo>
                  <a:pt x="1865864" y="113412"/>
                </a:moveTo>
                <a:cubicBezTo>
                  <a:pt x="1819094" y="113412"/>
                  <a:pt x="1777774" y="140376"/>
                  <a:pt x="1749875" y="180686"/>
                </a:cubicBezTo>
                <a:lnTo>
                  <a:pt x="1761420" y="120329"/>
                </a:lnTo>
                <a:lnTo>
                  <a:pt x="1662666" y="120329"/>
                </a:lnTo>
                <a:lnTo>
                  <a:pt x="1567483" y="617550"/>
                </a:lnTo>
                <a:lnTo>
                  <a:pt x="1679604" y="617550"/>
                </a:lnTo>
                <a:lnTo>
                  <a:pt x="1708085" y="468046"/>
                </a:lnTo>
                <a:cubicBezTo>
                  <a:pt x="1720816" y="490846"/>
                  <a:pt x="1743145" y="505632"/>
                  <a:pt x="1782974" y="505635"/>
                </a:cubicBezTo>
                <a:cubicBezTo>
                  <a:pt x="1807282" y="505361"/>
                  <a:pt x="1835253" y="498863"/>
                  <a:pt x="1864479" y="483389"/>
                </a:cubicBezTo>
                <a:cubicBezTo>
                  <a:pt x="1944040" y="441264"/>
                  <a:pt x="1988181" y="347642"/>
                  <a:pt x="1988181" y="256331"/>
                </a:cubicBezTo>
                <a:cubicBezTo>
                  <a:pt x="1988181" y="169267"/>
                  <a:pt x="1940069" y="113412"/>
                  <a:pt x="1865864" y="113412"/>
                </a:cubicBezTo>
                <a:close/>
                <a:moveTo>
                  <a:pt x="1769434" y="421096"/>
                </a:moveTo>
                <a:cubicBezTo>
                  <a:pt x="1717848" y="421096"/>
                  <a:pt x="1730940" y="347514"/>
                  <a:pt x="1735618" y="323009"/>
                </a:cubicBezTo>
                <a:cubicBezTo>
                  <a:pt x="1749285" y="251336"/>
                  <a:pt x="1784539" y="204083"/>
                  <a:pt x="1826299" y="204083"/>
                </a:cubicBezTo>
                <a:cubicBezTo>
                  <a:pt x="1867368" y="204083"/>
                  <a:pt x="1871576" y="247067"/>
                  <a:pt x="1871576" y="264766"/>
                </a:cubicBezTo>
                <a:cubicBezTo>
                  <a:pt x="1871576" y="338066"/>
                  <a:pt x="1828326" y="421096"/>
                  <a:pt x="1769434" y="421096"/>
                </a:cubicBezTo>
                <a:close/>
                <a:moveTo>
                  <a:pt x="312690" y="112292"/>
                </a:moveTo>
                <a:lnTo>
                  <a:pt x="290790" y="226685"/>
                </a:lnTo>
                <a:cubicBezTo>
                  <a:pt x="214138" y="215159"/>
                  <a:pt x="160276" y="252471"/>
                  <a:pt x="142422" y="345714"/>
                </a:cubicBezTo>
                <a:lnTo>
                  <a:pt x="112141" y="503840"/>
                </a:lnTo>
                <a:lnTo>
                  <a:pt x="0" y="503840"/>
                </a:lnTo>
                <a:lnTo>
                  <a:pt x="73440" y="120329"/>
                </a:lnTo>
                <a:lnTo>
                  <a:pt x="172185" y="120329"/>
                </a:lnTo>
                <a:lnTo>
                  <a:pt x="156202" y="203879"/>
                </a:lnTo>
                <a:cubicBezTo>
                  <a:pt x="182129" y="145253"/>
                  <a:pt x="243682" y="106042"/>
                  <a:pt x="312690" y="112292"/>
                </a:cubicBezTo>
                <a:close/>
                <a:moveTo>
                  <a:pt x="944243" y="497208"/>
                </a:moveTo>
                <a:lnTo>
                  <a:pt x="1039422" y="0"/>
                </a:lnTo>
                <a:lnTo>
                  <a:pt x="1150777" y="0"/>
                </a:lnTo>
                <a:lnTo>
                  <a:pt x="1094906" y="291909"/>
                </a:lnTo>
                <a:lnTo>
                  <a:pt x="1239347" y="120329"/>
                </a:lnTo>
                <a:lnTo>
                  <a:pt x="1361754" y="120329"/>
                </a:lnTo>
                <a:lnTo>
                  <a:pt x="1212060" y="293812"/>
                </a:lnTo>
                <a:lnTo>
                  <a:pt x="1294315" y="497208"/>
                </a:lnTo>
                <a:lnTo>
                  <a:pt x="1173734" y="497208"/>
                </a:lnTo>
                <a:lnTo>
                  <a:pt x="1094235" y="295415"/>
                </a:lnTo>
                <a:lnTo>
                  <a:pt x="1055611" y="497208"/>
                </a:lnTo>
                <a:lnTo>
                  <a:pt x="944243" y="497208"/>
                </a:lnTo>
                <a:close/>
                <a:moveTo>
                  <a:pt x="2280316" y="695157"/>
                </a:moveTo>
                <a:cubicBezTo>
                  <a:pt x="2225655" y="695157"/>
                  <a:pt x="2187788" y="741906"/>
                  <a:pt x="2187788" y="795876"/>
                </a:cubicBezTo>
                <a:cubicBezTo>
                  <a:pt x="2187788" y="833773"/>
                  <a:pt x="2212818" y="861573"/>
                  <a:pt x="2253291" y="861573"/>
                </a:cubicBezTo>
                <a:cubicBezTo>
                  <a:pt x="2307953" y="861573"/>
                  <a:pt x="2345820" y="815176"/>
                  <a:pt x="2345820" y="760854"/>
                </a:cubicBezTo>
                <a:cubicBezTo>
                  <a:pt x="2345820" y="725897"/>
                  <a:pt x="2323428" y="695157"/>
                  <a:pt x="2280316" y="695157"/>
                </a:cubicBezTo>
                <a:close/>
                <a:moveTo>
                  <a:pt x="2275683" y="724555"/>
                </a:moveTo>
                <a:cubicBezTo>
                  <a:pt x="2298751" y="724555"/>
                  <a:pt x="2306312" y="744845"/>
                  <a:pt x="2306312" y="761174"/>
                </a:cubicBezTo>
                <a:cubicBezTo>
                  <a:pt x="2306312" y="792936"/>
                  <a:pt x="2287233" y="832175"/>
                  <a:pt x="2258568" y="832175"/>
                </a:cubicBezTo>
                <a:cubicBezTo>
                  <a:pt x="2238814" y="832175"/>
                  <a:pt x="2227296" y="816774"/>
                  <a:pt x="2227296" y="794885"/>
                </a:cubicBezTo>
                <a:cubicBezTo>
                  <a:pt x="2227296" y="765136"/>
                  <a:pt x="2245087" y="724555"/>
                  <a:pt x="2275683" y="724555"/>
                </a:cubicBezTo>
                <a:close/>
                <a:moveTo>
                  <a:pt x="2541237" y="695157"/>
                </a:moveTo>
                <a:cubicBezTo>
                  <a:pt x="2486576" y="695157"/>
                  <a:pt x="2448709" y="741906"/>
                  <a:pt x="2448709" y="795876"/>
                </a:cubicBezTo>
                <a:cubicBezTo>
                  <a:pt x="2448709" y="833773"/>
                  <a:pt x="2473739" y="861573"/>
                  <a:pt x="2514212" y="861573"/>
                </a:cubicBezTo>
                <a:cubicBezTo>
                  <a:pt x="2568874" y="861573"/>
                  <a:pt x="2606741" y="815176"/>
                  <a:pt x="2606741" y="760854"/>
                </a:cubicBezTo>
                <a:cubicBezTo>
                  <a:pt x="2606741" y="725897"/>
                  <a:pt x="2584349" y="695157"/>
                  <a:pt x="2541237" y="695157"/>
                </a:cubicBezTo>
                <a:close/>
                <a:moveTo>
                  <a:pt x="2536604" y="724555"/>
                </a:moveTo>
                <a:cubicBezTo>
                  <a:pt x="2559672" y="724555"/>
                  <a:pt x="2567233" y="744845"/>
                  <a:pt x="2567233" y="761174"/>
                </a:cubicBezTo>
                <a:cubicBezTo>
                  <a:pt x="2567233" y="792936"/>
                  <a:pt x="2548154" y="832175"/>
                  <a:pt x="2519488" y="832175"/>
                </a:cubicBezTo>
                <a:cubicBezTo>
                  <a:pt x="2499734" y="832175"/>
                  <a:pt x="2488217" y="816774"/>
                  <a:pt x="2488217" y="794885"/>
                </a:cubicBezTo>
                <a:cubicBezTo>
                  <a:pt x="2488217" y="765136"/>
                  <a:pt x="2506008" y="724555"/>
                  <a:pt x="2536604" y="724555"/>
                </a:cubicBezTo>
                <a:close/>
                <a:moveTo>
                  <a:pt x="2441704" y="646623"/>
                </a:moveTo>
                <a:lnTo>
                  <a:pt x="2400932" y="857994"/>
                </a:lnTo>
                <a:lnTo>
                  <a:pt x="2362712" y="857994"/>
                </a:lnTo>
                <a:lnTo>
                  <a:pt x="2403190" y="646623"/>
                </a:lnTo>
                <a:lnTo>
                  <a:pt x="2441704" y="646623"/>
                </a:lnTo>
                <a:close/>
                <a:moveTo>
                  <a:pt x="1819430" y="701970"/>
                </a:moveTo>
                <a:lnTo>
                  <a:pt x="1813367" y="733641"/>
                </a:lnTo>
                <a:cubicBezTo>
                  <a:pt x="1806719" y="730152"/>
                  <a:pt x="1798148" y="726217"/>
                  <a:pt x="1783826" y="726217"/>
                </a:cubicBezTo>
                <a:cubicBezTo>
                  <a:pt x="1746957" y="726217"/>
                  <a:pt x="1723567" y="759896"/>
                  <a:pt x="1723567" y="793256"/>
                </a:cubicBezTo>
                <a:cubicBezTo>
                  <a:pt x="1723567" y="817093"/>
                  <a:pt x="1737401" y="830514"/>
                  <a:pt x="1758796" y="830514"/>
                </a:cubicBezTo>
                <a:cubicBezTo>
                  <a:pt x="1780522" y="830514"/>
                  <a:pt x="1796308" y="821596"/>
                  <a:pt x="1801876" y="818489"/>
                </a:cubicBezTo>
                <a:lnTo>
                  <a:pt x="1795551" y="851535"/>
                </a:lnTo>
                <a:cubicBezTo>
                  <a:pt x="1786178" y="856289"/>
                  <a:pt x="1769537" y="861253"/>
                  <a:pt x="1748275" y="861253"/>
                </a:cubicBezTo>
                <a:cubicBezTo>
                  <a:pt x="1708092" y="861253"/>
                  <a:pt x="1683415" y="835754"/>
                  <a:pt x="1683415" y="797825"/>
                </a:cubicBezTo>
                <a:cubicBezTo>
                  <a:pt x="1683415" y="742225"/>
                  <a:pt x="1725883" y="695477"/>
                  <a:pt x="1785145" y="695477"/>
                </a:cubicBezTo>
                <a:cubicBezTo>
                  <a:pt x="1800432" y="695477"/>
                  <a:pt x="1813804" y="699277"/>
                  <a:pt x="1819430" y="701970"/>
                </a:cubicBezTo>
                <a:close/>
                <a:moveTo>
                  <a:pt x="1599026" y="831504"/>
                </a:moveTo>
                <a:cubicBezTo>
                  <a:pt x="1625535" y="831504"/>
                  <a:pt x="1644256" y="821717"/>
                  <a:pt x="1657309" y="812360"/>
                </a:cubicBezTo>
                <a:lnTo>
                  <a:pt x="1650747" y="846645"/>
                </a:lnTo>
                <a:cubicBezTo>
                  <a:pt x="1634704" y="856213"/>
                  <a:pt x="1611229" y="861573"/>
                  <a:pt x="1590147" y="861573"/>
                </a:cubicBezTo>
                <a:cubicBezTo>
                  <a:pt x="1545684" y="861573"/>
                  <a:pt x="1524289" y="834444"/>
                  <a:pt x="1524289" y="795524"/>
                </a:cubicBezTo>
                <a:cubicBezTo>
                  <a:pt x="1524289" y="747466"/>
                  <a:pt x="1559840" y="695157"/>
                  <a:pt x="1615145" y="695157"/>
                </a:cubicBezTo>
                <a:cubicBezTo>
                  <a:pt x="1646771" y="695157"/>
                  <a:pt x="1666846" y="713115"/>
                  <a:pt x="1666846" y="739957"/>
                </a:cubicBezTo>
                <a:cubicBezTo>
                  <a:pt x="1666846" y="780794"/>
                  <a:pt x="1623735" y="793895"/>
                  <a:pt x="1561835" y="792585"/>
                </a:cubicBezTo>
                <a:cubicBezTo>
                  <a:pt x="1561159" y="798145"/>
                  <a:pt x="1562478" y="808945"/>
                  <a:pt x="1566114" y="815176"/>
                </a:cubicBezTo>
                <a:cubicBezTo>
                  <a:pt x="1572355" y="825944"/>
                  <a:pt x="1583873" y="831504"/>
                  <a:pt x="1599026" y="831504"/>
                </a:cubicBezTo>
                <a:close/>
                <a:moveTo>
                  <a:pt x="1565760" y="764114"/>
                </a:moveTo>
                <a:cubicBezTo>
                  <a:pt x="1605268" y="764465"/>
                  <a:pt x="1630620" y="759225"/>
                  <a:pt x="1630620" y="739956"/>
                </a:cubicBezTo>
                <a:cubicBezTo>
                  <a:pt x="1630620" y="729796"/>
                  <a:pt x="1622416" y="723596"/>
                  <a:pt x="1610222" y="723596"/>
                </a:cubicBezTo>
                <a:cubicBezTo>
                  <a:pt x="1586189" y="723596"/>
                  <a:pt x="1570393" y="744846"/>
                  <a:pt x="1565760" y="764114"/>
                </a:cubicBezTo>
                <a:close/>
                <a:moveTo>
                  <a:pt x="2158533" y="765136"/>
                </a:moveTo>
                <a:lnTo>
                  <a:pt x="2140621" y="857994"/>
                </a:lnTo>
                <a:lnTo>
                  <a:pt x="2102401" y="857994"/>
                </a:lnTo>
                <a:lnTo>
                  <a:pt x="2119621" y="768076"/>
                </a:lnTo>
                <a:cubicBezTo>
                  <a:pt x="2120746" y="762183"/>
                  <a:pt x="2121512" y="755294"/>
                  <a:pt x="2121512" y="749095"/>
                </a:cubicBezTo>
                <a:cubicBezTo>
                  <a:pt x="2121512" y="735675"/>
                  <a:pt x="2116557" y="726216"/>
                  <a:pt x="2101404" y="726216"/>
                </a:cubicBezTo>
                <a:cubicBezTo>
                  <a:pt x="2083966" y="726216"/>
                  <a:pt x="2061959" y="747114"/>
                  <a:pt x="2055042" y="784436"/>
                </a:cubicBezTo>
                <a:lnTo>
                  <a:pt x="2040853" y="857994"/>
                </a:lnTo>
                <a:lnTo>
                  <a:pt x="2002633" y="857994"/>
                </a:lnTo>
                <a:lnTo>
                  <a:pt x="2033316" y="697777"/>
                </a:lnTo>
                <a:lnTo>
                  <a:pt x="2067888" y="697777"/>
                </a:lnTo>
                <a:lnTo>
                  <a:pt x="2061951" y="728554"/>
                </a:lnTo>
                <a:cubicBezTo>
                  <a:pt x="2076820" y="706392"/>
                  <a:pt x="2097643" y="695157"/>
                  <a:pt x="2120514" y="695157"/>
                </a:cubicBezTo>
                <a:cubicBezTo>
                  <a:pt x="2143550" y="695157"/>
                  <a:pt x="2161341" y="708865"/>
                  <a:pt x="2161341" y="738934"/>
                </a:cubicBezTo>
                <a:cubicBezTo>
                  <a:pt x="2161341" y="746156"/>
                  <a:pt x="2160173" y="757276"/>
                  <a:pt x="2158533" y="765136"/>
                </a:cubicBezTo>
                <a:close/>
                <a:moveTo>
                  <a:pt x="1980144" y="738934"/>
                </a:moveTo>
                <a:cubicBezTo>
                  <a:pt x="1980144" y="746156"/>
                  <a:pt x="1978976" y="757276"/>
                  <a:pt x="1977335" y="765136"/>
                </a:cubicBezTo>
                <a:lnTo>
                  <a:pt x="1959424" y="857994"/>
                </a:lnTo>
                <a:lnTo>
                  <a:pt x="1921204" y="857994"/>
                </a:lnTo>
                <a:lnTo>
                  <a:pt x="1938424" y="768076"/>
                </a:lnTo>
                <a:cubicBezTo>
                  <a:pt x="1939549" y="762183"/>
                  <a:pt x="1940315" y="755294"/>
                  <a:pt x="1940315" y="749095"/>
                </a:cubicBezTo>
                <a:cubicBezTo>
                  <a:pt x="1940315" y="735675"/>
                  <a:pt x="1935360" y="726216"/>
                  <a:pt x="1920206" y="726216"/>
                </a:cubicBezTo>
                <a:cubicBezTo>
                  <a:pt x="1902769" y="726216"/>
                  <a:pt x="1880762" y="747114"/>
                  <a:pt x="1873845" y="784436"/>
                </a:cubicBezTo>
                <a:lnTo>
                  <a:pt x="1873845" y="784436"/>
                </a:lnTo>
                <a:lnTo>
                  <a:pt x="1859656" y="857994"/>
                </a:lnTo>
                <a:lnTo>
                  <a:pt x="1821436" y="857994"/>
                </a:lnTo>
                <a:lnTo>
                  <a:pt x="1861915" y="646623"/>
                </a:lnTo>
                <a:lnTo>
                  <a:pt x="1900428" y="646623"/>
                </a:lnTo>
                <a:lnTo>
                  <a:pt x="1885984" y="721502"/>
                </a:lnTo>
                <a:cubicBezTo>
                  <a:pt x="1900326" y="704012"/>
                  <a:pt x="1919014" y="695157"/>
                  <a:pt x="1939317" y="695157"/>
                </a:cubicBezTo>
                <a:cubicBezTo>
                  <a:pt x="1962353" y="695157"/>
                  <a:pt x="1980144" y="708865"/>
                  <a:pt x="1980144" y="738934"/>
                </a:cubicBezTo>
                <a:close/>
                <a:moveTo>
                  <a:pt x="1486679" y="698736"/>
                </a:moveTo>
                <a:lnTo>
                  <a:pt x="1522584" y="698736"/>
                </a:lnTo>
                <a:lnTo>
                  <a:pt x="1516664" y="728165"/>
                </a:lnTo>
                <a:lnTo>
                  <a:pt x="1480760" y="728165"/>
                </a:lnTo>
                <a:lnTo>
                  <a:pt x="1468243" y="792264"/>
                </a:lnTo>
                <a:cubicBezTo>
                  <a:pt x="1466603" y="799775"/>
                  <a:pt x="1465285" y="807955"/>
                  <a:pt x="1465285" y="814824"/>
                </a:cubicBezTo>
                <a:cubicBezTo>
                  <a:pt x="1465285" y="823675"/>
                  <a:pt x="1469241" y="829236"/>
                  <a:pt x="1479440" y="829236"/>
                </a:cubicBezTo>
                <a:cubicBezTo>
                  <a:pt x="1484941" y="829236"/>
                  <a:pt x="1490390" y="828740"/>
                  <a:pt x="1494778" y="827801"/>
                </a:cubicBezTo>
                <a:lnTo>
                  <a:pt x="1488997" y="857990"/>
                </a:lnTo>
                <a:lnTo>
                  <a:pt x="1488996" y="857994"/>
                </a:lnTo>
                <a:cubicBezTo>
                  <a:pt x="1483398" y="860295"/>
                  <a:pt x="1473198" y="861254"/>
                  <a:pt x="1463965" y="861254"/>
                </a:cubicBezTo>
                <a:cubicBezTo>
                  <a:pt x="1437648" y="861254"/>
                  <a:pt x="1426097" y="846874"/>
                  <a:pt x="1426097" y="828564"/>
                </a:cubicBezTo>
                <a:cubicBezTo>
                  <a:pt x="1426097" y="819713"/>
                  <a:pt x="1427096" y="810894"/>
                  <a:pt x="1429411" y="799135"/>
                </a:cubicBezTo>
                <a:lnTo>
                  <a:pt x="1443247" y="728165"/>
                </a:lnTo>
                <a:lnTo>
                  <a:pt x="1421818" y="728165"/>
                </a:lnTo>
                <a:lnTo>
                  <a:pt x="1427416" y="698736"/>
                </a:lnTo>
                <a:lnTo>
                  <a:pt x="1448813" y="698736"/>
                </a:lnTo>
                <a:lnTo>
                  <a:pt x="1457003" y="657748"/>
                </a:lnTo>
                <a:lnTo>
                  <a:pt x="1494288" y="657748"/>
                </a:lnTo>
                <a:lnTo>
                  <a:pt x="1486679" y="698736"/>
                </a:lnTo>
                <a:close/>
                <a:moveTo>
                  <a:pt x="2788298" y="886433"/>
                </a:moveTo>
                <a:cubicBezTo>
                  <a:pt x="2797421" y="891459"/>
                  <a:pt x="2817033" y="897683"/>
                  <a:pt x="2828271" y="878611"/>
                </a:cubicBezTo>
                <a:lnTo>
                  <a:pt x="2840780" y="853718"/>
                </a:lnTo>
                <a:lnTo>
                  <a:pt x="2812203" y="697777"/>
                </a:lnTo>
                <a:lnTo>
                  <a:pt x="2852387" y="697777"/>
                </a:lnTo>
                <a:lnTo>
                  <a:pt x="2867179" y="816325"/>
                </a:lnTo>
                <a:lnTo>
                  <a:pt x="2928097" y="697777"/>
                </a:lnTo>
                <a:lnTo>
                  <a:pt x="2968924" y="697777"/>
                </a:lnTo>
                <a:lnTo>
                  <a:pt x="2861660" y="887677"/>
                </a:lnTo>
                <a:lnTo>
                  <a:pt x="2861660" y="887739"/>
                </a:lnTo>
                <a:cubicBezTo>
                  <a:pt x="2840670" y="925032"/>
                  <a:pt x="2811722" y="931006"/>
                  <a:pt x="2782349" y="917510"/>
                </a:cubicBezTo>
                <a:lnTo>
                  <a:pt x="2788298" y="886433"/>
                </a:lnTo>
                <a:close/>
                <a:moveTo>
                  <a:pt x="2783865" y="738023"/>
                </a:moveTo>
                <a:cubicBezTo>
                  <a:pt x="2783865" y="746856"/>
                  <a:pt x="2782548" y="756668"/>
                  <a:pt x="2780573" y="765507"/>
                </a:cubicBezTo>
                <a:lnTo>
                  <a:pt x="2766056" y="837735"/>
                </a:lnTo>
                <a:cubicBezTo>
                  <a:pt x="2760075" y="868795"/>
                  <a:pt x="2751071" y="893655"/>
                  <a:pt x="2732771" y="908673"/>
                </a:cubicBezTo>
                <a:cubicBezTo>
                  <a:pt x="2715803" y="922413"/>
                  <a:pt x="2693178" y="926343"/>
                  <a:pt x="2672895" y="926343"/>
                </a:cubicBezTo>
                <a:cubicBezTo>
                  <a:pt x="2654111" y="926343"/>
                  <a:pt x="2636689" y="922930"/>
                  <a:pt x="2625597" y="917510"/>
                </a:cubicBezTo>
                <a:lnTo>
                  <a:pt x="2631546" y="886433"/>
                </a:lnTo>
                <a:cubicBezTo>
                  <a:pt x="2640780" y="891993"/>
                  <a:pt x="2658539" y="895923"/>
                  <a:pt x="2673692" y="895923"/>
                </a:cubicBezTo>
                <a:cubicBezTo>
                  <a:pt x="2698723" y="895923"/>
                  <a:pt x="2717833" y="884164"/>
                  <a:pt x="2725716" y="847194"/>
                </a:cubicBezTo>
                <a:lnTo>
                  <a:pt x="2728786" y="833259"/>
                </a:lnTo>
                <a:cubicBezTo>
                  <a:pt x="2715922" y="851397"/>
                  <a:pt x="2696745" y="861694"/>
                  <a:pt x="2675487" y="861694"/>
                </a:cubicBezTo>
                <a:cubicBezTo>
                  <a:pt x="2641227" y="861694"/>
                  <a:pt x="2627062" y="833883"/>
                  <a:pt x="2627062" y="805419"/>
                </a:cubicBezTo>
                <a:cubicBezTo>
                  <a:pt x="2627062" y="755034"/>
                  <a:pt x="2661981" y="695157"/>
                  <a:pt x="2730167" y="695157"/>
                </a:cubicBezTo>
                <a:cubicBezTo>
                  <a:pt x="2763769" y="695157"/>
                  <a:pt x="2783865" y="709232"/>
                  <a:pt x="2783865" y="738023"/>
                </a:cubicBezTo>
                <a:close/>
                <a:moveTo>
                  <a:pt x="2744332" y="744568"/>
                </a:moveTo>
                <a:cubicBezTo>
                  <a:pt x="2744002" y="731479"/>
                  <a:pt x="2736426" y="724282"/>
                  <a:pt x="2722919" y="724282"/>
                </a:cubicBezTo>
                <a:cubicBezTo>
                  <a:pt x="2689323" y="724282"/>
                  <a:pt x="2667246" y="767142"/>
                  <a:pt x="2667246" y="798548"/>
                </a:cubicBezTo>
                <a:cubicBezTo>
                  <a:pt x="2667246" y="815892"/>
                  <a:pt x="2674829" y="830614"/>
                  <a:pt x="2692615" y="830614"/>
                </a:cubicBezTo>
                <a:cubicBezTo>
                  <a:pt x="2712381" y="830614"/>
                  <a:pt x="2732806" y="810328"/>
                  <a:pt x="2739395" y="778262"/>
                </a:cubicBezTo>
                <a:lnTo>
                  <a:pt x="2742357" y="763539"/>
                </a:lnTo>
                <a:cubicBezTo>
                  <a:pt x="2743358" y="757739"/>
                  <a:pt x="2744661" y="752092"/>
                  <a:pt x="2744331" y="744568"/>
                </a:cubicBezTo>
                <a:close/>
              </a:path>
            </a:pathLst>
          </a:custGeom>
          <a:solidFill>
            <a:schemeClr val="bg1"/>
          </a:solidFill>
          <a:ln w="9525" cap="flat">
            <a:noFill/>
            <a:prstDash val="solid"/>
            <a:miter/>
          </a:ln>
        </p:spPr>
        <p:txBody>
          <a:bodyPr rtlCol="0" anchor="ctr"/>
          <a:lstStyle/>
          <a:p>
            <a:endParaRPr lang="en-US" sz="3600"/>
          </a:p>
        </p:txBody>
      </p:sp>
    </p:spTree>
    <p:extLst>
      <p:ext uri="{BB962C8B-B14F-4D97-AF65-F5344CB8AC3E}">
        <p14:creationId xmlns:p14="http://schemas.microsoft.com/office/powerpoint/2010/main" val="3687805343"/>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preserve="1" userDrawn="1">
  <p:cSld name="3_Logo">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FBFEA71-1AC6-4DFC-15E0-24BA7D731D78}"/>
              </a:ext>
            </a:extLst>
          </p:cNvPr>
          <p:cNvPicPr>
            <a:picLocks noChangeAspect="1"/>
          </p:cNvPicPr>
          <p:nvPr userDrawn="1"/>
        </p:nvPicPr>
        <p:blipFill>
          <a:blip r:embed="rId2"/>
          <a:stretch>
            <a:fillRect/>
          </a:stretch>
        </p:blipFill>
        <p:spPr>
          <a:xfrm>
            <a:off x="1676400" y="0"/>
            <a:ext cx="21031200" cy="13716000"/>
          </a:xfrm>
          <a:prstGeom prst="rect">
            <a:avLst/>
          </a:prstGeom>
        </p:spPr>
      </p:pic>
      <p:pic>
        <p:nvPicPr>
          <p:cNvPr id="3" name="Graphic 2">
            <a:extLst>
              <a:ext uri="{FF2B5EF4-FFF2-40B4-BE49-F238E27FC236}">
                <a16:creationId xmlns:a16="http://schemas.microsoft.com/office/drawing/2014/main" id="{510642B9-F25A-374A-99F2-0224B52C46A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8335214" y="5983498"/>
            <a:ext cx="8023116" cy="2487168"/>
          </a:xfrm>
          <a:prstGeom prst="rect">
            <a:avLst/>
          </a:prstGeom>
        </p:spPr>
      </p:pic>
      <p:sp>
        <p:nvSpPr>
          <p:cNvPr id="6" name="Graphic 2">
            <a:extLst>
              <a:ext uri="{FF2B5EF4-FFF2-40B4-BE49-F238E27FC236}">
                <a16:creationId xmlns:a16="http://schemas.microsoft.com/office/drawing/2014/main" id="{0D8656DC-2D22-C2DA-13A1-B73DAEC9EBA5}"/>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52726565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_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2"/>
            <a:ext cx="22936200" cy="3020392"/>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81"/>
            <a:ext cx="22991108" cy="838270"/>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55872925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preserve="1" userDrawn="1">
  <p:cSld name="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2"/>
            <a:ext cx="22936200" cy="3020392"/>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81"/>
            <a:ext cx="22991108" cy="838270"/>
          </a:xfrm>
        </p:spPr>
        <p:txBody>
          <a:bodyPr>
            <a:spAutoFit/>
          </a:bodyPr>
          <a:lstStyle>
            <a:lvl1pPr>
              <a:defRPr>
                <a:solidFill>
                  <a:schemeClr val="tx1"/>
                </a:solidFill>
              </a:defRPr>
            </a:lvl1p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pic>
        <p:nvPicPr>
          <p:cNvPr id="3" name="Graphic 2">
            <a:extLst>
              <a:ext uri="{FF2B5EF4-FFF2-40B4-BE49-F238E27FC236}">
                <a16:creationId xmlns:a16="http://schemas.microsoft.com/office/drawing/2014/main" id="{00D83E88-A286-BF1F-719B-20F1C44734C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cxnSp>
        <p:nvCxnSpPr>
          <p:cNvPr id="2" name="Straight Connector 1">
            <a:extLst>
              <a:ext uri="{FF2B5EF4-FFF2-40B4-BE49-F238E27FC236}">
                <a16:creationId xmlns:a16="http://schemas.microsoft.com/office/drawing/2014/main" id="{9720D620-A98D-8E56-CDB8-0DC6E5725E42}"/>
              </a:ext>
            </a:extLst>
          </p:cNvPr>
          <p:cNvCxnSpPr>
            <a:cxnSpLocks/>
          </p:cNvCxnSpPr>
          <p:nvPr userDrawn="1"/>
        </p:nvCxnSpPr>
        <p:spPr>
          <a:xfrm flipV="1">
            <a:off x="0" y="2151390"/>
            <a:ext cx="24384000" cy="147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844963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Single column Simple - with subhea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3739564"/>
            <a:ext cx="22936200" cy="3020392"/>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81"/>
            <a:ext cx="22991108" cy="838270"/>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674407F1-A2F8-A84F-8E52-03F123F4BEF5}"/>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C88CD766-7446-9844-8381-BB1A5421A8CE}"/>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
        <p:nvSpPr>
          <p:cNvPr id="3" name="Text Placeholder 2">
            <a:extLst>
              <a:ext uri="{FF2B5EF4-FFF2-40B4-BE49-F238E27FC236}">
                <a16:creationId xmlns:a16="http://schemas.microsoft.com/office/drawing/2014/main" id="{3D5AAC42-935B-0E18-6CAC-AB1A022B59F1}"/>
              </a:ext>
            </a:extLst>
          </p:cNvPr>
          <p:cNvSpPr>
            <a:spLocks noGrp="1"/>
          </p:cNvSpPr>
          <p:nvPr>
            <p:ph type="body" sz="quarter" idx="13" hasCustomPrompt="1"/>
          </p:nvPr>
        </p:nvSpPr>
        <p:spPr>
          <a:xfrm>
            <a:off x="341756" y="2781298"/>
            <a:ext cx="22936200" cy="506360"/>
          </a:xfrm>
        </p:spPr>
        <p:txBody>
          <a:bodyPr/>
          <a:lstStyle>
            <a:lvl1pPr marL="0" indent="0">
              <a:buNone/>
              <a:defRPr sz="3290" b="1"/>
            </a:lvl1pPr>
            <a:lvl2pPr marL="490736" indent="0">
              <a:buNone/>
              <a:defRPr/>
            </a:lvl2pPr>
          </a:lstStyle>
          <a:p>
            <a:r>
              <a:rPr lang="en-US"/>
              <a:t>Subtitle or callout if needed, all titles and subtitles are sentence case </a:t>
            </a:r>
          </a:p>
        </p:txBody>
      </p:sp>
    </p:spTree>
    <p:extLst>
      <p:ext uri="{BB962C8B-B14F-4D97-AF65-F5344CB8AC3E}">
        <p14:creationId xmlns:p14="http://schemas.microsoft.com/office/powerpoint/2010/main" val="2050541348"/>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5" y="-4803"/>
            <a:ext cx="25334686" cy="2199366"/>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118"/>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81"/>
            <a:ext cx="22991108" cy="838270"/>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744827320"/>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preserve="1" userDrawn="1">
  <p:cSld name="Title Only_2 lin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F274A9-9392-1E6D-7D16-896285565278}"/>
              </a:ext>
            </a:extLst>
          </p:cNvPr>
          <p:cNvSpPr/>
          <p:nvPr userDrawn="1"/>
        </p:nvSpPr>
        <p:spPr>
          <a:xfrm>
            <a:off x="0" y="2"/>
            <a:ext cx="24384000" cy="308008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118"/>
          </a:p>
        </p:txBody>
      </p:sp>
      <p:pic>
        <p:nvPicPr>
          <p:cNvPr id="4" name="Picture 3">
            <a:extLst>
              <a:ext uri="{FF2B5EF4-FFF2-40B4-BE49-F238E27FC236}">
                <a16:creationId xmlns:a16="http://schemas.microsoft.com/office/drawing/2014/main" id="{4F67146D-3C58-F6B2-201A-B16919DBC4A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8203117" y="-16457"/>
            <a:ext cx="17160602" cy="3096542"/>
          </a:xfrm>
          <a:prstGeom prst="rect">
            <a:avLst/>
          </a:prstGeom>
        </p:spPr>
      </p:pic>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81"/>
            <a:ext cx="22991108" cy="838270"/>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64163065"/>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0885347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6"/>
            <a:ext cx="17160240" cy="3020392"/>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501"/>
            <a:ext cx="5216526" cy="1518878"/>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9" y="537181"/>
            <a:ext cx="10728346" cy="838270"/>
          </a:xfrm>
        </p:spPr>
        <p:txBody>
          <a:bodyPr wrap="square">
            <a:spAutoFit/>
          </a:bodyPr>
          <a:lstStyle/>
          <a:p>
            <a:r>
              <a:rPr lang="en-US"/>
              <a:t>Click to edit Master title style</a:t>
            </a:r>
          </a:p>
        </p:txBody>
      </p:sp>
      <p:sp>
        <p:nvSpPr>
          <p:cNvPr id="8" name="Footer Placeholder 4">
            <a:extLst>
              <a:ext uri="{FF2B5EF4-FFF2-40B4-BE49-F238E27FC236}">
                <a16:creationId xmlns:a16="http://schemas.microsoft.com/office/drawing/2014/main" id="{7D4F1EC5-6BB8-4049-A825-325656113ED2}"/>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E7854F2A-2BBB-9446-B185-6215C140A167}"/>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924900128"/>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08EE2D0-C5F7-40AF-BD24-47EFB4DD9E34}"/>
              </a:ext>
            </a:extLst>
          </p:cNvPr>
          <p:cNvSpPr>
            <a:spLocks noGrp="1"/>
          </p:cNvSpPr>
          <p:nvPr>
            <p:ph idx="1"/>
          </p:nvPr>
        </p:nvSpPr>
        <p:spPr>
          <a:xfrm>
            <a:off x="16059154" y="2777166"/>
            <a:ext cx="7600948" cy="3020392"/>
          </a:xfrm>
          <a:prstGeom prst="rect">
            <a:avLst/>
          </a:prstGeom>
        </p:spPr>
        <p:txBody>
          <a:bodyPr vert="horz"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6"/>
            <a:ext cx="7315200" cy="3020392"/>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0" y="2777167"/>
            <a:ext cx="5468112" cy="1518877"/>
          </a:xfrm>
        </p:spPr>
        <p:txBody>
          <a:bodyPr vert="horz" lIns="0" tIns="0" rIns="0" bIns="0" rtlCol="0">
            <a:spAutoFit/>
          </a:bodyPr>
          <a:lstStyle>
            <a:lvl1pPr>
              <a:defRPr lang="en-US" sz="3290" dirty="0">
                <a:ln w="3175">
                  <a:noFill/>
                </a:ln>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spAutoFit/>
          </a:bodyPr>
          <a:lstStyle>
            <a:lvl1pPr>
              <a:defRPr/>
            </a:lvl1pPr>
          </a:lstStyle>
          <a:p>
            <a:r>
              <a:rPr lang="en-US"/>
              <a:t>Click to edit Master title style</a:t>
            </a:r>
          </a:p>
        </p:txBody>
      </p:sp>
      <p:sp>
        <p:nvSpPr>
          <p:cNvPr id="11" name="Footer Placeholder 4">
            <a:extLst>
              <a:ext uri="{FF2B5EF4-FFF2-40B4-BE49-F238E27FC236}">
                <a16:creationId xmlns:a16="http://schemas.microsoft.com/office/drawing/2014/main" id="{BD398495-5CA8-A54C-9A38-9431C227BC1E}"/>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2" name="Slide Number Placeholder 5">
            <a:extLst>
              <a:ext uri="{FF2B5EF4-FFF2-40B4-BE49-F238E27FC236}">
                <a16:creationId xmlns:a16="http://schemas.microsoft.com/office/drawing/2014/main" id="{A111FE5C-B17D-C948-BFCC-6ED5E14CB169}"/>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cxnSp>
        <p:nvCxnSpPr>
          <p:cNvPr id="10" name="Straight Connector 9">
            <a:extLst>
              <a:ext uri="{FF2B5EF4-FFF2-40B4-BE49-F238E27FC236}">
                <a16:creationId xmlns:a16="http://schemas.microsoft.com/office/drawing/2014/main" id="{A44C8227-D505-9341-8E5C-224832E8A51F}"/>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653171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454140" y="7086757"/>
            <a:ext cx="17183100" cy="479710"/>
          </a:xfrm>
        </p:spPr>
        <p:txBody>
          <a:bodyPr>
            <a:spAutoFit/>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a:xfrm>
            <a:off x="668997" y="537181"/>
            <a:ext cx="5466338" cy="838270"/>
          </a:xfrm>
        </p:spPr>
        <p:txBody>
          <a:bodyPr>
            <a:spAutoFit/>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2" y="2777167"/>
            <a:ext cx="5468112" cy="1518878"/>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2777164"/>
            <a:ext cx="17160240" cy="3014608"/>
          </a:xfrm>
        </p:spPr>
        <p:txBody>
          <a:bodyPr lIns="18288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8" name="Footer Placeholder 4">
            <a:extLst>
              <a:ext uri="{FF2B5EF4-FFF2-40B4-BE49-F238E27FC236}">
                <a16:creationId xmlns:a16="http://schemas.microsoft.com/office/drawing/2014/main" id="{6814554E-586D-8349-951F-737144ECEFFB}"/>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AED0D651-E967-D846-AE30-12C061B6AD3E}"/>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cxnSp>
        <p:nvCxnSpPr>
          <p:cNvPr id="11" name="Straight Connector 10">
            <a:extLst>
              <a:ext uri="{FF2B5EF4-FFF2-40B4-BE49-F238E27FC236}">
                <a16:creationId xmlns:a16="http://schemas.microsoft.com/office/drawing/2014/main" id="{675D0394-D778-4C4A-B92A-6E09A7B88B9A}"/>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1213940"/>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4"/>
            <a:ext cx="17160240" cy="3014608"/>
          </a:xfrm>
        </p:spPr>
        <p:txBody>
          <a:bodyPr lIns="18288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a:xfrm>
            <a:off x="668997" y="537181"/>
            <a:ext cx="5466338" cy="838270"/>
          </a:xfrm>
        </p:spPr>
        <p:txBody>
          <a:bodyPr>
            <a:spAutoFit/>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2" y="2777167"/>
            <a:ext cx="5468112" cy="1518878"/>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8" name="Footer Placeholder 4">
            <a:extLst>
              <a:ext uri="{FF2B5EF4-FFF2-40B4-BE49-F238E27FC236}">
                <a16:creationId xmlns:a16="http://schemas.microsoft.com/office/drawing/2014/main" id="{D53B314B-9934-844F-8E14-6C502D2AE424}"/>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9" name="Slide Number Placeholder 5">
            <a:extLst>
              <a:ext uri="{FF2B5EF4-FFF2-40B4-BE49-F238E27FC236}">
                <a16:creationId xmlns:a16="http://schemas.microsoft.com/office/drawing/2014/main" id="{3CFD438D-CA4D-3A43-9B82-E14EC033B7C4}"/>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739400297"/>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83" y="6724560"/>
            <a:ext cx="7183198" cy="1012584"/>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9" y="537177"/>
            <a:ext cx="7217706" cy="1747054"/>
          </a:xfrm>
        </p:spPr>
        <p:txBody>
          <a:bodyPr>
            <a:spAutoFit/>
          </a:bodyPr>
          <a:lstStyle>
            <a:lvl1pPr>
              <a:defRPr>
                <a:solidFill>
                  <a:schemeClr val="tx1"/>
                </a:solidFill>
              </a:defRPr>
            </a:lvl1pPr>
          </a:lstStyle>
          <a:p>
            <a:r>
              <a:rPr lang="en-US"/>
              <a:t>Click to edit Master title style</a:t>
            </a:r>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userDrawn="1"/>
        </p:nvCxnSpPr>
        <p:spPr>
          <a:xfrm>
            <a:off x="8382000" y="0"/>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 Placeholder 2">
            <a:extLst>
              <a:ext uri="{FF2B5EF4-FFF2-40B4-BE49-F238E27FC236}">
                <a16:creationId xmlns:a16="http://schemas.microsoft.com/office/drawing/2014/main" id="{9F9C88D5-EA56-4ED2-8CB6-44F2BBA4023F}"/>
              </a:ext>
            </a:extLst>
          </p:cNvPr>
          <p:cNvSpPr>
            <a:spLocks noGrp="1"/>
          </p:cNvSpPr>
          <p:nvPr>
            <p:ph idx="1"/>
          </p:nvPr>
        </p:nvSpPr>
        <p:spPr>
          <a:xfrm>
            <a:off x="8382000" y="624974"/>
            <a:ext cx="15255604" cy="3020392"/>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BD6CB0B8-ED09-5144-8406-07EDCA221F9D}"/>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2AD6F17-DC4F-CE4D-A30F-37972705D1EB}"/>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5F1A3402-461B-144B-A624-EADA6F4A5FE3}"/>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83748532"/>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1747018"/>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501"/>
            <a:ext cx="5216526" cy="1518878"/>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1201D0FE-A135-6A46-ABB9-BBF42B08B05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A428A25E-B962-BD41-AC5A-2B7F8C365999}"/>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0" name="Slide Number Placeholder 5">
            <a:extLst>
              <a:ext uri="{FF2B5EF4-FFF2-40B4-BE49-F238E27FC236}">
                <a16:creationId xmlns:a16="http://schemas.microsoft.com/office/drawing/2014/main" id="{5A8BC5D7-A295-2344-8AAD-7A638D124615}"/>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113237502"/>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1747018"/>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501"/>
            <a:ext cx="5216526" cy="1518878"/>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2">
            <a:extLst>
              <a:ext uri="{FF2B5EF4-FFF2-40B4-BE49-F238E27FC236}">
                <a16:creationId xmlns:a16="http://schemas.microsoft.com/office/drawing/2014/main" id="{FD053F94-CE8F-4987-AA33-DA71ADDB4BC1}"/>
              </a:ext>
            </a:extLst>
          </p:cNvPr>
          <p:cNvSpPr>
            <a:spLocks noGrp="1"/>
          </p:cNvSpPr>
          <p:nvPr>
            <p:ph idx="1"/>
          </p:nvPr>
        </p:nvSpPr>
        <p:spPr>
          <a:xfrm>
            <a:off x="17945102" y="624971"/>
            <a:ext cx="5715000" cy="3014608"/>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2D21F748-F78B-AA44-87E0-992F504FBC08}"/>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69668EDE-1295-9546-ABA0-27E4B7F5041D}"/>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361D0353-9518-CE4F-AEC9-0A3AD47D4590}"/>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631607361"/>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81"/>
            <a:ext cx="11142008" cy="838270"/>
          </a:xfrm>
        </p:spPr>
        <p:txBody>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7" y="1752606"/>
            <a:ext cx="11115598" cy="3020392"/>
          </a:xfrm>
        </p:spPr>
        <p:txBody>
          <a:bodyPr lIns="0">
            <a:spAutoFit/>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Graphic 8">
            <a:extLst>
              <a:ext uri="{FF2B5EF4-FFF2-40B4-BE49-F238E27FC236}">
                <a16:creationId xmlns:a16="http://schemas.microsoft.com/office/drawing/2014/main" id="{59F508EA-9B74-CF42-99A9-ABCDB2E9903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35545590-189E-BE41-BDD7-DCC3999A6EDF}"/>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1D0045EB-86A1-6D46-873D-E4EC1E9D3594}"/>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234252797"/>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81"/>
            <a:ext cx="11142008" cy="838270"/>
          </a:xfrm>
        </p:spPr>
        <p:txBody>
          <a:bodyPr>
            <a:spAutoFit/>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7" y="3169808"/>
            <a:ext cx="11115598" cy="3020392"/>
          </a:xfr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6"/>
            <a:ext cx="11122026" cy="1012720"/>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9C7DEFAB-97E6-284D-BD67-FB08386B5E6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2DA1221E-A67C-744E-9C4B-331BEF727F33}"/>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46CF78B-534F-E345-BE6A-BED63A26C73D}"/>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09999478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118">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7" y="4800602"/>
            <a:ext cx="5714998" cy="4114800"/>
          </a:xfrm>
          <a:prstGeom prst="rect">
            <a:avLst/>
          </a:prstGeom>
          <a:solidFill>
            <a:schemeClr val="bg1"/>
          </a:solidFill>
        </p:spPr>
        <p:txBody>
          <a:bodyPr vert="horz" lIns="182880" tIns="137160" rIns="18288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1"/>
                </a:solidFill>
              </a:defRPr>
            </a:lvl1pPr>
          </a:lstStyle>
          <a:p>
            <a:pPr marL="0" lvl="0" indent="0">
              <a:spcAft>
                <a:spcPts val="2598"/>
              </a:spcAft>
              <a:buFont typeface="Arial" panose="020B0604020202020204" pitchFamily="34" charset="0"/>
            </a:pPr>
            <a:r>
              <a:rPr lang="en-US"/>
              <a:t>Click to edit Master title style</a:t>
            </a:r>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userDrawn="1"/>
        </p:nvSpPr>
        <p:spPr bwMode="auto">
          <a:xfrm>
            <a:off x="657231" y="12595229"/>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58356" tIns="79178" rIns="158356" bIns="79178" numCol="1" anchor="t" anchorCtr="0" compatLnSpc="1">
            <a:prstTxWarp prst="textNoShape">
              <a:avLst/>
            </a:prstTxWarp>
          </a:bodyPr>
          <a:lstStyle/>
          <a:p>
            <a:endParaRPr lang="en-US" sz="1558"/>
          </a:p>
        </p:txBody>
      </p:sp>
      <p:pic>
        <p:nvPicPr>
          <p:cNvPr id="10" name="Graphic 9">
            <a:extLst>
              <a:ext uri="{FF2B5EF4-FFF2-40B4-BE49-F238E27FC236}">
                <a16:creationId xmlns:a16="http://schemas.microsoft.com/office/drawing/2014/main" id="{D97CAA73-BE46-614E-9C41-8AF7FB50184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A4D9BADF-324E-5B4F-A422-61F7145DA2D8}"/>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700835EC-3A47-8644-806F-A3840BA34726}"/>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27517647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preserve="1" userDrawn="1">
  <p:cSld name="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0"/>
          </a:p>
        </p:txBody>
      </p:sp>
      <p:pic>
        <p:nvPicPr>
          <p:cNvPr id="4" name="Picture 3">
            <a:extLst>
              <a:ext uri="{FF2B5EF4-FFF2-40B4-BE49-F238E27FC236}">
                <a16:creationId xmlns:a16="http://schemas.microsoft.com/office/drawing/2014/main" id="{DC3D7A00-2891-24B2-ED6C-5B28CC4847A3}"/>
              </a:ext>
            </a:extLst>
          </p:cNvPr>
          <p:cNvPicPr>
            <a:picLocks noChangeAspect="1"/>
          </p:cNvPicPr>
          <p:nvPr userDrawn="1"/>
        </p:nvPicPr>
        <p:blipFill>
          <a:blip r:embed="rId2"/>
          <a:stretch>
            <a:fillRect/>
          </a:stretch>
        </p:blipFill>
        <p:spPr>
          <a:xfrm>
            <a:off x="0" y="4419600"/>
            <a:ext cx="6477000" cy="9296400"/>
          </a:xfrm>
          <a:prstGeom prst="rect">
            <a:avLst/>
          </a:prstGeom>
        </p:spPr>
      </p:pic>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014608"/>
          </a:xfrm>
        </p:spPr>
        <p:txBody>
          <a:bodyPr vert="horz" lIns="182880" tIns="0" rIns="0" bIns="0" rtlCol="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501"/>
            <a:ext cx="5216526" cy="1518878"/>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9" y="537179"/>
            <a:ext cx="5241586" cy="1747018"/>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17930051"/>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preserve="1" userDrawn="1">
  <p:cSld name="1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014608"/>
          </a:xfrm>
        </p:spPr>
        <p:txBody>
          <a:bodyPr vert="horz" lIns="182880" tIns="0" rIns="0" bIns="0" rtlCol="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lang="en-US"/>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501"/>
            <a:ext cx="5216526" cy="1518878"/>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9" y="537179"/>
            <a:ext cx="5241586" cy="1747018"/>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pic>
        <p:nvPicPr>
          <p:cNvPr id="4" name="Picture 3">
            <a:extLst>
              <a:ext uri="{FF2B5EF4-FFF2-40B4-BE49-F238E27FC236}">
                <a16:creationId xmlns:a16="http://schemas.microsoft.com/office/drawing/2014/main" id="{80CA3236-00EC-F44A-FE12-1CA61956F0E7}"/>
              </a:ext>
            </a:extLst>
          </p:cNvPr>
          <p:cNvPicPr>
            <a:picLocks noChangeAspect="1"/>
          </p:cNvPicPr>
          <p:nvPr userDrawn="1"/>
        </p:nvPicPr>
        <p:blipFill>
          <a:blip r:embed="rId4"/>
          <a:stretch>
            <a:fillRect/>
          </a:stretch>
        </p:blipFill>
        <p:spPr>
          <a:xfrm>
            <a:off x="0" y="9491472"/>
            <a:ext cx="6452388" cy="4224528"/>
          </a:xfrm>
          <a:prstGeom prst="rect">
            <a:avLst/>
          </a:prstGeom>
        </p:spPr>
      </p:pic>
    </p:spTree>
    <p:extLst>
      <p:ext uri="{BB962C8B-B14F-4D97-AF65-F5344CB8AC3E}">
        <p14:creationId xmlns:p14="http://schemas.microsoft.com/office/powerpoint/2010/main" val="874550738"/>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preserve="1" userDrawn="1">
  <p:cSld name="2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flipH="1">
            <a:off x="6477000" y="0"/>
            <a:ext cx="1790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0"/>
          </a:p>
        </p:txBody>
      </p:sp>
      <p:pic>
        <p:nvPicPr>
          <p:cNvPr id="6" name="Picture 5">
            <a:extLst>
              <a:ext uri="{FF2B5EF4-FFF2-40B4-BE49-F238E27FC236}">
                <a16:creationId xmlns:a16="http://schemas.microsoft.com/office/drawing/2014/main" id="{33331F37-F452-DCB3-4411-C1A01ACA6086}"/>
              </a:ext>
            </a:extLst>
          </p:cNvPr>
          <p:cNvPicPr>
            <a:picLocks noChangeAspect="1"/>
          </p:cNvPicPr>
          <p:nvPr userDrawn="1"/>
        </p:nvPicPr>
        <p:blipFill>
          <a:blip r:embed="rId2"/>
          <a:stretch>
            <a:fillRect/>
          </a:stretch>
        </p:blipFill>
        <p:spPr>
          <a:xfrm>
            <a:off x="6477000" y="3505200"/>
            <a:ext cx="15595600" cy="1021080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501"/>
            <a:ext cx="5216526" cy="1518878"/>
          </a:xfrm>
        </p:spPr>
        <p:txBody>
          <a:bodyPr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9" y="537179"/>
            <a:ext cx="5241586" cy="1747018"/>
          </a:xfrm>
        </p:spPr>
        <p:txBody>
          <a:bodyPr>
            <a:spAutoFit/>
          </a:bodyPr>
          <a:lstStyle>
            <a:lvl1pPr>
              <a:defRPr>
                <a:solidFill>
                  <a:schemeClr val="tx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12629847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preserve="1" userDrawn="1">
  <p:cSld name="Three Quarters Image Slide">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275A4A0-E19C-C4F8-98F8-140F87325D35}"/>
              </a:ext>
            </a:extLst>
          </p:cNvPr>
          <p:cNvPicPr>
            <a:picLocks noChangeAspect="1"/>
          </p:cNvPicPr>
          <p:nvPr userDrawn="1"/>
        </p:nvPicPr>
        <p:blipFill>
          <a:blip r:embed="rId2"/>
          <a:stretch>
            <a:fillRect/>
          </a:stretch>
        </p:blipFill>
        <p:spPr>
          <a:xfrm>
            <a:off x="1828803" y="1561561"/>
            <a:ext cx="4661586" cy="12154442"/>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1747018"/>
          </a:xfrm>
        </p:spPr>
        <p:txBody>
          <a:bodyPr>
            <a:spAutoFit/>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6" y="3687501"/>
            <a:ext cx="3621768" cy="2025170"/>
          </a:xfrm>
        </p:spPr>
        <p:txBody>
          <a:bodyPr wrap="square" lIns="0" tIns="0" rIns="0">
            <a:spAutoFit/>
          </a:bodyPr>
          <a:lstStyle>
            <a:lvl1pPr marL="0" indent="0" algn="l" fontAlgn="base">
              <a:lnSpc>
                <a:spcPct val="100000"/>
              </a:lnSpc>
              <a:spcBef>
                <a:spcPts val="0"/>
              </a:spcBef>
              <a:buFont typeface="Arial" panose="020B0604020202020204" pitchFamily="34" charset="0"/>
              <a:buNone/>
              <a:defRPr lang="en-US" sz="3290" kern="1200" dirty="0">
                <a:ln w="3175">
                  <a:noFill/>
                </a:ln>
                <a:solidFill>
                  <a:schemeClr val="bg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35F2CBC9-A0AF-2443-B4F3-88F00DA34117}"/>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EA2D8B16-7E02-9445-B5E1-B56444A338A0}"/>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58296D2F-477C-6447-A70C-6F56CD3959A6}"/>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652642560"/>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showMasterSp="0" preserve="1" userDrawn="1">
  <p:cSld name="1/2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9"/>
            <a:ext cx="5814964" cy="174688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506360"/>
          </a:xfrm>
          <a:ln>
            <a:noFill/>
          </a:ln>
        </p:spPr>
        <p:txBody>
          <a:bodyPr vert="horz" lIns="0" tIns="0" rIns="0" bIns="0" rtlCol="0">
            <a:spAutoFit/>
          </a:bodyPr>
          <a:lstStyle>
            <a:lvl1pPr marL="0" indent="0">
              <a:buNone/>
              <a:defRPr lang="en-US" sz="329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5" y="7127210"/>
            <a:ext cx="5216526" cy="506360"/>
          </a:xfrm>
        </p:spPr>
        <p:txBody>
          <a:bodyPr vert="horz" lIns="0" tIns="0" rIns="0" bIns="0" rtlCol="0">
            <a:spAutoFit/>
          </a:bodyPr>
          <a:lstStyle>
            <a:lvl1pPr marL="0" indent="0">
              <a:buNone/>
              <a:defRPr lang="en-US" sz="329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506360"/>
          </a:xfrm>
        </p:spPr>
        <p:txBody>
          <a:bodyPr vert="horz" lIns="0" tIns="0" rIns="0" bIns="0" rtlCol="0">
            <a:spAutoFit/>
          </a:bodyPr>
          <a:lstStyle>
            <a:lvl1pPr marL="0" indent="0">
              <a:buNone/>
              <a:defRPr lang="en-US" sz="329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506360"/>
          </a:xfrm>
        </p:spPr>
        <p:txBody>
          <a:bodyPr vert="horz" lIns="0" tIns="0" rIns="0" bIns="0" rtlCol="0">
            <a:spAutoFit/>
          </a:bodyPr>
          <a:lstStyle>
            <a:lvl1pPr marL="0" indent="0">
              <a:buNone/>
              <a:defRPr lang="en-US" sz="3290">
                <a:ln w="3175">
                  <a:noFill/>
                </a:ln>
                <a:solidFill>
                  <a:schemeClr val="tx2"/>
                </a:solidFill>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5"/>
            <a:ext cx="5208456" cy="3494418"/>
          </a:xfrm>
        </p:spPr>
        <p:txBody>
          <a:bodyPr lIns="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7"/>
            <a:ext cx="5211048" cy="3494418"/>
          </a:xfrm>
        </p:spPr>
        <p:txBody>
          <a:bodyPr lIns="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13" y="7822157"/>
            <a:ext cx="5209338" cy="3494418"/>
          </a:xfrm>
        </p:spPr>
        <p:txBody>
          <a:bodyPr lIns="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13" y="7822157"/>
            <a:ext cx="5209338" cy="3494418"/>
          </a:xfrm>
        </p:spPr>
        <p:txBody>
          <a:bodyPr lIns="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31" y="0"/>
            <a:ext cx="20869574" cy="6858000"/>
          </a:xfrm>
          <a:prstGeom prst="rect">
            <a:avLst/>
          </a:prstGeom>
        </p:spPr>
      </p:pic>
    </p:spTree>
    <p:extLst>
      <p:ext uri="{BB962C8B-B14F-4D97-AF65-F5344CB8AC3E}">
        <p14:creationId xmlns:p14="http://schemas.microsoft.com/office/powerpoint/2010/main" val="3429331201"/>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preserve="1" userDrawn="1">
  <p:cSld name="1/2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9"/>
            <a:ext cx="5814964" cy="174688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31" y="0"/>
            <a:ext cx="20869574" cy="6858000"/>
          </a:xfrm>
          <a:prstGeom prst="rect">
            <a:avLst/>
          </a:prstGeom>
        </p:spPr>
      </p:pic>
    </p:spTree>
    <p:extLst>
      <p:ext uri="{BB962C8B-B14F-4D97-AF65-F5344CB8AC3E}">
        <p14:creationId xmlns:p14="http://schemas.microsoft.com/office/powerpoint/2010/main" val="3170881967"/>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preserve="1" userDrawn="1">
  <p:cSld name="1/4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9"/>
            <a:ext cx="6484402" cy="174688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51"/>
            <a:ext cx="5208456" cy="3494418"/>
          </a:xfrm>
        </p:spPr>
        <p:txBody>
          <a:bodyPr lIns="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506360"/>
          </a:xfrm>
        </p:spPr>
        <p:txBody>
          <a:bodyPr vert="horz" lIns="0" tIns="0" rIns="0" bIns="0" rtlCol="0">
            <a:spAutoFit/>
          </a:bodyPr>
          <a:lstStyle>
            <a:lvl1pPr marL="0" indent="0">
              <a:buNone/>
              <a:defRPr lang="en-US" sz="329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7" y="4165856"/>
            <a:ext cx="5216526" cy="506360"/>
          </a:xfrm>
        </p:spPr>
        <p:txBody>
          <a:bodyPr vert="horz" lIns="0" tIns="0" rIns="0" bIns="0" rtlCol="0">
            <a:spAutoFit/>
          </a:bodyPr>
          <a:lstStyle>
            <a:lvl1pPr marL="0" indent="0">
              <a:buNone/>
              <a:defRPr lang="en-US" sz="329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5" y="4165856"/>
            <a:ext cx="5216614" cy="506360"/>
          </a:xfrm>
        </p:spPr>
        <p:txBody>
          <a:bodyPr vert="horz" lIns="0" tIns="0" rIns="0" bIns="0" rtlCol="0">
            <a:spAutoFit/>
          </a:bodyPr>
          <a:lstStyle>
            <a:lvl1pPr marL="0" indent="0">
              <a:buNone/>
              <a:defRPr lang="en-US" sz="329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506360"/>
          </a:xfrm>
        </p:spPr>
        <p:txBody>
          <a:bodyPr vert="horz" lIns="0" tIns="0" rIns="0" bIns="0" rtlCol="0">
            <a:spAutoFit/>
          </a:bodyPr>
          <a:lstStyle>
            <a:lvl1pPr marL="0" indent="0">
              <a:buNone/>
              <a:defRPr lang="en-US" sz="3290">
                <a:ln w="3175">
                  <a:noFill/>
                </a:ln>
                <a:solidFill>
                  <a:schemeClr val="tx2"/>
                </a:solidFill>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5"/>
            <a:ext cx="5211048" cy="3494418"/>
          </a:xfrm>
        </p:spPr>
        <p:txBody>
          <a:bodyPr lIns="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13" y="4860805"/>
            <a:ext cx="5209338" cy="3494418"/>
          </a:xfrm>
        </p:spPr>
        <p:txBody>
          <a:bodyPr lIns="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13" y="4860805"/>
            <a:ext cx="5209338" cy="3494418"/>
          </a:xfrm>
        </p:spPr>
        <p:txBody>
          <a:bodyPr lIns="0">
            <a:spAutoFit/>
          </a:bodyPr>
          <a:lst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lvl5p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pic>
        <p:nvPicPr>
          <p:cNvPr id="9" name="Picture 8">
            <a:extLst>
              <a:ext uri="{FF2B5EF4-FFF2-40B4-BE49-F238E27FC236}">
                <a16:creationId xmlns:a16="http://schemas.microsoft.com/office/drawing/2014/main" id="{18F9BD06-D191-BDCC-0EAC-42370967C2BC}"/>
              </a:ext>
            </a:extLst>
          </p:cNvPr>
          <p:cNvPicPr>
            <a:picLocks noChangeAspect="1"/>
          </p:cNvPicPr>
          <p:nvPr userDrawn="1"/>
        </p:nvPicPr>
        <p:blipFill>
          <a:blip r:embed="rId4"/>
          <a:stretch>
            <a:fillRect/>
          </a:stretch>
        </p:blipFill>
        <p:spPr>
          <a:xfrm rot="10800000">
            <a:off x="7848600" y="2"/>
            <a:ext cx="16535400" cy="3810000"/>
          </a:xfrm>
          <a:prstGeom prst="rect">
            <a:avLst/>
          </a:prstGeom>
        </p:spPr>
      </p:pic>
    </p:spTree>
    <p:extLst>
      <p:ext uri="{BB962C8B-B14F-4D97-AF65-F5344CB8AC3E}">
        <p14:creationId xmlns:p14="http://schemas.microsoft.com/office/powerpoint/2010/main" val="107265291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preserve="1" userDrawn="1">
  <p:cSld name="1/4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9"/>
            <a:ext cx="6484402" cy="174688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pic>
        <p:nvPicPr>
          <p:cNvPr id="3" name="Picture 2">
            <a:extLst>
              <a:ext uri="{FF2B5EF4-FFF2-40B4-BE49-F238E27FC236}">
                <a16:creationId xmlns:a16="http://schemas.microsoft.com/office/drawing/2014/main" id="{C7C982CA-A7CF-7C04-1CB1-C8824A257D5C}"/>
              </a:ext>
            </a:extLst>
          </p:cNvPr>
          <p:cNvPicPr>
            <a:picLocks noChangeAspect="1"/>
          </p:cNvPicPr>
          <p:nvPr userDrawn="1"/>
        </p:nvPicPr>
        <p:blipFill>
          <a:blip r:embed="rId4"/>
          <a:stretch>
            <a:fillRect/>
          </a:stretch>
        </p:blipFill>
        <p:spPr>
          <a:xfrm rot="10800000">
            <a:off x="7848600" y="2"/>
            <a:ext cx="16535400" cy="3810000"/>
          </a:xfrm>
          <a:prstGeom prst="rect">
            <a:avLst/>
          </a:prstGeom>
        </p:spPr>
      </p:pic>
    </p:spTree>
    <p:extLst>
      <p:ext uri="{BB962C8B-B14F-4D97-AF65-F5344CB8AC3E}">
        <p14:creationId xmlns:p14="http://schemas.microsoft.com/office/powerpoint/2010/main" val="2811113490"/>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preserve="1" userDrawn="1">
  <p:cSld name="Half Image Slide">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AE153A-C27C-ED1B-A797-B1AF88EB49A5}"/>
              </a:ext>
            </a:extLst>
          </p:cNvPr>
          <p:cNvPicPr>
            <a:picLocks noChangeAspect="1"/>
          </p:cNvPicPr>
          <p:nvPr userDrawn="1"/>
        </p:nvPicPr>
        <p:blipFill>
          <a:blip r:embed="rId2"/>
          <a:stretch>
            <a:fillRect/>
          </a:stretch>
        </p:blipFill>
        <p:spPr>
          <a:xfrm flipH="1">
            <a:off x="0" y="2921002"/>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5"/>
            <a:ext cx="11120928" cy="1012585"/>
          </a:xfrm>
        </p:spPr>
        <p:txBody>
          <a:bodyPr vert="horz" lIns="0" tIns="0" rIns="0" bIns="0" rtlCol="0">
            <a:spAutoFit/>
          </a:bodyPr>
          <a:lstStyle>
            <a:lvl1pPr marL="19246" indent="-19246" algn="l">
              <a:buFontTx/>
              <a:buNone/>
              <a:tabLst/>
              <a:defRPr lang="en-US" sz="3290" dirty="0">
                <a:ln w="3175">
                  <a:noFill/>
                </a:ln>
                <a:solidFill>
                  <a:schemeClr val="bg1"/>
                </a:solidFill>
              </a:defRPr>
            </a:lvl1pPr>
          </a:lstStyle>
          <a:p>
            <a:pPr marL="247430" lvl="0" indent="-247430" fontAlgn="base"/>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81"/>
            <a:ext cx="11142008" cy="838270"/>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8"/>
            <a:ext cx="11115676" cy="3020392"/>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31" y="12595229"/>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58356" tIns="79178" rIns="158356" bIns="79178" numCol="1" anchor="t" anchorCtr="0" compatLnSpc="1">
            <a:prstTxWarp prst="textNoShape">
              <a:avLst/>
            </a:prstTxWarp>
          </a:bodyPr>
          <a:lstStyle/>
          <a:p>
            <a:endParaRPr lang="en-US" sz="1558"/>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571806045"/>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preserve="1" userDrawn="1">
  <p:cSld name="Half Image Slide - CLEAN">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6E9DF5-DA4D-AF41-F284-D6545E66BD73}"/>
              </a:ext>
            </a:extLst>
          </p:cNvPr>
          <p:cNvPicPr>
            <a:picLocks noChangeAspect="1"/>
          </p:cNvPicPr>
          <p:nvPr userDrawn="1"/>
        </p:nvPicPr>
        <p:blipFill>
          <a:blip r:embed="rId2"/>
          <a:stretch>
            <a:fillRect/>
          </a:stretch>
        </p:blipFill>
        <p:spPr>
          <a:xfrm flipH="1">
            <a:off x="0" y="2921002"/>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81"/>
            <a:ext cx="11142008" cy="838270"/>
          </a:xfrm>
        </p:spPr>
        <p:txBody>
          <a:bodyPr>
            <a:spAutoFit/>
          </a:bodyPr>
          <a:lstStyle>
            <a:lvl1pPr>
              <a:defRPr>
                <a:ln w="9525">
                  <a:noFill/>
                </a:ln>
                <a:solidFill>
                  <a:schemeClr val="bg1"/>
                </a:solidFill>
              </a:defRPr>
            </a:lvl1pPr>
          </a:lstStyle>
          <a:p>
            <a:r>
              <a:rPr lang="en-US"/>
              <a:t>Click to edit Master title style</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31" y="12595229"/>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58356" tIns="79178" rIns="158356" bIns="79178" numCol="1" anchor="t" anchorCtr="0" compatLnSpc="1">
            <a:prstTxWarp prst="textNoShape">
              <a:avLst/>
            </a:prstTxWarp>
          </a:bodyPr>
          <a:lstStyle/>
          <a:p>
            <a:endParaRPr lang="en-US" sz="1558"/>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653799981"/>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preserve="1" userDrawn="1">
  <p:cSld name="Half Imag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21FBB69-2B1F-1005-8EB3-A8CA021F7215}"/>
              </a:ext>
            </a:extLst>
          </p:cNvPr>
          <p:cNvPicPr>
            <a:picLocks noChangeAspect="1"/>
          </p:cNvPicPr>
          <p:nvPr userDrawn="1"/>
        </p:nvPicPr>
        <p:blipFill>
          <a:blip r:embed="rId2"/>
          <a:stretch>
            <a:fillRect/>
          </a:stretch>
        </p:blipFill>
        <p:spPr>
          <a:xfrm>
            <a:off x="20243800" y="2921002"/>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pic>
        <p:nvPicPr>
          <p:cNvPr id="11" name="Graphic 10">
            <a:extLst>
              <a:ext uri="{FF2B5EF4-FFF2-40B4-BE49-F238E27FC236}">
                <a16:creationId xmlns:a16="http://schemas.microsoft.com/office/drawing/2014/main" id="{560D37C1-D211-7745-B68E-02001098F85F}"/>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5"/>
            <a:ext cx="11120928" cy="1012585"/>
          </a:xfrm>
        </p:spPr>
        <p:txBody>
          <a:bodyPr vert="horz" lIns="0" tIns="0" rIns="0" bIns="0" rtlCol="0">
            <a:spAutoFit/>
          </a:bodyPr>
          <a:lstStyle>
            <a:lvl1pPr>
              <a:defRPr lang="en-US" sz="329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81"/>
            <a:ext cx="11142008" cy="838270"/>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8"/>
            <a:ext cx="11115676" cy="3020392"/>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Footer Placeholder 4">
            <a:extLst>
              <a:ext uri="{FF2B5EF4-FFF2-40B4-BE49-F238E27FC236}">
                <a16:creationId xmlns:a16="http://schemas.microsoft.com/office/drawing/2014/main" id="{030F3032-5515-C84F-A5D0-90898242F86D}"/>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FEAC8327-2A21-3A42-BA7B-F64F4DEAA72D}"/>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96931109"/>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showMasterSp="0" preserve="1" userDrawn="1">
  <p:cSld name="Half Imag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7E79AC3-2DC9-96CB-4501-666928E88325}"/>
              </a:ext>
            </a:extLst>
          </p:cNvPr>
          <p:cNvPicPr>
            <a:picLocks noChangeAspect="1"/>
          </p:cNvPicPr>
          <p:nvPr userDrawn="1"/>
        </p:nvPicPr>
        <p:blipFill>
          <a:blip r:embed="rId2"/>
          <a:stretch>
            <a:fillRect/>
          </a:stretch>
        </p:blipFill>
        <p:spPr>
          <a:xfrm>
            <a:off x="1219200" y="0"/>
            <a:ext cx="23164800" cy="13716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5"/>
            <a:ext cx="5215428" cy="1518877"/>
          </a:xfrm>
        </p:spPr>
        <p:txBody>
          <a:bodyPr vert="horz" lIns="0" tIns="0" rIns="0" bIns="0" rtlCol="0">
            <a:spAutoFit/>
          </a:bodyPr>
          <a:lstStyle>
            <a:lvl1pPr>
              <a:defRPr lang="en-US" sz="329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3"/>
            <a:ext cx="5207000" cy="3500102"/>
          </a:xfrm>
        </p:spPr>
        <p:txBody>
          <a:bodyPr vert="horz" lIns="0" tIns="0" rIns="0" bIns="0" rtlCol="0">
            <a:spAutoFit/>
          </a:bodyPr>
          <a:lstStyle>
            <a:lvl1pPr marL="247430" marR="0" indent="-247430" algn="l" defTabSz="1583558" rtl="0" eaLnBrk="1" fontAlgn="auto" latinLnBrk="0" hangingPunct="1">
              <a:lnSpc>
                <a:spcPct val="100000"/>
              </a:lnSpc>
              <a:spcBef>
                <a:spcPts val="0"/>
              </a:spcBef>
              <a:spcAft>
                <a:spcPts val="1212"/>
              </a:spcAft>
              <a:buClr>
                <a:schemeClr val="bg1"/>
              </a:buClr>
              <a:buSzTx/>
              <a:buFont typeface="Arial" panose="020B0604020202020204" pitchFamily="34" charset="0"/>
              <a:buChar char="•"/>
              <a:tabLst/>
              <a:defRPr lang="en-US" smtClean="0">
                <a:solidFill>
                  <a:schemeClr val="bg1"/>
                </a:solidFill>
              </a:defRPr>
            </a:lvl1pPr>
            <a:lvl2pPr marL="742292" marR="0" indent="-251556" algn="l" defTabSz="1583558" rtl="0" eaLnBrk="1" fontAlgn="auto" latinLnBrk="0" hangingPunct="1">
              <a:lnSpc>
                <a:spcPct val="100000"/>
              </a:lnSpc>
              <a:spcBef>
                <a:spcPts val="0"/>
              </a:spcBef>
              <a:spcAft>
                <a:spcPts val="1212"/>
              </a:spcAft>
              <a:buClr>
                <a:schemeClr val="bg1"/>
              </a:buClr>
              <a:buSzTx/>
              <a:buFont typeface="Arial" panose="020B0604020202020204" pitchFamily="34" charset="0"/>
              <a:buChar char="•"/>
              <a:tabLst/>
              <a:defRPr lang="en-US" dirty="0" smtClean="0">
                <a:solidFill>
                  <a:schemeClr val="bg1"/>
                </a:solidFill>
              </a:defRPr>
            </a:lvl2pPr>
            <a:lvl3pPr marL="1237154" marR="0" indent="-255680" algn="l" defTabSz="1583558" rtl="0" eaLnBrk="1" fontAlgn="auto" latinLnBrk="0" hangingPunct="1">
              <a:lnSpc>
                <a:spcPct val="100000"/>
              </a:lnSpc>
              <a:spcBef>
                <a:spcPts val="0"/>
              </a:spcBef>
              <a:spcAft>
                <a:spcPts val="1212"/>
              </a:spcAft>
              <a:buClr>
                <a:schemeClr val="bg1"/>
              </a:buClr>
              <a:buSzTx/>
              <a:buFont typeface="Arial" panose="020B0604020202020204" pitchFamily="34" charset="0"/>
              <a:buChar char="•"/>
              <a:tabLst/>
              <a:defRPr lang="en-US" dirty="0" smtClean="0">
                <a:solidFill>
                  <a:schemeClr val="bg1"/>
                </a:solidFill>
              </a:defRPr>
            </a:lvl3pPr>
            <a:lvl4pPr marL="1732016" marR="0" indent="-259802" algn="l" defTabSz="1583558" rtl="0" eaLnBrk="1" fontAlgn="auto" latinLnBrk="0" hangingPunct="1">
              <a:lnSpc>
                <a:spcPct val="100000"/>
              </a:lnSpc>
              <a:spcBef>
                <a:spcPts val="0"/>
              </a:spcBef>
              <a:spcAft>
                <a:spcPts val="1212"/>
              </a:spcAft>
              <a:buClr>
                <a:schemeClr val="bg1"/>
              </a:buClr>
              <a:buSzTx/>
              <a:buFont typeface="Arial" panose="020B0604020202020204" pitchFamily="34" charset="0"/>
              <a:buChar char="•"/>
              <a:tabLst/>
              <a:defRPr lang="en-US" dirty="0" smtClean="0">
                <a:solidFill>
                  <a:schemeClr val="bg1"/>
                </a:solidFill>
              </a:defRPr>
            </a:lvl4pPr>
            <a:lvl5pPr marL="2226878" marR="0" indent="-263926" algn="l" defTabSz="1583558" rtl="0" eaLnBrk="1" fontAlgn="auto" latinLnBrk="0" hangingPunct="1">
              <a:lnSpc>
                <a:spcPct val="100000"/>
              </a:lnSpc>
              <a:spcBef>
                <a:spcPts val="0"/>
              </a:spcBef>
              <a:spcAft>
                <a:spcPts val="1212"/>
              </a:spcAft>
              <a:buClr>
                <a:schemeClr val="bg1"/>
              </a:buClr>
              <a:buSzTx/>
              <a:buFont typeface="Arial" panose="020B0604020202020204" pitchFamily="34" charset="0"/>
              <a:buChar char="•"/>
              <a:tabLst/>
              <a:defRPr lang="en-US" dirty="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1747018"/>
          </a:xfrm>
        </p:spPr>
        <p:txBody>
          <a:bodyPr>
            <a:spAutoFit/>
          </a:bodyPr>
          <a:lstStyle>
            <a:lvl1pPr>
              <a:defRPr>
                <a:ln w="9525">
                  <a:noFill/>
                </a:ln>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38317098-BF10-BA42-A3E5-65C0634430A9}"/>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B4D4954A-7D78-384F-A44A-7BC1E849140E}"/>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49BE3EAB-DEA7-184A-90BB-B4E1E574417C}"/>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12281222"/>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showMasterSp="0" userDrawn="1">
  <p:cSld name="3_Logo">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FBFEA71-1AC6-4DFC-15E0-24BA7D731D78}"/>
              </a:ext>
            </a:extLst>
          </p:cNvPr>
          <p:cNvPicPr>
            <a:picLocks noChangeAspect="1"/>
          </p:cNvPicPr>
          <p:nvPr userDrawn="1"/>
        </p:nvPicPr>
        <p:blipFill>
          <a:blip r:embed="rId2"/>
          <a:stretch>
            <a:fillRect/>
          </a:stretch>
        </p:blipFill>
        <p:spPr>
          <a:xfrm>
            <a:off x="1676400" y="0"/>
            <a:ext cx="21031200" cy="13716000"/>
          </a:xfrm>
          <a:prstGeom prst="rect">
            <a:avLst/>
          </a:prstGeom>
        </p:spPr>
      </p:pic>
      <p:pic>
        <p:nvPicPr>
          <p:cNvPr id="3" name="Graphic 2">
            <a:extLst>
              <a:ext uri="{FF2B5EF4-FFF2-40B4-BE49-F238E27FC236}">
                <a16:creationId xmlns:a16="http://schemas.microsoft.com/office/drawing/2014/main" id="{510642B9-F25A-374A-99F2-0224B52C46A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8335214" y="5983498"/>
            <a:ext cx="8023116" cy="2487168"/>
          </a:xfrm>
          <a:prstGeom prst="rect">
            <a:avLst/>
          </a:prstGeom>
        </p:spPr>
      </p:pic>
      <p:sp>
        <p:nvSpPr>
          <p:cNvPr id="6" name="Graphic 2">
            <a:extLst>
              <a:ext uri="{FF2B5EF4-FFF2-40B4-BE49-F238E27FC236}">
                <a16:creationId xmlns:a16="http://schemas.microsoft.com/office/drawing/2014/main" id="{0D8656DC-2D22-C2DA-13A1-B73DAEC9EBA5}"/>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38522166"/>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userDrawn="1">
  <p:cSld name="Breaker">
    <p:bg>
      <p:bgPr>
        <a:solidFill>
          <a:srgbClr val="EB0000"/>
        </a:solidFill>
        <a:effectLst/>
      </p:bgPr>
    </p:bg>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723901" y="653293"/>
            <a:ext cx="11160126" cy="4200146"/>
          </a:xfrm>
          <a:noFill/>
          <a:ln>
            <a:noFill/>
          </a:ln>
        </p:spPr>
        <p:txBody>
          <a:bodyPr vert="horz" lIns="0" tIns="0" rIns="0" bIns="0" rtlCol="0" anchor="b">
            <a:noAutofit/>
          </a:bodyPr>
          <a:lstStyle>
            <a:lvl1pPr marL="0" indent="0" fontAlgn="base">
              <a:lnSpc>
                <a:spcPct val="112000"/>
              </a:lnSpc>
              <a:spcBef>
                <a:spcPts val="0"/>
              </a:spcBef>
              <a:buNone/>
              <a:defRPr lang="en-US" sz="7794" kern="1200" dirty="0" smtClean="0">
                <a:ln w="3175">
                  <a:noFill/>
                </a:ln>
                <a:solidFill>
                  <a:schemeClr val="bg1"/>
                </a:solidFill>
                <a:latin typeface="+mj-lt"/>
                <a:ea typeface="+mj-ea"/>
                <a:cs typeface="+mj-cs"/>
              </a:defRPr>
            </a:lvl1pPr>
            <a:lvl2pPr marL="197944"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758826" y="4998536"/>
            <a:ext cx="11125200" cy="1627188"/>
          </a:xfrm>
        </p:spPr>
        <p:txBody>
          <a:bodyPr vert="horz" lIns="0" tIns="0" rIns="0" bIns="0" rtlCol="0" anchor="t">
            <a:noAutofit/>
          </a:bodyPr>
          <a:lstStyle>
            <a:lvl1pPr marL="0" indent="0">
              <a:buNone/>
              <a:defRPr lang="en-US" sz="4502" dirty="0">
                <a:ln>
                  <a:noFill/>
                </a:ln>
                <a:solidFill>
                  <a:schemeClr val="bg1"/>
                </a:solidFill>
              </a:defRPr>
            </a:lvl1pPr>
          </a:lstStyle>
          <a:p>
            <a:pPr lvl="0"/>
            <a:r>
              <a:rPr lang="en-US"/>
              <a:t>All titles/subtitles are sentence case</a:t>
            </a:r>
          </a:p>
        </p:txBody>
      </p:sp>
      <p:sp>
        <p:nvSpPr>
          <p:cNvPr id="6" name="Freeform 5">
            <a:extLst>
              <a:ext uri="{FF2B5EF4-FFF2-40B4-BE49-F238E27FC236}">
                <a16:creationId xmlns:a16="http://schemas.microsoft.com/office/drawing/2014/main" id="{B96AE158-57F3-42F7-BA5B-F9CAC8029C8B}"/>
              </a:ext>
            </a:extLst>
          </p:cNvPr>
          <p:cNvSpPr>
            <a:spLocks noEditPoints="1"/>
          </p:cNvSpPr>
          <p:nvPr userDrawn="1"/>
        </p:nvSpPr>
        <p:spPr bwMode="auto">
          <a:xfrm>
            <a:off x="657231" y="12595229"/>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58356" tIns="79178" rIns="158356" bIns="79178" numCol="1" anchor="t" anchorCtr="0" compatLnSpc="1">
            <a:prstTxWarp prst="textNoShape">
              <a:avLst/>
            </a:prstTxWarp>
          </a:bodyPr>
          <a:lstStyle/>
          <a:p>
            <a:endParaRPr lang="en-US" sz="1558"/>
          </a:p>
        </p:txBody>
      </p:sp>
      <p:pic>
        <p:nvPicPr>
          <p:cNvPr id="11" name="Graphic 10">
            <a:extLst>
              <a:ext uri="{FF2B5EF4-FFF2-40B4-BE49-F238E27FC236}">
                <a16:creationId xmlns:a16="http://schemas.microsoft.com/office/drawing/2014/main" id="{E2097F27-DC5D-B0F0-CE35-0D1889844CE1}"/>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9159050" y="11386529"/>
            <a:ext cx="4567724" cy="2058482"/>
          </a:xfrm>
          <a:prstGeom prst="rect">
            <a:avLst/>
          </a:prstGeom>
        </p:spPr>
      </p:pic>
    </p:spTree>
    <p:extLst>
      <p:ext uri="{BB962C8B-B14F-4D97-AF65-F5344CB8AC3E}">
        <p14:creationId xmlns:p14="http://schemas.microsoft.com/office/powerpoint/2010/main" val="770918808"/>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userDrawn="1">
  <p:cSld name="1_Breaker">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B8DA39-5EB3-C1BA-D804-706D71953C1A}"/>
              </a:ext>
            </a:extLst>
          </p:cNvPr>
          <p:cNvPicPr>
            <a:picLocks noChangeAspect="1"/>
          </p:cNvPicPr>
          <p:nvPr userDrawn="1"/>
        </p:nvPicPr>
        <p:blipFill>
          <a:blip r:embed="rId2"/>
          <a:stretch>
            <a:fillRect/>
          </a:stretch>
        </p:blipFill>
        <p:spPr>
          <a:xfrm flipH="1">
            <a:off x="0" y="0"/>
            <a:ext cx="14909800" cy="12547600"/>
          </a:xfrm>
          <a:prstGeom prst="rect">
            <a:avLst/>
          </a:prstGeom>
        </p:spPr>
      </p:pic>
      <p:pic>
        <p:nvPicPr>
          <p:cNvPr id="35" name="Graphic 34">
            <a:extLst>
              <a:ext uri="{FF2B5EF4-FFF2-40B4-BE49-F238E27FC236}">
                <a16:creationId xmlns:a16="http://schemas.microsoft.com/office/drawing/2014/main" id="{B740DB18-FB40-8A40-9C99-C82E37F311C5}"/>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4183359" y="2227766"/>
            <a:ext cx="10200642" cy="4485136"/>
          </a:xfrm>
          <a:prstGeom prst="rect">
            <a:avLst/>
          </a:prstGeom>
          <a:noFill/>
          <a:ln>
            <a:noFill/>
          </a:ln>
        </p:spPr>
        <p:txBody>
          <a:bodyPr vert="horz" lIns="0" tIns="0" rIns="0" bIns="0" rtlCol="0" anchor="b">
            <a:noAutofit/>
          </a:bodyPr>
          <a:lstStyle>
            <a:lvl1pPr marL="0" indent="0" fontAlgn="base">
              <a:lnSpc>
                <a:spcPct val="100000"/>
              </a:lnSpc>
              <a:spcBef>
                <a:spcPts val="0"/>
              </a:spcBef>
              <a:buNone/>
              <a:defRPr lang="en-US" sz="76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4218285" y="6858001"/>
            <a:ext cx="10168718" cy="615554"/>
          </a:xfrm>
          <a:prstGeom prst="rect">
            <a:avLst/>
          </a:prstGeom>
        </p:spPr>
        <p:txBody>
          <a:bodyPr vert="horz" wrap="square" lIns="0" tIns="0" rIns="0" bIns="0" rtlCol="0" anchor="t">
            <a:spAutoFit/>
          </a:bodyPr>
          <a:lstStyle>
            <a:lvl1pPr marL="0" indent="0">
              <a:buNone/>
              <a:defRPr lang="en-US" sz="4000" dirty="0">
                <a:ln>
                  <a:noFill/>
                </a:ln>
                <a:solidFill>
                  <a:schemeClr val="bg1"/>
                </a:solidFill>
              </a:defRPr>
            </a:lvl1pPr>
          </a:lstStyle>
          <a:p>
            <a:pPr lvl="0"/>
            <a:r>
              <a:rPr lang="en-US"/>
              <a:t>All titles/subtitles are sentence case</a:t>
            </a:r>
          </a:p>
        </p:txBody>
      </p:sp>
      <p:sp>
        <p:nvSpPr>
          <p:cNvPr id="3" name="Graphic 2">
            <a:extLst>
              <a:ext uri="{FF2B5EF4-FFF2-40B4-BE49-F238E27FC236}">
                <a16:creationId xmlns:a16="http://schemas.microsoft.com/office/drawing/2014/main" id="{7EF60E61-AA73-8D8E-6D66-BA84E61610FC}"/>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1490798693"/>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preserve="1" userDrawn="1">
  <p:cSld name="Titl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852BA2-98D6-7533-BEC6-1C416BA117B0}"/>
              </a:ext>
            </a:extLst>
          </p:cNvPr>
          <p:cNvPicPr>
            <a:picLocks noChangeAspect="1"/>
          </p:cNvPicPr>
          <p:nvPr userDrawn="1"/>
        </p:nvPicPr>
        <p:blipFill>
          <a:blip r:embed="rId2"/>
          <a:stretch>
            <a:fillRect/>
          </a:stretch>
        </p:blipFill>
        <p:spPr>
          <a:xfrm>
            <a:off x="9474200" y="0"/>
            <a:ext cx="14909800" cy="12547600"/>
          </a:xfrm>
          <a:prstGeom prst="rect">
            <a:avLst/>
          </a:prstGeom>
        </p:spPr>
      </p:pic>
      <p:pic>
        <p:nvPicPr>
          <p:cNvPr id="8" name="Graphic 7">
            <a:extLst>
              <a:ext uri="{FF2B5EF4-FFF2-40B4-BE49-F238E27FC236}">
                <a16:creationId xmlns:a16="http://schemas.microsoft.com/office/drawing/2014/main" id="{269A90C7-9D7B-A646-8F2F-D8E6C28659C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4" name="Text Placeholder 16">
            <a:extLst>
              <a:ext uri="{FF2B5EF4-FFF2-40B4-BE49-F238E27FC236}">
                <a16:creationId xmlns:a16="http://schemas.microsoft.com/office/drawing/2014/main" id="{2968C323-10BA-3F4F-90A6-9A79E5FF2F52}"/>
              </a:ext>
            </a:extLst>
          </p:cNvPr>
          <p:cNvSpPr>
            <a:spLocks noGrp="1"/>
          </p:cNvSpPr>
          <p:nvPr>
            <p:ph type="body" sz="quarter" idx="10" hasCustomPrompt="1"/>
          </p:nvPr>
        </p:nvSpPr>
        <p:spPr>
          <a:xfrm>
            <a:off x="697741" y="10634525"/>
            <a:ext cx="11372850" cy="923330"/>
          </a:xfrm>
          <a:prstGeom prst="rect">
            <a:avLst/>
          </a:prstGeom>
        </p:spPr>
        <p:txBody>
          <a:bodyPr lIns="0" tIns="0" rIns="0" bIns="0">
            <a:spAutoFit/>
          </a:bodyPr>
          <a:lstStyle>
            <a:lvl1pPr marL="0" indent="0">
              <a:spcBef>
                <a:spcPts val="0"/>
              </a:spcBef>
              <a:buNone/>
              <a:defRPr b="0" i="0">
                <a:solidFill>
                  <a:schemeClr val="bg1"/>
                </a:solidFill>
                <a:latin typeface="Fira Sans" panose="020B0503050000020004" pitchFamily="34" charset="0"/>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1C861E3C-8230-296F-72BF-BEB912769B1B}"/>
              </a:ext>
            </a:extLst>
          </p:cNvPr>
          <p:cNvSpPr>
            <a:spLocks noGrp="1"/>
          </p:cNvSpPr>
          <p:nvPr>
            <p:ph type="ctrTitle" hasCustomPrompt="1"/>
          </p:nvPr>
        </p:nvSpPr>
        <p:spPr>
          <a:xfrm>
            <a:off x="647091" y="2023304"/>
            <a:ext cx="7039170" cy="3909276"/>
          </a:xfrm>
          <a:prstGeom prst="rect">
            <a:avLst/>
          </a:prstGeom>
        </p:spPr>
        <p:txBody>
          <a:bodyPr wrap="square" lIns="0" tIns="0" rIns="0" bIns="0" anchor="b" anchorCtr="0">
            <a:spAutoFit/>
          </a:bodyPr>
          <a:lstStyle>
            <a:lvl1pPr algn="l" fontAlgn="b">
              <a:lnSpc>
                <a:spcPct val="112000"/>
              </a:lnSpc>
              <a:defRPr sz="8000" b="0" i="0">
                <a:solidFill>
                  <a:schemeClr val="bg1"/>
                </a:solidFill>
                <a:latin typeface="Fira Sans" panose="020B0503050000020004" pitchFamily="34" charset="0"/>
              </a:defRPr>
            </a:lvl1pPr>
          </a:lstStyle>
          <a:p>
            <a:r>
              <a:rPr lang="en-US"/>
              <a:t>Title with multiple lines here</a:t>
            </a:r>
          </a:p>
        </p:txBody>
      </p:sp>
      <p:sp>
        <p:nvSpPr>
          <p:cNvPr id="6" name="Subtitle 2">
            <a:extLst>
              <a:ext uri="{FF2B5EF4-FFF2-40B4-BE49-F238E27FC236}">
                <a16:creationId xmlns:a16="http://schemas.microsoft.com/office/drawing/2014/main" id="{72863497-253D-0001-302A-BF7F6FB0FAE4}"/>
              </a:ext>
            </a:extLst>
          </p:cNvPr>
          <p:cNvSpPr>
            <a:spLocks noGrp="1"/>
          </p:cNvSpPr>
          <p:nvPr>
            <p:ph type="subTitle" idx="1" hasCustomPrompt="1"/>
          </p:nvPr>
        </p:nvSpPr>
        <p:spPr>
          <a:xfrm>
            <a:off x="677318" y="8726846"/>
            <a:ext cx="4835588" cy="1477328"/>
          </a:xfrm>
          <a:prstGeom prst="rect">
            <a:avLst/>
          </a:prstGeom>
        </p:spPr>
        <p:txBody>
          <a:bodyPr wrap="square" lIns="0" tIns="0" rIns="0" bIns="0" anchor="t">
            <a:spAutoFit/>
          </a:bodyPr>
          <a:lstStyle>
            <a:lvl1pPr marL="0" indent="0" algn="l">
              <a:buNone/>
              <a:defRPr sz="4800" b="0" i="0">
                <a:ln>
                  <a:noFill/>
                </a:ln>
                <a:solidFill>
                  <a:schemeClr val="bg1"/>
                </a:solidFill>
                <a:latin typeface="Fira Sans" panose="020B0503050000020004" pitchFamily="34" charset="0"/>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9" name="Graphic 2">
            <a:extLst>
              <a:ext uri="{FF2B5EF4-FFF2-40B4-BE49-F238E27FC236}">
                <a16:creationId xmlns:a16="http://schemas.microsoft.com/office/drawing/2014/main" id="{0D088DC0-E273-1CE5-DFE6-10BBE1FC38A2}"/>
              </a:ext>
            </a:extLst>
          </p:cNvPr>
          <p:cNvSpPr/>
          <p:nvPr/>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1829281314"/>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preserve="1" userDrawn="1">
  <p:cSld name="Titl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4165BA7-6ECE-E932-9733-522489AB48D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2716813" y="0"/>
            <a:ext cx="21667186" cy="13716000"/>
          </a:xfrm>
          <a:prstGeom prst="rect">
            <a:avLst/>
          </a:prstGeom>
        </p:spPr>
      </p:pic>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b="0" i="0">
                <a:solidFill>
                  <a:schemeClr val="bg1"/>
                </a:solidFill>
                <a:latin typeface="Fira Sans" panose="020B0503050000020004" pitchFamily="34" charset="0"/>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866296"/>
            <a:ext cx="9530580" cy="2530436"/>
          </a:xfrm>
          <a:prstGeom prst="rect">
            <a:avLst/>
          </a:prstGeom>
        </p:spPr>
        <p:txBody>
          <a:bodyPr wrap="square" lIns="0" tIns="0" rIns="0" bIns="0" anchor="b" anchorCtr="0">
            <a:spAutoFit/>
          </a:bodyPr>
          <a:lstStyle>
            <a:lvl1pPr algn="l" fontAlgn="b">
              <a:lnSpc>
                <a:spcPct val="112000"/>
              </a:lnSpc>
              <a:defRPr sz="8000" b="0" i="0">
                <a:solidFill>
                  <a:schemeClr val="bg1"/>
                </a:solidFill>
                <a:latin typeface="Fira Sans" panose="020B0503050000020004" pitchFamily="34" charset="0"/>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4181062"/>
            <a:ext cx="4835588" cy="1477328"/>
          </a:xfrm>
          <a:prstGeom prst="rect">
            <a:avLst/>
          </a:prstGeom>
        </p:spPr>
        <p:txBody>
          <a:bodyPr wrap="square" lIns="0" tIns="0" rIns="0" bIns="0" anchor="t">
            <a:spAutoFit/>
          </a:bodyPr>
          <a:lstStyle>
            <a:lvl1pPr marL="0" indent="0" algn="l">
              <a:buNone/>
              <a:defRPr sz="4800" b="0" i="0">
                <a:ln>
                  <a:noFill/>
                </a:ln>
                <a:solidFill>
                  <a:schemeClr val="bg1"/>
                </a:solidFill>
                <a:latin typeface="Fira Sans" panose="020B0503050000020004" pitchFamily="34" charset="0"/>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2" name="Graphic 2">
            <a:extLst>
              <a:ext uri="{FF2B5EF4-FFF2-40B4-BE49-F238E27FC236}">
                <a16:creationId xmlns:a16="http://schemas.microsoft.com/office/drawing/2014/main" id="{457CADE9-063A-C4C9-1176-8F57C2E75155}"/>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1369744782"/>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preserve="1" userDrawn="1">
  <p:cSld name="1_Title Slide 2">
    <p:bg>
      <p:bgPr>
        <a:solidFill>
          <a:schemeClr val="tx1"/>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BDEC1B2-A9FA-0B77-AC13-22F8DA3B7D44}"/>
              </a:ext>
            </a:extLst>
          </p:cNvPr>
          <p:cNvPicPr>
            <a:picLocks noChangeAspect="1"/>
          </p:cNvPicPr>
          <p:nvPr userDrawn="1"/>
        </p:nvPicPr>
        <p:blipFill>
          <a:blip r:embed="rId2"/>
          <a:stretch>
            <a:fillRect/>
          </a:stretch>
        </p:blipFill>
        <p:spPr>
          <a:xfrm>
            <a:off x="8585200" y="0"/>
            <a:ext cx="15798800" cy="13716000"/>
          </a:xfrm>
          <a:prstGeom prst="rect">
            <a:avLst/>
          </a:prstGeom>
        </p:spPr>
      </p:pic>
      <p:pic>
        <p:nvPicPr>
          <p:cNvPr id="8" name="Graphic 7">
            <a:extLst>
              <a:ext uri="{FF2B5EF4-FFF2-40B4-BE49-F238E27FC236}">
                <a16:creationId xmlns:a16="http://schemas.microsoft.com/office/drawing/2014/main" id="{269A90C7-9D7B-A646-8F2F-D8E6C28659C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4" name="Text Placeholder 16">
            <a:extLst>
              <a:ext uri="{FF2B5EF4-FFF2-40B4-BE49-F238E27FC236}">
                <a16:creationId xmlns:a16="http://schemas.microsoft.com/office/drawing/2014/main" id="{2968C323-10BA-3F4F-90A6-9A79E5FF2F52}"/>
              </a:ext>
            </a:extLst>
          </p:cNvPr>
          <p:cNvSpPr>
            <a:spLocks noGrp="1"/>
          </p:cNvSpPr>
          <p:nvPr>
            <p:ph type="body" sz="quarter" idx="10" hasCustomPrompt="1"/>
          </p:nvPr>
        </p:nvSpPr>
        <p:spPr>
          <a:xfrm>
            <a:off x="697741" y="10634525"/>
            <a:ext cx="11372850" cy="923330"/>
          </a:xfrm>
          <a:prstGeom prst="rect">
            <a:avLst/>
          </a:prstGeom>
        </p:spPr>
        <p:txBody>
          <a:bodyPr lIns="0" tIns="0" rIns="0" bIns="0">
            <a:spAutoFit/>
          </a:bodyPr>
          <a:lstStyle>
            <a:lvl1pPr marL="0" indent="0">
              <a:spcBef>
                <a:spcPts val="0"/>
              </a:spcBef>
              <a:buNone/>
              <a:defRPr b="0" i="0">
                <a:solidFill>
                  <a:schemeClr val="bg1"/>
                </a:solidFill>
                <a:latin typeface="Fira Sans" panose="020B0503050000020004" pitchFamily="34" charset="0"/>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1C861E3C-8230-296F-72BF-BEB912769B1B}"/>
              </a:ext>
            </a:extLst>
          </p:cNvPr>
          <p:cNvSpPr>
            <a:spLocks noGrp="1"/>
          </p:cNvSpPr>
          <p:nvPr>
            <p:ph type="ctrTitle" hasCustomPrompt="1"/>
          </p:nvPr>
        </p:nvSpPr>
        <p:spPr>
          <a:xfrm>
            <a:off x="647091" y="689014"/>
            <a:ext cx="7039170" cy="3909276"/>
          </a:xfrm>
          <a:prstGeom prst="rect">
            <a:avLst/>
          </a:prstGeom>
        </p:spPr>
        <p:txBody>
          <a:bodyPr wrap="square" lIns="0" tIns="0" rIns="0" bIns="0" anchor="b" anchorCtr="0">
            <a:spAutoFit/>
          </a:bodyPr>
          <a:lstStyle>
            <a:lvl1pPr algn="l" fontAlgn="b">
              <a:lnSpc>
                <a:spcPct val="112000"/>
              </a:lnSpc>
              <a:defRPr sz="8000" b="0" i="0">
                <a:solidFill>
                  <a:schemeClr val="bg1"/>
                </a:solidFill>
                <a:latin typeface="Fira Sans" panose="020B0503050000020004" pitchFamily="34" charset="0"/>
              </a:defRPr>
            </a:lvl1pPr>
          </a:lstStyle>
          <a:p>
            <a:r>
              <a:rPr lang="en-US"/>
              <a:t>Title with multiple lines here</a:t>
            </a:r>
          </a:p>
        </p:txBody>
      </p:sp>
      <p:sp>
        <p:nvSpPr>
          <p:cNvPr id="6" name="Subtitle 2">
            <a:extLst>
              <a:ext uri="{FF2B5EF4-FFF2-40B4-BE49-F238E27FC236}">
                <a16:creationId xmlns:a16="http://schemas.microsoft.com/office/drawing/2014/main" id="{72863497-253D-0001-302A-BF7F6FB0FAE4}"/>
              </a:ext>
            </a:extLst>
          </p:cNvPr>
          <p:cNvSpPr>
            <a:spLocks noGrp="1"/>
          </p:cNvSpPr>
          <p:nvPr>
            <p:ph type="subTitle" idx="1" hasCustomPrompt="1"/>
          </p:nvPr>
        </p:nvSpPr>
        <p:spPr>
          <a:xfrm>
            <a:off x="677318" y="8726846"/>
            <a:ext cx="4835588" cy="1477328"/>
          </a:xfrm>
          <a:prstGeom prst="rect">
            <a:avLst/>
          </a:prstGeom>
        </p:spPr>
        <p:txBody>
          <a:bodyPr wrap="square" lIns="0" tIns="0" rIns="0" bIns="0" anchor="t">
            <a:spAutoFit/>
          </a:bodyPr>
          <a:lstStyle>
            <a:lvl1pPr marL="0" indent="0" algn="l">
              <a:buNone/>
              <a:defRPr sz="4800" b="0" i="0">
                <a:ln>
                  <a:noFill/>
                </a:ln>
                <a:solidFill>
                  <a:schemeClr val="bg1"/>
                </a:solidFill>
                <a:latin typeface="Fira Sans" panose="020B0503050000020004" pitchFamily="34" charset="0"/>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2" name="Graphic 2">
            <a:extLst>
              <a:ext uri="{FF2B5EF4-FFF2-40B4-BE49-F238E27FC236}">
                <a16:creationId xmlns:a16="http://schemas.microsoft.com/office/drawing/2014/main" id="{B4239C57-54FA-A50C-6C7B-5EFD7193668D}"/>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59754298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preserve="1" userDrawn="1">
  <p:cSld name="2_Title Slide 3">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3DD463D2-A0CD-1A39-8F26-8419F763EB28}"/>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545612" y="0"/>
            <a:ext cx="19838388" cy="13716000"/>
          </a:xfrm>
          <a:prstGeom prst="rect">
            <a:avLst/>
          </a:prstGeom>
        </p:spPr>
      </p:pic>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b="0" i="0">
                <a:solidFill>
                  <a:schemeClr val="bg1"/>
                </a:solidFill>
                <a:latin typeface="Fira Sans" panose="020B0503050000020004" pitchFamily="34" charset="0"/>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1874118"/>
            <a:ext cx="9530580" cy="2530436"/>
          </a:xfrm>
          <a:prstGeom prst="rect">
            <a:avLst/>
          </a:prstGeom>
        </p:spPr>
        <p:txBody>
          <a:bodyPr wrap="square" lIns="0" tIns="0" rIns="0" bIns="0" anchor="b" anchorCtr="0">
            <a:spAutoFit/>
          </a:bodyPr>
          <a:lstStyle>
            <a:lvl1pPr algn="l" fontAlgn="b">
              <a:lnSpc>
                <a:spcPct val="112000"/>
              </a:lnSpc>
              <a:defRPr sz="8000" b="0" i="0">
                <a:solidFill>
                  <a:schemeClr val="bg1"/>
                </a:solidFill>
                <a:latin typeface="Fira Sans" panose="020B0503050000020004" pitchFamily="34" charset="0"/>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5188884"/>
            <a:ext cx="4835588" cy="1477328"/>
          </a:xfrm>
          <a:prstGeom prst="rect">
            <a:avLst/>
          </a:prstGeom>
        </p:spPr>
        <p:txBody>
          <a:bodyPr wrap="square" lIns="0" tIns="0" rIns="0" bIns="0" anchor="t">
            <a:spAutoFit/>
          </a:bodyPr>
          <a:lstStyle>
            <a:lvl1pPr marL="0" indent="0" algn="l">
              <a:buNone/>
              <a:defRPr sz="4800" b="0" i="0">
                <a:ln>
                  <a:noFill/>
                </a:ln>
                <a:solidFill>
                  <a:schemeClr val="bg1"/>
                </a:solidFill>
                <a:latin typeface="Fira Sans" panose="020B0503050000020004" pitchFamily="34" charset="0"/>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sp>
        <p:nvSpPr>
          <p:cNvPr id="3" name="Graphic 2">
            <a:extLst>
              <a:ext uri="{FF2B5EF4-FFF2-40B4-BE49-F238E27FC236}">
                <a16:creationId xmlns:a16="http://schemas.microsoft.com/office/drawing/2014/main" id="{B077200D-89FC-938D-58D7-7538DC70F329}"/>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4105547508"/>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preserve="1" userDrawn="1">
  <p:cSld name="1_Title Slide 3">
    <p:bg>
      <p:bgPr>
        <a:solidFill>
          <a:schemeClr val="tx1"/>
        </a:solidFill>
        <a:effectLst/>
      </p:bgPr>
    </p:bg>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C3BBC34D-BFF3-2949-8EA5-E9FF8A3B72DA}"/>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Text Placeholder 16">
            <a:extLst>
              <a:ext uri="{FF2B5EF4-FFF2-40B4-BE49-F238E27FC236}">
                <a16:creationId xmlns:a16="http://schemas.microsoft.com/office/drawing/2014/main" id="{3D65B2ED-28C3-8242-9EA6-D9E2ADF4D649}"/>
              </a:ext>
            </a:extLst>
          </p:cNvPr>
          <p:cNvSpPr>
            <a:spLocks noGrp="1"/>
          </p:cNvSpPr>
          <p:nvPr>
            <p:ph type="body" sz="quarter" idx="10" hasCustomPrompt="1"/>
          </p:nvPr>
        </p:nvSpPr>
        <p:spPr>
          <a:xfrm>
            <a:off x="655811" y="10918553"/>
            <a:ext cx="3330562" cy="923330"/>
          </a:xfrm>
          <a:prstGeom prst="rect">
            <a:avLst/>
          </a:prstGeom>
        </p:spPr>
        <p:txBody>
          <a:bodyPr wrap="square" lIns="0" tIns="0" rIns="0" bIns="0">
            <a:spAutoFit/>
          </a:bodyPr>
          <a:lstStyle>
            <a:lvl1pPr marL="0" indent="0">
              <a:spcBef>
                <a:spcPts val="0"/>
              </a:spcBef>
              <a:buNone/>
              <a:defRPr b="0" i="0">
                <a:solidFill>
                  <a:schemeClr val="bg1"/>
                </a:solidFill>
                <a:latin typeface="Fira Sans" panose="020B0503050000020004" pitchFamily="34" charset="0"/>
              </a:defRPr>
            </a:lvl1pPr>
          </a:lstStyle>
          <a:p>
            <a:pPr lvl="0"/>
            <a:r>
              <a:rPr lang="en-US"/>
              <a:t>Name goes here</a:t>
            </a:r>
            <a:br>
              <a:rPr lang="en-US"/>
            </a:br>
            <a:r>
              <a:rPr lang="en-US"/>
              <a:t>Position goes here</a:t>
            </a:r>
          </a:p>
        </p:txBody>
      </p:sp>
      <p:sp>
        <p:nvSpPr>
          <p:cNvPr id="5" name="Title 1">
            <a:extLst>
              <a:ext uri="{FF2B5EF4-FFF2-40B4-BE49-F238E27FC236}">
                <a16:creationId xmlns:a16="http://schemas.microsoft.com/office/drawing/2014/main" id="{DE1C0931-E2CB-21D0-1C02-A6BD93D29E23}"/>
              </a:ext>
            </a:extLst>
          </p:cNvPr>
          <p:cNvSpPr>
            <a:spLocks noGrp="1"/>
          </p:cNvSpPr>
          <p:nvPr>
            <p:ph type="ctrTitle" hasCustomPrompt="1"/>
          </p:nvPr>
        </p:nvSpPr>
        <p:spPr>
          <a:xfrm>
            <a:off x="655810" y="2065906"/>
            <a:ext cx="9530580" cy="2530436"/>
          </a:xfrm>
          <a:prstGeom prst="rect">
            <a:avLst/>
          </a:prstGeom>
        </p:spPr>
        <p:txBody>
          <a:bodyPr wrap="square" lIns="0" tIns="0" rIns="0" bIns="0" anchor="b" anchorCtr="0">
            <a:spAutoFit/>
          </a:bodyPr>
          <a:lstStyle>
            <a:lvl1pPr algn="l" fontAlgn="b">
              <a:lnSpc>
                <a:spcPct val="112000"/>
              </a:lnSpc>
              <a:defRPr sz="8000" b="0" i="0">
                <a:solidFill>
                  <a:schemeClr val="bg1"/>
                </a:solidFill>
                <a:latin typeface="Fira Sans" panose="020B0503050000020004" pitchFamily="34" charset="0"/>
              </a:defRPr>
            </a:lvl1pPr>
          </a:lstStyle>
          <a:p>
            <a:r>
              <a:rPr lang="en-US"/>
              <a:t>Title with multiple lines here</a:t>
            </a:r>
          </a:p>
        </p:txBody>
      </p:sp>
      <p:sp>
        <p:nvSpPr>
          <p:cNvPr id="6" name="Subtitle 2">
            <a:extLst>
              <a:ext uri="{FF2B5EF4-FFF2-40B4-BE49-F238E27FC236}">
                <a16:creationId xmlns:a16="http://schemas.microsoft.com/office/drawing/2014/main" id="{708ECC9D-EDA8-CF32-AEF0-561AA70FE070}"/>
              </a:ext>
            </a:extLst>
          </p:cNvPr>
          <p:cNvSpPr>
            <a:spLocks noGrp="1"/>
          </p:cNvSpPr>
          <p:nvPr>
            <p:ph type="subTitle" idx="1" hasCustomPrompt="1"/>
          </p:nvPr>
        </p:nvSpPr>
        <p:spPr>
          <a:xfrm>
            <a:off x="686038" y="5380672"/>
            <a:ext cx="4835588" cy="1477328"/>
          </a:xfrm>
          <a:prstGeom prst="rect">
            <a:avLst/>
          </a:prstGeom>
        </p:spPr>
        <p:txBody>
          <a:bodyPr wrap="square" lIns="0" tIns="0" rIns="0" bIns="0" anchor="t">
            <a:spAutoFit/>
          </a:bodyPr>
          <a:lstStyle>
            <a:lvl1pPr marL="0" indent="0" algn="l">
              <a:buNone/>
              <a:defRPr sz="4800" b="0" i="0">
                <a:ln>
                  <a:noFill/>
                </a:ln>
                <a:solidFill>
                  <a:schemeClr val="bg1"/>
                </a:solidFill>
                <a:latin typeface="Fira Sans" panose="020B0503050000020004" pitchFamily="34" charset="0"/>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en-US"/>
              <a:t>Date/subtitle goes here</a:t>
            </a:r>
          </a:p>
        </p:txBody>
      </p:sp>
      <p:pic>
        <p:nvPicPr>
          <p:cNvPr id="3" name="Picture 2">
            <a:extLst>
              <a:ext uri="{FF2B5EF4-FFF2-40B4-BE49-F238E27FC236}">
                <a16:creationId xmlns:a16="http://schemas.microsoft.com/office/drawing/2014/main" id="{AE28AD9D-E530-B3D6-1DA4-6BDBE343733C}"/>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10695047" y="0"/>
            <a:ext cx="13688954" cy="13716000"/>
          </a:xfrm>
          <a:prstGeom prst="rect">
            <a:avLst/>
          </a:prstGeom>
        </p:spPr>
      </p:pic>
      <p:sp>
        <p:nvSpPr>
          <p:cNvPr id="2" name="Graphic 2">
            <a:extLst>
              <a:ext uri="{FF2B5EF4-FFF2-40B4-BE49-F238E27FC236}">
                <a16:creationId xmlns:a16="http://schemas.microsoft.com/office/drawing/2014/main" id="{7E7E76DF-5156-C21D-C055-E4AEB1A5577E}"/>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2275536829"/>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preserve="1" userDrawn="1">
  <p:cSld name="Breaker">
    <p:bg>
      <p:bgPr>
        <a:solidFill>
          <a:schemeClr val="tx1"/>
        </a:solidFill>
        <a:effectLst/>
      </p:bgPr>
    </p:bg>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0873689" y="623811"/>
            <a:ext cx="11160126" cy="4200146"/>
          </a:xfrm>
          <a:prstGeom prst="rect">
            <a:avLst/>
          </a:prstGeom>
          <a:noFill/>
          <a:ln>
            <a:noFill/>
          </a:ln>
        </p:spPr>
        <p:txBody>
          <a:bodyPr vert="horz" lIns="0" tIns="0" rIns="0" bIns="0" rtlCol="0" anchor="b">
            <a:noAutofit/>
          </a:bodyPr>
          <a:lstStyle>
            <a:lvl1pPr marL="0" indent="0" fontAlgn="base">
              <a:lnSpc>
                <a:spcPct val="112000"/>
              </a:lnSpc>
              <a:spcBef>
                <a:spcPts val="0"/>
              </a:spcBef>
              <a:buNone/>
              <a:defRPr lang="en-US" sz="9000" b="0" i="0" kern="1200" dirty="0" smtClean="0">
                <a:ln w="3175">
                  <a:noFill/>
                </a:ln>
                <a:solidFill>
                  <a:schemeClr val="bg1"/>
                </a:solidFill>
                <a:latin typeface="Fira Sans" panose="020B0503050000020004" pitchFamily="34" charset="0"/>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0908615" y="4969057"/>
            <a:ext cx="8875710" cy="1600438"/>
          </a:xfrm>
          <a:prstGeom prst="rect">
            <a:avLst/>
          </a:prstGeom>
        </p:spPr>
        <p:txBody>
          <a:bodyPr vert="horz" wrap="square" lIns="0" tIns="0" rIns="0" bIns="0" rtlCol="0" anchor="t">
            <a:spAutoFit/>
          </a:bodyPr>
          <a:lstStyle>
            <a:lvl1pPr marL="0" indent="0">
              <a:buNone/>
              <a:defRPr lang="en-US" sz="5200" b="0" i="0" dirty="0">
                <a:ln>
                  <a:noFill/>
                </a:ln>
                <a:solidFill>
                  <a:schemeClr val="bg1"/>
                </a:solidFill>
                <a:latin typeface="Fira Sans" panose="020B0503050000020004" pitchFamily="34" charset="0"/>
              </a:defRPr>
            </a:lvl1pPr>
          </a:lstStyle>
          <a:p>
            <a:pPr lvl="0"/>
            <a:r>
              <a:rPr lang="en-US"/>
              <a:t>All titles/subtitles are sentence case</a:t>
            </a:r>
          </a:p>
        </p:txBody>
      </p:sp>
      <p:pic>
        <p:nvPicPr>
          <p:cNvPr id="6" name="Graphic 5">
            <a:extLst>
              <a:ext uri="{FF2B5EF4-FFF2-40B4-BE49-F238E27FC236}">
                <a16:creationId xmlns:a16="http://schemas.microsoft.com/office/drawing/2014/main" id="{C0F6F2E4-2F4C-BB43-8EB6-24C72650C2E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 name="Graphic 2">
            <a:extLst>
              <a:ext uri="{FF2B5EF4-FFF2-40B4-BE49-F238E27FC236}">
                <a16:creationId xmlns:a16="http://schemas.microsoft.com/office/drawing/2014/main" id="{4765CAD0-7126-5B70-C779-9CC35C2AEB1D}"/>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b="0" i="0">
              <a:latin typeface="Fira Sans" panose="020B0503050000020004" pitchFamily="34" charset="0"/>
            </a:endParaRPr>
          </a:p>
        </p:txBody>
      </p:sp>
      <p:pic>
        <p:nvPicPr>
          <p:cNvPr id="5" name="Picture 4">
            <a:extLst>
              <a:ext uri="{FF2B5EF4-FFF2-40B4-BE49-F238E27FC236}">
                <a16:creationId xmlns:a16="http://schemas.microsoft.com/office/drawing/2014/main" id="{0678CA17-1D97-0236-79E4-26F5DC7150C4}"/>
              </a:ext>
            </a:extLst>
          </p:cNvPr>
          <p:cNvPicPr>
            <a:picLocks noChangeAspect="1"/>
          </p:cNvPicPr>
          <p:nvPr userDrawn="1"/>
        </p:nvPicPr>
        <p:blipFill>
          <a:blip r:embed="rId4"/>
          <a:stretch>
            <a:fillRect/>
          </a:stretch>
        </p:blipFill>
        <p:spPr>
          <a:xfrm>
            <a:off x="3810000" y="0"/>
            <a:ext cx="20574000" cy="13716000"/>
          </a:xfrm>
          <a:prstGeom prst="rect">
            <a:avLst/>
          </a:prstGeom>
        </p:spPr>
      </p:pic>
    </p:spTree>
    <p:extLst>
      <p:ext uri="{BB962C8B-B14F-4D97-AF65-F5344CB8AC3E}">
        <p14:creationId xmlns:p14="http://schemas.microsoft.com/office/powerpoint/2010/main" val="421714172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preserve="1" userDrawn="1">
  <p:cSld name="1_Breaker">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B8DA39-5EB3-C1BA-D804-706D71953C1A}"/>
              </a:ext>
            </a:extLst>
          </p:cNvPr>
          <p:cNvPicPr>
            <a:picLocks noChangeAspect="1"/>
          </p:cNvPicPr>
          <p:nvPr userDrawn="1"/>
        </p:nvPicPr>
        <p:blipFill>
          <a:blip r:embed="rId2"/>
          <a:stretch>
            <a:fillRect/>
          </a:stretch>
        </p:blipFill>
        <p:spPr>
          <a:xfrm flipH="1">
            <a:off x="0" y="0"/>
            <a:ext cx="14909800" cy="12547600"/>
          </a:xfrm>
          <a:prstGeom prst="rect">
            <a:avLst/>
          </a:prstGeom>
        </p:spPr>
      </p:pic>
      <p:pic>
        <p:nvPicPr>
          <p:cNvPr id="35" name="Graphic 34">
            <a:extLst>
              <a:ext uri="{FF2B5EF4-FFF2-40B4-BE49-F238E27FC236}">
                <a16:creationId xmlns:a16="http://schemas.microsoft.com/office/drawing/2014/main" id="{B740DB18-FB40-8A40-9C99-C82E37F311C5}"/>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4183359" y="2227766"/>
            <a:ext cx="10200642" cy="4485136"/>
          </a:xfrm>
          <a:prstGeom prst="rect">
            <a:avLst/>
          </a:prstGeom>
          <a:noFill/>
          <a:ln>
            <a:noFill/>
          </a:ln>
        </p:spPr>
        <p:txBody>
          <a:bodyPr vert="horz" lIns="0" tIns="0" rIns="0" bIns="0" rtlCol="0" anchor="b">
            <a:noAutofit/>
          </a:bodyPr>
          <a:lstStyle>
            <a:lvl1pPr marL="0" indent="0" fontAlgn="base">
              <a:lnSpc>
                <a:spcPct val="100000"/>
              </a:lnSpc>
              <a:spcBef>
                <a:spcPts val="0"/>
              </a:spcBef>
              <a:buNone/>
              <a:defRPr lang="en-US" sz="7600" b="0" i="0" kern="1200" dirty="0" smtClean="0">
                <a:ln w="3175">
                  <a:noFill/>
                </a:ln>
                <a:solidFill>
                  <a:schemeClr val="bg1"/>
                </a:solidFill>
                <a:latin typeface="Fira Sans" panose="020B0503050000020004" pitchFamily="34" charset="0"/>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4218285" y="6858001"/>
            <a:ext cx="10168718" cy="615554"/>
          </a:xfrm>
          <a:prstGeom prst="rect">
            <a:avLst/>
          </a:prstGeom>
        </p:spPr>
        <p:txBody>
          <a:bodyPr vert="horz" wrap="square" lIns="0" tIns="0" rIns="0" bIns="0" rtlCol="0" anchor="t">
            <a:spAutoFit/>
          </a:bodyPr>
          <a:lstStyle>
            <a:lvl1pPr marL="0" indent="0">
              <a:buNone/>
              <a:defRPr lang="en-US" sz="4000" b="0" i="0" dirty="0">
                <a:ln>
                  <a:noFill/>
                </a:ln>
                <a:solidFill>
                  <a:schemeClr val="bg1"/>
                </a:solidFill>
                <a:latin typeface="Fira Sans" panose="020B0503050000020004" pitchFamily="34" charset="0"/>
              </a:defRPr>
            </a:lvl1pPr>
          </a:lstStyle>
          <a:p>
            <a:pPr lvl="0"/>
            <a:r>
              <a:rPr lang="en-US"/>
              <a:t>All titles/subtitles are sentence case</a:t>
            </a:r>
          </a:p>
        </p:txBody>
      </p:sp>
      <p:sp>
        <p:nvSpPr>
          <p:cNvPr id="3" name="Graphic 2">
            <a:extLst>
              <a:ext uri="{FF2B5EF4-FFF2-40B4-BE49-F238E27FC236}">
                <a16:creationId xmlns:a16="http://schemas.microsoft.com/office/drawing/2014/main" id="{7EF60E61-AA73-8D8E-6D66-BA84E61610FC}"/>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1145835099"/>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preserve="1" userDrawn="1">
  <p:cSld name="Thank you US">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8542DD0-7F78-EC7A-D5FC-D2A142724A8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0" i="0">
              <a:latin typeface="Fira Sans" panose="020B0503050000020004" pitchFamily="34" charset="0"/>
            </a:endParaRPr>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3104" y="618382"/>
            <a:ext cx="519747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a:lnSpc>
                <a:spcPct val="110000"/>
              </a:lnSpc>
              <a:spcBef>
                <a:spcPts val="600"/>
              </a:spcBef>
              <a:spcAft>
                <a:spcPts val="600"/>
              </a:spcAft>
            </a:pPr>
            <a:r>
              <a:rPr lang="en-US" sz="3000" b="0" i="0">
                <a:solidFill>
                  <a:schemeClr val="tx1"/>
                </a:solidFill>
                <a:latin typeface="Fira Sans" panose="020B0503050000020004" pitchFamily="34" charset="0"/>
              </a:rPr>
              <a:t>Rackspace Technology</a:t>
            </a:r>
          </a:p>
          <a:p>
            <a:pPr>
              <a:lnSpc>
                <a:spcPct val="110000"/>
              </a:lnSpc>
              <a:spcBef>
                <a:spcPts val="600"/>
              </a:spcBef>
              <a:spcAft>
                <a:spcPts val="600"/>
              </a:spcAft>
            </a:pPr>
            <a:r>
              <a:rPr lang="en-US" sz="3000" b="0" i="0">
                <a:solidFill>
                  <a:schemeClr val="tx1"/>
                </a:solidFill>
                <a:latin typeface="Fira Sans" panose="020B0503050000020004" pitchFamily="34" charset="0"/>
              </a:rPr>
              <a:t>One Fanatical Place</a:t>
            </a:r>
            <a:br>
              <a:rPr lang="en-US" sz="3000" b="0" i="0">
                <a:solidFill>
                  <a:schemeClr val="tx1"/>
                </a:solidFill>
                <a:latin typeface="Fira Sans" panose="020B0503050000020004" pitchFamily="34" charset="0"/>
              </a:rPr>
            </a:br>
            <a:r>
              <a:rPr lang="en-US" sz="3000" b="0" i="0">
                <a:solidFill>
                  <a:schemeClr val="tx1"/>
                </a:solidFill>
                <a:latin typeface="Fira Sans" panose="020B0503050000020004" pitchFamily="34" charset="0"/>
              </a:rPr>
              <a:t>San Antonio, TX 78218</a:t>
            </a:r>
          </a:p>
          <a:p>
            <a:pPr>
              <a:lnSpc>
                <a:spcPct val="110000"/>
              </a:lnSpc>
              <a:spcBef>
                <a:spcPts val="600"/>
              </a:spcBef>
              <a:spcAft>
                <a:spcPts val="600"/>
              </a:spcAft>
            </a:pPr>
            <a:r>
              <a:rPr lang="en-US" sz="3000" b="0" i="0">
                <a:solidFill>
                  <a:schemeClr val="tx1"/>
                </a:solidFill>
                <a:latin typeface="Fira Sans" panose="020B0503050000020004" pitchFamily="34" charset="0"/>
              </a:rPr>
              <a:t>US sales: 1-800-961-2888 </a:t>
            </a:r>
            <a:br>
              <a:rPr lang="en-US" sz="3000" b="0" i="0">
                <a:solidFill>
                  <a:schemeClr val="tx1"/>
                </a:solidFill>
                <a:latin typeface="Fira Sans" panose="020B0503050000020004" pitchFamily="34" charset="0"/>
              </a:rPr>
            </a:br>
            <a:r>
              <a:rPr lang="en-US" sz="3000" b="0" i="0">
                <a:solidFill>
                  <a:schemeClr val="tx1"/>
                </a:solidFill>
                <a:latin typeface="Fira Sans" panose="020B0503050000020004" pitchFamily="34" charset="0"/>
              </a:rPr>
              <a:t>US support: 1-800-961-4454  </a:t>
            </a:r>
          </a:p>
          <a:p>
            <a:pPr marL="0" algn="l" defTabSz="457200" rtl="0" eaLnBrk="1" latinLnBrk="0" hangingPunct="1">
              <a:lnSpc>
                <a:spcPct val="110000"/>
              </a:lnSpc>
              <a:spcBef>
                <a:spcPts val="600"/>
              </a:spcBef>
              <a:spcAft>
                <a:spcPts val="3600"/>
              </a:spcAft>
            </a:pPr>
            <a:r>
              <a:rPr lang="en-US" sz="3000" b="0" i="0" kern="1200" cap="none">
                <a:solidFill>
                  <a:schemeClr val="tx1"/>
                </a:solidFill>
                <a:latin typeface="Fira Sans" panose="020B0503050000020004" pitchFamily="34" charset="0"/>
                <a:ea typeface="+mn-ea"/>
                <a:cs typeface="+mn-cs"/>
              </a:rPr>
              <a:t>www.rackspace.com</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Fira Sans" panose="020B0503050000020004" pitchFamily="34" charset="0"/>
                <a:ea typeface="+mn-ea"/>
                <a:cs typeface="+mn-cs"/>
              </a:rPr>
              <a:t>®</a:t>
            </a: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Fira Sans" panose="020B0503050000020004" pitchFamily="34" charset="0"/>
                <a:ea typeface="+mn-ea"/>
                <a:cs typeface="+mn-cs"/>
              </a:rPr>
              <a:t>®</a:t>
            </a: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 and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p>
          <a:p>
            <a:pPr marL="0" marR="0" lvl="0" indent="0" algn="l" defTabSz="1828800" rtl="0" eaLnBrk="1" fontAlgn="auto" latinLnBrk="0" hangingPunct="1">
              <a:lnSpc>
                <a:spcPct val="110000"/>
              </a:lnSpc>
              <a:spcBef>
                <a:spcPts val="600"/>
              </a:spcBef>
              <a:spcAft>
                <a:spcPts val="600"/>
              </a:spcAft>
              <a:buClrTx/>
              <a:buSzTx/>
              <a:buFont typeface="Arial" panose="020B0604020202020204" pitchFamily="34" charset="0"/>
              <a:buNone/>
              <a:tabLst/>
              <a:defRPr/>
            </a:pPr>
            <a:endParaRPr lang="en-US" sz="900" b="0" i="0" cap="none" baseline="0">
              <a:solidFill>
                <a:schemeClr val="tx1"/>
              </a:solidFill>
              <a:latin typeface="Fira Sans" panose="020B0503050000020004" pitchFamily="34" charset="0"/>
            </a:endParaRPr>
          </a:p>
          <a:p>
            <a:pPr>
              <a:spcBef>
                <a:spcPts val="600"/>
              </a:spcBef>
              <a:spcAft>
                <a:spcPts val="600"/>
              </a:spcAft>
            </a:pPr>
            <a:endParaRPr lang="en-US" sz="900" b="0" i="0">
              <a:solidFill>
                <a:schemeClr val="tx1"/>
              </a:solidFill>
              <a:latin typeface="Fira Sans" panose="020B0503050000020004" pitchFamily="34" charset="0"/>
            </a:endParaRPr>
          </a:p>
        </p:txBody>
      </p:sp>
      <p:sp>
        <p:nvSpPr>
          <p:cNvPr id="8" name="Title 1">
            <a:extLst>
              <a:ext uri="{FF2B5EF4-FFF2-40B4-BE49-F238E27FC236}">
                <a16:creationId xmlns:a16="http://schemas.microsoft.com/office/drawing/2014/main" id="{CA8D6980-0755-4BDF-90B7-CB35F8A5326B}"/>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b="0" i="0" kern="1200">
                <a:ln w="9525">
                  <a:noFill/>
                </a:ln>
                <a:solidFill>
                  <a:schemeClr val="bg1"/>
                </a:solidFill>
                <a:latin typeface="Fira Sans" panose="020B0503050000020004" pitchFamily="34" charset="0"/>
                <a:ea typeface="+mj-ea"/>
                <a:cs typeface="+mj-cs"/>
              </a:rPr>
              <a:t>Thank you</a:t>
            </a:r>
          </a:p>
        </p:txBody>
      </p:sp>
      <p:pic>
        <p:nvPicPr>
          <p:cNvPr id="9" name="Graphic 8">
            <a:extLst>
              <a:ext uri="{FF2B5EF4-FFF2-40B4-BE49-F238E27FC236}">
                <a16:creationId xmlns:a16="http://schemas.microsoft.com/office/drawing/2014/main" id="{40B8DA9A-ED61-5E43-8362-4E63965DB80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5" name="Graphic 2">
            <a:extLst>
              <a:ext uri="{FF2B5EF4-FFF2-40B4-BE49-F238E27FC236}">
                <a16:creationId xmlns:a16="http://schemas.microsoft.com/office/drawing/2014/main" id="{F5C83CB2-275A-FBA6-BB3A-46CB8C63DAB1}"/>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36344806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preserve="1" userDrawn="1">
  <p:cSld name="Thank you UK">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FFCA8B3-607E-EB86-6B92-3EC70005FC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0" i="0">
              <a:latin typeface="Fira Sans" panose="020B0503050000020004" pitchFamily="34" charset="0"/>
            </a:endParaRPr>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0" i="0" kern="1200">
                <a:solidFill>
                  <a:schemeClr val="tx1"/>
                </a:solidFill>
                <a:latin typeface="Fira Sans" panose="020B0503050000020004" pitchFamily="34" charset="0"/>
                <a:ea typeface="+mn-ea"/>
                <a:cs typeface="+mn-cs"/>
              </a:rPr>
              <a:t>Rackspace Technology</a:t>
            </a:r>
          </a:p>
          <a:p>
            <a:pPr marL="0" algn="l" defTabSz="457200" rtl="0" eaLnBrk="1" latinLnBrk="0" hangingPunct="1">
              <a:lnSpc>
                <a:spcPct val="110000"/>
              </a:lnSpc>
              <a:spcBef>
                <a:spcPts val="600"/>
              </a:spcBef>
              <a:spcAft>
                <a:spcPts val="600"/>
              </a:spcAft>
            </a:pPr>
            <a:r>
              <a:rPr lang="en-US" sz="3000" b="0" i="0" kern="1200">
                <a:solidFill>
                  <a:schemeClr val="tx1"/>
                </a:solidFill>
                <a:latin typeface="Fira Sans" panose="020B0503050000020004" pitchFamily="34" charset="0"/>
                <a:ea typeface="+mn-ea"/>
                <a:cs typeface="+mn-cs"/>
              </a:rPr>
              <a:t>8 Millington Road</a:t>
            </a:r>
            <a:br>
              <a:rPr lang="en-US" sz="3000" b="0" i="0" kern="1200">
                <a:solidFill>
                  <a:schemeClr val="tx1"/>
                </a:solidFill>
                <a:latin typeface="Fira Sans" panose="020B0503050000020004" pitchFamily="34" charset="0"/>
                <a:ea typeface="+mn-ea"/>
                <a:cs typeface="+mn-cs"/>
              </a:rPr>
            </a:br>
            <a:r>
              <a:rPr lang="en-US" sz="3000" b="0" i="0" kern="1200">
                <a:solidFill>
                  <a:schemeClr val="tx1"/>
                </a:solidFill>
                <a:latin typeface="Fira Sans" panose="020B0503050000020004" pitchFamily="34" charset="0"/>
                <a:ea typeface="+mn-ea"/>
                <a:cs typeface="+mn-cs"/>
              </a:rPr>
              <a:t>Hayes, Middlesex </a:t>
            </a:r>
            <a:br>
              <a:rPr lang="en-US" sz="3000" b="0" i="0" kern="1200">
                <a:solidFill>
                  <a:schemeClr val="tx1"/>
                </a:solidFill>
                <a:latin typeface="Fira Sans" panose="020B0503050000020004" pitchFamily="34" charset="0"/>
                <a:ea typeface="+mn-ea"/>
                <a:cs typeface="+mn-cs"/>
              </a:rPr>
            </a:br>
            <a:r>
              <a:rPr lang="en-US" sz="3000" b="0" i="0" kern="1200">
                <a:solidFill>
                  <a:schemeClr val="tx1"/>
                </a:solidFill>
                <a:latin typeface="Fira Sans" panose="020B0503050000020004" pitchFamily="34" charset="0"/>
                <a:ea typeface="+mn-ea"/>
                <a:cs typeface="+mn-cs"/>
              </a:rPr>
              <a:t>UB3 4AZ</a:t>
            </a:r>
          </a:p>
          <a:p>
            <a:pPr>
              <a:lnSpc>
                <a:spcPct val="110000"/>
              </a:lnSpc>
              <a:spcBef>
                <a:spcPts val="600"/>
              </a:spcBef>
              <a:spcAft>
                <a:spcPts val="600"/>
              </a:spcAft>
            </a:pPr>
            <a:r>
              <a:rPr lang="en-US" sz="3000" b="0" i="0">
                <a:solidFill>
                  <a:schemeClr val="tx1"/>
                </a:solidFill>
                <a:latin typeface="Fira Sans" panose="020B0503050000020004" pitchFamily="34" charset="0"/>
              </a:rPr>
              <a:t>U.K. sales: 020 8734 2600  </a:t>
            </a:r>
            <a:br>
              <a:rPr lang="en-US" sz="3000" b="0" i="0">
                <a:solidFill>
                  <a:schemeClr val="tx1"/>
                </a:solidFill>
                <a:latin typeface="Fira Sans" panose="020B0503050000020004" pitchFamily="34" charset="0"/>
              </a:rPr>
            </a:br>
            <a:r>
              <a:rPr lang="en-US" sz="3000" b="0" i="0">
                <a:solidFill>
                  <a:schemeClr val="tx1"/>
                </a:solidFill>
                <a:latin typeface="Fira Sans" panose="020B0503050000020004" pitchFamily="34" charset="0"/>
              </a:rPr>
              <a:t>U.K. support: 020 8734 2700   </a:t>
            </a:r>
          </a:p>
          <a:p>
            <a:pPr marL="0" algn="l" defTabSz="457200" rtl="0" eaLnBrk="1" latinLnBrk="0" hangingPunct="1">
              <a:lnSpc>
                <a:spcPct val="110000"/>
              </a:lnSpc>
              <a:spcBef>
                <a:spcPts val="600"/>
              </a:spcBef>
              <a:spcAft>
                <a:spcPts val="3600"/>
              </a:spcAft>
            </a:pPr>
            <a:r>
              <a:rPr lang="en-US" sz="3000" b="0" i="0" kern="1200" cap="none">
                <a:solidFill>
                  <a:schemeClr val="tx1"/>
                </a:solidFill>
                <a:latin typeface="Fira Sans" panose="020B0503050000020004" pitchFamily="34" charset="0"/>
                <a:ea typeface="+mn-ea"/>
                <a:cs typeface="+mn-cs"/>
              </a:rPr>
              <a:t>www.rackspace.co.uk</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Fira Sans" panose="020B0503050000020004" pitchFamily="34" charset="0"/>
                <a:ea typeface="+mn-ea"/>
                <a:cs typeface="+mn-cs"/>
              </a:rPr>
              <a:t>®</a:t>
            </a: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Fira Sans" panose="020B0503050000020004" pitchFamily="34" charset="0"/>
                <a:ea typeface="+mn-ea"/>
                <a:cs typeface="+mn-cs"/>
              </a:rPr>
              <a:t>®</a:t>
            </a: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 and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b="0" i="0" cap="none" baseline="0">
              <a:solidFill>
                <a:schemeClr val="tx1"/>
              </a:solidFill>
              <a:latin typeface="Fira Sans" panose="020B0503050000020004" pitchFamily="34" charset="0"/>
            </a:endParaRPr>
          </a:p>
          <a:p>
            <a:pPr>
              <a:spcBef>
                <a:spcPts val="600"/>
              </a:spcBef>
              <a:spcAft>
                <a:spcPts val="600"/>
              </a:spcAft>
            </a:pPr>
            <a:endParaRPr lang="en-US" sz="900" b="0" i="0">
              <a:solidFill>
                <a:schemeClr val="tx1"/>
              </a:solidFill>
              <a:latin typeface="Fira Sans" panose="020B0503050000020004" pitchFamily="34" charset="0"/>
            </a:endParaRPr>
          </a:p>
        </p:txBody>
      </p:sp>
      <p:pic>
        <p:nvPicPr>
          <p:cNvPr id="6" name="Graphic 5">
            <a:extLst>
              <a:ext uri="{FF2B5EF4-FFF2-40B4-BE49-F238E27FC236}">
                <a16:creationId xmlns:a16="http://schemas.microsoft.com/office/drawing/2014/main" id="{7C797846-2FE7-1F4B-A5B0-CC5DA49A249B}"/>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A5CD6002-EFB6-8A46-9A72-06D0A61799C8}"/>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b="0" i="0" kern="1200">
                <a:ln w="9525">
                  <a:noFill/>
                </a:ln>
                <a:solidFill>
                  <a:schemeClr val="bg1"/>
                </a:solidFill>
                <a:latin typeface="Fira Sans" panose="020B0503050000020004" pitchFamily="34" charset="0"/>
                <a:ea typeface="+mj-ea"/>
                <a:cs typeface="+mj-cs"/>
              </a:rPr>
              <a:t>Thank you</a:t>
            </a:r>
          </a:p>
        </p:txBody>
      </p:sp>
      <p:sp>
        <p:nvSpPr>
          <p:cNvPr id="5" name="Graphic 2">
            <a:extLst>
              <a:ext uri="{FF2B5EF4-FFF2-40B4-BE49-F238E27FC236}">
                <a16:creationId xmlns:a16="http://schemas.microsoft.com/office/drawing/2014/main" id="{9EFADF9F-D78A-35D2-A20F-2DD7BA53DB69}"/>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75206259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preserve="1" userDrawn="1">
  <p:cSld name="Thank you AUS">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56B11D-EA4E-5DD4-8089-D6B4F96745E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0" i="0">
              <a:latin typeface="Fira Sans" panose="020B0503050000020004" pitchFamily="34" charset="0"/>
            </a:endParaRPr>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0" i="0" kern="1200">
                <a:solidFill>
                  <a:schemeClr val="tx1"/>
                </a:solidFill>
                <a:latin typeface="Fira Sans" panose="020B0503050000020004" pitchFamily="34" charset="0"/>
                <a:ea typeface="+mn-ea"/>
                <a:cs typeface="+mn-cs"/>
              </a:rPr>
              <a:t>Rackspace Technology</a:t>
            </a:r>
          </a:p>
          <a:p>
            <a:pPr marL="0" algn="l" defTabSz="457200" rtl="0" eaLnBrk="1" latinLnBrk="0" hangingPunct="1">
              <a:lnSpc>
                <a:spcPct val="110000"/>
              </a:lnSpc>
              <a:spcBef>
                <a:spcPts val="600"/>
              </a:spcBef>
              <a:spcAft>
                <a:spcPts val="600"/>
              </a:spcAft>
            </a:pPr>
            <a:r>
              <a:rPr lang="en-US" sz="3000" b="0" i="0" kern="1200">
                <a:solidFill>
                  <a:schemeClr val="tx1"/>
                </a:solidFill>
                <a:latin typeface="Fira Sans" panose="020B0503050000020004" pitchFamily="34" charset="0"/>
                <a:ea typeface="+mn-ea"/>
                <a:cs typeface="+mn-cs"/>
              </a:rPr>
              <a:t>Level 1, 37 Pitt Street,</a:t>
            </a:r>
            <a:br>
              <a:rPr lang="en-US" sz="3000" b="0" i="0" kern="1200">
                <a:solidFill>
                  <a:schemeClr val="tx1"/>
                </a:solidFill>
                <a:latin typeface="Fira Sans" panose="020B0503050000020004" pitchFamily="34" charset="0"/>
                <a:ea typeface="+mn-ea"/>
                <a:cs typeface="+mn-cs"/>
              </a:rPr>
            </a:br>
            <a:r>
              <a:rPr lang="en-US" sz="3000" b="0" i="0" kern="1200">
                <a:solidFill>
                  <a:schemeClr val="tx1"/>
                </a:solidFill>
                <a:latin typeface="Fira Sans" panose="020B0503050000020004" pitchFamily="34" charset="0"/>
                <a:ea typeface="+mn-ea"/>
                <a:cs typeface="+mn-cs"/>
              </a:rPr>
              <a:t>Sydney NSW 2000, Australia</a:t>
            </a:r>
          </a:p>
          <a:p>
            <a:pPr>
              <a:lnSpc>
                <a:spcPct val="110000"/>
              </a:lnSpc>
              <a:spcBef>
                <a:spcPts val="600"/>
              </a:spcBef>
              <a:spcAft>
                <a:spcPts val="600"/>
              </a:spcAft>
            </a:pPr>
            <a:r>
              <a:rPr lang="en-US" sz="3000" b="0" i="0">
                <a:solidFill>
                  <a:schemeClr val="tx1"/>
                </a:solidFill>
                <a:latin typeface="Fira Sans" panose="020B0503050000020004" pitchFamily="34" charset="0"/>
              </a:rPr>
              <a:t>AUS sales: 1-800-722-577</a:t>
            </a:r>
            <a:br>
              <a:rPr lang="en-US" sz="3000" b="0" i="0">
                <a:solidFill>
                  <a:schemeClr val="tx1"/>
                </a:solidFill>
                <a:latin typeface="Fira Sans" panose="020B0503050000020004" pitchFamily="34" charset="0"/>
              </a:rPr>
            </a:br>
            <a:r>
              <a:rPr lang="en-US" sz="3000" b="0" i="0">
                <a:solidFill>
                  <a:schemeClr val="tx1"/>
                </a:solidFill>
                <a:latin typeface="Fira Sans" panose="020B0503050000020004" pitchFamily="34" charset="0"/>
              </a:rPr>
              <a:t>AUS support: 1-800-421-267   </a:t>
            </a:r>
          </a:p>
          <a:p>
            <a:pPr marL="0" algn="l" defTabSz="457200" rtl="0" eaLnBrk="1" latinLnBrk="0" hangingPunct="1">
              <a:lnSpc>
                <a:spcPct val="110000"/>
              </a:lnSpc>
              <a:spcBef>
                <a:spcPts val="600"/>
              </a:spcBef>
              <a:spcAft>
                <a:spcPts val="3600"/>
              </a:spcAft>
            </a:pPr>
            <a:r>
              <a:rPr lang="en-US" sz="3000" b="0" i="0" kern="1200" cap="none">
                <a:solidFill>
                  <a:schemeClr val="tx1"/>
                </a:solidFill>
                <a:latin typeface="Fira Sans" panose="020B0503050000020004" pitchFamily="34" charset="0"/>
                <a:ea typeface="+mn-ea"/>
                <a:cs typeface="+mn-cs"/>
              </a:rPr>
              <a:t>www.rackspace.co.au</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Fira Sans" panose="020B0503050000020004" pitchFamily="34" charset="0"/>
                <a:ea typeface="+mn-ea"/>
                <a:cs typeface="+mn-cs"/>
              </a:rPr>
              <a:t>®</a:t>
            </a: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Fira Sans" panose="020B0503050000020004" pitchFamily="34" charset="0"/>
                <a:ea typeface="+mn-ea"/>
                <a:cs typeface="+mn-cs"/>
              </a:rPr>
              <a:t>®</a:t>
            </a: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 and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b="0" i="0" cap="none" baseline="0">
              <a:solidFill>
                <a:schemeClr val="tx1"/>
              </a:solidFill>
              <a:latin typeface="Fira Sans" panose="020B0503050000020004" pitchFamily="34" charset="0"/>
            </a:endParaRPr>
          </a:p>
          <a:p>
            <a:pPr>
              <a:spcBef>
                <a:spcPts val="600"/>
              </a:spcBef>
              <a:spcAft>
                <a:spcPts val="600"/>
              </a:spcAft>
            </a:pPr>
            <a:endParaRPr lang="en-US" sz="900" b="0" i="0">
              <a:solidFill>
                <a:schemeClr val="tx1"/>
              </a:solidFill>
              <a:latin typeface="Fira Sans" panose="020B0503050000020004" pitchFamily="34" charset="0"/>
            </a:endParaRPr>
          </a:p>
        </p:txBody>
      </p:sp>
      <p:pic>
        <p:nvPicPr>
          <p:cNvPr id="6" name="Graphic 5">
            <a:extLst>
              <a:ext uri="{FF2B5EF4-FFF2-40B4-BE49-F238E27FC236}">
                <a16:creationId xmlns:a16="http://schemas.microsoft.com/office/drawing/2014/main" id="{AC0FA533-2CE7-6E47-81C4-BFCDCCE0C1C4}"/>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1D0A5DDB-735A-4943-B6C8-C8D38CE28960}"/>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b="0" i="0" kern="1200">
                <a:ln w="9525">
                  <a:noFill/>
                </a:ln>
                <a:solidFill>
                  <a:schemeClr val="bg1"/>
                </a:solidFill>
                <a:latin typeface="Fira Sans" panose="020B0503050000020004" pitchFamily="34" charset="0"/>
                <a:ea typeface="+mj-ea"/>
                <a:cs typeface="+mj-cs"/>
              </a:rPr>
              <a:t>Thank you</a:t>
            </a:r>
          </a:p>
        </p:txBody>
      </p:sp>
      <p:sp>
        <p:nvSpPr>
          <p:cNvPr id="5" name="Graphic 2">
            <a:extLst>
              <a:ext uri="{FF2B5EF4-FFF2-40B4-BE49-F238E27FC236}">
                <a16:creationId xmlns:a16="http://schemas.microsoft.com/office/drawing/2014/main" id="{624A405F-8B3B-B4AB-17B8-B5417AC9E53C}"/>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2896700720"/>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preserve="1" userDrawn="1">
  <p:cSld name="Thank you ASIA">
    <p:bg>
      <p:bgPr>
        <a:solidFill>
          <a:schemeClr val="tx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497F4D2-160B-C97C-40D9-A804160E6AD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0" i="0">
              <a:latin typeface="Fira Sans" panose="020B0503050000020004" pitchFamily="34" charset="0"/>
            </a:endParaRPr>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123703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0" i="0" kern="1200">
                <a:solidFill>
                  <a:schemeClr val="tx1"/>
                </a:solidFill>
                <a:latin typeface="Fira Sans" panose="020B0503050000020004" pitchFamily="34" charset="0"/>
                <a:ea typeface="+mn-ea"/>
                <a:cs typeface="+mn-cs"/>
              </a:rPr>
              <a:t>Rackspace Technology</a:t>
            </a:r>
          </a:p>
          <a:p>
            <a:pPr marL="0" marR="0" lvl="0" indent="0" algn="l" defTabSz="457200" rtl="0" eaLnBrk="1" fontAlgn="auto" latinLnBrk="0" hangingPunct="1">
              <a:lnSpc>
                <a:spcPct val="110000"/>
              </a:lnSpc>
              <a:spcBef>
                <a:spcPts val="600"/>
              </a:spcBef>
              <a:spcAft>
                <a:spcPts val="1200"/>
              </a:spcAft>
              <a:buClrTx/>
              <a:buSzTx/>
              <a:buFontTx/>
              <a:buNone/>
              <a:tabLst/>
              <a:defRPr/>
            </a:pPr>
            <a:r>
              <a:rPr lang="en-US" sz="3000" b="0" i="0" kern="1200" cap="none">
                <a:solidFill>
                  <a:schemeClr val="tx1"/>
                </a:solidFill>
                <a:latin typeface="Fira Sans" panose="020B0503050000020004" pitchFamily="34" charset="0"/>
                <a:ea typeface="+mn-ea"/>
                <a:cs typeface="+mn-cs"/>
              </a:rPr>
              <a:t>9/F., Cambridge House</a:t>
            </a:r>
            <a:br>
              <a:rPr lang="en-US" sz="3000" b="0" i="0" kern="1200" cap="none">
                <a:solidFill>
                  <a:schemeClr val="tx1"/>
                </a:solidFill>
                <a:latin typeface="Fira Sans" panose="020B0503050000020004" pitchFamily="34" charset="0"/>
                <a:ea typeface="+mn-ea"/>
                <a:cs typeface="+mn-cs"/>
              </a:rPr>
            </a:br>
            <a:r>
              <a:rPr lang="en-US" sz="3000" b="0" i="0" kern="1200" cap="none">
                <a:solidFill>
                  <a:schemeClr val="tx1"/>
                </a:solidFill>
                <a:latin typeface="Fira Sans" panose="020B0503050000020004" pitchFamily="34" charset="0"/>
                <a:ea typeface="+mn-ea"/>
                <a:cs typeface="+mn-cs"/>
              </a:rPr>
              <a:t>Taikoo Place, 979 King's Road</a:t>
            </a:r>
            <a:br>
              <a:rPr lang="en-US" sz="3000" b="0" i="0" kern="1200" cap="none">
                <a:solidFill>
                  <a:schemeClr val="tx1"/>
                </a:solidFill>
                <a:latin typeface="Fira Sans" panose="020B0503050000020004" pitchFamily="34" charset="0"/>
                <a:ea typeface="+mn-ea"/>
                <a:cs typeface="+mn-cs"/>
              </a:rPr>
            </a:br>
            <a:r>
              <a:rPr lang="en-US" sz="3000" b="0" i="0" kern="1200" cap="none">
                <a:solidFill>
                  <a:schemeClr val="tx1"/>
                </a:solidFill>
                <a:latin typeface="Fira Sans" panose="020B0503050000020004" pitchFamily="34" charset="0"/>
                <a:ea typeface="+mn-ea"/>
                <a:cs typeface="+mn-cs"/>
              </a:rPr>
              <a:t>Quarry Bay, Hong Kong</a:t>
            </a:r>
          </a:p>
          <a:p>
            <a:pPr marL="0" algn="l" defTabSz="457200" rtl="0" eaLnBrk="1" latinLnBrk="0" hangingPunct="1">
              <a:lnSpc>
                <a:spcPct val="110000"/>
              </a:lnSpc>
              <a:spcBef>
                <a:spcPts val="600"/>
              </a:spcBef>
              <a:spcAft>
                <a:spcPts val="0"/>
              </a:spcAft>
            </a:pPr>
            <a:r>
              <a:rPr lang="en-US" sz="3000" b="0" i="0" kern="1200" cap="none">
                <a:solidFill>
                  <a:schemeClr val="tx1"/>
                </a:solidFill>
                <a:latin typeface="Fira Sans" panose="020B0503050000020004" pitchFamily="34" charset="0"/>
                <a:ea typeface="+mn-ea"/>
                <a:cs typeface="+mn-cs"/>
              </a:rPr>
              <a:t>China: +86 21 5058 8808 </a:t>
            </a:r>
          </a:p>
          <a:p>
            <a:pPr marL="0" algn="l" defTabSz="457200" rtl="0" eaLnBrk="1" latinLnBrk="0" hangingPunct="1">
              <a:lnSpc>
                <a:spcPct val="110000"/>
              </a:lnSpc>
              <a:spcBef>
                <a:spcPts val="600"/>
              </a:spcBef>
              <a:spcAft>
                <a:spcPts val="0"/>
              </a:spcAft>
            </a:pPr>
            <a:r>
              <a:rPr lang="en-US" sz="3000" b="0" i="0" kern="1200" cap="none">
                <a:solidFill>
                  <a:schemeClr val="tx1"/>
                </a:solidFill>
                <a:latin typeface="Fira Sans" panose="020B0503050000020004" pitchFamily="34" charset="0"/>
                <a:ea typeface="+mn-ea"/>
                <a:cs typeface="+mn-cs"/>
              </a:rPr>
              <a:t>Hong Kong: +852 3752 6488 </a:t>
            </a:r>
          </a:p>
          <a:p>
            <a:pPr marL="0" algn="l" defTabSz="457200" rtl="0" eaLnBrk="1" latinLnBrk="0" hangingPunct="1">
              <a:lnSpc>
                <a:spcPct val="110000"/>
              </a:lnSpc>
              <a:spcBef>
                <a:spcPts val="600"/>
              </a:spcBef>
              <a:spcAft>
                <a:spcPts val="0"/>
              </a:spcAft>
            </a:pPr>
            <a:r>
              <a:rPr lang="en-US" sz="3000" b="0" i="0" kern="1200" cap="none">
                <a:solidFill>
                  <a:schemeClr val="tx1"/>
                </a:solidFill>
                <a:latin typeface="Fira Sans" panose="020B0503050000020004" pitchFamily="34" charset="0"/>
                <a:ea typeface="+mn-ea"/>
                <a:cs typeface="+mn-cs"/>
              </a:rPr>
              <a:t>India: 000800 100 8796</a:t>
            </a:r>
          </a:p>
          <a:p>
            <a:pPr marL="0" algn="l" defTabSz="457200" rtl="0" eaLnBrk="1" latinLnBrk="0" hangingPunct="1">
              <a:lnSpc>
                <a:spcPct val="110000"/>
              </a:lnSpc>
              <a:spcBef>
                <a:spcPts val="600"/>
              </a:spcBef>
              <a:spcAft>
                <a:spcPts val="0"/>
              </a:spcAft>
            </a:pPr>
            <a:r>
              <a:rPr lang="en-US" sz="3000" b="0" i="0" kern="1200" cap="none">
                <a:solidFill>
                  <a:schemeClr val="tx1"/>
                </a:solidFill>
                <a:latin typeface="Fira Sans" panose="020B0503050000020004" pitchFamily="34" charset="0"/>
                <a:ea typeface="+mn-ea"/>
                <a:cs typeface="+mn-cs"/>
              </a:rPr>
              <a:t>Philippines: 1 800 1110 1468 </a:t>
            </a:r>
          </a:p>
          <a:p>
            <a:pPr marL="0" algn="l" defTabSz="457200" rtl="0" eaLnBrk="1" latinLnBrk="0" hangingPunct="1">
              <a:lnSpc>
                <a:spcPct val="110000"/>
              </a:lnSpc>
              <a:spcBef>
                <a:spcPts val="600"/>
              </a:spcBef>
              <a:spcAft>
                <a:spcPts val="0"/>
              </a:spcAft>
            </a:pPr>
            <a:r>
              <a:rPr lang="en-US" sz="3000" b="0" i="0" kern="1200" cap="none">
                <a:solidFill>
                  <a:schemeClr val="tx1"/>
                </a:solidFill>
                <a:latin typeface="Fira Sans" panose="020B0503050000020004" pitchFamily="34" charset="0"/>
                <a:ea typeface="+mn-ea"/>
                <a:cs typeface="+mn-cs"/>
              </a:rPr>
              <a:t>Singapore: +65 6428 6102 </a:t>
            </a:r>
          </a:p>
          <a:p>
            <a:pPr marL="0" algn="l" defTabSz="457200" rtl="0" eaLnBrk="1" latinLnBrk="0" hangingPunct="1">
              <a:lnSpc>
                <a:spcPct val="110000"/>
              </a:lnSpc>
              <a:spcBef>
                <a:spcPts val="600"/>
              </a:spcBef>
              <a:spcAft>
                <a:spcPts val="0"/>
              </a:spcAft>
            </a:pPr>
            <a:r>
              <a:rPr lang="en-US" sz="3000" b="0" i="0" kern="1200" cap="none">
                <a:solidFill>
                  <a:schemeClr val="tx1"/>
                </a:solidFill>
                <a:latin typeface="Fira Sans" panose="020B0503050000020004" pitchFamily="34" charset="0"/>
                <a:ea typeface="+mn-ea"/>
                <a:cs typeface="+mn-cs"/>
              </a:rPr>
              <a:t>Taiwan: +886 2 2650 7441</a:t>
            </a:r>
          </a:p>
          <a:p>
            <a:pPr marL="0" algn="l" defTabSz="457200" rtl="0" eaLnBrk="1" latinLnBrk="0" hangingPunct="1">
              <a:lnSpc>
                <a:spcPct val="110000"/>
              </a:lnSpc>
              <a:spcBef>
                <a:spcPts val="600"/>
              </a:spcBef>
              <a:spcAft>
                <a:spcPts val="1200"/>
              </a:spcAft>
            </a:pPr>
            <a:r>
              <a:rPr lang="en-US" sz="3000" b="0" i="0" kern="1200" cap="none">
                <a:solidFill>
                  <a:schemeClr val="tx1"/>
                </a:solidFill>
                <a:latin typeface="Fira Sans" panose="020B0503050000020004" pitchFamily="34" charset="0"/>
                <a:ea typeface="+mn-ea"/>
                <a:cs typeface="+mn-cs"/>
              </a:rPr>
              <a:t>Thailand: +66 2105 5712 </a:t>
            </a:r>
          </a:p>
          <a:p>
            <a:pPr marL="0" algn="l" defTabSz="457200" rtl="0" eaLnBrk="1" latinLnBrk="0" hangingPunct="1">
              <a:lnSpc>
                <a:spcPct val="110000"/>
              </a:lnSpc>
              <a:spcBef>
                <a:spcPts val="600"/>
              </a:spcBef>
              <a:spcAft>
                <a:spcPts val="3600"/>
              </a:spcAft>
            </a:pPr>
            <a:r>
              <a:rPr lang="en-US" sz="3000" b="0" i="0" kern="1200" cap="none">
                <a:solidFill>
                  <a:schemeClr val="tx1"/>
                </a:solidFill>
                <a:latin typeface="Fira Sans" panose="020B0503050000020004" pitchFamily="34" charset="0"/>
                <a:ea typeface="+mn-ea"/>
                <a:cs typeface="+mn-cs"/>
              </a:rPr>
              <a:t>www.rackspace.com</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Fira Sans" panose="020B0503050000020004" pitchFamily="34" charset="0"/>
                <a:ea typeface="+mn-ea"/>
                <a:cs typeface="+mn-cs"/>
              </a:rPr>
              <a:t>®</a:t>
            </a: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Fira Sans" panose="020B0503050000020004" pitchFamily="34" charset="0"/>
                <a:ea typeface="+mn-ea"/>
                <a:cs typeface="+mn-cs"/>
              </a:rPr>
              <a:t>®</a:t>
            </a: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 and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br>
            <a:r>
              <a:rPr kumimoji="0" lang="en-US" sz="1200" b="0" i="0" u="none" strike="noStrike" kern="1200" cap="none" spc="0" normalizeH="0" baseline="0" noProof="0">
                <a:ln>
                  <a:noFill/>
                </a:ln>
                <a:solidFill>
                  <a:schemeClr val="tx1"/>
                </a:solidFill>
                <a:effectLst/>
                <a:uLnTx/>
                <a:uFillTx/>
                <a:latin typeface="Fira Sans" panose="020B0503050000020004" pitchFamily="34" charset="0"/>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b="0" i="0" cap="none" baseline="0">
              <a:solidFill>
                <a:schemeClr val="tx1"/>
              </a:solidFill>
              <a:latin typeface="Fira Sans" panose="020B0503050000020004" pitchFamily="34" charset="0"/>
            </a:endParaRPr>
          </a:p>
          <a:p>
            <a:pPr>
              <a:spcBef>
                <a:spcPts val="600"/>
              </a:spcBef>
              <a:spcAft>
                <a:spcPts val="600"/>
              </a:spcAft>
            </a:pPr>
            <a:endParaRPr lang="en-US" sz="900" b="0" i="0">
              <a:solidFill>
                <a:schemeClr val="tx1"/>
              </a:solidFill>
              <a:latin typeface="Fira Sans" panose="020B0503050000020004" pitchFamily="34" charset="0"/>
            </a:endParaRPr>
          </a:p>
        </p:txBody>
      </p:sp>
      <p:pic>
        <p:nvPicPr>
          <p:cNvPr id="6" name="Graphic 5">
            <a:extLst>
              <a:ext uri="{FF2B5EF4-FFF2-40B4-BE49-F238E27FC236}">
                <a16:creationId xmlns:a16="http://schemas.microsoft.com/office/drawing/2014/main" id="{55E1009B-6DDE-3A4A-A67D-3789AA6DC5A4}"/>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62B38B6C-0963-FC49-B60A-104F4423F171}"/>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b="0" i="0" kern="1200">
                <a:ln w="9525">
                  <a:noFill/>
                </a:ln>
                <a:solidFill>
                  <a:schemeClr val="bg1"/>
                </a:solidFill>
                <a:latin typeface="Fira Sans" panose="020B0503050000020004" pitchFamily="34" charset="0"/>
                <a:ea typeface="+mj-ea"/>
                <a:cs typeface="+mj-cs"/>
              </a:rPr>
              <a:t>Thank you</a:t>
            </a:r>
          </a:p>
        </p:txBody>
      </p:sp>
      <p:sp>
        <p:nvSpPr>
          <p:cNvPr id="4" name="Graphic 2">
            <a:extLst>
              <a:ext uri="{FF2B5EF4-FFF2-40B4-BE49-F238E27FC236}">
                <a16:creationId xmlns:a16="http://schemas.microsoft.com/office/drawing/2014/main" id="{3B656623-07C0-9359-8C07-651BB1DF88A2}"/>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3329760981"/>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preserve="1" userDrawn="1">
  <p:cSld name="2_Logo">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F4F7020-A4CC-335A-1D32-F7778AF48C3F}"/>
              </a:ext>
            </a:extLst>
          </p:cNvPr>
          <p:cNvPicPr>
            <a:picLocks noChangeAspect="1"/>
          </p:cNvPicPr>
          <p:nvPr userDrawn="1"/>
        </p:nvPicPr>
        <p:blipFill>
          <a:blip r:embed="rId2"/>
          <a:stretch>
            <a:fillRect/>
          </a:stretch>
        </p:blipFill>
        <p:spPr>
          <a:xfrm>
            <a:off x="1676400" y="0"/>
            <a:ext cx="21031200" cy="13716000"/>
          </a:xfrm>
          <a:prstGeom prst="rect">
            <a:avLst/>
          </a:prstGeom>
        </p:spPr>
      </p:pic>
      <p:sp>
        <p:nvSpPr>
          <p:cNvPr id="7" name="Graphic 5">
            <a:extLst>
              <a:ext uri="{FF2B5EF4-FFF2-40B4-BE49-F238E27FC236}">
                <a16:creationId xmlns:a16="http://schemas.microsoft.com/office/drawing/2014/main" id="{08DE7455-B783-AA7A-0958-9BF73F5F802D}"/>
              </a:ext>
            </a:extLst>
          </p:cNvPr>
          <p:cNvSpPr>
            <a:spLocks noChangeAspect="1"/>
          </p:cNvSpPr>
          <p:nvPr/>
        </p:nvSpPr>
        <p:spPr>
          <a:xfrm>
            <a:off x="5647010" y="5614416"/>
            <a:ext cx="13089980" cy="2487168"/>
          </a:xfrm>
          <a:custGeom>
            <a:avLst/>
            <a:gdLst>
              <a:gd name="connsiteX0" fmla="*/ 3216560 w 4875349"/>
              <a:gd name="connsiteY0" fmla="*/ 504882 h 926343"/>
              <a:gd name="connsiteX1" fmla="*/ 3216558 w 4875349"/>
              <a:gd name="connsiteY1" fmla="*/ 113422 h 926343"/>
              <a:gd name="connsiteX2" fmla="*/ 3240379 w 4875349"/>
              <a:gd name="connsiteY2" fmla="*/ 113422 h 926343"/>
              <a:gd name="connsiteX3" fmla="*/ 3240381 w 4875349"/>
              <a:gd name="connsiteY3" fmla="*/ 504882 h 926343"/>
              <a:gd name="connsiteX4" fmla="*/ 3216560 w 4875349"/>
              <a:gd name="connsiteY4" fmla="*/ 504882 h 926343"/>
              <a:gd name="connsiteX5" fmla="*/ 4045162 w 4875349"/>
              <a:gd name="connsiteY5" fmla="*/ 501503 h 926343"/>
              <a:gd name="connsiteX6" fmla="*/ 4065592 w 4875349"/>
              <a:gd name="connsiteY6" fmla="*/ 501503 h 926343"/>
              <a:gd name="connsiteX7" fmla="*/ 4065592 w 4875349"/>
              <a:gd name="connsiteY7" fmla="*/ 436819 h 926343"/>
              <a:gd name="connsiteX8" fmla="*/ 4113948 w 4875349"/>
              <a:gd name="connsiteY8" fmla="*/ 436819 h 926343"/>
              <a:gd name="connsiteX9" fmla="*/ 4113948 w 4875349"/>
              <a:gd name="connsiteY9" fmla="*/ 420806 h 926343"/>
              <a:gd name="connsiteX10" fmla="*/ 4065592 w 4875349"/>
              <a:gd name="connsiteY10" fmla="*/ 420806 h 926343"/>
              <a:gd name="connsiteX11" fmla="*/ 4065592 w 4875349"/>
              <a:gd name="connsiteY11" fmla="*/ 370635 h 926343"/>
              <a:gd name="connsiteX12" fmla="*/ 4121465 w 4875349"/>
              <a:gd name="connsiteY12" fmla="*/ 370635 h 926343"/>
              <a:gd name="connsiteX13" fmla="*/ 4123838 w 4875349"/>
              <a:gd name="connsiteY13" fmla="*/ 354398 h 926343"/>
              <a:gd name="connsiteX14" fmla="*/ 4045162 w 4875349"/>
              <a:gd name="connsiteY14" fmla="*/ 354398 h 926343"/>
              <a:gd name="connsiteX15" fmla="*/ 4045162 w 4875349"/>
              <a:gd name="connsiteY15" fmla="*/ 501503 h 926343"/>
              <a:gd name="connsiteX16" fmla="*/ 4173291 w 4875349"/>
              <a:gd name="connsiteY16" fmla="*/ 348426 h 926343"/>
              <a:gd name="connsiteX17" fmla="*/ 4159329 w 4875349"/>
              <a:gd name="connsiteY17" fmla="*/ 361661 h 926343"/>
              <a:gd name="connsiteX18" fmla="*/ 4145567 w 4875349"/>
              <a:gd name="connsiteY18" fmla="*/ 348426 h 926343"/>
              <a:gd name="connsiteX19" fmla="*/ 4159329 w 4875349"/>
              <a:gd name="connsiteY19" fmla="*/ 334968 h 926343"/>
              <a:gd name="connsiteX20" fmla="*/ 4173291 w 4875349"/>
              <a:gd name="connsiteY20" fmla="*/ 348426 h 926343"/>
              <a:gd name="connsiteX21" fmla="*/ 4169419 w 4875349"/>
              <a:gd name="connsiteY21" fmla="*/ 501497 h 926343"/>
              <a:gd name="connsiteX22" fmla="*/ 4149638 w 4875349"/>
              <a:gd name="connsiteY22" fmla="*/ 501497 h 926343"/>
              <a:gd name="connsiteX23" fmla="*/ 4149638 w 4875349"/>
              <a:gd name="connsiteY23" fmla="*/ 388985 h 926343"/>
              <a:gd name="connsiteX24" fmla="*/ 4169419 w 4875349"/>
              <a:gd name="connsiteY24" fmla="*/ 388985 h 926343"/>
              <a:gd name="connsiteX25" fmla="*/ 4169419 w 4875349"/>
              <a:gd name="connsiteY25" fmla="*/ 501497 h 926343"/>
              <a:gd name="connsiteX26" fmla="*/ 4270675 w 4875349"/>
              <a:gd name="connsiteY26" fmla="*/ 387709 h 926343"/>
              <a:gd name="connsiteX27" fmla="*/ 4267016 w 4875349"/>
              <a:gd name="connsiteY27" fmla="*/ 406922 h 926343"/>
              <a:gd name="connsiteX28" fmla="*/ 4257138 w 4875349"/>
              <a:gd name="connsiteY28" fmla="*/ 405632 h 926343"/>
              <a:gd name="connsiteX29" fmla="*/ 4230050 w 4875349"/>
              <a:gd name="connsiteY29" fmla="*/ 437236 h 926343"/>
              <a:gd name="connsiteX30" fmla="*/ 4230050 w 4875349"/>
              <a:gd name="connsiteY30" fmla="*/ 501498 h 926343"/>
              <a:gd name="connsiteX31" fmla="*/ 4210269 w 4875349"/>
              <a:gd name="connsiteY31" fmla="*/ 501498 h 926343"/>
              <a:gd name="connsiteX32" fmla="*/ 4210269 w 4875349"/>
              <a:gd name="connsiteY32" fmla="*/ 388999 h 926343"/>
              <a:gd name="connsiteX33" fmla="*/ 4227253 w 4875349"/>
              <a:gd name="connsiteY33" fmla="*/ 388999 h 926343"/>
              <a:gd name="connsiteX34" fmla="*/ 4229188 w 4875349"/>
              <a:gd name="connsiteY34" fmla="*/ 411834 h 926343"/>
              <a:gd name="connsiteX35" fmla="*/ 4259498 w 4875349"/>
              <a:gd name="connsiteY35" fmla="*/ 386419 h 926343"/>
              <a:gd name="connsiteX36" fmla="*/ 4270675 w 4875349"/>
              <a:gd name="connsiteY36" fmla="*/ 387709 h 926343"/>
              <a:gd name="connsiteX37" fmla="*/ 4362473 w 4875349"/>
              <a:gd name="connsiteY37" fmla="*/ 399240 h 926343"/>
              <a:gd name="connsiteX38" fmla="*/ 4354080 w 4875349"/>
              <a:gd name="connsiteY38" fmla="*/ 411619 h 926343"/>
              <a:gd name="connsiteX39" fmla="*/ 4324646 w 4875349"/>
              <a:gd name="connsiteY39" fmla="*/ 402019 h 926343"/>
              <a:gd name="connsiteX40" fmla="*/ 4303790 w 4875349"/>
              <a:gd name="connsiteY40" fmla="*/ 416742 h 926343"/>
              <a:gd name="connsiteX41" fmla="*/ 4328079 w 4875349"/>
              <a:gd name="connsiteY41" fmla="*/ 434888 h 926343"/>
              <a:gd name="connsiteX42" fmla="*/ 4365695 w 4875349"/>
              <a:gd name="connsiteY42" fmla="*/ 469903 h 926343"/>
              <a:gd name="connsiteX43" fmla="*/ 4320986 w 4875349"/>
              <a:gd name="connsiteY43" fmla="*/ 504062 h 926343"/>
              <a:gd name="connsiteX44" fmla="*/ 4278214 w 4875349"/>
              <a:gd name="connsiteY44" fmla="*/ 489327 h 926343"/>
              <a:gd name="connsiteX45" fmla="*/ 4288741 w 4875349"/>
              <a:gd name="connsiteY45" fmla="*/ 477370 h 926343"/>
              <a:gd name="connsiteX46" fmla="*/ 4320549 w 4875349"/>
              <a:gd name="connsiteY46" fmla="*/ 488260 h 926343"/>
              <a:gd name="connsiteX47" fmla="*/ 4344839 w 4875349"/>
              <a:gd name="connsiteY47" fmla="*/ 471180 h 926343"/>
              <a:gd name="connsiteX48" fmla="*/ 4317327 w 4875349"/>
              <a:gd name="connsiteY48" fmla="*/ 450045 h 926343"/>
              <a:gd name="connsiteX49" fmla="*/ 4283147 w 4875349"/>
              <a:gd name="connsiteY49" fmla="*/ 417387 h 926343"/>
              <a:gd name="connsiteX50" fmla="*/ 4323996 w 4875349"/>
              <a:gd name="connsiteY50" fmla="*/ 386428 h 926343"/>
              <a:gd name="connsiteX51" fmla="*/ 4362473 w 4875349"/>
              <a:gd name="connsiteY51" fmla="*/ 399240 h 926343"/>
              <a:gd name="connsiteX52" fmla="*/ 4450831 w 4875349"/>
              <a:gd name="connsiteY52" fmla="*/ 496374 h 926343"/>
              <a:gd name="connsiteX53" fmla="*/ 4425467 w 4875349"/>
              <a:gd name="connsiteY53" fmla="*/ 504064 h 926343"/>
              <a:gd name="connsiteX54" fmla="*/ 4394933 w 4875349"/>
              <a:gd name="connsiteY54" fmla="*/ 472039 h 926343"/>
              <a:gd name="connsiteX55" fmla="*/ 4394933 w 4875349"/>
              <a:gd name="connsiteY55" fmla="*/ 404142 h 926343"/>
              <a:gd name="connsiteX56" fmla="*/ 4375164 w 4875349"/>
              <a:gd name="connsiteY56" fmla="*/ 404142 h 926343"/>
              <a:gd name="connsiteX57" fmla="*/ 4375164 w 4875349"/>
              <a:gd name="connsiteY57" fmla="*/ 388998 h 926343"/>
              <a:gd name="connsiteX58" fmla="*/ 4394933 w 4875349"/>
              <a:gd name="connsiteY58" fmla="*/ 388998 h 926343"/>
              <a:gd name="connsiteX59" fmla="*/ 4394933 w 4875349"/>
              <a:gd name="connsiteY59" fmla="*/ 363583 h 926343"/>
              <a:gd name="connsiteX60" fmla="*/ 4414715 w 4875349"/>
              <a:gd name="connsiteY60" fmla="*/ 361226 h 926343"/>
              <a:gd name="connsiteX61" fmla="*/ 4414715 w 4875349"/>
              <a:gd name="connsiteY61" fmla="*/ 388998 h 926343"/>
              <a:gd name="connsiteX62" fmla="*/ 4441590 w 4875349"/>
              <a:gd name="connsiteY62" fmla="*/ 388998 h 926343"/>
              <a:gd name="connsiteX63" fmla="*/ 4439429 w 4875349"/>
              <a:gd name="connsiteY63" fmla="*/ 404142 h 926343"/>
              <a:gd name="connsiteX64" fmla="*/ 4414715 w 4875349"/>
              <a:gd name="connsiteY64" fmla="*/ 404142 h 926343"/>
              <a:gd name="connsiteX65" fmla="*/ 4414715 w 4875349"/>
              <a:gd name="connsiteY65" fmla="*/ 471183 h 926343"/>
              <a:gd name="connsiteX66" fmla="*/ 4428252 w 4875349"/>
              <a:gd name="connsiteY66" fmla="*/ 487841 h 926343"/>
              <a:gd name="connsiteX67" fmla="*/ 4443301 w 4875349"/>
              <a:gd name="connsiteY67" fmla="*/ 483351 h 926343"/>
              <a:gd name="connsiteX68" fmla="*/ 4450831 w 4875349"/>
              <a:gd name="connsiteY68" fmla="*/ 496374 h 926343"/>
              <a:gd name="connsiteX69" fmla="*/ 4491457 w 4875349"/>
              <a:gd name="connsiteY69" fmla="*/ 489118 h 926343"/>
              <a:gd name="connsiteX70" fmla="*/ 4476408 w 4875349"/>
              <a:gd name="connsiteY70" fmla="*/ 504064 h 926343"/>
              <a:gd name="connsiteX71" fmla="*/ 4461572 w 4875349"/>
              <a:gd name="connsiteY71" fmla="*/ 489118 h 926343"/>
              <a:gd name="connsiteX72" fmla="*/ 4476408 w 4875349"/>
              <a:gd name="connsiteY72" fmla="*/ 474383 h 926343"/>
              <a:gd name="connsiteX73" fmla="*/ 4491457 w 4875349"/>
              <a:gd name="connsiteY73" fmla="*/ 489118 h 926343"/>
              <a:gd name="connsiteX74" fmla="*/ 3521774 w 4875349"/>
              <a:gd name="connsiteY74" fmla="*/ 366146 h 926343"/>
              <a:gd name="connsiteX75" fmla="*/ 3505002 w 4875349"/>
              <a:gd name="connsiteY75" fmla="*/ 385996 h 926343"/>
              <a:gd name="connsiteX76" fmla="*/ 3478129 w 4875349"/>
              <a:gd name="connsiteY76" fmla="*/ 375748 h 926343"/>
              <a:gd name="connsiteX77" fmla="*/ 3445681 w 4875349"/>
              <a:gd name="connsiteY77" fmla="*/ 427204 h 926343"/>
              <a:gd name="connsiteX78" fmla="*/ 3478562 w 4875349"/>
              <a:gd name="connsiteY78" fmla="*/ 478013 h 926343"/>
              <a:gd name="connsiteX79" fmla="*/ 3507795 w 4875349"/>
              <a:gd name="connsiteY79" fmla="*/ 466055 h 926343"/>
              <a:gd name="connsiteX80" fmla="*/ 3523496 w 4875349"/>
              <a:gd name="connsiteY80" fmla="*/ 486133 h 926343"/>
              <a:gd name="connsiteX81" fmla="*/ 3476841 w 4875349"/>
              <a:gd name="connsiteY81" fmla="*/ 505135 h 926343"/>
              <a:gd name="connsiteX82" fmla="*/ 3408707 w 4875349"/>
              <a:gd name="connsiteY82" fmla="*/ 427204 h 926343"/>
              <a:gd name="connsiteX83" fmla="*/ 3476419 w 4875349"/>
              <a:gd name="connsiteY83" fmla="*/ 349918 h 926343"/>
              <a:gd name="connsiteX84" fmla="*/ 3521774 w 4875349"/>
              <a:gd name="connsiteY84" fmla="*/ 366145 h 926343"/>
              <a:gd name="connsiteX85" fmla="*/ 3537463 w 4875349"/>
              <a:gd name="connsiteY85" fmla="*/ 472680 h 926343"/>
              <a:gd name="connsiteX86" fmla="*/ 3537463 w 4875349"/>
              <a:gd name="connsiteY86" fmla="*/ 343090 h 926343"/>
              <a:gd name="connsiteX87" fmla="*/ 3571428 w 4875349"/>
              <a:gd name="connsiteY87" fmla="*/ 339455 h 926343"/>
              <a:gd name="connsiteX88" fmla="*/ 3571428 w 4875349"/>
              <a:gd name="connsiteY88" fmla="*/ 471401 h 926343"/>
              <a:gd name="connsiteX89" fmla="*/ 3577231 w 4875349"/>
              <a:gd name="connsiteY89" fmla="*/ 478444 h 926343"/>
              <a:gd name="connsiteX90" fmla="*/ 3582818 w 4875349"/>
              <a:gd name="connsiteY90" fmla="*/ 477380 h 926343"/>
              <a:gd name="connsiteX91" fmla="*/ 3589475 w 4875349"/>
              <a:gd name="connsiteY91" fmla="*/ 501284 h 926343"/>
              <a:gd name="connsiteX92" fmla="*/ 3568839 w 4875349"/>
              <a:gd name="connsiteY92" fmla="*/ 505135 h 926343"/>
              <a:gd name="connsiteX93" fmla="*/ 3537463 w 4875349"/>
              <a:gd name="connsiteY93" fmla="*/ 472680 h 926343"/>
              <a:gd name="connsiteX94" fmla="*/ 3708782 w 4875349"/>
              <a:gd name="connsiteY94" fmla="*/ 444927 h 926343"/>
              <a:gd name="connsiteX95" fmla="*/ 3652892 w 4875349"/>
              <a:gd name="connsiteY95" fmla="*/ 505123 h 926343"/>
              <a:gd name="connsiteX96" fmla="*/ 3597003 w 4875349"/>
              <a:gd name="connsiteY96" fmla="*/ 444712 h 926343"/>
              <a:gd name="connsiteX97" fmla="*/ 3652892 w 4875349"/>
              <a:gd name="connsiteY97" fmla="*/ 384502 h 926343"/>
              <a:gd name="connsiteX98" fmla="*/ 3708782 w 4875349"/>
              <a:gd name="connsiteY98" fmla="*/ 444927 h 926343"/>
              <a:gd name="connsiteX99" fmla="*/ 3632256 w 4875349"/>
              <a:gd name="connsiteY99" fmla="*/ 444712 h 926343"/>
              <a:gd name="connsiteX100" fmla="*/ 3652892 w 4875349"/>
              <a:gd name="connsiteY100" fmla="*/ 480371 h 926343"/>
              <a:gd name="connsiteX101" fmla="*/ 3673529 w 4875349"/>
              <a:gd name="connsiteY101" fmla="*/ 444927 h 926343"/>
              <a:gd name="connsiteX102" fmla="*/ 3652892 w 4875349"/>
              <a:gd name="connsiteY102" fmla="*/ 409267 h 926343"/>
              <a:gd name="connsiteX103" fmla="*/ 3632256 w 4875349"/>
              <a:gd name="connsiteY103" fmla="*/ 444712 h 926343"/>
              <a:gd name="connsiteX104" fmla="*/ 3827431 w 4875349"/>
              <a:gd name="connsiteY104" fmla="*/ 501502 h 926343"/>
              <a:gd name="connsiteX105" fmla="*/ 3797981 w 4875349"/>
              <a:gd name="connsiteY105" fmla="*/ 501502 h 926343"/>
              <a:gd name="connsiteX106" fmla="*/ 3796477 w 4875349"/>
              <a:gd name="connsiteY106" fmla="*/ 487200 h 926343"/>
              <a:gd name="connsiteX107" fmla="*/ 3761874 w 4875349"/>
              <a:gd name="connsiteY107" fmla="*/ 505125 h 926343"/>
              <a:gd name="connsiteX108" fmla="*/ 3730052 w 4875349"/>
              <a:gd name="connsiteY108" fmla="*/ 469478 h 926343"/>
              <a:gd name="connsiteX109" fmla="*/ 3730052 w 4875349"/>
              <a:gd name="connsiteY109" fmla="*/ 388139 h 926343"/>
              <a:gd name="connsiteX110" fmla="*/ 3764017 w 4875349"/>
              <a:gd name="connsiteY110" fmla="*/ 388139 h 926343"/>
              <a:gd name="connsiteX111" fmla="*/ 3764017 w 4875349"/>
              <a:gd name="connsiteY111" fmla="*/ 465209 h 926343"/>
              <a:gd name="connsiteX112" fmla="*/ 3774985 w 4875349"/>
              <a:gd name="connsiteY112" fmla="*/ 480157 h 926343"/>
              <a:gd name="connsiteX113" fmla="*/ 3793466 w 4875349"/>
              <a:gd name="connsiteY113" fmla="*/ 466919 h 926343"/>
              <a:gd name="connsiteX114" fmla="*/ 3793466 w 4875349"/>
              <a:gd name="connsiteY114" fmla="*/ 388139 h 926343"/>
              <a:gd name="connsiteX115" fmla="*/ 3827431 w 4875349"/>
              <a:gd name="connsiteY115" fmla="*/ 388139 h 926343"/>
              <a:gd name="connsiteX116" fmla="*/ 3827431 w 4875349"/>
              <a:gd name="connsiteY116" fmla="*/ 501502 h 926343"/>
              <a:gd name="connsiteX117" fmla="*/ 3956398 w 4875349"/>
              <a:gd name="connsiteY117" fmla="*/ 343082 h 926343"/>
              <a:gd name="connsiteX118" fmla="*/ 3956398 w 4875349"/>
              <a:gd name="connsiteY118" fmla="*/ 501503 h 926343"/>
              <a:gd name="connsiteX119" fmla="*/ 3926297 w 4875349"/>
              <a:gd name="connsiteY119" fmla="*/ 501503 h 926343"/>
              <a:gd name="connsiteX120" fmla="*/ 3924589 w 4875349"/>
              <a:gd name="connsiteY120" fmla="*/ 488265 h 926343"/>
              <a:gd name="connsiteX121" fmla="*/ 3892129 w 4875349"/>
              <a:gd name="connsiteY121" fmla="*/ 505126 h 926343"/>
              <a:gd name="connsiteX122" fmla="*/ 3848700 w 4875349"/>
              <a:gd name="connsiteY122" fmla="*/ 444499 h 926343"/>
              <a:gd name="connsiteX123" fmla="*/ 3895343 w 4875349"/>
              <a:gd name="connsiteY123" fmla="*/ 384505 h 926343"/>
              <a:gd name="connsiteX124" fmla="*/ 3922433 w 4875349"/>
              <a:gd name="connsiteY124" fmla="*/ 395184 h 926343"/>
              <a:gd name="connsiteX125" fmla="*/ 3922433 w 4875349"/>
              <a:gd name="connsiteY125" fmla="*/ 339459 h 926343"/>
              <a:gd name="connsiteX126" fmla="*/ 3956398 w 4875349"/>
              <a:gd name="connsiteY126" fmla="*/ 343082 h 926343"/>
              <a:gd name="connsiteX127" fmla="*/ 3922433 w 4875349"/>
              <a:gd name="connsiteY127" fmla="*/ 467554 h 926343"/>
              <a:gd name="connsiteX128" fmla="*/ 3922433 w 4875349"/>
              <a:gd name="connsiteY128" fmla="*/ 418669 h 926343"/>
              <a:gd name="connsiteX129" fmla="*/ 3904590 w 4875349"/>
              <a:gd name="connsiteY129" fmla="*/ 409055 h 926343"/>
              <a:gd name="connsiteX130" fmla="*/ 3883953 w 4875349"/>
              <a:gd name="connsiteY130" fmla="*/ 444714 h 926343"/>
              <a:gd name="connsiteX131" fmla="*/ 3902651 w 4875349"/>
              <a:gd name="connsiteY131" fmla="*/ 480361 h 926343"/>
              <a:gd name="connsiteX132" fmla="*/ 3922433 w 4875349"/>
              <a:gd name="connsiteY132" fmla="*/ 467554 h 926343"/>
              <a:gd name="connsiteX133" fmla="*/ 3476419 w 4875349"/>
              <a:gd name="connsiteY133" fmla="*/ 113000 h 926343"/>
              <a:gd name="connsiteX134" fmla="*/ 3408707 w 4875349"/>
              <a:gd name="connsiteY134" fmla="*/ 190285 h 926343"/>
              <a:gd name="connsiteX135" fmla="*/ 3476841 w 4875349"/>
              <a:gd name="connsiteY135" fmla="*/ 268216 h 926343"/>
              <a:gd name="connsiteX136" fmla="*/ 3523496 w 4875349"/>
              <a:gd name="connsiteY136" fmla="*/ 249215 h 926343"/>
              <a:gd name="connsiteX137" fmla="*/ 3507795 w 4875349"/>
              <a:gd name="connsiteY137" fmla="*/ 229136 h 926343"/>
              <a:gd name="connsiteX138" fmla="*/ 3478562 w 4875349"/>
              <a:gd name="connsiteY138" fmla="*/ 241095 h 926343"/>
              <a:gd name="connsiteX139" fmla="*/ 3445681 w 4875349"/>
              <a:gd name="connsiteY139" fmla="*/ 190285 h 926343"/>
              <a:gd name="connsiteX140" fmla="*/ 3478129 w 4875349"/>
              <a:gd name="connsiteY140" fmla="*/ 138829 h 926343"/>
              <a:gd name="connsiteX141" fmla="*/ 3505002 w 4875349"/>
              <a:gd name="connsiteY141" fmla="*/ 149077 h 926343"/>
              <a:gd name="connsiteX142" fmla="*/ 3521774 w 4875349"/>
              <a:gd name="connsiteY142" fmla="*/ 129227 h 926343"/>
              <a:gd name="connsiteX143" fmla="*/ 3476419 w 4875349"/>
              <a:gd name="connsiteY143" fmla="*/ 113000 h 926343"/>
              <a:gd name="connsiteX144" fmla="*/ 3633546 w 4875349"/>
              <a:gd name="connsiteY144" fmla="*/ 264584 h 926343"/>
              <a:gd name="connsiteX145" fmla="*/ 3604096 w 4875349"/>
              <a:gd name="connsiteY145" fmla="*/ 264584 h 926343"/>
              <a:gd name="connsiteX146" fmla="*/ 3602591 w 4875349"/>
              <a:gd name="connsiteY146" fmla="*/ 250282 h 926343"/>
              <a:gd name="connsiteX147" fmla="*/ 3567988 w 4875349"/>
              <a:gd name="connsiteY147" fmla="*/ 268220 h 926343"/>
              <a:gd name="connsiteX148" fmla="*/ 3536166 w 4875349"/>
              <a:gd name="connsiteY148" fmla="*/ 232560 h 926343"/>
              <a:gd name="connsiteX149" fmla="*/ 3536166 w 4875349"/>
              <a:gd name="connsiteY149" fmla="*/ 151221 h 926343"/>
              <a:gd name="connsiteX150" fmla="*/ 3570131 w 4875349"/>
              <a:gd name="connsiteY150" fmla="*/ 151221 h 926343"/>
              <a:gd name="connsiteX151" fmla="*/ 3570131 w 4875349"/>
              <a:gd name="connsiteY151" fmla="*/ 228291 h 926343"/>
              <a:gd name="connsiteX152" fmla="*/ 3581100 w 4875349"/>
              <a:gd name="connsiteY152" fmla="*/ 243239 h 926343"/>
              <a:gd name="connsiteX153" fmla="*/ 3599580 w 4875349"/>
              <a:gd name="connsiteY153" fmla="*/ 230001 h 926343"/>
              <a:gd name="connsiteX154" fmla="*/ 3599580 w 4875349"/>
              <a:gd name="connsiteY154" fmla="*/ 151221 h 926343"/>
              <a:gd name="connsiteX155" fmla="*/ 3633546 w 4875349"/>
              <a:gd name="connsiteY155" fmla="*/ 151221 h 926343"/>
              <a:gd name="connsiteX156" fmla="*/ 3633546 w 4875349"/>
              <a:gd name="connsiteY156" fmla="*/ 264584 h 926343"/>
              <a:gd name="connsiteX157" fmla="*/ 3744461 w 4875349"/>
              <a:gd name="connsiteY157" fmla="*/ 161465 h 926343"/>
              <a:gd name="connsiteX158" fmla="*/ 3732000 w 4875349"/>
              <a:gd name="connsiteY158" fmla="*/ 180466 h 926343"/>
              <a:gd name="connsiteX159" fmla="*/ 3703838 w 4875349"/>
              <a:gd name="connsiteY159" fmla="*/ 171713 h 926343"/>
              <a:gd name="connsiteX160" fmla="*/ 3690076 w 4875349"/>
              <a:gd name="connsiteY160" fmla="*/ 180251 h 926343"/>
              <a:gd name="connsiteX161" fmla="*/ 3713506 w 4875349"/>
              <a:gd name="connsiteY161" fmla="*/ 194768 h 926343"/>
              <a:gd name="connsiteX162" fmla="*/ 3748759 w 4875349"/>
              <a:gd name="connsiteY162" fmla="*/ 230845 h 926343"/>
              <a:gd name="connsiteX163" fmla="*/ 3698022 w 4875349"/>
              <a:gd name="connsiteY163" fmla="*/ 268215 h 926343"/>
              <a:gd name="connsiteX164" fmla="*/ 3650308 w 4875349"/>
              <a:gd name="connsiteY164" fmla="*/ 251342 h 926343"/>
              <a:gd name="connsiteX165" fmla="*/ 3666864 w 4875349"/>
              <a:gd name="connsiteY165" fmla="*/ 232986 h 926343"/>
              <a:gd name="connsiteX166" fmla="*/ 3697167 w 4875349"/>
              <a:gd name="connsiteY166" fmla="*/ 244083 h 926343"/>
              <a:gd name="connsiteX167" fmla="*/ 3713723 w 4875349"/>
              <a:gd name="connsiteY167" fmla="*/ 233417 h 926343"/>
              <a:gd name="connsiteX168" fmla="*/ 3689643 w 4875349"/>
              <a:gd name="connsiteY168" fmla="*/ 217608 h 926343"/>
              <a:gd name="connsiteX169" fmla="*/ 3655895 w 4875349"/>
              <a:gd name="connsiteY169" fmla="*/ 182176 h 926343"/>
              <a:gd name="connsiteX170" fmla="*/ 3702550 w 4875349"/>
              <a:gd name="connsiteY170" fmla="*/ 147594 h 926343"/>
              <a:gd name="connsiteX171" fmla="*/ 3744461 w 4875349"/>
              <a:gd name="connsiteY171" fmla="*/ 161465 h 926343"/>
              <a:gd name="connsiteX172" fmla="*/ 3839894 w 4875349"/>
              <a:gd name="connsiteY172" fmla="*/ 259246 h 926343"/>
              <a:gd name="connsiteX173" fmla="*/ 3808939 w 4875349"/>
              <a:gd name="connsiteY173" fmla="*/ 268215 h 926343"/>
              <a:gd name="connsiteX174" fmla="*/ 3771543 w 4875349"/>
              <a:gd name="connsiteY174" fmla="*/ 227222 h 926343"/>
              <a:gd name="connsiteX175" fmla="*/ 3771543 w 4875349"/>
              <a:gd name="connsiteY175" fmla="*/ 174702 h 926343"/>
              <a:gd name="connsiteX176" fmla="*/ 3755421 w 4875349"/>
              <a:gd name="connsiteY176" fmla="*/ 174702 h 926343"/>
              <a:gd name="connsiteX177" fmla="*/ 3755421 w 4875349"/>
              <a:gd name="connsiteY177" fmla="*/ 151216 h 926343"/>
              <a:gd name="connsiteX178" fmla="*/ 3771543 w 4875349"/>
              <a:gd name="connsiteY178" fmla="*/ 151216 h 926343"/>
              <a:gd name="connsiteX179" fmla="*/ 3771543 w 4875349"/>
              <a:gd name="connsiteY179" fmla="*/ 126667 h 926343"/>
              <a:gd name="connsiteX180" fmla="*/ 3805495 w 4875349"/>
              <a:gd name="connsiteY180" fmla="*/ 122828 h 926343"/>
              <a:gd name="connsiteX181" fmla="*/ 3805495 w 4875349"/>
              <a:gd name="connsiteY181" fmla="*/ 151216 h 926343"/>
              <a:gd name="connsiteX182" fmla="*/ 3831731 w 4875349"/>
              <a:gd name="connsiteY182" fmla="*/ 151216 h 926343"/>
              <a:gd name="connsiteX183" fmla="*/ 3828070 w 4875349"/>
              <a:gd name="connsiteY183" fmla="*/ 174702 h 926343"/>
              <a:gd name="connsiteX184" fmla="*/ 3805495 w 4875349"/>
              <a:gd name="connsiteY184" fmla="*/ 174702 h 926343"/>
              <a:gd name="connsiteX185" fmla="*/ 3805495 w 4875349"/>
              <a:gd name="connsiteY185" fmla="*/ 226792 h 926343"/>
              <a:gd name="connsiteX186" fmla="*/ 3816247 w 4875349"/>
              <a:gd name="connsiteY186" fmla="*/ 241524 h 926343"/>
              <a:gd name="connsiteX187" fmla="*/ 3828504 w 4875349"/>
              <a:gd name="connsiteY187" fmla="*/ 237901 h 926343"/>
              <a:gd name="connsiteX188" fmla="*/ 3839894 w 4875349"/>
              <a:gd name="connsiteY188" fmla="*/ 259246 h 926343"/>
              <a:gd name="connsiteX189" fmla="*/ 3954894 w 4875349"/>
              <a:gd name="connsiteY189" fmla="*/ 208009 h 926343"/>
              <a:gd name="connsiteX190" fmla="*/ 3899004 w 4875349"/>
              <a:gd name="connsiteY190" fmla="*/ 268219 h 926343"/>
              <a:gd name="connsiteX191" fmla="*/ 3843115 w 4875349"/>
              <a:gd name="connsiteY191" fmla="*/ 207794 h 926343"/>
              <a:gd name="connsiteX192" fmla="*/ 3899004 w 4875349"/>
              <a:gd name="connsiteY192" fmla="*/ 147585 h 926343"/>
              <a:gd name="connsiteX193" fmla="*/ 3954894 w 4875349"/>
              <a:gd name="connsiteY193" fmla="*/ 208009 h 926343"/>
              <a:gd name="connsiteX194" fmla="*/ 3878368 w 4875349"/>
              <a:gd name="connsiteY194" fmla="*/ 207794 h 926343"/>
              <a:gd name="connsiteX195" fmla="*/ 3899004 w 4875349"/>
              <a:gd name="connsiteY195" fmla="*/ 243453 h 926343"/>
              <a:gd name="connsiteX196" fmla="*/ 3919641 w 4875349"/>
              <a:gd name="connsiteY196" fmla="*/ 208009 h 926343"/>
              <a:gd name="connsiteX197" fmla="*/ 3899004 w 4875349"/>
              <a:gd name="connsiteY197" fmla="*/ 172350 h 926343"/>
              <a:gd name="connsiteX198" fmla="*/ 3878368 w 4875349"/>
              <a:gd name="connsiteY198" fmla="*/ 207794 h 926343"/>
              <a:gd name="connsiteX199" fmla="*/ 4132231 w 4875349"/>
              <a:gd name="connsiteY199" fmla="*/ 181748 h 926343"/>
              <a:gd name="connsiteX200" fmla="*/ 4132231 w 4875349"/>
              <a:gd name="connsiteY200" fmla="*/ 264582 h 926343"/>
              <a:gd name="connsiteX201" fmla="*/ 4098266 w 4875349"/>
              <a:gd name="connsiteY201" fmla="*/ 264582 h 926343"/>
              <a:gd name="connsiteX202" fmla="*/ 4098266 w 4875349"/>
              <a:gd name="connsiteY202" fmla="*/ 187512 h 926343"/>
              <a:gd name="connsiteX203" fmla="*/ 4088598 w 4875349"/>
              <a:gd name="connsiteY203" fmla="*/ 172349 h 926343"/>
              <a:gd name="connsiteX204" fmla="*/ 4071176 w 4875349"/>
              <a:gd name="connsiteY204" fmla="*/ 187081 h 926343"/>
              <a:gd name="connsiteX205" fmla="*/ 4071176 w 4875349"/>
              <a:gd name="connsiteY205" fmla="*/ 264582 h 926343"/>
              <a:gd name="connsiteX206" fmla="*/ 4037224 w 4875349"/>
              <a:gd name="connsiteY206" fmla="*/ 264582 h 926343"/>
              <a:gd name="connsiteX207" fmla="*/ 4037224 w 4875349"/>
              <a:gd name="connsiteY207" fmla="*/ 187512 h 926343"/>
              <a:gd name="connsiteX208" fmla="*/ 4027543 w 4875349"/>
              <a:gd name="connsiteY208" fmla="*/ 172349 h 926343"/>
              <a:gd name="connsiteX209" fmla="*/ 4010134 w 4875349"/>
              <a:gd name="connsiteY209" fmla="*/ 187081 h 926343"/>
              <a:gd name="connsiteX210" fmla="*/ 4010134 w 4875349"/>
              <a:gd name="connsiteY210" fmla="*/ 264582 h 926343"/>
              <a:gd name="connsiteX211" fmla="*/ 3976168 w 4875349"/>
              <a:gd name="connsiteY211" fmla="*/ 264582 h 926343"/>
              <a:gd name="connsiteX212" fmla="*/ 3976168 w 4875349"/>
              <a:gd name="connsiteY212" fmla="*/ 151219 h 926343"/>
              <a:gd name="connsiteX213" fmla="*/ 4005836 w 4875349"/>
              <a:gd name="connsiteY213" fmla="*/ 151219 h 926343"/>
              <a:gd name="connsiteX214" fmla="*/ 4008208 w 4875349"/>
              <a:gd name="connsiteY214" fmla="*/ 164457 h 926343"/>
              <a:gd name="connsiteX215" fmla="*/ 4041305 w 4875349"/>
              <a:gd name="connsiteY215" fmla="*/ 147583 h 926343"/>
              <a:gd name="connsiteX216" fmla="*/ 4068179 w 4875349"/>
              <a:gd name="connsiteY216" fmla="*/ 165521 h 926343"/>
              <a:gd name="connsiteX217" fmla="*/ 4102347 w 4875349"/>
              <a:gd name="connsiteY217" fmla="*/ 147583 h 926343"/>
              <a:gd name="connsiteX218" fmla="*/ 4132231 w 4875349"/>
              <a:gd name="connsiteY218" fmla="*/ 181748 h 926343"/>
              <a:gd name="connsiteX219" fmla="*/ 4258838 w 4875349"/>
              <a:gd name="connsiteY219" fmla="*/ 217827 h 926343"/>
              <a:gd name="connsiteX220" fmla="*/ 4188115 w 4875349"/>
              <a:gd name="connsiteY220" fmla="*/ 217827 h 926343"/>
              <a:gd name="connsiteX221" fmla="*/ 4214122 w 4875349"/>
              <a:gd name="connsiteY221" fmla="*/ 243656 h 926343"/>
              <a:gd name="connsiteX222" fmla="*/ 4241429 w 4875349"/>
              <a:gd name="connsiteY222" fmla="*/ 233623 h 926343"/>
              <a:gd name="connsiteX223" fmla="*/ 4255394 w 4875349"/>
              <a:gd name="connsiteY223" fmla="*/ 252409 h 926343"/>
              <a:gd name="connsiteX224" fmla="*/ 4210894 w 4875349"/>
              <a:gd name="connsiteY224" fmla="*/ 268219 h 926343"/>
              <a:gd name="connsiteX225" fmla="*/ 4153499 w 4875349"/>
              <a:gd name="connsiteY225" fmla="*/ 208440 h 926343"/>
              <a:gd name="connsiteX226" fmla="*/ 4206812 w 4875349"/>
              <a:gd name="connsiteY226" fmla="*/ 147585 h 926343"/>
              <a:gd name="connsiteX227" fmla="*/ 4259475 w 4875349"/>
              <a:gd name="connsiteY227" fmla="*/ 205666 h 926343"/>
              <a:gd name="connsiteX228" fmla="*/ 4258838 w 4875349"/>
              <a:gd name="connsiteY228" fmla="*/ 217827 h 926343"/>
              <a:gd name="connsiteX229" fmla="*/ 4226161 w 4875349"/>
              <a:gd name="connsiteY229" fmla="*/ 196051 h 926343"/>
              <a:gd name="connsiteX230" fmla="*/ 4207680 w 4875349"/>
              <a:gd name="connsiteY230" fmla="*/ 170006 h 926343"/>
              <a:gd name="connsiteX231" fmla="*/ 4188115 w 4875349"/>
              <a:gd name="connsiteY231" fmla="*/ 197546 h 926343"/>
              <a:gd name="connsiteX232" fmla="*/ 4226161 w 4875349"/>
              <a:gd name="connsiteY232" fmla="*/ 197546 h 926343"/>
              <a:gd name="connsiteX233" fmla="*/ 4226161 w 4875349"/>
              <a:gd name="connsiteY233" fmla="*/ 196051 h 926343"/>
              <a:gd name="connsiteX234" fmla="*/ 4429055 w 4875349"/>
              <a:gd name="connsiteY234" fmla="*/ 117480 h 926343"/>
              <a:gd name="connsiteX235" fmla="*/ 4507732 w 4875349"/>
              <a:gd name="connsiteY235" fmla="*/ 117480 h 926343"/>
              <a:gd name="connsiteX236" fmla="*/ 4505359 w 4875349"/>
              <a:gd name="connsiteY236" fmla="*/ 133716 h 926343"/>
              <a:gd name="connsiteX237" fmla="*/ 4449486 w 4875349"/>
              <a:gd name="connsiteY237" fmla="*/ 133716 h 926343"/>
              <a:gd name="connsiteX238" fmla="*/ 4449486 w 4875349"/>
              <a:gd name="connsiteY238" fmla="*/ 183887 h 926343"/>
              <a:gd name="connsiteX239" fmla="*/ 4497841 w 4875349"/>
              <a:gd name="connsiteY239" fmla="*/ 183887 h 926343"/>
              <a:gd name="connsiteX240" fmla="*/ 4497841 w 4875349"/>
              <a:gd name="connsiteY240" fmla="*/ 199900 h 926343"/>
              <a:gd name="connsiteX241" fmla="*/ 4449486 w 4875349"/>
              <a:gd name="connsiteY241" fmla="*/ 199900 h 926343"/>
              <a:gd name="connsiteX242" fmla="*/ 4449486 w 4875349"/>
              <a:gd name="connsiteY242" fmla="*/ 264584 h 926343"/>
              <a:gd name="connsiteX243" fmla="*/ 4429055 w 4875349"/>
              <a:gd name="connsiteY243" fmla="*/ 264584 h 926343"/>
              <a:gd name="connsiteX244" fmla="*/ 4429055 w 4875349"/>
              <a:gd name="connsiteY244" fmla="*/ 117479 h 926343"/>
              <a:gd name="connsiteX245" fmla="*/ 4557185 w 4875349"/>
              <a:gd name="connsiteY245" fmla="*/ 111507 h 926343"/>
              <a:gd name="connsiteX246" fmla="*/ 4543223 w 4875349"/>
              <a:gd name="connsiteY246" fmla="*/ 124742 h 926343"/>
              <a:gd name="connsiteX247" fmla="*/ 4529461 w 4875349"/>
              <a:gd name="connsiteY247" fmla="*/ 111507 h 926343"/>
              <a:gd name="connsiteX248" fmla="*/ 4543223 w 4875349"/>
              <a:gd name="connsiteY248" fmla="*/ 98050 h 926343"/>
              <a:gd name="connsiteX249" fmla="*/ 4557185 w 4875349"/>
              <a:gd name="connsiteY249" fmla="*/ 111507 h 926343"/>
              <a:gd name="connsiteX250" fmla="*/ 4553313 w 4875349"/>
              <a:gd name="connsiteY250" fmla="*/ 264578 h 926343"/>
              <a:gd name="connsiteX251" fmla="*/ 4533532 w 4875349"/>
              <a:gd name="connsiteY251" fmla="*/ 264578 h 926343"/>
              <a:gd name="connsiteX252" fmla="*/ 4533532 w 4875349"/>
              <a:gd name="connsiteY252" fmla="*/ 152066 h 926343"/>
              <a:gd name="connsiteX253" fmla="*/ 4553313 w 4875349"/>
              <a:gd name="connsiteY253" fmla="*/ 152066 h 926343"/>
              <a:gd name="connsiteX254" fmla="*/ 4553313 w 4875349"/>
              <a:gd name="connsiteY254" fmla="*/ 264578 h 926343"/>
              <a:gd name="connsiteX255" fmla="*/ 4654569 w 4875349"/>
              <a:gd name="connsiteY255" fmla="*/ 150790 h 926343"/>
              <a:gd name="connsiteX256" fmla="*/ 4650909 w 4875349"/>
              <a:gd name="connsiteY256" fmla="*/ 170003 h 926343"/>
              <a:gd name="connsiteX257" fmla="*/ 4641032 w 4875349"/>
              <a:gd name="connsiteY257" fmla="*/ 168713 h 926343"/>
              <a:gd name="connsiteX258" fmla="*/ 4613944 w 4875349"/>
              <a:gd name="connsiteY258" fmla="*/ 200317 h 926343"/>
              <a:gd name="connsiteX259" fmla="*/ 4613944 w 4875349"/>
              <a:gd name="connsiteY259" fmla="*/ 264579 h 926343"/>
              <a:gd name="connsiteX260" fmla="*/ 4594163 w 4875349"/>
              <a:gd name="connsiteY260" fmla="*/ 264579 h 926343"/>
              <a:gd name="connsiteX261" fmla="*/ 4594163 w 4875349"/>
              <a:gd name="connsiteY261" fmla="*/ 152080 h 926343"/>
              <a:gd name="connsiteX262" fmla="*/ 4611147 w 4875349"/>
              <a:gd name="connsiteY262" fmla="*/ 152080 h 926343"/>
              <a:gd name="connsiteX263" fmla="*/ 4613082 w 4875349"/>
              <a:gd name="connsiteY263" fmla="*/ 174915 h 926343"/>
              <a:gd name="connsiteX264" fmla="*/ 4643391 w 4875349"/>
              <a:gd name="connsiteY264" fmla="*/ 149500 h 926343"/>
              <a:gd name="connsiteX265" fmla="*/ 4654568 w 4875349"/>
              <a:gd name="connsiteY265" fmla="*/ 150790 h 926343"/>
              <a:gd name="connsiteX266" fmla="*/ 4746366 w 4875349"/>
              <a:gd name="connsiteY266" fmla="*/ 162322 h 926343"/>
              <a:gd name="connsiteX267" fmla="*/ 4737974 w 4875349"/>
              <a:gd name="connsiteY267" fmla="*/ 174700 h 926343"/>
              <a:gd name="connsiteX268" fmla="*/ 4708539 w 4875349"/>
              <a:gd name="connsiteY268" fmla="*/ 165100 h 926343"/>
              <a:gd name="connsiteX269" fmla="*/ 4687684 w 4875349"/>
              <a:gd name="connsiteY269" fmla="*/ 179823 h 926343"/>
              <a:gd name="connsiteX270" fmla="*/ 4711973 w 4875349"/>
              <a:gd name="connsiteY270" fmla="*/ 197969 h 926343"/>
              <a:gd name="connsiteX271" fmla="*/ 4749588 w 4875349"/>
              <a:gd name="connsiteY271" fmla="*/ 232984 h 926343"/>
              <a:gd name="connsiteX272" fmla="*/ 4704880 w 4875349"/>
              <a:gd name="connsiteY272" fmla="*/ 267143 h 926343"/>
              <a:gd name="connsiteX273" fmla="*/ 4662107 w 4875349"/>
              <a:gd name="connsiteY273" fmla="*/ 252408 h 926343"/>
              <a:gd name="connsiteX274" fmla="*/ 4672635 w 4875349"/>
              <a:gd name="connsiteY274" fmla="*/ 240451 h 926343"/>
              <a:gd name="connsiteX275" fmla="*/ 4704443 w 4875349"/>
              <a:gd name="connsiteY275" fmla="*/ 251341 h 926343"/>
              <a:gd name="connsiteX276" fmla="*/ 4728733 w 4875349"/>
              <a:gd name="connsiteY276" fmla="*/ 234261 h 926343"/>
              <a:gd name="connsiteX277" fmla="*/ 4701221 w 4875349"/>
              <a:gd name="connsiteY277" fmla="*/ 213126 h 926343"/>
              <a:gd name="connsiteX278" fmla="*/ 4667040 w 4875349"/>
              <a:gd name="connsiteY278" fmla="*/ 180468 h 926343"/>
              <a:gd name="connsiteX279" fmla="*/ 4707890 w 4875349"/>
              <a:gd name="connsiteY279" fmla="*/ 149509 h 926343"/>
              <a:gd name="connsiteX280" fmla="*/ 4746366 w 4875349"/>
              <a:gd name="connsiteY280" fmla="*/ 162322 h 926343"/>
              <a:gd name="connsiteX281" fmla="*/ 4834725 w 4875349"/>
              <a:gd name="connsiteY281" fmla="*/ 259455 h 926343"/>
              <a:gd name="connsiteX282" fmla="*/ 4809361 w 4875349"/>
              <a:gd name="connsiteY282" fmla="*/ 267145 h 926343"/>
              <a:gd name="connsiteX283" fmla="*/ 4778827 w 4875349"/>
              <a:gd name="connsiteY283" fmla="*/ 235120 h 926343"/>
              <a:gd name="connsiteX284" fmla="*/ 4778827 w 4875349"/>
              <a:gd name="connsiteY284" fmla="*/ 167223 h 926343"/>
              <a:gd name="connsiteX285" fmla="*/ 4759057 w 4875349"/>
              <a:gd name="connsiteY285" fmla="*/ 167223 h 926343"/>
              <a:gd name="connsiteX286" fmla="*/ 4759057 w 4875349"/>
              <a:gd name="connsiteY286" fmla="*/ 152079 h 926343"/>
              <a:gd name="connsiteX287" fmla="*/ 4778827 w 4875349"/>
              <a:gd name="connsiteY287" fmla="*/ 152079 h 926343"/>
              <a:gd name="connsiteX288" fmla="*/ 4778827 w 4875349"/>
              <a:gd name="connsiteY288" fmla="*/ 126664 h 926343"/>
              <a:gd name="connsiteX289" fmla="*/ 4798608 w 4875349"/>
              <a:gd name="connsiteY289" fmla="*/ 124308 h 926343"/>
              <a:gd name="connsiteX290" fmla="*/ 4798608 w 4875349"/>
              <a:gd name="connsiteY290" fmla="*/ 152079 h 926343"/>
              <a:gd name="connsiteX291" fmla="*/ 4825484 w 4875349"/>
              <a:gd name="connsiteY291" fmla="*/ 152079 h 926343"/>
              <a:gd name="connsiteX292" fmla="*/ 4823323 w 4875349"/>
              <a:gd name="connsiteY292" fmla="*/ 167223 h 926343"/>
              <a:gd name="connsiteX293" fmla="*/ 4798608 w 4875349"/>
              <a:gd name="connsiteY293" fmla="*/ 167223 h 926343"/>
              <a:gd name="connsiteX294" fmla="*/ 4798608 w 4875349"/>
              <a:gd name="connsiteY294" fmla="*/ 234264 h 926343"/>
              <a:gd name="connsiteX295" fmla="*/ 4812146 w 4875349"/>
              <a:gd name="connsiteY295" fmla="*/ 250922 h 926343"/>
              <a:gd name="connsiteX296" fmla="*/ 4827194 w 4875349"/>
              <a:gd name="connsiteY296" fmla="*/ 246432 h 926343"/>
              <a:gd name="connsiteX297" fmla="*/ 4834725 w 4875349"/>
              <a:gd name="connsiteY297" fmla="*/ 259455 h 926343"/>
              <a:gd name="connsiteX298" fmla="*/ 4875350 w 4875349"/>
              <a:gd name="connsiteY298" fmla="*/ 252199 h 926343"/>
              <a:gd name="connsiteX299" fmla="*/ 4860302 w 4875349"/>
              <a:gd name="connsiteY299" fmla="*/ 267145 h 926343"/>
              <a:gd name="connsiteX300" fmla="*/ 4845465 w 4875349"/>
              <a:gd name="connsiteY300" fmla="*/ 252199 h 926343"/>
              <a:gd name="connsiteX301" fmla="*/ 4860302 w 4875349"/>
              <a:gd name="connsiteY301" fmla="*/ 237464 h 926343"/>
              <a:gd name="connsiteX302" fmla="*/ 4875350 w 4875349"/>
              <a:gd name="connsiteY302" fmla="*/ 252199 h 926343"/>
              <a:gd name="connsiteX303" fmla="*/ 4354043 w 4875349"/>
              <a:gd name="connsiteY303" fmla="*/ 149509 h 926343"/>
              <a:gd name="connsiteX304" fmla="*/ 4348673 w 4875349"/>
              <a:gd name="connsiteY304" fmla="*/ 182179 h 926343"/>
              <a:gd name="connsiteX305" fmla="*/ 4338355 w 4875349"/>
              <a:gd name="connsiteY305" fmla="*/ 180684 h 926343"/>
              <a:gd name="connsiteX306" fmla="*/ 4314709 w 4875349"/>
              <a:gd name="connsiteY306" fmla="*/ 208439 h 926343"/>
              <a:gd name="connsiteX307" fmla="*/ 4314709 w 4875349"/>
              <a:gd name="connsiteY307" fmla="*/ 264582 h 926343"/>
              <a:gd name="connsiteX308" fmla="*/ 4280743 w 4875349"/>
              <a:gd name="connsiteY308" fmla="*/ 264582 h 926343"/>
              <a:gd name="connsiteX309" fmla="*/ 4280743 w 4875349"/>
              <a:gd name="connsiteY309" fmla="*/ 151219 h 926343"/>
              <a:gd name="connsiteX310" fmla="*/ 4310397 w 4875349"/>
              <a:gd name="connsiteY310" fmla="*/ 151219 h 926343"/>
              <a:gd name="connsiteX311" fmla="*/ 4313203 w 4875349"/>
              <a:gd name="connsiteY311" fmla="*/ 173210 h 926343"/>
              <a:gd name="connsiteX312" fmla="*/ 4342653 w 4875349"/>
              <a:gd name="connsiteY312" fmla="*/ 148014 h 926343"/>
              <a:gd name="connsiteX313" fmla="*/ 4354043 w 4875349"/>
              <a:gd name="connsiteY313" fmla="*/ 149509 h 926343"/>
              <a:gd name="connsiteX314" fmla="*/ 2977074 w 4875349"/>
              <a:gd name="connsiteY314" fmla="*/ 861572 h 926343"/>
              <a:gd name="connsiteX315" fmla="*/ 2938180 w 4875349"/>
              <a:gd name="connsiteY315" fmla="*/ 819204 h 926343"/>
              <a:gd name="connsiteX316" fmla="*/ 2984781 w 4875349"/>
              <a:gd name="connsiteY316" fmla="*/ 776658 h 926343"/>
              <a:gd name="connsiteX317" fmla="*/ 3023675 w 4875349"/>
              <a:gd name="connsiteY317" fmla="*/ 819204 h 926343"/>
              <a:gd name="connsiteX318" fmla="*/ 2977074 w 4875349"/>
              <a:gd name="connsiteY318" fmla="*/ 861572 h 926343"/>
              <a:gd name="connsiteX319" fmla="*/ 2984780 w 4875349"/>
              <a:gd name="connsiteY319" fmla="*/ 782889 h 926343"/>
              <a:gd name="connsiteX320" fmla="*/ 2944273 w 4875349"/>
              <a:gd name="connsiteY320" fmla="*/ 819738 h 926343"/>
              <a:gd name="connsiteX321" fmla="*/ 2977074 w 4875349"/>
              <a:gd name="connsiteY321" fmla="*/ 855519 h 926343"/>
              <a:gd name="connsiteX322" fmla="*/ 3017580 w 4875349"/>
              <a:gd name="connsiteY322" fmla="*/ 818670 h 926343"/>
              <a:gd name="connsiteX323" fmla="*/ 2984780 w 4875349"/>
              <a:gd name="connsiteY323" fmla="*/ 782889 h 926343"/>
              <a:gd name="connsiteX324" fmla="*/ 2988007 w 4875349"/>
              <a:gd name="connsiteY324" fmla="*/ 824366 h 926343"/>
              <a:gd name="connsiteX325" fmla="*/ 3001629 w 4875349"/>
              <a:gd name="connsiteY325" fmla="*/ 806743 h 926343"/>
              <a:gd name="connsiteX326" fmla="*/ 2988186 w 4875349"/>
              <a:gd name="connsiteY326" fmla="*/ 794104 h 926343"/>
              <a:gd name="connsiteX327" fmla="*/ 2971697 w 4875349"/>
              <a:gd name="connsiteY327" fmla="*/ 794104 h 926343"/>
              <a:gd name="connsiteX328" fmla="*/ 2962197 w 4875349"/>
              <a:gd name="connsiteY328" fmla="*/ 844126 h 926343"/>
              <a:gd name="connsiteX329" fmla="*/ 2968470 w 4875349"/>
              <a:gd name="connsiteY329" fmla="*/ 844126 h 926343"/>
              <a:gd name="connsiteX330" fmla="*/ 2972055 w 4875349"/>
              <a:gd name="connsiteY330" fmla="*/ 824900 h 926343"/>
              <a:gd name="connsiteX331" fmla="*/ 2981554 w 4875349"/>
              <a:gd name="connsiteY331" fmla="*/ 824900 h 926343"/>
              <a:gd name="connsiteX332" fmla="*/ 2988186 w 4875349"/>
              <a:gd name="connsiteY332" fmla="*/ 844126 h 926343"/>
              <a:gd name="connsiteX333" fmla="*/ 2994818 w 4875349"/>
              <a:gd name="connsiteY333" fmla="*/ 844126 h 926343"/>
              <a:gd name="connsiteX334" fmla="*/ 2988007 w 4875349"/>
              <a:gd name="connsiteY334" fmla="*/ 824366 h 926343"/>
              <a:gd name="connsiteX335" fmla="*/ 2988007 w 4875349"/>
              <a:gd name="connsiteY335" fmla="*/ 824366 h 926343"/>
              <a:gd name="connsiteX336" fmla="*/ 2995355 w 4875349"/>
              <a:gd name="connsiteY336" fmla="*/ 808879 h 926343"/>
              <a:gd name="connsiteX337" fmla="*/ 2983526 w 4875349"/>
              <a:gd name="connsiteY337" fmla="*/ 818848 h 926343"/>
              <a:gd name="connsiteX338" fmla="*/ 2973130 w 4875349"/>
              <a:gd name="connsiteY338" fmla="*/ 818848 h 926343"/>
              <a:gd name="connsiteX339" fmla="*/ 2976715 w 4875349"/>
              <a:gd name="connsiteY339" fmla="*/ 800156 h 926343"/>
              <a:gd name="connsiteX340" fmla="*/ 2988186 w 4875349"/>
              <a:gd name="connsiteY340" fmla="*/ 800156 h 926343"/>
              <a:gd name="connsiteX341" fmla="*/ 2995355 w 4875349"/>
              <a:gd name="connsiteY341" fmla="*/ 808879 h 926343"/>
              <a:gd name="connsiteX342" fmla="*/ 1498985 w 4875349"/>
              <a:gd name="connsiteY342" fmla="*/ 270374 h 926343"/>
              <a:gd name="connsiteX343" fmla="*/ 1453828 w 4875349"/>
              <a:gd name="connsiteY343" fmla="*/ 227989 h 926343"/>
              <a:gd name="connsiteX344" fmla="*/ 1501834 w 4875349"/>
              <a:gd name="connsiteY344" fmla="*/ 195649 h 926343"/>
              <a:gd name="connsiteX345" fmla="*/ 1597180 w 4875349"/>
              <a:gd name="connsiteY345" fmla="*/ 222644 h 926343"/>
              <a:gd name="connsiteX346" fmla="*/ 1613401 w 4875349"/>
              <a:gd name="connsiteY346" fmla="*/ 137908 h 926343"/>
              <a:gd name="connsiteX347" fmla="*/ 1507205 w 4875349"/>
              <a:gd name="connsiteY347" fmla="*/ 113411 h 926343"/>
              <a:gd name="connsiteX348" fmla="*/ 1340970 w 4875349"/>
              <a:gd name="connsiteY348" fmla="*/ 243327 h 926343"/>
              <a:gd name="connsiteX349" fmla="*/ 1420637 w 4875349"/>
              <a:gd name="connsiteY349" fmla="*/ 342530 h 926343"/>
              <a:gd name="connsiteX350" fmla="*/ 1467348 w 4875349"/>
              <a:gd name="connsiteY350" fmla="*/ 390260 h 926343"/>
              <a:gd name="connsiteX351" fmla="*/ 1420899 w 4875349"/>
              <a:gd name="connsiteY351" fmla="*/ 423380 h 926343"/>
              <a:gd name="connsiteX352" fmla="*/ 1316170 w 4875349"/>
              <a:gd name="connsiteY352" fmla="*/ 394058 h 926343"/>
              <a:gd name="connsiteX353" fmla="*/ 1299920 w 4875349"/>
              <a:gd name="connsiteY353" fmla="*/ 478961 h 926343"/>
              <a:gd name="connsiteX354" fmla="*/ 1410107 w 4875349"/>
              <a:gd name="connsiteY354" fmla="*/ 504852 h 926343"/>
              <a:gd name="connsiteX355" fmla="*/ 1549514 w 4875349"/>
              <a:gd name="connsiteY355" fmla="*/ 458861 h 926343"/>
              <a:gd name="connsiteX356" fmla="*/ 1584075 w 4875349"/>
              <a:gd name="connsiteY356" fmla="*/ 372652 h 926343"/>
              <a:gd name="connsiteX357" fmla="*/ 1498985 w 4875349"/>
              <a:gd name="connsiteY357" fmla="*/ 270374 h 926343"/>
              <a:gd name="connsiteX358" fmla="*/ 970363 w 4875349"/>
              <a:gd name="connsiteY358" fmla="*/ 127406 h 926343"/>
              <a:gd name="connsiteX359" fmla="*/ 952989 w 4875349"/>
              <a:gd name="connsiteY359" fmla="*/ 217938 h 926343"/>
              <a:gd name="connsiteX360" fmla="*/ 891107 w 4875349"/>
              <a:gd name="connsiteY360" fmla="*/ 203307 h 926343"/>
              <a:gd name="connsiteX361" fmla="*/ 763747 w 4875349"/>
              <a:gd name="connsiteY361" fmla="*/ 338997 h 926343"/>
              <a:gd name="connsiteX362" fmla="*/ 837167 w 4875349"/>
              <a:gd name="connsiteY362" fmla="*/ 415748 h 926343"/>
              <a:gd name="connsiteX363" fmla="*/ 930953 w 4875349"/>
              <a:gd name="connsiteY363" fmla="*/ 391664 h 926343"/>
              <a:gd name="connsiteX364" fmla="*/ 913201 w 4875349"/>
              <a:gd name="connsiteY364" fmla="*/ 484779 h 926343"/>
              <a:gd name="connsiteX365" fmla="*/ 805571 w 4875349"/>
              <a:gd name="connsiteY365" fmla="*/ 504852 h 926343"/>
              <a:gd name="connsiteX366" fmla="*/ 646266 w 4875349"/>
              <a:gd name="connsiteY366" fmla="*/ 351250 h 926343"/>
              <a:gd name="connsiteX367" fmla="*/ 892662 w 4875349"/>
              <a:gd name="connsiteY367" fmla="*/ 114188 h 926343"/>
              <a:gd name="connsiteX368" fmla="*/ 970363 w 4875349"/>
              <a:gd name="connsiteY368" fmla="*/ 127406 h 926343"/>
              <a:gd name="connsiteX369" fmla="*/ 2778278 w 4875349"/>
              <a:gd name="connsiteY369" fmla="*/ 343325 h 926343"/>
              <a:gd name="connsiteX370" fmla="*/ 2993476 w 4875349"/>
              <a:gd name="connsiteY370" fmla="*/ 302896 h 926343"/>
              <a:gd name="connsiteX371" fmla="*/ 3023855 w 4875349"/>
              <a:gd name="connsiteY371" fmla="*/ 226484 h 926343"/>
              <a:gd name="connsiteX372" fmla="*/ 2892289 w 4875349"/>
              <a:gd name="connsiteY372" fmla="*/ 113423 h 926343"/>
              <a:gd name="connsiteX373" fmla="*/ 2730905 w 4875349"/>
              <a:gd name="connsiteY373" fmla="*/ 187174 h 926343"/>
              <a:gd name="connsiteX374" fmla="*/ 2672078 w 4875349"/>
              <a:gd name="connsiteY374" fmla="*/ 346655 h 926343"/>
              <a:gd name="connsiteX375" fmla="*/ 2836038 w 4875349"/>
              <a:gd name="connsiteY375" fmla="*/ 504881 h 926343"/>
              <a:gd name="connsiteX376" fmla="*/ 2976777 w 4875349"/>
              <a:gd name="connsiteY376" fmla="*/ 474840 h 926343"/>
              <a:gd name="connsiteX377" fmla="*/ 2994734 w 4875349"/>
              <a:gd name="connsiteY377" fmla="*/ 381111 h 926343"/>
              <a:gd name="connsiteX378" fmla="*/ 2863005 w 4875349"/>
              <a:gd name="connsiteY378" fmla="*/ 418032 h 926343"/>
              <a:gd name="connsiteX379" fmla="*/ 2778278 w 4875349"/>
              <a:gd name="connsiteY379" fmla="*/ 343325 h 926343"/>
              <a:gd name="connsiteX380" fmla="*/ 2878412 w 4875349"/>
              <a:gd name="connsiteY380" fmla="*/ 194883 h 926343"/>
              <a:gd name="connsiteX381" fmla="*/ 2909510 w 4875349"/>
              <a:gd name="connsiteY381" fmla="*/ 249117 h 926343"/>
              <a:gd name="connsiteX382" fmla="*/ 2790539 w 4875349"/>
              <a:gd name="connsiteY382" fmla="*/ 271078 h 926343"/>
              <a:gd name="connsiteX383" fmla="*/ 2878412 w 4875349"/>
              <a:gd name="connsiteY383" fmla="*/ 194883 h 926343"/>
              <a:gd name="connsiteX384" fmla="*/ 2693048 w 4875349"/>
              <a:gd name="connsiteY384" fmla="*/ 127406 h 926343"/>
              <a:gd name="connsiteX385" fmla="*/ 2675674 w 4875349"/>
              <a:gd name="connsiteY385" fmla="*/ 217938 h 926343"/>
              <a:gd name="connsiteX386" fmla="*/ 2613791 w 4875349"/>
              <a:gd name="connsiteY386" fmla="*/ 203307 h 926343"/>
              <a:gd name="connsiteX387" fmla="*/ 2486431 w 4875349"/>
              <a:gd name="connsiteY387" fmla="*/ 338997 h 926343"/>
              <a:gd name="connsiteX388" fmla="*/ 2559852 w 4875349"/>
              <a:gd name="connsiteY388" fmla="*/ 415748 h 926343"/>
              <a:gd name="connsiteX389" fmla="*/ 2653638 w 4875349"/>
              <a:gd name="connsiteY389" fmla="*/ 391664 h 926343"/>
              <a:gd name="connsiteX390" fmla="*/ 2635886 w 4875349"/>
              <a:gd name="connsiteY390" fmla="*/ 484779 h 926343"/>
              <a:gd name="connsiteX391" fmla="*/ 2528256 w 4875349"/>
              <a:gd name="connsiteY391" fmla="*/ 504852 h 926343"/>
              <a:gd name="connsiteX392" fmla="*/ 2368950 w 4875349"/>
              <a:gd name="connsiteY392" fmla="*/ 351250 h 926343"/>
              <a:gd name="connsiteX393" fmla="*/ 2615346 w 4875349"/>
              <a:gd name="connsiteY393" fmla="*/ 114188 h 926343"/>
              <a:gd name="connsiteX394" fmla="*/ 2693048 w 4875349"/>
              <a:gd name="connsiteY394" fmla="*/ 127406 h 926343"/>
              <a:gd name="connsiteX395" fmla="*/ 2329634 w 4875349"/>
              <a:gd name="connsiteY395" fmla="*/ 152058 h 926343"/>
              <a:gd name="connsiteX396" fmla="*/ 2229388 w 4875349"/>
              <a:gd name="connsiteY396" fmla="*/ 113412 h 926343"/>
              <a:gd name="connsiteX397" fmla="*/ 2074640 w 4875349"/>
              <a:gd name="connsiteY397" fmla="*/ 176365 h 926343"/>
              <a:gd name="connsiteX398" fmla="*/ 1995666 w 4875349"/>
              <a:gd name="connsiteY398" fmla="*/ 374196 h 926343"/>
              <a:gd name="connsiteX399" fmla="*/ 2103884 w 4875349"/>
              <a:gd name="connsiteY399" fmla="*/ 505631 h 926343"/>
              <a:gd name="connsiteX400" fmla="*/ 2216888 w 4875349"/>
              <a:gd name="connsiteY400" fmla="*/ 424869 h 926343"/>
              <a:gd name="connsiteX401" fmla="*/ 2202971 w 4875349"/>
              <a:gd name="connsiteY401" fmla="*/ 497208 h 926343"/>
              <a:gd name="connsiteX402" fmla="*/ 2310065 w 4875349"/>
              <a:gd name="connsiteY402" fmla="*/ 497208 h 926343"/>
              <a:gd name="connsiteX403" fmla="*/ 2350499 w 4875349"/>
              <a:gd name="connsiteY403" fmla="*/ 287037 h 926343"/>
              <a:gd name="connsiteX404" fmla="*/ 2329634 w 4875349"/>
              <a:gd name="connsiteY404" fmla="*/ 152058 h 926343"/>
              <a:gd name="connsiteX405" fmla="*/ 2237095 w 4875349"/>
              <a:gd name="connsiteY405" fmla="*/ 310500 h 926343"/>
              <a:gd name="connsiteX406" fmla="*/ 2149081 w 4875349"/>
              <a:gd name="connsiteY406" fmla="*/ 414918 h 926343"/>
              <a:gd name="connsiteX407" fmla="*/ 2108903 w 4875349"/>
              <a:gd name="connsiteY407" fmla="*/ 351174 h 926343"/>
              <a:gd name="connsiteX408" fmla="*/ 2207291 w 4875349"/>
              <a:gd name="connsiteY408" fmla="*/ 197893 h 926343"/>
              <a:gd name="connsiteX409" fmla="*/ 2247393 w 4875349"/>
              <a:gd name="connsiteY409" fmla="*/ 238683 h 926343"/>
              <a:gd name="connsiteX410" fmla="*/ 2237095 w 4875349"/>
              <a:gd name="connsiteY410" fmla="*/ 310500 h 926343"/>
              <a:gd name="connsiteX411" fmla="*/ 606951 w 4875349"/>
              <a:gd name="connsiteY411" fmla="*/ 152058 h 926343"/>
              <a:gd name="connsiteX412" fmla="*/ 506706 w 4875349"/>
              <a:gd name="connsiteY412" fmla="*/ 113412 h 926343"/>
              <a:gd name="connsiteX413" fmla="*/ 351958 w 4875349"/>
              <a:gd name="connsiteY413" fmla="*/ 176365 h 926343"/>
              <a:gd name="connsiteX414" fmla="*/ 272985 w 4875349"/>
              <a:gd name="connsiteY414" fmla="*/ 374196 h 926343"/>
              <a:gd name="connsiteX415" fmla="*/ 381203 w 4875349"/>
              <a:gd name="connsiteY415" fmla="*/ 505631 h 926343"/>
              <a:gd name="connsiteX416" fmla="*/ 494206 w 4875349"/>
              <a:gd name="connsiteY416" fmla="*/ 424869 h 926343"/>
              <a:gd name="connsiteX417" fmla="*/ 480290 w 4875349"/>
              <a:gd name="connsiteY417" fmla="*/ 497208 h 926343"/>
              <a:gd name="connsiteX418" fmla="*/ 587383 w 4875349"/>
              <a:gd name="connsiteY418" fmla="*/ 497208 h 926343"/>
              <a:gd name="connsiteX419" fmla="*/ 627817 w 4875349"/>
              <a:gd name="connsiteY419" fmla="*/ 287037 h 926343"/>
              <a:gd name="connsiteX420" fmla="*/ 606951 w 4875349"/>
              <a:gd name="connsiteY420" fmla="*/ 152058 h 926343"/>
              <a:gd name="connsiteX421" fmla="*/ 514414 w 4875349"/>
              <a:gd name="connsiteY421" fmla="*/ 310500 h 926343"/>
              <a:gd name="connsiteX422" fmla="*/ 426399 w 4875349"/>
              <a:gd name="connsiteY422" fmla="*/ 414918 h 926343"/>
              <a:gd name="connsiteX423" fmla="*/ 386220 w 4875349"/>
              <a:gd name="connsiteY423" fmla="*/ 351174 h 926343"/>
              <a:gd name="connsiteX424" fmla="*/ 484610 w 4875349"/>
              <a:gd name="connsiteY424" fmla="*/ 197893 h 926343"/>
              <a:gd name="connsiteX425" fmla="*/ 524712 w 4875349"/>
              <a:gd name="connsiteY425" fmla="*/ 238683 h 926343"/>
              <a:gd name="connsiteX426" fmla="*/ 514414 w 4875349"/>
              <a:gd name="connsiteY426" fmla="*/ 310500 h 926343"/>
              <a:gd name="connsiteX427" fmla="*/ 1865864 w 4875349"/>
              <a:gd name="connsiteY427" fmla="*/ 113412 h 926343"/>
              <a:gd name="connsiteX428" fmla="*/ 1749875 w 4875349"/>
              <a:gd name="connsiteY428" fmla="*/ 180686 h 926343"/>
              <a:gd name="connsiteX429" fmla="*/ 1761420 w 4875349"/>
              <a:gd name="connsiteY429" fmla="*/ 120329 h 926343"/>
              <a:gd name="connsiteX430" fmla="*/ 1662666 w 4875349"/>
              <a:gd name="connsiteY430" fmla="*/ 120329 h 926343"/>
              <a:gd name="connsiteX431" fmla="*/ 1567483 w 4875349"/>
              <a:gd name="connsiteY431" fmla="*/ 617550 h 926343"/>
              <a:gd name="connsiteX432" fmla="*/ 1679604 w 4875349"/>
              <a:gd name="connsiteY432" fmla="*/ 617550 h 926343"/>
              <a:gd name="connsiteX433" fmla="*/ 1708085 w 4875349"/>
              <a:gd name="connsiteY433" fmla="*/ 468046 h 926343"/>
              <a:gd name="connsiteX434" fmla="*/ 1782974 w 4875349"/>
              <a:gd name="connsiteY434" fmla="*/ 505635 h 926343"/>
              <a:gd name="connsiteX435" fmla="*/ 1864479 w 4875349"/>
              <a:gd name="connsiteY435" fmla="*/ 483389 h 926343"/>
              <a:gd name="connsiteX436" fmla="*/ 1988181 w 4875349"/>
              <a:gd name="connsiteY436" fmla="*/ 256331 h 926343"/>
              <a:gd name="connsiteX437" fmla="*/ 1865864 w 4875349"/>
              <a:gd name="connsiteY437" fmla="*/ 113412 h 926343"/>
              <a:gd name="connsiteX438" fmla="*/ 1769434 w 4875349"/>
              <a:gd name="connsiteY438" fmla="*/ 421096 h 926343"/>
              <a:gd name="connsiteX439" fmla="*/ 1735618 w 4875349"/>
              <a:gd name="connsiteY439" fmla="*/ 323009 h 926343"/>
              <a:gd name="connsiteX440" fmla="*/ 1826299 w 4875349"/>
              <a:gd name="connsiteY440" fmla="*/ 204083 h 926343"/>
              <a:gd name="connsiteX441" fmla="*/ 1871576 w 4875349"/>
              <a:gd name="connsiteY441" fmla="*/ 264766 h 926343"/>
              <a:gd name="connsiteX442" fmla="*/ 1769434 w 4875349"/>
              <a:gd name="connsiteY442" fmla="*/ 421096 h 926343"/>
              <a:gd name="connsiteX443" fmla="*/ 312690 w 4875349"/>
              <a:gd name="connsiteY443" fmla="*/ 112292 h 926343"/>
              <a:gd name="connsiteX444" fmla="*/ 290790 w 4875349"/>
              <a:gd name="connsiteY444" fmla="*/ 226685 h 926343"/>
              <a:gd name="connsiteX445" fmla="*/ 142422 w 4875349"/>
              <a:gd name="connsiteY445" fmla="*/ 345714 h 926343"/>
              <a:gd name="connsiteX446" fmla="*/ 112141 w 4875349"/>
              <a:gd name="connsiteY446" fmla="*/ 503840 h 926343"/>
              <a:gd name="connsiteX447" fmla="*/ 0 w 4875349"/>
              <a:gd name="connsiteY447" fmla="*/ 503840 h 926343"/>
              <a:gd name="connsiteX448" fmla="*/ 73440 w 4875349"/>
              <a:gd name="connsiteY448" fmla="*/ 120329 h 926343"/>
              <a:gd name="connsiteX449" fmla="*/ 172185 w 4875349"/>
              <a:gd name="connsiteY449" fmla="*/ 120329 h 926343"/>
              <a:gd name="connsiteX450" fmla="*/ 156202 w 4875349"/>
              <a:gd name="connsiteY450" fmla="*/ 203879 h 926343"/>
              <a:gd name="connsiteX451" fmla="*/ 312690 w 4875349"/>
              <a:gd name="connsiteY451" fmla="*/ 112292 h 926343"/>
              <a:gd name="connsiteX452" fmla="*/ 944243 w 4875349"/>
              <a:gd name="connsiteY452" fmla="*/ 497208 h 926343"/>
              <a:gd name="connsiteX453" fmla="*/ 1039422 w 4875349"/>
              <a:gd name="connsiteY453" fmla="*/ 0 h 926343"/>
              <a:gd name="connsiteX454" fmla="*/ 1150777 w 4875349"/>
              <a:gd name="connsiteY454" fmla="*/ 0 h 926343"/>
              <a:gd name="connsiteX455" fmla="*/ 1094906 w 4875349"/>
              <a:gd name="connsiteY455" fmla="*/ 291909 h 926343"/>
              <a:gd name="connsiteX456" fmla="*/ 1239347 w 4875349"/>
              <a:gd name="connsiteY456" fmla="*/ 120329 h 926343"/>
              <a:gd name="connsiteX457" fmla="*/ 1361754 w 4875349"/>
              <a:gd name="connsiteY457" fmla="*/ 120329 h 926343"/>
              <a:gd name="connsiteX458" fmla="*/ 1212060 w 4875349"/>
              <a:gd name="connsiteY458" fmla="*/ 293812 h 926343"/>
              <a:gd name="connsiteX459" fmla="*/ 1294315 w 4875349"/>
              <a:gd name="connsiteY459" fmla="*/ 497208 h 926343"/>
              <a:gd name="connsiteX460" fmla="*/ 1173734 w 4875349"/>
              <a:gd name="connsiteY460" fmla="*/ 497208 h 926343"/>
              <a:gd name="connsiteX461" fmla="*/ 1094235 w 4875349"/>
              <a:gd name="connsiteY461" fmla="*/ 295415 h 926343"/>
              <a:gd name="connsiteX462" fmla="*/ 1055611 w 4875349"/>
              <a:gd name="connsiteY462" fmla="*/ 497208 h 926343"/>
              <a:gd name="connsiteX463" fmla="*/ 944243 w 4875349"/>
              <a:gd name="connsiteY463" fmla="*/ 497208 h 926343"/>
              <a:gd name="connsiteX464" fmla="*/ 2280316 w 4875349"/>
              <a:gd name="connsiteY464" fmla="*/ 695157 h 926343"/>
              <a:gd name="connsiteX465" fmla="*/ 2187788 w 4875349"/>
              <a:gd name="connsiteY465" fmla="*/ 795876 h 926343"/>
              <a:gd name="connsiteX466" fmla="*/ 2253291 w 4875349"/>
              <a:gd name="connsiteY466" fmla="*/ 861573 h 926343"/>
              <a:gd name="connsiteX467" fmla="*/ 2345820 w 4875349"/>
              <a:gd name="connsiteY467" fmla="*/ 760854 h 926343"/>
              <a:gd name="connsiteX468" fmla="*/ 2280316 w 4875349"/>
              <a:gd name="connsiteY468" fmla="*/ 695157 h 926343"/>
              <a:gd name="connsiteX469" fmla="*/ 2275683 w 4875349"/>
              <a:gd name="connsiteY469" fmla="*/ 724555 h 926343"/>
              <a:gd name="connsiteX470" fmla="*/ 2306312 w 4875349"/>
              <a:gd name="connsiteY470" fmla="*/ 761174 h 926343"/>
              <a:gd name="connsiteX471" fmla="*/ 2258568 w 4875349"/>
              <a:gd name="connsiteY471" fmla="*/ 832175 h 926343"/>
              <a:gd name="connsiteX472" fmla="*/ 2227296 w 4875349"/>
              <a:gd name="connsiteY472" fmla="*/ 794885 h 926343"/>
              <a:gd name="connsiteX473" fmla="*/ 2275683 w 4875349"/>
              <a:gd name="connsiteY473" fmla="*/ 724555 h 926343"/>
              <a:gd name="connsiteX474" fmla="*/ 2541237 w 4875349"/>
              <a:gd name="connsiteY474" fmla="*/ 695157 h 926343"/>
              <a:gd name="connsiteX475" fmla="*/ 2448709 w 4875349"/>
              <a:gd name="connsiteY475" fmla="*/ 795876 h 926343"/>
              <a:gd name="connsiteX476" fmla="*/ 2514212 w 4875349"/>
              <a:gd name="connsiteY476" fmla="*/ 861573 h 926343"/>
              <a:gd name="connsiteX477" fmla="*/ 2606741 w 4875349"/>
              <a:gd name="connsiteY477" fmla="*/ 760854 h 926343"/>
              <a:gd name="connsiteX478" fmla="*/ 2541237 w 4875349"/>
              <a:gd name="connsiteY478" fmla="*/ 695157 h 926343"/>
              <a:gd name="connsiteX479" fmla="*/ 2536604 w 4875349"/>
              <a:gd name="connsiteY479" fmla="*/ 724555 h 926343"/>
              <a:gd name="connsiteX480" fmla="*/ 2567233 w 4875349"/>
              <a:gd name="connsiteY480" fmla="*/ 761174 h 926343"/>
              <a:gd name="connsiteX481" fmla="*/ 2519488 w 4875349"/>
              <a:gd name="connsiteY481" fmla="*/ 832175 h 926343"/>
              <a:gd name="connsiteX482" fmla="*/ 2488217 w 4875349"/>
              <a:gd name="connsiteY482" fmla="*/ 794885 h 926343"/>
              <a:gd name="connsiteX483" fmla="*/ 2536604 w 4875349"/>
              <a:gd name="connsiteY483" fmla="*/ 724555 h 926343"/>
              <a:gd name="connsiteX484" fmla="*/ 2441704 w 4875349"/>
              <a:gd name="connsiteY484" fmla="*/ 646623 h 926343"/>
              <a:gd name="connsiteX485" fmla="*/ 2400932 w 4875349"/>
              <a:gd name="connsiteY485" fmla="*/ 857994 h 926343"/>
              <a:gd name="connsiteX486" fmla="*/ 2362712 w 4875349"/>
              <a:gd name="connsiteY486" fmla="*/ 857994 h 926343"/>
              <a:gd name="connsiteX487" fmla="*/ 2403190 w 4875349"/>
              <a:gd name="connsiteY487" fmla="*/ 646623 h 926343"/>
              <a:gd name="connsiteX488" fmla="*/ 2441704 w 4875349"/>
              <a:gd name="connsiteY488" fmla="*/ 646623 h 926343"/>
              <a:gd name="connsiteX489" fmla="*/ 1819430 w 4875349"/>
              <a:gd name="connsiteY489" fmla="*/ 701970 h 926343"/>
              <a:gd name="connsiteX490" fmla="*/ 1813367 w 4875349"/>
              <a:gd name="connsiteY490" fmla="*/ 733641 h 926343"/>
              <a:gd name="connsiteX491" fmla="*/ 1783826 w 4875349"/>
              <a:gd name="connsiteY491" fmla="*/ 726217 h 926343"/>
              <a:gd name="connsiteX492" fmla="*/ 1723567 w 4875349"/>
              <a:gd name="connsiteY492" fmla="*/ 793256 h 926343"/>
              <a:gd name="connsiteX493" fmla="*/ 1758796 w 4875349"/>
              <a:gd name="connsiteY493" fmla="*/ 830514 h 926343"/>
              <a:gd name="connsiteX494" fmla="*/ 1801876 w 4875349"/>
              <a:gd name="connsiteY494" fmla="*/ 818489 h 926343"/>
              <a:gd name="connsiteX495" fmla="*/ 1795551 w 4875349"/>
              <a:gd name="connsiteY495" fmla="*/ 851535 h 926343"/>
              <a:gd name="connsiteX496" fmla="*/ 1748275 w 4875349"/>
              <a:gd name="connsiteY496" fmla="*/ 861253 h 926343"/>
              <a:gd name="connsiteX497" fmla="*/ 1683415 w 4875349"/>
              <a:gd name="connsiteY497" fmla="*/ 797825 h 926343"/>
              <a:gd name="connsiteX498" fmla="*/ 1785145 w 4875349"/>
              <a:gd name="connsiteY498" fmla="*/ 695477 h 926343"/>
              <a:gd name="connsiteX499" fmla="*/ 1819430 w 4875349"/>
              <a:gd name="connsiteY499" fmla="*/ 701970 h 926343"/>
              <a:gd name="connsiteX500" fmla="*/ 1599026 w 4875349"/>
              <a:gd name="connsiteY500" fmla="*/ 831504 h 926343"/>
              <a:gd name="connsiteX501" fmla="*/ 1657309 w 4875349"/>
              <a:gd name="connsiteY501" fmla="*/ 812360 h 926343"/>
              <a:gd name="connsiteX502" fmla="*/ 1650747 w 4875349"/>
              <a:gd name="connsiteY502" fmla="*/ 846645 h 926343"/>
              <a:gd name="connsiteX503" fmla="*/ 1590147 w 4875349"/>
              <a:gd name="connsiteY503" fmla="*/ 861573 h 926343"/>
              <a:gd name="connsiteX504" fmla="*/ 1524289 w 4875349"/>
              <a:gd name="connsiteY504" fmla="*/ 795524 h 926343"/>
              <a:gd name="connsiteX505" fmla="*/ 1615145 w 4875349"/>
              <a:gd name="connsiteY505" fmla="*/ 695157 h 926343"/>
              <a:gd name="connsiteX506" fmla="*/ 1666846 w 4875349"/>
              <a:gd name="connsiteY506" fmla="*/ 739957 h 926343"/>
              <a:gd name="connsiteX507" fmla="*/ 1561835 w 4875349"/>
              <a:gd name="connsiteY507" fmla="*/ 792585 h 926343"/>
              <a:gd name="connsiteX508" fmla="*/ 1566114 w 4875349"/>
              <a:gd name="connsiteY508" fmla="*/ 815176 h 926343"/>
              <a:gd name="connsiteX509" fmla="*/ 1599026 w 4875349"/>
              <a:gd name="connsiteY509" fmla="*/ 831504 h 926343"/>
              <a:gd name="connsiteX510" fmla="*/ 1565760 w 4875349"/>
              <a:gd name="connsiteY510" fmla="*/ 764114 h 926343"/>
              <a:gd name="connsiteX511" fmla="*/ 1630620 w 4875349"/>
              <a:gd name="connsiteY511" fmla="*/ 739956 h 926343"/>
              <a:gd name="connsiteX512" fmla="*/ 1610222 w 4875349"/>
              <a:gd name="connsiteY512" fmla="*/ 723596 h 926343"/>
              <a:gd name="connsiteX513" fmla="*/ 1565760 w 4875349"/>
              <a:gd name="connsiteY513" fmla="*/ 764114 h 926343"/>
              <a:gd name="connsiteX514" fmla="*/ 2158533 w 4875349"/>
              <a:gd name="connsiteY514" fmla="*/ 765136 h 926343"/>
              <a:gd name="connsiteX515" fmla="*/ 2140621 w 4875349"/>
              <a:gd name="connsiteY515" fmla="*/ 857994 h 926343"/>
              <a:gd name="connsiteX516" fmla="*/ 2102401 w 4875349"/>
              <a:gd name="connsiteY516" fmla="*/ 857994 h 926343"/>
              <a:gd name="connsiteX517" fmla="*/ 2119621 w 4875349"/>
              <a:gd name="connsiteY517" fmla="*/ 768076 h 926343"/>
              <a:gd name="connsiteX518" fmla="*/ 2121512 w 4875349"/>
              <a:gd name="connsiteY518" fmla="*/ 749095 h 926343"/>
              <a:gd name="connsiteX519" fmla="*/ 2101404 w 4875349"/>
              <a:gd name="connsiteY519" fmla="*/ 726216 h 926343"/>
              <a:gd name="connsiteX520" fmla="*/ 2055042 w 4875349"/>
              <a:gd name="connsiteY520" fmla="*/ 784436 h 926343"/>
              <a:gd name="connsiteX521" fmla="*/ 2040853 w 4875349"/>
              <a:gd name="connsiteY521" fmla="*/ 857994 h 926343"/>
              <a:gd name="connsiteX522" fmla="*/ 2002633 w 4875349"/>
              <a:gd name="connsiteY522" fmla="*/ 857994 h 926343"/>
              <a:gd name="connsiteX523" fmla="*/ 2033316 w 4875349"/>
              <a:gd name="connsiteY523" fmla="*/ 697777 h 926343"/>
              <a:gd name="connsiteX524" fmla="*/ 2067888 w 4875349"/>
              <a:gd name="connsiteY524" fmla="*/ 697777 h 926343"/>
              <a:gd name="connsiteX525" fmla="*/ 2061951 w 4875349"/>
              <a:gd name="connsiteY525" fmla="*/ 728554 h 926343"/>
              <a:gd name="connsiteX526" fmla="*/ 2120514 w 4875349"/>
              <a:gd name="connsiteY526" fmla="*/ 695157 h 926343"/>
              <a:gd name="connsiteX527" fmla="*/ 2161341 w 4875349"/>
              <a:gd name="connsiteY527" fmla="*/ 738934 h 926343"/>
              <a:gd name="connsiteX528" fmla="*/ 2158533 w 4875349"/>
              <a:gd name="connsiteY528" fmla="*/ 765136 h 926343"/>
              <a:gd name="connsiteX529" fmla="*/ 1980144 w 4875349"/>
              <a:gd name="connsiteY529" fmla="*/ 738934 h 926343"/>
              <a:gd name="connsiteX530" fmla="*/ 1977335 w 4875349"/>
              <a:gd name="connsiteY530" fmla="*/ 765136 h 926343"/>
              <a:gd name="connsiteX531" fmla="*/ 1959424 w 4875349"/>
              <a:gd name="connsiteY531" fmla="*/ 857994 h 926343"/>
              <a:gd name="connsiteX532" fmla="*/ 1921204 w 4875349"/>
              <a:gd name="connsiteY532" fmla="*/ 857994 h 926343"/>
              <a:gd name="connsiteX533" fmla="*/ 1938424 w 4875349"/>
              <a:gd name="connsiteY533" fmla="*/ 768076 h 926343"/>
              <a:gd name="connsiteX534" fmla="*/ 1940315 w 4875349"/>
              <a:gd name="connsiteY534" fmla="*/ 749095 h 926343"/>
              <a:gd name="connsiteX535" fmla="*/ 1920206 w 4875349"/>
              <a:gd name="connsiteY535" fmla="*/ 726216 h 926343"/>
              <a:gd name="connsiteX536" fmla="*/ 1873845 w 4875349"/>
              <a:gd name="connsiteY536" fmla="*/ 784436 h 926343"/>
              <a:gd name="connsiteX537" fmla="*/ 1873845 w 4875349"/>
              <a:gd name="connsiteY537" fmla="*/ 784436 h 926343"/>
              <a:gd name="connsiteX538" fmla="*/ 1859656 w 4875349"/>
              <a:gd name="connsiteY538" fmla="*/ 857994 h 926343"/>
              <a:gd name="connsiteX539" fmla="*/ 1821436 w 4875349"/>
              <a:gd name="connsiteY539" fmla="*/ 857994 h 926343"/>
              <a:gd name="connsiteX540" fmla="*/ 1861915 w 4875349"/>
              <a:gd name="connsiteY540" fmla="*/ 646623 h 926343"/>
              <a:gd name="connsiteX541" fmla="*/ 1900428 w 4875349"/>
              <a:gd name="connsiteY541" fmla="*/ 646623 h 926343"/>
              <a:gd name="connsiteX542" fmla="*/ 1885984 w 4875349"/>
              <a:gd name="connsiteY542" fmla="*/ 721502 h 926343"/>
              <a:gd name="connsiteX543" fmla="*/ 1939317 w 4875349"/>
              <a:gd name="connsiteY543" fmla="*/ 695157 h 926343"/>
              <a:gd name="connsiteX544" fmla="*/ 1980144 w 4875349"/>
              <a:gd name="connsiteY544" fmla="*/ 738934 h 926343"/>
              <a:gd name="connsiteX545" fmla="*/ 1486679 w 4875349"/>
              <a:gd name="connsiteY545" fmla="*/ 698736 h 926343"/>
              <a:gd name="connsiteX546" fmla="*/ 1522584 w 4875349"/>
              <a:gd name="connsiteY546" fmla="*/ 698736 h 926343"/>
              <a:gd name="connsiteX547" fmla="*/ 1516664 w 4875349"/>
              <a:gd name="connsiteY547" fmla="*/ 728165 h 926343"/>
              <a:gd name="connsiteX548" fmla="*/ 1480760 w 4875349"/>
              <a:gd name="connsiteY548" fmla="*/ 728165 h 926343"/>
              <a:gd name="connsiteX549" fmla="*/ 1468243 w 4875349"/>
              <a:gd name="connsiteY549" fmla="*/ 792264 h 926343"/>
              <a:gd name="connsiteX550" fmla="*/ 1465285 w 4875349"/>
              <a:gd name="connsiteY550" fmla="*/ 814824 h 926343"/>
              <a:gd name="connsiteX551" fmla="*/ 1479440 w 4875349"/>
              <a:gd name="connsiteY551" fmla="*/ 829236 h 926343"/>
              <a:gd name="connsiteX552" fmla="*/ 1494778 w 4875349"/>
              <a:gd name="connsiteY552" fmla="*/ 827801 h 926343"/>
              <a:gd name="connsiteX553" fmla="*/ 1488997 w 4875349"/>
              <a:gd name="connsiteY553" fmla="*/ 857990 h 926343"/>
              <a:gd name="connsiteX554" fmla="*/ 1488996 w 4875349"/>
              <a:gd name="connsiteY554" fmla="*/ 857994 h 926343"/>
              <a:gd name="connsiteX555" fmla="*/ 1463965 w 4875349"/>
              <a:gd name="connsiteY555" fmla="*/ 861254 h 926343"/>
              <a:gd name="connsiteX556" fmla="*/ 1426097 w 4875349"/>
              <a:gd name="connsiteY556" fmla="*/ 828564 h 926343"/>
              <a:gd name="connsiteX557" fmla="*/ 1429411 w 4875349"/>
              <a:gd name="connsiteY557" fmla="*/ 799135 h 926343"/>
              <a:gd name="connsiteX558" fmla="*/ 1443247 w 4875349"/>
              <a:gd name="connsiteY558" fmla="*/ 728165 h 926343"/>
              <a:gd name="connsiteX559" fmla="*/ 1421818 w 4875349"/>
              <a:gd name="connsiteY559" fmla="*/ 728165 h 926343"/>
              <a:gd name="connsiteX560" fmla="*/ 1427416 w 4875349"/>
              <a:gd name="connsiteY560" fmla="*/ 698736 h 926343"/>
              <a:gd name="connsiteX561" fmla="*/ 1448813 w 4875349"/>
              <a:gd name="connsiteY561" fmla="*/ 698736 h 926343"/>
              <a:gd name="connsiteX562" fmla="*/ 1457003 w 4875349"/>
              <a:gd name="connsiteY562" fmla="*/ 657748 h 926343"/>
              <a:gd name="connsiteX563" fmla="*/ 1494288 w 4875349"/>
              <a:gd name="connsiteY563" fmla="*/ 657748 h 926343"/>
              <a:gd name="connsiteX564" fmla="*/ 1486679 w 4875349"/>
              <a:gd name="connsiteY564" fmla="*/ 698736 h 926343"/>
              <a:gd name="connsiteX565" fmla="*/ 2788298 w 4875349"/>
              <a:gd name="connsiteY565" fmla="*/ 886433 h 926343"/>
              <a:gd name="connsiteX566" fmla="*/ 2828271 w 4875349"/>
              <a:gd name="connsiteY566" fmla="*/ 878611 h 926343"/>
              <a:gd name="connsiteX567" fmla="*/ 2840780 w 4875349"/>
              <a:gd name="connsiteY567" fmla="*/ 853718 h 926343"/>
              <a:gd name="connsiteX568" fmla="*/ 2812203 w 4875349"/>
              <a:gd name="connsiteY568" fmla="*/ 697777 h 926343"/>
              <a:gd name="connsiteX569" fmla="*/ 2852387 w 4875349"/>
              <a:gd name="connsiteY569" fmla="*/ 697777 h 926343"/>
              <a:gd name="connsiteX570" fmla="*/ 2867179 w 4875349"/>
              <a:gd name="connsiteY570" fmla="*/ 816325 h 926343"/>
              <a:gd name="connsiteX571" fmla="*/ 2928097 w 4875349"/>
              <a:gd name="connsiteY571" fmla="*/ 697777 h 926343"/>
              <a:gd name="connsiteX572" fmla="*/ 2968924 w 4875349"/>
              <a:gd name="connsiteY572" fmla="*/ 697777 h 926343"/>
              <a:gd name="connsiteX573" fmla="*/ 2861660 w 4875349"/>
              <a:gd name="connsiteY573" fmla="*/ 887677 h 926343"/>
              <a:gd name="connsiteX574" fmla="*/ 2861660 w 4875349"/>
              <a:gd name="connsiteY574" fmla="*/ 887739 h 926343"/>
              <a:gd name="connsiteX575" fmla="*/ 2782349 w 4875349"/>
              <a:gd name="connsiteY575" fmla="*/ 917510 h 926343"/>
              <a:gd name="connsiteX576" fmla="*/ 2788298 w 4875349"/>
              <a:gd name="connsiteY576" fmla="*/ 886433 h 926343"/>
              <a:gd name="connsiteX577" fmla="*/ 2783865 w 4875349"/>
              <a:gd name="connsiteY577" fmla="*/ 738023 h 926343"/>
              <a:gd name="connsiteX578" fmla="*/ 2780573 w 4875349"/>
              <a:gd name="connsiteY578" fmla="*/ 765507 h 926343"/>
              <a:gd name="connsiteX579" fmla="*/ 2766056 w 4875349"/>
              <a:gd name="connsiteY579" fmla="*/ 837735 h 926343"/>
              <a:gd name="connsiteX580" fmla="*/ 2732771 w 4875349"/>
              <a:gd name="connsiteY580" fmla="*/ 908673 h 926343"/>
              <a:gd name="connsiteX581" fmla="*/ 2672895 w 4875349"/>
              <a:gd name="connsiteY581" fmla="*/ 926343 h 926343"/>
              <a:gd name="connsiteX582" fmla="*/ 2625597 w 4875349"/>
              <a:gd name="connsiteY582" fmla="*/ 917510 h 926343"/>
              <a:gd name="connsiteX583" fmla="*/ 2631546 w 4875349"/>
              <a:gd name="connsiteY583" fmla="*/ 886433 h 926343"/>
              <a:gd name="connsiteX584" fmla="*/ 2673692 w 4875349"/>
              <a:gd name="connsiteY584" fmla="*/ 895923 h 926343"/>
              <a:gd name="connsiteX585" fmla="*/ 2725716 w 4875349"/>
              <a:gd name="connsiteY585" fmla="*/ 847194 h 926343"/>
              <a:gd name="connsiteX586" fmla="*/ 2728786 w 4875349"/>
              <a:gd name="connsiteY586" fmla="*/ 833259 h 926343"/>
              <a:gd name="connsiteX587" fmla="*/ 2675487 w 4875349"/>
              <a:gd name="connsiteY587" fmla="*/ 861694 h 926343"/>
              <a:gd name="connsiteX588" fmla="*/ 2627062 w 4875349"/>
              <a:gd name="connsiteY588" fmla="*/ 805419 h 926343"/>
              <a:gd name="connsiteX589" fmla="*/ 2730167 w 4875349"/>
              <a:gd name="connsiteY589" fmla="*/ 695157 h 926343"/>
              <a:gd name="connsiteX590" fmla="*/ 2783865 w 4875349"/>
              <a:gd name="connsiteY590" fmla="*/ 738023 h 926343"/>
              <a:gd name="connsiteX591" fmla="*/ 2744332 w 4875349"/>
              <a:gd name="connsiteY591" fmla="*/ 744568 h 926343"/>
              <a:gd name="connsiteX592" fmla="*/ 2722919 w 4875349"/>
              <a:gd name="connsiteY592" fmla="*/ 724282 h 926343"/>
              <a:gd name="connsiteX593" fmla="*/ 2667246 w 4875349"/>
              <a:gd name="connsiteY593" fmla="*/ 798548 h 926343"/>
              <a:gd name="connsiteX594" fmla="*/ 2692615 w 4875349"/>
              <a:gd name="connsiteY594" fmla="*/ 830614 h 926343"/>
              <a:gd name="connsiteX595" fmla="*/ 2739395 w 4875349"/>
              <a:gd name="connsiteY595" fmla="*/ 778262 h 926343"/>
              <a:gd name="connsiteX596" fmla="*/ 2742357 w 4875349"/>
              <a:gd name="connsiteY596" fmla="*/ 763539 h 926343"/>
              <a:gd name="connsiteX597" fmla="*/ 2744331 w 4875349"/>
              <a:gd name="connsiteY597" fmla="*/ 744568 h 92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Lst>
            <a:rect l="l" t="t" r="r" b="b"/>
            <a:pathLst>
              <a:path w="4875349" h="926343">
                <a:moveTo>
                  <a:pt x="3216560" y="504882"/>
                </a:moveTo>
                <a:lnTo>
                  <a:pt x="3216558" y="113422"/>
                </a:lnTo>
                <a:lnTo>
                  <a:pt x="3240379" y="113422"/>
                </a:lnTo>
                <a:lnTo>
                  <a:pt x="3240381" y="504882"/>
                </a:lnTo>
                <a:lnTo>
                  <a:pt x="3216560" y="504882"/>
                </a:lnTo>
                <a:close/>
                <a:moveTo>
                  <a:pt x="4045162" y="501503"/>
                </a:moveTo>
                <a:lnTo>
                  <a:pt x="4065592" y="501503"/>
                </a:lnTo>
                <a:lnTo>
                  <a:pt x="4065592" y="436819"/>
                </a:lnTo>
                <a:lnTo>
                  <a:pt x="4113948" y="436819"/>
                </a:lnTo>
                <a:lnTo>
                  <a:pt x="4113948" y="420806"/>
                </a:lnTo>
                <a:lnTo>
                  <a:pt x="4065592" y="420806"/>
                </a:lnTo>
                <a:lnTo>
                  <a:pt x="4065592" y="370635"/>
                </a:lnTo>
                <a:lnTo>
                  <a:pt x="4121465" y="370635"/>
                </a:lnTo>
                <a:lnTo>
                  <a:pt x="4123838" y="354398"/>
                </a:lnTo>
                <a:lnTo>
                  <a:pt x="4045162" y="354398"/>
                </a:lnTo>
                <a:lnTo>
                  <a:pt x="4045162" y="501503"/>
                </a:lnTo>
                <a:close/>
                <a:moveTo>
                  <a:pt x="4173291" y="348426"/>
                </a:moveTo>
                <a:cubicBezTo>
                  <a:pt x="4173291" y="355905"/>
                  <a:pt x="4167708" y="361661"/>
                  <a:pt x="4159329" y="361661"/>
                </a:cubicBezTo>
                <a:cubicBezTo>
                  <a:pt x="4151149" y="361661"/>
                  <a:pt x="4145567" y="355905"/>
                  <a:pt x="4145567" y="348426"/>
                </a:cubicBezTo>
                <a:cubicBezTo>
                  <a:pt x="4145567" y="340736"/>
                  <a:pt x="4151149" y="334968"/>
                  <a:pt x="4159329" y="334968"/>
                </a:cubicBezTo>
                <a:cubicBezTo>
                  <a:pt x="4167708" y="334968"/>
                  <a:pt x="4173291" y="340736"/>
                  <a:pt x="4173291" y="348426"/>
                </a:cubicBezTo>
                <a:close/>
                <a:moveTo>
                  <a:pt x="4169419" y="501497"/>
                </a:moveTo>
                <a:lnTo>
                  <a:pt x="4149638" y="501497"/>
                </a:lnTo>
                <a:lnTo>
                  <a:pt x="4149638" y="388985"/>
                </a:lnTo>
                <a:lnTo>
                  <a:pt x="4169419" y="388985"/>
                </a:lnTo>
                <a:lnTo>
                  <a:pt x="4169419" y="501497"/>
                </a:lnTo>
                <a:close/>
                <a:moveTo>
                  <a:pt x="4270675" y="387709"/>
                </a:moveTo>
                <a:lnTo>
                  <a:pt x="4267016" y="406922"/>
                </a:lnTo>
                <a:cubicBezTo>
                  <a:pt x="4263582" y="406066"/>
                  <a:pt x="4261209" y="405632"/>
                  <a:pt x="4257138" y="405632"/>
                </a:cubicBezTo>
                <a:cubicBezTo>
                  <a:pt x="4242938" y="405632"/>
                  <a:pt x="4234783" y="415679"/>
                  <a:pt x="4230050" y="437236"/>
                </a:cubicBezTo>
                <a:lnTo>
                  <a:pt x="4230050" y="501498"/>
                </a:lnTo>
                <a:lnTo>
                  <a:pt x="4210269" y="501498"/>
                </a:lnTo>
                <a:lnTo>
                  <a:pt x="4210269" y="388999"/>
                </a:lnTo>
                <a:lnTo>
                  <a:pt x="4227253" y="388999"/>
                </a:lnTo>
                <a:lnTo>
                  <a:pt x="4229188" y="411834"/>
                </a:lnTo>
                <a:cubicBezTo>
                  <a:pt x="4235208" y="394965"/>
                  <a:pt x="4245749" y="386419"/>
                  <a:pt x="4259498" y="386419"/>
                </a:cubicBezTo>
                <a:cubicBezTo>
                  <a:pt x="4263144" y="386419"/>
                  <a:pt x="4267240" y="386853"/>
                  <a:pt x="4270675" y="387709"/>
                </a:cubicBezTo>
                <a:close/>
                <a:moveTo>
                  <a:pt x="4362473" y="399240"/>
                </a:moveTo>
                <a:lnTo>
                  <a:pt x="4354080" y="411619"/>
                </a:lnTo>
                <a:cubicBezTo>
                  <a:pt x="4343990" y="405207"/>
                  <a:pt x="4335160" y="402019"/>
                  <a:pt x="4324646" y="402019"/>
                </a:cubicBezTo>
                <a:cubicBezTo>
                  <a:pt x="4311733" y="402019"/>
                  <a:pt x="4303790" y="407774"/>
                  <a:pt x="4303790" y="416742"/>
                </a:cubicBezTo>
                <a:cubicBezTo>
                  <a:pt x="4303790" y="425920"/>
                  <a:pt x="4309796" y="430187"/>
                  <a:pt x="4328079" y="434888"/>
                </a:cubicBezTo>
                <a:cubicBezTo>
                  <a:pt x="4351933" y="440866"/>
                  <a:pt x="4365695" y="450256"/>
                  <a:pt x="4365695" y="469903"/>
                </a:cubicBezTo>
                <a:cubicBezTo>
                  <a:pt x="4365695" y="493382"/>
                  <a:pt x="4343990" y="504062"/>
                  <a:pt x="4320986" y="504062"/>
                </a:cubicBezTo>
                <a:cubicBezTo>
                  <a:pt x="4301842" y="504062"/>
                  <a:pt x="4288092" y="497860"/>
                  <a:pt x="4278214" y="489327"/>
                </a:cubicBezTo>
                <a:lnTo>
                  <a:pt x="4288741" y="477370"/>
                </a:lnTo>
                <a:cubicBezTo>
                  <a:pt x="4297770" y="484204"/>
                  <a:pt x="4308298" y="488260"/>
                  <a:pt x="4320549" y="488260"/>
                </a:cubicBezTo>
                <a:cubicBezTo>
                  <a:pt x="4335385" y="488260"/>
                  <a:pt x="4344839" y="481847"/>
                  <a:pt x="4344839" y="471180"/>
                </a:cubicBezTo>
                <a:cubicBezTo>
                  <a:pt x="4344839" y="460079"/>
                  <a:pt x="4339257" y="455812"/>
                  <a:pt x="4317327" y="450045"/>
                </a:cubicBezTo>
                <a:cubicBezTo>
                  <a:pt x="4292825" y="443645"/>
                  <a:pt x="4283147" y="433176"/>
                  <a:pt x="4283147" y="417387"/>
                </a:cubicBezTo>
                <a:cubicBezTo>
                  <a:pt x="4283147" y="399451"/>
                  <a:pt x="4300568" y="386428"/>
                  <a:pt x="4323996" y="386428"/>
                </a:cubicBezTo>
                <a:cubicBezTo>
                  <a:pt x="4339894" y="386428"/>
                  <a:pt x="4351720" y="391129"/>
                  <a:pt x="4362473" y="399240"/>
                </a:cubicBezTo>
                <a:close/>
                <a:moveTo>
                  <a:pt x="4450831" y="496374"/>
                </a:moveTo>
                <a:cubicBezTo>
                  <a:pt x="4443300" y="501497"/>
                  <a:pt x="4435133" y="504064"/>
                  <a:pt x="4425467" y="504064"/>
                </a:cubicBezTo>
                <a:cubicBezTo>
                  <a:pt x="4406322" y="504064"/>
                  <a:pt x="4394933" y="492963"/>
                  <a:pt x="4394933" y="472039"/>
                </a:cubicBezTo>
                <a:lnTo>
                  <a:pt x="4394933" y="404142"/>
                </a:lnTo>
                <a:lnTo>
                  <a:pt x="4375164" y="404142"/>
                </a:lnTo>
                <a:lnTo>
                  <a:pt x="4375164" y="388998"/>
                </a:lnTo>
                <a:lnTo>
                  <a:pt x="4394933" y="388998"/>
                </a:lnTo>
                <a:lnTo>
                  <a:pt x="4394933" y="363583"/>
                </a:lnTo>
                <a:lnTo>
                  <a:pt x="4414715" y="361226"/>
                </a:lnTo>
                <a:lnTo>
                  <a:pt x="4414715" y="388998"/>
                </a:lnTo>
                <a:lnTo>
                  <a:pt x="4441590" y="388998"/>
                </a:lnTo>
                <a:lnTo>
                  <a:pt x="4439429" y="404142"/>
                </a:lnTo>
                <a:lnTo>
                  <a:pt x="4414715" y="404142"/>
                </a:lnTo>
                <a:lnTo>
                  <a:pt x="4414715" y="471183"/>
                </a:lnTo>
                <a:cubicBezTo>
                  <a:pt x="4414715" y="482495"/>
                  <a:pt x="4418362" y="487841"/>
                  <a:pt x="4428252" y="487841"/>
                </a:cubicBezTo>
                <a:cubicBezTo>
                  <a:pt x="4433198" y="487841"/>
                  <a:pt x="4437719" y="486340"/>
                  <a:pt x="4443301" y="483351"/>
                </a:cubicBezTo>
                <a:lnTo>
                  <a:pt x="4450831" y="496374"/>
                </a:lnTo>
                <a:close/>
                <a:moveTo>
                  <a:pt x="4491457" y="489118"/>
                </a:moveTo>
                <a:cubicBezTo>
                  <a:pt x="4491457" y="497441"/>
                  <a:pt x="4485000" y="504064"/>
                  <a:pt x="4476408" y="504064"/>
                </a:cubicBezTo>
                <a:cubicBezTo>
                  <a:pt x="4468029" y="504064"/>
                  <a:pt x="4461572" y="497441"/>
                  <a:pt x="4461572" y="489118"/>
                </a:cubicBezTo>
                <a:cubicBezTo>
                  <a:pt x="4461572" y="481006"/>
                  <a:pt x="4468029" y="474383"/>
                  <a:pt x="4476408" y="474383"/>
                </a:cubicBezTo>
                <a:cubicBezTo>
                  <a:pt x="4485000" y="474383"/>
                  <a:pt x="4491457" y="481006"/>
                  <a:pt x="4491457" y="489118"/>
                </a:cubicBezTo>
                <a:close/>
                <a:moveTo>
                  <a:pt x="3521774" y="366146"/>
                </a:moveTo>
                <a:lnTo>
                  <a:pt x="3505002" y="385996"/>
                </a:lnTo>
                <a:cubicBezTo>
                  <a:pt x="3496623" y="379599"/>
                  <a:pt x="3488242" y="375748"/>
                  <a:pt x="3478129" y="375748"/>
                </a:cubicBezTo>
                <a:cubicBezTo>
                  <a:pt x="3458997" y="375748"/>
                  <a:pt x="3445681" y="390911"/>
                  <a:pt x="3445681" y="427204"/>
                </a:cubicBezTo>
                <a:cubicBezTo>
                  <a:pt x="3445681" y="462863"/>
                  <a:pt x="3458793" y="478013"/>
                  <a:pt x="3478562" y="478013"/>
                </a:cubicBezTo>
                <a:cubicBezTo>
                  <a:pt x="3490386" y="478013"/>
                  <a:pt x="3498995" y="472680"/>
                  <a:pt x="3507795" y="466055"/>
                </a:cubicBezTo>
                <a:lnTo>
                  <a:pt x="3523496" y="486133"/>
                </a:lnTo>
                <a:cubicBezTo>
                  <a:pt x="3513599" y="495951"/>
                  <a:pt x="3497477" y="505135"/>
                  <a:pt x="3476841" y="505135"/>
                </a:cubicBezTo>
                <a:cubicBezTo>
                  <a:pt x="3436001" y="505135"/>
                  <a:pt x="3408707" y="477798"/>
                  <a:pt x="3408707" y="427204"/>
                </a:cubicBezTo>
                <a:cubicBezTo>
                  <a:pt x="3408707" y="377673"/>
                  <a:pt x="3437723" y="349918"/>
                  <a:pt x="3476419" y="349918"/>
                </a:cubicBezTo>
                <a:cubicBezTo>
                  <a:pt x="3495768" y="349918"/>
                  <a:pt x="3509313" y="355682"/>
                  <a:pt x="3521774" y="366145"/>
                </a:cubicBezTo>
                <a:close/>
                <a:moveTo>
                  <a:pt x="3537463" y="472680"/>
                </a:moveTo>
                <a:lnTo>
                  <a:pt x="3537463" y="343090"/>
                </a:lnTo>
                <a:lnTo>
                  <a:pt x="3571428" y="339455"/>
                </a:lnTo>
                <a:lnTo>
                  <a:pt x="3571428" y="471401"/>
                </a:lnTo>
                <a:cubicBezTo>
                  <a:pt x="3571428" y="476101"/>
                  <a:pt x="3573149" y="478444"/>
                  <a:pt x="3577231" y="478444"/>
                </a:cubicBezTo>
                <a:cubicBezTo>
                  <a:pt x="3579590" y="478444"/>
                  <a:pt x="3581312" y="478013"/>
                  <a:pt x="3582818" y="477380"/>
                </a:cubicBezTo>
                <a:lnTo>
                  <a:pt x="3589475" y="501284"/>
                </a:lnTo>
                <a:cubicBezTo>
                  <a:pt x="3584323" y="503425"/>
                  <a:pt x="3577014" y="505135"/>
                  <a:pt x="3568839" y="505135"/>
                </a:cubicBezTo>
                <a:cubicBezTo>
                  <a:pt x="3549069" y="505135"/>
                  <a:pt x="3537463" y="493392"/>
                  <a:pt x="3537463" y="472680"/>
                </a:cubicBezTo>
                <a:close/>
                <a:moveTo>
                  <a:pt x="3708782" y="444927"/>
                </a:moveTo>
                <a:cubicBezTo>
                  <a:pt x="3708782" y="481220"/>
                  <a:pt x="3687712" y="505123"/>
                  <a:pt x="3652892" y="505123"/>
                </a:cubicBezTo>
                <a:cubicBezTo>
                  <a:pt x="3618290" y="505123"/>
                  <a:pt x="3597003" y="482930"/>
                  <a:pt x="3597003" y="444712"/>
                </a:cubicBezTo>
                <a:cubicBezTo>
                  <a:pt x="3597003" y="408419"/>
                  <a:pt x="3618073" y="384502"/>
                  <a:pt x="3652892" y="384502"/>
                </a:cubicBezTo>
                <a:cubicBezTo>
                  <a:pt x="3687711" y="384502"/>
                  <a:pt x="3708782" y="406709"/>
                  <a:pt x="3708782" y="444927"/>
                </a:cubicBezTo>
                <a:close/>
                <a:moveTo>
                  <a:pt x="3632256" y="444712"/>
                </a:moveTo>
                <a:cubicBezTo>
                  <a:pt x="3632256" y="469907"/>
                  <a:pt x="3639131" y="480371"/>
                  <a:pt x="3652892" y="480371"/>
                </a:cubicBezTo>
                <a:cubicBezTo>
                  <a:pt x="3666655" y="480371"/>
                  <a:pt x="3673529" y="469477"/>
                  <a:pt x="3673529" y="444927"/>
                </a:cubicBezTo>
                <a:cubicBezTo>
                  <a:pt x="3673529" y="419731"/>
                  <a:pt x="3666655" y="409267"/>
                  <a:pt x="3652892" y="409267"/>
                </a:cubicBezTo>
                <a:cubicBezTo>
                  <a:pt x="3639131" y="409267"/>
                  <a:pt x="3632256" y="420162"/>
                  <a:pt x="3632256" y="444712"/>
                </a:cubicBezTo>
                <a:close/>
                <a:moveTo>
                  <a:pt x="3827431" y="501502"/>
                </a:moveTo>
                <a:lnTo>
                  <a:pt x="3797981" y="501502"/>
                </a:lnTo>
                <a:lnTo>
                  <a:pt x="3796477" y="487200"/>
                </a:lnTo>
                <a:cubicBezTo>
                  <a:pt x="3788097" y="499158"/>
                  <a:pt x="3776924" y="505125"/>
                  <a:pt x="3761874" y="505125"/>
                </a:cubicBezTo>
                <a:cubicBezTo>
                  <a:pt x="3740587" y="505125"/>
                  <a:pt x="3730052" y="491469"/>
                  <a:pt x="3730052" y="469478"/>
                </a:cubicBezTo>
                <a:lnTo>
                  <a:pt x="3730052" y="388139"/>
                </a:lnTo>
                <a:lnTo>
                  <a:pt x="3764017" y="388139"/>
                </a:lnTo>
                <a:lnTo>
                  <a:pt x="3764017" y="465209"/>
                </a:lnTo>
                <a:cubicBezTo>
                  <a:pt x="3764017" y="476737"/>
                  <a:pt x="3767893" y="480157"/>
                  <a:pt x="3774985" y="480157"/>
                </a:cubicBezTo>
                <a:cubicBezTo>
                  <a:pt x="3782077" y="480157"/>
                  <a:pt x="3788531" y="475457"/>
                  <a:pt x="3793466" y="466919"/>
                </a:cubicBezTo>
                <a:lnTo>
                  <a:pt x="3793466" y="388139"/>
                </a:lnTo>
                <a:lnTo>
                  <a:pt x="3827431" y="388139"/>
                </a:lnTo>
                <a:lnTo>
                  <a:pt x="3827431" y="501502"/>
                </a:lnTo>
                <a:close/>
                <a:moveTo>
                  <a:pt x="3956398" y="343082"/>
                </a:moveTo>
                <a:lnTo>
                  <a:pt x="3956398" y="501503"/>
                </a:lnTo>
                <a:lnTo>
                  <a:pt x="3926297" y="501503"/>
                </a:lnTo>
                <a:lnTo>
                  <a:pt x="3924589" y="488265"/>
                </a:lnTo>
                <a:cubicBezTo>
                  <a:pt x="3917918" y="497652"/>
                  <a:pt x="3907599" y="505126"/>
                  <a:pt x="3892129" y="505126"/>
                </a:cubicBezTo>
                <a:cubicBezTo>
                  <a:pt x="3863100" y="505126"/>
                  <a:pt x="3848700" y="481222"/>
                  <a:pt x="3848700" y="444499"/>
                </a:cubicBezTo>
                <a:cubicBezTo>
                  <a:pt x="3848700" y="409486"/>
                  <a:pt x="3867182" y="384505"/>
                  <a:pt x="3895343" y="384505"/>
                </a:cubicBezTo>
                <a:cubicBezTo>
                  <a:pt x="3906528" y="384505"/>
                  <a:pt x="3915763" y="388559"/>
                  <a:pt x="3922433" y="395184"/>
                </a:cubicBezTo>
                <a:lnTo>
                  <a:pt x="3922433" y="339459"/>
                </a:lnTo>
                <a:lnTo>
                  <a:pt x="3956398" y="343082"/>
                </a:lnTo>
                <a:close/>
                <a:moveTo>
                  <a:pt x="3922433" y="467554"/>
                </a:moveTo>
                <a:lnTo>
                  <a:pt x="3922433" y="418669"/>
                </a:lnTo>
                <a:cubicBezTo>
                  <a:pt x="3917267" y="412690"/>
                  <a:pt x="3912115" y="409055"/>
                  <a:pt x="3904590" y="409055"/>
                </a:cubicBezTo>
                <a:cubicBezTo>
                  <a:pt x="3892549" y="409055"/>
                  <a:pt x="3883953" y="419303"/>
                  <a:pt x="3883953" y="444714"/>
                </a:cubicBezTo>
                <a:cubicBezTo>
                  <a:pt x="3883953" y="472887"/>
                  <a:pt x="3891695" y="480361"/>
                  <a:pt x="3902651" y="480361"/>
                </a:cubicBezTo>
                <a:cubicBezTo>
                  <a:pt x="3910827" y="480361"/>
                  <a:pt x="3917063" y="476092"/>
                  <a:pt x="3922433" y="467554"/>
                </a:cubicBezTo>
                <a:close/>
                <a:moveTo>
                  <a:pt x="3476419" y="113000"/>
                </a:moveTo>
                <a:cubicBezTo>
                  <a:pt x="3437722" y="113000"/>
                  <a:pt x="3408707" y="140754"/>
                  <a:pt x="3408707" y="190285"/>
                </a:cubicBezTo>
                <a:cubicBezTo>
                  <a:pt x="3408707" y="240892"/>
                  <a:pt x="3436001" y="268216"/>
                  <a:pt x="3476841" y="268216"/>
                </a:cubicBezTo>
                <a:cubicBezTo>
                  <a:pt x="3497477" y="268216"/>
                  <a:pt x="3513599" y="259032"/>
                  <a:pt x="3523496" y="249215"/>
                </a:cubicBezTo>
                <a:lnTo>
                  <a:pt x="3507795" y="229136"/>
                </a:lnTo>
                <a:cubicBezTo>
                  <a:pt x="3498995" y="235762"/>
                  <a:pt x="3490386" y="241095"/>
                  <a:pt x="3478562" y="241095"/>
                </a:cubicBezTo>
                <a:cubicBezTo>
                  <a:pt x="3458793" y="241095"/>
                  <a:pt x="3445681" y="225944"/>
                  <a:pt x="3445681" y="190285"/>
                </a:cubicBezTo>
                <a:cubicBezTo>
                  <a:pt x="3445681" y="153992"/>
                  <a:pt x="3458997" y="138829"/>
                  <a:pt x="3478129" y="138829"/>
                </a:cubicBezTo>
                <a:cubicBezTo>
                  <a:pt x="3488242" y="138829"/>
                  <a:pt x="3496623" y="142680"/>
                  <a:pt x="3505002" y="149077"/>
                </a:cubicBezTo>
                <a:lnTo>
                  <a:pt x="3521774" y="129227"/>
                </a:lnTo>
                <a:cubicBezTo>
                  <a:pt x="3509314" y="118763"/>
                  <a:pt x="3495768" y="113000"/>
                  <a:pt x="3476419" y="113000"/>
                </a:cubicBezTo>
                <a:close/>
                <a:moveTo>
                  <a:pt x="3633546" y="264584"/>
                </a:moveTo>
                <a:lnTo>
                  <a:pt x="3604096" y="264584"/>
                </a:lnTo>
                <a:lnTo>
                  <a:pt x="3602591" y="250282"/>
                </a:lnTo>
                <a:cubicBezTo>
                  <a:pt x="3594211" y="262241"/>
                  <a:pt x="3583038" y="268220"/>
                  <a:pt x="3567988" y="268220"/>
                </a:cubicBezTo>
                <a:cubicBezTo>
                  <a:pt x="3546701" y="268220"/>
                  <a:pt x="3536166" y="254551"/>
                  <a:pt x="3536166" y="232560"/>
                </a:cubicBezTo>
                <a:lnTo>
                  <a:pt x="3536166" y="151221"/>
                </a:lnTo>
                <a:lnTo>
                  <a:pt x="3570131" y="151221"/>
                </a:lnTo>
                <a:lnTo>
                  <a:pt x="3570131" y="228291"/>
                </a:lnTo>
                <a:cubicBezTo>
                  <a:pt x="3570131" y="239819"/>
                  <a:pt x="3574008" y="243239"/>
                  <a:pt x="3581100" y="243239"/>
                </a:cubicBezTo>
                <a:cubicBezTo>
                  <a:pt x="3588191" y="243239"/>
                  <a:pt x="3594645" y="238539"/>
                  <a:pt x="3599580" y="230001"/>
                </a:cubicBezTo>
                <a:lnTo>
                  <a:pt x="3599580" y="151221"/>
                </a:lnTo>
                <a:lnTo>
                  <a:pt x="3633546" y="151221"/>
                </a:lnTo>
                <a:lnTo>
                  <a:pt x="3633546" y="264584"/>
                </a:lnTo>
                <a:close/>
                <a:moveTo>
                  <a:pt x="3744461" y="161465"/>
                </a:moveTo>
                <a:lnTo>
                  <a:pt x="3732000" y="180466"/>
                </a:lnTo>
                <a:cubicBezTo>
                  <a:pt x="3723174" y="174918"/>
                  <a:pt x="3713723" y="171713"/>
                  <a:pt x="3703838" y="171713"/>
                </a:cubicBezTo>
                <a:cubicBezTo>
                  <a:pt x="3694591" y="171713"/>
                  <a:pt x="3690076" y="175133"/>
                  <a:pt x="3690076" y="180251"/>
                </a:cubicBezTo>
                <a:cubicBezTo>
                  <a:pt x="3690076" y="186230"/>
                  <a:pt x="3693086" y="188789"/>
                  <a:pt x="3713506" y="194768"/>
                </a:cubicBezTo>
                <a:cubicBezTo>
                  <a:pt x="3736081" y="201178"/>
                  <a:pt x="3748759" y="210564"/>
                  <a:pt x="3748759" y="230845"/>
                </a:cubicBezTo>
                <a:cubicBezTo>
                  <a:pt x="3748759" y="254331"/>
                  <a:pt x="3726401" y="268215"/>
                  <a:pt x="3698022" y="268215"/>
                </a:cubicBezTo>
                <a:cubicBezTo>
                  <a:pt x="3678253" y="268215"/>
                  <a:pt x="3661481" y="261387"/>
                  <a:pt x="3650308" y="251342"/>
                </a:cubicBezTo>
                <a:lnTo>
                  <a:pt x="3666864" y="232986"/>
                </a:lnTo>
                <a:cubicBezTo>
                  <a:pt x="3675460" y="239611"/>
                  <a:pt x="3685995" y="244083"/>
                  <a:pt x="3697167" y="244083"/>
                </a:cubicBezTo>
                <a:cubicBezTo>
                  <a:pt x="3707486" y="244083"/>
                  <a:pt x="3713723" y="240245"/>
                  <a:pt x="3713723" y="233417"/>
                </a:cubicBezTo>
                <a:cubicBezTo>
                  <a:pt x="3713723" y="225728"/>
                  <a:pt x="3710279" y="223384"/>
                  <a:pt x="3689643" y="217608"/>
                </a:cubicBezTo>
                <a:cubicBezTo>
                  <a:pt x="3667067" y="211211"/>
                  <a:pt x="3655895" y="199683"/>
                  <a:pt x="3655895" y="182176"/>
                </a:cubicBezTo>
                <a:cubicBezTo>
                  <a:pt x="3655895" y="162744"/>
                  <a:pt x="3673738" y="147594"/>
                  <a:pt x="3702550" y="147594"/>
                </a:cubicBezTo>
                <a:cubicBezTo>
                  <a:pt x="3719092" y="147594"/>
                  <a:pt x="3733926" y="152927"/>
                  <a:pt x="3744461" y="161465"/>
                </a:cubicBezTo>
                <a:close/>
                <a:moveTo>
                  <a:pt x="3839894" y="259246"/>
                </a:moveTo>
                <a:cubicBezTo>
                  <a:pt x="3831297" y="265225"/>
                  <a:pt x="3819257" y="268215"/>
                  <a:pt x="3808939" y="268215"/>
                </a:cubicBezTo>
                <a:cubicBezTo>
                  <a:pt x="3783787" y="267999"/>
                  <a:pt x="3771543" y="253913"/>
                  <a:pt x="3771543" y="227222"/>
                </a:cubicBezTo>
                <a:lnTo>
                  <a:pt x="3771543" y="174702"/>
                </a:lnTo>
                <a:lnTo>
                  <a:pt x="3755421" y="174702"/>
                </a:lnTo>
                <a:lnTo>
                  <a:pt x="3755421" y="151216"/>
                </a:lnTo>
                <a:lnTo>
                  <a:pt x="3771543" y="151216"/>
                </a:lnTo>
                <a:lnTo>
                  <a:pt x="3771543" y="126667"/>
                </a:lnTo>
                <a:lnTo>
                  <a:pt x="3805495" y="122828"/>
                </a:lnTo>
                <a:lnTo>
                  <a:pt x="3805495" y="151216"/>
                </a:lnTo>
                <a:lnTo>
                  <a:pt x="3831731" y="151216"/>
                </a:lnTo>
                <a:lnTo>
                  <a:pt x="3828070" y="174702"/>
                </a:lnTo>
                <a:lnTo>
                  <a:pt x="3805495" y="174702"/>
                </a:lnTo>
                <a:lnTo>
                  <a:pt x="3805495" y="226792"/>
                </a:lnTo>
                <a:cubicBezTo>
                  <a:pt x="3805495" y="237686"/>
                  <a:pt x="3809156" y="241524"/>
                  <a:pt x="3816247" y="241524"/>
                </a:cubicBezTo>
                <a:cubicBezTo>
                  <a:pt x="3820125" y="241524"/>
                  <a:pt x="3823989" y="240460"/>
                  <a:pt x="3828504" y="237901"/>
                </a:cubicBezTo>
                <a:lnTo>
                  <a:pt x="3839894" y="259246"/>
                </a:lnTo>
                <a:close/>
                <a:moveTo>
                  <a:pt x="3954894" y="208009"/>
                </a:moveTo>
                <a:cubicBezTo>
                  <a:pt x="3954894" y="244302"/>
                  <a:pt x="3933824" y="268219"/>
                  <a:pt x="3899004" y="268219"/>
                </a:cubicBezTo>
                <a:cubicBezTo>
                  <a:pt x="3864402" y="268219"/>
                  <a:pt x="3843115" y="246012"/>
                  <a:pt x="3843115" y="207794"/>
                </a:cubicBezTo>
                <a:cubicBezTo>
                  <a:pt x="3843115" y="171501"/>
                  <a:pt x="3864185" y="147585"/>
                  <a:pt x="3899004" y="147585"/>
                </a:cubicBezTo>
                <a:cubicBezTo>
                  <a:pt x="3933823" y="147585"/>
                  <a:pt x="3954894" y="169791"/>
                  <a:pt x="3954894" y="208009"/>
                </a:cubicBezTo>
                <a:close/>
                <a:moveTo>
                  <a:pt x="3878368" y="207794"/>
                </a:moveTo>
                <a:cubicBezTo>
                  <a:pt x="3878368" y="232990"/>
                  <a:pt x="3885243" y="243453"/>
                  <a:pt x="3899004" y="243453"/>
                </a:cubicBezTo>
                <a:cubicBezTo>
                  <a:pt x="3912767" y="243453"/>
                  <a:pt x="3919641" y="232559"/>
                  <a:pt x="3919641" y="208009"/>
                </a:cubicBezTo>
                <a:cubicBezTo>
                  <a:pt x="3919641" y="182813"/>
                  <a:pt x="3912767" y="172350"/>
                  <a:pt x="3899004" y="172350"/>
                </a:cubicBezTo>
                <a:cubicBezTo>
                  <a:pt x="3885243" y="172350"/>
                  <a:pt x="3878368" y="183244"/>
                  <a:pt x="3878368" y="207794"/>
                </a:cubicBezTo>
                <a:close/>
                <a:moveTo>
                  <a:pt x="4132231" y="181748"/>
                </a:moveTo>
                <a:lnTo>
                  <a:pt x="4132231" y="264582"/>
                </a:lnTo>
                <a:lnTo>
                  <a:pt x="4098266" y="264582"/>
                </a:lnTo>
                <a:lnTo>
                  <a:pt x="4098266" y="187512"/>
                </a:lnTo>
                <a:cubicBezTo>
                  <a:pt x="4098266" y="175554"/>
                  <a:pt x="4093751" y="172349"/>
                  <a:pt x="4088598" y="172349"/>
                </a:cubicBezTo>
                <a:cubicBezTo>
                  <a:pt x="4081290" y="172349"/>
                  <a:pt x="4076125" y="177695"/>
                  <a:pt x="4071176" y="187081"/>
                </a:cubicBezTo>
                <a:lnTo>
                  <a:pt x="4071176" y="264582"/>
                </a:lnTo>
                <a:lnTo>
                  <a:pt x="4037224" y="264582"/>
                </a:lnTo>
                <a:lnTo>
                  <a:pt x="4037224" y="187512"/>
                </a:lnTo>
                <a:cubicBezTo>
                  <a:pt x="4037224" y="175554"/>
                  <a:pt x="4032709" y="172349"/>
                  <a:pt x="4027543" y="172349"/>
                </a:cubicBezTo>
                <a:cubicBezTo>
                  <a:pt x="4020452" y="172349"/>
                  <a:pt x="4015082" y="177695"/>
                  <a:pt x="4010134" y="187081"/>
                </a:cubicBezTo>
                <a:lnTo>
                  <a:pt x="4010134" y="264582"/>
                </a:lnTo>
                <a:lnTo>
                  <a:pt x="3976168" y="264582"/>
                </a:lnTo>
                <a:lnTo>
                  <a:pt x="3976168" y="151219"/>
                </a:lnTo>
                <a:lnTo>
                  <a:pt x="4005836" y="151219"/>
                </a:lnTo>
                <a:lnTo>
                  <a:pt x="4008208" y="164457"/>
                </a:lnTo>
                <a:cubicBezTo>
                  <a:pt x="4017021" y="153347"/>
                  <a:pt x="4027339" y="147583"/>
                  <a:pt x="4041305" y="147583"/>
                </a:cubicBezTo>
                <a:cubicBezTo>
                  <a:pt x="4053983" y="147583"/>
                  <a:pt x="4063880" y="153993"/>
                  <a:pt x="4068179" y="165521"/>
                </a:cubicBezTo>
                <a:cubicBezTo>
                  <a:pt x="4077196" y="153563"/>
                  <a:pt x="4087744" y="147583"/>
                  <a:pt x="4102347" y="147583"/>
                </a:cubicBezTo>
                <a:cubicBezTo>
                  <a:pt x="4119974" y="147583"/>
                  <a:pt x="4132231" y="160188"/>
                  <a:pt x="4132231" y="181748"/>
                </a:cubicBezTo>
                <a:close/>
                <a:moveTo>
                  <a:pt x="4258838" y="217827"/>
                </a:moveTo>
                <a:lnTo>
                  <a:pt x="4188115" y="217827"/>
                </a:lnTo>
                <a:cubicBezTo>
                  <a:pt x="4190475" y="238108"/>
                  <a:pt x="4200155" y="243656"/>
                  <a:pt x="4214122" y="243656"/>
                </a:cubicBezTo>
                <a:cubicBezTo>
                  <a:pt x="4223368" y="243656"/>
                  <a:pt x="4231531" y="240464"/>
                  <a:pt x="4241429" y="233623"/>
                </a:cubicBezTo>
                <a:lnTo>
                  <a:pt x="4255394" y="252409"/>
                </a:lnTo>
                <a:cubicBezTo>
                  <a:pt x="4244004" y="261378"/>
                  <a:pt x="4229388" y="268219"/>
                  <a:pt x="4210894" y="268219"/>
                </a:cubicBezTo>
                <a:cubicBezTo>
                  <a:pt x="4172848" y="268219"/>
                  <a:pt x="4153499" y="243871"/>
                  <a:pt x="4153499" y="208440"/>
                </a:cubicBezTo>
                <a:cubicBezTo>
                  <a:pt x="4153499" y="174491"/>
                  <a:pt x="4172210" y="147585"/>
                  <a:pt x="4206812" y="147585"/>
                </a:cubicBezTo>
                <a:cubicBezTo>
                  <a:pt x="4239489" y="147585"/>
                  <a:pt x="4259475" y="168942"/>
                  <a:pt x="4259475" y="205666"/>
                </a:cubicBezTo>
                <a:cubicBezTo>
                  <a:pt x="4259475" y="209289"/>
                  <a:pt x="4259258" y="214406"/>
                  <a:pt x="4258838" y="217827"/>
                </a:cubicBezTo>
                <a:close/>
                <a:moveTo>
                  <a:pt x="4226161" y="196051"/>
                </a:moveTo>
                <a:cubicBezTo>
                  <a:pt x="4225944" y="180685"/>
                  <a:pt x="4221212" y="170006"/>
                  <a:pt x="4207680" y="170006"/>
                </a:cubicBezTo>
                <a:cubicBezTo>
                  <a:pt x="4196278" y="170006"/>
                  <a:pt x="4189620" y="177265"/>
                  <a:pt x="4188115" y="197546"/>
                </a:cubicBezTo>
                <a:lnTo>
                  <a:pt x="4226161" y="197546"/>
                </a:lnTo>
                <a:lnTo>
                  <a:pt x="4226161" y="196051"/>
                </a:lnTo>
                <a:close/>
                <a:moveTo>
                  <a:pt x="4429055" y="117480"/>
                </a:moveTo>
                <a:lnTo>
                  <a:pt x="4507732" y="117480"/>
                </a:lnTo>
                <a:lnTo>
                  <a:pt x="4505359" y="133716"/>
                </a:lnTo>
                <a:lnTo>
                  <a:pt x="4449486" y="133716"/>
                </a:lnTo>
                <a:lnTo>
                  <a:pt x="4449486" y="183887"/>
                </a:lnTo>
                <a:lnTo>
                  <a:pt x="4497841" y="183887"/>
                </a:lnTo>
                <a:lnTo>
                  <a:pt x="4497841" y="199900"/>
                </a:lnTo>
                <a:lnTo>
                  <a:pt x="4449486" y="199900"/>
                </a:lnTo>
                <a:lnTo>
                  <a:pt x="4449486" y="264584"/>
                </a:lnTo>
                <a:lnTo>
                  <a:pt x="4429055" y="264584"/>
                </a:lnTo>
                <a:lnTo>
                  <a:pt x="4429055" y="117479"/>
                </a:lnTo>
                <a:close/>
                <a:moveTo>
                  <a:pt x="4557185" y="111507"/>
                </a:moveTo>
                <a:cubicBezTo>
                  <a:pt x="4557185" y="118986"/>
                  <a:pt x="4551602" y="124742"/>
                  <a:pt x="4543223" y="124742"/>
                </a:cubicBezTo>
                <a:cubicBezTo>
                  <a:pt x="4535043" y="124742"/>
                  <a:pt x="4529461" y="118986"/>
                  <a:pt x="4529461" y="111507"/>
                </a:cubicBezTo>
                <a:cubicBezTo>
                  <a:pt x="4529461" y="103817"/>
                  <a:pt x="4535043" y="98050"/>
                  <a:pt x="4543223" y="98050"/>
                </a:cubicBezTo>
                <a:cubicBezTo>
                  <a:pt x="4551602" y="98050"/>
                  <a:pt x="4557185" y="103817"/>
                  <a:pt x="4557185" y="111507"/>
                </a:cubicBezTo>
                <a:close/>
                <a:moveTo>
                  <a:pt x="4553313" y="264578"/>
                </a:moveTo>
                <a:lnTo>
                  <a:pt x="4533532" y="264578"/>
                </a:lnTo>
                <a:lnTo>
                  <a:pt x="4533532" y="152066"/>
                </a:lnTo>
                <a:lnTo>
                  <a:pt x="4553313" y="152066"/>
                </a:lnTo>
                <a:lnTo>
                  <a:pt x="4553313" y="264578"/>
                </a:lnTo>
                <a:close/>
                <a:moveTo>
                  <a:pt x="4654569" y="150790"/>
                </a:moveTo>
                <a:lnTo>
                  <a:pt x="4650909" y="170003"/>
                </a:lnTo>
                <a:cubicBezTo>
                  <a:pt x="4647475" y="169147"/>
                  <a:pt x="4645102" y="168713"/>
                  <a:pt x="4641032" y="168713"/>
                </a:cubicBezTo>
                <a:cubicBezTo>
                  <a:pt x="4626832" y="168713"/>
                  <a:pt x="4618677" y="178760"/>
                  <a:pt x="4613944" y="200317"/>
                </a:cubicBezTo>
                <a:lnTo>
                  <a:pt x="4613944" y="264579"/>
                </a:lnTo>
                <a:lnTo>
                  <a:pt x="4594163" y="264579"/>
                </a:lnTo>
                <a:lnTo>
                  <a:pt x="4594163" y="152080"/>
                </a:lnTo>
                <a:lnTo>
                  <a:pt x="4611147" y="152080"/>
                </a:lnTo>
                <a:lnTo>
                  <a:pt x="4613082" y="174915"/>
                </a:lnTo>
                <a:cubicBezTo>
                  <a:pt x="4619101" y="158046"/>
                  <a:pt x="4629642" y="149500"/>
                  <a:pt x="4643391" y="149500"/>
                </a:cubicBezTo>
                <a:cubicBezTo>
                  <a:pt x="4647038" y="149500"/>
                  <a:pt x="4651134" y="149934"/>
                  <a:pt x="4654568" y="150790"/>
                </a:cubicBezTo>
                <a:close/>
                <a:moveTo>
                  <a:pt x="4746366" y="162322"/>
                </a:moveTo>
                <a:lnTo>
                  <a:pt x="4737974" y="174700"/>
                </a:lnTo>
                <a:cubicBezTo>
                  <a:pt x="4727884" y="168288"/>
                  <a:pt x="4719054" y="165100"/>
                  <a:pt x="4708539" y="165100"/>
                </a:cubicBezTo>
                <a:cubicBezTo>
                  <a:pt x="4695626" y="165100"/>
                  <a:pt x="4687684" y="170855"/>
                  <a:pt x="4687684" y="179823"/>
                </a:cubicBezTo>
                <a:cubicBezTo>
                  <a:pt x="4687684" y="189001"/>
                  <a:pt x="4693690" y="193268"/>
                  <a:pt x="4711973" y="197969"/>
                </a:cubicBezTo>
                <a:cubicBezTo>
                  <a:pt x="4735826" y="203948"/>
                  <a:pt x="4749588" y="213337"/>
                  <a:pt x="4749588" y="232984"/>
                </a:cubicBezTo>
                <a:cubicBezTo>
                  <a:pt x="4749588" y="256464"/>
                  <a:pt x="4727884" y="267143"/>
                  <a:pt x="4704880" y="267143"/>
                </a:cubicBezTo>
                <a:cubicBezTo>
                  <a:pt x="4685735" y="267143"/>
                  <a:pt x="4671986" y="260941"/>
                  <a:pt x="4662107" y="252408"/>
                </a:cubicBezTo>
                <a:lnTo>
                  <a:pt x="4672635" y="240451"/>
                </a:lnTo>
                <a:cubicBezTo>
                  <a:pt x="4681664" y="247285"/>
                  <a:pt x="4692191" y="251341"/>
                  <a:pt x="4704443" y="251341"/>
                </a:cubicBezTo>
                <a:cubicBezTo>
                  <a:pt x="4719279" y="251341"/>
                  <a:pt x="4728733" y="244928"/>
                  <a:pt x="4728733" y="234261"/>
                </a:cubicBezTo>
                <a:cubicBezTo>
                  <a:pt x="4728733" y="223160"/>
                  <a:pt x="4723150" y="218894"/>
                  <a:pt x="4701221" y="213126"/>
                </a:cubicBezTo>
                <a:cubicBezTo>
                  <a:pt x="4676718" y="206726"/>
                  <a:pt x="4667040" y="196257"/>
                  <a:pt x="4667040" y="180468"/>
                </a:cubicBezTo>
                <a:cubicBezTo>
                  <a:pt x="4667040" y="162532"/>
                  <a:pt x="4684462" y="149509"/>
                  <a:pt x="4707890" y="149509"/>
                </a:cubicBezTo>
                <a:cubicBezTo>
                  <a:pt x="4723787" y="149509"/>
                  <a:pt x="4735614" y="154210"/>
                  <a:pt x="4746366" y="162322"/>
                </a:cubicBezTo>
                <a:close/>
                <a:moveTo>
                  <a:pt x="4834725" y="259455"/>
                </a:moveTo>
                <a:cubicBezTo>
                  <a:pt x="4827194" y="264578"/>
                  <a:pt x="4819027" y="267145"/>
                  <a:pt x="4809361" y="267145"/>
                </a:cubicBezTo>
                <a:cubicBezTo>
                  <a:pt x="4790216" y="267145"/>
                  <a:pt x="4778827" y="256044"/>
                  <a:pt x="4778827" y="235120"/>
                </a:cubicBezTo>
                <a:lnTo>
                  <a:pt x="4778827" y="167223"/>
                </a:lnTo>
                <a:lnTo>
                  <a:pt x="4759057" y="167223"/>
                </a:lnTo>
                <a:lnTo>
                  <a:pt x="4759057" y="152079"/>
                </a:lnTo>
                <a:lnTo>
                  <a:pt x="4778827" y="152079"/>
                </a:lnTo>
                <a:lnTo>
                  <a:pt x="4778827" y="126664"/>
                </a:lnTo>
                <a:lnTo>
                  <a:pt x="4798608" y="124308"/>
                </a:lnTo>
                <a:lnTo>
                  <a:pt x="4798608" y="152079"/>
                </a:lnTo>
                <a:lnTo>
                  <a:pt x="4825484" y="152079"/>
                </a:lnTo>
                <a:lnTo>
                  <a:pt x="4823323" y="167223"/>
                </a:lnTo>
                <a:lnTo>
                  <a:pt x="4798608" y="167223"/>
                </a:lnTo>
                <a:lnTo>
                  <a:pt x="4798608" y="234264"/>
                </a:lnTo>
                <a:cubicBezTo>
                  <a:pt x="4798608" y="245576"/>
                  <a:pt x="4802255" y="250922"/>
                  <a:pt x="4812146" y="250922"/>
                </a:cubicBezTo>
                <a:cubicBezTo>
                  <a:pt x="4817091" y="250922"/>
                  <a:pt x="4821612" y="249421"/>
                  <a:pt x="4827194" y="246432"/>
                </a:cubicBezTo>
                <a:lnTo>
                  <a:pt x="4834725" y="259455"/>
                </a:lnTo>
                <a:close/>
                <a:moveTo>
                  <a:pt x="4875350" y="252199"/>
                </a:moveTo>
                <a:cubicBezTo>
                  <a:pt x="4875350" y="260522"/>
                  <a:pt x="4868893" y="267145"/>
                  <a:pt x="4860302" y="267145"/>
                </a:cubicBezTo>
                <a:cubicBezTo>
                  <a:pt x="4851922" y="267145"/>
                  <a:pt x="4845465" y="260522"/>
                  <a:pt x="4845465" y="252199"/>
                </a:cubicBezTo>
                <a:cubicBezTo>
                  <a:pt x="4845465" y="244087"/>
                  <a:pt x="4851922" y="237464"/>
                  <a:pt x="4860302" y="237464"/>
                </a:cubicBezTo>
                <a:cubicBezTo>
                  <a:pt x="4868893" y="237464"/>
                  <a:pt x="4875350" y="244087"/>
                  <a:pt x="4875350" y="252199"/>
                </a:cubicBezTo>
                <a:close/>
                <a:moveTo>
                  <a:pt x="4354043" y="149509"/>
                </a:moveTo>
                <a:lnTo>
                  <a:pt x="4348673" y="182179"/>
                </a:lnTo>
                <a:cubicBezTo>
                  <a:pt x="4345013" y="181317"/>
                  <a:pt x="4342220" y="180684"/>
                  <a:pt x="4338355" y="180684"/>
                </a:cubicBezTo>
                <a:cubicBezTo>
                  <a:pt x="4324159" y="180684"/>
                  <a:pt x="4318356" y="191147"/>
                  <a:pt x="4314709" y="208439"/>
                </a:cubicBezTo>
                <a:lnTo>
                  <a:pt x="4314709" y="264582"/>
                </a:lnTo>
                <a:lnTo>
                  <a:pt x="4280743" y="264582"/>
                </a:lnTo>
                <a:lnTo>
                  <a:pt x="4280743" y="151219"/>
                </a:lnTo>
                <a:lnTo>
                  <a:pt x="4310397" y="151219"/>
                </a:lnTo>
                <a:lnTo>
                  <a:pt x="4313203" y="173210"/>
                </a:lnTo>
                <a:cubicBezTo>
                  <a:pt x="4318356" y="157413"/>
                  <a:pt x="4329542" y="148014"/>
                  <a:pt x="4342653" y="148014"/>
                </a:cubicBezTo>
                <a:cubicBezTo>
                  <a:pt x="4346951" y="148014"/>
                  <a:pt x="4350395" y="148445"/>
                  <a:pt x="4354043" y="149509"/>
                </a:cubicBezTo>
                <a:close/>
                <a:moveTo>
                  <a:pt x="2977074" y="861572"/>
                </a:moveTo>
                <a:cubicBezTo>
                  <a:pt x="2951801" y="861572"/>
                  <a:pt x="2935849" y="840744"/>
                  <a:pt x="2938180" y="819204"/>
                </a:cubicBezTo>
                <a:cubicBezTo>
                  <a:pt x="2940330" y="795706"/>
                  <a:pt x="2961122" y="776658"/>
                  <a:pt x="2984781" y="776658"/>
                </a:cubicBezTo>
                <a:cubicBezTo>
                  <a:pt x="3008440" y="776658"/>
                  <a:pt x="3025825" y="795706"/>
                  <a:pt x="3023675" y="819204"/>
                </a:cubicBezTo>
                <a:cubicBezTo>
                  <a:pt x="3021524" y="842702"/>
                  <a:pt x="3000732" y="861750"/>
                  <a:pt x="2977074" y="861572"/>
                </a:cubicBezTo>
                <a:close/>
                <a:moveTo>
                  <a:pt x="2984780" y="782889"/>
                </a:moveTo>
                <a:cubicBezTo>
                  <a:pt x="2964169" y="782889"/>
                  <a:pt x="2946066" y="799622"/>
                  <a:pt x="2944273" y="819738"/>
                </a:cubicBezTo>
                <a:cubicBezTo>
                  <a:pt x="2942481" y="839498"/>
                  <a:pt x="2956999" y="855519"/>
                  <a:pt x="2977074" y="855519"/>
                </a:cubicBezTo>
                <a:cubicBezTo>
                  <a:pt x="2997506" y="855519"/>
                  <a:pt x="3015788" y="838964"/>
                  <a:pt x="3017580" y="818670"/>
                </a:cubicBezTo>
                <a:cubicBezTo>
                  <a:pt x="3019373" y="798910"/>
                  <a:pt x="3004675" y="782889"/>
                  <a:pt x="2984780" y="782889"/>
                </a:cubicBezTo>
                <a:close/>
                <a:moveTo>
                  <a:pt x="2988007" y="824366"/>
                </a:moveTo>
                <a:cubicBezTo>
                  <a:pt x="2997148" y="821874"/>
                  <a:pt x="3001808" y="813329"/>
                  <a:pt x="3001629" y="806743"/>
                </a:cubicBezTo>
                <a:cubicBezTo>
                  <a:pt x="3001450" y="799622"/>
                  <a:pt x="2995714" y="794104"/>
                  <a:pt x="2988186" y="794104"/>
                </a:cubicBezTo>
                <a:lnTo>
                  <a:pt x="2971697" y="794104"/>
                </a:lnTo>
                <a:lnTo>
                  <a:pt x="2962197" y="844126"/>
                </a:lnTo>
                <a:lnTo>
                  <a:pt x="2968470" y="844126"/>
                </a:lnTo>
                <a:lnTo>
                  <a:pt x="2972055" y="824900"/>
                </a:lnTo>
                <a:lnTo>
                  <a:pt x="2981554" y="824900"/>
                </a:lnTo>
                <a:lnTo>
                  <a:pt x="2988186" y="844126"/>
                </a:lnTo>
                <a:lnTo>
                  <a:pt x="2994818" y="844126"/>
                </a:lnTo>
                <a:lnTo>
                  <a:pt x="2988007" y="824366"/>
                </a:lnTo>
                <a:lnTo>
                  <a:pt x="2988007" y="824366"/>
                </a:lnTo>
                <a:close/>
                <a:moveTo>
                  <a:pt x="2995355" y="808879"/>
                </a:moveTo>
                <a:cubicBezTo>
                  <a:pt x="2993922" y="814575"/>
                  <a:pt x="2989082" y="818848"/>
                  <a:pt x="2983526" y="818848"/>
                </a:cubicBezTo>
                <a:lnTo>
                  <a:pt x="2973130" y="818848"/>
                </a:lnTo>
                <a:lnTo>
                  <a:pt x="2976715" y="800156"/>
                </a:lnTo>
                <a:lnTo>
                  <a:pt x="2988186" y="800156"/>
                </a:lnTo>
                <a:cubicBezTo>
                  <a:pt x="2992846" y="800156"/>
                  <a:pt x="2996431" y="804428"/>
                  <a:pt x="2995355" y="808879"/>
                </a:cubicBezTo>
                <a:close/>
                <a:moveTo>
                  <a:pt x="1498985" y="270374"/>
                </a:moveTo>
                <a:cubicBezTo>
                  <a:pt x="1468316" y="255526"/>
                  <a:pt x="1453828" y="242512"/>
                  <a:pt x="1453828" y="227989"/>
                </a:cubicBezTo>
                <a:cubicBezTo>
                  <a:pt x="1453828" y="207743"/>
                  <a:pt x="1472761" y="195649"/>
                  <a:pt x="1501834" y="195649"/>
                </a:cubicBezTo>
                <a:cubicBezTo>
                  <a:pt x="1543697" y="195649"/>
                  <a:pt x="1582079" y="211373"/>
                  <a:pt x="1597180" y="222644"/>
                </a:cubicBezTo>
                <a:lnTo>
                  <a:pt x="1613401" y="137908"/>
                </a:lnTo>
                <a:cubicBezTo>
                  <a:pt x="1594348" y="125765"/>
                  <a:pt x="1559986" y="113411"/>
                  <a:pt x="1507205" y="113411"/>
                </a:cubicBezTo>
                <a:cubicBezTo>
                  <a:pt x="1407454" y="113411"/>
                  <a:pt x="1340970" y="165801"/>
                  <a:pt x="1340970" y="243327"/>
                </a:cubicBezTo>
                <a:cubicBezTo>
                  <a:pt x="1340970" y="282728"/>
                  <a:pt x="1367537" y="316159"/>
                  <a:pt x="1420637" y="342530"/>
                </a:cubicBezTo>
                <a:cubicBezTo>
                  <a:pt x="1454206" y="358843"/>
                  <a:pt x="1467348" y="371767"/>
                  <a:pt x="1467348" y="390260"/>
                </a:cubicBezTo>
                <a:cubicBezTo>
                  <a:pt x="1467348" y="410662"/>
                  <a:pt x="1448653" y="423380"/>
                  <a:pt x="1420899" y="423380"/>
                </a:cubicBezTo>
                <a:cubicBezTo>
                  <a:pt x="1387200" y="423380"/>
                  <a:pt x="1342028" y="408651"/>
                  <a:pt x="1316170" y="394058"/>
                </a:cubicBezTo>
                <a:lnTo>
                  <a:pt x="1299920" y="478961"/>
                </a:lnTo>
                <a:cubicBezTo>
                  <a:pt x="1324314" y="493849"/>
                  <a:pt x="1367431" y="504151"/>
                  <a:pt x="1410107" y="504852"/>
                </a:cubicBezTo>
                <a:cubicBezTo>
                  <a:pt x="1469572" y="505307"/>
                  <a:pt x="1519028" y="488918"/>
                  <a:pt x="1549514" y="458861"/>
                </a:cubicBezTo>
                <a:cubicBezTo>
                  <a:pt x="1572432" y="436279"/>
                  <a:pt x="1584075" y="407299"/>
                  <a:pt x="1584075" y="372652"/>
                </a:cubicBezTo>
                <a:cubicBezTo>
                  <a:pt x="1584075" y="319558"/>
                  <a:pt x="1538942" y="290202"/>
                  <a:pt x="1498985" y="270374"/>
                </a:cubicBezTo>
                <a:close/>
                <a:moveTo>
                  <a:pt x="970363" y="127406"/>
                </a:moveTo>
                <a:lnTo>
                  <a:pt x="952989" y="217938"/>
                </a:lnTo>
                <a:cubicBezTo>
                  <a:pt x="935533" y="208075"/>
                  <a:pt x="915292" y="203307"/>
                  <a:pt x="891107" y="203307"/>
                </a:cubicBezTo>
                <a:cubicBezTo>
                  <a:pt x="811295" y="203307"/>
                  <a:pt x="763747" y="272410"/>
                  <a:pt x="763747" y="338997"/>
                </a:cubicBezTo>
                <a:cubicBezTo>
                  <a:pt x="763747" y="395504"/>
                  <a:pt x="801745" y="415748"/>
                  <a:pt x="837167" y="415748"/>
                </a:cubicBezTo>
                <a:cubicBezTo>
                  <a:pt x="869148" y="415748"/>
                  <a:pt x="896280" y="408737"/>
                  <a:pt x="930953" y="391664"/>
                </a:cubicBezTo>
                <a:lnTo>
                  <a:pt x="913201" y="484779"/>
                </a:lnTo>
                <a:cubicBezTo>
                  <a:pt x="887273" y="497313"/>
                  <a:pt x="847002" y="504852"/>
                  <a:pt x="805571" y="504852"/>
                </a:cubicBezTo>
                <a:cubicBezTo>
                  <a:pt x="708709" y="504852"/>
                  <a:pt x="646266" y="444585"/>
                  <a:pt x="646266" y="351250"/>
                </a:cubicBezTo>
                <a:cubicBezTo>
                  <a:pt x="646266" y="216101"/>
                  <a:pt x="752144" y="114188"/>
                  <a:pt x="892662" y="114188"/>
                </a:cubicBezTo>
                <a:cubicBezTo>
                  <a:pt x="921178" y="114188"/>
                  <a:pt x="950277" y="119151"/>
                  <a:pt x="970363" y="127406"/>
                </a:cubicBezTo>
                <a:close/>
                <a:moveTo>
                  <a:pt x="2778278" y="343325"/>
                </a:moveTo>
                <a:cubicBezTo>
                  <a:pt x="2862884" y="359827"/>
                  <a:pt x="2955783" y="339380"/>
                  <a:pt x="2993476" y="302896"/>
                </a:cubicBezTo>
                <a:cubicBezTo>
                  <a:pt x="3013625" y="283392"/>
                  <a:pt x="3023855" y="257710"/>
                  <a:pt x="3023855" y="226484"/>
                </a:cubicBezTo>
                <a:cubicBezTo>
                  <a:pt x="3023855" y="158962"/>
                  <a:pt x="2971211" y="113423"/>
                  <a:pt x="2892289" y="113423"/>
                </a:cubicBezTo>
                <a:cubicBezTo>
                  <a:pt x="2829229" y="113423"/>
                  <a:pt x="2771906" y="139599"/>
                  <a:pt x="2730905" y="187174"/>
                </a:cubicBezTo>
                <a:cubicBezTo>
                  <a:pt x="2693535" y="230519"/>
                  <a:pt x="2672078" y="288647"/>
                  <a:pt x="2672078" y="346655"/>
                </a:cubicBezTo>
                <a:cubicBezTo>
                  <a:pt x="2672078" y="447258"/>
                  <a:pt x="2731715" y="504881"/>
                  <a:pt x="2836038" y="504881"/>
                </a:cubicBezTo>
                <a:cubicBezTo>
                  <a:pt x="2860557" y="504881"/>
                  <a:pt x="2923337" y="501938"/>
                  <a:pt x="2976777" y="474840"/>
                </a:cubicBezTo>
                <a:lnTo>
                  <a:pt x="2994734" y="381111"/>
                </a:lnTo>
                <a:cubicBezTo>
                  <a:pt x="2950484" y="406640"/>
                  <a:pt x="2909899" y="418032"/>
                  <a:pt x="2863005" y="418032"/>
                </a:cubicBezTo>
                <a:cubicBezTo>
                  <a:pt x="2810134" y="418032"/>
                  <a:pt x="2774248" y="390673"/>
                  <a:pt x="2778278" y="343325"/>
                </a:cubicBezTo>
                <a:close/>
                <a:moveTo>
                  <a:pt x="2878412" y="194883"/>
                </a:moveTo>
                <a:cubicBezTo>
                  <a:pt x="2921523" y="194883"/>
                  <a:pt x="2926998" y="231859"/>
                  <a:pt x="2909510" y="249117"/>
                </a:cubicBezTo>
                <a:cubicBezTo>
                  <a:pt x="2893357" y="265003"/>
                  <a:pt x="2856343" y="271614"/>
                  <a:pt x="2790539" y="271078"/>
                </a:cubicBezTo>
                <a:cubicBezTo>
                  <a:pt x="2799027" y="234378"/>
                  <a:pt x="2829908" y="194883"/>
                  <a:pt x="2878412" y="194883"/>
                </a:cubicBezTo>
                <a:close/>
                <a:moveTo>
                  <a:pt x="2693048" y="127406"/>
                </a:moveTo>
                <a:lnTo>
                  <a:pt x="2675674" y="217938"/>
                </a:lnTo>
                <a:cubicBezTo>
                  <a:pt x="2658218" y="208075"/>
                  <a:pt x="2637977" y="203307"/>
                  <a:pt x="2613791" y="203307"/>
                </a:cubicBezTo>
                <a:cubicBezTo>
                  <a:pt x="2533980" y="203307"/>
                  <a:pt x="2486431" y="272410"/>
                  <a:pt x="2486431" y="338997"/>
                </a:cubicBezTo>
                <a:cubicBezTo>
                  <a:pt x="2486431" y="395505"/>
                  <a:pt x="2524430" y="415748"/>
                  <a:pt x="2559852" y="415748"/>
                </a:cubicBezTo>
                <a:cubicBezTo>
                  <a:pt x="2591833" y="415748"/>
                  <a:pt x="2618964" y="408738"/>
                  <a:pt x="2653638" y="391664"/>
                </a:cubicBezTo>
                <a:lnTo>
                  <a:pt x="2635886" y="484779"/>
                </a:lnTo>
                <a:cubicBezTo>
                  <a:pt x="2609958" y="497313"/>
                  <a:pt x="2569687" y="504852"/>
                  <a:pt x="2528256" y="504852"/>
                </a:cubicBezTo>
                <a:cubicBezTo>
                  <a:pt x="2431394" y="504852"/>
                  <a:pt x="2368950" y="444585"/>
                  <a:pt x="2368950" y="351250"/>
                </a:cubicBezTo>
                <a:cubicBezTo>
                  <a:pt x="2368950" y="216101"/>
                  <a:pt x="2474828" y="114188"/>
                  <a:pt x="2615346" y="114188"/>
                </a:cubicBezTo>
                <a:cubicBezTo>
                  <a:pt x="2643863" y="114188"/>
                  <a:pt x="2672962" y="119152"/>
                  <a:pt x="2693048" y="127406"/>
                </a:cubicBezTo>
                <a:close/>
                <a:moveTo>
                  <a:pt x="2329634" y="152058"/>
                </a:moveTo>
                <a:cubicBezTo>
                  <a:pt x="2308543" y="126672"/>
                  <a:pt x="2274886" y="113592"/>
                  <a:pt x="2229388" y="113412"/>
                </a:cubicBezTo>
                <a:cubicBezTo>
                  <a:pt x="2169583" y="113412"/>
                  <a:pt x="2116089" y="135174"/>
                  <a:pt x="2074640" y="176365"/>
                </a:cubicBezTo>
                <a:cubicBezTo>
                  <a:pt x="2025158" y="225550"/>
                  <a:pt x="1995615" y="299510"/>
                  <a:pt x="1995666" y="374196"/>
                </a:cubicBezTo>
                <a:cubicBezTo>
                  <a:pt x="1995706" y="439939"/>
                  <a:pt x="2029377" y="505631"/>
                  <a:pt x="2103884" y="505631"/>
                </a:cubicBezTo>
                <a:cubicBezTo>
                  <a:pt x="2165274" y="505631"/>
                  <a:pt x="2201867" y="469953"/>
                  <a:pt x="2216888" y="424869"/>
                </a:cubicBezTo>
                <a:lnTo>
                  <a:pt x="2202971" y="497208"/>
                </a:lnTo>
                <a:lnTo>
                  <a:pt x="2310065" y="497208"/>
                </a:lnTo>
                <a:lnTo>
                  <a:pt x="2350499" y="287037"/>
                </a:lnTo>
                <a:cubicBezTo>
                  <a:pt x="2358289" y="246027"/>
                  <a:pt x="2360850" y="189628"/>
                  <a:pt x="2329634" y="152058"/>
                </a:cubicBezTo>
                <a:close/>
                <a:moveTo>
                  <a:pt x="2237095" y="310500"/>
                </a:moveTo>
                <a:cubicBezTo>
                  <a:pt x="2225009" y="372547"/>
                  <a:pt x="2189874" y="414918"/>
                  <a:pt x="2149081" y="414918"/>
                </a:cubicBezTo>
                <a:cubicBezTo>
                  <a:pt x="2123576" y="414918"/>
                  <a:pt x="2108917" y="390455"/>
                  <a:pt x="2108903" y="351174"/>
                </a:cubicBezTo>
                <a:cubicBezTo>
                  <a:pt x="2108862" y="288302"/>
                  <a:pt x="2154552" y="197893"/>
                  <a:pt x="2207291" y="197893"/>
                </a:cubicBezTo>
                <a:cubicBezTo>
                  <a:pt x="2232196" y="197893"/>
                  <a:pt x="2246086" y="212182"/>
                  <a:pt x="2247393" y="238683"/>
                </a:cubicBezTo>
                <a:cubicBezTo>
                  <a:pt x="2248144" y="255113"/>
                  <a:pt x="2241212" y="289532"/>
                  <a:pt x="2237095" y="310500"/>
                </a:cubicBezTo>
                <a:close/>
                <a:moveTo>
                  <a:pt x="606951" y="152058"/>
                </a:moveTo>
                <a:cubicBezTo>
                  <a:pt x="585861" y="126672"/>
                  <a:pt x="552204" y="113592"/>
                  <a:pt x="506706" y="113412"/>
                </a:cubicBezTo>
                <a:cubicBezTo>
                  <a:pt x="446901" y="113412"/>
                  <a:pt x="393408" y="135174"/>
                  <a:pt x="351958" y="176365"/>
                </a:cubicBezTo>
                <a:cubicBezTo>
                  <a:pt x="302476" y="225550"/>
                  <a:pt x="272933" y="299510"/>
                  <a:pt x="272985" y="374196"/>
                </a:cubicBezTo>
                <a:cubicBezTo>
                  <a:pt x="273024" y="439939"/>
                  <a:pt x="306695" y="505631"/>
                  <a:pt x="381203" y="505631"/>
                </a:cubicBezTo>
                <a:cubicBezTo>
                  <a:pt x="442592" y="505631"/>
                  <a:pt x="479185" y="469953"/>
                  <a:pt x="494206" y="424869"/>
                </a:cubicBezTo>
                <a:lnTo>
                  <a:pt x="480290" y="497208"/>
                </a:lnTo>
                <a:lnTo>
                  <a:pt x="587383" y="497208"/>
                </a:lnTo>
                <a:lnTo>
                  <a:pt x="627817" y="287037"/>
                </a:lnTo>
                <a:cubicBezTo>
                  <a:pt x="635608" y="246027"/>
                  <a:pt x="638169" y="189628"/>
                  <a:pt x="606951" y="152058"/>
                </a:cubicBezTo>
                <a:close/>
                <a:moveTo>
                  <a:pt x="514414" y="310500"/>
                </a:moveTo>
                <a:cubicBezTo>
                  <a:pt x="502328" y="372547"/>
                  <a:pt x="467193" y="414918"/>
                  <a:pt x="426399" y="414918"/>
                </a:cubicBezTo>
                <a:cubicBezTo>
                  <a:pt x="400893" y="414918"/>
                  <a:pt x="386235" y="390455"/>
                  <a:pt x="386220" y="351174"/>
                </a:cubicBezTo>
                <a:cubicBezTo>
                  <a:pt x="386180" y="288302"/>
                  <a:pt x="431870" y="197893"/>
                  <a:pt x="484610" y="197893"/>
                </a:cubicBezTo>
                <a:cubicBezTo>
                  <a:pt x="509515" y="197893"/>
                  <a:pt x="523404" y="212182"/>
                  <a:pt x="524712" y="238683"/>
                </a:cubicBezTo>
                <a:cubicBezTo>
                  <a:pt x="525462" y="255113"/>
                  <a:pt x="518530" y="289532"/>
                  <a:pt x="514414" y="310500"/>
                </a:cubicBezTo>
                <a:close/>
                <a:moveTo>
                  <a:pt x="1865864" y="113412"/>
                </a:moveTo>
                <a:cubicBezTo>
                  <a:pt x="1819094" y="113412"/>
                  <a:pt x="1777774" y="140376"/>
                  <a:pt x="1749875" y="180686"/>
                </a:cubicBezTo>
                <a:lnTo>
                  <a:pt x="1761420" y="120329"/>
                </a:lnTo>
                <a:lnTo>
                  <a:pt x="1662666" y="120329"/>
                </a:lnTo>
                <a:lnTo>
                  <a:pt x="1567483" y="617550"/>
                </a:lnTo>
                <a:lnTo>
                  <a:pt x="1679604" y="617550"/>
                </a:lnTo>
                <a:lnTo>
                  <a:pt x="1708085" y="468046"/>
                </a:lnTo>
                <a:cubicBezTo>
                  <a:pt x="1720816" y="490846"/>
                  <a:pt x="1743145" y="505632"/>
                  <a:pt x="1782974" y="505635"/>
                </a:cubicBezTo>
                <a:cubicBezTo>
                  <a:pt x="1807282" y="505361"/>
                  <a:pt x="1835253" y="498863"/>
                  <a:pt x="1864479" y="483389"/>
                </a:cubicBezTo>
                <a:cubicBezTo>
                  <a:pt x="1944040" y="441264"/>
                  <a:pt x="1988181" y="347642"/>
                  <a:pt x="1988181" y="256331"/>
                </a:cubicBezTo>
                <a:cubicBezTo>
                  <a:pt x="1988181" y="169267"/>
                  <a:pt x="1940069" y="113412"/>
                  <a:pt x="1865864" y="113412"/>
                </a:cubicBezTo>
                <a:close/>
                <a:moveTo>
                  <a:pt x="1769434" y="421096"/>
                </a:moveTo>
                <a:cubicBezTo>
                  <a:pt x="1717848" y="421096"/>
                  <a:pt x="1730940" y="347514"/>
                  <a:pt x="1735618" y="323009"/>
                </a:cubicBezTo>
                <a:cubicBezTo>
                  <a:pt x="1749285" y="251336"/>
                  <a:pt x="1784539" y="204083"/>
                  <a:pt x="1826299" y="204083"/>
                </a:cubicBezTo>
                <a:cubicBezTo>
                  <a:pt x="1867368" y="204083"/>
                  <a:pt x="1871576" y="247067"/>
                  <a:pt x="1871576" y="264766"/>
                </a:cubicBezTo>
                <a:cubicBezTo>
                  <a:pt x="1871576" y="338066"/>
                  <a:pt x="1828326" y="421096"/>
                  <a:pt x="1769434" y="421096"/>
                </a:cubicBezTo>
                <a:close/>
                <a:moveTo>
                  <a:pt x="312690" y="112292"/>
                </a:moveTo>
                <a:lnTo>
                  <a:pt x="290790" y="226685"/>
                </a:lnTo>
                <a:cubicBezTo>
                  <a:pt x="214138" y="215159"/>
                  <a:pt x="160276" y="252471"/>
                  <a:pt x="142422" y="345714"/>
                </a:cubicBezTo>
                <a:lnTo>
                  <a:pt x="112141" y="503840"/>
                </a:lnTo>
                <a:lnTo>
                  <a:pt x="0" y="503840"/>
                </a:lnTo>
                <a:lnTo>
                  <a:pt x="73440" y="120329"/>
                </a:lnTo>
                <a:lnTo>
                  <a:pt x="172185" y="120329"/>
                </a:lnTo>
                <a:lnTo>
                  <a:pt x="156202" y="203879"/>
                </a:lnTo>
                <a:cubicBezTo>
                  <a:pt x="182129" y="145253"/>
                  <a:pt x="243682" y="106042"/>
                  <a:pt x="312690" y="112292"/>
                </a:cubicBezTo>
                <a:close/>
                <a:moveTo>
                  <a:pt x="944243" y="497208"/>
                </a:moveTo>
                <a:lnTo>
                  <a:pt x="1039422" y="0"/>
                </a:lnTo>
                <a:lnTo>
                  <a:pt x="1150777" y="0"/>
                </a:lnTo>
                <a:lnTo>
                  <a:pt x="1094906" y="291909"/>
                </a:lnTo>
                <a:lnTo>
                  <a:pt x="1239347" y="120329"/>
                </a:lnTo>
                <a:lnTo>
                  <a:pt x="1361754" y="120329"/>
                </a:lnTo>
                <a:lnTo>
                  <a:pt x="1212060" y="293812"/>
                </a:lnTo>
                <a:lnTo>
                  <a:pt x="1294315" y="497208"/>
                </a:lnTo>
                <a:lnTo>
                  <a:pt x="1173734" y="497208"/>
                </a:lnTo>
                <a:lnTo>
                  <a:pt x="1094235" y="295415"/>
                </a:lnTo>
                <a:lnTo>
                  <a:pt x="1055611" y="497208"/>
                </a:lnTo>
                <a:lnTo>
                  <a:pt x="944243" y="497208"/>
                </a:lnTo>
                <a:close/>
                <a:moveTo>
                  <a:pt x="2280316" y="695157"/>
                </a:moveTo>
                <a:cubicBezTo>
                  <a:pt x="2225655" y="695157"/>
                  <a:pt x="2187788" y="741906"/>
                  <a:pt x="2187788" y="795876"/>
                </a:cubicBezTo>
                <a:cubicBezTo>
                  <a:pt x="2187788" y="833773"/>
                  <a:pt x="2212818" y="861573"/>
                  <a:pt x="2253291" y="861573"/>
                </a:cubicBezTo>
                <a:cubicBezTo>
                  <a:pt x="2307953" y="861573"/>
                  <a:pt x="2345820" y="815176"/>
                  <a:pt x="2345820" y="760854"/>
                </a:cubicBezTo>
                <a:cubicBezTo>
                  <a:pt x="2345820" y="725897"/>
                  <a:pt x="2323428" y="695157"/>
                  <a:pt x="2280316" y="695157"/>
                </a:cubicBezTo>
                <a:close/>
                <a:moveTo>
                  <a:pt x="2275683" y="724555"/>
                </a:moveTo>
                <a:cubicBezTo>
                  <a:pt x="2298751" y="724555"/>
                  <a:pt x="2306312" y="744845"/>
                  <a:pt x="2306312" y="761174"/>
                </a:cubicBezTo>
                <a:cubicBezTo>
                  <a:pt x="2306312" y="792936"/>
                  <a:pt x="2287233" y="832175"/>
                  <a:pt x="2258568" y="832175"/>
                </a:cubicBezTo>
                <a:cubicBezTo>
                  <a:pt x="2238814" y="832175"/>
                  <a:pt x="2227296" y="816774"/>
                  <a:pt x="2227296" y="794885"/>
                </a:cubicBezTo>
                <a:cubicBezTo>
                  <a:pt x="2227296" y="765136"/>
                  <a:pt x="2245087" y="724555"/>
                  <a:pt x="2275683" y="724555"/>
                </a:cubicBezTo>
                <a:close/>
                <a:moveTo>
                  <a:pt x="2541237" y="695157"/>
                </a:moveTo>
                <a:cubicBezTo>
                  <a:pt x="2486576" y="695157"/>
                  <a:pt x="2448709" y="741906"/>
                  <a:pt x="2448709" y="795876"/>
                </a:cubicBezTo>
                <a:cubicBezTo>
                  <a:pt x="2448709" y="833773"/>
                  <a:pt x="2473739" y="861573"/>
                  <a:pt x="2514212" y="861573"/>
                </a:cubicBezTo>
                <a:cubicBezTo>
                  <a:pt x="2568874" y="861573"/>
                  <a:pt x="2606741" y="815176"/>
                  <a:pt x="2606741" y="760854"/>
                </a:cubicBezTo>
                <a:cubicBezTo>
                  <a:pt x="2606741" y="725897"/>
                  <a:pt x="2584349" y="695157"/>
                  <a:pt x="2541237" y="695157"/>
                </a:cubicBezTo>
                <a:close/>
                <a:moveTo>
                  <a:pt x="2536604" y="724555"/>
                </a:moveTo>
                <a:cubicBezTo>
                  <a:pt x="2559672" y="724555"/>
                  <a:pt x="2567233" y="744845"/>
                  <a:pt x="2567233" y="761174"/>
                </a:cubicBezTo>
                <a:cubicBezTo>
                  <a:pt x="2567233" y="792936"/>
                  <a:pt x="2548154" y="832175"/>
                  <a:pt x="2519488" y="832175"/>
                </a:cubicBezTo>
                <a:cubicBezTo>
                  <a:pt x="2499734" y="832175"/>
                  <a:pt x="2488217" y="816774"/>
                  <a:pt x="2488217" y="794885"/>
                </a:cubicBezTo>
                <a:cubicBezTo>
                  <a:pt x="2488217" y="765136"/>
                  <a:pt x="2506008" y="724555"/>
                  <a:pt x="2536604" y="724555"/>
                </a:cubicBezTo>
                <a:close/>
                <a:moveTo>
                  <a:pt x="2441704" y="646623"/>
                </a:moveTo>
                <a:lnTo>
                  <a:pt x="2400932" y="857994"/>
                </a:lnTo>
                <a:lnTo>
                  <a:pt x="2362712" y="857994"/>
                </a:lnTo>
                <a:lnTo>
                  <a:pt x="2403190" y="646623"/>
                </a:lnTo>
                <a:lnTo>
                  <a:pt x="2441704" y="646623"/>
                </a:lnTo>
                <a:close/>
                <a:moveTo>
                  <a:pt x="1819430" y="701970"/>
                </a:moveTo>
                <a:lnTo>
                  <a:pt x="1813367" y="733641"/>
                </a:lnTo>
                <a:cubicBezTo>
                  <a:pt x="1806719" y="730152"/>
                  <a:pt x="1798148" y="726217"/>
                  <a:pt x="1783826" y="726217"/>
                </a:cubicBezTo>
                <a:cubicBezTo>
                  <a:pt x="1746957" y="726217"/>
                  <a:pt x="1723567" y="759896"/>
                  <a:pt x="1723567" y="793256"/>
                </a:cubicBezTo>
                <a:cubicBezTo>
                  <a:pt x="1723567" y="817093"/>
                  <a:pt x="1737401" y="830514"/>
                  <a:pt x="1758796" y="830514"/>
                </a:cubicBezTo>
                <a:cubicBezTo>
                  <a:pt x="1780522" y="830514"/>
                  <a:pt x="1796308" y="821596"/>
                  <a:pt x="1801876" y="818489"/>
                </a:cubicBezTo>
                <a:lnTo>
                  <a:pt x="1795551" y="851535"/>
                </a:lnTo>
                <a:cubicBezTo>
                  <a:pt x="1786178" y="856289"/>
                  <a:pt x="1769537" y="861253"/>
                  <a:pt x="1748275" y="861253"/>
                </a:cubicBezTo>
                <a:cubicBezTo>
                  <a:pt x="1708092" y="861253"/>
                  <a:pt x="1683415" y="835754"/>
                  <a:pt x="1683415" y="797825"/>
                </a:cubicBezTo>
                <a:cubicBezTo>
                  <a:pt x="1683415" y="742225"/>
                  <a:pt x="1725883" y="695477"/>
                  <a:pt x="1785145" y="695477"/>
                </a:cubicBezTo>
                <a:cubicBezTo>
                  <a:pt x="1800432" y="695477"/>
                  <a:pt x="1813804" y="699277"/>
                  <a:pt x="1819430" y="701970"/>
                </a:cubicBezTo>
                <a:close/>
                <a:moveTo>
                  <a:pt x="1599026" y="831504"/>
                </a:moveTo>
                <a:cubicBezTo>
                  <a:pt x="1625535" y="831504"/>
                  <a:pt x="1644256" y="821717"/>
                  <a:pt x="1657309" y="812360"/>
                </a:cubicBezTo>
                <a:lnTo>
                  <a:pt x="1650747" y="846645"/>
                </a:lnTo>
                <a:cubicBezTo>
                  <a:pt x="1634704" y="856213"/>
                  <a:pt x="1611229" y="861573"/>
                  <a:pt x="1590147" y="861573"/>
                </a:cubicBezTo>
                <a:cubicBezTo>
                  <a:pt x="1545684" y="861573"/>
                  <a:pt x="1524289" y="834444"/>
                  <a:pt x="1524289" y="795524"/>
                </a:cubicBezTo>
                <a:cubicBezTo>
                  <a:pt x="1524289" y="747466"/>
                  <a:pt x="1559840" y="695157"/>
                  <a:pt x="1615145" y="695157"/>
                </a:cubicBezTo>
                <a:cubicBezTo>
                  <a:pt x="1646771" y="695157"/>
                  <a:pt x="1666846" y="713115"/>
                  <a:pt x="1666846" y="739957"/>
                </a:cubicBezTo>
                <a:cubicBezTo>
                  <a:pt x="1666846" y="780794"/>
                  <a:pt x="1623735" y="793895"/>
                  <a:pt x="1561835" y="792585"/>
                </a:cubicBezTo>
                <a:cubicBezTo>
                  <a:pt x="1561159" y="798145"/>
                  <a:pt x="1562478" y="808945"/>
                  <a:pt x="1566114" y="815176"/>
                </a:cubicBezTo>
                <a:cubicBezTo>
                  <a:pt x="1572355" y="825944"/>
                  <a:pt x="1583873" y="831504"/>
                  <a:pt x="1599026" y="831504"/>
                </a:cubicBezTo>
                <a:close/>
                <a:moveTo>
                  <a:pt x="1565760" y="764114"/>
                </a:moveTo>
                <a:cubicBezTo>
                  <a:pt x="1605268" y="764465"/>
                  <a:pt x="1630620" y="759225"/>
                  <a:pt x="1630620" y="739956"/>
                </a:cubicBezTo>
                <a:cubicBezTo>
                  <a:pt x="1630620" y="729796"/>
                  <a:pt x="1622416" y="723596"/>
                  <a:pt x="1610222" y="723596"/>
                </a:cubicBezTo>
                <a:cubicBezTo>
                  <a:pt x="1586189" y="723596"/>
                  <a:pt x="1570393" y="744846"/>
                  <a:pt x="1565760" y="764114"/>
                </a:cubicBezTo>
                <a:close/>
                <a:moveTo>
                  <a:pt x="2158533" y="765136"/>
                </a:moveTo>
                <a:lnTo>
                  <a:pt x="2140621" y="857994"/>
                </a:lnTo>
                <a:lnTo>
                  <a:pt x="2102401" y="857994"/>
                </a:lnTo>
                <a:lnTo>
                  <a:pt x="2119621" y="768076"/>
                </a:lnTo>
                <a:cubicBezTo>
                  <a:pt x="2120746" y="762183"/>
                  <a:pt x="2121512" y="755294"/>
                  <a:pt x="2121512" y="749095"/>
                </a:cubicBezTo>
                <a:cubicBezTo>
                  <a:pt x="2121512" y="735675"/>
                  <a:pt x="2116557" y="726216"/>
                  <a:pt x="2101404" y="726216"/>
                </a:cubicBezTo>
                <a:cubicBezTo>
                  <a:pt x="2083966" y="726216"/>
                  <a:pt x="2061959" y="747114"/>
                  <a:pt x="2055042" y="784436"/>
                </a:cubicBezTo>
                <a:lnTo>
                  <a:pt x="2040853" y="857994"/>
                </a:lnTo>
                <a:lnTo>
                  <a:pt x="2002633" y="857994"/>
                </a:lnTo>
                <a:lnTo>
                  <a:pt x="2033316" y="697777"/>
                </a:lnTo>
                <a:lnTo>
                  <a:pt x="2067888" y="697777"/>
                </a:lnTo>
                <a:lnTo>
                  <a:pt x="2061951" y="728554"/>
                </a:lnTo>
                <a:cubicBezTo>
                  <a:pt x="2076820" y="706392"/>
                  <a:pt x="2097643" y="695157"/>
                  <a:pt x="2120514" y="695157"/>
                </a:cubicBezTo>
                <a:cubicBezTo>
                  <a:pt x="2143550" y="695157"/>
                  <a:pt x="2161341" y="708865"/>
                  <a:pt x="2161341" y="738934"/>
                </a:cubicBezTo>
                <a:cubicBezTo>
                  <a:pt x="2161341" y="746156"/>
                  <a:pt x="2160173" y="757276"/>
                  <a:pt x="2158533" y="765136"/>
                </a:cubicBezTo>
                <a:close/>
                <a:moveTo>
                  <a:pt x="1980144" y="738934"/>
                </a:moveTo>
                <a:cubicBezTo>
                  <a:pt x="1980144" y="746156"/>
                  <a:pt x="1978976" y="757276"/>
                  <a:pt x="1977335" y="765136"/>
                </a:cubicBezTo>
                <a:lnTo>
                  <a:pt x="1959424" y="857994"/>
                </a:lnTo>
                <a:lnTo>
                  <a:pt x="1921204" y="857994"/>
                </a:lnTo>
                <a:lnTo>
                  <a:pt x="1938424" y="768076"/>
                </a:lnTo>
                <a:cubicBezTo>
                  <a:pt x="1939549" y="762183"/>
                  <a:pt x="1940315" y="755294"/>
                  <a:pt x="1940315" y="749095"/>
                </a:cubicBezTo>
                <a:cubicBezTo>
                  <a:pt x="1940315" y="735675"/>
                  <a:pt x="1935360" y="726216"/>
                  <a:pt x="1920206" y="726216"/>
                </a:cubicBezTo>
                <a:cubicBezTo>
                  <a:pt x="1902769" y="726216"/>
                  <a:pt x="1880762" y="747114"/>
                  <a:pt x="1873845" y="784436"/>
                </a:cubicBezTo>
                <a:lnTo>
                  <a:pt x="1873845" y="784436"/>
                </a:lnTo>
                <a:lnTo>
                  <a:pt x="1859656" y="857994"/>
                </a:lnTo>
                <a:lnTo>
                  <a:pt x="1821436" y="857994"/>
                </a:lnTo>
                <a:lnTo>
                  <a:pt x="1861915" y="646623"/>
                </a:lnTo>
                <a:lnTo>
                  <a:pt x="1900428" y="646623"/>
                </a:lnTo>
                <a:lnTo>
                  <a:pt x="1885984" y="721502"/>
                </a:lnTo>
                <a:cubicBezTo>
                  <a:pt x="1900326" y="704012"/>
                  <a:pt x="1919014" y="695157"/>
                  <a:pt x="1939317" y="695157"/>
                </a:cubicBezTo>
                <a:cubicBezTo>
                  <a:pt x="1962353" y="695157"/>
                  <a:pt x="1980144" y="708865"/>
                  <a:pt x="1980144" y="738934"/>
                </a:cubicBezTo>
                <a:close/>
                <a:moveTo>
                  <a:pt x="1486679" y="698736"/>
                </a:moveTo>
                <a:lnTo>
                  <a:pt x="1522584" y="698736"/>
                </a:lnTo>
                <a:lnTo>
                  <a:pt x="1516664" y="728165"/>
                </a:lnTo>
                <a:lnTo>
                  <a:pt x="1480760" y="728165"/>
                </a:lnTo>
                <a:lnTo>
                  <a:pt x="1468243" y="792264"/>
                </a:lnTo>
                <a:cubicBezTo>
                  <a:pt x="1466603" y="799775"/>
                  <a:pt x="1465285" y="807955"/>
                  <a:pt x="1465285" y="814824"/>
                </a:cubicBezTo>
                <a:cubicBezTo>
                  <a:pt x="1465285" y="823675"/>
                  <a:pt x="1469241" y="829236"/>
                  <a:pt x="1479440" y="829236"/>
                </a:cubicBezTo>
                <a:cubicBezTo>
                  <a:pt x="1484941" y="829236"/>
                  <a:pt x="1490390" y="828740"/>
                  <a:pt x="1494778" y="827801"/>
                </a:cubicBezTo>
                <a:lnTo>
                  <a:pt x="1488997" y="857990"/>
                </a:lnTo>
                <a:lnTo>
                  <a:pt x="1488996" y="857994"/>
                </a:lnTo>
                <a:cubicBezTo>
                  <a:pt x="1483398" y="860295"/>
                  <a:pt x="1473198" y="861254"/>
                  <a:pt x="1463965" y="861254"/>
                </a:cubicBezTo>
                <a:cubicBezTo>
                  <a:pt x="1437648" y="861254"/>
                  <a:pt x="1426097" y="846874"/>
                  <a:pt x="1426097" y="828564"/>
                </a:cubicBezTo>
                <a:cubicBezTo>
                  <a:pt x="1426097" y="819713"/>
                  <a:pt x="1427096" y="810894"/>
                  <a:pt x="1429411" y="799135"/>
                </a:cubicBezTo>
                <a:lnTo>
                  <a:pt x="1443247" y="728165"/>
                </a:lnTo>
                <a:lnTo>
                  <a:pt x="1421818" y="728165"/>
                </a:lnTo>
                <a:lnTo>
                  <a:pt x="1427416" y="698736"/>
                </a:lnTo>
                <a:lnTo>
                  <a:pt x="1448813" y="698736"/>
                </a:lnTo>
                <a:lnTo>
                  <a:pt x="1457003" y="657748"/>
                </a:lnTo>
                <a:lnTo>
                  <a:pt x="1494288" y="657748"/>
                </a:lnTo>
                <a:lnTo>
                  <a:pt x="1486679" y="698736"/>
                </a:lnTo>
                <a:close/>
                <a:moveTo>
                  <a:pt x="2788298" y="886433"/>
                </a:moveTo>
                <a:cubicBezTo>
                  <a:pt x="2797421" y="891459"/>
                  <a:pt x="2817033" y="897683"/>
                  <a:pt x="2828271" y="878611"/>
                </a:cubicBezTo>
                <a:lnTo>
                  <a:pt x="2840780" y="853718"/>
                </a:lnTo>
                <a:lnTo>
                  <a:pt x="2812203" y="697777"/>
                </a:lnTo>
                <a:lnTo>
                  <a:pt x="2852387" y="697777"/>
                </a:lnTo>
                <a:lnTo>
                  <a:pt x="2867179" y="816325"/>
                </a:lnTo>
                <a:lnTo>
                  <a:pt x="2928097" y="697777"/>
                </a:lnTo>
                <a:lnTo>
                  <a:pt x="2968924" y="697777"/>
                </a:lnTo>
                <a:lnTo>
                  <a:pt x="2861660" y="887677"/>
                </a:lnTo>
                <a:lnTo>
                  <a:pt x="2861660" y="887739"/>
                </a:lnTo>
                <a:cubicBezTo>
                  <a:pt x="2840670" y="925032"/>
                  <a:pt x="2811722" y="931006"/>
                  <a:pt x="2782349" y="917510"/>
                </a:cubicBezTo>
                <a:lnTo>
                  <a:pt x="2788298" y="886433"/>
                </a:lnTo>
                <a:close/>
                <a:moveTo>
                  <a:pt x="2783865" y="738023"/>
                </a:moveTo>
                <a:cubicBezTo>
                  <a:pt x="2783865" y="746856"/>
                  <a:pt x="2782548" y="756668"/>
                  <a:pt x="2780573" y="765507"/>
                </a:cubicBezTo>
                <a:lnTo>
                  <a:pt x="2766056" y="837735"/>
                </a:lnTo>
                <a:cubicBezTo>
                  <a:pt x="2760075" y="868795"/>
                  <a:pt x="2751071" y="893655"/>
                  <a:pt x="2732771" y="908673"/>
                </a:cubicBezTo>
                <a:cubicBezTo>
                  <a:pt x="2715803" y="922413"/>
                  <a:pt x="2693178" y="926343"/>
                  <a:pt x="2672895" y="926343"/>
                </a:cubicBezTo>
                <a:cubicBezTo>
                  <a:pt x="2654111" y="926343"/>
                  <a:pt x="2636689" y="922930"/>
                  <a:pt x="2625597" y="917510"/>
                </a:cubicBezTo>
                <a:lnTo>
                  <a:pt x="2631546" y="886433"/>
                </a:lnTo>
                <a:cubicBezTo>
                  <a:pt x="2640780" y="891993"/>
                  <a:pt x="2658539" y="895923"/>
                  <a:pt x="2673692" y="895923"/>
                </a:cubicBezTo>
                <a:cubicBezTo>
                  <a:pt x="2698723" y="895923"/>
                  <a:pt x="2717833" y="884164"/>
                  <a:pt x="2725716" y="847194"/>
                </a:cubicBezTo>
                <a:lnTo>
                  <a:pt x="2728786" y="833259"/>
                </a:lnTo>
                <a:cubicBezTo>
                  <a:pt x="2715922" y="851397"/>
                  <a:pt x="2696745" y="861694"/>
                  <a:pt x="2675487" y="861694"/>
                </a:cubicBezTo>
                <a:cubicBezTo>
                  <a:pt x="2641227" y="861694"/>
                  <a:pt x="2627062" y="833883"/>
                  <a:pt x="2627062" y="805419"/>
                </a:cubicBezTo>
                <a:cubicBezTo>
                  <a:pt x="2627062" y="755034"/>
                  <a:pt x="2661981" y="695157"/>
                  <a:pt x="2730167" y="695157"/>
                </a:cubicBezTo>
                <a:cubicBezTo>
                  <a:pt x="2763769" y="695157"/>
                  <a:pt x="2783865" y="709232"/>
                  <a:pt x="2783865" y="738023"/>
                </a:cubicBezTo>
                <a:close/>
                <a:moveTo>
                  <a:pt x="2744332" y="744568"/>
                </a:moveTo>
                <a:cubicBezTo>
                  <a:pt x="2744002" y="731479"/>
                  <a:pt x="2736426" y="724282"/>
                  <a:pt x="2722919" y="724282"/>
                </a:cubicBezTo>
                <a:cubicBezTo>
                  <a:pt x="2689323" y="724282"/>
                  <a:pt x="2667246" y="767142"/>
                  <a:pt x="2667246" y="798548"/>
                </a:cubicBezTo>
                <a:cubicBezTo>
                  <a:pt x="2667246" y="815892"/>
                  <a:pt x="2674829" y="830614"/>
                  <a:pt x="2692615" y="830614"/>
                </a:cubicBezTo>
                <a:cubicBezTo>
                  <a:pt x="2712381" y="830614"/>
                  <a:pt x="2732806" y="810328"/>
                  <a:pt x="2739395" y="778262"/>
                </a:cubicBezTo>
                <a:lnTo>
                  <a:pt x="2742357" y="763539"/>
                </a:lnTo>
                <a:cubicBezTo>
                  <a:pt x="2743358" y="757739"/>
                  <a:pt x="2744661" y="752092"/>
                  <a:pt x="2744331" y="744568"/>
                </a:cubicBezTo>
                <a:close/>
              </a:path>
            </a:pathLst>
          </a:custGeom>
          <a:solidFill>
            <a:schemeClr val="bg1"/>
          </a:solidFill>
          <a:ln w="9525"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428202673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preserve="1" userDrawn="1">
  <p:cSld name="3_Logo">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FBFEA71-1AC6-4DFC-15E0-24BA7D731D78}"/>
              </a:ext>
            </a:extLst>
          </p:cNvPr>
          <p:cNvPicPr>
            <a:picLocks noChangeAspect="1"/>
          </p:cNvPicPr>
          <p:nvPr userDrawn="1"/>
        </p:nvPicPr>
        <p:blipFill>
          <a:blip r:embed="rId2"/>
          <a:stretch>
            <a:fillRect/>
          </a:stretch>
        </p:blipFill>
        <p:spPr>
          <a:xfrm>
            <a:off x="1676400" y="0"/>
            <a:ext cx="21031200" cy="13716000"/>
          </a:xfrm>
          <a:prstGeom prst="rect">
            <a:avLst/>
          </a:prstGeom>
        </p:spPr>
      </p:pic>
      <p:pic>
        <p:nvPicPr>
          <p:cNvPr id="3" name="Graphic 2">
            <a:extLst>
              <a:ext uri="{FF2B5EF4-FFF2-40B4-BE49-F238E27FC236}">
                <a16:creationId xmlns:a16="http://schemas.microsoft.com/office/drawing/2014/main" id="{510642B9-F25A-374A-99F2-0224B52C46AD}"/>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8335214" y="5983498"/>
            <a:ext cx="8023116" cy="2487168"/>
          </a:xfrm>
          <a:prstGeom prst="rect">
            <a:avLst/>
          </a:prstGeom>
        </p:spPr>
      </p:pic>
      <p:sp>
        <p:nvSpPr>
          <p:cNvPr id="6" name="Graphic 2">
            <a:extLst>
              <a:ext uri="{FF2B5EF4-FFF2-40B4-BE49-F238E27FC236}">
                <a16:creationId xmlns:a16="http://schemas.microsoft.com/office/drawing/2014/main" id="{0D8656DC-2D22-C2DA-13A1-B73DAEC9EBA5}"/>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2534831973"/>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userDrawn="1">
  <p:cSld name="Single Column - Pur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0" i="0">
              <a:latin typeface="Fira Sans" panose="020B0503050000020004" pitchFamily="34" charset="0"/>
            </a:endParaRP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lvl1pPr>
              <a:defRPr b="0" i="0">
                <a:latin typeface="Fira Sans" panose="020B0503050000020004" pitchFamily="34" charset="0"/>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b="0" i="0">
                <a:latin typeface="Fira Sans" panose="020B0503050000020004" pitchFamily="34" charset="0"/>
              </a:defRPr>
            </a:lvl1p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b="0" i="0" dirty="0">
                <a:latin typeface="Fira Sans" panose="020B0503050000020004" pitchFamily="34" charset="0"/>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b="0" i="0" dirty="0">
                <a:latin typeface="Fira Sans" panose="020B0503050000020004" pitchFamily="34" charset="0"/>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b="0" i="0" dirty="0">
                <a:latin typeface="Fira Sans" panose="020B0503050000020004" pitchFamily="34" charset="0"/>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b="0" i="0" dirty="0">
                <a:latin typeface="Fira Sans" panose="020B0503050000020004" pitchFamily="34" charset="0"/>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b="0" i="0" dirty="0">
                <a:latin typeface="Fira Sans" panose="020B05030500000200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b="0" i="0" kern="1200" dirty="0">
                <a:ln w="3175">
                  <a:noFill/>
                </a:ln>
                <a:solidFill>
                  <a:schemeClr val="bg1"/>
                </a:solidFill>
                <a:latin typeface="Fira Sans" panose="020B0503050000020004" pitchFamily="34" charset="0"/>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b="0" i="0">
                <a:solidFill>
                  <a:schemeClr val="bg1"/>
                </a:solidFill>
                <a:latin typeface="Fira Sans" panose="020B0503050000020004" pitchFamily="34" charset="0"/>
              </a:defRPr>
            </a:lvl1pPr>
          </a:lstStyle>
          <a:p>
            <a:r>
              <a:rPr lang="en-US"/>
              <a:t>Click to edit Master title style</a:t>
            </a:r>
          </a:p>
        </p:txBody>
      </p:sp>
      <p:sp>
        <p:nvSpPr>
          <p:cNvPr id="10" name="Freeform 5">
            <a:extLst>
              <a:ext uri="{FF2B5EF4-FFF2-40B4-BE49-F238E27FC236}">
                <a16:creationId xmlns:a16="http://schemas.microsoft.com/office/drawing/2014/main" id="{B4752C1F-6E8C-435A-BAC0-434144BBAEC8}"/>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b="0" i="0">
              <a:latin typeface="Fira Sans" panose="020B0503050000020004" pitchFamily="34" charset="0"/>
            </a:endParaRPr>
          </a:p>
        </p:txBody>
      </p:sp>
    </p:spTree>
    <p:extLst>
      <p:ext uri="{BB962C8B-B14F-4D97-AF65-F5344CB8AC3E}">
        <p14:creationId xmlns:p14="http://schemas.microsoft.com/office/powerpoint/2010/main" val="4139659234"/>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userDrawn="1">
  <p:cSld name="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0" i="0">
              <a:latin typeface="Fira Sans" panose="020B0503050000020004" pitchFamily="34" charset="0"/>
            </a:endParaRPr>
          </a:p>
        </p:txBody>
      </p:sp>
      <p:pic>
        <p:nvPicPr>
          <p:cNvPr id="4" name="Picture 3">
            <a:extLst>
              <a:ext uri="{FF2B5EF4-FFF2-40B4-BE49-F238E27FC236}">
                <a16:creationId xmlns:a16="http://schemas.microsoft.com/office/drawing/2014/main" id="{DC3D7A00-2891-24B2-ED6C-5B28CC4847A3}"/>
              </a:ext>
            </a:extLst>
          </p:cNvPr>
          <p:cNvPicPr>
            <a:picLocks noChangeAspect="1"/>
          </p:cNvPicPr>
          <p:nvPr userDrawn="1"/>
        </p:nvPicPr>
        <p:blipFill>
          <a:blip r:embed="rId2"/>
          <a:stretch>
            <a:fillRect/>
          </a:stretch>
        </p:blipFill>
        <p:spPr>
          <a:xfrm>
            <a:off x="0" y="4419600"/>
            <a:ext cx="6477000" cy="9296400"/>
          </a:xfrm>
          <a:prstGeom prst="rect">
            <a:avLst/>
          </a:prstGeom>
        </p:spPr>
      </p:pic>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20726400"/>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panose="020B0503050000020004" pitchFamily="34" charset="0"/>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panose="020B0503050000020004" pitchFamily="34" charset="0"/>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panose="020B0503050000020004" pitchFamily="34" charset="0"/>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panose="020B0503050000020004" pitchFamily="34" charset="0"/>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panose="020B0503050000020004" pitchFamily="34" charset="0"/>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14173200"/>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b="0" i="0" kern="1200" dirty="0">
                <a:ln w="3175">
                  <a:noFill/>
                </a:ln>
                <a:solidFill>
                  <a:schemeClr val="bg1"/>
                </a:solidFill>
                <a:latin typeface="Fira Sans" panose="020B0503050000020004" pitchFamily="34" charset="0"/>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6930330"/>
          </a:xfrm>
        </p:spPr>
        <p:txBody>
          <a:bodyPr>
            <a:spAutoFit/>
          </a:bodyPr>
          <a:lstStyle>
            <a:lvl1pPr>
              <a:defRPr b="0" i="0">
                <a:solidFill>
                  <a:schemeClr val="bg1"/>
                </a:solidFill>
                <a:latin typeface="Fira Sans" panose="020B0503050000020004" pitchFamily="34" charset="0"/>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b="0" i="0">
                <a:solidFill>
                  <a:schemeClr val="tx1"/>
                </a:solidFill>
                <a:latin typeface="Fira Sans" panose="020B0503050000020004" pitchFamily="34" charset="0"/>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b="0" i="0">
                <a:solidFill>
                  <a:schemeClr val="tx1"/>
                </a:solidFill>
                <a:latin typeface="Fira Sans" panose="020B0503050000020004" pitchFamily="34" charset="0"/>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26277383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userDrawn="1">
  <p:cSld name="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1" y="-4805"/>
            <a:ext cx="25334686" cy="2199366"/>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0" i="0">
                <a:latin typeface="Fira Sans" panose="020B0503050000020004" pitchFamily="34" charset="0"/>
              </a:endParaRPr>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9"/>
            <a:ext cx="22991108" cy="997838"/>
          </a:xfrm>
        </p:spPr>
        <p:txBody>
          <a:bodyPr/>
          <a:lstStyle>
            <a:lvl1pPr>
              <a:defRPr b="0" i="0">
                <a:latin typeface="Fira Sans" panose="020B0503050000020004" pitchFamily="34" charset="0"/>
              </a:defRPr>
            </a:lvl1p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b="0" i="0">
                <a:solidFill>
                  <a:schemeClr val="tx1"/>
                </a:solidFill>
                <a:latin typeface="Fira Sans" panose="020B0503050000020004" pitchFamily="34" charset="0"/>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b="0" i="0">
                <a:solidFill>
                  <a:schemeClr val="tx1"/>
                </a:solidFill>
                <a:latin typeface="Fira Sans" panose="020B0503050000020004" pitchFamily="34" charset="0"/>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36467205"/>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Single Column - Sim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80F77ED-A2A4-4EFE-8DC0-C63FB58288D9}"/>
              </a:ext>
            </a:extLst>
          </p:cNvPr>
          <p:cNvSpPr/>
          <p:nvPr userDrawn="1"/>
        </p:nvSpPr>
        <p:spPr>
          <a:xfrm>
            <a:off x="6164826" y="0"/>
            <a:ext cx="56044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1752600"/>
            <a:ext cx="22936200" cy="11222736"/>
          </a:xfrm>
        </p:spPr>
        <p:txBody>
          <a:bodyPr vert="horz" lIns="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8"/>
            <a:ext cx="22991108" cy="1215424"/>
          </a:xfrm>
        </p:spPr>
        <p:txBody>
          <a:bodyPr/>
          <a:lstStyle/>
          <a:p>
            <a:r>
              <a:rPr lang="en-US"/>
              <a:t>Click to edit Master title style</a:t>
            </a:r>
          </a:p>
        </p:txBody>
      </p:sp>
    </p:spTree>
    <p:extLst>
      <p:ext uri="{BB962C8B-B14F-4D97-AF65-F5344CB8AC3E}">
        <p14:creationId xmlns:p14="http://schemas.microsoft.com/office/powerpoint/2010/main" val="1852863027"/>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Single Column - Simple with Sub">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80F77ED-A2A4-4EFE-8DC0-C63FB58288D9}"/>
              </a:ext>
            </a:extLst>
          </p:cNvPr>
          <p:cNvSpPr/>
          <p:nvPr userDrawn="1"/>
        </p:nvSpPr>
        <p:spPr>
          <a:xfrm>
            <a:off x="6164826" y="0"/>
            <a:ext cx="56044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0"/>
            <a:ext cx="22936200" cy="10194036"/>
          </a:xfrm>
        </p:spPr>
        <p:txBody>
          <a:bodyPr vert="horz" lIns="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1752602"/>
            <a:ext cx="22971126" cy="102870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8"/>
            <a:ext cx="22991108" cy="1215424"/>
          </a:xfrm>
        </p:spPr>
        <p:txBody>
          <a:bodyPr/>
          <a:lstStyle/>
          <a:p>
            <a:r>
              <a:rPr lang="en-US"/>
              <a:t>Click to edit Master title style</a:t>
            </a:r>
          </a:p>
        </p:txBody>
      </p:sp>
    </p:spTree>
    <p:extLst>
      <p:ext uri="{BB962C8B-B14F-4D97-AF65-F5344CB8AC3E}">
        <p14:creationId xmlns:p14="http://schemas.microsoft.com/office/powerpoint/2010/main" val="366300004"/>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p>
            <a:r>
              <a:rPr lang="en-US"/>
              <a:t>Click to edit Master title style</a:t>
            </a:r>
          </a:p>
        </p:txBody>
      </p:sp>
    </p:spTree>
    <p:extLst>
      <p:ext uri="{BB962C8B-B14F-4D97-AF65-F5344CB8AC3E}">
        <p14:creationId xmlns:p14="http://schemas.microsoft.com/office/powerpoint/2010/main" val="636057819"/>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6296"/>
            <a:ext cx="7315200" cy="12353544"/>
          </a:xfrm>
        </p:spPr>
        <p:txBody>
          <a:bodyPr vert="horz" lIns="18288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3" y="3685032"/>
            <a:ext cx="5236506" cy="2276856"/>
          </a:xfrm>
        </p:spPr>
        <p:txBody>
          <a:bodyPr vert="horz" lIns="0" tIns="0" rIns="0" bIns="0" rtlCol="0">
            <a:noAutofit/>
          </a:bodyPr>
          <a:lstStyle>
            <a:lvl1pPr>
              <a:defRPr lang="en-US" sz="3750" dirty="0">
                <a:ln w="3175">
                  <a:noFill/>
                </a:ln>
              </a:defRPr>
            </a:lvl1pPr>
          </a:lstStyle>
          <a:p>
            <a:pPr marL="0" lvl="0" indent="0" fontAlgn="base">
              <a:buNone/>
            </a:pPr>
            <a:r>
              <a:rPr lang="en-US"/>
              <a:t>Subtitle or callout if needed, all titles and subtitles are sentence case </a:t>
            </a:r>
          </a:p>
        </p:txBody>
      </p:sp>
      <p:sp>
        <p:nvSpPr>
          <p:cNvPr id="6" name="Text Placeholder 5">
            <a:extLst>
              <a:ext uri="{FF2B5EF4-FFF2-40B4-BE49-F238E27FC236}">
                <a16:creationId xmlns:a16="http://schemas.microsoft.com/office/drawing/2014/main" id="{808F5F46-46D7-FC41-96C7-36DEC6BD8687}"/>
              </a:ext>
            </a:extLst>
          </p:cNvPr>
          <p:cNvSpPr>
            <a:spLocks noGrp="1"/>
          </p:cNvSpPr>
          <p:nvPr>
            <p:ph type="body" sz="quarter" idx="14"/>
          </p:nvPr>
        </p:nvSpPr>
        <p:spPr>
          <a:xfrm>
            <a:off x="16040100" y="624968"/>
            <a:ext cx="7618984" cy="12353544"/>
          </a:xfrm>
        </p:spPr>
        <p:txBody>
          <a:bodyPr vert="horz" lIns="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lstStyle>
            <a:lvl1pPr>
              <a:defRPr/>
            </a:lvl1pPr>
          </a:lstStyle>
          <a:p>
            <a:r>
              <a:rPr lang="en-US"/>
              <a:t>Click to edit Master title style</a:t>
            </a:r>
          </a:p>
        </p:txBody>
      </p:sp>
      <p:sp>
        <p:nvSpPr>
          <p:cNvPr id="10" name="Footer Placeholder 9">
            <a:extLst>
              <a:ext uri="{FF2B5EF4-FFF2-40B4-BE49-F238E27FC236}">
                <a16:creationId xmlns:a16="http://schemas.microsoft.com/office/drawing/2014/main" id="{7F500EC3-B56F-D543-A50F-942AF23525BB}"/>
              </a:ext>
            </a:extLst>
          </p:cNvPr>
          <p:cNvSpPr>
            <a:spLocks noGrp="1"/>
          </p:cNvSpPr>
          <p:nvPr>
            <p:ph type="ftr" sz="quarter" idx="15"/>
          </p:nvPr>
        </p:nvSpPr>
        <p:spPr/>
        <p:txBody>
          <a:bodyPr lIns="365760"/>
          <a:lstStyle/>
          <a:p>
            <a:endParaRPr lang="en-US"/>
          </a:p>
        </p:txBody>
      </p:sp>
    </p:spTree>
    <p:extLst>
      <p:ext uri="{BB962C8B-B14F-4D97-AF65-F5344CB8AC3E}">
        <p14:creationId xmlns:p14="http://schemas.microsoft.com/office/powerpoint/2010/main" val="1959963543"/>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305550" y="4833410"/>
            <a:ext cx="17183100" cy="8158692"/>
          </a:xfrm>
        </p:spPr>
        <p:txBody>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p:txBody>
          <a:bodyPr/>
          <a:lstStyle/>
          <a:p>
            <a:r>
              <a:rPr lang="en-US"/>
              <a:t>Chart Slide</a:t>
            </a:r>
          </a:p>
        </p:txBody>
      </p:sp>
      <p:sp>
        <p:nvSpPr>
          <p:cNvPr id="10" name="Freeform 5">
            <a:extLst>
              <a:ext uri="{FF2B5EF4-FFF2-40B4-BE49-F238E27FC236}">
                <a16:creationId xmlns:a16="http://schemas.microsoft.com/office/drawing/2014/main" id="{CFFE015B-98FD-1C46-9214-B765A4A59ADC}"/>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621792"/>
            <a:ext cx="17160240" cy="2937320"/>
          </a:xfrm>
        </p:spPr>
        <p:txBody>
          <a:bodyPr lIns="18288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Tree>
    <p:extLst>
      <p:ext uri="{BB962C8B-B14F-4D97-AF65-F5344CB8AC3E}">
        <p14:creationId xmlns:p14="http://schemas.microsoft.com/office/powerpoint/2010/main" val="7725431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2937320"/>
          </a:xfrm>
        </p:spPr>
        <p:txBody>
          <a:bodyPr lIns="18288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p:txBody>
          <a:bodyPr/>
          <a:lstStyle/>
          <a:p>
            <a:r>
              <a:rPr lang="en-US"/>
              <a:t>Table Slide</a:t>
            </a:r>
          </a:p>
        </p:txBody>
      </p:sp>
      <p:sp>
        <p:nvSpPr>
          <p:cNvPr id="8" name="Freeform 5">
            <a:extLst>
              <a:ext uri="{FF2B5EF4-FFF2-40B4-BE49-F238E27FC236}">
                <a16:creationId xmlns:a16="http://schemas.microsoft.com/office/drawing/2014/main" id="{EEC651F5-C6E2-A04D-81A9-27593887E07E}"/>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977183915"/>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1215424"/>
          </a:xfrm>
        </p:spPr>
        <p:txBody>
          <a:bodyPr/>
          <a:lstStyle/>
          <a:p>
            <a:r>
              <a:rPr lang="en-US"/>
              <a:t>Click to edit Master title style</a:t>
            </a:r>
          </a:p>
        </p:txBody>
      </p:sp>
      <p:sp>
        <p:nvSpPr>
          <p:cNvPr id="3" name="Footer Placeholder 2">
            <a:extLst>
              <a:ext uri="{FF2B5EF4-FFF2-40B4-BE49-F238E27FC236}">
                <a16:creationId xmlns:a16="http://schemas.microsoft.com/office/drawing/2014/main" id="{476EBF41-6E4F-CC45-9467-0CE6DA4A5B1A}"/>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A82870D3-B21C-6F49-A89A-D8B3AEF5AC9C}"/>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5" name="Freeform 5">
            <a:extLst>
              <a:ext uri="{FF2B5EF4-FFF2-40B4-BE49-F238E27FC236}">
                <a16:creationId xmlns:a16="http://schemas.microsoft.com/office/drawing/2014/main" id="{58E08819-833F-144A-BA8A-41723F41C8A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1740198260"/>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a:xfrm>
            <a:off x="8382000" y="13000317"/>
            <a:ext cx="5746892" cy="486410"/>
          </a:xfrm>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8382000" y="621792"/>
            <a:ext cx="15255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2280490"/>
          </a:xfrm>
        </p:spPr>
        <p:txBody>
          <a:bodyPr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5292124"/>
          </a:xfrm>
        </p:spPr>
        <p:txBody>
          <a:bodyPr/>
          <a:lstStyle/>
          <a:p>
            <a:r>
              <a:rPr lang="en-US"/>
              <a:t>Click to edit Master title style</a:t>
            </a:r>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userDrawn="1"/>
        </p:nvCxnSpPr>
        <p:spPr>
          <a:xfrm>
            <a:off x="8382000" y="186418"/>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Freeform 5">
            <a:extLst>
              <a:ext uri="{FF2B5EF4-FFF2-40B4-BE49-F238E27FC236}">
                <a16:creationId xmlns:a16="http://schemas.microsoft.com/office/drawing/2014/main" id="{E9E68A23-5B63-BA4D-84F2-48D9185FF9AA}"/>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1973427542"/>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0" name="Footer Placeholder 2">
            <a:extLst>
              <a:ext uri="{FF2B5EF4-FFF2-40B4-BE49-F238E27FC236}">
                <a16:creationId xmlns:a16="http://schemas.microsoft.com/office/drawing/2014/main" id="{7073E864-1AAE-4F30-B18C-AC7366759B29}"/>
              </a:ext>
            </a:extLst>
          </p:cNvPr>
          <p:cNvSpPr>
            <a:spLocks noGrp="1"/>
          </p:cNvSpPr>
          <p:nvPr>
            <p:ph type="ftr" sz="quarter" idx="10"/>
          </p:nvPr>
        </p:nvSpPr>
        <p:spPr>
          <a:xfrm>
            <a:off x="6477000" y="13000317"/>
            <a:ext cx="5518292" cy="486410"/>
          </a:xfrm>
        </p:spPr>
        <p:txBody>
          <a:bodyPr/>
          <a:lstStyle>
            <a:lvl1pPr>
              <a:defRPr>
                <a:solidFill>
                  <a:schemeClr val="bg1"/>
                </a:solidFill>
              </a:defRPr>
            </a:lvl1pPr>
          </a:lstStyle>
          <a:p>
            <a:endParaRPr lang="en-US"/>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3851721614"/>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a:xfrm>
            <a:off x="6477000" y="13000317"/>
            <a:ext cx="5647832" cy="486410"/>
          </a:xfrm>
        </p:spPr>
        <p:txBody>
          <a:bodyPr lIns="365760"/>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tx1"/>
                </a:solidFill>
              </a:defRPr>
            </a:lvl1p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7945100" y="621792"/>
            <a:ext cx="571500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mtClean="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smtClean="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smtClean="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smtClean="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lstStyle>
            <a:lvl1pPr>
              <a:defRPr/>
            </a:lvl1pPr>
          </a:lstStyle>
          <a:p>
            <a:r>
              <a:rPr lang="en-US"/>
              <a:t>Click to edit Master title style</a:t>
            </a:r>
          </a:p>
        </p:txBody>
      </p:sp>
      <p:sp>
        <p:nvSpPr>
          <p:cNvPr id="10" name="Freeform 5">
            <a:extLst>
              <a:ext uri="{FF2B5EF4-FFF2-40B4-BE49-F238E27FC236}">
                <a16:creationId xmlns:a16="http://schemas.microsoft.com/office/drawing/2014/main" id="{61BE3BB1-3989-7445-BCE4-110B21671282}"/>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1584582623"/>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8"/>
            <a:ext cx="11142008" cy="1215424"/>
          </a:xfrm>
        </p:spPr>
        <p:txBody>
          <a:bodyPr/>
          <a:lstStyle>
            <a:lvl1pPr>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5944302"/>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92512333"/>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5944302"/>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39065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1370379805"/>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preserve="1" userDrawn="1">
  <p:cSld name="Image Slide 4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5210098" cy="5944302"/>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6C63B45C-B418-7748-8927-54F5E6F9FA61}"/>
              </a:ext>
            </a:extLst>
          </p:cNvPr>
          <p:cNvSpPr>
            <a:spLocks noGrp="1"/>
          </p:cNvSpPr>
          <p:nvPr>
            <p:ph type="body" sz="quarter" idx="16"/>
          </p:nvPr>
        </p:nvSpPr>
        <p:spPr>
          <a:xfrm>
            <a:off x="6477000" y="1752604"/>
            <a:ext cx="5333924" cy="5846640"/>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70846555"/>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preserve="1" userDrawn="1">
  <p:cSld name="Image Slide 4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5210098" cy="5944302"/>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6C63B45C-B418-7748-8927-54F5E6F9FA61}"/>
              </a:ext>
            </a:extLst>
          </p:cNvPr>
          <p:cNvSpPr>
            <a:spLocks noGrp="1"/>
          </p:cNvSpPr>
          <p:nvPr>
            <p:ph type="body" sz="quarter" idx="16"/>
          </p:nvPr>
        </p:nvSpPr>
        <p:spPr>
          <a:xfrm>
            <a:off x="6477000" y="3169804"/>
            <a:ext cx="5333924" cy="5846640"/>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8">
            <a:extLst>
              <a:ext uri="{FF2B5EF4-FFF2-40B4-BE49-F238E27FC236}">
                <a16:creationId xmlns:a16="http://schemas.microsoft.com/office/drawing/2014/main" id="{9192A8DF-7DE3-4714-9178-8644E5472F7A}"/>
              </a:ext>
            </a:extLst>
          </p:cNvPr>
          <p:cNvSpPr>
            <a:spLocks noGrp="1"/>
          </p:cNvSpPr>
          <p:nvPr>
            <p:ph type="body" sz="quarter" idx="13" hasCustomPrompt="1"/>
          </p:nvPr>
        </p:nvSpPr>
        <p:spPr>
          <a:xfrm>
            <a:off x="688979" y="1752605"/>
            <a:ext cx="11122026" cy="139065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1220292703"/>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64770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Freeform 5">
            <a:extLst>
              <a:ext uri="{FF2B5EF4-FFF2-40B4-BE49-F238E27FC236}">
                <a16:creationId xmlns:a16="http://schemas.microsoft.com/office/drawing/2014/main" id="{9EB9608A-83D7-2445-9B5E-0695BCA9B61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228600" tIns="155448" rIns="329184" bIns="155448" rtlCol="0" anchor="t" anchorCtr="0">
            <a:noAutofit/>
          </a:bodyPr>
          <a:lstStyle>
            <a:lvl1pPr>
              <a:defRPr lang="en-US" dirty="0">
                <a:ln w="9525">
                  <a:noFill/>
                </a:ln>
                <a:solidFill>
                  <a:schemeClr val="tx2"/>
                </a:solidFill>
              </a:defRPr>
            </a:lvl1pPr>
          </a:lstStyle>
          <a:p>
            <a:pPr marL="0" lvl="0" indent="0">
              <a:spcAft>
                <a:spcPts val="3000"/>
              </a:spcAft>
              <a:buFont typeface="Arial" panose="020B0604020202020204" pitchFamily="34" charset="0"/>
            </a:pPr>
            <a:r>
              <a:rPr lang="en-US"/>
              <a:t>Click to edit Master title style</a:t>
            </a:r>
          </a:p>
        </p:txBody>
      </p:sp>
    </p:spTree>
    <p:extLst>
      <p:ext uri="{BB962C8B-B14F-4D97-AF65-F5344CB8AC3E}">
        <p14:creationId xmlns:p14="http://schemas.microsoft.com/office/powerpoint/2010/main" val="66332712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showMasterSp="0" preserve="1" userDrawn="1">
  <p:cSld name="4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noProof="0" dirty="0"/>
            </a:lvl1pPr>
          </a:lstStyle>
          <a:p>
            <a:pPr marR="0" lvl="0" fontAlgn="auto">
              <a:buSzTx/>
              <a:tabLst/>
            </a:pPr>
            <a:r>
              <a:rPr kumimoji="0" lang="en-US" sz="3600" b="0" i="0" u="none" strike="noStrike" kern="1200" cap="none" spc="0" normalizeH="0" baseline="0" noProof="0">
                <a:ln>
                  <a:noFill/>
                </a:ln>
                <a:solidFill>
                  <a:prstClr val="black"/>
                </a:solidFill>
                <a:effectLst/>
                <a:uLnTx/>
                <a:uFillTx/>
                <a:latin typeface="+mn-lt"/>
                <a:ea typeface="+mn-ea"/>
                <a:cs typeface="+mn-cs"/>
              </a:rPr>
              <a:t>Click icon in the center of the slide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17948148"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Freeform 5">
            <a:extLst>
              <a:ext uri="{FF2B5EF4-FFF2-40B4-BE49-F238E27FC236}">
                <a16:creationId xmlns:a16="http://schemas.microsoft.com/office/drawing/2014/main" id="{9EB9608A-83D7-2445-9B5E-0695BCA9B61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92000" y="731520"/>
            <a:ext cx="5756148" cy="4069080"/>
          </a:xfrm>
          <a:solidFill>
            <a:schemeClr val="bg1"/>
          </a:solidFill>
          <a:ln w="12700">
            <a:noFill/>
          </a:ln>
        </p:spPr>
        <p:txBody>
          <a:bodyPr vert="horz" lIns="228600" tIns="155448" rIns="329184" bIns="155448" rtlCol="0" anchor="t" anchorCtr="0">
            <a:noAutofit/>
          </a:bodyPr>
          <a:lstStyle>
            <a:lvl1pPr>
              <a:defRPr lang="en-US" dirty="0">
                <a:ln w="9525">
                  <a:noFill/>
                </a:ln>
                <a:solidFill>
                  <a:schemeClr val="tx2"/>
                </a:solidFill>
              </a:defRPr>
            </a:lvl1pPr>
          </a:lstStyle>
          <a:p>
            <a:pPr marL="0" lvl="0" indent="0">
              <a:spcAft>
                <a:spcPts val="3000"/>
              </a:spcAft>
              <a:buFont typeface="Arial" panose="020B0604020202020204" pitchFamily="34" charset="0"/>
            </a:pPr>
            <a:r>
              <a:rPr lang="en-US"/>
              <a:t>Click to edit Master title style</a:t>
            </a:r>
          </a:p>
        </p:txBody>
      </p:sp>
    </p:spTree>
    <p:extLst>
      <p:ext uri="{BB962C8B-B14F-4D97-AF65-F5344CB8AC3E}">
        <p14:creationId xmlns:p14="http://schemas.microsoft.com/office/powerpoint/2010/main" val="2155455740"/>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preserve="1" userDrawn="1">
  <p:cSld name="Call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731692-D7FB-43A5-9242-6381F710CEE4}"/>
              </a:ext>
            </a:extLst>
          </p:cNvPr>
          <p:cNvSpPr/>
          <p:nvPr userDrawn="1"/>
        </p:nvSpPr>
        <p:spPr>
          <a:xfrm>
            <a:off x="17945100" y="0"/>
            <a:ext cx="64389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8452592" y="621792"/>
            <a:ext cx="5202936" cy="12353544"/>
          </a:xfrm>
        </p:spPr>
        <p:txBody>
          <a:bodyPr vert="horz" lIns="0" tIns="0" rIns="0" bIns="0" rtlCol="0">
            <a:noAutofit/>
          </a:bodyPr>
          <a:lstStyle>
            <a:lvl1pPr>
              <a:lnSpc>
                <a:spcPct val="110000"/>
              </a:lnSpc>
              <a:defRPr lang="en-US" sz="5250" dirty="0">
                <a:ln w="3175">
                  <a:noFill/>
                </a:ln>
                <a:solidFill>
                  <a:schemeClr val="bg1"/>
                </a:solidFill>
              </a:defRPr>
            </a:lvl1pPr>
          </a:lstStyle>
          <a:p>
            <a:pPr lvl="0" fontAlgn="base">
              <a:spcAft>
                <a:spcPts val="5250"/>
              </a:spcAft>
            </a:pPr>
            <a:r>
              <a:rPr lang="en-US"/>
              <a:t>Additional information if needed</a:t>
            </a:r>
          </a:p>
        </p:txBody>
      </p:sp>
      <p:sp>
        <p:nvSpPr>
          <p:cNvPr id="10" name="Freeform 5">
            <a:extLst>
              <a:ext uri="{FF2B5EF4-FFF2-40B4-BE49-F238E27FC236}">
                <a16:creationId xmlns:a16="http://schemas.microsoft.com/office/drawing/2014/main" id="{B369E10D-C034-5D4E-B41E-A0D5075D5F77}"/>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2" name="Text Placeholder 11">
            <a:extLst>
              <a:ext uri="{FF2B5EF4-FFF2-40B4-BE49-F238E27FC236}">
                <a16:creationId xmlns:a16="http://schemas.microsoft.com/office/drawing/2014/main" id="{C7C1E554-861B-49F4-AA38-891CFFC9B9FC}"/>
              </a:ext>
            </a:extLst>
          </p:cNvPr>
          <p:cNvSpPr>
            <a:spLocks noGrp="1"/>
          </p:cNvSpPr>
          <p:nvPr>
            <p:ph type="body" sz="quarter" idx="14" hasCustomPrompt="1"/>
          </p:nvPr>
        </p:nvSpPr>
        <p:spPr>
          <a:xfrm>
            <a:off x="723903" y="400053"/>
            <a:ext cx="16935450" cy="9505950"/>
          </a:xfrm>
        </p:spPr>
        <p:txBody>
          <a:bodyPr lIns="0"/>
          <a:lstStyle>
            <a:lvl1pPr marL="0" indent="0">
              <a:buFont typeface="Arial" panose="020B0604020202020204" pitchFamily="34" charset="0"/>
              <a:buNone/>
              <a:defRPr lang="en-US" sz="13500" kern="1200" dirty="0">
                <a:ln w="38100">
                  <a:noFill/>
                </a:ln>
                <a:solidFill>
                  <a:srgbClr val="EB0000"/>
                </a:solidFill>
                <a:latin typeface="+mj-lt"/>
                <a:ea typeface="+mj-ea"/>
                <a:cs typeface="+mj-cs"/>
              </a:defRPr>
            </a:lvl1pPr>
          </a:lstStyle>
          <a:p>
            <a:pPr marL="285750" lvl="0" indent="-285750" fontAlgn="b">
              <a:lnSpc>
                <a:spcPct val="112000"/>
              </a:lnSpc>
              <a:spcBef>
                <a:spcPct val="0"/>
              </a:spcBef>
            </a:pPr>
            <a:r>
              <a:rPr lang="en-US"/>
              <a:t>Callout slide</a:t>
            </a:r>
          </a:p>
        </p:txBody>
      </p:sp>
    </p:spTree>
    <p:extLst>
      <p:ext uri="{BB962C8B-B14F-4D97-AF65-F5344CB8AC3E}">
        <p14:creationId xmlns:p14="http://schemas.microsoft.com/office/powerpoint/2010/main" val="4005370699"/>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731692-D7FB-43A5-9242-6381F710CEE4}"/>
              </a:ext>
            </a:extLst>
          </p:cNvPr>
          <p:cNvSpPr/>
          <p:nvPr userDrawn="1"/>
        </p:nvSpPr>
        <p:spPr>
          <a:xfrm>
            <a:off x="17945100" y="0"/>
            <a:ext cx="6438900" cy="13716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hasCustomPrompt="1"/>
          </p:nvPr>
        </p:nvSpPr>
        <p:spPr>
          <a:xfrm>
            <a:off x="585219" y="393192"/>
            <a:ext cx="17192098" cy="10488628"/>
          </a:xfrm>
          <a:ln w="12700">
            <a:noFill/>
          </a:ln>
        </p:spPr>
        <p:txBody>
          <a:bodyPr vert="horz" lIns="0" tIns="0" rIns="0" bIns="0" rtlCol="0" anchor="t" anchorCtr="0">
            <a:noAutofit/>
          </a:bodyPr>
          <a:lstStyle>
            <a:lvl1pPr marL="0" indent="0">
              <a:buNone/>
              <a:defRPr lang="en-US" sz="13500" i="1" dirty="0">
                <a:ln w="38100">
                  <a:noFill/>
                </a:ln>
                <a:solidFill>
                  <a:srgbClr val="EB0000"/>
                </a:solidFill>
                <a:latin typeface="+mj-lt"/>
                <a:ea typeface="+mj-ea"/>
                <a:cs typeface="+mj-cs"/>
              </a:defRPr>
            </a:lvl1pPr>
          </a:lstStyle>
          <a:p>
            <a:pPr marL="285750" lvl="0" indent="-285750" fontAlgn="b">
              <a:lnSpc>
                <a:spcPct val="112000"/>
              </a:lnSpc>
              <a:spcBef>
                <a:spcPct val="0"/>
              </a:spcBef>
            </a:pPr>
            <a:r>
              <a:rPr lang="en-US"/>
              <a:t>“Quote” slide</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8452592" y="621792"/>
            <a:ext cx="5202936" cy="12353544"/>
          </a:xfrm>
        </p:spPr>
        <p:txBody>
          <a:bodyPr vert="horz" lIns="0" tIns="0" rIns="0" bIns="0" rtlCol="0">
            <a:noAutofit/>
          </a:bodyPr>
          <a:lstStyle>
            <a:lvl1pPr>
              <a:lnSpc>
                <a:spcPct val="110000"/>
              </a:lnSpc>
              <a:spcBef>
                <a:spcPts val="0"/>
              </a:spcBef>
              <a:spcAft>
                <a:spcPts val="5250"/>
              </a:spcAft>
              <a:defRPr lang="en-US" sz="5250" dirty="0">
                <a:ln w="3175">
                  <a:noFill/>
                </a:ln>
                <a:solidFill>
                  <a:schemeClr val="bg1"/>
                </a:solidFill>
              </a:defRPr>
            </a:lvl1pPr>
          </a:lstStyle>
          <a:p>
            <a:pPr marL="0" lvl="0" indent="0" fontAlgn="base">
              <a:lnSpc>
                <a:spcPct val="100000"/>
              </a:lnSpc>
              <a:buNone/>
            </a:pPr>
            <a:r>
              <a:rPr lang="en-US"/>
              <a:t>Additional information if needed</a:t>
            </a:r>
          </a:p>
        </p:txBody>
      </p:sp>
      <p:sp>
        <p:nvSpPr>
          <p:cNvPr id="6" name="Text Placeholder 5">
            <a:extLst>
              <a:ext uri="{FF2B5EF4-FFF2-40B4-BE49-F238E27FC236}">
                <a16:creationId xmlns:a16="http://schemas.microsoft.com/office/drawing/2014/main" id="{3044BCD3-75F2-9749-A1BD-AE47F442AD56}"/>
              </a:ext>
            </a:extLst>
          </p:cNvPr>
          <p:cNvSpPr>
            <a:spLocks noGrp="1"/>
          </p:cNvSpPr>
          <p:nvPr>
            <p:ph type="body" sz="quarter" idx="14" hasCustomPrompt="1"/>
          </p:nvPr>
        </p:nvSpPr>
        <p:spPr>
          <a:xfrm>
            <a:off x="690774" y="10814036"/>
            <a:ext cx="17106900" cy="800100"/>
          </a:xfrm>
        </p:spPr>
        <p:txBody>
          <a:bodyPr vert="horz" lIns="0" tIns="0" rIns="0" bIns="0" rtlCol="0">
            <a:noAutofit/>
          </a:bodyPr>
          <a:lstStyle>
            <a:lvl1pPr marL="0" indent="0">
              <a:buNone/>
              <a:defRPr lang="en-US" sz="3750" smtClean="0">
                <a:solidFill>
                  <a:schemeClr val="tx1"/>
                </a:solidFill>
              </a:defRPr>
            </a:lvl1pPr>
            <a:lvl2pPr>
              <a:defRPr lang="en-US" smtClean="0"/>
            </a:lvl2pPr>
            <a:lvl3pPr>
              <a:defRPr lang="en-US" smtClean="0"/>
            </a:lvl3pPr>
            <a:lvl4pPr>
              <a:defRPr lang="en-US" smtClean="0"/>
            </a:lvl4pPr>
            <a:lvl5pPr>
              <a:defRPr lang="en-US"/>
            </a:lvl5pPr>
          </a:lstStyle>
          <a:p>
            <a:pPr marL="285750" lvl="0" indent="-285750"/>
            <a:r>
              <a:rPr lang="en-US"/>
              <a:t>Quote Source (Name)</a:t>
            </a:r>
          </a:p>
        </p:txBody>
      </p:sp>
      <p:sp>
        <p:nvSpPr>
          <p:cNvPr id="10" name="Freeform 5">
            <a:extLst>
              <a:ext uri="{FF2B5EF4-FFF2-40B4-BE49-F238E27FC236}">
                <a16:creationId xmlns:a16="http://schemas.microsoft.com/office/drawing/2014/main" id="{B924813B-B6BF-7240-B754-7FA0C6A44327}"/>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3611349613"/>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preserve="1" userDrawn="1">
  <p:cSld name="Single Column - Re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a:xfrm>
            <a:off x="0" y="0"/>
            <a:ext cx="64770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6EFB90B-468B-48EC-9C17-1C9C6FB59342}"/>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382825650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preserve="1" userDrawn="1">
  <p:cSld name="Three Quarters Image Slide">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64585735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preserve="1" userDrawn="1">
  <p:cSld name="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0"/>
            <a:ext cx="12192000" cy="6858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15" name="Freeform 5">
            <a:extLst>
              <a:ext uri="{FF2B5EF4-FFF2-40B4-BE49-F238E27FC236}">
                <a16:creationId xmlns:a16="http://schemas.microsoft.com/office/drawing/2014/main" id="{494F9C86-CE28-0C45-A3A6-627FC4BB79EA}"/>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1" y="7127210"/>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4"/>
            <a:ext cx="5208456" cy="474398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7"/>
            <a:ext cx="521104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09" y="7822157"/>
            <a:ext cx="520933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09" y="7822157"/>
            <a:ext cx="520933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Tree>
    <p:extLst>
      <p:ext uri="{BB962C8B-B14F-4D97-AF65-F5344CB8AC3E}">
        <p14:creationId xmlns:p14="http://schemas.microsoft.com/office/powerpoint/2010/main" val="875636431"/>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preserve="1" userDrawn="1">
  <p:cSld name="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2"/>
            <a:ext cx="12192000" cy="3810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5" name="Freeform 5">
            <a:extLst>
              <a:ext uri="{FF2B5EF4-FFF2-40B4-BE49-F238E27FC236}">
                <a16:creationId xmlns:a16="http://schemas.microsoft.com/office/drawing/2014/main" id="{494F9C86-CE28-0C45-A3A6-627FC4BB79EA}"/>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Tree>
    <p:extLst>
      <p:ext uri="{BB962C8B-B14F-4D97-AF65-F5344CB8AC3E}">
        <p14:creationId xmlns:p14="http://schemas.microsoft.com/office/powerpoint/2010/main" val="4229940873"/>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preserve="1" userDrawn="1">
  <p:cSld name="Half Image Slide">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2276856"/>
          </a:xfrm>
        </p:spPr>
        <p:txBody>
          <a:bodyPr vert="horz" lIns="0" tIns="0" rIns="0" bIns="0" rtlCol="0">
            <a:noAutofit/>
          </a:bodyPr>
          <a:lstStyle>
            <a:lvl1pPr>
              <a:defRPr lang="en-US" sz="375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n w="9525">
                  <a:noFill/>
                </a:ln>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573722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93603109"/>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preserve="1" userDrawn="1">
  <p:cSld name="Half Image Slide 2">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2276856"/>
          </a:xfrm>
        </p:spPr>
        <p:txBody>
          <a:bodyPr vert="horz" lIns="0" tIns="0" rIns="0" bIns="0" rtlCol="0">
            <a:noAutofit/>
          </a:bodyPr>
          <a:lstStyle>
            <a:lvl1pPr>
              <a:defRPr lang="en-US" sz="375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3062106"/>
          </a:xfrm>
        </p:spPr>
        <p:txBody>
          <a:bodyPr/>
          <a:lstStyle>
            <a:lvl1pPr>
              <a:defRPr>
                <a:ln w="9525">
                  <a:noFill/>
                </a:ln>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5737226"/>
          </a:xfrm>
        </p:spPr>
        <p:txBody>
          <a:bodyPr lIns="0"/>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1">
            <a:extLst>
              <a:ext uri="{FF2B5EF4-FFF2-40B4-BE49-F238E27FC236}">
                <a16:creationId xmlns:a16="http://schemas.microsoft.com/office/drawing/2014/main" id="{D6180987-34BC-BB49-BF99-2ACD33B56FF7}"/>
              </a:ext>
            </a:extLst>
          </p:cNvPr>
          <p:cNvSpPr>
            <a:spLocks noGrp="1"/>
          </p:cNvSpPr>
          <p:nvPr>
            <p:ph type="ftr" sz="quarter" idx="16"/>
          </p:nvPr>
        </p:nvSpPr>
        <p:spPr/>
        <p:txBody>
          <a:bodyPr/>
          <a:lstStyle>
            <a:lvl1pPr>
              <a:defRPr>
                <a:solidFill>
                  <a:schemeClr val="bg1"/>
                </a:solidFill>
              </a:defRPr>
            </a:lvl1pPr>
          </a:lstStyle>
          <a:p>
            <a:endParaRPr lang="en-US"/>
          </a:p>
        </p:txBody>
      </p:sp>
    </p:spTree>
    <p:extLst>
      <p:ext uri="{BB962C8B-B14F-4D97-AF65-F5344CB8AC3E}">
        <p14:creationId xmlns:p14="http://schemas.microsoft.com/office/powerpoint/2010/main" val="1695070787"/>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preserve="1" userDrawn="1">
  <p:cSld name="Half Image Slide 3">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276856"/>
          </a:xfrm>
        </p:spPr>
        <p:txBody>
          <a:bodyPr vert="horz" lIns="0" tIns="0" rIns="0" bIns="0" rtlCol="0">
            <a:noAutofit/>
          </a:bodyPr>
          <a:lstStyle>
            <a:lvl1pPr>
              <a:defRPr lang="en-US" sz="375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12353544"/>
          </a:xfrm>
        </p:spPr>
        <p:txBody>
          <a:bodyPr vert="horz" lIns="0" tIns="0" rIns="0" bIns="0" rtlCol="0">
            <a:noAutofit/>
          </a:bodyPr>
          <a:lstStyle>
            <a:lvl1pPr marL="285750" marR="0" indent="-285750"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a:solidFill>
                  <a:schemeClr val="bg1"/>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1" name="Freeform 5">
            <a:extLst>
              <a:ext uri="{FF2B5EF4-FFF2-40B4-BE49-F238E27FC236}">
                <a16:creationId xmlns:a16="http://schemas.microsoft.com/office/drawing/2014/main" id="{F157A664-DA27-D54A-9841-80BA581D6EFB}"/>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689092638"/>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preserve="1" userDrawn="1">
  <p:cSld name="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64770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9" name="Freeform 5">
            <a:extLst>
              <a:ext uri="{FF2B5EF4-FFF2-40B4-BE49-F238E27FC236}">
                <a16:creationId xmlns:a16="http://schemas.microsoft.com/office/drawing/2014/main" id="{9EB9608A-83D7-2445-9B5E-0695BCA9B61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tx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Tree>
    <p:extLst>
      <p:ext uri="{BB962C8B-B14F-4D97-AF65-F5344CB8AC3E}">
        <p14:creationId xmlns:p14="http://schemas.microsoft.com/office/powerpoint/2010/main" val="791218172"/>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preserve="1" userDrawn="1">
  <p:cSld name="5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8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slide to add picture</a:t>
            </a:r>
          </a:p>
          <a:p>
            <a:endParaRPr lang="en-US"/>
          </a:p>
          <a:p>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179451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9" name="Freeform 5">
            <a:extLst>
              <a:ext uri="{FF2B5EF4-FFF2-40B4-BE49-F238E27FC236}">
                <a16:creationId xmlns:a16="http://schemas.microsoft.com/office/drawing/2014/main" id="{9EB9608A-83D7-2445-9B5E-0695BCA9B61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88952" y="731520"/>
            <a:ext cx="5756148" cy="4069080"/>
          </a:xfrm>
          <a:solidFill>
            <a:schemeClr val="tx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Tree>
    <p:extLst>
      <p:ext uri="{BB962C8B-B14F-4D97-AF65-F5344CB8AC3E}">
        <p14:creationId xmlns:p14="http://schemas.microsoft.com/office/powerpoint/2010/main" val="1498639133"/>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preserve="1" userDrawn="1">
  <p:cSld name="Single Column - Pur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a:xfrm>
            <a:off x="0" y="0"/>
            <a:ext cx="6477000" cy="1371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6EFB90B-468B-48EC-9C17-1C9C6FB59342}"/>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3793267529"/>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preserve="1" userDrawn="1">
  <p:cSld name="1_Three Quarters Image Slide">
    <p:bg>
      <p:bgPr>
        <a:solidFill>
          <a:schemeClr val="accent2"/>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0" name="Text Placeholder 8">
            <a:extLst>
              <a:ext uri="{FF2B5EF4-FFF2-40B4-BE49-F238E27FC236}">
                <a16:creationId xmlns:a16="http://schemas.microsoft.com/office/drawing/2014/main" id="{974D1DD3-642B-4C79-A73C-241B70A94F6C}"/>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372720252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preserve="1" userDrawn="1">
  <p:cSld name="1_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0"/>
            <a:ext cx="121920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7823205"/>
            <a:ext cx="5208456" cy="5103714"/>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5" name="Freeform 5">
            <a:extLst>
              <a:ext uri="{FF2B5EF4-FFF2-40B4-BE49-F238E27FC236}">
                <a16:creationId xmlns:a16="http://schemas.microsoft.com/office/drawing/2014/main" id="{494F9C86-CE28-0C45-A3A6-627FC4BB79EA}"/>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7127210"/>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7127210"/>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7127210"/>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7822154"/>
            <a:ext cx="521104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Tree>
    <p:extLst>
      <p:ext uri="{BB962C8B-B14F-4D97-AF65-F5344CB8AC3E}">
        <p14:creationId xmlns:p14="http://schemas.microsoft.com/office/powerpoint/2010/main" val="1347759742"/>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preserve="1" userDrawn="1">
  <p:cSld name="1_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2"/>
            <a:ext cx="12192000" cy="381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5" name="Freeform 5">
            <a:extLst>
              <a:ext uri="{FF2B5EF4-FFF2-40B4-BE49-F238E27FC236}">
                <a16:creationId xmlns:a16="http://schemas.microsoft.com/office/drawing/2014/main" id="{494F9C86-CE28-0C45-A3A6-627FC4BB79EA}"/>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Tree>
    <p:extLst>
      <p:ext uri="{BB962C8B-B14F-4D97-AF65-F5344CB8AC3E}">
        <p14:creationId xmlns:p14="http://schemas.microsoft.com/office/powerpoint/2010/main" val="2887186944"/>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preserve="1" userDrawn="1">
  <p:cSld name="2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64770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9" name="Freeform 5">
            <a:extLst>
              <a:ext uri="{FF2B5EF4-FFF2-40B4-BE49-F238E27FC236}">
                <a16:creationId xmlns:a16="http://schemas.microsoft.com/office/drawing/2014/main" id="{9EB9608A-83D7-2445-9B5E-0695BCA9B61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accent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Tree>
    <p:extLst>
      <p:ext uri="{BB962C8B-B14F-4D97-AF65-F5344CB8AC3E}">
        <p14:creationId xmlns:p14="http://schemas.microsoft.com/office/powerpoint/2010/main" val="3974710935"/>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preserve="1" userDrawn="1">
  <p:cSld name="6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17948148"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9" name="Freeform 5">
            <a:extLst>
              <a:ext uri="{FF2B5EF4-FFF2-40B4-BE49-F238E27FC236}">
                <a16:creationId xmlns:a16="http://schemas.microsoft.com/office/drawing/2014/main" id="{9EB9608A-83D7-2445-9B5E-0695BCA9B61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92000" y="731520"/>
            <a:ext cx="5756148" cy="4069080"/>
          </a:xfrm>
          <a:solidFill>
            <a:schemeClr val="accent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Tree>
    <p:extLst>
      <p:ext uri="{BB962C8B-B14F-4D97-AF65-F5344CB8AC3E}">
        <p14:creationId xmlns:p14="http://schemas.microsoft.com/office/powerpoint/2010/main" val="145834114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preserve="1" userDrawn="1">
  <p:cSld name="Single Column - Blu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a:xfrm>
            <a:off x="0" y="0"/>
            <a:ext cx="6477000" cy="13716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6EFB90B-468B-48EC-9C17-1C9C6FB59342}"/>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178383450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preserve="1" userDrawn="1">
  <p:cSld name="2_Three Quarters Image Slide">
    <p:bg>
      <p:bgPr>
        <a:solidFill>
          <a:schemeClr val="accent4"/>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8" name="Freeform 5">
            <a:extLst>
              <a:ext uri="{FF2B5EF4-FFF2-40B4-BE49-F238E27FC236}">
                <a16:creationId xmlns:a16="http://schemas.microsoft.com/office/drawing/2014/main" id="{0B60F5D7-24EE-5D43-9631-E3C1C00DAE19}"/>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0" name="Text Placeholder 8">
            <a:extLst>
              <a:ext uri="{FF2B5EF4-FFF2-40B4-BE49-F238E27FC236}">
                <a16:creationId xmlns:a16="http://schemas.microsoft.com/office/drawing/2014/main" id="{1AB88C6D-9DCE-4D28-A76A-5515295E496A}"/>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112371031"/>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showMasterSp="0" preserve="1" userDrawn="1">
  <p:cSld name="2_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0"/>
            <a:ext cx="12192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7823205"/>
            <a:ext cx="5208456" cy="5103714"/>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5" name="Freeform 5">
            <a:extLst>
              <a:ext uri="{FF2B5EF4-FFF2-40B4-BE49-F238E27FC236}">
                <a16:creationId xmlns:a16="http://schemas.microsoft.com/office/drawing/2014/main" id="{494F9C86-CE28-0C45-A3A6-627FC4BB79EA}"/>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7127210"/>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7127210"/>
            <a:ext cx="506487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7127210"/>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7822154"/>
            <a:ext cx="521104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7822154"/>
            <a:ext cx="5057810"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Tree>
    <p:extLst>
      <p:ext uri="{BB962C8B-B14F-4D97-AF65-F5344CB8AC3E}">
        <p14:creationId xmlns:p14="http://schemas.microsoft.com/office/powerpoint/2010/main" val="3033243457"/>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preserve="1" userDrawn="1">
  <p:cSld name="2_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2"/>
            <a:ext cx="12192000" cy="381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5" name="Freeform 5">
            <a:extLst>
              <a:ext uri="{FF2B5EF4-FFF2-40B4-BE49-F238E27FC236}">
                <a16:creationId xmlns:a16="http://schemas.microsoft.com/office/drawing/2014/main" id="{494F9C86-CE28-0C45-A3A6-627FC4BB79EA}"/>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Tree>
    <p:extLst>
      <p:ext uri="{BB962C8B-B14F-4D97-AF65-F5344CB8AC3E}">
        <p14:creationId xmlns:p14="http://schemas.microsoft.com/office/powerpoint/2010/main" val="3505863654"/>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showMasterSp="0" preserve="1" userDrawn="1">
  <p:cSld name="3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64770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9" name="Freeform 5">
            <a:extLst>
              <a:ext uri="{FF2B5EF4-FFF2-40B4-BE49-F238E27FC236}">
                <a16:creationId xmlns:a16="http://schemas.microsoft.com/office/drawing/2014/main" id="{9EB9608A-83D7-2445-9B5E-0695BCA9B61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accent4"/>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Tree>
    <p:extLst>
      <p:ext uri="{BB962C8B-B14F-4D97-AF65-F5344CB8AC3E}">
        <p14:creationId xmlns:p14="http://schemas.microsoft.com/office/powerpoint/2010/main" val="625764859"/>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showMasterSp="0" preserve="1" userDrawn="1">
  <p:cSld name="7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179451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9" name="Freeform 5">
            <a:extLst>
              <a:ext uri="{FF2B5EF4-FFF2-40B4-BE49-F238E27FC236}">
                <a16:creationId xmlns:a16="http://schemas.microsoft.com/office/drawing/2014/main" id="{9EB9608A-83D7-2445-9B5E-0695BCA9B613}"/>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900"/>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88952" y="731520"/>
            <a:ext cx="5756148" cy="4069080"/>
          </a:xfrm>
          <a:solidFill>
            <a:schemeClr val="accent4"/>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Tree>
    <p:extLst>
      <p:ext uri="{BB962C8B-B14F-4D97-AF65-F5344CB8AC3E}">
        <p14:creationId xmlns:p14="http://schemas.microsoft.com/office/powerpoint/2010/main" val="135847114"/>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showMasterSp="0" userDrawn="1">
  <p:cSld name="Breaker">
    <p:bg>
      <p:bgPr>
        <a:solidFill>
          <a:srgbClr val="EB0000"/>
        </a:solidFill>
        <a:effectLst/>
      </p:bgPr>
    </p:bg>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723901" y="653291"/>
            <a:ext cx="11160126" cy="4200146"/>
          </a:xfrm>
          <a:noFill/>
          <a:ln>
            <a:noFill/>
          </a:ln>
        </p:spPr>
        <p:txBody>
          <a:bodyPr vert="horz" lIns="0" tIns="0" rIns="0" bIns="0" rtlCol="0" anchor="b">
            <a:noAutofit/>
          </a:bodyPr>
          <a:lstStyle>
            <a:lvl1pPr marL="0" indent="0" fontAlgn="base">
              <a:lnSpc>
                <a:spcPct val="112000"/>
              </a:lnSpc>
              <a:spcBef>
                <a:spcPts val="0"/>
              </a:spcBef>
              <a:buNone/>
              <a:defRPr lang="en-US" sz="90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758826" y="4998536"/>
            <a:ext cx="11125200" cy="1627188"/>
          </a:xfrm>
        </p:spPr>
        <p:txBody>
          <a:bodyPr vert="horz" lIns="0" tIns="0" rIns="0" bIns="0" rtlCol="0" anchor="t">
            <a:noAutofit/>
          </a:bodyPr>
          <a:lstStyle>
            <a:lvl1pPr marL="0" indent="0">
              <a:buNone/>
              <a:defRPr lang="en-US" sz="5200" dirty="0">
                <a:ln>
                  <a:noFill/>
                </a:ln>
                <a:solidFill>
                  <a:schemeClr val="bg1"/>
                </a:solidFill>
              </a:defRPr>
            </a:lvl1pPr>
          </a:lstStyle>
          <a:p>
            <a:pPr lvl="0"/>
            <a:r>
              <a:rPr lang="en-US"/>
              <a:t>All titles/subtitles are sentence case</a:t>
            </a:r>
          </a:p>
        </p:txBody>
      </p:sp>
      <p:sp>
        <p:nvSpPr>
          <p:cNvPr id="6" name="Freeform 5">
            <a:extLst>
              <a:ext uri="{FF2B5EF4-FFF2-40B4-BE49-F238E27FC236}">
                <a16:creationId xmlns:a16="http://schemas.microsoft.com/office/drawing/2014/main" id="{B96AE158-57F3-42F7-BA5B-F9CAC8029C8B}"/>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grpSp>
        <p:nvGrpSpPr>
          <p:cNvPr id="5" name="Group 4">
            <a:extLst>
              <a:ext uri="{FF2B5EF4-FFF2-40B4-BE49-F238E27FC236}">
                <a16:creationId xmlns:a16="http://schemas.microsoft.com/office/drawing/2014/main" id="{4CD80BBE-E9C1-4ADE-A161-0379299AA354}"/>
              </a:ext>
            </a:extLst>
          </p:cNvPr>
          <p:cNvGrpSpPr/>
          <p:nvPr userDrawn="1"/>
        </p:nvGrpSpPr>
        <p:grpSpPr>
          <a:xfrm>
            <a:off x="20482559" y="11617235"/>
            <a:ext cx="2910578" cy="1484086"/>
            <a:chOff x="6551613" y="3198813"/>
            <a:chExt cx="5856287" cy="2986087"/>
          </a:xfrm>
          <a:solidFill>
            <a:schemeClr val="bg1"/>
          </a:solidFill>
        </p:grpSpPr>
        <p:sp>
          <p:nvSpPr>
            <p:cNvPr id="7" name="Freeform 5">
              <a:extLst>
                <a:ext uri="{FF2B5EF4-FFF2-40B4-BE49-F238E27FC236}">
                  <a16:creationId xmlns:a16="http://schemas.microsoft.com/office/drawing/2014/main" id="{07ACEAA7-1C6C-469C-841B-DBCC48ED2727}"/>
                </a:ext>
              </a:extLst>
            </p:cNvPr>
            <p:cNvSpPr>
              <a:spLocks/>
            </p:cNvSpPr>
            <p:nvPr/>
          </p:nvSpPr>
          <p:spPr bwMode="auto">
            <a:xfrm>
              <a:off x="6559550" y="3346450"/>
              <a:ext cx="822325" cy="1155700"/>
            </a:xfrm>
            <a:custGeom>
              <a:avLst/>
              <a:gdLst>
                <a:gd name="T0" fmla="*/ 209 w 218"/>
                <a:gd name="T1" fmla="*/ 36 h 306"/>
                <a:gd name="T2" fmla="*/ 181 w 218"/>
                <a:gd name="T3" fmla="*/ 68 h 306"/>
                <a:gd name="T4" fmla="*/ 115 w 218"/>
                <a:gd name="T5" fmla="*/ 42 h 306"/>
                <a:gd name="T6" fmla="*/ 70 w 218"/>
                <a:gd name="T7" fmla="*/ 77 h 306"/>
                <a:gd name="T8" fmla="*/ 130 w 218"/>
                <a:gd name="T9" fmla="*/ 123 h 306"/>
                <a:gd name="T10" fmla="*/ 218 w 218"/>
                <a:gd name="T11" fmla="*/ 216 h 306"/>
                <a:gd name="T12" fmla="*/ 106 w 218"/>
                <a:gd name="T13" fmla="*/ 306 h 306"/>
                <a:gd name="T14" fmla="*/ 0 w 218"/>
                <a:gd name="T15" fmla="*/ 266 h 306"/>
                <a:gd name="T16" fmla="*/ 29 w 218"/>
                <a:gd name="T17" fmla="*/ 233 h 306"/>
                <a:gd name="T18" fmla="*/ 105 w 218"/>
                <a:gd name="T19" fmla="*/ 263 h 306"/>
                <a:gd name="T20" fmla="*/ 159 w 218"/>
                <a:gd name="T21" fmla="*/ 219 h 306"/>
                <a:gd name="T22" fmla="*/ 101 w 218"/>
                <a:gd name="T23" fmla="*/ 169 h 306"/>
                <a:gd name="T24" fmla="*/ 12 w 218"/>
                <a:gd name="T25" fmla="*/ 81 h 306"/>
                <a:gd name="T26" fmla="*/ 112 w 218"/>
                <a:gd name="T27" fmla="*/ 0 h 306"/>
                <a:gd name="T28" fmla="*/ 209 w 218"/>
                <a:gd name="T29" fmla="*/ 3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8" h="306">
                  <a:moveTo>
                    <a:pt x="209" y="36"/>
                  </a:moveTo>
                  <a:cubicBezTo>
                    <a:pt x="181" y="68"/>
                    <a:pt x="181" y="68"/>
                    <a:pt x="181" y="68"/>
                  </a:cubicBezTo>
                  <a:cubicBezTo>
                    <a:pt x="160" y="50"/>
                    <a:pt x="140" y="42"/>
                    <a:pt x="115" y="42"/>
                  </a:cubicBezTo>
                  <a:cubicBezTo>
                    <a:pt x="89" y="42"/>
                    <a:pt x="70" y="54"/>
                    <a:pt x="70" y="77"/>
                  </a:cubicBezTo>
                  <a:cubicBezTo>
                    <a:pt x="70" y="99"/>
                    <a:pt x="81" y="108"/>
                    <a:pt x="130" y="123"/>
                  </a:cubicBezTo>
                  <a:cubicBezTo>
                    <a:pt x="182" y="139"/>
                    <a:pt x="218" y="161"/>
                    <a:pt x="218" y="216"/>
                  </a:cubicBezTo>
                  <a:cubicBezTo>
                    <a:pt x="218" y="269"/>
                    <a:pt x="176" y="306"/>
                    <a:pt x="106" y="306"/>
                  </a:cubicBezTo>
                  <a:cubicBezTo>
                    <a:pt x="59" y="306"/>
                    <a:pt x="24" y="290"/>
                    <a:pt x="0" y="266"/>
                  </a:cubicBezTo>
                  <a:cubicBezTo>
                    <a:pt x="29" y="233"/>
                    <a:pt x="29" y="233"/>
                    <a:pt x="29" y="233"/>
                  </a:cubicBezTo>
                  <a:cubicBezTo>
                    <a:pt x="51" y="252"/>
                    <a:pt x="74" y="263"/>
                    <a:pt x="105" y="263"/>
                  </a:cubicBezTo>
                  <a:cubicBezTo>
                    <a:pt x="136" y="263"/>
                    <a:pt x="159" y="248"/>
                    <a:pt x="159" y="219"/>
                  </a:cubicBezTo>
                  <a:cubicBezTo>
                    <a:pt x="159" y="194"/>
                    <a:pt x="147" y="183"/>
                    <a:pt x="101" y="169"/>
                  </a:cubicBezTo>
                  <a:cubicBezTo>
                    <a:pt x="39" y="150"/>
                    <a:pt x="12" y="125"/>
                    <a:pt x="12" y="81"/>
                  </a:cubicBezTo>
                  <a:cubicBezTo>
                    <a:pt x="12" y="32"/>
                    <a:pt x="54" y="0"/>
                    <a:pt x="112" y="0"/>
                  </a:cubicBezTo>
                  <a:cubicBezTo>
                    <a:pt x="155" y="0"/>
                    <a:pt x="184" y="12"/>
                    <a:pt x="209"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8" name="Freeform 6">
              <a:extLst>
                <a:ext uri="{FF2B5EF4-FFF2-40B4-BE49-F238E27FC236}">
                  <a16:creationId xmlns:a16="http://schemas.microsoft.com/office/drawing/2014/main" id="{781C4BC7-E6C3-48AF-AB86-B4B67AE2B2AC}"/>
                </a:ext>
              </a:extLst>
            </p:cNvPr>
            <p:cNvSpPr>
              <a:spLocks noEditPoints="1"/>
            </p:cNvSpPr>
            <p:nvPr/>
          </p:nvSpPr>
          <p:spPr bwMode="auto">
            <a:xfrm>
              <a:off x="7456488" y="3603625"/>
              <a:ext cx="800100" cy="898525"/>
            </a:xfrm>
            <a:custGeom>
              <a:avLst/>
              <a:gdLst>
                <a:gd name="T0" fmla="*/ 212 w 212"/>
                <a:gd name="T1" fmla="*/ 119 h 238"/>
                <a:gd name="T2" fmla="*/ 106 w 212"/>
                <a:gd name="T3" fmla="*/ 238 h 238"/>
                <a:gd name="T4" fmla="*/ 0 w 212"/>
                <a:gd name="T5" fmla="*/ 119 h 238"/>
                <a:gd name="T6" fmla="*/ 106 w 212"/>
                <a:gd name="T7" fmla="*/ 0 h 238"/>
                <a:gd name="T8" fmla="*/ 212 w 212"/>
                <a:gd name="T9" fmla="*/ 119 h 238"/>
                <a:gd name="T10" fmla="*/ 57 w 212"/>
                <a:gd name="T11" fmla="*/ 119 h 238"/>
                <a:gd name="T12" fmla="*/ 106 w 212"/>
                <a:gd name="T13" fmla="*/ 197 h 238"/>
                <a:gd name="T14" fmla="*/ 154 w 212"/>
                <a:gd name="T15" fmla="*/ 119 h 238"/>
                <a:gd name="T16" fmla="*/ 106 w 212"/>
                <a:gd name="T17" fmla="*/ 42 h 238"/>
                <a:gd name="T18" fmla="*/ 57 w 212"/>
                <a:gd name="T19" fmla="*/ 11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38">
                  <a:moveTo>
                    <a:pt x="212" y="119"/>
                  </a:moveTo>
                  <a:cubicBezTo>
                    <a:pt x="212" y="190"/>
                    <a:pt x="172" y="238"/>
                    <a:pt x="106" y="238"/>
                  </a:cubicBezTo>
                  <a:cubicBezTo>
                    <a:pt x="40" y="238"/>
                    <a:pt x="0" y="193"/>
                    <a:pt x="0" y="119"/>
                  </a:cubicBezTo>
                  <a:cubicBezTo>
                    <a:pt x="0" y="48"/>
                    <a:pt x="40" y="0"/>
                    <a:pt x="106" y="0"/>
                  </a:cubicBezTo>
                  <a:cubicBezTo>
                    <a:pt x="173" y="0"/>
                    <a:pt x="212" y="46"/>
                    <a:pt x="212" y="119"/>
                  </a:cubicBezTo>
                  <a:moveTo>
                    <a:pt x="57" y="119"/>
                  </a:moveTo>
                  <a:cubicBezTo>
                    <a:pt x="57" y="173"/>
                    <a:pt x="74" y="197"/>
                    <a:pt x="106" y="197"/>
                  </a:cubicBezTo>
                  <a:cubicBezTo>
                    <a:pt x="138" y="197"/>
                    <a:pt x="154" y="173"/>
                    <a:pt x="154" y="119"/>
                  </a:cubicBezTo>
                  <a:cubicBezTo>
                    <a:pt x="154" y="66"/>
                    <a:pt x="138" y="42"/>
                    <a:pt x="106" y="42"/>
                  </a:cubicBezTo>
                  <a:cubicBezTo>
                    <a:pt x="74" y="42"/>
                    <a:pt x="57" y="66"/>
                    <a:pt x="57" y="1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0" name="Freeform 7">
              <a:extLst>
                <a:ext uri="{FF2B5EF4-FFF2-40B4-BE49-F238E27FC236}">
                  <a16:creationId xmlns:a16="http://schemas.microsoft.com/office/drawing/2014/main" id="{0EB10CA2-AD98-46FB-904E-3FC53AF6D322}"/>
                </a:ext>
              </a:extLst>
            </p:cNvPr>
            <p:cNvSpPr>
              <a:spLocks/>
            </p:cNvSpPr>
            <p:nvPr/>
          </p:nvSpPr>
          <p:spPr bwMode="auto">
            <a:xfrm>
              <a:off x="8369300" y="3267075"/>
              <a:ext cx="342900" cy="1235075"/>
            </a:xfrm>
            <a:custGeom>
              <a:avLst/>
              <a:gdLst>
                <a:gd name="T0" fmla="*/ 0 w 91"/>
                <a:gd name="T1" fmla="*/ 269 h 327"/>
                <a:gd name="T2" fmla="*/ 0 w 91"/>
                <a:gd name="T3" fmla="*/ 6 h 327"/>
                <a:gd name="T4" fmla="*/ 54 w 91"/>
                <a:gd name="T5" fmla="*/ 0 h 327"/>
                <a:gd name="T6" fmla="*/ 54 w 91"/>
                <a:gd name="T7" fmla="*/ 268 h 327"/>
                <a:gd name="T8" fmla="*/ 67 w 91"/>
                <a:gd name="T9" fmla="*/ 283 h 327"/>
                <a:gd name="T10" fmla="*/ 80 w 91"/>
                <a:gd name="T11" fmla="*/ 281 h 327"/>
                <a:gd name="T12" fmla="*/ 91 w 91"/>
                <a:gd name="T13" fmla="*/ 320 h 327"/>
                <a:gd name="T14" fmla="*/ 55 w 91"/>
                <a:gd name="T15" fmla="*/ 327 h 327"/>
                <a:gd name="T16" fmla="*/ 0 w 91"/>
                <a:gd name="T17" fmla="*/ 269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327">
                  <a:moveTo>
                    <a:pt x="0" y="269"/>
                  </a:moveTo>
                  <a:cubicBezTo>
                    <a:pt x="0" y="6"/>
                    <a:pt x="0" y="6"/>
                    <a:pt x="0" y="6"/>
                  </a:cubicBezTo>
                  <a:cubicBezTo>
                    <a:pt x="54" y="0"/>
                    <a:pt x="54" y="0"/>
                    <a:pt x="54" y="0"/>
                  </a:cubicBezTo>
                  <a:cubicBezTo>
                    <a:pt x="54" y="268"/>
                    <a:pt x="54" y="268"/>
                    <a:pt x="54" y="268"/>
                  </a:cubicBezTo>
                  <a:cubicBezTo>
                    <a:pt x="54" y="278"/>
                    <a:pt x="58" y="283"/>
                    <a:pt x="67" y="283"/>
                  </a:cubicBezTo>
                  <a:cubicBezTo>
                    <a:pt x="72" y="283"/>
                    <a:pt x="76" y="283"/>
                    <a:pt x="80" y="281"/>
                  </a:cubicBezTo>
                  <a:cubicBezTo>
                    <a:pt x="91" y="320"/>
                    <a:pt x="91" y="320"/>
                    <a:pt x="91" y="320"/>
                  </a:cubicBezTo>
                  <a:cubicBezTo>
                    <a:pt x="82" y="324"/>
                    <a:pt x="69" y="327"/>
                    <a:pt x="55" y="327"/>
                  </a:cubicBezTo>
                  <a:cubicBezTo>
                    <a:pt x="20" y="327"/>
                    <a:pt x="0" y="306"/>
                    <a:pt x="0" y="26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1" name="Freeform 8">
              <a:extLst>
                <a:ext uri="{FF2B5EF4-FFF2-40B4-BE49-F238E27FC236}">
                  <a16:creationId xmlns:a16="http://schemas.microsoft.com/office/drawing/2014/main" id="{B9E5C79F-E295-488C-8EE4-9FF1E890F79F}"/>
                </a:ext>
              </a:extLst>
            </p:cNvPr>
            <p:cNvSpPr>
              <a:spLocks/>
            </p:cNvSpPr>
            <p:nvPr/>
          </p:nvSpPr>
          <p:spPr bwMode="auto">
            <a:xfrm>
              <a:off x="8640763" y="3630613"/>
              <a:ext cx="803275" cy="849312"/>
            </a:xfrm>
            <a:custGeom>
              <a:avLst/>
              <a:gdLst>
                <a:gd name="T0" fmla="*/ 330 w 506"/>
                <a:gd name="T1" fmla="*/ 535 h 535"/>
                <a:gd name="T2" fmla="*/ 176 w 506"/>
                <a:gd name="T3" fmla="*/ 535 h 535"/>
                <a:gd name="T4" fmla="*/ 0 w 506"/>
                <a:gd name="T5" fmla="*/ 0 h 535"/>
                <a:gd name="T6" fmla="*/ 140 w 506"/>
                <a:gd name="T7" fmla="*/ 0 h 535"/>
                <a:gd name="T8" fmla="*/ 254 w 506"/>
                <a:gd name="T9" fmla="*/ 430 h 535"/>
                <a:gd name="T10" fmla="*/ 371 w 506"/>
                <a:gd name="T11" fmla="*/ 0 h 535"/>
                <a:gd name="T12" fmla="*/ 506 w 506"/>
                <a:gd name="T13" fmla="*/ 0 h 535"/>
                <a:gd name="T14" fmla="*/ 330 w 506"/>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6" h="535">
                  <a:moveTo>
                    <a:pt x="330" y="535"/>
                  </a:moveTo>
                  <a:lnTo>
                    <a:pt x="176" y="535"/>
                  </a:lnTo>
                  <a:lnTo>
                    <a:pt x="0" y="0"/>
                  </a:lnTo>
                  <a:lnTo>
                    <a:pt x="140" y="0"/>
                  </a:lnTo>
                  <a:lnTo>
                    <a:pt x="254" y="430"/>
                  </a:lnTo>
                  <a:lnTo>
                    <a:pt x="371" y="0"/>
                  </a:lnTo>
                  <a:lnTo>
                    <a:pt x="506" y="0"/>
                  </a:lnTo>
                  <a:lnTo>
                    <a:pt x="330"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3" name="Freeform 9">
              <a:extLst>
                <a:ext uri="{FF2B5EF4-FFF2-40B4-BE49-F238E27FC236}">
                  <a16:creationId xmlns:a16="http://schemas.microsoft.com/office/drawing/2014/main" id="{EFBA0CC9-5A1F-479E-8678-19B836D49C6A}"/>
                </a:ext>
              </a:extLst>
            </p:cNvPr>
            <p:cNvSpPr>
              <a:spLocks noEditPoints="1"/>
            </p:cNvSpPr>
            <p:nvPr/>
          </p:nvSpPr>
          <p:spPr bwMode="auto">
            <a:xfrm>
              <a:off x="9471025" y="3198813"/>
              <a:ext cx="255587" cy="1281112"/>
            </a:xfrm>
            <a:custGeom>
              <a:avLst/>
              <a:gdLst>
                <a:gd name="T0" fmla="*/ 68 w 68"/>
                <a:gd name="T1" fmla="*/ 33 h 339"/>
                <a:gd name="T2" fmla="*/ 34 w 68"/>
                <a:gd name="T3" fmla="*/ 66 h 339"/>
                <a:gd name="T4" fmla="*/ 0 w 68"/>
                <a:gd name="T5" fmla="*/ 33 h 339"/>
                <a:gd name="T6" fmla="*/ 34 w 68"/>
                <a:gd name="T7" fmla="*/ 0 h 339"/>
                <a:gd name="T8" fmla="*/ 68 w 68"/>
                <a:gd name="T9" fmla="*/ 33 h 339"/>
                <a:gd name="T10" fmla="*/ 62 w 68"/>
                <a:gd name="T11" fmla="*/ 339 h 339"/>
                <a:gd name="T12" fmla="*/ 7 w 68"/>
                <a:gd name="T13" fmla="*/ 339 h 339"/>
                <a:gd name="T14" fmla="*/ 7 w 68"/>
                <a:gd name="T15" fmla="*/ 114 h 339"/>
                <a:gd name="T16" fmla="*/ 62 w 68"/>
                <a:gd name="T17" fmla="*/ 114 h 339"/>
                <a:gd name="T18" fmla="*/ 62 w 68"/>
                <a:gd name="T19"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339">
                  <a:moveTo>
                    <a:pt x="68" y="33"/>
                  </a:moveTo>
                  <a:cubicBezTo>
                    <a:pt x="68" y="51"/>
                    <a:pt x="54" y="66"/>
                    <a:pt x="34" y="66"/>
                  </a:cubicBezTo>
                  <a:cubicBezTo>
                    <a:pt x="14" y="66"/>
                    <a:pt x="0" y="51"/>
                    <a:pt x="0" y="33"/>
                  </a:cubicBezTo>
                  <a:cubicBezTo>
                    <a:pt x="0" y="14"/>
                    <a:pt x="14" y="0"/>
                    <a:pt x="34" y="0"/>
                  </a:cubicBezTo>
                  <a:cubicBezTo>
                    <a:pt x="54" y="0"/>
                    <a:pt x="68" y="14"/>
                    <a:pt x="68" y="33"/>
                  </a:cubicBezTo>
                  <a:moveTo>
                    <a:pt x="62" y="339"/>
                  </a:moveTo>
                  <a:cubicBezTo>
                    <a:pt x="7" y="339"/>
                    <a:pt x="7" y="339"/>
                    <a:pt x="7" y="339"/>
                  </a:cubicBezTo>
                  <a:cubicBezTo>
                    <a:pt x="7" y="114"/>
                    <a:pt x="7" y="114"/>
                    <a:pt x="7" y="114"/>
                  </a:cubicBezTo>
                  <a:cubicBezTo>
                    <a:pt x="62" y="114"/>
                    <a:pt x="62" y="114"/>
                    <a:pt x="62" y="114"/>
                  </a:cubicBezTo>
                  <a:lnTo>
                    <a:pt x="62" y="3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4" name="Freeform 10">
              <a:extLst>
                <a:ext uri="{FF2B5EF4-FFF2-40B4-BE49-F238E27FC236}">
                  <a16:creationId xmlns:a16="http://schemas.microsoft.com/office/drawing/2014/main" id="{17FF4A07-8B4D-47A8-9A59-AA3085E43920}"/>
                </a:ext>
              </a:extLst>
            </p:cNvPr>
            <p:cNvSpPr>
              <a:spLocks/>
            </p:cNvSpPr>
            <p:nvPr/>
          </p:nvSpPr>
          <p:spPr bwMode="auto">
            <a:xfrm>
              <a:off x="9877425" y="3603625"/>
              <a:ext cx="693737" cy="876300"/>
            </a:xfrm>
            <a:custGeom>
              <a:avLst/>
              <a:gdLst>
                <a:gd name="T0" fmla="*/ 184 w 184"/>
                <a:gd name="T1" fmla="*/ 69 h 232"/>
                <a:gd name="T2" fmla="*/ 184 w 184"/>
                <a:gd name="T3" fmla="*/ 232 h 232"/>
                <a:gd name="T4" fmla="*/ 129 w 184"/>
                <a:gd name="T5" fmla="*/ 232 h 232"/>
                <a:gd name="T6" fmla="*/ 129 w 184"/>
                <a:gd name="T7" fmla="*/ 77 h 232"/>
                <a:gd name="T8" fmla="*/ 102 w 184"/>
                <a:gd name="T9" fmla="*/ 41 h 232"/>
                <a:gd name="T10" fmla="*/ 54 w 184"/>
                <a:gd name="T11" fmla="*/ 75 h 232"/>
                <a:gd name="T12" fmla="*/ 54 w 184"/>
                <a:gd name="T13" fmla="*/ 232 h 232"/>
                <a:gd name="T14" fmla="*/ 0 w 184"/>
                <a:gd name="T15" fmla="*/ 232 h 232"/>
                <a:gd name="T16" fmla="*/ 0 w 184"/>
                <a:gd name="T17" fmla="*/ 7 h 232"/>
                <a:gd name="T18" fmla="*/ 47 w 184"/>
                <a:gd name="T19" fmla="*/ 7 h 232"/>
                <a:gd name="T20" fmla="*/ 51 w 184"/>
                <a:gd name="T21" fmla="*/ 36 h 232"/>
                <a:gd name="T22" fmla="*/ 120 w 184"/>
                <a:gd name="T23" fmla="*/ 0 h 232"/>
                <a:gd name="T24" fmla="*/ 184 w 184"/>
                <a:gd name="T25" fmla="*/ 6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232">
                  <a:moveTo>
                    <a:pt x="184" y="69"/>
                  </a:moveTo>
                  <a:cubicBezTo>
                    <a:pt x="184" y="232"/>
                    <a:pt x="184" y="232"/>
                    <a:pt x="184" y="232"/>
                  </a:cubicBezTo>
                  <a:cubicBezTo>
                    <a:pt x="129" y="232"/>
                    <a:pt x="129" y="232"/>
                    <a:pt x="129" y="232"/>
                  </a:cubicBezTo>
                  <a:cubicBezTo>
                    <a:pt x="129" y="77"/>
                    <a:pt x="129" y="77"/>
                    <a:pt x="129" y="77"/>
                  </a:cubicBezTo>
                  <a:cubicBezTo>
                    <a:pt x="129" y="49"/>
                    <a:pt x="119" y="41"/>
                    <a:pt x="102" y="41"/>
                  </a:cubicBezTo>
                  <a:cubicBezTo>
                    <a:pt x="82" y="41"/>
                    <a:pt x="68" y="54"/>
                    <a:pt x="54" y="75"/>
                  </a:cubicBezTo>
                  <a:cubicBezTo>
                    <a:pt x="54" y="232"/>
                    <a:pt x="54" y="232"/>
                    <a:pt x="54" y="232"/>
                  </a:cubicBezTo>
                  <a:cubicBezTo>
                    <a:pt x="0" y="232"/>
                    <a:pt x="0" y="232"/>
                    <a:pt x="0" y="232"/>
                  </a:cubicBezTo>
                  <a:cubicBezTo>
                    <a:pt x="0" y="7"/>
                    <a:pt x="0" y="7"/>
                    <a:pt x="0" y="7"/>
                  </a:cubicBezTo>
                  <a:cubicBezTo>
                    <a:pt x="47" y="7"/>
                    <a:pt x="47" y="7"/>
                    <a:pt x="47" y="7"/>
                  </a:cubicBezTo>
                  <a:cubicBezTo>
                    <a:pt x="51" y="36"/>
                    <a:pt x="51" y="36"/>
                    <a:pt x="51" y="36"/>
                  </a:cubicBezTo>
                  <a:cubicBezTo>
                    <a:pt x="69" y="14"/>
                    <a:pt x="91" y="0"/>
                    <a:pt x="120" y="0"/>
                  </a:cubicBezTo>
                  <a:cubicBezTo>
                    <a:pt x="160" y="0"/>
                    <a:pt x="184" y="26"/>
                    <a:pt x="184" y="6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5" name="Freeform 11">
              <a:extLst>
                <a:ext uri="{FF2B5EF4-FFF2-40B4-BE49-F238E27FC236}">
                  <a16:creationId xmlns:a16="http://schemas.microsoft.com/office/drawing/2014/main" id="{8693E875-09F4-48DF-AFDE-3A3E0AA5EA2C}"/>
                </a:ext>
              </a:extLst>
            </p:cNvPr>
            <p:cNvSpPr>
              <a:spLocks noEditPoints="1"/>
            </p:cNvSpPr>
            <p:nvPr/>
          </p:nvSpPr>
          <p:spPr bwMode="auto">
            <a:xfrm>
              <a:off x="10628313" y="3509963"/>
              <a:ext cx="836612" cy="1322387"/>
            </a:xfrm>
            <a:custGeom>
              <a:avLst/>
              <a:gdLst>
                <a:gd name="T0" fmla="*/ 222 w 222"/>
                <a:gd name="T1" fmla="*/ 44 h 350"/>
                <a:gd name="T2" fmla="*/ 156 w 222"/>
                <a:gd name="T3" fmla="*/ 51 h 350"/>
                <a:gd name="T4" fmla="*/ 197 w 222"/>
                <a:gd name="T5" fmla="*/ 109 h 350"/>
                <a:gd name="T6" fmla="*/ 107 w 222"/>
                <a:gd name="T7" fmla="*/ 185 h 350"/>
                <a:gd name="T8" fmla="*/ 80 w 222"/>
                <a:gd name="T9" fmla="*/ 182 h 350"/>
                <a:gd name="T10" fmla="*/ 71 w 222"/>
                <a:gd name="T11" fmla="*/ 198 h 350"/>
                <a:gd name="T12" fmla="*/ 98 w 222"/>
                <a:gd name="T13" fmla="*/ 214 h 350"/>
                <a:gd name="T14" fmla="*/ 132 w 222"/>
                <a:gd name="T15" fmla="*/ 214 h 350"/>
                <a:gd name="T16" fmla="*/ 214 w 222"/>
                <a:gd name="T17" fmla="*/ 278 h 350"/>
                <a:gd name="T18" fmla="*/ 102 w 222"/>
                <a:gd name="T19" fmla="*/ 350 h 350"/>
                <a:gd name="T20" fmla="*/ 0 w 222"/>
                <a:gd name="T21" fmla="*/ 279 h 350"/>
                <a:gd name="T22" fmla="*/ 48 w 222"/>
                <a:gd name="T23" fmla="*/ 279 h 350"/>
                <a:gd name="T24" fmla="*/ 103 w 222"/>
                <a:gd name="T25" fmla="*/ 311 h 350"/>
                <a:gd name="T26" fmla="*/ 159 w 222"/>
                <a:gd name="T27" fmla="*/ 281 h 350"/>
                <a:gd name="T28" fmla="*/ 121 w 222"/>
                <a:gd name="T29" fmla="*/ 255 h 350"/>
                <a:gd name="T30" fmla="*/ 87 w 222"/>
                <a:gd name="T31" fmla="*/ 255 h 350"/>
                <a:gd name="T32" fmla="*/ 23 w 222"/>
                <a:gd name="T33" fmla="*/ 211 h 350"/>
                <a:gd name="T34" fmla="*/ 49 w 222"/>
                <a:gd name="T35" fmla="*/ 170 h 350"/>
                <a:gd name="T36" fmla="*/ 10 w 222"/>
                <a:gd name="T37" fmla="*/ 106 h 350"/>
                <a:gd name="T38" fmla="*/ 103 w 222"/>
                <a:gd name="T39" fmla="*/ 25 h 350"/>
                <a:gd name="T40" fmla="*/ 208 w 222"/>
                <a:gd name="T41" fmla="*/ 0 h 350"/>
                <a:gd name="T42" fmla="*/ 222 w 222"/>
                <a:gd name="T43" fmla="*/ 44 h 350"/>
                <a:gd name="T44" fmla="*/ 65 w 222"/>
                <a:gd name="T45" fmla="*/ 105 h 350"/>
                <a:gd name="T46" fmla="*/ 105 w 222"/>
                <a:gd name="T47" fmla="*/ 150 h 350"/>
                <a:gd name="T48" fmla="*/ 145 w 222"/>
                <a:gd name="T49" fmla="*/ 105 h 350"/>
                <a:gd name="T50" fmla="*/ 104 w 222"/>
                <a:gd name="T51" fmla="*/ 62 h 350"/>
                <a:gd name="T52" fmla="*/ 65 w 222"/>
                <a:gd name="T53" fmla="*/ 10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2" h="350">
                  <a:moveTo>
                    <a:pt x="222" y="44"/>
                  </a:moveTo>
                  <a:cubicBezTo>
                    <a:pt x="205" y="50"/>
                    <a:pt x="183" y="51"/>
                    <a:pt x="156" y="51"/>
                  </a:cubicBezTo>
                  <a:cubicBezTo>
                    <a:pt x="184" y="64"/>
                    <a:pt x="197" y="81"/>
                    <a:pt x="197" y="109"/>
                  </a:cubicBezTo>
                  <a:cubicBezTo>
                    <a:pt x="197" y="153"/>
                    <a:pt x="163" y="185"/>
                    <a:pt x="107" y="185"/>
                  </a:cubicBezTo>
                  <a:cubicBezTo>
                    <a:pt x="97" y="185"/>
                    <a:pt x="88" y="184"/>
                    <a:pt x="80" y="182"/>
                  </a:cubicBezTo>
                  <a:cubicBezTo>
                    <a:pt x="74" y="185"/>
                    <a:pt x="71" y="191"/>
                    <a:pt x="71" y="198"/>
                  </a:cubicBezTo>
                  <a:cubicBezTo>
                    <a:pt x="71" y="206"/>
                    <a:pt x="75" y="214"/>
                    <a:pt x="98" y="214"/>
                  </a:cubicBezTo>
                  <a:cubicBezTo>
                    <a:pt x="132" y="214"/>
                    <a:pt x="132" y="214"/>
                    <a:pt x="132" y="214"/>
                  </a:cubicBezTo>
                  <a:cubicBezTo>
                    <a:pt x="182" y="214"/>
                    <a:pt x="214" y="241"/>
                    <a:pt x="214" y="278"/>
                  </a:cubicBezTo>
                  <a:cubicBezTo>
                    <a:pt x="214" y="323"/>
                    <a:pt x="176" y="350"/>
                    <a:pt x="102" y="350"/>
                  </a:cubicBezTo>
                  <a:cubicBezTo>
                    <a:pt x="22" y="350"/>
                    <a:pt x="0" y="324"/>
                    <a:pt x="0" y="279"/>
                  </a:cubicBezTo>
                  <a:cubicBezTo>
                    <a:pt x="48" y="279"/>
                    <a:pt x="48" y="279"/>
                    <a:pt x="48" y="279"/>
                  </a:cubicBezTo>
                  <a:cubicBezTo>
                    <a:pt x="48" y="301"/>
                    <a:pt x="58" y="311"/>
                    <a:pt x="103" y="311"/>
                  </a:cubicBezTo>
                  <a:cubicBezTo>
                    <a:pt x="147" y="311"/>
                    <a:pt x="159" y="299"/>
                    <a:pt x="159" y="281"/>
                  </a:cubicBezTo>
                  <a:cubicBezTo>
                    <a:pt x="159" y="265"/>
                    <a:pt x="146" y="255"/>
                    <a:pt x="121" y="255"/>
                  </a:cubicBezTo>
                  <a:cubicBezTo>
                    <a:pt x="87" y="255"/>
                    <a:pt x="87" y="255"/>
                    <a:pt x="87" y="255"/>
                  </a:cubicBezTo>
                  <a:cubicBezTo>
                    <a:pt x="42" y="255"/>
                    <a:pt x="23" y="235"/>
                    <a:pt x="23" y="211"/>
                  </a:cubicBezTo>
                  <a:cubicBezTo>
                    <a:pt x="23" y="196"/>
                    <a:pt x="33" y="180"/>
                    <a:pt x="49" y="170"/>
                  </a:cubicBezTo>
                  <a:cubicBezTo>
                    <a:pt x="22" y="155"/>
                    <a:pt x="10" y="135"/>
                    <a:pt x="10" y="106"/>
                  </a:cubicBezTo>
                  <a:cubicBezTo>
                    <a:pt x="10" y="57"/>
                    <a:pt x="48" y="25"/>
                    <a:pt x="103" y="25"/>
                  </a:cubicBezTo>
                  <a:cubicBezTo>
                    <a:pt x="156" y="27"/>
                    <a:pt x="181" y="15"/>
                    <a:pt x="208" y="0"/>
                  </a:cubicBezTo>
                  <a:lnTo>
                    <a:pt x="222" y="44"/>
                  </a:lnTo>
                  <a:close/>
                  <a:moveTo>
                    <a:pt x="65" y="105"/>
                  </a:moveTo>
                  <a:cubicBezTo>
                    <a:pt x="65" y="133"/>
                    <a:pt x="79" y="150"/>
                    <a:pt x="105" y="150"/>
                  </a:cubicBezTo>
                  <a:cubicBezTo>
                    <a:pt x="131" y="150"/>
                    <a:pt x="145" y="133"/>
                    <a:pt x="145" y="105"/>
                  </a:cubicBezTo>
                  <a:cubicBezTo>
                    <a:pt x="145" y="76"/>
                    <a:pt x="131" y="62"/>
                    <a:pt x="104" y="62"/>
                  </a:cubicBezTo>
                  <a:cubicBezTo>
                    <a:pt x="79" y="62"/>
                    <a:pt x="65" y="79"/>
                    <a:pt x="65" y="1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6" name="Freeform 12">
              <a:extLst>
                <a:ext uri="{FF2B5EF4-FFF2-40B4-BE49-F238E27FC236}">
                  <a16:creationId xmlns:a16="http://schemas.microsoft.com/office/drawing/2014/main" id="{30BC2F92-20AB-4C9D-83BC-16D359C9AF3A}"/>
                </a:ext>
              </a:extLst>
            </p:cNvPr>
            <p:cNvSpPr>
              <a:spLocks/>
            </p:cNvSpPr>
            <p:nvPr/>
          </p:nvSpPr>
          <p:spPr bwMode="auto">
            <a:xfrm>
              <a:off x="6551613" y="4722813"/>
              <a:ext cx="822325" cy="1109662"/>
            </a:xfrm>
            <a:custGeom>
              <a:avLst/>
              <a:gdLst>
                <a:gd name="T0" fmla="*/ 504 w 518"/>
                <a:gd name="T1" fmla="*/ 107 h 699"/>
                <a:gd name="T2" fmla="*/ 323 w 518"/>
                <a:gd name="T3" fmla="*/ 107 h 699"/>
                <a:gd name="T4" fmla="*/ 323 w 518"/>
                <a:gd name="T5" fmla="*/ 699 h 699"/>
                <a:gd name="T6" fmla="*/ 188 w 518"/>
                <a:gd name="T7" fmla="*/ 699 h 699"/>
                <a:gd name="T8" fmla="*/ 188 w 518"/>
                <a:gd name="T9" fmla="*/ 107 h 699"/>
                <a:gd name="T10" fmla="*/ 0 w 518"/>
                <a:gd name="T11" fmla="*/ 107 h 699"/>
                <a:gd name="T12" fmla="*/ 0 w 518"/>
                <a:gd name="T13" fmla="*/ 0 h 699"/>
                <a:gd name="T14" fmla="*/ 518 w 518"/>
                <a:gd name="T15" fmla="*/ 0 h 699"/>
                <a:gd name="T16" fmla="*/ 504 w 518"/>
                <a:gd name="T17" fmla="*/ 107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8" h="699">
                  <a:moveTo>
                    <a:pt x="504" y="107"/>
                  </a:moveTo>
                  <a:lnTo>
                    <a:pt x="323" y="107"/>
                  </a:lnTo>
                  <a:lnTo>
                    <a:pt x="323" y="699"/>
                  </a:lnTo>
                  <a:lnTo>
                    <a:pt x="188" y="699"/>
                  </a:lnTo>
                  <a:lnTo>
                    <a:pt x="188" y="107"/>
                  </a:lnTo>
                  <a:lnTo>
                    <a:pt x="0" y="107"/>
                  </a:lnTo>
                  <a:lnTo>
                    <a:pt x="0" y="0"/>
                  </a:lnTo>
                  <a:lnTo>
                    <a:pt x="518" y="0"/>
                  </a:lnTo>
                  <a:lnTo>
                    <a:pt x="504"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7" name="Freeform 13">
              <a:extLst>
                <a:ext uri="{FF2B5EF4-FFF2-40B4-BE49-F238E27FC236}">
                  <a16:creationId xmlns:a16="http://schemas.microsoft.com/office/drawing/2014/main" id="{F5677F5A-4561-41FC-A9BB-FD8D5C2FFF86}"/>
                </a:ext>
              </a:extLst>
            </p:cNvPr>
            <p:cNvSpPr>
              <a:spLocks noEditPoints="1"/>
            </p:cNvSpPr>
            <p:nvPr/>
          </p:nvSpPr>
          <p:spPr bwMode="auto">
            <a:xfrm>
              <a:off x="7227888" y="4959350"/>
              <a:ext cx="798512" cy="896937"/>
            </a:xfrm>
            <a:custGeom>
              <a:avLst/>
              <a:gdLst>
                <a:gd name="T0" fmla="*/ 212 w 212"/>
                <a:gd name="T1" fmla="*/ 118 h 237"/>
                <a:gd name="T2" fmla="*/ 106 w 212"/>
                <a:gd name="T3" fmla="*/ 237 h 237"/>
                <a:gd name="T4" fmla="*/ 0 w 212"/>
                <a:gd name="T5" fmla="*/ 118 h 237"/>
                <a:gd name="T6" fmla="*/ 106 w 212"/>
                <a:gd name="T7" fmla="*/ 0 h 237"/>
                <a:gd name="T8" fmla="*/ 212 w 212"/>
                <a:gd name="T9" fmla="*/ 118 h 237"/>
                <a:gd name="T10" fmla="*/ 57 w 212"/>
                <a:gd name="T11" fmla="*/ 118 h 237"/>
                <a:gd name="T12" fmla="*/ 106 w 212"/>
                <a:gd name="T13" fmla="*/ 196 h 237"/>
                <a:gd name="T14" fmla="*/ 154 w 212"/>
                <a:gd name="T15" fmla="*/ 118 h 237"/>
                <a:gd name="T16" fmla="*/ 106 w 212"/>
                <a:gd name="T17" fmla="*/ 41 h 237"/>
                <a:gd name="T18" fmla="*/ 57 w 212"/>
                <a:gd name="T19" fmla="*/ 11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37">
                  <a:moveTo>
                    <a:pt x="212" y="118"/>
                  </a:moveTo>
                  <a:cubicBezTo>
                    <a:pt x="212" y="189"/>
                    <a:pt x="172" y="237"/>
                    <a:pt x="106" y="237"/>
                  </a:cubicBezTo>
                  <a:cubicBezTo>
                    <a:pt x="39" y="237"/>
                    <a:pt x="0" y="192"/>
                    <a:pt x="0" y="118"/>
                  </a:cubicBezTo>
                  <a:cubicBezTo>
                    <a:pt x="0" y="48"/>
                    <a:pt x="39" y="0"/>
                    <a:pt x="106" y="0"/>
                  </a:cubicBezTo>
                  <a:cubicBezTo>
                    <a:pt x="172" y="0"/>
                    <a:pt x="212" y="45"/>
                    <a:pt x="212" y="118"/>
                  </a:cubicBezTo>
                  <a:moveTo>
                    <a:pt x="57" y="118"/>
                  </a:moveTo>
                  <a:cubicBezTo>
                    <a:pt x="57" y="172"/>
                    <a:pt x="74" y="196"/>
                    <a:pt x="106" y="196"/>
                  </a:cubicBezTo>
                  <a:cubicBezTo>
                    <a:pt x="138" y="196"/>
                    <a:pt x="154" y="172"/>
                    <a:pt x="154" y="118"/>
                  </a:cubicBezTo>
                  <a:cubicBezTo>
                    <a:pt x="154" y="65"/>
                    <a:pt x="138" y="41"/>
                    <a:pt x="106" y="41"/>
                  </a:cubicBezTo>
                  <a:cubicBezTo>
                    <a:pt x="74" y="41"/>
                    <a:pt x="57" y="65"/>
                    <a:pt x="57" y="1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8" name="Freeform 14">
              <a:extLst>
                <a:ext uri="{FF2B5EF4-FFF2-40B4-BE49-F238E27FC236}">
                  <a16:creationId xmlns:a16="http://schemas.microsoft.com/office/drawing/2014/main" id="{4EF423AE-2087-4E28-AD07-42A25FBD874C}"/>
                </a:ext>
              </a:extLst>
            </p:cNvPr>
            <p:cNvSpPr>
              <a:spLocks noEditPoints="1"/>
            </p:cNvSpPr>
            <p:nvPr/>
          </p:nvSpPr>
          <p:spPr bwMode="auto">
            <a:xfrm>
              <a:off x="8048625" y="4865688"/>
              <a:ext cx="838200" cy="1319212"/>
            </a:xfrm>
            <a:custGeom>
              <a:avLst/>
              <a:gdLst>
                <a:gd name="T0" fmla="*/ 222 w 222"/>
                <a:gd name="T1" fmla="*/ 43 h 349"/>
                <a:gd name="T2" fmla="*/ 157 w 222"/>
                <a:gd name="T3" fmla="*/ 51 h 349"/>
                <a:gd name="T4" fmla="*/ 197 w 222"/>
                <a:gd name="T5" fmla="*/ 109 h 349"/>
                <a:gd name="T6" fmla="*/ 107 w 222"/>
                <a:gd name="T7" fmla="*/ 184 h 349"/>
                <a:gd name="T8" fmla="*/ 80 w 222"/>
                <a:gd name="T9" fmla="*/ 181 h 349"/>
                <a:gd name="T10" fmla="*/ 71 w 222"/>
                <a:gd name="T11" fmla="*/ 197 h 349"/>
                <a:gd name="T12" fmla="*/ 98 w 222"/>
                <a:gd name="T13" fmla="*/ 213 h 349"/>
                <a:gd name="T14" fmla="*/ 132 w 222"/>
                <a:gd name="T15" fmla="*/ 213 h 349"/>
                <a:gd name="T16" fmla="*/ 214 w 222"/>
                <a:gd name="T17" fmla="*/ 277 h 349"/>
                <a:gd name="T18" fmla="*/ 102 w 222"/>
                <a:gd name="T19" fmla="*/ 349 h 349"/>
                <a:gd name="T20" fmla="*/ 0 w 222"/>
                <a:gd name="T21" fmla="*/ 278 h 349"/>
                <a:gd name="T22" fmla="*/ 48 w 222"/>
                <a:gd name="T23" fmla="*/ 278 h 349"/>
                <a:gd name="T24" fmla="*/ 103 w 222"/>
                <a:gd name="T25" fmla="*/ 311 h 349"/>
                <a:gd name="T26" fmla="*/ 159 w 222"/>
                <a:gd name="T27" fmla="*/ 281 h 349"/>
                <a:gd name="T28" fmla="*/ 121 w 222"/>
                <a:gd name="T29" fmla="*/ 254 h 349"/>
                <a:gd name="T30" fmla="*/ 87 w 222"/>
                <a:gd name="T31" fmla="*/ 254 h 349"/>
                <a:gd name="T32" fmla="*/ 23 w 222"/>
                <a:gd name="T33" fmla="*/ 211 h 349"/>
                <a:gd name="T34" fmla="*/ 49 w 222"/>
                <a:gd name="T35" fmla="*/ 169 h 349"/>
                <a:gd name="T36" fmla="*/ 10 w 222"/>
                <a:gd name="T37" fmla="*/ 106 h 349"/>
                <a:gd name="T38" fmla="*/ 103 w 222"/>
                <a:gd name="T39" fmla="*/ 25 h 349"/>
                <a:gd name="T40" fmla="*/ 208 w 222"/>
                <a:gd name="T41" fmla="*/ 0 h 349"/>
                <a:gd name="T42" fmla="*/ 222 w 222"/>
                <a:gd name="T43" fmla="*/ 43 h 349"/>
                <a:gd name="T44" fmla="*/ 65 w 222"/>
                <a:gd name="T45" fmla="*/ 105 h 349"/>
                <a:gd name="T46" fmla="*/ 105 w 222"/>
                <a:gd name="T47" fmla="*/ 149 h 349"/>
                <a:gd name="T48" fmla="*/ 145 w 222"/>
                <a:gd name="T49" fmla="*/ 104 h 349"/>
                <a:gd name="T50" fmla="*/ 104 w 222"/>
                <a:gd name="T51" fmla="*/ 62 h 349"/>
                <a:gd name="T52" fmla="*/ 65 w 222"/>
                <a:gd name="T53" fmla="*/ 105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2" h="349">
                  <a:moveTo>
                    <a:pt x="222" y="43"/>
                  </a:moveTo>
                  <a:cubicBezTo>
                    <a:pt x="205" y="49"/>
                    <a:pt x="183" y="51"/>
                    <a:pt x="157" y="51"/>
                  </a:cubicBezTo>
                  <a:cubicBezTo>
                    <a:pt x="184" y="63"/>
                    <a:pt x="197" y="80"/>
                    <a:pt x="197" y="109"/>
                  </a:cubicBezTo>
                  <a:cubicBezTo>
                    <a:pt x="197" y="152"/>
                    <a:pt x="163" y="184"/>
                    <a:pt x="107" y="184"/>
                  </a:cubicBezTo>
                  <a:cubicBezTo>
                    <a:pt x="97" y="184"/>
                    <a:pt x="88" y="183"/>
                    <a:pt x="80" y="181"/>
                  </a:cubicBezTo>
                  <a:cubicBezTo>
                    <a:pt x="74" y="185"/>
                    <a:pt x="71" y="191"/>
                    <a:pt x="71" y="197"/>
                  </a:cubicBezTo>
                  <a:cubicBezTo>
                    <a:pt x="71" y="205"/>
                    <a:pt x="75" y="213"/>
                    <a:pt x="98" y="213"/>
                  </a:cubicBezTo>
                  <a:cubicBezTo>
                    <a:pt x="132" y="213"/>
                    <a:pt x="132" y="213"/>
                    <a:pt x="132" y="213"/>
                  </a:cubicBezTo>
                  <a:cubicBezTo>
                    <a:pt x="182" y="213"/>
                    <a:pt x="214" y="240"/>
                    <a:pt x="214" y="277"/>
                  </a:cubicBezTo>
                  <a:cubicBezTo>
                    <a:pt x="214" y="322"/>
                    <a:pt x="176" y="349"/>
                    <a:pt x="102" y="349"/>
                  </a:cubicBezTo>
                  <a:cubicBezTo>
                    <a:pt x="22" y="349"/>
                    <a:pt x="0" y="323"/>
                    <a:pt x="0" y="278"/>
                  </a:cubicBezTo>
                  <a:cubicBezTo>
                    <a:pt x="48" y="278"/>
                    <a:pt x="48" y="278"/>
                    <a:pt x="48" y="278"/>
                  </a:cubicBezTo>
                  <a:cubicBezTo>
                    <a:pt x="48" y="301"/>
                    <a:pt x="58" y="311"/>
                    <a:pt x="103" y="311"/>
                  </a:cubicBezTo>
                  <a:cubicBezTo>
                    <a:pt x="147" y="311"/>
                    <a:pt x="159" y="299"/>
                    <a:pt x="159" y="281"/>
                  </a:cubicBezTo>
                  <a:cubicBezTo>
                    <a:pt x="159" y="264"/>
                    <a:pt x="146" y="254"/>
                    <a:pt x="121" y="254"/>
                  </a:cubicBezTo>
                  <a:cubicBezTo>
                    <a:pt x="87" y="254"/>
                    <a:pt x="87" y="254"/>
                    <a:pt x="87" y="254"/>
                  </a:cubicBezTo>
                  <a:cubicBezTo>
                    <a:pt x="42" y="254"/>
                    <a:pt x="23" y="234"/>
                    <a:pt x="23" y="211"/>
                  </a:cubicBezTo>
                  <a:cubicBezTo>
                    <a:pt x="23" y="195"/>
                    <a:pt x="33" y="179"/>
                    <a:pt x="49" y="169"/>
                  </a:cubicBezTo>
                  <a:cubicBezTo>
                    <a:pt x="22" y="154"/>
                    <a:pt x="10" y="134"/>
                    <a:pt x="10" y="106"/>
                  </a:cubicBezTo>
                  <a:cubicBezTo>
                    <a:pt x="10" y="57"/>
                    <a:pt x="48" y="25"/>
                    <a:pt x="103" y="25"/>
                  </a:cubicBezTo>
                  <a:cubicBezTo>
                    <a:pt x="156" y="26"/>
                    <a:pt x="181" y="14"/>
                    <a:pt x="208" y="0"/>
                  </a:cubicBezTo>
                  <a:lnTo>
                    <a:pt x="222" y="43"/>
                  </a:lnTo>
                  <a:close/>
                  <a:moveTo>
                    <a:pt x="65" y="105"/>
                  </a:moveTo>
                  <a:cubicBezTo>
                    <a:pt x="65" y="132"/>
                    <a:pt x="80" y="149"/>
                    <a:pt x="105" y="149"/>
                  </a:cubicBezTo>
                  <a:cubicBezTo>
                    <a:pt x="131" y="149"/>
                    <a:pt x="145" y="133"/>
                    <a:pt x="145" y="104"/>
                  </a:cubicBezTo>
                  <a:cubicBezTo>
                    <a:pt x="145" y="76"/>
                    <a:pt x="131" y="62"/>
                    <a:pt x="104" y="62"/>
                  </a:cubicBezTo>
                  <a:cubicBezTo>
                    <a:pt x="79" y="62"/>
                    <a:pt x="65" y="79"/>
                    <a:pt x="65" y="10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19" name="Freeform 15">
              <a:extLst>
                <a:ext uri="{FF2B5EF4-FFF2-40B4-BE49-F238E27FC236}">
                  <a16:creationId xmlns:a16="http://schemas.microsoft.com/office/drawing/2014/main" id="{88875B8D-1DDF-474C-8A0D-CA26410880F2}"/>
                </a:ext>
              </a:extLst>
            </p:cNvPr>
            <p:cNvSpPr>
              <a:spLocks noEditPoints="1"/>
            </p:cNvSpPr>
            <p:nvPr/>
          </p:nvSpPr>
          <p:spPr bwMode="auto">
            <a:xfrm>
              <a:off x="8851900" y="4959350"/>
              <a:ext cx="750887" cy="896937"/>
            </a:xfrm>
            <a:custGeom>
              <a:avLst/>
              <a:gdLst>
                <a:gd name="T0" fmla="*/ 197 w 199"/>
                <a:gd name="T1" fmla="*/ 135 h 237"/>
                <a:gd name="T2" fmla="*/ 56 w 199"/>
                <a:gd name="T3" fmla="*/ 135 h 237"/>
                <a:gd name="T4" fmla="*/ 112 w 199"/>
                <a:gd name="T5" fmla="*/ 196 h 237"/>
                <a:gd name="T6" fmla="*/ 168 w 199"/>
                <a:gd name="T7" fmla="*/ 176 h 237"/>
                <a:gd name="T8" fmla="*/ 190 w 199"/>
                <a:gd name="T9" fmla="*/ 207 h 237"/>
                <a:gd name="T10" fmla="*/ 107 w 199"/>
                <a:gd name="T11" fmla="*/ 237 h 237"/>
                <a:gd name="T12" fmla="*/ 0 w 199"/>
                <a:gd name="T13" fmla="*/ 120 h 237"/>
                <a:gd name="T14" fmla="*/ 100 w 199"/>
                <a:gd name="T15" fmla="*/ 0 h 237"/>
                <a:gd name="T16" fmla="*/ 199 w 199"/>
                <a:gd name="T17" fmla="*/ 113 h 237"/>
                <a:gd name="T18" fmla="*/ 197 w 199"/>
                <a:gd name="T19" fmla="*/ 135 h 237"/>
                <a:gd name="T20" fmla="*/ 145 w 199"/>
                <a:gd name="T21" fmla="*/ 98 h 237"/>
                <a:gd name="T22" fmla="*/ 101 w 199"/>
                <a:gd name="T23" fmla="*/ 38 h 237"/>
                <a:gd name="T24" fmla="*/ 56 w 199"/>
                <a:gd name="T25" fmla="*/ 100 h 237"/>
                <a:gd name="T26" fmla="*/ 145 w 199"/>
                <a:gd name="T27" fmla="*/ 100 h 237"/>
                <a:gd name="T28" fmla="*/ 145 w 199"/>
                <a:gd name="T29" fmla="*/ 9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9" h="237">
                  <a:moveTo>
                    <a:pt x="197" y="135"/>
                  </a:moveTo>
                  <a:cubicBezTo>
                    <a:pt x="56" y="135"/>
                    <a:pt x="56" y="135"/>
                    <a:pt x="56" y="135"/>
                  </a:cubicBezTo>
                  <a:cubicBezTo>
                    <a:pt x="60" y="181"/>
                    <a:pt x="82" y="196"/>
                    <a:pt x="112" y="196"/>
                  </a:cubicBezTo>
                  <a:cubicBezTo>
                    <a:pt x="132" y="196"/>
                    <a:pt x="148" y="190"/>
                    <a:pt x="168" y="176"/>
                  </a:cubicBezTo>
                  <a:cubicBezTo>
                    <a:pt x="190" y="207"/>
                    <a:pt x="190" y="207"/>
                    <a:pt x="190" y="207"/>
                  </a:cubicBezTo>
                  <a:cubicBezTo>
                    <a:pt x="168" y="225"/>
                    <a:pt x="141" y="237"/>
                    <a:pt x="107" y="237"/>
                  </a:cubicBezTo>
                  <a:cubicBezTo>
                    <a:pt x="37" y="237"/>
                    <a:pt x="0" y="191"/>
                    <a:pt x="0" y="120"/>
                  </a:cubicBezTo>
                  <a:cubicBezTo>
                    <a:pt x="0" y="52"/>
                    <a:pt x="36" y="0"/>
                    <a:pt x="100" y="0"/>
                  </a:cubicBezTo>
                  <a:cubicBezTo>
                    <a:pt x="163" y="0"/>
                    <a:pt x="199" y="42"/>
                    <a:pt x="199" y="113"/>
                  </a:cubicBezTo>
                  <a:cubicBezTo>
                    <a:pt x="199" y="121"/>
                    <a:pt x="198" y="129"/>
                    <a:pt x="197" y="135"/>
                  </a:cubicBezTo>
                  <a:moveTo>
                    <a:pt x="145" y="98"/>
                  </a:moveTo>
                  <a:cubicBezTo>
                    <a:pt x="145" y="61"/>
                    <a:pt x="132" y="38"/>
                    <a:pt x="101" y="38"/>
                  </a:cubicBezTo>
                  <a:cubicBezTo>
                    <a:pt x="75" y="38"/>
                    <a:pt x="59" y="55"/>
                    <a:pt x="56" y="100"/>
                  </a:cubicBezTo>
                  <a:cubicBezTo>
                    <a:pt x="145" y="100"/>
                    <a:pt x="145" y="100"/>
                    <a:pt x="145" y="100"/>
                  </a:cubicBezTo>
                  <a:lnTo>
                    <a:pt x="145"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20" name="Freeform 16">
              <a:extLst>
                <a:ext uri="{FF2B5EF4-FFF2-40B4-BE49-F238E27FC236}">
                  <a16:creationId xmlns:a16="http://schemas.microsoft.com/office/drawing/2014/main" id="{AD24EEE4-D914-4CA5-863B-380C164D7818}"/>
                </a:ext>
              </a:extLst>
            </p:cNvPr>
            <p:cNvSpPr>
              <a:spLocks/>
            </p:cNvSpPr>
            <p:nvPr/>
          </p:nvSpPr>
          <p:spPr bwMode="auto">
            <a:xfrm>
              <a:off x="9598025" y="4770438"/>
              <a:ext cx="600075" cy="1085850"/>
            </a:xfrm>
            <a:custGeom>
              <a:avLst/>
              <a:gdLst>
                <a:gd name="T0" fmla="*/ 159 w 159"/>
                <a:gd name="T1" fmla="*/ 270 h 287"/>
                <a:gd name="T2" fmla="*/ 103 w 159"/>
                <a:gd name="T3" fmla="*/ 287 h 287"/>
                <a:gd name="T4" fmla="*/ 35 w 159"/>
                <a:gd name="T5" fmla="*/ 214 h 287"/>
                <a:gd name="T6" fmla="*/ 35 w 159"/>
                <a:gd name="T7" fmla="*/ 95 h 287"/>
                <a:gd name="T8" fmla="*/ 0 w 159"/>
                <a:gd name="T9" fmla="*/ 95 h 287"/>
                <a:gd name="T10" fmla="*/ 0 w 159"/>
                <a:gd name="T11" fmla="*/ 56 h 287"/>
                <a:gd name="T12" fmla="*/ 35 w 159"/>
                <a:gd name="T13" fmla="*/ 56 h 287"/>
                <a:gd name="T14" fmla="*/ 35 w 159"/>
                <a:gd name="T15" fmla="*/ 6 h 287"/>
                <a:gd name="T16" fmla="*/ 90 w 159"/>
                <a:gd name="T17" fmla="*/ 0 h 287"/>
                <a:gd name="T18" fmla="*/ 90 w 159"/>
                <a:gd name="T19" fmla="*/ 56 h 287"/>
                <a:gd name="T20" fmla="*/ 142 w 159"/>
                <a:gd name="T21" fmla="*/ 56 h 287"/>
                <a:gd name="T22" fmla="*/ 136 w 159"/>
                <a:gd name="T23" fmla="*/ 95 h 287"/>
                <a:gd name="T24" fmla="*/ 90 w 159"/>
                <a:gd name="T25" fmla="*/ 95 h 287"/>
                <a:gd name="T26" fmla="*/ 90 w 159"/>
                <a:gd name="T27" fmla="*/ 213 h 287"/>
                <a:gd name="T28" fmla="*/ 113 w 159"/>
                <a:gd name="T29" fmla="*/ 244 h 287"/>
                <a:gd name="T30" fmla="*/ 140 w 159"/>
                <a:gd name="T31" fmla="*/ 236 h 287"/>
                <a:gd name="T32" fmla="*/ 159 w 159"/>
                <a:gd name="T33" fmla="*/ 27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9" h="287">
                  <a:moveTo>
                    <a:pt x="159" y="270"/>
                  </a:moveTo>
                  <a:cubicBezTo>
                    <a:pt x="143" y="282"/>
                    <a:pt x="123" y="287"/>
                    <a:pt x="103" y="287"/>
                  </a:cubicBezTo>
                  <a:cubicBezTo>
                    <a:pt x="59" y="287"/>
                    <a:pt x="35" y="262"/>
                    <a:pt x="35" y="214"/>
                  </a:cubicBezTo>
                  <a:cubicBezTo>
                    <a:pt x="35" y="95"/>
                    <a:pt x="35" y="95"/>
                    <a:pt x="35" y="95"/>
                  </a:cubicBezTo>
                  <a:cubicBezTo>
                    <a:pt x="0" y="95"/>
                    <a:pt x="0" y="95"/>
                    <a:pt x="0" y="95"/>
                  </a:cubicBezTo>
                  <a:cubicBezTo>
                    <a:pt x="0" y="56"/>
                    <a:pt x="0" y="56"/>
                    <a:pt x="0" y="56"/>
                  </a:cubicBezTo>
                  <a:cubicBezTo>
                    <a:pt x="35" y="56"/>
                    <a:pt x="35" y="56"/>
                    <a:pt x="35" y="56"/>
                  </a:cubicBezTo>
                  <a:cubicBezTo>
                    <a:pt x="35" y="6"/>
                    <a:pt x="35" y="6"/>
                    <a:pt x="35" y="6"/>
                  </a:cubicBezTo>
                  <a:cubicBezTo>
                    <a:pt x="90" y="0"/>
                    <a:pt x="90" y="0"/>
                    <a:pt x="90" y="0"/>
                  </a:cubicBezTo>
                  <a:cubicBezTo>
                    <a:pt x="90" y="56"/>
                    <a:pt x="90" y="56"/>
                    <a:pt x="90" y="56"/>
                  </a:cubicBezTo>
                  <a:cubicBezTo>
                    <a:pt x="142" y="56"/>
                    <a:pt x="142" y="56"/>
                    <a:pt x="142" y="56"/>
                  </a:cubicBezTo>
                  <a:cubicBezTo>
                    <a:pt x="136" y="95"/>
                    <a:pt x="136" y="95"/>
                    <a:pt x="136" y="95"/>
                  </a:cubicBezTo>
                  <a:cubicBezTo>
                    <a:pt x="90" y="95"/>
                    <a:pt x="90" y="95"/>
                    <a:pt x="90" y="95"/>
                  </a:cubicBezTo>
                  <a:cubicBezTo>
                    <a:pt x="90" y="213"/>
                    <a:pt x="90" y="213"/>
                    <a:pt x="90" y="213"/>
                  </a:cubicBezTo>
                  <a:cubicBezTo>
                    <a:pt x="90" y="235"/>
                    <a:pt x="97" y="244"/>
                    <a:pt x="113" y="244"/>
                  </a:cubicBezTo>
                  <a:cubicBezTo>
                    <a:pt x="122" y="244"/>
                    <a:pt x="130" y="241"/>
                    <a:pt x="140" y="236"/>
                  </a:cubicBezTo>
                  <a:lnTo>
                    <a:pt x="159"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21" name="Freeform 17">
              <a:extLst>
                <a:ext uri="{FF2B5EF4-FFF2-40B4-BE49-F238E27FC236}">
                  <a16:creationId xmlns:a16="http://schemas.microsoft.com/office/drawing/2014/main" id="{0974722C-B5F3-45EE-AE0D-5977D6CAA91E}"/>
                </a:ext>
              </a:extLst>
            </p:cNvPr>
            <p:cNvSpPr>
              <a:spLocks/>
            </p:cNvSpPr>
            <p:nvPr/>
          </p:nvSpPr>
          <p:spPr bwMode="auto">
            <a:xfrm>
              <a:off x="10244138" y="4624388"/>
              <a:ext cx="693737" cy="1208087"/>
            </a:xfrm>
            <a:custGeom>
              <a:avLst/>
              <a:gdLst>
                <a:gd name="T0" fmla="*/ 184 w 184"/>
                <a:gd name="T1" fmla="*/ 157 h 320"/>
                <a:gd name="T2" fmla="*/ 184 w 184"/>
                <a:gd name="T3" fmla="*/ 320 h 320"/>
                <a:gd name="T4" fmla="*/ 129 w 184"/>
                <a:gd name="T5" fmla="*/ 320 h 320"/>
                <a:gd name="T6" fmla="*/ 129 w 184"/>
                <a:gd name="T7" fmla="*/ 166 h 320"/>
                <a:gd name="T8" fmla="*/ 102 w 184"/>
                <a:gd name="T9" fmla="*/ 130 h 320"/>
                <a:gd name="T10" fmla="*/ 54 w 184"/>
                <a:gd name="T11" fmla="*/ 163 h 320"/>
                <a:gd name="T12" fmla="*/ 54 w 184"/>
                <a:gd name="T13" fmla="*/ 320 h 320"/>
                <a:gd name="T14" fmla="*/ 0 w 184"/>
                <a:gd name="T15" fmla="*/ 320 h 320"/>
                <a:gd name="T16" fmla="*/ 0 w 184"/>
                <a:gd name="T17" fmla="*/ 5 h 320"/>
                <a:gd name="T18" fmla="*/ 54 w 184"/>
                <a:gd name="T19" fmla="*/ 0 h 320"/>
                <a:gd name="T20" fmla="*/ 54 w 184"/>
                <a:gd name="T21" fmla="*/ 122 h 320"/>
                <a:gd name="T22" fmla="*/ 120 w 184"/>
                <a:gd name="T23" fmla="*/ 89 h 320"/>
                <a:gd name="T24" fmla="*/ 184 w 184"/>
                <a:gd name="T25" fmla="*/ 15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320">
                  <a:moveTo>
                    <a:pt x="184" y="157"/>
                  </a:moveTo>
                  <a:cubicBezTo>
                    <a:pt x="184" y="320"/>
                    <a:pt x="184" y="320"/>
                    <a:pt x="184" y="320"/>
                  </a:cubicBezTo>
                  <a:cubicBezTo>
                    <a:pt x="129" y="320"/>
                    <a:pt x="129" y="320"/>
                    <a:pt x="129" y="320"/>
                  </a:cubicBezTo>
                  <a:cubicBezTo>
                    <a:pt x="129" y="166"/>
                    <a:pt x="129" y="166"/>
                    <a:pt x="129" y="166"/>
                  </a:cubicBezTo>
                  <a:cubicBezTo>
                    <a:pt x="129" y="138"/>
                    <a:pt x="118" y="130"/>
                    <a:pt x="102" y="130"/>
                  </a:cubicBezTo>
                  <a:cubicBezTo>
                    <a:pt x="82" y="130"/>
                    <a:pt x="67" y="143"/>
                    <a:pt x="54" y="163"/>
                  </a:cubicBezTo>
                  <a:cubicBezTo>
                    <a:pt x="54" y="320"/>
                    <a:pt x="54" y="320"/>
                    <a:pt x="54" y="320"/>
                  </a:cubicBezTo>
                  <a:cubicBezTo>
                    <a:pt x="0" y="320"/>
                    <a:pt x="0" y="320"/>
                    <a:pt x="0" y="320"/>
                  </a:cubicBezTo>
                  <a:cubicBezTo>
                    <a:pt x="0" y="5"/>
                    <a:pt x="0" y="5"/>
                    <a:pt x="0" y="5"/>
                  </a:cubicBezTo>
                  <a:cubicBezTo>
                    <a:pt x="54" y="0"/>
                    <a:pt x="54" y="0"/>
                    <a:pt x="54" y="0"/>
                  </a:cubicBezTo>
                  <a:cubicBezTo>
                    <a:pt x="54" y="122"/>
                    <a:pt x="54" y="122"/>
                    <a:pt x="54" y="122"/>
                  </a:cubicBezTo>
                  <a:cubicBezTo>
                    <a:pt x="72" y="101"/>
                    <a:pt x="93" y="89"/>
                    <a:pt x="120" y="89"/>
                  </a:cubicBezTo>
                  <a:cubicBezTo>
                    <a:pt x="160" y="89"/>
                    <a:pt x="184" y="115"/>
                    <a:pt x="184" y="1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22" name="Freeform 18">
              <a:extLst>
                <a:ext uri="{FF2B5EF4-FFF2-40B4-BE49-F238E27FC236}">
                  <a16:creationId xmlns:a16="http://schemas.microsoft.com/office/drawing/2014/main" id="{6AA35440-C817-473B-8A19-8A9BA333C734}"/>
                </a:ext>
              </a:extLst>
            </p:cNvPr>
            <p:cNvSpPr>
              <a:spLocks noEditPoints="1"/>
            </p:cNvSpPr>
            <p:nvPr/>
          </p:nvSpPr>
          <p:spPr bwMode="auto">
            <a:xfrm>
              <a:off x="11039475" y="4959350"/>
              <a:ext cx="749300" cy="896937"/>
            </a:xfrm>
            <a:custGeom>
              <a:avLst/>
              <a:gdLst>
                <a:gd name="T0" fmla="*/ 198 w 199"/>
                <a:gd name="T1" fmla="*/ 135 h 237"/>
                <a:gd name="T2" fmla="*/ 57 w 199"/>
                <a:gd name="T3" fmla="*/ 135 h 237"/>
                <a:gd name="T4" fmla="*/ 112 w 199"/>
                <a:gd name="T5" fmla="*/ 196 h 237"/>
                <a:gd name="T6" fmla="*/ 168 w 199"/>
                <a:gd name="T7" fmla="*/ 176 h 237"/>
                <a:gd name="T8" fmla="*/ 191 w 199"/>
                <a:gd name="T9" fmla="*/ 207 h 237"/>
                <a:gd name="T10" fmla="*/ 107 w 199"/>
                <a:gd name="T11" fmla="*/ 237 h 237"/>
                <a:gd name="T12" fmla="*/ 0 w 199"/>
                <a:gd name="T13" fmla="*/ 120 h 237"/>
                <a:gd name="T14" fmla="*/ 100 w 199"/>
                <a:gd name="T15" fmla="*/ 0 h 237"/>
                <a:gd name="T16" fmla="*/ 199 w 199"/>
                <a:gd name="T17" fmla="*/ 113 h 237"/>
                <a:gd name="T18" fmla="*/ 198 w 199"/>
                <a:gd name="T19" fmla="*/ 135 h 237"/>
                <a:gd name="T20" fmla="*/ 145 w 199"/>
                <a:gd name="T21" fmla="*/ 98 h 237"/>
                <a:gd name="T22" fmla="*/ 101 w 199"/>
                <a:gd name="T23" fmla="*/ 38 h 237"/>
                <a:gd name="T24" fmla="*/ 57 w 199"/>
                <a:gd name="T25" fmla="*/ 100 h 237"/>
                <a:gd name="T26" fmla="*/ 145 w 199"/>
                <a:gd name="T27" fmla="*/ 100 h 237"/>
                <a:gd name="T28" fmla="*/ 145 w 199"/>
                <a:gd name="T29" fmla="*/ 9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9" h="237">
                  <a:moveTo>
                    <a:pt x="198" y="135"/>
                  </a:moveTo>
                  <a:cubicBezTo>
                    <a:pt x="57" y="135"/>
                    <a:pt x="57" y="135"/>
                    <a:pt x="57" y="135"/>
                  </a:cubicBezTo>
                  <a:cubicBezTo>
                    <a:pt x="61" y="181"/>
                    <a:pt x="82" y="196"/>
                    <a:pt x="112" y="196"/>
                  </a:cubicBezTo>
                  <a:cubicBezTo>
                    <a:pt x="132" y="196"/>
                    <a:pt x="149" y="190"/>
                    <a:pt x="168" y="176"/>
                  </a:cubicBezTo>
                  <a:cubicBezTo>
                    <a:pt x="191" y="207"/>
                    <a:pt x="191" y="207"/>
                    <a:pt x="191" y="207"/>
                  </a:cubicBezTo>
                  <a:cubicBezTo>
                    <a:pt x="169" y="225"/>
                    <a:pt x="141" y="237"/>
                    <a:pt x="107" y="237"/>
                  </a:cubicBezTo>
                  <a:cubicBezTo>
                    <a:pt x="38" y="237"/>
                    <a:pt x="0" y="191"/>
                    <a:pt x="0" y="120"/>
                  </a:cubicBezTo>
                  <a:cubicBezTo>
                    <a:pt x="0" y="52"/>
                    <a:pt x="36" y="0"/>
                    <a:pt x="100" y="0"/>
                  </a:cubicBezTo>
                  <a:cubicBezTo>
                    <a:pt x="163" y="0"/>
                    <a:pt x="199" y="42"/>
                    <a:pt x="199" y="113"/>
                  </a:cubicBezTo>
                  <a:cubicBezTo>
                    <a:pt x="199" y="121"/>
                    <a:pt x="198" y="129"/>
                    <a:pt x="198" y="135"/>
                  </a:cubicBezTo>
                  <a:moveTo>
                    <a:pt x="145" y="98"/>
                  </a:moveTo>
                  <a:cubicBezTo>
                    <a:pt x="145" y="61"/>
                    <a:pt x="132" y="38"/>
                    <a:pt x="101" y="38"/>
                  </a:cubicBezTo>
                  <a:cubicBezTo>
                    <a:pt x="76" y="38"/>
                    <a:pt x="60" y="55"/>
                    <a:pt x="57" y="100"/>
                  </a:cubicBezTo>
                  <a:cubicBezTo>
                    <a:pt x="145" y="100"/>
                    <a:pt x="145" y="100"/>
                    <a:pt x="145" y="100"/>
                  </a:cubicBezTo>
                  <a:lnTo>
                    <a:pt x="145"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23" name="Freeform 19">
              <a:extLst>
                <a:ext uri="{FF2B5EF4-FFF2-40B4-BE49-F238E27FC236}">
                  <a16:creationId xmlns:a16="http://schemas.microsoft.com/office/drawing/2014/main" id="{9806855E-1115-4D33-B7D2-7867ACC82E85}"/>
                </a:ext>
              </a:extLst>
            </p:cNvPr>
            <p:cNvSpPr>
              <a:spLocks/>
            </p:cNvSpPr>
            <p:nvPr/>
          </p:nvSpPr>
          <p:spPr bwMode="auto">
            <a:xfrm>
              <a:off x="11903075" y="4959350"/>
              <a:ext cx="504825" cy="873125"/>
            </a:xfrm>
            <a:custGeom>
              <a:avLst/>
              <a:gdLst>
                <a:gd name="T0" fmla="*/ 134 w 134"/>
                <a:gd name="T1" fmla="*/ 3 h 231"/>
                <a:gd name="T2" fmla="*/ 124 w 134"/>
                <a:gd name="T3" fmla="*/ 56 h 231"/>
                <a:gd name="T4" fmla="*/ 104 w 134"/>
                <a:gd name="T5" fmla="*/ 53 h 231"/>
                <a:gd name="T6" fmla="*/ 55 w 134"/>
                <a:gd name="T7" fmla="*/ 111 h 231"/>
                <a:gd name="T8" fmla="*/ 55 w 134"/>
                <a:gd name="T9" fmla="*/ 231 h 231"/>
                <a:gd name="T10" fmla="*/ 0 w 134"/>
                <a:gd name="T11" fmla="*/ 231 h 231"/>
                <a:gd name="T12" fmla="*/ 0 w 134"/>
                <a:gd name="T13" fmla="*/ 6 h 231"/>
                <a:gd name="T14" fmla="*/ 47 w 134"/>
                <a:gd name="T15" fmla="*/ 6 h 231"/>
                <a:gd name="T16" fmla="*/ 52 w 134"/>
                <a:gd name="T17" fmla="*/ 50 h 231"/>
                <a:gd name="T18" fmla="*/ 111 w 134"/>
                <a:gd name="T19" fmla="*/ 0 h 231"/>
                <a:gd name="T20" fmla="*/ 134 w 134"/>
                <a:gd name="T21"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231">
                  <a:moveTo>
                    <a:pt x="134" y="3"/>
                  </a:moveTo>
                  <a:cubicBezTo>
                    <a:pt x="124" y="56"/>
                    <a:pt x="124" y="56"/>
                    <a:pt x="124" y="56"/>
                  </a:cubicBezTo>
                  <a:cubicBezTo>
                    <a:pt x="118" y="54"/>
                    <a:pt x="112" y="53"/>
                    <a:pt x="104" y="53"/>
                  </a:cubicBezTo>
                  <a:cubicBezTo>
                    <a:pt x="77" y="53"/>
                    <a:pt x="63" y="73"/>
                    <a:pt x="55" y="111"/>
                  </a:cubicBezTo>
                  <a:cubicBezTo>
                    <a:pt x="55" y="231"/>
                    <a:pt x="55" y="231"/>
                    <a:pt x="55" y="231"/>
                  </a:cubicBezTo>
                  <a:cubicBezTo>
                    <a:pt x="0" y="231"/>
                    <a:pt x="0" y="231"/>
                    <a:pt x="0" y="231"/>
                  </a:cubicBezTo>
                  <a:cubicBezTo>
                    <a:pt x="0" y="6"/>
                    <a:pt x="0" y="6"/>
                    <a:pt x="0" y="6"/>
                  </a:cubicBezTo>
                  <a:cubicBezTo>
                    <a:pt x="47" y="6"/>
                    <a:pt x="47" y="6"/>
                    <a:pt x="47" y="6"/>
                  </a:cubicBezTo>
                  <a:cubicBezTo>
                    <a:pt x="52" y="50"/>
                    <a:pt x="52" y="50"/>
                    <a:pt x="52" y="50"/>
                  </a:cubicBezTo>
                  <a:cubicBezTo>
                    <a:pt x="63" y="18"/>
                    <a:pt x="85" y="0"/>
                    <a:pt x="111" y="0"/>
                  </a:cubicBezTo>
                  <a:cubicBezTo>
                    <a:pt x="119" y="0"/>
                    <a:pt x="126" y="1"/>
                    <a:pt x="134"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24" name="Freeform 20">
              <a:extLst>
                <a:ext uri="{FF2B5EF4-FFF2-40B4-BE49-F238E27FC236}">
                  <a16:creationId xmlns:a16="http://schemas.microsoft.com/office/drawing/2014/main" id="{80621759-201B-44E2-B1DC-8EA13B8E70BE}"/>
                </a:ext>
              </a:extLst>
            </p:cNvPr>
            <p:cNvSpPr>
              <a:spLocks/>
            </p:cNvSpPr>
            <p:nvPr/>
          </p:nvSpPr>
          <p:spPr bwMode="auto">
            <a:xfrm>
              <a:off x="12158663" y="5703888"/>
              <a:ext cx="87312" cy="128587"/>
            </a:xfrm>
            <a:custGeom>
              <a:avLst/>
              <a:gdLst>
                <a:gd name="T0" fmla="*/ 52 w 55"/>
                <a:gd name="T1" fmla="*/ 7 h 81"/>
                <a:gd name="T2" fmla="*/ 29 w 55"/>
                <a:gd name="T3" fmla="*/ 7 h 81"/>
                <a:gd name="T4" fmla="*/ 29 w 55"/>
                <a:gd name="T5" fmla="*/ 81 h 81"/>
                <a:gd name="T6" fmla="*/ 24 w 55"/>
                <a:gd name="T7" fmla="*/ 81 h 81"/>
                <a:gd name="T8" fmla="*/ 24 w 55"/>
                <a:gd name="T9" fmla="*/ 7 h 81"/>
                <a:gd name="T10" fmla="*/ 0 w 55"/>
                <a:gd name="T11" fmla="*/ 7 h 81"/>
                <a:gd name="T12" fmla="*/ 0 w 55"/>
                <a:gd name="T13" fmla="*/ 0 h 81"/>
                <a:gd name="T14" fmla="*/ 55 w 55"/>
                <a:gd name="T15" fmla="*/ 0 h 81"/>
                <a:gd name="T16" fmla="*/ 52 w 55"/>
                <a:gd name="T17" fmla="*/ 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81">
                  <a:moveTo>
                    <a:pt x="52" y="7"/>
                  </a:moveTo>
                  <a:lnTo>
                    <a:pt x="29" y="7"/>
                  </a:lnTo>
                  <a:lnTo>
                    <a:pt x="29" y="81"/>
                  </a:lnTo>
                  <a:lnTo>
                    <a:pt x="24" y="81"/>
                  </a:lnTo>
                  <a:lnTo>
                    <a:pt x="24" y="7"/>
                  </a:lnTo>
                  <a:lnTo>
                    <a:pt x="0" y="7"/>
                  </a:lnTo>
                  <a:lnTo>
                    <a:pt x="0" y="0"/>
                  </a:lnTo>
                  <a:lnTo>
                    <a:pt x="55" y="0"/>
                  </a:lnTo>
                  <a:lnTo>
                    <a:pt x="5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sp>
          <p:nvSpPr>
            <p:cNvPr id="25" name="Freeform 21">
              <a:extLst>
                <a:ext uri="{FF2B5EF4-FFF2-40B4-BE49-F238E27FC236}">
                  <a16:creationId xmlns:a16="http://schemas.microsoft.com/office/drawing/2014/main" id="{97FC4F56-3F67-4DAF-BCB9-0CF464380EE0}"/>
                </a:ext>
              </a:extLst>
            </p:cNvPr>
            <p:cNvSpPr>
              <a:spLocks/>
            </p:cNvSpPr>
            <p:nvPr/>
          </p:nvSpPr>
          <p:spPr bwMode="auto">
            <a:xfrm>
              <a:off x="12245975" y="5703888"/>
              <a:ext cx="115887" cy="128587"/>
            </a:xfrm>
            <a:custGeom>
              <a:avLst/>
              <a:gdLst>
                <a:gd name="T0" fmla="*/ 31 w 31"/>
                <a:gd name="T1" fmla="*/ 34 h 34"/>
                <a:gd name="T2" fmla="*/ 28 w 31"/>
                <a:gd name="T3" fmla="*/ 34 h 34"/>
                <a:gd name="T4" fmla="*/ 27 w 31"/>
                <a:gd name="T5" fmla="*/ 18 h 34"/>
                <a:gd name="T6" fmla="*/ 26 w 31"/>
                <a:gd name="T7" fmla="*/ 3 h 34"/>
                <a:gd name="T8" fmla="*/ 17 w 31"/>
                <a:gd name="T9" fmla="*/ 30 h 34"/>
                <a:gd name="T10" fmla="*/ 14 w 31"/>
                <a:gd name="T11" fmla="*/ 30 h 34"/>
                <a:gd name="T12" fmla="*/ 6 w 31"/>
                <a:gd name="T13" fmla="*/ 3 h 34"/>
                <a:gd name="T14" fmla="*/ 4 w 31"/>
                <a:gd name="T15" fmla="*/ 18 h 34"/>
                <a:gd name="T16" fmla="*/ 3 w 31"/>
                <a:gd name="T17" fmla="*/ 34 h 34"/>
                <a:gd name="T18" fmla="*/ 0 w 31"/>
                <a:gd name="T19" fmla="*/ 34 h 34"/>
                <a:gd name="T20" fmla="*/ 3 w 31"/>
                <a:gd name="T21" fmla="*/ 0 h 34"/>
                <a:gd name="T22" fmla="*/ 7 w 31"/>
                <a:gd name="T23" fmla="*/ 0 h 34"/>
                <a:gd name="T24" fmla="*/ 16 w 31"/>
                <a:gd name="T25" fmla="*/ 26 h 34"/>
                <a:gd name="T26" fmla="*/ 24 w 31"/>
                <a:gd name="T27" fmla="*/ 0 h 34"/>
                <a:gd name="T28" fmla="*/ 28 w 31"/>
                <a:gd name="T29" fmla="*/ 0 h 34"/>
                <a:gd name="T30" fmla="*/ 31 w 31"/>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34">
                  <a:moveTo>
                    <a:pt x="31" y="34"/>
                  </a:moveTo>
                  <a:cubicBezTo>
                    <a:pt x="28" y="34"/>
                    <a:pt x="28" y="34"/>
                    <a:pt x="28" y="34"/>
                  </a:cubicBezTo>
                  <a:cubicBezTo>
                    <a:pt x="27" y="18"/>
                    <a:pt x="27" y="18"/>
                    <a:pt x="27" y="18"/>
                  </a:cubicBezTo>
                  <a:cubicBezTo>
                    <a:pt x="26" y="12"/>
                    <a:pt x="26" y="6"/>
                    <a:pt x="26" y="3"/>
                  </a:cubicBezTo>
                  <a:cubicBezTo>
                    <a:pt x="17" y="30"/>
                    <a:pt x="17" y="30"/>
                    <a:pt x="17" y="30"/>
                  </a:cubicBezTo>
                  <a:cubicBezTo>
                    <a:pt x="14" y="30"/>
                    <a:pt x="14" y="30"/>
                    <a:pt x="14" y="30"/>
                  </a:cubicBezTo>
                  <a:cubicBezTo>
                    <a:pt x="6" y="3"/>
                    <a:pt x="6" y="3"/>
                    <a:pt x="6" y="3"/>
                  </a:cubicBezTo>
                  <a:cubicBezTo>
                    <a:pt x="5" y="6"/>
                    <a:pt x="5" y="12"/>
                    <a:pt x="4" y="18"/>
                  </a:cubicBezTo>
                  <a:cubicBezTo>
                    <a:pt x="3" y="34"/>
                    <a:pt x="3" y="34"/>
                    <a:pt x="3" y="34"/>
                  </a:cubicBezTo>
                  <a:cubicBezTo>
                    <a:pt x="0" y="34"/>
                    <a:pt x="0" y="34"/>
                    <a:pt x="0" y="34"/>
                  </a:cubicBezTo>
                  <a:cubicBezTo>
                    <a:pt x="3" y="0"/>
                    <a:pt x="3" y="0"/>
                    <a:pt x="3" y="0"/>
                  </a:cubicBezTo>
                  <a:cubicBezTo>
                    <a:pt x="7" y="0"/>
                    <a:pt x="7" y="0"/>
                    <a:pt x="7" y="0"/>
                  </a:cubicBezTo>
                  <a:cubicBezTo>
                    <a:pt x="16" y="26"/>
                    <a:pt x="16" y="26"/>
                    <a:pt x="16" y="26"/>
                  </a:cubicBezTo>
                  <a:cubicBezTo>
                    <a:pt x="24" y="0"/>
                    <a:pt x="24" y="0"/>
                    <a:pt x="24" y="0"/>
                  </a:cubicBezTo>
                  <a:cubicBezTo>
                    <a:pt x="28" y="0"/>
                    <a:pt x="28" y="0"/>
                    <a:pt x="28" y="0"/>
                  </a:cubicBezTo>
                  <a:lnTo>
                    <a:pt x="3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3600"/>
            </a:p>
          </p:txBody>
        </p:sp>
      </p:grpSp>
    </p:spTree>
    <p:extLst>
      <p:ext uri="{BB962C8B-B14F-4D97-AF65-F5344CB8AC3E}">
        <p14:creationId xmlns:p14="http://schemas.microsoft.com/office/powerpoint/2010/main" val="515001298"/>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Single Column - Sim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80F77ED-A2A4-4EFE-8DC0-C63FB58288D9}"/>
              </a:ext>
            </a:extLst>
          </p:cNvPr>
          <p:cNvSpPr/>
          <p:nvPr userDrawn="1"/>
        </p:nvSpPr>
        <p:spPr bwMode="white">
          <a:xfrm>
            <a:off x="6164826" y="0"/>
            <a:ext cx="56044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1752600"/>
            <a:ext cx="22936200" cy="11222736"/>
          </a:xfrm>
        </p:spPr>
        <p:txBody>
          <a:bodyPr vert="horz" lIns="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8"/>
            <a:ext cx="22991108" cy="1215424"/>
          </a:xfrm>
        </p:spPr>
        <p:txBody>
          <a:bodyPr/>
          <a:lstStyle/>
          <a:p>
            <a:r>
              <a:rPr lang="en-US"/>
              <a:t>Click to edit Master title style</a:t>
            </a:r>
          </a:p>
        </p:txBody>
      </p:sp>
    </p:spTree>
    <p:extLst>
      <p:ext uri="{BB962C8B-B14F-4D97-AF65-F5344CB8AC3E}">
        <p14:creationId xmlns:p14="http://schemas.microsoft.com/office/powerpoint/2010/main" val="2364613526"/>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Single Column - Simple with Sub">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80F77ED-A2A4-4EFE-8DC0-C63FB58288D9}"/>
              </a:ext>
            </a:extLst>
          </p:cNvPr>
          <p:cNvSpPr/>
          <p:nvPr userDrawn="1"/>
        </p:nvSpPr>
        <p:spPr bwMode="white">
          <a:xfrm>
            <a:off x="6164826" y="0"/>
            <a:ext cx="56044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0"/>
            <a:ext cx="22936200" cy="10194036"/>
          </a:xfrm>
        </p:spPr>
        <p:txBody>
          <a:bodyPr vert="horz" lIns="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1752602"/>
            <a:ext cx="22971126" cy="102870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8"/>
            <a:ext cx="22991108" cy="1215424"/>
          </a:xfrm>
        </p:spPr>
        <p:txBody>
          <a:bodyPr/>
          <a:lstStyle/>
          <a:p>
            <a:r>
              <a:rPr lang="en-US"/>
              <a:t>Click to edit Master title style</a:t>
            </a:r>
          </a:p>
        </p:txBody>
      </p:sp>
    </p:spTree>
    <p:extLst>
      <p:ext uri="{BB962C8B-B14F-4D97-AF65-F5344CB8AC3E}">
        <p14:creationId xmlns:p14="http://schemas.microsoft.com/office/powerpoint/2010/main" val="63789816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p>
            <a:r>
              <a:rPr lang="en-US"/>
              <a:t>Click to edit Master title style</a:t>
            </a:r>
          </a:p>
        </p:txBody>
      </p:sp>
    </p:spTree>
    <p:extLst>
      <p:ext uri="{BB962C8B-B14F-4D97-AF65-F5344CB8AC3E}">
        <p14:creationId xmlns:p14="http://schemas.microsoft.com/office/powerpoint/2010/main" val="238002980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08EE2D0-C5F7-40AF-BD24-47EFB4DD9E34}"/>
              </a:ext>
            </a:extLst>
          </p:cNvPr>
          <p:cNvSpPr>
            <a:spLocks noGrp="1"/>
          </p:cNvSpPr>
          <p:nvPr>
            <p:ph idx="1" hasCustomPrompt="1"/>
          </p:nvPr>
        </p:nvSpPr>
        <p:spPr>
          <a:xfrm>
            <a:off x="16059154" y="624971"/>
            <a:ext cx="7600948" cy="12350774"/>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6296"/>
            <a:ext cx="7315200" cy="12353544"/>
          </a:xfrm>
        </p:spPr>
        <p:txBody>
          <a:bodyPr vert="horz" lIns="18288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3" y="3685032"/>
            <a:ext cx="5236506" cy="2276856"/>
          </a:xfrm>
        </p:spPr>
        <p:txBody>
          <a:bodyPr vert="horz" lIns="0" tIns="0" rIns="0" bIns="0" rtlCol="0">
            <a:noAutofit/>
          </a:bodyPr>
          <a:lstStyle>
            <a:lvl1pPr>
              <a:defRPr lang="en-US" sz="3800" dirty="0">
                <a:ln w="3175">
                  <a:noFill/>
                </a:ln>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lstStyle>
            <a:lvl1pPr>
              <a:defRPr/>
            </a:lvl1pPr>
          </a:lstStyle>
          <a:p>
            <a:r>
              <a:rPr lang="en-US"/>
              <a:t>Click to edit Master title style</a:t>
            </a:r>
          </a:p>
        </p:txBody>
      </p:sp>
      <p:sp>
        <p:nvSpPr>
          <p:cNvPr id="10" name="Footer Placeholder 9">
            <a:extLst>
              <a:ext uri="{FF2B5EF4-FFF2-40B4-BE49-F238E27FC236}">
                <a16:creationId xmlns:a16="http://schemas.microsoft.com/office/drawing/2014/main" id="{7F500EC3-B56F-D543-A50F-942AF23525BB}"/>
              </a:ext>
            </a:extLst>
          </p:cNvPr>
          <p:cNvSpPr>
            <a:spLocks noGrp="1"/>
          </p:cNvSpPr>
          <p:nvPr>
            <p:ph type="ftr" sz="quarter" idx="15"/>
          </p:nvPr>
        </p:nvSpPr>
        <p:spPr/>
        <p:txBody>
          <a:bodyPr lIns="182880"/>
          <a:lstStyle/>
          <a:p>
            <a:endParaRPr lang="en-US"/>
          </a:p>
        </p:txBody>
      </p:sp>
    </p:spTree>
    <p:extLst>
      <p:ext uri="{BB962C8B-B14F-4D97-AF65-F5344CB8AC3E}">
        <p14:creationId xmlns:p14="http://schemas.microsoft.com/office/powerpoint/2010/main" val="455601854"/>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305550" y="4833410"/>
            <a:ext cx="17183100" cy="8158692"/>
          </a:xfrm>
        </p:spPr>
        <p:txBody>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p:txBody>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621792"/>
            <a:ext cx="17160240" cy="2937320"/>
          </a:xfrm>
        </p:spPr>
        <p:txBody>
          <a:bodyPr lIns="18288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47626612"/>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2937320"/>
          </a:xfrm>
        </p:spPr>
        <p:txBody>
          <a:bodyPr lIns="18288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p:txBody>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4090034870"/>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1215424"/>
          </a:xfrm>
        </p:spPr>
        <p:txBody>
          <a:bodyPr/>
          <a:lstStyle/>
          <a:p>
            <a:r>
              <a:rPr lang="en-US"/>
              <a:t>Click to edit Master title style</a:t>
            </a:r>
          </a:p>
        </p:txBody>
      </p:sp>
      <p:sp>
        <p:nvSpPr>
          <p:cNvPr id="3" name="Footer Placeholder 2">
            <a:extLst>
              <a:ext uri="{FF2B5EF4-FFF2-40B4-BE49-F238E27FC236}">
                <a16:creationId xmlns:a16="http://schemas.microsoft.com/office/drawing/2014/main" id="{476EBF41-6E4F-CC45-9467-0CE6DA4A5B1A}"/>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A82870D3-B21C-6F49-A89A-D8B3AEF5AC9C}"/>
              </a:ext>
            </a:extLst>
          </p:cNvPr>
          <p:cNvSpPr>
            <a:spLocks noGrp="1"/>
          </p:cNvSpPr>
          <p:nvPr>
            <p:ph type="sldNum" sz="quarter" idx="11"/>
          </p:nvPr>
        </p:nvSpPr>
        <p:spPr/>
        <p:txBody>
          <a:bodyPr/>
          <a:lstStyle/>
          <a:p>
            <a:fld id="{762E77F0-FB5B-4E8E-9BC9-34F14560A017}" type="slidenum">
              <a:rPr lang="en-US" smtClean="0"/>
              <a:pPr/>
              <a:t>‹#›</a:t>
            </a:fld>
            <a:endParaRPr lang="en-US"/>
          </a:p>
        </p:txBody>
      </p:sp>
      <p:pic>
        <p:nvPicPr>
          <p:cNvPr id="6" name="Picture 5">
            <a:extLst>
              <a:ext uri="{FF2B5EF4-FFF2-40B4-BE49-F238E27FC236}">
                <a16:creationId xmlns:a16="http://schemas.microsoft.com/office/drawing/2014/main" id="{3F9E8279-BFE3-42FA-89A5-BD1779547B5B}"/>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672544882"/>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showMasterSp="0" preserve="1" userDrawn="1">
  <p:cSld name="1_Blank">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3F9E8279-BFE3-42FA-89A5-BD1779547B5B}"/>
              </a:ext>
            </a:extLst>
          </p:cNvPr>
          <p:cNvPicPr>
            <a:picLocks noChangeAspect="1"/>
          </p:cNvPicPr>
          <p:nvPr userDrawn="1"/>
        </p:nvPicPr>
        <p:blipFill>
          <a:blip r:embed="rId2"/>
          <a:stretch>
            <a:fillRect/>
          </a:stretch>
        </p:blipFill>
        <p:spPr>
          <a:xfrm>
            <a:off x="655811" y="12594565"/>
            <a:ext cx="2966510" cy="922174"/>
          </a:xfrm>
          <a:prstGeom prst="rect">
            <a:avLst/>
          </a:prstGeom>
        </p:spPr>
      </p:pic>
      <p:sp>
        <p:nvSpPr>
          <p:cNvPr id="10" name="Rectangle 9">
            <a:extLst>
              <a:ext uri="{FF2B5EF4-FFF2-40B4-BE49-F238E27FC236}">
                <a16:creationId xmlns:a16="http://schemas.microsoft.com/office/drawing/2014/main" id="{67BB237D-A36D-4310-9C78-F94A591DE369}"/>
              </a:ext>
            </a:extLst>
          </p:cNvPr>
          <p:cNvSpPr/>
          <p:nvPr/>
        </p:nvSpPr>
        <p:spPr>
          <a:xfrm>
            <a:off x="8552834" y="8520844"/>
            <a:ext cx="6728748" cy="5195156"/>
          </a:xfrm>
          <a:prstGeom prst="rect">
            <a:avLst/>
          </a:prstGeom>
          <a:gradFill flip="none" rotWithShape="1">
            <a:gsLst>
              <a:gs pos="0">
                <a:srgbClr val="666666"/>
              </a:gs>
              <a:gs pos="64000">
                <a:srgbClr val="494949"/>
              </a:gs>
              <a:gs pos="97000">
                <a:schemeClr val="tx1">
                  <a:lumMod val="85000"/>
                  <a:lumOff val="1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tIns="180000" rtlCol="0" anchor="t"/>
          <a:lstStyle/>
          <a:p>
            <a:r>
              <a:rPr lang="en-GB" sz="2400" b="1">
                <a:solidFill>
                  <a:schemeClr val="bg1"/>
                </a:solidFill>
              </a:rPr>
              <a:t>   SERVER FOOTPRINT</a:t>
            </a:r>
          </a:p>
        </p:txBody>
      </p:sp>
      <p:sp>
        <p:nvSpPr>
          <p:cNvPr id="22" name="Rectangle 21">
            <a:extLst>
              <a:ext uri="{FF2B5EF4-FFF2-40B4-BE49-F238E27FC236}">
                <a16:creationId xmlns:a16="http://schemas.microsoft.com/office/drawing/2014/main" id="{95C3D5F0-E8E0-4305-91A8-58425CC96E53}"/>
              </a:ext>
            </a:extLst>
          </p:cNvPr>
          <p:cNvSpPr/>
          <p:nvPr userDrawn="1"/>
        </p:nvSpPr>
        <p:spPr>
          <a:xfrm>
            <a:off x="0" y="0"/>
            <a:ext cx="19336552" cy="34783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p>
        </p:txBody>
      </p:sp>
      <p:sp>
        <p:nvSpPr>
          <p:cNvPr id="23" name="TextBox 22">
            <a:extLst>
              <a:ext uri="{FF2B5EF4-FFF2-40B4-BE49-F238E27FC236}">
                <a16:creationId xmlns:a16="http://schemas.microsoft.com/office/drawing/2014/main" id="{2870DD5E-57BA-4758-AE12-C69D53EA2D87}"/>
              </a:ext>
            </a:extLst>
          </p:cNvPr>
          <p:cNvSpPr txBox="1"/>
          <p:nvPr userDrawn="1"/>
        </p:nvSpPr>
        <p:spPr>
          <a:xfrm>
            <a:off x="391994" y="3667375"/>
            <a:ext cx="13757008" cy="461665"/>
          </a:xfrm>
          <a:prstGeom prst="rect">
            <a:avLst/>
          </a:prstGeom>
          <a:noFill/>
        </p:spPr>
        <p:txBody>
          <a:bodyPr wrap="square" rtlCol="0">
            <a:spAutoFit/>
          </a:bodyPr>
          <a:lstStyle/>
          <a:p>
            <a:r>
              <a:rPr lang="en-GB" sz="2400" b="1"/>
              <a:t>INFRASTRUCTURE &amp; TECHNOLOGY</a:t>
            </a:r>
          </a:p>
        </p:txBody>
      </p:sp>
      <p:sp>
        <p:nvSpPr>
          <p:cNvPr id="24" name="TextBox 23">
            <a:extLst>
              <a:ext uri="{FF2B5EF4-FFF2-40B4-BE49-F238E27FC236}">
                <a16:creationId xmlns:a16="http://schemas.microsoft.com/office/drawing/2014/main" id="{6A7444CD-E422-490C-819C-FF01E113F82B}"/>
              </a:ext>
            </a:extLst>
          </p:cNvPr>
          <p:cNvSpPr txBox="1"/>
          <p:nvPr userDrawn="1"/>
        </p:nvSpPr>
        <p:spPr>
          <a:xfrm>
            <a:off x="391994" y="1391183"/>
            <a:ext cx="18929736" cy="830997"/>
          </a:xfrm>
          <a:prstGeom prst="rect">
            <a:avLst/>
          </a:prstGeom>
          <a:noFill/>
        </p:spPr>
        <p:txBody>
          <a:bodyPr wrap="square" rtlCol="0">
            <a:spAutoFit/>
          </a:bodyPr>
          <a:lstStyle/>
          <a:p>
            <a:r>
              <a:rPr lang="en-GB" sz="2400" b="1"/>
              <a:t>DESCRIPTION</a:t>
            </a:r>
          </a:p>
          <a:p>
            <a:endParaRPr lang="en-GB" sz="2400"/>
          </a:p>
        </p:txBody>
      </p:sp>
      <p:sp>
        <p:nvSpPr>
          <p:cNvPr id="25" name="Rectangle 24">
            <a:extLst>
              <a:ext uri="{FF2B5EF4-FFF2-40B4-BE49-F238E27FC236}">
                <a16:creationId xmlns:a16="http://schemas.microsoft.com/office/drawing/2014/main" id="{D60FEB19-83FF-45CB-BC9E-B7BCD08E7EA5}"/>
              </a:ext>
            </a:extLst>
          </p:cNvPr>
          <p:cNvSpPr/>
          <p:nvPr userDrawn="1"/>
        </p:nvSpPr>
        <p:spPr>
          <a:xfrm>
            <a:off x="19338330" y="1137498"/>
            <a:ext cx="5045672" cy="2336668"/>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p>
        </p:txBody>
      </p:sp>
      <p:grpSp>
        <p:nvGrpSpPr>
          <p:cNvPr id="27" name="Group 26">
            <a:extLst>
              <a:ext uri="{FF2B5EF4-FFF2-40B4-BE49-F238E27FC236}">
                <a16:creationId xmlns:a16="http://schemas.microsoft.com/office/drawing/2014/main" id="{37AC1D33-28DE-4267-AECA-E276F06FD1F6}"/>
              </a:ext>
            </a:extLst>
          </p:cNvPr>
          <p:cNvGrpSpPr/>
          <p:nvPr userDrawn="1"/>
        </p:nvGrpSpPr>
        <p:grpSpPr>
          <a:xfrm>
            <a:off x="19824584" y="1433577"/>
            <a:ext cx="970108" cy="1335010"/>
            <a:chOff x="8852116" y="593421"/>
            <a:chExt cx="431818" cy="594245"/>
          </a:xfrm>
          <a:effectLst>
            <a:outerShdw blurRad="50800" dist="38100" dir="2700000" algn="tl" rotWithShape="0">
              <a:prstClr val="black">
                <a:alpha val="40000"/>
              </a:prstClr>
            </a:outerShdw>
          </a:effectLst>
        </p:grpSpPr>
        <p:sp>
          <p:nvSpPr>
            <p:cNvPr id="28" name="Freeform 483">
              <a:extLst>
                <a:ext uri="{FF2B5EF4-FFF2-40B4-BE49-F238E27FC236}">
                  <a16:creationId xmlns:a16="http://schemas.microsoft.com/office/drawing/2014/main" id="{B5F0D06D-7A0A-4DC7-8126-E4AC3EF40CF5}"/>
                </a:ext>
              </a:extLst>
            </p:cNvPr>
            <p:cNvSpPr>
              <a:spLocks noChangeArrowheads="1"/>
            </p:cNvSpPr>
            <p:nvPr/>
          </p:nvSpPr>
          <p:spPr bwMode="auto">
            <a:xfrm>
              <a:off x="8889752" y="593421"/>
              <a:ext cx="356547" cy="186197"/>
            </a:xfrm>
            <a:custGeom>
              <a:avLst/>
              <a:gdLst>
                <a:gd name="T0" fmla="*/ 612 w 793"/>
                <a:gd name="T1" fmla="*/ 413 h 414"/>
                <a:gd name="T2" fmla="*/ 612 w 793"/>
                <a:gd name="T3" fmla="*/ 320 h 414"/>
                <a:gd name="T4" fmla="*/ 626 w 793"/>
                <a:gd name="T5" fmla="*/ 306 h 414"/>
                <a:gd name="T6" fmla="*/ 776 w 793"/>
                <a:gd name="T7" fmla="*/ 306 h 414"/>
                <a:gd name="T8" fmla="*/ 790 w 793"/>
                <a:gd name="T9" fmla="*/ 296 h 414"/>
                <a:gd name="T10" fmla="*/ 785 w 793"/>
                <a:gd name="T11" fmla="*/ 280 h 414"/>
                <a:gd name="T12" fmla="*/ 413 w 793"/>
                <a:gd name="T13" fmla="*/ 7 h 414"/>
                <a:gd name="T14" fmla="*/ 379 w 793"/>
                <a:gd name="T15" fmla="*/ 7 h 414"/>
                <a:gd name="T16" fmla="*/ 7 w 793"/>
                <a:gd name="T17" fmla="*/ 280 h 414"/>
                <a:gd name="T18" fmla="*/ 2 w 793"/>
                <a:gd name="T19" fmla="*/ 296 h 414"/>
                <a:gd name="T20" fmla="*/ 16 w 793"/>
                <a:gd name="T21" fmla="*/ 306 h 414"/>
                <a:gd name="T22" fmla="*/ 166 w 793"/>
                <a:gd name="T23" fmla="*/ 306 h 414"/>
                <a:gd name="T24" fmla="*/ 180 w 793"/>
                <a:gd name="T25" fmla="*/ 320 h 414"/>
                <a:gd name="T26" fmla="*/ 180 w 793"/>
                <a:gd name="T27" fmla="*/ 41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3" h="414">
                  <a:moveTo>
                    <a:pt x="612" y="413"/>
                  </a:moveTo>
                  <a:cubicBezTo>
                    <a:pt x="612" y="382"/>
                    <a:pt x="612" y="351"/>
                    <a:pt x="612" y="320"/>
                  </a:cubicBezTo>
                  <a:cubicBezTo>
                    <a:pt x="612" y="312"/>
                    <a:pt x="618" y="306"/>
                    <a:pt x="626" y="306"/>
                  </a:cubicBezTo>
                  <a:cubicBezTo>
                    <a:pt x="676" y="306"/>
                    <a:pt x="726" y="306"/>
                    <a:pt x="776" y="306"/>
                  </a:cubicBezTo>
                  <a:cubicBezTo>
                    <a:pt x="782" y="306"/>
                    <a:pt x="788" y="302"/>
                    <a:pt x="790" y="296"/>
                  </a:cubicBezTo>
                  <a:cubicBezTo>
                    <a:pt x="792" y="290"/>
                    <a:pt x="790" y="284"/>
                    <a:pt x="785" y="280"/>
                  </a:cubicBezTo>
                  <a:cubicBezTo>
                    <a:pt x="661" y="189"/>
                    <a:pt x="537" y="98"/>
                    <a:pt x="413" y="7"/>
                  </a:cubicBezTo>
                  <a:cubicBezTo>
                    <a:pt x="403" y="0"/>
                    <a:pt x="389" y="0"/>
                    <a:pt x="379" y="7"/>
                  </a:cubicBezTo>
                  <a:cubicBezTo>
                    <a:pt x="255" y="98"/>
                    <a:pt x="131" y="189"/>
                    <a:pt x="7" y="280"/>
                  </a:cubicBezTo>
                  <a:cubicBezTo>
                    <a:pt x="3" y="284"/>
                    <a:pt x="0" y="290"/>
                    <a:pt x="2" y="296"/>
                  </a:cubicBezTo>
                  <a:cubicBezTo>
                    <a:pt x="3" y="302"/>
                    <a:pt x="10" y="306"/>
                    <a:pt x="16" y="306"/>
                  </a:cubicBezTo>
                  <a:cubicBezTo>
                    <a:pt x="66" y="306"/>
                    <a:pt x="116" y="306"/>
                    <a:pt x="166" y="306"/>
                  </a:cubicBezTo>
                  <a:cubicBezTo>
                    <a:pt x="174" y="306"/>
                    <a:pt x="180" y="312"/>
                    <a:pt x="180" y="320"/>
                  </a:cubicBezTo>
                  <a:cubicBezTo>
                    <a:pt x="180" y="351"/>
                    <a:pt x="180" y="382"/>
                    <a:pt x="180" y="413"/>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29" name="Freeform 484">
              <a:extLst>
                <a:ext uri="{FF2B5EF4-FFF2-40B4-BE49-F238E27FC236}">
                  <a16:creationId xmlns:a16="http://schemas.microsoft.com/office/drawing/2014/main" id="{3FB37720-E2EB-4C1B-86CB-25D60CDCA011}"/>
                </a:ext>
              </a:extLst>
            </p:cNvPr>
            <p:cNvSpPr>
              <a:spLocks noChangeArrowheads="1"/>
            </p:cNvSpPr>
            <p:nvPr/>
          </p:nvSpPr>
          <p:spPr bwMode="auto">
            <a:xfrm>
              <a:off x="8852116" y="755848"/>
              <a:ext cx="431818" cy="431818"/>
            </a:xfrm>
            <a:custGeom>
              <a:avLst/>
              <a:gdLst>
                <a:gd name="T0" fmla="*/ 960 w 961"/>
                <a:gd name="T1" fmla="*/ 479 h 960"/>
                <a:gd name="T2" fmla="*/ 896 w 961"/>
                <a:gd name="T3" fmla="*/ 719 h 960"/>
                <a:gd name="T4" fmla="*/ 720 w 961"/>
                <a:gd name="T5" fmla="*/ 895 h 960"/>
                <a:gd name="T6" fmla="*/ 480 w 961"/>
                <a:gd name="T7" fmla="*/ 959 h 960"/>
                <a:gd name="T8" fmla="*/ 240 w 961"/>
                <a:gd name="T9" fmla="*/ 895 h 960"/>
                <a:gd name="T10" fmla="*/ 65 w 961"/>
                <a:gd name="T11" fmla="*/ 719 h 960"/>
                <a:gd name="T12" fmla="*/ 0 w 961"/>
                <a:gd name="T13" fmla="*/ 479 h 960"/>
                <a:gd name="T14" fmla="*/ 65 w 961"/>
                <a:gd name="T15" fmla="*/ 240 h 960"/>
                <a:gd name="T16" fmla="*/ 240 w 961"/>
                <a:gd name="T17" fmla="*/ 64 h 960"/>
                <a:gd name="T18" fmla="*/ 480 w 961"/>
                <a:gd name="T19" fmla="*/ 0 h 960"/>
                <a:gd name="T20" fmla="*/ 720 w 961"/>
                <a:gd name="T21" fmla="*/ 64 h 960"/>
                <a:gd name="T22" fmla="*/ 896 w 961"/>
                <a:gd name="T23" fmla="*/ 240 h 960"/>
                <a:gd name="T24" fmla="*/ 960 w 961"/>
                <a:gd name="T25" fmla="*/ 479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1" h="960">
                  <a:moveTo>
                    <a:pt x="960" y="479"/>
                  </a:moveTo>
                  <a:cubicBezTo>
                    <a:pt x="960" y="568"/>
                    <a:pt x="940" y="642"/>
                    <a:pt x="896" y="719"/>
                  </a:cubicBezTo>
                  <a:cubicBezTo>
                    <a:pt x="851" y="795"/>
                    <a:pt x="796" y="851"/>
                    <a:pt x="720" y="895"/>
                  </a:cubicBezTo>
                  <a:cubicBezTo>
                    <a:pt x="644" y="939"/>
                    <a:pt x="568" y="959"/>
                    <a:pt x="480" y="959"/>
                  </a:cubicBezTo>
                  <a:cubicBezTo>
                    <a:pt x="392" y="959"/>
                    <a:pt x="316" y="939"/>
                    <a:pt x="240" y="895"/>
                  </a:cubicBezTo>
                  <a:cubicBezTo>
                    <a:pt x="163" y="851"/>
                    <a:pt x="109" y="795"/>
                    <a:pt x="65" y="719"/>
                  </a:cubicBezTo>
                  <a:cubicBezTo>
                    <a:pt x="20" y="642"/>
                    <a:pt x="0" y="567"/>
                    <a:pt x="0" y="479"/>
                  </a:cubicBezTo>
                  <a:cubicBezTo>
                    <a:pt x="0" y="390"/>
                    <a:pt x="20" y="316"/>
                    <a:pt x="65" y="240"/>
                  </a:cubicBezTo>
                  <a:cubicBezTo>
                    <a:pt x="109" y="163"/>
                    <a:pt x="163" y="108"/>
                    <a:pt x="240" y="64"/>
                  </a:cubicBezTo>
                  <a:cubicBezTo>
                    <a:pt x="316" y="20"/>
                    <a:pt x="392" y="0"/>
                    <a:pt x="480" y="0"/>
                  </a:cubicBezTo>
                  <a:cubicBezTo>
                    <a:pt x="568" y="0"/>
                    <a:pt x="644" y="20"/>
                    <a:pt x="720" y="64"/>
                  </a:cubicBezTo>
                  <a:cubicBezTo>
                    <a:pt x="796" y="108"/>
                    <a:pt x="851" y="163"/>
                    <a:pt x="896" y="240"/>
                  </a:cubicBezTo>
                  <a:cubicBezTo>
                    <a:pt x="940" y="316"/>
                    <a:pt x="960" y="391"/>
                    <a:pt x="960" y="479"/>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solidFill>
                  <a:schemeClr val="bg1"/>
                </a:solidFill>
              </a:endParaRPr>
            </a:p>
          </p:txBody>
        </p:sp>
        <p:sp>
          <p:nvSpPr>
            <p:cNvPr id="30" name="Freeform 485">
              <a:extLst>
                <a:ext uri="{FF2B5EF4-FFF2-40B4-BE49-F238E27FC236}">
                  <a16:creationId xmlns:a16="http://schemas.microsoft.com/office/drawing/2014/main" id="{E250C8C6-E646-40CD-990E-41AD3DBFF04A}"/>
                </a:ext>
              </a:extLst>
            </p:cNvPr>
            <p:cNvSpPr>
              <a:spLocks noChangeArrowheads="1"/>
            </p:cNvSpPr>
            <p:nvPr/>
          </p:nvSpPr>
          <p:spPr bwMode="auto">
            <a:xfrm>
              <a:off x="9093776" y="969776"/>
              <a:ext cx="99041" cy="1980"/>
            </a:xfrm>
            <a:custGeom>
              <a:avLst/>
              <a:gdLst>
                <a:gd name="T0" fmla="*/ 0 w 219"/>
                <a:gd name="T1" fmla="*/ 0 h 1"/>
                <a:gd name="T2" fmla="*/ 218 w 219"/>
                <a:gd name="T3" fmla="*/ 0 h 1"/>
              </a:gdLst>
              <a:ahLst/>
              <a:cxnLst>
                <a:cxn ang="0">
                  <a:pos x="T0" y="T1"/>
                </a:cxn>
                <a:cxn ang="0">
                  <a:pos x="T2" y="T3"/>
                </a:cxn>
              </a:cxnLst>
              <a:rect l="0" t="0" r="r" b="b"/>
              <a:pathLst>
                <a:path w="219" h="1">
                  <a:moveTo>
                    <a:pt x="0" y="0"/>
                  </a:moveTo>
                  <a:cubicBezTo>
                    <a:pt x="72" y="0"/>
                    <a:pt x="145" y="0"/>
                    <a:pt x="218"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31" name="Freeform 486">
              <a:extLst>
                <a:ext uri="{FF2B5EF4-FFF2-40B4-BE49-F238E27FC236}">
                  <a16:creationId xmlns:a16="http://schemas.microsoft.com/office/drawing/2014/main" id="{FB083B1C-AD2A-4817-83FE-99AB4B1C2D57}"/>
                </a:ext>
              </a:extLst>
            </p:cNvPr>
            <p:cNvSpPr>
              <a:spLocks noChangeArrowheads="1"/>
            </p:cNvSpPr>
            <p:nvPr/>
          </p:nvSpPr>
          <p:spPr bwMode="auto">
            <a:xfrm>
              <a:off x="9068026" y="898467"/>
              <a:ext cx="1980" cy="47540"/>
            </a:xfrm>
            <a:custGeom>
              <a:avLst/>
              <a:gdLst>
                <a:gd name="T0" fmla="*/ 0 w 1"/>
                <a:gd name="T1" fmla="*/ 106 h 107"/>
                <a:gd name="T2" fmla="*/ 0 w 1"/>
                <a:gd name="T3" fmla="*/ 0 h 107"/>
              </a:gdLst>
              <a:ahLst/>
              <a:cxnLst>
                <a:cxn ang="0">
                  <a:pos x="T0" y="T1"/>
                </a:cxn>
                <a:cxn ang="0">
                  <a:pos x="T2" y="T3"/>
                </a:cxn>
              </a:cxnLst>
              <a:rect l="0" t="0" r="r" b="b"/>
              <a:pathLst>
                <a:path w="1" h="107">
                  <a:moveTo>
                    <a:pt x="0" y="106"/>
                  </a:moveTo>
                  <a:cubicBezTo>
                    <a:pt x="0" y="70"/>
                    <a:pt x="0" y="35"/>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32" name="Freeform 487">
              <a:extLst>
                <a:ext uri="{FF2B5EF4-FFF2-40B4-BE49-F238E27FC236}">
                  <a16:creationId xmlns:a16="http://schemas.microsoft.com/office/drawing/2014/main" id="{9D1F4D11-F3E0-47A5-92DA-64B41155C0B2}"/>
                </a:ext>
              </a:extLst>
            </p:cNvPr>
            <p:cNvSpPr>
              <a:spLocks noChangeArrowheads="1"/>
            </p:cNvSpPr>
            <p:nvPr/>
          </p:nvSpPr>
          <p:spPr bwMode="auto">
            <a:xfrm>
              <a:off x="9042274" y="946006"/>
              <a:ext cx="51501" cy="51501"/>
            </a:xfrm>
            <a:custGeom>
              <a:avLst/>
              <a:gdLst>
                <a:gd name="T0" fmla="*/ 113 w 114"/>
                <a:gd name="T1" fmla="*/ 56 h 114"/>
                <a:gd name="T2" fmla="*/ 105 w 114"/>
                <a:gd name="T3" fmla="*/ 85 h 114"/>
                <a:gd name="T4" fmla="*/ 84 w 114"/>
                <a:gd name="T5" fmla="*/ 105 h 114"/>
                <a:gd name="T6" fmla="*/ 56 w 114"/>
                <a:gd name="T7" fmla="*/ 113 h 114"/>
                <a:gd name="T8" fmla="*/ 28 w 114"/>
                <a:gd name="T9" fmla="*/ 105 h 114"/>
                <a:gd name="T10" fmla="*/ 7 w 114"/>
                <a:gd name="T11" fmla="*/ 85 h 114"/>
                <a:gd name="T12" fmla="*/ 0 w 114"/>
                <a:gd name="T13" fmla="*/ 56 h 114"/>
                <a:gd name="T14" fmla="*/ 7 w 114"/>
                <a:gd name="T15" fmla="*/ 28 h 114"/>
                <a:gd name="T16" fmla="*/ 28 w 114"/>
                <a:gd name="T17" fmla="*/ 8 h 114"/>
                <a:gd name="T18" fmla="*/ 56 w 114"/>
                <a:gd name="T19" fmla="*/ 0 h 114"/>
                <a:gd name="T20" fmla="*/ 84 w 114"/>
                <a:gd name="T21" fmla="*/ 8 h 114"/>
                <a:gd name="T22" fmla="*/ 105 w 114"/>
                <a:gd name="T23" fmla="*/ 28 h 114"/>
                <a:gd name="T24" fmla="*/ 113 w 114"/>
                <a:gd name="T25" fmla="*/ 5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114">
                  <a:moveTo>
                    <a:pt x="113" y="56"/>
                  </a:moveTo>
                  <a:cubicBezTo>
                    <a:pt x="113" y="67"/>
                    <a:pt x="110" y="76"/>
                    <a:pt x="105" y="85"/>
                  </a:cubicBezTo>
                  <a:cubicBezTo>
                    <a:pt x="100" y="94"/>
                    <a:pt x="93" y="99"/>
                    <a:pt x="84" y="105"/>
                  </a:cubicBezTo>
                  <a:cubicBezTo>
                    <a:pt x="75" y="110"/>
                    <a:pt x="66" y="113"/>
                    <a:pt x="56" y="113"/>
                  </a:cubicBezTo>
                  <a:cubicBezTo>
                    <a:pt x="45" y="113"/>
                    <a:pt x="37" y="110"/>
                    <a:pt x="28" y="105"/>
                  </a:cubicBezTo>
                  <a:cubicBezTo>
                    <a:pt x="19" y="99"/>
                    <a:pt x="12" y="94"/>
                    <a:pt x="7" y="85"/>
                  </a:cubicBezTo>
                  <a:cubicBezTo>
                    <a:pt x="2" y="76"/>
                    <a:pt x="0" y="66"/>
                    <a:pt x="0" y="56"/>
                  </a:cubicBezTo>
                  <a:cubicBezTo>
                    <a:pt x="0" y="45"/>
                    <a:pt x="2" y="37"/>
                    <a:pt x="7" y="28"/>
                  </a:cubicBezTo>
                  <a:cubicBezTo>
                    <a:pt x="12" y="19"/>
                    <a:pt x="19" y="13"/>
                    <a:pt x="28" y="8"/>
                  </a:cubicBezTo>
                  <a:cubicBezTo>
                    <a:pt x="37" y="2"/>
                    <a:pt x="46" y="0"/>
                    <a:pt x="56" y="0"/>
                  </a:cubicBezTo>
                  <a:cubicBezTo>
                    <a:pt x="67" y="0"/>
                    <a:pt x="75" y="2"/>
                    <a:pt x="84" y="8"/>
                  </a:cubicBezTo>
                  <a:cubicBezTo>
                    <a:pt x="93" y="13"/>
                    <a:pt x="100" y="19"/>
                    <a:pt x="105" y="28"/>
                  </a:cubicBezTo>
                  <a:cubicBezTo>
                    <a:pt x="110" y="37"/>
                    <a:pt x="113" y="46"/>
                    <a:pt x="113" y="56"/>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solidFill>
                  <a:schemeClr val="bg1"/>
                </a:solidFill>
              </a:endParaRPr>
            </a:p>
          </p:txBody>
        </p:sp>
        <p:sp>
          <p:nvSpPr>
            <p:cNvPr id="33" name="Freeform 488">
              <a:extLst>
                <a:ext uri="{FF2B5EF4-FFF2-40B4-BE49-F238E27FC236}">
                  <a16:creationId xmlns:a16="http://schemas.microsoft.com/office/drawing/2014/main" id="{D5BBBE63-E846-4154-959D-975F5CAB3900}"/>
                </a:ext>
              </a:extLst>
            </p:cNvPr>
            <p:cNvSpPr>
              <a:spLocks noChangeArrowheads="1"/>
            </p:cNvSpPr>
            <p:nvPr/>
          </p:nvSpPr>
          <p:spPr bwMode="auto">
            <a:xfrm>
              <a:off x="8903617" y="805368"/>
              <a:ext cx="330797" cy="328816"/>
            </a:xfrm>
            <a:custGeom>
              <a:avLst/>
              <a:gdLst>
                <a:gd name="T0" fmla="*/ 734 w 735"/>
                <a:gd name="T1" fmla="*/ 366 h 734"/>
                <a:gd name="T2" fmla="*/ 685 w 735"/>
                <a:gd name="T3" fmla="*/ 550 h 734"/>
                <a:gd name="T4" fmla="*/ 551 w 735"/>
                <a:gd name="T5" fmla="*/ 684 h 734"/>
                <a:gd name="T6" fmla="*/ 367 w 735"/>
                <a:gd name="T7" fmla="*/ 733 h 734"/>
                <a:gd name="T8" fmla="*/ 184 w 735"/>
                <a:gd name="T9" fmla="*/ 684 h 734"/>
                <a:gd name="T10" fmla="*/ 49 w 735"/>
                <a:gd name="T11" fmla="*/ 550 h 734"/>
                <a:gd name="T12" fmla="*/ 0 w 735"/>
                <a:gd name="T13" fmla="*/ 366 h 734"/>
                <a:gd name="T14" fmla="*/ 49 w 735"/>
                <a:gd name="T15" fmla="*/ 183 h 734"/>
                <a:gd name="T16" fmla="*/ 184 w 735"/>
                <a:gd name="T17" fmla="*/ 49 h 734"/>
                <a:gd name="T18" fmla="*/ 367 w 735"/>
                <a:gd name="T19" fmla="*/ 0 h 734"/>
                <a:gd name="T20" fmla="*/ 551 w 735"/>
                <a:gd name="T21" fmla="*/ 49 h 734"/>
                <a:gd name="T22" fmla="*/ 685 w 735"/>
                <a:gd name="T23" fmla="*/ 183 h 734"/>
                <a:gd name="T24" fmla="*/ 734 w 735"/>
                <a:gd name="T25" fmla="*/ 366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5" h="734">
                  <a:moveTo>
                    <a:pt x="734" y="366"/>
                  </a:moveTo>
                  <a:cubicBezTo>
                    <a:pt x="734" y="434"/>
                    <a:pt x="719" y="491"/>
                    <a:pt x="685" y="550"/>
                  </a:cubicBezTo>
                  <a:cubicBezTo>
                    <a:pt x="651" y="608"/>
                    <a:pt x="609" y="650"/>
                    <a:pt x="551" y="684"/>
                  </a:cubicBezTo>
                  <a:cubicBezTo>
                    <a:pt x="492" y="718"/>
                    <a:pt x="434" y="733"/>
                    <a:pt x="367" y="733"/>
                  </a:cubicBezTo>
                  <a:cubicBezTo>
                    <a:pt x="299" y="733"/>
                    <a:pt x="242" y="718"/>
                    <a:pt x="184" y="684"/>
                  </a:cubicBezTo>
                  <a:cubicBezTo>
                    <a:pt x="125" y="650"/>
                    <a:pt x="82" y="608"/>
                    <a:pt x="49" y="550"/>
                  </a:cubicBezTo>
                  <a:cubicBezTo>
                    <a:pt x="15" y="491"/>
                    <a:pt x="0" y="433"/>
                    <a:pt x="0" y="366"/>
                  </a:cubicBezTo>
                  <a:cubicBezTo>
                    <a:pt x="0" y="298"/>
                    <a:pt x="15" y="241"/>
                    <a:pt x="49" y="183"/>
                  </a:cubicBezTo>
                  <a:cubicBezTo>
                    <a:pt x="82" y="124"/>
                    <a:pt x="125" y="83"/>
                    <a:pt x="184" y="49"/>
                  </a:cubicBezTo>
                  <a:cubicBezTo>
                    <a:pt x="242" y="15"/>
                    <a:pt x="300" y="0"/>
                    <a:pt x="367" y="0"/>
                  </a:cubicBezTo>
                  <a:cubicBezTo>
                    <a:pt x="435" y="0"/>
                    <a:pt x="492" y="15"/>
                    <a:pt x="551" y="49"/>
                  </a:cubicBezTo>
                  <a:cubicBezTo>
                    <a:pt x="609" y="83"/>
                    <a:pt x="651" y="124"/>
                    <a:pt x="685" y="183"/>
                  </a:cubicBezTo>
                  <a:cubicBezTo>
                    <a:pt x="719" y="241"/>
                    <a:pt x="734" y="299"/>
                    <a:pt x="734" y="366"/>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solidFill>
                  <a:schemeClr val="bg1"/>
                </a:solidFill>
              </a:endParaRPr>
            </a:p>
          </p:txBody>
        </p:sp>
        <p:sp>
          <p:nvSpPr>
            <p:cNvPr id="34" name="Freeform 489">
              <a:extLst>
                <a:ext uri="{FF2B5EF4-FFF2-40B4-BE49-F238E27FC236}">
                  <a16:creationId xmlns:a16="http://schemas.microsoft.com/office/drawing/2014/main" id="{FB6FE389-EE66-4A6A-9E2E-9C93C6D3EA6D}"/>
                </a:ext>
              </a:extLst>
            </p:cNvPr>
            <p:cNvSpPr>
              <a:spLocks noChangeArrowheads="1"/>
            </p:cNvSpPr>
            <p:nvPr/>
          </p:nvSpPr>
          <p:spPr bwMode="auto">
            <a:xfrm>
              <a:off x="9068026" y="843004"/>
              <a:ext cx="1980" cy="13865"/>
            </a:xfrm>
            <a:custGeom>
              <a:avLst/>
              <a:gdLst>
                <a:gd name="T0" fmla="*/ 0 w 1"/>
                <a:gd name="T1" fmla="*/ 28 h 29"/>
                <a:gd name="T2" fmla="*/ 0 w 1"/>
                <a:gd name="T3" fmla="*/ 0 h 29"/>
              </a:gdLst>
              <a:ahLst/>
              <a:cxnLst>
                <a:cxn ang="0">
                  <a:pos x="T0" y="T1"/>
                </a:cxn>
                <a:cxn ang="0">
                  <a:pos x="T2" y="T3"/>
                </a:cxn>
              </a:cxnLst>
              <a:rect l="0" t="0" r="r" b="b"/>
              <a:pathLst>
                <a:path w="1" h="29">
                  <a:moveTo>
                    <a:pt x="0" y="28"/>
                  </a:moveTo>
                  <a:cubicBezTo>
                    <a:pt x="0" y="18"/>
                    <a:pt x="0" y="9"/>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35" name="Freeform 490">
              <a:extLst>
                <a:ext uri="{FF2B5EF4-FFF2-40B4-BE49-F238E27FC236}">
                  <a16:creationId xmlns:a16="http://schemas.microsoft.com/office/drawing/2014/main" id="{B719E170-46CE-4FC6-B852-61CA8A441FB4}"/>
                </a:ext>
              </a:extLst>
            </p:cNvPr>
            <p:cNvSpPr>
              <a:spLocks noChangeArrowheads="1"/>
            </p:cNvSpPr>
            <p:nvPr/>
          </p:nvSpPr>
          <p:spPr bwMode="auto">
            <a:xfrm>
              <a:off x="9068026" y="1084664"/>
              <a:ext cx="1980" cy="13865"/>
            </a:xfrm>
            <a:custGeom>
              <a:avLst/>
              <a:gdLst>
                <a:gd name="T0" fmla="*/ 0 w 1"/>
                <a:gd name="T1" fmla="*/ 29 h 30"/>
                <a:gd name="T2" fmla="*/ 0 w 1"/>
                <a:gd name="T3" fmla="*/ 0 h 30"/>
              </a:gdLst>
              <a:ahLst/>
              <a:cxnLst>
                <a:cxn ang="0">
                  <a:pos x="T0" y="T1"/>
                </a:cxn>
                <a:cxn ang="0">
                  <a:pos x="T2" y="T3"/>
                </a:cxn>
              </a:cxnLst>
              <a:rect l="0" t="0" r="r" b="b"/>
              <a:pathLst>
                <a:path w="1" h="30">
                  <a:moveTo>
                    <a:pt x="0" y="29"/>
                  </a:moveTo>
                  <a:cubicBezTo>
                    <a:pt x="0" y="19"/>
                    <a:pt x="0" y="9"/>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36" name="Freeform 491">
              <a:extLst>
                <a:ext uri="{FF2B5EF4-FFF2-40B4-BE49-F238E27FC236}">
                  <a16:creationId xmlns:a16="http://schemas.microsoft.com/office/drawing/2014/main" id="{2258B39D-1162-4297-9772-1A6BB8BE18FD}"/>
                </a:ext>
              </a:extLst>
            </p:cNvPr>
            <p:cNvSpPr>
              <a:spLocks noChangeArrowheads="1"/>
            </p:cNvSpPr>
            <p:nvPr/>
          </p:nvSpPr>
          <p:spPr bwMode="auto">
            <a:xfrm>
              <a:off x="8941253" y="969776"/>
              <a:ext cx="13865" cy="1980"/>
            </a:xfrm>
            <a:custGeom>
              <a:avLst/>
              <a:gdLst>
                <a:gd name="T0" fmla="*/ 28 w 29"/>
                <a:gd name="T1" fmla="*/ 0 h 1"/>
                <a:gd name="T2" fmla="*/ 0 w 29"/>
                <a:gd name="T3" fmla="*/ 0 h 1"/>
              </a:gdLst>
              <a:ahLst/>
              <a:cxnLst>
                <a:cxn ang="0">
                  <a:pos x="T0" y="T1"/>
                </a:cxn>
                <a:cxn ang="0">
                  <a:pos x="T2" y="T3"/>
                </a:cxn>
              </a:cxnLst>
              <a:rect l="0" t="0" r="r" b="b"/>
              <a:pathLst>
                <a:path w="29" h="1">
                  <a:moveTo>
                    <a:pt x="28" y="0"/>
                  </a:moveTo>
                  <a:cubicBezTo>
                    <a:pt x="19" y="0"/>
                    <a:pt x="9" y="0"/>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37" name="Freeform 492">
              <a:extLst>
                <a:ext uri="{FF2B5EF4-FFF2-40B4-BE49-F238E27FC236}">
                  <a16:creationId xmlns:a16="http://schemas.microsoft.com/office/drawing/2014/main" id="{E5BE5008-DDB0-4E75-8974-6105DD702F19}"/>
                </a:ext>
              </a:extLst>
            </p:cNvPr>
            <p:cNvSpPr>
              <a:spLocks noChangeArrowheads="1"/>
            </p:cNvSpPr>
            <p:nvPr/>
          </p:nvSpPr>
          <p:spPr bwMode="auto">
            <a:xfrm>
              <a:off x="9004639" y="860831"/>
              <a:ext cx="5942" cy="11885"/>
            </a:xfrm>
            <a:custGeom>
              <a:avLst/>
              <a:gdLst>
                <a:gd name="T0" fmla="*/ 14 w 15"/>
                <a:gd name="T1" fmla="*/ 25 h 26"/>
                <a:gd name="T2" fmla="*/ 0 w 15"/>
                <a:gd name="T3" fmla="*/ 0 h 26"/>
              </a:gdLst>
              <a:ahLst/>
              <a:cxnLst>
                <a:cxn ang="0">
                  <a:pos x="T0" y="T1"/>
                </a:cxn>
                <a:cxn ang="0">
                  <a:pos x="T2" y="T3"/>
                </a:cxn>
              </a:cxnLst>
              <a:rect l="0" t="0" r="r" b="b"/>
              <a:pathLst>
                <a:path w="15" h="26">
                  <a:moveTo>
                    <a:pt x="14" y="25"/>
                  </a:moveTo>
                  <a:cubicBezTo>
                    <a:pt x="9" y="16"/>
                    <a:pt x="5" y="8"/>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38" name="Freeform 493">
              <a:extLst>
                <a:ext uri="{FF2B5EF4-FFF2-40B4-BE49-F238E27FC236}">
                  <a16:creationId xmlns:a16="http://schemas.microsoft.com/office/drawing/2014/main" id="{09834015-67A7-4B09-A7A0-21E04AB84521}"/>
                </a:ext>
              </a:extLst>
            </p:cNvPr>
            <p:cNvSpPr>
              <a:spLocks noChangeArrowheads="1"/>
            </p:cNvSpPr>
            <p:nvPr/>
          </p:nvSpPr>
          <p:spPr bwMode="auto">
            <a:xfrm>
              <a:off x="9125469" y="1068817"/>
              <a:ext cx="5943" cy="11885"/>
            </a:xfrm>
            <a:custGeom>
              <a:avLst/>
              <a:gdLst>
                <a:gd name="T0" fmla="*/ 14 w 15"/>
                <a:gd name="T1" fmla="*/ 25 h 26"/>
                <a:gd name="T2" fmla="*/ 0 w 15"/>
                <a:gd name="T3" fmla="*/ 0 h 26"/>
              </a:gdLst>
              <a:ahLst/>
              <a:cxnLst>
                <a:cxn ang="0">
                  <a:pos x="T0" y="T1"/>
                </a:cxn>
                <a:cxn ang="0">
                  <a:pos x="T2" y="T3"/>
                </a:cxn>
              </a:cxnLst>
              <a:rect l="0" t="0" r="r" b="b"/>
              <a:pathLst>
                <a:path w="15" h="26">
                  <a:moveTo>
                    <a:pt x="14" y="25"/>
                  </a:moveTo>
                  <a:cubicBezTo>
                    <a:pt x="9" y="16"/>
                    <a:pt x="4" y="8"/>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39" name="Freeform 494">
              <a:extLst>
                <a:ext uri="{FF2B5EF4-FFF2-40B4-BE49-F238E27FC236}">
                  <a16:creationId xmlns:a16="http://schemas.microsoft.com/office/drawing/2014/main" id="{72A75E7C-3C53-4D66-88B9-59F852CA0521}"/>
                </a:ext>
              </a:extLst>
            </p:cNvPr>
            <p:cNvSpPr>
              <a:spLocks noChangeArrowheads="1"/>
            </p:cNvSpPr>
            <p:nvPr/>
          </p:nvSpPr>
          <p:spPr bwMode="auto">
            <a:xfrm>
              <a:off x="8957100" y="1027219"/>
              <a:ext cx="11885" cy="7923"/>
            </a:xfrm>
            <a:custGeom>
              <a:avLst/>
              <a:gdLst>
                <a:gd name="T0" fmla="*/ 24 w 25"/>
                <a:gd name="T1" fmla="*/ 0 h 16"/>
                <a:gd name="T2" fmla="*/ 0 w 25"/>
                <a:gd name="T3" fmla="*/ 15 h 16"/>
              </a:gdLst>
              <a:ahLst/>
              <a:cxnLst>
                <a:cxn ang="0">
                  <a:pos x="T0" y="T1"/>
                </a:cxn>
                <a:cxn ang="0">
                  <a:pos x="T2" y="T3"/>
                </a:cxn>
              </a:cxnLst>
              <a:rect l="0" t="0" r="r" b="b"/>
              <a:pathLst>
                <a:path w="25" h="16">
                  <a:moveTo>
                    <a:pt x="24" y="0"/>
                  </a:moveTo>
                  <a:cubicBezTo>
                    <a:pt x="16" y="5"/>
                    <a:pt x="8" y="10"/>
                    <a:pt x="0" y="15"/>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40" name="Freeform 495">
              <a:extLst>
                <a:ext uri="{FF2B5EF4-FFF2-40B4-BE49-F238E27FC236}">
                  <a16:creationId xmlns:a16="http://schemas.microsoft.com/office/drawing/2014/main" id="{90E4CB1D-83CD-45E8-BF68-693CD9B2E110}"/>
                </a:ext>
              </a:extLst>
            </p:cNvPr>
            <p:cNvSpPr>
              <a:spLocks noChangeArrowheads="1"/>
            </p:cNvSpPr>
            <p:nvPr/>
          </p:nvSpPr>
          <p:spPr bwMode="auto">
            <a:xfrm>
              <a:off x="8957100" y="906390"/>
              <a:ext cx="11885" cy="5942"/>
            </a:xfrm>
            <a:custGeom>
              <a:avLst/>
              <a:gdLst>
                <a:gd name="T0" fmla="*/ 24 w 25"/>
                <a:gd name="T1" fmla="*/ 14 h 15"/>
                <a:gd name="T2" fmla="*/ 0 w 25"/>
                <a:gd name="T3" fmla="*/ 0 h 15"/>
              </a:gdLst>
              <a:ahLst/>
              <a:cxnLst>
                <a:cxn ang="0">
                  <a:pos x="T0" y="T1"/>
                </a:cxn>
                <a:cxn ang="0">
                  <a:pos x="T2" y="T3"/>
                </a:cxn>
              </a:cxnLst>
              <a:rect l="0" t="0" r="r" b="b"/>
              <a:pathLst>
                <a:path w="25" h="15">
                  <a:moveTo>
                    <a:pt x="24" y="14"/>
                  </a:moveTo>
                  <a:cubicBezTo>
                    <a:pt x="16" y="9"/>
                    <a:pt x="8" y="4"/>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41" name="Freeform 497">
              <a:extLst>
                <a:ext uri="{FF2B5EF4-FFF2-40B4-BE49-F238E27FC236}">
                  <a16:creationId xmlns:a16="http://schemas.microsoft.com/office/drawing/2014/main" id="{9A3222BC-AF78-46B3-9939-BF05AF121060}"/>
                </a:ext>
              </a:extLst>
            </p:cNvPr>
            <p:cNvSpPr>
              <a:spLocks noChangeArrowheads="1"/>
            </p:cNvSpPr>
            <p:nvPr/>
          </p:nvSpPr>
          <p:spPr bwMode="auto">
            <a:xfrm>
              <a:off x="9167066" y="906390"/>
              <a:ext cx="11885" cy="5942"/>
            </a:xfrm>
            <a:custGeom>
              <a:avLst/>
              <a:gdLst>
                <a:gd name="T0" fmla="*/ 0 w 26"/>
                <a:gd name="T1" fmla="*/ 14 h 15"/>
                <a:gd name="T2" fmla="*/ 25 w 26"/>
                <a:gd name="T3" fmla="*/ 0 h 15"/>
              </a:gdLst>
              <a:ahLst/>
              <a:cxnLst>
                <a:cxn ang="0">
                  <a:pos x="T0" y="T1"/>
                </a:cxn>
                <a:cxn ang="0">
                  <a:pos x="T2" y="T3"/>
                </a:cxn>
              </a:cxnLst>
              <a:rect l="0" t="0" r="r" b="b"/>
              <a:pathLst>
                <a:path w="26" h="15">
                  <a:moveTo>
                    <a:pt x="0" y="14"/>
                  </a:moveTo>
                  <a:cubicBezTo>
                    <a:pt x="8" y="9"/>
                    <a:pt x="16" y="4"/>
                    <a:pt x="25"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42" name="Freeform 498">
              <a:extLst>
                <a:ext uri="{FF2B5EF4-FFF2-40B4-BE49-F238E27FC236}">
                  <a16:creationId xmlns:a16="http://schemas.microsoft.com/office/drawing/2014/main" id="{58425F11-1BDA-4AD0-87B9-BB200C5D91E7}"/>
                </a:ext>
              </a:extLst>
            </p:cNvPr>
            <p:cNvSpPr>
              <a:spLocks noChangeArrowheads="1"/>
            </p:cNvSpPr>
            <p:nvPr/>
          </p:nvSpPr>
          <p:spPr bwMode="auto">
            <a:xfrm>
              <a:off x="9167066" y="1027219"/>
              <a:ext cx="11885" cy="7923"/>
            </a:xfrm>
            <a:custGeom>
              <a:avLst/>
              <a:gdLst>
                <a:gd name="T0" fmla="*/ 25 w 26"/>
                <a:gd name="T1" fmla="*/ 15 h 16"/>
                <a:gd name="T2" fmla="*/ 0 w 26"/>
                <a:gd name="T3" fmla="*/ 0 h 16"/>
              </a:gdLst>
              <a:ahLst/>
              <a:cxnLst>
                <a:cxn ang="0">
                  <a:pos x="T0" y="T1"/>
                </a:cxn>
                <a:cxn ang="0">
                  <a:pos x="T2" y="T3"/>
                </a:cxn>
              </a:cxnLst>
              <a:rect l="0" t="0" r="r" b="b"/>
              <a:pathLst>
                <a:path w="26" h="16">
                  <a:moveTo>
                    <a:pt x="25" y="15"/>
                  </a:moveTo>
                  <a:cubicBezTo>
                    <a:pt x="16" y="10"/>
                    <a:pt x="8" y="5"/>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43" name="Freeform 499">
              <a:extLst>
                <a:ext uri="{FF2B5EF4-FFF2-40B4-BE49-F238E27FC236}">
                  <a16:creationId xmlns:a16="http://schemas.microsoft.com/office/drawing/2014/main" id="{8E05DDFE-05C2-4D1B-98BC-6BAE23052671}"/>
                </a:ext>
              </a:extLst>
            </p:cNvPr>
            <p:cNvSpPr>
              <a:spLocks noChangeArrowheads="1"/>
            </p:cNvSpPr>
            <p:nvPr/>
          </p:nvSpPr>
          <p:spPr bwMode="auto">
            <a:xfrm>
              <a:off x="9004639" y="1068817"/>
              <a:ext cx="5942" cy="11885"/>
            </a:xfrm>
            <a:custGeom>
              <a:avLst/>
              <a:gdLst>
                <a:gd name="T0" fmla="*/ 14 w 15"/>
                <a:gd name="T1" fmla="*/ 0 h 26"/>
                <a:gd name="T2" fmla="*/ 0 w 15"/>
                <a:gd name="T3" fmla="*/ 25 h 26"/>
              </a:gdLst>
              <a:ahLst/>
              <a:cxnLst>
                <a:cxn ang="0">
                  <a:pos x="T0" y="T1"/>
                </a:cxn>
                <a:cxn ang="0">
                  <a:pos x="T2" y="T3"/>
                </a:cxn>
              </a:cxnLst>
              <a:rect l="0" t="0" r="r" b="b"/>
              <a:pathLst>
                <a:path w="15" h="26">
                  <a:moveTo>
                    <a:pt x="14" y="0"/>
                  </a:moveTo>
                  <a:cubicBezTo>
                    <a:pt x="9" y="8"/>
                    <a:pt x="5" y="16"/>
                    <a:pt x="0" y="25"/>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sp>
          <p:nvSpPr>
            <p:cNvPr id="44" name="Freeform 500">
              <a:extLst>
                <a:ext uri="{FF2B5EF4-FFF2-40B4-BE49-F238E27FC236}">
                  <a16:creationId xmlns:a16="http://schemas.microsoft.com/office/drawing/2014/main" id="{3FB01653-A392-42E0-9BE2-41C05E16AA25}"/>
                </a:ext>
              </a:extLst>
            </p:cNvPr>
            <p:cNvSpPr>
              <a:spLocks noChangeArrowheads="1"/>
            </p:cNvSpPr>
            <p:nvPr/>
          </p:nvSpPr>
          <p:spPr bwMode="auto">
            <a:xfrm>
              <a:off x="9125469" y="860831"/>
              <a:ext cx="5943" cy="11885"/>
            </a:xfrm>
            <a:custGeom>
              <a:avLst/>
              <a:gdLst>
                <a:gd name="T0" fmla="*/ 14 w 15"/>
                <a:gd name="T1" fmla="*/ 0 h 26"/>
                <a:gd name="T2" fmla="*/ 0 w 15"/>
                <a:gd name="T3" fmla="*/ 25 h 26"/>
              </a:gdLst>
              <a:ahLst/>
              <a:cxnLst>
                <a:cxn ang="0">
                  <a:pos x="T0" y="T1"/>
                </a:cxn>
                <a:cxn ang="0">
                  <a:pos x="T2" y="T3"/>
                </a:cxn>
              </a:cxnLst>
              <a:rect l="0" t="0" r="r" b="b"/>
              <a:pathLst>
                <a:path w="15" h="26">
                  <a:moveTo>
                    <a:pt x="14" y="0"/>
                  </a:moveTo>
                  <a:cubicBezTo>
                    <a:pt x="9" y="8"/>
                    <a:pt x="4" y="16"/>
                    <a:pt x="0" y="25"/>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solidFill>
                  <a:schemeClr val="bg1"/>
                </a:solidFill>
              </a:endParaRPr>
            </a:p>
          </p:txBody>
        </p:sp>
      </p:grpSp>
      <p:sp>
        <p:nvSpPr>
          <p:cNvPr id="45" name="TextBox 44">
            <a:extLst>
              <a:ext uri="{FF2B5EF4-FFF2-40B4-BE49-F238E27FC236}">
                <a16:creationId xmlns:a16="http://schemas.microsoft.com/office/drawing/2014/main" id="{92293C7C-AED3-47B9-B315-F3249471E1B1}"/>
              </a:ext>
            </a:extLst>
          </p:cNvPr>
          <p:cNvSpPr txBox="1"/>
          <p:nvPr userDrawn="1"/>
        </p:nvSpPr>
        <p:spPr>
          <a:xfrm>
            <a:off x="391994" y="5947245"/>
            <a:ext cx="13677516" cy="461665"/>
          </a:xfrm>
          <a:prstGeom prst="rect">
            <a:avLst/>
          </a:prstGeom>
          <a:noFill/>
        </p:spPr>
        <p:txBody>
          <a:bodyPr wrap="square" rtlCol="0">
            <a:spAutoFit/>
          </a:bodyPr>
          <a:lstStyle/>
          <a:p>
            <a:r>
              <a:rPr lang="en-GB" sz="2400" b="1"/>
              <a:t>ENVIRONMENTS</a:t>
            </a:r>
          </a:p>
        </p:txBody>
      </p:sp>
      <p:sp>
        <p:nvSpPr>
          <p:cNvPr id="48" name="Rectangle 47">
            <a:extLst>
              <a:ext uri="{FF2B5EF4-FFF2-40B4-BE49-F238E27FC236}">
                <a16:creationId xmlns:a16="http://schemas.microsoft.com/office/drawing/2014/main" id="{2564E4B6-1999-4019-8324-0CBE2B1EFA9B}"/>
              </a:ext>
            </a:extLst>
          </p:cNvPr>
          <p:cNvSpPr/>
          <p:nvPr userDrawn="1"/>
        </p:nvSpPr>
        <p:spPr>
          <a:xfrm>
            <a:off x="1" y="263906"/>
            <a:ext cx="4871258" cy="848456"/>
          </a:xfrm>
          <a:prstGeom prst="rect">
            <a:avLst/>
          </a:prstGeom>
          <a:solidFill>
            <a:schemeClr val="accent5">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4000"/>
          </a:p>
        </p:txBody>
      </p:sp>
      <p:sp>
        <p:nvSpPr>
          <p:cNvPr id="50" name="TextBox 49">
            <a:extLst>
              <a:ext uri="{FF2B5EF4-FFF2-40B4-BE49-F238E27FC236}">
                <a16:creationId xmlns:a16="http://schemas.microsoft.com/office/drawing/2014/main" id="{C0CBA648-4538-43C3-A70C-141F4EA6D228}"/>
              </a:ext>
            </a:extLst>
          </p:cNvPr>
          <p:cNvSpPr txBox="1"/>
          <p:nvPr userDrawn="1"/>
        </p:nvSpPr>
        <p:spPr>
          <a:xfrm>
            <a:off x="19808469" y="2845527"/>
            <a:ext cx="1002342" cy="461665"/>
          </a:xfrm>
          <a:prstGeom prst="rect">
            <a:avLst/>
          </a:prstGeom>
          <a:noFill/>
        </p:spPr>
        <p:txBody>
          <a:bodyPr wrap="square" rtlCol="0">
            <a:spAutoFit/>
          </a:bodyPr>
          <a:lstStyle/>
          <a:p>
            <a:pPr algn="r"/>
            <a:r>
              <a:rPr lang="en-GB" sz="2400" b="1">
                <a:solidFill>
                  <a:schemeClr val="bg1"/>
                </a:solidFill>
              </a:rPr>
              <a:t>SLA</a:t>
            </a:r>
          </a:p>
        </p:txBody>
      </p:sp>
      <p:sp>
        <p:nvSpPr>
          <p:cNvPr id="55" name="Rectangle 54">
            <a:extLst>
              <a:ext uri="{FF2B5EF4-FFF2-40B4-BE49-F238E27FC236}">
                <a16:creationId xmlns:a16="http://schemas.microsoft.com/office/drawing/2014/main" id="{B0CDC1FF-DC03-4FF5-9148-4E63C82481B5}"/>
              </a:ext>
            </a:extLst>
          </p:cNvPr>
          <p:cNvSpPr/>
          <p:nvPr userDrawn="1"/>
        </p:nvSpPr>
        <p:spPr>
          <a:xfrm>
            <a:off x="14653549" y="3474168"/>
            <a:ext cx="9730450" cy="5084664"/>
          </a:xfrm>
          <a:prstGeom prst="rect">
            <a:avLst/>
          </a:prstGeom>
          <a:solidFill>
            <a:srgbClr val="D8EB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p>
        </p:txBody>
      </p:sp>
      <p:grpSp>
        <p:nvGrpSpPr>
          <p:cNvPr id="56" name="Group 55">
            <a:extLst>
              <a:ext uri="{FF2B5EF4-FFF2-40B4-BE49-F238E27FC236}">
                <a16:creationId xmlns:a16="http://schemas.microsoft.com/office/drawing/2014/main" id="{5F8277F1-9589-42A0-941C-8DECE7E7FEB8}"/>
              </a:ext>
            </a:extLst>
          </p:cNvPr>
          <p:cNvGrpSpPr/>
          <p:nvPr userDrawn="1"/>
        </p:nvGrpSpPr>
        <p:grpSpPr>
          <a:xfrm>
            <a:off x="15380206" y="7453657"/>
            <a:ext cx="709436" cy="674754"/>
            <a:chOff x="2899462" y="3986801"/>
            <a:chExt cx="446638" cy="424803"/>
          </a:xfrm>
        </p:grpSpPr>
        <p:sp>
          <p:nvSpPr>
            <p:cNvPr id="57" name="Freeform 50">
              <a:extLst>
                <a:ext uri="{FF2B5EF4-FFF2-40B4-BE49-F238E27FC236}">
                  <a16:creationId xmlns:a16="http://schemas.microsoft.com/office/drawing/2014/main" id="{8B2A3A71-B67F-4941-9ED9-9FD5E504BF12}"/>
                </a:ext>
              </a:extLst>
            </p:cNvPr>
            <p:cNvSpPr>
              <a:spLocks noChangeArrowheads="1"/>
            </p:cNvSpPr>
            <p:nvPr/>
          </p:nvSpPr>
          <p:spPr bwMode="auto">
            <a:xfrm>
              <a:off x="2899462" y="3986801"/>
              <a:ext cx="446638" cy="190565"/>
            </a:xfrm>
            <a:custGeom>
              <a:avLst/>
              <a:gdLst>
                <a:gd name="T0" fmla="*/ 496 w 992"/>
                <a:gd name="T1" fmla="*/ 422 h 423"/>
                <a:gd name="T2" fmla="*/ 991 w 992"/>
                <a:gd name="T3" fmla="*/ 211 h 423"/>
                <a:gd name="T4" fmla="*/ 496 w 992"/>
                <a:gd name="T5" fmla="*/ 0 h 423"/>
                <a:gd name="T6" fmla="*/ 0 w 992"/>
                <a:gd name="T7" fmla="*/ 211 h 423"/>
                <a:gd name="T8" fmla="*/ 496 w 992"/>
                <a:gd name="T9" fmla="*/ 422 h 423"/>
              </a:gdLst>
              <a:ahLst/>
              <a:cxnLst>
                <a:cxn ang="0">
                  <a:pos x="T0" y="T1"/>
                </a:cxn>
                <a:cxn ang="0">
                  <a:pos x="T2" y="T3"/>
                </a:cxn>
                <a:cxn ang="0">
                  <a:pos x="T4" y="T5"/>
                </a:cxn>
                <a:cxn ang="0">
                  <a:pos x="T6" y="T7"/>
                </a:cxn>
                <a:cxn ang="0">
                  <a:pos x="T8" y="T9"/>
                </a:cxn>
              </a:cxnLst>
              <a:rect l="0" t="0" r="r" b="b"/>
              <a:pathLst>
                <a:path w="992" h="423">
                  <a:moveTo>
                    <a:pt x="496" y="422"/>
                  </a:moveTo>
                  <a:cubicBezTo>
                    <a:pt x="769" y="422"/>
                    <a:pt x="991" y="327"/>
                    <a:pt x="991" y="211"/>
                  </a:cubicBezTo>
                  <a:cubicBezTo>
                    <a:pt x="991" y="95"/>
                    <a:pt x="769" y="0"/>
                    <a:pt x="496" y="0"/>
                  </a:cubicBezTo>
                  <a:cubicBezTo>
                    <a:pt x="222" y="0"/>
                    <a:pt x="0" y="95"/>
                    <a:pt x="0" y="211"/>
                  </a:cubicBezTo>
                  <a:cubicBezTo>
                    <a:pt x="0" y="327"/>
                    <a:pt x="222" y="422"/>
                    <a:pt x="496" y="422"/>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p>
          </p:txBody>
        </p:sp>
        <p:sp>
          <p:nvSpPr>
            <p:cNvPr id="58" name="Freeform 51">
              <a:extLst>
                <a:ext uri="{FF2B5EF4-FFF2-40B4-BE49-F238E27FC236}">
                  <a16:creationId xmlns:a16="http://schemas.microsoft.com/office/drawing/2014/main" id="{B596B805-FC2A-416C-B0AC-3EE7EEDC8220}"/>
                </a:ext>
              </a:extLst>
            </p:cNvPr>
            <p:cNvSpPr>
              <a:spLocks noChangeArrowheads="1"/>
            </p:cNvSpPr>
            <p:nvPr/>
          </p:nvSpPr>
          <p:spPr bwMode="auto">
            <a:xfrm>
              <a:off x="3056282" y="4058263"/>
              <a:ext cx="134984" cy="45656"/>
            </a:xfrm>
            <a:custGeom>
              <a:avLst/>
              <a:gdLst>
                <a:gd name="T0" fmla="*/ 149 w 298"/>
                <a:gd name="T1" fmla="*/ 99 h 100"/>
                <a:gd name="T2" fmla="*/ 297 w 298"/>
                <a:gd name="T3" fmla="*/ 50 h 100"/>
                <a:gd name="T4" fmla="*/ 149 w 298"/>
                <a:gd name="T5" fmla="*/ 0 h 100"/>
                <a:gd name="T6" fmla="*/ 0 w 298"/>
                <a:gd name="T7" fmla="*/ 50 h 100"/>
                <a:gd name="T8" fmla="*/ 149 w 298"/>
                <a:gd name="T9" fmla="*/ 99 h 100"/>
              </a:gdLst>
              <a:ahLst/>
              <a:cxnLst>
                <a:cxn ang="0">
                  <a:pos x="T0" y="T1"/>
                </a:cxn>
                <a:cxn ang="0">
                  <a:pos x="T2" y="T3"/>
                </a:cxn>
                <a:cxn ang="0">
                  <a:pos x="T4" y="T5"/>
                </a:cxn>
                <a:cxn ang="0">
                  <a:pos x="T6" y="T7"/>
                </a:cxn>
                <a:cxn ang="0">
                  <a:pos x="T8" y="T9"/>
                </a:cxn>
              </a:cxnLst>
              <a:rect l="0" t="0" r="r" b="b"/>
              <a:pathLst>
                <a:path w="298" h="100">
                  <a:moveTo>
                    <a:pt x="149" y="99"/>
                  </a:moveTo>
                  <a:cubicBezTo>
                    <a:pt x="231" y="99"/>
                    <a:pt x="297" y="77"/>
                    <a:pt x="297" y="50"/>
                  </a:cubicBezTo>
                  <a:cubicBezTo>
                    <a:pt x="297" y="23"/>
                    <a:pt x="231" y="0"/>
                    <a:pt x="149" y="0"/>
                  </a:cubicBezTo>
                  <a:cubicBezTo>
                    <a:pt x="67" y="0"/>
                    <a:pt x="0" y="23"/>
                    <a:pt x="0" y="50"/>
                  </a:cubicBezTo>
                  <a:cubicBezTo>
                    <a:pt x="0" y="77"/>
                    <a:pt x="67" y="99"/>
                    <a:pt x="149" y="99"/>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p>
          </p:txBody>
        </p:sp>
        <p:sp>
          <p:nvSpPr>
            <p:cNvPr id="59" name="Freeform 52">
              <a:extLst>
                <a:ext uri="{FF2B5EF4-FFF2-40B4-BE49-F238E27FC236}">
                  <a16:creationId xmlns:a16="http://schemas.microsoft.com/office/drawing/2014/main" id="{1E9A2A6F-5BD3-4E51-B0DE-C44E2F62F914}"/>
                </a:ext>
              </a:extLst>
            </p:cNvPr>
            <p:cNvSpPr>
              <a:spLocks noChangeArrowheads="1"/>
            </p:cNvSpPr>
            <p:nvPr/>
          </p:nvSpPr>
          <p:spPr bwMode="auto">
            <a:xfrm>
              <a:off x="2899462" y="4119799"/>
              <a:ext cx="446638" cy="134984"/>
            </a:xfrm>
            <a:custGeom>
              <a:avLst/>
              <a:gdLst>
                <a:gd name="T0" fmla="*/ 44 w 992"/>
                <a:gd name="T1" fmla="*/ 0 h 298"/>
                <a:gd name="T2" fmla="*/ 0 w 992"/>
                <a:gd name="T3" fmla="*/ 86 h 298"/>
                <a:gd name="T4" fmla="*/ 496 w 992"/>
                <a:gd name="T5" fmla="*/ 297 h 298"/>
                <a:gd name="T6" fmla="*/ 991 w 992"/>
                <a:gd name="T7" fmla="*/ 86 h 298"/>
                <a:gd name="T8" fmla="*/ 947 w 992"/>
                <a:gd name="T9" fmla="*/ 0 h 298"/>
              </a:gdLst>
              <a:ahLst/>
              <a:cxnLst>
                <a:cxn ang="0">
                  <a:pos x="T0" y="T1"/>
                </a:cxn>
                <a:cxn ang="0">
                  <a:pos x="T2" y="T3"/>
                </a:cxn>
                <a:cxn ang="0">
                  <a:pos x="T4" y="T5"/>
                </a:cxn>
                <a:cxn ang="0">
                  <a:pos x="T6" y="T7"/>
                </a:cxn>
                <a:cxn ang="0">
                  <a:pos x="T8" y="T9"/>
                </a:cxn>
              </a:cxnLst>
              <a:rect l="0" t="0" r="r" b="b"/>
              <a:pathLst>
                <a:path w="992" h="298">
                  <a:moveTo>
                    <a:pt x="44" y="0"/>
                  </a:moveTo>
                  <a:cubicBezTo>
                    <a:pt x="16" y="26"/>
                    <a:pt x="0" y="55"/>
                    <a:pt x="0" y="86"/>
                  </a:cubicBezTo>
                  <a:cubicBezTo>
                    <a:pt x="0" y="203"/>
                    <a:pt x="222" y="297"/>
                    <a:pt x="496" y="297"/>
                  </a:cubicBezTo>
                  <a:cubicBezTo>
                    <a:pt x="769" y="297"/>
                    <a:pt x="991" y="203"/>
                    <a:pt x="991" y="86"/>
                  </a:cubicBezTo>
                  <a:cubicBezTo>
                    <a:pt x="991" y="55"/>
                    <a:pt x="975" y="26"/>
                    <a:pt x="947" y="0"/>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sp>
          <p:nvSpPr>
            <p:cNvPr id="60" name="Freeform 53">
              <a:extLst>
                <a:ext uri="{FF2B5EF4-FFF2-40B4-BE49-F238E27FC236}">
                  <a16:creationId xmlns:a16="http://schemas.microsoft.com/office/drawing/2014/main" id="{CFC29199-B0C0-4562-A3A0-C1E67A4DEB2B}"/>
                </a:ext>
              </a:extLst>
            </p:cNvPr>
            <p:cNvSpPr>
              <a:spLocks noChangeArrowheads="1"/>
            </p:cNvSpPr>
            <p:nvPr/>
          </p:nvSpPr>
          <p:spPr bwMode="auto">
            <a:xfrm>
              <a:off x="2899462" y="4197217"/>
              <a:ext cx="446638" cy="134984"/>
            </a:xfrm>
            <a:custGeom>
              <a:avLst/>
              <a:gdLst>
                <a:gd name="T0" fmla="*/ 44 w 992"/>
                <a:gd name="T1" fmla="*/ 0 h 298"/>
                <a:gd name="T2" fmla="*/ 0 w 992"/>
                <a:gd name="T3" fmla="*/ 87 h 298"/>
                <a:gd name="T4" fmla="*/ 496 w 992"/>
                <a:gd name="T5" fmla="*/ 297 h 298"/>
                <a:gd name="T6" fmla="*/ 991 w 992"/>
                <a:gd name="T7" fmla="*/ 87 h 298"/>
                <a:gd name="T8" fmla="*/ 947 w 992"/>
                <a:gd name="T9" fmla="*/ 0 h 298"/>
              </a:gdLst>
              <a:ahLst/>
              <a:cxnLst>
                <a:cxn ang="0">
                  <a:pos x="T0" y="T1"/>
                </a:cxn>
                <a:cxn ang="0">
                  <a:pos x="T2" y="T3"/>
                </a:cxn>
                <a:cxn ang="0">
                  <a:pos x="T4" y="T5"/>
                </a:cxn>
                <a:cxn ang="0">
                  <a:pos x="T6" y="T7"/>
                </a:cxn>
                <a:cxn ang="0">
                  <a:pos x="T8" y="T9"/>
                </a:cxn>
              </a:cxnLst>
              <a:rect l="0" t="0" r="r" b="b"/>
              <a:pathLst>
                <a:path w="992" h="298">
                  <a:moveTo>
                    <a:pt x="44" y="0"/>
                  </a:moveTo>
                  <a:cubicBezTo>
                    <a:pt x="16" y="27"/>
                    <a:pt x="0" y="56"/>
                    <a:pt x="0" y="87"/>
                  </a:cubicBezTo>
                  <a:cubicBezTo>
                    <a:pt x="0" y="203"/>
                    <a:pt x="222" y="297"/>
                    <a:pt x="496" y="297"/>
                  </a:cubicBezTo>
                  <a:cubicBezTo>
                    <a:pt x="769" y="297"/>
                    <a:pt x="991" y="203"/>
                    <a:pt x="991" y="87"/>
                  </a:cubicBezTo>
                  <a:cubicBezTo>
                    <a:pt x="991" y="56"/>
                    <a:pt x="975" y="27"/>
                    <a:pt x="947" y="0"/>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sp>
          <p:nvSpPr>
            <p:cNvPr id="61" name="Freeform 54">
              <a:extLst>
                <a:ext uri="{FF2B5EF4-FFF2-40B4-BE49-F238E27FC236}">
                  <a16:creationId xmlns:a16="http://schemas.microsoft.com/office/drawing/2014/main" id="{F7D5F134-FE4A-4512-A34D-DA1B36F80642}"/>
                </a:ext>
              </a:extLst>
            </p:cNvPr>
            <p:cNvSpPr>
              <a:spLocks noChangeArrowheads="1"/>
            </p:cNvSpPr>
            <p:nvPr/>
          </p:nvSpPr>
          <p:spPr bwMode="auto">
            <a:xfrm>
              <a:off x="2899462" y="4276620"/>
              <a:ext cx="446638" cy="134984"/>
            </a:xfrm>
            <a:custGeom>
              <a:avLst/>
              <a:gdLst>
                <a:gd name="T0" fmla="*/ 44 w 992"/>
                <a:gd name="T1" fmla="*/ 0 h 298"/>
                <a:gd name="T2" fmla="*/ 0 w 992"/>
                <a:gd name="T3" fmla="*/ 86 h 298"/>
                <a:gd name="T4" fmla="*/ 496 w 992"/>
                <a:gd name="T5" fmla="*/ 297 h 298"/>
                <a:gd name="T6" fmla="*/ 991 w 992"/>
                <a:gd name="T7" fmla="*/ 86 h 298"/>
                <a:gd name="T8" fmla="*/ 947 w 992"/>
                <a:gd name="T9" fmla="*/ 0 h 298"/>
              </a:gdLst>
              <a:ahLst/>
              <a:cxnLst>
                <a:cxn ang="0">
                  <a:pos x="T0" y="T1"/>
                </a:cxn>
                <a:cxn ang="0">
                  <a:pos x="T2" y="T3"/>
                </a:cxn>
                <a:cxn ang="0">
                  <a:pos x="T4" y="T5"/>
                </a:cxn>
                <a:cxn ang="0">
                  <a:pos x="T6" y="T7"/>
                </a:cxn>
                <a:cxn ang="0">
                  <a:pos x="T8" y="T9"/>
                </a:cxn>
              </a:cxnLst>
              <a:rect l="0" t="0" r="r" b="b"/>
              <a:pathLst>
                <a:path w="992" h="298">
                  <a:moveTo>
                    <a:pt x="44" y="0"/>
                  </a:moveTo>
                  <a:cubicBezTo>
                    <a:pt x="16" y="26"/>
                    <a:pt x="0" y="55"/>
                    <a:pt x="0" y="86"/>
                  </a:cubicBezTo>
                  <a:cubicBezTo>
                    <a:pt x="0" y="203"/>
                    <a:pt x="222" y="297"/>
                    <a:pt x="496" y="297"/>
                  </a:cubicBezTo>
                  <a:cubicBezTo>
                    <a:pt x="769" y="297"/>
                    <a:pt x="991" y="203"/>
                    <a:pt x="991" y="86"/>
                  </a:cubicBezTo>
                  <a:cubicBezTo>
                    <a:pt x="991" y="55"/>
                    <a:pt x="975" y="26"/>
                    <a:pt x="947" y="0"/>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grpSp>
      <p:grpSp>
        <p:nvGrpSpPr>
          <p:cNvPr id="62" name="Group 61">
            <a:extLst>
              <a:ext uri="{FF2B5EF4-FFF2-40B4-BE49-F238E27FC236}">
                <a16:creationId xmlns:a16="http://schemas.microsoft.com/office/drawing/2014/main" id="{45D2D09C-CCD3-46C4-ADF8-378AC0A2535D}"/>
              </a:ext>
            </a:extLst>
          </p:cNvPr>
          <p:cNvGrpSpPr/>
          <p:nvPr userDrawn="1"/>
        </p:nvGrpSpPr>
        <p:grpSpPr>
          <a:xfrm>
            <a:off x="15414891" y="5971293"/>
            <a:ext cx="640070" cy="655834"/>
            <a:chOff x="8866544" y="2345158"/>
            <a:chExt cx="402967" cy="412892"/>
          </a:xfrm>
        </p:grpSpPr>
        <p:sp>
          <p:nvSpPr>
            <p:cNvPr id="63" name="Freeform 88">
              <a:extLst>
                <a:ext uri="{FF2B5EF4-FFF2-40B4-BE49-F238E27FC236}">
                  <a16:creationId xmlns:a16="http://schemas.microsoft.com/office/drawing/2014/main" id="{1B96C5CE-0AFE-4399-8400-DA69FDD369E1}"/>
                </a:ext>
              </a:extLst>
            </p:cNvPr>
            <p:cNvSpPr>
              <a:spLocks noChangeArrowheads="1"/>
            </p:cNvSpPr>
            <p:nvPr/>
          </p:nvSpPr>
          <p:spPr bwMode="auto">
            <a:xfrm>
              <a:off x="8866544" y="2400739"/>
              <a:ext cx="402967" cy="55582"/>
            </a:xfrm>
            <a:custGeom>
              <a:avLst/>
              <a:gdLst>
                <a:gd name="T0" fmla="*/ 0 w 893"/>
                <a:gd name="T1" fmla="*/ 0 h 125"/>
                <a:gd name="T2" fmla="*/ 446 w 893"/>
                <a:gd name="T3" fmla="*/ 124 h 125"/>
                <a:gd name="T4" fmla="*/ 892 w 893"/>
                <a:gd name="T5" fmla="*/ 0 h 125"/>
              </a:gdLst>
              <a:ahLst/>
              <a:cxnLst>
                <a:cxn ang="0">
                  <a:pos x="T0" y="T1"/>
                </a:cxn>
                <a:cxn ang="0">
                  <a:pos x="T2" y="T3"/>
                </a:cxn>
                <a:cxn ang="0">
                  <a:pos x="T4" y="T5"/>
                </a:cxn>
              </a:cxnLst>
              <a:rect l="0" t="0" r="r" b="b"/>
              <a:pathLst>
                <a:path w="893" h="125">
                  <a:moveTo>
                    <a:pt x="0" y="0"/>
                  </a:moveTo>
                  <a:cubicBezTo>
                    <a:pt x="0" y="69"/>
                    <a:pt x="200" y="124"/>
                    <a:pt x="446" y="124"/>
                  </a:cubicBezTo>
                  <a:cubicBezTo>
                    <a:pt x="693" y="124"/>
                    <a:pt x="892" y="69"/>
                    <a:pt x="892" y="0"/>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sp>
          <p:nvSpPr>
            <p:cNvPr id="64" name="Freeform 89">
              <a:extLst>
                <a:ext uri="{FF2B5EF4-FFF2-40B4-BE49-F238E27FC236}">
                  <a16:creationId xmlns:a16="http://schemas.microsoft.com/office/drawing/2014/main" id="{8F37E960-9AD1-4536-B891-DE521473E555}"/>
                </a:ext>
              </a:extLst>
            </p:cNvPr>
            <p:cNvSpPr>
              <a:spLocks noChangeArrowheads="1"/>
            </p:cNvSpPr>
            <p:nvPr/>
          </p:nvSpPr>
          <p:spPr bwMode="auto">
            <a:xfrm>
              <a:off x="8866544" y="2499992"/>
              <a:ext cx="402967" cy="55582"/>
            </a:xfrm>
            <a:custGeom>
              <a:avLst/>
              <a:gdLst>
                <a:gd name="T0" fmla="*/ 0 w 893"/>
                <a:gd name="T1" fmla="*/ 0 h 125"/>
                <a:gd name="T2" fmla="*/ 446 w 893"/>
                <a:gd name="T3" fmla="*/ 124 h 125"/>
                <a:gd name="T4" fmla="*/ 892 w 893"/>
                <a:gd name="T5" fmla="*/ 0 h 125"/>
              </a:gdLst>
              <a:ahLst/>
              <a:cxnLst>
                <a:cxn ang="0">
                  <a:pos x="T0" y="T1"/>
                </a:cxn>
                <a:cxn ang="0">
                  <a:pos x="T2" y="T3"/>
                </a:cxn>
                <a:cxn ang="0">
                  <a:pos x="T4" y="T5"/>
                </a:cxn>
              </a:cxnLst>
              <a:rect l="0" t="0" r="r" b="b"/>
              <a:pathLst>
                <a:path w="893" h="125">
                  <a:moveTo>
                    <a:pt x="0" y="0"/>
                  </a:moveTo>
                  <a:cubicBezTo>
                    <a:pt x="0" y="69"/>
                    <a:pt x="200" y="124"/>
                    <a:pt x="446" y="124"/>
                  </a:cubicBezTo>
                  <a:cubicBezTo>
                    <a:pt x="693" y="124"/>
                    <a:pt x="892" y="69"/>
                    <a:pt x="892" y="0"/>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sp>
          <p:nvSpPr>
            <p:cNvPr id="65" name="Freeform 90">
              <a:extLst>
                <a:ext uri="{FF2B5EF4-FFF2-40B4-BE49-F238E27FC236}">
                  <a16:creationId xmlns:a16="http://schemas.microsoft.com/office/drawing/2014/main" id="{41F16239-177A-435C-BEA6-D9B81F12BB64}"/>
                </a:ext>
              </a:extLst>
            </p:cNvPr>
            <p:cNvSpPr>
              <a:spLocks noChangeArrowheads="1"/>
            </p:cNvSpPr>
            <p:nvPr/>
          </p:nvSpPr>
          <p:spPr bwMode="auto">
            <a:xfrm>
              <a:off x="8866544" y="2601231"/>
              <a:ext cx="402967" cy="55582"/>
            </a:xfrm>
            <a:custGeom>
              <a:avLst/>
              <a:gdLst>
                <a:gd name="T0" fmla="*/ 0 w 893"/>
                <a:gd name="T1" fmla="*/ 0 h 125"/>
                <a:gd name="T2" fmla="*/ 446 w 893"/>
                <a:gd name="T3" fmla="*/ 124 h 125"/>
                <a:gd name="T4" fmla="*/ 892 w 893"/>
                <a:gd name="T5" fmla="*/ 0 h 125"/>
              </a:gdLst>
              <a:ahLst/>
              <a:cxnLst>
                <a:cxn ang="0">
                  <a:pos x="T0" y="T1"/>
                </a:cxn>
                <a:cxn ang="0">
                  <a:pos x="T2" y="T3"/>
                </a:cxn>
                <a:cxn ang="0">
                  <a:pos x="T4" y="T5"/>
                </a:cxn>
              </a:cxnLst>
              <a:rect l="0" t="0" r="r" b="b"/>
              <a:pathLst>
                <a:path w="893" h="125">
                  <a:moveTo>
                    <a:pt x="0" y="0"/>
                  </a:moveTo>
                  <a:cubicBezTo>
                    <a:pt x="0" y="69"/>
                    <a:pt x="200" y="124"/>
                    <a:pt x="446" y="124"/>
                  </a:cubicBezTo>
                  <a:cubicBezTo>
                    <a:pt x="693" y="124"/>
                    <a:pt x="892" y="69"/>
                    <a:pt x="892" y="0"/>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sp>
          <p:nvSpPr>
            <p:cNvPr id="66" name="Freeform 91">
              <a:extLst>
                <a:ext uri="{FF2B5EF4-FFF2-40B4-BE49-F238E27FC236}">
                  <a16:creationId xmlns:a16="http://schemas.microsoft.com/office/drawing/2014/main" id="{6C670908-1D3D-459A-9002-889E9DE41E14}"/>
                </a:ext>
              </a:extLst>
            </p:cNvPr>
            <p:cNvSpPr>
              <a:spLocks noChangeArrowheads="1"/>
            </p:cNvSpPr>
            <p:nvPr/>
          </p:nvSpPr>
          <p:spPr bwMode="auto">
            <a:xfrm>
              <a:off x="8866544" y="2345158"/>
              <a:ext cx="402967" cy="412892"/>
            </a:xfrm>
            <a:custGeom>
              <a:avLst/>
              <a:gdLst>
                <a:gd name="T0" fmla="*/ 446 w 893"/>
                <a:gd name="T1" fmla="*/ 0 h 917"/>
                <a:gd name="T2" fmla="*/ 0 w 893"/>
                <a:gd name="T3" fmla="*/ 123 h 917"/>
                <a:gd name="T4" fmla="*/ 0 w 893"/>
                <a:gd name="T5" fmla="*/ 792 h 917"/>
                <a:gd name="T6" fmla="*/ 446 w 893"/>
                <a:gd name="T7" fmla="*/ 916 h 917"/>
                <a:gd name="T8" fmla="*/ 892 w 893"/>
                <a:gd name="T9" fmla="*/ 792 h 917"/>
                <a:gd name="T10" fmla="*/ 892 w 893"/>
                <a:gd name="T11" fmla="*/ 123 h 917"/>
                <a:gd name="T12" fmla="*/ 446 w 893"/>
                <a:gd name="T13" fmla="*/ 0 h 917"/>
              </a:gdLst>
              <a:ahLst/>
              <a:cxnLst>
                <a:cxn ang="0">
                  <a:pos x="T0" y="T1"/>
                </a:cxn>
                <a:cxn ang="0">
                  <a:pos x="T2" y="T3"/>
                </a:cxn>
                <a:cxn ang="0">
                  <a:pos x="T4" y="T5"/>
                </a:cxn>
                <a:cxn ang="0">
                  <a:pos x="T6" y="T7"/>
                </a:cxn>
                <a:cxn ang="0">
                  <a:pos x="T8" y="T9"/>
                </a:cxn>
                <a:cxn ang="0">
                  <a:pos x="T10" y="T11"/>
                </a:cxn>
                <a:cxn ang="0">
                  <a:pos x="T12" y="T13"/>
                </a:cxn>
              </a:cxnLst>
              <a:rect l="0" t="0" r="r" b="b"/>
              <a:pathLst>
                <a:path w="893" h="917">
                  <a:moveTo>
                    <a:pt x="446" y="0"/>
                  </a:moveTo>
                  <a:cubicBezTo>
                    <a:pt x="200" y="0"/>
                    <a:pt x="0" y="55"/>
                    <a:pt x="0" y="123"/>
                  </a:cubicBezTo>
                  <a:cubicBezTo>
                    <a:pt x="0" y="346"/>
                    <a:pt x="0" y="569"/>
                    <a:pt x="0" y="792"/>
                  </a:cubicBezTo>
                  <a:cubicBezTo>
                    <a:pt x="0" y="861"/>
                    <a:pt x="200" y="916"/>
                    <a:pt x="446" y="916"/>
                  </a:cubicBezTo>
                  <a:cubicBezTo>
                    <a:pt x="693" y="916"/>
                    <a:pt x="892" y="861"/>
                    <a:pt x="892" y="792"/>
                  </a:cubicBezTo>
                  <a:cubicBezTo>
                    <a:pt x="892" y="569"/>
                    <a:pt x="892" y="346"/>
                    <a:pt x="892" y="123"/>
                  </a:cubicBezTo>
                  <a:cubicBezTo>
                    <a:pt x="892" y="55"/>
                    <a:pt x="693" y="0"/>
                    <a:pt x="446" y="0"/>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p>
          </p:txBody>
        </p:sp>
      </p:grpSp>
      <p:grpSp>
        <p:nvGrpSpPr>
          <p:cNvPr id="67" name="Group 66">
            <a:extLst>
              <a:ext uri="{FF2B5EF4-FFF2-40B4-BE49-F238E27FC236}">
                <a16:creationId xmlns:a16="http://schemas.microsoft.com/office/drawing/2014/main" id="{9BD5A7BF-91ED-4FB5-B275-6EA4BA544375}"/>
              </a:ext>
            </a:extLst>
          </p:cNvPr>
          <p:cNvGrpSpPr/>
          <p:nvPr userDrawn="1"/>
        </p:nvGrpSpPr>
        <p:grpSpPr>
          <a:xfrm>
            <a:off x="15375477" y="4530374"/>
            <a:ext cx="718898" cy="649528"/>
            <a:chOff x="10823810" y="5630428"/>
            <a:chExt cx="452594" cy="408922"/>
          </a:xfrm>
        </p:grpSpPr>
        <p:sp>
          <p:nvSpPr>
            <p:cNvPr id="68" name="Freeform 293">
              <a:extLst>
                <a:ext uri="{FF2B5EF4-FFF2-40B4-BE49-F238E27FC236}">
                  <a16:creationId xmlns:a16="http://schemas.microsoft.com/office/drawing/2014/main" id="{CD8D5090-2FA9-4CA3-AE56-80794C679D2A}"/>
                </a:ext>
              </a:extLst>
            </p:cNvPr>
            <p:cNvSpPr>
              <a:spLocks noChangeArrowheads="1"/>
            </p:cNvSpPr>
            <p:nvPr/>
          </p:nvSpPr>
          <p:spPr bwMode="auto">
            <a:xfrm>
              <a:off x="10998495" y="5630428"/>
              <a:ext cx="101239" cy="101237"/>
            </a:xfrm>
            <a:custGeom>
              <a:avLst/>
              <a:gdLst>
                <a:gd name="T0" fmla="*/ 226 w 227"/>
                <a:gd name="T1" fmla="*/ 113 h 227"/>
                <a:gd name="T2" fmla="*/ 211 w 227"/>
                <a:gd name="T3" fmla="*/ 170 h 227"/>
                <a:gd name="T4" fmla="*/ 169 w 227"/>
                <a:gd name="T5" fmla="*/ 211 h 227"/>
                <a:gd name="T6" fmla="*/ 113 w 227"/>
                <a:gd name="T7" fmla="*/ 226 h 227"/>
                <a:gd name="T8" fmla="*/ 56 w 227"/>
                <a:gd name="T9" fmla="*/ 211 h 227"/>
                <a:gd name="T10" fmla="*/ 15 w 227"/>
                <a:gd name="T11" fmla="*/ 170 h 227"/>
                <a:gd name="T12" fmla="*/ 0 w 227"/>
                <a:gd name="T13" fmla="*/ 113 h 227"/>
                <a:gd name="T14" fmla="*/ 15 w 227"/>
                <a:gd name="T15" fmla="*/ 57 h 227"/>
                <a:gd name="T16" fmla="*/ 56 w 227"/>
                <a:gd name="T17" fmla="*/ 16 h 227"/>
                <a:gd name="T18" fmla="*/ 113 w 227"/>
                <a:gd name="T19" fmla="*/ 0 h 227"/>
                <a:gd name="T20" fmla="*/ 169 w 227"/>
                <a:gd name="T21" fmla="*/ 16 h 227"/>
                <a:gd name="T22" fmla="*/ 211 w 227"/>
                <a:gd name="T23" fmla="*/ 57 h 227"/>
                <a:gd name="T24" fmla="*/ 226 w 227"/>
                <a:gd name="T25" fmla="*/ 11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227">
                  <a:moveTo>
                    <a:pt x="226" y="113"/>
                  </a:moveTo>
                  <a:cubicBezTo>
                    <a:pt x="226" y="134"/>
                    <a:pt x="222" y="152"/>
                    <a:pt x="211" y="170"/>
                  </a:cubicBezTo>
                  <a:cubicBezTo>
                    <a:pt x="201" y="188"/>
                    <a:pt x="187" y="201"/>
                    <a:pt x="169" y="211"/>
                  </a:cubicBezTo>
                  <a:cubicBezTo>
                    <a:pt x="151" y="221"/>
                    <a:pt x="134" y="226"/>
                    <a:pt x="113" y="226"/>
                  </a:cubicBezTo>
                  <a:cubicBezTo>
                    <a:pt x="92" y="226"/>
                    <a:pt x="74" y="221"/>
                    <a:pt x="56" y="211"/>
                  </a:cubicBezTo>
                  <a:cubicBezTo>
                    <a:pt x="39" y="201"/>
                    <a:pt x="26" y="188"/>
                    <a:pt x="15" y="170"/>
                  </a:cubicBezTo>
                  <a:cubicBezTo>
                    <a:pt x="5" y="152"/>
                    <a:pt x="0" y="134"/>
                    <a:pt x="0" y="113"/>
                  </a:cubicBezTo>
                  <a:cubicBezTo>
                    <a:pt x="0" y="93"/>
                    <a:pt x="5" y="75"/>
                    <a:pt x="15" y="57"/>
                  </a:cubicBezTo>
                  <a:cubicBezTo>
                    <a:pt x="26" y="39"/>
                    <a:pt x="39" y="27"/>
                    <a:pt x="56" y="16"/>
                  </a:cubicBezTo>
                  <a:cubicBezTo>
                    <a:pt x="74" y="6"/>
                    <a:pt x="92" y="0"/>
                    <a:pt x="113" y="0"/>
                  </a:cubicBezTo>
                  <a:cubicBezTo>
                    <a:pt x="134" y="0"/>
                    <a:pt x="151" y="6"/>
                    <a:pt x="169" y="16"/>
                  </a:cubicBezTo>
                  <a:cubicBezTo>
                    <a:pt x="187" y="27"/>
                    <a:pt x="201" y="39"/>
                    <a:pt x="211" y="57"/>
                  </a:cubicBezTo>
                  <a:cubicBezTo>
                    <a:pt x="222" y="75"/>
                    <a:pt x="226" y="93"/>
                    <a:pt x="226" y="113"/>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p>
          </p:txBody>
        </p:sp>
        <p:sp>
          <p:nvSpPr>
            <p:cNvPr id="69" name="Freeform 294">
              <a:extLst>
                <a:ext uri="{FF2B5EF4-FFF2-40B4-BE49-F238E27FC236}">
                  <a16:creationId xmlns:a16="http://schemas.microsoft.com/office/drawing/2014/main" id="{99999A3F-FEB1-4617-A3C9-B3097BED8B50}"/>
                </a:ext>
              </a:extLst>
            </p:cNvPr>
            <p:cNvSpPr>
              <a:spLocks noChangeArrowheads="1"/>
            </p:cNvSpPr>
            <p:nvPr/>
          </p:nvSpPr>
          <p:spPr bwMode="auto">
            <a:xfrm>
              <a:off x="10950854" y="5731666"/>
              <a:ext cx="198506" cy="77418"/>
            </a:xfrm>
            <a:custGeom>
              <a:avLst/>
              <a:gdLst>
                <a:gd name="T0" fmla="*/ 438 w 439"/>
                <a:gd name="T1" fmla="*/ 170 h 171"/>
                <a:gd name="T2" fmla="*/ 219 w 439"/>
                <a:gd name="T3" fmla="*/ 0 h 171"/>
                <a:gd name="T4" fmla="*/ 0 w 439"/>
                <a:gd name="T5" fmla="*/ 170 h 171"/>
              </a:gdLst>
              <a:ahLst/>
              <a:cxnLst>
                <a:cxn ang="0">
                  <a:pos x="T0" y="T1"/>
                </a:cxn>
                <a:cxn ang="0">
                  <a:pos x="T2" y="T3"/>
                </a:cxn>
                <a:cxn ang="0">
                  <a:pos x="T4" y="T5"/>
                </a:cxn>
              </a:cxnLst>
              <a:rect l="0" t="0" r="r" b="b"/>
              <a:pathLst>
                <a:path w="439" h="171">
                  <a:moveTo>
                    <a:pt x="438" y="170"/>
                  </a:moveTo>
                  <a:cubicBezTo>
                    <a:pt x="413" y="72"/>
                    <a:pt x="324" y="0"/>
                    <a:pt x="219" y="0"/>
                  </a:cubicBezTo>
                  <a:cubicBezTo>
                    <a:pt x="114" y="0"/>
                    <a:pt x="25" y="72"/>
                    <a:pt x="0" y="170"/>
                  </a:cubicBezTo>
                </a:path>
              </a:pathLst>
            </a:custGeom>
            <a:noFill/>
            <a:ln w="12700"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sp>
          <p:nvSpPr>
            <p:cNvPr id="70" name="Freeform 295">
              <a:extLst>
                <a:ext uri="{FF2B5EF4-FFF2-40B4-BE49-F238E27FC236}">
                  <a16:creationId xmlns:a16="http://schemas.microsoft.com/office/drawing/2014/main" id="{D3EB1F70-5437-4747-96FE-751D427471D9}"/>
                </a:ext>
              </a:extLst>
            </p:cNvPr>
            <p:cNvSpPr>
              <a:spLocks noChangeArrowheads="1"/>
            </p:cNvSpPr>
            <p:nvPr/>
          </p:nvSpPr>
          <p:spPr bwMode="auto">
            <a:xfrm>
              <a:off x="11125539" y="5858709"/>
              <a:ext cx="101239" cy="101239"/>
            </a:xfrm>
            <a:custGeom>
              <a:avLst/>
              <a:gdLst>
                <a:gd name="T0" fmla="*/ 226 w 227"/>
                <a:gd name="T1" fmla="*/ 113 h 227"/>
                <a:gd name="T2" fmla="*/ 211 w 227"/>
                <a:gd name="T3" fmla="*/ 170 h 227"/>
                <a:gd name="T4" fmla="*/ 170 w 227"/>
                <a:gd name="T5" fmla="*/ 211 h 227"/>
                <a:gd name="T6" fmla="*/ 113 w 227"/>
                <a:gd name="T7" fmla="*/ 226 h 227"/>
                <a:gd name="T8" fmla="*/ 57 w 227"/>
                <a:gd name="T9" fmla="*/ 211 h 227"/>
                <a:gd name="T10" fmla="*/ 15 w 227"/>
                <a:gd name="T11" fmla="*/ 170 h 227"/>
                <a:gd name="T12" fmla="*/ 0 w 227"/>
                <a:gd name="T13" fmla="*/ 113 h 227"/>
                <a:gd name="T14" fmla="*/ 15 w 227"/>
                <a:gd name="T15" fmla="*/ 57 h 227"/>
                <a:gd name="T16" fmla="*/ 57 w 227"/>
                <a:gd name="T17" fmla="*/ 16 h 227"/>
                <a:gd name="T18" fmla="*/ 113 w 227"/>
                <a:gd name="T19" fmla="*/ 0 h 227"/>
                <a:gd name="T20" fmla="*/ 170 w 227"/>
                <a:gd name="T21" fmla="*/ 16 h 227"/>
                <a:gd name="T22" fmla="*/ 211 w 227"/>
                <a:gd name="T23" fmla="*/ 57 h 227"/>
                <a:gd name="T24" fmla="*/ 226 w 227"/>
                <a:gd name="T25" fmla="*/ 11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227">
                  <a:moveTo>
                    <a:pt x="226" y="113"/>
                  </a:moveTo>
                  <a:cubicBezTo>
                    <a:pt x="226" y="134"/>
                    <a:pt x="221" y="152"/>
                    <a:pt x="211" y="170"/>
                  </a:cubicBezTo>
                  <a:cubicBezTo>
                    <a:pt x="201" y="188"/>
                    <a:pt x="188" y="201"/>
                    <a:pt x="170" y="211"/>
                  </a:cubicBezTo>
                  <a:cubicBezTo>
                    <a:pt x="152" y="221"/>
                    <a:pt x="134" y="226"/>
                    <a:pt x="113" y="226"/>
                  </a:cubicBezTo>
                  <a:cubicBezTo>
                    <a:pt x="92" y="226"/>
                    <a:pt x="75" y="221"/>
                    <a:pt x="57" y="211"/>
                  </a:cubicBezTo>
                  <a:cubicBezTo>
                    <a:pt x="39" y="201"/>
                    <a:pt x="26" y="188"/>
                    <a:pt x="15" y="170"/>
                  </a:cubicBezTo>
                  <a:cubicBezTo>
                    <a:pt x="5" y="152"/>
                    <a:pt x="0" y="134"/>
                    <a:pt x="0" y="113"/>
                  </a:cubicBezTo>
                  <a:cubicBezTo>
                    <a:pt x="0" y="92"/>
                    <a:pt x="5" y="75"/>
                    <a:pt x="15" y="57"/>
                  </a:cubicBezTo>
                  <a:cubicBezTo>
                    <a:pt x="26" y="39"/>
                    <a:pt x="39" y="27"/>
                    <a:pt x="57" y="16"/>
                  </a:cubicBezTo>
                  <a:cubicBezTo>
                    <a:pt x="75" y="6"/>
                    <a:pt x="92" y="0"/>
                    <a:pt x="113" y="0"/>
                  </a:cubicBezTo>
                  <a:cubicBezTo>
                    <a:pt x="134" y="0"/>
                    <a:pt x="152" y="6"/>
                    <a:pt x="170" y="16"/>
                  </a:cubicBezTo>
                  <a:cubicBezTo>
                    <a:pt x="188" y="27"/>
                    <a:pt x="201" y="39"/>
                    <a:pt x="211" y="57"/>
                  </a:cubicBezTo>
                  <a:cubicBezTo>
                    <a:pt x="221" y="75"/>
                    <a:pt x="226" y="92"/>
                    <a:pt x="226" y="113"/>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p>
          </p:txBody>
        </p:sp>
        <p:sp>
          <p:nvSpPr>
            <p:cNvPr id="71" name="Freeform 296">
              <a:extLst>
                <a:ext uri="{FF2B5EF4-FFF2-40B4-BE49-F238E27FC236}">
                  <a16:creationId xmlns:a16="http://schemas.microsoft.com/office/drawing/2014/main" id="{690BEF4B-77B3-42A2-BA1E-B57022D3FB16}"/>
                </a:ext>
              </a:extLst>
            </p:cNvPr>
            <p:cNvSpPr>
              <a:spLocks noChangeArrowheads="1"/>
            </p:cNvSpPr>
            <p:nvPr/>
          </p:nvSpPr>
          <p:spPr bwMode="auto">
            <a:xfrm>
              <a:off x="11077898" y="5961932"/>
              <a:ext cx="198506" cy="77418"/>
            </a:xfrm>
            <a:custGeom>
              <a:avLst/>
              <a:gdLst>
                <a:gd name="T0" fmla="*/ 438 w 439"/>
                <a:gd name="T1" fmla="*/ 169 h 170"/>
                <a:gd name="T2" fmla="*/ 219 w 439"/>
                <a:gd name="T3" fmla="*/ 0 h 170"/>
                <a:gd name="T4" fmla="*/ 0 w 439"/>
                <a:gd name="T5" fmla="*/ 169 h 170"/>
              </a:gdLst>
              <a:ahLst/>
              <a:cxnLst>
                <a:cxn ang="0">
                  <a:pos x="T0" y="T1"/>
                </a:cxn>
                <a:cxn ang="0">
                  <a:pos x="T2" y="T3"/>
                </a:cxn>
                <a:cxn ang="0">
                  <a:pos x="T4" y="T5"/>
                </a:cxn>
              </a:cxnLst>
              <a:rect l="0" t="0" r="r" b="b"/>
              <a:pathLst>
                <a:path w="439" h="170">
                  <a:moveTo>
                    <a:pt x="438" y="169"/>
                  </a:moveTo>
                  <a:cubicBezTo>
                    <a:pt x="413" y="72"/>
                    <a:pt x="324" y="0"/>
                    <a:pt x="219" y="0"/>
                  </a:cubicBezTo>
                  <a:cubicBezTo>
                    <a:pt x="114" y="0"/>
                    <a:pt x="26" y="72"/>
                    <a:pt x="0" y="169"/>
                  </a:cubicBezTo>
                </a:path>
              </a:pathLst>
            </a:custGeom>
            <a:noFill/>
            <a:ln w="12700"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sp>
          <p:nvSpPr>
            <p:cNvPr id="72" name="Freeform 297">
              <a:extLst>
                <a:ext uri="{FF2B5EF4-FFF2-40B4-BE49-F238E27FC236}">
                  <a16:creationId xmlns:a16="http://schemas.microsoft.com/office/drawing/2014/main" id="{A9359B28-D57A-438E-A4F1-2BA0A663C957}"/>
                </a:ext>
              </a:extLst>
            </p:cNvPr>
            <p:cNvSpPr>
              <a:spLocks noChangeArrowheads="1"/>
            </p:cNvSpPr>
            <p:nvPr/>
          </p:nvSpPr>
          <p:spPr bwMode="auto">
            <a:xfrm>
              <a:off x="10871452" y="5858709"/>
              <a:ext cx="101239" cy="101239"/>
            </a:xfrm>
            <a:custGeom>
              <a:avLst/>
              <a:gdLst>
                <a:gd name="T0" fmla="*/ 226 w 227"/>
                <a:gd name="T1" fmla="*/ 113 h 227"/>
                <a:gd name="T2" fmla="*/ 210 w 227"/>
                <a:gd name="T3" fmla="*/ 170 h 227"/>
                <a:gd name="T4" fmla="*/ 169 w 227"/>
                <a:gd name="T5" fmla="*/ 211 h 227"/>
                <a:gd name="T6" fmla="*/ 113 w 227"/>
                <a:gd name="T7" fmla="*/ 226 h 227"/>
                <a:gd name="T8" fmla="*/ 56 w 227"/>
                <a:gd name="T9" fmla="*/ 211 h 227"/>
                <a:gd name="T10" fmla="*/ 15 w 227"/>
                <a:gd name="T11" fmla="*/ 170 h 227"/>
                <a:gd name="T12" fmla="*/ 0 w 227"/>
                <a:gd name="T13" fmla="*/ 113 h 227"/>
                <a:gd name="T14" fmla="*/ 15 w 227"/>
                <a:gd name="T15" fmla="*/ 57 h 227"/>
                <a:gd name="T16" fmla="*/ 56 w 227"/>
                <a:gd name="T17" fmla="*/ 16 h 227"/>
                <a:gd name="T18" fmla="*/ 113 w 227"/>
                <a:gd name="T19" fmla="*/ 0 h 227"/>
                <a:gd name="T20" fmla="*/ 169 w 227"/>
                <a:gd name="T21" fmla="*/ 16 h 227"/>
                <a:gd name="T22" fmla="*/ 210 w 227"/>
                <a:gd name="T23" fmla="*/ 57 h 227"/>
                <a:gd name="T24" fmla="*/ 226 w 227"/>
                <a:gd name="T25" fmla="*/ 11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227">
                  <a:moveTo>
                    <a:pt x="226" y="113"/>
                  </a:moveTo>
                  <a:cubicBezTo>
                    <a:pt x="226" y="134"/>
                    <a:pt x="221" y="152"/>
                    <a:pt x="210" y="170"/>
                  </a:cubicBezTo>
                  <a:cubicBezTo>
                    <a:pt x="200" y="188"/>
                    <a:pt x="187" y="201"/>
                    <a:pt x="169" y="211"/>
                  </a:cubicBezTo>
                  <a:cubicBezTo>
                    <a:pt x="151" y="221"/>
                    <a:pt x="134" y="226"/>
                    <a:pt x="113" y="226"/>
                  </a:cubicBezTo>
                  <a:cubicBezTo>
                    <a:pt x="92" y="226"/>
                    <a:pt x="74" y="221"/>
                    <a:pt x="56" y="211"/>
                  </a:cubicBezTo>
                  <a:cubicBezTo>
                    <a:pt x="38" y="201"/>
                    <a:pt x="25" y="188"/>
                    <a:pt x="15" y="170"/>
                  </a:cubicBezTo>
                  <a:cubicBezTo>
                    <a:pt x="5" y="152"/>
                    <a:pt x="0" y="134"/>
                    <a:pt x="0" y="113"/>
                  </a:cubicBezTo>
                  <a:cubicBezTo>
                    <a:pt x="0" y="92"/>
                    <a:pt x="5" y="75"/>
                    <a:pt x="15" y="57"/>
                  </a:cubicBezTo>
                  <a:cubicBezTo>
                    <a:pt x="25" y="39"/>
                    <a:pt x="38" y="27"/>
                    <a:pt x="56" y="16"/>
                  </a:cubicBezTo>
                  <a:cubicBezTo>
                    <a:pt x="74" y="6"/>
                    <a:pt x="92" y="0"/>
                    <a:pt x="113" y="0"/>
                  </a:cubicBezTo>
                  <a:cubicBezTo>
                    <a:pt x="134" y="0"/>
                    <a:pt x="151" y="6"/>
                    <a:pt x="169" y="16"/>
                  </a:cubicBezTo>
                  <a:cubicBezTo>
                    <a:pt x="187" y="27"/>
                    <a:pt x="200" y="39"/>
                    <a:pt x="210" y="57"/>
                  </a:cubicBezTo>
                  <a:cubicBezTo>
                    <a:pt x="221" y="75"/>
                    <a:pt x="226" y="92"/>
                    <a:pt x="226" y="113"/>
                  </a:cubicBezTo>
                </a:path>
              </a:pathLst>
            </a:custGeom>
            <a:noFill/>
            <a:ln w="12700"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p>
          </p:txBody>
        </p:sp>
        <p:sp>
          <p:nvSpPr>
            <p:cNvPr id="73" name="Freeform 298">
              <a:extLst>
                <a:ext uri="{FF2B5EF4-FFF2-40B4-BE49-F238E27FC236}">
                  <a16:creationId xmlns:a16="http://schemas.microsoft.com/office/drawing/2014/main" id="{9189CF91-AED3-47B7-8C20-15CEC74E9810}"/>
                </a:ext>
              </a:extLst>
            </p:cNvPr>
            <p:cNvSpPr>
              <a:spLocks noChangeArrowheads="1"/>
            </p:cNvSpPr>
            <p:nvPr/>
          </p:nvSpPr>
          <p:spPr bwMode="auto">
            <a:xfrm>
              <a:off x="10823810" y="5961932"/>
              <a:ext cx="196521" cy="77418"/>
            </a:xfrm>
            <a:custGeom>
              <a:avLst/>
              <a:gdLst>
                <a:gd name="T0" fmla="*/ 437 w 438"/>
                <a:gd name="T1" fmla="*/ 169 h 170"/>
                <a:gd name="T2" fmla="*/ 219 w 438"/>
                <a:gd name="T3" fmla="*/ 0 h 170"/>
                <a:gd name="T4" fmla="*/ 0 w 438"/>
                <a:gd name="T5" fmla="*/ 169 h 170"/>
              </a:gdLst>
              <a:ahLst/>
              <a:cxnLst>
                <a:cxn ang="0">
                  <a:pos x="T0" y="T1"/>
                </a:cxn>
                <a:cxn ang="0">
                  <a:pos x="T2" y="T3"/>
                </a:cxn>
                <a:cxn ang="0">
                  <a:pos x="T4" y="T5"/>
                </a:cxn>
              </a:cxnLst>
              <a:rect l="0" t="0" r="r" b="b"/>
              <a:pathLst>
                <a:path w="438" h="170">
                  <a:moveTo>
                    <a:pt x="437" y="169"/>
                  </a:moveTo>
                  <a:cubicBezTo>
                    <a:pt x="412" y="72"/>
                    <a:pt x="324" y="0"/>
                    <a:pt x="219" y="0"/>
                  </a:cubicBezTo>
                  <a:cubicBezTo>
                    <a:pt x="114" y="0"/>
                    <a:pt x="25" y="72"/>
                    <a:pt x="0" y="169"/>
                  </a:cubicBezTo>
                </a:path>
              </a:pathLst>
            </a:custGeom>
            <a:noFill/>
            <a:ln w="12700"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p>
          </p:txBody>
        </p:sp>
      </p:grpSp>
      <p:sp>
        <p:nvSpPr>
          <p:cNvPr id="74" name="TextBox 73">
            <a:extLst>
              <a:ext uri="{FF2B5EF4-FFF2-40B4-BE49-F238E27FC236}">
                <a16:creationId xmlns:a16="http://schemas.microsoft.com/office/drawing/2014/main" id="{0CDE86CF-42E6-48B1-8475-F9B94CA60AE2}"/>
              </a:ext>
            </a:extLst>
          </p:cNvPr>
          <p:cNvSpPr txBox="1"/>
          <p:nvPr userDrawn="1"/>
        </p:nvSpPr>
        <p:spPr>
          <a:xfrm>
            <a:off x="14694287" y="3549957"/>
            <a:ext cx="3550346" cy="461665"/>
          </a:xfrm>
          <a:prstGeom prst="rect">
            <a:avLst/>
          </a:prstGeom>
          <a:noFill/>
        </p:spPr>
        <p:txBody>
          <a:bodyPr wrap="square" rtlCol="0">
            <a:spAutoFit/>
          </a:bodyPr>
          <a:lstStyle/>
          <a:p>
            <a:pPr algn="l"/>
            <a:r>
              <a:rPr lang="en-GB" sz="2400" b="1" cap="all">
                <a:solidFill>
                  <a:srgbClr val="404040"/>
                </a:solidFill>
              </a:rPr>
              <a:t>Application Stats</a:t>
            </a:r>
          </a:p>
        </p:txBody>
      </p:sp>
      <p:sp>
        <p:nvSpPr>
          <p:cNvPr id="79" name="Rectangle 78">
            <a:extLst>
              <a:ext uri="{FF2B5EF4-FFF2-40B4-BE49-F238E27FC236}">
                <a16:creationId xmlns:a16="http://schemas.microsoft.com/office/drawing/2014/main" id="{DA69B30A-756E-4234-804A-485CC9472BF2}"/>
              </a:ext>
            </a:extLst>
          </p:cNvPr>
          <p:cNvSpPr/>
          <p:nvPr userDrawn="1"/>
        </p:nvSpPr>
        <p:spPr>
          <a:xfrm>
            <a:off x="14653551" y="8520844"/>
            <a:ext cx="9730450" cy="519515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6000" tIns="180000" rtlCol="0" anchor="t"/>
          <a:lstStyle/>
          <a:p>
            <a:r>
              <a:rPr lang="en-GB" sz="2400" b="1">
                <a:solidFill>
                  <a:schemeClr val="bg1"/>
                </a:solidFill>
              </a:rPr>
              <a:t>MIGRATION CONSIDERATIONS</a:t>
            </a:r>
          </a:p>
        </p:txBody>
      </p:sp>
      <p:grpSp>
        <p:nvGrpSpPr>
          <p:cNvPr id="82" name="Group 81">
            <a:extLst>
              <a:ext uri="{FF2B5EF4-FFF2-40B4-BE49-F238E27FC236}">
                <a16:creationId xmlns:a16="http://schemas.microsoft.com/office/drawing/2014/main" id="{941F8BA7-D9D3-4FA0-B176-F6C839211B60}"/>
              </a:ext>
            </a:extLst>
          </p:cNvPr>
          <p:cNvGrpSpPr/>
          <p:nvPr userDrawn="1"/>
        </p:nvGrpSpPr>
        <p:grpSpPr>
          <a:xfrm>
            <a:off x="6940146" y="3"/>
            <a:ext cx="10748992" cy="1455226"/>
            <a:chOff x="3470073" y="1"/>
            <a:chExt cx="5374496" cy="727613"/>
          </a:xfrm>
        </p:grpSpPr>
        <p:sp>
          <p:nvSpPr>
            <p:cNvPr id="83" name="Rectangle 82">
              <a:extLst>
                <a:ext uri="{FF2B5EF4-FFF2-40B4-BE49-F238E27FC236}">
                  <a16:creationId xmlns:a16="http://schemas.microsoft.com/office/drawing/2014/main" id="{0AA578D5-2473-4A18-BA4E-4D08029B9CF7}"/>
                </a:ext>
              </a:extLst>
            </p:cNvPr>
            <p:cNvSpPr/>
            <p:nvPr/>
          </p:nvSpPr>
          <p:spPr>
            <a:xfrm>
              <a:off x="5262385" y="1"/>
              <a:ext cx="1791092" cy="29223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200" b="1" cap="all"/>
                <a:t>Scope</a:t>
              </a:r>
            </a:p>
          </p:txBody>
        </p:sp>
        <p:sp>
          <p:nvSpPr>
            <p:cNvPr id="84" name="Rectangle 83">
              <a:extLst>
                <a:ext uri="{FF2B5EF4-FFF2-40B4-BE49-F238E27FC236}">
                  <a16:creationId xmlns:a16="http://schemas.microsoft.com/office/drawing/2014/main" id="{66B790FE-DD54-41E7-B7C5-5E87BF6859B4}"/>
                </a:ext>
              </a:extLst>
            </p:cNvPr>
            <p:cNvSpPr/>
            <p:nvPr/>
          </p:nvSpPr>
          <p:spPr>
            <a:xfrm>
              <a:off x="7053477" y="1"/>
              <a:ext cx="1791092" cy="29223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200" b="1" cap="all"/>
                <a:t>Strategy</a:t>
              </a:r>
            </a:p>
          </p:txBody>
        </p:sp>
        <p:sp>
          <p:nvSpPr>
            <p:cNvPr id="85" name="Rectangle 84">
              <a:extLst>
                <a:ext uri="{FF2B5EF4-FFF2-40B4-BE49-F238E27FC236}">
                  <a16:creationId xmlns:a16="http://schemas.microsoft.com/office/drawing/2014/main" id="{E0CBF8BF-B5D9-4D62-9948-65EAB5E0CA3F}"/>
                </a:ext>
              </a:extLst>
            </p:cNvPr>
            <p:cNvSpPr/>
            <p:nvPr/>
          </p:nvSpPr>
          <p:spPr>
            <a:xfrm>
              <a:off x="5262386" y="291261"/>
              <a:ext cx="1789060" cy="436353"/>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b="1">
                <a:solidFill>
                  <a:schemeClr val="tx1"/>
                </a:solidFill>
              </a:endParaRPr>
            </a:p>
          </p:txBody>
        </p:sp>
        <p:sp>
          <p:nvSpPr>
            <p:cNvPr id="86" name="Rectangle 85">
              <a:extLst>
                <a:ext uri="{FF2B5EF4-FFF2-40B4-BE49-F238E27FC236}">
                  <a16:creationId xmlns:a16="http://schemas.microsoft.com/office/drawing/2014/main" id="{02A8E6DB-6318-4433-B645-5C27E2621E72}"/>
                </a:ext>
              </a:extLst>
            </p:cNvPr>
            <p:cNvSpPr/>
            <p:nvPr/>
          </p:nvSpPr>
          <p:spPr>
            <a:xfrm>
              <a:off x="7053477" y="291261"/>
              <a:ext cx="1784031" cy="436353"/>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chemeClr val="tx1"/>
                </a:solidFill>
              </a:endParaRPr>
            </a:p>
          </p:txBody>
        </p:sp>
        <p:sp>
          <p:nvSpPr>
            <p:cNvPr id="87" name="Rectangle 86">
              <a:extLst>
                <a:ext uri="{FF2B5EF4-FFF2-40B4-BE49-F238E27FC236}">
                  <a16:creationId xmlns:a16="http://schemas.microsoft.com/office/drawing/2014/main" id="{34E1E051-077F-4A58-AA8D-035F451093BB}"/>
                </a:ext>
              </a:extLst>
            </p:cNvPr>
            <p:cNvSpPr/>
            <p:nvPr/>
          </p:nvSpPr>
          <p:spPr>
            <a:xfrm>
              <a:off x="3470073" y="1"/>
              <a:ext cx="1791092" cy="29223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200" b="1" cap="all"/>
                <a:t>Classification</a:t>
              </a:r>
            </a:p>
          </p:txBody>
        </p:sp>
        <p:sp>
          <p:nvSpPr>
            <p:cNvPr id="88" name="Rectangle 87">
              <a:extLst>
                <a:ext uri="{FF2B5EF4-FFF2-40B4-BE49-F238E27FC236}">
                  <a16:creationId xmlns:a16="http://schemas.microsoft.com/office/drawing/2014/main" id="{FD664E14-CFFF-46F2-9BD5-D0CE96F7202F}"/>
                </a:ext>
              </a:extLst>
            </p:cNvPr>
            <p:cNvSpPr/>
            <p:nvPr/>
          </p:nvSpPr>
          <p:spPr>
            <a:xfrm>
              <a:off x="3470074" y="291261"/>
              <a:ext cx="1789060" cy="436353"/>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b="1">
                <a:solidFill>
                  <a:schemeClr val="tx1"/>
                </a:solidFill>
              </a:endParaRPr>
            </a:p>
          </p:txBody>
        </p:sp>
      </p:grpSp>
      <p:sp>
        <p:nvSpPr>
          <p:cNvPr id="4" name="Slide Number Placeholder 3">
            <a:extLst>
              <a:ext uri="{FF2B5EF4-FFF2-40B4-BE49-F238E27FC236}">
                <a16:creationId xmlns:a16="http://schemas.microsoft.com/office/drawing/2014/main" id="{A82870D3-B21C-6F49-A89A-D8B3AEF5AC9C}"/>
              </a:ext>
            </a:extLst>
          </p:cNvPr>
          <p:cNvSpPr>
            <a:spLocks noGrp="1"/>
          </p:cNvSpPr>
          <p:nvPr>
            <p:ph type="sldNum" sz="quarter" idx="11"/>
          </p:nvPr>
        </p:nvSpPr>
        <p:spPr/>
        <p:txBody>
          <a:bodyPr/>
          <a:lstStyle/>
          <a:p>
            <a:fld id="{762E77F0-FB5B-4E8E-9BC9-34F14560A017}" type="slidenum">
              <a:rPr lang="en-US" smtClean="0"/>
              <a:pPr/>
              <a:t>‹#›</a:t>
            </a:fld>
            <a:endParaRPr lang="en-US"/>
          </a:p>
        </p:txBody>
      </p:sp>
    </p:spTree>
    <p:extLst>
      <p:ext uri="{BB962C8B-B14F-4D97-AF65-F5344CB8AC3E}">
        <p14:creationId xmlns:p14="http://schemas.microsoft.com/office/powerpoint/2010/main" val="1194152686"/>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preserve="1" userDrawn="1">
  <p:cSld name="2_Blank">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3F9E8279-BFE3-42FA-89A5-BD1779547B5B}"/>
              </a:ext>
            </a:extLst>
          </p:cNvPr>
          <p:cNvPicPr>
            <a:picLocks noChangeAspect="1"/>
          </p:cNvPicPr>
          <p:nvPr userDrawn="1"/>
        </p:nvPicPr>
        <p:blipFill>
          <a:blip r:embed="rId2"/>
          <a:stretch>
            <a:fillRect/>
          </a:stretch>
        </p:blipFill>
        <p:spPr>
          <a:xfrm>
            <a:off x="655811" y="12594565"/>
            <a:ext cx="2966510" cy="922174"/>
          </a:xfrm>
          <a:prstGeom prst="rect">
            <a:avLst/>
          </a:prstGeom>
        </p:spPr>
      </p:pic>
      <p:sp>
        <p:nvSpPr>
          <p:cNvPr id="4" name="Slide Number Placeholder 3">
            <a:extLst>
              <a:ext uri="{FF2B5EF4-FFF2-40B4-BE49-F238E27FC236}">
                <a16:creationId xmlns:a16="http://schemas.microsoft.com/office/drawing/2014/main" id="{A82870D3-B21C-6F49-A89A-D8B3AEF5AC9C}"/>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5" name="Rectangle 74">
            <a:extLst>
              <a:ext uri="{FF2B5EF4-FFF2-40B4-BE49-F238E27FC236}">
                <a16:creationId xmlns:a16="http://schemas.microsoft.com/office/drawing/2014/main" id="{7F3240E7-B1A4-4D69-97AF-98E251F2B598}"/>
              </a:ext>
            </a:extLst>
          </p:cNvPr>
          <p:cNvSpPr/>
          <p:nvPr userDrawn="1"/>
        </p:nvSpPr>
        <p:spPr>
          <a:xfrm>
            <a:off x="146304" y="970122"/>
            <a:ext cx="13935456" cy="114912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p>
        </p:txBody>
      </p:sp>
      <p:sp>
        <p:nvSpPr>
          <p:cNvPr id="77" name="Rectangle 76">
            <a:extLst>
              <a:ext uri="{FF2B5EF4-FFF2-40B4-BE49-F238E27FC236}">
                <a16:creationId xmlns:a16="http://schemas.microsoft.com/office/drawing/2014/main" id="{41986F08-B57F-49AA-A79F-3B83ABFBE0E9}"/>
              </a:ext>
            </a:extLst>
          </p:cNvPr>
          <p:cNvSpPr/>
          <p:nvPr/>
        </p:nvSpPr>
        <p:spPr>
          <a:xfrm>
            <a:off x="312380" y="1112363"/>
            <a:ext cx="7070104" cy="11189290"/>
          </a:xfrm>
          <a:prstGeom prst="rect">
            <a:avLst/>
          </a:prstGeom>
          <a:solidFill>
            <a:schemeClr val="bg2"/>
          </a:solidFill>
          <a:ln>
            <a:solidFill>
              <a:schemeClr val="accent5">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0" tIns="180000" bIns="180000" rtlCol="0" anchor="t"/>
          <a:lstStyle/>
          <a:p>
            <a:pPr>
              <a:spcAft>
                <a:spcPts val="600"/>
              </a:spcAft>
            </a:pPr>
            <a:r>
              <a:rPr lang="en-GB" sz="2800" b="1">
                <a:solidFill>
                  <a:schemeClr val="bg1"/>
                </a:solidFill>
              </a:rPr>
              <a:t>Application</a:t>
            </a:r>
          </a:p>
        </p:txBody>
      </p:sp>
      <p:sp>
        <p:nvSpPr>
          <p:cNvPr id="48" name="Rectangle 47">
            <a:extLst>
              <a:ext uri="{FF2B5EF4-FFF2-40B4-BE49-F238E27FC236}">
                <a16:creationId xmlns:a16="http://schemas.microsoft.com/office/drawing/2014/main" id="{2564E4B6-1999-4019-8324-0CBE2B1EFA9B}"/>
              </a:ext>
            </a:extLst>
          </p:cNvPr>
          <p:cNvSpPr/>
          <p:nvPr userDrawn="1"/>
        </p:nvSpPr>
        <p:spPr>
          <a:xfrm>
            <a:off x="1" y="263906"/>
            <a:ext cx="4472294" cy="848456"/>
          </a:xfrm>
          <a:prstGeom prst="rect">
            <a:avLst/>
          </a:prstGeom>
          <a:solidFill>
            <a:schemeClr val="accent5">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4000"/>
          </a:p>
        </p:txBody>
      </p:sp>
    </p:spTree>
    <p:extLst>
      <p:ext uri="{BB962C8B-B14F-4D97-AF65-F5344CB8AC3E}">
        <p14:creationId xmlns:p14="http://schemas.microsoft.com/office/powerpoint/2010/main" val="1381634556"/>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a:xfrm>
            <a:off x="8382000" y="13000317"/>
            <a:ext cx="5746892" cy="486410"/>
          </a:xfrm>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5292124"/>
          </a:xfrm>
        </p:spPr>
        <p:txBody>
          <a:bodyPr/>
          <a:lstStyle/>
          <a:p>
            <a:r>
              <a:rPr lang="en-US"/>
              <a:t>Click to edit Master title style</a:t>
            </a:r>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userDrawn="1"/>
        </p:nvCxnSpPr>
        <p:spPr>
          <a:xfrm>
            <a:off x="8382000" y="0"/>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 Placeholder 2">
            <a:extLst>
              <a:ext uri="{FF2B5EF4-FFF2-40B4-BE49-F238E27FC236}">
                <a16:creationId xmlns:a16="http://schemas.microsoft.com/office/drawing/2014/main" id="{9F9C88D5-EA56-4ED2-8CB6-44F2BBA4023F}"/>
              </a:ext>
            </a:extLst>
          </p:cNvPr>
          <p:cNvSpPr>
            <a:spLocks noGrp="1"/>
          </p:cNvSpPr>
          <p:nvPr>
            <p:ph idx="1"/>
          </p:nvPr>
        </p:nvSpPr>
        <p:spPr>
          <a:xfrm>
            <a:off x="8382000" y="624971"/>
            <a:ext cx="15255604" cy="12350774"/>
          </a:xfrm>
          <a:prstGeom prst="rect">
            <a:avLst/>
          </a:prstGeom>
        </p:spPr>
        <p:txBody>
          <a:bodyPr vert="horz" lIns="18288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Picture 11">
            <a:extLst>
              <a:ext uri="{FF2B5EF4-FFF2-40B4-BE49-F238E27FC236}">
                <a16:creationId xmlns:a16="http://schemas.microsoft.com/office/drawing/2014/main" id="{DDE50C59-4891-4B61-861D-AFDDCDDDBC49}"/>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554843926"/>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vl1pPr>
          </a:lstStyle>
          <a:p>
            <a:r>
              <a:rPr lang="en-US"/>
              <a:t>Click to edit Master title style</a:t>
            </a:r>
          </a:p>
        </p:txBody>
      </p:sp>
      <p:sp>
        <p:nvSpPr>
          <p:cNvPr id="10" name="Footer Placeholder 2">
            <a:extLst>
              <a:ext uri="{FF2B5EF4-FFF2-40B4-BE49-F238E27FC236}">
                <a16:creationId xmlns:a16="http://schemas.microsoft.com/office/drawing/2014/main" id="{7073E864-1AAE-4F30-B18C-AC7366759B29}"/>
              </a:ext>
            </a:extLst>
          </p:cNvPr>
          <p:cNvSpPr>
            <a:spLocks noGrp="1"/>
          </p:cNvSpPr>
          <p:nvPr>
            <p:ph type="ftr" sz="quarter" idx="10"/>
          </p:nvPr>
        </p:nvSpPr>
        <p:spPr>
          <a:xfrm>
            <a:off x="6477000" y="13000317"/>
            <a:ext cx="5518292" cy="486410"/>
          </a:xfrm>
        </p:spPr>
        <p:txBody>
          <a:bodyPr/>
          <a:lstStyle>
            <a:lvl1pPr>
              <a:defRPr>
                <a:solidFill>
                  <a:schemeClr val="bg1"/>
                </a:solidFill>
              </a:defRPr>
            </a:lvl1pPr>
          </a:lstStyle>
          <a:p>
            <a:endParaRPr lang="en-US"/>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Picture 8">
            <a:extLst>
              <a:ext uri="{FF2B5EF4-FFF2-40B4-BE49-F238E27FC236}">
                <a16:creationId xmlns:a16="http://schemas.microsoft.com/office/drawing/2014/main" id="{A82C6687-F817-452E-A9E5-14021D46A7D9}"/>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016381359"/>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a:xfrm>
            <a:off x="6477000" y="13000317"/>
            <a:ext cx="5647832" cy="486410"/>
          </a:xfrm>
        </p:spPr>
        <p:txBody>
          <a:bodyPr lIns="182880"/>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tx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lstStyle>
            <a:lvl1pPr>
              <a:defRPr/>
            </a:lvl1pPr>
          </a:lstStyle>
          <a:p>
            <a:r>
              <a:rPr lang="en-US"/>
              <a:t>Click to edit Master title style</a:t>
            </a:r>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2">
            <a:extLst>
              <a:ext uri="{FF2B5EF4-FFF2-40B4-BE49-F238E27FC236}">
                <a16:creationId xmlns:a16="http://schemas.microsoft.com/office/drawing/2014/main" id="{FD053F94-CE8F-4987-AA33-DA71ADDB4BC1}"/>
              </a:ext>
            </a:extLst>
          </p:cNvPr>
          <p:cNvSpPr>
            <a:spLocks noGrp="1"/>
          </p:cNvSpPr>
          <p:nvPr>
            <p:ph idx="1"/>
          </p:nvPr>
        </p:nvSpPr>
        <p:spPr>
          <a:xfrm>
            <a:off x="17945102" y="624971"/>
            <a:ext cx="5715000" cy="12350774"/>
          </a:xfrm>
          <a:prstGeom prst="rect">
            <a:avLst/>
          </a:prstGeom>
        </p:spPr>
        <p:txBody>
          <a:bodyPr vert="horz" lIns="18288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Picture 11">
            <a:extLst>
              <a:ext uri="{FF2B5EF4-FFF2-40B4-BE49-F238E27FC236}">
                <a16:creationId xmlns:a16="http://schemas.microsoft.com/office/drawing/2014/main" id="{CD43B523-15C5-4B07-814A-A20877C99FBE}"/>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9709914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8"/>
            <a:ext cx="11142008" cy="1215424"/>
          </a:xfrm>
        </p:spPr>
        <p:txBody>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5944302"/>
          </a:xfrm>
        </p:spPr>
        <p:txBody>
          <a:bodyPr lIns="0"/>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Picture 8">
            <a:extLst>
              <a:ext uri="{FF2B5EF4-FFF2-40B4-BE49-F238E27FC236}">
                <a16:creationId xmlns:a16="http://schemas.microsoft.com/office/drawing/2014/main" id="{D6BEBB49-959A-4EB0-A47F-63B63FBBE2B3}"/>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18836922"/>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5944302"/>
          </a:xfrm>
        </p:spPr>
        <p:txBody>
          <a:bodyPr l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39065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Picture 8">
            <a:extLst>
              <a:ext uri="{FF2B5EF4-FFF2-40B4-BE49-F238E27FC236}">
                <a16:creationId xmlns:a16="http://schemas.microsoft.com/office/drawing/2014/main" id="{56D9CD07-5AE1-482F-A618-9E43C9B6026D}"/>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84122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preserve="1" userDrawn="1">
  <p:cSld name="Image Slide 4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5210098" cy="5944302"/>
          </a:xfrm>
        </p:spPr>
        <p:txBody>
          <a:bodyPr l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6C63B45C-B418-7748-8927-54F5E6F9FA61}"/>
              </a:ext>
            </a:extLst>
          </p:cNvPr>
          <p:cNvSpPr>
            <a:spLocks noGrp="1"/>
          </p:cNvSpPr>
          <p:nvPr>
            <p:ph type="body" sz="quarter" idx="16"/>
          </p:nvPr>
        </p:nvSpPr>
        <p:spPr>
          <a:xfrm>
            <a:off x="6477000" y="1752604"/>
            <a:ext cx="5333924" cy="5846640"/>
          </a:xfrm>
        </p:spPr>
        <p:txBody>
          <a:bodyPr l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Picture 8">
            <a:extLst>
              <a:ext uri="{FF2B5EF4-FFF2-40B4-BE49-F238E27FC236}">
                <a16:creationId xmlns:a16="http://schemas.microsoft.com/office/drawing/2014/main" id="{74CDD492-DA90-450D-9611-0AF03FB0F9F3}"/>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687256645"/>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preserve="1" userDrawn="1">
  <p:cSld name="Image Slide 4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5210098" cy="5944302"/>
          </a:xfrm>
        </p:spPr>
        <p:txBody>
          <a:bodyPr l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6C63B45C-B418-7748-8927-54F5E6F9FA61}"/>
              </a:ext>
            </a:extLst>
          </p:cNvPr>
          <p:cNvSpPr>
            <a:spLocks noGrp="1"/>
          </p:cNvSpPr>
          <p:nvPr>
            <p:ph type="body" sz="quarter" idx="16"/>
          </p:nvPr>
        </p:nvSpPr>
        <p:spPr>
          <a:xfrm>
            <a:off x="6477000" y="3169804"/>
            <a:ext cx="5333924" cy="5846640"/>
          </a:xfrm>
        </p:spPr>
        <p:txBody>
          <a:bodyPr l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8">
            <a:extLst>
              <a:ext uri="{FF2B5EF4-FFF2-40B4-BE49-F238E27FC236}">
                <a16:creationId xmlns:a16="http://schemas.microsoft.com/office/drawing/2014/main" id="{9192A8DF-7DE3-4714-9178-8644E5472F7A}"/>
              </a:ext>
            </a:extLst>
          </p:cNvPr>
          <p:cNvSpPr>
            <a:spLocks noGrp="1"/>
          </p:cNvSpPr>
          <p:nvPr>
            <p:ph type="body" sz="quarter" idx="13" hasCustomPrompt="1"/>
          </p:nvPr>
        </p:nvSpPr>
        <p:spPr>
          <a:xfrm>
            <a:off x="688979" y="1752605"/>
            <a:ext cx="11122026" cy="139065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11" name="Picture 10">
            <a:extLst>
              <a:ext uri="{FF2B5EF4-FFF2-40B4-BE49-F238E27FC236}">
                <a16:creationId xmlns:a16="http://schemas.microsoft.com/office/drawing/2014/main" id="{8E10A35F-A572-41B6-9982-B2D09CD00418}"/>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4176562040"/>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3" y="4800600"/>
            <a:ext cx="5714998" cy="4114800"/>
          </a:xfrm>
          <a:prstGeom prst="rect">
            <a:avLst/>
          </a:prstGeom>
          <a:solidFill>
            <a:schemeClr val="bg1"/>
          </a:solidFill>
        </p:spPr>
        <p:txBody>
          <a:bodyPr vert="horz" lIns="182880" tIns="137160" rIns="18288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2"/>
                </a:solidFill>
              </a:defRPr>
            </a:lvl1pPr>
          </a:lstStyle>
          <a:p>
            <a:pPr marL="0" lvl="0" indent="0">
              <a:spcAft>
                <a:spcPts val="3000"/>
              </a:spcAft>
              <a:buFont typeface="Arial" panose="020B0604020202020204" pitchFamily="34" charset="0"/>
            </a:pPr>
            <a:r>
              <a:rPr lang="en-US"/>
              <a:t>Click to edit Master title style</a:t>
            </a:r>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sp>
        <p:nvSpPr>
          <p:cNvPr id="7" name="Freeform 5">
            <a:extLst>
              <a:ext uri="{FF2B5EF4-FFF2-40B4-BE49-F238E27FC236}">
                <a16:creationId xmlns:a16="http://schemas.microsoft.com/office/drawing/2014/main" id="{62A334C7-39E0-4BC9-909A-79A06CAC7E86}"/>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1553052778"/>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preserve="1" userDrawn="1">
  <p:cSld name="4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noProof="0" dirty="0"/>
            </a:lvl1pPr>
          </a:lstStyle>
          <a:p>
            <a:pPr marR="0" lvl="0" fontAlgn="auto">
              <a:buSzTx/>
              <a:tabLst/>
            </a:pPr>
            <a:r>
              <a:rPr kumimoji="0" lang="en-US" sz="3600" b="0" i="0" u="none" strike="noStrike" kern="1200" cap="none" spc="0" normalizeH="0" baseline="0" noProof="0">
                <a:ln>
                  <a:noFill/>
                </a:ln>
                <a:solidFill>
                  <a:prstClr val="black"/>
                </a:solidFill>
                <a:effectLst/>
                <a:uLnTx/>
                <a:uFillTx/>
                <a:latin typeface="+mn-lt"/>
                <a:ea typeface="+mn-ea"/>
                <a:cs typeface="+mn-cs"/>
              </a:rPr>
              <a:t>Click icon in the center of the slide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92000"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2"/>
                </a:solidFill>
              </a:defRPr>
            </a:lvl1pPr>
          </a:lstStyle>
          <a:p>
            <a:pPr marL="0" lvl="0" indent="0">
              <a:spcAft>
                <a:spcPts val="3000"/>
              </a:spcAft>
              <a:buFont typeface="Arial" panose="020B0604020202020204" pitchFamily="34" charset="0"/>
            </a:pPr>
            <a:r>
              <a:rPr lang="en-US"/>
              <a:t>Click to edit Master title style</a:t>
            </a:r>
          </a:p>
        </p:txBody>
      </p:sp>
      <p:sp>
        <p:nvSpPr>
          <p:cNvPr id="5" name="Content Placeholder 4">
            <a:extLst>
              <a:ext uri="{FF2B5EF4-FFF2-40B4-BE49-F238E27FC236}">
                <a16:creationId xmlns:a16="http://schemas.microsoft.com/office/drawing/2014/main" id="{A1FC5E1F-F93B-45F5-A1E9-06CBE05062C0}"/>
              </a:ext>
            </a:extLst>
          </p:cNvPr>
          <p:cNvSpPr>
            <a:spLocks noGrp="1"/>
          </p:cNvSpPr>
          <p:nvPr>
            <p:ph sz="quarter" idx="13"/>
          </p:nvPr>
        </p:nvSpPr>
        <p:spPr>
          <a:xfrm>
            <a:off x="17945100" y="4800600"/>
            <a:ext cx="5715000" cy="4114800"/>
          </a:xfrm>
          <a:solidFill>
            <a:schemeClr val="bg1"/>
          </a:solidFill>
        </p:spPr>
        <p:txBody>
          <a:bodyPr tIns="137160" rIns="18288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Freeform 5">
            <a:extLst>
              <a:ext uri="{FF2B5EF4-FFF2-40B4-BE49-F238E27FC236}">
                <a16:creationId xmlns:a16="http://schemas.microsoft.com/office/drawing/2014/main" id="{EBA87B6E-F16C-4855-A953-A8C4737FFBD6}"/>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401234625"/>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preserve="1" userDrawn="1">
  <p:cSld name="Call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731692-D7FB-43A5-9242-6381F710CEE4}"/>
              </a:ext>
            </a:extLst>
          </p:cNvPr>
          <p:cNvSpPr/>
          <p:nvPr userDrawn="1"/>
        </p:nvSpPr>
        <p:spPr bwMode="white">
          <a:xfrm>
            <a:off x="17945100" y="0"/>
            <a:ext cx="64389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8452592" y="621792"/>
            <a:ext cx="5202936" cy="12353544"/>
          </a:xfrm>
        </p:spPr>
        <p:txBody>
          <a:bodyPr vert="horz" lIns="0" tIns="0" rIns="0" bIns="0" rtlCol="0">
            <a:noAutofit/>
          </a:bodyPr>
          <a:lstStyle>
            <a:lvl1pPr marL="0" indent="0">
              <a:lnSpc>
                <a:spcPct val="110000"/>
              </a:lnSpc>
              <a:buNone/>
              <a:defRPr lang="en-US" sz="5200" dirty="0">
                <a:ln w="3175">
                  <a:noFill/>
                </a:ln>
                <a:solidFill>
                  <a:schemeClr val="bg1"/>
                </a:solidFill>
              </a:defRPr>
            </a:lvl1pPr>
          </a:lstStyle>
          <a:p>
            <a:pPr lvl="0" fontAlgn="base">
              <a:spcAft>
                <a:spcPts val="5250"/>
              </a:spcAft>
            </a:pPr>
            <a:r>
              <a:rPr lang="en-US"/>
              <a:t>Additional information if needed</a:t>
            </a:r>
          </a:p>
        </p:txBody>
      </p:sp>
      <p:sp>
        <p:nvSpPr>
          <p:cNvPr id="12" name="Text Placeholder 11">
            <a:extLst>
              <a:ext uri="{FF2B5EF4-FFF2-40B4-BE49-F238E27FC236}">
                <a16:creationId xmlns:a16="http://schemas.microsoft.com/office/drawing/2014/main" id="{C7C1E554-861B-49F4-AA38-891CFFC9B9FC}"/>
              </a:ext>
            </a:extLst>
          </p:cNvPr>
          <p:cNvSpPr>
            <a:spLocks noGrp="1"/>
          </p:cNvSpPr>
          <p:nvPr>
            <p:ph type="body" sz="quarter" idx="14" hasCustomPrompt="1"/>
          </p:nvPr>
        </p:nvSpPr>
        <p:spPr>
          <a:xfrm>
            <a:off x="723903" y="400053"/>
            <a:ext cx="16935450" cy="9505950"/>
          </a:xfrm>
        </p:spPr>
        <p:txBody>
          <a:bodyPr lIns="0"/>
          <a:lstStyle>
            <a:lvl1pPr marL="0" indent="0">
              <a:buFont typeface="Arial" panose="020B0604020202020204" pitchFamily="34" charset="0"/>
              <a:buNone/>
              <a:defRPr lang="en-US" sz="13400" kern="1200" dirty="0">
                <a:ln w="38100">
                  <a:noFill/>
                </a:ln>
                <a:solidFill>
                  <a:srgbClr val="EB0000"/>
                </a:solidFill>
                <a:latin typeface="+mj-lt"/>
                <a:ea typeface="+mj-ea"/>
                <a:cs typeface="+mj-cs"/>
              </a:defRPr>
            </a:lvl1pPr>
          </a:lstStyle>
          <a:p>
            <a:pPr marL="285750" lvl="0" indent="-285750" fontAlgn="b">
              <a:lnSpc>
                <a:spcPct val="112000"/>
              </a:lnSpc>
              <a:spcBef>
                <a:spcPct val="0"/>
              </a:spcBef>
            </a:pPr>
            <a:r>
              <a:rPr lang="en-US"/>
              <a:t>Callout slide</a:t>
            </a:r>
          </a:p>
        </p:txBody>
      </p:sp>
      <p:pic>
        <p:nvPicPr>
          <p:cNvPr id="11" name="Picture 10">
            <a:extLst>
              <a:ext uri="{FF2B5EF4-FFF2-40B4-BE49-F238E27FC236}">
                <a16:creationId xmlns:a16="http://schemas.microsoft.com/office/drawing/2014/main" id="{D4434CB0-2D97-49C4-9549-325F9A985CA1}"/>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3319155189"/>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731692-D7FB-43A5-9242-6381F710CEE4}"/>
              </a:ext>
            </a:extLst>
          </p:cNvPr>
          <p:cNvSpPr/>
          <p:nvPr userDrawn="1"/>
        </p:nvSpPr>
        <p:spPr bwMode="white">
          <a:xfrm>
            <a:off x="17945100" y="0"/>
            <a:ext cx="6438900" cy="13716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Content Placeholder 7">
            <a:extLst>
              <a:ext uri="{FF2B5EF4-FFF2-40B4-BE49-F238E27FC236}">
                <a16:creationId xmlns:a16="http://schemas.microsoft.com/office/drawing/2014/main" id="{6CA01019-F071-4E1A-99E8-170815F58D79}"/>
              </a:ext>
            </a:extLst>
          </p:cNvPr>
          <p:cNvSpPr>
            <a:spLocks noGrp="1"/>
          </p:cNvSpPr>
          <p:nvPr>
            <p:ph sz="quarter" idx="15" hasCustomPrompt="1"/>
          </p:nvPr>
        </p:nvSpPr>
        <p:spPr>
          <a:xfrm>
            <a:off x="18440399" y="628652"/>
            <a:ext cx="5238750" cy="12344400"/>
          </a:xfrm>
        </p:spPr>
        <p:txBody>
          <a:bodyPr lIns="0"/>
          <a:lstStyle>
            <a:lvl1pPr marL="0" indent="0">
              <a:lnSpc>
                <a:spcPct val="110000"/>
              </a:lnSpc>
              <a:buNone/>
              <a:defRPr sz="5200">
                <a:solidFill>
                  <a:schemeClr val="bg1"/>
                </a:solidFill>
              </a:defRPr>
            </a:lvl1pPr>
            <a:lvl2pPr marL="566736" indent="0">
              <a:buNone/>
              <a:defRPr sz="5200">
                <a:solidFill>
                  <a:schemeClr val="bg1"/>
                </a:solidFill>
              </a:defRPr>
            </a:lvl2pPr>
            <a:lvl3pPr marL="1133474" indent="0">
              <a:buNone/>
              <a:defRPr sz="5200">
                <a:solidFill>
                  <a:schemeClr val="bg1"/>
                </a:solidFill>
              </a:defRPr>
            </a:lvl3pPr>
            <a:lvl4pPr marL="1700212" indent="0">
              <a:buNone/>
              <a:defRPr sz="5200">
                <a:solidFill>
                  <a:schemeClr val="bg1"/>
                </a:solidFill>
              </a:defRPr>
            </a:lvl4pPr>
            <a:lvl5pPr marL="2266950" indent="0">
              <a:buNone/>
              <a:defRPr sz="5200">
                <a:solidFill>
                  <a:schemeClr val="bg1"/>
                </a:solidFill>
              </a:defRPr>
            </a:lvl5pPr>
          </a:lstStyle>
          <a:p>
            <a:pPr lvl="0"/>
            <a:r>
              <a:rPr lang="en-US"/>
              <a:t>Additional information if needed</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hasCustomPrompt="1"/>
          </p:nvPr>
        </p:nvSpPr>
        <p:spPr>
          <a:xfrm>
            <a:off x="585219" y="393192"/>
            <a:ext cx="17192098" cy="10488628"/>
          </a:xfrm>
          <a:ln w="12700">
            <a:noFill/>
          </a:ln>
        </p:spPr>
        <p:txBody>
          <a:bodyPr vert="horz" lIns="0" tIns="0" rIns="0" bIns="0" rtlCol="0" anchor="t" anchorCtr="0">
            <a:noAutofit/>
          </a:bodyPr>
          <a:lstStyle>
            <a:lvl1pPr marL="0" indent="0">
              <a:buNone/>
              <a:defRPr lang="en-US" sz="13400" i="1" dirty="0">
                <a:ln w="38100">
                  <a:noFill/>
                </a:ln>
                <a:solidFill>
                  <a:srgbClr val="EB0000"/>
                </a:solidFill>
                <a:latin typeface="+mj-lt"/>
                <a:ea typeface="+mj-ea"/>
                <a:cs typeface="+mj-cs"/>
              </a:defRPr>
            </a:lvl1pPr>
          </a:lstStyle>
          <a:p>
            <a:pPr marL="285750" lvl="0" indent="-285750" fontAlgn="b">
              <a:lnSpc>
                <a:spcPct val="112000"/>
              </a:lnSpc>
              <a:spcBef>
                <a:spcPct val="0"/>
              </a:spcBef>
            </a:pPr>
            <a:r>
              <a:rPr lang="en-US"/>
              <a:t>“Quote” slide</a:t>
            </a:r>
          </a:p>
        </p:txBody>
      </p:sp>
      <p:sp>
        <p:nvSpPr>
          <p:cNvPr id="6" name="Text Placeholder 5">
            <a:extLst>
              <a:ext uri="{FF2B5EF4-FFF2-40B4-BE49-F238E27FC236}">
                <a16:creationId xmlns:a16="http://schemas.microsoft.com/office/drawing/2014/main" id="{3044BCD3-75F2-9749-A1BD-AE47F442AD56}"/>
              </a:ext>
            </a:extLst>
          </p:cNvPr>
          <p:cNvSpPr>
            <a:spLocks noGrp="1"/>
          </p:cNvSpPr>
          <p:nvPr>
            <p:ph type="body" sz="quarter" idx="14" hasCustomPrompt="1"/>
          </p:nvPr>
        </p:nvSpPr>
        <p:spPr>
          <a:xfrm>
            <a:off x="690774" y="10814036"/>
            <a:ext cx="17106900" cy="800100"/>
          </a:xfrm>
        </p:spPr>
        <p:txBody>
          <a:bodyPr vert="horz" lIns="0" tIns="0" rIns="0" bIns="0" rtlCol="0">
            <a:noAutofit/>
          </a:bodyPr>
          <a:lstStyle>
            <a:lvl1pPr marL="0" indent="0">
              <a:buNone/>
              <a:defRPr lang="en-US" sz="3600" smtClean="0">
                <a:solidFill>
                  <a:schemeClr val="tx1"/>
                </a:solidFill>
              </a:defRPr>
            </a:lvl1pPr>
            <a:lvl2pPr>
              <a:defRPr lang="en-US" smtClean="0"/>
            </a:lvl2pPr>
            <a:lvl3pPr>
              <a:defRPr lang="en-US" smtClean="0"/>
            </a:lvl3pPr>
            <a:lvl4pPr>
              <a:defRPr lang="en-US" smtClean="0"/>
            </a:lvl4pPr>
            <a:lvl5pPr>
              <a:defRPr lang="en-US"/>
            </a:lvl5pPr>
          </a:lstStyle>
          <a:p>
            <a:pPr marL="285750" lvl="0" indent="-285750"/>
            <a:r>
              <a:rPr lang="en-US"/>
              <a:t>Quote Source (Name)</a:t>
            </a:r>
          </a:p>
        </p:txBody>
      </p:sp>
      <p:pic>
        <p:nvPicPr>
          <p:cNvPr id="9" name="Picture 8">
            <a:extLst>
              <a:ext uri="{FF2B5EF4-FFF2-40B4-BE49-F238E27FC236}">
                <a16:creationId xmlns:a16="http://schemas.microsoft.com/office/drawing/2014/main" id="{841E7A66-D870-4C1E-9E6E-1A17919A41F5}"/>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632352101"/>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showMasterSp="0" preserve="1" userDrawn="1">
  <p:cSld name="Single Column - Re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10" name="Freeform 5">
            <a:extLst>
              <a:ext uri="{FF2B5EF4-FFF2-40B4-BE49-F238E27FC236}">
                <a16:creationId xmlns:a16="http://schemas.microsoft.com/office/drawing/2014/main" id="{E1422F4A-F341-4586-A8F8-46D4C7276617}"/>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4027834419"/>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preserve="1" userDrawn="1">
  <p:cSld name="Three Quarters Image Slide">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9" name="Freeform 5">
            <a:extLst>
              <a:ext uri="{FF2B5EF4-FFF2-40B4-BE49-F238E27FC236}">
                <a16:creationId xmlns:a16="http://schemas.microsoft.com/office/drawing/2014/main" id="{B5845AAA-BED0-4398-B713-72768175EACE}"/>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59542390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preserve="1" userDrawn="1">
  <p:cSld name="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12192000" cy="6858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bwMode="white">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a:ln>
            <a:noFill/>
          </a:ln>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1" y="7127210"/>
            <a:ext cx="5216526" cy="786384"/>
          </a:xfrm>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786384"/>
          </a:xfrm>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786384"/>
          </a:xfrm>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4"/>
            <a:ext cx="5208456" cy="474398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7"/>
            <a:ext cx="521104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09" y="7822157"/>
            <a:ext cx="520933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09" y="7822157"/>
            <a:ext cx="520933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23" name="Picture 22">
            <a:extLst>
              <a:ext uri="{FF2B5EF4-FFF2-40B4-BE49-F238E27FC236}">
                <a16:creationId xmlns:a16="http://schemas.microsoft.com/office/drawing/2014/main" id="{A5EF6E62-49B7-4648-BD94-6E22AA138C49}"/>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077659975"/>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preserve="1" userDrawn="1">
  <p:cSld name="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12192000" cy="3810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bwMode="white">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7" name="Picture 16">
            <a:extLst>
              <a:ext uri="{FF2B5EF4-FFF2-40B4-BE49-F238E27FC236}">
                <a16:creationId xmlns:a16="http://schemas.microsoft.com/office/drawing/2014/main" id="{003C9149-C5DE-41D7-AA30-BF91FED573C2}"/>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3241336799"/>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preserve="1" userDrawn="1">
  <p:cSld name="Half Image Slide">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2276856"/>
          </a:xfrm>
        </p:spPr>
        <p:txBody>
          <a:bodyPr vert="horz" lIns="0" tIns="0" rIns="0" bIns="0" rtlCol="0">
            <a:noAutofit/>
          </a:bodyPr>
          <a:lstStyle>
            <a:lvl1pPr marL="22226" indent="-22226" algn="l">
              <a:buFontTx/>
              <a:buNone/>
              <a:tabLst/>
              <a:defRPr lang="en-US" sz="3800" dirty="0">
                <a:ln w="3175">
                  <a:noFill/>
                </a:ln>
                <a:solidFill>
                  <a:schemeClr val="bg1"/>
                </a:solidFill>
              </a:defRPr>
            </a:lvl1pPr>
          </a:lstStyle>
          <a:p>
            <a:pPr marL="285750" lvl="0" indent="-285750" fontAlgn="base"/>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5737226"/>
          </a:xfrm>
        </p:spPr>
        <p:txBody>
          <a:bodyPr lIns="0"/>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sp>
        <p:nvSpPr>
          <p:cNvPr id="12" name="Freeform 5">
            <a:extLst>
              <a:ext uri="{FF2B5EF4-FFF2-40B4-BE49-F238E27FC236}">
                <a16:creationId xmlns:a16="http://schemas.microsoft.com/office/drawing/2014/main" id="{D54D659C-D8FD-4F93-8C77-B8A55AFB2AE7}"/>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334872985"/>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preserve="1" userDrawn="1">
  <p:cSld name="Half Image Slide 2">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2276856"/>
          </a:xfrm>
        </p:spPr>
        <p:txBody>
          <a:bodyPr vert="horz" lIns="0" tIns="0" rIns="0" bIns="0" rtlCol="0">
            <a:no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3062106"/>
          </a:xfrm>
        </p:spPr>
        <p:txBody>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5737226"/>
          </a:xfrm>
        </p:spPr>
        <p:txBody>
          <a:bodyPr lIns="0"/>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1">
            <a:extLst>
              <a:ext uri="{FF2B5EF4-FFF2-40B4-BE49-F238E27FC236}">
                <a16:creationId xmlns:a16="http://schemas.microsoft.com/office/drawing/2014/main" id="{D6180987-34BC-BB49-BF99-2ACD33B56FF7}"/>
              </a:ext>
            </a:extLst>
          </p:cNvPr>
          <p:cNvSpPr>
            <a:spLocks noGrp="1"/>
          </p:cNvSpPr>
          <p:nvPr>
            <p:ph type="ftr" sz="quarter" idx="16"/>
          </p:nvPr>
        </p:nvSpPr>
        <p:spPr/>
        <p:txBody>
          <a:bodyPr/>
          <a:lstStyle>
            <a:lvl1pPr>
              <a:defRPr>
                <a:solidFill>
                  <a:schemeClr val="bg1"/>
                </a:solidFill>
              </a:defRPr>
            </a:lvl1pPr>
          </a:lstStyle>
          <a:p>
            <a:endParaRPr lang="en-US"/>
          </a:p>
        </p:txBody>
      </p:sp>
      <p:sp>
        <p:nvSpPr>
          <p:cNvPr id="11" name="Freeform 5">
            <a:extLst>
              <a:ext uri="{FF2B5EF4-FFF2-40B4-BE49-F238E27FC236}">
                <a16:creationId xmlns:a16="http://schemas.microsoft.com/office/drawing/2014/main" id="{E2A96162-D306-4576-A5C2-48AEDBC2AE86}"/>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1814256617"/>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preserve="1" userDrawn="1">
  <p:cSld name="Half Image Slide 3">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276856"/>
          </a:xfrm>
        </p:spPr>
        <p:txBody>
          <a:bodyPr vert="horz" lIns="0" tIns="0" rIns="0" bIns="0" rtlCol="0">
            <a:no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12353544"/>
          </a:xfrm>
        </p:spPr>
        <p:txBody>
          <a:bodyPr vert="horz" lIns="0" tIns="0" rIns="0" bIns="0" rtlCol="0">
            <a:noAutofit/>
          </a:bodyPr>
          <a:lstStyle>
            <a:lvl1pPr marL="285750" marR="0" indent="-285750"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0" name="Freeform 5">
            <a:extLst>
              <a:ext uri="{FF2B5EF4-FFF2-40B4-BE49-F238E27FC236}">
                <a16:creationId xmlns:a16="http://schemas.microsoft.com/office/drawing/2014/main" id="{DE5BFC79-186A-4929-B2E7-4CC5D37CF893}"/>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075859536"/>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preserve="1" userDrawn="1">
  <p:cSld name="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tx2"/>
          </a:solidFill>
          <a:ln w="12700">
            <a:noFill/>
          </a:ln>
        </p:spPr>
        <p:txBody>
          <a:bodyPr vert="horz" lIns="182880" tIns="91440" rIns="182880"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10" name="Content Placeholder 4">
            <a:extLst>
              <a:ext uri="{FF2B5EF4-FFF2-40B4-BE49-F238E27FC236}">
                <a16:creationId xmlns:a16="http://schemas.microsoft.com/office/drawing/2014/main" id="{31751B68-E87A-4B97-835D-658C3BACD65D}"/>
              </a:ext>
            </a:extLst>
          </p:cNvPr>
          <p:cNvSpPr>
            <a:spLocks noGrp="1"/>
          </p:cNvSpPr>
          <p:nvPr>
            <p:ph sz="quarter" idx="13"/>
          </p:nvPr>
        </p:nvSpPr>
        <p:spPr>
          <a:xfrm>
            <a:off x="6477000" y="4800600"/>
            <a:ext cx="5715000" cy="4114800"/>
          </a:xfrm>
          <a:solidFill>
            <a:schemeClr val="bg1"/>
          </a:solidFill>
        </p:spPr>
        <p:txBody>
          <a:bodyPr tIns="137160" rIns="18288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reeform 5">
            <a:extLst>
              <a:ext uri="{FF2B5EF4-FFF2-40B4-BE49-F238E27FC236}">
                <a16:creationId xmlns:a16="http://schemas.microsoft.com/office/drawing/2014/main" id="{2943A067-BA21-420F-B462-83F14269CE4A}"/>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656471372"/>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showMasterSp="0" preserve="1" userDrawn="1">
  <p:cSld name="5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8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slide to add picture</a:t>
            </a:r>
          </a:p>
          <a:p>
            <a:endParaRPr lang="en-US"/>
          </a:p>
          <a:p>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88952" y="731520"/>
            <a:ext cx="5756148" cy="4069080"/>
          </a:xfrm>
          <a:solidFill>
            <a:schemeClr val="tx2"/>
          </a:solidFill>
          <a:ln w="12700">
            <a:noFill/>
          </a:ln>
        </p:spPr>
        <p:txBody>
          <a:bodyPr vert="horz" lIns="182880" tIns="91440" rIns="182880"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10" name="Content Placeholder 4">
            <a:extLst>
              <a:ext uri="{FF2B5EF4-FFF2-40B4-BE49-F238E27FC236}">
                <a16:creationId xmlns:a16="http://schemas.microsoft.com/office/drawing/2014/main" id="{53601784-4D78-4579-A49D-1EDD743CA563}"/>
              </a:ext>
            </a:extLst>
          </p:cNvPr>
          <p:cNvSpPr>
            <a:spLocks noGrp="1"/>
          </p:cNvSpPr>
          <p:nvPr>
            <p:ph sz="quarter" idx="13"/>
          </p:nvPr>
        </p:nvSpPr>
        <p:spPr>
          <a:xfrm>
            <a:off x="17945100" y="4800600"/>
            <a:ext cx="5715000" cy="4114800"/>
          </a:xfrm>
          <a:solidFill>
            <a:schemeClr val="bg1"/>
          </a:solidFill>
        </p:spPr>
        <p:txBody>
          <a:bodyPr tIns="137160" rIns="18288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reeform 5">
            <a:extLst>
              <a:ext uri="{FF2B5EF4-FFF2-40B4-BE49-F238E27FC236}">
                <a16:creationId xmlns:a16="http://schemas.microsoft.com/office/drawing/2014/main" id="{D263A39B-32BF-4C6F-BD0D-5E8D082789DB}"/>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751463114"/>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showMasterSp="0" preserve="1" userDrawn="1">
  <p:cSld name="Single Column - Pur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10" name="Freeform 5">
            <a:extLst>
              <a:ext uri="{FF2B5EF4-FFF2-40B4-BE49-F238E27FC236}">
                <a16:creationId xmlns:a16="http://schemas.microsoft.com/office/drawing/2014/main" id="{B4752C1F-6E8C-435A-BAC0-434144BBAEC8}"/>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001993295"/>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preserve="1" userDrawn="1">
  <p:cSld name="1_Three Quarters Image Slide">
    <p:bg>
      <p:bgPr>
        <a:solidFill>
          <a:schemeClr val="accent2"/>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974D1DD3-642B-4C79-A73C-241B70A94F6C}"/>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9" name="Freeform 5">
            <a:extLst>
              <a:ext uri="{FF2B5EF4-FFF2-40B4-BE49-F238E27FC236}">
                <a16:creationId xmlns:a16="http://schemas.microsoft.com/office/drawing/2014/main" id="{E62B4C78-B914-4446-A66F-140BF3BF0639}"/>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428919294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showMasterSp="0" preserve="1" userDrawn="1">
  <p:cSld name="1_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121920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7823205"/>
            <a:ext cx="5208456" cy="5103714"/>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bwMode="white">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p:spPr>
        <p:txBody>
          <a:bodyPr vert="horz" lIns="0" tIns="0" rIns="0" bIns="0" rtlCol="0">
            <a:no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7127210"/>
            <a:ext cx="5216526"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7127210"/>
            <a:ext cx="5216614"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7127210"/>
            <a:ext cx="5216644"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80" y="7805568"/>
            <a:ext cx="521104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Freeform 5">
            <a:extLst>
              <a:ext uri="{FF2B5EF4-FFF2-40B4-BE49-F238E27FC236}">
                <a16:creationId xmlns:a16="http://schemas.microsoft.com/office/drawing/2014/main" id="{BE21847E-13F4-4E38-8691-D656AF93AA4A}"/>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tx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1873922581"/>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showMasterSp="0" preserve="1" userDrawn="1">
  <p:cSld name="1_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12192000" cy="381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bwMode="white">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Freeform 5">
            <a:extLst>
              <a:ext uri="{FF2B5EF4-FFF2-40B4-BE49-F238E27FC236}">
                <a16:creationId xmlns:a16="http://schemas.microsoft.com/office/drawing/2014/main" id="{22BED7DB-D222-46CF-9B99-F1C631E2EF7F}"/>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tx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902213455"/>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preserve="1" userDrawn="1">
  <p:cSld name="2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accent2"/>
          </a:solidFill>
          <a:ln w="12700">
            <a:noFill/>
          </a:ln>
        </p:spPr>
        <p:txBody>
          <a:bodyPr vert="horz" lIns="182880" tIns="91440" rIns="182880"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10" name="Content Placeholder 4">
            <a:extLst>
              <a:ext uri="{FF2B5EF4-FFF2-40B4-BE49-F238E27FC236}">
                <a16:creationId xmlns:a16="http://schemas.microsoft.com/office/drawing/2014/main" id="{6A2D20C4-66D0-4CE2-8BD3-9DDCFA49A2E1}"/>
              </a:ext>
            </a:extLst>
          </p:cNvPr>
          <p:cNvSpPr>
            <a:spLocks noGrp="1"/>
          </p:cNvSpPr>
          <p:nvPr>
            <p:ph sz="quarter" idx="13"/>
          </p:nvPr>
        </p:nvSpPr>
        <p:spPr>
          <a:xfrm>
            <a:off x="6477000" y="4800600"/>
            <a:ext cx="5715000" cy="4114800"/>
          </a:xfrm>
          <a:solidFill>
            <a:schemeClr val="bg1"/>
          </a:solidFill>
        </p:spPr>
        <p:txBody>
          <a:bodyPr tIns="137160" rIns="18288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reeform 5">
            <a:extLst>
              <a:ext uri="{FF2B5EF4-FFF2-40B4-BE49-F238E27FC236}">
                <a16:creationId xmlns:a16="http://schemas.microsoft.com/office/drawing/2014/main" id="{31A78552-D992-4658-BA5E-E928AC9D8C8B}"/>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1821704872"/>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showMasterSp="0" preserve="1" userDrawn="1">
  <p:cSld name="6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92000" y="731520"/>
            <a:ext cx="5756148" cy="4069080"/>
          </a:xfrm>
          <a:solidFill>
            <a:schemeClr val="accent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10" name="Content Placeholder 4">
            <a:extLst>
              <a:ext uri="{FF2B5EF4-FFF2-40B4-BE49-F238E27FC236}">
                <a16:creationId xmlns:a16="http://schemas.microsoft.com/office/drawing/2014/main" id="{01DF4AB6-0CA0-4F6F-A402-D64FFDDB2FD6}"/>
              </a:ext>
            </a:extLst>
          </p:cNvPr>
          <p:cNvSpPr>
            <a:spLocks noGrp="1"/>
          </p:cNvSpPr>
          <p:nvPr>
            <p:ph sz="quarter" idx="13"/>
          </p:nvPr>
        </p:nvSpPr>
        <p:spPr>
          <a:xfrm>
            <a:off x="17945100" y="4800600"/>
            <a:ext cx="5715000" cy="4114800"/>
          </a:xfrm>
          <a:solidFill>
            <a:schemeClr val="bg1"/>
          </a:solidFill>
        </p:spPr>
        <p:txBody>
          <a:bodyPr tIns="137160" rIns="18288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reeform 5">
            <a:extLst>
              <a:ext uri="{FF2B5EF4-FFF2-40B4-BE49-F238E27FC236}">
                <a16:creationId xmlns:a16="http://schemas.microsoft.com/office/drawing/2014/main" id="{7AB3128C-224A-4FCF-B9C8-5AC4ED524CB1}"/>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3064527129"/>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showMasterSp="0" preserve="1" userDrawn="1">
  <p:cSld name="Single Column - Blu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18288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10" name="Text Placeholder 2">
            <a:extLst>
              <a:ext uri="{FF2B5EF4-FFF2-40B4-BE49-F238E27FC236}">
                <a16:creationId xmlns:a16="http://schemas.microsoft.com/office/drawing/2014/main" id="{D4D50CFA-DD46-479A-871F-605CCAC6B671}"/>
              </a:ext>
            </a:extLst>
          </p:cNvPr>
          <p:cNvSpPr>
            <a:spLocks noGrp="1"/>
          </p:cNvSpPr>
          <p:nvPr>
            <p:ph idx="1"/>
          </p:nvPr>
        </p:nvSpPr>
        <p:spPr>
          <a:xfrm>
            <a:off x="6477003" y="624971"/>
            <a:ext cx="17160602" cy="12350774"/>
          </a:xfrm>
          <a:prstGeom prst="rect">
            <a:avLst/>
          </a:prstGeom>
        </p:spPr>
        <p:txBody>
          <a:bodyPr vert="horz" lIns="18288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Freeform 5">
            <a:extLst>
              <a:ext uri="{FF2B5EF4-FFF2-40B4-BE49-F238E27FC236}">
                <a16:creationId xmlns:a16="http://schemas.microsoft.com/office/drawing/2014/main" id="{9805233A-26E2-42B0-A929-15D77E5D60AD}"/>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102442860"/>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preserve="1" userDrawn="1">
  <p:cSld name="2_Three Quarters Image Slide">
    <p:bg>
      <p:bgPr>
        <a:solidFill>
          <a:schemeClr val="accent4"/>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1AB88C6D-9DCE-4D28-A76A-5515295E496A}"/>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9" name="Freeform 5">
            <a:extLst>
              <a:ext uri="{FF2B5EF4-FFF2-40B4-BE49-F238E27FC236}">
                <a16:creationId xmlns:a16="http://schemas.microsoft.com/office/drawing/2014/main" id="{2462C2CF-31F5-416E-BCB4-4A82A49459DE}"/>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1034607325"/>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showMasterSp="0" preserve="1" userDrawn="1">
  <p:cSld name="2_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12192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7823205"/>
            <a:ext cx="5208456" cy="5103714"/>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bwMode="white">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7127210"/>
            <a:ext cx="5216526"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7127210"/>
            <a:ext cx="5064874"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7127210"/>
            <a:ext cx="5216644"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7822154"/>
            <a:ext cx="521104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7822154"/>
            <a:ext cx="5057810"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Freeform 5">
            <a:extLst>
              <a:ext uri="{FF2B5EF4-FFF2-40B4-BE49-F238E27FC236}">
                <a16:creationId xmlns:a16="http://schemas.microsoft.com/office/drawing/2014/main" id="{79D19EE4-D3FD-46BD-90D3-24A8C4336495}"/>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tx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970595080"/>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showMasterSp="0" preserve="1" userDrawn="1">
  <p:cSld name="2_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12192000" cy="381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bwMode="white">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800" kern="1200" dirty="0">
                <a:ln w="3175">
                  <a:noFill/>
                </a:ln>
                <a:solidFill>
                  <a:schemeClr val="tx2"/>
                </a:solidFill>
                <a:latin typeface="+mn-lt"/>
                <a:ea typeface="+mn-ea"/>
                <a:cs typeface="+mn-cs"/>
              </a:defRPr>
            </a:lvl1pPr>
          </a:lstStyle>
          <a:p>
            <a:pPr marL="0" lvl="0" indent="0" algn="l" defTabSz="1828800" rtl="0" eaLnBrk="1" fontAlgn="base" latinLnBrk="0" hangingPunct="1">
              <a:lnSpc>
                <a:spcPct val="100000"/>
              </a:lnSpc>
              <a:spcBef>
                <a:spcPts val="0"/>
              </a:spcBef>
              <a:spcAft>
                <a:spcPts val="3000"/>
              </a:spcAft>
              <a:buClr>
                <a:schemeClr val="tx2"/>
              </a:buClr>
              <a:buFont typeface="Arial" panose="020B0604020202020204" pitchFamily="34" charset="0"/>
              <a:buNone/>
            </a:pPr>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Freeform 5">
            <a:extLst>
              <a:ext uri="{FF2B5EF4-FFF2-40B4-BE49-F238E27FC236}">
                <a16:creationId xmlns:a16="http://schemas.microsoft.com/office/drawing/2014/main" id="{8FBD6D32-C64B-4DE4-BF37-7CF847BA88C8}"/>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tx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3400645100"/>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preserve="1" userDrawn="1">
  <p:cSld name="3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accent4"/>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10" name="Content Placeholder 4">
            <a:extLst>
              <a:ext uri="{FF2B5EF4-FFF2-40B4-BE49-F238E27FC236}">
                <a16:creationId xmlns:a16="http://schemas.microsoft.com/office/drawing/2014/main" id="{B3DF85A6-1AD2-4BCB-AAB5-75DBE64F6165}"/>
              </a:ext>
            </a:extLst>
          </p:cNvPr>
          <p:cNvSpPr>
            <a:spLocks noGrp="1"/>
          </p:cNvSpPr>
          <p:nvPr>
            <p:ph sz="quarter" idx="13"/>
          </p:nvPr>
        </p:nvSpPr>
        <p:spPr>
          <a:xfrm>
            <a:off x="6477000" y="4800600"/>
            <a:ext cx="5715000" cy="4114800"/>
          </a:xfrm>
          <a:solidFill>
            <a:schemeClr val="bg1"/>
          </a:solidFill>
        </p:spPr>
        <p:txBody>
          <a:bodyPr tIns="137160" rIns="18288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reeform 5">
            <a:extLst>
              <a:ext uri="{FF2B5EF4-FFF2-40B4-BE49-F238E27FC236}">
                <a16:creationId xmlns:a16="http://schemas.microsoft.com/office/drawing/2014/main" id="{95EB7D96-D7B0-4CDD-8226-A5B6926114B1}"/>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82664935"/>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preserve="1" userDrawn="1">
  <p:cSld name="7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88952" y="731520"/>
            <a:ext cx="5756148" cy="4069080"/>
          </a:xfrm>
          <a:solidFill>
            <a:schemeClr val="accent4"/>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10" name="Content Placeholder 4">
            <a:extLst>
              <a:ext uri="{FF2B5EF4-FFF2-40B4-BE49-F238E27FC236}">
                <a16:creationId xmlns:a16="http://schemas.microsoft.com/office/drawing/2014/main" id="{DE114E42-B9CD-419F-AF34-28A5B96009CA}"/>
              </a:ext>
            </a:extLst>
          </p:cNvPr>
          <p:cNvSpPr>
            <a:spLocks noGrp="1"/>
          </p:cNvSpPr>
          <p:nvPr>
            <p:ph sz="quarter" idx="13"/>
          </p:nvPr>
        </p:nvSpPr>
        <p:spPr>
          <a:xfrm>
            <a:off x="17945100" y="4800600"/>
            <a:ext cx="5715000" cy="4114800"/>
          </a:xfrm>
          <a:solidFill>
            <a:schemeClr val="bg1"/>
          </a:solidFill>
        </p:spPr>
        <p:txBody>
          <a:bodyPr tIns="137160" rIns="18288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reeform 5">
            <a:extLst>
              <a:ext uri="{FF2B5EF4-FFF2-40B4-BE49-F238E27FC236}">
                <a16:creationId xmlns:a16="http://schemas.microsoft.com/office/drawing/2014/main" id="{58B04D86-084D-4319-96B9-CA48FBCF4170}"/>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4284184690"/>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type="tx">
  <p:cSld name="White Blank No Logo">
    <p:spTree>
      <p:nvGrpSpPr>
        <p:cNvPr id="1" name=""/>
        <p:cNvGrpSpPr/>
        <p:nvPr/>
      </p:nvGrpSpPr>
      <p:grpSpPr>
        <a:xfrm>
          <a:off x="0" y="0"/>
          <a:ext cx="0" cy="0"/>
          <a:chOff x="0" y="0"/>
          <a:chExt cx="0" cy="0"/>
        </a:xfrm>
      </p:grpSpPr>
      <p:sp>
        <p:nvSpPr>
          <p:cNvPr id="877" name="Rectangle"/>
          <p:cNvSpPr/>
          <p:nvPr/>
        </p:nvSpPr>
        <p:spPr>
          <a:xfrm>
            <a:off x="-1343783" y="-1"/>
            <a:ext cx="1119822" cy="537826"/>
          </a:xfrm>
          <a:prstGeom prst="rect">
            <a:avLst/>
          </a:prstGeom>
          <a:solidFill>
            <a:srgbClr val="C40022"/>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78" name="Rectangle"/>
          <p:cNvSpPr/>
          <p:nvPr/>
        </p:nvSpPr>
        <p:spPr>
          <a:xfrm>
            <a:off x="-1343783" y="537825"/>
            <a:ext cx="1119822" cy="537826"/>
          </a:xfrm>
          <a:prstGeom prst="rect">
            <a:avLst/>
          </a:prstGeom>
          <a:solidFill>
            <a:srgbClr val="9C00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79" name="Rectangle"/>
          <p:cNvSpPr/>
          <p:nvPr/>
        </p:nvSpPr>
        <p:spPr>
          <a:xfrm>
            <a:off x="-1343783" y="1075649"/>
            <a:ext cx="1119822" cy="537826"/>
          </a:xfrm>
          <a:prstGeom prst="rect">
            <a:avLst/>
          </a:prstGeom>
          <a:solidFill>
            <a:srgbClr val="7400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0" name="Rectangle"/>
          <p:cNvSpPr/>
          <p:nvPr/>
        </p:nvSpPr>
        <p:spPr>
          <a:xfrm>
            <a:off x="-1343783" y="1613473"/>
            <a:ext cx="1119822" cy="537826"/>
          </a:xfrm>
          <a:prstGeom prst="rect">
            <a:avLst/>
          </a:prstGeom>
          <a:solidFill>
            <a:srgbClr val="C4C8CE"/>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1" name="Rectangle"/>
          <p:cNvSpPr/>
          <p:nvPr/>
        </p:nvSpPr>
        <p:spPr>
          <a:xfrm>
            <a:off x="-1343783" y="2151297"/>
            <a:ext cx="1119822" cy="537826"/>
          </a:xfrm>
          <a:prstGeom prst="rect">
            <a:avLst/>
          </a:prstGeom>
          <a:solidFill>
            <a:srgbClr val="6A6E74"/>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2" name="Rectangle"/>
          <p:cNvSpPr/>
          <p:nvPr/>
        </p:nvSpPr>
        <p:spPr>
          <a:xfrm>
            <a:off x="-1343783" y="2689121"/>
            <a:ext cx="1119822" cy="537826"/>
          </a:xfrm>
          <a:prstGeom prst="rect">
            <a:avLst/>
          </a:prstGeom>
          <a:solidFill>
            <a:srgbClr val="383C42"/>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3" name="Rectangle"/>
          <p:cNvSpPr/>
          <p:nvPr/>
        </p:nvSpPr>
        <p:spPr>
          <a:xfrm>
            <a:off x="-1343783" y="3226945"/>
            <a:ext cx="1119822" cy="537826"/>
          </a:xfrm>
          <a:prstGeom prst="rect">
            <a:avLst/>
          </a:prstGeom>
          <a:solidFill>
            <a:srgbClr val="1AE9EF"/>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4" name="Rectangle"/>
          <p:cNvSpPr/>
          <p:nvPr/>
        </p:nvSpPr>
        <p:spPr>
          <a:xfrm>
            <a:off x="-1343783" y="3764769"/>
            <a:ext cx="1119822" cy="537826"/>
          </a:xfrm>
          <a:prstGeom prst="rect">
            <a:avLst/>
          </a:prstGeom>
          <a:solidFill>
            <a:srgbClr val="0DCFD9"/>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5" name="Rectangle"/>
          <p:cNvSpPr/>
          <p:nvPr/>
        </p:nvSpPr>
        <p:spPr>
          <a:xfrm>
            <a:off x="-1343783" y="4302593"/>
            <a:ext cx="1119822" cy="537826"/>
          </a:xfrm>
          <a:prstGeom prst="rect">
            <a:avLst/>
          </a:prstGeom>
          <a:solidFill>
            <a:srgbClr val="00B4C3"/>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6" name="Rectangle"/>
          <p:cNvSpPr/>
          <p:nvPr/>
        </p:nvSpPr>
        <p:spPr>
          <a:xfrm>
            <a:off x="-1343783" y="4840417"/>
            <a:ext cx="1119822" cy="537826"/>
          </a:xfrm>
          <a:prstGeom prst="rect">
            <a:avLst/>
          </a:prstGeom>
          <a:solidFill>
            <a:srgbClr val="F6B1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7" name="Rectangle"/>
          <p:cNvSpPr/>
          <p:nvPr/>
        </p:nvSpPr>
        <p:spPr>
          <a:xfrm>
            <a:off x="-1343783" y="5378241"/>
            <a:ext cx="1119822" cy="537826"/>
          </a:xfrm>
          <a:prstGeom prst="rect">
            <a:avLst/>
          </a:prstGeom>
          <a:solidFill>
            <a:srgbClr val="F69D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8" name="Rectangle"/>
          <p:cNvSpPr/>
          <p:nvPr/>
        </p:nvSpPr>
        <p:spPr>
          <a:xfrm>
            <a:off x="-1343783" y="5916065"/>
            <a:ext cx="1119822" cy="537826"/>
          </a:xfrm>
          <a:prstGeom prst="rect">
            <a:avLst/>
          </a:prstGeom>
          <a:solidFill>
            <a:srgbClr val="F689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89" name="Rectangle"/>
          <p:cNvSpPr/>
          <p:nvPr/>
        </p:nvSpPr>
        <p:spPr>
          <a:xfrm>
            <a:off x="-1343783" y="6453889"/>
            <a:ext cx="1119822" cy="537826"/>
          </a:xfrm>
          <a:prstGeom prst="rect">
            <a:avLst/>
          </a:prstGeom>
          <a:solidFill>
            <a:srgbClr val="969CE6"/>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0" name="Rectangle"/>
          <p:cNvSpPr/>
          <p:nvPr/>
        </p:nvSpPr>
        <p:spPr>
          <a:xfrm>
            <a:off x="-1343787" y="6991713"/>
            <a:ext cx="1119822" cy="537826"/>
          </a:xfrm>
          <a:prstGeom prst="rect">
            <a:avLst/>
          </a:prstGeom>
          <a:solidFill>
            <a:srgbClr val="8A8BD4"/>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1" name="Rectangle"/>
          <p:cNvSpPr/>
          <p:nvPr/>
        </p:nvSpPr>
        <p:spPr>
          <a:xfrm>
            <a:off x="-1343787" y="7529537"/>
            <a:ext cx="1119822" cy="537826"/>
          </a:xfrm>
          <a:prstGeom prst="rect">
            <a:avLst/>
          </a:prstGeom>
          <a:solidFill>
            <a:srgbClr val="7D79C3"/>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2" name="Rectangle"/>
          <p:cNvSpPr/>
          <p:nvPr/>
        </p:nvSpPr>
        <p:spPr>
          <a:xfrm>
            <a:off x="-1343783" y="8067361"/>
            <a:ext cx="1119822" cy="537826"/>
          </a:xfrm>
          <a:prstGeom prst="rect">
            <a:avLst/>
          </a:prstGeom>
          <a:solidFill>
            <a:srgbClr val="88CD78"/>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3" name="Rectangle"/>
          <p:cNvSpPr/>
          <p:nvPr/>
        </p:nvSpPr>
        <p:spPr>
          <a:xfrm>
            <a:off x="-1343787" y="8605185"/>
            <a:ext cx="1119822" cy="537826"/>
          </a:xfrm>
          <a:prstGeom prst="rect">
            <a:avLst/>
          </a:prstGeom>
          <a:solidFill>
            <a:srgbClr val="74B964"/>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4" name="Rectangle"/>
          <p:cNvSpPr/>
          <p:nvPr/>
        </p:nvSpPr>
        <p:spPr>
          <a:xfrm>
            <a:off x="-1343787" y="9143009"/>
            <a:ext cx="1119822" cy="537826"/>
          </a:xfrm>
          <a:prstGeom prst="rect">
            <a:avLst/>
          </a:prstGeom>
          <a:solidFill>
            <a:srgbClr val="60A55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5" name="Rectangle"/>
          <p:cNvSpPr/>
          <p:nvPr/>
        </p:nvSpPr>
        <p:spPr>
          <a:xfrm>
            <a:off x="24769783" y="-1"/>
            <a:ext cx="1119822" cy="537826"/>
          </a:xfrm>
          <a:prstGeom prst="rect">
            <a:avLst/>
          </a:prstGeom>
          <a:solidFill>
            <a:srgbClr val="C40022"/>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6" name="Rectangle"/>
          <p:cNvSpPr/>
          <p:nvPr/>
        </p:nvSpPr>
        <p:spPr>
          <a:xfrm>
            <a:off x="24769781" y="537825"/>
            <a:ext cx="1119822" cy="537826"/>
          </a:xfrm>
          <a:prstGeom prst="rect">
            <a:avLst/>
          </a:prstGeom>
          <a:solidFill>
            <a:srgbClr val="B0000E"/>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7" name="Rectangle"/>
          <p:cNvSpPr/>
          <p:nvPr/>
        </p:nvSpPr>
        <p:spPr>
          <a:xfrm>
            <a:off x="24769781" y="1075649"/>
            <a:ext cx="1119822" cy="537826"/>
          </a:xfrm>
          <a:prstGeom prst="rect">
            <a:avLst/>
          </a:prstGeom>
          <a:solidFill>
            <a:srgbClr val="9C00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8" name="Rectangle"/>
          <p:cNvSpPr/>
          <p:nvPr/>
        </p:nvSpPr>
        <p:spPr>
          <a:xfrm>
            <a:off x="24769783" y="1613473"/>
            <a:ext cx="1119822" cy="537826"/>
          </a:xfrm>
          <a:prstGeom prst="rect">
            <a:avLst/>
          </a:prstGeom>
          <a:solidFill>
            <a:srgbClr val="8800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899" name="Rectangle"/>
          <p:cNvSpPr/>
          <p:nvPr/>
        </p:nvSpPr>
        <p:spPr>
          <a:xfrm>
            <a:off x="24769781" y="2151297"/>
            <a:ext cx="1119822" cy="537826"/>
          </a:xfrm>
          <a:prstGeom prst="rect">
            <a:avLst/>
          </a:prstGeom>
          <a:solidFill>
            <a:srgbClr val="7400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0" name="Rectangle"/>
          <p:cNvSpPr/>
          <p:nvPr/>
        </p:nvSpPr>
        <p:spPr>
          <a:xfrm>
            <a:off x="24769781" y="2689121"/>
            <a:ext cx="1119822" cy="537826"/>
          </a:xfrm>
          <a:prstGeom prst="rect">
            <a:avLst/>
          </a:prstGeom>
          <a:solidFill>
            <a:srgbClr val="ECF0F6"/>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1" name="Rectangle"/>
          <p:cNvSpPr/>
          <p:nvPr/>
        </p:nvSpPr>
        <p:spPr>
          <a:xfrm>
            <a:off x="24769781" y="3226945"/>
            <a:ext cx="1119822" cy="537826"/>
          </a:xfrm>
          <a:prstGeom prst="rect">
            <a:avLst/>
          </a:prstGeom>
          <a:solidFill>
            <a:srgbClr val="D8DCE2"/>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2" name="Rectangle"/>
          <p:cNvSpPr/>
          <p:nvPr/>
        </p:nvSpPr>
        <p:spPr>
          <a:xfrm>
            <a:off x="24769781" y="3764769"/>
            <a:ext cx="1119822" cy="537826"/>
          </a:xfrm>
          <a:prstGeom prst="rect">
            <a:avLst/>
          </a:prstGeom>
          <a:solidFill>
            <a:srgbClr val="C4C8CE"/>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3" name="Rectangle"/>
          <p:cNvSpPr/>
          <p:nvPr/>
        </p:nvSpPr>
        <p:spPr>
          <a:xfrm>
            <a:off x="24769781" y="4302593"/>
            <a:ext cx="1119822" cy="537826"/>
          </a:xfrm>
          <a:prstGeom prst="rect">
            <a:avLst/>
          </a:prstGeom>
          <a:solidFill>
            <a:srgbClr val="BABEC4"/>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4" name="Rectangle"/>
          <p:cNvSpPr/>
          <p:nvPr/>
        </p:nvSpPr>
        <p:spPr>
          <a:xfrm>
            <a:off x="24769781" y="4840417"/>
            <a:ext cx="1119822" cy="537826"/>
          </a:xfrm>
          <a:prstGeom prst="rect">
            <a:avLst/>
          </a:prstGeom>
          <a:solidFill>
            <a:srgbClr val="A6AAB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5" name="Rectangle"/>
          <p:cNvSpPr/>
          <p:nvPr/>
        </p:nvSpPr>
        <p:spPr>
          <a:xfrm>
            <a:off x="24769781" y="5378241"/>
            <a:ext cx="1119822" cy="537826"/>
          </a:xfrm>
          <a:prstGeom prst="rect">
            <a:avLst/>
          </a:prstGeom>
          <a:solidFill>
            <a:srgbClr val="92969C"/>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6" name="Rectangle"/>
          <p:cNvSpPr/>
          <p:nvPr/>
        </p:nvSpPr>
        <p:spPr>
          <a:xfrm>
            <a:off x="24769781" y="5916065"/>
            <a:ext cx="1119822" cy="537826"/>
          </a:xfrm>
          <a:prstGeom prst="rect">
            <a:avLst/>
          </a:prstGeom>
          <a:solidFill>
            <a:srgbClr val="7E8288"/>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7" name="Rectangle"/>
          <p:cNvSpPr/>
          <p:nvPr/>
        </p:nvSpPr>
        <p:spPr>
          <a:xfrm>
            <a:off x="24769781" y="6453889"/>
            <a:ext cx="1119822" cy="537826"/>
          </a:xfrm>
          <a:prstGeom prst="rect">
            <a:avLst/>
          </a:prstGeom>
          <a:solidFill>
            <a:srgbClr val="6A6E74"/>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8" name="Rectangle"/>
          <p:cNvSpPr/>
          <p:nvPr/>
        </p:nvSpPr>
        <p:spPr>
          <a:xfrm>
            <a:off x="24769779" y="6991713"/>
            <a:ext cx="1119822" cy="537826"/>
          </a:xfrm>
          <a:prstGeom prst="rect">
            <a:avLst/>
          </a:prstGeom>
          <a:solidFill>
            <a:srgbClr val="565A6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09" name="Rectangle"/>
          <p:cNvSpPr/>
          <p:nvPr/>
        </p:nvSpPr>
        <p:spPr>
          <a:xfrm>
            <a:off x="24769779" y="7529537"/>
            <a:ext cx="1119822" cy="537826"/>
          </a:xfrm>
          <a:prstGeom prst="rect">
            <a:avLst/>
          </a:prstGeom>
          <a:solidFill>
            <a:srgbClr val="42464C"/>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0" name="Rectangle"/>
          <p:cNvSpPr/>
          <p:nvPr/>
        </p:nvSpPr>
        <p:spPr>
          <a:xfrm>
            <a:off x="24769781" y="8067361"/>
            <a:ext cx="1119822" cy="537826"/>
          </a:xfrm>
          <a:prstGeom prst="rect">
            <a:avLst/>
          </a:prstGeom>
          <a:solidFill>
            <a:srgbClr val="383C42"/>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1" name="Rectangle"/>
          <p:cNvSpPr/>
          <p:nvPr/>
        </p:nvSpPr>
        <p:spPr>
          <a:xfrm>
            <a:off x="24769779" y="8605185"/>
            <a:ext cx="1119822" cy="537826"/>
          </a:xfrm>
          <a:prstGeom prst="rect">
            <a:avLst/>
          </a:prstGeom>
          <a:solidFill>
            <a:srgbClr val="2E3238"/>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2" name="Rectangle"/>
          <p:cNvSpPr/>
          <p:nvPr/>
        </p:nvSpPr>
        <p:spPr>
          <a:xfrm>
            <a:off x="24769779" y="9143009"/>
            <a:ext cx="1119822" cy="537826"/>
          </a:xfrm>
          <a:prstGeom prst="rect">
            <a:avLst/>
          </a:prstGeom>
          <a:solidFill>
            <a:srgbClr val="24282E"/>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3" name="Rectangle"/>
          <p:cNvSpPr/>
          <p:nvPr/>
        </p:nvSpPr>
        <p:spPr>
          <a:xfrm>
            <a:off x="24769777" y="9680833"/>
            <a:ext cx="1119822" cy="537826"/>
          </a:xfrm>
          <a:prstGeom prst="rect">
            <a:avLst/>
          </a:prstGeom>
          <a:solidFill>
            <a:srgbClr val="1A1E24"/>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4" name="Rectangle"/>
          <p:cNvSpPr/>
          <p:nvPr/>
        </p:nvSpPr>
        <p:spPr>
          <a:xfrm>
            <a:off x="24769777" y="10218657"/>
            <a:ext cx="1119822" cy="537826"/>
          </a:xfrm>
          <a:prstGeom prst="rect">
            <a:avLst/>
          </a:prstGeom>
          <a:solidFill>
            <a:srgbClr val="10141A"/>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5" name="Rectangle"/>
          <p:cNvSpPr/>
          <p:nvPr/>
        </p:nvSpPr>
        <p:spPr>
          <a:xfrm>
            <a:off x="24769779" y="10756481"/>
            <a:ext cx="1119822" cy="537826"/>
          </a:xfrm>
          <a:prstGeom prst="rect">
            <a:avLst/>
          </a:prstGeom>
          <a:solidFill>
            <a:srgbClr val="060A1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6" name="Rectangle"/>
          <p:cNvSpPr/>
          <p:nvPr/>
        </p:nvSpPr>
        <p:spPr>
          <a:xfrm>
            <a:off x="24769777" y="11294305"/>
            <a:ext cx="1119822" cy="537826"/>
          </a:xfrm>
          <a:prstGeom prst="rect">
            <a:avLst/>
          </a:prstGeom>
          <a:solidFill>
            <a:srgbClr val="FFFFFF"/>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7" name="Rectangle"/>
          <p:cNvSpPr/>
          <p:nvPr/>
        </p:nvSpPr>
        <p:spPr>
          <a:xfrm>
            <a:off x="24769779" y="11832129"/>
            <a:ext cx="1119822" cy="537826"/>
          </a:xfrm>
          <a:prstGeom prst="rect">
            <a:avLst/>
          </a:prstGeom>
          <a:solidFill>
            <a:srgbClr val="000000"/>
          </a:solidFill>
          <a:ln w="12700">
            <a:miter lim="400000"/>
          </a:ln>
        </p:spPr>
        <p:txBody>
          <a:bodyPr lIns="45720" rIns="45720" anchor="ctr">
            <a:normAutofit fontScale="92500" lnSpcReduction="10000"/>
          </a:bodyPr>
          <a:lstStyle/>
          <a:p>
            <a:pPr algn="l" defTabSz="914400">
              <a:spcBef>
                <a:spcPts val="2200"/>
              </a:spcBef>
              <a:defRPr sz="3200" spc="-22">
                <a:solidFill>
                  <a:srgbClr val="2F353C"/>
                </a:solidFill>
              </a:defRPr>
            </a:pPr>
            <a:endParaRPr sz="3200"/>
          </a:p>
        </p:txBody>
      </p:sp>
      <p:sp>
        <p:nvSpPr>
          <p:cNvPr id="918" name="Slide Number"/>
          <p:cNvSpPr txBox="1">
            <a:spLocks noGrp="1"/>
          </p:cNvSpPr>
          <p:nvPr>
            <p:ph type="sldNum" sz="quarter" idx="2"/>
          </p:nvPr>
        </p:nvSpPr>
        <p:spPr>
          <a:prstGeom prst="rect">
            <a:avLst/>
          </a:prstGeom>
        </p:spPr>
        <p:txBody>
          <a:bodyPr/>
          <a:lstStyle/>
          <a:p>
            <a:fld id="{86CB4B4D-7CA3-9044-876B-883B54F8677D}" type="slidenum">
              <a:t>‹#›</a:t>
            </a:fld>
            <a:endParaRPr/>
          </a:p>
        </p:txBody>
      </p:sp>
      <p:sp>
        <p:nvSpPr>
          <p:cNvPr id="919" name="Footer"/>
          <p:cNvSpPr txBox="1">
            <a:spLocks noGrp="1"/>
          </p:cNvSpPr>
          <p:nvPr>
            <p:ph type="body" sz="quarter" idx="13"/>
          </p:nvPr>
        </p:nvSpPr>
        <p:spPr>
          <a:xfrm>
            <a:off x="1727200" y="12807441"/>
            <a:ext cx="6210696" cy="276998"/>
          </a:xfrm>
          <a:prstGeom prst="rect">
            <a:avLst/>
          </a:prstGeom>
        </p:spPr>
        <p:txBody>
          <a:bodyPr>
            <a:spAutoFit/>
          </a:bodyPr>
          <a:lstStyle>
            <a:lvl1pPr marL="0" indent="0" defTabSz="1828892">
              <a:lnSpc>
                <a:spcPct val="100000"/>
              </a:lnSpc>
              <a:spcBef>
                <a:spcPts val="0"/>
              </a:spcBef>
              <a:buClrTx/>
              <a:buSzTx/>
              <a:buFontTx/>
              <a:buNone/>
              <a:defRPr sz="1800" b="1" spc="92">
                <a:solidFill>
                  <a:srgbClr val="9CA0A6"/>
                </a:solidFill>
              </a:defRPr>
            </a:lvl1pPr>
          </a:lstStyle>
          <a:p>
            <a:r>
              <a:t>Footer</a:t>
            </a:r>
          </a:p>
        </p:txBody>
      </p:sp>
    </p:spTree>
    <p:extLst>
      <p:ext uri="{BB962C8B-B14F-4D97-AF65-F5344CB8AC3E}">
        <p14:creationId xmlns:p14="http://schemas.microsoft.com/office/powerpoint/2010/main" val="2621715949"/>
      </p:ext>
    </p:extLst>
  </p:cSld>
  <p:clrMapOvr>
    <a:masterClrMapping/>
  </p:clrMapOvr>
  <p:transition spd="med"/>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userDrawn="1">
  <p:cSld name="3_Logo">
    <p:bg>
      <p:bgPr>
        <a:solidFill>
          <a:schemeClr val="tx2"/>
        </a:solidFill>
        <a:effectLst/>
      </p:bgPr>
    </p:bg>
    <p:spTree>
      <p:nvGrpSpPr>
        <p:cNvPr id="1" name=""/>
        <p:cNvGrpSpPr/>
        <p:nvPr/>
      </p:nvGrpSpPr>
      <p:grpSpPr>
        <a:xfrm>
          <a:off x="0" y="0"/>
          <a:ext cx="0" cy="0"/>
          <a:chOff x="0" y="0"/>
          <a:chExt cx="0" cy="0"/>
        </a:xfrm>
      </p:grpSpPr>
      <p:sp>
        <p:nvSpPr>
          <p:cNvPr id="2" name="Do not remove" hidden="1">
            <a:extLst>
              <a:ext uri="{FF2B5EF4-FFF2-40B4-BE49-F238E27FC236}">
                <a16:creationId xmlns:a16="http://schemas.microsoft.com/office/drawing/2014/main" id="{9669F79A-FAB3-5DC6-AD0F-D1C5EA615FDC}"/>
              </a:ext>
            </a:extLst>
          </p:cNvPr>
          <p:cNvSpPr/>
          <p:nvPr userDrawn="1">
            <p:custDataLst>
              <p:tags r:id="rId1"/>
            </p:custDataLst>
          </p:nvPr>
        </p:nvSpPr>
        <p:spPr>
          <a:xfrm>
            <a:off x="0" y="0"/>
            <a:ext cx="12700" cy="12700"/>
          </a:xfrm>
          <a:prstGeom prst="octagon">
            <a:avLst/>
          </a:prstGeom>
          <a:noFill/>
          <a:ln>
            <a:noFill/>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5" name="Freeform 4">
            <a:extLst>
              <a:ext uri="{FF2B5EF4-FFF2-40B4-BE49-F238E27FC236}">
                <a16:creationId xmlns:a16="http://schemas.microsoft.com/office/drawing/2014/main" id="{B047954A-9825-7A10-C1E0-2C589652D428}"/>
              </a:ext>
            </a:extLst>
          </p:cNvPr>
          <p:cNvSpPr/>
          <p:nvPr userDrawn="1"/>
        </p:nvSpPr>
        <p:spPr>
          <a:xfrm>
            <a:off x="8335215" y="5989517"/>
            <a:ext cx="8021210" cy="1650754"/>
          </a:xfrm>
          <a:custGeom>
            <a:avLst/>
            <a:gdLst>
              <a:gd name="connsiteX0" fmla="*/ 2101054 w 4010605"/>
              <a:gd name="connsiteY0" fmla="*/ 497433 h 825377"/>
              <a:gd name="connsiteX1" fmla="*/ 2054921 w 4010605"/>
              <a:gd name="connsiteY1" fmla="*/ 612765 h 825377"/>
              <a:gd name="connsiteX2" fmla="*/ 1870389 w 4010605"/>
              <a:gd name="connsiteY2" fmla="*/ 673941 h 825377"/>
              <a:gd name="connsiteX3" fmla="*/ 1723967 w 4010605"/>
              <a:gd name="connsiteY3" fmla="*/ 639843 h 825377"/>
              <a:gd name="connsiteX4" fmla="*/ 1745028 w 4010605"/>
              <a:gd name="connsiteY4" fmla="*/ 526517 h 825377"/>
              <a:gd name="connsiteX5" fmla="*/ 1884429 w 4010605"/>
              <a:gd name="connsiteY5" fmla="*/ 565629 h 825377"/>
              <a:gd name="connsiteX6" fmla="*/ 1945606 w 4010605"/>
              <a:gd name="connsiteY6" fmla="*/ 521502 h 825377"/>
              <a:gd name="connsiteX7" fmla="*/ 1883427 w 4010605"/>
              <a:gd name="connsiteY7" fmla="*/ 457317 h 825377"/>
              <a:gd name="connsiteX8" fmla="*/ 1778123 w 4010605"/>
              <a:gd name="connsiteY8" fmla="*/ 324936 h 825377"/>
              <a:gd name="connsiteX9" fmla="*/ 1998759 w 4010605"/>
              <a:gd name="connsiteY9" fmla="*/ 151436 h 825377"/>
              <a:gd name="connsiteX10" fmla="*/ 2139163 w 4010605"/>
              <a:gd name="connsiteY10" fmla="*/ 184532 h 825377"/>
              <a:gd name="connsiteX11" fmla="*/ 2119106 w 4010605"/>
              <a:gd name="connsiteY11" fmla="*/ 297858 h 825377"/>
              <a:gd name="connsiteX12" fmla="*/ 1992741 w 4010605"/>
              <a:gd name="connsiteY12" fmla="*/ 261754 h 825377"/>
              <a:gd name="connsiteX13" fmla="*/ 1928557 w 4010605"/>
              <a:gd name="connsiteY13" fmla="*/ 304878 h 825377"/>
              <a:gd name="connsiteX14" fmla="*/ 1988730 w 4010605"/>
              <a:gd name="connsiteY14" fmla="*/ 361040 h 825377"/>
              <a:gd name="connsiteX15" fmla="*/ 2101054 w 4010605"/>
              <a:gd name="connsiteY15" fmla="*/ 497433 h 825377"/>
              <a:gd name="connsiteX16" fmla="*/ 1184413 w 4010605"/>
              <a:gd name="connsiteY16" fmla="*/ 152439 h 825377"/>
              <a:gd name="connsiteX17" fmla="*/ 857471 w 4010605"/>
              <a:gd name="connsiteY17" fmla="*/ 469352 h 825377"/>
              <a:gd name="connsiteX18" fmla="*/ 1069080 w 4010605"/>
              <a:gd name="connsiteY18" fmla="*/ 674944 h 825377"/>
              <a:gd name="connsiteX19" fmla="*/ 1211491 w 4010605"/>
              <a:gd name="connsiteY19" fmla="*/ 647866 h 825377"/>
              <a:gd name="connsiteX20" fmla="*/ 1234557 w 4010605"/>
              <a:gd name="connsiteY20" fmla="*/ 523508 h 825377"/>
              <a:gd name="connsiteX21" fmla="*/ 1110199 w 4010605"/>
              <a:gd name="connsiteY21" fmla="*/ 555600 h 825377"/>
              <a:gd name="connsiteX22" fmla="*/ 1012918 w 4010605"/>
              <a:gd name="connsiteY22" fmla="*/ 453306 h 825377"/>
              <a:gd name="connsiteX23" fmla="*/ 1181404 w 4010605"/>
              <a:gd name="connsiteY23" fmla="*/ 271783 h 825377"/>
              <a:gd name="connsiteX24" fmla="*/ 1263641 w 4010605"/>
              <a:gd name="connsiteY24" fmla="*/ 290838 h 825377"/>
              <a:gd name="connsiteX25" fmla="*/ 1286707 w 4010605"/>
              <a:gd name="connsiteY25" fmla="*/ 169488 h 825377"/>
              <a:gd name="connsiteX26" fmla="*/ 1184413 w 4010605"/>
              <a:gd name="connsiteY26" fmla="*/ 152439 h 825377"/>
              <a:gd name="connsiteX27" fmla="*/ 1184413 w 4010605"/>
              <a:gd name="connsiteY27" fmla="*/ 152439 h 825377"/>
              <a:gd name="connsiteX28" fmla="*/ 3797943 w 4010605"/>
              <a:gd name="connsiteY28" fmla="*/ 558609 h 825377"/>
              <a:gd name="connsiteX29" fmla="*/ 3972445 w 4010605"/>
              <a:gd name="connsiteY29" fmla="*/ 509467 h 825377"/>
              <a:gd name="connsiteX30" fmla="*/ 3948376 w 4010605"/>
              <a:gd name="connsiteY30" fmla="*/ 634829 h 825377"/>
              <a:gd name="connsiteX31" fmla="*/ 3761839 w 4010605"/>
              <a:gd name="connsiteY31" fmla="*/ 674944 h 825377"/>
              <a:gd name="connsiteX32" fmla="*/ 3544212 w 4010605"/>
              <a:gd name="connsiteY32" fmla="*/ 463335 h 825377"/>
              <a:gd name="connsiteX33" fmla="*/ 3622437 w 4010605"/>
              <a:gd name="connsiteY33" fmla="*/ 250722 h 825377"/>
              <a:gd name="connsiteX34" fmla="*/ 3836052 w 4010605"/>
              <a:gd name="connsiteY34" fmla="*/ 152439 h 825377"/>
              <a:gd name="connsiteX35" fmla="*/ 4010555 w 4010605"/>
              <a:gd name="connsiteY35" fmla="*/ 303875 h 825377"/>
              <a:gd name="connsiteX36" fmla="*/ 3970440 w 4010605"/>
              <a:gd name="connsiteY36" fmla="*/ 406170 h 825377"/>
              <a:gd name="connsiteX37" fmla="*/ 3684616 w 4010605"/>
              <a:gd name="connsiteY37" fmla="*/ 460326 h 825377"/>
              <a:gd name="connsiteX38" fmla="*/ 3797943 w 4010605"/>
              <a:gd name="connsiteY38" fmla="*/ 558609 h 825377"/>
              <a:gd name="connsiteX39" fmla="*/ 3797943 w 4010605"/>
              <a:gd name="connsiteY39" fmla="*/ 558609 h 825377"/>
              <a:gd name="connsiteX40" fmla="*/ 3701665 w 4010605"/>
              <a:gd name="connsiteY40" fmla="*/ 362043 h 825377"/>
              <a:gd name="connsiteX41" fmla="*/ 3859119 w 4010605"/>
              <a:gd name="connsiteY41" fmla="*/ 332959 h 825377"/>
              <a:gd name="connsiteX42" fmla="*/ 3818001 w 4010605"/>
              <a:gd name="connsiteY42" fmla="*/ 260751 h 825377"/>
              <a:gd name="connsiteX43" fmla="*/ 3701665 w 4010605"/>
              <a:gd name="connsiteY43" fmla="*/ 362043 h 825377"/>
              <a:gd name="connsiteX44" fmla="*/ 3469998 w 4010605"/>
              <a:gd name="connsiteY44" fmla="*/ 152439 h 825377"/>
              <a:gd name="connsiteX45" fmla="*/ 3143056 w 4010605"/>
              <a:gd name="connsiteY45" fmla="*/ 469352 h 825377"/>
              <a:gd name="connsiteX46" fmla="*/ 3354666 w 4010605"/>
              <a:gd name="connsiteY46" fmla="*/ 674944 h 825377"/>
              <a:gd name="connsiteX47" fmla="*/ 3497076 w 4010605"/>
              <a:gd name="connsiteY47" fmla="*/ 647866 h 825377"/>
              <a:gd name="connsiteX48" fmla="*/ 3520142 w 4010605"/>
              <a:gd name="connsiteY48" fmla="*/ 523508 h 825377"/>
              <a:gd name="connsiteX49" fmla="*/ 3395784 w 4010605"/>
              <a:gd name="connsiteY49" fmla="*/ 555600 h 825377"/>
              <a:gd name="connsiteX50" fmla="*/ 3298504 w 4010605"/>
              <a:gd name="connsiteY50" fmla="*/ 453306 h 825377"/>
              <a:gd name="connsiteX51" fmla="*/ 3466989 w 4010605"/>
              <a:gd name="connsiteY51" fmla="*/ 271783 h 825377"/>
              <a:gd name="connsiteX52" fmla="*/ 3549226 w 4010605"/>
              <a:gd name="connsiteY52" fmla="*/ 290838 h 825377"/>
              <a:gd name="connsiteX53" fmla="*/ 3572293 w 4010605"/>
              <a:gd name="connsiteY53" fmla="*/ 169488 h 825377"/>
              <a:gd name="connsiteX54" fmla="*/ 3469998 w 4010605"/>
              <a:gd name="connsiteY54" fmla="*/ 152439 h 825377"/>
              <a:gd name="connsiteX55" fmla="*/ 3117984 w 4010605"/>
              <a:gd name="connsiteY55" fmla="*/ 383104 h 825377"/>
              <a:gd name="connsiteX56" fmla="*/ 3064830 w 4010605"/>
              <a:gd name="connsiteY56" fmla="*/ 663912 h 825377"/>
              <a:gd name="connsiteX57" fmla="*/ 2922420 w 4010605"/>
              <a:gd name="connsiteY57" fmla="*/ 663912 h 825377"/>
              <a:gd name="connsiteX58" fmla="*/ 2940472 w 4010605"/>
              <a:gd name="connsiteY58" fmla="*/ 567635 h 825377"/>
              <a:gd name="connsiteX59" fmla="*/ 2791041 w 4010605"/>
              <a:gd name="connsiteY59" fmla="*/ 675947 h 825377"/>
              <a:gd name="connsiteX60" fmla="*/ 2647628 w 4010605"/>
              <a:gd name="connsiteY60" fmla="*/ 500441 h 825377"/>
              <a:gd name="connsiteX61" fmla="*/ 2751929 w 4010605"/>
              <a:gd name="connsiteY61" fmla="*/ 236682 h 825377"/>
              <a:gd name="connsiteX62" fmla="*/ 2957521 w 4010605"/>
              <a:gd name="connsiteY62" fmla="*/ 152439 h 825377"/>
              <a:gd name="connsiteX63" fmla="*/ 3090906 w 4010605"/>
              <a:gd name="connsiteY63" fmla="*/ 203586 h 825377"/>
              <a:gd name="connsiteX64" fmla="*/ 3117984 w 4010605"/>
              <a:gd name="connsiteY64" fmla="*/ 383104 h 825377"/>
              <a:gd name="connsiteX65" fmla="*/ 2981590 w 4010605"/>
              <a:gd name="connsiteY65" fmla="*/ 318919 h 825377"/>
              <a:gd name="connsiteX66" fmla="*/ 2928437 w 4010605"/>
              <a:gd name="connsiteY66" fmla="*/ 264763 h 825377"/>
              <a:gd name="connsiteX67" fmla="*/ 2798062 w 4010605"/>
              <a:gd name="connsiteY67" fmla="*/ 469352 h 825377"/>
              <a:gd name="connsiteX68" fmla="*/ 2851215 w 4010605"/>
              <a:gd name="connsiteY68" fmla="*/ 554597 h 825377"/>
              <a:gd name="connsiteX69" fmla="*/ 2967550 w 4010605"/>
              <a:gd name="connsiteY69" fmla="*/ 415196 h 825377"/>
              <a:gd name="connsiteX70" fmla="*/ 2981590 w 4010605"/>
              <a:gd name="connsiteY70" fmla="*/ 318919 h 825377"/>
              <a:gd name="connsiteX71" fmla="*/ 2981590 w 4010605"/>
              <a:gd name="connsiteY71" fmla="*/ 318919 h 825377"/>
              <a:gd name="connsiteX72" fmla="*/ 832398 w 4010605"/>
              <a:gd name="connsiteY72" fmla="*/ 383104 h 825377"/>
              <a:gd name="connsiteX73" fmla="*/ 779245 w 4010605"/>
              <a:gd name="connsiteY73" fmla="*/ 663912 h 825377"/>
              <a:gd name="connsiteX74" fmla="*/ 636835 w 4010605"/>
              <a:gd name="connsiteY74" fmla="*/ 663912 h 825377"/>
              <a:gd name="connsiteX75" fmla="*/ 654887 w 4010605"/>
              <a:gd name="connsiteY75" fmla="*/ 567635 h 825377"/>
              <a:gd name="connsiteX76" fmla="*/ 505456 w 4010605"/>
              <a:gd name="connsiteY76" fmla="*/ 675947 h 825377"/>
              <a:gd name="connsiteX77" fmla="*/ 362043 w 4010605"/>
              <a:gd name="connsiteY77" fmla="*/ 500441 h 825377"/>
              <a:gd name="connsiteX78" fmla="*/ 466344 w 4010605"/>
              <a:gd name="connsiteY78" fmla="*/ 236682 h 825377"/>
              <a:gd name="connsiteX79" fmla="*/ 671936 w 4010605"/>
              <a:gd name="connsiteY79" fmla="*/ 152439 h 825377"/>
              <a:gd name="connsiteX80" fmla="*/ 805320 w 4010605"/>
              <a:gd name="connsiteY80" fmla="*/ 203586 h 825377"/>
              <a:gd name="connsiteX81" fmla="*/ 832398 w 4010605"/>
              <a:gd name="connsiteY81" fmla="*/ 383104 h 825377"/>
              <a:gd name="connsiteX82" fmla="*/ 696005 w 4010605"/>
              <a:gd name="connsiteY82" fmla="*/ 318919 h 825377"/>
              <a:gd name="connsiteX83" fmla="*/ 642852 w 4010605"/>
              <a:gd name="connsiteY83" fmla="*/ 264763 h 825377"/>
              <a:gd name="connsiteX84" fmla="*/ 512477 w 4010605"/>
              <a:gd name="connsiteY84" fmla="*/ 469352 h 825377"/>
              <a:gd name="connsiteX85" fmla="*/ 565630 w 4010605"/>
              <a:gd name="connsiteY85" fmla="*/ 554597 h 825377"/>
              <a:gd name="connsiteX86" fmla="*/ 681965 w 4010605"/>
              <a:gd name="connsiteY86" fmla="*/ 415196 h 825377"/>
              <a:gd name="connsiteX87" fmla="*/ 696005 w 4010605"/>
              <a:gd name="connsiteY87" fmla="*/ 318919 h 825377"/>
              <a:gd name="connsiteX88" fmla="*/ 2637600 w 4010605"/>
              <a:gd name="connsiteY88" fmla="*/ 342988 h 825377"/>
              <a:gd name="connsiteX89" fmla="*/ 2473126 w 4010605"/>
              <a:gd name="connsiteY89" fmla="*/ 645860 h 825377"/>
              <a:gd name="connsiteX90" fmla="*/ 2364814 w 4010605"/>
              <a:gd name="connsiteY90" fmla="*/ 675947 h 825377"/>
              <a:gd name="connsiteX91" fmla="*/ 2265527 w 4010605"/>
              <a:gd name="connsiteY91" fmla="*/ 625803 h 825377"/>
              <a:gd name="connsiteX92" fmla="*/ 2227418 w 4010605"/>
              <a:gd name="connsiteY92" fmla="*/ 825377 h 825377"/>
              <a:gd name="connsiteX93" fmla="*/ 2078990 w 4010605"/>
              <a:gd name="connsiteY93" fmla="*/ 825377 h 825377"/>
              <a:gd name="connsiteX94" fmla="*/ 2205354 w 4010605"/>
              <a:gd name="connsiteY94" fmla="*/ 161465 h 825377"/>
              <a:gd name="connsiteX95" fmla="*/ 2336733 w 4010605"/>
              <a:gd name="connsiteY95" fmla="*/ 161465 h 825377"/>
              <a:gd name="connsiteX96" fmla="*/ 2321689 w 4010605"/>
              <a:gd name="connsiteY96" fmla="*/ 241696 h 825377"/>
              <a:gd name="connsiteX97" fmla="*/ 2475131 w 4010605"/>
              <a:gd name="connsiteY97" fmla="*/ 151436 h 825377"/>
              <a:gd name="connsiteX98" fmla="*/ 2637600 w 4010605"/>
              <a:gd name="connsiteY98" fmla="*/ 342988 h 825377"/>
              <a:gd name="connsiteX99" fmla="*/ 2637600 w 4010605"/>
              <a:gd name="connsiteY99" fmla="*/ 342988 h 825377"/>
              <a:gd name="connsiteX100" fmla="*/ 2483155 w 4010605"/>
              <a:gd name="connsiteY100" fmla="*/ 354020 h 825377"/>
              <a:gd name="connsiteX101" fmla="*/ 2422981 w 4010605"/>
              <a:gd name="connsiteY101" fmla="*/ 272786 h 825377"/>
              <a:gd name="connsiteX102" fmla="*/ 2302634 w 4010605"/>
              <a:gd name="connsiteY102" fmla="*/ 431242 h 825377"/>
              <a:gd name="connsiteX103" fmla="*/ 2347765 w 4010605"/>
              <a:gd name="connsiteY103" fmla="*/ 562621 h 825377"/>
              <a:gd name="connsiteX104" fmla="*/ 2483155 w 4010605"/>
              <a:gd name="connsiteY104" fmla="*/ 354020 h 825377"/>
              <a:gd name="connsiteX105" fmla="*/ 2483155 w 4010605"/>
              <a:gd name="connsiteY105" fmla="*/ 354020 h 825377"/>
              <a:gd name="connsiteX106" fmla="*/ 207598 w 4010605"/>
              <a:gd name="connsiteY106" fmla="*/ 272786 h 825377"/>
              <a:gd name="connsiteX107" fmla="*/ 228659 w 4010605"/>
              <a:gd name="connsiteY107" fmla="*/ 161465 h 825377"/>
              <a:gd name="connsiteX108" fmla="*/ 97280 w 4010605"/>
              <a:gd name="connsiteY108" fmla="*/ 161465 h 825377"/>
              <a:gd name="connsiteX109" fmla="*/ 0 w 4010605"/>
              <a:gd name="connsiteY109" fmla="*/ 672938 h 825377"/>
              <a:gd name="connsiteX110" fmla="*/ 148428 w 4010605"/>
              <a:gd name="connsiteY110" fmla="*/ 672938 h 825377"/>
              <a:gd name="connsiteX111" fmla="*/ 188543 w 4010605"/>
              <a:gd name="connsiteY111" fmla="*/ 461329 h 825377"/>
              <a:gd name="connsiteX112" fmla="*/ 385110 w 4010605"/>
              <a:gd name="connsiteY112" fmla="*/ 301870 h 825377"/>
              <a:gd name="connsiteX113" fmla="*/ 414193 w 4010605"/>
              <a:gd name="connsiteY113" fmla="*/ 149430 h 825377"/>
              <a:gd name="connsiteX114" fmla="*/ 207598 w 4010605"/>
              <a:gd name="connsiteY114" fmla="*/ 272786 h 825377"/>
              <a:gd name="connsiteX115" fmla="*/ 1400034 w 4010605"/>
              <a:gd name="connsiteY115" fmla="*/ 663912 h 825377"/>
              <a:gd name="connsiteX116" fmla="*/ 1451181 w 4010605"/>
              <a:gd name="connsiteY116" fmla="*/ 394135 h 825377"/>
              <a:gd name="connsiteX117" fmla="*/ 1556485 w 4010605"/>
              <a:gd name="connsiteY117" fmla="*/ 663912 h 825377"/>
              <a:gd name="connsiteX118" fmla="*/ 1716947 w 4010605"/>
              <a:gd name="connsiteY118" fmla="*/ 663912 h 825377"/>
              <a:gd name="connsiteX119" fmla="*/ 1607632 w 4010605"/>
              <a:gd name="connsiteY119" fmla="*/ 392130 h 825377"/>
              <a:gd name="connsiteX120" fmla="*/ 1806204 w 4010605"/>
              <a:gd name="connsiteY120" fmla="*/ 160462 h 825377"/>
              <a:gd name="connsiteX121" fmla="*/ 1643736 w 4010605"/>
              <a:gd name="connsiteY121" fmla="*/ 160462 h 825377"/>
              <a:gd name="connsiteX122" fmla="*/ 1452184 w 4010605"/>
              <a:gd name="connsiteY122" fmla="*/ 390124 h 825377"/>
              <a:gd name="connsiteX123" fmla="*/ 1526398 w 4010605"/>
              <a:gd name="connsiteY123" fmla="*/ 0 h 825377"/>
              <a:gd name="connsiteX124" fmla="*/ 1378973 w 4010605"/>
              <a:gd name="connsiteY124" fmla="*/ 0 h 825377"/>
              <a:gd name="connsiteX125" fmla="*/ 1252609 w 4010605"/>
              <a:gd name="connsiteY125" fmla="*/ 663912 h 825377"/>
              <a:gd name="connsiteX126" fmla="*/ 1400034 w 4010605"/>
              <a:gd name="connsiteY126" fmla="*/ 663912 h 82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4010605" h="825377">
                <a:moveTo>
                  <a:pt x="2101054" y="497433"/>
                </a:moveTo>
                <a:cubicBezTo>
                  <a:pt x="2102057" y="540557"/>
                  <a:pt x="2086010" y="582678"/>
                  <a:pt x="2054921" y="612765"/>
                </a:cubicBezTo>
                <a:cubicBezTo>
                  <a:pt x="2014805" y="652881"/>
                  <a:pt x="1948614" y="674944"/>
                  <a:pt x="1870389" y="673941"/>
                </a:cubicBezTo>
                <a:cubicBezTo>
                  <a:pt x="1814227" y="672938"/>
                  <a:pt x="1757062" y="658898"/>
                  <a:pt x="1723967" y="639843"/>
                </a:cubicBezTo>
                <a:lnTo>
                  <a:pt x="1745028" y="526517"/>
                </a:lnTo>
                <a:cubicBezTo>
                  <a:pt x="1788152" y="549583"/>
                  <a:pt x="1835288" y="563623"/>
                  <a:pt x="1884429" y="565629"/>
                </a:cubicBezTo>
                <a:cubicBezTo>
                  <a:pt x="1921536" y="565629"/>
                  <a:pt x="1945606" y="548580"/>
                  <a:pt x="1945606" y="521502"/>
                </a:cubicBezTo>
                <a:cubicBezTo>
                  <a:pt x="1945606" y="496430"/>
                  <a:pt x="1928557" y="479381"/>
                  <a:pt x="1883427" y="457317"/>
                </a:cubicBezTo>
                <a:cubicBezTo>
                  <a:pt x="1813224" y="422216"/>
                  <a:pt x="1778123" y="377086"/>
                  <a:pt x="1778123" y="324936"/>
                </a:cubicBezTo>
                <a:cubicBezTo>
                  <a:pt x="1778123" y="221638"/>
                  <a:pt x="1866377" y="151436"/>
                  <a:pt x="1998759" y="151436"/>
                </a:cubicBezTo>
                <a:cubicBezTo>
                  <a:pt x="2068961" y="151436"/>
                  <a:pt x="2114091" y="167482"/>
                  <a:pt x="2139163" y="184532"/>
                </a:cubicBezTo>
                <a:lnTo>
                  <a:pt x="2119106" y="297858"/>
                </a:lnTo>
                <a:cubicBezTo>
                  <a:pt x="2099048" y="282815"/>
                  <a:pt x="2047900" y="261754"/>
                  <a:pt x="1992741" y="261754"/>
                </a:cubicBezTo>
                <a:cubicBezTo>
                  <a:pt x="1954632" y="261754"/>
                  <a:pt x="1928557" y="277800"/>
                  <a:pt x="1928557" y="304878"/>
                </a:cubicBezTo>
                <a:cubicBezTo>
                  <a:pt x="1928557" y="323933"/>
                  <a:pt x="1947611" y="341985"/>
                  <a:pt x="1988730" y="361040"/>
                </a:cubicBezTo>
                <a:cubicBezTo>
                  <a:pt x="2041883" y="388118"/>
                  <a:pt x="2101054" y="427231"/>
                  <a:pt x="2101054" y="497433"/>
                </a:cubicBezTo>
                <a:close/>
                <a:moveTo>
                  <a:pt x="1184413" y="152439"/>
                </a:moveTo>
                <a:cubicBezTo>
                  <a:pt x="997875" y="152439"/>
                  <a:pt x="857471" y="288832"/>
                  <a:pt x="857471" y="469352"/>
                </a:cubicBezTo>
                <a:cubicBezTo>
                  <a:pt x="857471" y="593710"/>
                  <a:pt x="940710" y="674944"/>
                  <a:pt x="1069080" y="674944"/>
                </a:cubicBezTo>
                <a:cubicBezTo>
                  <a:pt x="1124239" y="674944"/>
                  <a:pt x="1177392" y="664915"/>
                  <a:pt x="1211491" y="647866"/>
                </a:cubicBezTo>
                <a:lnTo>
                  <a:pt x="1234557" y="523508"/>
                </a:lnTo>
                <a:cubicBezTo>
                  <a:pt x="1196447" y="544569"/>
                  <a:pt x="1153323" y="555600"/>
                  <a:pt x="1110199" y="555600"/>
                </a:cubicBezTo>
                <a:cubicBezTo>
                  <a:pt x="1063063" y="555600"/>
                  <a:pt x="1012918" y="528522"/>
                  <a:pt x="1012918" y="453306"/>
                </a:cubicBezTo>
                <a:cubicBezTo>
                  <a:pt x="1012918" y="364049"/>
                  <a:pt x="1076101" y="271783"/>
                  <a:pt x="1181404" y="271783"/>
                </a:cubicBezTo>
                <a:cubicBezTo>
                  <a:pt x="1210488" y="270780"/>
                  <a:pt x="1238569" y="277800"/>
                  <a:pt x="1263641" y="290838"/>
                </a:cubicBezTo>
                <a:lnTo>
                  <a:pt x="1286707" y="169488"/>
                </a:lnTo>
                <a:cubicBezTo>
                  <a:pt x="1254615" y="158456"/>
                  <a:pt x="1219514" y="152439"/>
                  <a:pt x="1184413" y="152439"/>
                </a:cubicBezTo>
                <a:lnTo>
                  <a:pt x="1184413" y="152439"/>
                </a:lnTo>
                <a:close/>
                <a:moveTo>
                  <a:pt x="3797943" y="558609"/>
                </a:moveTo>
                <a:cubicBezTo>
                  <a:pt x="3860122" y="558609"/>
                  <a:pt x="3920295" y="541560"/>
                  <a:pt x="3972445" y="509467"/>
                </a:cubicBezTo>
                <a:lnTo>
                  <a:pt x="3948376" y="634829"/>
                </a:lnTo>
                <a:cubicBezTo>
                  <a:pt x="3877171" y="670933"/>
                  <a:pt x="3793931" y="674944"/>
                  <a:pt x="3761839" y="674944"/>
                </a:cubicBezTo>
                <a:cubicBezTo>
                  <a:pt x="3623440" y="674944"/>
                  <a:pt x="3544212" y="597722"/>
                  <a:pt x="3544212" y="463335"/>
                </a:cubicBezTo>
                <a:cubicBezTo>
                  <a:pt x="3544212" y="385109"/>
                  <a:pt x="3572293" y="309893"/>
                  <a:pt x="3622437" y="250722"/>
                </a:cubicBezTo>
                <a:cubicBezTo>
                  <a:pt x="3675590" y="187540"/>
                  <a:pt x="3753815" y="151436"/>
                  <a:pt x="3836052" y="152439"/>
                </a:cubicBezTo>
                <a:cubicBezTo>
                  <a:pt x="3940353" y="152439"/>
                  <a:pt x="4010555" y="213615"/>
                  <a:pt x="4010555" y="303875"/>
                </a:cubicBezTo>
                <a:cubicBezTo>
                  <a:pt x="4011558" y="341985"/>
                  <a:pt x="3997518" y="379092"/>
                  <a:pt x="3970440" y="406170"/>
                </a:cubicBezTo>
                <a:cubicBezTo>
                  <a:pt x="3920295" y="455311"/>
                  <a:pt x="3796940" y="482390"/>
                  <a:pt x="3684616" y="460326"/>
                </a:cubicBezTo>
                <a:cubicBezTo>
                  <a:pt x="3680605" y="521502"/>
                  <a:pt x="3727741" y="558609"/>
                  <a:pt x="3797943" y="558609"/>
                </a:cubicBezTo>
                <a:lnTo>
                  <a:pt x="3797943" y="558609"/>
                </a:lnTo>
                <a:close/>
                <a:moveTo>
                  <a:pt x="3701665" y="362043"/>
                </a:moveTo>
                <a:cubicBezTo>
                  <a:pt x="3788917" y="363046"/>
                  <a:pt x="3838058" y="354020"/>
                  <a:pt x="3859119" y="332959"/>
                </a:cubicBezTo>
                <a:cubicBezTo>
                  <a:pt x="3882185" y="309893"/>
                  <a:pt x="3875165" y="260751"/>
                  <a:pt x="3818001" y="260751"/>
                </a:cubicBezTo>
                <a:cubicBezTo>
                  <a:pt x="3753815" y="260751"/>
                  <a:pt x="3713700" y="312901"/>
                  <a:pt x="3701665" y="362043"/>
                </a:cubicBezTo>
                <a:close/>
                <a:moveTo>
                  <a:pt x="3469998" y="152439"/>
                </a:moveTo>
                <a:cubicBezTo>
                  <a:pt x="3283460" y="152439"/>
                  <a:pt x="3143056" y="288832"/>
                  <a:pt x="3143056" y="469352"/>
                </a:cubicBezTo>
                <a:cubicBezTo>
                  <a:pt x="3143056" y="593710"/>
                  <a:pt x="3226296" y="674944"/>
                  <a:pt x="3354666" y="674944"/>
                </a:cubicBezTo>
                <a:cubicBezTo>
                  <a:pt x="3409824" y="674944"/>
                  <a:pt x="3462977" y="664915"/>
                  <a:pt x="3497076" y="647866"/>
                </a:cubicBezTo>
                <a:lnTo>
                  <a:pt x="3520142" y="523508"/>
                </a:lnTo>
                <a:cubicBezTo>
                  <a:pt x="3482033" y="544569"/>
                  <a:pt x="3438908" y="555600"/>
                  <a:pt x="3395784" y="555600"/>
                </a:cubicBezTo>
                <a:cubicBezTo>
                  <a:pt x="3348648" y="555600"/>
                  <a:pt x="3298504" y="528522"/>
                  <a:pt x="3298504" y="453306"/>
                </a:cubicBezTo>
                <a:cubicBezTo>
                  <a:pt x="3298504" y="364049"/>
                  <a:pt x="3361686" y="271783"/>
                  <a:pt x="3466989" y="271783"/>
                </a:cubicBezTo>
                <a:cubicBezTo>
                  <a:pt x="3496073" y="270780"/>
                  <a:pt x="3524154" y="277800"/>
                  <a:pt x="3549226" y="290838"/>
                </a:cubicBezTo>
                <a:lnTo>
                  <a:pt x="3572293" y="169488"/>
                </a:lnTo>
                <a:cubicBezTo>
                  <a:pt x="3540200" y="158456"/>
                  <a:pt x="3505099" y="152439"/>
                  <a:pt x="3469998" y="152439"/>
                </a:cubicBezTo>
                <a:close/>
                <a:moveTo>
                  <a:pt x="3117984" y="383104"/>
                </a:moveTo>
                <a:lnTo>
                  <a:pt x="3064830" y="663912"/>
                </a:lnTo>
                <a:lnTo>
                  <a:pt x="2922420" y="663912"/>
                </a:lnTo>
                <a:lnTo>
                  <a:pt x="2940472" y="567635"/>
                </a:lnTo>
                <a:cubicBezTo>
                  <a:pt x="2920414" y="627808"/>
                  <a:pt x="2872276" y="675947"/>
                  <a:pt x="2791041" y="675947"/>
                </a:cubicBezTo>
                <a:cubicBezTo>
                  <a:pt x="2691755" y="675947"/>
                  <a:pt x="2647628" y="588696"/>
                  <a:pt x="2647628" y="500441"/>
                </a:cubicBezTo>
                <a:cubicBezTo>
                  <a:pt x="2647628" y="401155"/>
                  <a:pt x="2686741" y="301870"/>
                  <a:pt x="2751929" y="236682"/>
                </a:cubicBezTo>
                <a:cubicBezTo>
                  <a:pt x="2806085" y="181523"/>
                  <a:pt x="2880299" y="151436"/>
                  <a:pt x="2957521" y="152439"/>
                </a:cubicBezTo>
                <a:cubicBezTo>
                  <a:pt x="3017695" y="152439"/>
                  <a:pt x="3062825" y="170491"/>
                  <a:pt x="3090906" y="203586"/>
                </a:cubicBezTo>
                <a:cubicBezTo>
                  <a:pt x="3132024" y="253731"/>
                  <a:pt x="3129015" y="328947"/>
                  <a:pt x="3117984" y="383104"/>
                </a:cubicBezTo>
                <a:close/>
                <a:moveTo>
                  <a:pt x="2981590" y="318919"/>
                </a:moveTo>
                <a:cubicBezTo>
                  <a:pt x="2979585" y="283818"/>
                  <a:pt x="2961533" y="264763"/>
                  <a:pt x="2928437" y="264763"/>
                </a:cubicBezTo>
                <a:cubicBezTo>
                  <a:pt x="2858235" y="264763"/>
                  <a:pt x="2798062" y="385109"/>
                  <a:pt x="2798062" y="469352"/>
                </a:cubicBezTo>
                <a:cubicBezTo>
                  <a:pt x="2798062" y="521502"/>
                  <a:pt x="2817117" y="554597"/>
                  <a:pt x="2851215" y="554597"/>
                </a:cubicBezTo>
                <a:cubicBezTo>
                  <a:pt x="2905371" y="554597"/>
                  <a:pt x="2951504" y="498436"/>
                  <a:pt x="2967550" y="415196"/>
                </a:cubicBezTo>
                <a:cubicBezTo>
                  <a:pt x="2973567" y="387115"/>
                  <a:pt x="2982593" y="340982"/>
                  <a:pt x="2981590" y="318919"/>
                </a:cubicBezTo>
                <a:lnTo>
                  <a:pt x="2981590" y="318919"/>
                </a:lnTo>
                <a:close/>
                <a:moveTo>
                  <a:pt x="832398" y="383104"/>
                </a:moveTo>
                <a:lnTo>
                  <a:pt x="779245" y="663912"/>
                </a:lnTo>
                <a:lnTo>
                  <a:pt x="636835" y="663912"/>
                </a:lnTo>
                <a:lnTo>
                  <a:pt x="654887" y="567635"/>
                </a:lnTo>
                <a:cubicBezTo>
                  <a:pt x="634829" y="627808"/>
                  <a:pt x="586690" y="675947"/>
                  <a:pt x="505456" y="675947"/>
                </a:cubicBezTo>
                <a:cubicBezTo>
                  <a:pt x="406170" y="675947"/>
                  <a:pt x="362043" y="588696"/>
                  <a:pt x="362043" y="500441"/>
                </a:cubicBezTo>
                <a:cubicBezTo>
                  <a:pt x="362043" y="401155"/>
                  <a:pt x="401156" y="301870"/>
                  <a:pt x="466344" y="236682"/>
                </a:cubicBezTo>
                <a:cubicBezTo>
                  <a:pt x="520500" y="181523"/>
                  <a:pt x="594713" y="151436"/>
                  <a:pt x="671936" y="152439"/>
                </a:cubicBezTo>
                <a:cubicBezTo>
                  <a:pt x="732109" y="152439"/>
                  <a:pt x="777239" y="170491"/>
                  <a:pt x="805320" y="203586"/>
                </a:cubicBezTo>
                <a:cubicBezTo>
                  <a:pt x="846439" y="253731"/>
                  <a:pt x="843430" y="328947"/>
                  <a:pt x="832398" y="383104"/>
                </a:cubicBezTo>
                <a:close/>
                <a:moveTo>
                  <a:pt x="696005" y="318919"/>
                </a:moveTo>
                <a:cubicBezTo>
                  <a:pt x="694000" y="283818"/>
                  <a:pt x="675948" y="264763"/>
                  <a:pt x="642852" y="264763"/>
                </a:cubicBezTo>
                <a:cubicBezTo>
                  <a:pt x="572650" y="264763"/>
                  <a:pt x="512477" y="385109"/>
                  <a:pt x="512477" y="469352"/>
                </a:cubicBezTo>
                <a:cubicBezTo>
                  <a:pt x="512477" y="521502"/>
                  <a:pt x="531531" y="554597"/>
                  <a:pt x="565630" y="554597"/>
                </a:cubicBezTo>
                <a:cubicBezTo>
                  <a:pt x="619786" y="554597"/>
                  <a:pt x="665919" y="498436"/>
                  <a:pt x="681965" y="415196"/>
                </a:cubicBezTo>
                <a:cubicBezTo>
                  <a:pt x="687982" y="387115"/>
                  <a:pt x="697008" y="340982"/>
                  <a:pt x="696005" y="318919"/>
                </a:cubicBezTo>
                <a:close/>
                <a:moveTo>
                  <a:pt x="2637600" y="342988"/>
                </a:moveTo>
                <a:cubicBezTo>
                  <a:pt x="2637600" y="465340"/>
                  <a:pt x="2579432" y="589699"/>
                  <a:pt x="2473126" y="645860"/>
                </a:cubicBezTo>
                <a:cubicBezTo>
                  <a:pt x="2440030" y="663912"/>
                  <a:pt x="2402923" y="674944"/>
                  <a:pt x="2364814" y="675947"/>
                </a:cubicBezTo>
                <a:cubicBezTo>
                  <a:pt x="2311660" y="675947"/>
                  <a:pt x="2282577" y="655889"/>
                  <a:pt x="2265527" y="625803"/>
                </a:cubicBezTo>
                <a:lnTo>
                  <a:pt x="2227418" y="825377"/>
                </a:lnTo>
                <a:lnTo>
                  <a:pt x="2078990" y="825377"/>
                </a:lnTo>
                <a:lnTo>
                  <a:pt x="2205354" y="161465"/>
                </a:lnTo>
                <a:lnTo>
                  <a:pt x="2336733" y="161465"/>
                </a:lnTo>
                <a:lnTo>
                  <a:pt x="2321689" y="241696"/>
                </a:lnTo>
                <a:cubicBezTo>
                  <a:pt x="2358796" y="187540"/>
                  <a:pt x="2413955" y="151436"/>
                  <a:pt x="2475131" y="151436"/>
                </a:cubicBezTo>
                <a:cubicBezTo>
                  <a:pt x="2573415" y="151436"/>
                  <a:pt x="2637600" y="226653"/>
                  <a:pt x="2637600" y="342988"/>
                </a:cubicBezTo>
                <a:lnTo>
                  <a:pt x="2637600" y="342988"/>
                </a:lnTo>
                <a:close/>
                <a:moveTo>
                  <a:pt x="2483155" y="354020"/>
                </a:moveTo>
                <a:cubicBezTo>
                  <a:pt x="2483155" y="329950"/>
                  <a:pt x="2477137" y="272786"/>
                  <a:pt x="2422981" y="272786"/>
                </a:cubicBezTo>
                <a:cubicBezTo>
                  <a:pt x="2367822" y="272786"/>
                  <a:pt x="2320686" y="335968"/>
                  <a:pt x="2302634" y="431242"/>
                </a:cubicBezTo>
                <a:cubicBezTo>
                  <a:pt x="2296617" y="464337"/>
                  <a:pt x="2278565" y="562621"/>
                  <a:pt x="2347765" y="562621"/>
                </a:cubicBezTo>
                <a:cubicBezTo>
                  <a:pt x="2425990" y="562621"/>
                  <a:pt x="2483155" y="451300"/>
                  <a:pt x="2483155" y="354020"/>
                </a:cubicBezTo>
                <a:lnTo>
                  <a:pt x="2483155" y="354020"/>
                </a:lnTo>
                <a:close/>
                <a:moveTo>
                  <a:pt x="207598" y="272786"/>
                </a:moveTo>
                <a:lnTo>
                  <a:pt x="228659" y="161465"/>
                </a:lnTo>
                <a:lnTo>
                  <a:pt x="97280" y="161465"/>
                </a:lnTo>
                <a:lnTo>
                  <a:pt x="0" y="672938"/>
                </a:lnTo>
                <a:lnTo>
                  <a:pt x="148428" y="672938"/>
                </a:lnTo>
                <a:lnTo>
                  <a:pt x="188543" y="461329"/>
                </a:lnTo>
                <a:cubicBezTo>
                  <a:pt x="212613" y="336971"/>
                  <a:pt x="283818" y="286826"/>
                  <a:pt x="385110" y="301870"/>
                </a:cubicBezTo>
                <a:lnTo>
                  <a:pt x="414193" y="149430"/>
                </a:lnTo>
                <a:cubicBezTo>
                  <a:pt x="326942" y="142410"/>
                  <a:pt x="242699" y="191552"/>
                  <a:pt x="207598" y="272786"/>
                </a:cubicBezTo>
                <a:close/>
                <a:moveTo>
                  <a:pt x="1400034" y="663912"/>
                </a:moveTo>
                <a:lnTo>
                  <a:pt x="1451181" y="394135"/>
                </a:lnTo>
                <a:lnTo>
                  <a:pt x="1556485" y="663912"/>
                </a:lnTo>
                <a:lnTo>
                  <a:pt x="1716947" y="663912"/>
                </a:lnTo>
                <a:lnTo>
                  <a:pt x="1607632" y="392130"/>
                </a:lnTo>
                <a:lnTo>
                  <a:pt x="1806204" y="160462"/>
                </a:lnTo>
                <a:lnTo>
                  <a:pt x="1643736" y="160462"/>
                </a:lnTo>
                <a:lnTo>
                  <a:pt x="1452184" y="390124"/>
                </a:lnTo>
                <a:lnTo>
                  <a:pt x="1526398" y="0"/>
                </a:lnTo>
                <a:lnTo>
                  <a:pt x="1378973" y="0"/>
                </a:lnTo>
                <a:lnTo>
                  <a:pt x="1252609" y="663912"/>
                </a:lnTo>
                <a:lnTo>
                  <a:pt x="1400034" y="663912"/>
                </a:lnTo>
                <a:close/>
              </a:path>
            </a:pathLst>
          </a:custGeom>
          <a:solidFill>
            <a:srgbClr val="FFFFFF"/>
          </a:solidFill>
          <a:ln w="10025" cap="flat">
            <a:noFill/>
            <a:prstDash val="solid"/>
            <a:miter/>
          </a:ln>
        </p:spPr>
        <p:txBody>
          <a:bodyPr rtlCol="0" anchor="ctr"/>
          <a:lstStyle/>
          <a:p>
            <a:endParaRPr lang="en-US" sz="3600"/>
          </a:p>
        </p:txBody>
      </p:sp>
      <p:sp>
        <p:nvSpPr>
          <p:cNvPr id="7" name="Freeform 6">
            <a:extLst>
              <a:ext uri="{FF2B5EF4-FFF2-40B4-BE49-F238E27FC236}">
                <a16:creationId xmlns:a16="http://schemas.microsoft.com/office/drawing/2014/main" id="{483D6FC1-6DED-F743-BE26-C97D31C25E42}"/>
              </a:ext>
            </a:extLst>
          </p:cNvPr>
          <p:cNvSpPr/>
          <p:nvPr userDrawn="1"/>
        </p:nvSpPr>
        <p:spPr>
          <a:xfrm>
            <a:off x="12110091" y="7716491"/>
            <a:ext cx="4216834" cy="748322"/>
          </a:xfrm>
          <a:custGeom>
            <a:avLst/>
            <a:gdLst>
              <a:gd name="connsiteX0" fmla="*/ 1224528 w 2108417"/>
              <a:gd name="connsiteY0" fmla="*/ 152439 h 374161"/>
              <a:gd name="connsiteX1" fmla="*/ 1102176 w 2108417"/>
              <a:gd name="connsiteY1" fmla="*/ 286826 h 374161"/>
              <a:gd name="connsiteX2" fmla="*/ 1014924 w 2108417"/>
              <a:gd name="connsiteY2" fmla="*/ 198572 h 374161"/>
              <a:gd name="connsiteX3" fmla="*/ 1137277 w 2108417"/>
              <a:gd name="connsiteY3" fmla="*/ 64185 h 374161"/>
              <a:gd name="connsiteX4" fmla="*/ 1224528 w 2108417"/>
              <a:gd name="connsiteY4" fmla="*/ 152439 h 374161"/>
              <a:gd name="connsiteX5" fmla="*/ 1067075 w 2108417"/>
              <a:gd name="connsiteY5" fmla="*/ 198572 h 374161"/>
              <a:gd name="connsiteX6" fmla="*/ 1108193 w 2108417"/>
              <a:gd name="connsiteY6" fmla="*/ 248716 h 374161"/>
              <a:gd name="connsiteX7" fmla="*/ 1171375 w 2108417"/>
              <a:gd name="connsiteY7" fmla="*/ 153442 h 374161"/>
              <a:gd name="connsiteX8" fmla="*/ 1130256 w 2108417"/>
              <a:gd name="connsiteY8" fmla="*/ 104300 h 374161"/>
              <a:gd name="connsiteX9" fmla="*/ 1067075 w 2108417"/>
              <a:gd name="connsiteY9" fmla="*/ 198572 h 374161"/>
              <a:gd name="connsiteX10" fmla="*/ 1570525 w 2108417"/>
              <a:gd name="connsiteY10" fmla="*/ 152439 h 374161"/>
              <a:gd name="connsiteX11" fmla="*/ 1448173 w 2108417"/>
              <a:gd name="connsiteY11" fmla="*/ 286826 h 374161"/>
              <a:gd name="connsiteX12" fmla="*/ 1360921 w 2108417"/>
              <a:gd name="connsiteY12" fmla="*/ 198572 h 374161"/>
              <a:gd name="connsiteX13" fmla="*/ 1483274 w 2108417"/>
              <a:gd name="connsiteY13" fmla="*/ 64185 h 374161"/>
              <a:gd name="connsiteX14" fmla="*/ 1570525 w 2108417"/>
              <a:gd name="connsiteY14" fmla="*/ 152439 h 374161"/>
              <a:gd name="connsiteX15" fmla="*/ 1570525 w 2108417"/>
              <a:gd name="connsiteY15" fmla="*/ 152439 h 374161"/>
              <a:gd name="connsiteX16" fmla="*/ 1413071 w 2108417"/>
              <a:gd name="connsiteY16" fmla="*/ 198572 h 374161"/>
              <a:gd name="connsiteX17" fmla="*/ 1454190 w 2108417"/>
              <a:gd name="connsiteY17" fmla="*/ 248716 h 374161"/>
              <a:gd name="connsiteX18" fmla="*/ 1517372 w 2108417"/>
              <a:gd name="connsiteY18" fmla="*/ 153442 h 374161"/>
              <a:gd name="connsiteX19" fmla="*/ 1476253 w 2108417"/>
              <a:gd name="connsiteY19" fmla="*/ 104300 h 374161"/>
              <a:gd name="connsiteX20" fmla="*/ 1413071 w 2108417"/>
              <a:gd name="connsiteY20" fmla="*/ 198572 h 374161"/>
              <a:gd name="connsiteX21" fmla="*/ 1300748 w 2108417"/>
              <a:gd name="connsiteY21" fmla="*/ 0 h 374161"/>
              <a:gd name="connsiteX22" fmla="*/ 1246592 w 2108417"/>
              <a:gd name="connsiteY22" fmla="*/ 282815 h 374161"/>
              <a:gd name="connsiteX23" fmla="*/ 1297739 w 2108417"/>
              <a:gd name="connsiteY23" fmla="*/ 282815 h 374161"/>
              <a:gd name="connsiteX24" fmla="*/ 1351895 w 2108417"/>
              <a:gd name="connsiteY24" fmla="*/ 0 h 374161"/>
              <a:gd name="connsiteX25" fmla="*/ 1300748 w 2108417"/>
              <a:gd name="connsiteY25" fmla="*/ 0 h 374161"/>
              <a:gd name="connsiteX26" fmla="*/ 480384 w 2108417"/>
              <a:gd name="connsiteY26" fmla="*/ 65188 h 374161"/>
              <a:gd name="connsiteX27" fmla="*/ 344994 w 2108417"/>
              <a:gd name="connsiteY27" fmla="*/ 198572 h 374161"/>
              <a:gd name="connsiteX28" fmla="*/ 344994 w 2108417"/>
              <a:gd name="connsiteY28" fmla="*/ 202583 h 374161"/>
              <a:gd name="connsiteX29" fmla="*/ 431243 w 2108417"/>
              <a:gd name="connsiteY29" fmla="*/ 286826 h 374161"/>
              <a:gd name="connsiteX30" fmla="*/ 494425 w 2108417"/>
              <a:gd name="connsiteY30" fmla="*/ 273789 h 374161"/>
              <a:gd name="connsiteX31" fmla="*/ 502448 w 2108417"/>
              <a:gd name="connsiteY31" fmla="*/ 229662 h 374161"/>
              <a:gd name="connsiteX32" fmla="*/ 445283 w 2108417"/>
              <a:gd name="connsiteY32" fmla="*/ 245708 h 374161"/>
              <a:gd name="connsiteX33" fmla="*/ 398147 w 2108417"/>
              <a:gd name="connsiteY33" fmla="*/ 195563 h 374161"/>
              <a:gd name="connsiteX34" fmla="*/ 478378 w 2108417"/>
              <a:gd name="connsiteY34" fmla="*/ 106306 h 374161"/>
              <a:gd name="connsiteX35" fmla="*/ 517491 w 2108417"/>
              <a:gd name="connsiteY35" fmla="*/ 116335 h 374161"/>
              <a:gd name="connsiteX36" fmla="*/ 525514 w 2108417"/>
              <a:gd name="connsiteY36" fmla="*/ 74214 h 374161"/>
              <a:gd name="connsiteX37" fmla="*/ 480384 w 2108417"/>
              <a:gd name="connsiteY37" fmla="*/ 65188 h 374161"/>
              <a:gd name="connsiteX38" fmla="*/ 190549 w 2108417"/>
              <a:gd name="connsiteY38" fmla="*/ 225650 h 374161"/>
              <a:gd name="connsiteX39" fmla="*/ 184532 w 2108417"/>
              <a:gd name="connsiteY39" fmla="*/ 195563 h 374161"/>
              <a:gd name="connsiteX40" fmla="*/ 323933 w 2108417"/>
              <a:gd name="connsiteY40" fmla="*/ 125361 h 374161"/>
              <a:gd name="connsiteX41" fmla="*/ 255737 w 2108417"/>
              <a:gd name="connsiteY41" fmla="*/ 65188 h 374161"/>
              <a:gd name="connsiteX42" fmla="*/ 135390 w 2108417"/>
              <a:gd name="connsiteY42" fmla="*/ 199575 h 374161"/>
              <a:gd name="connsiteX43" fmla="*/ 222641 w 2108417"/>
              <a:gd name="connsiteY43" fmla="*/ 287829 h 374161"/>
              <a:gd name="connsiteX44" fmla="*/ 302873 w 2108417"/>
              <a:gd name="connsiteY44" fmla="*/ 267771 h 374161"/>
              <a:gd name="connsiteX45" fmla="*/ 311899 w 2108417"/>
              <a:gd name="connsiteY45" fmla="*/ 221638 h 374161"/>
              <a:gd name="connsiteX46" fmla="*/ 234676 w 2108417"/>
              <a:gd name="connsiteY46" fmla="*/ 246711 h 374161"/>
              <a:gd name="connsiteX47" fmla="*/ 190549 w 2108417"/>
              <a:gd name="connsiteY47" fmla="*/ 225650 h 374161"/>
              <a:gd name="connsiteX48" fmla="*/ 248717 w 2108417"/>
              <a:gd name="connsiteY48" fmla="*/ 103297 h 374161"/>
              <a:gd name="connsiteX49" fmla="*/ 275795 w 2108417"/>
              <a:gd name="connsiteY49" fmla="*/ 125361 h 374161"/>
              <a:gd name="connsiteX50" fmla="*/ 189546 w 2108417"/>
              <a:gd name="connsiteY50" fmla="*/ 157454 h 374161"/>
              <a:gd name="connsiteX51" fmla="*/ 248717 w 2108417"/>
              <a:gd name="connsiteY51" fmla="*/ 103297 h 374161"/>
              <a:gd name="connsiteX52" fmla="*/ 979823 w 2108417"/>
              <a:gd name="connsiteY52" fmla="*/ 123355 h 374161"/>
              <a:gd name="connsiteX53" fmla="*/ 925667 w 2108417"/>
              <a:gd name="connsiteY53" fmla="*/ 65188 h 374161"/>
              <a:gd name="connsiteX54" fmla="*/ 848444 w 2108417"/>
              <a:gd name="connsiteY54" fmla="*/ 109315 h 374161"/>
              <a:gd name="connsiteX55" fmla="*/ 856468 w 2108417"/>
              <a:gd name="connsiteY55" fmla="*/ 68196 h 374161"/>
              <a:gd name="connsiteX56" fmla="*/ 810335 w 2108417"/>
              <a:gd name="connsiteY56" fmla="*/ 68196 h 374161"/>
              <a:gd name="connsiteX57" fmla="*/ 769216 w 2108417"/>
              <a:gd name="connsiteY57" fmla="*/ 281812 h 374161"/>
              <a:gd name="connsiteX58" fmla="*/ 820364 w 2108417"/>
              <a:gd name="connsiteY58" fmla="*/ 281812 h 374161"/>
              <a:gd name="connsiteX59" fmla="*/ 839419 w 2108417"/>
              <a:gd name="connsiteY59" fmla="*/ 183529 h 374161"/>
              <a:gd name="connsiteX60" fmla="*/ 900595 w 2108417"/>
              <a:gd name="connsiteY60" fmla="*/ 105303 h 374161"/>
              <a:gd name="connsiteX61" fmla="*/ 927673 w 2108417"/>
              <a:gd name="connsiteY61" fmla="*/ 135390 h 374161"/>
              <a:gd name="connsiteX62" fmla="*/ 924664 w 2108417"/>
              <a:gd name="connsiteY62" fmla="*/ 160462 h 374161"/>
              <a:gd name="connsiteX63" fmla="*/ 901598 w 2108417"/>
              <a:gd name="connsiteY63" fmla="*/ 280809 h 374161"/>
              <a:gd name="connsiteX64" fmla="*/ 952745 w 2108417"/>
              <a:gd name="connsiteY64" fmla="*/ 280809 h 374161"/>
              <a:gd name="connsiteX65" fmla="*/ 976814 w 2108417"/>
              <a:gd name="connsiteY65" fmla="*/ 156451 h 374161"/>
              <a:gd name="connsiteX66" fmla="*/ 979823 w 2108417"/>
              <a:gd name="connsiteY66" fmla="*/ 123355 h 374161"/>
              <a:gd name="connsiteX67" fmla="*/ 979823 w 2108417"/>
              <a:gd name="connsiteY67" fmla="*/ 123355 h 374161"/>
              <a:gd name="connsiteX68" fmla="*/ 684974 w 2108417"/>
              <a:gd name="connsiteY68" fmla="*/ 65188 h 374161"/>
              <a:gd name="connsiteX69" fmla="*/ 613768 w 2108417"/>
              <a:gd name="connsiteY69" fmla="*/ 100289 h 374161"/>
              <a:gd name="connsiteX70" fmla="*/ 632823 w 2108417"/>
              <a:gd name="connsiteY70" fmla="*/ 0 h 374161"/>
              <a:gd name="connsiteX71" fmla="*/ 581676 w 2108417"/>
              <a:gd name="connsiteY71" fmla="*/ 0 h 374161"/>
              <a:gd name="connsiteX72" fmla="*/ 527520 w 2108417"/>
              <a:gd name="connsiteY72" fmla="*/ 282815 h 374161"/>
              <a:gd name="connsiteX73" fmla="*/ 578667 w 2108417"/>
              <a:gd name="connsiteY73" fmla="*/ 282815 h 374161"/>
              <a:gd name="connsiteX74" fmla="*/ 597722 w 2108417"/>
              <a:gd name="connsiteY74" fmla="*/ 184532 h 374161"/>
              <a:gd name="connsiteX75" fmla="*/ 658898 w 2108417"/>
              <a:gd name="connsiteY75" fmla="*/ 106306 h 374161"/>
              <a:gd name="connsiteX76" fmla="*/ 685977 w 2108417"/>
              <a:gd name="connsiteY76" fmla="*/ 136393 h 374161"/>
              <a:gd name="connsiteX77" fmla="*/ 682968 w 2108417"/>
              <a:gd name="connsiteY77" fmla="*/ 161465 h 374161"/>
              <a:gd name="connsiteX78" fmla="*/ 659901 w 2108417"/>
              <a:gd name="connsiteY78" fmla="*/ 281812 h 374161"/>
              <a:gd name="connsiteX79" fmla="*/ 711049 w 2108417"/>
              <a:gd name="connsiteY79" fmla="*/ 281812 h 374161"/>
              <a:gd name="connsiteX80" fmla="*/ 735118 w 2108417"/>
              <a:gd name="connsiteY80" fmla="*/ 157454 h 374161"/>
              <a:gd name="connsiteX81" fmla="*/ 739130 w 2108417"/>
              <a:gd name="connsiteY81" fmla="*/ 122352 h 374161"/>
              <a:gd name="connsiteX82" fmla="*/ 684974 w 2108417"/>
              <a:gd name="connsiteY82" fmla="*/ 65188 h 374161"/>
              <a:gd name="connsiteX83" fmla="*/ 95275 w 2108417"/>
              <a:gd name="connsiteY83" fmla="*/ 15043 h 374161"/>
              <a:gd name="connsiteX84" fmla="*/ 46133 w 2108417"/>
              <a:gd name="connsiteY84" fmla="*/ 15043 h 374161"/>
              <a:gd name="connsiteX85" fmla="*/ 35101 w 2108417"/>
              <a:gd name="connsiteY85" fmla="*/ 70202 h 374161"/>
              <a:gd name="connsiteX86" fmla="*/ 7020 w 2108417"/>
              <a:gd name="connsiteY86" fmla="*/ 70202 h 374161"/>
              <a:gd name="connsiteX87" fmla="*/ 0 w 2108417"/>
              <a:gd name="connsiteY87" fmla="*/ 109315 h 374161"/>
              <a:gd name="connsiteX88" fmla="*/ 28081 w 2108417"/>
              <a:gd name="connsiteY88" fmla="*/ 109315 h 374161"/>
              <a:gd name="connsiteX89" fmla="*/ 10029 w 2108417"/>
              <a:gd name="connsiteY89" fmla="*/ 204589 h 374161"/>
              <a:gd name="connsiteX90" fmla="*/ 6017 w 2108417"/>
              <a:gd name="connsiteY90" fmla="*/ 243702 h 374161"/>
              <a:gd name="connsiteX91" fmla="*/ 56162 w 2108417"/>
              <a:gd name="connsiteY91" fmla="*/ 287829 h 374161"/>
              <a:gd name="connsiteX92" fmla="*/ 89257 w 2108417"/>
              <a:gd name="connsiteY92" fmla="*/ 283817 h 374161"/>
              <a:gd name="connsiteX93" fmla="*/ 89257 w 2108417"/>
              <a:gd name="connsiteY93" fmla="*/ 283817 h 374161"/>
              <a:gd name="connsiteX94" fmla="*/ 97280 w 2108417"/>
              <a:gd name="connsiteY94" fmla="*/ 243702 h 374161"/>
              <a:gd name="connsiteX95" fmla="*/ 77222 w 2108417"/>
              <a:gd name="connsiteY95" fmla="*/ 245708 h 374161"/>
              <a:gd name="connsiteX96" fmla="*/ 58168 w 2108417"/>
              <a:gd name="connsiteY96" fmla="*/ 231667 h 374161"/>
              <a:gd name="connsiteX97" fmla="*/ 58168 w 2108417"/>
              <a:gd name="connsiteY97" fmla="*/ 226653 h 374161"/>
              <a:gd name="connsiteX98" fmla="*/ 62179 w 2108417"/>
              <a:gd name="connsiteY98" fmla="*/ 196566 h 374161"/>
              <a:gd name="connsiteX99" fmla="*/ 79228 w 2108417"/>
              <a:gd name="connsiteY99" fmla="*/ 111321 h 374161"/>
              <a:gd name="connsiteX100" fmla="*/ 126364 w 2108417"/>
              <a:gd name="connsiteY100" fmla="*/ 111321 h 374161"/>
              <a:gd name="connsiteX101" fmla="*/ 134387 w 2108417"/>
              <a:gd name="connsiteY101" fmla="*/ 72208 h 374161"/>
              <a:gd name="connsiteX102" fmla="*/ 87251 w 2108417"/>
              <a:gd name="connsiteY102" fmla="*/ 72208 h 374161"/>
              <a:gd name="connsiteX103" fmla="*/ 95275 w 2108417"/>
              <a:gd name="connsiteY103" fmla="*/ 15043 h 374161"/>
              <a:gd name="connsiteX104" fmla="*/ 1804198 w 2108417"/>
              <a:gd name="connsiteY104" fmla="*/ 362043 h 374161"/>
              <a:gd name="connsiteX105" fmla="*/ 1909502 w 2108417"/>
              <a:gd name="connsiteY105" fmla="*/ 321927 h 374161"/>
              <a:gd name="connsiteX106" fmla="*/ 1909502 w 2108417"/>
              <a:gd name="connsiteY106" fmla="*/ 321927 h 374161"/>
              <a:gd name="connsiteX107" fmla="*/ 2051912 w 2108417"/>
              <a:gd name="connsiteY107" fmla="*/ 68196 h 374161"/>
              <a:gd name="connsiteX108" fmla="*/ 1997756 w 2108417"/>
              <a:gd name="connsiteY108" fmla="*/ 68196 h 374161"/>
              <a:gd name="connsiteX109" fmla="*/ 1916522 w 2108417"/>
              <a:gd name="connsiteY109" fmla="*/ 226653 h 374161"/>
              <a:gd name="connsiteX110" fmla="*/ 1896464 w 2108417"/>
              <a:gd name="connsiteY110" fmla="*/ 68196 h 374161"/>
              <a:gd name="connsiteX111" fmla="*/ 1843311 w 2108417"/>
              <a:gd name="connsiteY111" fmla="*/ 68196 h 374161"/>
              <a:gd name="connsiteX112" fmla="*/ 1881421 w 2108417"/>
              <a:gd name="connsiteY112" fmla="*/ 276797 h 374161"/>
              <a:gd name="connsiteX113" fmla="*/ 1864372 w 2108417"/>
              <a:gd name="connsiteY113" fmla="*/ 309893 h 374161"/>
              <a:gd name="connsiteX114" fmla="*/ 1811218 w 2108417"/>
              <a:gd name="connsiteY114" fmla="*/ 319922 h 374161"/>
              <a:gd name="connsiteX115" fmla="*/ 1804198 w 2108417"/>
              <a:gd name="connsiteY115" fmla="*/ 362043 h 374161"/>
              <a:gd name="connsiteX116" fmla="*/ 1734999 w 2108417"/>
              <a:gd name="connsiteY116" fmla="*/ 65188 h 374161"/>
              <a:gd name="connsiteX117" fmla="*/ 1598606 w 2108417"/>
              <a:gd name="connsiteY117" fmla="*/ 212612 h 374161"/>
              <a:gd name="connsiteX118" fmla="*/ 1662791 w 2108417"/>
              <a:gd name="connsiteY118" fmla="*/ 287829 h 374161"/>
              <a:gd name="connsiteX119" fmla="*/ 1733996 w 2108417"/>
              <a:gd name="connsiteY119" fmla="*/ 249719 h 374161"/>
              <a:gd name="connsiteX120" fmla="*/ 1729985 w 2108417"/>
              <a:gd name="connsiteY120" fmla="*/ 268774 h 374161"/>
              <a:gd name="connsiteX121" fmla="*/ 1660785 w 2108417"/>
              <a:gd name="connsiteY121" fmla="*/ 333962 h 374161"/>
              <a:gd name="connsiteX122" fmla="*/ 1604623 w 2108417"/>
              <a:gd name="connsiteY122" fmla="*/ 320924 h 374161"/>
              <a:gd name="connsiteX123" fmla="*/ 1596600 w 2108417"/>
              <a:gd name="connsiteY123" fmla="*/ 362043 h 374161"/>
              <a:gd name="connsiteX124" fmla="*/ 1659782 w 2108417"/>
              <a:gd name="connsiteY124" fmla="*/ 374077 h 374161"/>
              <a:gd name="connsiteX125" fmla="*/ 1739011 w 2108417"/>
              <a:gd name="connsiteY125" fmla="*/ 350008 h 374161"/>
              <a:gd name="connsiteX126" fmla="*/ 1783138 w 2108417"/>
              <a:gd name="connsiteY126" fmla="*/ 255737 h 374161"/>
              <a:gd name="connsiteX127" fmla="*/ 1802192 w 2108417"/>
              <a:gd name="connsiteY127" fmla="*/ 159459 h 374161"/>
              <a:gd name="connsiteX128" fmla="*/ 1806204 w 2108417"/>
              <a:gd name="connsiteY128" fmla="*/ 122352 h 374161"/>
              <a:gd name="connsiteX129" fmla="*/ 1734999 w 2108417"/>
              <a:gd name="connsiteY129" fmla="*/ 65188 h 374161"/>
              <a:gd name="connsiteX130" fmla="*/ 1734999 w 2108417"/>
              <a:gd name="connsiteY130" fmla="*/ 65188 h 374161"/>
              <a:gd name="connsiteX131" fmla="*/ 1751045 w 2108417"/>
              <a:gd name="connsiteY131" fmla="*/ 156451 h 374161"/>
              <a:gd name="connsiteX132" fmla="*/ 1747034 w 2108417"/>
              <a:gd name="connsiteY132" fmla="*/ 176508 h 374161"/>
              <a:gd name="connsiteX133" fmla="*/ 1684855 w 2108417"/>
              <a:gd name="connsiteY133" fmla="*/ 246711 h 374161"/>
              <a:gd name="connsiteX134" fmla="*/ 1650756 w 2108417"/>
              <a:gd name="connsiteY134" fmla="*/ 203586 h 374161"/>
              <a:gd name="connsiteX135" fmla="*/ 1724970 w 2108417"/>
              <a:gd name="connsiteY135" fmla="*/ 104300 h 374161"/>
              <a:gd name="connsiteX136" fmla="*/ 1753051 w 2108417"/>
              <a:gd name="connsiteY136" fmla="*/ 126364 h 374161"/>
              <a:gd name="connsiteX137" fmla="*/ 1753051 w 2108417"/>
              <a:gd name="connsiteY137" fmla="*/ 131378 h 374161"/>
              <a:gd name="connsiteX138" fmla="*/ 1751045 w 2108417"/>
              <a:gd name="connsiteY138" fmla="*/ 156451 h 374161"/>
              <a:gd name="connsiteX139" fmla="*/ 2108074 w 2108417"/>
              <a:gd name="connsiteY139" fmla="*/ 238687 h 374161"/>
              <a:gd name="connsiteX140" fmla="*/ 2069964 w 2108417"/>
              <a:gd name="connsiteY140" fmla="*/ 190549 h 374161"/>
              <a:gd name="connsiteX141" fmla="*/ 2063947 w 2108417"/>
              <a:gd name="connsiteY141" fmla="*/ 190549 h 374161"/>
              <a:gd name="connsiteX142" fmla="*/ 2010794 w 2108417"/>
              <a:gd name="connsiteY142" fmla="*/ 239690 h 374161"/>
              <a:gd name="connsiteX143" fmla="*/ 2048903 w 2108417"/>
              <a:gd name="connsiteY143" fmla="*/ 287829 h 374161"/>
              <a:gd name="connsiteX144" fmla="*/ 2054921 w 2108417"/>
              <a:gd name="connsiteY144" fmla="*/ 287829 h 374161"/>
              <a:gd name="connsiteX145" fmla="*/ 2108074 w 2108417"/>
              <a:gd name="connsiteY145" fmla="*/ 238687 h 374161"/>
              <a:gd name="connsiteX146" fmla="*/ 2101054 w 2108417"/>
              <a:gd name="connsiteY146" fmla="*/ 238687 h 374161"/>
              <a:gd name="connsiteX147" fmla="*/ 2054921 w 2108417"/>
              <a:gd name="connsiteY147" fmla="*/ 280809 h 374161"/>
              <a:gd name="connsiteX148" fmla="*/ 2016811 w 2108417"/>
              <a:gd name="connsiteY148" fmla="*/ 244705 h 374161"/>
              <a:gd name="connsiteX149" fmla="*/ 2016811 w 2108417"/>
              <a:gd name="connsiteY149" fmla="*/ 239690 h 374161"/>
              <a:gd name="connsiteX150" fmla="*/ 2062944 w 2108417"/>
              <a:gd name="connsiteY150" fmla="*/ 197569 h 374161"/>
              <a:gd name="connsiteX151" fmla="*/ 2101054 w 2108417"/>
              <a:gd name="connsiteY151" fmla="*/ 233673 h 374161"/>
              <a:gd name="connsiteX152" fmla="*/ 2101054 w 2108417"/>
              <a:gd name="connsiteY152" fmla="*/ 238687 h 374161"/>
              <a:gd name="connsiteX153" fmla="*/ 2066955 w 2108417"/>
              <a:gd name="connsiteY153" fmla="*/ 244705 h 374161"/>
              <a:gd name="connsiteX154" fmla="*/ 2074979 w 2108417"/>
              <a:gd name="connsiteY154" fmla="*/ 267771 h 374161"/>
              <a:gd name="connsiteX155" fmla="*/ 2066955 w 2108417"/>
              <a:gd name="connsiteY155" fmla="*/ 267771 h 374161"/>
              <a:gd name="connsiteX156" fmla="*/ 2058932 w 2108417"/>
              <a:gd name="connsiteY156" fmla="*/ 245708 h 374161"/>
              <a:gd name="connsiteX157" fmla="*/ 2047900 w 2108417"/>
              <a:gd name="connsiteY157" fmla="*/ 245708 h 374161"/>
              <a:gd name="connsiteX158" fmla="*/ 2043889 w 2108417"/>
              <a:gd name="connsiteY158" fmla="*/ 267771 h 374161"/>
              <a:gd name="connsiteX159" fmla="*/ 2036869 w 2108417"/>
              <a:gd name="connsiteY159" fmla="*/ 267771 h 374161"/>
              <a:gd name="connsiteX160" fmla="*/ 2047900 w 2108417"/>
              <a:gd name="connsiteY160" fmla="*/ 210607 h 374161"/>
              <a:gd name="connsiteX161" fmla="*/ 2066955 w 2108417"/>
              <a:gd name="connsiteY161" fmla="*/ 210607 h 374161"/>
              <a:gd name="connsiteX162" fmla="*/ 2081999 w 2108417"/>
              <a:gd name="connsiteY162" fmla="*/ 224647 h 374161"/>
              <a:gd name="connsiteX163" fmla="*/ 2081999 w 2108417"/>
              <a:gd name="connsiteY163" fmla="*/ 224647 h 374161"/>
              <a:gd name="connsiteX164" fmla="*/ 2066955 w 2108417"/>
              <a:gd name="connsiteY164" fmla="*/ 244705 h 374161"/>
              <a:gd name="connsiteX165" fmla="*/ 2066955 w 2108417"/>
              <a:gd name="connsiteY165" fmla="*/ 244705 h 374161"/>
              <a:gd name="connsiteX166" fmla="*/ 2066955 w 2108417"/>
              <a:gd name="connsiteY166" fmla="*/ 216624 h 374161"/>
              <a:gd name="connsiteX167" fmla="*/ 2053918 w 2108417"/>
              <a:gd name="connsiteY167" fmla="*/ 216624 h 374161"/>
              <a:gd name="connsiteX168" fmla="*/ 2049906 w 2108417"/>
              <a:gd name="connsiteY168" fmla="*/ 237685 h 374161"/>
              <a:gd name="connsiteX169" fmla="*/ 2061941 w 2108417"/>
              <a:gd name="connsiteY169" fmla="*/ 237685 h 374161"/>
              <a:gd name="connsiteX170" fmla="*/ 2074979 w 2108417"/>
              <a:gd name="connsiteY170" fmla="*/ 226653 h 374161"/>
              <a:gd name="connsiteX171" fmla="*/ 2068961 w 2108417"/>
              <a:gd name="connsiteY171" fmla="*/ 216624 h 374161"/>
              <a:gd name="connsiteX172" fmla="*/ 2066955 w 2108417"/>
              <a:gd name="connsiteY172" fmla="*/ 216624 h 374161"/>
              <a:gd name="connsiteX173" fmla="*/ 2066955 w 2108417"/>
              <a:gd name="connsiteY173" fmla="*/ 216624 h 37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2108417" h="374161">
                <a:moveTo>
                  <a:pt x="1224528" y="152439"/>
                </a:moveTo>
                <a:cubicBezTo>
                  <a:pt x="1224528" y="224647"/>
                  <a:pt x="1174384" y="286826"/>
                  <a:pt x="1102176" y="286826"/>
                </a:cubicBezTo>
                <a:cubicBezTo>
                  <a:pt x="1048020" y="286826"/>
                  <a:pt x="1014924" y="249719"/>
                  <a:pt x="1014924" y="198572"/>
                </a:cubicBezTo>
                <a:cubicBezTo>
                  <a:pt x="1014924" y="126364"/>
                  <a:pt x="1065069" y="64185"/>
                  <a:pt x="1137277" y="64185"/>
                </a:cubicBezTo>
                <a:cubicBezTo>
                  <a:pt x="1194441" y="65188"/>
                  <a:pt x="1224528" y="106306"/>
                  <a:pt x="1224528" y="152439"/>
                </a:cubicBezTo>
                <a:close/>
                <a:moveTo>
                  <a:pt x="1067075" y="198572"/>
                </a:moveTo>
                <a:cubicBezTo>
                  <a:pt x="1067075" y="227656"/>
                  <a:pt x="1082118" y="248716"/>
                  <a:pt x="1108193" y="248716"/>
                </a:cubicBezTo>
                <a:cubicBezTo>
                  <a:pt x="1146303" y="248716"/>
                  <a:pt x="1171375" y="196566"/>
                  <a:pt x="1171375" y="153442"/>
                </a:cubicBezTo>
                <a:cubicBezTo>
                  <a:pt x="1171375" y="131378"/>
                  <a:pt x="1161346" y="104300"/>
                  <a:pt x="1130256" y="104300"/>
                </a:cubicBezTo>
                <a:cubicBezTo>
                  <a:pt x="1091144" y="104300"/>
                  <a:pt x="1067075" y="158456"/>
                  <a:pt x="1067075" y="198572"/>
                </a:cubicBezTo>
                <a:close/>
                <a:moveTo>
                  <a:pt x="1570525" y="152439"/>
                </a:moveTo>
                <a:cubicBezTo>
                  <a:pt x="1570525" y="224647"/>
                  <a:pt x="1520380" y="286826"/>
                  <a:pt x="1448173" y="286826"/>
                </a:cubicBezTo>
                <a:cubicBezTo>
                  <a:pt x="1394017" y="286826"/>
                  <a:pt x="1360921" y="249719"/>
                  <a:pt x="1360921" y="198572"/>
                </a:cubicBezTo>
                <a:cubicBezTo>
                  <a:pt x="1360921" y="126364"/>
                  <a:pt x="1411066" y="64185"/>
                  <a:pt x="1483274" y="64185"/>
                </a:cubicBezTo>
                <a:cubicBezTo>
                  <a:pt x="1541441" y="65188"/>
                  <a:pt x="1570525" y="106306"/>
                  <a:pt x="1570525" y="152439"/>
                </a:cubicBezTo>
                <a:lnTo>
                  <a:pt x="1570525" y="152439"/>
                </a:lnTo>
                <a:close/>
                <a:moveTo>
                  <a:pt x="1413071" y="198572"/>
                </a:moveTo>
                <a:cubicBezTo>
                  <a:pt x="1413071" y="227656"/>
                  <a:pt x="1428115" y="248716"/>
                  <a:pt x="1454190" y="248716"/>
                </a:cubicBezTo>
                <a:cubicBezTo>
                  <a:pt x="1492300" y="248716"/>
                  <a:pt x="1517372" y="196566"/>
                  <a:pt x="1517372" y="153442"/>
                </a:cubicBezTo>
                <a:cubicBezTo>
                  <a:pt x="1517372" y="131378"/>
                  <a:pt x="1507343" y="104300"/>
                  <a:pt x="1476253" y="104300"/>
                </a:cubicBezTo>
                <a:cubicBezTo>
                  <a:pt x="1437141" y="104300"/>
                  <a:pt x="1413071" y="158456"/>
                  <a:pt x="1413071" y="198572"/>
                </a:cubicBezTo>
                <a:close/>
                <a:moveTo>
                  <a:pt x="1300748" y="0"/>
                </a:moveTo>
                <a:lnTo>
                  <a:pt x="1246592" y="282815"/>
                </a:lnTo>
                <a:lnTo>
                  <a:pt x="1297739" y="282815"/>
                </a:lnTo>
                <a:lnTo>
                  <a:pt x="1351895" y="0"/>
                </a:lnTo>
                <a:lnTo>
                  <a:pt x="1300748" y="0"/>
                </a:lnTo>
                <a:close/>
                <a:moveTo>
                  <a:pt x="480384" y="65188"/>
                </a:moveTo>
                <a:cubicBezTo>
                  <a:pt x="406170" y="64185"/>
                  <a:pt x="345997" y="124358"/>
                  <a:pt x="344994" y="198572"/>
                </a:cubicBezTo>
                <a:cubicBezTo>
                  <a:pt x="344994" y="199575"/>
                  <a:pt x="344994" y="200578"/>
                  <a:pt x="344994" y="202583"/>
                </a:cubicBezTo>
                <a:cubicBezTo>
                  <a:pt x="344994" y="253731"/>
                  <a:pt x="378089" y="286826"/>
                  <a:pt x="431243" y="286826"/>
                </a:cubicBezTo>
                <a:cubicBezTo>
                  <a:pt x="453306" y="286826"/>
                  <a:pt x="474367" y="282815"/>
                  <a:pt x="494425" y="273789"/>
                </a:cubicBezTo>
                <a:lnTo>
                  <a:pt x="502448" y="229662"/>
                </a:lnTo>
                <a:cubicBezTo>
                  <a:pt x="485399" y="239690"/>
                  <a:pt x="465341" y="245708"/>
                  <a:pt x="445283" y="245708"/>
                </a:cubicBezTo>
                <a:cubicBezTo>
                  <a:pt x="417202" y="245708"/>
                  <a:pt x="398147" y="227656"/>
                  <a:pt x="398147" y="195563"/>
                </a:cubicBezTo>
                <a:cubicBezTo>
                  <a:pt x="398147" y="151436"/>
                  <a:pt x="429237" y="106306"/>
                  <a:pt x="478378" y="106306"/>
                </a:cubicBezTo>
                <a:cubicBezTo>
                  <a:pt x="492419" y="106306"/>
                  <a:pt x="505456" y="109315"/>
                  <a:pt x="517491" y="116335"/>
                </a:cubicBezTo>
                <a:lnTo>
                  <a:pt x="525514" y="74214"/>
                </a:lnTo>
                <a:cubicBezTo>
                  <a:pt x="511474" y="68196"/>
                  <a:pt x="496430" y="65188"/>
                  <a:pt x="480384" y="65188"/>
                </a:cubicBezTo>
                <a:close/>
                <a:moveTo>
                  <a:pt x="190549" y="225650"/>
                </a:moveTo>
                <a:cubicBezTo>
                  <a:pt x="185535" y="216624"/>
                  <a:pt x="184532" y="205592"/>
                  <a:pt x="184532" y="195563"/>
                </a:cubicBezTo>
                <a:cubicBezTo>
                  <a:pt x="266769" y="197569"/>
                  <a:pt x="323933" y="179517"/>
                  <a:pt x="323933" y="125361"/>
                </a:cubicBezTo>
                <a:cubicBezTo>
                  <a:pt x="323933" y="89257"/>
                  <a:pt x="296855" y="65188"/>
                  <a:pt x="255737" y="65188"/>
                </a:cubicBezTo>
                <a:cubicBezTo>
                  <a:pt x="182526" y="65188"/>
                  <a:pt x="135390" y="135390"/>
                  <a:pt x="135390" y="199575"/>
                </a:cubicBezTo>
                <a:cubicBezTo>
                  <a:pt x="135390" y="251725"/>
                  <a:pt x="163471" y="287829"/>
                  <a:pt x="222641" y="287829"/>
                </a:cubicBezTo>
                <a:cubicBezTo>
                  <a:pt x="250722" y="287829"/>
                  <a:pt x="278803" y="280809"/>
                  <a:pt x="302873" y="267771"/>
                </a:cubicBezTo>
                <a:lnTo>
                  <a:pt x="311899" y="221638"/>
                </a:lnTo>
                <a:cubicBezTo>
                  <a:pt x="289835" y="238687"/>
                  <a:pt x="262757" y="247713"/>
                  <a:pt x="234676" y="246711"/>
                </a:cubicBezTo>
                <a:cubicBezTo>
                  <a:pt x="216624" y="248716"/>
                  <a:pt x="199575" y="240693"/>
                  <a:pt x="190549" y="225650"/>
                </a:cubicBezTo>
                <a:close/>
                <a:moveTo>
                  <a:pt x="248717" y="103297"/>
                </a:moveTo>
                <a:cubicBezTo>
                  <a:pt x="264763" y="103297"/>
                  <a:pt x="275795" y="111321"/>
                  <a:pt x="275795" y="125361"/>
                </a:cubicBezTo>
                <a:cubicBezTo>
                  <a:pt x="275795" y="151436"/>
                  <a:pt x="241696" y="158456"/>
                  <a:pt x="189546" y="157454"/>
                </a:cubicBezTo>
                <a:cubicBezTo>
                  <a:pt x="195563" y="131378"/>
                  <a:pt x="216624" y="103297"/>
                  <a:pt x="248717" y="103297"/>
                </a:cubicBezTo>
                <a:close/>
                <a:moveTo>
                  <a:pt x="979823" y="123355"/>
                </a:moveTo>
                <a:cubicBezTo>
                  <a:pt x="979823" y="83240"/>
                  <a:pt x="955754" y="65188"/>
                  <a:pt x="925667" y="65188"/>
                </a:cubicBezTo>
                <a:cubicBezTo>
                  <a:pt x="893574" y="65188"/>
                  <a:pt x="864491" y="82237"/>
                  <a:pt x="848444" y="109315"/>
                </a:cubicBezTo>
                <a:lnTo>
                  <a:pt x="856468" y="68196"/>
                </a:lnTo>
                <a:lnTo>
                  <a:pt x="810335" y="68196"/>
                </a:lnTo>
                <a:lnTo>
                  <a:pt x="769216" y="281812"/>
                </a:lnTo>
                <a:lnTo>
                  <a:pt x="820364" y="281812"/>
                </a:lnTo>
                <a:lnTo>
                  <a:pt x="839419" y="183529"/>
                </a:lnTo>
                <a:cubicBezTo>
                  <a:pt x="848444" y="133384"/>
                  <a:pt x="877528" y="105303"/>
                  <a:pt x="900595" y="105303"/>
                </a:cubicBezTo>
                <a:cubicBezTo>
                  <a:pt x="920653" y="105303"/>
                  <a:pt x="927673" y="118341"/>
                  <a:pt x="927673" y="135390"/>
                </a:cubicBezTo>
                <a:cubicBezTo>
                  <a:pt x="927673" y="143413"/>
                  <a:pt x="926670" y="152439"/>
                  <a:pt x="924664" y="160462"/>
                </a:cubicBezTo>
                <a:lnTo>
                  <a:pt x="901598" y="280809"/>
                </a:lnTo>
                <a:lnTo>
                  <a:pt x="952745" y="280809"/>
                </a:lnTo>
                <a:lnTo>
                  <a:pt x="976814" y="156451"/>
                </a:lnTo>
                <a:cubicBezTo>
                  <a:pt x="978820" y="147425"/>
                  <a:pt x="979823" y="135390"/>
                  <a:pt x="979823" y="123355"/>
                </a:cubicBezTo>
                <a:lnTo>
                  <a:pt x="979823" y="123355"/>
                </a:lnTo>
                <a:close/>
                <a:moveTo>
                  <a:pt x="684974" y="65188"/>
                </a:moveTo>
                <a:cubicBezTo>
                  <a:pt x="656893" y="65188"/>
                  <a:pt x="630818" y="78225"/>
                  <a:pt x="613768" y="100289"/>
                </a:cubicBezTo>
                <a:lnTo>
                  <a:pt x="632823" y="0"/>
                </a:lnTo>
                <a:lnTo>
                  <a:pt x="581676" y="0"/>
                </a:lnTo>
                <a:lnTo>
                  <a:pt x="527520" y="282815"/>
                </a:lnTo>
                <a:lnTo>
                  <a:pt x="578667" y="282815"/>
                </a:lnTo>
                <a:lnTo>
                  <a:pt x="597722" y="184532"/>
                </a:lnTo>
                <a:cubicBezTo>
                  <a:pt x="606748" y="134387"/>
                  <a:pt x="635832" y="106306"/>
                  <a:pt x="658898" y="106306"/>
                </a:cubicBezTo>
                <a:cubicBezTo>
                  <a:pt x="678956" y="106306"/>
                  <a:pt x="685977" y="119344"/>
                  <a:pt x="685977" y="136393"/>
                </a:cubicBezTo>
                <a:cubicBezTo>
                  <a:pt x="685977" y="144416"/>
                  <a:pt x="684974" y="153442"/>
                  <a:pt x="682968" y="161465"/>
                </a:cubicBezTo>
                <a:lnTo>
                  <a:pt x="659901" y="281812"/>
                </a:lnTo>
                <a:lnTo>
                  <a:pt x="711049" y="281812"/>
                </a:lnTo>
                <a:lnTo>
                  <a:pt x="735118" y="157454"/>
                </a:lnTo>
                <a:cubicBezTo>
                  <a:pt x="737124" y="145419"/>
                  <a:pt x="739130" y="134387"/>
                  <a:pt x="739130" y="122352"/>
                </a:cubicBezTo>
                <a:cubicBezTo>
                  <a:pt x="739130" y="83240"/>
                  <a:pt x="716063" y="65188"/>
                  <a:pt x="684974" y="65188"/>
                </a:cubicBezTo>
                <a:close/>
                <a:moveTo>
                  <a:pt x="95275" y="15043"/>
                </a:moveTo>
                <a:lnTo>
                  <a:pt x="46133" y="15043"/>
                </a:lnTo>
                <a:lnTo>
                  <a:pt x="35101" y="70202"/>
                </a:lnTo>
                <a:lnTo>
                  <a:pt x="7020" y="70202"/>
                </a:lnTo>
                <a:lnTo>
                  <a:pt x="0" y="109315"/>
                </a:lnTo>
                <a:lnTo>
                  <a:pt x="28081" y="109315"/>
                </a:lnTo>
                <a:lnTo>
                  <a:pt x="10029" y="204589"/>
                </a:lnTo>
                <a:cubicBezTo>
                  <a:pt x="7020" y="217627"/>
                  <a:pt x="6017" y="230664"/>
                  <a:pt x="6017" y="243702"/>
                </a:cubicBezTo>
                <a:cubicBezTo>
                  <a:pt x="6017" y="267771"/>
                  <a:pt x="21061" y="287829"/>
                  <a:pt x="56162" y="287829"/>
                </a:cubicBezTo>
                <a:cubicBezTo>
                  <a:pt x="67194" y="287829"/>
                  <a:pt x="78225" y="286826"/>
                  <a:pt x="89257" y="283817"/>
                </a:cubicBezTo>
                <a:lnTo>
                  <a:pt x="89257" y="283817"/>
                </a:lnTo>
                <a:lnTo>
                  <a:pt x="97280" y="243702"/>
                </a:lnTo>
                <a:cubicBezTo>
                  <a:pt x="90260" y="244705"/>
                  <a:pt x="84243" y="245708"/>
                  <a:pt x="77222" y="245708"/>
                </a:cubicBezTo>
                <a:cubicBezTo>
                  <a:pt x="68197" y="246711"/>
                  <a:pt x="59171" y="240693"/>
                  <a:pt x="58168" y="231667"/>
                </a:cubicBezTo>
                <a:cubicBezTo>
                  <a:pt x="58168" y="229662"/>
                  <a:pt x="58168" y="228659"/>
                  <a:pt x="58168" y="226653"/>
                </a:cubicBezTo>
                <a:cubicBezTo>
                  <a:pt x="58168" y="216624"/>
                  <a:pt x="60173" y="206595"/>
                  <a:pt x="62179" y="196566"/>
                </a:cubicBezTo>
                <a:lnTo>
                  <a:pt x="79228" y="111321"/>
                </a:lnTo>
                <a:lnTo>
                  <a:pt x="126364" y="111321"/>
                </a:lnTo>
                <a:lnTo>
                  <a:pt x="134387" y="72208"/>
                </a:lnTo>
                <a:lnTo>
                  <a:pt x="87251" y="72208"/>
                </a:lnTo>
                <a:lnTo>
                  <a:pt x="95275" y="15043"/>
                </a:lnTo>
                <a:close/>
                <a:moveTo>
                  <a:pt x="1804198" y="362043"/>
                </a:moveTo>
                <a:cubicBezTo>
                  <a:pt x="1843311" y="380095"/>
                  <a:pt x="1881421" y="372072"/>
                  <a:pt x="1909502" y="321927"/>
                </a:cubicBezTo>
                <a:lnTo>
                  <a:pt x="1909502" y="321927"/>
                </a:lnTo>
                <a:lnTo>
                  <a:pt x="2051912" y="68196"/>
                </a:lnTo>
                <a:lnTo>
                  <a:pt x="1997756" y="68196"/>
                </a:lnTo>
                <a:lnTo>
                  <a:pt x="1916522" y="226653"/>
                </a:lnTo>
                <a:lnTo>
                  <a:pt x="1896464" y="68196"/>
                </a:lnTo>
                <a:lnTo>
                  <a:pt x="1843311" y="68196"/>
                </a:lnTo>
                <a:lnTo>
                  <a:pt x="1881421" y="276797"/>
                </a:lnTo>
                <a:lnTo>
                  <a:pt x="1864372" y="309893"/>
                </a:lnTo>
                <a:cubicBezTo>
                  <a:pt x="1849328" y="334965"/>
                  <a:pt x="1823253" y="326942"/>
                  <a:pt x="1811218" y="319922"/>
                </a:cubicBezTo>
                <a:lnTo>
                  <a:pt x="1804198" y="362043"/>
                </a:lnTo>
                <a:close/>
                <a:moveTo>
                  <a:pt x="1734999" y="65188"/>
                </a:moveTo>
                <a:cubicBezTo>
                  <a:pt x="1644739" y="65188"/>
                  <a:pt x="1598606" y="145419"/>
                  <a:pt x="1598606" y="212612"/>
                </a:cubicBezTo>
                <a:cubicBezTo>
                  <a:pt x="1598606" y="250722"/>
                  <a:pt x="1617661" y="287829"/>
                  <a:pt x="1662791" y="287829"/>
                </a:cubicBezTo>
                <a:cubicBezTo>
                  <a:pt x="1690872" y="287829"/>
                  <a:pt x="1717950" y="273789"/>
                  <a:pt x="1733996" y="249719"/>
                </a:cubicBezTo>
                <a:lnTo>
                  <a:pt x="1729985" y="268774"/>
                </a:lnTo>
                <a:cubicBezTo>
                  <a:pt x="1719956" y="317916"/>
                  <a:pt x="1693881" y="333962"/>
                  <a:pt x="1660785" y="333962"/>
                </a:cubicBezTo>
                <a:cubicBezTo>
                  <a:pt x="1641730" y="333962"/>
                  <a:pt x="1622675" y="329950"/>
                  <a:pt x="1604623" y="320924"/>
                </a:cubicBezTo>
                <a:lnTo>
                  <a:pt x="1596600" y="362043"/>
                </a:lnTo>
                <a:cubicBezTo>
                  <a:pt x="1616658" y="370066"/>
                  <a:pt x="1637719" y="374077"/>
                  <a:pt x="1659782" y="374077"/>
                </a:cubicBezTo>
                <a:cubicBezTo>
                  <a:pt x="1687863" y="375080"/>
                  <a:pt x="1715944" y="367057"/>
                  <a:pt x="1739011" y="350008"/>
                </a:cubicBezTo>
                <a:cubicBezTo>
                  <a:pt x="1763080" y="329950"/>
                  <a:pt x="1775115" y="296855"/>
                  <a:pt x="1783138" y="255737"/>
                </a:cubicBezTo>
                <a:lnTo>
                  <a:pt x="1802192" y="159459"/>
                </a:lnTo>
                <a:cubicBezTo>
                  <a:pt x="1805201" y="147425"/>
                  <a:pt x="1806204" y="135390"/>
                  <a:pt x="1806204" y="122352"/>
                </a:cubicBezTo>
                <a:cubicBezTo>
                  <a:pt x="1806204" y="84243"/>
                  <a:pt x="1779126" y="65188"/>
                  <a:pt x="1734999" y="65188"/>
                </a:cubicBezTo>
                <a:lnTo>
                  <a:pt x="1734999" y="65188"/>
                </a:lnTo>
                <a:close/>
                <a:moveTo>
                  <a:pt x="1751045" y="156451"/>
                </a:moveTo>
                <a:lnTo>
                  <a:pt x="1747034" y="176508"/>
                </a:lnTo>
                <a:cubicBezTo>
                  <a:pt x="1738008" y="219633"/>
                  <a:pt x="1710929" y="246711"/>
                  <a:pt x="1684855" y="246711"/>
                </a:cubicBezTo>
                <a:cubicBezTo>
                  <a:pt x="1660785" y="246711"/>
                  <a:pt x="1650756" y="226653"/>
                  <a:pt x="1650756" y="203586"/>
                </a:cubicBezTo>
                <a:cubicBezTo>
                  <a:pt x="1650756" y="161465"/>
                  <a:pt x="1679840" y="104300"/>
                  <a:pt x="1724970" y="104300"/>
                </a:cubicBezTo>
                <a:cubicBezTo>
                  <a:pt x="1739011" y="102295"/>
                  <a:pt x="1752048" y="112324"/>
                  <a:pt x="1753051" y="126364"/>
                </a:cubicBezTo>
                <a:cubicBezTo>
                  <a:pt x="1753051" y="128370"/>
                  <a:pt x="1753051" y="129373"/>
                  <a:pt x="1753051" y="131378"/>
                </a:cubicBezTo>
                <a:cubicBezTo>
                  <a:pt x="1753051" y="139402"/>
                  <a:pt x="1752048" y="148427"/>
                  <a:pt x="1751045" y="156451"/>
                </a:cubicBezTo>
                <a:close/>
                <a:moveTo>
                  <a:pt x="2108074" y="238687"/>
                </a:moveTo>
                <a:cubicBezTo>
                  <a:pt x="2111083" y="214618"/>
                  <a:pt x="2094033" y="192555"/>
                  <a:pt x="2069964" y="190549"/>
                </a:cubicBezTo>
                <a:cubicBezTo>
                  <a:pt x="2067958" y="190549"/>
                  <a:pt x="2065953" y="190549"/>
                  <a:pt x="2063947" y="190549"/>
                </a:cubicBezTo>
                <a:cubicBezTo>
                  <a:pt x="2036869" y="191552"/>
                  <a:pt x="2013802" y="211610"/>
                  <a:pt x="2010794" y="239690"/>
                </a:cubicBezTo>
                <a:cubicBezTo>
                  <a:pt x="2007785" y="263760"/>
                  <a:pt x="2024834" y="284820"/>
                  <a:pt x="2048903" y="287829"/>
                </a:cubicBezTo>
                <a:cubicBezTo>
                  <a:pt x="2050909" y="287829"/>
                  <a:pt x="2052915" y="287829"/>
                  <a:pt x="2054921" y="287829"/>
                </a:cubicBezTo>
                <a:cubicBezTo>
                  <a:pt x="2081999" y="286826"/>
                  <a:pt x="2105065" y="265766"/>
                  <a:pt x="2108074" y="238687"/>
                </a:cubicBezTo>
                <a:close/>
                <a:moveTo>
                  <a:pt x="2101054" y="238687"/>
                </a:moveTo>
                <a:cubicBezTo>
                  <a:pt x="2098045" y="262757"/>
                  <a:pt x="2078990" y="280809"/>
                  <a:pt x="2054921" y="280809"/>
                </a:cubicBezTo>
                <a:cubicBezTo>
                  <a:pt x="2034863" y="280809"/>
                  <a:pt x="2017814" y="264763"/>
                  <a:pt x="2016811" y="244705"/>
                </a:cubicBezTo>
                <a:cubicBezTo>
                  <a:pt x="2016811" y="242699"/>
                  <a:pt x="2016811" y="241696"/>
                  <a:pt x="2016811" y="239690"/>
                </a:cubicBezTo>
                <a:cubicBezTo>
                  <a:pt x="2019820" y="215621"/>
                  <a:pt x="2038874" y="197569"/>
                  <a:pt x="2062944" y="197569"/>
                </a:cubicBezTo>
                <a:cubicBezTo>
                  <a:pt x="2083002" y="197569"/>
                  <a:pt x="2100051" y="213615"/>
                  <a:pt x="2101054" y="233673"/>
                </a:cubicBezTo>
                <a:cubicBezTo>
                  <a:pt x="2101054" y="234676"/>
                  <a:pt x="2101054" y="236682"/>
                  <a:pt x="2101054" y="238687"/>
                </a:cubicBezTo>
                <a:close/>
                <a:moveTo>
                  <a:pt x="2066955" y="244705"/>
                </a:moveTo>
                <a:lnTo>
                  <a:pt x="2074979" y="267771"/>
                </a:lnTo>
                <a:lnTo>
                  <a:pt x="2066955" y="267771"/>
                </a:lnTo>
                <a:lnTo>
                  <a:pt x="2058932" y="245708"/>
                </a:lnTo>
                <a:lnTo>
                  <a:pt x="2047900" y="245708"/>
                </a:lnTo>
                <a:lnTo>
                  <a:pt x="2043889" y="267771"/>
                </a:lnTo>
                <a:lnTo>
                  <a:pt x="2036869" y="267771"/>
                </a:lnTo>
                <a:lnTo>
                  <a:pt x="2047900" y="210607"/>
                </a:lnTo>
                <a:lnTo>
                  <a:pt x="2066955" y="210607"/>
                </a:lnTo>
                <a:cubicBezTo>
                  <a:pt x="2074979" y="210607"/>
                  <a:pt x="2081999" y="216624"/>
                  <a:pt x="2081999" y="224647"/>
                </a:cubicBezTo>
                <a:cubicBezTo>
                  <a:pt x="2081999" y="224647"/>
                  <a:pt x="2081999" y="224647"/>
                  <a:pt x="2081999" y="224647"/>
                </a:cubicBezTo>
                <a:cubicBezTo>
                  <a:pt x="2083002" y="233673"/>
                  <a:pt x="2075981" y="241696"/>
                  <a:pt x="2066955" y="244705"/>
                </a:cubicBezTo>
                <a:lnTo>
                  <a:pt x="2066955" y="244705"/>
                </a:lnTo>
                <a:close/>
                <a:moveTo>
                  <a:pt x="2066955" y="216624"/>
                </a:moveTo>
                <a:lnTo>
                  <a:pt x="2053918" y="216624"/>
                </a:lnTo>
                <a:lnTo>
                  <a:pt x="2049906" y="237685"/>
                </a:lnTo>
                <a:lnTo>
                  <a:pt x="2061941" y="237685"/>
                </a:lnTo>
                <a:cubicBezTo>
                  <a:pt x="2068961" y="237685"/>
                  <a:pt x="2073976" y="232670"/>
                  <a:pt x="2074979" y="226653"/>
                </a:cubicBezTo>
                <a:cubicBezTo>
                  <a:pt x="2075981" y="222641"/>
                  <a:pt x="2072973" y="217627"/>
                  <a:pt x="2068961" y="216624"/>
                </a:cubicBezTo>
                <a:cubicBezTo>
                  <a:pt x="2068961" y="216624"/>
                  <a:pt x="2067958" y="216624"/>
                  <a:pt x="2066955" y="216624"/>
                </a:cubicBezTo>
                <a:lnTo>
                  <a:pt x="2066955" y="216624"/>
                </a:lnTo>
                <a:close/>
              </a:path>
            </a:pathLst>
          </a:custGeom>
          <a:solidFill>
            <a:srgbClr val="FFFFFF"/>
          </a:solidFill>
          <a:ln w="10025" cap="flat">
            <a:noFill/>
            <a:prstDash val="solid"/>
            <a:miter/>
          </a:ln>
        </p:spPr>
        <p:txBody>
          <a:bodyPr rtlCol="0" anchor="ctr"/>
          <a:lstStyle/>
          <a:p>
            <a:endParaRPr lang="en-US" sz="3600"/>
          </a:p>
        </p:txBody>
      </p:sp>
    </p:spTree>
    <p:extLst>
      <p:ext uri="{BB962C8B-B14F-4D97-AF65-F5344CB8AC3E}">
        <p14:creationId xmlns:p14="http://schemas.microsoft.com/office/powerpoint/2010/main" val="32782450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50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50000">
                                          <p:cBhvr additive="base">
                                            <p:cTn id="7" dur="500" fill="hold"/>
                                            <p:tgtEl>
                                              <p:spTgt spid="5"/>
                                            </p:tgtEl>
                                            <p:attrNameLst>
                                              <p:attrName>ppt_x</p:attrName>
                                            </p:attrNameLst>
                                          </p:cBhvr>
                                          <p:tavLst>
                                            <p:tav tm="0">
                                              <p:val>
                                                <p:strVal val="0-#ppt_w/2"/>
                                              </p:val>
                                            </p:tav>
                                            <p:tav tm="100000">
                                              <p:val>
                                                <p:strVal val="#ppt_x"/>
                                              </p:val>
                                            </p:tav>
                                          </p:tavLst>
                                        </p:anim>
                                        <p:anim calcmode="lin" valueType="num" p14:bounceEnd="50000">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14:presetBounceEnd="50000">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14:bounceEnd="50000">
                                          <p:cBhvr additive="base">
                                            <p:cTn id="11" dur="500" fill="hold"/>
                                            <p:tgtEl>
                                              <p:spTgt spid="7"/>
                                            </p:tgtEl>
                                            <p:attrNameLst>
                                              <p:attrName>ppt_x</p:attrName>
                                            </p:attrNameLst>
                                          </p:cBhvr>
                                          <p:tavLst>
                                            <p:tav tm="0">
                                              <p:val>
                                                <p:strVal val="1+#ppt_w/2"/>
                                              </p:val>
                                            </p:tav>
                                            <p:tav tm="100000">
                                              <p:val>
                                                <p:strVal val="#ppt_x"/>
                                              </p:val>
                                            </p:tav>
                                          </p:tavLst>
                                        </p:anim>
                                        <p:anim calcmode="lin" valueType="num" p14:bounceEnd="50000">
                                          <p:cBhvr additive="base">
                                            <p:cTn id="12"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1+#ppt_w/2"/>
                                              </p:val>
                                            </p:tav>
                                            <p:tav tm="100000">
                                              <p:val>
                                                <p:strVal val="#ppt_x"/>
                                              </p:val>
                                            </p:tav>
                                          </p:tavLst>
                                        </p:anim>
                                        <p:anim calcmode="lin" valueType="num">
                                          <p:cBhvr additive="base">
                                            <p:cTn id="12"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Lst>
      </p:timing>
    </mc:Fallback>
  </mc:AlternateConten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Single Column - Sim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80F77ED-A2A4-4EFE-8DC0-C63FB58288D9}"/>
              </a:ext>
            </a:extLst>
          </p:cNvPr>
          <p:cNvSpPr/>
          <p:nvPr userDrawn="1"/>
        </p:nvSpPr>
        <p:spPr>
          <a:xfrm>
            <a:off x="6164826" y="0"/>
            <a:ext cx="56044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1752600"/>
            <a:ext cx="22936200" cy="11222736"/>
          </a:xfrm>
        </p:spPr>
        <p:txBody>
          <a:bodyPr vert="horz" lIns="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8"/>
            <a:ext cx="22991108" cy="1215424"/>
          </a:xfrm>
        </p:spPr>
        <p:txBody>
          <a:bodyPr/>
          <a:lstStyle/>
          <a:p>
            <a:r>
              <a:rPr lang="en-US"/>
              <a:t>Click to edit Master title style</a:t>
            </a:r>
          </a:p>
        </p:txBody>
      </p:sp>
    </p:spTree>
    <p:extLst>
      <p:ext uri="{BB962C8B-B14F-4D97-AF65-F5344CB8AC3E}">
        <p14:creationId xmlns:p14="http://schemas.microsoft.com/office/powerpoint/2010/main" val="1941911613"/>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Single Column - Simple with Sub">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80F77ED-A2A4-4EFE-8DC0-C63FB58288D9}"/>
              </a:ext>
            </a:extLst>
          </p:cNvPr>
          <p:cNvSpPr/>
          <p:nvPr userDrawn="1"/>
        </p:nvSpPr>
        <p:spPr>
          <a:xfrm>
            <a:off x="6164826" y="0"/>
            <a:ext cx="56044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0"/>
            <a:ext cx="22936200" cy="10194036"/>
          </a:xfrm>
        </p:spPr>
        <p:txBody>
          <a:bodyPr vert="horz" lIns="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1752602"/>
            <a:ext cx="22971126" cy="102870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8"/>
            <a:ext cx="22991108" cy="1215424"/>
          </a:xfrm>
        </p:spPr>
        <p:txBody>
          <a:bodyPr/>
          <a:lstStyle/>
          <a:p>
            <a:r>
              <a:rPr lang="en-US"/>
              <a:t>Click to edit Master title style</a:t>
            </a:r>
          </a:p>
        </p:txBody>
      </p:sp>
    </p:spTree>
    <p:extLst>
      <p:ext uri="{BB962C8B-B14F-4D97-AF65-F5344CB8AC3E}">
        <p14:creationId xmlns:p14="http://schemas.microsoft.com/office/powerpoint/2010/main" val="3999888055"/>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p>
            <a:r>
              <a:rPr lang="en-US"/>
              <a:t>Click to edit Master title style</a:t>
            </a:r>
          </a:p>
        </p:txBody>
      </p:sp>
    </p:spTree>
    <p:extLst>
      <p:ext uri="{BB962C8B-B14F-4D97-AF65-F5344CB8AC3E}">
        <p14:creationId xmlns:p14="http://schemas.microsoft.com/office/powerpoint/2010/main" val="3102298794"/>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6296"/>
            <a:ext cx="7315200" cy="12353544"/>
          </a:xfrm>
        </p:spPr>
        <p:txBody>
          <a:bodyPr vert="horz" lIns="18288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3" y="3685032"/>
            <a:ext cx="5236506" cy="2276856"/>
          </a:xfrm>
        </p:spPr>
        <p:txBody>
          <a:bodyPr vert="horz" lIns="0" tIns="0" rIns="0" bIns="0" rtlCol="0">
            <a:noAutofit/>
          </a:bodyPr>
          <a:lstStyle>
            <a:lvl1pPr>
              <a:defRPr lang="en-US" sz="3750" dirty="0">
                <a:ln w="3175">
                  <a:noFill/>
                </a:ln>
              </a:defRPr>
            </a:lvl1pPr>
          </a:lstStyle>
          <a:p>
            <a:pPr marL="0" lvl="0" indent="0" fontAlgn="base">
              <a:buNone/>
            </a:pPr>
            <a:r>
              <a:rPr lang="en-US"/>
              <a:t>Subtitle or callout if needed, all titles and subtitles are sentence case </a:t>
            </a:r>
          </a:p>
        </p:txBody>
      </p:sp>
      <p:sp>
        <p:nvSpPr>
          <p:cNvPr id="6" name="Text Placeholder 5">
            <a:extLst>
              <a:ext uri="{FF2B5EF4-FFF2-40B4-BE49-F238E27FC236}">
                <a16:creationId xmlns:a16="http://schemas.microsoft.com/office/drawing/2014/main" id="{808F5F46-46D7-FC41-96C7-36DEC6BD8687}"/>
              </a:ext>
            </a:extLst>
          </p:cNvPr>
          <p:cNvSpPr>
            <a:spLocks noGrp="1"/>
          </p:cNvSpPr>
          <p:nvPr>
            <p:ph type="body" sz="quarter" idx="14"/>
          </p:nvPr>
        </p:nvSpPr>
        <p:spPr>
          <a:xfrm>
            <a:off x="16040100" y="624968"/>
            <a:ext cx="7618984" cy="12353544"/>
          </a:xfrm>
        </p:spPr>
        <p:txBody>
          <a:bodyPr vert="horz" lIns="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lstStyle>
            <a:lvl1pPr>
              <a:defRPr/>
            </a:lvl1pPr>
          </a:lstStyle>
          <a:p>
            <a:r>
              <a:rPr lang="en-US"/>
              <a:t>Click to edit Master title style</a:t>
            </a:r>
          </a:p>
        </p:txBody>
      </p:sp>
      <p:sp>
        <p:nvSpPr>
          <p:cNvPr id="10" name="Footer Placeholder 9">
            <a:extLst>
              <a:ext uri="{FF2B5EF4-FFF2-40B4-BE49-F238E27FC236}">
                <a16:creationId xmlns:a16="http://schemas.microsoft.com/office/drawing/2014/main" id="{7F500EC3-B56F-D543-A50F-942AF23525BB}"/>
              </a:ext>
            </a:extLst>
          </p:cNvPr>
          <p:cNvSpPr>
            <a:spLocks noGrp="1"/>
          </p:cNvSpPr>
          <p:nvPr>
            <p:ph type="ftr" sz="quarter" idx="15"/>
          </p:nvPr>
        </p:nvSpPr>
        <p:spPr/>
        <p:txBody>
          <a:bodyPr lIns="365760"/>
          <a:lstStyle/>
          <a:p>
            <a:endParaRPr lang="en-US"/>
          </a:p>
        </p:txBody>
      </p:sp>
    </p:spTree>
    <p:extLst>
      <p:ext uri="{BB962C8B-B14F-4D97-AF65-F5344CB8AC3E}">
        <p14:creationId xmlns:p14="http://schemas.microsoft.com/office/powerpoint/2010/main" val="2029628577"/>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305550" y="4833410"/>
            <a:ext cx="17183100" cy="8158692"/>
          </a:xfrm>
        </p:spPr>
        <p:txBody>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p:txBody>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621792"/>
            <a:ext cx="17160240" cy="2937320"/>
          </a:xfrm>
        </p:spPr>
        <p:txBody>
          <a:bodyPr lIns="18288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Tree>
    <p:extLst>
      <p:ext uri="{BB962C8B-B14F-4D97-AF65-F5344CB8AC3E}">
        <p14:creationId xmlns:p14="http://schemas.microsoft.com/office/powerpoint/2010/main" val="1733527831"/>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2937320"/>
          </a:xfrm>
        </p:spPr>
        <p:txBody>
          <a:bodyPr lIns="18288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p:txBody>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Tree>
    <p:extLst>
      <p:ext uri="{BB962C8B-B14F-4D97-AF65-F5344CB8AC3E}">
        <p14:creationId xmlns:p14="http://schemas.microsoft.com/office/powerpoint/2010/main" val="4196148558"/>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1215424"/>
          </a:xfrm>
        </p:spPr>
        <p:txBody>
          <a:bodyPr/>
          <a:lstStyle/>
          <a:p>
            <a:r>
              <a:rPr lang="en-US"/>
              <a:t>Click to edit Master title style</a:t>
            </a:r>
          </a:p>
        </p:txBody>
      </p:sp>
      <p:sp>
        <p:nvSpPr>
          <p:cNvPr id="3" name="Footer Placeholder 2">
            <a:extLst>
              <a:ext uri="{FF2B5EF4-FFF2-40B4-BE49-F238E27FC236}">
                <a16:creationId xmlns:a16="http://schemas.microsoft.com/office/drawing/2014/main" id="{476EBF41-6E4F-CC45-9467-0CE6DA4A5B1A}"/>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A82870D3-B21C-6F49-A89A-D8B3AEF5AC9C}"/>
              </a:ext>
            </a:extLst>
          </p:cNvPr>
          <p:cNvSpPr>
            <a:spLocks noGrp="1"/>
          </p:cNvSpPr>
          <p:nvPr>
            <p:ph type="sldNum" sz="quarter" idx="11"/>
          </p:nvPr>
        </p:nvSpPr>
        <p:spPr/>
        <p:txBody>
          <a:bodyPr/>
          <a:lstStyle/>
          <a:p>
            <a:fld id="{762E77F0-FB5B-4E8E-9BC9-34F14560A017}" type="slidenum">
              <a:rPr lang="en-US" smtClean="0"/>
              <a:pPr/>
              <a:t>‹#›</a:t>
            </a:fld>
            <a:endParaRPr lang="en-US"/>
          </a:p>
        </p:txBody>
      </p:sp>
      <p:pic>
        <p:nvPicPr>
          <p:cNvPr id="6" name="Picture 5">
            <a:extLst>
              <a:ext uri="{FF2B5EF4-FFF2-40B4-BE49-F238E27FC236}">
                <a16:creationId xmlns:a16="http://schemas.microsoft.com/office/drawing/2014/main" id="{520484D5-16DE-4712-B129-D2A66A2FCE22}"/>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3726587640"/>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a:xfrm>
            <a:off x="8382000" y="13000317"/>
            <a:ext cx="5746892" cy="486410"/>
          </a:xfrm>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8382000" y="621792"/>
            <a:ext cx="15255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z="3200"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2280490"/>
          </a:xfrm>
        </p:spPr>
        <p:txBody>
          <a:bodyPr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5292124"/>
          </a:xfrm>
        </p:spPr>
        <p:txBody>
          <a:bodyPr/>
          <a:lstStyle/>
          <a:p>
            <a:r>
              <a:rPr lang="en-US"/>
              <a:t>Click to edit Master title style</a:t>
            </a:r>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userDrawn="1"/>
        </p:nvCxnSpPr>
        <p:spPr>
          <a:xfrm>
            <a:off x="8382000" y="186418"/>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pic>
        <p:nvPicPr>
          <p:cNvPr id="11" name="Picture 10">
            <a:extLst>
              <a:ext uri="{FF2B5EF4-FFF2-40B4-BE49-F238E27FC236}">
                <a16:creationId xmlns:a16="http://schemas.microsoft.com/office/drawing/2014/main" id="{B8DEF417-431A-4C33-8A76-58BBE129E967}"/>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904482127"/>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vl1pPr>
          </a:lstStyle>
          <a:p>
            <a:r>
              <a:rPr lang="en-US"/>
              <a:t>Click to edit Master title style</a:t>
            </a:r>
          </a:p>
        </p:txBody>
      </p:sp>
      <p:sp>
        <p:nvSpPr>
          <p:cNvPr id="10" name="Footer Placeholder 2">
            <a:extLst>
              <a:ext uri="{FF2B5EF4-FFF2-40B4-BE49-F238E27FC236}">
                <a16:creationId xmlns:a16="http://schemas.microsoft.com/office/drawing/2014/main" id="{7073E864-1AAE-4F30-B18C-AC7366759B29}"/>
              </a:ext>
            </a:extLst>
          </p:cNvPr>
          <p:cNvSpPr>
            <a:spLocks noGrp="1"/>
          </p:cNvSpPr>
          <p:nvPr>
            <p:ph type="ftr" sz="quarter" idx="10"/>
          </p:nvPr>
        </p:nvSpPr>
        <p:spPr>
          <a:xfrm>
            <a:off x="6477000" y="13000317"/>
            <a:ext cx="5518292" cy="486410"/>
          </a:xfrm>
        </p:spPr>
        <p:txBody>
          <a:bodyPr/>
          <a:lstStyle>
            <a:lvl1pPr>
              <a:defRPr>
                <a:solidFill>
                  <a:schemeClr val="bg1"/>
                </a:solidFill>
              </a:defRPr>
            </a:lvl1pPr>
          </a:lstStyle>
          <a:p>
            <a:endParaRPr lang="en-US"/>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Picture 8">
            <a:extLst>
              <a:ext uri="{FF2B5EF4-FFF2-40B4-BE49-F238E27FC236}">
                <a16:creationId xmlns:a16="http://schemas.microsoft.com/office/drawing/2014/main" id="{E01928CC-EE62-4CC7-B7D1-1F8AD45338D2}"/>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924993476"/>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a:xfrm>
            <a:off x="6477000" y="13000317"/>
            <a:ext cx="5647832" cy="486410"/>
          </a:xfrm>
        </p:spPr>
        <p:txBody>
          <a:bodyPr lIns="365760"/>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tx1"/>
                </a:solidFill>
              </a:defRPr>
            </a:lvl1p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7945100" y="621792"/>
            <a:ext cx="571500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smtClean="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smtClean="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smtClean="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smtClean="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lstStyle>
            <a:lvl1pPr>
              <a:defRPr/>
            </a:lvl1pPr>
          </a:lstStyle>
          <a:p>
            <a:r>
              <a:rPr lang="en-US"/>
              <a:t>Click to edit Master title style</a:t>
            </a:r>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Picture 8">
            <a:extLst>
              <a:ext uri="{FF2B5EF4-FFF2-40B4-BE49-F238E27FC236}">
                <a16:creationId xmlns:a16="http://schemas.microsoft.com/office/drawing/2014/main" id="{88492984-4EB5-4E4A-8FC1-E5337341B709}"/>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983498633"/>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8"/>
            <a:ext cx="11142008" cy="1215424"/>
          </a:xfrm>
        </p:spPr>
        <p:txBody>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5944302"/>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Picture 8">
            <a:extLst>
              <a:ext uri="{FF2B5EF4-FFF2-40B4-BE49-F238E27FC236}">
                <a16:creationId xmlns:a16="http://schemas.microsoft.com/office/drawing/2014/main" id="{BC7F59C7-6089-4A74-BCED-ACDC9A78027F}"/>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76216599"/>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5944302"/>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39065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Picture 8">
            <a:extLst>
              <a:ext uri="{FF2B5EF4-FFF2-40B4-BE49-F238E27FC236}">
                <a16:creationId xmlns:a16="http://schemas.microsoft.com/office/drawing/2014/main" id="{CB6528F4-B103-418F-B114-1DFE38B86E27}"/>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3337416727"/>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preserve="1" userDrawn="1">
  <p:cSld name="Image Slide 4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5210098" cy="5944302"/>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6C63B45C-B418-7748-8927-54F5E6F9FA61}"/>
              </a:ext>
            </a:extLst>
          </p:cNvPr>
          <p:cNvSpPr>
            <a:spLocks noGrp="1"/>
          </p:cNvSpPr>
          <p:nvPr>
            <p:ph type="body" sz="quarter" idx="16"/>
          </p:nvPr>
        </p:nvSpPr>
        <p:spPr>
          <a:xfrm>
            <a:off x="6477000" y="1752604"/>
            <a:ext cx="5333924" cy="5846640"/>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Picture 8">
            <a:extLst>
              <a:ext uri="{FF2B5EF4-FFF2-40B4-BE49-F238E27FC236}">
                <a16:creationId xmlns:a16="http://schemas.microsoft.com/office/drawing/2014/main" id="{EA4E166B-520B-45F4-AEB1-079C224DD278}"/>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607067566"/>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preserve="1" userDrawn="1">
  <p:cSld name="Image Slide 4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lvl1pPr>
              <a:defRPr>
                <a:solidFill>
                  <a:schemeClr val="tx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5210098" cy="5944302"/>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6C63B45C-B418-7748-8927-54F5E6F9FA61}"/>
              </a:ext>
            </a:extLst>
          </p:cNvPr>
          <p:cNvSpPr>
            <a:spLocks noGrp="1"/>
          </p:cNvSpPr>
          <p:nvPr>
            <p:ph type="body" sz="quarter" idx="16"/>
          </p:nvPr>
        </p:nvSpPr>
        <p:spPr>
          <a:xfrm>
            <a:off x="6477000" y="3169804"/>
            <a:ext cx="5333924" cy="5846640"/>
          </a:xfrm>
        </p:spPr>
        <p:txBody>
          <a:bodyPr lIns="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8">
            <a:extLst>
              <a:ext uri="{FF2B5EF4-FFF2-40B4-BE49-F238E27FC236}">
                <a16:creationId xmlns:a16="http://schemas.microsoft.com/office/drawing/2014/main" id="{9192A8DF-7DE3-4714-9178-8644E5472F7A}"/>
              </a:ext>
            </a:extLst>
          </p:cNvPr>
          <p:cNvSpPr>
            <a:spLocks noGrp="1"/>
          </p:cNvSpPr>
          <p:nvPr>
            <p:ph type="body" sz="quarter" idx="13" hasCustomPrompt="1"/>
          </p:nvPr>
        </p:nvSpPr>
        <p:spPr>
          <a:xfrm>
            <a:off x="688979" y="1752605"/>
            <a:ext cx="11122026" cy="139065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11" name="Picture 10">
            <a:extLst>
              <a:ext uri="{FF2B5EF4-FFF2-40B4-BE49-F238E27FC236}">
                <a16:creationId xmlns:a16="http://schemas.microsoft.com/office/drawing/2014/main" id="{8D8E05D2-F04D-41D8-8B79-A72C6B5BB816}"/>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892527221"/>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64770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20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228600" tIns="155448" rIns="329184" bIns="155448" rtlCol="0" anchor="t" anchorCtr="0">
            <a:noAutofit/>
          </a:bodyPr>
          <a:lstStyle>
            <a:lvl1pPr>
              <a:defRPr lang="en-US" dirty="0">
                <a:ln w="9525">
                  <a:noFill/>
                </a:ln>
                <a:solidFill>
                  <a:schemeClr val="tx2"/>
                </a:solidFill>
              </a:defRPr>
            </a:lvl1pPr>
          </a:lstStyle>
          <a:p>
            <a:pPr marL="0" lvl="0" indent="0">
              <a:spcAft>
                <a:spcPts val="3000"/>
              </a:spcAft>
              <a:buFont typeface="Arial" panose="020B0604020202020204" pitchFamily="34" charset="0"/>
            </a:pPr>
            <a:r>
              <a:rPr lang="en-US"/>
              <a:t>Click to edit Master title style</a:t>
            </a:r>
          </a:p>
        </p:txBody>
      </p:sp>
      <p:sp>
        <p:nvSpPr>
          <p:cNvPr id="8" name="Freeform 5">
            <a:extLst>
              <a:ext uri="{FF2B5EF4-FFF2-40B4-BE49-F238E27FC236}">
                <a16:creationId xmlns:a16="http://schemas.microsoft.com/office/drawing/2014/main" id="{902A831D-23BF-4C78-BD6E-375B8EEC1865}"/>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391994730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preserve="1" userDrawn="1">
  <p:cSld name="4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noProof="0" dirty="0"/>
            </a:lvl1pPr>
          </a:lstStyle>
          <a:p>
            <a:pPr marR="0" lvl="0" fontAlgn="auto">
              <a:buSzTx/>
              <a:tabLst/>
            </a:pPr>
            <a:r>
              <a:rPr kumimoji="0" lang="en-US" sz="3600" b="0" i="0" u="none" strike="noStrike" kern="1200" cap="none" spc="0" normalizeH="0" baseline="0" noProof="0">
                <a:ln>
                  <a:noFill/>
                </a:ln>
                <a:solidFill>
                  <a:prstClr val="black"/>
                </a:solidFill>
                <a:effectLst/>
                <a:uLnTx/>
                <a:uFillTx/>
                <a:latin typeface="+mn-lt"/>
                <a:ea typeface="+mn-ea"/>
                <a:cs typeface="+mn-cs"/>
              </a:rPr>
              <a:t>Click icon in the center of the slide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17948148"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92000" y="731520"/>
            <a:ext cx="5756148" cy="4069080"/>
          </a:xfrm>
          <a:solidFill>
            <a:schemeClr val="bg1"/>
          </a:solidFill>
          <a:ln w="12700">
            <a:noFill/>
          </a:ln>
        </p:spPr>
        <p:txBody>
          <a:bodyPr vert="horz" lIns="228600" tIns="155448" rIns="329184" bIns="155448" rtlCol="0" anchor="t" anchorCtr="0">
            <a:noAutofit/>
          </a:bodyPr>
          <a:lstStyle>
            <a:lvl1pPr>
              <a:defRPr lang="en-US" dirty="0">
                <a:ln w="9525">
                  <a:noFill/>
                </a:ln>
                <a:solidFill>
                  <a:schemeClr val="tx2"/>
                </a:solidFill>
              </a:defRPr>
            </a:lvl1pPr>
          </a:lstStyle>
          <a:p>
            <a:pPr marL="0" lvl="0" indent="0">
              <a:spcAft>
                <a:spcPts val="3000"/>
              </a:spcAft>
              <a:buFont typeface="Arial" panose="020B0604020202020204" pitchFamily="34" charset="0"/>
            </a:pPr>
            <a:r>
              <a:rPr lang="en-US"/>
              <a:t>Click to edit Master title style</a:t>
            </a:r>
          </a:p>
        </p:txBody>
      </p:sp>
      <p:sp>
        <p:nvSpPr>
          <p:cNvPr id="8" name="Freeform 5">
            <a:extLst>
              <a:ext uri="{FF2B5EF4-FFF2-40B4-BE49-F238E27FC236}">
                <a16:creationId xmlns:a16="http://schemas.microsoft.com/office/drawing/2014/main" id="{A48484F5-F9A7-49D4-82F2-F109C6EDA029}"/>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1092987072"/>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preserve="1" userDrawn="1">
  <p:cSld name="Call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731692-D7FB-43A5-9242-6381F710CEE4}"/>
              </a:ext>
            </a:extLst>
          </p:cNvPr>
          <p:cNvSpPr/>
          <p:nvPr userDrawn="1"/>
        </p:nvSpPr>
        <p:spPr>
          <a:xfrm>
            <a:off x="17945100" y="0"/>
            <a:ext cx="64389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8452592" y="621792"/>
            <a:ext cx="5202936" cy="12353544"/>
          </a:xfrm>
        </p:spPr>
        <p:txBody>
          <a:bodyPr vert="horz" lIns="0" tIns="0" rIns="0" bIns="0" rtlCol="0">
            <a:noAutofit/>
          </a:bodyPr>
          <a:lstStyle>
            <a:lvl1pPr>
              <a:lnSpc>
                <a:spcPct val="110000"/>
              </a:lnSpc>
              <a:defRPr lang="en-US" sz="5250" dirty="0">
                <a:ln w="3175">
                  <a:noFill/>
                </a:ln>
                <a:solidFill>
                  <a:schemeClr val="bg1"/>
                </a:solidFill>
              </a:defRPr>
            </a:lvl1pPr>
          </a:lstStyle>
          <a:p>
            <a:pPr lvl="0" fontAlgn="base">
              <a:spcAft>
                <a:spcPts val="5250"/>
              </a:spcAft>
            </a:pPr>
            <a:r>
              <a:rPr lang="en-US"/>
              <a:t>Additional information if needed</a:t>
            </a:r>
          </a:p>
        </p:txBody>
      </p:sp>
      <p:sp>
        <p:nvSpPr>
          <p:cNvPr id="12" name="Text Placeholder 11">
            <a:extLst>
              <a:ext uri="{FF2B5EF4-FFF2-40B4-BE49-F238E27FC236}">
                <a16:creationId xmlns:a16="http://schemas.microsoft.com/office/drawing/2014/main" id="{C7C1E554-861B-49F4-AA38-891CFFC9B9FC}"/>
              </a:ext>
            </a:extLst>
          </p:cNvPr>
          <p:cNvSpPr>
            <a:spLocks noGrp="1"/>
          </p:cNvSpPr>
          <p:nvPr>
            <p:ph type="body" sz="quarter" idx="14" hasCustomPrompt="1"/>
          </p:nvPr>
        </p:nvSpPr>
        <p:spPr>
          <a:xfrm>
            <a:off x="723903" y="400053"/>
            <a:ext cx="16935450" cy="9505950"/>
          </a:xfrm>
        </p:spPr>
        <p:txBody>
          <a:bodyPr lIns="0"/>
          <a:lstStyle>
            <a:lvl1pPr marL="0" indent="0">
              <a:buFont typeface="Arial" panose="020B0604020202020204" pitchFamily="34" charset="0"/>
              <a:buNone/>
              <a:defRPr lang="en-US" sz="13500" kern="1200" dirty="0">
                <a:ln w="38100">
                  <a:noFill/>
                </a:ln>
                <a:solidFill>
                  <a:srgbClr val="EB0000"/>
                </a:solidFill>
                <a:latin typeface="+mj-lt"/>
                <a:ea typeface="+mj-ea"/>
                <a:cs typeface="+mj-cs"/>
              </a:defRPr>
            </a:lvl1pPr>
          </a:lstStyle>
          <a:p>
            <a:pPr marL="285750" lvl="0" indent="-285750" fontAlgn="b">
              <a:lnSpc>
                <a:spcPct val="112000"/>
              </a:lnSpc>
              <a:spcBef>
                <a:spcPct val="0"/>
              </a:spcBef>
            </a:pPr>
            <a:r>
              <a:rPr lang="en-US"/>
              <a:t>Callout slide</a:t>
            </a:r>
          </a:p>
        </p:txBody>
      </p:sp>
      <p:pic>
        <p:nvPicPr>
          <p:cNvPr id="8" name="Picture 7">
            <a:extLst>
              <a:ext uri="{FF2B5EF4-FFF2-40B4-BE49-F238E27FC236}">
                <a16:creationId xmlns:a16="http://schemas.microsoft.com/office/drawing/2014/main" id="{D0FEDF07-2F82-420C-94A2-62D6554BEA1B}"/>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72486843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731692-D7FB-43A5-9242-6381F710CEE4}"/>
              </a:ext>
            </a:extLst>
          </p:cNvPr>
          <p:cNvSpPr/>
          <p:nvPr userDrawn="1"/>
        </p:nvSpPr>
        <p:spPr>
          <a:xfrm>
            <a:off x="17945100" y="0"/>
            <a:ext cx="6438900" cy="13716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hasCustomPrompt="1"/>
          </p:nvPr>
        </p:nvSpPr>
        <p:spPr>
          <a:xfrm>
            <a:off x="585219" y="393192"/>
            <a:ext cx="17192098" cy="10488628"/>
          </a:xfrm>
          <a:ln w="12700">
            <a:noFill/>
          </a:ln>
        </p:spPr>
        <p:txBody>
          <a:bodyPr vert="horz" lIns="0" tIns="0" rIns="0" bIns="0" rtlCol="0" anchor="t" anchorCtr="0">
            <a:noAutofit/>
          </a:bodyPr>
          <a:lstStyle>
            <a:lvl1pPr marL="0" indent="0">
              <a:buNone/>
              <a:defRPr lang="en-US" sz="13500" i="1" dirty="0">
                <a:ln w="38100">
                  <a:noFill/>
                </a:ln>
                <a:solidFill>
                  <a:srgbClr val="EB0000"/>
                </a:solidFill>
                <a:latin typeface="+mj-lt"/>
                <a:ea typeface="+mj-ea"/>
                <a:cs typeface="+mj-cs"/>
              </a:defRPr>
            </a:lvl1pPr>
          </a:lstStyle>
          <a:p>
            <a:pPr marL="285750" lvl="0" indent="-285750" fontAlgn="b">
              <a:lnSpc>
                <a:spcPct val="112000"/>
              </a:lnSpc>
              <a:spcBef>
                <a:spcPct val="0"/>
              </a:spcBef>
            </a:pPr>
            <a:r>
              <a:rPr lang="en-US"/>
              <a:t>“Quote” slide</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8452592" y="621792"/>
            <a:ext cx="5202936" cy="12353544"/>
          </a:xfrm>
        </p:spPr>
        <p:txBody>
          <a:bodyPr vert="horz" lIns="0" tIns="0" rIns="0" bIns="0" rtlCol="0">
            <a:noAutofit/>
          </a:bodyPr>
          <a:lstStyle>
            <a:lvl1pPr>
              <a:lnSpc>
                <a:spcPct val="110000"/>
              </a:lnSpc>
              <a:spcBef>
                <a:spcPts val="0"/>
              </a:spcBef>
              <a:spcAft>
                <a:spcPts val="5250"/>
              </a:spcAft>
              <a:defRPr lang="en-US" sz="5250" dirty="0">
                <a:ln w="3175">
                  <a:noFill/>
                </a:ln>
                <a:solidFill>
                  <a:schemeClr val="bg1"/>
                </a:solidFill>
              </a:defRPr>
            </a:lvl1pPr>
          </a:lstStyle>
          <a:p>
            <a:pPr marL="0" lvl="0" indent="0" fontAlgn="base">
              <a:lnSpc>
                <a:spcPct val="100000"/>
              </a:lnSpc>
              <a:buNone/>
            </a:pPr>
            <a:r>
              <a:rPr lang="en-US"/>
              <a:t>Additional information if needed</a:t>
            </a:r>
          </a:p>
        </p:txBody>
      </p:sp>
      <p:sp>
        <p:nvSpPr>
          <p:cNvPr id="6" name="Text Placeholder 5">
            <a:extLst>
              <a:ext uri="{FF2B5EF4-FFF2-40B4-BE49-F238E27FC236}">
                <a16:creationId xmlns:a16="http://schemas.microsoft.com/office/drawing/2014/main" id="{3044BCD3-75F2-9749-A1BD-AE47F442AD56}"/>
              </a:ext>
            </a:extLst>
          </p:cNvPr>
          <p:cNvSpPr>
            <a:spLocks noGrp="1"/>
          </p:cNvSpPr>
          <p:nvPr>
            <p:ph type="body" sz="quarter" idx="14" hasCustomPrompt="1"/>
          </p:nvPr>
        </p:nvSpPr>
        <p:spPr>
          <a:xfrm>
            <a:off x="690774" y="10814036"/>
            <a:ext cx="17106900" cy="800100"/>
          </a:xfrm>
        </p:spPr>
        <p:txBody>
          <a:bodyPr vert="horz" lIns="0" tIns="0" rIns="0" bIns="0" rtlCol="0">
            <a:noAutofit/>
          </a:bodyPr>
          <a:lstStyle>
            <a:lvl1pPr marL="0" indent="0">
              <a:buNone/>
              <a:defRPr lang="en-US" sz="3750" smtClean="0">
                <a:solidFill>
                  <a:schemeClr val="tx1"/>
                </a:solidFill>
              </a:defRPr>
            </a:lvl1pPr>
            <a:lvl2pPr>
              <a:defRPr lang="en-US" smtClean="0"/>
            </a:lvl2pPr>
            <a:lvl3pPr>
              <a:defRPr lang="en-US" smtClean="0"/>
            </a:lvl3pPr>
            <a:lvl4pPr>
              <a:defRPr lang="en-US" smtClean="0"/>
            </a:lvl4pPr>
            <a:lvl5pPr>
              <a:defRPr lang="en-US"/>
            </a:lvl5pPr>
          </a:lstStyle>
          <a:p>
            <a:pPr marL="285750" lvl="0" indent="-285750"/>
            <a:r>
              <a:rPr lang="en-US"/>
              <a:t>Quote Source (Name)</a:t>
            </a:r>
          </a:p>
        </p:txBody>
      </p:sp>
      <p:pic>
        <p:nvPicPr>
          <p:cNvPr id="11" name="Picture 10">
            <a:extLst>
              <a:ext uri="{FF2B5EF4-FFF2-40B4-BE49-F238E27FC236}">
                <a16:creationId xmlns:a16="http://schemas.microsoft.com/office/drawing/2014/main" id="{02FA3E51-7126-49BB-AEEB-D6ADD15D3E1A}"/>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4085870639"/>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showMasterSp="0" preserve="1" userDrawn="1">
  <p:cSld name="Single Column - Re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a:xfrm>
            <a:off x="0" y="0"/>
            <a:ext cx="6477000" cy="13716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10" name="Freeform 5">
            <a:extLst>
              <a:ext uri="{FF2B5EF4-FFF2-40B4-BE49-F238E27FC236}">
                <a16:creationId xmlns:a16="http://schemas.microsoft.com/office/drawing/2014/main" id="{1CF5BF08-9925-43E8-91A6-E1D67778F479}"/>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631771848"/>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showMasterSp="0" preserve="1" userDrawn="1">
  <p:cSld name="Three Quarters Image Slide">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9" name="Freeform 5">
            <a:extLst>
              <a:ext uri="{FF2B5EF4-FFF2-40B4-BE49-F238E27FC236}">
                <a16:creationId xmlns:a16="http://schemas.microsoft.com/office/drawing/2014/main" id="{5F9DE99E-8802-4D87-A0BB-5C0BED023606}"/>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116165800"/>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showMasterSp="0" preserve="1" userDrawn="1">
  <p:cSld name="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0"/>
            <a:ext cx="12192000" cy="6858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1" y="7127210"/>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4"/>
            <a:ext cx="5208456" cy="474398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7"/>
            <a:ext cx="521104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09" y="7822157"/>
            <a:ext cx="520933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09" y="7822157"/>
            <a:ext cx="5209338" cy="4743474"/>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pic>
        <p:nvPicPr>
          <p:cNvPr id="23" name="Picture 22">
            <a:extLst>
              <a:ext uri="{FF2B5EF4-FFF2-40B4-BE49-F238E27FC236}">
                <a16:creationId xmlns:a16="http://schemas.microsoft.com/office/drawing/2014/main" id="{2B13526F-D661-4B4D-A012-B0B4FA8383A3}"/>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406916790"/>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showMasterSp="0" preserve="1" userDrawn="1">
  <p:cSld name="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2"/>
            <a:ext cx="12192000" cy="3810000"/>
          </a:xfrm>
          <a:prstGeom prst="rect">
            <a:avLst/>
          </a:prstGeom>
          <a:solidFill>
            <a:srgbClr val="EB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pic>
        <p:nvPicPr>
          <p:cNvPr id="17" name="Picture 16">
            <a:extLst>
              <a:ext uri="{FF2B5EF4-FFF2-40B4-BE49-F238E27FC236}">
                <a16:creationId xmlns:a16="http://schemas.microsoft.com/office/drawing/2014/main" id="{F0D9B8CA-A228-4CA4-90F2-2C16B5B6429C}"/>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709906992"/>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showMasterSp="0" preserve="1" userDrawn="1">
  <p:cSld name="Half Image Slide">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2276856"/>
          </a:xfrm>
        </p:spPr>
        <p:txBody>
          <a:bodyPr vert="horz" lIns="0" tIns="0" rIns="0" bIns="0" rtlCol="0">
            <a:noAutofit/>
          </a:bodyPr>
          <a:lstStyle>
            <a:lvl1pPr>
              <a:defRPr lang="en-US" sz="375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3062106"/>
          </a:xfrm>
        </p:spPr>
        <p:txBody>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573722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Freeform 5">
            <a:extLst>
              <a:ext uri="{FF2B5EF4-FFF2-40B4-BE49-F238E27FC236}">
                <a16:creationId xmlns:a16="http://schemas.microsoft.com/office/drawing/2014/main" id="{08B903AE-3FEF-49ED-A049-44973DCE9826}"/>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3412120298"/>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showMasterSp="0" preserve="1" userDrawn="1">
  <p:cSld name="Half Image Slide 2">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2276856"/>
          </a:xfrm>
        </p:spPr>
        <p:txBody>
          <a:bodyPr vert="horz" lIns="0" tIns="0" rIns="0" bIns="0" rtlCol="0">
            <a:noAutofit/>
          </a:bodyPr>
          <a:lstStyle>
            <a:lvl1pPr>
              <a:defRPr lang="en-US" sz="375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3062106"/>
          </a:xfrm>
        </p:spPr>
        <p:txBody>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5737226"/>
          </a:xfrm>
        </p:spPr>
        <p:txBody>
          <a:bodyPr lIns="0"/>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1">
            <a:extLst>
              <a:ext uri="{FF2B5EF4-FFF2-40B4-BE49-F238E27FC236}">
                <a16:creationId xmlns:a16="http://schemas.microsoft.com/office/drawing/2014/main" id="{D6180987-34BC-BB49-BF99-2ACD33B56FF7}"/>
              </a:ext>
            </a:extLst>
          </p:cNvPr>
          <p:cNvSpPr>
            <a:spLocks noGrp="1"/>
          </p:cNvSpPr>
          <p:nvPr>
            <p:ph type="ftr" sz="quarter" idx="16"/>
          </p:nvPr>
        </p:nvSpPr>
        <p:spPr/>
        <p:txBody>
          <a:bodyPr/>
          <a:lstStyle>
            <a:lvl1pPr>
              <a:defRPr>
                <a:solidFill>
                  <a:schemeClr val="bg1"/>
                </a:solidFill>
              </a:defRPr>
            </a:lvl1pPr>
          </a:lstStyle>
          <a:p>
            <a:endParaRPr lang="en-US"/>
          </a:p>
        </p:txBody>
      </p:sp>
      <p:sp>
        <p:nvSpPr>
          <p:cNvPr id="10" name="Freeform 5">
            <a:extLst>
              <a:ext uri="{FF2B5EF4-FFF2-40B4-BE49-F238E27FC236}">
                <a16:creationId xmlns:a16="http://schemas.microsoft.com/office/drawing/2014/main" id="{EEF1AFAF-2421-493C-806B-2FBA1427BDA3}"/>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813404183"/>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preserve="1" userDrawn="1">
  <p:cSld name="Half Image Slide 3">
    <p:bg>
      <p:bgPr>
        <a:solidFill>
          <a:srgbClr val="EB0000"/>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276856"/>
          </a:xfrm>
        </p:spPr>
        <p:txBody>
          <a:bodyPr vert="horz" lIns="0" tIns="0" rIns="0" bIns="0" rtlCol="0">
            <a:noAutofit/>
          </a:bodyPr>
          <a:lstStyle>
            <a:lvl1pPr>
              <a:defRPr lang="en-US" sz="375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12353544"/>
          </a:xfrm>
        </p:spPr>
        <p:txBody>
          <a:bodyPr vert="horz" lIns="0" tIns="0" rIns="0" bIns="0" rtlCol="0">
            <a:noAutofit/>
          </a:bodyPr>
          <a:lstStyle>
            <a:lvl1pPr marL="285750" marR="0" indent="-285750"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3000"/>
              </a:spcAft>
              <a:buClr>
                <a:schemeClr val="bg1"/>
              </a:buClr>
              <a:buSzTx/>
              <a:buFont typeface="Arial" panose="020B0604020202020204" pitchFamily="34" charset="0"/>
              <a:buChar char="•"/>
              <a:tabLst/>
              <a:defRPr lang="en-US" dirty="0">
                <a:solidFill>
                  <a:schemeClr val="bg1"/>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0" name="Freeform 5">
            <a:extLst>
              <a:ext uri="{FF2B5EF4-FFF2-40B4-BE49-F238E27FC236}">
                <a16:creationId xmlns:a16="http://schemas.microsoft.com/office/drawing/2014/main" id="{711BF3AF-6E43-4A1A-A814-8C52B1AE48FE}"/>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1373892066"/>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showMasterSp="0" preserve="1" userDrawn="1">
  <p:cSld name="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64770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tx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8" name="Freeform 5">
            <a:extLst>
              <a:ext uri="{FF2B5EF4-FFF2-40B4-BE49-F238E27FC236}">
                <a16:creationId xmlns:a16="http://schemas.microsoft.com/office/drawing/2014/main" id="{D610A9BD-424B-4759-89B6-9AB73E4DF3F4}"/>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402335749"/>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preserve="1" userDrawn="1">
  <p:cSld name="5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8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slide to add picture</a:t>
            </a:r>
          </a:p>
          <a:p>
            <a:endParaRPr lang="en-US"/>
          </a:p>
          <a:p>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179451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88952" y="731520"/>
            <a:ext cx="5756148" cy="4069080"/>
          </a:xfrm>
          <a:solidFill>
            <a:schemeClr val="tx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8" name="Freeform 5">
            <a:extLst>
              <a:ext uri="{FF2B5EF4-FFF2-40B4-BE49-F238E27FC236}">
                <a16:creationId xmlns:a16="http://schemas.microsoft.com/office/drawing/2014/main" id="{6AEAE3CF-1B66-42CE-B82A-9BBD9C08CDD5}"/>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311115513"/>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preserve="1" userDrawn="1">
  <p:cSld name="Single Column - Purpl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a:xfrm>
            <a:off x="0" y="0"/>
            <a:ext cx="6477000" cy="1371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lang="en-US" dirty="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10" name="Freeform 5">
            <a:extLst>
              <a:ext uri="{FF2B5EF4-FFF2-40B4-BE49-F238E27FC236}">
                <a16:creationId xmlns:a16="http://schemas.microsoft.com/office/drawing/2014/main" id="{59CA273E-354C-4099-BD3B-72488E3AD774}"/>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3234847319"/>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showMasterSp="0" preserve="1" userDrawn="1">
  <p:cSld name="1_Three Quarters Image Slide">
    <p:bg>
      <p:bgPr>
        <a:solidFill>
          <a:schemeClr val="accent2"/>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974D1DD3-642B-4C79-A73C-241B70A94F6C}"/>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9" name="Freeform 5">
            <a:extLst>
              <a:ext uri="{FF2B5EF4-FFF2-40B4-BE49-F238E27FC236}">
                <a16:creationId xmlns:a16="http://schemas.microsoft.com/office/drawing/2014/main" id="{54D08F3D-D744-4759-9D4C-A7E7BDF5AF3A}"/>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734553733"/>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showMasterSp="0" preserve="1" userDrawn="1">
  <p:cSld name="1_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0"/>
            <a:ext cx="121920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7823205"/>
            <a:ext cx="5208456" cy="5103714"/>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7127210"/>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7127210"/>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7127210"/>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7822154"/>
            <a:ext cx="521104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pic>
        <p:nvPicPr>
          <p:cNvPr id="17" name="Picture 16">
            <a:extLst>
              <a:ext uri="{FF2B5EF4-FFF2-40B4-BE49-F238E27FC236}">
                <a16:creationId xmlns:a16="http://schemas.microsoft.com/office/drawing/2014/main" id="{884C8F79-7DA2-4E9F-9651-417DF832F3EB}"/>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48537765"/>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showMasterSp="0" preserve="1" userDrawn="1">
  <p:cSld name="1_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2"/>
            <a:ext cx="12192000" cy="381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pic>
        <p:nvPicPr>
          <p:cNvPr id="17" name="Picture 16">
            <a:extLst>
              <a:ext uri="{FF2B5EF4-FFF2-40B4-BE49-F238E27FC236}">
                <a16:creationId xmlns:a16="http://schemas.microsoft.com/office/drawing/2014/main" id="{72744DCE-C3CF-495F-9AEF-B2E276524D61}"/>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332980980"/>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showMasterSp="0" preserve="1" userDrawn="1">
  <p:cSld name="2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64770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accent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8" name="Freeform 5">
            <a:extLst>
              <a:ext uri="{FF2B5EF4-FFF2-40B4-BE49-F238E27FC236}">
                <a16:creationId xmlns:a16="http://schemas.microsoft.com/office/drawing/2014/main" id="{89F7D717-4240-48F3-A18B-094446C56461}"/>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772623861"/>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showMasterSp="0" preserve="1" userDrawn="1">
  <p:cSld name="6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slide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17948148"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92000" y="731520"/>
            <a:ext cx="5756148" cy="4069080"/>
          </a:xfrm>
          <a:solidFill>
            <a:schemeClr val="accent2"/>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8" name="Freeform 5">
            <a:extLst>
              <a:ext uri="{FF2B5EF4-FFF2-40B4-BE49-F238E27FC236}">
                <a16:creationId xmlns:a16="http://schemas.microsoft.com/office/drawing/2014/main" id="{6D1DE763-0A5C-4E6C-ADAD-63E5D4EE154C}"/>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1738351611"/>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showMasterSp="0" preserve="1" userDrawn="1">
  <p:cSld name="Single Column - Blu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a:xfrm>
            <a:off x="0" y="0"/>
            <a:ext cx="6477000" cy="13716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lIns="365760"/>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12353544"/>
          </a:xfrm>
        </p:spPr>
        <p:txBody>
          <a:bodyPr vert="horz" lIns="182880" tIns="0" rIns="0" bIns="0" rtlCol="0">
            <a:noAutofit/>
          </a:bodyPr>
          <a:lstStyle>
            <a:lvl1pPr>
              <a:defRPr lang="en-US" dirty="0"/>
            </a:lvl1pPr>
            <a:lvl2pPr>
              <a:defRPr lang="en-US" dirty="0"/>
            </a:lvl2pPr>
            <a:lvl3pPr>
              <a:defRPr lang="en-US" dirty="0"/>
            </a:lvl3pPr>
            <a:lvl4pPr>
              <a:defRPr lang="en-US" dirty="0"/>
            </a:lvl4pPr>
            <a:lvl5pPr>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lstStyle>
            <a:lvl1pPr>
              <a:defRPr>
                <a:solidFill>
                  <a:schemeClr val="bg1"/>
                </a:solidFill>
              </a:defRPr>
            </a:lvl1pPr>
          </a:lstStyle>
          <a:p>
            <a:r>
              <a:rPr lang="en-US"/>
              <a:t>Click to edit Master title style</a:t>
            </a:r>
          </a:p>
        </p:txBody>
      </p:sp>
      <p:sp>
        <p:nvSpPr>
          <p:cNvPr id="10" name="Freeform 5">
            <a:extLst>
              <a:ext uri="{FF2B5EF4-FFF2-40B4-BE49-F238E27FC236}">
                <a16:creationId xmlns:a16="http://schemas.microsoft.com/office/drawing/2014/main" id="{7B94E043-64BC-4ABE-8DF4-6F0A6FC91FC4}"/>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401431139"/>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showMasterSp="0" preserve="1" userDrawn="1">
  <p:cSld name="2_Three Quarters Image Slide">
    <p:bg>
      <p:bgPr>
        <a:solidFill>
          <a:schemeClr val="accent4"/>
        </a:solidFill>
        <a:effectLst/>
      </p:bgPr>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1AB88C6D-9DCE-4D28-A76A-5515295E496A}"/>
              </a:ext>
            </a:extLst>
          </p:cNvPr>
          <p:cNvSpPr>
            <a:spLocks noGrp="1"/>
          </p:cNvSpPr>
          <p:nvPr>
            <p:ph type="body" sz="quarter" idx="13" hasCustomPrompt="1"/>
          </p:nvPr>
        </p:nvSpPr>
        <p:spPr>
          <a:xfrm>
            <a:off x="688975" y="3687499"/>
            <a:ext cx="5216526" cy="2280490"/>
          </a:xfrm>
        </p:spPr>
        <p:txBody>
          <a:bodyPr lIns="0" tIns="0" rIns="0">
            <a:noAutofit/>
          </a:bodyPr>
          <a:lstStyle>
            <a:lvl1pPr marL="0" indent="0" algn="l" fontAlgn="base">
              <a:lnSpc>
                <a:spcPct val="100000"/>
              </a:lnSpc>
              <a:spcBef>
                <a:spcPts val="0"/>
              </a:spcBef>
              <a:buFont typeface="Arial" panose="020B0604020202020204" pitchFamily="34" charset="0"/>
              <a:buNone/>
              <a:defRPr lang="en-US" sz="375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9" name="Freeform 5">
            <a:extLst>
              <a:ext uri="{FF2B5EF4-FFF2-40B4-BE49-F238E27FC236}">
                <a16:creationId xmlns:a16="http://schemas.microsoft.com/office/drawing/2014/main" id="{EE3A5068-5C28-48D0-BF5E-93FA41F4EF5F}"/>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2256995403"/>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preserve="1" userDrawn="1">
  <p:cSld name="2_1/4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0"/>
            <a:ext cx="12192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5" y="539496"/>
            <a:ext cx="10377006" cy="4695892"/>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7823205"/>
            <a:ext cx="5208456" cy="5103714"/>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0"/>
            <a:ext cx="12188952" cy="6858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a:p>
            <a:endParaRPr lang="en-US"/>
          </a:p>
          <a:p>
            <a:endParaRPr lang="en-US"/>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7127210"/>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7127210"/>
            <a:ext cx="506487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7127210"/>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7822154"/>
            <a:ext cx="521104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7822154"/>
            <a:ext cx="5057810"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7822154"/>
            <a:ext cx="5209338" cy="5103160"/>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pic>
        <p:nvPicPr>
          <p:cNvPr id="17" name="Picture 16">
            <a:extLst>
              <a:ext uri="{FF2B5EF4-FFF2-40B4-BE49-F238E27FC236}">
                <a16:creationId xmlns:a16="http://schemas.microsoft.com/office/drawing/2014/main" id="{B1C3CAD3-1CA7-493E-9AD3-8B0C1BB152BC}"/>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3325598195"/>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preserve="1" userDrawn="1">
  <p:cSld name="2_1/6 Ima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a:xfrm>
            <a:off x="0" y="2"/>
            <a:ext cx="12192000" cy="381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2" y="539496"/>
            <a:ext cx="11295888" cy="3270504"/>
          </a:xfrm>
          <a:ln w="12700">
            <a:noFill/>
          </a:ln>
        </p:spPr>
        <p:txBody>
          <a:bodyPr vert="horz" lIns="0" tIns="0" rIns="0" bIns="0" rtlCol="0" anchor="t" anchorCtr="0">
            <a:noAutofit/>
          </a:bodyPr>
          <a:lstStyle>
            <a:lvl1pPr>
              <a:defRPr lang="en-US" dirty="0">
                <a:ln w="9525">
                  <a:noFill/>
                </a:ln>
                <a:solidFill>
                  <a:schemeClr val="bg1"/>
                </a:solidFill>
              </a:defRPr>
            </a:lvl1pPr>
          </a:lstStyle>
          <a:p>
            <a:pPr marL="0" lvl="0"/>
            <a:r>
              <a:rPr lang="en-US"/>
              <a:t>Click to edit Master title style</a:t>
            </a:r>
          </a:p>
        </p:txBody>
      </p:sp>
      <p:sp>
        <p:nvSpPr>
          <p:cNvPr id="3" name="Footer Placeholder 2">
            <a:extLst>
              <a:ext uri="{FF2B5EF4-FFF2-40B4-BE49-F238E27FC236}">
                <a16:creationId xmlns:a16="http://schemas.microsoft.com/office/drawing/2014/main" id="{B81E716E-C5BB-4C0D-87F8-C77CE23B6BBD}"/>
              </a:ext>
            </a:extLst>
          </p:cNvPr>
          <p:cNvSpPr>
            <a:spLocks noGrp="1"/>
          </p:cNvSpPr>
          <p:nvPr>
            <p:ph type="ftr" sz="quarter" idx="10"/>
          </p:nvPr>
        </p:nvSpPr>
        <p:spPr/>
        <p:txBody>
          <a:bodyPr/>
          <a:lstStyle/>
          <a:p>
            <a:endParaRPr lang="en-US"/>
          </a:p>
        </p:txBody>
      </p:sp>
      <p:sp>
        <p:nvSpPr>
          <p:cNvPr id="4" name="Slide Number Placeholder 3">
            <a:extLst>
              <a:ext uri="{FF2B5EF4-FFF2-40B4-BE49-F238E27FC236}">
                <a16:creationId xmlns:a16="http://schemas.microsoft.com/office/drawing/2014/main" id="{01A1175B-AB55-4201-86CB-865AD2E0E905}"/>
              </a:ext>
            </a:extLst>
          </p:cNvPr>
          <p:cNvSpPr>
            <a:spLocks noGrp="1"/>
          </p:cNvSpPr>
          <p:nvPr>
            <p:ph type="sldNum" sz="quarter" idx="11"/>
          </p:nvPr>
        </p:nvSpPr>
        <p:spPr/>
        <p:txBody>
          <a:bodyPr/>
          <a:lstStyle/>
          <a:p>
            <a:fld id="{762E77F0-FB5B-4E8E-9BC9-34F14560A017}" type="slidenum">
              <a:rPr lang="en-US" smtClean="0"/>
              <a:pPr/>
              <a:t>‹#›</a:t>
            </a:fld>
            <a:endParaRPr lang="en-US"/>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7088108"/>
          </a:xfrm>
        </p:spPr>
        <p:txBody>
          <a:bodyPr lIns="0">
            <a:noAutofit/>
          </a:bodyPr>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16" name="Picture Placeholder 15">
            <a:extLst>
              <a:ext uri="{FF2B5EF4-FFF2-40B4-BE49-F238E27FC236}">
                <a16:creationId xmlns:a16="http://schemas.microsoft.com/office/drawing/2014/main" id="{E7D95B2B-F8E6-DF49-975B-2D0856FD7834}"/>
              </a:ext>
            </a:extLst>
          </p:cNvPr>
          <p:cNvSpPr>
            <a:spLocks noGrp="1"/>
          </p:cNvSpPr>
          <p:nvPr>
            <p:ph type="pic" sz="quarter" idx="13" hasCustomPrompt="1"/>
          </p:nvPr>
        </p:nvSpPr>
        <p:spPr>
          <a:xfrm>
            <a:off x="12188952" y="2"/>
            <a:ext cx="12195048" cy="3810000"/>
          </a:xfrm>
          <a:solidFill>
            <a:schemeClr val="bg1">
              <a:lumMod val="75000"/>
            </a:schemeClr>
          </a:solidFill>
        </p:spPr>
        <p:txBody>
          <a:bodyPr/>
          <a:lstStyle>
            <a:lvl1pPr marL="285750" marR="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lvl1pPr>
          </a:lstStyle>
          <a:p>
            <a:pPr marL="285750" marR="0" lvl="0" indent="-285750" algn="l" defTabSz="1828800" rtl="0" eaLnBrk="1" fontAlgn="auto" latinLnBrk="0" hangingPunct="1">
              <a:lnSpc>
                <a:spcPct val="100000"/>
              </a:lnSpc>
              <a:spcBef>
                <a:spcPts val="0"/>
              </a:spcBef>
              <a:spcAft>
                <a:spcPts val="3000"/>
              </a:spcAft>
              <a:buClr>
                <a:schemeClr val="tx2"/>
              </a:buClr>
              <a:buSzTx/>
              <a:buFont typeface="Arial" panose="020B0604020202020204" pitchFamily="34" charset="0"/>
              <a:buChar char="•"/>
              <a:tabLst/>
              <a:defRPr/>
            </a:pPr>
            <a:r>
              <a:rPr lang="en-US"/>
              <a:t>Click icon in the center of box to add picture</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785812"/>
          </a:xfrm>
        </p:spPr>
        <p:txBody>
          <a:bodyPr vert="horz" lIns="0" tIns="0" rIns="0" bIns="0" rtlCol="0">
            <a:noAutofit/>
          </a:bodyPr>
          <a:lstStyle>
            <a:lvl1pPr marL="0" indent="0">
              <a:buNone/>
              <a:defRPr lang="en-US" sz="3750">
                <a:ln w="3175">
                  <a:noFill/>
                </a:ln>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786384"/>
          </a:xfrm>
        </p:spPr>
        <p:txBody>
          <a:bodyPr vert="horz" lIns="0" tIns="0" rIns="0" bIns="0" rtlCol="0">
            <a:noAutofit/>
          </a:bodyPr>
          <a:lstStyle>
            <a:lvl1pPr marL="0" indent="0">
              <a:buNone/>
              <a:defRPr lang="en-US" sz="3750">
                <a:ln w="3175">
                  <a:noFill/>
                </a:ln>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786384"/>
          </a:xfrm>
        </p:spPr>
        <p:txBody>
          <a:bodyPr vert="horz" lIns="0" tIns="0" rIns="0" bIns="0" rtlCol="0">
            <a:noAutofit/>
          </a:bodyPr>
          <a:lstStyle>
            <a:lvl1pPr marL="0" indent="0">
              <a:buNone/>
              <a:defRPr lang="en-US" sz="3750">
                <a:ln w="3175">
                  <a:noFill/>
                </a:ln>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786384"/>
          </a:xfrm>
        </p:spPr>
        <p:txBody>
          <a:bodyPr vert="horz" lIns="0" tIns="0" rIns="0" bIns="0" rtlCol="0">
            <a:noAutofit/>
          </a:bodyPr>
          <a:lstStyle>
            <a:lvl1pPr marL="0" indent="0">
              <a:buNone/>
              <a:defRPr lang="en-US" sz="3750">
                <a:ln w="3175">
                  <a:noFill/>
                </a:ln>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3"/>
            <a:ext cx="521104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3"/>
            <a:ext cx="5209338" cy="7087338"/>
          </a:xfrm>
        </p:spPr>
        <p:txBody>
          <a:bodyPr lIns="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a:p>
            <a:pPr marL="285750" marR="0" lvl="4"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Fifth level</a:t>
            </a:r>
          </a:p>
        </p:txBody>
      </p:sp>
      <p:pic>
        <p:nvPicPr>
          <p:cNvPr id="17" name="Picture 16">
            <a:extLst>
              <a:ext uri="{FF2B5EF4-FFF2-40B4-BE49-F238E27FC236}">
                <a16:creationId xmlns:a16="http://schemas.microsoft.com/office/drawing/2014/main" id="{D849D188-5CF7-40B4-9CE3-E8F2826430CB}"/>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927252139"/>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preserve="1" userDrawn="1">
  <p:cSld name="3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64770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accent4"/>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8" name="Freeform 5">
            <a:extLst>
              <a:ext uri="{FF2B5EF4-FFF2-40B4-BE49-F238E27FC236}">
                <a16:creationId xmlns:a16="http://schemas.microsoft.com/office/drawing/2014/main" id="{CB8122EE-77B3-4D25-9D8E-8FB52B3C2AC9}"/>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3558177388"/>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preserve="1" userDrawn="1">
  <p:cSld name="7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p:nvPr>
        </p:nvSpPr>
        <p:spPr>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to add picture</a:t>
            </a:r>
          </a:p>
        </p:txBody>
      </p:sp>
      <p:sp>
        <p:nvSpPr>
          <p:cNvPr id="3" name="Footer Placeholder 2">
            <a:extLst>
              <a:ext uri="{FF2B5EF4-FFF2-40B4-BE49-F238E27FC236}">
                <a16:creationId xmlns:a16="http://schemas.microsoft.com/office/drawing/2014/main" id="{90DE15A5-4D9F-1F4C-A2FE-BCE9333BF5EC}"/>
              </a:ext>
            </a:extLst>
          </p:cNvPr>
          <p:cNvSpPr>
            <a:spLocks noGrp="1"/>
          </p:cNvSpPr>
          <p:nvPr>
            <p:ph type="ftr" sz="quarter" idx="10"/>
          </p:nvPr>
        </p:nvSpPr>
        <p:spPr/>
        <p:txBody>
          <a:bodyPr/>
          <a:lstStyle>
            <a:lvl1pPr>
              <a:defRPr>
                <a:solidFill>
                  <a:schemeClr val="bg1"/>
                </a:solidFill>
              </a:defRPr>
            </a:lvl1pPr>
          </a:lstStyle>
          <a:p>
            <a:endParaRPr lang="en-US"/>
          </a:p>
        </p:txBody>
      </p:sp>
      <p:sp>
        <p:nvSpPr>
          <p:cNvPr id="4" name="Slide Number Placeholder 3">
            <a:extLst>
              <a:ext uri="{FF2B5EF4-FFF2-40B4-BE49-F238E27FC236}">
                <a16:creationId xmlns:a16="http://schemas.microsoft.com/office/drawing/2014/main" id="{F41D764D-58D3-C848-A5CF-E3744B83DFB7}"/>
              </a:ext>
            </a:extLst>
          </p:cNvPr>
          <p:cNvSpPr>
            <a:spLocks noGrp="1"/>
          </p:cNvSpPr>
          <p:nvPr>
            <p:ph type="sldNum" sz="quarter" idx="11"/>
          </p:nvPr>
        </p:nvSpPr>
        <p:spPr/>
        <p:txBody>
          <a:bodyPr/>
          <a:lstStyle>
            <a:lvl1pPr>
              <a:defRPr>
                <a:solidFill>
                  <a:schemeClr val="bg1"/>
                </a:solidFill>
              </a:defRPr>
            </a:lvl1pPr>
          </a:lstStyle>
          <a:p>
            <a:fld id="{762E77F0-FB5B-4E8E-9BC9-34F14560A017}" type="slidenum">
              <a:rPr lang="en-US" smtClean="0"/>
              <a:pPr/>
              <a:t>‹#›</a:t>
            </a:fld>
            <a:endParaRPr lang="en-US"/>
          </a:p>
        </p:txBody>
      </p:sp>
      <p:sp>
        <p:nvSpPr>
          <p:cNvPr id="10" name="Text Placeholder 9">
            <a:extLst>
              <a:ext uri="{FF2B5EF4-FFF2-40B4-BE49-F238E27FC236}">
                <a16:creationId xmlns:a16="http://schemas.microsoft.com/office/drawing/2014/main" id="{F9B1F1B6-DA20-BF4A-97CD-0AAABFCC97B0}"/>
              </a:ext>
            </a:extLst>
          </p:cNvPr>
          <p:cNvSpPr>
            <a:spLocks noGrp="1"/>
          </p:cNvSpPr>
          <p:nvPr>
            <p:ph type="body" sz="quarter" idx="13"/>
          </p:nvPr>
        </p:nvSpPr>
        <p:spPr>
          <a:xfrm>
            <a:off x="17945100" y="4800600"/>
            <a:ext cx="5715000" cy="4114800"/>
          </a:xfrm>
          <a:solidFill>
            <a:schemeClr val="bg1"/>
          </a:solidFill>
        </p:spPr>
        <p:txBody>
          <a:bodyPr lIns="182880" tIns="182880" rIns="91440"/>
          <a:lstStyle>
            <a:lvl1pPr marL="285750" marR="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1pPr>
            <a:lvl2pPr marL="857250" marR="0" indent="-290514"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2pPr>
            <a:lvl3pPr marL="1428750" marR="0" indent="-295276"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3pPr>
            <a:lvl4pPr marL="2000250" marR="0" indent="-300038"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4pPr>
            <a:lvl5pPr marL="2571750" marR="0" indent="-30480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sz="3750"/>
            </a:lvl5pPr>
          </a:lstStyle>
          <a:p>
            <a:pPr marL="285750" marR="0" lvl="0"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Edit Master text styles</a:t>
            </a:r>
          </a:p>
          <a:p>
            <a:pPr marL="285750" marR="0" lvl="1"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Second level</a:t>
            </a:r>
          </a:p>
          <a:p>
            <a:pPr marL="285750" marR="0" lvl="2"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Third level</a:t>
            </a:r>
          </a:p>
          <a:p>
            <a:pPr marL="285750" marR="0" lvl="3" indent="-285750" algn="l" defTabSz="1828800" rtl="0" eaLnBrk="1" fontAlgn="auto" latinLnBrk="0" hangingPunct="1">
              <a:lnSpc>
                <a:spcPct val="100000"/>
              </a:lnSpc>
              <a:spcBef>
                <a:spcPts val="0"/>
              </a:spcBef>
              <a:spcAft>
                <a:spcPts val="30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prstClr val="black"/>
                </a:solidFill>
                <a:effectLst/>
                <a:uLnTx/>
                <a:uFillTx/>
                <a:latin typeface="+mn-lt"/>
                <a:ea typeface="+mn-ea"/>
                <a:cs typeface="+mn-cs"/>
              </a:rPr>
              <a:t>Fourth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12188952" y="731520"/>
            <a:ext cx="5756148" cy="4069080"/>
          </a:xfrm>
          <a:solidFill>
            <a:schemeClr val="accent4"/>
          </a:solidFill>
          <a:ln w="12700">
            <a:noFill/>
          </a:ln>
        </p:spPr>
        <p:txBody>
          <a:bodyPr vert="horz" lIns="228600" tIns="155448" rIns="329184" bIns="155448" rtlCol="0" anchor="t" anchorCtr="0">
            <a:noAutofit/>
          </a:bodyPr>
          <a:lstStyle>
            <a:lvl1pPr>
              <a:defRPr lang="en-US" dirty="0">
                <a:ln w="9525">
                  <a:noFill/>
                </a:ln>
                <a:solidFill>
                  <a:schemeClr val="bg1"/>
                </a:solidFill>
              </a:defRPr>
            </a:lvl1pPr>
          </a:lstStyle>
          <a:p>
            <a:pPr marL="0" lvl="0" indent="0">
              <a:spcAft>
                <a:spcPts val="3000"/>
              </a:spcAft>
              <a:buFont typeface="Arial" panose="020B0604020202020204" pitchFamily="34" charset="0"/>
            </a:pPr>
            <a:r>
              <a:rPr lang="en-US"/>
              <a:t>Click to edit Master title style</a:t>
            </a:r>
          </a:p>
        </p:txBody>
      </p:sp>
      <p:sp>
        <p:nvSpPr>
          <p:cNvPr id="8" name="Freeform 5">
            <a:extLst>
              <a:ext uri="{FF2B5EF4-FFF2-40B4-BE49-F238E27FC236}">
                <a16:creationId xmlns:a16="http://schemas.microsoft.com/office/drawing/2014/main" id="{A0457777-0493-42E3-8F48-152CCF754CBB}"/>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spTree>
    <p:extLst>
      <p:ext uri="{BB962C8B-B14F-4D97-AF65-F5344CB8AC3E}">
        <p14:creationId xmlns:p14="http://schemas.microsoft.com/office/powerpoint/2010/main" val="3026652323"/>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showMasterSp="0" userDrawn="1">
  <p:cSld name="Title Slide 3">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649224" y="557784"/>
            <a:ext cx="11542776" cy="4315968"/>
          </a:xfrm>
        </p:spPr>
        <p:txBody>
          <a:bodyPr anchor="b" anchorCtr="0">
            <a:noAutofit/>
          </a:bodyPr>
          <a:lstStyle>
            <a:lvl1pPr algn="l" fontAlgn="b">
              <a:lnSpc>
                <a:spcPct val="112000"/>
              </a:lnSpc>
              <a:defRPr sz="9000">
                <a:ln w="9525">
                  <a:noFill/>
                </a:ln>
                <a:solidFill>
                  <a:srgbClr val="EB0000"/>
                </a:solidFill>
              </a:defRPr>
            </a:lvl1pPr>
          </a:lstStyle>
          <a:p>
            <a:r>
              <a:rPr lang="en-US"/>
              <a:t>Title with</a:t>
            </a:r>
            <a:br>
              <a:rPr lang="en-US"/>
            </a:br>
            <a:r>
              <a:rPr lang="en-US"/>
              <a:t>multiple lines</a:t>
            </a:r>
            <a:br>
              <a:rPr lang="en-US"/>
            </a:br>
            <a:r>
              <a:rPr lang="en-US"/>
              <a:t>here</a:t>
            </a:r>
          </a:p>
        </p:txBody>
      </p:sp>
      <p:sp>
        <p:nvSpPr>
          <p:cNvPr id="3" name="Subtitle 2"/>
          <p:cNvSpPr>
            <a:spLocks noGrp="1"/>
          </p:cNvSpPr>
          <p:nvPr>
            <p:ph type="subTitle" idx="1" hasCustomPrompt="1"/>
          </p:nvPr>
        </p:nvSpPr>
        <p:spPr>
          <a:xfrm>
            <a:off x="676656" y="5029203"/>
            <a:ext cx="11515344" cy="2306638"/>
          </a:xfrm>
        </p:spPr>
        <p:txBody>
          <a:bodyPr vert="horz" lIns="0" tIns="0" rIns="0" bIns="0" rtlCol="0" anchor="t">
            <a:noAutofit/>
          </a:bodyPr>
          <a:lstStyle>
            <a:lvl1pPr marL="0" indent="0">
              <a:buNone/>
              <a:defRPr lang="en-US" sz="5250" dirty="0">
                <a:ln>
                  <a:noFill/>
                </a:ln>
              </a:defRPr>
            </a:lvl1pPr>
          </a:lstStyle>
          <a:p>
            <a:pPr lvl="0"/>
            <a:r>
              <a:rPr lang="en-US"/>
              <a:t>Date/subtitle goes here</a:t>
            </a:r>
          </a:p>
        </p:txBody>
      </p:sp>
      <p:sp>
        <p:nvSpPr>
          <p:cNvPr id="17" name="Text Placeholder 16">
            <a:extLst>
              <a:ext uri="{FF2B5EF4-FFF2-40B4-BE49-F238E27FC236}">
                <a16:creationId xmlns:a16="http://schemas.microsoft.com/office/drawing/2014/main" id="{53F3D094-8507-4675-9425-D7CCB291279A}"/>
              </a:ext>
            </a:extLst>
          </p:cNvPr>
          <p:cNvSpPr>
            <a:spLocks noGrp="1"/>
          </p:cNvSpPr>
          <p:nvPr>
            <p:ph type="body" sz="quarter" idx="10" hasCustomPrompt="1"/>
          </p:nvPr>
        </p:nvSpPr>
        <p:spPr>
          <a:xfrm>
            <a:off x="694944" y="9802371"/>
            <a:ext cx="11497056" cy="1581150"/>
          </a:xfrm>
        </p:spPr>
        <p:txBody>
          <a:bodyPr/>
          <a:lstStyle>
            <a:lvl1pPr marL="0" indent="0">
              <a:spcBef>
                <a:spcPts val="0"/>
              </a:spcBef>
              <a:buNone/>
              <a:defRPr/>
            </a:lvl1pPr>
          </a:lstStyle>
          <a:p>
            <a:pPr lvl="0"/>
            <a:r>
              <a:rPr lang="en-US"/>
              <a:t>Name goes here</a:t>
            </a:r>
            <a:br>
              <a:rPr lang="en-US"/>
            </a:br>
            <a:r>
              <a:rPr lang="en-US"/>
              <a:t>Position goes here</a:t>
            </a:r>
          </a:p>
        </p:txBody>
      </p:sp>
      <p:sp>
        <p:nvSpPr>
          <p:cNvPr id="8" name="Freeform: Shape 13">
            <a:extLst>
              <a:ext uri="{FF2B5EF4-FFF2-40B4-BE49-F238E27FC236}">
                <a16:creationId xmlns:a16="http://schemas.microsoft.com/office/drawing/2014/main" id="{9F557C70-FE77-1840-9176-02291FB36A72}"/>
              </a:ext>
            </a:extLst>
          </p:cNvPr>
          <p:cNvSpPr/>
          <p:nvPr userDrawn="1"/>
        </p:nvSpPr>
        <p:spPr>
          <a:xfrm>
            <a:off x="14157962" y="3"/>
            <a:ext cx="10226040" cy="13719262"/>
          </a:xfrm>
          <a:custGeom>
            <a:avLst/>
            <a:gdLst>
              <a:gd name="connsiteX0" fmla="*/ 2570684 w 10226039"/>
              <a:gd name="connsiteY0" fmla="*/ 0 h 13719261"/>
              <a:gd name="connsiteX1" fmla="*/ 6040601 w 10226039"/>
              <a:gd name="connsiteY1" fmla="*/ 0 h 13719261"/>
              <a:gd name="connsiteX2" fmla="*/ 5489003 w 10226039"/>
              <a:gd name="connsiteY2" fmla="*/ 2946777 h 13719261"/>
              <a:gd name="connsiteX3" fmla="*/ 8422727 w 10226039"/>
              <a:gd name="connsiteY3" fmla="*/ 44613 h 13719261"/>
              <a:gd name="connsiteX4" fmla="*/ 8543311 w 10226039"/>
              <a:gd name="connsiteY4" fmla="*/ 0 h 13719261"/>
              <a:gd name="connsiteX5" fmla="*/ 10226039 w 10226039"/>
              <a:gd name="connsiteY5" fmla="*/ 0 h 13719261"/>
              <a:gd name="connsiteX6" fmla="*/ 10226039 w 10226039"/>
              <a:gd name="connsiteY6" fmla="*/ 3726234 h 13719261"/>
              <a:gd name="connsiteX7" fmla="*/ 10218619 w 10226039"/>
              <a:gd name="connsiteY7" fmla="*/ 3765852 h 13719261"/>
              <a:gd name="connsiteX8" fmla="*/ 5004857 w 10226039"/>
              <a:gd name="connsiteY8" fmla="*/ 8040537 h 13719261"/>
              <a:gd name="connsiteX9" fmla="*/ 3940763 w 10226039"/>
              <a:gd name="connsiteY9" fmla="*/ 13719261 h 13719261"/>
              <a:gd name="connsiteX10" fmla="*/ 0 w 10226039"/>
              <a:gd name="connsiteY10" fmla="*/ 13719261 h 1371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6039" h="13719261">
                <a:moveTo>
                  <a:pt x="2570684" y="0"/>
                </a:moveTo>
                <a:lnTo>
                  <a:pt x="6040601" y="0"/>
                </a:lnTo>
                <a:lnTo>
                  <a:pt x="5489003" y="2946777"/>
                </a:lnTo>
                <a:cubicBezTo>
                  <a:pt x="6058449" y="1630922"/>
                  <a:pt x="7116933" y="587408"/>
                  <a:pt x="8422727" y="44613"/>
                </a:cubicBezTo>
                <a:lnTo>
                  <a:pt x="8543311" y="0"/>
                </a:lnTo>
                <a:lnTo>
                  <a:pt x="10226039" y="0"/>
                </a:lnTo>
                <a:lnTo>
                  <a:pt x="10226039" y="3726234"/>
                </a:lnTo>
                <a:lnTo>
                  <a:pt x="10218619" y="3765852"/>
                </a:lnTo>
                <a:cubicBezTo>
                  <a:pt x="7524903" y="3351926"/>
                  <a:pt x="5632205" y="4691887"/>
                  <a:pt x="5004857" y="8040537"/>
                </a:cubicBezTo>
                <a:lnTo>
                  <a:pt x="3940763" y="13719261"/>
                </a:lnTo>
                <a:lnTo>
                  <a:pt x="0" y="13719261"/>
                </a:lnTo>
                <a:close/>
              </a:path>
            </a:pathLst>
          </a:custGeom>
          <a:gradFill>
            <a:gsLst>
              <a:gs pos="0">
                <a:schemeClr val="tx2"/>
              </a:gs>
              <a:gs pos="100000">
                <a:schemeClr val="accent4"/>
              </a:gs>
              <a:gs pos="50000">
                <a:schemeClr val="accent2"/>
              </a:gs>
            </a:gsLst>
            <a:lin ang="5400000" scaled="1"/>
          </a:gradFill>
          <a:ln w="12537" cap="flat">
            <a:noFill/>
            <a:prstDash val="solid"/>
            <a:miter/>
          </a:ln>
        </p:spPr>
        <p:txBody>
          <a:bodyPr wrap="square" rtlCol="0" anchor="ctr">
            <a:noAutofit/>
          </a:bodyPr>
          <a:lstStyle/>
          <a:p>
            <a:endParaRPr lang="en-US" sz="900"/>
          </a:p>
        </p:txBody>
      </p:sp>
      <p:sp>
        <p:nvSpPr>
          <p:cNvPr id="7" name="TextBox 6">
            <a:extLst>
              <a:ext uri="{FF2B5EF4-FFF2-40B4-BE49-F238E27FC236}">
                <a16:creationId xmlns:a16="http://schemas.microsoft.com/office/drawing/2014/main" id="{8E86A58D-A8F4-7A42-B2E2-D3E6C32D02EC}"/>
              </a:ext>
            </a:extLst>
          </p:cNvPr>
          <p:cNvSpPr txBox="1"/>
          <p:nvPr userDrawn="1"/>
        </p:nvSpPr>
        <p:spPr>
          <a:xfrm>
            <a:off x="18162739" y="13162003"/>
            <a:ext cx="2430050" cy="461665"/>
          </a:xfrm>
          <a:prstGeom prst="rect">
            <a:avLst/>
          </a:prstGeom>
          <a:noFill/>
        </p:spPr>
        <p:txBody>
          <a:bodyPr wrap="square" rtlCol="0">
            <a:spAutoFit/>
          </a:bodyPr>
          <a:lstStyle/>
          <a:p>
            <a:pPr algn="l"/>
            <a:r>
              <a:rPr lang="en-US" sz="2400">
                <a:solidFill>
                  <a:schemeClr val="accent4"/>
                </a:solidFill>
              </a:rPr>
              <a:t>TM</a:t>
            </a:r>
          </a:p>
        </p:txBody>
      </p:sp>
      <p:pic>
        <p:nvPicPr>
          <p:cNvPr id="9" name="Picture 8">
            <a:extLst>
              <a:ext uri="{FF2B5EF4-FFF2-40B4-BE49-F238E27FC236}">
                <a16:creationId xmlns:a16="http://schemas.microsoft.com/office/drawing/2014/main" id="{B18C2F85-53AD-4385-86D2-047DFF3E103B}"/>
              </a:ext>
            </a:extLst>
          </p:cNvPr>
          <p:cNvPicPr>
            <a:picLocks noChangeAspect="1"/>
          </p:cNvPicPr>
          <p:nvPr userDrawn="1"/>
        </p:nvPicPr>
        <p:blipFill>
          <a:blip r:embed="rId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194016414"/>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1_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097403756"/>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showMasterSp="0" preserve="1" userDrawn="1">
  <p:cSld name="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lvl1pPr>
              <a:defRPr>
                <a:solidFill>
                  <a:schemeClr val="tx1"/>
                </a:solidFill>
              </a:defRPr>
            </a:lvl1p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Graphic 2">
            <a:extLst>
              <a:ext uri="{FF2B5EF4-FFF2-40B4-BE49-F238E27FC236}">
                <a16:creationId xmlns:a16="http://schemas.microsoft.com/office/drawing/2014/main" id="{00D83E88-A286-BF1F-719B-20F1C44734C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cxnSp>
        <p:nvCxnSpPr>
          <p:cNvPr id="2" name="Straight Connector 1">
            <a:extLst>
              <a:ext uri="{FF2B5EF4-FFF2-40B4-BE49-F238E27FC236}">
                <a16:creationId xmlns:a16="http://schemas.microsoft.com/office/drawing/2014/main" id="{9720D620-A98D-8E56-CDB8-0DC6E5725E42}"/>
              </a:ext>
            </a:extLst>
          </p:cNvPr>
          <p:cNvCxnSpPr>
            <a:cxnSpLocks/>
          </p:cNvCxnSpPr>
          <p:nvPr userDrawn="1"/>
        </p:nvCxnSpPr>
        <p:spPr>
          <a:xfrm flipV="1">
            <a:off x="0" y="2151390"/>
            <a:ext cx="24384000" cy="147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319641"/>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Single column Simple - with subhea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3739563"/>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674407F1-A2F8-A84F-8E52-03F123F4BEF5}"/>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C88CD766-7446-9844-8381-BB1A5421A8C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
        <p:nvSpPr>
          <p:cNvPr id="3" name="Text Placeholder 2">
            <a:extLst>
              <a:ext uri="{FF2B5EF4-FFF2-40B4-BE49-F238E27FC236}">
                <a16:creationId xmlns:a16="http://schemas.microsoft.com/office/drawing/2014/main" id="{3D5AAC42-935B-0E18-6CAC-AB1A022B59F1}"/>
              </a:ext>
            </a:extLst>
          </p:cNvPr>
          <p:cNvSpPr>
            <a:spLocks noGrp="1"/>
          </p:cNvSpPr>
          <p:nvPr>
            <p:ph type="body" sz="quarter" idx="13" hasCustomPrompt="1"/>
          </p:nvPr>
        </p:nvSpPr>
        <p:spPr>
          <a:xfrm>
            <a:off x="341756" y="2781300"/>
            <a:ext cx="22936200" cy="584776"/>
          </a:xfrm>
        </p:spPr>
        <p:txBody>
          <a:bodyPr/>
          <a:lstStyle>
            <a:lvl1pPr marL="0" indent="0">
              <a:buNone/>
              <a:defRPr sz="3800" b="1"/>
            </a:lvl1pPr>
            <a:lvl2pPr marL="566736" indent="0">
              <a:buNone/>
              <a:defRPr/>
            </a:lvl2pPr>
          </a:lstStyle>
          <a:p>
            <a:r>
              <a:rPr lang="en-US"/>
              <a:t>Subtitle or callout if needed, all titles and subtitles are sentence case </a:t>
            </a:r>
          </a:p>
        </p:txBody>
      </p:sp>
    </p:spTree>
    <p:extLst>
      <p:ext uri="{BB962C8B-B14F-4D97-AF65-F5344CB8AC3E}">
        <p14:creationId xmlns:p14="http://schemas.microsoft.com/office/powerpoint/2010/main" val="698166794"/>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1" y="-4805"/>
            <a:ext cx="25334686" cy="2199366"/>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086"/>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784595506"/>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showMasterSp="0" preserve="1" userDrawn="1">
  <p:cSld name="2_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7462156" y="-4805"/>
            <a:ext cx="31846156" cy="2199366"/>
            <a:chOff x="-3731078" y="-2403"/>
            <a:chExt cx="15923078"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731078"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086"/>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164494257"/>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preserve="1" userDrawn="1">
  <p:cSld name="1_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2" y="-4805"/>
            <a:ext cx="21433536" cy="1394694"/>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086"/>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444557356"/>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preserve="1" userDrawn="1">
  <p:cSld name="Title Only_2 lin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F274A9-9392-1E6D-7D16-896285565278}"/>
              </a:ext>
            </a:extLst>
          </p:cNvPr>
          <p:cNvSpPr/>
          <p:nvPr userDrawn="1"/>
        </p:nvSpPr>
        <p:spPr>
          <a:xfrm>
            <a:off x="0" y="0"/>
            <a:ext cx="24384000" cy="308008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4" name="Picture 3">
            <a:extLst>
              <a:ext uri="{FF2B5EF4-FFF2-40B4-BE49-F238E27FC236}">
                <a16:creationId xmlns:a16="http://schemas.microsoft.com/office/drawing/2014/main" id="{4F67146D-3C58-F6B2-201A-B16919DBC4A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8203113" y="-16457"/>
            <a:ext cx="17160602" cy="3096542"/>
          </a:xfrm>
          <a:prstGeom prst="rect">
            <a:avLst/>
          </a:prstGeom>
        </p:spPr>
      </p:pic>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086"/>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793923412"/>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853701106"/>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1716024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10728346" cy="968086"/>
          </a:xfrm>
        </p:spPr>
        <p:txBody>
          <a:bodyPr wrap="square">
            <a:spAutoFit/>
          </a:bodyPr>
          <a:lstStyle/>
          <a:p>
            <a:r>
              <a:rPr lang="en-US"/>
              <a:t>Click to edit Master title style</a:t>
            </a:r>
          </a:p>
        </p:txBody>
      </p:sp>
      <p:sp>
        <p:nvSpPr>
          <p:cNvPr id="8" name="Footer Placeholder 4">
            <a:extLst>
              <a:ext uri="{FF2B5EF4-FFF2-40B4-BE49-F238E27FC236}">
                <a16:creationId xmlns:a16="http://schemas.microsoft.com/office/drawing/2014/main" id="{7D4F1EC5-6BB8-4049-A825-325656113ED2}"/>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E7854F2A-2BBB-9446-B185-6215C140A16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292731566"/>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08EE2D0-C5F7-40AF-BD24-47EFB4DD9E34}"/>
              </a:ext>
            </a:extLst>
          </p:cNvPr>
          <p:cNvSpPr>
            <a:spLocks noGrp="1"/>
          </p:cNvSpPr>
          <p:nvPr>
            <p:ph idx="1"/>
          </p:nvPr>
        </p:nvSpPr>
        <p:spPr>
          <a:xfrm>
            <a:off x="16059154" y="2777165"/>
            <a:ext cx="7600948" cy="3488134"/>
          </a:xfrm>
          <a:prstGeom prst="rect">
            <a:avLst/>
          </a:prstGeom>
        </p:spPr>
        <p:txBody>
          <a:bodyPr vert="horz"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731520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0" y="2777164"/>
            <a:ext cx="5468112" cy="2339102"/>
          </a:xfrm>
        </p:spPr>
        <p:txBody>
          <a:bodyPr vert="horz" lIns="0" tIns="0" rIns="0" bIns="0" rtlCol="0">
            <a:spAutoFit/>
          </a:bodyPr>
          <a:lstStyle>
            <a:lvl1pPr>
              <a:defRPr lang="en-US" sz="3800" dirty="0">
                <a:ln w="3175">
                  <a:noFill/>
                </a:ln>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spAutoFit/>
          </a:bodyPr>
          <a:lstStyle>
            <a:lvl1pPr>
              <a:defRPr/>
            </a:lvl1pPr>
          </a:lstStyle>
          <a:p>
            <a:r>
              <a:rPr lang="en-US"/>
              <a:t>Click to edit Master title style</a:t>
            </a:r>
          </a:p>
        </p:txBody>
      </p:sp>
      <p:sp>
        <p:nvSpPr>
          <p:cNvPr id="11" name="Footer Placeholder 4">
            <a:extLst>
              <a:ext uri="{FF2B5EF4-FFF2-40B4-BE49-F238E27FC236}">
                <a16:creationId xmlns:a16="http://schemas.microsoft.com/office/drawing/2014/main" id="{BD398495-5CA8-A54C-9A38-9431C227BC1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2" name="Slide Number Placeholder 5">
            <a:extLst>
              <a:ext uri="{FF2B5EF4-FFF2-40B4-BE49-F238E27FC236}">
                <a16:creationId xmlns:a16="http://schemas.microsoft.com/office/drawing/2014/main" id="{A111FE5C-B17D-C948-BFCC-6ED5E14CB16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0" name="Straight Connector 9">
            <a:extLst>
              <a:ext uri="{FF2B5EF4-FFF2-40B4-BE49-F238E27FC236}">
                <a16:creationId xmlns:a16="http://schemas.microsoft.com/office/drawing/2014/main" id="{A44C8227-D505-9341-8E5C-224832E8A51F}"/>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594616"/>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454140" y="7086755"/>
            <a:ext cx="17183100" cy="553998"/>
          </a:xfrm>
        </p:spPr>
        <p:txBody>
          <a:bodyPr>
            <a:spAutoFit/>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a:xfrm>
            <a:off x="668995" y="537179"/>
            <a:ext cx="5466338" cy="968086"/>
          </a:xfrm>
        </p:spPr>
        <p:txBody>
          <a:bodyPr>
            <a:spAutoFit/>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8" name="Footer Placeholder 4">
            <a:extLst>
              <a:ext uri="{FF2B5EF4-FFF2-40B4-BE49-F238E27FC236}">
                <a16:creationId xmlns:a16="http://schemas.microsoft.com/office/drawing/2014/main" id="{6814554E-586D-8349-951F-737144ECEFF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AED0D651-E967-D846-AE30-12C061B6AD3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1" name="Straight Connector 10">
            <a:extLst>
              <a:ext uri="{FF2B5EF4-FFF2-40B4-BE49-F238E27FC236}">
                <a16:creationId xmlns:a16="http://schemas.microsoft.com/office/drawing/2014/main" id="{675D0394-D778-4C4A-B92A-6E09A7B88B9A}"/>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585485"/>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a:xfrm>
            <a:off x="668995" y="537179"/>
            <a:ext cx="5466338" cy="968086"/>
          </a:xfrm>
        </p:spPr>
        <p:txBody>
          <a:bodyPr>
            <a:spAutoFit/>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8" name="Footer Placeholder 4">
            <a:extLst>
              <a:ext uri="{FF2B5EF4-FFF2-40B4-BE49-F238E27FC236}">
                <a16:creationId xmlns:a16="http://schemas.microsoft.com/office/drawing/2014/main" id="{D53B314B-9934-844F-8E14-6C502D2AE42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3CFD438D-CA4D-3A43-9B82-E14EC033B7C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730815182"/>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1754326"/>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2017604"/>
          </a:xfrm>
        </p:spPr>
        <p:txBody>
          <a:bodyPr>
            <a:spAutoFit/>
          </a:bodyPr>
          <a:lstStyle>
            <a:lvl1pPr>
              <a:defRPr>
                <a:solidFill>
                  <a:schemeClr val="tx1"/>
                </a:solidFill>
              </a:defRPr>
            </a:lvl1pPr>
          </a:lstStyle>
          <a:p>
            <a:r>
              <a:rPr lang="en-US"/>
              <a:t>Click to edit Master title style</a:t>
            </a:r>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userDrawn="1"/>
        </p:nvCxnSpPr>
        <p:spPr>
          <a:xfrm>
            <a:off x="8382000" y="0"/>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 Placeholder 2">
            <a:extLst>
              <a:ext uri="{FF2B5EF4-FFF2-40B4-BE49-F238E27FC236}">
                <a16:creationId xmlns:a16="http://schemas.microsoft.com/office/drawing/2014/main" id="{9F9C88D5-EA56-4ED2-8CB6-44F2BBA4023F}"/>
              </a:ext>
            </a:extLst>
          </p:cNvPr>
          <p:cNvSpPr>
            <a:spLocks noGrp="1"/>
          </p:cNvSpPr>
          <p:nvPr>
            <p:ph idx="1"/>
          </p:nvPr>
        </p:nvSpPr>
        <p:spPr>
          <a:xfrm>
            <a:off x="8382000" y="624971"/>
            <a:ext cx="15255604" cy="3488134"/>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BD6CB0B8-ED09-5144-8406-07EDCA221F9D}"/>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2AD6F17-DC4F-CE4D-A30F-37972705D1E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5F1A3402-461B-144B-A624-EADA6F4A5FE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669327586"/>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1201D0FE-A135-6A46-ABB9-BBF42B08B05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A428A25E-B962-BD41-AC5A-2B7F8C365999}"/>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0" name="Slide Number Placeholder 5">
            <a:extLst>
              <a:ext uri="{FF2B5EF4-FFF2-40B4-BE49-F238E27FC236}">
                <a16:creationId xmlns:a16="http://schemas.microsoft.com/office/drawing/2014/main" id="{5A8BC5D7-A295-2344-8AAD-7A638D124615}"/>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52116063"/>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2">
            <a:extLst>
              <a:ext uri="{FF2B5EF4-FFF2-40B4-BE49-F238E27FC236}">
                <a16:creationId xmlns:a16="http://schemas.microsoft.com/office/drawing/2014/main" id="{FD053F94-CE8F-4987-AA33-DA71ADDB4BC1}"/>
              </a:ext>
            </a:extLst>
          </p:cNvPr>
          <p:cNvSpPr>
            <a:spLocks noGrp="1"/>
          </p:cNvSpPr>
          <p:nvPr>
            <p:ph idx="1"/>
          </p:nvPr>
        </p:nvSpPr>
        <p:spPr>
          <a:xfrm>
            <a:off x="17945102" y="624970"/>
            <a:ext cx="5715000" cy="4042132"/>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2D21F748-F78B-AA44-87E0-992F504FBC08}"/>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69668EDE-1295-9546-ABA0-27E4B7F5041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361D0353-9518-CE4F-AEC9-0A3AD47D4590}"/>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851913183"/>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3488134"/>
          </a:xfrm>
        </p:spPr>
        <p:txBody>
          <a:bodyPr lIns="0">
            <a:spAutoFit/>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Graphic 8">
            <a:extLst>
              <a:ext uri="{FF2B5EF4-FFF2-40B4-BE49-F238E27FC236}">
                <a16:creationId xmlns:a16="http://schemas.microsoft.com/office/drawing/2014/main" id="{59F508EA-9B74-CF42-99A9-ABCDB2E9903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35545590-189E-BE41-BDD7-DCC3999A6E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1D0045EB-86A1-6D46-873D-E4EC1E9D359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081560070"/>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3488134"/>
          </a:xfr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169550"/>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9C7DEFAB-97E6-284D-BD67-FB08386B5E6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2DA1221E-A67C-744E-9C4B-331BEF727F33}"/>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46CF78B-534F-E345-BE6A-BED63A26C73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173197743"/>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3" y="4800600"/>
            <a:ext cx="5714998" cy="4114800"/>
          </a:xfrm>
          <a:prstGeom prst="rect">
            <a:avLst/>
          </a:prstGeom>
          <a:solidFill>
            <a:schemeClr val="bg1"/>
          </a:solidFill>
        </p:spPr>
        <p:txBody>
          <a:bodyPr vert="horz" lIns="182880" tIns="137160" rIns="18288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1"/>
                </a:solidFill>
              </a:defRPr>
            </a:lvl1pPr>
          </a:lstStyle>
          <a:p>
            <a:pPr marL="0" lvl="0" indent="0">
              <a:spcAft>
                <a:spcPts val="3000"/>
              </a:spcAft>
              <a:buFont typeface="Arial" panose="020B0604020202020204" pitchFamily="34" charset="0"/>
            </a:pPr>
            <a:r>
              <a:rPr lang="en-US"/>
              <a:t>Click to edit Master title style</a:t>
            </a:r>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0" name="Graphic 9">
            <a:extLst>
              <a:ext uri="{FF2B5EF4-FFF2-40B4-BE49-F238E27FC236}">
                <a16:creationId xmlns:a16="http://schemas.microsoft.com/office/drawing/2014/main" id="{D97CAA73-BE46-614E-9C41-8AF7FB50184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A4D9BADF-324E-5B4F-A422-61F7145DA2D8}"/>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700835EC-3A47-8644-806F-A3840BA3472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547016744"/>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showMasterSp="0" preserve="1" userDrawn="1">
  <p:cSld name="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4" name="Picture 3">
            <a:extLst>
              <a:ext uri="{FF2B5EF4-FFF2-40B4-BE49-F238E27FC236}">
                <a16:creationId xmlns:a16="http://schemas.microsoft.com/office/drawing/2014/main" id="{DC3D7A00-2891-24B2-ED6C-5B28CC4847A3}"/>
              </a:ext>
            </a:extLst>
          </p:cNvPr>
          <p:cNvPicPr>
            <a:picLocks noChangeAspect="1"/>
          </p:cNvPicPr>
          <p:nvPr userDrawn="1"/>
        </p:nvPicPr>
        <p:blipFill>
          <a:blip r:embed="rId2"/>
          <a:stretch>
            <a:fillRect/>
          </a:stretch>
        </p:blipFill>
        <p:spPr>
          <a:xfrm>
            <a:off x="0" y="4419600"/>
            <a:ext cx="6477000" cy="9296400"/>
          </a:xfrm>
          <a:prstGeom prst="rect">
            <a:avLst/>
          </a:prstGeom>
        </p:spPr>
      </p:pic>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518027071"/>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preserve="1" userDrawn="1">
  <p:cSld name="1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4" name="Picture 3">
            <a:extLst>
              <a:ext uri="{FF2B5EF4-FFF2-40B4-BE49-F238E27FC236}">
                <a16:creationId xmlns:a16="http://schemas.microsoft.com/office/drawing/2014/main" id="{80CA3236-00EC-F44A-FE12-1CA61956F0E7}"/>
              </a:ext>
            </a:extLst>
          </p:cNvPr>
          <p:cNvPicPr>
            <a:picLocks noChangeAspect="1"/>
          </p:cNvPicPr>
          <p:nvPr userDrawn="1"/>
        </p:nvPicPr>
        <p:blipFill>
          <a:blip r:embed="rId4"/>
          <a:stretch>
            <a:fillRect/>
          </a:stretch>
        </p:blipFill>
        <p:spPr>
          <a:xfrm>
            <a:off x="0" y="9491472"/>
            <a:ext cx="6452388" cy="4224528"/>
          </a:xfrm>
          <a:prstGeom prst="rect">
            <a:avLst/>
          </a:prstGeom>
        </p:spPr>
      </p:pic>
    </p:spTree>
    <p:extLst>
      <p:ext uri="{BB962C8B-B14F-4D97-AF65-F5344CB8AC3E}">
        <p14:creationId xmlns:p14="http://schemas.microsoft.com/office/powerpoint/2010/main" val="2787700942"/>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showMasterSp="0" preserve="1" userDrawn="1">
  <p:cSld name="2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flipH="1">
            <a:off x="6477000" y="0"/>
            <a:ext cx="1790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6" name="Picture 5">
            <a:extLst>
              <a:ext uri="{FF2B5EF4-FFF2-40B4-BE49-F238E27FC236}">
                <a16:creationId xmlns:a16="http://schemas.microsoft.com/office/drawing/2014/main" id="{33331F37-F452-DCB3-4411-C1A01ACA6086}"/>
              </a:ext>
            </a:extLst>
          </p:cNvPr>
          <p:cNvPicPr>
            <a:picLocks noChangeAspect="1"/>
          </p:cNvPicPr>
          <p:nvPr userDrawn="1"/>
        </p:nvPicPr>
        <p:blipFill>
          <a:blip r:embed="rId2"/>
          <a:stretch>
            <a:fillRect/>
          </a:stretch>
        </p:blipFill>
        <p:spPr>
          <a:xfrm>
            <a:off x="6477000" y="3505200"/>
            <a:ext cx="15595600" cy="1021080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tx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195084789"/>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showMasterSp="0" preserve="1" userDrawn="1">
  <p:cSld name="Three Quarters Image Slide">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275A4A0-E19C-C4F8-98F8-140F87325D35}"/>
              </a:ext>
            </a:extLst>
          </p:cNvPr>
          <p:cNvPicPr>
            <a:picLocks noChangeAspect="1"/>
          </p:cNvPicPr>
          <p:nvPr userDrawn="1"/>
        </p:nvPicPr>
        <p:blipFill>
          <a:blip r:embed="rId2"/>
          <a:stretch>
            <a:fillRect/>
          </a:stretch>
        </p:blipFill>
        <p:spPr>
          <a:xfrm>
            <a:off x="1828801" y="1561559"/>
            <a:ext cx="4661586" cy="12154442"/>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6" y="3687499"/>
            <a:ext cx="3621768" cy="2923878"/>
          </a:xfrm>
        </p:spPr>
        <p:txBody>
          <a:bodyPr wrap="square"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35F2CBC9-A0AF-2443-B4F3-88F00DA34117}"/>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EA2D8B16-7E02-9445-B5E1-B56444A338A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58296D2F-477C-6447-A70C-6F56CD3959A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542028793"/>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showMasterSp="0" preserve="1" userDrawn="1">
  <p:cSld name="1/2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04"/>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584776"/>
          </a:xfrm>
          <a:ln>
            <a:noFill/>
          </a:ln>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1" y="7127210"/>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4"/>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6"/>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4114927504"/>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showMasterSp="0" preserve="1" userDrawn="1">
  <p:cSld name="1/2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04"/>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2691079024"/>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showMasterSp="0" preserve="1" userDrawn="1">
  <p:cSld name="1/4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04"/>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2"/>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9" name="Picture 8">
            <a:extLst>
              <a:ext uri="{FF2B5EF4-FFF2-40B4-BE49-F238E27FC236}">
                <a16:creationId xmlns:a16="http://schemas.microsoft.com/office/drawing/2014/main" id="{18F9BD06-D191-BDCC-0EAC-42370967C2BC}"/>
              </a:ext>
            </a:extLst>
          </p:cNvPr>
          <p:cNvPicPr>
            <a:picLocks noChangeAspect="1"/>
          </p:cNvPicPr>
          <p:nvPr userDrawn="1"/>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3101520019"/>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showMasterSp="0" preserve="1" userDrawn="1">
  <p:cSld name="1/4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04"/>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Picture 2">
            <a:extLst>
              <a:ext uri="{FF2B5EF4-FFF2-40B4-BE49-F238E27FC236}">
                <a16:creationId xmlns:a16="http://schemas.microsoft.com/office/drawing/2014/main" id="{C7C982CA-A7CF-7C04-1CB1-C8824A257D5C}"/>
              </a:ext>
            </a:extLst>
          </p:cNvPr>
          <p:cNvPicPr>
            <a:picLocks noChangeAspect="1"/>
          </p:cNvPicPr>
          <p:nvPr userDrawn="1"/>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3216712293"/>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showMasterSp="0" preserve="1" userDrawn="1">
  <p:cSld name="Half Image Slide">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AE153A-C27C-ED1B-A797-B1AF88EB49A5}"/>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1169551"/>
          </a:xfrm>
        </p:spPr>
        <p:txBody>
          <a:bodyPr vert="horz" lIns="0" tIns="0" rIns="0" bIns="0" rtlCol="0">
            <a:spAutoFit/>
          </a:bodyPr>
          <a:lstStyle>
            <a:lvl1pPr marL="22226" indent="-22226" algn="l">
              <a:buFontTx/>
              <a:buNone/>
              <a:tabLst/>
              <a:defRPr lang="en-US" sz="3800" dirty="0">
                <a:ln w="3175">
                  <a:noFill/>
                </a:ln>
                <a:solidFill>
                  <a:schemeClr val="bg1"/>
                </a:solidFill>
              </a:defRPr>
            </a:lvl1pPr>
          </a:lstStyle>
          <a:p>
            <a:pPr marL="285750" lvl="0" indent="-285750" fontAlgn="base"/>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158268933"/>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showMasterSp="0" preserve="1" userDrawn="1">
  <p:cSld name="Half Image Slide - CLEAN">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6E9DF5-DA4D-AF41-F284-D6545E66BD73}"/>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2767621"/>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showMasterSp="0" preserve="1" userDrawn="1">
  <p:cSld name="Half Imag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21FBB69-2B1F-1005-8EB3-A8CA021F7215}"/>
              </a:ext>
            </a:extLst>
          </p:cNvPr>
          <p:cNvPicPr>
            <a:picLocks noChangeAspect="1"/>
          </p:cNvPicPr>
          <p:nvPr userDrawn="1"/>
        </p:nvPicPr>
        <p:blipFill>
          <a:blip r:embed="rId2"/>
          <a:stretch>
            <a:fillRect/>
          </a:stretch>
        </p:blipFill>
        <p:spPr>
          <a:xfrm>
            <a:off x="2024380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pic>
        <p:nvPicPr>
          <p:cNvPr id="11" name="Graphic 10">
            <a:extLst>
              <a:ext uri="{FF2B5EF4-FFF2-40B4-BE49-F238E27FC236}">
                <a16:creationId xmlns:a16="http://schemas.microsoft.com/office/drawing/2014/main" id="{560D37C1-D211-7745-B68E-02001098F85F}"/>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1169551"/>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Footer Placeholder 4">
            <a:extLst>
              <a:ext uri="{FF2B5EF4-FFF2-40B4-BE49-F238E27FC236}">
                <a16:creationId xmlns:a16="http://schemas.microsoft.com/office/drawing/2014/main" id="{030F3032-5515-C84F-A5D0-90898242F86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FEAC8327-2A21-3A42-BA7B-F64F4DEAA72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3645595"/>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showMasterSp="0" preserve="1" userDrawn="1">
  <p:cSld name="Half Imag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7E79AC3-2DC9-96CB-4501-666928E88325}"/>
              </a:ext>
            </a:extLst>
          </p:cNvPr>
          <p:cNvPicPr>
            <a:picLocks noChangeAspect="1"/>
          </p:cNvPicPr>
          <p:nvPr userDrawn="1"/>
        </p:nvPicPr>
        <p:blipFill>
          <a:blip r:embed="rId2"/>
          <a:stretch>
            <a:fillRect/>
          </a:stretch>
        </p:blipFill>
        <p:spPr>
          <a:xfrm>
            <a:off x="1219200" y="0"/>
            <a:ext cx="23164800" cy="13716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339102"/>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4042132"/>
          </a:xfrm>
        </p:spPr>
        <p:txBody>
          <a:bodyPr vert="horz" lIns="0" tIns="0" rIns="0" bIns="0" rtlCol="0">
            <a:spAutoFit/>
          </a:bodyPr>
          <a:lstStyle>
            <a:lvl1pPr marL="285750" marR="0" indent="-28575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38317098-BF10-BA42-A3E5-65C0634430A9}"/>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B4D4954A-7D78-384F-A44A-7BC1E849140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49BE3EAB-DEA7-184A-90BB-B4E1E574417C}"/>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067192974"/>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userDrawn="1">
  <p:cSld name="1_Breaker">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B8DA39-5EB3-C1BA-D804-706D71953C1A}"/>
              </a:ext>
            </a:extLst>
          </p:cNvPr>
          <p:cNvPicPr>
            <a:picLocks noChangeAspect="1"/>
          </p:cNvPicPr>
          <p:nvPr userDrawn="1"/>
        </p:nvPicPr>
        <p:blipFill>
          <a:blip r:embed="rId2"/>
          <a:stretch>
            <a:fillRect/>
          </a:stretch>
        </p:blipFill>
        <p:spPr>
          <a:xfrm flipH="1">
            <a:off x="0" y="0"/>
            <a:ext cx="14909800" cy="12547600"/>
          </a:xfrm>
          <a:prstGeom prst="rect">
            <a:avLst/>
          </a:prstGeom>
        </p:spPr>
      </p:pic>
      <p:pic>
        <p:nvPicPr>
          <p:cNvPr id="35" name="Graphic 34">
            <a:extLst>
              <a:ext uri="{FF2B5EF4-FFF2-40B4-BE49-F238E27FC236}">
                <a16:creationId xmlns:a16="http://schemas.microsoft.com/office/drawing/2014/main" id="{B740DB18-FB40-8A40-9C99-C82E37F311C5}"/>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14183359" y="2227766"/>
            <a:ext cx="10200642" cy="4485136"/>
          </a:xfrm>
          <a:prstGeom prst="rect">
            <a:avLst/>
          </a:prstGeom>
          <a:noFill/>
          <a:ln>
            <a:noFill/>
          </a:ln>
        </p:spPr>
        <p:txBody>
          <a:bodyPr vert="horz" lIns="0" tIns="0" rIns="0" bIns="0" rtlCol="0" anchor="b">
            <a:noAutofit/>
          </a:bodyPr>
          <a:lstStyle>
            <a:lvl1pPr marL="0" indent="0" fontAlgn="base">
              <a:lnSpc>
                <a:spcPct val="100000"/>
              </a:lnSpc>
              <a:spcBef>
                <a:spcPts val="0"/>
              </a:spcBef>
              <a:buNone/>
              <a:defRPr lang="en-US" sz="76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14218285" y="6858001"/>
            <a:ext cx="10168718" cy="615554"/>
          </a:xfrm>
          <a:prstGeom prst="rect">
            <a:avLst/>
          </a:prstGeom>
        </p:spPr>
        <p:txBody>
          <a:bodyPr vert="horz" wrap="square" lIns="0" tIns="0" rIns="0" bIns="0" rtlCol="0" anchor="t">
            <a:spAutoFit/>
          </a:bodyPr>
          <a:lstStyle>
            <a:lvl1pPr marL="0" indent="0">
              <a:buNone/>
              <a:defRPr lang="en-US" sz="4000" dirty="0">
                <a:ln>
                  <a:noFill/>
                </a:ln>
                <a:solidFill>
                  <a:schemeClr val="bg1"/>
                </a:solidFill>
              </a:defRPr>
            </a:lvl1pPr>
          </a:lstStyle>
          <a:p>
            <a:pPr lvl="0"/>
            <a:r>
              <a:rPr lang="en-US"/>
              <a:t>All titles/subtitles are sentence case</a:t>
            </a:r>
          </a:p>
        </p:txBody>
      </p:sp>
      <p:sp>
        <p:nvSpPr>
          <p:cNvPr id="3" name="Graphic 2">
            <a:extLst>
              <a:ext uri="{FF2B5EF4-FFF2-40B4-BE49-F238E27FC236}">
                <a16:creationId xmlns:a16="http://schemas.microsoft.com/office/drawing/2014/main" id="{7EF60E61-AA73-8D8E-6D66-BA84E61610FC}"/>
              </a:ext>
            </a:extLst>
          </p:cNvPr>
          <p:cNvSpPr/>
          <p:nvPr userDrawn="1"/>
        </p:nvSpPr>
        <p:spPr>
          <a:xfrm>
            <a:off x="20433838"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bg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07790069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showMasterSp="0" userDrawn="1">
  <p:cSld name="Thank you UK">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FFCA8B3-607E-EB86-6B92-3EC70005FC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95315" y="0"/>
            <a:ext cx="17349786" cy="13716000"/>
          </a:xfrm>
          <a:prstGeom prst="rect">
            <a:avLst/>
          </a:prstGeom>
        </p:spPr>
      </p:pic>
      <p:sp>
        <p:nvSpPr>
          <p:cNvPr id="2" name="Rectangle 1">
            <a:extLst>
              <a:ext uri="{FF2B5EF4-FFF2-40B4-BE49-F238E27FC236}">
                <a16:creationId xmlns:a16="http://schemas.microsoft.com/office/drawing/2014/main" id="{F73CEE62-06FB-4246-978E-3904D1D86A70}"/>
              </a:ext>
            </a:extLst>
          </p:cNvPr>
          <p:cNvSpPr/>
          <p:nvPr userDrawn="1"/>
        </p:nvSpPr>
        <p:spPr bwMode="white">
          <a:xfrm>
            <a:off x="17945100" y="0"/>
            <a:ext cx="64389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ectangle 15">
            <a:extLst>
              <a:ext uri="{FF2B5EF4-FFF2-40B4-BE49-F238E27FC236}">
                <a16:creationId xmlns:a16="http://schemas.microsoft.com/office/drawing/2014/main" id="{5B635464-C3B1-44DD-82FD-C4B56469A642}"/>
              </a:ext>
            </a:extLst>
          </p:cNvPr>
          <p:cNvSpPr/>
          <p:nvPr userDrawn="1"/>
        </p:nvSpPr>
        <p:spPr>
          <a:xfrm>
            <a:off x="18452592" y="621792"/>
            <a:ext cx="5193792" cy="91684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rtlCol="0" anchor="t" anchorCtr="0"/>
          <a:lstStyle/>
          <a:p>
            <a:pPr marL="0" algn="l" defTabSz="457200" rtl="0" eaLnBrk="1" latinLnBrk="0" hangingPunct="1">
              <a:lnSpc>
                <a:spcPct val="110000"/>
              </a:lnSpc>
              <a:spcBef>
                <a:spcPts val="600"/>
              </a:spcBef>
              <a:spcAft>
                <a:spcPts val="600"/>
              </a:spcAft>
            </a:pPr>
            <a:r>
              <a:rPr lang="en-US" sz="3000" b="1" kern="1200">
                <a:solidFill>
                  <a:schemeClr val="tx1"/>
                </a:solidFill>
                <a:latin typeface="+mn-lt"/>
                <a:ea typeface="+mn-ea"/>
                <a:cs typeface="+mn-cs"/>
              </a:rPr>
              <a:t>Rackspace Technology</a:t>
            </a:r>
          </a:p>
          <a:p>
            <a:pPr marL="0" algn="l" defTabSz="457200" rtl="0" eaLnBrk="1" latinLnBrk="0" hangingPunct="1">
              <a:lnSpc>
                <a:spcPct val="110000"/>
              </a:lnSpc>
              <a:spcBef>
                <a:spcPts val="600"/>
              </a:spcBef>
              <a:spcAft>
                <a:spcPts val="600"/>
              </a:spcAft>
            </a:pPr>
            <a:r>
              <a:rPr lang="en-US" sz="3000" kern="1200">
                <a:solidFill>
                  <a:schemeClr val="tx1"/>
                </a:solidFill>
                <a:latin typeface="+mn-lt"/>
                <a:ea typeface="+mn-ea"/>
                <a:cs typeface="+mn-cs"/>
              </a:rPr>
              <a:t>Unit 2, 6 Millington Road</a:t>
            </a:r>
            <a:br>
              <a:rPr lang="en-US" sz="3000" kern="1200">
                <a:solidFill>
                  <a:schemeClr val="tx1"/>
                </a:solidFill>
                <a:latin typeface="+mn-lt"/>
                <a:ea typeface="+mn-ea"/>
                <a:cs typeface="+mn-cs"/>
              </a:rPr>
            </a:br>
            <a:r>
              <a:rPr lang="en-US" sz="3000" kern="1200">
                <a:solidFill>
                  <a:schemeClr val="tx1"/>
                </a:solidFill>
                <a:latin typeface="+mn-lt"/>
                <a:ea typeface="+mn-ea"/>
                <a:cs typeface="+mn-cs"/>
              </a:rPr>
              <a:t>Hayes, Middlesex </a:t>
            </a:r>
            <a:br>
              <a:rPr lang="en-US" sz="3000" kern="1200">
                <a:solidFill>
                  <a:schemeClr val="tx1"/>
                </a:solidFill>
                <a:latin typeface="+mn-lt"/>
                <a:ea typeface="+mn-ea"/>
                <a:cs typeface="+mn-cs"/>
              </a:rPr>
            </a:br>
            <a:r>
              <a:rPr lang="en-US" sz="3000" kern="1200">
                <a:solidFill>
                  <a:schemeClr val="tx1"/>
                </a:solidFill>
                <a:latin typeface="+mn-lt"/>
                <a:ea typeface="+mn-ea"/>
                <a:cs typeface="+mn-cs"/>
              </a:rPr>
              <a:t>UB3 4AZ</a:t>
            </a:r>
          </a:p>
          <a:p>
            <a:pPr>
              <a:lnSpc>
                <a:spcPct val="110000"/>
              </a:lnSpc>
              <a:spcBef>
                <a:spcPts val="600"/>
              </a:spcBef>
              <a:spcAft>
                <a:spcPts val="600"/>
              </a:spcAft>
            </a:pPr>
            <a:r>
              <a:rPr lang="en-US" sz="3000">
                <a:solidFill>
                  <a:schemeClr val="tx1"/>
                </a:solidFill>
              </a:rPr>
              <a:t>U.K. sales: 0800 988 0100  </a:t>
            </a:r>
            <a:br>
              <a:rPr lang="en-US" sz="3000">
                <a:solidFill>
                  <a:schemeClr val="tx1"/>
                </a:solidFill>
              </a:rPr>
            </a:br>
            <a:r>
              <a:rPr lang="en-US" sz="3000">
                <a:solidFill>
                  <a:schemeClr val="tx1"/>
                </a:solidFill>
              </a:rPr>
              <a:t>U.K. support: 0800 988 0300   </a:t>
            </a:r>
          </a:p>
          <a:p>
            <a:pPr marL="0" algn="l" defTabSz="457200" rtl="0" eaLnBrk="1" latinLnBrk="0" hangingPunct="1">
              <a:lnSpc>
                <a:spcPct val="110000"/>
              </a:lnSpc>
              <a:spcBef>
                <a:spcPts val="600"/>
              </a:spcBef>
              <a:spcAft>
                <a:spcPts val="3600"/>
              </a:spcAft>
            </a:pPr>
            <a:r>
              <a:rPr lang="en-US" sz="3000" b="1" kern="1200" cap="none">
                <a:solidFill>
                  <a:schemeClr val="tx1"/>
                </a:solidFill>
                <a:latin typeface="+mn-lt"/>
                <a:ea typeface="+mn-ea"/>
                <a:cs typeface="+mn-cs"/>
              </a:rPr>
              <a:t>www.rackspace.co.uk</a:t>
            </a:r>
          </a:p>
          <a:p>
            <a:pPr marL="0" marR="0" lvl="0" indent="0" algn="l" defTabSz="457200" rtl="0" eaLnBrk="1" fontAlgn="auto" latinLnBrk="0" hangingPunct="1">
              <a:lnSpc>
                <a:spcPct val="110000"/>
              </a:lnSpc>
              <a:spcBef>
                <a:spcPts val="600"/>
              </a:spcBef>
              <a:spcAft>
                <a:spcPts val="600"/>
              </a:spcAft>
              <a:buClrTx/>
              <a:buSzTx/>
              <a:buFontTx/>
              <a:buNone/>
              <a:tabLst/>
              <a:defRPr sz="1400" b="1">
                <a:solidFill>
                  <a:srgbClr val="2E3238"/>
                </a:solidFill>
              </a:defRPr>
            </a:pPr>
            <a:r>
              <a:rPr kumimoji="0" lang="en-US" sz="1200" b="0" i="0" u="none" strike="noStrike" kern="1200" cap="none" spc="0" normalizeH="0" baseline="0" noProof="0">
                <a:ln>
                  <a:noFill/>
                </a:ln>
                <a:solidFill>
                  <a:schemeClr val="tx1"/>
                </a:solidFill>
                <a:effectLst/>
                <a:uLnTx/>
                <a:uFillTx/>
                <a:latin typeface="+mn-lt"/>
                <a:ea typeface="+mn-ea"/>
                <a:cs typeface="+mn-cs"/>
              </a:rPr>
              <a:t>Copyright © 2021 Rackspace | Rackspace</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Fanatical Support</a:t>
            </a:r>
            <a:r>
              <a:rPr kumimoji="0" lang="en-US" sz="1200" b="0" i="0" u="none" strike="noStrike" kern="1200" cap="none" spc="0" normalizeH="0" baseline="30000" noProof="0">
                <a:ln>
                  <a:noFill/>
                </a:ln>
                <a:solidFill>
                  <a:schemeClr val="tx1"/>
                </a:solidFill>
                <a:effectLst/>
                <a:uLnTx/>
                <a:uFillTx/>
                <a:latin typeface="+mn-lt"/>
                <a:ea typeface="+mn-ea"/>
                <a:cs typeface="+mn-cs"/>
              </a:rPr>
              <a:t>®</a:t>
            </a:r>
            <a:r>
              <a:rPr kumimoji="0" lang="en-US" sz="1200" b="0" i="0" u="none" strike="noStrike" kern="1200" cap="none" spc="0" normalizeH="0" baseline="0" noProof="0">
                <a:ln>
                  <a:noFill/>
                </a:ln>
                <a:solidFill>
                  <a:schemeClr val="tx1"/>
                </a:solidFill>
                <a:effectLst/>
                <a:uLnTx/>
                <a:uFillTx/>
                <a:latin typeface="+mn-lt"/>
                <a:ea typeface="+mn-ea"/>
                <a:cs typeface="+mn-cs"/>
              </a:rPr>
              <a:t> and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other Rackspace marks are either registered service marks or service marks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of Rackspace US, Inc. in the United States and other countries. Features, </a:t>
            </a:r>
            <a:br>
              <a:rPr kumimoji="0" lang="en-US" sz="1200" b="0" i="0" u="none" strike="noStrike" kern="1200" cap="none" spc="0" normalizeH="0" baseline="0" noProof="0">
                <a:ln>
                  <a:noFill/>
                </a:ln>
                <a:solidFill>
                  <a:schemeClr val="tx1"/>
                </a:solidFill>
                <a:effectLst/>
                <a:uLnTx/>
                <a:uFillTx/>
                <a:latin typeface="+mn-lt"/>
                <a:ea typeface="+mn-ea"/>
                <a:cs typeface="+mn-cs"/>
              </a:rPr>
            </a:br>
            <a:r>
              <a:rPr kumimoji="0" lang="en-US" sz="1200" b="0" i="0" u="none" strike="noStrike" kern="1200" cap="none" spc="0" normalizeH="0" baseline="0" noProof="0">
                <a:ln>
                  <a:noFill/>
                </a:ln>
                <a:solidFill>
                  <a:schemeClr val="tx1"/>
                </a:solidFill>
                <a:effectLst/>
                <a:uLnTx/>
                <a:uFillTx/>
                <a:latin typeface="+mn-lt"/>
                <a:ea typeface="+mn-ea"/>
                <a:cs typeface="+mn-cs"/>
              </a:rPr>
              <a:t>benefits and pricing presented depend on system configuration and are subject to change without notice. Rackspace disclaims any representation, warranty or other legal commitment regarding its services except for those expressly stated in a Rackspace services agreement. All other trademarks, service marks, images, products and brands remain the sole property of their respective holders and do not imply endorsement or sponsorship.</a:t>
            </a:r>
            <a:endParaRPr lang="en-US" sz="1400" cap="none" baseline="0">
              <a:solidFill>
                <a:schemeClr val="tx1"/>
              </a:solidFill>
            </a:endParaRPr>
          </a:p>
          <a:p>
            <a:pPr>
              <a:spcBef>
                <a:spcPts val="600"/>
              </a:spcBef>
              <a:spcAft>
                <a:spcPts val="600"/>
              </a:spcAft>
            </a:pPr>
            <a:endParaRPr lang="en-US" sz="900">
              <a:solidFill>
                <a:schemeClr val="tx1"/>
              </a:solidFill>
            </a:endParaRPr>
          </a:p>
        </p:txBody>
      </p:sp>
      <p:pic>
        <p:nvPicPr>
          <p:cNvPr id="6" name="Graphic 5">
            <a:extLst>
              <a:ext uri="{FF2B5EF4-FFF2-40B4-BE49-F238E27FC236}">
                <a16:creationId xmlns:a16="http://schemas.microsoft.com/office/drawing/2014/main" id="{7C797846-2FE7-1F4B-A5B0-CC5DA49A249B}"/>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655806" y="11674419"/>
            <a:ext cx="4882896" cy="1513698"/>
          </a:xfrm>
          <a:prstGeom prst="rect">
            <a:avLst/>
          </a:prstGeom>
        </p:spPr>
      </p:pic>
      <p:sp>
        <p:nvSpPr>
          <p:cNvPr id="8" name="Title 1">
            <a:extLst>
              <a:ext uri="{FF2B5EF4-FFF2-40B4-BE49-F238E27FC236}">
                <a16:creationId xmlns:a16="http://schemas.microsoft.com/office/drawing/2014/main" id="{A5CD6002-EFB6-8A46-9A72-06D0A61799C8}"/>
              </a:ext>
            </a:extLst>
          </p:cNvPr>
          <p:cNvSpPr txBox="1">
            <a:spLocks/>
          </p:cNvSpPr>
          <p:nvPr userDrawn="1"/>
        </p:nvSpPr>
        <p:spPr>
          <a:xfrm>
            <a:off x="595314" y="281278"/>
            <a:ext cx="11387136" cy="2062103"/>
          </a:xfrm>
          <a:prstGeom prst="rect">
            <a:avLst/>
          </a:prstGeom>
          <a:ln w="12700">
            <a:noFill/>
          </a:ln>
        </p:spPr>
        <p:txBody>
          <a:bodyPr vert="horz" lIns="0" tIns="0" rIns="0" bIns="0" rtlCol="0" anchor="t" anchorCtr="0">
            <a:spAutoFit/>
          </a:bodyPr>
          <a:lstStyle>
            <a:lvl1pPr algn="l" defTabSz="1828800" rtl="0" eaLnBrk="1" latinLnBrk="0" hangingPunct="1">
              <a:lnSpc>
                <a:spcPct val="100000"/>
              </a:lnSpc>
              <a:spcBef>
                <a:spcPct val="0"/>
              </a:spcBef>
              <a:buNone/>
              <a:defRPr sz="8800" kern="1200">
                <a:ln w="9525">
                  <a:solidFill>
                    <a:schemeClr val="tx2"/>
                  </a:solidFill>
                </a:ln>
                <a:solidFill>
                  <a:schemeClr val="bg1"/>
                </a:solidFill>
                <a:latin typeface="+mj-lt"/>
                <a:ea typeface="+mj-ea"/>
                <a:cs typeface="+mj-cs"/>
              </a:defRPr>
            </a:lvl1pPr>
          </a:lstStyle>
          <a:p>
            <a:pPr marL="0" algn="l" defTabSz="1828800" rtl="0" eaLnBrk="1" latinLnBrk="0" hangingPunct="1">
              <a:lnSpc>
                <a:spcPct val="100000"/>
              </a:lnSpc>
              <a:spcBef>
                <a:spcPct val="0"/>
              </a:spcBef>
              <a:buNone/>
            </a:pPr>
            <a:r>
              <a:rPr lang="en-US" sz="13400" kern="1200">
                <a:ln w="9525">
                  <a:noFill/>
                </a:ln>
                <a:solidFill>
                  <a:schemeClr val="bg1"/>
                </a:solidFill>
                <a:latin typeface="+mj-lt"/>
                <a:ea typeface="+mj-ea"/>
                <a:cs typeface="+mj-cs"/>
              </a:rPr>
              <a:t>Thank you</a:t>
            </a:r>
          </a:p>
        </p:txBody>
      </p:sp>
      <p:sp>
        <p:nvSpPr>
          <p:cNvPr id="5" name="Graphic 2">
            <a:extLst>
              <a:ext uri="{FF2B5EF4-FFF2-40B4-BE49-F238E27FC236}">
                <a16:creationId xmlns:a16="http://schemas.microsoft.com/office/drawing/2014/main" id="{9EFADF9F-D78A-35D2-A20F-2DD7BA53DB69}"/>
              </a:ext>
            </a:extLst>
          </p:cNvPr>
          <p:cNvSpPr/>
          <p:nvPr userDrawn="1"/>
        </p:nvSpPr>
        <p:spPr>
          <a:xfrm>
            <a:off x="18453104" y="12239080"/>
            <a:ext cx="3294352" cy="923328"/>
          </a:xfrm>
          <a:custGeom>
            <a:avLst/>
            <a:gdLst>
              <a:gd name="connsiteX0" fmla="*/ 473928 w 1092116"/>
              <a:gd name="connsiteY0" fmla="*/ 192753 h 306094"/>
              <a:gd name="connsiteX1" fmla="*/ 532513 w 1092116"/>
              <a:gd name="connsiteY1" fmla="*/ 192753 h 306094"/>
              <a:gd name="connsiteX2" fmla="*/ 530746 w 1092116"/>
              <a:gd name="connsiteY2" fmla="*/ 204961 h 306094"/>
              <a:gd name="connsiteX3" fmla="*/ 489141 w 1092116"/>
              <a:gd name="connsiteY3" fmla="*/ 204961 h 306094"/>
              <a:gd name="connsiteX4" fmla="*/ 489141 w 1092116"/>
              <a:gd name="connsiteY4" fmla="*/ 242686 h 306094"/>
              <a:gd name="connsiteX5" fmla="*/ 525148 w 1092116"/>
              <a:gd name="connsiteY5" fmla="*/ 242686 h 306094"/>
              <a:gd name="connsiteX6" fmla="*/ 525148 w 1092116"/>
              <a:gd name="connsiteY6" fmla="*/ 254726 h 306094"/>
              <a:gd name="connsiteX7" fmla="*/ 489141 w 1092116"/>
              <a:gd name="connsiteY7" fmla="*/ 254726 h 306094"/>
              <a:gd name="connsiteX8" fmla="*/ 489141 w 1092116"/>
              <a:gd name="connsiteY8" fmla="*/ 303363 h 306094"/>
              <a:gd name="connsiteX9" fmla="*/ 473928 w 1092116"/>
              <a:gd name="connsiteY9" fmla="*/ 303363 h 306094"/>
              <a:gd name="connsiteX10" fmla="*/ 473928 w 1092116"/>
              <a:gd name="connsiteY10" fmla="*/ 192753 h 306094"/>
              <a:gd name="connsiteX11" fmla="*/ 558941 w 1092116"/>
              <a:gd name="connsiteY11" fmla="*/ 178143 h 306094"/>
              <a:gd name="connsiteX12" fmla="*/ 548693 w 1092116"/>
              <a:gd name="connsiteY12" fmla="*/ 188262 h 306094"/>
              <a:gd name="connsiteX13" fmla="*/ 558941 w 1092116"/>
              <a:gd name="connsiteY13" fmla="*/ 198214 h 306094"/>
              <a:gd name="connsiteX14" fmla="*/ 569337 w 1092116"/>
              <a:gd name="connsiteY14" fmla="*/ 188262 h 306094"/>
              <a:gd name="connsiteX15" fmla="*/ 558941 w 1092116"/>
              <a:gd name="connsiteY15" fmla="*/ 178143 h 306094"/>
              <a:gd name="connsiteX16" fmla="*/ 566455 w 1092116"/>
              <a:gd name="connsiteY16" fmla="*/ 218759 h 306094"/>
              <a:gd name="connsiteX17" fmla="*/ 551725 w 1092116"/>
              <a:gd name="connsiteY17" fmla="*/ 218759 h 306094"/>
              <a:gd name="connsiteX18" fmla="*/ 551725 w 1092116"/>
              <a:gd name="connsiteY18" fmla="*/ 303359 h 306094"/>
              <a:gd name="connsiteX19" fmla="*/ 566455 w 1092116"/>
              <a:gd name="connsiteY19" fmla="*/ 303359 h 306094"/>
              <a:gd name="connsiteX20" fmla="*/ 566455 w 1092116"/>
              <a:gd name="connsiteY20" fmla="*/ 218759 h 306094"/>
              <a:gd name="connsiteX21" fmla="*/ 633530 w 1092116"/>
              <a:gd name="connsiteY21" fmla="*/ 216830 h 306094"/>
              <a:gd name="connsiteX22" fmla="*/ 610961 w 1092116"/>
              <a:gd name="connsiteY22" fmla="*/ 235939 h 306094"/>
              <a:gd name="connsiteX23" fmla="*/ 609520 w 1092116"/>
              <a:gd name="connsiteY23" fmla="*/ 218770 h 306094"/>
              <a:gd name="connsiteX24" fmla="*/ 596873 w 1092116"/>
              <a:gd name="connsiteY24" fmla="*/ 218770 h 306094"/>
              <a:gd name="connsiteX25" fmla="*/ 596873 w 1092116"/>
              <a:gd name="connsiteY25" fmla="*/ 303360 h 306094"/>
              <a:gd name="connsiteX26" fmla="*/ 611603 w 1092116"/>
              <a:gd name="connsiteY26" fmla="*/ 303360 h 306094"/>
              <a:gd name="connsiteX27" fmla="*/ 611603 w 1092116"/>
              <a:gd name="connsiteY27" fmla="*/ 255040 h 306094"/>
              <a:gd name="connsiteX28" fmla="*/ 631773 w 1092116"/>
              <a:gd name="connsiteY28" fmla="*/ 231276 h 306094"/>
              <a:gd name="connsiteX29" fmla="*/ 639128 w 1092116"/>
              <a:gd name="connsiteY29" fmla="*/ 232246 h 306094"/>
              <a:gd name="connsiteX30" fmla="*/ 641853 w 1092116"/>
              <a:gd name="connsiteY30" fmla="*/ 217800 h 306094"/>
              <a:gd name="connsiteX31" fmla="*/ 633530 w 1092116"/>
              <a:gd name="connsiteY31" fmla="*/ 216830 h 306094"/>
              <a:gd name="connsiteX32" fmla="*/ 681558 w 1092116"/>
              <a:gd name="connsiteY32" fmla="*/ 216836 h 306094"/>
              <a:gd name="connsiteX33" fmla="*/ 651140 w 1092116"/>
              <a:gd name="connsiteY33" fmla="*/ 240115 h 306094"/>
              <a:gd name="connsiteX34" fmla="*/ 676592 w 1092116"/>
              <a:gd name="connsiteY34" fmla="*/ 264671 h 306094"/>
              <a:gd name="connsiteX35" fmla="*/ 697079 w 1092116"/>
              <a:gd name="connsiteY35" fmla="*/ 280563 h 306094"/>
              <a:gd name="connsiteX36" fmla="*/ 678991 w 1092116"/>
              <a:gd name="connsiteY36" fmla="*/ 293406 h 306094"/>
              <a:gd name="connsiteX37" fmla="*/ 655306 w 1092116"/>
              <a:gd name="connsiteY37" fmla="*/ 285217 h 306094"/>
              <a:gd name="connsiteX38" fmla="*/ 647467 w 1092116"/>
              <a:gd name="connsiteY38" fmla="*/ 294208 h 306094"/>
              <a:gd name="connsiteX39" fmla="*/ 679317 w 1092116"/>
              <a:gd name="connsiteY39" fmla="*/ 305287 h 306094"/>
              <a:gd name="connsiteX40" fmla="*/ 712608 w 1092116"/>
              <a:gd name="connsiteY40" fmla="*/ 279602 h 306094"/>
              <a:gd name="connsiteX41" fmla="*/ 684599 w 1092116"/>
              <a:gd name="connsiteY41" fmla="*/ 253274 h 306094"/>
              <a:gd name="connsiteX42" fmla="*/ 666512 w 1092116"/>
              <a:gd name="connsiteY42" fmla="*/ 239630 h 306094"/>
              <a:gd name="connsiteX43" fmla="*/ 682042 w 1092116"/>
              <a:gd name="connsiteY43" fmla="*/ 228559 h 306094"/>
              <a:gd name="connsiteX44" fmla="*/ 703960 w 1092116"/>
              <a:gd name="connsiteY44" fmla="*/ 235778 h 306094"/>
              <a:gd name="connsiteX45" fmla="*/ 710209 w 1092116"/>
              <a:gd name="connsiteY45" fmla="*/ 226470 h 306094"/>
              <a:gd name="connsiteX46" fmla="*/ 681558 w 1092116"/>
              <a:gd name="connsiteY46" fmla="*/ 216836 h 306094"/>
              <a:gd name="connsiteX47" fmla="*/ 770396 w 1092116"/>
              <a:gd name="connsiteY47" fmla="*/ 289714 h 306094"/>
              <a:gd name="connsiteX48" fmla="*/ 759191 w 1092116"/>
              <a:gd name="connsiteY48" fmla="*/ 293090 h 306094"/>
              <a:gd name="connsiteX49" fmla="*/ 749110 w 1092116"/>
              <a:gd name="connsiteY49" fmla="*/ 280565 h 306094"/>
              <a:gd name="connsiteX50" fmla="*/ 749110 w 1092116"/>
              <a:gd name="connsiteY50" fmla="*/ 230156 h 306094"/>
              <a:gd name="connsiteX51" fmla="*/ 767514 w 1092116"/>
              <a:gd name="connsiteY51" fmla="*/ 230156 h 306094"/>
              <a:gd name="connsiteX52" fmla="*/ 769123 w 1092116"/>
              <a:gd name="connsiteY52" fmla="*/ 218769 h 306094"/>
              <a:gd name="connsiteX53" fmla="*/ 749110 w 1092116"/>
              <a:gd name="connsiteY53" fmla="*/ 218769 h 306094"/>
              <a:gd name="connsiteX54" fmla="*/ 749110 w 1092116"/>
              <a:gd name="connsiteY54" fmla="*/ 197887 h 306094"/>
              <a:gd name="connsiteX55" fmla="*/ 734380 w 1092116"/>
              <a:gd name="connsiteY55" fmla="*/ 199659 h 306094"/>
              <a:gd name="connsiteX56" fmla="*/ 734380 w 1092116"/>
              <a:gd name="connsiteY56" fmla="*/ 218769 h 306094"/>
              <a:gd name="connsiteX57" fmla="*/ 719660 w 1092116"/>
              <a:gd name="connsiteY57" fmla="*/ 218769 h 306094"/>
              <a:gd name="connsiteX58" fmla="*/ 719660 w 1092116"/>
              <a:gd name="connsiteY58" fmla="*/ 230156 h 306094"/>
              <a:gd name="connsiteX59" fmla="*/ 734380 w 1092116"/>
              <a:gd name="connsiteY59" fmla="*/ 230156 h 306094"/>
              <a:gd name="connsiteX60" fmla="*/ 734380 w 1092116"/>
              <a:gd name="connsiteY60" fmla="*/ 281209 h 306094"/>
              <a:gd name="connsiteX61" fmla="*/ 757117 w 1092116"/>
              <a:gd name="connsiteY61" fmla="*/ 305289 h 306094"/>
              <a:gd name="connsiteX62" fmla="*/ 776004 w 1092116"/>
              <a:gd name="connsiteY62" fmla="*/ 299507 h 306094"/>
              <a:gd name="connsiteX63" fmla="*/ 770396 w 1092116"/>
              <a:gd name="connsiteY63" fmla="*/ 289714 h 306094"/>
              <a:gd name="connsiteX64" fmla="*/ 795049 w 1092116"/>
              <a:gd name="connsiteY64" fmla="*/ 282971 h 306094"/>
              <a:gd name="connsiteX65" fmla="*/ 784002 w 1092116"/>
              <a:gd name="connsiteY65" fmla="*/ 294051 h 306094"/>
              <a:gd name="connsiteX66" fmla="*/ 795049 w 1092116"/>
              <a:gd name="connsiteY66" fmla="*/ 305289 h 306094"/>
              <a:gd name="connsiteX67" fmla="*/ 806255 w 1092116"/>
              <a:gd name="connsiteY67" fmla="*/ 294051 h 306094"/>
              <a:gd name="connsiteX68" fmla="*/ 795049 w 1092116"/>
              <a:gd name="connsiteY68" fmla="*/ 282971 h 306094"/>
              <a:gd name="connsiteX69" fmla="*/ 50421 w 1092116"/>
              <a:gd name="connsiteY69" fmla="*/ 189384 h 306094"/>
              <a:gd name="connsiteX70" fmla="*/ 0 w 1092116"/>
              <a:gd name="connsiteY70" fmla="*/ 247496 h 306094"/>
              <a:gd name="connsiteX71" fmla="*/ 50735 w 1092116"/>
              <a:gd name="connsiteY71" fmla="*/ 306094 h 306094"/>
              <a:gd name="connsiteX72" fmla="*/ 85477 w 1092116"/>
              <a:gd name="connsiteY72" fmla="*/ 291807 h 306094"/>
              <a:gd name="connsiteX73" fmla="*/ 73785 w 1092116"/>
              <a:gd name="connsiteY73" fmla="*/ 276710 h 306094"/>
              <a:gd name="connsiteX74" fmla="*/ 52017 w 1092116"/>
              <a:gd name="connsiteY74" fmla="*/ 285701 h 306094"/>
              <a:gd name="connsiteX75" fmla="*/ 27533 w 1092116"/>
              <a:gd name="connsiteY75" fmla="*/ 247496 h 306094"/>
              <a:gd name="connsiteX76" fmla="*/ 51694 w 1092116"/>
              <a:gd name="connsiteY76" fmla="*/ 208806 h 306094"/>
              <a:gd name="connsiteX77" fmla="*/ 71705 w 1092116"/>
              <a:gd name="connsiteY77" fmla="*/ 216512 h 306094"/>
              <a:gd name="connsiteX78" fmla="*/ 84194 w 1092116"/>
              <a:gd name="connsiteY78" fmla="*/ 201586 h 306094"/>
              <a:gd name="connsiteX79" fmla="*/ 50421 w 1092116"/>
              <a:gd name="connsiteY79" fmla="*/ 189384 h 306094"/>
              <a:gd name="connsiteX80" fmla="*/ 119240 w 1092116"/>
              <a:gd name="connsiteY80" fmla="*/ 306094 h 306094"/>
              <a:gd name="connsiteX81" fmla="*/ 134607 w 1092116"/>
              <a:gd name="connsiteY81" fmla="*/ 303199 h 306094"/>
              <a:gd name="connsiteX82" fmla="*/ 129649 w 1092116"/>
              <a:gd name="connsiteY82" fmla="*/ 285225 h 306094"/>
              <a:gd name="connsiteX83" fmla="*/ 125489 w 1092116"/>
              <a:gd name="connsiteY83" fmla="*/ 286025 h 306094"/>
              <a:gd name="connsiteX84" fmla="*/ 121168 w 1092116"/>
              <a:gd name="connsiteY84" fmla="*/ 280729 h 306094"/>
              <a:gd name="connsiteX85" fmla="*/ 121168 w 1092116"/>
              <a:gd name="connsiteY85" fmla="*/ 181517 h 306094"/>
              <a:gd name="connsiteX86" fmla="*/ 95876 w 1092116"/>
              <a:gd name="connsiteY86" fmla="*/ 184250 h 306094"/>
              <a:gd name="connsiteX87" fmla="*/ 95876 w 1092116"/>
              <a:gd name="connsiteY87" fmla="*/ 281691 h 306094"/>
              <a:gd name="connsiteX88" fmla="*/ 119240 w 1092116"/>
              <a:gd name="connsiteY88" fmla="*/ 306094 h 306094"/>
              <a:gd name="connsiteX89" fmla="*/ 181829 w 1092116"/>
              <a:gd name="connsiteY89" fmla="*/ 215389 h 306094"/>
              <a:gd name="connsiteX90" fmla="*/ 140212 w 1092116"/>
              <a:gd name="connsiteY90" fmla="*/ 260661 h 306094"/>
              <a:gd name="connsiteX91" fmla="*/ 181829 w 1092116"/>
              <a:gd name="connsiteY91" fmla="*/ 306086 h 306094"/>
              <a:gd name="connsiteX92" fmla="*/ 223447 w 1092116"/>
              <a:gd name="connsiteY92" fmla="*/ 260823 h 306094"/>
              <a:gd name="connsiteX93" fmla="*/ 181829 w 1092116"/>
              <a:gd name="connsiteY93" fmla="*/ 215389 h 306094"/>
              <a:gd name="connsiteX94" fmla="*/ 181829 w 1092116"/>
              <a:gd name="connsiteY94" fmla="*/ 234010 h 306094"/>
              <a:gd name="connsiteX95" fmla="*/ 197197 w 1092116"/>
              <a:gd name="connsiteY95" fmla="*/ 260823 h 306094"/>
              <a:gd name="connsiteX96" fmla="*/ 181829 w 1092116"/>
              <a:gd name="connsiteY96" fmla="*/ 287474 h 306094"/>
              <a:gd name="connsiteX97" fmla="*/ 166463 w 1092116"/>
              <a:gd name="connsiteY97" fmla="*/ 260661 h 306094"/>
              <a:gd name="connsiteX98" fmla="*/ 181829 w 1092116"/>
              <a:gd name="connsiteY98" fmla="*/ 234010 h 306094"/>
              <a:gd name="connsiteX99" fmla="*/ 311798 w 1092116"/>
              <a:gd name="connsiteY99" fmla="*/ 218123 h 306094"/>
              <a:gd name="connsiteX100" fmla="*/ 286506 w 1092116"/>
              <a:gd name="connsiteY100" fmla="*/ 218123 h 306094"/>
              <a:gd name="connsiteX101" fmla="*/ 286506 w 1092116"/>
              <a:gd name="connsiteY101" fmla="*/ 277359 h 306094"/>
              <a:gd name="connsiteX102" fmla="*/ 272745 w 1092116"/>
              <a:gd name="connsiteY102" fmla="*/ 287313 h 306094"/>
              <a:gd name="connsiteX103" fmla="*/ 264577 w 1092116"/>
              <a:gd name="connsiteY103" fmla="*/ 276073 h 306094"/>
              <a:gd name="connsiteX104" fmla="*/ 264577 w 1092116"/>
              <a:gd name="connsiteY104" fmla="*/ 218123 h 306094"/>
              <a:gd name="connsiteX105" fmla="*/ 239285 w 1092116"/>
              <a:gd name="connsiteY105" fmla="*/ 218123 h 306094"/>
              <a:gd name="connsiteX106" fmla="*/ 239285 w 1092116"/>
              <a:gd name="connsiteY106" fmla="*/ 279283 h 306094"/>
              <a:gd name="connsiteX107" fmla="*/ 262981 w 1092116"/>
              <a:gd name="connsiteY107" fmla="*/ 306087 h 306094"/>
              <a:gd name="connsiteX108" fmla="*/ 288748 w 1092116"/>
              <a:gd name="connsiteY108" fmla="*/ 292609 h 306094"/>
              <a:gd name="connsiteX109" fmla="*/ 289868 w 1092116"/>
              <a:gd name="connsiteY109" fmla="*/ 303362 h 306094"/>
              <a:gd name="connsiteX110" fmla="*/ 311798 w 1092116"/>
              <a:gd name="connsiteY110" fmla="*/ 303362 h 306094"/>
              <a:gd name="connsiteX111" fmla="*/ 311798 w 1092116"/>
              <a:gd name="connsiteY111" fmla="*/ 218123 h 306094"/>
              <a:gd name="connsiteX112" fmla="*/ 382540 w 1092116"/>
              <a:gd name="connsiteY112" fmla="*/ 181520 h 306094"/>
              <a:gd name="connsiteX113" fmla="*/ 382540 w 1092116"/>
              <a:gd name="connsiteY113" fmla="*/ 223420 h 306094"/>
              <a:gd name="connsiteX114" fmla="*/ 362367 w 1092116"/>
              <a:gd name="connsiteY114" fmla="*/ 215390 h 306094"/>
              <a:gd name="connsiteX115" fmla="*/ 327635 w 1092116"/>
              <a:gd name="connsiteY115" fmla="*/ 260501 h 306094"/>
              <a:gd name="connsiteX116" fmla="*/ 359974 w 1092116"/>
              <a:gd name="connsiteY116" fmla="*/ 306088 h 306094"/>
              <a:gd name="connsiteX117" fmla="*/ 384145 w 1092116"/>
              <a:gd name="connsiteY117" fmla="*/ 293410 h 306094"/>
              <a:gd name="connsiteX118" fmla="*/ 385417 w 1092116"/>
              <a:gd name="connsiteY118" fmla="*/ 303363 h 306094"/>
              <a:gd name="connsiteX119" fmla="*/ 407831 w 1092116"/>
              <a:gd name="connsiteY119" fmla="*/ 303363 h 306094"/>
              <a:gd name="connsiteX120" fmla="*/ 407831 w 1092116"/>
              <a:gd name="connsiteY120" fmla="*/ 184244 h 306094"/>
              <a:gd name="connsiteX121" fmla="*/ 382540 w 1092116"/>
              <a:gd name="connsiteY121" fmla="*/ 181520 h 306094"/>
              <a:gd name="connsiteX122" fmla="*/ 367809 w 1092116"/>
              <a:gd name="connsiteY122" fmla="*/ 287466 h 306094"/>
              <a:gd name="connsiteX123" fmla="*/ 353886 w 1092116"/>
              <a:gd name="connsiteY123" fmla="*/ 260663 h 306094"/>
              <a:gd name="connsiteX124" fmla="*/ 369253 w 1092116"/>
              <a:gd name="connsiteY124" fmla="*/ 233850 h 306094"/>
              <a:gd name="connsiteX125" fmla="*/ 382540 w 1092116"/>
              <a:gd name="connsiteY125" fmla="*/ 241079 h 306094"/>
              <a:gd name="connsiteX126" fmla="*/ 382540 w 1092116"/>
              <a:gd name="connsiteY126" fmla="*/ 277836 h 306094"/>
              <a:gd name="connsiteX127" fmla="*/ 367809 w 1092116"/>
              <a:gd name="connsiteY127" fmla="*/ 287466 h 306094"/>
              <a:gd name="connsiteX128" fmla="*/ 84194 w 1092116"/>
              <a:gd name="connsiteY128" fmla="*/ 23443 h 306094"/>
              <a:gd name="connsiteX129" fmla="*/ 71705 w 1092116"/>
              <a:gd name="connsiteY129" fmla="*/ 38368 h 306094"/>
              <a:gd name="connsiteX130" fmla="*/ 51694 w 1092116"/>
              <a:gd name="connsiteY130" fmla="*/ 30663 h 306094"/>
              <a:gd name="connsiteX131" fmla="*/ 27533 w 1092116"/>
              <a:gd name="connsiteY131" fmla="*/ 69353 h 306094"/>
              <a:gd name="connsiteX132" fmla="*/ 52017 w 1092116"/>
              <a:gd name="connsiteY132" fmla="*/ 107558 h 306094"/>
              <a:gd name="connsiteX133" fmla="*/ 73785 w 1092116"/>
              <a:gd name="connsiteY133" fmla="*/ 98566 h 306094"/>
              <a:gd name="connsiteX134" fmla="*/ 85477 w 1092116"/>
              <a:gd name="connsiteY134" fmla="*/ 113663 h 306094"/>
              <a:gd name="connsiteX135" fmla="*/ 50735 w 1092116"/>
              <a:gd name="connsiteY135" fmla="*/ 127951 h 306094"/>
              <a:gd name="connsiteX136" fmla="*/ 0 w 1092116"/>
              <a:gd name="connsiteY136" fmla="*/ 69353 h 306094"/>
              <a:gd name="connsiteX137" fmla="*/ 50421 w 1092116"/>
              <a:gd name="connsiteY137" fmla="*/ 11241 h 306094"/>
              <a:gd name="connsiteX138" fmla="*/ 84194 w 1092116"/>
              <a:gd name="connsiteY138" fmla="*/ 23443 h 306094"/>
              <a:gd name="connsiteX139" fmla="*/ 167423 w 1092116"/>
              <a:gd name="connsiteY139" fmla="*/ 39981 h 306094"/>
              <a:gd name="connsiteX140" fmla="*/ 142132 w 1092116"/>
              <a:gd name="connsiteY140" fmla="*/ 39981 h 306094"/>
              <a:gd name="connsiteX141" fmla="*/ 142132 w 1092116"/>
              <a:gd name="connsiteY141" fmla="*/ 99217 h 306094"/>
              <a:gd name="connsiteX142" fmla="*/ 128370 w 1092116"/>
              <a:gd name="connsiteY142" fmla="*/ 109171 h 306094"/>
              <a:gd name="connsiteX143" fmla="*/ 120203 w 1092116"/>
              <a:gd name="connsiteY143" fmla="*/ 97931 h 306094"/>
              <a:gd name="connsiteX144" fmla="*/ 120203 w 1092116"/>
              <a:gd name="connsiteY144" fmla="*/ 39981 h 306094"/>
              <a:gd name="connsiteX145" fmla="*/ 94911 w 1092116"/>
              <a:gd name="connsiteY145" fmla="*/ 39981 h 306094"/>
              <a:gd name="connsiteX146" fmla="*/ 94911 w 1092116"/>
              <a:gd name="connsiteY146" fmla="*/ 101141 h 306094"/>
              <a:gd name="connsiteX147" fmla="*/ 118607 w 1092116"/>
              <a:gd name="connsiteY147" fmla="*/ 127954 h 306094"/>
              <a:gd name="connsiteX148" fmla="*/ 144373 w 1092116"/>
              <a:gd name="connsiteY148" fmla="*/ 114466 h 306094"/>
              <a:gd name="connsiteX149" fmla="*/ 145494 w 1092116"/>
              <a:gd name="connsiteY149" fmla="*/ 125220 h 306094"/>
              <a:gd name="connsiteX150" fmla="*/ 167424 w 1092116"/>
              <a:gd name="connsiteY150" fmla="*/ 125220 h 306094"/>
              <a:gd name="connsiteX151" fmla="*/ 167424 w 1092116"/>
              <a:gd name="connsiteY151" fmla="*/ 39981 h 306094"/>
              <a:gd name="connsiteX152" fmla="*/ 218806 w 1092116"/>
              <a:gd name="connsiteY152" fmla="*/ 37253 h 306094"/>
              <a:gd name="connsiteX153" fmla="*/ 184065 w 1092116"/>
              <a:gd name="connsiteY153" fmla="*/ 63256 h 306094"/>
              <a:gd name="connsiteX154" fmla="*/ 209195 w 1092116"/>
              <a:gd name="connsiteY154" fmla="*/ 89898 h 306094"/>
              <a:gd name="connsiteX155" fmla="*/ 227127 w 1092116"/>
              <a:gd name="connsiteY155" fmla="*/ 101785 h 306094"/>
              <a:gd name="connsiteX156" fmla="*/ 214799 w 1092116"/>
              <a:gd name="connsiteY156" fmla="*/ 109805 h 306094"/>
              <a:gd name="connsiteX157" fmla="*/ 192233 w 1092116"/>
              <a:gd name="connsiteY157" fmla="*/ 101461 h 306094"/>
              <a:gd name="connsiteX158" fmla="*/ 179905 w 1092116"/>
              <a:gd name="connsiteY158" fmla="*/ 115263 h 306094"/>
              <a:gd name="connsiteX159" fmla="*/ 215435 w 1092116"/>
              <a:gd name="connsiteY159" fmla="*/ 127950 h 306094"/>
              <a:gd name="connsiteX160" fmla="*/ 253215 w 1092116"/>
              <a:gd name="connsiteY160" fmla="*/ 99851 h 306094"/>
              <a:gd name="connsiteX161" fmla="*/ 226965 w 1092116"/>
              <a:gd name="connsiteY161" fmla="*/ 72724 h 306094"/>
              <a:gd name="connsiteX162" fmla="*/ 209518 w 1092116"/>
              <a:gd name="connsiteY162" fmla="*/ 61808 h 306094"/>
              <a:gd name="connsiteX163" fmla="*/ 219766 w 1092116"/>
              <a:gd name="connsiteY163" fmla="*/ 55389 h 306094"/>
              <a:gd name="connsiteX164" fmla="*/ 240736 w 1092116"/>
              <a:gd name="connsiteY164" fmla="*/ 61970 h 306094"/>
              <a:gd name="connsiteX165" fmla="*/ 250015 w 1092116"/>
              <a:gd name="connsiteY165" fmla="*/ 47683 h 306094"/>
              <a:gd name="connsiteX166" fmla="*/ 218807 w 1092116"/>
              <a:gd name="connsiteY166" fmla="*/ 37253 h 306094"/>
              <a:gd name="connsiteX167" fmla="*/ 312597 w 1092116"/>
              <a:gd name="connsiteY167" fmla="*/ 105157 h 306094"/>
              <a:gd name="connsiteX168" fmla="*/ 303470 w 1092116"/>
              <a:gd name="connsiteY168" fmla="*/ 107881 h 306094"/>
              <a:gd name="connsiteX169" fmla="*/ 295463 w 1092116"/>
              <a:gd name="connsiteY169" fmla="*/ 96803 h 306094"/>
              <a:gd name="connsiteX170" fmla="*/ 295463 w 1092116"/>
              <a:gd name="connsiteY170" fmla="*/ 57636 h 306094"/>
              <a:gd name="connsiteX171" fmla="*/ 312274 w 1092116"/>
              <a:gd name="connsiteY171" fmla="*/ 57636 h 306094"/>
              <a:gd name="connsiteX172" fmla="*/ 314999 w 1092116"/>
              <a:gd name="connsiteY172" fmla="*/ 39977 h 306094"/>
              <a:gd name="connsiteX173" fmla="*/ 295463 w 1092116"/>
              <a:gd name="connsiteY173" fmla="*/ 39977 h 306094"/>
              <a:gd name="connsiteX174" fmla="*/ 295463 w 1092116"/>
              <a:gd name="connsiteY174" fmla="*/ 18632 h 306094"/>
              <a:gd name="connsiteX175" fmla="*/ 270181 w 1092116"/>
              <a:gd name="connsiteY175" fmla="*/ 21518 h 306094"/>
              <a:gd name="connsiteX176" fmla="*/ 270181 w 1092116"/>
              <a:gd name="connsiteY176" fmla="*/ 39977 h 306094"/>
              <a:gd name="connsiteX177" fmla="*/ 258177 w 1092116"/>
              <a:gd name="connsiteY177" fmla="*/ 39977 h 306094"/>
              <a:gd name="connsiteX178" fmla="*/ 258177 w 1092116"/>
              <a:gd name="connsiteY178" fmla="*/ 57636 h 306094"/>
              <a:gd name="connsiteX179" fmla="*/ 270181 w 1092116"/>
              <a:gd name="connsiteY179" fmla="*/ 57636 h 306094"/>
              <a:gd name="connsiteX180" fmla="*/ 270181 w 1092116"/>
              <a:gd name="connsiteY180" fmla="*/ 97127 h 306094"/>
              <a:gd name="connsiteX181" fmla="*/ 298028 w 1092116"/>
              <a:gd name="connsiteY181" fmla="*/ 127950 h 306094"/>
              <a:gd name="connsiteX182" fmla="*/ 321078 w 1092116"/>
              <a:gd name="connsiteY182" fmla="*/ 121206 h 306094"/>
              <a:gd name="connsiteX183" fmla="*/ 312597 w 1092116"/>
              <a:gd name="connsiteY183" fmla="*/ 105157 h 306094"/>
              <a:gd name="connsiteX184" fmla="*/ 365094 w 1092116"/>
              <a:gd name="connsiteY184" fmla="*/ 37246 h 306094"/>
              <a:gd name="connsiteX185" fmla="*/ 323477 w 1092116"/>
              <a:gd name="connsiteY185" fmla="*/ 82519 h 306094"/>
              <a:gd name="connsiteX186" fmla="*/ 365094 w 1092116"/>
              <a:gd name="connsiteY186" fmla="*/ 127953 h 306094"/>
              <a:gd name="connsiteX187" fmla="*/ 406712 w 1092116"/>
              <a:gd name="connsiteY187" fmla="*/ 82681 h 306094"/>
              <a:gd name="connsiteX188" fmla="*/ 365094 w 1092116"/>
              <a:gd name="connsiteY188" fmla="*/ 37246 h 306094"/>
              <a:gd name="connsiteX189" fmla="*/ 365094 w 1092116"/>
              <a:gd name="connsiteY189" fmla="*/ 55868 h 306094"/>
              <a:gd name="connsiteX190" fmla="*/ 380461 w 1092116"/>
              <a:gd name="connsiteY190" fmla="*/ 82681 h 306094"/>
              <a:gd name="connsiteX191" fmla="*/ 365094 w 1092116"/>
              <a:gd name="connsiteY191" fmla="*/ 109331 h 306094"/>
              <a:gd name="connsiteX192" fmla="*/ 349727 w 1092116"/>
              <a:gd name="connsiteY192" fmla="*/ 82519 h 306094"/>
              <a:gd name="connsiteX193" fmla="*/ 365094 w 1092116"/>
              <a:gd name="connsiteY193" fmla="*/ 55868 h 306094"/>
              <a:gd name="connsiteX194" fmla="*/ 516511 w 1092116"/>
              <a:gd name="connsiteY194" fmla="*/ 37245 h 306094"/>
              <a:gd name="connsiteX195" fmla="*/ 491067 w 1092116"/>
              <a:gd name="connsiteY195" fmla="*/ 50733 h 306094"/>
              <a:gd name="connsiteX196" fmla="*/ 471056 w 1092116"/>
              <a:gd name="connsiteY196" fmla="*/ 37245 h 306094"/>
              <a:gd name="connsiteX197" fmla="*/ 446410 w 1092116"/>
              <a:gd name="connsiteY197" fmla="*/ 49933 h 306094"/>
              <a:gd name="connsiteX198" fmla="*/ 444644 w 1092116"/>
              <a:gd name="connsiteY198" fmla="*/ 39979 h 306094"/>
              <a:gd name="connsiteX199" fmla="*/ 422553 w 1092116"/>
              <a:gd name="connsiteY199" fmla="*/ 39979 h 306094"/>
              <a:gd name="connsiteX200" fmla="*/ 422553 w 1092116"/>
              <a:gd name="connsiteY200" fmla="*/ 125218 h 306094"/>
              <a:gd name="connsiteX201" fmla="*/ 447845 w 1092116"/>
              <a:gd name="connsiteY201" fmla="*/ 125218 h 306094"/>
              <a:gd name="connsiteX202" fmla="*/ 447845 w 1092116"/>
              <a:gd name="connsiteY202" fmla="*/ 66944 h 306094"/>
              <a:gd name="connsiteX203" fmla="*/ 460808 w 1092116"/>
              <a:gd name="connsiteY203" fmla="*/ 55867 h 306094"/>
              <a:gd name="connsiteX204" fmla="*/ 468017 w 1092116"/>
              <a:gd name="connsiteY204" fmla="*/ 67268 h 306094"/>
              <a:gd name="connsiteX205" fmla="*/ 468017 w 1092116"/>
              <a:gd name="connsiteY205" fmla="*/ 125218 h 306094"/>
              <a:gd name="connsiteX206" fmla="*/ 493299 w 1092116"/>
              <a:gd name="connsiteY206" fmla="*/ 125218 h 306094"/>
              <a:gd name="connsiteX207" fmla="*/ 493299 w 1092116"/>
              <a:gd name="connsiteY207" fmla="*/ 66944 h 306094"/>
              <a:gd name="connsiteX208" fmla="*/ 506272 w 1092116"/>
              <a:gd name="connsiteY208" fmla="*/ 55867 h 306094"/>
              <a:gd name="connsiteX209" fmla="*/ 513471 w 1092116"/>
              <a:gd name="connsiteY209" fmla="*/ 67268 h 306094"/>
              <a:gd name="connsiteX210" fmla="*/ 513471 w 1092116"/>
              <a:gd name="connsiteY210" fmla="*/ 125218 h 306094"/>
              <a:gd name="connsiteX211" fmla="*/ 538763 w 1092116"/>
              <a:gd name="connsiteY211" fmla="*/ 125218 h 306094"/>
              <a:gd name="connsiteX212" fmla="*/ 538763 w 1092116"/>
              <a:gd name="connsiteY212" fmla="*/ 62934 h 306094"/>
              <a:gd name="connsiteX213" fmla="*/ 516511 w 1092116"/>
              <a:gd name="connsiteY213" fmla="*/ 37245 h 306094"/>
              <a:gd name="connsiteX214" fmla="*/ 633514 w 1092116"/>
              <a:gd name="connsiteY214" fmla="*/ 80918 h 306094"/>
              <a:gd name="connsiteX215" fmla="*/ 594299 w 1092116"/>
              <a:gd name="connsiteY215" fmla="*/ 37246 h 306094"/>
              <a:gd name="connsiteX216" fmla="*/ 554600 w 1092116"/>
              <a:gd name="connsiteY216" fmla="*/ 83004 h 306094"/>
              <a:gd name="connsiteX217" fmla="*/ 597338 w 1092116"/>
              <a:gd name="connsiteY217" fmla="*/ 127953 h 306094"/>
              <a:gd name="connsiteX218" fmla="*/ 630475 w 1092116"/>
              <a:gd name="connsiteY218" fmla="*/ 116066 h 306094"/>
              <a:gd name="connsiteX219" fmla="*/ 620075 w 1092116"/>
              <a:gd name="connsiteY219" fmla="*/ 101940 h 306094"/>
              <a:gd name="connsiteX220" fmla="*/ 599742 w 1092116"/>
              <a:gd name="connsiteY220" fmla="*/ 109484 h 306094"/>
              <a:gd name="connsiteX221" fmla="*/ 580376 w 1092116"/>
              <a:gd name="connsiteY221" fmla="*/ 90062 h 306094"/>
              <a:gd name="connsiteX222" fmla="*/ 633039 w 1092116"/>
              <a:gd name="connsiteY222" fmla="*/ 90062 h 306094"/>
              <a:gd name="connsiteX223" fmla="*/ 633514 w 1092116"/>
              <a:gd name="connsiteY223" fmla="*/ 80918 h 306094"/>
              <a:gd name="connsiteX224" fmla="*/ 608707 w 1092116"/>
              <a:gd name="connsiteY224" fmla="*/ 74813 h 306094"/>
              <a:gd name="connsiteX225" fmla="*/ 580376 w 1092116"/>
              <a:gd name="connsiteY225" fmla="*/ 74813 h 306094"/>
              <a:gd name="connsiteX226" fmla="*/ 594945 w 1092116"/>
              <a:gd name="connsiteY226" fmla="*/ 54106 h 306094"/>
              <a:gd name="connsiteX227" fmla="*/ 608707 w 1092116"/>
              <a:gd name="connsiteY227" fmla="*/ 73689 h 306094"/>
              <a:gd name="connsiteX228" fmla="*/ 608707 w 1092116"/>
              <a:gd name="connsiteY228" fmla="*/ 74813 h 306094"/>
              <a:gd name="connsiteX229" fmla="*/ 759789 w 1092116"/>
              <a:gd name="connsiteY229" fmla="*/ 125220 h 306094"/>
              <a:gd name="connsiteX230" fmla="*/ 775003 w 1092116"/>
              <a:gd name="connsiteY230" fmla="*/ 125220 h 306094"/>
              <a:gd name="connsiteX231" fmla="*/ 775003 w 1092116"/>
              <a:gd name="connsiteY231" fmla="*/ 76583 h 306094"/>
              <a:gd name="connsiteX232" fmla="*/ 811010 w 1092116"/>
              <a:gd name="connsiteY232" fmla="*/ 76583 h 306094"/>
              <a:gd name="connsiteX233" fmla="*/ 811010 w 1092116"/>
              <a:gd name="connsiteY233" fmla="*/ 64543 h 306094"/>
              <a:gd name="connsiteX234" fmla="*/ 775003 w 1092116"/>
              <a:gd name="connsiteY234" fmla="*/ 64543 h 306094"/>
              <a:gd name="connsiteX235" fmla="*/ 775003 w 1092116"/>
              <a:gd name="connsiteY235" fmla="*/ 26818 h 306094"/>
              <a:gd name="connsiteX236" fmla="*/ 816608 w 1092116"/>
              <a:gd name="connsiteY236" fmla="*/ 26818 h 306094"/>
              <a:gd name="connsiteX237" fmla="*/ 818375 w 1092116"/>
              <a:gd name="connsiteY237" fmla="*/ 14610 h 306094"/>
              <a:gd name="connsiteX238" fmla="*/ 759789 w 1092116"/>
              <a:gd name="connsiteY238" fmla="*/ 14610 h 306094"/>
              <a:gd name="connsiteX239" fmla="*/ 759789 w 1092116"/>
              <a:gd name="connsiteY239" fmla="*/ 125220 h 306094"/>
              <a:gd name="connsiteX240" fmla="*/ 844802 w 1092116"/>
              <a:gd name="connsiteY240" fmla="*/ 0 h 306094"/>
              <a:gd name="connsiteX241" fmla="*/ 834555 w 1092116"/>
              <a:gd name="connsiteY241" fmla="*/ 10119 h 306094"/>
              <a:gd name="connsiteX242" fmla="*/ 844802 w 1092116"/>
              <a:gd name="connsiteY242" fmla="*/ 20070 h 306094"/>
              <a:gd name="connsiteX243" fmla="*/ 855199 w 1092116"/>
              <a:gd name="connsiteY243" fmla="*/ 10119 h 306094"/>
              <a:gd name="connsiteX244" fmla="*/ 844802 w 1092116"/>
              <a:gd name="connsiteY244" fmla="*/ 0 h 306094"/>
              <a:gd name="connsiteX245" fmla="*/ 852316 w 1092116"/>
              <a:gd name="connsiteY245" fmla="*/ 40616 h 306094"/>
              <a:gd name="connsiteX246" fmla="*/ 837586 w 1092116"/>
              <a:gd name="connsiteY246" fmla="*/ 40616 h 306094"/>
              <a:gd name="connsiteX247" fmla="*/ 837586 w 1092116"/>
              <a:gd name="connsiteY247" fmla="*/ 125215 h 306094"/>
              <a:gd name="connsiteX248" fmla="*/ 852316 w 1092116"/>
              <a:gd name="connsiteY248" fmla="*/ 125215 h 306094"/>
              <a:gd name="connsiteX249" fmla="*/ 852316 w 1092116"/>
              <a:gd name="connsiteY249" fmla="*/ 40616 h 306094"/>
              <a:gd name="connsiteX250" fmla="*/ 919391 w 1092116"/>
              <a:gd name="connsiteY250" fmla="*/ 38687 h 306094"/>
              <a:gd name="connsiteX251" fmla="*/ 896822 w 1092116"/>
              <a:gd name="connsiteY251" fmla="*/ 57796 h 306094"/>
              <a:gd name="connsiteX252" fmla="*/ 895381 w 1092116"/>
              <a:gd name="connsiteY252" fmla="*/ 40627 h 306094"/>
              <a:gd name="connsiteX253" fmla="*/ 882734 w 1092116"/>
              <a:gd name="connsiteY253" fmla="*/ 40627 h 306094"/>
              <a:gd name="connsiteX254" fmla="*/ 882734 w 1092116"/>
              <a:gd name="connsiteY254" fmla="*/ 125216 h 306094"/>
              <a:gd name="connsiteX255" fmla="*/ 897464 w 1092116"/>
              <a:gd name="connsiteY255" fmla="*/ 125216 h 306094"/>
              <a:gd name="connsiteX256" fmla="*/ 897464 w 1092116"/>
              <a:gd name="connsiteY256" fmla="*/ 76897 h 306094"/>
              <a:gd name="connsiteX257" fmla="*/ 917634 w 1092116"/>
              <a:gd name="connsiteY257" fmla="*/ 53133 h 306094"/>
              <a:gd name="connsiteX258" fmla="*/ 924990 w 1092116"/>
              <a:gd name="connsiteY258" fmla="*/ 54103 h 306094"/>
              <a:gd name="connsiteX259" fmla="*/ 927715 w 1092116"/>
              <a:gd name="connsiteY259" fmla="*/ 39657 h 306094"/>
              <a:gd name="connsiteX260" fmla="*/ 919392 w 1092116"/>
              <a:gd name="connsiteY260" fmla="*/ 38687 h 306094"/>
              <a:gd name="connsiteX261" fmla="*/ 967419 w 1092116"/>
              <a:gd name="connsiteY261" fmla="*/ 38693 h 306094"/>
              <a:gd name="connsiteX262" fmla="*/ 937001 w 1092116"/>
              <a:gd name="connsiteY262" fmla="*/ 61972 h 306094"/>
              <a:gd name="connsiteX263" fmla="*/ 962454 w 1092116"/>
              <a:gd name="connsiteY263" fmla="*/ 86528 h 306094"/>
              <a:gd name="connsiteX264" fmla="*/ 982940 w 1092116"/>
              <a:gd name="connsiteY264" fmla="*/ 102420 h 306094"/>
              <a:gd name="connsiteX265" fmla="*/ 964853 w 1092116"/>
              <a:gd name="connsiteY265" fmla="*/ 115262 h 306094"/>
              <a:gd name="connsiteX266" fmla="*/ 941168 w 1092116"/>
              <a:gd name="connsiteY266" fmla="*/ 107074 h 306094"/>
              <a:gd name="connsiteX267" fmla="*/ 933328 w 1092116"/>
              <a:gd name="connsiteY267" fmla="*/ 116064 h 306094"/>
              <a:gd name="connsiteX268" fmla="*/ 965178 w 1092116"/>
              <a:gd name="connsiteY268" fmla="*/ 127144 h 306094"/>
              <a:gd name="connsiteX269" fmla="*/ 998470 w 1092116"/>
              <a:gd name="connsiteY269" fmla="*/ 101459 h 306094"/>
              <a:gd name="connsiteX270" fmla="*/ 970460 w 1092116"/>
              <a:gd name="connsiteY270" fmla="*/ 75131 h 306094"/>
              <a:gd name="connsiteX271" fmla="*/ 952373 w 1092116"/>
              <a:gd name="connsiteY271" fmla="*/ 61487 h 306094"/>
              <a:gd name="connsiteX272" fmla="*/ 967903 w 1092116"/>
              <a:gd name="connsiteY272" fmla="*/ 50416 h 306094"/>
              <a:gd name="connsiteX273" fmla="*/ 989821 w 1092116"/>
              <a:gd name="connsiteY273" fmla="*/ 57635 h 306094"/>
              <a:gd name="connsiteX274" fmla="*/ 996070 w 1092116"/>
              <a:gd name="connsiteY274" fmla="*/ 48327 h 306094"/>
              <a:gd name="connsiteX275" fmla="*/ 967419 w 1092116"/>
              <a:gd name="connsiteY275" fmla="*/ 38693 h 306094"/>
              <a:gd name="connsiteX276" fmla="*/ 1056258 w 1092116"/>
              <a:gd name="connsiteY276" fmla="*/ 111571 h 306094"/>
              <a:gd name="connsiteX277" fmla="*/ 1045053 w 1092116"/>
              <a:gd name="connsiteY277" fmla="*/ 114947 h 306094"/>
              <a:gd name="connsiteX278" fmla="*/ 1034972 w 1092116"/>
              <a:gd name="connsiteY278" fmla="*/ 102422 h 306094"/>
              <a:gd name="connsiteX279" fmla="*/ 1034972 w 1092116"/>
              <a:gd name="connsiteY279" fmla="*/ 52013 h 306094"/>
              <a:gd name="connsiteX280" fmla="*/ 1053375 w 1092116"/>
              <a:gd name="connsiteY280" fmla="*/ 52013 h 306094"/>
              <a:gd name="connsiteX281" fmla="*/ 1054984 w 1092116"/>
              <a:gd name="connsiteY281" fmla="*/ 40626 h 306094"/>
              <a:gd name="connsiteX282" fmla="*/ 1034972 w 1092116"/>
              <a:gd name="connsiteY282" fmla="*/ 40626 h 306094"/>
              <a:gd name="connsiteX283" fmla="*/ 1034972 w 1092116"/>
              <a:gd name="connsiteY283" fmla="*/ 19744 h 306094"/>
              <a:gd name="connsiteX284" fmla="*/ 1020242 w 1092116"/>
              <a:gd name="connsiteY284" fmla="*/ 21516 h 306094"/>
              <a:gd name="connsiteX285" fmla="*/ 1020242 w 1092116"/>
              <a:gd name="connsiteY285" fmla="*/ 40626 h 306094"/>
              <a:gd name="connsiteX286" fmla="*/ 1005521 w 1092116"/>
              <a:gd name="connsiteY286" fmla="*/ 40626 h 306094"/>
              <a:gd name="connsiteX287" fmla="*/ 1005521 w 1092116"/>
              <a:gd name="connsiteY287" fmla="*/ 52013 h 306094"/>
              <a:gd name="connsiteX288" fmla="*/ 1020242 w 1092116"/>
              <a:gd name="connsiteY288" fmla="*/ 52013 h 306094"/>
              <a:gd name="connsiteX289" fmla="*/ 1020242 w 1092116"/>
              <a:gd name="connsiteY289" fmla="*/ 103065 h 306094"/>
              <a:gd name="connsiteX290" fmla="*/ 1042979 w 1092116"/>
              <a:gd name="connsiteY290" fmla="*/ 127146 h 306094"/>
              <a:gd name="connsiteX291" fmla="*/ 1061866 w 1092116"/>
              <a:gd name="connsiteY291" fmla="*/ 121364 h 306094"/>
              <a:gd name="connsiteX292" fmla="*/ 1056258 w 1092116"/>
              <a:gd name="connsiteY292" fmla="*/ 111571 h 306094"/>
              <a:gd name="connsiteX293" fmla="*/ 1080911 w 1092116"/>
              <a:gd name="connsiteY293" fmla="*/ 104828 h 306094"/>
              <a:gd name="connsiteX294" fmla="*/ 1069863 w 1092116"/>
              <a:gd name="connsiteY294" fmla="*/ 115908 h 306094"/>
              <a:gd name="connsiteX295" fmla="*/ 1080911 w 1092116"/>
              <a:gd name="connsiteY295" fmla="*/ 127146 h 306094"/>
              <a:gd name="connsiteX296" fmla="*/ 1092117 w 1092116"/>
              <a:gd name="connsiteY296" fmla="*/ 115908 h 306094"/>
              <a:gd name="connsiteX297" fmla="*/ 1080911 w 1092116"/>
              <a:gd name="connsiteY297" fmla="*/ 104828 h 306094"/>
              <a:gd name="connsiteX298" fmla="*/ 695451 w 1092116"/>
              <a:gd name="connsiteY298" fmla="*/ 37569 h 306094"/>
              <a:gd name="connsiteX299" fmla="*/ 673521 w 1092116"/>
              <a:gd name="connsiteY299" fmla="*/ 56514 h 306094"/>
              <a:gd name="connsiteX300" fmla="*/ 671432 w 1092116"/>
              <a:gd name="connsiteY300" fmla="*/ 39979 h 306094"/>
              <a:gd name="connsiteX301" fmla="*/ 649351 w 1092116"/>
              <a:gd name="connsiteY301" fmla="*/ 39979 h 306094"/>
              <a:gd name="connsiteX302" fmla="*/ 649351 w 1092116"/>
              <a:gd name="connsiteY302" fmla="*/ 125218 h 306094"/>
              <a:gd name="connsiteX303" fmla="*/ 674642 w 1092116"/>
              <a:gd name="connsiteY303" fmla="*/ 125218 h 306094"/>
              <a:gd name="connsiteX304" fmla="*/ 674642 w 1092116"/>
              <a:gd name="connsiteY304" fmla="*/ 83003 h 306094"/>
              <a:gd name="connsiteX305" fmla="*/ 692250 w 1092116"/>
              <a:gd name="connsiteY305" fmla="*/ 62134 h 306094"/>
              <a:gd name="connsiteX306" fmla="*/ 699933 w 1092116"/>
              <a:gd name="connsiteY306" fmla="*/ 63258 h 306094"/>
              <a:gd name="connsiteX307" fmla="*/ 703932 w 1092116"/>
              <a:gd name="connsiteY307" fmla="*/ 38693 h 306094"/>
              <a:gd name="connsiteX308" fmla="*/ 695451 w 1092116"/>
              <a:gd name="connsiteY308" fmla="*/ 37569 h 30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092116" h="306094">
                <a:moveTo>
                  <a:pt x="473928" y="192753"/>
                </a:moveTo>
                <a:lnTo>
                  <a:pt x="532513" y="192753"/>
                </a:lnTo>
                <a:lnTo>
                  <a:pt x="530746" y="204961"/>
                </a:lnTo>
                <a:lnTo>
                  <a:pt x="489141" y="204961"/>
                </a:lnTo>
                <a:lnTo>
                  <a:pt x="489141" y="242686"/>
                </a:lnTo>
                <a:lnTo>
                  <a:pt x="525148" y="242686"/>
                </a:lnTo>
                <a:lnTo>
                  <a:pt x="525148" y="254726"/>
                </a:lnTo>
                <a:lnTo>
                  <a:pt x="489141" y="254726"/>
                </a:lnTo>
                <a:lnTo>
                  <a:pt x="489141" y="303363"/>
                </a:lnTo>
                <a:lnTo>
                  <a:pt x="473928" y="303363"/>
                </a:lnTo>
                <a:lnTo>
                  <a:pt x="473928" y="192753"/>
                </a:lnTo>
                <a:close/>
                <a:moveTo>
                  <a:pt x="558941" y="178143"/>
                </a:moveTo>
                <a:cubicBezTo>
                  <a:pt x="552850" y="178143"/>
                  <a:pt x="548693" y="182480"/>
                  <a:pt x="548693" y="188262"/>
                </a:cubicBezTo>
                <a:cubicBezTo>
                  <a:pt x="548693" y="193886"/>
                  <a:pt x="552850" y="198214"/>
                  <a:pt x="558941" y="198214"/>
                </a:cubicBezTo>
                <a:cubicBezTo>
                  <a:pt x="565181" y="198214"/>
                  <a:pt x="569337" y="193886"/>
                  <a:pt x="569337" y="188262"/>
                </a:cubicBezTo>
                <a:cubicBezTo>
                  <a:pt x="569337" y="182480"/>
                  <a:pt x="565180" y="178143"/>
                  <a:pt x="558941" y="178143"/>
                </a:cubicBezTo>
                <a:close/>
                <a:moveTo>
                  <a:pt x="566455" y="218759"/>
                </a:moveTo>
                <a:lnTo>
                  <a:pt x="551725" y="218759"/>
                </a:lnTo>
                <a:lnTo>
                  <a:pt x="551725" y="303359"/>
                </a:lnTo>
                <a:lnTo>
                  <a:pt x="566455" y="303359"/>
                </a:lnTo>
                <a:lnTo>
                  <a:pt x="566455" y="218759"/>
                </a:lnTo>
                <a:close/>
                <a:moveTo>
                  <a:pt x="633530" y="216830"/>
                </a:moveTo>
                <a:cubicBezTo>
                  <a:pt x="623292" y="216830"/>
                  <a:pt x="615443" y="223256"/>
                  <a:pt x="610961" y="235939"/>
                </a:cubicBezTo>
                <a:lnTo>
                  <a:pt x="609520" y="218770"/>
                </a:lnTo>
                <a:lnTo>
                  <a:pt x="596873" y="218770"/>
                </a:lnTo>
                <a:lnTo>
                  <a:pt x="596873" y="303360"/>
                </a:lnTo>
                <a:lnTo>
                  <a:pt x="611603" y="303360"/>
                </a:lnTo>
                <a:lnTo>
                  <a:pt x="611603" y="255040"/>
                </a:lnTo>
                <a:cubicBezTo>
                  <a:pt x="615127" y="238831"/>
                  <a:pt x="621199" y="231276"/>
                  <a:pt x="631773" y="231276"/>
                </a:cubicBezTo>
                <a:cubicBezTo>
                  <a:pt x="634804" y="231276"/>
                  <a:pt x="636571" y="231603"/>
                  <a:pt x="639128" y="232246"/>
                </a:cubicBezTo>
                <a:lnTo>
                  <a:pt x="641853" y="217800"/>
                </a:lnTo>
                <a:cubicBezTo>
                  <a:pt x="639296" y="217156"/>
                  <a:pt x="636246" y="216830"/>
                  <a:pt x="633530" y="216830"/>
                </a:cubicBezTo>
                <a:close/>
                <a:moveTo>
                  <a:pt x="681558" y="216836"/>
                </a:moveTo>
                <a:cubicBezTo>
                  <a:pt x="664113" y="216836"/>
                  <a:pt x="651140" y="226629"/>
                  <a:pt x="651140" y="240115"/>
                </a:cubicBezTo>
                <a:cubicBezTo>
                  <a:pt x="651140" y="251987"/>
                  <a:pt x="658347" y="259859"/>
                  <a:pt x="676592" y="264671"/>
                </a:cubicBezTo>
                <a:cubicBezTo>
                  <a:pt x="692922" y="269008"/>
                  <a:pt x="697079" y="272216"/>
                  <a:pt x="697079" y="280563"/>
                </a:cubicBezTo>
                <a:cubicBezTo>
                  <a:pt x="697079" y="288584"/>
                  <a:pt x="690039" y="293406"/>
                  <a:pt x="678991" y="293406"/>
                </a:cubicBezTo>
                <a:cubicBezTo>
                  <a:pt x="669869" y="293406"/>
                  <a:pt x="662029" y="290356"/>
                  <a:pt x="655306" y="285217"/>
                </a:cubicBezTo>
                <a:lnTo>
                  <a:pt x="647467" y="294208"/>
                </a:lnTo>
                <a:cubicBezTo>
                  <a:pt x="654823" y="300624"/>
                  <a:pt x="665061" y="305287"/>
                  <a:pt x="679317" y="305287"/>
                </a:cubicBezTo>
                <a:cubicBezTo>
                  <a:pt x="696446" y="305287"/>
                  <a:pt x="712608" y="297257"/>
                  <a:pt x="712608" y="279602"/>
                </a:cubicBezTo>
                <a:cubicBezTo>
                  <a:pt x="712608" y="264830"/>
                  <a:pt x="702360" y="257770"/>
                  <a:pt x="684599" y="253274"/>
                </a:cubicBezTo>
                <a:cubicBezTo>
                  <a:pt x="670984" y="249740"/>
                  <a:pt x="666512" y="246531"/>
                  <a:pt x="666512" y="239630"/>
                </a:cubicBezTo>
                <a:cubicBezTo>
                  <a:pt x="666512" y="232887"/>
                  <a:pt x="672426" y="228559"/>
                  <a:pt x="682042" y="228559"/>
                </a:cubicBezTo>
                <a:cubicBezTo>
                  <a:pt x="689871" y="228559"/>
                  <a:pt x="696446" y="230956"/>
                  <a:pt x="703960" y="235778"/>
                </a:cubicBezTo>
                <a:lnTo>
                  <a:pt x="710209" y="226470"/>
                </a:lnTo>
                <a:cubicBezTo>
                  <a:pt x="702202" y="220371"/>
                  <a:pt x="693396" y="216836"/>
                  <a:pt x="681558" y="216836"/>
                </a:cubicBezTo>
                <a:close/>
                <a:moveTo>
                  <a:pt x="770396" y="289714"/>
                </a:moveTo>
                <a:cubicBezTo>
                  <a:pt x="766240" y="291962"/>
                  <a:pt x="762874" y="293090"/>
                  <a:pt x="759191" y="293090"/>
                </a:cubicBezTo>
                <a:cubicBezTo>
                  <a:pt x="751826" y="293090"/>
                  <a:pt x="749110" y="289071"/>
                  <a:pt x="749110" y="280565"/>
                </a:cubicBezTo>
                <a:lnTo>
                  <a:pt x="749110" y="230156"/>
                </a:lnTo>
                <a:lnTo>
                  <a:pt x="767514" y="230156"/>
                </a:lnTo>
                <a:lnTo>
                  <a:pt x="769123" y="218769"/>
                </a:lnTo>
                <a:lnTo>
                  <a:pt x="749110" y="218769"/>
                </a:lnTo>
                <a:lnTo>
                  <a:pt x="749110" y="197887"/>
                </a:lnTo>
                <a:lnTo>
                  <a:pt x="734380" y="199659"/>
                </a:lnTo>
                <a:lnTo>
                  <a:pt x="734380" y="218769"/>
                </a:lnTo>
                <a:lnTo>
                  <a:pt x="719660" y="218769"/>
                </a:lnTo>
                <a:lnTo>
                  <a:pt x="719660" y="230156"/>
                </a:lnTo>
                <a:lnTo>
                  <a:pt x="734380" y="230156"/>
                </a:lnTo>
                <a:lnTo>
                  <a:pt x="734380" y="281209"/>
                </a:lnTo>
                <a:cubicBezTo>
                  <a:pt x="734380" y="296942"/>
                  <a:pt x="742861" y="305289"/>
                  <a:pt x="757117" y="305289"/>
                </a:cubicBezTo>
                <a:cubicBezTo>
                  <a:pt x="764315" y="305289"/>
                  <a:pt x="770396" y="303359"/>
                  <a:pt x="776004" y="299507"/>
                </a:cubicBezTo>
                <a:lnTo>
                  <a:pt x="770396" y="289714"/>
                </a:lnTo>
                <a:close/>
                <a:moveTo>
                  <a:pt x="795049" y="282971"/>
                </a:moveTo>
                <a:cubicBezTo>
                  <a:pt x="788810" y="282971"/>
                  <a:pt x="784002" y="287952"/>
                  <a:pt x="784002" y="294051"/>
                </a:cubicBezTo>
                <a:cubicBezTo>
                  <a:pt x="784002" y="300309"/>
                  <a:pt x="788810" y="305289"/>
                  <a:pt x="795049" y="305289"/>
                </a:cubicBezTo>
                <a:cubicBezTo>
                  <a:pt x="801447" y="305289"/>
                  <a:pt x="806255" y="300309"/>
                  <a:pt x="806255" y="294051"/>
                </a:cubicBezTo>
                <a:cubicBezTo>
                  <a:pt x="806255" y="287952"/>
                  <a:pt x="801447" y="282971"/>
                  <a:pt x="795049" y="282971"/>
                </a:cubicBezTo>
                <a:close/>
                <a:moveTo>
                  <a:pt x="50421" y="189384"/>
                </a:moveTo>
                <a:cubicBezTo>
                  <a:pt x="21606" y="189384"/>
                  <a:pt x="0" y="210254"/>
                  <a:pt x="0" y="247496"/>
                </a:cubicBezTo>
                <a:cubicBezTo>
                  <a:pt x="0" y="285539"/>
                  <a:pt x="20325" y="306094"/>
                  <a:pt x="50735" y="306094"/>
                </a:cubicBezTo>
                <a:cubicBezTo>
                  <a:pt x="66101" y="306094"/>
                  <a:pt x="78107" y="299189"/>
                  <a:pt x="85477" y="291807"/>
                </a:cubicBezTo>
                <a:lnTo>
                  <a:pt x="73785" y="276710"/>
                </a:lnTo>
                <a:cubicBezTo>
                  <a:pt x="67232" y="281691"/>
                  <a:pt x="60821" y="285701"/>
                  <a:pt x="52017" y="285701"/>
                </a:cubicBezTo>
                <a:cubicBezTo>
                  <a:pt x="37296" y="285701"/>
                  <a:pt x="27533" y="274309"/>
                  <a:pt x="27533" y="247496"/>
                </a:cubicBezTo>
                <a:cubicBezTo>
                  <a:pt x="27533" y="220207"/>
                  <a:pt x="37448" y="208806"/>
                  <a:pt x="51694" y="208806"/>
                </a:cubicBezTo>
                <a:cubicBezTo>
                  <a:pt x="59225" y="208806"/>
                  <a:pt x="65466" y="211701"/>
                  <a:pt x="71705" y="216512"/>
                </a:cubicBezTo>
                <a:lnTo>
                  <a:pt x="84194" y="201586"/>
                </a:lnTo>
                <a:cubicBezTo>
                  <a:pt x="74915" y="193718"/>
                  <a:pt x="64829" y="189384"/>
                  <a:pt x="50421" y="189384"/>
                </a:cubicBezTo>
                <a:close/>
                <a:moveTo>
                  <a:pt x="119240" y="306094"/>
                </a:moveTo>
                <a:cubicBezTo>
                  <a:pt x="125328" y="306094"/>
                  <a:pt x="130770" y="304808"/>
                  <a:pt x="134607" y="303199"/>
                </a:cubicBezTo>
                <a:lnTo>
                  <a:pt x="129649" y="285225"/>
                </a:lnTo>
                <a:cubicBezTo>
                  <a:pt x="128528" y="285701"/>
                  <a:pt x="127246" y="286025"/>
                  <a:pt x="125489" y="286025"/>
                </a:cubicBezTo>
                <a:cubicBezTo>
                  <a:pt x="122450" y="286025"/>
                  <a:pt x="121168" y="284263"/>
                  <a:pt x="121168" y="280729"/>
                </a:cubicBezTo>
                <a:lnTo>
                  <a:pt x="121168" y="181517"/>
                </a:lnTo>
                <a:lnTo>
                  <a:pt x="95876" y="184250"/>
                </a:lnTo>
                <a:lnTo>
                  <a:pt x="95876" y="281691"/>
                </a:lnTo>
                <a:cubicBezTo>
                  <a:pt x="95876" y="297265"/>
                  <a:pt x="104519" y="306094"/>
                  <a:pt x="119240" y="306094"/>
                </a:cubicBezTo>
                <a:close/>
                <a:moveTo>
                  <a:pt x="181829" y="215389"/>
                </a:moveTo>
                <a:cubicBezTo>
                  <a:pt x="155902" y="215389"/>
                  <a:pt x="140212" y="233372"/>
                  <a:pt x="140212" y="260661"/>
                </a:cubicBezTo>
                <a:cubicBezTo>
                  <a:pt x="140212" y="289398"/>
                  <a:pt x="156064" y="306086"/>
                  <a:pt x="181829" y="306086"/>
                </a:cubicBezTo>
                <a:cubicBezTo>
                  <a:pt x="207758" y="306086"/>
                  <a:pt x="223447" y="288112"/>
                  <a:pt x="223447" y="260823"/>
                </a:cubicBezTo>
                <a:cubicBezTo>
                  <a:pt x="223447" y="232086"/>
                  <a:pt x="207758" y="215389"/>
                  <a:pt x="181829" y="215389"/>
                </a:cubicBezTo>
                <a:close/>
                <a:moveTo>
                  <a:pt x="181829" y="234010"/>
                </a:moveTo>
                <a:cubicBezTo>
                  <a:pt x="192078" y="234010"/>
                  <a:pt x="197197" y="241878"/>
                  <a:pt x="197197" y="260823"/>
                </a:cubicBezTo>
                <a:cubicBezTo>
                  <a:pt x="197197" y="279282"/>
                  <a:pt x="192078" y="287474"/>
                  <a:pt x="181829" y="287474"/>
                </a:cubicBezTo>
                <a:cubicBezTo>
                  <a:pt x="171582" y="287474"/>
                  <a:pt x="166463" y="279606"/>
                  <a:pt x="166463" y="260661"/>
                </a:cubicBezTo>
                <a:cubicBezTo>
                  <a:pt x="166463" y="242201"/>
                  <a:pt x="171582" y="234010"/>
                  <a:pt x="181829" y="234010"/>
                </a:cubicBezTo>
                <a:close/>
                <a:moveTo>
                  <a:pt x="311798" y="218123"/>
                </a:moveTo>
                <a:lnTo>
                  <a:pt x="286506" y="218123"/>
                </a:lnTo>
                <a:lnTo>
                  <a:pt x="286506" y="277359"/>
                </a:lnTo>
                <a:cubicBezTo>
                  <a:pt x="282831" y="283779"/>
                  <a:pt x="278025" y="287313"/>
                  <a:pt x="272745" y="287313"/>
                </a:cubicBezTo>
                <a:cubicBezTo>
                  <a:pt x="267464" y="287313"/>
                  <a:pt x="264577" y="284741"/>
                  <a:pt x="264577" y="276073"/>
                </a:cubicBezTo>
                <a:lnTo>
                  <a:pt x="264577" y="218123"/>
                </a:lnTo>
                <a:lnTo>
                  <a:pt x="239285" y="218123"/>
                </a:lnTo>
                <a:lnTo>
                  <a:pt x="239285" y="279283"/>
                </a:lnTo>
                <a:cubicBezTo>
                  <a:pt x="239285" y="295819"/>
                  <a:pt x="247130" y="306087"/>
                  <a:pt x="262981" y="306087"/>
                </a:cubicBezTo>
                <a:cubicBezTo>
                  <a:pt x="274188" y="306087"/>
                  <a:pt x="282508" y="301600"/>
                  <a:pt x="288748" y="292609"/>
                </a:cubicBezTo>
                <a:lnTo>
                  <a:pt x="289868" y="303362"/>
                </a:lnTo>
                <a:lnTo>
                  <a:pt x="311798" y="303362"/>
                </a:lnTo>
                <a:lnTo>
                  <a:pt x="311798" y="218123"/>
                </a:lnTo>
                <a:close/>
                <a:moveTo>
                  <a:pt x="382540" y="181520"/>
                </a:moveTo>
                <a:lnTo>
                  <a:pt x="382540" y="223420"/>
                </a:lnTo>
                <a:cubicBezTo>
                  <a:pt x="377572" y="218438"/>
                  <a:pt x="370696" y="215390"/>
                  <a:pt x="362367" y="215390"/>
                </a:cubicBezTo>
                <a:cubicBezTo>
                  <a:pt x="341397" y="215390"/>
                  <a:pt x="327635" y="234174"/>
                  <a:pt x="327635" y="260501"/>
                </a:cubicBezTo>
                <a:cubicBezTo>
                  <a:pt x="327635" y="288114"/>
                  <a:pt x="338358" y="306088"/>
                  <a:pt x="359974" y="306088"/>
                </a:cubicBezTo>
                <a:cubicBezTo>
                  <a:pt x="371494" y="306088"/>
                  <a:pt x="379177" y="300468"/>
                  <a:pt x="384145" y="293410"/>
                </a:cubicBezTo>
                <a:lnTo>
                  <a:pt x="385417" y="303363"/>
                </a:lnTo>
                <a:lnTo>
                  <a:pt x="407831" y="303363"/>
                </a:lnTo>
                <a:lnTo>
                  <a:pt x="407831" y="184244"/>
                </a:lnTo>
                <a:lnTo>
                  <a:pt x="382540" y="181520"/>
                </a:lnTo>
                <a:close/>
                <a:moveTo>
                  <a:pt x="367809" y="287466"/>
                </a:moveTo>
                <a:cubicBezTo>
                  <a:pt x="359651" y="287466"/>
                  <a:pt x="353886" y="281846"/>
                  <a:pt x="353886" y="260663"/>
                </a:cubicBezTo>
                <a:cubicBezTo>
                  <a:pt x="353886" y="241556"/>
                  <a:pt x="360287" y="233850"/>
                  <a:pt x="369253" y="233850"/>
                </a:cubicBezTo>
                <a:cubicBezTo>
                  <a:pt x="374856" y="233850"/>
                  <a:pt x="378693" y="236584"/>
                  <a:pt x="382540" y="241079"/>
                </a:cubicBezTo>
                <a:lnTo>
                  <a:pt x="382540" y="277836"/>
                </a:lnTo>
                <a:cubicBezTo>
                  <a:pt x="378541" y="284256"/>
                  <a:pt x="373897" y="287466"/>
                  <a:pt x="367809" y="287466"/>
                </a:cubicBezTo>
                <a:close/>
                <a:moveTo>
                  <a:pt x="84194" y="23443"/>
                </a:moveTo>
                <a:lnTo>
                  <a:pt x="71705" y="38368"/>
                </a:lnTo>
                <a:cubicBezTo>
                  <a:pt x="65466" y="33558"/>
                  <a:pt x="59225" y="30663"/>
                  <a:pt x="51694" y="30663"/>
                </a:cubicBezTo>
                <a:cubicBezTo>
                  <a:pt x="37448" y="30663"/>
                  <a:pt x="27533" y="42064"/>
                  <a:pt x="27533" y="69353"/>
                </a:cubicBezTo>
                <a:cubicBezTo>
                  <a:pt x="27533" y="96166"/>
                  <a:pt x="37296" y="107558"/>
                  <a:pt x="52017" y="107558"/>
                </a:cubicBezTo>
                <a:cubicBezTo>
                  <a:pt x="60821" y="107558"/>
                  <a:pt x="67232" y="103548"/>
                  <a:pt x="73785" y="98566"/>
                </a:cubicBezTo>
                <a:lnTo>
                  <a:pt x="85477" y="113663"/>
                </a:lnTo>
                <a:cubicBezTo>
                  <a:pt x="78107" y="121045"/>
                  <a:pt x="66101" y="127951"/>
                  <a:pt x="50735" y="127951"/>
                </a:cubicBezTo>
                <a:cubicBezTo>
                  <a:pt x="20325" y="127951"/>
                  <a:pt x="0" y="107406"/>
                  <a:pt x="0" y="69353"/>
                </a:cubicBezTo>
                <a:cubicBezTo>
                  <a:pt x="0" y="32110"/>
                  <a:pt x="21606" y="11241"/>
                  <a:pt x="50421" y="11241"/>
                </a:cubicBezTo>
                <a:cubicBezTo>
                  <a:pt x="64829" y="11241"/>
                  <a:pt x="74915" y="15575"/>
                  <a:pt x="84194" y="23443"/>
                </a:cubicBezTo>
                <a:close/>
                <a:moveTo>
                  <a:pt x="167423" y="39981"/>
                </a:moveTo>
                <a:lnTo>
                  <a:pt x="142132" y="39981"/>
                </a:lnTo>
                <a:lnTo>
                  <a:pt x="142132" y="99217"/>
                </a:lnTo>
                <a:cubicBezTo>
                  <a:pt x="138457" y="105637"/>
                  <a:pt x="133650" y="109171"/>
                  <a:pt x="128370" y="109171"/>
                </a:cubicBezTo>
                <a:cubicBezTo>
                  <a:pt x="123089" y="109171"/>
                  <a:pt x="120203" y="106599"/>
                  <a:pt x="120203" y="97931"/>
                </a:cubicBezTo>
                <a:lnTo>
                  <a:pt x="120203" y="39981"/>
                </a:lnTo>
                <a:lnTo>
                  <a:pt x="94911" y="39981"/>
                </a:lnTo>
                <a:lnTo>
                  <a:pt x="94911" y="101141"/>
                </a:lnTo>
                <a:cubicBezTo>
                  <a:pt x="94911" y="117676"/>
                  <a:pt x="102756" y="127954"/>
                  <a:pt x="118607" y="127954"/>
                </a:cubicBezTo>
                <a:cubicBezTo>
                  <a:pt x="129814" y="127954"/>
                  <a:pt x="138134" y="123458"/>
                  <a:pt x="144373" y="114466"/>
                </a:cubicBezTo>
                <a:lnTo>
                  <a:pt x="145494" y="125220"/>
                </a:lnTo>
                <a:lnTo>
                  <a:pt x="167424" y="125220"/>
                </a:lnTo>
                <a:lnTo>
                  <a:pt x="167424" y="39981"/>
                </a:lnTo>
                <a:close/>
                <a:moveTo>
                  <a:pt x="218806" y="37253"/>
                </a:moveTo>
                <a:cubicBezTo>
                  <a:pt x="197352" y="37253"/>
                  <a:pt x="184065" y="48645"/>
                  <a:pt x="184065" y="63256"/>
                </a:cubicBezTo>
                <a:cubicBezTo>
                  <a:pt x="184065" y="76420"/>
                  <a:pt x="192385" y="85087"/>
                  <a:pt x="209195" y="89898"/>
                </a:cubicBezTo>
                <a:cubicBezTo>
                  <a:pt x="224562" y="94241"/>
                  <a:pt x="227127" y="96003"/>
                  <a:pt x="227127" y="101785"/>
                </a:cubicBezTo>
                <a:cubicBezTo>
                  <a:pt x="227127" y="106919"/>
                  <a:pt x="222482" y="109805"/>
                  <a:pt x="214799" y="109805"/>
                </a:cubicBezTo>
                <a:cubicBezTo>
                  <a:pt x="206479" y="109805"/>
                  <a:pt x="198634" y="106443"/>
                  <a:pt x="192233" y="101461"/>
                </a:cubicBezTo>
                <a:lnTo>
                  <a:pt x="179905" y="115263"/>
                </a:lnTo>
                <a:cubicBezTo>
                  <a:pt x="188225" y="122816"/>
                  <a:pt x="200714" y="127950"/>
                  <a:pt x="215435" y="127950"/>
                </a:cubicBezTo>
                <a:cubicBezTo>
                  <a:pt x="236567" y="127950"/>
                  <a:pt x="253215" y="117511"/>
                  <a:pt x="253215" y="99851"/>
                </a:cubicBezTo>
                <a:cubicBezTo>
                  <a:pt x="253215" y="84602"/>
                  <a:pt x="243775" y="77544"/>
                  <a:pt x="226965" y="72724"/>
                </a:cubicBezTo>
                <a:cubicBezTo>
                  <a:pt x="211759" y="68228"/>
                  <a:pt x="209518" y="66304"/>
                  <a:pt x="209518" y="61808"/>
                </a:cubicBezTo>
                <a:cubicBezTo>
                  <a:pt x="209518" y="57960"/>
                  <a:pt x="212880" y="55389"/>
                  <a:pt x="219766" y="55389"/>
                </a:cubicBezTo>
                <a:cubicBezTo>
                  <a:pt x="227127" y="55389"/>
                  <a:pt x="234164" y="57798"/>
                  <a:pt x="240736" y="61970"/>
                </a:cubicBezTo>
                <a:lnTo>
                  <a:pt x="250015" y="47683"/>
                </a:lnTo>
                <a:cubicBezTo>
                  <a:pt x="242170" y="41263"/>
                  <a:pt x="231125" y="37253"/>
                  <a:pt x="218807" y="37253"/>
                </a:cubicBezTo>
                <a:close/>
                <a:moveTo>
                  <a:pt x="312597" y="105157"/>
                </a:moveTo>
                <a:cubicBezTo>
                  <a:pt x="309235" y="107081"/>
                  <a:pt x="306357" y="107881"/>
                  <a:pt x="303470" y="107881"/>
                </a:cubicBezTo>
                <a:cubicBezTo>
                  <a:pt x="298189" y="107881"/>
                  <a:pt x="295463" y="104995"/>
                  <a:pt x="295463" y="96803"/>
                </a:cubicBezTo>
                <a:lnTo>
                  <a:pt x="295463" y="57636"/>
                </a:lnTo>
                <a:lnTo>
                  <a:pt x="312274" y="57636"/>
                </a:lnTo>
                <a:lnTo>
                  <a:pt x="314999" y="39977"/>
                </a:lnTo>
                <a:lnTo>
                  <a:pt x="295463" y="39977"/>
                </a:lnTo>
                <a:lnTo>
                  <a:pt x="295463" y="18632"/>
                </a:lnTo>
                <a:lnTo>
                  <a:pt x="270181" y="21518"/>
                </a:lnTo>
                <a:lnTo>
                  <a:pt x="270181" y="39977"/>
                </a:lnTo>
                <a:lnTo>
                  <a:pt x="258177" y="39977"/>
                </a:lnTo>
                <a:lnTo>
                  <a:pt x="258177" y="57636"/>
                </a:lnTo>
                <a:lnTo>
                  <a:pt x="270181" y="57636"/>
                </a:lnTo>
                <a:lnTo>
                  <a:pt x="270181" y="97127"/>
                </a:lnTo>
                <a:cubicBezTo>
                  <a:pt x="270181" y="117196"/>
                  <a:pt x="279299" y="127788"/>
                  <a:pt x="298028" y="127950"/>
                </a:cubicBezTo>
                <a:cubicBezTo>
                  <a:pt x="305711" y="127950"/>
                  <a:pt x="314676" y="125702"/>
                  <a:pt x="321078" y="121206"/>
                </a:cubicBezTo>
                <a:lnTo>
                  <a:pt x="312597" y="105157"/>
                </a:lnTo>
                <a:close/>
                <a:moveTo>
                  <a:pt x="365094" y="37246"/>
                </a:moveTo>
                <a:cubicBezTo>
                  <a:pt x="339166" y="37246"/>
                  <a:pt x="323477" y="55229"/>
                  <a:pt x="323477" y="82519"/>
                </a:cubicBezTo>
                <a:cubicBezTo>
                  <a:pt x="323477" y="111256"/>
                  <a:pt x="339328" y="127953"/>
                  <a:pt x="365094" y="127953"/>
                </a:cubicBezTo>
                <a:cubicBezTo>
                  <a:pt x="391022" y="127953"/>
                  <a:pt x="406712" y="109970"/>
                  <a:pt x="406712" y="82681"/>
                </a:cubicBezTo>
                <a:cubicBezTo>
                  <a:pt x="406712" y="53944"/>
                  <a:pt x="391022" y="37246"/>
                  <a:pt x="365094" y="37246"/>
                </a:cubicBezTo>
                <a:close/>
                <a:moveTo>
                  <a:pt x="365094" y="55868"/>
                </a:moveTo>
                <a:cubicBezTo>
                  <a:pt x="375342" y="55868"/>
                  <a:pt x="380461" y="63735"/>
                  <a:pt x="380461" y="82681"/>
                </a:cubicBezTo>
                <a:cubicBezTo>
                  <a:pt x="380461" y="101140"/>
                  <a:pt x="375342" y="109331"/>
                  <a:pt x="365094" y="109331"/>
                </a:cubicBezTo>
                <a:cubicBezTo>
                  <a:pt x="354846" y="109331"/>
                  <a:pt x="349727" y="101464"/>
                  <a:pt x="349727" y="82519"/>
                </a:cubicBezTo>
                <a:cubicBezTo>
                  <a:pt x="349727" y="64059"/>
                  <a:pt x="354846" y="55868"/>
                  <a:pt x="365094" y="55868"/>
                </a:cubicBezTo>
                <a:close/>
                <a:moveTo>
                  <a:pt x="516511" y="37245"/>
                </a:moveTo>
                <a:cubicBezTo>
                  <a:pt x="505636" y="37245"/>
                  <a:pt x="497782" y="41741"/>
                  <a:pt x="491067" y="50733"/>
                </a:cubicBezTo>
                <a:cubicBezTo>
                  <a:pt x="487866" y="42065"/>
                  <a:pt x="480496" y="37245"/>
                  <a:pt x="471056" y="37245"/>
                </a:cubicBezTo>
                <a:cubicBezTo>
                  <a:pt x="460657" y="37245"/>
                  <a:pt x="452973" y="41579"/>
                  <a:pt x="446410" y="49933"/>
                </a:cubicBezTo>
                <a:lnTo>
                  <a:pt x="444644" y="39979"/>
                </a:lnTo>
                <a:lnTo>
                  <a:pt x="422553" y="39979"/>
                </a:lnTo>
                <a:lnTo>
                  <a:pt x="422553" y="125218"/>
                </a:lnTo>
                <a:lnTo>
                  <a:pt x="447845" y="125218"/>
                </a:lnTo>
                <a:lnTo>
                  <a:pt x="447845" y="66944"/>
                </a:lnTo>
                <a:cubicBezTo>
                  <a:pt x="451530" y="59886"/>
                  <a:pt x="455528" y="55867"/>
                  <a:pt x="460808" y="55867"/>
                </a:cubicBezTo>
                <a:cubicBezTo>
                  <a:pt x="464655" y="55867"/>
                  <a:pt x="468017" y="58277"/>
                  <a:pt x="468017" y="67268"/>
                </a:cubicBezTo>
                <a:lnTo>
                  <a:pt x="468017" y="125218"/>
                </a:lnTo>
                <a:lnTo>
                  <a:pt x="493299" y="125218"/>
                </a:lnTo>
                <a:lnTo>
                  <a:pt x="493299" y="66944"/>
                </a:lnTo>
                <a:cubicBezTo>
                  <a:pt x="496984" y="59886"/>
                  <a:pt x="500830" y="55867"/>
                  <a:pt x="506272" y="55867"/>
                </a:cubicBezTo>
                <a:cubicBezTo>
                  <a:pt x="510109" y="55867"/>
                  <a:pt x="513471" y="58277"/>
                  <a:pt x="513471" y="67268"/>
                </a:cubicBezTo>
                <a:lnTo>
                  <a:pt x="513471" y="125218"/>
                </a:lnTo>
                <a:lnTo>
                  <a:pt x="538763" y="125218"/>
                </a:lnTo>
                <a:lnTo>
                  <a:pt x="538763" y="62934"/>
                </a:lnTo>
                <a:cubicBezTo>
                  <a:pt x="538763" y="46723"/>
                  <a:pt x="529636" y="37245"/>
                  <a:pt x="516511" y="37245"/>
                </a:cubicBezTo>
                <a:close/>
                <a:moveTo>
                  <a:pt x="633514" y="80918"/>
                </a:moveTo>
                <a:cubicBezTo>
                  <a:pt x="633514" y="53305"/>
                  <a:pt x="618631" y="37246"/>
                  <a:pt x="594299" y="37246"/>
                </a:cubicBezTo>
                <a:cubicBezTo>
                  <a:pt x="568533" y="37246"/>
                  <a:pt x="554600" y="57477"/>
                  <a:pt x="554600" y="83004"/>
                </a:cubicBezTo>
                <a:cubicBezTo>
                  <a:pt x="554600" y="109646"/>
                  <a:pt x="569008" y="127953"/>
                  <a:pt x="597338" y="127953"/>
                </a:cubicBezTo>
                <a:cubicBezTo>
                  <a:pt x="611109" y="127953"/>
                  <a:pt x="621994" y="122809"/>
                  <a:pt x="630475" y="116066"/>
                </a:cubicBezTo>
                <a:lnTo>
                  <a:pt x="620075" y="101940"/>
                </a:lnTo>
                <a:cubicBezTo>
                  <a:pt x="612705" y="107084"/>
                  <a:pt x="606627" y="109484"/>
                  <a:pt x="599742" y="109484"/>
                </a:cubicBezTo>
                <a:cubicBezTo>
                  <a:pt x="589342" y="109484"/>
                  <a:pt x="582133" y="105312"/>
                  <a:pt x="580376" y="90062"/>
                </a:cubicBezTo>
                <a:lnTo>
                  <a:pt x="633039" y="90062"/>
                </a:lnTo>
                <a:cubicBezTo>
                  <a:pt x="633352" y="87491"/>
                  <a:pt x="633514" y="83643"/>
                  <a:pt x="633514" y="80918"/>
                </a:cubicBezTo>
                <a:close/>
                <a:moveTo>
                  <a:pt x="608707" y="74813"/>
                </a:moveTo>
                <a:lnTo>
                  <a:pt x="580376" y="74813"/>
                </a:lnTo>
                <a:cubicBezTo>
                  <a:pt x="581497" y="59563"/>
                  <a:pt x="586454" y="54106"/>
                  <a:pt x="594945" y="54106"/>
                </a:cubicBezTo>
                <a:cubicBezTo>
                  <a:pt x="605022" y="54106"/>
                  <a:pt x="608545" y="62135"/>
                  <a:pt x="608707" y="73689"/>
                </a:cubicBezTo>
                <a:lnTo>
                  <a:pt x="608707" y="74813"/>
                </a:lnTo>
                <a:close/>
                <a:moveTo>
                  <a:pt x="759789" y="125220"/>
                </a:moveTo>
                <a:lnTo>
                  <a:pt x="775003" y="125220"/>
                </a:lnTo>
                <a:lnTo>
                  <a:pt x="775003" y="76583"/>
                </a:lnTo>
                <a:lnTo>
                  <a:pt x="811010" y="76583"/>
                </a:lnTo>
                <a:lnTo>
                  <a:pt x="811010" y="64543"/>
                </a:lnTo>
                <a:lnTo>
                  <a:pt x="775003" y="64543"/>
                </a:lnTo>
                <a:lnTo>
                  <a:pt x="775003" y="26818"/>
                </a:lnTo>
                <a:lnTo>
                  <a:pt x="816608" y="26818"/>
                </a:lnTo>
                <a:lnTo>
                  <a:pt x="818375" y="14610"/>
                </a:lnTo>
                <a:lnTo>
                  <a:pt x="759789" y="14610"/>
                </a:lnTo>
                <a:lnTo>
                  <a:pt x="759789" y="125220"/>
                </a:lnTo>
                <a:close/>
                <a:moveTo>
                  <a:pt x="844802" y="0"/>
                </a:moveTo>
                <a:cubicBezTo>
                  <a:pt x="838711" y="0"/>
                  <a:pt x="834555" y="4337"/>
                  <a:pt x="834555" y="10119"/>
                </a:cubicBezTo>
                <a:cubicBezTo>
                  <a:pt x="834555" y="15743"/>
                  <a:pt x="838711" y="20070"/>
                  <a:pt x="844802" y="20070"/>
                </a:cubicBezTo>
                <a:cubicBezTo>
                  <a:pt x="851042" y="20070"/>
                  <a:pt x="855199" y="15743"/>
                  <a:pt x="855199" y="10119"/>
                </a:cubicBezTo>
                <a:cubicBezTo>
                  <a:pt x="855199" y="4337"/>
                  <a:pt x="851042" y="0"/>
                  <a:pt x="844802" y="0"/>
                </a:cubicBezTo>
                <a:close/>
                <a:moveTo>
                  <a:pt x="852316" y="40616"/>
                </a:moveTo>
                <a:lnTo>
                  <a:pt x="837586" y="40616"/>
                </a:lnTo>
                <a:lnTo>
                  <a:pt x="837586" y="125215"/>
                </a:lnTo>
                <a:lnTo>
                  <a:pt x="852316" y="125215"/>
                </a:lnTo>
                <a:lnTo>
                  <a:pt x="852316" y="40616"/>
                </a:lnTo>
                <a:close/>
                <a:moveTo>
                  <a:pt x="919391" y="38687"/>
                </a:moveTo>
                <a:cubicBezTo>
                  <a:pt x="909153" y="38687"/>
                  <a:pt x="901304" y="45112"/>
                  <a:pt x="896822" y="57796"/>
                </a:cubicBezTo>
                <a:lnTo>
                  <a:pt x="895381" y="40627"/>
                </a:lnTo>
                <a:lnTo>
                  <a:pt x="882734" y="40627"/>
                </a:lnTo>
                <a:lnTo>
                  <a:pt x="882734" y="125216"/>
                </a:lnTo>
                <a:lnTo>
                  <a:pt x="897464" y="125216"/>
                </a:lnTo>
                <a:lnTo>
                  <a:pt x="897464" y="76897"/>
                </a:lnTo>
                <a:cubicBezTo>
                  <a:pt x="900988" y="60687"/>
                  <a:pt x="907061" y="53133"/>
                  <a:pt x="917634" y="53133"/>
                </a:cubicBezTo>
                <a:cubicBezTo>
                  <a:pt x="920666" y="53133"/>
                  <a:pt x="922433" y="53460"/>
                  <a:pt x="924990" y="54103"/>
                </a:cubicBezTo>
                <a:lnTo>
                  <a:pt x="927715" y="39657"/>
                </a:lnTo>
                <a:cubicBezTo>
                  <a:pt x="925157" y="39013"/>
                  <a:pt x="922107" y="38687"/>
                  <a:pt x="919392" y="38687"/>
                </a:cubicBezTo>
                <a:close/>
                <a:moveTo>
                  <a:pt x="967419" y="38693"/>
                </a:moveTo>
                <a:cubicBezTo>
                  <a:pt x="949974" y="38693"/>
                  <a:pt x="937001" y="48486"/>
                  <a:pt x="937001" y="61972"/>
                </a:cubicBezTo>
                <a:cubicBezTo>
                  <a:pt x="937001" y="73844"/>
                  <a:pt x="944208" y="81716"/>
                  <a:pt x="962454" y="86528"/>
                </a:cubicBezTo>
                <a:cubicBezTo>
                  <a:pt x="978783" y="90865"/>
                  <a:pt x="982940" y="94073"/>
                  <a:pt x="982940" y="102420"/>
                </a:cubicBezTo>
                <a:cubicBezTo>
                  <a:pt x="982940" y="110441"/>
                  <a:pt x="975900" y="115262"/>
                  <a:pt x="964853" y="115262"/>
                </a:cubicBezTo>
                <a:cubicBezTo>
                  <a:pt x="955730" y="115262"/>
                  <a:pt x="947891" y="112213"/>
                  <a:pt x="941168" y="107074"/>
                </a:cubicBezTo>
                <a:lnTo>
                  <a:pt x="933328" y="116064"/>
                </a:lnTo>
                <a:cubicBezTo>
                  <a:pt x="940684" y="122481"/>
                  <a:pt x="950923" y="127144"/>
                  <a:pt x="965178" y="127144"/>
                </a:cubicBezTo>
                <a:cubicBezTo>
                  <a:pt x="982308" y="127144"/>
                  <a:pt x="998470" y="119114"/>
                  <a:pt x="998470" y="101459"/>
                </a:cubicBezTo>
                <a:cubicBezTo>
                  <a:pt x="998470" y="86686"/>
                  <a:pt x="988222" y="79626"/>
                  <a:pt x="970460" y="75131"/>
                </a:cubicBezTo>
                <a:cubicBezTo>
                  <a:pt x="956846" y="71596"/>
                  <a:pt x="952373" y="68388"/>
                  <a:pt x="952373" y="61487"/>
                </a:cubicBezTo>
                <a:cubicBezTo>
                  <a:pt x="952373" y="54744"/>
                  <a:pt x="958287" y="50416"/>
                  <a:pt x="967903" y="50416"/>
                </a:cubicBezTo>
                <a:cubicBezTo>
                  <a:pt x="975733" y="50416"/>
                  <a:pt x="982308" y="52813"/>
                  <a:pt x="989821" y="57635"/>
                </a:cubicBezTo>
                <a:lnTo>
                  <a:pt x="996070" y="48327"/>
                </a:lnTo>
                <a:cubicBezTo>
                  <a:pt x="988064" y="42228"/>
                  <a:pt x="979258" y="38693"/>
                  <a:pt x="967419" y="38693"/>
                </a:cubicBezTo>
                <a:close/>
                <a:moveTo>
                  <a:pt x="1056258" y="111571"/>
                </a:moveTo>
                <a:cubicBezTo>
                  <a:pt x="1052101" y="113819"/>
                  <a:pt x="1048735" y="114947"/>
                  <a:pt x="1045053" y="114947"/>
                </a:cubicBezTo>
                <a:cubicBezTo>
                  <a:pt x="1037688" y="114947"/>
                  <a:pt x="1034972" y="110927"/>
                  <a:pt x="1034972" y="102422"/>
                </a:cubicBezTo>
                <a:lnTo>
                  <a:pt x="1034972" y="52013"/>
                </a:lnTo>
                <a:lnTo>
                  <a:pt x="1053375" y="52013"/>
                </a:lnTo>
                <a:lnTo>
                  <a:pt x="1054984" y="40626"/>
                </a:lnTo>
                <a:lnTo>
                  <a:pt x="1034972" y="40626"/>
                </a:lnTo>
                <a:lnTo>
                  <a:pt x="1034972" y="19744"/>
                </a:lnTo>
                <a:lnTo>
                  <a:pt x="1020242" y="21516"/>
                </a:lnTo>
                <a:lnTo>
                  <a:pt x="1020242" y="40626"/>
                </a:lnTo>
                <a:lnTo>
                  <a:pt x="1005521" y="40626"/>
                </a:lnTo>
                <a:lnTo>
                  <a:pt x="1005521" y="52013"/>
                </a:lnTo>
                <a:lnTo>
                  <a:pt x="1020242" y="52013"/>
                </a:lnTo>
                <a:lnTo>
                  <a:pt x="1020242" y="103065"/>
                </a:lnTo>
                <a:cubicBezTo>
                  <a:pt x="1020242" y="118799"/>
                  <a:pt x="1028723" y="127146"/>
                  <a:pt x="1042979" y="127146"/>
                </a:cubicBezTo>
                <a:cubicBezTo>
                  <a:pt x="1050176" y="127146"/>
                  <a:pt x="1056258" y="125216"/>
                  <a:pt x="1061866" y="121364"/>
                </a:cubicBezTo>
                <a:lnTo>
                  <a:pt x="1056258" y="111571"/>
                </a:lnTo>
                <a:close/>
                <a:moveTo>
                  <a:pt x="1080911" y="104828"/>
                </a:moveTo>
                <a:cubicBezTo>
                  <a:pt x="1074671" y="104828"/>
                  <a:pt x="1069863" y="109808"/>
                  <a:pt x="1069863" y="115908"/>
                </a:cubicBezTo>
                <a:cubicBezTo>
                  <a:pt x="1069863" y="122166"/>
                  <a:pt x="1074671" y="127146"/>
                  <a:pt x="1080911" y="127146"/>
                </a:cubicBezTo>
                <a:cubicBezTo>
                  <a:pt x="1087309" y="127146"/>
                  <a:pt x="1092117" y="122166"/>
                  <a:pt x="1092117" y="115908"/>
                </a:cubicBezTo>
                <a:cubicBezTo>
                  <a:pt x="1092117" y="109808"/>
                  <a:pt x="1087309" y="104828"/>
                  <a:pt x="1080911" y="104828"/>
                </a:cubicBezTo>
                <a:close/>
                <a:moveTo>
                  <a:pt x="695451" y="37569"/>
                </a:moveTo>
                <a:cubicBezTo>
                  <a:pt x="685687" y="37569"/>
                  <a:pt x="677359" y="44637"/>
                  <a:pt x="673521" y="56514"/>
                </a:cubicBezTo>
                <a:lnTo>
                  <a:pt x="671432" y="39979"/>
                </a:lnTo>
                <a:lnTo>
                  <a:pt x="649351" y="39979"/>
                </a:lnTo>
                <a:lnTo>
                  <a:pt x="649351" y="125218"/>
                </a:lnTo>
                <a:lnTo>
                  <a:pt x="674642" y="125218"/>
                </a:lnTo>
                <a:lnTo>
                  <a:pt x="674642" y="83003"/>
                </a:lnTo>
                <a:cubicBezTo>
                  <a:pt x="677359" y="70002"/>
                  <a:pt x="681680" y="62134"/>
                  <a:pt x="692250" y="62134"/>
                </a:cubicBezTo>
                <a:cubicBezTo>
                  <a:pt x="695128" y="62134"/>
                  <a:pt x="697208" y="62610"/>
                  <a:pt x="699933" y="63258"/>
                </a:cubicBezTo>
                <a:lnTo>
                  <a:pt x="703932" y="38693"/>
                </a:lnTo>
                <a:cubicBezTo>
                  <a:pt x="701216" y="37893"/>
                  <a:pt x="698651" y="37569"/>
                  <a:pt x="695451" y="37569"/>
                </a:cubicBezTo>
                <a:close/>
              </a:path>
            </a:pathLst>
          </a:custGeom>
          <a:solidFill>
            <a:schemeClr val="tx1"/>
          </a:solidFill>
          <a:ln w="9442" cap="flat">
            <a:noFill/>
            <a:prstDash val="solid"/>
            <a:miter/>
          </a:ln>
        </p:spPr>
        <p:txBody>
          <a:bodyPr rtlCol="0" anchor="ctr"/>
          <a:lstStyle/>
          <a:p>
            <a:endParaRPr lang="en-US" sz="3600"/>
          </a:p>
        </p:txBody>
      </p:sp>
    </p:spTree>
    <p:extLst>
      <p:ext uri="{BB962C8B-B14F-4D97-AF65-F5344CB8AC3E}">
        <p14:creationId xmlns:p14="http://schemas.microsoft.com/office/powerpoint/2010/main" val="2342993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1_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959338555"/>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showMasterSp="0" preserve="1" userDrawn="1">
  <p:cSld name="Single Column - Simpl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2781301"/>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lvl1pPr>
              <a:defRPr>
                <a:solidFill>
                  <a:schemeClr val="tx1"/>
                </a:solidFill>
              </a:defRPr>
            </a:lvl1pPr>
          </a:lstStyle>
          <a:p>
            <a:r>
              <a:rPr lang="en-US"/>
              <a:t>Click to edit Master title style</a:t>
            </a:r>
          </a:p>
        </p:txBody>
      </p:sp>
      <p:sp>
        <p:nvSpPr>
          <p:cNvPr id="8" name="Footer Placeholder 4">
            <a:extLst>
              <a:ext uri="{FF2B5EF4-FFF2-40B4-BE49-F238E27FC236}">
                <a16:creationId xmlns:a16="http://schemas.microsoft.com/office/drawing/2014/main" id="{511B4943-9DA0-F14A-892A-9BC4A5B1D48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A91D94F9-4B13-7A48-9521-67EFFE4F91B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Graphic 2">
            <a:extLst>
              <a:ext uri="{FF2B5EF4-FFF2-40B4-BE49-F238E27FC236}">
                <a16:creationId xmlns:a16="http://schemas.microsoft.com/office/drawing/2014/main" id="{00D83E88-A286-BF1F-719B-20F1C44734C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cxnSp>
        <p:nvCxnSpPr>
          <p:cNvPr id="2" name="Straight Connector 1">
            <a:extLst>
              <a:ext uri="{FF2B5EF4-FFF2-40B4-BE49-F238E27FC236}">
                <a16:creationId xmlns:a16="http://schemas.microsoft.com/office/drawing/2014/main" id="{9720D620-A98D-8E56-CDB8-0DC6E5725E42}"/>
              </a:ext>
            </a:extLst>
          </p:cNvPr>
          <p:cNvCxnSpPr>
            <a:cxnSpLocks/>
          </p:cNvCxnSpPr>
          <p:nvPr userDrawn="1"/>
        </p:nvCxnSpPr>
        <p:spPr>
          <a:xfrm flipV="1">
            <a:off x="0" y="2151390"/>
            <a:ext cx="24384000" cy="147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0877093"/>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Single column Simple - with subhea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723900" y="3739563"/>
            <a:ext cx="22936200" cy="3488134"/>
          </a:xfrm>
        </p:spPr>
        <p:txBody>
          <a:bodyPr vert="horz" lIns="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2" y="537179"/>
            <a:ext cx="22991108" cy="968086"/>
          </a:xfrm>
        </p:spPr>
        <p:txBody>
          <a:bodyPr>
            <a:spAutoFit/>
          </a:bodyPr>
          <a:lstStyle/>
          <a:p>
            <a:r>
              <a:rPr lang="en-US"/>
              <a:t>Click to edit Master title style</a:t>
            </a:r>
          </a:p>
        </p:txBody>
      </p:sp>
      <p:sp>
        <p:nvSpPr>
          <p:cNvPr id="8" name="Footer Placeholder 4">
            <a:extLst>
              <a:ext uri="{FF2B5EF4-FFF2-40B4-BE49-F238E27FC236}">
                <a16:creationId xmlns:a16="http://schemas.microsoft.com/office/drawing/2014/main" id="{674407F1-A2F8-A84F-8E52-03F123F4BEF5}"/>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C88CD766-7446-9844-8381-BB1A5421A8C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
        <p:nvSpPr>
          <p:cNvPr id="3" name="Text Placeholder 2">
            <a:extLst>
              <a:ext uri="{FF2B5EF4-FFF2-40B4-BE49-F238E27FC236}">
                <a16:creationId xmlns:a16="http://schemas.microsoft.com/office/drawing/2014/main" id="{3D5AAC42-935B-0E18-6CAC-AB1A022B59F1}"/>
              </a:ext>
            </a:extLst>
          </p:cNvPr>
          <p:cNvSpPr>
            <a:spLocks noGrp="1"/>
          </p:cNvSpPr>
          <p:nvPr>
            <p:ph type="body" sz="quarter" idx="13" hasCustomPrompt="1"/>
          </p:nvPr>
        </p:nvSpPr>
        <p:spPr>
          <a:xfrm>
            <a:off x="341756" y="2781300"/>
            <a:ext cx="22936200" cy="584776"/>
          </a:xfrm>
        </p:spPr>
        <p:txBody>
          <a:bodyPr/>
          <a:lstStyle>
            <a:lvl1pPr marL="0" indent="0">
              <a:buNone/>
              <a:defRPr sz="3800" b="1"/>
            </a:lvl1pPr>
            <a:lvl2pPr marL="566736" indent="0">
              <a:buNone/>
              <a:defRPr/>
            </a:lvl2pPr>
          </a:lstStyle>
          <a:p>
            <a:r>
              <a:rPr lang="en-US"/>
              <a:t>Subtitle or callout if needed, all titles and subtitles are sentence case </a:t>
            </a:r>
          </a:p>
        </p:txBody>
      </p:sp>
    </p:spTree>
    <p:extLst>
      <p:ext uri="{BB962C8B-B14F-4D97-AF65-F5344CB8AC3E}">
        <p14:creationId xmlns:p14="http://schemas.microsoft.com/office/powerpoint/2010/main" val="2903036756"/>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38F25E-FF38-834D-521D-D61E09DDD2AB}"/>
              </a:ext>
            </a:extLst>
          </p:cNvPr>
          <p:cNvGrpSpPr/>
          <p:nvPr userDrawn="1"/>
        </p:nvGrpSpPr>
        <p:grpSpPr>
          <a:xfrm>
            <a:off x="1" y="-4805"/>
            <a:ext cx="25334686" cy="2199366"/>
            <a:chOff x="0" y="-2403"/>
            <a:chExt cx="12667343" cy="1099683"/>
          </a:xfrm>
        </p:grpSpPr>
        <p:sp>
          <p:nvSpPr>
            <p:cNvPr id="7" name="Rectangle 6">
              <a:extLst>
                <a:ext uri="{FF2B5EF4-FFF2-40B4-BE49-F238E27FC236}">
                  <a16:creationId xmlns:a16="http://schemas.microsoft.com/office/drawing/2014/main" id="{7051444A-8DCA-DDB2-763E-349707F988F2}"/>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10" name="Picture 9">
              <a:extLst>
                <a:ext uri="{FF2B5EF4-FFF2-40B4-BE49-F238E27FC236}">
                  <a16:creationId xmlns:a16="http://schemas.microsoft.com/office/drawing/2014/main" id="{528A3E14-429A-2111-9034-26AFC851FE0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130874459"/>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showMasterSp="0" preserve="1" userDrawn="1">
  <p:cSld name="Title Only_2 lin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F274A9-9392-1E6D-7D16-896285565278}"/>
              </a:ext>
            </a:extLst>
          </p:cNvPr>
          <p:cNvSpPr/>
          <p:nvPr userDrawn="1"/>
        </p:nvSpPr>
        <p:spPr>
          <a:xfrm>
            <a:off x="0" y="0"/>
            <a:ext cx="24384000" cy="308008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4" name="Picture 3">
            <a:extLst>
              <a:ext uri="{FF2B5EF4-FFF2-40B4-BE49-F238E27FC236}">
                <a16:creationId xmlns:a16="http://schemas.microsoft.com/office/drawing/2014/main" id="{4F67146D-3C58-F6B2-201A-B16919DBC4A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8203113" y="-16457"/>
            <a:ext cx="17160602" cy="3096542"/>
          </a:xfrm>
          <a:prstGeom prst="rect">
            <a:avLst/>
          </a:prstGeom>
        </p:spPr>
      </p:pic>
      <p:sp>
        <p:nvSpPr>
          <p:cNvPr id="2" name="Title 1">
            <a:extLst>
              <a:ext uri="{FF2B5EF4-FFF2-40B4-BE49-F238E27FC236}">
                <a16:creationId xmlns:a16="http://schemas.microsoft.com/office/drawing/2014/main" id="{822F0610-AC55-8F44-A451-3A709DDC1998}"/>
              </a:ext>
            </a:extLst>
          </p:cNvPr>
          <p:cNvSpPr>
            <a:spLocks noGrp="1"/>
          </p:cNvSpPr>
          <p:nvPr>
            <p:ph type="title"/>
          </p:nvPr>
        </p:nvSpPr>
        <p:spPr>
          <a:xfrm>
            <a:off x="668992" y="537178"/>
            <a:ext cx="22991108" cy="968150"/>
          </a:xfrm>
        </p:spPr>
        <p:txBody>
          <a:bodyPr/>
          <a:lstStyle/>
          <a:p>
            <a:r>
              <a:rPr lang="en-US"/>
              <a:t>Click to edit Master title style</a:t>
            </a:r>
          </a:p>
        </p:txBody>
      </p:sp>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502484887"/>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2884396-8B33-D54E-9D5C-8DF3AC225E8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D8E8B6FE-1EA1-4A45-8B59-C7565AB84AF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2E51BDC4-21D2-2742-B5B2-528B8B14F91A}"/>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247559096"/>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Single Column">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1716024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10728346" cy="968086"/>
          </a:xfrm>
        </p:spPr>
        <p:txBody>
          <a:bodyPr wrap="square">
            <a:spAutoFit/>
          </a:bodyPr>
          <a:lstStyle/>
          <a:p>
            <a:r>
              <a:rPr lang="en-US"/>
              <a:t>Click to edit Master title style</a:t>
            </a:r>
          </a:p>
        </p:txBody>
      </p:sp>
      <p:sp>
        <p:nvSpPr>
          <p:cNvPr id="8" name="Footer Placeholder 4">
            <a:extLst>
              <a:ext uri="{FF2B5EF4-FFF2-40B4-BE49-F238E27FC236}">
                <a16:creationId xmlns:a16="http://schemas.microsoft.com/office/drawing/2014/main" id="{7D4F1EC5-6BB8-4049-A825-325656113ED2}"/>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E7854F2A-2BBB-9446-B185-6215C140A16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8972364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Double Column">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08EE2D0-C5F7-40AF-BD24-47EFB4DD9E34}"/>
              </a:ext>
            </a:extLst>
          </p:cNvPr>
          <p:cNvSpPr>
            <a:spLocks noGrp="1"/>
          </p:cNvSpPr>
          <p:nvPr>
            <p:ph idx="1"/>
          </p:nvPr>
        </p:nvSpPr>
        <p:spPr>
          <a:xfrm>
            <a:off x="16059154" y="2777165"/>
            <a:ext cx="7600948" cy="3488134"/>
          </a:xfrm>
          <a:prstGeom prst="rect">
            <a:avLst/>
          </a:prstGeom>
        </p:spPr>
        <p:txBody>
          <a:bodyPr vert="horz"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5"/>
            <a:ext cx="7315200" cy="3488134"/>
          </a:xfrm>
        </p:spPr>
        <p:txBody>
          <a:bodyPr vert="horz" lIns="182880" tIns="0" rIns="0" bIns="0" rtlCol="0">
            <a:spAutoFit/>
          </a:bodyPr>
          <a:lstStyle>
            <a:lvl1pPr>
              <a:defRPr lang="en-US" dirty="0"/>
            </a:lvl1pPr>
            <a:lvl2pPr>
              <a:defRPr lang="en-US" dirty="0"/>
            </a:lvl2pPr>
            <a:lvl3pPr>
              <a:defRPr lang="en-US" dirty="0"/>
            </a:lvl3pPr>
            <a:lvl4pPr>
              <a:defRPr lang="en-US" dirty="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5800" y="2777164"/>
            <a:ext cx="5468112" cy="2339102"/>
          </a:xfrm>
        </p:spPr>
        <p:txBody>
          <a:bodyPr vert="horz" lIns="0" tIns="0" rIns="0" bIns="0" rtlCol="0">
            <a:spAutoFit/>
          </a:bodyPr>
          <a:lstStyle>
            <a:lvl1pPr>
              <a:defRPr lang="en-US" sz="3800" dirty="0">
                <a:ln w="3175">
                  <a:noFill/>
                </a:ln>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9E8E5F5F-E11E-C44F-B488-CB35674682B5}"/>
              </a:ext>
            </a:extLst>
          </p:cNvPr>
          <p:cNvSpPr>
            <a:spLocks noGrp="1"/>
          </p:cNvSpPr>
          <p:nvPr>
            <p:ph type="title"/>
          </p:nvPr>
        </p:nvSpPr>
        <p:spPr/>
        <p:txBody>
          <a:bodyPr>
            <a:spAutoFit/>
          </a:bodyPr>
          <a:lstStyle>
            <a:lvl1pPr>
              <a:defRPr/>
            </a:lvl1pPr>
          </a:lstStyle>
          <a:p>
            <a:r>
              <a:rPr lang="en-US"/>
              <a:t>Click to edit Master title style</a:t>
            </a:r>
          </a:p>
        </p:txBody>
      </p:sp>
      <p:sp>
        <p:nvSpPr>
          <p:cNvPr id="11" name="Footer Placeholder 4">
            <a:extLst>
              <a:ext uri="{FF2B5EF4-FFF2-40B4-BE49-F238E27FC236}">
                <a16:creationId xmlns:a16="http://schemas.microsoft.com/office/drawing/2014/main" id="{BD398495-5CA8-A54C-9A38-9431C227BC1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2" name="Slide Number Placeholder 5">
            <a:extLst>
              <a:ext uri="{FF2B5EF4-FFF2-40B4-BE49-F238E27FC236}">
                <a16:creationId xmlns:a16="http://schemas.microsoft.com/office/drawing/2014/main" id="{A111FE5C-B17D-C948-BFCC-6ED5E14CB169}"/>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0" name="Straight Connector 9">
            <a:extLst>
              <a:ext uri="{FF2B5EF4-FFF2-40B4-BE49-F238E27FC236}">
                <a16:creationId xmlns:a16="http://schemas.microsoft.com/office/drawing/2014/main" id="{A44C8227-D505-9341-8E5C-224832E8A51F}"/>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2652136"/>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D15CAE43-FFC5-5941-A364-DB8503717B41}"/>
              </a:ext>
            </a:extLst>
          </p:cNvPr>
          <p:cNvSpPr>
            <a:spLocks noGrp="1"/>
          </p:cNvSpPr>
          <p:nvPr>
            <p:ph type="chart" sz="quarter" idx="14"/>
          </p:nvPr>
        </p:nvSpPr>
        <p:spPr>
          <a:xfrm>
            <a:off x="6454140" y="7086755"/>
            <a:ext cx="17183100" cy="553998"/>
          </a:xfrm>
        </p:spPr>
        <p:txBody>
          <a:bodyPr>
            <a:spAutoFit/>
          </a:bodyPr>
          <a:lstStyle/>
          <a:p>
            <a:r>
              <a:rPr lang="en-US"/>
              <a:t>Click icon to add chart</a:t>
            </a:r>
          </a:p>
        </p:txBody>
      </p:sp>
      <p:sp>
        <p:nvSpPr>
          <p:cNvPr id="5" name="Title 4">
            <a:extLst>
              <a:ext uri="{FF2B5EF4-FFF2-40B4-BE49-F238E27FC236}">
                <a16:creationId xmlns:a16="http://schemas.microsoft.com/office/drawing/2014/main" id="{1A166DE4-81E7-7D4A-A206-F89CC138B7CD}"/>
              </a:ext>
            </a:extLst>
          </p:cNvPr>
          <p:cNvSpPr>
            <a:spLocks noGrp="1"/>
          </p:cNvSpPr>
          <p:nvPr>
            <p:ph type="title" hasCustomPrompt="1"/>
          </p:nvPr>
        </p:nvSpPr>
        <p:spPr>
          <a:xfrm>
            <a:off x="668995" y="537179"/>
            <a:ext cx="5466338" cy="968086"/>
          </a:xfrm>
        </p:spPr>
        <p:txBody>
          <a:bodyPr>
            <a:spAutoFit/>
          </a:bodyPr>
          <a:lstStyle/>
          <a:p>
            <a:r>
              <a:rPr lang="en-US"/>
              <a:t>Chart Slide</a:t>
            </a:r>
          </a:p>
        </p:txBody>
      </p:sp>
      <p:sp>
        <p:nvSpPr>
          <p:cNvPr id="12" name="Text Placeholder 8">
            <a:extLst>
              <a:ext uri="{FF2B5EF4-FFF2-40B4-BE49-F238E27FC236}">
                <a16:creationId xmlns:a16="http://schemas.microsoft.com/office/drawing/2014/main" id="{02EECDEE-456F-4A15-A4FE-4CA2F60E0059}"/>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6">
            <a:extLst>
              <a:ext uri="{FF2B5EF4-FFF2-40B4-BE49-F238E27FC236}">
                <a16:creationId xmlns:a16="http://schemas.microsoft.com/office/drawing/2014/main" id="{0DE29CAF-37DB-469A-A4BC-F015B5D92449}"/>
              </a:ext>
            </a:extLst>
          </p:cNvPr>
          <p:cNvSpPr>
            <a:spLocks noGrp="1"/>
          </p:cNvSpPr>
          <p:nvPr>
            <p:ph type="body" sz="quarter" idx="15"/>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8" name="Footer Placeholder 4">
            <a:extLst>
              <a:ext uri="{FF2B5EF4-FFF2-40B4-BE49-F238E27FC236}">
                <a16:creationId xmlns:a16="http://schemas.microsoft.com/office/drawing/2014/main" id="{6814554E-586D-8349-951F-737144ECEFF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AED0D651-E967-D846-AE30-12C061B6AD3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cxnSp>
        <p:nvCxnSpPr>
          <p:cNvPr id="11" name="Straight Connector 10">
            <a:extLst>
              <a:ext uri="{FF2B5EF4-FFF2-40B4-BE49-F238E27FC236}">
                <a16:creationId xmlns:a16="http://schemas.microsoft.com/office/drawing/2014/main" id="{675D0394-D778-4C4A-B92A-6E09A7B88B9A}"/>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3738115"/>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Table Slide">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2777164"/>
            <a:ext cx="17160240" cy="3488134"/>
          </a:xfrm>
        </p:spPr>
        <p:txBody>
          <a:bodyPr lIns="18288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5" name="Title 4">
            <a:extLst>
              <a:ext uri="{FF2B5EF4-FFF2-40B4-BE49-F238E27FC236}">
                <a16:creationId xmlns:a16="http://schemas.microsoft.com/office/drawing/2014/main" id="{D0602A0A-DA97-1949-83C0-5E92A6974F6F}"/>
              </a:ext>
            </a:extLst>
          </p:cNvPr>
          <p:cNvSpPr>
            <a:spLocks noGrp="1"/>
          </p:cNvSpPr>
          <p:nvPr>
            <p:ph type="title" hasCustomPrompt="1"/>
          </p:nvPr>
        </p:nvSpPr>
        <p:spPr>
          <a:xfrm>
            <a:off x="668995" y="537179"/>
            <a:ext cx="5466338" cy="968086"/>
          </a:xfrm>
        </p:spPr>
        <p:txBody>
          <a:bodyPr>
            <a:spAutoFit/>
          </a:bodyPr>
          <a:lstStyle/>
          <a:p>
            <a:r>
              <a:rPr lang="en-US"/>
              <a:t>Table Slide</a:t>
            </a:r>
          </a:p>
        </p:txBody>
      </p:sp>
      <p:sp>
        <p:nvSpPr>
          <p:cNvPr id="10" name="Text Placeholder 8">
            <a:extLst>
              <a:ext uri="{FF2B5EF4-FFF2-40B4-BE49-F238E27FC236}">
                <a16:creationId xmlns:a16="http://schemas.microsoft.com/office/drawing/2014/main" id="{FD34CAF5-D592-42FD-80B2-8B57E60C9A88}"/>
              </a:ext>
            </a:extLst>
          </p:cNvPr>
          <p:cNvSpPr>
            <a:spLocks noGrp="1"/>
          </p:cNvSpPr>
          <p:nvPr>
            <p:ph type="body" sz="quarter" idx="13" hasCustomPrompt="1"/>
          </p:nvPr>
        </p:nvSpPr>
        <p:spPr>
          <a:xfrm>
            <a:off x="688972" y="2777165"/>
            <a:ext cx="5468112"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8" name="Footer Placeholder 4">
            <a:extLst>
              <a:ext uri="{FF2B5EF4-FFF2-40B4-BE49-F238E27FC236}">
                <a16:creationId xmlns:a16="http://schemas.microsoft.com/office/drawing/2014/main" id="{D53B314B-9934-844F-8E14-6C502D2AE42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9" name="Slide Number Placeholder 5">
            <a:extLst>
              <a:ext uri="{FF2B5EF4-FFF2-40B4-BE49-F238E27FC236}">
                <a16:creationId xmlns:a16="http://schemas.microsoft.com/office/drawing/2014/main" id="{3CFD438D-CA4D-3A43-9B82-E14EC033B7C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898237865"/>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showMasterSp="0" preserve="1" userDrawn="1">
  <p:cSld name="Wide Layout Single Column">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9" y="6724559"/>
            <a:ext cx="7183198" cy="1754326"/>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6"/>
            <a:ext cx="7217706" cy="2017604"/>
          </a:xfrm>
        </p:spPr>
        <p:txBody>
          <a:bodyPr>
            <a:spAutoFit/>
          </a:bodyPr>
          <a:lstStyle>
            <a:lvl1pPr>
              <a:defRPr>
                <a:solidFill>
                  <a:schemeClr val="tx1"/>
                </a:solidFill>
              </a:defRPr>
            </a:lvl1pPr>
          </a:lstStyle>
          <a:p>
            <a:r>
              <a:rPr lang="en-US"/>
              <a:t>Click to edit Master title style</a:t>
            </a:r>
          </a:p>
        </p:txBody>
      </p:sp>
      <p:cxnSp>
        <p:nvCxnSpPr>
          <p:cNvPr id="8" name="Straight Connector 7">
            <a:extLst>
              <a:ext uri="{FF2B5EF4-FFF2-40B4-BE49-F238E27FC236}">
                <a16:creationId xmlns:a16="http://schemas.microsoft.com/office/drawing/2014/main" id="{F957024A-18DC-E948-83FF-954BAEFA54C4}"/>
              </a:ext>
            </a:extLst>
          </p:cNvPr>
          <p:cNvCxnSpPr>
            <a:cxnSpLocks/>
          </p:cNvCxnSpPr>
          <p:nvPr userDrawn="1"/>
        </p:nvCxnSpPr>
        <p:spPr>
          <a:xfrm>
            <a:off x="8382000" y="0"/>
            <a:ext cx="0" cy="1371600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 Placeholder 2">
            <a:extLst>
              <a:ext uri="{FF2B5EF4-FFF2-40B4-BE49-F238E27FC236}">
                <a16:creationId xmlns:a16="http://schemas.microsoft.com/office/drawing/2014/main" id="{9F9C88D5-EA56-4ED2-8CB6-44F2BBA4023F}"/>
              </a:ext>
            </a:extLst>
          </p:cNvPr>
          <p:cNvSpPr>
            <a:spLocks noGrp="1"/>
          </p:cNvSpPr>
          <p:nvPr>
            <p:ph idx="1"/>
          </p:nvPr>
        </p:nvSpPr>
        <p:spPr>
          <a:xfrm>
            <a:off x="8382000" y="624971"/>
            <a:ext cx="15255604" cy="3488134"/>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BD6CB0B8-ED09-5144-8406-07EDCA221F9D}"/>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2AD6F17-DC4F-CE4D-A30F-37972705D1EB}"/>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5F1A3402-461B-144B-A624-EADA6F4A5FE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044839741"/>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showMasterSp="0" preserve="1" userDrawn="1">
  <p:cSld name="Image Slide 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smtClean="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08C770D2-29E4-4980-89B5-2CADCAA9838F}"/>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1201D0FE-A135-6A46-ABB9-BBF42B08B05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A428A25E-B962-BD41-AC5A-2B7F8C365999}"/>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0" name="Slide Number Placeholder 5">
            <a:extLst>
              <a:ext uri="{FF2B5EF4-FFF2-40B4-BE49-F238E27FC236}">
                <a16:creationId xmlns:a16="http://schemas.microsoft.com/office/drawing/2014/main" id="{5A8BC5D7-A295-2344-8AAD-7A638D124615}"/>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677104041"/>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showMasterSp="0" preserve="1" userDrawn="1">
  <p:cSld name="Image Slide 2">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solidFill>
                  <a:schemeClr val="tx1"/>
                </a:solidFill>
              </a:defRPr>
            </a:lvl1pPr>
          </a:lstStyle>
          <a:p>
            <a:r>
              <a:rPr lang="en-US"/>
              <a:t>Click to edit Master title style</a:t>
            </a:r>
          </a:p>
        </p:txBody>
      </p:sp>
      <p:sp>
        <p:nvSpPr>
          <p:cNvPr id="11" name="Text Placeholder 8">
            <a:extLst>
              <a:ext uri="{FF2B5EF4-FFF2-40B4-BE49-F238E27FC236}">
                <a16:creationId xmlns:a16="http://schemas.microsoft.com/office/drawing/2014/main" id="{D6F74E0A-AB80-4D15-9EF8-AC6BAA371DF2}"/>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9" name="Text Placeholder 2">
            <a:extLst>
              <a:ext uri="{FF2B5EF4-FFF2-40B4-BE49-F238E27FC236}">
                <a16:creationId xmlns:a16="http://schemas.microsoft.com/office/drawing/2014/main" id="{FD053F94-CE8F-4987-AA33-DA71ADDB4BC1}"/>
              </a:ext>
            </a:extLst>
          </p:cNvPr>
          <p:cNvSpPr>
            <a:spLocks noGrp="1"/>
          </p:cNvSpPr>
          <p:nvPr>
            <p:ph idx="1"/>
          </p:nvPr>
        </p:nvSpPr>
        <p:spPr>
          <a:xfrm>
            <a:off x="17945102" y="624970"/>
            <a:ext cx="5715000" cy="4042132"/>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Graphic 11">
            <a:extLst>
              <a:ext uri="{FF2B5EF4-FFF2-40B4-BE49-F238E27FC236}">
                <a16:creationId xmlns:a16="http://schemas.microsoft.com/office/drawing/2014/main" id="{2D21F748-F78B-AA44-87E0-992F504FBC08}"/>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69668EDE-1295-9546-ABA0-27E4B7F5041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4" name="Slide Number Placeholder 5">
            <a:extLst>
              <a:ext uri="{FF2B5EF4-FFF2-40B4-BE49-F238E27FC236}">
                <a16:creationId xmlns:a16="http://schemas.microsoft.com/office/drawing/2014/main" id="{361D0353-9518-CE4F-AEC9-0A3AD47D4590}"/>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41643546"/>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showMasterSp="0" preserve="1" userDrawn="1">
  <p:cSld name="Image Slide 3 ">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1752605"/>
            <a:ext cx="11115598" cy="3488134"/>
          </a:xfrm>
        </p:spPr>
        <p:txBody>
          <a:bodyPr lIns="0">
            <a:spAutoFit/>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Graphic 8">
            <a:extLst>
              <a:ext uri="{FF2B5EF4-FFF2-40B4-BE49-F238E27FC236}">
                <a16:creationId xmlns:a16="http://schemas.microsoft.com/office/drawing/2014/main" id="{59F508EA-9B74-CF42-99A9-ABCDB2E9903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35545590-189E-BE41-BDD7-DCC3999A6E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1D0045EB-86A1-6D46-873D-E4EC1E9D359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74398072"/>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showMasterSp="0" preserve="1" userDrawn="1">
  <p:cSld name="Image Slide 3 with subhea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745E180F-3B5D-714C-85F9-F9DC513E6364}"/>
              </a:ext>
            </a:extLst>
          </p:cNvPr>
          <p:cNvSpPr>
            <a:spLocks noGrp="1"/>
          </p:cNvSpPr>
          <p:nvPr>
            <p:ph type="body" sz="quarter" idx="15"/>
          </p:nvPr>
        </p:nvSpPr>
        <p:spPr>
          <a:xfrm>
            <a:off x="695405" y="3169807"/>
            <a:ext cx="11115598" cy="3488134"/>
          </a:xfrm>
        </p:spPr>
        <p:txBody>
          <a:bodyPr lIns="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8">
            <a:extLst>
              <a:ext uri="{FF2B5EF4-FFF2-40B4-BE49-F238E27FC236}">
                <a16:creationId xmlns:a16="http://schemas.microsoft.com/office/drawing/2014/main" id="{7E2CAB91-DDF9-42DE-8B4B-CC01A9F5884C}"/>
              </a:ext>
            </a:extLst>
          </p:cNvPr>
          <p:cNvSpPr>
            <a:spLocks noGrp="1"/>
          </p:cNvSpPr>
          <p:nvPr>
            <p:ph type="body" sz="quarter" idx="13" hasCustomPrompt="1"/>
          </p:nvPr>
        </p:nvSpPr>
        <p:spPr>
          <a:xfrm>
            <a:off x="688979" y="1752605"/>
            <a:ext cx="11122026" cy="1169550"/>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9C7DEFAB-97E6-284D-BD67-FB08386B5E6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2DA1221E-A67C-744E-9C4B-331BEF727F33}"/>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D46CF78B-534F-E345-BE6A-BED63A26C73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845338246"/>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showMasterSp="0" preserve="1" userDrawn="1">
  <p:cSld name="1_Full Screen w PostIts 0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C21AA0E-9E2E-CD48-B732-33823216CA71}"/>
              </a:ext>
            </a:extLst>
          </p:cNvPr>
          <p:cNvSpPr>
            <a:spLocks noGrp="1"/>
          </p:cNvSpPr>
          <p:nvPr>
            <p:ph type="pic" sz="quarter" idx="12" hasCustomPrompt="1"/>
          </p:nvPr>
        </p:nvSpPr>
        <p:spPr bwMode="white">
          <a:xfrm>
            <a:off x="0" y="0"/>
            <a:ext cx="24387048"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sz="3600">
                <a:solidFill>
                  <a:schemeClr val="tx1"/>
                </a:solidFill>
              </a:rPr>
              <a:t>Click icon in the center of the slide to add picture</a:t>
            </a:r>
            <a:endParaRPr lang="en-US"/>
          </a:p>
        </p:txBody>
      </p:sp>
      <p:sp>
        <p:nvSpPr>
          <p:cNvPr id="8" name="Text Placeholder 2">
            <a:extLst>
              <a:ext uri="{FF2B5EF4-FFF2-40B4-BE49-F238E27FC236}">
                <a16:creationId xmlns:a16="http://schemas.microsoft.com/office/drawing/2014/main" id="{DE3845FB-10F7-4C99-A1E5-CEB253E259A7}"/>
              </a:ext>
            </a:extLst>
          </p:cNvPr>
          <p:cNvSpPr>
            <a:spLocks noGrp="1"/>
          </p:cNvSpPr>
          <p:nvPr>
            <p:ph idx="1"/>
          </p:nvPr>
        </p:nvSpPr>
        <p:spPr>
          <a:xfrm>
            <a:off x="6477003" y="4800600"/>
            <a:ext cx="5714998" cy="4114800"/>
          </a:xfrm>
          <a:prstGeom prst="rect">
            <a:avLst/>
          </a:prstGeom>
          <a:solidFill>
            <a:schemeClr val="bg1"/>
          </a:solidFill>
        </p:spPr>
        <p:txBody>
          <a:bodyPr vert="horz" lIns="182880" tIns="137160" rIns="18288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itle 12">
            <a:extLst>
              <a:ext uri="{FF2B5EF4-FFF2-40B4-BE49-F238E27FC236}">
                <a16:creationId xmlns:a16="http://schemas.microsoft.com/office/drawing/2014/main" id="{58C4667B-36E6-384D-9236-5ED44E3130B6}"/>
              </a:ext>
            </a:extLst>
          </p:cNvPr>
          <p:cNvSpPr>
            <a:spLocks noGrp="1"/>
          </p:cNvSpPr>
          <p:nvPr>
            <p:ph type="title"/>
          </p:nvPr>
        </p:nvSpPr>
        <p:spPr>
          <a:xfrm>
            <a:off x="720852" y="731520"/>
            <a:ext cx="5756148" cy="4069080"/>
          </a:xfrm>
          <a:solidFill>
            <a:schemeClr val="bg1"/>
          </a:solidFill>
          <a:ln w="12700">
            <a:noFill/>
          </a:ln>
        </p:spPr>
        <p:txBody>
          <a:bodyPr vert="horz" lIns="182880" tIns="91440" rIns="182880" bIns="155448" rtlCol="0" anchor="t" anchorCtr="0">
            <a:noAutofit/>
          </a:bodyPr>
          <a:lstStyle>
            <a:lvl1pPr>
              <a:defRPr lang="en-US" dirty="0">
                <a:ln w="9525">
                  <a:noFill/>
                </a:ln>
                <a:solidFill>
                  <a:schemeClr val="tx1"/>
                </a:solidFill>
              </a:defRPr>
            </a:lvl1pPr>
          </a:lstStyle>
          <a:p>
            <a:pPr marL="0" lvl="0" indent="0">
              <a:spcAft>
                <a:spcPts val="3000"/>
              </a:spcAft>
              <a:buFont typeface="Arial" panose="020B0604020202020204" pitchFamily="34" charset="0"/>
            </a:pPr>
            <a:r>
              <a:rPr lang="en-US"/>
              <a:t>Click to edit Master title style</a:t>
            </a:r>
          </a:p>
        </p:txBody>
      </p:sp>
      <p:sp>
        <p:nvSpPr>
          <p:cNvPr id="5" name="AutoShape 3">
            <a:extLst>
              <a:ext uri="{FF2B5EF4-FFF2-40B4-BE49-F238E27FC236}">
                <a16:creationId xmlns:a16="http://schemas.microsoft.com/office/drawing/2014/main" id="{69C2AE59-6CA1-45A7-8D89-5A2A716D8833}"/>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0" name="Graphic 9">
            <a:extLst>
              <a:ext uri="{FF2B5EF4-FFF2-40B4-BE49-F238E27FC236}">
                <a16:creationId xmlns:a16="http://schemas.microsoft.com/office/drawing/2014/main" id="{D97CAA73-BE46-614E-9C41-8AF7FB50184C}"/>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A4D9BADF-324E-5B4F-A422-61F7145DA2D8}"/>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700835EC-3A47-8644-806F-A3840BA3472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994182183"/>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showMasterSp="0" preserve="1" userDrawn="1">
  <p:cSld name="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4" name="Picture 3">
            <a:extLst>
              <a:ext uri="{FF2B5EF4-FFF2-40B4-BE49-F238E27FC236}">
                <a16:creationId xmlns:a16="http://schemas.microsoft.com/office/drawing/2014/main" id="{DC3D7A00-2891-24B2-ED6C-5B28CC4847A3}"/>
              </a:ext>
            </a:extLst>
          </p:cNvPr>
          <p:cNvPicPr>
            <a:picLocks noChangeAspect="1"/>
          </p:cNvPicPr>
          <p:nvPr userDrawn="1"/>
        </p:nvPicPr>
        <p:blipFill>
          <a:blip r:embed="rId2"/>
          <a:stretch>
            <a:fillRect/>
          </a:stretch>
        </p:blipFill>
        <p:spPr>
          <a:xfrm>
            <a:off x="0" y="4419600"/>
            <a:ext cx="6477000" cy="9296400"/>
          </a:xfrm>
          <a:prstGeom prst="rect">
            <a:avLst/>
          </a:prstGeom>
        </p:spPr>
      </p:pic>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651279751"/>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showMasterSp="0" preserve="1" userDrawn="1">
  <p:cSld name="1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647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4" name="Picture 3">
            <a:extLst>
              <a:ext uri="{FF2B5EF4-FFF2-40B4-BE49-F238E27FC236}">
                <a16:creationId xmlns:a16="http://schemas.microsoft.com/office/drawing/2014/main" id="{80CA3236-00EC-F44A-FE12-1CA61956F0E7}"/>
              </a:ext>
            </a:extLst>
          </p:cNvPr>
          <p:cNvPicPr>
            <a:picLocks noChangeAspect="1"/>
          </p:cNvPicPr>
          <p:nvPr userDrawn="1"/>
        </p:nvPicPr>
        <p:blipFill>
          <a:blip r:embed="rId4"/>
          <a:stretch>
            <a:fillRect/>
          </a:stretch>
        </p:blipFill>
        <p:spPr>
          <a:xfrm>
            <a:off x="0" y="9491472"/>
            <a:ext cx="6452388" cy="4224528"/>
          </a:xfrm>
          <a:prstGeom prst="rect">
            <a:avLst/>
          </a:prstGeom>
        </p:spPr>
      </p:pic>
    </p:spTree>
    <p:extLst>
      <p:ext uri="{BB962C8B-B14F-4D97-AF65-F5344CB8AC3E}">
        <p14:creationId xmlns:p14="http://schemas.microsoft.com/office/powerpoint/2010/main" val="2715976591"/>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showMasterSp="0" preserve="1" userDrawn="1">
  <p:cSld name="2_Single Column - Cloud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55D1C46-DA5B-44B3-B594-6A390F5F6E6E}"/>
              </a:ext>
            </a:extLst>
          </p:cNvPr>
          <p:cNvSpPr/>
          <p:nvPr userDrawn="1"/>
        </p:nvSpPr>
        <p:spPr bwMode="white">
          <a:xfrm flipH="1">
            <a:off x="6477000" y="0"/>
            <a:ext cx="17907000"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6" name="Picture 5">
            <a:extLst>
              <a:ext uri="{FF2B5EF4-FFF2-40B4-BE49-F238E27FC236}">
                <a16:creationId xmlns:a16="http://schemas.microsoft.com/office/drawing/2014/main" id="{33331F37-F452-DCB3-4411-C1A01ACA6086}"/>
              </a:ext>
            </a:extLst>
          </p:cNvPr>
          <p:cNvPicPr>
            <a:picLocks noChangeAspect="1"/>
          </p:cNvPicPr>
          <p:nvPr userDrawn="1"/>
        </p:nvPicPr>
        <p:blipFill>
          <a:blip r:embed="rId2"/>
          <a:stretch>
            <a:fillRect/>
          </a:stretch>
        </p:blipFill>
        <p:spPr>
          <a:xfrm>
            <a:off x="6477000" y="3505200"/>
            <a:ext cx="15595600" cy="1021080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tx1"/>
                </a:solidFill>
                <a:latin typeface="+mn-lt"/>
                <a:ea typeface="+mn-ea"/>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tx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403269356"/>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showMasterSp="0" preserve="1" userDrawn="1">
  <p:cSld name="Three Quarters Image Slide">
    <p:bg>
      <p:bgPr>
        <a:solidFill>
          <a:schemeClr val="tx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275A4A0-E19C-C4F8-98F8-140F87325D35}"/>
              </a:ext>
            </a:extLst>
          </p:cNvPr>
          <p:cNvPicPr>
            <a:picLocks noChangeAspect="1"/>
          </p:cNvPicPr>
          <p:nvPr userDrawn="1"/>
        </p:nvPicPr>
        <p:blipFill>
          <a:blip r:embed="rId2"/>
          <a:stretch>
            <a:fillRect/>
          </a:stretch>
        </p:blipFill>
        <p:spPr>
          <a:xfrm>
            <a:off x="1828801" y="1561559"/>
            <a:ext cx="4661586" cy="12154442"/>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7907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sp>
        <p:nvSpPr>
          <p:cNvPr id="10" name="Text Placeholder 8">
            <a:extLst>
              <a:ext uri="{FF2B5EF4-FFF2-40B4-BE49-F238E27FC236}">
                <a16:creationId xmlns:a16="http://schemas.microsoft.com/office/drawing/2014/main" id="{6ADF87FB-085E-4952-9CFB-477310A66959}"/>
              </a:ext>
            </a:extLst>
          </p:cNvPr>
          <p:cNvSpPr>
            <a:spLocks noGrp="1"/>
          </p:cNvSpPr>
          <p:nvPr>
            <p:ph type="body" sz="quarter" idx="13" hasCustomPrompt="1"/>
          </p:nvPr>
        </p:nvSpPr>
        <p:spPr>
          <a:xfrm>
            <a:off x="688976" y="3687499"/>
            <a:ext cx="3621768" cy="2923878"/>
          </a:xfrm>
        </p:spPr>
        <p:txBody>
          <a:bodyPr wrap="square" lIns="0" tIns="0" rIns="0">
            <a:spAutoFit/>
          </a:bodyPr>
          <a:lstStyle>
            <a:lvl1pPr marL="0" indent="0" algn="l" fontAlgn="base">
              <a:lnSpc>
                <a:spcPct val="100000"/>
              </a:lnSpc>
              <a:spcBef>
                <a:spcPts val="0"/>
              </a:spcBef>
              <a:buFont typeface="Arial" panose="020B0604020202020204" pitchFamily="34" charset="0"/>
              <a:buNone/>
              <a:defRPr lang="en-US" sz="3800" kern="1200" dirty="0">
                <a:ln w="3175">
                  <a:noFill/>
                </a:ln>
                <a:solidFill>
                  <a:schemeClr val="bg1"/>
                </a:solidFill>
                <a:latin typeface="+mn-lt"/>
                <a:ea typeface="+mn-ea"/>
                <a:cs typeface="+mn-cs"/>
              </a:defRPr>
            </a:lvl1pPr>
          </a:lstStyle>
          <a:p>
            <a:r>
              <a:rPr lang="en-US"/>
              <a:t>Subtitle or callout if needed, all titles and subtitles are sentence case </a:t>
            </a:r>
          </a:p>
        </p:txBody>
      </p:sp>
      <p:pic>
        <p:nvPicPr>
          <p:cNvPr id="9" name="Graphic 8">
            <a:extLst>
              <a:ext uri="{FF2B5EF4-FFF2-40B4-BE49-F238E27FC236}">
                <a16:creationId xmlns:a16="http://schemas.microsoft.com/office/drawing/2014/main" id="{35F2CBC9-A0AF-2443-B4F3-88F00DA34117}"/>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1" name="Footer Placeholder 4">
            <a:extLst>
              <a:ext uri="{FF2B5EF4-FFF2-40B4-BE49-F238E27FC236}">
                <a16:creationId xmlns:a16="http://schemas.microsoft.com/office/drawing/2014/main" id="{EA2D8B16-7E02-9445-B5E1-B56444A338A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2" name="Slide Number Placeholder 5">
            <a:extLst>
              <a:ext uri="{FF2B5EF4-FFF2-40B4-BE49-F238E27FC236}">
                <a16:creationId xmlns:a16="http://schemas.microsoft.com/office/drawing/2014/main" id="{58296D2F-477C-6447-A70C-6F56CD3959A6}"/>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765265906"/>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preserve="1" userDrawn="1">
  <p:cSld name="1/2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7128416"/>
            <a:ext cx="5216526" cy="584776"/>
          </a:xfrm>
          <a:ln>
            <a:noFill/>
          </a:ln>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82481" y="7127210"/>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8405" y="7127210"/>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52406" y="7127210"/>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17" name="Text Placeholder 6">
            <a:extLst>
              <a:ext uri="{FF2B5EF4-FFF2-40B4-BE49-F238E27FC236}">
                <a16:creationId xmlns:a16="http://schemas.microsoft.com/office/drawing/2014/main" id="{F1BE4CE4-FD45-443A-BF63-DD30D8352F18}"/>
              </a:ext>
            </a:extLst>
          </p:cNvPr>
          <p:cNvSpPr>
            <a:spLocks noGrp="1"/>
          </p:cNvSpPr>
          <p:nvPr>
            <p:ph type="body" sz="quarter" idx="21"/>
          </p:nvPr>
        </p:nvSpPr>
        <p:spPr>
          <a:xfrm>
            <a:off x="696292" y="7822154"/>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9" name="Text Placeholder 27">
            <a:extLst>
              <a:ext uri="{FF2B5EF4-FFF2-40B4-BE49-F238E27FC236}">
                <a16:creationId xmlns:a16="http://schemas.microsoft.com/office/drawing/2014/main" id="{9E9A9093-0FB5-474B-89ED-A35D3811588C}"/>
              </a:ext>
            </a:extLst>
          </p:cNvPr>
          <p:cNvSpPr>
            <a:spLocks noGrp="1"/>
          </p:cNvSpPr>
          <p:nvPr>
            <p:ph type="body" sz="quarter" idx="22"/>
          </p:nvPr>
        </p:nvSpPr>
        <p:spPr>
          <a:xfrm>
            <a:off x="6482478" y="7822156"/>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0" name="Text Placeholder 29">
            <a:extLst>
              <a:ext uri="{FF2B5EF4-FFF2-40B4-BE49-F238E27FC236}">
                <a16:creationId xmlns:a16="http://schemas.microsoft.com/office/drawing/2014/main" id="{FF042C6C-A711-46C7-BA08-D7D1DBA5B436}"/>
              </a:ext>
            </a:extLst>
          </p:cNvPr>
          <p:cNvSpPr>
            <a:spLocks noGrp="1"/>
          </p:cNvSpPr>
          <p:nvPr>
            <p:ph type="body" sz="quarter" idx="23"/>
          </p:nvPr>
        </p:nvSpPr>
        <p:spPr>
          <a:xfrm>
            <a:off x="12198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21" name="Text Placeholder 31">
            <a:extLst>
              <a:ext uri="{FF2B5EF4-FFF2-40B4-BE49-F238E27FC236}">
                <a16:creationId xmlns:a16="http://schemas.microsoft.com/office/drawing/2014/main" id="{E0D4AA41-1DA9-4674-8804-6E312BE2AEE4}"/>
              </a:ext>
            </a:extLst>
          </p:cNvPr>
          <p:cNvSpPr>
            <a:spLocks noGrp="1"/>
          </p:cNvSpPr>
          <p:nvPr>
            <p:ph type="body" sz="quarter" idx="24"/>
          </p:nvPr>
        </p:nvSpPr>
        <p:spPr>
          <a:xfrm>
            <a:off x="17952409" y="7822156"/>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413042128"/>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showMasterSp="0" preserve="1" userDrawn="1">
  <p:cSld name="1/2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0"/>
            <a:ext cx="24384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6" y="539496"/>
            <a:ext cx="5814964"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23" name="Graphic 22">
            <a:extLst>
              <a:ext uri="{FF2B5EF4-FFF2-40B4-BE49-F238E27FC236}">
                <a16:creationId xmlns:a16="http://schemas.microsoft.com/office/drawing/2014/main" id="{01F92179-1104-CC43-A3D0-81DE97CCA71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7" name="Footer Placeholder 4">
            <a:extLst>
              <a:ext uri="{FF2B5EF4-FFF2-40B4-BE49-F238E27FC236}">
                <a16:creationId xmlns:a16="http://schemas.microsoft.com/office/drawing/2014/main" id="{98AD107B-C2D7-D04F-9BED-9375FC6FECFC}"/>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8" name="Slide Number Placeholder 5">
            <a:extLst>
              <a:ext uri="{FF2B5EF4-FFF2-40B4-BE49-F238E27FC236}">
                <a16:creationId xmlns:a16="http://schemas.microsoft.com/office/drawing/2014/main" id="{995587E1-B0B0-5141-BA1B-AF30B431A0D1}"/>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7" name="Picture 6">
            <a:extLst>
              <a:ext uri="{FF2B5EF4-FFF2-40B4-BE49-F238E27FC236}">
                <a16:creationId xmlns:a16="http://schemas.microsoft.com/office/drawing/2014/main" id="{8001B6C8-F508-BAAE-CBBF-1708CB85F33E}"/>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3514427" y="0"/>
            <a:ext cx="20869574" cy="6858000"/>
          </a:xfrm>
          <a:prstGeom prst="rect">
            <a:avLst/>
          </a:prstGeom>
        </p:spPr>
      </p:pic>
    </p:spTree>
    <p:extLst>
      <p:ext uri="{BB962C8B-B14F-4D97-AF65-F5344CB8AC3E}">
        <p14:creationId xmlns:p14="http://schemas.microsoft.com/office/powerpoint/2010/main" val="3141875463"/>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preserve="1" userDrawn="1">
  <p:cSld name="1/4 header / 4 colum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96292" y="4861848"/>
            <a:ext cx="5208456"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18" name="Text Placeholder 17">
            <a:extLst>
              <a:ext uri="{FF2B5EF4-FFF2-40B4-BE49-F238E27FC236}">
                <a16:creationId xmlns:a16="http://schemas.microsoft.com/office/drawing/2014/main" id="{7C815302-58BA-544A-A70E-11B5AE7C074B}"/>
              </a:ext>
            </a:extLst>
          </p:cNvPr>
          <p:cNvSpPr>
            <a:spLocks noGrp="1"/>
          </p:cNvSpPr>
          <p:nvPr>
            <p:ph type="body" sz="quarter" idx="14" hasCustomPrompt="1"/>
          </p:nvPr>
        </p:nvSpPr>
        <p:spPr>
          <a:xfrm>
            <a:off x="688975" y="4167064"/>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1</a:t>
            </a:r>
          </a:p>
        </p:txBody>
      </p:sp>
      <p:sp>
        <p:nvSpPr>
          <p:cNvPr id="22" name="Text Placeholder 21">
            <a:extLst>
              <a:ext uri="{FF2B5EF4-FFF2-40B4-BE49-F238E27FC236}">
                <a16:creationId xmlns:a16="http://schemas.microsoft.com/office/drawing/2014/main" id="{8E5A713F-3F9A-164E-8906-908A2E37AEDC}"/>
              </a:ext>
            </a:extLst>
          </p:cNvPr>
          <p:cNvSpPr>
            <a:spLocks noGrp="1"/>
          </p:cNvSpPr>
          <p:nvPr>
            <p:ph type="body" sz="quarter" idx="15" hasCustomPrompt="1"/>
          </p:nvPr>
        </p:nvSpPr>
        <p:spPr>
          <a:xfrm>
            <a:off x="6477003" y="4165856"/>
            <a:ext cx="5216526"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2</a:t>
            </a:r>
          </a:p>
        </p:txBody>
      </p:sp>
      <p:sp>
        <p:nvSpPr>
          <p:cNvPr id="24" name="Text Placeholder 23">
            <a:extLst>
              <a:ext uri="{FF2B5EF4-FFF2-40B4-BE49-F238E27FC236}">
                <a16:creationId xmlns:a16="http://schemas.microsoft.com/office/drawing/2014/main" id="{52B11054-EA62-C241-B60E-B5FC645F961F}"/>
              </a:ext>
            </a:extLst>
          </p:cNvPr>
          <p:cNvSpPr>
            <a:spLocks noGrp="1"/>
          </p:cNvSpPr>
          <p:nvPr>
            <p:ph type="body" sz="quarter" idx="16" hasCustomPrompt="1"/>
          </p:nvPr>
        </p:nvSpPr>
        <p:spPr>
          <a:xfrm>
            <a:off x="12192003" y="4165856"/>
            <a:ext cx="521661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3</a:t>
            </a:r>
          </a:p>
        </p:txBody>
      </p:sp>
      <p:sp>
        <p:nvSpPr>
          <p:cNvPr id="26" name="Text Placeholder 25">
            <a:extLst>
              <a:ext uri="{FF2B5EF4-FFF2-40B4-BE49-F238E27FC236}">
                <a16:creationId xmlns:a16="http://schemas.microsoft.com/office/drawing/2014/main" id="{5F174BBE-E3FD-3243-B5B9-46D5793B72E1}"/>
              </a:ext>
            </a:extLst>
          </p:cNvPr>
          <p:cNvSpPr>
            <a:spLocks noGrp="1"/>
          </p:cNvSpPr>
          <p:nvPr>
            <p:ph type="body" sz="quarter" idx="17" hasCustomPrompt="1"/>
          </p:nvPr>
        </p:nvSpPr>
        <p:spPr>
          <a:xfrm>
            <a:off x="17945100" y="4165856"/>
            <a:ext cx="5216644" cy="584776"/>
          </a:xfrm>
        </p:spPr>
        <p:txBody>
          <a:bodyPr vert="horz" lIns="0" tIns="0" rIns="0" bIns="0" rtlCol="0">
            <a:spAutoFit/>
          </a:bodyPr>
          <a:lstStyle>
            <a:lvl1pPr marL="0" indent="0">
              <a:buNone/>
              <a:defRPr lang="en-US" sz="3800">
                <a:ln w="3175">
                  <a:noFill/>
                </a:ln>
                <a:solidFill>
                  <a:schemeClr val="tx2"/>
                </a:solidFill>
              </a:defRPr>
            </a:lvl1pPr>
          </a:lstStyle>
          <a:p>
            <a:pPr lvl="0" fontAlgn="base"/>
            <a:r>
              <a:rPr lang="en-US"/>
              <a:t>Column Header 4</a:t>
            </a:r>
          </a:p>
        </p:txBody>
      </p:sp>
      <p:sp>
        <p:nvSpPr>
          <p:cNvPr id="28" name="Text Placeholder 27">
            <a:extLst>
              <a:ext uri="{FF2B5EF4-FFF2-40B4-BE49-F238E27FC236}">
                <a16:creationId xmlns:a16="http://schemas.microsoft.com/office/drawing/2014/main" id="{C0184701-AA4C-194F-A41C-3F1116AD556C}"/>
              </a:ext>
            </a:extLst>
          </p:cNvPr>
          <p:cNvSpPr>
            <a:spLocks noGrp="1"/>
          </p:cNvSpPr>
          <p:nvPr>
            <p:ph type="body" sz="quarter" idx="18"/>
          </p:nvPr>
        </p:nvSpPr>
        <p:spPr>
          <a:xfrm>
            <a:off x="6482478" y="4860802"/>
            <a:ext cx="521104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0" name="Text Placeholder 29">
            <a:extLst>
              <a:ext uri="{FF2B5EF4-FFF2-40B4-BE49-F238E27FC236}">
                <a16:creationId xmlns:a16="http://schemas.microsoft.com/office/drawing/2014/main" id="{34FDDF5D-3009-854F-8EE1-970F47DC067C}"/>
              </a:ext>
            </a:extLst>
          </p:cNvPr>
          <p:cNvSpPr>
            <a:spLocks noGrp="1"/>
          </p:cNvSpPr>
          <p:nvPr>
            <p:ph type="body" sz="quarter" idx="19"/>
          </p:nvPr>
        </p:nvSpPr>
        <p:spPr>
          <a:xfrm>
            <a:off x="12198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32" name="Text Placeholder 31">
            <a:extLst>
              <a:ext uri="{FF2B5EF4-FFF2-40B4-BE49-F238E27FC236}">
                <a16:creationId xmlns:a16="http://schemas.microsoft.com/office/drawing/2014/main" id="{A7E979D6-BADA-DD44-B570-65D20DD14190}"/>
              </a:ext>
            </a:extLst>
          </p:cNvPr>
          <p:cNvSpPr>
            <a:spLocks noGrp="1"/>
          </p:cNvSpPr>
          <p:nvPr>
            <p:ph type="body" sz="quarter" idx="20"/>
          </p:nvPr>
        </p:nvSpPr>
        <p:spPr>
          <a:xfrm>
            <a:off x="17952409" y="4860802"/>
            <a:ext cx="5209338" cy="4042132"/>
          </a:xfrm>
        </p:spPr>
        <p:txBody>
          <a:bodyPr lIns="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9" name="Picture 8">
            <a:extLst>
              <a:ext uri="{FF2B5EF4-FFF2-40B4-BE49-F238E27FC236}">
                <a16:creationId xmlns:a16="http://schemas.microsoft.com/office/drawing/2014/main" id="{18F9BD06-D191-BDCC-0EAC-42370967C2BC}"/>
              </a:ext>
            </a:extLst>
          </p:cNvPr>
          <p:cNvPicPr>
            <a:picLocks noChangeAspect="1"/>
          </p:cNvPicPr>
          <p:nvPr userDrawn="1"/>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2854702488"/>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showMasterSp="0" preserve="1" userDrawn="1">
  <p:cSld name="1/4 header / CLEA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45A6104-2147-ED48-827D-CB214B123CF6}"/>
              </a:ext>
            </a:extLst>
          </p:cNvPr>
          <p:cNvSpPr/>
          <p:nvPr userDrawn="1"/>
        </p:nvSpPr>
        <p:spPr bwMode="white">
          <a:xfrm>
            <a:off x="0" y="2"/>
            <a:ext cx="24384000" cy="381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itle 1">
            <a:extLst>
              <a:ext uri="{FF2B5EF4-FFF2-40B4-BE49-F238E27FC236}">
                <a16:creationId xmlns:a16="http://schemas.microsoft.com/office/drawing/2014/main" id="{4667B03D-3B0E-4A16-8455-9D5E13184485}"/>
              </a:ext>
            </a:extLst>
          </p:cNvPr>
          <p:cNvSpPr>
            <a:spLocks noGrp="1"/>
          </p:cNvSpPr>
          <p:nvPr>
            <p:ph type="title"/>
          </p:nvPr>
        </p:nvSpPr>
        <p:spPr>
          <a:xfrm>
            <a:off x="667513" y="539496"/>
            <a:ext cx="6484402" cy="2017668"/>
          </a:xfrm>
          <a:ln w="12700">
            <a:noFill/>
          </a:ln>
        </p:spPr>
        <p:txBody>
          <a:bodyPr vert="horz" wrap="square" lIns="0" tIns="0" rIns="0" bIns="0" rtlCol="0" anchor="t" anchorCtr="0">
            <a:spAutoFit/>
          </a:bodyPr>
          <a:lstStyle>
            <a:lvl1pPr>
              <a:defRPr lang="en-US" dirty="0">
                <a:ln w="9525">
                  <a:noFill/>
                </a:ln>
                <a:solidFill>
                  <a:schemeClr val="bg1"/>
                </a:solidFill>
              </a:defRPr>
            </a:lvl1pPr>
          </a:lstStyle>
          <a:p>
            <a:pPr marL="0" lvl="0"/>
            <a:r>
              <a:rPr lang="en-US"/>
              <a:t>Click to edit Master title style</a:t>
            </a:r>
          </a:p>
        </p:txBody>
      </p:sp>
      <p:pic>
        <p:nvPicPr>
          <p:cNvPr id="17" name="Graphic 16">
            <a:extLst>
              <a:ext uri="{FF2B5EF4-FFF2-40B4-BE49-F238E27FC236}">
                <a16:creationId xmlns:a16="http://schemas.microsoft.com/office/drawing/2014/main" id="{8E9FB75F-D2B2-AC4A-903F-467C4C27BB3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55810" y="12808078"/>
            <a:ext cx="2286000" cy="708660"/>
          </a:xfrm>
          <a:prstGeom prst="rect">
            <a:avLst/>
          </a:prstGeom>
        </p:spPr>
      </p:pic>
      <p:sp>
        <p:nvSpPr>
          <p:cNvPr id="20" name="Footer Placeholder 4">
            <a:extLst>
              <a:ext uri="{FF2B5EF4-FFF2-40B4-BE49-F238E27FC236}">
                <a16:creationId xmlns:a16="http://schemas.microsoft.com/office/drawing/2014/main" id="{09915CAC-37C5-D041-B16E-A68FC3F6AE6A}"/>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21" name="Slide Number Placeholder 5">
            <a:extLst>
              <a:ext uri="{FF2B5EF4-FFF2-40B4-BE49-F238E27FC236}">
                <a16:creationId xmlns:a16="http://schemas.microsoft.com/office/drawing/2014/main" id="{85DA5A3C-BCD0-6E4F-A118-246FF1A0F113}"/>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pic>
        <p:nvPicPr>
          <p:cNvPr id="3" name="Picture 2">
            <a:extLst>
              <a:ext uri="{FF2B5EF4-FFF2-40B4-BE49-F238E27FC236}">
                <a16:creationId xmlns:a16="http://schemas.microsoft.com/office/drawing/2014/main" id="{C7C982CA-A7CF-7C04-1CB1-C8824A257D5C}"/>
              </a:ext>
            </a:extLst>
          </p:cNvPr>
          <p:cNvPicPr>
            <a:picLocks noChangeAspect="1"/>
          </p:cNvPicPr>
          <p:nvPr userDrawn="1"/>
        </p:nvPicPr>
        <p:blipFill>
          <a:blip r:embed="rId4"/>
          <a:stretch>
            <a:fillRect/>
          </a:stretch>
        </p:blipFill>
        <p:spPr>
          <a:xfrm rot="10800000">
            <a:off x="7848600" y="0"/>
            <a:ext cx="16535400" cy="3810000"/>
          </a:xfrm>
          <a:prstGeom prst="rect">
            <a:avLst/>
          </a:prstGeom>
        </p:spPr>
      </p:pic>
    </p:spTree>
    <p:extLst>
      <p:ext uri="{BB962C8B-B14F-4D97-AF65-F5344CB8AC3E}">
        <p14:creationId xmlns:p14="http://schemas.microsoft.com/office/powerpoint/2010/main" val="4271625791"/>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showMasterSp="0" preserve="1" userDrawn="1">
  <p:cSld name="Half Image Slide">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AE153A-C27C-ED1B-A797-B1AF88EB49A5}"/>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2" y="3685032"/>
            <a:ext cx="11120928" cy="1169551"/>
          </a:xfrm>
        </p:spPr>
        <p:txBody>
          <a:bodyPr vert="horz" lIns="0" tIns="0" rIns="0" bIns="0" rtlCol="0">
            <a:spAutoFit/>
          </a:bodyPr>
          <a:lstStyle>
            <a:lvl1pPr marL="22226" indent="-22226" algn="l">
              <a:buFontTx/>
              <a:buNone/>
              <a:tabLst/>
              <a:defRPr lang="en-US" sz="3800" dirty="0">
                <a:ln w="3175">
                  <a:noFill/>
                </a:ln>
                <a:solidFill>
                  <a:schemeClr val="bg1"/>
                </a:solidFill>
              </a:defRPr>
            </a:lvl1pPr>
          </a:lstStyle>
          <a:p>
            <a:pPr marL="285750" lvl="0" indent="-285750" fontAlgn="base"/>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6953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1758459224"/>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showMasterSp="0" preserve="1" userDrawn="1">
  <p:cSld name="Half Image Slide - CLEAN">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16E9DF5-DA4D-AF41-F284-D6545E66BD73}"/>
              </a:ext>
            </a:extLst>
          </p:cNvPr>
          <p:cNvPicPr>
            <a:picLocks noChangeAspect="1"/>
          </p:cNvPicPr>
          <p:nvPr userDrawn="1"/>
        </p:nvPicPr>
        <p:blipFill>
          <a:blip r:embed="rId2"/>
          <a:stretch>
            <a:fillRect/>
          </a:stretch>
        </p:blipFill>
        <p:spPr>
          <a:xfrm flipH="1">
            <a:off x="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1219200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6689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11" name="AutoShape 3">
            <a:extLst>
              <a:ext uri="{FF2B5EF4-FFF2-40B4-BE49-F238E27FC236}">
                <a16:creationId xmlns:a16="http://schemas.microsoft.com/office/drawing/2014/main" id="{D98D0E38-C70F-492A-89D3-C6748F1169D2}"/>
              </a:ext>
            </a:extLst>
          </p:cNvPr>
          <p:cNvSpPr>
            <a:spLocks noChangeAspect="1" noChangeArrowheads="1" noTextEdit="1"/>
          </p:cNvSpPr>
          <p:nvPr userDrawn="1"/>
        </p:nvSpPr>
        <p:spPr bwMode="auto">
          <a:xfrm>
            <a:off x="657227" y="12595227"/>
            <a:ext cx="29654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endParaRPr lang="en-US" sz="3600"/>
          </a:p>
        </p:txBody>
      </p:sp>
      <p:pic>
        <p:nvPicPr>
          <p:cNvPr id="12" name="Graphic 11">
            <a:extLst>
              <a:ext uri="{FF2B5EF4-FFF2-40B4-BE49-F238E27FC236}">
                <a16:creationId xmlns:a16="http://schemas.microsoft.com/office/drawing/2014/main" id="{5C9FC3AD-D3D1-F54B-B826-C460CDFA78CA}"/>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3" name="Footer Placeholder 4">
            <a:extLst>
              <a:ext uri="{FF2B5EF4-FFF2-40B4-BE49-F238E27FC236}">
                <a16:creationId xmlns:a16="http://schemas.microsoft.com/office/drawing/2014/main" id="{97EFC10F-7E5E-EE44-BD96-5D17E0E85DC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4" name="Slide Number Placeholder 5">
            <a:extLst>
              <a:ext uri="{FF2B5EF4-FFF2-40B4-BE49-F238E27FC236}">
                <a16:creationId xmlns:a16="http://schemas.microsoft.com/office/drawing/2014/main" id="{078B89E7-6DD3-7A43-A83F-A343C8B19514}"/>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476389408"/>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showMasterSp="0" preserve="1" userDrawn="1">
  <p:cSld name="Half Image Slide 2">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21FBB69-2B1F-1005-8EB3-A8CA021F7215}"/>
              </a:ext>
            </a:extLst>
          </p:cNvPr>
          <p:cNvPicPr>
            <a:picLocks noChangeAspect="1"/>
          </p:cNvPicPr>
          <p:nvPr userDrawn="1"/>
        </p:nvPicPr>
        <p:blipFill>
          <a:blip r:embed="rId2"/>
          <a:stretch>
            <a:fillRect/>
          </a:stretch>
        </p:blipFill>
        <p:spPr>
          <a:xfrm>
            <a:off x="20243800" y="2921000"/>
            <a:ext cx="4140200" cy="10795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0" y="0"/>
            <a:ext cx="121920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pic>
        <p:nvPicPr>
          <p:cNvPr id="11" name="Graphic 10">
            <a:extLst>
              <a:ext uri="{FF2B5EF4-FFF2-40B4-BE49-F238E27FC236}">
                <a16:creationId xmlns:a16="http://schemas.microsoft.com/office/drawing/2014/main" id="{560D37C1-D211-7745-B68E-02001098F85F}"/>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12539172" y="3685032"/>
            <a:ext cx="11120928" cy="1169551"/>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5" name="Title 4">
            <a:extLst>
              <a:ext uri="{FF2B5EF4-FFF2-40B4-BE49-F238E27FC236}">
                <a16:creationId xmlns:a16="http://schemas.microsoft.com/office/drawing/2014/main" id="{F2ACCC36-2E9C-6D4C-BB6B-7A9BA138E936}"/>
              </a:ext>
            </a:extLst>
          </p:cNvPr>
          <p:cNvSpPr>
            <a:spLocks noGrp="1"/>
          </p:cNvSpPr>
          <p:nvPr>
            <p:ph type="title"/>
          </p:nvPr>
        </p:nvSpPr>
        <p:spPr>
          <a:xfrm>
            <a:off x="12518092" y="537179"/>
            <a:ext cx="11142008" cy="968086"/>
          </a:xfrm>
        </p:spPr>
        <p:txBody>
          <a:bodyPr>
            <a:spAutoFit/>
          </a:bodyPr>
          <a:lstStyle>
            <a:lvl1pPr>
              <a:defRPr>
                <a:ln w="9525">
                  <a:noFill/>
                </a:ln>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811D0CA3-B974-D04C-9182-9E93BC0CCFC9}"/>
              </a:ext>
            </a:extLst>
          </p:cNvPr>
          <p:cNvSpPr>
            <a:spLocks noGrp="1"/>
          </p:cNvSpPr>
          <p:nvPr>
            <p:ph type="body" sz="quarter" idx="15"/>
          </p:nvPr>
        </p:nvSpPr>
        <p:spPr>
          <a:xfrm>
            <a:off x="12544424" y="6759577"/>
            <a:ext cx="11115676" cy="3488134"/>
          </a:xfrm>
        </p:spPr>
        <p:txBody>
          <a:bodyPr lIns="0">
            <a:spAutoFit/>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Footer Placeholder 4">
            <a:extLst>
              <a:ext uri="{FF2B5EF4-FFF2-40B4-BE49-F238E27FC236}">
                <a16:creationId xmlns:a16="http://schemas.microsoft.com/office/drawing/2014/main" id="{030F3032-5515-C84F-A5D0-90898242F86D}"/>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FEAC8327-2A21-3A42-BA7B-F64F4DEAA72D}"/>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725339421"/>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showMasterSp="0" preserve="1" userDrawn="1">
  <p:cSld name="Half Image Slide 3">
    <p:bg>
      <p:bgPr>
        <a:solidFill>
          <a:schemeClr val="tx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7E79AC3-2DC9-96CB-4501-666928E88325}"/>
              </a:ext>
            </a:extLst>
          </p:cNvPr>
          <p:cNvPicPr>
            <a:picLocks noChangeAspect="1"/>
          </p:cNvPicPr>
          <p:nvPr userDrawn="1"/>
        </p:nvPicPr>
        <p:blipFill>
          <a:blip r:embed="rId2"/>
          <a:stretch>
            <a:fillRect/>
          </a:stretch>
        </p:blipFill>
        <p:spPr>
          <a:xfrm>
            <a:off x="1219200" y="0"/>
            <a:ext cx="23164800" cy="13716000"/>
          </a:xfrm>
          <a:prstGeom prst="rect">
            <a:avLst/>
          </a:prstGeom>
        </p:spPr>
      </p:pic>
      <p:sp>
        <p:nvSpPr>
          <p:cNvPr id="6" name="Picture Placeholder 5">
            <a:extLst>
              <a:ext uri="{FF2B5EF4-FFF2-40B4-BE49-F238E27FC236}">
                <a16:creationId xmlns:a16="http://schemas.microsoft.com/office/drawing/2014/main" id="{E30FBA71-49B8-5848-9C59-635D2786CAFC}"/>
              </a:ext>
            </a:extLst>
          </p:cNvPr>
          <p:cNvSpPr>
            <a:spLocks noGrp="1"/>
          </p:cNvSpPr>
          <p:nvPr>
            <p:ph type="pic" sz="quarter" idx="14" hasCustomPrompt="1"/>
          </p:nvPr>
        </p:nvSpPr>
        <p:spPr bwMode="white">
          <a:xfrm>
            <a:off x="6477000" y="0"/>
            <a:ext cx="11468100" cy="13716000"/>
          </a:xfrm>
          <a:solidFill>
            <a:schemeClr val="bg1">
              <a:lumMod val="75000"/>
            </a:schemeClr>
          </a:solidFill>
        </p:spPr>
        <p:txBody>
          <a:bodyPr vert="horz" lIns="365760" tIns="0" rIns="0" bIns="0" rtlCol="0">
            <a:noAutofit/>
          </a:bodyPr>
          <a:lstStyle>
            <a:lvl1pPr>
              <a:defRPr lang="en-US" dirty="0"/>
            </a:lvl1pPr>
          </a:lstStyle>
          <a:p>
            <a:pPr marR="0" lvl="0" fontAlgn="auto">
              <a:buSzTx/>
              <a:tabLst/>
            </a:pPr>
            <a:r>
              <a:rPr lang="en-US"/>
              <a:t>Click icon in the center of box to add picture</a:t>
            </a:r>
          </a:p>
          <a:p>
            <a:pPr marR="0" lvl="0" fontAlgn="auto">
              <a:buSzTx/>
              <a:tabLst/>
            </a:pPr>
            <a:endParaRPr lang="en-US"/>
          </a:p>
          <a:p>
            <a:pPr marR="0" lvl="0" fontAlgn="auto">
              <a:buSzTx/>
              <a:tabLst/>
            </a:pPr>
            <a:endParaRPr lang="en-US"/>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90074" y="3685032"/>
            <a:ext cx="5215428" cy="2339102"/>
          </a:xfrm>
        </p:spPr>
        <p:txBody>
          <a:bodyPr vert="horz" lIns="0" tIns="0" rIns="0" bIns="0" rtlCol="0">
            <a:spAutoFit/>
          </a:bodyPr>
          <a:lstStyle>
            <a:lvl1pPr>
              <a:defRPr lang="en-US" sz="3800" dirty="0">
                <a:ln w="3175">
                  <a:noFill/>
                </a:ln>
                <a:solidFill>
                  <a:schemeClr val="bg1"/>
                </a:solidFill>
              </a:defRPr>
            </a:lvl1pPr>
          </a:lstStyle>
          <a:p>
            <a:pPr marL="0" lvl="0" indent="0" fontAlgn="base">
              <a:buNone/>
            </a:pPr>
            <a:r>
              <a:rPr lang="en-US"/>
              <a:t>Subtitle or callout if needed, all titles and subtitles are sentence case </a:t>
            </a:r>
          </a:p>
        </p:txBody>
      </p:sp>
      <p:sp>
        <p:nvSpPr>
          <p:cNvPr id="7" name="Text Placeholder 6">
            <a:extLst>
              <a:ext uri="{FF2B5EF4-FFF2-40B4-BE49-F238E27FC236}">
                <a16:creationId xmlns:a16="http://schemas.microsoft.com/office/drawing/2014/main" id="{2592A8BA-00F9-DD43-8481-FE14DFB0D4A3}"/>
              </a:ext>
            </a:extLst>
          </p:cNvPr>
          <p:cNvSpPr>
            <a:spLocks noGrp="1"/>
          </p:cNvSpPr>
          <p:nvPr>
            <p:ph type="body" sz="quarter" idx="15"/>
          </p:nvPr>
        </p:nvSpPr>
        <p:spPr>
          <a:xfrm>
            <a:off x="18453100" y="621792"/>
            <a:ext cx="5207000" cy="4042132"/>
          </a:xfrm>
        </p:spPr>
        <p:txBody>
          <a:bodyPr vert="horz" lIns="0" tIns="0" rIns="0" bIns="0" rtlCol="0">
            <a:spAutoFit/>
          </a:bodyPr>
          <a:lstStyle>
            <a:lvl1pPr marL="285750" marR="0" indent="-28575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smtClean="0">
                <a:solidFill>
                  <a:schemeClr val="bg1"/>
                </a:solidFill>
              </a:defRPr>
            </a:lvl1pPr>
            <a:lvl2pPr marL="857250" marR="0" indent="-290514"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2pPr>
            <a:lvl3pPr marL="1428750" marR="0" indent="-295276"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3pPr>
            <a:lvl4pPr marL="2000250" marR="0" indent="-300038"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smtClean="0">
                <a:solidFill>
                  <a:schemeClr val="bg1"/>
                </a:solidFill>
              </a:defRPr>
            </a:lvl4pPr>
            <a:lvl5pPr marL="2571750" marR="0" indent="-304800" algn="l" defTabSz="1828800" rtl="0" eaLnBrk="1" fontAlgn="auto" latinLnBrk="0" hangingPunct="1">
              <a:lnSpc>
                <a:spcPct val="100000"/>
              </a:lnSpc>
              <a:spcBef>
                <a:spcPts val="0"/>
              </a:spcBef>
              <a:spcAft>
                <a:spcPts val="1400"/>
              </a:spcAft>
              <a:buClr>
                <a:schemeClr val="bg1"/>
              </a:buClr>
              <a:buSzTx/>
              <a:buFont typeface="Arial" panose="020B0604020202020204" pitchFamily="34" charset="0"/>
              <a:buChar char="•"/>
              <a:tabLst/>
              <a:defRPr lang="en-US" dirty="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88F813D3-270D-1743-AC1F-38F52F4492FB}"/>
              </a:ext>
            </a:extLst>
          </p:cNvPr>
          <p:cNvSpPr>
            <a:spLocks noGrp="1"/>
          </p:cNvSpPr>
          <p:nvPr>
            <p:ph type="title"/>
          </p:nvPr>
        </p:nvSpPr>
        <p:spPr>
          <a:xfrm>
            <a:off x="668992" y="537179"/>
            <a:ext cx="5236508" cy="3062106"/>
          </a:xfrm>
        </p:spPr>
        <p:txBody>
          <a:bodyPr>
            <a:spAutoFit/>
          </a:bodyPr>
          <a:lstStyle>
            <a:lvl1pPr>
              <a:defRPr>
                <a:ln w="9525">
                  <a:noFill/>
                </a:ln>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38317098-BF10-BA42-A3E5-65C0634430A9}"/>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B4D4954A-7D78-384F-A44A-7BC1E849140E}"/>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3" name="Slide Number Placeholder 5">
            <a:extLst>
              <a:ext uri="{FF2B5EF4-FFF2-40B4-BE49-F238E27FC236}">
                <a16:creationId xmlns:a16="http://schemas.microsoft.com/office/drawing/2014/main" id="{49BE3EAB-DEA7-184A-90BB-B4E1E574417C}"/>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752554931"/>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showMasterSp="0" userDrawn="1">
  <p:cSld name="Breaker">
    <p:bg>
      <p:bgPr>
        <a:solidFill>
          <a:srgbClr val="EB0000"/>
        </a:solidFill>
        <a:effectLst/>
      </p:bgPr>
    </p:bg>
    <p:spTree>
      <p:nvGrpSpPr>
        <p:cNvPr id="1" name=""/>
        <p:cNvGrpSpPr/>
        <p:nvPr/>
      </p:nvGrpSpPr>
      <p:grpSpPr>
        <a:xfrm>
          <a:off x="0" y="0"/>
          <a:ext cx="0" cy="0"/>
          <a:chOff x="0" y="0"/>
          <a:chExt cx="0" cy="0"/>
        </a:xfrm>
      </p:grpSpPr>
      <p:sp>
        <p:nvSpPr>
          <p:cNvPr id="2" name="Do not remove" hidden="1">
            <a:extLst>
              <a:ext uri="{FF2B5EF4-FFF2-40B4-BE49-F238E27FC236}">
                <a16:creationId xmlns:a16="http://schemas.microsoft.com/office/drawing/2014/main" id="{043DE420-8D0F-08AC-8010-59FF6CB700A5}"/>
              </a:ext>
            </a:extLst>
          </p:cNvPr>
          <p:cNvSpPr/>
          <p:nvPr userDrawn="1">
            <p:custDataLst>
              <p:tags r:id="rId1"/>
            </p:custDataLst>
          </p:nvPr>
        </p:nvSpPr>
        <p:spPr>
          <a:xfrm>
            <a:off x="0" y="0"/>
            <a:ext cx="12700" cy="12700"/>
          </a:xfrm>
          <a:prstGeom prst="octagon">
            <a:avLst/>
          </a:prstGeom>
          <a:noFill/>
          <a:ln>
            <a:noFill/>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2" name="Text Placeholder 11">
            <a:extLst>
              <a:ext uri="{FF2B5EF4-FFF2-40B4-BE49-F238E27FC236}">
                <a16:creationId xmlns:a16="http://schemas.microsoft.com/office/drawing/2014/main" id="{B1C10B13-2F5A-4934-A945-9E34728E01DE}"/>
              </a:ext>
            </a:extLst>
          </p:cNvPr>
          <p:cNvSpPr>
            <a:spLocks noGrp="1"/>
          </p:cNvSpPr>
          <p:nvPr>
            <p:ph type="body" sz="quarter" idx="16" hasCustomPrompt="1"/>
          </p:nvPr>
        </p:nvSpPr>
        <p:spPr>
          <a:xfrm>
            <a:off x="723901" y="653291"/>
            <a:ext cx="11160126" cy="4200146"/>
          </a:xfrm>
          <a:noFill/>
          <a:ln>
            <a:noFill/>
          </a:ln>
        </p:spPr>
        <p:txBody>
          <a:bodyPr vert="horz" lIns="0" tIns="0" rIns="0" bIns="0" rtlCol="0" anchor="b">
            <a:noAutofit/>
          </a:bodyPr>
          <a:lstStyle>
            <a:lvl1pPr marL="0" indent="0" fontAlgn="base">
              <a:lnSpc>
                <a:spcPct val="112000"/>
              </a:lnSpc>
              <a:spcBef>
                <a:spcPts val="0"/>
              </a:spcBef>
              <a:buNone/>
              <a:defRPr lang="en-US" sz="9000" kern="1200" dirty="0" smtClean="0">
                <a:ln w="3175">
                  <a:noFill/>
                </a:ln>
                <a:solidFill>
                  <a:schemeClr val="bg1"/>
                </a:solidFill>
                <a:latin typeface="+mj-lt"/>
                <a:ea typeface="+mj-ea"/>
                <a:cs typeface="+mj-cs"/>
              </a:defRPr>
            </a:lvl1pPr>
            <a:lvl2pPr marL="228600" indent="0">
              <a:buNone/>
              <a:defRPr lang="en-US" smtClean="0"/>
            </a:lvl2pPr>
            <a:lvl3pPr>
              <a:defRPr lang="en-US" smtClean="0"/>
            </a:lvl3pPr>
            <a:lvl4pPr>
              <a:defRPr lang="en-US" smtClean="0"/>
            </a:lvl4pPr>
            <a:lvl5pPr>
              <a:defRPr lang="en-US"/>
            </a:lvl5pPr>
          </a:lstStyle>
          <a:p>
            <a:r>
              <a:rPr lang="en-US"/>
              <a:t>Breaker slide</a:t>
            </a:r>
          </a:p>
        </p:txBody>
      </p:sp>
      <p:sp>
        <p:nvSpPr>
          <p:cNvPr id="9" name="Text Placeholder 8">
            <a:extLst>
              <a:ext uri="{FF2B5EF4-FFF2-40B4-BE49-F238E27FC236}">
                <a16:creationId xmlns:a16="http://schemas.microsoft.com/office/drawing/2014/main" id="{9330AC38-FC0C-4B0C-8B12-F0EACB4CE126}"/>
              </a:ext>
            </a:extLst>
          </p:cNvPr>
          <p:cNvSpPr>
            <a:spLocks noGrp="1"/>
          </p:cNvSpPr>
          <p:nvPr>
            <p:ph type="body" sz="quarter" idx="18" hasCustomPrompt="1"/>
          </p:nvPr>
        </p:nvSpPr>
        <p:spPr>
          <a:xfrm>
            <a:off x="758826" y="4998536"/>
            <a:ext cx="11125200" cy="1627188"/>
          </a:xfrm>
        </p:spPr>
        <p:txBody>
          <a:bodyPr vert="horz" lIns="0" tIns="0" rIns="0" bIns="0" rtlCol="0" anchor="t">
            <a:noAutofit/>
          </a:bodyPr>
          <a:lstStyle>
            <a:lvl1pPr marL="0" indent="0">
              <a:buNone/>
              <a:defRPr lang="en-US" sz="5200" dirty="0">
                <a:ln>
                  <a:noFill/>
                </a:ln>
                <a:solidFill>
                  <a:schemeClr val="bg1"/>
                </a:solidFill>
              </a:defRPr>
            </a:lvl1pPr>
          </a:lstStyle>
          <a:p>
            <a:pPr lvl="0"/>
            <a:r>
              <a:rPr lang="en-US"/>
              <a:t>All titles/subtitles are sentence case</a:t>
            </a:r>
          </a:p>
        </p:txBody>
      </p:sp>
      <p:sp>
        <p:nvSpPr>
          <p:cNvPr id="6" name="Freeform 5">
            <a:extLst>
              <a:ext uri="{FF2B5EF4-FFF2-40B4-BE49-F238E27FC236}">
                <a16:creationId xmlns:a16="http://schemas.microsoft.com/office/drawing/2014/main" id="{B96AE158-57F3-42F7-BA5B-F9CAC8029C8B}"/>
              </a:ext>
            </a:extLst>
          </p:cNvPr>
          <p:cNvSpPr>
            <a:spLocks noEditPoints="1"/>
          </p:cNvSpPr>
          <p:nvPr userDrawn="1"/>
        </p:nvSpPr>
        <p:spPr bwMode="auto">
          <a:xfrm>
            <a:off x="657227" y="12595227"/>
            <a:ext cx="2968626" cy="923926"/>
          </a:xfrm>
          <a:custGeom>
            <a:avLst/>
            <a:gdLst>
              <a:gd name="T0" fmla="*/ 1241 w 1600"/>
              <a:gd name="T1" fmla="*/ 405 h 496"/>
              <a:gd name="T2" fmla="*/ 1179 w 1600"/>
              <a:gd name="T3" fmla="*/ 423 h 496"/>
              <a:gd name="T4" fmla="*/ 1379 w 1600"/>
              <a:gd name="T5" fmla="*/ 405 h 496"/>
              <a:gd name="T6" fmla="*/ 1317 w 1600"/>
              <a:gd name="T7" fmla="*/ 423 h 496"/>
              <a:gd name="T8" fmla="*/ 1272 w 1600"/>
              <a:gd name="T9" fmla="*/ 344 h 496"/>
              <a:gd name="T10" fmla="*/ 953 w 1600"/>
              <a:gd name="T11" fmla="*/ 436 h 496"/>
              <a:gd name="T12" fmla="*/ 963 w 1600"/>
              <a:gd name="T13" fmla="*/ 374 h 496"/>
              <a:gd name="T14" fmla="*/ 855 w 1600"/>
              <a:gd name="T15" fmla="*/ 370 h 496"/>
              <a:gd name="T16" fmla="*/ 846 w 1600"/>
              <a:gd name="T17" fmla="*/ 443 h 496"/>
              <a:gd name="T18" fmla="*/ 852 w 1600"/>
              <a:gd name="T19" fmla="*/ 385 h 496"/>
              <a:gd name="T20" fmla="*/ 1442 w 1600"/>
              <a:gd name="T21" fmla="*/ 451 h 496"/>
              <a:gd name="T22" fmla="*/ 1446 w 1600"/>
              <a:gd name="T23" fmla="*/ 484 h 496"/>
              <a:gd name="T24" fmla="*/ 1451 w 1600"/>
              <a:gd name="T25" fmla="*/ 407 h 496"/>
              <a:gd name="T26" fmla="*/ 1452 w 1600"/>
              <a:gd name="T27" fmla="*/ 397 h 496"/>
              <a:gd name="T28" fmla="*/ 1094 w 1600"/>
              <a:gd name="T29" fmla="*/ 372 h 496"/>
              <a:gd name="T30" fmla="*/ 1112 w 1600"/>
              <a:gd name="T31" fmla="*/ 387 h 496"/>
              <a:gd name="T32" fmla="*/ 1142 w 1600"/>
              <a:gd name="T33" fmla="*/ 408 h 496"/>
              <a:gd name="T34" fmla="*/ 985 w 1600"/>
              <a:gd name="T35" fmla="*/ 344 h 496"/>
              <a:gd name="T36" fmla="*/ 1016 w 1600"/>
              <a:gd name="T37" fmla="*/ 387 h 496"/>
              <a:gd name="T38" fmla="*/ 1046 w 1600"/>
              <a:gd name="T39" fmla="*/ 408 h 496"/>
              <a:gd name="T40" fmla="*/ 767 w 1600"/>
              <a:gd name="T41" fmla="*/ 372 h 496"/>
              <a:gd name="T42" fmla="*/ 755 w 1600"/>
              <a:gd name="T43" fmla="*/ 441 h 496"/>
              <a:gd name="T44" fmla="*/ 783 w 1600"/>
              <a:gd name="T45" fmla="*/ 442 h 496"/>
              <a:gd name="T46" fmla="*/ 806 w 1600"/>
              <a:gd name="T47" fmla="*/ 372 h 496"/>
              <a:gd name="T48" fmla="*/ 1551 w 1600"/>
              <a:gd name="T49" fmla="*/ 444 h 496"/>
              <a:gd name="T50" fmla="*/ 1544 w 1600"/>
              <a:gd name="T51" fmla="*/ 441 h 496"/>
              <a:gd name="T52" fmla="*/ 1572 w 1600"/>
              <a:gd name="T53" fmla="*/ 446 h 496"/>
              <a:gd name="T54" fmla="*/ 1556 w 1600"/>
              <a:gd name="T55" fmla="*/ 457 h 496"/>
              <a:gd name="T56" fmla="*/ 1576 w 1600"/>
              <a:gd name="T57" fmla="*/ 441 h 496"/>
              <a:gd name="T58" fmla="*/ 1549 w 1600"/>
              <a:gd name="T59" fmla="*/ 372 h 496"/>
              <a:gd name="T60" fmla="*/ 1497 w 1600"/>
              <a:gd name="T61" fmla="*/ 468 h 496"/>
              <a:gd name="T62" fmla="*/ 746 w 1600"/>
              <a:gd name="T63" fmla="*/ 269 h 496"/>
              <a:gd name="T64" fmla="*/ 752 w 1600"/>
              <a:gd name="T65" fmla="*/ 182 h 496"/>
              <a:gd name="T66" fmla="*/ 795 w 1600"/>
              <a:gd name="T67" fmla="*/ 104 h 496"/>
              <a:gd name="T68" fmla="*/ 342 w 1600"/>
              <a:gd name="T69" fmla="*/ 187 h 496"/>
              <a:gd name="T70" fmla="*/ 404 w 1600"/>
              <a:gd name="T71" fmla="*/ 181 h 496"/>
              <a:gd name="T72" fmla="*/ 1515 w 1600"/>
              <a:gd name="T73" fmla="*/ 223 h 496"/>
              <a:gd name="T74" fmla="*/ 1445 w 1600"/>
              <a:gd name="T75" fmla="*/ 100 h 496"/>
              <a:gd name="T76" fmla="*/ 1515 w 1600"/>
              <a:gd name="T77" fmla="*/ 223 h 496"/>
              <a:gd name="T78" fmla="*/ 1384 w 1600"/>
              <a:gd name="T79" fmla="*/ 61 h 496"/>
              <a:gd name="T80" fmla="*/ 1354 w 1600"/>
              <a:gd name="T81" fmla="*/ 221 h 496"/>
              <a:gd name="T82" fmla="*/ 1384 w 1600"/>
              <a:gd name="T83" fmla="*/ 61 h 496"/>
              <a:gd name="T84" fmla="*/ 1113 w 1600"/>
              <a:gd name="T85" fmla="*/ 269 h 496"/>
              <a:gd name="T86" fmla="*/ 1244 w 1600"/>
              <a:gd name="T87" fmla="*/ 153 h 496"/>
              <a:gd name="T88" fmla="*/ 1184 w 1600"/>
              <a:gd name="T89" fmla="*/ 165 h 496"/>
              <a:gd name="T90" fmla="*/ 261 w 1600"/>
              <a:gd name="T91" fmla="*/ 226 h 496"/>
              <a:gd name="T92" fmla="*/ 321 w 1600"/>
              <a:gd name="T93" fmla="*/ 81 h 496"/>
              <a:gd name="T94" fmla="*/ 226 w 1600"/>
              <a:gd name="T95" fmla="*/ 221 h 496"/>
              <a:gd name="T96" fmla="*/ 943 w 1600"/>
              <a:gd name="T97" fmla="*/ 269 h 496"/>
              <a:gd name="T98" fmla="*/ 932 w 1600"/>
              <a:gd name="T99" fmla="*/ 64 h 496"/>
              <a:gd name="T100" fmla="*/ 966 w 1600"/>
              <a:gd name="T101" fmla="*/ 109 h 496"/>
              <a:gd name="T102" fmla="*/ 91 w 1600"/>
              <a:gd name="T103" fmla="*/ 64 h 496"/>
              <a:gd name="T104" fmla="*/ 154 w 1600"/>
              <a:gd name="T105" fmla="*/ 121 h 496"/>
              <a:gd name="T106" fmla="*/ 621 w 1600"/>
              <a:gd name="T107" fmla="*/ 265 h 496"/>
              <a:gd name="T108" fmla="*/ 579 w 1600"/>
              <a:gd name="T109" fmla="*/ 15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0" h="496">
                <a:moveTo>
                  <a:pt x="1241" y="405"/>
                </a:moveTo>
                <a:cubicBezTo>
                  <a:pt x="1241" y="434"/>
                  <a:pt x="1221" y="459"/>
                  <a:pt x="1192" y="459"/>
                </a:cubicBezTo>
                <a:cubicBezTo>
                  <a:pt x="1171" y="459"/>
                  <a:pt x="1158" y="444"/>
                  <a:pt x="1158" y="424"/>
                </a:cubicBezTo>
                <a:cubicBezTo>
                  <a:pt x="1158" y="395"/>
                  <a:pt x="1178" y="370"/>
                  <a:pt x="1207" y="370"/>
                </a:cubicBezTo>
                <a:cubicBezTo>
                  <a:pt x="1229" y="370"/>
                  <a:pt x="1241" y="387"/>
                  <a:pt x="1241" y="405"/>
                </a:cubicBezTo>
                <a:close/>
                <a:moveTo>
                  <a:pt x="1179" y="423"/>
                </a:moveTo>
                <a:cubicBezTo>
                  <a:pt x="1179" y="435"/>
                  <a:pt x="1185" y="443"/>
                  <a:pt x="1195" y="443"/>
                </a:cubicBezTo>
                <a:cubicBezTo>
                  <a:pt x="1210" y="443"/>
                  <a:pt x="1220" y="422"/>
                  <a:pt x="1220" y="406"/>
                </a:cubicBezTo>
                <a:cubicBezTo>
                  <a:pt x="1220" y="397"/>
                  <a:pt x="1216" y="386"/>
                  <a:pt x="1204" y="386"/>
                </a:cubicBezTo>
                <a:cubicBezTo>
                  <a:pt x="1188" y="386"/>
                  <a:pt x="1179" y="408"/>
                  <a:pt x="1179" y="423"/>
                </a:cubicBezTo>
                <a:close/>
                <a:moveTo>
                  <a:pt x="1379" y="405"/>
                </a:moveTo>
                <a:cubicBezTo>
                  <a:pt x="1379" y="434"/>
                  <a:pt x="1359" y="459"/>
                  <a:pt x="1330" y="459"/>
                </a:cubicBezTo>
                <a:cubicBezTo>
                  <a:pt x="1309" y="459"/>
                  <a:pt x="1296" y="444"/>
                  <a:pt x="1296" y="424"/>
                </a:cubicBezTo>
                <a:cubicBezTo>
                  <a:pt x="1296" y="395"/>
                  <a:pt x="1316" y="370"/>
                  <a:pt x="1345" y="370"/>
                </a:cubicBezTo>
                <a:cubicBezTo>
                  <a:pt x="1367" y="370"/>
                  <a:pt x="1379" y="387"/>
                  <a:pt x="1379" y="405"/>
                </a:cubicBezTo>
                <a:close/>
                <a:moveTo>
                  <a:pt x="1317" y="423"/>
                </a:moveTo>
                <a:cubicBezTo>
                  <a:pt x="1317" y="435"/>
                  <a:pt x="1323" y="443"/>
                  <a:pt x="1333" y="443"/>
                </a:cubicBezTo>
                <a:cubicBezTo>
                  <a:pt x="1348" y="443"/>
                  <a:pt x="1358" y="422"/>
                  <a:pt x="1358" y="406"/>
                </a:cubicBezTo>
                <a:cubicBezTo>
                  <a:pt x="1358" y="397"/>
                  <a:pt x="1354" y="386"/>
                  <a:pt x="1342" y="386"/>
                </a:cubicBezTo>
                <a:cubicBezTo>
                  <a:pt x="1326" y="386"/>
                  <a:pt x="1317" y="408"/>
                  <a:pt x="1317" y="423"/>
                </a:cubicBezTo>
                <a:close/>
                <a:moveTo>
                  <a:pt x="1272" y="344"/>
                </a:moveTo>
                <a:cubicBezTo>
                  <a:pt x="1250" y="457"/>
                  <a:pt x="1250" y="457"/>
                  <a:pt x="1250" y="457"/>
                </a:cubicBezTo>
                <a:cubicBezTo>
                  <a:pt x="1270" y="457"/>
                  <a:pt x="1270" y="457"/>
                  <a:pt x="1270" y="457"/>
                </a:cubicBezTo>
                <a:cubicBezTo>
                  <a:pt x="1292" y="344"/>
                  <a:pt x="1292" y="344"/>
                  <a:pt x="1292" y="344"/>
                </a:cubicBezTo>
                <a:lnTo>
                  <a:pt x="1272" y="344"/>
                </a:lnTo>
                <a:close/>
                <a:moveTo>
                  <a:pt x="945" y="371"/>
                </a:moveTo>
                <a:cubicBezTo>
                  <a:pt x="913" y="371"/>
                  <a:pt x="891" y="395"/>
                  <a:pt x="891" y="425"/>
                </a:cubicBezTo>
                <a:cubicBezTo>
                  <a:pt x="891" y="445"/>
                  <a:pt x="904" y="459"/>
                  <a:pt x="925" y="459"/>
                </a:cubicBezTo>
                <a:cubicBezTo>
                  <a:pt x="936" y="459"/>
                  <a:pt x="945" y="456"/>
                  <a:pt x="950" y="454"/>
                </a:cubicBezTo>
                <a:cubicBezTo>
                  <a:pt x="953" y="436"/>
                  <a:pt x="953" y="436"/>
                  <a:pt x="953" y="436"/>
                </a:cubicBezTo>
                <a:cubicBezTo>
                  <a:pt x="950" y="438"/>
                  <a:pt x="942" y="442"/>
                  <a:pt x="931" y="442"/>
                </a:cubicBezTo>
                <a:cubicBezTo>
                  <a:pt x="919" y="442"/>
                  <a:pt x="912" y="435"/>
                  <a:pt x="912" y="423"/>
                </a:cubicBezTo>
                <a:cubicBezTo>
                  <a:pt x="912" y="405"/>
                  <a:pt x="924" y="387"/>
                  <a:pt x="944" y="387"/>
                </a:cubicBezTo>
                <a:cubicBezTo>
                  <a:pt x="951" y="387"/>
                  <a:pt x="956" y="389"/>
                  <a:pt x="959" y="391"/>
                </a:cubicBezTo>
                <a:cubicBezTo>
                  <a:pt x="963" y="374"/>
                  <a:pt x="963" y="374"/>
                  <a:pt x="963" y="374"/>
                </a:cubicBezTo>
                <a:cubicBezTo>
                  <a:pt x="960" y="373"/>
                  <a:pt x="953" y="371"/>
                  <a:pt x="945" y="371"/>
                </a:cubicBezTo>
                <a:close/>
                <a:moveTo>
                  <a:pt x="829" y="434"/>
                </a:moveTo>
                <a:cubicBezTo>
                  <a:pt x="827" y="431"/>
                  <a:pt x="826" y="425"/>
                  <a:pt x="826" y="422"/>
                </a:cubicBezTo>
                <a:cubicBezTo>
                  <a:pt x="859" y="423"/>
                  <a:pt x="882" y="416"/>
                  <a:pt x="882" y="394"/>
                </a:cubicBezTo>
                <a:cubicBezTo>
                  <a:pt x="882" y="380"/>
                  <a:pt x="871" y="370"/>
                  <a:pt x="855" y="370"/>
                </a:cubicBezTo>
                <a:cubicBezTo>
                  <a:pt x="825" y="370"/>
                  <a:pt x="807" y="398"/>
                  <a:pt x="807" y="424"/>
                </a:cubicBezTo>
                <a:cubicBezTo>
                  <a:pt x="807" y="445"/>
                  <a:pt x="818" y="459"/>
                  <a:pt x="841" y="459"/>
                </a:cubicBezTo>
                <a:cubicBezTo>
                  <a:pt x="853" y="459"/>
                  <a:pt x="865" y="456"/>
                  <a:pt x="873" y="451"/>
                </a:cubicBezTo>
                <a:cubicBezTo>
                  <a:pt x="877" y="433"/>
                  <a:pt x="877" y="433"/>
                  <a:pt x="877" y="433"/>
                </a:cubicBezTo>
                <a:cubicBezTo>
                  <a:pt x="870" y="438"/>
                  <a:pt x="860" y="443"/>
                  <a:pt x="846" y="443"/>
                </a:cubicBezTo>
                <a:cubicBezTo>
                  <a:pt x="838" y="443"/>
                  <a:pt x="832" y="440"/>
                  <a:pt x="829" y="434"/>
                </a:cubicBezTo>
                <a:close/>
                <a:moveTo>
                  <a:pt x="852" y="385"/>
                </a:moveTo>
                <a:cubicBezTo>
                  <a:pt x="858" y="385"/>
                  <a:pt x="863" y="389"/>
                  <a:pt x="863" y="394"/>
                </a:cubicBezTo>
                <a:cubicBezTo>
                  <a:pt x="863" y="404"/>
                  <a:pt x="849" y="407"/>
                  <a:pt x="828" y="407"/>
                </a:cubicBezTo>
                <a:cubicBezTo>
                  <a:pt x="831" y="397"/>
                  <a:pt x="839" y="385"/>
                  <a:pt x="852" y="385"/>
                </a:cubicBezTo>
                <a:close/>
                <a:moveTo>
                  <a:pt x="1445" y="370"/>
                </a:moveTo>
                <a:cubicBezTo>
                  <a:pt x="1409" y="370"/>
                  <a:pt x="1390" y="402"/>
                  <a:pt x="1390" y="429"/>
                </a:cubicBezTo>
                <a:cubicBezTo>
                  <a:pt x="1390" y="444"/>
                  <a:pt x="1398" y="459"/>
                  <a:pt x="1416" y="459"/>
                </a:cubicBezTo>
                <a:cubicBezTo>
                  <a:pt x="1427" y="459"/>
                  <a:pt x="1437" y="454"/>
                  <a:pt x="1444" y="444"/>
                </a:cubicBezTo>
                <a:cubicBezTo>
                  <a:pt x="1442" y="451"/>
                  <a:pt x="1442" y="451"/>
                  <a:pt x="1442" y="451"/>
                </a:cubicBezTo>
                <a:cubicBezTo>
                  <a:pt x="1438" y="471"/>
                  <a:pt x="1428" y="477"/>
                  <a:pt x="1415" y="477"/>
                </a:cubicBezTo>
                <a:cubicBezTo>
                  <a:pt x="1407" y="477"/>
                  <a:pt x="1397" y="475"/>
                  <a:pt x="1392" y="472"/>
                </a:cubicBezTo>
                <a:cubicBezTo>
                  <a:pt x="1389" y="489"/>
                  <a:pt x="1389" y="489"/>
                  <a:pt x="1389" y="489"/>
                </a:cubicBezTo>
                <a:cubicBezTo>
                  <a:pt x="1395" y="492"/>
                  <a:pt x="1404" y="494"/>
                  <a:pt x="1414" y="494"/>
                </a:cubicBezTo>
                <a:cubicBezTo>
                  <a:pt x="1425" y="494"/>
                  <a:pt x="1437" y="491"/>
                  <a:pt x="1446" y="484"/>
                </a:cubicBezTo>
                <a:cubicBezTo>
                  <a:pt x="1456" y="476"/>
                  <a:pt x="1460" y="463"/>
                  <a:pt x="1464" y="446"/>
                </a:cubicBezTo>
                <a:cubicBezTo>
                  <a:pt x="1471" y="408"/>
                  <a:pt x="1471" y="408"/>
                  <a:pt x="1471" y="408"/>
                </a:cubicBezTo>
                <a:cubicBezTo>
                  <a:pt x="1472" y="403"/>
                  <a:pt x="1473" y="398"/>
                  <a:pt x="1473" y="393"/>
                </a:cubicBezTo>
                <a:cubicBezTo>
                  <a:pt x="1473" y="378"/>
                  <a:pt x="1462" y="370"/>
                  <a:pt x="1445" y="370"/>
                </a:cubicBezTo>
                <a:close/>
                <a:moveTo>
                  <a:pt x="1451" y="407"/>
                </a:moveTo>
                <a:cubicBezTo>
                  <a:pt x="1449" y="415"/>
                  <a:pt x="1449" y="415"/>
                  <a:pt x="1449" y="415"/>
                </a:cubicBezTo>
                <a:cubicBezTo>
                  <a:pt x="1446" y="432"/>
                  <a:pt x="1435" y="443"/>
                  <a:pt x="1425" y="443"/>
                </a:cubicBezTo>
                <a:cubicBezTo>
                  <a:pt x="1415" y="443"/>
                  <a:pt x="1411" y="435"/>
                  <a:pt x="1411" y="425"/>
                </a:cubicBezTo>
                <a:cubicBezTo>
                  <a:pt x="1411" y="409"/>
                  <a:pt x="1423" y="386"/>
                  <a:pt x="1441" y="386"/>
                </a:cubicBezTo>
                <a:cubicBezTo>
                  <a:pt x="1448" y="386"/>
                  <a:pt x="1452" y="390"/>
                  <a:pt x="1452" y="397"/>
                </a:cubicBezTo>
                <a:cubicBezTo>
                  <a:pt x="1452" y="401"/>
                  <a:pt x="1452" y="404"/>
                  <a:pt x="1451" y="407"/>
                </a:cubicBezTo>
                <a:close/>
                <a:moveTo>
                  <a:pt x="1144" y="394"/>
                </a:moveTo>
                <a:cubicBezTo>
                  <a:pt x="1144" y="378"/>
                  <a:pt x="1134" y="370"/>
                  <a:pt x="1122" y="370"/>
                </a:cubicBezTo>
                <a:cubicBezTo>
                  <a:pt x="1110" y="370"/>
                  <a:pt x="1099" y="376"/>
                  <a:pt x="1091" y="388"/>
                </a:cubicBezTo>
                <a:cubicBezTo>
                  <a:pt x="1094" y="372"/>
                  <a:pt x="1094" y="372"/>
                  <a:pt x="1094" y="372"/>
                </a:cubicBezTo>
                <a:cubicBezTo>
                  <a:pt x="1076" y="372"/>
                  <a:pt x="1076" y="372"/>
                  <a:pt x="1076" y="372"/>
                </a:cubicBezTo>
                <a:cubicBezTo>
                  <a:pt x="1060" y="457"/>
                  <a:pt x="1060" y="457"/>
                  <a:pt x="1060" y="457"/>
                </a:cubicBezTo>
                <a:cubicBezTo>
                  <a:pt x="1080" y="457"/>
                  <a:pt x="1080" y="457"/>
                  <a:pt x="1080" y="457"/>
                </a:cubicBezTo>
                <a:cubicBezTo>
                  <a:pt x="1087" y="418"/>
                  <a:pt x="1087" y="418"/>
                  <a:pt x="1087" y="418"/>
                </a:cubicBezTo>
                <a:cubicBezTo>
                  <a:pt x="1091" y="398"/>
                  <a:pt x="1103" y="387"/>
                  <a:pt x="1112" y="387"/>
                </a:cubicBezTo>
                <a:cubicBezTo>
                  <a:pt x="1120" y="387"/>
                  <a:pt x="1123" y="392"/>
                  <a:pt x="1123" y="399"/>
                </a:cubicBezTo>
                <a:cubicBezTo>
                  <a:pt x="1123" y="402"/>
                  <a:pt x="1122" y="406"/>
                  <a:pt x="1122" y="409"/>
                </a:cubicBezTo>
                <a:cubicBezTo>
                  <a:pt x="1112" y="457"/>
                  <a:pt x="1112" y="457"/>
                  <a:pt x="1112" y="457"/>
                </a:cubicBezTo>
                <a:cubicBezTo>
                  <a:pt x="1133" y="457"/>
                  <a:pt x="1133" y="457"/>
                  <a:pt x="1133" y="457"/>
                </a:cubicBezTo>
                <a:cubicBezTo>
                  <a:pt x="1142" y="408"/>
                  <a:pt x="1142" y="408"/>
                  <a:pt x="1142" y="408"/>
                </a:cubicBezTo>
                <a:cubicBezTo>
                  <a:pt x="1143" y="403"/>
                  <a:pt x="1144" y="398"/>
                  <a:pt x="1144" y="394"/>
                </a:cubicBezTo>
                <a:close/>
                <a:moveTo>
                  <a:pt x="1026" y="370"/>
                </a:moveTo>
                <a:cubicBezTo>
                  <a:pt x="1015" y="370"/>
                  <a:pt x="1006" y="375"/>
                  <a:pt x="998" y="384"/>
                </a:cubicBezTo>
                <a:cubicBezTo>
                  <a:pt x="1006" y="344"/>
                  <a:pt x="1006" y="344"/>
                  <a:pt x="1006" y="344"/>
                </a:cubicBezTo>
                <a:cubicBezTo>
                  <a:pt x="985" y="344"/>
                  <a:pt x="985" y="344"/>
                  <a:pt x="985" y="344"/>
                </a:cubicBezTo>
                <a:cubicBezTo>
                  <a:pt x="964" y="457"/>
                  <a:pt x="964" y="457"/>
                  <a:pt x="964" y="457"/>
                </a:cubicBezTo>
                <a:cubicBezTo>
                  <a:pt x="984" y="457"/>
                  <a:pt x="984" y="457"/>
                  <a:pt x="984" y="457"/>
                </a:cubicBezTo>
                <a:cubicBezTo>
                  <a:pt x="991" y="418"/>
                  <a:pt x="991" y="418"/>
                  <a:pt x="991" y="418"/>
                </a:cubicBezTo>
                <a:cubicBezTo>
                  <a:pt x="991" y="418"/>
                  <a:pt x="991" y="418"/>
                  <a:pt x="991" y="418"/>
                </a:cubicBezTo>
                <a:cubicBezTo>
                  <a:pt x="995" y="398"/>
                  <a:pt x="1007" y="387"/>
                  <a:pt x="1016" y="387"/>
                </a:cubicBezTo>
                <a:cubicBezTo>
                  <a:pt x="1024" y="387"/>
                  <a:pt x="1027" y="392"/>
                  <a:pt x="1027" y="399"/>
                </a:cubicBezTo>
                <a:cubicBezTo>
                  <a:pt x="1027" y="402"/>
                  <a:pt x="1026" y="406"/>
                  <a:pt x="1026" y="409"/>
                </a:cubicBezTo>
                <a:cubicBezTo>
                  <a:pt x="1017" y="457"/>
                  <a:pt x="1017" y="457"/>
                  <a:pt x="1017" y="457"/>
                </a:cubicBezTo>
                <a:cubicBezTo>
                  <a:pt x="1037" y="457"/>
                  <a:pt x="1037" y="457"/>
                  <a:pt x="1037" y="457"/>
                </a:cubicBezTo>
                <a:cubicBezTo>
                  <a:pt x="1046" y="408"/>
                  <a:pt x="1046" y="408"/>
                  <a:pt x="1046" y="408"/>
                </a:cubicBezTo>
                <a:cubicBezTo>
                  <a:pt x="1047" y="403"/>
                  <a:pt x="1048" y="398"/>
                  <a:pt x="1048" y="394"/>
                </a:cubicBezTo>
                <a:cubicBezTo>
                  <a:pt x="1048" y="378"/>
                  <a:pt x="1038" y="370"/>
                  <a:pt x="1026" y="370"/>
                </a:cubicBezTo>
                <a:close/>
                <a:moveTo>
                  <a:pt x="791" y="350"/>
                </a:moveTo>
                <a:cubicBezTo>
                  <a:pt x="771" y="350"/>
                  <a:pt x="771" y="350"/>
                  <a:pt x="771" y="350"/>
                </a:cubicBezTo>
                <a:cubicBezTo>
                  <a:pt x="767" y="372"/>
                  <a:pt x="767" y="372"/>
                  <a:pt x="767" y="372"/>
                </a:cubicBezTo>
                <a:cubicBezTo>
                  <a:pt x="755" y="372"/>
                  <a:pt x="755" y="372"/>
                  <a:pt x="755" y="372"/>
                </a:cubicBezTo>
                <a:cubicBezTo>
                  <a:pt x="752" y="388"/>
                  <a:pt x="752" y="388"/>
                  <a:pt x="752" y="388"/>
                </a:cubicBezTo>
                <a:cubicBezTo>
                  <a:pt x="764" y="388"/>
                  <a:pt x="764" y="388"/>
                  <a:pt x="764" y="388"/>
                </a:cubicBezTo>
                <a:cubicBezTo>
                  <a:pt x="756" y="426"/>
                  <a:pt x="756" y="426"/>
                  <a:pt x="756" y="426"/>
                </a:cubicBezTo>
                <a:cubicBezTo>
                  <a:pt x="755" y="432"/>
                  <a:pt x="755" y="437"/>
                  <a:pt x="755" y="441"/>
                </a:cubicBezTo>
                <a:cubicBezTo>
                  <a:pt x="755" y="451"/>
                  <a:pt x="761" y="459"/>
                  <a:pt x="775" y="459"/>
                </a:cubicBezTo>
                <a:cubicBezTo>
                  <a:pt x="780" y="459"/>
                  <a:pt x="785" y="458"/>
                  <a:pt x="788" y="457"/>
                </a:cubicBezTo>
                <a:cubicBezTo>
                  <a:pt x="788" y="457"/>
                  <a:pt x="788" y="457"/>
                  <a:pt x="788" y="457"/>
                </a:cubicBezTo>
                <a:cubicBezTo>
                  <a:pt x="791" y="441"/>
                  <a:pt x="791" y="441"/>
                  <a:pt x="791" y="441"/>
                </a:cubicBezTo>
                <a:cubicBezTo>
                  <a:pt x="789" y="442"/>
                  <a:pt x="786" y="442"/>
                  <a:pt x="783" y="442"/>
                </a:cubicBezTo>
                <a:cubicBezTo>
                  <a:pt x="777" y="442"/>
                  <a:pt x="775" y="439"/>
                  <a:pt x="775" y="434"/>
                </a:cubicBezTo>
                <a:cubicBezTo>
                  <a:pt x="775" y="430"/>
                  <a:pt x="776" y="426"/>
                  <a:pt x="777" y="422"/>
                </a:cubicBezTo>
                <a:cubicBezTo>
                  <a:pt x="784" y="388"/>
                  <a:pt x="784" y="388"/>
                  <a:pt x="784" y="388"/>
                </a:cubicBezTo>
                <a:cubicBezTo>
                  <a:pt x="803" y="388"/>
                  <a:pt x="803" y="388"/>
                  <a:pt x="803" y="388"/>
                </a:cubicBezTo>
                <a:cubicBezTo>
                  <a:pt x="806" y="372"/>
                  <a:pt x="806" y="372"/>
                  <a:pt x="806" y="372"/>
                </a:cubicBezTo>
                <a:cubicBezTo>
                  <a:pt x="787" y="372"/>
                  <a:pt x="787" y="372"/>
                  <a:pt x="787" y="372"/>
                </a:cubicBezTo>
                <a:lnTo>
                  <a:pt x="791" y="350"/>
                </a:lnTo>
                <a:close/>
                <a:moveTo>
                  <a:pt x="1556" y="441"/>
                </a:moveTo>
                <a:cubicBezTo>
                  <a:pt x="1556" y="444"/>
                  <a:pt x="1556" y="444"/>
                  <a:pt x="1556" y="444"/>
                </a:cubicBezTo>
                <a:cubicBezTo>
                  <a:pt x="1551" y="444"/>
                  <a:pt x="1551" y="444"/>
                  <a:pt x="1551" y="444"/>
                </a:cubicBezTo>
                <a:cubicBezTo>
                  <a:pt x="1548" y="457"/>
                  <a:pt x="1548" y="457"/>
                  <a:pt x="1548" y="457"/>
                </a:cubicBezTo>
                <a:cubicBezTo>
                  <a:pt x="1546" y="457"/>
                  <a:pt x="1546" y="457"/>
                  <a:pt x="1546" y="457"/>
                </a:cubicBezTo>
                <a:cubicBezTo>
                  <a:pt x="1548" y="444"/>
                  <a:pt x="1548" y="444"/>
                  <a:pt x="1548" y="444"/>
                </a:cubicBezTo>
                <a:cubicBezTo>
                  <a:pt x="1543" y="444"/>
                  <a:pt x="1543" y="444"/>
                  <a:pt x="1543" y="444"/>
                </a:cubicBezTo>
                <a:cubicBezTo>
                  <a:pt x="1544" y="441"/>
                  <a:pt x="1544" y="441"/>
                  <a:pt x="1544" y="441"/>
                </a:cubicBezTo>
                <a:lnTo>
                  <a:pt x="1556" y="441"/>
                </a:lnTo>
                <a:close/>
                <a:moveTo>
                  <a:pt x="1576" y="441"/>
                </a:moveTo>
                <a:cubicBezTo>
                  <a:pt x="1573" y="457"/>
                  <a:pt x="1573" y="457"/>
                  <a:pt x="1573" y="457"/>
                </a:cubicBezTo>
                <a:cubicBezTo>
                  <a:pt x="1570" y="457"/>
                  <a:pt x="1570" y="457"/>
                  <a:pt x="1570" y="457"/>
                </a:cubicBezTo>
                <a:cubicBezTo>
                  <a:pt x="1572" y="446"/>
                  <a:pt x="1572" y="446"/>
                  <a:pt x="1572" y="446"/>
                </a:cubicBezTo>
                <a:cubicBezTo>
                  <a:pt x="1566" y="454"/>
                  <a:pt x="1566" y="454"/>
                  <a:pt x="1566" y="454"/>
                </a:cubicBezTo>
                <a:cubicBezTo>
                  <a:pt x="1564" y="454"/>
                  <a:pt x="1564" y="454"/>
                  <a:pt x="1564" y="454"/>
                </a:cubicBezTo>
                <a:cubicBezTo>
                  <a:pt x="1561" y="446"/>
                  <a:pt x="1561" y="446"/>
                  <a:pt x="1561" y="446"/>
                </a:cubicBezTo>
                <a:cubicBezTo>
                  <a:pt x="1559" y="457"/>
                  <a:pt x="1559" y="457"/>
                  <a:pt x="1559" y="457"/>
                </a:cubicBezTo>
                <a:cubicBezTo>
                  <a:pt x="1556" y="457"/>
                  <a:pt x="1556" y="457"/>
                  <a:pt x="1556" y="457"/>
                </a:cubicBezTo>
                <a:cubicBezTo>
                  <a:pt x="1559" y="441"/>
                  <a:pt x="1559" y="441"/>
                  <a:pt x="1559" y="441"/>
                </a:cubicBezTo>
                <a:cubicBezTo>
                  <a:pt x="1561" y="441"/>
                  <a:pt x="1561" y="441"/>
                  <a:pt x="1561" y="441"/>
                </a:cubicBezTo>
                <a:cubicBezTo>
                  <a:pt x="1566" y="450"/>
                  <a:pt x="1566" y="450"/>
                  <a:pt x="1566" y="450"/>
                </a:cubicBezTo>
                <a:cubicBezTo>
                  <a:pt x="1573" y="441"/>
                  <a:pt x="1573" y="441"/>
                  <a:pt x="1573" y="441"/>
                </a:cubicBezTo>
                <a:lnTo>
                  <a:pt x="1576" y="441"/>
                </a:lnTo>
                <a:close/>
                <a:moveTo>
                  <a:pt x="1472" y="489"/>
                </a:moveTo>
                <a:cubicBezTo>
                  <a:pt x="1488" y="496"/>
                  <a:pt x="1503" y="493"/>
                  <a:pt x="1514" y="473"/>
                </a:cubicBezTo>
                <a:cubicBezTo>
                  <a:pt x="1514" y="473"/>
                  <a:pt x="1514" y="473"/>
                  <a:pt x="1514" y="473"/>
                </a:cubicBezTo>
                <a:cubicBezTo>
                  <a:pt x="1571" y="372"/>
                  <a:pt x="1571" y="372"/>
                  <a:pt x="1571" y="372"/>
                </a:cubicBezTo>
                <a:cubicBezTo>
                  <a:pt x="1549" y="372"/>
                  <a:pt x="1549" y="372"/>
                  <a:pt x="1549" y="372"/>
                </a:cubicBezTo>
                <a:cubicBezTo>
                  <a:pt x="1517" y="435"/>
                  <a:pt x="1517" y="435"/>
                  <a:pt x="1517" y="435"/>
                </a:cubicBezTo>
                <a:cubicBezTo>
                  <a:pt x="1509" y="372"/>
                  <a:pt x="1509" y="372"/>
                  <a:pt x="1509" y="372"/>
                </a:cubicBezTo>
                <a:cubicBezTo>
                  <a:pt x="1488" y="372"/>
                  <a:pt x="1488" y="372"/>
                  <a:pt x="1488" y="372"/>
                </a:cubicBezTo>
                <a:cubicBezTo>
                  <a:pt x="1503" y="455"/>
                  <a:pt x="1503" y="455"/>
                  <a:pt x="1503" y="455"/>
                </a:cubicBezTo>
                <a:cubicBezTo>
                  <a:pt x="1497" y="468"/>
                  <a:pt x="1497" y="468"/>
                  <a:pt x="1497" y="468"/>
                </a:cubicBezTo>
                <a:cubicBezTo>
                  <a:pt x="1491" y="478"/>
                  <a:pt x="1480" y="475"/>
                  <a:pt x="1475" y="472"/>
                </a:cubicBezTo>
                <a:lnTo>
                  <a:pt x="1472" y="489"/>
                </a:lnTo>
                <a:close/>
                <a:moveTo>
                  <a:pt x="838" y="199"/>
                </a:moveTo>
                <a:cubicBezTo>
                  <a:pt x="838" y="217"/>
                  <a:pt x="832" y="232"/>
                  <a:pt x="820" y="244"/>
                </a:cubicBezTo>
                <a:cubicBezTo>
                  <a:pt x="804" y="260"/>
                  <a:pt x="778" y="269"/>
                  <a:pt x="746" y="269"/>
                </a:cubicBezTo>
                <a:cubicBezTo>
                  <a:pt x="724" y="269"/>
                  <a:pt x="701" y="263"/>
                  <a:pt x="688" y="255"/>
                </a:cubicBezTo>
                <a:cubicBezTo>
                  <a:pt x="696" y="210"/>
                  <a:pt x="696" y="210"/>
                  <a:pt x="696" y="210"/>
                </a:cubicBezTo>
                <a:cubicBezTo>
                  <a:pt x="710" y="218"/>
                  <a:pt x="734" y="226"/>
                  <a:pt x="752" y="226"/>
                </a:cubicBezTo>
                <a:cubicBezTo>
                  <a:pt x="767" y="226"/>
                  <a:pt x="776" y="219"/>
                  <a:pt x="776" y="208"/>
                </a:cubicBezTo>
                <a:cubicBezTo>
                  <a:pt x="776" y="198"/>
                  <a:pt x="769" y="191"/>
                  <a:pt x="752" y="182"/>
                </a:cubicBezTo>
                <a:cubicBezTo>
                  <a:pt x="724" y="168"/>
                  <a:pt x="710" y="151"/>
                  <a:pt x="710" y="130"/>
                </a:cubicBezTo>
                <a:cubicBezTo>
                  <a:pt x="710" y="88"/>
                  <a:pt x="745" y="60"/>
                  <a:pt x="798" y="60"/>
                </a:cubicBezTo>
                <a:cubicBezTo>
                  <a:pt x="825" y="60"/>
                  <a:pt x="844" y="67"/>
                  <a:pt x="854" y="73"/>
                </a:cubicBezTo>
                <a:cubicBezTo>
                  <a:pt x="845" y="119"/>
                  <a:pt x="845" y="119"/>
                  <a:pt x="845" y="119"/>
                </a:cubicBezTo>
                <a:cubicBezTo>
                  <a:pt x="837" y="113"/>
                  <a:pt x="817" y="104"/>
                  <a:pt x="795" y="104"/>
                </a:cubicBezTo>
                <a:cubicBezTo>
                  <a:pt x="779" y="104"/>
                  <a:pt x="769" y="111"/>
                  <a:pt x="769" y="121"/>
                </a:cubicBezTo>
                <a:cubicBezTo>
                  <a:pt x="769" y="129"/>
                  <a:pt x="777" y="136"/>
                  <a:pt x="793" y="144"/>
                </a:cubicBezTo>
                <a:cubicBezTo>
                  <a:pt x="814" y="155"/>
                  <a:pt x="838" y="170"/>
                  <a:pt x="838" y="199"/>
                </a:cubicBezTo>
                <a:close/>
                <a:moveTo>
                  <a:pt x="472" y="61"/>
                </a:moveTo>
                <a:cubicBezTo>
                  <a:pt x="398" y="61"/>
                  <a:pt x="342" y="115"/>
                  <a:pt x="342" y="187"/>
                </a:cubicBezTo>
                <a:cubicBezTo>
                  <a:pt x="342" y="237"/>
                  <a:pt x="375" y="269"/>
                  <a:pt x="426" y="269"/>
                </a:cubicBezTo>
                <a:cubicBezTo>
                  <a:pt x="448" y="269"/>
                  <a:pt x="469" y="265"/>
                  <a:pt x="483" y="258"/>
                </a:cubicBezTo>
                <a:cubicBezTo>
                  <a:pt x="493" y="209"/>
                  <a:pt x="493" y="209"/>
                  <a:pt x="493" y="209"/>
                </a:cubicBezTo>
                <a:cubicBezTo>
                  <a:pt x="474" y="218"/>
                  <a:pt x="460" y="221"/>
                  <a:pt x="443" y="221"/>
                </a:cubicBezTo>
                <a:cubicBezTo>
                  <a:pt x="424" y="221"/>
                  <a:pt x="404" y="211"/>
                  <a:pt x="404" y="181"/>
                </a:cubicBezTo>
                <a:cubicBezTo>
                  <a:pt x="404" y="145"/>
                  <a:pt x="429" y="108"/>
                  <a:pt x="472" y="108"/>
                </a:cubicBezTo>
                <a:cubicBezTo>
                  <a:pt x="484" y="108"/>
                  <a:pt x="495" y="111"/>
                  <a:pt x="504" y="116"/>
                </a:cubicBezTo>
                <a:cubicBezTo>
                  <a:pt x="513" y="68"/>
                  <a:pt x="513" y="68"/>
                  <a:pt x="513" y="68"/>
                </a:cubicBezTo>
                <a:cubicBezTo>
                  <a:pt x="503" y="63"/>
                  <a:pt x="487" y="61"/>
                  <a:pt x="472" y="61"/>
                </a:cubicBezTo>
                <a:close/>
                <a:moveTo>
                  <a:pt x="1515" y="223"/>
                </a:moveTo>
                <a:cubicBezTo>
                  <a:pt x="1540" y="223"/>
                  <a:pt x="1561" y="217"/>
                  <a:pt x="1585" y="203"/>
                </a:cubicBezTo>
                <a:cubicBezTo>
                  <a:pt x="1575" y="253"/>
                  <a:pt x="1575" y="253"/>
                  <a:pt x="1575" y="253"/>
                </a:cubicBezTo>
                <a:cubicBezTo>
                  <a:pt x="1547" y="267"/>
                  <a:pt x="1514" y="269"/>
                  <a:pt x="1501" y="269"/>
                </a:cubicBezTo>
                <a:cubicBezTo>
                  <a:pt x="1445" y="269"/>
                  <a:pt x="1414" y="238"/>
                  <a:pt x="1414" y="185"/>
                </a:cubicBezTo>
                <a:cubicBezTo>
                  <a:pt x="1414" y="154"/>
                  <a:pt x="1425" y="123"/>
                  <a:pt x="1445" y="100"/>
                </a:cubicBezTo>
                <a:cubicBezTo>
                  <a:pt x="1467" y="74"/>
                  <a:pt x="1497" y="60"/>
                  <a:pt x="1530" y="60"/>
                </a:cubicBezTo>
                <a:cubicBezTo>
                  <a:pt x="1572" y="60"/>
                  <a:pt x="1600" y="85"/>
                  <a:pt x="1600" y="121"/>
                </a:cubicBezTo>
                <a:cubicBezTo>
                  <a:pt x="1600" y="137"/>
                  <a:pt x="1595" y="151"/>
                  <a:pt x="1584" y="161"/>
                </a:cubicBezTo>
                <a:cubicBezTo>
                  <a:pt x="1564" y="181"/>
                  <a:pt x="1515" y="192"/>
                  <a:pt x="1470" y="183"/>
                </a:cubicBezTo>
                <a:cubicBezTo>
                  <a:pt x="1468" y="208"/>
                  <a:pt x="1487" y="223"/>
                  <a:pt x="1515" y="223"/>
                </a:cubicBezTo>
                <a:close/>
                <a:moveTo>
                  <a:pt x="1477" y="144"/>
                </a:moveTo>
                <a:cubicBezTo>
                  <a:pt x="1511" y="145"/>
                  <a:pt x="1531" y="141"/>
                  <a:pt x="1539" y="133"/>
                </a:cubicBezTo>
                <a:cubicBezTo>
                  <a:pt x="1549" y="124"/>
                  <a:pt x="1546" y="104"/>
                  <a:pt x="1523" y="104"/>
                </a:cubicBezTo>
                <a:cubicBezTo>
                  <a:pt x="1497" y="104"/>
                  <a:pt x="1481" y="125"/>
                  <a:pt x="1477" y="144"/>
                </a:cubicBezTo>
                <a:close/>
                <a:moveTo>
                  <a:pt x="1384" y="61"/>
                </a:moveTo>
                <a:cubicBezTo>
                  <a:pt x="1309" y="61"/>
                  <a:pt x="1253" y="115"/>
                  <a:pt x="1253" y="187"/>
                </a:cubicBezTo>
                <a:cubicBezTo>
                  <a:pt x="1253" y="237"/>
                  <a:pt x="1287" y="269"/>
                  <a:pt x="1338" y="269"/>
                </a:cubicBezTo>
                <a:cubicBezTo>
                  <a:pt x="1360" y="269"/>
                  <a:pt x="1381" y="265"/>
                  <a:pt x="1395" y="258"/>
                </a:cubicBezTo>
                <a:cubicBezTo>
                  <a:pt x="1404" y="209"/>
                  <a:pt x="1404" y="209"/>
                  <a:pt x="1404" y="209"/>
                </a:cubicBezTo>
                <a:cubicBezTo>
                  <a:pt x="1386" y="218"/>
                  <a:pt x="1371" y="221"/>
                  <a:pt x="1354" y="221"/>
                </a:cubicBezTo>
                <a:cubicBezTo>
                  <a:pt x="1336" y="221"/>
                  <a:pt x="1316" y="211"/>
                  <a:pt x="1316" y="181"/>
                </a:cubicBezTo>
                <a:cubicBezTo>
                  <a:pt x="1316" y="145"/>
                  <a:pt x="1341" y="108"/>
                  <a:pt x="1383" y="108"/>
                </a:cubicBezTo>
                <a:cubicBezTo>
                  <a:pt x="1396" y="108"/>
                  <a:pt x="1407" y="111"/>
                  <a:pt x="1416" y="116"/>
                </a:cubicBezTo>
                <a:cubicBezTo>
                  <a:pt x="1425" y="68"/>
                  <a:pt x="1425" y="68"/>
                  <a:pt x="1425" y="68"/>
                </a:cubicBezTo>
                <a:cubicBezTo>
                  <a:pt x="1414" y="63"/>
                  <a:pt x="1399" y="61"/>
                  <a:pt x="1384" y="61"/>
                </a:cubicBezTo>
                <a:close/>
                <a:moveTo>
                  <a:pt x="1244" y="153"/>
                </a:moveTo>
                <a:cubicBezTo>
                  <a:pt x="1222" y="265"/>
                  <a:pt x="1222" y="265"/>
                  <a:pt x="1222" y="265"/>
                </a:cubicBezTo>
                <a:cubicBezTo>
                  <a:pt x="1166" y="265"/>
                  <a:pt x="1166" y="265"/>
                  <a:pt x="1166" y="265"/>
                </a:cubicBezTo>
                <a:cubicBezTo>
                  <a:pt x="1173" y="226"/>
                  <a:pt x="1173" y="226"/>
                  <a:pt x="1173" y="226"/>
                </a:cubicBezTo>
                <a:cubicBezTo>
                  <a:pt x="1165" y="250"/>
                  <a:pt x="1146" y="269"/>
                  <a:pt x="1113" y="269"/>
                </a:cubicBezTo>
                <a:cubicBezTo>
                  <a:pt x="1074" y="269"/>
                  <a:pt x="1056" y="234"/>
                  <a:pt x="1056" y="199"/>
                </a:cubicBezTo>
                <a:cubicBezTo>
                  <a:pt x="1056" y="160"/>
                  <a:pt x="1072" y="120"/>
                  <a:pt x="1098" y="94"/>
                </a:cubicBezTo>
                <a:cubicBezTo>
                  <a:pt x="1120" y="72"/>
                  <a:pt x="1148" y="60"/>
                  <a:pt x="1180" y="60"/>
                </a:cubicBezTo>
                <a:cubicBezTo>
                  <a:pt x="1204" y="61"/>
                  <a:pt x="1222" y="67"/>
                  <a:pt x="1233" y="81"/>
                </a:cubicBezTo>
                <a:cubicBezTo>
                  <a:pt x="1249" y="101"/>
                  <a:pt x="1248" y="131"/>
                  <a:pt x="1244" y="153"/>
                </a:cubicBezTo>
                <a:close/>
                <a:moveTo>
                  <a:pt x="1189" y="127"/>
                </a:moveTo>
                <a:cubicBezTo>
                  <a:pt x="1188" y="113"/>
                  <a:pt x="1181" y="105"/>
                  <a:pt x="1168" y="105"/>
                </a:cubicBezTo>
                <a:cubicBezTo>
                  <a:pt x="1140" y="105"/>
                  <a:pt x="1116" y="154"/>
                  <a:pt x="1116" y="187"/>
                </a:cubicBezTo>
                <a:cubicBezTo>
                  <a:pt x="1116" y="208"/>
                  <a:pt x="1124" y="221"/>
                  <a:pt x="1137" y="221"/>
                </a:cubicBezTo>
                <a:cubicBezTo>
                  <a:pt x="1159" y="221"/>
                  <a:pt x="1177" y="198"/>
                  <a:pt x="1184" y="165"/>
                </a:cubicBezTo>
                <a:cubicBezTo>
                  <a:pt x="1186" y="154"/>
                  <a:pt x="1190" y="136"/>
                  <a:pt x="1189" y="127"/>
                </a:cubicBezTo>
                <a:close/>
                <a:moveTo>
                  <a:pt x="332" y="153"/>
                </a:moveTo>
                <a:cubicBezTo>
                  <a:pt x="311" y="265"/>
                  <a:pt x="311" y="265"/>
                  <a:pt x="311" y="265"/>
                </a:cubicBezTo>
                <a:cubicBezTo>
                  <a:pt x="254" y="265"/>
                  <a:pt x="254" y="265"/>
                  <a:pt x="254" y="265"/>
                </a:cubicBezTo>
                <a:cubicBezTo>
                  <a:pt x="261" y="226"/>
                  <a:pt x="261" y="226"/>
                  <a:pt x="261" y="226"/>
                </a:cubicBezTo>
                <a:cubicBezTo>
                  <a:pt x="254" y="250"/>
                  <a:pt x="234" y="269"/>
                  <a:pt x="202" y="269"/>
                </a:cubicBezTo>
                <a:cubicBezTo>
                  <a:pt x="162" y="269"/>
                  <a:pt x="144" y="234"/>
                  <a:pt x="144" y="199"/>
                </a:cubicBezTo>
                <a:cubicBezTo>
                  <a:pt x="144" y="160"/>
                  <a:pt x="160" y="120"/>
                  <a:pt x="186" y="94"/>
                </a:cubicBezTo>
                <a:cubicBezTo>
                  <a:pt x="208" y="72"/>
                  <a:pt x="236" y="60"/>
                  <a:pt x="268" y="60"/>
                </a:cubicBezTo>
                <a:cubicBezTo>
                  <a:pt x="292" y="61"/>
                  <a:pt x="310" y="67"/>
                  <a:pt x="321" y="81"/>
                </a:cubicBezTo>
                <a:cubicBezTo>
                  <a:pt x="338" y="101"/>
                  <a:pt x="336" y="131"/>
                  <a:pt x="332" y="153"/>
                </a:cubicBezTo>
                <a:close/>
                <a:moveTo>
                  <a:pt x="278" y="127"/>
                </a:moveTo>
                <a:cubicBezTo>
                  <a:pt x="277" y="113"/>
                  <a:pt x="270" y="105"/>
                  <a:pt x="256" y="105"/>
                </a:cubicBezTo>
                <a:cubicBezTo>
                  <a:pt x="229" y="105"/>
                  <a:pt x="204" y="154"/>
                  <a:pt x="204" y="187"/>
                </a:cubicBezTo>
                <a:cubicBezTo>
                  <a:pt x="204" y="208"/>
                  <a:pt x="212" y="221"/>
                  <a:pt x="226" y="221"/>
                </a:cubicBezTo>
                <a:cubicBezTo>
                  <a:pt x="247" y="221"/>
                  <a:pt x="266" y="198"/>
                  <a:pt x="272" y="165"/>
                </a:cubicBezTo>
                <a:cubicBezTo>
                  <a:pt x="274" y="154"/>
                  <a:pt x="278" y="136"/>
                  <a:pt x="278" y="127"/>
                </a:cubicBezTo>
                <a:close/>
                <a:moveTo>
                  <a:pt x="1052" y="137"/>
                </a:moveTo>
                <a:cubicBezTo>
                  <a:pt x="1052" y="185"/>
                  <a:pt x="1029" y="235"/>
                  <a:pt x="987" y="258"/>
                </a:cubicBezTo>
                <a:cubicBezTo>
                  <a:pt x="971" y="266"/>
                  <a:pt x="956" y="269"/>
                  <a:pt x="943" y="269"/>
                </a:cubicBezTo>
                <a:cubicBezTo>
                  <a:pt x="922" y="269"/>
                  <a:pt x="911" y="261"/>
                  <a:pt x="904" y="249"/>
                </a:cubicBezTo>
                <a:cubicBezTo>
                  <a:pt x="889" y="329"/>
                  <a:pt x="889" y="329"/>
                  <a:pt x="889" y="329"/>
                </a:cubicBezTo>
                <a:cubicBezTo>
                  <a:pt x="829" y="329"/>
                  <a:pt x="829" y="329"/>
                  <a:pt x="829" y="329"/>
                </a:cubicBezTo>
                <a:cubicBezTo>
                  <a:pt x="880" y="64"/>
                  <a:pt x="880" y="64"/>
                  <a:pt x="880" y="64"/>
                </a:cubicBezTo>
                <a:cubicBezTo>
                  <a:pt x="932" y="64"/>
                  <a:pt x="932" y="64"/>
                  <a:pt x="932" y="64"/>
                </a:cubicBezTo>
                <a:cubicBezTo>
                  <a:pt x="926" y="96"/>
                  <a:pt x="926" y="96"/>
                  <a:pt x="926" y="96"/>
                </a:cubicBezTo>
                <a:cubicBezTo>
                  <a:pt x="941" y="75"/>
                  <a:pt x="963" y="60"/>
                  <a:pt x="987" y="60"/>
                </a:cubicBezTo>
                <a:cubicBezTo>
                  <a:pt x="1027" y="60"/>
                  <a:pt x="1052" y="90"/>
                  <a:pt x="1052" y="137"/>
                </a:cubicBezTo>
                <a:close/>
                <a:moveTo>
                  <a:pt x="990" y="141"/>
                </a:moveTo>
                <a:cubicBezTo>
                  <a:pt x="990" y="132"/>
                  <a:pt x="988" y="109"/>
                  <a:pt x="966" y="109"/>
                </a:cubicBezTo>
                <a:cubicBezTo>
                  <a:pt x="944" y="109"/>
                  <a:pt x="926" y="134"/>
                  <a:pt x="918" y="172"/>
                </a:cubicBezTo>
                <a:cubicBezTo>
                  <a:pt x="916" y="185"/>
                  <a:pt x="909" y="224"/>
                  <a:pt x="936" y="224"/>
                </a:cubicBezTo>
                <a:cubicBezTo>
                  <a:pt x="967" y="224"/>
                  <a:pt x="990" y="180"/>
                  <a:pt x="990" y="141"/>
                </a:cubicBezTo>
                <a:close/>
                <a:moveTo>
                  <a:pt x="83" y="109"/>
                </a:moveTo>
                <a:cubicBezTo>
                  <a:pt x="91" y="64"/>
                  <a:pt x="91" y="64"/>
                  <a:pt x="91" y="64"/>
                </a:cubicBezTo>
                <a:cubicBezTo>
                  <a:pt x="39" y="64"/>
                  <a:pt x="39" y="64"/>
                  <a:pt x="39" y="64"/>
                </a:cubicBezTo>
                <a:cubicBezTo>
                  <a:pt x="0" y="268"/>
                  <a:pt x="0" y="268"/>
                  <a:pt x="0" y="268"/>
                </a:cubicBezTo>
                <a:cubicBezTo>
                  <a:pt x="59" y="268"/>
                  <a:pt x="59" y="268"/>
                  <a:pt x="59" y="268"/>
                </a:cubicBezTo>
                <a:cubicBezTo>
                  <a:pt x="75" y="184"/>
                  <a:pt x="75" y="184"/>
                  <a:pt x="75" y="184"/>
                </a:cubicBezTo>
                <a:cubicBezTo>
                  <a:pt x="85" y="135"/>
                  <a:pt x="113" y="115"/>
                  <a:pt x="154" y="121"/>
                </a:cubicBezTo>
                <a:cubicBezTo>
                  <a:pt x="165" y="60"/>
                  <a:pt x="165" y="60"/>
                  <a:pt x="165" y="60"/>
                </a:cubicBezTo>
                <a:cubicBezTo>
                  <a:pt x="129" y="56"/>
                  <a:pt x="96" y="77"/>
                  <a:pt x="83" y="109"/>
                </a:cubicBezTo>
                <a:close/>
                <a:moveTo>
                  <a:pt x="559" y="265"/>
                </a:moveTo>
                <a:cubicBezTo>
                  <a:pt x="579" y="157"/>
                  <a:pt x="579" y="157"/>
                  <a:pt x="579" y="157"/>
                </a:cubicBezTo>
                <a:cubicBezTo>
                  <a:pt x="621" y="265"/>
                  <a:pt x="621" y="265"/>
                  <a:pt x="621" y="265"/>
                </a:cubicBezTo>
                <a:cubicBezTo>
                  <a:pt x="685" y="265"/>
                  <a:pt x="685" y="265"/>
                  <a:pt x="685" y="265"/>
                </a:cubicBezTo>
                <a:cubicBezTo>
                  <a:pt x="641" y="157"/>
                  <a:pt x="641" y="157"/>
                  <a:pt x="641" y="157"/>
                </a:cubicBezTo>
                <a:cubicBezTo>
                  <a:pt x="721" y="64"/>
                  <a:pt x="721" y="64"/>
                  <a:pt x="721" y="64"/>
                </a:cubicBezTo>
                <a:cubicBezTo>
                  <a:pt x="656" y="64"/>
                  <a:pt x="656" y="64"/>
                  <a:pt x="656" y="64"/>
                </a:cubicBezTo>
                <a:cubicBezTo>
                  <a:pt x="579" y="156"/>
                  <a:pt x="579" y="156"/>
                  <a:pt x="579" y="156"/>
                </a:cubicBezTo>
                <a:cubicBezTo>
                  <a:pt x="609" y="0"/>
                  <a:pt x="609" y="0"/>
                  <a:pt x="609" y="0"/>
                </a:cubicBezTo>
                <a:cubicBezTo>
                  <a:pt x="550" y="0"/>
                  <a:pt x="550" y="0"/>
                  <a:pt x="550" y="0"/>
                </a:cubicBezTo>
                <a:cubicBezTo>
                  <a:pt x="500" y="265"/>
                  <a:pt x="500" y="265"/>
                  <a:pt x="500" y="265"/>
                </a:cubicBezTo>
                <a:lnTo>
                  <a:pt x="559" y="265"/>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sz="3600"/>
          </a:p>
        </p:txBody>
      </p:sp>
      <p:pic>
        <p:nvPicPr>
          <p:cNvPr id="11" name="Graphic 10">
            <a:extLst>
              <a:ext uri="{FF2B5EF4-FFF2-40B4-BE49-F238E27FC236}">
                <a16:creationId xmlns:a16="http://schemas.microsoft.com/office/drawing/2014/main" id="{E2097F27-DC5D-B0F0-CE35-0D1889844CE1}"/>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19159050" y="11386529"/>
            <a:ext cx="4567724" cy="2058482"/>
          </a:xfrm>
          <a:prstGeom prst="rect">
            <a:avLst/>
          </a:prstGeom>
        </p:spPr>
      </p:pic>
    </p:spTree>
    <p:extLst>
      <p:ext uri="{BB962C8B-B14F-4D97-AF65-F5344CB8AC3E}">
        <p14:creationId xmlns:p14="http://schemas.microsoft.com/office/powerpoint/2010/main" val="3962912488"/>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userDrawn="1">
  <p:cSld name="6_Single Column - Clouds">
    <p:spTree>
      <p:nvGrpSpPr>
        <p:cNvPr id="1" name=""/>
        <p:cNvGrpSpPr/>
        <p:nvPr/>
      </p:nvGrpSpPr>
      <p:grpSpPr>
        <a:xfrm>
          <a:off x="0" y="0"/>
          <a:ext cx="0" cy="0"/>
          <a:chOff x="0" y="0"/>
          <a:chExt cx="0" cy="0"/>
        </a:xfrm>
      </p:grpSpPr>
      <p:sp>
        <p:nvSpPr>
          <p:cNvPr id="3" name="Do not remove" hidden="1">
            <a:extLst>
              <a:ext uri="{FF2B5EF4-FFF2-40B4-BE49-F238E27FC236}">
                <a16:creationId xmlns:a16="http://schemas.microsoft.com/office/drawing/2014/main" id="{5A1D9BC3-452F-9EA4-DF34-837D316BE2C0}"/>
              </a:ext>
            </a:extLst>
          </p:cNvPr>
          <p:cNvSpPr/>
          <p:nvPr userDrawn="1">
            <p:custDataLst>
              <p:tags r:id="rId1"/>
            </p:custDataLst>
          </p:nvPr>
        </p:nvSpPr>
        <p:spPr>
          <a:xfrm>
            <a:off x="0" y="0"/>
            <a:ext cx="12700" cy="12700"/>
          </a:xfrm>
          <a:prstGeom prst="octagon">
            <a:avLst/>
          </a:prstGeom>
          <a:noFill/>
          <a:ln>
            <a:noFill/>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 name="Rectangle 1">
            <a:extLst>
              <a:ext uri="{FF2B5EF4-FFF2-40B4-BE49-F238E27FC236}">
                <a16:creationId xmlns:a16="http://schemas.microsoft.com/office/drawing/2014/main" id="{B55D1C46-DA5B-44B3-B594-6A390F5F6E6E}"/>
              </a:ext>
            </a:extLst>
          </p:cNvPr>
          <p:cNvSpPr/>
          <p:nvPr userDrawn="1"/>
        </p:nvSpPr>
        <p:spPr bwMode="white">
          <a:xfrm>
            <a:off x="0" y="0"/>
            <a:ext cx="12192000" cy="13716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Text Placeholder 6">
            <a:extLst>
              <a:ext uri="{FF2B5EF4-FFF2-40B4-BE49-F238E27FC236}">
                <a16:creationId xmlns:a16="http://schemas.microsoft.com/office/drawing/2014/main" id="{0C6E8562-C69B-42CE-9B97-C49901A78C63}"/>
              </a:ext>
            </a:extLst>
          </p:cNvPr>
          <p:cNvSpPr>
            <a:spLocks noGrp="1"/>
          </p:cNvSpPr>
          <p:nvPr>
            <p:ph type="body" sz="quarter" idx="12"/>
          </p:nvPr>
        </p:nvSpPr>
        <p:spPr>
          <a:xfrm>
            <a:off x="6477000" y="621792"/>
            <a:ext cx="17160240" cy="3488134"/>
          </a:xfrm>
        </p:spPr>
        <p:txBody>
          <a:bodyPr vert="horz" lIns="182880" tIns="0" rIns="0" bIns="0" rtlCol="0">
            <a:spAutoFit/>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Light" panose="020B0403050000020004" pitchFamily="34" charset="0"/>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Light" panose="020B0403050000020004" pitchFamily="34" charset="0"/>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Light" panose="020B0403050000020004" pitchFamily="34" charset="0"/>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Light" panose="020B0403050000020004" pitchFamily="34" charset="0"/>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lang="en-US" b="0" i="0">
                <a:latin typeface="Fira Sans Light" panose="020B0403050000020004" pitchFamily="34" charset="0"/>
              </a:defRPr>
            </a:lvl5p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sp>
        <p:nvSpPr>
          <p:cNvPr id="9" name="Text Placeholder 8">
            <a:extLst>
              <a:ext uri="{FF2B5EF4-FFF2-40B4-BE49-F238E27FC236}">
                <a16:creationId xmlns:a16="http://schemas.microsoft.com/office/drawing/2014/main" id="{CEE0D214-5EFB-4536-817F-2F16EEFF0DD4}"/>
              </a:ext>
            </a:extLst>
          </p:cNvPr>
          <p:cNvSpPr>
            <a:spLocks noGrp="1"/>
          </p:cNvSpPr>
          <p:nvPr>
            <p:ph type="body" sz="quarter" idx="13" hasCustomPrompt="1"/>
          </p:nvPr>
        </p:nvSpPr>
        <p:spPr>
          <a:xfrm>
            <a:off x="688975" y="3687499"/>
            <a:ext cx="5216526" cy="2339102"/>
          </a:xfrm>
        </p:spPr>
        <p:txBody>
          <a:bodyPr lIns="0" tIns="0" rIns="0">
            <a:spAutoFit/>
          </a:bodyPr>
          <a:lstStyle>
            <a:lvl1pPr marL="0" indent="0" algn="l" fontAlgn="base">
              <a:lnSpc>
                <a:spcPct val="100000"/>
              </a:lnSpc>
              <a:spcBef>
                <a:spcPts val="0"/>
              </a:spcBef>
              <a:buFont typeface="Arial" panose="020B0604020202020204" pitchFamily="34" charset="0"/>
              <a:buNone/>
              <a:defRPr lang="en-US" sz="3800" b="0" i="0" kern="1200" dirty="0">
                <a:ln w="3175">
                  <a:noFill/>
                </a:ln>
                <a:solidFill>
                  <a:schemeClr val="bg1"/>
                </a:solidFill>
                <a:latin typeface="Fira Sans Medium" panose="020B0503050000020004" pitchFamily="34" charset="0"/>
                <a:ea typeface="Fira Sans Medium" panose="020B0503050000020004" pitchFamily="34" charset="0"/>
                <a:cs typeface="+mn-cs"/>
              </a:defRPr>
            </a:lvl1pPr>
          </a:lstStyle>
          <a:p>
            <a:r>
              <a:rPr lang="en-US"/>
              <a:t>Subtitle or callout if needed, all titles and subtitles are sentence case </a:t>
            </a:r>
          </a:p>
        </p:txBody>
      </p:sp>
      <p:sp>
        <p:nvSpPr>
          <p:cNvPr id="5" name="Title 4">
            <a:extLst>
              <a:ext uri="{FF2B5EF4-FFF2-40B4-BE49-F238E27FC236}">
                <a16:creationId xmlns:a16="http://schemas.microsoft.com/office/drawing/2014/main" id="{34064204-D3C0-994D-BBAC-5C11DF588005}"/>
              </a:ext>
            </a:extLst>
          </p:cNvPr>
          <p:cNvSpPr>
            <a:spLocks noGrp="1"/>
          </p:cNvSpPr>
          <p:nvPr>
            <p:ph type="title"/>
          </p:nvPr>
        </p:nvSpPr>
        <p:spPr>
          <a:xfrm>
            <a:off x="668995" y="537179"/>
            <a:ext cx="5241586" cy="3062106"/>
          </a:xfrm>
        </p:spPr>
        <p:txBody>
          <a:bodyPr>
            <a:spAutoFit/>
          </a:bodyPr>
          <a:lstStyle>
            <a:lvl1pPr>
              <a:defRPr>
                <a:solidFill>
                  <a:schemeClr val="bg1"/>
                </a:solidFill>
              </a:defRPr>
            </a:lvl1pPr>
          </a:lstStyle>
          <a:p>
            <a:r>
              <a:rPr lang="en-US"/>
              <a:t>Click to edit Master title style</a:t>
            </a:r>
          </a:p>
        </p:txBody>
      </p:sp>
      <p:pic>
        <p:nvPicPr>
          <p:cNvPr id="10" name="Graphic 9">
            <a:extLst>
              <a:ext uri="{FF2B5EF4-FFF2-40B4-BE49-F238E27FC236}">
                <a16:creationId xmlns:a16="http://schemas.microsoft.com/office/drawing/2014/main" id="{560B9142-7D87-064B-BCED-0E0338E2CEBB}"/>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655810" y="12808078"/>
            <a:ext cx="2286000" cy="708660"/>
          </a:xfrm>
          <a:prstGeom prst="rect">
            <a:avLst/>
          </a:prstGeom>
        </p:spPr>
      </p:pic>
      <p:sp>
        <p:nvSpPr>
          <p:cNvPr id="12" name="Footer Placeholder 4">
            <a:extLst>
              <a:ext uri="{FF2B5EF4-FFF2-40B4-BE49-F238E27FC236}">
                <a16:creationId xmlns:a16="http://schemas.microsoft.com/office/drawing/2014/main" id="{51EF0F92-F9D8-774A-BEDF-4788A4D4BE10}"/>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3" name="Slide Number Placeholder 5">
            <a:extLst>
              <a:ext uri="{FF2B5EF4-FFF2-40B4-BE49-F238E27FC236}">
                <a16:creationId xmlns:a16="http://schemas.microsoft.com/office/drawing/2014/main" id="{A37D1E50-4538-8C42-905A-A71267A9B8E7}"/>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36656914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image" Target="../media/image1.png"/><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image" Target="../media/image3.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image" Target="../media/image2.svg"/><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56.xml"/><Relationship Id="rId13" Type="http://schemas.openxmlformats.org/officeDocument/2006/relationships/slideLayout" Target="../slideLayouts/slideLayout61.xml"/><Relationship Id="rId3" Type="http://schemas.openxmlformats.org/officeDocument/2006/relationships/slideLayout" Target="../slideLayouts/slideLayout51.xml"/><Relationship Id="rId7" Type="http://schemas.openxmlformats.org/officeDocument/2006/relationships/slideLayout" Target="../slideLayouts/slideLayout55.xml"/><Relationship Id="rId12" Type="http://schemas.openxmlformats.org/officeDocument/2006/relationships/slideLayout" Target="../slideLayouts/slideLayout60.xml"/><Relationship Id="rId2" Type="http://schemas.openxmlformats.org/officeDocument/2006/relationships/slideLayout" Target="../slideLayouts/slideLayout50.xml"/><Relationship Id="rId16" Type="http://schemas.openxmlformats.org/officeDocument/2006/relationships/image" Target="../media/image21.svg"/><Relationship Id="rId1" Type="http://schemas.openxmlformats.org/officeDocument/2006/relationships/slideLayout" Target="../slideLayouts/slideLayout49.xml"/><Relationship Id="rId6" Type="http://schemas.openxmlformats.org/officeDocument/2006/relationships/slideLayout" Target="../slideLayouts/slideLayout54.xml"/><Relationship Id="rId11" Type="http://schemas.openxmlformats.org/officeDocument/2006/relationships/slideLayout" Target="../slideLayouts/slideLayout59.xml"/><Relationship Id="rId5" Type="http://schemas.openxmlformats.org/officeDocument/2006/relationships/slideLayout" Target="../slideLayouts/slideLayout53.xml"/><Relationship Id="rId15" Type="http://schemas.openxmlformats.org/officeDocument/2006/relationships/image" Target="../media/image1.png"/><Relationship Id="rId10" Type="http://schemas.openxmlformats.org/officeDocument/2006/relationships/slideLayout" Target="../slideLayouts/slideLayout58.xml"/><Relationship Id="rId4" Type="http://schemas.openxmlformats.org/officeDocument/2006/relationships/slideLayout" Target="../slideLayouts/slideLayout52.xml"/><Relationship Id="rId9" Type="http://schemas.openxmlformats.org/officeDocument/2006/relationships/slideLayout" Target="../slideLayouts/slideLayout57.xml"/><Relationship Id="rId1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18" Type="http://schemas.openxmlformats.org/officeDocument/2006/relationships/slideLayout" Target="../slideLayouts/slideLayout79.xml"/><Relationship Id="rId26" Type="http://schemas.openxmlformats.org/officeDocument/2006/relationships/theme" Target="../theme/theme3.xml"/><Relationship Id="rId3" Type="http://schemas.openxmlformats.org/officeDocument/2006/relationships/slideLayout" Target="../slideLayouts/slideLayout64.xml"/><Relationship Id="rId21" Type="http://schemas.openxmlformats.org/officeDocument/2006/relationships/slideLayout" Target="../slideLayouts/slideLayout82.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17" Type="http://schemas.openxmlformats.org/officeDocument/2006/relationships/slideLayout" Target="../slideLayouts/slideLayout78.xml"/><Relationship Id="rId25" Type="http://schemas.openxmlformats.org/officeDocument/2006/relationships/slideLayout" Target="../slideLayouts/slideLayout86.xml"/><Relationship Id="rId2" Type="http://schemas.openxmlformats.org/officeDocument/2006/relationships/slideLayout" Target="../slideLayouts/slideLayout63.xml"/><Relationship Id="rId16" Type="http://schemas.openxmlformats.org/officeDocument/2006/relationships/slideLayout" Target="../slideLayouts/slideLayout77.xml"/><Relationship Id="rId20" Type="http://schemas.openxmlformats.org/officeDocument/2006/relationships/slideLayout" Target="../slideLayouts/slideLayout81.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24" Type="http://schemas.openxmlformats.org/officeDocument/2006/relationships/slideLayout" Target="../slideLayouts/slideLayout85.xml"/><Relationship Id="rId5" Type="http://schemas.openxmlformats.org/officeDocument/2006/relationships/slideLayout" Target="../slideLayouts/slideLayout66.xml"/><Relationship Id="rId15" Type="http://schemas.openxmlformats.org/officeDocument/2006/relationships/slideLayout" Target="../slideLayouts/slideLayout76.xml"/><Relationship Id="rId23" Type="http://schemas.openxmlformats.org/officeDocument/2006/relationships/slideLayout" Target="../slideLayouts/slideLayout84.xml"/><Relationship Id="rId28" Type="http://schemas.openxmlformats.org/officeDocument/2006/relationships/image" Target="../media/image15.svg"/><Relationship Id="rId10" Type="http://schemas.openxmlformats.org/officeDocument/2006/relationships/slideLayout" Target="../slideLayouts/slideLayout71.xml"/><Relationship Id="rId19" Type="http://schemas.openxmlformats.org/officeDocument/2006/relationships/slideLayout" Target="../slideLayouts/slideLayout80.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 Id="rId22" Type="http://schemas.openxmlformats.org/officeDocument/2006/relationships/slideLayout" Target="../slideLayouts/slideLayout83.xml"/><Relationship Id="rId27" Type="http://schemas.openxmlformats.org/officeDocument/2006/relationships/image" Target="../media/image5.png"/></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99.xml"/><Relationship Id="rId18" Type="http://schemas.openxmlformats.org/officeDocument/2006/relationships/slideLayout" Target="../slideLayouts/slideLayout104.xml"/><Relationship Id="rId26" Type="http://schemas.openxmlformats.org/officeDocument/2006/relationships/slideLayout" Target="../slideLayouts/slideLayout112.xml"/><Relationship Id="rId3" Type="http://schemas.openxmlformats.org/officeDocument/2006/relationships/slideLayout" Target="../slideLayouts/slideLayout89.xml"/><Relationship Id="rId21" Type="http://schemas.openxmlformats.org/officeDocument/2006/relationships/slideLayout" Target="../slideLayouts/slideLayout107.xml"/><Relationship Id="rId7" Type="http://schemas.openxmlformats.org/officeDocument/2006/relationships/slideLayout" Target="../slideLayouts/slideLayout93.xml"/><Relationship Id="rId12" Type="http://schemas.openxmlformats.org/officeDocument/2006/relationships/slideLayout" Target="../slideLayouts/slideLayout98.xml"/><Relationship Id="rId17" Type="http://schemas.openxmlformats.org/officeDocument/2006/relationships/slideLayout" Target="../slideLayouts/slideLayout103.xml"/><Relationship Id="rId25" Type="http://schemas.openxmlformats.org/officeDocument/2006/relationships/slideLayout" Target="../slideLayouts/slideLayout111.xml"/><Relationship Id="rId33" Type="http://schemas.openxmlformats.org/officeDocument/2006/relationships/image" Target="../media/image3.png"/><Relationship Id="rId2" Type="http://schemas.openxmlformats.org/officeDocument/2006/relationships/slideLayout" Target="../slideLayouts/slideLayout88.xml"/><Relationship Id="rId16" Type="http://schemas.openxmlformats.org/officeDocument/2006/relationships/slideLayout" Target="../slideLayouts/slideLayout102.xml"/><Relationship Id="rId20" Type="http://schemas.openxmlformats.org/officeDocument/2006/relationships/slideLayout" Target="../slideLayouts/slideLayout106.xml"/><Relationship Id="rId29" Type="http://schemas.openxmlformats.org/officeDocument/2006/relationships/slideLayout" Target="../slideLayouts/slideLayout115.xml"/><Relationship Id="rId1" Type="http://schemas.openxmlformats.org/officeDocument/2006/relationships/slideLayout" Target="../slideLayouts/slideLayout87.xml"/><Relationship Id="rId6" Type="http://schemas.openxmlformats.org/officeDocument/2006/relationships/slideLayout" Target="../slideLayouts/slideLayout92.xml"/><Relationship Id="rId11" Type="http://schemas.openxmlformats.org/officeDocument/2006/relationships/slideLayout" Target="../slideLayouts/slideLayout97.xml"/><Relationship Id="rId24" Type="http://schemas.openxmlformats.org/officeDocument/2006/relationships/slideLayout" Target="../slideLayouts/slideLayout110.xml"/><Relationship Id="rId32" Type="http://schemas.openxmlformats.org/officeDocument/2006/relationships/image" Target="../media/image2.svg"/><Relationship Id="rId5" Type="http://schemas.openxmlformats.org/officeDocument/2006/relationships/slideLayout" Target="../slideLayouts/slideLayout91.xml"/><Relationship Id="rId15" Type="http://schemas.openxmlformats.org/officeDocument/2006/relationships/slideLayout" Target="../slideLayouts/slideLayout101.xml"/><Relationship Id="rId23" Type="http://schemas.openxmlformats.org/officeDocument/2006/relationships/slideLayout" Target="../slideLayouts/slideLayout109.xml"/><Relationship Id="rId28" Type="http://schemas.openxmlformats.org/officeDocument/2006/relationships/slideLayout" Target="../slideLayouts/slideLayout114.xml"/><Relationship Id="rId10" Type="http://schemas.openxmlformats.org/officeDocument/2006/relationships/slideLayout" Target="../slideLayouts/slideLayout96.xml"/><Relationship Id="rId19" Type="http://schemas.openxmlformats.org/officeDocument/2006/relationships/slideLayout" Target="../slideLayouts/slideLayout105.xml"/><Relationship Id="rId31" Type="http://schemas.openxmlformats.org/officeDocument/2006/relationships/image" Target="../media/image1.png"/><Relationship Id="rId4" Type="http://schemas.openxmlformats.org/officeDocument/2006/relationships/slideLayout" Target="../slideLayouts/slideLayout90.xml"/><Relationship Id="rId9" Type="http://schemas.openxmlformats.org/officeDocument/2006/relationships/slideLayout" Target="../slideLayouts/slideLayout95.xml"/><Relationship Id="rId14" Type="http://schemas.openxmlformats.org/officeDocument/2006/relationships/slideLayout" Target="../slideLayouts/slideLayout100.xml"/><Relationship Id="rId22" Type="http://schemas.openxmlformats.org/officeDocument/2006/relationships/slideLayout" Target="../slideLayouts/slideLayout108.xml"/><Relationship Id="rId27" Type="http://schemas.openxmlformats.org/officeDocument/2006/relationships/slideLayout" Target="../slideLayouts/slideLayout113.xml"/><Relationship Id="rId30" Type="http://schemas.openxmlformats.org/officeDocument/2006/relationships/theme" Target="../theme/theme4.xml"/><Relationship Id="rId8" Type="http://schemas.openxmlformats.org/officeDocument/2006/relationships/slideLayout" Target="../slideLayouts/slideLayout94.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28.xml"/><Relationship Id="rId18" Type="http://schemas.openxmlformats.org/officeDocument/2006/relationships/slideLayout" Target="../slideLayouts/slideLayout133.xml"/><Relationship Id="rId26" Type="http://schemas.openxmlformats.org/officeDocument/2006/relationships/slideLayout" Target="../slideLayouts/slideLayout141.xml"/><Relationship Id="rId3" Type="http://schemas.openxmlformats.org/officeDocument/2006/relationships/slideLayout" Target="../slideLayouts/slideLayout118.xml"/><Relationship Id="rId21" Type="http://schemas.openxmlformats.org/officeDocument/2006/relationships/slideLayout" Target="../slideLayouts/slideLayout136.xml"/><Relationship Id="rId7" Type="http://schemas.openxmlformats.org/officeDocument/2006/relationships/slideLayout" Target="../slideLayouts/slideLayout122.xml"/><Relationship Id="rId12" Type="http://schemas.openxmlformats.org/officeDocument/2006/relationships/slideLayout" Target="../slideLayouts/slideLayout127.xml"/><Relationship Id="rId17" Type="http://schemas.openxmlformats.org/officeDocument/2006/relationships/slideLayout" Target="../slideLayouts/slideLayout132.xml"/><Relationship Id="rId25" Type="http://schemas.openxmlformats.org/officeDocument/2006/relationships/slideLayout" Target="../slideLayouts/slideLayout140.xml"/><Relationship Id="rId33" Type="http://schemas.openxmlformats.org/officeDocument/2006/relationships/image" Target="../media/image3.png"/><Relationship Id="rId2" Type="http://schemas.openxmlformats.org/officeDocument/2006/relationships/slideLayout" Target="../slideLayouts/slideLayout117.xml"/><Relationship Id="rId16" Type="http://schemas.openxmlformats.org/officeDocument/2006/relationships/slideLayout" Target="../slideLayouts/slideLayout131.xml"/><Relationship Id="rId20" Type="http://schemas.openxmlformats.org/officeDocument/2006/relationships/slideLayout" Target="../slideLayouts/slideLayout135.xml"/><Relationship Id="rId29" Type="http://schemas.openxmlformats.org/officeDocument/2006/relationships/slideLayout" Target="../slideLayouts/slideLayout144.xml"/><Relationship Id="rId1" Type="http://schemas.openxmlformats.org/officeDocument/2006/relationships/slideLayout" Target="../slideLayouts/slideLayout116.xml"/><Relationship Id="rId6" Type="http://schemas.openxmlformats.org/officeDocument/2006/relationships/slideLayout" Target="../slideLayouts/slideLayout121.xml"/><Relationship Id="rId11" Type="http://schemas.openxmlformats.org/officeDocument/2006/relationships/slideLayout" Target="../slideLayouts/slideLayout126.xml"/><Relationship Id="rId24" Type="http://schemas.openxmlformats.org/officeDocument/2006/relationships/slideLayout" Target="../slideLayouts/slideLayout139.xml"/><Relationship Id="rId32" Type="http://schemas.openxmlformats.org/officeDocument/2006/relationships/image" Target="../media/image2.svg"/><Relationship Id="rId5" Type="http://schemas.openxmlformats.org/officeDocument/2006/relationships/slideLayout" Target="../slideLayouts/slideLayout120.xml"/><Relationship Id="rId15" Type="http://schemas.openxmlformats.org/officeDocument/2006/relationships/slideLayout" Target="../slideLayouts/slideLayout130.xml"/><Relationship Id="rId23" Type="http://schemas.openxmlformats.org/officeDocument/2006/relationships/slideLayout" Target="../slideLayouts/slideLayout138.xml"/><Relationship Id="rId28" Type="http://schemas.openxmlformats.org/officeDocument/2006/relationships/slideLayout" Target="../slideLayouts/slideLayout143.xml"/><Relationship Id="rId10" Type="http://schemas.openxmlformats.org/officeDocument/2006/relationships/slideLayout" Target="../slideLayouts/slideLayout125.xml"/><Relationship Id="rId19" Type="http://schemas.openxmlformats.org/officeDocument/2006/relationships/slideLayout" Target="../slideLayouts/slideLayout134.xml"/><Relationship Id="rId31" Type="http://schemas.openxmlformats.org/officeDocument/2006/relationships/image" Target="../media/image1.png"/><Relationship Id="rId4" Type="http://schemas.openxmlformats.org/officeDocument/2006/relationships/slideLayout" Target="../slideLayouts/slideLayout119.xml"/><Relationship Id="rId9" Type="http://schemas.openxmlformats.org/officeDocument/2006/relationships/slideLayout" Target="../slideLayouts/slideLayout124.xml"/><Relationship Id="rId14" Type="http://schemas.openxmlformats.org/officeDocument/2006/relationships/slideLayout" Target="../slideLayouts/slideLayout129.xml"/><Relationship Id="rId22" Type="http://schemas.openxmlformats.org/officeDocument/2006/relationships/slideLayout" Target="../slideLayouts/slideLayout137.xml"/><Relationship Id="rId27" Type="http://schemas.openxmlformats.org/officeDocument/2006/relationships/slideLayout" Target="../slideLayouts/slideLayout142.xml"/><Relationship Id="rId30" Type="http://schemas.openxmlformats.org/officeDocument/2006/relationships/theme" Target="../theme/theme5.xml"/><Relationship Id="rId8" Type="http://schemas.openxmlformats.org/officeDocument/2006/relationships/slideLayout" Target="../slideLayouts/slideLayout12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52.xml"/><Relationship Id="rId13" Type="http://schemas.openxmlformats.org/officeDocument/2006/relationships/slideLayout" Target="../slideLayouts/slideLayout157.xml"/><Relationship Id="rId3" Type="http://schemas.openxmlformats.org/officeDocument/2006/relationships/slideLayout" Target="../slideLayouts/slideLayout147.xml"/><Relationship Id="rId7" Type="http://schemas.openxmlformats.org/officeDocument/2006/relationships/slideLayout" Target="../slideLayouts/slideLayout151.xml"/><Relationship Id="rId12" Type="http://schemas.openxmlformats.org/officeDocument/2006/relationships/slideLayout" Target="../slideLayouts/slideLayout156.xml"/><Relationship Id="rId2" Type="http://schemas.openxmlformats.org/officeDocument/2006/relationships/slideLayout" Target="../slideLayouts/slideLayout146.xml"/><Relationship Id="rId16" Type="http://schemas.openxmlformats.org/officeDocument/2006/relationships/image" Target="../media/image2.svg"/><Relationship Id="rId1" Type="http://schemas.openxmlformats.org/officeDocument/2006/relationships/slideLayout" Target="../slideLayouts/slideLayout145.xml"/><Relationship Id="rId6" Type="http://schemas.openxmlformats.org/officeDocument/2006/relationships/slideLayout" Target="../slideLayouts/slideLayout150.xml"/><Relationship Id="rId11" Type="http://schemas.openxmlformats.org/officeDocument/2006/relationships/slideLayout" Target="../slideLayouts/slideLayout155.xml"/><Relationship Id="rId5" Type="http://schemas.openxmlformats.org/officeDocument/2006/relationships/slideLayout" Target="../slideLayouts/slideLayout149.xml"/><Relationship Id="rId15" Type="http://schemas.openxmlformats.org/officeDocument/2006/relationships/image" Target="../media/image1.png"/><Relationship Id="rId10" Type="http://schemas.openxmlformats.org/officeDocument/2006/relationships/slideLayout" Target="../slideLayouts/slideLayout154.xml"/><Relationship Id="rId4" Type="http://schemas.openxmlformats.org/officeDocument/2006/relationships/slideLayout" Target="../slideLayouts/slideLayout148.xml"/><Relationship Id="rId9" Type="http://schemas.openxmlformats.org/officeDocument/2006/relationships/slideLayout" Target="../slideLayouts/slideLayout153.xml"/><Relationship Id="rId14"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170.xml"/><Relationship Id="rId18" Type="http://schemas.openxmlformats.org/officeDocument/2006/relationships/slideLayout" Target="../slideLayouts/slideLayout175.xml"/><Relationship Id="rId26" Type="http://schemas.openxmlformats.org/officeDocument/2006/relationships/slideLayout" Target="../slideLayouts/slideLayout183.xml"/><Relationship Id="rId3" Type="http://schemas.openxmlformats.org/officeDocument/2006/relationships/slideLayout" Target="../slideLayouts/slideLayout160.xml"/><Relationship Id="rId21" Type="http://schemas.openxmlformats.org/officeDocument/2006/relationships/slideLayout" Target="../slideLayouts/slideLayout178.xml"/><Relationship Id="rId34" Type="http://schemas.openxmlformats.org/officeDocument/2006/relationships/image" Target="../media/image2.svg"/><Relationship Id="rId7" Type="http://schemas.openxmlformats.org/officeDocument/2006/relationships/slideLayout" Target="../slideLayouts/slideLayout164.xml"/><Relationship Id="rId12" Type="http://schemas.openxmlformats.org/officeDocument/2006/relationships/slideLayout" Target="../slideLayouts/slideLayout169.xml"/><Relationship Id="rId17" Type="http://schemas.openxmlformats.org/officeDocument/2006/relationships/slideLayout" Target="../slideLayouts/slideLayout174.xml"/><Relationship Id="rId25" Type="http://schemas.openxmlformats.org/officeDocument/2006/relationships/slideLayout" Target="../slideLayouts/slideLayout182.xml"/><Relationship Id="rId33" Type="http://schemas.openxmlformats.org/officeDocument/2006/relationships/image" Target="../media/image1.png"/><Relationship Id="rId2" Type="http://schemas.openxmlformats.org/officeDocument/2006/relationships/slideLayout" Target="../slideLayouts/slideLayout159.xml"/><Relationship Id="rId16" Type="http://schemas.openxmlformats.org/officeDocument/2006/relationships/slideLayout" Target="../slideLayouts/slideLayout173.xml"/><Relationship Id="rId20" Type="http://schemas.openxmlformats.org/officeDocument/2006/relationships/slideLayout" Target="../slideLayouts/slideLayout177.xml"/><Relationship Id="rId29" Type="http://schemas.openxmlformats.org/officeDocument/2006/relationships/slideLayout" Target="../slideLayouts/slideLayout186.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11" Type="http://schemas.openxmlformats.org/officeDocument/2006/relationships/slideLayout" Target="../slideLayouts/slideLayout168.xml"/><Relationship Id="rId24" Type="http://schemas.openxmlformats.org/officeDocument/2006/relationships/slideLayout" Target="../slideLayouts/slideLayout181.xml"/><Relationship Id="rId32" Type="http://schemas.openxmlformats.org/officeDocument/2006/relationships/theme" Target="../theme/theme7.xml"/><Relationship Id="rId5" Type="http://schemas.openxmlformats.org/officeDocument/2006/relationships/slideLayout" Target="../slideLayouts/slideLayout162.xml"/><Relationship Id="rId15" Type="http://schemas.openxmlformats.org/officeDocument/2006/relationships/slideLayout" Target="../slideLayouts/slideLayout172.xml"/><Relationship Id="rId23" Type="http://schemas.openxmlformats.org/officeDocument/2006/relationships/slideLayout" Target="../slideLayouts/slideLayout180.xml"/><Relationship Id="rId28" Type="http://schemas.openxmlformats.org/officeDocument/2006/relationships/slideLayout" Target="../slideLayouts/slideLayout185.xml"/><Relationship Id="rId10" Type="http://schemas.openxmlformats.org/officeDocument/2006/relationships/slideLayout" Target="../slideLayouts/slideLayout167.xml"/><Relationship Id="rId19" Type="http://schemas.openxmlformats.org/officeDocument/2006/relationships/slideLayout" Target="../slideLayouts/slideLayout176.xml"/><Relationship Id="rId31" Type="http://schemas.openxmlformats.org/officeDocument/2006/relationships/slideLayout" Target="../slideLayouts/slideLayout188.xml"/><Relationship Id="rId4" Type="http://schemas.openxmlformats.org/officeDocument/2006/relationships/slideLayout" Target="../slideLayouts/slideLayout161.xml"/><Relationship Id="rId9" Type="http://schemas.openxmlformats.org/officeDocument/2006/relationships/slideLayout" Target="../slideLayouts/slideLayout166.xml"/><Relationship Id="rId14" Type="http://schemas.openxmlformats.org/officeDocument/2006/relationships/slideLayout" Target="../slideLayouts/slideLayout171.xml"/><Relationship Id="rId22" Type="http://schemas.openxmlformats.org/officeDocument/2006/relationships/slideLayout" Target="../slideLayouts/slideLayout179.xml"/><Relationship Id="rId27" Type="http://schemas.openxmlformats.org/officeDocument/2006/relationships/slideLayout" Target="../slideLayouts/slideLayout184.xml"/><Relationship Id="rId30" Type="http://schemas.openxmlformats.org/officeDocument/2006/relationships/slideLayout" Target="../slideLayouts/slideLayout187.xml"/><Relationship Id="rId35" Type="http://schemas.openxmlformats.org/officeDocument/2006/relationships/image" Target="../media/image3.png"/><Relationship Id="rId8" Type="http://schemas.openxmlformats.org/officeDocument/2006/relationships/slideLayout" Target="../slideLayouts/slideLayout16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96.xml"/><Relationship Id="rId13" Type="http://schemas.openxmlformats.org/officeDocument/2006/relationships/slideLayout" Target="../slideLayouts/slideLayout201.xml"/><Relationship Id="rId18" Type="http://schemas.openxmlformats.org/officeDocument/2006/relationships/image" Target="../media/image1.png"/><Relationship Id="rId3" Type="http://schemas.openxmlformats.org/officeDocument/2006/relationships/slideLayout" Target="../slideLayouts/slideLayout191.xml"/><Relationship Id="rId7" Type="http://schemas.openxmlformats.org/officeDocument/2006/relationships/slideLayout" Target="../slideLayouts/slideLayout195.xml"/><Relationship Id="rId12" Type="http://schemas.openxmlformats.org/officeDocument/2006/relationships/slideLayout" Target="../slideLayouts/slideLayout200.xml"/><Relationship Id="rId17" Type="http://schemas.openxmlformats.org/officeDocument/2006/relationships/theme" Target="../theme/theme8.xml"/><Relationship Id="rId2" Type="http://schemas.openxmlformats.org/officeDocument/2006/relationships/slideLayout" Target="../slideLayouts/slideLayout190.xml"/><Relationship Id="rId16" Type="http://schemas.openxmlformats.org/officeDocument/2006/relationships/slideLayout" Target="../slideLayouts/slideLayout204.xml"/><Relationship Id="rId1" Type="http://schemas.openxmlformats.org/officeDocument/2006/relationships/slideLayout" Target="../slideLayouts/slideLayout189.xml"/><Relationship Id="rId6" Type="http://schemas.openxmlformats.org/officeDocument/2006/relationships/slideLayout" Target="../slideLayouts/slideLayout194.xml"/><Relationship Id="rId11" Type="http://schemas.openxmlformats.org/officeDocument/2006/relationships/slideLayout" Target="../slideLayouts/slideLayout199.xml"/><Relationship Id="rId5" Type="http://schemas.openxmlformats.org/officeDocument/2006/relationships/slideLayout" Target="../slideLayouts/slideLayout193.xml"/><Relationship Id="rId15" Type="http://schemas.openxmlformats.org/officeDocument/2006/relationships/slideLayout" Target="../slideLayouts/slideLayout203.xml"/><Relationship Id="rId10" Type="http://schemas.openxmlformats.org/officeDocument/2006/relationships/slideLayout" Target="../slideLayouts/slideLayout198.xml"/><Relationship Id="rId19" Type="http://schemas.openxmlformats.org/officeDocument/2006/relationships/image" Target="../media/image2.svg"/><Relationship Id="rId4" Type="http://schemas.openxmlformats.org/officeDocument/2006/relationships/slideLayout" Target="../slideLayouts/slideLayout192.xml"/><Relationship Id="rId9" Type="http://schemas.openxmlformats.org/officeDocument/2006/relationships/slideLayout" Target="../slideLayouts/slideLayout197.xml"/><Relationship Id="rId14" Type="http://schemas.openxmlformats.org/officeDocument/2006/relationships/slideLayout" Target="../slideLayouts/slideLayout202.xml"/></Relationships>
</file>

<file path=ppt/slideMasters/_rels/slideMaster9.xml.rels><?xml version="1.0" encoding="UTF-8" standalone="yes"?>
<Relationships xmlns="http://schemas.openxmlformats.org/package/2006/relationships"><Relationship Id="rId13" Type="http://schemas.openxmlformats.org/officeDocument/2006/relationships/slideLayout" Target="../slideLayouts/slideLayout217.xml"/><Relationship Id="rId18" Type="http://schemas.openxmlformats.org/officeDocument/2006/relationships/slideLayout" Target="../slideLayouts/slideLayout222.xml"/><Relationship Id="rId26" Type="http://schemas.openxmlformats.org/officeDocument/2006/relationships/slideLayout" Target="../slideLayouts/slideLayout230.xml"/><Relationship Id="rId39" Type="http://schemas.openxmlformats.org/officeDocument/2006/relationships/slideLayout" Target="../slideLayouts/slideLayout243.xml"/><Relationship Id="rId21" Type="http://schemas.openxmlformats.org/officeDocument/2006/relationships/slideLayout" Target="../slideLayouts/slideLayout225.xml"/><Relationship Id="rId34" Type="http://schemas.openxmlformats.org/officeDocument/2006/relationships/slideLayout" Target="../slideLayouts/slideLayout238.xml"/><Relationship Id="rId7" Type="http://schemas.openxmlformats.org/officeDocument/2006/relationships/slideLayout" Target="../slideLayouts/slideLayout211.xml"/><Relationship Id="rId2" Type="http://schemas.openxmlformats.org/officeDocument/2006/relationships/slideLayout" Target="../slideLayouts/slideLayout206.xml"/><Relationship Id="rId16" Type="http://schemas.openxmlformats.org/officeDocument/2006/relationships/slideLayout" Target="../slideLayouts/slideLayout220.xml"/><Relationship Id="rId20" Type="http://schemas.openxmlformats.org/officeDocument/2006/relationships/slideLayout" Target="../slideLayouts/slideLayout224.xml"/><Relationship Id="rId29" Type="http://schemas.openxmlformats.org/officeDocument/2006/relationships/slideLayout" Target="../slideLayouts/slideLayout233.xml"/><Relationship Id="rId41" Type="http://schemas.openxmlformats.org/officeDocument/2006/relationships/theme" Target="../theme/theme9.xml"/><Relationship Id="rId1" Type="http://schemas.openxmlformats.org/officeDocument/2006/relationships/slideLayout" Target="../slideLayouts/slideLayout205.xml"/><Relationship Id="rId6" Type="http://schemas.openxmlformats.org/officeDocument/2006/relationships/slideLayout" Target="../slideLayouts/slideLayout210.xml"/><Relationship Id="rId11" Type="http://schemas.openxmlformats.org/officeDocument/2006/relationships/slideLayout" Target="../slideLayouts/slideLayout215.xml"/><Relationship Id="rId24" Type="http://schemas.openxmlformats.org/officeDocument/2006/relationships/slideLayout" Target="../slideLayouts/slideLayout228.xml"/><Relationship Id="rId32" Type="http://schemas.openxmlformats.org/officeDocument/2006/relationships/slideLayout" Target="../slideLayouts/slideLayout236.xml"/><Relationship Id="rId37" Type="http://schemas.openxmlformats.org/officeDocument/2006/relationships/slideLayout" Target="../slideLayouts/slideLayout241.xml"/><Relationship Id="rId40" Type="http://schemas.openxmlformats.org/officeDocument/2006/relationships/slideLayout" Target="../slideLayouts/slideLayout244.xml"/><Relationship Id="rId5" Type="http://schemas.openxmlformats.org/officeDocument/2006/relationships/slideLayout" Target="../slideLayouts/slideLayout209.xml"/><Relationship Id="rId15" Type="http://schemas.openxmlformats.org/officeDocument/2006/relationships/slideLayout" Target="../slideLayouts/slideLayout219.xml"/><Relationship Id="rId23" Type="http://schemas.openxmlformats.org/officeDocument/2006/relationships/slideLayout" Target="../slideLayouts/slideLayout227.xml"/><Relationship Id="rId28" Type="http://schemas.openxmlformats.org/officeDocument/2006/relationships/slideLayout" Target="../slideLayouts/slideLayout232.xml"/><Relationship Id="rId36" Type="http://schemas.openxmlformats.org/officeDocument/2006/relationships/slideLayout" Target="../slideLayouts/slideLayout240.xml"/><Relationship Id="rId10" Type="http://schemas.openxmlformats.org/officeDocument/2006/relationships/slideLayout" Target="../slideLayouts/slideLayout214.xml"/><Relationship Id="rId19" Type="http://schemas.openxmlformats.org/officeDocument/2006/relationships/slideLayout" Target="../slideLayouts/slideLayout223.xml"/><Relationship Id="rId31" Type="http://schemas.openxmlformats.org/officeDocument/2006/relationships/slideLayout" Target="../slideLayouts/slideLayout235.xml"/><Relationship Id="rId4" Type="http://schemas.openxmlformats.org/officeDocument/2006/relationships/slideLayout" Target="../slideLayouts/slideLayout208.xml"/><Relationship Id="rId9" Type="http://schemas.openxmlformats.org/officeDocument/2006/relationships/slideLayout" Target="../slideLayouts/slideLayout213.xml"/><Relationship Id="rId14" Type="http://schemas.openxmlformats.org/officeDocument/2006/relationships/slideLayout" Target="../slideLayouts/slideLayout218.xml"/><Relationship Id="rId22" Type="http://schemas.openxmlformats.org/officeDocument/2006/relationships/slideLayout" Target="../slideLayouts/slideLayout226.xml"/><Relationship Id="rId27" Type="http://schemas.openxmlformats.org/officeDocument/2006/relationships/slideLayout" Target="../slideLayouts/slideLayout231.xml"/><Relationship Id="rId30" Type="http://schemas.openxmlformats.org/officeDocument/2006/relationships/slideLayout" Target="../slideLayouts/slideLayout234.xml"/><Relationship Id="rId35" Type="http://schemas.openxmlformats.org/officeDocument/2006/relationships/slideLayout" Target="../slideLayouts/slideLayout239.xml"/><Relationship Id="rId8" Type="http://schemas.openxmlformats.org/officeDocument/2006/relationships/slideLayout" Target="../slideLayouts/slideLayout212.xml"/><Relationship Id="rId3" Type="http://schemas.openxmlformats.org/officeDocument/2006/relationships/slideLayout" Target="../slideLayouts/slideLayout207.xml"/><Relationship Id="rId12" Type="http://schemas.openxmlformats.org/officeDocument/2006/relationships/slideLayout" Target="../slideLayouts/slideLayout216.xml"/><Relationship Id="rId17" Type="http://schemas.openxmlformats.org/officeDocument/2006/relationships/slideLayout" Target="../slideLayouts/slideLayout221.xml"/><Relationship Id="rId25" Type="http://schemas.openxmlformats.org/officeDocument/2006/relationships/slideLayout" Target="../slideLayouts/slideLayout229.xml"/><Relationship Id="rId33" Type="http://schemas.openxmlformats.org/officeDocument/2006/relationships/slideLayout" Target="../slideLayouts/slideLayout237.xml"/><Relationship Id="rId38" Type="http://schemas.openxmlformats.org/officeDocument/2006/relationships/slideLayout" Target="../slideLayouts/slideLayout242.xml"/></Relationships>
</file>

<file path=ppt/slideMasters/_rels/slideMaster10.xml.rels><?xml version="1.0" encoding="UTF-8" standalone="yes"?>
<Relationships xmlns="http://schemas.openxmlformats.org/package/2006/relationships"><Relationship Id="rId13" Type="http://schemas.openxmlformats.org/officeDocument/2006/relationships/slideLayout" Target="../slideLayouts/slideLayout257.xml"/><Relationship Id="rId18" Type="http://schemas.openxmlformats.org/officeDocument/2006/relationships/slideLayout" Target="../slideLayouts/slideLayout262.xml"/><Relationship Id="rId26" Type="http://schemas.openxmlformats.org/officeDocument/2006/relationships/slideLayout" Target="../slideLayouts/slideLayout270.xml"/><Relationship Id="rId39" Type="http://schemas.openxmlformats.org/officeDocument/2006/relationships/slideLayout" Target="../slideLayouts/slideLayout283.xml"/><Relationship Id="rId21" Type="http://schemas.openxmlformats.org/officeDocument/2006/relationships/slideLayout" Target="../slideLayouts/slideLayout265.xml"/><Relationship Id="rId34" Type="http://schemas.openxmlformats.org/officeDocument/2006/relationships/slideLayout" Target="../slideLayouts/slideLayout278.xml"/><Relationship Id="rId42" Type="http://schemas.openxmlformats.org/officeDocument/2006/relationships/slideLayout" Target="../slideLayouts/slideLayout286.xml"/><Relationship Id="rId7" Type="http://schemas.openxmlformats.org/officeDocument/2006/relationships/slideLayout" Target="../slideLayouts/slideLayout251.xml"/><Relationship Id="rId2" Type="http://schemas.openxmlformats.org/officeDocument/2006/relationships/slideLayout" Target="../slideLayouts/slideLayout246.xml"/><Relationship Id="rId16" Type="http://schemas.openxmlformats.org/officeDocument/2006/relationships/slideLayout" Target="../slideLayouts/slideLayout260.xml"/><Relationship Id="rId29" Type="http://schemas.openxmlformats.org/officeDocument/2006/relationships/slideLayout" Target="../slideLayouts/slideLayout273.xml"/><Relationship Id="rId1" Type="http://schemas.openxmlformats.org/officeDocument/2006/relationships/slideLayout" Target="../slideLayouts/slideLayout245.xml"/><Relationship Id="rId6" Type="http://schemas.openxmlformats.org/officeDocument/2006/relationships/slideLayout" Target="../slideLayouts/slideLayout250.xml"/><Relationship Id="rId11" Type="http://schemas.openxmlformats.org/officeDocument/2006/relationships/slideLayout" Target="../slideLayouts/slideLayout255.xml"/><Relationship Id="rId24" Type="http://schemas.openxmlformats.org/officeDocument/2006/relationships/slideLayout" Target="../slideLayouts/slideLayout268.xml"/><Relationship Id="rId32" Type="http://schemas.openxmlformats.org/officeDocument/2006/relationships/slideLayout" Target="../slideLayouts/slideLayout276.xml"/><Relationship Id="rId37" Type="http://schemas.openxmlformats.org/officeDocument/2006/relationships/slideLayout" Target="../slideLayouts/slideLayout281.xml"/><Relationship Id="rId40" Type="http://schemas.openxmlformats.org/officeDocument/2006/relationships/slideLayout" Target="../slideLayouts/slideLayout284.xml"/><Relationship Id="rId45" Type="http://schemas.openxmlformats.org/officeDocument/2006/relationships/image" Target="../media/image17.emf"/><Relationship Id="rId5" Type="http://schemas.openxmlformats.org/officeDocument/2006/relationships/slideLayout" Target="../slideLayouts/slideLayout249.xml"/><Relationship Id="rId15" Type="http://schemas.openxmlformats.org/officeDocument/2006/relationships/slideLayout" Target="../slideLayouts/slideLayout259.xml"/><Relationship Id="rId23" Type="http://schemas.openxmlformats.org/officeDocument/2006/relationships/slideLayout" Target="../slideLayouts/slideLayout267.xml"/><Relationship Id="rId28" Type="http://schemas.openxmlformats.org/officeDocument/2006/relationships/slideLayout" Target="../slideLayouts/slideLayout272.xml"/><Relationship Id="rId36" Type="http://schemas.openxmlformats.org/officeDocument/2006/relationships/slideLayout" Target="../slideLayouts/slideLayout280.xml"/><Relationship Id="rId10" Type="http://schemas.openxmlformats.org/officeDocument/2006/relationships/slideLayout" Target="../slideLayouts/slideLayout254.xml"/><Relationship Id="rId19" Type="http://schemas.openxmlformats.org/officeDocument/2006/relationships/slideLayout" Target="../slideLayouts/slideLayout263.xml"/><Relationship Id="rId31" Type="http://schemas.openxmlformats.org/officeDocument/2006/relationships/slideLayout" Target="../slideLayouts/slideLayout275.xml"/><Relationship Id="rId44" Type="http://schemas.openxmlformats.org/officeDocument/2006/relationships/theme" Target="../theme/theme10.xml"/><Relationship Id="rId4" Type="http://schemas.openxmlformats.org/officeDocument/2006/relationships/slideLayout" Target="../slideLayouts/slideLayout248.xml"/><Relationship Id="rId9" Type="http://schemas.openxmlformats.org/officeDocument/2006/relationships/slideLayout" Target="../slideLayouts/slideLayout253.xml"/><Relationship Id="rId14" Type="http://schemas.openxmlformats.org/officeDocument/2006/relationships/slideLayout" Target="../slideLayouts/slideLayout258.xml"/><Relationship Id="rId22" Type="http://schemas.openxmlformats.org/officeDocument/2006/relationships/slideLayout" Target="../slideLayouts/slideLayout266.xml"/><Relationship Id="rId27" Type="http://schemas.openxmlformats.org/officeDocument/2006/relationships/slideLayout" Target="../slideLayouts/slideLayout271.xml"/><Relationship Id="rId30" Type="http://schemas.openxmlformats.org/officeDocument/2006/relationships/slideLayout" Target="../slideLayouts/slideLayout274.xml"/><Relationship Id="rId35" Type="http://schemas.openxmlformats.org/officeDocument/2006/relationships/slideLayout" Target="../slideLayouts/slideLayout279.xml"/><Relationship Id="rId43" Type="http://schemas.openxmlformats.org/officeDocument/2006/relationships/slideLayout" Target="../slideLayouts/slideLayout287.xml"/><Relationship Id="rId8" Type="http://schemas.openxmlformats.org/officeDocument/2006/relationships/slideLayout" Target="../slideLayouts/slideLayout252.xml"/><Relationship Id="rId3" Type="http://schemas.openxmlformats.org/officeDocument/2006/relationships/slideLayout" Target="../slideLayouts/slideLayout247.xml"/><Relationship Id="rId12" Type="http://schemas.openxmlformats.org/officeDocument/2006/relationships/slideLayout" Target="../slideLayouts/slideLayout256.xml"/><Relationship Id="rId17" Type="http://schemas.openxmlformats.org/officeDocument/2006/relationships/slideLayout" Target="../slideLayouts/slideLayout261.xml"/><Relationship Id="rId25" Type="http://schemas.openxmlformats.org/officeDocument/2006/relationships/slideLayout" Target="../slideLayouts/slideLayout269.xml"/><Relationship Id="rId33" Type="http://schemas.openxmlformats.org/officeDocument/2006/relationships/slideLayout" Target="../slideLayouts/slideLayout277.xml"/><Relationship Id="rId38" Type="http://schemas.openxmlformats.org/officeDocument/2006/relationships/slideLayout" Target="../slideLayouts/slideLayout282.xml"/><Relationship Id="rId20" Type="http://schemas.openxmlformats.org/officeDocument/2006/relationships/slideLayout" Target="../slideLayouts/slideLayout264.xml"/><Relationship Id="rId41" Type="http://schemas.openxmlformats.org/officeDocument/2006/relationships/slideLayout" Target="../slideLayouts/slideLayout285.xm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300.xml"/><Relationship Id="rId18" Type="http://schemas.openxmlformats.org/officeDocument/2006/relationships/slideLayout" Target="../slideLayouts/slideLayout305.xml"/><Relationship Id="rId26" Type="http://schemas.openxmlformats.org/officeDocument/2006/relationships/slideLayout" Target="../slideLayouts/slideLayout313.xml"/><Relationship Id="rId39" Type="http://schemas.openxmlformats.org/officeDocument/2006/relationships/slideLayout" Target="../slideLayouts/slideLayout326.xml"/><Relationship Id="rId21" Type="http://schemas.openxmlformats.org/officeDocument/2006/relationships/slideLayout" Target="../slideLayouts/slideLayout308.xml"/><Relationship Id="rId34" Type="http://schemas.openxmlformats.org/officeDocument/2006/relationships/slideLayout" Target="../slideLayouts/slideLayout321.xml"/><Relationship Id="rId42" Type="http://schemas.openxmlformats.org/officeDocument/2006/relationships/image" Target="../media/image17.emf"/><Relationship Id="rId7" Type="http://schemas.openxmlformats.org/officeDocument/2006/relationships/slideLayout" Target="../slideLayouts/slideLayout294.xml"/><Relationship Id="rId2" Type="http://schemas.openxmlformats.org/officeDocument/2006/relationships/slideLayout" Target="../slideLayouts/slideLayout289.xml"/><Relationship Id="rId16" Type="http://schemas.openxmlformats.org/officeDocument/2006/relationships/slideLayout" Target="../slideLayouts/slideLayout303.xml"/><Relationship Id="rId20" Type="http://schemas.openxmlformats.org/officeDocument/2006/relationships/slideLayout" Target="../slideLayouts/slideLayout307.xml"/><Relationship Id="rId29" Type="http://schemas.openxmlformats.org/officeDocument/2006/relationships/slideLayout" Target="../slideLayouts/slideLayout316.xml"/><Relationship Id="rId41" Type="http://schemas.openxmlformats.org/officeDocument/2006/relationships/theme" Target="../theme/theme11.xml"/><Relationship Id="rId1" Type="http://schemas.openxmlformats.org/officeDocument/2006/relationships/slideLayout" Target="../slideLayouts/slideLayout288.xml"/><Relationship Id="rId6" Type="http://schemas.openxmlformats.org/officeDocument/2006/relationships/slideLayout" Target="../slideLayouts/slideLayout293.xml"/><Relationship Id="rId11" Type="http://schemas.openxmlformats.org/officeDocument/2006/relationships/slideLayout" Target="../slideLayouts/slideLayout298.xml"/><Relationship Id="rId24" Type="http://schemas.openxmlformats.org/officeDocument/2006/relationships/slideLayout" Target="../slideLayouts/slideLayout311.xml"/><Relationship Id="rId32" Type="http://schemas.openxmlformats.org/officeDocument/2006/relationships/slideLayout" Target="../slideLayouts/slideLayout319.xml"/><Relationship Id="rId37" Type="http://schemas.openxmlformats.org/officeDocument/2006/relationships/slideLayout" Target="../slideLayouts/slideLayout324.xml"/><Relationship Id="rId40" Type="http://schemas.openxmlformats.org/officeDocument/2006/relationships/slideLayout" Target="../slideLayouts/slideLayout327.xml"/><Relationship Id="rId5" Type="http://schemas.openxmlformats.org/officeDocument/2006/relationships/slideLayout" Target="../slideLayouts/slideLayout292.xml"/><Relationship Id="rId15" Type="http://schemas.openxmlformats.org/officeDocument/2006/relationships/slideLayout" Target="../slideLayouts/slideLayout302.xml"/><Relationship Id="rId23" Type="http://schemas.openxmlformats.org/officeDocument/2006/relationships/slideLayout" Target="../slideLayouts/slideLayout310.xml"/><Relationship Id="rId28" Type="http://schemas.openxmlformats.org/officeDocument/2006/relationships/slideLayout" Target="../slideLayouts/slideLayout315.xml"/><Relationship Id="rId36" Type="http://schemas.openxmlformats.org/officeDocument/2006/relationships/slideLayout" Target="../slideLayouts/slideLayout323.xml"/><Relationship Id="rId10" Type="http://schemas.openxmlformats.org/officeDocument/2006/relationships/slideLayout" Target="../slideLayouts/slideLayout297.xml"/><Relationship Id="rId19" Type="http://schemas.openxmlformats.org/officeDocument/2006/relationships/slideLayout" Target="../slideLayouts/slideLayout306.xml"/><Relationship Id="rId31" Type="http://schemas.openxmlformats.org/officeDocument/2006/relationships/slideLayout" Target="../slideLayouts/slideLayout318.xml"/><Relationship Id="rId4" Type="http://schemas.openxmlformats.org/officeDocument/2006/relationships/slideLayout" Target="../slideLayouts/slideLayout291.xml"/><Relationship Id="rId9" Type="http://schemas.openxmlformats.org/officeDocument/2006/relationships/slideLayout" Target="../slideLayouts/slideLayout296.xml"/><Relationship Id="rId14" Type="http://schemas.openxmlformats.org/officeDocument/2006/relationships/slideLayout" Target="../slideLayouts/slideLayout301.xml"/><Relationship Id="rId22" Type="http://schemas.openxmlformats.org/officeDocument/2006/relationships/slideLayout" Target="../slideLayouts/slideLayout309.xml"/><Relationship Id="rId27" Type="http://schemas.openxmlformats.org/officeDocument/2006/relationships/slideLayout" Target="../slideLayouts/slideLayout314.xml"/><Relationship Id="rId30" Type="http://schemas.openxmlformats.org/officeDocument/2006/relationships/slideLayout" Target="../slideLayouts/slideLayout317.xml"/><Relationship Id="rId35" Type="http://schemas.openxmlformats.org/officeDocument/2006/relationships/slideLayout" Target="../slideLayouts/slideLayout322.xml"/><Relationship Id="rId8" Type="http://schemas.openxmlformats.org/officeDocument/2006/relationships/slideLayout" Target="../slideLayouts/slideLayout295.xml"/><Relationship Id="rId3" Type="http://schemas.openxmlformats.org/officeDocument/2006/relationships/slideLayout" Target="../slideLayouts/slideLayout290.xml"/><Relationship Id="rId12" Type="http://schemas.openxmlformats.org/officeDocument/2006/relationships/slideLayout" Target="../slideLayouts/slideLayout299.xml"/><Relationship Id="rId17" Type="http://schemas.openxmlformats.org/officeDocument/2006/relationships/slideLayout" Target="../slideLayouts/slideLayout304.xml"/><Relationship Id="rId25" Type="http://schemas.openxmlformats.org/officeDocument/2006/relationships/slideLayout" Target="../slideLayouts/slideLayout312.xml"/><Relationship Id="rId33" Type="http://schemas.openxmlformats.org/officeDocument/2006/relationships/slideLayout" Target="../slideLayouts/slideLayout320.xml"/><Relationship Id="rId38" Type="http://schemas.openxmlformats.org/officeDocument/2006/relationships/slideLayout" Target="../slideLayouts/slideLayout325.xml"/></Relationships>
</file>

<file path=ppt/slideMasters/_rels/slideMaster12.xml.rels><?xml version="1.0" encoding="UTF-8" standalone="yes"?>
<Relationships xmlns="http://schemas.openxmlformats.org/package/2006/relationships"><Relationship Id="rId13" Type="http://schemas.openxmlformats.org/officeDocument/2006/relationships/slideLayout" Target="../slideLayouts/slideLayout340.xml"/><Relationship Id="rId18" Type="http://schemas.openxmlformats.org/officeDocument/2006/relationships/slideLayout" Target="../slideLayouts/slideLayout345.xml"/><Relationship Id="rId26" Type="http://schemas.openxmlformats.org/officeDocument/2006/relationships/slideLayout" Target="../slideLayouts/slideLayout353.xml"/><Relationship Id="rId3" Type="http://schemas.openxmlformats.org/officeDocument/2006/relationships/slideLayout" Target="../slideLayouts/slideLayout330.xml"/><Relationship Id="rId21" Type="http://schemas.openxmlformats.org/officeDocument/2006/relationships/slideLayout" Target="../slideLayouts/slideLayout348.xml"/><Relationship Id="rId34" Type="http://schemas.openxmlformats.org/officeDocument/2006/relationships/image" Target="../media/image1.png"/><Relationship Id="rId7" Type="http://schemas.openxmlformats.org/officeDocument/2006/relationships/slideLayout" Target="../slideLayouts/slideLayout334.xml"/><Relationship Id="rId12" Type="http://schemas.openxmlformats.org/officeDocument/2006/relationships/slideLayout" Target="../slideLayouts/slideLayout339.xml"/><Relationship Id="rId17" Type="http://schemas.openxmlformats.org/officeDocument/2006/relationships/slideLayout" Target="../slideLayouts/slideLayout344.xml"/><Relationship Id="rId25" Type="http://schemas.openxmlformats.org/officeDocument/2006/relationships/slideLayout" Target="../slideLayouts/slideLayout352.xml"/><Relationship Id="rId33" Type="http://schemas.openxmlformats.org/officeDocument/2006/relationships/theme" Target="../theme/theme12.xml"/><Relationship Id="rId2" Type="http://schemas.openxmlformats.org/officeDocument/2006/relationships/slideLayout" Target="../slideLayouts/slideLayout329.xml"/><Relationship Id="rId16" Type="http://schemas.openxmlformats.org/officeDocument/2006/relationships/slideLayout" Target="../slideLayouts/slideLayout343.xml"/><Relationship Id="rId20" Type="http://schemas.openxmlformats.org/officeDocument/2006/relationships/slideLayout" Target="../slideLayouts/slideLayout347.xml"/><Relationship Id="rId29" Type="http://schemas.openxmlformats.org/officeDocument/2006/relationships/slideLayout" Target="../slideLayouts/slideLayout356.xml"/><Relationship Id="rId1" Type="http://schemas.openxmlformats.org/officeDocument/2006/relationships/slideLayout" Target="../slideLayouts/slideLayout328.xml"/><Relationship Id="rId6" Type="http://schemas.openxmlformats.org/officeDocument/2006/relationships/slideLayout" Target="../slideLayouts/slideLayout333.xml"/><Relationship Id="rId11" Type="http://schemas.openxmlformats.org/officeDocument/2006/relationships/slideLayout" Target="../slideLayouts/slideLayout338.xml"/><Relationship Id="rId24" Type="http://schemas.openxmlformats.org/officeDocument/2006/relationships/slideLayout" Target="../slideLayouts/slideLayout351.xml"/><Relationship Id="rId32" Type="http://schemas.openxmlformats.org/officeDocument/2006/relationships/slideLayout" Target="../slideLayouts/slideLayout359.xml"/><Relationship Id="rId5" Type="http://schemas.openxmlformats.org/officeDocument/2006/relationships/slideLayout" Target="../slideLayouts/slideLayout332.xml"/><Relationship Id="rId15" Type="http://schemas.openxmlformats.org/officeDocument/2006/relationships/slideLayout" Target="../slideLayouts/slideLayout342.xml"/><Relationship Id="rId23" Type="http://schemas.openxmlformats.org/officeDocument/2006/relationships/slideLayout" Target="../slideLayouts/slideLayout350.xml"/><Relationship Id="rId28" Type="http://schemas.openxmlformats.org/officeDocument/2006/relationships/slideLayout" Target="../slideLayouts/slideLayout355.xml"/><Relationship Id="rId36" Type="http://schemas.openxmlformats.org/officeDocument/2006/relationships/image" Target="../media/image3.png"/><Relationship Id="rId10" Type="http://schemas.openxmlformats.org/officeDocument/2006/relationships/slideLayout" Target="../slideLayouts/slideLayout337.xml"/><Relationship Id="rId19" Type="http://schemas.openxmlformats.org/officeDocument/2006/relationships/slideLayout" Target="../slideLayouts/slideLayout346.xml"/><Relationship Id="rId31" Type="http://schemas.openxmlformats.org/officeDocument/2006/relationships/slideLayout" Target="../slideLayouts/slideLayout358.xml"/><Relationship Id="rId4" Type="http://schemas.openxmlformats.org/officeDocument/2006/relationships/slideLayout" Target="../slideLayouts/slideLayout331.xml"/><Relationship Id="rId9" Type="http://schemas.openxmlformats.org/officeDocument/2006/relationships/slideLayout" Target="../slideLayouts/slideLayout336.xml"/><Relationship Id="rId14" Type="http://schemas.openxmlformats.org/officeDocument/2006/relationships/slideLayout" Target="../slideLayouts/slideLayout341.xml"/><Relationship Id="rId22" Type="http://schemas.openxmlformats.org/officeDocument/2006/relationships/slideLayout" Target="../slideLayouts/slideLayout349.xml"/><Relationship Id="rId27" Type="http://schemas.openxmlformats.org/officeDocument/2006/relationships/slideLayout" Target="../slideLayouts/slideLayout354.xml"/><Relationship Id="rId30" Type="http://schemas.openxmlformats.org/officeDocument/2006/relationships/slideLayout" Target="../slideLayouts/slideLayout357.xml"/><Relationship Id="rId35" Type="http://schemas.openxmlformats.org/officeDocument/2006/relationships/image" Target="../media/image2.svg"/><Relationship Id="rId8" Type="http://schemas.openxmlformats.org/officeDocument/2006/relationships/slideLayout" Target="../slideLayouts/slideLayout335.xml"/></Relationships>
</file>

<file path=ppt/slideMasters/_rels/slideMaster13.xml.rels><?xml version="1.0" encoding="UTF-8" standalone="yes"?>
<Relationships xmlns="http://schemas.openxmlformats.org/package/2006/relationships"><Relationship Id="rId13" Type="http://schemas.openxmlformats.org/officeDocument/2006/relationships/slideLayout" Target="../slideLayouts/slideLayout372.xml"/><Relationship Id="rId18" Type="http://schemas.openxmlformats.org/officeDocument/2006/relationships/slideLayout" Target="../slideLayouts/slideLayout377.xml"/><Relationship Id="rId26" Type="http://schemas.openxmlformats.org/officeDocument/2006/relationships/slideLayout" Target="../slideLayouts/slideLayout385.xml"/><Relationship Id="rId3" Type="http://schemas.openxmlformats.org/officeDocument/2006/relationships/slideLayout" Target="../slideLayouts/slideLayout362.xml"/><Relationship Id="rId21" Type="http://schemas.openxmlformats.org/officeDocument/2006/relationships/slideLayout" Target="../slideLayouts/slideLayout380.xml"/><Relationship Id="rId34" Type="http://schemas.openxmlformats.org/officeDocument/2006/relationships/image" Target="../media/image3.png"/><Relationship Id="rId7" Type="http://schemas.openxmlformats.org/officeDocument/2006/relationships/slideLayout" Target="../slideLayouts/slideLayout366.xml"/><Relationship Id="rId12" Type="http://schemas.openxmlformats.org/officeDocument/2006/relationships/slideLayout" Target="../slideLayouts/slideLayout371.xml"/><Relationship Id="rId17" Type="http://schemas.openxmlformats.org/officeDocument/2006/relationships/slideLayout" Target="../slideLayouts/slideLayout376.xml"/><Relationship Id="rId25" Type="http://schemas.openxmlformats.org/officeDocument/2006/relationships/slideLayout" Target="../slideLayouts/slideLayout384.xml"/><Relationship Id="rId33" Type="http://schemas.openxmlformats.org/officeDocument/2006/relationships/image" Target="../media/image2.svg"/><Relationship Id="rId2" Type="http://schemas.openxmlformats.org/officeDocument/2006/relationships/slideLayout" Target="../slideLayouts/slideLayout361.xml"/><Relationship Id="rId16" Type="http://schemas.openxmlformats.org/officeDocument/2006/relationships/slideLayout" Target="../slideLayouts/slideLayout375.xml"/><Relationship Id="rId20" Type="http://schemas.openxmlformats.org/officeDocument/2006/relationships/slideLayout" Target="../slideLayouts/slideLayout379.xml"/><Relationship Id="rId29" Type="http://schemas.openxmlformats.org/officeDocument/2006/relationships/slideLayout" Target="../slideLayouts/slideLayout388.xml"/><Relationship Id="rId1" Type="http://schemas.openxmlformats.org/officeDocument/2006/relationships/slideLayout" Target="../slideLayouts/slideLayout360.xml"/><Relationship Id="rId6" Type="http://schemas.openxmlformats.org/officeDocument/2006/relationships/slideLayout" Target="../slideLayouts/slideLayout365.xml"/><Relationship Id="rId11" Type="http://schemas.openxmlformats.org/officeDocument/2006/relationships/slideLayout" Target="../slideLayouts/slideLayout370.xml"/><Relationship Id="rId24" Type="http://schemas.openxmlformats.org/officeDocument/2006/relationships/slideLayout" Target="../slideLayouts/slideLayout383.xml"/><Relationship Id="rId32" Type="http://schemas.openxmlformats.org/officeDocument/2006/relationships/image" Target="../media/image1.png"/><Relationship Id="rId5" Type="http://schemas.openxmlformats.org/officeDocument/2006/relationships/slideLayout" Target="../slideLayouts/slideLayout364.xml"/><Relationship Id="rId15" Type="http://schemas.openxmlformats.org/officeDocument/2006/relationships/slideLayout" Target="../slideLayouts/slideLayout374.xml"/><Relationship Id="rId23" Type="http://schemas.openxmlformats.org/officeDocument/2006/relationships/slideLayout" Target="../slideLayouts/slideLayout382.xml"/><Relationship Id="rId28" Type="http://schemas.openxmlformats.org/officeDocument/2006/relationships/slideLayout" Target="../slideLayouts/slideLayout387.xml"/><Relationship Id="rId10" Type="http://schemas.openxmlformats.org/officeDocument/2006/relationships/slideLayout" Target="../slideLayouts/slideLayout369.xml"/><Relationship Id="rId19" Type="http://schemas.openxmlformats.org/officeDocument/2006/relationships/slideLayout" Target="../slideLayouts/slideLayout378.xml"/><Relationship Id="rId31" Type="http://schemas.openxmlformats.org/officeDocument/2006/relationships/theme" Target="../theme/theme13.xml"/><Relationship Id="rId4" Type="http://schemas.openxmlformats.org/officeDocument/2006/relationships/slideLayout" Target="../slideLayouts/slideLayout363.xml"/><Relationship Id="rId9" Type="http://schemas.openxmlformats.org/officeDocument/2006/relationships/slideLayout" Target="../slideLayouts/slideLayout368.xml"/><Relationship Id="rId14" Type="http://schemas.openxmlformats.org/officeDocument/2006/relationships/slideLayout" Target="../slideLayouts/slideLayout373.xml"/><Relationship Id="rId22" Type="http://schemas.openxmlformats.org/officeDocument/2006/relationships/slideLayout" Target="../slideLayouts/slideLayout381.xml"/><Relationship Id="rId27" Type="http://schemas.openxmlformats.org/officeDocument/2006/relationships/slideLayout" Target="../slideLayouts/slideLayout386.xml"/><Relationship Id="rId30" Type="http://schemas.openxmlformats.org/officeDocument/2006/relationships/slideLayout" Target="../slideLayouts/slideLayout389.xml"/><Relationship Id="rId8" Type="http://schemas.openxmlformats.org/officeDocument/2006/relationships/slideLayout" Target="../slideLayouts/slideLayout36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477003" y="2777164"/>
            <a:ext cx="17160602" cy="3488134"/>
          </a:xfrm>
          <a:prstGeom prst="rect">
            <a:avLst/>
          </a:prstGeom>
        </p:spPr>
        <p:txBody>
          <a:bodyPr vert="horz" lIns="182880" tIns="0" rIns="0" bIns="0" rtlCol="0">
            <a:spAutoFit/>
          </a:body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8" name="Graphic 7">
            <a:extLst>
              <a:ext uri="{FF2B5EF4-FFF2-40B4-BE49-F238E27FC236}">
                <a16:creationId xmlns:a16="http://schemas.microsoft.com/office/drawing/2014/main" id="{C95E05A0-E71F-BF43-B4BD-38F301034068}"/>
              </a:ext>
            </a:extLst>
          </p:cNvPr>
          <p:cNvPicPr>
            <a:picLocks noChangeAspect="1"/>
          </p:cNvPicPr>
          <p:nvPr userDrawn="1"/>
        </p:nvPicPr>
        <p:blipFill>
          <a:blip r:embed="rId50" cstate="screen">
            <a:extLst>
              <a:ext uri="{28A0092B-C50C-407E-A947-70E740481C1C}">
                <a14:useLocalDpi xmlns:a14="http://schemas.microsoft.com/office/drawing/2010/main"/>
              </a:ext>
              <a:ext uri="{96DAC541-7B7A-43D3-8B79-37D633B846F1}">
                <asvg:svgBlip xmlns:asvg="http://schemas.microsoft.com/office/drawing/2016/SVG/main" r:embed="rId51"/>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46C91435-26B4-C74A-8BAF-292D956CE0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1" name="Slide Number Placeholder 5">
            <a:extLst>
              <a:ext uri="{FF2B5EF4-FFF2-40B4-BE49-F238E27FC236}">
                <a16:creationId xmlns:a16="http://schemas.microsoft.com/office/drawing/2014/main" id="{F96E2593-46D0-774F-8813-5D956F8CEA7F}"/>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grpSp>
        <p:nvGrpSpPr>
          <p:cNvPr id="6" name="Group 5">
            <a:extLst>
              <a:ext uri="{FF2B5EF4-FFF2-40B4-BE49-F238E27FC236}">
                <a16:creationId xmlns:a16="http://schemas.microsoft.com/office/drawing/2014/main" id="{7826DB11-539A-2D54-6832-3A322D0E5C56}"/>
              </a:ext>
            </a:extLst>
          </p:cNvPr>
          <p:cNvGrpSpPr/>
          <p:nvPr userDrawn="1"/>
        </p:nvGrpSpPr>
        <p:grpSpPr>
          <a:xfrm>
            <a:off x="1" y="-4805"/>
            <a:ext cx="25334686" cy="2199366"/>
            <a:chOff x="0" y="-2403"/>
            <a:chExt cx="12667343" cy="1099683"/>
          </a:xfrm>
        </p:grpSpPr>
        <p:sp>
          <p:nvSpPr>
            <p:cNvPr id="4" name="Rectangle 3">
              <a:extLst>
                <a:ext uri="{FF2B5EF4-FFF2-40B4-BE49-F238E27FC236}">
                  <a16:creationId xmlns:a16="http://schemas.microsoft.com/office/drawing/2014/main" id="{12682853-E800-7A37-5627-1599E2474ACF}"/>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5" name="Picture 4">
              <a:extLst>
                <a:ext uri="{FF2B5EF4-FFF2-40B4-BE49-F238E27FC236}">
                  <a16:creationId xmlns:a16="http://schemas.microsoft.com/office/drawing/2014/main" id="{8010F62B-25DD-FC98-E2C3-00B9BDF5989B}"/>
                </a:ext>
              </a:extLst>
            </p:cNvPr>
            <p:cNvPicPr>
              <a:picLocks noChangeAspect="1"/>
            </p:cNvPicPr>
            <p:nvPr userDrawn="1"/>
          </p:nvPicPr>
          <p:blipFill rotWithShape="1">
            <a:blip r:embed="rId52"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Placeholder 1"/>
          <p:cNvSpPr>
            <a:spLocks noGrp="1"/>
          </p:cNvSpPr>
          <p:nvPr>
            <p:ph type="title"/>
          </p:nvPr>
        </p:nvSpPr>
        <p:spPr>
          <a:xfrm>
            <a:off x="668994" y="537179"/>
            <a:ext cx="12295892" cy="968086"/>
          </a:xfrm>
          <a:prstGeom prst="rect">
            <a:avLst/>
          </a:prstGeom>
          <a:ln w="12700">
            <a:noFill/>
          </a:ln>
        </p:spPr>
        <p:txBody>
          <a:bodyPr vert="horz" wrap="square" lIns="0" tIns="0" rIns="0" bIns="0" rtlCol="0" anchor="t" anchorCtr="0">
            <a:spAutoFit/>
          </a:bodyPr>
          <a:lstStyle/>
          <a:p>
            <a:r>
              <a:rPr lang="en-US"/>
              <a:t>Click to edit Master title style</a:t>
            </a:r>
          </a:p>
        </p:txBody>
      </p:sp>
    </p:spTree>
    <p:extLst>
      <p:ext uri="{BB962C8B-B14F-4D97-AF65-F5344CB8AC3E}">
        <p14:creationId xmlns:p14="http://schemas.microsoft.com/office/powerpoint/2010/main" val="1558842252"/>
      </p:ext>
    </p:extLst>
  </p:cSld>
  <p:clrMap bg1="lt1" tx1="dk1" bg2="lt2" tx2="dk2" accent1="accent1" accent2="accent2" accent3="accent3" accent4="accent4" accent5="accent5" accent6="accent6" hlink="hlink" folHlink="folHlink"/>
  <p:sldLayoutIdLst>
    <p:sldLayoutId id="2147484074" r:id="rId1"/>
    <p:sldLayoutId id="2147484075" r:id="rId2"/>
    <p:sldLayoutId id="2147484076" r:id="rId3"/>
    <p:sldLayoutId id="2147484077" r:id="rId4"/>
    <p:sldLayoutId id="2147484078" r:id="rId5"/>
    <p:sldLayoutId id="2147484079" r:id="rId6"/>
    <p:sldLayoutId id="2147484080" r:id="rId7"/>
    <p:sldLayoutId id="2147484081" r:id="rId8"/>
    <p:sldLayoutId id="2147484082" r:id="rId9"/>
    <p:sldLayoutId id="2147484083" r:id="rId10"/>
    <p:sldLayoutId id="2147484084" r:id="rId11"/>
    <p:sldLayoutId id="2147484085" r:id="rId12"/>
    <p:sldLayoutId id="2147484086" r:id="rId13"/>
    <p:sldLayoutId id="2147484087" r:id="rId14"/>
    <p:sldLayoutId id="2147484088" r:id="rId15"/>
    <p:sldLayoutId id="2147484089" r:id="rId16"/>
    <p:sldLayoutId id="2147484090" r:id="rId17"/>
    <p:sldLayoutId id="2147484091" r:id="rId18"/>
    <p:sldLayoutId id="2147484092" r:id="rId19"/>
    <p:sldLayoutId id="2147484093" r:id="rId20"/>
    <p:sldLayoutId id="2147484094" r:id="rId21"/>
    <p:sldLayoutId id="2147484095" r:id="rId22"/>
    <p:sldLayoutId id="2147484096" r:id="rId23"/>
    <p:sldLayoutId id="2147484097" r:id="rId24"/>
    <p:sldLayoutId id="2147484098" r:id="rId25"/>
    <p:sldLayoutId id="2147484099" r:id="rId26"/>
    <p:sldLayoutId id="2147484100" r:id="rId27"/>
    <p:sldLayoutId id="2147484101" r:id="rId28"/>
    <p:sldLayoutId id="2147484102" r:id="rId29"/>
    <p:sldLayoutId id="2147484284" r:id="rId30"/>
    <p:sldLayoutId id="2147484465" r:id="rId31"/>
    <p:sldLayoutId id="2147484467" r:id="rId32"/>
    <p:sldLayoutId id="2147484468" r:id="rId33"/>
    <p:sldLayoutId id="2147484469" r:id="rId34"/>
    <p:sldLayoutId id="2147484474" r:id="rId35"/>
    <p:sldLayoutId id="2147484475" r:id="rId36"/>
    <p:sldLayoutId id="2147484476" r:id="rId37"/>
    <p:sldLayoutId id="2147484477" r:id="rId38"/>
    <p:sldLayoutId id="2147484478" r:id="rId39"/>
    <p:sldLayoutId id="2147484480" r:id="rId40"/>
    <p:sldLayoutId id="2147484588" r:id="rId41"/>
    <p:sldLayoutId id="2147484702" r:id="rId42"/>
    <p:sldLayoutId id="2147484703" r:id="rId43"/>
    <p:sldLayoutId id="2147484771" r:id="rId44"/>
    <p:sldLayoutId id="2147484772" r:id="rId45"/>
    <p:sldLayoutId id="2147484773" r:id="rId46"/>
    <p:sldLayoutId id="2147484774" r:id="rId47"/>
    <p:sldLayoutId id="2147484775" r:id="rId48"/>
  </p:sldLayoutIdLst>
  <p:hf hdr="0" ftr="0" dt="0"/>
  <p:txStyles>
    <p:titleStyle>
      <a:lvl1pPr algn="l" defTabSz="1828800" rtl="0" eaLnBrk="1" fontAlgn="base" latinLnBrk="0" hangingPunct="1">
        <a:lnSpc>
          <a:spcPct val="110000"/>
        </a:lnSpc>
        <a:spcBef>
          <a:spcPct val="0"/>
        </a:spcBef>
        <a:buNone/>
        <a:defRPr sz="6200" kern="1200">
          <a:ln w="9525">
            <a:noFill/>
          </a:ln>
          <a:solidFill>
            <a:schemeClr val="bg1"/>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Graphic 6">
            <a:extLst>
              <a:ext uri="{FF2B5EF4-FFF2-40B4-BE49-F238E27FC236}">
                <a16:creationId xmlns:a16="http://schemas.microsoft.com/office/drawing/2014/main" id="{7531EE93-37B4-654A-9329-82DE10157B02}"/>
              </a:ext>
            </a:extLst>
          </p:cNvPr>
          <p:cNvPicPr>
            <a:picLocks noChangeAspect="1"/>
          </p:cNvPicPr>
          <p:nvPr userDrawn="1"/>
        </p:nvPicPr>
        <p:blipFill>
          <a:blip r:embed="rId15" cstate="screen">
            <a:extLst>
              <a:ext uri="{28A0092B-C50C-407E-A947-70E740481C1C}">
                <a14:useLocalDpi xmlns:a14="http://schemas.microsoft.com/office/drawing/2010/main"/>
              </a:ext>
              <a:ext uri="{96DAC541-7B7A-43D3-8B79-37D633B846F1}">
                <asvg:svgBlip xmlns:asvg="http://schemas.microsoft.com/office/drawing/2016/SVG/main" r:embed="rId16"/>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82EB649D-E1E1-3E40-AA99-F9D272BD05A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0FC022FD-C77A-5448-9A3A-A5A3DCD8302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038594422"/>
      </p:ext>
    </p:extLst>
  </p:cSld>
  <p:clrMap bg1="lt1" tx1="dk1" bg2="lt2" tx2="dk2" accent1="accent1" accent2="accent2" accent3="accent3" accent4="accent4" accent5="accent5" accent6="accent6" hlink="hlink" folHlink="folHlink"/>
  <p:sldLayoutIdLst>
    <p:sldLayoutId id="2147484108" r:id="rId1"/>
    <p:sldLayoutId id="2147484109" r:id="rId2"/>
    <p:sldLayoutId id="2147484110" r:id="rId3"/>
    <p:sldLayoutId id="2147484111" r:id="rId4"/>
    <p:sldLayoutId id="2147484112" r:id="rId5"/>
    <p:sldLayoutId id="2147484113" r:id="rId6"/>
    <p:sldLayoutId id="2147484114" r:id="rId7"/>
    <p:sldLayoutId id="2147484115" r:id="rId8"/>
    <p:sldLayoutId id="2147484116" r:id="rId9"/>
    <p:sldLayoutId id="2147484117" r:id="rId10"/>
    <p:sldLayoutId id="2147484118" r:id="rId11"/>
    <p:sldLayoutId id="2147484119" r:id="rId12"/>
    <p:sldLayoutId id="2147484120" r:id="rId13"/>
  </p:sldLayoutIdLst>
  <p:hf hdr="0" ftr="0" dt="0"/>
  <p:txStyles>
    <p:titleStyle>
      <a:lvl1pPr algn="l" defTabSz="1828800" rtl="0" eaLnBrk="1" fontAlgn="base" latinLnBrk="0" hangingPunct="1">
        <a:lnSpc>
          <a:spcPct val="112000"/>
        </a:lnSpc>
        <a:spcBef>
          <a:spcPct val="0"/>
        </a:spcBef>
        <a:buNone/>
        <a:defRPr lang="en-US" sz="9000" kern="1200" dirty="0">
          <a:ln w="9525">
            <a:noFill/>
          </a:ln>
          <a:solidFill>
            <a:schemeClr val="tx2"/>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49">
          <p15:clr>
            <a:srgbClr val="000000"/>
          </p15:clr>
        </p15:guide>
        <p15:guide id="5" orient="horz" pos="228">
          <p15:clr>
            <a:srgbClr val="000000"/>
          </p15:clr>
        </p15:guide>
        <p15:guide id="11" orient="horz" pos="3120">
          <p15:clr>
            <a:srgbClr val="000000"/>
          </p15:clr>
        </p15:guide>
        <p15:guide id="14" orient="horz" pos="4092">
          <p15:clr>
            <a:srgbClr val="000000"/>
          </p15:clr>
        </p15:guide>
        <p15:guide id="34" pos="2040">
          <p15:clr>
            <a:srgbClr val="000000"/>
          </p15:clr>
        </p15:guide>
        <p15:guide id="36" pos="3840">
          <p15:clr>
            <a:srgbClr val="000000"/>
          </p15:clr>
        </p15:guide>
        <p15:guide id="38" pos="5652">
          <p15:clr>
            <a:srgbClr val="000000"/>
          </p15:clr>
        </p15:guide>
        <p15:guide id="40" orient="horz" pos="2163">
          <p15:clr>
            <a:srgbClr val="000000"/>
          </p15:clr>
        </p15:guide>
        <p15:guide id="41" orient="horz" pos="1201">
          <p15:clr>
            <a:srgbClr val="000000"/>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rgbClr val="1C1C1C"/>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68995" y="537179"/>
            <a:ext cx="5466338" cy="3062106"/>
          </a:xfrm>
          <a:prstGeom prst="rect">
            <a:avLst/>
          </a:prstGeom>
          <a:ln w="12700">
            <a:noFill/>
          </a:ln>
        </p:spPr>
        <p:txBody>
          <a:bodyPr vert="horz" lIns="0" tIns="0" rIns="0" bIns="0" rtlCol="0" anchor="t" anchorCtr="0">
            <a:noAutofit/>
          </a:bodyPr>
          <a:lstStyle/>
          <a:p>
            <a:r>
              <a:rPr lang="en-US"/>
              <a:t>Click to edit Master title style</a:t>
            </a:r>
          </a:p>
        </p:txBody>
      </p:sp>
      <p:cxnSp>
        <p:nvCxnSpPr>
          <p:cNvPr id="7" name="Straight Connector 6">
            <a:extLst>
              <a:ext uri="{FF2B5EF4-FFF2-40B4-BE49-F238E27FC236}">
                <a16:creationId xmlns:a16="http://schemas.microsoft.com/office/drawing/2014/main" id="{0057071C-1660-4D95-BF58-C9DBC7B98100}"/>
              </a:ext>
            </a:extLst>
          </p:cNvPr>
          <p:cNvCxnSpPr>
            <a:cxnSpLocks/>
          </p:cNvCxnSpPr>
          <p:nvPr userDrawn="1"/>
        </p:nvCxnSpPr>
        <p:spPr>
          <a:xfrm>
            <a:off x="6477000" y="0"/>
            <a:ext cx="0" cy="1371600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pic>
        <p:nvPicPr>
          <p:cNvPr id="8" name="Graphic 7">
            <a:extLst>
              <a:ext uri="{FF2B5EF4-FFF2-40B4-BE49-F238E27FC236}">
                <a16:creationId xmlns:a16="http://schemas.microsoft.com/office/drawing/2014/main" id="{C95E05A0-E71F-BF43-B4BD-38F301034068}"/>
              </a:ext>
            </a:extLst>
          </p:cNvPr>
          <p:cNvPicPr>
            <a:picLocks noChangeAspect="1"/>
          </p:cNvPicPr>
          <p:nvPr userDrawn="1"/>
        </p:nvPicPr>
        <p:blipFill>
          <a:blip r:embed="rId27">
            <a:extLst>
              <a:ext uri="{96DAC541-7B7A-43D3-8B79-37D633B846F1}">
                <asvg:svgBlip xmlns:asvg="http://schemas.microsoft.com/office/drawing/2016/SVG/main" r:embed="rId28"/>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46C91435-26B4-C74A-8BAF-292D956CE0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bg1"/>
                </a:solidFill>
              </a:defRPr>
            </a:lvl1pPr>
          </a:lstStyle>
          <a:p>
            <a:endParaRPr lang="en-US"/>
          </a:p>
        </p:txBody>
      </p:sp>
      <p:sp>
        <p:nvSpPr>
          <p:cNvPr id="11" name="Slide Number Placeholder 5">
            <a:extLst>
              <a:ext uri="{FF2B5EF4-FFF2-40B4-BE49-F238E27FC236}">
                <a16:creationId xmlns:a16="http://schemas.microsoft.com/office/drawing/2014/main" id="{F96E2593-46D0-774F-8813-5D956F8CEA7F}"/>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bg1"/>
                </a:solidFill>
              </a:defRPr>
            </a:lvl1pPr>
          </a:lstStyle>
          <a:p>
            <a:fld id="{762E77F0-FB5B-4E8E-9BC9-34F14560A017}" type="slidenum">
              <a:rPr lang="en-US" smtClean="0"/>
              <a:pPr/>
              <a:t>‹#›</a:t>
            </a:fld>
            <a:endParaRPr lang="en-US"/>
          </a:p>
        </p:txBody>
      </p:sp>
      <p:sp>
        <p:nvSpPr>
          <p:cNvPr id="9" name="Text Placeholder 2">
            <a:extLst>
              <a:ext uri="{FF2B5EF4-FFF2-40B4-BE49-F238E27FC236}">
                <a16:creationId xmlns:a16="http://schemas.microsoft.com/office/drawing/2014/main" id="{8D79F404-BCB4-4942-A594-6B1E63AEBB15}"/>
              </a:ext>
            </a:extLst>
          </p:cNvPr>
          <p:cNvSpPr>
            <a:spLocks noGrp="1"/>
          </p:cNvSpPr>
          <p:nvPr>
            <p:ph type="body" idx="1"/>
          </p:nvPr>
        </p:nvSpPr>
        <p:spPr>
          <a:xfrm>
            <a:off x="6477003" y="624971"/>
            <a:ext cx="17160602" cy="3488134"/>
          </a:xfrm>
          <a:prstGeom prst="rect">
            <a:avLst/>
          </a:prstGeom>
        </p:spPr>
        <p:txBody>
          <a:bodyPr vert="horz" lIns="18288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05609663"/>
      </p:ext>
    </p:extLst>
  </p:cSld>
  <p:clrMap bg1="lt1" tx1="dk1" bg2="lt2" tx2="dk2" accent1="accent1" accent2="accent2" accent3="accent3" accent4="accent4" accent5="accent5" accent6="accent6" hlink="hlink" folHlink="folHlink"/>
  <p:sldLayoutIdLst>
    <p:sldLayoutId id="2147484164" r:id="rId1"/>
    <p:sldLayoutId id="2147484165" r:id="rId2"/>
    <p:sldLayoutId id="2147484166" r:id="rId3"/>
    <p:sldLayoutId id="2147484167" r:id="rId4"/>
    <p:sldLayoutId id="2147484168" r:id="rId5"/>
    <p:sldLayoutId id="2147484169" r:id="rId6"/>
    <p:sldLayoutId id="2147484170" r:id="rId7"/>
    <p:sldLayoutId id="2147484171" r:id="rId8"/>
    <p:sldLayoutId id="2147484172" r:id="rId9"/>
    <p:sldLayoutId id="2147484173" r:id="rId10"/>
    <p:sldLayoutId id="2147484174" r:id="rId11"/>
    <p:sldLayoutId id="2147484175" r:id="rId12"/>
    <p:sldLayoutId id="2147484176" r:id="rId13"/>
    <p:sldLayoutId id="2147484177" r:id="rId14"/>
    <p:sldLayoutId id="2147484178" r:id="rId15"/>
    <p:sldLayoutId id="2147484179" r:id="rId16"/>
    <p:sldLayoutId id="2147484180" r:id="rId17"/>
    <p:sldLayoutId id="2147484181" r:id="rId18"/>
    <p:sldLayoutId id="2147484182" r:id="rId19"/>
    <p:sldLayoutId id="2147484183" r:id="rId20"/>
    <p:sldLayoutId id="2147484184" r:id="rId21"/>
    <p:sldLayoutId id="2147484185" r:id="rId22"/>
    <p:sldLayoutId id="2147484186" r:id="rId23"/>
    <p:sldLayoutId id="2147484187" r:id="rId24"/>
    <p:sldLayoutId id="2147484188" r:id="rId25"/>
  </p:sldLayoutIdLst>
  <p:hf hdr="0" ftr="0" dt="0"/>
  <p:txStyles>
    <p:titleStyle>
      <a:lvl1pPr algn="l" defTabSz="1828800" rtl="0" eaLnBrk="1" fontAlgn="base" latinLnBrk="0" hangingPunct="1">
        <a:lnSpc>
          <a:spcPct val="110000"/>
        </a:lnSpc>
        <a:spcBef>
          <a:spcPct val="0"/>
        </a:spcBef>
        <a:buNone/>
        <a:defRPr sz="6200" kern="1200">
          <a:ln w="9525">
            <a:noFill/>
          </a:ln>
          <a:solidFill>
            <a:schemeClr val="bg1"/>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sz="3600" kern="1200">
          <a:ln>
            <a:noFill/>
          </a:ln>
          <a:solidFill>
            <a:schemeClr val="bg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sz="3600" kern="1200">
          <a:ln>
            <a:noFill/>
          </a:ln>
          <a:solidFill>
            <a:schemeClr val="bg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sz="3600" kern="1200">
          <a:ln>
            <a:noFill/>
          </a:ln>
          <a:solidFill>
            <a:schemeClr val="bg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sz="3600" kern="1200">
          <a:ln>
            <a:noFill/>
          </a:ln>
          <a:solidFill>
            <a:schemeClr val="bg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chemeClr val="bg1"/>
        </a:buClr>
        <a:buSzTx/>
        <a:buFont typeface="Arial" panose="020B0604020202020204" pitchFamily="34" charset="0"/>
        <a:buChar char="•"/>
        <a:tabLst/>
        <a:defRPr sz="3600" kern="1200">
          <a:ln>
            <a:noFill/>
          </a:ln>
          <a:solidFill>
            <a:schemeClr val="bg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477003" y="2777164"/>
            <a:ext cx="17160602" cy="3488134"/>
          </a:xfrm>
          <a:prstGeom prst="rect">
            <a:avLst/>
          </a:prstGeom>
        </p:spPr>
        <p:txBody>
          <a:bodyPr vert="horz" lIns="182880" tIns="0" rIns="0" bIns="0" rtlCol="0">
            <a:spAutoFit/>
          </a:body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GB" sz="3600" b="0" i="0" u="none" strike="noStrike" kern="1200" cap="none" spc="0" normalizeH="0" baseline="0" noProof="0">
                <a:ln>
                  <a:noFill/>
                </a:ln>
                <a:solidFill>
                  <a:srgbClr val="000000"/>
                </a:solidFill>
                <a:effectLst/>
                <a:uLnTx/>
                <a:uFillTx/>
                <a:latin typeface="+mn-lt"/>
                <a:ea typeface="+mn-ea"/>
                <a:cs typeface="+mn-cs"/>
              </a:rPr>
              <a:t>Fifth level</a:t>
            </a:r>
            <a:endParaRPr kumimoji="0" lang="en-US" sz="3600" b="0" i="0" u="none" strike="noStrike" kern="1200" cap="none" spc="0" normalizeH="0" baseline="0" noProof="0">
              <a:ln>
                <a:noFill/>
              </a:ln>
              <a:solidFill>
                <a:srgbClr val="000000"/>
              </a:solidFill>
              <a:effectLst/>
              <a:uLnTx/>
              <a:uFillTx/>
              <a:latin typeface="+mn-lt"/>
              <a:ea typeface="+mn-ea"/>
              <a:cs typeface="+mn-cs"/>
            </a:endParaRPr>
          </a:p>
        </p:txBody>
      </p:sp>
      <p:pic>
        <p:nvPicPr>
          <p:cNvPr id="8" name="Graphic 7">
            <a:extLst>
              <a:ext uri="{FF2B5EF4-FFF2-40B4-BE49-F238E27FC236}">
                <a16:creationId xmlns:a16="http://schemas.microsoft.com/office/drawing/2014/main" id="{C95E05A0-E71F-BF43-B4BD-38F301034068}"/>
              </a:ext>
            </a:extLst>
          </p:cNvPr>
          <p:cNvPicPr>
            <a:picLocks noChangeAspect="1"/>
          </p:cNvPicPr>
          <p:nvPr/>
        </p:nvPicPr>
        <p:blipFill>
          <a:blip r:embed="rId31" cstate="screen">
            <a:extLst>
              <a:ext uri="{28A0092B-C50C-407E-A947-70E740481C1C}">
                <a14:useLocalDpi xmlns:a14="http://schemas.microsoft.com/office/drawing/2010/main"/>
              </a:ext>
              <a:ext uri="{96DAC541-7B7A-43D3-8B79-37D633B846F1}">
                <asvg:svgBlip xmlns:asvg="http://schemas.microsoft.com/office/drawing/2016/SVG/main" r:embed="rId32"/>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46C91435-26B4-C74A-8BAF-292D956CE0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1" name="Slide Number Placeholder 5">
            <a:extLst>
              <a:ext uri="{FF2B5EF4-FFF2-40B4-BE49-F238E27FC236}">
                <a16:creationId xmlns:a16="http://schemas.microsoft.com/office/drawing/2014/main" id="{F96E2593-46D0-774F-8813-5D956F8CEA7F}"/>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grpSp>
        <p:nvGrpSpPr>
          <p:cNvPr id="6" name="Group 5">
            <a:extLst>
              <a:ext uri="{FF2B5EF4-FFF2-40B4-BE49-F238E27FC236}">
                <a16:creationId xmlns:a16="http://schemas.microsoft.com/office/drawing/2014/main" id="{7826DB11-539A-2D54-6832-3A322D0E5C56}"/>
              </a:ext>
            </a:extLst>
          </p:cNvPr>
          <p:cNvGrpSpPr/>
          <p:nvPr/>
        </p:nvGrpSpPr>
        <p:grpSpPr>
          <a:xfrm>
            <a:off x="1" y="-4805"/>
            <a:ext cx="25334686" cy="2199366"/>
            <a:chOff x="0" y="-2403"/>
            <a:chExt cx="12667343" cy="1099683"/>
          </a:xfrm>
        </p:grpSpPr>
        <p:sp>
          <p:nvSpPr>
            <p:cNvPr id="4" name="Rectangle 3">
              <a:extLst>
                <a:ext uri="{FF2B5EF4-FFF2-40B4-BE49-F238E27FC236}">
                  <a16:creationId xmlns:a16="http://schemas.microsoft.com/office/drawing/2014/main" id="{12682853-E800-7A37-5627-1599E2474ACF}"/>
                </a:ext>
              </a:extLst>
            </p:cNvPr>
            <p:cNvSpPr/>
            <p:nvPr/>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5" name="Picture 4">
              <a:extLst>
                <a:ext uri="{FF2B5EF4-FFF2-40B4-BE49-F238E27FC236}">
                  <a16:creationId xmlns:a16="http://schemas.microsoft.com/office/drawing/2014/main" id="{8010F62B-25DD-FC98-E2C3-00B9BDF5989B}"/>
                </a:ext>
              </a:extLst>
            </p:cNvPr>
            <p:cNvPicPr>
              <a:picLocks noChangeAspect="1"/>
            </p:cNvPicPr>
            <p:nvPr/>
          </p:nvPicPr>
          <p:blipFill rotWithShape="1">
            <a:blip r:embed="rId33"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Placeholder 1"/>
          <p:cNvSpPr>
            <a:spLocks noGrp="1"/>
          </p:cNvSpPr>
          <p:nvPr>
            <p:ph type="title"/>
          </p:nvPr>
        </p:nvSpPr>
        <p:spPr>
          <a:xfrm>
            <a:off x="668994" y="537179"/>
            <a:ext cx="12295892" cy="968086"/>
          </a:xfrm>
          <a:prstGeom prst="rect">
            <a:avLst/>
          </a:prstGeom>
          <a:ln w="12700">
            <a:noFill/>
          </a:ln>
        </p:spPr>
        <p:txBody>
          <a:bodyPr vert="horz" wrap="square" lIns="0" tIns="0" rIns="0" bIns="0" rtlCol="0" anchor="t" anchorCtr="0">
            <a:spAutoFit/>
          </a:bodyPr>
          <a:lstStyle/>
          <a:p>
            <a:r>
              <a:rPr lang="en-GB"/>
              <a:t>Click to edit Master title style</a:t>
            </a:r>
            <a:endParaRPr lang="en-US"/>
          </a:p>
        </p:txBody>
      </p:sp>
    </p:spTree>
    <p:extLst>
      <p:ext uri="{BB962C8B-B14F-4D97-AF65-F5344CB8AC3E}">
        <p14:creationId xmlns:p14="http://schemas.microsoft.com/office/powerpoint/2010/main" val="3385720569"/>
      </p:ext>
    </p:extLst>
  </p:cSld>
  <p:clrMap bg1="lt1" tx1="dk1" bg2="lt2" tx2="dk2" accent1="accent1" accent2="accent2" accent3="accent3" accent4="accent4" accent5="accent5" accent6="accent6" hlink="hlink" folHlink="folHlink"/>
  <p:sldLayoutIdLst>
    <p:sldLayoutId id="2147484376" r:id="rId1"/>
    <p:sldLayoutId id="2147484377" r:id="rId2"/>
    <p:sldLayoutId id="2147484378" r:id="rId3"/>
    <p:sldLayoutId id="2147484379" r:id="rId4"/>
    <p:sldLayoutId id="2147484380" r:id="rId5"/>
    <p:sldLayoutId id="2147484381" r:id="rId6"/>
    <p:sldLayoutId id="2147484382" r:id="rId7"/>
    <p:sldLayoutId id="2147484383" r:id="rId8"/>
    <p:sldLayoutId id="2147484384" r:id="rId9"/>
    <p:sldLayoutId id="2147484385" r:id="rId10"/>
    <p:sldLayoutId id="2147484386" r:id="rId11"/>
    <p:sldLayoutId id="2147484387" r:id="rId12"/>
    <p:sldLayoutId id="2147484388" r:id="rId13"/>
    <p:sldLayoutId id="2147484389" r:id="rId14"/>
    <p:sldLayoutId id="2147484390" r:id="rId15"/>
    <p:sldLayoutId id="2147484391" r:id="rId16"/>
    <p:sldLayoutId id="2147484392" r:id="rId17"/>
    <p:sldLayoutId id="2147484393" r:id="rId18"/>
    <p:sldLayoutId id="2147484394" r:id="rId19"/>
    <p:sldLayoutId id="2147484395" r:id="rId20"/>
    <p:sldLayoutId id="2147484396" r:id="rId21"/>
    <p:sldLayoutId id="2147484397" r:id="rId22"/>
    <p:sldLayoutId id="2147484398" r:id="rId23"/>
    <p:sldLayoutId id="2147484399" r:id="rId24"/>
    <p:sldLayoutId id="2147484400" r:id="rId25"/>
    <p:sldLayoutId id="2147484401" r:id="rId26"/>
    <p:sldLayoutId id="2147484402" r:id="rId27"/>
    <p:sldLayoutId id="2147484403" r:id="rId28"/>
    <p:sldLayoutId id="2147484404" r:id="rId29"/>
  </p:sldLayoutIdLst>
  <p:hf hdr="0" ftr="0" dt="0"/>
  <p:txStyles>
    <p:titleStyle>
      <a:lvl1pPr algn="l" defTabSz="1828800" rtl="0" eaLnBrk="1" fontAlgn="base" latinLnBrk="0" hangingPunct="1">
        <a:lnSpc>
          <a:spcPct val="110000"/>
        </a:lnSpc>
        <a:spcBef>
          <a:spcPct val="0"/>
        </a:spcBef>
        <a:buNone/>
        <a:defRPr sz="6200" kern="1200">
          <a:ln w="9525">
            <a:noFill/>
          </a:ln>
          <a:solidFill>
            <a:schemeClr val="bg1"/>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477003" y="2777164"/>
            <a:ext cx="17160602" cy="3488134"/>
          </a:xfrm>
          <a:prstGeom prst="rect">
            <a:avLst/>
          </a:prstGeom>
        </p:spPr>
        <p:txBody>
          <a:bodyPr vert="horz" lIns="182880" tIns="0" rIns="0" bIns="0" rtlCol="0">
            <a:spAutoFit/>
          </a:body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8" name="Graphic 7">
            <a:extLst>
              <a:ext uri="{FF2B5EF4-FFF2-40B4-BE49-F238E27FC236}">
                <a16:creationId xmlns:a16="http://schemas.microsoft.com/office/drawing/2014/main" id="{C95E05A0-E71F-BF43-B4BD-38F301034068}"/>
              </a:ext>
            </a:extLst>
          </p:cNvPr>
          <p:cNvPicPr>
            <a:picLocks noChangeAspect="1"/>
          </p:cNvPicPr>
          <p:nvPr userDrawn="1"/>
        </p:nvPicPr>
        <p:blipFill>
          <a:blip r:embed="rId31" cstate="screen">
            <a:extLst>
              <a:ext uri="{28A0092B-C50C-407E-A947-70E740481C1C}">
                <a14:useLocalDpi xmlns:a14="http://schemas.microsoft.com/office/drawing/2010/main"/>
              </a:ext>
              <a:ext uri="{96DAC541-7B7A-43D3-8B79-37D633B846F1}">
                <asvg:svgBlip xmlns:asvg="http://schemas.microsoft.com/office/drawing/2016/SVG/main" r:embed="rId32"/>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46C91435-26B4-C74A-8BAF-292D956CE0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1" name="Slide Number Placeholder 5">
            <a:extLst>
              <a:ext uri="{FF2B5EF4-FFF2-40B4-BE49-F238E27FC236}">
                <a16:creationId xmlns:a16="http://schemas.microsoft.com/office/drawing/2014/main" id="{F96E2593-46D0-774F-8813-5D956F8CEA7F}"/>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grpSp>
        <p:nvGrpSpPr>
          <p:cNvPr id="6" name="Group 5">
            <a:extLst>
              <a:ext uri="{FF2B5EF4-FFF2-40B4-BE49-F238E27FC236}">
                <a16:creationId xmlns:a16="http://schemas.microsoft.com/office/drawing/2014/main" id="{7826DB11-539A-2D54-6832-3A322D0E5C56}"/>
              </a:ext>
            </a:extLst>
          </p:cNvPr>
          <p:cNvGrpSpPr/>
          <p:nvPr userDrawn="1"/>
        </p:nvGrpSpPr>
        <p:grpSpPr>
          <a:xfrm>
            <a:off x="1" y="-4805"/>
            <a:ext cx="25334686" cy="2199366"/>
            <a:chOff x="0" y="-2403"/>
            <a:chExt cx="12667343" cy="1099683"/>
          </a:xfrm>
        </p:grpSpPr>
        <p:sp>
          <p:nvSpPr>
            <p:cNvPr id="4" name="Rectangle 3">
              <a:extLst>
                <a:ext uri="{FF2B5EF4-FFF2-40B4-BE49-F238E27FC236}">
                  <a16:creationId xmlns:a16="http://schemas.microsoft.com/office/drawing/2014/main" id="{12682853-E800-7A37-5627-1599E2474ACF}"/>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5" name="Picture 4">
              <a:extLst>
                <a:ext uri="{FF2B5EF4-FFF2-40B4-BE49-F238E27FC236}">
                  <a16:creationId xmlns:a16="http://schemas.microsoft.com/office/drawing/2014/main" id="{8010F62B-25DD-FC98-E2C3-00B9BDF5989B}"/>
                </a:ext>
              </a:extLst>
            </p:cNvPr>
            <p:cNvPicPr>
              <a:picLocks noChangeAspect="1"/>
            </p:cNvPicPr>
            <p:nvPr userDrawn="1"/>
          </p:nvPicPr>
          <p:blipFill rotWithShape="1">
            <a:blip r:embed="rId33"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Placeholder 1"/>
          <p:cNvSpPr>
            <a:spLocks noGrp="1"/>
          </p:cNvSpPr>
          <p:nvPr>
            <p:ph type="title"/>
          </p:nvPr>
        </p:nvSpPr>
        <p:spPr>
          <a:xfrm>
            <a:off x="668994" y="537179"/>
            <a:ext cx="12295892" cy="968086"/>
          </a:xfrm>
          <a:prstGeom prst="rect">
            <a:avLst/>
          </a:prstGeom>
          <a:ln w="12700">
            <a:noFill/>
          </a:ln>
        </p:spPr>
        <p:txBody>
          <a:bodyPr vert="horz" wrap="square" lIns="0" tIns="0" rIns="0" bIns="0" rtlCol="0" anchor="t" anchorCtr="0">
            <a:spAutoFit/>
          </a:bodyPr>
          <a:lstStyle/>
          <a:p>
            <a:r>
              <a:rPr lang="en-US"/>
              <a:t>Click to edit Master title style</a:t>
            </a:r>
          </a:p>
        </p:txBody>
      </p:sp>
    </p:spTree>
    <p:extLst>
      <p:ext uri="{BB962C8B-B14F-4D97-AF65-F5344CB8AC3E}">
        <p14:creationId xmlns:p14="http://schemas.microsoft.com/office/powerpoint/2010/main" val="3364535529"/>
      </p:ext>
    </p:extLst>
  </p:cSld>
  <p:clrMap bg1="lt1" tx1="dk1" bg2="lt2" tx2="dk2" accent1="accent1" accent2="accent2" accent3="accent3" accent4="accent4" accent5="accent5" accent6="accent6" hlink="hlink" folHlink="folHlink"/>
  <p:sldLayoutIdLst>
    <p:sldLayoutId id="2147484406" r:id="rId1"/>
    <p:sldLayoutId id="2147484407" r:id="rId2"/>
    <p:sldLayoutId id="2147484408" r:id="rId3"/>
    <p:sldLayoutId id="2147484409" r:id="rId4"/>
    <p:sldLayoutId id="2147484410" r:id="rId5"/>
    <p:sldLayoutId id="2147484411" r:id="rId6"/>
    <p:sldLayoutId id="2147484412" r:id="rId7"/>
    <p:sldLayoutId id="2147484413" r:id="rId8"/>
    <p:sldLayoutId id="2147484414" r:id="rId9"/>
    <p:sldLayoutId id="2147484415" r:id="rId10"/>
    <p:sldLayoutId id="2147484416" r:id="rId11"/>
    <p:sldLayoutId id="2147484417" r:id="rId12"/>
    <p:sldLayoutId id="2147484418" r:id="rId13"/>
    <p:sldLayoutId id="2147484419" r:id="rId14"/>
    <p:sldLayoutId id="2147484420" r:id="rId15"/>
    <p:sldLayoutId id="2147484421" r:id="rId16"/>
    <p:sldLayoutId id="2147484422" r:id="rId17"/>
    <p:sldLayoutId id="2147484423" r:id="rId18"/>
    <p:sldLayoutId id="2147484424" r:id="rId19"/>
    <p:sldLayoutId id="2147484425" r:id="rId20"/>
    <p:sldLayoutId id="2147484426" r:id="rId21"/>
    <p:sldLayoutId id="2147484427" r:id="rId22"/>
    <p:sldLayoutId id="2147484428" r:id="rId23"/>
    <p:sldLayoutId id="2147484429" r:id="rId24"/>
    <p:sldLayoutId id="2147484430" r:id="rId25"/>
    <p:sldLayoutId id="2147484431" r:id="rId26"/>
    <p:sldLayoutId id="2147484432" r:id="rId27"/>
    <p:sldLayoutId id="2147484433" r:id="rId28"/>
    <p:sldLayoutId id="2147484434" r:id="rId29"/>
  </p:sldLayoutIdLst>
  <p:hf hdr="0" ftr="0" dt="0"/>
  <p:txStyles>
    <p:titleStyle>
      <a:lvl1pPr algn="l" defTabSz="1828800" rtl="0" eaLnBrk="1" fontAlgn="base" latinLnBrk="0" hangingPunct="1">
        <a:lnSpc>
          <a:spcPct val="110000"/>
        </a:lnSpc>
        <a:spcBef>
          <a:spcPct val="0"/>
        </a:spcBef>
        <a:buNone/>
        <a:defRPr sz="6200" kern="1200">
          <a:ln w="9525">
            <a:noFill/>
          </a:ln>
          <a:solidFill>
            <a:schemeClr val="bg1"/>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Graphic 6">
            <a:extLst>
              <a:ext uri="{FF2B5EF4-FFF2-40B4-BE49-F238E27FC236}">
                <a16:creationId xmlns:a16="http://schemas.microsoft.com/office/drawing/2014/main" id="{7531EE93-37B4-654A-9329-82DE10157B02}"/>
              </a:ext>
            </a:extLst>
          </p:cNvPr>
          <p:cNvPicPr>
            <a:picLocks noChangeAspect="1"/>
          </p:cNvPicPr>
          <p:nvPr userDrawn="1"/>
        </p:nvPicPr>
        <p:blipFill>
          <a:blip r:embed="rId15" cstate="screen">
            <a:extLst>
              <a:ext uri="{28A0092B-C50C-407E-A947-70E740481C1C}">
                <a14:useLocalDpi xmlns:a14="http://schemas.microsoft.com/office/drawing/2010/main"/>
              </a:ext>
              <a:ext uri="{96DAC541-7B7A-43D3-8B79-37D633B846F1}">
                <asvg:svgBlip xmlns:asvg="http://schemas.microsoft.com/office/drawing/2016/SVG/main" r:embed="rId16"/>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82EB649D-E1E1-3E40-AA99-F9D272BD05A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0" name="Slide Number Placeholder 5">
            <a:extLst>
              <a:ext uri="{FF2B5EF4-FFF2-40B4-BE49-F238E27FC236}">
                <a16:creationId xmlns:a16="http://schemas.microsoft.com/office/drawing/2014/main" id="{0FC022FD-C77A-5448-9A3A-A5A3DCD8302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4098295293"/>
      </p:ext>
    </p:extLst>
  </p:cSld>
  <p:clrMap bg1="lt1" tx1="dk1" bg2="lt2" tx2="dk2" accent1="accent1" accent2="accent2" accent3="accent3" accent4="accent4" accent5="accent5" accent6="accent6" hlink="hlink" folHlink="folHlink"/>
  <p:sldLayoutIdLst>
    <p:sldLayoutId id="2147484436" r:id="rId1"/>
    <p:sldLayoutId id="2147484437" r:id="rId2"/>
    <p:sldLayoutId id="2147484438" r:id="rId3"/>
    <p:sldLayoutId id="2147484439" r:id="rId4"/>
    <p:sldLayoutId id="2147484440" r:id="rId5"/>
    <p:sldLayoutId id="2147484441" r:id="rId6"/>
    <p:sldLayoutId id="2147484442" r:id="rId7"/>
    <p:sldLayoutId id="2147484443" r:id="rId8"/>
    <p:sldLayoutId id="2147484444" r:id="rId9"/>
    <p:sldLayoutId id="2147484445" r:id="rId10"/>
    <p:sldLayoutId id="2147484446" r:id="rId11"/>
    <p:sldLayoutId id="2147484447" r:id="rId12"/>
    <p:sldLayoutId id="2147484448" r:id="rId13"/>
  </p:sldLayoutIdLst>
  <p:hf hdr="0" ftr="0" dt="0"/>
  <p:txStyles>
    <p:titleStyle>
      <a:lvl1pPr algn="l" defTabSz="1828800" rtl="0" eaLnBrk="1" fontAlgn="base" latinLnBrk="0" hangingPunct="1">
        <a:lnSpc>
          <a:spcPct val="112000"/>
        </a:lnSpc>
        <a:spcBef>
          <a:spcPct val="0"/>
        </a:spcBef>
        <a:buNone/>
        <a:defRPr lang="en-US" sz="9000" kern="1200" dirty="0">
          <a:ln w="9525">
            <a:noFill/>
          </a:ln>
          <a:solidFill>
            <a:schemeClr val="tx2"/>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49">
          <p15:clr>
            <a:srgbClr val="000000"/>
          </p15:clr>
        </p15:guide>
        <p15:guide id="5" orient="horz" pos="228">
          <p15:clr>
            <a:srgbClr val="000000"/>
          </p15:clr>
        </p15:guide>
        <p15:guide id="11" orient="horz" pos="3120">
          <p15:clr>
            <a:srgbClr val="000000"/>
          </p15:clr>
        </p15:guide>
        <p15:guide id="14" orient="horz" pos="4092">
          <p15:clr>
            <a:srgbClr val="000000"/>
          </p15:clr>
        </p15:guide>
        <p15:guide id="34" pos="2040">
          <p15:clr>
            <a:srgbClr val="000000"/>
          </p15:clr>
        </p15:guide>
        <p15:guide id="36" pos="3840">
          <p15:clr>
            <a:srgbClr val="000000"/>
          </p15:clr>
        </p15:guide>
        <p15:guide id="38" pos="5652">
          <p15:clr>
            <a:srgbClr val="000000"/>
          </p15:clr>
        </p15:guide>
        <p15:guide id="40" orient="horz" pos="2163">
          <p15:clr>
            <a:srgbClr val="000000"/>
          </p15:clr>
        </p15:guide>
        <p15:guide id="41" orient="horz" pos="1201">
          <p15:clr>
            <a:srgbClr val="000000"/>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477007" y="2777164"/>
            <a:ext cx="17160602" cy="3014608"/>
          </a:xfrm>
          <a:prstGeom prst="rect">
            <a:avLst/>
          </a:prstGeom>
        </p:spPr>
        <p:txBody>
          <a:bodyPr vert="horz" lIns="182880" tIns="0" rIns="0" bIns="0" rtlCol="0">
            <a:spAutoFit/>
          </a:bodyPr>
          <a:lstStyle/>
          <a:p>
            <a:pPr marL="247430" marR="0" lvl="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47430" marR="0" lvl="1"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Second level</a:t>
            </a:r>
          </a:p>
          <a:p>
            <a:pPr marL="247430" marR="0" lvl="2"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Third level</a:t>
            </a:r>
          </a:p>
          <a:p>
            <a:pPr marL="247430" marR="0" lvl="3"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Fourth level</a:t>
            </a:r>
          </a:p>
          <a:p>
            <a:pPr marL="247430" marR="0" lvl="4"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a:pPr>
            <a:r>
              <a:rPr kumimoji="0" lang="en-US" sz="3118"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8" name="Graphic 7">
            <a:extLst>
              <a:ext uri="{FF2B5EF4-FFF2-40B4-BE49-F238E27FC236}">
                <a16:creationId xmlns:a16="http://schemas.microsoft.com/office/drawing/2014/main" id="{C95E05A0-E71F-BF43-B4BD-38F301034068}"/>
              </a:ext>
            </a:extLst>
          </p:cNvPr>
          <p:cNvPicPr>
            <a:picLocks noChangeAspect="1"/>
          </p:cNvPicPr>
          <p:nvPr userDrawn="1"/>
        </p:nvPicPr>
        <p:blipFill>
          <a:blip r:embed="rId33" cstate="screen">
            <a:extLst>
              <a:ext uri="{28A0092B-C50C-407E-A947-70E740481C1C}">
                <a14:useLocalDpi xmlns:a14="http://schemas.microsoft.com/office/drawing/2010/main"/>
              </a:ext>
              <a:ext uri="{96DAC541-7B7A-43D3-8B79-37D633B846F1}">
                <asvg:svgBlip xmlns:asvg="http://schemas.microsoft.com/office/drawing/2016/SVG/main" r:embed="rId34"/>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46C91435-26B4-C74A-8BAF-292D956CE0DF}"/>
              </a:ext>
            </a:extLst>
          </p:cNvPr>
          <p:cNvSpPr>
            <a:spLocks noGrp="1"/>
          </p:cNvSpPr>
          <p:nvPr>
            <p:ph type="ftr" sz="quarter" idx="3"/>
          </p:nvPr>
        </p:nvSpPr>
        <p:spPr>
          <a:xfrm>
            <a:off x="13887450" y="13271501"/>
            <a:ext cx="8146364" cy="186554"/>
          </a:xfrm>
          <a:prstGeom prst="rect">
            <a:avLst/>
          </a:prstGeom>
        </p:spPr>
        <p:txBody>
          <a:bodyPr vert="horz" wrap="square" lIns="0" tIns="0" rIns="0" bIns="0" rtlCol="0" anchor="t" anchorCtr="0">
            <a:spAutoFit/>
          </a:bodyPr>
          <a:lstStyle>
            <a:lvl1pPr algn="r">
              <a:defRPr sz="1212">
                <a:solidFill>
                  <a:schemeClr val="tx1"/>
                </a:solidFill>
              </a:defRPr>
            </a:lvl1pPr>
          </a:lstStyle>
          <a:p>
            <a:endParaRPr lang="en-US"/>
          </a:p>
        </p:txBody>
      </p:sp>
      <p:sp>
        <p:nvSpPr>
          <p:cNvPr id="11" name="Slide Number Placeholder 5">
            <a:extLst>
              <a:ext uri="{FF2B5EF4-FFF2-40B4-BE49-F238E27FC236}">
                <a16:creationId xmlns:a16="http://schemas.microsoft.com/office/drawing/2014/main" id="{F96E2593-46D0-774F-8813-5D956F8CEA7F}"/>
              </a:ext>
            </a:extLst>
          </p:cNvPr>
          <p:cNvSpPr>
            <a:spLocks noGrp="1"/>
          </p:cNvSpPr>
          <p:nvPr>
            <p:ph type="sldNum" sz="quarter" idx="4"/>
          </p:nvPr>
        </p:nvSpPr>
        <p:spPr>
          <a:xfrm>
            <a:off x="22402802" y="13271501"/>
            <a:ext cx="1234804" cy="186554"/>
          </a:xfrm>
          <a:prstGeom prst="rect">
            <a:avLst/>
          </a:prstGeom>
        </p:spPr>
        <p:txBody>
          <a:bodyPr vert="horz" lIns="0" tIns="0" rIns="0" bIns="0" rtlCol="0" anchor="t" anchorCtr="0">
            <a:spAutoFit/>
          </a:bodyPr>
          <a:lstStyle>
            <a:lvl1pPr algn="r">
              <a:defRPr sz="1212">
                <a:solidFill>
                  <a:schemeClr val="tx1"/>
                </a:solidFill>
              </a:defRPr>
            </a:lvl1pPr>
          </a:lstStyle>
          <a:p>
            <a:fld id="{762E77F0-FB5B-4E8E-9BC9-34F14560A017}" type="slidenum">
              <a:rPr lang="en-US" smtClean="0"/>
              <a:pPr/>
              <a:t>‹#›</a:t>
            </a:fld>
            <a:endParaRPr lang="en-US"/>
          </a:p>
        </p:txBody>
      </p:sp>
      <p:grpSp>
        <p:nvGrpSpPr>
          <p:cNvPr id="6" name="Group 5">
            <a:extLst>
              <a:ext uri="{FF2B5EF4-FFF2-40B4-BE49-F238E27FC236}">
                <a16:creationId xmlns:a16="http://schemas.microsoft.com/office/drawing/2014/main" id="{7826DB11-539A-2D54-6832-3A322D0E5C56}"/>
              </a:ext>
            </a:extLst>
          </p:cNvPr>
          <p:cNvGrpSpPr/>
          <p:nvPr userDrawn="1"/>
        </p:nvGrpSpPr>
        <p:grpSpPr>
          <a:xfrm>
            <a:off x="5" y="-4803"/>
            <a:ext cx="25334686" cy="2199366"/>
            <a:chOff x="0" y="-2403"/>
            <a:chExt cx="12667343" cy="1099683"/>
          </a:xfrm>
        </p:grpSpPr>
        <p:sp>
          <p:nvSpPr>
            <p:cNvPr id="4" name="Rectangle 3">
              <a:extLst>
                <a:ext uri="{FF2B5EF4-FFF2-40B4-BE49-F238E27FC236}">
                  <a16:creationId xmlns:a16="http://schemas.microsoft.com/office/drawing/2014/main" id="{12682853-E800-7A37-5627-1599E2474ACF}"/>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118"/>
            </a:p>
          </p:txBody>
        </p:sp>
        <p:pic>
          <p:nvPicPr>
            <p:cNvPr id="5" name="Picture 4">
              <a:extLst>
                <a:ext uri="{FF2B5EF4-FFF2-40B4-BE49-F238E27FC236}">
                  <a16:creationId xmlns:a16="http://schemas.microsoft.com/office/drawing/2014/main" id="{8010F62B-25DD-FC98-E2C3-00B9BDF5989B}"/>
                </a:ext>
              </a:extLst>
            </p:cNvPr>
            <p:cNvPicPr>
              <a:picLocks noChangeAspect="1"/>
            </p:cNvPicPr>
            <p:nvPr userDrawn="1"/>
          </p:nvPicPr>
          <p:blipFill rotWithShape="1">
            <a:blip r:embed="rId35"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Placeholder 1"/>
          <p:cNvSpPr>
            <a:spLocks noGrp="1"/>
          </p:cNvSpPr>
          <p:nvPr>
            <p:ph type="title"/>
          </p:nvPr>
        </p:nvSpPr>
        <p:spPr>
          <a:xfrm>
            <a:off x="668994" y="537181"/>
            <a:ext cx="12295892" cy="838270"/>
          </a:xfrm>
          <a:prstGeom prst="rect">
            <a:avLst/>
          </a:prstGeom>
          <a:ln w="12700">
            <a:noFill/>
          </a:ln>
        </p:spPr>
        <p:txBody>
          <a:bodyPr vert="horz" wrap="square" lIns="0" tIns="0" rIns="0" bIns="0" rtlCol="0" anchor="t" anchorCtr="0">
            <a:spAutoFit/>
          </a:bodyPr>
          <a:lstStyle/>
          <a:p>
            <a:r>
              <a:rPr lang="en-US"/>
              <a:t>Click to edit Master title style</a:t>
            </a:r>
          </a:p>
        </p:txBody>
      </p:sp>
    </p:spTree>
    <p:extLst>
      <p:ext uri="{BB962C8B-B14F-4D97-AF65-F5344CB8AC3E}">
        <p14:creationId xmlns:p14="http://schemas.microsoft.com/office/powerpoint/2010/main" val="3238691994"/>
      </p:ext>
    </p:extLst>
  </p:cSld>
  <p:clrMap bg1="lt1" tx1="dk1" bg2="lt2" tx2="dk2" accent1="accent1" accent2="accent2" accent3="accent3" accent4="accent4" accent5="accent5" accent6="accent6" hlink="hlink" folHlink="folHlink"/>
  <p:sldLayoutIdLst>
    <p:sldLayoutId id="2147484482" r:id="rId1"/>
    <p:sldLayoutId id="2147484483" r:id="rId2"/>
    <p:sldLayoutId id="2147484484" r:id="rId3"/>
    <p:sldLayoutId id="2147484485" r:id="rId4"/>
    <p:sldLayoutId id="2147484486" r:id="rId5"/>
    <p:sldLayoutId id="2147484487" r:id="rId6"/>
    <p:sldLayoutId id="2147484488" r:id="rId7"/>
    <p:sldLayoutId id="2147484489" r:id="rId8"/>
    <p:sldLayoutId id="2147484490" r:id="rId9"/>
    <p:sldLayoutId id="2147484491" r:id="rId10"/>
    <p:sldLayoutId id="2147484492" r:id="rId11"/>
    <p:sldLayoutId id="2147484493" r:id="rId12"/>
    <p:sldLayoutId id="2147484494" r:id="rId13"/>
    <p:sldLayoutId id="2147484495" r:id="rId14"/>
    <p:sldLayoutId id="2147484496" r:id="rId15"/>
    <p:sldLayoutId id="2147484497" r:id="rId16"/>
    <p:sldLayoutId id="2147484498" r:id="rId17"/>
    <p:sldLayoutId id="2147484499" r:id="rId18"/>
    <p:sldLayoutId id="2147484500" r:id="rId19"/>
    <p:sldLayoutId id="2147484501" r:id="rId20"/>
    <p:sldLayoutId id="2147484502" r:id="rId21"/>
    <p:sldLayoutId id="2147484503" r:id="rId22"/>
    <p:sldLayoutId id="2147484504" r:id="rId23"/>
    <p:sldLayoutId id="2147484505" r:id="rId24"/>
    <p:sldLayoutId id="2147484506" r:id="rId25"/>
    <p:sldLayoutId id="2147484507" r:id="rId26"/>
    <p:sldLayoutId id="2147484508" r:id="rId27"/>
    <p:sldLayoutId id="2147484509" r:id="rId28"/>
    <p:sldLayoutId id="2147484510" r:id="rId29"/>
    <p:sldLayoutId id="2147484511" r:id="rId30"/>
    <p:sldLayoutId id="2147484512" r:id="rId31"/>
  </p:sldLayoutIdLst>
  <p:hf hdr="0" ftr="0" dt="0"/>
  <p:txStyles>
    <p:titleStyle>
      <a:lvl1pPr algn="l" defTabSz="1583558" rtl="0" eaLnBrk="1" fontAlgn="base" latinLnBrk="0" hangingPunct="1">
        <a:lnSpc>
          <a:spcPct val="110000"/>
        </a:lnSpc>
        <a:spcBef>
          <a:spcPct val="0"/>
        </a:spcBef>
        <a:buNone/>
        <a:defRPr sz="5368" kern="1200">
          <a:ln w="9525">
            <a:noFill/>
          </a:ln>
          <a:solidFill>
            <a:schemeClr val="bg1"/>
          </a:solidFill>
          <a:latin typeface="+mj-lt"/>
          <a:ea typeface="+mj-ea"/>
          <a:cs typeface="+mj-cs"/>
        </a:defRPr>
      </a:lvl1pPr>
    </p:titleStyle>
    <p:bodyStyle>
      <a:lvl1pPr marL="247430" marR="0" indent="-24743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sz="3118" kern="1200">
          <a:ln>
            <a:noFill/>
          </a:ln>
          <a:solidFill>
            <a:schemeClr val="tx1"/>
          </a:solidFill>
          <a:latin typeface="+mn-lt"/>
          <a:ea typeface="+mn-ea"/>
          <a:cs typeface="+mn-cs"/>
        </a:defRPr>
      </a:lvl1pPr>
      <a:lvl2pPr marL="742292" marR="0" indent="-25155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sz="3118" kern="1200">
          <a:ln>
            <a:noFill/>
          </a:ln>
          <a:solidFill>
            <a:schemeClr val="tx1"/>
          </a:solidFill>
          <a:latin typeface="+mn-lt"/>
          <a:ea typeface="+mn-ea"/>
          <a:cs typeface="+mn-cs"/>
        </a:defRPr>
      </a:lvl2pPr>
      <a:lvl3pPr marL="1237154" marR="0" indent="-255680"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sz="3118" kern="1200">
          <a:ln>
            <a:noFill/>
          </a:ln>
          <a:solidFill>
            <a:schemeClr val="tx1"/>
          </a:solidFill>
          <a:latin typeface="+mn-lt"/>
          <a:ea typeface="+mn-ea"/>
          <a:cs typeface="+mn-cs"/>
        </a:defRPr>
      </a:lvl3pPr>
      <a:lvl4pPr marL="1732016" marR="0" indent="-259802"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sz="3118" kern="1200">
          <a:ln>
            <a:noFill/>
          </a:ln>
          <a:solidFill>
            <a:schemeClr val="tx1"/>
          </a:solidFill>
          <a:latin typeface="+mn-lt"/>
          <a:ea typeface="+mn-ea"/>
          <a:cs typeface="+mn-cs"/>
        </a:defRPr>
      </a:lvl4pPr>
      <a:lvl5pPr marL="2226878" marR="0" indent="-263926" algn="l" defTabSz="1583558" rtl="0" eaLnBrk="1" fontAlgn="t" latinLnBrk="0" hangingPunct="1">
        <a:lnSpc>
          <a:spcPct val="100000"/>
        </a:lnSpc>
        <a:spcBef>
          <a:spcPts val="0"/>
        </a:spcBef>
        <a:spcAft>
          <a:spcPts val="1212"/>
        </a:spcAft>
        <a:buClr>
          <a:srgbClr val="EB0000"/>
        </a:buClr>
        <a:buSzTx/>
        <a:buFont typeface="Arial" panose="020B0604020202020204" pitchFamily="34" charset="0"/>
        <a:buChar char="•"/>
        <a:tabLst/>
        <a:defRPr sz="3118" kern="1200">
          <a:ln>
            <a:noFill/>
          </a:ln>
          <a:solidFill>
            <a:schemeClr val="tx1"/>
          </a:solidFill>
          <a:latin typeface="+mn-lt"/>
          <a:ea typeface="+mn-ea"/>
          <a:cs typeface="+mn-cs"/>
        </a:defRPr>
      </a:lvl5pPr>
      <a:lvl6pPr marL="4354784" indent="-395890" algn="l" defTabSz="1583558" rtl="0" eaLnBrk="1" latinLnBrk="0" hangingPunct="1">
        <a:lnSpc>
          <a:spcPct val="90000"/>
        </a:lnSpc>
        <a:spcBef>
          <a:spcPts val="866"/>
        </a:spcBef>
        <a:buFont typeface="Arial" panose="020B0604020202020204" pitchFamily="34" charset="0"/>
        <a:buChar char="•"/>
        <a:defRPr sz="3118" kern="1200">
          <a:solidFill>
            <a:schemeClr val="tx1"/>
          </a:solidFill>
          <a:latin typeface="+mn-lt"/>
          <a:ea typeface="+mn-ea"/>
          <a:cs typeface="+mn-cs"/>
        </a:defRPr>
      </a:lvl6pPr>
      <a:lvl7pPr marL="5146564" indent="-395890" algn="l" defTabSz="1583558" rtl="0" eaLnBrk="1" latinLnBrk="0" hangingPunct="1">
        <a:lnSpc>
          <a:spcPct val="90000"/>
        </a:lnSpc>
        <a:spcBef>
          <a:spcPts val="866"/>
        </a:spcBef>
        <a:buFont typeface="Arial" panose="020B0604020202020204" pitchFamily="34" charset="0"/>
        <a:buChar char="•"/>
        <a:defRPr sz="3118" kern="1200">
          <a:solidFill>
            <a:schemeClr val="tx1"/>
          </a:solidFill>
          <a:latin typeface="+mn-lt"/>
          <a:ea typeface="+mn-ea"/>
          <a:cs typeface="+mn-cs"/>
        </a:defRPr>
      </a:lvl7pPr>
      <a:lvl8pPr marL="5938342" indent="-395890" algn="l" defTabSz="1583558" rtl="0" eaLnBrk="1" latinLnBrk="0" hangingPunct="1">
        <a:lnSpc>
          <a:spcPct val="90000"/>
        </a:lnSpc>
        <a:spcBef>
          <a:spcPts val="866"/>
        </a:spcBef>
        <a:buFont typeface="Arial" panose="020B0604020202020204" pitchFamily="34" charset="0"/>
        <a:buChar char="•"/>
        <a:defRPr sz="3118" kern="1200">
          <a:solidFill>
            <a:schemeClr val="tx1"/>
          </a:solidFill>
          <a:latin typeface="+mn-lt"/>
          <a:ea typeface="+mn-ea"/>
          <a:cs typeface="+mn-cs"/>
        </a:defRPr>
      </a:lvl8pPr>
      <a:lvl9pPr marL="6730122" indent="-395890" algn="l" defTabSz="1583558" rtl="0" eaLnBrk="1" latinLnBrk="0" hangingPunct="1">
        <a:lnSpc>
          <a:spcPct val="90000"/>
        </a:lnSpc>
        <a:spcBef>
          <a:spcPts val="866"/>
        </a:spcBef>
        <a:buFont typeface="Arial" panose="020B0604020202020204" pitchFamily="34" charset="0"/>
        <a:buChar char="•"/>
        <a:defRPr sz="3118" kern="1200">
          <a:solidFill>
            <a:schemeClr val="tx1"/>
          </a:solidFill>
          <a:latin typeface="+mn-lt"/>
          <a:ea typeface="+mn-ea"/>
          <a:cs typeface="+mn-cs"/>
        </a:defRPr>
      </a:lvl9pPr>
    </p:bodyStyle>
    <p:otherStyle>
      <a:defPPr>
        <a:defRPr lang="en-US"/>
      </a:defPPr>
      <a:lvl1pPr marL="0" algn="l" defTabSz="1583558" rtl="0" eaLnBrk="1" latinLnBrk="0" hangingPunct="1">
        <a:defRPr sz="3118" kern="1200">
          <a:solidFill>
            <a:schemeClr val="tx1"/>
          </a:solidFill>
          <a:latin typeface="+mn-lt"/>
          <a:ea typeface="+mn-ea"/>
          <a:cs typeface="+mn-cs"/>
        </a:defRPr>
      </a:lvl1pPr>
      <a:lvl2pPr marL="791778" algn="l" defTabSz="1583558" rtl="0" eaLnBrk="1" latinLnBrk="0" hangingPunct="1">
        <a:defRPr sz="3118" kern="1200">
          <a:solidFill>
            <a:schemeClr val="tx1"/>
          </a:solidFill>
          <a:latin typeface="+mn-lt"/>
          <a:ea typeface="+mn-ea"/>
          <a:cs typeface="+mn-cs"/>
        </a:defRPr>
      </a:lvl2pPr>
      <a:lvl3pPr marL="1583558" algn="l" defTabSz="1583558" rtl="0" eaLnBrk="1" latinLnBrk="0" hangingPunct="1">
        <a:defRPr sz="3118" kern="1200">
          <a:solidFill>
            <a:schemeClr val="tx1"/>
          </a:solidFill>
          <a:latin typeface="+mn-lt"/>
          <a:ea typeface="+mn-ea"/>
          <a:cs typeface="+mn-cs"/>
        </a:defRPr>
      </a:lvl3pPr>
      <a:lvl4pPr marL="2375336" algn="l" defTabSz="1583558" rtl="0" eaLnBrk="1" latinLnBrk="0" hangingPunct="1">
        <a:defRPr sz="3118" kern="1200">
          <a:solidFill>
            <a:schemeClr val="tx1"/>
          </a:solidFill>
          <a:latin typeface="+mn-lt"/>
          <a:ea typeface="+mn-ea"/>
          <a:cs typeface="+mn-cs"/>
        </a:defRPr>
      </a:lvl4pPr>
      <a:lvl5pPr marL="3167116" algn="l" defTabSz="1583558" rtl="0" eaLnBrk="1" latinLnBrk="0" hangingPunct="1">
        <a:defRPr sz="3118" kern="1200">
          <a:solidFill>
            <a:schemeClr val="tx1"/>
          </a:solidFill>
          <a:latin typeface="+mn-lt"/>
          <a:ea typeface="+mn-ea"/>
          <a:cs typeface="+mn-cs"/>
        </a:defRPr>
      </a:lvl5pPr>
      <a:lvl6pPr marL="3958894" algn="l" defTabSz="1583558" rtl="0" eaLnBrk="1" latinLnBrk="0" hangingPunct="1">
        <a:defRPr sz="3118" kern="1200">
          <a:solidFill>
            <a:schemeClr val="tx1"/>
          </a:solidFill>
          <a:latin typeface="+mn-lt"/>
          <a:ea typeface="+mn-ea"/>
          <a:cs typeface="+mn-cs"/>
        </a:defRPr>
      </a:lvl6pPr>
      <a:lvl7pPr marL="4750674" algn="l" defTabSz="1583558" rtl="0" eaLnBrk="1" latinLnBrk="0" hangingPunct="1">
        <a:defRPr sz="3118" kern="1200">
          <a:solidFill>
            <a:schemeClr val="tx1"/>
          </a:solidFill>
          <a:latin typeface="+mn-lt"/>
          <a:ea typeface="+mn-ea"/>
          <a:cs typeface="+mn-cs"/>
        </a:defRPr>
      </a:lvl7pPr>
      <a:lvl8pPr marL="5542452" algn="l" defTabSz="1583558" rtl="0" eaLnBrk="1" latinLnBrk="0" hangingPunct="1">
        <a:defRPr sz="3118" kern="1200">
          <a:solidFill>
            <a:schemeClr val="tx1"/>
          </a:solidFill>
          <a:latin typeface="+mn-lt"/>
          <a:ea typeface="+mn-ea"/>
          <a:cs typeface="+mn-cs"/>
        </a:defRPr>
      </a:lvl8pPr>
      <a:lvl9pPr marL="6334232" algn="l" defTabSz="1583558" rtl="0" eaLnBrk="1" latinLnBrk="0" hangingPunct="1">
        <a:defRPr sz="3118"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63">
          <p15:clr>
            <a:srgbClr val="000000"/>
          </p15:clr>
        </p15:guide>
        <p15:guide id="8" orient="horz" pos="1386">
          <p15:clr>
            <a:srgbClr val="000000"/>
          </p15:clr>
        </p15:guide>
        <p15:guide id="11" orient="horz" pos="2495">
          <p15:clr>
            <a:srgbClr val="000000"/>
          </p15:clr>
        </p15:guide>
        <p15:guide id="14" orient="horz" pos="4726">
          <p15:clr>
            <a:srgbClr val="000000"/>
          </p15:clr>
        </p15:guide>
        <p15:guide id="45" orient="horz" pos="3603">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Graphic 6">
            <a:extLst>
              <a:ext uri="{FF2B5EF4-FFF2-40B4-BE49-F238E27FC236}">
                <a16:creationId xmlns:a16="http://schemas.microsoft.com/office/drawing/2014/main" id="{7531EE93-37B4-654A-9329-82DE10157B02}"/>
              </a:ext>
            </a:extLst>
          </p:cNvPr>
          <p:cNvPicPr>
            <a:picLocks noChangeAspect="1"/>
          </p:cNvPicPr>
          <p:nvPr userDrawn="1"/>
        </p:nvPicPr>
        <p:blipFill>
          <a:blip r:embed="rId18" cstate="screen">
            <a:extLst>
              <a:ext uri="{28A0092B-C50C-407E-A947-70E740481C1C}">
                <a14:useLocalDpi xmlns:a14="http://schemas.microsoft.com/office/drawing/2010/main"/>
              </a:ext>
              <a:ext uri="{96DAC541-7B7A-43D3-8B79-37D633B846F1}">
                <asvg:svgBlip xmlns:asvg="http://schemas.microsoft.com/office/drawing/2016/SVG/main" r:embed="rId19"/>
              </a:ext>
            </a:extLst>
          </a:blip>
          <a:stretch>
            <a:fillRect/>
          </a:stretch>
        </p:blipFill>
        <p:spPr>
          <a:xfrm>
            <a:off x="655810" y="12808078"/>
            <a:ext cx="2286000" cy="708660"/>
          </a:xfrm>
          <a:prstGeom prst="rect">
            <a:avLst/>
          </a:prstGeom>
        </p:spPr>
      </p:pic>
      <p:sp>
        <p:nvSpPr>
          <p:cNvPr id="8" name="Footer Placeholder 4">
            <a:extLst>
              <a:ext uri="{FF2B5EF4-FFF2-40B4-BE49-F238E27FC236}">
                <a16:creationId xmlns:a16="http://schemas.microsoft.com/office/drawing/2014/main" id="{82EB649D-E1E1-3E40-AA99-F9D272BD05A4}"/>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b="0" i="0">
                <a:solidFill>
                  <a:schemeClr val="tx1"/>
                </a:solidFill>
                <a:latin typeface="Fira Sans" panose="020B0503050000020004" pitchFamily="34" charset="0"/>
              </a:defRPr>
            </a:lvl1pPr>
          </a:lstStyle>
          <a:p>
            <a:endParaRPr lang="en-US"/>
          </a:p>
        </p:txBody>
      </p:sp>
      <p:sp>
        <p:nvSpPr>
          <p:cNvPr id="10" name="Slide Number Placeholder 5">
            <a:extLst>
              <a:ext uri="{FF2B5EF4-FFF2-40B4-BE49-F238E27FC236}">
                <a16:creationId xmlns:a16="http://schemas.microsoft.com/office/drawing/2014/main" id="{0FC022FD-C77A-5448-9A3A-A5A3DCD8302E}"/>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b="0" i="0">
                <a:solidFill>
                  <a:schemeClr val="tx1"/>
                </a:solidFill>
                <a:latin typeface="Fira Sans" panose="020B0503050000020004" pitchFamily="34" charset="0"/>
              </a:defRPr>
            </a:lvl1pPr>
          </a:lstStyle>
          <a:p>
            <a:fld id="{762E77F0-FB5B-4E8E-9BC9-34F14560A017}" type="slidenum">
              <a:rPr lang="en-US" smtClean="0"/>
              <a:pPr/>
              <a:t>‹#›</a:t>
            </a:fld>
            <a:endParaRPr lang="en-US"/>
          </a:p>
        </p:txBody>
      </p:sp>
    </p:spTree>
    <p:extLst>
      <p:ext uri="{BB962C8B-B14F-4D97-AF65-F5344CB8AC3E}">
        <p14:creationId xmlns:p14="http://schemas.microsoft.com/office/powerpoint/2010/main" val="2545988467"/>
      </p:ext>
    </p:extLst>
  </p:cSld>
  <p:clrMap bg1="lt1" tx1="dk1" bg2="lt2" tx2="dk2" accent1="accent1" accent2="accent2" accent3="accent3" accent4="accent4" accent5="accent5" accent6="accent6" hlink="hlink" folHlink="folHlink"/>
  <p:sldLayoutIdLst>
    <p:sldLayoutId id="2147484514" r:id="rId1"/>
    <p:sldLayoutId id="2147484515" r:id="rId2"/>
    <p:sldLayoutId id="2147484516" r:id="rId3"/>
    <p:sldLayoutId id="2147484517" r:id="rId4"/>
    <p:sldLayoutId id="2147484518" r:id="rId5"/>
    <p:sldLayoutId id="2147484519" r:id="rId6"/>
    <p:sldLayoutId id="2147484520" r:id="rId7"/>
    <p:sldLayoutId id="2147484521" r:id="rId8"/>
    <p:sldLayoutId id="2147484522" r:id="rId9"/>
    <p:sldLayoutId id="2147484523" r:id="rId10"/>
    <p:sldLayoutId id="2147484524" r:id="rId11"/>
    <p:sldLayoutId id="2147484525" r:id="rId12"/>
    <p:sldLayoutId id="2147484526" r:id="rId13"/>
    <p:sldLayoutId id="2147484527" r:id="rId14"/>
    <p:sldLayoutId id="2147484528" r:id="rId15"/>
    <p:sldLayoutId id="2147484529" r:id="rId16"/>
  </p:sldLayoutIdLst>
  <p:hf hdr="0" ftr="0" dt="0"/>
  <p:txStyles>
    <p:titleStyle>
      <a:lvl1pPr algn="l" defTabSz="1828800" rtl="0" eaLnBrk="1" fontAlgn="base" latinLnBrk="0" hangingPunct="1">
        <a:lnSpc>
          <a:spcPct val="112000"/>
        </a:lnSpc>
        <a:spcBef>
          <a:spcPct val="0"/>
        </a:spcBef>
        <a:buNone/>
        <a:defRPr lang="en-US" sz="9000" kern="1200" dirty="0">
          <a:ln w="9525">
            <a:noFill/>
          </a:ln>
          <a:solidFill>
            <a:schemeClr val="tx2"/>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49">
          <p15:clr>
            <a:srgbClr val="000000"/>
          </p15:clr>
        </p15:guide>
        <p15:guide id="5" orient="horz" pos="228">
          <p15:clr>
            <a:srgbClr val="000000"/>
          </p15:clr>
        </p15:guide>
        <p15:guide id="11" orient="horz" pos="3120">
          <p15:clr>
            <a:srgbClr val="000000"/>
          </p15:clr>
        </p15:guide>
        <p15:guide id="14" orient="horz" pos="4092">
          <p15:clr>
            <a:srgbClr val="000000"/>
          </p15:clr>
        </p15:guide>
        <p15:guide id="34" pos="2040">
          <p15:clr>
            <a:srgbClr val="000000"/>
          </p15:clr>
        </p15:guide>
        <p15:guide id="36" pos="3840">
          <p15:clr>
            <a:srgbClr val="000000"/>
          </p15:clr>
        </p15:guide>
        <p15:guide id="38" pos="5652">
          <p15:clr>
            <a:srgbClr val="000000"/>
          </p15:clr>
        </p15:guide>
        <p15:guide id="40" orient="horz" pos="2163">
          <p15:clr>
            <a:srgbClr val="000000"/>
          </p15:clr>
        </p15:guide>
        <p15:guide id="41" orient="horz" pos="1201">
          <p15:clr>
            <a:srgbClr val="000000"/>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68995" y="537179"/>
            <a:ext cx="5466338" cy="3062106"/>
          </a:xfrm>
          <a:prstGeom prst="rect">
            <a:avLst/>
          </a:prstGeom>
          <a:ln w="12700">
            <a:noFill/>
          </a:ln>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6477003" y="624971"/>
            <a:ext cx="17160602" cy="12350774"/>
          </a:xfrm>
          <a:prstGeom prst="rect">
            <a:avLst/>
          </a:prstGeom>
        </p:spPr>
        <p:txBody>
          <a:bodyPr vert="horz" lIns="182880" tIns="0" rIns="0" bIns="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3"/>
          </p:nvPr>
        </p:nvSpPr>
        <p:spPr>
          <a:xfrm>
            <a:off x="6477000" y="13000317"/>
            <a:ext cx="5518292" cy="486410"/>
          </a:xfrm>
          <a:prstGeom prst="rect">
            <a:avLst/>
          </a:prstGeom>
        </p:spPr>
        <p:txBody>
          <a:bodyPr vert="horz" lIns="365760" tIns="73152" rIns="91440" bIns="45720" rtlCol="0" anchor="t" anchorCtr="0"/>
          <a:lstStyle>
            <a:lvl1pPr algn="l">
              <a:defRPr sz="1300">
                <a:solidFill>
                  <a:schemeClr val="tx1"/>
                </a:solidFill>
              </a:defRPr>
            </a:lvl1pPr>
          </a:lstStyle>
          <a:p>
            <a:endParaRPr lang="en-US"/>
          </a:p>
        </p:txBody>
      </p:sp>
      <p:sp>
        <p:nvSpPr>
          <p:cNvPr id="6" name="Slide Number Placeholder 5"/>
          <p:cNvSpPr>
            <a:spLocks noGrp="1"/>
          </p:cNvSpPr>
          <p:nvPr>
            <p:ph type="sldNum" sz="quarter" idx="4"/>
          </p:nvPr>
        </p:nvSpPr>
        <p:spPr>
          <a:xfrm>
            <a:off x="22402802" y="12985750"/>
            <a:ext cx="1234804" cy="466344"/>
          </a:xfrm>
          <a:prstGeom prst="rect">
            <a:avLst/>
          </a:prstGeom>
        </p:spPr>
        <p:txBody>
          <a:bodyPr vert="horz" lIns="0" tIns="73152" rIns="0" bIns="45720" rtlCol="0" anchor="t" anchorCtr="0"/>
          <a:lstStyle>
            <a:lvl1pPr algn="r">
              <a:defRPr sz="1300">
                <a:solidFill>
                  <a:schemeClr val="tx1"/>
                </a:solidFill>
              </a:defRPr>
            </a:lvl1pPr>
          </a:lstStyle>
          <a:p>
            <a:fld id="{762E77F0-FB5B-4E8E-9BC9-34F14560A017}" type="slidenum">
              <a:rPr lang="en-US" smtClean="0"/>
              <a:pPr/>
              <a:t>‹#›</a:t>
            </a:fld>
            <a:endParaRPr lang="en-US"/>
          </a:p>
        </p:txBody>
      </p:sp>
      <p:cxnSp>
        <p:nvCxnSpPr>
          <p:cNvPr id="7" name="Straight Connector 6">
            <a:extLst>
              <a:ext uri="{FF2B5EF4-FFF2-40B4-BE49-F238E27FC236}">
                <a16:creationId xmlns:a16="http://schemas.microsoft.com/office/drawing/2014/main" id="{0057071C-1660-4D95-BF58-C9DBC7B98100}"/>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Freeform 5">
            <a:extLst>
              <a:ext uri="{FF2B5EF4-FFF2-40B4-BE49-F238E27FC236}">
                <a16:creationId xmlns:a16="http://schemas.microsoft.com/office/drawing/2014/main" id="{8FF537FD-1E60-3241-9232-4C8BFB58C4ED}"/>
              </a:ext>
            </a:extLst>
          </p:cNvPr>
          <p:cNvSpPr>
            <a:spLocks noEditPoints="1"/>
          </p:cNvSpPr>
          <p:nvPr userDrawn="1"/>
        </p:nvSpPr>
        <p:spPr bwMode="auto">
          <a:xfrm>
            <a:off x="727155" y="12909775"/>
            <a:ext cx="2896342" cy="576954"/>
          </a:xfrm>
          <a:custGeom>
            <a:avLst/>
            <a:gdLst>
              <a:gd name="T0" fmla="*/ 2149 w 5691"/>
              <a:gd name="T1" fmla="*/ 917 h 1139"/>
              <a:gd name="T2" fmla="*/ 2493 w 5691"/>
              <a:gd name="T3" fmla="*/ 222 h 1139"/>
              <a:gd name="T4" fmla="*/ 2107 w 5691"/>
              <a:gd name="T5" fmla="*/ 0 h 1139"/>
              <a:gd name="T6" fmla="*/ 1933 w 5691"/>
              <a:gd name="T7" fmla="*/ 917 h 1139"/>
              <a:gd name="T8" fmla="*/ 134 w 5691"/>
              <a:gd name="T9" fmla="*/ 222 h 1139"/>
              <a:gd name="T10" fmla="*/ 260 w 5691"/>
              <a:gd name="T11" fmla="*/ 637 h 1139"/>
              <a:gd name="T12" fmla="*/ 286 w 5691"/>
              <a:gd name="T13" fmla="*/ 376 h 1139"/>
              <a:gd name="T14" fmla="*/ 3178 w 5691"/>
              <a:gd name="T15" fmla="*/ 596 h 1139"/>
              <a:gd name="T16" fmla="*/ 3641 w 5691"/>
              <a:gd name="T17" fmla="*/ 473 h 1139"/>
              <a:gd name="T18" fmla="*/ 3128 w 5691"/>
              <a:gd name="T19" fmla="*/ 863 h 1139"/>
              <a:gd name="T20" fmla="*/ 3044 w 5691"/>
              <a:gd name="T21" fmla="*/ 222 h 1139"/>
              <a:gd name="T22" fmla="*/ 3417 w 5691"/>
              <a:gd name="T23" fmla="*/ 209 h 1139"/>
              <a:gd name="T24" fmla="*/ 887 w 5691"/>
              <a:gd name="T25" fmla="*/ 365 h 1139"/>
              <a:gd name="T26" fmla="*/ 942 w 5691"/>
              <a:gd name="T27" fmla="*/ 572 h 1139"/>
              <a:gd name="T28" fmla="*/ 1075 w 5691"/>
              <a:gd name="T29" fmla="*/ 917 h 1139"/>
              <a:gd name="T30" fmla="*/ 698 w 5691"/>
              <a:gd name="T31" fmla="*/ 932 h 1139"/>
              <a:gd name="T32" fmla="*/ 928 w 5691"/>
              <a:gd name="T33" fmla="*/ 209 h 1139"/>
              <a:gd name="T34" fmla="*/ 4115 w 5691"/>
              <a:gd name="T35" fmla="*/ 440 h 1139"/>
              <a:gd name="T36" fmla="*/ 3935 w 5691"/>
              <a:gd name="T37" fmla="*/ 765 h 1139"/>
              <a:gd name="T38" fmla="*/ 4304 w 5691"/>
              <a:gd name="T39" fmla="*/ 529 h 1139"/>
              <a:gd name="T40" fmla="*/ 4059 w 5691"/>
              <a:gd name="T41" fmla="*/ 783 h 1139"/>
              <a:gd name="T42" fmla="*/ 3799 w 5691"/>
              <a:gd name="T43" fmla="*/ 325 h 1139"/>
              <a:gd name="T44" fmla="*/ 4304 w 5691"/>
              <a:gd name="T45" fmla="*/ 529 h 1139"/>
              <a:gd name="T46" fmla="*/ 4629 w 5691"/>
              <a:gd name="T47" fmla="*/ 931 h 1139"/>
              <a:gd name="T48" fmla="*/ 4687 w 5691"/>
              <a:gd name="T49" fmla="*/ 767 h 1139"/>
              <a:gd name="T50" fmla="*/ 4899 w 5691"/>
              <a:gd name="T51" fmla="*/ 402 h 1139"/>
              <a:gd name="T52" fmla="*/ 5110 w 5691"/>
              <a:gd name="T53" fmla="*/ 500 h 1139"/>
              <a:gd name="T54" fmla="*/ 5110 w 5691"/>
              <a:gd name="T55" fmla="*/ 500 h 1139"/>
              <a:gd name="T56" fmla="*/ 5451 w 5691"/>
              <a:gd name="T57" fmla="*/ 875 h 1139"/>
              <a:gd name="T58" fmla="*/ 5001 w 5691"/>
              <a:gd name="T59" fmla="*/ 345 h 1139"/>
              <a:gd name="T60" fmla="*/ 5481 w 5691"/>
              <a:gd name="T61" fmla="*/ 558 h 1139"/>
              <a:gd name="T62" fmla="*/ 5615 w 5691"/>
              <a:gd name="T63" fmla="*/ 794 h 1139"/>
              <a:gd name="T64" fmla="*/ 5606 w 5691"/>
              <a:gd name="T65" fmla="*/ 832 h 1139"/>
              <a:gd name="T66" fmla="*/ 5642 w 5691"/>
              <a:gd name="T67" fmla="*/ 814 h 1139"/>
              <a:gd name="T68" fmla="*/ 5615 w 5691"/>
              <a:gd name="T69" fmla="*/ 883 h 1139"/>
              <a:gd name="T70" fmla="*/ 5576 w 5691"/>
              <a:gd name="T71" fmla="*/ 883 h 1139"/>
              <a:gd name="T72" fmla="*/ 5615 w 5691"/>
              <a:gd name="T73" fmla="*/ 781 h 1139"/>
              <a:gd name="T74" fmla="*/ 5593 w 5691"/>
              <a:gd name="T75" fmla="*/ 906 h 1139"/>
              <a:gd name="T76" fmla="*/ 5675 w 5691"/>
              <a:gd name="T77" fmla="*/ 831 h 1139"/>
              <a:gd name="T78" fmla="*/ 5608 w 5691"/>
              <a:gd name="T79" fmla="*/ 746 h 1139"/>
              <a:gd name="T80" fmla="*/ 5687 w 5691"/>
              <a:gd name="T81" fmla="*/ 832 h 1139"/>
              <a:gd name="T82" fmla="*/ 1475 w 5691"/>
              <a:gd name="T83" fmla="*/ 931 h 1139"/>
              <a:gd name="T84" fmla="*/ 1533 w 5691"/>
              <a:gd name="T85" fmla="*/ 767 h 1139"/>
              <a:gd name="T86" fmla="*/ 1745 w 5691"/>
              <a:gd name="T87" fmla="*/ 402 h 1139"/>
              <a:gd name="T88" fmla="*/ 2900 w 5691"/>
              <a:gd name="T89" fmla="*/ 687 h 1139"/>
              <a:gd name="T90" fmla="*/ 2380 w 5691"/>
              <a:gd name="T91" fmla="*/ 883 h 1139"/>
              <a:gd name="T92" fmla="*/ 2687 w 5691"/>
              <a:gd name="T93" fmla="*/ 719 h 1139"/>
              <a:gd name="T94" fmla="*/ 2760 w 5691"/>
              <a:gd name="T95" fmla="*/ 209 h 1139"/>
              <a:gd name="T96" fmla="*/ 2750 w 5691"/>
              <a:gd name="T97" fmla="*/ 361 h 1139"/>
              <a:gd name="T98" fmla="*/ 2900 w 5691"/>
              <a:gd name="T99" fmla="*/ 68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91" h="1139">
                <a:moveTo>
                  <a:pt x="1933" y="917"/>
                </a:moveTo>
                <a:cubicBezTo>
                  <a:pt x="2003" y="545"/>
                  <a:pt x="2003" y="545"/>
                  <a:pt x="2003" y="545"/>
                </a:cubicBezTo>
                <a:cubicBezTo>
                  <a:pt x="2149" y="917"/>
                  <a:pt x="2149" y="917"/>
                  <a:pt x="2149" y="917"/>
                </a:cubicBezTo>
                <a:cubicBezTo>
                  <a:pt x="2370" y="917"/>
                  <a:pt x="2370" y="917"/>
                  <a:pt x="2370" y="917"/>
                </a:cubicBezTo>
                <a:cubicBezTo>
                  <a:pt x="2219" y="542"/>
                  <a:pt x="2219" y="542"/>
                  <a:pt x="2219" y="542"/>
                </a:cubicBezTo>
                <a:cubicBezTo>
                  <a:pt x="2493" y="222"/>
                  <a:pt x="2493" y="222"/>
                  <a:pt x="2493" y="222"/>
                </a:cubicBezTo>
                <a:cubicBezTo>
                  <a:pt x="2269" y="222"/>
                  <a:pt x="2269" y="222"/>
                  <a:pt x="2269" y="222"/>
                </a:cubicBezTo>
                <a:cubicBezTo>
                  <a:pt x="2005" y="538"/>
                  <a:pt x="2005" y="538"/>
                  <a:pt x="2005" y="538"/>
                </a:cubicBezTo>
                <a:cubicBezTo>
                  <a:pt x="2107" y="0"/>
                  <a:pt x="2107" y="0"/>
                  <a:pt x="2107" y="0"/>
                </a:cubicBezTo>
                <a:cubicBezTo>
                  <a:pt x="1903" y="0"/>
                  <a:pt x="1903" y="0"/>
                  <a:pt x="1903" y="0"/>
                </a:cubicBezTo>
                <a:cubicBezTo>
                  <a:pt x="1729" y="917"/>
                  <a:pt x="1729" y="917"/>
                  <a:pt x="1729" y="917"/>
                </a:cubicBezTo>
                <a:lnTo>
                  <a:pt x="1933" y="917"/>
                </a:lnTo>
                <a:close/>
                <a:moveTo>
                  <a:pt x="286" y="376"/>
                </a:moveTo>
                <a:cubicBezTo>
                  <a:pt x="315" y="222"/>
                  <a:pt x="315" y="222"/>
                  <a:pt x="315" y="222"/>
                </a:cubicBezTo>
                <a:cubicBezTo>
                  <a:pt x="134" y="222"/>
                  <a:pt x="134" y="222"/>
                  <a:pt x="134" y="222"/>
                </a:cubicBezTo>
                <a:cubicBezTo>
                  <a:pt x="0" y="929"/>
                  <a:pt x="0" y="929"/>
                  <a:pt x="0" y="929"/>
                </a:cubicBezTo>
                <a:cubicBezTo>
                  <a:pt x="205" y="929"/>
                  <a:pt x="205" y="929"/>
                  <a:pt x="205" y="929"/>
                </a:cubicBezTo>
                <a:cubicBezTo>
                  <a:pt x="260" y="637"/>
                  <a:pt x="260" y="637"/>
                  <a:pt x="260" y="637"/>
                </a:cubicBezTo>
                <a:cubicBezTo>
                  <a:pt x="293" y="465"/>
                  <a:pt x="392" y="397"/>
                  <a:pt x="532" y="418"/>
                </a:cubicBezTo>
                <a:cubicBezTo>
                  <a:pt x="572" y="207"/>
                  <a:pt x="572" y="207"/>
                  <a:pt x="572" y="207"/>
                </a:cubicBezTo>
                <a:cubicBezTo>
                  <a:pt x="446" y="196"/>
                  <a:pt x="333" y="268"/>
                  <a:pt x="286" y="376"/>
                </a:cubicBezTo>
                <a:moveTo>
                  <a:pt x="3427" y="488"/>
                </a:moveTo>
                <a:cubicBezTo>
                  <a:pt x="3427" y="455"/>
                  <a:pt x="3419" y="376"/>
                  <a:pt x="3344" y="376"/>
                </a:cubicBezTo>
                <a:cubicBezTo>
                  <a:pt x="3268" y="376"/>
                  <a:pt x="3203" y="463"/>
                  <a:pt x="3178" y="596"/>
                </a:cubicBezTo>
                <a:cubicBezTo>
                  <a:pt x="3169" y="641"/>
                  <a:pt x="3145" y="776"/>
                  <a:pt x="3240" y="776"/>
                </a:cubicBezTo>
                <a:cubicBezTo>
                  <a:pt x="3348" y="776"/>
                  <a:pt x="3427" y="623"/>
                  <a:pt x="3427" y="488"/>
                </a:cubicBezTo>
                <a:moveTo>
                  <a:pt x="3641" y="473"/>
                </a:moveTo>
                <a:cubicBezTo>
                  <a:pt x="3641" y="641"/>
                  <a:pt x="3560" y="814"/>
                  <a:pt x="3414" y="891"/>
                </a:cubicBezTo>
                <a:cubicBezTo>
                  <a:pt x="3360" y="920"/>
                  <a:pt x="3309" y="932"/>
                  <a:pt x="3265" y="932"/>
                </a:cubicBezTo>
                <a:cubicBezTo>
                  <a:pt x="3192" y="932"/>
                  <a:pt x="3151" y="905"/>
                  <a:pt x="3128" y="863"/>
                </a:cubicBezTo>
                <a:cubicBezTo>
                  <a:pt x="3075" y="1139"/>
                  <a:pt x="3075" y="1139"/>
                  <a:pt x="3075" y="1139"/>
                </a:cubicBezTo>
                <a:cubicBezTo>
                  <a:pt x="2870" y="1139"/>
                  <a:pt x="2870" y="1139"/>
                  <a:pt x="2870" y="1139"/>
                </a:cubicBezTo>
                <a:cubicBezTo>
                  <a:pt x="3044" y="222"/>
                  <a:pt x="3044" y="222"/>
                  <a:pt x="3044" y="222"/>
                </a:cubicBezTo>
                <a:cubicBezTo>
                  <a:pt x="3225" y="222"/>
                  <a:pt x="3225" y="222"/>
                  <a:pt x="3225" y="222"/>
                </a:cubicBezTo>
                <a:cubicBezTo>
                  <a:pt x="3204" y="333"/>
                  <a:pt x="3204" y="333"/>
                  <a:pt x="3204" y="333"/>
                </a:cubicBezTo>
                <a:cubicBezTo>
                  <a:pt x="3255" y="259"/>
                  <a:pt x="3331" y="209"/>
                  <a:pt x="3417" y="209"/>
                </a:cubicBezTo>
                <a:cubicBezTo>
                  <a:pt x="3552" y="209"/>
                  <a:pt x="3641" y="312"/>
                  <a:pt x="3641" y="473"/>
                </a:cubicBezTo>
                <a:moveTo>
                  <a:pt x="961" y="440"/>
                </a:moveTo>
                <a:cubicBezTo>
                  <a:pt x="958" y="391"/>
                  <a:pt x="933" y="365"/>
                  <a:pt x="887" y="365"/>
                </a:cubicBezTo>
                <a:cubicBezTo>
                  <a:pt x="791" y="365"/>
                  <a:pt x="707" y="532"/>
                  <a:pt x="707" y="647"/>
                </a:cubicBezTo>
                <a:cubicBezTo>
                  <a:pt x="707" y="720"/>
                  <a:pt x="734" y="765"/>
                  <a:pt x="780" y="765"/>
                </a:cubicBezTo>
                <a:cubicBezTo>
                  <a:pt x="855" y="765"/>
                  <a:pt x="920" y="687"/>
                  <a:pt x="942" y="572"/>
                </a:cubicBezTo>
                <a:cubicBezTo>
                  <a:pt x="949" y="534"/>
                  <a:pt x="962" y="470"/>
                  <a:pt x="961" y="440"/>
                </a:cubicBezTo>
                <a:moveTo>
                  <a:pt x="1149" y="529"/>
                </a:moveTo>
                <a:cubicBezTo>
                  <a:pt x="1075" y="917"/>
                  <a:pt x="1075" y="917"/>
                  <a:pt x="1075" y="917"/>
                </a:cubicBezTo>
                <a:cubicBezTo>
                  <a:pt x="879" y="917"/>
                  <a:pt x="879" y="917"/>
                  <a:pt x="879" y="917"/>
                </a:cubicBezTo>
                <a:cubicBezTo>
                  <a:pt x="905" y="783"/>
                  <a:pt x="905" y="783"/>
                  <a:pt x="905" y="783"/>
                </a:cubicBezTo>
                <a:cubicBezTo>
                  <a:pt x="877" y="866"/>
                  <a:pt x="810" y="932"/>
                  <a:pt x="698" y="932"/>
                </a:cubicBezTo>
                <a:cubicBezTo>
                  <a:pt x="561" y="932"/>
                  <a:pt x="500" y="811"/>
                  <a:pt x="500" y="690"/>
                </a:cubicBezTo>
                <a:cubicBezTo>
                  <a:pt x="499" y="552"/>
                  <a:pt x="554" y="416"/>
                  <a:pt x="644" y="325"/>
                </a:cubicBezTo>
                <a:cubicBezTo>
                  <a:pt x="720" y="249"/>
                  <a:pt x="818" y="209"/>
                  <a:pt x="928" y="209"/>
                </a:cubicBezTo>
                <a:cubicBezTo>
                  <a:pt x="1011" y="209"/>
                  <a:pt x="1073" y="233"/>
                  <a:pt x="1111" y="280"/>
                </a:cubicBezTo>
                <a:cubicBezTo>
                  <a:pt x="1168" y="350"/>
                  <a:pt x="1164" y="454"/>
                  <a:pt x="1149" y="529"/>
                </a:cubicBezTo>
                <a:moveTo>
                  <a:pt x="4115" y="440"/>
                </a:moveTo>
                <a:cubicBezTo>
                  <a:pt x="4113" y="391"/>
                  <a:pt x="4087" y="365"/>
                  <a:pt x="4042" y="365"/>
                </a:cubicBezTo>
                <a:cubicBezTo>
                  <a:pt x="3945" y="365"/>
                  <a:pt x="3861" y="532"/>
                  <a:pt x="3862" y="647"/>
                </a:cubicBezTo>
                <a:cubicBezTo>
                  <a:pt x="3862" y="720"/>
                  <a:pt x="3888" y="765"/>
                  <a:pt x="3935" y="765"/>
                </a:cubicBezTo>
                <a:cubicBezTo>
                  <a:pt x="4010" y="765"/>
                  <a:pt x="4074" y="687"/>
                  <a:pt x="4096" y="572"/>
                </a:cubicBezTo>
                <a:cubicBezTo>
                  <a:pt x="4104" y="534"/>
                  <a:pt x="4117" y="470"/>
                  <a:pt x="4115" y="440"/>
                </a:cubicBezTo>
                <a:moveTo>
                  <a:pt x="4304" y="529"/>
                </a:moveTo>
                <a:cubicBezTo>
                  <a:pt x="4230" y="917"/>
                  <a:pt x="4230" y="917"/>
                  <a:pt x="4230" y="917"/>
                </a:cubicBezTo>
                <a:cubicBezTo>
                  <a:pt x="4034" y="917"/>
                  <a:pt x="4034" y="917"/>
                  <a:pt x="4034" y="917"/>
                </a:cubicBezTo>
                <a:cubicBezTo>
                  <a:pt x="4059" y="783"/>
                  <a:pt x="4059" y="783"/>
                  <a:pt x="4059" y="783"/>
                </a:cubicBezTo>
                <a:cubicBezTo>
                  <a:pt x="4032" y="866"/>
                  <a:pt x="3965" y="932"/>
                  <a:pt x="3852" y="932"/>
                </a:cubicBezTo>
                <a:cubicBezTo>
                  <a:pt x="3716" y="932"/>
                  <a:pt x="3654" y="811"/>
                  <a:pt x="3654" y="690"/>
                </a:cubicBezTo>
                <a:cubicBezTo>
                  <a:pt x="3654" y="552"/>
                  <a:pt x="3708" y="416"/>
                  <a:pt x="3799" y="325"/>
                </a:cubicBezTo>
                <a:cubicBezTo>
                  <a:pt x="3875" y="249"/>
                  <a:pt x="3973" y="209"/>
                  <a:pt x="4082" y="209"/>
                </a:cubicBezTo>
                <a:cubicBezTo>
                  <a:pt x="4166" y="209"/>
                  <a:pt x="4227" y="233"/>
                  <a:pt x="4266" y="280"/>
                </a:cubicBezTo>
                <a:cubicBezTo>
                  <a:pt x="4323" y="350"/>
                  <a:pt x="4318" y="454"/>
                  <a:pt x="4304" y="529"/>
                </a:cubicBezTo>
                <a:moveTo>
                  <a:pt x="4789" y="210"/>
                </a:moveTo>
                <a:cubicBezTo>
                  <a:pt x="4532" y="210"/>
                  <a:pt x="4338" y="398"/>
                  <a:pt x="4338" y="648"/>
                </a:cubicBezTo>
                <a:cubicBezTo>
                  <a:pt x="4338" y="820"/>
                  <a:pt x="4452" y="931"/>
                  <a:pt x="4629" y="931"/>
                </a:cubicBezTo>
                <a:cubicBezTo>
                  <a:pt x="4705" y="931"/>
                  <a:pt x="4779" y="917"/>
                  <a:pt x="4827" y="894"/>
                </a:cubicBezTo>
                <a:cubicBezTo>
                  <a:pt x="4859" y="722"/>
                  <a:pt x="4859" y="722"/>
                  <a:pt x="4859" y="722"/>
                </a:cubicBezTo>
                <a:cubicBezTo>
                  <a:pt x="4796" y="754"/>
                  <a:pt x="4746" y="767"/>
                  <a:pt x="4687" y="767"/>
                </a:cubicBezTo>
                <a:cubicBezTo>
                  <a:pt x="4622" y="767"/>
                  <a:pt x="4553" y="729"/>
                  <a:pt x="4553" y="625"/>
                </a:cubicBezTo>
                <a:cubicBezTo>
                  <a:pt x="4553" y="502"/>
                  <a:pt x="4640" y="375"/>
                  <a:pt x="4786" y="375"/>
                </a:cubicBezTo>
                <a:cubicBezTo>
                  <a:pt x="4830" y="375"/>
                  <a:pt x="4867" y="384"/>
                  <a:pt x="4899" y="402"/>
                </a:cubicBezTo>
                <a:cubicBezTo>
                  <a:pt x="4931" y="235"/>
                  <a:pt x="4931" y="235"/>
                  <a:pt x="4931" y="235"/>
                </a:cubicBezTo>
                <a:cubicBezTo>
                  <a:pt x="4894" y="220"/>
                  <a:pt x="4841" y="210"/>
                  <a:pt x="4789" y="210"/>
                </a:cubicBezTo>
                <a:moveTo>
                  <a:pt x="5110" y="500"/>
                </a:moveTo>
                <a:cubicBezTo>
                  <a:pt x="5230" y="501"/>
                  <a:pt x="5298" y="489"/>
                  <a:pt x="5328" y="459"/>
                </a:cubicBezTo>
                <a:cubicBezTo>
                  <a:pt x="5360" y="427"/>
                  <a:pt x="5350" y="359"/>
                  <a:pt x="5271" y="359"/>
                </a:cubicBezTo>
                <a:cubicBezTo>
                  <a:pt x="5182" y="359"/>
                  <a:pt x="5125" y="432"/>
                  <a:pt x="5110" y="500"/>
                </a:cubicBezTo>
                <a:moveTo>
                  <a:pt x="5242" y="771"/>
                </a:moveTo>
                <a:cubicBezTo>
                  <a:pt x="5328" y="771"/>
                  <a:pt x="5403" y="750"/>
                  <a:pt x="5484" y="703"/>
                </a:cubicBezTo>
                <a:cubicBezTo>
                  <a:pt x="5451" y="875"/>
                  <a:pt x="5451" y="875"/>
                  <a:pt x="5451" y="875"/>
                </a:cubicBezTo>
                <a:cubicBezTo>
                  <a:pt x="5353" y="925"/>
                  <a:pt x="5238" y="931"/>
                  <a:pt x="5193" y="931"/>
                </a:cubicBezTo>
                <a:cubicBezTo>
                  <a:pt x="5002" y="931"/>
                  <a:pt x="4893" y="825"/>
                  <a:pt x="4893" y="639"/>
                </a:cubicBezTo>
                <a:cubicBezTo>
                  <a:pt x="4893" y="532"/>
                  <a:pt x="4932" y="425"/>
                  <a:pt x="5001" y="345"/>
                </a:cubicBezTo>
                <a:cubicBezTo>
                  <a:pt x="5076" y="257"/>
                  <a:pt x="5181" y="209"/>
                  <a:pt x="5296" y="209"/>
                </a:cubicBezTo>
                <a:cubicBezTo>
                  <a:pt x="5441" y="209"/>
                  <a:pt x="5537" y="293"/>
                  <a:pt x="5537" y="418"/>
                </a:cubicBezTo>
                <a:cubicBezTo>
                  <a:pt x="5537" y="475"/>
                  <a:pt x="5518" y="522"/>
                  <a:pt x="5481" y="558"/>
                </a:cubicBezTo>
                <a:cubicBezTo>
                  <a:pt x="5412" y="626"/>
                  <a:pt x="5242" y="663"/>
                  <a:pt x="5087" y="633"/>
                </a:cubicBezTo>
                <a:cubicBezTo>
                  <a:pt x="5080" y="720"/>
                  <a:pt x="5146" y="771"/>
                  <a:pt x="5242" y="771"/>
                </a:cubicBezTo>
                <a:moveTo>
                  <a:pt x="5615" y="794"/>
                </a:moveTo>
                <a:cubicBezTo>
                  <a:pt x="5592" y="794"/>
                  <a:pt x="5592" y="794"/>
                  <a:pt x="5592" y="794"/>
                </a:cubicBezTo>
                <a:cubicBezTo>
                  <a:pt x="5585" y="832"/>
                  <a:pt x="5585" y="832"/>
                  <a:pt x="5585" y="832"/>
                </a:cubicBezTo>
                <a:cubicBezTo>
                  <a:pt x="5606" y="832"/>
                  <a:pt x="5606" y="832"/>
                  <a:pt x="5606" y="832"/>
                </a:cubicBezTo>
                <a:cubicBezTo>
                  <a:pt x="5617" y="832"/>
                  <a:pt x="5628" y="822"/>
                  <a:pt x="5630" y="812"/>
                </a:cubicBezTo>
                <a:cubicBezTo>
                  <a:pt x="5632" y="802"/>
                  <a:pt x="5625" y="794"/>
                  <a:pt x="5615" y="794"/>
                </a:cubicBezTo>
                <a:moveTo>
                  <a:pt x="5642" y="814"/>
                </a:moveTo>
                <a:cubicBezTo>
                  <a:pt x="5639" y="828"/>
                  <a:pt x="5628" y="839"/>
                  <a:pt x="5615" y="843"/>
                </a:cubicBezTo>
                <a:cubicBezTo>
                  <a:pt x="5629" y="883"/>
                  <a:pt x="5629" y="883"/>
                  <a:pt x="5629" y="883"/>
                </a:cubicBezTo>
                <a:cubicBezTo>
                  <a:pt x="5615" y="883"/>
                  <a:pt x="5615" y="883"/>
                  <a:pt x="5615" y="883"/>
                </a:cubicBezTo>
                <a:cubicBezTo>
                  <a:pt x="5602" y="844"/>
                  <a:pt x="5602" y="844"/>
                  <a:pt x="5602" y="844"/>
                </a:cubicBezTo>
                <a:cubicBezTo>
                  <a:pt x="5583" y="844"/>
                  <a:pt x="5583" y="844"/>
                  <a:pt x="5583" y="844"/>
                </a:cubicBezTo>
                <a:cubicBezTo>
                  <a:pt x="5576" y="883"/>
                  <a:pt x="5576" y="883"/>
                  <a:pt x="5576" y="883"/>
                </a:cubicBezTo>
                <a:cubicBezTo>
                  <a:pt x="5563" y="883"/>
                  <a:pt x="5563" y="883"/>
                  <a:pt x="5563" y="883"/>
                </a:cubicBezTo>
                <a:cubicBezTo>
                  <a:pt x="5582" y="781"/>
                  <a:pt x="5582" y="781"/>
                  <a:pt x="5582" y="781"/>
                </a:cubicBezTo>
                <a:cubicBezTo>
                  <a:pt x="5615" y="781"/>
                  <a:pt x="5615" y="781"/>
                  <a:pt x="5615" y="781"/>
                </a:cubicBezTo>
                <a:cubicBezTo>
                  <a:pt x="5633" y="781"/>
                  <a:pt x="5645" y="796"/>
                  <a:pt x="5642" y="814"/>
                </a:cubicBezTo>
                <a:moveTo>
                  <a:pt x="5675" y="831"/>
                </a:moveTo>
                <a:cubicBezTo>
                  <a:pt x="5671" y="872"/>
                  <a:pt x="5634" y="906"/>
                  <a:pt x="5593" y="906"/>
                </a:cubicBezTo>
                <a:cubicBezTo>
                  <a:pt x="5553" y="906"/>
                  <a:pt x="5523" y="874"/>
                  <a:pt x="5527" y="833"/>
                </a:cubicBezTo>
                <a:cubicBezTo>
                  <a:pt x="5531" y="792"/>
                  <a:pt x="5567" y="759"/>
                  <a:pt x="5608" y="759"/>
                </a:cubicBezTo>
                <a:cubicBezTo>
                  <a:pt x="5649" y="759"/>
                  <a:pt x="5678" y="791"/>
                  <a:pt x="5675" y="831"/>
                </a:cubicBezTo>
                <a:moveTo>
                  <a:pt x="5687" y="832"/>
                </a:moveTo>
                <a:cubicBezTo>
                  <a:pt x="5687" y="832"/>
                  <a:pt x="5687" y="832"/>
                  <a:pt x="5687" y="832"/>
                </a:cubicBezTo>
                <a:cubicBezTo>
                  <a:pt x="5691" y="785"/>
                  <a:pt x="5656" y="746"/>
                  <a:pt x="5608" y="746"/>
                </a:cubicBezTo>
                <a:cubicBezTo>
                  <a:pt x="5561" y="746"/>
                  <a:pt x="5519" y="785"/>
                  <a:pt x="5515" y="832"/>
                </a:cubicBezTo>
                <a:cubicBezTo>
                  <a:pt x="5510" y="880"/>
                  <a:pt x="5545" y="919"/>
                  <a:pt x="5593" y="919"/>
                </a:cubicBezTo>
                <a:cubicBezTo>
                  <a:pt x="5641" y="919"/>
                  <a:pt x="5683" y="880"/>
                  <a:pt x="5687" y="832"/>
                </a:cubicBezTo>
                <a:moveTo>
                  <a:pt x="1634" y="210"/>
                </a:moveTo>
                <a:cubicBezTo>
                  <a:pt x="1377" y="210"/>
                  <a:pt x="1183" y="398"/>
                  <a:pt x="1183" y="648"/>
                </a:cubicBezTo>
                <a:cubicBezTo>
                  <a:pt x="1183" y="820"/>
                  <a:pt x="1298" y="931"/>
                  <a:pt x="1475" y="931"/>
                </a:cubicBezTo>
                <a:cubicBezTo>
                  <a:pt x="1551" y="931"/>
                  <a:pt x="1624" y="917"/>
                  <a:pt x="1672" y="894"/>
                </a:cubicBezTo>
                <a:cubicBezTo>
                  <a:pt x="1704" y="722"/>
                  <a:pt x="1704" y="722"/>
                  <a:pt x="1704" y="722"/>
                </a:cubicBezTo>
                <a:cubicBezTo>
                  <a:pt x="1641" y="754"/>
                  <a:pt x="1591" y="767"/>
                  <a:pt x="1533" y="767"/>
                </a:cubicBezTo>
                <a:cubicBezTo>
                  <a:pt x="1468" y="767"/>
                  <a:pt x="1398" y="729"/>
                  <a:pt x="1398" y="625"/>
                </a:cubicBezTo>
                <a:cubicBezTo>
                  <a:pt x="1398" y="502"/>
                  <a:pt x="1485" y="375"/>
                  <a:pt x="1631" y="375"/>
                </a:cubicBezTo>
                <a:cubicBezTo>
                  <a:pt x="1676" y="375"/>
                  <a:pt x="1713" y="384"/>
                  <a:pt x="1745" y="402"/>
                </a:cubicBezTo>
                <a:cubicBezTo>
                  <a:pt x="1777" y="235"/>
                  <a:pt x="1777" y="235"/>
                  <a:pt x="1777" y="235"/>
                </a:cubicBezTo>
                <a:cubicBezTo>
                  <a:pt x="1740" y="220"/>
                  <a:pt x="1687" y="210"/>
                  <a:pt x="1634" y="210"/>
                </a:cubicBezTo>
                <a:moveTo>
                  <a:pt x="2900" y="687"/>
                </a:moveTo>
                <a:cubicBezTo>
                  <a:pt x="2900" y="751"/>
                  <a:pt x="2879" y="804"/>
                  <a:pt x="2837" y="846"/>
                </a:cubicBezTo>
                <a:cubicBezTo>
                  <a:pt x="2781" y="901"/>
                  <a:pt x="2691" y="932"/>
                  <a:pt x="2582" y="931"/>
                </a:cubicBezTo>
                <a:cubicBezTo>
                  <a:pt x="2504" y="930"/>
                  <a:pt x="2425" y="910"/>
                  <a:pt x="2380" y="883"/>
                </a:cubicBezTo>
                <a:cubicBezTo>
                  <a:pt x="2410" y="727"/>
                  <a:pt x="2410" y="727"/>
                  <a:pt x="2410" y="727"/>
                </a:cubicBezTo>
                <a:cubicBezTo>
                  <a:pt x="2457" y="753"/>
                  <a:pt x="2540" y="781"/>
                  <a:pt x="2602" y="781"/>
                </a:cubicBezTo>
                <a:cubicBezTo>
                  <a:pt x="2652" y="781"/>
                  <a:pt x="2687" y="757"/>
                  <a:pt x="2687" y="719"/>
                </a:cubicBezTo>
                <a:cubicBezTo>
                  <a:pt x="2687" y="685"/>
                  <a:pt x="2663" y="662"/>
                  <a:pt x="2601" y="632"/>
                </a:cubicBezTo>
                <a:cubicBezTo>
                  <a:pt x="2504" y="583"/>
                  <a:pt x="2455" y="521"/>
                  <a:pt x="2455" y="449"/>
                </a:cubicBezTo>
                <a:cubicBezTo>
                  <a:pt x="2455" y="306"/>
                  <a:pt x="2577" y="209"/>
                  <a:pt x="2760" y="209"/>
                </a:cubicBezTo>
                <a:cubicBezTo>
                  <a:pt x="2856" y="209"/>
                  <a:pt x="2919" y="232"/>
                  <a:pt x="2954" y="254"/>
                </a:cubicBezTo>
                <a:cubicBezTo>
                  <a:pt x="2924" y="410"/>
                  <a:pt x="2924" y="410"/>
                  <a:pt x="2924" y="410"/>
                </a:cubicBezTo>
                <a:cubicBezTo>
                  <a:pt x="2897" y="390"/>
                  <a:pt x="2827" y="361"/>
                  <a:pt x="2750" y="361"/>
                </a:cubicBezTo>
                <a:cubicBezTo>
                  <a:pt x="2697" y="361"/>
                  <a:pt x="2662" y="383"/>
                  <a:pt x="2662" y="420"/>
                </a:cubicBezTo>
                <a:cubicBezTo>
                  <a:pt x="2662" y="447"/>
                  <a:pt x="2688" y="471"/>
                  <a:pt x="2745" y="498"/>
                </a:cubicBezTo>
                <a:cubicBezTo>
                  <a:pt x="2818" y="535"/>
                  <a:pt x="2900" y="589"/>
                  <a:pt x="2900" y="687"/>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900"/>
          </a:p>
        </p:txBody>
      </p:sp>
    </p:spTree>
    <p:extLst>
      <p:ext uri="{BB962C8B-B14F-4D97-AF65-F5344CB8AC3E}">
        <p14:creationId xmlns:p14="http://schemas.microsoft.com/office/powerpoint/2010/main" val="1598808063"/>
      </p:ext>
    </p:extLst>
  </p:cSld>
  <p:clrMap bg1="lt1" tx1="dk1" bg2="lt2" tx2="dk2" accent1="accent1" accent2="accent2" accent3="accent3" accent4="accent4" accent5="accent5" accent6="accent6" hlink="hlink" folHlink="folHlink"/>
  <p:sldLayoutIdLst>
    <p:sldLayoutId id="2147484531" r:id="rId1"/>
    <p:sldLayoutId id="2147484532" r:id="rId2"/>
    <p:sldLayoutId id="2147484533" r:id="rId3"/>
    <p:sldLayoutId id="2147484534" r:id="rId4"/>
    <p:sldLayoutId id="2147484535" r:id="rId5"/>
    <p:sldLayoutId id="2147484536" r:id="rId6"/>
    <p:sldLayoutId id="2147484537" r:id="rId7"/>
    <p:sldLayoutId id="2147484538" r:id="rId8"/>
    <p:sldLayoutId id="2147484539" r:id="rId9"/>
    <p:sldLayoutId id="2147484540" r:id="rId10"/>
    <p:sldLayoutId id="2147484541" r:id="rId11"/>
    <p:sldLayoutId id="2147484542" r:id="rId12"/>
    <p:sldLayoutId id="2147484543" r:id="rId13"/>
    <p:sldLayoutId id="2147484544" r:id="rId14"/>
    <p:sldLayoutId id="2147484545" r:id="rId15"/>
    <p:sldLayoutId id="2147484546" r:id="rId16"/>
    <p:sldLayoutId id="2147484547" r:id="rId17"/>
    <p:sldLayoutId id="2147484548" r:id="rId18"/>
    <p:sldLayoutId id="2147484549" r:id="rId19"/>
    <p:sldLayoutId id="2147484550" r:id="rId20"/>
    <p:sldLayoutId id="2147484551" r:id="rId21"/>
    <p:sldLayoutId id="2147484552" r:id="rId22"/>
    <p:sldLayoutId id="2147484553" r:id="rId23"/>
    <p:sldLayoutId id="2147484554" r:id="rId24"/>
    <p:sldLayoutId id="2147484555" r:id="rId25"/>
    <p:sldLayoutId id="2147484556" r:id="rId26"/>
    <p:sldLayoutId id="2147484557" r:id="rId27"/>
    <p:sldLayoutId id="2147484558" r:id="rId28"/>
    <p:sldLayoutId id="2147484559" r:id="rId29"/>
    <p:sldLayoutId id="2147484560" r:id="rId30"/>
    <p:sldLayoutId id="2147484561" r:id="rId31"/>
    <p:sldLayoutId id="2147484562" r:id="rId32"/>
    <p:sldLayoutId id="2147484563" r:id="rId33"/>
    <p:sldLayoutId id="2147484564" r:id="rId34"/>
    <p:sldLayoutId id="2147484565" r:id="rId35"/>
    <p:sldLayoutId id="2147484566" r:id="rId36"/>
    <p:sldLayoutId id="2147484567" r:id="rId37"/>
    <p:sldLayoutId id="2147484568" r:id="rId38"/>
    <p:sldLayoutId id="2147484569" r:id="rId39"/>
    <p:sldLayoutId id="2147484570" r:id="rId40"/>
  </p:sldLayoutIdLst>
  <p:hf hdr="0" ftr="0" dt="0"/>
  <p:txStyles>
    <p:titleStyle>
      <a:lvl1pPr algn="l" defTabSz="1828800" rtl="0" eaLnBrk="1" fontAlgn="base" latinLnBrk="0" hangingPunct="1">
        <a:lnSpc>
          <a:spcPct val="110000"/>
        </a:lnSpc>
        <a:spcBef>
          <a:spcPct val="0"/>
        </a:spcBef>
        <a:buNone/>
        <a:defRPr sz="6250" kern="1200">
          <a:ln w="9525">
            <a:noFill/>
          </a:ln>
          <a:solidFill>
            <a:schemeClr val="tx2"/>
          </a:solidFill>
          <a:latin typeface="+mj-lt"/>
          <a:ea typeface="+mj-ea"/>
          <a:cs typeface="+mj-cs"/>
        </a:defRPr>
      </a:lvl1pPr>
    </p:titleStyle>
    <p:bodyStyle>
      <a:lvl1pPr marL="285750" indent="-285750"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1pPr>
      <a:lvl2pPr marL="857250" indent="-290514"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2pPr>
      <a:lvl3pPr marL="1428750" indent="-295276"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3pPr>
      <a:lvl4pPr marL="2000250" indent="-300038"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4pPr>
      <a:lvl5pPr marL="2571750" indent="-304800"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68995" y="537179"/>
            <a:ext cx="5466338" cy="3062106"/>
          </a:xfrm>
          <a:prstGeom prst="rect">
            <a:avLst/>
          </a:prstGeom>
          <a:ln w="12700">
            <a:noFill/>
          </a:ln>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6477003" y="624971"/>
            <a:ext cx="17160602" cy="12350774"/>
          </a:xfrm>
          <a:prstGeom prst="rect">
            <a:avLst/>
          </a:prstGeom>
        </p:spPr>
        <p:txBody>
          <a:bodyPr vert="horz" lIns="18288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3"/>
          </p:nvPr>
        </p:nvSpPr>
        <p:spPr>
          <a:xfrm>
            <a:off x="6477000" y="13000317"/>
            <a:ext cx="5518292" cy="486410"/>
          </a:xfrm>
          <a:prstGeom prst="rect">
            <a:avLst/>
          </a:prstGeom>
        </p:spPr>
        <p:txBody>
          <a:bodyPr vert="horz" lIns="182880" tIns="73152" rIns="91440" bIns="45720" rtlCol="0" anchor="t" anchorCtr="0"/>
          <a:lstStyle>
            <a:lvl1pPr algn="l">
              <a:defRPr sz="1400">
                <a:solidFill>
                  <a:schemeClr val="tx1"/>
                </a:solidFill>
              </a:defRPr>
            </a:lvl1pPr>
          </a:lstStyle>
          <a:p>
            <a:endParaRPr lang="en-US"/>
          </a:p>
        </p:txBody>
      </p:sp>
      <p:sp>
        <p:nvSpPr>
          <p:cNvPr id="6" name="Slide Number Placeholder 5"/>
          <p:cNvSpPr>
            <a:spLocks noGrp="1"/>
          </p:cNvSpPr>
          <p:nvPr>
            <p:ph type="sldNum" sz="quarter" idx="4"/>
          </p:nvPr>
        </p:nvSpPr>
        <p:spPr>
          <a:xfrm>
            <a:off x="22402802" y="12985750"/>
            <a:ext cx="1234804" cy="466344"/>
          </a:xfrm>
          <a:prstGeom prst="rect">
            <a:avLst/>
          </a:prstGeom>
        </p:spPr>
        <p:txBody>
          <a:bodyPr vert="horz" lIns="0" tIns="73152" rIns="0" bIns="45720" rtlCol="0" anchor="t" anchorCtr="0"/>
          <a:lstStyle>
            <a:lvl1pPr algn="r">
              <a:defRPr sz="1400">
                <a:solidFill>
                  <a:schemeClr val="tx1"/>
                </a:solidFill>
              </a:defRPr>
            </a:lvl1pPr>
          </a:lstStyle>
          <a:p>
            <a:fld id="{762E77F0-FB5B-4E8E-9BC9-34F14560A017}" type="slidenum">
              <a:rPr lang="en-US" smtClean="0"/>
              <a:pPr/>
              <a:t>‹#›</a:t>
            </a:fld>
            <a:endParaRPr lang="en-US"/>
          </a:p>
        </p:txBody>
      </p:sp>
      <p:cxnSp>
        <p:nvCxnSpPr>
          <p:cNvPr id="7" name="Straight Connector 6">
            <a:extLst>
              <a:ext uri="{FF2B5EF4-FFF2-40B4-BE49-F238E27FC236}">
                <a16:creationId xmlns:a16="http://schemas.microsoft.com/office/drawing/2014/main" id="{0057071C-1660-4D95-BF58-C9DBC7B98100}"/>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pic>
        <p:nvPicPr>
          <p:cNvPr id="8" name="Picture 7">
            <a:extLst>
              <a:ext uri="{FF2B5EF4-FFF2-40B4-BE49-F238E27FC236}">
                <a16:creationId xmlns:a16="http://schemas.microsoft.com/office/drawing/2014/main" id="{38FF4373-A3FC-4217-B28A-1614FA7CF9E0}"/>
              </a:ext>
            </a:extLst>
          </p:cNvPr>
          <p:cNvPicPr>
            <a:picLocks noChangeAspect="1"/>
          </p:cNvPicPr>
          <p:nvPr userDrawn="1"/>
        </p:nvPicPr>
        <p:blipFill>
          <a:blip r:embed="rId45"/>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04648709"/>
      </p:ext>
    </p:extLst>
  </p:cSld>
  <p:clrMap bg1="lt1" tx1="dk1" bg2="lt2" tx2="dk2" accent1="accent1" accent2="accent2" accent3="accent3" accent4="accent4" accent5="accent5" accent6="accent6" hlink="hlink" folHlink="folHlink"/>
  <p:sldLayoutIdLst>
    <p:sldLayoutId id="2147484603" r:id="rId1"/>
    <p:sldLayoutId id="2147484604" r:id="rId2"/>
    <p:sldLayoutId id="2147484605" r:id="rId3"/>
    <p:sldLayoutId id="2147484606" r:id="rId4"/>
    <p:sldLayoutId id="2147484607" r:id="rId5"/>
    <p:sldLayoutId id="2147484608" r:id="rId6"/>
    <p:sldLayoutId id="2147484609" r:id="rId7"/>
    <p:sldLayoutId id="2147484610" r:id="rId8"/>
    <p:sldLayoutId id="2147484611" r:id="rId9"/>
    <p:sldLayoutId id="2147484612" r:id="rId10"/>
    <p:sldLayoutId id="2147484613" r:id="rId11"/>
    <p:sldLayoutId id="2147484614" r:id="rId12"/>
    <p:sldLayoutId id="2147484615" r:id="rId13"/>
    <p:sldLayoutId id="2147484616" r:id="rId14"/>
    <p:sldLayoutId id="2147484617" r:id="rId15"/>
    <p:sldLayoutId id="2147484618" r:id="rId16"/>
    <p:sldLayoutId id="2147484619" r:id="rId17"/>
    <p:sldLayoutId id="2147484620" r:id="rId18"/>
    <p:sldLayoutId id="2147484621" r:id="rId19"/>
    <p:sldLayoutId id="2147484622" r:id="rId20"/>
    <p:sldLayoutId id="2147484623" r:id="rId21"/>
    <p:sldLayoutId id="2147484624" r:id="rId22"/>
    <p:sldLayoutId id="2147484625" r:id="rId23"/>
    <p:sldLayoutId id="2147484626" r:id="rId24"/>
    <p:sldLayoutId id="2147484627" r:id="rId25"/>
    <p:sldLayoutId id="2147484628" r:id="rId26"/>
    <p:sldLayoutId id="2147484629" r:id="rId27"/>
    <p:sldLayoutId id="2147484630" r:id="rId28"/>
    <p:sldLayoutId id="2147484631" r:id="rId29"/>
    <p:sldLayoutId id="2147484632" r:id="rId30"/>
    <p:sldLayoutId id="2147484633" r:id="rId31"/>
    <p:sldLayoutId id="2147484634" r:id="rId32"/>
    <p:sldLayoutId id="2147484635" r:id="rId33"/>
    <p:sldLayoutId id="2147484636" r:id="rId34"/>
    <p:sldLayoutId id="2147484637" r:id="rId35"/>
    <p:sldLayoutId id="2147484638" r:id="rId36"/>
    <p:sldLayoutId id="2147484639" r:id="rId37"/>
    <p:sldLayoutId id="2147484640" r:id="rId38"/>
    <p:sldLayoutId id="2147484641" r:id="rId39"/>
    <p:sldLayoutId id="2147484642" r:id="rId40"/>
    <p:sldLayoutId id="2147484643" r:id="rId41"/>
    <p:sldLayoutId id="2147484644" r:id="rId42"/>
    <p:sldLayoutId id="2147484770" r:id="rId43"/>
  </p:sldLayoutIdLst>
  <p:hf hdr="0" ftr="0" dt="0"/>
  <p:txStyles>
    <p:titleStyle>
      <a:lvl1pPr algn="l" defTabSz="1828800" rtl="0" eaLnBrk="1" fontAlgn="base" latinLnBrk="0" hangingPunct="1">
        <a:lnSpc>
          <a:spcPct val="110000"/>
        </a:lnSpc>
        <a:spcBef>
          <a:spcPct val="0"/>
        </a:spcBef>
        <a:buNone/>
        <a:defRPr sz="6200" kern="1200">
          <a:ln w="9525">
            <a:noFill/>
          </a:ln>
          <a:solidFill>
            <a:schemeClr val="tx2"/>
          </a:solidFill>
          <a:latin typeface="+mj-lt"/>
          <a:ea typeface="+mj-ea"/>
          <a:cs typeface="+mj-cs"/>
        </a:defRPr>
      </a:lvl1pPr>
    </p:titleStyle>
    <p:bodyStyle>
      <a:lvl1pPr marL="285750" indent="-285750"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1pPr>
      <a:lvl2pPr marL="857250" indent="-290514"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2pPr>
      <a:lvl3pPr marL="1428750" indent="-295276"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3pPr>
      <a:lvl4pPr marL="2000250" indent="-300038"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4pPr>
      <a:lvl5pPr marL="2571750" indent="-304800"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68995" y="537179"/>
            <a:ext cx="5466338" cy="3062106"/>
          </a:xfrm>
          <a:prstGeom prst="rect">
            <a:avLst/>
          </a:prstGeom>
          <a:ln w="12700">
            <a:noFill/>
          </a:ln>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6477003" y="624971"/>
            <a:ext cx="17160602" cy="12350774"/>
          </a:xfrm>
          <a:prstGeom prst="rect">
            <a:avLst/>
          </a:prstGeom>
        </p:spPr>
        <p:txBody>
          <a:bodyPr vert="horz" lIns="182880" tIns="0" rIns="0" bIns="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3"/>
          </p:nvPr>
        </p:nvSpPr>
        <p:spPr>
          <a:xfrm>
            <a:off x="6477000" y="13000317"/>
            <a:ext cx="5518292" cy="486410"/>
          </a:xfrm>
          <a:prstGeom prst="rect">
            <a:avLst/>
          </a:prstGeom>
        </p:spPr>
        <p:txBody>
          <a:bodyPr vert="horz" lIns="365760" tIns="73152" rIns="91440" bIns="45720" rtlCol="0" anchor="t" anchorCtr="0"/>
          <a:lstStyle>
            <a:lvl1pPr algn="l">
              <a:defRPr sz="1300">
                <a:solidFill>
                  <a:schemeClr val="tx1"/>
                </a:solidFill>
              </a:defRPr>
            </a:lvl1pPr>
          </a:lstStyle>
          <a:p>
            <a:endParaRPr lang="en-US"/>
          </a:p>
        </p:txBody>
      </p:sp>
      <p:sp>
        <p:nvSpPr>
          <p:cNvPr id="6" name="Slide Number Placeholder 5"/>
          <p:cNvSpPr>
            <a:spLocks noGrp="1"/>
          </p:cNvSpPr>
          <p:nvPr>
            <p:ph type="sldNum" sz="quarter" idx="4"/>
          </p:nvPr>
        </p:nvSpPr>
        <p:spPr>
          <a:xfrm>
            <a:off x="22402802" y="12985750"/>
            <a:ext cx="1234804" cy="466344"/>
          </a:xfrm>
          <a:prstGeom prst="rect">
            <a:avLst/>
          </a:prstGeom>
        </p:spPr>
        <p:txBody>
          <a:bodyPr vert="horz" lIns="0" tIns="73152" rIns="0" bIns="45720" rtlCol="0" anchor="t" anchorCtr="0"/>
          <a:lstStyle>
            <a:lvl1pPr algn="r">
              <a:defRPr sz="1300">
                <a:solidFill>
                  <a:schemeClr val="tx1"/>
                </a:solidFill>
              </a:defRPr>
            </a:lvl1pPr>
          </a:lstStyle>
          <a:p>
            <a:fld id="{762E77F0-FB5B-4E8E-9BC9-34F14560A017}" type="slidenum">
              <a:rPr lang="en-US" smtClean="0"/>
              <a:pPr/>
              <a:t>‹#›</a:t>
            </a:fld>
            <a:endParaRPr lang="en-US"/>
          </a:p>
        </p:txBody>
      </p:sp>
      <p:cxnSp>
        <p:nvCxnSpPr>
          <p:cNvPr id="7" name="Straight Connector 6">
            <a:extLst>
              <a:ext uri="{FF2B5EF4-FFF2-40B4-BE49-F238E27FC236}">
                <a16:creationId xmlns:a16="http://schemas.microsoft.com/office/drawing/2014/main" id="{0057071C-1660-4D95-BF58-C9DBC7B98100}"/>
              </a:ext>
            </a:extLst>
          </p:cNvPr>
          <p:cNvCxnSpPr>
            <a:cxnSpLocks/>
          </p:cNvCxnSpPr>
          <p:nvPr userDrawn="1"/>
        </p:nvCxnSpPr>
        <p:spPr>
          <a:xfrm>
            <a:off x="6477000" y="0"/>
            <a:ext cx="0" cy="1371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pic>
        <p:nvPicPr>
          <p:cNvPr id="8" name="Picture 7">
            <a:extLst>
              <a:ext uri="{FF2B5EF4-FFF2-40B4-BE49-F238E27FC236}">
                <a16:creationId xmlns:a16="http://schemas.microsoft.com/office/drawing/2014/main" id="{BBE10CE6-22AB-4783-96FE-2ABCE27F3849}"/>
              </a:ext>
            </a:extLst>
          </p:cNvPr>
          <p:cNvPicPr>
            <a:picLocks noChangeAspect="1"/>
          </p:cNvPicPr>
          <p:nvPr userDrawn="1"/>
        </p:nvPicPr>
        <p:blipFill>
          <a:blip r:embed="rId42"/>
          <a:stretch>
            <a:fillRect/>
          </a:stretch>
        </p:blipFill>
        <p:spPr>
          <a:xfrm>
            <a:off x="655811" y="12594565"/>
            <a:ext cx="2966510" cy="922174"/>
          </a:xfrm>
          <a:prstGeom prst="rect">
            <a:avLst/>
          </a:prstGeom>
        </p:spPr>
      </p:pic>
    </p:spTree>
    <p:extLst>
      <p:ext uri="{BB962C8B-B14F-4D97-AF65-F5344CB8AC3E}">
        <p14:creationId xmlns:p14="http://schemas.microsoft.com/office/powerpoint/2010/main" val="246536896"/>
      </p:ext>
    </p:extLst>
  </p:cSld>
  <p:clrMap bg1="lt1" tx1="dk1" bg2="lt2" tx2="dk2" accent1="accent1" accent2="accent2" accent3="accent3" accent4="accent4" accent5="accent5" accent6="accent6" hlink="hlink" folHlink="folHlink"/>
  <p:sldLayoutIdLst>
    <p:sldLayoutId id="2147484661" r:id="rId1"/>
    <p:sldLayoutId id="2147484662" r:id="rId2"/>
    <p:sldLayoutId id="2147484663" r:id="rId3"/>
    <p:sldLayoutId id="2147484664" r:id="rId4"/>
    <p:sldLayoutId id="2147484665" r:id="rId5"/>
    <p:sldLayoutId id="2147484666" r:id="rId6"/>
    <p:sldLayoutId id="2147484667" r:id="rId7"/>
    <p:sldLayoutId id="2147484668" r:id="rId8"/>
    <p:sldLayoutId id="2147484669" r:id="rId9"/>
    <p:sldLayoutId id="2147484670" r:id="rId10"/>
    <p:sldLayoutId id="2147484671" r:id="rId11"/>
    <p:sldLayoutId id="2147484672" r:id="rId12"/>
    <p:sldLayoutId id="2147484673" r:id="rId13"/>
    <p:sldLayoutId id="2147484674" r:id="rId14"/>
    <p:sldLayoutId id="2147484675" r:id="rId15"/>
    <p:sldLayoutId id="2147484676" r:id="rId16"/>
    <p:sldLayoutId id="2147484677" r:id="rId17"/>
    <p:sldLayoutId id="2147484678" r:id="rId18"/>
    <p:sldLayoutId id="2147484679" r:id="rId19"/>
    <p:sldLayoutId id="2147484680" r:id="rId20"/>
    <p:sldLayoutId id="2147484681" r:id="rId21"/>
    <p:sldLayoutId id="2147484682" r:id="rId22"/>
    <p:sldLayoutId id="2147484683" r:id="rId23"/>
    <p:sldLayoutId id="2147484684" r:id="rId24"/>
    <p:sldLayoutId id="2147484685" r:id="rId25"/>
    <p:sldLayoutId id="2147484686" r:id="rId26"/>
    <p:sldLayoutId id="2147484687" r:id="rId27"/>
    <p:sldLayoutId id="2147484688" r:id="rId28"/>
    <p:sldLayoutId id="2147484689" r:id="rId29"/>
    <p:sldLayoutId id="2147484690" r:id="rId30"/>
    <p:sldLayoutId id="2147484691" r:id="rId31"/>
    <p:sldLayoutId id="2147484692" r:id="rId32"/>
    <p:sldLayoutId id="2147484693" r:id="rId33"/>
    <p:sldLayoutId id="2147484694" r:id="rId34"/>
    <p:sldLayoutId id="2147484695" r:id="rId35"/>
    <p:sldLayoutId id="2147484696" r:id="rId36"/>
    <p:sldLayoutId id="2147484697" r:id="rId37"/>
    <p:sldLayoutId id="2147484698" r:id="rId38"/>
    <p:sldLayoutId id="2147484699" r:id="rId39"/>
    <p:sldLayoutId id="2147484700" r:id="rId40"/>
  </p:sldLayoutIdLst>
  <p:hf hdr="0" ftr="0" dt="0"/>
  <p:txStyles>
    <p:titleStyle>
      <a:lvl1pPr algn="l" defTabSz="1828800" rtl="0" eaLnBrk="1" fontAlgn="base" latinLnBrk="0" hangingPunct="1">
        <a:lnSpc>
          <a:spcPct val="110000"/>
        </a:lnSpc>
        <a:spcBef>
          <a:spcPct val="0"/>
        </a:spcBef>
        <a:buNone/>
        <a:defRPr sz="6250" kern="1200">
          <a:ln w="9525">
            <a:noFill/>
          </a:ln>
          <a:solidFill>
            <a:schemeClr val="tx2"/>
          </a:solidFill>
          <a:latin typeface="+mj-lt"/>
          <a:ea typeface="+mj-ea"/>
          <a:cs typeface="+mj-cs"/>
        </a:defRPr>
      </a:lvl1pPr>
    </p:titleStyle>
    <p:bodyStyle>
      <a:lvl1pPr marL="285750" indent="-285750"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1pPr>
      <a:lvl2pPr marL="857250" indent="-290514"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2pPr>
      <a:lvl3pPr marL="1428750" indent="-295276"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3pPr>
      <a:lvl4pPr marL="2000250" indent="-300038"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4pPr>
      <a:lvl5pPr marL="2571750" indent="-304800" algn="l" defTabSz="1828800" rtl="0" eaLnBrk="1" latinLnBrk="0" hangingPunct="1">
        <a:lnSpc>
          <a:spcPct val="100000"/>
        </a:lnSpc>
        <a:spcBef>
          <a:spcPts val="0"/>
        </a:spcBef>
        <a:spcAft>
          <a:spcPts val="3000"/>
        </a:spcAft>
        <a:buClr>
          <a:schemeClr val="tx2"/>
        </a:buClr>
        <a:buFont typeface="Arial" panose="020B0604020202020204" pitchFamily="34" charset="0"/>
        <a:buChar char="•"/>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477003" y="2777164"/>
            <a:ext cx="17160602" cy="3488134"/>
          </a:xfrm>
          <a:prstGeom prst="rect">
            <a:avLst/>
          </a:prstGeom>
        </p:spPr>
        <p:txBody>
          <a:bodyPr vert="horz" lIns="182880" tIns="0" rIns="0" bIns="0" rtlCol="0">
            <a:spAutoFit/>
          </a:body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8" name="Graphic 7">
            <a:extLst>
              <a:ext uri="{FF2B5EF4-FFF2-40B4-BE49-F238E27FC236}">
                <a16:creationId xmlns:a16="http://schemas.microsoft.com/office/drawing/2014/main" id="{C95E05A0-E71F-BF43-B4BD-38F301034068}"/>
              </a:ext>
            </a:extLst>
          </p:cNvPr>
          <p:cNvPicPr>
            <a:picLocks noChangeAspect="1"/>
          </p:cNvPicPr>
          <p:nvPr userDrawn="1"/>
        </p:nvPicPr>
        <p:blipFill>
          <a:blip r:embed="rId34" cstate="screen">
            <a:extLst>
              <a:ext uri="{28A0092B-C50C-407E-A947-70E740481C1C}">
                <a14:useLocalDpi xmlns:a14="http://schemas.microsoft.com/office/drawing/2010/main"/>
              </a:ext>
              <a:ext uri="{96DAC541-7B7A-43D3-8B79-37D633B846F1}">
                <asvg:svgBlip xmlns:asvg="http://schemas.microsoft.com/office/drawing/2016/SVG/main" r:embed="rId35"/>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46C91435-26B4-C74A-8BAF-292D956CE0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1" name="Slide Number Placeholder 5">
            <a:extLst>
              <a:ext uri="{FF2B5EF4-FFF2-40B4-BE49-F238E27FC236}">
                <a16:creationId xmlns:a16="http://schemas.microsoft.com/office/drawing/2014/main" id="{F96E2593-46D0-774F-8813-5D956F8CEA7F}"/>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grpSp>
        <p:nvGrpSpPr>
          <p:cNvPr id="6" name="Group 5">
            <a:extLst>
              <a:ext uri="{FF2B5EF4-FFF2-40B4-BE49-F238E27FC236}">
                <a16:creationId xmlns:a16="http://schemas.microsoft.com/office/drawing/2014/main" id="{7826DB11-539A-2D54-6832-3A322D0E5C56}"/>
              </a:ext>
            </a:extLst>
          </p:cNvPr>
          <p:cNvGrpSpPr/>
          <p:nvPr userDrawn="1"/>
        </p:nvGrpSpPr>
        <p:grpSpPr>
          <a:xfrm>
            <a:off x="1" y="-4805"/>
            <a:ext cx="25334686" cy="2199366"/>
            <a:chOff x="0" y="-2403"/>
            <a:chExt cx="12667343" cy="1099683"/>
          </a:xfrm>
        </p:grpSpPr>
        <p:sp>
          <p:nvSpPr>
            <p:cNvPr id="4" name="Rectangle 3">
              <a:extLst>
                <a:ext uri="{FF2B5EF4-FFF2-40B4-BE49-F238E27FC236}">
                  <a16:creationId xmlns:a16="http://schemas.microsoft.com/office/drawing/2014/main" id="{12682853-E800-7A37-5627-1599E2474ACF}"/>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5" name="Picture 4">
              <a:extLst>
                <a:ext uri="{FF2B5EF4-FFF2-40B4-BE49-F238E27FC236}">
                  <a16:creationId xmlns:a16="http://schemas.microsoft.com/office/drawing/2014/main" id="{8010F62B-25DD-FC98-E2C3-00B9BDF5989B}"/>
                </a:ext>
              </a:extLst>
            </p:cNvPr>
            <p:cNvPicPr>
              <a:picLocks noChangeAspect="1"/>
            </p:cNvPicPr>
            <p:nvPr userDrawn="1"/>
          </p:nvPicPr>
          <p:blipFill rotWithShape="1">
            <a:blip r:embed="rId36"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Placeholder 1"/>
          <p:cNvSpPr>
            <a:spLocks noGrp="1"/>
          </p:cNvSpPr>
          <p:nvPr>
            <p:ph type="title"/>
          </p:nvPr>
        </p:nvSpPr>
        <p:spPr>
          <a:xfrm>
            <a:off x="668994" y="537179"/>
            <a:ext cx="12295892" cy="968086"/>
          </a:xfrm>
          <a:prstGeom prst="rect">
            <a:avLst/>
          </a:prstGeom>
          <a:ln w="12700">
            <a:noFill/>
          </a:ln>
        </p:spPr>
        <p:txBody>
          <a:bodyPr vert="horz" wrap="square" lIns="0" tIns="0" rIns="0" bIns="0" rtlCol="0" anchor="t" anchorCtr="0">
            <a:spAutoFit/>
          </a:bodyPr>
          <a:lstStyle/>
          <a:p>
            <a:r>
              <a:rPr lang="en-US"/>
              <a:t>Click to edit Master title style</a:t>
            </a:r>
          </a:p>
        </p:txBody>
      </p:sp>
    </p:spTree>
    <p:extLst>
      <p:ext uri="{BB962C8B-B14F-4D97-AF65-F5344CB8AC3E}">
        <p14:creationId xmlns:p14="http://schemas.microsoft.com/office/powerpoint/2010/main" val="605982482"/>
      </p:ext>
    </p:extLst>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 id="2147484716" r:id="rId12"/>
    <p:sldLayoutId id="2147484717" r:id="rId13"/>
    <p:sldLayoutId id="2147484718" r:id="rId14"/>
    <p:sldLayoutId id="2147484719" r:id="rId15"/>
    <p:sldLayoutId id="2147484720" r:id="rId16"/>
    <p:sldLayoutId id="2147484721" r:id="rId17"/>
    <p:sldLayoutId id="2147484722" r:id="rId18"/>
    <p:sldLayoutId id="2147484723" r:id="rId19"/>
    <p:sldLayoutId id="2147484724" r:id="rId20"/>
    <p:sldLayoutId id="2147484725" r:id="rId21"/>
    <p:sldLayoutId id="2147484726" r:id="rId22"/>
    <p:sldLayoutId id="2147484727" r:id="rId23"/>
    <p:sldLayoutId id="2147484728" r:id="rId24"/>
    <p:sldLayoutId id="2147484729" r:id="rId25"/>
    <p:sldLayoutId id="2147484730" r:id="rId26"/>
    <p:sldLayoutId id="2147484731" r:id="rId27"/>
    <p:sldLayoutId id="2147484732" r:id="rId28"/>
    <p:sldLayoutId id="2147484733" r:id="rId29"/>
    <p:sldLayoutId id="2147484734" r:id="rId30"/>
    <p:sldLayoutId id="2147484735" r:id="rId31"/>
    <p:sldLayoutId id="2147484736" r:id="rId32"/>
  </p:sldLayoutIdLst>
  <p:hf hdr="0" ftr="0" dt="0"/>
  <p:txStyles>
    <p:titleStyle>
      <a:lvl1pPr algn="l" defTabSz="1828800" rtl="0" eaLnBrk="1" fontAlgn="base" latinLnBrk="0" hangingPunct="1">
        <a:lnSpc>
          <a:spcPct val="110000"/>
        </a:lnSpc>
        <a:spcBef>
          <a:spcPct val="0"/>
        </a:spcBef>
        <a:buNone/>
        <a:defRPr sz="6200" kern="1200">
          <a:ln w="9525">
            <a:noFill/>
          </a:ln>
          <a:solidFill>
            <a:schemeClr val="bg1"/>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477003" y="2777164"/>
            <a:ext cx="17160602" cy="3488134"/>
          </a:xfrm>
          <a:prstGeom prst="rect">
            <a:avLst/>
          </a:prstGeom>
        </p:spPr>
        <p:txBody>
          <a:bodyPr vert="horz" lIns="182880" tIns="0" rIns="0" bIns="0" rtlCol="0">
            <a:spAutoFit/>
          </a:bodyPr>
          <a:lstStyle/>
          <a:p>
            <a:pPr marL="285750" marR="0" lvl="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285750" marR="0" lvl="1"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Second level</a:t>
            </a:r>
          </a:p>
          <a:p>
            <a:pPr marL="285750" marR="0" lvl="2"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Third level</a:t>
            </a:r>
          </a:p>
          <a:p>
            <a:pPr marL="285750" marR="0" lvl="3"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Fourth level</a:t>
            </a:r>
          </a:p>
          <a:p>
            <a:pPr marL="285750" marR="0" lvl="4"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a:pPr>
            <a:r>
              <a:rPr kumimoji="0" lang="en-US" sz="3600" b="0" i="0" u="none" strike="noStrike" kern="1200" cap="none" spc="0" normalizeH="0" baseline="0" noProof="0">
                <a:ln>
                  <a:noFill/>
                </a:ln>
                <a:solidFill>
                  <a:srgbClr val="000000"/>
                </a:solidFill>
                <a:effectLst/>
                <a:uLnTx/>
                <a:uFillTx/>
                <a:latin typeface="+mn-lt"/>
                <a:ea typeface="+mn-ea"/>
                <a:cs typeface="+mn-cs"/>
              </a:rPr>
              <a:t>Fifth level</a:t>
            </a:r>
          </a:p>
        </p:txBody>
      </p:sp>
      <p:pic>
        <p:nvPicPr>
          <p:cNvPr id="8" name="Graphic 7">
            <a:extLst>
              <a:ext uri="{FF2B5EF4-FFF2-40B4-BE49-F238E27FC236}">
                <a16:creationId xmlns:a16="http://schemas.microsoft.com/office/drawing/2014/main" id="{C95E05A0-E71F-BF43-B4BD-38F301034068}"/>
              </a:ext>
            </a:extLst>
          </p:cNvPr>
          <p:cNvPicPr>
            <a:picLocks noChangeAspect="1"/>
          </p:cNvPicPr>
          <p:nvPr userDrawn="1"/>
        </p:nvPicPr>
        <p:blipFill>
          <a:blip r:embed="rId32" cstate="screen">
            <a:extLst>
              <a:ext uri="{28A0092B-C50C-407E-A947-70E740481C1C}">
                <a14:useLocalDpi xmlns:a14="http://schemas.microsoft.com/office/drawing/2010/main"/>
              </a:ext>
              <a:ext uri="{96DAC541-7B7A-43D3-8B79-37D633B846F1}">
                <asvg:svgBlip xmlns:asvg="http://schemas.microsoft.com/office/drawing/2016/SVG/main" r:embed="rId33"/>
              </a:ext>
            </a:extLst>
          </a:blip>
          <a:stretch>
            <a:fillRect/>
          </a:stretch>
        </p:blipFill>
        <p:spPr>
          <a:xfrm>
            <a:off x="655810" y="12808078"/>
            <a:ext cx="2286000" cy="708660"/>
          </a:xfrm>
          <a:prstGeom prst="rect">
            <a:avLst/>
          </a:prstGeom>
        </p:spPr>
      </p:pic>
      <p:sp>
        <p:nvSpPr>
          <p:cNvPr id="10" name="Footer Placeholder 4">
            <a:extLst>
              <a:ext uri="{FF2B5EF4-FFF2-40B4-BE49-F238E27FC236}">
                <a16:creationId xmlns:a16="http://schemas.microsoft.com/office/drawing/2014/main" id="{46C91435-26B4-C74A-8BAF-292D956CE0DF}"/>
              </a:ext>
            </a:extLst>
          </p:cNvPr>
          <p:cNvSpPr>
            <a:spLocks noGrp="1"/>
          </p:cNvSpPr>
          <p:nvPr>
            <p:ph type="ftr" sz="quarter" idx="3"/>
          </p:nvPr>
        </p:nvSpPr>
        <p:spPr>
          <a:xfrm>
            <a:off x="13887450" y="13271500"/>
            <a:ext cx="8146364" cy="215444"/>
          </a:xfrm>
          <a:prstGeom prst="rect">
            <a:avLst/>
          </a:prstGeom>
        </p:spPr>
        <p:txBody>
          <a:bodyPr vert="horz" wrap="square" lIns="0" tIns="0" rIns="0" bIns="0" rtlCol="0" anchor="t" anchorCtr="0">
            <a:spAutoFit/>
          </a:bodyPr>
          <a:lstStyle>
            <a:lvl1pPr algn="r">
              <a:defRPr sz="1400">
                <a:solidFill>
                  <a:schemeClr val="tx1"/>
                </a:solidFill>
              </a:defRPr>
            </a:lvl1pPr>
          </a:lstStyle>
          <a:p>
            <a:endParaRPr lang="en-US"/>
          </a:p>
        </p:txBody>
      </p:sp>
      <p:sp>
        <p:nvSpPr>
          <p:cNvPr id="11" name="Slide Number Placeholder 5">
            <a:extLst>
              <a:ext uri="{FF2B5EF4-FFF2-40B4-BE49-F238E27FC236}">
                <a16:creationId xmlns:a16="http://schemas.microsoft.com/office/drawing/2014/main" id="{F96E2593-46D0-774F-8813-5D956F8CEA7F}"/>
              </a:ext>
            </a:extLst>
          </p:cNvPr>
          <p:cNvSpPr>
            <a:spLocks noGrp="1"/>
          </p:cNvSpPr>
          <p:nvPr>
            <p:ph type="sldNum" sz="quarter" idx="4"/>
          </p:nvPr>
        </p:nvSpPr>
        <p:spPr>
          <a:xfrm>
            <a:off x="22402802" y="13271500"/>
            <a:ext cx="1234804" cy="215444"/>
          </a:xfrm>
          <a:prstGeom prst="rect">
            <a:avLst/>
          </a:prstGeom>
        </p:spPr>
        <p:txBody>
          <a:bodyPr vert="horz" lIns="0" tIns="0" rIns="0" bIns="0" rtlCol="0" anchor="t" anchorCtr="0">
            <a:spAutoFit/>
          </a:bodyPr>
          <a:lstStyle>
            <a:lvl1pPr algn="r">
              <a:defRPr sz="1400">
                <a:solidFill>
                  <a:schemeClr val="tx1"/>
                </a:solidFill>
              </a:defRPr>
            </a:lvl1pPr>
          </a:lstStyle>
          <a:p>
            <a:fld id="{762E77F0-FB5B-4E8E-9BC9-34F14560A017}" type="slidenum">
              <a:rPr lang="en-US" smtClean="0"/>
              <a:pPr/>
              <a:t>‹#›</a:t>
            </a:fld>
            <a:endParaRPr lang="en-US"/>
          </a:p>
        </p:txBody>
      </p:sp>
      <p:grpSp>
        <p:nvGrpSpPr>
          <p:cNvPr id="6" name="Group 5">
            <a:extLst>
              <a:ext uri="{FF2B5EF4-FFF2-40B4-BE49-F238E27FC236}">
                <a16:creationId xmlns:a16="http://schemas.microsoft.com/office/drawing/2014/main" id="{7826DB11-539A-2D54-6832-3A322D0E5C56}"/>
              </a:ext>
            </a:extLst>
          </p:cNvPr>
          <p:cNvGrpSpPr/>
          <p:nvPr userDrawn="1"/>
        </p:nvGrpSpPr>
        <p:grpSpPr>
          <a:xfrm>
            <a:off x="1" y="-4805"/>
            <a:ext cx="25334686" cy="2199366"/>
            <a:chOff x="0" y="-2403"/>
            <a:chExt cx="12667343" cy="1099683"/>
          </a:xfrm>
        </p:grpSpPr>
        <p:sp>
          <p:nvSpPr>
            <p:cNvPr id="4" name="Rectangle 3">
              <a:extLst>
                <a:ext uri="{FF2B5EF4-FFF2-40B4-BE49-F238E27FC236}">
                  <a16:creationId xmlns:a16="http://schemas.microsoft.com/office/drawing/2014/main" id="{12682853-E800-7A37-5627-1599E2474ACF}"/>
                </a:ext>
              </a:extLst>
            </p:cNvPr>
            <p:cNvSpPr/>
            <p:nvPr userDrawn="1"/>
          </p:nvSpPr>
          <p:spPr>
            <a:xfrm>
              <a:off x="0" y="0"/>
              <a:ext cx="12192000" cy="109728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pic>
          <p:nvPicPr>
            <p:cNvPr id="5" name="Picture 4">
              <a:extLst>
                <a:ext uri="{FF2B5EF4-FFF2-40B4-BE49-F238E27FC236}">
                  <a16:creationId xmlns:a16="http://schemas.microsoft.com/office/drawing/2014/main" id="{8010F62B-25DD-FC98-E2C3-00B9BDF5989B}"/>
                </a:ext>
              </a:extLst>
            </p:cNvPr>
            <p:cNvPicPr>
              <a:picLocks noChangeAspect="1"/>
            </p:cNvPicPr>
            <p:nvPr userDrawn="1"/>
          </p:nvPicPr>
          <p:blipFill rotWithShape="1">
            <a:blip r:embed="rId34" cstate="screen">
              <a:extLst>
                <a:ext uri="{28A0092B-C50C-407E-A947-70E740481C1C}">
                  <a14:useLocalDpi xmlns:a14="http://schemas.microsoft.com/office/drawing/2010/main"/>
                </a:ext>
              </a:extLst>
            </a:blip>
            <a:srcRect/>
            <a:stretch/>
          </p:blipFill>
          <p:spPr>
            <a:xfrm>
              <a:off x="4087042" y="-2403"/>
              <a:ext cx="8580301" cy="1097280"/>
            </a:xfrm>
            <a:prstGeom prst="rect">
              <a:avLst/>
            </a:prstGeom>
          </p:spPr>
        </p:pic>
      </p:grpSp>
      <p:sp>
        <p:nvSpPr>
          <p:cNvPr id="2" name="Title Placeholder 1"/>
          <p:cNvSpPr>
            <a:spLocks noGrp="1"/>
          </p:cNvSpPr>
          <p:nvPr>
            <p:ph type="title"/>
          </p:nvPr>
        </p:nvSpPr>
        <p:spPr>
          <a:xfrm>
            <a:off x="668994" y="537179"/>
            <a:ext cx="12295892" cy="968086"/>
          </a:xfrm>
          <a:prstGeom prst="rect">
            <a:avLst/>
          </a:prstGeom>
          <a:ln w="12700">
            <a:noFill/>
          </a:ln>
        </p:spPr>
        <p:txBody>
          <a:bodyPr vert="horz" wrap="square" lIns="0" tIns="0" rIns="0" bIns="0" rtlCol="0" anchor="t" anchorCtr="0">
            <a:spAutoFit/>
          </a:bodyPr>
          <a:lstStyle/>
          <a:p>
            <a:r>
              <a:rPr lang="en-US"/>
              <a:t>Click to edit Master title style</a:t>
            </a:r>
          </a:p>
        </p:txBody>
      </p:sp>
    </p:spTree>
    <p:extLst>
      <p:ext uri="{BB962C8B-B14F-4D97-AF65-F5344CB8AC3E}">
        <p14:creationId xmlns:p14="http://schemas.microsoft.com/office/powerpoint/2010/main" val="730112583"/>
      </p:ext>
    </p:extLst>
  </p:cSld>
  <p:clrMap bg1="lt1" tx1="dk1" bg2="lt2" tx2="dk2" accent1="accent1" accent2="accent2" accent3="accent3" accent4="accent4" accent5="accent5" accent6="accent6" hlink="hlink" folHlink="folHlink"/>
  <p:sldLayoutIdLst>
    <p:sldLayoutId id="2147484739" r:id="rId1"/>
    <p:sldLayoutId id="2147484740" r:id="rId2"/>
    <p:sldLayoutId id="2147484741" r:id="rId3"/>
    <p:sldLayoutId id="2147484742" r:id="rId4"/>
    <p:sldLayoutId id="2147484743" r:id="rId5"/>
    <p:sldLayoutId id="2147484744" r:id="rId6"/>
    <p:sldLayoutId id="2147484745" r:id="rId7"/>
    <p:sldLayoutId id="2147484746" r:id="rId8"/>
    <p:sldLayoutId id="2147484747" r:id="rId9"/>
    <p:sldLayoutId id="2147484748" r:id="rId10"/>
    <p:sldLayoutId id="2147484749" r:id="rId11"/>
    <p:sldLayoutId id="2147484750" r:id="rId12"/>
    <p:sldLayoutId id="2147484751" r:id="rId13"/>
    <p:sldLayoutId id="2147484752" r:id="rId14"/>
    <p:sldLayoutId id="2147484753" r:id="rId15"/>
    <p:sldLayoutId id="2147484754" r:id="rId16"/>
    <p:sldLayoutId id="2147484755" r:id="rId17"/>
    <p:sldLayoutId id="2147484756" r:id="rId18"/>
    <p:sldLayoutId id="2147484757" r:id="rId19"/>
    <p:sldLayoutId id="2147484758" r:id="rId20"/>
    <p:sldLayoutId id="2147484759" r:id="rId21"/>
    <p:sldLayoutId id="2147484760" r:id="rId22"/>
    <p:sldLayoutId id="2147484761" r:id="rId23"/>
    <p:sldLayoutId id="2147484762" r:id="rId24"/>
    <p:sldLayoutId id="2147484763" r:id="rId25"/>
    <p:sldLayoutId id="2147484764" r:id="rId26"/>
    <p:sldLayoutId id="2147484765" r:id="rId27"/>
    <p:sldLayoutId id="2147484766" r:id="rId28"/>
    <p:sldLayoutId id="2147484767" r:id="rId29"/>
    <p:sldLayoutId id="2147484768" r:id="rId30"/>
  </p:sldLayoutIdLst>
  <p:hf hdr="0" ftr="0" dt="0"/>
  <p:txStyles>
    <p:titleStyle>
      <a:lvl1pPr algn="l" defTabSz="1828800" rtl="0" eaLnBrk="1" fontAlgn="base" latinLnBrk="0" hangingPunct="1">
        <a:lnSpc>
          <a:spcPct val="110000"/>
        </a:lnSpc>
        <a:spcBef>
          <a:spcPct val="0"/>
        </a:spcBef>
        <a:buNone/>
        <a:defRPr sz="6200" kern="1200">
          <a:ln w="9525">
            <a:noFill/>
          </a:ln>
          <a:solidFill>
            <a:schemeClr val="bg1"/>
          </a:solidFill>
          <a:latin typeface="+mj-lt"/>
          <a:ea typeface="+mj-ea"/>
          <a:cs typeface="+mj-cs"/>
        </a:defRPr>
      </a:lvl1pPr>
    </p:titleStyle>
    <p:body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3" pos="228">
          <p15:clr>
            <a:srgbClr val="000000"/>
          </p15:clr>
        </p15:guide>
        <p15:guide id="4" pos="7452">
          <p15:clr>
            <a:srgbClr val="000000"/>
          </p15:clr>
        </p15:guide>
        <p15:guide id="5" orient="horz" pos="228">
          <p15:clr>
            <a:srgbClr val="000000"/>
          </p15:clr>
        </p15:guide>
        <p15:guide id="8" orient="horz" pos="1200">
          <p15:clr>
            <a:srgbClr val="000000"/>
          </p15:clr>
        </p15:guide>
        <p15:guide id="11" orient="horz" pos="2160">
          <p15:clr>
            <a:srgbClr val="000000"/>
          </p15:clr>
        </p15:guide>
        <p15:guide id="14" orient="horz" pos="4092">
          <p15:clr>
            <a:srgbClr val="000000"/>
          </p15:clr>
        </p15:guide>
        <p15:guide id="45" orient="horz" pos="3120">
          <p15:clr>
            <a:srgbClr val="000000"/>
          </p15:clr>
        </p15:guide>
        <p15:guide id="52" pos="2040">
          <p15:clr>
            <a:srgbClr val="000000"/>
          </p15:clr>
        </p15:guide>
        <p15:guide id="55" pos="3840">
          <p15:clr>
            <a:srgbClr val="000000"/>
          </p15:clr>
        </p15:guide>
        <p15:guide id="58" pos="5652">
          <p15:clr>
            <a:srgbClr val="000000"/>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xml"/><Relationship Id="rId1" Type="http://schemas.openxmlformats.org/officeDocument/2006/relationships/slideLayout" Target="../slideLayouts/slideLayout388.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1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1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2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2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3.xml"/></Relationships>
</file>

<file path=ppt/slides/_rels/slide14.xml.rels><?xml version="1.0" encoding="UTF-8" standalone="yes"?>
<Relationships xmlns="http://schemas.openxmlformats.org/package/2006/relationships"><Relationship Id="rId3" Type="http://schemas.openxmlformats.org/officeDocument/2006/relationships/image" Target="../media/image34.svg"/><Relationship Id="rId7" Type="http://schemas.openxmlformats.org/officeDocument/2006/relationships/image" Target="../media/image38.svg"/><Relationship Id="rId2" Type="http://schemas.openxmlformats.org/officeDocument/2006/relationships/image" Target="../media/image33.png"/><Relationship Id="rId1" Type="http://schemas.openxmlformats.org/officeDocument/2006/relationships/slideLayout" Target="../slideLayouts/slideLayout11.xml"/><Relationship Id="rId6" Type="http://schemas.openxmlformats.org/officeDocument/2006/relationships/image" Target="../media/image37.png"/><Relationship Id="rId5" Type="http://schemas.openxmlformats.org/officeDocument/2006/relationships/image" Target="../media/image36.svg"/><Relationship Id="rId4" Type="http://schemas.openxmlformats.org/officeDocument/2006/relationships/image" Target="../media/image35.png"/></Relationships>
</file>

<file path=ppt/slides/_rels/slide15.xml.rels><?xml version="1.0" encoding="UTF-8" standalone="yes"?>
<Relationships xmlns="http://schemas.openxmlformats.org/package/2006/relationships"><Relationship Id="rId3" Type="http://schemas.openxmlformats.org/officeDocument/2006/relationships/image" Target="../media/image34.svg"/><Relationship Id="rId7" Type="http://schemas.openxmlformats.org/officeDocument/2006/relationships/image" Target="../media/image40.svg"/><Relationship Id="rId2" Type="http://schemas.openxmlformats.org/officeDocument/2006/relationships/image" Target="../media/image33.png"/><Relationship Id="rId1" Type="http://schemas.openxmlformats.org/officeDocument/2006/relationships/slideLayout" Target="../slideLayouts/slideLayout11.xml"/><Relationship Id="rId6" Type="http://schemas.openxmlformats.org/officeDocument/2006/relationships/image" Target="../media/image39.png"/><Relationship Id="rId5" Type="http://schemas.openxmlformats.org/officeDocument/2006/relationships/image" Target="../media/image38.svg"/><Relationship Id="rId4" Type="http://schemas.openxmlformats.org/officeDocument/2006/relationships/image" Target="../media/image37.png"/></Relationships>
</file>

<file path=ppt/slides/_rels/slide16.xml.rels><?xml version="1.0" encoding="UTF-8" standalone="yes"?>
<Relationships xmlns="http://schemas.openxmlformats.org/package/2006/relationships"><Relationship Id="rId3" Type="http://schemas.openxmlformats.org/officeDocument/2006/relationships/image" Target="../media/image34.svg"/><Relationship Id="rId7" Type="http://schemas.openxmlformats.org/officeDocument/2006/relationships/image" Target="../media/image42.svg"/><Relationship Id="rId2" Type="http://schemas.openxmlformats.org/officeDocument/2006/relationships/image" Target="../media/image33.png"/><Relationship Id="rId1" Type="http://schemas.openxmlformats.org/officeDocument/2006/relationships/slideLayout" Target="../slideLayouts/slideLayout11.xml"/><Relationship Id="rId6" Type="http://schemas.openxmlformats.org/officeDocument/2006/relationships/image" Target="../media/image41.png"/><Relationship Id="rId5" Type="http://schemas.openxmlformats.org/officeDocument/2006/relationships/image" Target="../media/image38.svg"/><Relationship Id="rId4" Type="http://schemas.openxmlformats.org/officeDocument/2006/relationships/image" Target="../media/image37.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8" Type="http://schemas.openxmlformats.org/officeDocument/2006/relationships/image" Target="../media/image48.png"/><Relationship Id="rId13" Type="http://schemas.openxmlformats.org/officeDocument/2006/relationships/image" Target="../media/image53.jpeg"/><Relationship Id="rId18" Type="http://schemas.openxmlformats.org/officeDocument/2006/relationships/image" Target="../media/image58.png"/><Relationship Id="rId26" Type="http://schemas.openxmlformats.org/officeDocument/2006/relationships/image" Target="../media/image66.png"/><Relationship Id="rId3" Type="http://schemas.openxmlformats.org/officeDocument/2006/relationships/image" Target="../media/image43.png"/><Relationship Id="rId21" Type="http://schemas.openxmlformats.org/officeDocument/2006/relationships/image" Target="../media/image61.png"/><Relationship Id="rId7" Type="http://schemas.openxmlformats.org/officeDocument/2006/relationships/image" Target="../media/image47.jpeg"/><Relationship Id="rId12" Type="http://schemas.openxmlformats.org/officeDocument/2006/relationships/image" Target="../media/image52.png"/><Relationship Id="rId17" Type="http://schemas.openxmlformats.org/officeDocument/2006/relationships/image" Target="../media/image57.png"/><Relationship Id="rId25" Type="http://schemas.openxmlformats.org/officeDocument/2006/relationships/image" Target="../media/image65.png"/><Relationship Id="rId2" Type="http://schemas.openxmlformats.org/officeDocument/2006/relationships/notesSlide" Target="../notesSlides/notesSlide9.xml"/><Relationship Id="rId16" Type="http://schemas.openxmlformats.org/officeDocument/2006/relationships/image" Target="../media/image56.png"/><Relationship Id="rId20" Type="http://schemas.openxmlformats.org/officeDocument/2006/relationships/image" Target="../media/image60.png"/><Relationship Id="rId1" Type="http://schemas.openxmlformats.org/officeDocument/2006/relationships/slideLayout" Target="../slideLayouts/slideLayout2.xml"/><Relationship Id="rId6" Type="http://schemas.openxmlformats.org/officeDocument/2006/relationships/image" Target="../media/image46.png"/><Relationship Id="rId11" Type="http://schemas.openxmlformats.org/officeDocument/2006/relationships/image" Target="../media/image51.png"/><Relationship Id="rId24" Type="http://schemas.openxmlformats.org/officeDocument/2006/relationships/image" Target="../media/image64.svg"/><Relationship Id="rId5" Type="http://schemas.openxmlformats.org/officeDocument/2006/relationships/image" Target="../media/image45.jpeg"/><Relationship Id="rId15" Type="http://schemas.openxmlformats.org/officeDocument/2006/relationships/image" Target="../media/image55.png"/><Relationship Id="rId23" Type="http://schemas.openxmlformats.org/officeDocument/2006/relationships/image" Target="../media/image63.png"/><Relationship Id="rId10" Type="http://schemas.openxmlformats.org/officeDocument/2006/relationships/image" Target="../media/image50.png"/><Relationship Id="rId19" Type="http://schemas.openxmlformats.org/officeDocument/2006/relationships/image" Target="../media/image59.png"/><Relationship Id="rId4" Type="http://schemas.openxmlformats.org/officeDocument/2006/relationships/image" Target="../media/image44.png"/><Relationship Id="rId9" Type="http://schemas.openxmlformats.org/officeDocument/2006/relationships/image" Target="../media/image49.png"/><Relationship Id="rId14" Type="http://schemas.openxmlformats.org/officeDocument/2006/relationships/image" Target="../media/image54.jpeg"/><Relationship Id="rId22" Type="http://schemas.openxmlformats.org/officeDocument/2006/relationships/image" Target="../media/image62.jpeg"/><Relationship Id="rId27" Type="http://schemas.openxmlformats.org/officeDocument/2006/relationships/image" Target="../media/image67.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0.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48.xml"/></Relationships>
</file>

<file path=ppt/slides/_rels/slide21.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hyperlink" Target="https://www.achilles.com/" TargetMode="Externa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8" Type="http://schemas.openxmlformats.org/officeDocument/2006/relationships/slideLayout" Target="../slideLayouts/slideLayout2.xml"/><Relationship Id="rId3" Type="http://schemas.openxmlformats.org/officeDocument/2006/relationships/tags" Target="../tags/tag9.xml"/><Relationship Id="rId7" Type="http://schemas.openxmlformats.org/officeDocument/2006/relationships/tags" Target="../tags/tag13.xml"/><Relationship Id="rId12" Type="http://schemas.openxmlformats.org/officeDocument/2006/relationships/image" Target="../media/image71.svg"/><Relationship Id="rId2" Type="http://schemas.openxmlformats.org/officeDocument/2006/relationships/tags" Target="../tags/tag8.xml"/><Relationship Id="rId1" Type="http://schemas.openxmlformats.org/officeDocument/2006/relationships/tags" Target="../tags/tag7.xml"/><Relationship Id="rId6" Type="http://schemas.openxmlformats.org/officeDocument/2006/relationships/tags" Target="../tags/tag12.xml"/><Relationship Id="rId11" Type="http://schemas.openxmlformats.org/officeDocument/2006/relationships/image" Target="../media/image70.png"/><Relationship Id="rId5" Type="http://schemas.openxmlformats.org/officeDocument/2006/relationships/tags" Target="../tags/tag11.xml"/><Relationship Id="rId10" Type="http://schemas.openxmlformats.org/officeDocument/2006/relationships/image" Target="../media/image69.png"/><Relationship Id="rId4" Type="http://schemas.openxmlformats.org/officeDocument/2006/relationships/tags" Target="../tags/tag10.xml"/><Relationship Id="rId9" Type="http://schemas.openxmlformats.org/officeDocument/2006/relationships/notesSlide" Target="../notesSlides/notesSlide10.xml"/></Relationships>
</file>

<file path=ppt/slides/_rels/slide23.xml.rels><?xml version="1.0" encoding="UTF-8" standalone="yes"?>
<Relationships xmlns="http://schemas.openxmlformats.org/package/2006/relationships"><Relationship Id="rId8" Type="http://schemas.openxmlformats.org/officeDocument/2006/relationships/tags" Target="../tags/tag21.xml"/><Relationship Id="rId13" Type="http://schemas.openxmlformats.org/officeDocument/2006/relationships/tags" Target="../tags/tag26.xml"/><Relationship Id="rId18" Type="http://schemas.openxmlformats.org/officeDocument/2006/relationships/tags" Target="../tags/tag31.xml"/><Relationship Id="rId3" Type="http://schemas.openxmlformats.org/officeDocument/2006/relationships/tags" Target="../tags/tag16.xml"/><Relationship Id="rId21" Type="http://schemas.openxmlformats.org/officeDocument/2006/relationships/image" Target="../media/image70.png"/><Relationship Id="rId7" Type="http://schemas.openxmlformats.org/officeDocument/2006/relationships/tags" Target="../tags/tag20.xml"/><Relationship Id="rId12" Type="http://schemas.openxmlformats.org/officeDocument/2006/relationships/tags" Target="../tags/tag25.xml"/><Relationship Id="rId17" Type="http://schemas.openxmlformats.org/officeDocument/2006/relationships/tags" Target="../tags/tag30.xml"/><Relationship Id="rId2" Type="http://schemas.openxmlformats.org/officeDocument/2006/relationships/tags" Target="../tags/tag15.xml"/><Relationship Id="rId16" Type="http://schemas.openxmlformats.org/officeDocument/2006/relationships/tags" Target="../tags/tag29.xml"/><Relationship Id="rId20" Type="http://schemas.openxmlformats.org/officeDocument/2006/relationships/image" Target="../media/image69.png"/><Relationship Id="rId1" Type="http://schemas.openxmlformats.org/officeDocument/2006/relationships/tags" Target="../tags/tag14.xml"/><Relationship Id="rId6" Type="http://schemas.openxmlformats.org/officeDocument/2006/relationships/tags" Target="../tags/tag19.xml"/><Relationship Id="rId11" Type="http://schemas.openxmlformats.org/officeDocument/2006/relationships/tags" Target="../tags/tag24.xml"/><Relationship Id="rId5" Type="http://schemas.openxmlformats.org/officeDocument/2006/relationships/tags" Target="../tags/tag18.xml"/><Relationship Id="rId15" Type="http://schemas.openxmlformats.org/officeDocument/2006/relationships/tags" Target="../tags/tag28.xml"/><Relationship Id="rId10" Type="http://schemas.openxmlformats.org/officeDocument/2006/relationships/tags" Target="../tags/tag23.xml"/><Relationship Id="rId19" Type="http://schemas.openxmlformats.org/officeDocument/2006/relationships/slideLayout" Target="../slideLayouts/slideLayout3.xml"/><Relationship Id="rId4" Type="http://schemas.openxmlformats.org/officeDocument/2006/relationships/tags" Target="../tags/tag17.xml"/><Relationship Id="rId9" Type="http://schemas.openxmlformats.org/officeDocument/2006/relationships/tags" Target="../tags/tag22.xml"/><Relationship Id="rId14" Type="http://schemas.openxmlformats.org/officeDocument/2006/relationships/tags" Target="../tags/tag27.xml"/><Relationship Id="rId22" Type="http://schemas.openxmlformats.org/officeDocument/2006/relationships/image" Target="../media/image71.sv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7.xml"/><Relationship Id="rId1" Type="http://schemas.openxmlformats.org/officeDocument/2006/relationships/slideLayout" Target="../slideLayouts/slideLayout1.xml"/><Relationship Id="rId5" Type="http://schemas.openxmlformats.org/officeDocument/2006/relationships/chart" Target="../charts/chart3.xml"/><Relationship Id="rId4" Type="http://schemas.openxmlformats.org/officeDocument/2006/relationships/chart" Target="../charts/chart2.xml"/></Relationships>
</file>

<file path=ppt/slides/_rels/slide33.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8.xml"/><Relationship Id="rId1" Type="http://schemas.openxmlformats.org/officeDocument/2006/relationships/slideLayout" Target="../slideLayouts/slideLayout1.xml"/><Relationship Id="rId4" Type="http://schemas.openxmlformats.org/officeDocument/2006/relationships/chart" Target="../charts/chart5.xml"/></Relationships>
</file>

<file path=ppt/slides/_rels/slide34.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chart" Target="../charts/chart6.xml"/><Relationship Id="rId1" Type="http://schemas.openxmlformats.org/officeDocument/2006/relationships/slideLayout" Target="../slideLayouts/slideLayout1.xml"/><Relationship Id="rId5" Type="http://schemas.openxmlformats.org/officeDocument/2006/relationships/chart" Target="../charts/chart9.xml"/><Relationship Id="rId4" Type="http://schemas.openxmlformats.org/officeDocument/2006/relationships/chart" Target="../charts/char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4.xml"/></Relationships>
</file>

<file path=ppt/slides/_rels/slide36.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20.xml"/><Relationship Id="rId1" Type="http://schemas.openxmlformats.org/officeDocument/2006/relationships/slideLayout" Target="../slideLayouts/slideLayout1.xml"/><Relationship Id="rId5" Type="http://schemas.openxmlformats.org/officeDocument/2006/relationships/image" Target="../media/image74.png"/><Relationship Id="rId4" Type="http://schemas.openxmlformats.org/officeDocument/2006/relationships/image" Target="../media/image73.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22.xml"/><Relationship Id="rId1" Type="http://schemas.openxmlformats.org/officeDocument/2006/relationships/slideLayout" Target="../slideLayouts/slideLayout1.xml"/><Relationship Id="rId4" Type="http://schemas.openxmlformats.org/officeDocument/2006/relationships/image" Target="../media/image76.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4.xml"/></Relationships>
</file>

<file path=ppt/slides/_rels/slide43.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chart" Target="../charts/chart11.xml"/><Relationship Id="rId1" Type="http://schemas.openxmlformats.org/officeDocument/2006/relationships/slideLayout" Target="../slideLayouts/slideLayout23.xml"/><Relationship Id="rId5" Type="http://schemas.openxmlformats.org/officeDocument/2006/relationships/chart" Target="../charts/chart14.xml"/><Relationship Id="rId4" Type="http://schemas.openxmlformats.org/officeDocument/2006/relationships/chart" Target="../charts/chart13.xml"/></Relationships>
</file>

<file path=ppt/slides/_rels/slide44.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chart" Target="../charts/chart15.xml"/><Relationship Id="rId1" Type="http://schemas.openxmlformats.org/officeDocument/2006/relationships/slideLayout" Target="../slideLayouts/slideLayout23.xml"/><Relationship Id="rId5" Type="http://schemas.openxmlformats.org/officeDocument/2006/relationships/chart" Target="../charts/chart18.xml"/><Relationship Id="rId4" Type="http://schemas.openxmlformats.org/officeDocument/2006/relationships/chart" Target="../charts/chart17.xml"/></Relationships>
</file>

<file path=ppt/slides/_rels/slide45.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chart" Target="../charts/chart19.xml"/><Relationship Id="rId1" Type="http://schemas.openxmlformats.org/officeDocument/2006/relationships/slideLayout" Target="../slideLayouts/slideLayout23.xml"/><Relationship Id="rId4" Type="http://schemas.openxmlformats.org/officeDocument/2006/relationships/chart" Target="../charts/chart21.xml"/></Relationships>
</file>

<file path=ppt/slides/_rels/slide46.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chart" Target="../charts/chart22.xml"/><Relationship Id="rId1" Type="http://schemas.openxmlformats.org/officeDocument/2006/relationships/slideLayout" Target="../slideLayouts/slideLayout23.xml"/><Relationship Id="rId4" Type="http://schemas.openxmlformats.org/officeDocument/2006/relationships/chart" Target="../charts/char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3" Type="http://schemas.openxmlformats.org/officeDocument/2006/relationships/image" Target="../media/image78.svg"/><Relationship Id="rId2" Type="http://schemas.openxmlformats.org/officeDocument/2006/relationships/image" Target="../media/image77.png"/><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chart" Target="../charts/chart25.xml"/><Relationship Id="rId1" Type="http://schemas.openxmlformats.org/officeDocument/2006/relationships/slideLayout" Target="../slideLayouts/slideLayout1.xml"/><Relationship Id="rId5" Type="http://schemas.openxmlformats.org/officeDocument/2006/relationships/hyperlink" Target="https://achilles.sharepoint.com/:f:/r/sites/RackspaceCloudReadinessAssessment/Shared%20Documents/Infrastructure%20and%20DevOps%20Teams/03.%20Project%20Deliverables/Cloud%20Readiness%20Assessment%20-%20Final%20Deliverables/Migration%20Readiness%20Assessment?csf=1&amp;web=1&amp;e=UHFy2O" TargetMode="External"/><Relationship Id="rId4" Type="http://schemas.openxmlformats.org/officeDocument/2006/relationships/chart" Target="../charts/chart2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31.xml"/><Relationship Id="rId1" Type="http://schemas.openxmlformats.org/officeDocument/2006/relationships/slideLayout" Target="../slideLayouts/slideLayout4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4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43.xml"/></Relationships>
</file>

<file path=ppt/slides/_rels/slide6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38.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3" Type="http://schemas.openxmlformats.org/officeDocument/2006/relationships/hyperlink" Target="https://achilles.sharepoint.com/:x:/r/sites/RackspaceCloudReadinessAssessment/Shared%20Documents/Infrastructure%20and%20DevOps%20Teams/03.%20Project%20Deliverables/3.3.%20Migration%20Portfolio%20Assessment%20(MPA)/Migration%20Services%20Effort%20Model%20-%20Achilles.xlsx?d=w28cf990d8ee64277a6ff5b56883e36b2&amp;csf=1&amp;web=1&amp;e=HHCnkz" TargetMode="External"/><Relationship Id="rId2" Type="http://schemas.openxmlformats.org/officeDocument/2006/relationships/hyperlink" Target="https://achilles.sharepoint.com/:x:/r/sites/RackspaceCloudReadinessAssessment/Shared%20Documents/Infrastructure%20and%20DevOps%20Teams/03.%20Project%20Deliverables/3.3.%20Migration%20Portfolio%20Assessment%20(MPA)/Completed_Achilles%20-%20Data%20Gathering%20workbook.xlsx?d=w5e9ca95ed86c4e06aff96b94d3fe50fa&amp;csf=1&amp;web=1&amp;e=egEuch" TargetMode="Externa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hyperlink" Target="https://achilles.sharepoint.com/:x:/r/sites/RackspaceCloudReadinessAssessment/Shared%20Documents/Infrastructure%20and%20DevOps%20Teams/03.%20Project%20Deliverables/3.3.%20Migration%20Portfolio%20Assessment%20(MPA)/%5BAPP%20NAME%5D%20-%20Application%20Charter%20-%20Questionnaire.xlsx?d=wb4c386defc5f479388cc2fdbf9983f1a&amp;csf=1&amp;web=1&amp;e=midfsZ" TargetMode="External"/><Relationship Id="rId2" Type="http://schemas.openxmlformats.org/officeDocument/2006/relationships/image" Target="../media/image82.png"/><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9.xml"/></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1.xml"/><Relationship Id="rId1" Type="http://schemas.openxmlformats.org/officeDocument/2006/relationships/tags" Target="../tags/tag32.xml"/><Relationship Id="rId5" Type="http://schemas.openxmlformats.org/officeDocument/2006/relationships/image" Target="../media/image84.svg"/><Relationship Id="rId4" Type="http://schemas.openxmlformats.org/officeDocument/2006/relationships/image" Target="../media/image83.png"/></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3" Type="http://schemas.openxmlformats.org/officeDocument/2006/relationships/hyperlink" Target="https://raxglobal.sharepoint.com/:x:/r/sites/ProfessionalServices-UK/Projects/A/Achilles/%5B4572934%20-%20PR-023380%5D%20Cloud%20Readiness%20Assessment/Technical%20Documents/GoSupply/Archive/GoSupply%20Azure%20Security%20Extract%20-%2018%20Dec%202024.xlsx?d=wa06f6b635354465eb4d8f5dade62c98d&amp;csf=1&amp;web=1&amp;e=Ehlnm6" TargetMode="External"/><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50.xml"/><Relationship Id="rId1" Type="http://schemas.openxmlformats.org/officeDocument/2006/relationships/slideLayout" Target="../slideLayouts/slideLayout1.xml"/><Relationship Id="rId4" Type="http://schemas.openxmlformats.org/officeDocument/2006/relationships/image" Target="../media/image86.png"/></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4.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9.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44.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4.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44.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9.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5.xml.rels><?xml version="1.0" encoding="UTF-8" standalone="yes"?>
<Relationships xmlns="http://schemas.openxmlformats.org/package/2006/relationships"><Relationship Id="rId3" Type="http://schemas.openxmlformats.org/officeDocument/2006/relationships/hyperlink" Target="https://azure.status.microsoft/en-us/status/history/" TargetMode="External"/><Relationship Id="rId2" Type="http://schemas.openxmlformats.org/officeDocument/2006/relationships/hyperlink" Target="https://aws.amazon.com/premiumsupport/technology/pes/" TargetMode="External"/><Relationship Id="rId1" Type="http://schemas.openxmlformats.org/officeDocument/2006/relationships/slideLayout" Target="../slideLayouts/slideLayout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8" Type="http://schemas.openxmlformats.org/officeDocument/2006/relationships/image" Target="../media/image92.png"/><Relationship Id="rId3" Type="http://schemas.openxmlformats.org/officeDocument/2006/relationships/image" Target="../media/image87.png"/><Relationship Id="rId7" Type="http://schemas.openxmlformats.org/officeDocument/2006/relationships/image" Target="../media/image91.png"/><Relationship Id="rId2" Type="http://schemas.openxmlformats.org/officeDocument/2006/relationships/notesSlide" Target="../notesSlides/notesSlide69.xml"/><Relationship Id="rId1" Type="http://schemas.openxmlformats.org/officeDocument/2006/relationships/slideLayout" Target="../slideLayouts/slideLayout1.xml"/><Relationship Id="rId6" Type="http://schemas.openxmlformats.org/officeDocument/2006/relationships/image" Target="../media/image90.png"/><Relationship Id="rId5" Type="http://schemas.openxmlformats.org/officeDocument/2006/relationships/image" Target="../media/image89.png"/><Relationship Id="rId4" Type="http://schemas.openxmlformats.org/officeDocument/2006/relationships/image" Target="../media/image88.png"/><Relationship Id="rId9" Type="http://schemas.openxmlformats.org/officeDocument/2006/relationships/image" Target="../media/image93.png"/></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9.xml"/></Relationships>
</file>

<file path=ppt/slides/_rels/slide121.xml.rels><?xml version="1.0" encoding="UTF-8" standalone="yes"?>
<Relationships xmlns="http://schemas.openxmlformats.org/package/2006/relationships"><Relationship Id="rId3" Type="http://schemas.openxmlformats.org/officeDocument/2006/relationships/hyperlink" Target="https://azure.microsoft.com/en-us/solutions/migration/migrate-modernize-innovate" TargetMode="External"/><Relationship Id="rId2" Type="http://schemas.openxmlformats.org/officeDocument/2006/relationships/hyperlink" Target="https://aws.amazon.com/migration-acceleration-program/" TargetMode="Externa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8" Type="http://schemas.openxmlformats.org/officeDocument/2006/relationships/image" Target="../media/image100.png"/><Relationship Id="rId13" Type="http://schemas.openxmlformats.org/officeDocument/2006/relationships/image" Target="../media/image105.png"/><Relationship Id="rId18" Type="http://schemas.openxmlformats.org/officeDocument/2006/relationships/image" Target="../media/image110.png"/><Relationship Id="rId26" Type="http://schemas.openxmlformats.org/officeDocument/2006/relationships/image" Target="../media/image118.png"/><Relationship Id="rId3" Type="http://schemas.openxmlformats.org/officeDocument/2006/relationships/image" Target="../media/image95.png"/><Relationship Id="rId21" Type="http://schemas.openxmlformats.org/officeDocument/2006/relationships/image" Target="../media/image113.png"/><Relationship Id="rId7" Type="http://schemas.openxmlformats.org/officeDocument/2006/relationships/image" Target="../media/image99.png"/><Relationship Id="rId12" Type="http://schemas.openxmlformats.org/officeDocument/2006/relationships/image" Target="../media/image104.png"/><Relationship Id="rId17" Type="http://schemas.openxmlformats.org/officeDocument/2006/relationships/image" Target="../media/image109.png"/><Relationship Id="rId25" Type="http://schemas.openxmlformats.org/officeDocument/2006/relationships/image" Target="../media/image117.png"/><Relationship Id="rId2" Type="http://schemas.openxmlformats.org/officeDocument/2006/relationships/image" Target="../media/image94.png"/><Relationship Id="rId16" Type="http://schemas.openxmlformats.org/officeDocument/2006/relationships/image" Target="../media/image108.png"/><Relationship Id="rId20" Type="http://schemas.openxmlformats.org/officeDocument/2006/relationships/image" Target="../media/image112.png"/><Relationship Id="rId1" Type="http://schemas.openxmlformats.org/officeDocument/2006/relationships/slideLayout" Target="../slideLayouts/slideLayout1.xml"/><Relationship Id="rId6" Type="http://schemas.openxmlformats.org/officeDocument/2006/relationships/image" Target="../media/image98.png"/><Relationship Id="rId11" Type="http://schemas.openxmlformats.org/officeDocument/2006/relationships/image" Target="../media/image103.png"/><Relationship Id="rId24" Type="http://schemas.openxmlformats.org/officeDocument/2006/relationships/image" Target="../media/image116.png"/><Relationship Id="rId5" Type="http://schemas.openxmlformats.org/officeDocument/2006/relationships/image" Target="../media/image97.png"/><Relationship Id="rId15" Type="http://schemas.openxmlformats.org/officeDocument/2006/relationships/image" Target="../media/image107.png"/><Relationship Id="rId23" Type="http://schemas.openxmlformats.org/officeDocument/2006/relationships/image" Target="../media/image115.png"/><Relationship Id="rId28" Type="http://schemas.openxmlformats.org/officeDocument/2006/relationships/image" Target="../media/image120.png"/><Relationship Id="rId10" Type="http://schemas.openxmlformats.org/officeDocument/2006/relationships/image" Target="../media/image102.png"/><Relationship Id="rId19" Type="http://schemas.openxmlformats.org/officeDocument/2006/relationships/image" Target="../media/image111.png"/><Relationship Id="rId4" Type="http://schemas.openxmlformats.org/officeDocument/2006/relationships/image" Target="../media/image96.png"/><Relationship Id="rId9" Type="http://schemas.openxmlformats.org/officeDocument/2006/relationships/image" Target="../media/image101.png"/><Relationship Id="rId14" Type="http://schemas.openxmlformats.org/officeDocument/2006/relationships/image" Target="../media/image106.png"/><Relationship Id="rId22" Type="http://schemas.openxmlformats.org/officeDocument/2006/relationships/image" Target="../media/image114.png"/><Relationship Id="rId27" Type="http://schemas.openxmlformats.org/officeDocument/2006/relationships/image" Target="../media/image119.png"/></Relationships>
</file>

<file path=ppt/slides/_rels/slide123.xml.rels><?xml version="1.0" encoding="UTF-8" standalone="yes"?>
<Relationships xmlns="http://schemas.openxmlformats.org/package/2006/relationships"><Relationship Id="rId3" Type="http://schemas.openxmlformats.org/officeDocument/2006/relationships/image" Target="../media/image122.svg"/><Relationship Id="rId2" Type="http://schemas.openxmlformats.org/officeDocument/2006/relationships/image" Target="../media/image121.png"/><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8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6A52488A-772F-A158-D9F9-3D716FA0E157}"/>
              </a:ext>
            </a:extLst>
          </p:cNvPr>
          <p:cNvSpPr txBox="1">
            <a:spLocks/>
          </p:cNvSpPr>
          <p:nvPr/>
        </p:nvSpPr>
        <p:spPr bwMode="auto">
          <a:xfrm>
            <a:off x="709701" y="8639626"/>
            <a:ext cx="8130819" cy="1472198"/>
          </a:xfrm>
          <a:prstGeom prst="rect">
            <a:avLst/>
          </a:prstGeom>
        </p:spPr>
        <p:txBody>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marL="0" indent="0">
              <a:buNone/>
              <a:defRPr/>
            </a:pPr>
            <a:r>
              <a:rPr lang="en-US" sz="3200" b="1">
                <a:solidFill>
                  <a:schemeClr val="bg1"/>
                </a:solidFill>
                <a:latin typeface="Fira Sans Light" panose="020B0403050000020004" pitchFamily="34" charset="0"/>
              </a:rPr>
              <a:t>Scott Beckford</a:t>
            </a:r>
            <a:endParaRPr lang="en-US" sz="3200">
              <a:solidFill>
                <a:schemeClr val="bg1"/>
              </a:solidFill>
              <a:latin typeface="Fira Sans Light" panose="020B0403050000020004" pitchFamily="34" charset="0"/>
            </a:endParaRPr>
          </a:p>
          <a:p>
            <a:pPr marL="0" indent="0">
              <a:buNone/>
              <a:defRPr/>
            </a:pPr>
            <a:r>
              <a:rPr lang="en-US" sz="3200">
                <a:solidFill>
                  <a:schemeClr val="bg1"/>
                </a:solidFill>
                <a:latin typeface="Fira Sans Light" panose="020B0403050000020004" pitchFamily="34" charset="0"/>
              </a:rPr>
              <a:t>Senior Consulting Cloud Architect</a:t>
            </a:r>
          </a:p>
        </p:txBody>
      </p:sp>
      <p:sp>
        <p:nvSpPr>
          <p:cNvPr id="7" name="Text Placeholder 5">
            <a:extLst>
              <a:ext uri="{FF2B5EF4-FFF2-40B4-BE49-F238E27FC236}">
                <a16:creationId xmlns:a16="http://schemas.microsoft.com/office/drawing/2014/main" id="{C025BC2F-6F2A-8421-D263-916FA05BF815}"/>
              </a:ext>
            </a:extLst>
          </p:cNvPr>
          <p:cNvSpPr txBox="1">
            <a:spLocks/>
          </p:cNvSpPr>
          <p:nvPr/>
        </p:nvSpPr>
        <p:spPr bwMode="auto">
          <a:xfrm>
            <a:off x="709702" y="6760251"/>
            <a:ext cx="7334871" cy="1164421"/>
          </a:xfrm>
          <a:prstGeom prst="rect">
            <a:avLst/>
          </a:prstGeom>
        </p:spPr>
        <p:txBody>
          <a:bodyPr wrap="square" lIns="0" tIns="0" rIns="0" bIns="0">
            <a:spAutoFit/>
          </a:bodyPr>
          <a:lstStyle>
            <a:lvl1pPr marL="0" marR="0" indent="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None/>
              <a:tabLst/>
              <a:defRPr sz="3000" kern="1200">
                <a:solidFill>
                  <a:schemeClr val="bg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0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defRPr/>
            </a:pPr>
            <a:r>
              <a:rPr lang="en-US" sz="3200" b="1" dirty="0">
                <a:latin typeface="Fira Sans Light" panose="020B0403050000020004" pitchFamily="34" charset="0"/>
              </a:rPr>
              <a:t>Executive Summary</a:t>
            </a:r>
          </a:p>
          <a:p>
            <a:pPr>
              <a:defRPr/>
            </a:pPr>
            <a:r>
              <a:rPr lang="en-US" sz="3200" b="1" dirty="0">
                <a:latin typeface="Fira Sans Light" panose="020B0403050000020004" pitchFamily="34" charset="0"/>
              </a:rPr>
              <a:t>April 2026</a:t>
            </a:r>
          </a:p>
        </p:txBody>
      </p:sp>
      <p:sp>
        <p:nvSpPr>
          <p:cNvPr id="8" name="Title 2">
            <a:extLst>
              <a:ext uri="{FF2B5EF4-FFF2-40B4-BE49-F238E27FC236}">
                <a16:creationId xmlns:a16="http://schemas.microsoft.com/office/drawing/2014/main" id="{19B21124-8BEB-7358-0E7A-030BADF717A1}"/>
              </a:ext>
            </a:extLst>
          </p:cNvPr>
          <p:cNvSpPr txBox="1">
            <a:spLocks/>
          </p:cNvSpPr>
          <p:nvPr/>
        </p:nvSpPr>
        <p:spPr>
          <a:xfrm>
            <a:off x="709702" y="4871304"/>
            <a:ext cx="14390042" cy="965970"/>
          </a:xfrm>
          <a:prstGeom prst="rect">
            <a:avLst/>
          </a:prstGeom>
        </p:spPr>
        <p:txBody>
          <a:bodyPr wrap="square" lIns="0" tIns="0" rIns="0" bIns="0" anchor="b" anchorCtr="0">
            <a:spAutoFit/>
          </a:bodyPr>
          <a:lstStyle>
            <a:lvl1pPr algn="l" defTabSz="1828800" rtl="0" eaLnBrk="1" fontAlgn="b" latinLnBrk="0" hangingPunct="1">
              <a:lnSpc>
                <a:spcPct val="112000"/>
              </a:lnSpc>
              <a:spcBef>
                <a:spcPct val="0"/>
              </a:spcBef>
              <a:buNone/>
              <a:defRPr lang="en-US" sz="8000" kern="1200">
                <a:ln w="9525">
                  <a:noFill/>
                </a:ln>
                <a:solidFill>
                  <a:schemeClr val="bg1"/>
                </a:solidFill>
                <a:latin typeface="+mj-lt"/>
                <a:ea typeface="+mj-ea"/>
                <a:cs typeface="+mj-cs"/>
              </a:defRPr>
            </a:lvl1pPr>
          </a:lstStyle>
          <a:p>
            <a:r>
              <a:rPr lang="en-IN" sz="6600" b="1" dirty="0">
                <a:latin typeface="Fira Sans Light" panose="020B0403050000020004" pitchFamily="34" charset="0"/>
              </a:rPr>
              <a:t>Cloud Readiness Assessment – Part 1</a:t>
            </a:r>
          </a:p>
        </p:txBody>
      </p:sp>
      <p:pic>
        <p:nvPicPr>
          <p:cNvPr id="9" name="Picture 4" descr="DMG Media - IAB Europe">
            <a:extLst>
              <a:ext uri="{FF2B5EF4-FFF2-40B4-BE49-F238E27FC236}">
                <a16:creationId xmlns:a16="http://schemas.microsoft.com/office/drawing/2014/main" id="{700D66CA-182B-F0F1-1C12-CBE828762537}"/>
              </a:ext>
            </a:extLst>
          </p:cNvPr>
          <p:cNvPicPr>
            <a:picLocks noChangeAspect="1" noChangeArrowheads="1"/>
          </p:cNvPicPr>
          <p:nvPr/>
        </p:nvPicPr>
        <p:blipFill>
          <a:blip r:embed="rId3">
            <a:alphaModFix/>
            <a:extLst>
              <a:ext uri="{28A0092B-C50C-407E-A947-70E740481C1C}">
                <a14:useLocalDpi xmlns:a14="http://schemas.microsoft.com/office/drawing/2010/main" val="0"/>
              </a:ext>
            </a:extLst>
          </a:blip>
          <a:srcRect t="8496" b="8863"/>
          <a:stretch>
            <a:fillRect/>
          </a:stretch>
        </p:blipFill>
        <p:spPr bwMode="auto">
          <a:xfrm>
            <a:off x="709701" y="1689225"/>
            <a:ext cx="9719469" cy="2259102"/>
          </a:xfrm>
          <a:prstGeom prst="rect">
            <a:avLst/>
          </a:prstGeom>
          <a:solidFill>
            <a:schemeClr val="bg1"/>
          </a:solidFill>
        </p:spPr>
      </p:pic>
    </p:spTree>
    <p:extLst>
      <p:ext uri="{BB962C8B-B14F-4D97-AF65-F5344CB8AC3E}">
        <p14:creationId xmlns:p14="http://schemas.microsoft.com/office/powerpoint/2010/main" val="160731632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05B76263-DCD2-0B78-B135-9C8C642516C8}"/>
              </a:ext>
            </a:extLst>
          </p:cNvPr>
          <p:cNvSpPr>
            <a:spLocks noGrp="1"/>
          </p:cNvSpPr>
          <p:nvPr>
            <p:ph type="body" sz="quarter" idx="16"/>
          </p:nvPr>
        </p:nvSpPr>
        <p:spPr>
          <a:xfrm>
            <a:off x="6122839" y="3715469"/>
            <a:ext cx="11160126" cy="4200146"/>
          </a:xfrm>
        </p:spPr>
        <p:txBody>
          <a:bodyPr anchor="ctr"/>
          <a:lstStyle/>
          <a:p>
            <a:pPr algn="ctr"/>
            <a:r>
              <a:rPr lang="en-GB" b="1">
                <a:latin typeface="Fira Sans Light" panose="020B0403050000020004" pitchFamily="34" charset="0"/>
              </a:rPr>
              <a:t>Executive Summary</a:t>
            </a:r>
          </a:p>
        </p:txBody>
      </p:sp>
    </p:spTree>
    <p:extLst>
      <p:ext uri="{BB962C8B-B14F-4D97-AF65-F5344CB8AC3E}">
        <p14:creationId xmlns:p14="http://schemas.microsoft.com/office/powerpoint/2010/main" val="29970757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366B7A3A-E22F-BC93-FF0A-E19B9F94C275}"/>
              </a:ext>
            </a:extLst>
          </p:cNvPr>
          <p:cNvSpPr>
            <a:spLocks noGrp="1"/>
          </p:cNvSpPr>
          <p:nvPr>
            <p:ph type="title"/>
          </p:nvPr>
        </p:nvSpPr>
        <p:spPr>
          <a:xfrm>
            <a:off x="668992" y="537179"/>
            <a:ext cx="22991108" cy="997837"/>
          </a:xfrm>
        </p:spPr>
        <p:txBody>
          <a:bodyPr/>
          <a:lstStyle/>
          <a:p>
            <a:r>
              <a:rPr lang="de-DE" err="1">
                <a:solidFill>
                  <a:srgbClr val="FF0000"/>
                </a:solidFill>
                <a:latin typeface="Fira Sans Light" panose="020B0403050000020004" pitchFamily="34" charset="0"/>
              </a:rPr>
              <a:t>Objectives</a:t>
            </a:r>
            <a:endParaRPr lang="en-US">
              <a:solidFill>
                <a:srgbClr val="FF0000"/>
              </a:solidFill>
              <a:latin typeface="Fira Sans Light" panose="020B0403050000020004" pitchFamily="34" charset="0"/>
            </a:endParaRPr>
          </a:p>
        </p:txBody>
      </p:sp>
      <p:graphicFrame>
        <p:nvGraphicFramePr>
          <p:cNvPr id="2" name="Table 1">
            <a:extLst>
              <a:ext uri="{FF2B5EF4-FFF2-40B4-BE49-F238E27FC236}">
                <a16:creationId xmlns:a16="http://schemas.microsoft.com/office/drawing/2014/main" id="{897652D1-C334-5768-D881-E2516A5D136A}"/>
              </a:ext>
            </a:extLst>
          </p:cNvPr>
          <p:cNvGraphicFramePr>
            <a:graphicFrameLocks noGrp="1"/>
          </p:cNvGraphicFramePr>
          <p:nvPr>
            <p:extLst>
              <p:ext uri="{D42A27DB-BD31-4B8C-83A1-F6EECF244321}">
                <p14:modId xmlns:p14="http://schemas.microsoft.com/office/powerpoint/2010/main" val="3703089701"/>
              </p:ext>
            </p:extLst>
          </p:nvPr>
        </p:nvGraphicFramePr>
        <p:xfrm>
          <a:off x="798461" y="2205353"/>
          <a:ext cx="22732170" cy="10559864"/>
        </p:xfrm>
        <a:graphic>
          <a:graphicData uri="http://schemas.openxmlformats.org/drawingml/2006/table">
            <a:tbl>
              <a:tblPr firstRow="1">
                <a:tableStyleId>{5C22544A-7EE6-4342-B048-85BDC9FD1C3A}</a:tableStyleId>
              </a:tblPr>
              <a:tblGrid>
                <a:gridCol w="4126032">
                  <a:extLst>
                    <a:ext uri="{9D8B030D-6E8A-4147-A177-3AD203B41FA5}">
                      <a16:colId xmlns:a16="http://schemas.microsoft.com/office/drawing/2014/main" val="1525111598"/>
                    </a:ext>
                  </a:extLst>
                </a:gridCol>
                <a:gridCol w="18606138">
                  <a:extLst>
                    <a:ext uri="{9D8B030D-6E8A-4147-A177-3AD203B41FA5}">
                      <a16:colId xmlns:a16="http://schemas.microsoft.com/office/drawing/2014/main" val="2594363550"/>
                    </a:ext>
                  </a:extLst>
                </a:gridCol>
              </a:tblGrid>
              <a:tr h="946350">
                <a:tc>
                  <a:txBody>
                    <a:bodyPr/>
                    <a:lstStyle/>
                    <a:p>
                      <a:pPr algn="ctr" fontAlgn="ctr"/>
                      <a:r>
                        <a:rPr lang="en-US" sz="4000" b="1" kern="1200">
                          <a:solidFill>
                            <a:schemeClr val="bg2"/>
                          </a:solidFill>
                          <a:latin typeface="Fira Sans" panose="020B0503050000020004" pitchFamily="34" charset="0"/>
                          <a:ea typeface="+mn-ea"/>
                          <a:cs typeface="+mn-cs"/>
                        </a:rPr>
                        <a:t>Category</a:t>
                      </a:r>
                    </a:p>
                  </a:txBody>
                  <a:tcPr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fontAlgn="ctr"/>
                      <a:r>
                        <a:rPr lang="en-US" sz="4000" b="1" kern="1200">
                          <a:solidFill>
                            <a:schemeClr val="bg2"/>
                          </a:solidFill>
                          <a:latin typeface="Fira Sans" panose="020B0503050000020004" pitchFamily="34" charset="0"/>
                          <a:ea typeface="+mn-ea"/>
                          <a:cs typeface="+mn-cs"/>
                        </a:rPr>
                        <a:t>Details</a:t>
                      </a:r>
                    </a:p>
                  </a:txBody>
                  <a:tcPr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1368721">
                <a:tc>
                  <a:txBody>
                    <a:bodyPr/>
                    <a:lstStyle/>
                    <a:p>
                      <a:pPr algn="l" fontAlgn="ctr"/>
                      <a:r>
                        <a:rPr lang="en-US" sz="3200" b="1">
                          <a:latin typeface="Fira Sans" panose="020B0503050000020004" pitchFamily="34" charset="0"/>
                        </a:rPr>
                        <a:t>Purpose</a:t>
                      </a:r>
                    </a:p>
                  </a:txBody>
                  <a:tcPr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US" sz="2400" dirty="0">
                          <a:latin typeface="Fira Sans" panose="020B0503050000020004" pitchFamily="34" charset="0"/>
                        </a:rPr>
                        <a:t>Assess DMG current on-premises and existing cloud environments, determine your overall cloud readiness, and recommend the most suitable public cloud platform (AWS or Azure). </a:t>
                      </a:r>
                      <a:r>
                        <a:rPr lang="en-US" sz="2400">
                          <a:latin typeface="Fira Sans" panose="020B0503050000020004" pitchFamily="34" charset="0"/>
                        </a:rPr>
                        <a:t>Scope </a:t>
                      </a:r>
                      <a:r>
                        <a:rPr lang="en-US" sz="2400" dirty="0">
                          <a:latin typeface="Fira Sans" panose="020B0503050000020004" pitchFamily="34" charset="0"/>
                        </a:rPr>
                        <a:t>includes reviewing infrastructure, applications, licensing, and security practices, as well as defining a high-level migration roadmap.</a:t>
                      </a:r>
                    </a:p>
                  </a:txBody>
                  <a:tcPr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2340309">
                <a:tc>
                  <a:txBody>
                    <a:bodyPr/>
                    <a:lstStyle/>
                    <a:p>
                      <a:pPr algn="l" fontAlgn="ctr"/>
                      <a:r>
                        <a:rPr lang="en-US" sz="3200" b="1">
                          <a:latin typeface="Fira Sans" panose="020B0503050000020004" pitchFamily="34" charset="0"/>
                        </a:rPr>
                        <a:t>Key Drivers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400" b="1">
                          <a:latin typeface="Fira Sans" panose="020B0503050000020004" pitchFamily="34" charset="0"/>
                        </a:rPr>
                        <a:t>Reduce costs </a:t>
                      </a:r>
                      <a:r>
                        <a:rPr lang="en-US" sz="2400">
                          <a:latin typeface="Fira Sans" panose="020B0503050000020004" pitchFamily="34" charset="0"/>
                        </a:rPr>
                        <a:t>- Reduce TCO with pay-as-you-go models.</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400" b="1">
                          <a:latin typeface="Fira Sans" panose="020B0503050000020004" pitchFamily="34" charset="0"/>
                        </a:rPr>
                        <a:t>Control spend </a:t>
                      </a:r>
                      <a:r>
                        <a:rPr lang="en-US" sz="2400">
                          <a:latin typeface="Fira Sans" panose="020B0503050000020004" pitchFamily="34" charset="0"/>
                        </a:rPr>
                        <a:t>- Transparent monthly billing aligned with usage.</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400" b="1">
                          <a:latin typeface="Fira Sans" panose="020B0503050000020004" pitchFamily="34" charset="0"/>
                        </a:rPr>
                        <a:t>Enable growth</a:t>
                      </a:r>
                      <a:r>
                        <a:rPr lang="en-US" sz="2400">
                          <a:latin typeface="Fira Sans" panose="020B0503050000020004" pitchFamily="34" charset="0"/>
                        </a:rPr>
                        <a:t> - Dynamic resource scaling to meet demand.</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400" b="1">
                          <a:latin typeface="Fira Sans" panose="020B0503050000020004" pitchFamily="34" charset="0"/>
                        </a:rPr>
                        <a:t>Improve service levels</a:t>
                      </a:r>
                      <a:r>
                        <a:rPr lang="en-US" sz="2400">
                          <a:latin typeface="Fira Sans" panose="020B0503050000020004" pitchFamily="34" charset="0"/>
                        </a:rPr>
                        <a:t> - Ensure disaster recovery and high availability.</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400" b="1">
                          <a:latin typeface="Fira Sans" panose="020B0503050000020004" pitchFamily="34" charset="0"/>
                        </a:rPr>
                        <a:t>Maintain security &amp; compliance</a:t>
                      </a:r>
                      <a:r>
                        <a:rPr lang="en-US" sz="2400">
                          <a:latin typeface="Fira Sans" panose="020B0503050000020004" pitchFamily="34" charset="0"/>
                        </a:rPr>
                        <a:t> - Meet ISO 27001, SOC 2, and GDPR requirements.</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400" b="1">
                          <a:latin typeface="Fira Sans" panose="020B0503050000020004" pitchFamily="34" charset="0"/>
                        </a:rPr>
                        <a:t>Enable business agility</a:t>
                      </a:r>
                      <a:r>
                        <a:rPr lang="en-US" sz="2400">
                          <a:latin typeface="Fira Sans" panose="020B0503050000020004" pitchFamily="34" charset="0"/>
                        </a:rPr>
                        <a:t> - Faster project delivery with cloud-native tools.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24480699"/>
                  </a:ext>
                </a:extLst>
              </a:tr>
              <a:tr h="1939940">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sz="3200" b="1">
                          <a:latin typeface="Fira Sans" panose="020B0503050000020004" pitchFamily="34" charset="0"/>
                        </a:rPr>
                        <a:t>Selection Criteria</a:t>
                      </a:r>
                    </a:p>
                    <a:p>
                      <a:pPr algn="l" fontAlgn="ctr"/>
                      <a:endParaRPr lang="en-US" sz="3200" b="1">
                        <a:latin typeface="Fira Sans" panose="020B0503050000020004" pitchFamily="34" charset="0"/>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fontAlgn="ctr">
                        <a:buClr>
                          <a:srgbClr val="FF0000"/>
                        </a:buClr>
                        <a:buFont typeface="Arial" panose="020B0604020202020204" pitchFamily="34" charset="0"/>
                        <a:buChar char="•"/>
                      </a:pPr>
                      <a:r>
                        <a:rPr lang="en-GB" sz="2400" b="1">
                          <a:latin typeface="Fira Sans" panose="020B0503050000020004" pitchFamily="34" charset="0"/>
                        </a:rPr>
                        <a:t>Economics</a:t>
                      </a:r>
                      <a:r>
                        <a:rPr lang="en-GB" sz="2400">
                          <a:latin typeface="Fira Sans" panose="020B0503050000020004" pitchFamily="34" charset="0"/>
                        </a:rPr>
                        <a:t> - Total Cost of Ownership (TCO), Infrastructure Costs, Migration Costs, Software Licensing, Credits/Discounts.</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b="1">
                          <a:latin typeface="Fira Sans" panose="020B0503050000020004" pitchFamily="34" charset="0"/>
                        </a:rPr>
                        <a:t>Security &amp; Compliance </a:t>
                      </a:r>
                      <a:r>
                        <a:rPr lang="en-GB" sz="2400">
                          <a:latin typeface="Fira Sans" panose="020B0503050000020004" pitchFamily="34" charset="0"/>
                        </a:rPr>
                        <a:t>- Certifications &amp; Standards, Data Privacy (Sovereignty), Platform Capability, Platform Maturity.  </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b="1">
                          <a:latin typeface="Fira Sans" panose="020B0503050000020004" pitchFamily="34" charset="0"/>
                        </a:rPr>
                        <a:t>Scalability</a:t>
                      </a:r>
                      <a:r>
                        <a:rPr lang="en-GB" sz="2400">
                          <a:latin typeface="Fira Sans" panose="020B0503050000020004" pitchFamily="34" charset="0"/>
                        </a:rPr>
                        <a:t> - Global Reach, Elasticity and Autoscaling, Control and Manageability.</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b="1">
                          <a:latin typeface="Fira Sans" panose="020B0503050000020004" pitchFamily="34" charset="0"/>
                        </a:rPr>
                        <a:t>Reliability</a:t>
                      </a:r>
                      <a:r>
                        <a:rPr lang="en-GB" sz="2400">
                          <a:latin typeface="Fira Sans" panose="020B0503050000020004" pitchFamily="34" charset="0"/>
                        </a:rPr>
                        <a:t> - Service Level Agreements (SLA), Data Durability, Backup and Recovery, Disaster Recovery, Track Record, Control and Manageability.</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b="1">
                          <a:latin typeface="Fira Sans" panose="020B0503050000020004" pitchFamily="34" charset="0"/>
                        </a:rPr>
                        <a:t>Business Agility </a:t>
                      </a:r>
                      <a:r>
                        <a:rPr lang="en-GB" sz="2400">
                          <a:latin typeface="Fira Sans" panose="020B0503050000020004" pitchFamily="34" charset="0"/>
                        </a:rPr>
                        <a:t>- Business Fit and Alignment, Effort to Achieve Readiness, Time To Migrate (TTM), Training and Certification.</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61999477"/>
                  </a:ext>
                </a:extLst>
              </a:tr>
              <a:tr h="1332484">
                <a:tc>
                  <a:txBody>
                    <a:bodyPr/>
                    <a:lstStyle/>
                    <a:p>
                      <a:pPr algn="l" fontAlgn="ctr"/>
                      <a:r>
                        <a:rPr lang="en-US" sz="3200" b="1">
                          <a:latin typeface="Fira Sans" panose="020B0503050000020004" pitchFamily="34" charset="0"/>
                        </a:rPr>
                        <a:t>Challenges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a:latin typeface="Fira Sans" panose="020B0503050000020004" pitchFamily="34" charset="0"/>
                        </a:rPr>
                        <a:t>Limited internal cloud expertise.</a:t>
                      </a:r>
                    </a:p>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a:latin typeface="Fira Sans" panose="020B0503050000020004" pitchFamily="34" charset="0"/>
                        </a:rPr>
                        <a:t>Complexity in Neo4j and Kafka configurations.</a:t>
                      </a:r>
                    </a:p>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a:latin typeface="Fira Sans" panose="020B0503050000020004" pitchFamily="34" charset="0"/>
                        </a:rPr>
                        <a:t>Limited existing cloud infrastructure, no landing zones in place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4383828"/>
                  </a:ext>
                </a:extLst>
              </a:tr>
              <a:tr h="2155488">
                <a:tc>
                  <a:txBody>
                    <a:bodyPr/>
                    <a:lstStyle/>
                    <a:p>
                      <a:pPr algn="l" fontAlgn="ctr"/>
                      <a:r>
                        <a:rPr lang="en-US" sz="3200" b="1">
                          <a:latin typeface="Fira Sans" panose="020B0503050000020004" pitchFamily="34" charset="0"/>
                        </a:rPr>
                        <a:t>Target Outcomes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dirty="0">
                          <a:latin typeface="Fira Sans" panose="020B0503050000020004" pitchFamily="34" charset="0"/>
                        </a:rPr>
                        <a:t>Articulate DMG current cloud readiness and make recommendations to enhance readiness.</a:t>
                      </a:r>
                    </a:p>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dirty="0">
                          <a:latin typeface="Fira Sans" panose="020B0503050000020004" pitchFamily="34" charset="0"/>
                        </a:rPr>
                        <a:t>Articulate DMG requirements and business drivers for migration.</a:t>
                      </a:r>
                    </a:p>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dirty="0">
                          <a:latin typeface="Fira Sans" panose="020B0503050000020004" pitchFamily="34" charset="0"/>
                        </a:rPr>
                        <a:t>Estimate the cost of running DMG infrastructure in the cloud – considering future state.</a:t>
                      </a:r>
                    </a:p>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dirty="0">
                          <a:latin typeface="Fira Sans" panose="020B0503050000020004" pitchFamily="34" charset="0"/>
                        </a:rPr>
                        <a:t>Assess possible future state cloud infrastructure including appropriate security services.</a:t>
                      </a:r>
                    </a:p>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dirty="0">
                          <a:latin typeface="Fira Sans" panose="020B0503050000020004" pitchFamily="34" charset="0"/>
                        </a:rPr>
                        <a:t>Recommend migration approaches on a per-application basis to ensure successful cloud migration. </a:t>
                      </a:r>
                    </a:p>
                    <a:p>
                      <a:pPr marL="171450" marR="0" lvl="0" indent="-171450" algn="l" defTabSz="914400" rtl="0" eaLnBrk="1" fontAlgn="auto" latinLnBrk="0" hangingPunct="1">
                        <a:lnSpc>
                          <a:spcPct val="100000"/>
                        </a:lnSpc>
                        <a:spcBef>
                          <a:spcPts val="0"/>
                        </a:spcBef>
                        <a:spcAft>
                          <a:spcPts val="0"/>
                        </a:spcAft>
                        <a:buClr>
                          <a:srgbClr val="EB0000"/>
                        </a:buClr>
                        <a:buSzTx/>
                        <a:buFont typeface="Arial" panose="020B0604020202020204" pitchFamily="34" charset="0"/>
                        <a:buChar char="•"/>
                        <a:tabLst/>
                        <a:defRPr/>
                      </a:pPr>
                      <a:r>
                        <a:rPr lang="en-US" sz="2400" dirty="0">
                          <a:latin typeface="Fira Sans" panose="020B0503050000020004" pitchFamily="34" charset="0"/>
                        </a:rPr>
                        <a:t>Define appropriate Hyperscaler selection criteria and score AWS and Azure according to DMG current and desired future state.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65424797"/>
                  </a:ext>
                </a:extLst>
              </a:tr>
            </a:tbl>
          </a:graphicData>
        </a:graphic>
      </p:graphicFrame>
    </p:spTree>
    <p:extLst>
      <p:ext uri="{BB962C8B-B14F-4D97-AF65-F5344CB8AC3E}">
        <p14:creationId xmlns:p14="http://schemas.microsoft.com/office/powerpoint/2010/main" val="216900055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40185D-1CCC-A551-2CB2-13DDAE2EF4CE}"/>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03F1BC16-390A-38E4-F1B0-25E6E07B7EA5}"/>
              </a:ext>
            </a:extLst>
          </p:cNvPr>
          <p:cNvSpPr>
            <a:spLocks noGrp="1"/>
          </p:cNvSpPr>
          <p:nvPr>
            <p:ph type="title"/>
          </p:nvPr>
        </p:nvSpPr>
        <p:spPr>
          <a:xfrm>
            <a:off x="668992" y="537179"/>
            <a:ext cx="22991108" cy="997837"/>
          </a:xfrm>
        </p:spPr>
        <p:txBody>
          <a:bodyPr/>
          <a:lstStyle/>
          <a:p>
            <a:r>
              <a:rPr lang="de-DE">
                <a:solidFill>
                  <a:srgbClr val="FF0000"/>
                </a:solidFill>
                <a:latin typeface="Fira Sans Light" panose="020B0403050000020004" pitchFamily="34" charset="0"/>
              </a:rPr>
              <a:t>Executive Summary – Cloud </a:t>
            </a:r>
            <a:r>
              <a:rPr lang="de-DE" err="1">
                <a:solidFill>
                  <a:srgbClr val="FF0000"/>
                </a:solidFill>
                <a:latin typeface="Fira Sans Light" panose="020B0403050000020004" pitchFamily="34" charset="0"/>
              </a:rPr>
              <a:t>Recommendation</a:t>
            </a:r>
            <a:endParaRPr lang="en-US">
              <a:solidFill>
                <a:srgbClr val="FF0000"/>
              </a:solidFill>
              <a:latin typeface="Fira Sans Light" panose="020B0403050000020004" pitchFamily="34" charset="0"/>
            </a:endParaRPr>
          </a:p>
        </p:txBody>
      </p:sp>
      <p:sp>
        <p:nvSpPr>
          <p:cNvPr id="3" name="Text Placeholder 6">
            <a:extLst>
              <a:ext uri="{FF2B5EF4-FFF2-40B4-BE49-F238E27FC236}">
                <a16:creationId xmlns:a16="http://schemas.microsoft.com/office/drawing/2014/main" id="{6F4802F0-CCA0-69CD-77B9-78420B1A752B}"/>
              </a:ext>
            </a:extLst>
          </p:cNvPr>
          <p:cNvSpPr txBox="1">
            <a:spLocks/>
          </p:cNvSpPr>
          <p:nvPr/>
        </p:nvSpPr>
        <p:spPr>
          <a:xfrm>
            <a:off x="668992" y="3125189"/>
            <a:ext cx="6066346" cy="7465622"/>
          </a:xfrm>
          <a:prstGeom prst="rect">
            <a:avLst/>
          </a:prstGeom>
        </p:spPr>
        <p:txBody>
          <a:bodyPr/>
          <a:lstStyle>
            <a:lvl1pPr marL="285750" marR="0" indent="-28575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1pPr>
            <a:lvl2pPr marL="857250" marR="0" indent="-290514"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2pPr>
            <a:lvl3pPr marL="1428750" marR="0" indent="-295276"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3pPr>
            <a:lvl4pPr marL="2000250" marR="0" indent="-300038"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4pPr>
            <a:lvl5pPr marL="2571750" marR="0" indent="-304800" algn="l" defTabSz="1828800" rtl="0" eaLnBrk="1" fontAlgn="t" latinLnBrk="0" hangingPunct="1">
              <a:lnSpc>
                <a:spcPct val="100000"/>
              </a:lnSpc>
              <a:spcBef>
                <a:spcPts val="0"/>
              </a:spcBef>
              <a:spcAft>
                <a:spcPts val="1400"/>
              </a:spcAft>
              <a:buClr>
                <a:srgbClr val="EB0000"/>
              </a:buClr>
              <a:buSzTx/>
              <a:buFont typeface="Arial" panose="020B0604020202020204" pitchFamily="34" charset="0"/>
              <a:buChar char="•"/>
              <a:tabLst/>
              <a:defRPr sz="3600" kern="1200">
                <a:ln>
                  <a:noFill/>
                </a:ln>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r>
              <a:rPr lang="en-GB" sz="2800">
                <a:latin typeface="Fira Sans" panose="020B0503050000020004" pitchFamily="34" charset="0"/>
              </a:rPr>
              <a:t>The weighted scoring shows a preference for:  CLOUD1</a:t>
            </a:r>
          </a:p>
          <a:p>
            <a:r>
              <a:rPr lang="en-GB" sz="2800">
                <a:latin typeface="Fira Sans" panose="020B0503050000020004" pitchFamily="34" charset="0"/>
              </a:rPr>
              <a:t>Scoring was assessed across 5 Strategic Goal Categories specific to DMG requirements</a:t>
            </a:r>
          </a:p>
          <a:p>
            <a:r>
              <a:rPr lang="en-GB" sz="2800">
                <a:latin typeface="Fira Sans" panose="020B0503050000020004" pitchFamily="34" charset="0"/>
              </a:rPr>
              <a:t>Any of the three providers could ably support DMG’s infrastructure, application, security, and business needs.</a:t>
            </a:r>
          </a:p>
          <a:p>
            <a:pPr marL="0" indent="0">
              <a:buNone/>
            </a:pPr>
            <a:endParaRPr lang="en-AE" sz="2800">
              <a:latin typeface="Fira Sans" panose="020B0503050000020004" pitchFamily="34" charset="0"/>
            </a:endParaRPr>
          </a:p>
        </p:txBody>
      </p:sp>
      <p:graphicFrame>
        <p:nvGraphicFramePr>
          <p:cNvPr id="4" name="Table 3">
            <a:extLst>
              <a:ext uri="{FF2B5EF4-FFF2-40B4-BE49-F238E27FC236}">
                <a16:creationId xmlns:a16="http://schemas.microsoft.com/office/drawing/2014/main" id="{FC180D29-24E8-B4BF-A50A-0BC719077741}"/>
              </a:ext>
            </a:extLst>
          </p:cNvPr>
          <p:cNvGraphicFramePr>
            <a:graphicFrameLocks noGrp="1"/>
          </p:cNvGraphicFramePr>
          <p:nvPr>
            <p:extLst>
              <p:ext uri="{D42A27DB-BD31-4B8C-83A1-F6EECF244321}">
                <p14:modId xmlns:p14="http://schemas.microsoft.com/office/powerpoint/2010/main" val="1275304509"/>
              </p:ext>
            </p:extLst>
          </p:nvPr>
        </p:nvGraphicFramePr>
        <p:xfrm>
          <a:off x="7404410" y="2364060"/>
          <a:ext cx="16615316" cy="11324599"/>
        </p:xfrm>
        <a:graphic>
          <a:graphicData uri="http://schemas.openxmlformats.org/drawingml/2006/table">
            <a:tbl>
              <a:tblPr>
                <a:tableStyleId>{5C22544A-7EE6-4342-B048-85BDC9FD1C3A}</a:tableStyleId>
              </a:tblPr>
              <a:tblGrid>
                <a:gridCol w="1525302">
                  <a:extLst>
                    <a:ext uri="{9D8B030D-6E8A-4147-A177-3AD203B41FA5}">
                      <a16:colId xmlns:a16="http://schemas.microsoft.com/office/drawing/2014/main" val="2282472023"/>
                    </a:ext>
                  </a:extLst>
                </a:gridCol>
                <a:gridCol w="826692">
                  <a:extLst>
                    <a:ext uri="{9D8B030D-6E8A-4147-A177-3AD203B41FA5}">
                      <a16:colId xmlns:a16="http://schemas.microsoft.com/office/drawing/2014/main" val="379848008"/>
                    </a:ext>
                  </a:extLst>
                </a:gridCol>
                <a:gridCol w="3737571">
                  <a:extLst>
                    <a:ext uri="{9D8B030D-6E8A-4147-A177-3AD203B41FA5}">
                      <a16:colId xmlns:a16="http://schemas.microsoft.com/office/drawing/2014/main" val="3213714423"/>
                    </a:ext>
                  </a:extLst>
                </a:gridCol>
                <a:gridCol w="1769819">
                  <a:extLst>
                    <a:ext uri="{9D8B030D-6E8A-4147-A177-3AD203B41FA5}">
                      <a16:colId xmlns:a16="http://schemas.microsoft.com/office/drawing/2014/main" val="3691277409"/>
                    </a:ext>
                  </a:extLst>
                </a:gridCol>
                <a:gridCol w="838334">
                  <a:extLst>
                    <a:ext uri="{9D8B030D-6E8A-4147-A177-3AD203B41FA5}">
                      <a16:colId xmlns:a16="http://schemas.microsoft.com/office/drawing/2014/main" val="3972425390"/>
                    </a:ext>
                  </a:extLst>
                </a:gridCol>
                <a:gridCol w="1362292">
                  <a:extLst>
                    <a:ext uri="{9D8B030D-6E8A-4147-A177-3AD203B41FA5}">
                      <a16:colId xmlns:a16="http://schemas.microsoft.com/office/drawing/2014/main" val="4168600528"/>
                    </a:ext>
                  </a:extLst>
                </a:gridCol>
                <a:gridCol w="1269145">
                  <a:extLst>
                    <a:ext uri="{9D8B030D-6E8A-4147-A177-3AD203B41FA5}">
                      <a16:colId xmlns:a16="http://schemas.microsoft.com/office/drawing/2014/main" val="4245416965"/>
                    </a:ext>
                  </a:extLst>
                </a:gridCol>
                <a:gridCol w="1432153">
                  <a:extLst>
                    <a:ext uri="{9D8B030D-6E8A-4147-A177-3AD203B41FA5}">
                      <a16:colId xmlns:a16="http://schemas.microsoft.com/office/drawing/2014/main" val="1109186334"/>
                    </a:ext>
                  </a:extLst>
                </a:gridCol>
                <a:gridCol w="1339007">
                  <a:extLst>
                    <a:ext uri="{9D8B030D-6E8A-4147-A177-3AD203B41FA5}">
                      <a16:colId xmlns:a16="http://schemas.microsoft.com/office/drawing/2014/main" val="2151167017"/>
                    </a:ext>
                  </a:extLst>
                </a:gridCol>
                <a:gridCol w="1304075">
                  <a:extLst>
                    <a:ext uri="{9D8B030D-6E8A-4147-A177-3AD203B41FA5}">
                      <a16:colId xmlns:a16="http://schemas.microsoft.com/office/drawing/2014/main" val="2565411977"/>
                    </a:ext>
                  </a:extLst>
                </a:gridCol>
                <a:gridCol w="1210926">
                  <a:extLst>
                    <a:ext uri="{9D8B030D-6E8A-4147-A177-3AD203B41FA5}">
                      <a16:colId xmlns:a16="http://schemas.microsoft.com/office/drawing/2014/main" val="3163998602"/>
                    </a:ext>
                  </a:extLst>
                </a:gridCol>
              </a:tblGrid>
              <a:tr h="246589">
                <a:tc gridSpan="2">
                  <a:txBody>
                    <a:bodyPr/>
                    <a:lstStyle/>
                    <a:p>
                      <a:pPr algn="ctr" fontAlgn="b">
                        <a:buNone/>
                      </a:pPr>
                      <a:endParaRPr lang="en-DE" sz="1100" b="0" i="0" u="none" strike="noStrike">
                        <a:solidFill>
                          <a:srgbClr val="000000"/>
                        </a:solidFill>
                        <a:effectLst/>
                        <a:latin typeface="Calibri" panose="020F0502020204030204" pitchFamily="34" charset="0"/>
                      </a:endParaRPr>
                    </a:p>
                  </a:txBody>
                  <a:tcPr marL="0" marR="0" marT="0" marB="0" anchor="b"/>
                </a:tc>
                <a:tc hMerge="1">
                  <a:txBody>
                    <a:bodyPr/>
                    <a:lstStyle/>
                    <a:p>
                      <a:endParaRPr lang="en-GB"/>
                    </a:p>
                  </a:txBody>
                  <a:tcPr/>
                </a:tc>
                <a:tc gridSpan="7">
                  <a:txBody>
                    <a:bodyPr/>
                    <a:lstStyle/>
                    <a:p>
                      <a:pPr algn="ctr" fontAlgn="b">
                        <a:buNone/>
                      </a:pPr>
                      <a:r>
                        <a:rPr lang="en-GB" sz="1600" u="none" strike="noStrike">
                          <a:effectLst/>
                        </a:rPr>
                        <a:t>Hyperscaler Decision Matrix</a:t>
                      </a:r>
                      <a:endParaRPr lang="en-GB" sz="1600" b="1" i="0" u="none" strike="noStrike">
                        <a:solidFill>
                          <a:srgbClr val="000000"/>
                        </a:solidFill>
                        <a:effectLst/>
                        <a:latin typeface="Calibri" panose="020F0502020204030204" pitchFamily="34" charset="0"/>
                      </a:endParaRPr>
                    </a:p>
                  </a:txBody>
                  <a:tcPr marL="0" marR="0" marT="0" marB="0" anchor="b"/>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gridSpan="2">
                  <a:txBody>
                    <a:bodyPr/>
                    <a:lstStyle/>
                    <a:p>
                      <a:pPr algn="ctr" fontAlgn="b">
                        <a:buNone/>
                      </a:pPr>
                      <a:endParaRPr lang="en-DE" sz="1100" b="0" i="0" u="none" strike="noStrike">
                        <a:solidFill>
                          <a:srgbClr val="000000"/>
                        </a:solidFill>
                        <a:effectLst/>
                        <a:latin typeface="Calibri" panose="020F0502020204030204" pitchFamily="34" charset="0"/>
                      </a:endParaRPr>
                    </a:p>
                  </a:txBody>
                  <a:tcPr marL="0" marR="0" marT="0" marB="0" anchor="b"/>
                </a:tc>
                <a:tc hMerge="1">
                  <a:txBody>
                    <a:bodyPr/>
                    <a:lstStyle/>
                    <a:p>
                      <a:endParaRPr lang="en-GB"/>
                    </a:p>
                  </a:txBody>
                  <a:tcPr/>
                </a:tc>
                <a:extLst>
                  <a:ext uri="{0D108BD9-81ED-4DB2-BD59-A6C34878D82A}">
                    <a16:rowId xmlns:a16="http://schemas.microsoft.com/office/drawing/2014/main" val="970071282"/>
                  </a:ext>
                </a:extLst>
              </a:tr>
              <a:tr h="265420">
                <a:tc>
                  <a:txBody>
                    <a:bodyPr/>
                    <a:lstStyle/>
                    <a:p>
                      <a:pPr algn="l" fontAlgn="b">
                        <a:buNone/>
                      </a:pPr>
                      <a:r>
                        <a:rPr lang="en-GB" sz="1100" u="none" strike="noStrike">
                          <a:effectLst/>
                        </a:rPr>
                        <a:t>Strategic Goal</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Code</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Value Dial</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Weighting</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ctr" fontAlgn="ctr">
                        <a:buNone/>
                      </a:pPr>
                      <a:r>
                        <a:rPr lang="en-GB" sz="1100" u="none" strike="noStrike">
                          <a:effectLst/>
                        </a:rPr>
                        <a:t>Multiplier</a:t>
                      </a:r>
                      <a:endParaRPr lang="en-GB" sz="1100" b="1" i="0" u="none" strike="noStrike">
                        <a:solidFill>
                          <a:srgbClr val="FFFFFF"/>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AWS Score (1-5)</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AWS Weighted</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Azure Score (1-5)</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Azure Weighted</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GCP Score (1-5)</a:t>
                      </a:r>
                      <a:endParaRPr lang="en-GB" sz="1100" b="1"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GCP Weighted</a:t>
                      </a:r>
                      <a:endParaRPr lang="en-GB" sz="1100" b="1" i="0" u="none" strike="noStrike">
                        <a:solidFill>
                          <a:srgbClr val="FFFFFF"/>
                        </a:solidFill>
                        <a:effectLst/>
                        <a:latin typeface="Calibri" panose="020F0502020204030204" pitchFamily="34" charset="0"/>
                      </a:endParaRPr>
                    </a:p>
                  </a:txBody>
                  <a:tcPr marL="0" marR="0" marT="0" marB="0" anchor="b"/>
                </a:tc>
                <a:extLst>
                  <a:ext uri="{0D108BD9-81ED-4DB2-BD59-A6C34878D82A}">
                    <a16:rowId xmlns:a16="http://schemas.microsoft.com/office/drawing/2014/main" val="3856099551"/>
                  </a:ext>
                </a:extLst>
              </a:tr>
              <a:tr h="265420">
                <a:tc rowSpan="5">
                  <a:txBody>
                    <a:bodyPr/>
                    <a:lstStyle/>
                    <a:p>
                      <a:pPr algn="ctr" fontAlgn="ctr">
                        <a:buNone/>
                      </a:pPr>
                      <a:r>
                        <a:rPr lang="en-GB" sz="1100" u="none" strike="noStrike">
                          <a:effectLst/>
                        </a:rPr>
                        <a:t>Uptime</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UPT-1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Service Level Agreements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Very High Importance</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5</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r" fontAlgn="b">
                        <a:buNone/>
                      </a:pPr>
                      <a:r>
                        <a:rPr lang="en-DE" sz="1100" u="none" strike="noStrike">
                          <a:effectLst/>
                        </a:rPr>
                        <a:t>4</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20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4</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20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5</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25</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112623658"/>
                  </a:ext>
                </a:extLst>
              </a:tr>
              <a:tr h="156310">
                <a:tc vMerge="1">
                  <a:txBody>
                    <a:bodyPr/>
                    <a:lstStyle/>
                    <a:p>
                      <a:endParaRPr lang="en-GB"/>
                    </a:p>
                  </a:txBody>
                  <a:tcPr/>
                </a:tc>
                <a:tc>
                  <a:txBody>
                    <a:bodyPr/>
                    <a:lstStyle/>
                    <a:p>
                      <a:pPr algn="l" fontAlgn="b">
                        <a:buNone/>
                      </a:pPr>
                      <a:r>
                        <a:rPr lang="en-GB" sz="1100" u="none" strike="noStrike">
                          <a:effectLst/>
                        </a:rPr>
                        <a:t>UPT-2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Service Credit Requirements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818699626"/>
                  </a:ext>
                </a:extLst>
              </a:tr>
              <a:tr h="156310">
                <a:tc vMerge="1">
                  <a:txBody>
                    <a:bodyPr/>
                    <a:lstStyle/>
                    <a:p>
                      <a:endParaRPr lang="en-GB"/>
                    </a:p>
                  </a:txBody>
                  <a:tcPr/>
                </a:tc>
                <a:tc>
                  <a:txBody>
                    <a:bodyPr/>
                    <a:lstStyle/>
                    <a:p>
                      <a:pPr algn="l" fontAlgn="b">
                        <a:buNone/>
                      </a:pPr>
                      <a:r>
                        <a:rPr lang="en-GB" sz="1100" u="none" strike="noStrike">
                          <a:effectLst/>
                        </a:rPr>
                        <a:t>UPT-3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Multi-Region Resilience</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877673329"/>
                  </a:ext>
                </a:extLst>
              </a:tr>
              <a:tr h="265420">
                <a:tc vMerge="1">
                  <a:txBody>
                    <a:bodyPr/>
                    <a:lstStyle/>
                    <a:p>
                      <a:endParaRPr lang="en-GB"/>
                    </a:p>
                  </a:txBody>
                  <a:tcPr/>
                </a:tc>
                <a:tc>
                  <a:txBody>
                    <a:bodyPr/>
                    <a:lstStyle/>
                    <a:p>
                      <a:pPr algn="l" fontAlgn="b">
                        <a:buNone/>
                      </a:pPr>
                      <a:r>
                        <a:rPr lang="en-GB" sz="1100" u="none" strike="noStrike">
                          <a:effectLst/>
                        </a:rPr>
                        <a:t>UPT-4</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Planned Maintenance Transparency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079807748"/>
                  </a:ext>
                </a:extLst>
              </a:tr>
              <a:tr h="156310">
                <a:tc vMerge="1">
                  <a:txBody>
                    <a:bodyPr/>
                    <a:lstStyle/>
                    <a:p>
                      <a:endParaRPr lang="en-GB"/>
                    </a:p>
                  </a:txBody>
                  <a:tcPr/>
                </a:tc>
                <a:tc>
                  <a:txBody>
                    <a:bodyPr/>
                    <a:lstStyle/>
                    <a:p>
                      <a:pPr algn="l" fontAlgn="b">
                        <a:buNone/>
                      </a:pPr>
                      <a:r>
                        <a:rPr lang="en-GB" sz="1100" u="none" strike="noStrike">
                          <a:effectLst/>
                        </a:rPr>
                        <a:t>UPT-5</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Dependency Resilience</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175356265"/>
                  </a:ext>
                </a:extLst>
              </a:tr>
              <a:tr h="229086">
                <a:tc rowSpan="3">
                  <a:txBody>
                    <a:bodyPr/>
                    <a:lstStyle/>
                    <a:p>
                      <a:pPr algn="ctr" fontAlgn="ctr">
                        <a:buNone/>
                      </a:pPr>
                      <a:r>
                        <a:rPr lang="en-GB" sz="1100" u="none" strike="noStrike">
                          <a:effectLst/>
                        </a:rPr>
                        <a:t>Reliability</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REL-1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Data Durability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725797179"/>
                  </a:ext>
                </a:extLst>
              </a:tr>
              <a:tr h="229086">
                <a:tc vMerge="1">
                  <a:txBody>
                    <a:bodyPr/>
                    <a:lstStyle/>
                    <a:p>
                      <a:endParaRPr lang="en-GB"/>
                    </a:p>
                  </a:txBody>
                  <a:tcPr/>
                </a:tc>
                <a:tc>
                  <a:txBody>
                    <a:bodyPr/>
                    <a:lstStyle/>
                    <a:p>
                      <a:pPr algn="l" fontAlgn="b">
                        <a:buNone/>
                      </a:pPr>
                      <a:r>
                        <a:rPr lang="en-GB" sz="1100" u="none" strike="noStrike">
                          <a:effectLst/>
                        </a:rPr>
                        <a:t>REL-2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Backup and Recovery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689181976"/>
                  </a:ext>
                </a:extLst>
              </a:tr>
              <a:tr h="156310">
                <a:tc vMerge="1">
                  <a:txBody>
                    <a:bodyPr/>
                    <a:lstStyle/>
                    <a:p>
                      <a:endParaRPr lang="en-GB"/>
                    </a:p>
                  </a:txBody>
                  <a:tcPr/>
                </a:tc>
                <a:tc>
                  <a:txBody>
                    <a:bodyPr/>
                    <a:lstStyle/>
                    <a:p>
                      <a:pPr algn="l" fontAlgn="b">
                        <a:buNone/>
                      </a:pPr>
                      <a:r>
                        <a:rPr lang="en-GB" sz="1100" u="none" strike="noStrike">
                          <a:effectLst/>
                        </a:rPr>
                        <a:t>REL-3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Historical Service Stability Record</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695527928"/>
                  </a:ext>
                </a:extLst>
              </a:tr>
              <a:tr h="156310">
                <a:tc rowSpan="4">
                  <a:txBody>
                    <a:bodyPr/>
                    <a:lstStyle/>
                    <a:p>
                      <a:pPr algn="ctr" fontAlgn="ctr">
                        <a:buNone/>
                      </a:pPr>
                      <a:r>
                        <a:rPr lang="en-GB" sz="1100" u="none" strike="noStrike">
                          <a:effectLst/>
                        </a:rPr>
                        <a:t>Scalability</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SCL-1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Elastic Demand Variability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212314706"/>
                  </a:ext>
                </a:extLst>
              </a:tr>
              <a:tr h="156310">
                <a:tc vMerge="1">
                  <a:txBody>
                    <a:bodyPr/>
                    <a:lstStyle/>
                    <a:p>
                      <a:endParaRPr lang="en-GB"/>
                    </a:p>
                  </a:txBody>
                  <a:tcPr/>
                </a:tc>
                <a:tc>
                  <a:txBody>
                    <a:bodyPr/>
                    <a:lstStyle/>
                    <a:p>
                      <a:pPr algn="l" fontAlgn="b">
                        <a:buNone/>
                      </a:pPr>
                      <a:r>
                        <a:rPr lang="en-GB" sz="1100" u="none" strike="noStrike">
                          <a:effectLst/>
                        </a:rPr>
                        <a:t>SCL-2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Global Expansion Readiness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934431454"/>
                  </a:ext>
                </a:extLst>
              </a:tr>
              <a:tr h="156310">
                <a:tc vMerge="1">
                  <a:txBody>
                    <a:bodyPr/>
                    <a:lstStyle/>
                    <a:p>
                      <a:endParaRPr lang="en-GB"/>
                    </a:p>
                  </a:txBody>
                  <a:tcPr/>
                </a:tc>
                <a:tc>
                  <a:txBody>
                    <a:bodyPr/>
                    <a:lstStyle/>
                    <a:p>
                      <a:pPr algn="l" fontAlgn="b">
                        <a:buNone/>
                      </a:pPr>
                      <a:r>
                        <a:rPr lang="en-GB" sz="1100" u="none" strike="noStrike">
                          <a:effectLst/>
                        </a:rPr>
                        <a:t>SCL-3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Data Scale Growth Curve</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677035544"/>
                  </a:ext>
                </a:extLst>
              </a:tr>
              <a:tr h="156310">
                <a:tc vMerge="1">
                  <a:txBody>
                    <a:bodyPr/>
                    <a:lstStyle/>
                    <a:p>
                      <a:endParaRPr lang="en-GB"/>
                    </a:p>
                  </a:txBody>
                  <a:tcPr/>
                </a:tc>
                <a:tc>
                  <a:txBody>
                    <a:bodyPr/>
                    <a:lstStyle/>
                    <a:p>
                      <a:pPr algn="l" fontAlgn="b">
                        <a:buNone/>
                      </a:pPr>
                      <a:r>
                        <a:rPr lang="en-GB" sz="1100" u="none" strike="noStrike">
                          <a:effectLst/>
                        </a:rPr>
                        <a:t>SCL-4</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Platform Service Limits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670442597"/>
                  </a:ext>
                </a:extLst>
              </a:tr>
              <a:tr h="229086">
                <a:tc rowSpan="5">
                  <a:txBody>
                    <a:bodyPr/>
                    <a:lstStyle/>
                    <a:p>
                      <a:pPr algn="ctr" fontAlgn="ctr">
                        <a:buNone/>
                      </a:pPr>
                      <a:r>
                        <a:rPr lang="en-GB" sz="1100" u="none" strike="noStrike">
                          <a:effectLst/>
                        </a:rPr>
                        <a:t>Security</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SEC-1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Regulatory Compliance Alignment</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328018413"/>
                  </a:ext>
                </a:extLst>
              </a:tr>
              <a:tr h="156310">
                <a:tc vMerge="1">
                  <a:txBody>
                    <a:bodyPr/>
                    <a:lstStyle/>
                    <a:p>
                      <a:endParaRPr lang="en-GB"/>
                    </a:p>
                  </a:txBody>
                  <a:tcPr/>
                </a:tc>
                <a:tc>
                  <a:txBody>
                    <a:bodyPr/>
                    <a:lstStyle/>
                    <a:p>
                      <a:pPr algn="l" fontAlgn="b">
                        <a:buNone/>
                      </a:pPr>
                      <a:r>
                        <a:rPr lang="en-GB" sz="1100" u="none" strike="noStrike">
                          <a:effectLst/>
                        </a:rPr>
                        <a:t>SEC-2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Identity &amp; Access Maturity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579646866"/>
                  </a:ext>
                </a:extLst>
              </a:tr>
              <a:tr h="156310">
                <a:tc vMerge="1">
                  <a:txBody>
                    <a:bodyPr/>
                    <a:lstStyle/>
                    <a:p>
                      <a:endParaRPr lang="en-GB"/>
                    </a:p>
                  </a:txBody>
                  <a:tcPr/>
                </a:tc>
                <a:tc>
                  <a:txBody>
                    <a:bodyPr/>
                    <a:lstStyle/>
                    <a:p>
                      <a:pPr algn="l" fontAlgn="b">
                        <a:buNone/>
                      </a:pPr>
                      <a:r>
                        <a:rPr lang="en-GB" sz="1100" u="none" strike="noStrike">
                          <a:effectLst/>
                        </a:rPr>
                        <a:t>SEC-3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Encryption &amp; Key Sovereignty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221155274"/>
                  </a:ext>
                </a:extLst>
              </a:tr>
              <a:tr h="265420">
                <a:tc vMerge="1">
                  <a:txBody>
                    <a:bodyPr/>
                    <a:lstStyle/>
                    <a:p>
                      <a:endParaRPr lang="en-GB"/>
                    </a:p>
                  </a:txBody>
                  <a:tcPr/>
                </a:tc>
                <a:tc>
                  <a:txBody>
                    <a:bodyPr/>
                    <a:lstStyle/>
                    <a:p>
                      <a:pPr algn="l" fontAlgn="b">
                        <a:buNone/>
                      </a:pPr>
                      <a:r>
                        <a:rPr lang="en-GB" sz="1100" u="none" strike="noStrike">
                          <a:effectLst/>
                        </a:rPr>
                        <a:t>SEC-4</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Threat Detection &amp; SOC Integration</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256864186"/>
                  </a:ext>
                </a:extLst>
              </a:tr>
              <a:tr h="229086">
                <a:tc vMerge="1">
                  <a:txBody>
                    <a:bodyPr/>
                    <a:lstStyle/>
                    <a:p>
                      <a:endParaRPr lang="en-GB"/>
                    </a:p>
                  </a:txBody>
                  <a:tcPr/>
                </a:tc>
                <a:tc>
                  <a:txBody>
                    <a:bodyPr/>
                    <a:lstStyle/>
                    <a:p>
                      <a:pPr algn="l" fontAlgn="b">
                        <a:buNone/>
                      </a:pPr>
                      <a:r>
                        <a:rPr lang="en-GB" sz="1100" u="none" strike="noStrike">
                          <a:effectLst/>
                        </a:rPr>
                        <a:t>SEC-5</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Provider Security Capability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627727568"/>
                  </a:ext>
                </a:extLst>
              </a:tr>
              <a:tr h="265420">
                <a:tc rowSpan="4">
                  <a:txBody>
                    <a:bodyPr/>
                    <a:lstStyle/>
                    <a:p>
                      <a:pPr algn="ctr" fontAlgn="ctr">
                        <a:buNone/>
                      </a:pPr>
                      <a:r>
                        <a:rPr lang="en-GB" sz="1100" u="none" strike="noStrike">
                          <a:effectLst/>
                        </a:rPr>
                        <a:t>Performance</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PERF-1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Latency Sensitivity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347615845"/>
                  </a:ext>
                </a:extLst>
              </a:tr>
              <a:tr h="265420">
                <a:tc vMerge="1">
                  <a:txBody>
                    <a:bodyPr/>
                    <a:lstStyle/>
                    <a:p>
                      <a:endParaRPr lang="en-GB"/>
                    </a:p>
                  </a:txBody>
                  <a:tcPr/>
                </a:tc>
                <a:tc>
                  <a:txBody>
                    <a:bodyPr/>
                    <a:lstStyle/>
                    <a:p>
                      <a:pPr algn="l" fontAlgn="b">
                        <a:buNone/>
                      </a:pPr>
                      <a:r>
                        <a:rPr lang="en-GB" sz="1100" u="none" strike="noStrike">
                          <a:effectLst/>
                        </a:rPr>
                        <a:t>PERF-2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HPC / Specialized Compute</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075033492"/>
                  </a:ext>
                </a:extLst>
              </a:tr>
              <a:tr h="265420">
                <a:tc vMerge="1">
                  <a:txBody>
                    <a:bodyPr/>
                    <a:lstStyle/>
                    <a:p>
                      <a:endParaRPr lang="en-GB"/>
                    </a:p>
                  </a:txBody>
                  <a:tcPr/>
                </a:tc>
                <a:tc>
                  <a:txBody>
                    <a:bodyPr/>
                    <a:lstStyle/>
                    <a:p>
                      <a:pPr algn="l" fontAlgn="b">
                        <a:buNone/>
                      </a:pPr>
                      <a:r>
                        <a:rPr lang="en-GB" sz="1100" u="none" strike="noStrike">
                          <a:effectLst/>
                        </a:rPr>
                        <a:t>PERF-3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Storage Throughput</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160104385"/>
                  </a:ext>
                </a:extLst>
              </a:tr>
              <a:tr h="265420">
                <a:tc vMerge="1">
                  <a:txBody>
                    <a:bodyPr/>
                    <a:lstStyle/>
                    <a:p>
                      <a:endParaRPr lang="en-GB"/>
                    </a:p>
                  </a:txBody>
                  <a:tcPr/>
                </a:tc>
                <a:tc>
                  <a:txBody>
                    <a:bodyPr/>
                    <a:lstStyle/>
                    <a:p>
                      <a:pPr algn="l" fontAlgn="b">
                        <a:buNone/>
                      </a:pPr>
                      <a:r>
                        <a:rPr lang="en-GB" sz="1100" u="none" strike="noStrike">
                          <a:effectLst/>
                        </a:rPr>
                        <a:t>PERF-4</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Network Backbone Quality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832950968"/>
                  </a:ext>
                </a:extLst>
              </a:tr>
              <a:tr h="156310">
                <a:tc rowSpan="4">
                  <a:txBody>
                    <a:bodyPr/>
                    <a:lstStyle/>
                    <a:p>
                      <a:pPr algn="ctr" fontAlgn="ctr">
                        <a:buNone/>
                      </a:pPr>
                      <a:r>
                        <a:rPr lang="en-GB" sz="1100" u="none" strike="noStrike">
                          <a:effectLst/>
                        </a:rPr>
                        <a:t>Business Analytics</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BA-1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Native Data Platform Integration</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09873106"/>
                  </a:ext>
                </a:extLst>
              </a:tr>
              <a:tr h="156310">
                <a:tc vMerge="1">
                  <a:txBody>
                    <a:bodyPr/>
                    <a:lstStyle/>
                    <a:p>
                      <a:endParaRPr lang="en-GB"/>
                    </a:p>
                  </a:txBody>
                  <a:tcPr/>
                </a:tc>
                <a:tc>
                  <a:txBody>
                    <a:bodyPr/>
                    <a:lstStyle/>
                    <a:p>
                      <a:pPr algn="l" fontAlgn="b">
                        <a:buNone/>
                      </a:pPr>
                      <a:r>
                        <a:rPr lang="en-GB" sz="1100" u="none" strike="noStrike">
                          <a:effectLst/>
                        </a:rPr>
                        <a:t>BA-2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AI/ML Service Maturity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496110425"/>
                  </a:ext>
                </a:extLst>
              </a:tr>
              <a:tr h="156310">
                <a:tc vMerge="1">
                  <a:txBody>
                    <a:bodyPr/>
                    <a:lstStyle/>
                    <a:p>
                      <a:endParaRPr lang="en-GB"/>
                    </a:p>
                  </a:txBody>
                  <a:tcPr/>
                </a:tc>
                <a:tc>
                  <a:txBody>
                    <a:bodyPr/>
                    <a:lstStyle/>
                    <a:p>
                      <a:pPr algn="l" fontAlgn="b">
                        <a:buNone/>
                      </a:pPr>
                      <a:r>
                        <a:rPr lang="en-GB" sz="1100" u="none" strike="noStrike">
                          <a:effectLst/>
                        </a:rPr>
                        <a:t>BA-3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Real-Time Analytics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02292329"/>
                  </a:ext>
                </a:extLst>
              </a:tr>
              <a:tr h="156310">
                <a:tc vMerge="1">
                  <a:txBody>
                    <a:bodyPr/>
                    <a:lstStyle/>
                    <a:p>
                      <a:endParaRPr lang="en-GB"/>
                    </a:p>
                  </a:txBody>
                  <a:tcPr/>
                </a:tc>
                <a:tc>
                  <a:txBody>
                    <a:bodyPr/>
                    <a:lstStyle/>
                    <a:p>
                      <a:pPr algn="l" fontAlgn="b">
                        <a:buNone/>
                      </a:pPr>
                      <a:r>
                        <a:rPr lang="en-GB" sz="1100" u="none" strike="noStrike">
                          <a:effectLst/>
                        </a:rPr>
                        <a:t>BA-4</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Data Governance Tooling</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04819485"/>
                  </a:ext>
                </a:extLst>
              </a:tr>
              <a:tr h="156310">
                <a:tc rowSpan="3">
                  <a:txBody>
                    <a:bodyPr/>
                    <a:lstStyle/>
                    <a:p>
                      <a:pPr algn="ctr" fontAlgn="ctr">
                        <a:buNone/>
                      </a:pPr>
                      <a:r>
                        <a:rPr lang="en-GB" sz="1100" u="none" strike="noStrike">
                          <a:effectLst/>
                        </a:rPr>
                        <a:t>Transparency</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TRN-1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Roadmap Visibility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994687739"/>
                  </a:ext>
                </a:extLst>
              </a:tr>
              <a:tr h="156310">
                <a:tc vMerge="1">
                  <a:txBody>
                    <a:bodyPr/>
                    <a:lstStyle/>
                    <a:p>
                      <a:endParaRPr lang="en-GB"/>
                    </a:p>
                  </a:txBody>
                  <a:tcPr/>
                </a:tc>
                <a:tc>
                  <a:txBody>
                    <a:bodyPr/>
                    <a:lstStyle/>
                    <a:p>
                      <a:pPr algn="l" fontAlgn="b">
                        <a:buNone/>
                      </a:pPr>
                      <a:r>
                        <a:rPr lang="en-GB" sz="1100" u="none" strike="noStrike">
                          <a:effectLst/>
                        </a:rPr>
                        <a:t>TRN-2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Incident Reporting Detail</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819774545"/>
                  </a:ext>
                </a:extLst>
              </a:tr>
              <a:tr h="156310">
                <a:tc vMerge="1">
                  <a:txBody>
                    <a:bodyPr/>
                    <a:lstStyle/>
                    <a:p>
                      <a:endParaRPr lang="en-GB"/>
                    </a:p>
                  </a:txBody>
                  <a:tcPr/>
                </a:tc>
                <a:tc>
                  <a:txBody>
                    <a:bodyPr/>
                    <a:lstStyle/>
                    <a:p>
                      <a:pPr algn="l" fontAlgn="b">
                        <a:buNone/>
                      </a:pPr>
                      <a:r>
                        <a:rPr lang="en-GB" sz="1100" u="none" strike="noStrike">
                          <a:effectLst/>
                        </a:rPr>
                        <a:t>TRN-3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Billing Granularity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03114373"/>
                  </a:ext>
                </a:extLst>
              </a:tr>
              <a:tr h="156310">
                <a:tc rowSpan="6">
                  <a:txBody>
                    <a:bodyPr/>
                    <a:lstStyle/>
                    <a:p>
                      <a:pPr algn="ctr" fontAlgn="ctr">
                        <a:buNone/>
                      </a:pPr>
                      <a:r>
                        <a:rPr lang="en-GB" sz="1100" u="none" strike="noStrike">
                          <a:effectLst/>
                        </a:rPr>
                        <a:t>Cost</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CST-1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TCO</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884962607"/>
                  </a:ext>
                </a:extLst>
              </a:tr>
              <a:tr h="156310">
                <a:tc vMerge="1">
                  <a:txBody>
                    <a:bodyPr/>
                    <a:lstStyle/>
                    <a:p>
                      <a:endParaRPr lang="en-GB"/>
                    </a:p>
                  </a:txBody>
                  <a:tcPr/>
                </a:tc>
                <a:tc>
                  <a:txBody>
                    <a:bodyPr/>
                    <a:lstStyle/>
                    <a:p>
                      <a:pPr algn="l" fontAlgn="b">
                        <a:buNone/>
                      </a:pPr>
                      <a:r>
                        <a:rPr lang="en-GB" sz="1100" u="none" strike="noStrike">
                          <a:effectLst/>
                        </a:rPr>
                        <a:t>CST-2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Predictability vs Elasticity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705338685"/>
                  </a:ext>
                </a:extLst>
              </a:tr>
              <a:tr h="156310">
                <a:tc vMerge="1">
                  <a:txBody>
                    <a:bodyPr/>
                    <a:lstStyle/>
                    <a:p>
                      <a:endParaRPr lang="en-GB"/>
                    </a:p>
                  </a:txBody>
                  <a:tcPr/>
                </a:tc>
                <a:tc>
                  <a:txBody>
                    <a:bodyPr/>
                    <a:lstStyle/>
                    <a:p>
                      <a:pPr algn="l" fontAlgn="b">
                        <a:buNone/>
                      </a:pPr>
                      <a:r>
                        <a:rPr lang="en-GB" sz="1100" u="none" strike="noStrike">
                          <a:effectLst/>
                        </a:rPr>
                        <a:t>CST-3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Egress Sensitivity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974561896"/>
                  </a:ext>
                </a:extLst>
              </a:tr>
              <a:tr h="156310">
                <a:tc vMerge="1">
                  <a:txBody>
                    <a:bodyPr/>
                    <a:lstStyle/>
                    <a:p>
                      <a:endParaRPr lang="en-GB"/>
                    </a:p>
                  </a:txBody>
                  <a:tcPr/>
                </a:tc>
                <a:tc>
                  <a:txBody>
                    <a:bodyPr/>
                    <a:lstStyle/>
                    <a:p>
                      <a:pPr algn="l" fontAlgn="b">
                        <a:buNone/>
                      </a:pPr>
                      <a:r>
                        <a:rPr lang="en-GB" sz="1100" u="none" strike="noStrike">
                          <a:effectLst/>
                        </a:rPr>
                        <a:t>CST-4</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Discount Programs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784402087"/>
                  </a:ext>
                </a:extLst>
              </a:tr>
              <a:tr h="229086">
                <a:tc vMerge="1">
                  <a:txBody>
                    <a:bodyPr/>
                    <a:lstStyle/>
                    <a:p>
                      <a:endParaRPr lang="en-GB"/>
                    </a:p>
                  </a:txBody>
                  <a:tcPr/>
                </a:tc>
                <a:tc>
                  <a:txBody>
                    <a:bodyPr/>
                    <a:lstStyle/>
                    <a:p>
                      <a:pPr algn="l" fontAlgn="b">
                        <a:buNone/>
                      </a:pPr>
                      <a:r>
                        <a:rPr lang="en-GB" sz="1100" u="none" strike="noStrike">
                          <a:effectLst/>
                        </a:rPr>
                        <a:t>CST-5</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Migration Costs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018981131"/>
                  </a:ext>
                </a:extLst>
              </a:tr>
              <a:tr h="156310">
                <a:tc vMerge="1">
                  <a:txBody>
                    <a:bodyPr/>
                    <a:lstStyle/>
                    <a:p>
                      <a:endParaRPr lang="en-GB"/>
                    </a:p>
                  </a:txBody>
                  <a:tcPr/>
                </a:tc>
                <a:tc>
                  <a:txBody>
                    <a:bodyPr/>
                    <a:lstStyle/>
                    <a:p>
                      <a:pPr algn="l" fontAlgn="b">
                        <a:buNone/>
                      </a:pPr>
                      <a:r>
                        <a:rPr lang="en-GB" sz="1100" u="none" strike="noStrike">
                          <a:effectLst/>
                        </a:rPr>
                        <a:t>CST-6</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FinOps Tooling</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729723531"/>
                  </a:ext>
                </a:extLst>
              </a:tr>
              <a:tr h="156310">
                <a:tc rowSpan="3">
                  <a:txBody>
                    <a:bodyPr/>
                    <a:lstStyle/>
                    <a:p>
                      <a:pPr algn="ctr" fontAlgn="ctr">
                        <a:buNone/>
                      </a:pPr>
                      <a:r>
                        <a:rPr lang="en-GB" sz="1100" u="none" strike="noStrike">
                          <a:effectLst/>
                        </a:rPr>
                        <a:t>Sovereignty</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SOV-1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Data Residency Requirements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207594099"/>
                  </a:ext>
                </a:extLst>
              </a:tr>
              <a:tr h="156310">
                <a:tc vMerge="1">
                  <a:txBody>
                    <a:bodyPr/>
                    <a:lstStyle/>
                    <a:p>
                      <a:endParaRPr lang="en-GB"/>
                    </a:p>
                  </a:txBody>
                  <a:tcPr/>
                </a:tc>
                <a:tc>
                  <a:txBody>
                    <a:bodyPr/>
                    <a:lstStyle/>
                    <a:p>
                      <a:pPr algn="l" fontAlgn="b">
                        <a:buNone/>
                      </a:pPr>
                      <a:r>
                        <a:rPr lang="en-GB" sz="1100" u="none" strike="noStrike">
                          <a:effectLst/>
                        </a:rPr>
                        <a:t>SOV-2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Operational Sovereignty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097558761"/>
                  </a:ext>
                </a:extLst>
              </a:tr>
              <a:tr h="156310">
                <a:tc vMerge="1">
                  <a:txBody>
                    <a:bodyPr/>
                    <a:lstStyle/>
                    <a:p>
                      <a:endParaRPr lang="en-GB"/>
                    </a:p>
                  </a:txBody>
                  <a:tcPr/>
                </a:tc>
                <a:tc>
                  <a:txBody>
                    <a:bodyPr/>
                    <a:lstStyle/>
                    <a:p>
                      <a:pPr algn="l" fontAlgn="b">
                        <a:buNone/>
                      </a:pPr>
                      <a:r>
                        <a:rPr lang="en-GB" sz="1100" u="none" strike="noStrike">
                          <a:effectLst/>
                        </a:rPr>
                        <a:t>SOV-3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Legal Jurisdiction Exposure</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735753311"/>
                  </a:ext>
                </a:extLst>
              </a:tr>
              <a:tr h="156310">
                <a:tc rowSpan="9">
                  <a:txBody>
                    <a:bodyPr/>
                    <a:lstStyle/>
                    <a:p>
                      <a:pPr algn="ctr" fontAlgn="ctr">
                        <a:buNone/>
                      </a:pPr>
                      <a:r>
                        <a:rPr lang="en-GB" sz="1100" u="none" strike="noStrike">
                          <a:effectLst/>
                        </a:rPr>
                        <a:t>Business Fit</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FIT-1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Existing Ecosystem Alignment</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013971461"/>
                  </a:ext>
                </a:extLst>
              </a:tr>
              <a:tr h="156310">
                <a:tc vMerge="1">
                  <a:txBody>
                    <a:bodyPr/>
                    <a:lstStyle/>
                    <a:p>
                      <a:endParaRPr lang="en-GB"/>
                    </a:p>
                  </a:txBody>
                  <a:tcPr/>
                </a:tc>
                <a:tc>
                  <a:txBody>
                    <a:bodyPr/>
                    <a:lstStyle/>
                    <a:p>
                      <a:pPr algn="l" fontAlgn="b">
                        <a:buNone/>
                      </a:pPr>
                      <a:r>
                        <a:rPr lang="en-GB" sz="1100" u="none" strike="noStrike">
                          <a:effectLst/>
                        </a:rPr>
                        <a:t>FIT-2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Toolchain Alignment</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903555157"/>
                  </a:ext>
                </a:extLst>
              </a:tr>
              <a:tr h="156310">
                <a:tc vMerge="1">
                  <a:txBody>
                    <a:bodyPr/>
                    <a:lstStyle/>
                    <a:p>
                      <a:endParaRPr lang="en-GB"/>
                    </a:p>
                  </a:txBody>
                  <a:tcPr/>
                </a:tc>
                <a:tc>
                  <a:txBody>
                    <a:bodyPr/>
                    <a:lstStyle/>
                    <a:p>
                      <a:pPr algn="l" fontAlgn="b">
                        <a:buNone/>
                      </a:pPr>
                      <a:r>
                        <a:rPr lang="en-GB" sz="1100" u="none" strike="noStrike">
                          <a:effectLst/>
                        </a:rPr>
                        <a:t>FIT-3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3rd Party Integration</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012650830"/>
                  </a:ext>
                </a:extLst>
              </a:tr>
              <a:tr h="156310">
                <a:tc vMerge="1">
                  <a:txBody>
                    <a:bodyPr/>
                    <a:lstStyle/>
                    <a:p>
                      <a:endParaRPr lang="en-GB"/>
                    </a:p>
                  </a:txBody>
                  <a:tcPr/>
                </a:tc>
                <a:tc>
                  <a:txBody>
                    <a:bodyPr/>
                    <a:lstStyle/>
                    <a:p>
                      <a:pPr algn="l" fontAlgn="b">
                        <a:buNone/>
                      </a:pPr>
                      <a:r>
                        <a:rPr lang="en-GB" sz="1100" u="none" strike="noStrike">
                          <a:effectLst/>
                        </a:rPr>
                        <a:t>FIT-4</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Industry Regulatory Maturity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902508725"/>
                  </a:ext>
                </a:extLst>
              </a:tr>
              <a:tr h="156310">
                <a:tc vMerge="1">
                  <a:txBody>
                    <a:bodyPr/>
                    <a:lstStyle/>
                    <a:p>
                      <a:endParaRPr lang="en-GB"/>
                    </a:p>
                  </a:txBody>
                  <a:tcPr/>
                </a:tc>
                <a:tc>
                  <a:txBody>
                    <a:bodyPr/>
                    <a:lstStyle/>
                    <a:p>
                      <a:pPr algn="l" fontAlgn="b">
                        <a:buNone/>
                      </a:pPr>
                      <a:r>
                        <a:rPr lang="en-GB" sz="1100" u="none" strike="noStrike">
                          <a:effectLst/>
                        </a:rPr>
                        <a:t>FIT-5</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Partner &amp; Talent Availability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528983263"/>
                  </a:ext>
                </a:extLst>
              </a:tr>
              <a:tr h="265420">
                <a:tc vMerge="1">
                  <a:txBody>
                    <a:bodyPr/>
                    <a:lstStyle/>
                    <a:p>
                      <a:endParaRPr lang="en-GB"/>
                    </a:p>
                  </a:txBody>
                  <a:tcPr/>
                </a:tc>
                <a:tc>
                  <a:txBody>
                    <a:bodyPr/>
                    <a:lstStyle/>
                    <a:p>
                      <a:pPr algn="l" fontAlgn="b">
                        <a:buNone/>
                      </a:pPr>
                      <a:r>
                        <a:rPr lang="en-GB" sz="1100" u="none" strike="noStrike">
                          <a:effectLst/>
                        </a:rPr>
                        <a:t>FIT-6</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Executive Relationship &amp; Strategic Alignment</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251838146"/>
                  </a:ext>
                </a:extLst>
              </a:tr>
              <a:tr h="156310">
                <a:tc vMerge="1">
                  <a:txBody>
                    <a:bodyPr/>
                    <a:lstStyle/>
                    <a:p>
                      <a:endParaRPr lang="en-GB"/>
                    </a:p>
                  </a:txBody>
                  <a:tcPr/>
                </a:tc>
                <a:tc>
                  <a:txBody>
                    <a:bodyPr/>
                    <a:lstStyle/>
                    <a:p>
                      <a:pPr algn="l" fontAlgn="b">
                        <a:buNone/>
                      </a:pPr>
                      <a:r>
                        <a:rPr lang="en-GB" sz="1100" u="none" strike="noStrike">
                          <a:effectLst/>
                        </a:rPr>
                        <a:t>FIT-7</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Organizational Skill Alignment</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955308988"/>
                  </a:ext>
                </a:extLst>
              </a:tr>
              <a:tr h="156310">
                <a:tc vMerge="1">
                  <a:txBody>
                    <a:bodyPr/>
                    <a:lstStyle/>
                    <a:p>
                      <a:endParaRPr lang="en-GB"/>
                    </a:p>
                  </a:txBody>
                  <a:tcPr/>
                </a:tc>
                <a:tc>
                  <a:txBody>
                    <a:bodyPr/>
                    <a:lstStyle/>
                    <a:p>
                      <a:pPr algn="l" fontAlgn="b">
                        <a:buNone/>
                      </a:pPr>
                      <a:r>
                        <a:rPr lang="en-GB" sz="1100" u="none" strike="noStrike">
                          <a:effectLst/>
                        </a:rPr>
                        <a:t>FIT-8</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Day 0,1,2 Operations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54760672"/>
                  </a:ext>
                </a:extLst>
              </a:tr>
              <a:tr h="156310">
                <a:tc vMerge="1">
                  <a:txBody>
                    <a:bodyPr/>
                    <a:lstStyle/>
                    <a:p>
                      <a:endParaRPr lang="en-GB"/>
                    </a:p>
                  </a:txBody>
                  <a:tcPr/>
                </a:tc>
                <a:tc>
                  <a:txBody>
                    <a:bodyPr/>
                    <a:lstStyle/>
                    <a:p>
                      <a:pPr algn="l" fontAlgn="b">
                        <a:buNone/>
                      </a:pPr>
                      <a:r>
                        <a:rPr lang="en-GB" sz="1100" u="none" strike="noStrike">
                          <a:effectLst/>
                        </a:rPr>
                        <a:t>FIT-9</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Target Operating Model</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478560374"/>
                  </a:ext>
                </a:extLst>
              </a:tr>
              <a:tr h="156310">
                <a:tc rowSpan="3">
                  <a:txBody>
                    <a:bodyPr/>
                    <a:lstStyle/>
                    <a:p>
                      <a:pPr algn="ctr" fontAlgn="ctr">
                        <a:buNone/>
                      </a:pPr>
                      <a:r>
                        <a:rPr lang="en-GB" sz="1100" u="none" strike="noStrike">
                          <a:effectLst/>
                        </a:rPr>
                        <a:t>Sustainability</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SUS-1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Carbon Neutral Commitments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13801082"/>
                  </a:ext>
                </a:extLst>
              </a:tr>
              <a:tr h="156310">
                <a:tc vMerge="1">
                  <a:txBody>
                    <a:bodyPr/>
                    <a:lstStyle/>
                    <a:p>
                      <a:endParaRPr lang="en-GB"/>
                    </a:p>
                  </a:txBody>
                  <a:tcPr/>
                </a:tc>
                <a:tc>
                  <a:txBody>
                    <a:bodyPr/>
                    <a:lstStyle/>
                    <a:p>
                      <a:pPr algn="l" fontAlgn="b">
                        <a:buNone/>
                      </a:pPr>
                      <a:r>
                        <a:rPr lang="en-GB" sz="1100" u="none" strike="noStrike">
                          <a:effectLst/>
                        </a:rPr>
                        <a:t>SUS-2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Energy Transparency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213250047"/>
                  </a:ext>
                </a:extLst>
              </a:tr>
              <a:tr h="156310">
                <a:tc vMerge="1">
                  <a:txBody>
                    <a:bodyPr/>
                    <a:lstStyle/>
                    <a:p>
                      <a:endParaRPr lang="en-GB"/>
                    </a:p>
                  </a:txBody>
                  <a:tcPr/>
                </a:tc>
                <a:tc>
                  <a:txBody>
                    <a:bodyPr/>
                    <a:lstStyle/>
                    <a:p>
                      <a:pPr algn="l" fontAlgn="b">
                        <a:buNone/>
                      </a:pPr>
                      <a:r>
                        <a:rPr lang="en-GB" sz="1100" u="none" strike="noStrike">
                          <a:effectLst/>
                        </a:rPr>
                        <a:t>SUS-3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Renewable Energy Sourcing</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501514911"/>
                  </a:ext>
                </a:extLst>
              </a:tr>
              <a:tr h="156310">
                <a:tc rowSpan="3">
                  <a:txBody>
                    <a:bodyPr/>
                    <a:lstStyle/>
                    <a:p>
                      <a:pPr algn="ctr" fontAlgn="ctr">
                        <a:buNone/>
                      </a:pPr>
                      <a:r>
                        <a:rPr lang="en-GB" sz="1100" u="none" strike="noStrike">
                          <a:effectLst/>
                        </a:rPr>
                        <a:t>Licensing</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LIC-1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BYOL Flexibility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667267650"/>
                  </a:ext>
                </a:extLst>
              </a:tr>
              <a:tr h="156310">
                <a:tc vMerge="1">
                  <a:txBody>
                    <a:bodyPr/>
                    <a:lstStyle/>
                    <a:p>
                      <a:endParaRPr lang="en-GB"/>
                    </a:p>
                  </a:txBody>
                  <a:tcPr/>
                </a:tc>
                <a:tc>
                  <a:txBody>
                    <a:bodyPr/>
                    <a:lstStyle/>
                    <a:p>
                      <a:pPr algn="l" fontAlgn="b">
                        <a:buNone/>
                      </a:pPr>
                      <a:r>
                        <a:rPr lang="en-GB" sz="1100" u="none" strike="noStrike">
                          <a:effectLst/>
                        </a:rPr>
                        <a:t>LIC-2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Hybrid Licensing Benefits</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191876372"/>
                  </a:ext>
                </a:extLst>
              </a:tr>
              <a:tr h="156310">
                <a:tc vMerge="1">
                  <a:txBody>
                    <a:bodyPr/>
                    <a:lstStyle/>
                    <a:p>
                      <a:endParaRPr lang="en-GB"/>
                    </a:p>
                  </a:txBody>
                  <a:tcPr/>
                </a:tc>
                <a:tc>
                  <a:txBody>
                    <a:bodyPr/>
                    <a:lstStyle/>
                    <a:p>
                      <a:pPr algn="l" fontAlgn="b">
                        <a:buNone/>
                      </a:pPr>
                      <a:r>
                        <a:rPr lang="en-GB" sz="1100" u="none" strike="noStrike">
                          <a:effectLst/>
                        </a:rPr>
                        <a:t>LIC-3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Marketplace Procurement</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177319777"/>
                  </a:ext>
                </a:extLst>
              </a:tr>
              <a:tr h="156310">
                <a:tc rowSpan="5">
                  <a:txBody>
                    <a:bodyPr/>
                    <a:lstStyle/>
                    <a:p>
                      <a:pPr algn="ctr" fontAlgn="ctr">
                        <a:buNone/>
                      </a:pPr>
                      <a:r>
                        <a:rPr lang="en-GB" sz="1100" u="none" strike="noStrike">
                          <a:effectLst/>
                        </a:rPr>
                        <a:t>Velocity</a:t>
                      </a:r>
                      <a:endParaRPr lang="en-GB" sz="1100" b="0" i="0" u="none" strike="noStrike">
                        <a:solidFill>
                          <a:srgbClr val="FF0000"/>
                        </a:solidFill>
                        <a:effectLst/>
                        <a:latin typeface="Calibri" panose="020F0502020204030204" pitchFamily="34" charset="0"/>
                      </a:endParaRPr>
                    </a:p>
                  </a:txBody>
                  <a:tcPr marL="0" marR="0" marT="0" marB="0" anchor="ctr"/>
                </a:tc>
                <a:tc>
                  <a:txBody>
                    <a:bodyPr/>
                    <a:lstStyle/>
                    <a:p>
                      <a:pPr algn="l" fontAlgn="b">
                        <a:buNone/>
                      </a:pPr>
                      <a:r>
                        <a:rPr lang="en-GB" sz="1100" u="none" strike="noStrike">
                          <a:effectLst/>
                        </a:rPr>
                        <a:t>VEL-1</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DevOps Toolchain Integration</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975682842"/>
                  </a:ext>
                </a:extLst>
              </a:tr>
              <a:tr h="156310">
                <a:tc vMerge="1">
                  <a:txBody>
                    <a:bodyPr/>
                    <a:lstStyle/>
                    <a:p>
                      <a:endParaRPr lang="en-GB"/>
                    </a:p>
                  </a:txBody>
                  <a:tcPr/>
                </a:tc>
                <a:tc>
                  <a:txBody>
                    <a:bodyPr/>
                    <a:lstStyle/>
                    <a:p>
                      <a:pPr algn="l" fontAlgn="b">
                        <a:buNone/>
                      </a:pPr>
                      <a:r>
                        <a:rPr lang="en-GB" sz="1100" u="none" strike="noStrike">
                          <a:effectLst/>
                        </a:rPr>
                        <a:t>VEL-2</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Infrastructure as Code Maturity</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095504899"/>
                  </a:ext>
                </a:extLst>
              </a:tr>
              <a:tr h="156310">
                <a:tc vMerge="1">
                  <a:txBody>
                    <a:bodyPr/>
                    <a:lstStyle/>
                    <a:p>
                      <a:endParaRPr lang="en-GB"/>
                    </a:p>
                  </a:txBody>
                  <a:tcPr/>
                </a:tc>
                <a:tc>
                  <a:txBody>
                    <a:bodyPr/>
                    <a:lstStyle/>
                    <a:p>
                      <a:pPr algn="l" fontAlgn="b">
                        <a:buNone/>
                      </a:pPr>
                      <a:r>
                        <a:rPr lang="en-GB" sz="1100" u="none" strike="noStrike">
                          <a:effectLst/>
                        </a:rPr>
                        <a:t>VEL-3</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Managed Service Abstraction</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2332298714"/>
                  </a:ext>
                </a:extLst>
              </a:tr>
              <a:tr h="156310">
                <a:tc vMerge="1">
                  <a:txBody>
                    <a:bodyPr/>
                    <a:lstStyle/>
                    <a:p>
                      <a:endParaRPr lang="en-GB"/>
                    </a:p>
                  </a:txBody>
                  <a:tcPr/>
                </a:tc>
                <a:tc>
                  <a:txBody>
                    <a:bodyPr/>
                    <a:lstStyle/>
                    <a:p>
                      <a:pPr algn="l" fontAlgn="b">
                        <a:buNone/>
                      </a:pPr>
                      <a:r>
                        <a:rPr lang="en-GB" sz="1100" u="none" strike="noStrike">
                          <a:effectLst/>
                        </a:rPr>
                        <a:t>VEL-4</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Time-to-Prototype</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1442216800"/>
                  </a:ext>
                </a:extLst>
              </a:tr>
              <a:tr h="156310">
                <a:tc vMerge="1">
                  <a:txBody>
                    <a:bodyPr/>
                    <a:lstStyle/>
                    <a:p>
                      <a:endParaRPr lang="en-GB"/>
                    </a:p>
                  </a:txBody>
                  <a:tcPr/>
                </a:tc>
                <a:tc>
                  <a:txBody>
                    <a:bodyPr/>
                    <a:lstStyle/>
                    <a:p>
                      <a:pPr algn="l" fontAlgn="b">
                        <a:buNone/>
                      </a:pPr>
                      <a:r>
                        <a:rPr lang="en-GB" sz="1100" u="none" strike="noStrike">
                          <a:effectLst/>
                        </a:rPr>
                        <a:t>VEL-5</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AI Tooling Integration</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GB" sz="1100" u="none" strike="noStrike">
                          <a:effectLst/>
                        </a:rPr>
                        <a:t>TBC</a:t>
                      </a:r>
                      <a:endParaRPr lang="en-GB" sz="1100" b="0" i="0" u="none" strike="noStrike">
                        <a:solidFill>
                          <a:srgbClr val="000000"/>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000000"/>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0</a:t>
                      </a:r>
                      <a:endParaRPr lang="en-DE" sz="1100" b="0"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4230270759"/>
                  </a:ext>
                </a:extLst>
              </a:tr>
              <a:tr h="156310">
                <a:tc>
                  <a:txBody>
                    <a:bodyPr/>
                    <a:lstStyle/>
                    <a:p>
                      <a:pPr algn="l" fontAlgn="b">
                        <a:buNone/>
                      </a:pPr>
                      <a:r>
                        <a:rPr lang="en-GB" sz="1100" u="none" strike="noStrike">
                          <a:effectLst/>
                        </a:rPr>
                        <a:t>TOTAL</a:t>
                      </a:r>
                      <a:endParaRPr lang="en-GB" sz="1100" b="0"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FFFFFF"/>
                        </a:solidFill>
                        <a:effectLst/>
                        <a:latin typeface="Calibri" panose="020F0502020204030204" pitchFamily="34" charset="0"/>
                      </a:endParaRPr>
                    </a:p>
                  </a:txBody>
                  <a:tcPr marL="0" marR="0" marT="0" marB="0" anchor="b"/>
                </a:tc>
                <a:tc>
                  <a:txBody>
                    <a:bodyPr/>
                    <a:lstStyle/>
                    <a:p>
                      <a:pPr algn="ctr" fontAlgn="ctr">
                        <a:buNone/>
                      </a:pPr>
                      <a:r>
                        <a:rPr lang="en-DE" sz="1100" u="none" strike="noStrike">
                          <a:effectLst/>
                        </a:rPr>
                        <a:t> </a:t>
                      </a:r>
                      <a:endParaRPr lang="en-DE" sz="1100" b="0" i="0" u="none" strike="noStrike">
                        <a:solidFill>
                          <a:srgbClr val="FFFFFF"/>
                        </a:solidFill>
                        <a:effectLst/>
                        <a:latin typeface="Calibri" panose="020F0502020204030204" pitchFamily="34" charset="0"/>
                      </a:endParaRPr>
                    </a:p>
                  </a:txBody>
                  <a:tcPr marL="0" marR="0" marT="0" marB="0" anchor="ctr"/>
                </a:tc>
                <a:tc>
                  <a:txBody>
                    <a:bodyPr/>
                    <a:lstStyle/>
                    <a:p>
                      <a:pPr algn="l" fontAlgn="b">
                        <a:buNone/>
                      </a:pPr>
                      <a:r>
                        <a:rPr lang="en-DE" sz="1100" u="none" strike="noStrike">
                          <a:effectLst/>
                        </a:rPr>
                        <a:t> </a:t>
                      </a:r>
                      <a:endParaRPr lang="en-DE" sz="1100" b="0" i="0" u="none" strike="noStrike">
                        <a:solidFill>
                          <a:srgbClr val="FFFFFF"/>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20</a:t>
                      </a:r>
                      <a:endParaRPr lang="en-DE" sz="1100" b="0"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FFFFFF"/>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20</a:t>
                      </a:r>
                      <a:endParaRPr lang="en-DE" sz="1100" b="0" i="0" u="none" strike="noStrike">
                        <a:solidFill>
                          <a:srgbClr val="FFFFFF"/>
                        </a:solidFill>
                        <a:effectLst/>
                        <a:latin typeface="Calibri" panose="020F0502020204030204" pitchFamily="34" charset="0"/>
                      </a:endParaRPr>
                    </a:p>
                  </a:txBody>
                  <a:tcPr marL="0" marR="0" marT="0" marB="0" anchor="b"/>
                </a:tc>
                <a:tc>
                  <a:txBody>
                    <a:bodyPr/>
                    <a:lstStyle/>
                    <a:p>
                      <a:pPr algn="l" fontAlgn="b">
                        <a:buNone/>
                      </a:pPr>
                      <a:r>
                        <a:rPr lang="en-DE" sz="1100" u="none" strike="noStrike">
                          <a:effectLst/>
                        </a:rPr>
                        <a:t> </a:t>
                      </a:r>
                      <a:endParaRPr lang="en-DE" sz="1100" b="0" i="0" u="none" strike="noStrike">
                        <a:solidFill>
                          <a:srgbClr val="FFFFFF"/>
                        </a:solidFill>
                        <a:effectLst/>
                        <a:latin typeface="Calibri" panose="020F0502020204030204" pitchFamily="34" charset="0"/>
                      </a:endParaRPr>
                    </a:p>
                  </a:txBody>
                  <a:tcPr marL="0" marR="0" marT="0" marB="0" anchor="b"/>
                </a:tc>
                <a:tc>
                  <a:txBody>
                    <a:bodyPr/>
                    <a:lstStyle/>
                    <a:p>
                      <a:pPr algn="r" fontAlgn="b">
                        <a:buNone/>
                      </a:pPr>
                      <a:r>
                        <a:rPr lang="en-DE" sz="1100" u="none" strike="noStrike">
                          <a:effectLst/>
                        </a:rPr>
                        <a:t>25</a:t>
                      </a:r>
                      <a:endParaRPr lang="en-DE" sz="1100" b="0" i="0" u="none" strike="noStrike">
                        <a:solidFill>
                          <a:srgbClr val="FFFFFF"/>
                        </a:solidFill>
                        <a:effectLst/>
                        <a:latin typeface="Calibri" panose="020F0502020204030204" pitchFamily="34" charset="0"/>
                      </a:endParaRPr>
                    </a:p>
                  </a:txBody>
                  <a:tcPr marL="0" marR="0" marT="0" marB="0" anchor="b"/>
                </a:tc>
                <a:extLst>
                  <a:ext uri="{0D108BD9-81ED-4DB2-BD59-A6C34878D82A}">
                    <a16:rowId xmlns:a16="http://schemas.microsoft.com/office/drawing/2014/main" val="1536428755"/>
                  </a:ext>
                </a:extLst>
              </a:tr>
            </a:tbl>
          </a:graphicData>
        </a:graphic>
      </p:graphicFrame>
    </p:spTree>
    <p:extLst>
      <p:ext uri="{BB962C8B-B14F-4D97-AF65-F5344CB8AC3E}">
        <p14:creationId xmlns:p14="http://schemas.microsoft.com/office/powerpoint/2010/main" val="126141669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5C2EC1-358B-A9BB-145A-D92CA9A171A9}"/>
            </a:ext>
          </a:extLst>
        </p:cNvPr>
        <p:cNvGrpSpPr/>
        <p:nvPr/>
      </p:nvGrpSpPr>
      <p:grpSpPr>
        <a:xfrm>
          <a:off x="0" y="0"/>
          <a:ext cx="0" cy="0"/>
          <a:chOff x="0" y="0"/>
          <a:chExt cx="0" cy="0"/>
        </a:xfrm>
      </p:grpSpPr>
      <p:graphicFrame>
        <p:nvGraphicFramePr>
          <p:cNvPr id="3" name="Table 2">
            <a:extLst>
              <a:ext uri="{FF2B5EF4-FFF2-40B4-BE49-F238E27FC236}">
                <a16:creationId xmlns:a16="http://schemas.microsoft.com/office/drawing/2014/main" id="{23A0C3C3-4941-FE44-A012-E7D5AFD44E26}"/>
              </a:ext>
            </a:extLst>
          </p:cNvPr>
          <p:cNvGraphicFramePr>
            <a:graphicFrameLocks noGrp="1"/>
          </p:cNvGraphicFramePr>
          <p:nvPr>
            <p:extLst>
              <p:ext uri="{D42A27DB-BD31-4B8C-83A1-F6EECF244321}">
                <p14:modId xmlns:p14="http://schemas.microsoft.com/office/powerpoint/2010/main" val="3927108208"/>
              </p:ext>
            </p:extLst>
          </p:nvPr>
        </p:nvGraphicFramePr>
        <p:xfrm>
          <a:off x="668992" y="2475572"/>
          <a:ext cx="23328431" cy="10147610"/>
        </p:xfrm>
        <a:graphic>
          <a:graphicData uri="http://schemas.openxmlformats.org/drawingml/2006/table">
            <a:tbl>
              <a:tblPr firstRow="1">
                <a:tableStyleId>{5C22544A-7EE6-4342-B048-85BDC9FD1C3A}</a:tableStyleId>
              </a:tblPr>
              <a:tblGrid>
                <a:gridCol w="3063242">
                  <a:extLst>
                    <a:ext uri="{9D8B030D-6E8A-4147-A177-3AD203B41FA5}">
                      <a16:colId xmlns:a16="http://schemas.microsoft.com/office/drawing/2014/main" val="1525111598"/>
                    </a:ext>
                  </a:extLst>
                </a:gridCol>
                <a:gridCol w="20265189">
                  <a:extLst>
                    <a:ext uri="{9D8B030D-6E8A-4147-A177-3AD203B41FA5}">
                      <a16:colId xmlns:a16="http://schemas.microsoft.com/office/drawing/2014/main" val="2594363550"/>
                    </a:ext>
                  </a:extLst>
                </a:gridCol>
              </a:tblGrid>
              <a:tr h="919203">
                <a:tc>
                  <a:txBody>
                    <a:bodyPr/>
                    <a:lstStyle/>
                    <a:p>
                      <a:pPr algn="ctr" fontAlgn="ctr"/>
                      <a:r>
                        <a:rPr lang="en-US" sz="2400" b="1" kern="1200">
                          <a:solidFill>
                            <a:schemeClr val="bg2"/>
                          </a:solidFill>
                          <a:latin typeface="Fira Sans" panose="020B0503050000020004" pitchFamily="34" charset="0"/>
                          <a:ea typeface="+mn-ea"/>
                          <a:cs typeface="+mn-cs"/>
                        </a:rPr>
                        <a:t>Category</a:t>
                      </a:r>
                    </a:p>
                  </a:txBody>
                  <a:tcPr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solidFill>
                  </a:tcPr>
                </a:tc>
                <a:tc>
                  <a:txBody>
                    <a:bodyPr/>
                    <a:lstStyle/>
                    <a:p>
                      <a:pPr algn="ctr" fontAlgn="ctr"/>
                      <a:r>
                        <a:rPr lang="en-US" sz="2400" b="1" kern="1200">
                          <a:solidFill>
                            <a:schemeClr val="bg2"/>
                          </a:solidFill>
                          <a:latin typeface="Fira Sans" panose="020B0503050000020004" pitchFamily="34" charset="0"/>
                          <a:ea typeface="+mn-ea"/>
                          <a:cs typeface="+mn-cs"/>
                        </a:rPr>
                        <a:t>Details</a:t>
                      </a:r>
                    </a:p>
                  </a:txBody>
                  <a:tcPr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solidFill>
                  </a:tcPr>
                </a:tc>
                <a:extLst>
                  <a:ext uri="{0D108BD9-81ED-4DB2-BD59-A6C34878D82A}">
                    <a16:rowId xmlns:a16="http://schemas.microsoft.com/office/drawing/2014/main" val="632218190"/>
                  </a:ext>
                </a:extLst>
              </a:tr>
              <a:tr h="2631048">
                <a:tc>
                  <a:txBody>
                    <a:bodyPr/>
                    <a:lstStyle/>
                    <a:p>
                      <a:pPr algn="l" fontAlgn="ctr"/>
                      <a:r>
                        <a:rPr lang="en-US" sz="2400" b="1" kern="1200">
                          <a:solidFill>
                            <a:schemeClr val="dk1"/>
                          </a:solidFill>
                          <a:latin typeface="Fira Sans" panose="020B0503050000020004" pitchFamily="34" charset="0"/>
                          <a:ea typeface="+mn-ea"/>
                          <a:cs typeface="+mn-cs"/>
                        </a:rPr>
                        <a:t>Findings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b="0">
                          <a:solidFill>
                            <a:schemeClr val="tx1"/>
                          </a:solidFill>
                          <a:latin typeface="Fira Sans" panose="020B0503050000020004" pitchFamily="34" charset="0"/>
                        </a:rPr>
                        <a:t>Assessed 2 datacentres (Prod/Staging and Dev/Test/QA) and existing AWS and Azure footprint. </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b="0">
                          <a:solidFill>
                            <a:schemeClr val="tx1"/>
                          </a:solidFill>
                          <a:latin typeface="Fira Sans" panose="020B0503050000020004" pitchFamily="34" charset="0"/>
                        </a:rPr>
                        <a:t>From 182 Virtual Servers initially discovered in the DMG datacentres (DCC/LPC) and </a:t>
                      </a:r>
                      <a:r>
                        <a:rPr lang="en-GB" sz="2400" b="0" err="1">
                          <a:solidFill>
                            <a:schemeClr val="tx1"/>
                          </a:solidFill>
                          <a:latin typeface="Fira Sans" panose="020B0503050000020004" pitchFamily="34" charset="0"/>
                        </a:rPr>
                        <a:t>GoSupply</a:t>
                      </a:r>
                      <a:r>
                        <a:rPr lang="en-GB" sz="2400" b="0">
                          <a:solidFill>
                            <a:schemeClr val="tx1"/>
                          </a:solidFill>
                          <a:latin typeface="Fira Sans" panose="020B0503050000020004" pitchFamily="34" charset="0"/>
                        </a:rPr>
                        <a:t>, agreed 158 Virtual Servers in scope for migration with relatively even split between Windows &amp; Linux.</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b="0">
                          <a:solidFill>
                            <a:schemeClr val="tx1"/>
                          </a:solidFill>
                          <a:latin typeface="Fira Sans" panose="020B0503050000020004" pitchFamily="34" charset="0"/>
                        </a:rPr>
                        <a:t>From 32 applications discovered agreed 29 in scope for migration - DMG as priority app will be a greenfield migration approach while non-prod and less critical systems will be image migrations. </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b="0">
                          <a:solidFill>
                            <a:schemeClr val="tx1"/>
                          </a:solidFill>
                          <a:latin typeface="Fira Sans" panose="020B0503050000020004" pitchFamily="34" charset="0"/>
                        </a:rPr>
                        <a:t>Identified key areas for cloud-maturity building including training, cloud-centre of excellence and exploiting cloud-native tooling.</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97852513"/>
                  </a:ext>
                </a:extLst>
              </a:tr>
              <a:tr h="4180199">
                <a:tc>
                  <a:txBody>
                    <a:bodyPr/>
                    <a:lstStyle/>
                    <a:p>
                      <a:pPr algn="l" fontAlgn="ctr"/>
                      <a:r>
                        <a:rPr lang="en-US" sz="2400" b="1" kern="1200">
                          <a:solidFill>
                            <a:schemeClr val="dk1"/>
                          </a:solidFill>
                          <a:latin typeface="Fira Sans" panose="020B0503050000020004" pitchFamily="34" charset="0"/>
                          <a:ea typeface="+mn-ea"/>
                          <a:cs typeface="+mn-cs"/>
                        </a:rPr>
                        <a:t>Conclusion </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a:solidFill>
                            <a:schemeClr val="tx1"/>
                          </a:solidFill>
                          <a:latin typeface="Fira Sans" panose="020B0503050000020004" pitchFamily="34" charset="0"/>
                        </a:rPr>
                        <a:t>Close Capability Match - </a:t>
                      </a:r>
                      <a:r>
                        <a:rPr lang="en-GB" sz="2400" b="0">
                          <a:solidFill>
                            <a:schemeClr val="tx1"/>
                          </a:solidFill>
                          <a:latin typeface="Fira Sans" panose="020B0503050000020004" pitchFamily="34" charset="0"/>
                        </a:rPr>
                        <a:t>Both </a:t>
                      </a:r>
                      <a:r>
                        <a:rPr lang="en-GB" sz="2400" b="0" err="1">
                          <a:solidFill>
                            <a:schemeClr val="tx1"/>
                          </a:solidFill>
                          <a:latin typeface="Fira Sans" panose="020B0503050000020004" pitchFamily="34" charset="0"/>
                        </a:rPr>
                        <a:t>hyperscalers</a:t>
                      </a:r>
                      <a:r>
                        <a:rPr lang="en-GB" sz="2400" b="0">
                          <a:solidFill>
                            <a:schemeClr val="tx1"/>
                          </a:solidFill>
                          <a:latin typeface="Fira Sans" panose="020B0503050000020004" pitchFamily="34" charset="0"/>
                        </a:rPr>
                        <a:t> offer robust feature sets for migration of DMG workloads including DMG key requirements.</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b="0">
                          <a:solidFill>
                            <a:schemeClr val="tx1"/>
                          </a:solidFill>
                          <a:latin typeface="Fira Sans" panose="020B0503050000020004" pitchFamily="34" charset="0"/>
                        </a:rPr>
                        <a:t>To minimise risk during the cutover, DMG would benefit from building new servers and cutting over (Greenfield migration approach) rather than replicating existing Virtual Servers into the cloud (image-based migration approach).</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b="0">
                          <a:solidFill>
                            <a:schemeClr val="tx1"/>
                          </a:solidFill>
                          <a:latin typeface="Fira Sans" panose="020B0503050000020004" pitchFamily="34" charset="0"/>
                        </a:rPr>
                        <a:t>Phased approach - Move Production first, followed by Staging, in sync with upcoming data </a:t>
                      </a:r>
                      <a:r>
                        <a:rPr lang="en-GB" sz="2400" b="0" err="1">
                          <a:solidFill>
                            <a:schemeClr val="tx1"/>
                          </a:solidFill>
                          <a:latin typeface="Fira Sans" panose="020B0503050000020004" pitchFamily="34" charset="0"/>
                        </a:rPr>
                        <a:t>center</a:t>
                      </a:r>
                      <a:r>
                        <a:rPr lang="en-GB" sz="2400" b="0">
                          <a:solidFill>
                            <a:schemeClr val="tx1"/>
                          </a:solidFill>
                          <a:latin typeface="Fira Sans" panose="020B0503050000020004" pitchFamily="34" charset="0"/>
                        </a:rPr>
                        <a:t> exit timelines (Prod May 25, Dev/Test Oct 25).</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b="0">
                          <a:solidFill>
                            <a:schemeClr val="tx1"/>
                          </a:solidFill>
                          <a:latin typeface="Fira Sans" panose="020B0503050000020004" pitchFamily="34" charset="0"/>
                        </a:rPr>
                        <a:t>Platform Choice – AWS and Azure are both able to meet DMG key requirements and score incredibly closely based on the agreed criteria and weighting, considering key requirements. </a:t>
                      </a:r>
                      <a:r>
                        <a:rPr lang="en-GB" sz="2400" b="0" err="1">
                          <a:solidFill>
                            <a:schemeClr val="tx1"/>
                          </a:solidFill>
                          <a:latin typeface="Fira Sans" panose="020B0503050000020004" pitchFamily="34" charset="0"/>
                        </a:rPr>
                        <a:t>GoSupply</a:t>
                      </a:r>
                      <a:r>
                        <a:rPr lang="en-GB" sz="2400" b="0">
                          <a:solidFill>
                            <a:schemeClr val="tx1"/>
                          </a:solidFill>
                          <a:latin typeface="Fira Sans" panose="020B0503050000020004" pitchFamily="34" charset="0"/>
                        </a:rPr>
                        <a:t> being hosted in Azure already means Azure is a simpler transition than AWS. </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2400" b="0">
                          <a:solidFill>
                            <a:schemeClr val="tx1"/>
                          </a:solidFill>
                          <a:latin typeface="Fira Sans" panose="020B0503050000020004" pitchFamily="34" charset="0"/>
                        </a:rPr>
                        <a:t>Rackspace suggest considering additional strategic criteria based on future requirements, and reviewing the weighting of existing criteria as this could tip the balance.</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2417160">
                <a:tc>
                  <a:txBody>
                    <a:bodyPr/>
                    <a:lstStyle/>
                    <a:p>
                      <a:pPr algn="l" fontAlgn="ctr"/>
                      <a:r>
                        <a:rPr lang="en-US" sz="2400" b="1" kern="1200">
                          <a:solidFill>
                            <a:schemeClr val="dk1"/>
                          </a:solidFill>
                          <a:latin typeface="Fira Sans" panose="020B0503050000020004" pitchFamily="34" charset="0"/>
                          <a:ea typeface="+mn-ea"/>
                          <a:cs typeface="+mn-cs"/>
                        </a:rPr>
                        <a:t>Next Steps</a:t>
                      </a:r>
                    </a:p>
                    <a:p>
                      <a:pPr algn="l" fontAlgn="ctr"/>
                      <a:endParaRPr lang="en-US" sz="2400" b="1" kern="1200">
                        <a:solidFill>
                          <a:schemeClr val="dk1"/>
                        </a:solidFill>
                        <a:latin typeface="Fira Sans" panose="020B0503050000020004" pitchFamily="34" charset="0"/>
                        <a:ea typeface="+mn-ea"/>
                        <a:cs typeface="+mn-cs"/>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a:latin typeface="Fira Sans" panose="020B0503050000020004" pitchFamily="34" charset="0"/>
                        </a:rPr>
                        <a:t>DMG confirm final Hyperscaler decision – adding additional selection criteria or re-allocating weighting to existing criteria.</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a:latin typeface="Fira Sans" panose="020B0503050000020004" pitchFamily="34" charset="0"/>
                        </a:rPr>
                        <a:t>Rackspace to present migration effort estimates and commercials. </a:t>
                      </a:r>
                      <a:endParaRPr lang="en-US" sz="2400">
                        <a:latin typeface="Fira Sans" panose="020B0503050000020004" pitchFamily="34" charset="0"/>
                      </a:endParaRP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a:latin typeface="Fira Sans" panose="020B0503050000020004" pitchFamily="34" charset="0"/>
                        </a:rPr>
                        <a:t>Rackspace to present managed services offerings and commercials.</a:t>
                      </a:r>
                      <a:endParaRPr lang="en-US" sz="2400">
                        <a:latin typeface="Fira Sans" panose="020B0503050000020004" pitchFamily="34" charset="0"/>
                      </a:endParaRP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a:latin typeface="Fira Sans" panose="020B0503050000020004" pitchFamily="34" charset="0"/>
                        </a:rPr>
                        <a:t>DMG Review Migration Readiness Assessment recommendations and consider cloud maturity action plan.</a:t>
                      </a:r>
                    </a:p>
                    <a:p>
                      <a:pPr marL="171450" marR="0" lvl="0" indent="-171450" algn="l" defTabSz="914400" rtl="0" eaLnBrk="1" fontAlgn="ctr"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400">
                          <a:latin typeface="Fira Sans" panose="020B0503050000020004" pitchFamily="34" charset="0"/>
                        </a:rPr>
                        <a:t>Move forward with DMG migration to chosen Hyperscaler.</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24480699"/>
                  </a:ext>
                </a:extLst>
              </a:tr>
            </a:tbl>
          </a:graphicData>
        </a:graphic>
      </p:graphicFrame>
      <p:sp>
        <p:nvSpPr>
          <p:cNvPr id="6" name="Title 7">
            <a:extLst>
              <a:ext uri="{FF2B5EF4-FFF2-40B4-BE49-F238E27FC236}">
                <a16:creationId xmlns:a16="http://schemas.microsoft.com/office/drawing/2014/main" id="{E6F4D55A-1ACE-303E-E70D-82DC2234E71E}"/>
              </a:ext>
            </a:extLst>
          </p:cNvPr>
          <p:cNvSpPr txBox="1">
            <a:spLocks/>
          </p:cNvSpPr>
          <p:nvPr/>
        </p:nvSpPr>
        <p:spPr>
          <a:xfrm>
            <a:off x="668992" y="593899"/>
            <a:ext cx="22991108" cy="997837"/>
          </a:xfrm>
          <a:prstGeom prst="rect">
            <a:avLst/>
          </a:prstGeom>
          <a:ln w="12700">
            <a:noFill/>
          </a:ln>
        </p:spPr>
        <p:txBody>
          <a:bodyPr vert="horz" wrap="square" lIns="0" tIns="0" rIns="0" bIns="0" rtlCol="0" anchor="t" anchorCtr="0">
            <a:spAutoFit/>
          </a:bodyPr>
          <a:lstStyle>
            <a:lvl1pPr algn="l" defTabSz="1828800" rtl="0" eaLnBrk="1" fontAlgn="base" latinLnBrk="0" hangingPunct="1">
              <a:lnSpc>
                <a:spcPct val="110000"/>
              </a:lnSpc>
              <a:spcBef>
                <a:spcPct val="0"/>
              </a:spcBef>
              <a:buNone/>
              <a:defRPr sz="6200" kern="1200">
                <a:ln w="9525">
                  <a:noFill/>
                </a:ln>
                <a:solidFill>
                  <a:schemeClr val="tx1"/>
                </a:solidFill>
                <a:latin typeface="+mj-lt"/>
                <a:ea typeface="+mj-ea"/>
                <a:cs typeface="+mj-cs"/>
              </a:defRPr>
            </a:lvl1pPr>
          </a:lstStyle>
          <a:p>
            <a:r>
              <a:rPr lang="de-DE">
                <a:solidFill>
                  <a:srgbClr val="FF0000"/>
                </a:solidFill>
                <a:latin typeface="Fira Sans Light" panose="020B0403050000020004" pitchFamily="34" charset="0"/>
              </a:rPr>
              <a:t>Executive Summary – </a:t>
            </a:r>
            <a:r>
              <a:rPr lang="de-DE" err="1">
                <a:solidFill>
                  <a:srgbClr val="FF0000"/>
                </a:solidFill>
                <a:latin typeface="Fira Sans Light" panose="020B0403050000020004" pitchFamily="34" charset="0"/>
              </a:rPr>
              <a:t>Findings</a:t>
            </a:r>
            <a:r>
              <a:rPr lang="de-DE">
                <a:solidFill>
                  <a:srgbClr val="FF0000"/>
                </a:solidFill>
                <a:latin typeface="Fira Sans Light" panose="020B0403050000020004" pitchFamily="34" charset="0"/>
              </a:rPr>
              <a:t>, </a:t>
            </a:r>
            <a:r>
              <a:rPr lang="de-DE" err="1">
                <a:solidFill>
                  <a:srgbClr val="FF0000"/>
                </a:solidFill>
                <a:latin typeface="Fira Sans Light" panose="020B0403050000020004" pitchFamily="34" charset="0"/>
              </a:rPr>
              <a:t>Conclusion</a:t>
            </a:r>
            <a:r>
              <a:rPr lang="de-DE">
                <a:solidFill>
                  <a:srgbClr val="FF0000"/>
                </a:solidFill>
                <a:latin typeface="Fira Sans Light" panose="020B0403050000020004" pitchFamily="34" charset="0"/>
              </a:rPr>
              <a:t> &amp; Next </a:t>
            </a:r>
            <a:r>
              <a:rPr lang="de-DE" err="1">
                <a:solidFill>
                  <a:srgbClr val="FF0000"/>
                </a:solidFill>
                <a:latin typeface="Fira Sans Light" panose="020B0403050000020004" pitchFamily="34" charset="0"/>
              </a:rPr>
              <a:t>Steps</a:t>
            </a:r>
            <a:endParaRPr lang="en-US">
              <a:solidFill>
                <a:srgbClr val="FF0000"/>
              </a:solidFill>
              <a:latin typeface="Fira Sans Light" panose="020B0403050000020004" pitchFamily="34" charset="0"/>
            </a:endParaRPr>
          </a:p>
        </p:txBody>
      </p:sp>
    </p:spTree>
    <p:extLst>
      <p:ext uri="{BB962C8B-B14F-4D97-AF65-F5344CB8AC3E}">
        <p14:creationId xmlns:p14="http://schemas.microsoft.com/office/powerpoint/2010/main" val="357725645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C8D9C8-64B1-F58D-9C3F-1FE036AAEEAF}"/>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B8A8C864-59E6-BB22-50CE-04469D9D4AAE}"/>
              </a:ext>
            </a:extLst>
          </p:cNvPr>
          <p:cNvSpPr>
            <a:spLocks noGrp="1"/>
          </p:cNvSpPr>
          <p:nvPr>
            <p:ph type="body" sz="quarter" idx="16"/>
          </p:nvPr>
        </p:nvSpPr>
        <p:spPr>
          <a:xfrm>
            <a:off x="6122839" y="3715469"/>
            <a:ext cx="11160126" cy="4200146"/>
          </a:xfrm>
        </p:spPr>
        <p:txBody>
          <a:bodyPr anchor="ctr"/>
          <a:lstStyle/>
          <a:p>
            <a:pPr algn="ctr"/>
            <a:r>
              <a:rPr lang="en-GB" b="1">
                <a:latin typeface="Fira Sans Light" panose="020B0403050000020004" pitchFamily="34" charset="0"/>
              </a:rPr>
              <a:t>Project Introduction</a:t>
            </a:r>
          </a:p>
        </p:txBody>
      </p:sp>
    </p:spTree>
    <p:extLst>
      <p:ext uri="{BB962C8B-B14F-4D97-AF65-F5344CB8AC3E}">
        <p14:creationId xmlns:p14="http://schemas.microsoft.com/office/powerpoint/2010/main" val="9965256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CD0970-C014-46BD-EDE5-6BDDC79C4AD7}"/>
            </a:ext>
          </a:extLst>
        </p:cNvPr>
        <p:cNvGrpSpPr/>
        <p:nvPr/>
      </p:nvGrpSpPr>
      <p:grpSpPr>
        <a:xfrm>
          <a:off x="0" y="0"/>
          <a:ext cx="0" cy="0"/>
          <a:chOff x="0" y="0"/>
          <a:chExt cx="0" cy="0"/>
        </a:xfrm>
      </p:grpSpPr>
      <p:sp>
        <p:nvSpPr>
          <p:cNvPr id="6" name="Title 7">
            <a:extLst>
              <a:ext uri="{FF2B5EF4-FFF2-40B4-BE49-F238E27FC236}">
                <a16:creationId xmlns:a16="http://schemas.microsoft.com/office/drawing/2014/main" id="{988754D3-8EC6-27C3-DBFF-5F6608CBA3C2}"/>
              </a:ext>
            </a:extLst>
          </p:cNvPr>
          <p:cNvSpPr txBox="1">
            <a:spLocks/>
          </p:cNvSpPr>
          <p:nvPr/>
        </p:nvSpPr>
        <p:spPr>
          <a:xfrm>
            <a:off x="668992" y="593899"/>
            <a:ext cx="22991108" cy="997837"/>
          </a:xfrm>
          <a:prstGeom prst="rect">
            <a:avLst/>
          </a:prstGeom>
          <a:ln w="12700">
            <a:noFill/>
          </a:ln>
        </p:spPr>
        <p:txBody>
          <a:bodyPr vert="horz" wrap="square" lIns="0" tIns="0" rIns="0" bIns="0" rtlCol="0" anchor="t" anchorCtr="0">
            <a:spAutoFit/>
          </a:bodyPr>
          <a:lstStyle>
            <a:lvl1pPr algn="l" defTabSz="1828800" rtl="0" eaLnBrk="1" fontAlgn="base" latinLnBrk="0" hangingPunct="1">
              <a:lnSpc>
                <a:spcPct val="110000"/>
              </a:lnSpc>
              <a:spcBef>
                <a:spcPct val="0"/>
              </a:spcBef>
              <a:buNone/>
              <a:defRPr sz="6200" kern="1200">
                <a:ln w="9525">
                  <a:noFill/>
                </a:ln>
                <a:solidFill>
                  <a:schemeClr val="tx1"/>
                </a:solidFill>
                <a:latin typeface="+mj-lt"/>
                <a:ea typeface="+mj-ea"/>
                <a:cs typeface="+mj-cs"/>
              </a:defRPr>
            </a:lvl1pPr>
          </a:lstStyle>
          <a:p>
            <a:r>
              <a:rPr lang="de-DE">
                <a:solidFill>
                  <a:srgbClr val="FF0000"/>
                </a:solidFill>
                <a:latin typeface="Fira Sans Light" panose="020B0403050000020004" pitchFamily="34" charset="0"/>
              </a:rPr>
              <a:t>Project Stakeholders</a:t>
            </a:r>
            <a:endParaRPr lang="en-US">
              <a:solidFill>
                <a:srgbClr val="FF0000"/>
              </a:solidFill>
              <a:latin typeface="Fira Sans Light" panose="020B0403050000020004" pitchFamily="34" charset="0"/>
            </a:endParaRPr>
          </a:p>
        </p:txBody>
      </p:sp>
      <p:graphicFrame>
        <p:nvGraphicFramePr>
          <p:cNvPr id="2" name="Table 1">
            <a:extLst>
              <a:ext uri="{FF2B5EF4-FFF2-40B4-BE49-F238E27FC236}">
                <a16:creationId xmlns:a16="http://schemas.microsoft.com/office/drawing/2014/main" id="{F2678077-E14A-3167-4275-B301D3315195}"/>
              </a:ext>
            </a:extLst>
          </p:cNvPr>
          <p:cNvGraphicFramePr>
            <a:graphicFrameLocks noGrp="1"/>
          </p:cNvGraphicFramePr>
          <p:nvPr>
            <p:extLst>
              <p:ext uri="{D42A27DB-BD31-4B8C-83A1-F6EECF244321}">
                <p14:modId xmlns:p14="http://schemas.microsoft.com/office/powerpoint/2010/main" val="2442949286"/>
              </p:ext>
            </p:extLst>
          </p:nvPr>
        </p:nvGraphicFramePr>
        <p:xfrm>
          <a:off x="668991" y="2507760"/>
          <a:ext cx="10970558" cy="8476048"/>
        </p:xfrm>
        <a:graphic>
          <a:graphicData uri="http://schemas.openxmlformats.org/drawingml/2006/table">
            <a:tbl>
              <a:tblPr firstRow="1">
                <a:tableStyleId>{5C22544A-7EE6-4342-B048-85BDC9FD1C3A}</a:tableStyleId>
              </a:tblPr>
              <a:tblGrid>
                <a:gridCol w="4240366">
                  <a:extLst>
                    <a:ext uri="{9D8B030D-6E8A-4147-A177-3AD203B41FA5}">
                      <a16:colId xmlns:a16="http://schemas.microsoft.com/office/drawing/2014/main" val="1525111598"/>
                    </a:ext>
                  </a:extLst>
                </a:gridCol>
                <a:gridCol w="6730192">
                  <a:extLst>
                    <a:ext uri="{9D8B030D-6E8A-4147-A177-3AD203B41FA5}">
                      <a16:colId xmlns:a16="http://schemas.microsoft.com/office/drawing/2014/main" val="1887819977"/>
                    </a:ext>
                  </a:extLst>
                </a:gridCol>
              </a:tblGrid>
              <a:tr h="605432">
                <a:tc gridSpan="2">
                  <a:txBody>
                    <a:bodyPr/>
                    <a:lstStyle/>
                    <a:p>
                      <a:pPr algn="ctr" fontAlgn="ctr"/>
                      <a:r>
                        <a:rPr lang="en-GB" sz="2200" b="1" i="0" u="none" strike="noStrike">
                          <a:solidFill>
                            <a:schemeClr val="bg1"/>
                          </a:solidFill>
                          <a:effectLst/>
                          <a:latin typeface="+mj-lt"/>
                        </a:rPr>
                        <a:t>DMG</a:t>
                      </a: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2"/>
                    </a:solidFill>
                  </a:tcPr>
                </a:tc>
                <a:tc hMerge="1">
                  <a:txBody>
                    <a:bodyPr/>
                    <a:lstStyle/>
                    <a:p>
                      <a:pPr algn="ctr" fontAlgn="ctr"/>
                      <a:endParaRPr lang="en-GB" sz="1100" b="1" i="0" u="none" strike="noStrike">
                        <a:solidFill>
                          <a:srgbClr val="FF0000"/>
                        </a:solidFill>
                        <a:effectLst/>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2137593730"/>
                  </a:ext>
                </a:extLst>
              </a:tr>
              <a:tr h="605432">
                <a:tc>
                  <a:txBody>
                    <a:bodyPr/>
                    <a:lstStyle/>
                    <a:p>
                      <a:pPr algn="ctr" fontAlgn="ctr"/>
                      <a:r>
                        <a:rPr lang="en-GB" sz="2200" b="1" i="0" u="none" strike="noStrike">
                          <a:solidFill>
                            <a:srgbClr val="FF0000"/>
                          </a:solidFill>
                          <a:effectLst/>
                          <a:latin typeface="+mj-lt"/>
                        </a:rPr>
                        <a:t>Full Name</a:t>
                      </a:r>
                    </a:p>
                  </a:txBody>
                  <a:tcPr marL="182880" marR="182880" marT="91440" marB="9144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pPr algn="ctr" fontAlgn="ctr"/>
                      <a:r>
                        <a:rPr lang="en-GB" sz="2200" b="1" i="0" u="none" strike="noStrike">
                          <a:solidFill>
                            <a:srgbClr val="FF0000"/>
                          </a:solidFill>
                          <a:effectLst/>
                          <a:latin typeface="+mj-lt"/>
                        </a:rPr>
                        <a:t>Role</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605432">
                <a:tc>
                  <a:txBody>
                    <a:bodyPr/>
                    <a:lstStyle/>
                    <a:p>
                      <a:pPr lvl="0" algn="l" fontAlgn="ctr"/>
                      <a:r>
                        <a:rPr lang="en-GB" sz="2200" b="0" i="0" u="none" strike="noStrike">
                          <a:solidFill>
                            <a:srgbClr val="000000"/>
                          </a:solidFill>
                          <a:effectLst/>
                          <a:latin typeface="+mj-lt"/>
                        </a:rPr>
                        <a:t>Neil Finlayson</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Chief Technical Officer (DMG Executive Sponsor)</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605432">
                <a:tc>
                  <a:txBody>
                    <a:bodyPr/>
                    <a:lstStyle/>
                    <a:p>
                      <a:pPr lvl="0" algn="l" fontAlgn="ctr"/>
                      <a:r>
                        <a:rPr lang="en-GB" sz="2200" b="0" i="0" u="none" strike="noStrike">
                          <a:solidFill>
                            <a:srgbClr val="000000"/>
                          </a:solidFill>
                          <a:effectLst/>
                          <a:latin typeface="+mj-lt"/>
                        </a:rPr>
                        <a:t>Tristan Newton</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Head of Infrastructure &amp; Security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7834442"/>
                  </a:ext>
                </a:extLst>
              </a:tr>
              <a:tr h="605432">
                <a:tc>
                  <a:txBody>
                    <a:bodyPr/>
                    <a:lstStyle/>
                    <a:p>
                      <a:pPr lvl="0" algn="l" fontAlgn="ctr"/>
                      <a:r>
                        <a:rPr lang="en-GB" sz="2200" b="0" i="0" u="none" strike="noStrike">
                          <a:solidFill>
                            <a:srgbClr val="000000"/>
                          </a:solidFill>
                          <a:effectLst/>
                          <a:latin typeface="+mj-lt"/>
                        </a:rPr>
                        <a:t>Carl Jessop</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Director of Support Services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605432">
                <a:tc>
                  <a:txBody>
                    <a:bodyPr/>
                    <a:lstStyle/>
                    <a:p>
                      <a:pPr lvl="0" algn="l" fontAlgn="ctr"/>
                      <a:r>
                        <a:rPr lang="en-GB" sz="2200" b="0" i="0" u="none" strike="noStrike">
                          <a:solidFill>
                            <a:srgbClr val="000000"/>
                          </a:solidFill>
                          <a:effectLst/>
                          <a:latin typeface="+mj-lt"/>
                        </a:rPr>
                        <a:t>Alison Witt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Director of Support Services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22667322"/>
                  </a:ext>
                </a:extLst>
              </a:tr>
              <a:tr h="605432">
                <a:tc>
                  <a:txBody>
                    <a:bodyPr/>
                    <a:lstStyle/>
                    <a:p>
                      <a:pPr lvl="0" algn="l" fontAlgn="ctr"/>
                      <a:r>
                        <a:rPr lang="en-GB" sz="2200" b="0" i="0" u="none" strike="noStrike">
                          <a:solidFill>
                            <a:srgbClr val="000000"/>
                          </a:solidFill>
                          <a:effectLst/>
                          <a:latin typeface="+mj-lt"/>
                        </a:rPr>
                        <a:t>Mark Sawyer</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Director of Information Security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605432">
                <a:tc>
                  <a:txBody>
                    <a:bodyPr/>
                    <a:lstStyle/>
                    <a:p>
                      <a:pPr lvl="0" algn="l" fontAlgn="ctr"/>
                      <a:r>
                        <a:rPr lang="en-GB" sz="2200" b="0" i="0" u="none" strike="noStrike">
                          <a:solidFill>
                            <a:srgbClr val="000000"/>
                          </a:solidFill>
                          <a:effectLst/>
                          <a:latin typeface="+mj-lt"/>
                        </a:rPr>
                        <a:t>Mark Hattersley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Director of Web and Performance Services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605432">
                <a:tc>
                  <a:txBody>
                    <a:bodyPr/>
                    <a:lstStyle/>
                    <a:p>
                      <a:pPr lvl="0" algn="l" fontAlgn="ctr"/>
                      <a:r>
                        <a:rPr lang="en-GB" sz="2200" b="0" i="0" u="none" strike="noStrike">
                          <a:solidFill>
                            <a:srgbClr val="000000"/>
                          </a:solidFill>
                          <a:effectLst/>
                          <a:latin typeface="+mj-lt"/>
                        </a:rPr>
                        <a:t>Chris Dalton</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Director of Infrastructure Services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23732811"/>
                  </a:ext>
                </a:extLst>
              </a:tr>
              <a:tr h="605432">
                <a:tc>
                  <a:txBody>
                    <a:bodyPr/>
                    <a:lstStyle/>
                    <a:p>
                      <a:pPr lvl="0" algn="l" fontAlgn="ctr"/>
                      <a:endParaRPr lang="en-GB" sz="2200" b="0" i="0" u="none" strike="noStrike">
                        <a:solidFill>
                          <a:srgbClr val="000000"/>
                        </a:solidFill>
                        <a:effectLst/>
                        <a:latin typeface="+mj-lt"/>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endParaRPr lang="en-GB" sz="2200" b="0" i="0" u="none" strike="noStrike">
                        <a:solidFill>
                          <a:srgbClr val="000000"/>
                        </a:solidFill>
                        <a:effectLst/>
                        <a:latin typeface="+mj-lt"/>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54849769"/>
                  </a:ext>
                </a:extLst>
              </a:tr>
              <a:tr h="605432">
                <a:tc>
                  <a:txBody>
                    <a:bodyPr/>
                    <a:lstStyle/>
                    <a:p>
                      <a:pPr lvl="0" algn="l" fontAlgn="ctr"/>
                      <a:endParaRPr lang="en-GB" sz="2200" b="0" i="0" u="none" strike="noStrike" kern="1200">
                        <a:solidFill>
                          <a:srgbClr val="000000"/>
                        </a:solidFill>
                        <a:effectLst/>
                        <a:latin typeface="+mj-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endParaRPr lang="en-GB" sz="2200" b="0" i="0" u="none" strike="noStrike" kern="1200">
                        <a:solidFill>
                          <a:srgbClr val="000000"/>
                        </a:solidFill>
                        <a:effectLst/>
                        <a:latin typeface="+mj-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41332332"/>
                  </a:ext>
                </a:extLst>
              </a:tr>
              <a:tr h="605432">
                <a:tc>
                  <a:txBody>
                    <a:bodyPr/>
                    <a:lstStyle/>
                    <a:p>
                      <a:pPr algn="l" fontAlgn="ctr"/>
                      <a:endParaRPr lang="en-GB" sz="2200" b="0" i="0" u="none" strike="noStrike" kern="1200">
                        <a:solidFill>
                          <a:srgbClr val="000000"/>
                        </a:solidFill>
                        <a:effectLst/>
                        <a:latin typeface="+mj-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endParaRPr lang="en-GB" sz="2200" b="0" i="0" u="none" strike="noStrike" kern="1200">
                        <a:solidFill>
                          <a:srgbClr val="000000"/>
                        </a:solidFill>
                        <a:effectLst/>
                        <a:latin typeface="+mj-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65589184"/>
                  </a:ext>
                </a:extLst>
              </a:tr>
              <a:tr h="605432">
                <a:tc>
                  <a:txBody>
                    <a:bodyPr/>
                    <a:lstStyle/>
                    <a:p>
                      <a:pPr algn="l" fontAlgn="ctr"/>
                      <a:endParaRPr lang="en-GB" sz="2200" b="0" i="0" u="none" strike="noStrike" kern="1200">
                        <a:solidFill>
                          <a:srgbClr val="000000"/>
                        </a:solidFill>
                        <a:effectLst/>
                        <a:latin typeface="+mj-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endParaRPr lang="en-GB" sz="2200" b="0" i="0" u="none" strike="noStrike" kern="1200">
                        <a:solidFill>
                          <a:srgbClr val="000000"/>
                        </a:solidFill>
                        <a:effectLst/>
                        <a:latin typeface="+mj-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35524802"/>
                  </a:ext>
                </a:extLst>
              </a:tr>
              <a:tr h="605432">
                <a:tc>
                  <a:txBody>
                    <a:bodyPr/>
                    <a:lstStyle/>
                    <a:p>
                      <a:pPr algn="l" fontAlgn="ctr"/>
                      <a:endParaRPr lang="en-GB" sz="2200" b="0" i="0" u="none" strike="noStrike" kern="1200">
                        <a:solidFill>
                          <a:srgbClr val="000000"/>
                        </a:solidFill>
                        <a:effectLst/>
                        <a:latin typeface="+mj-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endParaRPr lang="en-GB" sz="2200" b="0" i="0" u="none" strike="noStrike" kern="1200">
                        <a:solidFill>
                          <a:srgbClr val="000000"/>
                        </a:solidFill>
                        <a:effectLst/>
                        <a:latin typeface="+mj-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9485422"/>
                  </a:ext>
                </a:extLst>
              </a:tr>
            </a:tbl>
          </a:graphicData>
        </a:graphic>
      </p:graphicFrame>
      <p:graphicFrame>
        <p:nvGraphicFramePr>
          <p:cNvPr id="4" name="Table 3">
            <a:extLst>
              <a:ext uri="{FF2B5EF4-FFF2-40B4-BE49-F238E27FC236}">
                <a16:creationId xmlns:a16="http://schemas.microsoft.com/office/drawing/2014/main" id="{44EB570F-9D37-69EA-0B3F-BF6FF7F7E85B}"/>
              </a:ext>
            </a:extLst>
          </p:cNvPr>
          <p:cNvGraphicFramePr>
            <a:graphicFrameLocks noGrp="1"/>
          </p:cNvGraphicFramePr>
          <p:nvPr>
            <p:extLst>
              <p:ext uri="{D42A27DB-BD31-4B8C-83A1-F6EECF244321}">
                <p14:modId xmlns:p14="http://schemas.microsoft.com/office/powerpoint/2010/main" val="301396727"/>
              </p:ext>
            </p:extLst>
          </p:nvPr>
        </p:nvGraphicFramePr>
        <p:xfrm>
          <a:off x="12164547" y="2507760"/>
          <a:ext cx="11724154" cy="9081480"/>
        </p:xfrm>
        <a:graphic>
          <a:graphicData uri="http://schemas.openxmlformats.org/drawingml/2006/table">
            <a:tbl>
              <a:tblPr firstRow="1">
                <a:tableStyleId>{5C22544A-7EE6-4342-B048-85BDC9FD1C3A}</a:tableStyleId>
              </a:tblPr>
              <a:tblGrid>
                <a:gridCol w="3875554">
                  <a:extLst>
                    <a:ext uri="{9D8B030D-6E8A-4147-A177-3AD203B41FA5}">
                      <a16:colId xmlns:a16="http://schemas.microsoft.com/office/drawing/2014/main" val="1525111598"/>
                    </a:ext>
                  </a:extLst>
                </a:gridCol>
                <a:gridCol w="7848600">
                  <a:extLst>
                    <a:ext uri="{9D8B030D-6E8A-4147-A177-3AD203B41FA5}">
                      <a16:colId xmlns:a16="http://schemas.microsoft.com/office/drawing/2014/main" val="1887819977"/>
                    </a:ext>
                  </a:extLst>
                </a:gridCol>
              </a:tblGrid>
              <a:tr h="605432">
                <a:tc gridSpan="2">
                  <a:txBody>
                    <a:bodyPr/>
                    <a:lstStyle/>
                    <a:p>
                      <a:pPr algn="ctr" fontAlgn="ctr"/>
                      <a:r>
                        <a:rPr lang="en-GB" sz="2200" b="1" i="0" u="none" strike="noStrike">
                          <a:solidFill>
                            <a:schemeClr val="bg1"/>
                          </a:solidFill>
                          <a:effectLst/>
                          <a:latin typeface="+mj-lt"/>
                        </a:rPr>
                        <a:t>Rackspace</a:t>
                      </a: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2"/>
                    </a:solidFill>
                  </a:tcPr>
                </a:tc>
                <a:tc hMerge="1">
                  <a:txBody>
                    <a:bodyPr/>
                    <a:lstStyle/>
                    <a:p>
                      <a:pPr algn="ctr" fontAlgn="ctr"/>
                      <a:endParaRPr lang="en-GB" sz="1100" b="1" i="0" u="none" strike="noStrike">
                        <a:solidFill>
                          <a:srgbClr val="FF0000"/>
                        </a:solidFill>
                        <a:effectLst/>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4286462818"/>
                  </a:ext>
                </a:extLst>
              </a:tr>
              <a:tr h="605432">
                <a:tc>
                  <a:txBody>
                    <a:bodyPr/>
                    <a:lstStyle/>
                    <a:p>
                      <a:pPr algn="ctr" fontAlgn="ctr"/>
                      <a:r>
                        <a:rPr lang="en-GB" sz="2200" b="1" i="0" u="none" strike="noStrike">
                          <a:solidFill>
                            <a:srgbClr val="FF0000"/>
                          </a:solidFill>
                          <a:effectLst/>
                          <a:latin typeface="+mj-lt"/>
                        </a:rPr>
                        <a:t>Full Name</a:t>
                      </a:r>
                    </a:p>
                  </a:txBody>
                  <a:tcPr marL="182880" marR="182880" marT="91440" marB="9144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pPr algn="ctr" fontAlgn="ctr"/>
                      <a:r>
                        <a:rPr lang="en-GB" sz="2200" b="1" i="0" u="none" strike="noStrike">
                          <a:solidFill>
                            <a:srgbClr val="FF0000"/>
                          </a:solidFill>
                          <a:effectLst/>
                          <a:latin typeface="+mj-lt"/>
                        </a:rPr>
                        <a:t>Role</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605432">
                <a:tc>
                  <a:txBody>
                    <a:bodyPr/>
                    <a:lstStyle/>
                    <a:p>
                      <a:pPr lvl="0" algn="l" fontAlgn="ctr"/>
                      <a:endParaRPr lang="en-GB" sz="2200" b="0" i="0" u="none" strike="noStrike">
                        <a:solidFill>
                          <a:srgbClr val="000000"/>
                        </a:solidFill>
                        <a:effectLst/>
                        <a:latin typeface="+mj-lt"/>
                      </a:endParaRP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endParaRPr lang="en-GB" sz="2200" b="0" i="0" u="none" strike="noStrike">
                        <a:solidFill>
                          <a:srgbClr val="000000"/>
                        </a:solidFill>
                        <a:effectLst/>
                        <a:latin typeface="+mj-lt"/>
                      </a:endParaRP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83181699"/>
                  </a:ext>
                </a:extLst>
              </a:tr>
              <a:tr h="605432">
                <a:tc>
                  <a:txBody>
                    <a:bodyPr/>
                    <a:lstStyle/>
                    <a:p>
                      <a:pPr lvl="0" algn="l" fontAlgn="ctr"/>
                      <a:r>
                        <a:rPr lang="en-GB" sz="2200" b="0" i="0" u="none" strike="noStrike">
                          <a:solidFill>
                            <a:srgbClr val="000000"/>
                          </a:solidFill>
                          <a:effectLst/>
                          <a:latin typeface="+mj-lt"/>
                        </a:rPr>
                        <a:t>Nick Kuhle</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UK Sales Director</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98397046"/>
                  </a:ext>
                </a:extLst>
              </a:tr>
              <a:tr h="605432">
                <a:tc>
                  <a:txBody>
                    <a:bodyPr/>
                    <a:lstStyle/>
                    <a:p>
                      <a:pPr lvl="0" algn="l" fontAlgn="ctr"/>
                      <a:r>
                        <a:rPr lang="en-GB" sz="2200" b="0" i="0" u="none" strike="noStrike">
                          <a:solidFill>
                            <a:srgbClr val="000000"/>
                          </a:solidFill>
                          <a:effectLst/>
                          <a:latin typeface="+mj-lt"/>
                        </a:rPr>
                        <a:t>Vikram Somani</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Account Director</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10237749"/>
                  </a:ext>
                </a:extLst>
              </a:tr>
              <a:tr h="605432">
                <a:tc>
                  <a:txBody>
                    <a:bodyPr/>
                    <a:lstStyle/>
                    <a:p>
                      <a:pPr lvl="0" algn="l" fontAlgn="ctr"/>
                      <a:r>
                        <a:rPr lang="en-GB" sz="2200" b="0" i="0" u="none" strike="noStrike">
                          <a:solidFill>
                            <a:srgbClr val="000000"/>
                          </a:solidFill>
                          <a:effectLst/>
                          <a:latin typeface="+mj-lt"/>
                        </a:rPr>
                        <a:t>Keiran Holloway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Practice Lead</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71137617"/>
                  </a:ext>
                </a:extLst>
              </a:tr>
              <a:tr h="605432">
                <a:tc>
                  <a:txBody>
                    <a:bodyPr/>
                    <a:lstStyle/>
                    <a:p>
                      <a:pPr lvl="0" algn="l" fontAlgn="ctr"/>
                      <a:r>
                        <a:rPr lang="en-GB" sz="2200" b="0" i="0" u="none" strike="noStrike">
                          <a:solidFill>
                            <a:srgbClr val="000000"/>
                          </a:solidFill>
                          <a:effectLst/>
                          <a:latin typeface="+mj-lt"/>
                        </a:rPr>
                        <a:t>Matthew Wright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Senior Programme Manager</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71858149"/>
                  </a:ext>
                </a:extLst>
              </a:tr>
              <a:tr h="605432">
                <a:tc>
                  <a:txBody>
                    <a:bodyPr/>
                    <a:lstStyle/>
                    <a:p>
                      <a:pPr lvl="0" algn="l" fontAlgn="ctr"/>
                      <a:r>
                        <a:rPr lang="en-GB" sz="2200" b="0" i="0" u="none" strike="noStrike">
                          <a:solidFill>
                            <a:srgbClr val="000000"/>
                          </a:solidFill>
                          <a:effectLst/>
                          <a:latin typeface="+mj-lt"/>
                        </a:rPr>
                        <a:t>Scott Beckford</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Lead Solution Architect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36703373"/>
                  </a:ext>
                </a:extLst>
              </a:tr>
              <a:tr h="605432">
                <a:tc>
                  <a:txBody>
                    <a:bodyPr/>
                    <a:lstStyle/>
                    <a:p>
                      <a:pPr lvl="0" algn="l" fontAlgn="ctr"/>
                      <a:r>
                        <a:rPr lang="en-GB" sz="2200" b="0" i="0" u="none" strike="noStrike">
                          <a:solidFill>
                            <a:srgbClr val="000000"/>
                          </a:solidFill>
                          <a:effectLst/>
                          <a:latin typeface="+mj-lt"/>
                        </a:rPr>
                        <a:t>Rishabh Dogra</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GCP Architect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06393769"/>
                  </a:ext>
                </a:extLst>
              </a:tr>
              <a:tr h="605432">
                <a:tc>
                  <a:txBody>
                    <a:bodyPr/>
                    <a:lstStyle/>
                    <a:p>
                      <a:pPr lvl="0" algn="l" fontAlgn="ctr"/>
                      <a:r>
                        <a:rPr lang="en-GB" sz="2200" b="0" i="0" u="none" strike="noStrike">
                          <a:solidFill>
                            <a:srgbClr val="000000"/>
                          </a:solidFill>
                          <a:effectLst/>
                          <a:latin typeface="+mj-lt"/>
                        </a:rPr>
                        <a:t>Upendra Kumar</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Azure Architect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65884489"/>
                  </a:ext>
                </a:extLst>
              </a:tr>
              <a:tr h="605432">
                <a:tc>
                  <a:txBody>
                    <a:bodyPr/>
                    <a:lstStyle/>
                    <a:p>
                      <a:pPr lvl="0" algn="l" fontAlgn="ctr"/>
                      <a:r>
                        <a:rPr lang="en-GB" sz="2200" b="0" i="0" u="none" strike="noStrike">
                          <a:solidFill>
                            <a:srgbClr val="000000"/>
                          </a:solidFill>
                          <a:effectLst/>
                          <a:latin typeface="+mj-lt"/>
                        </a:rPr>
                        <a:t>Akashdeep Singh</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AWS Architect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65678877"/>
                  </a:ext>
                </a:extLst>
              </a:tr>
              <a:tr h="605432">
                <a:tc>
                  <a:txBody>
                    <a:bodyPr/>
                    <a:lstStyle/>
                    <a:p>
                      <a:pPr lvl="0" algn="l" fontAlgn="ctr"/>
                      <a:r>
                        <a:rPr lang="en-GB" sz="2200" b="0" i="0" u="none" strike="noStrike">
                          <a:solidFill>
                            <a:srgbClr val="000000"/>
                          </a:solidFill>
                          <a:effectLst/>
                          <a:latin typeface="+mj-lt"/>
                        </a:rPr>
                        <a:t>Alejandro Young</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Cloud Engineer</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62516963"/>
                  </a:ext>
                </a:extLst>
              </a:tr>
              <a:tr h="605432">
                <a:tc>
                  <a:txBody>
                    <a:bodyPr/>
                    <a:lstStyle/>
                    <a:p>
                      <a:pPr lvl="0" algn="l" fontAlgn="ctr"/>
                      <a:r>
                        <a:rPr lang="en-GB" sz="2200" b="0" i="0" u="none" strike="noStrike" err="1">
                          <a:solidFill>
                            <a:srgbClr val="000000"/>
                          </a:solidFill>
                          <a:effectLst/>
                          <a:latin typeface="+mj-lt"/>
                        </a:rPr>
                        <a:t>Gopiramesh</a:t>
                      </a:r>
                      <a:r>
                        <a:rPr lang="en-GB" sz="2200" b="0" i="0" u="none" strike="noStrike">
                          <a:solidFill>
                            <a:srgbClr val="000000"/>
                          </a:solidFill>
                          <a:effectLst/>
                          <a:latin typeface="+mj-lt"/>
                        </a:rPr>
                        <a:t> Palanisamy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Migration Consultant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48287040"/>
                  </a:ext>
                </a:extLst>
              </a:tr>
              <a:tr h="605432">
                <a:tc>
                  <a:txBody>
                    <a:bodyPr/>
                    <a:lstStyle/>
                    <a:p>
                      <a:pPr lvl="0" algn="l" fontAlgn="ctr"/>
                      <a:endParaRPr lang="en-GB" sz="2200" b="0" i="0" u="none" strike="noStrike">
                        <a:solidFill>
                          <a:srgbClr val="000000"/>
                        </a:solidFill>
                        <a:effectLst/>
                        <a:latin typeface="+mj-lt"/>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endParaRPr lang="en-GB" sz="2200" b="0" i="0" u="none" strike="noStrike">
                        <a:solidFill>
                          <a:srgbClr val="000000"/>
                        </a:solidFill>
                        <a:effectLst/>
                        <a:latin typeface="+mj-lt"/>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41537374"/>
                  </a:ext>
                </a:extLst>
              </a:tr>
              <a:tr h="605432">
                <a:tc>
                  <a:txBody>
                    <a:bodyPr/>
                    <a:lstStyle/>
                    <a:p>
                      <a:pPr lvl="0" algn="l" fontAlgn="ctr"/>
                      <a:endParaRPr lang="en-GB" sz="2200" b="0" i="0" u="none" strike="noStrike">
                        <a:solidFill>
                          <a:srgbClr val="000000"/>
                        </a:solidFill>
                        <a:effectLst/>
                        <a:latin typeface="+mj-lt"/>
                      </a:endParaRPr>
                    </a:p>
                  </a:txBody>
                  <a:tcPr marL="182880" marR="182880" marT="91440" marB="9144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fontAlgn="b"/>
                      <a:endParaRPr lang="en-GB" sz="2200" b="0" i="0" u="none" strike="noStrike">
                        <a:solidFill>
                          <a:srgbClr val="000000"/>
                        </a:solidFill>
                        <a:effectLst/>
                        <a:latin typeface="+mj-lt"/>
                      </a:endParaRPr>
                    </a:p>
                  </a:txBody>
                  <a:tcPr marL="182880" marR="182880" marT="91440" marB="9144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4105146392"/>
                  </a:ext>
                </a:extLst>
              </a:tr>
            </a:tbl>
          </a:graphicData>
        </a:graphic>
      </p:graphicFrame>
    </p:spTree>
    <p:extLst>
      <p:ext uri="{BB962C8B-B14F-4D97-AF65-F5344CB8AC3E}">
        <p14:creationId xmlns:p14="http://schemas.microsoft.com/office/powerpoint/2010/main" val="32585220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7CEF287D-A6DB-EFD0-D37B-6EF1D6957603}"/>
              </a:ext>
            </a:extLst>
          </p:cNvPr>
          <p:cNvSpPr>
            <a:spLocks noGrp="1"/>
          </p:cNvSpPr>
          <p:nvPr>
            <p:ph type="sldNum" sz="quarter" idx="4"/>
          </p:nvPr>
        </p:nvSpPr>
        <p:spPr>
          <a:xfrm>
            <a:off x="22402802" y="13027080"/>
            <a:ext cx="1234804" cy="215444"/>
          </a:xfrm>
        </p:spPr>
        <p:txBody>
          <a:bodyPr/>
          <a:lstStyle/>
          <a:p>
            <a:fld id="{762E77F0-FB5B-4E8E-9BC9-34F14560A017}" type="slidenum">
              <a:rPr lang="en-US" smtClean="0"/>
              <a:pPr/>
              <a:t>8</a:t>
            </a:fld>
            <a:endParaRPr lang="en-US"/>
          </a:p>
        </p:txBody>
      </p:sp>
      <p:sp>
        <p:nvSpPr>
          <p:cNvPr id="4" name="TextBox 3">
            <a:extLst>
              <a:ext uri="{FF2B5EF4-FFF2-40B4-BE49-F238E27FC236}">
                <a16:creationId xmlns:a16="http://schemas.microsoft.com/office/drawing/2014/main" id="{BCDCD36A-7E4E-86CB-3E89-E69453116E26}"/>
              </a:ext>
            </a:extLst>
          </p:cNvPr>
          <p:cNvSpPr txBox="1"/>
          <p:nvPr/>
        </p:nvSpPr>
        <p:spPr>
          <a:xfrm>
            <a:off x="406009" y="473476"/>
            <a:ext cx="10084812"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Project Aims and Objectives</a:t>
            </a:r>
            <a:endParaRPr lang="en-GB" sz="6200">
              <a:solidFill>
                <a:srgbClr val="FF0000"/>
              </a:solidFill>
              <a:latin typeface="Fira Sans Light" panose="020B0403050000020004" pitchFamily="34" charset="0"/>
            </a:endParaRPr>
          </a:p>
        </p:txBody>
      </p:sp>
      <p:graphicFrame>
        <p:nvGraphicFramePr>
          <p:cNvPr id="3" name="Table 2">
            <a:extLst>
              <a:ext uri="{FF2B5EF4-FFF2-40B4-BE49-F238E27FC236}">
                <a16:creationId xmlns:a16="http://schemas.microsoft.com/office/drawing/2014/main" id="{4D05EE28-3C2F-B52D-FD6D-FFDDF9AC48CE}"/>
              </a:ext>
            </a:extLst>
          </p:cNvPr>
          <p:cNvGraphicFramePr>
            <a:graphicFrameLocks noGrp="1"/>
          </p:cNvGraphicFramePr>
          <p:nvPr>
            <p:extLst>
              <p:ext uri="{D42A27DB-BD31-4B8C-83A1-F6EECF244321}">
                <p14:modId xmlns:p14="http://schemas.microsoft.com/office/powerpoint/2010/main" val="323975642"/>
              </p:ext>
            </p:extLst>
          </p:nvPr>
        </p:nvGraphicFramePr>
        <p:xfrm>
          <a:off x="1087120" y="2534578"/>
          <a:ext cx="22209759" cy="9616782"/>
        </p:xfrm>
        <a:graphic>
          <a:graphicData uri="http://schemas.openxmlformats.org/drawingml/2006/table">
            <a:tbl>
              <a:tblPr firstRow="1">
                <a:tableStyleId>{5C22544A-7EE6-4342-B048-85BDC9FD1C3A}</a:tableStyleId>
              </a:tblPr>
              <a:tblGrid>
                <a:gridCol w="7443801">
                  <a:extLst>
                    <a:ext uri="{9D8B030D-6E8A-4147-A177-3AD203B41FA5}">
                      <a16:colId xmlns:a16="http://schemas.microsoft.com/office/drawing/2014/main" val="1525111598"/>
                    </a:ext>
                  </a:extLst>
                </a:gridCol>
                <a:gridCol w="14765958">
                  <a:extLst>
                    <a:ext uri="{9D8B030D-6E8A-4147-A177-3AD203B41FA5}">
                      <a16:colId xmlns:a16="http://schemas.microsoft.com/office/drawing/2014/main" val="413326514"/>
                    </a:ext>
                  </a:extLst>
                </a:gridCol>
              </a:tblGrid>
              <a:tr h="813728">
                <a:tc>
                  <a:txBody>
                    <a:bodyPr/>
                    <a:lstStyle/>
                    <a:p>
                      <a:pPr algn="ctr" fontAlgn="b"/>
                      <a:r>
                        <a:rPr lang="en-GB" sz="3200" b="1" i="0" u="none" strike="noStrike">
                          <a:solidFill>
                            <a:srgbClr val="FF0000"/>
                          </a:solidFill>
                          <a:effectLst/>
                          <a:latin typeface="Fira Sans" panose="020B0503050000020004" pitchFamily="34" charset="0"/>
                        </a:rPr>
                        <a:t>Item</a:t>
                      </a:r>
                    </a:p>
                  </a:txBody>
                  <a:tcPr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fontAlgn="b"/>
                      <a:r>
                        <a:rPr lang="en-GB" sz="3200" b="1" i="0" u="none" strike="noStrike">
                          <a:solidFill>
                            <a:srgbClr val="FF0000"/>
                          </a:solidFill>
                          <a:effectLst/>
                          <a:latin typeface="Fira Sans" panose="020B0503050000020004" pitchFamily="34" charset="0"/>
                        </a:rPr>
                        <a:t>Details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1997332">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GB" sz="3200" b="1"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rPr>
                        <a:t>Assess Current Infrastructure</a:t>
                      </a:r>
                      <a:endParaRPr lang="en-GB" sz="3200"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endParaRPr>
                    </a:p>
                  </a:txBody>
                  <a:tcPr anchor="ctr">
                    <a:lnR w="12700" cap="flat" cmpd="sng" algn="ctr">
                      <a:no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noFill/>
                  </a:tcPr>
                </a:tc>
                <a:tc>
                  <a:txBody>
                    <a:bodyPr/>
                    <a:lstStyle/>
                    <a:p>
                      <a:pPr marL="285750" marR="0" lvl="0" indent="-285750" algn="l" defTabSz="914400" rtl="0" eaLnBrk="1" fontAlgn="b"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3200" kern="100">
                          <a:solidFill>
                            <a:schemeClr val="dk1"/>
                          </a:solidFill>
                          <a:effectLst/>
                          <a:latin typeface="Fira Sans" panose="020B0503050000020004" pitchFamily="34" charset="0"/>
                          <a:ea typeface="Aptos" panose="020B0004020202020204" pitchFamily="34" charset="0"/>
                          <a:cs typeface="Times New Roman" panose="02020603050405020304" pitchFamily="18" charset="0"/>
                        </a:rPr>
                        <a:t>Evaluate DMG existing data centres in Reading and Slough for technical readiness and compatibility with public cloud.</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84171717"/>
                  </a:ext>
                </a:extLst>
              </a:tr>
              <a:tr h="1997332">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GB" sz="3200" b="1"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rPr>
                        <a:t>TCO Analysis</a:t>
                      </a:r>
                      <a:endParaRPr lang="en-US" sz="3200">
                        <a:solidFill>
                          <a:schemeClr val="tx1"/>
                        </a:solidFill>
                        <a:latin typeface="Fira Sans" panose="020B0503050000020004" pitchFamily="34" charset="0"/>
                      </a:endParaRPr>
                    </a:p>
                  </a:txBody>
                  <a:tcPr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85750" marR="0" lvl="0" indent="-285750" algn="l" defTabSz="914400" rtl="0" eaLnBrk="1" fontAlgn="b"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3200" kern="100">
                          <a:solidFill>
                            <a:schemeClr val="dk1"/>
                          </a:solidFill>
                          <a:effectLst/>
                          <a:latin typeface="Fira Sans" panose="020B0503050000020004" pitchFamily="34" charset="0"/>
                          <a:ea typeface="Aptos" panose="020B0004020202020204" pitchFamily="34" charset="0"/>
                          <a:cs typeface="Times New Roman" panose="02020603050405020304" pitchFamily="18" charset="0"/>
                        </a:rPr>
                        <a:t>Independent Comparison of Total Cost of Ownership across 3 major </a:t>
                      </a:r>
                      <a:r>
                        <a:rPr lang="en-GB" sz="3200" kern="100" err="1">
                          <a:solidFill>
                            <a:schemeClr val="dk1"/>
                          </a:solidFill>
                          <a:effectLst/>
                          <a:latin typeface="Fira Sans" panose="020B0503050000020004" pitchFamily="34" charset="0"/>
                          <a:ea typeface="Aptos" panose="020B0004020202020204" pitchFamily="34" charset="0"/>
                          <a:cs typeface="Times New Roman" panose="02020603050405020304" pitchFamily="18" charset="0"/>
                        </a:rPr>
                        <a:t>hyperscalers</a:t>
                      </a:r>
                      <a:endParaRPr lang="en-GB" sz="3200" kern="100">
                        <a:solidFill>
                          <a:schemeClr val="dk1"/>
                        </a:solidFill>
                        <a:latin typeface="Fira Sans" panose="020B0503050000020004" pitchFamily="34" charset="0"/>
                        <a:ea typeface="Aptos" panose="020B0004020202020204" pitchFamily="34"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27137724"/>
                  </a:ext>
                </a:extLst>
              </a:tr>
              <a:tr h="1997332">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GB" sz="3200" b="1"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rPr>
                        <a:t>Determine Cloud Readiness</a:t>
                      </a:r>
                      <a:endParaRPr lang="en-GB" sz="3200"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endParaRPr>
                    </a:p>
                    <a:p>
                      <a:pPr marL="0" marR="0" lvl="0" indent="0" algn="l" defTabSz="914400" rtl="0" eaLnBrk="1" fontAlgn="b" latinLnBrk="0" hangingPunct="1">
                        <a:lnSpc>
                          <a:spcPct val="100000"/>
                        </a:lnSpc>
                        <a:spcBef>
                          <a:spcPts val="0"/>
                        </a:spcBef>
                        <a:spcAft>
                          <a:spcPts val="0"/>
                        </a:spcAft>
                        <a:buClrTx/>
                        <a:buSzTx/>
                        <a:buFontTx/>
                        <a:buNone/>
                        <a:tabLst/>
                        <a:defRPr/>
                      </a:pPr>
                      <a:endParaRPr lang="en-US" sz="3200">
                        <a:solidFill>
                          <a:schemeClr val="tx1"/>
                        </a:solidFill>
                        <a:latin typeface="Fira Sans" panose="020B0503050000020004" pitchFamily="34" charset="0"/>
                      </a:endParaRPr>
                    </a:p>
                  </a:txBody>
                  <a:tcPr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85750" marR="0" lvl="0" indent="-285750" algn="l" defTabSz="914400" rtl="0" eaLnBrk="1" fontAlgn="b"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3200" kern="100">
                          <a:solidFill>
                            <a:schemeClr val="dk1"/>
                          </a:solidFill>
                          <a:effectLst/>
                          <a:latin typeface="Fira Sans" panose="020B0503050000020004" pitchFamily="34" charset="0"/>
                          <a:ea typeface="Aptos" panose="020B0004020202020204" pitchFamily="34" charset="0"/>
                          <a:cs typeface="Times New Roman" panose="02020603050405020304" pitchFamily="18" charset="0"/>
                        </a:rPr>
                        <a:t>Assess DMG ability to adopt public cloud services based on the six perspectives of the Cloud Adoption Framework – Business,</a:t>
                      </a:r>
                      <a:r>
                        <a:rPr lang="en-GB" sz="3200" kern="100">
                          <a:solidFill>
                            <a:schemeClr val="dk1"/>
                          </a:solidFill>
                          <a:latin typeface="Fira Sans" panose="020B0503050000020004" pitchFamily="34" charset="0"/>
                          <a:ea typeface="Aptos" panose="020B0004020202020204" pitchFamily="34" charset="0"/>
                          <a:cs typeface="Times New Roman" panose="02020603050405020304" pitchFamily="18" charset="0"/>
                        </a:rPr>
                        <a:t> People, Governance, Platform, Security, Operations.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26194560"/>
                  </a:ext>
                </a:extLst>
              </a:tr>
              <a:tr h="1405529">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GB" sz="3200" b="1"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rPr>
                        <a:t>Hyperscaler Selection</a:t>
                      </a:r>
                      <a:endParaRPr lang="en-GB" sz="3200"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endParaRPr>
                    </a:p>
                    <a:p>
                      <a:pPr algn="l" fontAlgn="b"/>
                      <a:endParaRPr lang="en-GB" sz="3200" b="0" i="0" u="none" strike="noStrike">
                        <a:solidFill>
                          <a:schemeClr val="tx1"/>
                        </a:solidFill>
                        <a:effectLst/>
                        <a:latin typeface="Fira Sans" panose="020B0503050000020004" pitchFamily="34" charset="0"/>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85750" marR="0" lvl="0" indent="-285750" algn="l" defTabSz="914400" rtl="0" eaLnBrk="1" fontAlgn="b"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3200" kern="100">
                          <a:solidFill>
                            <a:schemeClr val="dk1"/>
                          </a:solidFill>
                          <a:effectLst/>
                          <a:latin typeface="Fira Sans" panose="020B0503050000020004" pitchFamily="34" charset="0"/>
                          <a:ea typeface="Aptos" panose="020B0004020202020204" pitchFamily="34" charset="0"/>
                          <a:cs typeface="Times New Roman" panose="02020603050405020304" pitchFamily="18" charset="0"/>
                        </a:rPr>
                        <a:t>Compare AWS and Azure to identify the optimal platform based on cost, capabilities, and alignment with business needs.</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7834442"/>
                  </a:ext>
                </a:extLst>
              </a:tr>
              <a:tr h="1405529">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GB" sz="3200" b="1"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rPr>
                        <a:t>Roadmap Development</a:t>
                      </a:r>
                      <a:endParaRPr lang="en-GB" sz="3200" kern="100">
                        <a:solidFill>
                          <a:schemeClr val="tx1"/>
                        </a:solidFill>
                        <a:effectLst/>
                        <a:latin typeface="Fira Sans" panose="020B0503050000020004" pitchFamily="34" charset="0"/>
                        <a:ea typeface="Aptos" panose="020B0004020202020204" pitchFamily="34" charset="0"/>
                        <a:cs typeface="Times New Roman" panose="02020603050405020304" pitchFamily="18" charset="0"/>
                      </a:endParaRPr>
                    </a:p>
                    <a:p>
                      <a:pPr marL="0" marR="0" lvl="0" indent="0" algn="l" defTabSz="914400" rtl="0" eaLnBrk="1" fontAlgn="b" latinLnBrk="0" hangingPunct="1">
                        <a:lnSpc>
                          <a:spcPct val="100000"/>
                        </a:lnSpc>
                        <a:spcBef>
                          <a:spcPts val="0"/>
                        </a:spcBef>
                        <a:spcAft>
                          <a:spcPts val="0"/>
                        </a:spcAft>
                        <a:buClrTx/>
                        <a:buSzTx/>
                        <a:buFontTx/>
                        <a:buNone/>
                        <a:tabLst/>
                        <a:defRPr/>
                      </a:pPr>
                      <a:endParaRPr lang="en-US" sz="3200">
                        <a:solidFill>
                          <a:schemeClr val="tx1"/>
                        </a:solidFill>
                        <a:latin typeface="Fira Sans" panose="020B0503050000020004" pitchFamily="34" charset="0"/>
                      </a:endParaRP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85750" marR="0" lvl="0" indent="-285750" algn="l" defTabSz="914400" rtl="0" eaLnBrk="1" fontAlgn="b"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3200" kern="100">
                          <a:solidFill>
                            <a:schemeClr val="dk1"/>
                          </a:solidFill>
                          <a:effectLst/>
                          <a:latin typeface="Fira Sans" panose="020B0503050000020004" pitchFamily="34" charset="0"/>
                          <a:ea typeface="Aptos" panose="020B0004020202020204" pitchFamily="34" charset="0"/>
                          <a:cs typeface="Times New Roman" panose="02020603050405020304" pitchFamily="18" charset="0"/>
                        </a:rPr>
                        <a:t>Outline actionable next steps and a high-level plan to guide the journey from assessment to successful cloud adoption.</a:t>
                      </a:r>
                    </a:p>
                  </a:txBody>
                  <a:tcPr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bl>
          </a:graphicData>
        </a:graphic>
      </p:graphicFrame>
    </p:spTree>
    <p:extLst>
      <p:ext uri="{BB962C8B-B14F-4D97-AF65-F5344CB8AC3E}">
        <p14:creationId xmlns:p14="http://schemas.microsoft.com/office/powerpoint/2010/main" val="116949922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5B6EC9-E394-8974-3CA3-B08FA55693CD}"/>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1096ADEC-FF02-7034-43FC-AC7FD1F0289F}"/>
              </a:ext>
            </a:extLst>
          </p:cNvPr>
          <p:cNvSpPr>
            <a:spLocks noGrp="1"/>
          </p:cNvSpPr>
          <p:nvPr>
            <p:ph type="body" sz="quarter" idx="16"/>
          </p:nvPr>
        </p:nvSpPr>
        <p:spPr>
          <a:xfrm>
            <a:off x="6122839" y="3715469"/>
            <a:ext cx="11160126" cy="4200146"/>
          </a:xfrm>
        </p:spPr>
        <p:txBody>
          <a:bodyPr anchor="ctr"/>
          <a:lstStyle/>
          <a:p>
            <a:pPr algn="ctr"/>
            <a:r>
              <a:rPr lang="en-GB" b="1">
                <a:latin typeface="Fira Sans Light" panose="020B0403050000020004" pitchFamily="34" charset="0"/>
              </a:rPr>
              <a:t>Business Drivers</a:t>
            </a:r>
          </a:p>
        </p:txBody>
      </p:sp>
    </p:spTree>
    <p:extLst>
      <p:ext uri="{BB962C8B-B14F-4D97-AF65-F5344CB8AC3E}">
        <p14:creationId xmlns:p14="http://schemas.microsoft.com/office/powerpoint/2010/main" val="18179867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EB4278-6ABC-9BF2-8573-DAE6185E7CF4}"/>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382F145B-1215-4220-AC18-9B17C2BBF74F}"/>
              </a:ext>
            </a:extLst>
          </p:cNvPr>
          <p:cNvSpPr>
            <a:spLocks noGrp="1"/>
          </p:cNvSpPr>
          <p:nvPr>
            <p:ph type="sldNum" sz="quarter" idx="4"/>
          </p:nvPr>
        </p:nvSpPr>
        <p:spPr>
          <a:xfrm>
            <a:off x="22331085" y="13027080"/>
            <a:ext cx="1234804" cy="215444"/>
          </a:xfrm>
        </p:spPr>
        <p:txBody>
          <a:bodyPr/>
          <a:lstStyle/>
          <a:p>
            <a:fld id="{762E77F0-FB5B-4E8E-9BC9-34F14560A017}" type="slidenum">
              <a:rPr lang="en-US" smtClean="0"/>
              <a:pPr/>
              <a:t>10</a:t>
            </a:fld>
            <a:endParaRPr lang="en-US"/>
          </a:p>
        </p:txBody>
      </p:sp>
      <p:sp>
        <p:nvSpPr>
          <p:cNvPr id="4" name="TextBox 3">
            <a:extLst>
              <a:ext uri="{FF2B5EF4-FFF2-40B4-BE49-F238E27FC236}">
                <a16:creationId xmlns:a16="http://schemas.microsoft.com/office/drawing/2014/main" id="{8612C2F4-0769-E461-6C85-69C2E72BA339}"/>
              </a:ext>
            </a:extLst>
          </p:cNvPr>
          <p:cNvSpPr txBox="1"/>
          <p:nvPr/>
        </p:nvSpPr>
        <p:spPr>
          <a:xfrm>
            <a:off x="406009" y="473476"/>
            <a:ext cx="15971039"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Cloud Migration Business Drivers - Summary</a:t>
            </a:r>
            <a:endParaRPr lang="en-GB" sz="6200">
              <a:solidFill>
                <a:srgbClr val="FF0000"/>
              </a:solidFill>
              <a:latin typeface="Fira Sans Light" panose="020B0403050000020004" pitchFamily="34" charset="0"/>
            </a:endParaRPr>
          </a:p>
        </p:txBody>
      </p:sp>
      <p:grpSp>
        <p:nvGrpSpPr>
          <p:cNvPr id="96" name="Group 95">
            <a:extLst>
              <a:ext uri="{FF2B5EF4-FFF2-40B4-BE49-F238E27FC236}">
                <a16:creationId xmlns:a16="http://schemas.microsoft.com/office/drawing/2014/main" id="{A4E91A8E-8944-CB52-4255-5E05D4A493EC}"/>
              </a:ext>
            </a:extLst>
          </p:cNvPr>
          <p:cNvGrpSpPr/>
          <p:nvPr/>
        </p:nvGrpSpPr>
        <p:grpSpPr>
          <a:xfrm>
            <a:off x="2738047" y="2976610"/>
            <a:ext cx="19017772" cy="8029597"/>
            <a:chOff x="2738047" y="2976610"/>
            <a:chExt cx="19017772" cy="8029597"/>
          </a:xfrm>
        </p:grpSpPr>
        <p:grpSp>
          <p:nvGrpSpPr>
            <p:cNvPr id="89" name="Group 88">
              <a:extLst>
                <a:ext uri="{FF2B5EF4-FFF2-40B4-BE49-F238E27FC236}">
                  <a16:creationId xmlns:a16="http://schemas.microsoft.com/office/drawing/2014/main" id="{EE030258-EF91-CAA2-D433-34D46968C65E}"/>
                </a:ext>
              </a:extLst>
            </p:cNvPr>
            <p:cNvGrpSpPr/>
            <p:nvPr/>
          </p:nvGrpSpPr>
          <p:grpSpPr>
            <a:xfrm>
              <a:off x="2738047" y="2976610"/>
              <a:ext cx="19017772" cy="8029597"/>
              <a:chOff x="2738047" y="2976610"/>
              <a:chExt cx="19017772" cy="8029597"/>
            </a:xfrm>
          </p:grpSpPr>
          <p:sp>
            <p:nvSpPr>
              <p:cNvPr id="90" name="Freeform 89">
                <a:extLst>
                  <a:ext uri="{FF2B5EF4-FFF2-40B4-BE49-F238E27FC236}">
                    <a16:creationId xmlns:a16="http://schemas.microsoft.com/office/drawing/2014/main" id="{25F3C70A-19AB-C5A9-81BC-A991DE36D378}"/>
                  </a:ext>
                </a:extLst>
              </p:cNvPr>
              <p:cNvSpPr/>
              <p:nvPr/>
            </p:nvSpPr>
            <p:spPr>
              <a:xfrm>
                <a:off x="2738047" y="3670330"/>
                <a:ext cx="19017772" cy="1813612"/>
              </a:xfrm>
              <a:custGeom>
                <a:avLst/>
                <a:gdLst>
                  <a:gd name="csX0" fmla="*/ 0 w 19017772"/>
                  <a:gd name="csY0" fmla="*/ 0 h 1813612"/>
                  <a:gd name="csX1" fmla="*/ 19017772 w 19017772"/>
                  <a:gd name="csY1" fmla="*/ 0 h 1813612"/>
                  <a:gd name="csX2" fmla="*/ 19017772 w 19017772"/>
                  <a:gd name="csY2" fmla="*/ 1813612 h 1813612"/>
                  <a:gd name="csX3" fmla="*/ 0 w 19017772"/>
                  <a:gd name="csY3" fmla="*/ 1813612 h 1813612"/>
                  <a:gd name="csX4" fmla="*/ 0 w 19017772"/>
                  <a:gd name="csY4" fmla="*/ 0 h 1813612"/>
                </a:gdLst>
                <a:ahLst/>
                <a:cxnLst>
                  <a:cxn ang="0">
                    <a:pos x="csX0" y="csY0"/>
                  </a:cxn>
                  <a:cxn ang="0">
                    <a:pos x="csX1" y="csY1"/>
                  </a:cxn>
                  <a:cxn ang="0">
                    <a:pos x="csX2" y="csY2"/>
                  </a:cxn>
                  <a:cxn ang="0">
                    <a:pos x="csX3" y="csY3"/>
                  </a:cxn>
                  <a:cxn ang="0">
                    <a:pos x="csX4" y="csY4"/>
                  </a:cxn>
                </a:cxnLst>
                <a:rect l="l" t="t" r="r" b="b"/>
                <a:pathLst>
                  <a:path w="19017772" h="1813612">
                    <a:moveTo>
                      <a:pt x="0" y="0"/>
                    </a:moveTo>
                    <a:lnTo>
                      <a:pt x="19017772" y="0"/>
                    </a:lnTo>
                    <a:lnTo>
                      <a:pt x="19017772" y="1813612"/>
                    </a:lnTo>
                    <a:lnTo>
                      <a:pt x="0" y="1813612"/>
                    </a:lnTo>
                    <a:lnTo>
                      <a:pt x="0" y="0"/>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5990" tIns="978916" rIns="1475990" bIns="284480" numCol="1" spcCol="1270" anchor="t" anchorCtr="0">
                <a:noAutofit/>
              </a:bodyPr>
              <a:lstStyle/>
              <a:p>
                <a:pPr marL="285750" lvl="1" indent="-285750" algn="l" defTabSz="1778000">
                  <a:lnSpc>
                    <a:spcPct val="90000"/>
                  </a:lnSpc>
                  <a:spcBef>
                    <a:spcPct val="0"/>
                  </a:spcBef>
                  <a:spcAft>
                    <a:spcPct val="15000"/>
                  </a:spcAft>
                  <a:buClr>
                    <a:srgbClr val="FF0000"/>
                  </a:buClr>
                  <a:buFont typeface="Arial" panose="020B0604020202020204" pitchFamily="34" charset="0"/>
                  <a:buChar char="•"/>
                </a:pPr>
                <a:r>
                  <a:rPr lang="en-US" sz="4000" kern="1200">
                    <a:latin typeface="Fira Sans" panose="020B0503050000020004" pitchFamily="34" charset="0"/>
                  </a:rPr>
                  <a:t>Reduce complexity to scale operations and delivery speed</a:t>
                </a:r>
                <a:endParaRPr lang="en-GB" sz="4000" kern="1200"/>
              </a:p>
            </p:txBody>
          </p:sp>
          <p:sp>
            <p:nvSpPr>
              <p:cNvPr id="91" name="Freeform 90">
                <a:extLst>
                  <a:ext uri="{FF2B5EF4-FFF2-40B4-BE49-F238E27FC236}">
                    <a16:creationId xmlns:a16="http://schemas.microsoft.com/office/drawing/2014/main" id="{3B18EFAB-3ED8-2F7B-F686-E17E71400B4B}"/>
                  </a:ext>
                </a:extLst>
              </p:cNvPr>
              <p:cNvSpPr/>
              <p:nvPr/>
            </p:nvSpPr>
            <p:spPr>
              <a:xfrm>
                <a:off x="3688935" y="2976610"/>
                <a:ext cx="13312440" cy="1387440"/>
              </a:xfrm>
              <a:custGeom>
                <a:avLst/>
                <a:gdLst>
                  <a:gd name="csX0" fmla="*/ 0 w 13312440"/>
                  <a:gd name="csY0" fmla="*/ 231245 h 1387440"/>
                  <a:gd name="csX1" fmla="*/ 231245 w 13312440"/>
                  <a:gd name="csY1" fmla="*/ 0 h 1387440"/>
                  <a:gd name="csX2" fmla="*/ 13081195 w 13312440"/>
                  <a:gd name="csY2" fmla="*/ 0 h 1387440"/>
                  <a:gd name="csX3" fmla="*/ 13312440 w 13312440"/>
                  <a:gd name="csY3" fmla="*/ 231245 h 1387440"/>
                  <a:gd name="csX4" fmla="*/ 13312440 w 13312440"/>
                  <a:gd name="csY4" fmla="*/ 1156195 h 1387440"/>
                  <a:gd name="csX5" fmla="*/ 13081195 w 13312440"/>
                  <a:gd name="csY5" fmla="*/ 1387440 h 1387440"/>
                  <a:gd name="csX6" fmla="*/ 231245 w 13312440"/>
                  <a:gd name="csY6" fmla="*/ 1387440 h 1387440"/>
                  <a:gd name="csX7" fmla="*/ 0 w 13312440"/>
                  <a:gd name="csY7" fmla="*/ 1156195 h 1387440"/>
                  <a:gd name="csX8" fmla="*/ 0 w 13312440"/>
                  <a:gd name="csY8" fmla="*/ 231245 h 13874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312440" h="1387440">
                    <a:moveTo>
                      <a:pt x="0" y="231245"/>
                    </a:moveTo>
                    <a:cubicBezTo>
                      <a:pt x="0" y="103532"/>
                      <a:pt x="103532" y="0"/>
                      <a:pt x="231245" y="0"/>
                    </a:cubicBezTo>
                    <a:lnTo>
                      <a:pt x="13081195" y="0"/>
                    </a:lnTo>
                    <a:cubicBezTo>
                      <a:pt x="13208908" y="0"/>
                      <a:pt x="13312440" y="103532"/>
                      <a:pt x="13312440" y="231245"/>
                    </a:cubicBezTo>
                    <a:lnTo>
                      <a:pt x="13312440" y="1156195"/>
                    </a:lnTo>
                    <a:cubicBezTo>
                      <a:pt x="13312440" y="1283908"/>
                      <a:pt x="13208908" y="1387440"/>
                      <a:pt x="13081195" y="1387440"/>
                    </a:cubicBezTo>
                    <a:lnTo>
                      <a:pt x="231245" y="1387440"/>
                    </a:lnTo>
                    <a:cubicBezTo>
                      <a:pt x="103532" y="1387440"/>
                      <a:pt x="0" y="1283908"/>
                      <a:pt x="0" y="1156195"/>
                    </a:cubicBezTo>
                    <a:lnTo>
                      <a:pt x="0" y="231245"/>
                    </a:lnTo>
                    <a:close/>
                  </a:path>
                </a:pathLst>
              </a:custGeom>
              <a:solidFill>
                <a:srgbClr val="FF0000"/>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570908" tIns="67729" rIns="570908" bIns="67729" numCol="1" spcCol="1270" anchor="ctr" anchorCtr="0">
                <a:noAutofit/>
              </a:bodyPr>
              <a:lstStyle/>
              <a:p>
                <a:pPr marL="0" lvl="0" indent="0" algn="l" defTabSz="1778000">
                  <a:lnSpc>
                    <a:spcPct val="90000"/>
                  </a:lnSpc>
                  <a:spcBef>
                    <a:spcPct val="0"/>
                  </a:spcBef>
                  <a:spcAft>
                    <a:spcPct val="35000"/>
                  </a:spcAft>
                  <a:buClrTx/>
                  <a:buSzTx/>
                  <a:buFontTx/>
                  <a:buNone/>
                </a:pPr>
                <a:r>
                  <a:rPr lang="en-US" sz="4000" b="1" kern="1200">
                    <a:ln w="9525">
                      <a:noFill/>
                    </a:ln>
                    <a:latin typeface="Fira Sans" panose="020B0503050000020004" pitchFamily="34" charset="0"/>
                  </a:rPr>
                  <a:t>1. Standardisation + Simplification</a:t>
                </a:r>
                <a:endParaRPr lang="en-GB" sz="4000" kern="1200"/>
              </a:p>
            </p:txBody>
          </p:sp>
          <p:sp>
            <p:nvSpPr>
              <p:cNvPr id="92" name="Freeform 91">
                <a:extLst>
                  <a:ext uri="{FF2B5EF4-FFF2-40B4-BE49-F238E27FC236}">
                    <a16:creationId xmlns:a16="http://schemas.microsoft.com/office/drawing/2014/main" id="{BC3411D3-99BA-854B-A126-003865779291}"/>
                  </a:ext>
                </a:extLst>
              </p:cNvPr>
              <p:cNvSpPr/>
              <p:nvPr/>
            </p:nvSpPr>
            <p:spPr>
              <a:xfrm>
                <a:off x="2738047" y="6431463"/>
                <a:ext cx="19017772" cy="1813612"/>
              </a:xfrm>
              <a:custGeom>
                <a:avLst/>
                <a:gdLst>
                  <a:gd name="csX0" fmla="*/ 0 w 19017772"/>
                  <a:gd name="csY0" fmla="*/ 0 h 1813612"/>
                  <a:gd name="csX1" fmla="*/ 19017772 w 19017772"/>
                  <a:gd name="csY1" fmla="*/ 0 h 1813612"/>
                  <a:gd name="csX2" fmla="*/ 19017772 w 19017772"/>
                  <a:gd name="csY2" fmla="*/ 1813612 h 1813612"/>
                  <a:gd name="csX3" fmla="*/ 0 w 19017772"/>
                  <a:gd name="csY3" fmla="*/ 1813612 h 1813612"/>
                  <a:gd name="csX4" fmla="*/ 0 w 19017772"/>
                  <a:gd name="csY4" fmla="*/ 0 h 1813612"/>
                </a:gdLst>
                <a:ahLst/>
                <a:cxnLst>
                  <a:cxn ang="0">
                    <a:pos x="csX0" y="csY0"/>
                  </a:cxn>
                  <a:cxn ang="0">
                    <a:pos x="csX1" y="csY1"/>
                  </a:cxn>
                  <a:cxn ang="0">
                    <a:pos x="csX2" y="csY2"/>
                  </a:cxn>
                  <a:cxn ang="0">
                    <a:pos x="csX3" y="csY3"/>
                  </a:cxn>
                  <a:cxn ang="0">
                    <a:pos x="csX4" y="csY4"/>
                  </a:cxn>
                </a:cxnLst>
                <a:rect l="l" t="t" r="r" b="b"/>
                <a:pathLst>
                  <a:path w="19017772" h="1813612">
                    <a:moveTo>
                      <a:pt x="0" y="0"/>
                    </a:moveTo>
                    <a:lnTo>
                      <a:pt x="19017772" y="0"/>
                    </a:lnTo>
                    <a:lnTo>
                      <a:pt x="19017772" y="1813612"/>
                    </a:lnTo>
                    <a:lnTo>
                      <a:pt x="0" y="1813612"/>
                    </a:lnTo>
                    <a:lnTo>
                      <a:pt x="0" y="0"/>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5990" tIns="978916" rIns="1475990" bIns="284480" numCol="1" spcCol="1270" anchor="t" anchorCtr="0">
                <a:noAutofit/>
              </a:bodyPr>
              <a:lstStyle/>
              <a:p>
                <a:pPr marL="285750" lvl="1" indent="-285750" algn="l" defTabSz="1778000">
                  <a:lnSpc>
                    <a:spcPct val="90000"/>
                  </a:lnSpc>
                  <a:spcBef>
                    <a:spcPct val="0"/>
                  </a:spcBef>
                  <a:spcAft>
                    <a:spcPct val="15000"/>
                  </a:spcAft>
                  <a:buClr>
                    <a:schemeClr val="bg2"/>
                  </a:buClr>
                  <a:buChar char="•"/>
                </a:pPr>
                <a:r>
                  <a:rPr lang="en-US" sz="4000" kern="1200" dirty="0">
                    <a:latin typeface="Fira Sans" panose="020B0503050000020004" pitchFamily="34" charset="0"/>
                  </a:rPr>
                  <a:t>Remove low value work and create credible savings</a:t>
                </a:r>
              </a:p>
            </p:txBody>
          </p:sp>
          <p:sp>
            <p:nvSpPr>
              <p:cNvPr id="93" name="Freeform 92">
                <a:extLst>
                  <a:ext uri="{FF2B5EF4-FFF2-40B4-BE49-F238E27FC236}">
                    <a16:creationId xmlns:a16="http://schemas.microsoft.com/office/drawing/2014/main" id="{2AEC1E17-7D48-FF51-CCD6-0E338DFE5AD0}"/>
                  </a:ext>
                </a:extLst>
              </p:cNvPr>
              <p:cNvSpPr/>
              <p:nvPr/>
            </p:nvSpPr>
            <p:spPr>
              <a:xfrm>
                <a:off x="3688935" y="5737743"/>
                <a:ext cx="13312440" cy="1387440"/>
              </a:xfrm>
              <a:custGeom>
                <a:avLst/>
                <a:gdLst>
                  <a:gd name="csX0" fmla="*/ 0 w 13312440"/>
                  <a:gd name="csY0" fmla="*/ 231245 h 1387440"/>
                  <a:gd name="csX1" fmla="*/ 231245 w 13312440"/>
                  <a:gd name="csY1" fmla="*/ 0 h 1387440"/>
                  <a:gd name="csX2" fmla="*/ 13081195 w 13312440"/>
                  <a:gd name="csY2" fmla="*/ 0 h 1387440"/>
                  <a:gd name="csX3" fmla="*/ 13312440 w 13312440"/>
                  <a:gd name="csY3" fmla="*/ 231245 h 1387440"/>
                  <a:gd name="csX4" fmla="*/ 13312440 w 13312440"/>
                  <a:gd name="csY4" fmla="*/ 1156195 h 1387440"/>
                  <a:gd name="csX5" fmla="*/ 13081195 w 13312440"/>
                  <a:gd name="csY5" fmla="*/ 1387440 h 1387440"/>
                  <a:gd name="csX6" fmla="*/ 231245 w 13312440"/>
                  <a:gd name="csY6" fmla="*/ 1387440 h 1387440"/>
                  <a:gd name="csX7" fmla="*/ 0 w 13312440"/>
                  <a:gd name="csY7" fmla="*/ 1156195 h 1387440"/>
                  <a:gd name="csX8" fmla="*/ 0 w 13312440"/>
                  <a:gd name="csY8" fmla="*/ 231245 h 13874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312440" h="1387440">
                    <a:moveTo>
                      <a:pt x="0" y="231245"/>
                    </a:moveTo>
                    <a:cubicBezTo>
                      <a:pt x="0" y="103532"/>
                      <a:pt x="103532" y="0"/>
                      <a:pt x="231245" y="0"/>
                    </a:cubicBezTo>
                    <a:lnTo>
                      <a:pt x="13081195" y="0"/>
                    </a:lnTo>
                    <a:cubicBezTo>
                      <a:pt x="13208908" y="0"/>
                      <a:pt x="13312440" y="103532"/>
                      <a:pt x="13312440" y="231245"/>
                    </a:cubicBezTo>
                    <a:lnTo>
                      <a:pt x="13312440" y="1156195"/>
                    </a:lnTo>
                    <a:cubicBezTo>
                      <a:pt x="13312440" y="1283908"/>
                      <a:pt x="13208908" y="1387440"/>
                      <a:pt x="13081195" y="1387440"/>
                    </a:cubicBezTo>
                    <a:lnTo>
                      <a:pt x="231245" y="1387440"/>
                    </a:lnTo>
                    <a:cubicBezTo>
                      <a:pt x="103532" y="1387440"/>
                      <a:pt x="0" y="1283908"/>
                      <a:pt x="0" y="1156195"/>
                    </a:cubicBezTo>
                    <a:lnTo>
                      <a:pt x="0" y="231245"/>
                    </a:lnTo>
                    <a:close/>
                  </a:path>
                </a:pathLst>
              </a:custGeom>
              <a:solidFill>
                <a:srgbClr val="FF0000"/>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570908" tIns="67729" rIns="570908" bIns="67729" numCol="1" spcCol="1270" anchor="ctr" anchorCtr="0">
                <a:noAutofit/>
              </a:bodyPr>
              <a:lstStyle/>
              <a:p>
                <a:pPr marL="0" lvl="0" indent="0" algn="l" defTabSz="1778000">
                  <a:lnSpc>
                    <a:spcPct val="90000"/>
                  </a:lnSpc>
                  <a:spcBef>
                    <a:spcPct val="0"/>
                  </a:spcBef>
                  <a:spcAft>
                    <a:spcPct val="35000"/>
                  </a:spcAft>
                  <a:buClrTx/>
                  <a:buSzTx/>
                  <a:buFontTx/>
                  <a:buNone/>
                </a:pPr>
                <a:r>
                  <a:rPr lang="en-US" sz="4000" b="1" kern="1200">
                    <a:ln w="9525">
                      <a:noFill/>
                    </a:ln>
                    <a:latin typeface="Fira Sans" panose="020B0503050000020004" pitchFamily="34" charset="0"/>
                  </a:rPr>
                  <a:t>2. Productivity + Cost Optimisation</a:t>
                </a:r>
                <a:endParaRPr lang="en-GB" sz="4000" kern="1200"/>
              </a:p>
            </p:txBody>
          </p:sp>
          <p:sp>
            <p:nvSpPr>
              <p:cNvPr id="94" name="Freeform 93">
                <a:extLst>
                  <a:ext uri="{FF2B5EF4-FFF2-40B4-BE49-F238E27FC236}">
                    <a16:creationId xmlns:a16="http://schemas.microsoft.com/office/drawing/2014/main" id="{A58D3485-0514-8A0C-A16B-751E3A3C6310}"/>
                  </a:ext>
                </a:extLst>
              </p:cNvPr>
              <p:cNvSpPr/>
              <p:nvPr/>
            </p:nvSpPr>
            <p:spPr>
              <a:xfrm>
                <a:off x="2738047" y="9192595"/>
                <a:ext cx="19017772" cy="1813612"/>
              </a:xfrm>
              <a:custGeom>
                <a:avLst/>
                <a:gdLst>
                  <a:gd name="csX0" fmla="*/ 0 w 19017772"/>
                  <a:gd name="csY0" fmla="*/ 0 h 1813612"/>
                  <a:gd name="csX1" fmla="*/ 19017772 w 19017772"/>
                  <a:gd name="csY1" fmla="*/ 0 h 1813612"/>
                  <a:gd name="csX2" fmla="*/ 19017772 w 19017772"/>
                  <a:gd name="csY2" fmla="*/ 1813612 h 1813612"/>
                  <a:gd name="csX3" fmla="*/ 0 w 19017772"/>
                  <a:gd name="csY3" fmla="*/ 1813612 h 1813612"/>
                  <a:gd name="csX4" fmla="*/ 0 w 19017772"/>
                  <a:gd name="csY4" fmla="*/ 0 h 1813612"/>
                </a:gdLst>
                <a:ahLst/>
                <a:cxnLst>
                  <a:cxn ang="0">
                    <a:pos x="csX0" y="csY0"/>
                  </a:cxn>
                  <a:cxn ang="0">
                    <a:pos x="csX1" y="csY1"/>
                  </a:cxn>
                  <a:cxn ang="0">
                    <a:pos x="csX2" y="csY2"/>
                  </a:cxn>
                  <a:cxn ang="0">
                    <a:pos x="csX3" y="csY3"/>
                  </a:cxn>
                  <a:cxn ang="0">
                    <a:pos x="csX4" y="csY4"/>
                  </a:cxn>
                </a:cxnLst>
                <a:rect l="l" t="t" r="r" b="b"/>
                <a:pathLst>
                  <a:path w="19017772" h="1813612">
                    <a:moveTo>
                      <a:pt x="0" y="0"/>
                    </a:moveTo>
                    <a:lnTo>
                      <a:pt x="19017772" y="0"/>
                    </a:lnTo>
                    <a:lnTo>
                      <a:pt x="19017772" y="1813612"/>
                    </a:lnTo>
                    <a:lnTo>
                      <a:pt x="0" y="1813612"/>
                    </a:lnTo>
                    <a:lnTo>
                      <a:pt x="0" y="0"/>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5990" tIns="978916" rIns="1475990" bIns="284480" numCol="1" spcCol="1270" anchor="t" anchorCtr="0">
                <a:noAutofit/>
              </a:bodyPr>
              <a:lstStyle/>
              <a:p>
                <a:pPr marL="285750" lvl="1" indent="-285750" algn="l" defTabSz="1778000">
                  <a:lnSpc>
                    <a:spcPct val="90000"/>
                  </a:lnSpc>
                  <a:spcBef>
                    <a:spcPct val="0"/>
                  </a:spcBef>
                  <a:spcAft>
                    <a:spcPct val="15000"/>
                  </a:spcAft>
                  <a:buClr>
                    <a:srgbClr val="FF0000"/>
                  </a:buClr>
                  <a:buSzTx/>
                  <a:buFont typeface="Arial" panose="020B0604020202020204" pitchFamily="34" charset="0"/>
                  <a:buChar char="•"/>
                </a:pPr>
                <a:r>
                  <a:rPr lang="en-US" sz="4000" kern="1200">
                    <a:latin typeface="Fira Sans" panose="020B0503050000020004" pitchFamily="34" charset="0"/>
                  </a:rPr>
                  <a:t>Reduce toil and improve customer experience</a:t>
                </a:r>
                <a:endParaRPr lang="en-GB" sz="4000" kern="1200"/>
              </a:p>
            </p:txBody>
          </p:sp>
          <p:sp>
            <p:nvSpPr>
              <p:cNvPr id="95" name="Freeform 94">
                <a:extLst>
                  <a:ext uri="{FF2B5EF4-FFF2-40B4-BE49-F238E27FC236}">
                    <a16:creationId xmlns:a16="http://schemas.microsoft.com/office/drawing/2014/main" id="{D12AC746-6C91-6F58-490C-6E3EA19BB35B}"/>
                  </a:ext>
                </a:extLst>
              </p:cNvPr>
              <p:cNvSpPr/>
              <p:nvPr/>
            </p:nvSpPr>
            <p:spPr>
              <a:xfrm>
                <a:off x="3688935" y="8498875"/>
                <a:ext cx="13312440" cy="1387440"/>
              </a:xfrm>
              <a:custGeom>
                <a:avLst/>
                <a:gdLst>
                  <a:gd name="csX0" fmla="*/ 0 w 13312440"/>
                  <a:gd name="csY0" fmla="*/ 231245 h 1387440"/>
                  <a:gd name="csX1" fmla="*/ 231245 w 13312440"/>
                  <a:gd name="csY1" fmla="*/ 0 h 1387440"/>
                  <a:gd name="csX2" fmla="*/ 13081195 w 13312440"/>
                  <a:gd name="csY2" fmla="*/ 0 h 1387440"/>
                  <a:gd name="csX3" fmla="*/ 13312440 w 13312440"/>
                  <a:gd name="csY3" fmla="*/ 231245 h 1387440"/>
                  <a:gd name="csX4" fmla="*/ 13312440 w 13312440"/>
                  <a:gd name="csY4" fmla="*/ 1156195 h 1387440"/>
                  <a:gd name="csX5" fmla="*/ 13081195 w 13312440"/>
                  <a:gd name="csY5" fmla="*/ 1387440 h 1387440"/>
                  <a:gd name="csX6" fmla="*/ 231245 w 13312440"/>
                  <a:gd name="csY6" fmla="*/ 1387440 h 1387440"/>
                  <a:gd name="csX7" fmla="*/ 0 w 13312440"/>
                  <a:gd name="csY7" fmla="*/ 1156195 h 1387440"/>
                  <a:gd name="csX8" fmla="*/ 0 w 13312440"/>
                  <a:gd name="csY8" fmla="*/ 231245 h 13874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3312440" h="1387440">
                    <a:moveTo>
                      <a:pt x="0" y="231245"/>
                    </a:moveTo>
                    <a:cubicBezTo>
                      <a:pt x="0" y="103532"/>
                      <a:pt x="103532" y="0"/>
                      <a:pt x="231245" y="0"/>
                    </a:cubicBezTo>
                    <a:lnTo>
                      <a:pt x="13081195" y="0"/>
                    </a:lnTo>
                    <a:cubicBezTo>
                      <a:pt x="13208908" y="0"/>
                      <a:pt x="13312440" y="103532"/>
                      <a:pt x="13312440" y="231245"/>
                    </a:cubicBezTo>
                    <a:lnTo>
                      <a:pt x="13312440" y="1156195"/>
                    </a:lnTo>
                    <a:cubicBezTo>
                      <a:pt x="13312440" y="1283908"/>
                      <a:pt x="13208908" y="1387440"/>
                      <a:pt x="13081195" y="1387440"/>
                    </a:cubicBezTo>
                    <a:lnTo>
                      <a:pt x="231245" y="1387440"/>
                    </a:lnTo>
                    <a:cubicBezTo>
                      <a:pt x="103532" y="1387440"/>
                      <a:pt x="0" y="1283908"/>
                      <a:pt x="0" y="1156195"/>
                    </a:cubicBezTo>
                    <a:lnTo>
                      <a:pt x="0" y="231245"/>
                    </a:lnTo>
                    <a:close/>
                  </a:path>
                </a:pathLst>
              </a:custGeom>
              <a:solidFill>
                <a:srgbClr val="FF0000"/>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570908" tIns="67729" rIns="570908" bIns="67729" numCol="1" spcCol="1270" anchor="ctr" anchorCtr="0">
                <a:noAutofit/>
              </a:bodyPr>
              <a:lstStyle/>
              <a:p>
                <a:pPr marL="0" lvl="0" indent="0" algn="l" defTabSz="1778000">
                  <a:lnSpc>
                    <a:spcPct val="90000"/>
                  </a:lnSpc>
                  <a:spcBef>
                    <a:spcPct val="0"/>
                  </a:spcBef>
                  <a:spcAft>
                    <a:spcPct val="35000"/>
                  </a:spcAft>
                  <a:buClrTx/>
                  <a:buSzTx/>
                  <a:buFontTx/>
                  <a:buNone/>
                </a:pPr>
                <a:r>
                  <a:rPr lang="en-US" sz="4000" b="1" kern="1200">
                    <a:ln w="9525">
                      <a:noFill/>
                    </a:ln>
                    <a:latin typeface="Fira Sans" panose="020B0503050000020004" pitchFamily="34" charset="0"/>
                  </a:rPr>
                  <a:t>3. Automation + Workflow Optimisation</a:t>
                </a:r>
                <a:endParaRPr lang="en-GB" sz="4000" kern="1200"/>
              </a:p>
            </p:txBody>
          </p:sp>
        </p:grpSp>
        <p:grpSp>
          <p:nvGrpSpPr>
            <p:cNvPr id="6" name="Group 5">
              <a:extLst>
                <a:ext uri="{FF2B5EF4-FFF2-40B4-BE49-F238E27FC236}">
                  <a16:creationId xmlns:a16="http://schemas.microsoft.com/office/drawing/2014/main" id="{887C4790-DF0C-D1BC-A2D5-1A249B717281}"/>
                </a:ext>
              </a:extLst>
            </p:cNvPr>
            <p:cNvGrpSpPr>
              <a:grpSpLocks noChangeAspect="1"/>
            </p:cNvGrpSpPr>
            <p:nvPr/>
          </p:nvGrpSpPr>
          <p:grpSpPr>
            <a:xfrm>
              <a:off x="15756890" y="5888757"/>
              <a:ext cx="1115894" cy="1115893"/>
              <a:chOff x="6686254" y="5435946"/>
              <a:chExt cx="781902" cy="781901"/>
            </a:xfrm>
          </p:grpSpPr>
          <p:sp>
            <p:nvSpPr>
              <p:cNvPr id="7" name="Freeform 137">
                <a:extLst>
                  <a:ext uri="{FF2B5EF4-FFF2-40B4-BE49-F238E27FC236}">
                    <a16:creationId xmlns:a16="http://schemas.microsoft.com/office/drawing/2014/main" id="{491FEC46-EA26-25D5-36E4-05F3EBEE3AF5}"/>
                  </a:ext>
                </a:extLst>
              </p:cNvPr>
              <p:cNvSpPr>
                <a:spLocks noChangeArrowheads="1"/>
              </p:cNvSpPr>
              <p:nvPr/>
            </p:nvSpPr>
            <p:spPr bwMode="auto">
              <a:xfrm>
                <a:off x="6686254" y="5435946"/>
                <a:ext cx="781902" cy="781901"/>
              </a:xfrm>
              <a:custGeom>
                <a:avLst/>
                <a:gdLst>
                  <a:gd name="T0" fmla="*/ 1467 w 1751"/>
                  <a:gd name="T1" fmla="*/ 1750 h 1751"/>
                  <a:gd name="T2" fmla="*/ 1750 w 1751"/>
                  <a:gd name="T3" fmla="*/ 1468 h 1751"/>
                  <a:gd name="T4" fmla="*/ 1750 w 1751"/>
                  <a:gd name="T5" fmla="*/ 283 h 1751"/>
                  <a:gd name="T6" fmla="*/ 1467 w 1751"/>
                  <a:gd name="T7" fmla="*/ 0 h 1751"/>
                  <a:gd name="T8" fmla="*/ 282 w 1751"/>
                  <a:gd name="T9" fmla="*/ 0 h 1751"/>
                  <a:gd name="T10" fmla="*/ 0 w 1751"/>
                  <a:gd name="T11" fmla="*/ 283 h 1751"/>
                  <a:gd name="T12" fmla="*/ 0 w 1751"/>
                  <a:gd name="T13" fmla="*/ 1468 h 1751"/>
                  <a:gd name="T14" fmla="*/ 282 w 1751"/>
                  <a:gd name="T15" fmla="*/ 1750 h 1751"/>
                  <a:gd name="T16" fmla="*/ 1467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7" y="1750"/>
                    </a:moveTo>
                    <a:cubicBezTo>
                      <a:pt x="1623" y="1750"/>
                      <a:pt x="1750" y="1623"/>
                      <a:pt x="1750" y="1468"/>
                    </a:cubicBezTo>
                    <a:cubicBezTo>
                      <a:pt x="1750" y="1073"/>
                      <a:pt x="1750" y="678"/>
                      <a:pt x="1750" y="283"/>
                    </a:cubicBezTo>
                    <a:cubicBezTo>
                      <a:pt x="1750" y="127"/>
                      <a:pt x="1623" y="0"/>
                      <a:pt x="1467" y="0"/>
                    </a:cubicBezTo>
                    <a:cubicBezTo>
                      <a:pt x="1072" y="0"/>
                      <a:pt x="677" y="0"/>
                      <a:pt x="282" y="0"/>
                    </a:cubicBezTo>
                    <a:cubicBezTo>
                      <a:pt x="127" y="0"/>
                      <a:pt x="0" y="127"/>
                      <a:pt x="0" y="283"/>
                    </a:cubicBezTo>
                    <a:cubicBezTo>
                      <a:pt x="0" y="678"/>
                      <a:pt x="0" y="1073"/>
                      <a:pt x="0" y="1468"/>
                    </a:cubicBezTo>
                    <a:cubicBezTo>
                      <a:pt x="0" y="1623"/>
                      <a:pt x="127" y="1750"/>
                      <a:pt x="282" y="1750"/>
                    </a:cubicBezTo>
                    <a:cubicBezTo>
                      <a:pt x="677" y="1750"/>
                      <a:pt x="1072" y="1750"/>
                      <a:pt x="1467" y="1750"/>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nvGrpSpPr>
              <p:cNvPr id="8" name="Group 7">
                <a:extLst>
                  <a:ext uri="{FF2B5EF4-FFF2-40B4-BE49-F238E27FC236}">
                    <a16:creationId xmlns:a16="http://schemas.microsoft.com/office/drawing/2014/main" id="{A9A44B32-8659-83A6-9BF5-881AC2EDE95F}"/>
                  </a:ext>
                </a:extLst>
              </p:cNvPr>
              <p:cNvGrpSpPr/>
              <p:nvPr/>
            </p:nvGrpSpPr>
            <p:grpSpPr>
              <a:xfrm>
                <a:off x="6826091" y="5573813"/>
                <a:ext cx="504198" cy="504198"/>
                <a:chOff x="6826091" y="5573813"/>
                <a:chExt cx="504198" cy="504198"/>
              </a:xfrm>
            </p:grpSpPr>
            <p:sp>
              <p:nvSpPr>
                <p:cNvPr id="9" name="Freeform 138">
                  <a:extLst>
                    <a:ext uri="{FF2B5EF4-FFF2-40B4-BE49-F238E27FC236}">
                      <a16:creationId xmlns:a16="http://schemas.microsoft.com/office/drawing/2014/main" id="{81A93A96-EDA9-988D-AE0C-00FA7F7AE8C2}"/>
                    </a:ext>
                  </a:extLst>
                </p:cNvPr>
                <p:cNvSpPr>
                  <a:spLocks noChangeArrowheads="1"/>
                </p:cNvSpPr>
                <p:nvPr/>
              </p:nvSpPr>
              <p:spPr bwMode="auto">
                <a:xfrm>
                  <a:off x="6826091" y="5573813"/>
                  <a:ext cx="504198" cy="504198"/>
                </a:xfrm>
                <a:custGeom>
                  <a:avLst/>
                  <a:gdLst>
                    <a:gd name="T0" fmla="*/ 1129 w 1130"/>
                    <a:gd name="T1" fmla="*/ 564 h 1130"/>
                    <a:gd name="T2" fmla="*/ 1054 w 1130"/>
                    <a:gd name="T3" fmla="*/ 846 h 1130"/>
                    <a:gd name="T4" fmla="*/ 847 w 1130"/>
                    <a:gd name="T5" fmla="*/ 1053 h 1130"/>
                    <a:gd name="T6" fmla="*/ 565 w 1130"/>
                    <a:gd name="T7" fmla="*/ 1129 h 1130"/>
                    <a:gd name="T8" fmla="*/ 283 w 1130"/>
                    <a:gd name="T9" fmla="*/ 1053 h 1130"/>
                    <a:gd name="T10" fmla="*/ 76 w 1130"/>
                    <a:gd name="T11" fmla="*/ 846 h 1130"/>
                    <a:gd name="T12" fmla="*/ 0 w 1130"/>
                    <a:gd name="T13" fmla="*/ 564 h 1130"/>
                    <a:gd name="T14" fmla="*/ 76 w 1130"/>
                    <a:gd name="T15" fmla="*/ 282 h 1130"/>
                    <a:gd name="T16" fmla="*/ 283 w 1130"/>
                    <a:gd name="T17" fmla="*/ 75 h 1130"/>
                    <a:gd name="T18" fmla="*/ 565 w 1130"/>
                    <a:gd name="T19" fmla="*/ 0 h 1130"/>
                    <a:gd name="T20" fmla="*/ 847 w 1130"/>
                    <a:gd name="T21" fmla="*/ 75 h 1130"/>
                    <a:gd name="T22" fmla="*/ 1054 w 1130"/>
                    <a:gd name="T23" fmla="*/ 282 h 1130"/>
                    <a:gd name="T24" fmla="*/ 1129 w 1130"/>
                    <a:gd name="T25" fmla="*/ 564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0" h="1130">
                      <a:moveTo>
                        <a:pt x="1129" y="564"/>
                      </a:moveTo>
                      <a:cubicBezTo>
                        <a:pt x="1129" y="668"/>
                        <a:pt x="1106" y="756"/>
                        <a:pt x="1054" y="846"/>
                      </a:cubicBezTo>
                      <a:cubicBezTo>
                        <a:pt x="1002" y="936"/>
                        <a:pt x="937" y="1001"/>
                        <a:pt x="847" y="1053"/>
                      </a:cubicBezTo>
                      <a:cubicBezTo>
                        <a:pt x="757" y="1105"/>
                        <a:pt x="669" y="1129"/>
                        <a:pt x="565" y="1129"/>
                      </a:cubicBezTo>
                      <a:cubicBezTo>
                        <a:pt x="461" y="1129"/>
                        <a:pt x="373" y="1105"/>
                        <a:pt x="283" y="1053"/>
                      </a:cubicBezTo>
                      <a:cubicBezTo>
                        <a:pt x="193" y="1001"/>
                        <a:pt x="128" y="936"/>
                        <a:pt x="76" y="846"/>
                      </a:cubicBezTo>
                      <a:cubicBezTo>
                        <a:pt x="24" y="756"/>
                        <a:pt x="0" y="668"/>
                        <a:pt x="0" y="564"/>
                      </a:cubicBezTo>
                      <a:cubicBezTo>
                        <a:pt x="0" y="460"/>
                        <a:pt x="24" y="372"/>
                        <a:pt x="76" y="282"/>
                      </a:cubicBezTo>
                      <a:cubicBezTo>
                        <a:pt x="128" y="192"/>
                        <a:pt x="193" y="127"/>
                        <a:pt x="283" y="75"/>
                      </a:cubicBezTo>
                      <a:cubicBezTo>
                        <a:pt x="373" y="24"/>
                        <a:pt x="461" y="0"/>
                        <a:pt x="565" y="0"/>
                      </a:cubicBezTo>
                      <a:cubicBezTo>
                        <a:pt x="669" y="0"/>
                        <a:pt x="757" y="24"/>
                        <a:pt x="847" y="75"/>
                      </a:cubicBezTo>
                      <a:cubicBezTo>
                        <a:pt x="937" y="127"/>
                        <a:pt x="1002" y="192"/>
                        <a:pt x="1054" y="282"/>
                      </a:cubicBezTo>
                      <a:cubicBezTo>
                        <a:pt x="1106" y="372"/>
                        <a:pt x="1129" y="460"/>
                        <a:pt x="1129" y="564"/>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139">
                  <a:extLst>
                    <a:ext uri="{FF2B5EF4-FFF2-40B4-BE49-F238E27FC236}">
                      <a16:creationId xmlns:a16="http://schemas.microsoft.com/office/drawing/2014/main" id="{ACE3B2FA-9459-EAE1-E594-A2E44B705D90}"/>
                    </a:ext>
                  </a:extLst>
                </p:cNvPr>
                <p:cNvSpPr>
                  <a:spLocks noChangeArrowheads="1"/>
                </p:cNvSpPr>
                <p:nvPr/>
              </p:nvSpPr>
              <p:spPr bwMode="auto">
                <a:xfrm>
                  <a:off x="6875328" y="5625020"/>
                  <a:ext cx="403753" cy="403752"/>
                </a:xfrm>
                <a:custGeom>
                  <a:avLst/>
                  <a:gdLst>
                    <a:gd name="T0" fmla="*/ 903 w 904"/>
                    <a:gd name="T1" fmla="*/ 451 h 904"/>
                    <a:gd name="T2" fmla="*/ 843 w 904"/>
                    <a:gd name="T3" fmla="*/ 677 h 904"/>
                    <a:gd name="T4" fmla="*/ 678 w 904"/>
                    <a:gd name="T5" fmla="*/ 842 h 904"/>
                    <a:gd name="T6" fmla="*/ 452 w 904"/>
                    <a:gd name="T7" fmla="*/ 903 h 904"/>
                    <a:gd name="T8" fmla="*/ 226 w 904"/>
                    <a:gd name="T9" fmla="*/ 842 h 904"/>
                    <a:gd name="T10" fmla="*/ 61 w 904"/>
                    <a:gd name="T11" fmla="*/ 677 h 904"/>
                    <a:gd name="T12" fmla="*/ 0 w 904"/>
                    <a:gd name="T13" fmla="*/ 451 h 904"/>
                    <a:gd name="T14" fmla="*/ 61 w 904"/>
                    <a:gd name="T15" fmla="*/ 226 h 904"/>
                    <a:gd name="T16" fmla="*/ 226 w 904"/>
                    <a:gd name="T17" fmla="*/ 60 h 904"/>
                    <a:gd name="T18" fmla="*/ 452 w 904"/>
                    <a:gd name="T19" fmla="*/ 0 h 904"/>
                    <a:gd name="T20" fmla="*/ 678 w 904"/>
                    <a:gd name="T21" fmla="*/ 60 h 904"/>
                    <a:gd name="T22" fmla="*/ 843 w 904"/>
                    <a:gd name="T23" fmla="*/ 226 h 904"/>
                    <a:gd name="T24" fmla="*/ 903 w 904"/>
                    <a:gd name="T25" fmla="*/ 451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4" h="904">
                      <a:moveTo>
                        <a:pt x="903" y="451"/>
                      </a:moveTo>
                      <a:cubicBezTo>
                        <a:pt x="903" y="534"/>
                        <a:pt x="885" y="605"/>
                        <a:pt x="843" y="677"/>
                      </a:cubicBezTo>
                      <a:cubicBezTo>
                        <a:pt x="802" y="749"/>
                        <a:pt x="750" y="801"/>
                        <a:pt x="678" y="842"/>
                      </a:cubicBezTo>
                      <a:cubicBezTo>
                        <a:pt x="606" y="884"/>
                        <a:pt x="535" y="903"/>
                        <a:pt x="452" y="903"/>
                      </a:cubicBezTo>
                      <a:cubicBezTo>
                        <a:pt x="369" y="903"/>
                        <a:pt x="298" y="884"/>
                        <a:pt x="226" y="842"/>
                      </a:cubicBezTo>
                      <a:cubicBezTo>
                        <a:pt x="154" y="801"/>
                        <a:pt x="103" y="749"/>
                        <a:pt x="61" y="677"/>
                      </a:cubicBezTo>
                      <a:cubicBezTo>
                        <a:pt x="20" y="605"/>
                        <a:pt x="0" y="534"/>
                        <a:pt x="0" y="451"/>
                      </a:cubicBezTo>
                      <a:cubicBezTo>
                        <a:pt x="0" y="368"/>
                        <a:pt x="20" y="298"/>
                        <a:pt x="61" y="226"/>
                      </a:cubicBezTo>
                      <a:cubicBezTo>
                        <a:pt x="103" y="154"/>
                        <a:pt x="154" y="102"/>
                        <a:pt x="226" y="60"/>
                      </a:cubicBezTo>
                      <a:cubicBezTo>
                        <a:pt x="298" y="19"/>
                        <a:pt x="369" y="0"/>
                        <a:pt x="452" y="0"/>
                      </a:cubicBezTo>
                      <a:cubicBezTo>
                        <a:pt x="535" y="0"/>
                        <a:pt x="606" y="19"/>
                        <a:pt x="678" y="60"/>
                      </a:cubicBezTo>
                      <a:cubicBezTo>
                        <a:pt x="750" y="102"/>
                        <a:pt x="802" y="154"/>
                        <a:pt x="843" y="226"/>
                      </a:cubicBezTo>
                      <a:cubicBezTo>
                        <a:pt x="885" y="298"/>
                        <a:pt x="903" y="368"/>
                        <a:pt x="903" y="451"/>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140">
                  <a:extLst>
                    <a:ext uri="{FF2B5EF4-FFF2-40B4-BE49-F238E27FC236}">
                      <a16:creationId xmlns:a16="http://schemas.microsoft.com/office/drawing/2014/main" id="{1710970D-86FF-0217-373A-B713CD5227FA}"/>
                    </a:ext>
                  </a:extLst>
                </p:cNvPr>
                <p:cNvSpPr>
                  <a:spLocks noChangeArrowheads="1"/>
                </p:cNvSpPr>
                <p:nvPr/>
              </p:nvSpPr>
              <p:spPr bwMode="auto">
                <a:xfrm>
                  <a:off x="7011226" y="5825912"/>
                  <a:ext cx="76811" cy="1969"/>
                </a:xfrm>
                <a:custGeom>
                  <a:avLst/>
                  <a:gdLst>
                    <a:gd name="T0" fmla="*/ 0 w 171"/>
                    <a:gd name="T1" fmla="*/ 0 h 1"/>
                    <a:gd name="T2" fmla="*/ 170 w 171"/>
                    <a:gd name="T3" fmla="*/ 0 h 1"/>
                  </a:gdLst>
                  <a:ahLst/>
                  <a:cxnLst>
                    <a:cxn ang="0">
                      <a:pos x="T0" y="T1"/>
                    </a:cxn>
                    <a:cxn ang="0">
                      <a:pos x="T2" y="T3"/>
                    </a:cxn>
                  </a:cxnLst>
                  <a:rect l="0" t="0" r="r" b="b"/>
                  <a:pathLst>
                    <a:path w="171" h="1">
                      <a:moveTo>
                        <a:pt x="0" y="0"/>
                      </a:moveTo>
                      <a:cubicBezTo>
                        <a:pt x="57" y="0"/>
                        <a:pt x="114" y="0"/>
                        <a:pt x="17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12" name="Freeform 141">
                  <a:extLst>
                    <a:ext uri="{FF2B5EF4-FFF2-40B4-BE49-F238E27FC236}">
                      <a16:creationId xmlns:a16="http://schemas.microsoft.com/office/drawing/2014/main" id="{C5BA8B55-BC4A-2C21-515F-D9AE30B42E12}"/>
                    </a:ext>
                  </a:extLst>
                </p:cNvPr>
                <p:cNvSpPr>
                  <a:spLocks noChangeArrowheads="1"/>
                </p:cNvSpPr>
                <p:nvPr/>
              </p:nvSpPr>
              <p:spPr bwMode="auto">
                <a:xfrm>
                  <a:off x="7011226" y="5725466"/>
                  <a:ext cx="131958" cy="202862"/>
                </a:xfrm>
                <a:custGeom>
                  <a:avLst/>
                  <a:gdLst>
                    <a:gd name="T0" fmla="*/ 293 w 294"/>
                    <a:gd name="T1" fmla="*/ 451 h 452"/>
                    <a:gd name="T2" fmla="*/ 8 w 294"/>
                    <a:gd name="T3" fmla="*/ 451 h 452"/>
                    <a:gd name="T4" fmla="*/ 1 w 294"/>
                    <a:gd name="T5" fmla="*/ 446 h 452"/>
                    <a:gd name="T6" fmla="*/ 3 w 294"/>
                    <a:gd name="T7" fmla="*/ 438 h 452"/>
                    <a:gd name="T8" fmla="*/ 65 w 294"/>
                    <a:gd name="T9" fmla="*/ 322 h 452"/>
                    <a:gd name="T10" fmla="*/ 47 w 294"/>
                    <a:gd name="T11" fmla="*/ 144 h 452"/>
                    <a:gd name="T12" fmla="*/ 186 w 294"/>
                    <a:gd name="T13" fmla="*/ 0 h 452"/>
                    <a:gd name="T14" fmla="*/ 265 w 294"/>
                    <a:gd name="T15" fmla="*/ 18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4" h="452">
                      <a:moveTo>
                        <a:pt x="293" y="451"/>
                      </a:moveTo>
                      <a:cubicBezTo>
                        <a:pt x="198" y="451"/>
                        <a:pt x="103" y="451"/>
                        <a:pt x="8" y="451"/>
                      </a:cubicBezTo>
                      <a:cubicBezTo>
                        <a:pt x="4" y="451"/>
                        <a:pt x="2" y="449"/>
                        <a:pt x="1" y="446"/>
                      </a:cubicBezTo>
                      <a:cubicBezTo>
                        <a:pt x="0" y="443"/>
                        <a:pt x="1" y="440"/>
                        <a:pt x="3" y="438"/>
                      </a:cubicBezTo>
                      <a:cubicBezTo>
                        <a:pt x="41" y="411"/>
                        <a:pt x="65" y="369"/>
                        <a:pt x="65" y="322"/>
                      </a:cubicBezTo>
                      <a:cubicBezTo>
                        <a:pt x="65" y="260"/>
                        <a:pt x="47" y="206"/>
                        <a:pt x="47" y="144"/>
                      </a:cubicBezTo>
                      <a:cubicBezTo>
                        <a:pt x="47" y="56"/>
                        <a:pt x="105" y="0"/>
                        <a:pt x="186" y="0"/>
                      </a:cubicBezTo>
                      <a:cubicBezTo>
                        <a:pt x="224" y="0"/>
                        <a:pt x="250" y="8"/>
                        <a:pt x="265" y="18"/>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3" name="Group 2">
              <a:extLst>
                <a:ext uri="{FF2B5EF4-FFF2-40B4-BE49-F238E27FC236}">
                  <a16:creationId xmlns:a16="http://schemas.microsoft.com/office/drawing/2014/main" id="{8127BE15-224B-06B0-D421-01A09BBCA310}"/>
                </a:ext>
              </a:extLst>
            </p:cNvPr>
            <p:cNvGrpSpPr>
              <a:grpSpLocks noChangeAspect="1"/>
            </p:cNvGrpSpPr>
            <p:nvPr/>
          </p:nvGrpSpPr>
          <p:grpSpPr>
            <a:xfrm>
              <a:off x="15756889" y="8636418"/>
              <a:ext cx="1115894" cy="1115894"/>
              <a:chOff x="2755083" y="533799"/>
              <a:chExt cx="781902" cy="781902"/>
            </a:xfrm>
          </p:grpSpPr>
          <p:grpSp>
            <p:nvGrpSpPr>
              <p:cNvPr id="13" name="Group 12">
                <a:extLst>
                  <a:ext uri="{FF2B5EF4-FFF2-40B4-BE49-F238E27FC236}">
                    <a16:creationId xmlns:a16="http://schemas.microsoft.com/office/drawing/2014/main" id="{6447DD19-39E2-0825-EFC1-BC2A1FDF2AFB}"/>
                  </a:ext>
                </a:extLst>
              </p:cNvPr>
              <p:cNvGrpSpPr/>
              <p:nvPr/>
            </p:nvGrpSpPr>
            <p:grpSpPr>
              <a:xfrm>
                <a:off x="2892949" y="671665"/>
                <a:ext cx="504198" cy="504198"/>
                <a:chOff x="2892949" y="671665"/>
                <a:chExt cx="504198" cy="504198"/>
              </a:xfrm>
            </p:grpSpPr>
            <p:sp>
              <p:nvSpPr>
                <p:cNvPr id="15" name="Freeform 49">
                  <a:extLst>
                    <a:ext uri="{FF2B5EF4-FFF2-40B4-BE49-F238E27FC236}">
                      <a16:creationId xmlns:a16="http://schemas.microsoft.com/office/drawing/2014/main" id="{89E3F49E-6EEC-560E-9360-821D11357490}"/>
                    </a:ext>
                  </a:extLst>
                </p:cNvPr>
                <p:cNvSpPr>
                  <a:spLocks noChangeArrowheads="1"/>
                </p:cNvSpPr>
                <p:nvPr/>
              </p:nvSpPr>
              <p:spPr bwMode="auto">
                <a:xfrm>
                  <a:off x="2892949" y="671665"/>
                  <a:ext cx="504198" cy="504198"/>
                </a:xfrm>
                <a:custGeom>
                  <a:avLst/>
                  <a:gdLst>
                    <a:gd name="T0" fmla="*/ 502 w 1130"/>
                    <a:gd name="T1" fmla="*/ 74 h 1130"/>
                    <a:gd name="T2" fmla="*/ 565 w 1130"/>
                    <a:gd name="T3" fmla="*/ 0 h 1130"/>
                    <a:gd name="T4" fmla="*/ 627 w 1130"/>
                    <a:gd name="T5" fmla="*/ 74 h 1130"/>
                    <a:gd name="T6" fmla="*/ 756 w 1130"/>
                    <a:gd name="T7" fmla="*/ 109 h 1130"/>
                    <a:gd name="T8" fmla="*/ 847 w 1130"/>
                    <a:gd name="T9" fmla="*/ 76 h 1130"/>
                    <a:gd name="T10" fmla="*/ 864 w 1130"/>
                    <a:gd name="T11" fmla="*/ 171 h 1130"/>
                    <a:gd name="T12" fmla="*/ 958 w 1130"/>
                    <a:gd name="T13" fmla="*/ 265 h 1130"/>
                    <a:gd name="T14" fmla="*/ 1053 w 1130"/>
                    <a:gd name="T15" fmla="*/ 283 h 1130"/>
                    <a:gd name="T16" fmla="*/ 1021 w 1130"/>
                    <a:gd name="T17" fmla="*/ 374 h 1130"/>
                    <a:gd name="T18" fmla="*/ 1055 w 1130"/>
                    <a:gd name="T19" fmla="*/ 502 h 1130"/>
                    <a:gd name="T20" fmla="*/ 1129 w 1130"/>
                    <a:gd name="T21" fmla="*/ 565 h 1130"/>
                    <a:gd name="T22" fmla="*/ 1055 w 1130"/>
                    <a:gd name="T23" fmla="*/ 627 h 1130"/>
                    <a:gd name="T24" fmla="*/ 1021 w 1130"/>
                    <a:gd name="T25" fmla="*/ 756 h 1130"/>
                    <a:gd name="T26" fmla="*/ 1053 w 1130"/>
                    <a:gd name="T27" fmla="*/ 847 h 1130"/>
                    <a:gd name="T28" fmla="*/ 958 w 1130"/>
                    <a:gd name="T29" fmla="*/ 864 h 1130"/>
                    <a:gd name="T30" fmla="*/ 864 w 1130"/>
                    <a:gd name="T31" fmla="*/ 958 h 1130"/>
                    <a:gd name="T32" fmla="*/ 847 w 1130"/>
                    <a:gd name="T33" fmla="*/ 1054 h 1130"/>
                    <a:gd name="T34" fmla="*/ 756 w 1130"/>
                    <a:gd name="T35" fmla="*/ 1021 h 1130"/>
                    <a:gd name="T36" fmla="*/ 627 w 1130"/>
                    <a:gd name="T37" fmla="*/ 1055 h 1130"/>
                    <a:gd name="T38" fmla="*/ 565 w 1130"/>
                    <a:gd name="T39" fmla="*/ 1129 h 1130"/>
                    <a:gd name="T40" fmla="*/ 502 w 1130"/>
                    <a:gd name="T41" fmla="*/ 1055 h 1130"/>
                    <a:gd name="T42" fmla="*/ 374 w 1130"/>
                    <a:gd name="T43" fmla="*/ 1021 h 1130"/>
                    <a:gd name="T44" fmla="*/ 282 w 1130"/>
                    <a:gd name="T45" fmla="*/ 1054 h 1130"/>
                    <a:gd name="T46" fmla="*/ 265 w 1130"/>
                    <a:gd name="T47" fmla="*/ 958 h 1130"/>
                    <a:gd name="T48" fmla="*/ 171 w 1130"/>
                    <a:gd name="T49" fmla="*/ 864 h 1130"/>
                    <a:gd name="T50" fmla="*/ 76 w 1130"/>
                    <a:gd name="T51" fmla="*/ 847 h 1130"/>
                    <a:gd name="T52" fmla="*/ 109 w 1130"/>
                    <a:gd name="T53" fmla="*/ 756 h 1130"/>
                    <a:gd name="T54" fmla="*/ 74 w 1130"/>
                    <a:gd name="T55" fmla="*/ 627 h 1130"/>
                    <a:gd name="T56" fmla="*/ 0 w 1130"/>
                    <a:gd name="T57" fmla="*/ 565 h 1130"/>
                    <a:gd name="T58" fmla="*/ 74 w 1130"/>
                    <a:gd name="T59" fmla="*/ 502 h 1130"/>
                    <a:gd name="T60" fmla="*/ 109 w 1130"/>
                    <a:gd name="T61" fmla="*/ 374 h 1130"/>
                    <a:gd name="T62" fmla="*/ 76 w 1130"/>
                    <a:gd name="T63" fmla="*/ 283 h 1130"/>
                    <a:gd name="T64" fmla="*/ 171 w 1130"/>
                    <a:gd name="T65" fmla="*/ 265 h 1130"/>
                    <a:gd name="T66" fmla="*/ 265 w 1130"/>
                    <a:gd name="T67" fmla="*/ 171 h 1130"/>
                    <a:gd name="T68" fmla="*/ 282 w 1130"/>
                    <a:gd name="T69" fmla="*/ 76 h 1130"/>
                    <a:gd name="T70" fmla="*/ 374 w 1130"/>
                    <a:gd name="T71" fmla="*/ 109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30" h="1130">
                      <a:moveTo>
                        <a:pt x="451" y="141"/>
                      </a:moveTo>
                      <a:cubicBezTo>
                        <a:pt x="482" y="132"/>
                        <a:pt x="502" y="105"/>
                        <a:pt x="502" y="74"/>
                      </a:cubicBezTo>
                      <a:cubicBezTo>
                        <a:pt x="502" y="70"/>
                        <a:pt x="502" y="67"/>
                        <a:pt x="502" y="63"/>
                      </a:cubicBezTo>
                      <a:cubicBezTo>
                        <a:pt x="502" y="28"/>
                        <a:pt x="530" y="0"/>
                        <a:pt x="565" y="0"/>
                      </a:cubicBezTo>
                      <a:cubicBezTo>
                        <a:pt x="599" y="0"/>
                        <a:pt x="627" y="28"/>
                        <a:pt x="627" y="63"/>
                      </a:cubicBezTo>
                      <a:cubicBezTo>
                        <a:pt x="627" y="67"/>
                        <a:pt x="627" y="70"/>
                        <a:pt x="627" y="74"/>
                      </a:cubicBezTo>
                      <a:cubicBezTo>
                        <a:pt x="627" y="105"/>
                        <a:pt x="648" y="132"/>
                        <a:pt x="678" y="141"/>
                      </a:cubicBezTo>
                      <a:cubicBezTo>
                        <a:pt x="709" y="149"/>
                        <a:pt x="740" y="135"/>
                        <a:pt x="756" y="109"/>
                      </a:cubicBezTo>
                      <a:cubicBezTo>
                        <a:pt x="757" y="105"/>
                        <a:pt x="759" y="102"/>
                        <a:pt x="761" y="99"/>
                      </a:cubicBezTo>
                      <a:cubicBezTo>
                        <a:pt x="778" y="69"/>
                        <a:pt x="817" y="59"/>
                        <a:pt x="847" y="76"/>
                      </a:cubicBezTo>
                      <a:cubicBezTo>
                        <a:pt x="877" y="93"/>
                        <a:pt x="887" y="132"/>
                        <a:pt x="870" y="162"/>
                      </a:cubicBezTo>
                      <a:cubicBezTo>
                        <a:pt x="868" y="165"/>
                        <a:pt x="866" y="168"/>
                        <a:pt x="864" y="171"/>
                      </a:cubicBezTo>
                      <a:cubicBezTo>
                        <a:pt x="849" y="198"/>
                        <a:pt x="853" y="232"/>
                        <a:pt x="875" y="254"/>
                      </a:cubicBezTo>
                      <a:cubicBezTo>
                        <a:pt x="898" y="277"/>
                        <a:pt x="932" y="280"/>
                        <a:pt x="958" y="265"/>
                      </a:cubicBezTo>
                      <a:cubicBezTo>
                        <a:pt x="961" y="263"/>
                        <a:pt x="964" y="262"/>
                        <a:pt x="968" y="260"/>
                      </a:cubicBezTo>
                      <a:cubicBezTo>
                        <a:pt x="998" y="242"/>
                        <a:pt x="1036" y="253"/>
                        <a:pt x="1053" y="283"/>
                      </a:cubicBezTo>
                      <a:cubicBezTo>
                        <a:pt x="1071" y="312"/>
                        <a:pt x="1060" y="351"/>
                        <a:pt x="1030" y="368"/>
                      </a:cubicBezTo>
                      <a:cubicBezTo>
                        <a:pt x="1027" y="370"/>
                        <a:pt x="1024" y="372"/>
                        <a:pt x="1021" y="374"/>
                      </a:cubicBezTo>
                      <a:cubicBezTo>
                        <a:pt x="994" y="389"/>
                        <a:pt x="980" y="420"/>
                        <a:pt x="989" y="451"/>
                      </a:cubicBezTo>
                      <a:cubicBezTo>
                        <a:pt x="997" y="482"/>
                        <a:pt x="1025" y="502"/>
                        <a:pt x="1055" y="502"/>
                      </a:cubicBezTo>
                      <a:cubicBezTo>
                        <a:pt x="1059" y="502"/>
                        <a:pt x="1062" y="502"/>
                        <a:pt x="1066" y="502"/>
                      </a:cubicBezTo>
                      <a:cubicBezTo>
                        <a:pt x="1101" y="502"/>
                        <a:pt x="1129" y="530"/>
                        <a:pt x="1129" y="565"/>
                      </a:cubicBezTo>
                      <a:cubicBezTo>
                        <a:pt x="1129" y="599"/>
                        <a:pt x="1101" y="627"/>
                        <a:pt x="1066" y="627"/>
                      </a:cubicBezTo>
                      <a:cubicBezTo>
                        <a:pt x="1062" y="627"/>
                        <a:pt x="1059" y="627"/>
                        <a:pt x="1055" y="627"/>
                      </a:cubicBezTo>
                      <a:cubicBezTo>
                        <a:pt x="1025" y="627"/>
                        <a:pt x="997" y="648"/>
                        <a:pt x="989" y="678"/>
                      </a:cubicBezTo>
                      <a:cubicBezTo>
                        <a:pt x="980" y="709"/>
                        <a:pt x="994" y="740"/>
                        <a:pt x="1021" y="756"/>
                      </a:cubicBezTo>
                      <a:cubicBezTo>
                        <a:pt x="1024" y="758"/>
                        <a:pt x="1027" y="759"/>
                        <a:pt x="1030" y="761"/>
                      </a:cubicBezTo>
                      <a:cubicBezTo>
                        <a:pt x="1060" y="779"/>
                        <a:pt x="1070" y="817"/>
                        <a:pt x="1053" y="847"/>
                      </a:cubicBezTo>
                      <a:cubicBezTo>
                        <a:pt x="1035" y="877"/>
                        <a:pt x="998" y="887"/>
                        <a:pt x="968" y="870"/>
                      </a:cubicBezTo>
                      <a:cubicBezTo>
                        <a:pt x="964" y="868"/>
                        <a:pt x="961" y="866"/>
                        <a:pt x="958" y="864"/>
                      </a:cubicBezTo>
                      <a:cubicBezTo>
                        <a:pt x="932" y="849"/>
                        <a:pt x="898" y="853"/>
                        <a:pt x="875" y="875"/>
                      </a:cubicBezTo>
                      <a:cubicBezTo>
                        <a:pt x="853" y="898"/>
                        <a:pt x="849" y="932"/>
                        <a:pt x="864" y="958"/>
                      </a:cubicBezTo>
                      <a:cubicBezTo>
                        <a:pt x="866" y="961"/>
                        <a:pt x="868" y="964"/>
                        <a:pt x="870" y="968"/>
                      </a:cubicBezTo>
                      <a:cubicBezTo>
                        <a:pt x="887" y="998"/>
                        <a:pt x="877" y="1036"/>
                        <a:pt x="847" y="1054"/>
                      </a:cubicBezTo>
                      <a:cubicBezTo>
                        <a:pt x="817" y="1071"/>
                        <a:pt x="778" y="1060"/>
                        <a:pt x="761" y="1031"/>
                      </a:cubicBezTo>
                      <a:cubicBezTo>
                        <a:pt x="759" y="1027"/>
                        <a:pt x="757" y="1024"/>
                        <a:pt x="756" y="1021"/>
                      </a:cubicBezTo>
                      <a:cubicBezTo>
                        <a:pt x="740" y="994"/>
                        <a:pt x="709" y="981"/>
                        <a:pt x="678" y="989"/>
                      </a:cubicBezTo>
                      <a:cubicBezTo>
                        <a:pt x="648" y="997"/>
                        <a:pt x="627" y="1025"/>
                        <a:pt x="627" y="1055"/>
                      </a:cubicBezTo>
                      <a:cubicBezTo>
                        <a:pt x="627" y="1059"/>
                        <a:pt x="627" y="1062"/>
                        <a:pt x="627" y="1066"/>
                      </a:cubicBezTo>
                      <a:cubicBezTo>
                        <a:pt x="627" y="1101"/>
                        <a:pt x="599" y="1129"/>
                        <a:pt x="565" y="1129"/>
                      </a:cubicBezTo>
                      <a:cubicBezTo>
                        <a:pt x="530" y="1129"/>
                        <a:pt x="502" y="1101"/>
                        <a:pt x="502" y="1066"/>
                      </a:cubicBezTo>
                      <a:cubicBezTo>
                        <a:pt x="502" y="1062"/>
                        <a:pt x="502" y="1059"/>
                        <a:pt x="502" y="1055"/>
                      </a:cubicBezTo>
                      <a:cubicBezTo>
                        <a:pt x="502" y="1025"/>
                        <a:pt x="482" y="997"/>
                        <a:pt x="451" y="989"/>
                      </a:cubicBezTo>
                      <a:cubicBezTo>
                        <a:pt x="420" y="981"/>
                        <a:pt x="389" y="994"/>
                        <a:pt x="374" y="1021"/>
                      </a:cubicBezTo>
                      <a:cubicBezTo>
                        <a:pt x="372" y="1024"/>
                        <a:pt x="370" y="1027"/>
                        <a:pt x="368" y="1031"/>
                      </a:cubicBezTo>
                      <a:cubicBezTo>
                        <a:pt x="351" y="1060"/>
                        <a:pt x="312" y="1071"/>
                        <a:pt x="282" y="1054"/>
                      </a:cubicBezTo>
                      <a:cubicBezTo>
                        <a:pt x="252" y="1036"/>
                        <a:pt x="242" y="998"/>
                        <a:pt x="259" y="968"/>
                      </a:cubicBezTo>
                      <a:cubicBezTo>
                        <a:pt x="261" y="964"/>
                        <a:pt x="263" y="961"/>
                        <a:pt x="265" y="958"/>
                      </a:cubicBezTo>
                      <a:cubicBezTo>
                        <a:pt x="280" y="932"/>
                        <a:pt x="277" y="898"/>
                        <a:pt x="254" y="875"/>
                      </a:cubicBezTo>
                      <a:cubicBezTo>
                        <a:pt x="232" y="853"/>
                        <a:pt x="198" y="849"/>
                        <a:pt x="171" y="864"/>
                      </a:cubicBezTo>
                      <a:cubicBezTo>
                        <a:pt x="168" y="866"/>
                        <a:pt x="165" y="868"/>
                        <a:pt x="162" y="870"/>
                      </a:cubicBezTo>
                      <a:cubicBezTo>
                        <a:pt x="132" y="887"/>
                        <a:pt x="93" y="877"/>
                        <a:pt x="76" y="847"/>
                      </a:cubicBezTo>
                      <a:cubicBezTo>
                        <a:pt x="59" y="817"/>
                        <a:pt x="69" y="779"/>
                        <a:pt x="99" y="761"/>
                      </a:cubicBezTo>
                      <a:cubicBezTo>
                        <a:pt x="102" y="759"/>
                        <a:pt x="105" y="758"/>
                        <a:pt x="109" y="756"/>
                      </a:cubicBezTo>
                      <a:cubicBezTo>
                        <a:pt x="135" y="740"/>
                        <a:pt x="149" y="709"/>
                        <a:pt x="141" y="678"/>
                      </a:cubicBezTo>
                      <a:cubicBezTo>
                        <a:pt x="132" y="648"/>
                        <a:pt x="105" y="627"/>
                        <a:pt x="74" y="627"/>
                      </a:cubicBezTo>
                      <a:cubicBezTo>
                        <a:pt x="70" y="627"/>
                        <a:pt x="67" y="627"/>
                        <a:pt x="63" y="627"/>
                      </a:cubicBezTo>
                      <a:cubicBezTo>
                        <a:pt x="28" y="627"/>
                        <a:pt x="0" y="599"/>
                        <a:pt x="0" y="565"/>
                      </a:cubicBezTo>
                      <a:cubicBezTo>
                        <a:pt x="0" y="530"/>
                        <a:pt x="28" y="502"/>
                        <a:pt x="63" y="502"/>
                      </a:cubicBezTo>
                      <a:cubicBezTo>
                        <a:pt x="67" y="502"/>
                        <a:pt x="70" y="502"/>
                        <a:pt x="74" y="502"/>
                      </a:cubicBezTo>
                      <a:cubicBezTo>
                        <a:pt x="105" y="502"/>
                        <a:pt x="132" y="482"/>
                        <a:pt x="141" y="451"/>
                      </a:cubicBezTo>
                      <a:cubicBezTo>
                        <a:pt x="149" y="420"/>
                        <a:pt x="135" y="389"/>
                        <a:pt x="109" y="374"/>
                      </a:cubicBezTo>
                      <a:cubicBezTo>
                        <a:pt x="105" y="372"/>
                        <a:pt x="102" y="370"/>
                        <a:pt x="99" y="368"/>
                      </a:cubicBezTo>
                      <a:cubicBezTo>
                        <a:pt x="69" y="351"/>
                        <a:pt x="59" y="312"/>
                        <a:pt x="76" y="283"/>
                      </a:cubicBezTo>
                      <a:cubicBezTo>
                        <a:pt x="93" y="253"/>
                        <a:pt x="132" y="242"/>
                        <a:pt x="162" y="260"/>
                      </a:cubicBezTo>
                      <a:cubicBezTo>
                        <a:pt x="165" y="262"/>
                        <a:pt x="168" y="263"/>
                        <a:pt x="171" y="265"/>
                      </a:cubicBezTo>
                      <a:cubicBezTo>
                        <a:pt x="198" y="280"/>
                        <a:pt x="232" y="277"/>
                        <a:pt x="254" y="254"/>
                      </a:cubicBezTo>
                      <a:cubicBezTo>
                        <a:pt x="277" y="232"/>
                        <a:pt x="280" y="198"/>
                        <a:pt x="265" y="171"/>
                      </a:cubicBezTo>
                      <a:cubicBezTo>
                        <a:pt x="263" y="168"/>
                        <a:pt x="261" y="165"/>
                        <a:pt x="259" y="162"/>
                      </a:cubicBezTo>
                      <a:cubicBezTo>
                        <a:pt x="242" y="132"/>
                        <a:pt x="252" y="93"/>
                        <a:pt x="282" y="76"/>
                      </a:cubicBezTo>
                      <a:cubicBezTo>
                        <a:pt x="312" y="59"/>
                        <a:pt x="351" y="69"/>
                        <a:pt x="368" y="99"/>
                      </a:cubicBezTo>
                      <a:cubicBezTo>
                        <a:pt x="370" y="102"/>
                        <a:pt x="372" y="105"/>
                        <a:pt x="374" y="109"/>
                      </a:cubicBezTo>
                      <a:cubicBezTo>
                        <a:pt x="389" y="135"/>
                        <a:pt x="420" y="149"/>
                        <a:pt x="451" y="141"/>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50">
                  <a:extLst>
                    <a:ext uri="{FF2B5EF4-FFF2-40B4-BE49-F238E27FC236}">
                      <a16:creationId xmlns:a16="http://schemas.microsoft.com/office/drawing/2014/main" id="{EA88DDD8-53E3-36E9-4135-A310C96D9D9C}"/>
                    </a:ext>
                  </a:extLst>
                </p:cNvPr>
                <p:cNvSpPr>
                  <a:spLocks noChangeArrowheads="1"/>
                </p:cNvSpPr>
                <p:nvPr/>
              </p:nvSpPr>
              <p:spPr bwMode="auto">
                <a:xfrm>
                  <a:off x="3107628" y="886344"/>
                  <a:ext cx="76811" cy="76811"/>
                </a:xfrm>
                <a:custGeom>
                  <a:avLst/>
                  <a:gdLst>
                    <a:gd name="T0" fmla="*/ 169 w 170"/>
                    <a:gd name="T1" fmla="*/ 85 h 170"/>
                    <a:gd name="T2" fmla="*/ 158 w 170"/>
                    <a:gd name="T3" fmla="*/ 127 h 170"/>
                    <a:gd name="T4" fmla="*/ 127 w 170"/>
                    <a:gd name="T5" fmla="*/ 158 h 170"/>
                    <a:gd name="T6" fmla="*/ 85 w 170"/>
                    <a:gd name="T7" fmla="*/ 169 h 170"/>
                    <a:gd name="T8" fmla="*/ 42 w 170"/>
                    <a:gd name="T9" fmla="*/ 158 h 170"/>
                    <a:gd name="T10" fmla="*/ 11 w 170"/>
                    <a:gd name="T11" fmla="*/ 127 h 170"/>
                    <a:gd name="T12" fmla="*/ 0 w 170"/>
                    <a:gd name="T13" fmla="*/ 85 h 170"/>
                    <a:gd name="T14" fmla="*/ 11 w 170"/>
                    <a:gd name="T15" fmla="*/ 42 h 170"/>
                    <a:gd name="T16" fmla="*/ 42 w 170"/>
                    <a:gd name="T17" fmla="*/ 11 h 170"/>
                    <a:gd name="T18" fmla="*/ 85 w 170"/>
                    <a:gd name="T19" fmla="*/ 0 h 170"/>
                    <a:gd name="T20" fmla="*/ 127 w 170"/>
                    <a:gd name="T21" fmla="*/ 11 h 170"/>
                    <a:gd name="T22" fmla="*/ 158 w 170"/>
                    <a:gd name="T23" fmla="*/ 42 h 170"/>
                    <a:gd name="T24" fmla="*/ 169 w 170"/>
                    <a:gd name="T25" fmla="*/ 8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170">
                      <a:moveTo>
                        <a:pt x="169" y="85"/>
                      </a:moveTo>
                      <a:cubicBezTo>
                        <a:pt x="169" y="100"/>
                        <a:pt x="166" y="113"/>
                        <a:pt x="158" y="127"/>
                      </a:cubicBezTo>
                      <a:cubicBezTo>
                        <a:pt x="150" y="140"/>
                        <a:pt x="140" y="150"/>
                        <a:pt x="127" y="158"/>
                      </a:cubicBezTo>
                      <a:cubicBezTo>
                        <a:pt x="113" y="166"/>
                        <a:pt x="100" y="169"/>
                        <a:pt x="85" y="169"/>
                      </a:cubicBezTo>
                      <a:cubicBezTo>
                        <a:pt x="69" y="169"/>
                        <a:pt x="55" y="166"/>
                        <a:pt x="42" y="158"/>
                      </a:cubicBezTo>
                      <a:cubicBezTo>
                        <a:pt x="28" y="150"/>
                        <a:pt x="18" y="140"/>
                        <a:pt x="11" y="127"/>
                      </a:cubicBezTo>
                      <a:cubicBezTo>
                        <a:pt x="3" y="113"/>
                        <a:pt x="0" y="100"/>
                        <a:pt x="0" y="85"/>
                      </a:cubicBezTo>
                      <a:cubicBezTo>
                        <a:pt x="0" y="69"/>
                        <a:pt x="3" y="55"/>
                        <a:pt x="11" y="42"/>
                      </a:cubicBezTo>
                      <a:cubicBezTo>
                        <a:pt x="18" y="28"/>
                        <a:pt x="28" y="18"/>
                        <a:pt x="42" y="11"/>
                      </a:cubicBezTo>
                      <a:cubicBezTo>
                        <a:pt x="55" y="3"/>
                        <a:pt x="69" y="0"/>
                        <a:pt x="85" y="0"/>
                      </a:cubicBezTo>
                      <a:cubicBezTo>
                        <a:pt x="100" y="0"/>
                        <a:pt x="113" y="3"/>
                        <a:pt x="127" y="11"/>
                      </a:cubicBezTo>
                      <a:cubicBezTo>
                        <a:pt x="140" y="18"/>
                        <a:pt x="150" y="28"/>
                        <a:pt x="158" y="42"/>
                      </a:cubicBezTo>
                      <a:cubicBezTo>
                        <a:pt x="166" y="55"/>
                        <a:pt x="169" y="69"/>
                        <a:pt x="169" y="85"/>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51">
                  <a:extLst>
                    <a:ext uri="{FF2B5EF4-FFF2-40B4-BE49-F238E27FC236}">
                      <a16:creationId xmlns:a16="http://schemas.microsoft.com/office/drawing/2014/main" id="{68F4DF70-EA3A-183F-4A73-B20E0334441E}"/>
                    </a:ext>
                  </a:extLst>
                </p:cNvPr>
                <p:cNvSpPr>
                  <a:spLocks noChangeArrowheads="1"/>
                </p:cNvSpPr>
                <p:nvPr/>
              </p:nvSpPr>
              <p:spPr bwMode="auto">
                <a:xfrm>
                  <a:off x="3056421" y="835137"/>
                  <a:ext cx="139836" cy="88628"/>
                </a:xfrm>
                <a:custGeom>
                  <a:avLst/>
                  <a:gdLst>
                    <a:gd name="T0" fmla="*/ 0 w 311"/>
                    <a:gd name="T1" fmla="*/ 198 h 199"/>
                    <a:gd name="T2" fmla="*/ 198 w 311"/>
                    <a:gd name="T3" fmla="*/ 0 h 199"/>
                    <a:gd name="T4" fmla="*/ 310 w 311"/>
                    <a:gd name="T5" fmla="*/ 35 h 199"/>
                  </a:gdLst>
                  <a:ahLst/>
                  <a:cxnLst>
                    <a:cxn ang="0">
                      <a:pos x="T0" y="T1"/>
                    </a:cxn>
                    <a:cxn ang="0">
                      <a:pos x="T2" y="T3"/>
                    </a:cxn>
                    <a:cxn ang="0">
                      <a:pos x="T4" y="T5"/>
                    </a:cxn>
                  </a:cxnLst>
                  <a:rect l="0" t="0" r="r" b="b"/>
                  <a:pathLst>
                    <a:path w="311" h="199">
                      <a:moveTo>
                        <a:pt x="0" y="198"/>
                      </a:moveTo>
                      <a:cubicBezTo>
                        <a:pt x="0" y="89"/>
                        <a:pt x="89" y="0"/>
                        <a:pt x="198" y="0"/>
                      </a:cubicBezTo>
                      <a:cubicBezTo>
                        <a:pt x="239" y="0"/>
                        <a:pt x="278" y="13"/>
                        <a:pt x="310" y="35"/>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18" name="Freeform 52">
                  <a:extLst>
                    <a:ext uri="{FF2B5EF4-FFF2-40B4-BE49-F238E27FC236}">
                      <a16:creationId xmlns:a16="http://schemas.microsoft.com/office/drawing/2014/main" id="{6A3F8E05-158B-220F-9498-770D69D6614E}"/>
                    </a:ext>
                  </a:extLst>
                </p:cNvPr>
                <p:cNvSpPr>
                  <a:spLocks noChangeArrowheads="1"/>
                </p:cNvSpPr>
                <p:nvPr/>
              </p:nvSpPr>
              <p:spPr bwMode="auto">
                <a:xfrm>
                  <a:off x="3007182" y="785898"/>
                  <a:ext cx="236343" cy="139837"/>
                </a:xfrm>
                <a:custGeom>
                  <a:avLst/>
                  <a:gdLst>
                    <a:gd name="T0" fmla="*/ 527 w 528"/>
                    <a:gd name="T1" fmla="*/ 88 h 312"/>
                    <a:gd name="T2" fmla="*/ 311 w 528"/>
                    <a:gd name="T3" fmla="*/ 0 h 312"/>
                    <a:gd name="T4" fmla="*/ 0 w 528"/>
                    <a:gd name="T5" fmla="*/ 311 h 312"/>
                  </a:gdLst>
                  <a:ahLst/>
                  <a:cxnLst>
                    <a:cxn ang="0">
                      <a:pos x="T0" y="T1"/>
                    </a:cxn>
                    <a:cxn ang="0">
                      <a:pos x="T2" y="T3"/>
                    </a:cxn>
                    <a:cxn ang="0">
                      <a:pos x="T4" y="T5"/>
                    </a:cxn>
                  </a:cxnLst>
                  <a:rect l="0" t="0" r="r" b="b"/>
                  <a:pathLst>
                    <a:path w="528" h="312">
                      <a:moveTo>
                        <a:pt x="527" y="88"/>
                      </a:moveTo>
                      <a:cubicBezTo>
                        <a:pt x="471" y="34"/>
                        <a:pt x="395" y="0"/>
                        <a:pt x="311" y="0"/>
                      </a:cubicBezTo>
                      <a:cubicBezTo>
                        <a:pt x="139" y="0"/>
                        <a:pt x="0" y="140"/>
                        <a:pt x="0" y="311"/>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19" name="Freeform 53">
                  <a:extLst>
                    <a:ext uri="{FF2B5EF4-FFF2-40B4-BE49-F238E27FC236}">
                      <a16:creationId xmlns:a16="http://schemas.microsoft.com/office/drawing/2014/main" id="{AE7B6A15-201F-C360-6534-78099283C7AF}"/>
                    </a:ext>
                  </a:extLst>
                </p:cNvPr>
                <p:cNvSpPr>
                  <a:spLocks noChangeArrowheads="1"/>
                </p:cNvSpPr>
                <p:nvPr/>
              </p:nvSpPr>
              <p:spPr bwMode="auto">
                <a:xfrm>
                  <a:off x="3180500" y="848923"/>
                  <a:ext cx="96507" cy="57117"/>
                </a:xfrm>
                <a:custGeom>
                  <a:avLst/>
                  <a:gdLst>
                    <a:gd name="T0" fmla="*/ 0 w 216"/>
                    <a:gd name="T1" fmla="*/ 125 h 126"/>
                    <a:gd name="T2" fmla="*/ 215 w 216"/>
                    <a:gd name="T3" fmla="*/ 0 h 126"/>
                  </a:gdLst>
                  <a:ahLst/>
                  <a:cxnLst>
                    <a:cxn ang="0">
                      <a:pos x="T0" y="T1"/>
                    </a:cxn>
                    <a:cxn ang="0">
                      <a:pos x="T2" y="T3"/>
                    </a:cxn>
                  </a:cxnLst>
                  <a:rect l="0" t="0" r="r" b="b"/>
                  <a:pathLst>
                    <a:path w="216" h="126">
                      <a:moveTo>
                        <a:pt x="0" y="125"/>
                      </a:moveTo>
                      <a:cubicBezTo>
                        <a:pt x="71" y="83"/>
                        <a:pt x="143" y="42"/>
                        <a:pt x="215"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sp>
            <p:nvSpPr>
              <p:cNvPr id="14" name="Freeform 13">
                <a:extLst>
                  <a:ext uri="{FF2B5EF4-FFF2-40B4-BE49-F238E27FC236}">
                    <a16:creationId xmlns:a16="http://schemas.microsoft.com/office/drawing/2014/main" id="{FC005690-593C-775B-6751-DA34475496CC}"/>
                  </a:ext>
                </a:extLst>
              </p:cNvPr>
              <p:cNvSpPr>
                <a:spLocks noChangeArrowheads="1"/>
              </p:cNvSpPr>
              <p:nvPr/>
            </p:nvSpPr>
            <p:spPr bwMode="auto">
              <a:xfrm>
                <a:off x="2755083" y="533799"/>
                <a:ext cx="781902" cy="781902"/>
              </a:xfrm>
              <a:custGeom>
                <a:avLst/>
                <a:gdLst>
                  <a:gd name="T0" fmla="*/ 1467 w 1751"/>
                  <a:gd name="T1" fmla="*/ 1750 h 1751"/>
                  <a:gd name="T2" fmla="*/ 1750 w 1751"/>
                  <a:gd name="T3" fmla="*/ 1467 h 1751"/>
                  <a:gd name="T4" fmla="*/ 1750 w 1751"/>
                  <a:gd name="T5" fmla="*/ 282 h 1751"/>
                  <a:gd name="T6" fmla="*/ 1467 w 1751"/>
                  <a:gd name="T7" fmla="*/ 0 h 1751"/>
                  <a:gd name="T8" fmla="*/ 282 w 1751"/>
                  <a:gd name="T9" fmla="*/ 0 h 1751"/>
                  <a:gd name="T10" fmla="*/ 0 w 1751"/>
                  <a:gd name="T11" fmla="*/ 282 h 1751"/>
                  <a:gd name="T12" fmla="*/ 0 w 1751"/>
                  <a:gd name="T13" fmla="*/ 1467 h 1751"/>
                  <a:gd name="T14" fmla="*/ 282 w 1751"/>
                  <a:gd name="T15" fmla="*/ 1750 h 1751"/>
                  <a:gd name="T16" fmla="*/ 1467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7" y="1750"/>
                    </a:moveTo>
                    <a:cubicBezTo>
                      <a:pt x="1623" y="1750"/>
                      <a:pt x="1750" y="1623"/>
                      <a:pt x="1750" y="1467"/>
                    </a:cubicBezTo>
                    <a:cubicBezTo>
                      <a:pt x="1750" y="1072"/>
                      <a:pt x="1750" y="677"/>
                      <a:pt x="1750" y="282"/>
                    </a:cubicBezTo>
                    <a:cubicBezTo>
                      <a:pt x="1750" y="127"/>
                      <a:pt x="1623" y="0"/>
                      <a:pt x="1467" y="0"/>
                    </a:cubicBezTo>
                    <a:cubicBezTo>
                      <a:pt x="1072" y="0"/>
                      <a:pt x="677" y="0"/>
                      <a:pt x="282" y="0"/>
                    </a:cubicBezTo>
                    <a:cubicBezTo>
                      <a:pt x="127" y="0"/>
                      <a:pt x="0" y="127"/>
                      <a:pt x="0" y="282"/>
                    </a:cubicBezTo>
                    <a:cubicBezTo>
                      <a:pt x="0" y="677"/>
                      <a:pt x="0" y="1072"/>
                      <a:pt x="0" y="1467"/>
                    </a:cubicBezTo>
                    <a:cubicBezTo>
                      <a:pt x="0" y="1623"/>
                      <a:pt x="127" y="1750"/>
                      <a:pt x="282" y="1750"/>
                    </a:cubicBezTo>
                    <a:cubicBezTo>
                      <a:pt x="677" y="1750"/>
                      <a:pt x="1072" y="1750"/>
                      <a:pt x="1467" y="1750"/>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grpSp>
          <p:nvGrpSpPr>
            <p:cNvPr id="20" name="Group 19">
              <a:extLst>
                <a:ext uri="{FF2B5EF4-FFF2-40B4-BE49-F238E27FC236}">
                  <a16:creationId xmlns:a16="http://schemas.microsoft.com/office/drawing/2014/main" id="{125ECB98-FC07-812B-5354-69FDA21E8DD3}"/>
                </a:ext>
              </a:extLst>
            </p:cNvPr>
            <p:cNvGrpSpPr>
              <a:grpSpLocks noChangeAspect="1"/>
            </p:cNvGrpSpPr>
            <p:nvPr/>
          </p:nvGrpSpPr>
          <p:grpSpPr>
            <a:xfrm>
              <a:off x="20239982" y="6786537"/>
              <a:ext cx="1115894" cy="1115894"/>
              <a:chOff x="745675" y="2158563"/>
              <a:chExt cx="788068" cy="788068"/>
            </a:xfrm>
          </p:grpSpPr>
          <p:sp>
            <p:nvSpPr>
              <p:cNvPr id="21" name="Freeform 49">
                <a:extLst>
                  <a:ext uri="{FF2B5EF4-FFF2-40B4-BE49-F238E27FC236}">
                    <a16:creationId xmlns:a16="http://schemas.microsoft.com/office/drawing/2014/main" id="{809042CA-3CAA-45EB-B71F-66F89CE7F792}"/>
                  </a:ext>
                </a:extLst>
              </p:cNvPr>
              <p:cNvSpPr>
                <a:spLocks noChangeArrowheads="1"/>
              </p:cNvSpPr>
              <p:nvPr/>
            </p:nvSpPr>
            <p:spPr bwMode="auto">
              <a:xfrm>
                <a:off x="745675" y="2158563"/>
                <a:ext cx="788068" cy="788068"/>
              </a:xfrm>
              <a:custGeom>
                <a:avLst/>
                <a:gdLst>
                  <a:gd name="T0" fmla="*/ 1468 w 1751"/>
                  <a:gd name="T1" fmla="*/ 1750 h 1751"/>
                  <a:gd name="T2" fmla="*/ 1750 w 1751"/>
                  <a:gd name="T3" fmla="*/ 1468 h 1751"/>
                  <a:gd name="T4" fmla="*/ 1750 w 1751"/>
                  <a:gd name="T5" fmla="*/ 282 h 1751"/>
                  <a:gd name="T6" fmla="*/ 1468 w 1751"/>
                  <a:gd name="T7" fmla="*/ 0 h 1751"/>
                  <a:gd name="T8" fmla="*/ 282 w 1751"/>
                  <a:gd name="T9" fmla="*/ 0 h 1751"/>
                  <a:gd name="T10" fmla="*/ 0 w 1751"/>
                  <a:gd name="T11" fmla="*/ 282 h 1751"/>
                  <a:gd name="T12" fmla="*/ 0 w 1751"/>
                  <a:gd name="T13" fmla="*/ 1468 h 1751"/>
                  <a:gd name="T14" fmla="*/ 282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8"/>
                    </a:cubicBezTo>
                    <a:cubicBezTo>
                      <a:pt x="1750" y="1072"/>
                      <a:pt x="1750" y="677"/>
                      <a:pt x="1750" y="282"/>
                    </a:cubicBezTo>
                    <a:cubicBezTo>
                      <a:pt x="1750" y="127"/>
                      <a:pt x="1623" y="0"/>
                      <a:pt x="1468" y="0"/>
                    </a:cubicBezTo>
                    <a:cubicBezTo>
                      <a:pt x="1073" y="0"/>
                      <a:pt x="677" y="0"/>
                      <a:pt x="282" y="0"/>
                    </a:cubicBezTo>
                    <a:cubicBezTo>
                      <a:pt x="127" y="0"/>
                      <a:pt x="0" y="127"/>
                      <a:pt x="0" y="282"/>
                    </a:cubicBezTo>
                    <a:cubicBezTo>
                      <a:pt x="0" y="677"/>
                      <a:pt x="0" y="1072"/>
                      <a:pt x="0" y="1468"/>
                    </a:cubicBezTo>
                    <a:cubicBezTo>
                      <a:pt x="0" y="1623"/>
                      <a:pt x="127" y="1750"/>
                      <a:pt x="282" y="1750"/>
                    </a:cubicBezTo>
                    <a:cubicBezTo>
                      <a:pt x="677" y="1750"/>
                      <a:pt x="1073" y="1750"/>
                      <a:pt x="1468" y="1750"/>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50">
                <a:extLst>
                  <a:ext uri="{FF2B5EF4-FFF2-40B4-BE49-F238E27FC236}">
                    <a16:creationId xmlns:a16="http://schemas.microsoft.com/office/drawing/2014/main" id="{D7F7240C-3F77-EE7F-0360-22C5C11B0A51}"/>
                  </a:ext>
                </a:extLst>
              </p:cNvPr>
              <p:cNvSpPr>
                <a:spLocks noChangeArrowheads="1"/>
              </p:cNvSpPr>
              <p:nvPr/>
            </p:nvSpPr>
            <p:spPr bwMode="auto">
              <a:xfrm>
                <a:off x="874704" y="2313398"/>
                <a:ext cx="528025" cy="478399"/>
              </a:xfrm>
              <a:custGeom>
                <a:avLst/>
                <a:gdLst>
                  <a:gd name="T0" fmla="*/ 182 w 1174"/>
                  <a:gd name="T1" fmla="*/ 721 h 1063"/>
                  <a:gd name="T2" fmla="*/ 182 w 1174"/>
                  <a:gd name="T3" fmla="*/ 369 h 1063"/>
                  <a:gd name="T4" fmla="*/ 154 w 1174"/>
                  <a:gd name="T5" fmla="*/ 341 h 1063"/>
                  <a:gd name="T6" fmla="*/ 17 w 1174"/>
                  <a:gd name="T7" fmla="*/ 341 h 1063"/>
                  <a:gd name="T8" fmla="*/ 3 w 1174"/>
                  <a:gd name="T9" fmla="*/ 332 h 1063"/>
                  <a:gd name="T10" fmla="*/ 7 w 1174"/>
                  <a:gd name="T11" fmla="*/ 316 h 1063"/>
                  <a:gd name="T12" fmla="*/ 347 w 1174"/>
                  <a:gd name="T13" fmla="*/ 19 h 1063"/>
                  <a:gd name="T14" fmla="*/ 422 w 1174"/>
                  <a:gd name="T15" fmla="*/ 19 h 1063"/>
                  <a:gd name="T16" fmla="*/ 761 w 1174"/>
                  <a:gd name="T17" fmla="*/ 316 h 1063"/>
                  <a:gd name="T18" fmla="*/ 765 w 1174"/>
                  <a:gd name="T19" fmla="*/ 332 h 1063"/>
                  <a:gd name="T20" fmla="*/ 752 w 1174"/>
                  <a:gd name="T21" fmla="*/ 341 h 1063"/>
                  <a:gd name="T22" fmla="*/ 615 w 1174"/>
                  <a:gd name="T23" fmla="*/ 341 h 1063"/>
                  <a:gd name="T24" fmla="*/ 587 w 1174"/>
                  <a:gd name="T25" fmla="*/ 369 h 1063"/>
                  <a:gd name="T26" fmla="*/ 587 w 1174"/>
                  <a:gd name="T27" fmla="*/ 693 h 1063"/>
                  <a:gd name="T28" fmla="*/ 559 w 1174"/>
                  <a:gd name="T29" fmla="*/ 721 h 1063"/>
                  <a:gd name="T30" fmla="*/ 422 w 1174"/>
                  <a:gd name="T31" fmla="*/ 721 h 1063"/>
                  <a:gd name="T32" fmla="*/ 409 w 1174"/>
                  <a:gd name="T33" fmla="*/ 730 h 1063"/>
                  <a:gd name="T34" fmla="*/ 413 w 1174"/>
                  <a:gd name="T35" fmla="*/ 746 h 1063"/>
                  <a:gd name="T36" fmla="*/ 753 w 1174"/>
                  <a:gd name="T37" fmla="*/ 1043 h 1063"/>
                  <a:gd name="T38" fmla="*/ 827 w 1174"/>
                  <a:gd name="T39" fmla="*/ 1043 h 1063"/>
                  <a:gd name="T40" fmla="*/ 1167 w 1174"/>
                  <a:gd name="T41" fmla="*/ 746 h 1063"/>
                  <a:gd name="T42" fmla="*/ 1171 w 1174"/>
                  <a:gd name="T43" fmla="*/ 730 h 1063"/>
                  <a:gd name="T44" fmla="*/ 1157 w 1174"/>
                  <a:gd name="T45" fmla="*/ 721 h 1063"/>
                  <a:gd name="T46" fmla="*/ 1021 w 1174"/>
                  <a:gd name="T47" fmla="*/ 721 h 1063"/>
                  <a:gd name="T48" fmla="*/ 992 w 1174"/>
                  <a:gd name="T49" fmla="*/ 693 h 1063"/>
                  <a:gd name="T50" fmla="*/ 992 w 1174"/>
                  <a:gd name="T51" fmla="*/ 341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74" h="1063">
                    <a:moveTo>
                      <a:pt x="182" y="721"/>
                    </a:moveTo>
                    <a:cubicBezTo>
                      <a:pt x="182" y="603"/>
                      <a:pt x="182" y="486"/>
                      <a:pt x="182" y="369"/>
                    </a:cubicBezTo>
                    <a:cubicBezTo>
                      <a:pt x="182" y="354"/>
                      <a:pt x="169" y="341"/>
                      <a:pt x="154" y="341"/>
                    </a:cubicBezTo>
                    <a:cubicBezTo>
                      <a:pt x="108" y="341"/>
                      <a:pt x="63" y="341"/>
                      <a:pt x="17" y="341"/>
                    </a:cubicBezTo>
                    <a:cubicBezTo>
                      <a:pt x="11" y="341"/>
                      <a:pt x="5" y="337"/>
                      <a:pt x="3" y="332"/>
                    </a:cubicBezTo>
                    <a:cubicBezTo>
                      <a:pt x="0" y="326"/>
                      <a:pt x="3" y="320"/>
                      <a:pt x="7" y="316"/>
                    </a:cubicBezTo>
                    <a:cubicBezTo>
                      <a:pt x="120" y="217"/>
                      <a:pt x="234" y="118"/>
                      <a:pt x="347" y="19"/>
                    </a:cubicBezTo>
                    <a:cubicBezTo>
                      <a:pt x="369" y="0"/>
                      <a:pt x="400" y="0"/>
                      <a:pt x="422" y="19"/>
                    </a:cubicBezTo>
                    <a:cubicBezTo>
                      <a:pt x="535" y="118"/>
                      <a:pt x="648" y="217"/>
                      <a:pt x="761" y="316"/>
                    </a:cubicBezTo>
                    <a:cubicBezTo>
                      <a:pt x="766" y="320"/>
                      <a:pt x="767" y="326"/>
                      <a:pt x="765" y="332"/>
                    </a:cubicBezTo>
                    <a:cubicBezTo>
                      <a:pt x="763" y="337"/>
                      <a:pt x="758" y="341"/>
                      <a:pt x="752" y="341"/>
                    </a:cubicBezTo>
                    <a:cubicBezTo>
                      <a:pt x="706" y="341"/>
                      <a:pt x="661" y="341"/>
                      <a:pt x="615" y="341"/>
                    </a:cubicBezTo>
                    <a:cubicBezTo>
                      <a:pt x="600" y="341"/>
                      <a:pt x="587" y="354"/>
                      <a:pt x="587" y="369"/>
                    </a:cubicBezTo>
                    <a:cubicBezTo>
                      <a:pt x="587" y="477"/>
                      <a:pt x="587" y="585"/>
                      <a:pt x="587" y="693"/>
                    </a:cubicBezTo>
                    <a:cubicBezTo>
                      <a:pt x="587" y="708"/>
                      <a:pt x="574" y="721"/>
                      <a:pt x="559" y="721"/>
                    </a:cubicBezTo>
                    <a:cubicBezTo>
                      <a:pt x="513" y="721"/>
                      <a:pt x="468" y="721"/>
                      <a:pt x="422" y="721"/>
                    </a:cubicBezTo>
                    <a:cubicBezTo>
                      <a:pt x="416" y="721"/>
                      <a:pt x="411" y="724"/>
                      <a:pt x="409" y="730"/>
                    </a:cubicBezTo>
                    <a:cubicBezTo>
                      <a:pt x="407" y="736"/>
                      <a:pt x="408" y="742"/>
                      <a:pt x="413" y="746"/>
                    </a:cubicBezTo>
                    <a:cubicBezTo>
                      <a:pt x="526" y="845"/>
                      <a:pt x="640" y="944"/>
                      <a:pt x="753" y="1043"/>
                    </a:cubicBezTo>
                    <a:cubicBezTo>
                      <a:pt x="774" y="1062"/>
                      <a:pt x="806" y="1062"/>
                      <a:pt x="827" y="1043"/>
                    </a:cubicBezTo>
                    <a:cubicBezTo>
                      <a:pt x="940" y="944"/>
                      <a:pt x="1054" y="845"/>
                      <a:pt x="1167" y="746"/>
                    </a:cubicBezTo>
                    <a:cubicBezTo>
                      <a:pt x="1171" y="742"/>
                      <a:pt x="1173" y="736"/>
                      <a:pt x="1171" y="730"/>
                    </a:cubicBezTo>
                    <a:cubicBezTo>
                      <a:pt x="1169" y="724"/>
                      <a:pt x="1163" y="721"/>
                      <a:pt x="1157" y="721"/>
                    </a:cubicBezTo>
                    <a:cubicBezTo>
                      <a:pt x="1112" y="721"/>
                      <a:pt x="1066" y="721"/>
                      <a:pt x="1021" y="721"/>
                    </a:cubicBezTo>
                    <a:cubicBezTo>
                      <a:pt x="1005" y="721"/>
                      <a:pt x="992" y="708"/>
                      <a:pt x="992" y="693"/>
                    </a:cubicBezTo>
                    <a:cubicBezTo>
                      <a:pt x="992" y="575"/>
                      <a:pt x="992" y="458"/>
                      <a:pt x="992" y="341"/>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nvGrpSpPr>
            <p:cNvPr id="23" name="Group 22">
              <a:extLst>
                <a:ext uri="{FF2B5EF4-FFF2-40B4-BE49-F238E27FC236}">
                  <a16:creationId xmlns:a16="http://schemas.microsoft.com/office/drawing/2014/main" id="{5397D676-E134-F87E-0B00-4E0FE51BB39F}"/>
                </a:ext>
              </a:extLst>
            </p:cNvPr>
            <p:cNvGrpSpPr>
              <a:grpSpLocks noChangeAspect="1"/>
            </p:cNvGrpSpPr>
            <p:nvPr/>
          </p:nvGrpSpPr>
          <p:grpSpPr>
            <a:xfrm>
              <a:off x="15759203" y="3143590"/>
              <a:ext cx="1113510" cy="1113510"/>
              <a:chOff x="7002463" y="2201863"/>
              <a:chExt cx="630237" cy="630237"/>
            </a:xfrm>
          </p:grpSpPr>
          <p:sp>
            <p:nvSpPr>
              <p:cNvPr id="24" name="Freeform 259">
                <a:extLst>
                  <a:ext uri="{FF2B5EF4-FFF2-40B4-BE49-F238E27FC236}">
                    <a16:creationId xmlns:a16="http://schemas.microsoft.com/office/drawing/2014/main" id="{4573ABB6-7259-DE59-F25E-7BD44E7A046F}"/>
                  </a:ext>
                </a:extLst>
              </p:cNvPr>
              <p:cNvSpPr>
                <a:spLocks noChangeArrowheads="1"/>
              </p:cNvSpPr>
              <p:nvPr/>
            </p:nvSpPr>
            <p:spPr bwMode="auto">
              <a:xfrm>
                <a:off x="7002463" y="2201863"/>
                <a:ext cx="630237" cy="630237"/>
              </a:xfrm>
              <a:custGeom>
                <a:avLst/>
                <a:gdLst>
                  <a:gd name="T0" fmla="*/ 1467 w 1750"/>
                  <a:gd name="T1" fmla="*/ 1749 h 1750"/>
                  <a:gd name="T2" fmla="*/ 1749 w 1750"/>
                  <a:gd name="T3" fmla="*/ 1467 h 1750"/>
                  <a:gd name="T4" fmla="*/ 1749 w 1750"/>
                  <a:gd name="T5" fmla="*/ 282 h 1750"/>
                  <a:gd name="T6" fmla="*/ 1467 w 1750"/>
                  <a:gd name="T7" fmla="*/ 0 h 1750"/>
                  <a:gd name="T8" fmla="*/ 282 w 1750"/>
                  <a:gd name="T9" fmla="*/ 0 h 1750"/>
                  <a:gd name="T10" fmla="*/ 0 w 1750"/>
                  <a:gd name="T11" fmla="*/ 282 h 1750"/>
                  <a:gd name="T12" fmla="*/ 0 w 1750"/>
                  <a:gd name="T13" fmla="*/ 1467 h 1750"/>
                  <a:gd name="T14" fmla="*/ 282 w 1750"/>
                  <a:gd name="T15" fmla="*/ 1749 h 1750"/>
                  <a:gd name="T16" fmla="*/ 1467 w 1750"/>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0" h="1750">
                    <a:moveTo>
                      <a:pt x="1467" y="1749"/>
                    </a:moveTo>
                    <a:cubicBezTo>
                      <a:pt x="1622" y="1749"/>
                      <a:pt x="1749" y="1623"/>
                      <a:pt x="1749" y="1467"/>
                    </a:cubicBezTo>
                    <a:cubicBezTo>
                      <a:pt x="1749" y="1072"/>
                      <a:pt x="1749" y="677"/>
                      <a:pt x="1749" y="282"/>
                    </a:cubicBezTo>
                    <a:cubicBezTo>
                      <a:pt x="1749" y="127"/>
                      <a:pt x="1622" y="0"/>
                      <a:pt x="1467" y="0"/>
                    </a:cubicBezTo>
                    <a:cubicBezTo>
                      <a:pt x="1072" y="0"/>
                      <a:pt x="677" y="0"/>
                      <a:pt x="282" y="0"/>
                    </a:cubicBezTo>
                    <a:cubicBezTo>
                      <a:pt x="126" y="0"/>
                      <a:pt x="0" y="127"/>
                      <a:pt x="0" y="282"/>
                    </a:cubicBezTo>
                    <a:cubicBezTo>
                      <a:pt x="0" y="677"/>
                      <a:pt x="0" y="1072"/>
                      <a:pt x="0" y="1467"/>
                    </a:cubicBezTo>
                    <a:cubicBezTo>
                      <a:pt x="0" y="1623"/>
                      <a:pt x="126" y="1749"/>
                      <a:pt x="282" y="1749"/>
                    </a:cubicBezTo>
                    <a:cubicBezTo>
                      <a:pt x="677" y="1749"/>
                      <a:pt x="1072" y="1749"/>
                      <a:pt x="1467" y="1749"/>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nvGrpSpPr>
              <p:cNvPr id="25" name="Group 24">
                <a:extLst>
                  <a:ext uri="{FF2B5EF4-FFF2-40B4-BE49-F238E27FC236}">
                    <a16:creationId xmlns:a16="http://schemas.microsoft.com/office/drawing/2014/main" id="{CFCEAC38-8814-1049-F49A-9A70C523D926}"/>
                  </a:ext>
                </a:extLst>
              </p:cNvPr>
              <p:cNvGrpSpPr/>
              <p:nvPr/>
            </p:nvGrpSpPr>
            <p:grpSpPr>
              <a:xfrm>
                <a:off x="7107238" y="2305050"/>
                <a:ext cx="422275" cy="422275"/>
                <a:chOff x="7107238" y="2305050"/>
                <a:chExt cx="422275" cy="422275"/>
              </a:xfrm>
            </p:grpSpPr>
            <p:sp>
              <p:nvSpPr>
                <p:cNvPr id="26" name="Freeform 260">
                  <a:extLst>
                    <a:ext uri="{FF2B5EF4-FFF2-40B4-BE49-F238E27FC236}">
                      <a16:creationId xmlns:a16="http://schemas.microsoft.com/office/drawing/2014/main" id="{C36D3C46-B90F-93D4-3D75-91C79144B2C6}"/>
                    </a:ext>
                  </a:extLst>
                </p:cNvPr>
                <p:cNvSpPr>
                  <a:spLocks noChangeArrowheads="1"/>
                </p:cNvSpPr>
                <p:nvPr/>
              </p:nvSpPr>
              <p:spPr bwMode="auto">
                <a:xfrm>
                  <a:off x="7107238" y="2305050"/>
                  <a:ext cx="422275" cy="422275"/>
                </a:xfrm>
                <a:custGeom>
                  <a:avLst/>
                  <a:gdLst>
                    <a:gd name="T0" fmla="*/ 1171 w 1172"/>
                    <a:gd name="T1" fmla="*/ 586 h 1172"/>
                    <a:gd name="T2" fmla="*/ 1092 w 1172"/>
                    <a:gd name="T3" fmla="*/ 878 h 1172"/>
                    <a:gd name="T4" fmla="*/ 878 w 1172"/>
                    <a:gd name="T5" fmla="*/ 1093 h 1172"/>
                    <a:gd name="T6" fmla="*/ 585 w 1172"/>
                    <a:gd name="T7" fmla="*/ 1171 h 1172"/>
                    <a:gd name="T8" fmla="*/ 293 w 1172"/>
                    <a:gd name="T9" fmla="*/ 1093 h 1172"/>
                    <a:gd name="T10" fmla="*/ 78 w 1172"/>
                    <a:gd name="T11" fmla="*/ 878 h 1172"/>
                    <a:gd name="T12" fmla="*/ 0 w 1172"/>
                    <a:gd name="T13" fmla="*/ 586 h 1172"/>
                    <a:gd name="T14" fmla="*/ 78 w 1172"/>
                    <a:gd name="T15" fmla="*/ 293 h 1172"/>
                    <a:gd name="T16" fmla="*/ 293 w 1172"/>
                    <a:gd name="T17" fmla="*/ 79 h 1172"/>
                    <a:gd name="T18" fmla="*/ 585 w 1172"/>
                    <a:gd name="T19" fmla="*/ 0 h 1172"/>
                    <a:gd name="T20" fmla="*/ 878 w 1172"/>
                    <a:gd name="T21" fmla="*/ 79 h 1172"/>
                    <a:gd name="T22" fmla="*/ 1092 w 1172"/>
                    <a:gd name="T23" fmla="*/ 293 h 1172"/>
                    <a:gd name="T24" fmla="*/ 1171 w 1172"/>
                    <a:gd name="T25" fmla="*/ 586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2" h="1172">
                      <a:moveTo>
                        <a:pt x="1171" y="586"/>
                      </a:moveTo>
                      <a:cubicBezTo>
                        <a:pt x="1171" y="693"/>
                        <a:pt x="1146" y="784"/>
                        <a:pt x="1092" y="878"/>
                      </a:cubicBezTo>
                      <a:cubicBezTo>
                        <a:pt x="1039" y="971"/>
                        <a:pt x="971" y="1039"/>
                        <a:pt x="878" y="1093"/>
                      </a:cubicBezTo>
                      <a:cubicBezTo>
                        <a:pt x="785" y="1147"/>
                        <a:pt x="693" y="1171"/>
                        <a:pt x="585" y="1171"/>
                      </a:cubicBezTo>
                      <a:cubicBezTo>
                        <a:pt x="478" y="1171"/>
                        <a:pt x="387" y="1147"/>
                        <a:pt x="293" y="1093"/>
                      </a:cubicBezTo>
                      <a:cubicBezTo>
                        <a:pt x="200" y="1039"/>
                        <a:pt x="132" y="971"/>
                        <a:pt x="78" y="878"/>
                      </a:cubicBezTo>
                      <a:cubicBezTo>
                        <a:pt x="24" y="784"/>
                        <a:pt x="0" y="693"/>
                        <a:pt x="0" y="586"/>
                      </a:cubicBezTo>
                      <a:cubicBezTo>
                        <a:pt x="0" y="478"/>
                        <a:pt x="24" y="386"/>
                        <a:pt x="78" y="293"/>
                      </a:cubicBezTo>
                      <a:cubicBezTo>
                        <a:pt x="132" y="200"/>
                        <a:pt x="200" y="132"/>
                        <a:pt x="293" y="79"/>
                      </a:cubicBezTo>
                      <a:cubicBezTo>
                        <a:pt x="387" y="25"/>
                        <a:pt x="478" y="0"/>
                        <a:pt x="585" y="0"/>
                      </a:cubicBezTo>
                      <a:cubicBezTo>
                        <a:pt x="693" y="0"/>
                        <a:pt x="785" y="25"/>
                        <a:pt x="878" y="79"/>
                      </a:cubicBezTo>
                      <a:cubicBezTo>
                        <a:pt x="971" y="132"/>
                        <a:pt x="1039" y="200"/>
                        <a:pt x="1092" y="293"/>
                      </a:cubicBezTo>
                      <a:cubicBezTo>
                        <a:pt x="1146" y="386"/>
                        <a:pt x="1171" y="478"/>
                        <a:pt x="1171" y="586"/>
                      </a:cubicBezTo>
                    </a:path>
                  </a:pathLst>
                </a:custGeom>
                <a:noFill/>
                <a:ln w="15875" cap="flat">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261">
                  <a:extLst>
                    <a:ext uri="{FF2B5EF4-FFF2-40B4-BE49-F238E27FC236}">
                      <a16:creationId xmlns:a16="http://schemas.microsoft.com/office/drawing/2014/main" id="{256B2B43-4FEF-4F88-D0BC-1BB48DDE3398}"/>
                    </a:ext>
                  </a:extLst>
                </p:cNvPr>
                <p:cNvSpPr>
                  <a:spLocks noChangeArrowheads="1"/>
                </p:cNvSpPr>
                <p:nvPr/>
              </p:nvSpPr>
              <p:spPr bwMode="auto">
                <a:xfrm>
                  <a:off x="7381875" y="2390775"/>
                  <a:ext cx="61913" cy="61913"/>
                </a:xfrm>
                <a:custGeom>
                  <a:avLst/>
                  <a:gdLst>
                    <a:gd name="T0" fmla="*/ 0 w 171"/>
                    <a:gd name="T1" fmla="*/ 170 h 171"/>
                    <a:gd name="T2" fmla="*/ 170 w 171"/>
                    <a:gd name="T3" fmla="*/ 0 h 171"/>
                  </a:gdLst>
                  <a:ahLst/>
                  <a:cxnLst>
                    <a:cxn ang="0">
                      <a:pos x="T0" y="T1"/>
                    </a:cxn>
                    <a:cxn ang="0">
                      <a:pos x="T2" y="T3"/>
                    </a:cxn>
                  </a:cxnLst>
                  <a:rect l="0" t="0" r="r" b="b"/>
                  <a:pathLst>
                    <a:path w="171" h="171">
                      <a:moveTo>
                        <a:pt x="0" y="170"/>
                      </a:moveTo>
                      <a:cubicBezTo>
                        <a:pt x="57" y="113"/>
                        <a:pt x="114" y="56"/>
                        <a:pt x="17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8" name="Freeform 262">
                  <a:extLst>
                    <a:ext uri="{FF2B5EF4-FFF2-40B4-BE49-F238E27FC236}">
                      <a16:creationId xmlns:a16="http://schemas.microsoft.com/office/drawing/2014/main" id="{7E702A77-E78B-0BCE-0F18-202806D8704D}"/>
                    </a:ext>
                  </a:extLst>
                </p:cNvPr>
                <p:cNvSpPr>
                  <a:spLocks noChangeArrowheads="1"/>
                </p:cNvSpPr>
                <p:nvPr/>
              </p:nvSpPr>
              <p:spPr bwMode="auto">
                <a:xfrm>
                  <a:off x="7381875" y="2409825"/>
                  <a:ext cx="42863" cy="42863"/>
                </a:xfrm>
                <a:custGeom>
                  <a:avLst/>
                  <a:gdLst>
                    <a:gd name="T0" fmla="*/ 0 w 121"/>
                    <a:gd name="T1" fmla="*/ 0 h 121"/>
                    <a:gd name="T2" fmla="*/ 0 w 121"/>
                    <a:gd name="T3" fmla="*/ 113 h 121"/>
                    <a:gd name="T4" fmla="*/ 7 w 121"/>
                    <a:gd name="T5" fmla="*/ 120 h 121"/>
                    <a:gd name="T6" fmla="*/ 120 w 121"/>
                    <a:gd name="T7" fmla="*/ 120 h 121"/>
                  </a:gdLst>
                  <a:ahLst/>
                  <a:cxnLst>
                    <a:cxn ang="0">
                      <a:pos x="T0" y="T1"/>
                    </a:cxn>
                    <a:cxn ang="0">
                      <a:pos x="T2" y="T3"/>
                    </a:cxn>
                    <a:cxn ang="0">
                      <a:pos x="T4" y="T5"/>
                    </a:cxn>
                    <a:cxn ang="0">
                      <a:pos x="T6" y="T7"/>
                    </a:cxn>
                  </a:cxnLst>
                  <a:rect l="0" t="0" r="r" b="b"/>
                  <a:pathLst>
                    <a:path w="121" h="121">
                      <a:moveTo>
                        <a:pt x="0" y="0"/>
                      </a:moveTo>
                      <a:cubicBezTo>
                        <a:pt x="0" y="37"/>
                        <a:pt x="0" y="75"/>
                        <a:pt x="0" y="113"/>
                      </a:cubicBezTo>
                      <a:cubicBezTo>
                        <a:pt x="0" y="117"/>
                        <a:pt x="3" y="120"/>
                        <a:pt x="7" y="120"/>
                      </a:cubicBezTo>
                      <a:cubicBezTo>
                        <a:pt x="45" y="120"/>
                        <a:pt x="83" y="120"/>
                        <a:pt x="120" y="12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29" name="Freeform 263">
                  <a:extLst>
                    <a:ext uri="{FF2B5EF4-FFF2-40B4-BE49-F238E27FC236}">
                      <a16:creationId xmlns:a16="http://schemas.microsoft.com/office/drawing/2014/main" id="{F66B9FDE-7BCB-8193-A0FB-39B6C78D23AE}"/>
                    </a:ext>
                  </a:extLst>
                </p:cNvPr>
                <p:cNvSpPr>
                  <a:spLocks noChangeArrowheads="1"/>
                </p:cNvSpPr>
                <p:nvPr/>
              </p:nvSpPr>
              <p:spPr bwMode="auto">
                <a:xfrm>
                  <a:off x="7191375" y="2581275"/>
                  <a:ext cx="61913" cy="61913"/>
                </a:xfrm>
                <a:custGeom>
                  <a:avLst/>
                  <a:gdLst>
                    <a:gd name="T0" fmla="*/ 170 w 171"/>
                    <a:gd name="T1" fmla="*/ 0 h 171"/>
                    <a:gd name="T2" fmla="*/ 0 w 171"/>
                    <a:gd name="T3" fmla="*/ 170 h 171"/>
                  </a:gdLst>
                  <a:ahLst/>
                  <a:cxnLst>
                    <a:cxn ang="0">
                      <a:pos x="T0" y="T1"/>
                    </a:cxn>
                    <a:cxn ang="0">
                      <a:pos x="T2" y="T3"/>
                    </a:cxn>
                  </a:cxnLst>
                  <a:rect l="0" t="0" r="r" b="b"/>
                  <a:pathLst>
                    <a:path w="171" h="171">
                      <a:moveTo>
                        <a:pt x="170" y="0"/>
                      </a:moveTo>
                      <a:cubicBezTo>
                        <a:pt x="114" y="56"/>
                        <a:pt x="57" y="113"/>
                        <a:pt x="0" y="17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0" name="Freeform 264">
                  <a:extLst>
                    <a:ext uri="{FF2B5EF4-FFF2-40B4-BE49-F238E27FC236}">
                      <a16:creationId xmlns:a16="http://schemas.microsoft.com/office/drawing/2014/main" id="{CCA3AD5E-3DD5-2682-7C26-01DFCD28FE9A}"/>
                    </a:ext>
                  </a:extLst>
                </p:cNvPr>
                <p:cNvSpPr>
                  <a:spLocks noChangeArrowheads="1"/>
                </p:cNvSpPr>
                <p:nvPr/>
              </p:nvSpPr>
              <p:spPr bwMode="auto">
                <a:xfrm>
                  <a:off x="7210425" y="2579688"/>
                  <a:ext cx="42863" cy="42862"/>
                </a:xfrm>
                <a:custGeom>
                  <a:avLst/>
                  <a:gdLst>
                    <a:gd name="T0" fmla="*/ 120 w 121"/>
                    <a:gd name="T1" fmla="*/ 120 h 121"/>
                    <a:gd name="T2" fmla="*/ 120 w 121"/>
                    <a:gd name="T3" fmla="*/ 7 h 121"/>
                    <a:gd name="T4" fmla="*/ 113 w 121"/>
                    <a:gd name="T5" fmla="*/ 0 h 121"/>
                    <a:gd name="T6" fmla="*/ 0 w 121"/>
                    <a:gd name="T7" fmla="*/ 0 h 121"/>
                  </a:gdLst>
                  <a:ahLst/>
                  <a:cxnLst>
                    <a:cxn ang="0">
                      <a:pos x="T0" y="T1"/>
                    </a:cxn>
                    <a:cxn ang="0">
                      <a:pos x="T2" y="T3"/>
                    </a:cxn>
                    <a:cxn ang="0">
                      <a:pos x="T4" y="T5"/>
                    </a:cxn>
                    <a:cxn ang="0">
                      <a:pos x="T6" y="T7"/>
                    </a:cxn>
                  </a:cxnLst>
                  <a:rect l="0" t="0" r="r" b="b"/>
                  <a:pathLst>
                    <a:path w="121" h="121">
                      <a:moveTo>
                        <a:pt x="120" y="120"/>
                      </a:moveTo>
                      <a:cubicBezTo>
                        <a:pt x="120" y="82"/>
                        <a:pt x="120" y="44"/>
                        <a:pt x="120" y="7"/>
                      </a:cubicBezTo>
                      <a:cubicBezTo>
                        <a:pt x="120" y="3"/>
                        <a:pt x="117" y="0"/>
                        <a:pt x="113" y="0"/>
                      </a:cubicBezTo>
                      <a:cubicBezTo>
                        <a:pt x="76" y="0"/>
                        <a:pt x="38" y="0"/>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1" name="Freeform 265">
                  <a:extLst>
                    <a:ext uri="{FF2B5EF4-FFF2-40B4-BE49-F238E27FC236}">
                      <a16:creationId xmlns:a16="http://schemas.microsoft.com/office/drawing/2014/main" id="{7C3DC899-A055-D8DA-38B3-9A19A3F0321C}"/>
                    </a:ext>
                  </a:extLst>
                </p:cNvPr>
                <p:cNvSpPr>
                  <a:spLocks noChangeArrowheads="1"/>
                </p:cNvSpPr>
                <p:nvPr/>
              </p:nvSpPr>
              <p:spPr bwMode="auto">
                <a:xfrm>
                  <a:off x="7381875" y="2581275"/>
                  <a:ext cx="61913" cy="61913"/>
                </a:xfrm>
                <a:custGeom>
                  <a:avLst/>
                  <a:gdLst>
                    <a:gd name="T0" fmla="*/ 0 w 171"/>
                    <a:gd name="T1" fmla="*/ 0 h 171"/>
                    <a:gd name="T2" fmla="*/ 170 w 171"/>
                    <a:gd name="T3" fmla="*/ 170 h 171"/>
                  </a:gdLst>
                  <a:ahLst/>
                  <a:cxnLst>
                    <a:cxn ang="0">
                      <a:pos x="T0" y="T1"/>
                    </a:cxn>
                    <a:cxn ang="0">
                      <a:pos x="T2" y="T3"/>
                    </a:cxn>
                  </a:cxnLst>
                  <a:rect l="0" t="0" r="r" b="b"/>
                  <a:pathLst>
                    <a:path w="171" h="171">
                      <a:moveTo>
                        <a:pt x="0" y="0"/>
                      </a:moveTo>
                      <a:cubicBezTo>
                        <a:pt x="57" y="56"/>
                        <a:pt x="114" y="113"/>
                        <a:pt x="170" y="17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2" name="Freeform 266">
                  <a:extLst>
                    <a:ext uri="{FF2B5EF4-FFF2-40B4-BE49-F238E27FC236}">
                      <a16:creationId xmlns:a16="http://schemas.microsoft.com/office/drawing/2014/main" id="{ECC0DCAE-EFE2-CF08-7B78-2B9CFDC478F1}"/>
                    </a:ext>
                  </a:extLst>
                </p:cNvPr>
                <p:cNvSpPr>
                  <a:spLocks noChangeArrowheads="1"/>
                </p:cNvSpPr>
                <p:nvPr/>
              </p:nvSpPr>
              <p:spPr bwMode="auto">
                <a:xfrm>
                  <a:off x="7381875" y="2579688"/>
                  <a:ext cx="42863" cy="42862"/>
                </a:xfrm>
                <a:custGeom>
                  <a:avLst/>
                  <a:gdLst>
                    <a:gd name="T0" fmla="*/ 120 w 121"/>
                    <a:gd name="T1" fmla="*/ 0 h 121"/>
                    <a:gd name="T2" fmla="*/ 7 w 121"/>
                    <a:gd name="T3" fmla="*/ 0 h 121"/>
                    <a:gd name="T4" fmla="*/ 0 w 121"/>
                    <a:gd name="T5" fmla="*/ 7 h 121"/>
                    <a:gd name="T6" fmla="*/ 0 w 121"/>
                    <a:gd name="T7" fmla="*/ 120 h 121"/>
                  </a:gdLst>
                  <a:ahLst/>
                  <a:cxnLst>
                    <a:cxn ang="0">
                      <a:pos x="T0" y="T1"/>
                    </a:cxn>
                    <a:cxn ang="0">
                      <a:pos x="T2" y="T3"/>
                    </a:cxn>
                    <a:cxn ang="0">
                      <a:pos x="T4" y="T5"/>
                    </a:cxn>
                    <a:cxn ang="0">
                      <a:pos x="T6" y="T7"/>
                    </a:cxn>
                  </a:cxnLst>
                  <a:rect l="0" t="0" r="r" b="b"/>
                  <a:pathLst>
                    <a:path w="121" h="121">
                      <a:moveTo>
                        <a:pt x="120" y="0"/>
                      </a:moveTo>
                      <a:cubicBezTo>
                        <a:pt x="83" y="0"/>
                        <a:pt x="45" y="0"/>
                        <a:pt x="7" y="0"/>
                      </a:cubicBezTo>
                      <a:cubicBezTo>
                        <a:pt x="3" y="0"/>
                        <a:pt x="0" y="3"/>
                        <a:pt x="0" y="7"/>
                      </a:cubicBezTo>
                      <a:cubicBezTo>
                        <a:pt x="0" y="44"/>
                        <a:pt x="0" y="82"/>
                        <a:pt x="0" y="12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3" name="Freeform 267">
                  <a:extLst>
                    <a:ext uri="{FF2B5EF4-FFF2-40B4-BE49-F238E27FC236}">
                      <a16:creationId xmlns:a16="http://schemas.microsoft.com/office/drawing/2014/main" id="{05F5D93E-7DC6-108D-C34F-01C938C67C7E}"/>
                    </a:ext>
                  </a:extLst>
                </p:cNvPr>
                <p:cNvSpPr>
                  <a:spLocks noChangeArrowheads="1"/>
                </p:cNvSpPr>
                <p:nvPr/>
              </p:nvSpPr>
              <p:spPr bwMode="auto">
                <a:xfrm>
                  <a:off x="7191375" y="2390775"/>
                  <a:ext cx="61913" cy="61913"/>
                </a:xfrm>
                <a:custGeom>
                  <a:avLst/>
                  <a:gdLst>
                    <a:gd name="T0" fmla="*/ 170 w 171"/>
                    <a:gd name="T1" fmla="*/ 170 h 171"/>
                    <a:gd name="T2" fmla="*/ 0 w 171"/>
                    <a:gd name="T3" fmla="*/ 0 h 171"/>
                  </a:gdLst>
                  <a:ahLst/>
                  <a:cxnLst>
                    <a:cxn ang="0">
                      <a:pos x="T0" y="T1"/>
                    </a:cxn>
                    <a:cxn ang="0">
                      <a:pos x="T2" y="T3"/>
                    </a:cxn>
                  </a:cxnLst>
                  <a:rect l="0" t="0" r="r" b="b"/>
                  <a:pathLst>
                    <a:path w="171" h="171">
                      <a:moveTo>
                        <a:pt x="170" y="170"/>
                      </a:moveTo>
                      <a:cubicBezTo>
                        <a:pt x="114" y="113"/>
                        <a:pt x="57" y="56"/>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4" name="Freeform 268">
                  <a:extLst>
                    <a:ext uri="{FF2B5EF4-FFF2-40B4-BE49-F238E27FC236}">
                      <a16:creationId xmlns:a16="http://schemas.microsoft.com/office/drawing/2014/main" id="{690DDF20-8928-EAC6-4C2F-630AAD2E34D6}"/>
                    </a:ext>
                  </a:extLst>
                </p:cNvPr>
                <p:cNvSpPr>
                  <a:spLocks noChangeArrowheads="1"/>
                </p:cNvSpPr>
                <p:nvPr/>
              </p:nvSpPr>
              <p:spPr bwMode="auto">
                <a:xfrm>
                  <a:off x="7210425" y="2409825"/>
                  <a:ext cx="42863" cy="42863"/>
                </a:xfrm>
                <a:custGeom>
                  <a:avLst/>
                  <a:gdLst>
                    <a:gd name="T0" fmla="*/ 0 w 121"/>
                    <a:gd name="T1" fmla="*/ 120 h 121"/>
                    <a:gd name="T2" fmla="*/ 113 w 121"/>
                    <a:gd name="T3" fmla="*/ 120 h 121"/>
                    <a:gd name="T4" fmla="*/ 120 w 121"/>
                    <a:gd name="T5" fmla="*/ 113 h 121"/>
                    <a:gd name="T6" fmla="*/ 120 w 121"/>
                    <a:gd name="T7" fmla="*/ 0 h 121"/>
                  </a:gdLst>
                  <a:ahLst/>
                  <a:cxnLst>
                    <a:cxn ang="0">
                      <a:pos x="T0" y="T1"/>
                    </a:cxn>
                    <a:cxn ang="0">
                      <a:pos x="T2" y="T3"/>
                    </a:cxn>
                    <a:cxn ang="0">
                      <a:pos x="T4" y="T5"/>
                    </a:cxn>
                    <a:cxn ang="0">
                      <a:pos x="T6" y="T7"/>
                    </a:cxn>
                  </a:cxnLst>
                  <a:rect l="0" t="0" r="r" b="b"/>
                  <a:pathLst>
                    <a:path w="121" h="121">
                      <a:moveTo>
                        <a:pt x="0" y="120"/>
                      </a:moveTo>
                      <a:cubicBezTo>
                        <a:pt x="38" y="120"/>
                        <a:pt x="76" y="120"/>
                        <a:pt x="113" y="120"/>
                      </a:cubicBezTo>
                      <a:cubicBezTo>
                        <a:pt x="117" y="120"/>
                        <a:pt x="120" y="117"/>
                        <a:pt x="120" y="113"/>
                      </a:cubicBezTo>
                      <a:cubicBezTo>
                        <a:pt x="120" y="75"/>
                        <a:pt x="120" y="37"/>
                        <a:pt x="12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5" name="Freeform 269">
                  <a:extLst>
                    <a:ext uri="{FF2B5EF4-FFF2-40B4-BE49-F238E27FC236}">
                      <a16:creationId xmlns:a16="http://schemas.microsoft.com/office/drawing/2014/main" id="{74C0C49E-44A4-4084-9785-2FA5BDD05D08}"/>
                    </a:ext>
                  </a:extLst>
                </p:cNvPr>
                <p:cNvSpPr>
                  <a:spLocks noChangeArrowheads="1"/>
                </p:cNvSpPr>
                <p:nvPr/>
              </p:nvSpPr>
              <p:spPr bwMode="auto">
                <a:xfrm>
                  <a:off x="7315200" y="2460625"/>
                  <a:ext cx="4763" cy="1588"/>
                </a:xfrm>
                <a:custGeom>
                  <a:avLst/>
                  <a:gdLst>
                    <a:gd name="T0" fmla="*/ 11 w 12"/>
                    <a:gd name="T1" fmla="*/ 0 h 1"/>
                    <a:gd name="T2" fmla="*/ 0 w 12"/>
                    <a:gd name="T3" fmla="*/ 0 h 1"/>
                  </a:gdLst>
                  <a:ahLst/>
                  <a:cxnLst>
                    <a:cxn ang="0">
                      <a:pos x="T0" y="T1"/>
                    </a:cxn>
                    <a:cxn ang="0">
                      <a:pos x="T2" y="T3"/>
                    </a:cxn>
                  </a:cxnLst>
                  <a:rect l="0" t="0" r="r" b="b"/>
                  <a:pathLst>
                    <a:path w="12" h="1">
                      <a:moveTo>
                        <a:pt x="11" y="0"/>
                      </a:moveTo>
                      <a:cubicBezTo>
                        <a:pt x="8" y="0"/>
                        <a:pt x="4" y="0"/>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6" name="Freeform 270">
                  <a:extLst>
                    <a:ext uri="{FF2B5EF4-FFF2-40B4-BE49-F238E27FC236}">
                      <a16:creationId xmlns:a16="http://schemas.microsoft.com/office/drawing/2014/main" id="{F55189A6-B333-507E-1FF4-02592367D46A}"/>
                    </a:ext>
                  </a:extLst>
                </p:cNvPr>
                <p:cNvSpPr>
                  <a:spLocks noChangeArrowheads="1"/>
                </p:cNvSpPr>
                <p:nvPr/>
              </p:nvSpPr>
              <p:spPr bwMode="auto">
                <a:xfrm>
                  <a:off x="7315200" y="2566988"/>
                  <a:ext cx="4763" cy="1587"/>
                </a:xfrm>
                <a:custGeom>
                  <a:avLst/>
                  <a:gdLst>
                    <a:gd name="T0" fmla="*/ 11 w 12"/>
                    <a:gd name="T1" fmla="*/ 0 h 1"/>
                    <a:gd name="T2" fmla="*/ 0 w 12"/>
                    <a:gd name="T3" fmla="*/ 0 h 1"/>
                  </a:gdLst>
                  <a:ahLst/>
                  <a:cxnLst>
                    <a:cxn ang="0">
                      <a:pos x="T0" y="T1"/>
                    </a:cxn>
                    <a:cxn ang="0">
                      <a:pos x="T2" y="T3"/>
                    </a:cxn>
                  </a:cxnLst>
                  <a:rect l="0" t="0" r="r" b="b"/>
                  <a:pathLst>
                    <a:path w="12" h="1">
                      <a:moveTo>
                        <a:pt x="11" y="0"/>
                      </a:moveTo>
                      <a:cubicBezTo>
                        <a:pt x="8" y="0"/>
                        <a:pt x="4" y="0"/>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7" name="Freeform 271">
                  <a:extLst>
                    <a:ext uri="{FF2B5EF4-FFF2-40B4-BE49-F238E27FC236}">
                      <a16:creationId xmlns:a16="http://schemas.microsoft.com/office/drawing/2014/main" id="{BD6214C7-AC3A-8304-EB6F-4EFCB75F3B7F}"/>
                    </a:ext>
                  </a:extLst>
                </p:cNvPr>
                <p:cNvSpPr>
                  <a:spLocks noChangeArrowheads="1"/>
                </p:cNvSpPr>
                <p:nvPr/>
              </p:nvSpPr>
              <p:spPr bwMode="auto">
                <a:xfrm>
                  <a:off x="7370763" y="2511425"/>
                  <a:ext cx="1587" cy="4763"/>
                </a:xfrm>
                <a:custGeom>
                  <a:avLst/>
                  <a:gdLst>
                    <a:gd name="T0" fmla="*/ 0 w 1"/>
                    <a:gd name="T1" fmla="*/ 11 h 12"/>
                    <a:gd name="T2" fmla="*/ 0 w 1"/>
                    <a:gd name="T3" fmla="*/ 0 h 12"/>
                  </a:gdLst>
                  <a:ahLst/>
                  <a:cxnLst>
                    <a:cxn ang="0">
                      <a:pos x="T0" y="T1"/>
                    </a:cxn>
                    <a:cxn ang="0">
                      <a:pos x="T2" y="T3"/>
                    </a:cxn>
                  </a:cxnLst>
                  <a:rect l="0" t="0" r="r" b="b"/>
                  <a:pathLst>
                    <a:path w="1" h="12">
                      <a:moveTo>
                        <a:pt x="0" y="11"/>
                      </a:moveTo>
                      <a:cubicBezTo>
                        <a:pt x="0" y="7"/>
                        <a:pt x="0" y="3"/>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8" name="Freeform 272">
                  <a:extLst>
                    <a:ext uri="{FF2B5EF4-FFF2-40B4-BE49-F238E27FC236}">
                      <a16:creationId xmlns:a16="http://schemas.microsoft.com/office/drawing/2014/main" id="{EB12C286-4F2B-08A0-7E8B-F513BEBF448F}"/>
                    </a:ext>
                  </a:extLst>
                </p:cNvPr>
                <p:cNvSpPr>
                  <a:spLocks noChangeArrowheads="1"/>
                </p:cNvSpPr>
                <p:nvPr/>
              </p:nvSpPr>
              <p:spPr bwMode="auto">
                <a:xfrm>
                  <a:off x="7264400" y="2511425"/>
                  <a:ext cx="1588" cy="4763"/>
                </a:xfrm>
                <a:custGeom>
                  <a:avLst/>
                  <a:gdLst>
                    <a:gd name="T0" fmla="*/ 0 w 1"/>
                    <a:gd name="T1" fmla="*/ 11 h 12"/>
                    <a:gd name="T2" fmla="*/ 0 w 1"/>
                    <a:gd name="T3" fmla="*/ 0 h 12"/>
                  </a:gdLst>
                  <a:ahLst/>
                  <a:cxnLst>
                    <a:cxn ang="0">
                      <a:pos x="T0" y="T1"/>
                    </a:cxn>
                    <a:cxn ang="0">
                      <a:pos x="T2" y="T3"/>
                    </a:cxn>
                  </a:cxnLst>
                  <a:rect l="0" t="0" r="r" b="b"/>
                  <a:pathLst>
                    <a:path w="1" h="12">
                      <a:moveTo>
                        <a:pt x="0" y="11"/>
                      </a:moveTo>
                      <a:cubicBezTo>
                        <a:pt x="0" y="7"/>
                        <a:pt x="0" y="3"/>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39" name="Freeform 273">
                  <a:extLst>
                    <a:ext uri="{FF2B5EF4-FFF2-40B4-BE49-F238E27FC236}">
                      <a16:creationId xmlns:a16="http://schemas.microsoft.com/office/drawing/2014/main" id="{ED7F06BE-95C4-8AD7-4217-35F6F2F232C4}"/>
                    </a:ext>
                  </a:extLst>
                </p:cNvPr>
                <p:cNvSpPr>
                  <a:spLocks noChangeArrowheads="1"/>
                </p:cNvSpPr>
                <p:nvPr/>
              </p:nvSpPr>
              <p:spPr bwMode="auto">
                <a:xfrm>
                  <a:off x="7289800" y="2466975"/>
                  <a:ext cx="3175" cy="1588"/>
                </a:xfrm>
                <a:custGeom>
                  <a:avLst/>
                  <a:gdLst>
                    <a:gd name="T0" fmla="*/ 9 w 10"/>
                    <a:gd name="T1" fmla="*/ 0 h 6"/>
                    <a:gd name="T2" fmla="*/ 0 w 10"/>
                    <a:gd name="T3" fmla="*/ 5 h 6"/>
                  </a:gdLst>
                  <a:ahLst/>
                  <a:cxnLst>
                    <a:cxn ang="0">
                      <a:pos x="T0" y="T1"/>
                    </a:cxn>
                    <a:cxn ang="0">
                      <a:pos x="T2" y="T3"/>
                    </a:cxn>
                  </a:cxnLst>
                  <a:rect l="0" t="0" r="r" b="b"/>
                  <a:pathLst>
                    <a:path w="10" h="6">
                      <a:moveTo>
                        <a:pt x="9" y="0"/>
                      </a:moveTo>
                      <a:cubicBezTo>
                        <a:pt x="6" y="1"/>
                        <a:pt x="3" y="3"/>
                        <a:pt x="0" y="5"/>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40" name="Freeform 274">
                  <a:extLst>
                    <a:ext uri="{FF2B5EF4-FFF2-40B4-BE49-F238E27FC236}">
                      <a16:creationId xmlns:a16="http://schemas.microsoft.com/office/drawing/2014/main" id="{EA44EBBF-EB05-7137-DCB0-DF57ACE1774F}"/>
                    </a:ext>
                  </a:extLst>
                </p:cNvPr>
                <p:cNvSpPr>
                  <a:spLocks noChangeArrowheads="1"/>
                </p:cNvSpPr>
                <p:nvPr/>
              </p:nvSpPr>
              <p:spPr bwMode="auto">
                <a:xfrm>
                  <a:off x="7342188" y="2559050"/>
                  <a:ext cx="3175" cy="3175"/>
                </a:xfrm>
                <a:custGeom>
                  <a:avLst/>
                  <a:gdLst>
                    <a:gd name="T0" fmla="*/ 9 w 10"/>
                    <a:gd name="T1" fmla="*/ 0 h 7"/>
                    <a:gd name="T2" fmla="*/ 0 w 10"/>
                    <a:gd name="T3" fmla="*/ 6 h 7"/>
                  </a:gdLst>
                  <a:ahLst/>
                  <a:cxnLst>
                    <a:cxn ang="0">
                      <a:pos x="T0" y="T1"/>
                    </a:cxn>
                    <a:cxn ang="0">
                      <a:pos x="T2" y="T3"/>
                    </a:cxn>
                  </a:cxnLst>
                  <a:rect l="0" t="0" r="r" b="b"/>
                  <a:pathLst>
                    <a:path w="10" h="7">
                      <a:moveTo>
                        <a:pt x="9" y="0"/>
                      </a:moveTo>
                      <a:cubicBezTo>
                        <a:pt x="6" y="2"/>
                        <a:pt x="3" y="4"/>
                        <a:pt x="0" y="6"/>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41" name="Freeform 275">
                  <a:extLst>
                    <a:ext uri="{FF2B5EF4-FFF2-40B4-BE49-F238E27FC236}">
                      <a16:creationId xmlns:a16="http://schemas.microsoft.com/office/drawing/2014/main" id="{0711D6C7-80C1-920F-94FF-9BE9ABE41D38}"/>
                    </a:ext>
                  </a:extLst>
                </p:cNvPr>
                <p:cNvSpPr>
                  <a:spLocks noChangeArrowheads="1"/>
                </p:cNvSpPr>
                <p:nvPr/>
              </p:nvSpPr>
              <p:spPr bwMode="auto">
                <a:xfrm>
                  <a:off x="7362825" y="2486025"/>
                  <a:ext cx="1588" cy="3175"/>
                </a:xfrm>
                <a:custGeom>
                  <a:avLst/>
                  <a:gdLst>
                    <a:gd name="T0" fmla="*/ 5 w 6"/>
                    <a:gd name="T1" fmla="*/ 9 h 10"/>
                    <a:gd name="T2" fmla="*/ 0 w 6"/>
                    <a:gd name="T3" fmla="*/ 0 h 10"/>
                  </a:gdLst>
                  <a:ahLst/>
                  <a:cxnLst>
                    <a:cxn ang="0">
                      <a:pos x="T0" y="T1"/>
                    </a:cxn>
                    <a:cxn ang="0">
                      <a:pos x="T2" y="T3"/>
                    </a:cxn>
                  </a:cxnLst>
                  <a:rect l="0" t="0" r="r" b="b"/>
                  <a:pathLst>
                    <a:path w="6" h="10">
                      <a:moveTo>
                        <a:pt x="5" y="9"/>
                      </a:moveTo>
                      <a:cubicBezTo>
                        <a:pt x="4" y="6"/>
                        <a:pt x="2" y="3"/>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42" name="Freeform 276">
                  <a:extLst>
                    <a:ext uri="{FF2B5EF4-FFF2-40B4-BE49-F238E27FC236}">
                      <a16:creationId xmlns:a16="http://schemas.microsoft.com/office/drawing/2014/main" id="{9B935085-25FB-B6AD-B24D-D15F8F67B43A}"/>
                    </a:ext>
                  </a:extLst>
                </p:cNvPr>
                <p:cNvSpPr>
                  <a:spLocks noChangeArrowheads="1"/>
                </p:cNvSpPr>
                <p:nvPr/>
              </p:nvSpPr>
              <p:spPr bwMode="auto">
                <a:xfrm>
                  <a:off x="7270750" y="2538413"/>
                  <a:ext cx="3175" cy="3175"/>
                </a:xfrm>
                <a:custGeom>
                  <a:avLst/>
                  <a:gdLst>
                    <a:gd name="T0" fmla="*/ 6 w 7"/>
                    <a:gd name="T1" fmla="*/ 9 h 10"/>
                    <a:gd name="T2" fmla="*/ 0 w 7"/>
                    <a:gd name="T3" fmla="*/ 0 h 10"/>
                  </a:gdLst>
                  <a:ahLst/>
                  <a:cxnLst>
                    <a:cxn ang="0">
                      <a:pos x="T0" y="T1"/>
                    </a:cxn>
                    <a:cxn ang="0">
                      <a:pos x="T2" y="T3"/>
                    </a:cxn>
                  </a:cxnLst>
                  <a:rect l="0" t="0" r="r" b="b"/>
                  <a:pathLst>
                    <a:path w="7" h="10">
                      <a:moveTo>
                        <a:pt x="6" y="9"/>
                      </a:moveTo>
                      <a:cubicBezTo>
                        <a:pt x="4" y="6"/>
                        <a:pt x="2" y="3"/>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43" name="Freeform 277">
                  <a:extLst>
                    <a:ext uri="{FF2B5EF4-FFF2-40B4-BE49-F238E27FC236}">
                      <a16:creationId xmlns:a16="http://schemas.microsoft.com/office/drawing/2014/main" id="{13F9ADC3-9C32-A0B5-AF50-85A90591146B}"/>
                    </a:ext>
                  </a:extLst>
                </p:cNvPr>
                <p:cNvSpPr>
                  <a:spLocks noChangeArrowheads="1"/>
                </p:cNvSpPr>
                <p:nvPr/>
              </p:nvSpPr>
              <p:spPr bwMode="auto">
                <a:xfrm>
                  <a:off x="7270750" y="2486025"/>
                  <a:ext cx="3175" cy="3175"/>
                </a:xfrm>
                <a:custGeom>
                  <a:avLst/>
                  <a:gdLst>
                    <a:gd name="T0" fmla="*/ 6 w 7"/>
                    <a:gd name="T1" fmla="*/ 0 h 10"/>
                    <a:gd name="T2" fmla="*/ 0 w 7"/>
                    <a:gd name="T3" fmla="*/ 9 h 10"/>
                  </a:gdLst>
                  <a:ahLst/>
                  <a:cxnLst>
                    <a:cxn ang="0">
                      <a:pos x="T0" y="T1"/>
                    </a:cxn>
                    <a:cxn ang="0">
                      <a:pos x="T2" y="T3"/>
                    </a:cxn>
                  </a:cxnLst>
                  <a:rect l="0" t="0" r="r" b="b"/>
                  <a:pathLst>
                    <a:path w="7" h="10">
                      <a:moveTo>
                        <a:pt x="6" y="0"/>
                      </a:moveTo>
                      <a:cubicBezTo>
                        <a:pt x="4" y="3"/>
                        <a:pt x="2" y="6"/>
                        <a:pt x="0" y="9"/>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44" name="Freeform 278">
                  <a:extLst>
                    <a:ext uri="{FF2B5EF4-FFF2-40B4-BE49-F238E27FC236}">
                      <a16:creationId xmlns:a16="http://schemas.microsoft.com/office/drawing/2014/main" id="{873C3F24-BD62-3449-F426-8B1D65DC15AC}"/>
                    </a:ext>
                  </a:extLst>
                </p:cNvPr>
                <p:cNvSpPr>
                  <a:spLocks noChangeArrowheads="1"/>
                </p:cNvSpPr>
                <p:nvPr/>
              </p:nvSpPr>
              <p:spPr bwMode="auto">
                <a:xfrm>
                  <a:off x="7362825" y="2538413"/>
                  <a:ext cx="1588" cy="3175"/>
                </a:xfrm>
                <a:custGeom>
                  <a:avLst/>
                  <a:gdLst>
                    <a:gd name="T0" fmla="*/ 5 w 6"/>
                    <a:gd name="T1" fmla="*/ 0 h 10"/>
                    <a:gd name="T2" fmla="*/ 0 w 6"/>
                    <a:gd name="T3" fmla="*/ 9 h 10"/>
                  </a:gdLst>
                  <a:ahLst/>
                  <a:cxnLst>
                    <a:cxn ang="0">
                      <a:pos x="T0" y="T1"/>
                    </a:cxn>
                    <a:cxn ang="0">
                      <a:pos x="T2" y="T3"/>
                    </a:cxn>
                  </a:cxnLst>
                  <a:rect l="0" t="0" r="r" b="b"/>
                  <a:pathLst>
                    <a:path w="6" h="10">
                      <a:moveTo>
                        <a:pt x="5" y="0"/>
                      </a:moveTo>
                      <a:cubicBezTo>
                        <a:pt x="4" y="3"/>
                        <a:pt x="2" y="6"/>
                        <a:pt x="0" y="9"/>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45" name="Freeform 279">
                  <a:extLst>
                    <a:ext uri="{FF2B5EF4-FFF2-40B4-BE49-F238E27FC236}">
                      <a16:creationId xmlns:a16="http://schemas.microsoft.com/office/drawing/2014/main" id="{EE9A20EB-A3FF-CEE8-6102-91F6E1C2373B}"/>
                    </a:ext>
                  </a:extLst>
                </p:cNvPr>
                <p:cNvSpPr>
                  <a:spLocks noChangeArrowheads="1"/>
                </p:cNvSpPr>
                <p:nvPr/>
              </p:nvSpPr>
              <p:spPr bwMode="auto">
                <a:xfrm>
                  <a:off x="7342188" y="2466975"/>
                  <a:ext cx="3175" cy="1588"/>
                </a:xfrm>
                <a:custGeom>
                  <a:avLst/>
                  <a:gdLst>
                    <a:gd name="T0" fmla="*/ 9 w 10"/>
                    <a:gd name="T1" fmla="*/ 5 h 6"/>
                    <a:gd name="T2" fmla="*/ 0 w 10"/>
                    <a:gd name="T3" fmla="*/ 0 h 6"/>
                  </a:gdLst>
                  <a:ahLst/>
                  <a:cxnLst>
                    <a:cxn ang="0">
                      <a:pos x="T0" y="T1"/>
                    </a:cxn>
                    <a:cxn ang="0">
                      <a:pos x="T2" y="T3"/>
                    </a:cxn>
                  </a:cxnLst>
                  <a:rect l="0" t="0" r="r" b="b"/>
                  <a:pathLst>
                    <a:path w="10" h="6">
                      <a:moveTo>
                        <a:pt x="9" y="5"/>
                      </a:moveTo>
                      <a:cubicBezTo>
                        <a:pt x="6" y="3"/>
                        <a:pt x="3" y="1"/>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46" name="Freeform 280">
                  <a:extLst>
                    <a:ext uri="{FF2B5EF4-FFF2-40B4-BE49-F238E27FC236}">
                      <a16:creationId xmlns:a16="http://schemas.microsoft.com/office/drawing/2014/main" id="{16A51EFC-4BA4-4C39-B001-6B030EADBA80}"/>
                    </a:ext>
                  </a:extLst>
                </p:cNvPr>
                <p:cNvSpPr>
                  <a:spLocks noChangeArrowheads="1"/>
                </p:cNvSpPr>
                <p:nvPr/>
              </p:nvSpPr>
              <p:spPr bwMode="auto">
                <a:xfrm>
                  <a:off x="7289800" y="2559050"/>
                  <a:ext cx="3175" cy="3175"/>
                </a:xfrm>
                <a:custGeom>
                  <a:avLst/>
                  <a:gdLst>
                    <a:gd name="T0" fmla="*/ 9 w 10"/>
                    <a:gd name="T1" fmla="*/ 6 h 7"/>
                    <a:gd name="T2" fmla="*/ 0 w 10"/>
                    <a:gd name="T3" fmla="*/ 0 h 7"/>
                  </a:gdLst>
                  <a:ahLst/>
                  <a:cxnLst>
                    <a:cxn ang="0">
                      <a:pos x="T0" y="T1"/>
                    </a:cxn>
                    <a:cxn ang="0">
                      <a:pos x="T2" y="T3"/>
                    </a:cxn>
                  </a:cxnLst>
                  <a:rect l="0" t="0" r="r" b="b"/>
                  <a:pathLst>
                    <a:path w="10" h="7">
                      <a:moveTo>
                        <a:pt x="9" y="6"/>
                      </a:moveTo>
                      <a:cubicBezTo>
                        <a:pt x="6" y="4"/>
                        <a:pt x="3" y="2"/>
                        <a:pt x="0" y="0"/>
                      </a:cubicBezTo>
                    </a:path>
                  </a:pathLst>
                </a:custGeom>
                <a:noFill/>
                <a:ln w="15875" cap="rnd">
                  <a:solidFill>
                    <a:schemeClr val="bg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56" name="Group 55">
              <a:extLst>
                <a:ext uri="{FF2B5EF4-FFF2-40B4-BE49-F238E27FC236}">
                  <a16:creationId xmlns:a16="http://schemas.microsoft.com/office/drawing/2014/main" id="{A4D51374-E06B-A989-94B0-191FB46E1822}"/>
                </a:ext>
              </a:extLst>
            </p:cNvPr>
            <p:cNvGrpSpPr>
              <a:grpSpLocks noChangeAspect="1"/>
            </p:cNvGrpSpPr>
            <p:nvPr/>
          </p:nvGrpSpPr>
          <p:grpSpPr>
            <a:xfrm>
              <a:off x="20259236" y="4039104"/>
              <a:ext cx="1114744" cy="1113509"/>
              <a:chOff x="2346325" y="4090988"/>
              <a:chExt cx="630238" cy="630237"/>
            </a:xfrm>
          </p:grpSpPr>
          <p:sp>
            <p:nvSpPr>
              <p:cNvPr id="57" name="Freeform 134">
                <a:extLst>
                  <a:ext uri="{FF2B5EF4-FFF2-40B4-BE49-F238E27FC236}">
                    <a16:creationId xmlns:a16="http://schemas.microsoft.com/office/drawing/2014/main" id="{87B3E441-4D58-E6C5-6031-6F987DF540A8}"/>
                  </a:ext>
                </a:extLst>
              </p:cNvPr>
              <p:cNvSpPr>
                <a:spLocks noChangeArrowheads="1"/>
              </p:cNvSpPr>
              <p:nvPr/>
            </p:nvSpPr>
            <p:spPr bwMode="auto">
              <a:xfrm>
                <a:off x="2346325" y="4090988"/>
                <a:ext cx="630238" cy="630237"/>
              </a:xfrm>
              <a:custGeom>
                <a:avLst/>
                <a:gdLst>
                  <a:gd name="T0" fmla="*/ 1467 w 1750"/>
                  <a:gd name="T1" fmla="*/ 1750 h 1751"/>
                  <a:gd name="T2" fmla="*/ 1749 w 1750"/>
                  <a:gd name="T3" fmla="*/ 1468 h 1751"/>
                  <a:gd name="T4" fmla="*/ 1749 w 1750"/>
                  <a:gd name="T5" fmla="*/ 282 h 1751"/>
                  <a:gd name="T6" fmla="*/ 1467 w 1750"/>
                  <a:gd name="T7" fmla="*/ 0 h 1751"/>
                  <a:gd name="T8" fmla="*/ 282 w 1750"/>
                  <a:gd name="T9" fmla="*/ 0 h 1751"/>
                  <a:gd name="T10" fmla="*/ 0 w 1750"/>
                  <a:gd name="T11" fmla="*/ 282 h 1751"/>
                  <a:gd name="T12" fmla="*/ 0 w 1750"/>
                  <a:gd name="T13" fmla="*/ 1468 h 1751"/>
                  <a:gd name="T14" fmla="*/ 282 w 1750"/>
                  <a:gd name="T15" fmla="*/ 1750 h 1751"/>
                  <a:gd name="T16" fmla="*/ 1467 w 1750"/>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0" h="1751">
                    <a:moveTo>
                      <a:pt x="1467" y="1750"/>
                    </a:moveTo>
                    <a:cubicBezTo>
                      <a:pt x="1622" y="1750"/>
                      <a:pt x="1749" y="1623"/>
                      <a:pt x="1749" y="1468"/>
                    </a:cubicBezTo>
                    <a:cubicBezTo>
                      <a:pt x="1749" y="1073"/>
                      <a:pt x="1749" y="678"/>
                      <a:pt x="1749" y="282"/>
                    </a:cubicBezTo>
                    <a:cubicBezTo>
                      <a:pt x="1749" y="127"/>
                      <a:pt x="1622" y="0"/>
                      <a:pt x="1467" y="0"/>
                    </a:cubicBezTo>
                    <a:cubicBezTo>
                      <a:pt x="1072" y="0"/>
                      <a:pt x="677" y="0"/>
                      <a:pt x="282" y="0"/>
                    </a:cubicBezTo>
                    <a:cubicBezTo>
                      <a:pt x="127" y="0"/>
                      <a:pt x="0" y="127"/>
                      <a:pt x="0" y="282"/>
                    </a:cubicBezTo>
                    <a:cubicBezTo>
                      <a:pt x="0" y="678"/>
                      <a:pt x="0" y="1073"/>
                      <a:pt x="0" y="1468"/>
                    </a:cubicBezTo>
                    <a:cubicBezTo>
                      <a:pt x="0" y="1623"/>
                      <a:pt x="127" y="1750"/>
                      <a:pt x="282" y="1750"/>
                    </a:cubicBezTo>
                    <a:cubicBezTo>
                      <a:pt x="677" y="1750"/>
                      <a:pt x="1072" y="1750"/>
                      <a:pt x="1467" y="1750"/>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nvGrpSpPr>
              <p:cNvPr id="58" name="Group 57">
                <a:extLst>
                  <a:ext uri="{FF2B5EF4-FFF2-40B4-BE49-F238E27FC236}">
                    <a16:creationId xmlns:a16="http://schemas.microsoft.com/office/drawing/2014/main" id="{8E39E4C6-5506-58D3-FB19-1F5848BEFC67}"/>
                  </a:ext>
                </a:extLst>
              </p:cNvPr>
              <p:cNvGrpSpPr/>
              <p:nvPr/>
            </p:nvGrpSpPr>
            <p:grpSpPr>
              <a:xfrm>
                <a:off x="2455863" y="4235450"/>
                <a:ext cx="411162" cy="342900"/>
                <a:chOff x="2455863" y="4235450"/>
                <a:chExt cx="411162" cy="342900"/>
              </a:xfrm>
            </p:grpSpPr>
            <p:sp>
              <p:nvSpPr>
                <p:cNvPr id="59" name="Freeform 135">
                  <a:extLst>
                    <a:ext uri="{FF2B5EF4-FFF2-40B4-BE49-F238E27FC236}">
                      <a16:creationId xmlns:a16="http://schemas.microsoft.com/office/drawing/2014/main" id="{D46613ED-80CB-30BA-C7DB-1EE62F2DFE43}"/>
                    </a:ext>
                  </a:extLst>
                </p:cNvPr>
                <p:cNvSpPr>
                  <a:spLocks noChangeArrowheads="1"/>
                </p:cNvSpPr>
                <p:nvPr/>
              </p:nvSpPr>
              <p:spPr bwMode="auto">
                <a:xfrm>
                  <a:off x="2459038" y="4235450"/>
                  <a:ext cx="254000" cy="244475"/>
                </a:xfrm>
                <a:custGeom>
                  <a:avLst/>
                  <a:gdLst>
                    <a:gd name="T0" fmla="*/ 706 w 707"/>
                    <a:gd name="T1" fmla="*/ 0 h 679"/>
                    <a:gd name="T2" fmla="*/ 0 w 707"/>
                    <a:gd name="T3" fmla="*/ 678 h 679"/>
                  </a:gdLst>
                  <a:ahLst/>
                  <a:cxnLst>
                    <a:cxn ang="0">
                      <a:pos x="T0" y="T1"/>
                    </a:cxn>
                    <a:cxn ang="0">
                      <a:pos x="T2" y="T3"/>
                    </a:cxn>
                  </a:cxnLst>
                  <a:rect l="0" t="0" r="r" b="b"/>
                  <a:pathLst>
                    <a:path w="707" h="679">
                      <a:moveTo>
                        <a:pt x="706" y="0"/>
                      </a:moveTo>
                      <a:cubicBezTo>
                        <a:pt x="471" y="226"/>
                        <a:pt x="235" y="452"/>
                        <a:pt x="0" y="678"/>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60" name="Freeform 136">
                  <a:extLst>
                    <a:ext uri="{FF2B5EF4-FFF2-40B4-BE49-F238E27FC236}">
                      <a16:creationId xmlns:a16="http://schemas.microsoft.com/office/drawing/2014/main" id="{68B77648-84B3-C645-1BDD-21F657A28A9B}"/>
                    </a:ext>
                  </a:extLst>
                </p:cNvPr>
                <p:cNvSpPr>
                  <a:spLocks noChangeArrowheads="1"/>
                </p:cNvSpPr>
                <p:nvPr/>
              </p:nvSpPr>
              <p:spPr bwMode="auto">
                <a:xfrm>
                  <a:off x="2652713" y="4235450"/>
                  <a:ext cx="61912" cy="61913"/>
                </a:xfrm>
                <a:custGeom>
                  <a:avLst/>
                  <a:gdLst>
                    <a:gd name="T0" fmla="*/ 170 w 171"/>
                    <a:gd name="T1" fmla="*/ 169 h 170"/>
                    <a:gd name="T2" fmla="*/ 170 w 171"/>
                    <a:gd name="T3" fmla="*/ 7 h 170"/>
                    <a:gd name="T4" fmla="*/ 163 w 171"/>
                    <a:gd name="T5" fmla="*/ 0 h 170"/>
                    <a:gd name="T6" fmla="*/ 0 w 171"/>
                    <a:gd name="T7" fmla="*/ 0 h 170"/>
                  </a:gdLst>
                  <a:ahLst/>
                  <a:cxnLst>
                    <a:cxn ang="0">
                      <a:pos x="T0" y="T1"/>
                    </a:cxn>
                    <a:cxn ang="0">
                      <a:pos x="T2" y="T3"/>
                    </a:cxn>
                    <a:cxn ang="0">
                      <a:pos x="T4" y="T5"/>
                    </a:cxn>
                    <a:cxn ang="0">
                      <a:pos x="T6" y="T7"/>
                    </a:cxn>
                  </a:cxnLst>
                  <a:rect l="0" t="0" r="r" b="b"/>
                  <a:pathLst>
                    <a:path w="171" h="170">
                      <a:moveTo>
                        <a:pt x="170" y="169"/>
                      </a:moveTo>
                      <a:cubicBezTo>
                        <a:pt x="170" y="115"/>
                        <a:pt x="170" y="61"/>
                        <a:pt x="170" y="7"/>
                      </a:cubicBezTo>
                      <a:cubicBezTo>
                        <a:pt x="170" y="3"/>
                        <a:pt x="167" y="0"/>
                        <a:pt x="163" y="0"/>
                      </a:cubicBezTo>
                      <a:cubicBezTo>
                        <a:pt x="109" y="0"/>
                        <a:pt x="54" y="0"/>
                        <a:pt x="0" y="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61" name="Freeform 137">
                  <a:extLst>
                    <a:ext uri="{FF2B5EF4-FFF2-40B4-BE49-F238E27FC236}">
                      <a16:creationId xmlns:a16="http://schemas.microsoft.com/office/drawing/2014/main" id="{26624B8F-9CD7-5635-8B57-37957BEBE639}"/>
                    </a:ext>
                  </a:extLst>
                </p:cNvPr>
                <p:cNvSpPr>
                  <a:spLocks noChangeArrowheads="1"/>
                </p:cNvSpPr>
                <p:nvPr/>
              </p:nvSpPr>
              <p:spPr bwMode="auto">
                <a:xfrm>
                  <a:off x="2749550" y="4235450"/>
                  <a:ext cx="117475" cy="61913"/>
                </a:xfrm>
                <a:custGeom>
                  <a:avLst/>
                  <a:gdLst>
                    <a:gd name="T0" fmla="*/ 324 w 325"/>
                    <a:gd name="T1" fmla="*/ 56 h 170"/>
                    <a:gd name="T2" fmla="*/ 268 w 325"/>
                    <a:gd name="T3" fmla="*/ 0 h 170"/>
                    <a:gd name="T4" fmla="*/ 56 w 325"/>
                    <a:gd name="T5" fmla="*/ 0 h 170"/>
                    <a:gd name="T6" fmla="*/ 0 w 325"/>
                    <a:gd name="T7" fmla="*/ 56 h 170"/>
                    <a:gd name="T8" fmla="*/ 0 w 325"/>
                    <a:gd name="T9" fmla="*/ 113 h 170"/>
                    <a:gd name="T10" fmla="*/ 56 w 325"/>
                    <a:gd name="T11" fmla="*/ 169 h 170"/>
                    <a:gd name="T12" fmla="*/ 268 w 325"/>
                    <a:gd name="T13" fmla="*/ 169 h 170"/>
                    <a:gd name="T14" fmla="*/ 324 w 325"/>
                    <a:gd name="T15" fmla="*/ 113 h 170"/>
                    <a:gd name="T16" fmla="*/ 324 w 325"/>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70">
                      <a:moveTo>
                        <a:pt x="324" y="56"/>
                      </a:moveTo>
                      <a:cubicBezTo>
                        <a:pt x="324" y="25"/>
                        <a:pt x="299" y="0"/>
                        <a:pt x="268" y="0"/>
                      </a:cubicBezTo>
                      <a:cubicBezTo>
                        <a:pt x="197" y="0"/>
                        <a:pt x="127" y="0"/>
                        <a:pt x="56" y="0"/>
                      </a:cubicBezTo>
                      <a:cubicBezTo>
                        <a:pt x="25" y="0"/>
                        <a:pt x="0" y="25"/>
                        <a:pt x="0" y="56"/>
                      </a:cubicBezTo>
                      <a:cubicBezTo>
                        <a:pt x="0" y="75"/>
                        <a:pt x="0" y="94"/>
                        <a:pt x="0" y="113"/>
                      </a:cubicBezTo>
                      <a:cubicBezTo>
                        <a:pt x="0" y="144"/>
                        <a:pt x="25" y="169"/>
                        <a:pt x="56" y="169"/>
                      </a:cubicBezTo>
                      <a:cubicBezTo>
                        <a:pt x="127" y="169"/>
                        <a:pt x="197" y="169"/>
                        <a:pt x="268" y="169"/>
                      </a:cubicBezTo>
                      <a:cubicBezTo>
                        <a:pt x="299" y="169"/>
                        <a:pt x="324" y="144"/>
                        <a:pt x="324" y="113"/>
                      </a:cubicBezTo>
                      <a:cubicBezTo>
                        <a:pt x="324" y="94"/>
                        <a:pt x="324" y="75"/>
                        <a:pt x="324" y="56"/>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138">
                  <a:extLst>
                    <a:ext uri="{FF2B5EF4-FFF2-40B4-BE49-F238E27FC236}">
                      <a16:creationId xmlns:a16="http://schemas.microsoft.com/office/drawing/2014/main" id="{99A0D74B-7E08-0B6D-5E7B-432596551ED6}"/>
                    </a:ext>
                  </a:extLst>
                </p:cNvPr>
                <p:cNvSpPr>
                  <a:spLocks noChangeArrowheads="1"/>
                </p:cNvSpPr>
                <p:nvPr/>
              </p:nvSpPr>
              <p:spPr bwMode="auto">
                <a:xfrm>
                  <a:off x="2825750" y="4265613"/>
                  <a:ext cx="15875" cy="1587"/>
                </a:xfrm>
                <a:custGeom>
                  <a:avLst/>
                  <a:gdLst>
                    <a:gd name="T0" fmla="*/ 43 w 44"/>
                    <a:gd name="T1" fmla="*/ 0 h 1"/>
                    <a:gd name="T2" fmla="*/ 0 w 44"/>
                    <a:gd name="T3" fmla="*/ 0 h 1"/>
                  </a:gdLst>
                  <a:ahLst/>
                  <a:cxnLst>
                    <a:cxn ang="0">
                      <a:pos x="T0" y="T1"/>
                    </a:cxn>
                    <a:cxn ang="0">
                      <a:pos x="T2" y="T3"/>
                    </a:cxn>
                  </a:cxnLst>
                  <a:rect l="0" t="0" r="r" b="b"/>
                  <a:pathLst>
                    <a:path w="44" h="1">
                      <a:moveTo>
                        <a:pt x="43" y="0"/>
                      </a:moveTo>
                      <a:cubicBezTo>
                        <a:pt x="29" y="0"/>
                        <a:pt x="14" y="0"/>
                        <a:pt x="0" y="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63" name="Freeform 139">
                  <a:extLst>
                    <a:ext uri="{FF2B5EF4-FFF2-40B4-BE49-F238E27FC236}">
                      <a16:creationId xmlns:a16="http://schemas.microsoft.com/office/drawing/2014/main" id="{1C6BEE31-D4A3-977F-F36F-9AD43BA63557}"/>
                    </a:ext>
                  </a:extLst>
                </p:cNvPr>
                <p:cNvSpPr>
                  <a:spLocks noChangeArrowheads="1"/>
                </p:cNvSpPr>
                <p:nvPr/>
              </p:nvSpPr>
              <p:spPr bwMode="auto">
                <a:xfrm>
                  <a:off x="2749550" y="4329113"/>
                  <a:ext cx="117475" cy="61912"/>
                </a:xfrm>
                <a:custGeom>
                  <a:avLst/>
                  <a:gdLst>
                    <a:gd name="T0" fmla="*/ 324 w 325"/>
                    <a:gd name="T1" fmla="*/ 56 h 170"/>
                    <a:gd name="T2" fmla="*/ 268 w 325"/>
                    <a:gd name="T3" fmla="*/ 0 h 170"/>
                    <a:gd name="T4" fmla="*/ 56 w 325"/>
                    <a:gd name="T5" fmla="*/ 0 h 170"/>
                    <a:gd name="T6" fmla="*/ 0 w 325"/>
                    <a:gd name="T7" fmla="*/ 56 h 170"/>
                    <a:gd name="T8" fmla="*/ 0 w 325"/>
                    <a:gd name="T9" fmla="*/ 113 h 170"/>
                    <a:gd name="T10" fmla="*/ 56 w 325"/>
                    <a:gd name="T11" fmla="*/ 169 h 170"/>
                    <a:gd name="T12" fmla="*/ 268 w 325"/>
                    <a:gd name="T13" fmla="*/ 169 h 170"/>
                    <a:gd name="T14" fmla="*/ 324 w 325"/>
                    <a:gd name="T15" fmla="*/ 113 h 170"/>
                    <a:gd name="T16" fmla="*/ 324 w 325"/>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70">
                      <a:moveTo>
                        <a:pt x="324" y="56"/>
                      </a:moveTo>
                      <a:cubicBezTo>
                        <a:pt x="324" y="25"/>
                        <a:pt x="299" y="0"/>
                        <a:pt x="268" y="0"/>
                      </a:cubicBezTo>
                      <a:cubicBezTo>
                        <a:pt x="197" y="0"/>
                        <a:pt x="127" y="0"/>
                        <a:pt x="56" y="0"/>
                      </a:cubicBezTo>
                      <a:cubicBezTo>
                        <a:pt x="25" y="0"/>
                        <a:pt x="0" y="25"/>
                        <a:pt x="0" y="56"/>
                      </a:cubicBezTo>
                      <a:cubicBezTo>
                        <a:pt x="0" y="75"/>
                        <a:pt x="0" y="94"/>
                        <a:pt x="0" y="113"/>
                      </a:cubicBezTo>
                      <a:cubicBezTo>
                        <a:pt x="0" y="144"/>
                        <a:pt x="25" y="169"/>
                        <a:pt x="56" y="169"/>
                      </a:cubicBezTo>
                      <a:cubicBezTo>
                        <a:pt x="127" y="169"/>
                        <a:pt x="197" y="169"/>
                        <a:pt x="268" y="169"/>
                      </a:cubicBezTo>
                      <a:cubicBezTo>
                        <a:pt x="299" y="169"/>
                        <a:pt x="324" y="144"/>
                        <a:pt x="324" y="113"/>
                      </a:cubicBezTo>
                      <a:cubicBezTo>
                        <a:pt x="324" y="94"/>
                        <a:pt x="324" y="75"/>
                        <a:pt x="324" y="56"/>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140">
                  <a:extLst>
                    <a:ext uri="{FF2B5EF4-FFF2-40B4-BE49-F238E27FC236}">
                      <a16:creationId xmlns:a16="http://schemas.microsoft.com/office/drawing/2014/main" id="{28047E9D-0A05-21C9-1895-6E7E96231BC1}"/>
                    </a:ext>
                  </a:extLst>
                </p:cNvPr>
                <p:cNvSpPr>
                  <a:spLocks noChangeArrowheads="1"/>
                </p:cNvSpPr>
                <p:nvPr/>
              </p:nvSpPr>
              <p:spPr bwMode="auto">
                <a:xfrm>
                  <a:off x="2825750" y="4359275"/>
                  <a:ext cx="15875" cy="1588"/>
                </a:xfrm>
                <a:custGeom>
                  <a:avLst/>
                  <a:gdLst>
                    <a:gd name="T0" fmla="*/ 43 w 44"/>
                    <a:gd name="T1" fmla="*/ 0 h 1"/>
                    <a:gd name="T2" fmla="*/ 0 w 44"/>
                    <a:gd name="T3" fmla="*/ 0 h 1"/>
                  </a:gdLst>
                  <a:ahLst/>
                  <a:cxnLst>
                    <a:cxn ang="0">
                      <a:pos x="T0" y="T1"/>
                    </a:cxn>
                    <a:cxn ang="0">
                      <a:pos x="T2" y="T3"/>
                    </a:cxn>
                  </a:cxnLst>
                  <a:rect l="0" t="0" r="r" b="b"/>
                  <a:pathLst>
                    <a:path w="44" h="1">
                      <a:moveTo>
                        <a:pt x="43" y="0"/>
                      </a:moveTo>
                      <a:cubicBezTo>
                        <a:pt x="29" y="0"/>
                        <a:pt x="14" y="0"/>
                        <a:pt x="0" y="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65" name="Freeform 141">
                  <a:extLst>
                    <a:ext uri="{FF2B5EF4-FFF2-40B4-BE49-F238E27FC236}">
                      <a16:creationId xmlns:a16="http://schemas.microsoft.com/office/drawing/2014/main" id="{F0C2E3BA-F90B-A807-DD5E-62311768EDF2}"/>
                    </a:ext>
                  </a:extLst>
                </p:cNvPr>
                <p:cNvSpPr>
                  <a:spLocks noChangeArrowheads="1"/>
                </p:cNvSpPr>
                <p:nvPr/>
              </p:nvSpPr>
              <p:spPr bwMode="auto">
                <a:xfrm>
                  <a:off x="2749550" y="4422775"/>
                  <a:ext cx="117475" cy="61913"/>
                </a:xfrm>
                <a:custGeom>
                  <a:avLst/>
                  <a:gdLst>
                    <a:gd name="T0" fmla="*/ 324 w 325"/>
                    <a:gd name="T1" fmla="*/ 56 h 170"/>
                    <a:gd name="T2" fmla="*/ 268 w 325"/>
                    <a:gd name="T3" fmla="*/ 0 h 170"/>
                    <a:gd name="T4" fmla="*/ 56 w 325"/>
                    <a:gd name="T5" fmla="*/ 0 h 170"/>
                    <a:gd name="T6" fmla="*/ 0 w 325"/>
                    <a:gd name="T7" fmla="*/ 56 h 170"/>
                    <a:gd name="T8" fmla="*/ 0 w 325"/>
                    <a:gd name="T9" fmla="*/ 113 h 170"/>
                    <a:gd name="T10" fmla="*/ 56 w 325"/>
                    <a:gd name="T11" fmla="*/ 169 h 170"/>
                    <a:gd name="T12" fmla="*/ 268 w 325"/>
                    <a:gd name="T13" fmla="*/ 169 h 170"/>
                    <a:gd name="T14" fmla="*/ 324 w 325"/>
                    <a:gd name="T15" fmla="*/ 113 h 170"/>
                    <a:gd name="T16" fmla="*/ 324 w 325"/>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70">
                      <a:moveTo>
                        <a:pt x="324" y="56"/>
                      </a:moveTo>
                      <a:cubicBezTo>
                        <a:pt x="324" y="25"/>
                        <a:pt x="299" y="0"/>
                        <a:pt x="268" y="0"/>
                      </a:cubicBezTo>
                      <a:cubicBezTo>
                        <a:pt x="197" y="0"/>
                        <a:pt x="127" y="0"/>
                        <a:pt x="56" y="0"/>
                      </a:cubicBezTo>
                      <a:cubicBezTo>
                        <a:pt x="25" y="0"/>
                        <a:pt x="0" y="25"/>
                        <a:pt x="0" y="56"/>
                      </a:cubicBezTo>
                      <a:cubicBezTo>
                        <a:pt x="0" y="75"/>
                        <a:pt x="0" y="94"/>
                        <a:pt x="0" y="113"/>
                      </a:cubicBezTo>
                      <a:cubicBezTo>
                        <a:pt x="0" y="144"/>
                        <a:pt x="25" y="169"/>
                        <a:pt x="56" y="169"/>
                      </a:cubicBezTo>
                      <a:cubicBezTo>
                        <a:pt x="127" y="169"/>
                        <a:pt x="197" y="169"/>
                        <a:pt x="268" y="169"/>
                      </a:cubicBezTo>
                      <a:cubicBezTo>
                        <a:pt x="299" y="169"/>
                        <a:pt x="324" y="144"/>
                        <a:pt x="324" y="113"/>
                      </a:cubicBezTo>
                      <a:cubicBezTo>
                        <a:pt x="324" y="94"/>
                        <a:pt x="324" y="75"/>
                        <a:pt x="324" y="56"/>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142">
                  <a:extLst>
                    <a:ext uri="{FF2B5EF4-FFF2-40B4-BE49-F238E27FC236}">
                      <a16:creationId xmlns:a16="http://schemas.microsoft.com/office/drawing/2014/main" id="{2B4050CB-6C9A-852D-C8B5-12AA63791D57}"/>
                    </a:ext>
                  </a:extLst>
                </p:cNvPr>
                <p:cNvSpPr>
                  <a:spLocks noChangeArrowheads="1"/>
                </p:cNvSpPr>
                <p:nvPr/>
              </p:nvSpPr>
              <p:spPr bwMode="auto">
                <a:xfrm>
                  <a:off x="2825750" y="4452938"/>
                  <a:ext cx="15875" cy="1587"/>
                </a:xfrm>
                <a:custGeom>
                  <a:avLst/>
                  <a:gdLst>
                    <a:gd name="T0" fmla="*/ 43 w 44"/>
                    <a:gd name="T1" fmla="*/ 0 h 1"/>
                    <a:gd name="T2" fmla="*/ 0 w 44"/>
                    <a:gd name="T3" fmla="*/ 0 h 1"/>
                  </a:gdLst>
                  <a:ahLst/>
                  <a:cxnLst>
                    <a:cxn ang="0">
                      <a:pos x="T0" y="T1"/>
                    </a:cxn>
                    <a:cxn ang="0">
                      <a:pos x="T2" y="T3"/>
                    </a:cxn>
                  </a:cxnLst>
                  <a:rect l="0" t="0" r="r" b="b"/>
                  <a:pathLst>
                    <a:path w="44" h="1">
                      <a:moveTo>
                        <a:pt x="43" y="0"/>
                      </a:moveTo>
                      <a:cubicBezTo>
                        <a:pt x="29" y="0"/>
                        <a:pt x="14" y="0"/>
                        <a:pt x="0" y="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67" name="Freeform 143">
                  <a:extLst>
                    <a:ext uri="{FF2B5EF4-FFF2-40B4-BE49-F238E27FC236}">
                      <a16:creationId xmlns:a16="http://schemas.microsoft.com/office/drawing/2014/main" id="{7CBF3B65-EF3E-2FF9-2821-2296E380CAC6}"/>
                    </a:ext>
                  </a:extLst>
                </p:cNvPr>
                <p:cNvSpPr>
                  <a:spLocks noChangeArrowheads="1"/>
                </p:cNvSpPr>
                <p:nvPr/>
              </p:nvSpPr>
              <p:spPr bwMode="auto">
                <a:xfrm>
                  <a:off x="2749550" y="4516438"/>
                  <a:ext cx="117475" cy="61912"/>
                </a:xfrm>
                <a:custGeom>
                  <a:avLst/>
                  <a:gdLst>
                    <a:gd name="T0" fmla="*/ 324 w 325"/>
                    <a:gd name="T1" fmla="*/ 56 h 170"/>
                    <a:gd name="T2" fmla="*/ 268 w 325"/>
                    <a:gd name="T3" fmla="*/ 0 h 170"/>
                    <a:gd name="T4" fmla="*/ 56 w 325"/>
                    <a:gd name="T5" fmla="*/ 0 h 170"/>
                    <a:gd name="T6" fmla="*/ 0 w 325"/>
                    <a:gd name="T7" fmla="*/ 56 h 170"/>
                    <a:gd name="T8" fmla="*/ 0 w 325"/>
                    <a:gd name="T9" fmla="*/ 113 h 170"/>
                    <a:gd name="T10" fmla="*/ 56 w 325"/>
                    <a:gd name="T11" fmla="*/ 169 h 170"/>
                    <a:gd name="T12" fmla="*/ 268 w 325"/>
                    <a:gd name="T13" fmla="*/ 169 h 170"/>
                    <a:gd name="T14" fmla="*/ 324 w 325"/>
                    <a:gd name="T15" fmla="*/ 113 h 170"/>
                    <a:gd name="T16" fmla="*/ 324 w 325"/>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70">
                      <a:moveTo>
                        <a:pt x="324" y="56"/>
                      </a:moveTo>
                      <a:cubicBezTo>
                        <a:pt x="324" y="25"/>
                        <a:pt x="299" y="0"/>
                        <a:pt x="268" y="0"/>
                      </a:cubicBezTo>
                      <a:cubicBezTo>
                        <a:pt x="197" y="0"/>
                        <a:pt x="127" y="0"/>
                        <a:pt x="56" y="0"/>
                      </a:cubicBezTo>
                      <a:cubicBezTo>
                        <a:pt x="25" y="0"/>
                        <a:pt x="0" y="25"/>
                        <a:pt x="0" y="56"/>
                      </a:cubicBezTo>
                      <a:cubicBezTo>
                        <a:pt x="0" y="75"/>
                        <a:pt x="0" y="94"/>
                        <a:pt x="0" y="113"/>
                      </a:cubicBezTo>
                      <a:cubicBezTo>
                        <a:pt x="0" y="144"/>
                        <a:pt x="25" y="169"/>
                        <a:pt x="56" y="169"/>
                      </a:cubicBezTo>
                      <a:cubicBezTo>
                        <a:pt x="127" y="169"/>
                        <a:pt x="197" y="169"/>
                        <a:pt x="268" y="169"/>
                      </a:cubicBezTo>
                      <a:cubicBezTo>
                        <a:pt x="299" y="169"/>
                        <a:pt x="324" y="144"/>
                        <a:pt x="324" y="113"/>
                      </a:cubicBezTo>
                      <a:cubicBezTo>
                        <a:pt x="324" y="94"/>
                        <a:pt x="324" y="75"/>
                        <a:pt x="324" y="56"/>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144">
                  <a:extLst>
                    <a:ext uri="{FF2B5EF4-FFF2-40B4-BE49-F238E27FC236}">
                      <a16:creationId xmlns:a16="http://schemas.microsoft.com/office/drawing/2014/main" id="{0E6ACD40-EC62-0ADE-E0C2-B00DC806960C}"/>
                    </a:ext>
                  </a:extLst>
                </p:cNvPr>
                <p:cNvSpPr>
                  <a:spLocks noChangeArrowheads="1"/>
                </p:cNvSpPr>
                <p:nvPr/>
              </p:nvSpPr>
              <p:spPr bwMode="auto">
                <a:xfrm>
                  <a:off x="2825750" y="4546600"/>
                  <a:ext cx="15875" cy="1588"/>
                </a:xfrm>
                <a:custGeom>
                  <a:avLst/>
                  <a:gdLst>
                    <a:gd name="T0" fmla="*/ 43 w 44"/>
                    <a:gd name="T1" fmla="*/ 0 h 1"/>
                    <a:gd name="T2" fmla="*/ 0 w 44"/>
                    <a:gd name="T3" fmla="*/ 0 h 1"/>
                  </a:gdLst>
                  <a:ahLst/>
                  <a:cxnLst>
                    <a:cxn ang="0">
                      <a:pos x="T0" y="T1"/>
                    </a:cxn>
                    <a:cxn ang="0">
                      <a:pos x="T2" y="T3"/>
                    </a:cxn>
                  </a:cxnLst>
                  <a:rect l="0" t="0" r="r" b="b"/>
                  <a:pathLst>
                    <a:path w="44" h="1">
                      <a:moveTo>
                        <a:pt x="43" y="0"/>
                      </a:moveTo>
                      <a:cubicBezTo>
                        <a:pt x="29" y="0"/>
                        <a:pt x="14" y="0"/>
                        <a:pt x="0" y="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69" name="Freeform 145">
                  <a:extLst>
                    <a:ext uri="{FF2B5EF4-FFF2-40B4-BE49-F238E27FC236}">
                      <a16:creationId xmlns:a16="http://schemas.microsoft.com/office/drawing/2014/main" id="{E4D0A93F-5751-0748-6E0B-F648005B6B81}"/>
                    </a:ext>
                  </a:extLst>
                </p:cNvPr>
                <p:cNvSpPr>
                  <a:spLocks noChangeArrowheads="1"/>
                </p:cNvSpPr>
                <p:nvPr/>
              </p:nvSpPr>
              <p:spPr bwMode="auto">
                <a:xfrm>
                  <a:off x="2601913" y="4422775"/>
                  <a:ext cx="117475" cy="61913"/>
                </a:xfrm>
                <a:custGeom>
                  <a:avLst/>
                  <a:gdLst>
                    <a:gd name="T0" fmla="*/ 325 w 326"/>
                    <a:gd name="T1" fmla="*/ 56 h 170"/>
                    <a:gd name="T2" fmla="*/ 268 w 326"/>
                    <a:gd name="T3" fmla="*/ 0 h 170"/>
                    <a:gd name="T4" fmla="*/ 57 w 326"/>
                    <a:gd name="T5" fmla="*/ 0 h 170"/>
                    <a:gd name="T6" fmla="*/ 0 w 326"/>
                    <a:gd name="T7" fmla="*/ 56 h 170"/>
                    <a:gd name="T8" fmla="*/ 0 w 326"/>
                    <a:gd name="T9" fmla="*/ 113 h 170"/>
                    <a:gd name="T10" fmla="*/ 57 w 326"/>
                    <a:gd name="T11" fmla="*/ 169 h 170"/>
                    <a:gd name="T12" fmla="*/ 268 w 326"/>
                    <a:gd name="T13" fmla="*/ 169 h 170"/>
                    <a:gd name="T14" fmla="*/ 325 w 326"/>
                    <a:gd name="T15" fmla="*/ 113 h 170"/>
                    <a:gd name="T16" fmla="*/ 325 w 326"/>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70">
                      <a:moveTo>
                        <a:pt x="325" y="56"/>
                      </a:moveTo>
                      <a:cubicBezTo>
                        <a:pt x="325" y="25"/>
                        <a:pt x="300" y="0"/>
                        <a:pt x="268" y="0"/>
                      </a:cubicBezTo>
                      <a:cubicBezTo>
                        <a:pt x="198" y="0"/>
                        <a:pt x="127" y="0"/>
                        <a:pt x="57" y="0"/>
                      </a:cubicBezTo>
                      <a:cubicBezTo>
                        <a:pt x="26" y="0"/>
                        <a:pt x="0" y="25"/>
                        <a:pt x="0" y="56"/>
                      </a:cubicBezTo>
                      <a:cubicBezTo>
                        <a:pt x="0" y="75"/>
                        <a:pt x="0" y="94"/>
                        <a:pt x="0" y="113"/>
                      </a:cubicBezTo>
                      <a:cubicBezTo>
                        <a:pt x="0" y="144"/>
                        <a:pt x="26" y="169"/>
                        <a:pt x="57" y="169"/>
                      </a:cubicBezTo>
                      <a:cubicBezTo>
                        <a:pt x="127" y="169"/>
                        <a:pt x="198" y="169"/>
                        <a:pt x="268" y="169"/>
                      </a:cubicBezTo>
                      <a:cubicBezTo>
                        <a:pt x="300" y="169"/>
                        <a:pt x="325" y="144"/>
                        <a:pt x="325" y="113"/>
                      </a:cubicBezTo>
                      <a:cubicBezTo>
                        <a:pt x="325" y="94"/>
                        <a:pt x="325" y="75"/>
                        <a:pt x="325" y="56"/>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146">
                  <a:extLst>
                    <a:ext uri="{FF2B5EF4-FFF2-40B4-BE49-F238E27FC236}">
                      <a16:creationId xmlns:a16="http://schemas.microsoft.com/office/drawing/2014/main" id="{4CC01035-1E1F-5A83-1B33-2543002B1A00}"/>
                    </a:ext>
                  </a:extLst>
                </p:cNvPr>
                <p:cNvSpPr>
                  <a:spLocks noChangeArrowheads="1"/>
                </p:cNvSpPr>
                <p:nvPr/>
              </p:nvSpPr>
              <p:spPr bwMode="auto">
                <a:xfrm>
                  <a:off x="2678113" y="4452938"/>
                  <a:ext cx="15875" cy="1587"/>
                </a:xfrm>
                <a:custGeom>
                  <a:avLst/>
                  <a:gdLst>
                    <a:gd name="T0" fmla="*/ 42 w 43"/>
                    <a:gd name="T1" fmla="*/ 0 h 1"/>
                    <a:gd name="T2" fmla="*/ 0 w 43"/>
                    <a:gd name="T3" fmla="*/ 0 h 1"/>
                  </a:gdLst>
                  <a:ahLst/>
                  <a:cxnLst>
                    <a:cxn ang="0">
                      <a:pos x="T0" y="T1"/>
                    </a:cxn>
                    <a:cxn ang="0">
                      <a:pos x="T2" y="T3"/>
                    </a:cxn>
                  </a:cxnLst>
                  <a:rect l="0" t="0" r="r" b="b"/>
                  <a:pathLst>
                    <a:path w="43" h="1">
                      <a:moveTo>
                        <a:pt x="42" y="0"/>
                      </a:moveTo>
                      <a:cubicBezTo>
                        <a:pt x="28" y="0"/>
                        <a:pt x="14" y="0"/>
                        <a:pt x="0" y="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71" name="Freeform 147">
                  <a:extLst>
                    <a:ext uri="{FF2B5EF4-FFF2-40B4-BE49-F238E27FC236}">
                      <a16:creationId xmlns:a16="http://schemas.microsoft.com/office/drawing/2014/main" id="{08C4EA25-94E2-F5AA-2EE1-2B798353B073}"/>
                    </a:ext>
                  </a:extLst>
                </p:cNvPr>
                <p:cNvSpPr>
                  <a:spLocks noChangeArrowheads="1"/>
                </p:cNvSpPr>
                <p:nvPr/>
              </p:nvSpPr>
              <p:spPr bwMode="auto">
                <a:xfrm>
                  <a:off x="2601913" y="4516438"/>
                  <a:ext cx="117475" cy="61912"/>
                </a:xfrm>
                <a:custGeom>
                  <a:avLst/>
                  <a:gdLst>
                    <a:gd name="T0" fmla="*/ 325 w 326"/>
                    <a:gd name="T1" fmla="*/ 56 h 170"/>
                    <a:gd name="T2" fmla="*/ 268 w 326"/>
                    <a:gd name="T3" fmla="*/ 0 h 170"/>
                    <a:gd name="T4" fmla="*/ 57 w 326"/>
                    <a:gd name="T5" fmla="*/ 0 h 170"/>
                    <a:gd name="T6" fmla="*/ 0 w 326"/>
                    <a:gd name="T7" fmla="*/ 56 h 170"/>
                    <a:gd name="T8" fmla="*/ 0 w 326"/>
                    <a:gd name="T9" fmla="*/ 113 h 170"/>
                    <a:gd name="T10" fmla="*/ 57 w 326"/>
                    <a:gd name="T11" fmla="*/ 169 h 170"/>
                    <a:gd name="T12" fmla="*/ 268 w 326"/>
                    <a:gd name="T13" fmla="*/ 169 h 170"/>
                    <a:gd name="T14" fmla="*/ 325 w 326"/>
                    <a:gd name="T15" fmla="*/ 113 h 170"/>
                    <a:gd name="T16" fmla="*/ 325 w 326"/>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70">
                      <a:moveTo>
                        <a:pt x="325" y="56"/>
                      </a:moveTo>
                      <a:cubicBezTo>
                        <a:pt x="325" y="25"/>
                        <a:pt x="300" y="0"/>
                        <a:pt x="268" y="0"/>
                      </a:cubicBezTo>
                      <a:cubicBezTo>
                        <a:pt x="198" y="0"/>
                        <a:pt x="127" y="0"/>
                        <a:pt x="57" y="0"/>
                      </a:cubicBezTo>
                      <a:cubicBezTo>
                        <a:pt x="26" y="0"/>
                        <a:pt x="0" y="25"/>
                        <a:pt x="0" y="56"/>
                      </a:cubicBezTo>
                      <a:cubicBezTo>
                        <a:pt x="0" y="75"/>
                        <a:pt x="0" y="94"/>
                        <a:pt x="0" y="113"/>
                      </a:cubicBezTo>
                      <a:cubicBezTo>
                        <a:pt x="0" y="144"/>
                        <a:pt x="26" y="169"/>
                        <a:pt x="57" y="169"/>
                      </a:cubicBezTo>
                      <a:cubicBezTo>
                        <a:pt x="127" y="169"/>
                        <a:pt x="198" y="169"/>
                        <a:pt x="268" y="169"/>
                      </a:cubicBezTo>
                      <a:cubicBezTo>
                        <a:pt x="300" y="169"/>
                        <a:pt x="325" y="144"/>
                        <a:pt x="325" y="113"/>
                      </a:cubicBezTo>
                      <a:cubicBezTo>
                        <a:pt x="325" y="94"/>
                        <a:pt x="325" y="75"/>
                        <a:pt x="325" y="56"/>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148">
                  <a:extLst>
                    <a:ext uri="{FF2B5EF4-FFF2-40B4-BE49-F238E27FC236}">
                      <a16:creationId xmlns:a16="http://schemas.microsoft.com/office/drawing/2014/main" id="{6A1BC629-FBDF-9450-3B60-FACD12AF68BB}"/>
                    </a:ext>
                  </a:extLst>
                </p:cNvPr>
                <p:cNvSpPr>
                  <a:spLocks noChangeArrowheads="1"/>
                </p:cNvSpPr>
                <p:nvPr/>
              </p:nvSpPr>
              <p:spPr bwMode="auto">
                <a:xfrm>
                  <a:off x="2678113" y="4546600"/>
                  <a:ext cx="15875" cy="1588"/>
                </a:xfrm>
                <a:custGeom>
                  <a:avLst/>
                  <a:gdLst>
                    <a:gd name="T0" fmla="*/ 42 w 43"/>
                    <a:gd name="T1" fmla="*/ 0 h 1"/>
                    <a:gd name="T2" fmla="*/ 0 w 43"/>
                    <a:gd name="T3" fmla="*/ 0 h 1"/>
                  </a:gdLst>
                  <a:ahLst/>
                  <a:cxnLst>
                    <a:cxn ang="0">
                      <a:pos x="T0" y="T1"/>
                    </a:cxn>
                    <a:cxn ang="0">
                      <a:pos x="T2" y="T3"/>
                    </a:cxn>
                  </a:cxnLst>
                  <a:rect l="0" t="0" r="r" b="b"/>
                  <a:pathLst>
                    <a:path w="43" h="1">
                      <a:moveTo>
                        <a:pt x="42" y="0"/>
                      </a:moveTo>
                      <a:cubicBezTo>
                        <a:pt x="28" y="0"/>
                        <a:pt x="14" y="0"/>
                        <a:pt x="0" y="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sp>
              <p:nvSpPr>
                <p:cNvPr id="73" name="Freeform 149">
                  <a:extLst>
                    <a:ext uri="{FF2B5EF4-FFF2-40B4-BE49-F238E27FC236}">
                      <a16:creationId xmlns:a16="http://schemas.microsoft.com/office/drawing/2014/main" id="{E39BD4CE-88A1-B7B7-C7F9-E3666A87904C}"/>
                    </a:ext>
                  </a:extLst>
                </p:cNvPr>
                <p:cNvSpPr>
                  <a:spLocks noChangeArrowheads="1"/>
                </p:cNvSpPr>
                <p:nvPr/>
              </p:nvSpPr>
              <p:spPr bwMode="auto">
                <a:xfrm>
                  <a:off x="2455863" y="4516438"/>
                  <a:ext cx="117475" cy="61912"/>
                </a:xfrm>
                <a:custGeom>
                  <a:avLst/>
                  <a:gdLst>
                    <a:gd name="T0" fmla="*/ 325 w 326"/>
                    <a:gd name="T1" fmla="*/ 56 h 170"/>
                    <a:gd name="T2" fmla="*/ 268 w 326"/>
                    <a:gd name="T3" fmla="*/ 0 h 170"/>
                    <a:gd name="T4" fmla="*/ 57 w 326"/>
                    <a:gd name="T5" fmla="*/ 0 h 170"/>
                    <a:gd name="T6" fmla="*/ 0 w 326"/>
                    <a:gd name="T7" fmla="*/ 56 h 170"/>
                    <a:gd name="T8" fmla="*/ 0 w 326"/>
                    <a:gd name="T9" fmla="*/ 113 h 170"/>
                    <a:gd name="T10" fmla="*/ 57 w 326"/>
                    <a:gd name="T11" fmla="*/ 169 h 170"/>
                    <a:gd name="T12" fmla="*/ 268 w 326"/>
                    <a:gd name="T13" fmla="*/ 169 h 170"/>
                    <a:gd name="T14" fmla="*/ 325 w 326"/>
                    <a:gd name="T15" fmla="*/ 113 h 170"/>
                    <a:gd name="T16" fmla="*/ 325 w 326"/>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70">
                      <a:moveTo>
                        <a:pt x="325" y="56"/>
                      </a:moveTo>
                      <a:cubicBezTo>
                        <a:pt x="325" y="25"/>
                        <a:pt x="299" y="0"/>
                        <a:pt x="268" y="0"/>
                      </a:cubicBezTo>
                      <a:cubicBezTo>
                        <a:pt x="198" y="0"/>
                        <a:pt x="127" y="0"/>
                        <a:pt x="57" y="0"/>
                      </a:cubicBezTo>
                      <a:cubicBezTo>
                        <a:pt x="25" y="0"/>
                        <a:pt x="0" y="25"/>
                        <a:pt x="0" y="56"/>
                      </a:cubicBezTo>
                      <a:cubicBezTo>
                        <a:pt x="0" y="75"/>
                        <a:pt x="0" y="94"/>
                        <a:pt x="0" y="113"/>
                      </a:cubicBezTo>
                      <a:cubicBezTo>
                        <a:pt x="0" y="144"/>
                        <a:pt x="25" y="169"/>
                        <a:pt x="57" y="169"/>
                      </a:cubicBezTo>
                      <a:cubicBezTo>
                        <a:pt x="127" y="169"/>
                        <a:pt x="198" y="169"/>
                        <a:pt x="268" y="169"/>
                      </a:cubicBezTo>
                      <a:cubicBezTo>
                        <a:pt x="299" y="169"/>
                        <a:pt x="325" y="144"/>
                        <a:pt x="325" y="113"/>
                      </a:cubicBezTo>
                      <a:cubicBezTo>
                        <a:pt x="325" y="94"/>
                        <a:pt x="325" y="75"/>
                        <a:pt x="325" y="56"/>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150">
                  <a:extLst>
                    <a:ext uri="{FF2B5EF4-FFF2-40B4-BE49-F238E27FC236}">
                      <a16:creationId xmlns:a16="http://schemas.microsoft.com/office/drawing/2014/main" id="{4197EFC1-5357-8AB7-B846-57A1F66C1E0F}"/>
                    </a:ext>
                  </a:extLst>
                </p:cNvPr>
                <p:cNvSpPr>
                  <a:spLocks noChangeArrowheads="1"/>
                </p:cNvSpPr>
                <p:nvPr/>
              </p:nvSpPr>
              <p:spPr bwMode="auto">
                <a:xfrm>
                  <a:off x="2532063" y="4546600"/>
                  <a:ext cx="15875" cy="1588"/>
                </a:xfrm>
                <a:custGeom>
                  <a:avLst/>
                  <a:gdLst>
                    <a:gd name="T0" fmla="*/ 42 w 43"/>
                    <a:gd name="T1" fmla="*/ 0 h 1"/>
                    <a:gd name="T2" fmla="*/ 0 w 43"/>
                    <a:gd name="T3" fmla="*/ 0 h 1"/>
                  </a:gdLst>
                  <a:ahLst/>
                  <a:cxnLst>
                    <a:cxn ang="0">
                      <a:pos x="T0" y="T1"/>
                    </a:cxn>
                    <a:cxn ang="0">
                      <a:pos x="T2" y="T3"/>
                    </a:cxn>
                  </a:cxnLst>
                  <a:rect l="0" t="0" r="r" b="b"/>
                  <a:pathLst>
                    <a:path w="43" h="1">
                      <a:moveTo>
                        <a:pt x="42" y="0"/>
                      </a:moveTo>
                      <a:cubicBezTo>
                        <a:pt x="28" y="0"/>
                        <a:pt x="14" y="0"/>
                        <a:pt x="0" y="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nvGrpSpPr>
            <p:cNvPr id="79" name="Group 78">
              <a:extLst>
                <a:ext uri="{FF2B5EF4-FFF2-40B4-BE49-F238E27FC236}">
                  <a16:creationId xmlns:a16="http://schemas.microsoft.com/office/drawing/2014/main" id="{6E8E01DB-6A2A-434D-C9CC-34A7670CBDAA}"/>
                </a:ext>
              </a:extLst>
            </p:cNvPr>
            <p:cNvGrpSpPr>
              <a:grpSpLocks noChangeAspect="1"/>
            </p:cNvGrpSpPr>
            <p:nvPr/>
          </p:nvGrpSpPr>
          <p:grpSpPr>
            <a:xfrm>
              <a:off x="20258349" y="9558143"/>
              <a:ext cx="1113508" cy="1113510"/>
              <a:chOff x="10655081" y="510378"/>
              <a:chExt cx="788067" cy="788068"/>
            </a:xfrm>
          </p:grpSpPr>
          <p:sp>
            <p:nvSpPr>
              <p:cNvPr id="80" name="Freeform 63">
                <a:extLst>
                  <a:ext uri="{FF2B5EF4-FFF2-40B4-BE49-F238E27FC236}">
                    <a16:creationId xmlns:a16="http://schemas.microsoft.com/office/drawing/2014/main" id="{F31EE686-67D1-D34D-1660-6C406C9C59E6}"/>
                  </a:ext>
                </a:extLst>
              </p:cNvPr>
              <p:cNvSpPr>
                <a:spLocks noChangeArrowheads="1"/>
              </p:cNvSpPr>
              <p:nvPr/>
            </p:nvSpPr>
            <p:spPr bwMode="auto">
              <a:xfrm>
                <a:off x="10655081" y="510378"/>
                <a:ext cx="788067" cy="788068"/>
              </a:xfrm>
              <a:custGeom>
                <a:avLst/>
                <a:gdLst>
                  <a:gd name="T0" fmla="*/ 1468 w 1751"/>
                  <a:gd name="T1" fmla="*/ 1750 h 1751"/>
                  <a:gd name="T2" fmla="*/ 1750 w 1751"/>
                  <a:gd name="T3" fmla="*/ 1467 h 1751"/>
                  <a:gd name="T4" fmla="*/ 1750 w 1751"/>
                  <a:gd name="T5" fmla="*/ 282 h 1751"/>
                  <a:gd name="T6" fmla="*/ 1468 w 1751"/>
                  <a:gd name="T7" fmla="*/ 0 h 1751"/>
                  <a:gd name="T8" fmla="*/ 282 w 1751"/>
                  <a:gd name="T9" fmla="*/ 0 h 1751"/>
                  <a:gd name="T10" fmla="*/ 0 w 1751"/>
                  <a:gd name="T11" fmla="*/ 282 h 1751"/>
                  <a:gd name="T12" fmla="*/ 0 w 1751"/>
                  <a:gd name="T13" fmla="*/ 1467 h 1751"/>
                  <a:gd name="T14" fmla="*/ 282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7"/>
                    </a:cubicBezTo>
                    <a:cubicBezTo>
                      <a:pt x="1750" y="1072"/>
                      <a:pt x="1750" y="677"/>
                      <a:pt x="1750" y="282"/>
                    </a:cubicBezTo>
                    <a:cubicBezTo>
                      <a:pt x="1750" y="127"/>
                      <a:pt x="1623" y="0"/>
                      <a:pt x="1468" y="0"/>
                    </a:cubicBezTo>
                    <a:cubicBezTo>
                      <a:pt x="1073" y="0"/>
                      <a:pt x="677" y="0"/>
                      <a:pt x="282" y="0"/>
                    </a:cubicBezTo>
                    <a:cubicBezTo>
                      <a:pt x="127" y="0"/>
                      <a:pt x="0" y="127"/>
                      <a:pt x="0" y="282"/>
                    </a:cubicBezTo>
                    <a:cubicBezTo>
                      <a:pt x="0" y="677"/>
                      <a:pt x="0" y="1072"/>
                      <a:pt x="0" y="1467"/>
                    </a:cubicBezTo>
                    <a:cubicBezTo>
                      <a:pt x="0" y="1623"/>
                      <a:pt x="127" y="1750"/>
                      <a:pt x="282" y="1750"/>
                    </a:cubicBezTo>
                    <a:cubicBezTo>
                      <a:pt x="677" y="1750"/>
                      <a:pt x="1073" y="1750"/>
                      <a:pt x="1468" y="1750"/>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nvGrpSpPr>
              <p:cNvPr id="81" name="Group 80">
                <a:extLst>
                  <a:ext uri="{FF2B5EF4-FFF2-40B4-BE49-F238E27FC236}">
                    <a16:creationId xmlns:a16="http://schemas.microsoft.com/office/drawing/2014/main" id="{ABFFCC47-AE3A-AFED-084B-8A324B44DB0F}"/>
                  </a:ext>
                </a:extLst>
              </p:cNvPr>
              <p:cNvGrpSpPr/>
              <p:nvPr/>
            </p:nvGrpSpPr>
            <p:grpSpPr>
              <a:xfrm>
                <a:off x="10744408" y="603676"/>
                <a:ext cx="609413" cy="601472"/>
                <a:chOff x="10744408" y="603676"/>
                <a:chExt cx="609413" cy="601472"/>
              </a:xfrm>
            </p:grpSpPr>
            <p:sp>
              <p:nvSpPr>
                <p:cNvPr id="82" name="Freeform 64">
                  <a:extLst>
                    <a:ext uri="{FF2B5EF4-FFF2-40B4-BE49-F238E27FC236}">
                      <a16:creationId xmlns:a16="http://schemas.microsoft.com/office/drawing/2014/main" id="{13C9CC37-C8B6-CBCE-7833-BD68F9F24D44}"/>
                    </a:ext>
                  </a:extLst>
                </p:cNvPr>
                <p:cNvSpPr>
                  <a:spLocks noChangeArrowheads="1"/>
                </p:cNvSpPr>
                <p:nvPr/>
              </p:nvSpPr>
              <p:spPr bwMode="auto">
                <a:xfrm>
                  <a:off x="10841676" y="625510"/>
                  <a:ext cx="89327" cy="89328"/>
                </a:xfrm>
                <a:custGeom>
                  <a:avLst/>
                  <a:gdLst>
                    <a:gd name="T0" fmla="*/ 198 w 199"/>
                    <a:gd name="T1" fmla="*/ 98 h 198"/>
                    <a:gd name="T2" fmla="*/ 184 w 199"/>
                    <a:gd name="T3" fmla="*/ 148 h 198"/>
                    <a:gd name="T4" fmla="*/ 148 w 199"/>
                    <a:gd name="T5" fmla="*/ 184 h 198"/>
                    <a:gd name="T6" fmla="*/ 99 w 199"/>
                    <a:gd name="T7" fmla="*/ 197 h 198"/>
                    <a:gd name="T8" fmla="*/ 49 w 199"/>
                    <a:gd name="T9" fmla="*/ 184 h 198"/>
                    <a:gd name="T10" fmla="*/ 13 w 199"/>
                    <a:gd name="T11" fmla="*/ 148 h 198"/>
                    <a:gd name="T12" fmla="*/ 0 w 199"/>
                    <a:gd name="T13" fmla="*/ 98 h 198"/>
                    <a:gd name="T14" fmla="*/ 13 w 199"/>
                    <a:gd name="T15" fmla="*/ 49 h 198"/>
                    <a:gd name="T16" fmla="*/ 49 w 199"/>
                    <a:gd name="T17" fmla="*/ 13 h 198"/>
                    <a:gd name="T18" fmla="*/ 99 w 199"/>
                    <a:gd name="T19" fmla="*/ 0 h 198"/>
                    <a:gd name="T20" fmla="*/ 148 w 199"/>
                    <a:gd name="T21" fmla="*/ 13 h 198"/>
                    <a:gd name="T22" fmla="*/ 184 w 199"/>
                    <a:gd name="T23" fmla="*/ 49 h 198"/>
                    <a:gd name="T24" fmla="*/ 198 w 199"/>
                    <a:gd name="T25" fmla="*/ 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198" y="98"/>
                      </a:moveTo>
                      <a:cubicBezTo>
                        <a:pt x="198" y="117"/>
                        <a:pt x="193" y="132"/>
                        <a:pt x="184" y="148"/>
                      </a:cubicBezTo>
                      <a:cubicBezTo>
                        <a:pt x="175" y="164"/>
                        <a:pt x="164" y="175"/>
                        <a:pt x="148" y="184"/>
                      </a:cubicBezTo>
                      <a:cubicBezTo>
                        <a:pt x="132" y="193"/>
                        <a:pt x="117" y="197"/>
                        <a:pt x="99" y="197"/>
                      </a:cubicBezTo>
                      <a:cubicBezTo>
                        <a:pt x="81" y="197"/>
                        <a:pt x="65" y="193"/>
                        <a:pt x="49" y="184"/>
                      </a:cubicBezTo>
                      <a:cubicBezTo>
                        <a:pt x="34" y="175"/>
                        <a:pt x="22" y="164"/>
                        <a:pt x="13" y="148"/>
                      </a:cubicBezTo>
                      <a:cubicBezTo>
                        <a:pt x="4" y="132"/>
                        <a:pt x="0" y="116"/>
                        <a:pt x="0" y="98"/>
                      </a:cubicBezTo>
                      <a:cubicBezTo>
                        <a:pt x="0" y="79"/>
                        <a:pt x="4" y="65"/>
                        <a:pt x="13" y="49"/>
                      </a:cubicBezTo>
                      <a:cubicBezTo>
                        <a:pt x="22" y="33"/>
                        <a:pt x="34" y="22"/>
                        <a:pt x="49" y="13"/>
                      </a:cubicBezTo>
                      <a:cubicBezTo>
                        <a:pt x="65" y="4"/>
                        <a:pt x="81" y="0"/>
                        <a:pt x="99" y="0"/>
                      </a:cubicBezTo>
                      <a:cubicBezTo>
                        <a:pt x="117" y="0"/>
                        <a:pt x="132" y="4"/>
                        <a:pt x="148" y="13"/>
                      </a:cubicBezTo>
                      <a:cubicBezTo>
                        <a:pt x="164" y="22"/>
                        <a:pt x="175" y="33"/>
                        <a:pt x="184" y="49"/>
                      </a:cubicBezTo>
                      <a:cubicBezTo>
                        <a:pt x="193" y="65"/>
                        <a:pt x="198" y="80"/>
                        <a:pt x="198" y="98"/>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65">
                  <a:extLst>
                    <a:ext uri="{FF2B5EF4-FFF2-40B4-BE49-F238E27FC236}">
                      <a16:creationId xmlns:a16="http://schemas.microsoft.com/office/drawing/2014/main" id="{16B13FCD-4DE8-B344-9BE0-1847BC1F522D}"/>
                    </a:ext>
                  </a:extLst>
                </p:cNvPr>
                <p:cNvSpPr>
                  <a:spLocks noChangeArrowheads="1"/>
                </p:cNvSpPr>
                <p:nvPr/>
              </p:nvSpPr>
              <p:spPr bwMode="auto">
                <a:xfrm>
                  <a:off x="10744408" y="603676"/>
                  <a:ext cx="325549" cy="601471"/>
                </a:xfrm>
                <a:custGeom>
                  <a:avLst/>
                  <a:gdLst>
                    <a:gd name="T0" fmla="*/ 453 w 725"/>
                    <a:gd name="T1" fmla="*/ 1284 h 1335"/>
                    <a:gd name="T2" fmla="*/ 403 w 725"/>
                    <a:gd name="T3" fmla="*/ 1334 h 1335"/>
                    <a:gd name="T4" fmla="*/ 354 w 725"/>
                    <a:gd name="T5" fmla="*/ 1284 h 1335"/>
                    <a:gd name="T6" fmla="*/ 354 w 725"/>
                    <a:gd name="T7" fmla="*/ 865 h 1335"/>
                    <a:gd name="T8" fmla="*/ 313 w 725"/>
                    <a:gd name="T9" fmla="*/ 823 h 1335"/>
                    <a:gd name="T10" fmla="*/ 272 w 725"/>
                    <a:gd name="T11" fmla="*/ 865 h 1335"/>
                    <a:gd name="T12" fmla="*/ 272 w 725"/>
                    <a:gd name="T13" fmla="*/ 1284 h 1335"/>
                    <a:gd name="T14" fmla="*/ 222 w 725"/>
                    <a:gd name="T15" fmla="*/ 1334 h 1335"/>
                    <a:gd name="T16" fmla="*/ 173 w 725"/>
                    <a:gd name="T17" fmla="*/ 1284 h 1335"/>
                    <a:gd name="T18" fmla="*/ 173 w 725"/>
                    <a:gd name="T19" fmla="*/ 489 h 1335"/>
                    <a:gd name="T20" fmla="*/ 170 w 725"/>
                    <a:gd name="T21" fmla="*/ 484 h 1335"/>
                    <a:gd name="T22" fmla="*/ 164 w 725"/>
                    <a:gd name="T23" fmla="*/ 485 h 1335"/>
                    <a:gd name="T24" fmla="*/ 99 w 725"/>
                    <a:gd name="T25" fmla="*/ 642 h 1335"/>
                    <a:gd name="T26" fmla="*/ 99 w 725"/>
                    <a:gd name="T27" fmla="*/ 766 h 1335"/>
                    <a:gd name="T28" fmla="*/ 49 w 725"/>
                    <a:gd name="T29" fmla="*/ 815 h 1335"/>
                    <a:gd name="T30" fmla="*/ 0 w 725"/>
                    <a:gd name="T31" fmla="*/ 766 h 1335"/>
                    <a:gd name="T32" fmla="*/ 0 w 725"/>
                    <a:gd name="T33" fmla="*/ 634 h 1335"/>
                    <a:gd name="T34" fmla="*/ 313 w 725"/>
                    <a:gd name="T35" fmla="*/ 321 h 1335"/>
                    <a:gd name="T36" fmla="*/ 428 w 725"/>
                    <a:gd name="T37" fmla="*/ 321 h 1335"/>
                    <a:gd name="T38" fmla="*/ 626 w 725"/>
                    <a:gd name="T39" fmla="*/ 123 h 1335"/>
                    <a:gd name="T40" fmla="*/ 626 w 725"/>
                    <a:gd name="T41" fmla="*/ 49 h 1335"/>
                    <a:gd name="T42" fmla="*/ 675 w 725"/>
                    <a:gd name="T43" fmla="*/ 0 h 1335"/>
                    <a:gd name="T44" fmla="*/ 724 w 725"/>
                    <a:gd name="T45" fmla="*/ 49 h 1335"/>
                    <a:gd name="T46" fmla="*/ 724 w 725"/>
                    <a:gd name="T47" fmla="*/ 123 h 1335"/>
                    <a:gd name="T48" fmla="*/ 470 w 725"/>
                    <a:gd name="T49" fmla="*/ 417 h 1335"/>
                    <a:gd name="T50" fmla="*/ 463 w 725"/>
                    <a:gd name="T51" fmla="*/ 418 h 1335"/>
                    <a:gd name="T52" fmla="*/ 453 w 725"/>
                    <a:gd name="T53" fmla="*/ 430 h 1335"/>
                    <a:gd name="T54" fmla="*/ 453 w 725"/>
                    <a:gd name="T55" fmla="*/ 1284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25" h="1335">
                      <a:moveTo>
                        <a:pt x="453" y="1284"/>
                      </a:moveTo>
                      <a:cubicBezTo>
                        <a:pt x="453" y="1312"/>
                        <a:pt x="431" y="1334"/>
                        <a:pt x="403" y="1334"/>
                      </a:cubicBezTo>
                      <a:cubicBezTo>
                        <a:pt x="376" y="1334"/>
                        <a:pt x="354" y="1312"/>
                        <a:pt x="354" y="1284"/>
                      </a:cubicBezTo>
                      <a:cubicBezTo>
                        <a:pt x="354" y="1144"/>
                        <a:pt x="354" y="1005"/>
                        <a:pt x="354" y="865"/>
                      </a:cubicBezTo>
                      <a:cubicBezTo>
                        <a:pt x="354" y="842"/>
                        <a:pt x="335" y="823"/>
                        <a:pt x="313" y="823"/>
                      </a:cubicBezTo>
                      <a:cubicBezTo>
                        <a:pt x="290" y="823"/>
                        <a:pt x="272" y="842"/>
                        <a:pt x="272" y="865"/>
                      </a:cubicBezTo>
                      <a:cubicBezTo>
                        <a:pt x="272" y="1005"/>
                        <a:pt x="272" y="1144"/>
                        <a:pt x="272" y="1284"/>
                      </a:cubicBezTo>
                      <a:cubicBezTo>
                        <a:pt x="272" y="1312"/>
                        <a:pt x="249" y="1334"/>
                        <a:pt x="222" y="1334"/>
                      </a:cubicBezTo>
                      <a:cubicBezTo>
                        <a:pt x="195" y="1334"/>
                        <a:pt x="173" y="1312"/>
                        <a:pt x="173" y="1284"/>
                      </a:cubicBezTo>
                      <a:cubicBezTo>
                        <a:pt x="173" y="1019"/>
                        <a:pt x="173" y="754"/>
                        <a:pt x="173" y="489"/>
                      </a:cubicBezTo>
                      <a:cubicBezTo>
                        <a:pt x="173" y="487"/>
                        <a:pt x="172" y="485"/>
                        <a:pt x="170" y="484"/>
                      </a:cubicBezTo>
                      <a:cubicBezTo>
                        <a:pt x="168" y="483"/>
                        <a:pt x="165" y="484"/>
                        <a:pt x="164" y="485"/>
                      </a:cubicBezTo>
                      <a:cubicBezTo>
                        <a:pt x="122" y="527"/>
                        <a:pt x="99" y="583"/>
                        <a:pt x="99" y="642"/>
                      </a:cubicBezTo>
                      <a:cubicBezTo>
                        <a:pt x="99" y="683"/>
                        <a:pt x="99" y="725"/>
                        <a:pt x="99" y="766"/>
                      </a:cubicBezTo>
                      <a:cubicBezTo>
                        <a:pt x="99" y="793"/>
                        <a:pt x="77" y="815"/>
                        <a:pt x="49" y="815"/>
                      </a:cubicBezTo>
                      <a:cubicBezTo>
                        <a:pt x="22" y="815"/>
                        <a:pt x="0" y="793"/>
                        <a:pt x="0" y="766"/>
                      </a:cubicBezTo>
                      <a:cubicBezTo>
                        <a:pt x="0" y="722"/>
                        <a:pt x="0" y="678"/>
                        <a:pt x="0" y="634"/>
                      </a:cubicBezTo>
                      <a:cubicBezTo>
                        <a:pt x="0" y="462"/>
                        <a:pt x="140" y="321"/>
                        <a:pt x="313" y="321"/>
                      </a:cubicBezTo>
                      <a:cubicBezTo>
                        <a:pt x="351" y="321"/>
                        <a:pt x="390" y="321"/>
                        <a:pt x="428" y="321"/>
                      </a:cubicBezTo>
                      <a:cubicBezTo>
                        <a:pt x="537" y="321"/>
                        <a:pt x="626" y="232"/>
                        <a:pt x="626" y="123"/>
                      </a:cubicBezTo>
                      <a:cubicBezTo>
                        <a:pt x="626" y="98"/>
                        <a:pt x="626" y="74"/>
                        <a:pt x="626" y="49"/>
                      </a:cubicBezTo>
                      <a:cubicBezTo>
                        <a:pt x="626" y="22"/>
                        <a:pt x="648" y="0"/>
                        <a:pt x="675" y="0"/>
                      </a:cubicBezTo>
                      <a:cubicBezTo>
                        <a:pt x="702" y="0"/>
                        <a:pt x="724" y="22"/>
                        <a:pt x="724" y="49"/>
                      </a:cubicBezTo>
                      <a:cubicBezTo>
                        <a:pt x="724" y="74"/>
                        <a:pt x="724" y="98"/>
                        <a:pt x="724" y="123"/>
                      </a:cubicBezTo>
                      <a:cubicBezTo>
                        <a:pt x="724" y="273"/>
                        <a:pt x="614" y="396"/>
                        <a:pt x="470" y="417"/>
                      </a:cubicBezTo>
                      <a:cubicBezTo>
                        <a:pt x="468" y="417"/>
                        <a:pt x="465" y="418"/>
                        <a:pt x="463" y="418"/>
                      </a:cubicBezTo>
                      <a:cubicBezTo>
                        <a:pt x="457" y="418"/>
                        <a:pt x="453" y="424"/>
                        <a:pt x="453" y="430"/>
                      </a:cubicBezTo>
                      <a:cubicBezTo>
                        <a:pt x="453" y="715"/>
                        <a:pt x="453" y="999"/>
                        <a:pt x="453" y="1284"/>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66">
                  <a:extLst>
                    <a:ext uri="{FF2B5EF4-FFF2-40B4-BE49-F238E27FC236}">
                      <a16:creationId xmlns:a16="http://schemas.microsoft.com/office/drawing/2014/main" id="{9AEB03E3-4129-8689-8379-9756CC43F811}"/>
                    </a:ext>
                  </a:extLst>
                </p:cNvPr>
                <p:cNvSpPr>
                  <a:spLocks noChangeArrowheads="1"/>
                </p:cNvSpPr>
                <p:nvPr/>
              </p:nvSpPr>
              <p:spPr bwMode="auto">
                <a:xfrm>
                  <a:off x="11167225" y="625510"/>
                  <a:ext cx="89327" cy="89328"/>
                </a:xfrm>
                <a:custGeom>
                  <a:avLst/>
                  <a:gdLst>
                    <a:gd name="T0" fmla="*/ 198 w 199"/>
                    <a:gd name="T1" fmla="*/ 98 h 198"/>
                    <a:gd name="T2" fmla="*/ 185 w 199"/>
                    <a:gd name="T3" fmla="*/ 148 h 198"/>
                    <a:gd name="T4" fmla="*/ 149 w 199"/>
                    <a:gd name="T5" fmla="*/ 184 h 198"/>
                    <a:gd name="T6" fmla="*/ 99 w 199"/>
                    <a:gd name="T7" fmla="*/ 197 h 198"/>
                    <a:gd name="T8" fmla="*/ 50 w 199"/>
                    <a:gd name="T9" fmla="*/ 184 h 198"/>
                    <a:gd name="T10" fmla="*/ 14 w 199"/>
                    <a:gd name="T11" fmla="*/ 148 h 198"/>
                    <a:gd name="T12" fmla="*/ 0 w 199"/>
                    <a:gd name="T13" fmla="*/ 98 h 198"/>
                    <a:gd name="T14" fmla="*/ 14 w 199"/>
                    <a:gd name="T15" fmla="*/ 49 h 198"/>
                    <a:gd name="T16" fmla="*/ 50 w 199"/>
                    <a:gd name="T17" fmla="*/ 13 h 198"/>
                    <a:gd name="T18" fmla="*/ 99 w 199"/>
                    <a:gd name="T19" fmla="*/ 0 h 198"/>
                    <a:gd name="T20" fmla="*/ 149 w 199"/>
                    <a:gd name="T21" fmla="*/ 13 h 198"/>
                    <a:gd name="T22" fmla="*/ 185 w 199"/>
                    <a:gd name="T23" fmla="*/ 49 h 198"/>
                    <a:gd name="T24" fmla="*/ 198 w 199"/>
                    <a:gd name="T25" fmla="*/ 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9" h="198">
                      <a:moveTo>
                        <a:pt x="198" y="98"/>
                      </a:moveTo>
                      <a:cubicBezTo>
                        <a:pt x="198" y="117"/>
                        <a:pt x="194" y="132"/>
                        <a:pt x="185" y="148"/>
                      </a:cubicBezTo>
                      <a:cubicBezTo>
                        <a:pt x="176" y="164"/>
                        <a:pt x="165" y="175"/>
                        <a:pt x="149" y="184"/>
                      </a:cubicBezTo>
                      <a:cubicBezTo>
                        <a:pt x="134" y="193"/>
                        <a:pt x="117" y="197"/>
                        <a:pt x="99" y="197"/>
                      </a:cubicBezTo>
                      <a:cubicBezTo>
                        <a:pt x="81" y="197"/>
                        <a:pt x="66" y="193"/>
                        <a:pt x="50" y="184"/>
                      </a:cubicBezTo>
                      <a:cubicBezTo>
                        <a:pt x="35" y="175"/>
                        <a:pt x="24" y="164"/>
                        <a:pt x="14" y="148"/>
                      </a:cubicBezTo>
                      <a:cubicBezTo>
                        <a:pt x="5" y="132"/>
                        <a:pt x="0" y="116"/>
                        <a:pt x="0" y="98"/>
                      </a:cubicBezTo>
                      <a:cubicBezTo>
                        <a:pt x="0" y="79"/>
                        <a:pt x="5" y="65"/>
                        <a:pt x="14" y="49"/>
                      </a:cubicBezTo>
                      <a:cubicBezTo>
                        <a:pt x="24" y="33"/>
                        <a:pt x="35" y="22"/>
                        <a:pt x="50" y="13"/>
                      </a:cubicBezTo>
                      <a:cubicBezTo>
                        <a:pt x="66" y="4"/>
                        <a:pt x="81" y="0"/>
                        <a:pt x="99" y="0"/>
                      </a:cubicBezTo>
                      <a:cubicBezTo>
                        <a:pt x="117" y="0"/>
                        <a:pt x="134" y="4"/>
                        <a:pt x="149" y="13"/>
                      </a:cubicBezTo>
                      <a:cubicBezTo>
                        <a:pt x="165" y="22"/>
                        <a:pt x="176" y="33"/>
                        <a:pt x="185" y="49"/>
                      </a:cubicBezTo>
                      <a:cubicBezTo>
                        <a:pt x="194" y="65"/>
                        <a:pt x="198" y="80"/>
                        <a:pt x="198" y="98"/>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67">
                  <a:extLst>
                    <a:ext uri="{FF2B5EF4-FFF2-40B4-BE49-F238E27FC236}">
                      <a16:creationId xmlns:a16="http://schemas.microsoft.com/office/drawing/2014/main" id="{09BFF2B3-F9BA-6310-A559-91454A0C406D}"/>
                    </a:ext>
                  </a:extLst>
                </p:cNvPr>
                <p:cNvSpPr>
                  <a:spLocks noChangeArrowheads="1"/>
                </p:cNvSpPr>
                <p:nvPr/>
              </p:nvSpPr>
              <p:spPr bwMode="auto">
                <a:xfrm>
                  <a:off x="11050107" y="659258"/>
                  <a:ext cx="303714" cy="545890"/>
                </a:xfrm>
                <a:custGeom>
                  <a:avLst/>
                  <a:gdLst>
                    <a:gd name="T0" fmla="*/ 0 w 676"/>
                    <a:gd name="T1" fmla="*/ 164 h 1212"/>
                    <a:gd name="T2" fmla="*/ 205 w 676"/>
                    <a:gd name="T3" fmla="*/ 294 h 1212"/>
                    <a:gd name="T4" fmla="*/ 212 w 676"/>
                    <a:gd name="T5" fmla="*/ 295 h 1212"/>
                    <a:gd name="T6" fmla="*/ 222 w 676"/>
                    <a:gd name="T7" fmla="*/ 307 h 1212"/>
                    <a:gd name="T8" fmla="*/ 222 w 676"/>
                    <a:gd name="T9" fmla="*/ 1161 h 1212"/>
                    <a:gd name="T10" fmla="*/ 272 w 676"/>
                    <a:gd name="T11" fmla="*/ 1211 h 1212"/>
                    <a:gd name="T12" fmla="*/ 321 w 676"/>
                    <a:gd name="T13" fmla="*/ 1161 h 1212"/>
                    <a:gd name="T14" fmla="*/ 321 w 676"/>
                    <a:gd name="T15" fmla="*/ 742 h 1212"/>
                    <a:gd name="T16" fmla="*/ 362 w 676"/>
                    <a:gd name="T17" fmla="*/ 700 h 1212"/>
                    <a:gd name="T18" fmla="*/ 403 w 676"/>
                    <a:gd name="T19" fmla="*/ 742 h 1212"/>
                    <a:gd name="T20" fmla="*/ 403 w 676"/>
                    <a:gd name="T21" fmla="*/ 1161 h 1212"/>
                    <a:gd name="T22" fmla="*/ 453 w 676"/>
                    <a:gd name="T23" fmla="*/ 1211 h 1212"/>
                    <a:gd name="T24" fmla="*/ 502 w 676"/>
                    <a:gd name="T25" fmla="*/ 1161 h 1212"/>
                    <a:gd name="T26" fmla="*/ 502 w 676"/>
                    <a:gd name="T27" fmla="*/ 366 h 1212"/>
                    <a:gd name="T28" fmla="*/ 505 w 676"/>
                    <a:gd name="T29" fmla="*/ 361 h 1212"/>
                    <a:gd name="T30" fmla="*/ 511 w 676"/>
                    <a:gd name="T31" fmla="*/ 362 h 1212"/>
                    <a:gd name="T32" fmla="*/ 576 w 676"/>
                    <a:gd name="T33" fmla="*/ 519 h 1212"/>
                    <a:gd name="T34" fmla="*/ 576 w 676"/>
                    <a:gd name="T35" fmla="*/ 643 h 1212"/>
                    <a:gd name="T36" fmla="*/ 626 w 676"/>
                    <a:gd name="T37" fmla="*/ 692 h 1212"/>
                    <a:gd name="T38" fmla="*/ 675 w 676"/>
                    <a:gd name="T39" fmla="*/ 643 h 1212"/>
                    <a:gd name="T40" fmla="*/ 675 w 676"/>
                    <a:gd name="T41" fmla="*/ 511 h 1212"/>
                    <a:gd name="T42" fmla="*/ 362 w 676"/>
                    <a:gd name="T43" fmla="*/ 198 h 1212"/>
                    <a:gd name="T44" fmla="*/ 247 w 676"/>
                    <a:gd name="T45" fmla="*/ 198 h 1212"/>
                    <a:gd name="T46" fmla="*/ 49 w 676"/>
                    <a:gd name="T47" fmla="*/ 0 h 1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6" h="1212">
                      <a:moveTo>
                        <a:pt x="0" y="164"/>
                      </a:moveTo>
                      <a:cubicBezTo>
                        <a:pt x="46" y="233"/>
                        <a:pt x="119" y="281"/>
                        <a:pt x="205" y="294"/>
                      </a:cubicBezTo>
                      <a:cubicBezTo>
                        <a:pt x="207" y="294"/>
                        <a:pt x="210" y="295"/>
                        <a:pt x="212" y="295"/>
                      </a:cubicBezTo>
                      <a:cubicBezTo>
                        <a:pt x="218" y="295"/>
                        <a:pt x="222" y="301"/>
                        <a:pt x="222" y="307"/>
                      </a:cubicBezTo>
                      <a:cubicBezTo>
                        <a:pt x="222" y="592"/>
                        <a:pt x="222" y="876"/>
                        <a:pt x="222" y="1161"/>
                      </a:cubicBezTo>
                      <a:cubicBezTo>
                        <a:pt x="222" y="1189"/>
                        <a:pt x="244" y="1211"/>
                        <a:pt x="272" y="1211"/>
                      </a:cubicBezTo>
                      <a:cubicBezTo>
                        <a:pt x="299" y="1211"/>
                        <a:pt x="321" y="1189"/>
                        <a:pt x="321" y="1161"/>
                      </a:cubicBezTo>
                      <a:cubicBezTo>
                        <a:pt x="321" y="1021"/>
                        <a:pt x="321" y="882"/>
                        <a:pt x="321" y="742"/>
                      </a:cubicBezTo>
                      <a:cubicBezTo>
                        <a:pt x="321" y="719"/>
                        <a:pt x="339" y="700"/>
                        <a:pt x="362" y="700"/>
                      </a:cubicBezTo>
                      <a:cubicBezTo>
                        <a:pt x="385" y="700"/>
                        <a:pt x="403" y="719"/>
                        <a:pt x="403" y="742"/>
                      </a:cubicBezTo>
                      <a:cubicBezTo>
                        <a:pt x="403" y="882"/>
                        <a:pt x="403" y="1021"/>
                        <a:pt x="403" y="1161"/>
                      </a:cubicBezTo>
                      <a:cubicBezTo>
                        <a:pt x="403" y="1189"/>
                        <a:pt x="425" y="1211"/>
                        <a:pt x="453" y="1211"/>
                      </a:cubicBezTo>
                      <a:cubicBezTo>
                        <a:pt x="480" y="1211"/>
                        <a:pt x="502" y="1189"/>
                        <a:pt x="502" y="1161"/>
                      </a:cubicBezTo>
                      <a:cubicBezTo>
                        <a:pt x="502" y="896"/>
                        <a:pt x="502" y="631"/>
                        <a:pt x="502" y="366"/>
                      </a:cubicBezTo>
                      <a:cubicBezTo>
                        <a:pt x="502" y="364"/>
                        <a:pt x="503" y="362"/>
                        <a:pt x="505" y="361"/>
                      </a:cubicBezTo>
                      <a:cubicBezTo>
                        <a:pt x="507" y="360"/>
                        <a:pt x="510" y="361"/>
                        <a:pt x="511" y="362"/>
                      </a:cubicBezTo>
                      <a:cubicBezTo>
                        <a:pt x="553" y="404"/>
                        <a:pt x="576" y="460"/>
                        <a:pt x="576" y="519"/>
                      </a:cubicBezTo>
                      <a:cubicBezTo>
                        <a:pt x="576" y="560"/>
                        <a:pt x="576" y="602"/>
                        <a:pt x="576" y="643"/>
                      </a:cubicBezTo>
                      <a:cubicBezTo>
                        <a:pt x="576" y="670"/>
                        <a:pt x="598" y="692"/>
                        <a:pt x="626" y="692"/>
                      </a:cubicBezTo>
                      <a:cubicBezTo>
                        <a:pt x="653" y="692"/>
                        <a:pt x="675" y="670"/>
                        <a:pt x="675" y="643"/>
                      </a:cubicBezTo>
                      <a:cubicBezTo>
                        <a:pt x="675" y="599"/>
                        <a:pt x="675" y="555"/>
                        <a:pt x="675" y="511"/>
                      </a:cubicBezTo>
                      <a:cubicBezTo>
                        <a:pt x="675" y="339"/>
                        <a:pt x="535" y="198"/>
                        <a:pt x="362" y="198"/>
                      </a:cubicBezTo>
                      <a:cubicBezTo>
                        <a:pt x="324" y="198"/>
                        <a:pt x="285" y="198"/>
                        <a:pt x="247" y="198"/>
                      </a:cubicBezTo>
                      <a:cubicBezTo>
                        <a:pt x="138" y="198"/>
                        <a:pt x="49" y="109"/>
                        <a:pt x="49" y="0"/>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grpSp>
        </p:grpSp>
      </p:grpSp>
      <p:sp>
        <p:nvSpPr>
          <p:cNvPr id="86" name="TextBox 85">
            <a:extLst>
              <a:ext uri="{FF2B5EF4-FFF2-40B4-BE49-F238E27FC236}">
                <a16:creationId xmlns:a16="http://schemas.microsoft.com/office/drawing/2014/main" id="{B38157E7-A005-0DE8-4D80-88535FCDDF30}"/>
              </a:ext>
            </a:extLst>
          </p:cNvPr>
          <p:cNvSpPr txBox="1"/>
          <p:nvPr/>
        </p:nvSpPr>
        <p:spPr>
          <a:xfrm>
            <a:off x="930833" y="11804145"/>
            <a:ext cx="23013031" cy="523220"/>
          </a:xfrm>
          <a:prstGeom prst="rect">
            <a:avLst/>
          </a:prstGeom>
          <a:noFill/>
        </p:spPr>
        <p:txBody>
          <a:bodyPr wrap="none" rtlCol="0">
            <a:spAutoFit/>
          </a:bodyPr>
          <a:lstStyle/>
          <a:p>
            <a:r>
              <a:rPr lang="en-GB" sz="2800">
                <a:latin typeface="Fira Sans" panose="020B0503050000020004" pitchFamily="34" charset="0"/>
              </a:rPr>
              <a:t>NB: Enhanced Security &amp; Data/AI analytical insights are an expected outcome of transformation, not necessarily a pure business driver. </a:t>
            </a:r>
          </a:p>
        </p:txBody>
      </p:sp>
    </p:spTree>
    <p:extLst>
      <p:ext uri="{BB962C8B-B14F-4D97-AF65-F5344CB8AC3E}">
        <p14:creationId xmlns:p14="http://schemas.microsoft.com/office/powerpoint/2010/main" val="342091589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FDCC9F8-C541-D5E7-C1AF-5BECA0FC0C74}"/>
              </a:ext>
            </a:extLst>
          </p:cNvPr>
          <p:cNvSpPr>
            <a:spLocks noGrp="1"/>
          </p:cNvSpPr>
          <p:nvPr>
            <p:ph type="sldNum" sz="quarter" idx="11"/>
          </p:nvPr>
        </p:nvSpPr>
        <p:spPr/>
        <p:txBody>
          <a:bodyPr vert="horz" lIns="0" tIns="0" rIns="0" bIns="0" rtlCol="0" anchor="t" anchorCtr="0">
            <a:normAutofit/>
          </a:bodyPr>
          <a:lstStyle/>
          <a:p>
            <a:pPr>
              <a:spcAft>
                <a:spcPts val="600"/>
              </a:spcAft>
            </a:pPr>
            <a:fld id="{762E77F0-FB5B-4E8E-9BC9-34F14560A017}" type="slidenum">
              <a:rPr lang="en-US" smtClean="0"/>
              <a:pPr>
                <a:spcAft>
                  <a:spcPts val="600"/>
                </a:spcAft>
              </a:pPr>
              <a:t>11</a:t>
            </a:fld>
            <a:endParaRPr lang="en-US"/>
          </a:p>
        </p:txBody>
      </p:sp>
      <p:sp>
        <p:nvSpPr>
          <p:cNvPr id="10" name="Text Placeholder 9">
            <a:extLst>
              <a:ext uri="{FF2B5EF4-FFF2-40B4-BE49-F238E27FC236}">
                <a16:creationId xmlns:a16="http://schemas.microsoft.com/office/drawing/2014/main" id="{2F2D2127-655F-F591-733D-E01168C47954}"/>
              </a:ext>
            </a:extLst>
          </p:cNvPr>
          <p:cNvSpPr>
            <a:spLocks noGrp="1"/>
          </p:cNvSpPr>
          <p:nvPr>
            <p:ph type="body" sz="quarter" idx="13"/>
          </p:nvPr>
        </p:nvSpPr>
        <p:spPr>
          <a:xfrm>
            <a:off x="721333" y="7838875"/>
            <a:ext cx="5216526" cy="2280490"/>
          </a:xfrm>
        </p:spPr>
        <p:txBody>
          <a:bodyPr/>
          <a:lstStyle/>
          <a:p>
            <a:r>
              <a:rPr lang="en-US" sz="3200">
                <a:latin typeface="Fira Sans" panose="020B0503050000020004" pitchFamily="34" charset="0"/>
              </a:rPr>
              <a:t>Reduce complexity to scale operations and delivery speed</a:t>
            </a:r>
          </a:p>
        </p:txBody>
      </p:sp>
      <p:sp>
        <p:nvSpPr>
          <p:cNvPr id="5" name="Title 1">
            <a:extLst>
              <a:ext uri="{FF2B5EF4-FFF2-40B4-BE49-F238E27FC236}">
                <a16:creationId xmlns:a16="http://schemas.microsoft.com/office/drawing/2014/main" id="{82D513FF-B00A-40DF-129C-A0FFB6386A35}"/>
              </a:ext>
            </a:extLst>
          </p:cNvPr>
          <p:cNvSpPr>
            <a:spLocks noGrp="1"/>
          </p:cNvSpPr>
          <p:nvPr>
            <p:ph type="title"/>
          </p:nvPr>
        </p:nvSpPr>
        <p:spPr>
          <a:xfrm>
            <a:off x="746393" y="3609563"/>
            <a:ext cx="5241586" cy="3062106"/>
          </a:xfrm>
        </p:spPr>
        <p:txBody>
          <a:bodyPr vert="horz" wrap="square" lIns="0" tIns="0" rIns="0" bIns="0" rtlCol="0" anchor="t" anchorCtr="0">
            <a:normAutofit/>
          </a:bodyPr>
          <a:lstStyle/>
          <a:p>
            <a:pPr algn="ctr"/>
            <a:r>
              <a:rPr lang="en-US" sz="5400" kern="1200">
                <a:ln w="9525">
                  <a:noFill/>
                </a:ln>
                <a:latin typeface="Fira Sans" panose="020B0503050000020004" pitchFamily="34" charset="0"/>
              </a:rPr>
              <a:t>Standardisation</a:t>
            </a:r>
            <a:br>
              <a:rPr lang="en-US" sz="5400" kern="1200">
                <a:ln w="9525">
                  <a:noFill/>
                </a:ln>
                <a:latin typeface="Fira Sans" panose="020B0503050000020004" pitchFamily="34" charset="0"/>
              </a:rPr>
            </a:br>
            <a:r>
              <a:rPr lang="en-US" sz="5400" kern="1200">
                <a:ln w="9525">
                  <a:noFill/>
                </a:ln>
                <a:latin typeface="Fira Sans" panose="020B0503050000020004" pitchFamily="34" charset="0"/>
              </a:rPr>
              <a:t>+ </a:t>
            </a:r>
            <a:br>
              <a:rPr lang="en-US" sz="5400" kern="1200">
                <a:ln w="9525">
                  <a:noFill/>
                </a:ln>
                <a:latin typeface="Fira Sans" panose="020B0503050000020004" pitchFamily="34" charset="0"/>
              </a:rPr>
            </a:br>
            <a:r>
              <a:rPr lang="en-US" sz="5400" kern="1200">
                <a:ln w="9525">
                  <a:noFill/>
                </a:ln>
                <a:latin typeface="Fira Sans" panose="020B0503050000020004" pitchFamily="34" charset="0"/>
              </a:rPr>
              <a:t>Simplification</a:t>
            </a:r>
          </a:p>
        </p:txBody>
      </p:sp>
      <p:sp>
        <p:nvSpPr>
          <p:cNvPr id="7" name="TextBox 6">
            <a:extLst>
              <a:ext uri="{FF2B5EF4-FFF2-40B4-BE49-F238E27FC236}">
                <a16:creationId xmlns:a16="http://schemas.microsoft.com/office/drawing/2014/main" id="{FE2DB053-C94B-762C-2A67-12C4EF24D66D}"/>
              </a:ext>
            </a:extLst>
          </p:cNvPr>
          <p:cNvSpPr txBox="1"/>
          <p:nvPr/>
        </p:nvSpPr>
        <p:spPr>
          <a:xfrm>
            <a:off x="7296912" y="1057505"/>
            <a:ext cx="16340694" cy="11264904"/>
          </a:xfrm>
          <a:prstGeom prst="rect">
            <a:avLst/>
          </a:prstGeom>
        </p:spPr>
        <p:txBody>
          <a:bodyPr vert="horz" lIns="182880" tIns="0" rIns="0" bIns="0" rtlCol="0">
            <a:normAutofit lnSpcReduction="10000"/>
          </a:bodyPr>
          <a:lstStyle/>
          <a:p>
            <a:pPr defTabSz="1828800" fontAlgn="t">
              <a:spcAft>
                <a:spcPts val="1400"/>
              </a:spcAft>
              <a:buClr>
                <a:srgbClr val="EB0000"/>
              </a:buClr>
            </a:pPr>
            <a:r>
              <a:rPr lang="en-IN" sz="3600" b="1" dirty="0">
                <a:latin typeface="Fira Sans" panose="020B0503050000020004" pitchFamily="34" charset="0"/>
              </a:rPr>
              <a:t>Goal</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Standardisation of Core Technology products across DMG Business</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Meet North Star growth targets across all brands</a:t>
            </a:r>
          </a:p>
          <a:p>
            <a:pPr marL="1371600" lvl="2"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MOL – 1M Subscribers</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Eliminate Shadow IT</a:t>
            </a:r>
          </a:p>
          <a:p>
            <a:pPr marL="1371600" lvl="2" indent="-457200" defTabSz="1828800" fontAlgn="t">
              <a:spcAft>
                <a:spcPts val="1400"/>
              </a:spcAft>
              <a:buClr>
                <a:srgbClr val="EB0000"/>
              </a:buClr>
              <a:buFont typeface="Arial" panose="020B0604020202020204" pitchFamily="34" charset="0"/>
              <a:buChar char="•"/>
            </a:pPr>
            <a:endParaRPr lang="en-US" sz="3600" b="0" dirty="0">
              <a:latin typeface="Fira Sans" panose="020B0503050000020004" pitchFamily="34" charset="0"/>
            </a:endParaRPr>
          </a:p>
          <a:p>
            <a:pPr defTabSz="1828800" fontAlgn="t">
              <a:spcAft>
                <a:spcPts val="1400"/>
              </a:spcAft>
              <a:buClr>
                <a:srgbClr val="EB0000"/>
              </a:buClr>
            </a:pPr>
            <a:r>
              <a:rPr lang="en-IN" sz="3600" b="1" dirty="0">
                <a:latin typeface="Fira Sans" panose="020B0503050000020004" pitchFamily="34" charset="0"/>
              </a:rPr>
              <a:t>Strategic Intent</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Standardisation is a prerequisite for scalable growth</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Platform sprawl increases cost, risk, and execution friction</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Converge on a limited set of approved platforms and architectural patterns</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Enforce security, compliance, and governance by design</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Preserve innovation while eliminating unnecessary variation</a:t>
            </a:r>
          </a:p>
          <a:p>
            <a:pPr marL="285750" indent="-285750" defTabSz="1828800" fontAlgn="t">
              <a:spcAft>
                <a:spcPts val="1400"/>
              </a:spcAft>
              <a:buClr>
                <a:srgbClr val="EB0000"/>
              </a:buClr>
              <a:buFont typeface="Arial" panose="020B0604020202020204" pitchFamily="34" charset="0"/>
              <a:buChar char="•"/>
            </a:pPr>
            <a:endParaRPr lang="en-US" sz="3600" b="0" dirty="0">
              <a:latin typeface="Fira Sans" panose="020B0503050000020004" pitchFamily="34" charset="0"/>
            </a:endParaRPr>
          </a:p>
          <a:p>
            <a:pPr defTabSz="1828800" fontAlgn="t">
              <a:spcAft>
                <a:spcPts val="1400"/>
              </a:spcAft>
              <a:buClr>
                <a:srgbClr val="EB0000"/>
              </a:buClr>
            </a:pPr>
            <a:r>
              <a:rPr lang="en-IN" sz="3600" b="1" dirty="0">
                <a:latin typeface="Fira Sans" panose="020B0503050000020004" pitchFamily="34" charset="0"/>
              </a:rPr>
              <a:t>Outcome</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Simplified Target Operating Model (TOM)</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Lower execution and operational risk</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Faster, more predictable delivery of change</a:t>
            </a:r>
          </a:p>
          <a:p>
            <a:pPr marL="914400" lvl="1" indent="-457200" defTabSz="1828800" fontAlgn="t">
              <a:spcAft>
                <a:spcPts val="1400"/>
              </a:spcAft>
              <a:buClr>
                <a:srgbClr val="EB0000"/>
              </a:buClr>
              <a:buFont typeface="Arial" panose="020B0604020202020204" pitchFamily="34" charset="0"/>
              <a:buChar char="•"/>
            </a:pPr>
            <a:r>
              <a:rPr lang="en-IN" sz="3200" dirty="0">
                <a:latin typeface="Fira Sans" panose="020B0503050000020004" pitchFamily="34" charset="0"/>
              </a:rPr>
              <a:t>A scalable foundation that supports growth without proportional complexity</a:t>
            </a:r>
          </a:p>
        </p:txBody>
      </p:sp>
      <p:sp>
        <p:nvSpPr>
          <p:cNvPr id="11" name="Title 1">
            <a:extLst>
              <a:ext uri="{FF2B5EF4-FFF2-40B4-BE49-F238E27FC236}">
                <a16:creationId xmlns:a16="http://schemas.microsoft.com/office/drawing/2014/main" id="{217EB05A-69A4-D326-A73A-21567D369B1C}"/>
              </a:ext>
            </a:extLst>
          </p:cNvPr>
          <p:cNvSpPr txBox="1">
            <a:spLocks/>
          </p:cNvSpPr>
          <p:nvPr/>
        </p:nvSpPr>
        <p:spPr>
          <a:xfrm>
            <a:off x="721333" y="949568"/>
            <a:ext cx="5241586" cy="988960"/>
          </a:xfrm>
          <a:prstGeom prst="rect">
            <a:avLst/>
          </a:prstGeom>
          <a:ln w="12700">
            <a:noFill/>
          </a:ln>
        </p:spPr>
        <p:txBody>
          <a:bodyPr vert="horz" wrap="square" lIns="0" tIns="0" rIns="0" bIns="0" rtlCol="0" anchor="t" anchorCtr="0">
            <a:normAutofit/>
          </a:bodyPr>
          <a:lstStyle>
            <a:lvl1pPr algn="l" defTabSz="1828800" rtl="0" eaLnBrk="1" fontAlgn="base" latinLnBrk="0" hangingPunct="1">
              <a:lnSpc>
                <a:spcPct val="110000"/>
              </a:lnSpc>
              <a:spcBef>
                <a:spcPct val="0"/>
              </a:spcBef>
              <a:buNone/>
              <a:defRPr sz="6250" kern="1200">
                <a:ln w="9525">
                  <a:noFill/>
                </a:ln>
                <a:solidFill>
                  <a:schemeClr val="bg1"/>
                </a:solidFill>
                <a:latin typeface="+mj-lt"/>
                <a:ea typeface="+mj-ea"/>
                <a:cs typeface="+mj-cs"/>
              </a:defRPr>
            </a:lvl1pPr>
          </a:lstStyle>
          <a:p>
            <a:pPr algn="ctr"/>
            <a:r>
              <a:rPr lang="en-US" sz="5400">
                <a:latin typeface="Fira Sans" panose="020B0503050000020004" pitchFamily="34" charset="0"/>
              </a:rPr>
              <a:t>Driver # 1</a:t>
            </a:r>
          </a:p>
        </p:txBody>
      </p:sp>
    </p:spTree>
    <p:extLst>
      <p:ext uri="{BB962C8B-B14F-4D97-AF65-F5344CB8AC3E}">
        <p14:creationId xmlns:p14="http://schemas.microsoft.com/office/powerpoint/2010/main" val="92025015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BEE03-18E6-2822-5D65-A34692D04A9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ECDAB51-4E03-CED1-9600-D4AB1EA5A154}"/>
              </a:ext>
            </a:extLst>
          </p:cNvPr>
          <p:cNvSpPr>
            <a:spLocks noGrp="1"/>
          </p:cNvSpPr>
          <p:nvPr>
            <p:ph type="sldNum" sz="quarter" idx="11"/>
          </p:nvPr>
        </p:nvSpPr>
        <p:spPr/>
        <p:txBody>
          <a:bodyPr vert="horz" lIns="0" tIns="0" rIns="0" bIns="0" rtlCol="0" anchor="t" anchorCtr="0">
            <a:normAutofit/>
          </a:bodyPr>
          <a:lstStyle/>
          <a:p>
            <a:pPr>
              <a:spcAft>
                <a:spcPts val="600"/>
              </a:spcAft>
            </a:pPr>
            <a:fld id="{762E77F0-FB5B-4E8E-9BC9-34F14560A017}" type="slidenum">
              <a:rPr lang="en-US" smtClean="0"/>
              <a:pPr>
                <a:spcAft>
                  <a:spcPts val="600"/>
                </a:spcAft>
              </a:pPr>
              <a:t>12</a:t>
            </a:fld>
            <a:endParaRPr lang="en-US"/>
          </a:p>
        </p:txBody>
      </p:sp>
      <p:sp>
        <p:nvSpPr>
          <p:cNvPr id="10" name="Text Placeholder 9">
            <a:extLst>
              <a:ext uri="{FF2B5EF4-FFF2-40B4-BE49-F238E27FC236}">
                <a16:creationId xmlns:a16="http://schemas.microsoft.com/office/drawing/2014/main" id="{10A5E33C-0BFA-EC8A-D7F8-5970D7504587}"/>
              </a:ext>
            </a:extLst>
          </p:cNvPr>
          <p:cNvSpPr>
            <a:spLocks noGrp="1"/>
          </p:cNvSpPr>
          <p:nvPr>
            <p:ph type="body" sz="quarter" idx="13"/>
          </p:nvPr>
        </p:nvSpPr>
        <p:spPr>
          <a:xfrm>
            <a:off x="721333" y="7838874"/>
            <a:ext cx="5216526" cy="3536261"/>
          </a:xfrm>
        </p:spPr>
        <p:txBody>
          <a:bodyPr/>
          <a:lstStyle/>
          <a:p>
            <a:r>
              <a:rPr lang="en-US" sz="3200">
                <a:latin typeface="Fira Sans" panose="020B0503050000020004" pitchFamily="34" charset="0"/>
              </a:rPr>
              <a:t>Remove low value work and create credible savings</a:t>
            </a:r>
          </a:p>
        </p:txBody>
      </p:sp>
      <p:sp>
        <p:nvSpPr>
          <p:cNvPr id="5" name="Title 1">
            <a:extLst>
              <a:ext uri="{FF2B5EF4-FFF2-40B4-BE49-F238E27FC236}">
                <a16:creationId xmlns:a16="http://schemas.microsoft.com/office/drawing/2014/main" id="{C0AFC1E8-80C3-1FEA-E817-5BCA167A11AE}"/>
              </a:ext>
            </a:extLst>
          </p:cNvPr>
          <p:cNvSpPr>
            <a:spLocks noGrp="1"/>
          </p:cNvSpPr>
          <p:nvPr>
            <p:ph type="title"/>
          </p:nvPr>
        </p:nvSpPr>
        <p:spPr>
          <a:xfrm>
            <a:off x="746393" y="3609563"/>
            <a:ext cx="5241586" cy="3062106"/>
          </a:xfrm>
        </p:spPr>
        <p:txBody>
          <a:bodyPr vert="horz" wrap="square" lIns="0" tIns="0" rIns="0" bIns="0" rtlCol="0" anchor="t" anchorCtr="0">
            <a:normAutofit fontScale="90000"/>
          </a:bodyPr>
          <a:lstStyle/>
          <a:p>
            <a:pPr algn="ctr"/>
            <a:r>
              <a:rPr lang="en-US" sz="5400" kern="1200">
                <a:ln w="9525">
                  <a:noFill/>
                </a:ln>
                <a:latin typeface="Fira Sans" panose="020B0503050000020004" pitchFamily="34" charset="0"/>
              </a:rPr>
              <a:t>Productivity</a:t>
            </a:r>
            <a:br>
              <a:rPr lang="en-US" sz="5400" kern="1200">
                <a:ln w="9525">
                  <a:noFill/>
                </a:ln>
                <a:latin typeface="Fira Sans" panose="020B0503050000020004" pitchFamily="34" charset="0"/>
              </a:rPr>
            </a:br>
            <a:r>
              <a:rPr lang="en-US" sz="5400" kern="1200">
                <a:ln w="9525">
                  <a:noFill/>
                </a:ln>
                <a:latin typeface="Fira Sans" panose="020B0503050000020004" pitchFamily="34" charset="0"/>
              </a:rPr>
              <a:t>+</a:t>
            </a:r>
            <a:br>
              <a:rPr lang="en-US" sz="5400" kern="1200">
                <a:ln w="9525">
                  <a:noFill/>
                </a:ln>
                <a:latin typeface="Fira Sans" panose="020B0503050000020004" pitchFamily="34" charset="0"/>
              </a:rPr>
            </a:br>
            <a:r>
              <a:rPr lang="en-US" sz="5400" kern="1200">
                <a:ln w="9525">
                  <a:noFill/>
                </a:ln>
                <a:latin typeface="Fira Sans" panose="020B0503050000020004" pitchFamily="34" charset="0"/>
              </a:rPr>
              <a:t>Cost Optimisation</a:t>
            </a:r>
          </a:p>
        </p:txBody>
      </p:sp>
      <p:sp>
        <p:nvSpPr>
          <p:cNvPr id="11" name="Title 1">
            <a:extLst>
              <a:ext uri="{FF2B5EF4-FFF2-40B4-BE49-F238E27FC236}">
                <a16:creationId xmlns:a16="http://schemas.microsoft.com/office/drawing/2014/main" id="{140124A3-55D8-62A8-116D-F78B1CC5F528}"/>
              </a:ext>
            </a:extLst>
          </p:cNvPr>
          <p:cNvSpPr txBox="1">
            <a:spLocks/>
          </p:cNvSpPr>
          <p:nvPr/>
        </p:nvSpPr>
        <p:spPr>
          <a:xfrm>
            <a:off x="721333" y="949568"/>
            <a:ext cx="5241586" cy="988960"/>
          </a:xfrm>
          <a:prstGeom prst="rect">
            <a:avLst/>
          </a:prstGeom>
          <a:ln w="12700">
            <a:noFill/>
          </a:ln>
        </p:spPr>
        <p:txBody>
          <a:bodyPr vert="horz" wrap="square" lIns="0" tIns="0" rIns="0" bIns="0" rtlCol="0" anchor="t" anchorCtr="0">
            <a:normAutofit/>
          </a:bodyPr>
          <a:lstStyle>
            <a:lvl1pPr algn="l" defTabSz="1828800" rtl="0" eaLnBrk="1" fontAlgn="base" latinLnBrk="0" hangingPunct="1">
              <a:lnSpc>
                <a:spcPct val="110000"/>
              </a:lnSpc>
              <a:spcBef>
                <a:spcPct val="0"/>
              </a:spcBef>
              <a:buNone/>
              <a:defRPr sz="6250" kern="1200">
                <a:ln w="9525">
                  <a:noFill/>
                </a:ln>
                <a:solidFill>
                  <a:schemeClr val="bg1"/>
                </a:solidFill>
                <a:latin typeface="+mj-lt"/>
                <a:ea typeface="+mj-ea"/>
                <a:cs typeface="+mj-cs"/>
              </a:defRPr>
            </a:lvl1pPr>
          </a:lstStyle>
          <a:p>
            <a:pPr algn="ctr"/>
            <a:r>
              <a:rPr lang="en-US" sz="5400">
                <a:latin typeface="Fira Sans" panose="020B0503050000020004" pitchFamily="34" charset="0"/>
              </a:rPr>
              <a:t>Driver # 2</a:t>
            </a:r>
          </a:p>
        </p:txBody>
      </p:sp>
      <p:sp>
        <p:nvSpPr>
          <p:cNvPr id="8" name="TextBox 7">
            <a:extLst>
              <a:ext uri="{FF2B5EF4-FFF2-40B4-BE49-F238E27FC236}">
                <a16:creationId xmlns:a16="http://schemas.microsoft.com/office/drawing/2014/main" id="{A0A5CB63-8D9C-8E94-D2F8-506794F2653B}"/>
              </a:ext>
            </a:extLst>
          </p:cNvPr>
          <p:cNvSpPr txBox="1"/>
          <p:nvPr/>
        </p:nvSpPr>
        <p:spPr>
          <a:xfrm>
            <a:off x="7291578" y="1085654"/>
            <a:ext cx="16071708" cy="10874698"/>
          </a:xfrm>
          <a:prstGeom prst="rect">
            <a:avLst/>
          </a:prstGeom>
        </p:spPr>
        <p:txBody>
          <a:bodyPr vert="horz" lIns="182880" tIns="0" rIns="0" bIns="0" rtlCol="0">
            <a:normAutofit/>
          </a:bodyPr>
          <a:lstStyle/>
          <a:p>
            <a:pPr defTabSz="1828800" fontAlgn="t">
              <a:spcAft>
                <a:spcPts val="1400"/>
              </a:spcAft>
              <a:buClr>
                <a:srgbClr val="EB0000"/>
              </a:buClr>
            </a:pPr>
            <a:r>
              <a:rPr lang="en-IN" sz="3600" b="1">
                <a:latin typeface="Fira Sans" panose="020B0503050000020004" pitchFamily="34" charset="0"/>
              </a:rPr>
              <a:t>Goal</a:t>
            </a:r>
          </a:p>
          <a:p>
            <a:pPr marL="914400" lvl="1" indent="-457200" defTabSz="1828800" fontAlgn="t">
              <a:spcAft>
                <a:spcPts val="1400"/>
              </a:spcAft>
              <a:buClr>
                <a:srgbClr val="EB0000"/>
              </a:buClr>
              <a:buFont typeface="Arial" panose="020B0604020202020204" pitchFamily="34" charset="0"/>
              <a:buChar char="•"/>
            </a:pPr>
            <a:r>
              <a:rPr lang="en-US" sz="3200">
                <a:latin typeface="Fira Sans" panose="020B0503050000020004" pitchFamily="34" charset="0"/>
              </a:rPr>
              <a:t>Removal of custom systems and processes providing low value</a:t>
            </a:r>
          </a:p>
          <a:p>
            <a:pPr marL="914400" lvl="1" indent="-457200" defTabSz="1828800" fontAlgn="t">
              <a:spcAft>
                <a:spcPts val="1400"/>
              </a:spcAft>
              <a:buClr>
                <a:srgbClr val="EB0000"/>
              </a:buClr>
              <a:buFont typeface="Arial" panose="020B0604020202020204" pitchFamily="34" charset="0"/>
              <a:buChar char="•"/>
            </a:pPr>
            <a:r>
              <a:rPr lang="en-US" sz="3200">
                <a:latin typeface="Fira Sans" panose="020B0503050000020004" pitchFamily="34" charset="0"/>
              </a:rPr>
              <a:t>Replacement with pre-approved blueprints/templates</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Reduce total cost of ownership while improving delivery velocity</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Shift from fixed, capacity‑based cost models to demand‑aligned consumption</a:t>
            </a:r>
          </a:p>
          <a:p>
            <a:pPr marL="285750" indent="-285750" defTabSz="1828800" fontAlgn="t">
              <a:spcAft>
                <a:spcPts val="1400"/>
              </a:spcAft>
              <a:buClr>
                <a:srgbClr val="EB0000"/>
              </a:buClr>
              <a:buFont typeface="Arial" panose="020B0604020202020204" pitchFamily="34" charset="0"/>
              <a:buChar char="•"/>
            </a:pPr>
            <a:endParaRPr lang="en-US" sz="3600" b="0">
              <a:latin typeface="Fira Sans" panose="020B0503050000020004" pitchFamily="34" charset="0"/>
            </a:endParaRPr>
          </a:p>
          <a:p>
            <a:pPr defTabSz="1828800" fontAlgn="t">
              <a:spcAft>
                <a:spcPts val="1400"/>
              </a:spcAft>
              <a:buClr>
                <a:srgbClr val="EB0000"/>
              </a:buClr>
            </a:pPr>
            <a:r>
              <a:rPr lang="en-IN" sz="3600" b="1">
                <a:latin typeface="Fira Sans" panose="020B0503050000020004" pitchFamily="34" charset="0"/>
              </a:rPr>
              <a:t>Strategic Intent</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Translate cloud adoption into financial performance</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Cloud only delivers value with active cost discipline</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Inefficiency compounds rapidly at scale</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Embed financial accountability into technology decision‑making</a:t>
            </a:r>
          </a:p>
          <a:p>
            <a:pPr defTabSz="1828800" fontAlgn="t">
              <a:spcAft>
                <a:spcPts val="1400"/>
              </a:spcAft>
              <a:buClr>
                <a:srgbClr val="EB0000"/>
              </a:buClr>
            </a:pPr>
            <a:endParaRPr lang="en-US" sz="3600" b="0">
              <a:latin typeface="Fira Sans" panose="020B0503050000020004" pitchFamily="34" charset="0"/>
            </a:endParaRPr>
          </a:p>
          <a:p>
            <a:pPr defTabSz="1828800" fontAlgn="t">
              <a:spcAft>
                <a:spcPts val="1400"/>
              </a:spcAft>
              <a:buClr>
                <a:srgbClr val="EB0000"/>
              </a:buClr>
            </a:pPr>
            <a:r>
              <a:rPr lang="en-IN" sz="3600" b="1">
                <a:latin typeface="Fira Sans" panose="020B0503050000020004" pitchFamily="34" charset="0"/>
              </a:rPr>
              <a:t>Outcome</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Measurable cost optimisation and improved margin predictability</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Clear visibility of spend by platform, product, and environment</a:t>
            </a:r>
          </a:p>
          <a:p>
            <a:pPr marL="914400" lvl="1" indent="-457200" defTabSz="1828800" fontAlgn="t">
              <a:spcAft>
                <a:spcPts val="1400"/>
              </a:spcAft>
              <a:buClr>
                <a:srgbClr val="EB0000"/>
              </a:buClr>
              <a:buFont typeface="Arial" panose="020B0604020202020204" pitchFamily="34" charset="0"/>
              <a:buChar char="•"/>
            </a:pPr>
            <a:r>
              <a:rPr lang="en-IN" sz="3200">
                <a:latin typeface="Fira Sans" panose="020B0503050000020004" pitchFamily="34" charset="0"/>
              </a:rPr>
              <a:t>Financial governance (FinOps) embedded into the operating model</a:t>
            </a:r>
          </a:p>
        </p:txBody>
      </p:sp>
    </p:spTree>
    <p:extLst>
      <p:ext uri="{BB962C8B-B14F-4D97-AF65-F5344CB8AC3E}">
        <p14:creationId xmlns:p14="http://schemas.microsoft.com/office/powerpoint/2010/main" val="342264883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4384B0-4BC1-4648-C500-299A45F377E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4D5E381-FAB2-28C8-AA90-97D44B90F230}"/>
              </a:ext>
            </a:extLst>
          </p:cNvPr>
          <p:cNvSpPr>
            <a:spLocks noGrp="1"/>
          </p:cNvSpPr>
          <p:nvPr>
            <p:ph type="sldNum" sz="quarter" idx="11"/>
          </p:nvPr>
        </p:nvSpPr>
        <p:spPr/>
        <p:txBody>
          <a:bodyPr vert="horz" lIns="0" tIns="0" rIns="0" bIns="0" rtlCol="0" anchor="t" anchorCtr="0">
            <a:normAutofit/>
          </a:bodyPr>
          <a:lstStyle/>
          <a:p>
            <a:pPr>
              <a:spcAft>
                <a:spcPts val="600"/>
              </a:spcAft>
            </a:pPr>
            <a:fld id="{762E77F0-FB5B-4E8E-9BC9-34F14560A017}" type="slidenum">
              <a:rPr lang="en-US" smtClean="0"/>
              <a:pPr>
                <a:spcAft>
                  <a:spcPts val="600"/>
                </a:spcAft>
              </a:pPr>
              <a:t>13</a:t>
            </a:fld>
            <a:endParaRPr lang="en-US"/>
          </a:p>
        </p:txBody>
      </p:sp>
      <p:sp>
        <p:nvSpPr>
          <p:cNvPr id="10" name="Text Placeholder 9">
            <a:extLst>
              <a:ext uri="{FF2B5EF4-FFF2-40B4-BE49-F238E27FC236}">
                <a16:creationId xmlns:a16="http://schemas.microsoft.com/office/drawing/2014/main" id="{446ED16C-C1C2-BAB0-FB43-81EBD1ACAF18}"/>
              </a:ext>
            </a:extLst>
          </p:cNvPr>
          <p:cNvSpPr>
            <a:spLocks noGrp="1"/>
          </p:cNvSpPr>
          <p:nvPr>
            <p:ph type="body" sz="quarter" idx="13"/>
          </p:nvPr>
        </p:nvSpPr>
        <p:spPr>
          <a:xfrm>
            <a:off x="721333" y="7838874"/>
            <a:ext cx="5216526" cy="3536261"/>
          </a:xfrm>
        </p:spPr>
        <p:txBody>
          <a:bodyPr/>
          <a:lstStyle/>
          <a:p>
            <a:r>
              <a:rPr lang="en-US" sz="3200">
                <a:latin typeface="Fira Sans" panose="020B0503050000020004" pitchFamily="34" charset="0"/>
              </a:rPr>
              <a:t>Reduce toil and improve customer experience</a:t>
            </a:r>
          </a:p>
        </p:txBody>
      </p:sp>
      <p:sp>
        <p:nvSpPr>
          <p:cNvPr id="5" name="Title 1">
            <a:extLst>
              <a:ext uri="{FF2B5EF4-FFF2-40B4-BE49-F238E27FC236}">
                <a16:creationId xmlns:a16="http://schemas.microsoft.com/office/drawing/2014/main" id="{22EC0FDB-92C4-2562-4312-1B91EDEF0FF1}"/>
              </a:ext>
            </a:extLst>
          </p:cNvPr>
          <p:cNvSpPr>
            <a:spLocks noGrp="1"/>
          </p:cNvSpPr>
          <p:nvPr>
            <p:ph type="title"/>
          </p:nvPr>
        </p:nvSpPr>
        <p:spPr>
          <a:xfrm>
            <a:off x="746393" y="3609563"/>
            <a:ext cx="5241586" cy="3062106"/>
          </a:xfrm>
        </p:spPr>
        <p:txBody>
          <a:bodyPr vert="horz" wrap="square" lIns="0" tIns="0" rIns="0" bIns="0" rtlCol="0" anchor="t" anchorCtr="0">
            <a:normAutofit fontScale="90000"/>
          </a:bodyPr>
          <a:lstStyle/>
          <a:p>
            <a:pPr algn="ctr"/>
            <a:r>
              <a:rPr lang="en-US" sz="5400" kern="1200">
                <a:ln w="9525">
                  <a:noFill/>
                </a:ln>
                <a:latin typeface="Fira Sans" panose="020B0503050000020004" pitchFamily="34" charset="0"/>
              </a:rPr>
              <a:t>Automation</a:t>
            </a:r>
            <a:br>
              <a:rPr lang="en-US" sz="5400" kern="1200">
                <a:ln w="9525">
                  <a:noFill/>
                </a:ln>
                <a:latin typeface="Fira Sans" panose="020B0503050000020004" pitchFamily="34" charset="0"/>
              </a:rPr>
            </a:br>
            <a:r>
              <a:rPr lang="en-US" sz="5400" kern="1200">
                <a:ln w="9525">
                  <a:noFill/>
                </a:ln>
                <a:latin typeface="Fira Sans" panose="020B0503050000020004" pitchFamily="34" charset="0"/>
              </a:rPr>
              <a:t>+</a:t>
            </a:r>
            <a:br>
              <a:rPr lang="en-US" sz="5400" kern="1200">
                <a:ln w="9525">
                  <a:noFill/>
                </a:ln>
                <a:latin typeface="Fira Sans" panose="020B0503050000020004" pitchFamily="34" charset="0"/>
              </a:rPr>
            </a:br>
            <a:r>
              <a:rPr lang="en-US" sz="5400" kern="1200">
                <a:ln w="9525">
                  <a:noFill/>
                </a:ln>
                <a:latin typeface="Fira Sans" panose="020B0503050000020004" pitchFamily="34" charset="0"/>
              </a:rPr>
              <a:t>Workflow Optimisation</a:t>
            </a:r>
          </a:p>
        </p:txBody>
      </p:sp>
      <p:sp>
        <p:nvSpPr>
          <p:cNvPr id="11" name="Title 1">
            <a:extLst>
              <a:ext uri="{FF2B5EF4-FFF2-40B4-BE49-F238E27FC236}">
                <a16:creationId xmlns:a16="http://schemas.microsoft.com/office/drawing/2014/main" id="{A0001C9D-A988-EF47-7F87-621498DD55BC}"/>
              </a:ext>
            </a:extLst>
          </p:cNvPr>
          <p:cNvSpPr txBox="1">
            <a:spLocks/>
          </p:cNvSpPr>
          <p:nvPr/>
        </p:nvSpPr>
        <p:spPr>
          <a:xfrm>
            <a:off x="721333" y="949568"/>
            <a:ext cx="5241586" cy="988960"/>
          </a:xfrm>
          <a:prstGeom prst="rect">
            <a:avLst/>
          </a:prstGeom>
          <a:ln w="12700">
            <a:noFill/>
          </a:ln>
        </p:spPr>
        <p:txBody>
          <a:bodyPr vert="horz" wrap="square" lIns="0" tIns="0" rIns="0" bIns="0" rtlCol="0" anchor="t" anchorCtr="0">
            <a:normAutofit/>
          </a:bodyPr>
          <a:lstStyle>
            <a:lvl1pPr algn="l" defTabSz="1828800" rtl="0" eaLnBrk="1" fontAlgn="base" latinLnBrk="0" hangingPunct="1">
              <a:lnSpc>
                <a:spcPct val="110000"/>
              </a:lnSpc>
              <a:spcBef>
                <a:spcPct val="0"/>
              </a:spcBef>
              <a:buNone/>
              <a:defRPr sz="6250" kern="1200">
                <a:ln w="9525">
                  <a:noFill/>
                </a:ln>
                <a:solidFill>
                  <a:schemeClr val="bg1"/>
                </a:solidFill>
                <a:latin typeface="+mj-lt"/>
                <a:ea typeface="+mj-ea"/>
                <a:cs typeface="+mj-cs"/>
              </a:defRPr>
            </a:lvl1pPr>
          </a:lstStyle>
          <a:p>
            <a:pPr algn="ctr"/>
            <a:r>
              <a:rPr lang="en-US" sz="5400">
                <a:latin typeface="Fira Sans" panose="020B0503050000020004" pitchFamily="34" charset="0"/>
              </a:rPr>
              <a:t>Driver # 3</a:t>
            </a:r>
          </a:p>
        </p:txBody>
      </p:sp>
      <p:sp>
        <p:nvSpPr>
          <p:cNvPr id="6" name="TextBox 5">
            <a:extLst>
              <a:ext uri="{FF2B5EF4-FFF2-40B4-BE49-F238E27FC236}">
                <a16:creationId xmlns:a16="http://schemas.microsoft.com/office/drawing/2014/main" id="{D97024F1-64FF-F531-85E8-417D10AA8AF2}"/>
              </a:ext>
            </a:extLst>
          </p:cNvPr>
          <p:cNvSpPr txBox="1"/>
          <p:nvPr/>
        </p:nvSpPr>
        <p:spPr>
          <a:xfrm>
            <a:off x="7385880" y="1031799"/>
            <a:ext cx="15913031" cy="8217634"/>
          </a:xfrm>
          <a:prstGeom prst="rect">
            <a:avLst/>
          </a:prstGeom>
          <a:noFill/>
        </p:spPr>
        <p:txBody>
          <a:bodyPr wrap="square">
            <a:spAutoFit/>
          </a:bodyPr>
          <a:lstStyle/>
          <a:p>
            <a:pPr defTabSz="1828800" fontAlgn="t">
              <a:spcAft>
                <a:spcPts val="1400"/>
              </a:spcAft>
              <a:buClr>
                <a:srgbClr val="EB0000"/>
              </a:buClr>
            </a:pPr>
            <a:r>
              <a:rPr lang="en-IN" sz="3600" b="1">
                <a:latin typeface="Fira Sans" panose="020B0503050000020004" pitchFamily="34" charset="0"/>
              </a:rPr>
              <a:t>Goal</a:t>
            </a:r>
          </a:p>
          <a:p>
            <a:pPr marL="914400" lvl="1" indent="-457200">
              <a:spcAft>
                <a:spcPts val="600"/>
              </a:spcAft>
              <a:buClr>
                <a:srgbClr val="FF0000"/>
              </a:buClr>
              <a:buFont typeface="Arial" panose="020B0604020202020204" pitchFamily="34" charset="0"/>
              <a:buChar char="•"/>
            </a:pPr>
            <a:r>
              <a:rPr lang="en-IN" sz="3200">
                <a:latin typeface="Fira Sans" panose="020B0503050000020004" pitchFamily="34" charset="0"/>
              </a:rPr>
              <a:t>Automate repeatable, high‑volume operational workflows</a:t>
            </a:r>
          </a:p>
          <a:p>
            <a:pPr marL="914400" lvl="1" indent="-457200">
              <a:spcAft>
                <a:spcPts val="600"/>
              </a:spcAft>
              <a:buClr>
                <a:srgbClr val="FF0000"/>
              </a:buClr>
              <a:buFont typeface="Arial" panose="020B0604020202020204" pitchFamily="34" charset="0"/>
              <a:buChar char="•"/>
            </a:pPr>
            <a:r>
              <a:rPr lang="en-US" sz="3200">
                <a:latin typeface="Fira Sans" panose="020B0503050000020004" pitchFamily="34" charset="0"/>
              </a:rPr>
              <a:t>Adopt Self-service delivery model to improve customer service levels</a:t>
            </a:r>
          </a:p>
          <a:p>
            <a:pPr>
              <a:spcAft>
                <a:spcPts val="600"/>
              </a:spcAft>
            </a:pPr>
            <a:endParaRPr sz="3600" b="0">
              <a:latin typeface="Fira Sans" panose="020B0503050000020004" pitchFamily="34" charset="0"/>
            </a:endParaRPr>
          </a:p>
          <a:p>
            <a:pPr defTabSz="1828800" fontAlgn="t">
              <a:spcAft>
                <a:spcPts val="1400"/>
              </a:spcAft>
              <a:buClr>
                <a:srgbClr val="EB0000"/>
              </a:buClr>
            </a:pPr>
            <a:r>
              <a:rPr lang="en-IN" sz="3600" b="1">
                <a:latin typeface="Fira Sans" panose="020B0503050000020004" pitchFamily="34" charset="0"/>
              </a:rPr>
              <a:t>Strategic intent</a:t>
            </a:r>
          </a:p>
          <a:p>
            <a:pPr marL="914400" lvl="1" indent="-457200">
              <a:spcAft>
                <a:spcPts val="100"/>
              </a:spcAft>
              <a:buClr>
                <a:srgbClr val="FF0000"/>
              </a:buClr>
              <a:buFont typeface="Arial" panose="020B0604020202020204" pitchFamily="34" charset="0"/>
              <a:buChar char="•"/>
            </a:pPr>
            <a:r>
              <a:rPr lang="en-IN" sz="3200">
                <a:latin typeface="Fira Sans" panose="020B0503050000020004" pitchFamily="34" charset="0"/>
              </a:rPr>
              <a:t>Manual processes limit growth and degrade customer experience</a:t>
            </a:r>
          </a:p>
          <a:p>
            <a:pPr marL="914400" lvl="1" indent="-457200">
              <a:spcAft>
                <a:spcPts val="100"/>
              </a:spcAft>
              <a:buClr>
                <a:srgbClr val="FF0000"/>
              </a:buClr>
              <a:buFont typeface="Arial" panose="020B0604020202020204" pitchFamily="34" charset="0"/>
              <a:buChar char="•"/>
            </a:pPr>
            <a:r>
              <a:rPr lang="en-IN" sz="3200">
                <a:latin typeface="Fira Sans" panose="020B0503050000020004" pitchFamily="34" charset="0"/>
              </a:rPr>
              <a:t>Automation is essential for enterprise‑scale cloud operations</a:t>
            </a:r>
          </a:p>
          <a:p>
            <a:pPr marL="914400" lvl="1" indent="-457200">
              <a:spcAft>
                <a:spcPts val="100"/>
              </a:spcAft>
              <a:buClr>
                <a:srgbClr val="FF0000"/>
              </a:buClr>
              <a:buFont typeface="Arial" panose="020B0604020202020204" pitchFamily="34" charset="0"/>
              <a:buChar char="•"/>
            </a:pPr>
            <a:r>
              <a:rPr lang="en-IN" sz="3200">
                <a:latin typeface="Fira Sans" panose="020B0503050000020004" pitchFamily="34" charset="0"/>
              </a:rPr>
              <a:t>Improve service consistency, resilience, and customer experience</a:t>
            </a:r>
          </a:p>
          <a:p>
            <a:pPr marL="914400" lvl="1" indent="-457200">
              <a:spcAft>
                <a:spcPts val="100"/>
              </a:spcAft>
              <a:buClr>
                <a:srgbClr val="FF0000"/>
              </a:buClr>
              <a:buFont typeface="Arial" panose="020B0604020202020204" pitchFamily="34" charset="0"/>
              <a:buChar char="•"/>
            </a:pPr>
            <a:r>
              <a:rPr lang="en-IN" sz="3200">
                <a:latin typeface="Fira Sans" panose="020B0503050000020004" pitchFamily="34" charset="0"/>
              </a:rPr>
              <a:t>Default to cloud‑native and managed services where appropriate</a:t>
            </a:r>
          </a:p>
          <a:p>
            <a:pPr>
              <a:spcAft>
                <a:spcPts val="600"/>
              </a:spcAft>
            </a:pPr>
            <a:endParaRPr sz="3600" b="0">
              <a:latin typeface="Fira Sans" panose="020B0503050000020004" pitchFamily="34" charset="0"/>
            </a:endParaRPr>
          </a:p>
          <a:p>
            <a:pPr defTabSz="1828800" fontAlgn="t">
              <a:spcAft>
                <a:spcPts val="1400"/>
              </a:spcAft>
              <a:buClr>
                <a:srgbClr val="EB0000"/>
              </a:buClr>
            </a:pPr>
            <a:r>
              <a:rPr lang="en-IN" sz="3600" b="1">
                <a:latin typeface="Fira Sans" panose="020B0503050000020004" pitchFamily="34" charset="0"/>
              </a:rPr>
              <a:t>Outcome</a:t>
            </a:r>
          </a:p>
          <a:p>
            <a:pPr marL="914400" lvl="1" indent="-457200">
              <a:spcAft>
                <a:spcPts val="100"/>
              </a:spcAft>
              <a:buClr>
                <a:srgbClr val="FF0000"/>
              </a:buClr>
              <a:buFont typeface="Arial" panose="020B0604020202020204" pitchFamily="34" charset="0"/>
              <a:buChar char="•"/>
            </a:pPr>
            <a:r>
              <a:rPr lang="en-IN" sz="3200">
                <a:latin typeface="Fira Sans" panose="020B0503050000020004" pitchFamily="34" charset="0"/>
              </a:rPr>
              <a:t>Reduced operational and key‑person risk</a:t>
            </a:r>
          </a:p>
          <a:p>
            <a:pPr marL="914400" lvl="1" indent="-457200">
              <a:spcAft>
                <a:spcPts val="100"/>
              </a:spcAft>
              <a:buClr>
                <a:srgbClr val="FF0000"/>
              </a:buClr>
              <a:buFont typeface="Arial" panose="020B0604020202020204" pitchFamily="34" charset="0"/>
              <a:buChar char="•"/>
            </a:pPr>
            <a:r>
              <a:rPr lang="en-IN" sz="3200">
                <a:latin typeface="Fira Sans" panose="020B0503050000020004" pitchFamily="34" charset="0"/>
              </a:rPr>
              <a:t>Ability to scale revenue without linear cost growth</a:t>
            </a:r>
          </a:p>
          <a:p>
            <a:pPr marL="914400" lvl="1" indent="-457200">
              <a:spcAft>
                <a:spcPts val="100"/>
              </a:spcAft>
              <a:buClr>
                <a:srgbClr val="FF0000"/>
              </a:buClr>
              <a:buFont typeface="Arial" panose="020B0604020202020204" pitchFamily="34" charset="0"/>
              <a:buChar char="•"/>
            </a:pPr>
            <a:r>
              <a:rPr lang="en-IN" sz="3200">
                <a:latin typeface="Fira Sans" panose="020B0503050000020004" pitchFamily="34" charset="0"/>
              </a:rPr>
              <a:t>Business teams focused on value creation rather than administration</a:t>
            </a:r>
          </a:p>
        </p:txBody>
      </p:sp>
    </p:spTree>
    <p:extLst>
      <p:ext uri="{BB962C8B-B14F-4D97-AF65-F5344CB8AC3E}">
        <p14:creationId xmlns:p14="http://schemas.microsoft.com/office/powerpoint/2010/main" val="110188549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9DEA18A-21DD-E919-DAB3-2F9BE97E74F8}"/>
            </a:ext>
          </a:extLst>
        </p:cNvPr>
        <p:cNvGrpSpPr/>
        <p:nvPr/>
      </p:nvGrpSpPr>
      <p:grpSpPr>
        <a:xfrm>
          <a:off x="0" y="0"/>
          <a:ext cx="0" cy="0"/>
          <a:chOff x="0" y="0"/>
          <a:chExt cx="0" cy="0"/>
        </a:xfrm>
      </p:grpSpPr>
      <p:sp>
        <p:nvSpPr>
          <p:cNvPr id="6" name="Text Placeholder 5">
            <a:extLst>
              <a:ext uri="{FF2B5EF4-FFF2-40B4-BE49-F238E27FC236}">
                <a16:creationId xmlns:a16="http://schemas.microsoft.com/office/drawing/2014/main" id="{5E76E754-F475-8E0E-F82D-FB926B8C8AE2}"/>
              </a:ext>
            </a:extLst>
          </p:cNvPr>
          <p:cNvSpPr txBox="1">
            <a:spLocks noGrp="1"/>
          </p:cNvSpPr>
          <p:nvPr>
            <p:ph type="body" sz="quarter" idx="13"/>
          </p:nvPr>
        </p:nvSpPr>
        <p:spPr>
          <a:xfrm>
            <a:off x="405618" y="8417822"/>
            <a:ext cx="7976382" cy="2554474"/>
          </a:xfrm>
        </p:spPr>
        <p:txBody>
          <a:bodyPr vert="horz" lIns="0" tIns="0" rIns="0" bIns="0" rtlCol="0">
            <a:noAutofit/>
          </a:bodyPr>
          <a:lstStyle/>
          <a:p>
            <a:r>
              <a:rPr lang="en-US" sz="5400">
                <a:latin typeface="Fira Sans SemiBold"/>
              </a:rPr>
              <a:t>Reduce</a:t>
            </a:r>
            <a:r>
              <a:rPr lang="en-US" sz="5400" b="0" kern="1200">
                <a:ln w="3175">
                  <a:noFill/>
                </a:ln>
                <a:latin typeface="Fira Sans SemiBold"/>
              </a:rPr>
              <a:t> variation to scale operations and delivery speed</a:t>
            </a:r>
          </a:p>
        </p:txBody>
      </p:sp>
      <p:sp>
        <p:nvSpPr>
          <p:cNvPr id="5" name="Title 1">
            <a:extLst>
              <a:ext uri="{FF2B5EF4-FFF2-40B4-BE49-F238E27FC236}">
                <a16:creationId xmlns:a16="http://schemas.microsoft.com/office/drawing/2014/main" id="{4131E825-DC07-38F3-200E-DC0E9A1C2719}"/>
              </a:ext>
            </a:extLst>
          </p:cNvPr>
          <p:cNvSpPr>
            <a:spLocks noGrp="1"/>
          </p:cNvSpPr>
          <p:nvPr>
            <p:ph type="title"/>
          </p:nvPr>
        </p:nvSpPr>
        <p:spPr>
          <a:xfrm>
            <a:off x="405618" y="4498398"/>
            <a:ext cx="7380657" cy="2017604"/>
          </a:xfrm>
        </p:spPr>
        <p:txBody>
          <a:bodyPr vert="horz" wrap="square" lIns="0" tIns="0" rIns="0" bIns="0" rtlCol="0" anchor="t" anchorCtr="0">
            <a:normAutofit/>
          </a:bodyPr>
          <a:lstStyle/>
          <a:p>
            <a:r>
              <a:rPr lang="en-US" sz="5400">
                <a:latin typeface="Fira Sans SemiBold"/>
              </a:rPr>
              <a:t>Driver 1:</a:t>
            </a:r>
            <a:r>
              <a:rPr lang="en-US" sz="5400" kern="1200">
                <a:ln w="9525">
                  <a:noFill/>
                </a:ln>
                <a:latin typeface="Fira Sans SemiBold"/>
              </a:rPr>
              <a:t> Standardization</a:t>
            </a:r>
          </a:p>
        </p:txBody>
      </p:sp>
      <p:sp>
        <p:nvSpPr>
          <p:cNvPr id="4" name="Slide Number Placeholder 3">
            <a:extLst>
              <a:ext uri="{FF2B5EF4-FFF2-40B4-BE49-F238E27FC236}">
                <a16:creationId xmlns:a16="http://schemas.microsoft.com/office/drawing/2014/main" id="{8D751460-4E0E-A915-5EDB-90522F28F219}"/>
              </a:ext>
            </a:extLst>
          </p:cNvPr>
          <p:cNvSpPr>
            <a:spLocks noGrp="1"/>
          </p:cNvSpPr>
          <p:nvPr>
            <p:ph type="sldNum" sz="quarter" idx="4"/>
          </p:nvPr>
        </p:nvSpPr>
        <p:spPr/>
        <p:txBody>
          <a:bodyPr vert="horz" lIns="0" tIns="0" rIns="0" bIns="0" rtlCol="0" anchor="t" anchorCtr="0">
            <a:normAutofit/>
          </a:bodyPr>
          <a:lstStyle/>
          <a:p>
            <a:pPr>
              <a:spcAft>
                <a:spcPts val="600"/>
              </a:spcAft>
            </a:pPr>
            <a:fld id="{762E77F0-FB5B-4E8E-9BC9-34F14560A017}" type="slidenum">
              <a:rPr lang="en-US" smtClean="0"/>
              <a:pPr>
                <a:spcAft>
                  <a:spcPts val="600"/>
                </a:spcAft>
              </a:pPr>
              <a:t>14</a:t>
            </a:fld>
            <a:endParaRPr lang="en-US"/>
          </a:p>
        </p:txBody>
      </p:sp>
      <p:sp>
        <p:nvSpPr>
          <p:cNvPr id="7" name="TextBox 6">
            <a:extLst>
              <a:ext uri="{FF2B5EF4-FFF2-40B4-BE49-F238E27FC236}">
                <a16:creationId xmlns:a16="http://schemas.microsoft.com/office/drawing/2014/main" id="{2BAE9421-CB05-823C-18AF-2E2AEB2525CA}"/>
              </a:ext>
            </a:extLst>
          </p:cNvPr>
          <p:cNvSpPr txBox="1"/>
          <p:nvPr/>
        </p:nvSpPr>
        <p:spPr>
          <a:xfrm>
            <a:off x="8382000" y="624971"/>
            <a:ext cx="15255875" cy="10347325"/>
          </a:xfrm>
          <a:prstGeom prst="rect">
            <a:avLst/>
          </a:prstGeom>
        </p:spPr>
        <p:txBody>
          <a:bodyPr vert="horz" lIns="182880" tIns="0" rIns="0" bIns="0" rtlCol="0">
            <a:normAutofit/>
          </a:bodyPr>
          <a:lstStyle/>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Standardization</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Platform sprawl increases cost, risk, and execution friction</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Standardization is a prerequisite for scalable growth</a:t>
            </a:r>
          </a:p>
          <a:p>
            <a:pPr marL="285750" indent="-285750" defTabSz="1828800" fontAlgn="t">
              <a:spcAft>
                <a:spcPts val="1400"/>
              </a:spcAft>
              <a:buClr>
                <a:srgbClr val="EB0000"/>
              </a:buClr>
              <a:buFont typeface="Arial" panose="020B0604020202020204" pitchFamily="34" charset="0"/>
              <a:buChar char="•"/>
            </a:pPr>
            <a:endParaRPr lang="en-US" sz="3600" b="0">
              <a:latin typeface="Fira Sans" panose="020B0503050000020004" pitchFamily="34" charset="0"/>
            </a:endParaRPr>
          </a:p>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Strategic Intent</a:t>
            </a:r>
          </a:p>
          <a:p>
            <a:pPr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Converge on a limited set of approved platforms and architectural 	patterns</a:t>
            </a:r>
          </a:p>
          <a:p>
            <a:pPr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Enforce security, compliance, and governance by design</a:t>
            </a:r>
          </a:p>
          <a:p>
            <a:pPr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Preserve innovation while eliminating unnecessary variation</a:t>
            </a:r>
          </a:p>
          <a:p>
            <a:pPr marL="285750" indent="-285750" defTabSz="1828800" fontAlgn="t">
              <a:spcAft>
                <a:spcPts val="1400"/>
              </a:spcAft>
              <a:buClr>
                <a:srgbClr val="EB0000"/>
              </a:buClr>
              <a:buFont typeface="Arial" panose="020B0604020202020204" pitchFamily="34" charset="0"/>
              <a:buChar char="•"/>
            </a:pPr>
            <a:endParaRPr lang="en-US" sz="3600" b="0">
              <a:latin typeface="Fira Sans" panose="020B0503050000020004" pitchFamily="34" charset="0"/>
            </a:endParaRPr>
          </a:p>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Outcome</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Lower execution and operational risk</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Faster, more predictable delivery of change</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A scalable foundation that supports growth without proportional 	complexity</a:t>
            </a:r>
          </a:p>
        </p:txBody>
      </p:sp>
      <p:sp>
        <p:nvSpPr>
          <p:cNvPr id="2" name="TextBox 1">
            <a:extLst>
              <a:ext uri="{FF2B5EF4-FFF2-40B4-BE49-F238E27FC236}">
                <a16:creationId xmlns:a16="http://schemas.microsoft.com/office/drawing/2014/main" id="{B7E576C5-789F-51CA-8B33-8BD0993E82C5}"/>
              </a:ext>
            </a:extLst>
          </p:cNvPr>
          <p:cNvSpPr txBox="1"/>
          <p:nvPr/>
        </p:nvSpPr>
        <p:spPr>
          <a:xfrm>
            <a:off x="405618" y="1333439"/>
            <a:ext cx="7641102" cy="1200329"/>
          </a:xfrm>
          <a:prstGeom prst="rect">
            <a:avLst/>
          </a:prstGeom>
          <a:noFill/>
        </p:spPr>
        <p:txBody>
          <a:bodyPr wrap="square" rtlCol="0">
            <a:spAutoFit/>
          </a:bodyPr>
          <a:lstStyle>
            <a:defPPr>
              <a:defRPr lang="en-US"/>
            </a:defPPr>
            <a:lvl1pPr>
              <a:defRPr sz="7200" b="1">
                <a:solidFill>
                  <a:schemeClr val="bg2"/>
                </a:solidFill>
                <a:latin typeface="Fira Sans SemiBold"/>
              </a:defRPr>
            </a:lvl1pPr>
          </a:lstStyle>
          <a:p>
            <a:r>
              <a:rPr lang="en-US" b="0"/>
              <a:t>Business Drivers</a:t>
            </a:r>
            <a:endParaRPr lang="en-GB" b="0"/>
          </a:p>
        </p:txBody>
      </p:sp>
      <p:pic>
        <p:nvPicPr>
          <p:cNvPr id="9" name="Graphic 8" descr="Steering Wheel with solid fill">
            <a:extLst>
              <a:ext uri="{FF2B5EF4-FFF2-40B4-BE49-F238E27FC236}">
                <a16:creationId xmlns:a16="http://schemas.microsoft.com/office/drawing/2014/main" id="{9F73B430-722F-693B-FB8D-7D67B972204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05618" y="292620"/>
            <a:ext cx="1159002" cy="1159002"/>
          </a:xfrm>
          <a:prstGeom prst="rect">
            <a:avLst/>
          </a:prstGeom>
        </p:spPr>
      </p:pic>
      <p:pic>
        <p:nvPicPr>
          <p:cNvPr id="13" name="Graphic 12" descr="Layers Design outline">
            <a:extLst>
              <a:ext uri="{FF2B5EF4-FFF2-40B4-BE49-F238E27FC236}">
                <a16:creationId xmlns:a16="http://schemas.microsoft.com/office/drawing/2014/main" id="{BE1E680A-70EA-3D4E-1B00-2A81FA30FFE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05618" y="3416252"/>
            <a:ext cx="1159200" cy="1159200"/>
          </a:xfrm>
          <a:prstGeom prst="rect">
            <a:avLst/>
          </a:prstGeom>
        </p:spPr>
      </p:pic>
      <p:pic>
        <p:nvPicPr>
          <p:cNvPr id="15" name="Graphic 14" descr="Speedometer Low outline">
            <a:extLst>
              <a:ext uri="{FF2B5EF4-FFF2-40B4-BE49-F238E27FC236}">
                <a16:creationId xmlns:a16="http://schemas.microsoft.com/office/drawing/2014/main" id="{A0C641C9-99BE-7FB8-F7BA-5654215F74A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05618" y="7018548"/>
            <a:ext cx="1159200" cy="1159200"/>
          </a:xfrm>
          <a:prstGeom prst="rect">
            <a:avLst/>
          </a:prstGeom>
        </p:spPr>
      </p:pic>
    </p:spTree>
    <p:extLst>
      <p:ext uri="{BB962C8B-B14F-4D97-AF65-F5344CB8AC3E}">
        <p14:creationId xmlns:p14="http://schemas.microsoft.com/office/powerpoint/2010/main" val="243271298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1DEBF46D-CECC-B387-7DBD-B52A960871AB}"/>
            </a:ext>
          </a:extLst>
        </p:cNvPr>
        <p:cNvGrpSpPr/>
        <p:nvPr/>
      </p:nvGrpSpPr>
      <p:grpSpPr>
        <a:xfrm>
          <a:off x="0" y="0"/>
          <a:ext cx="0" cy="0"/>
          <a:chOff x="0" y="0"/>
          <a:chExt cx="0" cy="0"/>
        </a:xfrm>
      </p:grpSpPr>
      <p:sp>
        <p:nvSpPr>
          <p:cNvPr id="6" name="Text Placeholder 5">
            <a:extLst>
              <a:ext uri="{FF2B5EF4-FFF2-40B4-BE49-F238E27FC236}">
                <a16:creationId xmlns:a16="http://schemas.microsoft.com/office/drawing/2014/main" id="{768F6CD2-C1D7-6272-B7A4-6F451E3D3AF6}"/>
              </a:ext>
            </a:extLst>
          </p:cNvPr>
          <p:cNvSpPr txBox="1">
            <a:spLocks noGrp="1"/>
          </p:cNvSpPr>
          <p:nvPr>
            <p:ph type="body" sz="quarter" idx="13"/>
          </p:nvPr>
        </p:nvSpPr>
        <p:spPr>
          <a:xfrm>
            <a:off x="223012" y="8406410"/>
            <a:ext cx="8108188" cy="2607029"/>
          </a:xfrm>
        </p:spPr>
        <p:txBody>
          <a:bodyPr vert="horz" lIns="0" tIns="0" rIns="0" bIns="0" rtlCol="0">
            <a:noAutofit/>
          </a:bodyPr>
          <a:lstStyle/>
          <a:p>
            <a:r>
              <a:rPr lang="en-US" sz="5400">
                <a:latin typeface="Fira Sans SemiBold"/>
              </a:rPr>
              <a:t>Remove low value work and create credible savings</a:t>
            </a:r>
          </a:p>
        </p:txBody>
      </p:sp>
      <p:sp>
        <p:nvSpPr>
          <p:cNvPr id="5" name="Title 1">
            <a:extLst>
              <a:ext uri="{FF2B5EF4-FFF2-40B4-BE49-F238E27FC236}">
                <a16:creationId xmlns:a16="http://schemas.microsoft.com/office/drawing/2014/main" id="{FDB05D48-1FA7-490D-308A-49DF06A04D43}"/>
              </a:ext>
            </a:extLst>
          </p:cNvPr>
          <p:cNvSpPr>
            <a:spLocks noGrp="1"/>
          </p:cNvSpPr>
          <p:nvPr>
            <p:ph type="title"/>
          </p:nvPr>
        </p:nvSpPr>
        <p:spPr>
          <a:xfrm>
            <a:off x="223012" y="4781278"/>
            <a:ext cx="7217706" cy="2017604"/>
          </a:xfrm>
        </p:spPr>
        <p:txBody>
          <a:bodyPr vert="horz" wrap="square" lIns="0" tIns="0" rIns="0" bIns="0" rtlCol="0" anchor="t" anchorCtr="0">
            <a:normAutofit/>
          </a:bodyPr>
          <a:lstStyle/>
          <a:p>
            <a:r>
              <a:rPr lang="en-US" sz="5400">
                <a:latin typeface="Fira Sans SemiBold"/>
              </a:rPr>
              <a:t>Driver 2: </a:t>
            </a:r>
            <a:br>
              <a:rPr lang="en-US" sz="5400">
                <a:latin typeface="Fira Sans SemiBold"/>
              </a:rPr>
            </a:br>
            <a:r>
              <a:rPr lang="en-US" sz="5400">
                <a:latin typeface="Fira Sans SemiBold"/>
              </a:rPr>
              <a:t>Cost and productivity</a:t>
            </a:r>
            <a:endParaRPr lang="en-US" sz="5400" kern="1200">
              <a:ln w="9525">
                <a:noFill/>
              </a:ln>
              <a:latin typeface="Fira Sans SemiBold"/>
            </a:endParaRPr>
          </a:p>
        </p:txBody>
      </p:sp>
      <p:sp>
        <p:nvSpPr>
          <p:cNvPr id="4" name="Slide Number Placeholder 3">
            <a:extLst>
              <a:ext uri="{FF2B5EF4-FFF2-40B4-BE49-F238E27FC236}">
                <a16:creationId xmlns:a16="http://schemas.microsoft.com/office/drawing/2014/main" id="{F959665F-4A92-C9CC-9573-27B12B7FF3A0}"/>
              </a:ext>
            </a:extLst>
          </p:cNvPr>
          <p:cNvSpPr>
            <a:spLocks noGrp="1"/>
          </p:cNvSpPr>
          <p:nvPr>
            <p:ph type="sldNum" sz="quarter" idx="4"/>
          </p:nvPr>
        </p:nvSpPr>
        <p:spPr/>
        <p:txBody>
          <a:bodyPr vert="horz" lIns="0" tIns="0" rIns="0" bIns="0" rtlCol="0" anchor="t" anchorCtr="0">
            <a:normAutofit/>
          </a:bodyPr>
          <a:lstStyle/>
          <a:p>
            <a:pPr>
              <a:spcAft>
                <a:spcPts val="600"/>
              </a:spcAft>
            </a:pPr>
            <a:fld id="{762E77F0-FB5B-4E8E-9BC9-34F14560A017}" type="slidenum">
              <a:rPr lang="en-US" smtClean="0"/>
              <a:pPr>
                <a:spcAft>
                  <a:spcPts val="600"/>
                </a:spcAft>
              </a:pPr>
              <a:t>15</a:t>
            </a:fld>
            <a:endParaRPr lang="en-US"/>
          </a:p>
        </p:txBody>
      </p:sp>
      <p:sp>
        <p:nvSpPr>
          <p:cNvPr id="2" name="TextBox 1">
            <a:extLst>
              <a:ext uri="{FF2B5EF4-FFF2-40B4-BE49-F238E27FC236}">
                <a16:creationId xmlns:a16="http://schemas.microsoft.com/office/drawing/2014/main" id="{6F587F14-B9FE-AD86-0499-223BA2BB9338}"/>
              </a:ext>
            </a:extLst>
          </p:cNvPr>
          <p:cNvSpPr txBox="1"/>
          <p:nvPr/>
        </p:nvSpPr>
        <p:spPr>
          <a:xfrm>
            <a:off x="8643257" y="1103942"/>
            <a:ext cx="15255875" cy="10347325"/>
          </a:xfrm>
          <a:prstGeom prst="rect">
            <a:avLst/>
          </a:prstGeom>
        </p:spPr>
        <p:txBody>
          <a:bodyPr vert="horz" lIns="182880" tIns="0" rIns="0" bIns="0" rtlCol="0">
            <a:normAutofit/>
          </a:bodyPr>
          <a:lstStyle/>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Translate cloud adoption into financial performance</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Cloud only delivers value with active cost discipline</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Inefficiency compounds rapidly at scale</a:t>
            </a:r>
          </a:p>
          <a:p>
            <a:pPr marL="285750" indent="-285750" defTabSz="1828800" fontAlgn="t">
              <a:spcAft>
                <a:spcPts val="1400"/>
              </a:spcAft>
              <a:buClr>
                <a:srgbClr val="EB0000"/>
              </a:buClr>
              <a:buFont typeface="Arial" panose="020B0604020202020204" pitchFamily="34" charset="0"/>
              <a:buChar char="•"/>
            </a:pPr>
            <a:endParaRPr lang="en-US" sz="3600" b="0">
              <a:latin typeface="Fira Sans" panose="020B0503050000020004" pitchFamily="34" charset="0"/>
            </a:endParaRPr>
          </a:p>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Strategic Intent</a:t>
            </a:r>
          </a:p>
          <a:p>
            <a:pPr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Reduce total cost of ownership while improving delivery velocity</a:t>
            </a:r>
          </a:p>
          <a:p>
            <a:pPr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Shift from fixed, capacity‑based cost models to demand‑aligned 	consumption</a:t>
            </a:r>
          </a:p>
          <a:p>
            <a:pPr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Embed financial accountability into technology decision‑making</a:t>
            </a:r>
          </a:p>
          <a:p>
            <a:pPr defTabSz="1828800" fontAlgn="t">
              <a:spcAft>
                <a:spcPts val="1400"/>
              </a:spcAft>
              <a:buClr>
                <a:srgbClr val="EB0000"/>
              </a:buClr>
            </a:pPr>
            <a:endParaRPr lang="en-US" sz="3600" b="0">
              <a:latin typeface="Fira Sans" panose="020B0503050000020004" pitchFamily="34" charset="0"/>
            </a:endParaRPr>
          </a:p>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Outcome</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Measurable cost optimisation and improved margin predictability</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Clear visibility of spend by platform, product, and environment</a:t>
            </a:r>
          </a:p>
          <a:p>
            <a:pPr lvl="0" defTabSz="1828800" fontAlgn="t">
              <a:spcAft>
                <a:spcPts val="1400"/>
              </a:spcAft>
              <a:buClr>
                <a:srgbClr val="EB0000"/>
              </a:buClr>
            </a:pPr>
            <a:r>
              <a:rPr lang="en-US" sz="3200">
                <a:latin typeface="Fira Sans" panose="020B0503050000020004" pitchFamily="34" charset="0"/>
              </a:rPr>
              <a:t>	• </a:t>
            </a:r>
            <a:r>
              <a:rPr lang="en-IN" sz="3200">
                <a:latin typeface="Fira Sans" panose="020B0503050000020004" pitchFamily="34" charset="0"/>
              </a:rPr>
              <a:t>Financial governance (FinOps) embedded into the operating model</a:t>
            </a:r>
          </a:p>
        </p:txBody>
      </p:sp>
      <p:sp>
        <p:nvSpPr>
          <p:cNvPr id="3" name="TextBox 2">
            <a:extLst>
              <a:ext uri="{FF2B5EF4-FFF2-40B4-BE49-F238E27FC236}">
                <a16:creationId xmlns:a16="http://schemas.microsoft.com/office/drawing/2014/main" id="{706FB000-008F-5B6C-0627-B3F24315D28E}"/>
              </a:ext>
            </a:extLst>
          </p:cNvPr>
          <p:cNvSpPr txBox="1"/>
          <p:nvPr/>
        </p:nvSpPr>
        <p:spPr>
          <a:xfrm>
            <a:off x="223012" y="1407230"/>
            <a:ext cx="8108188" cy="1200329"/>
          </a:xfrm>
          <a:prstGeom prst="rect">
            <a:avLst/>
          </a:prstGeom>
          <a:noFill/>
        </p:spPr>
        <p:txBody>
          <a:bodyPr wrap="square" rtlCol="0">
            <a:spAutoFit/>
          </a:bodyPr>
          <a:lstStyle/>
          <a:p>
            <a:pPr algn="l"/>
            <a:r>
              <a:rPr lang="en-US" sz="7200">
                <a:solidFill>
                  <a:schemeClr val="bg2"/>
                </a:solidFill>
                <a:latin typeface="Fira Sans SemiBold"/>
              </a:rPr>
              <a:t>Business Drivers</a:t>
            </a:r>
            <a:endParaRPr lang="en-GB" sz="7200">
              <a:solidFill>
                <a:schemeClr val="bg2"/>
              </a:solidFill>
              <a:latin typeface="Fira Sans SemiBold"/>
            </a:endParaRPr>
          </a:p>
        </p:txBody>
      </p:sp>
      <p:pic>
        <p:nvPicPr>
          <p:cNvPr id="14" name="Graphic 13" descr="Steering Wheel with solid fill">
            <a:extLst>
              <a:ext uri="{FF2B5EF4-FFF2-40B4-BE49-F238E27FC236}">
                <a16:creationId xmlns:a16="http://schemas.microsoft.com/office/drawing/2014/main" id="{D83C7C10-1632-A92D-88C4-81659C5B718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23012" y="249676"/>
            <a:ext cx="1159002" cy="1159002"/>
          </a:xfrm>
          <a:prstGeom prst="rect">
            <a:avLst/>
          </a:prstGeom>
        </p:spPr>
      </p:pic>
      <p:pic>
        <p:nvPicPr>
          <p:cNvPr id="19" name="Graphic 18" descr="Speedometer Low outline">
            <a:extLst>
              <a:ext uri="{FF2B5EF4-FFF2-40B4-BE49-F238E27FC236}">
                <a16:creationId xmlns:a16="http://schemas.microsoft.com/office/drawing/2014/main" id="{4192E16D-C844-E426-C414-5FAC52146CC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3012" y="7247211"/>
            <a:ext cx="1159200" cy="1159200"/>
          </a:xfrm>
          <a:prstGeom prst="rect">
            <a:avLst/>
          </a:prstGeom>
        </p:spPr>
      </p:pic>
      <p:pic>
        <p:nvPicPr>
          <p:cNvPr id="23" name="Graphic 22" descr="Money outline">
            <a:extLst>
              <a:ext uri="{FF2B5EF4-FFF2-40B4-BE49-F238E27FC236}">
                <a16:creationId xmlns:a16="http://schemas.microsoft.com/office/drawing/2014/main" id="{960EF371-8346-7DD4-DE90-352F3B28476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23012" y="3814477"/>
            <a:ext cx="914400" cy="914400"/>
          </a:xfrm>
          <a:prstGeom prst="rect">
            <a:avLst/>
          </a:prstGeom>
        </p:spPr>
      </p:pic>
    </p:spTree>
    <p:extLst>
      <p:ext uri="{BB962C8B-B14F-4D97-AF65-F5344CB8AC3E}">
        <p14:creationId xmlns:p14="http://schemas.microsoft.com/office/powerpoint/2010/main" val="186921271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9E74A9A-75A5-C99F-CAC8-37FB952AC13D}"/>
            </a:ext>
          </a:extLst>
        </p:cNvPr>
        <p:cNvGrpSpPr/>
        <p:nvPr/>
      </p:nvGrpSpPr>
      <p:grpSpPr>
        <a:xfrm>
          <a:off x="0" y="0"/>
          <a:ext cx="0" cy="0"/>
          <a:chOff x="0" y="0"/>
          <a:chExt cx="0" cy="0"/>
        </a:xfrm>
      </p:grpSpPr>
      <p:sp>
        <p:nvSpPr>
          <p:cNvPr id="6" name="Text Placeholder 5">
            <a:extLst>
              <a:ext uri="{FF2B5EF4-FFF2-40B4-BE49-F238E27FC236}">
                <a16:creationId xmlns:a16="http://schemas.microsoft.com/office/drawing/2014/main" id="{F7AF88BE-429F-1EDC-39FC-75CA560CB8F8}"/>
              </a:ext>
            </a:extLst>
          </p:cNvPr>
          <p:cNvSpPr txBox="1">
            <a:spLocks noGrp="1"/>
          </p:cNvSpPr>
          <p:nvPr>
            <p:ph type="body" sz="quarter" idx="13"/>
          </p:nvPr>
        </p:nvSpPr>
        <p:spPr>
          <a:xfrm>
            <a:off x="162666" y="9263512"/>
            <a:ext cx="8127894" cy="2644007"/>
          </a:xfrm>
        </p:spPr>
        <p:txBody>
          <a:bodyPr vert="horz" lIns="0" tIns="0" rIns="0" bIns="0" rtlCol="0">
            <a:noAutofit/>
          </a:bodyPr>
          <a:lstStyle/>
          <a:p>
            <a:r>
              <a:rPr lang="en-US" sz="5400">
                <a:latin typeface="Fira Sans SemiBold"/>
              </a:rPr>
              <a:t>Reduce toil and improve customer experience </a:t>
            </a:r>
          </a:p>
        </p:txBody>
      </p:sp>
      <p:sp>
        <p:nvSpPr>
          <p:cNvPr id="5" name="Title 1">
            <a:extLst>
              <a:ext uri="{FF2B5EF4-FFF2-40B4-BE49-F238E27FC236}">
                <a16:creationId xmlns:a16="http://schemas.microsoft.com/office/drawing/2014/main" id="{8223500F-B817-4236-4522-314C124003F4}"/>
              </a:ext>
            </a:extLst>
          </p:cNvPr>
          <p:cNvSpPr>
            <a:spLocks noGrp="1"/>
          </p:cNvSpPr>
          <p:nvPr>
            <p:ph type="title"/>
          </p:nvPr>
        </p:nvSpPr>
        <p:spPr>
          <a:xfrm>
            <a:off x="162666" y="5468239"/>
            <a:ext cx="7217706" cy="2017604"/>
          </a:xfrm>
        </p:spPr>
        <p:txBody>
          <a:bodyPr vert="horz" wrap="square" lIns="0" tIns="0" rIns="0" bIns="0" rtlCol="0" anchor="t" anchorCtr="0">
            <a:normAutofit/>
          </a:bodyPr>
          <a:lstStyle/>
          <a:p>
            <a:r>
              <a:rPr lang="en-IN" sz="5400">
                <a:latin typeface="Fira Sans SemiBold"/>
              </a:rPr>
              <a:t>Driver 3: </a:t>
            </a:r>
            <a:br>
              <a:rPr lang="en-IN" sz="5400">
                <a:latin typeface="Fira Sans SemiBold"/>
              </a:rPr>
            </a:br>
            <a:r>
              <a:rPr lang="en-IN" sz="5400">
                <a:latin typeface="Fira Sans SemiBold"/>
              </a:rPr>
              <a:t>Automation</a:t>
            </a:r>
            <a:endParaRPr lang="en-US" sz="5400" kern="1200">
              <a:ln w="9525">
                <a:noFill/>
              </a:ln>
              <a:latin typeface="Fira Sans SemiBold"/>
            </a:endParaRPr>
          </a:p>
        </p:txBody>
      </p:sp>
      <p:sp>
        <p:nvSpPr>
          <p:cNvPr id="4" name="Slide Number Placeholder 3">
            <a:extLst>
              <a:ext uri="{FF2B5EF4-FFF2-40B4-BE49-F238E27FC236}">
                <a16:creationId xmlns:a16="http://schemas.microsoft.com/office/drawing/2014/main" id="{7ECCACA0-A7BF-689D-2F4F-6E834AFBDB21}"/>
              </a:ext>
            </a:extLst>
          </p:cNvPr>
          <p:cNvSpPr>
            <a:spLocks noGrp="1"/>
          </p:cNvSpPr>
          <p:nvPr>
            <p:ph type="sldNum" sz="quarter" idx="4"/>
          </p:nvPr>
        </p:nvSpPr>
        <p:spPr/>
        <p:txBody>
          <a:bodyPr vert="horz" lIns="0" tIns="0" rIns="0" bIns="0" rtlCol="0" anchor="t" anchorCtr="0">
            <a:normAutofit/>
          </a:bodyPr>
          <a:lstStyle/>
          <a:p>
            <a:pPr>
              <a:spcAft>
                <a:spcPts val="600"/>
              </a:spcAft>
            </a:pPr>
            <a:fld id="{762E77F0-FB5B-4E8E-9BC9-34F14560A017}" type="slidenum">
              <a:rPr lang="en-US" smtClean="0"/>
              <a:pPr>
                <a:spcAft>
                  <a:spcPts val="600"/>
                </a:spcAft>
              </a:pPr>
              <a:t>16</a:t>
            </a:fld>
            <a:endParaRPr lang="en-US"/>
          </a:p>
        </p:txBody>
      </p:sp>
      <p:sp>
        <p:nvSpPr>
          <p:cNvPr id="3" name="TextBox 2">
            <a:extLst>
              <a:ext uri="{FF2B5EF4-FFF2-40B4-BE49-F238E27FC236}">
                <a16:creationId xmlns:a16="http://schemas.microsoft.com/office/drawing/2014/main" id="{0F61279E-A6FB-C84A-2A50-A7EC8DBDEDCC}"/>
              </a:ext>
            </a:extLst>
          </p:cNvPr>
          <p:cNvSpPr txBox="1"/>
          <p:nvPr/>
        </p:nvSpPr>
        <p:spPr>
          <a:xfrm>
            <a:off x="9123240" y="1759083"/>
            <a:ext cx="14358551" cy="8199681"/>
          </a:xfrm>
          <a:prstGeom prst="rect">
            <a:avLst/>
          </a:prstGeom>
          <a:noFill/>
        </p:spPr>
        <p:txBody>
          <a:bodyPr wrap="square">
            <a:spAutoFit/>
          </a:bodyPr>
          <a:lstStyle/>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Scale operations without scaling cost or risk</a:t>
            </a:r>
          </a:p>
          <a:p>
            <a:pPr lvl="0">
              <a:spcAft>
                <a:spcPts val="100"/>
              </a:spcAft>
            </a:pPr>
            <a:r>
              <a:rPr lang="en-IN" sz="3200">
                <a:latin typeface="Fira Sans" panose="020B0503050000020004" pitchFamily="34" charset="0"/>
              </a:rPr>
              <a:t> 	• Manual processes limit growth and degrade customer experience</a:t>
            </a:r>
          </a:p>
          <a:p>
            <a:pPr lvl="0">
              <a:spcAft>
                <a:spcPts val="100"/>
              </a:spcAft>
            </a:pPr>
            <a:r>
              <a:rPr lang="en-IN" sz="3200">
                <a:latin typeface="Fira Sans" panose="020B0503050000020004" pitchFamily="34" charset="0"/>
              </a:rPr>
              <a:t> 	• Automation is essential for enterprise‑scale cloud operations</a:t>
            </a:r>
          </a:p>
          <a:p>
            <a:pPr>
              <a:spcAft>
                <a:spcPts val="600"/>
              </a:spcAft>
            </a:pPr>
            <a:endParaRPr sz="3600" b="0">
              <a:latin typeface="Fira Sans" panose="020B0503050000020004" pitchFamily="34" charset="0"/>
            </a:endParaRPr>
          </a:p>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Strategic intent</a:t>
            </a:r>
          </a:p>
          <a:p>
            <a:pPr>
              <a:spcAft>
                <a:spcPts val="100"/>
              </a:spcAft>
            </a:pPr>
            <a:r>
              <a:rPr lang="en-IN" sz="3600">
                <a:latin typeface="Fira Sans" panose="020B0503050000020004" pitchFamily="34" charset="0"/>
              </a:rPr>
              <a:t>	</a:t>
            </a:r>
            <a:r>
              <a:rPr lang="en-IN" sz="3200">
                <a:latin typeface="Fira Sans" panose="020B0503050000020004" pitchFamily="34" charset="0"/>
              </a:rPr>
              <a:t>• Automate repeatable, high‑volume operational workflows</a:t>
            </a:r>
          </a:p>
          <a:p>
            <a:pPr>
              <a:spcAft>
                <a:spcPts val="100"/>
              </a:spcAft>
            </a:pPr>
            <a:r>
              <a:rPr lang="en-IN" sz="3200">
                <a:latin typeface="Fira Sans" panose="020B0503050000020004" pitchFamily="34" charset="0"/>
              </a:rPr>
              <a:t>	• Improve service consistency, resilience, and customer 	experience</a:t>
            </a:r>
          </a:p>
          <a:p>
            <a:pPr>
              <a:spcAft>
                <a:spcPts val="100"/>
              </a:spcAft>
            </a:pPr>
            <a:r>
              <a:rPr lang="en-IN" sz="3200">
                <a:latin typeface="Fira Sans" panose="020B0503050000020004" pitchFamily="34" charset="0"/>
              </a:rPr>
              <a:t>	• Default to cloud‑native and managed services where 	appropriate</a:t>
            </a:r>
          </a:p>
          <a:p>
            <a:pPr>
              <a:spcAft>
                <a:spcPts val="600"/>
              </a:spcAft>
            </a:pPr>
            <a:endParaRPr sz="3600" b="0">
              <a:latin typeface="Fira Sans" panose="020B0503050000020004" pitchFamily="34" charset="0"/>
            </a:endParaRPr>
          </a:p>
          <a:p>
            <a:pPr marL="285750" indent="-285750" defTabSz="1828800" fontAlgn="t">
              <a:spcAft>
                <a:spcPts val="1400"/>
              </a:spcAft>
              <a:buClr>
                <a:srgbClr val="EB0000"/>
              </a:buClr>
              <a:buFont typeface="Arial" panose="020B0604020202020204" pitchFamily="34" charset="0"/>
              <a:buChar char="•"/>
            </a:pPr>
            <a:r>
              <a:rPr lang="en-IN" sz="3600" b="1">
                <a:latin typeface="Fira Sans" panose="020B0503050000020004" pitchFamily="34" charset="0"/>
              </a:rPr>
              <a:t>Outcome</a:t>
            </a:r>
          </a:p>
          <a:p>
            <a:pPr lvl="0">
              <a:spcAft>
                <a:spcPts val="100"/>
              </a:spcAft>
            </a:pPr>
            <a:r>
              <a:rPr lang="en-IN" sz="3600">
                <a:latin typeface="Fira Sans" panose="020B0503050000020004" pitchFamily="34" charset="0"/>
              </a:rPr>
              <a:t>	</a:t>
            </a:r>
            <a:r>
              <a:rPr lang="en-IN" sz="3200">
                <a:latin typeface="Fira Sans" panose="020B0503050000020004" pitchFamily="34" charset="0"/>
              </a:rPr>
              <a:t>• Reduced operational and key‑person risk</a:t>
            </a:r>
          </a:p>
          <a:p>
            <a:pPr lvl="0">
              <a:spcAft>
                <a:spcPts val="100"/>
              </a:spcAft>
            </a:pPr>
            <a:r>
              <a:rPr lang="en-IN" sz="3200">
                <a:latin typeface="Fira Sans" panose="020B0503050000020004" pitchFamily="34" charset="0"/>
              </a:rPr>
              <a:t>	• Ability to scale revenue without linear cost growth</a:t>
            </a:r>
          </a:p>
          <a:p>
            <a:pPr lvl="0">
              <a:spcAft>
                <a:spcPts val="100"/>
              </a:spcAft>
            </a:pPr>
            <a:r>
              <a:rPr lang="en-IN" sz="3200">
                <a:latin typeface="Fira Sans" panose="020B0503050000020004" pitchFamily="34" charset="0"/>
              </a:rPr>
              <a:t>	• Teams focused on value creation rather than 			 			  	   		  	  administration</a:t>
            </a:r>
          </a:p>
        </p:txBody>
      </p:sp>
      <p:sp>
        <p:nvSpPr>
          <p:cNvPr id="2" name="TextBox 1">
            <a:extLst>
              <a:ext uri="{FF2B5EF4-FFF2-40B4-BE49-F238E27FC236}">
                <a16:creationId xmlns:a16="http://schemas.microsoft.com/office/drawing/2014/main" id="{4899D3FC-417F-79DC-2F1C-4D73FBC7130D}"/>
              </a:ext>
            </a:extLst>
          </p:cNvPr>
          <p:cNvSpPr txBox="1"/>
          <p:nvPr/>
        </p:nvSpPr>
        <p:spPr>
          <a:xfrm>
            <a:off x="162666" y="1411059"/>
            <a:ext cx="7152920" cy="1200329"/>
          </a:xfrm>
          <a:prstGeom prst="rect">
            <a:avLst/>
          </a:prstGeom>
          <a:noFill/>
        </p:spPr>
        <p:txBody>
          <a:bodyPr wrap="none" rtlCol="0">
            <a:spAutoFit/>
          </a:bodyPr>
          <a:lstStyle/>
          <a:p>
            <a:pPr algn="l"/>
            <a:r>
              <a:rPr lang="en-US" sz="7200">
                <a:solidFill>
                  <a:schemeClr val="bg2"/>
                </a:solidFill>
                <a:latin typeface="Fira Sans SemiBold"/>
              </a:rPr>
              <a:t>Business Drivers</a:t>
            </a:r>
            <a:endParaRPr lang="en-GB" sz="7200">
              <a:solidFill>
                <a:schemeClr val="bg2"/>
              </a:solidFill>
              <a:latin typeface="Fira Sans SemiBold"/>
            </a:endParaRPr>
          </a:p>
        </p:txBody>
      </p:sp>
      <p:pic>
        <p:nvPicPr>
          <p:cNvPr id="12" name="Graphic 11" descr="Steering Wheel with solid fill">
            <a:extLst>
              <a:ext uri="{FF2B5EF4-FFF2-40B4-BE49-F238E27FC236}">
                <a16:creationId xmlns:a16="http://schemas.microsoft.com/office/drawing/2014/main" id="{2F7A064C-E23C-3BDA-4B42-AE5A485E84B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62666" y="424335"/>
            <a:ext cx="1159002" cy="1159002"/>
          </a:xfrm>
          <a:prstGeom prst="rect">
            <a:avLst/>
          </a:prstGeom>
        </p:spPr>
      </p:pic>
      <p:pic>
        <p:nvPicPr>
          <p:cNvPr id="13" name="Graphic 12" descr="Speedometer Low outline">
            <a:extLst>
              <a:ext uri="{FF2B5EF4-FFF2-40B4-BE49-F238E27FC236}">
                <a16:creationId xmlns:a16="http://schemas.microsoft.com/office/drawing/2014/main" id="{F6FEF30D-3AA5-72B5-CC99-AA850770A94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62666" y="8104313"/>
            <a:ext cx="1159200" cy="1159200"/>
          </a:xfrm>
          <a:prstGeom prst="rect">
            <a:avLst/>
          </a:prstGeom>
        </p:spPr>
      </p:pic>
      <p:pic>
        <p:nvPicPr>
          <p:cNvPr id="15" name="Graphic 14" descr="Head with gears outline">
            <a:extLst>
              <a:ext uri="{FF2B5EF4-FFF2-40B4-BE49-F238E27FC236}">
                <a16:creationId xmlns:a16="http://schemas.microsoft.com/office/drawing/2014/main" id="{8CA329A2-F4F9-7226-C5B2-9C6AFF534EF3}"/>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62666" y="4553839"/>
            <a:ext cx="914400" cy="914400"/>
          </a:xfrm>
          <a:prstGeom prst="rect">
            <a:avLst/>
          </a:prstGeom>
        </p:spPr>
      </p:pic>
    </p:spTree>
    <p:extLst>
      <p:ext uri="{BB962C8B-B14F-4D97-AF65-F5344CB8AC3E}">
        <p14:creationId xmlns:p14="http://schemas.microsoft.com/office/powerpoint/2010/main" val="416387692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BA68E938-ACE4-DF5D-3646-BDCB84AD58E5}"/>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8E6BA2B-5A0F-B754-2844-84AEA023EF85}"/>
              </a:ext>
            </a:extLst>
          </p:cNvPr>
          <p:cNvSpPr>
            <a:spLocks noGrp="1"/>
          </p:cNvSpPr>
          <p:nvPr>
            <p:ph type="sldNum" sz="quarter" idx="4"/>
          </p:nvPr>
        </p:nvSpPr>
        <p:spPr>
          <a:xfrm>
            <a:off x="22402802" y="13027080"/>
            <a:ext cx="1234804" cy="215444"/>
          </a:xfrm>
        </p:spPr>
        <p:txBody>
          <a:bodyPr/>
          <a:lstStyle/>
          <a:p>
            <a:fld id="{762E77F0-FB5B-4E8E-9BC9-34F14560A017}" type="slidenum">
              <a:rPr lang="en-US" smtClean="0"/>
              <a:pPr/>
              <a:t>17</a:t>
            </a:fld>
            <a:endParaRPr lang="en-US"/>
          </a:p>
        </p:txBody>
      </p:sp>
      <p:sp>
        <p:nvSpPr>
          <p:cNvPr id="4" name="TextBox 3">
            <a:extLst>
              <a:ext uri="{FF2B5EF4-FFF2-40B4-BE49-F238E27FC236}">
                <a16:creationId xmlns:a16="http://schemas.microsoft.com/office/drawing/2014/main" id="{47766963-B26E-55AA-1235-91326A3EC5A6}"/>
              </a:ext>
            </a:extLst>
          </p:cNvPr>
          <p:cNvSpPr txBox="1"/>
          <p:nvPr/>
        </p:nvSpPr>
        <p:spPr>
          <a:xfrm>
            <a:off x="406009" y="473476"/>
            <a:ext cx="16872341" cy="1046440"/>
          </a:xfrm>
          <a:prstGeom prst="rect">
            <a:avLst/>
          </a:prstGeom>
          <a:noFill/>
        </p:spPr>
        <p:txBody>
          <a:bodyPr wrap="square" rtlCol="0">
            <a:spAutoFit/>
          </a:bodyPr>
          <a:lstStyle/>
          <a:p>
            <a:pPr algn="l"/>
            <a:r>
              <a:rPr lang="en-US" sz="6200">
                <a:solidFill>
                  <a:srgbClr val="FF0000"/>
                </a:solidFill>
                <a:latin typeface="Fira Sans Light" panose="020B0403050000020004" pitchFamily="34" charset="0"/>
              </a:rPr>
              <a:t>Project Scope</a:t>
            </a:r>
          </a:p>
        </p:txBody>
      </p:sp>
      <p:sp>
        <p:nvSpPr>
          <p:cNvPr id="3" name="Rectangle 2">
            <a:extLst>
              <a:ext uri="{FF2B5EF4-FFF2-40B4-BE49-F238E27FC236}">
                <a16:creationId xmlns:a16="http://schemas.microsoft.com/office/drawing/2014/main" id="{5E717A3A-581B-2CD5-BFF3-BF395494368C}"/>
              </a:ext>
            </a:extLst>
          </p:cNvPr>
          <p:cNvSpPr>
            <a:spLocks noChangeAspect="1"/>
          </p:cNvSpPr>
          <p:nvPr/>
        </p:nvSpPr>
        <p:spPr>
          <a:xfrm>
            <a:off x="945453" y="3543591"/>
            <a:ext cx="4061478" cy="4061478"/>
          </a:xfrm>
          <a:prstGeom prst="rect">
            <a:avLst/>
          </a:prstGeom>
          <a:solidFill>
            <a:srgbClr val="00BEBC"/>
          </a:solidFill>
          <a:ln>
            <a:solidFill>
              <a:srgbClr val="00BEBC"/>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US" sz="2800" b="1" spc="400">
                <a:solidFill>
                  <a:schemeClr val="bg1"/>
                </a:solidFill>
                <a:latin typeface="Arial"/>
                <a:sym typeface="Helvetica Neue"/>
              </a:rPr>
              <a:t>DATACENTERS</a:t>
            </a:r>
          </a:p>
          <a:p>
            <a:pPr algn="ctr" eaLnBrk="0" fontAlgn="base" hangingPunct="0">
              <a:lnSpc>
                <a:spcPct val="90000"/>
              </a:lnSpc>
              <a:spcBef>
                <a:spcPts val="1200"/>
              </a:spcBef>
              <a:spcAft>
                <a:spcPct val="0"/>
              </a:spcAft>
              <a:defRPr/>
            </a:pPr>
            <a:br>
              <a:rPr lang="en-US" sz="2400" kern="0">
                <a:solidFill>
                  <a:prstClr val="black"/>
                </a:solidFill>
                <a:latin typeface="Arial"/>
                <a:sym typeface="Helvetica Neue"/>
              </a:rPr>
            </a:br>
            <a:r>
              <a:rPr lang="en-US" sz="8800" b="1" kern="0">
                <a:solidFill>
                  <a:schemeClr val="bg1"/>
                </a:solidFill>
                <a:latin typeface="Arial"/>
                <a:sym typeface="Helvetica Neue"/>
              </a:rPr>
              <a:t>3</a:t>
            </a:r>
          </a:p>
        </p:txBody>
      </p:sp>
      <p:sp>
        <p:nvSpPr>
          <p:cNvPr id="5" name="Rectangle 4">
            <a:extLst>
              <a:ext uri="{FF2B5EF4-FFF2-40B4-BE49-F238E27FC236}">
                <a16:creationId xmlns:a16="http://schemas.microsoft.com/office/drawing/2014/main" id="{2D5A2EF7-B059-D796-9242-51595021F709}"/>
              </a:ext>
            </a:extLst>
          </p:cNvPr>
          <p:cNvSpPr>
            <a:spLocks noChangeAspect="1"/>
          </p:cNvSpPr>
          <p:nvPr/>
        </p:nvSpPr>
        <p:spPr>
          <a:xfrm>
            <a:off x="10123117" y="3543597"/>
            <a:ext cx="4061478" cy="4061478"/>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182880" tIns="365760" rIns="182880" bIns="91440" rtlCol="0" anchor="t" anchorCtr="0"/>
          <a:lstStyle/>
          <a:p>
            <a:pPr algn="ctr" eaLnBrk="0" fontAlgn="base" hangingPunct="0">
              <a:lnSpc>
                <a:spcPct val="90000"/>
              </a:lnSpc>
              <a:spcBef>
                <a:spcPts val="1200"/>
              </a:spcBef>
              <a:spcAft>
                <a:spcPct val="0"/>
              </a:spcAft>
              <a:defRPr/>
            </a:pPr>
            <a:r>
              <a:rPr lang="en-US" sz="2800" b="1" spc="400">
                <a:solidFill>
                  <a:srgbClr val="FFFFFF"/>
                </a:solidFill>
                <a:latin typeface="Arial"/>
                <a:sym typeface="Helvetica Neue"/>
              </a:rPr>
              <a:t>CLOUD</a:t>
            </a:r>
          </a:p>
          <a:p>
            <a:pPr algn="ctr" eaLnBrk="0" fontAlgn="base" hangingPunct="0">
              <a:lnSpc>
                <a:spcPct val="90000"/>
              </a:lnSpc>
              <a:spcBef>
                <a:spcPts val="1200"/>
              </a:spcBef>
              <a:spcAft>
                <a:spcPct val="0"/>
              </a:spcAft>
              <a:defRPr/>
            </a:pPr>
            <a:r>
              <a:rPr lang="en-US" sz="2800" b="1" spc="400">
                <a:solidFill>
                  <a:srgbClr val="FFFFFF"/>
                </a:solidFill>
                <a:latin typeface="Arial"/>
                <a:sym typeface="Helvetica Neue"/>
              </a:rPr>
              <a:t> ACCOUNTS</a:t>
            </a:r>
            <a:endParaRPr lang="en-US" sz="2400" kern="0">
              <a:solidFill>
                <a:prstClr val="black"/>
              </a:solidFill>
              <a:latin typeface="Arial"/>
              <a:sym typeface="Helvetica Neue"/>
            </a:endParaRPr>
          </a:p>
        </p:txBody>
      </p:sp>
      <p:sp>
        <p:nvSpPr>
          <p:cNvPr id="8" name="Rectangle 7">
            <a:extLst>
              <a:ext uri="{FF2B5EF4-FFF2-40B4-BE49-F238E27FC236}">
                <a16:creationId xmlns:a16="http://schemas.microsoft.com/office/drawing/2014/main" id="{470E7141-6BF4-329A-0232-D3309859774D}"/>
              </a:ext>
            </a:extLst>
          </p:cNvPr>
          <p:cNvSpPr>
            <a:spLocks noChangeAspect="1"/>
          </p:cNvSpPr>
          <p:nvPr/>
        </p:nvSpPr>
        <p:spPr>
          <a:xfrm>
            <a:off x="19300781" y="3543593"/>
            <a:ext cx="4061478" cy="4061478"/>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US" sz="2800" b="1" spc="400">
                <a:solidFill>
                  <a:srgbClr val="FFFFFF"/>
                </a:solidFill>
                <a:latin typeface="Arial"/>
                <a:sym typeface="Helvetica Neue"/>
              </a:rPr>
              <a:t>DATABASE</a:t>
            </a:r>
          </a:p>
          <a:p>
            <a:pPr algn="ctr" eaLnBrk="0" fontAlgn="base" hangingPunct="0">
              <a:lnSpc>
                <a:spcPct val="90000"/>
              </a:lnSpc>
              <a:spcBef>
                <a:spcPts val="1200"/>
              </a:spcBef>
              <a:spcAft>
                <a:spcPct val="0"/>
              </a:spcAft>
              <a:defRPr/>
            </a:pPr>
            <a:r>
              <a:rPr lang="en-US" sz="2800" b="1" spc="400">
                <a:solidFill>
                  <a:srgbClr val="FFFFFF"/>
                </a:solidFill>
                <a:latin typeface="Arial"/>
                <a:sym typeface="Helvetica Neue"/>
              </a:rPr>
              <a:t> SERVERS</a:t>
            </a:r>
          </a:p>
          <a:p>
            <a:pPr algn="ctr" eaLnBrk="0" fontAlgn="base" hangingPunct="0">
              <a:lnSpc>
                <a:spcPct val="90000"/>
              </a:lnSpc>
              <a:spcBef>
                <a:spcPts val="1200"/>
              </a:spcBef>
              <a:spcAft>
                <a:spcPct val="0"/>
              </a:spcAft>
              <a:defRPr/>
            </a:pPr>
            <a:r>
              <a:rPr lang="en-US" sz="8800" b="1" kern="0">
                <a:solidFill>
                  <a:srgbClr val="FFFFFF"/>
                </a:solidFill>
                <a:latin typeface="Arial"/>
                <a:sym typeface="Helvetica Neue"/>
              </a:rPr>
              <a:t>88</a:t>
            </a:r>
            <a:endParaRPr lang="en-US" sz="7200" b="1" kern="0">
              <a:solidFill>
                <a:srgbClr val="FFFFFF"/>
              </a:solidFill>
              <a:latin typeface="Arial"/>
              <a:sym typeface="Helvetica Neue"/>
            </a:endParaRPr>
          </a:p>
          <a:p>
            <a:pPr algn="ctr" eaLnBrk="0" fontAlgn="base" hangingPunct="0">
              <a:lnSpc>
                <a:spcPct val="90000"/>
              </a:lnSpc>
              <a:spcBef>
                <a:spcPts val="1200"/>
              </a:spcBef>
              <a:spcAft>
                <a:spcPct val="0"/>
              </a:spcAft>
              <a:defRPr/>
            </a:pPr>
            <a:endParaRPr lang="en-US" sz="2100" b="1" kern="0">
              <a:solidFill>
                <a:srgbClr val="FFFFFF"/>
              </a:solidFill>
              <a:latin typeface="Arial"/>
              <a:sym typeface="Helvetica Neue"/>
            </a:endParaRPr>
          </a:p>
          <a:p>
            <a:pPr algn="ctr" eaLnBrk="0" fontAlgn="base" hangingPunct="0">
              <a:lnSpc>
                <a:spcPct val="90000"/>
              </a:lnSpc>
              <a:spcBef>
                <a:spcPts val="1200"/>
              </a:spcBef>
              <a:spcAft>
                <a:spcPct val="0"/>
              </a:spcAft>
              <a:defRPr/>
            </a:pPr>
            <a:endParaRPr lang="en-US" sz="2100" b="1" kern="0">
              <a:solidFill>
                <a:srgbClr val="FFFFFF"/>
              </a:solidFill>
              <a:latin typeface="Arial"/>
              <a:sym typeface="Helvetica Neue"/>
            </a:endParaRPr>
          </a:p>
          <a:p>
            <a:pPr algn="ctr" eaLnBrk="0" fontAlgn="base" hangingPunct="0">
              <a:lnSpc>
                <a:spcPct val="90000"/>
              </a:lnSpc>
              <a:spcBef>
                <a:spcPts val="1200"/>
              </a:spcBef>
              <a:spcAft>
                <a:spcPct val="0"/>
              </a:spcAft>
              <a:defRPr/>
            </a:pPr>
            <a:r>
              <a:rPr lang="en-US" sz="2100" b="1" kern="0">
                <a:solidFill>
                  <a:srgbClr val="FFFFFF"/>
                </a:solidFill>
                <a:latin typeface="Arial"/>
                <a:sym typeface="Helvetica Neue"/>
              </a:rPr>
              <a:t>(74/182 total Virtual Servers)</a:t>
            </a:r>
          </a:p>
        </p:txBody>
      </p:sp>
      <p:sp>
        <p:nvSpPr>
          <p:cNvPr id="9" name="Rectangle 8">
            <a:extLst>
              <a:ext uri="{FF2B5EF4-FFF2-40B4-BE49-F238E27FC236}">
                <a16:creationId xmlns:a16="http://schemas.microsoft.com/office/drawing/2014/main" id="{D6F6875B-E974-BE73-9BE3-05FFA9DB7BA9}"/>
              </a:ext>
            </a:extLst>
          </p:cNvPr>
          <p:cNvSpPr>
            <a:spLocks noChangeAspect="1"/>
          </p:cNvSpPr>
          <p:nvPr/>
        </p:nvSpPr>
        <p:spPr>
          <a:xfrm>
            <a:off x="14711949" y="3543595"/>
            <a:ext cx="4061478" cy="4061478"/>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US" sz="2800" b="1" spc="400">
                <a:solidFill>
                  <a:srgbClr val="FFFFFF"/>
                </a:solidFill>
                <a:latin typeface="Arial"/>
                <a:sym typeface="Helvetica Neue"/>
              </a:rPr>
              <a:t>APPLICATIONS +</a:t>
            </a:r>
          </a:p>
          <a:p>
            <a:pPr algn="ctr" eaLnBrk="0" fontAlgn="base" hangingPunct="0">
              <a:lnSpc>
                <a:spcPct val="90000"/>
              </a:lnSpc>
              <a:spcBef>
                <a:spcPts val="1200"/>
              </a:spcBef>
              <a:spcAft>
                <a:spcPct val="0"/>
              </a:spcAft>
              <a:defRPr/>
            </a:pPr>
            <a:r>
              <a:rPr lang="en-US" sz="2800" b="1" spc="400">
                <a:solidFill>
                  <a:srgbClr val="FFFFFF"/>
                </a:solidFill>
                <a:latin typeface="Arial"/>
                <a:sym typeface="Helvetica Neue"/>
              </a:rPr>
              <a:t> SERVICES</a:t>
            </a:r>
            <a:endParaRPr lang="en-US" sz="2400" kern="0">
              <a:solidFill>
                <a:srgbClr val="FFFFFF"/>
              </a:solidFill>
              <a:latin typeface="Arial"/>
              <a:sym typeface="Helvetica Neue"/>
            </a:endParaRPr>
          </a:p>
          <a:p>
            <a:pPr algn="ctr" eaLnBrk="0" fontAlgn="base" hangingPunct="0">
              <a:lnSpc>
                <a:spcPct val="90000"/>
              </a:lnSpc>
              <a:spcBef>
                <a:spcPts val="1200"/>
              </a:spcBef>
              <a:spcAft>
                <a:spcPct val="0"/>
              </a:spcAft>
              <a:defRPr/>
            </a:pPr>
            <a:r>
              <a:rPr lang="en-US" sz="8800" b="1" kern="0">
                <a:solidFill>
                  <a:srgbClr val="FFFFFF"/>
                </a:solidFill>
                <a:latin typeface="Arial"/>
                <a:sym typeface="Helvetica Neue"/>
              </a:rPr>
              <a:t>39</a:t>
            </a:r>
            <a:endParaRPr lang="en-US" sz="13000" kern="0">
              <a:solidFill>
                <a:srgbClr val="FFFFFF"/>
              </a:solidFill>
              <a:latin typeface="Arial"/>
              <a:sym typeface="Helvetica Neue"/>
            </a:endParaRPr>
          </a:p>
        </p:txBody>
      </p:sp>
      <p:sp>
        <p:nvSpPr>
          <p:cNvPr id="11" name="Rectangle 10">
            <a:extLst>
              <a:ext uri="{FF2B5EF4-FFF2-40B4-BE49-F238E27FC236}">
                <a16:creationId xmlns:a16="http://schemas.microsoft.com/office/drawing/2014/main" id="{4F60C7BD-C67F-E607-6B1A-06FDCDBBA56C}"/>
              </a:ext>
            </a:extLst>
          </p:cNvPr>
          <p:cNvSpPr>
            <a:spLocks noChangeAspect="1"/>
          </p:cNvSpPr>
          <p:nvPr/>
        </p:nvSpPr>
        <p:spPr>
          <a:xfrm>
            <a:off x="5610573" y="3543589"/>
            <a:ext cx="4061478" cy="406147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US" sz="2400" b="1" spc="400">
                <a:solidFill>
                  <a:srgbClr val="FFFFFF"/>
                </a:solidFill>
                <a:latin typeface="Arial"/>
                <a:sym typeface="Helvetica Neue"/>
              </a:rPr>
              <a:t>SERVERS</a:t>
            </a:r>
          </a:p>
          <a:p>
            <a:pPr algn="ctr" eaLnBrk="0" fontAlgn="base" hangingPunct="0">
              <a:lnSpc>
                <a:spcPct val="90000"/>
              </a:lnSpc>
              <a:spcBef>
                <a:spcPts val="1200"/>
              </a:spcBef>
              <a:spcAft>
                <a:spcPct val="0"/>
              </a:spcAft>
              <a:defRPr/>
            </a:pPr>
            <a:endParaRPr lang="en-US" sz="2400" kern="0">
              <a:solidFill>
                <a:srgbClr val="FFFFFF"/>
              </a:solidFill>
              <a:latin typeface="Arial"/>
              <a:sym typeface="Helvetica Neue"/>
            </a:endParaRPr>
          </a:p>
          <a:p>
            <a:pPr algn="ctr" eaLnBrk="0" fontAlgn="base" hangingPunct="0">
              <a:lnSpc>
                <a:spcPct val="90000"/>
              </a:lnSpc>
              <a:spcBef>
                <a:spcPts val="1200"/>
              </a:spcBef>
              <a:spcAft>
                <a:spcPct val="0"/>
              </a:spcAft>
              <a:defRPr/>
            </a:pPr>
            <a:r>
              <a:rPr lang="en-US" sz="8800" b="1" kern="0">
                <a:solidFill>
                  <a:srgbClr val="FFFFFF"/>
                </a:solidFill>
                <a:latin typeface="Arial"/>
                <a:sym typeface="Helvetica Neue"/>
              </a:rPr>
              <a:t>3038</a:t>
            </a:r>
          </a:p>
        </p:txBody>
      </p:sp>
      <p:sp>
        <p:nvSpPr>
          <p:cNvPr id="16" name="Rectangle 15">
            <a:extLst>
              <a:ext uri="{FF2B5EF4-FFF2-40B4-BE49-F238E27FC236}">
                <a16:creationId xmlns:a16="http://schemas.microsoft.com/office/drawing/2014/main" id="{2BDBEFE7-6C66-29D4-1ED3-025CD5C35D08}"/>
              </a:ext>
            </a:extLst>
          </p:cNvPr>
          <p:cNvSpPr>
            <a:spLocks noChangeAspect="1"/>
          </p:cNvSpPr>
          <p:nvPr/>
        </p:nvSpPr>
        <p:spPr>
          <a:xfrm>
            <a:off x="945451" y="7605069"/>
            <a:ext cx="4061478" cy="3382502"/>
          </a:xfrm>
          <a:prstGeom prst="rect">
            <a:avLst/>
          </a:prstGeom>
          <a:solidFill>
            <a:schemeClr val="bg1"/>
          </a:solidFill>
          <a:ln>
            <a:solidFill>
              <a:srgbClr val="00BEBC"/>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GB" sz="2400" kern="0">
                <a:solidFill>
                  <a:srgbClr val="000000"/>
                </a:solidFill>
                <a:latin typeface="Arial"/>
                <a:sym typeface="Helvetica Neue"/>
              </a:rPr>
              <a:t>Have we defined our platform and infrastructure strategy? </a:t>
            </a:r>
          </a:p>
          <a:p>
            <a:pPr algn="ctr" eaLnBrk="0" fontAlgn="base" hangingPunct="0">
              <a:lnSpc>
                <a:spcPct val="90000"/>
              </a:lnSpc>
              <a:spcBef>
                <a:spcPts val="1200"/>
              </a:spcBef>
              <a:spcAft>
                <a:spcPct val="0"/>
              </a:spcAft>
              <a:defRPr/>
            </a:pPr>
            <a:r>
              <a:rPr lang="en-GB" sz="2400" kern="0">
                <a:solidFill>
                  <a:srgbClr val="000000"/>
                </a:solidFill>
                <a:latin typeface="Arial"/>
                <a:sym typeface="Helvetica Neue"/>
              </a:rPr>
              <a:t>How will our hardware and servers evolve during our cloud transformation journey?</a:t>
            </a:r>
            <a:endParaRPr lang="en-US" sz="2400" kern="0">
              <a:solidFill>
                <a:srgbClr val="000000"/>
              </a:solidFill>
              <a:latin typeface="Arial"/>
              <a:sym typeface="Helvetica Neue"/>
            </a:endParaRPr>
          </a:p>
          <a:p>
            <a:pPr algn="ctr" eaLnBrk="0" fontAlgn="base" hangingPunct="0">
              <a:lnSpc>
                <a:spcPct val="90000"/>
              </a:lnSpc>
              <a:spcBef>
                <a:spcPts val="1200"/>
              </a:spcBef>
              <a:spcAft>
                <a:spcPct val="0"/>
              </a:spcAft>
              <a:defRPr/>
            </a:pPr>
            <a:endParaRPr lang="en-US" sz="2400" kern="0">
              <a:solidFill>
                <a:srgbClr val="000000"/>
              </a:solidFill>
              <a:latin typeface="Arial"/>
              <a:sym typeface="Helvetica Neue"/>
            </a:endParaRPr>
          </a:p>
        </p:txBody>
      </p:sp>
      <p:sp>
        <p:nvSpPr>
          <p:cNvPr id="19" name="Rectangle 18">
            <a:extLst>
              <a:ext uri="{FF2B5EF4-FFF2-40B4-BE49-F238E27FC236}">
                <a16:creationId xmlns:a16="http://schemas.microsoft.com/office/drawing/2014/main" id="{C1EA0BA8-8F48-D81F-2A74-203C4AF366D8}"/>
              </a:ext>
            </a:extLst>
          </p:cNvPr>
          <p:cNvSpPr>
            <a:spLocks noChangeAspect="1"/>
          </p:cNvSpPr>
          <p:nvPr/>
        </p:nvSpPr>
        <p:spPr>
          <a:xfrm>
            <a:off x="5534283" y="7619541"/>
            <a:ext cx="4061478" cy="33825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GB" sz="2400" kern="0">
                <a:solidFill>
                  <a:srgbClr val="000000"/>
                </a:solidFill>
                <a:latin typeface="Arial"/>
                <a:sym typeface="Helvetica Neue"/>
              </a:rPr>
              <a:t>What is our approach to </a:t>
            </a:r>
            <a:br>
              <a:rPr lang="en-GB" sz="2400" kern="0">
                <a:solidFill>
                  <a:srgbClr val="000000"/>
                </a:solidFill>
                <a:latin typeface="Arial"/>
                <a:sym typeface="Helvetica Neue"/>
              </a:rPr>
            </a:br>
            <a:r>
              <a:rPr lang="en-GB" sz="2400" kern="0">
                <a:solidFill>
                  <a:srgbClr val="000000"/>
                </a:solidFill>
                <a:latin typeface="Arial"/>
                <a:sym typeface="Helvetica Neue"/>
              </a:rPr>
              <a:t>server migration, and how will our servers evolve </a:t>
            </a:r>
            <a:br>
              <a:rPr lang="en-GB" sz="2400" kern="0">
                <a:solidFill>
                  <a:srgbClr val="000000"/>
                </a:solidFill>
                <a:latin typeface="Arial"/>
                <a:sym typeface="Helvetica Neue"/>
              </a:rPr>
            </a:br>
            <a:r>
              <a:rPr lang="en-GB" sz="2400" kern="0">
                <a:solidFill>
                  <a:srgbClr val="000000"/>
                </a:solidFill>
                <a:latin typeface="Arial"/>
                <a:sym typeface="Helvetica Neue"/>
              </a:rPr>
              <a:t>during our cloud transformation journey?</a:t>
            </a:r>
            <a:endParaRPr lang="en-US" sz="2400" kern="0">
              <a:solidFill>
                <a:srgbClr val="000000"/>
              </a:solidFill>
              <a:latin typeface="Arial"/>
              <a:sym typeface="Helvetica Neue"/>
            </a:endParaRPr>
          </a:p>
        </p:txBody>
      </p:sp>
      <p:sp>
        <p:nvSpPr>
          <p:cNvPr id="26" name="Rectangle 25">
            <a:extLst>
              <a:ext uri="{FF2B5EF4-FFF2-40B4-BE49-F238E27FC236}">
                <a16:creationId xmlns:a16="http://schemas.microsoft.com/office/drawing/2014/main" id="{4F01EC57-E963-1BD5-E549-F7F33D32B948}"/>
              </a:ext>
            </a:extLst>
          </p:cNvPr>
          <p:cNvSpPr>
            <a:spLocks noChangeAspect="1"/>
          </p:cNvSpPr>
          <p:nvPr/>
        </p:nvSpPr>
        <p:spPr>
          <a:xfrm>
            <a:off x="10123117" y="7633121"/>
            <a:ext cx="4061478" cy="3382502"/>
          </a:xfrm>
          <a:prstGeom prst="rect">
            <a:avLst/>
          </a:prstGeom>
          <a:solidFill>
            <a:schemeClr val="bg1"/>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GB" sz="2400" kern="0">
                <a:solidFill>
                  <a:srgbClr val="000000"/>
                </a:solidFill>
                <a:latin typeface="Arial"/>
                <a:sym typeface="Helvetica Neue"/>
              </a:rPr>
              <a:t>Have we established a presence in the cloud? </a:t>
            </a:r>
          </a:p>
          <a:p>
            <a:pPr algn="ctr" eaLnBrk="0" fontAlgn="base" hangingPunct="0">
              <a:lnSpc>
                <a:spcPct val="90000"/>
              </a:lnSpc>
              <a:spcBef>
                <a:spcPts val="1200"/>
              </a:spcBef>
              <a:spcAft>
                <a:spcPct val="0"/>
              </a:spcAft>
              <a:defRPr/>
            </a:pPr>
            <a:r>
              <a:rPr lang="en-GB" sz="2400" kern="0">
                <a:solidFill>
                  <a:srgbClr val="000000"/>
                </a:solidFill>
                <a:latin typeface="Arial"/>
                <a:sym typeface="Helvetica Neue"/>
              </a:rPr>
              <a:t>How will our cloud footprint evolve during our transformation journey?</a:t>
            </a:r>
          </a:p>
        </p:txBody>
      </p:sp>
      <p:sp>
        <p:nvSpPr>
          <p:cNvPr id="29" name="Rectangle 28">
            <a:extLst>
              <a:ext uri="{FF2B5EF4-FFF2-40B4-BE49-F238E27FC236}">
                <a16:creationId xmlns:a16="http://schemas.microsoft.com/office/drawing/2014/main" id="{A1E21808-B840-2A9F-E3E8-068AE7D3A753}"/>
              </a:ext>
            </a:extLst>
          </p:cNvPr>
          <p:cNvSpPr>
            <a:spLocks noChangeAspect="1"/>
          </p:cNvSpPr>
          <p:nvPr/>
        </p:nvSpPr>
        <p:spPr>
          <a:xfrm>
            <a:off x="14711949" y="7605067"/>
            <a:ext cx="4061478" cy="3382502"/>
          </a:xfrm>
          <a:prstGeom prst="rect">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GB" sz="2400" kern="0">
                <a:solidFill>
                  <a:srgbClr val="000000"/>
                </a:solidFill>
                <a:latin typeface="Arial"/>
                <a:sym typeface="Helvetica Neue"/>
              </a:rPr>
              <a:t>What is our approach to application migration, and how will our applications evolve during </a:t>
            </a:r>
            <a:br>
              <a:rPr lang="en-GB" sz="2400" kern="0">
                <a:solidFill>
                  <a:srgbClr val="000000"/>
                </a:solidFill>
                <a:latin typeface="Arial"/>
                <a:sym typeface="Helvetica Neue"/>
              </a:rPr>
            </a:br>
            <a:r>
              <a:rPr lang="en-GB" sz="2400" kern="0">
                <a:solidFill>
                  <a:srgbClr val="000000"/>
                </a:solidFill>
                <a:latin typeface="Arial"/>
                <a:sym typeface="Helvetica Neue"/>
              </a:rPr>
              <a:t>our cloud transformation journey?</a:t>
            </a:r>
            <a:endParaRPr lang="en-US" sz="2400" kern="0">
              <a:solidFill>
                <a:srgbClr val="000000"/>
              </a:solidFill>
              <a:latin typeface="Arial"/>
              <a:sym typeface="Helvetica Neue"/>
            </a:endParaRPr>
          </a:p>
        </p:txBody>
      </p:sp>
      <p:sp>
        <p:nvSpPr>
          <p:cNvPr id="32" name="Rectangle 31">
            <a:extLst>
              <a:ext uri="{FF2B5EF4-FFF2-40B4-BE49-F238E27FC236}">
                <a16:creationId xmlns:a16="http://schemas.microsoft.com/office/drawing/2014/main" id="{6B5A3E9B-EBCE-65B6-F9B1-F7B368384A7F}"/>
              </a:ext>
            </a:extLst>
          </p:cNvPr>
          <p:cNvSpPr>
            <a:spLocks noChangeAspect="1"/>
          </p:cNvSpPr>
          <p:nvPr/>
        </p:nvSpPr>
        <p:spPr>
          <a:xfrm>
            <a:off x="19300779" y="7633121"/>
            <a:ext cx="4061478" cy="3382502"/>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tIns="365760" rtlCol="0" anchor="t" anchorCtr="0"/>
          <a:lstStyle/>
          <a:p>
            <a:pPr algn="ctr" eaLnBrk="0" fontAlgn="base" hangingPunct="0">
              <a:lnSpc>
                <a:spcPct val="90000"/>
              </a:lnSpc>
              <a:spcBef>
                <a:spcPts val="1200"/>
              </a:spcBef>
              <a:spcAft>
                <a:spcPct val="0"/>
              </a:spcAft>
              <a:defRPr/>
            </a:pPr>
            <a:r>
              <a:rPr lang="en-GB" sz="2400" kern="0">
                <a:solidFill>
                  <a:srgbClr val="000000"/>
                </a:solidFill>
                <a:latin typeface="Arial"/>
                <a:sym typeface="Helvetica Neue"/>
              </a:rPr>
              <a:t>What is our approach to database migration, and how will our databases evolve during our cloud transformation journey?</a:t>
            </a:r>
            <a:endParaRPr lang="en-US" sz="2400" kern="0">
              <a:solidFill>
                <a:srgbClr val="000000"/>
              </a:solidFill>
              <a:latin typeface="Arial"/>
              <a:sym typeface="Helvetica Neue"/>
            </a:endParaRPr>
          </a:p>
        </p:txBody>
      </p:sp>
      <p:sp>
        <p:nvSpPr>
          <p:cNvPr id="37" name="TextBox 36">
            <a:extLst>
              <a:ext uri="{FF2B5EF4-FFF2-40B4-BE49-F238E27FC236}">
                <a16:creationId xmlns:a16="http://schemas.microsoft.com/office/drawing/2014/main" id="{345B971C-553C-DFAF-22FE-A52028B8F855}"/>
              </a:ext>
            </a:extLst>
          </p:cNvPr>
          <p:cNvSpPr txBox="1"/>
          <p:nvPr/>
        </p:nvSpPr>
        <p:spPr>
          <a:xfrm>
            <a:off x="10161261" y="6731251"/>
            <a:ext cx="4061478" cy="646331"/>
          </a:xfrm>
          <a:prstGeom prst="rect">
            <a:avLst/>
          </a:prstGeom>
          <a:noFill/>
        </p:spPr>
        <p:txBody>
          <a:bodyPr wrap="square" rtlCol="0">
            <a:spAutoFit/>
          </a:bodyPr>
          <a:lstStyle/>
          <a:p>
            <a:pPr algn="l"/>
            <a:r>
              <a:rPr lang="en-US" sz="3600">
                <a:solidFill>
                  <a:schemeClr val="bg1"/>
                </a:solidFill>
              </a:rPr>
              <a:t>AWS  Azure  GCP</a:t>
            </a:r>
            <a:endParaRPr lang="en-IN" sz="3600">
              <a:solidFill>
                <a:schemeClr val="bg1"/>
              </a:solidFill>
            </a:endParaRPr>
          </a:p>
        </p:txBody>
      </p:sp>
      <p:sp>
        <p:nvSpPr>
          <p:cNvPr id="1027" name="TextBox 1026">
            <a:extLst>
              <a:ext uri="{FF2B5EF4-FFF2-40B4-BE49-F238E27FC236}">
                <a16:creationId xmlns:a16="http://schemas.microsoft.com/office/drawing/2014/main" id="{E0497DBD-410E-E193-1BAA-9982804FCC8B}"/>
              </a:ext>
            </a:extLst>
          </p:cNvPr>
          <p:cNvSpPr txBox="1"/>
          <p:nvPr/>
        </p:nvSpPr>
        <p:spPr>
          <a:xfrm>
            <a:off x="1087396" y="6731252"/>
            <a:ext cx="3919533" cy="646331"/>
          </a:xfrm>
          <a:prstGeom prst="rect">
            <a:avLst/>
          </a:prstGeom>
          <a:noFill/>
        </p:spPr>
        <p:txBody>
          <a:bodyPr wrap="square" rtlCol="0">
            <a:spAutoFit/>
          </a:bodyPr>
          <a:lstStyle/>
          <a:p>
            <a:pPr algn="l"/>
            <a:r>
              <a:rPr lang="en-US" sz="3600">
                <a:solidFill>
                  <a:schemeClr val="bg1"/>
                </a:solidFill>
              </a:rPr>
              <a:t>RDG   SLO  SYD</a:t>
            </a:r>
            <a:endParaRPr lang="en-IN" sz="3600">
              <a:solidFill>
                <a:schemeClr val="bg1"/>
              </a:solidFill>
            </a:endParaRPr>
          </a:p>
        </p:txBody>
      </p:sp>
    </p:spTree>
    <p:extLst>
      <p:ext uri="{BB962C8B-B14F-4D97-AF65-F5344CB8AC3E}">
        <p14:creationId xmlns:p14="http://schemas.microsoft.com/office/powerpoint/2010/main" val="160472476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EF58EC-6DE0-BA9D-5AC1-1840FF33FA1B}"/>
            </a:ext>
          </a:extLst>
        </p:cNvPr>
        <p:cNvGrpSpPr/>
        <p:nvPr/>
      </p:nvGrpSpPr>
      <p:grpSpPr>
        <a:xfrm>
          <a:off x="0" y="0"/>
          <a:ext cx="0" cy="0"/>
          <a:chOff x="0" y="0"/>
          <a:chExt cx="0" cy="0"/>
        </a:xfrm>
      </p:grpSpPr>
      <p:pic>
        <p:nvPicPr>
          <p:cNvPr id="1026" name="Picture 2" descr="VMWare ESXi: An Overview | Cloud4U">
            <a:extLst>
              <a:ext uri="{FF2B5EF4-FFF2-40B4-BE49-F238E27FC236}">
                <a16:creationId xmlns:a16="http://schemas.microsoft.com/office/drawing/2014/main" id="{E5CAF08B-670E-999D-1A5F-C54EB16066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97877" y="2236989"/>
            <a:ext cx="3633862" cy="3633862"/>
          </a:xfrm>
          <a:prstGeom prst="rect">
            <a:avLst/>
          </a:prstGeom>
          <a:noFill/>
          <a:extLst>
            <a:ext uri="{909E8E84-426E-40DD-AFC4-6F175D3DCCD1}">
              <a14:hiddenFill xmlns:a14="http://schemas.microsoft.com/office/drawing/2010/main">
                <a:solidFill>
                  <a:srgbClr val="FFFFFF"/>
                </a:solidFill>
              </a14:hiddenFill>
            </a:ext>
          </a:extLst>
        </p:spPr>
      </p:pic>
      <p:sp>
        <p:nvSpPr>
          <p:cNvPr id="2" name="Slide Number Placeholder 1">
            <a:extLst>
              <a:ext uri="{FF2B5EF4-FFF2-40B4-BE49-F238E27FC236}">
                <a16:creationId xmlns:a16="http://schemas.microsoft.com/office/drawing/2014/main" id="{DF54F30C-8CF6-27BA-AD77-3B691BC87EE7}"/>
              </a:ext>
            </a:extLst>
          </p:cNvPr>
          <p:cNvSpPr>
            <a:spLocks noGrp="1"/>
          </p:cNvSpPr>
          <p:nvPr>
            <p:ph type="sldNum" sz="quarter" idx="4"/>
          </p:nvPr>
        </p:nvSpPr>
        <p:spPr>
          <a:xfrm>
            <a:off x="22402802" y="13027080"/>
            <a:ext cx="1234804" cy="215444"/>
          </a:xfrm>
        </p:spPr>
        <p:txBody>
          <a:bodyPr/>
          <a:lstStyle/>
          <a:p>
            <a:fld id="{762E77F0-FB5B-4E8E-9BC9-34F14560A017}" type="slidenum">
              <a:rPr lang="en-US" smtClean="0"/>
              <a:pPr/>
              <a:t>18</a:t>
            </a:fld>
            <a:endParaRPr lang="en-US"/>
          </a:p>
        </p:txBody>
      </p:sp>
      <p:sp>
        <p:nvSpPr>
          <p:cNvPr id="4" name="TextBox 3">
            <a:extLst>
              <a:ext uri="{FF2B5EF4-FFF2-40B4-BE49-F238E27FC236}">
                <a16:creationId xmlns:a16="http://schemas.microsoft.com/office/drawing/2014/main" id="{2652C90C-3C21-3BE4-2DA5-684CDEA35171}"/>
              </a:ext>
            </a:extLst>
          </p:cNvPr>
          <p:cNvSpPr txBox="1"/>
          <p:nvPr/>
        </p:nvSpPr>
        <p:spPr>
          <a:xfrm>
            <a:off x="406009" y="473476"/>
            <a:ext cx="16872341" cy="1046440"/>
          </a:xfrm>
          <a:prstGeom prst="rect">
            <a:avLst/>
          </a:prstGeom>
          <a:noFill/>
        </p:spPr>
        <p:txBody>
          <a:bodyPr wrap="square" rtlCol="0">
            <a:spAutoFit/>
          </a:bodyPr>
          <a:lstStyle/>
          <a:p>
            <a:pPr algn="l"/>
            <a:r>
              <a:rPr lang="en-US" sz="6200">
                <a:solidFill>
                  <a:srgbClr val="FF0000"/>
                </a:solidFill>
                <a:latin typeface="Fira Sans Light" panose="020B0403050000020004" pitchFamily="34" charset="0"/>
              </a:rPr>
              <a:t>DMG Inventory Scope – At a Glance</a:t>
            </a:r>
          </a:p>
        </p:txBody>
      </p:sp>
      <p:pic>
        <p:nvPicPr>
          <p:cNvPr id="1028" name="Picture 4" descr="HPE Synergy 480 Gen11 Configure-to-Order Module | HPE Store Deutschland">
            <a:extLst>
              <a:ext uri="{FF2B5EF4-FFF2-40B4-BE49-F238E27FC236}">
                <a16:creationId xmlns:a16="http://schemas.microsoft.com/office/drawing/2014/main" id="{1761AE9E-D021-70C1-9568-B6D0970549F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03860" y="2287082"/>
            <a:ext cx="3059738" cy="2294804"/>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Dell EMC Unity 400 Hybrid Flash Storage | SANStorageWorks.com">
            <a:extLst>
              <a:ext uri="{FF2B5EF4-FFF2-40B4-BE49-F238E27FC236}">
                <a16:creationId xmlns:a16="http://schemas.microsoft.com/office/drawing/2014/main" id="{86D2C4B8-CFF4-976E-1E9C-597A5BD953F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18356" y="2795076"/>
            <a:ext cx="2627833" cy="1230865"/>
          </a:xfrm>
          <a:prstGeom prst="rect">
            <a:avLst/>
          </a:prstGeom>
          <a:noFill/>
          <a:extLst>
            <a:ext uri="{909E8E84-426E-40DD-AFC4-6F175D3DCCD1}">
              <a14:hiddenFill xmlns:a14="http://schemas.microsoft.com/office/drawing/2010/main">
                <a:solidFill>
                  <a:srgbClr val="FFFFFF"/>
                </a:solidFill>
              </a14:hiddenFill>
            </a:ext>
          </a:extLst>
        </p:spPr>
      </p:pic>
      <p:pic>
        <p:nvPicPr>
          <p:cNvPr id="1042" name="Picture 18" descr="DELL/EMC Isilon | Nodeum">
            <a:extLst>
              <a:ext uri="{FF2B5EF4-FFF2-40B4-BE49-F238E27FC236}">
                <a16:creationId xmlns:a16="http://schemas.microsoft.com/office/drawing/2014/main" id="{C41D9AF1-4EE0-F8CB-0473-FDA5A70F93B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129982" y="3296675"/>
            <a:ext cx="2156338" cy="851186"/>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D504ACBD-809E-211F-2956-D7641EC157F7}"/>
              </a:ext>
            </a:extLst>
          </p:cNvPr>
          <p:cNvSpPr txBox="1"/>
          <p:nvPr/>
        </p:nvSpPr>
        <p:spPr>
          <a:xfrm>
            <a:off x="18325763" y="4086101"/>
            <a:ext cx="1531188" cy="369332"/>
          </a:xfrm>
          <a:prstGeom prst="rect">
            <a:avLst/>
          </a:prstGeom>
          <a:noFill/>
        </p:spPr>
        <p:txBody>
          <a:bodyPr wrap="none" rtlCol="0">
            <a:spAutoFit/>
          </a:bodyPr>
          <a:lstStyle/>
          <a:p>
            <a:pPr algn="l"/>
            <a:r>
              <a:rPr lang="en-GB" sz="1800"/>
              <a:t>SAN Storage</a:t>
            </a:r>
          </a:p>
        </p:txBody>
      </p:sp>
      <p:sp>
        <p:nvSpPr>
          <p:cNvPr id="12" name="Rectangle 11">
            <a:extLst>
              <a:ext uri="{FF2B5EF4-FFF2-40B4-BE49-F238E27FC236}">
                <a16:creationId xmlns:a16="http://schemas.microsoft.com/office/drawing/2014/main" id="{B59885C9-FE20-CAB0-AC25-719048D3697A}"/>
              </a:ext>
            </a:extLst>
          </p:cNvPr>
          <p:cNvSpPr/>
          <p:nvPr/>
        </p:nvSpPr>
        <p:spPr>
          <a:xfrm>
            <a:off x="240633" y="5041811"/>
            <a:ext cx="22803018" cy="2634299"/>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GB" sz="1800">
                <a:solidFill>
                  <a:schemeClr val="tx1"/>
                </a:solidFill>
              </a:rPr>
              <a:t>Reading</a:t>
            </a:r>
          </a:p>
        </p:txBody>
      </p:sp>
      <p:sp>
        <p:nvSpPr>
          <p:cNvPr id="13" name="Rectangle 12">
            <a:extLst>
              <a:ext uri="{FF2B5EF4-FFF2-40B4-BE49-F238E27FC236}">
                <a16:creationId xmlns:a16="http://schemas.microsoft.com/office/drawing/2014/main" id="{B3D61B31-9D00-B00D-011E-F96BC6BB053B}"/>
              </a:ext>
            </a:extLst>
          </p:cNvPr>
          <p:cNvSpPr/>
          <p:nvPr/>
        </p:nvSpPr>
        <p:spPr>
          <a:xfrm>
            <a:off x="240633" y="7887138"/>
            <a:ext cx="22803018" cy="2634299"/>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GB">
                <a:solidFill>
                  <a:schemeClr val="tx1"/>
                </a:solidFill>
              </a:rPr>
              <a:t>Slough</a:t>
            </a:r>
            <a:endParaRPr lang="en-GB" sz="1800">
              <a:solidFill>
                <a:schemeClr val="tx1"/>
              </a:solidFill>
            </a:endParaRPr>
          </a:p>
        </p:txBody>
      </p:sp>
      <p:sp>
        <p:nvSpPr>
          <p:cNvPr id="14" name="Rectangle 13">
            <a:extLst>
              <a:ext uri="{FF2B5EF4-FFF2-40B4-BE49-F238E27FC236}">
                <a16:creationId xmlns:a16="http://schemas.microsoft.com/office/drawing/2014/main" id="{78438EC3-BBFC-CCBB-C6DE-C5ED7D8E8D6C}"/>
              </a:ext>
            </a:extLst>
          </p:cNvPr>
          <p:cNvSpPr/>
          <p:nvPr/>
        </p:nvSpPr>
        <p:spPr>
          <a:xfrm>
            <a:off x="240633" y="10682658"/>
            <a:ext cx="22803018" cy="1627379"/>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GB" sz="1800">
                <a:solidFill>
                  <a:schemeClr val="tx1"/>
                </a:solidFill>
              </a:rPr>
              <a:t>Sydney</a:t>
            </a:r>
          </a:p>
        </p:txBody>
      </p:sp>
      <p:pic>
        <p:nvPicPr>
          <p:cNvPr id="1044" name="Picture 20" descr="Database logo Vectors - Download Free High-Quality Vectors from Freepik |  Freepik">
            <a:extLst>
              <a:ext uri="{FF2B5EF4-FFF2-40B4-BE49-F238E27FC236}">
                <a16:creationId xmlns:a16="http://schemas.microsoft.com/office/drawing/2014/main" id="{062860EC-3403-C455-B04C-8613746A4E2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642514" y="2917187"/>
            <a:ext cx="1582404" cy="1751307"/>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A1841AB5-686D-1E62-CF1A-63FC273D78DD}"/>
              </a:ext>
            </a:extLst>
          </p:cNvPr>
          <p:cNvSpPr txBox="1"/>
          <p:nvPr/>
        </p:nvSpPr>
        <p:spPr>
          <a:xfrm>
            <a:off x="10816010" y="4305066"/>
            <a:ext cx="1337285" cy="646331"/>
          </a:xfrm>
          <a:prstGeom prst="rect">
            <a:avLst/>
          </a:prstGeom>
          <a:noFill/>
        </p:spPr>
        <p:txBody>
          <a:bodyPr wrap="square" rtlCol="0">
            <a:spAutoFit/>
          </a:bodyPr>
          <a:lstStyle/>
          <a:p>
            <a:pPr algn="ctr"/>
            <a:r>
              <a:rPr lang="en-GB" sz="1800"/>
              <a:t>Virtual </a:t>
            </a:r>
            <a:r>
              <a:rPr lang="en-GB" sz="1800" err="1"/>
              <a:t>DBServers</a:t>
            </a:r>
            <a:endParaRPr lang="en-GB" sz="1800"/>
          </a:p>
        </p:txBody>
      </p:sp>
      <p:pic>
        <p:nvPicPr>
          <p:cNvPr id="1046" name="Picture 22">
            <a:extLst>
              <a:ext uri="{FF2B5EF4-FFF2-40B4-BE49-F238E27FC236}">
                <a16:creationId xmlns:a16="http://schemas.microsoft.com/office/drawing/2014/main" id="{455AD7A4-25DF-9DD3-077A-B1FF1DA1DAD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564084" y="8744247"/>
            <a:ext cx="660834" cy="935741"/>
          </a:xfrm>
          <a:prstGeom prst="rect">
            <a:avLst/>
          </a:prstGeom>
          <a:noFill/>
          <a:extLst>
            <a:ext uri="{909E8E84-426E-40DD-AFC4-6F175D3DCCD1}">
              <a14:hiddenFill xmlns:a14="http://schemas.microsoft.com/office/drawing/2010/main">
                <a:solidFill>
                  <a:srgbClr val="FFFFFF"/>
                </a:solidFill>
              </a14:hiddenFill>
            </a:ext>
          </a:extLst>
        </p:spPr>
      </p:pic>
      <p:pic>
        <p:nvPicPr>
          <p:cNvPr id="1050" name="Picture 26" descr="MySQL logo PNG transparent image download, size: 1280x1280px">
            <a:extLst>
              <a:ext uri="{FF2B5EF4-FFF2-40B4-BE49-F238E27FC236}">
                <a16:creationId xmlns:a16="http://schemas.microsoft.com/office/drawing/2014/main" id="{022A5637-4B11-A8D8-610C-E44F68991C4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561337" y="8057524"/>
            <a:ext cx="610350" cy="610350"/>
          </a:xfrm>
          <a:prstGeom prst="rect">
            <a:avLst/>
          </a:prstGeom>
          <a:noFill/>
          <a:extLst>
            <a:ext uri="{909E8E84-426E-40DD-AFC4-6F175D3DCCD1}">
              <a14:hiddenFill xmlns:a14="http://schemas.microsoft.com/office/drawing/2010/main">
                <a:solidFill>
                  <a:srgbClr val="FFFFFF"/>
                </a:solidFill>
              </a14:hiddenFill>
            </a:ext>
          </a:extLst>
        </p:spPr>
      </p:pic>
      <p:pic>
        <p:nvPicPr>
          <p:cNvPr id="1058" name="Picture 34" descr="windows logo PNG transparent image download, size: 1960x1840px">
            <a:extLst>
              <a:ext uri="{FF2B5EF4-FFF2-40B4-BE49-F238E27FC236}">
                <a16:creationId xmlns:a16="http://schemas.microsoft.com/office/drawing/2014/main" id="{8642023E-DA58-EE82-6A4F-72F3E7E89AB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19800" y="6263103"/>
            <a:ext cx="648465" cy="608794"/>
          </a:xfrm>
          <a:prstGeom prst="rect">
            <a:avLst/>
          </a:prstGeom>
          <a:noFill/>
          <a:extLst>
            <a:ext uri="{909E8E84-426E-40DD-AFC4-6F175D3DCCD1}">
              <a14:hiddenFill xmlns:a14="http://schemas.microsoft.com/office/drawing/2010/main">
                <a:solidFill>
                  <a:srgbClr val="FFFFFF"/>
                </a:solidFill>
              </a14:hiddenFill>
            </a:ext>
          </a:extLst>
        </p:spPr>
      </p:pic>
      <p:pic>
        <p:nvPicPr>
          <p:cNvPr id="1060" name="Picture 36" descr="Linux Logo and symbol, meaning, history, PNG, brand">
            <a:extLst>
              <a:ext uri="{FF2B5EF4-FFF2-40B4-BE49-F238E27FC236}">
                <a16:creationId xmlns:a16="http://schemas.microsoft.com/office/drawing/2014/main" id="{F3948C53-2A33-172A-81A9-F66D038B2686}"/>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19800" y="5478598"/>
            <a:ext cx="648466" cy="716280"/>
          </a:xfrm>
          <a:prstGeom prst="rect">
            <a:avLst/>
          </a:prstGeom>
          <a:noFill/>
          <a:extLst>
            <a:ext uri="{909E8E84-426E-40DD-AFC4-6F175D3DCCD1}">
              <a14:hiddenFill xmlns:a14="http://schemas.microsoft.com/office/drawing/2010/main">
                <a:solidFill>
                  <a:srgbClr val="FFFFFF"/>
                </a:solidFill>
              </a14:hiddenFill>
            </a:ext>
          </a:extLst>
        </p:spPr>
      </p:pic>
      <p:grpSp>
        <p:nvGrpSpPr>
          <p:cNvPr id="39" name="Group 38">
            <a:extLst>
              <a:ext uri="{FF2B5EF4-FFF2-40B4-BE49-F238E27FC236}">
                <a16:creationId xmlns:a16="http://schemas.microsoft.com/office/drawing/2014/main" id="{0CDD22F3-17C7-63B7-CAE1-00B1B32933A5}"/>
              </a:ext>
            </a:extLst>
          </p:cNvPr>
          <p:cNvGrpSpPr/>
          <p:nvPr/>
        </p:nvGrpSpPr>
        <p:grpSpPr>
          <a:xfrm>
            <a:off x="1425715" y="2989314"/>
            <a:ext cx="2095461" cy="6762245"/>
            <a:chOff x="-1179720" y="3040669"/>
            <a:chExt cx="2095461" cy="6762245"/>
          </a:xfrm>
        </p:grpSpPr>
        <p:pic>
          <p:nvPicPr>
            <p:cNvPr id="1030" name="Picture 6" descr="Proxmox VE 9.0 – Stabile Version jetzt verfügbar! – Black Rack">
              <a:extLst>
                <a:ext uri="{FF2B5EF4-FFF2-40B4-BE49-F238E27FC236}">
                  <a16:creationId xmlns:a16="http://schemas.microsoft.com/office/drawing/2014/main" id="{D59C1989-3603-B605-97FD-44E8FAE6C551}"/>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79720" y="3040669"/>
              <a:ext cx="1868092" cy="1779135"/>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E20BEADD-692B-A62E-8C72-EA0155572096}"/>
                </a:ext>
              </a:extLst>
            </p:cNvPr>
            <p:cNvSpPr txBox="1"/>
            <p:nvPr/>
          </p:nvSpPr>
          <p:spPr>
            <a:xfrm>
              <a:off x="-1069114" y="8669256"/>
              <a:ext cx="1756715" cy="307777"/>
            </a:xfrm>
            <a:prstGeom prst="rect">
              <a:avLst/>
            </a:prstGeom>
            <a:noFill/>
          </p:spPr>
          <p:txBody>
            <a:bodyPr wrap="square" rtlCol="0">
              <a:spAutoFit/>
            </a:bodyPr>
            <a:lstStyle/>
            <a:p>
              <a:pPr algn="l"/>
              <a:r>
                <a:rPr lang="en-GB" sz="1400"/>
                <a:t>MOL INT :51 Linux</a:t>
              </a:r>
            </a:p>
          </p:txBody>
        </p:sp>
        <p:sp>
          <p:nvSpPr>
            <p:cNvPr id="18" name="TextBox 17">
              <a:extLst>
                <a:ext uri="{FF2B5EF4-FFF2-40B4-BE49-F238E27FC236}">
                  <a16:creationId xmlns:a16="http://schemas.microsoft.com/office/drawing/2014/main" id="{E84481C6-12BF-5EC5-572C-A36D7E467AC5}"/>
                </a:ext>
              </a:extLst>
            </p:cNvPr>
            <p:cNvSpPr txBox="1"/>
            <p:nvPr/>
          </p:nvSpPr>
          <p:spPr>
            <a:xfrm>
              <a:off x="-1100226" y="5892249"/>
              <a:ext cx="1580626" cy="523220"/>
            </a:xfrm>
            <a:prstGeom prst="rect">
              <a:avLst/>
            </a:prstGeom>
            <a:noFill/>
          </p:spPr>
          <p:txBody>
            <a:bodyPr wrap="none" rtlCol="0">
              <a:spAutoFit/>
            </a:bodyPr>
            <a:lstStyle/>
            <a:p>
              <a:pPr algn="l"/>
              <a:r>
                <a:rPr lang="en-GB" sz="1400"/>
                <a:t>No MOL </a:t>
              </a:r>
              <a:r>
                <a:rPr lang="en-GB" sz="1400" err="1"/>
                <a:t>proxmox</a:t>
              </a:r>
              <a:endParaRPr lang="en-GB" sz="1400"/>
            </a:p>
            <a:p>
              <a:pPr algn="l"/>
              <a:r>
                <a:rPr lang="en-GB" sz="1400"/>
                <a:t>In Reading</a:t>
              </a:r>
            </a:p>
          </p:txBody>
        </p:sp>
        <p:pic>
          <p:nvPicPr>
            <p:cNvPr id="20" name="Picture 36" descr="Linux Logo and symbol, meaning, history, PNG, brand">
              <a:extLst>
                <a:ext uri="{FF2B5EF4-FFF2-40B4-BE49-F238E27FC236}">
                  <a16:creationId xmlns:a16="http://schemas.microsoft.com/office/drawing/2014/main" id="{81CBB2B2-C370-A369-D48D-7EF0D09BAFDD}"/>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69909" y="9086634"/>
              <a:ext cx="648466" cy="716280"/>
            </a:xfrm>
            <a:prstGeom prst="rect">
              <a:avLst/>
            </a:prstGeom>
            <a:noFill/>
            <a:extLst>
              <a:ext uri="{909E8E84-426E-40DD-AFC4-6F175D3DCCD1}">
                <a14:hiddenFill xmlns:a14="http://schemas.microsoft.com/office/drawing/2010/main">
                  <a:solidFill>
                    <a:srgbClr val="FFFFFF"/>
                  </a:solidFill>
                </a14:hiddenFill>
              </a:ext>
            </a:extLst>
          </p:spPr>
        </p:pic>
        <p:sp>
          <p:nvSpPr>
            <p:cNvPr id="63" name="TextBox 62">
              <a:extLst>
                <a:ext uri="{FF2B5EF4-FFF2-40B4-BE49-F238E27FC236}">
                  <a16:creationId xmlns:a16="http://schemas.microsoft.com/office/drawing/2014/main" id="{ECF1CD20-2D5B-C346-FB97-10A8722EE4FA}"/>
                </a:ext>
              </a:extLst>
            </p:cNvPr>
            <p:cNvSpPr txBox="1"/>
            <p:nvPr/>
          </p:nvSpPr>
          <p:spPr>
            <a:xfrm>
              <a:off x="-1111737" y="6680032"/>
              <a:ext cx="2027478" cy="523220"/>
            </a:xfrm>
            <a:prstGeom prst="rect">
              <a:avLst/>
            </a:prstGeom>
            <a:noFill/>
          </p:spPr>
          <p:txBody>
            <a:bodyPr wrap="none" rtlCol="0">
              <a:spAutoFit/>
            </a:bodyPr>
            <a:lstStyle/>
            <a:p>
              <a:pPr algn="l"/>
              <a:r>
                <a:rPr lang="en-GB" sz="1400"/>
                <a:t>ANL </a:t>
              </a:r>
              <a:r>
                <a:rPr lang="en-GB" sz="1400" err="1"/>
                <a:t>proxmox</a:t>
              </a:r>
              <a:endParaRPr lang="en-GB" sz="1400"/>
            </a:p>
            <a:p>
              <a:pPr algn="l"/>
              <a:r>
                <a:rPr lang="en-GB" sz="1400"/>
                <a:t>Reading – TEST ONLY</a:t>
              </a:r>
            </a:p>
          </p:txBody>
        </p:sp>
      </p:grpSp>
      <p:pic>
        <p:nvPicPr>
          <p:cNvPr id="1062" name="Picture 38" descr="Daten Lager Symbol Logo Zeichen Gliederung 47567262 Vektor Kunst bei  Vecteezy">
            <a:extLst>
              <a:ext uri="{FF2B5EF4-FFF2-40B4-BE49-F238E27FC236}">
                <a16:creationId xmlns:a16="http://schemas.microsoft.com/office/drawing/2014/main" id="{D1697266-4FC6-1496-09B2-D1918FDB4ED7}"/>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8499001" y="5252232"/>
            <a:ext cx="1466541" cy="1466541"/>
          </a:xfrm>
          <a:prstGeom prst="rect">
            <a:avLst/>
          </a:prstGeom>
          <a:noFill/>
          <a:extLst>
            <a:ext uri="{909E8E84-426E-40DD-AFC4-6F175D3DCCD1}">
              <a14:hiddenFill xmlns:a14="http://schemas.microsoft.com/office/drawing/2010/main">
                <a:solidFill>
                  <a:srgbClr val="FFFFFF"/>
                </a:solidFill>
              </a14:hiddenFill>
            </a:ext>
          </a:extLst>
        </p:spPr>
      </p:pic>
      <p:pic>
        <p:nvPicPr>
          <p:cNvPr id="1064" name="Picture 40" descr="Data storage icon 47743880 Vector Art at Vecteezy">
            <a:extLst>
              <a:ext uri="{FF2B5EF4-FFF2-40B4-BE49-F238E27FC236}">
                <a16:creationId xmlns:a16="http://schemas.microsoft.com/office/drawing/2014/main" id="{1CB5B4D9-4AF3-DA62-24D5-E57AEC5F16C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847714" y="8321377"/>
            <a:ext cx="845739" cy="845739"/>
          </a:xfrm>
          <a:prstGeom prst="rect">
            <a:avLst/>
          </a:prstGeom>
          <a:noFill/>
          <a:extLst>
            <a:ext uri="{909E8E84-426E-40DD-AFC4-6F175D3DCCD1}">
              <a14:hiddenFill xmlns:a14="http://schemas.microsoft.com/office/drawing/2010/main">
                <a:solidFill>
                  <a:srgbClr val="FFFFFF"/>
                </a:solidFill>
              </a14:hiddenFill>
            </a:ext>
          </a:extLst>
        </p:spPr>
      </p:pic>
      <p:grpSp>
        <p:nvGrpSpPr>
          <p:cNvPr id="40" name="Group 39">
            <a:extLst>
              <a:ext uri="{FF2B5EF4-FFF2-40B4-BE49-F238E27FC236}">
                <a16:creationId xmlns:a16="http://schemas.microsoft.com/office/drawing/2014/main" id="{30EEA640-C630-F892-7290-5F9006C93E9F}"/>
              </a:ext>
            </a:extLst>
          </p:cNvPr>
          <p:cNvGrpSpPr/>
          <p:nvPr/>
        </p:nvGrpSpPr>
        <p:grpSpPr>
          <a:xfrm>
            <a:off x="8281224" y="3209337"/>
            <a:ext cx="2087795" cy="1549571"/>
            <a:chOff x="8374419" y="2790095"/>
            <a:chExt cx="2087795" cy="1549571"/>
          </a:xfrm>
        </p:grpSpPr>
        <p:pic>
          <p:nvPicPr>
            <p:cNvPr id="1036" name="Picture 12" descr="Virtual machine vector image | Free SVG">
              <a:extLst>
                <a:ext uri="{FF2B5EF4-FFF2-40B4-BE49-F238E27FC236}">
                  <a16:creationId xmlns:a16="http://schemas.microsoft.com/office/drawing/2014/main" id="{62672130-5AAE-79ED-F375-23E75B3C05D1}"/>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677204" y="2790095"/>
              <a:ext cx="1313818" cy="1549571"/>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884FFA0B-8AB8-BB59-08D0-EC51D014B5EA}"/>
                </a:ext>
              </a:extLst>
            </p:cNvPr>
            <p:cNvSpPr txBox="1"/>
            <p:nvPr/>
          </p:nvSpPr>
          <p:spPr>
            <a:xfrm>
              <a:off x="8374419" y="3887975"/>
              <a:ext cx="2087795" cy="369332"/>
            </a:xfrm>
            <a:prstGeom prst="rect">
              <a:avLst/>
            </a:prstGeom>
            <a:noFill/>
          </p:spPr>
          <p:txBody>
            <a:bodyPr wrap="square" rtlCol="0">
              <a:spAutoFit/>
            </a:bodyPr>
            <a:lstStyle/>
            <a:p>
              <a:pPr algn="l"/>
              <a:r>
                <a:rPr lang="en-GB" sz="1800"/>
                <a:t>Virtual Appliances</a:t>
              </a:r>
            </a:p>
          </p:txBody>
        </p:sp>
      </p:grpSp>
      <p:sp>
        <p:nvSpPr>
          <p:cNvPr id="7" name="TextBox 6">
            <a:extLst>
              <a:ext uri="{FF2B5EF4-FFF2-40B4-BE49-F238E27FC236}">
                <a16:creationId xmlns:a16="http://schemas.microsoft.com/office/drawing/2014/main" id="{00461E66-B50C-F179-E23C-64130E4308AC}"/>
              </a:ext>
            </a:extLst>
          </p:cNvPr>
          <p:cNvSpPr txBox="1"/>
          <p:nvPr/>
        </p:nvSpPr>
        <p:spPr>
          <a:xfrm>
            <a:off x="21000913" y="3195548"/>
            <a:ext cx="2351991" cy="369332"/>
          </a:xfrm>
          <a:prstGeom prst="rect">
            <a:avLst/>
          </a:prstGeom>
          <a:noFill/>
        </p:spPr>
        <p:txBody>
          <a:bodyPr wrap="none" rtlCol="0">
            <a:spAutoFit/>
          </a:bodyPr>
          <a:lstStyle/>
          <a:p>
            <a:pPr algn="l"/>
            <a:r>
              <a:rPr lang="en-GB" sz="1800"/>
              <a:t>Physical Appliances?</a:t>
            </a:r>
          </a:p>
        </p:txBody>
      </p:sp>
      <p:pic>
        <p:nvPicPr>
          <p:cNvPr id="1066" name="Picture 42" descr="Tenable vs Nessus, what is the difference? - S4 Applications">
            <a:extLst>
              <a:ext uri="{FF2B5EF4-FFF2-40B4-BE49-F238E27FC236}">
                <a16:creationId xmlns:a16="http://schemas.microsoft.com/office/drawing/2014/main" id="{A46BF5B2-9C09-A37F-9802-F0FE0441CE15}"/>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632326" y="5379181"/>
            <a:ext cx="1015914" cy="677276"/>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42" descr="Tenable vs Nessus, what is the difference? - S4 Applications">
            <a:extLst>
              <a:ext uri="{FF2B5EF4-FFF2-40B4-BE49-F238E27FC236}">
                <a16:creationId xmlns:a16="http://schemas.microsoft.com/office/drawing/2014/main" id="{ED8DFC3C-89BF-BDC9-42FF-9540948CCAD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632326" y="8131407"/>
            <a:ext cx="1015914" cy="677276"/>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42" descr="Tenable vs Nessus, what is the difference? - S4 Applications">
            <a:extLst>
              <a:ext uri="{FF2B5EF4-FFF2-40B4-BE49-F238E27FC236}">
                <a16:creationId xmlns:a16="http://schemas.microsoft.com/office/drawing/2014/main" id="{D73C6AFB-0CF5-BFB3-7AAA-8BAC0097E4FD}"/>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59318" y="10815699"/>
            <a:ext cx="1015914" cy="677276"/>
          </a:xfrm>
          <a:prstGeom prst="rect">
            <a:avLst/>
          </a:prstGeom>
          <a:noFill/>
          <a:extLst>
            <a:ext uri="{909E8E84-426E-40DD-AFC4-6F175D3DCCD1}">
              <a14:hiddenFill xmlns:a14="http://schemas.microsoft.com/office/drawing/2010/main">
                <a:solidFill>
                  <a:srgbClr val="FFFFFF"/>
                </a:solidFill>
              </a14:hiddenFill>
            </a:ext>
          </a:extLst>
        </p:spPr>
      </p:pic>
      <p:pic>
        <p:nvPicPr>
          <p:cNvPr id="1068" name="Picture 44" descr="AWS Marketplace: Guardicore">
            <a:extLst>
              <a:ext uri="{FF2B5EF4-FFF2-40B4-BE49-F238E27FC236}">
                <a16:creationId xmlns:a16="http://schemas.microsoft.com/office/drawing/2014/main" id="{A262305C-5057-AA46-01FE-EBFEE358862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66676" y="6197579"/>
            <a:ext cx="1466542" cy="677276"/>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44" descr="AWS Marketplace: Guardicore">
            <a:extLst>
              <a:ext uri="{FF2B5EF4-FFF2-40B4-BE49-F238E27FC236}">
                <a16:creationId xmlns:a16="http://schemas.microsoft.com/office/drawing/2014/main" id="{984D053A-00F9-4BDE-481E-5B0BB5C0C85A}"/>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605113" y="8953885"/>
            <a:ext cx="1466542" cy="677276"/>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44" descr="AWS Marketplace: Guardicore">
            <a:extLst>
              <a:ext uri="{FF2B5EF4-FFF2-40B4-BE49-F238E27FC236}">
                <a16:creationId xmlns:a16="http://schemas.microsoft.com/office/drawing/2014/main" id="{253E6714-FE66-697B-9135-65DE39E29CBC}"/>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503246" y="11491640"/>
            <a:ext cx="1466542" cy="677276"/>
          </a:xfrm>
          <a:prstGeom prst="rect">
            <a:avLst/>
          </a:prstGeom>
          <a:noFill/>
          <a:extLst>
            <a:ext uri="{909E8E84-426E-40DD-AFC4-6F175D3DCCD1}">
              <a14:hiddenFill xmlns:a14="http://schemas.microsoft.com/office/drawing/2010/main">
                <a:solidFill>
                  <a:srgbClr val="FFFFFF"/>
                </a:solidFill>
              </a14:hiddenFill>
            </a:ext>
          </a:extLst>
        </p:spPr>
      </p:pic>
      <p:pic>
        <p:nvPicPr>
          <p:cNvPr id="1070" name="Picture 46" descr="VMware Horizon">
            <a:extLst>
              <a:ext uri="{FF2B5EF4-FFF2-40B4-BE49-F238E27FC236}">
                <a16:creationId xmlns:a16="http://schemas.microsoft.com/office/drawing/2014/main" id="{6A52E599-0E15-2D8C-AC81-5579154DC1CC}"/>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517888" y="6798997"/>
            <a:ext cx="1552538" cy="895695"/>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46" descr="VMware Horizon">
            <a:extLst>
              <a:ext uri="{FF2B5EF4-FFF2-40B4-BE49-F238E27FC236}">
                <a16:creationId xmlns:a16="http://schemas.microsoft.com/office/drawing/2014/main" id="{A08E1264-6C35-D8DC-759D-19B95E28442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515578" y="9668935"/>
            <a:ext cx="1552538" cy="895695"/>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a:extLst>
              <a:ext uri="{FF2B5EF4-FFF2-40B4-BE49-F238E27FC236}">
                <a16:creationId xmlns:a16="http://schemas.microsoft.com/office/drawing/2014/main" id="{EFC14B4A-5C00-1BE7-8271-036219231E3E}"/>
              </a:ext>
            </a:extLst>
          </p:cNvPr>
          <p:cNvSpPr/>
          <p:nvPr/>
        </p:nvSpPr>
        <p:spPr>
          <a:xfrm>
            <a:off x="3843294" y="2663067"/>
            <a:ext cx="8536556" cy="9785607"/>
          </a:xfrm>
          <a:prstGeom prst="rect">
            <a:avLst/>
          </a:prstGeom>
          <a:no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8" name="TextBox 27">
            <a:extLst>
              <a:ext uri="{FF2B5EF4-FFF2-40B4-BE49-F238E27FC236}">
                <a16:creationId xmlns:a16="http://schemas.microsoft.com/office/drawing/2014/main" id="{22201179-8A18-E993-76C0-7AFD63A24AA0}"/>
              </a:ext>
            </a:extLst>
          </p:cNvPr>
          <p:cNvSpPr txBox="1"/>
          <p:nvPr/>
        </p:nvSpPr>
        <p:spPr>
          <a:xfrm>
            <a:off x="21437574" y="9186546"/>
            <a:ext cx="1309974" cy="307777"/>
          </a:xfrm>
          <a:prstGeom prst="rect">
            <a:avLst/>
          </a:prstGeom>
          <a:noFill/>
        </p:spPr>
        <p:txBody>
          <a:bodyPr wrap="none" rtlCol="0">
            <a:spAutoFit/>
          </a:bodyPr>
          <a:lstStyle/>
          <a:p>
            <a:pPr algn="l"/>
            <a:r>
              <a:rPr lang="en-GB" sz="1400"/>
              <a:t>ECO3 Courier</a:t>
            </a:r>
          </a:p>
        </p:txBody>
      </p:sp>
      <p:sp>
        <p:nvSpPr>
          <p:cNvPr id="30" name="TextBox 29">
            <a:extLst>
              <a:ext uri="{FF2B5EF4-FFF2-40B4-BE49-F238E27FC236}">
                <a16:creationId xmlns:a16="http://schemas.microsoft.com/office/drawing/2014/main" id="{F442C61D-46C5-9E16-1C75-7730D6AD338F}"/>
              </a:ext>
            </a:extLst>
          </p:cNvPr>
          <p:cNvSpPr txBox="1"/>
          <p:nvPr/>
        </p:nvSpPr>
        <p:spPr>
          <a:xfrm>
            <a:off x="21679344" y="6819276"/>
            <a:ext cx="736289" cy="307777"/>
          </a:xfrm>
          <a:prstGeom prst="rect">
            <a:avLst/>
          </a:prstGeom>
          <a:noFill/>
        </p:spPr>
        <p:txBody>
          <a:bodyPr wrap="square">
            <a:spAutoFit/>
          </a:bodyPr>
          <a:lstStyle/>
          <a:p>
            <a:pPr algn="l"/>
            <a:r>
              <a:rPr lang="en-GB" sz="1400"/>
              <a:t>CHP</a:t>
            </a:r>
          </a:p>
        </p:txBody>
      </p:sp>
      <p:pic>
        <p:nvPicPr>
          <p:cNvPr id="1072" name="Picture 48" descr="SPHINX CONNECT - Digi AnywhereUSB 2">
            <a:extLst>
              <a:ext uri="{FF2B5EF4-FFF2-40B4-BE49-F238E27FC236}">
                <a16:creationId xmlns:a16="http://schemas.microsoft.com/office/drawing/2014/main" id="{06976442-425A-E491-C474-3A9FD379A0F8}"/>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437574" y="9399317"/>
            <a:ext cx="1163320" cy="825957"/>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a:extLst>
              <a:ext uri="{FF2B5EF4-FFF2-40B4-BE49-F238E27FC236}">
                <a16:creationId xmlns:a16="http://schemas.microsoft.com/office/drawing/2014/main" id="{E05AB222-724E-17C3-588D-4626CE601633}"/>
              </a:ext>
            </a:extLst>
          </p:cNvPr>
          <p:cNvSpPr txBox="1"/>
          <p:nvPr/>
        </p:nvSpPr>
        <p:spPr>
          <a:xfrm>
            <a:off x="21318561" y="10049379"/>
            <a:ext cx="1401346" cy="307777"/>
          </a:xfrm>
          <a:prstGeom prst="rect">
            <a:avLst/>
          </a:prstGeom>
          <a:noFill/>
        </p:spPr>
        <p:txBody>
          <a:bodyPr wrap="none" rtlCol="0">
            <a:spAutoFit/>
          </a:bodyPr>
          <a:lstStyle/>
          <a:p>
            <a:pPr algn="l"/>
            <a:r>
              <a:rPr lang="en-GB" sz="1400"/>
              <a:t>Anywhere USB</a:t>
            </a:r>
          </a:p>
        </p:txBody>
      </p:sp>
      <p:sp>
        <p:nvSpPr>
          <p:cNvPr id="33" name="TextBox 32">
            <a:extLst>
              <a:ext uri="{FF2B5EF4-FFF2-40B4-BE49-F238E27FC236}">
                <a16:creationId xmlns:a16="http://schemas.microsoft.com/office/drawing/2014/main" id="{09CFB790-6859-7023-D60C-A6F2DFC32DFB}"/>
              </a:ext>
            </a:extLst>
          </p:cNvPr>
          <p:cNvSpPr txBox="1"/>
          <p:nvPr/>
        </p:nvSpPr>
        <p:spPr>
          <a:xfrm>
            <a:off x="15422958" y="5132545"/>
            <a:ext cx="1552538" cy="304919"/>
          </a:xfrm>
          <a:prstGeom prst="rect">
            <a:avLst/>
          </a:prstGeom>
          <a:noFill/>
        </p:spPr>
        <p:txBody>
          <a:bodyPr wrap="square" rtlCol="0">
            <a:spAutoFit/>
          </a:bodyPr>
          <a:lstStyle/>
          <a:p>
            <a:pPr algn="l"/>
            <a:r>
              <a:rPr lang="en-GB" sz="1400"/>
              <a:t>6 x HPE 480 G11</a:t>
            </a:r>
          </a:p>
        </p:txBody>
      </p:sp>
      <p:sp>
        <p:nvSpPr>
          <p:cNvPr id="34" name="TextBox 33">
            <a:extLst>
              <a:ext uri="{FF2B5EF4-FFF2-40B4-BE49-F238E27FC236}">
                <a16:creationId xmlns:a16="http://schemas.microsoft.com/office/drawing/2014/main" id="{DEB723DE-A0AC-8881-5782-95371632350F}"/>
              </a:ext>
            </a:extLst>
          </p:cNvPr>
          <p:cNvSpPr txBox="1"/>
          <p:nvPr/>
        </p:nvSpPr>
        <p:spPr>
          <a:xfrm>
            <a:off x="15971584" y="5437464"/>
            <a:ext cx="428322" cy="369332"/>
          </a:xfrm>
          <a:prstGeom prst="rect">
            <a:avLst/>
          </a:prstGeom>
          <a:noFill/>
        </p:spPr>
        <p:txBody>
          <a:bodyPr wrap="none" rtlCol="0">
            <a:spAutoFit/>
          </a:bodyPr>
          <a:lstStyle/>
          <a:p>
            <a:pPr algn="l"/>
            <a:r>
              <a:rPr lang="en-GB" sz="1800"/>
              <a:t>3x</a:t>
            </a:r>
          </a:p>
        </p:txBody>
      </p:sp>
      <p:sp>
        <p:nvSpPr>
          <p:cNvPr id="35" name="TextBox 34">
            <a:extLst>
              <a:ext uri="{FF2B5EF4-FFF2-40B4-BE49-F238E27FC236}">
                <a16:creationId xmlns:a16="http://schemas.microsoft.com/office/drawing/2014/main" id="{C20A7026-67EA-D9F8-BCDF-028804758B86}"/>
              </a:ext>
            </a:extLst>
          </p:cNvPr>
          <p:cNvSpPr txBox="1"/>
          <p:nvPr/>
        </p:nvSpPr>
        <p:spPr>
          <a:xfrm>
            <a:off x="16023592" y="8261035"/>
            <a:ext cx="428322" cy="369332"/>
          </a:xfrm>
          <a:prstGeom prst="rect">
            <a:avLst/>
          </a:prstGeom>
          <a:noFill/>
        </p:spPr>
        <p:txBody>
          <a:bodyPr wrap="none" rtlCol="0">
            <a:spAutoFit/>
          </a:bodyPr>
          <a:lstStyle/>
          <a:p>
            <a:pPr algn="l"/>
            <a:r>
              <a:rPr lang="en-GB" sz="1800"/>
              <a:t>3x</a:t>
            </a:r>
          </a:p>
        </p:txBody>
      </p:sp>
      <p:pic>
        <p:nvPicPr>
          <p:cNvPr id="36" name="Picture 28">
            <a:extLst>
              <a:ext uri="{FF2B5EF4-FFF2-40B4-BE49-F238E27FC236}">
                <a16:creationId xmlns:a16="http://schemas.microsoft.com/office/drawing/2014/main" id="{AED0FDB9-C038-0F54-C908-7420FFB3945A}"/>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1403601" y="9612104"/>
            <a:ext cx="879467" cy="713885"/>
          </a:xfrm>
          <a:prstGeom prst="rect">
            <a:avLst/>
          </a:prstGeom>
          <a:noFill/>
          <a:extLst>
            <a:ext uri="{909E8E84-426E-40DD-AFC4-6F175D3DCCD1}">
              <a14:hiddenFill xmlns:a14="http://schemas.microsoft.com/office/drawing/2010/main">
                <a:solidFill>
                  <a:srgbClr val="FFFFFF"/>
                </a:solidFill>
              </a14:hiddenFill>
            </a:ext>
          </a:extLst>
        </p:spPr>
      </p:pic>
      <p:pic>
        <p:nvPicPr>
          <p:cNvPr id="1074" name="Picture 50" descr="Oracle Solaris - Wikipedia">
            <a:extLst>
              <a:ext uri="{FF2B5EF4-FFF2-40B4-BE49-F238E27FC236}">
                <a16:creationId xmlns:a16="http://schemas.microsoft.com/office/drawing/2014/main" id="{6AF224B2-49E6-15D6-5A0F-CC170FAC353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929395" y="8421498"/>
            <a:ext cx="771164" cy="601508"/>
          </a:xfrm>
          <a:prstGeom prst="rect">
            <a:avLst/>
          </a:prstGeom>
          <a:noFill/>
          <a:extLst>
            <a:ext uri="{909E8E84-426E-40DD-AFC4-6F175D3DCCD1}">
              <a14:hiddenFill xmlns:a14="http://schemas.microsoft.com/office/drawing/2010/main">
                <a:solidFill>
                  <a:srgbClr val="FFFFFF"/>
                </a:solidFill>
              </a14:hiddenFill>
            </a:ext>
          </a:extLst>
        </p:spPr>
      </p:pic>
      <p:sp>
        <p:nvSpPr>
          <p:cNvPr id="38" name="TextBox 37">
            <a:extLst>
              <a:ext uri="{FF2B5EF4-FFF2-40B4-BE49-F238E27FC236}">
                <a16:creationId xmlns:a16="http://schemas.microsoft.com/office/drawing/2014/main" id="{03FA6EA3-B60C-99CE-E41F-E316381081E3}"/>
              </a:ext>
            </a:extLst>
          </p:cNvPr>
          <p:cNvSpPr txBox="1"/>
          <p:nvPr/>
        </p:nvSpPr>
        <p:spPr>
          <a:xfrm>
            <a:off x="5656949" y="5987314"/>
            <a:ext cx="1656223" cy="307777"/>
          </a:xfrm>
          <a:prstGeom prst="rect">
            <a:avLst/>
          </a:prstGeom>
          <a:noFill/>
        </p:spPr>
        <p:txBody>
          <a:bodyPr wrap="none" rtlCol="0">
            <a:spAutoFit/>
          </a:bodyPr>
          <a:lstStyle/>
          <a:p>
            <a:pPr algn="l"/>
            <a:r>
              <a:rPr lang="en-GB" sz="1400"/>
              <a:t>6 x Reading - prod</a:t>
            </a:r>
          </a:p>
        </p:txBody>
      </p:sp>
      <p:pic>
        <p:nvPicPr>
          <p:cNvPr id="41" name="Picture 28">
            <a:extLst>
              <a:ext uri="{FF2B5EF4-FFF2-40B4-BE49-F238E27FC236}">
                <a16:creationId xmlns:a16="http://schemas.microsoft.com/office/drawing/2014/main" id="{8B3308D7-D38E-538B-F950-8BFFE61F859B}"/>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5793045" y="8691980"/>
            <a:ext cx="879467" cy="713885"/>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28">
            <a:extLst>
              <a:ext uri="{FF2B5EF4-FFF2-40B4-BE49-F238E27FC236}">
                <a16:creationId xmlns:a16="http://schemas.microsoft.com/office/drawing/2014/main" id="{7AD9FFC5-C373-CA31-3BB8-4A48A886F6F1}"/>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5823849" y="5799803"/>
            <a:ext cx="879467" cy="713885"/>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22">
            <a:extLst>
              <a:ext uri="{FF2B5EF4-FFF2-40B4-BE49-F238E27FC236}">
                <a16:creationId xmlns:a16="http://schemas.microsoft.com/office/drawing/2014/main" id="{B8D86C40-39EA-9A13-1043-9287221F45D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505934" y="5912558"/>
            <a:ext cx="660834" cy="935741"/>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6" descr="MySQL logo PNG transparent image download, size: 1280x1280px">
            <a:extLst>
              <a:ext uri="{FF2B5EF4-FFF2-40B4-BE49-F238E27FC236}">
                <a16:creationId xmlns:a16="http://schemas.microsoft.com/office/drawing/2014/main" id="{3388810A-D9AF-1BAC-40D6-12505FB88C3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503187" y="5225835"/>
            <a:ext cx="610350" cy="610350"/>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28">
            <a:extLst>
              <a:ext uri="{FF2B5EF4-FFF2-40B4-BE49-F238E27FC236}">
                <a16:creationId xmlns:a16="http://schemas.microsoft.com/office/drawing/2014/main" id="{9D9976DB-9A54-EA64-D88A-80556DAC014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1345451" y="6780415"/>
            <a:ext cx="879467" cy="713885"/>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34" descr="windows logo PNG transparent image download, size: 1960x1840px">
            <a:extLst>
              <a:ext uri="{FF2B5EF4-FFF2-40B4-BE49-F238E27FC236}">
                <a16:creationId xmlns:a16="http://schemas.microsoft.com/office/drawing/2014/main" id="{88E13005-780F-93FC-0961-0975BA9BC92B}"/>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14841" y="11601268"/>
            <a:ext cx="648465" cy="608794"/>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36" descr="Linux Logo and symbol, meaning, history, PNG, brand">
            <a:extLst>
              <a:ext uri="{FF2B5EF4-FFF2-40B4-BE49-F238E27FC236}">
                <a16:creationId xmlns:a16="http://schemas.microsoft.com/office/drawing/2014/main" id="{E2F36252-AEA4-1540-FE45-4B7FCD79B95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14841" y="10816763"/>
            <a:ext cx="648466" cy="716280"/>
          </a:xfrm>
          <a:prstGeom prst="rect">
            <a:avLst/>
          </a:prstGeom>
          <a:noFill/>
          <a:extLst>
            <a:ext uri="{909E8E84-426E-40DD-AFC4-6F175D3DCCD1}">
              <a14:hiddenFill xmlns:a14="http://schemas.microsoft.com/office/drawing/2010/main">
                <a:solidFill>
                  <a:srgbClr val="FFFFFF"/>
                </a:solidFill>
              </a14:hiddenFill>
            </a:ext>
          </a:extLst>
        </p:spPr>
      </p:pic>
      <p:sp>
        <p:nvSpPr>
          <p:cNvPr id="48" name="TextBox 47">
            <a:extLst>
              <a:ext uri="{FF2B5EF4-FFF2-40B4-BE49-F238E27FC236}">
                <a16:creationId xmlns:a16="http://schemas.microsoft.com/office/drawing/2014/main" id="{8E480AA3-BFB8-2BA4-B9E0-89A19CF60FE7}"/>
              </a:ext>
            </a:extLst>
          </p:cNvPr>
          <p:cNvSpPr txBox="1"/>
          <p:nvPr/>
        </p:nvSpPr>
        <p:spPr>
          <a:xfrm>
            <a:off x="8270414" y="11097903"/>
            <a:ext cx="428322" cy="369332"/>
          </a:xfrm>
          <a:prstGeom prst="rect">
            <a:avLst/>
          </a:prstGeom>
          <a:noFill/>
        </p:spPr>
        <p:txBody>
          <a:bodyPr wrap="none" rtlCol="0">
            <a:spAutoFit/>
          </a:bodyPr>
          <a:lstStyle/>
          <a:p>
            <a:pPr algn="l"/>
            <a:r>
              <a:rPr lang="en-GB"/>
              <a:t>4</a:t>
            </a:r>
            <a:r>
              <a:rPr lang="en-GB" sz="1800"/>
              <a:t>x</a:t>
            </a:r>
          </a:p>
        </p:txBody>
      </p:sp>
      <p:sp>
        <p:nvSpPr>
          <p:cNvPr id="49" name="TextBox 48">
            <a:extLst>
              <a:ext uri="{FF2B5EF4-FFF2-40B4-BE49-F238E27FC236}">
                <a16:creationId xmlns:a16="http://schemas.microsoft.com/office/drawing/2014/main" id="{71491D25-873A-6DB4-7584-D2A245A2E6DA}"/>
              </a:ext>
            </a:extLst>
          </p:cNvPr>
          <p:cNvSpPr txBox="1"/>
          <p:nvPr/>
        </p:nvSpPr>
        <p:spPr>
          <a:xfrm>
            <a:off x="8083097" y="11664589"/>
            <a:ext cx="428322" cy="369332"/>
          </a:xfrm>
          <a:prstGeom prst="rect">
            <a:avLst/>
          </a:prstGeom>
          <a:noFill/>
        </p:spPr>
        <p:txBody>
          <a:bodyPr wrap="none" rtlCol="0">
            <a:spAutoFit/>
          </a:bodyPr>
          <a:lstStyle/>
          <a:p>
            <a:pPr algn="l"/>
            <a:r>
              <a:rPr lang="en-GB" sz="1800"/>
              <a:t>2x</a:t>
            </a:r>
          </a:p>
        </p:txBody>
      </p:sp>
      <p:sp>
        <p:nvSpPr>
          <p:cNvPr id="50" name="TextBox 49">
            <a:extLst>
              <a:ext uri="{FF2B5EF4-FFF2-40B4-BE49-F238E27FC236}">
                <a16:creationId xmlns:a16="http://schemas.microsoft.com/office/drawing/2014/main" id="{3D1F6AEA-20D7-7BA3-3397-796AA41CD08E}"/>
              </a:ext>
            </a:extLst>
          </p:cNvPr>
          <p:cNvSpPr txBox="1"/>
          <p:nvPr/>
        </p:nvSpPr>
        <p:spPr>
          <a:xfrm>
            <a:off x="4042003" y="11029033"/>
            <a:ext cx="556563" cy="369332"/>
          </a:xfrm>
          <a:prstGeom prst="rect">
            <a:avLst/>
          </a:prstGeom>
          <a:noFill/>
        </p:spPr>
        <p:txBody>
          <a:bodyPr wrap="none" rtlCol="0">
            <a:spAutoFit/>
          </a:bodyPr>
          <a:lstStyle/>
          <a:p>
            <a:pPr algn="l"/>
            <a:r>
              <a:rPr lang="en-GB"/>
              <a:t>29</a:t>
            </a:r>
            <a:r>
              <a:rPr lang="en-GB" sz="1800"/>
              <a:t>x</a:t>
            </a:r>
          </a:p>
        </p:txBody>
      </p:sp>
      <p:sp>
        <p:nvSpPr>
          <p:cNvPr id="51" name="TextBox 50">
            <a:extLst>
              <a:ext uri="{FF2B5EF4-FFF2-40B4-BE49-F238E27FC236}">
                <a16:creationId xmlns:a16="http://schemas.microsoft.com/office/drawing/2014/main" id="{8502F281-86B1-B15E-FCB1-24FA0929BE7A}"/>
              </a:ext>
            </a:extLst>
          </p:cNvPr>
          <p:cNvSpPr txBox="1"/>
          <p:nvPr/>
        </p:nvSpPr>
        <p:spPr>
          <a:xfrm>
            <a:off x="4052111" y="11763205"/>
            <a:ext cx="428322" cy="369332"/>
          </a:xfrm>
          <a:prstGeom prst="rect">
            <a:avLst/>
          </a:prstGeom>
          <a:noFill/>
        </p:spPr>
        <p:txBody>
          <a:bodyPr wrap="none" rtlCol="0">
            <a:spAutoFit/>
          </a:bodyPr>
          <a:lstStyle/>
          <a:p>
            <a:pPr algn="l"/>
            <a:r>
              <a:rPr lang="en-GB" sz="1800"/>
              <a:t>3x</a:t>
            </a:r>
          </a:p>
        </p:txBody>
      </p:sp>
      <p:pic>
        <p:nvPicPr>
          <p:cNvPr id="52" name="Picture 34" descr="windows logo PNG transparent image download, size: 1960x1840px">
            <a:extLst>
              <a:ext uri="{FF2B5EF4-FFF2-40B4-BE49-F238E27FC236}">
                <a16:creationId xmlns:a16="http://schemas.microsoft.com/office/drawing/2014/main" id="{5B42A86C-1FE7-B019-1086-69D03181F5A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23183" y="9283409"/>
            <a:ext cx="648465" cy="608794"/>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36" descr="Linux Logo and symbol, meaning, history, PNG, brand">
            <a:extLst>
              <a:ext uri="{FF2B5EF4-FFF2-40B4-BE49-F238E27FC236}">
                <a16:creationId xmlns:a16="http://schemas.microsoft.com/office/drawing/2014/main" id="{BE663DB4-3175-7E4A-6163-E1EBEAA11A7F}"/>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23183" y="8498904"/>
            <a:ext cx="648466" cy="716280"/>
          </a:xfrm>
          <a:prstGeom prst="rect">
            <a:avLst/>
          </a:prstGeom>
          <a:noFill/>
          <a:extLst>
            <a:ext uri="{909E8E84-426E-40DD-AFC4-6F175D3DCCD1}">
              <a14:hiddenFill xmlns:a14="http://schemas.microsoft.com/office/drawing/2010/main">
                <a:solidFill>
                  <a:srgbClr val="FFFFFF"/>
                </a:solidFill>
              </a14:hiddenFill>
            </a:ext>
          </a:extLst>
        </p:spPr>
      </p:pic>
      <p:sp>
        <p:nvSpPr>
          <p:cNvPr id="54" name="TextBox 53">
            <a:extLst>
              <a:ext uri="{FF2B5EF4-FFF2-40B4-BE49-F238E27FC236}">
                <a16:creationId xmlns:a16="http://schemas.microsoft.com/office/drawing/2014/main" id="{274F1617-A5A0-CC58-6B16-0249F6201717}"/>
              </a:ext>
            </a:extLst>
          </p:cNvPr>
          <p:cNvSpPr txBox="1"/>
          <p:nvPr/>
        </p:nvSpPr>
        <p:spPr>
          <a:xfrm>
            <a:off x="512286" y="11355208"/>
            <a:ext cx="556563" cy="369332"/>
          </a:xfrm>
          <a:prstGeom prst="rect">
            <a:avLst/>
          </a:prstGeom>
          <a:noFill/>
        </p:spPr>
        <p:txBody>
          <a:bodyPr wrap="none" rtlCol="0">
            <a:spAutoFit/>
          </a:bodyPr>
          <a:lstStyle/>
          <a:p>
            <a:pPr algn="l"/>
            <a:r>
              <a:rPr lang="en-GB"/>
              <a:t>38</a:t>
            </a:r>
            <a:r>
              <a:rPr lang="en-GB" sz="1800"/>
              <a:t>x</a:t>
            </a:r>
          </a:p>
        </p:txBody>
      </p:sp>
      <p:sp>
        <p:nvSpPr>
          <p:cNvPr id="56" name="TextBox 55">
            <a:extLst>
              <a:ext uri="{FF2B5EF4-FFF2-40B4-BE49-F238E27FC236}">
                <a16:creationId xmlns:a16="http://schemas.microsoft.com/office/drawing/2014/main" id="{FF2C6053-423B-1DE6-C0FD-03DC7F831083}"/>
              </a:ext>
            </a:extLst>
          </p:cNvPr>
          <p:cNvSpPr txBox="1"/>
          <p:nvPr/>
        </p:nvSpPr>
        <p:spPr>
          <a:xfrm>
            <a:off x="10817800" y="7038485"/>
            <a:ext cx="428322" cy="369332"/>
          </a:xfrm>
          <a:prstGeom prst="rect">
            <a:avLst/>
          </a:prstGeom>
          <a:noFill/>
        </p:spPr>
        <p:txBody>
          <a:bodyPr wrap="none" rtlCol="0">
            <a:spAutoFit/>
          </a:bodyPr>
          <a:lstStyle/>
          <a:p>
            <a:pPr algn="l"/>
            <a:r>
              <a:rPr lang="en-GB"/>
              <a:t>9</a:t>
            </a:r>
            <a:r>
              <a:rPr lang="en-GB" sz="1800"/>
              <a:t>x</a:t>
            </a:r>
          </a:p>
        </p:txBody>
      </p:sp>
      <p:sp>
        <p:nvSpPr>
          <p:cNvPr id="57" name="TextBox 56">
            <a:extLst>
              <a:ext uri="{FF2B5EF4-FFF2-40B4-BE49-F238E27FC236}">
                <a16:creationId xmlns:a16="http://schemas.microsoft.com/office/drawing/2014/main" id="{F47B8002-8294-9C01-0514-96DB72297232}"/>
              </a:ext>
            </a:extLst>
          </p:cNvPr>
          <p:cNvSpPr txBox="1"/>
          <p:nvPr/>
        </p:nvSpPr>
        <p:spPr>
          <a:xfrm>
            <a:off x="10859733" y="9870188"/>
            <a:ext cx="556563" cy="369332"/>
          </a:xfrm>
          <a:prstGeom prst="rect">
            <a:avLst/>
          </a:prstGeom>
          <a:noFill/>
        </p:spPr>
        <p:txBody>
          <a:bodyPr wrap="none" rtlCol="0">
            <a:spAutoFit/>
          </a:bodyPr>
          <a:lstStyle/>
          <a:p>
            <a:pPr algn="l"/>
            <a:r>
              <a:rPr lang="en-GB" sz="1800"/>
              <a:t>12x</a:t>
            </a:r>
          </a:p>
        </p:txBody>
      </p:sp>
      <p:sp>
        <p:nvSpPr>
          <p:cNvPr id="58" name="TextBox 57">
            <a:extLst>
              <a:ext uri="{FF2B5EF4-FFF2-40B4-BE49-F238E27FC236}">
                <a16:creationId xmlns:a16="http://schemas.microsoft.com/office/drawing/2014/main" id="{B20208A7-D383-63A7-1F28-1A1A4C5296D6}"/>
              </a:ext>
            </a:extLst>
          </p:cNvPr>
          <p:cNvSpPr txBox="1"/>
          <p:nvPr/>
        </p:nvSpPr>
        <p:spPr>
          <a:xfrm>
            <a:off x="10812117" y="6175887"/>
            <a:ext cx="428322" cy="369332"/>
          </a:xfrm>
          <a:prstGeom prst="rect">
            <a:avLst/>
          </a:prstGeom>
          <a:noFill/>
        </p:spPr>
        <p:txBody>
          <a:bodyPr wrap="none" rtlCol="0">
            <a:spAutoFit/>
          </a:bodyPr>
          <a:lstStyle/>
          <a:p>
            <a:pPr algn="l"/>
            <a:r>
              <a:rPr lang="en-GB" sz="1800"/>
              <a:t>2x</a:t>
            </a:r>
          </a:p>
        </p:txBody>
      </p:sp>
      <p:sp>
        <p:nvSpPr>
          <p:cNvPr id="59" name="TextBox 58">
            <a:extLst>
              <a:ext uri="{FF2B5EF4-FFF2-40B4-BE49-F238E27FC236}">
                <a16:creationId xmlns:a16="http://schemas.microsoft.com/office/drawing/2014/main" id="{14FFE40B-B01C-C329-F092-91E07AB5793B}"/>
              </a:ext>
            </a:extLst>
          </p:cNvPr>
          <p:cNvSpPr txBox="1"/>
          <p:nvPr/>
        </p:nvSpPr>
        <p:spPr>
          <a:xfrm>
            <a:off x="9046839" y="12483892"/>
            <a:ext cx="556563" cy="369332"/>
          </a:xfrm>
          <a:prstGeom prst="rect">
            <a:avLst/>
          </a:prstGeom>
          <a:noFill/>
        </p:spPr>
        <p:txBody>
          <a:bodyPr wrap="none" rtlCol="0">
            <a:spAutoFit/>
          </a:bodyPr>
          <a:lstStyle/>
          <a:p>
            <a:pPr algn="l"/>
            <a:r>
              <a:rPr lang="en-GB"/>
              <a:t>38</a:t>
            </a:r>
            <a:r>
              <a:rPr lang="en-GB" sz="1800"/>
              <a:t>x</a:t>
            </a:r>
          </a:p>
        </p:txBody>
      </p:sp>
      <p:sp>
        <p:nvSpPr>
          <p:cNvPr id="60" name="TextBox 59">
            <a:extLst>
              <a:ext uri="{FF2B5EF4-FFF2-40B4-BE49-F238E27FC236}">
                <a16:creationId xmlns:a16="http://schemas.microsoft.com/office/drawing/2014/main" id="{001ED8CE-AE30-AEA1-49A6-5BA2636DE1A9}"/>
              </a:ext>
            </a:extLst>
          </p:cNvPr>
          <p:cNvSpPr txBox="1"/>
          <p:nvPr/>
        </p:nvSpPr>
        <p:spPr>
          <a:xfrm>
            <a:off x="20930613" y="9500856"/>
            <a:ext cx="428322" cy="369332"/>
          </a:xfrm>
          <a:prstGeom prst="rect">
            <a:avLst/>
          </a:prstGeom>
          <a:noFill/>
        </p:spPr>
        <p:txBody>
          <a:bodyPr wrap="none" rtlCol="0">
            <a:spAutoFit/>
          </a:bodyPr>
          <a:lstStyle/>
          <a:p>
            <a:pPr algn="l"/>
            <a:r>
              <a:rPr lang="en-GB" sz="1800"/>
              <a:t>3x</a:t>
            </a:r>
          </a:p>
        </p:txBody>
      </p:sp>
      <p:sp>
        <p:nvSpPr>
          <p:cNvPr id="61" name="TextBox 60">
            <a:extLst>
              <a:ext uri="{FF2B5EF4-FFF2-40B4-BE49-F238E27FC236}">
                <a16:creationId xmlns:a16="http://schemas.microsoft.com/office/drawing/2014/main" id="{6763BC5E-DC9A-C940-4A91-67F6DCE4AA21}"/>
              </a:ext>
            </a:extLst>
          </p:cNvPr>
          <p:cNvSpPr txBox="1"/>
          <p:nvPr/>
        </p:nvSpPr>
        <p:spPr>
          <a:xfrm>
            <a:off x="21144774" y="6858000"/>
            <a:ext cx="428322" cy="369332"/>
          </a:xfrm>
          <a:prstGeom prst="rect">
            <a:avLst/>
          </a:prstGeom>
          <a:noFill/>
        </p:spPr>
        <p:txBody>
          <a:bodyPr wrap="none" rtlCol="0">
            <a:spAutoFit/>
          </a:bodyPr>
          <a:lstStyle/>
          <a:p>
            <a:pPr algn="l"/>
            <a:r>
              <a:rPr lang="en-GB"/>
              <a:t>2</a:t>
            </a:r>
            <a:r>
              <a:rPr lang="en-GB" sz="1800"/>
              <a:t>x</a:t>
            </a:r>
          </a:p>
        </p:txBody>
      </p:sp>
      <p:sp>
        <p:nvSpPr>
          <p:cNvPr id="1024" name="TextBox 1023">
            <a:extLst>
              <a:ext uri="{FF2B5EF4-FFF2-40B4-BE49-F238E27FC236}">
                <a16:creationId xmlns:a16="http://schemas.microsoft.com/office/drawing/2014/main" id="{EE0DECE0-ADF6-69B6-2B67-815A84529D15}"/>
              </a:ext>
            </a:extLst>
          </p:cNvPr>
          <p:cNvSpPr txBox="1"/>
          <p:nvPr/>
        </p:nvSpPr>
        <p:spPr>
          <a:xfrm>
            <a:off x="20530560" y="12811636"/>
            <a:ext cx="2085071" cy="646331"/>
          </a:xfrm>
          <a:prstGeom prst="rect">
            <a:avLst/>
          </a:prstGeom>
          <a:noFill/>
        </p:spPr>
        <p:txBody>
          <a:bodyPr wrap="square" rtlCol="0">
            <a:spAutoFit/>
          </a:bodyPr>
          <a:lstStyle/>
          <a:p>
            <a:pPr algn="l"/>
            <a:r>
              <a:rPr lang="en-GB"/>
              <a:t>=========</a:t>
            </a:r>
          </a:p>
          <a:p>
            <a:pPr algn="l"/>
            <a:r>
              <a:rPr lang="en-GB" b="1">
                <a:highlight>
                  <a:srgbClr val="FFFF00"/>
                </a:highlight>
              </a:rPr>
              <a:t>3076</a:t>
            </a:r>
            <a:r>
              <a:rPr lang="en-GB"/>
              <a:t> Assets</a:t>
            </a:r>
            <a:endParaRPr lang="en-GB" sz="1800"/>
          </a:p>
        </p:txBody>
      </p:sp>
      <p:pic>
        <p:nvPicPr>
          <p:cNvPr id="1025" name="Picture 50" descr="Oracle Solaris - Wikipedia">
            <a:extLst>
              <a:ext uri="{FF2B5EF4-FFF2-40B4-BE49-F238E27FC236}">
                <a16:creationId xmlns:a16="http://schemas.microsoft.com/office/drawing/2014/main" id="{79A8AA84-90F7-0BD1-24AF-07E477678C6B}"/>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953845" y="5377986"/>
            <a:ext cx="771164" cy="601508"/>
          </a:xfrm>
          <a:prstGeom prst="rect">
            <a:avLst/>
          </a:prstGeom>
          <a:noFill/>
          <a:extLst>
            <a:ext uri="{909E8E84-426E-40DD-AFC4-6F175D3DCCD1}">
              <a14:hiddenFill xmlns:a14="http://schemas.microsoft.com/office/drawing/2010/main">
                <a:solidFill>
                  <a:srgbClr val="FFFFFF"/>
                </a:solidFill>
              </a14:hiddenFill>
            </a:ext>
          </a:extLst>
        </p:spPr>
      </p:pic>
      <p:sp>
        <p:nvSpPr>
          <p:cNvPr id="1029" name="TextBox 1028">
            <a:extLst>
              <a:ext uri="{FF2B5EF4-FFF2-40B4-BE49-F238E27FC236}">
                <a16:creationId xmlns:a16="http://schemas.microsoft.com/office/drawing/2014/main" id="{A15CFD0A-0E08-F519-5C89-7D2D397AD74D}"/>
              </a:ext>
            </a:extLst>
          </p:cNvPr>
          <p:cNvSpPr txBox="1"/>
          <p:nvPr/>
        </p:nvSpPr>
        <p:spPr>
          <a:xfrm>
            <a:off x="5662207" y="9089862"/>
            <a:ext cx="1902184" cy="523220"/>
          </a:xfrm>
          <a:prstGeom prst="rect">
            <a:avLst/>
          </a:prstGeom>
          <a:noFill/>
        </p:spPr>
        <p:txBody>
          <a:bodyPr wrap="square">
            <a:spAutoFit/>
          </a:bodyPr>
          <a:lstStyle/>
          <a:p>
            <a:r>
              <a:rPr lang="en-GB" sz="1400"/>
              <a:t>3 x Slough - non-prod</a:t>
            </a:r>
          </a:p>
          <a:p>
            <a:r>
              <a:rPr lang="en-GB" sz="1400"/>
              <a:t>3 x Slough - prod</a:t>
            </a:r>
          </a:p>
        </p:txBody>
      </p:sp>
      <p:sp>
        <p:nvSpPr>
          <p:cNvPr id="1037" name="TextBox 1036">
            <a:extLst>
              <a:ext uri="{FF2B5EF4-FFF2-40B4-BE49-F238E27FC236}">
                <a16:creationId xmlns:a16="http://schemas.microsoft.com/office/drawing/2014/main" id="{434EC4CF-5554-3C37-1C02-9CC68D5C0684}"/>
              </a:ext>
            </a:extLst>
          </p:cNvPr>
          <p:cNvSpPr txBox="1"/>
          <p:nvPr/>
        </p:nvSpPr>
        <p:spPr>
          <a:xfrm>
            <a:off x="8161622" y="9097150"/>
            <a:ext cx="428322" cy="369332"/>
          </a:xfrm>
          <a:prstGeom prst="rect">
            <a:avLst/>
          </a:prstGeom>
          <a:noFill/>
        </p:spPr>
        <p:txBody>
          <a:bodyPr wrap="none" rtlCol="0">
            <a:spAutoFit/>
          </a:bodyPr>
          <a:lstStyle/>
          <a:p>
            <a:pPr algn="l"/>
            <a:r>
              <a:rPr lang="en-GB"/>
              <a:t>8</a:t>
            </a:r>
            <a:r>
              <a:rPr lang="en-GB" sz="1800"/>
              <a:t>x</a:t>
            </a:r>
          </a:p>
        </p:txBody>
      </p:sp>
      <p:sp>
        <p:nvSpPr>
          <p:cNvPr id="1039" name="TextBox 1038">
            <a:extLst>
              <a:ext uri="{FF2B5EF4-FFF2-40B4-BE49-F238E27FC236}">
                <a16:creationId xmlns:a16="http://schemas.microsoft.com/office/drawing/2014/main" id="{AFDDED9E-6214-56F1-C47A-D190A160DD38}"/>
              </a:ext>
            </a:extLst>
          </p:cNvPr>
          <p:cNvSpPr txBox="1"/>
          <p:nvPr/>
        </p:nvSpPr>
        <p:spPr>
          <a:xfrm>
            <a:off x="8074924" y="6376145"/>
            <a:ext cx="428322" cy="369332"/>
          </a:xfrm>
          <a:prstGeom prst="rect">
            <a:avLst/>
          </a:prstGeom>
          <a:noFill/>
        </p:spPr>
        <p:txBody>
          <a:bodyPr wrap="none" rtlCol="0">
            <a:spAutoFit/>
          </a:bodyPr>
          <a:lstStyle/>
          <a:p>
            <a:pPr algn="l"/>
            <a:r>
              <a:rPr lang="en-GB" sz="1800"/>
              <a:t>5x</a:t>
            </a:r>
          </a:p>
        </p:txBody>
      </p:sp>
      <p:sp>
        <p:nvSpPr>
          <p:cNvPr id="1041" name="TextBox 1040">
            <a:extLst>
              <a:ext uri="{FF2B5EF4-FFF2-40B4-BE49-F238E27FC236}">
                <a16:creationId xmlns:a16="http://schemas.microsoft.com/office/drawing/2014/main" id="{B2CF05DF-A296-9897-F29F-377DF757C7CD}"/>
              </a:ext>
            </a:extLst>
          </p:cNvPr>
          <p:cNvSpPr txBox="1"/>
          <p:nvPr/>
        </p:nvSpPr>
        <p:spPr>
          <a:xfrm>
            <a:off x="8181418" y="5583266"/>
            <a:ext cx="428322" cy="369332"/>
          </a:xfrm>
          <a:prstGeom prst="rect">
            <a:avLst/>
          </a:prstGeom>
          <a:noFill/>
        </p:spPr>
        <p:txBody>
          <a:bodyPr wrap="none" rtlCol="0">
            <a:spAutoFit/>
          </a:bodyPr>
          <a:lstStyle/>
          <a:p>
            <a:pPr algn="l"/>
            <a:r>
              <a:rPr lang="en-GB" sz="1800"/>
              <a:t>4x</a:t>
            </a:r>
          </a:p>
        </p:txBody>
      </p:sp>
      <p:sp>
        <p:nvSpPr>
          <p:cNvPr id="1043" name="TextBox 1042">
            <a:extLst>
              <a:ext uri="{FF2B5EF4-FFF2-40B4-BE49-F238E27FC236}">
                <a16:creationId xmlns:a16="http://schemas.microsoft.com/office/drawing/2014/main" id="{FD4B13DC-2074-838D-4629-977204C40D41}"/>
              </a:ext>
            </a:extLst>
          </p:cNvPr>
          <p:cNvSpPr txBox="1"/>
          <p:nvPr/>
        </p:nvSpPr>
        <p:spPr>
          <a:xfrm>
            <a:off x="8201375" y="8363504"/>
            <a:ext cx="428322" cy="369332"/>
          </a:xfrm>
          <a:prstGeom prst="rect">
            <a:avLst/>
          </a:prstGeom>
          <a:noFill/>
        </p:spPr>
        <p:txBody>
          <a:bodyPr wrap="none" rtlCol="0">
            <a:spAutoFit/>
          </a:bodyPr>
          <a:lstStyle/>
          <a:p>
            <a:pPr algn="l"/>
            <a:r>
              <a:rPr lang="en-GB" sz="1800"/>
              <a:t>6x</a:t>
            </a:r>
          </a:p>
        </p:txBody>
      </p:sp>
      <p:sp>
        <p:nvSpPr>
          <p:cNvPr id="1049" name="Rectangle 1048">
            <a:extLst>
              <a:ext uri="{FF2B5EF4-FFF2-40B4-BE49-F238E27FC236}">
                <a16:creationId xmlns:a16="http://schemas.microsoft.com/office/drawing/2014/main" id="{CB476E95-B791-E735-7A1A-AB2D6742DD18}"/>
              </a:ext>
            </a:extLst>
          </p:cNvPr>
          <p:cNvSpPr/>
          <p:nvPr/>
        </p:nvSpPr>
        <p:spPr>
          <a:xfrm>
            <a:off x="1261876" y="2663067"/>
            <a:ext cx="2345442" cy="7694090"/>
          </a:xfrm>
          <a:prstGeom prst="rect">
            <a:avLst/>
          </a:prstGeom>
          <a:noFill/>
          <a:ln>
            <a:solidFill>
              <a:srgbClr val="E5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045" name="TextBox 1044">
            <a:extLst>
              <a:ext uri="{FF2B5EF4-FFF2-40B4-BE49-F238E27FC236}">
                <a16:creationId xmlns:a16="http://schemas.microsoft.com/office/drawing/2014/main" id="{3C18BCDA-391D-7FED-F551-48EED2EAB44F}"/>
              </a:ext>
            </a:extLst>
          </p:cNvPr>
          <p:cNvSpPr txBox="1"/>
          <p:nvPr/>
        </p:nvSpPr>
        <p:spPr>
          <a:xfrm>
            <a:off x="13481795" y="5316243"/>
            <a:ext cx="1183997" cy="738664"/>
          </a:xfrm>
          <a:prstGeom prst="rect">
            <a:avLst/>
          </a:prstGeom>
          <a:solidFill>
            <a:schemeClr val="bg1"/>
          </a:solidFill>
        </p:spPr>
        <p:txBody>
          <a:bodyPr wrap="square" rtlCol="0">
            <a:spAutoFit/>
          </a:bodyPr>
          <a:lstStyle/>
          <a:p>
            <a:pPr algn="l"/>
            <a:r>
              <a:rPr lang="en-GB" sz="1400"/>
              <a:t>MOL - Prod</a:t>
            </a:r>
          </a:p>
          <a:p>
            <a:pPr algn="l"/>
            <a:r>
              <a:rPr lang="en-GB" sz="1400"/>
              <a:t>6 x DL360</a:t>
            </a:r>
          </a:p>
          <a:p>
            <a:pPr algn="l"/>
            <a:r>
              <a:rPr lang="en-GB" sz="1400"/>
              <a:t>6 x 3par</a:t>
            </a:r>
          </a:p>
        </p:txBody>
      </p:sp>
      <p:pic>
        <p:nvPicPr>
          <p:cNvPr id="1051" name="Picture 20" descr="Database logo Vectors - Download Free High-Quality Vectors from Freepik |  Freepik">
            <a:extLst>
              <a:ext uri="{FF2B5EF4-FFF2-40B4-BE49-F238E27FC236}">
                <a16:creationId xmlns:a16="http://schemas.microsoft.com/office/drawing/2014/main" id="{995AF55B-06F6-B213-8CC6-0DC83B398B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333607" y="3267403"/>
            <a:ext cx="1137482" cy="1258895"/>
          </a:xfrm>
          <a:prstGeom prst="rect">
            <a:avLst/>
          </a:prstGeom>
          <a:noFill/>
          <a:extLst>
            <a:ext uri="{909E8E84-426E-40DD-AFC4-6F175D3DCCD1}">
              <a14:hiddenFill xmlns:a14="http://schemas.microsoft.com/office/drawing/2010/main">
                <a:solidFill>
                  <a:srgbClr val="FFFFFF"/>
                </a:solidFill>
              </a14:hiddenFill>
            </a:ext>
          </a:extLst>
        </p:spPr>
      </p:pic>
      <p:sp>
        <p:nvSpPr>
          <p:cNvPr id="1053" name="TextBox 1052">
            <a:extLst>
              <a:ext uri="{FF2B5EF4-FFF2-40B4-BE49-F238E27FC236}">
                <a16:creationId xmlns:a16="http://schemas.microsoft.com/office/drawing/2014/main" id="{46556173-0CE9-86F7-2E41-8048BE60EAC8}"/>
              </a:ext>
            </a:extLst>
          </p:cNvPr>
          <p:cNvSpPr txBox="1"/>
          <p:nvPr/>
        </p:nvSpPr>
        <p:spPr>
          <a:xfrm>
            <a:off x="13683096" y="4450634"/>
            <a:ext cx="2580486" cy="369332"/>
          </a:xfrm>
          <a:prstGeom prst="rect">
            <a:avLst/>
          </a:prstGeom>
          <a:noFill/>
        </p:spPr>
        <p:txBody>
          <a:bodyPr wrap="square" rtlCol="0">
            <a:spAutoFit/>
          </a:bodyPr>
          <a:lstStyle/>
          <a:p>
            <a:pPr algn="ctr"/>
            <a:r>
              <a:rPr lang="en-GB" sz="1800"/>
              <a:t>DBs on Physicals</a:t>
            </a:r>
          </a:p>
        </p:txBody>
      </p:sp>
      <p:pic>
        <p:nvPicPr>
          <p:cNvPr id="1078" name="Picture 54" descr="HPE Primera 600 - Storage enclosure | Overview, Specs, Details | SHI">
            <a:extLst>
              <a:ext uri="{FF2B5EF4-FFF2-40B4-BE49-F238E27FC236}">
                <a16:creationId xmlns:a16="http://schemas.microsoft.com/office/drawing/2014/main" id="{DF51B9B1-87C6-4B98-E51B-BDAE5CED443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626855" y="6882720"/>
            <a:ext cx="785066" cy="588800"/>
          </a:xfrm>
          <a:prstGeom prst="rect">
            <a:avLst/>
          </a:prstGeom>
          <a:noFill/>
          <a:extLst>
            <a:ext uri="{909E8E84-426E-40DD-AFC4-6F175D3DCCD1}">
              <a14:hiddenFill xmlns:a14="http://schemas.microsoft.com/office/drawing/2010/main">
                <a:solidFill>
                  <a:srgbClr val="FFFFFF"/>
                </a:solidFill>
              </a14:hiddenFill>
            </a:ext>
          </a:extLst>
        </p:spPr>
      </p:pic>
      <p:sp>
        <p:nvSpPr>
          <p:cNvPr id="1057" name="TextBox 1056">
            <a:extLst>
              <a:ext uri="{FF2B5EF4-FFF2-40B4-BE49-F238E27FC236}">
                <a16:creationId xmlns:a16="http://schemas.microsoft.com/office/drawing/2014/main" id="{CB9B2A99-12E5-DDCA-D299-46D26EB9DBD2}"/>
              </a:ext>
            </a:extLst>
          </p:cNvPr>
          <p:cNvSpPr txBox="1"/>
          <p:nvPr/>
        </p:nvSpPr>
        <p:spPr>
          <a:xfrm>
            <a:off x="13445164" y="8001852"/>
            <a:ext cx="1586818" cy="738664"/>
          </a:xfrm>
          <a:prstGeom prst="rect">
            <a:avLst/>
          </a:prstGeom>
          <a:solidFill>
            <a:schemeClr val="bg1"/>
          </a:solidFill>
        </p:spPr>
        <p:txBody>
          <a:bodyPr wrap="square" rtlCol="0">
            <a:spAutoFit/>
          </a:bodyPr>
          <a:lstStyle/>
          <a:p>
            <a:pPr algn="l"/>
            <a:r>
              <a:rPr lang="en-GB" sz="1400"/>
              <a:t>MOL - Prod + Int</a:t>
            </a:r>
          </a:p>
          <a:p>
            <a:pPr algn="l"/>
            <a:r>
              <a:rPr lang="en-GB" sz="1400"/>
              <a:t>8 x DL360</a:t>
            </a:r>
          </a:p>
          <a:p>
            <a:pPr algn="l"/>
            <a:r>
              <a:rPr lang="en-GB" sz="1400"/>
              <a:t>8 x 3par</a:t>
            </a:r>
          </a:p>
        </p:txBody>
      </p:sp>
      <p:sp>
        <p:nvSpPr>
          <p:cNvPr id="1061" name="TextBox 1060">
            <a:extLst>
              <a:ext uri="{FF2B5EF4-FFF2-40B4-BE49-F238E27FC236}">
                <a16:creationId xmlns:a16="http://schemas.microsoft.com/office/drawing/2014/main" id="{BE822EA3-480F-A956-387C-EE70794F14B0}"/>
              </a:ext>
            </a:extLst>
          </p:cNvPr>
          <p:cNvSpPr txBox="1"/>
          <p:nvPr/>
        </p:nvSpPr>
        <p:spPr>
          <a:xfrm>
            <a:off x="13438881" y="8736209"/>
            <a:ext cx="1586818" cy="738664"/>
          </a:xfrm>
          <a:prstGeom prst="rect">
            <a:avLst/>
          </a:prstGeom>
          <a:solidFill>
            <a:schemeClr val="bg1"/>
          </a:solidFill>
        </p:spPr>
        <p:txBody>
          <a:bodyPr wrap="square" rtlCol="0">
            <a:spAutoFit/>
          </a:bodyPr>
          <a:lstStyle/>
          <a:p>
            <a:pPr algn="l"/>
            <a:r>
              <a:rPr lang="en-GB" sz="1400"/>
              <a:t>CHP - Prod + Int</a:t>
            </a:r>
          </a:p>
          <a:p>
            <a:pPr algn="l"/>
            <a:r>
              <a:rPr lang="en-GB" sz="1400"/>
              <a:t>2 x DL360</a:t>
            </a:r>
          </a:p>
          <a:p>
            <a:pPr algn="l"/>
            <a:r>
              <a:rPr lang="en-GB" sz="1400"/>
              <a:t>2 x Primera</a:t>
            </a:r>
          </a:p>
        </p:txBody>
      </p:sp>
      <p:pic>
        <p:nvPicPr>
          <p:cNvPr id="1067" name="Graphic 1066">
            <a:extLst>
              <a:ext uri="{FF2B5EF4-FFF2-40B4-BE49-F238E27FC236}">
                <a16:creationId xmlns:a16="http://schemas.microsoft.com/office/drawing/2014/main" id="{02B43932-6F4A-0911-342D-8778F8569EF8}"/>
              </a:ext>
            </a:extLst>
          </p:cNvPr>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12610846" y="6703710"/>
            <a:ext cx="885087" cy="310629"/>
          </a:xfrm>
          <a:prstGeom prst="rect">
            <a:avLst/>
          </a:prstGeom>
        </p:spPr>
      </p:pic>
      <p:pic>
        <p:nvPicPr>
          <p:cNvPr id="1082" name="Picture 58" descr="Setting up RAID 5 on HP ProLiant DL360 server ✔️">
            <a:extLst>
              <a:ext uri="{FF2B5EF4-FFF2-40B4-BE49-F238E27FC236}">
                <a16:creationId xmlns:a16="http://schemas.microsoft.com/office/drawing/2014/main" id="{CD932258-43D4-8B20-839A-7D01A7300E1B}"/>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2600858" y="6299094"/>
            <a:ext cx="607184" cy="341541"/>
          </a:xfrm>
          <a:prstGeom prst="rect">
            <a:avLst/>
          </a:prstGeom>
          <a:noFill/>
          <a:extLst>
            <a:ext uri="{909E8E84-426E-40DD-AFC4-6F175D3DCCD1}">
              <a14:hiddenFill xmlns:a14="http://schemas.microsoft.com/office/drawing/2010/main">
                <a:solidFill>
                  <a:srgbClr val="FFFFFF"/>
                </a:solidFill>
              </a14:hiddenFill>
            </a:ext>
          </a:extLst>
        </p:spPr>
      </p:pic>
      <p:sp>
        <p:nvSpPr>
          <p:cNvPr id="1069" name="TextBox 1068">
            <a:extLst>
              <a:ext uri="{FF2B5EF4-FFF2-40B4-BE49-F238E27FC236}">
                <a16:creationId xmlns:a16="http://schemas.microsoft.com/office/drawing/2014/main" id="{3D946A7E-FF1E-7EBC-F716-4DB67895DC06}"/>
              </a:ext>
            </a:extLst>
          </p:cNvPr>
          <p:cNvSpPr txBox="1"/>
          <p:nvPr/>
        </p:nvSpPr>
        <p:spPr>
          <a:xfrm>
            <a:off x="13478736" y="6193198"/>
            <a:ext cx="1183997" cy="738664"/>
          </a:xfrm>
          <a:prstGeom prst="rect">
            <a:avLst/>
          </a:prstGeom>
          <a:solidFill>
            <a:schemeClr val="bg1"/>
          </a:solidFill>
        </p:spPr>
        <p:txBody>
          <a:bodyPr wrap="square" rtlCol="0">
            <a:spAutoFit/>
          </a:bodyPr>
          <a:lstStyle/>
          <a:p>
            <a:pPr algn="l"/>
            <a:r>
              <a:rPr lang="en-GB" sz="1400"/>
              <a:t>CHP – Prod</a:t>
            </a:r>
          </a:p>
          <a:p>
            <a:pPr algn="l"/>
            <a:r>
              <a:rPr lang="en-GB" sz="1400"/>
              <a:t>1 x DL360</a:t>
            </a:r>
          </a:p>
          <a:p>
            <a:pPr algn="l"/>
            <a:r>
              <a:rPr lang="en-GB" sz="1400"/>
              <a:t>1 x Primera</a:t>
            </a:r>
          </a:p>
        </p:txBody>
      </p:sp>
      <p:sp>
        <p:nvSpPr>
          <p:cNvPr id="1071" name="TextBox 1070">
            <a:extLst>
              <a:ext uri="{FF2B5EF4-FFF2-40B4-BE49-F238E27FC236}">
                <a16:creationId xmlns:a16="http://schemas.microsoft.com/office/drawing/2014/main" id="{5BA6DCAC-04EE-D6C0-34D3-63597237CCED}"/>
              </a:ext>
            </a:extLst>
          </p:cNvPr>
          <p:cNvSpPr txBox="1"/>
          <p:nvPr/>
        </p:nvSpPr>
        <p:spPr>
          <a:xfrm>
            <a:off x="13453004" y="6925826"/>
            <a:ext cx="1183997" cy="738664"/>
          </a:xfrm>
          <a:prstGeom prst="rect">
            <a:avLst/>
          </a:prstGeom>
          <a:solidFill>
            <a:schemeClr val="bg1"/>
          </a:solidFill>
        </p:spPr>
        <p:txBody>
          <a:bodyPr wrap="square" rtlCol="0">
            <a:spAutoFit/>
          </a:bodyPr>
          <a:lstStyle/>
          <a:p>
            <a:pPr algn="l"/>
            <a:r>
              <a:rPr lang="en-GB" sz="1400" err="1"/>
              <a:t>Atex</a:t>
            </a:r>
            <a:r>
              <a:rPr lang="en-GB" sz="1400"/>
              <a:t>  – Prod</a:t>
            </a:r>
          </a:p>
          <a:p>
            <a:pPr algn="l"/>
            <a:r>
              <a:rPr lang="en-GB" sz="1400"/>
              <a:t>1 x DL380</a:t>
            </a:r>
          </a:p>
          <a:p>
            <a:pPr algn="l"/>
            <a:r>
              <a:rPr lang="en-GB" sz="1400"/>
              <a:t>1 x Primera</a:t>
            </a:r>
          </a:p>
        </p:txBody>
      </p:sp>
      <p:pic>
        <p:nvPicPr>
          <p:cNvPr id="1047" name="Picture 8">
            <a:extLst>
              <a:ext uri="{FF2B5EF4-FFF2-40B4-BE49-F238E27FC236}">
                <a16:creationId xmlns:a16="http://schemas.microsoft.com/office/drawing/2014/main" id="{A6A05ADF-025E-CF75-68CB-72F921D88A31}"/>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2461283" y="5289900"/>
            <a:ext cx="915934" cy="915934"/>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A8E6EB4E-30A6-19C4-5E80-824DCDA9AB27}"/>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2465751" y="9434236"/>
            <a:ext cx="915934" cy="915934"/>
          </a:xfrm>
          <a:prstGeom prst="rect">
            <a:avLst/>
          </a:prstGeom>
          <a:noFill/>
          <a:extLst>
            <a:ext uri="{909E8E84-426E-40DD-AFC4-6F175D3DCCD1}">
              <a14:hiddenFill xmlns:a14="http://schemas.microsoft.com/office/drawing/2010/main">
                <a:solidFill>
                  <a:srgbClr val="FFFFFF"/>
                </a:solidFill>
              </a14:hiddenFill>
            </a:ext>
          </a:extLst>
        </p:spPr>
      </p:pic>
      <p:sp>
        <p:nvSpPr>
          <p:cNvPr id="1073" name="TextBox 1072">
            <a:extLst>
              <a:ext uri="{FF2B5EF4-FFF2-40B4-BE49-F238E27FC236}">
                <a16:creationId xmlns:a16="http://schemas.microsoft.com/office/drawing/2014/main" id="{515F9135-02C0-F6FD-19E9-91F0CD998546}"/>
              </a:ext>
            </a:extLst>
          </p:cNvPr>
          <p:cNvSpPr txBox="1"/>
          <p:nvPr/>
        </p:nvSpPr>
        <p:spPr>
          <a:xfrm>
            <a:off x="13438881" y="9515648"/>
            <a:ext cx="1183997" cy="738664"/>
          </a:xfrm>
          <a:prstGeom prst="rect">
            <a:avLst/>
          </a:prstGeom>
          <a:solidFill>
            <a:schemeClr val="bg1"/>
          </a:solidFill>
        </p:spPr>
        <p:txBody>
          <a:bodyPr wrap="square" rtlCol="0">
            <a:spAutoFit/>
          </a:bodyPr>
          <a:lstStyle/>
          <a:p>
            <a:pPr algn="l"/>
            <a:r>
              <a:rPr lang="en-GB" sz="1400" err="1"/>
              <a:t>Atex</a:t>
            </a:r>
            <a:r>
              <a:rPr lang="en-GB" sz="1400"/>
              <a:t>  – Prod</a:t>
            </a:r>
          </a:p>
          <a:p>
            <a:pPr algn="l"/>
            <a:r>
              <a:rPr lang="en-GB" sz="1400"/>
              <a:t>2 x DL380</a:t>
            </a:r>
          </a:p>
          <a:p>
            <a:pPr algn="l"/>
            <a:r>
              <a:rPr lang="en-GB" sz="1400"/>
              <a:t>2 x Primera</a:t>
            </a:r>
          </a:p>
        </p:txBody>
      </p:sp>
      <p:pic>
        <p:nvPicPr>
          <p:cNvPr id="1075" name="Picture 54" descr="HPE Primera 600 - Storage enclosure | Overview, Specs, Details | SHI">
            <a:extLst>
              <a:ext uri="{FF2B5EF4-FFF2-40B4-BE49-F238E27FC236}">
                <a16:creationId xmlns:a16="http://schemas.microsoft.com/office/drawing/2014/main" id="{0E31D957-0E23-05BF-A283-5BE2DB31173F}"/>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601952" y="8750363"/>
            <a:ext cx="785066" cy="588800"/>
          </a:xfrm>
          <a:prstGeom prst="rect">
            <a:avLst/>
          </a:prstGeom>
          <a:noFill/>
          <a:extLst>
            <a:ext uri="{909E8E84-426E-40DD-AFC4-6F175D3DCCD1}">
              <a14:hiddenFill xmlns:a14="http://schemas.microsoft.com/office/drawing/2010/main">
                <a:solidFill>
                  <a:srgbClr val="FFFFFF"/>
                </a:solidFill>
              </a14:hiddenFill>
            </a:ext>
          </a:extLst>
        </p:spPr>
      </p:pic>
      <p:pic>
        <p:nvPicPr>
          <p:cNvPr id="1077" name="Graphic 1076">
            <a:extLst>
              <a:ext uri="{FF2B5EF4-FFF2-40B4-BE49-F238E27FC236}">
                <a16:creationId xmlns:a16="http://schemas.microsoft.com/office/drawing/2014/main" id="{00386DEE-2211-8473-1937-3303686713A4}"/>
              </a:ext>
            </a:extLst>
          </p:cNvPr>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12585943" y="8571353"/>
            <a:ext cx="885087" cy="310629"/>
          </a:xfrm>
          <a:prstGeom prst="rect">
            <a:avLst/>
          </a:prstGeom>
        </p:spPr>
      </p:pic>
      <p:pic>
        <p:nvPicPr>
          <p:cNvPr id="1079" name="Picture 58" descr="Setting up RAID 5 on HP ProLiant DL360 server ✔️">
            <a:extLst>
              <a:ext uri="{FF2B5EF4-FFF2-40B4-BE49-F238E27FC236}">
                <a16:creationId xmlns:a16="http://schemas.microsoft.com/office/drawing/2014/main" id="{09411FC1-4E83-7610-7A8E-29FE11101FE1}"/>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2575955" y="8166737"/>
            <a:ext cx="607184" cy="341541"/>
          </a:xfrm>
          <a:prstGeom prst="rect">
            <a:avLst/>
          </a:prstGeom>
          <a:noFill/>
          <a:extLst>
            <a:ext uri="{909E8E84-426E-40DD-AFC4-6F175D3DCCD1}">
              <a14:hiddenFill xmlns:a14="http://schemas.microsoft.com/office/drawing/2010/main">
                <a:solidFill>
                  <a:srgbClr val="FFFFFF"/>
                </a:solidFill>
              </a14:hiddenFill>
            </a:ext>
          </a:extLst>
        </p:spPr>
      </p:pic>
      <p:sp>
        <p:nvSpPr>
          <p:cNvPr id="1080" name="Rectangle 1079">
            <a:extLst>
              <a:ext uri="{FF2B5EF4-FFF2-40B4-BE49-F238E27FC236}">
                <a16:creationId xmlns:a16="http://schemas.microsoft.com/office/drawing/2014/main" id="{BD0FB69F-95C6-C6B9-23CA-6134D1E6C8FC}"/>
              </a:ext>
            </a:extLst>
          </p:cNvPr>
          <p:cNvSpPr/>
          <p:nvPr/>
        </p:nvSpPr>
        <p:spPr>
          <a:xfrm>
            <a:off x="12468084" y="5124369"/>
            <a:ext cx="2447037" cy="528091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081" name="Rectangle 1080">
            <a:extLst>
              <a:ext uri="{FF2B5EF4-FFF2-40B4-BE49-F238E27FC236}">
                <a16:creationId xmlns:a16="http://schemas.microsoft.com/office/drawing/2014/main" id="{950FF0FC-3B57-32B0-6DC2-57B2D5FFFAB8}"/>
              </a:ext>
            </a:extLst>
          </p:cNvPr>
          <p:cNvSpPr/>
          <p:nvPr/>
        </p:nvSpPr>
        <p:spPr>
          <a:xfrm>
            <a:off x="15333607" y="5112676"/>
            <a:ext cx="1641889" cy="5280914"/>
          </a:xfrm>
          <a:prstGeom prst="rect">
            <a:avLst/>
          </a:pr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083" name="TextBox 1082">
            <a:extLst>
              <a:ext uri="{FF2B5EF4-FFF2-40B4-BE49-F238E27FC236}">
                <a16:creationId xmlns:a16="http://schemas.microsoft.com/office/drawing/2014/main" id="{0C7796B2-5E00-0DE3-32A0-1EB6964EA8EF}"/>
              </a:ext>
            </a:extLst>
          </p:cNvPr>
          <p:cNvSpPr txBox="1"/>
          <p:nvPr/>
        </p:nvSpPr>
        <p:spPr>
          <a:xfrm>
            <a:off x="11161403" y="8632927"/>
            <a:ext cx="569387" cy="369332"/>
          </a:xfrm>
          <a:prstGeom prst="rect">
            <a:avLst/>
          </a:prstGeom>
          <a:noFill/>
        </p:spPr>
        <p:txBody>
          <a:bodyPr wrap="none" rtlCol="0">
            <a:spAutoFit/>
          </a:bodyPr>
          <a:lstStyle/>
          <a:p>
            <a:pPr algn="l"/>
            <a:r>
              <a:rPr lang="en-GB">
                <a:solidFill>
                  <a:srgbClr val="FF0000"/>
                </a:solidFill>
                <a:highlight>
                  <a:srgbClr val="FFFF00"/>
                </a:highlight>
              </a:rPr>
              <a:t>???</a:t>
            </a:r>
            <a:endParaRPr lang="en-GB" sz="1800">
              <a:solidFill>
                <a:srgbClr val="FF0000"/>
              </a:solidFill>
              <a:highlight>
                <a:srgbClr val="FFFF00"/>
              </a:highlight>
            </a:endParaRPr>
          </a:p>
        </p:txBody>
      </p:sp>
      <p:sp>
        <p:nvSpPr>
          <p:cNvPr id="1084" name="TextBox 1083">
            <a:extLst>
              <a:ext uri="{FF2B5EF4-FFF2-40B4-BE49-F238E27FC236}">
                <a16:creationId xmlns:a16="http://schemas.microsoft.com/office/drawing/2014/main" id="{D9503FC4-626A-11F8-D808-76970542ED7E}"/>
              </a:ext>
            </a:extLst>
          </p:cNvPr>
          <p:cNvSpPr txBox="1"/>
          <p:nvPr/>
        </p:nvSpPr>
        <p:spPr>
          <a:xfrm>
            <a:off x="18923457" y="9218474"/>
            <a:ext cx="569387" cy="369332"/>
          </a:xfrm>
          <a:prstGeom prst="rect">
            <a:avLst/>
          </a:prstGeom>
          <a:noFill/>
        </p:spPr>
        <p:txBody>
          <a:bodyPr wrap="none" rtlCol="0">
            <a:spAutoFit/>
          </a:bodyPr>
          <a:lstStyle/>
          <a:p>
            <a:pPr algn="l"/>
            <a:r>
              <a:rPr lang="en-GB">
                <a:solidFill>
                  <a:srgbClr val="FF0000"/>
                </a:solidFill>
                <a:highlight>
                  <a:srgbClr val="FFFF00"/>
                </a:highlight>
              </a:rPr>
              <a:t>???</a:t>
            </a:r>
            <a:endParaRPr lang="en-GB" sz="1800">
              <a:solidFill>
                <a:srgbClr val="FF0000"/>
              </a:solidFill>
              <a:highlight>
                <a:srgbClr val="FFFF00"/>
              </a:highlight>
            </a:endParaRPr>
          </a:p>
        </p:txBody>
      </p:sp>
      <p:sp>
        <p:nvSpPr>
          <p:cNvPr id="1085" name="TextBox 1084">
            <a:extLst>
              <a:ext uri="{FF2B5EF4-FFF2-40B4-BE49-F238E27FC236}">
                <a16:creationId xmlns:a16="http://schemas.microsoft.com/office/drawing/2014/main" id="{E4CCF43D-6EBE-BC0C-DD1D-3C61F4A5AB7F}"/>
              </a:ext>
            </a:extLst>
          </p:cNvPr>
          <p:cNvSpPr txBox="1"/>
          <p:nvPr/>
        </p:nvSpPr>
        <p:spPr>
          <a:xfrm>
            <a:off x="18847714" y="6404685"/>
            <a:ext cx="569387" cy="369332"/>
          </a:xfrm>
          <a:prstGeom prst="rect">
            <a:avLst/>
          </a:prstGeom>
          <a:noFill/>
        </p:spPr>
        <p:txBody>
          <a:bodyPr wrap="none" rtlCol="0">
            <a:spAutoFit/>
          </a:bodyPr>
          <a:lstStyle/>
          <a:p>
            <a:pPr algn="l"/>
            <a:r>
              <a:rPr lang="en-GB">
                <a:solidFill>
                  <a:srgbClr val="FF0000"/>
                </a:solidFill>
                <a:highlight>
                  <a:srgbClr val="FFFF00"/>
                </a:highlight>
              </a:rPr>
              <a:t>???</a:t>
            </a:r>
            <a:endParaRPr lang="en-GB" sz="1800">
              <a:solidFill>
                <a:srgbClr val="FF0000"/>
              </a:solidFill>
              <a:highlight>
                <a:srgbClr val="FFFF00"/>
              </a:highlight>
            </a:endParaRPr>
          </a:p>
        </p:txBody>
      </p:sp>
      <p:sp>
        <p:nvSpPr>
          <p:cNvPr id="1086" name="TextBox 1085">
            <a:extLst>
              <a:ext uri="{FF2B5EF4-FFF2-40B4-BE49-F238E27FC236}">
                <a16:creationId xmlns:a16="http://schemas.microsoft.com/office/drawing/2014/main" id="{47E1CF8A-08F7-8278-9A7C-80BD258A2C8B}"/>
              </a:ext>
            </a:extLst>
          </p:cNvPr>
          <p:cNvSpPr txBox="1"/>
          <p:nvPr/>
        </p:nvSpPr>
        <p:spPr>
          <a:xfrm>
            <a:off x="22190409" y="6780415"/>
            <a:ext cx="569387" cy="369332"/>
          </a:xfrm>
          <a:prstGeom prst="rect">
            <a:avLst/>
          </a:prstGeom>
          <a:noFill/>
        </p:spPr>
        <p:txBody>
          <a:bodyPr wrap="none" rtlCol="0">
            <a:spAutoFit/>
          </a:bodyPr>
          <a:lstStyle/>
          <a:p>
            <a:pPr algn="l"/>
            <a:r>
              <a:rPr lang="en-GB">
                <a:solidFill>
                  <a:srgbClr val="FF0000"/>
                </a:solidFill>
                <a:highlight>
                  <a:srgbClr val="FFFF00"/>
                </a:highlight>
              </a:rPr>
              <a:t>???</a:t>
            </a:r>
            <a:endParaRPr lang="en-GB" sz="1800">
              <a:solidFill>
                <a:srgbClr val="FF0000"/>
              </a:solidFill>
              <a:highlight>
                <a:srgbClr val="FFFF00"/>
              </a:highlight>
            </a:endParaRPr>
          </a:p>
        </p:txBody>
      </p:sp>
      <p:sp>
        <p:nvSpPr>
          <p:cNvPr id="1087" name="TextBox 1086">
            <a:extLst>
              <a:ext uri="{FF2B5EF4-FFF2-40B4-BE49-F238E27FC236}">
                <a16:creationId xmlns:a16="http://schemas.microsoft.com/office/drawing/2014/main" id="{4AE14776-9279-C5F5-4A8C-FFAAFA4F5D97}"/>
              </a:ext>
            </a:extLst>
          </p:cNvPr>
          <p:cNvSpPr txBox="1"/>
          <p:nvPr/>
        </p:nvSpPr>
        <p:spPr>
          <a:xfrm>
            <a:off x="10961428" y="5767932"/>
            <a:ext cx="569387" cy="369332"/>
          </a:xfrm>
          <a:prstGeom prst="rect">
            <a:avLst/>
          </a:prstGeom>
          <a:noFill/>
        </p:spPr>
        <p:txBody>
          <a:bodyPr wrap="none" rtlCol="0">
            <a:spAutoFit/>
          </a:bodyPr>
          <a:lstStyle/>
          <a:p>
            <a:pPr algn="l"/>
            <a:r>
              <a:rPr lang="en-GB">
                <a:solidFill>
                  <a:srgbClr val="FF0000"/>
                </a:solidFill>
                <a:highlight>
                  <a:srgbClr val="FFFF00"/>
                </a:highlight>
              </a:rPr>
              <a:t>???</a:t>
            </a:r>
            <a:endParaRPr lang="en-GB" sz="1800">
              <a:solidFill>
                <a:srgbClr val="FF0000"/>
              </a:solidFill>
              <a:highlight>
                <a:srgbClr val="FFFF00"/>
              </a:highlight>
            </a:endParaRPr>
          </a:p>
        </p:txBody>
      </p:sp>
      <p:pic>
        <p:nvPicPr>
          <p:cNvPr id="1089" name="Picture 60" descr="Red flag - Free flags icons">
            <a:extLst>
              <a:ext uri="{FF2B5EF4-FFF2-40B4-BE49-F238E27FC236}">
                <a16:creationId xmlns:a16="http://schemas.microsoft.com/office/drawing/2014/main" id="{A010E9A4-8663-109B-F302-CD5C59FD799A}"/>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rot="1110450">
            <a:off x="22697646" y="9145256"/>
            <a:ext cx="898471" cy="898471"/>
          </a:xfrm>
          <a:prstGeom prst="rect">
            <a:avLst/>
          </a:prstGeom>
          <a:noFill/>
          <a:extLst>
            <a:ext uri="{909E8E84-426E-40DD-AFC4-6F175D3DCCD1}">
              <a14:hiddenFill xmlns:a14="http://schemas.microsoft.com/office/drawing/2010/main">
                <a:solidFill>
                  <a:srgbClr val="FFFFFF"/>
                </a:solidFill>
              </a14:hiddenFill>
            </a:ext>
          </a:extLst>
        </p:spPr>
      </p:pic>
      <p:pic>
        <p:nvPicPr>
          <p:cNvPr id="1090" name="Picture 60" descr="Red flag - Free flags icons">
            <a:extLst>
              <a:ext uri="{FF2B5EF4-FFF2-40B4-BE49-F238E27FC236}">
                <a16:creationId xmlns:a16="http://schemas.microsoft.com/office/drawing/2014/main" id="{736BE29D-7568-60FD-E434-059AA7BC203C}"/>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rot="1110450">
            <a:off x="6453951" y="7978479"/>
            <a:ext cx="898471" cy="898471"/>
          </a:xfrm>
          <a:prstGeom prst="rect">
            <a:avLst/>
          </a:prstGeom>
          <a:noFill/>
          <a:extLst>
            <a:ext uri="{909E8E84-426E-40DD-AFC4-6F175D3DCCD1}">
              <a14:hiddenFill xmlns:a14="http://schemas.microsoft.com/office/drawing/2010/main">
                <a:solidFill>
                  <a:srgbClr val="FFFFFF"/>
                </a:solidFill>
              </a14:hiddenFill>
            </a:ext>
          </a:extLst>
        </p:spPr>
      </p:pic>
      <p:sp>
        <p:nvSpPr>
          <p:cNvPr id="1091" name="TextBox 1090">
            <a:extLst>
              <a:ext uri="{FF2B5EF4-FFF2-40B4-BE49-F238E27FC236}">
                <a16:creationId xmlns:a16="http://schemas.microsoft.com/office/drawing/2014/main" id="{516A21F0-9983-1CC4-096F-908B7676037E}"/>
              </a:ext>
            </a:extLst>
          </p:cNvPr>
          <p:cNvSpPr txBox="1"/>
          <p:nvPr/>
        </p:nvSpPr>
        <p:spPr>
          <a:xfrm>
            <a:off x="8145908" y="7067301"/>
            <a:ext cx="428322" cy="369332"/>
          </a:xfrm>
          <a:prstGeom prst="rect">
            <a:avLst/>
          </a:prstGeom>
          <a:noFill/>
        </p:spPr>
        <p:txBody>
          <a:bodyPr wrap="none" rtlCol="0">
            <a:spAutoFit/>
          </a:bodyPr>
          <a:lstStyle/>
          <a:p>
            <a:pPr algn="l"/>
            <a:r>
              <a:rPr lang="en-GB" sz="1800"/>
              <a:t>4x</a:t>
            </a:r>
          </a:p>
        </p:txBody>
      </p:sp>
      <p:sp>
        <p:nvSpPr>
          <p:cNvPr id="1092" name="TextBox 1091">
            <a:extLst>
              <a:ext uri="{FF2B5EF4-FFF2-40B4-BE49-F238E27FC236}">
                <a16:creationId xmlns:a16="http://schemas.microsoft.com/office/drawing/2014/main" id="{854D36F2-EB2E-C2E1-C89E-35D55A0A04CD}"/>
              </a:ext>
            </a:extLst>
          </p:cNvPr>
          <p:cNvSpPr txBox="1"/>
          <p:nvPr/>
        </p:nvSpPr>
        <p:spPr>
          <a:xfrm>
            <a:off x="8173235" y="9901479"/>
            <a:ext cx="428322" cy="369332"/>
          </a:xfrm>
          <a:prstGeom prst="rect">
            <a:avLst/>
          </a:prstGeom>
          <a:noFill/>
        </p:spPr>
        <p:txBody>
          <a:bodyPr wrap="none" rtlCol="0">
            <a:spAutoFit/>
          </a:bodyPr>
          <a:lstStyle/>
          <a:p>
            <a:pPr algn="l"/>
            <a:r>
              <a:rPr lang="en-GB" sz="1800"/>
              <a:t>4x</a:t>
            </a:r>
          </a:p>
        </p:txBody>
      </p:sp>
    </p:spTree>
    <p:extLst>
      <p:ext uri="{BB962C8B-B14F-4D97-AF65-F5344CB8AC3E}">
        <p14:creationId xmlns:p14="http://schemas.microsoft.com/office/powerpoint/2010/main" val="408401205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49C47B-0E8E-4002-9AF2-834800A09DB1}"/>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82D94529-D208-D387-28E6-589AD8F968D6}"/>
              </a:ext>
            </a:extLst>
          </p:cNvPr>
          <p:cNvSpPr>
            <a:spLocks noGrp="1"/>
          </p:cNvSpPr>
          <p:nvPr>
            <p:ph type="body" sz="quarter" idx="16"/>
          </p:nvPr>
        </p:nvSpPr>
        <p:spPr>
          <a:xfrm>
            <a:off x="6122839" y="3715469"/>
            <a:ext cx="11160126" cy="4200146"/>
          </a:xfrm>
        </p:spPr>
        <p:txBody>
          <a:bodyPr anchor="ctr"/>
          <a:lstStyle/>
          <a:p>
            <a:pPr algn="ctr"/>
            <a:r>
              <a:rPr lang="en-GB" b="1">
                <a:latin typeface="Fira Sans Light" panose="020B0403050000020004" pitchFamily="34" charset="0"/>
              </a:rPr>
              <a:t>Requirements</a:t>
            </a:r>
          </a:p>
        </p:txBody>
      </p:sp>
    </p:spTree>
    <p:extLst>
      <p:ext uri="{BB962C8B-B14F-4D97-AF65-F5344CB8AC3E}">
        <p14:creationId xmlns:p14="http://schemas.microsoft.com/office/powerpoint/2010/main" val="20508617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E21824-6DE0-1647-C218-035248B596F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44A862B-C2AA-0DAF-91C5-71DF3CC08602}"/>
              </a:ext>
            </a:extLst>
          </p:cNvPr>
          <p:cNvSpPr>
            <a:spLocks noGrp="1"/>
          </p:cNvSpPr>
          <p:nvPr>
            <p:ph type="sldNum" sz="quarter" idx="11"/>
          </p:nvPr>
        </p:nvSpPr>
        <p:spPr/>
        <p:txBody>
          <a:bodyPr vert="horz" lIns="0" tIns="0" rIns="0" bIns="0" rtlCol="0" anchor="t" anchorCtr="0">
            <a:normAutofit/>
          </a:bodyPr>
          <a:lstStyle/>
          <a:p>
            <a:pPr>
              <a:spcAft>
                <a:spcPts val="600"/>
              </a:spcAft>
            </a:pPr>
            <a:fld id="{762E77F0-FB5B-4E8E-9BC9-34F14560A017}" type="slidenum">
              <a:rPr lang="en-US" smtClean="0"/>
              <a:pPr>
                <a:spcAft>
                  <a:spcPts val="600"/>
                </a:spcAft>
              </a:pPr>
              <a:t>20</a:t>
            </a:fld>
            <a:endParaRPr lang="en-US"/>
          </a:p>
        </p:txBody>
      </p:sp>
      <p:pic>
        <p:nvPicPr>
          <p:cNvPr id="9" name="Picture 4" descr="DMG Media - IAB Europe">
            <a:extLst>
              <a:ext uri="{FF2B5EF4-FFF2-40B4-BE49-F238E27FC236}">
                <a16:creationId xmlns:a16="http://schemas.microsoft.com/office/drawing/2014/main" id="{E5AEAA84-1D2B-5174-A450-1D5E8BC96A63}"/>
              </a:ext>
            </a:extLst>
          </p:cNvPr>
          <p:cNvPicPr>
            <a:picLocks noChangeAspect="1" noChangeArrowheads="1"/>
          </p:cNvPicPr>
          <p:nvPr/>
        </p:nvPicPr>
        <p:blipFill>
          <a:blip r:embed="rId2">
            <a:alphaModFix/>
            <a:extLst>
              <a:ext uri="{28A0092B-C50C-407E-A947-70E740481C1C}">
                <a14:useLocalDpi xmlns:a14="http://schemas.microsoft.com/office/drawing/2010/main" val="0"/>
              </a:ext>
            </a:extLst>
          </a:blip>
          <a:srcRect t="8496" b="8863"/>
          <a:stretch>
            <a:fillRect/>
          </a:stretch>
        </p:blipFill>
        <p:spPr bwMode="auto">
          <a:xfrm>
            <a:off x="388079" y="2647211"/>
            <a:ext cx="5658399" cy="1315185"/>
          </a:xfrm>
          <a:prstGeom prst="rect">
            <a:avLst/>
          </a:prstGeom>
          <a:solidFill>
            <a:schemeClr val="bg1"/>
          </a:solidFill>
        </p:spPr>
      </p:pic>
      <p:sp>
        <p:nvSpPr>
          <p:cNvPr id="12" name="TextBox 11">
            <a:extLst>
              <a:ext uri="{FF2B5EF4-FFF2-40B4-BE49-F238E27FC236}">
                <a16:creationId xmlns:a16="http://schemas.microsoft.com/office/drawing/2014/main" id="{CCCA77CC-AF3F-9261-EF67-9FDE46CE9C43}"/>
              </a:ext>
            </a:extLst>
          </p:cNvPr>
          <p:cNvSpPr txBox="1"/>
          <p:nvPr/>
        </p:nvSpPr>
        <p:spPr>
          <a:xfrm>
            <a:off x="7272974" y="562433"/>
            <a:ext cx="13363779" cy="1046440"/>
          </a:xfrm>
          <a:prstGeom prst="rect">
            <a:avLst/>
          </a:prstGeom>
          <a:noFill/>
        </p:spPr>
        <p:txBody>
          <a:bodyPr wrap="square" rtlCol="0">
            <a:spAutoFit/>
          </a:bodyPr>
          <a:lstStyle/>
          <a:p>
            <a:pPr algn="l"/>
            <a:r>
              <a:rPr lang="en-US" sz="6200" err="1">
                <a:solidFill>
                  <a:srgbClr val="FF0000"/>
                </a:solidFill>
                <a:latin typeface="Fira Sans Light" panose="020B0403050000020004" pitchFamily="34" charset="0"/>
              </a:rPr>
              <a:t>Organisation</a:t>
            </a:r>
            <a:r>
              <a:rPr lang="en-US" sz="6200">
                <a:solidFill>
                  <a:srgbClr val="FF0000"/>
                </a:solidFill>
                <a:latin typeface="Fira Sans Light" panose="020B0403050000020004" pitchFamily="34" charset="0"/>
              </a:rPr>
              <a:t> Profile</a:t>
            </a:r>
          </a:p>
        </p:txBody>
      </p:sp>
      <p:graphicFrame>
        <p:nvGraphicFramePr>
          <p:cNvPr id="13" name="Table 12">
            <a:extLst>
              <a:ext uri="{FF2B5EF4-FFF2-40B4-BE49-F238E27FC236}">
                <a16:creationId xmlns:a16="http://schemas.microsoft.com/office/drawing/2014/main" id="{5B8BEE4E-8AE0-05D7-FD96-1EBD9CD35DC9}"/>
              </a:ext>
            </a:extLst>
          </p:cNvPr>
          <p:cNvGraphicFramePr>
            <a:graphicFrameLocks noGrp="1"/>
          </p:cNvGraphicFramePr>
          <p:nvPr>
            <p:extLst>
              <p:ext uri="{D42A27DB-BD31-4B8C-83A1-F6EECF244321}">
                <p14:modId xmlns:p14="http://schemas.microsoft.com/office/powerpoint/2010/main" val="2388029589"/>
              </p:ext>
            </p:extLst>
          </p:nvPr>
        </p:nvGraphicFramePr>
        <p:xfrm>
          <a:off x="7272974" y="2647211"/>
          <a:ext cx="15479450" cy="8164224"/>
        </p:xfrm>
        <a:graphic>
          <a:graphicData uri="http://schemas.openxmlformats.org/drawingml/2006/table">
            <a:tbl>
              <a:tblPr firstRow="1">
                <a:tableStyleId>{5C22544A-7EE6-4342-B048-85BDC9FD1C3A}</a:tableStyleId>
              </a:tblPr>
              <a:tblGrid>
                <a:gridCol w="5708369">
                  <a:extLst>
                    <a:ext uri="{9D8B030D-6E8A-4147-A177-3AD203B41FA5}">
                      <a16:colId xmlns:a16="http://schemas.microsoft.com/office/drawing/2014/main" val="1525111598"/>
                    </a:ext>
                  </a:extLst>
                </a:gridCol>
                <a:gridCol w="9771081">
                  <a:extLst>
                    <a:ext uri="{9D8B030D-6E8A-4147-A177-3AD203B41FA5}">
                      <a16:colId xmlns:a16="http://schemas.microsoft.com/office/drawing/2014/main" val="1887819977"/>
                    </a:ext>
                  </a:extLst>
                </a:gridCol>
              </a:tblGrid>
              <a:tr h="1020528">
                <a:tc>
                  <a:txBody>
                    <a:bodyPr/>
                    <a:lstStyle/>
                    <a:p>
                      <a:r>
                        <a:rPr lang="en-US" sz="2800" b="1" kern="1200" err="1">
                          <a:solidFill>
                            <a:schemeClr val="tx1"/>
                          </a:solidFill>
                          <a:latin typeface="+mn-lt"/>
                          <a:ea typeface="+mn-ea"/>
                          <a:cs typeface="+mn-cs"/>
                        </a:rPr>
                        <a:t>Organisation</a:t>
                      </a:r>
                      <a:r>
                        <a:rPr lang="en-US" sz="2800" b="1" kern="1200">
                          <a:solidFill>
                            <a:schemeClr val="tx1"/>
                          </a:solidFill>
                          <a:latin typeface="+mn-lt"/>
                          <a:ea typeface="+mn-ea"/>
                          <a:cs typeface="+mn-cs"/>
                        </a:rPr>
                        <a:t> Name</a:t>
                      </a:r>
                    </a:p>
                  </a:txBody>
                  <a:tcPr marL="329184" marR="329184" marT="0" marB="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DMG Media</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1020528">
                <a:tc>
                  <a:txBody>
                    <a:bodyPr/>
                    <a:lstStyle/>
                    <a:p>
                      <a:pPr fontAlgn="base"/>
                      <a:r>
                        <a:rPr lang="en-US" sz="2800" b="1"/>
                        <a:t>Organisation Owner</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800"/>
                        <a:t>DMGT (Daily Mail and General Trust PLC)</a:t>
                      </a:r>
                      <a:endParaRPr lang="en-US" sz="2800"/>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10205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0000"/>
                          </a:solidFill>
                          <a:effectLst/>
                          <a:uLnTx/>
                          <a:uFillTx/>
                          <a:latin typeface="+mn-lt"/>
                          <a:ea typeface="+mn-ea"/>
                          <a:cs typeface="+mn-cs"/>
                        </a:rPr>
                        <a:t>Organisation Type / Date</a:t>
                      </a:r>
                      <a:endParaRPr kumimoji="0" lang="en-US" sz="2800" b="1"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0000"/>
                          </a:solidFill>
                          <a:effectLst/>
                          <a:uLnTx/>
                          <a:uFillTx/>
                          <a:latin typeface="+mn-lt"/>
                          <a:ea typeface="+mn-ea"/>
                          <a:cs typeface="+mn-cs"/>
                        </a:rPr>
                        <a:t>Private Limited Company (founded 1922)</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10205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0000"/>
                          </a:solidFill>
                          <a:effectLst/>
                          <a:uLnTx/>
                          <a:uFillTx/>
                          <a:latin typeface="+mn-lt"/>
                          <a:ea typeface="+mn-ea"/>
                          <a:cs typeface="+mn-cs"/>
                        </a:rPr>
                        <a:t>Organisation Industry</a:t>
                      </a:r>
                      <a:endParaRPr kumimoji="0" lang="en-US" sz="2800" b="1"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0000"/>
                          </a:solidFill>
                          <a:effectLst/>
                          <a:uLnTx/>
                          <a:uFillTx/>
                          <a:latin typeface="+mn-lt"/>
                          <a:ea typeface="+mn-ea"/>
                          <a:cs typeface="+mn-cs"/>
                        </a:rPr>
                        <a:t>Media</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1020528">
                <a:tc>
                  <a:txBody>
                    <a:bodyPr/>
                    <a:lstStyle/>
                    <a:p>
                      <a:r>
                        <a:rPr kumimoji="0" lang="en-US" sz="2800" b="1" i="0" u="none" strike="noStrike" kern="1200" cap="none" spc="0" normalizeH="0" baseline="0" noProof="0" err="1">
                          <a:ln>
                            <a:noFill/>
                          </a:ln>
                          <a:solidFill>
                            <a:srgbClr val="000000"/>
                          </a:solidFill>
                          <a:effectLst/>
                          <a:uLnTx/>
                          <a:uFillTx/>
                          <a:latin typeface="+mn-lt"/>
                          <a:ea typeface="+mn-ea"/>
                          <a:cs typeface="+mn-cs"/>
                        </a:rPr>
                        <a:t>Organisation</a:t>
                      </a:r>
                      <a:r>
                        <a:rPr kumimoji="0" lang="en-US" sz="2800" b="1" i="0" u="none" strike="noStrike" kern="1200" cap="none" spc="0" normalizeH="0" baseline="0" noProof="0">
                          <a:ln>
                            <a:noFill/>
                          </a:ln>
                          <a:solidFill>
                            <a:srgbClr val="000000"/>
                          </a:solidFill>
                          <a:effectLst/>
                          <a:uLnTx/>
                          <a:uFillTx/>
                          <a:latin typeface="+mn-lt"/>
                          <a:ea typeface="+mn-ea"/>
                          <a:cs typeface="+mn-cs"/>
                        </a:rPr>
                        <a:t> Size</a:t>
                      </a:r>
                      <a:endParaRPr lang="en-US" sz="2800" b="1"/>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800" b="0" i="0" u="none" strike="noStrike" kern="1200" cap="none" spc="0" normalizeH="0" baseline="0" noProof="0">
                          <a:ln>
                            <a:noFill/>
                          </a:ln>
                          <a:solidFill>
                            <a:srgbClr val="000000"/>
                          </a:solidFill>
                          <a:effectLst/>
                          <a:uLnTx/>
                          <a:uFillTx/>
                          <a:latin typeface="Arial"/>
                          <a:ea typeface="+mn-ea"/>
                          <a:cs typeface="+mn-cs"/>
                        </a:rPr>
                        <a:t>4000 </a:t>
                      </a:r>
                      <a:r>
                        <a:rPr kumimoji="0" lang="en-GB" sz="2800" b="0" i="0" u="none" strike="noStrike" kern="1200" cap="none" spc="0" normalizeH="0" baseline="0" noProof="0">
                          <a:ln>
                            <a:noFill/>
                          </a:ln>
                          <a:solidFill>
                            <a:srgbClr val="000000"/>
                          </a:solidFill>
                          <a:effectLst/>
                          <a:uLnTx/>
                          <a:uFillTx/>
                          <a:latin typeface="+mn-lt"/>
                          <a:ea typeface="+mn-ea"/>
                          <a:cs typeface="+mn-cs"/>
                        </a:rPr>
                        <a:t>Employees</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10205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0000"/>
                          </a:solidFill>
                          <a:effectLst/>
                          <a:uLnTx/>
                          <a:uFillTx/>
                          <a:latin typeface="+mn-lt"/>
                          <a:ea typeface="+mn-ea"/>
                          <a:cs typeface="+mn-cs"/>
                        </a:rPr>
                        <a:t>Organisation Headquarters</a:t>
                      </a:r>
                      <a:endParaRPr kumimoji="0" lang="en-US" sz="2800" b="1"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0000"/>
                          </a:solidFill>
                          <a:effectLst/>
                          <a:uLnTx/>
                          <a:uFillTx/>
                          <a:latin typeface="+mn-lt"/>
                          <a:ea typeface="+mn-ea"/>
                          <a:cs typeface="+mn-cs"/>
                        </a:rPr>
                        <a:t>Kensington, London, England</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10205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mn-lt"/>
                          <a:ea typeface="+mn-ea"/>
                          <a:cs typeface="+mn-cs"/>
                        </a:rPr>
                        <a:t>Organisation Markets</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Worldwide</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9755113"/>
                  </a:ext>
                </a:extLst>
              </a:tr>
              <a:tr h="10205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err="1">
                          <a:ln>
                            <a:noFill/>
                          </a:ln>
                          <a:solidFill>
                            <a:srgbClr val="000000"/>
                          </a:solidFill>
                          <a:effectLst/>
                          <a:uLnTx/>
                          <a:uFillTx/>
                          <a:latin typeface="+mn-lt"/>
                          <a:ea typeface="+mn-ea"/>
                          <a:cs typeface="+mn-cs"/>
                        </a:rPr>
                        <a:t>Organisation</a:t>
                      </a:r>
                      <a:r>
                        <a:rPr kumimoji="0" lang="en-GB" sz="2800" b="1" i="0" u="none" strike="noStrike" kern="1200" cap="none" spc="0" normalizeH="0" baseline="0" noProof="0">
                          <a:ln>
                            <a:noFill/>
                          </a:ln>
                          <a:solidFill>
                            <a:srgbClr val="000000"/>
                          </a:solidFill>
                          <a:effectLst/>
                          <a:uLnTx/>
                          <a:uFillTx/>
                          <a:latin typeface="+mn-lt"/>
                          <a:ea typeface="+mn-ea"/>
                          <a:cs typeface="+mn-cs"/>
                        </a:rPr>
                        <a:t> Website</a:t>
                      </a:r>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r>
                        <a:rPr lang="en-US" sz="2800">
                          <a:solidFill>
                            <a:srgbClr val="FF0000"/>
                          </a:solidFill>
                        </a:rPr>
                        <a:t>https://www.dmgmedia.co.uk/</a:t>
                      </a:r>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2523732811"/>
                  </a:ext>
                </a:extLst>
              </a:tr>
            </a:tbl>
          </a:graphicData>
        </a:graphic>
      </p:graphicFrame>
    </p:spTree>
    <p:extLst>
      <p:ext uri="{BB962C8B-B14F-4D97-AF65-F5344CB8AC3E}">
        <p14:creationId xmlns:p14="http://schemas.microsoft.com/office/powerpoint/2010/main" val="235047426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9E107349-5664-5CC5-E238-81D720A13FD8}"/>
              </a:ext>
            </a:extLst>
          </p:cNvPr>
          <p:cNvSpPr>
            <a:spLocks noGrp="1"/>
          </p:cNvSpPr>
          <p:nvPr>
            <p:ph type="title"/>
          </p:nvPr>
        </p:nvSpPr>
        <p:spPr>
          <a:xfrm>
            <a:off x="668995" y="537179"/>
            <a:ext cx="7390486" cy="968086"/>
          </a:xfrm>
        </p:spPr>
        <p:txBody>
          <a:bodyPr/>
          <a:lstStyle/>
          <a:p>
            <a:r>
              <a:rPr lang="en-GB"/>
              <a:t>Organisation Profile</a:t>
            </a:r>
            <a:endParaRPr lang="en-AE"/>
          </a:p>
        </p:txBody>
      </p:sp>
      <p:graphicFrame>
        <p:nvGraphicFramePr>
          <p:cNvPr id="9" name="Table 8">
            <a:extLst>
              <a:ext uri="{FF2B5EF4-FFF2-40B4-BE49-F238E27FC236}">
                <a16:creationId xmlns:a16="http://schemas.microsoft.com/office/drawing/2014/main" id="{765BB37E-34AC-485A-8F9B-40FDFF086B45}"/>
              </a:ext>
            </a:extLst>
          </p:cNvPr>
          <p:cNvGraphicFramePr>
            <a:graphicFrameLocks noGrp="1"/>
          </p:cNvGraphicFramePr>
          <p:nvPr/>
        </p:nvGraphicFramePr>
        <p:xfrm>
          <a:off x="6713576" y="2779534"/>
          <a:ext cx="16981452" cy="7699424"/>
        </p:xfrm>
        <a:graphic>
          <a:graphicData uri="http://schemas.openxmlformats.org/drawingml/2006/table">
            <a:tbl>
              <a:tblPr firstRow="1">
                <a:tableStyleId>{5C22544A-7EE6-4342-B048-85BDC9FD1C3A}</a:tableStyleId>
              </a:tblPr>
              <a:tblGrid>
                <a:gridCol w="6262264">
                  <a:extLst>
                    <a:ext uri="{9D8B030D-6E8A-4147-A177-3AD203B41FA5}">
                      <a16:colId xmlns:a16="http://schemas.microsoft.com/office/drawing/2014/main" val="1525111598"/>
                    </a:ext>
                  </a:extLst>
                </a:gridCol>
                <a:gridCol w="10719188">
                  <a:extLst>
                    <a:ext uri="{9D8B030D-6E8A-4147-A177-3AD203B41FA5}">
                      <a16:colId xmlns:a16="http://schemas.microsoft.com/office/drawing/2014/main" val="1887819977"/>
                    </a:ext>
                  </a:extLst>
                </a:gridCol>
              </a:tblGrid>
              <a:tr h="962428">
                <a:tc>
                  <a:txBody>
                    <a:bodyPr/>
                    <a:lstStyle/>
                    <a:p>
                      <a:r>
                        <a:rPr lang="en-US" sz="2800" b="1" kern="1200">
                          <a:solidFill>
                            <a:schemeClr val="tx1"/>
                          </a:solidFill>
                          <a:latin typeface="+mn-lt"/>
                          <a:ea typeface="+mn-ea"/>
                          <a:cs typeface="+mn-cs"/>
                        </a:rPr>
                        <a:t>Organisation Name</a:t>
                      </a:r>
                    </a:p>
                  </a:txBody>
                  <a:tcPr marL="329184" marR="329184" marT="0" marB="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Achilles Information Limited</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962428">
                <a:tc>
                  <a:txBody>
                    <a:bodyPr/>
                    <a:lstStyle/>
                    <a:p>
                      <a:pPr fontAlgn="base"/>
                      <a:r>
                        <a:rPr lang="en-US" sz="2800" b="1"/>
                        <a:t>Organisation Owner</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800"/>
                        <a:t>Bridgepoint Development Capital (“BDC”)</a:t>
                      </a:r>
                      <a:endParaRPr lang="en-US" sz="2800"/>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9624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0000"/>
                          </a:solidFill>
                          <a:effectLst/>
                          <a:uLnTx/>
                          <a:uFillTx/>
                          <a:latin typeface="+mn-lt"/>
                          <a:ea typeface="+mn-ea"/>
                          <a:cs typeface="+mn-cs"/>
                        </a:rPr>
                        <a:t>Organisation Type / Date</a:t>
                      </a:r>
                      <a:endParaRPr kumimoji="0" lang="en-US" sz="2800" b="1"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0000"/>
                          </a:solidFill>
                          <a:effectLst/>
                          <a:uLnTx/>
                          <a:uFillTx/>
                          <a:latin typeface="+mn-lt"/>
                          <a:ea typeface="+mn-ea"/>
                          <a:cs typeface="+mn-cs"/>
                        </a:rPr>
                        <a:t>Private limited Company (founded in 1991)</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9624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0000"/>
                          </a:solidFill>
                          <a:effectLst/>
                          <a:uLnTx/>
                          <a:uFillTx/>
                          <a:latin typeface="+mn-lt"/>
                          <a:ea typeface="+mn-ea"/>
                          <a:cs typeface="+mn-cs"/>
                        </a:rPr>
                        <a:t>Organisation Industry</a:t>
                      </a:r>
                      <a:endParaRPr kumimoji="0" lang="en-US" sz="2800" b="1"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0000"/>
                          </a:solidFill>
                          <a:effectLst/>
                          <a:uLnTx/>
                          <a:uFillTx/>
                          <a:latin typeface="+mn-lt"/>
                          <a:ea typeface="+mn-ea"/>
                          <a:cs typeface="+mn-cs"/>
                        </a:rPr>
                        <a:t>Business Intelligence Platforms</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962428">
                <a:tc>
                  <a:txBody>
                    <a:bodyPr/>
                    <a:lstStyle/>
                    <a:p>
                      <a:r>
                        <a:rPr kumimoji="0" lang="en-US" sz="2800" b="1" i="0" u="none" strike="noStrike" kern="1200" cap="none" spc="0" normalizeH="0" baseline="0" noProof="0">
                          <a:ln>
                            <a:noFill/>
                          </a:ln>
                          <a:solidFill>
                            <a:srgbClr val="000000"/>
                          </a:solidFill>
                          <a:effectLst/>
                          <a:uLnTx/>
                          <a:uFillTx/>
                          <a:latin typeface="+mn-lt"/>
                          <a:ea typeface="+mn-ea"/>
                          <a:cs typeface="+mn-cs"/>
                        </a:rPr>
                        <a:t>Organisation Size</a:t>
                      </a:r>
                      <a:endParaRPr lang="en-US" sz="2800" b="1"/>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0000"/>
                          </a:solidFill>
                          <a:effectLst/>
                          <a:uLnTx/>
                          <a:uFillTx/>
                          <a:latin typeface="Arial"/>
                          <a:ea typeface="+mn-ea"/>
                          <a:cs typeface="+mn-cs"/>
                        </a:rPr>
                        <a:t>Between </a:t>
                      </a:r>
                      <a:r>
                        <a:rPr kumimoji="0" lang="en-GB" sz="2800" b="0" i="0" u="none" strike="noStrike" kern="1200" cap="none" spc="0" normalizeH="0" baseline="0" noProof="0">
                          <a:ln>
                            <a:noFill/>
                          </a:ln>
                          <a:solidFill>
                            <a:srgbClr val="000000"/>
                          </a:solidFill>
                          <a:effectLst/>
                          <a:uLnTx/>
                          <a:uFillTx/>
                          <a:latin typeface="+mn-lt"/>
                          <a:ea typeface="+mn-ea"/>
                          <a:cs typeface="+mn-cs"/>
                        </a:rPr>
                        <a:t>500 and 1,000 Employees</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9624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0000"/>
                          </a:solidFill>
                          <a:effectLst/>
                          <a:uLnTx/>
                          <a:uFillTx/>
                          <a:latin typeface="+mn-lt"/>
                          <a:ea typeface="+mn-ea"/>
                          <a:cs typeface="+mn-cs"/>
                        </a:rPr>
                        <a:t>Organisation Headquarters</a:t>
                      </a:r>
                      <a:endParaRPr kumimoji="0" lang="en-US" sz="2800" b="1"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0000"/>
                          </a:solidFill>
                          <a:effectLst/>
                          <a:uLnTx/>
                          <a:uFillTx/>
                          <a:latin typeface="+mn-lt"/>
                          <a:ea typeface="+mn-ea"/>
                          <a:cs typeface="+mn-cs"/>
                        </a:rPr>
                        <a:t>Abingdon, Oxfordshire, England</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9624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mn-lt"/>
                          <a:ea typeface="+mn-ea"/>
                          <a:cs typeface="+mn-cs"/>
                        </a:rPr>
                        <a:t>Organisation Markets</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Worldwide</a:t>
                      </a:r>
                      <a:endParaRPr kumimoji="0" lang="en-US" sz="2800" b="0" i="0" u="none" strike="noStrike" kern="1200" cap="none" spc="0" normalizeH="0" baseline="0" noProof="0">
                        <a:ln>
                          <a:noFill/>
                        </a:ln>
                        <a:solidFill>
                          <a:srgbClr val="000000"/>
                        </a:solidFill>
                        <a:effectLst/>
                        <a:uLnTx/>
                        <a:uFillTx/>
                        <a:latin typeface="Arial"/>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9755113"/>
                  </a:ext>
                </a:extLst>
              </a:tr>
              <a:tr h="9624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mn-lt"/>
                          <a:ea typeface="+mn-ea"/>
                          <a:cs typeface="+mn-cs"/>
                        </a:rPr>
                        <a:t>Organisation</a:t>
                      </a:r>
                      <a:r>
                        <a:rPr kumimoji="0" lang="en-GB" sz="2800" b="1" i="0" u="none" strike="noStrike" kern="1200" cap="none" spc="0" normalizeH="0" baseline="0" noProof="0">
                          <a:ln>
                            <a:noFill/>
                          </a:ln>
                          <a:solidFill>
                            <a:srgbClr val="000000"/>
                          </a:solidFill>
                          <a:effectLst/>
                          <a:uLnTx/>
                          <a:uFillTx/>
                          <a:latin typeface="+mn-lt"/>
                          <a:ea typeface="+mn-ea"/>
                          <a:cs typeface="+mn-cs"/>
                        </a:rPr>
                        <a:t> Website</a:t>
                      </a:r>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r>
                        <a:rPr lang="en-US" sz="2800">
                          <a:hlinkClick r:id="rId2"/>
                        </a:rPr>
                        <a:t>https://www.achilles.com</a:t>
                      </a:r>
                      <a:endParaRPr lang="en-US" sz="2800"/>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2523732811"/>
                  </a:ext>
                </a:extLst>
              </a:tr>
            </a:tbl>
          </a:graphicData>
        </a:graphic>
      </p:graphicFrame>
      <p:pic>
        <p:nvPicPr>
          <p:cNvPr id="11" name="Picture 2">
            <a:extLst>
              <a:ext uri="{FF2B5EF4-FFF2-40B4-BE49-F238E27FC236}">
                <a16:creationId xmlns:a16="http://schemas.microsoft.com/office/drawing/2014/main" id="{525E6031-479A-8350-C99A-E0DC0209B389}"/>
              </a:ext>
            </a:extLst>
          </p:cNvPr>
          <p:cNvPicPr>
            <a:picLocks noChangeAspect="1" noChangeArrowheads="1"/>
          </p:cNvPicPr>
          <p:nvPr/>
        </p:nvPicPr>
        <p:blipFill>
          <a:blip r:embed="rId3"/>
          <a:srcRect/>
          <a:stretch/>
        </p:blipFill>
        <p:spPr bwMode="auto">
          <a:xfrm>
            <a:off x="1224103" y="2779534"/>
            <a:ext cx="3501642" cy="19509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5873893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8848C5-59DA-7811-F705-7D1DB6DBF3C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07D1E90B-637B-B4FA-0FBC-18021D49B7E8}"/>
              </a:ext>
            </a:extLst>
          </p:cNvPr>
          <p:cNvSpPr>
            <a:spLocks noGrp="1"/>
          </p:cNvSpPr>
          <p:nvPr>
            <p:ph type="title"/>
          </p:nvPr>
        </p:nvSpPr>
        <p:spPr>
          <a:xfrm>
            <a:off x="668992" y="537179"/>
            <a:ext cx="22991108" cy="997837"/>
          </a:xfrm>
        </p:spPr>
        <p:txBody>
          <a:bodyPr/>
          <a:lstStyle/>
          <a:p>
            <a:r>
              <a:rPr lang="en-GB">
                <a:solidFill>
                  <a:srgbClr val="FF0000"/>
                </a:solidFill>
                <a:latin typeface="Fira Sans Light" panose="020B0403050000020004" pitchFamily="34" charset="0"/>
              </a:rPr>
              <a:t>Organisation Global Presence</a:t>
            </a:r>
            <a:endParaRPr lang="en-AE">
              <a:solidFill>
                <a:srgbClr val="FF0000"/>
              </a:solidFill>
              <a:latin typeface="Fira Sans Light" panose="020B0403050000020004" pitchFamily="34" charset="0"/>
            </a:endParaRPr>
          </a:p>
        </p:txBody>
      </p:sp>
      <p:grpSp>
        <p:nvGrpSpPr>
          <p:cNvPr id="10" name="Group 9">
            <a:extLst>
              <a:ext uri="{FF2B5EF4-FFF2-40B4-BE49-F238E27FC236}">
                <a16:creationId xmlns:a16="http://schemas.microsoft.com/office/drawing/2014/main" id="{7F10BB89-DDBF-02C0-E62D-2FA22ED66EA0}"/>
              </a:ext>
            </a:extLst>
          </p:cNvPr>
          <p:cNvGrpSpPr/>
          <p:nvPr/>
        </p:nvGrpSpPr>
        <p:grpSpPr>
          <a:xfrm>
            <a:off x="1630268" y="2755186"/>
            <a:ext cx="21382132" cy="10481845"/>
            <a:chOff x="1630268" y="2929355"/>
            <a:chExt cx="19806920" cy="9669970"/>
          </a:xfrm>
        </p:grpSpPr>
        <p:pic>
          <p:nvPicPr>
            <p:cNvPr id="6" name="Picture 5">
              <a:extLst>
                <a:ext uri="{FF2B5EF4-FFF2-40B4-BE49-F238E27FC236}">
                  <a16:creationId xmlns:a16="http://schemas.microsoft.com/office/drawing/2014/main" id="{547142CA-A2B5-C2EE-FC12-EFE8DA2E6B1D}"/>
                </a:ext>
              </a:extLst>
            </p:cNvPr>
            <p:cNvPicPr>
              <a:picLocks noChangeAspect="1"/>
            </p:cNvPicPr>
            <p:nvPr/>
          </p:nvPicPr>
          <p:blipFill>
            <a:blip r:embed="rId10"/>
            <a:stretch>
              <a:fillRect/>
            </a:stretch>
          </p:blipFill>
          <p:spPr>
            <a:xfrm>
              <a:off x="1630268" y="2929355"/>
              <a:ext cx="19806920" cy="9669970"/>
            </a:xfrm>
            <a:prstGeom prst="rect">
              <a:avLst/>
            </a:prstGeom>
          </p:spPr>
        </p:pic>
        <p:sp>
          <p:nvSpPr>
            <p:cNvPr id="14" name="Text Placeholder 5">
              <a:extLst>
                <a:ext uri="{FF2B5EF4-FFF2-40B4-BE49-F238E27FC236}">
                  <a16:creationId xmlns:a16="http://schemas.microsoft.com/office/drawing/2014/main" id="{251D3E83-9B72-B4E8-D488-25DAFD3BECB9}"/>
                </a:ext>
              </a:extLst>
            </p:cNvPr>
            <p:cNvSpPr txBox="1">
              <a:spLocks/>
            </p:cNvSpPr>
            <p:nvPr/>
          </p:nvSpPr>
          <p:spPr>
            <a:xfrm>
              <a:off x="11009483" y="5931950"/>
              <a:ext cx="1950751" cy="492443"/>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1828800">
                <a:spcAft>
                  <a:spcPts val="0"/>
                </a:spcAft>
                <a:buNone/>
                <a:defRPr/>
              </a:pPr>
              <a:r>
                <a:rPr lang="en-GB" sz="1600">
                  <a:solidFill>
                    <a:srgbClr val="FF0000"/>
                  </a:solidFill>
                  <a:latin typeface="Fira Sans Light" panose="020B0403050000020004" pitchFamily="34" charset="0"/>
                </a:rPr>
                <a:t>London - Reading</a:t>
              </a:r>
            </a:p>
            <a:p>
              <a:pPr marL="0" indent="0" defTabSz="1828800">
                <a:spcAft>
                  <a:spcPts val="0"/>
                </a:spcAft>
                <a:buNone/>
                <a:defRPr/>
              </a:pPr>
              <a:r>
                <a:rPr lang="en-GB" sz="1600">
                  <a:solidFill>
                    <a:srgbClr val="FF0000"/>
                  </a:solidFill>
                  <a:latin typeface="Fira Sans Light" panose="020B0403050000020004" pitchFamily="34" charset="0"/>
                </a:rPr>
                <a:t>London - Slough</a:t>
              </a:r>
              <a:endParaRPr lang="en-AE" sz="1600">
                <a:solidFill>
                  <a:srgbClr val="FF0000"/>
                </a:solidFill>
                <a:latin typeface="Fira Sans Light" panose="020B0403050000020004" pitchFamily="34" charset="0"/>
              </a:endParaRPr>
            </a:p>
          </p:txBody>
        </p:sp>
        <p:sp>
          <p:nvSpPr>
            <p:cNvPr id="8" name="Text Placeholder 5">
              <a:extLst>
                <a:ext uri="{FF2B5EF4-FFF2-40B4-BE49-F238E27FC236}">
                  <a16:creationId xmlns:a16="http://schemas.microsoft.com/office/drawing/2014/main" id="{7F60CD8B-7111-6397-6939-75341E3F5B65}"/>
                </a:ext>
              </a:extLst>
            </p:cNvPr>
            <p:cNvSpPr txBox="1">
              <a:spLocks/>
            </p:cNvSpPr>
            <p:nvPr/>
          </p:nvSpPr>
          <p:spPr>
            <a:xfrm>
              <a:off x="18800813" y="11152918"/>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FF0000"/>
                  </a:solidFill>
                  <a:latin typeface="Fira Sans Light" panose="020B0403050000020004" pitchFamily="34" charset="0"/>
                </a:rPr>
                <a:t>Sydney</a:t>
              </a:r>
              <a:endParaRPr lang="en-AE" sz="1600">
                <a:solidFill>
                  <a:srgbClr val="FF0000"/>
                </a:solidFill>
                <a:latin typeface="Fira Sans Light" panose="020B0403050000020004" pitchFamily="34" charset="0"/>
              </a:endParaRPr>
            </a:p>
          </p:txBody>
        </p:sp>
        <p:pic>
          <p:nvPicPr>
            <p:cNvPr id="9" name="CustomIcon">
              <a:extLst>
                <a:ext uri="{FF2B5EF4-FFF2-40B4-BE49-F238E27FC236}">
                  <a16:creationId xmlns:a16="http://schemas.microsoft.com/office/drawing/2014/main" id="{07E2DF1C-F4EC-D398-68A6-E69836CB6532}"/>
                </a:ext>
              </a:extLst>
            </p:cNvPr>
            <p:cNvPicPr>
              <a:picLocks noChangeAspect="1"/>
            </p:cNvPicPr>
            <p:nvPr>
              <p:custDataLst>
                <p:tags r:id="rId1"/>
              </p:custDataLst>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18969041" y="10932728"/>
              <a:ext cx="298298" cy="291624"/>
            </a:xfrm>
            <a:prstGeom prst="rect">
              <a:avLst/>
            </a:prstGeom>
          </p:spPr>
        </p:pic>
        <p:sp>
          <p:nvSpPr>
            <p:cNvPr id="32" name="Text Placeholder 5">
              <a:extLst>
                <a:ext uri="{FF2B5EF4-FFF2-40B4-BE49-F238E27FC236}">
                  <a16:creationId xmlns:a16="http://schemas.microsoft.com/office/drawing/2014/main" id="{AB761790-BC3D-2789-7183-62D3816AA953}"/>
                </a:ext>
              </a:extLst>
            </p:cNvPr>
            <p:cNvSpPr txBox="1">
              <a:spLocks/>
            </p:cNvSpPr>
            <p:nvPr/>
          </p:nvSpPr>
          <p:spPr>
            <a:xfrm>
              <a:off x="9172211" y="5773125"/>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Fira Sans Light" panose="020B0403050000020004" pitchFamily="34" charset="0"/>
                </a:rPr>
                <a:t>Dublin</a:t>
              </a:r>
              <a:endParaRPr lang="en-AE" sz="1600">
                <a:solidFill>
                  <a:srgbClr val="000000"/>
                </a:solidFill>
                <a:latin typeface="Fira Sans Light" panose="020B0403050000020004" pitchFamily="34" charset="0"/>
              </a:endParaRPr>
            </a:p>
          </p:txBody>
        </p:sp>
        <p:pic>
          <p:nvPicPr>
            <p:cNvPr id="33" name="CustomIcon">
              <a:extLst>
                <a:ext uri="{FF2B5EF4-FFF2-40B4-BE49-F238E27FC236}">
                  <a16:creationId xmlns:a16="http://schemas.microsoft.com/office/drawing/2014/main" id="{ED75D216-FDD1-2319-7F0D-41D571F537EA}"/>
                </a:ext>
              </a:extLst>
            </p:cNvPr>
            <p:cNvPicPr>
              <a:picLocks noChangeAspect="1"/>
            </p:cNvPicPr>
            <p:nvPr>
              <p:custDataLst>
                <p:tags r:id="rId2"/>
              </p:custDataLst>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10313903" y="5679302"/>
              <a:ext cx="298298" cy="291624"/>
            </a:xfrm>
            <a:prstGeom prst="rect">
              <a:avLst/>
            </a:prstGeom>
          </p:spPr>
        </p:pic>
        <p:pic>
          <p:nvPicPr>
            <p:cNvPr id="34" name="CustomIcon">
              <a:extLst>
                <a:ext uri="{FF2B5EF4-FFF2-40B4-BE49-F238E27FC236}">
                  <a16:creationId xmlns:a16="http://schemas.microsoft.com/office/drawing/2014/main" id="{CFF57321-6831-89AD-3A6A-21CBCE6B6FDD}"/>
                </a:ext>
              </a:extLst>
            </p:cNvPr>
            <p:cNvPicPr>
              <a:picLocks noChangeAspect="1"/>
            </p:cNvPicPr>
            <p:nvPr>
              <p:custDataLst>
                <p:tags r:id="rId3"/>
              </p:custDataLst>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10711185" y="5786138"/>
              <a:ext cx="298298" cy="291624"/>
            </a:xfrm>
            <a:prstGeom prst="rect">
              <a:avLst/>
            </a:prstGeom>
          </p:spPr>
        </p:pic>
        <p:pic>
          <p:nvPicPr>
            <p:cNvPr id="35" name="CustomIcon">
              <a:extLst>
                <a:ext uri="{FF2B5EF4-FFF2-40B4-BE49-F238E27FC236}">
                  <a16:creationId xmlns:a16="http://schemas.microsoft.com/office/drawing/2014/main" id="{B214D33A-4501-9C61-22EA-7273A14E86A6}"/>
                </a:ext>
              </a:extLst>
            </p:cNvPr>
            <p:cNvPicPr>
              <a:picLocks noChangeAspect="1"/>
            </p:cNvPicPr>
            <p:nvPr>
              <p:custDataLst>
                <p:tags r:id="rId4"/>
              </p:custDataLst>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10509384" y="5456617"/>
              <a:ext cx="298298" cy="291624"/>
            </a:xfrm>
            <a:prstGeom prst="rect">
              <a:avLst/>
            </a:prstGeom>
          </p:spPr>
        </p:pic>
        <p:sp>
          <p:nvSpPr>
            <p:cNvPr id="36" name="Text Placeholder 5">
              <a:extLst>
                <a:ext uri="{FF2B5EF4-FFF2-40B4-BE49-F238E27FC236}">
                  <a16:creationId xmlns:a16="http://schemas.microsoft.com/office/drawing/2014/main" id="{6E543783-8E40-29D3-2BAB-D42570ACD6D9}"/>
                </a:ext>
              </a:extLst>
            </p:cNvPr>
            <p:cNvSpPr txBox="1">
              <a:spLocks/>
            </p:cNvSpPr>
            <p:nvPr/>
          </p:nvSpPr>
          <p:spPr>
            <a:xfrm>
              <a:off x="10711185" y="5353901"/>
              <a:ext cx="1545335"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Fira Sans Light" panose="020B0403050000020004" pitchFamily="34" charset="0"/>
                </a:rPr>
                <a:t>Carn, Glasgow</a:t>
              </a:r>
              <a:endParaRPr lang="en-AE" sz="1600">
                <a:solidFill>
                  <a:srgbClr val="000000"/>
                </a:solidFill>
                <a:latin typeface="Fira Sans Light" panose="020B0403050000020004" pitchFamily="34" charset="0"/>
              </a:endParaRPr>
            </a:p>
          </p:txBody>
        </p:sp>
        <p:pic>
          <p:nvPicPr>
            <p:cNvPr id="38" name="CustomIcon">
              <a:extLst>
                <a:ext uri="{FF2B5EF4-FFF2-40B4-BE49-F238E27FC236}">
                  <a16:creationId xmlns:a16="http://schemas.microsoft.com/office/drawing/2014/main" id="{CA1CB7F5-279E-D912-7F3F-2C28976F433C}"/>
                </a:ext>
              </a:extLst>
            </p:cNvPr>
            <p:cNvPicPr>
              <a:picLocks noChangeAspect="1"/>
            </p:cNvPicPr>
            <p:nvPr>
              <p:custDataLst>
                <p:tags r:id="rId5"/>
              </p:custDataLst>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6526557" y="6652823"/>
              <a:ext cx="298298" cy="291624"/>
            </a:xfrm>
            <a:prstGeom prst="rect">
              <a:avLst/>
            </a:prstGeom>
          </p:spPr>
        </p:pic>
        <p:sp>
          <p:nvSpPr>
            <p:cNvPr id="39" name="Text Placeholder 5">
              <a:extLst>
                <a:ext uri="{FF2B5EF4-FFF2-40B4-BE49-F238E27FC236}">
                  <a16:creationId xmlns:a16="http://schemas.microsoft.com/office/drawing/2014/main" id="{899DD27C-055C-CBFD-B90E-E8BC5B0B7132}"/>
                </a:ext>
              </a:extLst>
            </p:cNvPr>
            <p:cNvSpPr txBox="1">
              <a:spLocks/>
            </p:cNvSpPr>
            <p:nvPr/>
          </p:nvSpPr>
          <p:spPr>
            <a:xfrm>
              <a:off x="6526557" y="6721474"/>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Fira Sans Light" panose="020B0403050000020004" pitchFamily="34" charset="0"/>
                </a:rPr>
                <a:t>New York</a:t>
              </a:r>
              <a:endParaRPr lang="en-AE" sz="1600">
                <a:solidFill>
                  <a:srgbClr val="000000"/>
                </a:solidFill>
                <a:latin typeface="Fira Sans Light" panose="020B0403050000020004" pitchFamily="34" charset="0"/>
              </a:endParaRPr>
            </a:p>
          </p:txBody>
        </p:sp>
        <p:pic>
          <p:nvPicPr>
            <p:cNvPr id="40" name="CustomIcon">
              <a:extLst>
                <a:ext uri="{FF2B5EF4-FFF2-40B4-BE49-F238E27FC236}">
                  <a16:creationId xmlns:a16="http://schemas.microsoft.com/office/drawing/2014/main" id="{21EA1A8C-C7A7-159E-1BD0-11B350C35F54}"/>
                </a:ext>
              </a:extLst>
            </p:cNvPr>
            <p:cNvPicPr>
              <a:picLocks noChangeAspect="1"/>
            </p:cNvPicPr>
            <p:nvPr>
              <p:custDataLst>
                <p:tags r:id="rId6"/>
              </p:custDataLst>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4208633" y="6921746"/>
              <a:ext cx="298298" cy="291624"/>
            </a:xfrm>
            <a:prstGeom prst="rect">
              <a:avLst/>
            </a:prstGeom>
          </p:spPr>
        </p:pic>
        <p:sp>
          <p:nvSpPr>
            <p:cNvPr id="41" name="Text Placeholder 5">
              <a:extLst>
                <a:ext uri="{FF2B5EF4-FFF2-40B4-BE49-F238E27FC236}">
                  <a16:creationId xmlns:a16="http://schemas.microsoft.com/office/drawing/2014/main" id="{584C06BA-A077-F8BB-5602-449EC56CE8B2}"/>
                </a:ext>
              </a:extLst>
            </p:cNvPr>
            <p:cNvSpPr txBox="1">
              <a:spLocks/>
            </p:cNvSpPr>
            <p:nvPr/>
          </p:nvSpPr>
          <p:spPr>
            <a:xfrm>
              <a:off x="2866734" y="6944447"/>
              <a:ext cx="1281428"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Fira Sans Light" panose="020B0403050000020004" pitchFamily="34" charset="0"/>
                </a:rPr>
                <a:t>Los Angeles</a:t>
              </a:r>
              <a:endParaRPr lang="en-AE" sz="1600">
                <a:solidFill>
                  <a:srgbClr val="000000"/>
                </a:solidFill>
                <a:latin typeface="Fira Sans Light" panose="020B0403050000020004" pitchFamily="34" charset="0"/>
              </a:endParaRPr>
            </a:p>
          </p:txBody>
        </p:sp>
        <p:pic>
          <p:nvPicPr>
            <p:cNvPr id="2" name="CustomIcon">
              <a:extLst>
                <a:ext uri="{FF2B5EF4-FFF2-40B4-BE49-F238E27FC236}">
                  <a16:creationId xmlns:a16="http://schemas.microsoft.com/office/drawing/2014/main" id="{70B2B2F4-67EB-82D2-AD46-6155B74B9251}"/>
                </a:ext>
              </a:extLst>
            </p:cNvPr>
            <p:cNvPicPr>
              <a:picLocks noChangeAspect="1"/>
            </p:cNvPicPr>
            <p:nvPr>
              <p:custDataLst>
                <p:tags r:id="rId7"/>
              </p:custDataLst>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10612201" y="5704186"/>
              <a:ext cx="298298" cy="291624"/>
            </a:xfrm>
            <a:prstGeom prst="rect">
              <a:avLst/>
            </a:prstGeom>
          </p:spPr>
        </p:pic>
        <p:sp>
          <p:nvSpPr>
            <p:cNvPr id="4" name="Text Placeholder 5">
              <a:extLst>
                <a:ext uri="{FF2B5EF4-FFF2-40B4-BE49-F238E27FC236}">
                  <a16:creationId xmlns:a16="http://schemas.microsoft.com/office/drawing/2014/main" id="{E5EEA187-61A1-9460-41F1-2C6CB35CA093}"/>
                </a:ext>
              </a:extLst>
            </p:cNvPr>
            <p:cNvSpPr txBox="1">
              <a:spLocks/>
            </p:cNvSpPr>
            <p:nvPr/>
          </p:nvSpPr>
          <p:spPr>
            <a:xfrm>
              <a:off x="10814039" y="5576586"/>
              <a:ext cx="2212340"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Fira Sans Light" panose="020B0403050000020004" pitchFamily="34" charset="0"/>
                </a:rPr>
                <a:t>Leicester, Manchester</a:t>
              </a:r>
              <a:endParaRPr lang="en-AE" sz="1600">
                <a:solidFill>
                  <a:srgbClr val="000000"/>
                </a:solidFill>
                <a:latin typeface="Fira Sans Light" panose="020B0403050000020004" pitchFamily="34" charset="0"/>
              </a:endParaRPr>
            </a:p>
          </p:txBody>
        </p:sp>
      </p:grpSp>
      <p:sp>
        <p:nvSpPr>
          <p:cNvPr id="7" name="Text Placeholder 5">
            <a:extLst>
              <a:ext uri="{FF2B5EF4-FFF2-40B4-BE49-F238E27FC236}">
                <a16:creationId xmlns:a16="http://schemas.microsoft.com/office/drawing/2014/main" id="{41C1413C-5F32-C689-7C52-0DCE3AA9D51D}"/>
              </a:ext>
            </a:extLst>
          </p:cNvPr>
          <p:cNvSpPr txBox="1">
            <a:spLocks/>
          </p:cNvSpPr>
          <p:nvPr/>
        </p:nvSpPr>
        <p:spPr>
          <a:xfrm>
            <a:off x="780072" y="11276028"/>
            <a:ext cx="1606306" cy="671979"/>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FF0000"/>
                </a:solidFill>
                <a:latin typeface="Fira Sans Light" panose="020B0403050000020004" pitchFamily="34" charset="0"/>
              </a:rPr>
              <a:t>In Scope</a:t>
            </a:r>
          </a:p>
          <a:p>
            <a:pPr marL="0" indent="0" algn="ctr" defTabSz="1828800">
              <a:spcAft>
                <a:spcPts val="1400"/>
              </a:spcAft>
              <a:buNone/>
              <a:defRPr/>
            </a:pPr>
            <a:r>
              <a:rPr lang="en-GB" sz="1600">
                <a:solidFill>
                  <a:srgbClr val="000000"/>
                </a:solidFill>
                <a:latin typeface="Fira Sans Light" panose="020B0403050000020004" pitchFamily="34" charset="0"/>
              </a:rPr>
              <a:t>Out of Scope</a:t>
            </a:r>
            <a:endParaRPr lang="en-AE" sz="1600">
              <a:solidFill>
                <a:srgbClr val="FF0000"/>
              </a:solidFill>
              <a:latin typeface="Fira Sans Light" panose="020B0403050000020004" pitchFamily="34" charset="0"/>
            </a:endParaRPr>
          </a:p>
        </p:txBody>
      </p:sp>
    </p:spTree>
    <p:extLst>
      <p:ext uri="{BB962C8B-B14F-4D97-AF65-F5344CB8AC3E}">
        <p14:creationId xmlns:p14="http://schemas.microsoft.com/office/powerpoint/2010/main" val="158206673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BC8848C5-59DA-7811-F705-7D1DB6DBF3C7}"/>
            </a:ext>
          </a:extLst>
        </p:cNvPr>
        <p:cNvGrpSpPr/>
        <p:nvPr/>
      </p:nvGrpSpPr>
      <p:grpSpPr>
        <a:xfrm>
          <a:off x="0" y="0"/>
          <a:ext cx="0" cy="0"/>
          <a:chOff x="0" y="0"/>
          <a:chExt cx="0" cy="0"/>
        </a:xfrm>
      </p:grpSpPr>
      <p:pic>
        <p:nvPicPr>
          <p:cNvPr id="6" name="Picture 5">
            <a:extLst>
              <a:ext uri="{FF2B5EF4-FFF2-40B4-BE49-F238E27FC236}">
                <a16:creationId xmlns:a16="http://schemas.microsoft.com/office/drawing/2014/main" id="{547142CA-A2B5-C2EE-FC12-EFE8DA2E6B1D}"/>
              </a:ext>
            </a:extLst>
          </p:cNvPr>
          <p:cNvPicPr>
            <a:picLocks noChangeAspect="1"/>
          </p:cNvPicPr>
          <p:nvPr/>
        </p:nvPicPr>
        <p:blipFill>
          <a:blip r:embed="rId20"/>
          <a:stretch>
            <a:fillRect/>
          </a:stretch>
        </p:blipFill>
        <p:spPr>
          <a:xfrm>
            <a:off x="1612010" y="2940439"/>
            <a:ext cx="19806920" cy="9669970"/>
          </a:xfrm>
          <a:prstGeom prst="rect">
            <a:avLst/>
          </a:prstGeom>
        </p:spPr>
      </p:pic>
      <p:sp>
        <p:nvSpPr>
          <p:cNvPr id="3" name="Title 2">
            <a:extLst>
              <a:ext uri="{FF2B5EF4-FFF2-40B4-BE49-F238E27FC236}">
                <a16:creationId xmlns:a16="http://schemas.microsoft.com/office/drawing/2014/main" id="{07D1E90B-637B-B4FA-0FBC-18021D49B7E8}"/>
              </a:ext>
            </a:extLst>
          </p:cNvPr>
          <p:cNvSpPr>
            <a:spLocks noGrp="1"/>
          </p:cNvSpPr>
          <p:nvPr>
            <p:ph type="title"/>
          </p:nvPr>
        </p:nvSpPr>
        <p:spPr/>
        <p:txBody>
          <a:bodyPr/>
          <a:lstStyle/>
          <a:p>
            <a:r>
              <a:rPr lang="en-GB"/>
              <a:t>Organisation Global Presence</a:t>
            </a:r>
            <a:endParaRPr lang="en-AE"/>
          </a:p>
        </p:txBody>
      </p:sp>
      <p:sp>
        <p:nvSpPr>
          <p:cNvPr id="11" name="Text Placeholder 5">
            <a:extLst>
              <a:ext uri="{FF2B5EF4-FFF2-40B4-BE49-F238E27FC236}">
                <a16:creationId xmlns:a16="http://schemas.microsoft.com/office/drawing/2014/main" id="{1D0F92F9-093C-85F3-BE3A-5CBF63F086C4}"/>
              </a:ext>
            </a:extLst>
          </p:cNvPr>
          <p:cNvSpPr txBox="1">
            <a:spLocks/>
          </p:cNvSpPr>
          <p:nvPr/>
        </p:nvSpPr>
        <p:spPr>
          <a:xfrm>
            <a:off x="11164229" y="5133629"/>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Arendal</a:t>
            </a:r>
            <a:endParaRPr lang="en-AE" sz="1600">
              <a:solidFill>
                <a:srgbClr val="000000"/>
              </a:solidFill>
              <a:latin typeface="Arial"/>
            </a:endParaRPr>
          </a:p>
        </p:txBody>
      </p:sp>
      <p:sp>
        <p:nvSpPr>
          <p:cNvPr id="12" name="Text Placeholder 5">
            <a:extLst>
              <a:ext uri="{FF2B5EF4-FFF2-40B4-BE49-F238E27FC236}">
                <a16:creationId xmlns:a16="http://schemas.microsoft.com/office/drawing/2014/main" id="{EEF504B1-E500-3752-3070-E661F2896674}"/>
              </a:ext>
            </a:extLst>
          </p:cNvPr>
          <p:cNvSpPr txBox="1">
            <a:spLocks/>
          </p:cNvSpPr>
          <p:nvPr/>
        </p:nvSpPr>
        <p:spPr>
          <a:xfrm>
            <a:off x="11206689" y="5942075"/>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Frankfurt</a:t>
            </a:r>
            <a:endParaRPr lang="en-AE" sz="1600">
              <a:solidFill>
                <a:srgbClr val="000000"/>
              </a:solidFill>
              <a:latin typeface="Arial"/>
            </a:endParaRPr>
          </a:p>
        </p:txBody>
      </p:sp>
      <p:sp>
        <p:nvSpPr>
          <p:cNvPr id="13" name="Text Placeholder 5">
            <a:extLst>
              <a:ext uri="{FF2B5EF4-FFF2-40B4-BE49-F238E27FC236}">
                <a16:creationId xmlns:a16="http://schemas.microsoft.com/office/drawing/2014/main" id="{AC29B7CB-0FE2-64EB-5BB3-8B6A0D12BA64}"/>
              </a:ext>
            </a:extLst>
          </p:cNvPr>
          <p:cNvSpPr txBox="1">
            <a:spLocks/>
          </p:cNvSpPr>
          <p:nvPr/>
        </p:nvSpPr>
        <p:spPr>
          <a:xfrm>
            <a:off x="9390079" y="6652823"/>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Madrid</a:t>
            </a:r>
            <a:endParaRPr lang="en-AE" sz="1600">
              <a:solidFill>
                <a:srgbClr val="000000"/>
              </a:solidFill>
              <a:latin typeface="Arial"/>
            </a:endParaRPr>
          </a:p>
        </p:txBody>
      </p:sp>
      <p:sp>
        <p:nvSpPr>
          <p:cNvPr id="14" name="Text Placeholder 5">
            <a:extLst>
              <a:ext uri="{FF2B5EF4-FFF2-40B4-BE49-F238E27FC236}">
                <a16:creationId xmlns:a16="http://schemas.microsoft.com/office/drawing/2014/main" id="{251D3E83-9B72-B4E8-D488-25DAFD3BECB9}"/>
              </a:ext>
            </a:extLst>
          </p:cNvPr>
          <p:cNvSpPr txBox="1">
            <a:spLocks/>
          </p:cNvSpPr>
          <p:nvPr/>
        </p:nvSpPr>
        <p:spPr>
          <a:xfrm>
            <a:off x="10558241" y="5575679"/>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Abingdon</a:t>
            </a:r>
            <a:endParaRPr lang="en-AE" sz="1600">
              <a:solidFill>
                <a:srgbClr val="000000"/>
              </a:solidFill>
              <a:latin typeface="Arial"/>
            </a:endParaRPr>
          </a:p>
        </p:txBody>
      </p:sp>
      <p:sp>
        <p:nvSpPr>
          <p:cNvPr id="16" name="Text Placeholder 5">
            <a:extLst>
              <a:ext uri="{FF2B5EF4-FFF2-40B4-BE49-F238E27FC236}">
                <a16:creationId xmlns:a16="http://schemas.microsoft.com/office/drawing/2014/main" id="{9EFFF968-AEDB-02C9-5DC9-EFEB42E6B354}"/>
              </a:ext>
            </a:extLst>
          </p:cNvPr>
          <p:cNvSpPr txBox="1">
            <a:spLocks/>
          </p:cNvSpPr>
          <p:nvPr/>
        </p:nvSpPr>
        <p:spPr>
          <a:xfrm>
            <a:off x="3810211" y="7879455"/>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Mexico City</a:t>
            </a:r>
            <a:endParaRPr lang="en-AE" sz="1600">
              <a:solidFill>
                <a:srgbClr val="000000"/>
              </a:solidFill>
              <a:latin typeface="Arial"/>
            </a:endParaRPr>
          </a:p>
        </p:txBody>
      </p:sp>
      <p:sp>
        <p:nvSpPr>
          <p:cNvPr id="17" name="Text Placeholder 5">
            <a:extLst>
              <a:ext uri="{FF2B5EF4-FFF2-40B4-BE49-F238E27FC236}">
                <a16:creationId xmlns:a16="http://schemas.microsoft.com/office/drawing/2014/main" id="{EF94F862-2030-502A-9B01-8A03118A0E89}"/>
              </a:ext>
            </a:extLst>
          </p:cNvPr>
          <p:cNvSpPr txBox="1">
            <a:spLocks/>
          </p:cNvSpPr>
          <p:nvPr/>
        </p:nvSpPr>
        <p:spPr>
          <a:xfrm>
            <a:off x="5392597" y="8733103"/>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Bogotá</a:t>
            </a:r>
            <a:endParaRPr lang="en-AE" sz="1600">
              <a:solidFill>
                <a:srgbClr val="000000"/>
              </a:solidFill>
              <a:latin typeface="Arial"/>
            </a:endParaRPr>
          </a:p>
        </p:txBody>
      </p:sp>
      <p:sp>
        <p:nvSpPr>
          <p:cNvPr id="19" name="Text Placeholder 5">
            <a:extLst>
              <a:ext uri="{FF2B5EF4-FFF2-40B4-BE49-F238E27FC236}">
                <a16:creationId xmlns:a16="http://schemas.microsoft.com/office/drawing/2014/main" id="{658C28CA-4265-7365-190C-D6F3F69F017E}"/>
              </a:ext>
            </a:extLst>
          </p:cNvPr>
          <p:cNvSpPr txBox="1">
            <a:spLocks/>
          </p:cNvSpPr>
          <p:nvPr/>
        </p:nvSpPr>
        <p:spPr>
          <a:xfrm>
            <a:off x="8553963" y="10110951"/>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Rio de Janeiro</a:t>
            </a:r>
            <a:endParaRPr lang="en-AE" sz="1600">
              <a:solidFill>
                <a:srgbClr val="000000"/>
              </a:solidFill>
              <a:latin typeface="Arial"/>
            </a:endParaRPr>
          </a:p>
        </p:txBody>
      </p:sp>
      <p:sp>
        <p:nvSpPr>
          <p:cNvPr id="20" name="Text Placeholder 5">
            <a:extLst>
              <a:ext uri="{FF2B5EF4-FFF2-40B4-BE49-F238E27FC236}">
                <a16:creationId xmlns:a16="http://schemas.microsoft.com/office/drawing/2014/main" id="{41288DD2-4513-AE87-BD6E-6377047C54FE}"/>
              </a:ext>
            </a:extLst>
          </p:cNvPr>
          <p:cNvSpPr txBox="1">
            <a:spLocks/>
          </p:cNvSpPr>
          <p:nvPr/>
        </p:nvSpPr>
        <p:spPr>
          <a:xfrm>
            <a:off x="17084723" y="7569849"/>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Hong Kong</a:t>
            </a:r>
            <a:endParaRPr lang="en-AE" sz="1600">
              <a:solidFill>
                <a:srgbClr val="000000"/>
              </a:solidFill>
              <a:latin typeface="Arial"/>
            </a:endParaRPr>
          </a:p>
        </p:txBody>
      </p:sp>
      <p:sp>
        <p:nvSpPr>
          <p:cNvPr id="5" name="Text Placeholder 5">
            <a:extLst>
              <a:ext uri="{FF2B5EF4-FFF2-40B4-BE49-F238E27FC236}">
                <a16:creationId xmlns:a16="http://schemas.microsoft.com/office/drawing/2014/main" id="{D8883F81-A7BF-8352-A87A-2EC36147BB6A}"/>
              </a:ext>
            </a:extLst>
          </p:cNvPr>
          <p:cNvSpPr txBox="1">
            <a:spLocks/>
          </p:cNvSpPr>
          <p:nvPr/>
        </p:nvSpPr>
        <p:spPr>
          <a:xfrm>
            <a:off x="14152615" y="8112449"/>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Mumbai</a:t>
            </a:r>
            <a:endParaRPr lang="en-AE" sz="1600">
              <a:solidFill>
                <a:srgbClr val="000000"/>
              </a:solidFill>
              <a:latin typeface="Arial"/>
            </a:endParaRPr>
          </a:p>
        </p:txBody>
      </p:sp>
      <p:pic>
        <p:nvPicPr>
          <p:cNvPr id="7" name="CustomIcon">
            <a:extLst>
              <a:ext uri="{FF2B5EF4-FFF2-40B4-BE49-F238E27FC236}">
                <a16:creationId xmlns:a16="http://schemas.microsoft.com/office/drawing/2014/main" id="{107D8716-E5E1-68A3-26E8-1D4D7C449BC4}"/>
              </a:ext>
            </a:extLst>
          </p:cNvPr>
          <p:cNvPicPr>
            <a:picLocks noChangeAspect="1"/>
          </p:cNvPicPr>
          <p:nvPr>
            <p:custDataLst>
              <p:tags r:id="rId1"/>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4806621" y="7820824"/>
            <a:ext cx="298298" cy="291624"/>
          </a:xfrm>
          <a:prstGeom prst="rect">
            <a:avLst/>
          </a:prstGeom>
        </p:spPr>
      </p:pic>
      <p:sp>
        <p:nvSpPr>
          <p:cNvPr id="8" name="Text Placeholder 5">
            <a:extLst>
              <a:ext uri="{FF2B5EF4-FFF2-40B4-BE49-F238E27FC236}">
                <a16:creationId xmlns:a16="http://schemas.microsoft.com/office/drawing/2014/main" id="{7F60CD8B-7111-6397-6939-75341E3F5B65}"/>
              </a:ext>
            </a:extLst>
          </p:cNvPr>
          <p:cNvSpPr txBox="1">
            <a:spLocks/>
          </p:cNvSpPr>
          <p:nvPr/>
        </p:nvSpPr>
        <p:spPr>
          <a:xfrm>
            <a:off x="18357897" y="11095765"/>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Sydney</a:t>
            </a:r>
            <a:endParaRPr lang="en-AE" sz="1600">
              <a:solidFill>
                <a:srgbClr val="000000"/>
              </a:solidFill>
              <a:latin typeface="Arial"/>
            </a:endParaRPr>
          </a:p>
        </p:txBody>
      </p:sp>
      <p:pic>
        <p:nvPicPr>
          <p:cNvPr id="9" name="CustomIcon">
            <a:extLst>
              <a:ext uri="{FF2B5EF4-FFF2-40B4-BE49-F238E27FC236}">
                <a16:creationId xmlns:a16="http://schemas.microsoft.com/office/drawing/2014/main" id="{07E2DF1C-F4EC-D398-68A6-E69836CB6532}"/>
              </a:ext>
            </a:extLst>
          </p:cNvPr>
          <p:cNvPicPr>
            <a:picLocks noChangeAspect="1"/>
          </p:cNvPicPr>
          <p:nvPr>
            <p:custDataLst>
              <p:tags r:id="rId2"/>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9011903" y="10775562"/>
            <a:ext cx="298298" cy="291624"/>
          </a:xfrm>
          <a:prstGeom prst="rect">
            <a:avLst/>
          </a:prstGeom>
        </p:spPr>
      </p:pic>
      <p:sp>
        <p:nvSpPr>
          <p:cNvPr id="10" name="Text Placeholder 5">
            <a:extLst>
              <a:ext uri="{FF2B5EF4-FFF2-40B4-BE49-F238E27FC236}">
                <a16:creationId xmlns:a16="http://schemas.microsoft.com/office/drawing/2014/main" id="{74B7CF7A-D815-84F2-FBEC-9E868CAADF42}"/>
              </a:ext>
            </a:extLst>
          </p:cNvPr>
          <p:cNvSpPr txBox="1">
            <a:spLocks/>
          </p:cNvSpPr>
          <p:nvPr/>
        </p:nvSpPr>
        <p:spPr>
          <a:xfrm>
            <a:off x="12590803" y="7920305"/>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Riyadh</a:t>
            </a:r>
            <a:endParaRPr lang="en-AE" sz="1600">
              <a:solidFill>
                <a:srgbClr val="000000"/>
              </a:solidFill>
              <a:latin typeface="Arial"/>
            </a:endParaRPr>
          </a:p>
        </p:txBody>
      </p:sp>
      <p:pic>
        <p:nvPicPr>
          <p:cNvPr id="15" name="CustomIcon">
            <a:extLst>
              <a:ext uri="{FF2B5EF4-FFF2-40B4-BE49-F238E27FC236}">
                <a16:creationId xmlns:a16="http://schemas.microsoft.com/office/drawing/2014/main" id="{9D53D1E3-80FF-AD0D-B63B-B0196A4B61C2}"/>
              </a:ext>
            </a:extLst>
          </p:cNvPr>
          <p:cNvPicPr>
            <a:picLocks noChangeAspect="1"/>
          </p:cNvPicPr>
          <p:nvPr>
            <p:custDataLst>
              <p:tags r:id="rId3"/>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3244809" y="7628680"/>
            <a:ext cx="298298" cy="291624"/>
          </a:xfrm>
          <a:prstGeom prst="rect">
            <a:avLst/>
          </a:prstGeom>
        </p:spPr>
      </p:pic>
      <p:pic>
        <p:nvPicPr>
          <p:cNvPr id="18" name="CustomIcon">
            <a:extLst>
              <a:ext uri="{FF2B5EF4-FFF2-40B4-BE49-F238E27FC236}">
                <a16:creationId xmlns:a16="http://schemas.microsoft.com/office/drawing/2014/main" id="{3D383DBC-9F2A-AED4-B075-094371681978}"/>
              </a:ext>
            </a:extLst>
          </p:cNvPr>
          <p:cNvPicPr>
            <a:picLocks noChangeAspect="1"/>
          </p:cNvPicPr>
          <p:nvPr>
            <p:custDataLst>
              <p:tags r:id="rId4"/>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0560497" y="6630122"/>
            <a:ext cx="298298" cy="291624"/>
          </a:xfrm>
          <a:prstGeom prst="rect">
            <a:avLst/>
          </a:prstGeom>
        </p:spPr>
      </p:pic>
      <p:sp>
        <p:nvSpPr>
          <p:cNvPr id="21" name="Text Placeholder 5">
            <a:extLst>
              <a:ext uri="{FF2B5EF4-FFF2-40B4-BE49-F238E27FC236}">
                <a16:creationId xmlns:a16="http://schemas.microsoft.com/office/drawing/2014/main" id="{AF9F5D10-3005-C232-B75C-84D1FEC7D229}"/>
              </a:ext>
            </a:extLst>
          </p:cNvPr>
          <p:cNvSpPr txBox="1">
            <a:spLocks/>
          </p:cNvSpPr>
          <p:nvPr/>
        </p:nvSpPr>
        <p:spPr>
          <a:xfrm>
            <a:off x="5535487" y="9612159"/>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Lima</a:t>
            </a:r>
            <a:endParaRPr lang="en-AE" sz="1600">
              <a:solidFill>
                <a:srgbClr val="000000"/>
              </a:solidFill>
              <a:latin typeface="Arial"/>
            </a:endParaRPr>
          </a:p>
        </p:txBody>
      </p:sp>
      <p:pic>
        <p:nvPicPr>
          <p:cNvPr id="22" name="CustomIcon">
            <a:extLst>
              <a:ext uri="{FF2B5EF4-FFF2-40B4-BE49-F238E27FC236}">
                <a16:creationId xmlns:a16="http://schemas.microsoft.com/office/drawing/2014/main" id="{7E52A36D-C55F-6620-D541-70FFE6CF9733}"/>
              </a:ext>
            </a:extLst>
          </p:cNvPr>
          <p:cNvPicPr>
            <a:picLocks noChangeAspect="1"/>
          </p:cNvPicPr>
          <p:nvPr>
            <p:custDataLst>
              <p:tags r:id="rId5"/>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6629697" y="9589458"/>
            <a:ext cx="298298" cy="291624"/>
          </a:xfrm>
          <a:prstGeom prst="rect">
            <a:avLst/>
          </a:prstGeom>
        </p:spPr>
      </p:pic>
      <p:pic>
        <p:nvPicPr>
          <p:cNvPr id="23" name="CustomIcon">
            <a:extLst>
              <a:ext uri="{FF2B5EF4-FFF2-40B4-BE49-F238E27FC236}">
                <a16:creationId xmlns:a16="http://schemas.microsoft.com/office/drawing/2014/main" id="{90875492-58C3-FB60-FE60-793E46C64207}"/>
              </a:ext>
            </a:extLst>
          </p:cNvPr>
          <p:cNvPicPr>
            <a:picLocks noChangeAspect="1"/>
          </p:cNvPicPr>
          <p:nvPr>
            <p:custDataLst>
              <p:tags r:id="rId6"/>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8372761" y="10100284"/>
            <a:ext cx="298298" cy="291624"/>
          </a:xfrm>
          <a:prstGeom prst="rect">
            <a:avLst/>
          </a:prstGeom>
        </p:spPr>
      </p:pic>
      <p:pic>
        <p:nvPicPr>
          <p:cNvPr id="24" name="CustomIcon">
            <a:extLst>
              <a:ext uri="{FF2B5EF4-FFF2-40B4-BE49-F238E27FC236}">
                <a16:creationId xmlns:a16="http://schemas.microsoft.com/office/drawing/2014/main" id="{151E2881-31E1-F05C-173E-157F9463C273}"/>
              </a:ext>
            </a:extLst>
          </p:cNvPr>
          <p:cNvPicPr>
            <a:picLocks noChangeAspect="1"/>
          </p:cNvPicPr>
          <p:nvPr>
            <p:custDataLst>
              <p:tags r:id="rId7"/>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6802441" y="10891092"/>
            <a:ext cx="298298" cy="291624"/>
          </a:xfrm>
          <a:prstGeom prst="rect">
            <a:avLst/>
          </a:prstGeom>
        </p:spPr>
      </p:pic>
      <p:sp>
        <p:nvSpPr>
          <p:cNvPr id="25" name="Text Placeholder 5">
            <a:extLst>
              <a:ext uri="{FF2B5EF4-FFF2-40B4-BE49-F238E27FC236}">
                <a16:creationId xmlns:a16="http://schemas.microsoft.com/office/drawing/2014/main" id="{B435A778-257F-C913-57DF-F998C54A8722}"/>
              </a:ext>
            </a:extLst>
          </p:cNvPr>
          <p:cNvSpPr txBox="1">
            <a:spLocks/>
          </p:cNvSpPr>
          <p:nvPr/>
        </p:nvSpPr>
        <p:spPr>
          <a:xfrm>
            <a:off x="5559595" y="10913795"/>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Santiago</a:t>
            </a:r>
            <a:endParaRPr lang="en-AE" sz="1600">
              <a:solidFill>
                <a:srgbClr val="000000"/>
              </a:solidFill>
              <a:latin typeface="Arial"/>
            </a:endParaRPr>
          </a:p>
        </p:txBody>
      </p:sp>
      <p:pic>
        <p:nvPicPr>
          <p:cNvPr id="26" name="CustomIcon">
            <a:extLst>
              <a:ext uri="{FF2B5EF4-FFF2-40B4-BE49-F238E27FC236}">
                <a16:creationId xmlns:a16="http://schemas.microsoft.com/office/drawing/2014/main" id="{7510315C-562F-B4E9-FE4F-928C419AAB62}"/>
              </a:ext>
            </a:extLst>
          </p:cNvPr>
          <p:cNvPicPr>
            <a:picLocks noChangeAspect="1"/>
          </p:cNvPicPr>
          <p:nvPr>
            <p:custDataLst>
              <p:tags r:id="rId8"/>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6667793" y="8706704"/>
            <a:ext cx="298298" cy="291624"/>
          </a:xfrm>
          <a:prstGeom prst="rect">
            <a:avLst/>
          </a:prstGeom>
        </p:spPr>
      </p:pic>
      <p:pic>
        <p:nvPicPr>
          <p:cNvPr id="28" name="CustomIcon">
            <a:extLst>
              <a:ext uri="{FF2B5EF4-FFF2-40B4-BE49-F238E27FC236}">
                <a16:creationId xmlns:a16="http://schemas.microsoft.com/office/drawing/2014/main" id="{9D4B276C-2A65-BF8F-6C4B-2AD6A45BE265}"/>
              </a:ext>
            </a:extLst>
          </p:cNvPr>
          <p:cNvPicPr>
            <a:picLocks noChangeAspect="1"/>
          </p:cNvPicPr>
          <p:nvPr>
            <p:custDataLst>
              <p:tags r:id="rId9"/>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1272713" y="5919374"/>
            <a:ext cx="298298" cy="291624"/>
          </a:xfrm>
          <a:prstGeom prst="rect">
            <a:avLst/>
          </a:prstGeom>
        </p:spPr>
      </p:pic>
      <p:pic>
        <p:nvPicPr>
          <p:cNvPr id="29" name="CustomIcon">
            <a:extLst>
              <a:ext uri="{FF2B5EF4-FFF2-40B4-BE49-F238E27FC236}">
                <a16:creationId xmlns:a16="http://schemas.microsoft.com/office/drawing/2014/main" id="{ADDBB086-A23E-7B65-A021-61E370E3E90B}"/>
              </a:ext>
            </a:extLst>
          </p:cNvPr>
          <p:cNvPicPr>
            <a:picLocks noChangeAspect="1"/>
          </p:cNvPicPr>
          <p:nvPr>
            <p:custDataLst>
              <p:tags r:id="rId10"/>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7059277" y="7559278"/>
            <a:ext cx="298298" cy="291624"/>
          </a:xfrm>
          <a:prstGeom prst="rect">
            <a:avLst/>
          </a:prstGeom>
        </p:spPr>
      </p:pic>
      <p:sp>
        <p:nvSpPr>
          <p:cNvPr id="30" name="Text Placeholder 5">
            <a:extLst>
              <a:ext uri="{FF2B5EF4-FFF2-40B4-BE49-F238E27FC236}">
                <a16:creationId xmlns:a16="http://schemas.microsoft.com/office/drawing/2014/main" id="{3677397A-5E73-FB3A-E98C-3C1E64F5EBEC}"/>
              </a:ext>
            </a:extLst>
          </p:cNvPr>
          <p:cNvSpPr txBox="1">
            <a:spLocks/>
          </p:cNvSpPr>
          <p:nvPr/>
        </p:nvSpPr>
        <p:spPr>
          <a:xfrm>
            <a:off x="7572869" y="11062857"/>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Buenos Aires</a:t>
            </a:r>
            <a:endParaRPr lang="en-AE" sz="1600">
              <a:solidFill>
                <a:srgbClr val="000000"/>
              </a:solidFill>
              <a:latin typeface="Arial"/>
            </a:endParaRPr>
          </a:p>
        </p:txBody>
      </p:sp>
      <p:pic>
        <p:nvPicPr>
          <p:cNvPr id="31" name="CustomIcon">
            <a:extLst>
              <a:ext uri="{FF2B5EF4-FFF2-40B4-BE49-F238E27FC236}">
                <a16:creationId xmlns:a16="http://schemas.microsoft.com/office/drawing/2014/main" id="{2BDC94F3-D93C-E12E-F144-97EBEB9ECB9D}"/>
              </a:ext>
            </a:extLst>
          </p:cNvPr>
          <p:cNvPicPr>
            <a:picLocks noChangeAspect="1"/>
          </p:cNvPicPr>
          <p:nvPr>
            <p:custDataLst>
              <p:tags r:id="rId11"/>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7401193" y="11014706"/>
            <a:ext cx="298298" cy="291624"/>
          </a:xfrm>
          <a:prstGeom prst="rect">
            <a:avLst/>
          </a:prstGeom>
        </p:spPr>
      </p:pic>
      <p:sp>
        <p:nvSpPr>
          <p:cNvPr id="32" name="Text Placeholder 5">
            <a:extLst>
              <a:ext uri="{FF2B5EF4-FFF2-40B4-BE49-F238E27FC236}">
                <a16:creationId xmlns:a16="http://schemas.microsoft.com/office/drawing/2014/main" id="{AB761790-BC3D-2789-7183-62D3816AA953}"/>
              </a:ext>
            </a:extLst>
          </p:cNvPr>
          <p:cNvSpPr txBox="1">
            <a:spLocks/>
          </p:cNvSpPr>
          <p:nvPr/>
        </p:nvSpPr>
        <p:spPr>
          <a:xfrm>
            <a:off x="9179175" y="5687439"/>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Dublin</a:t>
            </a:r>
            <a:endParaRPr lang="en-AE" sz="1600">
              <a:solidFill>
                <a:srgbClr val="000000"/>
              </a:solidFill>
              <a:latin typeface="Arial"/>
            </a:endParaRPr>
          </a:p>
        </p:txBody>
      </p:sp>
      <p:pic>
        <p:nvPicPr>
          <p:cNvPr id="33" name="CustomIcon">
            <a:extLst>
              <a:ext uri="{FF2B5EF4-FFF2-40B4-BE49-F238E27FC236}">
                <a16:creationId xmlns:a16="http://schemas.microsoft.com/office/drawing/2014/main" id="{ED75D216-FDD1-2319-7F0D-41D571F537EA}"/>
              </a:ext>
            </a:extLst>
          </p:cNvPr>
          <p:cNvPicPr>
            <a:picLocks noChangeAspect="1"/>
          </p:cNvPicPr>
          <p:nvPr>
            <p:custDataLst>
              <p:tags r:id="rId12"/>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0313903" y="5679302"/>
            <a:ext cx="298298" cy="291624"/>
          </a:xfrm>
          <a:prstGeom prst="rect">
            <a:avLst/>
          </a:prstGeom>
        </p:spPr>
      </p:pic>
      <p:pic>
        <p:nvPicPr>
          <p:cNvPr id="34" name="CustomIcon">
            <a:extLst>
              <a:ext uri="{FF2B5EF4-FFF2-40B4-BE49-F238E27FC236}">
                <a16:creationId xmlns:a16="http://schemas.microsoft.com/office/drawing/2014/main" id="{CFF57321-6831-89AD-3A6A-21CBCE6B6FDD}"/>
              </a:ext>
            </a:extLst>
          </p:cNvPr>
          <p:cNvPicPr>
            <a:picLocks noChangeAspect="1"/>
          </p:cNvPicPr>
          <p:nvPr>
            <p:custDataLst>
              <p:tags r:id="rId13"/>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0635367" y="5735256"/>
            <a:ext cx="298298" cy="291624"/>
          </a:xfrm>
          <a:prstGeom prst="rect">
            <a:avLst/>
          </a:prstGeom>
        </p:spPr>
      </p:pic>
      <p:pic>
        <p:nvPicPr>
          <p:cNvPr id="35" name="CustomIcon">
            <a:extLst>
              <a:ext uri="{FF2B5EF4-FFF2-40B4-BE49-F238E27FC236}">
                <a16:creationId xmlns:a16="http://schemas.microsoft.com/office/drawing/2014/main" id="{B214D33A-4501-9C61-22EA-7273A14E86A6}"/>
              </a:ext>
            </a:extLst>
          </p:cNvPr>
          <p:cNvPicPr>
            <a:picLocks noChangeAspect="1"/>
          </p:cNvPicPr>
          <p:nvPr>
            <p:custDataLst>
              <p:tags r:id="rId14"/>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0554423" y="5368362"/>
            <a:ext cx="298298" cy="291624"/>
          </a:xfrm>
          <a:prstGeom prst="rect">
            <a:avLst/>
          </a:prstGeom>
        </p:spPr>
      </p:pic>
      <p:sp>
        <p:nvSpPr>
          <p:cNvPr id="36" name="Text Placeholder 5">
            <a:extLst>
              <a:ext uri="{FF2B5EF4-FFF2-40B4-BE49-F238E27FC236}">
                <a16:creationId xmlns:a16="http://schemas.microsoft.com/office/drawing/2014/main" id="{6E543783-8E40-29D3-2BAB-D42570ACD6D9}"/>
              </a:ext>
            </a:extLst>
          </p:cNvPr>
          <p:cNvSpPr txBox="1">
            <a:spLocks/>
          </p:cNvSpPr>
          <p:nvPr/>
        </p:nvSpPr>
        <p:spPr>
          <a:xfrm>
            <a:off x="9909165" y="5084729"/>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Aberdeen</a:t>
            </a:r>
            <a:endParaRPr lang="en-AE" sz="1600">
              <a:solidFill>
                <a:srgbClr val="000000"/>
              </a:solidFill>
              <a:latin typeface="Arial"/>
            </a:endParaRPr>
          </a:p>
        </p:txBody>
      </p:sp>
      <p:pic>
        <p:nvPicPr>
          <p:cNvPr id="37" name="CustomIcon">
            <a:extLst>
              <a:ext uri="{FF2B5EF4-FFF2-40B4-BE49-F238E27FC236}">
                <a16:creationId xmlns:a16="http://schemas.microsoft.com/office/drawing/2014/main" id="{0C936840-D2DA-41B9-D657-FA84B1174663}"/>
              </a:ext>
            </a:extLst>
          </p:cNvPr>
          <p:cNvPicPr>
            <a:picLocks noChangeAspect="1"/>
          </p:cNvPicPr>
          <p:nvPr>
            <p:custDataLst>
              <p:tags r:id="rId15"/>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5222877" y="7853134"/>
            <a:ext cx="298298" cy="291624"/>
          </a:xfrm>
          <a:prstGeom prst="rect">
            <a:avLst/>
          </a:prstGeom>
        </p:spPr>
      </p:pic>
      <p:pic>
        <p:nvPicPr>
          <p:cNvPr id="38" name="CustomIcon">
            <a:extLst>
              <a:ext uri="{FF2B5EF4-FFF2-40B4-BE49-F238E27FC236}">
                <a16:creationId xmlns:a16="http://schemas.microsoft.com/office/drawing/2014/main" id="{CA1CB7F5-279E-D912-7F3F-2C28976F433C}"/>
              </a:ext>
            </a:extLst>
          </p:cNvPr>
          <p:cNvPicPr>
            <a:picLocks noChangeAspect="1"/>
          </p:cNvPicPr>
          <p:nvPr>
            <p:custDataLst>
              <p:tags r:id="rId16"/>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5665791" y="7136898"/>
            <a:ext cx="298298" cy="291624"/>
          </a:xfrm>
          <a:prstGeom prst="rect">
            <a:avLst/>
          </a:prstGeom>
        </p:spPr>
      </p:pic>
      <p:sp>
        <p:nvSpPr>
          <p:cNvPr id="39" name="Text Placeholder 5">
            <a:extLst>
              <a:ext uri="{FF2B5EF4-FFF2-40B4-BE49-F238E27FC236}">
                <a16:creationId xmlns:a16="http://schemas.microsoft.com/office/drawing/2014/main" id="{899DD27C-055C-CBFD-B90E-E8BC5B0B7132}"/>
              </a:ext>
            </a:extLst>
          </p:cNvPr>
          <p:cNvSpPr txBox="1">
            <a:spLocks/>
          </p:cNvSpPr>
          <p:nvPr/>
        </p:nvSpPr>
        <p:spPr>
          <a:xfrm>
            <a:off x="5612469" y="7171797"/>
            <a:ext cx="1606306" cy="246221"/>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Houston</a:t>
            </a:r>
            <a:endParaRPr lang="en-AE" sz="1600">
              <a:solidFill>
                <a:srgbClr val="000000"/>
              </a:solidFill>
              <a:latin typeface="Arial"/>
            </a:endParaRPr>
          </a:p>
        </p:txBody>
      </p:sp>
      <p:pic>
        <p:nvPicPr>
          <p:cNvPr id="40" name="CustomIcon">
            <a:extLst>
              <a:ext uri="{FF2B5EF4-FFF2-40B4-BE49-F238E27FC236}">
                <a16:creationId xmlns:a16="http://schemas.microsoft.com/office/drawing/2014/main" id="{21EA1A8C-C7A7-159E-1BD0-11B350C35F54}"/>
              </a:ext>
            </a:extLst>
          </p:cNvPr>
          <p:cNvPicPr>
            <a:picLocks noChangeAspect="1"/>
          </p:cNvPicPr>
          <p:nvPr>
            <p:custDataLst>
              <p:tags r:id="rId17"/>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4208633" y="6921746"/>
            <a:ext cx="298298" cy="291624"/>
          </a:xfrm>
          <a:prstGeom prst="rect">
            <a:avLst/>
          </a:prstGeom>
        </p:spPr>
      </p:pic>
      <p:sp>
        <p:nvSpPr>
          <p:cNvPr id="41" name="Text Placeholder 5">
            <a:extLst>
              <a:ext uri="{FF2B5EF4-FFF2-40B4-BE49-F238E27FC236}">
                <a16:creationId xmlns:a16="http://schemas.microsoft.com/office/drawing/2014/main" id="{584C06BA-A077-F8BB-5602-449EC56CE8B2}"/>
              </a:ext>
            </a:extLst>
          </p:cNvPr>
          <p:cNvSpPr txBox="1">
            <a:spLocks/>
          </p:cNvSpPr>
          <p:nvPr/>
        </p:nvSpPr>
        <p:spPr>
          <a:xfrm>
            <a:off x="3043670" y="6821337"/>
            <a:ext cx="1281428" cy="492443"/>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1600">
                <a:solidFill>
                  <a:srgbClr val="000000"/>
                </a:solidFill>
                <a:latin typeface="Arial"/>
              </a:rPr>
              <a:t>Irvine CA (GRMS)</a:t>
            </a:r>
            <a:endParaRPr lang="en-AE" sz="1600">
              <a:solidFill>
                <a:srgbClr val="000000"/>
              </a:solidFill>
              <a:latin typeface="Arial"/>
            </a:endParaRPr>
          </a:p>
        </p:txBody>
      </p:sp>
      <p:pic>
        <p:nvPicPr>
          <p:cNvPr id="42" name="CustomIcon">
            <a:extLst>
              <a:ext uri="{FF2B5EF4-FFF2-40B4-BE49-F238E27FC236}">
                <a16:creationId xmlns:a16="http://schemas.microsoft.com/office/drawing/2014/main" id="{CA6B48E8-8271-A0B5-7F80-A2B8FC2C769D}"/>
              </a:ext>
            </a:extLst>
          </p:cNvPr>
          <p:cNvPicPr>
            <a:picLocks noChangeAspect="1"/>
          </p:cNvPicPr>
          <p:nvPr>
            <p:custDataLst>
              <p:tags r:id="rId18"/>
            </p:custDataLst>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tretch>
            <a:fillRect/>
          </a:stretch>
        </p:blipFill>
        <p:spPr>
          <a:xfrm>
            <a:off x="11252157" y="5101982"/>
            <a:ext cx="298298" cy="291624"/>
          </a:xfrm>
          <a:prstGeom prst="rect">
            <a:avLst/>
          </a:prstGeom>
        </p:spPr>
      </p:pic>
    </p:spTree>
    <p:extLst>
      <p:ext uri="{BB962C8B-B14F-4D97-AF65-F5344CB8AC3E}">
        <p14:creationId xmlns:p14="http://schemas.microsoft.com/office/powerpoint/2010/main" val="295745093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A48E59-8D92-8715-4067-E76373F7E810}"/>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386000EF-3613-C6D3-A086-6793CECE3E9D}"/>
              </a:ext>
            </a:extLst>
          </p:cNvPr>
          <p:cNvSpPr>
            <a:spLocks noGrp="1"/>
          </p:cNvSpPr>
          <p:nvPr>
            <p:ph type="body" sz="quarter" idx="16"/>
          </p:nvPr>
        </p:nvSpPr>
        <p:spPr>
          <a:xfrm>
            <a:off x="6122838" y="3715469"/>
            <a:ext cx="12087669" cy="4200146"/>
          </a:xfrm>
        </p:spPr>
        <p:txBody>
          <a:bodyPr anchor="ctr"/>
          <a:lstStyle/>
          <a:p>
            <a:pPr algn="ctr"/>
            <a:r>
              <a:rPr lang="en-GB" b="1">
                <a:latin typeface="Fira Sans Light" panose="020B0403050000020004" pitchFamily="34" charset="0"/>
              </a:rPr>
              <a:t>CRA Project Approach</a:t>
            </a:r>
          </a:p>
        </p:txBody>
      </p:sp>
    </p:spTree>
    <p:extLst>
      <p:ext uri="{BB962C8B-B14F-4D97-AF65-F5344CB8AC3E}">
        <p14:creationId xmlns:p14="http://schemas.microsoft.com/office/powerpoint/2010/main" val="21039870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ADA31E-E311-253A-1250-7A0F3B09B7B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BF018CB-F39F-0AC6-B65B-762B2F6A1ED7}"/>
              </a:ext>
            </a:extLst>
          </p:cNvPr>
          <p:cNvSpPr>
            <a:spLocks noGrp="1"/>
          </p:cNvSpPr>
          <p:nvPr>
            <p:ph type="title"/>
          </p:nvPr>
        </p:nvSpPr>
        <p:spPr>
          <a:xfrm>
            <a:off x="668992" y="537179"/>
            <a:ext cx="22991108" cy="1182503"/>
          </a:xfrm>
        </p:spPr>
        <p:txBody>
          <a:bodyPr vert="horz" wrap="square" lIns="182880" tIns="91440" rIns="182880" bIns="91440" rtlCol="0" anchor="t" anchorCtr="0">
            <a:spAutoFit/>
          </a:bodyPr>
          <a:lstStyle/>
          <a:p>
            <a:r>
              <a:rPr lang="en-GB">
                <a:solidFill>
                  <a:srgbClr val="FF0000"/>
                </a:solidFill>
                <a:latin typeface="Fira Sans Light" panose="020B0403050000020004" pitchFamily="34" charset="0"/>
              </a:rPr>
              <a:t>Project Methodology – Part 1</a:t>
            </a:r>
          </a:p>
        </p:txBody>
      </p:sp>
      <p:sp>
        <p:nvSpPr>
          <p:cNvPr id="3" name="Slide Number Placeholder 2">
            <a:extLst>
              <a:ext uri="{FF2B5EF4-FFF2-40B4-BE49-F238E27FC236}">
                <a16:creationId xmlns:a16="http://schemas.microsoft.com/office/drawing/2014/main" id="{91B5A9D9-3E11-5274-5B9C-597D0BA1A8A6}"/>
              </a:ext>
            </a:extLst>
          </p:cNvPr>
          <p:cNvSpPr>
            <a:spLocks noGrp="1"/>
          </p:cNvSpPr>
          <p:nvPr>
            <p:ph type="sldNum" sz="quarter" idx="4"/>
          </p:nvPr>
        </p:nvSpPr>
        <p:spPr/>
        <p:txBody>
          <a:bodyPr/>
          <a:lstStyle/>
          <a:p>
            <a:pPr>
              <a:defRPr/>
            </a:pPr>
            <a:fld id="{762E77F0-FB5B-4E8E-9BC9-34F14560A017}" type="slidenum">
              <a:rPr lang="en-US">
                <a:solidFill>
                  <a:prstClr val="black"/>
                </a:solidFill>
                <a:latin typeface="Fira Sans Light" panose="020B0403050000020004" pitchFamily="34" charset="0"/>
              </a:rPr>
              <a:pPr>
                <a:defRPr/>
              </a:pPr>
              <a:t>25</a:t>
            </a:fld>
            <a:endParaRPr lang="en-US">
              <a:solidFill>
                <a:prstClr val="black"/>
              </a:solidFill>
              <a:latin typeface="Fira Sans Light" panose="020B0403050000020004" pitchFamily="34" charset="0"/>
            </a:endParaRPr>
          </a:p>
        </p:txBody>
      </p:sp>
      <p:graphicFrame>
        <p:nvGraphicFramePr>
          <p:cNvPr id="7" name="Table 7">
            <a:extLst>
              <a:ext uri="{FF2B5EF4-FFF2-40B4-BE49-F238E27FC236}">
                <a16:creationId xmlns:a16="http://schemas.microsoft.com/office/drawing/2014/main" id="{5848BBE8-D691-13F6-9AF2-0CA5D45893EE}"/>
              </a:ext>
            </a:extLst>
          </p:cNvPr>
          <p:cNvGraphicFramePr>
            <a:graphicFrameLocks noGrp="1"/>
          </p:cNvGraphicFramePr>
          <p:nvPr/>
        </p:nvGraphicFramePr>
        <p:xfrm>
          <a:off x="668991" y="2381370"/>
          <a:ext cx="22991106" cy="10228442"/>
        </p:xfrm>
        <a:graphic>
          <a:graphicData uri="http://schemas.openxmlformats.org/drawingml/2006/table">
            <a:tbl>
              <a:tblPr firstRow="1" bandRow="1">
                <a:tableStyleId>{5C22544A-7EE6-4342-B048-85BDC9FD1C3A}</a:tableStyleId>
              </a:tblPr>
              <a:tblGrid>
                <a:gridCol w="3231981">
                  <a:extLst>
                    <a:ext uri="{9D8B030D-6E8A-4147-A177-3AD203B41FA5}">
                      <a16:colId xmlns:a16="http://schemas.microsoft.com/office/drawing/2014/main" val="3365118071"/>
                    </a:ext>
                  </a:extLst>
                </a:gridCol>
                <a:gridCol w="12267552">
                  <a:extLst>
                    <a:ext uri="{9D8B030D-6E8A-4147-A177-3AD203B41FA5}">
                      <a16:colId xmlns:a16="http://schemas.microsoft.com/office/drawing/2014/main" val="4141026639"/>
                    </a:ext>
                  </a:extLst>
                </a:gridCol>
                <a:gridCol w="7491573">
                  <a:extLst>
                    <a:ext uri="{9D8B030D-6E8A-4147-A177-3AD203B41FA5}">
                      <a16:colId xmlns:a16="http://schemas.microsoft.com/office/drawing/2014/main" val="4198460383"/>
                    </a:ext>
                  </a:extLst>
                </a:gridCol>
              </a:tblGrid>
              <a:tr h="625464">
                <a:tc>
                  <a:txBody>
                    <a:bodyPr/>
                    <a:lstStyle/>
                    <a:p>
                      <a:pPr algn="ctr"/>
                      <a:r>
                        <a:rPr lang="en-GB" sz="2800">
                          <a:solidFill>
                            <a:schemeClr val="bg2"/>
                          </a:solidFill>
                          <a:latin typeface="Fira Sans Light" panose="020B0403050000020004" pitchFamily="34" charset="0"/>
                        </a:rPr>
                        <a:t>Workstream</a:t>
                      </a:r>
                      <a:endParaRPr lang="en-GB" sz="2800" b="1" kern="1200">
                        <a:solidFill>
                          <a:schemeClr val="bg2"/>
                        </a:solidFill>
                        <a:latin typeface="Fira Sans Light" panose="020B0403050000020004" pitchFamily="34" charset="0"/>
                        <a:ea typeface="+mn-ea"/>
                        <a:cs typeface="+mn-cs"/>
                      </a:endParaRPr>
                    </a:p>
                  </a:txBody>
                  <a:tcPr marL="182880" marR="182880" marT="91440" marB="91440" anchor="ctr">
                    <a:lnL w="12700" cmpd="sng">
                      <a:noFill/>
                    </a:lnL>
                    <a:lnR w="12700" cmpd="sng">
                      <a:noFill/>
                    </a:lnR>
                    <a:lnT w="12700" cmpd="sng">
                      <a:noFill/>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2800">
                          <a:solidFill>
                            <a:schemeClr val="bg2"/>
                          </a:solidFill>
                          <a:latin typeface="Fira Sans Light" panose="020B0403050000020004" pitchFamily="34" charset="0"/>
                        </a:rPr>
                        <a:t>Activity detail</a:t>
                      </a:r>
                    </a:p>
                  </a:txBody>
                  <a:tcPr marL="182880" marR="182880" marT="91440" marB="91440" anchor="ctr">
                    <a:lnL w="12700" cmpd="sng">
                      <a:noFill/>
                    </a:lnL>
                    <a:lnR w="12700" cmpd="sng">
                      <a:noFill/>
                    </a:lnR>
                    <a:lnT w="12700" cmpd="sng">
                      <a:noFill/>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2800">
                          <a:solidFill>
                            <a:schemeClr val="bg2"/>
                          </a:solidFill>
                          <a:latin typeface="Fira Sans Light" panose="020B0403050000020004" pitchFamily="34" charset="0"/>
                        </a:rPr>
                        <a:t>Key Outputs</a:t>
                      </a:r>
                    </a:p>
                  </a:txBody>
                  <a:tcPr marL="182880" marR="182880" marT="91440" marB="91440" anchor="ctr">
                    <a:lnL w="12700" cmpd="sng">
                      <a:noFill/>
                    </a:lnL>
                    <a:lnR w="12700" cmpd="sng">
                      <a:noFill/>
                    </a:lnR>
                    <a:lnT w="12700" cmpd="sng">
                      <a:noFill/>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50160523"/>
                  </a:ext>
                </a:extLst>
              </a:tr>
              <a:tr h="1078925">
                <a:tc>
                  <a:txBody>
                    <a:bodyPr/>
                    <a:lstStyle/>
                    <a:p>
                      <a:pPr marL="0" indent="0">
                        <a:buNone/>
                      </a:pPr>
                      <a:endParaRPr lang="en-GB" sz="3200" b="1">
                        <a:latin typeface="Fira Sans Light" panose="020B0403050000020004" pitchFamily="34" charset="0"/>
                        <a:cs typeface="Calibri" panose="020F0502020204030204" pitchFamily="34" charset="0"/>
                      </a:endParaRP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85750" marR="0" lvl="0" indent="-285750" algn="l" defTabSz="18288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Kick off meeting </a:t>
                      </a:r>
                    </a:p>
                    <a:p>
                      <a:pPr marL="285750" indent="-285750" algn="l">
                        <a:buClr>
                          <a:schemeClr val="tx2"/>
                        </a:buClr>
                        <a:buFont typeface="Arial" panose="020B0604020202020204" pitchFamily="34" charset="0"/>
                        <a:buChar char="•"/>
                      </a:pPr>
                      <a:r>
                        <a:rPr lang="en-GB" sz="1900">
                          <a:latin typeface="Fira Sans Light" panose="020B0403050000020004" pitchFamily="34" charset="0"/>
                        </a:rPr>
                        <a:t>Stakeholder mapping / Communication Planning</a:t>
                      </a:r>
                    </a:p>
                    <a:p>
                      <a:pPr marL="285750" marR="0" lvl="0" indent="-285750" algn="l" defTabSz="18288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Provision of access</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85750" indent="-285750" algn="l">
                        <a:buClr>
                          <a:schemeClr val="tx2"/>
                        </a:buClr>
                        <a:buFont typeface="Arial" panose="020B0604020202020204" pitchFamily="34" charset="0"/>
                        <a:buChar char="•"/>
                      </a:pPr>
                      <a:r>
                        <a:rPr lang="en-GB" sz="1900">
                          <a:latin typeface="Fira Sans Light" panose="020B0403050000020004" pitchFamily="34" charset="0"/>
                        </a:rPr>
                        <a:t>Mutually agreed high-level project plan </a:t>
                      </a:r>
                    </a:p>
                    <a:p>
                      <a:pPr marL="285750" indent="-285750" algn="l">
                        <a:buClr>
                          <a:schemeClr val="tx2"/>
                        </a:buClr>
                        <a:buFont typeface="Arial" panose="020B0604020202020204" pitchFamily="34" charset="0"/>
                        <a:buChar char="•"/>
                      </a:pPr>
                      <a:r>
                        <a:rPr lang="en-GB" sz="1900">
                          <a:latin typeface="Fira Sans Light" panose="020B0403050000020004" pitchFamily="34" charset="0"/>
                        </a:rPr>
                        <a:t>Communication plan </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00281668"/>
                  </a:ext>
                </a:extLst>
              </a:tr>
              <a:tr h="1228691">
                <a:tc>
                  <a:txBody>
                    <a:bodyPr/>
                    <a:lstStyle/>
                    <a:p>
                      <a:endParaRPr lang="en-GB" sz="3200" b="1">
                        <a:latin typeface="Fira Sans Light" panose="020B0403050000020004" pitchFamily="34" charset="0"/>
                      </a:endParaRP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noProof="0">
                          <a:solidFill>
                            <a:schemeClr val="dk1"/>
                          </a:solidFill>
                          <a:latin typeface="Fira Sans Light" panose="020B0403050000020004" pitchFamily="34" charset="0"/>
                          <a:ea typeface="+mn-ea"/>
                          <a:cs typeface="+mn-cs"/>
                        </a:rPr>
                        <a:t>Conduct foundational workshops with Customer stakeholders</a:t>
                      </a:r>
                    </a:p>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noProof="0">
                          <a:solidFill>
                            <a:schemeClr val="dk1"/>
                          </a:solidFill>
                          <a:latin typeface="Fira Sans Light" panose="020B0403050000020004" pitchFamily="34" charset="0"/>
                          <a:ea typeface="+mn-ea"/>
                          <a:cs typeface="+mn-cs"/>
                        </a:rPr>
                        <a:t>Understand &amp; document business change drivers, future business plans, roadmaps &amp; customer strategy</a:t>
                      </a:r>
                    </a:p>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noProof="0">
                          <a:solidFill>
                            <a:schemeClr val="dk1"/>
                          </a:solidFill>
                          <a:latin typeface="Fira Sans Light" panose="020B0403050000020004" pitchFamily="34" charset="0"/>
                          <a:ea typeface="+mn-ea"/>
                          <a:cs typeface="+mn-cs"/>
                        </a:rPr>
                        <a:t>Finalise the Hyper-scaler selection criteria/evaluation parameters</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rtl="0" eaLnBrk="1" fontAlgn="auto" latinLnBrk="0" hangingPunct="1">
                        <a:lnSpc>
                          <a:spcPct val="100000"/>
                        </a:lnSpc>
                        <a:spcBef>
                          <a:spcPts val="0"/>
                        </a:spcBef>
                        <a:spcAft>
                          <a:spcPts val="0"/>
                        </a:spcAft>
                        <a:buClr>
                          <a:schemeClr val="tx2"/>
                        </a:buClr>
                        <a:buSzTx/>
                        <a:buFont typeface="Arial" panose="020B0604020202020204" pitchFamily="34" charset="0"/>
                        <a:buChar char="•"/>
                      </a:pPr>
                      <a:r>
                        <a:rPr lang="en-GB" sz="1900">
                          <a:latin typeface="Fira Sans Light" panose="020B0403050000020004" pitchFamily="34" charset="0"/>
                        </a:rPr>
                        <a:t>Foundational workshops with Customer stakeholders</a:t>
                      </a:r>
                    </a:p>
                    <a:p>
                      <a:pPr marL="171450" marR="0" lvl="0" indent="-171450" algn="l" rtl="0" eaLnBrk="1" fontAlgn="auto" latinLnBrk="0" hangingPunct="1">
                        <a:lnSpc>
                          <a:spcPct val="100000"/>
                        </a:lnSpc>
                        <a:spcBef>
                          <a:spcPts val="0"/>
                        </a:spcBef>
                        <a:spcAft>
                          <a:spcPts val="0"/>
                        </a:spcAft>
                        <a:buClr>
                          <a:schemeClr val="tx2"/>
                        </a:buClr>
                        <a:buSzTx/>
                        <a:buFont typeface="Arial" panose="020B0604020202020204" pitchFamily="34" charset="0"/>
                        <a:buChar char="•"/>
                      </a:pPr>
                      <a:r>
                        <a:rPr lang="en-GB" sz="1900">
                          <a:latin typeface="Fira Sans Light" panose="020B0403050000020004" pitchFamily="34" charset="0"/>
                        </a:rPr>
                        <a:t>Requirements summary</a:t>
                      </a:r>
                    </a:p>
                    <a:p>
                      <a:pPr marL="171450" marR="0" lvl="0" indent="-171450" algn="l" rtl="0" eaLnBrk="1" fontAlgn="auto" latinLnBrk="0" hangingPunct="1">
                        <a:lnSpc>
                          <a:spcPct val="100000"/>
                        </a:lnSpc>
                        <a:spcBef>
                          <a:spcPts val="0"/>
                        </a:spcBef>
                        <a:spcAft>
                          <a:spcPts val="0"/>
                        </a:spcAft>
                        <a:buClr>
                          <a:schemeClr val="tx2"/>
                        </a:buClr>
                        <a:buSzTx/>
                        <a:buFont typeface="Arial" panose="020B0604020202020204" pitchFamily="34" charset="0"/>
                        <a:buChar char="•"/>
                      </a:pPr>
                      <a:r>
                        <a:rPr lang="en-GB" sz="1900">
                          <a:latin typeface="Fira Sans Light" panose="020B0403050000020004" pitchFamily="34" charset="0"/>
                        </a:rPr>
                        <a:t>Hyper-scaler selection criteria</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08845035"/>
                  </a:ext>
                </a:extLst>
              </a:tr>
              <a:tr h="2564401">
                <a:tc>
                  <a:txBody>
                    <a:bodyPr/>
                    <a:lstStyle/>
                    <a:p>
                      <a:endParaRPr lang="en-GB" sz="3200" b="1">
                        <a:latin typeface="Fira Sans Light" panose="020B0403050000020004" pitchFamily="34" charset="0"/>
                      </a:endParaRP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85750" indent="-285750" algn="l" defTabSz="914400" rtl="0" eaLnBrk="1" latinLnBrk="0" hangingPunct="1">
                        <a:buClr>
                          <a:schemeClr val="tx2"/>
                        </a:buClr>
                        <a:buFont typeface="Arial" panose="020B0604020202020204" pitchFamily="34" charset="0"/>
                        <a:buChar char="•"/>
                      </a:pPr>
                      <a:r>
                        <a:rPr lang="en-GB" sz="1900">
                          <a:latin typeface="Fira Sans Light" panose="020B0403050000020004" pitchFamily="34" charset="0"/>
                        </a:rPr>
                        <a:t>Assist in deploying and configuring hyper–scaler tooling in DMG environments to generate discovery data </a:t>
                      </a:r>
                    </a:p>
                    <a:p>
                      <a:pPr marL="285750" indent="-285750" algn="l" defTabSz="914400" rtl="0" eaLnBrk="1" latinLnBrk="0" hangingPunct="1">
                        <a:buClr>
                          <a:schemeClr val="tx2"/>
                        </a:buClr>
                        <a:buFont typeface="Arial" panose="020B0604020202020204" pitchFamily="34" charset="0"/>
                        <a:buChar char="•"/>
                      </a:pPr>
                      <a:r>
                        <a:rPr lang="en-GB" sz="1900">
                          <a:latin typeface="Fira Sans Light" panose="020B0403050000020004" pitchFamily="34" charset="0"/>
                        </a:rPr>
                        <a:t>Identify the existing infrastructure in the environment, including software and networking</a:t>
                      </a:r>
                    </a:p>
                    <a:p>
                      <a:pPr marL="285750" indent="-285750" algn="l" defTabSz="914400" rtl="0" eaLnBrk="1" latinLnBrk="0" hangingPunct="1">
                        <a:buClr>
                          <a:schemeClr val="tx2"/>
                        </a:buClr>
                        <a:buFont typeface="Arial" panose="020B0604020202020204" pitchFamily="34" charset="0"/>
                        <a:buChar char="•"/>
                      </a:pPr>
                      <a:r>
                        <a:rPr lang="en-GB" sz="1900">
                          <a:latin typeface="Fira Sans Light" panose="020B0403050000020004" pitchFamily="34" charset="0"/>
                        </a:rPr>
                        <a:t>Evaluate the compatibility of existing infrastructure with Microsoft Azure/AWS/GCP tooling</a:t>
                      </a:r>
                    </a:p>
                    <a:p>
                      <a:pPr marL="285750" indent="-285750" algn="l" defTabSz="914400" rtl="0" eaLnBrk="1" latinLnBrk="0" hangingPunct="1">
                        <a:buClr>
                          <a:schemeClr val="tx2"/>
                        </a:buClr>
                        <a:buFont typeface="Arial" panose="020B0604020202020204" pitchFamily="34" charset="0"/>
                        <a:buChar char="•"/>
                      </a:pPr>
                      <a:r>
                        <a:rPr lang="en-GB" sz="1900">
                          <a:latin typeface="Fira Sans Light" panose="020B0403050000020004" pitchFamily="34" charset="0"/>
                        </a:rPr>
                        <a:t>Determine the current capacity and utilisation of the infrastructure</a:t>
                      </a:r>
                    </a:p>
                    <a:p>
                      <a:pPr marL="285750" indent="-285750" algn="l" defTabSz="914400" rtl="0" eaLnBrk="1" latinLnBrk="0" hangingPunct="1">
                        <a:buClr>
                          <a:schemeClr val="tx2"/>
                        </a:buClr>
                        <a:buFont typeface="Arial" panose="020B0604020202020204" pitchFamily="34" charset="0"/>
                        <a:buChar char="•"/>
                      </a:pPr>
                      <a:r>
                        <a:rPr lang="en-GB" sz="1900">
                          <a:latin typeface="Fira Sans Light" panose="020B0403050000020004" pitchFamily="34" charset="0"/>
                        </a:rPr>
                        <a:t>Assess the Backup requirements including lifecycle and retention policies</a:t>
                      </a:r>
                    </a:p>
                    <a:p>
                      <a:pPr marL="285750" indent="-285750" algn="l" defTabSz="914400" rtl="0" eaLnBrk="1" latinLnBrk="0" hangingPunct="1">
                        <a:buClr>
                          <a:schemeClr val="tx2"/>
                        </a:buClr>
                        <a:buFont typeface="Arial" panose="020B0604020202020204" pitchFamily="34" charset="0"/>
                        <a:buChar char="•"/>
                      </a:pPr>
                      <a:r>
                        <a:rPr lang="en-GB" sz="1900">
                          <a:latin typeface="Fira Sans Light" panose="020B0403050000020004" pitchFamily="34" charset="0"/>
                        </a:rPr>
                        <a:t>Assess the business requirements and expected workload for the future</a:t>
                      </a:r>
                    </a:p>
                    <a:p>
                      <a:pPr marL="285750" indent="-285750" algn="l" defTabSz="914400" rtl="0" eaLnBrk="1" latinLnBrk="0" hangingPunct="1">
                        <a:buClr>
                          <a:schemeClr val="tx2"/>
                        </a:buClr>
                        <a:buFont typeface="Arial" panose="020B0604020202020204" pitchFamily="34" charset="0"/>
                        <a:buChar char="•"/>
                      </a:pPr>
                      <a:r>
                        <a:rPr lang="en-GB" sz="1900">
                          <a:latin typeface="Fira Sans Light" panose="020B0403050000020004" pitchFamily="34" charset="0"/>
                        </a:rPr>
                        <a:t>Licensing, IP address conflicts, network security policies, or DNS configurations</a:t>
                      </a:r>
                    </a:p>
                    <a:p>
                      <a:pPr marL="285750" indent="-285750" algn="l" defTabSz="914400" rtl="0" eaLnBrk="1" latinLnBrk="0" hangingPunct="1">
                        <a:buClr>
                          <a:schemeClr val="tx2"/>
                        </a:buClr>
                        <a:buFont typeface="Arial" panose="020B0604020202020204" pitchFamily="34" charset="0"/>
                        <a:buChar char="•"/>
                      </a:pPr>
                      <a:r>
                        <a:rPr lang="en-GB" sz="1900">
                          <a:latin typeface="Fira Sans Light" panose="020B0403050000020004" pitchFamily="34" charset="0"/>
                        </a:rPr>
                        <a:t>Document &amp; understand the network connectivity on existing environment</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a:solidFill>
                            <a:schemeClr val="dk1"/>
                          </a:solidFill>
                          <a:latin typeface="Fira Sans Light" panose="020B0403050000020004" pitchFamily="34" charset="0"/>
                          <a:ea typeface="+mn-ea"/>
                          <a:cs typeface="+mn-cs"/>
                        </a:rPr>
                        <a:t>Infrastructure Discovery Report with detailed asset inventory and configuration analysis</a:t>
                      </a:r>
                    </a:p>
                    <a:p>
                      <a:pPr marL="1085850" marR="0" lvl="1"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a:solidFill>
                            <a:schemeClr val="dk1"/>
                          </a:solidFill>
                          <a:latin typeface="Fira Sans Light" panose="020B0403050000020004" pitchFamily="34" charset="0"/>
                          <a:ea typeface="+mn-ea"/>
                          <a:cs typeface="+mn-cs"/>
                        </a:rPr>
                        <a:t>Application-to-Infrastructure mapping</a:t>
                      </a:r>
                    </a:p>
                    <a:p>
                      <a:pPr marL="1085850" marR="0" lvl="1"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a:solidFill>
                            <a:schemeClr val="dk1"/>
                          </a:solidFill>
                          <a:latin typeface="Fira Sans Light" panose="020B0403050000020004" pitchFamily="34" charset="0"/>
                          <a:ea typeface="+mn-ea"/>
                          <a:cs typeface="+mn-cs"/>
                        </a:rPr>
                        <a:t>Application-to-Database mapping</a:t>
                      </a:r>
                    </a:p>
                    <a:p>
                      <a:pPr marL="1085850" marR="0" lvl="1"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a:solidFill>
                            <a:schemeClr val="dk1"/>
                          </a:solidFill>
                          <a:latin typeface="Fira Sans Light" panose="020B0403050000020004" pitchFamily="34" charset="0"/>
                          <a:ea typeface="+mn-ea"/>
                          <a:cs typeface="+mn-cs"/>
                        </a:rPr>
                        <a:t>Application high-availability (HA) mapping</a:t>
                      </a:r>
                    </a:p>
                    <a:p>
                      <a:pPr marL="1085850" marR="0" lvl="1"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a:solidFill>
                            <a:schemeClr val="dk1"/>
                          </a:solidFill>
                          <a:latin typeface="Fira Sans Light" panose="020B0403050000020004" pitchFamily="34" charset="0"/>
                          <a:ea typeface="+mn-ea"/>
                          <a:cs typeface="+mn-cs"/>
                        </a:rPr>
                        <a:t>Network dependency mapping</a:t>
                      </a:r>
                    </a:p>
                    <a:p>
                      <a:pPr marL="1085850" marR="0" lvl="1"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kern="1200">
                          <a:solidFill>
                            <a:schemeClr val="dk1"/>
                          </a:solidFill>
                          <a:latin typeface="Fira Sans Light" panose="020B0403050000020004" pitchFamily="34" charset="0"/>
                          <a:ea typeface="+mn-ea"/>
                          <a:cs typeface="+mn-cs"/>
                        </a:rPr>
                        <a:t>Application &amp; Infrastructure mapping</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8747687"/>
                  </a:ext>
                </a:extLst>
              </a:tr>
              <a:tr h="1493977">
                <a:tc>
                  <a:txBody>
                    <a:bodyPr/>
                    <a:lstStyle/>
                    <a:p>
                      <a:pPr marL="0" indent="0" algn="l" defTabSz="914400" rtl="0" eaLnBrk="1" latinLnBrk="0" hangingPunct="1">
                        <a:buNone/>
                      </a:pPr>
                      <a:endParaRPr lang="en-GB" sz="3200" b="1" kern="1200">
                        <a:solidFill>
                          <a:schemeClr val="dk1"/>
                        </a:solidFill>
                        <a:latin typeface="Fira Sans Light" panose="020B0403050000020004" pitchFamily="34" charset="0"/>
                        <a:ea typeface="+mn-ea"/>
                        <a:cs typeface="+mn-cs"/>
                      </a:endParaRP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Total Cost of Ownership analysis for cloud migration </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Total Cost of Ownership Analysis for the 3 Hyper-scalers</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1-year financial projections and cost optimisation recommendations</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51208745"/>
                  </a:ext>
                </a:extLst>
              </a:tr>
              <a:tr h="1212436">
                <a:tc>
                  <a:txBody>
                    <a:bodyPr/>
                    <a:lstStyle/>
                    <a:p>
                      <a:pPr marL="0" indent="0" algn="l" defTabSz="914400" rtl="0" eaLnBrk="1" latinLnBrk="0" hangingPunct="1">
                        <a:buNone/>
                      </a:pPr>
                      <a:endParaRPr lang="en-GB" sz="3200" b="1" kern="1200">
                        <a:solidFill>
                          <a:schemeClr val="dk1"/>
                        </a:solidFill>
                        <a:latin typeface="Fira Sans Light" panose="020B0403050000020004" pitchFamily="34" charset="0"/>
                        <a:ea typeface="+mn-ea"/>
                        <a:cs typeface="+mn-cs"/>
                      </a:endParaRP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AWS vs Azure vs GCP cloud - comparative analysis</a:t>
                      </a:r>
                    </a:p>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Scoring of the Hyper-scaler across the mutually agreed parameters</a:t>
                      </a:r>
                    </a:p>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Selection of preferred cloud platform</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Cloud Service Provider Evaluation Matrix with detailed comparison and selection criteria</a:t>
                      </a:r>
                    </a:p>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Recommendation of cloud platform</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087805"/>
                  </a:ext>
                </a:extLst>
              </a:tr>
              <a:tr h="2024548">
                <a:tc>
                  <a:txBody>
                    <a:bodyPr/>
                    <a:lstStyle/>
                    <a:p>
                      <a:pPr marL="0" indent="0" algn="l" defTabSz="914400" rtl="0" eaLnBrk="1" latinLnBrk="0" hangingPunct="1">
                        <a:buNone/>
                      </a:pPr>
                      <a:endParaRPr lang="en-GB" sz="3200" b="1" kern="1200">
                        <a:solidFill>
                          <a:schemeClr val="dk1"/>
                        </a:solidFill>
                        <a:latin typeface="Fira Sans Light" panose="020B0403050000020004" pitchFamily="34" charset="0"/>
                        <a:ea typeface="+mn-ea"/>
                        <a:cs typeface="+mn-cs"/>
                      </a:endParaRP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Creation of strategy report, including: </a:t>
                      </a:r>
                    </a:p>
                    <a:p>
                      <a:pPr marL="1200150" marR="0" lvl="1"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Hyper-scaler recommendation </a:t>
                      </a:r>
                    </a:p>
                    <a:p>
                      <a:pPr marL="1200150" marR="0" lvl="1"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TCO analysis </a:t>
                      </a:r>
                    </a:p>
                    <a:p>
                      <a:pPr marL="1200150" marR="0" lvl="1"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Cloud maturity level and gap analysis </a:t>
                      </a:r>
                    </a:p>
                    <a:p>
                      <a:pPr marL="1200150" marR="0" lvl="1"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Infrastructure assessment </a:t>
                      </a:r>
                    </a:p>
                    <a:p>
                      <a:pPr marL="285750" marR="0" lvl="0" indent="-2857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Presentation of Strategy &amp; recommendations to the Customer </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0"/>
                        </a:spcBef>
                        <a:spcAft>
                          <a:spcPts val="0"/>
                        </a:spcAft>
                        <a:buClr>
                          <a:schemeClr val="tx2"/>
                        </a:buClr>
                        <a:buSzTx/>
                        <a:buFont typeface="Arial" panose="020B0604020202020204" pitchFamily="34" charset="0"/>
                        <a:buChar char="•"/>
                        <a:tabLst/>
                        <a:defRPr/>
                      </a:pPr>
                      <a:r>
                        <a:rPr lang="en-GB" sz="1900">
                          <a:latin typeface="Fira Sans Light" panose="020B0403050000020004" pitchFamily="34" charset="0"/>
                        </a:rPr>
                        <a:t>Executive Summary Report and Strategic Presentation with actionable recommendations and business case</a:t>
                      </a:r>
                    </a:p>
                  </a:txBody>
                  <a:tcPr marL="182880" marR="182880" marT="91440" marB="91440" anchor="ctr">
                    <a:lnL w="12700" cmpd="sng">
                      <a:noFill/>
                    </a:lnL>
                    <a:lnR w="12700" cmpd="sng">
                      <a:noFill/>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4697375"/>
                  </a:ext>
                </a:extLst>
              </a:tr>
            </a:tbl>
          </a:graphicData>
        </a:graphic>
      </p:graphicFrame>
      <p:sp>
        <p:nvSpPr>
          <p:cNvPr id="22" name="Rectangle 21">
            <a:extLst>
              <a:ext uri="{FF2B5EF4-FFF2-40B4-BE49-F238E27FC236}">
                <a16:creationId xmlns:a16="http://schemas.microsoft.com/office/drawing/2014/main" id="{0A31105F-94D4-E7BD-764D-03158CE720E1}"/>
              </a:ext>
            </a:extLst>
          </p:cNvPr>
          <p:cNvSpPr/>
          <p:nvPr/>
        </p:nvSpPr>
        <p:spPr>
          <a:xfrm rot="5400000">
            <a:off x="1843774" y="2129630"/>
            <a:ext cx="753152" cy="285730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GB" sz="1600" b="1">
                <a:solidFill>
                  <a:srgbClr val="FFFFFF"/>
                </a:solidFill>
                <a:latin typeface="Fira Sans Light" panose="020B0403050000020004" pitchFamily="34" charset="0"/>
              </a:rPr>
              <a:t>Phase 1</a:t>
            </a:r>
          </a:p>
          <a:p>
            <a:pPr algn="ctr"/>
            <a:r>
              <a:rPr lang="en-GB" sz="1600" b="1">
                <a:solidFill>
                  <a:srgbClr val="FFFFFF"/>
                </a:solidFill>
                <a:latin typeface="Fira Sans Light" panose="020B0403050000020004" pitchFamily="34" charset="0"/>
              </a:rPr>
              <a:t>Mobilisation &amp; Kick Off</a:t>
            </a:r>
            <a:endParaRPr lang="en-GB" sz="1600" b="1">
              <a:solidFill>
                <a:srgbClr val="FFFFFF"/>
              </a:solidFill>
              <a:latin typeface="Fira Sans Light" panose="020B0403050000020004" pitchFamily="34" charset="0"/>
              <a:cs typeface="Calibri" panose="020F0502020204030204" pitchFamily="34" charset="0"/>
            </a:endParaRPr>
          </a:p>
        </p:txBody>
      </p:sp>
      <p:sp>
        <p:nvSpPr>
          <p:cNvPr id="24" name="Rectangle 23">
            <a:extLst>
              <a:ext uri="{FF2B5EF4-FFF2-40B4-BE49-F238E27FC236}">
                <a16:creationId xmlns:a16="http://schemas.microsoft.com/office/drawing/2014/main" id="{9F3871F3-6123-778E-F7CA-0692BF16E1FB}"/>
              </a:ext>
            </a:extLst>
          </p:cNvPr>
          <p:cNvSpPr/>
          <p:nvPr/>
        </p:nvSpPr>
        <p:spPr>
          <a:xfrm rot="5400000">
            <a:off x="1724901" y="3283875"/>
            <a:ext cx="990896" cy="28573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GB" sz="1400" b="1">
                <a:solidFill>
                  <a:srgbClr val="FFFFFF"/>
                </a:solidFill>
                <a:latin typeface="Fira Sans Light" panose="020B0403050000020004" pitchFamily="34" charset="0"/>
              </a:rPr>
              <a:t>Phase 2</a:t>
            </a:r>
          </a:p>
          <a:p>
            <a:pPr algn="ctr"/>
            <a:r>
              <a:rPr lang="en-GB" sz="1400" b="1">
                <a:solidFill>
                  <a:srgbClr val="FFFFFF"/>
                </a:solidFill>
                <a:latin typeface="Fira Sans Light" panose="020B0403050000020004" pitchFamily="34" charset="0"/>
              </a:rPr>
              <a:t>Strategy Assessment </a:t>
            </a:r>
          </a:p>
        </p:txBody>
      </p:sp>
      <p:sp>
        <p:nvSpPr>
          <p:cNvPr id="25" name="Rectangle 24">
            <a:extLst>
              <a:ext uri="{FF2B5EF4-FFF2-40B4-BE49-F238E27FC236}">
                <a16:creationId xmlns:a16="http://schemas.microsoft.com/office/drawing/2014/main" id="{67BC1636-9BEB-3E96-045C-15B3E9016D38}"/>
              </a:ext>
            </a:extLst>
          </p:cNvPr>
          <p:cNvSpPr/>
          <p:nvPr/>
        </p:nvSpPr>
        <p:spPr>
          <a:xfrm rot="5400000">
            <a:off x="1077348" y="5186808"/>
            <a:ext cx="2286001" cy="285730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GB" sz="1600" b="1">
                <a:solidFill>
                  <a:srgbClr val="FFFFFF"/>
                </a:solidFill>
                <a:latin typeface="Fira Sans Light" panose="020B0403050000020004" pitchFamily="34" charset="0"/>
              </a:rPr>
              <a:t>Phase 3</a:t>
            </a:r>
          </a:p>
          <a:p>
            <a:pPr algn="ctr"/>
            <a:r>
              <a:rPr lang="en-GB" sz="1600" b="1">
                <a:solidFill>
                  <a:srgbClr val="FFFFFF"/>
                </a:solidFill>
                <a:latin typeface="Fira Sans Light" panose="020B0403050000020004" pitchFamily="34" charset="0"/>
              </a:rPr>
              <a:t>Automated Infrastructure Discovery </a:t>
            </a:r>
          </a:p>
        </p:txBody>
      </p:sp>
      <p:sp>
        <p:nvSpPr>
          <p:cNvPr id="26" name="Rectangle 25">
            <a:extLst>
              <a:ext uri="{FF2B5EF4-FFF2-40B4-BE49-F238E27FC236}">
                <a16:creationId xmlns:a16="http://schemas.microsoft.com/office/drawing/2014/main" id="{9191DCC7-D095-D5CB-A6F5-F6E90899D4A5}"/>
              </a:ext>
            </a:extLst>
          </p:cNvPr>
          <p:cNvSpPr/>
          <p:nvPr/>
        </p:nvSpPr>
        <p:spPr>
          <a:xfrm rot="5400000">
            <a:off x="1730294" y="7194075"/>
            <a:ext cx="980108" cy="285730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defTabSz="1828800"/>
            <a:r>
              <a:rPr lang="en-GB" sz="1600" b="1">
                <a:solidFill>
                  <a:srgbClr val="FFFFFF"/>
                </a:solidFill>
                <a:latin typeface="Fira Sans Light" panose="020B0403050000020004" pitchFamily="34" charset="0"/>
              </a:rPr>
              <a:t>Phase 4</a:t>
            </a:r>
          </a:p>
          <a:p>
            <a:pPr algn="ctr" defTabSz="1828800"/>
            <a:r>
              <a:rPr lang="en-GB" sz="1600" b="1">
                <a:solidFill>
                  <a:srgbClr val="FFFFFF"/>
                </a:solidFill>
                <a:latin typeface="Fira Sans Light" panose="020B0403050000020004" pitchFamily="34" charset="0"/>
              </a:rPr>
              <a:t>TCO Analysis </a:t>
            </a:r>
            <a:endParaRPr lang="en-GB" sz="1600" b="1">
              <a:solidFill>
                <a:srgbClr val="000000"/>
              </a:solidFill>
              <a:latin typeface="Fira Sans Light" panose="020B0403050000020004" pitchFamily="34" charset="0"/>
            </a:endParaRPr>
          </a:p>
        </p:txBody>
      </p:sp>
      <p:sp>
        <p:nvSpPr>
          <p:cNvPr id="4" name="Rectangle 3">
            <a:extLst>
              <a:ext uri="{FF2B5EF4-FFF2-40B4-BE49-F238E27FC236}">
                <a16:creationId xmlns:a16="http://schemas.microsoft.com/office/drawing/2014/main" id="{29F74158-47EA-CF67-505F-4366147956B3}"/>
              </a:ext>
            </a:extLst>
          </p:cNvPr>
          <p:cNvSpPr/>
          <p:nvPr/>
        </p:nvSpPr>
        <p:spPr>
          <a:xfrm rot="5400000">
            <a:off x="1730294" y="8526438"/>
            <a:ext cx="980108" cy="2857308"/>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defTabSz="1828800"/>
            <a:r>
              <a:rPr lang="en-GB" sz="1600" b="1">
                <a:solidFill>
                  <a:srgbClr val="FFFFFF"/>
                </a:solidFill>
                <a:latin typeface="Fira Sans Light" panose="020B0403050000020004" pitchFamily="34" charset="0"/>
              </a:rPr>
              <a:t>Phase 5</a:t>
            </a:r>
          </a:p>
          <a:p>
            <a:pPr algn="ctr" defTabSz="1828800"/>
            <a:r>
              <a:rPr lang="en-GB" sz="1600" b="1">
                <a:solidFill>
                  <a:srgbClr val="FFFFFF"/>
                </a:solidFill>
                <a:latin typeface="Fira Sans Light" panose="020B0403050000020004" pitchFamily="34" charset="0"/>
              </a:rPr>
              <a:t>Cloud Service Provider Selection </a:t>
            </a:r>
            <a:endParaRPr lang="en-GB" sz="1600" b="1">
              <a:solidFill>
                <a:srgbClr val="000000"/>
              </a:solidFill>
              <a:latin typeface="Fira Sans Light" panose="020B0403050000020004" pitchFamily="34" charset="0"/>
            </a:endParaRPr>
          </a:p>
        </p:txBody>
      </p:sp>
      <p:sp>
        <p:nvSpPr>
          <p:cNvPr id="5" name="Rectangle 4">
            <a:extLst>
              <a:ext uri="{FF2B5EF4-FFF2-40B4-BE49-F238E27FC236}">
                <a16:creationId xmlns:a16="http://schemas.microsoft.com/office/drawing/2014/main" id="{641DD476-76EA-78C7-0DA4-C68A5445EA2B}"/>
              </a:ext>
            </a:extLst>
          </p:cNvPr>
          <p:cNvSpPr/>
          <p:nvPr/>
        </p:nvSpPr>
        <p:spPr>
          <a:xfrm rot="5400000">
            <a:off x="1342290" y="10165704"/>
            <a:ext cx="1756115" cy="2857308"/>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defTabSz="1828800"/>
            <a:r>
              <a:rPr lang="en-GB" sz="1600" b="1">
                <a:solidFill>
                  <a:srgbClr val="FFFFFF"/>
                </a:solidFill>
                <a:latin typeface="Fira Sans Light" panose="020B0403050000020004" pitchFamily="34" charset="0"/>
              </a:rPr>
              <a:t>Phase 6</a:t>
            </a:r>
          </a:p>
          <a:p>
            <a:pPr algn="ctr" defTabSz="1828800"/>
            <a:r>
              <a:rPr lang="en-GB" sz="1600" b="1">
                <a:solidFill>
                  <a:srgbClr val="FFFFFF"/>
                </a:solidFill>
                <a:latin typeface="Fira Sans Light" panose="020B0403050000020004" pitchFamily="34" charset="0"/>
              </a:rPr>
              <a:t>Cloud Strategy Report &amp; Presentation </a:t>
            </a:r>
            <a:endParaRPr lang="en-GB" sz="1600" b="1">
              <a:solidFill>
                <a:srgbClr val="000000"/>
              </a:solidFill>
              <a:latin typeface="Fira Sans Light" panose="020B0403050000020004" pitchFamily="34" charset="0"/>
            </a:endParaRPr>
          </a:p>
        </p:txBody>
      </p:sp>
    </p:spTree>
    <p:extLst>
      <p:ext uri="{BB962C8B-B14F-4D97-AF65-F5344CB8AC3E}">
        <p14:creationId xmlns:p14="http://schemas.microsoft.com/office/powerpoint/2010/main" val="2961474827"/>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A18493-8F66-63D1-6C6B-B372EF8BF6AB}"/>
            </a:ext>
          </a:extLst>
        </p:cNvPr>
        <p:cNvGrpSpPr/>
        <p:nvPr/>
      </p:nvGrpSpPr>
      <p:grpSpPr>
        <a:xfrm>
          <a:off x="0" y="0"/>
          <a:ext cx="0" cy="0"/>
          <a:chOff x="0" y="0"/>
          <a:chExt cx="0" cy="0"/>
        </a:xfrm>
      </p:grpSpPr>
      <p:sp>
        <p:nvSpPr>
          <p:cNvPr id="101" name="Rectangle 100">
            <a:extLst>
              <a:ext uri="{FF2B5EF4-FFF2-40B4-BE49-F238E27FC236}">
                <a16:creationId xmlns:a16="http://schemas.microsoft.com/office/drawing/2014/main" id="{5A2A79D3-6D13-C7C6-2C8E-A09C1AE0F962}"/>
              </a:ext>
            </a:extLst>
          </p:cNvPr>
          <p:cNvSpPr/>
          <p:nvPr/>
        </p:nvSpPr>
        <p:spPr>
          <a:xfrm>
            <a:off x="1682496" y="2705615"/>
            <a:ext cx="22561200" cy="14886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a:solidFill>
                <a:prstClr val="white"/>
              </a:solidFill>
              <a:latin typeface="Fira Sans Light" panose="020B0403050000020004" pitchFamily="34" charset="0"/>
            </a:endParaRPr>
          </a:p>
        </p:txBody>
      </p:sp>
      <p:sp>
        <p:nvSpPr>
          <p:cNvPr id="118" name="Rectangle 117">
            <a:extLst>
              <a:ext uri="{FF2B5EF4-FFF2-40B4-BE49-F238E27FC236}">
                <a16:creationId xmlns:a16="http://schemas.microsoft.com/office/drawing/2014/main" id="{3083688A-E0D7-1D9F-FA93-AF9D34C44B03}"/>
              </a:ext>
            </a:extLst>
          </p:cNvPr>
          <p:cNvSpPr/>
          <p:nvPr/>
        </p:nvSpPr>
        <p:spPr>
          <a:xfrm>
            <a:off x="5470412"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23-Feb</a:t>
            </a:r>
          </a:p>
        </p:txBody>
      </p:sp>
      <p:sp>
        <p:nvSpPr>
          <p:cNvPr id="119" name="Rectangle 118">
            <a:extLst>
              <a:ext uri="{FF2B5EF4-FFF2-40B4-BE49-F238E27FC236}">
                <a16:creationId xmlns:a16="http://schemas.microsoft.com/office/drawing/2014/main" id="{D586B198-A63E-35A4-D2B5-C25165A71339}"/>
              </a:ext>
            </a:extLst>
          </p:cNvPr>
          <p:cNvSpPr/>
          <p:nvPr/>
        </p:nvSpPr>
        <p:spPr>
          <a:xfrm>
            <a:off x="7364370"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2-Mar</a:t>
            </a:r>
          </a:p>
        </p:txBody>
      </p:sp>
      <p:sp>
        <p:nvSpPr>
          <p:cNvPr id="120" name="Rectangle 119">
            <a:extLst>
              <a:ext uri="{FF2B5EF4-FFF2-40B4-BE49-F238E27FC236}">
                <a16:creationId xmlns:a16="http://schemas.microsoft.com/office/drawing/2014/main" id="{C869A241-A5EF-4878-DFE1-B7D71DEFF26F}"/>
              </a:ext>
            </a:extLst>
          </p:cNvPr>
          <p:cNvSpPr/>
          <p:nvPr/>
        </p:nvSpPr>
        <p:spPr>
          <a:xfrm>
            <a:off x="3576454"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16-Feb</a:t>
            </a:r>
          </a:p>
        </p:txBody>
      </p:sp>
      <p:sp>
        <p:nvSpPr>
          <p:cNvPr id="121" name="Rectangle 120">
            <a:extLst>
              <a:ext uri="{FF2B5EF4-FFF2-40B4-BE49-F238E27FC236}">
                <a16:creationId xmlns:a16="http://schemas.microsoft.com/office/drawing/2014/main" id="{FF5BEA1C-10C9-EF8D-365E-F2146572A290}"/>
              </a:ext>
            </a:extLst>
          </p:cNvPr>
          <p:cNvSpPr/>
          <p:nvPr/>
        </p:nvSpPr>
        <p:spPr>
          <a:xfrm>
            <a:off x="11152286"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16-Mar</a:t>
            </a:r>
          </a:p>
        </p:txBody>
      </p:sp>
      <p:sp>
        <p:nvSpPr>
          <p:cNvPr id="122" name="Rectangle 121">
            <a:extLst>
              <a:ext uri="{FF2B5EF4-FFF2-40B4-BE49-F238E27FC236}">
                <a16:creationId xmlns:a16="http://schemas.microsoft.com/office/drawing/2014/main" id="{A9F9CFD9-ACFF-F4D4-AAD8-DB45C4E894CC}"/>
              </a:ext>
            </a:extLst>
          </p:cNvPr>
          <p:cNvSpPr/>
          <p:nvPr/>
        </p:nvSpPr>
        <p:spPr>
          <a:xfrm>
            <a:off x="13046244"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23-Mar</a:t>
            </a:r>
          </a:p>
        </p:txBody>
      </p:sp>
      <p:sp>
        <p:nvSpPr>
          <p:cNvPr id="123" name="Rectangle 122">
            <a:extLst>
              <a:ext uri="{FF2B5EF4-FFF2-40B4-BE49-F238E27FC236}">
                <a16:creationId xmlns:a16="http://schemas.microsoft.com/office/drawing/2014/main" id="{382AF0BC-D23D-4EF2-CD4B-A53157680FE0}"/>
              </a:ext>
            </a:extLst>
          </p:cNvPr>
          <p:cNvSpPr/>
          <p:nvPr/>
        </p:nvSpPr>
        <p:spPr>
          <a:xfrm>
            <a:off x="9258328"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9-Mar</a:t>
            </a:r>
          </a:p>
        </p:txBody>
      </p:sp>
      <p:sp>
        <p:nvSpPr>
          <p:cNvPr id="126" name="Rectangle 125">
            <a:extLst>
              <a:ext uri="{FF2B5EF4-FFF2-40B4-BE49-F238E27FC236}">
                <a16:creationId xmlns:a16="http://schemas.microsoft.com/office/drawing/2014/main" id="{F8D8120A-E5B6-D201-07EF-93AA3E9D91C4}"/>
              </a:ext>
            </a:extLst>
          </p:cNvPr>
          <p:cNvSpPr/>
          <p:nvPr/>
        </p:nvSpPr>
        <p:spPr>
          <a:xfrm>
            <a:off x="14940202"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30-Mar</a:t>
            </a:r>
          </a:p>
        </p:txBody>
      </p:sp>
      <p:sp>
        <p:nvSpPr>
          <p:cNvPr id="7" name="Rectangle 6">
            <a:extLst>
              <a:ext uri="{FF2B5EF4-FFF2-40B4-BE49-F238E27FC236}">
                <a16:creationId xmlns:a16="http://schemas.microsoft.com/office/drawing/2014/main" id="{8C1876BA-815A-7581-BA83-D6EBBF36212A}"/>
              </a:ext>
            </a:extLst>
          </p:cNvPr>
          <p:cNvSpPr/>
          <p:nvPr/>
        </p:nvSpPr>
        <p:spPr>
          <a:xfrm>
            <a:off x="16834160"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6-Apr</a:t>
            </a:r>
          </a:p>
        </p:txBody>
      </p:sp>
      <p:sp>
        <p:nvSpPr>
          <p:cNvPr id="26" name="Title 4">
            <a:extLst>
              <a:ext uri="{FF2B5EF4-FFF2-40B4-BE49-F238E27FC236}">
                <a16:creationId xmlns:a16="http://schemas.microsoft.com/office/drawing/2014/main" id="{00ABFA18-9442-B8EC-C71A-3C091EC41CB3}"/>
              </a:ext>
            </a:extLst>
          </p:cNvPr>
          <p:cNvSpPr>
            <a:spLocks noGrp="1"/>
          </p:cNvSpPr>
          <p:nvPr>
            <p:ph type="title"/>
          </p:nvPr>
        </p:nvSpPr>
        <p:spPr>
          <a:xfrm>
            <a:off x="668992" y="537179"/>
            <a:ext cx="22991108" cy="901272"/>
          </a:xfrm>
        </p:spPr>
        <p:txBody>
          <a:bodyPr/>
          <a:lstStyle/>
          <a:p>
            <a:r>
              <a:rPr lang="en-US" sz="5600">
                <a:solidFill>
                  <a:srgbClr val="FF0000"/>
                </a:solidFill>
                <a:latin typeface="Fira Sans Light" panose="020B0403050000020004" pitchFamily="34" charset="0"/>
              </a:rPr>
              <a:t>Cloud Readiness Assessment - Part 1 - Plan on a Page</a:t>
            </a:r>
            <a:endParaRPr lang="en-US" sz="1600">
              <a:solidFill>
                <a:srgbClr val="FF0000"/>
              </a:solidFill>
              <a:latin typeface="Fira Sans Light" panose="020B0403050000020004" pitchFamily="34" charset="0"/>
            </a:endParaRPr>
          </a:p>
        </p:txBody>
      </p:sp>
      <p:sp>
        <p:nvSpPr>
          <p:cNvPr id="27" name="Slide Number Placeholder 8">
            <a:extLst>
              <a:ext uri="{FF2B5EF4-FFF2-40B4-BE49-F238E27FC236}">
                <a16:creationId xmlns:a16="http://schemas.microsoft.com/office/drawing/2014/main" id="{00992E0A-3A1B-8E14-C501-4A838309F1A4}"/>
              </a:ext>
            </a:extLst>
          </p:cNvPr>
          <p:cNvSpPr>
            <a:spLocks noGrp="1"/>
          </p:cNvSpPr>
          <p:nvPr>
            <p:ph type="sldNum" sz="quarter" idx="4"/>
          </p:nvPr>
        </p:nvSpPr>
        <p:spPr/>
        <p:txBody>
          <a:bodyPr/>
          <a:lstStyle/>
          <a:p>
            <a:pPr>
              <a:defRPr/>
            </a:pPr>
            <a:fld id="{762E77F0-FB5B-4E8E-9BC9-34F14560A017}" type="slidenum">
              <a:rPr lang="en-US">
                <a:solidFill>
                  <a:srgbClr val="000000"/>
                </a:solidFill>
                <a:latin typeface="Fira Sans Light" panose="020B0403050000020004" pitchFamily="34" charset="0"/>
              </a:rPr>
              <a:pPr>
                <a:defRPr/>
              </a:pPr>
              <a:t>26</a:t>
            </a:fld>
            <a:endParaRPr lang="en-US">
              <a:solidFill>
                <a:srgbClr val="000000"/>
              </a:solidFill>
              <a:latin typeface="Fira Sans Light" panose="020B0403050000020004" pitchFamily="34" charset="0"/>
            </a:endParaRPr>
          </a:p>
        </p:txBody>
      </p:sp>
      <p:sp>
        <p:nvSpPr>
          <p:cNvPr id="21" name="Rectangle 20">
            <a:extLst>
              <a:ext uri="{FF2B5EF4-FFF2-40B4-BE49-F238E27FC236}">
                <a16:creationId xmlns:a16="http://schemas.microsoft.com/office/drawing/2014/main" id="{6151EF1A-C54E-8BDC-FCF4-119C3C765966}"/>
              </a:ext>
            </a:extLst>
          </p:cNvPr>
          <p:cNvSpPr/>
          <p:nvPr/>
        </p:nvSpPr>
        <p:spPr>
          <a:xfrm>
            <a:off x="18728118"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13-Apr</a:t>
            </a:r>
          </a:p>
        </p:txBody>
      </p:sp>
      <p:sp>
        <p:nvSpPr>
          <p:cNvPr id="25" name="Rectangle 24">
            <a:extLst>
              <a:ext uri="{FF2B5EF4-FFF2-40B4-BE49-F238E27FC236}">
                <a16:creationId xmlns:a16="http://schemas.microsoft.com/office/drawing/2014/main" id="{D5F4487A-436E-EB22-7C37-9A40B96F3838}"/>
              </a:ext>
            </a:extLst>
          </p:cNvPr>
          <p:cNvSpPr/>
          <p:nvPr/>
        </p:nvSpPr>
        <p:spPr>
          <a:xfrm>
            <a:off x="20622076" y="2217193"/>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20-Apr</a:t>
            </a:r>
          </a:p>
        </p:txBody>
      </p:sp>
      <p:sp>
        <p:nvSpPr>
          <p:cNvPr id="30" name="Rectangle 29">
            <a:extLst>
              <a:ext uri="{FF2B5EF4-FFF2-40B4-BE49-F238E27FC236}">
                <a16:creationId xmlns:a16="http://schemas.microsoft.com/office/drawing/2014/main" id="{856C6D52-23B9-3481-1E0E-25602F75B490}"/>
              </a:ext>
            </a:extLst>
          </p:cNvPr>
          <p:cNvSpPr/>
          <p:nvPr/>
        </p:nvSpPr>
        <p:spPr>
          <a:xfrm>
            <a:off x="22516036" y="2236866"/>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27-Apr</a:t>
            </a:r>
          </a:p>
        </p:txBody>
      </p:sp>
      <p:sp>
        <p:nvSpPr>
          <p:cNvPr id="31" name="Rectangle 30">
            <a:extLst>
              <a:ext uri="{FF2B5EF4-FFF2-40B4-BE49-F238E27FC236}">
                <a16:creationId xmlns:a16="http://schemas.microsoft.com/office/drawing/2014/main" id="{FB015DE9-3703-C7EE-A1E8-F5830832D852}"/>
              </a:ext>
            </a:extLst>
          </p:cNvPr>
          <p:cNvSpPr/>
          <p:nvPr/>
        </p:nvSpPr>
        <p:spPr>
          <a:xfrm>
            <a:off x="264653" y="2705614"/>
            <a:ext cx="1390080" cy="148862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GB" sz="1600" b="1">
                <a:solidFill>
                  <a:srgbClr val="FFFFFF"/>
                </a:solidFill>
                <a:latin typeface="Fira Sans Light" panose="020B0403050000020004" pitchFamily="34" charset="0"/>
              </a:rPr>
              <a:t>Phase 1</a:t>
            </a:r>
          </a:p>
          <a:p>
            <a:pPr algn="ctr"/>
            <a:r>
              <a:rPr lang="en-GB" sz="1600" b="1">
                <a:solidFill>
                  <a:srgbClr val="FFFFFF"/>
                </a:solidFill>
                <a:latin typeface="Fira Sans Light" panose="020B0403050000020004" pitchFamily="34" charset="0"/>
              </a:rPr>
              <a:t>Mobilisation &amp; Kick Off</a:t>
            </a:r>
            <a:endParaRPr lang="en-GB" sz="1600" b="1">
              <a:solidFill>
                <a:srgbClr val="FFFFFF"/>
              </a:solidFill>
              <a:latin typeface="Fira Sans Light" panose="020B0403050000020004" pitchFamily="34" charset="0"/>
              <a:cs typeface="Calibri" panose="020F0502020204030204" pitchFamily="34" charset="0"/>
            </a:endParaRPr>
          </a:p>
          <a:p>
            <a:pPr algn="ctr"/>
            <a:endParaRPr lang="en-GB" sz="1600" b="1">
              <a:solidFill>
                <a:srgbClr val="FFFFFF"/>
              </a:solidFill>
              <a:latin typeface="Fira Sans Light" panose="020B0403050000020004" pitchFamily="34" charset="0"/>
              <a:cs typeface="Calibri" panose="020F0502020204030204" pitchFamily="34" charset="0"/>
            </a:endParaRPr>
          </a:p>
        </p:txBody>
      </p:sp>
      <p:sp>
        <p:nvSpPr>
          <p:cNvPr id="32" name="Rectangle 31">
            <a:extLst>
              <a:ext uri="{FF2B5EF4-FFF2-40B4-BE49-F238E27FC236}">
                <a16:creationId xmlns:a16="http://schemas.microsoft.com/office/drawing/2014/main" id="{B3A5CD48-4481-3E8D-A5CB-EF425FC01798}"/>
              </a:ext>
            </a:extLst>
          </p:cNvPr>
          <p:cNvSpPr/>
          <p:nvPr/>
        </p:nvSpPr>
        <p:spPr>
          <a:xfrm>
            <a:off x="277530" y="4349971"/>
            <a:ext cx="1390080" cy="1399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GB" sz="1600" b="1">
                <a:solidFill>
                  <a:srgbClr val="FFFFFF"/>
                </a:solidFill>
                <a:latin typeface="Fira Sans Light" panose="020B0403050000020004" pitchFamily="34" charset="0"/>
              </a:rPr>
              <a:t>Phase 2</a:t>
            </a:r>
          </a:p>
          <a:p>
            <a:pPr algn="ctr"/>
            <a:r>
              <a:rPr lang="en-GB" sz="1600" b="1">
                <a:solidFill>
                  <a:srgbClr val="FFFFFF"/>
                </a:solidFill>
                <a:latin typeface="Fira Sans Light" panose="020B0403050000020004" pitchFamily="34" charset="0"/>
              </a:rPr>
              <a:t>Strategy Assessment </a:t>
            </a:r>
          </a:p>
          <a:p>
            <a:pPr algn="ctr"/>
            <a:endParaRPr lang="en-GB" sz="1600" b="1">
              <a:solidFill>
                <a:srgbClr val="FFFFFF"/>
              </a:solidFill>
              <a:latin typeface="Fira Sans Light" panose="020B0403050000020004" pitchFamily="34" charset="0"/>
            </a:endParaRPr>
          </a:p>
        </p:txBody>
      </p:sp>
      <p:sp>
        <p:nvSpPr>
          <p:cNvPr id="33" name="Rectangle 32">
            <a:extLst>
              <a:ext uri="{FF2B5EF4-FFF2-40B4-BE49-F238E27FC236}">
                <a16:creationId xmlns:a16="http://schemas.microsoft.com/office/drawing/2014/main" id="{8BC754F8-445C-1A85-110C-41E75F0065D9}"/>
              </a:ext>
            </a:extLst>
          </p:cNvPr>
          <p:cNvSpPr/>
          <p:nvPr/>
        </p:nvSpPr>
        <p:spPr>
          <a:xfrm>
            <a:off x="264653" y="5857766"/>
            <a:ext cx="1390080" cy="184709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GB" sz="1600" b="1">
                <a:solidFill>
                  <a:srgbClr val="FFFFFF"/>
                </a:solidFill>
                <a:latin typeface="Fira Sans Light" panose="020B0403050000020004" pitchFamily="34" charset="0"/>
              </a:rPr>
              <a:t>Phase 3</a:t>
            </a:r>
          </a:p>
          <a:p>
            <a:pPr algn="ctr"/>
            <a:r>
              <a:rPr lang="en-GB" sz="1600" b="1">
                <a:solidFill>
                  <a:srgbClr val="FFFFFF"/>
                </a:solidFill>
                <a:latin typeface="Fira Sans Light" panose="020B0403050000020004" pitchFamily="34" charset="0"/>
              </a:rPr>
              <a:t>Automated Infrastructure Discovery </a:t>
            </a:r>
          </a:p>
          <a:p>
            <a:pPr algn="ctr"/>
            <a:endParaRPr lang="en-GB" sz="1600" b="1">
              <a:solidFill>
                <a:srgbClr val="FFFFFF"/>
              </a:solidFill>
              <a:latin typeface="Fira Sans Light" panose="020B0403050000020004" pitchFamily="34" charset="0"/>
            </a:endParaRPr>
          </a:p>
        </p:txBody>
      </p:sp>
      <p:sp>
        <p:nvSpPr>
          <p:cNvPr id="34" name="Rectangle 33">
            <a:extLst>
              <a:ext uri="{FF2B5EF4-FFF2-40B4-BE49-F238E27FC236}">
                <a16:creationId xmlns:a16="http://schemas.microsoft.com/office/drawing/2014/main" id="{631FF9C2-A1BF-3BDB-22D1-B27E89C95A85}"/>
              </a:ext>
            </a:extLst>
          </p:cNvPr>
          <p:cNvSpPr/>
          <p:nvPr/>
        </p:nvSpPr>
        <p:spPr>
          <a:xfrm>
            <a:off x="277530" y="7844816"/>
            <a:ext cx="1390080" cy="142865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defTabSz="1828800"/>
            <a:r>
              <a:rPr lang="en-GB" sz="1600" b="1">
                <a:solidFill>
                  <a:srgbClr val="FFFFFF"/>
                </a:solidFill>
                <a:latin typeface="Fira Sans Light" panose="020B0403050000020004" pitchFamily="34" charset="0"/>
              </a:rPr>
              <a:t>Phase 4</a:t>
            </a:r>
          </a:p>
          <a:p>
            <a:pPr algn="ctr" defTabSz="1828800"/>
            <a:r>
              <a:rPr lang="en-GB" sz="1600" b="1">
                <a:solidFill>
                  <a:srgbClr val="FFFFFF"/>
                </a:solidFill>
                <a:latin typeface="Fira Sans Light" panose="020B0403050000020004" pitchFamily="34" charset="0"/>
              </a:rPr>
              <a:t>TCO Analysis </a:t>
            </a:r>
            <a:endParaRPr lang="en-GB" sz="1600" b="1">
              <a:solidFill>
                <a:srgbClr val="000000"/>
              </a:solidFill>
              <a:latin typeface="Fira Sans Light" panose="020B0403050000020004" pitchFamily="34" charset="0"/>
            </a:endParaRPr>
          </a:p>
        </p:txBody>
      </p:sp>
      <p:sp>
        <p:nvSpPr>
          <p:cNvPr id="35" name="Rectangle 34">
            <a:extLst>
              <a:ext uri="{FF2B5EF4-FFF2-40B4-BE49-F238E27FC236}">
                <a16:creationId xmlns:a16="http://schemas.microsoft.com/office/drawing/2014/main" id="{791DACC0-520B-5EDA-3B19-8818FEF695C0}"/>
              </a:ext>
            </a:extLst>
          </p:cNvPr>
          <p:cNvSpPr/>
          <p:nvPr/>
        </p:nvSpPr>
        <p:spPr>
          <a:xfrm>
            <a:off x="277530" y="9413423"/>
            <a:ext cx="1390080" cy="1784628"/>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defTabSz="1828800"/>
            <a:r>
              <a:rPr lang="en-GB" sz="1600" b="1">
                <a:solidFill>
                  <a:srgbClr val="FFFFFF"/>
                </a:solidFill>
                <a:latin typeface="Fira Sans Light" panose="020B0403050000020004" pitchFamily="34" charset="0"/>
              </a:rPr>
              <a:t>Phase 5</a:t>
            </a:r>
          </a:p>
          <a:p>
            <a:pPr algn="ctr" defTabSz="1828800"/>
            <a:r>
              <a:rPr lang="en-GB" sz="1600" b="1">
                <a:solidFill>
                  <a:srgbClr val="FFFFFF"/>
                </a:solidFill>
                <a:latin typeface="Fira Sans Light" panose="020B0403050000020004" pitchFamily="34" charset="0"/>
              </a:rPr>
              <a:t>Cloud Service Provider Selection &amp; </a:t>
            </a:r>
            <a:endParaRPr lang="en-GB" sz="1600" b="1">
              <a:solidFill>
                <a:srgbClr val="000000"/>
              </a:solidFill>
              <a:latin typeface="Fira Sans Light" panose="020B0403050000020004" pitchFamily="34" charset="0"/>
            </a:endParaRPr>
          </a:p>
        </p:txBody>
      </p:sp>
      <p:sp>
        <p:nvSpPr>
          <p:cNvPr id="36" name="Rectangle 35">
            <a:extLst>
              <a:ext uri="{FF2B5EF4-FFF2-40B4-BE49-F238E27FC236}">
                <a16:creationId xmlns:a16="http://schemas.microsoft.com/office/drawing/2014/main" id="{AD2C59D8-9B59-B105-2A0D-BDA1895115EB}"/>
              </a:ext>
            </a:extLst>
          </p:cNvPr>
          <p:cNvSpPr/>
          <p:nvPr/>
        </p:nvSpPr>
        <p:spPr>
          <a:xfrm>
            <a:off x="295818" y="11338004"/>
            <a:ext cx="1390080" cy="13634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defTabSz="1828800"/>
            <a:r>
              <a:rPr lang="en-GB" sz="1600" b="1">
                <a:solidFill>
                  <a:srgbClr val="FFFFFF"/>
                </a:solidFill>
                <a:latin typeface="Fira Sans Light" panose="020B0403050000020004" pitchFamily="34" charset="0"/>
              </a:rPr>
              <a:t>Phase 6</a:t>
            </a:r>
          </a:p>
          <a:p>
            <a:pPr algn="ctr" defTabSz="1828800"/>
            <a:r>
              <a:rPr lang="en-GB" sz="1600" b="1">
                <a:solidFill>
                  <a:srgbClr val="FFFFFF"/>
                </a:solidFill>
                <a:latin typeface="Fira Sans Light" panose="020B0403050000020004" pitchFamily="34" charset="0"/>
              </a:rPr>
              <a:t>Cloud Strategy Report &amp; Presentation </a:t>
            </a:r>
            <a:endParaRPr lang="en-GB" sz="1600" b="1">
              <a:solidFill>
                <a:srgbClr val="000000"/>
              </a:solidFill>
              <a:latin typeface="Fira Sans Light" panose="020B0403050000020004" pitchFamily="34" charset="0"/>
            </a:endParaRPr>
          </a:p>
        </p:txBody>
      </p:sp>
      <p:sp>
        <p:nvSpPr>
          <p:cNvPr id="37" name="Rectangle 36">
            <a:extLst>
              <a:ext uri="{FF2B5EF4-FFF2-40B4-BE49-F238E27FC236}">
                <a16:creationId xmlns:a16="http://schemas.microsoft.com/office/drawing/2014/main" id="{E07725AC-9024-C464-A785-636B8EFB78CC}"/>
              </a:ext>
            </a:extLst>
          </p:cNvPr>
          <p:cNvSpPr/>
          <p:nvPr/>
        </p:nvSpPr>
        <p:spPr>
          <a:xfrm>
            <a:off x="1682496" y="4349972"/>
            <a:ext cx="22561200" cy="1399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a:solidFill>
                  <a:prstClr val="white"/>
                </a:solidFill>
                <a:latin typeface="Fira Sans Light" panose="020B0403050000020004" pitchFamily="34" charset="0"/>
              </a:rPr>
              <a:t>    </a:t>
            </a:r>
          </a:p>
        </p:txBody>
      </p:sp>
      <p:sp>
        <p:nvSpPr>
          <p:cNvPr id="38" name="Rectangle 37">
            <a:extLst>
              <a:ext uri="{FF2B5EF4-FFF2-40B4-BE49-F238E27FC236}">
                <a16:creationId xmlns:a16="http://schemas.microsoft.com/office/drawing/2014/main" id="{71BCC842-0C82-F895-0610-65D1D563D147}"/>
              </a:ext>
            </a:extLst>
          </p:cNvPr>
          <p:cNvSpPr/>
          <p:nvPr/>
        </p:nvSpPr>
        <p:spPr>
          <a:xfrm>
            <a:off x="1682496" y="5857766"/>
            <a:ext cx="22561200" cy="184709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a:solidFill>
                <a:prstClr val="white"/>
              </a:solidFill>
              <a:latin typeface="Fira Sans Light" panose="020B0403050000020004" pitchFamily="34" charset="0"/>
            </a:endParaRPr>
          </a:p>
        </p:txBody>
      </p:sp>
      <p:sp>
        <p:nvSpPr>
          <p:cNvPr id="39" name="Rectangle 38">
            <a:extLst>
              <a:ext uri="{FF2B5EF4-FFF2-40B4-BE49-F238E27FC236}">
                <a16:creationId xmlns:a16="http://schemas.microsoft.com/office/drawing/2014/main" id="{D519E2D5-3C4E-E54C-A6CB-F55040469DFC}"/>
              </a:ext>
            </a:extLst>
          </p:cNvPr>
          <p:cNvSpPr/>
          <p:nvPr/>
        </p:nvSpPr>
        <p:spPr>
          <a:xfrm>
            <a:off x="1682496" y="7844816"/>
            <a:ext cx="22561200" cy="142865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a:solidFill>
                <a:prstClr val="white"/>
              </a:solidFill>
              <a:latin typeface="Fira Sans Light" panose="020B0403050000020004" pitchFamily="34" charset="0"/>
            </a:endParaRPr>
          </a:p>
        </p:txBody>
      </p:sp>
      <p:sp>
        <p:nvSpPr>
          <p:cNvPr id="40" name="Rectangle 39">
            <a:extLst>
              <a:ext uri="{FF2B5EF4-FFF2-40B4-BE49-F238E27FC236}">
                <a16:creationId xmlns:a16="http://schemas.microsoft.com/office/drawing/2014/main" id="{410E1785-4F3D-2F65-03B0-0AA3F2D7EF5E}"/>
              </a:ext>
            </a:extLst>
          </p:cNvPr>
          <p:cNvSpPr/>
          <p:nvPr/>
        </p:nvSpPr>
        <p:spPr>
          <a:xfrm>
            <a:off x="1682496" y="9413423"/>
            <a:ext cx="22561200" cy="178462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a:solidFill>
                <a:prstClr val="white"/>
              </a:solidFill>
              <a:latin typeface="Fira Sans Light" panose="020B0403050000020004" pitchFamily="34" charset="0"/>
            </a:endParaRPr>
          </a:p>
        </p:txBody>
      </p:sp>
      <p:sp>
        <p:nvSpPr>
          <p:cNvPr id="41" name="Rectangle 40">
            <a:extLst>
              <a:ext uri="{FF2B5EF4-FFF2-40B4-BE49-F238E27FC236}">
                <a16:creationId xmlns:a16="http://schemas.microsoft.com/office/drawing/2014/main" id="{56C73DCA-D5BC-CC23-3966-11C0D2479EA8}"/>
              </a:ext>
            </a:extLst>
          </p:cNvPr>
          <p:cNvSpPr/>
          <p:nvPr/>
        </p:nvSpPr>
        <p:spPr>
          <a:xfrm>
            <a:off x="1682496" y="11338003"/>
            <a:ext cx="22561200" cy="13634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a:solidFill>
                <a:prstClr val="white"/>
              </a:solidFill>
              <a:latin typeface="Fira Sans Light" panose="020B0403050000020004" pitchFamily="34" charset="0"/>
            </a:endParaRPr>
          </a:p>
        </p:txBody>
      </p:sp>
      <p:sp>
        <p:nvSpPr>
          <p:cNvPr id="42" name="Rectangle 41">
            <a:extLst>
              <a:ext uri="{FF2B5EF4-FFF2-40B4-BE49-F238E27FC236}">
                <a16:creationId xmlns:a16="http://schemas.microsoft.com/office/drawing/2014/main" id="{D0B3CF19-C6EC-A9DE-95B4-9323CA743D5B}"/>
              </a:ext>
            </a:extLst>
          </p:cNvPr>
          <p:cNvSpPr/>
          <p:nvPr/>
        </p:nvSpPr>
        <p:spPr>
          <a:xfrm>
            <a:off x="1682496" y="2225037"/>
            <a:ext cx="1692000" cy="417600"/>
          </a:xfrm>
          <a:prstGeom prst="rect">
            <a:avLst/>
          </a:prstGeom>
          <a:solidFill>
            <a:schemeClr val="tx1"/>
          </a:solidFill>
          <a:ln>
            <a:noFill/>
          </a:ln>
          <a:effectLst/>
          <a:scene3d>
            <a:camera prst="orthographicFront">
              <a:rot lat="0" lon="0" rev="0"/>
            </a:camera>
            <a:lightRig rig="threePt" dir="t">
              <a:rot lat="0" lon="0" rev="1200000"/>
            </a:lightRig>
          </a:scene3d>
          <a:sp3d/>
        </p:spPr>
        <p:txBody>
          <a:bodyPr rtlCol="0" anchor="ctr"/>
          <a:lstStyle/>
          <a:p>
            <a:pPr algn="ctr" defTabSz="1219140"/>
            <a:r>
              <a:rPr lang="en-US" sz="2000">
                <a:solidFill>
                  <a:srgbClr val="FFFFFF"/>
                </a:solidFill>
                <a:latin typeface="Fira Sans Light" panose="020B0403050000020004" pitchFamily="34" charset="0"/>
                <a:cs typeface="Arial" panose="020B0604020202020204" pitchFamily="34" charset="0"/>
              </a:rPr>
              <a:t>w/c 09-Feb</a:t>
            </a:r>
          </a:p>
        </p:txBody>
      </p:sp>
      <p:cxnSp>
        <p:nvCxnSpPr>
          <p:cNvPr id="43" name="Straight Connector 42">
            <a:extLst>
              <a:ext uri="{FF2B5EF4-FFF2-40B4-BE49-F238E27FC236}">
                <a16:creationId xmlns:a16="http://schemas.microsoft.com/office/drawing/2014/main" id="{6553A1B4-EE79-FE14-6DAD-8D2BF3C799EB}"/>
              </a:ext>
            </a:extLst>
          </p:cNvPr>
          <p:cNvCxnSpPr>
            <a:cxnSpLocks/>
          </p:cNvCxnSpPr>
          <p:nvPr/>
        </p:nvCxnSpPr>
        <p:spPr>
          <a:xfrm>
            <a:off x="2357138" y="2681784"/>
            <a:ext cx="0" cy="998052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4" name="Arrow: Pentagon 75">
            <a:extLst>
              <a:ext uri="{FF2B5EF4-FFF2-40B4-BE49-F238E27FC236}">
                <a16:creationId xmlns:a16="http://schemas.microsoft.com/office/drawing/2014/main" id="{F953A060-A0B1-90A3-EADF-301EB54CD699}"/>
              </a:ext>
            </a:extLst>
          </p:cNvPr>
          <p:cNvSpPr/>
          <p:nvPr/>
        </p:nvSpPr>
        <p:spPr>
          <a:xfrm>
            <a:off x="1722728" y="3122618"/>
            <a:ext cx="1034898" cy="720000"/>
          </a:xfrm>
          <a:prstGeom prst="homePlate">
            <a:avLst>
              <a:gd name="adj" fmla="val 37609"/>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b="1">
                <a:solidFill>
                  <a:prstClr val="white"/>
                </a:solidFill>
                <a:latin typeface="Fira Sans Light" panose="020B0403050000020004" pitchFamily="34" charset="0"/>
              </a:rPr>
              <a:t>Kick off</a:t>
            </a:r>
          </a:p>
        </p:txBody>
      </p:sp>
      <p:sp>
        <p:nvSpPr>
          <p:cNvPr id="45" name="Arrow: Pentagon 75">
            <a:extLst>
              <a:ext uri="{FF2B5EF4-FFF2-40B4-BE49-F238E27FC236}">
                <a16:creationId xmlns:a16="http://schemas.microsoft.com/office/drawing/2014/main" id="{CF612536-77D9-AC5C-5DD4-C4F38FB15E6B}"/>
              </a:ext>
            </a:extLst>
          </p:cNvPr>
          <p:cNvSpPr/>
          <p:nvPr/>
        </p:nvSpPr>
        <p:spPr>
          <a:xfrm>
            <a:off x="3570235" y="6432047"/>
            <a:ext cx="1587395" cy="898417"/>
          </a:xfrm>
          <a:prstGeom prst="homePlate">
            <a:avLst>
              <a:gd name="adj" fmla="val 37609"/>
            </a:avLst>
          </a:prstGeom>
          <a:solidFill>
            <a:srgbClr val="0059C8"/>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Discovery tooling install</a:t>
            </a:r>
          </a:p>
        </p:txBody>
      </p:sp>
      <p:sp>
        <p:nvSpPr>
          <p:cNvPr id="46" name="Arrow: Pentagon 75">
            <a:extLst>
              <a:ext uri="{FF2B5EF4-FFF2-40B4-BE49-F238E27FC236}">
                <a16:creationId xmlns:a16="http://schemas.microsoft.com/office/drawing/2014/main" id="{3F55CBAD-0FD9-1C6E-338B-9D570C4D6599}"/>
              </a:ext>
            </a:extLst>
          </p:cNvPr>
          <p:cNvSpPr/>
          <p:nvPr/>
        </p:nvSpPr>
        <p:spPr>
          <a:xfrm>
            <a:off x="5268454" y="6432046"/>
            <a:ext cx="5883832" cy="898417"/>
          </a:xfrm>
          <a:prstGeom prst="homePlate">
            <a:avLst>
              <a:gd name="adj" fmla="val 37609"/>
            </a:avLst>
          </a:prstGeom>
          <a:solidFill>
            <a:srgbClr val="0059C8"/>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Discovery data collection</a:t>
            </a:r>
          </a:p>
        </p:txBody>
      </p:sp>
      <p:sp>
        <p:nvSpPr>
          <p:cNvPr id="47" name="Arrow: Pentagon 75">
            <a:extLst>
              <a:ext uri="{FF2B5EF4-FFF2-40B4-BE49-F238E27FC236}">
                <a16:creationId xmlns:a16="http://schemas.microsoft.com/office/drawing/2014/main" id="{D0828216-EC3B-5A9C-964B-EDC1388B76B9}"/>
              </a:ext>
            </a:extLst>
          </p:cNvPr>
          <p:cNvSpPr/>
          <p:nvPr/>
        </p:nvSpPr>
        <p:spPr>
          <a:xfrm>
            <a:off x="11152286" y="6432045"/>
            <a:ext cx="1663451" cy="898417"/>
          </a:xfrm>
          <a:prstGeom prst="homePlate">
            <a:avLst>
              <a:gd name="adj" fmla="val 37609"/>
            </a:avLst>
          </a:prstGeom>
          <a:solidFill>
            <a:srgbClr val="0059C8"/>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Data Filter + Export</a:t>
            </a:r>
          </a:p>
        </p:txBody>
      </p:sp>
      <p:sp>
        <p:nvSpPr>
          <p:cNvPr id="48" name="TextBox 47">
            <a:extLst>
              <a:ext uri="{FF2B5EF4-FFF2-40B4-BE49-F238E27FC236}">
                <a16:creationId xmlns:a16="http://schemas.microsoft.com/office/drawing/2014/main" id="{E753C5CB-7D74-B51E-3CDD-C5A4A43D6969}"/>
              </a:ext>
            </a:extLst>
          </p:cNvPr>
          <p:cNvSpPr txBox="1"/>
          <p:nvPr/>
        </p:nvSpPr>
        <p:spPr>
          <a:xfrm>
            <a:off x="6433149" y="5080072"/>
            <a:ext cx="2327219" cy="584775"/>
          </a:xfrm>
          <a:prstGeom prst="rect">
            <a:avLst/>
          </a:prstGeom>
          <a:noFill/>
        </p:spPr>
        <p:txBody>
          <a:bodyPr wrap="square" rtlCol="0" anchor="ctr">
            <a:spAutoFit/>
          </a:bodyPr>
          <a:lstStyle/>
          <a:p>
            <a:pPr algn="ctr"/>
            <a:r>
              <a:rPr lang="en-GB" sz="1600" b="1">
                <a:solidFill>
                  <a:srgbClr val="000000"/>
                </a:solidFill>
                <a:latin typeface="Fira Sans Light" panose="020B0403050000020004" pitchFamily="34" charset="0"/>
              </a:rPr>
              <a:t>Selection Criteria Agreed</a:t>
            </a:r>
          </a:p>
        </p:txBody>
      </p:sp>
      <p:sp>
        <p:nvSpPr>
          <p:cNvPr id="49" name="Arrow: Pentagon 75">
            <a:extLst>
              <a:ext uri="{FF2B5EF4-FFF2-40B4-BE49-F238E27FC236}">
                <a16:creationId xmlns:a16="http://schemas.microsoft.com/office/drawing/2014/main" id="{11A30E0D-5877-0433-7807-B0DD8E6BF57C}"/>
              </a:ext>
            </a:extLst>
          </p:cNvPr>
          <p:cNvSpPr/>
          <p:nvPr/>
        </p:nvSpPr>
        <p:spPr>
          <a:xfrm>
            <a:off x="7308277" y="4636554"/>
            <a:ext cx="576962" cy="462876"/>
          </a:xfrm>
          <a:prstGeom prst="star5">
            <a:avLst/>
          </a:prstGeom>
          <a:solidFill>
            <a:srgbClr val="95008A"/>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endParaRPr lang="en-GB" sz="2000" b="1">
              <a:solidFill>
                <a:prstClr val="white"/>
              </a:solidFill>
              <a:latin typeface="Fira Sans Light" panose="020B0403050000020004" pitchFamily="34" charset="0"/>
            </a:endParaRPr>
          </a:p>
          <a:p>
            <a:pPr algn="ctr">
              <a:defRPr/>
            </a:pPr>
            <a:endParaRPr lang="en-GB" sz="2000" b="1">
              <a:solidFill>
                <a:prstClr val="white"/>
              </a:solidFill>
              <a:latin typeface="Fira Sans Light" panose="020B0403050000020004" pitchFamily="34" charset="0"/>
            </a:endParaRPr>
          </a:p>
          <a:p>
            <a:pPr algn="ctr">
              <a:defRPr/>
            </a:pPr>
            <a:endParaRPr lang="en-GB" sz="2000" b="1">
              <a:solidFill>
                <a:prstClr val="white"/>
              </a:solidFill>
              <a:latin typeface="Fira Sans Light" panose="020B0403050000020004" pitchFamily="34" charset="0"/>
            </a:endParaRPr>
          </a:p>
        </p:txBody>
      </p:sp>
      <p:sp>
        <p:nvSpPr>
          <p:cNvPr id="50" name="Arrow: Pentagon 75">
            <a:extLst>
              <a:ext uri="{FF2B5EF4-FFF2-40B4-BE49-F238E27FC236}">
                <a16:creationId xmlns:a16="http://schemas.microsoft.com/office/drawing/2014/main" id="{0D0B1BCC-F2F3-ADCA-89D5-7CDBC6F199C2}"/>
              </a:ext>
            </a:extLst>
          </p:cNvPr>
          <p:cNvSpPr/>
          <p:nvPr/>
        </p:nvSpPr>
        <p:spPr>
          <a:xfrm>
            <a:off x="2991548" y="4613542"/>
            <a:ext cx="3829145" cy="888749"/>
          </a:xfrm>
          <a:prstGeom prst="homePlate">
            <a:avLst>
              <a:gd name="adj" fmla="val 37609"/>
            </a:avLst>
          </a:prstGeom>
          <a:solidFill>
            <a:srgbClr val="95008A"/>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Foundational Workshops</a:t>
            </a:r>
          </a:p>
        </p:txBody>
      </p:sp>
      <p:sp>
        <p:nvSpPr>
          <p:cNvPr id="52" name="Arrow: Pentagon 75">
            <a:extLst>
              <a:ext uri="{FF2B5EF4-FFF2-40B4-BE49-F238E27FC236}">
                <a16:creationId xmlns:a16="http://schemas.microsoft.com/office/drawing/2014/main" id="{B924BCEA-F244-B500-3EE7-5D59883216AD}"/>
              </a:ext>
            </a:extLst>
          </p:cNvPr>
          <p:cNvSpPr/>
          <p:nvPr/>
        </p:nvSpPr>
        <p:spPr>
          <a:xfrm>
            <a:off x="11850627" y="8123542"/>
            <a:ext cx="3859574" cy="871201"/>
          </a:xfrm>
          <a:prstGeom prst="homePlate">
            <a:avLst>
              <a:gd name="adj" fmla="val 37609"/>
            </a:avLst>
          </a:prstGeom>
          <a:solidFill>
            <a:srgbClr val="00BEBC"/>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TCO Analysis</a:t>
            </a:r>
          </a:p>
        </p:txBody>
      </p:sp>
      <p:sp>
        <p:nvSpPr>
          <p:cNvPr id="53" name="Arrow: Pentagon 75">
            <a:extLst>
              <a:ext uri="{FF2B5EF4-FFF2-40B4-BE49-F238E27FC236}">
                <a16:creationId xmlns:a16="http://schemas.microsoft.com/office/drawing/2014/main" id="{F9B5C6EA-ACD0-FAC0-E937-C9FA39F37C7C}"/>
              </a:ext>
            </a:extLst>
          </p:cNvPr>
          <p:cNvSpPr/>
          <p:nvPr/>
        </p:nvSpPr>
        <p:spPr>
          <a:xfrm>
            <a:off x="14378225" y="9877702"/>
            <a:ext cx="3787920" cy="871201"/>
          </a:xfrm>
          <a:prstGeom prst="homePlate">
            <a:avLst>
              <a:gd name="adj" fmla="val 37609"/>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Cloud Comparison Analysis</a:t>
            </a:r>
          </a:p>
        </p:txBody>
      </p:sp>
      <p:sp>
        <p:nvSpPr>
          <p:cNvPr id="54" name="Arrow: Pentagon 75">
            <a:extLst>
              <a:ext uri="{FF2B5EF4-FFF2-40B4-BE49-F238E27FC236}">
                <a16:creationId xmlns:a16="http://schemas.microsoft.com/office/drawing/2014/main" id="{0F13F1D7-4DB1-B74B-7020-EB045AE13064}"/>
              </a:ext>
            </a:extLst>
          </p:cNvPr>
          <p:cNvSpPr/>
          <p:nvPr/>
        </p:nvSpPr>
        <p:spPr>
          <a:xfrm>
            <a:off x="16632202" y="11584125"/>
            <a:ext cx="3612018" cy="871201"/>
          </a:xfrm>
          <a:prstGeom prst="homePlate">
            <a:avLst>
              <a:gd name="adj" fmla="val 37609"/>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Cloud Strategy Report</a:t>
            </a:r>
          </a:p>
        </p:txBody>
      </p:sp>
      <p:sp>
        <p:nvSpPr>
          <p:cNvPr id="55" name="Arrow: Pentagon 75">
            <a:extLst>
              <a:ext uri="{FF2B5EF4-FFF2-40B4-BE49-F238E27FC236}">
                <a16:creationId xmlns:a16="http://schemas.microsoft.com/office/drawing/2014/main" id="{73E36583-B893-FE9B-E29E-2096464AA8CB}"/>
              </a:ext>
            </a:extLst>
          </p:cNvPr>
          <p:cNvSpPr/>
          <p:nvPr/>
        </p:nvSpPr>
        <p:spPr>
          <a:xfrm>
            <a:off x="22698645" y="3122618"/>
            <a:ext cx="1167196" cy="9335559"/>
          </a:xfrm>
          <a:prstGeom prst="homePlate">
            <a:avLst>
              <a:gd name="adj" fmla="val 37609"/>
            </a:avLst>
          </a:prstGeom>
          <a:solidFill>
            <a:srgbClr val="0059C8"/>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Project Closure</a:t>
            </a:r>
          </a:p>
        </p:txBody>
      </p:sp>
      <p:sp>
        <p:nvSpPr>
          <p:cNvPr id="3" name="TextBox 2">
            <a:extLst>
              <a:ext uri="{FF2B5EF4-FFF2-40B4-BE49-F238E27FC236}">
                <a16:creationId xmlns:a16="http://schemas.microsoft.com/office/drawing/2014/main" id="{5F769B85-79F1-735D-F10D-E4B24612C98B}"/>
              </a:ext>
            </a:extLst>
          </p:cNvPr>
          <p:cNvSpPr txBox="1"/>
          <p:nvPr/>
        </p:nvSpPr>
        <p:spPr>
          <a:xfrm>
            <a:off x="3046667" y="3115392"/>
            <a:ext cx="1548700" cy="596285"/>
          </a:xfrm>
          <a:prstGeom prst="rect">
            <a:avLst/>
          </a:prstGeom>
          <a:noFill/>
        </p:spPr>
        <p:txBody>
          <a:bodyPr wrap="square" rtlCol="0" anchor="ctr">
            <a:spAutoFit/>
          </a:bodyPr>
          <a:lstStyle/>
          <a:p>
            <a:pPr algn="ctr"/>
            <a:r>
              <a:rPr lang="en-GB" sz="1600" b="1">
                <a:solidFill>
                  <a:srgbClr val="000000"/>
                </a:solidFill>
                <a:latin typeface="Fira Sans Light" panose="020B0403050000020004" pitchFamily="34" charset="0"/>
              </a:rPr>
              <a:t>Project Plan Agreed</a:t>
            </a:r>
          </a:p>
        </p:txBody>
      </p:sp>
      <p:sp>
        <p:nvSpPr>
          <p:cNvPr id="4" name="Arrow: Pentagon 75">
            <a:extLst>
              <a:ext uri="{FF2B5EF4-FFF2-40B4-BE49-F238E27FC236}">
                <a16:creationId xmlns:a16="http://schemas.microsoft.com/office/drawing/2014/main" id="{B2C59CE2-9BAF-5B17-DD43-BBE99749F5BD}"/>
              </a:ext>
            </a:extLst>
          </p:cNvPr>
          <p:cNvSpPr/>
          <p:nvPr/>
        </p:nvSpPr>
        <p:spPr>
          <a:xfrm>
            <a:off x="2703068" y="3217273"/>
            <a:ext cx="576962" cy="462876"/>
          </a:xfrm>
          <a:prstGeom prst="star5">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endParaRPr lang="en-GB" sz="2000" b="1">
              <a:solidFill>
                <a:prstClr val="white"/>
              </a:solidFill>
              <a:latin typeface="Fira Sans Light" panose="020B0403050000020004" pitchFamily="34" charset="0"/>
            </a:endParaRPr>
          </a:p>
          <a:p>
            <a:pPr algn="ctr">
              <a:defRPr/>
            </a:pPr>
            <a:endParaRPr lang="en-GB" sz="2000" b="1">
              <a:solidFill>
                <a:prstClr val="white"/>
              </a:solidFill>
              <a:latin typeface="Fira Sans Light" panose="020B0403050000020004" pitchFamily="34" charset="0"/>
            </a:endParaRPr>
          </a:p>
          <a:p>
            <a:pPr algn="ctr">
              <a:defRPr/>
            </a:pPr>
            <a:endParaRPr lang="en-GB" sz="2000" b="1">
              <a:solidFill>
                <a:prstClr val="white"/>
              </a:solidFill>
              <a:latin typeface="Fira Sans Light" panose="020B0403050000020004" pitchFamily="34" charset="0"/>
            </a:endParaRPr>
          </a:p>
        </p:txBody>
      </p:sp>
      <p:sp>
        <p:nvSpPr>
          <p:cNvPr id="6" name="TextBox 5">
            <a:extLst>
              <a:ext uri="{FF2B5EF4-FFF2-40B4-BE49-F238E27FC236}">
                <a16:creationId xmlns:a16="http://schemas.microsoft.com/office/drawing/2014/main" id="{725D65E2-49ED-616C-AE09-51864592D20A}"/>
              </a:ext>
            </a:extLst>
          </p:cNvPr>
          <p:cNvSpPr txBox="1"/>
          <p:nvPr/>
        </p:nvSpPr>
        <p:spPr>
          <a:xfrm>
            <a:off x="20370158" y="12123917"/>
            <a:ext cx="1167196" cy="338554"/>
          </a:xfrm>
          <a:prstGeom prst="rect">
            <a:avLst/>
          </a:prstGeom>
          <a:noFill/>
        </p:spPr>
        <p:txBody>
          <a:bodyPr wrap="square" rtlCol="0" anchor="ctr">
            <a:spAutoFit/>
          </a:bodyPr>
          <a:lstStyle/>
          <a:p>
            <a:pPr algn="ctr"/>
            <a:r>
              <a:rPr lang="en-GB" sz="1600" b="1">
                <a:solidFill>
                  <a:srgbClr val="000000"/>
                </a:solidFill>
                <a:latin typeface="Fira Sans Light" panose="020B0403050000020004" pitchFamily="34" charset="0"/>
              </a:rPr>
              <a:t>Playback</a:t>
            </a:r>
          </a:p>
        </p:txBody>
      </p:sp>
      <p:sp>
        <p:nvSpPr>
          <p:cNvPr id="8" name="Arrow: Pentagon 75">
            <a:extLst>
              <a:ext uri="{FF2B5EF4-FFF2-40B4-BE49-F238E27FC236}">
                <a16:creationId xmlns:a16="http://schemas.microsoft.com/office/drawing/2014/main" id="{C23C283B-8355-1151-B6BB-46928E85BDBE}"/>
              </a:ext>
            </a:extLst>
          </p:cNvPr>
          <p:cNvSpPr/>
          <p:nvPr/>
        </p:nvSpPr>
        <p:spPr>
          <a:xfrm>
            <a:off x="20622076" y="11584125"/>
            <a:ext cx="576962" cy="462876"/>
          </a:xfrm>
          <a:prstGeom prst="star5">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endParaRPr lang="en-GB" sz="2000" b="1">
              <a:solidFill>
                <a:prstClr val="white"/>
              </a:solidFill>
              <a:latin typeface="Fira Sans Light" panose="020B0403050000020004" pitchFamily="34" charset="0"/>
            </a:endParaRPr>
          </a:p>
          <a:p>
            <a:pPr algn="ctr">
              <a:defRPr/>
            </a:pPr>
            <a:endParaRPr lang="en-GB" sz="2000" b="1">
              <a:solidFill>
                <a:prstClr val="white"/>
              </a:solidFill>
              <a:latin typeface="Fira Sans Light" panose="020B0403050000020004" pitchFamily="34" charset="0"/>
            </a:endParaRPr>
          </a:p>
          <a:p>
            <a:pPr algn="ctr">
              <a:defRPr/>
            </a:pPr>
            <a:endParaRPr lang="en-GB" sz="2000" b="1">
              <a:solidFill>
                <a:prstClr val="white"/>
              </a:solidFill>
              <a:latin typeface="Fira Sans Light" panose="020B0403050000020004" pitchFamily="34" charset="0"/>
            </a:endParaRPr>
          </a:p>
        </p:txBody>
      </p:sp>
      <p:sp>
        <p:nvSpPr>
          <p:cNvPr id="9" name="Arrow: Pentagon 75">
            <a:extLst>
              <a:ext uri="{FF2B5EF4-FFF2-40B4-BE49-F238E27FC236}">
                <a16:creationId xmlns:a16="http://schemas.microsoft.com/office/drawing/2014/main" id="{E1625557-6204-578E-A401-8113FFDBE48D}"/>
              </a:ext>
            </a:extLst>
          </p:cNvPr>
          <p:cNvSpPr/>
          <p:nvPr/>
        </p:nvSpPr>
        <p:spPr>
          <a:xfrm>
            <a:off x="7308277" y="11591270"/>
            <a:ext cx="3177369" cy="871201"/>
          </a:xfrm>
          <a:prstGeom prst="homePlate">
            <a:avLst>
              <a:gd name="adj" fmla="val 37609"/>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numCol="1" rtlCol="0" anchor="ctr"/>
          <a:lstStyle/>
          <a:p>
            <a:pPr algn="ctr">
              <a:defRPr/>
            </a:pPr>
            <a:r>
              <a:rPr lang="en-GB" sz="1600" b="1">
                <a:solidFill>
                  <a:prstClr val="white"/>
                </a:solidFill>
                <a:latin typeface="Fira Sans Light" panose="020B0403050000020004" pitchFamily="34" charset="0"/>
              </a:rPr>
              <a:t>Cloud Readiness Assessment</a:t>
            </a:r>
          </a:p>
        </p:txBody>
      </p:sp>
    </p:spTree>
    <p:extLst>
      <p:ext uri="{BB962C8B-B14F-4D97-AF65-F5344CB8AC3E}">
        <p14:creationId xmlns:p14="http://schemas.microsoft.com/office/powerpoint/2010/main" val="26787907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69A6CC-414B-41F1-97D9-20F035520D2C}"/>
              </a:ext>
            </a:extLst>
          </p:cNvPr>
          <p:cNvSpPr>
            <a:spLocks noGrp="1"/>
          </p:cNvSpPr>
          <p:nvPr>
            <p:ph type="title"/>
          </p:nvPr>
        </p:nvSpPr>
        <p:spPr>
          <a:xfrm>
            <a:off x="668992" y="537179"/>
            <a:ext cx="22991108" cy="1152751"/>
          </a:xfrm>
        </p:spPr>
        <p:txBody>
          <a:bodyPr vert="horz" wrap="square" lIns="182880" tIns="91440" rIns="182880" bIns="91440" rtlCol="0" anchor="t" anchorCtr="0">
            <a:spAutoFit/>
          </a:bodyPr>
          <a:lstStyle/>
          <a:p>
            <a:r>
              <a:rPr lang="en-GB"/>
              <a:t>Key Assumptions – Achilles Datacentres</a:t>
            </a:r>
          </a:p>
        </p:txBody>
      </p:sp>
      <p:sp>
        <p:nvSpPr>
          <p:cNvPr id="3" name="Slide Number Placeholder 2">
            <a:extLst>
              <a:ext uri="{FF2B5EF4-FFF2-40B4-BE49-F238E27FC236}">
                <a16:creationId xmlns:a16="http://schemas.microsoft.com/office/drawing/2014/main" id="{BE59996F-6189-489F-834C-193CEEFF649A}"/>
              </a:ext>
            </a:extLst>
          </p:cNvPr>
          <p:cNvSpPr>
            <a:spLocks noGrp="1"/>
          </p:cNvSpPr>
          <p:nvPr>
            <p:ph type="sldNum" sz="quarter" idx="4"/>
          </p:nvPr>
        </p:nvSpPr>
        <p:spPr/>
        <p:txBody>
          <a:bodyPr/>
          <a:lstStyle/>
          <a:p>
            <a:pPr>
              <a:defRPr/>
            </a:pPr>
            <a:fld id="{762E77F0-FB5B-4E8E-9BC9-34F14560A017}" type="slidenum">
              <a:rPr lang="en-US">
                <a:solidFill>
                  <a:prstClr val="black"/>
                </a:solidFill>
                <a:latin typeface="Arial"/>
              </a:rPr>
              <a:pPr>
                <a:defRPr/>
              </a:pPr>
              <a:t>27</a:t>
            </a:fld>
            <a:endParaRPr lang="en-US">
              <a:solidFill>
                <a:prstClr val="black"/>
              </a:solidFill>
              <a:latin typeface="Arial"/>
            </a:endParaRPr>
          </a:p>
        </p:txBody>
      </p:sp>
      <p:graphicFrame>
        <p:nvGraphicFramePr>
          <p:cNvPr id="4" name="Table 3">
            <a:extLst>
              <a:ext uri="{FF2B5EF4-FFF2-40B4-BE49-F238E27FC236}">
                <a16:creationId xmlns:a16="http://schemas.microsoft.com/office/drawing/2014/main" id="{DE30C491-67F2-2416-D098-2DBD6827CD5D}"/>
              </a:ext>
            </a:extLst>
          </p:cNvPr>
          <p:cNvGraphicFramePr>
            <a:graphicFrameLocks noGrp="1"/>
          </p:cNvGraphicFramePr>
          <p:nvPr/>
        </p:nvGraphicFramePr>
        <p:xfrm>
          <a:off x="457201" y="2415086"/>
          <a:ext cx="23412450" cy="6198516"/>
        </p:xfrm>
        <a:graphic>
          <a:graphicData uri="http://schemas.openxmlformats.org/drawingml/2006/table">
            <a:tbl>
              <a:tblPr firstRow="1">
                <a:tableStyleId>{5C22544A-7EE6-4342-B048-85BDC9FD1C3A}</a:tableStyleId>
              </a:tblPr>
              <a:tblGrid>
                <a:gridCol w="2021780">
                  <a:extLst>
                    <a:ext uri="{9D8B030D-6E8A-4147-A177-3AD203B41FA5}">
                      <a16:colId xmlns:a16="http://schemas.microsoft.com/office/drawing/2014/main" val="1525111598"/>
                    </a:ext>
                  </a:extLst>
                </a:gridCol>
                <a:gridCol w="3083074">
                  <a:extLst>
                    <a:ext uri="{9D8B030D-6E8A-4147-A177-3AD203B41FA5}">
                      <a16:colId xmlns:a16="http://schemas.microsoft.com/office/drawing/2014/main" val="2594363550"/>
                    </a:ext>
                  </a:extLst>
                </a:gridCol>
                <a:gridCol w="18307596">
                  <a:extLst>
                    <a:ext uri="{9D8B030D-6E8A-4147-A177-3AD203B41FA5}">
                      <a16:colId xmlns:a16="http://schemas.microsoft.com/office/drawing/2014/main" val="1887819977"/>
                    </a:ext>
                  </a:extLst>
                </a:gridCol>
              </a:tblGrid>
              <a:tr h="956512">
                <a:tc>
                  <a:txBody>
                    <a:bodyPr/>
                    <a:lstStyle/>
                    <a:p>
                      <a:pPr algn="ctr"/>
                      <a:r>
                        <a:rPr lang="en-GB" sz="2800">
                          <a:solidFill>
                            <a:schemeClr val="bg2"/>
                          </a:solidFill>
                        </a:rPr>
                        <a:t>Category</a:t>
                      </a: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GB" sz="2800">
                          <a:solidFill>
                            <a:schemeClr val="bg2"/>
                          </a:solidFill>
                        </a:rPr>
                        <a:t>Title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2800">
                          <a:solidFill>
                            <a:schemeClr val="bg2"/>
                          </a:solidFill>
                        </a:rPr>
                        <a:t>Detail</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118623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chemeClr val="tx2"/>
                        </a:buClr>
                        <a:buSzTx/>
                        <a:buFont typeface="Arial" panose="020B0604020202020204" pitchFamily="34" charset="0"/>
                        <a:buNone/>
                        <a:tabLst/>
                        <a:defRPr/>
                      </a:pPr>
                      <a:r>
                        <a:rPr lang="en-GB" sz="2000"/>
                        <a:t>Cloud Economics - </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a:t>Compute &amp; Licensing costs for AWS &amp; Azure includes Operating System and Microsoft SQL DB license cost as well. Rationale was to closely align AWS with Azure from license costs point of view. </a:t>
                      </a:r>
                    </a:p>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kumimoji="0" lang="en-GB" sz="2000" b="0" i="0" u="none" strike="noStrike" kern="1200" cap="none" spc="0" normalizeH="0" baseline="0" noProof="0">
                          <a:ln>
                            <a:noFill/>
                          </a:ln>
                          <a:solidFill>
                            <a:srgbClr val="000000"/>
                          </a:solidFill>
                          <a:effectLst/>
                          <a:uLnTx/>
                          <a:uFillTx/>
                          <a:latin typeface="+mn-lt"/>
                          <a:ea typeface="+mn-ea"/>
                          <a:cs typeface="+mn-cs"/>
                        </a:rPr>
                        <a:t>Licenses cannot be transferred to the cloud for Microsoft / Linux OS as they are procured by Colt. </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95651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a:t>Network costs is assumed to be 5% of the Compute and Storage costs in line with typical costs we see in this space. </a:t>
                      </a:r>
                      <a:endParaRPr lang="en-GB" sz="2000"/>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118623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Backup costs includes Backup costs of 95 TB data with 10% yearly growth and 0.5% daily data change rate. Retention Period: Daily - 7days / Weekly - 4 weeks / Monthly - 12 Months. </a:t>
                      </a:r>
                    </a:p>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Rationale was to align how AWS &amp; Azure calculate the backup costs.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95651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Enterprise Support plan was assumed for Azure, while AWS MPA recommended Business Support Plan.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3891156"/>
                  </a:ext>
                </a:extLst>
              </a:tr>
              <a:tr h="95651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 (TCO)</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noProof="0">
                          <a:solidFill>
                            <a:schemeClr val="dk1"/>
                          </a:solidFill>
                          <a:latin typeface="+mn-lt"/>
                          <a:ea typeface="+mn-ea"/>
                          <a:cs typeface="+mn-cs"/>
                        </a:rPr>
                        <a:t>Azure hybrid benefits are not been enabled for Windows and SQL server.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69882979"/>
                  </a:ext>
                </a:extLst>
              </a:tr>
            </a:tbl>
          </a:graphicData>
        </a:graphic>
      </p:graphicFrame>
    </p:spTree>
    <p:extLst>
      <p:ext uri="{BB962C8B-B14F-4D97-AF65-F5344CB8AC3E}">
        <p14:creationId xmlns:p14="http://schemas.microsoft.com/office/powerpoint/2010/main" val="155146389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F10F35-0F2D-77B0-4E5D-006ECC8D7E7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86066F7-B119-1FAF-D48D-FD0FC09E0365}"/>
              </a:ext>
            </a:extLst>
          </p:cNvPr>
          <p:cNvSpPr>
            <a:spLocks noGrp="1"/>
          </p:cNvSpPr>
          <p:nvPr>
            <p:ph type="title"/>
          </p:nvPr>
        </p:nvSpPr>
        <p:spPr>
          <a:xfrm>
            <a:off x="668992" y="537178"/>
            <a:ext cx="22991108" cy="1152751"/>
          </a:xfrm>
        </p:spPr>
        <p:txBody>
          <a:bodyPr vert="horz" wrap="square" lIns="182880" tIns="91440" rIns="182880" bIns="91440" rtlCol="0" anchor="t" anchorCtr="0">
            <a:spAutoFit/>
          </a:bodyPr>
          <a:lstStyle/>
          <a:p>
            <a:r>
              <a:rPr lang="en-GB"/>
              <a:t>Key Assumptions - </a:t>
            </a:r>
            <a:r>
              <a:rPr lang="en-GB" err="1"/>
              <a:t>GoSupply</a:t>
            </a:r>
            <a:endParaRPr lang="en-GB"/>
          </a:p>
        </p:txBody>
      </p:sp>
      <p:sp>
        <p:nvSpPr>
          <p:cNvPr id="3" name="Slide Number Placeholder 2">
            <a:extLst>
              <a:ext uri="{FF2B5EF4-FFF2-40B4-BE49-F238E27FC236}">
                <a16:creationId xmlns:a16="http://schemas.microsoft.com/office/drawing/2014/main" id="{C8A65778-6524-A2A1-C948-6D7D88079544}"/>
              </a:ext>
            </a:extLst>
          </p:cNvPr>
          <p:cNvSpPr>
            <a:spLocks noGrp="1"/>
          </p:cNvSpPr>
          <p:nvPr>
            <p:ph type="sldNum" sz="quarter" idx="4"/>
          </p:nvPr>
        </p:nvSpPr>
        <p:spPr/>
        <p:txBody>
          <a:bodyPr/>
          <a:lstStyle/>
          <a:p>
            <a:pPr>
              <a:defRPr/>
            </a:pPr>
            <a:fld id="{762E77F0-FB5B-4E8E-9BC9-34F14560A017}" type="slidenum">
              <a:rPr lang="en-US">
                <a:solidFill>
                  <a:prstClr val="black"/>
                </a:solidFill>
                <a:latin typeface="Arial"/>
              </a:rPr>
              <a:pPr>
                <a:defRPr/>
              </a:pPr>
              <a:t>28</a:t>
            </a:fld>
            <a:endParaRPr lang="en-US">
              <a:solidFill>
                <a:prstClr val="black"/>
              </a:solidFill>
              <a:latin typeface="Arial"/>
            </a:endParaRPr>
          </a:p>
        </p:txBody>
      </p:sp>
      <p:graphicFrame>
        <p:nvGraphicFramePr>
          <p:cNvPr id="4" name="Table 3">
            <a:extLst>
              <a:ext uri="{FF2B5EF4-FFF2-40B4-BE49-F238E27FC236}">
                <a16:creationId xmlns:a16="http://schemas.microsoft.com/office/drawing/2014/main" id="{441C6CBF-B8F2-8367-C359-09760FC5984B}"/>
              </a:ext>
            </a:extLst>
          </p:cNvPr>
          <p:cNvGraphicFramePr>
            <a:graphicFrameLocks noGrp="1"/>
          </p:cNvGraphicFramePr>
          <p:nvPr/>
        </p:nvGraphicFramePr>
        <p:xfrm>
          <a:off x="806552" y="2642710"/>
          <a:ext cx="22693528" cy="7699424"/>
        </p:xfrm>
        <a:graphic>
          <a:graphicData uri="http://schemas.openxmlformats.org/drawingml/2006/table">
            <a:tbl>
              <a:tblPr firstRow="1">
                <a:tableStyleId>{5C22544A-7EE6-4342-B048-85BDC9FD1C3A}</a:tableStyleId>
              </a:tblPr>
              <a:tblGrid>
                <a:gridCol w="2241448">
                  <a:extLst>
                    <a:ext uri="{9D8B030D-6E8A-4147-A177-3AD203B41FA5}">
                      <a16:colId xmlns:a16="http://schemas.microsoft.com/office/drawing/2014/main" val="1525111598"/>
                    </a:ext>
                  </a:extLst>
                </a:gridCol>
                <a:gridCol w="2800350">
                  <a:extLst>
                    <a:ext uri="{9D8B030D-6E8A-4147-A177-3AD203B41FA5}">
                      <a16:colId xmlns:a16="http://schemas.microsoft.com/office/drawing/2014/main" val="2594363550"/>
                    </a:ext>
                  </a:extLst>
                </a:gridCol>
                <a:gridCol w="17651730">
                  <a:extLst>
                    <a:ext uri="{9D8B030D-6E8A-4147-A177-3AD203B41FA5}">
                      <a16:colId xmlns:a16="http://schemas.microsoft.com/office/drawing/2014/main" val="1887819977"/>
                    </a:ext>
                  </a:extLst>
                </a:gridCol>
              </a:tblGrid>
              <a:tr h="962428">
                <a:tc>
                  <a:txBody>
                    <a:bodyPr/>
                    <a:lstStyle/>
                    <a:p>
                      <a:pPr algn="ctr"/>
                      <a:r>
                        <a:rPr lang="en-GB" sz="2800">
                          <a:solidFill>
                            <a:schemeClr val="bg2"/>
                          </a:solidFill>
                        </a:rPr>
                        <a:t>Category</a:t>
                      </a: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GB" sz="2800">
                          <a:solidFill>
                            <a:schemeClr val="bg2"/>
                          </a:solidFill>
                        </a:rPr>
                        <a:t>Title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2800">
                          <a:solidFill>
                            <a:schemeClr val="bg2"/>
                          </a:solidFill>
                        </a:rPr>
                        <a:t>Detail</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9624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 (TCO)</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 costs are calculated from the monthly cost figures and existing resource export provided, no agents were installed in the Azure environment itself. </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2756661"/>
                  </a:ext>
                </a:extLst>
              </a:tr>
              <a:tr h="9624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 (TCO)</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noProof="0">
                          <a:solidFill>
                            <a:schemeClr val="dk1"/>
                          </a:solidFill>
                          <a:latin typeface="+mn-lt"/>
                          <a:ea typeface="+mn-ea"/>
                          <a:cs typeface="+mn-cs"/>
                        </a:rPr>
                        <a:t>Based on </a:t>
                      </a: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 Inventory shared: 9 x Virtual Servers are running Microsoft SQL Server 2019 Standard Edition is assumed as specific SQL DB Engine version and Edition was not stated in the </a:t>
                      </a: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 inventory.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0202739"/>
                  </a:ext>
                </a:extLst>
              </a:tr>
              <a:tr h="9624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 (TCO)</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noProof="0">
                          <a:solidFill>
                            <a:schemeClr val="dk1"/>
                          </a:solidFill>
                          <a:latin typeface="+mn-lt"/>
                          <a:ea typeface="+mn-ea"/>
                          <a:cs typeface="+mn-cs"/>
                        </a:rPr>
                        <a:t>Based on </a:t>
                      </a: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 Inventory shared: 9 x Virtual Servers are running Microsoft SQL Server 2019 Standard Edition is assumed as specific SQL DB Engine version and Edition was not stated in the </a:t>
                      </a: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 inventory.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23392978"/>
                  </a:ext>
                </a:extLst>
              </a:tr>
              <a:tr h="9624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 (TCO)</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noProof="0">
                          <a:solidFill>
                            <a:schemeClr val="dk1"/>
                          </a:solidFill>
                          <a:latin typeface="+mn-lt"/>
                          <a:ea typeface="+mn-ea"/>
                          <a:cs typeface="+mn-cs"/>
                        </a:rPr>
                        <a:t>All the </a:t>
                      </a: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 Virtual Servers (17+9=26) Virtual Servers are using 500GB storage per Virtual Server, as there was no information about Disk sizes in the inventory shared by </a:t>
                      </a: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1410729"/>
                  </a:ext>
                </a:extLst>
              </a:tr>
              <a:tr h="9624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 (TCO)</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noProof="0">
                          <a:solidFill>
                            <a:schemeClr val="dk1"/>
                          </a:solidFill>
                          <a:latin typeface="+mn-lt"/>
                          <a:ea typeface="+mn-ea"/>
                          <a:cs typeface="+mn-cs"/>
                        </a:rPr>
                        <a:t>9 x </a:t>
                      </a: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 Virtual Servers meant for SQL Database are using 4 vCPUs with 16 GB RAM per Virtual Server</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4027548"/>
                  </a:ext>
                </a:extLst>
              </a:tr>
              <a:tr h="9624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 (TCO)</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noProof="0">
                          <a:solidFill>
                            <a:schemeClr val="dk1"/>
                          </a:solidFill>
                          <a:latin typeface="+mn-lt"/>
                          <a:ea typeface="+mn-ea"/>
                          <a:cs typeface="+mn-cs"/>
                        </a:rPr>
                        <a:t>All 26 Virtual Servers are utilizing 100% CPU &amp; RAM</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38946280"/>
                  </a:ext>
                </a:extLst>
              </a:tr>
              <a:tr h="9624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n-lt"/>
                          <a:ea typeface="+mn-ea"/>
                          <a:cs typeface="+mn-cs"/>
                        </a:rPr>
                        <a:t>Assumption </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
                          <a:srgbClr val="EB0000"/>
                        </a:buClr>
                        <a:buSzTx/>
                        <a:buFont typeface="Arial" panose="020B0604020202020204" pitchFamily="34" charset="0"/>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Cloud Economics (TCO)</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noProof="0">
                          <a:solidFill>
                            <a:schemeClr val="dk1"/>
                          </a:solidFill>
                          <a:latin typeface="+mn-lt"/>
                          <a:ea typeface="+mn-ea"/>
                          <a:cs typeface="+mn-cs"/>
                        </a:rPr>
                        <a:t>TCO for </a:t>
                      </a:r>
                      <a:r>
                        <a:rPr lang="en-US" sz="2000" kern="1200" noProof="0" err="1">
                          <a:solidFill>
                            <a:schemeClr val="dk1"/>
                          </a:solidFill>
                          <a:latin typeface="+mn-lt"/>
                          <a:ea typeface="+mn-ea"/>
                          <a:cs typeface="+mn-cs"/>
                        </a:rPr>
                        <a:t>GoSupply</a:t>
                      </a:r>
                      <a:r>
                        <a:rPr lang="en-US" sz="2000" kern="1200" noProof="0">
                          <a:solidFill>
                            <a:schemeClr val="dk1"/>
                          </a:solidFill>
                          <a:latin typeface="+mn-lt"/>
                          <a:ea typeface="+mn-ea"/>
                          <a:cs typeface="+mn-cs"/>
                        </a:rPr>
                        <a:t> does not include cost for other in use Azure services E.g. Azure </a:t>
                      </a:r>
                      <a:r>
                        <a:rPr lang="en-US" sz="2000" kern="1200" noProof="0" err="1">
                          <a:solidFill>
                            <a:schemeClr val="dk1"/>
                          </a:solidFill>
                          <a:latin typeface="+mn-lt"/>
                          <a:ea typeface="+mn-ea"/>
                          <a:cs typeface="+mn-cs"/>
                        </a:rPr>
                        <a:t>DataFactory</a:t>
                      </a:r>
                      <a:r>
                        <a:rPr lang="en-US" sz="2000" kern="1200" noProof="0">
                          <a:solidFill>
                            <a:schemeClr val="dk1"/>
                          </a:solidFill>
                          <a:latin typeface="+mn-lt"/>
                          <a:ea typeface="+mn-ea"/>
                          <a:cs typeface="+mn-cs"/>
                        </a:rPr>
                        <a:t>, Azure Cosmos DB, Azure DevOps etc.</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6629037"/>
                  </a:ext>
                </a:extLst>
              </a:tr>
            </a:tbl>
          </a:graphicData>
        </a:graphic>
      </p:graphicFrame>
    </p:spTree>
    <p:extLst>
      <p:ext uri="{BB962C8B-B14F-4D97-AF65-F5344CB8AC3E}">
        <p14:creationId xmlns:p14="http://schemas.microsoft.com/office/powerpoint/2010/main" val="2703768141"/>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65AC4F-87A8-B24F-5223-906C8C7D192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F8422C6-F55F-E9DC-7D38-D8BFB7A0A9AD}"/>
              </a:ext>
            </a:extLst>
          </p:cNvPr>
          <p:cNvSpPr>
            <a:spLocks noGrp="1"/>
          </p:cNvSpPr>
          <p:nvPr>
            <p:ph type="title"/>
          </p:nvPr>
        </p:nvSpPr>
        <p:spPr>
          <a:xfrm>
            <a:off x="668992" y="537178"/>
            <a:ext cx="22991108" cy="1152751"/>
          </a:xfrm>
        </p:spPr>
        <p:txBody>
          <a:bodyPr vert="horz" wrap="square" lIns="182880" tIns="91440" rIns="182880" bIns="91440" rtlCol="0" anchor="t" anchorCtr="0">
            <a:spAutoFit/>
          </a:bodyPr>
          <a:lstStyle/>
          <a:p>
            <a:r>
              <a:rPr lang="en-GB"/>
              <a:t>Key Constraints and Decisions</a:t>
            </a:r>
          </a:p>
        </p:txBody>
      </p:sp>
      <p:sp>
        <p:nvSpPr>
          <p:cNvPr id="3" name="Slide Number Placeholder 2">
            <a:extLst>
              <a:ext uri="{FF2B5EF4-FFF2-40B4-BE49-F238E27FC236}">
                <a16:creationId xmlns:a16="http://schemas.microsoft.com/office/drawing/2014/main" id="{00C47686-E3EC-012A-44B9-54F0D1CA2D39}"/>
              </a:ext>
            </a:extLst>
          </p:cNvPr>
          <p:cNvSpPr>
            <a:spLocks noGrp="1"/>
          </p:cNvSpPr>
          <p:nvPr>
            <p:ph type="sldNum" sz="quarter" idx="4"/>
          </p:nvPr>
        </p:nvSpPr>
        <p:spPr/>
        <p:txBody>
          <a:bodyPr/>
          <a:lstStyle/>
          <a:p>
            <a:pPr>
              <a:defRPr/>
            </a:pPr>
            <a:fld id="{762E77F0-FB5B-4E8E-9BC9-34F14560A017}" type="slidenum">
              <a:rPr lang="en-US">
                <a:solidFill>
                  <a:prstClr val="black"/>
                </a:solidFill>
                <a:latin typeface="Arial"/>
              </a:rPr>
              <a:pPr>
                <a:defRPr/>
              </a:pPr>
              <a:t>29</a:t>
            </a:fld>
            <a:endParaRPr lang="en-US">
              <a:solidFill>
                <a:prstClr val="black"/>
              </a:solidFill>
              <a:latin typeface="Arial"/>
            </a:endParaRPr>
          </a:p>
        </p:txBody>
      </p:sp>
      <p:graphicFrame>
        <p:nvGraphicFramePr>
          <p:cNvPr id="4" name="Table 3">
            <a:extLst>
              <a:ext uri="{FF2B5EF4-FFF2-40B4-BE49-F238E27FC236}">
                <a16:creationId xmlns:a16="http://schemas.microsoft.com/office/drawing/2014/main" id="{0EF564A1-97A0-B015-DCEB-3ABC3776825C}"/>
              </a:ext>
            </a:extLst>
          </p:cNvPr>
          <p:cNvGraphicFramePr>
            <a:graphicFrameLocks noGrp="1"/>
          </p:cNvGraphicFramePr>
          <p:nvPr/>
        </p:nvGraphicFramePr>
        <p:xfrm>
          <a:off x="806552" y="2642710"/>
          <a:ext cx="22693528" cy="6736996"/>
        </p:xfrm>
        <a:graphic>
          <a:graphicData uri="http://schemas.openxmlformats.org/drawingml/2006/table">
            <a:tbl>
              <a:tblPr firstRow="1">
                <a:tableStyleId>{5C22544A-7EE6-4342-B048-85BDC9FD1C3A}</a:tableStyleId>
              </a:tblPr>
              <a:tblGrid>
                <a:gridCol w="2241448">
                  <a:extLst>
                    <a:ext uri="{9D8B030D-6E8A-4147-A177-3AD203B41FA5}">
                      <a16:colId xmlns:a16="http://schemas.microsoft.com/office/drawing/2014/main" val="1525111598"/>
                    </a:ext>
                  </a:extLst>
                </a:gridCol>
                <a:gridCol w="2800350">
                  <a:extLst>
                    <a:ext uri="{9D8B030D-6E8A-4147-A177-3AD203B41FA5}">
                      <a16:colId xmlns:a16="http://schemas.microsoft.com/office/drawing/2014/main" val="2594363550"/>
                    </a:ext>
                  </a:extLst>
                </a:gridCol>
                <a:gridCol w="17651730">
                  <a:extLst>
                    <a:ext uri="{9D8B030D-6E8A-4147-A177-3AD203B41FA5}">
                      <a16:colId xmlns:a16="http://schemas.microsoft.com/office/drawing/2014/main" val="1887819977"/>
                    </a:ext>
                  </a:extLst>
                </a:gridCol>
              </a:tblGrid>
              <a:tr h="962428">
                <a:tc>
                  <a:txBody>
                    <a:bodyPr/>
                    <a:lstStyle/>
                    <a:p>
                      <a:pPr algn="ctr"/>
                      <a:r>
                        <a:rPr lang="en-GB" sz="2800">
                          <a:solidFill>
                            <a:schemeClr val="bg2"/>
                          </a:solidFill>
                        </a:rPr>
                        <a:t>Category</a:t>
                      </a: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GB" sz="2800">
                          <a:solidFill>
                            <a:schemeClr val="bg2"/>
                          </a:solidFill>
                        </a:rPr>
                        <a:t>Title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2800">
                          <a:solidFill>
                            <a:schemeClr val="bg2"/>
                          </a:solidFill>
                        </a:rPr>
                        <a:t>Detail</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962428">
                <a:tc>
                  <a:txBody>
                    <a:bodyPr/>
                    <a:lstStyle/>
                    <a:p>
                      <a:pPr marL="0" indent="0" algn="ctr">
                        <a:buFont typeface="Wingdings"/>
                        <a:buNone/>
                      </a:pPr>
                      <a:r>
                        <a:rPr lang="en-US" sz="2000" b="0" i="0" u="none" strike="noStrike" kern="1200" cap="none" spc="0" normalizeH="0" baseline="0" noProof="0">
                          <a:ln>
                            <a:noFill/>
                          </a:ln>
                          <a:solidFill>
                            <a:srgbClr val="000000"/>
                          </a:solidFill>
                          <a:effectLst/>
                          <a:uLnTx/>
                          <a:uFillTx/>
                          <a:latin typeface="+mn-lt"/>
                          <a:ea typeface="+mn-ea"/>
                          <a:cs typeface="+mn-cs"/>
                        </a:rPr>
                        <a:t>Decision</a:t>
                      </a:r>
                      <a:endParaRPr lang="en-US" sz="2000" b="0" i="0" u="none" strike="noStrike" kern="1200" cap="none" spc="0" normalizeH="0" baseline="0">
                        <a:ln>
                          <a:noFill/>
                        </a:ln>
                        <a:solidFill>
                          <a:srgbClr val="000000"/>
                        </a:solidFill>
                        <a:effectLst/>
                        <a:uLnTx/>
                        <a:uFillTx/>
                        <a:latin typeface="+mn-lt"/>
                        <a:ea typeface="+mn-ea"/>
                        <a:cs typeface="+mn-cs"/>
                      </a:endParaRPr>
                    </a:p>
                  </a:txBody>
                  <a:tcPr marL="19050" marR="19050" marT="19050" marB="1905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 typeface="Wingdings"/>
                        <a:buNone/>
                        <a:tabLst/>
                        <a:defRPr/>
                      </a:pPr>
                      <a:r>
                        <a:rPr kumimoji="0" lang="en-GB" sz="2000" b="0" i="0" u="none" strike="noStrike" kern="1200" cap="none" spc="0" normalizeH="0" baseline="0" noProof="0">
                          <a:ln>
                            <a:noFill/>
                          </a:ln>
                          <a:solidFill>
                            <a:srgbClr val="000000"/>
                          </a:solidFill>
                          <a:effectLst/>
                          <a:uLnTx/>
                          <a:uFillTx/>
                          <a:latin typeface="+mn-lt"/>
                          <a:ea typeface="+mn-ea"/>
                          <a:cs typeface="+mn-cs"/>
                        </a:rPr>
                        <a:t>Infrastructure Assessment</a:t>
                      </a:r>
                    </a:p>
                  </a:txBody>
                  <a:tcPr marL="19050" marR="19050" marT="19050" marB="1905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a:solidFill>
                            <a:schemeClr val="dk1"/>
                          </a:solidFill>
                          <a:latin typeface="+mn-lt"/>
                          <a:ea typeface="+mn-ea"/>
                          <a:cs typeface="+mn-cs"/>
                        </a:rPr>
                        <a:t>Telstra &amp; Spain data </a:t>
                      </a:r>
                      <a:r>
                        <a:rPr lang="en-US" sz="2000" kern="1200" err="1">
                          <a:solidFill>
                            <a:schemeClr val="dk1"/>
                          </a:solidFill>
                          <a:latin typeface="+mn-lt"/>
                          <a:ea typeface="+mn-ea"/>
                          <a:cs typeface="+mn-cs"/>
                        </a:rPr>
                        <a:t>centres</a:t>
                      </a:r>
                      <a:r>
                        <a:rPr lang="en-US" sz="2000" kern="1200">
                          <a:solidFill>
                            <a:schemeClr val="dk1"/>
                          </a:solidFill>
                          <a:latin typeface="+mn-lt"/>
                          <a:ea typeface="+mn-ea"/>
                          <a:cs typeface="+mn-cs"/>
                        </a:rPr>
                        <a:t> are excluded from scope.</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34371946"/>
                  </a:ext>
                </a:extLst>
              </a:tr>
              <a:tr h="962428">
                <a:tc>
                  <a:txBody>
                    <a:bodyPr/>
                    <a:lstStyle/>
                    <a:p>
                      <a:pPr marL="0" indent="0" algn="ctr">
                        <a:buFont typeface="Wingdings"/>
                        <a:buNone/>
                      </a:pPr>
                      <a:r>
                        <a:rPr lang="en-US" sz="2000" b="0" i="0" u="none" strike="noStrike" kern="1200" cap="none" spc="0" normalizeH="0" baseline="0">
                          <a:ln>
                            <a:noFill/>
                          </a:ln>
                          <a:solidFill>
                            <a:srgbClr val="000000"/>
                          </a:solidFill>
                          <a:effectLst/>
                          <a:uLnTx/>
                          <a:uFillTx/>
                          <a:latin typeface="+mn-lt"/>
                          <a:ea typeface="+mn-ea"/>
                          <a:cs typeface="+mn-cs"/>
                        </a:rPr>
                        <a:t>Decision</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 typeface="Wingdings"/>
                        <a:buNone/>
                        <a:tabLst/>
                        <a:defRPr/>
                      </a:pPr>
                      <a:r>
                        <a:rPr kumimoji="0" lang="en-GB" sz="2000" b="0" i="0" u="none" strike="noStrike" kern="1200" cap="none" spc="0" normalizeH="0" baseline="0" noProof="0">
                          <a:ln>
                            <a:noFill/>
                          </a:ln>
                          <a:solidFill>
                            <a:srgbClr val="000000"/>
                          </a:solidFill>
                          <a:effectLst/>
                          <a:uLnTx/>
                          <a:uFillTx/>
                          <a:latin typeface="+mn-lt"/>
                          <a:ea typeface="+mn-ea"/>
                          <a:cs typeface="+mn-cs"/>
                        </a:rPr>
                        <a:t>Infrastructure Assessment</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a:solidFill>
                            <a:schemeClr val="dk1"/>
                          </a:solidFill>
                          <a:latin typeface="+mn-lt"/>
                          <a:ea typeface="+mn-ea"/>
                          <a:cs typeface="+mn-cs"/>
                        </a:rPr>
                        <a:t>The existing AWS DR environments backup and recovery will be addressed in subsequent Landing Zone design and build phases of Achilles’ cloud migration.</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31798131"/>
                  </a:ext>
                </a:extLst>
              </a:tr>
              <a:tr h="962428">
                <a:tc>
                  <a:txBody>
                    <a:bodyPr/>
                    <a:lstStyle/>
                    <a:p>
                      <a:pPr marL="0" indent="0" algn="ctr">
                        <a:buFont typeface="Wingdings"/>
                        <a:buNone/>
                      </a:pPr>
                      <a:r>
                        <a:rPr lang="en-US" sz="2000" b="0" i="0" u="none" strike="noStrike" kern="1200" cap="none" spc="0" normalizeH="0" baseline="0">
                          <a:ln>
                            <a:noFill/>
                          </a:ln>
                          <a:solidFill>
                            <a:srgbClr val="000000"/>
                          </a:solidFill>
                          <a:effectLst/>
                          <a:uLnTx/>
                          <a:uFillTx/>
                          <a:latin typeface="+mn-lt"/>
                          <a:ea typeface="+mn-ea"/>
                          <a:cs typeface="+mn-cs"/>
                        </a:rPr>
                        <a:t>Decision</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 typeface="Wingdings"/>
                        <a:buNone/>
                        <a:tabLst/>
                        <a:defRPr/>
                      </a:pPr>
                      <a:r>
                        <a:rPr kumimoji="0" lang="en-GB" sz="2000" b="0" i="0" u="none" strike="noStrike" kern="1200" cap="none" spc="0" normalizeH="0" baseline="0" noProof="0">
                          <a:ln>
                            <a:noFill/>
                          </a:ln>
                          <a:solidFill>
                            <a:srgbClr val="000000"/>
                          </a:solidFill>
                          <a:effectLst/>
                          <a:uLnTx/>
                          <a:uFillTx/>
                          <a:latin typeface="+mn-lt"/>
                          <a:ea typeface="+mn-ea"/>
                          <a:cs typeface="+mn-cs"/>
                        </a:rPr>
                        <a:t>Organisation Assessment</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GB" sz="2000" kern="1200">
                          <a:solidFill>
                            <a:schemeClr val="dk1"/>
                          </a:solidFill>
                          <a:latin typeface="+mn-lt"/>
                          <a:ea typeface="+mn-ea"/>
                          <a:cs typeface="+mn-cs"/>
                        </a:rPr>
                        <a:t>Achilles will not share details of employee qualifications / experience in cloud platforms therefore Rackspace are, for </a:t>
                      </a:r>
                      <a:r>
                        <a:rPr lang="en-GB" sz="2000" kern="1200" err="1">
                          <a:solidFill>
                            <a:schemeClr val="dk1"/>
                          </a:solidFill>
                          <a:latin typeface="+mn-lt"/>
                          <a:ea typeface="+mn-ea"/>
                          <a:cs typeface="+mn-cs"/>
                        </a:rPr>
                        <a:t>hyperscaler</a:t>
                      </a:r>
                      <a:r>
                        <a:rPr lang="en-GB" sz="2000" kern="1200">
                          <a:solidFill>
                            <a:schemeClr val="dk1"/>
                          </a:solidFill>
                          <a:latin typeface="+mn-lt"/>
                          <a:ea typeface="+mn-ea"/>
                          <a:cs typeface="+mn-cs"/>
                        </a:rPr>
                        <a:t> selection purposes, to treat the team as having no prior cloud experience. </a:t>
                      </a:r>
                      <a:endParaRPr lang="en-US" sz="2000" kern="1200">
                        <a:solidFill>
                          <a:schemeClr val="dk1"/>
                        </a:solidFill>
                        <a:latin typeface="+mn-lt"/>
                        <a:ea typeface="+mn-ea"/>
                        <a:cs typeface="+mn-cs"/>
                      </a:endParaRP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38273169"/>
                  </a:ext>
                </a:extLst>
              </a:tr>
              <a:tr h="962428">
                <a:tc>
                  <a:txBody>
                    <a:bodyPr/>
                    <a:lstStyle/>
                    <a:p>
                      <a:pPr marL="0" indent="0" algn="ctr">
                        <a:buFont typeface="Wingdings"/>
                        <a:buNone/>
                      </a:pPr>
                      <a:r>
                        <a:rPr lang="en-US" sz="2000" b="0" i="0" u="none" strike="noStrike" kern="1200" cap="none" spc="0" normalizeH="0" baseline="0">
                          <a:ln>
                            <a:noFill/>
                          </a:ln>
                          <a:solidFill>
                            <a:srgbClr val="000000"/>
                          </a:solidFill>
                          <a:effectLst/>
                          <a:uLnTx/>
                          <a:uFillTx/>
                          <a:latin typeface="+mn-lt"/>
                          <a:ea typeface="+mn-ea"/>
                          <a:cs typeface="+mn-cs"/>
                        </a:rPr>
                        <a:t>Constraint</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 typeface="Wingdings"/>
                        <a:buNone/>
                        <a:tabLst/>
                        <a:defRPr/>
                      </a:pPr>
                      <a:r>
                        <a:rPr kumimoji="0" lang="en-GB" sz="2000" b="0" i="0" u="none" strike="noStrike" kern="1200" cap="none" spc="0" normalizeH="0" baseline="0" noProof="0">
                          <a:ln>
                            <a:noFill/>
                          </a:ln>
                          <a:solidFill>
                            <a:srgbClr val="000000"/>
                          </a:solidFill>
                          <a:effectLst/>
                          <a:uLnTx/>
                          <a:uFillTx/>
                          <a:latin typeface="+mn-lt"/>
                          <a:ea typeface="+mn-ea"/>
                          <a:cs typeface="+mn-cs"/>
                        </a:rPr>
                        <a:t>Cloud Economics (TCO)</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a:solidFill>
                            <a:schemeClr val="dk1"/>
                          </a:solidFill>
                          <a:latin typeface="+mn-lt"/>
                          <a:ea typeface="+mn-ea"/>
                          <a:cs typeface="+mn-cs"/>
                        </a:rPr>
                        <a:t>Achilles declined to share </a:t>
                      </a:r>
                      <a:r>
                        <a:rPr lang="en-US" sz="2000" kern="1200" err="1">
                          <a:solidFill>
                            <a:schemeClr val="dk1"/>
                          </a:solidFill>
                          <a:latin typeface="+mn-lt"/>
                          <a:ea typeface="+mn-ea"/>
                          <a:cs typeface="+mn-cs"/>
                        </a:rPr>
                        <a:t>labour</a:t>
                      </a:r>
                      <a:r>
                        <a:rPr lang="en-US" sz="2000" kern="1200">
                          <a:solidFill>
                            <a:schemeClr val="dk1"/>
                          </a:solidFill>
                          <a:latin typeface="+mn-lt"/>
                          <a:ea typeface="+mn-ea"/>
                          <a:cs typeface="+mn-cs"/>
                        </a:rPr>
                        <a:t>, services and support costs therefore these are excluded from all cost estimates / total cost of ownership comparisons.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87559370"/>
                  </a:ext>
                </a:extLst>
              </a:tr>
              <a:tr h="962428">
                <a:tc>
                  <a:txBody>
                    <a:bodyPr/>
                    <a:lstStyle/>
                    <a:p>
                      <a:pPr marL="0" indent="0" algn="ctr">
                        <a:buFont typeface="Wingdings"/>
                        <a:buNone/>
                      </a:pPr>
                      <a:r>
                        <a:rPr lang="en-US" sz="2000" b="0" i="0" u="none" strike="noStrike" kern="1200" cap="none" spc="0" normalizeH="0" baseline="0">
                          <a:ln>
                            <a:noFill/>
                          </a:ln>
                          <a:solidFill>
                            <a:srgbClr val="000000"/>
                          </a:solidFill>
                          <a:effectLst/>
                          <a:uLnTx/>
                          <a:uFillTx/>
                          <a:latin typeface="+mn-lt"/>
                          <a:ea typeface="+mn-ea"/>
                          <a:cs typeface="+mn-cs"/>
                        </a:rPr>
                        <a:t>Constraint</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 typeface="Wingdings"/>
                        <a:buNone/>
                        <a:tabLst/>
                        <a:defRPr/>
                      </a:pPr>
                      <a:r>
                        <a:rPr kumimoji="0" lang="en-GB" sz="2000" b="0" i="0" u="none" strike="noStrike" kern="1200" cap="none" spc="0" normalizeH="0" baseline="0" noProof="0">
                          <a:ln>
                            <a:noFill/>
                          </a:ln>
                          <a:solidFill>
                            <a:srgbClr val="000000"/>
                          </a:solidFill>
                          <a:effectLst/>
                          <a:uLnTx/>
                          <a:uFillTx/>
                          <a:latin typeface="Arial"/>
                          <a:ea typeface="+mn-ea"/>
                          <a:cs typeface="+mn-cs"/>
                        </a:rPr>
                        <a:t>Infrastructure Assessment</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lang="en-US" sz="2000" kern="1200">
                          <a:solidFill>
                            <a:schemeClr val="dk1"/>
                          </a:solidFill>
                          <a:latin typeface="+mn-lt"/>
                          <a:ea typeface="+mn-ea"/>
                          <a:cs typeface="+mn-cs"/>
                        </a:rPr>
                        <a:t>AWS / Azure account access was not provided so assessment was all via screenshare.</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962428">
                <a:tc>
                  <a:txBody>
                    <a:bodyPr/>
                    <a:lstStyle/>
                    <a:p>
                      <a:pPr marL="0" indent="0" algn="ctr">
                        <a:buFont typeface="Wingdings"/>
                        <a:buNone/>
                      </a:pPr>
                      <a:r>
                        <a:rPr lang="en-US" sz="2000" b="0" i="0" u="none" strike="noStrike" kern="1200" cap="none" spc="0" normalizeH="0" baseline="0">
                          <a:ln>
                            <a:noFill/>
                          </a:ln>
                          <a:solidFill>
                            <a:srgbClr val="000000"/>
                          </a:solidFill>
                          <a:effectLst/>
                          <a:uLnTx/>
                          <a:uFillTx/>
                          <a:latin typeface="+mn-lt"/>
                          <a:ea typeface="+mn-ea"/>
                          <a:cs typeface="+mn-cs"/>
                        </a:rPr>
                        <a:t>Constraint</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 typeface="Wingdings"/>
                        <a:buNone/>
                        <a:tabLst/>
                        <a:defRPr/>
                      </a:pPr>
                      <a:r>
                        <a:rPr kumimoji="0" lang="en-GB" sz="2000" b="0" i="0" u="none" strike="noStrike" kern="1200" cap="none" spc="0" normalizeH="0" baseline="0" noProof="0">
                          <a:ln>
                            <a:noFill/>
                          </a:ln>
                          <a:solidFill>
                            <a:srgbClr val="000000"/>
                          </a:solidFill>
                          <a:effectLst/>
                          <a:uLnTx/>
                          <a:uFillTx/>
                          <a:latin typeface="+mn-lt"/>
                          <a:ea typeface="+mn-ea"/>
                          <a:cs typeface="+mn-cs"/>
                        </a:rPr>
                        <a:t>Infrastructure Assessment</a:t>
                      </a:r>
                    </a:p>
                  </a:txBody>
                  <a:tcPr marL="19050" marR="19050" marT="19050" marB="1905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indent="-171450" algn="l">
                        <a:buClr>
                          <a:srgbClr val="FF0000"/>
                        </a:buClr>
                        <a:buFont typeface="Arial" panose="020B0604020202020204" pitchFamily="34" charset="0"/>
                        <a:buChar char="•"/>
                      </a:pPr>
                      <a:r>
                        <a:rPr lang="en-US" sz="2000" kern="1200">
                          <a:solidFill>
                            <a:schemeClr val="dk1"/>
                          </a:solidFill>
                          <a:latin typeface="+mn-lt"/>
                          <a:ea typeface="+mn-ea"/>
                          <a:cs typeface="+mn-cs"/>
                        </a:rPr>
                        <a:t>Conversations to confirm </a:t>
                      </a:r>
                      <a:r>
                        <a:rPr lang="en-GB" sz="2000" kern="1200">
                          <a:solidFill>
                            <a:schemeClr val="dk1"/>
                          </a:solidFill>
                          <a:latin typeface="+mn-lt"/>
                          <a:ea typeface="+mn-ea"/>
                          <a:cs typeface="+mn-cs"/>
                        </a:rPr>
                        <a:t>Virtual Server </a:t>
                      </a:r>
                      <a:r>
                        <a:rPr lang="en-US" sz="2000" kern="1200">
                          <a:solidFill>
                            <a:schemeClr val="dk1"/>
                          </a:solidFill>
                          <a:latin typeface="+mn-lt"/>
                          <a:ea typeface="+mn-ea"/>
                          <a:cs typeface="+mn-cs"/>
                        </a:rPr>
                        <a:t>scope still ongoing in January 2025 – but time required to conduct cost estimations means that information as of early December 2024 had to be used.</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bl>
          </a:graphicData>
        </a:graphic>
      </p:graphicFrame>
    </p:spTree>
    <p:extLst>
      <p:ext uri="{BB962C8B-B14F-4D97-AF65-F5344CB8AC3E}">
        <p14:creationId xmlns:p14="http://schemas.microsoft.com/office/powerpoint/2010/main" val="171558508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6FB70C-6DC2-FD4C-EA0F-E3FF790A2358}"/>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1E4C26C7-9355-F8FC-21DF-2E48778B31B1}"/>
              </a:ext>
            </a:extLst>
          </p:cNvPr>
          <p:cNvSpPr>
            <a:spLocks noGrp="1"/>
          </p:cNvSpPr>
          <p:nvPr>
            <p:ph type="body" sz="quarter" idx="16"/>
          </p:nvPr>
        </p:nvSpPr>
        <p:spPr>
          <a:xfrm>
            <a:off x="6122838" y="3715469"/>
            <a:ext cx="12087669" cy="4200146"/>
          </a:xfrm>
        </p:spPr>
        <p:txBody>
          <a:bodyPr anchor="ctr"/>
          <a:lstStyle/>
          <a:p>
            <a:pPr algn="ctr"/>
            <a:r>
              <a:rPr lang="en-GB" b="1">
                <a:latin typeface="Fira Sans Light" panose="020B0403050000020004" pitchFamily="34" charset="0"/>
              </a:rPr>
              <a:t>CRA Infrastructure Analysis</a:t>
            </a:r>
          </a:p>
        </p:txBody>
      </p:sp>
    </p:spTree>
    <p:extLst>
      <p:ext uri="{BB962C8B-B14F-4D97-AF65-F5344CB8AC3E}">
        <p14:creationId xmlns:p14="http://schemas.microsoft.com/office/powerpoint/2010/main" val="22625753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621FBC-4631-155A-AA7B-2F9F2814B85D}"/>
            </a:ext>
          </a:extLst>
        </p:cNvPr>
        <p:cNvGrpSpPr/>
        <p:nvPr/>
      </p:nvGrpSpPr>
      <p:grpSpPr>
        <a:xfrm>
          <a:off x="0" y="0"/>
          <a:ext cx="0" cy="0"/>
          <a:chOff x="0" y="0"/>
          <a:chExt cx="0" cy="0"/>
        </a:xfrm>
      </p:grpSpPr>
      <p:sp>
        <p:nvSpPr>
          <p:cNvPr id="8" name="Title 4">
            <a:extLst>
              <a:ext uri="{FF2B5EF4-FFF2-40B4-BE49-F238E27FC236}">
                <a16:creationId xmlns:a16="http://schemas.microsoft.com/office/drawing/2014/main" id="{31A64ABC-9BD9-5161-FE23-189D2313D240}"/>
              </a:ext>
            </a:extLst>
          </p:cNvPr>
          <p:cNvSpPr>
            <a:spLocks noGrp="1"/>
          </p:cNvSpPr>
          <p:nvPr>
            <p:ph type="title"/>
          </p:nvPr>
        </p:nvSpPr>
        <p:spPr>
          <a:xfrm>
            <a:off x="667512" y="539497"/>
            <a:ext cx="22869144" cy="968086"/>
          </a:xfrm>
        </p:spPr>
        <p:txBody>
          <a:bodyPr/>
          <a:lstStyle/>
          <a:p>
            <a:r>
              <a:rPr lang="en-GB"/>
              <a:t>Infrastructure Discovery</a:t>
            </a:r>
            <a:endParaRPr lang="en-AE"/>
          </a:p>
        </p:txBody>
      </p:sp>
      <p:sp>
        <p:nvSpPr>
          <p:cNvPr id="37" name="Text Placeholder 5">
            <a:extLst>
              <a:ext uri="{FF2B5EF4-FFF2-40B4-BE49-F238E27FC236}">
                <a16:creationId xmlns:a16="http://schemas.microsoft.com/office/drawing/2014/main" id="{92DE24DC-9B93-B58E-DF87-D9A9FA2696DD}"/>
              </a:ext>
            </a:extLst>
          </p:cNvPr>
          <p:cNvSpPr txBox="1">
            <a:spLocks/>
          </p:cNvSpPr>
          <p:nvPr/>
        </p:nvSpPr>
        <p:spPr>
          <a:xfrm>
            <a:off x="674830" y="3781810"/>
            <a:ext cx="5208456" cy="3666740"/>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600"/>
              <a:t>AWS Application Discovery </a:t>
            </a:r>
            <a:r>
              <a:rPr lang="en-GB" sz="2800"/>
              <a:t>(Agent based)</a:t>
            </a:r>
            <a:endParaRPr lang="en-GB" sz="3600"/>
          </a:p>
          <a:p>
            <a:r>
              <a:rPr lang="en-GB" sz="3600"/>
              <a:t>Azure Migrate </a:t>
            </a:r>
            <a:r>
              <a:rPr lang="en-GB" sz="2400"/>
              <a:t>(</a:t>
            </a:r>
            <a:r>
              <a:rPr lang="en-GB" sz="2800"/>
              <a:t>Agentless</a:t>
            </a:r>
            <a:r>
              <a:rPr lang="en-GB" sz="2400"/>
              <a:t>)</a:t>
            </a:r>
          </a:p>
          <a:p>
            <a:r>
              <a:rPr lang="en-GB" sz="3600"/>
              <a:t>Discovery workshops with Achilles’ technical team</a:t>
            </a:r>
          </a:p>
          <a:p>
            <a:pPr marL="0" indent="0">
              <a:buNone/>
            </a:pPr>
            <a:endParaRPr lang="en-AE" sz="3600"/>
          </a:p>
        </p:txBody>
      </p:sp>
      <p:sp>
        <p:nvSpPr>
          <p:cNvPr id="38" name="Text Placeholder 6">
            <a:extLst>
              <a:ext uri="{FF2B5EF4-FFF2-40B4-BE49-F238E27FC236}">
                <a16:creationId xmlns:a16="http://schemas.microsoft.com/office/drawing/2014/main" id="{BDE6649B-DC2F-34A6-8411-E32F1EA3B6A1}"/>
              </a:ext>
            </a:extLst>
          </p:cNvPr>
          <p:cNvSpPr txBox="1">
            <a:spLocks/>
          </p:cNvSpPr>
          <p:nvPr/>
        </p:nvSpPr>
        <p:spPr>
          <a:xfrm>
            <a:off x="667513" y="3086864"/>
            <a:ext cx="5216526" cy="584776"/>
          </a:xfrm>
          <a:prstGeom prst="rect">
            <a:avLst/>
          </a:prstGeom>
        </p:spPr>
        <p:txBody>
          <a:bodyPr lIns="182880" tIns="91440" rIns="182880" bIns="91440" anchor="t"/>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sz="3800">
                <a:ln w="3175">
                  <a:noFill/>
                </a:ln>
                <a:solidFill>
                  <a:schemeClr val="tx2"/>
                </a:solidFill>
              </a:rPr>
              <a:t>Tools Used</a:t>
            </a:r>
            <a:endParaRPr lang="en-AE" sz="3800">
              <a:ln w="3175">
                <a:noFill/>
              </a:ln>
              <a:solidFill>
                <a:schemeClr val="tx2"/>
              </a:solidFill>
            </a:endParaRPr>
          </a:p>
        </p:txBody>
      </p:sp>
      <p:sp>
        <p:nvSpPr>
          <p:cNvPr id="39" name="Text Placeholder 7">
            <a:extLst>
              <a:ext uri="{FF2B5EF4-FFF2-40B4-BE49-F238E27FC236}">
                <a16:creationId xmlns:a16="http://schemas.microsoft.com/office/drawing/2014/main" id="{62806712-6D4C-C93E-8797-DE967C3637B3}"/>
              </a:ext>
            </a:extLst>
          </p:cNvPr>
          <p:cNvSpPr txBox="1">
            <a:spLocks/>
          </p:cNvSpPr>
          <p:nvPr/>
        </p:nvSpPr>
        <p:spPr>
          <a:xfrm>
            <a:off x="6455541" y="3086864"/>
            <a:ext cx="5216526" cy="584776"/>
          </a:xfrm>
          <a:prstGeom prst="rect">
            <a:avLst/>
          </a:prstGeom>
        </p:spPr>
        <p:txBody>
          <a:bodyPr lIns="182880" tIns="91440" rIns="182880" bIns="91440" anchor="t"/>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sz="3800">
                <a:ln w="3175">
                  <a:noFill/>
                </a:ln>
                <a:solidFill>
                  <a:schemeClr val="tx2"/>
                </a:solidFill>
              </a:rPr>
              <a:t>Information Captured</a:t>
            </a:r>
            <a:endParaRPr lang="en-AE" sz="3800">
              <a:ln w="3175">
                <a:noFill/>
              </a:ln>
              <a:solidFill>
                <a:schemeClr val="tx2"/>
              </a:solidFill>
            </a:endParaRPr>
          </a:p>
        </p:txBody>
      </p:sp>
      <p:sp>
        <p:nvSpPr>
          <p:cNvPr id="40" name="Text Placeholder 8">
            <a:extLst>
              <a:ext uri="{FF2B5EF4-FFF2-40B4-BE49-F238E27FC236}">
                <a16:creationId xmlns:a16="http://schemas.microsoft.com/office/drawing/2014/main" id="{9417C123-08C0-1AC1-A78A-58FB4E0C8D73}"/>
              </a:ext>
            </a:extLst>
          </p:cNvPr>
          <p:cNvSpPr txBox="1">
            <a:spLocks/>
          </p:cNvSpPr>
          <p:nvPr/>
        </p:nvSpPr>
        <p:spPr>
          <a:xfrm>
            <a:off x="12170541" y="3086864"/>
            <a:ext cx="5216614" cy="584776"/>
          </a:xfrm>
          <a:prstGeom prst="rect">
            <a:avLst/>
          </a:prstGeom>
        </p:spPr>
        <p:txBody>
          <a:bodyPr lIns="182880" tIns="91440" rIns="182880" bIns="91440" anchor="t"/>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sz="3800">
                <a:ln w="3175">
                  <a:noFill/>
                </a:ln>
                <a:solidFill>
                  <a:schemeClr val="tx2"/>
                </a:solidFill>
              </a:rPr>
              <a:t>Challenges</a:t>
            </a:r>
            <a:endParaRPr lang="en-AE" sz="3800">
              <a:ln w="3175">
                <a:noFill/>
              </a:ln>
              <a:solidFill>
                <a:schemeClr val="tx2"/>
              </a:solidFill>
            </a:endParaRPr>
          </a:p>
        </p:txBody>
      </p:sp>
      <p:sp>
        <p:nvSpPr>
          <p:cNvPr id="41" name="Text Placeholder 9">
            <a:extLst>
              <a:ext uri="{FF2B5EF4-FFF2-40B4-BE49-F238E27FC236}">
                <a16:creationId xmlns:a16="http://schemas.microsoft.com/office/drawing/2014/main" id="{C080852D-F223-4765-0CC5-FEB5B30687AF}"/>
              </a:ext>
            </a:extLst>
          </p:cNvPr>
          <p:cNvSpPr txBox="1">
            <a:spLocks/>
          </p:cNvSpPr>
          <p:nvPr/>
        </p:nvSpPr>
        <p:spPr>
          <a:xfrm>
            <a:off x="17886837" y="3064452"/>
            <a:ext cx="4921534" cy="1334804"/>
          </a:xfrm>
          <a:prstGeom prst="rect">
            <a:avLst/>
          </a:prstGeom>
        </p:spPr>
        <p:txBody>
          <a:bodyPr lIns="182880" tIns="91440" rIns="182880" bIns="91440" anchor="t"/>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sz="3800">
                <a:ln w="3175">
                  <a:noFill/>
                </a:ln>
                <a:solidFill>
                  <a:schemeClr val="tx2"/>
                </a:solidFill>
              </a:rPr>
              <a:t>Manual discovery performed for:</a:t>
            </a:r>
            <a:endParaRPr lang="en-AE" sz="3800">
              <a:ln w="3175">
                <a:noFill/>
              </a:ln>
              <a:solidFill>
                <a:schemeClr val="tx2"/>
              </a:solidFill>
            </a:endParaRPr>
          </a:p>
        </p:txBody>
      </p:sp>
      <p:sp>
        <p:nvSpPr>
          <p:cNvPr id="42" name="Text Placeholder 10">
            <a:extLst>
              <a:ext uri="{FF2B5EF4-FFF2-40B4-BE49-F238E27FC236}">
                <a16:creationId xmlns:a16="http://schemas.microsoft.com/office/drawing/2014/main" id="{5A56FBAE-F306-C4C3-E616-3CC615C46D1C}"/>
              </a:ext>
            </a:extLst>
          </p:cNvPr>
          <p:cNvSpPr txBox="1">
            <a:spLocks/>
          </p:cNvSpPr>
          <p:nvPr/>
        </p:nvSpPr>
        <p:spPr>
          <a:xfrm>
            <a:off x="6461016" y="3781811"/>
            <a:ext cx="5211048" cy="2451954"/>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600"/>
              <a:t>Compute </a:t>
            </a:r>
            <a:r>
              <a:rPr lang="en-GB" sz="2800"/>
              <a:t>(CPU &amp; Memory Avg. and Peak)</a:t>
            </a:r>
          </a:p>
          <a:p>
            <a:r>
              <a:rPr lang="en-GB" sz="3600"/>
              <a:t>Data </a:t>
            </a:r>
            <a:r>
              <a:rPr lang="en-GB" sz="2800"/>
              <a:t>(Network, Disk &amp; DB)</a:t>
            </a:r>
            <a:endParaRPr lang="en-GB" sz="3600"/>
          </a:p>
          <a:p>
            <a:endParaRPr lang="en-AE" sz="3600"/>
          </a:p>
        </p:txBody>
      </p:sp>
      <p:sp>
        <p:nvSpPr>
          <p:cNvPr id="43" name="Text Placeholder 11">
            <a:extLst>
              <a:ext uri="{FF2B5EF4-FFF2-40B4-BE49-F238E27FC236}">
                <a16:creationId xmlns:a16="http://schemas.microsoft.com/office/drawing/2014/main" id="{92A6184B-AA08-C115-350F-E1AF534C62BF}"/>
              </a:ext>
            </a:extLst>
          </p:cNvPr>
          <p:cNvSpPr txBox="1">
            <a:spLocks/>
          </p:cNvSpPr>
          <p:nvPr/>
        </p:nvSpPr>
        <p:spPr>
          <a:xfrm>
            <a:off x="12176947" y="3781810"/>
            <a:ext cx="5209338" cy="3503524"/>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AE" sz="3600"/>
              <a:t>182 servers have been considered for high level analysis –refined to 158 in the cost analysis after de-scope decisions made by Achilles</a:t>
            </a:r>
          </a:p>
        </p:txBody>
      </p:sp>
      <p:sp>
        <p:nvSpPr>
          <p:cNvPr id="44" name="Text Placeholder 12">
            <a:extLst>
              <a:ext uri="{FF2B5EF4-FFF2-40B4-BE49-F238E27FC236}">
                <a16:creationId xmlns:a16="http://schemas.microsoft.com/office/drawing/2014/main" id="{E3380A4E-0648-AEF3-58B6-10AE1E5DA19C}"/>
              </a:ext>
            </a:extLst>
          </p:cNvPr>
          <p:cNvSpPr txBox="1">
            <a:spLocks/>
          </p:cNvSpPr>
          <p:nvPr/>
        </p:nvSpPr>
        <p:spPr>
          <a:xfrm>
            <a:off x="17797774" y="4378630"/>
            <a:ext cx="4894144" cy="4042132"/>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600"/>
              <a:t>Licensing</a:t>
            </a:r>
          </a:p>
          <a:p>
            <a:r>
              <a:rPr lang="en-GB" sz="3600"/>
              <a:t>Network devices</a:t>
            </a:r>
          </a:p>
          <a:p>
            <a:r>
              <a:rPr lang="en-GB" sz="3600"/>
              <a:t>Storage (SAN/NAS)</a:t>
            </a:r>
          </a:p>
          <a:p>
            <a:r>
              <a:rPr lang="en-GB" sz="3600"/>
              <a:t>3</a:t>
            </a:r>
            <a:r>
              <a:rPr lang="en-GB" sz="3600" baseline="30000"/>
              <a:t>rd</a:t>
            </a:r>
            <a:r>
              <a:rPr lang="en-GB" sz="3600"/>
              <a:t> party App/DB</a:t>
            </a:r>
          </a:p>
        </p:txBody>
      </p:sp>
      <p:sp>
        <p:nvSpPr>
          <p:cNvPr id="45" name="Text Placeholder 5">
            <a:extLst>
              <a:ext uri="{FF2B5EF4-FFF2-40B4-BE49-F238E27FC236}">
                <a16:creationId xmlns:a16="http://schemas.microsoft.com/office/drawing/2014/main" id="{D2F022D2-D7BE-C4AB-2F10-2F4ECEE946D4}"/>
              </a:ext>
            </a:extLst>
          </p:cNvPr>
          <p:cNvSpPr txBox="1">
            <a:spLocks/>
          </p:cNvSpPr>
          <p:nvPr/>
        </p:nvSpPr>
        <p:spPr>
          <a:xfrm>
            <a:off x="725714" y="9341140"/>
            <a:ext cx="5208456" cy="553998"/>
          </a:xfrm>
          <a:prstGeom prst="rect">
            <a:avLst/>
          </a:prstGeom>
        </p:spPr>
        <p:txBody>
          <a:bodyPr vert="horz"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600"/>
              <a:t>2 weeks</a:t>
            </a:r>
          </a:p>
        </p:txBody>
      </p:sp>
      <p:sp>
        <p:nvSpPr>
          <p:cNvPr id="46" name="Text Placeholder 6">
            <a:extLst>
              <a:ext uri="{FF2B5EF4-FFF2-40B4-BE49-F238E27FC236}">
                <a16:creationId xmlns:a16="http://schemas.microsoft.com/office/drawing/2014/main" id="{30BC004C-B645-4B4D-CCBF-810989CB27B2}"/>
              </a:ext>
            </a:extLst>
          </p:cNvPr>
          <p:cNvSpPr txBox="1">
            <a:spLocks/>
          </p:cNvSpPr>
          <p:nvPr/>
        </p:nvSpPr>
        <p:spPr>
          <a:xfrm>
            <a:off x="718397" y="8646195"/>
            <a:ext cx="5216526" cy="584775"/>
          </a:xfrm>
          <a:prstGeom prst="rect">
            <a:avLst/>
          </a:prstGeom>
        </p:spPr>
        <p:txBody>
          <a:bodyPr vert="horz" lIns="0" tIns="0" rIns="0" bIns="0" rtlCol="0" anchor="t">
            <a:spAutoFit/>
          </a:bodyPr>
          <a:lstStyle>
            <a:lvl1pPr marL="0" marR="0" indent="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None/>
              <a:tabLst/>
              <a:defRPr lang="en-US" sz="1900" kern="1200">
                <a:ln w="3175">
                  <a:noFill/>
                </a:ln>
                <a:solidFill>
                  <a:schemeClr val="tx2"/>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800"/>
              <a:t>Discovery Duration</a:t>
            </a:r>
            <a:endParaRPr lang="en-AE" sz="3800"/>
          </a:p>
        </p:txBody>
      </p:sp>
      <p:sp>
        <p:nvSpPr>
          <p:cNvPr id="47" name="Text Placeholder 7">
            <a:extLst>
              <a:ext uri="{FF2B5EF4-FFF2-40B4-BE49-F238E27FC236}">
                <a16:creationId xmlns:a16="http://schemas.microsoft.com/office/drawing/2014/main" id="{69DFE1AD-E80F-44D0-3640-04E2F13B8A0F}"/>
              </a:ext>
            </a:extLst>
          </p:cNvPr>
          <p:cNvSpPr txBox="1">
            <a:spLocks/>
          </p:cNvSpPr>
          <p:nvPr/>
        </p:nvSpPr>
        <p:spPr>
          <a:xfrm>
            <a:off x="6506425" y="8646195"/>
            <a:ext cx="5216526" cy="584775"/>
          </a:xfrm>
          <a:prstGeom prst="rect">
            <a:avLst/>
          </a:prstGeom>
        </p:spPr>
        <p:txBody>
          <a:bodyPr vert="horz" lIns="0" tIns="0" rIns="0" bIns="0" rtlCol="0" anchor="t">
            <a:spAutoFit/>
          </a:bodyPr>
          <a:lstStyle>
            <a:lvl1pPr marL="0" marR="0" indent="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None/>
              <a:tabLst/>
              <a:defRPr lang="en-US" sz="1900" kern="1200">
                <a:ln w="3175">
                  <a:noFill/>
                </a:ln>
                <a:solidFill>
                  <a:schemeClr val="tx2"/>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800"/>
              <a:t>Outputs</a:t>
            </a:r>
            <a:endParaRPr lang="en-AE" sz="3800"/>
          </a:p>
        </p:txBody>
      </p:sp>
      <p:sp>
        <p:nvSpPr>
          <p:cNvPr id="48" name="Text Placeholder 8">
            <a:extLst>
              <a:ext uri="{FF2B5EF4-FFF2-40B4-BE49-F238E27FC236}">
                <a16:creationId xmlns:a16="http://schemas.microsoft.com/office/drawing/2014/main" id="{28B32A25-98BD-34D0-C13E-C43D933FCCA6}"/>
              </a:ext>
            </a:extLst>
          </p:cNvPr>
          <p:cNvSpPr txBox="1">
            <a:spLocks/>
          </p:cNvSpPr>
          <p:nvPr/>
        </p:nvSpPr>
        <p:spPr>
          <a:xfrm>
            <a:off x="12170541" y="8646195"/>
            <a:ext cx="5216614" cy="584775"/>
          </a:xfrm>
          <a:prstGeom prst="rect">
            <a:avLst/>
          </a:prstGeom>
        </p:spPr>
        <p:txBody>
          <a:bodyPr vert="horz" lIns="0" tIns="0" rIns="0" bIns="0" rtlCol="0" anchor="t">
            <a:spAutoFit/>
          </a:bodyPr>
          <a:lstStyle>
            <a:lvl1pPr marL="0" marR="0" indent="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None/>
              <a:tabLst/>
              <a:defRPr lang="en-US" sz="1900" kern="1200">
                <a:ln w="3175">
                  <a:noFill/>
                </a:ln>
                <a:solidFill>
                  <a:schemeClr val="tx2"/>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800"/>
              <a:t>Restrictions</a:t>
            </a:r>
            <a:endParaRPr lang="en-AE" sz="3800"/>
          </a:p>
        </p:txBody>
      </p:sp>
      <p:sp>
        <p:nvSpPr>
          <p:cNvPr id="49" name="Text Placeholder 10">
            <a:extLst>
              <a:ext uri="{FF2B5EF4-FFF2-40B4-BE49-F238E27FC236}">
                <a16:creationId xmlns:a16="http://schemas.microsoft.com/office/drawing/2014/main" id="{13DC0C21-4A4D-0F35-BAA0-5EADCB6BD81A}"/>
              </a:ext>
            </a:extLst>
          </p:cNvPr>
          <p:cNvSpPr txBox="1">
            <a:spLocks/>
          </p:cNvSpPr>
          <p:nvPr/>
        </p:nvSpPr>
        <p:spPr>
          <a:xfrm>
            <a:off x="6461016" y="9341141"/>
            <a:ext cx="5211048" cy="1197764"/>
          </a:xfrm>
          <a:prstGeom prst="rect">
            <a:avLst/>
          </a:prstGeom>
        </p:spPr>
        <p:txBody>
          <a:bodyPr vert="horz"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600"/>
              <a:t>AWS MPA report </a:t>
            </a:r>
            <a:r>
              <a:rPr lang="en-GB" sz="2800"/>
              <a:t>(Excel)</a:t>
            </a:r>
          </a:p>
          <a:p>
            <a:r>
              <a:rPr lang="en-GB" sz="3600"/>
              <a:t>Azure Migrate </a:t>
            </a:r>
            <a:r>
              <a:rPr lang="en-GB" sz="2800"/>
              <a:t>(PDF)</a:t>
            </a:r>
            <a:endParaRPr lang="en-GB" sz="3600"/>
          </a:p>
        </p:txBody>
      </p:sp>
      <p:sp>
        <p:nvSpPr>
          <p:cNvPr id="50" name="Text Placeholder 11">
            <a:extLst>
              <a:ext uri="{FF2B5EF4-FFF2-40B4-BE49-F238E27FC236}">
                <a16:creationId xmlns:a16="http://schemas.microsoft.com/office/drawing/2014/main" id="{CF7042A8-EEF8-9F34-5DBF-EBF5A66BBBDD}"/>
              </a:ext>
            </a:extLst>
          </p:cNvPr>
          <p:cNvSpPr txBox="1">
            <a:spLocks/>
          </p:cNvSpPr>
          <p:nvPr/>
        </p:nvSpPr>
        <p:spPr>
          <a:xfrm>
            <a:off x="12176947" y="9341140"/>
            <a:ext cx="5209338" cy="2215991"/>
          </a:xfrm>
          <a:prstGeom prst="rect">
            <a:avLst/>
          </a:prstGeom>
        </p:spPr>
        <p:txBody>
          <a:bodyPr vert="horz"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3600"/>
              <a:t>Limited direct access to Achilles’ AWS &amp; Azure accounts to conduct discovery</a:t>
            </a:r>
          </a:p>
        </p:txBody>
      </p:sp>
      <p:sp>
        <p:nvSpPr>
          <p:cNvPr id="51" name="Slide Number Placeholder 8">
            <a:extLst>
              <a:ext uri="{FF2B5EF4-FFF2-40B4-BE49-F238E27FC236}">
                <a16:creationId xmlns:a16="http://schemas.microsoft.com/office/drawing/2014/main" id="{3039C514-AF72-C819-BD45-4582EA2BA5C2}"/>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31</a:t>
            </a:fld>
            <a:endParaRPr lang="en-US">
              <a:solidFill>
                <a:srgbClr val="000000"/>
              </a:solidFill>
              <a:latin typeface="Arial"/>
            </a:endParaRPr>
          </a:p>
        </p:txBody>
      </p:sp>
    </p:spTree>
    <p:extLst>
      <p:ext uri="{BB962C8B-B14F-4D97-AF65-F5344CB8AC3E}">
        <p14:creationId xmlns:p14="http://schemas.microsoft.com/office/powerpoint/2010/main" val="4002940561"/>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1CBA27A-7ABF-16CC-05F5-5697515634D8}"/>
              </a:ext>
            </a:extLst>
          </p:cNvPr>
          <p:cNvSpPr>
            <a:spLocks noGrp="1"/>
          </p:cNvSpPr>
          <p:nvPr>
            <p:ph type="title"/>
          </p:nvPr>
        </p:nvSpPr>
        <p:spPr/>
        <p:txBody>
          <a:bodyPr/>
          <a:lstStyle/>
          <a:p>
            <a:r>
              <a:rPr lang="en-GB"/>
              <a:t>Discovery / Virtual Servers</a:t>
            </a:r>
            <a:endParaRPr lang="en-AE"/>
          </a:p>
        </p:txBody>
      </p:sp>
      <p:graphicFrame>
        <p:nvGraphicFramePr>
          <p:cNvPr id="15" name="Chart 14">
            <a:extLst>
              <a:ext uri="{FF2B5EF4-FFF2-40B4-BE49-F238E27FC236}">
                <a16:creationId xmlns:a16="http://schemas.microsoft.com/office/drawing/2014/main" id="{B17D3436-2556-5523-F525-88937D52A51A}"/>
              </a:ext>
            </a:extLst>
          </p:cNvPr>
          <p:cNvGraphicFramePr>
            <a:graphicFrameLocks noChangeAspect="1"/>
          </p:cNvGraphicFramePr>
          <p:nvPr/>
        </p:nvGraphicFramePr>
        <p:xfrm>
          <a:off x="17851068" y="3298282"/>
          <a:ext cx="5290692" cy="5040000"/>
        </p:xfrm>
        <a:graphic>
          <a:graphicData uri="http://schemas.openxmlformats.org/drawingml/2006/chart">
            <c:chart xmlns:c="http://schemas.openxmlformats.org/drawingml/2006/chart" xmlns:r="http://schemas.openxmlformats.org/officeDocument/2006/relationships" r:id="rId3"/>
          </a:graphicData>
        </a:graphic>
      </p:graphicFrame>
      <p:sp>
        <p:nvSpPr>
          <p:cNvPr id="16" name="Text Placeholder 5">
            <a:extLst>
              <a:ext uri="{FF2B5EF4-FFF2-40B4-BE49-F238E27FC236}">
                <a16:creationId xmlns:a16="http://schemas.microsoft.com/office/drawing/2014/main" id="{77FA72EB-394E-7BDE-118A-D32BC1D1A928}"/>
              </a:ext>
            </a:extLst>
          </p:cNvPr>
          <p:cNvSpPr>
            <a:spLocks noGrp="1"/>
          </p:cNvSpPr>
          <p:nvPr>
            <p:ph type="body" sz="quarter" idx="12"/>
          </p:nvPr>
        </p:nvSpPr>
        <p:spPr>
          <a:xfrm>
            <a:off x="676310" y="3845436"/>
            <a:ext cx="5208456" cy="6068328"/>
          </a:xfrm>
        </p:spPr>
        <p:txBody>
          <a:bodyPr/>
          <a:lstStyle/>
          <a:p>
            <a:pPr marL="0" indent="0" algn="ctr">
              <a:buNone/>
            </a:pPr>
            <a:r>
              <a:rPr lang="en-GB" sz="12000" b="1"/>
              <a:t>3034</a:t>
            </a:r>
          </a:p>
          <a:p>
            <a:pPr marL="0" indent="0" algn="ctr">
              <a:buNone/>
            </a:pPr>
            <a:r>
              <a:rPr lang="en-GB" sz="3200"/>
              <a:t>Virtual Servers identified as potential candidates for a cloud migration initiative.</a:t>
            </a:r>
          </a:p>
          <a:p>
            <a:pPr marL="0" indent="0" algn="ctr">
              <a:buNone/>
            </a:pPr>
            <a:endParaRPr lang="en-GB" sz="3200"/>
          </a:p>
          <a:p>
            <a:pPr marL="0" indent="0" algn="ctr">
              <a:buNone/>
            </a:pPr>
            <a:endParaRPr lang="en-GB" sz="3200"/>
          </a:p>
          <a:p>
            <a:pPr marL="0" indent="0" algn="ctr">
              <a:buNone/>
            </a:pPr>
            <a:endParaRPr lang="en-GB" sz="2800"/>
          </a:p>
          <a:p>
            <a:pPr marL="0" indent="0" algn="ctr">
              <a:buNone/>
            </a:pPr>
            <a:endParaRPr lang="en-AE" sz="2800"/>
          </a:p>
        </p:txBody>
      </p:sp>
      <p:sp>
        <p:nvSpPr>
          <p:cNvPr id="17" name="Text Placeholder 6">
            <a:extLst>
              <a:ext uri="{FF2B5EF4-FFF2-40B4-BE49-F238E27FC236}">
                <a16:creationId xmlns:a16="http://schemas.microsoft.com/office/drawing/2014/main" id="{1939A28D-8C7F-E4EC-F16E-5F27C3A63822}"/>
              </a:ext>
            </a:extLst>
          </p:cNvPr>
          <p:cNvSpPr txBox="1">
            <a:spLocks/>
          </p:cNvSpPr>
          <p:nvPr/>
        </p:nvSpPr>
        <p:spPr>
          <a:xfrm>
            <a:off x="668993" y="2700214"/>
            <a:ext cx="5216526"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Virtual Servers</a:t>
            </a:r>
            <a:endParaRPr lang="en-AE" sz="3800">
              <a:solidFill>
                <a:schemeClr val="tx2"/>
              </a:solidFill>
            </a:endParaRPr>
          </a:p>
        </p:txBody>
      </p:sp>
      <p:sp>
        <p:nvSpPr>
          <p:cNvPr id="18" name="Text Placeholder 27">
            <a:extLst>
              <a:ext uri="{FF2B5EF4-FFF2-40B4-BE49-F238E27FC236}">
                <a16:creationId xmlns:a16="http://schemas.microsoft.com/office/drawing/2014/main" id="{F043FC38-9D4A-70BE-4A38-C776F321896E}"/>
              </a:ext>
            </a:extLst>
          </p:cNvPr>
          <p:cNvSpPr txBox="1">
            <a:spLocks/>
          </p:cNvSpPr>
          <p:nvPr/>
        </p:nvSpPr>
        <p:spPr>
          <a:xfrm>
            <a:off x="9297055" y="2699006"/>
            <a:ext cx="5216526"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Operating Systems</a:t>
            </a:r>
            <a:endParaRPr lang="en-AE" sz="3800">
              <a:solidFill>
                <a:schemeClr val="tx2"/>
              </a:solidFill>
            </a:endParaRPr>
          </a:p>
        </p:txBody>
      </p:sp>
      <p:sp>
        <p:nvSpPr>
          <p:cNvPr id="19" name="Text Placeholder 35">
            <a:extLst>
              <a:ext uri="{FF2B5EF4-FFF2-40B4-BE49-F238E27FC236}">
                <a16:creationId xmlns:a16="http://schemas.microsoft.com/office/drawing/2014/main" id="{992C177C-98BE-579A-7E7F-E6BF80E03B39}"/>
              </a:ext>
            </a:extLst>
          </p:cNvPr>
          <p:cNvSpPr txBox="1">
            <a:spLocks/>
          </p:cNvSpPr>
          <p:nvPr/>
        </p:nvSpPr>
        <p:spPr>
          <a:xfrm>
            <a:off x="17925116" y="2699006"/>
            <a:ext cx="5216644"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Infrastructure</a:t>
            </a:r>
            <a:endParaRPr lang="en-AE" sz="3800">
              <a:solidFill>
                <a:schemeClr val="tx2"/>
              </a:solidFill>
            </a:endParaRPr>
          </a:p>
        </p:txBody>
      </p:sp>
      <p:graphicFrame>
        <p:nvGraphicFramePr>
          <p:cNvPr id="20" name="Chart 19">
            <a:extLst>
              <a:ext uri="{FF2B5EF4-FFF2-40B4-BE49-F238E27FC236}">
                <a16:creationId xmlns:a16="http://schemas.microsoft.com/office/drawing/2014/main" id="{E95BCFD1-5CFA-8569-1BFD-F119E80C1FC9}"/>
              </a:ext>
            </a:extLst>
          </p:cNvPr>
          <p:cNvGraphicFramePr/>
          <p:nvPr/>
        </p:nvGraphicFramePr>
        <p:xfrm>
          <a:off x="7129553" y="3283783"/>
          <a:ext cx="10084930" cy="6825418"/>
        </p:xfrm>
        <a:graphic>
          <a:graphicData uri="http://schemas.openxmlformats.org/drawingml/2006/chart">
            <c:chart xmlns:c="http://schemas.openxmlformats.org/drawingml/2006/chart" xmlns:r="http://schemas.openxmlformats.org/officeDocument/2006/relationships" r:id="rId4"/>
          </a:graphicData>
        </a:graphic>
      </p:graphicFrame>
      <p:sp>
        <p:nvSpPr>
          <p:cNvPr id="21" name="Text Placeholder 35">
            <a:extLst>
              <a:ext uri="{FF2B5EF4-FFF2-40B4-BE49-F238E27FC236}">
                <a16:creationId xmlns:a16="http://schemas.microsoft.com/office/drawing/2014/main" id="{4ED58A15-E513-7427-445C-BB2DE33A143A}"/>
              </a:ext>
            </a:extLst>
          </p:cNvPr>
          <p:cNvSpPr txBox="1">
            <a:spLocks/>
          </p:cNvSpPr>
          <p:nvPr/>
        </p:nvSpPr>
        <p:spPr>
          <a:xfrm>
            <a:off x="17876354" y="7498521"/>
            <a:ext cx="5216644" cy="584775"/>
          </a:xfrm>
          <a:prstGeom prst="rect">
            <a:avLst/>
          </a:prstGeom>
        </p:spPr>
        <p:txBody>
          <a:bodyPr vert="horz" lIns="0" tIns="0" rIns="0" bIns="0" rtlCol="0">
            <a:spAutoFit/>
          </a:bodyPr>
          <a:lstStyle>
            <a:lvl1pPr marL="0" marR="0" indent="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None/>
              <a:tabLst/>
              <a:defRPr lang="en-US" sz="1900" kern="1200">
                <a:ln w="3175">
                  <a:noFill/>
                </a:ln>
                <a:solidFill>
                  <a:schemeClr val="tx2"/>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defTabSz="1828800">
              <a:spcAft>
                <a:spcPts val="1400"/>
              </a:spcAft>
              <a:defRPr/>
            </a:pPr>
            <a:r>
              <a:rPr lang="en-GB" sz="3800">
                <a:ln>
                  <a:noFill/>
                </a:ln>
              </a:rPr>
              <a:t>Platforms</a:t>
            </a:r>
            <a:endParaRPr lang="en-AE" sz="3800">
              <a:ln>
                <a:noFill/>
              </a:ln>
            </a:endParaRPr>
          </a:p>
        </p:txBody>
      </p:sp>
      <p:graphicFrame>
        <p:nvGraphicFramePr>
          <p:cNvPr id="22" name="Chart 21">
            <a:extLst>
              <a:ext uri="{FF2B5EF4-FFF2-40B4-BE49-F238E27FC236}">
                <a16:creationId xmlns:a16="http://schemas.microsoft.com/office/drawing/2014/main" id="{F4D0974D-70E9-E5F6-419D-CB0514C4A4BC}"/>
              </a:ext>
            </a:extLst>
          </p:cNvPr>
          <p:cNvGraphicFramePr>
            <a:graphicFrameLocks noChangeAspect="1"/>
          </p:cNvGraphicFramePr>
          <p:nvPr/>
        </p:nvGraphicFramePr>
        <p:xfrm>
          <a:off x="17827595" y="8034374"/>
          <a:ext cx="5314166" cy="5040000"/>
        </p:xfrm>
        <a:graphic>
          <a:graphicData uri="http://schemas.openxmlformats.org/drawingml/2006/chart">
            <c:chart xmlns:c="http://schemas.openxmlformats.org/drawingml/2006/chart" xmlns:r="http://schemas.openxmlformats.org/officeDocument/2006/relationships" r:id="rId5"/>
          </a:graphicData>
        </a:graphic>
      </p:graphicFrame>
      <p:sp>
        <p:nvSpPr>
          <p:cNvPr id="2" name="Slide Number Placeholder 8">
            <a:extLst>
              <a:ext uri="{FF2B5EF4-FFF2-40B4-BE49-F238E27FC236}">
                <a16:creationId xmlns:a16="http://schemas.microsoft.com/office/drawing/2014/main" id="{1A9BA996-1B3E-E5A1-E096-F21667731D9E}"/>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32</a:t>
            </a:fld>
            <a:endParaRPr lang="en-US">
              <a:solidFill>
                <a:srgbClr val="000000"/>
              </a:solidFill>
              <a:latin typeface="Arial"/>
            </a:endParaRPr>
          </a:p>
        </p:txBody>
      </p:sp>
      <p:sp>
        <p:nvSpPr>
          <p:cNvPr id="3" name="TextBox 2">
            <a:extLst>
              <a:ext uri="{FF2B5EF4-FFF2-40B4-BE49-F238E27FC236}">
                <a16:creationId xmlns:a16="http://schemas.microsoft.com/office/drawing/2014/main" id="{89ED8704-1846-AC8C-1766-92982BDF1DF9}"/>
              </a:ext>
            </a:extLst>
          </p:cNvPr>
          <p:cNvSpPr txBox="1"/>
          <p:nvPr/>
        </p:nvSpPr>
        <p:spPr>
          <a:xfrm>
            <a:off x="945449" y="11925301"/>
            <a:ext cx="15628050" cy="461665"/>
          </a:xfrm>
          <a:prstGeom prst="rect">
            <a:avLst/>
          </a:prstGeom>
          <a:noFill/>
        </p:spPr>
        <p:txBody>
          <a:bodyPr wrap="square" rtlCol="0">
            <a:spAutoFit/>
          </a:bodyPr>
          <a:lstStyle/>
          <a:p>
            <a:pPr algn="l"/>
            <a:r>
              <a:rPr lang="en-IN" sz="2400"/>
              <a:t>*Operating System details for </a:t>
            </a:r>
            <a:r>
              <a:rPr lang="en-IN" sz="2400" err="1"/>
              <a:t>GoSupply</a:t>
            </a:r>
            <a:r>
              <a:rPr lang="en-IN" sz="2400"/>
              <a:t> are assumed as: 25x Windows Server 2019 Standard &amp; 1x RHEL 7.9</a:t>
            </a:r>
          </a:p>
        </p:txBody>
      </p:sp>
    </p:spTree>
    <p:extLst>
      <p:ext uri="{BB962C8B-B14F-4D97-AF65-F5344CB8AC3E}">
        <p14:creationId xmlns:p14="http://schemas.microsoft.com/office/powerpoint/2010/main" val="304843134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1CBA27A-7ABF-16CC-05F5-5697515634D8}"/>
              </a:ext>
            </a:extLst>
          </p:cNvPr>
          <p:cNvSpPr>
            <a:spLocks noGrp="1"/>
          </p:cNvSpPr>
          <p:nvPr>
            <p:ph type="title"/>
          </p:nvPr>
        </p:nvSpPr>
        <p:spPr/>
        <p:txBody>
          <a:bodyPr/>
          <a:lstStyle/>
          <a:p>
            <a:r>
              <a:rPr lang="en-GB"/>
              <a:t>Discovery / Databases</a:t>
            </a:r>
            <a:endParaRPr lang="en-AE"/>
          </a:p>
        </p:txBody>
      </p:sp>
      <p:sp>
        <p:nvSpPr>
          <p:cNvPr id="4" name="Slide Number Placeholder 3">
            <a:extLst>
              <a:ext uri="{FF2B5EF4-FFF2-40B4-BE49-F238E27FC236}">
                <a16:creationId xmlns:a16="http://schemas.microsoft.com/office/drawing/2014/main" id="{7E16129A-504B-2464-CEB9-BF055A8B45AD}"/>
              </a:ext>
            </a:extLst>
          </p:cNvPr>
          <p:cNvSpPr>
            <a:spLocks noGrp="1"/>
          </p:cNvSpPr>
          <p:nvPr>
            <p:ph type="sldNum" sz="quarter" idx="4"/>
          </p:nvPr>
        </p:nvSpPr>
        <p:spPr/>
        <p:txBody>
          <a:bodyPr/>
          <a:lstStyle/>
          <a:p>
            <a:fld id="{762E77F0-FB5B-4E8E-9BC9-34F14560A017}" type="slidenum">
              <a:rPr lang="en-US" smtClean="0"/>
              <a:pPr/>
              <a:t>33</a:t>
            </a:fld>
            <a:endParaRPr lang="en-US"/>
          </a:p>
        </p:txBody>
      </p:sp>
      <p:sp>
        <p:nvSpPr>
          <p:cNvPr id="3" name="Text Placeholder 5">
            <a:extLst>
              <a:ext uri="{FF2B5EF4-FFF2-40B4-BE49-F238E27FC236}">
                <a16:creationId xmlns:a16="http://schemas.microsoft.com/office/drawing/2014/main" id="{93E3F769-02B9-4BE6-3550-1D6CBBD3F7FD}"/>
              </a:ext>
            </a:extLst>
          </p:cNvPr>
          <p:cNvSpPr>
            <a:spLocks noGrp="1"/>
          </p:cNvSpPr>
          <p:nvPr>
            <p:ph type="body" sz="quarter" idx="12"/>
          </p:nvPr>
        </p:nvSpPr>
        <p:spPr>
          <a:xfrm>
            <a:off x="676310" y="3845436"/>
            <a:ext cx="5208456" cy="7545655"/>
          </a:xfrm>
        </p:spPr>
        <p:txBody>
          <a:bodyPr/>
          <a:lstStyle/>
          <a:p>
            <a:pPr marL="0" indent="0" algn="ctr">
              <a:buNone/>
            </a:pPr>
            <a:r>
              <a:rPr lang="en-GB" sz="12000" b="1"/>
              <a:t>74</a:t>
            </a:r>
          </a:p>
          <a:p>
            <a:pPr marL="0" indent="0" algn="ctr">
              <a:buNone/>
            </a:pPr>
            <a:r>
              <a:rPr lang="en-GB" sz="3200"/>
              <a:t>Database Virtual servers</a:t>
            </a:r>
            <a:br>
              <a:rPr lang="en-GB" sz="3200"/>
            </a:br>
            <a:r>
              <a:rPr lang="en-GB" sz="3200"/>
              <a:t>identified as potential candidates for a cloud migration initiative (within the 182 total virtual servers in scope).</a:t>
            </a:r>
          </a:p>
          <a:p>
            <a:pPr marL="0" indent="0" algn="ctr">
              <a:buNone/>
            </a:pPr>
            <a:endParaRPr lang="en-GB" sz="3200"/>
          </a:p>
          <a:p>
            <a:pPr marL="0" indent="0" algn="ctr">
              <a:buNone/>
            </a:pPr>
            <a:endParaRPr lang="en-GB" sz="3200"/>
          </a:p>
          <a:p>
            <a:pPr marL="0" indent="0" algn="ctr">
              <a:buNone/>
            </a:pPr>
            <a:endParaRPr lang="en-GB" sz="2800"/>
          </a:p>
          <a:p>
            <a:pPr marL="0" indent="0" algn="ctr">
              <a:buNone/>
            </a:pPr>
            <a:endParaRPr lang="en-AE" sz="2800"/>
          </a:p>
        </p:txBody>
      </p:sp>
      <p:sp>
        <p:nvSpPr>
          <p:cNvPr id="6" name="Text Placeholder 6">
            <a:extLst>
              <a:ext uri="{FF2B5EF4-FFF2-40B4-BE49-F238E27FC236}">
                <a16:creationId xmlns:a16="http://schemas.microsoft.com/office/drawing/2014/main" id="{43C8B4D3-ABA4-6C19-4A03-4241B719C3B6}"/>
              </a:ext>
            </a:extLst>
          </p:cNvPr>
          <p:cNvSpPr txBox="1">
            <a:spLocks/>
          </p:cNvSpPr>
          <p:nvPr/>
        </p:nvSpPr>
        <p:spPr>
          <a:xfrm>
            <a:off x="668993" y="2700214"/>
            <a:ext cx="5216526"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Database Virtual Servers</a:t>
            </a:r>
            <a:endParaRPr lang="en-AE" sz="3800">
              <a:solidFill>
                <a:schemeClr val="tx2"/>
              </a:solidFill>
            </a:endParaRPr>
          </a:p>
        </p:txBody>
      </p:sp>
      <p:sp>
        <p:nvSpPr>
          <p:cNvPr id="7" name="Text Placeholder 27">
            <a:extLst>
              <a:ext uri="{FF2B5EF4-FFF2-40B4-BE49-F238E27FC236}">
                <a16:creationId xmlns:a16="http://schemas.microsoft.com/office/drawing/2014/main" id="{E7B4E2E6-B095-E4B2-9A99-23A63BC0F7B2}"/>
              </a:ext>
            </a:extLst>
          </p:cNvPr>
          <p:cNvSpPr txBox="1">
            <a:spLocks/>
          </p:cNvSpPr>
          <p:nvPr/>
        </p:nvSpPr>
        <p:spPr>
          <a:xfrm>
            <a:off x="9398971" y="2699006"/>
            <a:ext cx="5216526"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DB Engine/Editions</a:t>
            </a:r>
            <a:endParaRPr lang="en-AE" sz="3800">
              <a:solidFill>
                <a:schemeClr val="tx2"/>
              </a:solidFill>
            </a:endParaRPr>
          </a:p>
        </p:txBody>
      </p:sp>
      <p:graphicFrame>
        <p:nvGraphicFramePr>
          <p:cNvPr id="9" name="Chart 8">
            <a:extLst>
              <a:ext uri="{FF2B5EF4-FFF2-40B4-BE49-F238E27FC236}">
                <a16:creationId xmlns:a16="http://schemas.microsoft.com/office/drawing/2014/main" id="{BDA99E94-61DE-1360-D26D-D377806C9E5B}"/>
              </a:ext>
            </a:extLst>
          </p:cNvPr>
          <p:cNvGraphicFramePr/>
          <p:nvPr/>
        </p:nvGraphicFramePr>
        <p:xfrm>
          <a:off x="7086541" y="3626682"/>
          <a:ext cx="10084930" cy="2380648"/>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 Placeholder 35">
            <a:extLst>
              <a:ext uri="{FF2B5EF4-FFF2-40B4-BE49-F238E27FC236}">
                <a16:creationId xmlns:a16="http://schemas.microsoft.com/office/drawing/2014/main" id="{51F11693-3A3B-1AE9-9D7D-4C5220E701D3}"/>
              </a:ext>
            </a:extLst>
          </p:cNvPr>
          <p:cNvSpPr txBox="1">
            <a:spLocks/>
          </p:cNvSpPr>
          <p:nvPr/>
        </p:nvSpPr>
        <p:spPr>
          <a:xfrm>
            <a:off x="17876354" y="2793171"/>
            <a:ext cx="5216644" cy="584775"/>
          </a:xfrm>
          <a:prstGeom prst="rect">
            <a:avLst/>
          </a:prstGeom>
        </p:spPr>
        <p:txBody>
          <a:bodyPr vert="horz" lIns="0" tIns="0" rIns="0" bIns="0" rtlCol="0">
            <a:spAutoFit/>
          </a:bodyPr>
          <a:lstStyle>
            <a:lvl1pPr marL="0" marR="0" indent="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None/>
              <a:tabLst/>
              <a:defRPr lang="en-US" sz="1900" kern="1200">
                <a:ln w="3175">
                  <a:noFill/>
                </a:ln>
                <a:solidFill>
                  <a:schemeClr val="tx2"/>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defTabSz="1828800">
              <a:spcAft>
                <a:spcPts val="1400"/>
              </a:spcAft>
              <a:defRPr/>
            </a:pPr>
            <a:r>
              <a:rPr lang="en-GB" sz="3800">
                <a:ln>
                  <a:noFill/>
                </a:ln>
              </a:rPr>
              <a:t>DB Ownership</a:t>
            </a:r>
            <a:endParaRPr lang="en-AE" sz="3800">
              <a:ln>
                <a:noFill/>
              </a:ln>
            </a:endParaRPr>
          </a:p>
        </p:txBody>
      </p:sp>
      <p:graphicFrame>
        <p:nvGraphicFramePr>
          <p:cNvPr id="11" name="Chart 10">
            <a:extLst>
              <a:ext uri="{FF2B5EF4-FFF2-40B4-BE49-F238E27FC236}">
                <a16:creationId xmlns:a16="http://schemas.microsoft.com/office/drawing/2014/main" id="{D0B26AE6-1DC1-4BD3-6997-38805111BD8A}"/>
              </a:ext>
            </a:extLst>
          </p:cNvPr>
          <p:cNvGraphicFramePr>
            <a:graphicFrameLocks noChangeAspect="1"/>
          </p:cNvGraphicFramePr>
          <p:nvPr/>
        </p:nvGraphicFramePr>
        <p:xfrm>
          <a:off x="17827595" y="3329024"/>
          <a:ext cx="5314166" cy="5040000"/>
        </p:xfrm>
        <a:graphic>
          <a:graphicData uri="http://schemas.openxmlformats.org/drawingml/2006/chart">
            <c:chart xmlns:c="http://schemas.openxmlformats.org/drawingml/2006/chart" xmlns:r="http://schemas.openxmlformats.org/officeDocument/2006/relationships" r:id="rId4"/>
          </a:graphicData>
        </a:graphic>
      </p:graphicFrame>
      <p:sp>
        <p:nvSpPr>
          <p:cNvPr id="13" name="TextBox 12">
            <a:extLst>
              <a:ext uri="{FF2B5EF4-FFF2-40B4-BE49-F238E27FC236}">
                <a16:creationId xmlns:a16="http://schemas.microsoft.com/office/drawing/2014/main" id="{7FDE5A5F-CC19-FEFF-E416-8D0E671D3E39}"/>
              </a:ext>
            </a:extLst>
          </p:cNvPr>
          <p:cNvSpPr txBox="1"/>
          <p:nvPr/>
        </p:nvSpPr>
        <p:spPr>
          <a:xfrm>
            <a:off x="746395" y="8918240"/>
            <a:ext cx="17329850" cy="2954655"/>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US" sz="3600">
                <a:ea typeface="+mn-lt"/>
                <a:cs typeface="+mn-lt"/>
              </a:rPr>
              <a:t>Discovery tooling used to identify Microsoft SQL Server except </a:t>
            </a:r>
            <a:r>
              <a:rPr lang="en-US" sz="3600" err="1">
                <a:ea typeface="+mn-lt"/>
                <a:cs typeface="+mn-lt"/>
              </a:rPr>
              <a:t>GoSupply</a:t>
            </a:r>
            <a:r>
              <a:rPr lang="en-US" sz="3600">
                <a:ea typeface="+mn-lt"/>
                <a:cs typeface="+mn-lt"/>
              </a:rPr>
              <a:t>, all other Database variants identified using manual discovery and stakeholder interview. </a:t>
            </a:r>
          </a:p>
          <a:p>
            <a:pPr>
              <a:buClr>
                <a:srgbClr val="FF0000"/>
              </a:buClr>
            </a:pPr>
            <a:endParaRPr lang="en-US" sz="3600">
              <a:cs typeface="Arial"/>
            </a:endParaRPr>
          </a:p>
          <a:p>
            <a:pPr>
              <a:buClr>
                <a:srgbClr val="FF0000"/>
              </a:buClr>
            </a:pPr>
            <a:endParaRPr lang="en-US" sz="3600">
              <a:cs typeface="Arial"/>
            </a:endParaRPr>
          </a:p>
        </p:txBody>
      </p:sp>
    </p:spTree>
    <p:extLst>
      <p:ext uri="{BB962C8B-B14F-4D97-AF65-F5344CB8AC3E}">
        <p14:creationId xmlns:p14="http://schemas.microsoft.com/office/powerpoint/2010/main" val="275077051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1CBA27A-7ABF-16CC-05F5-5697515634D8}"/>
              </a:ext>
            </a:extLst>
          </p:cNvPr>
          <p:cNvSpPr>
            <a:spLocks noGrp="1"/>
          </p:cNvSpPr>
          <p:nvPr>
            <p:ph type="title"/>
          </p:nvPr>
        </p:nvSpPr>
        <p:spPr/>
        <p:txBody>
          <a:bodyPr/>
          <a:lstStyle/>
          <a:p>
            <a:r>
              <a:rPr lang="en-GB"/>
              <a:t>Discovery / Applications</a:t>
            </a:r>
            <a:endParaRPr lang="en-AE"/>
          </a:p>
        </p:txBody>
      </p:sp>
      <p:sp>
        <p:nvSpPr>
          <p:cNvPr id="4" name="Slide Number Placeholder 3">
            <a:extLst>
              <a:ext uri="{FF2B5EF4-FFF2-40B4-BE49-F238E27FC236}">
                <a16:creationId xmlns:a16="http://schemas.microsoft.com/office/drawing/2014/main" id="{7E16129A-504B-2464-CEB9-BF055A8B45AD}"/>
              </a:ext>
            </a:extLst>
          </p:cNvPr>
          <p:cNvSpPr>
            <a:spLocks noGrp="1"/>
          </p:cNvSpPr>
          <p:nvPr>
            <p:ph type="sldNum" sz="quarter" idx="4"/>
          </p:nvPr>
        </p:nvSpPr>
        <p:spPr/>
        <p:txBody>
          <a:bodyPr/>
          <a:lstStyle/>
          <a:p>
            <a:fld id="{762E77F0-FB5B-4E8E-9BC9-34F14560A017}" type="slidenum">
              <a:rPr lang="en-US" smtClean="0"/>
              <a:pPr/>
              <a:t>34</a:t>
            </a:fld>
            <a:endParaRPr lang="en-US"/>
          </a:p>
        </p:txBody>
      </p:sp>
      <p:graphicFrame>
        <p:nvGraphicFramePr>
          <p:cNvPr id="16" name="Chart 15">
            <a:extLst>
              <a:ext uri="{FF2B5EF4-FFF2-40B4-BE49-F238E27FC236}">
                <a16:creationId xmlns:a16="http://schemas.microsoft.com/office/drawing/2014/main" id="{0FBE58CF-FA92-B456-9335-5E189785F683}"/>
              </a:ext>
            </a:extLst>
          </p:cNvPr>
          <p:cNvGraphicFramePr>
            <a:graphicFrameLocks noChangeAspect="1"/>
          </p:cNvGraphicFramePr>
          <p:nvPr/>
        </p:nvGraphicFramePr>
        <p:xfrm>
          <a:off x="14193701" y="3271542"/>
          <a:ext cx="12735018" cy="5040000"/>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 Placeholder 5">
            <a:extLst>
              <a:ext uri="{FF2B5EF4-FFF2-40B4-BE49-F238E27FC236}">
                <a16:creationId xmlns:a16="http://schemas.microsoft.com/office/drawing/2014/main" id="{44BA6615-63D7-D93E-091F-973A6D47DF0C}"/>
              </a:ext>
            </a:extLst>
          </p:cNvPr>
          <p:cNvSpPr>
            <a:spLocks noGrp="1"/>
          </p:cNvSpPr>
          <p:nvPr>
            <p:ph type="body" sz="quarter" idx="12"/>
          </p:nvPr>
        </p:nvSpPr>
        <p:spPr>
          <a:xfrm>
            <a:off x="676310" y="6000809"/>
            <a:ext cx="5208456" cy="6560770"/>
          </a:xfrm>
        </p:spPr>
        <p:txBody>
          <a:bodyPr/>
          <a:lstStyle/>
          <a:p>
            <a:pPr marL="0" indent="0" algn="ctr">
              <a:buNone/>
            </a:pPr>
            <a:r>
              <a:rPr lang="en-GB" sz="12000" b="1"/>
              <a:t>32</a:t>
            </a:r>
          </a:p>
          <a:p>
            <a:pPr marL="0" indent="0" algn="ctr">
              <a:buNone/>
            </a:pPr>
            <a:r>
              <a:rPr lang="en-GB" sz="3200"/>
              <a:t>Business applications and services identified as potential candidates for a cloud migration initiative.</a:t>
            </a:r>
          </a:p>
          <a:p>
            <a:pPr marL="0" indent="0" algn="ctr">
              <a:buNone/>
            </a:pPr>
            <a:endParaRPr lang="en-GB" sz="3200"/>
          </a:p>
          <a:p>
            <a:pPr marL="0" indent="0" algn="ctr">
              <a:buNone/>
            </a:pPr>
            <a:endParaRPr lang="en-GB" sz="3200"/>
          </a:p>
          <a:p>
            <a:pPr marL="0" indent="0" algn="ctr">
              <a:buNone/>
            </a:pPr>
            <a:endParaRPr lang="en-GB" sz="2800"/>
          </a:p>
          <a:p>
            <a:pPr marL="0" indent="0" algn="ctr">
              <a:buNone/>
            </a:pPr>
            <a:endParaRPr lang="en-AE" sz="2800"/>
          </a:p>
        </p:txBody>
      </p:sp>
      <p:sp>
        <p:nvSpPr>
          <p:cNvPr id="18" name="Text Placeholder 6">
            <a:extLst>
              <a:ext uri="{FF2B5EF4-FFF2-40B4-BE49-F238E27FC236}">
                <a16:creationId xmlns:a16="http://schemas.microsoft.com/office/drawing/2014/main" id="{83A410BB-0583-3552-5C0F-23F3E9160CEE}"/>
              </a:ext>
            </a:extLst>
          </p:cNvPr>
          <p:cNvSpPr txBox="1">
            <a:spLocks/>
          </p:cNvSpPr>
          <p:nvPr/>
        </p:nvSpPr>
        <p:spPr>
          <a:xfrm>
            <a:off x="668993" y="4855586"/>
            <a:ext cx="5216526"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Applications</a:t>
            </a:r>
            <a:endParaRPr lang="en-AE" sz="3800">
              <a:solidFill>
                <a:schemeClr val="tx2"/>
              </a:solidFill>
            </a:endParaRPr>
          </a:p>
        </p:txBody>
      </p:sp>
      <p:sp>
        <p:nvSpPr>
          <p:cNvPr id="19" name="Text Placeholder 27">
            <a:extLst>
              <a:ext uri="{FF2B5EF4-FFF2-40B4-BE49-F238E27FC236}">
                <a16:creationId xmlns:a16="http://schemas.microsoft.com/office/drawing/2014/main" id="{DA6C0062-2D1B-1EED-BEE5-E83B2D8A4BC7}"/>
              </a:ext>
            </a:extLst>
          </p:cNvPr>
          <p:cNvSpPr txBox="1">
            <a:spLocks/>
          </p:cNvSpPr>
          <p:nvPr/>
        </p:nvSpPr>
        <p:spPr>
          <a:xfrm>
            <a:off x="8353352" y="8280258"/>
            <a:ext cx="6299908"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Internal vs External facing</a:t>
            </a:r>
            <a:endParaRPr lang="en-AE" sz="3800">
              <a:solidFill>
                <a:schemeClr val="tx2"/>
              </a:solidFill>
            </a:endParaRPr>
          </a:p>
        </p:txBody>
      </p:sp>
      <p:sp>
        <p:nvSpPr>
          <p:cNvPr id="20" name="Text Placeholder 35">
            <a:extLst>
              <a:ext uri="{FF2B5EF4-FFF2-40B4-BE49-F238E27FC236}">
                <a16:creationId xmlns:a16="http://schemas.microsoft.com/office/drawing/2014/main" id="{F0F58FDD-41A6-7E0B-43BA-81496D2EF559}"/>
              </a:ext>
            </a:extLst>
          </p:cNvPr>
          <p:cNvSpPr txBox="1">
            <a:spLocks/>
          </p:cNvSpPr>
          <p:nvPr/>
        </p:nvSpPr>
        <p:spPr>
          <a:xfrm>
            <a:off x="17952886" y="2414664"/>
            <a:ext cx="5216644"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App Type</a:t>
            </a:r>
            <a:endParaRPr lang="en-AE" sz="3800">
              <a:solidFill>
                <a:schemeClr val="tx2"/>
              </a:solidFill>
            </a:endParaRPr>
          </a:p>
        </p:txBody>
      </p:sp>
      <p:sp>
        <p:nvSpPr>
          <p:cNvPr id="22" name="Text Placeholder 35">
            <a:extLst>
              <a:ext uri="{FF2B5EF4-FFF2-40B4-BE49-F238E27FC236}">
                <a16:creationId xmlns:a16="http://schemas.microsoft.com/office/drawing/2014/main" id="{A5C76D49-B1D0-D1A8-573A-169F1363B6E9}"/>
              </a:ext>
            </a:extLst>
          </p:cNvPr>
          <p:cNvSpPr txBox="1">
            <a:spLocks/>
          </p:cNvSpPr>
          <p:nvPr/>
        </p:nvSpPr>
        <p:spPr>
          <a:xfrm>
            <a:off x="17876354" y="8280259"/>
            <a:ext cx="5216644" cy="584775"/>
          </a:xfrm>
          <a:prstGeom prst="rect">
            <a:avLst/>
          </a:prstGeom>
        </p:spPr>
        <p:txBody>
          <a:bodyPr vert="horz" lIns="0" tIns="0" rIns="0" bIns="0" rtlCol="0">
            <a:spAutoFit/>
          </a:bodyPr>
          <a:lstStyle>
            <a:lvl1pPr marL="0" marR="0" indent="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None/>
              <a:tabLst/>
              <a:defRPr lang="en-US" sz="1900" kern="1200">
                <a:ln w="3175">
                  <a:noFill/>
                </a:ln>
                <a:solidFill>
                  <a:schemeClr val="tx2"/>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defTabSz="1828800">
              <a:spcAft>
                <a:spcPts val="1400"/>
              </a:spcAft>
              <a:defRPr/>
            </a:pPr>
            <a:r>
              <a:rPr lang="en-GB" sz="3800">
                <a:ln>
                  <a:noFill/>
                </a:ln>
              </a:rPr>
              <a:t>Criticality</a:t>
            </a:r>
            <a:endParaRPr lang="en-AE" sz="3800">
              <a:ln>
                <a:noFill/>
              </a:ln>
            </a:endParaRPr>
          </a:p>
        </p:txBody>
      </p:sp>
      <p:graphicFrame>
        <p:nvGraphicFramePr>
          <p:cNvPr id="23" name="Chart 22">
            <a:extLst>
              <a:ext uri="{FF2B5EF4-FFF2-40B4-BE49-F238E27FC236}">
                <a16:creationId xmlns:a16="http://schemas.microsoft.com/office/drawing/2014/main" id="{402F4949-F506-5A02-525A-E0F199EC338E}"/>
              </a:ext>
            </a:extLst>
          </p:cNvPr>
          <p:cNvGraphicFramePr>
            <a:graphicFrameLocks noChangeAspect="1"/>
          </p:cNvGraphicFramePr>
          <p:nvPr/>
        </p:nvGraphicFramePr>
        <p:xfrm>
          <a:off x="17855365" y="8690270"/>
          <a:ext cx="5314166" cy="504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 name="Chart 1">
            <a:extLst>
              <a:ext uri="{FF2B5EF4-FFF2-40B4-BE49-F238E27FC236}">
                <a16:creationId xmlns:a16="http://schemas.microsoft.com/office/drawing/2014/main" id="{875A4C82-106C-2AD5-317E-6E74FD248724}"/>
              </a:ext>
            </a:extLst>
          </p:cNvPr>
          <p:cNvGraphicFramePr>
            <a:graphicFrameLocks noChangeAspect="1"/>
          </p:cNvGraphicFramePr>
          <p:nvPr/>
        </p:nvGraphicFramePr>
        <p:xfrm>
          <a:off x="8903010" y="8690270"/>
          <a:ext cx="5290692" cy="50400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 5">
            <a:extLst>
              <a:ext uri="{FF2B5EF4-FFF2-40B4-BE49-F238E27FC236}">
                <a16:creationId xmlns:a16="http://schemas.microsoft.com/office/drawing/2014/main" id="{430614D1-18F8-C8FB-9364-433779FF4FB7}"/>
              </a:ext>
            </a:extLst>
          </p:cNvPr>
          <p:cNvGraphicFramePr>
            <a:graphicFrameLocks noChangeAspect="1"/>
          </p:cNvGraphicFramePr>
          <p:nvPr/>
        </p:nvGraphicFramePr>
        <p:xfrm>
          <a:off x="8903010" y="3274536"/>
          <a:ext cx="5290692" cy="5040000"/>
        </p:xfrm>
        <a:graphic>
          <a:graphicData uri="http://schemas.openxmlformats.org/drawingml/2006/chart">
            <c:chart xmlns:c="http://schemas.openxmlformats.org/drawingml/2006/chart" xmlns:r="http://schemas.openxmlformats.org/officeDocument/2006/relationships" r:id="rId5"/>
          </a:graphicData>
        </a:graphic>
      </p:graphicFrame>
      <p:sp>
        <p:nvSpPr>
          <p:cNvPr id="7" name="Text Placeholder 35">
            <a:extLst>
              <a:ext uri="{FF2B5EF4-FFF2-40B4-BE49-F238E27FC236}">
                <a16:creationId xmlns:a16="http://schemas.microsoft.com/office/drawing/2014/main" id="{F6F35EC2-29AF-A1EC-3543-32F580072A23}"/>
              </a:ext>
            </a:extLst>
          </p:cNvPr>
          <p:cNvSpPr txBox="1">
            <a:spLocks/>
          </p:cNvSpPr>
          <p:nvPr/>
        </p:nvSpPr>
        <p:spPr>
          <a:xfrm>
            <a:off x="8895972" y="2414664"/>
            <a:ext cx="5216644"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Data Source</a:t>
            </a:r>
            <a:endParaRPr lang="en-AE" sz="3800">
              <a:solidFill>
                <a:schemeClr val="tx2"/>
              </a:solidFill>
            </a:endParaRPr>
          </a:p>
        </p:txBody>
      </p:sp>
    </p:spTree>
    <p:extLst>
      <p:ext uri="{BB962C8B-B14F-4D97-AF65-F5344CB8AC3E}">
        <p14:creationId xmlns:p14="http://schemas.microsoft.com/office/powerpoint/2010/main" val="110213137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3D84B1-7BAF-B709-DA2A-61E76F602935}"/>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E78A3442-EBBF-6867-D997-FB0A36234126}"/>
              </a:ext>
            </a:extLst>
          </p:cNvPr>
          <p:cNvSpPr>
            <a:spLocks noGrp="1"/>
          </p:cNvSpPr>
          <p:nvPr>
            <p:ph type="body" sz="quarter" idx="16"/>
          </p:nvPr>
        </p:nvSpPr>
        <p:spPr>
          <a:xfrm>
            <a:off x="13014959" y="3700966"/>
            <a:ext cx="10200642" cy="4485136"/>
          </a:xfrm>
        </p:spPr>
        <p:txBody>
          <a:bodyPr/>
          <a:lstStyle/>
          <a:p>
            <a:r>
              <a:rPr lang="en-US"/>
              <a:t>CRA Infrastructure Insights</a:t>
            </a:r>
            <a:endParaRPr lang="en-US" sz="4800"/>
          </a:p>
        </p:txBody>
      </p:sp>
    </p:spTree>
    <p:extLst>
      <p:ext uri="{BB962C8B-B14F-4D97-AF65-F5344CB8AC3E}">
        <p14:creationId xmlns:p14="http://schemas.microsoft.com/office/powerpoint/2010/main" val="106668669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8592EE-3387-246E-9BB6-01E8B321CC5E}"/>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069C09A0-5D2D-C5E3-C044-B14EFFCD11E2}"/>
              </a:ext>
            </a:extLst>
          </p:cNvPr>
          <p:cNvSpPr>
            <a:spLocks noGrp="1"/>
          </p:cNvSpPr>
          <p:nvPr>
            <p:ph type="title"/>
          </p:nvPr>
        </p:nvSpPr>
        <p:spPr/>
        <p:txBody>
          <a:bodyPr/>
          <a:lstStyle/>
          <a:p>
            <a:r>
              <a:rPr lang="en-GB"/>
              <a:t>Datacentre Infrastructure Insights (excluding </a:t>
            </a:r>
            <a:r>
              <a:rPr lang="en-GB" err="1"/>
              <a:t>GoSupply</a:t>
            </a:r>
            <a:r>
              <a:rPr lang="en-GB"/>
              <a:t>)</a:t>
            </a:r>
            <a:endParaRPr lang="en-AE"/>
          </a:p>
        </p:txBody>
      </p:sp>
      <p:sp>
        <p:nvSpPr>
          <p:cNvPr id="4" name="Slide Number Placeholder 3">
            <a:extLst>
              <a:ext uri="{FF2B5EF4-FFF2-40B4-BE49-F238E27FC236}">
                <a16:creationId xmlns:a16="http://schemas.microsoft.com/office/drawing/2014/main" id="{9373F26A-594B-4095-FB7F-4D8152522CF9}"/>
              </a:ext>
            </a:extLst>
          </p:cNvPr>
          <p:cNvSpPr>
            <a:spLocks noGrp="1"/>
          </p:cNvSpPr>
          <p:nvPr>
            <p:ph type="sldNum" sz="quarter" idx="4"/>
          </p:nvPr>
        </p:nvSpPr>
        <p:spPr/>
        <p:txBody>
          <a:bodyPr/>
          <a:lstStyle/>
          <a:p>
            <a:fld id="{762E77F0-FB5B-4E8E-9BC9-34F14560A017}" type="slidenum">
              <a:rPr lang="en-US" smtClean="0"/>
              <a:pPr/>
              <a:t>36</a:t>
            </a:fld>
            <a:endParaRPr lang="en-US"/>
          </a:p>
        </p:txBody>
      </p:sp>
      <p:sp>
        <p:nvSpPr>
          <p:cNvPr id="17" name="Text Placeholder 5">
            <a:extLst>
              <a:ext uri="{FF2B5EF4-FFF2-40B4-BE49-F238E27FC236}">
                <a16:creationId xmlns:a16="http://schemas.microsoft.com/office/drawing/2014/main" id="{1E050FA0-5C6D-035F-E463-486DAA6CA926}"/>
              </a:ext>
            </a:extLst>
          </p:cNvPr>
          <p:cNvSpPr>
            <a:spLocks noGrp="1"/>
          </p:cNvSpPr>
          <p:nvPr>
            <p:ph type="body" sz="quarter" idx="12"/>
          </p:nvPr>
        </p:nvSpPr>
        <p:spPr>
          <a:xfrm>
            <a:off x="1310484" y="6598437"/>
            <a:ext cx="5208456" cy="4411464"/>
          </a:xfrm>
        </p:spPr>
        <p:txBody>
          <a:bodyPr/>
          <a:lstStyle/>
          <a:p>
            <a:pPr marL="0" indent="0" algn="ctr">
              <a:buNone/>
            </a:pPr>
            <a:r>
              <a:rPr lang="en-GB" sz="12000" b="1"/>
              <a:t>71 TB</a:t>
            </a:r>
          </a:p>
          <a:p>
            <a:pPr marL="0" indent="0" algn="ctr">
              <a:buNone/>
            </a:pPr>
            <a:endParaRPr lang="en-GB" sz="3200"/>
          </a:p>
          <a:p>
            <a:pPr marL="0" indent="0" algn="ctr">
              <a:buNone/>
            </a:pPr>
            <a:endParaRPr lang="en-GB" sz="3200"/>
          </a:p>
          <a:p>
            <a:pPr marL="0" indent="0" algn="ctr">
              <a:buNone/>
            </a:pPr>
            <a:endParaRPr lang="en-GB" sz="2800"/>
          </a:p>
          <a:p>
            <a:pPr marL="0" indent="0" algn="ctr">
              <a:buNone/>
            </a:pPr>
            <a:endParaRPr lang="en-AE" sz="2800"/>
          </a:p>
        </p:txBody>
      </p:sp>
      <p:sp>
        <p:nvSpPr>
          <p:cNvPr id="18" name="Text Placeholder 6">
            <a:extLst>
              <a:ext uri="{FF2B5EF4-FFF2-40B4-BE49-F238E27FC236}">
                <a16:creationId xmlns:a16="http://schemas.microsoft.com/office/drawing/2014/main" id="{177FCEA9-74F9-2E30-DDB0-561C2163C0F4}"/>
              </a:ext>
            </a:extLst>
          </p:cNvPr>
          <p:cNvSpPr txBox="1">
            <a:spLocks/>
          </p:cNvSpPr>
          <p:nvPr/>
        </p:nvSpPr>
        <p:spPr>
          <a:xfrm>
            <a:off x="1310485" y="5877844"/>
            <a:ext cx="5216526"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Storage Usage</a:t>
            </a:r>
            <a:endParaRPr lang="en-AE" sz="3800">
              <a:solidFill>
                <a:schemeClr val="tx2"/>
              </a:solidFill>
            </a:endParaRPr>
          </a:p>
        </p:txBody>
      </p:sp>
      <p:sp>
        <p:nvSpPr>
          <p:cNvPr id="20" name="Text Placeholder 35">
            <a:extLst>
              <a:ext uri="{FF2B5EF4-FFF2-40B4-BE49-F238E27FC236}">
                <a16:creationId xmlns:a16="http://schemas.microsoft.com/office/drawing/2014/main" id="{81BB3228-1E92-FC83-2EC3-AAA61F3B349D}"/>
              </a:ext>
            </a:extLst>
          </p:cNvPr>
          <p:cNvSpPr txBox="1">
            <a:spLocks/>
          </p:cNvSpPr>
          <p:nvPr/>
        </p:nvSpPr>
        <p:spPr>
          <a:xfrm>
            <a:off x="15994776" y="5030419"/>
            <a:ext cx="5698544" cy="531614"/>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600">
                <a:solidFill>
                  <a:schemeClr val="tx2"/>
                </a:solidFill>
              </a:rPr>
              <a:t>Virtual Server Utilization</a:t>
            </a:r>
            <a:endParaRPr lang="en-AE" sz="3600">
              <a:solidFill>
                <a:schemeClr val="tx2"/>
              </a:solidFill>
            </a:endParaRPr>
          </a:p>
        </p:txBody>
      </p:sp>
      <p:sp>
        <p:nvSpPr>
          <p:cNvPr id="2" name="Text Placeholder 5">
            <a:extLst>
              <a:ext uri="{FF2B5EF4-FFF2-40B4-BE49-F238E27FC236}">
                <a16:creationId xmlns:a16="http://schemas.microsoft.com/office/drawing/2014/main" id="{3E8EA94B-2659-2656-9F15-9C4A12CF7783}"/>
              </a:ext>
            </a:extLst>
          </p:cNvPr>
          <p:cNvSpPr txBox="1">
            <a:spLocks/>
          </p:cNvSpPr>
          <p:nvPr/>
        </p:nvSpPr>
        <p:spPr>
          <a:xfrm>
            <a:off x="1442636" y="3685757"/>
            <a:ext cx="5208456" cy="1846659"/>
          </a:xfrm>
          <a:prstGeom prst="rect">
            <a:avLst/>
          </a:prstGeom>
        </p:spPr>
        <p:txBody>
          <a:bodyPr vert="horz"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12000" b="1"/>
              <a:t>113 TB</a:t>
            </a:r>
            <a:endParaRPr lang="en-AE" sz="2800"/>
          </a:p>
        </p:txBody>
      </p:sp>
      <p:sp>
        <p:nvSpPr>
          <p:cNvPr id="3" name="Text Placeholder 6">
            <a:extLst>
              <a:ext uri="{FF2B5EF4-FFF2-40B4-BE49-F238E27FC236}">
                <a16:creationId xmlns:a16="http://schemas.microsoft.com/office/drawing/2014/main" id="{D751CE7D-5FDF-D863-CBFE-464957B20BCB}"/>
              </a:ext>
            </a:extLst>
          </p:cNvPr>
          <p:cNvSpPr txBox="1">
            <a:spLocks/>
          </p:cNvSpPr>
          <p:nvPr/>
        </p:nvSpPr>
        <p:spPr>
          <a:xfrm>
            <a:off x="1442637" y="3047941"/>
            <a:ext cx="5216526" cy="804170"/>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Allocated Storage</a:t>
            </a:r>
            <a:endParaRPr lang="en-AE" sz="3800">
              <a:solidFill>
                <a:schemeClr val="tx2"/>
              </a:solidFill>
            </a:endParaRPr>
          </a:p>
        </p:txBody>
      </p:sp>
      <p:sp>
        <p:nvSpPr>
          <p:cNvPr id="6" name="Text Placeholder 5">
            <a:extLst>
              <a:ext uri="{FF2B5EF4-FFF2-40B4-BE49-F238E27FC236}">
                <a16:creationId xmlns:a16="http://schemas.microsoft.com/office/drawing/2014/main" id="{D1DD4D53-4C33-23FA-F7FD-CEC57BDE051A}"/>
              </a:ext>
            </a:extLst>
          </p:cNvPr>
          <p:cNvSpPr txBox="1">
            <a:spLocks/>
          </p:cNvSpPr>
          <p:nvPr/>
        </p:nvSpPr>
        <p:spPr>
          <a:xfrm>
            <a:off x="1385040" y="8962364"/>
            <a:ext cx="5208456" cy="5406608"/>
          </a:xfrm>
          <a:prstGeom prst="rect">
            <a:avLst/>
          </a:prstGeom>
        </p:spPr>
        <p:txBody>
          <a:bodyPr vert="horz"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12000" b="1"/>
              <a:t>42 TB</a:t>
            </a:r>
            <a:br>
              <a:rPr lang="en-GB" sz="12000" b="1"/>
            </a:br>
            <a:r>
              <a:rPr lang="en-GB" sz="2800"/>
              <a:t>20 TB over provisioning. Industry standard is additional 20-30% of used storage</a:t>
            </a:r>
            <a:r>
              <a:rPr lang="en-GB" sz="3200"/>
              <a:t>.</a:t>
            </a:r>
          </a:p>
          <a:p>
            <a:pPr marL="0" indent="0" algn="ctr">
              <a:buNone/>
            </a:pPr>
            <a:endParaRPr lang="en-GB" sz="3200"/>
          </a:p>
          <a:p>
            <a:pPr marL="0" indent="0" algn="ctr">
              <a:buNone/>
            </a:pPr>
            <a:endParaRPr lang="en-GB" sz="3200"/>
          </a:p>
          <a:p>
            <a:pPr marL="0" indent="0" algn="ctr">
              <a:buNone/>
            </a:pPr>
            <a:endParaRPr lang="en-GB" sz="2800"/>
          </a:p>
          <a:p>
            <a:pPr marL="0" indent="0" algn="ctr">
              <a:buNone/>
            </a:pPr>
            <a:endParaRPr lang="en-AE" sz="2800"/>
          </a:p>
        </p:txBody>
      </p:sp>
      <p:sp>
        <p:nvSpPr>
          <p:cNvPr id="7" name="Text Placeholder 6">
            <a:extLst>
              <a:ext uri="{FF2B5EF4-FFF2-40B4-BE49-F238E27FC236}">
                <a16:creationId xmlns:a16="http://schemas.microsoft.com/office/drawing/2014/main" id="{5AEAD6AA-69E3-61AF-F52F-925E3EFC2BE2}"/>
              </a:ext>
            </a:extLst>
          </p:cNvPr>
          <p:cNvSpPr txBox="1">
            <a:spLocks/>
          </p:cNvSpPr>
          <p:nvPr/>
        </p:nvSpPr>
        <p:spPr>
          <a:xfrm>
            <a:off x="1204543" y="8222820"/>
            <a:ext cx="5216526" cy="773224"/>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Unused Storage</a:t>
            </a:r>
            <a:endParaRPr lang="en-AE" sz="3800">
              <a:solidFill>
                <a:schemeClr val="tx2"/>
              </a:solidFill>
            </a:endParaRPr>
          </a:p>
        </p:txBody>
      </p:sp>
      <p:sp>
        <p:nvSpPr>
          <p:cNvPr id="12" name="Text Placeholder 5">
            <a:extLst>
              <a:ext uri="{FF2B5EF4-FFF2-40B4-BE49-F238E27FC236}">
                <a16:creationId xmlns:a16="http://schemas.microsoft.com/office/drawing/2014/main" id="{EF7D77F6-5C31-7EE2-C18E-D32876B439DE}"/>
              </a:ext>
            </a:extLst>
          </p:cNvPr>
          <p:cNvSpPr txBox="1">
            <a:spLocks/>
          </p:cNvSpPr>
          <p:nvPr/>
        </p:nvSpPr>
        <p:spPr>
          <a:xfrm>
            <a:off x="8527023" y="3860867"/>
            <a:ext cx="5467742" cy="2339102"/>
          </a:xfrm>
          <a:prstGeom prst="rect">
            <a:avLst/>
          </a:prstGeom>
        </p:spPr>
        <p:txBody>
          <a:bodyPr vert="horz" wrap="square"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12000" b="1"/>
              <a:t>86%</a:t>
            </a:r>
            <a:br>
              <a:rPr lang="en-GB" sz="12000" b="1"/>
            </a:br>
            <a:endParaRPr lang="en-US" sz="3200"/>
          </a:p>
        </p:txBody>
      </p:sp>
      <p:sp>
        <p:nvSpPr>
          <p:cNvPr id="13" name="Text Placeholder 6">
            <a:extLst>
              <a:ext uri="{FF2B5EF4-FFF2-40B4-BE49-F238E27FC236}">
                <a16:creationId xmlns:a16="http://schemas.microsoft.com/office/drawing/2014/main" id="{200F33C9-2794-D69E-3BD1-DDE3AE131FCF}"/>
              </a:ext>
            </a:extLst>
          </p:cNvPr>
          <p:cNvSpPr txBox="1">
            <a:spLocks/>
          </p:cNvSpPr>
          <p:nvPr/>
        </p:nvSpPr>
        <p:spPr>
          <a:xfrm>
            <a:off x="8335255" y="3100980"/>
            <a:ext cx="6276094"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Peak Avg. CPU Utilization</a:t>
            </a:r>
            <a:endParaRPr lang="en-AE" sz="3800">
              <a:solidFill>
                <a:schemeClr val="tx2"/>
              </a:solidFill>
            </a:endParaRPr>
          </a:p>
        </p:txBody>
      </p:sp>
      <p:sp>
        <p:nvSpPr>
          <p:cNvPr id="14" name="Text Placeholder 5">
            <a:extLst>
              <a:ext uri="{FF2B5EF4-FFF2-40B4-BE49-F238E27FC236}">
                <a16:creationId xmlns:a16="http://schemas.microsoft.com/office/drawing/2014/main" id="{C26D386F-A3C8-10D2-4E8B-BDF33ABED534}"/>
              </a:ext>
            </a:extLst>
          </p:cNvPr>
          <p:cNvSpPr txBox="1">
            <a:spLocks/>
          </p:cNvSpPr>
          <p:nvPr/>
        </p:nvSpPr>
        <p:spPr>
          <a:xfrm>
            <a:off x="8656666" y="6750027"/>
            <a:ext cx="5208456" cy="2339102"/>
          </a:xfrm>
          <a:prstGeom prst="rect">
            <a:avLst/>
          </a:prstGeom>
        </p:spPr>
        <p:txBody>
          <a:bodyPr vert="horz" lIns="0" tIns="0" rIns="0" bIns="0" rtlCol="0">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12000" b="1"/>
              <a:t>69%</a:t>
            </a:r>
            <a:br>
              <a:rPr lang="en-GB" sz="12000" b="1"/>
            </a:br>
            <a:endParaRPr lang="en-GB" sz="3200" b="1"/>
          </a:p>
        </p:txBody>
      </p:sp>
      <p:sp>
        <p:nvSpPr>
          <p:cNvPr id="15" name="Text Placeholder 6">
            <a:extLst>
              <a:ext uri="{FF2B5EF4-FFF2-40B4-BE49-F238E27FC236}">
                <a16:creationId xmlns:a16="http://schemas.microsoft.com/office/drawing/2014/main" id="{C4D634F4-865F-DEEC-68C9-4A66A9BF3EC2}"/>
              </a:ext>
            </a:extLst>
          </p:cNvPr>
          <p:cNvSpPr txBox="1">
            <a:spLocks/>
          </p:cNvSpPr>
          <p:nvPr/>
        </p:nvSpPr>
        <p:spPr>
          <a:xfrm>
            <a:off x="8265919" y="6032132"/>
            <a:ext cx="6276094" cy="584776"/>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3800">
                <a:solidFill>
                  <a:schemeClr val="tx2"/>
                </a:solidFill>
              </a:rPr>
              <a:t>Peak Avg. RAM Utilization</a:t>
            </a:r>
            <a:endParaRPr lang="en-AE" sz="3800">
              <a:solidFill>
                <a:schemeClr val="tx2"/>
              </a:solidFill>
            </a:endParaRPr>
          </a:p>
        </p:txBody>
      </p:sp>
      <p:graphicFrame>
        <p:nvGraphicFramePr>
          <p:cNvPr id="28" name="Chart 27">
            <a:extLst>
              <a:ext uri="{FF2B5EF4-FFF2-40B4-BE49-F238E27FC236}">
                <a16:creationId xmlns:a16="http://schemas.microsoft.com/office/drawing/2014/main" id="{842667D4-8AAE-C87C-B2D6-CE7E426016BA}"/>
              </a:ext>
            </a:extLst>
          </p:cNvPr>
          <p:cNvGraphicFramePr>
            <a:graphicFrameLocks noChangeAspect="1"/>
          </p:cNvGraphicFramePr>
          <p:nvPr/>
        </p:nvGraphicFramePr>
        <p:xfrm>
          <a:off x="16198594" y="5562032"/>
          <a:ext cx="5290692" cy="5040000"/>
        </p:xfrm>
        <a:graphic>
          <a:graphicData uri="http://schemas.openxmlformats.org/drawingml/2006/chart">
            <c:chart xmlns:c="http://schemas.openxmlformats.org/drawingml/2006/chart" xmlns:r="http://schemas.openxmlformats.org/officeDocument/2006/relationships" r:id="rId2"/>
          </a:graphicData>
        </a:graphic>
      </p:graphicFrame>
      <p:sp>
        <p:nvSpPr>
          <p:cNvPr id="26" name="Text Placeholder 5">
            <a:extLst>
              <a:ext uri="{FF2B5EF4-FFF2-40B4-BE49-F238E27FC236}">
                <a16:creationId xmlns:a16="http://schemas.microsoft.com/office/drawing/2014/main" id="{3F37565A-49F0-3011-BC66-01BCEFA1E18B}"/>
              </a:ext>
            </a:extLst>
          </p:cNvPr>
          <p:cNvSpPr txBox="1">
            <a:spLocks/>
          </p:cNvSpPr>
          <p:nvPr/>
        </p:nvSpPr>
        <p:spPr>
          <a:xfrm>
            <a:off x="17800598" y="6651210"/>
            <a:ext cx="1990820" cy="968080"/>
          </a:xfrm>
          <a:prstGeom prst="rect">
            <a:avLst/>
          </a:prstGeom>
        </p:spPr>
        <p:txBody>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3600" b="1"/>
              <a:t>156</a:t>
            </a:r>
          </a:p>
        </p:txBody>
      </p:sp>
      <p:sp>
        <p:nvSpPr>
          <p:cNvPr id="16" name="TextBox 1">
            <a:extLst>
              <a:ext uri="{FF2B5EF4-FFF2-40B4-BE49-F238E27FC236}">
                <a16:creationId xmlns:a16="http://schemas.microsoft.com/office/drawing/2014/main" id="{BA305DE9-9B66-42C7-7935-14DD8A4BB2EC}"/>
              </a:ext>
            </a:extLst>
          </p:cNvPr>
          <p:cNvSpPr txBox="1"/>
          <p:nvPr/>
        </p:nvSpPr>
        <p:spPr>
          <a:xfrm>
            <a:off x="15171307" y="9167987"/>
            <a:ext cx="10072230" cy="181588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a:r>
              <a:rPr lang="en-IN" sz="2800"/>
              <a:t>As per industry standard: </a:t>
            </a:r>
          </a:p>
          <a:p>
            <a:pPr marL="571500" indent="-571500">
              <a:buFont typeface="Arial" panose="020B0604020202020204" pitchFamily="34" charset="0"/>
              <a:buChar char="•"/>
            </a:pPr>
            <a:r>
              <a:rPr lang="en-IN" sz="2800"/>
              <a:t>Optimal: CPU or Memory usage &lt; 21% and &gt; 70%</a:t>
            </a:r>
          </a:p>
          <a:p>
            <a:pPr marL="571500" indent="-571500">
              <a:buFont typeface="Arial" panose="020B0604020202020204" pitchFamily="34" charset="0"/>
              <a:buChar char="•"/>
            </a:pPr>
            <a:r>
              <a:rPr lang="en-IN" sz="2800"/>
              <a:t>Over: CPU or Memory usage &lt;70%</a:t>
            </a:r>
          </a:p>
          <a:p>
            <a:pPr marL="571500" indent="-571500">
              <a:buFont typeface="Arial" panose="020B0604020202020204" pitchFamily="34" charset="0"/>
              <a:buChar char="•"/>
            </a:pPr>
            <a:r>
              <a:rPr lang="en-IN" sz="2800"/>
              <a:t>Idle: CPU or Memory usage &lt; 20%  </a:t>
            </a:r>
          </a:p>
        </p:txBody>
      </p:sp>
    </p:spTree>
    <p:extLst>
      <p:ext uri="{BB962C8B-B14F-4D97-AF65-F5344CB8AC3E}">
        <p14:creationId xmlns:p14="http://schemas.microsoft.com/office/powerpoint/2010/main" val="210829771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70285-F5DC-FEAB-DF6B-64819F68C128}"/>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CDC023D5-03EE-AF71-8327-B4F2B22FF6E0}"/>
              </a:ext>
            </a:extLst>
          </p:cNvPr>
          <p:cNvSpPr>
            <a:spLocks noGrp="1"/>
          </p:cNvSpPr>
          <p:nvPr>
            <p:ph type="title"/>
          </p:nvPr>
        </p:nvSpPr>
        <p:spPr/>
        <p:txBody>
          <a:bodyPr/>
          <a:lstStyle/>
          <a:p>
            <a:r>
              <a:rPr lang="en-GB"/>
              <a:t>AWS Infrastructure Insights</a:t>
            </a:r>
            <a:endParaRPr lang="en-AE"/>
          </a:p>
        </p:txBody>
      </p:sp>
      <p:sp>
        <p:nvSpPr>
          <p:cNvPr id="4" name="Slide Number Placeholder 3">
            <a:extLst>
              <a:ext uri="{FF2B5EF4-FFF2-40B4-BE49-F238E27FC236}">
                <a16:creationId xmlns:a16="http://schemas.microsoft.com/office/drawing/2014/main" id="{F1F18C90-7528-604C-78AF-0B040FA3CB7B}"/>
              </a:ext>
            </a:extLst>
          </p:cNvPr>
          <p:cNvSpPr>
            <a:spLocks noGrp="1"/>
          </p:cNvSpPr>
          <p:nvPr>
            <p:ph type="sldNum" sz="quarter" idx="4"/>
          </p:nvPr>
        </p:nvSpPr>
        <p:spPr/>
        <p:txBody>
          <a:bodyPr/>
          <a:lstStyle/>
          <a:p>
            <a:fld id="{762E77F0-FB5B-4E8E-9BC9-34F14560A017}" type="slidenum">
              <a:rPr lang="en-US" smtClean="0"/>
              <a:pPr/>
              <a:t>37</a:t>
            </a:fld>
            <a:endParaRPr lang="en-US"/>
          </a:p>
        </p:txBody>
      </p:sp>
      <p:grpSp>
        <p:nvGrpSpPr>
          <p:cNvPr id="37" name="Group 36">
            <a:extLst>
              <a:ext uri="{FF2B5EF4-FFF2-40B4-BE49-F238E27FC236}">
                <a16:creationId xmlns:a16="http://schemas.microsoft.com/office/drawing/2014/main" id="{D6725950-0033-1DD0-8B42-59B6C476F0A1}"/>
              </a:ext>
            </a:extLst>
          </p:cNvPr>
          <p:cNvGrpSpPr/>
          <p:nvPr/>
        </p:nvGrpSpPr>
        <p:grpSpPr>
          <a:xfrm>
            <a:off x="1341386" y="5783903"/>
            <a:ext cx="1973776" cy="2760408"/>
            <a:chOff x="1433228" y="2314096"/>
            <a:chExt cx="986888" cy="1380204"/>
          </a:xfrm>
        </p:grpSpPr>
        <p:pic>
          <p:nvPicPr>
            <p:cNvPr id="24" name="Picture 23">
              <a:extLst>
                <a:ext uri="{FF2B5EF4-FFF2-40B4-BE49-F238E27FC236}">
                  <a16:creationId xmlns:a16="http://schemas.microsoft.com/office/drawing/2014/main" id="{E16AA0D7-6381-243A-A3E5-C974991824F4}"/>
                </a:ext>
              </a:extLst>
            </p:cNvPr>
            <p:cNvPicPr>
              <a:picLocks noChangeAspect="1"/>
            </p:cNvPicPr>
            <p:nvPr/>
          </p:nvPicPr>
          <p:blipFill>
            <a:blip r:embed="rId3"/>
            <a:stretch>
              <a:fillRect/>
            </a:stretch>
          </p:blipFill>
          <p:spPr>
            <a:xfrm>
              <a:off x="1433228" y="2314096"/>
              <a:ext cx="986888" cy="986888"/>
            </a:xfrm>
            <a:prstGeom prst="rect">
              <a:avLst/>
            </a:prstGeom>
          </p:spPr>
        </p:pic>
        <p:sp>
          <p:nvSpPr>
            <p:cNvPr id="31" name="TextBox 30">
              <a:extLst>
                <a:ext uri="{FF2B5EF4-FFF2-40B4-BE49-F238E27FC236}">
                  <a16:creationId xmlns:a16="http://schemas.microsoft.com/office/drawing/2014/main" id="{EE8CB605-877E-C479-3BA4-372ED610BE71}"/>
                </a:ext>
              </a:extLst>
            </p:cNvPr>
            <p:cNvSpPr txBox="1"/>
            <p:nvPr/>
          </p:nvSpPr>
          <p:spPr>
            <a:xfrm>
              <a:off x="1693275" y="3371134"/>
              <a:ext cx="374462" cy="323166"/>
            </a:xfrm>
            <a:prstGeom prst="rect">
              <a:avLst/>
            </a:prstGeom>
            <a:noFill/>
          </p:spPr>
          <p:txBody>
            <a:bodyPr wrap="none" rtlCol="0">
              <a:spAutoFit/>
            </a:bodyPr>
            <a:lstStyle/>
            <a:p>
              <a:pPr algn="l"/>
              <a:r>
                <a:rPr lang="en-US" sz="3600"/>
                <a:t>S3</a:t>
              </a:r>
              <a:endParaRPr lang="en-IN" sz="3600" err="1"/>
            </a:p>
          </p:txBody>
        </p:sp>
      </p:grpSp>
      <p:grpSp>
        <p:nvGrpSpPr>
          <p:cNvPr id="38" name="Group 37">
            <a:extLst>
              <a:ext uri="{FF2B5EF4-FFF2-40B4-BE49-F238E27FC236}">
                <a16:creationId xmlns:a16="http://schemas.microsoft.com/office/drawing/2014/main" id="{DC3533B1-178D-D348-39B4-6A343F3DF9AF}"/>
              </a:ext>
            </a:extLst>
          </p:cNvPr>
          <p:cNvGrpSpPr/>
          <p:nvPr/>
        </p:nvGrpSpPr>
        <p:grpSpPr>
          <a:xfrm>
            <a:off x="1096252" y="2631981"/>
            <a:ext cx="2330510" cy="2760408"/>
            <a:chOff x="3052426" y="2314096"/>
            <a:chExt cx="1165255" cy="1380204"/>
          </a:xfrm>
        </p:grpSpPr>
        <p:pic>
          <p:nvPicPr>
            <p:cNvPr id="30" name="Picture 29">
              <a:extLst>
                <a:ext uri="{FF2B5EF4-FFF2-40B4-BE49-F238E27FC236}">
                  <a16:creationId xmlns:a16="http://schemas.microsoft.com/office/drawing/2014/main" id="{4892ED0D-828E-62C1-800C-8F4ED9A70311}"/>
                </a:ext>
              </a:extLst>
            </p:cNvPr>
            <p:cNvPicPr>
              <a:picLocks noChangeAspect="1"/>
            </p:cNvPicPr>
            <p:nvPr/>
          </p:nvPicPr>
          <p:blipFill>
            <a:blip r:embed="rId4"/>
            <a:stretch>
              <a:fillRect/>
            </a:stretch>
          </p:blipFill>
          <p:spPr>
            <a:xfrm>
              <a:off x="3187776" y="2314096"/>
              <a:ext cx="986889" cy="986889"/>
            </a:xfrm>
            <a:prstGeom prst="rect">
              <a:avLst/>
            </a:prstGeom>
          </p:spPr>
        </p:pic>
        <p:sp>
          <p:nvSpPr>
            <p:cNvPr id="32" name="TextBox 31">
              <a:extLst>
                <a:ext uri="{FF2B5EF4-FFF2-40B4-BE49-F238E27FC236}">
                  <a16:creationId xmlns:a16="http://schemas.microsoft.com/office/drawing/2014/main" id="{FDFDA7C5-1669-3789-DE7B-61500E11CAF9}"/>
                </a:ext>
              </a:extLst>
            </p:cNvPr>
            <p:cNvSpPr txBox="1"/>
            <p:nvPr/>
          </p:nvSpPr>
          <p:spPr>
            <a:xfrm>
              <a:off x="3052426" y="3371134"/>
              <a:ext cx="1165255" cy="323166"/>
            </a:xfrm>
            <a:prstGeom prst="rect">
              <a:avLst/>
            </a:prstGeom>
            <a:noFill/>
          </p:spPr>
          <p:txBody>
            <a:bodyPr wrap="none" rtlCol="0">
              <a:spAutoFit/>
            </a:bodyPr>
            <a:lstStyle/>
            <a:p>
              <a:pPr algn="l"/>
              <a:r>
                <a:rPr lang="en-US" sz="3600"/>
                <a:t>ATF SFTP</a:t>
              </a:r>
              <a:endParaRPr lang="en-IN" sz="3600" err="1"/>
            </a:p>
          </p:txBody>
        </p:sp>
      </p:grpSp>
      <p:grpSp>
        <p:nvGrpSpPr>
          <p:cNvPr id="39" name="Group 38">
            <a:extLst>
              <a:ext uri="{FF2B5EF4-FFF2-40B4-BE49-F238E27FC236}">
                <a16:creationId xmlns:a16="http://schemas.microsoft.com/office/drawing/2014/main" id="{7B373337-F5C9-F663-0227-025D04217EB7}"/>
              </a:ext>
            </a:extLst>
          </p:cNvPr>
          <p:cNvGrpSpPr/>
          <p:nvPr/>
        </p:nvGrpSpPr>
        <p:grpSpPr>
          <a:xfrm>
            <a:off x="1178045" y="8935815"/>
            <a:ext cx="2162684" cy="2620108"/>
            <a:chOff x="2267945" y="3771515"/>
            <a:chExt cx="1081342" cy="1310054"/>
          </a:xfrm>
        </p:grpSpPr>
        <p:pic>
          <p:nvPicPr>
            <p:cNvPr id="35" name="Picture 34">
              <a:extLst>
                <a:ext uri="{FF2B5EF4-FFF2-40B4-BE49-F238E27FC236}">
                  <a16:creationId xmlns:a16="http://schemas.microsoft.com/office/drawing/2014/main" id="{7E64DF17-8230-2492-E1A7-2345AA7EB856}"/>
                </a:ext>
              </a:extLst>
            </p:cNvPr>
            <p:cNvPicPr>
              <a:picLocks noChangeAspect="1"/>
            </p:cNvPicPr>
            <p:nvPr/>
          </p:nvPicPr>
          <p:blipFill>
            <a:blip r:embed="rId5"/>
            <a:stretch>
              <a:fillRect/>
            </a:stretch>
          </p:blipFill>
          <p:spPr>
            <a:xfrm>
              <a:off x="2362399" y="3771515"/>
              <a:ext cx="986888" cy="986888"/>
            </a:xfrm>
            <a:prstGeom prst="rect">
              <a:avLst/>
            </a:prstGeom>
          </p:spPr>
        </p:pic>
        <p:sp>
          <p:nvSpPr>
            <p:cNvPr id="36" name="TextBox 35">
              <a:extLst>
                <a:ext uri="{FF2B5EF4-FFF2-40B4-BE49-F238E27FC236}">
                  <a16:creationId xmlns:a16="http://schemas.microsoft.com/office/drawing/2014/main" id="{57DF460A-FE9B-010B-37D5-0338C4E9958C}"/>
                </a:ext>
              </a:extLst>
            </p:cNvPr>
            <p:cNvSpPr txBox="1"/>
            <p:nvPr/>
          </p:nvSpPr>
          <p:spPr>
            <a:xfrm>
              <a:off x="2267945" y="4758403"/>
              <a:ext cx="1028487" cy="323166"/>
            </a:xfrm>
            <a:prstGeom prst="rect">
              <a:avLst/>
            </a:prstGeom>
            <a:noFill/>
          </p:spPr>
          <p:txBody>
            <a:bodyPr wrap="none" rtlCol="0">
              <a:spAutoFit/>
            </a:bodyPr>
            <a:lstStyle/>
            <a:p>
              <a:pPr algn="l"/>
              <a:r>
                <a:rPr lang="en-US" sz="3600"/>
                <a:t>Route 53</a:t>
              </a:r>
              <a:endParaRPr lang="en-IN" sz="3600" err="1"/>
            </a:p>
          </p:txBody>
        </p:sp>
      </p:grpSp>
      <p:sp>
        <p:nvSpPr>
          <p:cNvPr id="40" name="TextBox 39">
            <a:extLst>
              <a:ext uri="{FF2B5EF4-FFF2-40B4-BE49-F238E27FC236}">
                <a16:creationId xmlns:a16="http://schemas.microsoft.com/office/drawing/2014/main" id="{6CC307FA-7036-BB3F-5D34-8CF7D316D170}"/>
              </a:ext>
            </a:extLst>
          </p:cNvPr>
          <p:cNvSpPr txBox="1"/>
          <p:nvPr/>
        </p:nvSpPr>
        <p:spPr>
          <a:xfrm>
            <a:off x="3745363" y="2458131"/>
            <a:ext cx="19608414" cy="3416320"/>
          </a:xfrm>
          <a:prstGeom prst="rect">
            <a:avLst/>
          </a:prstGeom>
          <a:noFill/>
        </p:spPr>
        <p:txBody>
          <a:bodyPr wrap="square" rtlCol="0">
            <a:spAutoFit/>
          </a:bodyPr>
          <a:lstStyle/>
          <a:p>
            <a:pPr marL="571500" indent="-571500">
              <a:buClr>
                <a:srgbClr val="FF0000"/>
              </a:buClr>
              <a:buFont typeface="Arial" panose="020B0604020202020204" pitchFamily="34" charset="0"/>
              <a:buChar char="•"/>
            </a:pPr>
            <a:r>
              <a:rPr lang="en-US" sz="3600"/>
              <a:t>AWS Transfer Family service is used for SFTP with backend AWS S3.</a:t>
            </a:r>
          </a:p>
          <a:p>
            <a:pPr marL="571500" indent="-571500">
              <a:buClr>
                <a:srgbClr val="FF0000"/>
              </a:buClr>
              <a:buFont typeface="Arial" panose="020B0604020202020204" pitchFamily="34" charset="0"/>
              <a:buChar char="•"/>
            </a:pPr>
            <a:r>
              <a:rPr lang="en-US" sz="3600"/>
              <a:t>sftp.achilles.com endpoint is used by </a:t>
            </a:r>
            <a:r>
              <a:rPr lang="en-US" sz="3600" err="1"/>
              <a:t>MyAchilles</a:t>
            </a:r>
            <a:r>
              <a:rPr lang="en-US" sz="3600"/>
              <a:t> application to fetch files over the Internet.</a:t>
            </a:r>
          </a:p>
          <a:p>
            <a:pPr marL="571500" indent="-571500">
              <a:buClr>
                <a:srgbClr val="FF0000"/>
              </a:buClr>
              <a:buFont typeface="Arial" panose="020B0604020202020204" pitchFamily="34" charset="0"/>
              <a:buChar char="•"/>
            </a:pPr>
            <a:r>
              <a:rPr lang="en-US" sz="3600"/>
              <a:t>13 SFTP Users with Data Size less than 3GB.</a:t>
            </a:r>
          </a:p>
          <a:p>
            <a:pPr marL="571500" indent="-571500">
              <a:buClr>
                <a:srgbClr val="FF0000"/>
              </a:buClr>
              <a:buFont typeface="Arial" panose="020B0604020202020204" pitchFamily="34" charset="0"/>
              <a:buChar char="•"/>
            </a:pPr>
            <a:r>
              <a:rPr lang="en-US" sz="3600"/>
              <a:t>SSH Keys are used for Authentication by users.</a:t>
            </a:r>
          </a:p>
          <a:p>
            <a:pPr marL="571500" indent="-571500">
              <a:buClr>
                <a:srgbClr val="FF0000"/>
              </a:buClr>
              <a:buFont typeface="Arial" panose="020B0604020202020204" pitchFamily="34" charset="0"/>
              <a:buChar char="•"/>
            </a:pPr>
            <a:r>
              <a:rPr lang="en-US" sz="3600"/>
              <a:t>SSH Keys are not rotated regularly.</a:t>
            </a:r>
          </a:p>
          <a:p>
            <a:pPr algn="l"/>
            <a:r>
              <a:rPr lang="en-US" sz="3600"/>
              <a:t> </a:t>
            </a:r>
            <a:endParaRPr lang="en-IN" sz="3600"/>
          </a:p>
        </p:txBody>
      </p:sp>
      <p:sp>
        <p:nvSpPr>
          <p:cNvPr id="41" name="TextBox 40">
            <a:extLst>
              <a:ext uri="{FF2B5EF4-FFF2-40B4-BE49-F238E27FC236}">
                <a16:creationId xmlns:a16="http://schemas.microsoft.com/office/drawing/2014/main" id="{DFDDB59F-A2D4-234A-37A3-D6D86B5D563E}"/>
              </a:ext>
            </a:extLst>
          </p:cNvPr>
          <p:cNvSpPr txBox="1"/>
          <p:nvPr/>
        </p:nvSpPr>
        <p:spPr>
          <a:xfrm>
            <a:off x="3743175" y="5847460"/>
            <a:ext cx="20640826" cy="1754326"/>
          </a:xfrm>
          <a:prstGeom prst="rect">
            <a:avLst/>
          </a:prstGeom>
          <a:noFill/>
        </p:spPr>
        <p:txBody>
          <a:bodyPr wrap="square" rtlCol="0">
            <a:spAutoFit/>
          </a:bodyPr>
          <a:lstStyle/>
          <a:p>
            <a:pPr marL="571500" indent="-571500">
              <a:buClr>
                <a:srgbClr val="FF0000"/>
              </a:buClr>
              <a:buFont typeface="Arial" panose="020B0604020202020204" pitchFamily="34" charset="0"/>
              <a:buChar char="•"/>
            </a:pPr>
            <a:r>
              <a:rPr lang="en-US" sz="3600"/>
              <a:t>S3 is used a backend storage for sftp.achilles.com ATF endpoint.</a:t>
            </a:r>
          </a:p>
          <a:p>
            <a:pPr marL="571500" indent="-571500">
              <a:buClr>
                <a:srgbClr val="FF0000"/>
              </a:buClr>
              <a:buFont typeface="Arial" panose="020B0604020202020204" pitchFamily="34" charset="0"/>
              <a:buChar char="•"/>
            </a:pPr>
            <a:r>
              <a:rPr lang="en-US" sz="3600"/>
              <a:t>3 x Additional buckets meant for ESPD to store historic data from Confluent Cloud Elasticsearch.</a:t>
            </a:r>
          </a:p>
          <a:p>
            <a:pPr marL="571500" indent="-571500">
              <a:buClr>
                <a:srgbClr val="FF0000"/>
              </a:buClr>
              <a:buFont typeface="Arial" panose="020B0604020202020204" pitchFamily="34" charset="0"/>
              <a:buChar char="•"/>
            </a:pPr>
            <a:r>
              <a:rPr lang="en-US" sz="3600"/>
              <a:t>Some other buckets which are not in use anymore E.g., s3-titan-ses-reports.</a:t>
            </a:r>
            <a:endParaRPr lang="en-IN" sz="3600"/>
          </a:p>
        </p:txBody>
      </p:sp>
      <p:sp>
        <p:nvSpPr>
          <p:cNvPr id="42" name="TextBox 41">
            <a:extLst>
              <a:ext uri="{FF2B5EF4-FFF2-40B4-BE49-F238E27FC236}">
                <a16:creationId xmlns:a16="http://schemas.microsoft.com/office/drawing/2014/main" id="{34E47B3A-F384-0787-77AD-3F7EA03019B3}"/>
              </a:ext>
            </a:extLst>
          </p:cNvPr>
          <p:cNvSpPr txBox="1"/>
          <p:nvPr/>
        </p:nvSpPr>
        <p:spPr>
          <a:xfrm>
            <a:off x="3743172" y="8892830"/>
            <a:ext cx="20640828" cy="2308324"/>
          </a:xfrm>
          <a:prstGeom prst="rect">
            <a:avLst/>
          </a:prstGeom>
          <a:noFill/>
        </p:spPr>
        <p:txBody>
          <a:bodyPr wrap="square" rtlCol="0">
            <a:spAutoFit/>
          </a:bodyPr>
          <a:lstStyle/>
          <a:p>
            <a:pPr marL="571500" indent="-571500">
              <a:buClr>
                <a:srgbClr val="FF0000"/>
              </a:buClr>
              <a:buFont typeface="Arial" panose="020B0604020202020204" pitchFamily="34" charset="0"/>
              <a:buChar char="•"/>
            </a:pPr>
            <a:r>
              <a:rPr lang="en-US" sz="3600"/>
              <a:t>Route53 hosts “achillesedge.com” Public Hosted DNS Zone.</a:t>
            </a:r>
          </a:p>
          <a:p>
            <a:pPr marL="571500" indent="-571500">
              <a:buClr>
                <a:srgbClr val="FF0000"/>
              </a:buClr>
              <a:buFont typeface="Arial" panose="020B0604020202020204" pitchFamily="34" charset="0"/>
              <a:buChar char="•"/>
            </a:pPr>
            <a:r>
              <a:rPr lang="en-US" sz="3600"/>
              <a:t>Route53 is used for Blue/Green/Maintenance deployments of application by changing DNS record weights.</a:t>
            </a:r>
          </a:p>
          <a:p>
            <a:pPr marL="571500" indent="-571500">
              <a:buClr>
                <a:srgbClr val="FF0000"/>
              </a:buClr>
              <a:buFont typeface="Arial" panose="020B0604020202020204" pitchFamily="34" charset="0"/>
              <a:buChar char="•"/>
            </a:pPr>
            <a:r>
              <a:rPr lang="en-US" sz="3600"/>
              <a:t>Route53 DNS record weights are updated using Terraform.</a:t>
            </a:r>
            <a:endParaRPr lang="en-IN" sz="3600"/>
          </a:p>
        </p:txBody>
      </p:sp>
    </p:spTree>
    <p:extLst>
      <p:ext uri="{BB962C8B-B14F-4D97-AF65-F5344CB8AC3E}">
        <p14:creationId xmlns:p14="http://schemas.microsoft.com/office/powerpoint/2010/main" val="260676165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70285-F5DC-FEAB-DF6B-64819F68C128}"/>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CDC023D5-03EE-AF71-8327-B4F2B22FF6E0}"/>
              </a:ext>
            </a:extLst>
          </p:cNvPr>
          <p:cNvSpPr>
            <a:spLocks noGrp="1"/>
          </p:cNvSpPr>
          <p:nvPr>
            <p:ph type="title"/>
          </p:nvPr>
        </p:nvSpPr>
        <p:spPr/>
        <p:txBody>
          <a:bodyPr/>
          <a:lstStyle/>
          <a:p>
            <a:r>
              <a:rPr lang="en-GB"/>
              <a:t>AWS Infrastructure Insights / Recommendations</a:t>
            </a:r>
            <a:endParaRPr lang="en-AE"/>
          </a:p>
        </p:txBody>
      </p:sp>
      <p:sp>
        <p:nvSpPr>
          <p:cNvPr id="4" name="Slide Number Placeholder 3">
            <a:extLst>
              <a:ext uri="{FF2B5EF4-FFF2-40B4-BE49-F238E27FC236}">
                <a16:creationId xmlns:a16="http://schemas.microsoft.com/office/drawing/2014/main" id="{F1F18C90-7528-604C-78AF-0B040FA3CB7B}"/>
              </a:ext>
            </a:extLst>
          </p:cNvPr>
          <p:cNvSpPr>
            <a:spLocks noGrp="1"/>
          </p:cNvSpPr>
          <p:nvPr>
            <p:ph type="sldNum" sz="quarter" idx="4"/>
          </p:nvPr>
        </p:nvSpPr>
        <p:spPr/>
        <p:txBody>
          <a:bodyPr/>
          <a:lstStyle/>
          <a:p>
            <a:fld id="{762E77F0-FB5B-4E8E-9BC9-34F14560A017}" type="slidenum">
              <a:rPr lang="en-US" smtClean="0"/>
              <a:pPr/>
              <a:t>38</a:t>
            </a:fld>
            <a:endParaRPr lang="en-US"/>
          </a:p>
        </p:txBody>
      </p:sp>
      <p:sp>
        <p:nvSpPr>
          <p:cNvPr id="40" name="TextBox 39">
            <a:extLst>
              <a:ext uri="{FF2B5EF4-FFF2-40B4-BE49-F238E27FC236}">
                <a16:creationId xmlns:a16="http://schemas.microsoft.com/office/drawing/2014/main" id="{6CC307FA-7036-BB3F-5D34-8CF7D316D170}"/>
              </a:ext>
            </a:extLst>
          </p:cNvPr>
          <p:cNvSpPr txBox="1"/>
          <p:nvPr/>
        </p:nvSpPr>
        <p:spPr>
          <a:xfrm>
            <a:off x="668993" y="2478342"/>
            <a:ext cx="21733810" cy="4524315"/>
          </a:xfrm>
          <a:prstGeom prst="rect">
            <a:avLst/>
          </a:prstGeom>
          <a:noFill/>
        </p:spPr>
        <p:txBody>
          <a:bodyPr wrap="square" rtlCol="0">
            <a:spAutoFit/>
          </a:bodyPr>
          <a:lstStyle/>
          <a:p>
            <a:pPr marL="571500" indent="-571500">
              <a:buClr>
                <a:srgbClr val="FF0000"/>
              </a:buClr>
              <a:buFont typeface="Arial" panose="020B0604020202020204" pitchFamily="34" charset="0"/>
              <a:buChar char="•"/>
            </a:pPr>
            <a:r>
              <a:rPr lang="en-US" sz="3600"/>
              <a:t>Achilles should rotate the SSH keys on regular intervals at least every 180 days.</a:t>
            </a:r>
          </a:p>
          <a:p>
            <a:pPr marL="571500" indent="-571500">
              <a:buClr>
                <a:srgbClr val="FF0000"/>
              </a:buClr>
              <a:buFont typeface="Arial" panose="020B0604020202020204" pitchFamily="34" charset="0"/>
              <a:buChar char="•"/>
            </a:pPr>
            <a:r>
              <a:rPr lang="en-US" sz="3600"/>
              <a:t>“sftp.achilles.com” can be migrated to Azure Blob storage using SFTP endpoint in Azure.</a:t>
            </a:r>
          </a:p>
          <a:p>
            <a:pPr marL="571500" indent="-571500">
              <a:buClr>
                <a:srgbClr val="FF0000"/>
              </a:buClr>
              <a:buFont typeface="Arial" panose="020B0604020202020204" pitchFamily="34" charset="0"/>
              <a:buChar char="•"/>
            </a:pPr>
            <a:endParaRPr lang="en-US" sz="3600"/>
          </a:p>
          <a:p>
            <a:pPr marL="571500" indent="-571500">
              <a:buClr>
                <a:srgbClr val="FF0000"/>
              </a:buClr>
              <a:buFont typeface="Arial" panose="020B0604020202020204" pitchFamily="34" charset="0"/>
              <a:buChar char="•"/>
            </a:pPr>
            <a:r>
              <a:rPr lang="en-US" sz="3600"/>
              <a:t>If the components need to be migrated to Azure, S3 objects can be migrated to Azure Blob storage.</a:t>
            </a:r>
          </a:p>
          <a:p>
            <a:pPr marL="571500" indent="-571500">
              <a:buClr>
                <a:srgbClr val="FF0000"/>
              </a:buClr>
              <a:buFont typeface="Arial" panose="020B0604020202020204" pitchFamily="34" charset="0"/>
              <a:buChar char="•"/>
            </a:pPr>
            <a:r>
              <a:rPr lang="en-US" sz="3600"/>
              <a:t>Route53 Public Hosted Zone can be migrated to Azure DNS.</a:t>
            </a:r>
          </a:p>
          <a:p>
            <a:pPr marL="571500" indent="-571500">
              <a:buClr>
                <a:srgbClr val="FF0000"/>
              </a:buClr>
              <a:buFont typeface="Arial" panose="020B0604020202020204" pitchFamily="34" charset="0"/>
              <a:buChar char="•"/>
            </a:pPr>
            <a:endParaRPr lang="en-US" sz="3600"/>
          </a:p>
          <a:p>
            <a:pPr marL="571500" indent="-571500">
              <a:buClr>
                <a:srgbClr val="FF0000"/>
              </a:buClr>
              <a:buFont typeface="Arial" panose="020B0604020202020204" pitchFamily="34" charset="0"/>
              <a:buChar char="•"/>
            </a:pPr>
            <a:r>
              <a:rPr lang="en-US" sz="3600"/>
              <a:t>Alternatively, Achilles can adopt “Retain” approach to stay with AWS.</a:t>
            </a:r>
          </a:p>
          <a:p>
            <a:pPr algn="l"/>
            <a:endParaRPr lang="en-US" sz="3600"/>
          </a:p>
        </p:txBody>
      </p:sp>
    </p:spTree>
    <p:extLst>
      <p:ext uri="{BB962C8B-B14F-4D97-AF65-F5344CB8AC3E}">
        <p14:creationId xmlns:p14="http://schemas.microsoft.com/office/powerpoint/2010/main" val="195019872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70285-F5DC-FEAB-DF6B-64819F68C128}"/>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CDC023D5-03EE-AF71-8327-B4F2B22FF6E0}"/>
              </a:ext>
            </a:extLst>
          </p:cNvPr>
          <p:cNvSpPr>
            <a:spLocks noGrp="1"/>
          </p:cNvSpPr>
          <p:nvPr>
            <p:ph type="title"/>
          </p:nvPr>
        </p:nvSpPr>
        <p:spPr/>
        <p:txBody>
          <a:bodyPr/>
          <a:lstStyle/>
          <a:p>
            <a:r>
              <a:rPr lang="en-GB"/>
              <a:t>Azure Infrastructure Insights (</a:t>
            </a:r>
            <a:r>
              <a:rPr lang="en-GB" err="1"/>
              <a:t>GoSupply</a:t>
            </a:r>
            <a:r>
              <a:rPr lang="en-GB"/>
              <a:t> &amp; Achilles)</a:t>
            </a:r>
            <a:endParaRPr lang="en-AE"/>
          </a:p>
        </p:txBody>
      </p:sp>
      <p:sp>
        <p:nvSpPr>
          <p:cNvPr id="4" name="Slide Number Placeholder 3">
            <a:extLst>
              <a:ext uri="{FF2B5EF4-FFF2-40B4-BE49-F238E27FC236}">
                <a16:creationId xmlns:a16="http://schemas.microsoft.com/office/drawing/2014/main" id="{F1F18C90-7528-604C-78AF-0B040FA3CB7B}"/>
              </a:ext>
            </a:extLst>
          </p:cNvPr>
          <p:cNvSpPr>
            <a:spLocks noGrp="1"/>
          </p:cNvSpPr>
          <p:nvPr>
            <p:ph type="sldNum" sz="quarter" idx="4"/>
          </p:nvPr>
        </p:nvSpPr>
        <p:spPr/>
        <p:txBody>
          <a:bodyPr/>
          <a:lstStyle/>
          <a:p>
            <a:fld id="{762E77F0-FB5B-4E8E-9BC9-34F14560A017}" type="slidenum">
              <a:rPr lang="en-US" smtClean="0"/>
              <a:pPr/>
              <a:t>39</a:t>
            </a:fld>
            <a:endParaRPr lang="en-US"/>
          </a:p>
        </p:txBody>
      </p:sp>
      <p:sp>
        <p:nvSpPr>
          <p:cNvPr id="41" name="TextBox 40">
            <a:extLst>
              <a:ext uri="{FF2B5EF4-FFF2-40B4-BE49-F238E27FC236}">
                <a16:creationId xmlns:a16="http://schemas.microsoft.com/office/drawing/2014/main" id="{DFDDB59F-A2D4-234A-37A3-D6D86B5D563E}"/>
              </a:ext>
            </a:extLst>
          </p:cNvPr>
          <p:cNvSpPr txBox="1"/>
          <p:nvPr/>
        </p:nvSpPr>
        <p:spPr>
          <a:xfrm>
            <a:off x="3910949" y="2601950"/>
            <a:ext cx="20640826" cy="2400657"/>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US" sz="3600">
                <a:cs typeface="Arial"/>
              </a:rPr>
              <a:t>Azure blob storage is used </a:t>
            </a:r>
            <a:r>
              <a:rPr lang="en-US" sz="3600">
                <a:ea typeface="+mn-lt"/>
                <a:cs typeface="+mn-lt"/>
              </a:rPr>
              <a:t> for storing data for backup and restore, and archiving.</a:t>
            </a:r>
            <a:endParaRPr lang="en-US" sz="3600">
              <a:cs typeface="Arial"/>
            </a:endParaRPr>
          </a:p>
          <a:p>
            <a:pPr marL="571500" indent="-571500">
              <a:buClr>
                <a:srgbClr val="FF0000"/>
              </a:buClr>
              <a:buFont typeface="Arial" panose="020B0604020202020204" pitchFamily="34" charset="0"/>
              <a:buChar char="•"/>
            </a:pPr>
            <a:r>
              <a:rPr lang="en-US" sz="3600">
                <a:cs typeface="Arial"/>
              </a:rPr>
              <a:t>It is also been used for </a:t>
            </a:r>
            <a:r>
              <a:rPr lang="en-US" sz="3600">
                <a:solidFill>
                  <a:srgbClr val="1F1F1F"/>
                </a:solidFill>
                <a:ea typeface="+mn-lt"/>
                <a:cs typeface="+mn-lt"/>
              </a:rPr>
              <a:t>Storing files for distributed access.</a:t>
            </a:r>
            <a:endParaRPr lang="en-US" sz="3600">
              <a:cs typeface="Arial"/>
            </a:endParaRPr>
          </a:p>
          <a:p>
            <a:pPr>
              <a:buClr>
                <a:srgbClr val="FF0000"/>
              </a:buClr>
            </a:pPr>
            <a:endParaRPr lang="en-US" sz="3600">
              <a:cs typeface="Arial"/>
            </a:endParaRPr>
          </a:p>
          <a:p>
            <a:pPr>
              <a:buClr>
                <a:srgbClr val="FF0000"/>
              </a:buClr>
            </a:pPr>
            <a:endParaRPr lang="en-US" sz="3600">
              <a:cs typeface="Arial"/>
            </a:endParaRPr>
          </a:p>
        </p:txBody>
      </p:sp>
      <p:sp>
        <p:nvSpPr>
          <p:cNvPr id="42" name="TextBox 41">
            <a:extLst>
              <a:ext uri="{FF2B5EF4-FFF2-40B4-BE49-F238E27FC236}">
                <a16:creationId xmlns:a16="http://schemas.microsoft.com/office/drawing/2014/main" id="{34E47B3A-F384-0787-77AD-3F7EA03019B3}"/>
              </a:ext>
            </a:extLst>
          </p:cNvPr>
          <p:cNvSpPr txBox="1"/>
          <p:nvPr/>
        </p:nvSpPr>
        <p:spPr>
          <a:xfrm>
            <a:off x="3743172" y="4603510"/>
            <a:ext cx="20640828" cy="5170646"/>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US" sz="3600">
                <a:ea typeface="+mn-lt"/>
                <a:cs typeface="+mn-lt"/>
              </a:rPr>
              <a:t>Azure Key Vault is used to Securely store and tightly control access to tokens, passwords, certificates, API keys, and other secrets.</a:t>
            </a:r>
            <a:endParaRPr lang="en-US" sz="3600">
              <a:cs typeface="Arial"/>
            </a:endParaRPr>
          </a:p>
          <a:p>
            <a:pPr marL="571500" indent="-571500">
              <a:buClr>
                <a:srgbClr val="FF0000"/>
              </a:buClr>
              <a:buFont typeface="Arial" panose="020B0604020202020204" pitchFamily="34" charset="0"/>
              <a:buChar char="•"/>
            </a:pPr>
            <a:r>
              <a:rPr lang="en-US" sz="3600">
                <a:ea typeface="+mn-lt"/>
                <a:cs typeface="+mn-lt"/>
              </a:rPr>
              <a:t>Authentication is done via Microsoft Entra ID. Authorization may be done via Azure role-based access control (Azure RBAC) or Key Vault access policy. Azure RBAC can be used for both management of the vaults and to access data stored in a vault, while key vault access policy can only be used when attempting to access data stored in a vault.</a:t>
            </a: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a:buClr>
                <a:srgbClr val="FF0000"/>
              </a:buClr>
            </a:pPr>
            <a:endParaRPr lang="en-US" sz="3600">
              <a:cs typeface="Arial"/>
            </a:endParaRPr>
          </a:p>
        </p:txBody>
      </p:sp>
      <p:pic>
        <p:nvPicPr>
          <p:cNvPr id="3" name="Picture 2" descr="A blue and white logo&#10;&#10;Description automatically generated">
            <a:extLst>
              <a:ext uri="{FF2B5EF4-FFF2-40B4-BE49-F238E27FC236}">
                <a16:creationId xmlns:a16="http://schemas.microsoft.com/office/drawing/2014/main" id="{A26DD292-69D8-3692-E489-233F734B798C}"/>
              </a:ext>
            </a:extLst>
          </p:cNvPr>
          <p:cNvPicPr>
            <a:picLocks noChangeAspect="1"/>
          </p:cNvPicPr>
          <p:nvPr/>
        </p:nvPicPr>
        <p:blipFill>
          <a:blip r:embed="rId3"/>
          <a:stretch>
            <a:fillRect/>
          </a:stretch>
        </p:blipFill>
        <p:spPr>
          <a:xfrm>
            <a:off x="329532" y="2690568"/>
            <a:ext cx="3553328" cy="1817104"/>
          </a:xfrm>
          <a:prstGeom prst="rect">
            <a:avLst/>
          </a:prstGeom>
        </p:spPr>
      </p:pic>
      <p:pic>
        <p:nvPicPr>
          <p:cNvPr id="6" name="Picture 5" descr="A yellow key in a blue circle&#10;&#10;Description automatically generated">
            <a:extLst>
              <a:ext uri="{FF2B5EF4-FFF2-40B4-BE49-F238E27FC236}">
                <a16:creationId xmlns:a16="http://schemas.microsoft.com/office/drawing/2014/main" id="{C3CCF50F-04AF-E9F2-9375-7EBC7DCD367C}"/>
              </a:ext>
            </a:extLst>
          </p:cNvPr>
          <p:cNvPicPr>
            <a:picLocks noChangeAspect="1"/>
          </p:cNvPicPr>
          <p:nvPr/>
        </p:nvPicPr>
        <p:blipFill>
          <a:blip r:embed="rId4"/>
          <a:stretch>
            <a:fillRect/>
          </a:stretch>
        </p:blipFill>
        <p:spPr>
          <a:xfrm>
            <a:off x="329533" y="4996387"/>
            <a:ext cx="3431674" cy="2390274"/>
          </a:xfrm>
          <a:prstGeom prst="rect">
            <a:avLst/>
          </a:prstGeom>
        </p:spPr>
      </p:pic>
      <p:sp>
        <p:nvSpPr>
          <p:cNvPr id="7" name="TextBox 6">
            <a:extLst>
              <a:ext uri="{FF2B5EF4-FFF2-40B4-BE49-F238E27FC236}">
                <a16:creationId xmlns:a16="http://schemas.microsoft.com/office/drawing/2014/main" id="{7FC7808D-6674-7DAB-593A-C1BF16493A1C}"/>
              </a:ext>
            </a:extLst>
          </p:cNvPr>
          <p:cNvSpPr txBox="1"/>
          <p:nvPr/>
        </p:nvSpPr>
        <p:spPr>
          <a:xfrm>
            <a:off x="3882860" y="8713394"/>
            <a:ext cx="20640828" cy="2400657"/>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US" sz="3600">
                <a:ea typeface="+mn-lt"/>
                <a:cs typeface="+mn-lt"/>
              </a:rPr>
              <a:t>Achilles’ also deliver B2C authentication through an existing Azure account. </a:t>
            </a: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a:buClr>
                <a:srgbClr val="FF0000"/>
              </a:buClr>
            </a:pPr>
            <a:endParaRPr lang="en-US" sz="3600">
              <a:cs typeface="Arial"/>
            </a:endParaRPr>
          </a:p>
        </p:txBody>
      </p:sp>
      <p:pic>
        <p:nvPicPr>
          <p:cNvPr id="8" name="Picture 7" descr="A yellow key in a blue circle&#10;&#10;Description automatically generated">
            <a:extLst>
              <a:ext uri="{FF2B5EF4-FFF2-40B4-BE49-F238E27FC236}">
                <a16:creationId xmlns:a16="http://schemas.microsoft.com/office/drawing/2014/main" id="{14A11EE9-BD13-D3E8-E5EE-9ED01657F839}"/>
              </a:ext>
            </a:extLst>
          </p:cNvPr>
          <p:cNvPicPr>
            <a:picLocks noChangeAspect="1"/>
          </p:cNvPicPr>
          <p:nvPr/>
        </p:nvPicPr>
        <p:blipFill>
          <a:blip r:embed="rId4"/>
          <a:stretch>
            <a:fillRect/>
          </a:stretch>
        </p:blipFill>
        <p:spPr>
          <a:xfrm>
            <a:off x="469221" y="9106271"/>
            <a:ext cx="3431674" cy="2390274"/>
          </a:xfrm>
          <a:prstGeom prst="rect">
            <a:avLst/>
          </a:prstGeom>
        </p:spPr>
      </p:pic>
    </p:spTree>
    <p:extLst>
      <p:ext uri="{BB962C8B-B14F-4D97-AF65-F5344CB8AC3E}">
        <p14:creationId xmlns:p14="http://schemas.microsoft.com/office/powerpoint/2010/main" val="48396017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70285-F5DC-FEAB-DF6B-64819F68C128}"/>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CDC023D5-03EE-AF71-8327-B4F2B22FF6E0}"/>
              </a:ext>
            </a:extLst>
          </p:cNvPr>
          <p:cNvSpPr>
            <a:spLocks noGrp="1"/>
          </p:cNvSpPr>
          <p:nvPr>
            <p:ph type="title"/>
          </p:nvPr>
        </p:nvSpPr>
        <p:spPr/>
        <p:txBody>
          <a:bodyPr/>
          <a:lstStyle/>
          <a:p>
            <a:r>
              <a:rPr lang="en-GB"/>
              <a:t>Azure Infrastructure Insights / Recommendations</a:t>
            </a:r>
            <a:endParaRPr lang="en-AE"/>
          </a:p>
        </p:txBody>
      </p:sp>
      <p:sp>
        <p:nvSpPr>
          <p:cNvPr id="4" name="Slide Number Placeholder 3">
            <a:extLst>
              <a:ext uri="{FF2B5EF4-FFF2-40B4-BE49-F238E27FC236}">
                <a16:creationId xmlns:a16="http://schemas.microsoft.com/office/drawing/2014/main" id="{F1F18C90-7528-604C-78AF-0B040FA3CB7B}"/>
              </a:ext>
            </a:extLst>
          </p:cNvPr>
          <p:cNvSpPr>
            <a:spLocks noGrp="1"/>
          </p:cNvSpPr>
          <p:nvPr>
            <p:ph type="sldNum" sz="quarter" idx="4"/>
          </p:nvPr>
        </p:nvSpPr>
        <p:spPr/>
        <p:txBody>
          <a:bodyPr/>
          <a:lstStyle/>
          <a:p>
            <a:fld id="{762E77F0-FB5B-4E8E-9BC9-34F14560A017}" type="slidenum">
              <a:rPr lang="en-US" smtClean="0"/>
              <a:pPr/>
              <a:t>40</a:t>
            </a:fld>
            <a:endParaRPr lang="en-US"/>
          </a:p>
        </p:txBody>
      </p:sp>
      <p:sp>
        <p:nvSpPr>
          <p:cNvPr id="40" name="TextBox 39">
            <a:extLst>
              <a:ext uri="{FF2B5EF4-FFF2-40B4-BE49-F238E27FC236}">
                <a16:creationId xmlns:a16="http://schemas.microsoft.com/office/drawing/2014/main" id="{6CC307FA-7036-BB3F-5D34-8CF7D316D170}"/>
              </a:ext>
            </a:extLst>
          </p:cNvPr>
          <p:cNvSpPr txBox="1"/>
          <p:nvPr/>
        </p:nvSpPr>
        <p:spPr>
          <a:xfrm>
            <a:off x="668993" y="2478342"/>
            <a:ext cx="21733810" cy="11264622"/>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US" sz="3600">
                <a:cs typeface="Arial"/>
              </a:rPr>
              <a:t>For vulnerabilities and patching Achilles’ could utilize Azure update manager services to improve their security posture. </a:t>
            </a:r>
          </a:p>
          <a:p>
            <a:pPr marL="571500" indent="-571500">
              <a:buClr>
                <a:srgbClr val="FF0000"/>
              </a:buClr>
              <a:buFont typeface="Arial" panose="020B0604020202020204" pitchFamily="34" charset="0"/>
              <a:buChar char="•"/>
            </a:pPr>
            <a:r>
              <a:rPr lang="en-US" sz="3600"/>
              <a:t>“sftp.achilles.com” can be migrated to Azure Blob storage using SFTP endpoint in Azure if Azure is the chosen Hyperscaler. </a:t>
            </a:r>
            <a:endParaRPr lang="en-US" sz="3600">
              <a:cs typeface="Arial"/>
            </a:endParaRPr>
          </a:p>
          <a:p>
            <a:pPr>
              <a:buClr>
                <a:srgbClr val="FF0000"/>
              </a:buClr>
            </a:pPr>
            <a:endParaRPr lang="en-US" sz="3600">
              <a:cs typeface="Arial"/>
            </a:endParaRPr>
          </a:p>
          <a:p>
            <a:pPr marL="571500" indent="-571500">
              <a:buClr>
                <a:srgbClr val="FF0000"/>
              </a:buClr>
              <a:buFont typeface="Arial" panose="020B0604020202020204" pitchFamily="34" charset="0"/>
              <a:buChar char="•"/>
            </a:pPr>
            <a:r>
              <a:rPr lang="en-US" sz="3600">
                <a:cs typeface="Arial"/>
              </a:rPr>
              <a:t>If </a:t>
            </a:r>
            <a:r>
              <a:rPr lang="en-US" sz="3600" err="1">
                <a:cs typeface="Arial"/>
              </a:rPr>
              <a:t>GoSupply</a:t>
            </a:r>
            <a:r>
              <a:rPr lang="en-US" sz="3600">
                <a:cs typeface="Arial"/>
              </a:rPr>
              <a:t> is retained on Azure, Rackspace would recommend </a:t>
            </a:r>
            <a:r>
              <a:rPr lang="en-US" sz="3600" err="1">
                <a:cs typeface="Arial"/>
              </a:rPr>
              <a:t>utilising</a:t>
            </a:r>
            <a:r>
              <a:rPr lang="en-US" sz="3600">
                <a:cs typeface="Arial"/>
              </a:rPr>
              <a:t> a sub-management group with standard Azure policy / security compliance enabled to remediate open issues. </a:t>
            </a:r>
          </a:p>
          <a:p>
            <a:pPr marL="571500" indent="-571500">
              <a:buClr>
                <a:srgbClr val="FF0000"/>
              </a:buClr>
              <a:buFont typeface="Arial" panose="020B0604020202020204" pitchFamily="34" charset="0"/>
              <a:buChar char="•"/>
            </a:pPr>
            <a:r>
              <a:rPr lang="en-US" sz="3600">
                <a:ea typeface="+mn-lt"/>
                <a:cs typeface="Arial"/>
              </a:rPr>
              <a:t>In this case, </a:t>
            </a:r>
            <a:r>
              <a:rPr lang="en-US" sz="3600">
                <a:ea typeface="+mn-lt"/>
                <a:cs typeface="+mn-lt"/>
              </a:rPr>
              <a:t>the resources would be moved from one subscription to a new subscription utilizing the existing Azure services so major redesign and </a:t>
            </a:r>
            <a:r>
              <a:rPr lang="en-US" sz="3600" err="1">
                <a:ea typeface="+mn-lt"/>
                <a:cs typeface="+mn-lt"/>
              </a:rPr>
              <a:t>replatforming</a:t>
            </a:r>
            <a:r>
              <a:rPr lang="en-US" sz="3600">
                <a:ea typeface="+mn-lt"/>
                <a:cs typeface="+mn-lt"/>
              </a:rPr>
              <a:t> would not be required. </a:t>
            </a:r>
          </a:p>
          <a:p>
            <a:pPr marL="571500" indent="-571500">
              <a:buClr>
                <a:srgbClr val="FF0000"/>
              </a:buClr>
              <a:buFont typeface="Arial" panose="020B0604020202020204" pitchFamily="34" charset="0"/>
              <a:buChar char="•"/>
            </a:pPr>
            <a:endParaRPr lang="en-US" sz="3600">
              <a:ea typeface="+mn-lt"/>
              <a:cs typeface="+mn-lt"/>
            </a:endParaRPr>
          </a:p>
          <a:p>
            <a:pPr marL="571500" indent="-571500">
              <a:buClr>
                <a:srgbClr val="FF0000"/>
              </a:buClr>
              <a:buFont typeface="Arial" panose="020B0604020202020204" pitchFamily="34" charset="0"/>
              <a:buChar char="•"/>
            </a:pPr>
            <a:endParaRPr lang="en-US" sz="3600" b="1">
              <a:ea typeface="+mn-lt"/>
              <a:cs typeface="+mn-lt"/>
            </a:endParaRPr>
          </a:p>
          <a:p>
            <a:pPr>
              <a:buClr>
                <a:srgbClr val="FF0000"/>
              </a:buClr>
            </a:pPr>
            <a:r>
              <a:rPr lang="en-US" sz="3600" b="1">
                <a:ea typeface="+mn-lt"/>
                <a:cs typeface="+mn-lt"/>
              </a:rPr>
              <a:t>Critical </a:t>
            </a:r>
            <a:r>
              <a:rPr lang="en-US" sz="3600" b="1" err="1">
                <a:ea typeface="+mn-lt"/>
                <a:cs typeface="+mn-lt"/>
              </a:rPr>
              <a:t>hyperscaler</a:t>
            </a:r>
            <a:r>
              <a:rPr lang="en-US" sz="3600" b="1">
                <a:ea typeface="+mn-lt"/>
                <a:cs typeface="+mn-lt"/>
              </a:rPr>
              <a:t> selection dependency – if AWS is selected as target cloud</a:t>
            </a:r>
          </a:p>
          <a:p>
            <a:pPr marL="571500" indent="-571500">
              <a:buClr>
                <a:srgbClr val="FF0000"/>
              </a:buClr>
              <a:buFont typeface="Arial" panose="020B0604020202020204" pitchFamily="34" charset="0"/>
              <a:buChar char="•"/>
            </a:pPr>
            <a:r>
              <a:rPr lang="en-US" sz="3600">
                <a:ea typeface="+mn-lt"/>
                <a:cs typeface="+mn-lt"/>
              </a:rPr>
              <a:t>If </a:t>
            </a:r>
            <a:r>
              <a:rPr lang="en-US" sz="3600" err="1">
                <a:ea typeface="+mn-lt"/>
                <a:cs typeface="+mn-lt"/>
              </a:rPr>
              <a:t>GoSupply</a:t>
            </a:r>
            <a:r>
              <a:rPr lang="en-US" sz="3600">
                <a:ea typeface="+mn-lt"/>
                <a:cs typeface="+mn-lt"/>
              </a:rPr>
              <a:t> has to move to AWS, significant effort would be required to re-platform the services to AWS and this would come with a large up-front assessment and design effort. </a:t>
            </a:r>
          </a:p>
          <a:p>
            <a:pPr marL="571500" indent="-571500">
              <a:buClr>
                <a:srgbClr val="FF0000"/>
              </a:buClr>
              <a:buFont typeface="Arial" panose="020B0604020202020204" pitchFamily="34" charset="0"/>
              <a:buChar char="•"/>
            </a:pPr>
            <a:endParaRPr lang="en-US" sz="3600">
              <a:ea typeface="+mn-lt"/>
              <a:cs typeface="+mn-lt"/>
            </a:endParaRPr>
          </a:p>
          <a:p>
            <a:pPr marL="571500" indent="-571500">
              <a:buClr>
                <a:srgbClr val="FF0000"/>
              </a:buClr>
              <a:buFont typeface="Arial" panose="020B0604020202020204" pitchFamily="34" charset="0"/>
              <a:buChar char="•"/>
            </a:pP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marL="571500" indent="-571500">
              <a:buClr>
                <a:srgbClr val="FF0000"/>
              </a:buClr>
              <a:buFont typeface="Arial" panose="020B0604020202020204" pitchFamily="34" charset="0"/>
              <a:buChar char="•"/>
            </a:pPr>
            <a:endParaRPr lang="en-US" sz="3600"/>
          </a:p>
          <a:p>
            <a:pPr marL="571500" indent="-571500">
              <a:buClr>
                <a:srgbClr val="FF0000"/>
              </a:buClr>
              <a:buFont typeface="Arial" panose="020B0604020202020204" pitchFamily="34" charset="0"/>
              <a:buChar char="•"/>
            </a:pPr>
            <a:endParaRPr lang="en-US" sz="3600"/>
          </a:p>
          <a:p>
            <a:pPr algn="l"/>
            <a:r>
              <a:rPr lang="en-US" sz="3600"/>
              <a:t> </a:t>
            </a:r>
            <a:endParaRPr lang="en-IN" sz="3600"/>
          </a:p>
        </p:txBody>
      </p:sp>
    </p:spTree>
    <p:extLst>
      <p:ext uri="{BB962C8B-B14F-4D97-AF65-F5344CB8AC3E}">
        <p14:creationId xmlns:p14="http://schemas.microsoft.com/office/powerpoint/2010/main" val="227353746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B6FD78-35B2-2C32-A2F8-35FBF76DBA3B}"/>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6C27A49C-6CEE-9754-5AA5-23C8450E6911}"/>
              </a:ext>
            </a:extLst>
          </p:cNvPr>
          <p:cNvSpPr>
            <a:spLocks noGrp="1"/>
          </p:cNvSpPr>
          <p:nvPr>
            <p:ph type="title"/>
          </p:nvPr>
        </p:nvSpPr>
        <p:spPr>
          <a:xfrm>
            <a:off x="668992" y="537179"/>
            <a:ext cx="22991108" cy="999378"/>
          </a:xfrm>
        </p:spPr>
        <p:txBody>
          <a:bodyPr/>
          <a:lstStyle/>
          <a:p>
            <a:pPr>
              <a:defRPr/>
            </a:pPr>
            <a:r>
              <a:rPr lang="en-US">
                <a:sym typeface="Arial"/>
              </a:rPr>
              <a:t>Disaster Recovery Insights</a:t>
            </a:r>
          </a:p>
        </p:txBody>
      </p:sp>
      <p:sp>
        <p:nvSpPr>
          <p:cNvPr id="5" name="Text Placeholder 4">
            <a:extLst>
              <a:ext uri="{FF2B5EF4-FFF2-40B4-BE49-F238E27FC236}">
                <a16:creationId xmlns:a16="http://schemas.microsoft.com/office/drawing/2014/main" id="{0500592D-FE8C-E6D7-446B-4B776AAF14F8}"/>
              </a:ext>
            </a:extLst>
          </p:cNvPr>
          <p:cNvSpPr>
            <a:spLocks noGrp="1"/>
          </p:cNvSpPr>
          <p:nvPr>
            <p:ph type="body" sz="quarter" idx="12"/>
          </p:nvPr>
        </p:nvSpPr>
        <p:spPr>
          <a:xfrm>
            <a:off x="723900" y="2781300"/>
            <a:ext cx="22936200" cy="8756243"/>
          </a:xfrm>
        </p:spPr>
        <p:txBody>
          <a:bodyPr vert="horz" lIns="0" tIns="0" rIns="0" bIns="0" rtlCol="0" anchor="t">
            <a:spAutoFit/>
          </a:bodyPr>
          <a:lstStyle/>
          <a:p>
            <a:pPr marL="0" indent="0">
              <a:buNone/>
            </a:pPr>
            <a:r>
              <a:rPr lang="en-US" b="1">
                <a:solidFill>
                  <a:srgbClr val="EB0000"/>
                </a:solidFill>
                <a:cs typeface="Arial"/>
              </a:rPr>
              <a:t>Findings</a:t>
            </a:r>
            <a:endParaRPr lang="en-GB" sz="3200">
              <a:cs typeface="Arial"/>
            </a:endParaRPr>
          </a:p>
          <a:p>
            <a:r>
              <a:rPr lang="en-GB">
                <a:cs typeface="Arial"/>
              </a:rPr>
              <a:t>Achilles currently has a Disaster Recovery setup in an AWS environment.</a:t>
            </a:r>
          </a:p>
          <a:p>
            <a:r>
              <a:rPr lang="en-GB">
                <a:cs typeface="Arial"/>
              </a:rPr>
              <a:t>For DB, DB native replication technology are in use for Microsoft SQL &amp; Neo4j.</a:t>
            </a:r>
          </a:p>
          <a:p>
            <a:r>
              <a:rPr lang="en-GB">
                <a:cs typeface="Arial"/>
              </a:rPr>
              <a:t>For Windows File Server, DFS-R (Distributed File System Replication) is in use.</a:t>
            </a:r>
          </a:p>
          <a:p>
            <a:endParaRPr lang="en-GB" sz="3200">
              <a:cs typeface="Arial"/>
            </a:endParaRPr>
          </a:p>
          <a:p>
            <a:pPr marL="0" indent="0">
              <a:buNone/>
            </a:pPr>
            <a:r>
              <a:rPr lang="en-US" b="1">
                <a:solidFill>
                  <a:srgbClr val="EB0000"/>
                </a:solidFill>
                <a:cs typeface="Arial"/>
              </a:rPr>
              <a:t>High-level Recommendations</a:t>
            </a:r>
            <a:endParaRPr lang="en-GB">
              <a:cs typeface="Arial"/>
            </a:endParaRPr>
          </a:p>
          <a:p>
            <a:r>
              <a:rPr lang="en-GB">
                <a:cs typeface="Arial"/>
              </a:rPr>
              <a:t>Rackspace recommendation would be to use the native replication technologies where possible (E.g. At DB or File level).</a:t>
            </a:r>
          </a:p>
          <a:p>
            <a:r>
              <a:rPr lang="en-GB">
                <a:cs typeface="Arial"/>
              </a:rPr>
              <a:t>For servers which do not have native replication technologies (E.g. Web/Middleware) create/copy </a:t>
            </a:r>
            <a:r>
              <a:rPr lang="en-US">
                <a:solidFill>
                  <a:schemeClr val="dk1"/>
                </a:solidFill>
              </a:rPr>
              <a:t>Virtual Servers</a:t>
            </a:r>
            <a:r>
              <a:rPr lang="en-GB">
                <a:cs typeface="Arial"/>
              </a:rPr>
              <a:t> templates in DR region and build </a:t>
            </a:r>
            <a:r>
              <a:rPr lang="en-US">
                <a:solidFill>
                  <a:schemeClr val="dk1"/>
                </a:solidFill>
              </a:rPr>
              <a:t>Virtual Servers</a:t>
            </a:r>
            <a:r>
              <a:rPr lang="en-GB">
                <a:cs typeface="Arial"/>
              </a:rPr>
              <a:t> using </a:t>
            </a:r>
            <a:r>
              <a:rPr lang="en-GB" err="1">
                <a:cs typeface="Arial"/>
              </a:rPr>
              <a:t>IaC</a:t>
            </a:r>
            <a:r>
              <a:rPr lang="en-GB">
                <a:cs typeface="Arial"/>
              </a:rPr>
              <a:t> during DR/DR Test.</a:t>
            </a:r>
          </a:p>
          <a:p>
            <a:r>
              <a:rPr lang="en-GB">
                <a:cs typeface="Arial"/>
              </a:rPr>
              <a:t>In addition to above, Clone/Copy backup to an alternative region as a secondary option to recover services using backup &amp; restore option.</a:t>
            </a:r>
          </a:p>
          <a:p>
            <a:r>
              <a:rPr lang="en-GB">
                <a:cs typeface="Arial"/>
              </a:rPr>
              <a:t>Both </a:t>
            </a:r>
            <a:r>
              <a:rPr lang="en-GB" err="1">
                <a:cs typeface="Arial"/>
              </a:rPr>
              <a:t>hyperscalers</a:t>
            </a:r>
            <a:r>
              <a:rPr lang="en-GB">
                <a:cs typeface="Arial"/>
              </a:rPr>
              <a:t> have their own DR services offering which will be explored during the design phase.</a:t>
            </a:r>
          </a:p>
        </p:txBody>
      </p:sp>
      <p:sp>
        <p:nvSpPr>
          <p:cNvPr id="2" name="Slide Number Placeholder 8">
            <a:extLst>
              <a:ext uri="{FF2B5EF4-FFF2-40B4-BE49-F238E27FC236}">
                <a16:creationId xmlns:a16="http://schemas.microsoft.com/office/drawing/2014/main" id="{C1D9EEA6-9086-FAE8-8FDA-5AFE901CB949}"/>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41</a:t>
            </a:fld>
            <a:endParaRPr lang="en-US">
              <a:solidFill>
                <a:srgbClr val="000000"/>
              </a:solidFill>
              <a:latin typeface="Arial"/>
            </a:endParaRPr>
          </a:p>
        </p:txBody>
      </p:sp>
    </p:spTree>
    <p:extLst>
      <p:ext uri="{BB962C8B-B14F-4D97-AF65-F5344CB8AC3E}">
        <p14:creationId xmlns:p14="http://schemas.microsoft.com/office/powerpoint/2010/main" val="405295913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5DB600-FFA5-AB80-47BD-5A540F139CCF}"/>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E7AA9247-6C34-5FDF-2F10-E03A739D2BFC}"/>
              </a:ext>
            </a:extLst>
          </p:cNvPr>
          <p:cNvSpPr>
            <a:spLocks noGrp="1"/>
          </p:cNvSpPr>
          <p:nvPr>
            <p:ph type="body" sz="quarter" idx="16"/>
          </p:nvPr>
        </p:nvSpPr>
        <p:spPr>
          <a:xfrm>
            <a:off x="12989559" y="2684966"/>
            <a:ext cx="10200642" cy="4485136"/>
          </a:xfrm>
        </p:spPr>
        <p:txBody>
          <a:bodyPr/>
          <a:lstStyle/>
          <a:p>
            <a:r>
              <a:rPr lang="en-US"/>
              <a:t>Licensing Insights</a:t>
            </a:r>
            <a:endParaRPr lang="en-US" sz="4800"/>
          </a:p>
        </p:txBody>
      </p:sp>
    </p:spTree>
    <p:extLst>
      <p:ext uri="{BB962C8B-B14F-4D97-AF65-F5344CB8AC3E}">
        <p14:creationId xmlns:p14="http://schemas.microsoft.com/office/powerpoint/2010/main" val="6704761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C71A127-80C6-C0F6-CC6B-B2BBEEF52E23}"/>
              </a:ext>
            </a:extLst>
          </p:cNvPr>
          <p:cNvSpPr>
            <a:spLocks noGrp="1"/>
          </p:cNvSpPr>
          <p:nvPr>
            <p:ph type="title"/>
          </p:nvPr>
        </p:nvSpPr>
        <p:spPr>
          <a:xfrm>
            <a:off x="667513" y="539496"/>
            <a:ext cx="19999894" cy="2017604"/>
          </a:xfrm>
        </p:spPr>
        <p:txBody>
          <a:bodyPr/>
          <a:lstStyle/>
          <a:p>
            <a:r>
              <a:rPr lang="en-GB"/>
              <a:t>Insights / Licensing </a:t>
            </a:r>
            <a:br>
              <a:rPr lang="en-GB"/>
            </a:br>
            <a:r>
              <a:rPr lang="en-GB"/>
              <a:t>Operating Systems (Microsoft)</a:t>
            </a:r>
            <a:endParaRPr lang="en-AE"/>
          </a:p>
        </p:txBody>
      </p:sp>
      <p:graphicFrame>
        <p:nvGraphicFramePr>
          <p:cNvPr id="20" name="Table 19">
            <a:extLst>
              <a:ext uri="{FF2B5EF4-FFF2-40B4-BE49-F238E27FC236}">
                <a16:creationId xmlns:a16="http://schemas.microsoft.com/office/drawing/2014/main" id="{B4B00807-960D-3368-10FD-8C482F6161E0}"/>
              </a:ext>
            </a:extLst>
          </p:cNvPr>
          <p:cNvGraphicFramePr>
            <a:graphicFrameLocks noGrp="1"/>
          </p:cNvGraphicFramePr>
          <p:nvPr/>
        </p:nvGraphicFramePr>
        <p:xfrm>
          <a:off x="646498" y="4619321"/>
          <a:ext cx="22991108" cy="4811610"/>
        </p:xfrm>
        <a:graphic>
          <a:graphicData uri="http://schemas.openxmlformats.org/drawingml/2006/table">
            <a:tbl>
              <a:tblPr firstRow="1">
                <a:tableStyleId>{5C22544A-7EE6-4342-B048-85BDC9FD1C3A}</a:tableStyleId>
              </a:tblPr>
              <a:tblGrid>
                <a:gridCol w="5480438">
                  <a:extLst>
                    <a:ext uri="{9D8B030D-6E8A-4147-A177-3AD203B41FA5}">
                      <a16:colId xmlns:a16="http://schemas.microsoft.com/office/drawing/2014/main" val="1525111598"/>
                    </a:ext>
                  </a:extLst>
                </a:gridCol>
                <a:gridCol w="2597002">
                  <a:extLst>
                    <a:ext uri="{9D8B030D-6E8A-4147-A177-3AD203B41FA5}">
                      <a16:colId xmlns:a16="http://schemas.microsoft.com/office/drawing/2014/main" val="4280760966"/>
                    </a:ext>
                  </a:extLst>
                </a:gridCol>
                <a:gridCol w="3507392">
                  <a:extLst>
                    <a:ext uri="{9D8B030D-6E8A-4147-A177-3AD203B41FA5}">
                      <a16:colId xmlns:a16="http://schemas.microsoft.com/office/drawing/2014/main" val="413326514"/>
                    </a:ext>
                  </a:extLst>
                </a:gridCol>
                <a:gridCol w="3596174">
                  <a:extLst>
                    <a:ext uri="{9D8B030D-6E8A-4147-A177-3AD203B41FA5}">
                      <a16:colId xmlns:a16="http://schemas.microsoft.com/office/drawing/2014/main" val="2719395190"/>
                    </a:ext>
                  </a:extLst>
                </a:gridCol>
                <a:gridCol w="3115816">
                  <a:extLst>
                    <a:ext uri="{9D8B030D-6E8A-4147-A177-3AD203B41FA5}">
                      <a16:colId xmlns:a16="http://schemas.microsoft.com/office/drawing/2014/main" val="4022728780"/>
                    </a:ext>
                  </a:extLst>
                </a:gridCol>
                <a:gridCol w="4694286">
                  <a:extLst>
                    <a:ext uri="{9D8B030D-6E8A-4147-A177-3AD203B41FA5}">
                      <a16:colId xmlns:a16="http://schemas.microsoft.com/office/drawing/2014/main" val="1932898473"/>
                    </a:ext>
                  </a:extLst>
                </a:gridCol>
              </a:tblGrid>
              <a:tr h="791634">
                <a:tc gridSpan="6">
                  <a:txBody>
                    <a:bodyPr/>
                    <a:lstStyle/>
                    <a:p>
                      <a:r>
                        <a:rPr lang="en-US" sz="2800" b="1" kern="1200">
                          <a:solidFill>
                            <a:schemeClr val="bg1"/>
                          </a:solidFill>
                          <a:latin typeface="+mn-lt"/>
                          <a:ea typeface="+mn-ea"/>
                          <a:cs typeface="+mn-cs"/>
                        </a:rPr>
                        <a:t>Microsoft Operating Systems | End of Support (EOS)</a:t>
                      </a:r>
                    </a:p>
                  </a:txBody>
                  <a:tcPr marL="329184" marR="329184" marT="0" marB="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rgbClr val="000000"/>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mpd="sng">
                      <a:noFill/>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rgbClr val="C00000"/>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2100642614"/>
                  </a:ext>
                </a:extLst>
              </a:tr>
              <a:tr h="853440">
                <a:tc>
                  <a:txBody>
                    <a:bodyPr/>
                    <a:lstStyle/>
                    <a:p>
                      <a:r>
                        <a:rPr lang="en-US" sz="2800" b="1" kern="1200">
                          <a:solidFill>
                            <a:schemeClr val="tx1"/>
                          </a:solidFill>
                          <a:latin typeface="+mn-lt"/>
                          <a:ea typeface="+mn-ea"/>
                          <a:cs typeface="+mn-cs"/>
                        </a:rPr>
                        <a:t>Version</a:t>
                      </a:r>
                    </a:p>
                  </a:txBody>
                  <a:tcPr marL="329184" marR="329184" marT="0" marB="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Virtual Servers</a:t>
                      </a:r>
                    </a:p>
                  </a:txBody>
                  <a:tcPr marL="329184" marR="329184" marT="0" marB="0" anchor="ctr">
                    <a:lnL w="12700" cmpd="sng">
                      <a:noFill/>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EOS (Date)</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EOS (Days)</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Risk</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 of Estate</a:t>
                      </a:r>
                      <a:endParaRPr lang="en-US" sz="2800" b="1" kern="1200">
                        <a:solidFill>
                          <a:srgbClr val="C00000"/>
                        </a:solidFill>
                        <a:latin typeface="+mn-lt"/>
                        <a:ea typeface="+mn-ea"/>
                        <a:cs typeface="+mn-cs"/>
                      </a:endParaRP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791634">
                <a:tc>
                  <a:txBody>
                    <a:bodyPr/>
                    <a:lstStyle/>
                    <a:p>
                      <a:r>
                        <a:rPr kumimoji="0" lang="en-US" sz="2800" b="1" i="0" u="none" strike="noStrike" kern="1200" cap="none" spc="0" normalizeH="0" baseline="0" noProof="0">
                          <a:ln>
                            <a:noFill/>
                          </a:ln>
                          <a:solidFill>
                            <a:srgbClr val="000000"/>
                          </a:solidFill>
                          <a:effectLst/>
                          <a:uLnTx/>
                          <a:uFillTx/>
                          <a:latin typeface="Arial"/>
                          <a:ea typeface="+mn-ea"/>
                          <a:cs typeface="+mn-cs"/>
                        </a:rPr>
                        <a:t>Windows Server 2012</a:t>
                      </a:r>
                      <a:endParaRPr lang="en-US" sz="2800" b="1"/>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b="0"/>
                        <a:t>8</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10/10/2023</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FF0000"/>
                          </a:solidFill>
                        </a:rPr>
                        <a:t>(-) 464</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kumimoji="0" lang="en-US" sz="2800" b="0" i="0" u="none" strike="noStrike" kern="1200" cap="none" spc="0" normalizeH="0" baseline="0" noProof="0">
                          <a:ln>
                            <a:noFill/>
                          </a:ln>
                          <a:solidFill>
                            <a:srgbClr val="FF0000"/>
                          </a:solidFill>
                          <a:effectLst/>
                          <a:uLnTx/>
                          <a:uFillTx/>
                          <a:latin typeface="Arial"/>
                          <a:ea typeface="+mn-ea"/>
                          <a:cs typeface="+mn-cs"/>
                        </a:rPr>
                        <a:t>High</a:t>
                      </a:r>
                      <a:endParaRPr lang="en-US" sz="2800">
                        <a:solidFill>
                          <a:srgbClr val="FF0000"/>
                        </a:solidFill>
                      </a:endParaRP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791634">
                <a:tc>
                  <a:txBody>
                    <a:bodyPr/>
                    <a:lstStyle/>
                    <a:p>
                      <a:r>
                        <a:rPr kumimoji="0" lang="en-US" sz="2800" b="1" i="0" u="none" strike="noStrike" kern="1200" cap="none" spc="0" normalizeH="0" baseline="0" noProof="0">
                          <a:ln>
                            <a:noFill/>
                          </a:ln>
                          <a:solidFill>
                            <a:srgbClr val="000000"/>
                          </a:solidFill>
                          <a:effectLst/>
                          <a:uLnTx/>
                          <a:uFillTx/>
                          <a:latin typeface="Arial"/>
                          <a:ea typeface="+mn-ea"/>
                          <a:cs typeface="+mn-cs"/>
                        </a:rPr>
                        <a:t>Windows Server 2016</a:t>
                      </a:r>
                      <a:endParaRPr lang="en-US" sz="2800" b="1"/>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b="0"/>
                        <a:t>30</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01/12/2027</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FFC000"/>
                          </a:solidFill>
                        </a:rPr>
                        <a:t>(+) 726</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kumimoji="0" lang="en-US" sz="2800" b="0" i="0" u="none" strike="noStrike" kern="1200" cap="none" spc="0" normalizeH="0" baseline="0" noProof="0">
                          <a:ln>
                            <a:noFill/>
                          </a:ln>
                          <a:solidFill>
                            <a:srgbClr val="FFC000"/>
                          </a:solidFill>
                          <a:effectLst/>
                          <a:uLnTx/>
                          <a:uFillTx/>
                          <a:latin typeface="Arial"/>
                          <a:ea typeface="+mn-ea"/>
                          <a:cs typeface="+mn-cs"/>
                        </a:rPr>
                        <a:t>Medium</a:t>
                      </a:r>
                      <a:endParaRPr lang="en-US" sz="2800">
                        <a:solidFill>
                          <a:srgbClr val="FFC000"/>
                        </a:solidFill>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solidFill>
                          <a:srgbClr val="C00000"/>
                        </a:solidFill>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7834442"/>
                  </a:ext>
                </a:extLst>
              </a:tr>
              <a:tr h="7916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mn-lt"/>
                          <a:ea typeface="+mn-ea"/>
                          <a:cs typeface="+mn-cs"/>
                        </a:rPr>
                        <a:t>Windows Server 2019</a:t>
                      </a:r>
                      <a:endParaRPr lang="en-US" sz="2800" b="1"/>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b="0"/>
                        <a:t>67</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01/09/2029</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98EE99"/>
                          </a:solidFill>
                        </a:rPr>
                        <a:t>(+) 1454</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98EE99"/>
                          </a:solidFill>
                        </a:rPr>
                        <a:t>Low</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791634">
                <a:tc>
                  <a:txBody>
                    <a:bodyPr/>
                    <a:lstStyle/>
                    <a:p>
                      <a:endParaRPr lang="en-US" sz="2800" b="1"/>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endParaRPr lang="en-US" sz="2800" b="0"/>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endParaRPr lang="en-US" sz="2800"/>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endParaRPr lang="en-US" sz="2800">
                        <a:solidFill>
                          <a:srgbClr val="98EE99"/>
                        </a:solidFill>
                      </a:endParaRPr>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endParaRPr lang="en-US" sz="2800">
                        <a:solidFill>
                          <a:srgbClr val="98EE99"/>
                        </a:solidFill>
                      </a:endParaRPr>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endParaRPr lang="en-US" sz="2800"/>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3160360655"/>
                  </a:ext>
                </a:extLst>
              </a:tr>
            </a:tbl>
          </a:graphicData>
        </a:graphic>
      </p:graphicFrame>
      <p:graphicFrame>
        <p:nvGraphicFramePr>
          <p:cNvPr id="21" name="Chart 20">
            <a:extLst>
              <a:ext uri="{FF2B5EF4-FFF2-40B4-BE49-F238E27FC236}">
                <a16:creationId xmlns:a16="http://schemas.microsoft.com/office/drawing/2014/main" id="{3109A074-0F13-6AF5-DA7E-E30B34D20920}"/>
              </a:ext>
            </a:extLst>
          </p:cNvPr>
          <p:cNvGraphicFramePr/>
          <p:nvPr/>
        </p:nvGraphicFramePr>
        <p:xfrm>
          <a:off x="19125285" y="6835104"/>
          <a:ext cx="3845202" cy="114268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4" name="Chart 23">
            <a:extLst>
              <a:ext uri="{FF2B5EF4-FFF2-40B4-BE49-F238E27FC236}">
                <a16:creationId xmlns:a16="http://schemas.microsoft.com/office/drawing/2014/main" id="{9AF94FE8-BC9A-7D88-F8B7-9E7B3479409E}"/>
              </a:ext>
            </a:extLst>
          </p:cNvPr>
          <p:cNvGraphicFramePr/>
          <p:nvPr/>
        </p:nvGraphicFramePr>
        <p:xfrm>
          <a:off x="19125286" y="5974254"/>
          <a:ext cx="3845200" cy="11426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Chart 2">
            <a:extLst>
              <a:ext uri="{FF2B5EF4-FFF2-40B4-BE49-F238E27FC236}">
                <a16:creationId xmlns:a16="http://schemas.microsoft.com/office/drawing/2014/main" id="{6E402BE9-7D9C-3BCB-1391-4670B67D8395}"/>
              </a:ext>
            </a:extLst>
          </p:cNvPr>
          <p:cNvGraphicFramePr/>
          <p:nvPr/>
        </p:nvGraphicFramePr>
        <p:xfrm>
          <a:off x="19009784" y="7687264"/>
          <a:ext cx="5521608" cy="114268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 name="Chart 3">
            <a:extLst>
              <a:ext uri="{FF2B5EF4-FFF2-40B4-BE49-F238E27FC236}">
                <a16:creationId xmlns:a16="http://schemas.microsoft.com/office/drawing/2014/main" id="{46687C8E-12B3-AAF6-A3E9-CD28C930E560}"/>
              </a:ext>
            </a:extLst>
          </p:cNvPr>
          <p:cNvGraphicFramePr/>
          <p:nvPr/>
        </p:nvGraphicFramePr>
        <p:xfrm>
          <a:off x="20005810" y="76201"/>
          <a:ext cx="4359140" cy="3441210"/>
        </p:xfrm>
        <a:graphic>
          <a:graphicData uri="http://schemas.openxmlformats.org/drawingml/2006/chart">
            <c:chart xmlns:c="http://schemas.openxmlformats.org/drawingml/2006/chart" xmlns:r="http://schemas.openxmlformats.org/officeDocument/2006/relationships" r:id="rId5"/>
          </a:graphicData>
        </a:graphic>
      </p:graphicFrame>
      <p:sp>
        <p:nvSpPr>
          <p:cNvPr id="6" name="TextBox 5">
            <a:extLst>
              <a:ext uri="{FF2B5EF4-FFF2-40B4-BE49-F238E27FC236}">
                <a16:creationId xmlns:a16="http://schemas.microsoft.com/office/drawing/2014/main" id="{321175FC-874F-C315-1909-783E2BEC041C}"/>
              </a:ext>
            </a:extLst>
          </p:cNvPr>
          <p:cNvSpPr txBox="1"/>
          <p:nvPr/>
        </p:nvSpPr>
        <p:spPr>
          <a:xfrm>
            <a:off x="746394" y="8918240"/>
            <a:ext cx="23161356" cy="2400657"/>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US" sz="3600">
                <a:ea typeface="+mn-lt"/>
                <a:cs typeface="+mn-lt"/>
              </a:rPr>
              <a:t>Overall, from Windows Operating System point of view there are no major risks discovered except Windows Server 2012 being EOL - however on further analysis this is limited to RQM / LATAM </a:t>
            </a:r>
            <a:r>
              <a:rPr lang="en-US" sz="3600">
                <a:solidFill>
                  <a:schemeClr val="dk1"/>
                </a:solidFill>
              </a:rPr>
              <a:t>Virtual Servers </a:t>
            </a:r>
            <a:r>
              <a:rPr lang="en-US" sz="3600">
                <a:ea typeface="+mn-lt"/>
                <a:cs typeface="+mn-lt"/>
              </a:rPr>
              <a:t>which are not in scope for migration. It is understood extended support is in place. </a:t>
            </a:r>
            <a:endParaRPr lang="en-US" sz="3600">
              <a:cs typeface="Arial"/>
            </a:endParaRPr>
          </a:p>
          <a:p>
            <a:pPr>
              <a:buClr>
                <a:srgbClr val="FF0000"/>
              </a:buClr>
            </a:pPr>
            <a:endParaRPr lang="en-US" sz="3600">
              <a:cs typeface="Arial"/>
            </a:endParaRPr>
          </a:p>
        </p:txBody>
      </p:sp>
      <p:sp>
        <p:nvSpPr>
          <p:cNvPr id="2" name="Slide Number Placeholder 8">
            <a:extLst>
              <a:ext uri="{FF2B5EF4-FFF2-40B4-BE49-F238E27FC236}">
                <a16:creationId xmlns:a16="http://schemas.microsoft.com/office/drawing/2014/main" id="{BCF99595-F6F4-5773-DC30-53DD1FAA4B09}"/>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43</a:t>
            </a:fld>
            <a:endParaRPr lang="en-US">
              <a:solidFill>
                <a:srgbClr val="000000"/>
              </a:solidFill>
              <a:latin typeface="Arial"/>
            </a:endParaRPr>
          </a:p>
        </p:txBody>
      </p:sp>
      <p:sp>
        <p:nvSpPr>
          <p:cNvPr id="7" name="TextBox 6">
            <a:extLst>
              <a:ext uri="{FF2B5EF4-FFF2-40B4-BE49-F238E27FC236}">
                <a16:creationId xmlns:a16="http://schemas.microsoft.com/office/drawing/2014/main" id="{180BE69F-EE92-FBCE-8F70-F750A5CB2C23}"/>
              </a:ext>
            </a:extLst>
          </p:cNvPr>
          <p:cNvSpPr txBox="1"/>
          <p:nvPr/>
        </p:nvSpPr>
        <p:spPr>
          <a:xfrm>
            <a:off x="945451" y="11925301"/>
            <a:ext cx="14161202" cy="461665"/>
          </a:xfrm>
          <a:prstGeom prst="rect">
            <a:avLst/>
          </a:prstGeom>
          <a:noFill/>
        </p:spPr>
        <p:txBody>
          <a:bodyPr wrap="square" rtlCol="0">
            <a:spAutoFit/>
          </a:bodyPr>
          <a:lstStyle/>
          <a:p>
            <a:pPr algn="l"/>
            <a:r>
              <a:rPr lang="en-IN" sz="2400"/>
              <a:t>*</a:t>
            </a:r>
            <a:r>
              <a:rPr lang="en-IN" sz="2400" err="1"/>
              <a:t>GoSupply</a:t>
            </a:r>
            <a:r>
              <a:rPr lang="en-IN" sz="2400"/>
              <a:t> on Azure figures are a high-level assessment</a:t>
            </a:r>
          </a:p>
        </p:txBody>
      </p:sp>
    </p:spTree>
    <p:extLst>
      <p:ext uri="{BB962C8B-B14F-4D97-AF65-F5344CB8AC3E}">
        <p14:creationId xmlns:p14="http://schemas.microsoft.com/office/powerpoint/2010/main" val="107958504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7AA7DD-3BA4-1324-5213-743553A462BE}"/>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9C1F4168-0E01-0716-579F-B7AEFB9C2DE9}"/>
              </a:ext>
            </a:extLst>
          </p:cNvPr>
          <p:cNvSpPr>
            <a:spLocks noGrp="1"/>
          </p:cNvSpPr>
          <p:nvPr>
            <p:ph type="title"/>
          </p:nvPr>
        </p:nvSpPr>
        <p:spPr>
          <a:xfrm>
            <a:off x="667513" y="539496"/>
            <a:ext cx="19999894" cy="2017604"/>
          </a:xfrm>
        </p:spPr>
        <p:txBody>
          <a:bodyPr/>
          <a:lstStyle/>
          <a:p>
            <a:r>
              <a:rPr lang="en-GB"/>
              <a:t>Insights / Licensing </a:t>
            </a:r>
            <a:br>
              <a:rPr lang="en-GB"/>
            </a:br>
            <a:r>
              <a:rPr lang="en-GB"/>
              <a:t>Operating Systems (Linux)</a:t>
            </a:r>
            <a:endParaRPr lang="en-AE"/>
          </a:p>
        </p:txBody>
      </p:sp>
      <p:graphicFrame>
        <p:nvGraphicFramePr>
          <p:cNvPr id="20" name="Table 19">
            <a:extLst>
              <a:ext uri="{FF2B5EF4-FFF2-40B4-BE49-F238E27FC236}">
                <a16:creationId xmlns:a16="http://schemas.microsoft.com/office/drawing/2014/main" id="{3443F5F4-2409-87A5-2A5D-0574C37BB7BE}"/>
              </a:ext>
            </a:extLst>
          </p:cNvPr>
          <p:cNvGraphicFramePr>
            <a:graphicFrameLocks noGrp="1"/>
          </p:cNvGraphicFramePr>
          <p:nvPr/>
        </p:nvGraphicFramePr>
        <p:xfrm>
          <a:off x="646499" y="4619320"/>
          <a:ext cx="22106038" cy="4019976"/>
        </p:xfrm>
        <a:graphic>
          <a:graphicData uri="http://schemas.openxmlformats.org/drawingml/2006/table">
            <a:tbl>
              <a:tblPr firstRow="1">
                <a:tableStyleId>{5C22544A-7EE6-4342-B048-85BDC9FD1C3A}</a:tableStyleId>
              </a:tblPr>
              <a:tblGrid>
                <a:gridCol w="4595368">
                  <a:extLst>
                    <a:ext uri="{9D8B030D-6E8A-4147-A177-3AD203B41FA5}">
                      <a16:colId xmlns:a16="http://schemas.microsoft.com/office/drawing/2014/main" val="1525111598"/>
                    </a:ext>
                  </a:extLst>
                </a:gridCol>
                <a:gridCol w="2597002">
                  <a:extLst>
                    <a:ext uri="{9D8B030D-6E8A-4147-A177-3AD203B41FA5}">
                      <a16:colId xmlns:a16="http://schemas.microsoft.com/office/drawing/2014/main" val="4280760966"/>
                    </a:ext>
                  </a:extLst>
                </a:gridCol>
                <a:gridCol w="3507392">
                  <a:extLst>
                    <a:ext uri="{9D8B030D-6E8A-4147-A177-3AD203B41FA5}">
                      <a16:colId xmlns:a16="http://schemas.microsoft.com/office/drawing/2014/main" val="413326514"/>
                    </a:ext>
                  </a:extLst>
                </a:gridCol>
                <a:gridCol w="3596174">
                  <a:extLst>
                    <a:ext uri="{9D8B030D-6E8A-4147-A177-3AD203B41FA5}">
                      <a16:colId xmlns:a16="http://schemas.microsoft.com/office/drawing/2014/main" val="2719395190"/>
                    </a:ext>
                  </a:extLst>
                </a:gridCol>
                <a:gridCol w="3115816">
                  <a:extLst>
                    <a:ext uri="{9D8B030D-6E8A-4147-A177-3AD203B41FA5}">
                      <a16:colId xmlns:a16="http://schemas.microsoft.com/office/drawing/2014/main" val="4022728780"/>
                    </a:ext>
                  </a:extLst>
                </a:gridCol>
                <a:gridCol w="4694286">
                  <a:extLst>
                    <a:ext uri="{9D8B030D-6E8A-4147-A177-3AD203B41FA5}">
                      <a16:colId xmlns:a16="http://schemas.microsoft.com/office/drawing/2014/main" val="1932898473"/>
                    </a:ext>
                  </a:extLst>
                </a:gridCol>
              </a:tblGrid>
              <a:tr h="791634">
                <a:tc gridSpan="6">
                  <a:txBody>
                    <a:bodyPr/>
                    <a:lstStyle/>
                    <a:p>
                      <a:r>
                        <a:rPr lang="en-US" sz="2800" b="1" kern="1200">
                          <a:solidFill>
                            <a:schemeClr val="bg1"/>
                          </a:solidFill>
                          <a:latin typeface="+mn-lt"/>
                          <a:ea typeface="+mn-ea"/>
                          <a:cs typeface="+mn-cs"/>
                        </a:rPr>
                        <a:t>Linux Operating Systems | End of Maintenance (EOM)</a:t>
                      </a:r>
                    </a:p>
                  </a:txBody>
                  <a:tcPr marL="329184" marR="329184" marT="0" marB="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rgbClr val="000000"/>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mpd="sng">
                      <a:noFill/>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rgbClr val="C00000"/>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2100642614"/>
                  </a:ext>
                </a:extLst>
              </a:tr>
              <a:tr h="853440">
                <a:tc>
                  <a:txBody>
                    <a:bodyPr/>
                    <a:lstStyle/>
                    <a:p>
                      <a:r>
                        <a:rPr lang="en-US" sz="2800" b="1" kern="1200">
                          <a:solidFill>
                            <a:schemeClr val="tx1"/>
                          </a:solidFill>
                          <a:latin typeface="+mn-lt"/>
                          <a:ea typeface="+mn-ea"/>
                          <a:cs typeface="+mn-cs"/>
                        </a:rPr>
                        <a:t>Version</a:t>
                      </a:r>
                    </a:p>
                  </a:txBody>
                  <a:tcPr marL="329184" marR="329184" marT="0" marB="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Virtual Servers</a:t>
                      </a:r>
                    </a:p>
                  </a:txBody>
                  <a:tcPr marL="329184" marR="329184" marT="0" marB="0" anchor="ctr">
                    <a:lnL w="12700" cmpd="sng">
                      <a:noFill/>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EOM (Date)</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EOM (Days)</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Risk</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 of Estate</a:t>
                      </a:r>
                      <a:endParaRPr lang="en-US" sz="2800" b="1" kern="1200">
                        <a:solidFill>
                          <a:srgbClr val="C00000"/>
                        </a:solidFill>
                        <a:latin typeface="+mn-lt"/>
                        <a:ea typeface="+mn-ea"/>
                        <a:cs typeface="+mn-cs"/>
                      </a:endParaRP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791634">
                <a:tc>
                  <a:txBody>
                    <a:bodyPr/>
                    <a:lstStyle/>
                    <a:p>
                      <a:pPr fontAlgn="base"/>
                      <a:r>
                        <a:rPr lang="en-US" sz="2800" b="1"/>
                        <a:t>RedHat Ent. Linux 7.9</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ase"/>
                      <a:r>
                        <a:rPr lang="en-US" sz="2800" b="0"/>
                        <a:t>64</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30/06/2024</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FF0000"/>
                          </a:solidFill>
                        </a:rPr>
                        <a:t>(-) 200</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FF0000"/>
                          </a:solidFill>
                        </a:rPr>
                        <a:t>High</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791634">
                <a:tc>
                  <a:txBody>
                    <a:bodyPr/>
                    <a:lstStyle/>
                    <a:p>
                      <a:pPr fontAlgn="base"/>
                      <a:r>
                        <a:rPr lang="en-US" sz="2800" b="1"/>
                        <a:t>RedHat Ent. Linux 8.10</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b="0"/>
                        <a:t>10</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31/05/2029</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kern="1200">
                          <a:solidFill>
                            <a:srgbClr val="98EE99"/>
                          </a:solidFill>
                          <a:latin typeface="+mn-lt"/>
                          <a:ea typeface="+mn-ea"/>
                          <a:cs typeface="+mn-cs"/>
                        </a:rPr>
                        <a:t>(+) 1596</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kern="1200" noProof="0">
                          <a:solidFill>
                            <a:srgbClr val="98EE99"/>
                          </a:solidFill>
                          <a:latin typeface="+mn-lt"/>
                          <a:ea typeface="+mn-ea"/>
                          <a:cs typeface="+mn-cs"/>
                        </a:rPr>
                        <a:t>Low</a:t>
                      </a:r>
                      <a:endParaRPr lang="en-US" sz="2800" kern="1200">
                        <a:solidFill>
                          <a:srgbClr val="98EE99"/>
                        </a:solidFill>
                        <a:latin typeface="+mn-lt"/>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solidFill>
                          <a:srgbClr val="C00000"/>
                        </a:solidFill>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7834442"/>
                  </a:ext>
                </a:extLst>
              </a:tr>
              <a:tr h="791634">
                <a:tc>
                  <a:txBody>
                    <a:bodyPr/>
                    <a:lstStyle/>
                    <a:p>
                      <a:pPr fontAlgn="base"/>
                      <a:r>
                        <a:rPr lang="en-US" sz="2800" b="1"/>
                        <a:t>RedHat Ent. Linux 9.4</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b="0"/>
                        <a:t>2</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31/05/2032</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kern="1200">
                          <a:solidFill>
                            <a:srgbClr val="98EE99"/>
                          </a:solidFill>
                          <a:latin typeface="+mn-lt"/>
                          <a:ea typeface="+mn-ea"/>
                          <a:cs typeface="+mn-cs"/>
                        </a:rPr>
                        <a:t>(+) 2700</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kern="1200" noProof="0">
                          <a:solidFill>
                            <a:srgbClr val="98EE99"/>
                          </a:solidFill>
                          <a:latin typeface="+mn-lt"/>
                          <a:ea typeface="+mn-ea"/>
                          <a:cs typeface="+mn-cs"/>
                        </a:rPr>
                        <a:t>Low</a:t>
                      </a:r>
                      <a:endParaRPr lang="en-US" sz="2800" kern="1200">
                        <a:solidFill>
                          <a:srgbClr val="98EE99"/>
                        </a:solidFill>
                        <a:latin typeface="+mn-lt"/>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bl>
          </a:graphicData>
        </a:graphic>
      </p:graphicFrame>
      <p:graphicFrame>
        <p:nvGraphicFramePr>
          <p:cNvPr id="22" name="Chart 21">
            <a:extLst>
              <a:ext uri="{FF2B5EF4-FFF2-40B4-BE49-F238E27FC236}">
                <a16:creationId xmlns:a16="http://schemas.microsoft.com/office/drawing/2014/main" id="{FF619763-EEBE-2B1B-BBAF-993BD6BBB750}"/>
              </a:ext>
            </a:extLst>
          </p:cNvPr>
          <p:cNvGraphicFramePr/>
          <p:nvPr/>
        </p:nvGraphicFramePr>
        <p:xfrm>
          <a:off x="19125288" y="7652522"/>
          <a:ext cx="1100160" cy="114268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4" name="Chart 23">
            <a:extLst>
              <a:ext uri="{FF2B5EF4-FFF2-40B4-BE49-F238E27FC236}">
                <a16:creationId xmlns:a16="http://schemas.microsoft.com/office/drawing/2014/main" id="{91225B5D-70C9-2853-DA3A-96A01833D1B9}"/>
              </a:ext>
            </a:extLst>
          </p:cNvPr>
          <p:cNvGraphicFramePr/>
          <p:nvPr/>
        </p:nvGraphicFramePr>
        <p:xfrm>
          <a:off x="19125286" y="6802026"/>
          <a:ext cx="3845200" cy="11426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a:extLst>
              <a:ext uri="{FF2B5EF4-FFF2-40B4-BE49-F238E27FC236}">
                <a16:creationId xmlns:a16="http://schemas.microsoft.com/office/drawing/2014/main" id="{A7524DD7-63B2-BC4B-2133-10AF66DAC6CA}"/>
              </a:ext>
            </a:extLst>
          </p:cNvPr>
          <p:cNvGraphicFramePr/>
          <p:nvPr/>
        </p:nvGraphicFramePr>
        <p:xfrm>
          <a:off x="19125281" y="5989827"/>
          <a:ext cx="3627254" cy="108878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 name="Chart 3">
            <a:extLst>
              <a:ext uri="{FF2B5EF4-FFF2-40B4-BE49-F238E27FC236}">
                <a16:creationId xmlns:a16="http://schemas.microsoft.com/office/drawing/2014/main" id="{6487FED3-A6E4-C3A2-F701-50854B9E4E03}"/>
              </a:ext>
            </a:extLst>
          </p:cNvPr>
          <p:cNvGraphicFramePr/>
          <p:nvPr/>
        </p:nvGraphicFramePr>
        <p:xfrm>
          <a:off x="20005810" y="76201"/>
          <a:ext cx="4359140" cy="3441210"/>
        </p:xfrm>
        <a:graphic>
          <a:graphicData uri="http://schemas.openxmlformats.org/drawingml/2006/chart">
            <c:chart xmlns:c="http://schemas.openxmlformats.org/drawingml/2006/chart" xmlns:r="http://schemas.openxmlformats.org/officeDocument/2006/relationships" r:id="rId5"/>
          </a:graphicData>
        </a:graphic>
      </p:graphicFrame>
      <p:sp>
        <p:nvSpPr>
          <p:cNvPr id="3" name="TextBox 2">
            <a:extLst>
              <a:ext uri="{FF2B5EF4-FFF2-40B4-BE49-F238E27FC236}">
                <a16:creationId xmlns:a16="http://schemas.microsoft.com/office/drawing/2014/main" id="{21763EEC-477E-F091-3343-B70437746B31}"/>
              </a:ext>
            </a:extLst>
          </p:cNvPr>
          <p:cNvSpPr txBox="1"/>
          <p:nvPr/>
        </p:nvSpPr>
        <p:spPr>
          <a:xfrm>
            <a:off x="746394" y="8918241"/>
            <a:ext cx="23161356" cy="4062651"/>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GB" sz="3600">
                <a:ea typeface="+mn-lt"/>
                <a:cs typeface="+mn-lt"/>
              </a:rPr>
              <a:t>RHEL 7.9 is end of life, but Achilles’ have extended support in place until 30</a:t>
            </a:r>
            <a:r>
              <a:rPr lang="en-GB" sz="3600" baseline="30000">
                <a:ea typeface="+mn-lt"/>
                <a:cs typeface="+mn-lt"/>
              </a:rPr>
              <a:t>th</a:t>
            </a:r>
            <a:r>
              <a:rPr lang="en-GB" sz="3600">
                <a:ea typeface="+mn-lt"/>
                <a:cs typeface="+mn-lt"/>
              </a:rPr>
              <a:t> June 2028 – key to confirm options with AWS and Azure to bring this extended support to the cloud</a:t>
            </a:r>
            <a:r>
              <a:rPr lang="en-US" sz="3600">
                <a:ea typeface="+mn-lt"/>
                <a:cs typeface="+mn-lt"/>
              </a:rPr>
              <a:t>.</a:t>
            </a:r>
          </a:p>
          <a:p>
            <a:pPr marL="571500" indent="-571500">
              <a:buClr>
                <a:srgbClr val="FF0000"/>
              </a:buClr>
              <a:buFont typeface="Arial" panose="020B0604020202020204" pitchFamily="34" charset="0"/>
              <a:buChar char="•"/>
            </a:pPr>
            <a:r>
              <a:rPr lang="en-US" sz="3600">
                <a:ea typeface="+mn-lt"/>
                <a:cs typeface="+mn-lt"/>
              </a:rPr>
              <a:t>The recommended approach for applications currently running on RHEL 7.9 is to re-platform the operating system to RHEL 8.x or 9.x. However, based on discussions, the “Re-host” migration strategy will be adopted due to application-to-OS compatibility reasons and to avoid delaying the cloud migration.</a:t>
            </a: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a:buClr>
                <a:srgbClr val="FF0000"/>
              </a:buClr>
            </a:pPr>
            <a:endParaRPr lang="en-US" sz="3600">
              <a:cs typeface="Arial"/>
            </a:endParaRPr>
          </a:p>
        </p:txBody>
      </p:sp>
      <p:sp>
        <p:nvSpPr>
          <p:cNvPr id="2" name="Slide Number Placeholder 8">
            <a:extLst>
              <a:ext uri="{FF2B5EF4-FFF2-40B4-BE49-F238E27FC236}">
                <a16:creationId xmlns:a16="http://schemas.microsoft.com/office/drawing/2014/main" id="{8C456565-64C4-FA8D-A59B-D3CB934231B7}"/>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44</a:t>
            </a:fld>
            <a:endParaRPr lang="en-US">
              <a:solidFill>
                <a:srgbClr val="000000"/>
              </a:solidFill>
              <a:latin typeface="Arial"/>
            </a:endParaRPr>
          </a:p>
        </p:txBody>
      </p:sp>
      <p:sp>
        <p:nvSpPr>
          <p:cNvPr id="6" name="TextBox 5">
            <a:extLst>
              <a:ext uri="{FF2B5EF4-FFF2-40B4-BE49-F238E27FC236}">
                <a16:creationId xmlns:a16="http://schemas.microsoft.com/office/drawing/2014/main" id="{A8B9D53D-3C1C-41FD-D9ED-BF6A6935D542}"/>
              </a:ext>
            </a:extLst>
          </p:cNvPr>
          <p:cNvSpPr txBox="1"/>
          <p:nvPr/>
        </p:nvSpPr>
        <p:spPr>
          <a:xfrm>
            <a:off x="906949" y="12156307"/>
            <a:ext cx="14161202" cy="461665"/>
          </a:xfrm>
          <a:prstGeom prst="rect">
            <a:avLst/>
          </a:prstGeom>
          <a:noFill/>
        </p:spPr>
        <p:txBody>
          <a:bodyPr wrap="square" rtlCol="0">
            <a:spAutoFit/>
          </a:bodyPr>
          <a:lstStyle/>
          <a:p>
            <a:pPr algn="l"/>
            <a:r>
              <a:rPr lang="en-IN" sz="2400"/>
              <a:t>*</a:t>
            </a:r>
            <a:r>
              <a:rPr lang="en-IN" sz="2400" err="1"/>
              <a:t>GoSupply</a:t>
            </a:r>
            <a:r>
              <a:rPr lang="en-IN" sz="2400"/>
              <a:t> on Azure figures are a high-level assessment</a:t>
            </a:r>
          </a:p>
        </p:txBody>
      </p:sp>
    </p:spTree>
    <p:extLst>
      <p:ext uri="{BB962C8B-B14F-4D97-AF65-F5344CB8AC3E}">
        <p14:creationId xmlns:p14="http://schemas.microsoft.com/office/powerpoint/2010/main" val="409863699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C71A127-80C6-C0F6-CC6B-B2BBEEF52E23}"/>
              </a:ext>
            </a:extLst>
          </p:cNvPr>
          <p:cNvSpPr>
            <a:spLocks noGrp="1"/>
          </p:cNvSpPr>
          <p:nvPr>
            <p:ph type="title"/>
          </p:nvPr>
        </p:nvSpPr>
        <p:spPr>
          <a:xfrm>
            <a:off x="667513" y="539496"/>
            <a:ext cx="19999894" cy="2017604"/>
          </a:xfrm>
        </p:spPr>
        <p:txBody>
          <a:bodyPr/>
          <a:lstStyle/>
          <a:p>
            <a:r>
              <a:rPr lang="en-GB"/>
              <a:t>Insights / Licensing </a:t>
            </a:r>
            <a:br>
              <a:rPr lang="en-GB"/>
            </a:br>
            <a:r>
              <a:rPr lang="en-GB"/>
              <a:t>Databases (Microsoft)</a:t>
            </a:r>
            <a:endParaRPr lang="en-AE"/>
          </a:p>
        </p:txBody>
      </p:sp>
      <p:graphicFrame>
        <p:nvGraphicFramePr>
          <p:cNvPr id="20" name="Table 19">
            <a:extLst>
              <a:ext uri="{FF2B5EF4-FFF2-40B4-BE49-F238E27FC236}">
                <a16:creationId xmlns:a16="http://schemas.microsoft.com/office/drawing/2014/main" id="{B4B00807-960D-3368-10FD-8C482F6161E0}"/>
              </a:ext>
            </a:extLst>
          </p:cNvPr>
          <p:cNvGraphicFramePr>
            <a:graphicFrameLocks noGrp="1"/>
          </p:cNvGraphicFramePr>
          <p:nvPr/>
        </p:nvGraphicFramePr>
        <p:xfrm>
          <a:off x="646498" y="4619321"/>
          <a:ext cx="22991108" cy="3228342"/>
        </p:xfrm>
        <a:graphic>
          <a:graphicData uri="http://schemas.openxmlformats.org/drawingml/2006/table">
            <a:tbl>
              <a:tblPr firstRow="1">
                <a:tableStyleId>{5C22544A-7EE6-4342-B048-85BDC9FD1C3A}</a:tableStyleId>
              </a:tblPr>
              <a:tblGrid>
                <a:gridCol w="5480438">
                  <a:extLst>
                    <a:ext uri="{9D8B030D-6E8A-4147-A177-3AD203B41FA5}">
                      <a16:colId xmlns:a16="http://schemas.microsoft.com/office/drawing/2014/main" val="1525111598"/>
                    </a:ext>
                  </a:extLst>
                </a:gridCol>
                <a:gridCol w="2597002">
                  <a:extLst>
                    <a:ext uri="{9D8B030D-6E8A-4147-A177-3AD203B41FA5}">
                      <a16:colId xmlns:a16="http://schemas.microsoft.com/office/drawing/2014/main" val="4280760966"/>
                    </a:ext>
                  </a:extLst>
                </a:gridCol>
                <a:gridCol w="3227158">
                  <a:extLst>
                    <a:ext uri="{9D8B030D-6E8A-4147-A177-3AD203B41FA5}">
                      <a16:colId xmlns:a16="http://schemas.microsoft.com/office/drawing/2014/main" val="413326514"/>
                    </a:ext>
                  </a:extLst>
                </a:gridCol>
                <a:gridCol w="3876408">
                  <a:extLst>
                    <a:ext uri="{9D8B030D-6E8A-4147-A177-3AD203B41FA5}">
                      <a16:colId xmlns:a16="http://schemas.microsoft.com/office/drawing/2014/main" val="2719395190"/>
                    </a:ext>
                  </a:extLst>
                </a:gridCol>
                <a:gridCol w="3359656">
                  <a:extLst>
                    <a:ext uri="{9D8B030D-6E8A-4147-A177-3AD203B41FA5}">
                      <a16:colId xmlns:a16="http://schemas.microsoft.com/office/drawing/2014/main" val="4022728780"/>
                    </a:ext>
                  </a:extLst>
                </a:gridCol>
                <a:gridCol w="4450446">
                  <a:extLst>
                    <a:ext uri="{9D8B030D-6E8A-4147-A177-3AD203B41FA5}">
                      <a16:colId xmlns:a16="http://schemas.microsoft.com/office/drawing/2014/main" val="1932898473"/>
                    </a:ext>
                  </a:extLst>
                </a:gridCol>
              </a:tblGrid>
              <a:tr h="791634">
                <a:tc gridSpan="6">
                  <a:txBody>
                    <a:bodyPr/>
                    <a:lstStyle/>
                    <a:p>
                      <a:r>
                        <a:rPr lang="en-US" sz="2800" b="1" kern="1200">
                          <a:solidFill>
                            <a:schemeClr val="bg1"/>
                          </a:solidFill>
                          <a:latin typeface="+mn-lt"/>
                          <a:ea typeface="+mn-ea"/>
                          <a:cs typeface="+mn-cs"/>
                        </a:rPr>
                        <a:t>Microsoft SQL Server | End of Support (EOS)</a:t>
                      </a:r>
                    </a:p>
                  </a:txBody>
                  <a:tcPr marL="329184" marR="329184" marT="0" marB="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rgbClr val="000000"/>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mpd="sng">
                      <a:noFill/>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rgbClr val="C00000"/>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2100642614"/>
                  </a:ext>
                </a:extLst>
              </a:tr>
              <a:tr h="853440">
                <a:tc>
                  <a:txBody>
                    <a:bodyPr/>
                    <a:lstStyle/>
                    <a:p>
                      <a:r>
                        <a:rPr lang="en-US" sz="2800" b="1" kern="1200">
                          <a:solidFill>
                            <a:schemeClr val="tx1"/>
                          </a:solidFill>
                          <a:latin typeface="+mn-lt"/>
                          <a:ea typeface="+mn-ea"/>
                          <a:cs typeface="+mn-cs"/>
                        </a:rPr>
                        <a:t>Version</a:t>
                      </a:r>
                    </a:p>
                  </a:txBody>
                  <a:tcPr marL="329184" marR="329184" marT="0" marB="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Virtual Servers</a:t>
                      </a:r>
                    </a:p>
                  </a:txBody>
                  <a:tcPr marL="329184" marR="329184" marT="0" marB="0" anchor="ctr">
                    <a:lnL w="12700" cmpd="sng">
                      <a:noFill/>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EOS (Date)</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EOS (Days)</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Risk</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 of Estate</a:t>
                      </a:r>
                      <a:endParaRPr lang="en-US" sz="2800" b="1" kern="1200">
                        <a:solidFill>
                          <a:srgbClr val="C00000"/>
                        </a:solidFill>
                        <a:latin typeface="+mn-lt"/>
                        <a:ea typeface="+mn-ea"/>
                        <a:cs typeface="+mn-cs"/>
                      </a:endParaRP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791634">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Arial"/>
                          <a:ea typeface="+mn-ea"/>
                          <a:cs typeface="+mn-cs"/>
                        </a:rPr>
                        <a:t>SQL Server 2016</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b="0"/>
                        <a:t>20</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14/07/2026</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FFC000"/>
                          </a:solidFill>
                        </a:rPr>
                        <a:t>(+) 544</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kumimoji="0" lang="en-US" sz="2800" b="0" i="0" u="none" strike="noStrike" kern="1200" cap="none" spc="0" normalizeH="0" baseline="0" noProof="0">
                          <a:ln>
                            <a:noFill/>
                          </a:ln>
                          <a:solidFill>
                            <a:srgbClr val="FFC000"/>
                          </a:solidFill>
                          <a:effectLst/>
                          <a:uLnTx/>
                          <a:uFillTx/>
                          <a:latin typeface="Arial"/>
                          <a:ea typeface="+mn-ea"/>
                          <a:cs typeface="+mn-cs"/>
                        </a:rPr>
                        <a:t>Medium</a:t>
                      </a:r>
                      <a:endParaRPr lang="en-US" sz="2800">
                        <a:solidFill>
                          <a:srgbClr val="FFC000"/>
                        </a:solidFill>
                      </a:endParaRP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791634">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Arial"/>
                          <a:ea typeface="+mn-ea"/>
                          <a:cs typeface="+mn-cs"/>
                        </a:rPr>
                        <a:t>SQL Server 2019</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b="0"/>
                        <a:t>25</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08/01/2030</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98EE99"/>
                          </a:solidFill>
                        </a:rPr>
                        <a:t>(+) 1818</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kumimoji="0" lang="en-US" sz="2800" b="0" i="0" u="none" strike="noStrike" kern="1200" cap="none" spc="0" normalizeH="0" baseline="0" noProof="0">
                          <a:ln>
                            <a:noFill/>
                          </a:ln>
                          <a:solidFill>
                            <a:srgbClr val="98EE99"/>
                          </a:solidFill>
                          <a:effectLst/>
                          <a:uLnTx/>
                          <a:uFillTx/>
                          <a:latin typeface="Arial"/>
                          <a:ea typeface="+mn-ea"/>
                          <a:cs typeface="+mn-cs"/>
                        </a:rPr>
                        <a:t>Low</a:t>
                      </a:r>
                      <a:endParaRPr lang="en-US" sz="2800">
                        <a:solidFill>
                          <a:srgbClr val="98EE99"/>
                        </a:solidFill>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solidFill>
                          <a:srgbClr val="C00000"/>
                        </a:solidFill>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7834442"/>
                  </a:ext>
                </a:extLst>
              </a:tr>
            </a:tbl>
          </a:graphicData>
        </a:graphic>
      </p:graphicFrame>
      <p:graphicFrame>
        <p:nvGraphicFramePr>
          <p:cNvPr id="2" name="Chart 1">
            <a:extLst>
              <a:ext uri="{FF2B5EF4-FFF2-40B4-BE49-F238E27FC236}">
                <a16:creationId xmlns:a16="http://schemas.microsoft.com/office/drawing/2014/main" id="{6D8FC5E6-7000-08EF-4F96-C858E018578C}"/>
              </a:ext>
            </a:extLst>
          </p:cNvPr>
          <p:cNvGraphicFramePr/>
          <p:nvPr/>
        </p:nvGraphicFramePr>
        <p:xfrm>
          <a:off x="20005810" y="76201"/>
          <a:ext cx="4359140" cy="344121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Chart 6">
            <a:extLst>
              <a:ext uri="{FF2B5EF4-FFF2-40B4-BE49-F238E27FC236}">
                <a16:creationId xmlns:a16="http://schemas.microsoft.com/office/drawing/2014/main" id="{7A17531D-08E3-25B5-7C37-50F623C91CE4}"/>
              </a:ext>
            </a:extLst>
          </p:cNvPr>
          <p:cNvGraphicFramePr/>
          <p:nvPr/>
        </p:nvGraphicFramePr>
        <p:xfrm>
          <a:off x="19104536" y="6858000"/>
          <a:ext cx="5521608" cy="11426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Chart 9">
            <a:extLst>
              <a:ext uri="{FF2B5EF4-FFF2-40B4-BE49-F238E27FC236}">
                <a16:creationId xmlns:a16="http://schemas.microsoft.com/office/drawing/2014/main" id="{23811A14-697E-2512-4EEB-67CDE0B4713F}"/>
              </a:ext>
            </a:extLst>
          </p:cNvPr>
          <p:cNvGraphicFramePr/>
          <p:nvPr/>
        </p:nvGraphicFramePr>
        <p:xfrm>
          <a:off x="19104536" y="6014942"/>
          <a:ext cx="5521608" cy="1142688"/>
        </p:xfrm>
        <a:graphic>
          <a:graphicData uri="http://schemas.openxmlformats.org/drawingml/2006/chart">
            <c:chart xmlns:c="http://schemas.openxmlformats.org/drawingml/2006/chart" xmlns:r="http://schemas.openxmlformats.org/officeDocument/2006/relationships" r:id="rId4"/>
          </a:graphicData>
        </a:graphic>
      </p:graphicFrame>
      <p:sp>
        <p:nvSpPr>
          <p:cNvPr id="9" name="TextBox 8">
            <a:extLst>
              <a:ext uri="{FF2B5EF4-FFF2-40B4-BE49-F238E27FC236}">
                <a16:creationId xmlns:a16="http://schemas.microsoft.com/office/drawing/2014/main" id="{F734AF0A-02C5-D720-B248-4E153CEC8CC4}"/>
              </a:ext>
            </a:extLst>
          </p:cNvPr>
          <p:cNvSpPr txBox="1"/>
          <p:nvPr/>
        </p:nvSpPr>
        <p:spPr>
          <a:xfrm>
            <a:off x="746393" y="8918240"/>
            <a:ext cx="22991106" cy="2954655"/>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US" sz="3600">
                <a:ea typeface="+mn-lt"/>
                <a:cs typeface="+mn-lt"/>
              </a:rPr>
              <a:t>Microsoft SQL 2016 is being used on 57% MSSQL databases within Achilles, in distant future Achilles must plan to “Re-platform” these DB’s on SQL Server 2019/2022 or DBaaS available on the to-be public cloud platform for Achilles. </a:t>
            </a: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a:buClr>
                <a:srgbClr val="FF0000"/>
              </a:buClr>
            </a:pPr>
            <a:endParaRPr lang="en-US" sz="3600">
              <a:cs typeface="Arial"/>
            </a:endParaRPr>
          </a:p>
        </p:txBody>
      </p:sp>
      <p:sp>
        <p:nvSpPr>
          <p:cNvPr id="3" name="Slide Number Placeholder 8">
            <a:extLst>
              <a:ext uri="{FF2B5EF4-FFF2-40B4-BE49-F238E27FC236}">
                <a16:creationId xmlns:a16="http://schemas.microsoft.com/office/drawing/2014/main" id="{EB085CE8-DE60-FED8-A4E9-9D62115418BA}"/>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45</a:t>
            </a:fld>
            <a:endParaRPr lang="en-US">
              <a:solidFill>
                <a:srgbClr val="000000"/>
              </a:solidFill>
              <a:latin typeface="Arial"/>
            </a:endParaRPr>
          </a:p>
        </p:txBody>
      </p:sp>
      <p:sp>
        <p:nvSpPr>
          <p:cNvPr id="4" name="TextBox 3">
            <a:extLst>
              <a:ext uri="{FF2B5EF4-FFF2-40B4-BE49-F238E27FC236}">
                <a16:creationId xmlns:a16="http://schemas.microsoft.com/office/drawing/2014/main" id="{C9E2D28E-3DD8-D76E-A978-3C16F9E8781B}"/>
              </a:ext>
            </a:extLst>
          </p:cNvPr>
          <p:cNvSpPr txBox="1"/>
          <p:nvPr/>
        </p:nvSpPr>
        <p:spPr>
          <a:xfrm>
            <a:off x="945451" y="11925301"/>
            <a:ext cx="14161202" cy="461665"/>
          </a:xfrm>
          <a:prstGeom prst="rect">
            <a:avLst/>
          </a:prstGeom>
          <a:noFill/>
        </p:spPr>
        <p:txBody>
          <a:bodyPr wrap="square" rtlCol="0">
            <a:spAutoFit/>
          </a:bodyPr>
          <a:lstStyle/>
          <a:p>
            <a:pPr algn="l"/>
            <a:r>
              <a:rPr lang="en-IN" sz="2400"/>
              <a:t>*</a:t>
            </a:r>
            <a:r>
              <a:rPr lang="en-IN" sz="2400" err="1"/>
              <a:t>GoSupply</a:t>
            </a:r>
            <a:r>
              <a:rPr lang="en-IN" sz="2400"/>
              <a:t> on Azure figures are a high-level assessment</a:t>
            </a:r>
          </a:p>
        </p:txBody>
      </p:sp>
    </p:spTree>
    <p:extLst>
      <p:ext uri="{BB962C8B-B14F-4D97-AF65-F5344CB8AC3E}">
        <p14:creationId xmlns:p14="http://schemas.microsoft.com/office/powerpoint/2010/main" val="376864474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C71A127-80C6-C0F6-CC6B-B2BBEEF52E23}"/>
              </a:ext>
            </a:extLst>
          </p:cNvPr>
          <p:cNvSpPr>
            <a:spLocks noGrp="1"/>
          </p:cNvSpPr>
          <p:nvPr>
            <p:ph type="title"/>
          </p:nvPr>
        </p:nvSpPr>
        <p:spPr>
          <a:xfrm>
            <a:off x="667513" y="539496"/>
            <a:ext cx="19999894" cy="2017604"/>
          </a:xfrm>
        </p:spPr>
        <p:txBody>
          <a:bodyPr/>
          <a:lstStyle/>
          <a:p>
            <a:r>
              <a:rPr lang="en-GB"/>
              <a:t>Insights / Licensing </a:t>
            </a:r>
            <a:br>
              <a:rPr lang="en-GB"/>
            </a:br>
            <a:r>
              <a:rPr lang="en-GB"/>
              <a:t>Databases (Neo4j)</a:t>
            </a:r>
            <a:endParaRPr lang="en-AE"/>
          </a:p>
        </p:txBody>
      </p:sp>
      <p:graphicFrame>
        <p:nvGraphicFramePr>
          <p:cNvPr id="20" name="Table 19">
            <a:extLst>
              <a:ext uri="{FF2B5EF4-FFF2-40B4-BE49-F238E27FC236}">
                <a16:creationId xmlns:a16="http://schemas.microsoft.com/office/drawing/2014/main" id="{B4B00807-960D-3368-10FD-8C482F6161E0}"/>
              </a:ext>
            </a:extLst>
          </p:cNvPr>
          <p:cNvGraphicFramePr>
            <a:graphicFrameLocks noGrp="1"/>
          </p:cNvGraphicFramePr>
          <p:nvPr/>
        </p:nvGraphicFramePr>
        <p:xfrm>
          <a:off x="646498" y="4619321"/>
          <a:ext cx="22991108" cy="3228342"/>
        </p:xfrm>
        <a:graphic>
          <a:graphicData uri="http://schemas.openxmlformats.org/drawingml/2006/table">
            <a:tbl>
              <a:tblPr firstRow="1">
                <a:tableStyleId>{5C22544A-7EE6-4342-B048-85BDC9FD1C3A}</a:tableStyleId>
              </a:tblPr>
              <a:tblGrid>
                <a:gridCol w="5480438">
                  <a:extLst>
                    <a:ext uri="{9D8B030D-6E8A-4147-A177-3AD203B41FA5}">
                      <a16:colId xmlns:a16="http://schemas.microsoft.com/office/drawing/2014/main" val="1525111598"/>
                    </a:ext>
                  </a:extLst>
                </a:gridCol>
                <a:gridCol w="2597002">
                  <a:extLst>
                    <a:ext uri="{9D8B030D-6E8A-4147-A177-3AD203B41FA5}">
                      <a16:colId xmlns:a16="http://schemas.microsoft.com/office/drawing/2014/main" val="4280760966"/>
                    </a:ext>
                  </a:extLst>
                </a:gridCol>
                <a:gridCol w="3227158">
                  <a:extLst>
                    <a:ext uri="{9D8B030D-6E8A-4147-A177-3AD203B41FA5}">
                      <a16:colId xmlns:a16="http://schemas.microsoft.com/office/drawing/2014/main" val="413326514"/>
                    </a:ext>
                  </a:extLst>
                </a:gridCol>
                <a:gridCol w="3876408">
                  <a:extLst>
                    <a:ext uri="{9D8B030D-6E8A-4147-A177-3AD203B41FA5}">
                      <a16:colId xmlns:a16="http://schemas.microsoft.com/office/drawing/2014/main" val="2719395190"/>
                    </a:ext>
                  </a:extLst>
                </a:gridCol>
                <a:gridCol w="3359656">
                  <a:extLst>
                    <a:ext uri="{9D8B030D-6E8A-4147-A177-3AD203B41FA5}">
                      <a16:colId xmlns:a16="http://schemas.microsoft.com/office/drawing/2014/main" val="4022728780"/>
                    </a:ext>
                  </a:extLst>
                </a:gridCol>
                <a:gridCol w="4450446">
                  <a:extLst>
                    <a:ext uri="{9D8B030D-6E8A-4147-A177-3AD203B41FA5}">
                      <a16:colId xmlns:a16="http://schemas.microsoft.com/office/drawing/2014/main" val="1932898473"/>
                    </a:ext>
                  </a:extLst>
                </a:gridCol>
              </a:tblGrid>
              <a:tr h="791634">
                <a:tc gridSpan="6">
                  <a:txBody>
                    <a:bodyPr/>
                    <a:lstStyle/>
                    <a:p>
                      <a:r>
                        <a:rPr lang="en-US" sz="2800" b="1" kern="1200">
                          <a:solidFill>
                            <a:schemeClr val="bg1"/>
                          </a:solidFill>
                          <a:latin typeface="+mn-lt"/>
                          <a:ea typeface="+mn-ea"/>
                          <a:cs typeface="+mn-cs"/>
                        </a:rPr>
                        <a:t>Neo4j | End of Support (EOS)</a:t>
                      </a:r>
                    </a:p>
                  </a:txBody>
                  <a:tcPr marL="329184" marR="329184" marT="0" marB="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rgbClr val="000000"/>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mpd="sng">
                      <a:noFill/>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chemeClr val="tx1"/>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hMerge="1">
                  <a:txBody>
                    <a:bodyPr/>
                    <a:lstStyle/>
                    <a:p>
                      <a:endParaRPr lang="en-US" sz="1400" b="1" kern="1200">
                        <a:solidFill>
                          <a:srgbClr val="C00000"/>
                        </a:solidFill>
                        <a:latin typeface="+mn-lt"/>
                        <a:ea typeface="+mn-ea"/>
                        <a:cs typeface="+mn-cs"/>
                      </a:endParaRPr>
                    </a:p>
                  </a:txBody>
                  <a:tcPr marL="164592" marR="16459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2100642614"/>
                  </a:ext>
                </a:extLst>
              </a:tr>
              <a:tr h="853440">
                <a:tc>
                  <a:txBody>
                    <a:bodyPr/>
                    <a:lstStyle/>
                    <a:p>
                      <a:r>
                        <a:rPr lang="en-US" sz="2800" b="1" kern="1200">
                          <a:solidFill>
                            <a:schemeClr val="tx1"/>
                          </a:solidFill>
                          <a:latin typeface="+mn-lt"/>
                          <a:ea typeface="+mn-ea"/>
                          <a:cs typeface="+mn-cs"/>
                        </a:rPr>
                        <a:t>Version</a:t>
                      </a:r>
                    </a:p>
                  </a:txBody>
                  <a:tcPr marL="329184" marR="329184" marT="0" marB="0" anchor="ctr">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Virtual Servers</a:t>
                      </a:r>
                    </a:p>
                  </a:txBody>
                  <a:tcPr marL="329184" marR="329184" marT="0" marB="0" anchor="ctr">
                    <a:lnL w="12700" cmpd="sng">
                      <a:noFill/>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EOS (Date)</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EOS (Days)</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Risk</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tc>
                  <a:txBody>
                    <a:bodyPr/>
                    <a:lstStyle/>
                    <a:p>
                      <a:r>
                        <a:rPr lang="en-US" sz="2800" b="1" kern="1200">
                          <a:solidFill>
                            <a:schemeClr val="tx1"/>
                          </a:solidFill>
                          <a:latin typeface="+mn-lt"/>
                          <a:ea typeface="+mn-ea"/>
                          <a:cs typeface="+mn-cs"/>
                        </a:rPr>
                        <a:t>% of Estate</a:t>
                      </a:r>
                      <a:endParaRPr lang="en-US" sz="2800" b="1" kern="1200">
                        <a:solidFill>
                          <a:srgbClr val="C00000"/>
                        </a:solidFill>
                        <a:latin typeface="+mn-lt"/>
                        <a:ea typeface="+mn-ea"/>
                        <a:cs typeface="+mn-cs"/>
                      </a:endParaRP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mpd="sng">
                      <a:noFill/>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791634">
                <a:tc>
                  <a:txBody>
                    <a:bodyPr/>
                    <a:lstStyle/>
                    <a:p>
                      <a:pPr fontAlgn="base"/>
                      <a:r>
                        <a:rPr lang="en-US" sz="2800" b="1"/>
                        <a:t>Neo4j 4.2.x</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ase"/>
                      <a:r>
                        <a:rPr lang="en-US" sz="2800" b="0"/>
                        <a:t>4</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16/05/2020</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FF0000"/>
                          </a:solidFill>
                        </a:rPr>
                        <a:t>(-) 1706</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solidFill>
                            <a:srgbClr val="FF0000"/>
                          </a:solidFill>
                        </a:rPr>
                        <a:t>High</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791634">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Arial"/>
                          <a:ea typeface="+mn-ea"/>
                          <a:cs typeface="+mn-cs"/>
                        </a:rPr>
                        <a:t>Neo4j 4.4.x</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b="0"/>
                        <a:t>14</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2800"/>
                        <a:t>30/11/2025</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r>
                        <a:rPr lang="en-US" sz="2800" kern="1200">
                          <a:solidFill>
                            <a:srgbClr val="FFC000"/>
                          </a:solidFill>
                          <a:latin typeface="+mn-lt"/>
                          <a:ea typeface="+mn-ea"/>
                          <a:cs typeface="+mn-cs"/>
                        </a:rPr>
                        <a:t>(+) 318</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r>
                        <a:rPr lang="en-US" sz="2800" kern="1200" noProof="0">
                          <a:solidFill>
                            <a:srgbClr val="FFC000"/>
                          </a:solidFill>
                          <a:latin typeface="+mn-lt"/>
                          <a:ea typeface="+mn-ea"/>
                          <a:cs typeface="+mn-cs"/>
                        </a:rPr>
                        <a:t>Medium</a:t>
                      </a:r>
                      <a:endParaRPr lang="en-US" sz="2800" kern="1200">
                        <a:solidFill>
                          <a:srgbClr val="FFC000"/>
                        </a:solidFill>
                        <a:latin typeface="+mn-lt"/>
                        <a:ea typeface="+mn-ea"/>
                        <a:cs typeface="+mn-cs"/>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2800">
                        <a:solidFill>
                          <a:srgbClr val="C00000"/>
                        </a:solidFill>
                      </a:endParaRP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7834442"/>
                  </a:ext>
                </a:extLst>
              </a:tr>
            </a:tbl>
          </a:graphicData>
        </a:graphic>
      </p:graphicFrame>
      <p:graphicFrame>
        <p:nvGraphicFramePr>
          <p:cNvPr id="2" name="Chart 1">
            <a:extLst>
              <a:ext uri="{FF2B5EF4-FFF2-40B4-BE49-F238E27FC236}">
                <a16:creationId xmlns:a16="http://schemas.microsoft.com/office/drawing/2014/main" id="{6D8FC5E6-7000-08EF-4F96-C858E018578C}"/>
              </a:ext>
            </a:extLst>
          </p:cNvPr>
          <p:cNvGraphicFramePr/>
          <p:nvPr/>
        </p:nvGraphicFramePr>
        <p:xfrm>
          <a:off x="20005810" y="76201"/>
          <a:ext cx="4359140" cy="344121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 name="Chart 2">
            <a:extLst>
              <a:ext uri="{FF2B5EF4-FFF2-40B4-BE49-F238E27FC236}">
                <a16:creationId xmlns:a16="http://schemas.microsoft.com/office/drawing/2014/main" id="{7A8FED1D-0749-1FE1-8AED-16C281FFA134}"/>
              </a:ext>
            </a:extLst>
          </p:cNvPr>
          <p:cNvGraphicFramePr/>
          <p:nvPr/>
        </p:nvGraphicFramePr>
        <p:xfrm>
          <a:off x="19247202" y="5982010"/>
          <a:ext cx="2572892" cy="11426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AA5E315B-2591-83DE-62BA-6F9AE1144F3C}"/>
              </a:ext>
            </a:extLst>
          </p:cNvPr>
          <p:cNvGraphicFramePr/>
          <p:nvPr/>
        </p:nvGraphicFramePr>
        <p:xfrm>
          <a:off x="19247203" y="6847746"/>
          <a:ext cx="3702446" cy="1142688"/>
        </p:xfrm>
        <a:graphic>
          <a:graphicData uri="http://schemas.openxmlformats.org/drawingml/2006/chart">
            <c:chart xmlns:c="http://schemas.openxmlformats.org/drawingml/2006/chart" xmlns:r="http://schemas.openxmlformats.org/officeDocument/2006/relationships" r:id="rId4"/>
          </a:graphicData>
        </a:graphic>
      </p:graphicFrame>
      <p:sp>
        <p:nvSpPr>
          <p:cNvPr id="4" name="TextBox 3">
            <a:extLst>
              <a:ext uri="{FF2B5EF4-FFF2-40B4-BE49-F238E27FC236}">
                <a16:creationId xmlns:a16="http://schemas.microsoft.com/office/drawing/2014/main" id="{619C2B33-CE51-D016-FF1A-AB8A96D08761}"/>
              </a:ext>
            </a:extLst>
          </p:cNvPr>
          <p:cNvSpPr txBox="1"/>
          <p:nvPr/>
        </p:nvSpPr>
        <p:spPr>
          <a:xfrm>
            <a:off x="646497" y="8487389"/>
            <a:ext cx="22991106" cy="4062651"/>
          </a:xfrm>
          <a:prstGeom prst="rect">
            <a:avLst/>
          </a:prstGeom>
          <a:noFill/>
        </p:spPr>
        <p:txBody>
          <a:bodyPr wrap="square" lIns="182880" tIns="91440" rIns="182880" bIns="91440" rtlCol="0" anchor="t">
            <a:spAutoFit/>
          </a:bodyPr>
          <a:lstStyle/>
          <a:p>
            <a:pPr marL="571500" indent="-571500">
              <a:buClr>
                <a:srgbClr val="FF0000"/>
              </a:buClr>
              <a:buFont typeface="Arial" panose="020B0604020202020204" pitchFamily="34" charset="0"/>
              <a:buChar char="•"/>
            </a:pPr>
            <a:r>
              <a:rPr lang="en-US" sz="3600">
                <a:ea typeface="+mn-lt"/>
                <a:cs typeface="+mn-lt"/>
              </a:rPr>
              <a:t>Neo4j 4.2.x version is end of life, with extended support in place – there is a plan to upgrade to 4.4.x prior to migration. </a:t>
            </a:r>
          </a:p>
          <a:p>
            <a:pPr marL="571500" indent="-571500">
              <a:buClr>
                <a:srgbClr val="FF0000"/>
              </a:buClr>
              <a:buFont typeface="Arial" panose="020B0604020202020204" pitchFamily="34" charset="0"/>
              <a:buChar char="•"/>
            </a:pPr>
            <a:r>
              <a:rPr lang="en-US" sz="3600">
                <a:ea typeface="+mn-lt"/>
                <a:cs typeface="+mn-lt"/>
              </a:rPr>
              <a:t>Neo4j 4.4.x will go end of life in November 2025, to mitigate against any risk it is suggested extended support is in place at this time. </a:t>
            </a: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marL="571500" indent="-571500">
              <a:buClr>
                <a:srgbClr val="FF0000"/>
              </a:buClr>
              <a:buFont typeface="Arial" panose="020B0604020202020204" pitchFamily="34" charset="0"/>
              <a:buChar char="•"/>
            </a:pPr>
            <a:endParaRPr lang="en-US" sz="3600">
              <a:cs typeface="Arial"/>
            </a:endParaRPr>
          </a:p>
          <a:p>
            <a:pPr>
              <a:buClr>
                <a:srgbClr val="FF0000"/>
              </a:buClr>
            </a:pPr>
            <a:endParaRPr lang="en-US" sz="3600">
              <a:cs typeface="Arial"/>
            </a:endParaRPr>
          </a:p>
        </p:txBody>
      </p:sp>
      <p:sp>
        <p:nvSpPr>
          <p:cNvPr id="7" name="Slide Number Placeholder 8">
            <a:extLst>
              <a:ext uri="{FF2B5EF4-FFF2-40B4-BE49-F238E27FC236}">
                <a16:creationId xmlns:a16="http://schemas.microsoft.com/office/drawing/2014/main" id="{71EDB4BC-A9B0-CDEB-6CDF-8F5CDFBEB823}"/>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46</a:t>
            </a:fld>
            <a:endParaRPr lang="en-US">
              <a:solidFill>
                <a:srgbClr val="000000"/>
              </a:solidFill>
              <a:latin typeface="Arial"/>
            </a:endParaRPr>
          </a:p>
        </p:txBody>
      </p:sp>
    </p:spTree>
    <p:extLst>
      <p:ext uri="{BB962C8B-B14F-4D97-AF65-F5344CB8AC3E}">
        <p14:creationId xmlns:p14="http://schemas.microsoft.com/office/powerpoint/2010/main" val="243725051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8548A8-F478-EA00-193A-93AACBD33A4B}"/>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86DC69C6-07DA-E905-1C2D-5C8F7F616BF7}"/>
              </a:ext>
            </a:extLst>
          </p:cNvPr>
          <p:cNvSpPr>
            <a:spLocks noGrp="1"/>
          </p:cNvSpPr>
          <p:nvPr>
            <p:ph type="body" sz="quarter" idx="16"/>
          </p:nvPr>
        </p:nvSpPr>
        <p:spPr>
          <a:xfrm>
            <a:off x="13040359" y="3650166"/>
            <a:ext cx="10200642" cy="4485136"/>
          </a:xfrm>
        </p:spPr>
        <p:txBody>
          <a:bodyPr/>
          <a:lstStyle/>
          <a:p>
            <a:r>
              <a:rPr lang="en-US"/>
              <a:t>Future State Cloud Landscape</a:t>
            </a:r>
          </a:p>
        </p:txBody>
      </p:sp>
    </p:spTree>
    <p:extLst>
      <p:ext uri="{BB962C8B-B14F-4D97-AF65-F5344CB8AC3E}">
        <p14:creationId xmlns:p14="http://schemas.microsoft.com/office/powerpoint/2010/main" val="320465136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B4D6BC-598C-C621-54C5-ED4E909A6A6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80C048-F442-58A1-553F-41EB8628164C}"/>
              </a:ext>
            </a:extLst>
          </p:cNvPr>
          <p:cNvSpPr>
            <a:spLocks noGrp="1"/>
          </p:cNvSpPr>
          <p:nvPr>
            <p:ph type="title"/>
          </p:nvPr>
        </p:nvSpPr>
        <p:spPr>
          <a:xfrm>
            <a:off x="668992" y="537179"/>
            <a:ext cx="22991108" cy="1152751"/>
          </a:xfrm>
        </p:spPr>
        <p:txBody>
          <a:bodyPr vert="horz" wrap="square" lIns="182880" tIns="91440" rIns="182880" bIns="91440" rtlCol="0" anchor="t" anchorCtr="0">
            <a:spAutoFit/>
          </a:bodyPr>
          <a:lstStyle/>
          <a:p>
            <a:r>
              <a:rPr lang="fr-FR"/>
              <a:t>Landing Zones – Concept, Objectives &amp; Importance</a:t>
            </a:r>
            <a:endParaRPr lang="en-GB"/>
          </a:p>
        </p:txBody>
      </p:sp>
      <p:sp>
        <p:nvSpPr>
          <p:cNvPr id="3" name="Slide Number Placeholder 2">
            <a:extLst>
              <a:ext uri="{FF2B5EF4-FFF2-40B4-BE49-F238E27FC236}">
                <a16:creationId xmlns:a16="http://schemas.microsoft.com/office/drawing/2014/main" id="{05948536-03DA-A4C5-93EB-EB2573E1FAA6}"/>
              </a:ext>
            </a:extLst>
          </p:cNvPr>
          <p:cNvSpPr>
            <a:spLocks noGrp="1"/>
          </p:cNvSpPr>
          <p:nvPr>
            <p:ph type="sldNum" sz="quarter" idx="4"/>
          </p:nvPr>
        </p:nvSpPr>
        <p:spPr/>
        <p:txBody>
          <a:bodyPr/>
          <a:lstStyle/>
          <a:p>
            <a:pPr>
              <a:defRPr/>
            </a:pPr>
            <a:fld id="{762E77F0-FB5B-4E8E-9BC9-34F14560A017}" type="slidenum">
              <a:rPr lang="en-US">
                <a:solidFill>
                  <a:prstClr val="black"/>
                </a:solidFill>
                <a:latin typeface="Arial"/>
              </a:rPr>
              <a:pPr>
                <a:defRPr/>
              </a:pPr>
              <a:t>48</a:t>
            </a:fld>
            <a:endParaRPr lang="en-US">
              <a:solidFill>
                <a:prstClr val="black"/>
              </a:solidFill>
              <a:latin typeface="Arial"/>
            </a:endParaRPr>
          </a:p>
        </p:txBody>
      </p:sp>
      <p:sp>
        <p:nvSpPr>
          <p:cNvPr id="5" name="Text Placeholder 4">
            <a:extLst>
              <a:ext uri="{FF2B5EF4-FFF2-40B4-BE49-F238E27FC236}">
                <a16:creationId xmlns:a16="http://schemas.microsoft.com/office/drawing/2014/main" id="{C8FAEAEC-53B2-2A91-659B-7F230ADDFB38}"/>
              </a:ext>
            </a:extLst>
          </p:cNvPr>
          <p:cNvSpPr txBox="1">
            <a:spLocks/>
          </p:cNvSpPr>
          <p:nvPr/>
        </p:nvSpPr>
        <p:spPr>
          <a:xfrm>
            <a:off x="457200" y="2762251"/>
            <a:ext cx="22936200" cy="5793894"/>
          </a:xfrm>
          <a:prstGeom prst="rect">
            <a:avLst/>
          </a:prstGeom>
        </p:spPr>
        <p:txBody>
          <a:bodyPr vert="horz" lIns="0" tIns="0" rIns="0" bIns="0" rtlCol="0" anchor="t">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sz="3200" b="1">
                <a:solidFill>
                  <a:srgbClr val="FF0000"/>
                </a:solidFill>
              </a:rPr>
              <a:t>What are Cloud Landing Zones?</a:t>
            </a:r>
            <a:endParaRPr lang="en-GB" sz="3200">
              <a:solidFill>
                <a:srgbClr val="FF0000"/>
              </a:solidFill>
            </a:endParaRPr>
          </a:p>
          <a:p>
            <a:pPr>
              <a:buFont typeface="Arial" panose="020B0604020202020204" pitchFamily="34" charset="0"/>
              <a:buChar char="•"/>
            </a:pPr>
            <a:r>
              <a:rPr lang="en-GB" sz="3200"/>
              <a:t>Well-architected scalable, secure &amp; compliant cloud foundation.</a:t>
            </a:r>
          </a:p>
          <a:p>
            <a:pPr>
              <a:buFont typeface="Arial" panose="020B0604020202020204" pitchFamily="34" charset="0"/>
              <a:buChar char="•"/>
            </a:pPr>
            <a:r>
              <a:rPr lang="en-GB" sz="3200"/>
              <a:t>Guardrails for identity, security, networking, and governance.</a:t>
            </a:r>
          </a:p>
          <a:p>
            <a:pPr marL="0" indent="0">
              <a:buNone/>
            </a:pPr>
            <a:r>
              <a:rPr lang="en-GB" sz="3200" b="1">
                <a:solidFill>
                  <a:srgbClr val="FF0000"/>
                </a:solidFill>
              </a:rPr>
              <a:t>What Benefits do they bring?</a:t>
            </a:r>
            <a:endParaRPr lang="en-GB" sz="3200">
              <a:solidFill>
                <a:srgbClr val="FF0000"/>
              </a:solidFill>
            </a:endParaRPr>
          </a:p>
          <a:p>
            <a:pPr>
              <a:buFont typeface="Arial" panose="020B0604020202020204" pitchFamily="34" charset="0"/>
              <a:buChar char="•"/>
            </a:pPr>
            <a:r>
              <a:rPr lang="en-US" sz="3200"/>
              <a:t>Provides a standardized framework for deploying consistent and scalable accounts/subscription and resources.</a:t>
            </a:r>
          </a:p>
          <a:p>
            <a:pPr>
              <a:buFont typeface="Arial" panose="020B0604020202020204" pitchFamily="34" charset="0"/>
              <a:buChar char="•"/>
            </a:pPr>
            <a:r>
              <a:rPr lang="en-US" sz="3200"/>
              <a:t>Enforces security policies and compliance measures across the public cloud environment.</a:t>
            </a:r>
          </a:p>
          <a:p>
            <a:pPr>
              <a:buFont typeface="Arial" panose="020B0604020202020204" pitchFamily="34" charset="0"/>
              <a:buChar char="•"/>
            </a:pPr>
            <a:r>
              <a:rPr lang="en-US" sz="3200"/>
              <a:t>Automates account/subscription setup and resource provisioning for faster deployment.</a:t>
            </a:r>
          </a:p>
          <a:p>
            <a:pPr>
              <a:buFont typeface="Arial" panose="020B0604020202020204" pitchFamily="34" charset="0"/>
              <a:buChar char="•"/>
            </a:pPr>
            <a:r>
              <a:rPr lang="en-US" sz="3200"/>
              <a:t>Improves monitoring and management capabilities for better operational efficiency.</a:t>
            </a:r>
          </a:p>
          <a:p>
            <a:pPr>
              <a:buFont typeface="Arial" panose="020B0604020202020204" pitchFamily="34" charset="0"/>
              <a:buChar char="•"/>
            </a:pPr>
            <a:r>
              <a:rPr lang="en-US" sz="3200"/>
              <a:t>Allows for separate accounts for isolation while facilitating secure resource sharing when needed.</a:t>
            </a:r>
          </a:p>
          <a:p>
            <a:endParaRPr lang="en-GB" sz="3600">
              <a:cs typeface="Arial"/>
            </a:endParaRPr>
          </a:p>
        </p:txBody>
      </p:sp>
    </p:spTree>
    <p:extLst>
      <p:ext uri="{BB962C8B-B14F-4D97-AF65-F5344CB8AC3E}">
        <p14:creationId xmlns:p14="http://schemas.microsoft.com/office/powerpoint/2010/main" val="1661049638"/>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2900AA-8F1D-AA6B-7F84-39062A366A3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B47B0BD-F779-D8DC-0A30-6C66AE6E8E15}"/>
              </a:ext>
            </a:extLst>
          </p:cNvPr>
          <p:cNvSpPr>
            <a:spLocks noGrp="1"/>
          </p:cNvSpPr>
          <p:nvPr>
            <p:ph type="title"/>
          </p:nvPr>
        </p:nvSpPr>
        <p:spPr>
          <a:xfrm>
            <a:off x="668992" y="537179"/>
            <a:ext cx="22991108" cy="1152751"/>
          </a:xfrm>
        </p:spPr>
        <p:txBody>
          <a:bodyPr vert="horz" wrap="square" lIns="182880" tIns="91440" rIns="182880" bIns="91440" rtlCol="0" anchor="t" anchorCtr="0">
            <a:spAutoFit/>
          </a:bodyPr>
          <a:lstStyle/>
          <a:p>
            <a:r>
              <a:rPr lang="fr-FR"/>
              <a:t>Landing Zones – Key considerations</a:t>
            </a:r>
            <a:endParaRPr lang="en-GB"/>
          </a:p>
        </p:txBody>
      </p:sp>
      <p:sp>
        <p:nvSpPr>
          <p:cNvPr id="3" name="Slide Number Placeholder 2">
            <a:extLst>
              <a:ext uri="{FF2B5EF4-FFF2-40B4-BE49-F238E27FC236}">
                <a16:creationId xmlns:a16="http://schemas.microsoft.com/office/drawing/2014/main" id="{7491586E-8DBC-E5E8-454F-E65709F476C8}"/>
              </a:ext>
            </a:extLst>
          </p:cNvPr>
          <p:cNvSpPr>
            <a:spLocks noGrp="1"/>
          </p:cNvSpPr>
          <p:nvPr>
            <p:ph type="sldNum" sz="quarter" idx="4"/>
          </p:nvPr>
        </p:nvSpPr>
        <p:spPr/>
        <p:txBody>
          <a:bodyPr/>
          <a:lstStyle/>
          <a:p>
            <a:pPr>
              <a:defRPr/>
            </a:pPr>
            <a:fld id="{762E77F0-FB5B-4E8E-9BC9-34F14560A017}" type="slidenum">
              <a:rPr lang="en-US">
                <a:solidFill>
                  <a:prstClr val="black"/>
                </a:solidFill>
                <a:latin typeface="Arial"/>
              </a:rPr>
              <a:pPr>
                <a:defRPr/>
              </a:pPr>
              <a:t>49</a:t>
            </a:fld>
            <a:endParaRPr lang="en-US">
              <a:solidFill>
                <a:prstClr val="black"/>
              </a:solidFill>
              <a:latin typeface="Arial"/>
            </a:endParaRPr>
          </a:p>
        </p:txBody>
      </p:sp>
      <p:sp>
        <p:nvSpPr>
          <p:cNvPr id="5" name="Text Placeholder 4">
            <a:extLst>
              <a:ext uri="{FF2B5EF4-FFF2-40B4-BE49-F238E27FC236}">
                <a16:creationId xmlns:a16="http://schemas.microsoft.com/office/drawing/2014/main" id="{47B42CEF-835B-0254-38F7-D2F431F5FFA2}"/>
              </a:ext>
            </a:extLst>
          </p:cNvPr>
          <p:cNvSpPr txBox="1">
            <a:spLocks/>
          </p:cNvSpPr>
          <p:nvPr/>
        </p:nvSpPr>
        <p:spPr>
          <a:xfrm>
            <a:off x="457200" y="2762250"/>
            <a:ext cx="22936200" cy="6376104"/>
          </a:xfrm>
          <a:prstGeom prst="rect">
            <a:avLst/>
          </a:prstGeom>
        </p:spPr>
        <p:txBody>
          <a:bodyPr vert="horz" lIns="0" tIns="0" rIns="0" bIns="0" rtlCol="0" anchor="t">
            <a:sp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sz="3200" b="1">
                <a:solidFill>
                  <a:srgbClr val="FF0000"/>
                </a:solidFill>
              </a:rPr>
              <a:t>AWS vs. Azure</a:t>
            </a:r>
            <a:endParaRPr lang="en-GB" sz="3200">
              <a:solidFill>
                <a:srgbClr val="FF0000"/>
              </a:solidFill>
            </a:endParaRPr>
          </a:p>
          <a:p>
            <a:pPr marL="566736" lvl="1" indent="0">
              <a:buNone/>
            </a:pPr>
            <a:r>
              <a:rPr lang="en-GB" sz="3200" b="1"/>
              <a:t>Platform Differences </a:t>
            </a:r>
            <a:r>
              <a:rPr lang="en-GB" sz="3200"/>
              <a:t>- Services, configurations (IAM vs. Azure AD, VPC vs. </a:t>
            </a:r>
            <a:r>
              <a:rPr lang="en-GB" sz="3200" err="1"/>
              <a:t>VNet</a:t>
            </a:r>
            <a:r>
              <a:rPr lang="en-GB" sz="3200"/>
              <a:t>).</a:t>
            </a:r>
          </a:p>
          <a:p>
            <a:pPr marL="566736" lvl="1" indent="0">
              <a:buNone/>
            </a:pPr>
            <a:r>
              <a:rPr lang="en-GB" sz="3200" b="1"/>
              <a:t>Governance &amp; Compliance </a:t>
            </a:r>
            <a:r>
              <a:rPr lang="en-GB" sz="3200"/>
              <a:t>- AWS Control Tower vs. Azure Policy alignment.</a:t>
            </a:r>
          </a:p>
          <a:p>
            <a:pPr marL="571500" lvl="1" indent="0">
              <a:buNone/>
            </a:pPr>
            <a:r>
              <a:rPr lang="en-GB" sz="3200" b="1"/>
              <a:t>Networking &amp; Connectivity  </a:t>
            </a:r>
            <a:r>
              <a:rPr lang="en-GB" sz="3200"/>
              <a:t>- Variations in subnets, routing, peering for hybrid setups.</a:t>
            </a:r>
          </a:p>
          <a:p>
            <a:pPr marL="561974" lvl="1" indent="0">
              <a:buNone/>
            </a:pPr>
            <a:r>
              <a:rPr lang="en-GB" sz="3200" b="1"/>
              <a:t>Cost Management </a:t>
            </a:r>
            <a:r>
              <a:rPr lang="en-GB" sz="3200"/>
              <a:t>- Different budgeting, alerting, and tagging capabilities.</a:t>
            </a:r>
          </a:p>
          <a:p>
            <a:pPr marL="0" indent="0">
              <a:buNone/>
            </a:pPr>
            <a:r>
              <a:rPr lang="en-GB" sz="3200" b="1">
                <a:solidFill>
                  <a:srgbClr val="FF0000"/>
                </a:solidFill>
              </a:rPr>
              <a:t>Design Considerations</a:t>
            </a:r>
            <a:endParaRPr lang="en-GB" sz="3200">
              <a:solidFill>
                <a:srgbClr val="FF0000"/>
              </a:solidFill>
            </a:endParaRPr>
          </a:p>
          <a:p>
            <a:pPr lvl="1"/>
            <a:r>
              <a:rPr lang="en-GB" sz="3200" b="1"/>
              <a:t>Customisation &amp; Integration </a:t>
            </a:r>
            <a:r>
              <a:rPr lang="en-GB" sz="3200"/>
              <a:t>-Tailoring landing zones to existing processes and tools.</a:t>
            </a:r>
          </a:p>
          <a:p>
            <a:pPr lvl="1"/>
            <a:r>
              <a:rPr lang="en-GB" sz="3200" b="1"/>
              <a:t>Security &amp; Identity </a:t>
            </a:r>
            <a:r>
              <a:rPr lang="en-GB" sz="3200"/>
              <a:t>- Designing least-privilege roles across multiple accounts/subscriptions.</a:t>
            </a:r>
          </a:p>
          <a:p>
            <a:pPr lvl="1"/>
            <a:r>
              <a:rPr lang="en-GB" sz="3200" b="1"/>
              <a:t>Automated Provisioning </a:t>
            </a:r>
            <a:r>
              <a:rPr lang="en-GB" sz="3200"/>
              <a:t>- Iterative testing of infrastructure-as-code (Terraform, ARM, CloudFormation).</a:t>
            </a:r>
          </a:p>
          <a:p>
            <a:pPr lvl="1"/>
            <a:r>
              <a:rPr lang="en-GB" sz="3200" b="1"/>
              <a:t>Long-Term Maintainability </a:t>
            </a:r>
            <a:r>
              <a:rPr lang="en-GB" sz="3200"/>
              <a:t>- Ongoing updates to keep pace with evolving cloud services.</a:t>
            </a:r>
          </a:p>
          <a:p>
            <a:endParaRPr lang="en-GB" sz="3600">
              <a:cs typeface="Arial"/>
            </a:endParaRPr>
          </a:p>
        </p:txBody>
      </p:sp>
    </p:spTree>
    <p:extLst>
      <p:ext uri="{BB962C8B-B14F-4D97-AF65-F5344CB8AC3E}">
        <p14:creationId xmlns:p14="http://schemas.microsoft.com/office/powerpoint/2010/main" val="2281598221"/>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A286E06A-1335-89BA-B97B-52C432936D09}"/>
              </a:ext>
            </a:extLst>
          </p:cNvPr>
          <p:cNvSpPr/>
          <p:nvPr/>
        </p:nvSpPr>
        <p:spPr>
          <a:xfrm>
            <a:off x="18197467" y="3776015"/>
            <a:ext cx="6186534" cy="8120222"/>
          </a:xfrm>
          <a:prstGeom prst="rect">
            <a:avLst/>
          </a:prstGeom>
          <a:solidFill>
            <a:sysClr val="window" lastClr="FFFFFF">
              <a:lumMod val="95000"/>
              <a:alpha val="50000"/>
            </a:sysClr>
          </a:solidFill>
          <a:ln w="12700" cap="flat" cmpd="sng" algn="ctr">
            <a:noFill/>
            <a:prstDash val="solid"/>
            <a:miter lim="800000"/>
          </a:ln>
          <a:effectLst/>
        </p:spPr>
        <p:txBody>
          <a:bodyPr rtlCol="0" anchor="ctr"/>
          <a:lstStyle/>
          <a:p>
            <a:pPr algn="ctr" defTabSz="1828800">
              <a:defRPr/>
            </a:pPr>
            <a:endParaRPr lang="en-US" sz="3600" kern="0">
              <a:solidFill>
                <a:srgbClr val="FFFFFF"/>
              </a:solidFill>
              <a:latin typeface="Arial"/>
            </a:endParaRPr>
          </a:p>
        </p:txBody>
      </p:sp>
      <p:sp>
        <p:nvSpPr>
          <p:cNvPr id="5" name="Title 4">
            <a:extLst>
              <a:ext uri="{FF2B5EF4-FFF2-40B4-BE49-F238E27FC236}">
                <a16:creationId xmlns:a16="http://schemas.microsoft.com/office/drawing/2014/main" id="{4F0C1B8A-A9CE-42EF-887F-8C3CFDFBBCB7}"/>
              </a:ext>
            </a:extLst>
          </p:cNvPr>
          <p:cNvSpPr>
            <a:spLocks noGrp="1"/>
          </p:cNvSpPr>
          <p:nvPr>
            <p:ph type="title"/>
          </p:nvPr>
        </p:nvSpPr>
        <p:spPr/>
        <p:txBody>
          <a:bodyPr/>
          <a:lstStyle/>
          <a:p>
            <a:r>
              <a:rPr lang="en-US"/>
              <a:t>Cloud Landing Zone (Azure)</a:t>
            </a:r>
          </a:p>
        </p:txBody>
      </p:sp>
      <p:pic>
        <p:nvPicPr>
          <p:cNvPr id="6" name="Graphic 5">
            <a:extLst>
              <a:ext uri="{FF2B5EF4-FFF2-40B4-BE49-F238E27FC236}">
                <a16:creationId xmlns:a16="http://schemas.microsoft.com/office/drawing/2014/main" id="{B9E6AED1-E076-E9D0-7E23-78DCF893B5A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66582" y="2540049"/>
            <a:ext cx="16965920" cy="10638774"/>
          </a:xfrm>
          <a:prstGeom prst="rect">
            <a:avLst/>
          </a:prstGeom>
        </p:spPr>
      </p:pic>
      <p:sp>
        <p:nvSpPr>
          <p:cNvPr id="23" name="Text Placeholder 5">
            <a:extLst>
              <a:ext uri="{FF2B5EF4-FFF2-40B4-BE49-F238E27FC236}">
                <a16:creationId xmlns:a16="http://schemas.microsoft.com/office/drawing/2014/main" id="{1D668C91-94C8-4CAC-A2CA-B71F3557AA43}"/>
              </a:ext>
            </a:extLst>
          </p:cNvPr>
          <p:cNvSpPr>
            <a:spLocks noGrp="1"/>
          </p:cNvSpPr>
          <p:nvPr>
            <p:ph type="body" sz="quarter" idx="12"/>
          </p:nvPr>
        </p:nvSpPr>
        <p:spPr>
          <a:xfrm>
            <a:off x="18884344" y="4826400"/>
            <a:ext cx="5061080" cy="6991658"/>
          </a:xfrm>
        </p:spPr>
        <p:txBody>
          <a:bodyPr/>
          <a:lstStyle/>
          <a:p>
            <a:pPr marL="0" indent="0">
              <a:spcAft>
                <a:spcPts val="3000"/>
              </a:spcAft>
              <a:buNone/>
            </a:pPr>
            <a:r>
              <a:rPr lang="en-GB" sz="2800"/>
              <a:t>Build a </a:t>
            </a:r>
            <a:r>
              <a:rPr lang="en-GB" sz="2800" u="sng"/>
              <a:t>minimum viable product</a:t>
            </a:r>
            <a:r>
              <a:rPr lang="en-GB" sz="2800"/>
              <a:t> (</a:t>
            </a:r>
            <a:r>
              <a:rPr lang="en-GB" sz="2800" b="1"/>
              <a:t>MVP</a:t>
            </a:r>
            <a:r>
              <a:rPr lang="en-GB" sz="2800"/>
              <a:t>) with a future-state in mind :</a:t>
            </a:r>
          </a:p>
          <a:p>
            <a:pPr marL="685800" indent="-685800"/>
            <a:r>
              <a:rPr lang="en-GB" sz="2800"/>
              <a:t>Naming and tagging</a:t>
            </a:r>
          </a:p>
          <a:p>
            <a:pPr marL="685800" indent="-685800"/>
            <a:r>
              <a:rPr lang="en-GB" sz="2800"/>
              <a:t>Account structure</a:t>
            </a:r>
          </a:p>
          <a:p>
            <a:pPr marL="685800" indent="-685800"/>
            <a:r>
              <a:rPr lang="en-GB" sz="2800"/>
              <a:t>Network topology</a:t>
            </a:r>
          </a:p>
          <a:p>
            <a:pPr marL="685800" indent="-685800"/>
            <a:r>
              <a:rPr lang="en-GB" sz="2800"/>
              <a:t>Identity and access,</a:t>
            </a:r>
          </a:p>
          <a:p>
            <a:pPr marL="685800" indent="-685800"/>
            <a:r>
              <a:rPr lang="en-GB" sz="2800"/>
              <a:t>Logging</a:t>
            </a:r>
          </a:p>
          <a:p>
            <a:pPr marL="685800" indent="-685800"/>
            <a:r>
              <a:rPr lang="en-GB" sz="2800"/>
              <a:t>Governance policies</a:t>
            </a:r>
          </a:p>
          <a:p>
            <a:pPr marL="685800" indent="-685800"/>
            <a:r>
              <a:rPr lang="en-GB" sz="2800"/>
              <a:t>Security controls</a:t>
            </a:r>
          </a:p>
          <a:p>
            <a:pPr marL="685800" indent="-685800"/>
            <a:r>
              <a:rPr lang="en-GB" sz="2800"/>
              <a:t>…</a:t>
            </a:r>
          </a:p>
          <a:p>
            <a:pPr lvl="0"/>
            <a:endParaRPr lang="en-US" sz="2800"/>
          </a:p>
        </p:txBody>
      </p:sp>
      <p:sp>
        <p:nvSpPr>
          <p:cNvPr id="2" name="Slide Number Placeholder 8">
            <a:extLst>
              <a:ext uri="{FF2B5EF4-FFF2-40B4-BE49-F238E27FC236}">
                <a16:creationId xmlns:a16="http://schemas.microsoft.com/office/drawing/2014/main" id="{76314481-CE89-ADB1-3BDA-6D92E29224DA}"/>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50</a:t>
            </a:fld>
            <a:endParaRPr lang="en-US">
              <a:solidFill>
                <a:srgbClr val="000000"/>
              </a:solidFill>
              <a:latin typeface="Arial"/>
            </a:endParaRPr>
          </a:p>
        </p:txBody>
      </p:sp>
    </p:spTree>
    <p:extLst>
      <p:ext uri="{BB962C8B-B14F-4D97-AF65-F5344CB8AC3E}">
        <p14:creationId xmlns:p14="http://schemas.microsoft.com/office/powerpoint/2010/main" val="109034618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624047-60A3-6B3E-5BE7-2B9BFADC83BA}"/>
            </a:ext>
          </a:extLst>
        </p:cNvPr>
        <p:cNvGrpSpPr/>
        <p:nvPr/>
      </p:nvGrpSpPr>
      <p:grpSpPr>
        <a:xfrm>
          <a:off x="0" y="0"/>
          <a:ext cx="0" cy="0"/>
          <a:chOff x="0" y="0"/>
          <a:chExt cx="0" cy="0"/>
        </a:xfrm>
      </p:grpSpPr>
      <p:sp>
        <p:nvSpPr>
          <p:cNvPr id="24" name="Rectangle 23">
            <a:extLst>
              <a:ext uri="{FF2B5EF4-FFF2-40B4-BE49-F238E27FC236}">
                <a16:creationId xmlns:a16="http://schemas.microsoft.com/office/drawing/2014/main" id="{0306C9C1-28D0-C69D-8209-BFE7CC6CD4E2}"/>
              </a:ext>
            </a:extLst>
          </p:cNvPr>
          <p:cNvSpPr/>
          <p:nvPr/>
        </p:nvSpPr>
        <p:spPr>
          <a:xfrm>
            <a:off x="233317" y="3337865"/>
            <a:ext cx="6186534" cy="8120222"/>
          </a:xfrm>
          <a:prstGeom prst="rect">
            <a:avLst/>
          </a:prstGeom>
          <a:solidFill>
            <a:sysClr val="window" lastClr="FFFFFF">
              <a:lumMod val="95000"/>
              <a:alpha val="50000"/>
            </a:sysClr>
          </a:solidFill>
          <a:ln w="12700" cap="flat" cmpd="sng" algn="ctr">
            <a:noFill/>
            <a:prstDash val="solid"/>
            <a:miter lim="800000"/>
          </a:ln>
          <a:effectLst/>
        </p:spPr>
        <p:txBody>
          <a:bodyPr rtlCol="0" anchor="ctr"/>
          <a:lstStyle/>
          <a:p>
            <a:pPr algn="ctr" defTabSz="1828800">
              <a:defRPr/>
            </a:pPr>
            <a:endParaRPr lang="en-US" sz="3600" kern="0">
              <a:solidFill>
                <a:srgbClr val="FFFFFF"/>
              </a:solidFill>
              <a:latin typeface="Arial"/>
            </a:endParaRPr>
          </a:p>
        </p:txBody>
      </p:sp>
      <p:sp>
        <p:nvSpPr>
          <p:cNvPr id="5" name="Title 4">
            <a:extLst>
              <a:ext uri="{FF2B5EF4-FFF2-40B4-BE49-F238E27FC236}">
                <a16:creationId xmlns:a16="http://schemas.microsoft.com/office/drawing/2014/main" id="{DDFF0D93-4489-0E82-02DF-837304482F50}"/>
              </a:ext>
            </a:extLst>
          </p:cNvPr>
          <p:cNvSpPr>
            <a:spLocks noGrp="1"/>
          </p:cNvSpPr>
          <p:nvPr>
            <p:ph type="title"/>
          </p:nvPr>
        </p:nvSpPr>
        <p:spPr/>
        <p:txBody>
          <a:bodyPr/>
          <a:lstStyle/>
          <a:p>
            <a:r>
              <a:rPr lang="en-US"/>
              <a:t>Cloud Landing Zone (AWS)</a:t>
            </a:r>
          </a:p>
        </p:txBody>
      </p:sp>
      <p:sp>
        <p:nvSpPr>
          <p:cNvPr id="23" name="Text Placeholder 5">
            <a:extLst>
              <a:ext uri="{FF2B5EF4-FFF2-40B4-BE49-F238E27FC236}">
                <a16:creationId xmlns:a16="http://schemas.microsoft.com/office/drawing/2014/main" id="{B6B21918-89E1-F63B-F1DB-EB2DF0959377}"/>
              </a:ext>
            </a:extLst>
          </p:cNvPr>
          <p:cNvSpPr>
            <a:spLocks noGrp="1"/>
          </p:cNvSpPr>
          <p:nvPr>
            <p:ph type="body" sz="quarter" idx="12"/>
          </p:nvPr>
        </p:nvSpPr>
        <p:spPr>
          <a:xfrm>
            <a:off x="920194" y="4445400"/>
            <a:ext cx="5061080" cy="6991658"/>
          </a:xfrm>
        </p:spPr>
        <p:txBody>
          <a:bodyPr/>
          <a:lstStyle/>
          <a:p>
            <a:pPr marL="0" indent="0">
              <a:spcAft>
                <a:spcPts val="3000"/>
              </a:spcAft>
              <a:buNone/>
            </a:pPr>
            <a:r>
              <a:rPr lang="en-GB" sz="2800"/>
              <a:t>Build a </a:t>
            </a:r>
            <a:r>
              <a:rPr lang="en-GB" sz="2800" u="sng"/>
              <a:t>minimum viable product</a:t>
            </a:r>
            <a:r>
              <a:rPr lang="en-GB" sz="2800"/>
              <a:t> (</a:t>
            </a:r>
            <a:r>
              <a:rPr lang="en-GB" sz="2800" b="1"/>
              <a:t>MVP</a:t>
            </a:r>
            <a:r>
              <a:rPr lang="en-GB" sz="2800"/>
              <a:t>) with a future-state in mind :</a:t>
            </a:r>
          </a:p>
          <a:p>
            <a:pPr marL="685800" indent="-685800"/>
            <a:r>
              <a:rPr lang="en-GB" sz="2800"/>
              <a:t>Naming and tagging</a:t>
            </a:r>
          </a:p>
          <a:p>
            <a:pPr marL="685800" indent="-685800"/>
            <a:r>
              <a:rPr lang="en-GB" sz="2800"/>
              <a:t>Account structure</a:t>
            </a:r>
          </a:p>
          <a:p>
            <a:pPr marL="685800" indent="-685800"/>
            <a:r>
              <a:rPr lang="en-GB" sz="2800"/>
              <a:t>Network topology</a:t>
            </a:r>
          </a:p>
          <a:p>
            <a:pPr marL="685800" indent="-685800"/>
            <a:r>
              <a:rPr lang="en-GB" sz="2800"/>
              <a:t>Identity and access,</a:t>
            </a:r>
          </a:p>
          <a:p>
            <a:pPr marL="685800" indent="-685800"/>
            <a:r>
              <a:rPr lang="en-GB" sz="2800"/>
              <a:t>Logging</a:t>
            </a:r>
          </a:p>
          <a:p>
            <a:pPr marL="685800" indent="-685800"/>
            <a:r>
              <a:rPr lang="en-GB" sz="2800"/>
              <a:t>Governance policies</a:t>
            </a:r>
          </a:p>
          <a:p>
            <a:pPr marL="685800" indent="-685800"/>
            <a:r>
              <a:rPr lang="en-GB" sz="2800"/>
              <a:t>Security controls</a:t>
            </a:r>
          </a:p>
          <a:p>
            <a:pPr marL="685800" indent="-685800"/>
            <a:r>
              <a:rPr lang="en-GB" sz="2800"/>
              <a:t>…</a:t>
            </a:r>
          </a:p>
          <a:p>
            <a:pPr lvl="0"/>
            <a:endParaRPr lang="en-US" sz="2800"/>
          </a:p>
        </p:txBody>
      </p:sp>
      <p:pic>
        <p:nvPicPr>
          <p:cNvPr id="4" name="Picture 3" descr="A diagram of a cloud&#10;&#10;Description automatically generated">
            <a:extLst>
              <a:ext uri="{FF2B5EF4-FFF2-40B4-BE49-F238E27FC236}">
                <a16:creationId xmlns:a16="http://schemas.microsoft.com/office/drawing/2014/main" id="{1B208B9A-F0F0-DEA3-E9C6-3D0729EBA2A6}"/>
              </a:ext>
            </a:extLst>
          </p:cNvPr>
          <p:cNvPicPr>
            <a:picLocks noChangeAspect="1"/>
          </p:cNvPicPr>
          <p:nvPr/>
        </p:nvPicPr>
        <p:blipFill>
          <a:blip r:embed="rId2"/>
          <a:stretch>
            <a:fillRect/>
          </a:stretch>
        </p:blipFill>
        <p:spPr>
          <a:xfrm>
            <a:off x="11144250" y="807332"/>
            <a:ext cx="11391900" cy="12908668"/>
          </a:xfrm>
          <a:prstGeom prst="rect">
            <a:avLst/>
          </a:prstGeom>
          <a:noFill/>
        </p:spPr>
      </p:pic>
      <p:sp>
        <p:nvSpPr>
          <p:cNvPr id="2" name="Slide Number Placeholder 8">
            <a:extLst>
              <a:ext uri="{FF2B5EF4-FFF2-40B4-BE49-F238E27FC236}">
                <a16:creationId xmlns:a16="http://schemas.microsoft.com/office/drawing/2014/main" id="{49EC81E5-DCD9-6BA7-6B5E-4C574B5FFA79}"/>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51</a:t>
            </a:fld>
            <a:endParaRPr lang="en-US">
              <a:solidFill>
                <a:srgbClr val="000000"/>
              </a:solidFill>
              <a:latin typeface="Arial"/>
            </a:endParaRPr>
          </a:p>
        </p:txBody>
      </p:sp>
    </p:spTree>
    <p:extLst>
      <p:ext uri="{BB962C8B-B14F-4D97-AF65-F5344CB8AC3E}">
        <p14:creationId xmlns:p14="http://schemas.microsoft.com/office/powerpoint/2010/main" val="1173627259"/>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0C9E8B-2CC3-C214-251C-3430269AA5C3}"/>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0C0925D5-B6FC-B564-EB46-34D0EF1B868B}"/>
              </a:ext>
            </a:extLst>
          </p:cNvPr>
          <p:cNvSpPr>
            <a:spLocks noGrp="1"/>
          </p:cNvSpPr>
          <p:nvPr>
            <p:ph type="body" sz="quarter" idx="16"/>
          </p:nvPr>
        </p:nvSpPr>
        <p:spPr>
          <a:xfrm>
            <a:off x="13014959" y="4285166"/>
            <a:ext cx="10200642" cy="4485136"/>
          </a:xfrm>
        </p:spPr>
        <p:txBody>
          <a:bodyPr/>
          <a:lstStyle/>
          <a:p>
            <a:r>
              <a:rPr lang="en-US"/>
              <a:t>Organisation </a:t>
            </a:r>
            <a:br>
              <a:rPr lang="en-US"/>
            </a:br>
            <a:r>
              <a:rPr lang="en-US"/>
              <a:t>Assessment </a:t>
            </a:r>
          </a:p>
          <a:p>
            <a:r>
              <a:rPr lang="en-US" sz="3600"/>
              <a:t>(Migration Readiness Assessment)</a:t>
            </a:r>
          </a:p>
        </p:txBody>
      </p:sp>
    </p:spTree>
    <p:extLst>
      <p:ext uri="{BB962C8B-B14F-4D97-AF65-F5344CB8AC3E}">
        <p14:creationId xmlns:p14="http://schemas.microsoft.com/office/powerpoint/2010/main" val="163614108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B8FAA9-4313-859B-A4C0-1FA7E118C595}"/>
              </a:ext>
            </a:extLst>
          </p:cNvPr>
          <p:cNvSpPr>
            <a:spLocks noGrp="1"/>
          </p:cNvSpPr>
          <p:nvPr>
            <p:ph type="title"/>
          </p:nvPr>
        </p:nvSpPr>
        <p:spPr>
          <a:xfrm>
            <a:off x="668992" y="537179"/>
            <a:ext cx="22991108" cy="968086"/>
          </a:xfrm>
        </p:spPr>
        <p:txBody>
          <a:bodyPr/>
          <a:lstStyle/>
          <a:p>
            <a:r>
              <a:rPr lang="en-GB"/>
              <a:t>MRA Summary</a:t>
            </a:r>
          </a:p>
        </p:txBody>
      </p:sp>
      <p:sp>
        <p:nvSpPr>
          <p:cNvPr id="3" name="Slide Number Placeholder 2">
            <a:extLst>
              <a:ext uri="{FF2B5EF4-FFF2-40B4-BE49-F238E27FC236}">
                <a16:creationId xmlns:a16="http://schemas.microsoft.com/office/drawing/2014/main" id="{AC5E270D-BF0A-0AF3-8598-77B0EA8402DA}"/>
              </a:ext>
            </a:extLst>
          </p:cNvPr>
          <p:cNvSpPr>
            <a:spLocks noGrp="1"/>
          </p:cNvSpPr>
          <p:nvPr>
            <p:ph type="sldNum" sz="quarter" idx="4"/>
          </p:nvPr>
        </p:nvSpPr>
        <p:spPr/>
        <p:txBody>
          <a:bodyPr/>
          <a:lstStyle/>
          <a:p>
            <a:fld id="{762E77F0-FB5B-4E8E-9BC9-34F14560A017}" type="slidenum">
              <a:rPr lang="en-US" smtClean="0"/>
              <a:pPr/>
              <a:t>53</a:t>
            </a:fld>
            <a:endParaRPr lang="en-US"/>
          </a:p>
        </p:txBody>
      </p:sp>
      <p:sp>
        <p:nvSpPr>
          <p:cNvPr id="5" name="TextBox 4">
            <a:extLst>
              <a:ext uri="{FF2B5EF4-FFF2-40B4-BE49-F238E27FC236}">
                <a16:creationId xmlns:a16="http://schemas.microsoft.com/office/drawing/2014/main" id="{165A900C-2FDE-4BFB-F837-A229F4580CDB}"/>
              </a:ext>
            </a:extLst>
          </p:cNvPr>
          <p:cNvSpPr txBox="1"/>
          <p:nvPr/>
        </p:nvSpPr>
        <p:spPr>
          <a:xfrm>
            <a:off x="668993" y="2740956"/>
            <a:ext cx="22304218" cy="8763938"/>
          </a:xfrm>
          <a:prstGeom prst="rect">
            <a:avLst/>
          </a:prstGeom>
          <a:noFill/>
        </p:spPr>
        <p:txBody>
          <a:bodyPr wrap="square">
            <a:spAutoFit/>
          </a:bodyPr>
          <a:lstStyle/>
          <a:p>
            <a:pPr algn="l"/>
            <a:r>
              <a:rPr lang="en-GB" sz="2800">
                <a:solidFill>
                  <a:srgbClr val="0F141A"/>
                </a:solidFill>
                <a:latin typeface="+mj-lt"/>
              </a:rPr>
              <a:t>A Migration Readiness Assessment (MRA) is a process of gaining insights into how far along an organization is in their cloud journey, understanding their current cloud-readiness strengths and weaknesses, and building an action plan to close identified gaps. You can use the Cloud Adoption Framework (CAF) and its six perspectives (business, people, governance, platform, security, and operations) as a framework to help ensure that you have a holistic view of the transformation initiative that is required for an effective move to the cloud.</a:t>
            </a:r>
          </a:p>
          <a:p>
            <a:pPr algn="l"/>
            <a:endParaRPr lang="en-GB" sz="2800">
              <a:solidFill>
                <a:srgbClr val="0F141A"/>
              </a:solidFill>
              <a:latin typeface="+mj-lt"/>
            </a:endParaRPr>
          </a:p>
          <a:p>
            <a:pPr algn="l">
              <a:buClr>
                <a:schemeClr val="bg2"/>
              </a:buClr>
            </a:pPr>
            <a:r>
              <a:rPr lang="en-GB" sz="2800">
                <a:solidFill>
                  <a:srgbClr val="0F141A"/>
                </a:solidFill>
                <a:latin typeface="+mj-lt"/>
              </a:rPr>
              <a:t>Three outcomes are expected from a readiness review:</a:t>
            </a:r>
          </a:p>
          <a:p>
            <a:pPr algn="l">
              <a:buClr>
                <a:schemeClr val="bg2"/>
              </a:buClr>
            </a:pPr>
            <a:endParaRPr lang="en-GB" sz="2800">
              <a:solidFill>
                <a:srgbClr val="0F141A"/>
              </a:solidFill>
              <a:latin typeface="+mj-lt"/>
            </a:endParaRPr>
          </a:p>
          <a:p>
            <a:pPr marL="342900" indent="-342900">
              <a:spcAft>
                <a:spcPts val="1500"/>
              </a:spcAft>
              <a:buClr>
                <a:schemeClr val="bg2"/>
              </a:buClr>
              <a:buFont typeface="Arial" panose="020B0604020202020204" pitchFamily="34" charset="0"/>
              <a:buChar char="•"/>
            </a:pPr>
            <a:r>
              <a:rPr lang="en-GB" sz="2800">
                <a:solidFill>
                  <a:srgbClr val="0F141A"/>
                </a:solidFill>
                <a:latin typeface="+mj-lt"/>
              </a:rPr>
              <a:t>An understanding of where an organization is in its cloud journey</a:t>
            </a:r>
          </a:p>
          <a:p>
            <a:pPr marL="342900" indent="-342900">
              <a:spcAft>
                <a:spcPts val="1500"/>
              </a:spcAft>
              <a:buClr>
                <a:schemeClr val="bg2"/>
              </a:buClr>
              <a:buFont typeface="Arial" panose="020B0604020202020204" pitchFamily="34" charset="0"/>
              <a:buChar char="•"/>
            </a:pPr>
            <a:r>
              <a:rPr lang="en-GB" sz="2800">
                <a:solidFill>
                  <a:srgbClr val="0F141A"/>
                </a:solidFill>
                <a:latin typeface="+mj-lt"/>
              </a:rPr>
              <a:t>Identified areas of strength and weakness from a cloud-readiness perspective</a:t>
            </a:r>
          </a:p>
          <a:p>
            <a:pPr marL="342900" indent="-342900">
              <a:spcAft>
                <a:spcPts val="1500"/>
              </a:spcAft>
              <a:buClr>
                <a:schemeClr val="bg2"/>
              </a:buClr>
              <a:buFont typeface="Arial" panose="020B0604020202020204" pitchFamily="34" charset="0"/>
              <a:buChar char="•"/>
            </a:pPr>
            <a:r>
              <a:rPr lang="en-GB" sz="2800">
                <a:solidFill>
                  <a:srgbClr val="0F141A"/>
                </a:solidFill>
                <a:latin typeface="+mj-lt"/>
              </a:rPr>
              <a:t>An action plan to resolve the identified gaps, so the organization can migrate at scale without having to pause to solve foundational issues</a:t>
            </a:r>
          </a:p>
          <a:p>
            <a:pPr>
              <a:spcAft>
                <a:spcPts val="1500"/>
              </a:spcAft>
              <a:buClr>
                <a:schemeClr val="bg2"/>
              </a:buClr>
              <a:buFont typeface="Arial" panose="020B0604020202020204" pitchFamily="34" charset="0"/>
              <a:buChar char="•"/>
            </a:pPr>
            <a:endParaRPr lang="en-GB" sz="2800">
              <a:solidFill>
                <a:srgbClr val="0F141A"/>
              </a:solidFill>
              <a:latin typeface="+mj-lt"/>
            </a:endParaRPr>
          </a:p>
          <a:p>
            <a:pPr algn="l">
              <a:buClr>
                <a:schemeClr val="bg2"/>
              </a:buClr>
            </a:pPr>
            <a:r>
              <a:rPr lang="en-GB" sz="2800">
                <a:solidFill>
                  <a:srgbClr val="0F141A"/>
                </a:solidFill>
                <a:latin typeface="+mj-lt"/>
              </a:rPr>
              <a:t>In addition, there are often these additional outcomes:</a:t>
            </a:r>
          </a:p>
          <a:p>
            <a:pPr algn="l">
              <a:buClr>
                <a:schemeClr val="bg2"/>
              </a:buClr>
            </a:pPr>
            <a:endParaRPr lang="en-GB" sz="2800">
              <a:solidFill>
                <a:srgbClr val="0F141A"/>
              </a:solidFill>
              <a:latin typeface="+mj-lt"/>
            </a:endParaRPr>
          </a:p>
          <a:p>
            <a:pPr marL="342900" indent="-342900">
              <a:spcAft>
                <a:spcPts val="1500"/>
              </a:spcAft>
              <a:buClr>
                <a:schemeClr val="bg2"/>
              </a:buClr>
              <a:buFont typeface="Arial" panose="020B0604020202020204" pitchFamily="34" charset="0"/>
              <a:buChar char="•"/>
            </a:pPr>
            <a:r>
              <a:rPr lang="en-GB" sz="2800">
                <a:solidFill>
                  <a:srgbClr val="0F141A"/>
                </a:solidFill>
                <a:latin typeface="+mj-lt"/>
              </a:rPr>
              <a:t>Alignment and consensus building within the team</a:t>
            </a:r>
          </a:p>
          <a:p>
            <a:pPr marL="342900" indent="-342900">
              <a:spcAft>
                <a:spcPts val="1500"/>
              </a:spcAft>
              <a:buClr>
                <a:schemeClr val="bg2"/>
              </a:buClr>
              <a:buFont typeface="Arial" panose="020B0604020202020204" pitchFamily="34" charset="0"/>
              <a:buChar char="•"/>
            </a:pPr>
            <a:r>
              <a:rPr lang="en-GB" sz="2800">
                <a:solidFill>
                  <a:srgbClr val="0F141A"/>
                </a:solidFill>
                <a:latin typeface="+mj-lt"/>
              </a:rPr>
              <a:t>Identification of best practices within the organization that can be leveraged and scaled</a:t>
            </a:r>
          </a:p>
          <a:p>
            <a:pPr marL="342900" indent="-342900">
              <a:spcAft>
                <a:spcPts val="1500"/>
              </a:spcAft>
              <a:buClr>
                <a:schemeClr val="bg2"/>
              </a:buClr>
              <a:buFont typeface="Arial" panose="020B0604020202020204" pitchFamily="34" charset="0"/>
              <a:buChar char="•"/>
            </a:pPr>
            <a:r>
              <a:rPr lang="en-GB" sz="2800">
                <a:solidFill>
                  <a:srgbClr val="0F141A"/>
                </a:solidFill>
                <a:latin typeface="+mj-lt"/>
              </a:rPr>
              <a:t>A reduction in roadblocks that can disrupt progress</a:t>
            </a:r>
          </a:p>
          <a:p>
            <a:pPr>
              <a:spcAft>
                <a:spcPts val="1500"/>
              </a:spcAft>
              <a:buClr>
                <a:schemeClr val="bg2"/>
              </a:buClr>
            </a:pPr>
            <a:endParaRPr lang="en-GB" sz="2800">
              <a:solidFill>
                <a:srgbClr val="0F141A"/>
              </a:solidFill>
              <a:latin typeface="+mj-lt"/>
            </a:endParaRPr>
          </a:p>
        </p:txBody>
      </p:sp>
    </p:spTree>
    <p:extLst>
      <p:ext uri="{BB962C8B-B14F-4D97-AF65-F5344CB8AC3E}">
        <p14:creationId xmlns:p14="http://schemas.microsoft.com/office/powerpoint/2010/main" val="317899084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7C986D-A74B-6512-25B7-456D3C1CA00D}"/>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BBE7F9AB-5AF5-4484-DAB6-53324F8E960D}"/>
              </a:ext>
            </a:extLst>
          </p:cNvPr>
          <p:cNvSpPr>
            <a:spLocks noGrp="1"/>
          </p:cNvSpPr>
          <p:nvPr>
            <p:ph type="title"/>
          </p:nvPr>
        </p:nvSpPr>
        <p:spPr/>
        <p:txBody>
          <a:bodyPr/>
          <a:lstStyle/>
          <a:p>
            <a:r>
              <a:rPr lang="en-GB"/>
              <a:t>MRA Readiness Radar Chart</a:t>
            </a:r>
            <a:endParaRPr lang="en-AE"/>
          </a:p>
        </p:txBody>
      </p:sp>
      <p:sp>
        <p:nvSpPr>
          <p:cNvPr id="17" name="TextBox 16">
            <a:extLst>
              <a:ext uri="{FF2B5EF4-FFF2-40B4-BE49-F238E27FC236}">
                <a16:creationId xmlns:a16="http://schemas.microsoft.com/office/drawing/2014/main" id="{5479BC52-8B95-FE44-2D7C-05271C0FD082}"/>
              </a:ext>
            </a:extLst>
          </p:cNvPr>
          <p:cNvSpPr txBox="1">
            <a:spLocks noChangeAspect="1"/>
          </p:cNvSpPr>
          <p:nvPr/>
        </p:nvSpPr>
        <p:spPr>
          <a:xfrm>
            <a:off x="527963" y="2721872"/>
            <a:ext cx="7302174" cy="646331"/>
          </a:xfrm>
          <a:prstGeom prst="rect">
            <a:avLst/>
          </a:prstGeom>
          <a:noFill/>
        </p:spPr>
        <p:txBody>
          <a:bodyPr wrap="square" rtlCol="0">
            <a:spAutoFit/>
          </a:bodyPr>
          <a:lstStyle/>
          <a:p>
            <a:pPr algn="ctr">
              <a:defRPr/>
            </a:pPr>
            <a:r>
              <a:rPr lang="en-GB" sz="3600">
                <a:solidFill>
                  <a:srgbClr val="64005A"/>
                </a:solidFill>
                <a:latin typeface="Arial"/>
              </a:rPr>
              <a:t>Assess</a:t>
            </a:r>
            <a:r>
              <a:rPr lang="en-GB" sz="3600">
                <a:solidFill>
                  <a:srgbClr val="000000"/>
                </a:solidFill>
                <a:latin typeface="Arial"/>
              </a:rPr>
              <a:t> Readiness </a:t>
            </a:r>
            <a:r>
              <a:rPr lang="en-GB" sz="3600">
                <a:solidFill>
                  <a:srgbClr val="FFFFFF"/>
                </a:solidFill>
                <a:highlight>
                  <a:srgbClr val="111111"/>
                </a:highlight>
                <a:latin typeface="Arial"/>
              </a:rPr>
              <a:t>Perspectives</a:t>
            </a:r>
          </a:p>
        </p:txBody>
      </p:sp>
      <p:sp>
        <p:nvSpPr>
          <p:cNvPr id="18" name="TextBox 17">
            <a:extLst>
              <a:ext uri="{FF2B5EF4-FFF2-40B4-BE49-F238E27FC236}">
                <a16:creationId xmlns:a16="http://schemas.microsoft.com/office/drawing/2014/main" id="{4F120E4D-547A-6CD6-3A5B-248F0C159D82}"/>
              </a:ext>
            </a:extLst>
          </p:cNvPr>
          <p:cNvSpPr txBox="1"/>
          <p:nvPr/>
        </p:nvSpPr>
        <p:spPr>
          <a:xfrm>
            <a:off x="12920695" y="2721870"/>
            <a:ext cx="9708570" cy="646331"/>
          </a:xfrm>
          <a:prstGeom prst="rect">
            <a:avLst/>
          </a:prstGeom>
          <a:noFill/>
        </p:spPr>
        <p:txBody>
          <a:bodyPr wrap="square" rtlCol="0">
            <a:spAutoFit/>
          </a:bodyPr>
          <a:lstStyle/>
          <a:p>
            <a:pPr algn="ctr">
              <a:defRPr/>
            </a:pPr>
            <a:r>
              <a:rPr lang="en-GB" sz="3600">
                <a:solidFill>
                  <a:srgbClr val="64005A"/>
                </a:solidFill>
                <a:latin typeface="Arial"/>
              </a:rPr>
              <a:t>Pre-Migration</a:t>
            </a:r>
            <a:r>
              <a:rPr lang="en-GB" sz="3600">
                <a:solidFill>
                  <a:srgbClr val="000000"/>
                </a:solidFill>
                <a:latin typeface="Arial"/>
              </a:rPr>
              <a:t> Readiness </a:t>
            </a:r>
            <a:r>
              <a:rPr lang="en-GB" sz="3600">
                <a:solidFill>
                  <a:srgbClr val="FFFFFF"/>
                </a:solidFill>
                <a:highlight>
                  <a:srgbClr val="111111"/>
                </a:highlight>
                <a:latin typeface="Arial"/>
              </a:rPr>
              <a:t>Workstreams</a:t>
            </a:r>
          </a:p>
        </p:txBody>
      </p:sp>
      <p:sp>
        <p:nvSpPr>
          <p:cNvPr id="28" name="Arrow: Striped Right 27">
            <a:extLst>
              <a:ext uri="{FF2B5EF4-FFF2-40B4-BE49-F238E27FC236}">
                <a16:creationId xmlns:a16="http://schemas.microsoft.com/office/drawing/2014/main" id="{E1A0AF13-EFE8-3323-E907-B6BBA83B44F9}"/>
              </a:ext>
            </a:extLst>
          </p:cNvPr>
          <p:cNvSpPr/>
          <p:nvPr/>
        </p:nvSpPr>
        <p:spPr>
          <a:xfrm>
            <a:off x="10403157" y="6002624"/>
            <a:ext cx="1203398" cy="969264"/>
          </a:xfrm>
          <a:prstGeom prst="stripedRightArrow">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AE" sz="3600">
              <a:solidFill>
                <a:srgbClr val="FFFFFF"/>
              </a:solidFill>
              <a:latin typeface="Arial"/>
            </a:endParaRPr>
          </a:p>
        </p:txBody>
      </p:sp>
      <p:graphicFrame>
        <p:nvGraphicFramePr>
          <p:cNvPr id="4" name="Chart 3">
            <a:extLst>
              <a:ext uri="{FF2B5EF4-FFF2-40B4-BE49-F238E27FC236}">
                <a16:creationId xmlns:a16="http://schemas.microsoft.com/office/drawing/2014/main" id="{47624B09-836C-5109-58B8-C13D9685FA80}"/>
              </a:ext>
            </a:extLst>
          </p:cNvPr>
          <p:cNvGraphicFramePr>
            <a:graphicFrameLocks noGrp="1"/>
          </p:cNvGraphicFramePr>
          <p:nvPr/>
        </p:nvGraphicFramePr>
        <p:xfrm>
          <a:off x="108721" y="2721870"/>
          <a:ext cx="8236254" cy="754258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 name="Chart 7">
            <a:extLst>
              <a:ext uri="{FF2B5EF4-FFF2-40B4-BE49-F238E27FC236}">
                <a16:creationId xmlns:a16="http://schemas.microsoft.com/office/drawing/2014/main" id="{661167DF-EF9A-C5AA-1B32-06693A42433D}"/>
              </a:ext>
            </a:extLst>
          </p:cNvPr>
          <p:cNvGraphicFramePr>
            <a:graphicFrameLocks noGrp="1"/>
          </p:cNvGraphicFramePr>
          <p:nvPr/>
        </p:nvGraphicFramePr>
        <p:xfrm>
          <a:off x="13944108" y="2301734"/>
          <a:ext cx="8523444" cy="812559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Chart 8">
            <a:extLst>
              <a:ext uri="{FF2B5EF4-FFF2-40B4-BE49-F238E27FC236}">
                <a16:creationId xmlns:a16="http://schemas.microsoft.com/office/drawing/2014/main" id="{144DB63D-4D4D-9D74-F6A5-BCABC1A351BE}"/>
              </a:ext>
            </a:extLst>
          </p:cNvPr>
          <p:cNvGraphicFramePr>
            <a:graphicFrameLocks noGrp="1"/>
          </p:cNvGraphicFramePr>
          <p:nvPr/>
        </p:nvGraphicFramePr>
        <p:xfrm>
          <a:off x="12483302" y="9387506"/>
          <a:ext cx="10739224" cy="4114796"/>
        </p:xfrm>
        <a:graphic>
          <a:graphicData uri="http://schemas.openxmlformats.org/drawingml/2006/chart">
            <c:chart xmlns:c="http://schemas.openxmlformats.org/drawingml/2006/chart" xmlns:r="http://schemas.openxmlformats.org/officeDocument/2006/relationships" r:id="rId4"/>
          </a:graphicData>
        </a:graphic>
      </p:graphicFrame>
      <p:sp>
        <p:nvSpPr>
          <p:cNvPr id="11" name="TextBox 10">
            <a:extLst>
              <a:ext uri="{FF2B5EF4-FFF2-40B4-BE49-F238E27FC236}">
                <a16:creationId xmlns:a16="http://schemas.microsoft.com/office/drawing/2014/main" id="{8BA036C3-EA8B-EA5F-8187-D98CA4D93A01}"/>
              </a:ext>
            </a:extLst>
          </p:cNvPr>
          <p:cNvSpPr txBox="1"/>
          <p:nvPr/>
        </p:nvSpPr>
        <p:spPr>
          <a:xfrm>
            <a:off x="16894628" y="13178823"/>
            <a:ext cx="491160" cy="430887"/>
          </a:xfrm>
          <a:prstGeom prst="rect">
            <a:avLst/>
          </a:prstGeom>
          <a:noFill/>
        </p:spPr>
        <p:txBody>
          <a:bodyPr wrap="square" rtlCol="0">
            <a:spAutoFit/>
          </a:bodyPr>
          <a:lstStyle/>
          <a:p>
            <a:pPr algn="l"/>
            <a:r>
              <a:rPr lang="en-GB" sz="2200">
                <a:latin typeface="Fira Sans" panose="020B0503050000020004" pitchFamily="34" charset="0"/>
              </a:rPr>
              <a:t>1</a:t>
            </a:r>
          </a:p>
        </p:txBody>
      </p:sp>
      <p:sp>
        <p:nvSpPr>
          <p:cNvPr id="12" name="TextBox 11">
            <a:extLst>
              <a:ext uri="{FF2B5EF4-FFF2-40B4-BE49-F238E27FC236}">
                <a16:creationId xmlns:a16="http://schemas.microsoft.com/office/drawing/2014/main" id="{CC3C7177-964F-5D0E-7D55-896BC006C313}"/>
              </a:ext>
            </a:extLst>
          </p:cNvPr>
          <p:cNvSpPr txBox="1"/>
          <p:nvPr/>
        </p:nvSpPr>
        <p:spPr>
          <a:xfrm>
            <a:off x="18357668" y="13178823"/>
            <a:ext cx="491160" cy="430887"/>
          </a:xfrm>
          <a:prstGeom prst="rect">
            <a:avLst/>
          </a:prstGeom>
          <a:noFill/>
        </p:spPr>
        <p:txBody>
          <a:bodyPr wrap="square" rtlCol="0">
            <a:spAutoFit/>
          </a:bodyPr>
          <a:lstStyle/>
          <a:p>
            <a:pPr algn="l"/>
            <a:r>
              <a:rPr lang="en-GB" sz="2200">
                <a:latin typeface="Fira Sans" panose="020B0503050000020004" pitchFamily="34" charset="0"/>
              </a:rPr>
              <a:t>2</a:t>
            </a:r>
          </a:p>
        </p:txBody>
      </p:sp>
      <p:sp>
        <p:nvSpPr>
          <p:cNvPr id="13" name="TextBox 12">
            <a:extLst>
              <a:ext uri="{FF2B5EF4-FFF2-40B4-BE49-F238E27FC236}">
                <a16:creationId xmlns:a16="http://schemas.microsoft.com/office/drawing/2014/main" id="{DE48FF51-B424-0DE1-2FC0-F5A3725FF3A9}"/>
              </a:ext>
            </a:extLst>
          </p:cNvPr>
          <p:cNvSpPr txBox="1"/>
          <p:nvPr/>
        </p:nvSpPr>
        <p:spPr>
          <a:xfrm>
            <a:off x="19768456" y="13178823"/>
            <a:ext cx="491160" cy="430887"/>
          </a:xfrm>
          <a:prstGeom prst="rect">
            <a:avLst/>
          </a:prstGeom>
          <a:noFill/>
        </p:spPr>
        <p:txBody>
          <a:bodyPr wrap="square" rtlCol="0">
            <a:spAutoFit/>
          </a:bodyPr>
          <a:lstStyle/>
          <a:p>
            <a:pPr algn="l"/>
            <a:r>
              <a:rPr lang="en-GB" sz="2200">
                <a:latin typeface="Fira Sans" panose="020B0503050000020004" pitchFamily="34" charset="0"/>
              </a:rPr>
              <a:t>3</a:t>
            </a:r>
          </a:p>
        </p:txBody>
      </p:sp>
      <p:sp>
        <p:nvSpPr>
          <p:cNvPr id="14" name="TextBox 13">
            <a:extLst>
              <a:ext uri="{FF2B5EF4-FFF2-40B4-BE49-F238E27FC236}">
                <a16:creationId xmlns:a16="http://schemas.microsoft.com/office/drawing/2014/main" id="{CEAEC737-3306-9337-8466-62839BC2BA2C}"/>
              </a:ext>
            </a:extLst>
          </p:cNvPr>
          <p:cNvSpPr txBox="1"/>
          <p:nvPr/>
        </p:nvSpPr>
        <p:spPr>
          <a:xfrm>
            <a:off x="21301166" y="13178823"/>
            <a:ext cx="491160" cy="430887"/>
          </a:xfrm>
          <a:prstGeom prst="rect">
            <a:avLst/>
          </a:prstGeom>
          <a:noFill/>
        </p:spPr>
        <p:txBody>
          <a:bodyPr wrap="square" rtlCol="0">
            <a:spAutoFit/>
          </a:bodyPr>
          <a:lstStyle/>
          <a:p>
            <a:pPr algn="l"/>
            <a:r>
              <a:rPr lang="en-GB" sz="2200">
                <a:latin typeface="Fira Sans" panose="020B0503050000020004" pitchFamily="34" charset="0"/>
              </a:rPr>
              <a:t>4</a:t>
            </a:r>
          </a:p>
        </p:txBody>
      </p:sp>
      <p:sp>
        <p:nvSpPr>
          <p:cNvPr id="15" name="TextBox 14">
            <a:extLst>
              <a:ext uri="{FF2B5EF4-FFF2-40B4-BE49-F238E27FC236}">
                <a16:creationId xmlns:a16="http://schemas.microsoft.com/office/drawing/2014/main" id="{C33CD474-E64F-E42F-A023-4A23B9B0EC24}"/>
              </a:ext>
            </a:extLst>
          </p:cNvPr>
          <p:cNvSpPr txBox="1"/>
          <p:nvPr/>
        </p:nvSpPr>
        <p:spPr>
          <a:xfrm>
            <a:off x="22677120" y="13178823"/>
            <a:ext cx="491160" cy="430887"/>
          </a:xfrm>
          <a:prstGeom prst="rect">
            <a:avLst/>
          </a:prstGeom>
          <a:noFill/>
        </p:spPr>
        <p:txBody>
          <a:bodyPr wrap="square" rtlCol="0">
            <a:spAutoFit/>
          </a:bodyPr>
          <a:lstStyle/>
          <a:p>
            <a:pPr algn="l"/>
            <a:r>
              <a:rPr lang="en-GB" sz="2200">
                <a:latin typeface="Fira Sans" panose="020B0503050000020004" pitchFamily="34" charset="0"/>
              </a:rPr>
              <a:t>5</a:t>
            </a:r>
          </a:p>
        </p:txBody>
      </p:sp>
      <p:sp>
        <p:nvSpPr>
          <p:cNvPr id="2" name="Slide Number Placeholder 8">
            <a:extLst>
              <a:ext uri="{FF2B5EF4-FFF2-40B4-BE49-F238E27FC236}">
                <a16:creationId xmlns:a16="http://schemas.microsoft.com/office/drawing/2014/main" id="{95A3FD43-A880-6439-6D59-9A143CBE3379}"/>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54</a:t>
            </a:fld>
            <a:endParaRPr lang="en-US">
              <a:solidFill>
                <a:srgbClr val="000000"/>
              </a:solidFill>
              <a:latin typeface="Arial"/>
            </a:endParaRPr>
          </a:p>
        </p:txBody>
      </p:sp>
      <p:sp>
        <p:nvSpPr>
          <p:cNvPr id="3" name="TextBox 2">
            <a:extLst>
              <a:ext uri="{FF2B5EF4-FFF2-40B4-BE49-F238E27FC236}">
                <a16:creationId xmlns:a16="http://schemas.microsoft.com/office/drawing/2014/main" id="{0E7554BE-3ACD-CA36-75ED-570B4CD01FB8}"/>
              </a:ext>
            </a:extLst>
          </p:cNvPr>
          <p:cNvSpPr txBox="1"/>
          <p:nvPr/>
        </p:nvSpPr>
        <p:spPr>
          <a:xfrm>
            <a:off x="108720" y="10040020"/>
            <a:ext cx="12570960" cy="2677656"/>
          </a:xfrm>
          <a:prstGeom prst="rect">
            <a:avLst/>
          </a:prstGeom>
          <a:noFill/>
        </p:spPr>
        <p:txBody>
          <a:bodyPr wrap="square" rtlCol="0">
            <a:spAutoFit/>
          </a:bodyPr>
          <a:lstStyle/>
          <a:p>
            <a:pPr algn="l"/>
            <a:r>
              <a:rPr lang="en-GB" sz="2800">
                <a:latin typeface="+mj-lt"/>
              </a:rPr>
              <a:t>Scores are based on readiness for migration, such as processes tested for cloud and current business understanding or utilisation of cloud offerings.</a:t>
            </a:r>
          </a:p>
          <a:p>
            <a:pPr algn="l"/>
            <a:endParaRPr lang="en-GB" sz="2800">
              <a:latin typeface="+mj-lt"/>
            </a:endParaRPr>
          </a:p>
          <a:p>
            <a:pPr algn="l"/>
            <a:r>
              <a:rPr lang="en-GB" sz="2800">
                <a:latin typeface="+mj-lt"/>
              </a:rPr>
              <a:t>E.g. using S3 or Blob storage for backups on cloud vs local backups.</a:t>
            </a:r>
          </a:p>
          <a:p>
            <a:pPr algn="l"/>
            <a:endParaRPr lang="en-GB" sz="2800">
              <a:latin typeface="+mj-lt"/>
            </a:endParaRPr>
          </a:p>
          <a:p>
            <a:pPr algn="l"/>
            <a:r>
              <a:rPr lang="en-GB" sz="2800">
                <a:latin typeface="+mj-lt"/>
                <a:hlinkClick r:id="rId5"/>
              </a:rPr>
              <a:t>Final Scoring for all areas and suggested actions in MRA Folder.</a:t>
            </a:r>
            <a:endParaRPr lang="en-GB" sz="2800">
              <a:latin typeface="+mj-lt"/>
            </a:endParaRPr>
          </a:p>
        </p:txBody>
      </p:sp>
    </p:spTree>
    <p:extLst>
      <p:ext uri="{BB962C8B-B14F-4D97-AF65-F5344CB8AC3E}">
        <p14:creationId xmlns:p14="http://schemas.microsoft.com/office/powerpoint/2010/main" val="84566708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1966A7-3661-1E89-2768-AA25F9ED4EF0}"/>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81645C56-2674-0585-2FCD-63234BB37702}"/>
              </a:ext>
            </a:extLst>
          </p:cNvPr>
          <p:cNvSpPr>
            <a:spLocks noGrp="1"/>
          </p:cNvSpPr>
          <p:nvPr>
            <p:ph type="title"/>
          </p:nvPr>
        </p:nvSpPr>
        <p:spPr>
          <a:xfrm>
            <a:off x="668994" y="537179"/>
            <a:ext cx="22968612" cy="968086"/>
          </a:xfrm>
        </p:spPr>
        <p:txBody>
          <a:bodyPr/>
          <a:lstStyle/>
          <a:p>
            <a:r>
              <a:rPr lang="en-GB"/>
              <a:t>MRA Workstream Summary – Migration focus areas</a:t>
            </a:r>
            <a:endParaRPr lang="en-AE"/>
          </a:p>
        </p:txBody>
      </p:sp>
      <p:grpSp>
        <p:nvGrpSpPr>
          <p:cNvPr id="11" name="Group 3">
            <a:extLst>
              <a:ext uri="{FF2B5EF4-FFF2-40B4-BE49-F238E27FC236}">
                <a16:creationId xmlns:a16="http://schemas.microsoft.com/office/drawing/2014/main" id="{5EFF630D-F87C-E2AA-1D29-D35132CBDA58}"/>
              </a:ext>
            </a:extLst>
          </p:cNvPr>
          <p:cNvGrpSpPr/>
          <p:nvPr/>
        </p:nvGrpSpPr>
        <p:grpSpPr>
          <a:xfrm>
            <a:off x="6578656" y="2624109"/>
            <a:ext cx="5334348" cy="9204736"/>
            <a:chOff x="0" y="100750"/>
            <a:chExt cx="11499744" cy="1026444"/>
          </a:xfrm>
        </p:grpSpPr>
        <p:sp>
          <p:nvSpPr>
            <p:cNvPr id="12" name="TextBox 99">
              <a:extLst>
                <a:ext uri="{FF2B5EF4-FFF2-40B4-BE49-F238E27FC236}">
                  <a16:creationId xmlns:a16="http://schemas.microsoft.com/office/drawing/2014/main" id="{0B3EA9A8-5F40-A646-CBE4-A982FA0FB2BE}"/>
                </a:ext>
              </a:extLst>
            </p:cNvPr>
            <p:cNvSpPr/>
            <p:nvPr/>
          </p:nvSpPr>
          <p:spPr>
            <a:xfrm>
              <a:off x="0" y="100750"/>
              <a:ext cx="11499744" cy="1012806"/>
            </a:xfrm>
            <a:prstGeom prst="roundRect">
              <a:avLst>
                <a:gd name="adj" fmla="val 0"/>
              </a:avLst>
            </a:prstGeom>
            <a:noFill/>
            <a:ln w="19050" cap="flat">
              <a:solidFill>
                <a:schemeClr val="tx1"/>
              </a:solidFill>
              <a:prstDash val="solid"/>
              <a:miter lim="800000"/>
            </a:ln>
            <a:effectLst/>
          </p:spPr>
          <p:txBody>
            <a:bodyPr wrap="square" lIns="91438" tIns="91438" rIns="91438" bIns="91438" numCol="1" anchor="ctr">
              <a:noAutofit/>
            </a:bodyPr>
            <a:lstStyle/>
            <a:p>
              <a:pPr algn="ctr">
                <a:defRPr sz="1800">
                  <a:solidFill>
                    <a:srgbClr val="E8F2FD">
                      <a:hueOff val="-12685714"/>
                      <a:satOff val="-84000"/>
                      <a:lumOff val="4901"/>
                    </a:srgbClr>
                  </a:solidFill>
                </a:defRPr>
              </a:pPr>
              <a:endParaRPr sz="3600">
                <a:solidFill>
                  <a:srgbClr val="E8F2FD">
                    <a:hueOff val="-12685714"/>
                    <a:satOff val="-84000"/>
                    <a:lumOff val="4901"/>
                  </a:srgbClr>
                </a:solidFill>
                <a:latin typeface="Arial"/>
              </a:endParaRPr>
            </a:p>
          </p:txBody>
        </p:sp>
        <p:sp>
          <p:nvSpPr>
            <p:cNvPr id="13" name="TextBox 55">
              <a:extLst>
                <a:ext uri="{FF2B5EF4-FFF2-40B4-BE49-F238E27FC236}">
                  <a16:creationId xmlns:a16="http://schemas.microsoft.com/office/drawing/2014/main" id="{43C0EC47-B5FE-E4AB-4F1C-83AC062677EE}"/>
                </a:ext>
              </a:extLst>
            </p:cNvPr>
            <p:cNvSpPr txBox="1"/>
            <p:nvPr/>
          </p:nvSpPr>
          <p:spPr>
            <a:xfrm>
              <a:off x="3574734" y="1092873"/>
              <a:ext cx="4320000" cy="34321"/>
            </a:xfrm>
            <a:prstGeom prst="rect">
              <a:avLst/>
            </a:prstGeom>
            <a:solidFill>
              <a:schemeClr val="bg1"/>
            </a:solidFill>
            <a:ln w="12700" cap="flat">
              <a:noFill/>
              <a:miter lim="400000"/>
            </a:ln>
            <a:effectLst/>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0" tIns="0" rIns="0" bIns="0" numCol="1" anchor="ctr">
              <a:spAutoFit/>
            </a:bodyPr>
            <a:lstStyle>
              <a:lvl1pPr algn="ctr" defTabSz="914400">
                <a:spcBef>
                  <a:spcPts val="1500"/>
                </a:spcBef>
                <a:defRPr sz="1600" b="1" spc="600">
                  <a:solidFill>
                    <a:srgbClr val="EB0000"/>
                  </a:solidFill>
                </a:defRPr>
              </a:lvl1pPr>
            </a:lstStyle>
            <a:p>
              <a:pPr defTabSz="1828800">
                <a:spcBef>
                  <a:spcPts val="3000"/>
                </a:spcBef>
                <a:defRPr/>
              </a:pPr>
              <a:r>
                <a:rPr lang="en-US" sz="2000" spc="0">
                  <a:solidFill>
                    <a:srgbClr val="000000"/>
                  </a:solidFill>
                  <a:latin typeface="Arial"/>
                </a:rPr>
                <a:t>PORTFOLIO</a:t>
              </a:r>
            </a:p>
          </p:txBody>
        </p:sp>
      </p:grpSp>
      <p:grpSp>
        <p:nvGrpSpPr>
          <p:cNvPr id="14" name="Group 3">
            <a:extLst>
              <a:ext uri="{FF2B5EF4-FFF2-40B4-BE49-F238E27FC236}">
                <a16:creationId xmlns:a16="http://schemas.microsoft.com/office/drawing/2014/main" id="{2C3EA602-C79C-59DD-99B8-3422733B231E}"/>
              </a:ext>
            </a:extLst>
          </p:cNvPr>
          <p:cNvGrpSpPr/>
          <p:nvPr/>
        </p:nvGrpSpPr>
        <p:grpSpPr>
          <a:xfrm>
            <a:off x="12470998" y="2624109"/>
            <a:ext cx="11009604" cy="9205102"/>
            <a:chOff x="0" y="100750"/>
            <a:chExt cx="11499744" cy="1026401"/>
          </a:xfrm>
        </p:grpSpPr>
        <p:sp>
          <p:nvSpPr>
            <p:cNvPr id="15" name="TextBox 99">
              <a:extLst>
                <a:ext uri="{FF2B5EF4-FFF2-40B4-BE49-F238E27FC236}">
                  <a16:creationId xmlns:a16="http://schemas.microsoft.com/office/drawing/2014/main" id="{25C53057-8231-278A-DD5B-B31334CBC226}"/>
                </a:ext>
              </a:extLst>
            </p:cNvPr>
            <p:cNvSpPr/>
            <p:nvPr/>
          </p:nvSpPr>
          <p:spPr>
            <a:xfrm>
              <a:off x="0" y="100750"/>
              <a:ext cx="11499744" cy="1012806"/>
            </a:xfrm>
            <a:prstGeom prst="roundRect">
              <a:avLst>
                <a:gd name="adj" fmla="val 0"/>
              </a:avLst>
            </a:prstGeom>
            <a:noFill/>
            <a:ln w="19050" cap="flat">
              <a:solidFill>
                <a:schemeClr val="tx1"/>
              </a:solidFill>
              <a:prstDash val="solid"/>
              <a:miter lim="800000"/>
            </a:ln>
            <a:effectLst/>
          </p:spPr>
          <p:txBody>
            <a:bodyPr wrap="square" lIns="91438" tIns="91438" rIns="91438" bIns="91438" numCol="1" anchor="ctr">
              <a:noAutofit/>
            </a:bodyPr>
            <a:lstStyle/>
            <a:p>
              <a:pPr algn="ctr">
                <a:defRPr sz="1800">
                  <a:solidFill>
                    <a:srgbClr val="E8F2FD">
                      <a:hueOff val="-12685714"/>
                      <a:satOff val="-84000"/>
                      <a:lumOff val="4901"/>
                    </a:srgbClr>
                  </a:solidFill>
                </a:defRPr>
              </a:pPr>
              <a:endParaRPr sz="3600">
                <a:solidFill>
                  <a:srgbClr val="E8F2FD">
                    <a:hueOff val="-12685714"/>
                    <a:satOff val="-84000"/>
                    <a:lumOff val="4901"/>
                  </a:srgbClr>
                </a:solidFill>
                <a:latin typeface="Arial"/>
              </a:endParaRPr>
            </a:p>
          </p:txBody>
        </p:sp>
        <p:sp>
          <p:nvSpPr>
            <p:cNvPr id="16" name="TextBox 55">
              <a:extLst>
                <a:ext uri="{FF2B5EF4-FFF2-40B4-BE49-F238E27FC236}">
                  <a16:creationId xmlns:a16="http://schemas.microsoft.com/office/drawing/2014/main" id="{8E1F582E-6B8B-72FD-5EE8-01124ED4E64D}"/>
                </a:ext>
              </a:extLst>
            </p:cNvPr>
            <p:cNvSpPr txBox="1"/>
            <p:nvPr/>
          </p:nvSpPr>
          <p:spPr>
            <a:xfrm>
              <a:off x="4515963" y="1092833"/>
              <a:ext cx="2471420" cy="34318"/>
            </a:xfrm>
            <a:prstGeom prst="rect">
              <a:avLst/>
            </a:prstGeom>
            <a:solidFill>
              <a:schemeClr val="bg1"/>
            </a:solidFill>
            <a:ln w="12700" cap="flat">
              <a:noFill/>
              <a:miter lim="400000"/>
            </a:ln>
            <a:effectLst/>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0" tIns="0" rIns="0" bIns="0" numCol="1" anchor="ctr">
              <a:spAutoFit/>
            </a:bodyPr>
            <a:lstStyle>
              <a:lvl1pPr algn="ctr" defTabSz="914400">
                <a:spcBef>
                  <a:spcPts val="1500"/>
                </a:spcBef>
                <a:defRPr sz="1600" b="1" spc="600">
                  <a:solidFill>
                    <a:srgbClr val="EB0000"/>
                  </a:solidFill>
                </a:defRPr>
              </a:lvl1pPr>
            </a:lstStyle>
            <a:p>
              <a:pPr defTabSz="1828800">
                <a:spcBef>
                  <a:spcPts val="3000"/>
                </a:spcBef>
                <a:defRPr/>
              </a:pPr>
              <a:r>
                <a:rPr lang="en-US" sz="2000" spc="0">
                  <a:solidFill>
                    <a:srgbClr val="000000"/>
                  </a:solidFill>
                  <a:latin typeface="Arial"/>
                </a:rPr>
                <a:t>PLATFORM</a:t>
              </a:r>
            </a:p>
          </p:txBody>
        </p:sp>
      </p:grpSp>
      <p:grpSp>
        <p:nvGrpSpPr>
          <p:cNvPr id="130" name="Group 3">
            <a:extLst>
              <a:ext uri="{FF2B5EF4-FFF2-40B4-BE49-F238E27FC236}">
                <a16:creationId xmlns:a16="http://schemas.microsoft.com/office/drawing/2014/main" id="{A39C313A-BA8B-2205-9DCB-78C66BDC6EAC}"/>
              </a:ext>
            </a:extLst>
          </p:cNvPr>
          <p:cNvGrpSpPr/>
          <p:nvPr/>
        </p:nvGrpSpPr>
        <p:grpSpPr>
          <a:xfrm>
            <a:off x="672270" y="2624111"/>
            <a:ext cx="5334348" cy="4092288"/>
            <a:chOff x="0" y="100750"/>
            <a:chExt cx="11499744" cy="1048720"/>
          </a:xfrm>
        </p:grpSpPr>
        <p:sp>
          <p:nvSpPr>
            <p:cNvPr id="131" name="TextBox 99">
              <a:extLst>
                <a:ext uri="{FF2B5EF4-FFF2-40B4-BE49-F238E27FC236}">
                  <a16:creationId xmlns:a16="http://schemas.microsoft.com/office/drawing/2014/main" id="{A342CCA2-A170-0AE7-62EC-1F6FDF958A03}"/>
                </a:ext>
              </a:extLst>
            </p:cNvPr>
            <p:cNvSpPr/>
            <p:nvPr/>
          </p:nvSpPr>
          <p:spPr>
            <a:xfrm>
              <a:off x="0" y="100750"/>
              <a:ext cx="11499744" cy="1012806"/>
            </a:xfrm>
            <a:prstGeom prst="roundRect">
              <a:avLst>
                <a:gd name="adj" fmla="val 0"/>
              </a:avLst>
            </a:prstGeom>
            <a:noFill/>
            <a:ln w="19050" cap="flat">
              <a:solidFill>
                <a:schemeClr val="tx1"/>
              </a:solidFill>
              <a:prstDash val="solid"/>
              <a:miter lim="800000"/>
            </a:ln>
            <a:effectLst/>
          </p:spPr>
          <p:txBody>
            <a:bodyPr wrap="square" lIns="91438" tIns="91438" rIns="91438" bIns="91438" numCol="1" anchor="ctr">
              <a:noAutofit/>
            </a:bodyPr>
            <a:lstStyle/>
            <a:p>
              <a:pPr algn="ctr">
                <a:defRPr sz="1800">
                  <a:solidFill>
                    <a:srgbClr val="E8F2FD">
                      <a:hueOff val="-12685714"/>
                      <a:satOff val="-84000"/>
                      <a:lumOff val="4901"/>
                    </a:srgbClr>
                  </a:solidFill>
                </a:defRPr>
              </a:pPr>
              <a:endParaRPr sz="3600">
                <a:solidFill>
                  <a:srgbClr val="E8F2FD">
                    <a:hueOff val="-12685714"/>
                    <a:satOff val="-84000"/>
                    <a:lumOff val="4901"/>
                  </a:srgbClr>
                </a:solidFill>
                <a:latin typeface="Arial"/>
              </a:endParaRPr>
            </a:p>
          </p:txBody>
        </p:sp>
        <p:sp>
          <p:nvSpPr>
            <p:cNvPr id="132" name="TextBox 55">
              <a:extLst>
                <a:ext uri="{FF2B5EF4-FFF2-40B4-BE49-F238E27FC236}">
                  <a16:creationId xmlns:a16="http://schemas.microsoft.com/office/drawing/2014/main" id="{8B0B29C8-532A-EB22-6931-A184C7C7447D}"/>
                </a:ext>
              </a:extLst>
            </p:cNvPr>
            <p:cNvSpPr txBox="1"/>
            <p:nvPr/>
          </p:nvSpPr>
          <p:spPr>
            <a:xfrm>
              <a:off x="3574734" y="1070597"/>
              <a:ext cx="4320000" cy="78873"/>
            </a:xfrm>
            <a:prstGeom prst="rect">
              <a:avLst/>
            </a:prstGeom>
            <a:solidFill>
              <a:schemeClr val="bg1"/>
            </a:solidFill>
            <a:ln w="12700" cap="flat">
              <a:noFill/>
              <a:miter lim="400000"/>
            </a:ln>
            <a:effectLst/>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0" tIns="0" rIns="0" bIns="0" numCol="1" anchor="ctr">
              <a:spAutoFit/>
            </a:bodyPr>
            <a:lstStyle>
              <a:lvl1pPr algn="ctr" defTabSz="914400">
                <a:spcBef>
                  <a:spcPts val="1500"/>
                </a:spcBef>
                <a:defRPr sz="1600" b="1" spc="600">
                  <a:solidFill>
                    <a:srgbClr val="EB0000"/>
                  </a:solidFill>
                </a:defRPr>
              </a:lvl1pPr>
            </a:lstStyle>
            <a:p>
              <a:pPr defTabSz="1828800">
                <a:spcBef>
                  <a:spcPts val="3000"/>
                </a:spcBef>
                <a:defRPr/>
              </a:pPr>
              <a:r>
                <a:rPr lang="en-US" sz="2000" spc="0">
                  <a:solidFill>
                    <a:srgbClr val="000000"/>
                  </a:solidFill>
                  <a:latin typeface="Arial"/>
                </a:rPr>
                <a:t>PEOPLE</a:t>
              </a:r>
            </a:p>
          </p:txBody>
        </p:sp>
      </p:grpSp>
      <p:sp>
        <p:nvSpPr>
          <p:cNvPr id="141" name="Object 49">
            <a:extLst>
              <a:ext uri="{FF2B5EF4-FFF2-40B4-BE49-F238E27FC236}">
                <a16:creationId xmlns:a16="http://schemas.microsoft.com/office/drawing/2014/main" id="{AB1F44FE-A037-38F5-C560-9424ABF2AEF6}"/>
              </a:ext>
            </a:extLst>
          </p:cNvPr>
          <p:cNvSpPr txBox="1"/>
          <p:nvPr/>
        </p:nvSpPr>
        <p:spPr>
          <a:xfrm>
            <a:off x="853034" y="7583450"/>
            <a:ext cx="4963084" cy="598140"/>
          </a:xfrm>
          <a:prstGeom prst="rect">
            <a:avLst/>
          </a:prstGeom>
          <a:solidFill>
            <a:schemeClr val="tx1">
              <a:lumMod val="85000"/>
              <a:lumOff val="15000"/>
            </a:schemeClr>
          </a:solidFill>
          <a:ln w="6350">
            <a:solidFill>
              <a:schemeClr val="tx1"/>
            </a:solidFill>
          </a:ln>
        </p:spPr>
        <p:txBody>
          <a:bodyPr wrap="square" rtlCol="0" anchor="ctr"/>
          <a:lstStyle/>
          <a:p>
            <a:pPr defTabSz="1463040">
              <a:defRPr/>
            </a:pPr>
            <a:r>
              <a:rPr lang="en-US" b="1">
                <a:solidFill>
                  <a:srgbClr val="FFFFFF"/>
                </a:solidFill>
                <a:latin typeface="Arial"/>
              </a:rPr>
              <a:t>Migration Process &amp; Experience</a:t>
            </a:r>
          </a:p>
        </p:txBody>
      </p:sp>
      <p:sp>
        <p:nvSpPr>
          <p:cNvPr id="142" name="Object 50">
            <a:extLst>
              <a:ext uri="{FF2B5EF4-FFF2-40B4-BE49-F238E27FC236}">
                <a16:creationId xmlns:a16="http://schemas.microsoft.com/office/drawing/2014/main" id="{8398D2B6-A18B-5660-CB7F-BCE702EDA052}"/>
              </a:ext>
            </a:extLst>
          </p:cNvPr>
          <p:cNvSpPr txBox="1"/>
          <p:nvPr/>
        </p:nvSpPr>
        <p:spPr>
          <a:xfrm>
            <a:off x="853034" y="8181590"/>
            <a:ext cx="4963084" cy="598140"/>
          </a:xfrm>
          <a:prstGeom prst="rect">
            <a:avLst/>
          </a:prstGeom>
          <a:solidFill>
            <a:schemeClr val="bg1"/>
          </a:solidFill>
          <a:ln w="6350">
            <a:solidFill>
              <a:schemeClr val="tx1"/>
            </a:solidFill>
          </a:ln>
        </p:spPr>
        <p:txBody>
          <a:bodyPr wrap="square" rtlCol="0" anchor="ctr"/>
          <a:lstStyle/>
          <a:p>
            <a:pPr defTabSz="1463040">
              <a:defRPr/>
            </a:pPr>
            <a:r>
              <a:rPr lang="en-US" sz="1600">
                <a:solidFill>
                  <a:srgbClr val="000000"/>
                </a:solidFill>
                <a:latin typeface="Arial"/>
                <a:ea typeface="Amazon Ember" panose="02000000000000000000" pitchFamily="2" charset="0"/>
                <a:cs typeface="Calibri" pitchFamily="34" charset="0"/>
              </a:rPr>
              <a:t>Cloud Migration Experience</a:t>
            </a:r>
          </a:p>
        </p:txBody>
      </p:sp>
      <p:grpSp>
        <p:nvGrpSpPr>
          <p:cNvPr id="148" name="Group 3">
            <a:extLst>
              <a:ext uri="{FF2B5EF4-FFF2-40B4-BE49-F238E27FC236}">
                <a16:creationId xmlns:a16="http://schemas.microsoft.com/office/drawing/2014/main" id="{55B9C88C-2048-D324-2BCA-AAFE5CA1253B}"/>
              </a:ext>
            </a:extLst>
          </p:cNvPr>
          <p:cNvGrpSpPr/>
          <p:nvPr/>
        </p:nvGrpSpPr>
        <p:grpSpPr>
          <a:xfrm>
            <a:off x="665248" y="7323921"/>
            <a:ext cx="5334348" cy="4465504"/>
            <a:chOff x="0" y="100750"/>
            <a:chExt cx="11499744" cy="1045306"/>
          </a:xfrm>
        </p:grpSpPr>
        <p:sp>
          <p:nvSpPr>
            <p:cNvPr id="149" name="TextBox 99">
              <a:extLst>
                <a:ext uri="{FF2B5EF4-FFF2-40B4-BE49-F238E27FC236}">
                  <a16:creationId xmlns:a16="http://schemas.microsoft.com/office/drawing/2014/main" id="{AE0599FB-2245-BD48-FD93-B123B30CF3DB}"/>
                </a:ext>
              </a:extLst>
            </p:cNvPr>
            <p:cNvSpPr/>
            <p:nvPr/>
          </p:nvSpPr>
          <p:spPr>
            <a:xfrm>
              <a:off x="0" y="100750"/>
              <a:ext cx="11499744" cy="1012806"/>
            </a:xfrm>
            <a:prstGeom prst="roundRect">
              <a:avLst>
                <a:gd name="adj" fmla="val 0"/>
              </a:avLst>
            </a:prstGeom>
            <a:noFill/>
            <a:ln w="19050" cap="flat">
              <a:solidFill>
                <a:schemeClr val="tx1"/>
              </a:solidFill>
              <a:prstDash val="solid"/>
              <a:miter lim="800000"/>
            </a:ln>
            <a:effectLst/>
          </p:spPr>
          <p:txBody>
            <a:bodyPr wrap="square" lIns="91438" tIns="91438" rIns="91438" bIns="91438" numCol="1" anchor="ctr">
              <a:noAutofit/>
            </a:bodyPr>
            <a:lstStyle/>
            <a:p>
              <a:pPr algn="ctr">
                <a:defRPr sz="1800">
                  <a:solidFill>
                    <a:srgbClr val="E8F2FD">
                      <a:hueOff val="-12685714"/>
                      <a:satOff val="-84000"/>
                      <a:lumOff val="4901"/>
                    </a:srgbClr>
                  </a:solidFill>
                </a:defRPr>
              </a:pPr>
              <a:endParaRPr sz="3600">
                <a:solidFill>
                  <a:srgbClr val="E8F2FD">
                    <a:hueOff val="-12685714"/>
                    <a:satOff val="-84000"/>
                    <a:lumOff val="4901"/>
                  </a:srgbClr>
                </a:solidFill>
                <a:latin typeface="Arial"/>
              </a:endParaRPr>
            </a:p>
          </p:txBody>
        </p:sp>
        <p:sp>
          <p:nvSpPr>
            <p:cNvPr id="150" name="TextBox 55">
              <a:extLst>
                <a:ext uri="{FF2B5EF4-FFF2-40B4-BE49-F238E27FC236}">
                  <a16:creationId xmlns:a16="http://schemas.microsoft.com/office/drawing/2014/main" id="{F19B5514-C9EE-C75C-DE16-52B66652B77B}"/>
                </a:ext>
              </a:extLst>
            </p:cNvPr>
            <p:cNvSpPr txBox="1"/>
            <p:nvPr/>
          </p:nvSpPr>
          <p:spPr>
            <a:xfrm>
              <a:off x="3574734" y="1074010"/>
              <a:ext cx="4320000" cy="72046"/>
            </a:xfrm>
            <a:prstGeom prst="rect">
              <a:avLst/>
            </a:prstGeom>
            <a:solidFill>
              <a:schemeClr val="bg1"/>
            </a:solidFill>
            <a:ln w="12700" cap="flat">
              <a:noFill/>
              <a:miter lim="400000"/>
            </a:ln>
            <a:effectLst/>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0" tIns="0" rIns="0" bIns="0" numCol="1" anchor="ctr">
              <a:spAutoFit/>
            </a:bodyPr>
            <a:lstStyle>
              <a:lvl1pPr algn="ctr" defTabSz="914400">
                <a:spcBef>
                  <a:spcPts val="1500"/>
                </a:spcBef>
                <a:defRPr sz="1600" b="1" spc="600">
                  <a:solidFill>
                    <a:srgbClr val="EB0000"/>
                  </a:solidFill>
                </a:defRPr>
              </a:lvl1pPr>
            </a:lstStyle>
            <a:p>
              <a:pPr defTabSz="1828800">
                <a:spcBef>
                  <a:spcPts val="3000"/>
                </a:spcBef>
                <a:defRPr/>
              </a:pPr>
              <a:r>
                <a:rPr lang="en-US" sz="2000" spc="0">
                  <a:solidFill>
                    <a:srgbClr val="000000"/>
                  </a:solidFill>
                  <a:latin typeface="Arial"/>
                </a:rPr>
                <a:t>MIGRATION</a:t>
              </a:r>
            </a:p>
          </p:txBody>
        </p:sp>
      </p:grpSp>
      <p:sp>
        <p:nvSpPr>
          <p:cNvPr id="182" name="Object 8">
            <a:extLst>
              <a:ext uri="{FF2B5EF4-FFF2-40B4-BE49-F238E27FC236}">
                <a16:creationId xmlns:a16="http://schemas.microsoft.com/office/drawing/2014/main" id="{43F017DE-A738-3242-9865-3BB3CA3A311E}"/>
              </a:ext>
            </a:extLst>
          </p:cNvPr>
          <p:cNvSpPr/>
          <p:nvPr/>
        </p:nvSpPr>
        <p:spPr>
          <a:xfrm>
            <a:off x="3938166" y="12813171"/>
            <a:ext cx="252984" cy="273226"/>
          </a:xfrm>
          <a:prstGeom prst="diamond">
            <a:avLst/>
          </a:prstGeom>
          <a:solidFill>
            <a:srgbClr val="000000">
              <a:alpha val="75000"/>
            </a:srgbClr>
          </a:solidFill>
          <a:ln>
            <a:solidFill>
              <a:sysClr val="window" lastClr="FFFFFF"/>
            </a:solidFill>
          </a:ln>
        </p:spPr>
        <p:txBody>
          <a:bodyPr/>
          <a:lstStyle/>
          <a:p>
            <a:pPr defTabSz="1463040">
              <a:defRPr/>
            </a:pPr>
            <a:endParaRPr lang="en-GB" sz="6400" kern="0">
              <a:solidFill>
                <a:prstClr val="white"/>
              </a:solidFill>
              <a:latin typeface="Amazon Ember"/>
            </a:endParaRPr>
          </a:p>
        </p:txBody>
      </p:sp>
      <p:sp>
        <p:nvSpPr>
          <p:cNvPr id="183" name="TextBox 182">
            <a:extLst>
              <a:ext uri="{FF2B5EF4-FFF2-40B4-BE49-F238E27FC236}">
                <a16:creationId xmlns:a16="http://schemas.microsoft.com/office/drawing/2014/main" id="{B10DA2C7-A040-53CC-F7E3-8365D6CEEA96}"/>
              </a:ext>
            </a:extLst>
          </p:cNvPr>
          <p:cNvSpPr txBox="1"/>
          <p:nvPr/>
        </p:nvSpPr>
        <p:spPr>
          <a:xfrm>
            <a:off x="4146362" y="12781531"/>
            <a:ext cx="5106496" cy="276999"/>
          </a:xfrm>
          <a:prstGeom prst="rect">
            <a:avLst/>
          </a:prstGeom>
          <a:noFill/>
        </p:spPr>
        <p:txBody>
          <a:bodyPr wrap="square" rtlCol="0">
            <a:spAutoFit/>
          </a:bodyPr>
          <a:lstStyle/>
          <a:p>
            <a:pPr defTabSz="1463040">
              <a:defRPr/>
            </a:pPr>
            <a:r>
              <a:rPr lang="en-GB" sz="1200">
                <a:solidFill>
                  <a:srgbClr val="000000"/>
                </a:solidFill>
                <a:latin typeface="Arial"/>
              </a:rPr>
              <a:t>Pre-Migration/Areas that need attention early-on</a:t>
            </a:r>
          </a:p>
        </p:txBody>
      </p:sp>
      <p:sp>
        <p:nvSpPr>
          <p:cNvPr id="4" name="Object 22">
            <a:extLst>
              <a:ext uri="{FF2B5EF4-FFF2-40B4-BE49-F238E27FC236}">
                <a16:creationId xmlns:a16="http://schemas.microsoft.com/office/drawing/2014/main" id="{25C5F88D-B1E1-657C-AAD7-4D5106F9DF2B}"/>
              </a:ext>
            </a:extLst>
          </p:cNvPr>
          <p:cNvSpPr txBox="1"/>
          <p:nvPr/>
        </p:nvSpPr>
        <p:spPr>
          <a:xfrm>
            <a:off x="805245" y="2896727"/>
            <a:ext cx="5045058" cy="544670"/>
          </a:xfrm>
          <a:prstGeom prst="rect">
            <a:avLst/>
          </a:prstGeom>
          <a:solidFill>
            <a:schemeClr val="tx1">
              <a:lumMod val="85000"/>
              <a:lumOff val="15000"/>
            </a:schemeClr>
          </a:solidFill>
          <a:ln w="6350">
            <a:solidFill>
              <a:schemeClr val="tx1"/>
            </a:solidFill>
          </a:ln>
        </p:spPr>
        <p:txBody>
          <a:bodyPr wrap="square" rtlCol="0" anchor="ctr"/>
          <a:lstStyle>
            <a:defPPr>
              <a:defRPr lang="en-US"/>
            </a:defPPr>
            <a:lvl1pPr marR="0" lvl="0" indent="0" defTabSz="731520" fontAlgn="auto">
              <a:lnSpc>
                <a:spcPct val="100000"/>
              </a:lnSpc>
              <a:spcBef>
                <a:spcPts val="0"/>
              </a:spcBef>
              <a:spcAft>
                <a:spcPts val="0"/>
              </a:spcAft>
              <a:buClrTx/>
              <a:buSzTx/>
              <a:buFontTx/>
              <a:buNone/>
              <a:tabLst/>
              <a:defRPr kumimoji="0" b="1" i="0" u="none" strike="noStrike" cap="none" spc="0" normalizeH="0" baseline="0">
                <a:ln>
                  <a:noFill/>
                </a:ln>
                <a:solidFill>
                  <a:srgbClr val="FFFFFF"/>
                </a:solidFill>
                <a:effectLst/>
                <a:uLnTx/>
                <a:uFillTx/>
                <a:latin typeface="Arial"/>
              </a:defRPr>
            </a:lvl1pPr>
          </a:lstStyle>
          <a:p>
            <a:r>
              <a:rPr lang="en-US" sz="3600"/>
              <a:t>Skills &amp; COE</a:t>
            </a:r>
          </a:p>
        </p:txBody>
      </p:sp>
      <p:sp>
        <p:nvSpPr>
          <p:cNvPr id="5" name="Object 23">
            <a:extLst>
              <a:ext uri="{FF2B5EF4-FFF2-40B4-BE49-F238E27FC236}">
                <a16:creationId xmlns:a16="http://schemas.microsoft.com/office/drawing/2014/main" id="{C062E81C-3E3B-9866-C34C-1E2C5955E338}"/>
              </a:ext>
            </a:extLst>
          </p:cNvPr>
          <p:cNvSpPr txBox="1"/>
          <p:nvPr/>
        </p:nvSpPr>
        <p:spPr>
          <a:xfrm>
            <a:off x="805245" y="3441397"/>
            <a:ext cx="5045058" cy="544670"/>
          </a:xfrm>
          <a:prstGeom prst="rect">
            <a:avLst/>
          </a:prstGeom>
          <a:solidFill>
            <a:schemeClr val="bg1"/>
          </a:solidFill>
          <a:ln w="12700">
            <a:solidFill>
              <a:srgbClr val="000000"/>
            </a:solidFill>
          </a:ln>
        </p:spPr>
        <p:txBody>
          <a:bodyPr wrap="square" rtlCol="0" anchor="ctr"/>
          <a:lstStyle/>
          <a:p>
            <a:pPr algn="ctr"/>
            <a:r>
              <a:rPr lang="en-US" sz="1600">
                <a:solidFill>
                  <a:srgbClr val="000000"/>
                </a:solidFill>
                <a:ea typeface="Amazon Ember" panose="02000000000000000000" pitchFamily="2" charset="0"/>
                <a:cs typeface="Calibri" pitchFamily="34" charset="0"/>
              </a:rPr>
              <a:t>Single Threaded Leader</a:t>
            </a:r>
          </a:p>
        </p:txBody>
      </p:sp>
      <p:sp>
        <p:nvSpPr>
          <p:cNvPr id="6" name="Object 27">
            <a:extLst>
              <a:ext uri="{FF2B5EF4-FFF2-40B4-BE49-F238E27FC236}">
                <a16:creationId xmlns:a16="http://schemas.microsoft.com/office/drawing/2014/main" id="{FD35B16A-72C3-F9A4-714E-3B52245F63F2}"/>
              </a:ext>
            </a:extLst>
          </p:cNvPr>
          <p:cNvSpPr txBox="1"/>
          <p:nvPr/>
        </p:nvSpPr>
        <p:spPr>
          <a:xfrm>
            <a:off x="805245" y="3976271"/>
            <a:ext cx="5045058" cy="544670"/>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Experience baseline</a:t>
            </a:r>
          </a:p>
        </p:txBody>
      </p:sp>
      <p:sp>
        <p:nvSpPr>
          <p:cNvPr id="7" name="Object 29">
            <a:extLst>
              <a:ext uri="{FF2B5EF4-FFF2-40B4-BE49-F238E27FC236}">
                <a16:creationId xmlns:a16="http://schemas.microsoft.com/office/drawing/2014/main" id="{67581BFA-9DC9-AC52-F250-55D0081AC5F2}"/>
              </a:ext>
            </a:extLst>
          </p:cNvPr>
          <p:cNvSpPr txBox="1"/>
          <p:nvPr/>
        </p:nvSpPr>
        <p:spPr>
          <a:xfrm>
            <a:off x="805245" y="4520681"/>
            <a:ext cx="5045058" cy="544670"/>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Design or Evolve COE</a:t>
            </a:r>
          </a:p>
        </p:txBody>
      </p:sp>
      <p:grpSp>
        <p:nvGrpSpPr>
          <p:cNvPr id="18" name="Group 17">
            <a:extLst>
              <a:ext uri="{FF2B5EF4-FFF2-40B4-BE49-F238E27FC236}">
                <a16:creationId xmlns:a16="http://schemas.microsoft.com/office/drawing/2014/main" id="{D4C5C548-E8E0-595F-749E-A56EAA5AD9E8}"/>
              </a:ext>
            </a:extLst>
          </p:cNvPr>
          <p:cNvGrpSpPr/>
          <p:nvPr/>
        </p:nvGrpSpPr>
        <p:grpSpPr>
          <a:xfrm>
            <a:off x="1106035" y="3609147"/>
            <a:ext cx="231998" cy="820546"/>
            <a:chOff x="799487" y="1976266"/>
            <a:chExt cx="128298" cy="453772"/>
          </a:xfrm>
        </p:grpSpPr>
        <p:sp>
          <p:nvSpPr>
            <p:cNvPr id="10" name="Object 8">
              <a:extLst>
                <a:ext uri="{FF2B5EF4-FFF2-40B4-BE49-F238E27FC236}">
                  <a16:creationId xmlns:a16="http://schemas.microsoft.com/office/drawing/2014/main" id="{8D240AA8-47F2-BACD-64EE-ABE95A249680}"/>
                </a:ext>
              </a:extLst>
            </p:cNvPr>
            <p:cNvSpPr/>
            <p:nvPr/>
          </p:nvSpPr>
          <p:spPr>
            <a:xfrm>
              <a:off x="799487" y="1976266"/>
              <a:ext cx="126492" cy="136613"/>
            </a:xfrm>
            <a:prstGeom prst="diamond">
              <a:avLst/>
            </a:prstGeom>
            <a:solidFill>
              <a:srgbClr val="000000">
                <a:alpha val="75000"/>
              </a:srgbClr>
            </a:solidFill>
          </p:spPr>
          <p:txBody>
            <a:bodyPr/>
            <a:lstStyle/>
            <a:p>
              <a:endParaRPr sz="3600"/>
            </a:p>
          </p:txBody>
        </p:sp>
        <p:sp>
          <p:nvSpPr>
            <p:cNvPr id="17" name="Object 8">
              <a:extLst>
                <a:ext uri="{FF2B5EF4-FFF2-40B4-BE49-F238E27FC236}">
                  <a16:creationId xmlns:a16="http://schemas.microsoft.com/office/drawing/2014/main" id="{B6C1552C-F5E7-B6E9-E6DE-512E28CF3E02}"/>
                </a:ext>
              </a:extLst>
            </p:cNvPr>
            <p:cNvSpPr/>
            <p:nvPr/>
          </p:nvSpPr>
          <p:spPr>
            <a:xfrm>
              <a:off x="801293" y="2293425"/>
              <a:ext cx="126492" cy="136613"/>
            </a:xfrm>
            <a:prstGeom prst="diamond">
              <a:avLst/>
            </a:prstGeom>
            <a:solidFill>
              <a:srgbClr val="000000">
                <a:alpha val="75000"/>
              </a:srgbClr>
            </a:solidFill>
          </p:spPr>
          <p:txBody>
            <a:bodyPr/>
            <a:lstStyle/>
            <a:p>
              <a:endParaRPr sz="3600"/>
            </a:p>
          </p:txBody>
        </p:sp>
      </p:grpSp>
      <p:sp>
        <p:nvSpPr>
          <p:cNvPr id="19" name="Object 7">
            <a:extLst>
              <a:ext uri="{FF2B5EF4-FFF2-40B4-BE49-F238E27FC236}">
                <a16:creationId xmlns:a16="http://schemas.microsoft.com/office/drawing/2014/main" id="{353E03ED-FFC5-1288-47E0-33E8109C4D06}"/>
              </a:ext>
            </a:extLst>
          </p:cNvPr>
          <p:cNvSpPr txBox="1"/>
          <p:nvPr/>
        </p:nvSpPr>
        <p:spPr>
          <a:xfrm>
            <a:off x="6835835" y="3997089"/>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Key Stakeholder Sign-off</a:t>
            </a:r>
          </a:p>
        </p:txBody>
      </p:sp>
      <p:sp>
        <p:nvSpPr>
          <p:cNvPr id="20" name="Object 6">
            <a:extLst>
              <a:ext uri="{FF2B5EF4-FFF2-40B4-BE49-F238E27FC236}">
                <a16:creationId xmlns:a16="http://schemas.microsoft.com/office/drawing/2014/main" id="{197C43DC-D062-39B3-E517-3DAC54795BA9}"/>
              </a:ext>
            </a:extLst>
          </p:cNvPr>
          <p:cNvSpPr txBox="1"/>
          <p:nvPr/>
        </p:nvSpPr>
        <p:spPr>
          <a:xfrm>
            <a:off x="6835835" y="2985203"/>
            <a:ext cx="4847790" cy="515766"/>
          </a:xfrm>
          <a:prstGeom prst="rect">
            <a:avLst/>
          </a:prstGeom>
          <a:solidFill>
            <a:schemeClr val="tx1">
              <a:lumMod val="85000"/>
              <a:lumOff val="15000"/>
            </a:schemeClr>
          </a:solidFill>
          <a:ln w="6350">
            <a:solidFill>
              <a:schemeClr val="tx1"/>
            </a:solidFill>
          </a:ln>
        </p:spPr>
        <p:txBody>
          <a:bodyPr wrap="square" rtlCol="0" anchor="ctr"/>
          <a:lstStyle>
            <a:defPPr>
              <a:defRPr lang="en-US"/>
            </a:defPPr>
            <a:lvl1pPr marR="0" lvl="0" indent="0" defTabSz="731520" fontAlgn="auto">
              <a:lnSpc>
                <a:spcPct val="100000"/>
              </a:lnSpc>
              <a:spcBef>
                <a:spcPts val="0"/>
              </a:spcBef>
              <a:spcAft>
                <a:spcPts val="0"/>
              </a:spcAft>
              <a:buClrTx/>
              <a:buSzTx/>
              <a:buFontTx/>
              <a:buNone/>
              <a:tabLst/>
              <a:defRPr kumimoji="0" b="1" i="0" u="none" strike="noStrike" cap="none" spc="0" normalizeH="0" baseline="0">
                <a:ln>
                  <a:noFill/>
                </a:ln>
                <a:solidFill>
                  <a:srgbClr val="FFFFFF"/>
                </a:solidFill>
                <a:effectLst/>
                <a:uLnTx/>
                <a:uFillTx/>
                <a:latin typeface="Arial"/>
              </a:defRPr>
            </a:lvl1pPr>
          </a:lstStyle>
          <a:p>
            <a:r>
              <a:rPr lang="en-US" sz="3600"/>
              <a:t>Business Case</a:t>
            </a:r>
          </a:p>
        </p:txBody>
      </p:sp>
      <p:sp>
        <p:nvSpPr>
          <p:cNvPr id="21" name="Object 7">
            <a:extLst>
              <a:ext uri="{FF2B5EF4-FFF2-40B4-BE49-F238E27FC236}">
                <a16:creationId xmlns:a16="http://schemas.microsoft.com/office/drawing/2014/main" id="{78D9BF4D-054C-5A05-0AF4-6CCD9DC8DFEA}"/>
              </a:ext>
            </a:extLst>
          </p:cNvPr>
          <p:cNvSpPr txBox="1"/>
          <p:nvPr/>
        </p:nvSpPr>
        <p:spPr>
          <a:xfrm>
            <a:off x="6835835" y="3500969"/>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High Level Business Case</a:t>
            </a:r>
          </a:p>
        </p:txBody>
      </p:sp>
      <p:sp>
        <p:nvSpPr>
          <p:cNvPr id="22" name="Object 13">
            <a:extLst>
              <a:ext uri="{FF2B5EF4-FFF2-40B4-BE49-F238E27FC236}">
                <a16:creationId xmlns:a16="http://schemas.microsoft.com/office/drawing/2014/main" id="{BFFFE53D-D0F5-512F-02EE-7DD0CBEF3F32}"/>
              </a:ext>
            </a:extLst>
          </p:cNvPr>
          <p:cNvSpPr txBox="1"/>
          <p:nvPr/>
        </p:nvSpPr>
        <p:spPr>
          <a:xfrm>
            <a:off x="6835835" y="4507395"/>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Migration Funding Commitment</a:t>
            </a:r>
          </a:p>
        </p:txBody>
      </p:sp>
      <p:sp>
        <p:nvSpPr>
          <p:cNvPr id="23" name="Object 15">
            <a:extLst>
              <a:ext uri="{FF2B5EF4-FFF2-40B4-BE49-F238E27FC236}">
                <a16:creationId xmlns:a16="http://schemas.microsoft.com/office/drawing/2014/main" id="{14ECA34C-BCCC-4005-9CEF-C9C140CE4094}"/>
              </a:ext>
            </a:extLst>
          </p:cNvPr>
          <p:cNvSpPr txBox="1"/>
          <p:nvPr/>
        </p:nvSpPr>
        <p:spPr>
          <a:xfrm>
            <a:off x="6835835" y="5023161"/>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Specific Migration Workloads Committed</a:t>
            </a:r>
          </a:p>
        </p:txBody>
      </p:sp>
      <p:sp>
        <p:nvSpPr>
          <p:cNvPr id="24" name="Object 16">
            <a:extLst>
              <a:ext uri="{FF2B5EF4-FFF2-40B4-BE49-F238E27FC236}">
                <a16:creationId xmlns:a16="http://schemas.microsoft.com/office/drawing/2014/main" id="{247FBF20-975D-08E0-D820-615248A744AE}"/>
              </a:ext>
            </a:extLst>
          </p:cNvPr>
          <p:cNvSpPr txBox="1"/>
          <p:nvPr/>
        </p:nvSpPr>
        <p:spPr>
          <a:xfrm>
            <a:off x="6837537" y="8104241"/>
            <a:ext cx="4847790" cy="470650"/>
          </a:xfrm>
          <a:prstGeom prst="rect">
            <a:avLst/>
          </a:prstGeom>
          <a:solidFill>
            <a:schemeClr val="tx1">
              <a:lumMod val="85000"/>
              <a:lumOff val="15000"/>
            </a:schemeClr>
          </a:solidFill>
          <a:ln w="6350">
            <a:solidFill>
              <a:schemeClr val="tx1"/>
            </a:solidFill>
          </a:ln>
        </p:spPr>
        <p:txBody>
          <a:bodyPr wrap="square" rtlCol="0" anchor="ctr"/>
          <a:lstStyle>
            <a:defPPr>
              <a:defRPr lang="en-US"/>
            </a:defPPr>
            <a:lvl1pPr marR="0" lvl="0" indent="0" defTabSz="731520" fontAlgn="auto">
              <a:lnSpc>
                <a:spcPct val="100000"/>
              </a:lnSpc>
              <a:spcBef>
                <a:spcPts val="0"/>
              </a:spcBef>
              <a:spcAft>
                <a:spcPts val="0"/>
              </a:spcAft>
              <a:buClrTx/>
              <a:buSzTx/>
              <a:buFontTx/>
              <a:buNone/>
              <a:tabLst/>
              <a:defRPr kumimoji="0" b="1" i="0" u="none" strike="noStrike" cap="none" spc="0" normalizeH="0" baseline="0">
                <a:ln>
                  <a:noFill/>
                </a:ln>
                <a:solidFill>
                  <a:srgbClr val="FFFFFF"/>
                </a:solidFill>
                <a:effectLst/>
                <a:uLnTx/>
                <a:uFillTx/>
                <a:latin typeface="Arial"/>
              </a:defRPr>
            </a:lvl1pPr>
          </a:lstStyle>
          <a:p>
            <a:r>
              <a:rPr lang="en-US" sz="3600"/>
              <a:t>Customer Migration Project Plan</a:t>
            </a:r>
          </a:p>
        </p:txBody>
      </p:sp>
      <p:sp>
        <p:nvSpPr>
          <p:cNvPr id="25" name="Object 17">
            <a:extLst>
              <a:ext uri="{FF2B5EF4-FFF2-40B4-BE49-F238E27FC236}">
                <a16:creationId xmlns:a16="http://schemas.microsoft.com/office/drawing/2014/main" id="{AFA636A5-F3C2-682F-0248-34F14A92C2F9}"/>
              </a:ext>
            </a:extLst>
          </p:cNvPr>
          <p:cNvSpPr txBox="1"/>
          <p:nvPr/>
        </p:nvSpPr>
        <p:spPr>
          <a:xfrm>
            <a:off x="6837537" y="8620007"/>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Determine Delivery Model &amp; Approach</a:t>
            </a:r>
          </a:p>
        </p:txBody>
      </p:sp>
      <p:sp>
        <p:nvSpPr>
          <p:cNvPr id="26" name="Object 19">
            <a:extLst>
              <a:ext uri="{FF2B5EF4-FFF2-40B4-BE49-F238E27FC236}">
                <a16:creationId xmlns:a16="http://schemas.microsoft.com/office/drawing/2014/main" id="{8F4C9D9A-7B01-ED78-C52B-4B10A8F4D24E}"/>
              </a:ext>
            </a:extLst>
          </p:cNvPr>
          <p:cNvSpPr txBox="1"/>
          <p:nvPr/>
        </p:nvSpPr>
        <p:spPr>
          <a:xfrm>
            <a:off x="6837537" y="9135773"/>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Project Management Capability</a:t>
            </a:r>
          </a:p>
        </p:txBody>
      </p:sp>
      <p:sp>
        <p:nvSpPr>
          <p:cNvPr id="27" name="Object 21">
            <a:extLst>
              <a:ext uri="{FF2B5EF4-FFF2-40B4-BE49-F238E27FC236}">
                <a16:creationId xmlns:a16="http://schemas.microsoft.com/office/drawing/2014/main" id="{DC4EEB51-9E63-48C3-2617-C51EAB40107C}"/>
              </a:ext>
            </a:extLst>
          </p:cNvPr>
          <p:cNvSpPr txBox="1"/>
          <p:nvPr/>
        </p:nvSpPr>
        <p:spPr>
          <a:xfrm>
            <a:off x="6837537" y="9651541"/>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Migration Plan</a:t>
            </a:r>
          </a:p>
        </p:txBody>
      </p:sp>
      <p:sp>
        <p:nvSpPr>
          <p:cNvPr id="28" name="Object 37">
            <a:extLst>
              <a:ext uri="{FF2B5EF4-FFF2-40B4-BE49-F238E27FC236}">
                <a16:creationId xmlns:a16="http://schemas.microsoft.com/office/drawing/2014/main" id="{F9E68B1D-FB09-3E58-6486-E095D147B3B7}"/>
              </a:ext>
            </a:extLst>
          </p:cNvPr>
          <p:cNvSpPr txBox="1"/>
          <p:nvPr/>
        </p:nvSpPr>
        <p:spPr>
          <a:xfrm>
            <a:off x="6835835" y="5997723"/>
            <a:ext cx="4847790" cy="515766"/>
          </a:xfrm>
          <a:prstGeom prst="rect">
            <a:avLst/>
          </a:prstGeom>
          <a:solidFill>
            <a:schemeClr val="tx1">
              <a:lumMod val="85000"/>
              <a:lumOff val="15000"/>
            </a:schemeClr>
          </a:solidFill>
          <a:ln w="6350">
            <a:solidFill>
              <a:schemeClr val="tx1"/>
            </a:solidFill>
          </a:ln>
        </p:spPr>
        <p:txBody>
          <a:bodyPr wrap="square" rtlCol="0" anchor="ctr"/>
          <a:lstStyle>
            <a:defPPr>
              <a:defRPr lang="en-US"/>
            </a:defPPr>
            <a:lvl1pPr marR="0" lvl="0" indent="0" defTabSz="731520" fontAlgn="auto">
              <a:lnSpc>
                <a:spcPct val="100000"/>
              </a:lnSpc>
              <a:spcBef>
                <a:spcPts val="0"/>
              </a:spcBef>
              <a:spcAft>
                <a:spcPts val="0"/>
              </a:spcAft>
              <a:buClrTx/>
              <a:buSzTx/>
              <a:buFontTx/>
              <a:buNone/>
              <a:tabLst/>
              <a:defRPr kumimoji="0" b="1" i="0" u="none" strike="noStrike" cap="none" spc="0" normalizeH="0" baseline="0">
                <a:ln>
                  <a:noFill/>
                </a:ln>
                <a:solidFill>
                  <a:srgbClr val="FFFFFF"/>
                </a:solidFill>
                <a:effectLst/>
                <a:uLnTx/>
                <a:uFillTx/>
                <a:latin typeface="Arial"/>
              </a:defRPr>
            </a:lvl1pPr>
          </a:lstStyle>
          <a:p>
            <a:r>
              <a:rPr lang="en-US" sz="3600"/>
              <a:t>Application Portfolio Discovery &amp; Planning</a:t>
            </a:r>
          </a:p>
        </p:txBody>
      </p:sp>
      <p:sp>
        <p:nvSpPr>
          <p:cNvPr id="29" name="Object 38">
            <a:extLst>
              <a:ext uri="{FF2B5EF4-FFF2-40B4-BE49-F238E27FC236}">
                <a16:creationId xmlns:a16="http://schemas.microsoft.com/office/drawing/2014/main" id="{E8B8487C-3E44-E044-4DD7-0EA88ACF2F81}"/>
              </a:ext>
            </a:extLst>
          </p:cNvPr>
          <p:cNvSpPr txBox="1"/>
          <p:nvPr/>
        </p:nvSpPr>
        <p:spPr>
          <a:xfrm>
            <a:off x="6835835" y="6513489"/>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Application Discovery Data</a:t>
            </a:r>
          </a:p>
        </p:txBody>
      </p:sp>
      <p:sp>
        <p:nvSpPr>
          <p:cNvPr id="30" name="Object 42">
            <a:extLst>
              <a:ext uri="{FF2B5EF4-FFF2-40B4-BE49-F238E27FC236}">
                <a16:creationId xmlns:a16="http://schemas.microsoft.com/office/drawing/2014/main" id="{047EFF92-71C5-4BBF-7A15-89E017F87EFE}"/>
              </a:ext>
            </a:extLst>
          </p:cNvPr>
          <p:cNvSpPr txBox="1"/>
          <p:nvPr/>
        </p:nvSpPr>
        <p:spPr>
          <a:xfrm>
            <a:off x="6835835" y="7036283"/>
            <a:ext cx="4847790" cy="515766"/>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Workload Owner Buy-In or Alignment</a:t>
            </a:r>
          </a:p>
        </p:txBody>
      </p:sp>
      <p:sp>
        <p:nvSpPr>
          <p:cNvPr id="31" name="Object 8">
            <a:extLst>
              <a:ext uri="{FF2B5EF4-FFF2-40B4-BE49-F238E27FC236}">
                <a16:creationId xmlns:a16="http://schemas.microsoft.com/office/drawing/2014/main" id="{8A386885-FD84-63EF-6682-7317572DF449}"/>
              </a:ext>
            </a:extLst>
          </p:cNvPr>
          <p:cNvSpPr/>
          <p:nvPr/>
        </p:nvSpPr>
        <p:spPr>
          <a:xfrm>
            <a:off x="6977840" y="3639255"/>
            <a:ext cx="218144" cy="235598"/>
          </a:xfrm>
          <a:prstGeom prst="diamond">
            <a:avLst/>
          </a:prstGeom>
          <a:solidFill>
            <a:srgbClr val="000000">
              <a:alpha val="75000"/>
            </a:srgbClr>
          </a:solidFill>
        </p:spPr>
        <p:txBody>
          <a:bodyPr/>
          <a:lstStyle/>
          <a:p>
            <a:endParaRPr sz="3600"/>
          </a:p>
        </p:txBody>
      </p:sp>
      <p:sp>
        <p:nvSpPr>
          <p:cNvPr id="32" name="Object 8">
            <a:extLst>
              <a:ext uri="{FF2B5EF4-FFF2-40B4-BE49-F238E27FC236}">
                <a16:creationId xmlns:a16="http://schemas.microsoft.com/office/drawing/2014/main" id="{9744A426-3AC6-7BF3-A9CB-464C0D59996C}"/>
              </a:ext>
            </a:extLst>
          </p:cNvPr>
          <p:cNvSpPr/>
          <p:nvPr/>
        </p:nvSpPr>
        <p:spPr>
          <a:xfrm>
            <a:off x="6977840" y="4173589"/>
            <a:ext cx="218144" cy="235598"/>
          </a:xfrm>
          <a:prstGeom prst="diamond">
            <a:avLst/>
          </a:prstGeom>
          <a:solidFill>
            <a:srgbClr val="000000">
              <a:alpha val="75000"/>
            </a:srgbClr>
          </a:solidFill>
        </p:spPr>
        <p:txBody>
          <a:bodyPr/>
          <a:lstStyle/>
          <a:p>
            <a:endParaRPr sz="3600"/>
          </a:p>
        </p:txBody>
      </p:sp>
      <p:sp>
        <p:nvSpPr>
          <p:cNvPr id="33" name="Object 8">
            <a:extLst>
              <a:ext uri="{FF2B5EF4-FFF2-40B4-BE49-F238E27FC236}">
                <a16:creationId xmlns:a16="http://schemas.microsoft.com/office/drawing/2014/main" id="{A244C3F0-9DC4-03E6-6D45-BBD78606A755}"/>
              </a:ext>
            </a:extLst>
          </p:cNvPr>
          <p:cNvSpPr/>
          <p:nvPr/>
        </p:nvSpPr>
        <p:spPr>
          <a:xfrm>
            <a:off x="6977840" y="4659573"/>
            <a:ext cx="218144" cy="235598"/>
          </a:xfrm>
          <a:prstGeom prst="diamond">
            <a:avLst/>
          </a:prstGeom>
          <a:solidFill>
            <a:srgbClr val="000000">
              <a:alpha val="75000"/>
            </a:srgbClr>
          </a:solidFill>
        </p:spPr>
        <p:txBody>
          <a:bodyPr/>
          <a:lstStyle/>
          <a:p>
            <a:endParaRPr sz="3600"/>
          </a:p>
        </p:txBody>
      </p:sp>
      <p:sp>
        <p:nvSpPr>
          <p:cNvPr id="34" name="Object 8">
            <a:extLst>
              <a:ext uri="{FF2B5EF4-FFF2-40B4-BE49-F238E27FC236}">
                <a16:creationId xmlns:a16="http://schemas.microsoft.com/office/drawing/2014/main" id="{3BD27EC7-12E4-D23F-29B2-AA2F05E47DFB}"/>
              </a:ext>
            </a:extLst>
          </p:cNvPr>
          <p:cNvSpPr/>
          <p:nvPr/>
        </p:nvSpPr>
        <p:spPr>
          <a:xfrm>
            <a:off x="6977840" y="5142135"/>
            <a:ext cx="218144" cy="235598"/>
          </a:xfrm>
          <a:prstGeom prst="diamond">
            <a:avLst/>
          </a:prstGeom>
          <a:solidFill>
            <a:srgbClr val="000000">
              <a:alpha val="75000"/>
            </a:srgbClr>
          </a:solidFill>
        </p:spPr>
        <p:txBody>
          <a:bodyPr/>
          <a:lstStyle/>
          <a:p>
            <a:endParaRPr sz="3600"/>
          </a:p>
        </p:txBody>
      </p:sp>
      <p:sp>
        <p:nvSpPr>
          <p:cNvPr id="35" name="Object 8">
            <a:extLst>
              <a:ext uri="{FF2B5EF4-FFF2-40B4-BE49-F238E27FC236}">
                <a16:creationId xmlns:a16="http://schemas.microsoft.com/office/drawing/2014/main" id="{7C5B30AC-E9EE-7BEB-8D70-D2AEDDC436C9}"/>
              </a:ext>
            </a:extLst>
          </p:cNvPr>
          <p:cNvSpPr/>
          <p:nvPr/>
        </p:nvSpPr>
        <p:spPr>
          <a:xfrm>
            <a:off x="6980172" y="6653573"/>
            <a:ext cx="218144" cy="235598"/>
          </a:xfrm>
          <a:prstGeom prst="diamond">
            <a:avLst/>
          </a:prstGeom>
          <a:solidFill>
            <a:srgbClr val="000000">
              <a:alpha val="75000"/>
            </a:srgbClr>
          </a:solidFill>
        </p:spPr>
        <p:txBody>
          <a:bodyPr/>
          <a:lstStyle/>
          <a:p>
            <a:endParaRPr sz="3600"/>
          </a:p>
        </p:txBody>
      </p:sp>
      <p:sp>
        <p:nvSpPr>
          <p:cNvPr id="36" name="Object 8">
            <a:extLst>
              <a:ext uri="{FF2B5EF4-FFF2-40B4-BE49-F238E27FC236}">
                <a16:creationId xmlns:a16="http://schemas.microsoft.com/office/drawing/2014/main" id="{7B2A58C5-3589-7E15-C0B4-12A8D61C4444}"/>
              </a:ext>
            </a:extLst>
          </p:cNvPr>
          <p:cNvSpPr/>
          <p:nvPr/>
        </p:nvSpPr>
        <p:spPr>
          <a:xfrm>
            <a:off x="6977840" y="7198655"/>
            <a:ext cx="218144" cy="235598"/>
          </a:xfrm>
          <a:prstGeom prst="diamond">
            <a:avLst/>
          </a:prstGeom>
          <a:solidFill>
            <a:srgbClr val="000000">
              <a:alpha val="75000"/>
            </a:srgbClr>
          </a:solidFill>
        </p:spPr>
        <p:txBody>
          <a:bodyPr/>
          <a:lstStyle/>
          <a:p>
            <a:endParaRPr sz="3600"/>
          </a:p>
        </p:txBody>
      </p:sp>
      <p:sp>
        <p:nvSpPr>
          <p:cNvPr id="37" name="Object 8">
            <a:extLst>
              <a:ext uri="{FF2B5EF4-FFF2-40B4-BE49-F238E27FC236}">
                <a16:creationId xmlns:a16="http://schemas.microsoft.com/office/drawing/2014/main" id="{280EC42D-40B2-3345-9696-9E5228759557}"/>
              </a:ext>
            </a:extLst>
          </p:cNvPr>
          <p:cNvSpPr/>
          <p:nvPr/>
        </p:nvSpPr>
        <p:spPr>
          <a:xfrm>
            <a:off x="6979542" y="8781255"/>
            <a:ext cx="218144" cy="235598"/>
          </a:xfrm>
          <a:prstGeom prst="diamond">
            <a:avLst/>
          </a:prstGeom>
          <a:solidFill>
            <a:srgbClr val="000000">
              <a:alpha val="75000"/>
            </a:srgbClr>
          </a:solidFill>
        </p:spPr>
        <p:txBody>
          <a:bodyPr/>
          <a:lstStyle/>
          <a:p>
            <a:endParaRPr sz="3600"/>
          </a:p>
        </p:txBody>
      </p:sp>
      <p:sp>
        <p:nvSpPr>
          <p:cNvPr id="38" name="Object 8">
            <a:extLst>
              <a:ext uri="{FF2B5EF4-FFF2-40B4-BE49-F238E27FC236}">
                <a16:creationId xmlns:a16="http://schemas.microsoft.com/office/drawing/2014/main" id="{556B4767-2B38-676F-229B-3BF55D0D52E2}"/>
              </a:ext>
            </a:extLst>
          </p:cNvPr>
          <p:cNvSpPr/>
          <p:nvPr/>
        </p:nvSpPr>
        <p:spPr>
          <a:xfrm>
            <a:off x="6979542" y="9280821"/>
            <a:ext cx="218144" cy="235598"/>
          </a:xfrm>
          <a:prstGeom prst="diamond">
            <a:avLst/>
          </a:prstGeom>
          <a:solidFill>
            <a:srgbClr val="000000">
              <a:alpha val="75000"/>
            </a:srgbClr>
          </a:solidFill>
        </p:spPr>
        <p:txBody>
          <a:bodyPr/>
          <a:lstStyle/>
          <a:p>
            <a:endParaRPr sz="3600"/>
          </a:p>
        </p:txBody>
      </p:sp>
      <p:sp>
        <p:nvSpPr>
          <p:cNvPr id="39" name="Object 8">
            <a:extLst>
              <a:ext uri="{FF2B5EF4-FFF2-40B4-BE49-F238E27FC236}">
                <a16:creationId xmlns:a16="http://schemas.microsoft.com/office/drawing/2014/main" id="{4C98659B-6304-231E-3623-D4607A7A2B02}"/>
              </a:ext>
            </a:extLst>
          </p:cNvPr>
          <p:cNvSpPr/>
          <p:nvPr/>
        </p:nvSpPr>
        <p:spPr>
          <a:xfrm>
            <a:off x="6979542" y="9787621"/>
            <a:ext cx="218144" cy="235598"/>
          </a:xfrm>
          <a:prstGeom prst="diamond">
            <a:avLst/>
          </a:prstGeom>
          <a:solidFill>
            <a:srgbClr val="000000">
              <a:alpha val="75000"/>
            </a:srgbClr>
          </a:solidFill>
        </p:spPr>
        <p:txBody>
          <a:bodyPr/>
          <a:lstStyle/>
          <a:p>
            <a:endParaRPr sz="3600"/>
          </a:p>
        </p:txBody>
      </p:sp>
      <p:sp>
        <p:nvSpPr>
          <p:cNvPr id="46" name="Object 56">
            <a:extLst>
              <a:ext uri="{FF2B5EF4-FFF2-40B4-BE49-F238E27FC236}">
                <a16:creationId xmlns:a16="http://schemas.microsoft.com/office/drawing/2014/main" id="{7922F435-C975-82E0-95C3-D7E04599C084}"/>
              </a:ext>
            </a:extLst>
          </p:cNvPr>
          <p:cNvSpPr txBox="1"/>
          <p:nvPr/>
        </p:nvSpPr>
        <p:spPr>
          <a:xfrm>
            <a:off x="12622097" y="4572890"/>
            <a:ext cx="5060462" cy="538392"/>
          </a:xfrm>
          <a:prstGeom prst="rect">
            <a:avLst/>
          </a:prstGeom>
          <a:solidFill>
            <a:schemeClr val="bg1"/>
          </a:solid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AMI/Patching</a:t>
            </a:r>
          </a:p>
        </p:txBody>
      </p:sp>
      <p:sp>
        <p:nvSpPr>
          <p:cNvPr id="47" name="Object 57">
            <a:extLst>
              <a:ext uri="{FF2B5EF4-FFF2-40B4-BE49-F238E27FC236}">
                <a16:creationId xmlns:a16="http://schemas.microsoft.com/office/drawing/2014/main" id="{6DA2589A-F0A6-0D18-CD7A-4AA0FDD9C71C}"/>
              </a:ext>
            </a:extLst>
          </p:cNvPr>
          <p:cNvSpPr txBox="1"/>
          <p:nvPr/>
        </p:nvSpPr>
        <p:spPr>
          <a:xfrm>
            <a:off x="12622097" y="5111284"/>
            <a:ext cx="5060462" cy="538392"/>
          </a:xfrm>
          <a:prstGeom prst="rect">
            <a:avLst/>
          </a:prstGeom>
          <a:solidFill>
            <a:schemeClr val="bg1"/>
          </a:solidFill>
          <a:ln w="12700">
            <a:solidFill>
              <a:srgbClr val="000000"/>
            </a:solidFill>
          </a:ln>
        </p:spPr>
        <p:txBody>
          <a:bodyPr wrap="square" rtlCol="0" anchor="ctr"/>
          <a:lstStyle/>
          <a:p>
            <a:pPr algn="ctr"/>
            <a:r>
              <a:rPr lang="en-US" sz="1600">
                <a:solidFill>
                  <a:srgbClr val="000000"/>
                </a:solidFill>
                <a:ea typeface="Amazon Ember" panose="02000000000000000000" pitchFamily="2" charset="0"/>
                <a:cs typeface="Calibri" pitchFamily="34" charset="0"/>
              </a:rPr>
              <a:t>Cloud Backup</a:t>
            </a:r>
          </a:p>
        </p:txBody>
      </p:sp>
      <p:sp>
        <p:nvSpPr>
          <p:cNvPr id="52" name="Object 62">
            <a:extLst>
              <a:ext uri="{FF2B5EF4-FFF2-40B4-BE49-F238E27FC236}">
                <a16:creationId xmlns:a16="http://schemas.microsoft.com/office/drawing/2014/main" id="{6EB2ABF7-FB5F-F47A-F764-F9570B8C9AB7}"/>
              </a:ext>
            </a:extLst>
          </p:cNvPr>
          <p:cNvSpPr txBox="1"/>
          <p:nvPr/>
        </p:nvSpPr>
        <p:spPr>
          <a:xfrm>
            <a:off x="12622097" y="7803250"/>
            <a:ext cx="5060462" cy="538392"/>
          </a:xfrm>
          <a:prstGeom prst="rect">
            <a:avLst/>
          </a:prstGeom>
          <a:solidFill>
            <a:schemeClr val="bg1"/>
          </a:solidFill>
          <a:ln w="12700">
            <a:solidFill>
              <a:srgbClr val="000000"/>
            </a:solidFill>
          </a:ln>
        </p:spPr>
        <p:txBody>
          <a:bodyPr wrap="square" rtlCol="0" anchor="ctr"/>
          <a:lstStyle/>
          <a:p>
            <a:pPr algn="ctr"/>
            <a:r>
              <a:rPr lang="en-US" sz="1600">
                <a:solidFill>
                  <a:srgbClr val="000000"/>
                </a:solidFill>
                <a:ea typeface="Amazon Ember" panose="02000000000000000000" pitchFamily="2" charset="0"/>
                <a:cs typeface="Calibri" pitchFamily="34" charset="0"/>
              </a:rPr>
              <a:t>Cloud Cost Management</a:t>
            </a:r>
          </a:p>
        </p:txBody>
      </p:sp>
      <p:sp>
        <p:nvSpPr>
          <p:cNvPr id="53" name="Object 63">
            <a:extLst>
              <a:ext uri="{FF2B5EF4-FFF2-40B4-BE49-F238E27FC236}">
                <a16:creationId xmlns:a16="http://schemas.microsoft.com/office/drawing/2014/main" id="{65CEF070-42A7-6158-4ECA-2063D6F3F249}"/>
              </a:ext>
            </a:extLst>
          </p:cNvPr>
          <p:cNvSpPr txBox="1"/>
          <p:nvPr/>
        </p:nvSpPr>
        <p:spPr>
          <a:xfrm>
            <a:off x="12622097" y="8341644"/>
            <a:ext cx="5060462" cy="538392"/>
          </a:xfrm>
          <a:prstGeom prst="rect">
            <a:avLst/>
          </a:prstGeom>
          <a:solidFill>
            <a:schemeClr val="bg1"/>
          </a:solidFill>
          <a:ln w="12700">
            <a:solidFill>
              <a:srgbClr val="000000"/>
            </a:solidFill>
          </a:ln>
        </p:spPr>
        <p:txBody>
          <a:bodyPr wrap="square" rtlCol="0" anchor="ctr"/>
          <a:lstStyle/>
          <a:p>
            <a:pPr algn="ctr"/>
            <a:r>
              <a:rPr lang="en-US" sz="1600">
                <a:solidFill>
                  <a:srgbClr val="000000"/>
                </a:solidFill>
                <a:ea typeface="Amazon Ember" panose="02000000000000000000" pitchFamily="2" charset="0"/>
                <a:cs typeface="Calibri" pitchFamily="34" charset="0"/>
              </a:rPr>
              <a:t>Cloud Ready Operational Processes &amp; Run Books</a:t>
            </a:r>
          </a:p>
        </p:txBody>
      </p:sp>
      <p:grpSp>
        <p:nvGrpSpPr>
          <p:cNvPr id="96" name="Group 95">
            <a:extLst>
              <a:ext uri="{FF2B5EF4-FFF2-40B4-BE49-F238E27FC236}">
                <a16:creationId xmlns:a16="http://schemas.microsoft.com/office/drawing/2014/main" id="{7D6EE42D-7AD3-77B9-5272-6A5D2F59C11F}"/>
              </a:ext>
            </a:extLst>
          </p:cNvPr>
          <p:cNvGrpSpPr/>
          <p:nvPr/>
        </p:nvGrpSpPr>
        <p:grpSpPr>
          <a:xfrm>
            <a:off x="12622097" y="2964748"/>
            <a:ext cx="10735866" cy="2542252"/>
            <a:chOff x="6311048" y="1482374"/>
            <a:chExt cx="5367933" cy="1271126"/>
          </a:xfrm>
        </p:grpSpPr>
        <p:sp>
          <p:nvSpPr>
            <p:cNvPr id="41" name="Object 31">
              <a:extLst>
                <a:ext uri="{FF2B5EF4-FFF2-40B4-BE49-F238E27FC236}">
                  <a16:creationId xmlns:a16="http://schemas.microsoft.com/office/drawing/2014/main" id="{57F0F626-8C53-77D4-7F28-97893F71A46F}"/>
                </a:ext>
              </a:extLst>
            </p:cNvPr>
            <p:cNvSpPr txBox="1"/>
            <p:nvPr/>
          </p:nvSpPr>
          <p:spPr>
            <a:xfrm>
              <a:off x="9130119" y="1482374"/>
              <a:ext cx="2530231" cy="269196"/>
            </a:xfrm>
            <a:prstGeom prst="rect">
              <a:avLst/>
            </a:prstGeom>
            <a:solidFill>
              <a:schemeClr val="tx1">
                <a:lumMod val="85000"/>
                <a:lumOff val="15000"/>
              </a:schemeClr>
            </a:solidFill>
            <a:ln w="6350">
              <a:solidFill>
                <a:schemeClr val="tx1"/>
              </a:solidFill>
            </a:ln>
          </p:spPr>
          <p:txBody>
            <a:bodyPr wrap="square" rtlCol="0" anchor="ctr"/>
            <a:lstStyle>
              <a:defPPr>
                <a:defRPr lang="en-US"/>
              </a:defPPr>
              <a:lvl1pPr marR="0" lvl="0" indent="0" defTabSz="731520" fontAlgn="auto">
                <a:lnSpc>
                  <a:spcPct val="100000"/>
                </a:lnSpc>
                <a:spcBef>
                  <a:spcPts val="0"/>
                </a:spcBef>
                <a:spcAft>
                  <a:spcPts val="0"/>
                </a:spcAft>
                <a:buClrTx/>
                <a:buSzTx/>
                <a:buFontTx/>
                <a:buNone/>
                <a:tabLst/>
                <a:defRPr kumimoji="0" b="1" i="0" u="none" strike="noStrike" cap="none" spc="0" normalizeH="0" baseline="0">
                  <a:ln>
                    <a:noFill/>
                  </a:ln>
                  <a:solidFill>
                    <a:srgbClr val="FFFFFF"/>
                  </a:solidFill>
                  <a:effectLst/>
                  <a:uLnTx/>
                  <a:uFillTx/>
                  <a:latin typeface="Arial"/>
                </a:defRPr>
              </a:lvl1pPr>
            </a:lstStyle>
            <a:p>
              <a:r>
                <a:rPr lang="en-US" sz="3600"/>
                <a:t>Landing Zone</a:t>
              </a:r>
            </a:p>
          </p:txBody>
        </p:sp>
        <p:sp>
          <p:nvSpPr>
            <p:cNvPr id="43" name="Object 49">
              <a:extLst>
                <a:ext uri="{FF2B5EF4-FFF2-40B4-BE49-F238E27FC236}">
                  <a16:creationId xmlns:a16="http://schemas.microsoft.com/office/drawing/2014/main" id="{4FB4362B-EFA4-8200-CB59-AFE71CFB79ED}"/>
                </a:ext>
              </a:extLst>
            </p:cNvPr>
            <p:cNvSpPr txBox="1"/>
            <p:nvPr/>
          </p:nvSpPr>
          <p:spPr>
            <a:xfrm>
              <a:off x="6311048" y="1482685"/>
              <a:ext cx="2530231" cy="269196"/>
            </a:xfrm>
            <a:prstGeom prst="rect">
              <a:avLst/>
            </a:prstGeom>
            <a:solidFill>
              <a:schemeClr val="tx1">
                <a:lumMod val="85000"/>
                <a:lumOff val="15000"/>
              </a:schemeClr>
            </a:solidFill>
            <a:ln w="6350">
              <a:solidFill>
                <a:schemeClr val="tx1"/>
              </a:solidFill>
            </a:ln>
          </p:spPr>
          <p:txBody>
            <a:bodyPr wrap="square" rtlCol="0" anchor="ctr"/>
            <a:lstStyle>
              <a:defPPr>
                <a:defRPr lang="en-US"/>
              </a:defPPr>
              <a:lvl1pPr marR="0" lvl="0" indent="0" defTabSz="731520" fontAlgn="auto">
                <a:lnSpc>
                  <a:spcPct val="100000"/>
                </a:lnSpc>
                <a:spcBef>
                  <a:spcPts val="0"/>
                </a:spcBef>
                <a:spcAft>
                  <a:spcPts val="0"/>
                </a:spcAft>
                <a:buClrTx/>
                <a:buSzTx/>
                <a:buFontTx/>
                <a:buNone/>
                <a:tabLst/>
                <a:defRPr kumimoji="0" b="1" i="0" u="none" strike="noStrike" cap="none" spc="0" normalizeH="0" baseline="0">
                  <a:ln>
                    <a:noFill/>
                  </a:ln>
                  <a:solidFill>
                    <a:srgbClr val="FFFFFF"/>
                  </a:solidFill>
                  <a:effectLst/>
                  <a:uLnTx/>
                  <a:uFillTx/>
                  <a:latin typeface="Arial"/>
                </a:defRPr>
              </a:lvl1pPr>
            </a:lstStyle>
            <a:p>
              <a:r>
                <a:rPr lang="en-US" sz="3600"/>
                <a:t>Operating Model</a:t>
              </a:r>
            </a:p>
          </p:txBody>
        </p:sp>
        <p:sp>
          <p:nvSpPr>
            <p:cNvPr id="55" name="Object 65">
              <a:extLst>
                <a:ext uri="{FF2B5EF4-FFF2-40B4-BE49-F238E27FC236}">
                  <a16:creationId xmlns:a16="http://schemas.microsoft.com/office/drawing/2014/main" id="{2DBE6FDB-7EB3-37A6-C973-BFC6D6C9B1A1}"/>
                </a:ext>
              </a:extLst>
            </p:cNvPr>
            <p:cNvSpPr txBox="1"/>
            <p:nvPr/>
          </p:nvSpPr>
          <p:spPr>
            <a:xfrm>
              <a:off x="9148750" y="2484304"/>
              <a:ext cx="2530231" cy="269196"/>
            </a:xfrm>
            <a:prstGeom prst="rect">
              <a:avLst/>
            </a:prstGeom>
            <a:solidFill>
              <a:schemeClr val="tx1">
                <a:lumMod val="85000"/>
                <a:lumOff val="15000"/>
              </a:schemeClr>
            </a:solidFill>
            <a:ln w="6350">
              <a:solidFill>
                <a:schemeClr val="tx1"/>
              </a:solidFill>
            </a:ln>
          </p:spPr>
          <p:txBody>
            <a:bodyPr wrap="square" rtlCol="0" anchor="ctr"/>
            <a:lstStyle>
              <a:defPPr>
                <a:defRPr lang="en-US"/>
              </a:defPPr>
              <a:lvl1pPr marR="0" lvl="0" indent="0" defTabSz="731520" fontAlgn="auto">
                <a:lnSpc>
                  <a:spcPct val="100000"/>
                </a:lnSpc>
                <a:spcBef>
                  <a:spcPts val="0"/>
                </a:spcBef>
                <a:spcAft>
                  <a:spcPts val="0"/>
                </a:spcAft>
                <a:buClrTx/>
                <a:buSzTx/>
                <a:buFontTx/>
                <a:buNone/>
                <a:tabLst/>
                <a:defRPr kumimoji="0" b="1" i="0" u="none" strike="noStrike" cap="none" spc="0" normalizeH="0" baseline="0">
                  <a:ln>
                    <a:noFill/>
                  </a:ln>
                  <a:solidFill>
                    <a:srgbClr val="FFFFFF"/>
                  </a:solidFill>
                  <a:effectLst/>
                  <a:uLnTx/>
                  <a:uFillTx/>
                  <a:latin typeface="Arial"/>
                </a:defRPr>
              </a:lvl1pPr>
            </a:lstStyle>
            <a:p>
              <a:r>
                <a:rPr lang="en-US" sz="3600"/>
                <a:t>Security &amp; Compliance</a:t>
              </a:r>
            </a:p>
          </p:txBody>
        </p:sp>
      </p:grpSp>
      <p:sp>
        <p:nvSpPr>
          <p:cNvPr id="70" name="Object 72">
            <a:extLst>
              <a:ext uri="{FF2B5EF4-FFF2-40B4-BE49-F238E27FC236}">
                <a16:creationId xmlns:a16="http://schemas.microsoft.com/office/drawing/2014/main" id="{17E81194-4B50-D7C5-0ACD-CF6B9B679D4C}"/>
              </a:ext>
            </a:extLst>
          </p:cNvPr>
          <p:cNvSpPr txBox="1"/>
          <p:nvPr/>
        </p:nvSpPr>
        <p:spPr>
          <a:xfrm>
            <a:off x="18297501" y="6565962"/>
            <a:ext cx="5060462" cy="538392"/>
          </a:xfrm>
          <a:prstGeom prst="rect">
            <a:avLst/>
          </a:prstGeom>
          <a:solidFill>
            <a:schemeClr val="bg1"/>
          </a:solidFill>
          <a:ln w="12700">
            <a:solidFill>
              <a:srgbClr val="000000"/>
            </a:solidFill>
          </a:ln>
        </p:spPr>
        <p:txBody>
          <a:bodyPr wrap="square" rtlCol="0" anchor="ctr"/>
          <a:lstStyle/>
          <a:p>
            <a:pPr algn="ctr"/>
            <a:r>
              <a:rPr lang="en-US" sz="1600">
                <a:solidFill>
                  <a:srgbClr val="000000"/>
                </a:solidFill>
                <a:ea typeface="Amazon Ember" panose="02000000000000000000" pitchFamily="2" charset="0"/>
                <a:cs typeface="Calibri" pitchFamily="34" charset="0"/>
              </a:rPr>
              <a:t>3rd Party Risk</a:t>
            </a:r>
          </a:p>
        </p:txBody>
      </p:sp>
      <p:sp>
        <p:nvSpPr>
          <p:cNvPr id="75" name="Object 8">
            <a:extLst>
              <a:ext uri="{FF2B5EF4-FFF2-40B4-BE49-F238E27FC236}">
                <a16:creationId xmlns:a16="http://schemas.microsoft.com/office/drawing/2014/main" id="{A498E28F-1D4F-0BAA-5917-81770E84EE16}"/>
              </a:ext>
            </a:extLst>
          </p:cNvPr>
          <p:cNvSpPr/>
          <p:nvPr/>
        </p:nvSpPr>
        <p:spPr>
          <a:xfrm>
            <a:off x="12794165" y="3718413"/>
            <a:ext cx="227714" cy="245934"/>
          </a:xfrm>
          <a:prstGeom prst="diamond">
            <a:avLst/>
          </a:prstGeom>
          <a:solidFill>
            <a:srgbClr val="000000">
              <a:alpha val="75000"/>
            </a:srgbClr>
          </a:solidFill>
        </p:spPr>
        <p:txBody>
          <a:bodyPr/>
          <a:lstStyle/>
          <a:p>
            <a:endParaRPr sz="3600"/>
          </a:p>
        </p:txBody>
      </p:sp>
      <p:sp>
        <p:nvSpPr>
          <p:cNvPr id="76" name="Object 8">
            <a:extLst>
              <a:ext uri="{FF2B5EF4-FFF2-40B4-BE49-F238E27FC236}">
                <a16:creationId xmlns:a16="http://schemas.microsoft.com/office/drawing/2014/main" id="{DBEF1B2D-CB94-BDC6-481E-B73C48B21E1A}"/>
              </a:ext>
            </a:extLst>
          </p:cNvPr>
          <p:cNvSpPr/>
          <p:nvPr/>
        </p:nvSpPr>
        <p:spPr>
          <a:xfrm>
            <a:off x="12784189" y="4224443"/>
            <a:ext cx="227714" cy="245934"/>
          </a:xfrm>
          <a:prstGeom prst="diamond">
            <a:avLst/>
          </a:prstGeom>
          <a:solidFill>
            <a:srgbClr val="000000">
              <a:alpha val="75000"/>
            </a:srgbClr>
          </a:solidFill>
        </p:spPr>
        <p:txBody>
          <a:bodyPr/>
          <a:lstStyle/>
          <a:p>
            <a:endParaRPr sz="3600"/>
          </a:p>
        </p:txBody>
      </p:sp>
      <p:sp>
        <p:nvSpPr>
          <p:cNvPr id="77" name="Object 8">
            <a:extLst>
              <a:ext uri="{FF2B5EF4-FFF2-40B4-BE49-F238E27FC236}">
                <a16:creationId xmlns:a16="http://schemas.microsoft.com/office/drawing/2014/main" id="{30E8E35B-9CE5-E070-4AAB-D9E76D5CC9CD}"/>
              </a:ext>
            </a:extLst>
          </p:cNvPr>
          <p:cNvSpPr/>
          <p:nvPr/>
        </p:nvSpPr>
        <p:spPr>
          <a:xfrm>
            <a:off x="18430681" y="6727141"/>
            <a:ext cx="227714" cy="245934"/>
          </a:xfrm>
          <a:prstGeom prst="diamond">
            <a:avLst/>
          </a:prstGeom>
          <a:solidFill>
            <a:srgbClr val="000000">
              <a:alpha val="75000"/>
            </a:srgbClr>
          </a:solidFill>
        </p:spPr>
        <p:txBody>
          <a:bodyPr/>
          <a:lstStyle/>
          <a:p>
            <a:endParaRPr sz="3600"/>
          </a:p>
        </p:txBody>
      </p:sp>
      <p:grpSp>
        <p:nvGrpSpPr>
          <p:cNvPr id="97" name="Group 96">
            <a:extLst>
              <a:ext uri="{FF2B5EF4-FFF2-40B4-BE49-F238E27FC236}">
                <a16:creationId xmlns:a16="http://schemas.microsoft.com/office/drawing/2014/main" id="{102626A8-53F1-049F-26B4-523BD8436999}"/>
              </a:ext>
            </a:extLst>
          </p:cNvPr>
          <p:cNvGrpSpPr/>
          <p:nvPr/>
        </p:nvGrpSpPr>
        <p:grpSpPr>
          <a:xfrm>
            <a:off x="12622097" y="3503762"/>
            <a:ext cx="10735866" cy="6438948"/>
            <a:chOff x="6311048" y="1751881"/>
            <a:chExt cx="5367933" cy="3219474"/>
          </a:xfrm>
          <a:solidFill>
            <a:schemeClr val="bg1"/>
          </a:solidFill>
        </p:grpSpPr>
        <p:sp>
          <p:nvSpPr>
            <p:cNvPr id="42" name="Object 34">
              <a:extLst>
                <a:ext uri="{FF2B5EF4-FFF2-40B4-BE49-F238E27FC236}">
                  <a16:creationId xmlns:a16="http://schemas.microsoft.com/office/drawing/2014/main" id="{998017F9-F282-6177-D690-28A2E36F4A2B}"/>
                </a:ext>
              </a:extLst>
            </p:cNvPr>
            <p:cNvSpPr txBox="1"/>
            <p:nvPr/>
          </p:nvSpPr>
          <p:spPr>
            <a:xfrm>
              <a:off x="9130119" y="1760218"/>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Account Design &amp; Configuration</a:t>
              </a:r>
            </a:p>
          </p:txBody>
        </p:sp>
        <p:sp>
          <p:nvSpPr>
            <p:cNvPr id="44" name="Object 50">
              <a:extLst>
                <a:ext uri="{FF2B5EF4-FFF2-40B4-BE49-F238E27FC236}">
                  <a16:creationId xmlns:a16="http://schemas.microsoft.com/office/drawing/2014/main" id="{93BC5AE2-C293-B4D7-BBF0-D3D1AD6400EE}"/>
                </a:ext>
              </a:extLst>
            </p:cNvPr>
            <p:cNvSpPr txBox="1"/>
            <p:nvPr/>
          </p:nvSpPr>
          <p:spPr>
            <a:xfrm>
              <a:off x="6311048" y="1751881"/>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Current Operations Model</a:t>
              </a:r>
            </a:p>
          </p:txBody>
        </p:sp>
        <p:sp>
          <p:nvSpPr>
            <p:cNvPr id="45" name="Object 54">
              <a:extLst>
                <a:ext uri="{FF2B5EF4-FFF2-40B4-BE49-F238E27FC236}">
                  <a16:creationId xmlns:a16="http://schemas.microsoft.com/office/drawing/2014/main" id="{967B961D-BA59-95A4-58BA-EC673F50F439}"/>
                </a:ext>
              </a:extLst>
            </p:cNvPr>
            <p:cNvSpPr txBox="1"/>
            <p:nvPr/>
          </p:nvSpPr>
          <p:spPr>
            <a:xfrm>
              <a:off x="6311048" y="2017251"/>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Managed Service Provider Identified</a:t>
              </a:r>
            </a:p>
          </p:txBody>
        </p:sp>
        <p:sp>
          <p:nvSpPr>
            <p:cNvPr id="48" name="Object 58">
              <a:extLst>
                <a:ext uri="{FF2B5EF4-FFF2-40B4-BE49-F238E27FC236}">
                  <a16:creationId xmlns:a16="http://schemas.microsoft.com/office/drawing/2014/main" id="{0CE6F527-B693-2C46-9CF6-455B928DC7B1}"/>
                </a:ext>
              </a:extLst>
            </p:cNvPr>
            <p:cNvSpPr txBox="1"/>
            <p:nvPr/>
          </p:nvSpPr>
          <p:spPr>
            <a:xfrm>
              <a:off x="6311048" y="2824839"/>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Asset Management</a:t>
              </a:r>
            </a:p>
          </p:txBody>
        </p:sp>
        <p:sp>
          <p:nvSpPr>
            <p:cNvPr id="49" name="Object 59">
              <a:extLst>
                <a:ext uri="{FF2B5EF4-FFF2-40B4-BE49-F238E27FC236}">
                  <a16:creationId xmlns:a16="http://schemas.microsoft.com/office/drawing/2014/main" id="{85CDF221-E6AB-1BF1-33CA-B42B8937929C}"/>
                </a:ext>
              </a:extLst>
            </p:cNvPr>
            <p:cNvSpPr txBox="1"/>
            <p:nvPr/>
          </p:nvSpPr>
          <p:spPr>
            <a:xfrm>
              <a:off x="6311048" y="3094036"/>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Config Management &amp; Change Management</a:t>
              </a:r>
            </a:p>
          </p:txBody>
        </p:sp>
        <p:sp>
          <p:nvSpPr>
            <p:cNvPr id="50" name="Object 60">
              <a:extLst>
                <a:ext uri="{FF2B5EF4-FFF2-40B4-BE49-F238E27FC236}">
                  <a16:creationId xmlns:a16="http://schemas.microsoft.com/office/drawing/2014/main" id="{C5D7D94B-9E97-D010-2121-7FE1E6A5ABFF}"/>
                </a:ext>
              </a:extLst>
            </p:cNvPr>
            <p:cNvSpPr txBox="1"/>
            <p:nvPr/>
          </p:nvSpPr>
          <p:spPr>
            <a:xfrm>
              <a:off x="6311048" y="3363233"/>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BCP/DR</a:t>
              </a:r>
            </a:p>
          </p:txBody>
        </p:sp>
        <p:sp>
          <p:nvSpPr>
            <p:cNvPr id="51" name="Object 61">
              <a:extLst>
                <a:ext uri="{FF2B5EF4-FFF2-40B4-BE49-F238E27FC236}">
                  <a16:creationId xmlns:a16="http://schemas.microsoft.com/office/drawing/2014/main" id="{E2037019-C91B-C6F3-8C6B-2B158EA6B63E}"/>
                </a:ext>
              </a:extLst>
            </p:cNvPr>
            <p:cNvSpPr txBox="1"/>
            <p:nvPr/>
          </p:nvSpPr>
          <p:spPr>
            <a:xfrm>
              <a:off x="6311048" y="3632430"/>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Service Catalog</a:t>
              </a:r>
            </a:p>
          </p:txBody>
        </p:sp>
        <p:sp>
          <p:nvSpPr>
            <p:cNvPr id="54" name="Object 64">
              <a:extLst>
                <a:ext uri="{FF2B5EF4-FFF2-40B4-BE49-F238E27FC236}">
                  <a16:creationId xmlns:a16="http://schemas.microsoft.com/office/drawing/2014/main" id="{6FF68042-A570-5DC6-D637-4788910DE0FB}"/>
                </a:ext>
              </a:extLst>
            </p:cNvPr>
            <p:cNvSpPr txBox="1"/>
            <p:nvPr/>
          </p:nvSpPr>
          <p:spPr>
            <a:xfrm>
              <a:off x="6311048" y="4440019"/>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CI/CD Pipelines</a:t>
              </a:r>
            </a:p>
          </p:txBody>
        </p:sp>
        <p:sp>
          <p:nvSpPr>
            <p:cNvPr id="69" name="Object 66">
              <a:extLst>
                <a:ext uri="{FF2B5EF4-FFF2-40B4-BE49-F238E27FC236}">
                  <a16:creationId xmlns:a16="http://schemas.microsoft.com/office/drawing/2014/main" id="{80228BA6-4C98-0748-3177-D1333E395600}"/>
                </a:ext>
              </a:extLst>
            </p:cNvPr>
            <p:cNvSpPr txBox="1"/>
            <p:nvPr/>
          </p:nvSpPr>
          <p:spPr>
            <a:xfrm>
              <a:off x="9148750" y="2753500"/>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Security Strategy</a:t>
              </a:r>
            </a:p>
          </p:txBody>
        </p:sp>
        <p:sp>
          <p:nvSpPr>
            <p:cNvPr id="71" name="Object 75">
              <a:extLst>
                <a:ext uri="{FF2B5EF4-FFF2-40B4-BE49-F238E27FC236}">
                  <a16:creationId xmlns:a16="http://schemas.microsoft.com/office/drawing/2014/main" id="{0DDFBB18-E4EB-39D9-8912-EE523C3BDD4E}"/>
                </a:ext>
              </a:extLst>
            </p:cNvPr>
            <p:cNvSpPr txBox="1"/>
            <p:nvPr/>
          </p:nvSpPr>
          <p:spPr>
            <a:xfrm>
              <a:off x="9148750" y="3821374"/>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Logging &amp; Monitoring</a:t>
              </a:r>
            </a:p>
          </p:txBody>
        </p:sp>
        <p:sp>
          <p:nvSpPr>
            <p:cNvPr id="72" name="Object 77">
              <a:extLst>
                <a:ext uri="{FF2B5EF4-FFF2-40B4-BE49-F238E27FC236}">
                  <a16:creationId xmlns:a16="http://schemas.microsoft.com/office/drawing/2014/main" id="{2ED1CFC0-100D-AA35-83C2-9E73FE77426E}"/>
                </a:ext>
              </a:extLst>
            </p:cNvPr>
            <p:cNvSpPr txBox="1"/>
            <p:nvPr/>
          </p:nvSpPr>
          <p:spPr>
            <a:xfrm>
              <a:off x="9148750" y="4093896"/>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Lifecycle Security Capabilities</a:t>
              </a:r>
            </a:p>
          </p:txBody>
        </p:sp>
        <p:sp>
          <p:nvSpPr>
            <p:cNvPr id="73" name="Object 79">
              <a:extLst>
                <a:ext uri="{FF2B5EF4-FFF2-40B4-BE49-F238E27FC236}">
                  <a16:creationId xmlns:a16="http://schemas.microsoft.com/office/drawing/2014/main" id="{505602C2-84BD-73FB-A959-22350DA1A61A}"/>
                </a:ext>
              </a:extLst>
            </p:cNvPr>
            <p:cNvSpPr txBox="1"/>
            <p:nvPr/>
          </p:nvSpPr>
          <p:spPr>
            <a:xfrm>
              <a:off x="9148750" y="4632289"/>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Security Operations Playbook</a:t>
              </a:r>
            </a:p>
          </p:txBody>
        </p:sp>
        <p:sp>
          <p:nvSpPr>
            <p:cNvPr id="74" name="Object 80">
              <a:extLst>
                <a:ext uri="{FF2B5EF4-FFF2-40B4-BE49-F238E27FC236}">
                  <a16:creationId xmlns:a16="http://schemas.microsoft.com/office/drawing/2014/main" id="{0B79708C-A370-D923-8CBE-00188589A702}"/>
                </a:ext>
              </a:extLst>
            </p:cNvPr>
            <p:cNvSpPr txBox="1"/>
            <p:nvPr/>
          </p:nvSpPr>
          <p:spPr>
            <a:xfrm>
              <a:off x="6311048" y="4702159"/>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Incident Response</a:t>
              </a:r>
            </a:p>
          </p:txBody>
        </p:sp>
        <p:sp>
          <p:nvSpPr>
            <p:cNvPr id="78" name="Object 75">
              <a:extLst>
                <a:ext uri="{FF2B5EF4-FFF2-40B4-BE49-F238E27FC236}">
                  <a16:creationId xmlns:a16="http://schemas.microsoft.com/office/drawing/2014/main" id="{BA39FFB3-1286-45FD-979D-6FE2CC97431D}"/>
                </a:ext>
              </a:extLst>
            </p:cNvPr>
            <p:cNvSpPr txBox="1"/>
            <p:nvPr/>
          </p:nvSpPr>
          <p:spPr>
            <a:xfrm>
              <a:off x="9148750" y="3552178"/>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Security Reference Architecture</a:t>
              </a:r>
            </a:p>
          </p:txBody>
        </p:sp>
        <p:sp>
          <p:nvSpPr>
            <p:cNvPr id="92" name="Object 75">
              <a:extLst>
                <a:ext uri="{FF2B5EF4-FFF2-40B4-BE49-F238E27FC236}">
                  <a16:creationId xmlns:a16="http://schemas.microsoft.com/office/drawing/2014/main" id="{F805580C-11FA-E739-D2AD-9C60B9594CD2}"/>
                </a:ext>
              </a:extLst>
            </p:cNvPr>
            <p:cNvSpPr txBox="1"/>
            <p:nvPr/>
          </p:nvSpPr>
          <p:spPr>
            <a:xfrm>
              <a:off x="9148748" y="3018814"/>
              <a:ext cx="2530231" cy="269196"/>
            </a:xfrm>
            <a:prstGeom prst="rect">
              <a:avLst/>
            </a:prstGeom>
            <a:grpFill/>
            <a:ln w="12700">
              <a:solidFill>
                <a:srgbClr val="000000"/>
              </a:solidFill>
            </a:ln>
          </p:spPr>
          <p:txBody>
            <a:bodyPr wrap="square" rtlCol="0" anchor="ctr"/>
            <a:lstStyle>
              <a:defPPr>
                <a:defRPr lang="en-US"/>
              </a:defPPr>
              <a:lvl1pPr algn="ctr">
                <a:defRPr sz="800">
                  <a:solidFill>
                    <a:srgbClr val="000000"/>
                  </a:solidFill>
                  <a:ea typeface="Amazon Ember" panose="02000000000000000000" pitchFamily="2" charset="0"/>
                  <a:cs typeface="Calibri" pitchFamily="34" charset="0"/>
                </a:defRPr>
              </a:lvl1pPr>
            </a:lstStyle>
            <a:p>
              <a:r>
                <a:rPr lang="en-US" sz="1600"/>
                <a:t>Governance, Risk &amp; Compliance</a:t>
              </a:r>
            </a:p>
          </p:txBody>
        </p:sp>
      </p:grpSp>
      <p:sp>
        <p:nvSpPr>
          <p:cNvPr id="94" name="Object 78">
            <a:extLst>
              <a:ext uri="{FF2B5EF4-FFF2-40B4-BE49-F238E27FC236}">
                <a16:creationId xmlns:a16="http://schemas.microsoft.com/office/drawing/2014/main" id="{3E59EACD-1FC2-CAA7-A6AC-1B82287CAA21}"/>
              </a:ext>
            </a:extLst>
          </p:cNvPr>
          <p:cNvSpPr txBox="1"/>
          <p:nvPr/>
        </p:nvSpPr>
        <p:spPr>
          <a:xfrm>
            <a:off x="18297501" y="8726184"/>
            <a:ext cx="5060462" cy="538392"/>
          </a:xfrm>
          <a:prstGeom prst="rect">
            <a:avLst/>
          </a:prstGeom>
          <a:solidFill>
            <a:schemeClr val="bg1"/>
          </a:solidFill>
          <a:ln w="12700">
            <a:solidFill>
              <a:srgbClr val="000000"/>
            </a:solidFill>
          </a:ln>
        </p:spPr>
        <p:txBody>
          <a:bodyPr wrap="square" rtlCol="0" anchor="ctr"/>
          <a:lstStyle/>
          <a:p>
            <a:pPr algn="ctr"/>
            <a:r>
              <a:rPr lang="en-US" sz="1600">
                <a:solidFill>
                  <a:srgbClr val="000000"/>
                </a:solidFill>
                <a:ea typeface="Amazon Ember" panose="02000000000000000000" pitchFamily="2" charset="0"/>
                <a:cs typeface="Calibri" pitchFamily="34" charset="0"/>
              </a:rPr>
              <a:t>Cloud </a:t>
            </a:r>
            <a:r>
              <a:rPr lang="en-US" sz="1600" err="1">
                <a:solidFill>
                  <a:srgbClr val="000000"/>
                </a:solidFill>
                <a:ea typeface="Amazon Ember" panose="02000000000000000000" pitchFamily="2" charset="0"/>
                <a:cs typeface="Calibri" pitchFamily="34" charset="0"/>
              </a:rPr>
              <a:t>DevSecOps</a:t>
            </a:r>
            <a:r>
              <a:rPr lang="en-US" sz="1600">
                <a:solidFill>
                  <a:srgbClr val="000000"/>
                </a:solidFill>
                <a:ea typeface="Amazon Ember" panose="02000000000000000000" pitchFamily="2" charset="0"/>
                <a:cs typeface="Calibri" pitchFamily="34" charset="0"/>
              </a:rPr>
              <a:t> Principles</a:t>
            </a:r>
          </a:p>
        </p:txBody>
      </p:sp>
      <p:sp>
        <p:nvSpPr>
          <p:cNvPr id="98" name="Object 8">
            <a:extLst>
              <a:ext uri="{FF2B5EF4-FFF2-40B4-BE49-F238E27FC236}">
                <a16:creationId xmlns:a16="http://schemas.microsoft.com/office/drawing/2014/main" id="{EE61713F-B7BA-82FA-0339-D794920FAC5D}"/>
              </a:ext>
            </a:extLst>
          </p:cNvPr>
          <p:cNvSpPr/>
          <p:nvPr/>
        </p:nvSpPr>
        <p:spPr>
          <a:xfrm>
            <a:off x="12784189" y="3700163"/>
            <a:ext cx="227714" cy="245934"/>
          </a:xfrm>
          <a:prstGeom prst="diamond">
            <a:avLst/>
          </a:prstGeom>
          <a:solidFill>
            <a:srgbClr val="000000">
              <a:alpha val="75000"/>
            </a:srgbClr>
          </a:solidFill>
        </p:spPr>
        <p:txBody>
          <a:bodyPr/>
          <a:lstStyle/>
          <a:p>
            <a:endParaRPr sz="3600"/>
          </a:p>
        </p:txBody>
      </p:sp>
      <p:sp>
        <p:nvSpPr>
          <p:cNvPr id="99" name="Object 8">
            <a:extLst>
              <a:ext uri="{FF2B5EF4-FFF2-40B4-BE49-F238E27FC236}">
                <a16:creationId xmlns:a16="http://schemas.microsoft.com/office/drawing/2014/main" id="{ED58804D-285B-EEC8-5B00-23CA99DF31A8}"/>
              </a:ext>
            </a:extLst>
          </p:cNvPr>
          <p:cNvSpPr/>
          <p:nvPr/>
        </p:nvSpPr>
        <p:spPr>
          <a:xfrm>
            <a:off x="12784189" y="4176997"/>
            <a:ext cx="227714" cy="245934"/>
          </a:xfrm>
          <a:prstGeom prst="diamond">
            <a:avLst/>
          </a:prstGeom>
          <a:solidFill>
            <a:srgbClr val="000000">
              <a:alpha val="75000"/>
            </a:srgbClr>
          </a:solidFill>
        </p:spPr>
        <p:txBody>
          <a:bodyPr/>
          <a:lstStyle/>
          <a:p>
            <a:endParaRPr sz="3600"/>
          </a:p>
        </p:txBody>
      </p:sp>
      <p:sp>
        <p:nvSpPr>
          <p:cNvPr id="2" name="Slide Number Placeholder 8">
            <a:extLst>
              <a:ext uri="{FF2B5EF4-FFF2-40B4-BE49-F238E27FC236}">
                <a16:creationId xmlns:a16="http://schemas.microsoft.com/office/drawing/2014/main" id="{1F521023-2F49-73D1-62FE-AEB0F913ABE8}"/>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55</a:t>
            </a:fld>
            <a:endParaRPr lang="en-US">
              <a:solidFill>
                <a:srgbClr val="000000"/>
              </a:solidFill>
              <a:latin typeface="Arial"/>
            </a:endParaRPr>
          </a:p>
        </p:txBody>
      </p:sp>
    </p:spTree>
    <p:extLst>
      <p:ext uri="{BB962C8B-B14F-4D97-AF65-F5344CB8AC3E}">
        <p14:creationId xmlns:p14="http://schemas.microsoft.com/office/powerpoint/2010/main" val="287777661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910179B-79C9-F45F-4680-DED282DF8A2B}"/>
              </a:ext>
            </a:extLst>
          </p:cNvPr>
          <p:cNvSpPr/>
          <p:nvPr/>
        </p:nvSpPr>
        <p:spPr>
          <a:xfrm>
            <a:off x="6611832" y="2798110"/>
            <a:ext cx="5472000" cy="48533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ES" sz="3600">
              <a:solidFill>
                <a:srgbClr val="FFFFFF"/>
              </a:solidFill>
              <a:latin typeface="Arial"/>
            </a:endParaRPr>
          </a:p>
        </p:txBody>
      </p:sp>
      <p:sp>
        <p:nvSpPr>
          <p:cNvPr id="3" name="Rectangle 2">
            <a:extLst>
              <a:ext uri="{FF2B5EF4-FFF2-40B4-BE49-F238E27FC236}">
                <a16:creationId xmlns:a16="http://schemas.microsoft.com/office/drawing/2014/main" id="{98ADE0BA-8A16-82F8-68E7-7E6775BF8243}"/>
              </a:ext>
            </a:extLst>
          </p:cNvPr>
          <p:cNvSpPr/>
          <p:nvPr/>
        </p:nvSpPr>
        <p:spPr>
          <a:xfrm>
            <a:off x="12354264" y="2798110"/>
            <a:ext cx="5472000" cy="48533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ES" sz="3600">
              <a:solidFill>
                <a:srgbClr val="FFFFFF"/>
              </a:solidFill>
              <a:latin typeface="Arial"/>
            </a:endParaRPr>
          </a:p>
        </p:txBody>
      </p:sp>
      <p:sp>
        <p:nvSpPr>
          <p:cNvPr id="4" name="Rectangle 3">
            <a:extLst>
              <a:ext uri="{FF2B5EF4-FFF2-40B4-BE49-F238E27FC236}">
                <a16:creationId xmlns:a16="http://schemas.microsoft.com/office/drawing/2014/main" id="{0625BF65-DE8B-00CE-1EFE-50BE3C0BEAB2}"/>
              </a:ext>
            </a:extLst>
          </p:cNvPr>
          <p:cNvSpPr/>
          <p:nvPr/>
        </p:nvSpPr>
        <p:spPr>
          <a:xfrm>
            <a:off x="18096696" y="2798110"/>
            <a:ext cx="5472000" cy="48533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ES" sz="3600">
              <a:solidFill>
                <a:srgbClr val="FFFFFF"/>
              </a:solidFill>
              <a:latin typeface="Arial"/>
            </a:endParaRPr>
          </a:p>
        </p:txBody>
      </p:sp>
      <p:sp>
        <p:nvSpPr>
          <p:cNvPr id="6" name="Rectangle 5">
            <a:extLst>
              <a:ext uri="{FF2B5EF4-FFF2-40B4-BE49-F238E27FC236}">
                <a16:creationId xmlns:a16="http://schemas.microsoft.com/office/drawing/2014/main" id="{41D182CF-E8FB-8BC6-63C2-0E59DBBD3409}"/>
              </a:ext>
            </a:extLst>
          </p:cNvPr>
          <p:cNvSpPr/>
          <p:nvPr/>
        </p:nvSpPr>
        <p:spPr>
          <a:xfrm>
            <a:off x="905976" y="2798110"/>
            <a:ext cx="5472000" cy="48533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ES" sz="3600">
              <a:solidFill>
                <a:srgbClr val="FFFFFF"/>
              </a:solidFill>
              <a:latin typeface="Arial"/>
            </a:endParaRPr>
          </a:p>
        </p:txBody>
      </p:sp>
      <p:cxnSp>
        <p:nvCxnSpPr>
          <p:cNvPr id="7" name="Straight Arrow Connector 6">
            <a:extLst>
              <a:ext uri="{FF2B5EF4-FFF2-40B4-BE49-F238E27FC236}">
                <a16:creationId xmlns:a16="http://schemas.microsoft.com/office/drawing/2014/main" id="{F98E3F10-4C57-F6D0-9316-CBC156C3656C}"/>
              </a:ext>
            </a:extLst>
          </p:cNvPr>
          <p:cNvCxnSpPr/>
          <p:nvPr/>
        </p:nvCxnSpPr>
        <p:spPr>
          <a:xfrm>
            <a:off x="0" y="2798108"/>
            <a:ext cx="24384000" cy="0"/>
          </a:xfrm>
          <a:prstGeom prst="straightConnector1">
            <a:avLst/>
          </a:prstGeom>
          <a:ln w="34925">
            <a:solidFill>
              <a:schemeClr val="tx2"/>
            </a:solidFill>
            <a:tailEnd type="arrow" w="lg" len="med"/>
          </a:ln>
        </p:spPr>
        <p:style>
          <a:lnRef idx="1">
            <a:schemeClr val="accent1"/>
          </a:lnRef>
          <a:fillRef idx="0">
            <a:schemeClr val="accent1"/>
          </a:fillRef>
          <a:effectRef idx="0">
            <a:schemeClr val="accent1"/>
          </a:effectRef>
          <a:fontRef idx="minor">
            <a:schemeClr val="tx1"/>
          </a:fontRef>
        </p:style>
      </p:cxnSp>
      <p:sp>
        <p:nvSpPr>
          <p:cNvPr id="8" name="Text Placeholder 6">
            <a:extLst>
              <a:ext uri="{FF2B5EF4-FFF2-40B4-BE49-F238E27FC236}">
                <a16:creationId xmlns:a16="http://schemas.microsoft.com/office/drawing/2014/main" id="{FAE5D380-3A83-1B03-246C-D51417500BC0}"/>
              </a:ext>
            </a:extLst>
          </p:cNvPr>
          <p:cNvSpPr txBox="1">
            <a:spLocks/>
          </p:cNvSpPr>
          <p:nvPr/>
        </p:nvSpPr>
        <p:spPr>
          <a:xfrm>
            <a:off x="1399446" y="2495708"/>
            <a:ext cx="4320000" cy="604800"/>
          </a:xfrm>
          <a:prstGeom prst="rect">
            <a:avLst/>
          </a:prstGeom>
          <a:solidFill>
            <a:schemeClr val="tx1"/>
          </a:solidFill>
        </p:spPr>
        <p:txBody>
          <a:bodyPr vert="horz" wrap="square" lIns="144000" tIns="0" rIns="0" bIns="0" rtlCol="0" anchor="ctr">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2800" b="1">
                <a:solidFill>
                  <a:srgbClr val="FFFFFF"/>
                </a:solidFill>
                <a:latin typeface="Arial"/>
              </a:rPr>
              <a:t>Cloud Team (CCoE)</a:t>
            </a:r>
          </a:p>
        </p:txBody>
      </p:sp>
      <p:sp>
        <p:nvSpPr>
          <p:cNvPr id="9" name="Text Placeholder 6">
            <a:extLst>
              <a:ext uri="{FF2B5EF4-FFF2-40B4-BE49-F238E27FC236}">
                <a16:creationId xmlns:a16="http://schemas.microsoft.com/office/drawing/2014/main" id="{ED20BD4D-A818-DB18-DAEF-1C1522B53CBD}"/>
              </a:ext>
            </a:extLst>
          </p:cNvPr>
          <p:cNvSpPr txBox="1">
            <a:spLocks/>
          </p:cNvSpPr>
          <p:nvPr/>
        </p:nvSpPr>
        <p:spPr>
          <a:xfrm>
            <a:off x="7154482" y="2495708"/>
            <a:ext cx="4320000" cy="604800"/>
          </a:xfrm>
          <a:prstGeom prst="rect">
            <a:avLst/>
          </a:prstGeom>
          <a:solidFill>
            <a:schemeClr val="tx1"/>
          </a:solidFill>
        </p:spPr>
        <p:txBody>
          <a:bodyPr vert="horz" wrap="square" lIns="144000" tIns="0" rIns="0" bIns="0" rtlCol="0" anchor="ctr">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2800" b="1">
                <a:solidFill>
                  <a:srgbClr val="FFFFFF"/>
                </a:solidFill>
                <a:latin typeface="Arial"/>
              </a:rPr>
              <a:t>Cloud Strategy</a:t>
            </a:r>
          </a:p>
        </p:txBody>
      </p:sp>
      <p:sp>
        <p:nvSpPr>
          <p:cNvPr id="10" name="Text Placeholder 6">
            <a:extLst>
              <a:ext uri="{FF2B5EF4-FFF2-40B4-BE49-F238E27FC236}">
                <a16:creationId xmlns:a16="http://schemas.microsoft.com/office/drawing/2014/main" id="{9D6B69B6-6087-ACCE-EB7F-C020718419C7}"/>
              </a:ext>
            </a:extLst>
          </p:cNvPr>
          <p:cNvSpPr txBox="1">
            <a:spLocks/>
          </p:cNvSpPr>
          <p:nvPr/>
        </p:nvSpPr>
        <p:spPr>
          <a:xfrm>
            <a:off x="12909518" y="2495708"/>
            <a:ext cx="4320000" cy="604800"/>
          </a:xfrm>
          <a:prstGeom prst="rect">
            <a:avLst/>
          </a:prstGeom>
          <a:solidFill>
            <a:schemeClr val="tx1"/>
          </a:solidFill>
        </p:spPr>
        <p:txBody>
          <a:bodyPr vert="horz" wrap="square" lIns="144000" tIns="0" rIns="0" bIns="0" rtlCol="0" anchor="ctr">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2800" b="1">
                <a:solidFill>
                  <a:srgbClr val="FFFFFF"/>
                </a:solidFill>
                <a:latin typeface="Arial"/>
              </a:rPr>
              <a:t>Cloud Governance</a:t>
            </a:r>
          </a:p>
        </p:txBody>
      </p:sp>
      <p:sp>
        <p:nvSpPr>
          <p:cNvPr id="11" name="Text Placeholder 6">
            <a:extLst>
              <a:ext uri="{FF2B5EF4-FFF2-40B4-BE49-F238E27FC236}">
                <a16:creationId xmlns:a16="http://schemas.microsoft.com/office/drawing/2014/main" id="{D3769B93-ECE0-0C5C-A5AD-085FDBA4B0ED}"/>
              </a:ext>
            </a:extLst>
          </p:cNvPr>
          <p:cNvSpPr txBox="1">
            <a:spLocks/>
          </p:cNvSpPr>
          <p:nvPr/>
        </p:nvSpPr>
        <p:spPr>
          <a:xfrm>
            <a:off x="18664556" y="2495708"/>
            <a:ext cx="4320000" cy="604800"/>
          </a:xfrm>
          <a:prstGeom prst="rect">
            <a:avLst/>
          </a:prstGeom>
          <a:solidFill>
            <a:schemeClr val="tx1"/>
          </a:solidFill>
        </p:spPr>
        <p:txBody>
          <a:bodyPr vert="horz" wrap="square" lIns="144000" tIns="0" rIns="0" bIns="0" rtlCol="0" anchor="ctr">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2800" b="1">
                <a:solidFill>
                  <a:srgbClr val="FFFFFF"/>
                </a:solidFill>
                <a:latin typeface="Arial"/>
              </a:rPr>
              <a:t>Cloud Architecture</a:t>
            </a:r>
          </a:p>
        </p:txBody>
      </p:sp>
      <p:sp>
        <p:nvSpPr>
          <p:cNvPr id="12" name="Text Placeholder 6">
            <a:extLst>
              <a:ext uri="{FF2B5EF4-FFF2-40B4-BE49-F238E27FC236}">
                <a16:creationId xmlns:a16="http://schemas.microsoft.com/office/drawing/2014/main" id="{3F0A3F43-F512-8228-9441-5C01AFF01D0D}"/>
              </a:ext>
            </a:extLst>
          </p:cNvPr>
          <p:cNvSpPr txBox="1">
            <a:spLocks/>
          </p:cNvSpPr>
          <p:nvPr/>
        </p:nvSpPr>
        <p:spPr>
          <a:xfrm>
            <a:off x="668992" y="3451568"/>
            <a:ext cx="6055904" cy="3139332"/>
          </a:xfrm>
          <a:prstGeom prst="rect">
            <a:avLst/>
          </a:prstGeom>
        </p:spPr>
        <p:txBody>
          <a:bodyPr lIns="503998" rIns="503998">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defTabSz="1828800">
              <a:spcAft>
                <a:spcPts val="1400"/>
              </a:spcAft>
              <a:defRPr/>
            </a:pPr>
            <a:r>
              <a:rPr lang="en-GB" sz="2800">
                <a:solidFill>
                  <a:srgbClr val="000000"/>
                </a:solidFill>
                <a:latin typeface="Arial"/>
              </a:rPr>
              <a:t>Define teams, roles and responsibilities.</a:t>
            </a:r>
          </a:p>
          <a:p>
            <a:pPr marL="285750" indent="-285750" defTabSz="1828800">
              <a:spcAft>
                <a:spcPts val="1400"/>
              </a:spcAft>
              <a:defRPr/>
            </a:pPr>
            <a:r>
              <a:rPr lang="en-GB" sz="2800">
                <a:solidFill>
                  <a:srgbClr val="000000"/>
                </a:solidFill>
                <a:latin typeface="Arial"/>
              </a:rPr>
              <a:t>Define foundation capabilities and products.</a:t>
            </a:r>
            <a:endParaRPr lang="en-ES" sz="2800">
              <a:solidFill>
                <a:srgbClr val="000000"/>
              </a:solidFill>
              <a:latin typeface="Arial"/>
            </a:endParaRPr>
          </a:p>
          <a:p>
            <a:pPr marL="285750" indent="-285750" defTabSz="1828800">
              <a:spcAft>
                <a:spcPts val="1400"/>
              </a:spcAft>
              <a:defRPr/>
            </a:pPr>
            <a:r>
              <a:rPr lang="en-AE" sz="2800">
                <a:solidFill>
                  <a:srgbClr val="000000"/>
                </a:solidFill>
                <a:latin typeface="Arial"/>
              </a:rPr>
              <a:t>Define performance and measurement mechanisms.</a:t>
            </a:r>
          </a:p>
        </p:txBody>
      </p:sp>
      <p:sp>
        <p:nvSpPr>
          <p:cNvPr id="13" name="Text Placeholder 6">
            <a:extLst>
              <a:ext uri="{FF2B5EF4-FFF2-40B4-BE49-F238E27FC236}">
                <a16:creationId xmlns:a16="http://schemas.microsoft.com/office/drawing/2014/main" id="{8848301C-7229-F4D0-D319-69C3BEF006C5}"/>
              </a:ext>
            </a:extLst>
          </p:cNvPr>
          <p:cNvSpPr txBox="1">
            <a:spLocks/>
          </p:cNvSpPr>
          <p:nvPr/>
        </p:nvSpPr>
        <p:spPr>
          <a:xfrm>
            <a:off x="6319879" y="3441145"/>
            <a:ext cx="5763954" cy="4210270"/>
          </a:xfrm>
          <a:prstGeom prst="rect">
            <a:avLst/>
          </a:prstGeom>
        </p:spPr>
        <p:txBody>
          <a:bodyPr vert="horz" lIns="503998" tIns="0" rIns="503998" bIns="0" rtlCol="0">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defTabSz="1828800">
              <a:spcAft>
                <a:spcPts val="1400"/>
              </a:spcAft>
              <a:defRPr/>
            </a:pPr>
            <a:r>
              <a:rPr lang="en-AE" sz="2800">
                <a:solidFill>
                  <a:srgbClr val="000000"/>
                </a:solidFill>
                <a:latin typeface="Arial"/>
              </a:rPr>
              <a:t>Discover, assess and cleanup the digital estate.</a:t>
            </a:r>
            <a:endParaRPr lang="en-GB" sz="2800">
              <a:solidFill>
                <a:srgbClr val="000000"/>
              </a:solidFill>
              <a:latin typeface="Arial"/>
            </a:endParaRPr>
          </a:p>
          <a:p>
            <a:pPr>
              <a:defRPr/>
            </a:pPr>
            <a:r>
              <a:rPr lang="en-AE" sz="2800">
                <a:solidFill>
                  <a:srgbClr val="000000"/>
                </a:solidFill>
                <a:latin typeface="Arial"/>
              </a:rPr>
              <a:t>Build a full B</a:t>
            </a:r>
            <a:r>
              <a:rPr lang="en-GB" sz="2800" err="1">
                <a:solidFill>
                  <a:srgbClr val="000000"/>
                </a:solidFill>
                <a:latin typeface="Arial"/>
              </a:rPr>
              <a:t>usiness</a:t>
            </a:r>
            <a:r>
              <a:rPr lang="en-GB" sz="2800">
                <a:solidFill>
                  <a:srgbClr val="000000"/>
                </a:solidFill>
                <a:latin typeface="Arial"/>
              </a:rPr>
              <a:t> </a:t>
            </a:r>
            <a:r>
              <a:rPr lang="en-AE" sz="2800">
                <a:solidFill>
                  <a:srgbClr val="000000"/>
                </a:solidFill>
                <a:latin typeface="Arial"/>
              </a:rPr>
              <a:t>case.</a:t>
            </a:r>
          </a:p>
          <a:p>
            <a:pPr marL="285750" indent="-285750" defTabSz="1828800">
              <a:spcAft>
                <a:spcPts val="1400"/>
              </a:spcAft>
              <a:defRPr/>
            </a:pPr>
            <a:r>
              <a:rPr lang="en-GB" sz="2800">
                <a:solidFill>
                  <a:srgbClr val="000000"/>
                </a:solidFill>
                <a:latin typeface="Arial"/>
              </a:rPr>
              <a:t>Migration Plan : Define </a:t>
            </a:r>
            <a:r>
              <a:rPr lang="en-AE" sz="2800">
                <a:solidFill>
                  <a:srgbClr val="000000"/>
                </a:solidFill>
                <a:latin typeface="Arial"/>
              </a:rPr>
              <a:t>Product and Technology Roadmap.</a:t>
            </a:r>
          </a:p>
        </p:txBody>
      </p:sp>
      <p:sp>
        <p:nvSpPr>
          <p:cNvPr id="14" name="Text Placeholder 6">
            <a:extLst>
              <a:ext uri="{FF2B5EF4-FFF2-40B4-BE49-F238E27FC236}">
                <a16:creationId xmlns:a16="http://schemas.microsoft.com/office/drawing/2014/main" id="{309043D3-4CDD-0064-15F9-A93F0E18FBED}"/>
              </a:ext>
            </a:extLst>
          </p:cNvPr>
          <p:cNvSpPr txBox="1">
            <a:spLocks/>
          </p:cNvSpPr>
          <p:nvPr/>
        </p:nvSpPr>
        <p:spPr>
          <a:xfrm>
            <a:off x="12084216" y="3411793"/>
            <a:ext cx="6012480" cy="4496802"/>
          </a:xfrm>
          <a:prstGeom prst="rect">
            <a:avLst/>
          </a:prstGeom>
        </p:spPr>
        <p:txBody>
          <a:bodyPr vert="horz" lIns="503998" tIns="0" rIns="503998" bIns="0" rtlCol="0">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defTabSz="1828800">
              <a:spcAft>
                <a:spcPts val="1400"/>
              </a:spcAft>
              <a:defRPr/>
            </a:pPr>
            <a:r>
              <a:rPr lang="en-GB" sz="2800">
                <a:solidFill>
                  <a:srgbClr val="000000"/>
                </a:solidFill>
                <a:latin typeface="Arial"/>
              </a:rPr>
              <a:t>Define guidelines, policies, procedures, and compliance requirements. </a:t>
            </a:r>
            <a:endParaRPr lang="en-GB" sz="2800">
              <a:solidFill>
                <a:srgbClr val="000000"/>
              </a:solidFill>
              <a:highlight>
                <a:srgbClr val="FFFF00"/>
              </a:highlight>
              <a:latin typeface="Arial"/>
            </a:endParaRPr>
          </a:p>
          <a:p>
            <a:pPr marL="285750" indent="-285750" defTabSz="1828800">
              <a:spcAft>
                <a:spcPts val="1400"/>
              </a:spcAft>
              <a:defRPr/>
            </a:pPr>
            <a:r>
              <a:rPr lang="en-GB" sz="2800">
                <a:solidFill>
                  <a:srgbClr val="000000"/>
                </a:solidFill>
                <a:latin typeface="Arial"/>
              </a:rPr>
              <a:t>Define a cost allocation and optimization strategy.</a:t>
            </a:r>
          </a:p>
          <a:p>
            <a:pPr marL="285750" indent="-285750" defTabSz="1828800">
              <a:spcAft>
                <a:spcPts val="1400"/>
              </a:spcAft>
              <a:defRPr/>
            </a:pPr>
            <a:r>
              <a:rPr lang="en-GB" sz="2800">
                <a:solidFill>
                  <a:srgbClr val="000000"/>
                </a:solidFill>
                <a:latin typeface="Arial"/>
              </a:rPr>
              <a:t>Define resource naming and tagging strategy.</a:t>
            </a:r>
            <a:endParaRPr lang="en-ES" sz="2800">
              <a:solidFill>
                <a:srgbClr val="000000"/>
              </a:solidFill>
              <a:latin typeface="Arial"/>
            </a:endParaRPr>
          </a:p>
        </p:txBody>
      </p:sp>
      <p:sp>
        <p:nvSpPr>
          <p:cNvPr id="15" name="Text Placeholder 6">
            <a:extLst>
              <a:ext uri="{FF2B5EF4-FFF2-40B4-BE49-F238E27FC236}">
                <a16:creationId xmlns:a16="http://schemas.microsoft.com/office/drawing/2014/main" id="{3F7AEF33-8727-9C20-89D1-3D9A2026A57D}"/>
              </a:ext>
            </a:extLst>
          </p:cNvPr>
          <p:cNvSpPr txBox="1">
            <a:spLocks/>
          </p:cNvSpPr>
          <p:nvPr/>
        </p:nvSpPr>
        <p:spPr>
          <a:xfrm>
            <a:off x="17866007" y="3563534"/>
            <a:ext cx="5933382" cy="3139332"/>
          </a:xfrm>
          <a:prstGeom prst="rect">
            <a:avLst/>
          </a:prstGeom>
        </p:spPr>
        <p:txBody>
          <a:bodyPr vert="horz" lIns="503998" tIns="0" rIns="503998" bIns="0" rtlCol="0">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defTabSz="1828800">
              <a:spcAft>
                <a:spcPts val="1400"/>
              </a:spcAft>
              <a:defRPr/>
            </a:pPr>
            <a:r>
              <a:rPr lang="en-GB" sz="2800">
                <a:solidFill>
                  <a:srgbClr val="000000"/>
                </a:solidFill>
                <a:latin typeface="Arial"/>
              </a:rPr>
              <a:t>Design &amp; Build a well-architected, compliant and secure landing zone.</a:t>
            </a:r>
          </a:p>
          <a:p>
            <a:pPr marL="285750" indent="-285750" defTabSz="1828800">
              <a:spcAft>
                <a:spcPts val="1400"/>
              </a:spcAft>
              <a:defRPr/>
            </a:pPr>
            <a:r>
              <a:rPr lang="en-GB" sz="2800">
                <a:solidFill>
                  <a:srgbClr val="000000"/>
                </a:solidFill>
                <a:latin typeface="Arial"/>
              </a:rPr>
              <a:t>Define cloud best practices and reference architectures.</a:t>
            </a:r>
          </a:p>
          <a:p>
            <a:pPr marL="285750" indent="-285750" defTabSz="1828800">
              <a:spcAft>
                <a:spcPts val="1400"/>
              </a:spcAft>
              <a:defRPr/>
            </a:pPr>
            <a:r>
              <a:rPr lang="en-GB" sz="2800">
                <a:solidFill>
                  <a:srgbClr val="000000"/>
                </a:solidFill>
                <a:latin typeface="Arial"/>
              </a:rPr>
              <a:t>Define data/workload classification/exception framework. </a:t>
            </a:r>
          </a:p>
          <a:p>
            <a:pPr marL="285750" indent="-285750" defTabSz="1828800">
              <a:spcAft>
                <a:spcPts val="1400"/>
              </a:spcAft>
              <a:defRPr/>
            </a:pPr>
            <a:endParaRPr lang="en-ES" sz="2800">
              <a:solidFill>
                <a:srgbClr val="000000"/>
              </a:solidFill>
              <a:latin typeface="Arial"/>
            </a:endParaRPr>
          </a:p>
        </p:txBody>
      </p:sp>
      <p:sp>
        <p:nvSpPr>
          <p:cNvPr id="16" name="Rectangle 15">
            <a:extLst>
              <a:ext uri="{FF2B5EF4-FFF2-40B4-BE49-F238E27FC236}">
                <a16:creationId xmlns:a16="http://schemas.microsoft.com/office/drawing/2014/main" id="{9C64E869-4C88-3ACC-A7F1-FB2A4B939FD9}"/>
              </a:ext>
            </a:extLst>
          </p:cNvPr>
          <p:cNvSpPr/>
          <p:nvPr/>
        </p:nvSpPr>
        <p:spPr>
          <a:xfrm>
            <a:off x="6611832" y="8457252"/>
            <a:ext cx="5472000" cy="48533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ES" sz="3600">
              <a:solidFill>
                <a:srgbClr val="FFFFFF"/>
              </a:solidFill>
              <a:latin typeface="Arial"/>
            </a:endParaRPr>
          </a:p>
        </p:txBody>
      </p:sp>
      <p:sp>
        <p:nvSpPr>
          <p:cNvPr id="17" name="Rectangle 16">
            <a:extLst>
              <a:ext uri="{FF2B5EF4-FFF2-40B4-BE49-F238E27FC236}">
                <a16:creationId xmlns:a16="http://schemas.microsoft.com/office/drawing/2014/main" id="{00CA2A1F-7920-5E5A-D0BB-AC5DE379C890}"/>
              </a:ext>
            </a:extLst>
          </p:cNvPr>
          <p:cNvSpPr/>
          <p:nvPr/>
        </p:nvSpPr>
        <p:spPr>
          <a:xfrm>
            <a:off x="12354264" y="8457252"/>
            <a:ext cx="5472000" cy="48533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ES" sz="3600">
              <a:solidFill>
                <a:srgbClr val="FFFFFF"/>
              </a:solidFill>
              <a:latin typeface="Arial"/>
            </a:endParaRPr>
          </a:p>
        </p:txBody>
      </p:sp>
      <p:sp>
        <p:nvSpPr>
          <p:cNvPr id="18" name="Rectangle 17">
            <a:extLst>
              <a:ext uri="{FF2B5EF4-FFF2-40B4-BE49-F238E27FC236}">
                <a16:creationId xmlns:a16="http://schemas.microsoft.com/office/drawing/2014/main" id="{DCC81284-DD24-3F69-8967-8C3FADADF5B1}"/>
              </a:ext>
            </a:extLst>
          </p:cNvPr>
          <p:cNvSpPr/>
          <p:nvPr/>
        </p:nvSpPr>
        <p:spPr>
          <a:xfrm>
            <a:off x="905976" y="8457252"/>
            <a:ext cx="5472000" cy="48533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ES" sz="3600">
              <a:solidFill>
                <a:srgbClr val="FFFFFF"/>
              </a:solidFill>
              <a:latin typeface="Arial"/>
            </a:endParaRPr>
          </a:p>
        </p:txBody>
      </p:sp>
      <p:cxnSp>
        <p:nvCxnSpPr>
          <p:cNvPr id="19" name="Straight Arrow Connector 18">
            <a:extLst>
              <a:ext uri="{FF2B5EF4-FFF2-40B4-BE49-F238E27FC236}">
                <a16:creationId xmlns:a16="http://schemas.microsoft.com/office/drawing/2014/main" id="{34DC5D2B-63EC-12D8-D1C5-121792DBFA21}"/>
              </a:ext>
            </a:extLst>
          </p:cNvPr>
          <p:cNvCxnSpPr/>
          <p:nvPr/>
        </p:nvCxnSpPr>
        <p:spPr>
          <a:xfrm>
            <a:off x="0" y="8457250"/>
            <a:ext cx="24384000" cy="0"/>
          </a:xfrm>
          <a:prstGeom prst="straightConnector1">
            <a:avLst/>
          </a:prstGeom>
          <a:ln w="34925">
            <a:solidFill>
              <a:schemeClr val="tx2"/>
            </a:solidFill>
            <a:tailEnd type="arrow" w="lg" len="med"/>
          </a:ln>
        </p:spPr>
        <p:style>
          <a:lnRef idx="1">
            <a:schemeClr val="accent1"/>
          </a:lnRef>
          <a:fillRef idx="0">
            <a:schemeClr val="accent1"/>
          </a:fillRef>
          <a:effectRef idx="0">
            <a:schemeClr val="accent1"/>
          </a:effectRef>
          <a:fontRef idx="minor">
            <a:schemeClr val="tx1"/>
          </a:fontRef>
        </p:style>
      </p:cxnSp>
      <p:sp>
        <p:nvSpPr>
          <p:cNvPr id="20" name="Text Placeholder 6">
            <a:extLst>
              <a:ext uri="{FF2B5EF4-FFF2-40B4-BE49-F238E27FC236}">
                <a16:creationId xmlns:a16="http://schemas.microsoft.com/office/drawing/2014/main" id="{7D4D7540-0E25-A413-8B16-1918B2125EBD}"/>
              </a:ext>
            </a:extLst>
          </p:cNvPr>
          <p:cNvSpPr txBox="1">
            <a:spLocks/>
          </p:cNvSpPr>
          <p:nvPr/>
        </p:nvSpPr>
        <p:spPr>
          <a:xfrm>
            <a:off x="1399446" y="8154850"/>
            <a:ext cx="4320000" cy="604800"/>
          </a:xfrm>
          <a:prstGeom prst="rect">
            <a:avLst/>
          </a:prstGeom>
          <a:solidFill>
            <a:schemeClr val="tx1"/>
          </a:solidFill>
        </p:spPr>
        <p:txBody>
          <a:bodyPr vert="horz" wrap="square" lIns="144000" tIns="0" rIns="0" bIns="0" rtlCol="0" anchor="ctr">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2800" b="1">
                <a:solidFill>
                  <a:srgbClr val="FFFFFF"/>
                </a:solidFill>
                <a:latin typeface="Arial"/>
              </a:rPr>
              <a:t>Cloud Operations</a:t>
            </a:r>
          </a:p>
        </p:txBody>
      </p:sp>
      <p:sp>
        <p:nvSpPr>
          <p:cNvPr id="21" name="Text Placeholder 6">
            <a:extLst>
              <a:ext uri="{FF2B5EF4-FFF2-40B4-BE49-F238E27FC236}">
                <a16:creationId xmlns:a16="http://schemas.microsoft.com/office/drawing/2014/main" id="{800FE384-CDF3-7198-C1F6-E7EF211B9CB3}"/>
              </a:ext>
            </a:extLst>
          </p:cNvPr>
          <p:cNvSpPr txBox="1">
            <a:spLocks/>
          </p:cNvSpPr>
          <p:nvPr/>
        </p:nvSpPr>
        <p:spPr>
          <a:xfrm>
            <a:off x="7154482" y="8154850"/>
            <a:ext cx="4320000" cy="604800"/>
          </a:xfrm>
          <a:prstGeom prst="rect">
            <a:avLst/>
          </a:prstGeom>
          <a:solidFill>
            <a:schemeClr val="tx1"/>
          </a:solidFill>
        </p:spPr>
        <p:txBody>
          <a:bodyPr vert="horz" wrap="square" lIns="144000" tIns="0" rIns="0" bIns="0" rtlCol="0" anchor="ctr">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2800" b="1">
                <a:solidFill>
                  <a:srgbClr val="FFFFFF"/>
                </a:solidFill>
                <a:latin typeface="Arial"/>
              </a:rPr>
              <a:t>Cloud Education</a:t>
            </a:r>
          </a:p>
        </p:txBody>
      </p:sp>
      <p:sp>
        <p:nvSpPr>
          <p:cNvPr id="22" name="Text Placeholder 6">
            <a:extLst>
              <a:ext uri="{FF2B5EF4-FFF2-40B4-BE49-F238E27FC236}">
                <a16:creationId xmlns:a16="http://schemas.microsoft.com/office/drawing/2014/main" id="{670B2DE7-3163-65B5-1496-2815F040830F}"/>
              </a:ext>
            </a:extLst>
          </p:cNvPr>
          <p:cNvSpPr txBox="1">
            <a:spLocks/>
          </p:cNvSpPr>
          <p:nvPr/>
        </p:nvSpPr>
        <p:spPr>
          <a:xfrm>
            <a:off x="12909518" y="8154850"/>
            <a:ext cx="4320000" cy="604800"/>
          </a:xfrm>
          <a:prstGeom prst="rect">
            <a:avLst/>
          </a:prstGeom>
          <a:solidFill>
            <a:schemeClr val="tx1"/>
          </a:solidFill>
        </p:spPr>
        <p:txBody>
          <a:bodyPr vert="horz" wrap="square" lIns="144000" tIns="0" rIns="0" bIns="0" rtlCol="0" anchor="ctr">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Aft>
                <a:spcPts val="1400"/>
              </a:spcAft>
              <a:buNone/>
              <a:defRPr/>
            </a:pPr>
            <a:r>
              <a:rPr lang="en-GB" sz="2800" b="1">
                <a:solidFill>
                  <a:srgbClr val="FFFFFF"/>
                </a:solidFill>
                <a:latin typeface="Arial"/>
              </a:rPr>
              <a:t>Cloud Partnership</a:t>
            </a:r>
          </a:p>
        </p:txBody>
      </p:sp>
      <p:sp>
        <p:nvSpPr>
          <p:cNvPr id="23" name="Text Placeholder 6">
            <a:extLst>
              <a:ext uri="{FF2B5EF4-FFF2-40B4-BE49-F238E27FC236}">
                <a16:creationId xmlns:a16="http://schemas.microsoft.com/office/drawing/2014/main" id="{CC8D5E8B-6DCD-1846-7271-39BC9B082AD3}"/>
              </a:ext>
            </a:extLst>
          </p:cNvPr>
          <p:cNvSpPr txBox="1">
            <a:spLocks/>
          </p:cNvSpPr>
          <p:nvPr/>
        </p:nvSpPr>
        <p:spPr>
          <a:xfrm>
            <a:off x="668992" y="9110710"/>
            <a:ext cx="6055904" cy="3139332"/>
          </a:xfrm>
          <a:prstGeom prst="rect">
            <a:avLst/>
          </a:prstGeom>
        </p:spPr>
        <p:txBody>
          <a:bodyPr vert="horz" lIns="503998" tIns="0" rIns="503998" bIns="0" rtlCol="0">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defTabSz="1828800">
              <a:spcAft>
                <a:spcPts val="1400"/>
              </a:spcAft>
              <a:defRPr/>
            </a:pPr>
            <a:r>
              <a:rPr lang="en-GB" sz="2800">
                <a:solidFill>
                  <a:srgbClr val="000000"/>
                </a:solidFill>
                <a:latin typeface="Arial"/>
              </a:rPr>
              <a:t>Define platform engineering products (IaC).</a:t>
            </a:r>
          </a:p>
          <a:p>
            <a:pPr marL="285750" indent="-285750" defTabSz="1828800">
              <a:spcAft>
                <a:spcPts val="1400"/>
              </a:spcAft>
              <a:defRPr/>
            </a:pPr>
            <a:r>
              <a:rPr lang="en-GB" sz="2800">
                <a:solidFill>
                  <a:srgbClr val="000000"/>
                </a:solidFill>
                <a:latin typeface="Arial"/>
              </a:rPr>
              <a:t>Define operational runbooks and playbooks.</a:t>
            </a:r>
          </a:p>
          <a:p>
            <a:pPr marL="285750" indent="-285750" defTabSz="1828800">
              <a:spcAft>
                <a:spcPts val="1400"/>
              </a:spcAft>
              <a:defRPr/>
            </a:pPr>
            <a:r>
              <a:rPr lang="en-GB" sz="2800">
                <a:solidFill>
                  <a:srgbClr val="000000"/>
                </a:solidFill>
                <a:latin typeface="Arial"/>
              </a:rPr>
              <a:t>Define an observability strategy.</a:t>
            </a:r>
          </a:p>
        </p:txBody>
      </p:sp>
      <p:sp>
        <p:nvSpPr>
          <p:cNvPr id="24" name="Text Placeholder 6">
            <a:extLst>
              <a:ext uri="{FF2B5EF4-FFF2-40B4-BE49-F238E27FC236}">
                <a16:creationId xmlns:a16="http://schemas.microsoft.com/office/drawing/2014/main" id="{6CF1FDD7-5806-2027-453A-411A450666EC}"/>
              </a:ext>
            </a:extLst>
          </p:cNvPr>
          <p:cNvSpPr txBox="1">
            <a:spLocks/>
          </p:cNvSpPr>
          <p:nvPr/>
        </p:nvSpPr>
        <p:spPr>
          <a:xfrm>
            <a:off x="6319879" y="9100287"/>
            <a:ext cx="5763954" cy="4210270"/>
          </a:xfrm>
          <a:prstGeom prst="rect">
            <a:avLst/>
          </a:prstGeom>
        </p:spPr>
        <p:txBody>
          <a:bodyPr vert="horz" lIns="503998" tIns="0" rIns="503998" bIns="0" rtlCol="0">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defTabSz="1828800">
              <a:spcAft>
                <a:spcPts val="1400"/>
              </a:spcAft>
              <a:defRPr/>
            </a:pPr>
            <a:r>
              <a:rPr lang="en-GB" sz="2800">
                <a:solidFill>
                  <a:srgbClr val="000000"/>
                </a:solidFill>
                <a:latin typeface="Arial"/>
              </a:rPr>
              <a:t>Define a self-service training and a role-Based cloud curriculum.</a:t>
            </a:r>
          </a:p>
          <a:p>
            <a:pPr marL="285750" indent="-285750" defTabSz="1828800">
              <a:spcAft>
                <a:spcPts val="1400"/>
              </a:spcAft>
              <a:defRPr/>
            </a:pPr>
            <a:r>
              <a:rPr lang="en-GB" sz="2800">
                <a:solidFill>
                  <a:srgbClr val="000000"/>
                </a:solidFill>
                <a:latin typeface="Arial"/>
              </a:rPr>
              <a:t>Promote certification and learning with incentives.</a:t>
            </a:r>
          </a:p>
          <a:p>
            <a:pPr marL="285750" indent="-285750" defTabSz="1828800">
              <a:spcAft>
                <a:spcPts val="1400"/>
              </a:spcAft>
              <a:defRPr/>
            </a:pPr>
            <a:r>
              <a:rPr lang="en-GB" sz="2800">
                <a:solidFill>
                  <a:srgbClr val="000000"/>
                </a:solidFill>
                <a:latin typeface="Arial"/>
              </a:rPr>
              <a:t>Knowledge Sharing and Innovation.</a:t>
            </a:r>
          </a:p>
        </p:txBody>
      </p:sp>
      <p:sp>
        <p:nvSpPr>
          <p:cNvPr id="25" name="Text Placeholder 6">
            <a:extLst>
              <a:ext uri="{FF2B5EF4-FFF2-40B4-BE49-F238E27FC236}">
                <a16:creationId xmlns:a16="http://schemas.microsoft.com/office/drawing/2014/main" id="{D773392D-D57D-6544-8BB5-A12FF9CCB14F}"/>
              </a:ext>
            </a:extLst>
          </p:cNvPr>
          <p:cNvSpPr txBox="1">
            <a:spLocks/>
          </p:cNvSpPr>
          <p:nvPr/>
        </p:nvSpPr>
        <p:spPr>
          <a:xfrm>
            <a:off x="12084216" y="9070935"/>
            <a:ext cx="6012480" cy="4496802"/>
          </a:xfrm>
          <a:prstGeom prst="rect">
            <a:avLst/>
          </a:prstGeom>
        </p:spPr>
        <p:txBody>
          <a:bodyPr vert="horz" lIns="503998" tIns="0" rIns="503998" bIns="0" rtlCol="0">
            <a:noAutofit/>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lang="en-US" sz="1800" kern="1200" dirty="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defTabSz="1828800">
              <a:spcAft>
                <a:spcPts val="1400"/>
              </a:spcAft>
              <a:defRPr/>
            </a:pPr>
            <a:r>
              <a:rPr lang="en-GB" sz="2800">
                <a:solidFill>
                  <a:srgbClr val="000000"/>
                </a:solidFill>
                <a:latin typeface="Arial"/>
              </a:rPr>
              <a:t>Identify and engage with strategic partners.</a:t>
            </a:r>
          </a:p>
          <a:p>
            <a:pPr marL="285750" indent="-285750" defTabSz="1828800">
              <a:spcAft>
                <a:spcPts val="1400"/>
              </a:spcAft>
              <a:defRPr/>
            </a:pPr>
            <a:r>
              <a:rPr lang="en-GB" sz="2800">
                <a:solidFill>
                  <a:srgbClr val="000000"/>
                </a:solidFill>
                <a:latin typeface="Arial"/>
              </a:rPr>
              <a:t>Maximize partner resources: funding, knowledge, experience.</a:t>
            </a:r>
          </a:p>
          <a:p>
            <a:pPr marL="285750" indent="-285750" defTabSz="1828800">
              <a:spcAft>
                <a:spcPts val="1400"/>
              </a:spcAft>
              <a:defRPr/>
            </a:pPr>
            <a:r>
              <a:rPr lang="en-GB" sz="2800">
                <a:solidFill>
                  <a:srgbClr val="000000"/>
                </a:solidFill>
                <a:latin typeface="Arial"/>
              </a:rPr>
              <a:t>Leverage cloud migration programs.</a:t>
            </a:r>
          </a:p>
        </p:txBody>
      </p:sp>
      <p:pic>
        <p:nvPicPr>
          <p:cNvPr id="27" name="Picture 26">
            <a:extLst>
              <a:ext uri="{FF2B5EF4-FFF2-40B4-BE49-F238E27FC236}">
                <a16:creationId xmlns:a16="http://schemas.microsoft.com/office/drawing/2014/main" id="{91B4253F-6699-1717-5F4A-2A69BC86B9E4}"/>
              </a:ext>
            </a:extLst>
          </p:cNvPr>
          <p:cNvPicPr>
            <a:picLocks noChangeAspect="1"/>
          </p:cNvPicPr>
          <p:nvPr/>
        </p:nvPicPr>
        <p:blipFill>
          <a:blip r:embed="rId3"/>
          <a:stretch>
            <a:fillRect/>
          </a:stretch>
        </p:blipFill>
        <p:spPr>
          <a:xfrm>
            <a:off x="19413163" y="9677406"/>
            <a:ext cx="3571394" cy="3240272"/>
          </a:xfrm>
          <a:prstGeom prst="rect">
            <a:avLst/>
          </a:prstGeom>
        </p:spPr>
      </p:pic>
      <p:sp>
        <p:nvSpPr>
          <p:cNvPr id="28" name="Heart 27">
            <a:extLst>
              <a:ext uri="{FF2B5EF4-FFF2-40B4-BE49-F238E27FC236}">
                <a16:creationId xmlns:a16="http://schemas.microsoft.com/office/drawing/2014/main" id="{99DBC9BE-D2AD-F1BF-7BA2-BEE722F493F2}"/>
              </a:ext>
            </a:extLst>
          </p:cNvPr>
          <p:cNvSpPr>
            <a:spLocks noChangeAspect="1"/>
          </p:cNvSpPr>
          <p:nvPr/>
        </p:nvSpPr>
        <p:spPr>
          <a:xfrm>
            <a:off x="11124854" y="7960738"/>
            <a:ext cx="432000" cy="432000"/>
          </a:xfrm>
          <a:prstGeom prst="hear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AE" sz="3600">
              <a:solidFill>
                <a:srgbClr val="FFFFFF"/>
              </a:solidFill>
              <a:latin typeface="Arial"/>
            </a:endParaRPr>
          </a:p>
        </p:txBody>
      </p:sp>
      <p:sp>
        <p:nvSpPr>
          <p:cNvPr id="33" name="Title 32">
            <a:extLst>
              <a:ext uri="{FF2B5EF4-FFF2-40B4-BE49-F238E27FC236}">
                <a16:creationId xmlns:a16="http://schemas.microsoft.com/office/drawing/2014/main" id="{CC5B61C7-88B1-BD00-1A32-89EB8EEB11FA}"/>
              </a:ext>
            </a:extLst>
          </p:cNvPr>
          <p:cNvSpPr>
            <a:spLocks noGrp="1"/>
          </p:cNvSpPr>
          <p:nvPr>
            <p:ph type="title"/>
          </p:nvPr>
        </p:nvSpPr>
        <p:spPr/>
        <p:txBody>
          <a:bodyPr/>
          <a:lstStyle/>
          <a:p>
            <a:r>
              <a:rPr lang="en-GB"/>
              <a:t>Recommended Actions</a:t>
            </a:r>
            <a:endParaRPr lang="en-AE"/>
          </a:p>
        </p:txBody>
      </p:sp>
      <p:sp>
        <p:nvSpPr>
          <p:cNvPr id="5" name="Slide Number Placeholder 8">
            <a:extLst>
              <a:ext uri="{FF2B5EF4-FFF2-40B4-BE49-F238E27FC236}">
                <a16:creationId xmlns:a16="http://schemas.microsoft.com/office/drawing/2014/main" id="{18785B26-323B-BF95-EA91-B36297D54B61}"/>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solidFill>
                  <a:srgbClr val="000000"/>
                </a:solidFill>
                <a:latin typeface="Arial"/>
              </a:rPr>
              <a:pPr>
                <a:defRPr/>
              </a:pPr>
              <a:t>56</a:t>
            </a:fld>
            <a:endParaRPr lang="en-US">
              <a:solidFill>
                <a:srgbClr val="000000"/>
              </a:solidFill>
              <a:latin typeface="Arial"/>
            </a:endParaRPr>
          </a:p>
        </p:txBody>
      </p:sp>
    </p:spTree>
    <p:extLst>
      <p:ext uri="{BB962C8B-B14F-4D97-AF65-F5344CB8AC3E}">
        <p14:creationId xmlns:p14="http://schemas.microsoft.com/office/powerpoint/2010/main" val="36914764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0B24D7-2A8B-DFFF-7EC9-7F4945939347}"/>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0BD4ECC3-95EB-945A-3A7A-C5A11AB783E5}"/>
              </a:ext>
            </a:extLst>
          </p:cNvPr>
          <p:cNvSpPr>
            <a:spLocks noGrp="1"/>
          </p:cNvSpPr>
          <p:nvPr>
            <p:ph type="body" sz="quarter" idx="16"/>
          </p:nvPr>
        </p:nvSpPr>
        <p:spPr>
          <a:xfrm>
            <a:off x="6122839" y="3715469"/>
            <a:ext cx="11160126" cy="4200146"/>
          </a:xfrm>
        </p:spPr>
        <p:txBody>
          <a:bodyPr anchor="ctr"/>
          <a:lstStyle/>
          <a:p>
            <a:pPr algn="ctr"/>
            <a:r>
              <a:rPr lang="en-GB" b="1">
                <a:latin typeface="Fira Sans Light" panose="020B0403050000020004" pitchFamily="34" charset="0"/>
              </a:rPr>
              <a:t>Additional Strategic Insight</a:t>
            </a:r>
          </a:p>
        </p:txBody>
      </p:sp>
    </p:spTree>
    <p:extLst>
      <p:ext uri="{BB962C8B-B14F-4D97-AF65-F5344CB8AC3E}">
        <p14:creationId xmlns:p14="http://schemas.microsoft.com/office/powerpoint/2010/main" val="1205854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0BCB93-B174-8032-882F-1A1DB0FC12F3}"/>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B4136B-C861-03CC-B898-AB077B934007}"/>
              </a:ext>
            </a:extLst>
          </p:cNvPr>
          <p:cNvSpPr>
            <a:spLocks noGrp="1"/>
          </p:cNvSpPr>
          <p:nvPr>
            <p:ph type="sldNum" sz="quarter" idx="4"/>
          </p:nvPr>
        </p:nvSpPr>
        <p:spPr>
          <a:xfrm>
            <a:off x="22331085" y="13027080"/>
            <a:ext cx="1234804" cy="215444"/>
          </a:xfrm>
        </p:spPr>
        <p:txBody>
          <a:bodyPr/>
          <a:lstStyle/>
          <a:p>
            <a:fld id="{762E77F0-FB5B-4E8E-9BC9-34F14560A017}" type="slidenum">
              <a:rPr lang="en-US" smtClean="0"/>
              <a:pPr/>
              <a:t>58</a:t>
            </a:fld>
            <a:endParaRPr lang="en-US"/>
          </a:p>
        </p:txBody>
      </p:sp>
      <p:sp>
        <p:nvSpPr>
          <p:cNvPr id="4" name="TextBox 3">
            <a:extLst>
              <a:ext uri="{FF2B5EF4-FFF2-40B4-BE49-F238E27FC236}">
                <a16:creationId xmlns:a16="http://schemas.microsoft.com/office/drawing/2014/main" id="{CE2559E5-E661-0E7A-E840-5BFC28637E23}"/>
              </a:ext>
            </a:extLst>
          </p:cNvPr>
          <p:cNvSpPr txBox="1"/>
          <p:nvPr/>
        </p:nvSpPr>
        <p:spPr>
          <a:xfrm>
            <a:off x="406009" y="473476"/>
            <a:ext cx="4051109"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Challenges</a:t>
            </a:r>
            <a:endParaRPr lang="en-GB" sz="6200">
              <a:solidFill>
                <a:srgbClr val="FF0000"/>
              </a:solidFill>
              <a:latin typeface="Fira Sans Light" panose="020B0403050000020004" pitchFamily="34" charset="0"/>
            </a:endParaRPr>
          </a:p>
        </p:txBody>
      </p:sp>
      <p:sp>
        <p:nvSpPr>
          <p:cNvPr id="86" name="TextBox 85">
            <a:extLst>
              <a:ext uri="{FF2B5EF4-FFF2-40B4-BE49-F238E27FC236}">
                <a16:creationId xmlns:a16="http://schemas.microsoft.com/office/drawing/2014/main" id="{B6B14BD2-18D3-8D84-B7F1-A5FC611835BD}"/>
              </a:ext>
            </a:extLst>
          </p:cNvPr>
          <p:cNvSpPr txBox="1"/>
          <p:nvPr/>
        </p:nvSpPr>
        <p:spPr>
          <a:xfrm>
            <a:off x="922176" y="3753839"/>
            <a:ext cx="10552648" cy="4401205"/>
          </a:xfrm>
          <a:prstGeom prst="rect">
            <a:avLst/>
          </a:prstGeom>
          <a:noFill/>
        </p:spPr>
        <p:txBody>
          <a:bodyPr wrap="square" rtlCol="0">
            <a:spAutoFit/>
          </a:bodyPr>
          <a:lstStyle/>
          <a:p>
            <a:r>
              <a:rPr lang="en-GB" sz="2800">
                <a:latin typeface="Fira Sans" panose="020B0503050000020004" pitchFamily="34" charset="0"/>
              </a:rPr>
              <a:t>Cloud Skills required</a:t>
            </a:r>
          </a:p>
          <a:p>
            <a:endParaRPr lang="en-GB" sz="2800">
              <a:latin typeface="Fira Sans" panose="020B0503050000020004" pitchFamily="34" charset="0"/>
            </a:endParaRPr>
          </a:p>
          <a:p>
            <a:pPr marL="457200" indent="-457200">
              <a:buFontTx/>
              <a:buChar char="-"/>
            </a:pPr>
            <a:r>
              <a:rPr lang="en-GB" sz="2800">
                <a:latin typeface="Fira Sans" panose="020B0503050000020004" pitchFamily="34" charset="0"/>
              </a:rPr>
              <a:t>Suggest partner to aid during transition phase</a:t>
            </a:r>
          </a:p>
          <a:p>
            <a:pPr marL="457200" indent="-457200">
              <a:buFontTx/>
              <a:buChar char="-"/>
            </a:pPr>
            <a:r>
              <a:rPr lang="en-GB" sz="2800">
                <a:latin typeface="Fira Sans" panose="020B0503050000020004" pitchFamily="34" charset="0"/>
              </a:rPr>
              <a:t>Build fully featured LZ</a:t>
            </a:r>
          </a:p>
          <a:p>
            <a:pPr marL="457200" indent="-457200">
              <a:buFontTx/>
              <a:buChar char="-"/>
            </a:pPr>
            <a:r>
              <a:rPr lang="en-GB" sz="2800">
                <a:latin typeface="Fira Sans" panose="020B0503050000020004" pitchFamily="34" charset="0"/>
              </a:rPr>
              <a:t>Assist with migrations</a:t>
            </a:r>
          </a:p>
          <a:p>
            <a:pPr marL="457200" indent="-457200">
              <a:buFontTx/>
              <a:buChar char="-"/>
            </a:pPr>
            <a:r>
              <a:rPr lang="en-GB" sz="2800">
                <a:latin typeface="Fira Sans" panose="020B0503050000020004" pitchFamily="34" charset="0"/>
              </a:rPr>
              <a:t>Develop core security practices</a:t>
            </a:r>
          </a:p>
          <a:p>
            <a:pPr marL="457200" indent="-457200">
              <a:buFontTx/>
              <a:buChar char="-"/>
            </a:pPr>
            <a:r>
              <a:rPr lang="en-GB" sz="2800">
                <a:latin typeface="Fira Sans" panose="020B0503050000020004" pitchFamily="34" charset="0"/>
              </a:rPr>
              <a:t>Build foundational FinOps concept</a:t>
            </a:r>
          </a:p>
          <a:p>
            <a:pPr marL="457200" indent="-457200">
              <a:buFontTx/>
              <a:buChar char="-"/>
            </a:pPr>
            <a:r>
              <a:rPr lang="en-GB" sz="2800">
                <a:latin typeface="Fira Sans" panose="020B0503050000020004" pitchFamily="34" charset="0"/>
              </a:rPr>
              <a:t>Develop DevOps automation processes</a:t>
            </a:r>
          </a:p>
          <a:p>
            <a:pPr marL="457200" indent="-457200">
              <a:buFontTx/>
              <a:buChar char="-"/>
            </a:pPr>
            <a:r>
              <a:rPr lang="en-GB" sz="2800">
                <a:latin typeface="Fira Sans" panose="020B0503050000020004" pitchFamily="34" charset="0"/>
              </a:rPr>
              <a:t>Upskill in-house team</a:t>
            </a:r>
          </a:p>
          <a:p>
            <a:endParaRPr lang="en-GB" sz="2800">
              <a:latin typeface="Fira Sans" panose="020B0503050000020004" pitchFamily="34" charset="0"/>
            </a:endParaRPr>
          </a:p>
        </p:txBody>
      </p:sp>
      <p:sp>
        <p:nvSpPr>
          <p:cNvPr id="5" name="TextBox 4">
            <a:extLst>
              <a:ext uri="{FF2B5EF4-FFF2-40B4-BE49-F238E27FC236}">
                <a16:creationId xmlns:a16="http://schemas.microsoft.com/office/drawing/2014/main" id="{F50B5B83-47BA-FEA2-19AF-A5499EB55EF3}"/>
              </a:ext>
            </a:extLst>
          </p:cNvPr>
          <p:cNvSpPr txBox="1"/>
          <p:nvPr/>
        </p:nvSpPr>
        <p:spPr>
          <a:xfrm>
            <a:off x="12192000" y="3753839"/>
            <a:ext cx="11269824" cy="3539430"/>
          </a:xfrm>
          <a:prstGeom prst="rect">
            <a:avLst/>
          </a:prstGeom>
          <a:noFill/>
        </p:spPr>
        <p:txBody>
          <a:bodyPr wrap="square" rtlCol="0">
            <a:spAutoFit/>
          </a:bodyPr>
          <a:lstStyle/>
          <a:p>
            <a:r>
              <a:rPr lang="en-GB" sz="2800">
                <a:latin typeface="Fira Sans" panose="020B0503050000020004" pitchFamily="34" charset="0"/>
              </a:rPr>
              <a:t>Consistent logins required for administrator access</a:t>
            </a:r>
          </a:p>
          <a:p>
            <a:endParaRPr lang="en-GB" sz="2800">
              <a:latin typeface="Fira Sans" panose="020B0503050000020004" pitchFamily="34" charset="0"/>
            </a:endParaRPr>
          </a:p>
          <a:p>
            <a:pPr marL="457200" indent="-457200">
              <a:buFontTx/>
              <a:buChar char="-"/>
            </a:pPr>
            <a:r>
              <a:rPr lang="en-GB" sz="2800">
                <a:latin typeface="Fira Sans" panose="020B0503050000020004" pitchFamily="34" charset="0"/>
              </a:rPr>
              <a:t>Standardised login methods for Linux/Windows</a:t>
            </a:r>
          </a:p>
          <a:p>
            <a:pPr marL="457200" indent="-457200">
              <a:buFontTx/>
              <a:buChar char="-"/>
            </a:pPr>
            <a:r>
              <a:rPr lang="en-GB" sz="2800">
                <a:latin typeface="Fira Sans" panose="020B0503050000020004" pitchFamily="34" charset="0"/>
              </a:rPr>
              <a:t>Standardised accounts across MOL/ANL</a:t>
            </a:r>
          </a:p>
          <a:p>
            <a:pPr marL="457200" indent="-457200">
              <a:buFontTx/>
              <a:buChar char="-"/>
            </a:pPr>
            <a:r>
              <a:rPr lang="en-GB" sz="2800">
                <a:latin typeface="Fira Sans" panose="020B0503050000020004" pitchFamily="34" charset="0"/>
              </a:rPr>
              <a:t>Ability to make changes</a:t>
            </a:r>
          </a:p>
          <a:p>
            <a:endParaRPr lang="en-GB" sz="2800">
              <a:latin typeface="Fira Sans" panose="020B0503050000020004" pitchFamily="34" charset="0"/>
            </a:endParaRPr>
          </a:p>
          <a:p>
            <a:r>
              <a:rPr lang="en-GB" sz="2800">
                <a:latin typeface="Fira Sans" panose="020B0503050000020004" pitchFamily="34" charset="0"/>
              </a:rPr>
              <a:t>Some customers prefer to use a tool to manage PAM. (</a:t>
            </a:r>
            <a:r>
              <a:rPr lang="en-GB" sz="2800" err="1">
                <a:latin typeface="Fira Sans" panose="020B0503050000020004" pitchFamily="34" charset="0"/>
              </a:rPr>
              <a:t>eg</a:t>
            </a:r>
            <a:r>
              <a:rPr lang="en-GB" sz="2800">
                <a:latin typeface="Fira Sans" panose="020B0503050000020004" pitchFamily="34" charset="0"/>
              </a:rPr>
              <a:t>: </a:t>
            </a:r>
            <a:r>
              <a:rPr lang="en-GB" sz="2800" err="1">
                <a:latin typeface="Fira Sans" panose="020B0503050000020004" pitchFamily="34" charset="0"/>
              </a:rPr>
              <a:t>Cyberark</a:t>
            </a:r>
            <a:r>
              <a:rPr lang="en-GB" sz="2800">
                <a:latin typeface="Fira Sans" panose="020B0503050000020004" pitchFamily="34" charset="0"/>
              </a:rPr>
              <a:t>)</a:t>
            </a:r>
          </a:p>
          <a:p>
            <a:pPr marL="457200" indent="-457200">
              <a:buFontTx/>
              <a:buChar char="-"/>
            </a:pPr>
            <a:endParaRPr lang="en-GB" sz="2800">
              <a:latin typeface="Fira Sans" panose="020B0503050000020004" pitchFamily="34" charset="0"/>
            </a:endParaRPr>
          </a:p>
        </p:txBody>
      </p:sp>
      <p:sp>
        <p:nvSpPr>
          <p:cNvPr id="47" name="TextBox 46">
            <a:extLst>
              <a:ext uri="{FF2B5EF4-FFF2-40B4-BE49-F238E27FC236}">
                <a16:creationId xmlns:a16="http://schemas.microsoft.com/office/drawing/2014/main" id="{79F07031-C156-28DD-A607-D1028CD04F73}"/>
              </a:ext>
            </a:extLst>
          </p:cNvPr>
          <p:cNvSpPr txBox="1"/>
          <p:nvPr/>
        </p:nvSpPr>
        <p:spPr>
          <a:xfrm>
            <a:off x="922176" y="2571275"/>
            <a:ext cx="3637534"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Skills Gap</a:t>
            </a:r>
            <a:endParaRPr lang="en-GB" sz="6200">
              <a:solidFill>
                <a:srgbClr val="FF0000"/>
              </a:solidFill>
              <a:latin typeface="Fira Sans Light" panose="020B0403050000020004" pitchFamily="34" charset="0"/>
            </a:endParaRPr>
          </a:p>
        </p:txBody>
      </p:sp>
      <p:sp>
        <p:nvSpPr>
          <p:cNvPr id="48" name="TextBox 47">
            <a:extLst>
              <a:ext uri="{FF2B5EF4-FFF2-40B4-BE49-F238E27FC236}">
                <a16:creationId xmlns:a16="http://schemas.microsoft.com/office/drawing/2014/main" id="{B71D3F11-FAE7-326C-1FEF-328A0EEA556E}"/>
              </a:ext>
            </a:extLst>
          </p:cNvPr>
          <p:cNvSpPr txBox="1"/>
          <p:nvPr/>
        </p:nvSpPr>
        <p:spPr>
          <a:xfrm>
            <a:off x="11982062" y="2571275"/>
            <a:ext cx="7483139" cy="1046440"/>
          </a:xfrm>
          <a:prstGeom prst="rect">
            <a:avLst/>
          </a:prstGeom>
          <a:noFill/>
        </p:spPr>
        <p:txBody>
          <a:bodyPr wrap="none" rtlCol="0">
            <a:spAutoFit/>
          </a:bodyPr>
          <a:lstStyle/>
          <a:p>
            <a:pPr algn="l"/>
            <a:r>
              <a:rPr lang="en-US" sz="6200" err="1">
                <a:solidFill>
                  <a:srgbClr val="FF0000"/>
                </a:solidFill>
                <a:latin typeface="Fira Sans Light" panose="020B0403050000020004" pitchFamily="34" charset="0"/>
              </a:rPr>
              <a:t>Standardised</a:t>
            </a:r>
            <a:r>
              <a:rPr lang="en-US" sz="6200">
                <a:solidFill>
                  <a:srgbClr val="FF0000"/>
                </a:solidFill>
                <a:latin typeface="Fira Sans Light" panose="020B0403050000020004" pitchFamily="34" charset="0"/>
              </a:rPr>
              <a:t> Access</a:t>
            </a:r>
            <a:endParaRPr lang="en-GB" sz="6200">
              <a:solidFill>
                <a:srgbClr val="FF0000"/>
              </a:solidFill>
              <a:latin typeface="Fira Sans Light" panose="020B0403050000020004" pitchFamily="34" charset="0"/>
            </a:endParaRPr>
          </a:p>
        </p:txBody>
      </p:sp>
      <p:sp>
        <p:nvSpPr>
          <p:cNvPr id="49" name="TextBox 48">
            <a:extLst>
              <a:ext uri="{FF2B5EF4-FFF2-40B4-BE49-F238E27FC236}">
                <a16:creationId xmlns:a16="http://schemas.microsoft.com/office/drawing/2014/main" id="{2E31DE9A-0019-21BD-D009-2FF7B36B2E37}"/>
              </a:ext>
            </a:extLst>
          </p:cNvPr>
          <p:cNvSpPr txBox="1"/>
          <p:nvPr/>
        </p:nvSpPr>
        <p:spPr>
          <a:xfrm>
            <a:off x="922176" y="8291168"/>
            <a:ext cx="5118709" cy="1046440"/>
          </a:xfrm>
          <a:prstGeom prst="rect">
            <a:avLst/>
          </a:prstGeom>
          <a:noFill/>
        </p:spPr>
        <p:txBody>
          <a:bodyPr wrap="none" rtlCol="0">
            <a:spAutoFit/>
          </a:bodyPr>
          <a:lstStyle/>
          <a:p>
            <a:pPr algn="l"/>
            <a:r>
              <a:rPr lang="en-US" sz="6200" err="1">
                <a:solidFill>
                  <a:srgbClr val="FF0000"/>
                </a:solidFill>
                <a:latin typeface="Fira Sans Light" panose="020B0403050000020004" pitchFamily="34" charset="0"/>
              </a:rPr>
              <a:t>Vmware</a:t>
            </a:r>
            <a:r>
              <a:rPr lang="en-US" sz="6200">
                <a:solidFill>
                  <a:srgbClr val="FF0000"/>
                </a:solidFill>
                <a:latin typeface="Fira Sans Light" panose="020B0403050000020004" pitchFamily="34" charset="0"/>
              </a:rPr>
              <a:t> Tools</a:t>
            </a:r>
            <a:endParaRPr lang="en-GB" sz="6200">
              <a:solidFill>
                <a:srgbClr val="FF0000"/>
              </a:solidFill>
              <a:latin typeface="Fira Sans Light" panose="020B0403050000020004" pitchFamily="34" charset="0"/>
            </a:endParaRPr>
          </a:p>
        </p:txBody>
      </p:sp>
      <p:sp>
        <p:nvSpPr>
          <p:cNvPr id="50" name="TextBox 49">
            <a:extLst>
              <a:ext uri="{FF2B5EF4-FFF2-40B4-BE49-F238E27FC236}">
                <a16:creationId xmlns:a16="http://schemas.microsoft.com/office/drawing/2014/main" id="{4AC4BF06-2F77-4C72-5FD5-66DA1EF51ACD}"/>
              </a:ext>
            </a:extLst>
          </p:cNvPr>
          <p:cNvSpPr txBox="1"/>
          <p:nvPr/>
        </p:nvSpPr>
        <p:spPr>
          <a:xfrm>
            <a:off x="818111" y="9473732"/>
            <a:ext cx="10198232" cy="2246769"/>
          </a:xfrm>
          <a:prstGeom prst="rect">
            <a:avLst/>
          </a:prstGeom>
          <a:noFill/>
        </p:spPr>
        <p:txBody>
          <a:bodyPr wrap="square" rtlCol="0">
            <a:spAutoFit/>
          </a:bodyPr>
          <a:lstStyle/>
          <a:p>
            <a:r>
              <a:rPr lang="en-GB" sz="2800">
                <a:latin typeface="Fira Sans" panose="020B0503050000020004" pitchFamily="34" charset="0"/>
              </a:rPr>
              <a:t>Where possible having </a:t>
            </a:r>
            <a:r>
              <a:rPr lang="en-GB" sz="2800" err="1">
                <a:latin typeface="Fira Sans" panose="020B0503050000020004" pitchFamily="34" charset="0"/>
              </a:rPr>
              <a:t>vmware</a:t>
            </a:r>
            <a:r>
              <a:rPr lang="en-GB" sz="2800">
                <a:latin typeface="Fira Sans" panose="020B0503050000020004" pitchFamily="34" charset="0"/>
              </a:rPr>
              <a:t> tools enabled gives a better perspective of performance inside the VM</a:t>
            </a:r>
          </a:p>
          <a:p>
            <a:endParaRPr lang="en-GB" sz="2800">
              <a:latin typeface="Fira Sans" panose="020B0503050000020004" pitchFamily="34" charset="0"/>
            </a:endParaRPr>
          </a:p>
          <a:p>
            <a:pPr marL="457200" indent="-457200">
              <a:buFontTx/>
              <a:buChar char="-"/>
            </a:pPr>
            <a:r>
              <a:rPr lang="en-GB" sz="2800">
                <a:latin typeface="Fira Sans" panose="020B0503050000020004" pitchFamily="34" charset="0"/>
              </a:rPr>
              <a:t>Update where possible</a:t>
            </a:r>
          </a:p>
          <a:p>
            <a:endParaRPr lang="en-GB" sz="2800">
              <a:latin typeface="Fira Sans" panose="020B0503050000020004" pitchFamily="34" charset="0"/>
            </a:endParaRPr>
          </a:p>
        </p:txBody>
      </p:sp>
      <p:sp>
        <p:nvSpPr>
          <p:cNvPr id="51" name="TextBox 50">
            <a:extLst>
              <a:ext uri="{FF2B5EF4-FFF2-40B4-BE49-F238E27FC236}">
                <a16:creationId xmlns:a16="http://schemas.microsoft.com/office/drawing/2014/main" id="{3B355B4C-7627-2CA6-DD8D-004EEEB78CA0}"/>
              </a:ext>
            </a:extLst>
          </p:cNvPr>
          <p:cNvSpPr txBox="1"/>
          <p:nvPr/>
        </p:nvSpPr>
        <p:spPr>
          <a:xfrm>
            <a:off x="11982062" y="8291168"/>
            <a:ext cx="3760966"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Legacy OS</a:t>
            </a:r>
            <a:endParaRPr lang="en-GB" sz="6200">
              <a:solidFill>
                <a:srgbClr val="FF0000"/>
              </a:solidFill>
              <a:latin typeface="Fira Sans Light" panose="020B0403050000020004" pitchFamily="34" charset="0"/>
            </a:endParaRPr>
          </a:p>
        </p:txBody>
      </p:sp>
      <p:sp>
        <p:nvSpPr>
          <p:cNvPr id="52" name="TextBox 51">
            <a:extLst>
              <a:ext uri="{FF2B5EF4-FFF2-40B4-BE49-F238E27FC236}">
                <a16:creationId xmlns:a16="http://schemas.microsoft.com/office/drawing/2014/main" id="{18F8D81B-0CB6-7E82-AF17-20DBC22C7D20}"/>
              </a:ext>
            </a:extLst>
          </p:cNvPr>
          <p:cNvSpPr txBox="1"/>
          <p:nvPr/>
        </p:nvSpPr>
        <p:spPr>
          <a:xfrm>
            <a:off x="12127967" y="9473732"/>
            <a:ext cx="11437922" cy="1815882"/>
          </a:xfrm>
          <a:prstGeom prst="rect">
            <a:avLst/>
          </a:prstGeom>
          <a:noFill/>
        </p:spPr>
        <p:txBody>
          <a:bodyPr wrap="square" rtlCol="0">
            <a:spAutoFit/>
          </a:bodyPr>
          <a:lstStyle/>
          <a:p>
            <a:r>
              <a:rPr lang="en-GB" sz="2800">
                <a:latin typeface="Fira Sans" panose="020B0503050000020004" pitchFamily="34" charset="0"/>
              </a:rPr>
              <a:t>Old unsupported OS types will take longer to move to Cloud</a:t>
            </a:r>
          </a:p>
          <a:p>
            <a:endParaRPr lang="en-GB" sz="2800">
              <a:latin typeface="Fira Sans" panose="020B0503050000020004" pitchFamily="34" charset="0"/>
            </a:endParaRPr>
          </a:p>
          <a:p>
            <a:pPr marL="457200" indent="-457200">
              <a:buFontTx/>
              <a:buChar char="-"/>
            </a:pPr>
            <a:r>
              <a:rPr lang="en-GB" sz="2800" err="1">
                <a:latin typeface="Fira Sans" panose="020B0503050000020004" pitchFamily="34" charset="0"/>
              </a:rPr>
              <a:t>Replatforming</a:t>
            </a:r>
            <a:r>
              <a:rPr lang="en-GB" sz="2800">
                <a:latin typeface="Fira Sans" panose="020B0503050000020004" pitchFamily="34" charset="0"/>
              </a:rPr>
              <a:t> is possible but must be factored into timeline. </a:t>
            </a:r>
          </a:p>
          <a:p>
            <a:endParaRPr lang="en-GB" sz="2800">
              <a:latin typeface="Fira Sans" panose="020B0503050000020004" pitchFamily="34" charset="0"/>
            </a:endParaRPr>
          </a:p>
        </p:txBody>
      </p:sp>
    </p:spTree>
    <p:extLst>
      <p:ext uri="{BB962C8B-B14F-4D97-AF65-F5344CB8AC3E}">
        <p14:creationId xmlns:p14="http://schemas.microsoft.com/office/powerpoint/2010/main" val="364458745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8CC65C-8525-74DB-1684-228596F16869}"/>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CB15DB0-6DF8-4E78-8B88-182201FDD23C}"/>
              </a:ext>
            </a:extLst>
          </p:cNvPr>
          <p:cNvSpPr>
            <a:spLocks noGrp="1"/>
          </p:cNvSpPr>
          <p:nvPr>
            <p:ph type="sldNum" sz="quarter" idx="4"/>
          </p:nvPr>
        </p:nvSpPr>
        <p:spPr>
          <a:xfrm>
            <a:off x="22331085" y="13027080"/>
            <a:ext cx="1234804" cy="215444"/>
          </a:xfrm>
        </p:spPr>
        <p:txBody>
          <a:bodyPr/>
          <a:lstStyle/>
          <a:p>
            <a:fld id="{762E77F0-FB5B-4E8E-9BC9-34F14560A017}" type="slidenum">
              <a:rPr lang="en-US" smtClean="0"/>
              <a:pPr/>
              <a:t>59</a:t>
            </a:fld>
            <a:endParaRPr lang="en-US"/>
          </a:p>
        </p:txBody>
      </p:sp>
      <p:sp>
        <p:nvSpPr>
          <p:cNvPr id="4" name="TextBox 3">
            <a:extLst>
              <a:ext uri="{FF2B5EF4-FFF2-40B4-BE49-F238E27FC236}">
                <a16:creationId xmlns:a16="http://schemas.microsoft.com/office/drawing/2014/main" id="{7ECFA907-0764-B194-686C-9C720A05D7B0}"/>
              </a:ext>
            </a:extLst>
          </p:cNvPr>
          <p:cNvSpPr txBox="1"/>
          <p:nvPr/>
        </p:nvSpPr>
        <p:spPr>
          <a:xfrm>
            <a:off x="406009" y="473476"/>
            <a:ext cx="4051109"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Challenges</a:t>
            </a:r>
            <a:endParaRPr lang="en-GB" sz="6200">
              <a:solidFill>
                <a:srgbClr val="FF0000"/>
              </a:solidFill>
              <a:latin typeface="Fira Sans Light" panose="020B0403050000020004" pitchFamily="34" charset="0"/>
            </a:endParaRPr>
          </a:p>
        </p:txBody>
      </p:sp>
      <p:sp>
        <p:nvSpPr>
          <p:cNvPr id="86" name="TextBox 85">
            <a:extLst>
              <a:ext uri="{FF2B5EF4-FFF2-40B4-BE49-F238E27FC236}">
                <a16:creationId xmlns:a16="http://schemas.microsoft.com/office/drawing/2014/main" id="{337FD125-6B80-CA09-F599-9FB7D8E4085B}"/>
              </a:ext>
            </a:extLst>
          </p:cNvPr>
          <p:cNvSpPr txBox="1"/>
          <p:nvPr/>
        </p:nvSpPr>
        <p:spPr>
          <a:xfrm>
            <a:off x="922176" y="3753839"/>
            <a:ext cx="10552648" cy="1815882"/>
          </a:xfrm>
          <a:prstGeom prst="rect">
            <a:avLst/>
          </a:prstGeom>
          <a:noFill/>
        </p:spPr>
        <p:txBody>
          <a:bodyPr wrap="square" rtlCol="0">
            <a:spAutoFit/>
          </a:bodyPr>
          <a:lstStyle/>
          <a:p>
            <a:r>
              <a:rPr lang="en-GB" sz="2800">
                <a:latin typeface="Fira Sans" panose="020B0503050000020004" pitchFamily="34" charset="0"/>
              </a:rPr>
              <a:t>challenge</a:t>
            </a:r>
          </a:p>
          <a:p>
            <a:endParaRPr lang="en-GB" sz="2800">
              <a:latin typeface="Fira Sans" panose="020B0503050000020004" pitchFamily="34" charset="0"/>
            </a:endParaRPr>
          </a:p>
          <a:p>
            <a:pPr marL="457200" indent="-457200">
              <a:buFontTx/>
              <a:buChar char="-"/>
            </a:pPr>
            <a:r>
              <a:rPr lang="en-GB" sz="2800">
                <a:latin typeface="Fira Sans" panose="020B0503050000020004" pitchFamily="34" charset="0"/>
              </a:rPr>
              <a:t>response</a:t>
            </a:r>
          </a:p>
          <a:p>
            <a:endParaRPr lang="en-GB" sz="2800">
              <a:latin typeface="Fira Sans" panose="020B0503050000020004" pitchFamily="34" charset="0"/>
            </a:endParaRPr>
          </a:p>
        </p:txBody>
      </p:sp>
      <p:sp>
        <p:nvSpPr>
          <p:cNvPr id="5" name="TextBox 4">
            <a:extLst>
              <a:ext uri="{FF2B5EF4-FFF2-40B4-BE49-F238E27FC236}">
                <a16:creationId xmlns:a16="http://schemas.microsoft.com/office/drawing/2014/main" id="{A7B141A9-22F9-B40C-1448-FB0241016EE1}"/>
              </a:ext>
            </a:extLst>
          </p:cNvPr>
          <p:cNvSpPr txBox="1"/>
          <p:nvPr/>
        </p:nvSpPr>
        <p:spPr>
          <a:xfrm>
            <a:off x="12192000" y="3753839"/>
            <a:ext cx="11269824" cy="1815882"/>
          </a:xfrm>
          <a:prstGeom prst="rect">
            <a:avLst/>
          </a:prstGeom>
          <a:noFill/>
        </p:spPr>
        <p:txBody>
          <a:bodyPr wrap="square" rtlCol="0">
            <a:spAutoFit/>
          </a:bodyPr>
          <a:lstStyle/>
          <a:p>
            <a:r>
              <a:rPr lang="en-GB" sz="2800">
                <a:latin typeface="Fira Sans" panose="020B0503050000020004" pitchFamily="34" charset="0"/>
              </a:rPr>
              <a:t>Risk of duplication or accidentally leaving out of migration</a:t>
            </a:r>
          </a:p>
          <a:p>
            <a:endParaRPr lang="en-GB" sz="2800">
              <a:latin typeface="Fira Sans" panose="020B0503050000020004" pitchFamily="34" charset="0"/>
            </a:endParaRPr>
          </a:p>
          <a:p>
            <a:pPr marL="457200" indent="-457200">
              <a:buFontTx/>
              <a:buChar char="-"/>
            </a:pPr>
            <a:r>
              <a:rPr lang="en-GB" sz="2800">
                <a:latin typeface="Fira Sans" panose="020B0503050000020004" pitchFamily="34" charset="0"/>
              </a:rPr>
              <a:t>Same hostnames with .int and .</a:t>
            </a:r>
            <a:r>
              <a:rPr lang="en-GB" sz="2800" err="1">
                <a:latin typeface="Fira Sans" panose="020B0503050000020004" pitchFamily="34" charset="0"/>
              </a:rPr>
              <a:t>hsk</a:t>
            </a:r>
            <a:r>
              <a:rPr lang="en-GB" sz="2800">
                <a:latin typeface="Fira Sans" panose="020B0503050000020004" pitchFamily="34" charset="0"/>
              </a:rPr>
              <a:t> </a:t>
            </a:r>
          </a:p>
          <a:p>
            <a:pPr marL="457200" indent="-457200">
              <a:buFontTx/>
              <a:buChar char="-"/>
            </a:pPr>
            <a:endParaRPr lang="en-GB" sz="2800">
              <a:latin typeface="Fira Sans" panose="020B0503050000020004" pitchFamily="34" charset="0"/>
            </a:endParaRPr>
          </a:p>
        </p:txBody>
      </p:sp>
      <p:sp>
        <p:nvSpPr>
          <p:cNvPr id="47" name="TextBox 46">
            <a:extLst>
              <a:ext uri="{FF2B5EF4-FFF2-40B4-BE49-F238E27FC236}">
                <a16:creationId xmlns:a16="http://schemas.microsoft.com/office/drawing/2014/main" id="{14FEC6B5-3972-9CF0-C398-39CE193AFF68}"/>
              </a:ext>
            </a:extLst>
          </p:cNvPr>
          <p:cNvSpPr txBox="1"/>
          <p:nvPr/>
        </p:nvSpPr>
        <p:spPr>
          <a:xfrm>
            <a:off x="922176" y="2571275"/>
            <a:ext cx="4057521" cy="1046440"/>
          </a:xfrm>
          <a:prstGeom prst="rect">
            <a:avLst/>
          </a:prstGeom>
          <a:noFill/>
        </p:spPr>
        <p:txBody>
          <a:bodyPr wrap="none" rtlCol="0">
            <a:spAutoFit/>
          </a:bodyPr>
          <a:lstStyle/>
          <a:p>
            <a:r>
              <a:rPr lang="en-US" sz="6200">
                <a:solidFill>
                  <a:srgbClr val="FF0000"/>
                </a:solidFill>
                <a:latin typeface="Fira Sans Light" panose="020B0403050000020004" pitchFamily="34" charset="0"/>
              </a:rPr>
              <a:t>Appliances</a:t>
            </a:r>
            <a:endParaRPr lang="en-GB" sz="6200">
              <a:solidFill>
                <a:srgbClr val="FF0000"/>
              </a:solidFill>
              <a:latin typeface="Fira Sans Light" panose="020B0403050000020004" pitchFamily="34" charset="0"/>
            </a:endParaRPr>
          </a:p>
        </p:txBody>
      </p:sp>
      <p:sp>
        <p:nvSpPr>
          <p:cNvPr id="48" name="TextBox 47">
            <a:extLst>
              <a:ext uri="{FF2B5EF4-FFF2-40B4-BE49-F238E27FC236}">
                <a16:creationId xmlns:a16="http://schemas.microsoft.com/office/drawing/2014/main" id="{D3283EF5-BF4A-5798-4907-F4034A3EB465}"/>
              </a:ext>
            </a:extLst>
          </p:cNvPr>
          <p:cNvSpPr txBox="1"/>
          <p:nvPr/>
        </p:nvSpPr>
        <p:spPr>
          <a:xfrm>
            <a:off x="11982062" y="2571275"/>
            <a:ext cx="7518405"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Naming Conventions</a:t>
            </a:r>
            <a:endParaRPr lang="en-GB" sz="6200">
              <a:solidFill>
                <a:srgbClr val="FF0000"/>
              </a:solidFill>
              <a:latin typeface="Fira Sans Light" panose="020B0403050000020004" pitchFamily="34" charset="0"/>
            </a:endParaRPr>
          </a:p>
        </p:txBody>
      </p:sp>
      <p:sp>
        <p:nvSpPr>
          <p:cNvPr id="49" name="TextBox 48">
            <a:extLst>
              <a:ext uri="{FF2B5EF4-FFF2-40B4-BE49-F238E27FC236}">
                <a16:creationId xmlns:a16="http://schemas.microsoft.com/office/drawing/2014/main" id="{EFB4DF99-D9F5-3B9B-DC75-A8CB285E6531}"/>
              </a:ext>
            </a:extLst>
          </p:cNvPr>
          <p:cNvSpPr txBox="1"/>
          <p:nvPr/>
        </p:nvSpPr>
        <p:spPr>
          <a:xfrm>
            <a:off x="922176" y="8291168"/>
            <a:ext cx="1035861"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h3</a:t>
            </a:r>
            <a:endParaRPr lang="en-GB" sz="6200">
              <a:solidFill>
                <a:srgbClr val="FF0000"/>
              </a:solidFill>
              <a:latin typeface="Fira Sans Light" panose="020B0403050000020004" pitchFamily="34" charset="0"/>
            </a:endParaRPr>
          </a:p>
        </p:txBody>
      </p:sp>
      <p:sp>
        <p:nvSpPr>
          <p:cNvPr id="50" name="TextBox 49">
            <a:extLst>
              <a:ext uri="{FF2B5EF4-FFF2-40B4-BE49-F238E27FC236}">
                <a16:creationId xmlns:a16="http://schemas.microsoft.com/office/drawing/2014/main" id="{3CC2B2D9-B0C6-1D79-824D-4ABDFF0CAF56}"/>
              </a:ext>
            </a:extLst>
          </p:cNvPr>
          <p:cNvSpPr txBox="1"/>
          <p:nvPr/>
        </p:nvSpPr>
        <p:spPr>
          <a:xfrm>
            <a:off x="818111" y="9473732"/>
            <a:ext cx="10198232" cy="1815882"/>
          </a:xfrm>
          <a:prstGeom prst="rect">
            <a:avLst/>
          </a:prstGeom>
          <a:noFill/>
        </p:spPr>
        <p:txBody>
          <a:bodyPr wrap="square" rtlCol="0">
            <a:spAutoFit/>
          </a:bodyPr>
          <a:lstStyle/>
          <a:p>
            <a:r>
              <a:rPr lang="en-GB" sz="2800">
                <a:latin typeface="Fira Sans" panose="020B0503050000020004" pitchFamily="34" charset="0"/>
              </a:rPr>
              <a:t>c3</a:t>
            </a:r>
          </a:p>
          <a:p>
            <a:endParaRPr lang="en-GB" sz="2800">
              <a:latin typeface="Fira Sans" panose="020B0503050000020004" pitchFamily="34" charset="0"/>
            </a:endParaRPr>
          </a:p>
          <a:p>
            <a:pPr marL="457200" indent="-457200">
              <a:buFontTx/>
              <a:buChar char="-"/>
            </a:pPr>
            <a:r>
              <a:rPr lang="en-GB" sz="2800">
                <a:latin typeface="Fira Sans" panose="020B0503050000020004" pitchFamily="34" charset="0"/>
              </a:rPr>
              <a:t>r3</a:t>
            </a:r>
          </a:p>
          <a:p>
            <a:endParaRPr lang="en-GB" sz="2800">
              <a:latin typeface="Fira Sans" panose="020B0503050000020004" pitchFamily="34" charset="0"/>
            </a:endParaRPr>
          </a:p>
        </p:txBody>
      </p:sp>
      <p:sp>
        <p:nvSpPr>
          <p:cNvPr id="51" name="TextBox 50">
            <a:extLst>
              <a:ext uri="{FF2B5EF4-FFF2-40B4-BE49-F238E27FC236}">
                <a16:creationId xmlns:a16="http://schemas.microsoft.com/office/drawing/2014/main" id="{2F22C1C2-51E3-ECAE-EDB3-5AC13F548A41}"/>
              </a:ext>
            </a:extLst>
          </p:cNvPr>
          <p:cNvSpPr txBox="1"/>
          <p:nvPr/>
        </p:nvSpPr>
        <p:spPr>
          <a:xfrm>
            <a:off x="11982062" y="8291168"/>
            <a:ext cx="1061509" cy="1046440"/>
          </a:xfrm>
          <a:prstGeom prst="rect">
            <a:avLst/>
          </a:prstGeom>
          <a:noFill/>
        </p:spPr>
        <p:txBody>
          <a:bodyPr wrap="none" rtlCol="0">
            <a:spAutoFit/>
          </a:bodyPr>
          <a:lstStyle/>
          <a:p>
            <a:pPr algn="l"/>
            <a:r>
              <a:rPr lang="en-US" sz="6200">
                <a:solidFill>
                  <a:srgbClr val="FF0000"/>
                </a:solidFill>
                <a:latin typeface="Fira Sans Light" panose="020B0403050000020004" pitchFamily="34" charset="0"/>
              </a:rPr>
              <a:t>h4</a:t>
            </a:r>
            <a:endParaRPr lang="en-GB" sz="6200">
              <a:solidFill>
                <a:srgbClr val="FF0000"/>
              </a:solidFill>
              <a:latin typeface="Fira Sans Light" panose="020B0403050000020004" pitchFamily="34" charset="0"/>
            </a:endParaRPr>
          </a:p>
        </p:txBody>
      </p:sp>
      <p:sp>
        <p:nvSpPr>
          <p:cNvPr id="52" name="TextBox 51">
            <a:extLst>
              <a:ext uri="{FF2B5EF4-FFF2-40B4-BE49-F238E27FC236}">
                <a16:creationId xmlns:a16="http://schemas.microsoft.com/office/drawing/2014/main" id="{007E8BF1-0867-3D40-59BA-D3367763538D}"/>
              </a:ext>
            </a:extLst>
          </p:cNvPr>
          <p:cNvSpPr txBox="1"/>
          <p:nvPr/>
        </p:nvSpPr>
        <p:spPr>
          <a:xfrm>
            <a:off x="12127967" y="9473732"/>
            <a:ext cx="11437922" cy="1815882"/>
          </a:xfrm>
          <a:prstGeom prst="rect">
            <a:avLst/>
          </a:prstGeom>
          <a:noFill/>
        </p:spPr>
        <p:txBody>
          <a:bodyPr wrap="square" rtlCol="0">
            <a:spAutoFit/>
          </a:bodyPr>
          <a:lstStyle/>
          <a:p>
            <a:r>
              <a:rPr lang="en-GB" sz="2800">
                <a:latin typeface="Fira Sans" panose="020B0503050000020004" pitchFamily="34" charset="0"/>
              </a:rPr>
              <a:t>c4</a:t>
            </a:r>
          </a:p>
          <a:p>
            <a:endParaRPr lang="en-GB" sz="2800">
              <a:latin typeface="Fira Sans" panose="020B0503050000020004" pitchFamily="34" charset="0"/>
            </a:endParaRPr>
          </a:p>
          <a:p>
            <a:pPr marL="457200" indent="-457200">
              <a:buFontTx/>
              <a:buChar char="-"/>
            </a:pPr>
            <a:r>
              <a:rPr lang="en-GB" sz="2800">
                <a:latin typeface="Fira Sans" panose="020B0503050000020004" pitchFamily="34" charset="0"/>
              </a:rPr>
              <a:t>r4</a:t>
            </a:r>
          </a:p>
          <a:p>
            <a:endParaRPr lang="en-GB" sz="2800">
              <a:latin typeface="Fira Sans" panose="020B0503050000020004" pitchFamily="34" charset="0"/>
            </a:endParaRPr>
          </a:p>
        </p:txBody>
      </p:sp>
    </p:spTree>
    <p:extLst>
      <p:ext uri="{BB962C8B-B14F-4D97-AF65-F5344CB8AC3E}">
        <p14:creationId xmlns:p14="http://schemas.microsoft.com/office/powerpoint/2010/main" val="208488998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1B2B9C-4A24-A9AD-7F2A-8D381F0EF01A}"/>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052B94EF-F95C-C9F3-547F-14D6B147329B}"/>
              </a:ext>
            </a:extLst>
          </p:cNvPr>
          <p:cNvSpPr>
            <a:spLocks noGrp="1"/>
          </p:cNvSpPr>
          <p:nvPr>
            <p:ph type="body" sz="quarter" idx="16"/>
          </p:nvPr>
        </p:nvSpPr>
        <p:spPr>
          <a:xfrm>
            <a:off x="12838653" y="4401708"/>
            <a:ext cx="10200642" cy="4485136"/>
          </a:xfrm>
        </p:spPr>
        <p:txBody>
          <a:bodyPr/>
          <a:lstStyle/>
          <a:p>
            <a:r>
              <a:rPr lang="en-US"/>
              <a:t>Application </a:t>
            </a:r>
            <a:br>
              <a:rPr lang="en-US"/>
            </a:br>
            <a:r>
              <a:rPr lang="en-US"/>
              <a:t>Assessment </a:t>
            </a:r>
          </a:p>
          <a:p>
            <a:r>
              <a:rPr lang="en-US" sz="3600"/>
              <a:t>(Migration Portfolio Assessment)</a:t>
            </a:r>
            <a:endParaRPr lang="en-US"/>
          </a:p>
        </p:txBody>
      </p:sp>
    </p:spTree>
    <p:extLst>
      <p:ext uri="{BB962C8B-B14F-4D97-AF65-F5344CB8AC3E}">
        <p14:creationId xmlns:p14="http://schemas.microsoft.com/office/powerpoint/2010/main" val="107371230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E530307-69DB-4608-916E-CD99F3148E3E}"/>
              </a:ext>
            </a:extLst>
          </p:cNvPr>
          <p:cNvSpPr>
            <a:spLocks noGrp="1"/>
          </p:cNvSpPr>
          <p:nvPr>
            <p:ph type="title"/>
          </p:nvPr>
        </p:nvSpPr>
        <p:spPr>
          <a:xfrm>
            <a:off x="667513" y="539497"/>
            <a:ext cx="6484402" cy="968086"/>
          </a:xfrm>
        </p:spPr>
        <p:txBody>
          <a:bodyPr/>
          <a:lstStyle/>
          <a:p>
            <a:r>
              <a:rPr lang="en-GB">
                <a:latin typeface="+mj-lt"/>
              </a:rPr>
              <a:t>MPA Deliverables</a:t>
            </a:r>
          </a:p>
        </p:txBody>
      </p:sp>
      <p:sp>
        <p:nvSpPr>
          <p:cNvPr id="3" name="Slide Number Placeholder 2">
            <a:extLst>
              <a:ext uri="{FF2B5EF4-FFF2-40B4-BE49-F238E27FC236}">
                <a16:creationId xmlns:a16="http://schemas.microsoft.com/office/drawing/2014/main" id="{86C65516-8896-9E82-0ADB-6410103A238E}"/>
              </a:ext>
            </a:extLst>
          </p:cNvPr>
          <p:cNvSpPr>
            <a:spLocks noGrp="1"/>
          </p:cNvSpPr>
          <p:nvPr>
            <p:ph type="sldNum" sz="quarter" idx="4"/>
          </p:nvPr>
        </p:nvSpPr>
        <p:spPr/>
        <p:txBody>
          <a:bodyPr/>
          <a:lstStyle/>
          <a:p>
            <a:pPr>
              <a:defRPr/>
            </a:pPr>
            <a:fld id="{762E77F0-FB5B-4E8E-9BC9-34F14560A017}" type="slidenum">
              <a:rPr lang="en-US">
                <a:solidFill>
                  <a:schemeClr val="bg1"/>
                </a:solidFill>
                <a:latin typeface="+mj-lt"/>
              </a:rPr>
              <a:pPr>
                <a:defRPr/>
              </a:pPr>
              <a:t>61</a:t>
            </a:fld>
            <a:endParaRPr lang="en-US">
              <a:solidFill>
                <a:schemeClr val="bg1"/>
              </a:solidFill>
              <a:latin typeface="+mj-lt"/>
            </a:endParaRPr>
          </a:p>
        </p:txBody>
      </p:sp>
      <p:cxnSp>
        <p:nvCxnSpPr>
          <p:cNvPr id="92" name="Straight Connector 91">
            <a:extLst>
              <a:ext uri="{FF2B5EF4-FFF2-40B4-BE49-F238E27FC236}">
                <a16:creationId xmlns:a16="http://schemas.microsoft.com/office/drawing/2014/main" id="{223EB5AF-30B1-87CD-4083-6E5EDFA9AE24}"/>
              </a:ext>
            </a:extLst>
          </p:cNvPr>
          <p:cNvCxnSpPr>
            <a:cxnSpLocks/>
          </p:cNvCxnSpPr>
          <p:nvPr/>
        </p:nvCxnSpPr>
        <p:spPr>
          <a:xfrm>
            <a:off x="1" y="1721016"/>
            <a:ext cx="7525062"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9F455FAD-B674-4EEB-2790-A41E431A3C36}"/>
              </a:ext>
            </a:extLst>
          </p:cNvPr>
          <p:cNvGrpSpPr/>
          <p:nvPr/>
        </p:nvGrpSpPr>
        <p:grpSpPr>
          <a:xfrm>
            <a:off x="2152162" y="4206136"/>
            <a:ext cx="1227080" cy="1227076"/>
            <a:chOff x="6690921" y="3804176"/>
            <a:chExt cx="788068" cy="788067"/>
          </a:xfrm>
        </p:grpSpPr>
        <p:sp>
          <p:nvSpPr>
            <p:cNvPr id="95" name="Freeform 75">
              <a:extLst>
                <a:ext uri="{FF2B5EF4-FFF2-40B4-BE49-F238E27FC236}">
                  <a16:creationId xmlns:a16="http://schemas.microsoft.com/office/drawing/2014/main" id="{4A712C62-92E0-00EA-6961-8AA4E8FBF72C}"/>
                </a:ext>
              </a:extLst>
            </p:cNvPr>
            <p:cNvSpPr>
              <a:spLocks noChangeArrowheads="1"/>
            </p:cNvSpPr>
            <p:nvPr/>
          </p:nvSpPr>
          <p:spPr bwMode="auto">
            <a:xfrm>
              <a:off x="6690921" y="3804176"/>
              <a:ext cx="788068" cy="788067"/>
            </a:xfrm>
            <a:custGeom>
              <a:avLst/>
              <a:gdLst>
                <a:gd name="T0" fmla="*/ 282 w 1751"/>
                <a:gd name="T1" fmla="*/ 1750 h 1751"/>
                <a:gd name="T2" fmla="*/ 0 w 1751"/>
                <a:gd name="T3" fmla="*/ 1468 h 1751"/>
                <a:gd name="T4" fmla="*/ 0 w 1751"/>
                <a:gd name="T5" fmla="*/ 282 h 1751"/>
                <a:gd name="T6" fmla="*/ 282 w 1751"/>
                <a:gd name="T7" fmla="*/ 0 h 1751"/>
                <a:gd name="T8" fmla="*/ 1467 w 1751"/>
                <a:gd name="T9" fmla="*/ 0 h 1751"/>
                <a:gd name="T10" fmla="*/ 1750 w 1751"/>
                <a:gd name="T11" fmla="*/ 282 h 1751"/>
                <a:gd name="T12" fmla="*/ 1750 w 1751"/>
                <a:gd name="T13" fmla="*/ 1468 h 1751"/>
                <a:gd name="T14" fmla="*/ 1467 w 1751"/>
                <a:gd name="T15" fmla="*/ 1750 h 1751"/>
                <a:gd name="T16" fmla="*/ 282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2" y="1750"/>
                  </a:moveTo>
                  <a:cubicBezTo>
                    <a:pt x="127" y="1750"/>
                    <a:pt x="0" y="1623"/>
                    <a:pt x="0" y="1468"/>
                  </a:cubicBezTo>
                  <a:cubicBezTo>
                    <a:pt x="0" y="1073"/>
                    <a:pt x="0" y="678"/>
                    <a:pt x="0" y="282"/>
                  </a:cubicBezTo>
                  <a:cubicBezTo>
                    <a:pt x="0" y="127"/>
                    <a:pt x="127" y="0"/>
                    <a:pt x="282" y="0"/>
                  </a:cubicBezTo>
                  <a:cubicBezTo>
                    <a:pt x="677" y="0"/>
                    <a:pt x="1072" y="0"/>
                    <a:pt x="1467" y="0"/>
                  </a:cubicBezTo>
                  <a:cubicBezTo>
                    <a:pt x="1623" y="0"/>
                    <a:pt x="1750" y="127"/>
                    <a:pt x="1750" y="282"/>
                  </a:cubicBezTo>
                  <a:cubicBezTo>
                    <a:pt x="1750" y="678"/>
                    <a:pt x="1750" y="1073"/>
                    <a:pt x="1750" y="1468"/>
                  </a:cubicBezTo>
                  <a:cubicBezTo>
                    <a:pt x="1750" y="1623"/>
                    <a:pt x="1623" y="1750"/>
                    <a:pt x="1467" y="1750"/>
                  </a:cubicBezTo>
                  <a:cubicBezTo>
                    <a:pt x="1072" y="1750"/>
                    <a:pt x="677" y="1750"/>
                    <a:pt x="282" y="175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grpSp>
          <p:nvGrpSpPr>
            <p:cNvPr id="96" name="Group 95">
              <a:extLst>
                <a:ext uri="{FF2B5EF4-FFF2-40B4-BE49-F238E27FC236}">
                  <a16:creationId xmlns:a16="http://schemas.microsoft.com/office/drawing/2014/main" id="{13AE130B-C171-2E38-2AAA-873C8C5ACA9C}"/>
                </a:ext>
              </a:extLst>
            </p:cNvPr>
            <p:cNvGrpSpPr/>
            <p:nvPr/>
          </p:nvGrpSpPr>
          <p:grpSpPr>
            <a:xfrm>
              <a:off x="6881486" y="3968935"/>
              <a:ext cx="406938" cy="432742"/>
              <a:chOff x="6881486" y="3968935"/>
              <a:chExt cx="406938" cy="432742"/>
            </a:xfrm>
          </p:grpSpPr>
          <p:sp>
            <p:nvSpPr>
              <p:cNvPr id="97" name="Freeform 76">
                <a:extLst>
                  <a:ext uri="{FF2B5EF4-FFF2-40B4-BE49-F238E27FC236}">
                    <a16:creationId xmlns:a16="http://schemas.microsoft.com/office/drawing/2014/main" id="{9A64A891-B6D1-5F56-26C6-15A71700BD09}"/>
                  </a:ext>
                </a:extLst>
              </p:cNvPr>
              <p:cNvSpPr>
                <a:spLocks noChangeArrowheads="1"/>
              </p:cNvSpPr>
              <p:nvPr/>
            </p:nvSpPr>
            <p:spPr bwMode="auto">
              <a:xfrm>
                <a:off x="6881486" y="4133695"/>
                <a:ext cx="63522" cy="267982"/>
              </a:xfrm>
              <a:custGeom>
                <a:avLst/>
                <a:gdLst>
                  <a:gd name="T0" fmla="*/ 85 w 142"/>
                  <a:gd name="T1" fmla="*/ 593 h 594"/>
                  <a:gd name="T2" fmla="*/ 141 w 142"/>
                  <a:gd name="T3" fmla="*/ 536 h 594"/>
                  <a:gd name="T4" fmla="*/ 141 w 142"/>
                  <a:gd name="T5" fmla="*/ 56 h 594"/>
                  <a:gd name="T6" fmla="*/ 85 w 142"/>
                  <a:gd name="T7" fmla="*/ 0 h 594"/>
                  <a:gd name="T8" fmla="*/ 57 w 142"/>
                  <a:gd name="T9" fmla="*/ 0 h 594"/>
                  <a:gd name="T10" fmla="*/ 0 w 142"/>
                  <a:gd name="T11" fmla="*/ 56 h 594"/>
                  <a:gd name="T12" fmla="*/ 0 w 142"/>
                  <a:gd name="T13" fmla="*/ 536 h 594"/>
                  <a:gd name="T14" fmla="*/ 57 w 142"/>
                  <a:gd name="T15" fmla="*/ 593 h 594"/>
                  <a:gd name="T16" fmla="*/ 85 w 142"/>
                  <a:gd name="T17" fmla="*/ 593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594">
                    <a:moveTo>
                      <a:pt x="85" y="593"/>
                    </a:moveTo>
                    <a:cubicBezTo>
                      <a:pt x="116" y="593"/>
                      <a:pt x="141" y="567"/>
                      <a:pt x="141" y="536"/>
                    </a:cubicBezTo>
                    <a:cubicBezTo>
                      <a:pt x="141" y="376"/>
                      <a:pt x="141" y="216"/>
                      <a:pt x="141" y="56"/>
                    </a:cubicBezTo>
                    <a:cubicBezTo>
                      <a:pt x="141" y="25"/>
                      <a:pt x="116" y="0"/>
                      <a:pt x="85" y="0"/>
                    </a:cubicBezTo>
                    <a:cubicBezTo>
                      <a:pt x="76" y="0"/>
                      <a:pt x="67" y="0"/>
                      <a:pt x="57" y="0"/>
                    </a:cubicBezTo>
                    <a:cubicBezTo>
                      <a:pt x="26" y="0"/>
                      <a:pt x="0" y="25"/>
                      <a:pt x="0" y="56"/>
                    </a:cubicBezTo>
                    <a:cubicBezTo>
                      <a:pt x="0" y="216"/>
                      <a:pt x="0" y="376"/>
                      <a:pt x="0" y="536"/>
                    </a:cubicBezTo>
                    <a:cubicBezTo>
                      <a:pt x="0" y="567"/>
                      <a:pt x="26" y="593"/>
                      <a:pt x="57" y="593"/>
                    </a:cubicBezTo>
                    <a:cubicBezTo>
                      <a:pt x="67" y="593"/>
                      <a:pt x="76" y="593"/>
                      <a:pt x="85" y="593"/>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sp>
            <p:nvSpPr>
              <p:cNvPr id="98" name="Freeform 77">
                <a:extLst>
                  <a:ext uri="{FF2B5EF4-FFF2-40B4-BE49-F238E27FC236}">
                    <a16:creationId xmlns:a16="http://schemas.microsoft.com/office/drawing/2014/main" id="{84564A5B-CB3B-FB06-14CB-D246970E0E5B}"/>
                  </a:ext>
                </a:extLst>
              </p:cNvPr>
              <p:cNvSpPr>
                <a:spLocks noChangeArrowheads="1"/>
              </p:cNvSpPr>
              <p:nvPr/>
            </p:nvSpPr>
            <p:spPr bwMode="auto">
              <a:xfrm>
                <a:off x="6996620" y="3968935"/>
                <a:ext cx="63522" cy="432742"/>
              </a:xfrm>
              <a:custGeom>
                <a:avLst/>
                <a:gdLst>
                  <a:gd name="T0" fmla="*/ 85 w 142"/>
                  <a:gd name="T1" fmla="*/ 960 h 961"/>
                  <a:gd name="T2" fmla="*/ 141 w 142"/>
                  <a:gd name="T3" fmla="*/ 903 h 961"/>
                  <a:gd name="T4" fmla="*/ 141 w 142"/>
                  <a:gd name="T5" fmla="*/ 57 h 961"/>
                  <a:gd name="T6" fmla="*/ 85 w 142"/>
                  <a:gd name="T7" fmla="*/ 0 h 961"/>
                  <a:gd name="T8" fmla="*/ 57 w 142"/>
                  <a:gd name="T9" fmla="*/ 0 h 961"/>
                  <a:gd name="T10" fmla="*/ 0 w 142"/>
                  <a:gd name="T11" fmla="*/ 57 h 961"/>
                  <a:gd name="T12" fmla="*/ 0 w 142"/>
                  <a:gd name="T13" fmla="*/ 903 h 961"/>
                  <a:gd name="T14" fmla="*/ 57 w 142"/>
                  <a:gd name="T15" fmla="*/ 960 h 961"/>
                  <a:gd name="T16" fmla="*/ 85 w 142"/>
                  <a:gd name="T17" fmla="*/ 960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961">
                    <a:moveTo>
                      <a:pt x="85" y="960"/>
                    </a:moveTo>
                    <a:cubicBezTo>
                      <a:pt x="116" y="960"/>
                      <a:pt x="141" y="934"/>
                      <a:pt x="141" y="903"/>
                    </a:cubicBezTo>
                    <a:cubicBezTo>
                      <a:pt x="141" y="621"/>
                      <a:pt x="141" y="339"/>
                      <a:pt x="141" y="57"/>
                    </a:cubicBezTo>
                    <a:cubicBezTo>
                      <a:pt x="141" y="25"/>
                      <a:pt x="116" y="0"/>
                      <a:pt x="85" y="0"/>
                    </a:cubicBezTo>
                    <a:cubicBezTo>
                      <a:pt x="76" y="0"/>
                      <a:pt x="67" y="0"/>
                      <a:pt x="57" y="0"/>
                    </a:cubicBezTo>
                    <a:cubicBezTo>
                      <a:pt x="26" y="0"/>
                      <a:pt x="0" y="25"/>
                      <a:pt x="0" y="57"/>
                    </a:cubicBezTo>
                    <a:cubicBezTo>
                      <a:pt x="0" y="339"/>
                      <a:pt x="0" y="621"/>
                      <a:pt x="0" y="903"/>
                    </a:cubicBezTo>
                    <a:cubicBezTo>
                      <a:pt x="0" y="934"/>
                      <a:pt x="26" y="960"/>
                      <a:pt x="57" y="960"/>
                    </a:cubicBezTo>
                    <a:cubicBezTo>
                      <a:pt x="67" y="960"/>
                      <a:pt x="76" y="960"/>
                      <a:pt x="85" y="96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sp>
            <p:nvSpPr>
              <p:cNvPr id="99" name="Freeform 78">
                <a:extLst>
                  <a:ext uri="{FF2B5EF4-FFF2-40B4-BE49-F238E27FC236}">
                    <a16:creationId xmlns:a16="http://schemas.microsoft.com/office/drawing/2014/main" id="{25594CF8-7D65-4B56-54A9-D5D008FDA301}"/>
                  </a:ext>
                </a:extLst>
              </p:cNvPr>
              <p:cNvSpPr>
                <a:spLocks noChangeArrowheads="1"/>
              </p:cNvSpPr>
              <p:nvPr/>
            </p:nvSpPr>
            <p:spPr bwMode="auto">
              <a:xfrm>
                <a:off x="7109769" y="4197217"/>
                <a:ext cx="63522" cy="204460"/>
              </a:xfrm>
              <a:custGeom>
                <a:avLst/>
                <a:gdLst>
                  <a:gd name="T0" fmla="*/ 85 w 142"/>
                  <a:gd name="T1" fmla="*/ 452 h 453"/>
                  <a:gd name="T2" fmla="*/ 141 w 142"/>
                  <a:gd name="T3" fmla="*/ 395 h 453"/>
                  <a:gd name="T4" fmla="*/ 141 w 142"/>
                  <a:gd name="T5" fmla="*/ 57 h 453"/>
                  <a:gd name="T6" fmla="*/ 85 w 142"/>
                  <a:gd name="T7" fmla="*/ 0 h 453"/>
                  <a:gd name="T8" fmla="*/ 57 w 142"/>
                  <a:gd name="T9" fmla="*/ 0 h 453"/>
                  <a:gd name="T10" fmla="*/ 0 w 142"/>
                  <a:gd name="T11" fmla="*/ 57 h 453"/>
                  <a:gd name="T12" fmla="*/ 0 w 142"/>
                  <a:gd name="T13" fmla="*/ 395 h 453"/>
                  <a:gd name="T14" fmla="*/ 57 w 142"/>
                  <a:gd name="T15" fmla="*/ 452 h 453"/>
                  <a:gd name="T16" fmla="*/ 85 w 142"/>
                  <a:gd name="T17" fmla="*/ 45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3">
                    <a:moveTo>
                      <a:pt x="85" y="452"/>
                    </a:moveTo>
                    <a:cubicBezTo>
                      <a:pt x="116" y="452"/>
                      <a:pt x="141" y="426"/>
                      <a:pt x="141" y="395"/>
                    </a:cubicBezTo>
                    <a:cubicBezTo>
                      <a:pt x="141" y="283"/>
                      <a:pt x="141" y="170"/>
                      <a:pt x="141" y="57"/>
                    </a:cubicBezTo>
                    <a:cubicBezTo>
                      <a:pt x="141" y="25"/>
                      <a:pt x="116" y="0"/>
                      <a:pt x="85" y="0"/>
                    </a:cubicBezTo>
                    <a:cubicBezTo>
                      <a:pt x="76" y="0"/>
                      <a:pt x="67" y="0"/>
                      <a:pt x="57" y="0"/>
                    </a:cubicBezTo>
                    <a:cubicBezTo>
                      <a:pt x="25" y="0"/>
                      <a:pt x="0" y="25"/>
                      <a:pt x="0" y="57"/>
                    </a:cubicBezTo>
                    <a:cubicBezTo>
                      <a:pt x="0" y="170"/>
                      <a:pt x="0" y="283"/>
                      <a:pt x="0" y="395"/>
                    </a:cubicBezTo>
                    <a:cubicBezTo>
                      <a:pt x="0" y="426"/>
                      <a:pt x="25" y="452"/>
                      <a:pt x="57" y="452"/>
                    </a:cubicBezTo>
                    <a:cubicBezTo>
                      <a:pt x="67" y="452"/>
                      <a:pt x="76" y="452"/>
                      <a:pt x="85" y="452"/>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sp>
            <p:nvSpPr>
              <p:cNvPr id="100" name="Freeform 79">
                <a:extLst>
                  <a:ext uri="{FF2B5EF4-FFF2-40B4-BE49-F238E27FC236}">
                    <a16:creationId xmlns:a16="http://schemas.microsoft.com/office/drawing/2014/main" id="{000C67FC-2203-000D-A1A6-0B3AA54AC888}"/>
                  </a:ext>
                </a:extLst>
              </p:cNvPr>
              <p:cNvSpPr>
                <a:spLocks noChangeArrowheads="1"/>
              </p:cNvSpPr>
              <p:nvPr/>
            </p:nvSpPr>
            <p:spPr bwMode="auto">
              <a:xfrm>
                <a:off x="7224902" y="4084068"/>
                <a:ext cx="63522" cy="317609"/>
              </a:xfrm>
              <a:custGeom>
                <a:avLst/>
                <a:gdLst>
                  <a:gd name="T0" fmla="*/ 85 w 142"/>
                  <a:gd name="T1" fmla="*/ 706 h 707"/>
                  <a:gd name="T2" fmla="*/ 141 w 142"/>
                  <a:gd name="T3" fmla="*/ 649 h 707"/>
                  <a:gd name="T4" fmla="*/ 141 w 142"/>
                  <a:gd name="T5" fmla="*/ 57 h 707"/>
                  <a:gd name="T6" fmla="*/ 85 w 142"/>
                  <a:gd name="T7" fmla="*/ 0 h 707"/>
                  <a:gd name="T8" fmla="*/ 57 w 142"/>
                  <a:gd name="T9" fmla="*/ 0 h 707"/>
                  <a:gd name="T10" fmla="*/ 0 w 142"/>
                  <a:gd name="T11" fmla="*/ 57 h 707"/>
                  <a:gd name="T12" fmla="*/ 0 w 142"/>
                  <a:gd name="T13" fmla="*/ 649 h 707"/>
                  <a:gd name="T14" fmla="*/ 57 w 142"/>
                  <a:gd name="T15" fmla="*/ 706 h 707"/>
                  <a:gd name="T16" fmla="*/ 85 w 142"/>
                  <a:gd name="T17" fmla="*/ 70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707">
                    <a:moveTo>
                      <a:pt x="85" y="706"/>
                    </a:moveTo>
                    <a:cubicBezTo>
                      <a:pt x="116" y="706"/>
                      <a:pt x="141" y="680"/>
                      <a:pt x="141" y="649"/>
                    </a:cubicBezTo>
                    <a:cubicBezTo>
                      <a:pt x="141" y="452"/>
                      <a:pt x="141" y="255"/>
                      <a:pt x="141" y="57"/>
                    </a:cubicBezTo>
                    <a:cubicBezTo>
                      <a:pt x="141" y="25"/>
                      <a:pt x="116" y="0"/>
                      <a:pt x="85" y="0"/>
                    </a:cubicBezTo>
                    <a:cubicBezTo>
                      <a:pt x="76" y="0"/>
                      <a:pt x="67" y="0"/>
                      <a:pt x="57" y="0"/>
                    </a:cubicBezTo>
                    <a:cubicBezTo>
                      <a:pt x="25" y="0"/>
                      <a:pt x="0" y="25"/>
                      <a:pt x="0" y="57"/>
                    </a:cubicBezTo>
                    <a:cubicBezTo>
                      <a:pt x="0" y="255"/>
                      <a:pt x="0" y="452"/>
                      <a:pt x="0" y="649"/>
                    </a:cubicBezTo>
                    <a:cubicBezTo>
                      <a:pt x="0" y="680"/>
                      <a:pt x="25" y="706"/>
                      <a:pt x="57" y="706"/>
                    </a:cubicBezTo>
                    <a:cubicBezTo>
                      <a:pt x="67" y="706"/>
                      <a:pt x="76" y="706"/>
                      <a:pt x="85" y="706"/>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grpSp>
      </p:grpSp>
      <p:sp>
        <p:nvSpPr>
          <p:cNvPr id="101" name="Rectangle 100">
            <a:extLst>
              <a:ext uri="{FF2B5EF4-FFF2-40B4-BE49-F238E27FC236}">
                <a16:creationId xmlns:a16="http://schemas.microsoft.com/office/drawing/2014/main" id="{C24313BF-74A0-915F-2C49-8CC46D5046D0}"/>
              </a:ext>
            </a:extLst>
          </p:cNvPr>
          <p:cNvSpPr/>
          <p:nvPr/>
        </p:nvSpPr>
        <p:spPr>
          <a:xfrm>
            <a:off x="405965" y="5590852"/>
            <a:ext cx="4722998" cy="9087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12750" hangingPunct="0">
              <a:lnSpc>
                <a:spcPct val="80000"/>
              </a:lnSpc>
              <a:defRPr/>
            </a:pPr>
            <a:r>
              <a:rPr lang="en-GB" sz="3200" kern="0" spc="-26">
                <a:solidFill>
                  <a:schemeClr val="tx1"/>
                </a:solidFill>
                <a:latin typeface="+mj-lt"/>
                <a:cs typeface="Arial" charset="0"/>
                <a:sym typeface="Khand Semibold"/>
              </a:rPr>
              <a:t>Complexity Assessment</a:t>
            </a:r>
          </a:p>
        </p:txBody>
      </p:sp>
      <p:grpSp>
        <p:nvGrpSpPr>
          <p:cNvPr id="102" name="Group 101">
            <a:extLst>
              <a:ext uri="{FF2B5EF4-FFF2-40B4-BE49-F238E27FC236}">
                <a16:creationId xmlns:a16="http://schemas.microsoft.com/office/drawing/2014/main" id="{C1C8672C-5D37-48E7-CB8D-087F8524C8EE}"/>
              </a:ext>
            </a:extLst>
          </p:cNvPr>
          <p:cNvGrpSpPr>
            <a:grpSpLocks noChangeAspect="1"/>
          </p:cNvGrpSpPr>
          <p:nvPr/>
        </p:nvGrpSpPr>
        <p:grpSpPr>
          <a:xfrm>
            <a:off x="2156984" y="7151306"/>
            <a:ext cx="1223560" cy="1223560"/>
            <a:chOff x="2897981" y="657226"/>
            <a:chExt cx="747712" cy="747712"/>
          </a:xfrm>
        </p:grpSpPr>
        <p:sp>
          <p:nvSpPr>
            <p:cNvPr id="103" name="Freeform 49">
              <a:extLst>
                <a:ext uri="{FF2B5EF4-FFF2-40B4-BE49-F238E27FC236}">
                  <a16:creationId xmlns:a16="http://schemas.microsoft.com/office/drawing/2014/main" id="{103AECB9-4CB4-3C0A-284A-53DD55BF2F8F}"/>
                </a:ext>
              </a:extLst>
            </p:cNvPr>
            <p:cNvSpPr>
              <a:spLocks noChangeArrowheads="1"/>
            </p:cNvSpPr>
            <p:nvPr/>
          </p:nvSpPr>
          <p:spPr bwMode="auto">
            <a:xfrm>
              <a:off x="2897981" y="657226"/>
              <a:ext cx="747712" cy="747712"/>
            </a:xfrm>
            <a:custGeom>
              <a:avLst/>
              <a:gdLst>
                <a:gd name="T0" fmla="*/ 1743 w 2079"/>
                <a:gd name="T1" fmla="*/ 2078 h 2079"/>
                <a:gd name="T2" fmla="*/ 2078 w 2079"/>
                <a:gd name="T3" fmla="*/ 1743 h 2079"/>
                <a:gd name="T4" fmla="*/ 2078 w 2079"/>
                <a:gd name="T5" fmla="*/ 335 h 2079"/>
                <a:gd name="T6" fmla="*/ 1743 w 2079"/>
                <a:gd name="T7" fmla="*/ 0 h 2079"/>
                <a:gd name="T8" fmla="*/ 335 w 2079"/>
                <a:gd name="T9" fmla="*/ 0 h 2079"/>
                <a:gd name="T10" fmla="*/ 0 w 2079"/>
                <a:gd name="T11" fmla="*/ 335 h 2079"/>
                <a:gd name="T12" fmla="*/ 0 w 2079"/>
                <a:gd name="T13" fmla="*/ 1743 h 2079"/>
                <a:gd name="T14" fmla="*/ 335 w 2079"/>
                <a:gd name="T15" fmla="*/ 2078 h 2079"/>
                <a:gd name="T16" fmla="*/ 1743 w 2079"/>
                <a:gd name="T17" fmla="*/ 2078 h 2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9" h="2079">
                  <a:moveTo>
                    <a:pt x="1743" y="2078"/>
                  </a:moveTo>
                  <a:cubicBezTo>
                    <a:pt x="1927" y="2078"/>
                    <a:pt x="2078" y="1927"/>
                    <a:pt x="2078" y="1743"/>
                  </a:cubicBezTo>
                  <a:cubicBezTo>
                    <a:pt x="2078" y="1274"/>
                    <a:pt x="2078" y="804"/>
                    <a:pt x="2078" y="335"/>
                  </a:cubicBezTo>
                  <a:cubicBezTo>
                    <a:pt x="2078" y="150"/>
                    <a:pt x="1927" y="0"/>
                    <a:pt x="1743" y="0"/>
                  </a:cubicBezTo>
                  <a:cubicBezTo>
                    <a:pt x="1273" y="0"/>
                    <a:pt x="804" y="0"/>
                    <a:pt x="335" y="0"/>
                  </a:cubicBezTo>
                  <a:cubicBezTo>
                    <a:pt x="151" y="0"/>
                    <a:pt x="0" y="150"/>
                    <a:pt x="0" y="335"/>
                  </a:cubicBezTo>
                  <a:cubicBezTo>
                    <a:pt x="0" y="804"/>
                    <a:pt x="0" y="1274"/>
                    <a:pt x="0" y="1743"/>
                  </a:cubicBezTo>
                  <a:cubicBezTo>
                    <a:pt x="0" y="1927"/>
                    <a:pt x="151" y="2078"/>
                    <a:pt x="335" y="2078"/>
                  </a:cubicBezTo>
                  <a:cubicBezTo>
                    <a:pt x="804" y="2078"/>
                    <a:pt x="1273" y="2078"/>
                    <a:pt x="1743" y="2078"/>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grpSp>
          <p:nvGrpSpPr>
            <p:cNvPr id="104" name="Group 103">
              <a:extLst>
                <a:ext uri="{FF2B5EF4-FFF2-40B4-BE49-F238E27FC236}">
                  <a16:creationId xmlns:a16="http://schemas.microsoft.com/office/drawing/2014/main" id="{7B488EBA-C8A9-A1B0-019B-31D9984CD2E2}"/>
                </a:ext>
              </a:extLst>
            </p:cNvPr>
            <p:cNvGrpSpPr/>
            <p:nvPr/>
          </p:nvGrpSpPr>
          <p:grpSpPr>
            <a:xfrm>
              <a:off x="3072606" y="838201"/>
              <a:ext cx="398462" cy="361950"/>
              <a:chOff x="3072606" y="838201"/>
              <a:chExt cx="398462" cy="361950"/>
            </a:xfrm>
          </p:grpSpPr>
          <p:sp>
            <p:nvSpPr>
              <p:cNvPr id="105" name="Freeform 50">
                <a:extLst>
                  <a:ext uri="{FF2B5EF4-FFF2-40B4-BE49-F238E27FC236}">
                    <a16:creationId xmlns:a16="http://schemas.microsoft.com/office/drawing/2014/main" id="{FE58AC79-BA7F-52DA-329B-D5C26A8A83E7}"/>
                  </a:ext>
                </a:extLst>
              </p:cNvPr>
              <p:cNvSpPr>
                <a:spLocks noChangeArrowheads="1"/>
              </p:cNvSpPr>
              <p:nvPr/>
            </p:nvSpPr>
            <p:spPr bwMode="auto">
              <a:xfrm>
                <a:off x="3150393" y="838201"/>
                <a:ext cx="96838" cy="44450"/>
              </a:xfrm>
              <a:custGeom>
                <a:avLst/>
                <a:gdLst>
                  <a:gd name="T0" fmla="*/ 25 w 267"/>
                  <a:gd name="T1" fmla="*/ 0 h 122"/>
                  <a:gd name="T2" fmla="*/ 7 w 267"/>
                  <a:gd name="T3" fmla="*/ 29 h 122"/>
                  <a:gd name="T4" fmla="*/ 53 w 267"/>
                  <a:gd name="T5" fmla="*/ 121 h 122"/>
                  <a:gd name="T6" fmla="*/ 214 w 267"/>
                  <a:gd name="T7" fmla="*/ 121 h 122"/>
                  <a:gd name="T8" fmla="*/ 259 w 267"/>
                  <a:gd name="T9" fmla="*/ 29 h 122"/>
                  <a:gd name="T10" fmla="*/ 241 w 267"/>
                  <a:gd name="T11" fmla="*/ 0 h 122"/>
                  <a:gd name="T12" fmla="*/ 25 w 267"/>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267" h="122">
                    <a:moveTo>
                      <a:pt x="25" y="0"/>
                    </a:moveTo>
                    <a:cubicBezTo>
                      <a:pt x="10" y="0"/>
                      <a:pt x="0" y="16"/>
                      <a:pt x="7" y="29"/>
                    </a:cubicBezTo>
                    <a:cubicBezTo>
                      <a:pt x="22" y="60"/>
                      <a:pt x="37" y="90"/>
                      <a:pt x="53" y="121"/>
                    </a:cubicBezTo>
                    <a:cubicBezTo>
                      <a:pt x="106" y="121"/>
                      <a:pt x="160" y="121"/>
                      <a:pt x="214" y="121"/>
                    </a:cubicBezTo>
                    <a:cubicBezTo>
                      <a:pt x="229" y="90"/>
                      <a:pt x="244" y="60"/>
                      <a:pt x="259" y="29"/>
                    </a:cubicBezTo>
                    <a:cubicBezTo>
                      <a:pt x="266" y="16"/>
                      <a:pt x="256" y="0"/>
                      <a:pt x="241" y="0"/>
                    </a:cubicBezTo>
                    <a:cubicBezTo>
                      <a:pt x="169" y="0"/>
                      <a:pt x="97" y="0"/>
                      <a:pt x="25"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sp>
            <p:nvSpPr>
              <p:cNvPr id="106" name="Freeform 51">
                <a:extLst>
                  <a:ext uri="{FF2B5EF4-FFF2-40B4-BE49-F238E27FC236}">
                    <a16:creationId xmlns:a16="http://schemas.microsoft.com/office/drawing/2014/main" id="{439C9F92-4D09-57E1-8054-D0272D5A2533}"/>
                  </a:ext>
                </a:extLst>
              </p:cNvPr>
              <p:cNvSpPr>
                <a:spLocks noChangeArrowheads="1"/>
              </p:cNvSpPr>
              <p:nvPr/>
            </p:nvSpPr>
            <p:spPr bwMode="auto">
              <a:xfrm>
                <a:off x="3296443" y="838201"/>
                <a:ext cx="96838" cy="44450"/>
              </a:xfrm>
              <a:custGeom>
                <a:avLst/>
                <a:gdLst>
                  <a:gd name="T0" fmla="*/ 25 w 267"/>
                  <a:gd name="T1" fmla="*/ 0 h 122"/>
                  <a:gd name="T2" fmla="*/ 7 w 267"/>
                  <a:gd name="T3" fmla="*/ 29 h 122"/>
                  <a:gd name="T4" fmla="*/ 53 w 267"/>
                  <a:gd name="T5" fmla="*/ 121 h 122"/>
                  <a:gd name="T6" fmla="*/ 214 w 267"/>
                  <a:gd name="T7" fmla="*/ 121 h 122"/>
                  <a:gd name="T8" fmla="*/ 260 w 267"/>
                  <a:gd name="T9" fmla="*/ 29 h 122"/>
                  <a:gd name="T10" fmla="*/ 242 w 267"/>
                  <a:gd name="T11" fmla="*/ 0 h 122"/>
                  <a:gd name="T12" fmla="*/ 25 w 267"/>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267" h="122">
                    <a:moveTo>
                      <a:pt x="25" y="0"/>
                    </a:moveTo>
                    <a:cubicBezTo>
                      <a:pt x="10" y="0"/>
                      <a:pt x="0" y="16"/>
                      <a:pt x="7" y="29"/>
                    </a:cubicBezTo>
                    <a:cubicBezTo>
                      <a:pt x="22" y="60"/>
                      <a:pt x="37" y="90"/>
                      <a:pt x="53" y="121"/>
                    </a:cubicBezTo>
                    <a:cubicBezTo>
                      <a:pt x="106" y="121"/>
                      <a:pt x="160" y="121"/>
                      <a:pt x="214" y="121"/>
                    </a:cubicBezTo>
                    <a:cubicBezTo>
                      <a:pt x="229" y="90"/>
                      <a:pt x="244" y="60"/>
                      <a:pt x="260" y="29"/>
                    </a:cubicBezTo>
                    <a:cubicBezTo>
                      <a:pt x="266" y="16"/>
                      <a:pt x="256" y="0"/>
                      <a:pt x="242" y="0"/>
                    </a:cubicBezTo>
                    <a:cubicBezTo>
                      <a:pt x="169" y="0"/>
                      <a:pt x="97" y="0"/>
                      <a:pt x="25"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sp>
            <p:nvSpPr>
              <p:cNvPr id="107" name="Freeform 52">
                <a:extLst>
                  <a:ext uri="{FF2B5EF4-FFF2-40B4-BE49-F238E27FC236}">
                    <a16:creationId xmlns:a16="http://schemas.microsoft.com/office/drawing/2014/main" id="{484A0EE4-2822-C639-F9D3-2C73E6B515C4}"/>
                  </a:ext>
                </a:extLst>
              </p:cNvPr>
              <p:cNvSpPr>
                <a:spLocks noChangeArrowheads="1"/>
              </p:cNvSpPr>
              <p:nvPr/>
            </p:nvSpPr>
            <p:spPr bwMode="auto">
              <a:xfrm>
                <a:off x="3242468" y="946151"/>
                <a:ext cx="1588" cy="49212"/>
              </a:xfrm>
              <a:custGeom>
                <a:avLst/>
                <a:gdLst>
                  <a:gd name="T0" fmla="*/ 0 w 1"/>
                  <a:gd name="T1" fmla="*/ 0 h 135"/>
                  <a:gd name="T2" fmla="*/ 0 w 1"/>
                  <a:gd name="T3" fmla="*/ 134 h 135"/>
                </a:gdLst>
                <a:ahLst/>
                <a:cxnLst>
                  <a:cxn ang="0">
                    <a:pos x="T0" y="T1"/>
                  </a:cxn>
                  <a:cxn ang="0">
                    <a:pos x="T2" y="T3"/>
                  </a:cxn>
                </a:cxnLst>
                <a:rect l="0" t="0" r="r" b="b"/>
                <a:pathLst>
                  <a:path w="1" h="135">
                    <a:moveTo>
                      <a:pt x="0" y="0"/>
                    </a:moveTo>
                    <a:cubicBezTo>
                      <a:pt x="0" y="45"/>
                      <a:pt x="0" y="89"/>
                      <a:pt x="0" y="134"/>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08" name="Freeform 53">
                <a:extLst>
                  <a:ext uri="{FF2B5EF4-FFF2-40B4-BE49-F238E27FC236}">
                    <a16:creationId xmlns:a16="http://schemas.microsoft.com/office/drawing/2014/main" id="{7306DFA2-1A1B-0E96-DA1A-37AF41DA993D}"/>
                  </a:ext>
                </a:extLst>
              </p:cNvPr>
              <p:cNvSpPr>
                <a:spLocks noChangeArrowheads="1"/>
              </p:cNvSpPr>
              <p:nvPr/>
            </p:nvSpPr>
            <p:spPr bwMode="auto">
              <a:xfrm>
                <a:off x="3301206" y="946151"/>
                <a:ext cx="1587" cy="49212"/>
              </a:xfrm>
              <a:custGeom>
                <a:avLst/>
                <a:gdLst>
                  <a:gd name="T0" fmla="*/ 0 w 1"/>
                  <a:gd name="T1" fmla="*/ 0 h 135"/>
                  <a:gd name="T2" fmla="*/ 0 w 1"/>
                  <a:gd name="T3" fmla="*/ 134 h 135"/>
                </a:gdLst>
                <a:ahLst/>
                <a:cxnLst>
                  <a:cxn ang="0">
                    <a:pos x="T0" y="T1"/>
                  </a:cxn>
                  <a:cxn ang="0">
                    <a:pos x="T2" y="T3"/>
                  </a:cxn>
                </a:cxnLst>
                <a:rect l="0" t="0" r="r" b="b"/>
                <a:pathLst>
                  <a:path w="1" h="135">
                    <a:moveTo>
                      <a:pt x="0" y="0"/>
                    </a:moveTo>
                    <a:cubicBezTo>
                      <a:pt x="0" y="45"/>
                      <a:pt x="0" y="89"/>
                      <a:pt x="0" y="134"/>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09" name="Freeform 54">
                <a:extLst>
                  <a:ext uri="{FF2B5EF4-FFF2-40B4-BE49-F238E27FC236}">
                    <a16:creationId xmlns:a16="http://schemas.microsoft.com/office/drawing/2014/main" id="{20F9E50C-4C72-F5F6-87E8-43C1D20CA9E7}"/>
                  </a:ext>
                </a:extLst>
              </p:cNvPr>
              <p:cNvSpPr>
                <a:spLocks noChangeArrowheads="1"/>
              </p:cNvSpPr>
              <p:nvPr/>
            </p:nvSpPr>
            <p:spPr bwMode="auto">
              <a:xfrm>
                <a:off x="3204368" y="909638"/>
                <a:ext cx="133350" cy="36513"/>
              </a:xfrm>
              <a:custGeom>
                <a:avLst/>
                <a:gdLst>
                  <a:gd name="T0" fmla="*/ 0 w 370"/>
                  <a:gd name="T1" fmla="*/ 0 h 101"/>
                  <a:gd name="T2" fmla="*/ 0 w 370"/>
                  <a:gd name="T3" fmla="*/ 60 h 101"/>
                  <a:gd name="T4" fmla="*/ 40 w 370"/>
                  <a:gd name="T5" fmla="*/ 100 h 101"/>
                  <a:gd name="T6" fmla="*/ 328 w 370"/>
                  <a:gd name="T7" fmla="*/ 100 h 101"/>
                  <a:gd name="T8" fmla="*/ 369 w 370"/>
                  <a:gd name="T9" fmla="*/ 60 h 101"/>
                  <a:gd name="T10" fmla="*/ 369 w 370"/>
                  <a:gd name="T11" fmla="*/ 0 h 101"/>
                </a:gdLst>
                <a:ahLst/>
                <a:cxnLst>
                  <a:cxn ang="0">
                    <a:pos x="T0" y="T1"/>
                  </a:cxn>
                  <a:cxn ang="0">
                    <a:pos x="T2" y="T3"/>
                  </a:cxn>
                  <a:cxn ang="0">
                    <a:pos x="T4" y="T5"/>
                  </a:cxn>
                  <a:cxn ang="0">
                    <a:pos x="T6" y="T7"/>
                  </a:cxn>
                  <a:cxn ang="0">
                    <a:pos x="T8" y="T9"/>
                  </a:cxn>
                  <a:cxn ang="0">
                    <a:pos x="T10" y="T11"/>
                  </a:cxn>
                </a:cxnLst>
                <a:rect l="0" t="0" r="r" b="b"/>
                <a:pathLst>
                  <a:path w="370" h="101">
                    <a:moveTo>
                      <a:pt x="0" y="0"/>
                    </a:moveTo>
                    <a:cubicBezTo>
                      <a:pt x="0" y="20"/>
                      <a:pt x="0" y="40"/>
                      <a:pt x="0" y="60"/>
                    </a:cubicBezTo>
                    <a:cubicBezTo>
                      <a:pt x="0" y="82"/>
                      <a:pt x="18" y="100"/>
                      <a:pt x="40" y="100"/>
                    </a:cubicBezTo>
                    <a:cubicBezTo>
                      <a:pt x="136" y="100"/>
                      <a:pt x="232" y="100"/>
                      <a:pt x="328" y="100"/>
                    </a:cubicBezTo>
                    <a:cubicBezTo>
                      <a:pt x="351" y="100"/>
                      <a:pt x="369" y="82"/>
                      <a:pt x="369" y="60"/>
                    </a:cubicBezTo>
                    <a:cubicBezTo>
                      <a:pt x="369" y="40"/>
                      <a:pt x="369" y="20"/>
                      <a:pt x="369"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0" name="Freeform 55">
                <a:extLst>
                  <a:ext uri="{FF2B5EF4-FFF2-40B4-BE49-F238E27FC236}">
                    <a16:creationId xmlns:a16="http://schemas.microsoft.com/office/drawing/2014/main" id="{F01EC23B-7CDA-2BD6-3CD4-E4C79402E7F6}"/>
                  </a:ext>
                </a:extLst>
              </p:cNvPr>
              <p:cNvSpPr>
                <a:spLocks noChangeArrowheads="1"/>
              </p:cNvSpPr>
              <p:nvPr/>
            </p:nvSpPr>
            <p:spPr bwMode="auto">
              <a:xfrm>
                <a:off x="3077368" y="909638"/>
                <a:ext cx="387350" cy="157163"/>
              </a:xfrm>
              <a:custGeom>
                <a:avLst/>
                <a:gdLst>
                  <a:gd name="T0" fmla="*/ 618 w 1076"/>
                  <a:gd name="T1" fmla="*/ 335 h 436"/>
                  <a:gd name="T2" fmla="*/ 618 w 1076"/>
                  <a:gd name="T3" fmla="*/ 395 h 436"/>
                  <a:gd name="T4" fmla="*/ 658 w 1076"/>
                  <a:gd name="T5" fmla="*/ 435 h 436"/>
                  <a:gd name="T6" fmla="*/ 1040 w 1076"/>
                  <a:gd name="T7" fmla="*/ 435 h 436"/>
                  <a:gd name="T8" fmla="*/ 1066 w 1076"/>
                  <a:gd name="T9" fmla="*/ 423 h 436"/>
                  <a:gd name="T10" fmla="*/ 1073 w 1076"/>
                  <a:gd name="T11" fmla="*/ 394 h 436"/>
                  <a:gd name="T12" fmla="*/ 1003 w 1076"/>
                  <a:gd name="T13" fmla="*/ 93 h 436"/>
                  <a:gd name="T14" fmla="*/ 886 w 1076"/>
                  <a:gd name="T15" fmla="*/ 0 h 436"/>
                  <a:gd name="T16" fmla="*/ 189 w 1076"/>
                  <a:gd name="T17" fmla="*/ 0 h 436"/>
                  <a:gd name="T18" fmla="*/ 71 w 1076"/>
                  <a:gd name="T19" fmla="*/ 93 h 436"/>
                  <a:gd name="T20" fmla="*/ 2 w 1076"/>
                  <a:gd name="T21" fmla="*/ 394 h 436"/>
                  <a:gd name="T22" fmla="*/ 8 w 1076"/>
                  <a:gd name="T23" fmla="*/ 423 h 436"/>
                  <a:gd name="T24" fmla="*/ 35 w 1076"/>
                  <a:gd name="T25" fmla="*/ 435 h 436"/>
                  <a:gd name="T26" fmla="*/ 417 w 1076"/>
                  <a:gd name="T27" fmla="*/ 435 h 436"/>
                  <a:gd name="T28" fmla="*/ 457 w 1076"/>
                  <a:gd name="T29" fmla="*/ 395 h 436"/>
                  <a:gd name="T30" fmla="*/ 457 w 1076"/>
                  <a:gd name="T31" fmla="*/ 335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76" h="436">
                    <a:moveTo>
                      <a:pt x="618" y="335"/>
                    </a:moveTo>
                    <a:cubicBezTo>
                      <a:pt x="618" y="355"/>
                      <a:pt x="618" y="375"/>
                      <a:pt x="618" y="395"/>
                    </a:cubicBezTo>
                    <a:cubicBezTo>
                      <a:pt x="618" y="417"/>
                      <a:pt x="636" y="435"/>
                      <a:pt x="658" y="435"/>
                    </a:cubicBezTo>
                    <a:cubicBezTo>
                      <a:pt x="785" y="435"/>
                      <a:pt x="912" y="435"/>
                      <a:pt x="1040" y="435"/>
                    </a:cubicBezTo>
                    <a:cubicBezTo>
                      <a:pt x="1050" y="435"/>
                      <a:pt x="1059" y="431"/>
                      <a:pt x="1066" y="423"/>
                    </a:cubicBezTo>
                    <a:cubicBezTo>
                      <a:pt x="1072" y="415"/>
                      <a:pt x="1075" y="404"/>
                      <a:pt x="1073" y="394"/>
                    </a:cubicBezTo>
                    <a:cubicBezTo>
                      <a:pt x="1049" y="294"/>
                      <a:pt x="1026" y="193"/>
                      <a:pt x="1003" y="93"/>
                    </a:cubicBezTo>
                    <a:cubicBezTo>
                      <a:pt x="990" y="38"/>
                      <a:pt x="942" y="0"/>
                      <a:pt x="886" y="0"/>
                    </a:cubicBezTo>
                    <a:cubicBezTo>
                      <a:pt x="653" y="0"/>
                      <a:pt x="421" y="0"/>
                      <a:pt x="189" y="0"/>
                    </a:cubicBezTo>
                    <a:cubicBezTo>
                      <a:pt x="133" y="0"/>
                      <a:pt x="84" y="38"/>
                      <a:pt x="71" y="93"/>
                    </a:cubicBezTo>
                    <a:cubicBezTo>
                      <a:pt x="48" y="193"/>
                      <a:pt x="25" y="294"/>
                      <a:pt x="2" y="394"/>
                    </a:cubicBezTo>
                    <a:cubicBezTo>
                      <a:pt x="0" y="404"/>
                      <a:pt x="2" y="415"/>
                      <a:pt x="8" y="423"/>
                    </a:cubicBezTo>
                    <a:cubicBezTo>
                      <a:pt x="15" y="431"/>
                      <a:pt x="24" y="435"/>
                      <a:pt x="35" y="435"/>
                    </a:cubicBezTo>
                    <a:cubicBezTo>
                      <a:pt x="162" y="435"/>
                      <a:pt x="289" y="435"/>
                      <a:pt x="417" y="435"/>
                    </a:cubicBezTo>
                    <a:cubicBezTo>
                      <a:pt x="439" y="435"/>
                      <a:pt x="457" y="417"/>
                      <a:pt x="457" y="395"/>
                    </a:cubicBezTo>
                    <a:cubicBezTo>
                      <a:pt x="457" y="375"/>
                      <a:pt x="457" y="355"/>
                      <a:pt x="457" y="335"/>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1" name="Freeform 56">
                <a:extLst>
                  <a:ext uri="{FF2B5EF4-FFF2-40B4-BE49-F238E27FC236}">
                    <a16:creationId xmlns:a16="http://schemas.microsoft.com/office/drawing/2014/main" id="{DB8B4C0E-7FDF-DFDD-FC48-703838104B54}"/>
                  </a:ext>
                </a:extLst>
              </p:cNvPr>
              <p:cNvSpPr>
                <a:spLocks noChangeArrowheads="1"/>
              </p:cNvSpPr>
              <p:nvPr/>
            </p:nvSpPr>
            <p:spPr bwMode="auto">
              <a:xfrm>
                <a:off x="3301206" y="1150938"/>
                <a:ext cx="169862" cy="1588"/>
              </a:xfrm>
              <a:custGeom>
                <a:avLst/>
                <a:gdLst>
                  <a:gd name="T0" fmla="*/ 0 w 470"/>
                  <a:gd name="T1" fmla="*/ 0 h 1"/>
                  <a:gd name="T2" fmla="*/ 469 w 470"/>
                  <a:gd name="T3" fmla="*/ 0 h 1"/>
                </a:gdLst>
                <a:ahLst/>
                <a:cxnLst>
                  <a:cxn ang="0">
                    <a:pos x="T0" y="T1"/>
                  </a:cxn>
                  <a:cxn ang="0">
                    <a:pos x="T2" y="T3"/>
                  </a:cxn>
                </a:cxnLst>
                <a:rect l="0" t="0" r="r" b="b"/>
                <a:pathLst>
                  <a:path w="470" h="1">
                    <a:moveTo>
                      <a:pt x="0" y="0"/>
                    </a:moveTo>
                    <a:cubicBezTo>
                      <a:pt x="156" y="0"/>
                      <a:pt x="312" y="0"/>
                      <a:pt x="469"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2" name="Freeform 57">
                <a:extLst>
                  <a:ext uri="{FF2B5EF4-FFF2-40B4-BE49-F238E27FC236}">
                    <a16:creationId xmlns:a16="http://schemas.microsoft.com/office/drawing/2014/main" id="{8F9CFD73-3FDA-CA8E-AC24-043AC57474D9}"/>
                  </a:ext>
                </a:extLst>
              </p:cNvPr>
              <p:cNvSpPr>
                <a:spLocks noChangeArrowheads="1"/>
              </p:cNvSpPr>
              <p:nvPr/>
            </p:nvSpPr>
            <p:spPr bwMode="auto">
              <a:xfrm>
                <a:off x="3301206" y="1066801"/>
                <a:ext cx="169862" cy="133350"/>
              </a:xfrm>
              <a:custGeom>
                <a:avLst/>
                <a:gdLst>
                  <a:gd name="T0" fmla="*/ 389 w 470"/>
                  <a:gd name="T1" fmla="*/ 0 h 370"/>
                  <a:gd name="T2" fmla="*/ 469 w 470"/>
                  <a:gd name="T3" fmla="*/ 235 h 370"/>
                  <a:gd name="T4" fmla="*/ 469 w 470"/>
                  <a:gd name="T5" fmla="*/ 349 h 370"/>
                  <a:gd name="T6" fmla="*/ 449 w 470"/>
                  <a:gd name="T7" fmla="*/ 369 h 370"/>
                  <a:gd name="T8" fmla="*/ 20 w 470"/>
                  <a:gd name="T9" fmla="*/ 369 h 370"/>
                  <a:gd name="T10" fmla="*/ 0 w 470"/>
                  <a:gd name="T11" fmla="*/ 349 h 370"/>
                  <a:gd name="T12" fmla="*/ 0 w 470"/>
                  <a:gd name="T13" fmla="*/ 235 h 370"/>
                  <a:gd name="T14" fmla="*/ 80 w 470"/>
                  <a:gd name="T15" fmla="*/ 0 h 3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0" h="370">
                    <a:moveTo>
                      <a:pt x="389" y="0"/>
                    </a:moveTo>
                    <a:cubicBezTo>
                      <a:pt x="415" y="78"/>
                      <a:pt x="442" y="157"/>
                      <a:pt x="469" y="235"/>
                    </a:cubicBezTo>
                    <a:cubicBezTo>
                      <a:pt x="469" y="273"/>
                      <a:pt x="469" y="311"/>
                      <a:pt x="469" y="349"/>
                    </a:cubicBezTo>
                    <a:cubicBezTo>
                      <a:pt x="469" y="360"/>
                      <a:pt x="460" y="369"/>
                      <a:pt x="449" y="369"/>
                    </a:cubicBezTo>
                    <a:cubicBezTo>
                      <a:pt x="306" y="369"/>
                      <a:pt x="163" y="369"/>
                      <a:pt x="20" y="369"/>
                    </a:cubicBezTo>
                    <a:cubicBezTo>
                      <a:pt x="9" y="369"/>
                      <a:pt x="0" y="360"/>
                      <a:pt x="0" y="349"/>
                    </a:cubicBezTo>
                    <a:cubicBezTo>
                      <a:pt x="0" y="311"/>
                      <a:pt x="0" y="273"/>
                      <a:pt x="0" y="235"/>
                    </a:cubicBezTo>
                    <a:cubicBezTo>
                      <a:pt x="26" y="157"/>
                      <a:pt x="53" y="78"/>
                      <a:pt x="80"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3" name="Freeform 58">
                <a:extLst>
                  <a:ext uri="{FF2B5EF4-FFF2-40B4-BE49-F238E27FC236}">
                    <a16:creationId xmlns:a16="http://schemas.microsoft.com/office/drawing/2014/main" id="{2C34F12C-FBE5-BC1D-3CAE-18B1E20707AF}"/>
                  </a:ext>
                </a:extLst>
              </p:cNvPr>
              <p:cNvSpPr>
                <a:spLocks noChangeArrowheads="1"/>
              </p:cNvSpPr>
              <p:nvPr/>
            </p:nvSpPr>
            <p:spPr bwMode="auto">
              <a:xfrm>
                <a:off x="3072606" y="1150938"/>
                <a:ext cx="169862" cy="1588"/>
              </a:xfrm>
              <a:custGeom>
                <a:avLst/>
                <a:gdLst>
                  <a:gd name="T0" fmla="*/ 0 w 470"/>
                  <a:gd name="T1" fmla="*/ 0 h 1"/>
                  <a:gd name="T2" fmla="*/ 469 w 470"/>
                  <a:gd name="T3" fmla="*/ 0 h 1"/>
                </a:gdLst>
                <a:ahLst/>
                <a:cxnLst>
                  <a:cxn ang="0">
                    <a:pos x="T0" y="T1"/>
                  </a:cxn>
                  <a:cxn ang="0">
                    <a:pos x="T2" y="T3"/>
                  </a:cxn>
                </a:cxnLst>
                <a:rect l="0" t="0" r="r" b="b"/>
                <a:pathLst>
                  <a:path w="470" h="1">
                    <a:moveTo>
                      <a:pt x="0" y="0"/>
                    </a:moveTo>
                    <a:cubicBezTo>
                      <a:pt x="156" y="0"/>
                      <a:pt x="312" y="0"/>
                      <a:pt x="469"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4" name="Freeform 59">
                <a:extLst>
                  <a:ext uri="{FF2B5EF4-FFF2-40B4-BE49-F238E27FC236}">
                    <a16:creationId xmlns:a16="http://schemas.microsoft.com/office/drawing/2014/main" id="{737BFC2D-DC57-5FB1-BAD8-6E51E7C8FFF4}"/>
                  </a:ext>
                </a:extLst>
              </p:cNvPr>
              <p:cNvSpPr>
                <a:spLocks noChangeArrowheads="1"/>
              </p:cNvSpPr>
              <p:nvPr/>
            </p:nvSpPr>
            <p:spPr bwMode="auto">
              <a:xfrm>
                <a:off x="3072606" y="1066801"/>
                <a:ext cx="169862" cy="133350"/>
              </a:xfrm>
              <a:custGeom>
                <a:avLst/>
                <a:gdLst>
                  <a:gd name="T0" fmla="*/ 389 w 470"/>
                  <a:gd name="T1" fmla="*/ 0 h 370"/>
                  <a:gd name="T2" fmla="*/ 469 w 470"/>
                  <a:gd name="T3" fmla="*/ 235 h 370"/>
                  <a:gd name="T4" fmla="*/ 469 w 470"/>
                  <a:gd name="T5" fmla="*/ 349 h 370"/>
                  <a:gd name="T6" fmla="*/ 449 w 470"/>
                  <a:gd name="T7" fmla="*/ 369 h 370"/>
                  <a:gd name="T8" fmla="*/ 20 w 470"/>
                  <a:gd name="T9" fmla="*/ 369 h 370"/>
                  <a:gd name="T10" fmla="*/ 0 w 470"/>
                  <a:gd name="T11" fmla="*/ 349 h 370"/>
                  <a:gd name="T12" fmla="*/ 0 w 470"/>
                  <a:gd name="T13" fmla="*/ 235 h 370"/>
                  <a:gd name="T14" fmla="*/ 81 w 470"/>
                  <a:gd name="T15" fmla="*/ 0 h 3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0" h="370">
                    <a:moveTo>
                      <a:pt x="389" y="0"/>
                    </a:moveTo>
                    <a:cubicBezTo>
                      <a:pt x="415" y="78"/>
                      <a:pt x="442" y="157"/>
                      <a:pt x="469" y="235"/>
                    </a:cubicBezTo>
                    <a:cubicBezTo>
                      <a:pt x="469" y="273"/>
                      <a:pt x="469" y="311"/>
                      <a:pt x="469" y="349"/>
                    </a:cubicBezTo>
                    <a:cubicBezTo>
                      <a:pt x="469" y="360"/>
                      <a:pt x="460" y="369"/>
                      <a:pt x="449" y="369"/>
                    </a:cubicBezTo>
                    <a:cubicBezTo>
                      <a:pt x="306" y="369"/>
                      <a:pt x="163" y="369"/>
                      <a:pt x="20" y="369"/>
                    </a:cubicBezTo>
                    <a:cubicBezTo>
                      <a:pt x="9" y="369"/>
                      <a:pt x="0" y="360"/>
                      <a:pt x="0" y="349"/>
                    </a:cubicBezTo>
                    <a:cubicBezTo>
                      <a:pt x="0" y="311"/>
                      <a:pt x="0" y="273"/>
                      <a:pt x="0" y="235"/>
                    </a:cubicBezTo>
                    <a:cubicBezTo>
                      <a:pt x="27" y="157"/>
                      <a:pt x="54" y="78"/>
                      <a:pt x="81"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5" name="Freeform 60">
                <a:extLst>
                  <a:ext uri="{FF2B5EF4-FFF2-40B4-BE49-F238E27FC236}">
                    <a16:creationId xmlns:a16="http://schemas.microsoft.com/office/drawing/2014/main" id="{87EDB395-AD0A-6950-494F-9DD2AD24B0B0}"/>
                  </a:ext>
                </a:extLst>
              </p:cNvPr>
              <p:cNvSpPr>
                <a:spLocks noChangeArrowheads="1"/>
              </p:cNvSpPr>
              <p:nvPr/>
            </p:nvSpPr>
            <p:spPr bwMode="auto">
              <a:xfrm>
                <a:off x="3169443" y="881063"/>
                <a:ext cx="1588" cy="30163"/>
              </a:xfrm>
              <a:custGeom>
                <a:avLst/>
                <a:gdLst>
                  <a:gd name="T0" fmla="*/ 0 w 1"/>
                  <a:gd name="T1" fmla="*/ 81 h 82"/>
                  <a:gd name="T2" fmla="*/ 0 w 1"/>
                  <a:gd name="T3" fmla="*/ 0 h 82"/>
                </a:gdLst>
                <a:ahLst/>
                <a:cxnLst>
                  <a:cxn ang="0">
                    <a:pos x="T0" y="T1"/>
                  </a:cxn>
                  <a:cxn ang="0">
                    <a:pos x="T2" y="T3"/>
                  </a:cxn>
                </a:cxnLst>
                <a:rect l="0" t="0" r="r" b="b"/>
                <a:pathLst>
                  <a:path w="1" h="82">
                    <a:moveTo>
                      <a:pt x="0" y="81"/>
                    </a:moveTo>
                    <a:cubicBezTo>
                      <a:pt x="0" y="54"/>
                      <a:pt x="0" y="27"/>
                      <a:pt x="0"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6" name="Freeform 61">
                <a:extLst>
                  <a:ext uri="{FF2B5EF4-FFF2-40B4-BE49-F238E27FC236}">
                    <a16:creationId xmlns:a16="http://schemas.microsoft.com/office/drawing/2014/main" id="{D76E1A39-46C7-F224-DFB9-00EF996F343A}"/>
                  </a:ext>
                </a:extLst>
              </p:cNvPr>
              <p:cNvSpPr>
                <a:spLocks noChangeArrowheads="1"/>
              </p:cNvSpPr>
              <p:nvPr/>
            </p:nvSpPr>
            <p:spPr bwMode="auto">
              <a:xfrm>
                <a:off x="3228181" y="881063"/>
                <a:ext cx="1587" cy="30163"/>
              </a:xfrm>
              <a:custGeom>
                <a:avLst/>
                <a:gdLst>
                  <a:gd name="T0" fmla="*/ 0 w 1"/>
                  <a:gd name="T1" fmla="*/ 81 h 82"/>
                  <a:gd name="T2" fmla="*/ 0 w 1"/>
                  <a:gd name="T3" fmla="*/ 0 h 82"/>
                </a:gdLst>
                <a:ahLst/>
                <a:cxnLst>
                  <a:cxn ang="0">
                    <a:pos x="T0" y="T1"/>
                  </a:cxn>
                  <a:cxn ang="0">
                    <a:pos x="T2" y="T3"/>
                  </a:cxn>
                </a:cxnLst>
                <a:rect l="0" t="0" r="r" b="b"/>
                <a:pathLst>
                  <a:path w="1" h="82">
                    <a:moveTo>
                      <a:pt x="0" y="81"/>
                    </a:moveTo>
                    <a:cubicBezTo>
                      <a:pt x="0" y="54"/>
                      <a:pt x="0" y="27"/>
                      <a:pt x="0"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7" name="Freeform 62">
                <a:extLst>
                  <a:ext uri="{FF2B5EF4-FFF2-40B4-BE49-F238E27FC236}">
                    <a16:creationId xmlns:a16="http://schemas.microsoft.com/office/drawing/2014/main" id="{056F0C83-BA57-65C3-574D-F32AC59FEBDA}"/>
                  </a:ext>
                </a:extLst>
              </p:cNvPr>
              <p:cNvSpPr>
                <a:spLocks noChangeArrowheads="1"/>
              </p:cNvSpPr>
              <p:nvPr/>
            </p:nvSpPr>
            <p:spPr bwMode="auto">
              <a:xfrm>
                <a:off x="3315493" y="881063"/>
                <a:ext cx="1588" cy="30163"/>
              </a:xfrm>
              <a:custGeom>
                <a:avLst/>
                <a:gdLst>
                  <a:gd name="T0" fmla="*/ 0 w 1"/>
                  <a:gd name="T1" fmla="*/ 81 h 82"/>
                  <a:gd name="T2" fmla="*/ 0 w 1"/>
                  <a:gd name="T3" fmla="*/ 0 h 82"/>
                </a:gdLst>
                <a:ahLst/>
                <a:cxnLst>
                  <a:cxn ang="0">
                    <a:pos x="T0" y="T1"/>
                  </a:cxn>
                  <a:cxn ang="0">
                    <a:pos x="T2" y="T3"/>
                  </a:cxn>
                </a:cxnLst>
                <a:rect l="0" t="0" r="r" b="b"/>
                <a:pathLst>
                  <a:path w="1" h="82">
                    <a:moveTo>
                      <a:pt x="0" y="81"/>
                    </a:moveTo>
                    <a:cubicBezTo>
                      <a:pt x="0" y="54"/>
                      <a:pt x="0" y="27"/>
                      <a:pt x="0"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8" name="Freeform 63">
                <a:extLst>
                  <a:ext uri="{FF2B5EF4-FFF2-40B4-BE49-F238E27FC236}">
                    <a16:creationId xmlns:a16="http://schemas.microsoft.com/office/drawing/2014/main" id="{75A2CDB9-0782-A21C-D4EF-B232E1371529}"/>
                  </a:ext>
                </a:extLst>
              </p:cNvPr>
              <p:cNvSpPr>
                <a:spLocks noChangeArrowheads="1"/>
              </p:cNvSpPr>
              <p:nvPr/>
            </p:nvSpPr>
            <p:spPr bwMode="auto">
              <a:xfrm>
                <a:off x="3372643" y="881063"/>
                <a:ext cx="1588" cy="30163"/>
              </a:xfrm>
              <a:custGeom>
                <a:avLst/>
                <a:gdLst>
                  <a:gd name="T0" fmla="*/ 0 w 1"/>
                  <a:gd name="T1" fmla="*/ 81 h 82"/>
                  <a:gd name="T2" fmla="*/ 0 w 1"/>
                  <a:gd name="T3" fmla="*/ 0 h 82"/>
                </a:gdLst>
                <a:ahLst/>
                <a:cxnLst>
                  <a:cxn ang="0">
                    <a:pos x="T0" y="T1"/>
                  </a:cxn>
                  <a:cxn ang="0">
                    <a:pos x="T2" y="T3"/>
                  </a:cxn>
                </a:cxnLst>
                <a:rect l="0" t="0" r="r" b="b"/>
                <a:pathLst>
                  <a:path w="1" h="82">
                    <a:moveTo>
                      <a:pt x="0" y="81"/>
                    </a:moveTo>
                    <a:cubicBezTo>
                      <a:pt x="0" y="54"/>
                      <a:pt x="0" y="27"/>
                      <a:pt x="0"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200">
                  <a:latin typeface="+mj-lt"/>
                </a:endParaRPr>
              </a:p>
            </p:txBody>
          </p:sp>
          <p:sp>
            <p:nvSpPr>
              <p:cNvPr id="119" name="Freeform 64">
                <a:extLst>
                  <a:ext uri="{FF2B5EF4-FFF2-40B4-BE49-F238E27FC236}">
                    <a16:creationId xmlns:a16="http://schemas.microsoft.com/office/drawing/2014/main" id="{58A9431F-3533-5D98-B607-A2E7BCD41F0B}"/>
                  </a:ext>
                </a:extLst>
              </p:cNvPr>
              <p:cNvSpPr>
                <a:spLocks noChangeArrowheads="1"/>
              </p:cNvSpPr>
              <p:nvPr/>
            </p:nvSpPr>
            <p:spPr bwMode="auto">
              <a:xfrm>
                <a:off x="3204368" y="993776"/>
                <a:ext cx="133350" cy="36512"/>
              </a:xfrm>
              <a:custGeom>
                <a:avLst/>
                <a:gdLst>
                  <a:gd name="T0" fmla="*/ 318 w 370"/>
                  <a:gd name="T1" fmla="*/ 0 h 102"/>
                  <a:gd name="T2" fmla="*/ 50 w 370"/>
                  <a:gd name="T3" fmla="*/ 0 h 102"/>
                  <a:gd name="T4" fmla="*/ 0 w 370"/>
                  <a:gd name="T5" fmla="*/ 50 h 102"/>
                  <a:gd name="T6" fmla="*/ 50 w 370"/>
                  <a:gd name="T7" fmla="*/ 101 h 102"/>
                  <a:gd name="T8" fmla="*/ 318 w 370"/>
                  <a:gd name="T9" fmla="*/ 101 h 102"/>
                  <a:gd name="T10" fmla="*/ 369 w 370"/>
                  <a:gd name="T11" fmla="*/ 50 h 102"/>
                  <a:gd name="T12" fmla="*/ 318 w 370"/>
                  <a:gd name="T13" fmla="*/ 0 h 102"/>
                </a:gdLst>
                <a:ahLst/>
                <a:cxnLst>
                  <a:cxn ang="0">
                    <a:pos x="T0" y="T1"/>
                  </a:cxn>
                  <a:cxn ang="0">
                    <a:pos x="T2" y="T3"/>
                  </a:cxn>
                  <a:cxn ang="0">
                    <a:pos x="T4" y="T5"/>
                  </a:cxn>
                  <a:cxn ang="0">
                    <a:pos x="T6" y="T7"/>
                  </a:cxn>
                  <a:cxn ang="0">
                    <a:pos x="T8" y="T9"/>
                  </a:cxn>
                  <a:cxn ang="0">
                    <a:pos x="T10" y="T11"/>
                  </a:cxn>
                  <a:cxn ang="0">
                    <a:pos x="T12" y="T13"/>
                  </a:cxn>
                </a:cxnLst>
                <a:rect l="0" t="0" r="r" b="b"/>
                <a:pathLst>
                  <a:path w="370" h="102">
                    <a:moveTo>
                      <a:pt x="318" y="0"/>
                    </a:moveTo>
                    <a:cubicBezTo>
                      <a:pt x="312" y="0"/>
                      <a:pt x="57" y="0"/>
                      <a:pt x="50" y="0"/>
                    </a:cubicBezTo>
                    <a:cubicBezTo>
                      <a:pt x="22" y="0"/>
                      <a:pt x="0" y="23"/>
                      <a:pt x="0" y="50"/>
                    </a:cubicBezTo>
                    <a:cubicBezTo>
                      <a:pt x="0" y="78"/>
                      <a:pt x="22" y="101"/>
                      <a:pt x="50" y="101"/>
                    </a:cubicBezTo>
                    <a:cubicBezTo>
                      <a:pt x="57" y="101"/>
                      <a:pt x="312" y="101"/>
                      <a:pt x="318" y="101"/>
                    </a:cubicBezTo>
                    <a:cubicBezTo>
                      <a:pt x="346" y="101"/>
                      <a:pt x="369" y="78"/>
                      <a:pt x="369" y="50"/>
                    </a:cubicBezTo>
                    <a:cubicBezTo>
                      <a:pt x="369" y="23"/>
                      <a:pt x="346" y="0"/>
                      <a:pt x="318" y="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grpSp>
      </p:grpSp>
      <p:sp>
        <p:nvSpPr>
          <p:cNvPr id="120" name="Rectangle 119">
            <a:extLst>
              <a:ext uri="{FF2B5EF4-FFF2-40B4-BE49-F238E27FC236}">
                <a16:creationId xmlns:a16="http://schemas.microsoft.com/office/drawing/2014/main" id="{AAF858A2-4B1B-F278-7E22-EE242C574089}"/>
              </a:ext>
            </a:extLst>
          </p:cNvPr>
          <p:cNvSpPr/>
          <p:nvPr/>
        </p:nvSpPr>
        <p:spPr>
          <a:xfrm>
            <a:off x="405965" y="8512548"/>
            <a:ext cx="4722998" cy="9087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12750" hangingPunct="0">
              <a:lnSpc>
                <a:spcPct val="80000"/>
              </a:lnSpc>
              <a:defRPr/>
            </a:pPr>
            <a:r>
              <a:rPr lang="en-GB" sz="3200" kern="0" spc="-26">
                <a:solidFill>
                  <a:schemeClr val="tx1"/>
                </a:solidFill>
                <a:latin typeface="+mj-lt"/>
                <a:cs typeface="Arial" charset="0"/>
                <a:sym typeface="Khand Semibold"/>
              </a:rPr>
              <a:t>Application Profiling</a:t>
            </a:r>
          </a:p>
        </p:txBody>
      </p:sp>
      <p:grpSp>
        <p:nvGrpSpPr>
          <p:cNvPr id="121" name="Group 120">
            <a:extLst>
              <a:ext uri="{FF2B5EF4-FFF2-40B4-BE49-F238E27FC236}">
                <a16:creationId xmlns:a16="http://schemas.microsoft.com/office/drawing/2014/main" id="{C14DC2B6-4CE2-0903-1F2F-B919F7460ADB}"/>
              </a:ext>
            </a:extLst>
          </p:cNvPr>
          <p:cNvGrpSpPr/>
          <p:nvPr/>
        </p:nvGrpSpPr>
        <p:grpSpPr>
          <a:xfrm>
            <a:off x="2159752" y="10073002"/>
            <a:ext cx="1215424" cy="1215424"/>
            <a:chOff x="4709834" y="2156578"/>
            <a:chExt cx="788068" cy="788067"/>
          </a:xfrm>
        </p:grpSpPr>
        <p:sp>
          <p:nvSpPr>
            <p:cNvPr id="122" name="Freeform 55">
              <a:extLst>
                <a:ext uri="{FF2B5EF4-FFF2-40B4-BE49-F238E27FC236}">
                  <a16:creationId xmlns:a16="http://schemas.microsoft.com/office/drawing/2014/main" id="{8488D804-AFC9-45AF-6832-7E5056869988}"/>
                </a:ext>
              </a:extLst>
            </p:cNvPr>
            <p:cNvSpPr>
              <a:spLocks noChangeArrowheads="1"/>
            </p:cNvSpPr>
            <p:nvPr/>
          </p:nvSpPr>
          <p:spPr bwMode="auto">
            <a:xfrm>
              <a:off x="4709834" y="2156578"/>
              <a:ext cx="788068" cy="788067"/>
            </a:xfrm>
            <a:custGeom>
              <a:avLst/>
              <a:gdLst>
                <a:gd name="T0" fmla="*/ 283 w 1751"/>
                <a:gd name="T1" fmla="*/ 1750 h 1751"/>
                <a:gd name="T2" fmla="*/ 0 w 1751"/>
                <a:gd name="T3" fmla="*/ 1468 h 1751"/>
                <a:gd name="T4" fmla="*/ 0 w 1751"/>
                <a:gd name="T5" fmla="*/ 282 h 1751"/>
                <a:gd name="T6" fmla="*/ 283 w 1751"/>
                <a:gd name="T7" fmla="*/ 0 h 1751"/>
                <a:gd name="T8" fmla="*/ 1468 w 1751"/>
                <a:gd name="T9" fmla="*/ 0 h 1751"/>
                <a:gd name="T10" fmla="*/ 1750 w 1751"/>
                <a:gd name="T11" fmla="*/ 282 h 1751"/>
                <a:gd name="T12" fmla="*/ 1750 w 1751"/>
                <a:gd name="T13" fmla="*/ 1468 h 1751"/>
                <a:gd name="T14" fmla="*/ 1468 w 1751"/>
                <a:gd name="T15" fmla="*/ 1750 h 1751"/>
                <a:gd name="T16" fmla="*/ 283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3" y="1750"/>
                  </a:moveTo>
                  <a:cubicBezTo>
                    <a:pt x="127" y="1750"/>
                    <a:pt x="0" y="1623"/>
                    <a:pt x="0" y="1468"/>
                  </a:cubicBezTo>
                  <a:cubicBezTo>
                    <a:pt x="0" y="1072"/>
                    <a:pt x="0" y="677"/>
                    <a:pt x="0" y="282"/>
                  </a:cubicBezTo>
                  <a:cubicBezTo>
                    <a:pt x="0" y="127"/>
                    <a:pt x="127" y="0"/>
                    <a:pt x="283" y="0"/>
                  </a:cubicBezTo>
                  <a:cubicBezTo>
                    <a:pt x="678" y="0"/>
                    <a:pt x="1073" y="0"/>
                    <a:pt x="1468" y="0"/>
                  </a:cubicBezTo>
                  <a:cubicBezTo>
                    <a:pt x="1623" y="0"/>
                    <a:pt x="1750" y="127"/>
                    <a:pt x="1750" y="282"/>
                  </a:cubicBezTo>
                  <a:cubicBezTo>
                    <a:pt x="1750" y="677"/>
                    <a:pt x="1750" y="1072"/>
                    <a:pt x="1750" y="1468"/>
                  </a:cubicBezTo>
                  <a:cubicBezTo>
                    <a:pt x="1750" y="1623"/>
                    <a:pt x="1623" y="1750"/>
                    <a:pt x="1468" y="1750"/>
                  </a:cubicBezTo>
                  <a:cubicBezTo>
                    <a:pt x="1073" y="1750"/>
                    <a:pt x="678" y="1750"/>
                    <a:pt x="283" y="1750"/>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grpSp>
          <p:nvGrpSpPr>
            <p:cNvPr id="123" name="Group 122">
              <a:extLst>
                <a:ext uri="{FF2B5EF4-FFF2-40B4-BE49-F238E27FC236}">
                  <a16:creationId xmlns:a16="http://schemas.microsoft.com/office/drawing/2014/main" id="{783A79BB-B6D8-2D62-BD7A-7F00D3EF9EB3}"/>
                </a:ext>
              </a:extLst>
            </p:cNvPr>
            <p:cNvGrpSpPr/>
            <p:nvPr/>
          </p:nvGrpSpPr>
          <p:grpSpPr>
            <a:xfrm>
              <a:off x="4856728" y="2339203"/>
              <a:ext cx="482369" cy="430757"/>
              <a:chOff x="4856728" y="2339203"/>
              <a:chExt cx="482369" cy="430757"/>
            </a:xfrm>
          </p:grpSpPr>
          <p:sp>
            <p:nvSpPr>
              <p:cNvPr id="124" name="Freeform 56">
                <a:extLst>
                  <a:ext uri="{FF2B5EF4-FFF2-40B4-BE49-F238E27FC236}">
                    <a16:creationId xmlns:a16="http://schemas.microsoft.com/office/drawing/2014/main" id="{C21093FB-0429-1821-5FB2-4F1F91B408BF}"/>
                  </a:ext>
                </a:extLst>
              </p:cNvPr>
              <p:cNvSpPr>
                <a:spLocks noChangeArrowheads="1"/>
              </p:cNvSpPr>
              <p:nvPr/>
            </p:nvSpPr>
            <p:spPr bwMode="auto">
              <a:xfrm>
                <a:off x="4856728" y="2339203"/>
                <a:ext cx="450608" cy="430757"/>
              </a:xfrm>
              <a:custGeom>
                <a:avLst/>
                <a:gdLst>
                  <a:gd name="T0" fmla="*/ 404 w 1002"/>
                  <a:gd name="T1" fmla="*/ 87 h 958"/>
                  <a:gd name="T2" fmla="*/ 559 w 1002"/>
                  <a:gd name="T3" fmla="*/ 71 h 958"/>
                  <a:gd name="T4" fmla="*/ 412 w 1002"/>
                  <a:gd name="T5" fmla="*/ 0 h 958"/>
                  <a:gd name="T6" fmla="*/ 281 w 1002"/>
                  <a:gd name="T7" fmla="*/ 54 h 958"/>
                  <a:gd name="T8" fmla="*/ 157 w 1002"/>
                  <a:gd name="T9" fmla="*/ 178 h 958"/>
                  <a:gd name="T10" fmla="*/ 145 w 1002"/>
                  <a:gd name="T11" fmla="*/ 215 h 958"/>
                  <a:gd name="T12" fmla="*/ 146 w 1002"/>
                  <a:gd name="T13" fmla="*/ 217 h 958"/>
                  <a:gd name="T14" fmla="*/ 60 w 1002"/>
                  <a:gd name="T15" fmla="*/ 302 h 958"/>
                  <a:gd name="T16" fmla="*/ 59 w 1002"/>
                  <a:gd name="T17" fmla="*/ 302 h 958"/>
                  <a:gd name="T18" fmla="*/ 22 w 1002"/>
                  <a:gd name="T19" fmla="*/ 314 h 958"/>
                  <a:gd name="T20" fmla="*/ 8 w 1002"/>
                  <a:gd name="T21" fmla="*/ 327 h 958"/>
                  <a:gd name="T22" fmla="*/ 8 w 1002"/>
                  <a:gd name="T23" fmla="*/ 357 h 958"/>
                  <a:gd name="T24" fmla="*/ 125 w 1002"/>
                  <a:gd name="T25" fmla="*/ 474 h 958"/>
                  <a:gd name="T26" fmla="*/ 156 w 1002"/>
                  <a:gd name="T27" fmla="*/ 474 h 958"/>
                  <a:gd name="T28" fmla="*/ 169 w 1002"/>
                  <a:gd name="T29" fmla="*/ 461 h 958"/>
                  <a:gd name="T30" fmla="*/ 181 w 1002"/>
                  <a:gd name="T31" fmla="*/ 423 h 958"/>
                  <a:gd name="T32" fmla="*/ 307 w 1002"/>
                  <a:gd name="T33" fmla="*/ 359 h 958"/>
                  <a:gd name="T34" fmla="*/ 800 w 1002"/>
                  <a:gd name="T35" fmla="*/ 901 h 958"/>
                  <a:gd name="T36" fmla="*/ 957 w 1002"/>
                  <a:gd name="T37" fmla="*/ 911 h 958"/>
                  <a:gd name="T38" fmla="*/ 947 w 1002"/>
                  <a:gd name="T39" fmla="*/ 754 h 958"/>
                  <a:gd name="T40" fmla="*/ 404 w 1002"/>
                  <a:gd name="T41" fmla="*/ 260 h 958"/>
                  <a:gd name="T42" fmla="*/ 404 w 1002"/>
                  <a:gd name="T43" fmla="*/ 87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2" h="958">
                    <a:moveTo>
                      <a:pt x="404" y="87"/>
                    </a:moveTo>
                    <a:cubicBezTo>
                      <a:pt x="447" y="44"/>
                      <a:pt x="522" y="29"/>
                      <a:pt x="559" y="71"/>
                    </a:cubicBezTo>
                    <a:cubicBezTo>
                      <a:pt x="552" y="63"/>
                      <a:pt x="505" y="0"/>
                      <a:pt x="412" y="0"/>
                    </a:cubicBezTo>
                    <a:cubicBezTo>
                      <a:pt x="362" y="0"/>
                      <a:pt x="316" y="19"/>
                      <a:pt x="281" y="54"/>
                    </a:cubicBezTo>
                    <a:cubicBezTo>
                      <a:pt x="239" y="95"/>
                      <a:pt x="198" y="136"/>
                      <a:pt x="157" y="178"/>
                    </a:cubicBezTo>
                    <a:cubicBezTo>
                      <a:pt x="147" y="188"/>
                      <a:pt x="143" y="202"/>
                      <a:pt x="145" y="215"/>
                    </a:cubicBezTo>
                    <a:cubicBezTo>
                      <a:pt x="145" y="215"/>
                      <a:pt x="145" y="216"/>
                      <a:pt x="146" y="217"/>
                    </a:cubicBezTo>
                    <a:cubicBezTo>
                      <a:pt x="153" y="264"/>
                      <a:pt x="108" y="310"/>
                      <a:pt x="60" y="302"/>
                    </a:cubicBezTo>
                    <a:cubicBezTo>
                      <a:pt x="59" y="302"/>
                      <a:pt x="59" y="302"/>
                      <a:pt x="59" y="302"/>
                    </a:cubicBezTo>
                    <a:cubicBezTo>
                      <a:pt x="45" y="300"/>
                      <a:pt x="31" y="304"/>
                      <a:pt x="22" y="314"/>
                    </a:cubicBezTo>
                    <a:cubicBezTo>
                      <a:pt x="17" y="318"/>
                      <a:pt x="12" y="322"/>
                      <a:pt x="8" y="327"/>
                    </a:cubicBezTo>
                    <a:cubicBezTo>
                      <a:pt x="0" y="335"/>
                      <a:pt x="0" y="349"/>
                      <a:pt x="8" y="357"/>
                    </a:cubicBezTo>
                    <a:cubicBezTo>
                      <a:pt x="47" y="396"/>
                      <a:pt x="86" y="435"/>
                      <a:pt x="125" y="474"/>
                    </a:cubicBezTo>
                    <a:cubicBezTo>
                      <a:pt x="134" y="483"/>
                      <a:pt x="147" y="483"/>
                      <a:pt x="156" y="474"/>
                    </a:cubicBezTo>
                    <a:cubicBezTo>
                      <a:pt x="160" y="470"/>
                      <a:pt x="165" y="465"/>
                      <a:pt x="169" y="461"/>
                    </a:cubicBezTo>
                    <a:cubicBezTo>
                      <a:pt x="179" y="451"/>
                      <a:pt x="183" y="437"/>
                      <a:pt x="181" y="423"/>
                    </a:cubicBezTo>
                    <a:cubicBezTo>
                      <a:pt x="169" y="361"/>
                      <a:pt x="251" y="303"/>
                      <a:pt x="307" y="359"/>
                    </a:cubicBezTo>
                    <a:cubicBezTo>
                      <a:pt x="471" y="539"/>
                      <a:pt x="635" y="720"/>
                      <a:pt x="800" y="901"/>
                    </a:cubicBezTo>
                    <a:cubicBezTo>
                      <a:pt x="843" y="949"/>
                      <a:pt x="911" y="957"/>
                      <a:pt x="957" y="911"/>
                    </a:cubicBezTo>
                    <a:cubicBezTo>
                      <a:pt x="1001" y="867"/>
                      <a:pt x="998" y="800"/>
                      <a:pt x="947" y="754"/>
                    </a:cubicBezTo>
                    <a:cubicBezTo>
                      <a:pt x="766" y="589"/>
                      <a:pt x="585" y="424"/>
                      <a:pt x="404" y="260"/>
                    </a:cubicBezTo>
                    <a:cubicBezTo>
                      <a:pt x="357" y="212"/>
                      <a:pt x="357" y="135"/>
                      <a:pt x="404" y="87"/>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sp>
            <p:nvSpPr>
              <p:cNvPr id="125" name="Freeform 57">
                <a:extLst>
                  <a:ext uri="{FF2B5EF4-FFF2-40B4-BE49-F238E27FC236}">
                    <a16:creationId xmlns:a16="http://schemas.microsoft.com/office/drawing/2014/main" id="{091E7F6E-A010-E12C-7680-DEF7BF0CC1EA}"/>
                  </a:ext>
                </a:extLst>
              </p:cNvPr>
              <p:cNvSpPr>
                <a:spLocks noChangeArrowheads="1"/>
              </p:cNvSpPr>
              <p:nvPr/>
            </p:nvSpPr>
            <p:spPr bwMode="auto">
              <a:xfrm>
                <a:off x="4920250" y="2573440"/>
                <a:ext cx="194536" cy="196520"/>
              </a:xfrm>
              <a:custGeom>
                <a:avLst/>
                <a:gdLst>
                  <a:gd name="T0" fmla="*/ 311 w 432"/>
                  <a:gd name="T1" fmla="*/ 0 h 437"/>
                  <a:gd name="T2" fmla="*/ 53 w 432"/>
                  <a:gd name="T3" fmla="*/ 235 h 437"/>
                  <a:gd name="T4" fmla="*/ 43 w 432"/>
                  <a:gd name="T5" fmla="*/ 393 h 437"/>
                  <a:gd name="T6" fmla="*/ 202 w 432"/>
                  <a:gd name="T7" fmla="*/ 383 h 437"/>
                  <a:gd name="T8" fmla="*/ 431 w 432"/>
                  <a:gd name="T9" fmla="*/ 131 h 437"/>
                </a:gdLst>
                <a:ahLst/>
                <a:cxnLst>
                  <a:cxn ang="0">
                    <a:pos x="T0" y="T1"/>
                  </a:cxn>
                  <a:cxn ang="0">
                    <a:pos x="T2" y="T3"/>
                  </a:cxn>
                  <a:cxn ang="0">
                    <a:pos x="T4" y="T5"/>
                  </a:cxn>
                  <a:cxn ang="0">
                    <a:pos x="T6" y="T7"/>
                  </a:cxn>
                  <a:cxn ang="0">
                    <a:pos x="T8" y="T9"/>
                  </a:cxn>
                </a:cxnLst>
                <a:rect l="0" t="0" r="r" b="b"/>
                <a:pathLst>
                  <a:path w="432" h="437">
                    <a:moveTo>
                      <a:pt x="311" y="0"/>
                    </a:moveTo>
                    <a:cubicBezTo>
                      <a:pt x="225" y="78"/>
                      <a:pt x="139" y="156"/>
                      <a:pt x="53" y="235"/>
                    </a:cubicBezTo>
                    <a:cubicBezTo>
                      <a:pt x="2" y="281"/>
                      <a:pt x="0" y="349"/>
                      <a:pt x="43" y="393"/>
                    </a:cubicBezTo>
                    <a:cubicBezTo>
                      <a:pt x="87" y="436"/>
                      <a:pt x="155" y="434"/>
                      <a:pt x="202" y="383"/>
                    </a:cubicBezTo>
                    <a:cubicBezTo>
                      <a:pt x="278" y="299"/>
                      <a:pt x="354" y="215"/>
                      <a:pt x="431" y="131"/>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sp>
            <p:nvSpPr>
              <p:cNvPr id="126" name="Freeform 58">
                <a:extLst>
                  <a:ext uri="{FF2B5EF4-FFF2-40B4-BE49-F238E27FC236}">
                    <a16:creationId xmlns:a16="http://schemas.microsoft.com/office/drawing/2014/main" id="{80BBAA65-F261-0CFA-E686-0B1B08F8D182}"/>
                  </a:ext>
                </a:extLst>
              </p:cNvPr>
              <p:cNvSpPr>
                <a:spLocks noChangeArrowheads="1"/>
              </p:cNvSpPr>
              <p:nvPr/>
            </p:nvSpPr>
            <p:spPr bwMode="auto">
              <a:xfrm>
                <a:off x="5114785" y="2351114"/>
                <a:ext cx="224312" cy="222326"/>
              </a:xfrm>
              <a:custGeom>
                <a:avLst/>
                <a:gdLst>
                  <a:gd name="T0" fmla="*/ 119 w 500"/>
                  <a:gd name="T1" fmla="*/ 495 h 496"/>
                  <a:gd name="T2" fmla="*/ 180 w 500"/>
                  <a:gd name="T3" fmla="*/ 428 h 496"/>
                  <a:gd name="T4" fmla="*/ 224 w 500"/>
                  <a:gd name="T5" fmla="*/ 416 h 496"/>
                  <a:gd name="T6" fmla="*/ 430 w 500"/>
                  <a:gd name="T7" fmla="*/ 364 h 496"/>
                  <a:gd name="T8" fmla="*/ 485 w 500"/>
                  <a:gd name="T9" fmla="*/ 179 h 496"/>
                  <a:gd name="T10" fmla="*/ 466 w 500"/>
                  <a:gd name="T11" fmla="*/ 157 h 496"/>
                  <a:gd name="T12" fmla="*/ 438 w 500"/>
                  <a:gd name="T13" fmla="*/ 164 h 496"/>
                  <a:gd name="T14" fmla="*/ 351 w 500"/>
                  <a:gd name="T15" fmla="*/ 251 h 496"/>
                  <a:gd name="T16" fmla="*/ 247 w 500"/>
                  <a:gd name="T17" fmla="*/ 251 h 496"/>
                  <a:gd name="T18" fmla="*/ 247 w 500"/>
                  <a:gd name="T19" fmla="*/ 147 h 496"/>
                  <a:gd name="T20" fmla="*/ 334 w 500"/>
                  <a:gd name="T21" fmla="*/ 60 h 496"/>
                  <a:gd name="T22" fmla="*/ 341 w 500"/>
                  <a:gd name="T23" fmla="*/ 32 h 496"/>
                  <a:gd name="T24" fmla="*/ 319 w 500"/>
                  <a:gd name="T25" fmla="*/ 13 h 496"/>
                  <a:gd name="T26" fmla="*/ 134 w 500"/>
                  <a:gd name="T27" fmla="*/ 68 h 496"/>
                  <a:gd name="T28" fmla="*/ 83 w 500"/>
                  <a:gd name="T29" fmla="*/ 277 h 496"/>
                  <a:gd name="T30" fmla="*/ 71 w 500"/>
                  <a:gd name="T31" fmla="*/ 321 h 496"/>
                  <a:gd name="T32" fmla="*/ 0 w 500"/>
                  <a:gd name="T33" fmla="*/ 38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0" h="496">
                    <a:moveTo>
                      <a:pt x="119" y="495"/>
                    </a:moveTo>
                    <a:cubicBezTo>
                      <a:pt x="139" y="472"/>
                      <a:pt x="159" y="450"/>
                      <a:pt x="180" y="428"/>
                    </a:cubicBezTo>
                    <a:cubicBezTo>
                      <a:pt x="191" y="416"/>
                      <a:pt x="208" y="411"/>
                      <a:pt x="224" y="416"/>
                    </a:cubicBezTo>
                    <a:cubicBezTo>
                      <a:pt x="294" y="437"/>
                      <a:pt x="374" y="420"/>
                      <a:pt x="430" y="364"/>
                    </a:cubicBezTo>
                    <a:cubicBezTo>
                      <a:pt x="480" y="313"/>
                      <a:pt x="499" y="243"/>
                      <a:pt x="485" y="179"/>
                    </a:cubicBezTo>
                    <a:cubicBezTo>
                      <a:pt x="483" y="169"/>
                      <a:pt x="476" y="160"/>
                      <a:pt x="466" y="157"/>
                    </a:cubicBezTo>
                    <a:cubicBezTo>
                      <a:pt x="456" y="154"/>
                      <a:pt x="445" y="157"/>
                      <a:pt x="438" y="164"/>
                    </a:cubicBezTo>
                    <a:cubicBezTo>
                      <a:pt x="420" y="183"/>
                      <a:pt x="392" y="210"/>
                      <a:pt x="351" y="251"/>
                    </a:cubicBezTo>
                    <a:cubicBezTo>
                      <a:pt x="323" y="280"/>
                      <a:pt x="276" y="280"/>
                      <a:pt x="247" y="251"/>
                    </a:cubicBezTo>
                    <a:cubicBezTo>
                      <a:pt x="219" y="222"/>
                      <a:pt x="219" y="175"/>
                      <a:pt x="247" y="147"/>
                    </a:cubicBezTo>
                    <a:cubicBezTo>
                      <a:pt x="276" y="118"/>
                      <a:pt x="305" y="89"/>
                      <a:pt x="334" y="60"/>
                    </a:cubicBezTo>
                    <a:cubicBezTo>
                      <a:pt x="341" y="53"/>
                      <a:pt x="344" y="42"/>
                      <a:pt x="341" y="32"/>
                    </a:cubicBezTo>
                    <a:cubicBezTo>
                      <a:pt x="338" y="22"/>
                      <a:pt x="329" y="15"/>
                      <a:pt x="319" y="13"/>
                    </a:cubicBezTo>
                    <a:cubicBezTo>
                      <a:pt x="255" y="0"/>
                      <a:pt x="185" y="18"/>
                      <a:pt x="134" y="68"/>
                    </a:cubicBezTo>
                    <a:cubicBezTo>
                      <a:pt x="78" y="125"/>
                      <a:pt x="61" y="206"/>
                      <a:pt x="83" y="277"/>
                    </a:cubicBezTo>
                    <a:cubicBezTo>
                      <a:pt x="88" y="293"/>
                      <a:pt x="83" y="310"/>
                      <a:pt x="71" y="321"/>
                    </a:cubicBezTo>
                    <a:cubicBezTo>
                      <a:pt x="57" y="334"/>
                      <a:pt x="35" y="354"/>
                      <a:pt x="0" y="386"/>
                    </a:cubicBezTo>
                  </a:path>
                </a:pathLst>
              </a:custGeom>
              <a:noFill/>
              <a:ln w="12700"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200">
                  <a:latin typeface="+mj-lt"/>
                </a:endParaRPr>
              </a:p>
            </p:txBody>
          </p:sp>
        </p:grpSp>
      </p:grpSp>
      <p:sp>
        <p:nvSpPr>
          <p:cNvPr id="127" name="Rectangle 126">
            <a:extLst>
              <a:ext uri="{FF2B5EF4-FFF2-40B4-BE49-F238E27FC236}">
                <a16:creationId xmlns:a16="http://schemas.microsoft.com/office/drawing/2014/main" id="{C8627C5D-7623-AECB-B7C1-C4252E1EAB9A}"/>
              </a:ext>
            </a:extLst>
          </p:cNvPr>
          <p:cNvSpPr/>
          <p:nvPr/>
        </p:nvSpPr>
        <p:spPr>
          <a:xfrm>
            <a:off x="405965" y="11432138"/>
            <a:ext cx="4722998" cy="908708"/>
          </a:xfrm>
          <a:prstGeom prst="rect">
            <a:avLst/>
          </a:prstGeom>
          <a:noFill/>
          <a:ln w="31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12750" hangingPunct="0">
              <a:lnSpc>
                <a:spcPct val="80000"/>
              </a:lnSpc>
              <a:defRPr/>
            </a:pPr>
            <a:r>
              <a:rPr lang="en-GB" sz="3200" kern="0" spc="-26">
                <a:solidFill>
                  <a:schemeClr val="tx1"/>
                </a:solidFill>
                <a:latin typeface="+mj-lt"/>
                <a:cs typeface="Arial" charset="0"/>
                <a:sym typeface="Khand Semibold"/>
              </a:rPr>
              <a:t>Infrastructure Discovery</a:t>
            </a:r>
          </a:p>
        </p:txBody>
      </p:sp>
      <p:grpSp>
        <p:nvGrpSpPr>
          <p:cNvPr id="128" name="Group 127">
            <a:extLst>
              <a:ext uri="{FF2B5EF4-FFF2-40B4-BE49-F238E27FC236}">
                <a16:creationId xmlns:a16="http://schemas.microsoft.com/office/drawing/2014/main" id="{1B906114-DE2B-836D-69AA-BA56D07B4246}"/>
              </a:ext>
            </a:extLst>
          </p:cNvPr>
          <p:cNvGrpSpPr/>
          <p:nvPr/>
        </p:nvGrpSpPr>
        <p:grpSpPr>
          <a:xfrm>
            <a:off x="405965" y="6688301"/>
            <a:ext cx="12923954" cy="2952122"/>
            <a:chOff x="148233" y="3432930"/>
            <a:chExt cx="3568276" cy="1476061"/>
          </a:xfrm>
        </p:grpSpPr>
        <p:cxnSp>
          <p:nvCxnSpPr>
            <p:cNvPr id="129" name="Straight Connector 128">
              <a:extLst>
                <a:ext uri="{FF2B5EF4-FFF2-40B4-BE49-F238E27FC236}">
                  <a16:creationId xmlns:a16="http://schemas.microsoft.com/office/drawing/2014/main" id="{CF63FAC5-14F2-8A86-08DD-565559339FED}"/>
                </a:ext>
              </a:extLst>
            </p:cNvPr>
            <p:cNvCxnSpPr>
              <a:cxnSpLocks/>
            </p:cNvCxnSpPr>
            <p:nvPr/>
          </p:nvCxnSpPr>
          <p:spPr>
            <a:xfrm rot="16200000">
              <a:off x="1924765" y="3117247"/>
              <a:ext cx="15213" cy="3568275"/>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82E26FC0-8551-1A66-E328-03C5871472BC}"/>
                </a:ext>
              </a:extLst>
            </p:cNvPr>
            <p:cNvCxnSpPr>
              <a:cxnSpLocks/>
            </p:cNvCxnSpPr>
            <p:nvPr/>
          </p:nvCxnSpPr>
          <p:spPr>
            <a:xfrm rot="16200000">
              <a:off x="1924764" y="1656399"/>
              <a:ext cx="15213" cy="3568275"/>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131" name="Text Placeholder 2">
            <a:extLst>
              <a:ext uri="{FF2B5EF4-FFF2-40B4-BE49-F238E27FC236}">
                <a16:creationId xmlns:a16="http://schemas.microsoft.com/office/drawing/2014/main" id="{C0251147-B199-82F4-E3AD-D29AC72AACED}"/>
              </a:ext>
            </a:extLst>
          </p:cNvPr>
          <p:cNvSpPr txBox="1">
            <a:spLocks/>
          </p:cNvSpPr>
          <p:nvPr/>
        </p:nvSpPr>
        <p:spPr>
          <a:xfrm>
            <a:off x="15913181" y="5640408"/>
            <a:ext cx="8285870" cy="7136548"/>
          </a:xfrm>
          <a:prstGeom prst="rect">
            <a:avLst/>
          </a:prstGeom>
        </p:spPr>
        <p:txBody>
          <a:bodyPr/>
          <a:lstStyle>
            <a:lvl1pPr marL="142875" indent="-142875"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1pPr>
            <a:lvl2pPr marL="428625" indent="-145257"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2pPr>
            <a:lvl3pPr marL="714375" indent="-147638"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3pPr>
            <a:lvl4pPr marL="1000125" indent="-150019"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4pPr>
            <a:lvl5pPr marL="1285875" indent="-152400"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4764" defTabSz="1828800">
              <a:spcAft>
                <a:spcPts val="4800"/>
              </a:spcAft>
              <a:buClr>
                <a:srgbClr val="EB0000"/>
              </a:buClr>
              <a:buNone/>
              <a:defRPr/>
            </a:pPr>
            <a:r>
              <a:rPr lang="en-GB" sz="2800">
                <a:latin typeface="+mj-lt"/>
              </a:rPr>
              <a:t>Defined Migration Scope</a:t>
            </a:r>
          </a:p>
          <a:p>
            <a:pPr marL="0" indent="-4764" defTabSz="1828800">
              <a:spcAft>
                <a:spcPts val="4800"/>
              </a:spcAft>
              <a:buClr>
                <a:srgbClr val="EB0000"/>
              </a:buClr>
              <a:buNone/>
              <a:defRPr/>
            </a:pPr>
            <a:r>
              <a:rPr lang="en-GB" sz="2800">
                <a:latin typeface="+mj-lt"/>
              </a:rPr>
              <a:t>Complexity Classification per Application</a:t>
            </a:r>
          </a:p>
          <a:p>
            <a:pPr marL="0" indent="-4764" defTabSz="1828800">
              <a:spcAft>
                <a:spcPts val="4800"/>
              </a:spcAft>
              <a:buClr>
                <a:srgbClr val="EB0000"/>
              </a:buClr>
              <a:buNone/>
              <a:defRPr/>
            </a:pPr>
            <a:r>
              <a:rPr lang="en-GB" sz="2800">
                <a:latin typeface="+mj-lt"/>
              </a:rPr>
              <a:t>Application Profile</a:t>
            </a:r>
          </a:p>
          <a:p>
            <a:pPr marL="0" indent="-4764" defTabSz="1828800">
              <a:spcAft>
                <a:spcPts val="4800"/>
              </a:spcAft>
              <a:buClr>
                <a:srgbClr val="EB0000"/>
              </a:buClr>
              <a:buNone/>
              <a:defRPr/>
            </a:pPr>
            <a:r>
              <a:rPr lang="en-GB" sz="2800">
                <a:latin typeface="+mj-lt"/>
              </a:rPr>
              <a:t>Indicative Migration Strategy per Application</a:t>
            </a:r>
          </a:p>
          <a:p>
            <a:pPr marL="0" indent="-4764" defTabSz="1828800">
              <a:spcAft>
                <a:spcPts val="4800"/>
              </a:spcAft>
              <a:buClr>
                <a:srgbClr val="EB0000"/>
              </a:buClr>
              <a:buNone/>
              <a:defRPr/>
            </a:pPr>
            <a:r>
              <a:rPr lang="en-GB" sz="2800">
                <a:latin typeface="+mj-lt"/>
              </a:rPr>
              <a:t>High Level Release Plan</a:t>
            </a:r>
          </a:p>
          <a:p>
            <a:pPr marL="0" indent="-4764" defTabSz="1828800">
              <a:spcAft>
                <a:spcPts val="4800"/>
              </a:spcAft>
              <a:buClr>
                <a:srgbClr val="EB0000"/>
              </a:buClr>
              <a:buNone/>
              <a:defRPr/>
            </a:pPr>
            <a:r>
              <a:rPr lang="en-GB" sz="2800">
                <a:latin typeface="+mj-lt"/>
              </a:rPr>
              <a:t>Estimated Cost of Migration &amp; Operation</a:t>
            </a:r>
          </a:p>
        </p:txBody>
      </p:sp>
      <p:grpSp>
        <p:nvGrpSpPr>
          <p:cNvPr id="132" name="Group 131">
            <a:extLst>
              <a:ext uri="{FF2B5EF4-FFF2-40B4-BE49-F238E27FC236}">
                <a16:creationId xmlns:a16="http://schemas.microsoft.com/office/drawing/2014/main" id="{272F4072-5BB1-CEBE-8BAC-EE1A4A14039B}"/>
              </a:ext>
            </a:extLst>
          </p:cNvPr>
          <p:cNvGrpSpPr/>
          <p:nvPr/>
        </p:nvGrpSpPr>
        <p:grpSpPr>
          <a:xfrm>
            <a:off x="15017879" y="6673482"/>
            <a:ext cx="634638" cy="634636"/>
            <a:chOff x="6690921" y="3804176"/>
            <a:chExt cx="788068" cy="788067"/>
          </a:xfrm>
          <a:solidFill>
            <a:schemeClr val="bg1"/>
          </a:solidFill>
        </p:grpSpPr>
        <p:sp>
          <p:nvSpPr>
            <p:cNvPr id="133" name="Freeform 75">
              <a:extLst>
                <a:ext uri="{FF2B5EF4-FFF2-40B4-BE49-F238E27FC236}">
                  <a16:creationId xmlns:a16="http://schemas.microsoft.com/office/drawing/2014/main" id="{649A9E9A-BBFE-1948-B51E-0F18A192CF3B}"/>
                </a:ext>
              </a:extLst>
            </p:cNvPr>
            <p:cNvSpPr>
              <a:spLocks noChangeArrowheads="1"/>
            </p:cNvSpPr>
            <p:nvPr/>
          </p:nvSpPr>
          <p:spPr bwMode="auto">
            <a:xfrm>
              <a:off x="6690921" y="3804176"/>
              <a:ext cx="788068" cy="788067"/>
            </a:xfrm>
            <a:custGeom>
              <a:avLst/>
              <a:gdLst>
                <a:gd name="T0" fmla="*/ 282 w 1751"/>
                <a:gd name="T1" fmla="*/ 1750 h 1751"/>
                <a:gd name="T2" fmla="*/ 0 w 1751"/>
                <a:gd name="T3" fmla="*/ 1468 h 1751"/>
                <a:gd name="T4" fmla="*/ 0 w 1751"/>
                <a:gd name="T5" fmla="*/ 282 h 1751"/>
                <a:gd name="T6" fmla="*/ 282 w 1751"/>
                <a:gd name="T7" fmla="*/ 0 h 1751"/>
                <a:gd name="T8" fmla="*/ 1467 w 1751"/>
                <a:gd name="T9" fmla="*/ 0 h 1751"/>
                <a:gd name="T10" fmla="*/ 1750 w 1751"/>
                <a:gd name="T11" fmla="*/ 282 h 1751"/>
                <a:gd name="T12" fmla="*/ 1750 w 1751"/>
                <a:gd name="T13" fmla="*/ 1468 h 1751"/>
                <a:gd name="T14" fmla="*/ 1467 w 1751"/>
                <a:gd name="T15" fmla="*/ 1750 h 1751"/>
                <a:gd name="T16" fmla="*/ 282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2" y="1750"/>
                  </a:moveTo>
                  <a:cubicBezTo>
                    <a:pt x="127" y="1750"/>
                    <a:pt x="0" y="1623"/>
                    <a:pt x="0" y="1468"/>
                  </a:cubicBezTo>
                  <a:cubicBezTo>
                    <a:pt x="0" y="1073"/>
                    <a:pt x="0" y="678"/>
                    <a:pt x="0" y="282"/>
                  </a:cubicBezTo>
                  <a:cubicBezTo>
                    <a:pt x="0" y="127"/>
                    <a:pt x="127" y="0"/>
                    <a:pt x="282" y="0"/>
                  </a:cubicBezTo>
                  <a:cubicBezTo>
                    <a:pt x="677" y="0"/>
                    <a:pt x="1072" y="0"/>
                    <a:pt x="1467" y="0"/>
                  </a:cubicBezTo>
                  <a:cubicBezTo>
                    <a:pt x="1623" y="0"/>
                    <a:pt x="1750" y="127"/>
                    <a:pt x="1750" y="282"/>
                  </a:cubicBezTo>
                  <a:cubicBezTo>
                    <a:pt x="1750" y="678"/>
                    <a:pt x="1750" y="1073"/>
                    <a:pt x="1750" y="1468"/>
                  </a:cubicBezTo>
                  <a:cubicBezTo>
                    <a:pt x="1750" y="1623"/>
                    <a:pt x="1623" y="1750"/>
                    <a:pt x="1467" y="1750"/>
                  </a:cubicBezTo>
                  <a:cubicBezTo>
                    <a:pt x="1072" y="1750"/>
                    <a:pt x="677" y="1750"/>
                    <a:pt x="282" y="175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nvGrpSpPr>
            <p:cNvPr id="134" name="Group 133">
              <a:extLst>
                <a:ext uri="{FF2B5EF4-FFF2-40B4-BE49-F238E27FC236}">
                  <a16:creationId xmlns:a16="http://schemas.microsoft.com/office/drawing/2014/main" id="{5C680362-C6FC-EC98-3748-DB026359DF2D}"/>
                </a:ext>
              </a:extLst>
            </p:cNvPr>
            <p:cNvGrpSpPr/>
            <p:nvPr/>
          </p:nvGrpSpPr>
          <p:grpSpPr>
            <a:xfrm>
              <a:off x="6881486" y="3968935"/>
              <a:ext cx="406938" cy="432742"/>
              <a:chOff x="6881486" y="3968935"/>
              <a:chExt cx="406938" cy="432742"/>
            </a:xfrm>
            <a:grpFill/>
          </p:grpSpPr>
          <p:sp>
            <p:nvSpPr>
              <p:cNvPr id="135" name="Freeform 76">
                <a:extLst>
                  <a:ext uri="{FF2B5EF4-FFF2-40B4-BE49-F238E27FC236}">
                    <a16:creationId xmlns:a16="http://schemas.microsoft.com/office/drawing/2014/main" id="{42F2903F-0C81-0795-F373-9583E9EA870C}"/>
                  </a:ext>
                </a:extLst>
              </p:cNvPr>
              <p:cNvSpPr>
                <a:spLocks noChangeArrowheads="1"/>
              </p:cNvSpPr>
              <p:nvPr/>
            </p:nvSpPr>
            <p:spPr bwMode="auto">
              <a:xfrm>
                <a:off x="6881486" y="4133695"/>
                <a:ext cx="63522" cy="267982"/>
              </a:xfrm>
              <a:custGeom>
                <a:avLst/>
                <a:gdLst>
                  <a:gd name="T0" fmla="*/ 85 w 142"/>
                  <a:gd name="T1" fmla="*/ 593 h 594"/>
                  <a:gd name="T2" fmla="*/ 141 w 142"/>
                  <a:gd name="T3" fmla="*/ 536 h 594"/>
                  <a:gd name="T4" fmla="*/ 141 w 142"/>
                  <a:gd name="T5" fmla="*/ 56 h 594"/>
                  <a:gd name="T6" fmla="*/ 85 w 142"/>
                  <a:gd name="T7" fmla="*/ 0 h 594"/>
                  <a:gd name="T8" fmla="*/ 57 w 142"/>
                  <a:gd name="T9" fmla="*/ 0 h 594"/>
                  <a:gd name="T10" fmla="*/ 0 w 142"/>
                  <a:gd name="T11" fmla="*/ 56 h 594"/>
                  <a:gd name="T12" fmla="*/ 0 w 142"/>
                  <a:gd name="T13" fmla="*/ 536 h 594"/>
                  <a:gd name="T14" fmla="*/ 57 w 142"/>
                  <a:gd name="T15" fmla="*/ 593 h 594"/>
                  <a:gd name="T16" fmla="*/ 85 w 142"/>
                  <a:gd name="T17" fmla="*/ 593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594">
                    <a:moveTo>
                      <a:pt x="85" y="593"/>
                    </a:moveTo>
                    <a:cubicBezTo>
                      <a:pt x="116" y="593"/>
                      <a:pt x="141" y="567"/>
                      <a:pt x="141" y="536"/>
                    </a:cubicBezTo>
                    <a:cubicBezTo>
                      <a:pt x="141" y="376"/>
                      <a:pt x="141" y="216"/>
                      <a:pt x="141" y="56"/>
                    </a:cubicBezTo>
                    <a:cubicBezTo>
                      <a:pt x="141" y="25"/>
                      <a:pt x="116" y="0"/>
                      <a:pt x="85" y="0"/>
                    </a:cubicBezTo>
                    <a:cubicBezTo>
                      <a:pt x="76" y="0"/>
                      <a:pt x="67" y="0"/>
                      <a:pt x="57" y="0"/>
                    </a:cubicBezTo>
                    <a:cubicBezTo>
                      <a:pt x="26" y="0"/>
                      <a:pt x="0" y="25"/>
                      <a:pt x="0" y="56"/>
                    </a:cubicBezTo>
                    <a:cubicBezTo>
                      <a:pt x="0" y="216"/>
                      <a:pt x="0" y="376"/>
                      <a:pt x="0" y="536"/>
                    </a:cubicBezTo>
                    <a:cubicBezTo>
                      <a:pt x="0" y="567"/>
                      <a:pt x="26" y="593"/>
                      <a:pt x="57" y="593"/>
                    </a:cubicBezTo>
                    <a:cubicBezTo>
                      <a:pt x="67" y="593"/>
                      <a:pt x="76" y="593"/>
                      <a:pt x="85" y="593"/>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36" name="Freeform 77">
                <a:extLst>
                  <a:ext uri="{FF2B5EF4-FFF2-40B4-BE49-F238E27FC236}">
                    <a16:creationId xmlns:a16="http://schemas.microsoft.com/office/drawing/2014/main" id="{23CFCEF1-3AD9-83B9-0478-89361541C405}"/>
                  </a:ext>
                </a:extLst>
              </p:cNvPr>
              <p:cNvSpPr>
                <a:spLocks noChangeArrowheads="1"/>
              </p:cNvSpPr>
              <p:nvPr/>
            </p:nvSpPr>
            <p:spPr bwMode="auto">
              <a:xfrm>
                <a:off x="6996620" y="3968935"/>
                <a:ext cx="63522" cy="432742"/>
              </a:xfrm>
              <a:custGeom>
                <a:avLst/>
                <a:gdLst>
                  <a:gd name="T0" fmla="*/ 85 w 142"/>
                  <a:gd name="T1" fmla="*/ 960 h 961"/>
                  <a:gd name="T2" fmla="*/ 141 w 142"/>
                  <a:gd name="T3" fmla="*/ 903 h 961"/>
                  <a:gd name="T4" fmla="*/ 141 w 142"/>
                  <a:gd name="T5" fmla="*/ 57 h 961"/>
                  <a:gd name="T6" fmla="*/ 85 w 142"/>
                  <a:gd name="T7" fmla="*/ 0 h 961"/>
                  <a:gd name="T8" fmla="*/ 57 w 142"/>
                  <a:gd name="T9" fmla="*/ 0 h 961"/>
                  <a:gd name="T10" fmla="*/ 0 w 142"/>
                  <a:gd name="T11" fmla="*/ 57 h 961"/>
                  <a:gd name="T12" fmla="*/ 0 w 142"/>
                  <a:gd name="T13" fmla="*/ 903 h 961"/>
                  <a:gd name="T14" fmla="*/ 57 w 142"/>
                  <a:gd name="T15" fmla="*/ 960 h 961"/>
                  <a:gd name="T16" fmla="*/ 85 w 142"/>
                  <a:gd name="T17" fmla="*/ 960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961">
                    <a:moveTo>
                      <a:pt x="85" y="960"/>
                    </a:moveTo>
                    <a:cubicBezTo>
                      <a:pt x="116" y="960"/>
                      <a:pt x="141" y="934"/>
                      <a:pt x="141" y="903"/>
                    </a:cubicBezTo>
                    <a:cubicBezTo>
                      <a:pt x="141" y="621"/>
                      <a:pt x="141" y="339"/>
                      <a:pt x="141" y="57"/>
                    </a:cubicBezTo>
                    <a:cubicBezTo>
                      <a:pt x="141" y="25"/>
                      <a:pt x="116" y="0"/>
                      <a:pt x="85" y="0"/>
                    </a:cubicBezTo>
                    <a:cubicBezTo>
                      <a:pt x="76" y="0"/>
                      <a:pt x="67" y="0"/>
                      <a:pt x="57" y="0"/>
                    </a:cubicBezTo>
                    <a:cubicBezTo>
                      <a:pt x="26" y="0"/>
                      <a:pt x="0" y="25"/>
                      <a:pt x="0" y="57"/>
                    </a:cubicBezTo>
                    <a:cubicBezTo>
                      <a:pt x="0" y="339"/>
                      <a:pt x="0" y="621"/>
                      <a:pt x="0" y="903"/>
                    </a:cubicBezTo>
                    <a:cubicBezTo>
                      <a:pt x="0" y="934"/>
                      <a:pt x="26" y="960"/>
                      <a:pt x="57" y="960"/>
                    </a:cubicBezTo>
                    <a:cubicBezTo>
                      <a:pt x="67" y="960"/>
                      <a:pt x="76" y="960"/>
                      <a:pt x="85" y="96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37" name="Freeform 78">
                <a:extLst>
                  <a:ext uri="{FF2B5EF4-FFF2-40B4-BE49-F238E27FC236}">
                    <a16:creationId xmlns:a16="http://schemas.microsoft.com/office/drawing/2014/main" id="{3E019272-07F9-E1FF-1C65-19DC235AB20A}"/>
                  </a:ext>
                </a:extLst>
              </p:cNvPr>
              <p:cNvSpPr>
                <a:spLocks noChangeArrowheads="1"/>
              </p:cNvSpPr>
              <p:nvPr/>
            </p:nvSpPr>
            <p:spPr bwMode="auto">
              <a:xfrm>
                <a:off x="7109769" y="4197217"/>
                <a:ext cx="63522" cy="204460"/>
              </a:xfrm>
              <a:custGeom>
                <a:avLst/>
                <a:gdLst>
                  <a:gd name="T0" fmla="*/ 85 w 142"/>
                  <a:gd name="T1" fmla="*/ 452 h 453"/>
                  <a:gd name="T2" fmla="*/ 141 w 142"/>
                  <a:gd name="T3" fmla="*/ 395 h 453"/>
                  <a:gd name="T4" fmla="*/ 141 w 142"/>
                  <a:gd name="T5" fmla="*/ 57 h 453"/>
                  <a:gd name="T6" fmla="*/ 85 w 142"/>
                  <a:gd name="T7" fmla="*/ 0 h 453"/>
                  <a:gd name="T8" fmla="*/ 57 w 142"/>
                  <a:gd name="T9" fmla="*/ 0 h 453"/>
                  <a:gd name="T10" fmla="*/ 0 w 142"/>
                  <a:gd name="T11" fmla="*/ 57 h 453"/>
                  <a:gd name="T12" fmla="*/ 0 w 142"/>
                  <a:gd name="T13" fmla="*/ 395 h 453"/>
                  <a:gd name="T14" fmla="*/ 57 w 142"/>
                  <a:gd name="T15" fmla="*/ 452 h 453"/>
                  <a:gd name="T16" fmla="*/ 85 w 142"/>
                  <a:gd name="T17" fmla="*/ 45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3">
                    <a:moveTo>
                      <a:pt x="85" y="452"/>
                    </a:moveTo>
                    <a:cubicBezTo>
                      <a:pt x="116" y="452"/>
                      <a:pt x="141" y="426"/>
                      <a:pt x="141" y="395"/>
                    </a:cubicBezTo>
                    <a:cubicBezTo>
                      <a:pt x="141" y="283"/>
                      <a:pt x="141" y="170"/>
                      <a:pt x="141" y="57"/>
                    </a:cubicBezTo>
                    <a:cubicBezTo>
                      <a:pt x="141" y="25"/>
                      <a:pt x="116" y="0"/>
                      <a:pt x="85" y="0"/>
                    </a:cubicBezTo>
                    <a:cubicBezTo>
                      <a:pt x="76" y="0"/>
                      <a:pt x="67" y="0"/>
                      <a:pt x="57" y="0"/>
                    </a:cubicBezTo>
                    <a:cubicBezTo>
                      <a:pt x="25" y="0"/>
                      <a:pt x="0" y="25"/>
                      <a:pt x="0" y="57"/>
                    </a:cubicBezTo>
                    <a:cubicBezTo>
                      <a:pt x="0" y="170"/>
                      <a:pt x="0" y="283"/>
                      <a:pt x="0" y="395"/>
                    </a:cubicBezTo>
                    <a:cubicBezTo>
                      <a:pt x="0" y="426"/>
                      <a:pt x="25" y="452"/>
                      <a:pt x="57" y="452"/>
                    </a:cubicBezTo>
                    <a:cubicBezTo>
                      <a:pt x="67" y="452"/>
                      <a:pt x="76" y="452"/>
                      <a:pt x="85" y="45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38" name="Freeform 79">
                <a:extLst>
                  <a:ext uri="{FF2B5EF4-FFF2-40B4-BE49-F238E27FC236}">
                    <a16:creationId xmlns:a16="http://schemas.microsoft.com/office/drawing/2014/main" id="{9A0896B0-2F71-F038-3BEA-35EB0DD80711}"/>
                  </a:ext>
                </a:extLst>
              </p:cNvPr>
              <p:cNvSpPr>
                <a:spLocks noChangeArrowheads="1"/>
              </p:cNvSpPr>
              <p:nvPr/>
            </p:nvSpPr>
            <p:spPr bwMode="auto">
              <a:xfrm>
                <a:off x="7224902" y="4084068"/>
                <a:ext cx="63522" cy="317609"/>
              </a:xfrm>
              <a:custGeom>
                <a:avLst/>
                <a:gdLst>
                  <a:gd name="T0" fmla="*/ 85 w 142"/>
                  <a:gd name="T1" fmla="*/ 706 h 707"/>
                  <a:gd name="T2" fmla="*/ 141 w 142"/>
                  <a:gd name="T3" fmla="*/ 649 h 707"/>
                  <a:gd name="T4" fmla="*/ 141 w 142"/>
                  <a:gd name="T5" fmla="*/ 57 h 707"/>
                  <a:gd name="T6" fmla="*/ 85 w 142"/>
                  <a:gd name="T7" fmla="*/ 0 h 707"/>
                  <a:gd name="T8" fmla="*/ 57 w 142"/>
                  <a:gd name="T9" fmla="*/ 0 h 707"/>
                  <a:gd name="T10" fmla="*/ 0 w 142"/>
                  <a:gd name="T11" fmla="*/ 57 h 707"/>
                  <a:gd name="T12" fmla="*/ 0 w 142"/>
                  <a:gd name="T13" fmla="*/ 649 h 707"/>
                  <a:gd name="T14" fmla="*/ 57 w 142"/>
                  <a:gd name="T15" fmla="*/ 706 h 707"/>
                  <a:gd name="T16" fmla="*/ 85 w 142"/>
                  <a:gd name="T17" fmla="*/ 70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707">
                    <a:moveTo>
                      <a:pt x="85" y="706"/>
                    </a:moveTo>
                    <a:cubicBezTo>
                      <a:pt x="116" y="706"/>
                      <a:pt x="141" y="680"/>
                      <a:pt x="141" y="649"/>
                    </a:cubicBezTo>
                    <a:cubicBezTo>
                      <a:pt x="141" y="452"/>
                      <a:pt x="141" y="255"/>
                      <a:pt x="141" y="57"/>
                    </a:cubicBezTo>
                    <a:cubicBezTo>
                      <a:pt x="141" y="25"/>
                      <a:pt x="116" y="0"/>
                      <a:pt x="85" y="0"/>
                    </a:cubicBezTo>
                    <a:cubicBezTo>
                      <a:pt x="76" y="0"/>
                      <a:pt x="67" y="0"/>
                      <a:pt x="57" y="0"/>
                    </a:cubicBezTo>
                    <a:cubicBezTo>
                      <a:pt x="25" y="0"/>
                      <a:pt x="0" y="25"/>
                      <a:pt x="0" y="57"/>
                    </a:cubicBezTo>
                    <a:cubicBezTo>
                      <a:pt x="0" y="255"/>
                      <a:pt x="0" y="452"/>
                      <a:pt x="0" y="649"/>
                    </a:cubicBezTo>
                    <a:cubicBezTo>
                      <a:pt x="0" y="680"/>
                      <a:pt x="25" y="706"/>
                      <a:pt x="57" y="706"/>
                    </a:cubicBezTo>
                    <a:cubicBezTo>
                      <a:pt x="67" y="706"/>
                      <a:pt x="76" y="706"/>
                      <a:pt x="85" y="706"/>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grpSp>
      <p:grpSp>
        <p:nvGrpSpPr>
          <p:cNvPr id="139" name="Group 138">
            <a:extLst>
              <a:ext uri="{FF2B5EF4-FFF2-40B4-BE49-F238E27FC236}">
                <a16:creationId xmlns:a16="http://schemas.microsoft.com/office/drawing/2014/main" id="{91F97CBF-8412-BA60-4E40-722B0706F21F}"/>
              </a:ext>
            </a:extLst>
          </p:cNvPr>
          <p:cNvGrpSpPr/>
          <p:nvPr/>
        </p:nvGrpSpPr>
        <p:grpSpPr>
          <a:xfrm>
            <a:off x="15018786" y="9786018"/>
            <a:ext cx="632820" cy="632820"/>
            <a:chOff x="2362200" y="2908300"/>
            <a:chExt cx="785813" cy="785813"/>
          </a:xfrm>
          <a:solidFill>
            <a:schemeClr val="bg1"/>
          </a:solidFill>
        </p:grpSpPr>
        <p:sp>
          <p:nvSpPr>
            <p:cNvPr id="140" name="Freeform 11">
              <a:extLst>
                <a:ext uri="{FF2B5EF4-FFF2-40B4-BE49-F238E27FC236}">
                  <a16:creationId xmlns:a16="http://schemas.microsoft.com/office/drawing/2014/main" id="{5537A0A5-F5DD-E3E0-32FE-32F112DF3952}"/>
                </a:ext>
              </a:extLst>
            </p:cNvPr>
            <p:cNvSpPr>
              <a:spLocks noChangeArrowheads="1"/>
            </p:cNvSpPr>
            <p:nvPr/>
          </p:nvSpPr>
          <p:spPr bwMode="auto">
            <a:xfrm>
              <a:off x="2362200" y="2908300"/>
              <a:ext cx="785813" cy="785813"/>
            </a:xfrm>
            <a:custGeom>
              <a:avLst/>
              <a:gdLst>
                <a:gd name="T0" fmla="*/ 1831 w 2184"/>
                <a:gd name="T1" fmla="*/ 2183 h 2184"/>
                <a:gd name="T2" fmla="*/ 2183 w 2184"/>
                <a:gd name="T3" fmla="*/ 1831 h 2184"/>
                <a:gd name="T4" fmla="*/ 2183 w 2184"/>
                <a:gd name="T5" fmla="*/ 352 h 2184"/>
                <a:gd name="T6" fmla="*/ 1831 w 2184"/>
                <a:gd name="T7" fmla="*/ 0 h 2184"/>
                <a:gd name="T8" fmla="*/ 352 w 2184"/>
                <a:gd name="T9" fmla="*/ 0 h 2184"/>
                <a:gd name="T10" fmla="*/ 0 w 2184"/>
                <a:gd name="T11" fmla="*/ 352 h 2184"/>
                <a:gd name="T12" fmla="*/ 0 w 2184"/>
                <a:gd name="T13" fmla="*/ 1831 h 2184"/>
                <a:gd name="T14" fmla="*/ 352 w 2184"/>
                <a:gd name="T15" fmla="*/ 2183 h 2184"/>
                <a:gd name="T16" fmla="*/ 1831 w 2184"/>
                <a:gd name="T17" fmla="*/ 2183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4" h="2184">
                  <a:moveTo>
                    <a:pt x="1831" y="2183"/>
                  </a:moveTo>
                  <a:cubicBezTo>
                    <a:pt x="2025" y="2183"/>
                    <a:pt x="2183" y="2025"/>
                    <a:pt x="2183" y="1831"/>
                  </a:cubicBezTo>
                  <a:cubicBezTo>
                    <a:pt x="2183" y="1338"/>
                    <a:pt x="2183" y="845"/>
                    <a:pt x="2183" y="352"/>
                  </a:cubicBezTo>
                  <a:cubicBezTo>
                    <a:pt x="2183" y="159"/>
                    <a:pt x="2025" y="0"/>
                    <a:pt x="1831" y="0"/>
                  </a:cubicBezTo>
                  <a:cubicBezTo>
                    <a:pt x="1338" y="0"/>
                    <a:pt x="845" y="0"/>
                    <a:pt x="352" y="0"/>
                  </a:cubicBezTo>
                  <a:cubicBezTo>
                    <a:pt x="159" y="0"/>
                    <a:pt x="0" y="159"/>
                    <a:pt x="0" y="352"/>
                  </a:cubicBezTo>
                  <a:cubicBezTo>
                    <a:pt x="0" y="845"/>
                    <a:pt x="0" y="1338"/>
                    <a:pt x="0" y="1831"/>
                  </a:cubicBezTo>
                  <a:cubicBezTo>
                    <a:pt x="0" y="2025"/>
                    <a:pt x="159" y="2183"/>
                    <a:pt x="352" y="2183"/>
                  </a:cubicBezTo>
                  <a:cubicBezTo>
                    <a:pt x="845" y="2183"/>
                    <a:pt x="1338" y="2183"/>
                    <a:pt x="1831" y="2183"/>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nvGrpSpPr>
            <p:cNvPr id="141" name="Group 140">
              <a:extLst>
                <a:ext uri="{FF2B5EF4-FFF2-40B4-BE49-F238E27FC236}">
                  <a16:creationId xmlns:a16="http://schemas.microsoft.com/office/drawing/2014/main" id="{9F14D889-1F20-361D-DF1E-71B2AD51BE40}"/>
                </a:ext>
              </a:extLst>
            </p:cNvPr>
            <p:cNvGrpSpPr/>
            <p:nvPr/>
          </p:nvGrpSpPr>
          <p:grpSpPr>
            <a:xfrm>
              <a:off x="2538413" y="3074988"/>
              <a:ext cx="431800" cy="450850"/>
              <a:chOff x="2538413" y="3074988"/>
              <a:chExt cx="431800" cy="450850"/>
            </a:xfrm>
            <a:grpFill/>
          </p:grpSpPr>
          <p:sp>
            <p:nvSpPr>
              <p:cNvPr id="142" name="Freeform 12">
                <a:extLst>
                  <a:ext uri="{FF2B5EF4-FFF2-40B4-BE49-F238E27FC236}">
                    <a16:creationId xmlns:a16="http://schemas.microsoft.com/office/drawing/2014/main" id="{53D2013E-6583-2B95-22F5-C5775B8BF84B}"/>
                  </a:ext>
                </a:extLst>
              </p:cNvPr>
              <p:cNvSpPr>
                <a:spLocks noChangeArrowheads="1"/>
              </p:cNvSpPr>
              <p:nvPr/>
            </p:nvSpPr>
            <p:spPr bwMode="auto">
              <a:xfrm>
                <a:off x="2792413" y="3076575"/>
                <a:ext cx="101600" cy="50800"/>
              </a:xfrm>
              <a:custGeom>
                <a:avLst/>
                <a:gdLst>
                  <a:gd name="T0" fmla="*/ 282 w 283"/>
                  <a:gd name="T1" fmla="*/ 138 h 139"/>
                  <a:gd name="T2" fmla="*/ 148 w 283"/>
                  <a:gd name="T3" fmla="*/ 4 h 139"/>
                  <a:gd name="T4" fmla="*/ 134 w 283"/>
                  <a:gd name="T5" fmla="*/ 4 h 139"/>
                  <a:gd name="T6" fmla="*/ 0 w 283"/>
                  <a:gd name="T7" fmla="*/ 138 h 139"/>
                </a:gdLst>
                <a:ahLst/>
                <a:cxnLst>
                  <a:cxn ang="0">
                    <a:pos x="T0" y="T1"/>
                  </a:cxn>
                  <a:cxn ang="0">
                    <a:pos x="T2" y="T3"/>
                  </a:cxn>
                  <a:cxn ang="0">
                    <a:pos x="T4" y="T5"/>
                  </a:cxn>
                  <a:cxn ang="0">
                    <a:pos x="T6" y="T7"/>
                  </a:cxn>
                </a:cxnLst>
                <a:rect l="0" t="0" r="r" b="b"/>
                <a:pathLst>
                  <a:path w="283" h="139">
                    <a:moveTo>
                      <a:pt x="282" y="138"/>
                    </a:moveTo>
                    <a:cubicBezTo>
                      <a:pt x="237" y="93"/>
                      <a:pt x="193" y="48"/>
                      <a:pt x="148" y="4"/>
                    </a:cubicBezTo>
                    <a:cubicBezTo>
                      <a:pt x="145" y="0"/>
                      <a:pt x="138" y="0"/>
                      <a:pt x="134" y="4"/>
                    </a:cubicBezTo>
                    <a:cubicBezTo>
                      <a:pt x="89" y="48"/>
                      <a:pt x="45" y="93"/>
                      <a:pt x="0" y="138"/>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43" name="Freeform 13">
                <a:extLst>
                  <a:ext uri="{FF2B5EF4-FFF2-40B4-BE49-F238E27FC236}">
                    <a16:creationId xmlns:a16="http://schemas.microsoft.com/office/drawing/2014/main" id="{71019FB2-BD6D-D5B1-360A-FE6F2B142A85}"/>
                  </a:ext>
                </a:extLst>
              </p:cNvPr>
              <p:cNvSpPr>
                <a:spLocks noChangeArrowheads="1"/>
              </p:cNvSpPr>
              <p:nvPr/>
            </p:nvSpPr>
            <p:spPr bwMode="auto">
              <a:xfrm>
                <a:off x="2627313" y="3449638"/>
                <a:ext cx="76200" cy="76200"/>
              </a:xfrm>
              <a:custGeom>
                <a:avLst/>
                <a:gdLst>
                  <a:gd name="T0" fmla="*/ 211 w 212"/>
                  <a:gd name="T1" fmla="*/ 105 h 212"/>
                  <a:gd name="T2" fmla="*/ 197 w 212"/>
                  <a:gd name="T3" fmla="*/ 158 h 212"/>
                  <a:gd name="T4" fmla="*/ 158 w 212"/>
                  <a:gd name="T5" fmla="*/ 197 h 212"/>
                  <a:gd name="T6" fmla="*/ 105 w 212"/>
                  <a:gd name="T7" fmla="*/ 211 h 212"/>
                  <a:gd name="T8" fmla="*/ 52 w 212"/>
                  <a:gd name="T9" fmla="*/ 197 h 212"/>
                  <a:gd name="T10" fmla="*/ 14 w 212"/>
                  <a:gd name="T11" fmla="*/ 158 h 212"/>
                  <a:gd name="T12" fmla="*/ 0 w 212"/>
                  <a:gd name="T13" fmla="*/ 105 h 212"/>
                  <a:gd name="T14" fmla="*/ 14 w 212"/>
                  <a:gd name="T15" fmla="*/ 53 h 212"/>
                  <a:gd name="T16" fmla="*/ 52 w 212"/>
                  <a:gd name="T17" fmla="*/ 14 h 212"/>
                  <a:gd name="T18" fmla="*/ 105 w 212"/>
                  <a:gd name="T19" fmla="*/ 0 h 212"/>
                  <a:gd name="T20" fmla="*/ 158 w 212"/>
                  <a:gd name="T21" fmla="*/ 14 h 212"/>
                  <a:gd name="T22" fmla="*/ 197 w 212"/>
                  <a:gd name="T23" fmla="*/ 53 h 212"/>
                  <a:gd name="T24" fmla="*/ 211 w 212"/>
                  <a:gd name="T25" fmla="*/ 10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2" h="212">
                    <a:moveTo>
                      <a:pt x="211" y="105"/>
                    </a:moveTo>
                    <a:cubicBezTo>
                      <a:pt x="211" y="125"/>
                      <a:pt x="206" y="141"/>
                      <a:pt x="197" y="158"/>
                    </a:cubicBezTo>
                    <a:cubicBezTo>
                      <a:pt x="187" y="175"/>
                      <a:pt x="175" y="187"/>
                      <a:pt x="158" y="197"/>
                    </a:cubicBezTo>
                    <a:cubicBezTo>
                      <a:pt x="141" y="207"/>
                      <a:pt x="124" y="211"/>
                      <a:pt x="105" y="211"/>
                    </a:cubicBezTo>
                    <a:cubicBezTo>
                      <a:pt x="85" y="211"/>
                      <a:pt x="68" y="207"/>
                      <a:pt x="52" y="197"/>
                    </a:cubicBezTo>
                    <a:cubicBezTo>
                      <a:pt x="35" y="187"/>
                      <a:pt x="23" y="175"/>
                      <a:pt x="14" y="158"/>
                    </a:cubicBezTo>
                    <a:cubicBezTo>
                      <a:pt x="4" y="141"/>
                      <a:pt x="0" y="124"/>
                      <a:pt x="0" y="105"/>
                    </a:cubicBezTo>
                    <a:cubicBezTo>
                      <a:pt x="0" y="85"/>
                      <a:pt x="4" y="69"/>
                      <a:pt x="14" y="53"/>
                    </a:cubicBezTo>
                    <a:cubicBezTo>
                      <a:pt x="23" y="36"/>
                      <a:pt x="35" y="24"/>
                      <a:pt x="52" y="14"/>
                    </a:cubicBezTo>
                    <a:cubicBezTo>
                      <a:pt x="68" y="4"/>
                      <a:pt x="86" y="0"/>
                      <a:pt x="105" y="0"/>
                    </a:cubicBezTo>
                    <a:cubicBezTo>
                      <a:pt x="125" y="0"/>
                      <a:pt x="141" y="4"/>
                      <a:pt x="158" y="14"/>
                    </a:cubicBezTo>
                    <a:cubicBezTo>
                      <a:pt x="175" y="24"/>
                      <a:pt x="187" y="36"/>
                      <a:pt x="197" y="53"/>
                    </a:cubicBezTo>
                    <a:cubicBezTo>
                      <a:pt x="206" y="69"/>
                      <a:pt x="211" y="86"/>
                      <a:pt x="211" y="105"/>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44" name="Freeform 14">
                <a:extLst>
                  <a:ext uri="{FF2B5EF4-FFF2-40B4-BE49-F238E27FC236}">
                    <a16:creationId xmlns:a16="http://schemas.microsoft.com/office/drawing/2014/main" id="{3963C25E-853E-A574-70E5-98E5FF88E286}"/>
                  </a:ext>
                </a:extLst>
              </p:cNvPr>
              <p:cNvSpPr>
                <a:spLocks noChangeArrowheads="1"/>
              </p:cNvSpPr>
              <p:nvPr/>
            </p:nvSpPr>
            <p:spPr bwMode="auto">
              <a:xfrm>
                <a:off x="2541588" y="3192463"/>
                <a:ext cx="69850" cy="69850"/>
              </a:xfrm>
              <a:custGeom>
                <a:avLst/>
                <a:gdLst>
                  <a:gd name="T0" fmla="*/ 0 w 195"/>
                  <a:gd name="T1" fmla="*/ 0 h 195"/>
                  <a:gd name="T2" fmla="*/ 194 w 195"/>
                  <a:gd name="T3" fmla="*/ 194 h 195"/>
                </a:gdLst>
                <a:ahLst/>
                <a:cxnLst>
                  <a:cxn ang="0">
                    <a:pos x="T0" y="T1"/>
                  </a:cxn>
                  <a:cxn ang="0">
                    <a:pos x="T2" y="T3"/>
                  </a:cxn>
                </a:cxnLst>
                <a:rect l="0" t="0" r="r" b="b"/>
                <a:pathLst>
                  <a:path w="195" h="195">
                    <a:moveTo>
                      <a:pt x="0" y="0"/>
                    </a:moveTo>
                    <a:cubicBezTo>
                      <a:pt x="65" y="64"/>
                      <a:pt x="129" y="129"/>
                      <a:pt x="194" y="194"/>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45" name="Freeform 15">
                <a:extLst>
                  <a:ext uri="{FF2B5EF4-FFF2-40B4-BE49-F238E27FC236}">
                    <a16:creationId xmlns:a16="http://schemas.microsoft.com/office/drawing/2014/main" id="{B77F4899-5ABB-0657-2691-C90F40231CC1}"/>
                  </a:ext>
                </a:extLst>
              </p:cNvPr>
              <p:cNvSpPr>
                <a:spLocks noChangeArrowheads="1"/>
              </p:cNvSpPr>
              <p:nvPr/>
            </p:nvSpPr>
            <p:spPr bwMode="auto">
              <a:xfrm>
                <a:off x="2541588" y="3192463"/>
                <a:ext cx="69850" cy="69850"/>
              </a:xfrm>
              <a:custGeom>
                <a:avLst/>
                <a:gdLst>
                  <a:gd name="T0" fmla="*/ 194 w 195"/>
                  <a:gd name="T1" fmla="*/ 0 h 195"/>
                  <a:gd name="T2" fmla="*/ 0 w 195"/>
                  <a:gd name="T3" fmla="*/ 194 h 195"/>
                </a:gdLst>
                <a:ahLst/>
                <a:cxnLst>
                  <a:cxn ang="0">
                    <a:pos x="T0" y="T1"/>
                  </a:cxn>
                  <a:cxn ang="0">
                    <a:pos x="T2" y="T3"/>
                  </a:cxn>
                </a:cxnLst>
                <a:rect l="0" t="0" r="r" b="b"/>
                <a:pathLst>
                  <a:path w="195" h="195">
                    <a:moveTo>
                      <a:pt x="194" y="0"/>
                    </a:moveTo>
                    <a:cubicBezTo>
                      <a:pt x="129" y="64"/>
                      <a:pt x="65" y="129"/>
                      <a:pt x="0" y="194"/>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46" name="Freeform 16">
                <a:extLst>
                  <a:ext uri="{FF2B5EF4-FFF2-40B4-BE49-F238E27FC236}">
                    <a16:creationId xmlns:a16="http://schemas.microsoft.com/office/drawing/2014/main" id="{A77EEF12-D62A-8A00-D9A5-0538023C888D}"/>
                  </a:ext>
                </a:extLst>
              </p:cNvPr>
              <p:cNvSpPr>
                <a:spLocks noChangeArrowheads="1"/>
              </p:cNvSpPr>
              <p:nvPr/>
            </p:nvSpPr>
            <p:spPr bwMode="auto">
              <a:xfrm>
                <a:off x="2719388" y="3192463"/>
                <a:ext cx="69850" cy="69850"/>
              </a:xfrm>
              <a:custGeom>
                <a:avLst/>
                <a:gdLst>
                  <a:gd name="T0" fmla="*/ 0 w 195"/>
                  <a:gd name="T1" fmla="*/ 0 h 195"/>
                  <a:gd name="T2" fmla="*/ 194 w 195"/>
                  <a:gd name="T3" fmla="*/ 194 h 195"/>
                </a:gdLst>
                <a:ahLst/>
                <a:cxnLst>
                  <a:cxn ang="0">
                    <a:pos x="T0" y="T1"/>
                  </a:cxn>
                  <a:cxn ang="0">
                    <a:pos x="T2" y="T3"/>
                  </a:cxn>
                </a:cxnLst>
                <a:rect l="0" t="0" r="r" b="b"/>
                <a:pathLst>
                  <a:path w="195" h="195">
                    <a:moveTo>
                      <a:pt x="0" y="0"/>
                    </a:moveTo>
                    <a:cubicBezTo>
                      <a:pt x="65" y="64"/>
                      <a:pt x="129" y="129"/>
                      <a:pt x="194" y="194"/>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47" name="Freeform 17">
                <a:extLst>
                  <a:ext uri="{FF2B5EF4-FFF2-40B4-BE49-F238E27FC236}">
                    <a16:creationId xmlns:a16="http://schemas.microsoft.com/office/drawing/2014/main" id="{D790C1A8-E4E0-14EB-AAA8-EBE22B1FFF23}"/>
                  </a:ext>
                </a:extLst>
              </p:cNvPr>
              <p:cNvSpPr>
                <a:spLocks noChangeArrowheads="1"/>
              </p:cNvSpPr>
              <p:nvPr/>
            </p:nvSpPr>
            <p:spPr bwMode="auto">
              <a:xfrm>
                <a:off x="2719388" y="3192463"/>
                <a:ext cx="69850" cy="69850"/>
              </a:xfrm>
              <a:custGeom>
                <a:avLst/>
                <a:gdLst>
                  <a:gd name="T0" fmla="*/ 194 w 195"/>
                  <a:gd name="T1" fmla="*/ 0 h 195"/>
                  <a:gd name="T2" fmla="*/ 0 w 195"/>
                  <a:gd name="T3" fmla="*/ 194 h 195"/>
                </a:gdLst>
                <a:ahLst/>
                <a:cxnLst>
                  <a:cxn ang="0">
                    <a:pos x="T0" y="T1"/>
                  </a:cxn>
                  <a:cxn ang="0">
                    <a:pos x="T2" y="T3"/>
                  </a:cxn>
                </a:cxnLst>
                <a:rect l="0" t="0" r="r" b="b"/>
                <a:pathLst>
                  <a:path w="195" h="195">
                    <a:moveTo>
                      <a:pt x="194" y="0"/>
                    </a:moveTo>
                    <a:cubicBezTo>
                      <a:pt x="129" y="64"/>
                      <a:pt x="65" y="129"/>
                      <a:pt x="0" y="194"/>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48" name="Freeform 18">
                <a:extLst>
                  <a:ext uri="{FF2B5EF4-FFF2-40B4-BE49-F238E27FC236}">
                    <a16:creationId xmlns:a16="http://schemas.microsoft.com/office/drawing/2014/main" id="{C3AFA7EE-3F0B-F55C-78C6-E766BCA80246}"/>
                  </a:ext>
                </a:extLst>
              </p:cNvPr>
              <p:cNvSpPr>
                <a:spLocks noChangeArrowheads="1"/>
              </p:cNvSpPr>
              <p:nvPr/>
            </p:nvSpPr>
            <p:spPr bwMode="auto">
              <a:xfrm>
                <a:off x="2897188" y="3192463"/>
                <a:ext cx="69850" cy="69850"/>
              </a:xfrm>
              <a:custGeom>
                <a:avLst/>
                <a:gdLst>
                  <a:gd name="T0" fmla="*/ 0 w 195"/>
                  <a:gd name="T1" fmla="*/ 0 h 195"/>
                  <a:gd name="T2" fmla="*/ 194 w 195"/>
                  <a:gd name="T3" fmla="*/ 194 h 195"/>
                </a:gdLst>
                <a:ahLst/>
                <a:cxnLst>
                  <a:cxn ang="0">
                    <a:pos x="T0" y="T1"/>
                  </a:cxn>
                  <a:cxn ang="0">
                    <a:pos x="T2" y="T3"/>
                  </a:cxn>
                </a:cxnLst>
                <a:rect l="0" t="0" r="r" b="b"/>
                <a:pathLst>
                  <a:path w="195" h="195">
                    <a:moveTo>
                      <a:pt x="0" y="0"/>
                    </a:moveTo>
                    <a:cubicBezTo>
                      <a:pt x="65" y="64"/>
                      <a:pt x="129" y="129"/>
                      <a:pt x="194" y="194"/>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49" name="Freeform 19">
                <a:extLst>
                  <a:ext uri="{FF2B5EF4-FFF2-40B4-BE49-F238E27FC236}">
                    <a16:creationId xmlns:a16="http://schemas.microsoft.com/office/drawing/2014/main" id="{7354828E-5D45-4326-8897-8A2AB601F253}"/>
                  </a:ext>
                </a:extLst>
              </p:cNvPr>
              <p:cNvSpPr>
                <a:spLocks noChangeArrowheads="1"/>
              </p:cNvSpPr>
              <p:nvPr/>
            </p:nvSpPr>
            <p:spPr bwMode="auto">
              <a:xfrm>
                <a:off x="2897188" y="3192463"/>
                <a:ext cx="69850" cy="69850"/>
              </a:xfrm>
              <a:custGeom>
                <a:avLst/>
                <a:gdLst>
                  <a:gd name="T0" fmla="*/ 194 w 195"/>
                  <a:gd name="T1" fmla="*/ 0 h 195"/>
                  <a:gd name="T2" fmla="*/ 0 w 195"/>
                  <a:gd name="T3" fmla="*/ 194 h 195"/>
                </a:gdLst>
                <a:ahLst/>
                <a:cxnLst>
                  <a:cxn ang="0">
                    <a:pos x="T0" y="T1"/>
                  </a:cxn>
                  <a:cxn ang="0">
                    <a:pos x="T2" y="T3"/>
                  </a:cxn>
                </a:cxnLst>
                <a:rect l="0" t="0" r="r" b="b"/>
                <a:pathLst>
                  <a:path w="195" h="195">
                    <a:moveTo>
                      <a:pt x="194" y="0"/>
                    </a:moveTo>
                    <a:cubicBezTo>
                      <a:pt x="129" y="64"/>
                      <a:pt x="65" y="129"/>
                      <a:pt x="0" y="194"/>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50" name="Freeform 20">
                <a:extLst>
                  <a:ext uri="{FF2B5EF4-FFF2-40B4-BE49-F238E27FC236}">
                    <a16:creationId xmlns:a16="http://schemas.microsoft.com/office/drawing/2014/main" id="{C5CBECED-446B-E31E-BD62-510D6026F13C}"/>
                  </a:ext>
                </a:extLst>
              </p:cNvPr>
              <p:cNvSpPr>
                <a:spLocks noChangeArrowheads="1"/>
              </p:cNvSpPr>
              <p:nvPr/>
            </p:nvSpPr>
            <p:spPr bwMode="auto">
              <a:xfrm>
                <a:off x="2538413" y="3317875"/>
                <a:ext cx="76200" cy="76200"/>
              </a:xfrm>
              <a:custGeom>
                <a:avLst/>
                <a:gdLst>
                  <a:gd name="T0" fmla="*/ 211 w 212"/>
                  <a:gd name="T1" fmla="*/ 105 h 212"/>
                  <a:gd name="T2" fmla="*/ 197 w 212"/>
                  <a:gd name="T3" fmla="*/ 158 h 212"/>
                  <a:gd name="T4" fmla="*/ 159 w 212"/>
                  <a:gd name="T5" fmla="*/ 197 h 212"/>
                  <a:gd name="T6" fmla="*/ 106 w 212"/>
                  <a:gd name="T7" fmla="*/ 211 h 212"/>
                  <a:gd name="T8" fmla="*/ 53 w 212"/>
                  <a:gd name="T9" fmla="*/ 197 h 212"/>
                  <a:gd name="T10" fmla="*/ 14 w 212"/>
                  <a:gd name="T11" fmla="*/ 158 h 212"/>
                  <a:gd name="T12" fmla="*/ 0 w 212"/>
                  <a:gd name="T13" fmla="*/ 105 h 212"/>
                  <a:gd name="T14" fmla="*/ 14 w 212"/>
                  <a:gd name="T15" fmla="*/ 52 h 212"/>
                  <a:gd name="T16" fmla="*/ 53 w 212"/>
                  <a:gd name="T17" fmla="*/ 14 h 212"/>
                  <a:gd name="T18" fmla="*/ 106 w 212"/>
                  <a:gd name="T19" fmla="*/ 0 h 212"/>
                  <a:gd name="T20" fmla="*/ 159 w 212"/>
                  <a:gd name="T21" fmla="*/ 14 h 212"/>
                  <a:gd name="T22" fmla="*/ 197 w 212"/>
                  <a:gd name="T23" fmla="*/ 52 h 212"/>
                  <a:gd name="T24" fmla="*/ 211 w 212"/>
                  <a:gd name="T25" fmla="*/ 10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2" h="212">
                    <a:moveTo>
                      <a:pt x="211" y="105"/>
                    </a:moveTo>
                    <a:cubicBezTo>
                      <a:pt x="211" y="125"/>
                      <a:pt x="207" y="141"/>
                      <a:pt x="197" y="158"/>
                    </a:cubicBezTo>
                    <a:cubicBezTo>
                      <a:pt x="187" y="175"/>
                      <a:pt x="175" y="187"/>
                      <a:pt x="159" y="197"/>
                    </a:cubicBezTo>
                    <a:cubicBezTo>
                      <a:pt x="142" y="206"/>
                      <a:pt x="125" y="211"/>
                      <a:pt x="106" y="211"/>
                    </a:cubicBezTo>
                    <a:cubicBezTo>
                      <a:pt x="86" y="211"/>
                      <a:pt x="70" y="206"/>
                      <a:pt x="53" y="197"/>
                    </a:cubicBezTo>
                    <a:cubicBezTo>
                      <a:pt x="36" y="187"/>
                      <a:pt x="23" y="175"/>
                      <a:pt x="14" y="158"/>
                    </a:cubicBezTo>
                    <a:cubicBezTo>
                      <a:pt x="4" y="141"/>
                      <a:pt x="0" y="124"/>
                      <a:pt x="0" y="105"/>
                    </a:cubicBezTo>
                    <a:cubicBezTo>
                      <a:pt x="0" y="85"/>
                      <a:pt x="4" y="68"/>
                      <a:pt x="14" y="52"/>
                    </a:cubicBezTo>
                    <a:cubicBezTo>
                      <a:pt x="23" y="35"/>
                      <a:pt x="36" y="23"/>
                      <a:pt x="53" y="14"/>
                    </a:cubicBezTo>
                    <a:cubicBezTo>
                      <a:pt x="70" y="4"/>
                      <a:pt x="86" y="0"/>
                      <a:pt x="106" y="0"/>
                    </a:cubicBezTo>
                    <a:cubicBezTo>
                      <a:pt x="125" y="0"/>
                      <a:pt x="142" y="4"/>
                      <a:pt x="159" y="14"/>
                    </a:cubicBezTo>
                    <a:cubicBezTo>
                      <a:pt x="175" y="23"/>
                      <a:pt x="187" y="35"/>
                      <a:pt x="197" y="52"/>
                    </a:cubicBezTo>
                    <a:cubicBezTo>
                      <a:pt x="207" y="68"/>
                      <a:pt x="211" y="86"/>
                      <a:pt x="211" y="105"/>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51" name="Freeform 21">
                <a:extLst>
                  <a:ext uri="{FF2B5EF4-FFF2-40B4-BE49-F238E27FC236}">
                    <a16:creationId xmlns:a16="http://schemas.microsoft.com/office/drawing/2014/main" id="{DAC52293-1852-FEF7-56EC-47FB17E26E30}"/>
                  </a:ext>
                </a:extLst>
              </p:cNvPr>
              <p:cNvSpPr>
                <a:spLocks noChangeArrowheads="1"/>
              </p:cNvSpPr>
              <p:nvPr/>
            </p:nvSpPr>
            <p:spPr bwMode="auto">
              <a:xfrm>
                <a:off x="2716213" y="3317875"/>
                <a:ext cx="76200" cy="76200"/>
              </a:xfrm>
              <a:custGeom>
                <a:avLst/>
                <a:gdLst>
                  <a:gd name="T0" fmla="*/ 211 w 212"/>
                  <a:gd name="T1" fmla="*/ 105 h 212"/>
                  <a:gd name="T2" fmla="*/ 197 w 212"/>
                  <a:gd name="T3" fmla="*/ 158 h 212"/>
                  <a:gd name="T4" fmla="*/ 158 w 212"/>
                  <a:gd name="T5" fmla="*/ 197 h 212"/>
                  <a:gd name="T6" fmla="*/ 106 w 212"/>
                  <a:gd name="T7" fmla="*/ 211 h 212"/>
                  <a:gd name="T8" fmla="*/ 53 w 212"/>
                  <a:gd name="T9" fmla="*/ 197 h 212"/>
                  <a:gd name="T10" fmla="*/ 14 w 212"/>
                  <a:gd name="T11" fmla="*/ 158 h 212"/>
                  <a:gd name="T12" fmla="*/ 0 w 212"/>
                  <a:gd name="T13" fmla="*/ 105 h 212"/>
                  <a:gd name="T14" fmla="*/ 14 w 212"/>
                  <a:gd name="T15" fmla="*/ 52 h 212"/>
                  <a:gd name="T16" fmla="*/ 53 w 212"/>
                  <a:gd name="T17" fmla="*/ 14 h 212"/>
                  <a:gd name="T18" fmla="*/ 106 w 212"/>
                  <a:gd name="T19" fmla="*/ 0 h 212"/>
                  <a:gd name="T20" fmla="*/ 158 w 212"/>
                  <a:gd name="T21" fmla="*/ 14 h 212"/>
                  <a:gd name="T22" fmla="*/ 197 w 212"/>
                  <a:gd name="T23" fmla="*/ 52 h 212"/>
                  <a:gd name="T24" fmla="*/ 211 w 212"/>
                  <a:gd name="T25" fmla="*/ 10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2" h="212">
                    <a:moveTo>
                      <a:pt x="211" y="105"/>
                    </a:moveTo>
                    <a:cubicBezTo>
                      <a:pt x="211" y="125"/>
                      <a:pt x="207" y="141"/>
                      <a:pt x="197" y="158"/>
                    </a:cubicBezTo>
                    <a:cubicBezTo>
                      <a:pt x="187" y="175"/>
                      <a:pt x="174" y="187"/>
                      <a:pt x="158" y="197"/>
                    </a:cubicBezTo>
                    <a:cubicBezTo>
                      <a:pt x="141" y="206"/>
                      <a:pt x="125" y="211"/>
                      <a:pt x="106" y="211"/>
                    </a:cubicBezTo>
                    <a:cubicBezTo>
                      <a:pt x="86" y="211"/>
                      <a:pt x="70" y="206"/>
                      <a:pt x="53" y="197"/>
                    </a:cubicBezTo>
                    <a:cubicBezTo>
                      <a:pt x="36" y="187"/>
                      <a:pt x="24" y="175"/>
                      <a:pt x="14" y="158"/>
                    </a:cubicBezTo>
                    <a:cubicBezTo>
                      <a:pt x="4" y="141"/>
                      <a:pt x="0" y="124"/>
                      <a:pt x="0" y="105"/>
                    </a:cubicBezTo>
                    <a:cubicBezTo>
                      <a:pt x="0" y="85"/>
                      <a:pt x="4" y="68"/>
                      <a:pt x="14" y="52"/>
                    </a:cubicBezTo>
                    <a:cubicBezTo>
                      <a:pt x="24" y="35"/>
                      <a:pt x="36" y="23"/>
                      <a:pt x="53" y="14"/>
                    </a:cubicBezTo>
                    <a:cubicBezTo>
                      <a:pt x="70" y="4"/>
                      <a:pt x="86" y="0"/>
                      <a:pt x="106" y="0"/>
                    </a:cubicBezTo>
                    <a:cubicBezTo>
                      <a:pt x="125" y="0"/>
                      <a:pt x="141" y="4"/>
                      <a:pt x="158" y="14"/>
                    </a:cubicBezTo>
                    <a:cubicBezTo>
                      <a:pt x="174" y="23"/>
                      <a:pt x="187" y="35"/>
                      <a:pt x="197" y="52"/>
                    </a:cubicBezTo>
                    <a:cubicBezTo>
                      <a:pt x="207" y="68"/>
                      <a:pt x="211" y="86"/>
                      <a:pt x="211" y="105"/>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52" name="Freeform 22">
                <a:extLst>
                  <a:ext uri="{FF2B5EF4-FFF2-40B4-BE49-F238E27FC236}">
                    <a16:creationId xmlns:a16="http://schemas.microsoft.com/office/drawing/2014/main" id="{10EC291C-404F-7C31-ABC8-AD720941873D}"/>
                  </a:ext>
                </a:extLst>
              </p:cNvPr>
              <p:cNvSpPr>
                <a:spLocks noChangeArrowheads="1"/>
              </p:cNvSpPr>
              <p:nvPr/>
            </p:nvSpPr>
            <p:spPr bwMode="auto">
              <a:xfrm>
                <a:off x="2894013" y="3317875"/>
                <a:ext cx="76200" cy="76200"/>
              </a:xfrm>
              <a:custGeom>
                <a:avLst/>
                <a:gdLst>
                  <a:gd name="T0" fmla="*/ 211 w 212"/>
                  <a:gd name="T1" fmla="*/ 105 h 212"/>
                  <a:gd name="T2" fmla="*/ 197 w 212"/>
                  <a:gd name="T3" fmla="*/ 158 h 212"/>
                  <a:gd name="T4" fmla="*/ 158 w 212"/>
                  <a:gd name="T5" fmla="*/ 197 h 212"/>
                  <a:gd name="T6" fmla="*/ 105 w 212"/>
                  <a:gd name="T7" fmla="*/ 211 h 212"/>
                  <a:gd name="T8" fmla="*/ 53 w 212"/>
                  <a:gd name="T9" fmla="*/ 197 h 212"/>
                  <a:gd name="T10" fmla="*/ 14 w 212"/>
                  <a:gd name="T11" fmla="*/ 158 h 212"/>
                  <a:gd name="T12" fmla="*/ 0 w 212"/>
                  <a:gd name="T13" fmla="*/ 105 h 212"/>
                  <a:gd name="T14" fmla="*/ 14 w 212"/>
                  <a:gd name="T15" fmla="*/ 52 h 212"/>
                  <a:gd name="T16" fmla="*/ 53 w 212"/>
                  <a:gd name="T17" fmla="*/ 14 h 212"/>
                  <a:gd name="T18" fmla="*/ 105 w 212"/>
                  <a:gd name="T19" fmla="*/ 0 h 212"/>
                  <a:gd name="T20" fmla="*/ 158 w 212"/>
                  <a:gd name="T21" fmla="*/ 14 h 212"/>
                  <a:gd name="T22" fmla="*/ 197 w 212"/>
                  <a:gd name="T23" fmla="*/ 52 h 212"/>
                  <a:gd name="T24" fmla="*/ 211 w 212"/>
                  <a:gd name="T25" fmla="*/ 10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2" h="212">
                    <a:moveTo>
                      <a:pt x="211" y="105"/>
                    </a:moveTo>
                    <a:cubicBezTo>
                      <a:pt x="211" y="125"/>
                      <a:pt x="207" y="141"/>
                      <a:pt x="197" y="158"/>
                    </a:cubicBezTo>
                    <a:cubicBezTo>
                      <a:pt x="187" y="175"/>
                      <a:pt x="175" y="187"/>
                      <a:pt x="158" y="197"/>
                    </a:cubicBezTo>
                    <a:cubicBezTo>
                      <a:pt x="141" y="206"/>
                      <a:pt x="124" y="211"/>
                      <a:pt x="105" y="211"/>
                    </a:cubicBezTo>
                    <a:cubicBezTo>
                      <a:pt x="85" y="211"/>
                      <a:pt x="70" y="206"/>
                      <a:pt x="53" y="197"/>
                    </a:cubicBezTo>
                    <a:cubicBezTo>
                      <a:pt x="36" y="187"/>
                      <a:pt x="24" y="175"/>
                      <a:pt x="14" y="158"/>
                    </a:cubicBezTo>
                    <a:cubicBezTo>
                      <a:pt x="4" y="141"/>
                      <a:pt x="0" y="124"/>
                      <a:pt x="0" y="105"/>
                    </a:cubicBezTo>
                    <a:cubicBezTo>
                      <a:pt x="0" y="85"/>
                      <a:pt x="4" y="68"/>
                      <a:pt x="14" y="52"/>
                    </a:cubicBezTo>
                    <a:cubicBezTo>
                      <a:pt x="24" y="35"/>
                      <a:pt x="36" y="23"/>
                      <a:pt x="53" y="14"/>
                    </a:cubicBezTo>
                    <a:cubicBezTo>
                      <a:pt x="70" y="4"/>
                      <a:pt x="86" y="0"/>
                      <a:pt x="105" y="0"/>
                    </a:cubicBezTo>
                    <a:cubicBezTo>
                      <a:pt x="125" y="0"/>
                      <a:pt x="141" y="4"/>
                      <a:pt x="158" y="14"/>
                    </a:cubicBezTo>
                    <a:cubicBezTo>
                      <a:pt x="175" y="23"/>
                      <a:pt x="187" y="35"/>
                      <a:pt x="197" y="52"/>
                    </a:cubicBezTo>
                    <a:cubicBezTo>
                      <a:pt x="207" y="68"/>
                      <a:pt x="211" y="86"/>
                      <a:pt x="211" y="105"/>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53" name="Freeform 23">
                <a:extLst>
                  <a:ext uri="{FF2B5EF4-FFF2-40B4-BE49-F238E27FC236}">
                    <a16:creationId xmlns:a16="http://schemas.microsoft.com/office/drawing/2014/main" id="{463C238A-0E59-AD8E-62C6-BE04EEB92750}"/>
                  </a:ext>
                </a:extLst>
              </p:cNvPr>
              <p:cNvSpPr>
                <a:spLocks noChangeArrowheads="1"/>
              </p:cNvSpPr>
              <p:nvPr/>
            </p:nvSpPr>
            <p:spPr bwMode="auto">
              <a:xfrm>
                <a:off x="2700338" y="3074988"/>
                <a:ext cx="142875" cy="398462"/>
              </a:xfrm>
              <a:custGeom>
                <a:avLst/>
                <a:gdLst>
                  <a:gd name="T0" fmla="*/ 0 w 396"/>
                  <a:gd name="T1" fmla="*/ 1106 h 1107"/>
                  <a:gd name="T2" fmla="*/ 243 w 396"/>
                  <a:gd name="T3" fmla="*/ 1004 h 1107"/>
                  <a:gd name="T4" fmla="*/ 395 w 396"/>
                  <a:gd name="T5" fmla="*/ 775 h 1107"/>
                  <a:gd name="T6" fmla="*/ 395 w 396"/>
                  <a:gd name="T7" fmla="*/ 0 h 1107"/>
                </a:gdLst>
                <a:ahLst/>
                <a:cxnLst>
                  <a:cxn ang="0">
                    <a:pos x="T0" y="T1"/>
                  </a:cxn>
                  <a:cxn ang="0">
                    <a:pos x="T2" y="T3"/>
                  </a:cxn>
                  <a:cxn ang="0">
                    <a:pos x="T4" y="T5"/>
                  </a:cxn>
                  <a:cxn ang="0">
                    <a:pos x="T6" y="T7"/>
                  </a:cxn>
                </a:cxnLst>
                <a:rect l="0" t="0" r="r" b="b"/>
                <a:pathLst>
                  <a:path w="396" h="1107">
                    <a:moveTo>
                      <a:pt x="0" y="1106"/>
                    </a:moveTo>
                    <a:cubicBezTo>
                      <a:pt x="81" y="1072"/>
                      <a:pt x="162" y="1038"/>
                      <a:pt x="243" y="1004"/>
                    </a:cubicBezTo>
                    <a:cubicBezTo>
                      <a:pt x="331" y="965"/>
                      <a:pt x="395" y="877"/>
                      <a:pt x="395" y="775"/>
                    </a:cubicBezTo>
                    <a:cubicBezTo>
                      <a:pt x="395" y="516"/>
                      <a:pt x="395" y="258"/>
                      <a:pt x="395"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grpSp>
      </p:grpSp>
      <p:grpSp>
        <p:nvGrpSpPr>
          <p:cNvPr id="154" name="Group 153">
            <a:extLst>
              <a:ext uri="{FF2B5EF4-FFF2-40B4-BE49-F238E27FC236}">
                <a16:creationId xmlns:a16="http://schemas.microsoft.com/office/drawing/2014/main" id="{4F87118E-A3EB-50B9-79E1-08FA5D47FF3F}"/>
              </a:ext>
            </a:extLst>
          </p:cNvPr>
          <p:cNvGrpSpPr>
            <a:grpSpLocks noChangeAspect="1"/>
          </p:cNvGrpSpPr>
          <p:nvPr/>
        </p:nvGrpSpPr>
        <p:grpSpPr>
          <a:xfrm>
            <a:off x="15018556" y="8748804"/>
            <a:ext cx="633280" cy="633280"/>
            <a:chOff x="9309100" y="3124200"/>
            <a:chExt cx="630238" cy="630238"/>
          </a:xfrm>
          <a:solidFill>
            <a:schemeClr val="bg1"/>
          </a:solidFill>
        </p:grpSpPr>
        <p:sp>
          <p:nvSpPr>
            <p:cNvPr id="155" name="Freeform 151">
              <a:extLst>
                <a:ext uri="{FF2B5EF4-FFF2-40B4-BE49-F238E27FC236}">
                  <a16:creationId xmlns:a16="http://schemas.microsoft.com/office/drawing/2014/main" id="{C0B6C3FB-6791-4E84-927A-684E70E24E22}"/>
                </a:ext>
              </a:extLst>
            </p:cNvPr>
            <p:cNvSpPr>
              <a:spLocks noChangeArrowheads="1"/>
            </p:cNvSpPr>
            <p:nvPr/>
          </p:nvSpPr>
          <p:spPr bwMode="auto">
            <a:xfrm>
              <a:off x="9309100" y="3124200"/>
              <a:ext cx="630238" cy="630238"/>
            </a:xfrm>
            <a:custGeom>
              <a:avLst/>
              <a:gdLst>
                <a:gd name="T0" fmla="*/ 1468 w 1751"/>
                <a:gd name="T1" fmla="*/ 1748 h 1749"/>
                <a:gd name="T2" fmla="*/ 1750 w 1751"/>
                <a:gd name="T3" fmla="*/ 1466 h 1749"/>
                <a:gd name="T4" fmla="*/ 1750 w 1751"/>
                <a:gd name="T5" fmla="*/ 282 h 1749"/>
                <a:gd name="T6" fmla="*/ 1468 w 1751"/>
                <a:gd name="T7" fmla="*/ 0 h 1749"/>
                <a:gd name="T8" fmla="*/ 282 w 1751"/>
                <a:gd name="T9" fmla="*/ 0 h 1749"/>
                <a:gd name="T10" fmla="*/ 0 w 1751"/>
                <a:gd name="T11" fmla="*/ 282 h 1749"/>
                <a:gd name="T12" fmla="*/ 0 w 1751"/>
                <a:gd name="T13" fmla="*/ 1466 h 1749"/>
                <a:gd name="T14" fmla="*/ 282 w 1751"/>
                <a:gd name="T15" fmla="*/ 1748 h 1749"/>
                <a:gd name="T16" fmla="*/ 1468 w 1751"/>
                <a:gd name="T17" fmla="*/ 1748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49">
                  <a:moveTo>
                    <a:pt x="1468" y="1748"/>
                  </a:moveTo>
                  <a:cubicBezTo>
                    <a:pt x="1623" y="1748"/>
                    <a:pt x="1750" y="1621"/>
                    <a:pt x="1750" y="1466"/>
                  </a:cubicBezTo>
                  <a:cubicBezTo>
                    <a:pt x="1750" y="1071"/>
                    <a:pt x="1750" y="677"/>
                    <a:pt x="1750" y="282"/>
                  </a:cubicBezTo>
                  <a:cubicBezTo>
                    <a:pt x="1750" y="127"/>
                    <a:pt x="1623" y="0"/>
                    <a:pt x="1468" y="0"/>
                  </a:cubicBezTo>
                  <a:cubicBezTo>
                    <a:pt x="1073" y="0"/>
                    <a:pt x="677" y="0"/>
                    <a:pt x="282" y="0"/>
                  </a:cubicBezTo>
                  <a:cubicBezTo>
                    <a:pt x="127" y="0"/>
                    <a:pt x="0" y="127"/>
                    <a:pt x="0" y="282"/>
                  </a:cubicBezTo>
                  <a:cubicBezTo>
                    <a:pt x="0" y="677"/>
                    <a:pt x="0" y="1071"/>
                    <a:pt x="0" y="1466"/>
                  </a:cubicBezTo>
                  <a:cubicBezTo>
                    <a:pt x="0" y="1621"/>
                    <a:pt x="127" y="1748"/>
                    <a:pt x="282" y="1748"/>
                  </a:cubicBezTo>
                  <a:cubicBezTo>
                    <a:pt x="677" y="1748"/>
                    <a:pt x="1073" y="1748"/>
                    <a:pt x="1468" y="1748"/>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nvGrpSpPr>
            <p:cNvPr id="156" name="Group 155">
              <a:extLst>
                <a:ext uri="{FF2B5EF4-FFF2-40B4-BE49-F238E27FC236}">
                  <a16:creationId xmlns:a16="http://schemas.microsoft.com/office/drawing/2014/main" id="{C2F20F84-0F87-8461-7AEC-A59894BA03F0}"/>
                </a:ext>
              </a:extLst>
            </p:cNvPr>
            <p:cNvGrpSpPr/>
            <p:nvPr/>
          </p:nvGrpSpPr>
          <p:grpSpPr>
            <a:xfrm>
              <a:off x="9382125" y="3295650"/>
              <a:ext cx="485775" cy="285750"/>
              <a:chOff x="9382125" y="3295650"/>
              <a:chExt cx="485775" cy="285750"/>
            </a:xfrm>
            <a:grpFill/>
          </p:grpSpPr>
          <p:sp>
            <p:nvSpPr>
              <p:cNvPr id="157" name="Freeform 152">
                <a:extLst>
                  <a:ext uri="{FF2B5EF4-FFF2-40B4-BE49-F238E27FC236}">
                    <a16:creationId xmlns:a16="http://schemas.microsoft.com/office/drawing/2014/main" id="{7A954217-C02E-48BF-5E31-1787868F0126}"/>
                  </a:ext>
                </a:extLst>
              </p:cNvPr>
              <p:cNvSpPr>
                <a:spLocks noChangeArrowheads="1"/>
              </p:cNvSpPr>
              <p:nvPr/>
            </p:nvSpPr>
            <p:spPr bwMode="auto">
              <a:xfrm>
                <a:off x="9721850" y="3297238"/>
                <a:ext cx="7938" cy="1587"/>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58" name="Freeform 153">
                <a:extLst>
                  <a:ext uri="{FF2B5EF4-FFF2-40B4-BE49-F238E27FC236}">
                    <a16:creationId xmlns:a16="http://schemas.microsoft.com/office/drawing/2014/main" id="{9769A1B1-E62C-C148-D510-70DE0A1FB94C}"/>
                  </a:ext>
                </a:extLst>
              </p:cNvPr>
              <p:cNvSpPr>
                <a:spLocks noChangeArrowheads="1"/>
              </p:cNvSpPr>
              <p:nvPr/>
            </p:nvSpPr>
            <p:spPr bwMode="auto">
              <a:xfrm>
                <a:off x="9721850" y="3579813"/>
                <a:ext cx="7938" cy="1587"/>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59" name="Freeform 154">
                <a:extLst>
                  <a:ext uri="{FF2B5EF4-FFF2-40B4-BE49-F238E27FC236}">
                    <a16:creationId xmlns:a16="http://schemas.microsoft.com/office/drawing/2014/main" id="{92A573E6-1F66-5F4F-31B8-9F25A236B1F4}"/>
                  </a:ext>
                </a:extLst>
              </p:cNvPr>
              <p:cNvSpPr>
                <a:spLocks noChangeArrowheads="1"/>
              </p:cNvSpPr>
              <p:nvPr/>
            </p:nvSpPr>
            <p:spPr bwMode="auto">
              <a:xfrm>
                <a:off x="9866313" y="3435350"/>
                <a:ext cx="1587" cy="7938"/>
              </a:xfrm>
              <a:custGeom>
                <a:avLst/>
                <a:gdLst>
                  <a:gd name="T0" fmla="*/ 0 w 1"/>
                  <a:gd name="T1" fmla="*/ 21 h 22"/>
                  <a:gd name="T2" fmla="*/ 0 w 1"/>
                  <a:gd name="T3" fmla="*/ 0 h 22"/>
                </a:gdLst>
                <a:ahLst/>
                <a:cxnLst>
                  <a:cxn ang="0">
                    <a:pos x="T0" y="T1"/>
                  </a:cxn>
                  <a:cxn ang="0">
                    <a:pos x="T2" y="T3"/>
                  </a:cxn>
                </a:cxnLst>
                <a:rect l="0" t="0" r="r" b="b"/>
                <a:pathLst>
                  <a:path w="1" h="22">
                    <a:moveTo>
                      <a:pt x="0" y="21"/>
                    </a:moveTo>
                    <a:cubicBezTo>
                      <a:pt x="0" y="14"/>
                      <a:pt x="0" y="7"/>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0" name="Freeform 155">
                <a:extLst>
                  <a:ext uri="{FF2B5EF4-FFF2-40B4-BE49-F238E27FC236}">
                    <a16:creationId xmlns:a16="http://schemas.microsoft.com/office/drawing/2014/main" id="{9FF78921-123B-6483-CACB-2E73EDB36B99}"/>
                  </a:ext>
                </a:extLst>
              </p:cNvPr>
              <p:cNvSpPr>
                <a:spLocks noChangeArrowheads="1"/>
              </p:cNvSpPr>
              <p:nvPr/>
            </p:nvSpPr>
            <p:spPr bwMode="auto">
              <a:xfrm>
                <a:off x="9685338" y="3300413"/>
                <a:ext cx="7937" cy="3175"/>
              </a:xfrm>
              <a:custGeom>
                <a:avLst/>
                <a:gdLst>
                  <a:gd name="T0" fmla="*/ 21 w 22"/>
                  <a:gd name="T1" fmla="*/ 0 h 7"/>
                  <a:gd name="T2" fmla="*/ 0 w 22"/>
                  <a:gd name="T3" fmla="*/ 6 h 7"/>
                </a:gdLst>
                <a:ahLst/>
                <a:cxnLst>
                  <a:cxn ang="0">
                    <a:pos x="T0" y="T1"/>
                  </a:cxn>
                  <a:cxn ang="0">
                    <a:pos x="T2" y="T3"/>
                  </a:cxn>
                </a:cxnLst>
                <a:rect l="0" t="0" r="r" b="b"/>
                <a:pathLst>
                  <a:path w="22" h="7">
                    <a:moveTo>
                      <a:pt x="21" y="0"/>
                    </a:moveTo>
                    <a:cubicBezTo>
                      <a:pt x="14" y="2"/>
                      <a:pt x="7" y="4"/>
                      <a:pt x="0" y="6"/>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1" name="Freeform 156">
                <a:extLst>
                  <a:ext uri="{FF2B5EF4-FFF2-40B4-BE49-F238E27FC236}">
                    <a16:creationId xmlns:a16="http://schemas.microsoft.com/office/drawing/2014/main" id="{E77ED79B-6E32-5962-184D-DCF9C1B6BDC0}"/>
                  </a:ext>
                </a:extLst>
              </p:cNvPr>
              <p:cNvSpPr>
                <a:spLocks noChangeArrowheads="1"/>
              </p:cNvSpPr>
              <p:nvPr/>
            </p:nvSpPr>
            <p:spPr bwMode="auto">
              <a:xfrm>
                <a:off x="9758363" y="3573463"/>
                <a:ext cx="7937" cy="1587"/>
              </a:xfrm>
              <a:custGeom>
                <a:avLst/>
                <a:gdLst>
                  <a:gd name="T0" fmla="*/ 20 w 21"/>
                  <a:gd name="T1" fmla="*/ 0 h 6"/>
                  <a:gd name="T2" fmla="*/ 0 w 21"/>
                  <a:gd name="T3" fmla="*/ 5 h 6"/>
                </a:gdLst>
                <a:ahLst/>
                <a:cxnLst>
                  <a:cxn ang="0">
                    <a:pos x="T0" y="T1"/>
                  </a:cxn>
                  <a:cxn ang="0">
                    <a:pos x="T2" y="T3"/>
                  </a:cxn>
                </a:cxnLst>
                <a:rect l="0" t="0" r="r" b="b"/>
                <a:pathLst>
                  <a:path w="21" h="6">
                    <a:moveTo>
                      <a:pt x="20" y="0"/>
                    </a:moveTo>
                    <a:cubicBezTo>
                      <a:pt x="13" y="2"/>
                      <a:pt x="7" y="4"/>
                      <a:pt x="0" y="5"/>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2" name="Freeform 157">
                <a:extLst>
                  <a:ext uri="{FF2B5EF4-FFF2-40B4-BE49-F238E27FC236}">
                    <a16:creationId xmlns:a16="http://schemas.microsoft.com/office/drawing/2014/main" id="{EF3740EF-5ABD-9A80-C337-6D91D511632B}"/>
                  </a:ext>
                </a:extLst>
              </p:cNvPr>
              <p:cNvSpPr>
                <a:spLocks noChangeArrowheads="1"/>
              </p:cNvSpPr>
              <p:nvPr/>
            </p:nvSpPr>
            <p:spPr bwMode="auto">
              <a:xfrm>
                <a:off x="9861550" y="3398838"/>
                <a:ext cx="3175" cy="7937"/>
              </a:xfrm>
              <a:custGeom>
                <a:avLst/>
                <a:gdLst>
                  <a:gd name="T0" fmla="*/ 6 w 7"/>
                  <a:gd name="T1" fmla="*/ 20 h 21"/>
                  <a:gd name="T2" fmla="*/ 0 w 7"/>
                  <a:gd name="T3" fmla="*/ 0 h 21"/>
                </a:gdLst>
                <a:ahLst/>
                <a:cxnLst>
                  <a:cxn ang="0">
                    <a:pos x="T0" y="T1"/>
                  </a:cxn>
                  <a:cxn ang="0">
                    <a:pos x="T2" y="T3"/>
                  </a:cxn>
                </a:cxnLst>
                <a:rect l="0" t="0" r="r" b="b"/>
                <a:pathLst>
                  <a:path w="7" h="21">
                    <a:moveTo>
                      <a:pt x="6" y="20"/>
                    </a:moveTo>
                    <a:cubicBezTo>
                      <a:pt x="4" y="13"/>
                      <a:pt x="2" y="6"/>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3" name="Freeform 158">
                <a:extLst>
                  <a:ext uri="{FF2B5EF4-FFF2-40B4-BE49-F238E27FC236}">
                    <a16:creationId xmlns:a16="http://schemas.microsoft.com/office/drawing/2014/main" id="{66680826-B296-9E2C-AAF3-660934CC482A}"/>
                  </a:ext>
                </a:extLst>
              </p:cNvPr>
              <p:cNvSpPr>
                <a:spLocks noChangeArrowheads="1"/>
              </p:cNvSpPr>
              <p:nvPr/>
            </p:nvSpPr>
            <p:spPr bwMode="auto">
              <a:xfrm>
                <a:off x="9588500" y="3470275"/>
                <a:ext cx="1588" cy="7938"/>
              </a:xfrm>
              <a:custGeom>
                <a:avLst/>
                <a:gdLst>
                  <a:gd name="T0" fmla="*/ 5 w 6"/>
                  <a:gd name="T1" fmla="*/ 21 h 22"/>
                  <a:gd name="T2" fmla="*/ 0 w 6"/>
                  <a:gd name="T3" fmla="*/ 0 h 22"/>
                </a:gdLst>
                <a:ahLst/>
                <a:cxnLst>
                  <a:cxn ang="0">
                    <a:pos x="T0" y="T1"/>
                  </a:cxn>
                  <a:cxn ang="0">
                    <a:pos x="T2" y="T3"/>
                  </a:cxn>
                </a:cxnLst>
                <a:rect l="0" t="0" r="r" b="b"/>
                <a:pathLst>
                  <a:path w="6" h="22">
                    <a:moveTo>
                      <a:pt x="5" y="21"/>
                    </a:moveTo>
                    <a:cubicBezTo>
                      <a:pt x="3" y="14"/>
                      <a:pt x="2" y="7"/>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4" name="Freeform 159">
                <a:extLst>
                  <a:ext uri="{FF2B5EF4-FFF2-40B4-BE49-F238E27FC236}">
                    <a16:creationId xmlns:a16="http://schemas.microsoft.com/office/drawing/2014/main" id="{CC081E19-0C58-B535-B274-1A87BFC79B26}"/>
                  </a:ext>
                </a:extLst>
              </p:cNvPr>
              <p:cNvSpPr>
                <a:spLocks noChangeArrowheads="1"/>
              </p:cNvSpPr>
              <p:nvPr/>
            </p:nvSpPr>
            <p:spPr bwMode="auto">
              <a:xfrm>
                <a:off x="9652000" y="3314700"/>
                <a:ext cx="6350" cy="4763"/>
              </a:xfrm>
              <a:custGeom>
                <a:avLst/>
                <a:gdLst>
                  <a:gd name="T0" fmla="*/ 18 w 19"/>
                  <a:gd name="T1" fmla="*/ 0 h 12"/>
                  <a:gd name="T2" fmla="*/ 0 w 19"/>
                  <a:gd name="T3" fmla="*/ 11 h 12"/>
                </a:gdLst>
                <a:ahLst/>
                <a:cxnLst>
                  <a:cxn ang="0">
                    <a:pos x="T0" y="T1"/>
                  </a:cxn>
                  <a:cxn ang="0">
                    <a:pos x="T2" y="T3"/>
                  </a:cxn>
                </a:cxnLst>
                <a:rect l="0" t="0" r="r" b="b"/>
                <a:pathLst>
                  <a:path w="19" h="12">
                    <a:moveTo>
                      <a:pt x="18" y="0"/>
                    </a:moveTo>
                    <a:cubicBezTo>
                      <a:pt x="12" y="3"/>
                      <a:pt x="6" y="7"/>
                      <a:pt x="0" y="11"/>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5" name="Freeform 160">
                <a:extLst>
                  <a:ext uri="{FF2B5EF4-FFF2-40B4-BE49-F238E27FC236}">
                    <a16:creationId xmlns:a16="http://schemas.microsoft.com/office/drawing/2014/main" id="{F9F5684B-E9A0-5C19-AAD6-B4EBFB066D1B}"/>
                  </a:ext>
                </a:extLst>
              </p:cNvPr>
              <p:cNvSpPr>
                <a:spLocks noChangeArrowheads="1"/>
              </p:cNvSpPr>
              <p:nvPr/>
            </p:nvSpPr>
            <p:spPr bwMode="auto">
              <a:xfrm>
                <a:off x="9793288" y="3557588"/>
                <a:ext cx="6350" cy="4762"/>
              </a:xfrm>
              <a:custGeom>
                <a:avLst/>
                <a:gdLst>
                  <a:gd name="T0" fmla="*/ 18 w 19"/>
                  <a:gd name="T1" fmla="*/ 0 h 12"/>
                  <a:gd name="T2" fmla="*/ 0 w 19"/>
                  <a:gd name="T3" fmla="*/ 11 h 12"/>
                </a:gdLst>
                <a:ahLst/>
                <a:cxnLst>
                  <a:cxn ang="0">
                    <a:pos x="T0" y="T1"/>
                  </a:cxn>
                  <a:cxn ang="0">
                    <a:pos x="T2" y="T3"/>
                  </a:cxn>
                </a:cxnLst>
                <a:rect l="0" t="0" r="r" b="b"/>
                <a:pathLst>
                  <a:path w="19" h="12">
                    <a:moveTo>
                      <a:pt x="18" y="0"/>
                    </a:moveTo>
                    <a:cubicBezTo>
                      <a:pt x="12" y="4"/>
                      <a:pt x="6" y="8"/>
                      <a:pt x="0" y="11"/>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6" name="Freeform 161">
                <a:extLst>
                  <a:ext uri="{FF2B5EF4-FFF2-40B4-BE49-F238E27FC236}">
                    <a16:creationId xmlns:a16="http://schemas.microsoft.com/office/drawing/2014/main" id="{6BA1831C-D644-6CAE-3F68-325F8ABA29A4}"/>
                  </a:ext>
                </a:extLst>
              </p:cNvPr>
              <p:cNvSpPr>
                <a:spLocks noChangeArrowheads="1"/>
              </p:cNvSpPr>
              <p:nvPr/>
            </p:nvSpPr>
            <p:spPr bwMode="auto">
              <a:xfrm>
                <a:off x="9845675" y="3363913"/>
                <a:ext cx="3175" cy="7937"/>
              </a:xfrm>
              <a:custGeom>
                <a:avLst/>
                <a:gdLst>
                  <a:gd name="T0" fmla="*/ 10 w 11"/>
                  <a:gd name="T1" fmla="*/ 19 h 20"/>
                  <a:gd name="T2" fmla="*/ 0 w 11"/>
                  <a:gd name="T3" fmla="*/ 0 h 20"/>
                </a:gdLst>
                <a:ahLst/>
                <a:cxnLst>
                  <a:cxn ang="0">
                    <a:pos x="T0" y="T1"/>
                  </a:cxn>
                  <a:cxn ang="0">
                    <a:pos x="T2" y="T3"/>
                  </a:cxn>
                </a:cxnLst>
                <a:rect l="0" t="0" r="r" b="b"/>
                <a:pathLst>
                  <a:path w="11" h="20">
                    <a:moveTo>
                      <a:pt x="10" y="19"/>
                    </a:moveTo>
                    <a:cubicBezTo>
                      <a:pt x="7" y="12"/>
                      <a:pt x="3" y="6"/>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7" name="Freeform 162">
                <a:extLst>
                  <a:ext uri="{FF2B5EF4-FFF2-40B4-BE49-F238E27FC236}">
                    <a16:creationId xmlns:a16="http://schemas.microsoft.com/office/drawing/2014/main" id="{741EF354-827A-7A34-CFDF-0762CE15A7B1}"/>
                  </a:ext>
                </a:extLst>
              </p:cNvPr>
              <p:cNvSpPr>
                <a:spLocks noChangeArrowheads="1"/>
              </p:cNvSpPr>
              <p:nvPr/>
            </p:nvSpPr>
            <p:spPr bwMode="auto">
              <a:xfrm>
                <a:off x="9601200" y="3505200"/>
                <a:ext cx="3175" cy="6350"/>
              </a:xfrm>
              <a:custGeom>
                <a:avLst/>
                <a:gdLst>
                  <a:gd name="T0" fmla="*/ 10 w 11"/>
                  <a:gd name="T1" fmla="*/ 18 h 19"/>
                  <a:gd name="T2" fmla="*/ 0 w 11"/>
                  <a:gd name="T3" fmla="*/ 0 h 19"/>
                </a:gdLst>
                <a:ahLst/>
                <a:cxnLst>
                  <a:cxn ang="0">
                    <a:pos x="T0" y="T1"/>
                  </a:cxn>
                  <a:cxn ang="0">
                    <a:pos x="T2" y="T3"/>
                  </a:cxn>
                </a:cxnLst>
                <a:rect l="0" t="0" r="r" b="b"/>
                <a:pathLst>
                  <a:path w="11" h="19">
                    <a:moveTo>
                      <a:pt x="10" y="18"/>
                    </a:moveTo>
                    <a:cubicBezTo>
                      <a:pt x="7" y="12"/>
                      <a:pt x="3" y="6"/>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8" name="Freeform 163">
                <a:extLst>
                  <a:ext uri="{FF2B5EF4-FFF2-40B4-BE49-F238E27FC236}">
                    <a16:creationId xmlns:a16="http://schemas.microsoft.com/office/drawing/2014/main" id="{BA5A604D-6093-94AE-DC91-7893FE8AE534}"/>
                  </a:ext>
                </a:extLst>
              </p:cNvPr>
              <p:cNvSpPr>
                <a:spLocks noChangeArrowheads="1"/>
              </p:cNvSpPr>
              <p:nvPr/>
            </p:nvSpPr>
            <p:spPr bwMode="auto">
              <a:xfrm>
                <a:off x="9821863" y="3535363"/>
                <a:ext cx="6350" cy="6350"/>
              </a:xfrm>
              <a:custGeom>
                <a:avLst/>
                <a:gdLst>
                  <a:gd name="T0" fmla="*/ 15 w 16"/>
                  <a:gd name="T1" fmla="*/ 0 h 16"/>
                  <a:gd name="T2" fmla="*/ 0 w 16"/>
                  <a:gd name="T3" fmla="*/ 15 h 16"/>
                </a:gdLst>
                <a:ahLst/>
                <a:cxnLst>
                  <a:cxn ang="0">
                    <a:pos x="T0" y="T1"/>
                  </a:cxn>
                  <a:cxn ang="0">
                    <a:pos x="T2" y="T3"/>
                  </a:cxn>
                </a:cxnLst>
                <a:rect l="0" t="0" r="r" b="b"/>
                <a:pathLst>
                  <a:path w="16" h="16">
                    <a:moveTo>
                      <a:pt x="15" y="0"/>
                    </a:moveTo>
                    <a:cubicBezTo>
                      <a:pt x="10" y="5"/>
                      <a:pt x="5" y="10"/>
                      <a:pt x="0" y="15"/>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69" name="Freeform 164">
                <a:extLst>
                  <a:ext uri="{FF2B5EF4-FFF2-40B4-BE49-F238E27FC236}">
                    <a16:creationId xmlns:a16="http://schemas.microsoft.com/office/drawing/2014/main" id="{02ABBDAD-F1F5-C350-4AF9-23E3BD8DF10B}"/>
                  </a:ext>
                </a:extLst>
              </p:cNvPr>
              <p:cNvSpPr>
                <a:spLocks noChangeArrowheads="1"/>
              </p:cNvSpPr>
              <p:nvPr/>
            </p:nvSpPr>
            <p:spPr bwMode="auto">
              <a:xfrm>
                <a:off x="9821863" y="3335338"/>
                <a:ext cx="6350" cy="6350"/>
              </a:xfrm>
              <a:custGeom>
                <a:avLst/>
                <a:gdLst>
                  <a:gd name="T0" fmla="*/ 15 w 16"/>
                  <a:gd name="T1" fmla="*/ 15 h 16"/>
                  <a:gd name="T2" fmla="*/ 0 w 16"/>
                  <a:gd name="T3" fmla="*/ 0 h 16"/>
                </a:gdLst>
                <a:ahLst/>
                <a:cxnLst>
                  <a:cxn ang="0">
                    <a:pos x="T0" y="T1"/>
                  </a:cxn>
                  <a:cxn ang="0">
                    <a:pos x="T2" y="T3"/>
                  </a:cxn>
                </a:cxnLst>
                <a:rect l="0" t="0" r="r" b="b"/>
                <a:pathLst>
                  <a:path w="16" h="16">
                    <a:moveTo>
                      <a:pt x="15" y="15"/>
                    </a:moveTo>
                    <a:cubicBezTo>
                      <a:pt x="10" y="10"/>
                      <a:pt x="5" y="5"/>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0" name="Freeform 165">
                <a:extLst>
                  <a:ext uri="{FF2B5EF4-FFF2-40B4-BE49-F238E27FC236}">
                    <a16:creationId xmlns:a16="http://schemas.microsoft.com/office/drawing/2014/main" id="{DE3DB2EB-4249-B162-C72C-1390CEB4DAFC}"/>
                  </a:ext>
                </a:extLst>
              </p:cNvPr>
              <p:cNvSpPr>
                <a:spLocks noChangeArrowheads="1"/>
              </p:cNvSpPr>
              <p:nvPr/>
            </p:nvSpPr>
            <p:spPr bwMode="auto">
              <a:xfrm>
                <a:off x="9601200" y="3363913"/>
                <a:ext cx="3175" cy="7937"/>
              </a:xfrm>
              <a:custGeom>
                <a:avLst/>
                <a:gdLst>
                  <a:gd name="T0" fmla="*/ 10 w 11"/>
                  <a:gd name="T1" fmla="*/ 0 h 20"/>
                  <a:gd name="T2" fmla="*/ 0 w 11"/>
                  <a:gd name="T3" fmla="*/ 19 h 20"/>
                </a:gdLst>
                <a:ahLst/>
                <a:cxnLst>
                  <a:cxn ang="0">
                    <a:pos x="T0" y="T1"/>
                  </a:cxn>
                  <a:cxn ang="0">
                    <a:pos x="T2" y="T3"/>
                  </a:cxn>
                </a:cxnLst>
                <a:rect l="0" t="0" r="r" b="b"/>
                <a:pathLst>
                  <a:path w="11" h="20">
                    <a:moveTo>
                      <a:pt x="10" y="0"/>
                    </a:moveTo>
                    <a:cubicBezTo>
                      <a:pt x="7" y="6"/>
                      <a:pt x="3" y="12"/>
                      <a:pt x="0" y="19"/>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1" name="Freeform 166">
                <a:extLst>
                  <a:ext uri="{FF2B5EF4-FFF2-40B4-BE49-F238E27FC236}">
                    <a16:creationId xmlns:a16="http://schemas.microsoft.com/office/drawing/2014/main" id="{0BBEAB95-39DC-2CEE-526F-72B16EE317EE}"/>
                  </a:ext>
                </a:extLst>
              </p:cNvPr>
              <p:cNvSpPr>
                <a:spLocks noChangeArrowheads="1"/>
              </p:cNvSpPr>
              <p:nvPr/>
            </p:nvSpPr>
            <p:spPr bwMode="auto">
              <a:xfrm>
                <a:off x="9845675" y="3505200"/>
                <a:ext cx="3175" cy="6350"/>
              </a:xfrm>
              <a:custGeom>
                <a:avLst/>
                <a:gdLst>
                  <a:gd name="T0" fmla="*/ 10 w 11"/>
                  <a:gd name="T1" fmla="*/ 0 h 19"/>
                  <a:gd name="T2" fmla="*/ 0 w 11"/>
                  <a:gd name="T3" fmla="*/ 18 h 19"/>
                </a:gdLst>
                <a:ahLst/>
                <a:cxnLst>
                  <a:cxn ang="0">
                    <a:pos x="T0" y="T1"/>
                  </a:cxn>
                  <a:cxn ang="0">
                    <a:pos x="T2" y="T3"/>
                  </a:cxn>
                </a:cxnLst>
                <a:rect l="0" t="0" r="r" b="b"/>
                <a:pathLst>
                  <a:path w="11" h="19">
                    <a:moveTo>
                      <a:pt x="10" y="0"/>
                    </a:moveTo>
                    <a:cubicBezTo>
                      <a:pt x="7" y="6"/>
                      <a:pt x="3" y="12"/>
                      <a:pt x="0" y="18"/>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2" name="Freeform 167">
                <a:extLst>
                  <a:ext uri="{FF2B5EF4-FFF2-40B4-BE49-F238E27FC236}">
                    <a16:creationId xmlns:a16="http://schemas.microsoft.com/office/drawing/2014/main" id="{8AEB3FBF-F265-21F3-8BC5-B324B43B6E6F}"/>
                  </a:ext>
                </a:extLst>
              </p:cNvPr>
              <p:cNvSpPr>
                <a:spLocks noChangeArrowheads="1"/>
              </p:cNvSpPr>
              <p:nvPr/>
            </p:nvSpPr>
            <p:spPr bwMode="auto">
              <a:xfrm>
                <a:off x="9793288" y="3314700"/>
                <a:ext cx="6350" cy="4763"/>
              </a:xfrm>
              <a:custGeom>
                <a:avLst/>
                <a:gdLst>
                  <a:gd name="T0" fmla="*/ 18 w 19"/>
                  <a:gd name="T1" fmla="*/ 11 h 12"/>
                  <a:gd name="T2" fmla="*/ 0 w 19"/>
                  <a:gd name="T3" fmla="*/ 0 h 12"/>
                </a:gdLst>
                <a:ahLst/>
                <a:cxnLst>
                  <a:cxn ang="0">
                    <a:pos x="T0" y="T1"/>
                  </a:cxn>
                  <a:cxn ang="0">
                    <a:pos x="T2" y="T3"/>
                  </a:cxn>
                </a:cxnLst>
                <a:rect l="0" t="0" r="r" b="b"/>
                <a:pathLst>
                  <a:path w="19" h="12">
                    <a:moveTo>
                      <a:pt x="18" y="11"/>
                    </a:moveTo>
                    <a:cubicBezTo>
                      <a:pt x="12" y="7"/>
                      <a:pt x="6" y="3"/>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3" name="Freeform 168">
                <a:extLst>
                  <a:ext uri="{FF2B5EF4-FFF2-40B4-BE49-F238E27FC236}">
                    <a16:creationId xmlns:a16="http://schemas.microsoft.com/office/drawing/2014/main" id="{601CAD23-80E5-A782-A2FE-659866FB8205}"/>
                  </a:ext>
                </a:extLst>
              </p:cNvPr>
              <p:cNvSpPr>
                <a:spLocks noChangeArrowheads="1"/>
              </p:cNvSpPr>
              <p:nvPr/>
            </p:nvSpPr>
            <p:spPr bwMode="auto">
              <a:xfrm>
                <a:off x="9652000" y="3557588"/>
                <a:ext cx="6350" cy="4762"/>
              </a:xfrm>
              <a:custGeom>
                <a:avLst/>
                <a:gdLst>
                  <a:gd name="T0" fmla="*/ 18 w 19"/>
                  <a:gd name="T1" fmla="*/ 11 h 12"/>
                  <a:gd name="T2" fmla="*/ 0 w 19"/>
                  <a:gd name="T3" fmla="*/ 0 h 12"/>
                </a:gdLst>
                <a:ahLst/>
                <a:cxnLst>
                  <a:cxn ang="0">
                    <a:pos x="T0" y="T1"/>
                  </a:cxn>
                  <a:cxn ang="0">
                    <a:pos x="T2" y="T3"/>
                  </a:cxn>
                </a:cxnLst>
                <a:rect l="0" t="0" r="r" b="b"/>
                <a:pathLst>
                  <a:path w="19" h="12">
                    <a:moveTo>
                      <a:pt x="18" y="11"/>
                    </a:moveTo>
                    <a:cubicBezTo>
                      <a:pt x="12" y="8"/>
                      <a:pt x="6" y="4"/>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4" name="Freeform 169">
                <a:extLst>
                  <a:ext uri="{FF2B5EF4-FFF2-40B4-BE49-F238E27FC236}">
                    <a16:creationId xmlns:a16="http://schemas.microsoft.com/office/drawing/2014/main" id="{F461C206-A21E-DD72-4FF1-574CB9FCB05E}"/>
                  </a:ext>
                </a:extLst>
              </p:cNvPr>
              <p:cNvSpPr>
                <a:spLocks noChangeArrowheads="1"/>
              </p:cNvSpPr>
              <p:nvPr/>
            </p:nvSpPr>
            <p:spPr bwMode="auto">
              <a:xfrm>
                <a:off x="9588500" y="3398838"/>
                <a:ext cx="1588" cy="7937"/>
              </a:xfrm>
              <a:custGeom>
                <a:avLst/>
                <a:gdLst>
                  <a:gd name="T0" fmla="*/ 5 w 6"/>
                  <a:gd name="T1" fmla="*/ 0 h 21"/>
                  <a:gd name="T2" fmla="*/ 0 w 6"/>
                  <a:gd name="T3" fmla="*/ 20 h 21"/>
                </a:gdLst>
                <a:ahLst/>
                <a:cxnLst>
                  <a:cxn ang="0">
                    <a:pos x="T0" y="T1"/>
                  </a:cxn>
                  <a:cxn ang="0">
                    <a:pos x="T2" y="T3"/>
                  </a:cxn>
                </a:cxnLst>
                <a:rect l="0" t="0" r="r" b="b"/>
                <a:pathLst>
                  <a:path w="6" h="21">
                    <a:moveTo>
                      <a:pt x="5" y="0"/>
                    </a:moveTo>
                    <a:cubicBezTo>
                      <a:pt x="3" y="6"/>
                      <a:pt x="2" y="13"/>
                      <a:pt x="0" y="2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5" name="Freeform 170">
                <a:extLst>
                  <a:ext uri="{FF2B5EF4-FFF2-40B4-BE49-F238E27FC236}">
                    <a16:creationId xmlns:a16="http://schemas.microsoft.com/office/drawing/2014/main" id="{A38B4378-3D2D-58C7-27C9-ADCEB2983721}"/>
                  </a:ext>
                </a:extLst>
              </p:cNvPr>
              <p:cNvSpPr>
                <a:spLocks noChangeArrowheads="1"/>
              </p:cNvSpPr>
              <p:nvPr/>
            </p:nvSpPr>
            <p:spPr bwMode="auto">
              <a:xfrm>
                <a:off x="9861550" y="3470275"/>
                <a:ext cx="3175" cy="7938"/>
              </a:xfrm>
              <a:custGeom>
                <a:avLst/>
                <a:gdLst>
                  <a:gd name="T0" fmla="*/ 6 w 7"/>
                  <a:gd name="T1" fmla="*/ 0 h 22"/>
                  <a:gd name="T2" fmla="*/ 0 w 7"/>
                  <a:gd name="T3" fmla="*/ 21 h 22"/>
                </a:gdLst>
                <a:ahLst/>
                <a:cxnLst>
                  <a:cxn ang="0">
                    <a:pos x="T0" y="T1"/>
                  </a:cxn>
                  <a:cxn ang="0">
                    <a:pos x="T2" y="T3"/>
                  </a:cxn>
                </a:cxnLst>
                <a:rect l="0" t="0" r="r" b="b"/>
                <a:pathLst>
                  <a:path w="7" h="22">
                    <a:moveTo>
                      <a:pt x="6" y="0"/>
                    </a:moveTo>
                    <a:cubicBezTo>
                      <a:pt x="4" y="7"/>
                      <a:pt x="2" y="14"/>
                      <a:pt x="0" y="21"/>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6" name="Freeform 171">
                <a:extLst>
                  <a:ext uri="{FF2B5EF4-FFF2-40B4-BE49-F238E27FC236}">
                    <a16:creationId xmlns:a16="http://schemas.microsoft.com/office/drawing/2014/main" id="{ED06A006-35B0-F88E-40A9-E7772D7E8BB5}"/>
                  </a:ext>
                </a:extLst>
              </p:cNvPr>
              <p:cNvSpPr>
                <a:spLocks noChangeArrowheads="1"/>
              </p:cNvSpPr>
              <p:nvPr/>
            </p:nvSpPr>
            <p:spPr bwMode="auto">
              <a:xfrm>
                <a:off x="9758363" y="3300413"/>
                <a:ext cx="7937" cy="3175"/>
              </a:xfrm>
              <a:custGeom>
                <a:avLst/>
                <a:gdLst>
                  <a:gd name="T0" fmla="*/ 20 w 21"/>
                  <a:gd name="T1" fmla="*/ 6 h 7"/>
                  <a:gd name="T2" fmla="*/ 0 w 21"/>
                  <a:gd name="T3" fmla="*/ 0 h 7"/>
                </a:gdLst>
                <a:ahLst/>
                <a:cxnLst>
                  <a:cxn ang="0">
                    <a:pos x="T0" y="T1"/>
                  </a:cxn>
                  <a:cxn ang="0">
                    <a:pos x="T2" y="T3"/>
                  </a:cxn>
                </a:cxnLst>
                <a:rect l="0" t="0" r="r" b="b"/>
                <a:pathLst>
                  <a:path w="21" h="7">
                    <a:moveTo>
                      <a:pt x="20" y="6"/>
                    </a:moveTo>
                    <a:cubicBezTo>
                      <a:pt x="13" y="4"/>
                      <a:pt x="7" y="2"/>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7" name="Freeform 172">
                <a:extLst>
                  <a:ext uri="{FF2B5EF4-FFF2-40B4-BE49-F238E27FC236}">
                    <a16:creationId xmlns:a16="http://schemas.microsoft.com/office/drawing/2014/main" id="{EBF894EA-A5D6-2AD3-8EB1-8A491F760FDE}"/>
                  </a:ext>
                </a:extLst>
              </p:cNvPr>
              <p:cNvSpPr>
                <a:spLocks noChangeArrowheads="1"/>
              </p:cNvSpPr>
              <p:nvPr/>
            </p:nvSpPr>
            <p:spPr bwMode="auto">
              <a:xfrm>
                <a:off x="9685338" y="3573463"/>
                <a:ext cx="7937" cy="1587"/>
              </a:xfrm>
              <a:custGeom>
                <a:avLst/>
                <a:gdLst>
                  <a:gd name="T0" fmla="*/ 21 w 22"/>
                  <a:gd name="T1" fmla="*/ 5 h 6"/>
                  <a:gd name="T2" fmla="*/ 0 w 22"/>
                  <a:gd name="T3" fmla="*/ 0 h 6"/>
                </a:gdLst>
                <a:ahLst/>
                <a:cxnLst>
                  <a:cxn ang="0">
                    <a:pos x="T0" y="T1"/>
                  </a:cxn>
                  <a:cxn ang="0">
                    <a:pos x="T2" y="T3"/>
                  </a:cxn>
                </a:cxnLst>
                <a:rect l="0" t="0" r="r" b="b"/>
                <a:pathLst>
                  <a:path w="22" h="6">
                    <a:moveTo>
                      <a:pt x="21" y="5"/>
                    </a:moveTo>
                    <a:cubicBezTo>
                      <a:pt x="14" y="4"/>
                      <a:pt x="7" y="2"/>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8" name="Freeform 173">
                <a:extLst>
                  <a:ext uri="{FF2B5EF4-FFF2-40B4-BE49-F238E27FC236}">
                    <a16:creationId xmlns:a16="http://schemas.microsoft.com/office/drawing/2014/main" id="{745B772C-6615-7DC9-FBE3-78437BD157E3}"/>
                  </a:ext>
                </a:extLst>
              </p:cNvPr>
              <p:cNvSpPr>
                <a:spLocks noChangeArrowheads="1"/>
              </p:cNvSpPr>
              <p:nvPr/>
            </p:nvSpPr>
            <p:spPr bwMode="auto">
              <a:xfrm>
                <a:off x="9525000" y="3438525"/>
                <a:ext cx="239713" cy="1588"/>
              </a:xfrm>
              <a:custGeom>
                <a:avLst/>
                <a:gdLst>
                  <a:gd name="T0" fmla="*/ 664 w 665"/>
                  <a:gd name="T1" fmla="*/ 0 h 1"/>
                  <a:gd name="T2" fmla="*/ 0 w 665"/>
                  <a:gd name="T3" fmla="*/ 0 h 1"/>
                </a:gdLst>
                <a:ahLst/>
                <a:cxnLst>
                  <a:cxn ang="0">
                    <a:pos x="T0" y="T1"/>
                  </a:cxn>
                  <a:cxn ang="0">
                    <a:pos x="T2" y="T3"/>
                  </a:cxn>
                </a:cxnLst>
                <a:rect l="0" t="0" r="r" b="b"/>
                <a:pathLst>
                  <a:path w="665" h="1">
                    <a:moveTo>
                      <a:pt x="664" y="0"/>
                    </a:moveTo>
                    <a:cubicBezTo>
                      <a:pt x="443" y="0"/>
                      <a:pt x="221" y="0"/>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79" name="Freeform 174">
                <a:extLst>
                  <a:ext uri="{FF2B5EF4-FFF2-40B4-BE49-F238E27FC236}">
                    <a16:creationId xmlns:a16="http://schemas.microsoft.com/office/drawing/2014/main" id="{99538496-4FCD-6432-EC60-DD658B16C686}"/>
                  </a:ext>
                </a:extLst>
              </p:cNvPr>
              <p:cNvSpPr>
                <a:spLocks noChangeArrowheads="1"/>
              </p:cNvSpPr>
              <p:nvPr/>
            </p:nvSpPr>
            <p:spPr bwMode="auto">
              <a:xfrm>
                <a:off x="9725025" y="3397250"/>
                <a:ext cx="39688" cy="80963"/>
              </a:xfrm>
              <a:custGeom>
                <a:avLst/>
                <a:gdLst>
                  <a:gd name="T0" fmla="*/ 0 w 112"/>
                  <a:gd name="T1" fmla="*/ 225 h 226"/>
                  <a:gd name="T2" fmla="*/ 108 w 112"/>
                  <a:gd name="T3" fmla="*/ 118 h 226"/>
                  <a:gd name="T4" fmla="*/ 108 w 112"/>
                  <a:gd name="T5" fmla="*/ 108 h 226"/>
                  <a:gd name="T6" fmla="*/ 0 w 112"/>
                  <a:gd name="T7" fmla="*/ 0 h 226"/>
                </a:gdLst>
                <a:ahLst/>
                <a:cxnLst>
                  <a:cxn ang="0">
                    <a:pos x="T0" y="T1"/>
                  </a:cxn>
                  <a:cxn ang="0">
                    <a:pos x="T2" y="T3"/>
                  </a:cxn>
                  <a:cxn ang="0">
                    <a:pos x="T4" y="T5"/>
                  </a:cxn>
                  <a:cxn ang="0">
                    <a:pos x="T6" y="T7"/>
                  </a:cxn>
                </a:cxnLst>
                <a:rect l="0" t="0" r="r" b="b"/>
                <a:pathLst>
                  <a:path w="112" h="226">
                    <a:moveTo>
                      <a:pt x="0" y="225"/>
                    </a:moveTo>
                    <a:cubicBezTo>
                      <a:pt x="36" y="189"/>
                      <a:pt x="72" y="154"/>
                      <a:pt x="108" y="118"/>
                    </a:cubicBezTo>
                    <a:cubicBezTo>
                      <a:pt x="111" y="116"/>
                      <a:pt x="111" y="111"/>
                      <a:pt x="108" y="108"/>
                    </a:cubicBezTo>
                    <a:cubicBezTo>
                      <a:pt x="72" y="72"/>
                      <a:pt x="36" y="36"/>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80" name="Freeform 175">
                <a:extLst>
                  <a:ext uri="{FF2B5EF4-FFF2-40B4-BE49-F238E27FC236}">
                    <a16:creationId xmlns:a16="http://schemas.microsoft.com/office/drawing/2014/main" id="{C573DF19-6AE6-A72A-76F7-96AD39F779D3}"/>
                  </a:ext>
                </a:extLst>
              </p:cNvPr>
              <p:cNvSpPr>
                <a:spLocks noChangeArrowheads="1"/>
              </p:cNvSpPr>
              <p:nvPr/>
            </p:nvSpPr>
            <p:spPr bwMode="auto">
              <a:xfrm>
                <a:off x="9382125" y="3295650"/>
                <a:ext cx="284163" cy="284163"/>
              </a:xfrm>
              <a:custGeom>
                <a:avLst/>
                <a:gdLst>
                  <a:gd name="T0" fmla="*/ 395 w 791"/>
                  <a:gd name="T1" fmla="*/ 789 h 790"/>
                  <a:gd name="T2" fmla="*/ 0 w 791"/>
                  <a:gd name="T3" fmla="*/ 395 h 790"/>
                  <a:gd name="T4" fmla="*/ 395 w 791"/>
                  <a:gd name="T5" fmla="*/ 0 h 790"/>
                  <a:gd name="T6" fmla="*/ 790 w 791"/>
                  <a:gd name="T7" fmla="*/ 395 h 790"/>
                  <a:gd name="T8" fmla="*/ 395 w 791"/>
                  <a:gd name="T9" fmla="*/ 789 h 790"/>
                </a:gdLst>
                <a:ahLst/>
                <a:cxnLst>
                  <a:cxn ang="0">
                    <a:pos x="T0" y="T1"/>
                  </a:cxn>
                  <a:cxn ang="0">
                    <a:pos x="T2" y="T3"/>
                  </a:cxn>
                  <a:cxn ang="0">
                    <a:pos x="T4" y="T5"/>
                  </a:cxn>
                  <a:cxn ang="0">
                    <a:pos x="T6" y="T7"/>
                  </a:cxn>
                  <a:cxn ang="0">
                    <a:pos x="T8" y="T9"/>
                  </a:cxn>
                </a:cxnLst>
                <a:rect l="0" t="0" r="r" b="b"/>
                <a:pathLst>
                  <a:path w="791" h="790">
                    <a:moveTo>
                      <a:pt x="395" y="789"/>
                    </a:moveTo>
                    <a:cubicBezTo>
                      <a:pt x="177" y="789"/>
                      <a:pt x="0" y="612"/>
                      <a:pt x="0" y="395"/>
                    </a:cubicBezTo>
                    <a:cubicBezTo>
                      <a:pt x="0" y="178"/>
                      <a:pt x="178" y="0"/>
                      <a:pt x="395" y="0"/>
                    </a:cubicBezTo>
                    <a:cubicBezTo>
                      <a:pt x="613" y="0"/>
                      <a:pt x="790" y="178"/>
                      <a:pt x="790" y="395"/>
                    </a:cubicBezTo>
                    <a:cubicBezTo>
                      <a:pt x="790" y="612"/>
                      <a:pt x="612" y="789"/>
                      <a:pt x="395" y="789"/>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grpSp>
      <p:grpSp>
        <p:nvGrpSpPr>
          <p:cNvPr id="181" name="Group 180">
            <a:extLst>
              <a:ext uri="{FF2B5EF4-FFF2-40B4-BE49-F238E27FC236}">
                <a16:creationId xmlns:a16="http://schemas.microsoft.com/office/drawing/2014/main" id="{0748AB65-73C9-F1D2-ED0B-42EF7FAC153C}"/>
              </a:ext>
            </a:extLst>
          </p:cNvPr>
          <p:cNvGrpSpPr>
            <a:grpSpLocks noChangeAspect="1"/>
          </p:cNvGrpSpPr>
          <p:nvPr/>
        </p:nvGrpSpPr>
        <p:grpSpPr>
          <a:xfrm>
            <a:off x="15018789" y="7712053"/>
            <a:ext cx="632818" cy="632818"/>
            <a:chOff x="2897981" y="657226"/>
            <a:chExt cx="747712" cy="747712"/>
          </a:xfrm>
          <a:solidFill>
            <a:schemeClr val="bg1"/>
          </a:solidFill>
        </p:grpSpPr>
        <p:sp>
          <p:nvSpPr>
            <p:cNvPr id="182" name="Freeform 49">
              <a:extLst>
                <a:ext uri="{FF2B5EF4-FFF2-40B4-BE49-F238E27FC236}">
                  <a16:creationId xmlns:a16="http://schemas.microsoft.com/office/drawing/2014/main" id="{1B8A667C-1D7F-5239-B4E6-533AB6ABC78F}"/>
                </a:ext>
              </a:extLst>
            </p:cNvPr>
            <p:cNvSpPr>
              <a:spLocks noChangeArrowheads="1"/>
            </p:cNvSpPr>
            <p:nvPr/>
          </p:nvSpPr>
          <p:spPr bwMode="auto">
            <a:xfrm>
              <a:off x="2897981" y="657226"/>
              <a:ext cx="747712" cy="747712"/>
            </a:xfrm>
            <a:custGeom>
              <a:avLst/>
              <a:gdLst>
                <a:gd name="T0" fmla="*/ 1743 w 2079"/>
                <a:gd name="T1" fmla="*/ 2078 h 2079"/>
                <a:gd name="T2" fmla="*/ 2078 w 2079"/>
                <a:gd name="T3" fmla="*/ 1743 h 2079"/>
                <a:gd name="T4" fmla="*/ 2078 w 2079"/>
                <a:gd name="T5" fmla="*/ 335 h 2079"/>
                <a:gd name="T6" fmla="*/ 1743 w 2079"/>
                <a:gd name="T7" fmla="*/ 0 h 2079"/>
                <a:gd name="T8" fmla="*/ 335 w 2079"/>
                <a:gd name="T9" fmla="*/ 0 h 2079"/>
                <a:gd name="T10" fmla="*/ 0 w 2079"/>
                <a:gd name="T11" fmla="*/ 335 h 2079"/>
                <a:gd name="T12" fmla="*/ 0 w 2079"/>
                <a:gd name="T13" fmla="*/ 1743 h 2079"/>
                <a:gd name="T14" fmla="*/ 335 w 2079"/>
                <a:gd name="T15" fmla="*/ 2078 h 2079"/>
                <a:gd name="T16" fmla="*/ 1743 w 2079"/>
                <a:gd name="T17" fmla="*/ 2078 h 2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9" h="2079">
                  <a:moveTo>
                    <a:pt x="1743" y="2078"/>
                  </a:moveTo>
                  <a:cubicBezTo>
                    <a:pt x="1927" y="2078"/>
                    <a:pt x="2078" y="1927"/>
                    <a:pt x="2078" y="1743"/>
                  </a:cubicBezTo>
                  <a:cubicBezTo>
                    <a:pt x="2078" y="1274"/>
                    <a:pt x="2078" y="804"/>
                    <a:pt x="2078" y="335"/>
                  </a:cubicBezTo>
                  <a:cubicBezTo>
                    <a:pt x="2078" y="150"/>
                    <a:pt x="1927" y="0"/>
                    <a:pt x="1743" y="0"/>
                  </a:cubicBezTo>
                  <a:cubicBezTo>
                    <a:pt x="1273" y="0"/>
                    <a:pt x="804" y="0"/>
                    <a:pt x="335" y="0"/>
                  </a:cubicBezTo>
                  <a:cubicBezTo>
                    <a:pt x="151" y="0"/>
                    <a:pt x="0" y="150"/>
                    <a:pt x="0" y="335"/>
                  </a:cubicBezTo>
                  <a:cubicBezTo>
                    <a:pt x="0" y="804"/>
                    <a:pt x="0" y="1274"/>
                    <a:pt x="0" y="1743"/>
                  </a:cubicBezTo>
                  <a:cubicBezTo>
                    <a:pt x="0" y="1927"/>
                    <a:pt x="151" y="2078"/>
                    <a:pt x="335" y="2078"/>
                  </a:cubicBezTo>
                  <a:cubicBezTo>
                    <a:pt x="804" y="2078"/>
                    <a:pt x="1273" y="2078"/>
                    <a:pt x="1743" y="2078"/>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nvGrpSpPr>
            <p:cNvPr id="183" name="Group 182">
              <a:extLst>
                <a:ext uri="{FF2B5EF4-FFF2-40B4-BE49-F238E27FC236}">
                  <a16:creationId xmlns:a16="http://schemas.microsoft.com/office/drawing/2014/main" id="{0ABC9F77-2384-D31B-AEF6-85820C69BA81}"/>
                </a:ext>
              </a:extLst>
            </p:cNvPr>
            <p:cNvGrpSpPr/>
            <p:nvPr/>
          </p:nvGrpSpPr>
          <p:grpSpPr>
            <a:xfrm>
              <a:off x="3072606" y="838201"/>
              <a:ext cx="398462" cy="361950"/>
              <a:chOff x="3072606" y="838201"/>
              <a:chExt cx="398462" cy="361950"/>
            </a:xfrm>
            <a:grpFill/>
          </p:grpSpPr>
          <p:sp>
            <p:nvSpPr>
              <p:cNvPr id="184" name="Freeform 50">
                <a:extLst>
                  <a:ext uri="{FF2B5EF4-FFF2-40B4-BE49-F238E27FC236}">
                    <a16:creationId xmlns:a16="http://schemas.microsoft.com/office/drawing/2014/main" id="{63E889BE-2936-042B-6DA7-A655718C9FD0}"/>
                  </a:ext>
                </a:extLst>
              </p:cNvPr>
              <p:cNvSpPr>
                <a:spLocks noChangeArrowheads="1"/>
              </p:cNvSpPr>
              <p:nvPr/>
            </p:nvSpPr>
            <p:spPr bwMode="auto">
              <a:xfrm>
                <a:off x="3150393" y="838201"/>
                <a:ext cx="96838" cy="44450"/>
              </a:xfrm>
              <a:custGeom>
                <a:avLst/>
                <a:gdLst>
                  <a:gd name="T0" fmla="*/ 25 w 267"/>
                  <a:gd name="T1" fmla="*/ 0 h 122"/>
                  <a:gd name="T2" fmla="*/ 7 w 267"/>
                  <a:gd name="T3" fmla="*/ 29 h 122"/>
                  <a:gd name="T4" fmla="*/ 53 w 267"/>
                  <a:gd name="T5" fmla="*/ 121 h 122"/>
                  <a:gd name="T6" fmla="*/ 214 w 267"/>
                  <a:gd name="T7" fmla="*/ 121 h 122"/>
                  <a:gd name="T8" fmla="*/ 259 w 267"/>
                  <a:gd name="T9" fmla="*/ 29 h 122"/>
                  <a:gd name="T10" fmla="*/ 241 w 267"/>
                  <a:gd name="T11" fmla="*/ 0 h 122"/>
                  <a:gd name="T12" fmla="*/ 25 w 267"/>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267" h="122">
                    <a:moveTo>
                      <a:pt x="25" y="0"/>
                    </a:moveTo>
                    <a:cubicBezTo>
                      <a:pt x="10" y="0"/>
                      <a:pt x="0" y="16"/>
                      <a:pt x="7" y="29"/>
                    </a:cubicBezTo>
                    <a:cubicBezTo>
                      <a:pt x="22" y="60"/>
                      <a:pt x="37" y="90"/>
                      <a:pt x="53" y="121"/>
                    </a:cubicBezTo>
                    <a:cubicBezTo>
                      <a:pt x="106" y="121"/>
                      <a:pt x="160" y="121"/>
                      <a:pt x="214" y="121"/>
                    </a:cubicBezTo>
                    <a:cubicBezTo>
                      <a:pt x="229" y="90"/>
                      <a:pt x="244" y="60"/>
                      <a:pt x="259" y="29"/>
                    </a:cubicBezTo>
                    <a:cubicBezTo>
                      <a:pt x="266" y="16"/>
                      <a:pt x="256" y="0"/>
                      <a:pt x="241" y="0"/>
                    </a:cubicBezTo>
                    <a:cubicBezTo>
                      <a:pt x="169" y="0"/>
                      <a:pt x="97" y="0"/>
                      <a:pt x="25"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85" name="Freeform 51">
                <a:extLst>
                  <a:ext uri="{FF2B5EF4-FFF2-40B4-BE49-F238E27FC236}">
                    <a16:creationId xmlns:a16="http://schemas.microsoft.com/office/drawing/2014/main" id="{B21CBFA5-2965-67BD-7D46-6A391187C784}"/>
                  </a:ext>
                </a:extLst>
              </p:cNvPr>
              <p:cNvSpPr>
                <a:spLocks noChangeArrowheads="1"/>
              </p:cNvSpPr>
              <p:nvPr/>
            </p:nvSpPr>
            <p:spPr bwMode="auto">
              <a:xfrm>
                <a:off x="3296443" y="838201"/>
                <a:ext cx="96838" cy="44450"/>
              </a:xfrm>
              <a:custGeom>
                <a:avLst/>
                <a:gdLst>
                  <a:gd name="T0" fmla="*/ 25 w 267"/>
                  <a:gd name="T1" fmla="*/ 0 h 122"/>
                  <a:gd name="T2" fmla="*/ 7 w 267"/>
                  <a:gd name="T3" fmla="*/ 29 h 122"/>
                  <a:gd name="T4" fmla="*/ 53 w 267"/>
                  <a:gd name="T5" fmla="*/ 121 h 122"/>
                  <a:gd name="T6" fmla="*/ 214 w 267"/>
                  <a:gd name="T7" fmla="*/ 121 h 122"/>
                  <a:gd name="T8" fmla="*/ 260 w 267"/>
                  <a:gd name="T9" fmla="*/ 29 h 122"/>
                  <a:gd name="T10" fmla="*/ 242 w 267"/>
                  <a:gd name="T11" fmla="*/ 0 h 122"/>
                  <a:gd name="T12" fmla="*/ 25 w 267"/>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267" h="122">
                    <a:moveTo>
                      <a:pt x="25" y="0"/>
                    </a:moveTo>
                    <a:cubicBezTo>
                      <a:pt x="10" y="0"/>
                      <a:pt x="0" y="16"/>
                      <a:pt x="7" y="29"/>
                    </a:cubicBezTo>
                    <a:cubicBezTo>
                      <a:pt x="22" y="60"/>
                      <a:pt x="37" y="90"/>
                      <a:pt x="53" y="121"/>
                    </a:cubicBezTo>
                    <a:cubicBezTo>
                      <a:pt x="106" y="121"/>
                      <a:pt x="160" y="121"/>
                      <a:pt x="214" y="121"/>
                    </a:cubicBezTo>
                    <a:cubicBezTo>
                      <a:pt x="229" y="90"/>
                      <a:pt x="244" y="60"/>
                      <a:pt x="260" y="29"/>
                    </a:cubicBezTo>
                    <a:cubicBezTo>
                      <a:pt x="266" y="16"/>
                      <a:pt x="256" y="0"/>
                      <a:pt x="242" y="0"/>
                    </a:cubicBezTo>
                    <a:cubicBezTo>
                      <a:pt x="169" y="0"/>
                      <a:pt x="97" y="0"/>
                      <a:pt x="25"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186" name="Freeform 52">
                <a:extLst>
                  <a:ext uri="{FF2B5EF4-FFF2-40B4-BE49-F238E27FC236}">
                    <a16:creationId xmlns:a16="http://schemas.microsoft.com/office/drawing/2014/main" id="{0EB67F1E-57CB-D5B8-1D1D-7C4AD6FBFF0C}"/>
                  </a:ext>
                </a:extLst>
              </p:cNvPr>
              <p:cNvSpPr>
                <a:spLocks noChangeArrowheads="1"/>
              </p:cNvSpPr>
              <p:nvPr/>
            </p:nvSpPr>
            <p:spPr bwMode="auto">
              <a:xfrm>
                <a:off x="3242468" y="946151"/>
                <a:ext cx="1588" cy="49212"/>
              </a:xfrm>
              <a:custGeom>
                <a:avLst/>
                <a:gdLst>
                  <a:gd name="T0" fmla="*/ 0 w 1"/>
                  <a:gd name="T1" fmla="*/ 0 h 135"/>
                  <a:gd name="T2" fmla="*/ 0 w 1"/>
                  <a:gd name="T3" fmla="*/ 134 h 135"/>
                </a:gdLst>
                <a:ahLst/>
                <a:cxnLst>
                  <a:cxn ang="0">
                    <a:pos x="T0" y="T1"/>
                  </a:cxn>
                  <a:cxn ang="0">
                    <a:pos x="T2" y="T3"/>
                  </a:cxn>
                </a:cxnLst>
                <a:rect l="0" t="0" r="r" b="b"/>
                <a:pathLst>
                  <a:path w="1" h="135">
                    <a:moveTo>
                      <a:pt x="0" y="0"/>
                    </a:moveTo>
                    <a:cubicBezTo>
                      <a:pt x="0" y="45"/>
                      <a:pt x="0" y="89"/>
                      <a:pt x="0" y="134"/>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87" name="Freeform 53">
                <a:extLst>
                  <a:ext uri="{FF2B5EF4-FFF2-40B4-BE49-F238E27FC236}">
                    <a16:creationId xmlns:a16="http://schemas.microsoft.com/office/drawing/2014/main" id="{C4D45458-7F11-21F9-C085-E7B53BB64E3B}"/>
                  </a:ext>
                </a:extLst>
              </p:cNvPr>
              <p:cNvSpPr>
                <a:spLocks noChangeArrowheads="1"/>
              </p:cNvSpPr>
              <p:nvPr/>
            </p:nvSpPr>
            <p:spPr bwMode="auto">
              <a:xfrm>
                <a:off x="3301206" y="946151"/>
                <a:ext cx="1587" cy="49212"/>
              </a:xfrm>
              <a:custGeom>
                <a:avLst/>
                <a:gdLst>
                  <a:gd name="T0" fmla="*/ 0 w 1"/>
                  <a:gd name="T1" fmla="*/ 0 h 135"/>
                  <a:gd name="T2" fmla="*/ 0 w 1"/>
                  <a:gd name="T3" fmla="*/ 134 h 135"/>
                </a:gdLst>
                <a:ahLst/>
                <a:cxnLst>
                  <a:cxn ang="0">
                    <a:pos x="T0" y="T1"/>
                  </a:cxn>
                  <a:cxn ang="0">
                    <a:pos x="T2" y="T3"/>
                  </a:cxn>
                </a:cxnLst>
                <a:rect l="0" t="0" r="r" b="b"/>
                <a:pathLst>
                  <a:path w="1" h="135">
                    <a:moveTo>
                      <a:pt x="0" y="0"/>
                    </a:moveTo>
                    <a:cubicBezTo>
                      <a:pt x="0" y="45"/>
                      <a:pt x="0" y="89"/>
                      <a:pt x="0" y="134"/>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88" name="Freeform 54">
                <a:extLst>
                  <a:ext uri="{FF2B5EF4-FFF2-40B4-BE49-F238E27FC236}">
                    <a16:creationId xmlns:a16="http://schemas.microsoft.com/office/drawing/2014/main" id="{5E6D1B8D-C266-7D83-9AB1-63EEB0BA554E}"/>
                  </a:ext>
                </a:extLst>
              </p:cNvPr>
              <p:cNvSpPr>
                <a:spLocks noChangeArrowheads="1"/>
              </p:cNvSpPr>
              <p:nvPr/>
            </p:nvSpPr>
            <p:spPr bwMode="auto">
              <a:xfrm>
                <a:off x="3204368" y="909638"/>
                <a:ext cx="133350" cy="36513"/>
              </a:xfrm>
              <a:custGeom>
                <a:avLst/>
                <a:gdLst>
                  <a:gd name="T0" fmla="*/ 0 w 370"/>
                  <a:gd name="T1" fmla="*/ 0 h 101"/>
                  <a:gd name="T2" fmla="*/ 0 w 370"/>
                  <a:gd name="T3" fmla="*/ 60 h 101"/>
                  <a:gd name="T4" fmla="*/ 40 w 370"/>
                  <a:gd name="T5" fmla="*/ 100 h 101"/>
                  <a:gd name="T6" fmla="*/ 328 w 370"/>
                  <a:gd name="T7" fmla="*/ 100 h 101"/>
                  <a:gd name="T8" fmla="*/ 369 w 370"/>
                  <a:gd name="T9" fmla="*/ 60 h 101"/>
                  <a:gd name="T10" fmla="*/ 369 w 370"/>
                  <a:gd name="T11" fmla="*/ 0 h 101"/>
                </a:gdLst>
                <a:ahLst/>
                <a:cxnLst>
                  <a:cxn ang="0">
                    <a:pos x="T0" y="T1"/>
                  </a:cxn>
                  <a:cxn ang="0">
                    <a:pos x="T2" y="T3"/>
                  </a:cxn>
                  <a:cxn ang="0">
                    <a:pos x="T4" y="T5"/>
                  </a:cxn>
                  <a:cxn ang="0">
                    <a:pos x="T6" y="T7"/>
                  </a:cxn>
                  <a:cxn ang="0">
                    <a:pos x="T8" y="T9"/>
                  </a:cxn>
                  <a:cxn ang="0">
                    <a:pos x="T10" y="T11"/>
                  </a:cxn>
                </a:cxnLst>
                <a:rect l="0" t="0" r="r" b="b"/>
                <a:pathLst>
                  <a:path w="370" h="101">
                    <a:moveTo>
                      <a:pt x="0" y="0"/>
                    </a:moveTo>
                    <a:cubicBezTo>
                      <a:pt x="0" y="20"/>
                      <a:pt x="0" y="40"/>
                      <a:pt x="0" y="60"/>
                    </a:cubicBezTo>
                    <a:cubicBezTo>
                      <a:pt x="0" y="82"/>
                      <a:pt x="18" y="100"/>
                      <a:pt x="40" y="100"/>
                    </a:cubicBezTo>
                    <a:cubicBezTo>
                      <a:pt x="136" y="100"/>
                      <a:pt x="232" y="100"/>
                      <a:pt x="328" y="100"/>
                    </a:cubicBezTo>
                    <a:cubicBezTo>
                      <a:pt x="351" y="100"/>
                      <a:pt x="369" y="82"/>
                      <a:pt x="369" y="60"/>
                    </a:cubicBezTo>
                    <a:cubicBezTo>
                      <a:pt x="369" y="40"/>
                      <a:pt x="369" y="20"/>
                      <a:pt x="369"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89" name="Freeform 55">
                <a:extLst>
                  <a:ext uri="{FF2B5EF4-FFF2-40B4-BE49-F238E27FC236}">
                    <a16:creationId xmlns:a16="http://schemas.microsoft.com/office/drawing/2014/main" id="{4CD7649F-3C3D-C1B0-9765-B24DBD061067}"/>
                  </a:ext>
                </a:extLst>
              </p:cNvPr>
              <p:cNvSpPr>
                <a:spLocks noChangeArrowheads="1"/>
              </p:cNvSpPr>
              <p:nvPr/>
            </p:nvSpPr>
            <p:spPr bwMode="auto">
              <a:xfrm>
                <a:off x="3077368" y="909638"/>
                <a:ext cx="387350" cy="157163"/>
              </a:xfrm>
              <a:custGeom>
                <a:avLst/>
                <a:gdLst>
                  <a:gd name="T0" fmla="*/ 618 w 1076"/>
                  <a:gd name="T1" fmla="*/ 335 h 436"/>
                  <a:gd name="T2" fmla="*/ 618 w 1076"/>
                  <a:gd name="T3" fmla="*/ 395 h 436"/>
                  <a:gd name="T4" fmla="*/ 658 w 1076"/>
                  <a:gd name="T5" fmla="*/ 435 h 436"/>
                  <a:gd name="T6" fmla="*/ 1040 w 1076"/>
                  <a:gd name="T7" fmla="*/ 435 h 436"/>
                  <a:gd name="T8" fmla="*/ 1066 w 1076"/>
                  <a:gd name="T9" fmla="*/ 423 h 436"/>
                  <a:gd name="T10" fmla="*/ 1073 w 1076"/>
                  <a:gd name="T11" fmla="*/ 394 h 436"/>
                  <a:gd name="T12" fmla="*/ 1003 w 1076"/>
                  <a:gd name="T13" fmla="*/ 93 h 436"/>
                  <a:gd name="T14" fmla="*/ 886 w 1076"/>
                  <a:gd name="T15" fmla="*/ 0 h 436"/>
                  <a:gd name="T16" fmla="*/ 189 w 1076"/>
                  <a:gd name="T17" fmla="*/ 0 h 436"/>
                  <a:gd name="T18" fmla="*/ 71 w 1076"/>
                  <a:gd name="T19" fmla="*/ 93 h 436"/>
                  <a:gd name="T20" fmla="*/ 2 w 1076"/>
                  <a:gd name="T21" fmla="*/ 394 h 436"/>
                  <a:gd name="T22" fmla="*/ 8 w 1076"/>
                  <a:gd name="T23" fmla="*/ 423 h 436"/>
                  <a:gd name="T24" fmla="*/ 35 w 1076"/>
                  <a:gd name="T25" fmla="*/ 435 h 436"/>
                  <a:gd name="T26" fmla="*/ 417 w 1076"/>
                  <a:gd name="T27" fmla="*/ 435 h 436"/>
                  <a:gd name="T28" fmla="*/ 457 w 1076"/>
                  <a:gd name="T29" fmla="*/ 395 h 436"/>
                  <a:gd name="T30" fmla="*/ 457 w 1076"/>
                  <a:gd name="T31" fmla="*/ 335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76" h="436">
                    <a:moveTo>
                      <a:pt x="618" y="335"/>
                    </a:moveTo>
                    <a:cubicBezTo>
                      <a:pt x="618" y="355"/>
                      <a:pt x="618" y="375"/>
                      <a:pt x="618" y="395"/>
                    </a:cubicBezTo>
                    <a:cubicBezTo>
                      <a:pt x="618" y="417"/>
                      <a:pt x="636" y="435"/>
                      <a:pt x="658" y="435"/>
                    </a:cubicBezTo>
                    <a:cubicBezTo>
                      <a:pt x="785" y="435"/>
                      <a:pt x="912" y="435"/>
                      <a:pt x="1040" y="435"/>
                    </a:cubicBezTo>
                    <a:cubicBezTo>
                      <a:pt x="1050" y="435"/>
                      <a:pt x="1059" y="431"/>
                      <a:pt x="1066" y="423"/>
                    </a:cubicBezTo>
                    <a:cubicBezTo>
                      <a:pt x="1072" y="415"/>
                      <a:pt x="1075" y="404"/>
                      <a:pt x="1073" y="394"/>
                    </a:cubicBezTo>
                    <a:cubicBezTo>
                      <a:pt x="1049" y="294"/>
                      <a:pt x="1026" y="193"/>
                      <a:pt x="1003" y="93"/>
                    </a:cubicBezTo>
                    <a:cubicBezTo>
                      <a:pt x="990" y="38"/>
                      <a:pt x="942" y="0"/>
                      <a:pt x="886" y="0"/>
                    </a:cubicBezTo>
                    <a:cubicBezTo>
                      <a:pt x="653" y="0"/>
                      <a:pt x="421" y="0"/>
                      <a:pt x="189" y="0"/>
                    </a:cubicBezTo>
                    <a:cubicBezTo>
                      <a:pt x="133" y="0"/>
                      <a:pt x="84" y="38"/>
                      <a:pt x="71" y="93"/>
                    </a:cubicBezTo>
                    <a:cubicBezTo>
                      <a:pt x="48" y="193"/>
                      <a:pt x="25" y="294"/>
                      <a:pt x="2" y="394"/>
                    </a:cubicBezTo>
                    <a:cubicBezTo>
                      <a:pt x="0" y="404"/>
                      <a:pt x="2" y="415"/>
                      <a:pt x="8" y="423"/>
                    </a:cubicBezTo>
                    <a:cubicBezTo>
                      <a:pt x="15" y="431"/>
                      <a:pt x="24" y="435"/>
                      <a:pt x="35" y="435"/>
                    </a:cubicBezTo>
                    <a:cubicBezTo>
                      <a:pt x="162" y="435"/>
                      <a:pt x="289" y="435"/>
                      <a:pt x="417" y="435"/>
                    </a:cubicBezTo>
                    <a:cubicBezTo>
                      <a:pt x="439" y="435"/>
                      <a:pt x="457" y="417"/>
                      <a:pt x="457" y="395"/>
                    </a:cubicBezTo>
                    <a:cubicBezTo>
                      <a:pt x="457" y="375"/>
                      <a:pt x="457" y="355"/>
                      <a:pt x="457" y="335"/>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0" name="Freeform 56">
                <a:extLst>
                  <a:ext uri="{FF2B5EF4-FFF2-40B4-BE49-F238E27FC236}">
                    <a16:creationId xmlns:a16="http://schemas.microsoft.com/office/drawing/2014/main" id="{C5F613BF-2485-9240-8CC7-6E7668DD8213}"/>
                  </a:ext>
                </a:extLst>
              </p:cNvPr>
              <p:cNvSpPr>
                <a:spLocks noChangeArrowheads="1"/>
              </p:cNvSpPr>
              <p:nvPr/>
            </p:nvSpPr>
            <p:spPr bwMode="auto">
              <a:xfrm>
                <a:off x="3301206" y="1150938"/>
                <a:ext cx="169862" cy="1588"/>
              </a:xfrm>
              <a:custGeom>
                <a:avLst/>
                <a:gdLst>
                  <a:gd name="T0" fmla="*/ 0 w 470"/>
                  <a:gd name="T1" fmla="*/ 0 h 1"/>
                  <a:gd name="T2" fmla="*/ 469 w 470"/>
                  <a:gd name="T3" fmla="*/ 0 h 1"/>
                </a:gdLst>
                <a:ahLst/>
                <a:cxnLst>
                  <a:cxn ang="0">
                    <a:pos x="T0" y="T1"/>
                  </a:cxn>
                  <a:cxn ang="0">
                    <a:pos x="T2" y="T3"/>
                  </a:cxn>
                </a:cxnLst>
                <a:rect l="0" t="0" r="r" b="b"/>
                <a:pathLst>
                  <a:path w="470" h="1">
                    <a:moveTo>
                      <a:pt x="0" y="0"/>
                    </a:moveTo>
                    <a:cubicBezTo>
                      <a:pt x="156" y="0"/>
                      <a:pt x="312" y="0"/>
                      <a:pt x="469"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1" name="Freeform 57">
                <a:extLst>
                  <a:ext uri="{FF2B5EF4-FFF2-40B4-BE49-F238E27FC236}">
                    <a16:creationId xmlns:a16="http://schemas.microsoft.com/office/drawing/2014/main" id="{AC4F0E96-E907-6C1B-3175-3A43622C589D}"/>
                  </a:ext>
                </a:extLst>
              </p:cNvPr>
              <p:cNvSpPr>
                <a:spLocks noChangeArrowheads="1"/>
              </p:cNvSpPr>
              <p:nvPr/>
            </p:nvSpPr>
            <p:spPr bwMode="auto">
              <a:xfrm>
                <a:off x="3301206" y="1066801"/>
                <a:ext cx="169862" cy="133350"/>
              </a:xfrm>
              <a:custGeom>
                <a:avLst/>
                <a:gdLst>
                  <a:gd name="T0" fmla="*/ 389 w 470"/>
                  <a:gd name="T1" fmla="*/ 0 h 370"/>
                  <a:gd name="T2" fmla="*/ 469 w 470"/>
                  <a:gd name="T3" fmla="*/ 235 h 370"/>
                  <a:gd name="T4" fmla="*/ 469 w 470"/>
                  <a:gd name="T5" fmla="*/ 349 h 370"/>
                  <a:gd name="T6" fmla="*/ 449 w 470"/>
                  <a:gd name="T7" fmla="*/ 369 h 370"/>
                  <a:gd name="T8" fmla="*/ 20 w 470"/>
                  <a:gd name="T9" fmla="*/ 369 h 370"/>
                  <a:gd name="T10" fmla="*/ 0 w 470"/>
                  <a:gd name="T11" fmla="*/ 349 h 370"/>
                  <a:gd name="T12" fmla="*/ 0 w 470"/>
                  <a:gd name="T13" fmla="*/ 235 h 370"/>
                  <a:gd name="T14" fmla="*/ 80 w 470"/>
                  <a:gd name="T15" fmla="*/ 0 h 3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0" h="370">
                    <a:moveTo>
                      <a:pt x="389" y="0"/>
                    </a:moveTo>
                    <a:cubicBezTo>
                      <a:pt x="415" y="78"/>
                      <a:pt x="442" y="157"/>
                      <a:pt x="469" y="235"/>
                    </a:cubicBezTo>
                    <a:cubicBezTo>
                      <a:pt x="469" y="273"/>
                      <a:pt x="469" y="311"/>
                      <a:pt x="469" y="349"/>
                    </a:cubicBezTo>
                    <a:cubicBezTo>
                      <a:pt x="469" y="360"/>
                      <a:pt x="460" y="369"/>
                      <a:pt x="449" y="369"/>
                    </a:cubicBezTo>
                    <a:cubicBezTo>
                      <a:pt x="306" y="369"/>
                      <a:pt x="163" y="369"/>
                      <a:pt x="20" y="369"/>
                    </a:cubicBezTo>
                    <a:cubicBezTo>
                      <a:pt x="9" y="369"/>
                      <a:pt x="0" y="360"/>
                      <a:pt x="0" y="349"/>
                    </a:cubicBezTo>
                    <a:cubicBezTo>
                      <a:pt x="0" y="311"/>
                      <a:pt x="0" y="273"/>
                      <a:pt x="0" y="235"/>
                    </a:cubicBezTo>
                    <a:cubicBezTo>
                      <a:pt x="26" y="157"/>
                      <a:pt x="53" y="78"/>
                      <a:pt x="8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2" name="Freeform 58">
                <a:extLst>
                  <a:ext uri="{FF2B5EF4-FFF2-40B4-BE49-F238E27FC236}">
                    <a16:creationId xmlns:a16="http://schemas.microsoft.com/office/drawing/2014/main" id="{BABE9FEE-2D68-E39E-D5AD-6AB6ABC2BF57}"/>
                  </a:ext>
                </a:extLst>
              </p:cNvPr>
              <p:cNvSpPr>
                <a:spLocks noChangeArrowheads="1"/>
              </p:cNvSpPr>
              <p:nvPr/>
            </p:nvSpPr>
            <p:spPr bwMode="auto">
              <a:xfrm>
                <a:off x="3072606" y="1150938"/>
                <a:ext cx="169862" cy="1588"/>
              </a:xfrm>
              <a:custGeom>
                <a:avLst/>
                <a:gdLst>
                  <a:gd name="T0" fmla="*/ 0 w 470"/>
                  <a:gd name="T1" fmla="*/ 0 h 1"/>
                  <a:gd name="T2" fmla="*/ 469 w 470"/>
                  <a:gd name="T3" fmla="*/ 0 h 1"/>
                </a:gdLst>
                <a:ahLst/>
                <a:cxnLst>
                  <a:cxn ang="0">
                    <a:pos x="T0" y="T1"/>
                  </a:cxn>
                  <a:cxn ang="0">
                    <a:pos x="T2" y="T3"/>
                  </a:cxn>
                </a:cxnLst>
                <a:rect l="0" t="0" r="r" b="b"/>
                <a:pathLst>
                  <a:path w="470" h="1">
                    <a:moveTo>
                      <a:pt x="0" y="0"/>
                    </a:moveTo>
                    <a:cubicBezTo>
                      <a:pt x="156" y="0"/>
                      <a:pt x="312" y="0"/>
                      <a:pt x="469"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3" name="Freeform 59">
                <a:extLst>
                  <a:ext uri="{FF2B5EF4-FFF2-40B4-BE49-F238E27FC236}">
                    <a16:creationId xmlns:a16="http://schemas.microsoft.com/office/drawing/2014/main" id="{7884501F-91B7-D473-F25A-2D75A2E01707}"/>
                  </a:ext>
                </a:extLst>
              </p:cNvPr>
              <p:cNvSpPr>
                <a:spLocks noChangeArrowheads="1"/>
              </p:cNvSpPr>
              <p:nvPr/>
            </p:nvSpPr>
            <p:spPr bwMode="auto">
              <a:xfrm>
                <a:off x="3072606" y="1066801"/>
                <a:ext cx="169862" cy="133350"/>
              </a:xfrm>
              <a:custGeom>
                <a:avLst/>
                <a:gdLst>
                  <a:gd name="T0" fmla="*/ 389 w 470"/>
                  <a:gd name="T1" fmla="*/ 0 h 370"/>
                  <a:gd name="T2" fmla="*/ 469 w 470"/>
                  <a:gd name="T3" fmla="*/ 235 h 370"/>
                  <a:gd name="T4" fmla="*/ 469 w 470"/>
                  <a:gd name="T5" fmla="*/ 349 h 370"/>
                  <a:gd name="T6" fmla="*/ 449 w 470"/>
                  <a:gd name="T7" fmla="*/ 369 h 370"/>
                  <a:gd name="T8" fmla="*/ 20 w 470"/>
                  <a:gd name="T9" fmla="*/ 369 h 370"/>
                  <a:gd name="T10" fmla="*/ 0 w 470"/>
                  <a:gd name="T11" fmla="*/ 349 h 370"/>
                  <a:gd name="T12" fmla="*/ 0 w 470"/>
                  <a:gd name="T13" fmla="*/ 235 h 370"/>
                  <a:gd name="T14" fmla="*/ 81 w 470"/>
                  <a:gd name="T15" fmla="*/ 0 h 3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0" h="370">
                    <a:moveTo>
                      <a:pt x="389" y="0"/>
                    </a:moveTo>
                    <a:cubicBezTo>
                      <a:pt x="415" y="78"/>
                      <a:pt x="442" y="157"/>
                      <a:pt x="469" y="235"/>
                    </a:cubicBezTo>
                    <a:cubicBezTo>
                      <a:pt x="469" y="273"/>
                      <a:pt x="469" y="311"/>
                      <a:pt x="469" y="349"/>
                    </a:cubicBezTo>
                    <a:cubicBezTo>
                      <a:pt x="469" y="360"/>
                      <a:pt x="460" y="369"/>
                      <a:pt x="449" y="369"/>
                    </a:cubicBezTo>
                    <a:cubicBezTo>
                      <a:pt x="306" y="369"/>
                      <a:pt x="163" y="369"/>
                      <a:pt x="20" y="369"/>
                    </a:cubicBezTo>
                    <a:cubicBezTo>
                      <a:pt x="9" y="369"/>
                      <a:pt x="0" y="360"/>
                      <a:pt x="0" y="349"/>
                    </a:cubicBezTo>
                    <a:cubicBezTo>
                      <a:pt x="0" y="311"/>
                      <a:pt x="0" y="273"/>
                      <a:pt x="0" y="235"/>
                    </a:cubicBezTo>
                    <a:cubicBezTo>
                      <a:pt x="27" y="157"/>
                      <a:pt x="54" y="78"/>
                      <a:pt x="81"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4" name="Freeform 60">
                <a:extLst>
                  <a:ext uri="{FF2B5EF4-FFF2-40B4-BE49-F238E27FC236}">
                    <a16:creationId xmlns:a16="http://schemas.microsoft.com/office/drawing/2014/main" id="{D00A30E4-53B4-3F8F-A236-81F1FB2A91BF}"/>
                  </a:ext>
                </a:extLst>
              </p:cNvPr>
              <p:cNvSpPr>
                <a:spLocks noChangeArrowheads="1"/>
              </p:cNvSpPr>
              <p:nvPr/>
            </p:nvSpPr>
            <p:spPr bwMode="auto">
              <a:xfrm>
                <a:off x="3169443" y="881063"/>
                <a:ext cx="1588" cy="30163"/>
              </a:xfrm>
              <a:custGeom>
                <a:avLst/>
                <a:gdLst>
                  <a:gd name="T0" fmla="*/ 0 w 1"/>
                  <a:gd name="T1" fmla="*/ 81 h 82"/>
                  <a:gd name="T2" fmla="*/ 0 w 1"/>
                  <a:gd name="T3" fmla="*/ 0 h 82"/>
                </a:gdLst>
                <a:ahLst/>
                <a:cxnLst>
                  <a:cxn ang="0">
                    <a:pos x="T0" y="T1"/>
                  </a:cxn>
                  <a:cxn ang="0">
                    <a:pos x="T2" y="T3"/>
                  </a:cxn>
                </a:cxnLst>
                <a:rect l="0" t="0" r="r" b="b"/>
                <a:pathLst>
                  <a:path w="1" h="82">
                    <a:moveTo>
                      <a:pt x="0" y="81"/>
                    </a:moveTo>
                    <a:cubicBezTo>
                      <a:pt x="0" y="54"/>
                      <a:pt x="0" y="27"/>
                      <a:pt x="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5" name="Freeform 61">
                <a:extLst>
                  <a:ext uri="{FF2B5EF4-FFF2-40B4-BE49-F238E27FC236}">
                    <a16:creationId xmlns:a16="http://schemas.microsoft.com/office/drawing/2014/main" id="{7DA5BC18-1342-AFD8-0BFC-5A6C65D05638}"/>
                  </a:ext>
                </a:extLst>
              </p:cNvPr>
              <p:cNvSpPr>
                <a:spLocks noChangeArrowheads="1"/>
              </p:cNvSpPr>
              <p:nvPr/>
            </p:nvSpPr>
            <p:spPr bwMode="auto">
              <a:xfrm>
                <a:off x="3228181" y="881063"/>
                <a:ext cx="1587" cy="30163"/>
              </a:xfrm>
              <a:custGeom>
                <a:avLst/>
                <a:gdLst>
                  <a:gd name="T0" fmla="*/ 0 w 1"/>
                  <a:gd name="T1" fmla="*/ 81 h 82"/>
                  <a:gd name="T2" fmla="*/ 0 w 1"/>
                  <a:gd name="T3" fmla="*/ 0 h 82"/>
                </a:gdLst>
                <a:ahLst/>
                <a:cxnLst>
                  <a:cxn ang="0">
                    <a:pos x="T0" y="T1"/>
                  </a:cxn>
                  <a:cxn ang="0">
                    <a:pos x="T2" y="T3"/>
                  </a:cxn>
                </a:cxnLst>
                <a:rect l="0" t="0" r="r" b="b"/>
                <a:pathLst>
                  <a:path w="1" h="82">
                    <a:moveTo>
                      <a:pt x="0" y="81"/>
                    </a:moveTo>
                    <a:cubicBezTo>
                      <a:pt x="0" y="54"/>
                      <a:pt x="0" y="27"/>
                      <a:pt x="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6" name="Freeform 62">
                <a:extLst>
                  <a:ext uri="{FF2B5EF4-FFF2-40B4-BE49-F238E27FC236}">
                    <a16:creationId xmlns:a16="http://schemas.microsoft.com/office/drawing/2014/main" id="{D304693D-8EB2-6A96-3103-39C5AADC3403}"/>
                  </a:ext>
                </a:extLst>
              </p:cNvPr>
              <p:cNvSpPr>
                <a:spLocks noChangeArrowheads="1"/>
              </p:cNvSpPr>
              <p:nvPr/>
            </p:nvSpPr>
            <p:spPr bwMode="auto">
              <a:xfrm>
                <a:off x="3315493" y="881063"/>
                <a:ext cx="1588" cy="30163"/>
              </a:xfrm>
              <a:custGeom>
                <a:avLst/>
                <a:gdLst>
                  <a:gd name="T0" fmla="*/ 0 w 1"/>
                  <a:gd name="T1" fmla="*/ 81 h 82"/>
                  <a:gd name="T2" fmla="*/ 0 w 1"/>
                  <a:gd name="T3" fmla="*/ 0 h 82"/>
                </a:gdLst>
                <a:ahLst/>
                <a:cxnLst>
                  <a:cxn ang="0">
                    <a:pos x="T0" y="T1"/>
                  </a:cxn>
                  <a:cxn ang="0">
                    <a:pos x="T2" y="T3"/>
                  </a:cxn>
                </a:cxnLst>
                <a:rect l="0" t="0" r="r" b="b"/>
                <a:pathLst>
                  <a:path w="1" h="82">
                    <a:moveTo>
                      <a:pt x="0" y="81"/>
                    </a:moveTo>
                    <a:cubicBezTo>
                      <a:pt x="0" y="54"/>
                      <a:pt x="0" y="27"/>
                      <a:pt x="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7" name="Freeform 63">
                <a:extLst>
                  <a:ext uri="{FF2B5EF4-FFF2-40B4-BE49-F238E27FC236}">
                    <a16:creationId xmlns:a16="http://schemas.microsoft.com/office/drawing/2014/main" id="{40E8B714-EE98-13F3-467D-C11014AF9245}"/>
                  </a:ext>
                </a:extLst>
              </p:cNvPr>
              <p:cNvSpPr>
                <a:spLocks noChangeArrowheads="1"/>
              </p:cNvSpPr>
              <p:nvPr/>
            </p:nvSpPr>
            <p:spPr bwMode="auto">
              <a:xfrm>
                <a:off x="3372643" y="881063"/>
                <a:ext cx="1588" cy="30163"/>
              </a:xfrm>
              <a:custGeom>
                <a:avLst/>
                <a:gdLst>
                  <a:gd name="T0" fmla="*/ 0 w 1"/>
                  <a:gd name="T1" fmla="*/ 81 h 82"/>
                  <a:gd name="T2" fmla="*/ 0 w 1"/>
                  <a:gd name="T3" fmla="*/ 0 h 82"/>
                </a:gdLst>
                <a:ahLst/>
                <a:cxnLst>
                  <a:cxn ang="0">
                    <a:pos x="T0" y="T1"/>
                  </a:cxn>
                  <a:cxn ang="0">
                    <a:pos x="T2" y="T3"/>
                  </a:cxn>
                </a:cxnLst>
                <a:rect l="0" t="0" r="r" b="b"/>
                <a:pathLst>
                  <a:path w="1" h="82">
                    <a:moveTo>
                      <a:pt x="0" y="81"/>
                    </a:moveTo>
                    <a:cubicBezTo>
                      <a:pt x="0" y="54"/>
                      <a:pt x="0" y="27"/>
                      <a:pt x="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198" name="Freeform 64">
                <a:extLst>
                  <a:ext uri="{FF2B5EF4-FFF2-40B4-BE49-F238E27FC236}">
                    <a16:creationId xmlns:a16="http://schemas.microsoft.com/office/drawing/2014/main" id="{0B79925A-63E2-EDFC-0849-FF8856319076}"/>
                  </a:ext>
                </a:extLst>
              </p:cNvPr>
              <p:cNvSpPr>
                <a:spLocks noChangeArrowheads="1"/>
              </p:cNvSpPr>
              <p:nvPr/>
            </p:nvSpPr>
            <p:spPr bwMode="auto">
              <a:xfrm>
                <a:off x="3204368" y="993776"/>
                <a:ext cx="133350" cy="36512"/>
              </a:xfrm>
              <a:custGeom>
                <a:avLst/>
                <a:gdLst>
                  <a:gd name="T0" fmla="*/ 318 w 370"/>
                  <a:gd name="T1" fmla="*/ 0 h 102"/>
                  <a:gd name="T2" fmla="*/ 50 w 370"/>
                  <a:gd name="T3" fmla="*/ 0 h 102"/>
                  <a:gd name="T4" fmla="*/ 0 w 370"/>
                  <a:gd name="T5" fmla="*/ 50 h 102"/>
                  <a:gd name="T6" fmla="*/ 50 w 370"/>
                  <a:gd name="T7" fmla="*/ 101 h 102"/>
                  <a:gd name="T8" fmla="*/ 318 w 370"/>
                  <a:gd name="T9" fmla="*/ 101 h 102"/>
                  <a:gd name="T10" fmla="*/ 369 w 370"/>
                  <a:gd name="T11" fmla="*/ 50 h 102"/>
                  <a:gd name="T12" fmla="*/ 318 w 370"/>
                  <a:gd name="T13" fmla="*/ 0 h 102"/>
                </a:gdLst>
                <a:ahLst/>
                <a:cxnLst>
                  <a:cxn ang="0">
                    <a:pos x="T0" y="T1"/>
                  </a:cxn>
                  <a:cxn ang="0">
                    <a:pos x="T2" y="T3"/>
                  </a:cxn>
                  <a:cxn ang="0">
                    <a:pos x="T4" y="T5"/>
                  </a:cxn>
                  <a:cxn ang="0">
                    <a:pos x="T6" y="T7"/>
                  </a:cxn>
                  <a:cxn ang="0">
                    <a:pos x="T8" y="T9"/>
                  </a:cxn>
                  <a:cxn ang="0">
                    <a:pos x="T10" y="T11"/>
                  </a:cxn>
                  <a:cxn ang="0">
                    <a:pos x="T12" y="T13"/>
                  </a:cxn>
                </a:cxnLst>
                <a:rect l="0" t="0" r="r" b="b"/>
                <a:pathLst>
                  <a:path w="370" h="102">
                    <a:moveTo>
                      <a:pt x="318" y="0"/>
                    </a:moveTo>
                    <a:cubicBezTo>
                      <a:pt x="312" y="0"/>
                      <a:pt x="57" y="0"/>
                      <a:pt x="50" y="0"/>
                    </a:cubicBezTo>
                    <a:cubicBezTo>
                      <a:pt x="22" y="0"/>
                      <a:pt x="0" y="23"/>
                      <a:pt x="0" y="50"/>
                    </a:cubicBezTo>
                    <a:cubicBezTo>
                      <a:pt x="0" y="78"/>
                      <a:pt x="22" y="101"/>
                      <a:pt x="50" y="101"/>
                    </a:cubicBezTo>
                    <a:cubicBezTo>
                      <a:pt x="57" y="101"/>
                      <a:pt x="312" y="101"/>
                      <a:pt x="318" y="101"/>
                    </a:cubicBezTo>
                    <a:cubicBezTo>
                      <a:pt x="346" y="101"/>
                      <a:pt x="369" y="78"/>
                      <a:pt x="369" y="50"/>
                    </a:cubicBezTo>
                    <a:cubicBezTo>
                      <a:pt x="369" y="23"/>
                      <a:pt x="346" y="0"/>
                      <a:pt x="318"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grpSp>
      <p:grpSp>
        <p:nvGrpSpPr>
          <p:cNvPr id="199" name="Group 198">
            <a:extLst>
              <a:ext uri="{FF2B5EF4-FFF2-40B4-BE49-F238E27FC236}">
                <a16:creationId xmlns:a16="http://schemas.microsoft.com/office/drawing/2014/main" id="{B1E7361B-7F36-E396-F577-ADECD8D14A58}"/>
              </a:ext>
            </a:extLst>
          </p:cNvPr>
          <p:cNvGrpSpPr>
            <a:grpSpLocks noChangeAspect="1"/>
          </p:cNvGrpSpPr>
          <p:nvPr/>
        </p:nvGrpSpPr>
        <p:grpSpPr>
          <a:xfrm>
            <a:off x="15018786" y="5636728"/>
            <a:ext cx="632820" cy="632820"/>
            <a:chOff x="7775575" y="2201863"/>
            <a:chExt cx="630238" cy="630237"/>
          </a:xfrm>
          <a:solidFill>
            <a:schemeClr val="bg1"/>
          </a:solidFill>
        </p:grpSpPr>
        <p:sp>
          <p:nvSpPr>
            <p:cNvPr id="200" name="Freeform 200">
              <a:extLst>
                <a:ext uri="{FF2B5EF4-FFF2-40B4-BE49-F238E27FC236}">
                  <a16:creationId xmlns:a16="http://schemas.microsoft.com/office/drawing/2014/main" id="{094781E3-5E77-581A-1A36-5EC84F7BFF7F}"/>
                </a:ext>
              </a:extLst>
            </p:cNvPr>
            <p:cNvSpPr>
              <a:spLocks noChangeArrowheads="1"/>
            </p:cNvSpPr>
            <p:nvPr/>
          </p:nvSpPr>
          <p:spPr bwMode="auto">
            <a:xfrm>
              <a:off x="7775575" y="2201863"/>
              <a:ext cx="630238" cy="630237"/>
            </a:xfrm>
            <a:custGeom>
              <a:avLst/>
              <a:gdLst>
                <a:gd name="T0" fmla="*/ 1468 w 1751"/>
                <a:gd name="T1" fmla="*/ 1749 h 1750"/>
                <a:gd name="T2" fmla="*/ 1750 w 1751"/>
                <a:gd name="T3" fmla="*/ 1467 h 1750"/>
                <a:gd name="T4" fmla="*/ 1750 w 1751"/>
                <a:gd name="T5" fmla="*/ 282 h 1750"/>
                <a:gd name="T6" fmla="*/ 1468 w 1751"/>
                <a:gd name="T7" fmla="*/ 0 h 1750"/>
                <a:gd name="T8" fmla="*/ 282 w 1751"/>
                <a:gd name="T9" fmla="*/ 0 h 1750"/>
                <a:gd name="T10" fmla="*/ 0 w 1751"/>
                <a:gd name="T11" fmla="*/ 282 h 1750"/>
                <a:gd name="T12" fmla="*/ 0 w 1751"/>
                <a:gd name="T13" fmla="*/ 1467 h 1750"/>
                <a:gd name="T14" fmla="*/ 282 w 1751"/>
                <a:gd name="T15" fmla="*/ 1749 h 1750"/>
                <a:gd name="T16" fmla="*/ 1468 w 1751"/>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0">
                  <a:moveTo>
                    <a:pt x="1468" y="1749"/>
                  </a:moveTo>
                  <a:cubicBezTo>
                    <a:pt x="1623" y="1749"/>
                    <a:pt x="1750" y="1623"/>
                    <a:pt x="1750" y="1467"/>
                  </a:cubicBezTo>
                  <a:cubicBezTo>
                    <a:pt x="1750" y="1072"/>
                    <a:pt x="1750" y="677"/>
                    <a:pt x="1750" y="282"/>
                  </a:cubicBezTo>
                  <a:cubicBezTo>
                    <a:pt x="1750" y="127"/>
                    <a:pt x="1623" y="0"/>
                    <a:pt x="1468" y="0"/>
                  </a:cubicBezTo>
                  <a:cubicBezTo>
                    <a:pt x="1073" y="0"/>
                    <a:pt x="678" y="0"/>
                    <a:pt x="282" y="0"/>
                  </a:cubicBezTo>
                  <a:cubicBezTo>
                    <a:pt x="127" y="0"/>
                    <a:pt x="0" y="127"/>
                    <a:pt x="0" y="282"/>
                  </a:cubicBezTo>
                  <a:cubicBezTo>
                    <a:pt x="0" y="677"/>
                    <a:pt x="0" y="1072"/>
                    <a:pt x="0" y="1467"/>
                  </a:cubicBezTo>
                  <a:cubicBezTo>
                    <a:pt x="0" y="1623"/>
                    <a:pt x="127" y="1749"/>
                    <a:pt x="282" y="1749"/>
                  </a:cubicBezTo>
                  <a:cubicBezTo>
                    <a:pt x="678" y="1749"/>
                    <a:pt x="1073" y="1749"/>
                    <a:pt x="1468" y="1749"/>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nvGrpSpPr>
            <p:cNvPr id="201" name="Group 200">
              <a:extLst>
                <a:ext uri="{FF2B5EF4-FFF2-40B4-BE49-F238E27FC236}">
                  <a16:creationId xmlns:a16="http://schemas.microsoft.com/office/drawing/2014/main" id="{11BDCDCB-3578-A3D0-0981-49C1EE961FE2}"/>
                </a:ext>
              </a:extLst>
            </p:cNvPr>
            <p:cNvGrpSpPr/>
            <p:nvPr/>
          </p:nvGrpSpPr>
          <p:grpSpPr>
            <a:xfrm>
              <a:off x="7947025" y="2292350"/>
              <a:ext cx="284163" cy="407988"/>
              <a:chOff x="7947025" y="2292350"/>
              <a:chExt cx="284163" cy="407988"/>
            </a:xfrm>
            <a:grpFill/>
          </p:grpSpPr>
          <p:sp>
            <p:nvSpPr>
              <p:cNvPr id="202" name="Freeform 201">
                <a:extLst>
                  <a:ext uri="{FF2B5EF4-FFF2-40B4-BE49-F238E27FC236}">
                    <a16:creationId xmlns:a16="http://schemas.microsoft.com/office/drawing/2014/main" id="{AD02E7C1-D3E0-1401-EECE-71902E3F0180}"/>
                  </a:ext>
                </a:extLst>
              </p:cNvPr>
              <p:cNvSpPr>
                <a:spLocks noChangeArrowheads="1"/>
              </p:cNvSpPr>
              <p:nvPr/>
            </p:nvSpPr>
            <p:spPr bwMode="auto">
              <a:xfrm>
                <a:off x="7947025" y="2333625"/>
                <a:ext cx="284163" cy="366713"/>
              </a:xfrm>
              <a:custGeom>
                <a:avLst/>
                <a:gdLst>
                  <a:gd name="T0" fmla="*/ 564 w 791"/>
                  <a:gd name="T1" fmla="*/ 0 h 1017"/>
                  <a:gd name="T2" fmla="*/ 734 w 791"/>
                  <a:gd name="T3" fmla="*/ 0 h 1017"/>
                  <a:gd name="T4" fmla="*/ 790 w 791"/>
                  <a:gd name="T5" fmla="*/ 56 h 1017"/>
                  <a:gd name="T6" fmla="*/ 790 w 791"/>
                  <a:gd name="T7" fmla="*/ 959 h 1017"/>
                  <a:gd name="T8" fmla="*/ 734 w 791"/>
                  <a:gd name="T9" fmla="*/ 1016 h 1017"/>
                  <a:gd name="T10" fmla="*/ 56 w 791"/>
                  <a:gd name="T11" fmla="*/ 1016 h 1017"/>
                  <a:gd name="T12" fmla="*/ 0 w 791"/>
                  <a:gd name="T13" fmla="*/ 959 h 1017"/>
                  <a:gd name="T14" fmla="*/ 0 w 791"/>
                  <a:gd name="T15" fmla="*/ 56 h 1017"/>
                  <a:gd name="T16" fmla="*/ 56 w 791"/>
                  <a:gd name="T17" fmla="*/ 0 h 1017"/>
                  <a:gd name="T18" fmla="*/ 226 w 791"/>
                  <a:gd name="T19" fmla="*/ 0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1017">
                    <a:moveTo>
                      <a:pt x="564" y="0"/>
                    </a:moveTo>
                    <a:cubicBezTo>
                      <a:pt x="621" y="0"/>
                      <a:pt x="678" y="0"/>
                      <a:pt x="734" y="0"/>
                    </a:cubicBezTo>
                    <a:cubicBezTo>
                      <a:pt x="765" y="0"/>
                      <a:pt x="790" y="25"/>
                      <a:pt x="790" y="56"/>
                    </a:cubicBezTo>
                    <a:cubicBezTo>
                      <a:pt x="790" y="357"/>
                      <a:pt x="790" y="658"/>
                      <a:pt x="790" y="959"/>
                    </a:cubicBezTo>
                    <a:cubicBezTo>
                      <a:pt x="790" y="990"/>
                      <a:pt x="765" y="1016"/>
                      <a:pt x="734" y="1016"/>
                    </a:cubicBezTo>
                    <a:cubicBezTo>
                      <a:pt x="508" y="1016"/>
                      <a:pt x="282" y="1016"/>
                      <a:pt x="56" y="1016"/>
                    </a:cubicBezTo>
                    <a:cubicBezTo>
                      <a:pt x="25" y="1016"/>
                      <a:pt x="0" y="990"/>
                      <a:pt x="0" y="959"/>
                    </a:cubicBezTo>
                    <a:cubicBezTo>
                      <a:pt x="0" y="658"/>
                      <a:pt x="0" y="357"/>
                      <a:pt x="0" y="56"/>
                    </a:cubicBezTo>
                    <a:cubicBezTo>
                      <a:pt x="0" y="25"/>
                      <a:pt x="25" y="0"/>
                      <a:pt x="56" y="0"/>
                    </a:cubicBezTo>
                    <a:cubicBezTo>
                      <a:pt x="113" y="0"/>
                      <a:pt x="170" y="0"/>
                      <a:pt x="226"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203" name="Freeform 202">
                <a:extLst>
                  <a:ext uri="{FF2B5EF4-FFF2-40B4-BE49-F238E27FC236}">
                    <a16:creationId xmlns:a16="http://schemas.microsoft.com/office/drawing/2014/main" id="{6634BC03-DF8E-C7CD-EAB3-8404EF6C42BA}"/>
                  </a:ext>
                </a:extLst>
              </p:cNvPr>
              <p:cNvSpPr>
                <a:spLocks noChangeArrowheads="1"/>
              </p:cNvSpPr>
              <p:nvPr/>
            </p:nvSpPr>
            <p:spPr bwMode="auto">
              <a:xfrm>
                <a:off x="7997825" y="2292350"/>
                <a:ext cx="182563" cy="92075"/>
              </a:xfrm>
              <a:custGeom>
                <a:avLst/>
                <a:gdLst>
                  <a:gd name="T0" fmla="*/ 508 w 509"/>
                  <a:gd name="T1" fmla="*/ 197 h 255"/>
                  <a:gd name="T2" fmla="*/ 423 w 509"/>
                  <a:gd name="T3" fmla="*/ 113 h 255"/>
                  <a:gd name="T4" fmla="*/ 380 w 509"/>
                  <a:gd name="T5" fmla="*/ 113 h 255"/>
                  <a:gd name="T6" fmla="*/ 366 w 509"/>
                  <a:gd name="T7" fmla="*/ 100 h 255"/>
                  <a:gd name="T8" fmla="*/ 254 w 509"/>
                  <a:gd name="T9" fmla="*/ 0 h 255"/>
                  <a:gd name="T10" fmla="*/ 142 w 509"/>
                  <a:gd name="T11" fmla="*/ 100 h 255"/>
                  <a:gd name="T12" fmla="*/ 128 w 509"/>
                  <a:gd name="T13" fmla="*/ 113 h 255"/>
                  <a:gd name="T14" fmla="*/ 85 w 509"/>
                  <a:gd name="T15" fmla="*/ 113 h 255"/>
                  <a:gd name="T16" fmla="*/ 0 w 509"/>
                  <a:gd name="T17" fmla="*/ 197 h 255"/>
                  <a:gd name="T18" fmla="*/ 0 w 509"/>
                  <a:gd name="T19" fmla="*/ 226 h 255"/>
                  <a:gd name="T20" fmla="*/ 28 w 509"/>
                  <a:gd name="T21" fmla="*/ 254 h 255"/>
                  <a:gd name="T22" fmla="*/ 480 w 509"/>
                  <a:gd name="T23" fmla="*/ 254 h 255"/>
                  <a:gd name="T24" fmla="*/ 508 w 509"/>
                  <a:gd name="T25" fmla="*/ 226 h 255"/>
                  <a:gd name="T26" fmla="*/ 508 w 509"/>
                  <a:gd name="T27" fmla="*/ 19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9" h="255">
                    <a:moveTo>
                      <a:pt x="508" y="197"/>
                    </a:moveTo>
                    <a:cubicBezTo>
                      <a:pt x="508" y="151"/>
                      <a:pt x="470" y="113"/>
                      <a:pt x="423" y="113"/>
                    </a:cubicBezTo>
                    <a:cubicBezTo>
                      <a:pt x="409" y="113"/>
                      <a:pt x="395" y="113"/>
                      <a:pt x="380" y="113"/>
                    </a:cubicBezTo>
                    <a:cubicBezTo>
                      <a:pt x="373" y="113"/>
                      <a:pt x="367" y="107"/>
                      <a:pt x="366" y="100"/>
                    </a:cubicBezTo>
                    <a:cubicBezTo>
                      <a:pt x="359" y="44"/>
                      <a:pt x="308" y="0"/>
                      <a:pt x="254" y="0"/>
                    </a:cubicBezTo>
                    <a:cubicBezTo>
                      <a:pt x="200" y="0"/>
                      <a:pt x="149" y="44"/>
                      <a:pt x="142" y="100"/>
                    </a:cubicBezTo>
                    <a:cubicBezTo>
                      <a:pt x="141" y="107"/>
                      <a:pt x="135" y="113"/>
                      <a:pt x="128" y="113"/>
                    </a:cubicBezTo>
                    <a:cubicBezTo>
                      <a:pt x="114" y="113"/>
                      <a:pt x="100" y="113"/>
                      <a:pt x="85" y="113"/>
                    </a:cubicBezTo>
                    <a:cubicBezTo>
                      <a:pt x="38" y="113"/>
                      <a:pt x="0" y="151"/>
                      <a:pt x="0" y="197"/>
                    </a:cubicBezTo>
                    <a:cubicBezTo>
                      <a:pt x="0" y="206"/>
                      <a:pt x="0" y="216"/>
                      <a:pt x="0" y="226"/>
                    </a:cubicBezTo>
                    <a:cubicBezTo>
                      <a:pt x="0" y="241"/>
                      <a:pt x="13" y="254"/>
                      <a:pt x="28" y="254"/>
                    </a:cubicBezTo>
                    <a:cubicBezTo>
                      <a:pt x="179" y="254"/>
                      <a:pt x="330" y="254"/>
                      <a:pt x="480" y="254"/>
                    </a:cubicBezTo>
                    <a:cubicBezTo>
                      <a:pt x="495" y="254"/>
                      <a:pt x="508" y="241"/>
                      <a:pt x="508" y="226"/>
                    </a:cubicBezTo>
                    <a:cubicBezTo>
                      <a:pt x="508" y="216"/>
                      <a:pt x="508" y="206"/>
                      <a:pt x="508" y="197"/>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04" name="Freeform 203">
                <a:extLst>
                  <a:ext uri="{FF2B5EF4-FFF2-40B4-BE49-F238E27FC236}">
                    <a16:creationId xmlns:a16="http://schemas.microsoft.com/office/drawing/2014/main" id="{B19E1078-BC70-ACB8-5D5C-0A3A5CCFF2D1}"/>
                  </a:ext>
                </a:extLst>
              </p:cNvPr>
              <p:cNvSpPr>
                <a:spLocks noChangeArrowheads="1"/>
              </p:cNvSpPr>
              <p:nvPr/>
            </p:nvSpPr>
            <p:spPr bwMode="auto">
              <a:xfrm>
                <a:off x="8080375" y="2444750"/>
                <a:ext cx="92075" cy="1588"/>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205" name="Freeform 204">
                <a:extLst>
                  <a:ext uri="{FF2B5EF4-FFF2-40B4-BE49-F238E27FC236}">
                    <a16:creationId xmlns:a16="http://schemas.microsoft.com/office/drawing/2014/main" id="{DD3F5B61-E09B-3D1E-57E8-56C7D4CF1F72}"/>
                  </a:ext>
                </a:extLst>
              </p:cNvPr>
              <p:cNvSpPr>
                <a:spLocks noChangeArrowheads="1"/>
              </p:cNvSpPr>
              <p:nvPr/>
            </p:nvSpPr>
            <p:spPr bwMode="auto">
              <a:xfrm>
                <a:off x="8080375" y="2322513"/>
                <a:ext cx="20638" cy="20637"/>
              </a:xfrm>
              <a:custGeom>
                <a:avLst/>
                <a:gdLst>
                  <a:gd name="T0" fmla="*/ 56 w 57"/>
                  <a:gd name="T1" fmla="*/ 29 h 58"/>
                  <a:gd name="T2" fmla="*/ 28 w 57"/>
                  <a:gd name="T3" fmla="*/ 57 h 58"/>
                  <a:gd name="T4" fmla="*/ 0 w 57"/>
                  <a:gd name="T5" fmla="*/ 29 h 58"/>
                  <a:gd name="T6" fmla="*/ 28 w 57"/>
                  <a:gd name="T7" fmla="*/ 0 h 58"/>
                  <a:gd name="T8" fmla="*/ 56 w 57"/>
                  <a:gd name="T9" fmla="*/ 29 h 58"/>
                </a:gdLst>
                <a:ahLst/>
                <a:cxnLst>
                  <a:cxn ang="0">
                    <a:pos x="T0" y="T1"/>
                  </a:cxn>
                  <a:cxn ang="0">
                    <a:pos x="T2" y="T3"/>
                  </a:cxn>
                  <a:cxn ang="0">
                    <a:pos x="T4" y="T5"/>
                  </a:cxn>
                  <a:cxn ang="0">
                    <a:pos x="T6" y="T7"/>
                  </a:cxn>
                  <a:cxn ang="0">
                    <a:pos x="T8" y="T9"/>
                  </a:cxn>
                </a:cxnLst>
                <a:rect l="0" t="0" r="r" b="b"/>
                <a:pathLst>
                  <a:path w="57" h="58">
                    <a:moveTo>
                      <a:pt x="56" y="29"/>
                    </a:moveTo>
                    <a:cubicBezTo>
                      <a:pt x="56" y="44"/>
                      <a:pt x="44" y="57"/>
                      <a:pt x="28" y="57"/>
                    </a:cubicBezTo>
                    <a:cubicBezTo>
                      <a:pt x="12" y="57"/>
                      <a:pt x="0" y="44"/>
                      <a:pt x="0" y="29"/>
                    </a:cubicBezTo>
                    <a:cubicBezTo>
                      <a:pt x="0" y="13"/>
                      <a:pt x="12" y="0"/>
                      <a:pt x="28" y="0"/>
                    </a:cubicBezTo>
                    <a:cubicBezTo>
                      <a:pt x="44" y="0"/>
                      <a:pt x="56" y="13"/>
                      <a:pt x="56" y="29"/>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06" name="Freeform 205">
                <a:extLst>
                  <a:ext uri="{FF2B5EF4-FFF2-40B4-BE49-F238E27FC236}">
                    <a16:creationId xmlns:a16="http://schemas.microsoft.com/office/drawing/2014/main" id="{DC9F6C6A-2E0D-90DF-9784-E6C79FDA7949}"/>
                  </a:ext>
                </a:extLst>
              </p:cNvPr>
              <p:cNvSpPr>
                <a:spLocks noChangeArrowheads="1"/>
              </p:cNvSpPr>
              <p:nvPr/>
            </p:nvSpPr>
            <p:spPr bwMode="auto">
              <a:xfrm>
                <a:off x="8008938" y="2430463"/>
                <a:ext cx="31750" cy="30162"/>
              </a:xfrm>
              <a:custGeom>
                <a:avLst/>
                <a:gdLst>
                  <a:gd name="T0" fmla="*/ 85 w 86"/>
                  <a:gd name="T1" fmla="*/ 42 h 85"/>
                  <a:gd name="T2" fmla="*/ 43 w 86"/>
                  <a:gd name="T3" fmla="*/ 84 h 85"/>
                  <a:gd name="T4" fmla="*/ 0 w 86"/>
                  <a:gd name="T5" fmla="*/ 42 h 85"/>
                  <a:gd name="T6" fmla="*/ 43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6"/>
                      <a:pt x="66" y="84"/>
                      <a:pt x="43" y="84"/>
                    </a:cubicBezTo>
                    <a:cubicBezTo>
                      <a:pt x="19" y="84"/>
                      <a:pt x="0" y="66"/>
                      <a:pt x="0" y="42"/>
                    </a:cubicBezTo>
                    <a:cubicBezTo>
                      <a:pt x="0" y="19"/>
                      <a:pt x="19" y="0"/>
                      <a:pt x="43" y="0"/>
                    </a:cubicBezTo>
                    <a:cubicBezTo>
                      <a:pt x="66" y="0"/>
                      <a:pt x="85" y="19"/>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07" name="Freeform 206">
                <a:extLst>
                  <a:ext uri="{FF2B5EF4-FFF2-40B4-BE49-F238E27FC236}">
                    <a16:creationId xmlns:a16="http://schemas.microsoft.com/office/drawing/2014/main" id="{389A885E-33AB-9630-14C8-9EDC95B60E65}"/>
                  </a:ext>
                </a:extLst>
              </p:cNvPr>
              <p:cNvSpPr>
                <a:spLocks noChangeArrowheads="1"/>
              </p:cNvSpPr>
              <p:nvPr/>
            </p:nvSpPr>
            <p:spPr bwMode="auto">
              <a:xfrm>
                <a:off x="8008938" y="2490788"/>
                <a:ext cx="31750" cy="31750"/>
              </a:xfrm>
              <a:custGeom>
                <a:avLst/>
                <a:gdLst>
                  <a:gd name="T0" fmla="*/ 85 w 86"/>
                  <a:gd name="T1" fmla="*/ 42 h 86"/>
                  <a:gd name="T2" fmla="*/ 43 w 86"/>
                  <a:gd name="T3" fmla="*/ 85 h 86"/>
                  <a:gd name="T4" fmla="*/ 0 w 86"/>
                  <a:gd name="T5" fmla="*/ 42 h 86"/>
                  <a:gd name="T6" fmla="*/ 43 w 86"/>
                  <a:gd name="T7" fmla="*/ 0 h 86"/>
                  <a:gd name="T8" fmla="*/ 85 w 86"/>
                  <a:gd name="T9" fmla="*/ 42 h 86"/>
                </a:gdLst>
                <a:ahLst/>
                <a:cxnLst>
                  <a:cxn ang="0">
                    <a:pos x="T0" y="T1"/>
                  </a:cxn>
                  <a:cxn ang="0">
                    <a:pos x="T2" y="T3"/>
                  </a:cxn>
                  <a:cxn ang="0">
                    <a:pos x="T4" y="T5"/>
                  </a:cxn>
                  <a:cxn ang="0">
                    <a:pos x="T6" y="T7"/>
                  </a:cxn>
                  <a:cxn ang="0">
                    <a:pos x="T8" y="T9"/>
                  </a:cxn>
                </a:cxnLst>
                <a:rect l="0" t="0" r="r" b="b"/>
                <a:pathLst>
                  <a:path w="86" h="86">
                    <a:moveTo>
                      <a:pt x="85" y="42"/>
                    </a:moveTo>
                    <a:cubicBezTo>
                      <a:pt x="85" y="66"/>
                      <a:pt x="66" y="85"/>
                      <a:pt x="43" y="85"/>
                    </a:cubicBezTo>
                    <a:cubicBezTo>
                      <a:pt x="19" y="85"/>
                      <a:pt x="0" y="66"/>
                      <a:pt x="0" y="42"/>
                    </a:cubicBezTo>
                    <a:cubicBezTo>
                      <a:pt x="0" y="19"/>
                      <a:pt x="19" y="0"/>
                      <a:pt x="43" y="0"/>
                    </a:cubicBezTo>
                    <a:cubicBezTo>
                      <a:pt x="66" y="0"/>
                      <a:pt x="85" y="19"/>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08" name="Freeform 207">
                <a:extLst>
                  <a:ext uri="{FF2B5EF4-FFF2-40B4-BE49-F238E27FC236}">
                    <a16:creationId xmlns:a16="http://schemas.microsoft.com/office/drawing/2014/main" id="{B994DD1F-7829-4748-C5D3-0C6DC7406800}"/>
                  </a:ext>
                </a:extLst>
              </p:cNvPr>
              <p:cNvSpPr>
                <a:spLocks noChangeArrowheads="1"/>
              </p:cNvSpPr>
              <p:nvPr/>
            </p:nvSpPr>
            <p:spPr bwMode="auto">
              <a:xfrm>
                <a:off x="8008938" y="2551113"/>
                <a:ext cx="31750" cy="31750"/>
              </a:xfrm>
              <a:custGeom>
                <a:avLst/>
                <a:gdLst>
                  <a:gd name="T0" fmla="*/ 85 w 86"/>
                  <a:gd name="T1" fmla="*/ 43 h 86"/>
                  <a:gd name="T2" fmla="*/ 43 w 86"/>
                  <a:gd name="T3" fmla="*/ 85 h 86"/>
                  <a:gd name="T4" fmla="*/ 0 w 86"/>
                  <a:gd name="T5" fmla="*/ 43 h 86"/>
                  <a:gd name="T6" fmla="*/ 43 w 86"/>
                  <a:gd name="T7" fmla="*/ 0 h 86"/>
                  <a:gd name="T8" fmla="*/ 85 w 86"/>
                  <a:gd name="T9" fmla="*/ 43 h 86"/>
                </a:gdLst>
                <a:ahLst/>
                <a:cxnLst>
                  <a:cxn ang="0">
                    <a:pos x="T0" y="T1"/>
                  </a:cxn>
                  <a:cxn ang="0">
                    <a:pos x="T2" y="T3"/>
                  </a:cxn>
                  <a:cxn ang="0">
                    <a:pos x="T4" y="T5"/>
                  </a:cxn>
                  <a:cxn ang="0">
                    <a:pos x="T6" y="T7"/>
                  </a:cxn>
                  <a:cxn ang="0">
                    <a:pos x="T8" y="T9"/>
                  </a:cxn>
                </a:cxnLst>
                <a:rect l="0" t="0" r="r" b="b"/>
                <a:pathLst>
                  <a:path w="86" h="86">
                    <a:moveTo>
                      <a:pt x="85" y="43"/>
                    </a:moveTo>
                    <a:cubicBezTo>
                      <a:pt x="85" y="66"/>
                      <a:pt x="66" y="85"/>
                      <a:pt x="43" y="85"/>
                    </a:cubicBezTo>
                    <a:cubicBezTo>
                      <a:pt x="19" y="85"/>
                      <a:pt x="0" y="66"/>
                      <a:pt x="0" y="43"/>
                    </a:cubicBezTo>
                    <a:cubicBezTo>
                      <a:pt x="0" y="19"/>
                      <a:pt x="19" y="0"/>
                      <a:pt x="43" y="0"/>
                    </a:cubicBezTo>
                    <a:cubicBezTo>
                      <a:pt x="66" y="0"/>
                      <a:pt x="85" y="19"/>
                      <a:pt x="85" y="43"/>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09" name="Freeform 208">
                <a:extLst>
                  <a:ext uri="{FF2B5EF4-FFF2-40B4-BE49-F238E27FC236}">
                    <a16:creationId xmlns:a16="http://schemas.microsoft.com/office/drawing/2014/main" id="{B6D42E76-EC61-304D-8759-2B2A42578C3F}"/>
                  </a:ext>
                </a:extLst>
              </p:cNvPr>
              <p:cNvSpPr>
                <a:spLocks noChangeArrowheads="1"/>
              </p:cNvSpPr>
              <p:nvPr/>
            </p:nvSpPr>
            <p:spPr bwMode="auto">
              <a:xfrm>
                <a:off x="8008938" y="2613025"/>
                <a:ext cx="31750" cy="30163"/>
              </a:xfrm>
              <a:custGeom>
                <a:avLst/>
                <a:gdLst>
                  <a:gd name="T0" fmla="*/ 85 w 86"/>
                  <a:gd name="T1" fmla="*/ 42 h 85"/>
                  <a:gd name="T2" fmla="*/ 43 w 86"/>
                  <a:gd name="T3" fmla="*/ 84 h 85"/>
                  <a:gd name="T4" fmla="*/ 0 w 86"/>
                  <a:gd name="T5" fmla="*/ 42 h 85"/>
                  <a:gd name="T6" fmla="*/ 43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5"/>
                      <a:pt x="66" y="84"/>
                      <a:pt x="43" y="84"/>
                    </a:cubicBezTo>
                    <a:cubicBezTo>
                      <a:pt x="19" y="84"/>
                      <a:pt x="0" y="65"/>
                      <a:pt x="0" y="42"/>
                    </a:cubicBezTo>
                    <a:cubicBezTo>
                      <a:pt x="0" y="19"/>
                      <a:pt x="19" y="0"/>
                      <a:pt x="43" y="0"/>
                    </a:cubicBezTo>
                    <a:cubicBezTo>
                      <a:pt x="66" y="0"/>
                      <a:pt x="85" y="19"/>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10" name="Freeform 209">
                <a:extLst>
                  <a:ext uri="{FF2B5EF4-FFF2-40B4-BE49-F238E27FC236}">
                    <a16:creationId xmlns:a16="http://schemas.microsoft.com/office/drawing/2014/main" id="{837DE685-DD17-CC09-9564-9594E5EA9227}"/>
                  </a:ext>
                </a:extLst>
              </p:cNvPr>
              <p:cNvSpPr>
                <a:spLocks noChangeArrowheads="1"/>
              </p:cNvSpPr>
              <p:nvPr/>
            </p:nvSpPr>
            <p:spPr bwMode="auto">
              <a:xfrm>
                <a:off x="8080375" y="2506663"/>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211" name="Freeform 210">
                <a:extLst>
                  <a:ext uri="{FF2B5EF4-FFF2-40B4-BE49-F238E27FC236}">
                    <a16:creationId xmlns:a16="http://schemas.microsoft.com/office/drawing/2014/main" id="{F33D8B62-D1E5-4452-7DB1-79C616678994}"/>
                  </a:ext>
                </a:extLst>
              </p:cNvPr>
              <p:cNvSpPr>
                <a:spLocks noChangeArrowheads="1"/>
              </p:cNvSpPr>
              <p:nvPr/>
            </p:nvSpPr>
            <p:spPr bwMode="auto">
              <a:xfrm>
                <a:off x="8080375" y="2566988"/>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sp>
            <p:nvSpPr>
              <p:cNvPr id="212" name="Freeform 211">
                <a:extLst>
                  <a:ext uri="{FF2B5EF4-FFF2-40B4-BE49-F238E27FC236}">
                    <a16:creationId xmlns:a16="http://schemas.microsoft.com/office/drawing/2014/main" id="{3F9C4EE0-803B-5902-8F26-236BC7A9708F}"/>
                  </a:ext>
                </a:extLst>
              </p:cNvPr>
              <p:cNvSpPr>
                <a:spLocks noChangeArrowheads="1"/>
              </p:cNvSpPr>
              <p:nvPr/>
            </p:nvSpPr>
            <p:spPr bwMode="auto">
              <a:xfrm>
                <a:off x="8080375" y="2627313"/>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grpFill/>
              <a:ln w="12700" cap="rnd">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mj-lt"/>
                </a:endParaRPr>
              </a:p>
            </p:txBody>
          </p:sp>
        </p:grpSp>
      </p:grpSp>
      <p:cxnSp>
        <p:nvCxnSpPr>
          <p:cNvPr id="213" name="Straight Connector 212">
            <a:extLst>
              <a:ext uri="{FF2B5EF4-FFF2-40B4-BE49-F238E27FC236}">
                <a16:creationId xmlns:a16="http://schemas.microsoft.com/office/drawing/2014/main" id="{91E4CB9E-3878-2512-6C7A-8D6919ED0264}"/>
              </a:ext>
            </a:extLst>
          </p:cNvPr>
          <p:cNvCxnSpPr>
            <a:cxnSpLocks/>
          </p:cNvCxnSpPr>
          <p:nvPr/>
        </p:nvCxnSpPr>
        <p:spPr>
          <a:xfrm>
            <a:off x="14305311" y="4963009"/>
            <a:ext cx="30426" cy="713655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14" name="Text Placeholder 2">
            <a:extLst>
              <a:ext uri="{FF2B5EF4-FFF2-40B4-BE49-F238E27FC236}">
                <a16:creationId xmlns:a16="http://schemas.microsoft.com/office/drawing/2014/main" id="{92531AE1-0C75-3452-9729-FE6DF44AC40C}"/>
              </a:ext>
            </a:extLst>
          </p:cNvPr>
          <p:cNvSpPr txBox="1">
            <a:spLocks/>
          </p:cNvSpPr>
          <p:nvPr/>
        </p:nvSpPr>
        <p:spPr>
          <a:xfrm>
            <a:off x="5858573" y="4642304"/>
            <a:ext cx="8065014" cy="1377820"/>
          </a:xfrm>
          <a:prstGeom prst="rect">
            <a:avLst/>
          </a:prstGeom>
        </p:spPr>
        <p:txBody>
          <a:bodyPr/>
          <a:lstStyle>
            <a:lvl1pPr marL="142875" indent="-142875"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1pPr>
            <a:lvl2pPr marL="428625" indent="-145257"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2pPr>
            <a:lvl3pPr marL="714375" indent="-147638"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3pPr>
            <a:lvl4pPr marL="1000125" indent="-150019"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4pPr>
            <a:lvl5pPr marL="1285875" indent="-152400"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66736" indent="-571500" defTabSz="1828800">
              <a:spcAft>
                <a:spcPts val="2000"/>
              </a:spcAft>
              <a:buClr>
                <a:srgbClr val="EB0000"/>
              </a:buClr>
              <a:defRPr/>
            </a:pPr>
            <a:r>
              <a:rPr lang="en-GB" sz="2800">
                <a:latin typeface="+mj-lt"/>
              </a:rPr>
              <a:t>High level portfolio review</a:t>
            </a:r>
          </a:p>
          <a:p>
            <a:pPr marL="566736" indent="-571500" defTabSz="1828800">
              <a:spcAft>
                <a:spcPts val="2000"/>
              </a:spcAft>
              <a:buClr>
                <a:srgbClr val="EB0000"/>
              </a:buClr>
              <a:defRPr/>
            </a:pPr>
            <a:r>
              <a:rPr lang="en-GB" sz="2800">
                <a:latin typeface="+mj-lt"/>
              </a:rPr>
              <a:t>Assessment of as-is application attributes</a:t>
            </a:r>
          </a:p>
        </p:txBody>
      </p:sp>
      <p:sp>
        <p:nvSpPr>
          <p:cNvPr id="215" name="Text Placeholder 2">
            <a:extLst>
              <a:ext uri="{FF2B5EF4-FFF2-40B4-BE49-F238E27FC236}">
                <a16:creationId xmlns:a16="http://schemas.microsoft.com/office/drawing/2014/main" id="{8FBC2839-519F-4F22-2F6B-0BAA79D2F06B}"/>
              </a:ext>
            </a:extLst>
          </p:cNvPr>
          <p:cNvSpPr txBox="1">
            <a:spLocks/>
          </p:cNvSpPr>
          <p:nvPr/>
        </p:nvSpPr>
        <p:spPr>
          <a:xfrm>
            <a:off x="5858573" y="6997277"/>
            <a:ext cx="8281322" cy="2449534"/>
          </a:xfrm>
          <a:prstGeom prst="rect">
            <a:avLst/>
          </a:prstGeom>
        </p:spPr>
        <p:txBody>
          <a:bodyPr/>
          <a:lstStyle>
            <a:lvl1pPr marL="142875" indent="-142875"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1pPr>
            <a:lvl2pPr marL="428625" indent="-145257"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2pPr>
            <a:lvl3pPr marL="714375" indent="-147638"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3pPr>
            <a:lvl4pPr marL="1000125" indent="-150019"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4pPr>
            <a:lvl5pPr marL="1285875" indent="-152400"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66736" indent="-571500" defTabSz="1828800">
              <a:spcAft>
                <a:spcPts val="2000"/>
              </a:spcAft>
              <a:buClr>
                <a:srgbClr val="EB0000"/>
              </a:buClr>
              <a:defRPr/>
            </a:pPr>
            <a:r>
              <a:rPr lang="en-GB" sz="2800">
                <a:latin typeface="+mj-lt"/>
              </a:rPr>
              <a:t>Examine key migration impacting characteristics</a:t>
            </a:r>
          </a:p>
          <a:p>
            <a:pPr marL="566736" indent="-571500" defTabSz="1828800">
              <a:spcAft>
                <a:spcPts val="2000"/>
              </a:spcAft>
              <a:buClr>
                <a:srgbClr val="EB0000"/>
              </a:buClr>
              <a:defRPr/>
            </a:pPr>
            <a:r>
              <a:rPr lang="en-GB" sz="2800">
                <a:latin typeface="+mj-lt"/>
              </a:rPr>
              <a:t>Application to server mapping</a:t>
            </a:r>
          </a:p>
          <a:p>
            <a:pPr marL="566736" indent="-571500" defTabSz="1828800">
              <a:spcAft>
                <a:spcPts val="2000"/>
              </a:spcAft>
              <a:buClr>
                <a:srgbClr val="EB0000"/>
              </a:buClr>
              <a:defRPr/>
            </a:pPr>
            <a:r>
              <a:rPr lang="en-GB" sz="2800">
                <a:latin typeface="+mj-lt"/>
              </a:rPr>
              <a:t>Application inter-dependencies</a:t>
            </a:r>
          </a:p>
        </p:txBody>
      </p:sp>
      <p:sp>
        <p:nvSpPr>
          <p:cNvPr id="216" name="Text Placeholder 2">
            <a:extLst>
              <a:ext uri="{FF2B5EF4-FFF2-40B4-BE49-F238E27FC236}">
                <a16:creationId xmlns:a16="http://schemas.microsoft.com/office/drawing/2014/main" id="{3DDDC631-D0FD-C415-2F8D-8CB79D5162B8}"/>
              </a:ext>
            </a:extLst>
          </p:cNvPr>
          <p:cNvSpPr txBox="1">
            <a:spLocks/>
          </p:cNvSpPr>
          <p:nvPr/>
        </p:nvSpPr>
        <p:spPr>
          <a:xfrm>
            <a:off x="5858572" y="9930762"/>
            <a:ext cx="7919708" cy="3140680"/>
          </a:xfrm>
          <a:prstGeom prst="rect">
            <a:avLst/>
          </a:prstGeom>
        </p:spPr>
        <p:txBody>
          <a:bodyPr/>
          <a:lstStyle>
            <a:lvl1pPr marL="142875" indent="-142875"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1pPr>
            <a:lvl2pPr marL="428625" indent="-145257"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2pPr>
            <a:lvl3pPr marL="714375" indent="-147638"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3pPr>
            <a:lvl4pPr marL="1000125" indent="-150019"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4pPr>
            <a:lvl5pPr marL="1285875" indent="-152400" algn="l" defTabSz="914400" rtl="0" eaLnBrk="1" latinLnBrk="0" hangingPunct="1">
              <a:lnSpc>
                <a:spcPct val="100000"/>
              </a:lnSpc>
              <a:spcBef>
                <a:spcPts val="0"/>
              </a:spcBef>
              <a:spcAft>
                <a:spcPts val="1500"/>
              </a:spcAft>
              <a:buClr>
                <a:schemeClr val="tx2"/>
              </a:buClr>
              <a:buFont typeface="Arial" panose="020B0604020202020204" pitchFamily="34" charset="0"/>
              <a:buChar char="•"/>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defTabSz="1828800">
              <a:spcAft>
                <a:spcPts val="2000"/>
              </a:spcAft>
              <a:buClr>
                <a:srgbClr val="EB0000"/>
              </a:buClr>
              <a:defRPr/>
            </a:pPr>
            <a:r>
              <a:rPr lang="en-US" sz="2800">
                <a:latin typeface="+mj-lt"/>
              </a:rPr>
              <a:t>Supports future-state operating cost analysis</a:t>
            </a:r>
          </a:p>
          <a:p>
            <a:pPr marL="342900" indent="-342900" defTabSz="1828800">
              <a:spcAft>
                <a:spcPts val="2000"/>
              </a:spcAft>
              <a:buClr>
                <a:srgbClr val="EB0000"/>
              </a:buClr>
              <a:defRPr/>
            </a:pPr>
            <a:r>
              <a:rPr lang="en-US" sz="2800">
                <a:latin typeface="+mj-lt"/>
              </a:rPr>
              <a:t>Environment stats collected including:</a:t>
            </a:r>
          </a:p>
          <a:p>
            <a:pPr marL="914400" indent="-571500">
              <a:spcAft>
                <a:spcPts val="2000"/>
              </a:spcAft>
              <a:buClr>
                <a:srgbClr val="EB0000"/>
              </a:buClr>
              <a:buFont typeface="Wingdings" pitchFamily="2" charset="2"/>
              <a:buChar char="Ø"/>
              <a:defRPr/>
            </a:pPr>
            <a:r>
              <a:rPr lang="en-US" sz="2800">
                <a:latin typeface="+mj-lt"/>
              </a:rPr>
              <a:t>Virtual Server information &amp; </a:t>
            </a:r>
            <a:r>
              <a:rPr lang="en-GB" sz="2800">
                <a:latin typeface="+mj-lt"/>
              </a:rPr>
              <a:t>utilisation</a:t>
            </a:r>
            <a:r>
              <a:rPr lang="en-US" sz="2800">
                <a:latin typeface="+mj-lt"/>
              </a:rPr>
              <a:t> (CPU, Memory, Disk </a:t>
            </a:r>
            <a:r>
              <a:rPr lang="en-GB" sz="2800">
                <a:latin typeface="+mj-lt"/>
              </a:rPr>
              <a:t>Utilisation</a:t>
            </a:r>
            <a:r>
              <a:rPr lang="en-US" sz="2800">
                <a:latin typeface="+mj-lt"/>
              </a:rPr>
              <a:t>, NIC)</a:t>
            </a:r>
          </a:p>
        </p:txBody>
      </p:sp>
      <p:sp>
        <p:nvSpPr>
          <p:cNvPr id="217" name="Rectangle 216">
            <a:extLst>
              <a:ext uri="{FF2B5EF4-FFF2-40B4-BE49-F238E27FC236}">
                <a16:creationId xmlns:a16="http://schemas.microsoft.com/office/drawing/2014/main" id="{9710D61B-2E0D-36AB-C234-42FBC898BA81}"/>
              </a:ext>
            </a:extLst>
          </p:cNvPr>
          <p:cNvSpPr/>
          <p:nvPr/>
        </p:nvSpPr>
        <p:spPr>
          <a:xfrm>
            <a:off x="14856005" y="4374152"/>
            <a:ext cx="2063385" cy="523220"/>
          </a:xfrm>
          <a:prstGeom prst="rect">
            <a:avLst/>
          </a:prstGeom>
        </p:spPr>
        <p:txBody>
          <a:bodyPr wrap="none">
            <a:spAutoFit/>
          </a:bodyPr>
          <a:lstStyle/>
          <a:p>
            <a:pPr defTabSz="1828800">
              <a:defRPr/>
            </a:pPr>
            <a:r>
              <a:rPr lang="en-GB" sz="2800" b="1">
                <a:latin typeface="+mj-lt"/>
              </a:rPr>
              <a:t>Outcomes:</a:t>
            </a:r>
          </a:p>
        </p:txBody>
      </p:sp>
      <p:grpSp>
        <p:nvGrpSpPr>
          <p:cNvPr id="229" name="Group 228">
            <a:extLst>
              <a:ext uri="{FF2B5EF4-FFF2-40B4-BE49-F238E27FC236}">
                <a16:creationId xmlns:a16="http://schemas.microsoft.com/office/drawing/2014/main" id="{FD09D616-EF0F-BEDE-F900-DCCA7891F1CB}"/>
              </a:ext>
            </a:extLst>
          </p:cNvPr>
          <p:cNvGrpSpPr>
            <a:grpSpLocks noChangeAspect="1"/>
          </p:cNvGrpSpPr>
          <p:nvPr/>
        </p:nvGrpSpPr>
        <p:grpSpPr>
          <a:xfrm>
            <a:off x="14987466" y="10780408"/>
            <a:ext cx="632820" cy="632820"/>
            <a:chOff x="6184900" y="2765425"/>
            <a:chExt cx="630238" cy="630238"/>
          </a:xfrm>
          <a:solidFill>
            <a:schemeClr val="bg1"/>
          </a:solidFill>
        </p:grpSpPr>
        <p:sp>
          <p:nvSpPr>
            <p:cNvPr id="230" name="Freeform 7">
              <a:extLst>
                <a:ext uri="{FF2B5EF4-FFF2-40B4-BE49-F238E27FC236}">
                  <a16:creationId xmlns:a16="http://schemas.microsoft.com/office/drawing/2014/main" id="{8715161F-20AB-EBEA-F547-4F80F757DF78}"/>
                </a:ext>
              </a:extLst>
            </p:cNvPr>
            <p:cNvSpPr>
              <a:spLocks noChangeArrowheads="1"/>
            </p:cNvSpPr>
            <p:nvPr/>
          </p:nvSpPr>
          <p:spPr bwMode="auto">
            <a:xfrm>
              <a:off x="6184900" y="2765425"/>
              <a:ext cx="630238" cy="630238"/>
            </a:xfrm>
            <a:custGeom>
              <a:avLst/>
              <a:gdLst>
                <a:gd name="T0" fmla="*/ 1468 w 1751"/>
                <a:gd name="T1" fmla="*/ 1749 h 1750"/>
                <a:gd name="T2" fmla="*/ 1750 w 1751"/>
                <a:gd name="T3" fmla="*/ 1467 h 1750"/>
                <a:gd name="T4" fmla="*/ 1750 w 1751"/>
                <a:gd name="T5" fmla="*/ 282 h 1750"/>
                <a:gd name="T6" fmla="*/ 1468 w 1751"/>
                <a:gd name="T7" fmla="*/ 0 h 1750"/>
                <a:gd name="T8" fmla="*/ 283 w 1751"/>
                <a:gd name="T9" fmla="*/ 0 h 1750"/>
                <a:gd name="T10" fmla="*/ 0 w 1751"/>
                <a:gd name="T11" fmla="*/ 282 h 1750"/>
                <a:gd name="T12" fmla="*/ 0 w 1751"/>
                <a:gd name="T13" fmla="*/ 1467 h 1750"/>
                <a:gd name="T14" fmla="*/ 283 w 1751"/>
                <a:gd name="T15" fmla="*/ 1749 h 1750"/>
                <a:gd name="T16" fmla="*/ 1468 w 1751"/>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0">
                  <a:moveTo>
                    <a:pt x="1468" y="1749"/>
                  </a:moveTo>
                  <a:cubicBezTo>
                    <a:pt x="1623" y="1749"/>
                    <a:pt x="1750" y="1622"/>
                    <a:pt x="1750" y="1467"/>
                  </a:cubicBezTo>
                  <a:cubicBezTo>
                    <a:pt x="1750" y="1072"/>
                    <a:pt x="1750" y="677"/>
                    <a:pt x="1750" y="282"/>
                  </a:cubicBezTo>
                  <a:cubicBezTo>
                    <a:pt x="1750" y="127"/>
                    <a:pt x="1623" y="0"/>
                    <a:pt x="1468" y="0"/>
                  </a:cubicBezTo>
                  <a:cubicBezTo>
                    <a:pt x="1073" y="0"/>
                    <a:pt x="678" y="0"/>
                    <a:pt x="283" y="0"/>
                  </a:cubicBezTo>
                  <a:cubicBezTo>
                    <a:pt x="127" y="0"/>
                    <a:pt x="0" y="127"/>
                    <a:pt x="0" y="282"/>
                  </a:cubicBezTo>
                  <a:cubicBezTo>
                    <a:pt x="0" y="677"/>
                    <a:pt x="0" y="1072"/>
                    <a:pt x="0" y="1467"/>
                  </a:cubicBezTo>
                  <a:cubicBezTo>
                    <a:pt x="0" y="1622"/>
                    <a:pt x="127" y="1749"/>
                    <a:pt x="283" y="1749"/>
                  </a:cubicBezTo>
                  <a:cubicBezTo>
                    <a:pt x="678" y="1749"/>
                    <a:pt x="1073" y="1749"/>
                    <a:pt x="1468" y="1749"/>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nvGrpSpPr>
            <p:cNvPr id="231" name="Group 230">
              <a:extLst>
                <a:ext uri="{FF2B5EF4-FFF2-40B4-BE49-F238E27FC236}">
                  <a16:creationId xmlns:a16="http://schemas.microsoft.com/office/drawing/2014/main" id="{C2413DDE-ABBF-27D2-2967-49498114F983}"/>
                </a:ext>
              </a:extLst>
            </p:cNvPr>
            <p:cNvGrpSpPr/>
            <p:nvPr/>
          </p:nvGrpSpPr>
          <p:grpSpPr>
            <a:xfrm>
              <a:off x="6348413" y="2903538"/>
              <a:ext cx="304800" cy="355600"/>
              <a:chOff x="6348413" y="2903538"/>
              <a:chExt cx="304800" cy="355600"/>
            </a:xfrm>
            <a:grpFill/>
          </p:grpSpPr>
          <p:sp>
            <p:nvSpPr>
              <p:cNvPr id="232" name="Freeform 8">
                <a:extLst>
                  <a:ext uri="{FF2B5EF4-FFF2-40B4-BE49-F238E27FC236}">
                    <a16:creationId xmlns:a16="http://schemas.microsoft.com/office/drawing/2014/main" id="{93BFE933-DEDB-AB0B-B61C-A7D01F90DA14}"/>
                  </a:ext>
                </a:extLst>
              </p:cNvPr>
              <p:cNvSpPr>
                <a:spLocks noChangeArrowheads="1"/>
              </p:cNvSpPr>
              <p:nvPr/>
            </p:nvSpPr>
            <p:spPr bwMode="auto">
              <a:xfrm>
                <a:off x="6389688" y="3184525"/>
                <a:ext cx="92075" cy="31750"/>
              </a:xfrm>
              <a:custGeom>
                <a:avLst/>
                <a:gdLst>
                  <a:gd name="T0" fmla="*/ 254 w 255"/>
                  <a:gd name="T1" fmla="*/ 43 h 86"/>
                  <a:gd name="T2" fmla="*/ 212 w 255"/>
                  <a:gd name="T3" fmla="*/ 0 h 86"/>
                  <a:gd name="T4" fmla="*/ 42 w 255"/>
                  <a:gd name="T5" fmla="*/ 0 h 86"/>
                  <a:gd name="T6" fmla="*/ 0 w 255"/>
                  <a:gd name="T7" fmla="*/ 43 h 86"/>
                  <a:gd name="T8" fmla="*/ 42 w 255"/>
                  <a:gd name="T9" fmla="*/ 85 h 86"/>
                  <a:gd name="T10" fmla="*/ 212 w 255"/>
                  <a:gd name="T11" fmla="*/ 85 h 86"/>
                  <a:gd name="T12" fmla="*/ 254 w 255"/>
                  <a:gd name="T13" fmla="*/ 43 h 86"/>
                </a:gdLst>
                <a:ahLst/>
                <a:cxnLst>
                  <a:cxn ang="0">
                    <a:pos x="T0" y="T1"/>
                  </a:cxn>
                  <a:cxn ang="0">
                    <a:pos x="T2" y="T3"/>
                  </a:cxn>
                  <a:cxn ang="0">
                    <a:pos x="T4" y="T5"/>
                  </a:cxn>
                  <a:cxn ang="0">
                    <a:pos x="T6" y="T7"/>
                  </a:cxn>
                  <a:cxn ang="0">
                    <a:pos x="T8" y="T9"/>
                  </a:cxn>
                  <a:cxn ang="0">
                    <a:pos x="T10" y="T11"/>
                  </a:cxn>
                  <a:cxn ang="0">
                    <a:pos x="T12" y="T13"/>
                  </a:cxn>
                </a:cxnLst>
                <a:rect l="0" t="0" r="r" b="b"/>
                <a:pathLst>
                  <a:path w="255" h="86">
                    <a:moveTo>
                      <a:pt x="254" y="43"/>
                    </a:moveTo>
                    <a:cubicBezTo>
                      <a:pt x="254" y="20"/>
                      <a:pt x="234" y="0"/>
                      <a:pt x="212" y="0"/>
                    </a:cubicBezTo>
                    <a:cubicBezTo>
                      <a:pt x="156" y="0"/>
                      <a:pt x="99" y="0"/>
                      <a:pt x="42" y="0"/>
                    </a:cubicBezTo>
                    <a:cubicBezTo>
                      <a:pt x="20" y="0"/>
                      <a:pt x="0" y="20"/>
                      <a:pt x="0" y="43"/>
                    </a:cubicBezTo>
                    <a:cubicBezTo>
                      <a:pt x="0" y="65"/>
                      <a:pt x="20" y="85"/>
                      <a:pt x="42" y="85"/>
                    </a:cubicBezTo>
                    <a:cubicBezTo>
                      <a:pt x="99" y="85"/>
                      <a:pt x="156" y="85"/>
                      <a:pt x="212" y="85"/>
                    </a:cubicBezTo>
                    <a:cubicBezTo>
                      <a:pt x="234" y="85"/>
                      <a:pt x="254" y="68"/>
                      <a:pt x="254" y="43"/>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33" name="Freeform 9">
                <a:extLst>
                  <a:ext uri="{FF2B5EF4-FFF2-40B4-BE49-F238E27FC236}">
                    <a16:creationId xmlns:a16="http://schemas.microsoft.com/office/drawing/2014/main" id="{AA1F5D0C-555E-04A5-8A04-BA14987F547F}"/>
                  </a:ext>
                </a:extLst>
              </p:cNvPr>
              <p:cNvSpPr>
                <a:spLocks noChangeArrowheads="1"/>
              </p:cNvSpPr>
              <p:nvPr/>
            </p:nvSpPr>
            <p:spPr bwMode="auto">
              <a:xfrm>
                <a:off x="6348413" y="2903538"/>
                <a:ext cx="304800" cy="355600"/>
              </a:xfrm>
              <a:custGeom>
                <a:avLst/>
                <a:gdLst>
                  <a:gd name="T0" fmla="*/ 734 w 848"/>
                  <a:gd name="T1" fmla="*/ 0 h 988"/>
                  <a:gd name="T2" fmla="*/ 847 w 848"/>
                  <a:gd name="T3" fmla="*/ 113 h 988"/>
                  <a:gd name="T4" fmla="*/ 847 w 848"/>
                  <a:gd name="T5" fmla="*/ 874 h 988"/>
                  <a:gd name="T6" fmla="*/ 734 w 848"/>
                  <a:gd name="T7" fmla="*/ 987 h 988"/>
                  <a:gd name="T8" fmla="*/ 113 w 848"/>
                  <a:gd name="T9" fmla="*/ 987 h 988"/>
                  <a:gd name="T10" fmla="*/ 0 w 848"/>
                  <a:gd name="T11" fmla="*/ 874 h 988"/>
                  <a:gd name="T12" fmla="*/ 0 w 848"/>
                  <a:gd name="T13" fmla="*/ 113 h 988"/>
                  <a:gd name="T14" fmla="*/ 113 w 848"/>
                  <a:gd name="T15" fmla="*/ 0 h 988"/>
                  <a:gd name="T16" fmla="*/ 734 w 848"/>
                  <a:gd name="T17" fmla="*/ 0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8" h="988">
                    <a:moveTo>
                      <a:pt x="734" y="0"/>
                    </a:moveTo>
                    <a:cubicBezTo>
                      <a:pt x="796" y="0"/>
                      <a:pt x="847" y="50"/>
                      <a:pt x="847" y="113"/>
                    </a:cubicBezTo>
                    <a:cubicBezTo>
                      <a:pt x="847" y="366"/>
                      <a:pt x="847" y="620"/>
                      <a:pt x="847" y="874"/>
                    </a:cubicBezTo>
                    <a:cubicBezTo>
                      <a:pt x="847" y="937"/>
                      <a:pt x="796" y="987"/>
                      <a:pt x="734" y="987"/>
                    </a:cubicBezTo>
                    <a:cubicBezTo>
                      <a:pt x="527" y="987"/>
                      <a:pt x="320" y="987"/>
                      <a:pt x="113" y="987"/>
                    </a:cubicBezTo>
                    <a:cubicBezTo>
                      <a:pt x="51" y="987"/>
                      <a:pt x="0" y="937"/>
                      <a:pt x="0" y="874"/>
                    </a:cubicBezTo>
                    <a:cubicBezTo>
                      <a:pt x="0" y="620"/>
                      <a:pt x="0" y="366"/>
                      <a:pt x="0" y="113"/>
                    </a:cubicBezTo>
                    <a:cubicBezTo>
                      <a:pt x="0" y="50"/>
                      <a:pt x="51" y="0"/>
                      <a:pt x="113" y="0"/>
                    </a:cubicBezTo>
                    <a:cubicBezTo>
                      <a:pt x="320" y="0"/>
                      <a:pt x="527" y="0"/>
                      <a:pt x="734"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34" name="Freeform 10">
                <a:extLst>
                  <a:ext uri="{FF2B5EF4-FFF2-40B4-BE49-F238E27FC236}">
                    <a16:creationId xmlns:a16="http://schemas.microsoft.com/office/drawing/2014/main" id="{28AFAFE3-373A-346B-7125-BF39E71458E1}"/>
                  </a:ext>
                </a:extLst>
              </p:cNvPr>
              <p:cNvSpPr>
                <a:spLocks noChangeArrowheads="1"/>
              </p:cNvSpPr>
              <p:nvPr/>
            </p:nvSpPr>
            <p:spPr bwMode="auto">
              <a:xfrm>
                <a:off x="6389688" y="3124200"/>
                <a:ext cx="31750" cy="31750"/>
              </a:xfrm>
              <a:custGeom>
                <a:avLst/>
                <a:gdLst>
                  <a:gd name="T0" fmla="*/ 85 w 86"/>
                  <a:gd name="T1" fmla="*/ 42 h 86"/>
                  <a:gd name="T2" fmla="*/ 42 w 86"/>
                  <a:gd name="T3" fmla="*/ 85 h 86"/>
                  <a:gd name="T4" fmla="*/ 0 w 86"/>
                  <a:gd name="T5" fmla="*/ 42 h 86"/>
                  <a:gd name="T6" fmla="*/ 42 w 86"/>
                  <a:gd name="T7" fmla="*/ 0 h 86"/>
                  <a:gd name="T8" fmla="*/ 85 w 86"/>
                  <a:gd name="T9" fmla="*/ 42 h 86"/>
                </a:gdLst>
                <a:ahLst/>
                <a:cxnLst>
                  <a:cxn ang="0">
                    <a:pos x="T0" y="T1"/>
                  </a:cxn>
                  <a:cxn ang="0">
                    <a:pos x="T2" y="T3"/>
                  </a:cxn>
                  <a:cxn ang="0">
                    <a:pos x="T4" y="T5"/>
                  </a:cxn>
                  <a:cxn ang="0">
                    <a:pos x="T6" y="T7"/>
                  </a:cxn>
                  <a:cxn ang="0">
                    <a:pos x="T8" y="T9"/>
                  </a:cxn>
                </a:cxnLst>
                <a:rect l="0" t="0" r="r" b="b"/>
                <a:pathLst>
                  <a:path w="86" h="86">
                    <a:moveTo>
                      <a:pt x="85" y="42"/>
                    </a:moveTo>
                    <a:cubicBezTo>
                      <a:pt x="85" y="65"/>
                      <a:pt x="65" y="85"/>
                      <a:pt x="42" y="85"/>
                    </a:cubicBezTo>
                    <a:cubicBezTo>
                      <a:pt x="20" y="85"/>
                      <a:pt x="0" y="64"/>
                      <a:pt x="0" y="42"/>
                    </a:cubicBezTo>
                    <a:cubicBezTo>
                      <a:pt x="0" y="19"/>
                      <a:pt x="20" y="0"/>
                      <a:pt x="42" y="0"/>
                    </a:cubicBezTo>
                    <a:cubicBezTo>
                      <a:pt x="65" y="0"/>
                      <a:pt x="85" y="20"/>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35" name="Freeform 11">
                <a:extLst>
                  <a:ext uri="{FF2B5EF4-FFF2-40B4-BE49-F238E27FC236}">
                    <a16:creationId xmlns:a16="http://schemas.microsoft.com/office/drawing/2014/main" id="{CDAB6C56-491E-EE8A-024C-0627A73DB5A0}"/>
                  </a:ext>
                </a:extLst>
              </p:cNvPr>
              <p:cNvSpPr>
                <a:spLocks noChangeArrowheads="1"/>
              </p:cNvSpPr>
              <p:nvPr/>
            </p:nvSpPr>
            <p:spPr bwMode="auto">
              <a:xfrm>
                <a:off x="6450013" y="3124200"/>
                <a:ext cx="31750" cy="31750"/>
              </a:xfrm>
              <a:custGeom>
                <a:avLst/>
                <a:gdLst>
                  <a:gd name="T0" fmla="*/ 85 w 86"/>
                  <a:gd name="T1" fmla="*/ 42 h 86"/>
                  <a:gd name="T2" fmla="*/ 43 w 86"/>
                  <a:gd name="T3" fmla="*/ 85 h 86"/>
                  <a:gd name="T4" fmla="*/ 0 w 86"/>
                  <a:gd name="T5" fmla="*/ 42 h 86"/>
                  <a:gd name="T6" fmla="*/ 43 w 86"/>
                  <a:gd name="T7" fmla="*/ 0 h 86"/>
                  <a:gd name="T8" fmla="*/ 85 w 86"/>
                  <a:gd name="T9" fmla="*/ 42 h 86"/>
                </a:gdLst>
                <a:ahLst/>
                <a:cxnLst>
                  <a:cxn ang="0">
                    <a:pos x="T0" y="T1"/>
                  </a:cxn>
                  <a:cxn ang="0">
                    <a:pos x="T2" y="T3"/>
                  </a:cxn>
                  <a:cxn ang="0">
                    <a:pos x="T4" y="T5"/>
                  </a:cxn>
                  <a:cxn ang="0">
                    <a:pos x="T6" y="T7"/>
                  </a:cxn>
                  <a:cxn ang="0">
                    <a:pos x="T8" y="T9"/>
                  </a:cxn>
                </a:cxnLst>
                <a:rect l="0" t="0" r="r" b="b"/>
                <a:pathLst>
                  <a:path w="86" h="86">
                    <a:moveTo>
                      <a:pt x="85" y="42"/>
                    </a:moveTo>
                    <a:cubicBezTo>
                      <a:pt x="85" y="65"/>
                      <a:pt x="66" y="85"/>
                      <a:pt x="43" y="85"/>
                    </a:cubicBezTo>
                    <a:cubicBezTo>
                      <a:pt x="21" y="85"/>
                      <a:pt x="0" y="64"/>
                      <a:pt x="0" y="42"/>
                    </a:cubicBezTo>
                    <a:cubicBezTo>
                      <a:pt x="0" y="19"/>
                      <a:pt x="21" y="0"/>
                      <a:pt x="43" y="0"/>
                    </a:cubicBezTo>
                    <a:cubicBezTo>
                      <a:pt x="66" y="0"/>
                      <a:pt x="85" y="20"/>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36" name="Freeform 12">
                <a:extLst>
                  <a:ext uri="{FF2B5EF4-FFF2-40B4-BE49-F238E27FC236}">
                    <a16:creationId xmlns:a16="http://schemas.microsoft.com/office/drawing/2014/main" id="{1B8339F7-02CD-045C-F72A-70D4EF7CDCE8}"/>
                  </a:ext>
                </a:extLst>
              </p:cNvPr>
              <p:cNvSpPr>
                <a:spLocks noChangeArrowheads="1"/>
              </p:cNvSpPr>
              <p:nvPr/>
            </p:nvSpPr>
            <p:spPr bwMode="auto">
              <a:xfrm>
                <a:off x="6510338" y="3124200"/>
                <a:ext cx="30162" cy="31750"/>
              </a:xfrm>
              <a:custGeom>
                <a:avLst/>
                <a:gdLst>
                  <a:gd name="T0" fmla="*/ 84 w 85"/>
                  <a:gd name="T1" fmla="*/ 42 h 86"/>
                  <a:gd name="T2" fmla="*/ 42 w 85"/>
                  <a:gd name="T3" fmla="*/ 85 h 86"/>
                  <a:gd name="T4" fmla="*/ 0 w 85"/>
                  <a:gd name="T5" fmla="*/ 42 h 86"/>
                  <a:gd name="T6" fmla="*/ 42 w 85"/>
                  <a:gd name="T7" fmla="*/ 0 h 86"/>
                  <a:gd name="T8" fmla="*/ 84 w 85"/>
                  <a:gd name="T9" fmla="*/ 42 h 86"/>
                </a:gdLst>
                <a:ahLst/>
                <a:cxnLst>
                  <a:cxn ang="0">
                    <a:pos x="T0" y="T1"/>
                  </a:cxn>
                  <a:cxn ang="0">
                    <a:pos x="T2" y="T3"/>
                  </a:cxn>
                  <a:cxn ang="0">
                    <a:pos x="T4" y="T5"/>
                  </a:cxn>
                  <a:cxn ang="0">
                    <a:pos x="T6" y="T7"/>
                  </a:cxn>
                  <a:cxn ang="0">
                    <a:pos x="T8" y="T9"/>
                  </a:cxn>
                </a:cxnLst>
                <a:rect l="0" t="0" r="r" b="b"/>
                <a:pathLst>
                  <a:path w="85" h="86">
                    <a:moveTo>
                      <a:pt x="84" y="42"/>
                    </a:moveTo>
                    <a:cubicBezTo>
                      <a:pt x="84" y="65"/>
                      <a:pt x="65" y="85"/>
                      <a:pt x="42" y="85"/>
                    </a:cubicBezTo>
                    <a:cubicBezTo>
                      <a:pt x="20" y="85"/>
                      <a:pt x="0" y="64"/>
                      <a:pt x="0" y="42"/>
                    </a:cubicBezTo>
                    <a:cubicBezTo>
                      <a:pt x="0" y="19"/>
                      <a:pt x="20" y="0"/>
                      <a:pt x="42" y="0"/>
                    </a:cubicBezTo>
                    <a:cubicBezTo>
                      <a:pt x="65" y="0"/>
                      <a:pt x="84" y="20"/>
                      <a:pt x="84"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37" name="Freeform 13">
                <a:extLst>
                  <a:ext uri="{FF2B5EF4-FFF2-40B4-BE49-F238E27FC236}">
                    <a16:creationId xmlns:a16="http://schemas.microsoft.com/office/drawing/2014/main" id="{41886680-7E9B-B0A1-0F01-C22B199F2C39}"/>
                  </a:ext>
                </a:extLst>
              </p:cNvPr>
              <p:cNvSpPr>
                <a:spLocks noChangeArrowheads="1"/>
              </p:cNvSpPr>
              <p:nvPr/>
            </p:nvSpPr>
            <p:spPr bwMode="auto">
              <a:xfrm>
                <a:off x="6389688" y="3063875"/>
                <a:ext cx="31750" cy="30163"/>
              </a:xfrm>
              <a:custGeom>
                <a:avLst/>
                <a:gdLst>
                  <a:gd name="T0" fmla="*/ 85 w 86"/>
                  <a:gd name="T1" fmla="*/ 42 h 85"/>
                  <a:gd name="T2" fmla="*/ 42 w 86"/>
                  <a:gd name="T3" fmla="*/ 84 h 85"/>
                  <a:gd name="T4" fmla="*/ 0 w 86"/>
                  <a:gd name="T5" fmla="*/ 42 h 85"/>
                  <a:gd name="T6" fmla="*/ 42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4"/>
                      <a:pt x="65" y="84"/>
                      <a:pt x="42" y="84"/>
                    </a:cubicBezTo>
                    <a:cubicBezTo>
                      <a:pt x="20" y="84"/>
                      <a:pt x="0" y="64"/>
                      <a:pt x="0" y="42"/>
                    </a:cubicBezTo>
                    <a:cubicBezTo>
                      <a:pt x="0" y="19"/>
                      <a:pt x="20" y="0"/>
                      <a:pt x="42" y="0"/>
                    </a:cubicBezTo>
                    <a:cubicBezTo>
                      <a:pt x="65" y="0"/>
                      <a:pt x="85" y="19"/>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38" name="Freeform 14">
                <a:extLst>
                  <a:ext uri="{FF2B5EF4-FFF2-40B4-BE49-F238E27FC236}">
                    <a16:creationId xmlns:a16="http://schemas.microsoft.com/office/drawing/2014/main" id="{805B24DE-205C-923D-5B73-CD049D36BB57}"/>
                  </a:ext>
                </a:extLst>
              </p:cNvPr>
              <p:cNvSpPr>
                <a:spLocks noChangeArrowheads="1"/>
              </p:cNvSpPr>
              <p:nvPr/>
            </p:nvSpPr>
            <p:spPr bwMode="auto">
              <a:xfrm>
                <a:off x="6450013" y="3063875"/>
                <a:ext cx="31750" cy="30163"/>
              </a:xfrm>
              <a:custGeom>
                <a:avLst/>
                <a:gdLst>
                  <a:gd name="T0" fmla="*/ 85 w 86"/>
                  <a:gd name="T1" fmla="*/ 42 h 85"/>
                  <a:gd name="T2" fmla="*/ 43 w 86"/>
                  <a:gd name="T3" fmla="*/ 84 h 85"/>
                  <a:gd name="T4" fmla="*/ 0 w 86"/>
                  <a:gd name="T5" fmla="*/ 42 h 85"/>
                  <a:gd name="T6" fmla="*/ 43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4"/>
                      <a:pt x="66" y="84"/>
                      <a:pt x="43" y="84"/>
                    </a:cubicBezTo>
                    <a:cubicBezTo>
                      <a:pt x="21" y="84"/>
                      <a:pt x="0" y="64"/>
                      <a:pt x="0" y="42"/>
                    </a:cubicBezTo>
                    <a:cubicBezTo>
                      <a:pt x="0" y="19"/>
                      <a:pt x="21" y="0"/>
                      <a:pt x="43" y="0"/>
                    </a:cubicBezTo>
                    <a:cubicBezTo>
                      <a:pt x="66" y="0"/>
                      <a:pt x="85" y="19"/>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39" name="Freeform 15">
                <a:extLst>
                  <a:ext uri="{FF2B5EF4-FFF2-40B4-BE49-F238E27FC236}">
                    <a16:creationId xmlns:a16="http://schemas.microsoft.com/office/drawing/2014/main" id="{6C81F21F-270A-FCEC-5353-92787F4B9B7D}"/>
                  </a:ext>
                </a:extLst>
              </p:cNvPr>
              <p:cNvSpPr>
                <a:spLocks noChangeArrowheads="1"/>
              </p:cNvSpPr>
              <p:nvPr/>
            </p:nvSpPr>
            <p:spPr bwMode="auto">
              <a:xfrm>
                <a:off x="6510338" y="3063875"/>
                <a:ext cx="30162" cy="30163"/>
              </a:xfrm>
              <a:custGeom>
                <a:avLst/>
                <a:gdLst>
                  <a:gd name="T0" fmla="*/ 84 w 85"/>
                  <a:gd name="T1" fmla="*/ 42 h 85"/>
                  <a:gd name="T2" fmla="*/ 42 w 85"/>
                  <a:gd name="T3" fmla="*/ 84 h 85"/>
                  <a:gd name="T4" fmla="*/ 0 w 85"/>
                  <a:gd name="T5" fmla="*/ 42 h 85"/>
                  <a:gd name="T6" fmla="*/ 42 w 85"/>
                  <a:gd name="T7" fmla="*/ 0 h 85"/>
                  <a:gd name="T8" fmla="*/ 84 w 85"/>
                  <a:gd name="T9" fmla="*/ 42 h 85"/>
                </a:gdLst>
                <a:ahLst/>
                <a:cxnLst>
                  <a:cxn ang="0">
                    <a:pos x="T0" y="T1"/>
                  </a:cxn>
                  <a:cxn ang="0">
                    <a:pos x="T2" y="T3"/>
                  </a:cxn>
                  <a:cxn ang="0">
                    <a:pos x="T4" y="T5"/>
                  </a:cxn>
                  <a:cxn ang="0">
                    <a:pos x="T6" y="T7"/>
                  </a:cxn>
                  <a:cxn ang="0">
                    <a:pos x="T8" y="T9"/>
                  </a:cxn>
                </a:cxnLst>
                <a:rect l="0" t="0" r="r" b="b"/>
                <a:pathLst>
                  <a:path w="85" h="85">
                    <a:moveTo>
                      <a:pt x="84" y="42"/>
                    </a:moveTo>
                    <a:cubicBezTo>
                      <a:pt x="84" y="64"/>
                      <a:pt x="65" y="84"/>
                      <a:pt x="42" y="84"/>
                    </a:cubicBezTo>
                    <a:cubicBezTo>
                      <a:pt x="20" y="84"/>
                      <a:pt x="0" y="64"/>
                      <a:pt x="0" y="42"/>
                    </a:cubicBezTo>
                    <a:cubicBezTo>
                      <a:pt x="0" y="19"/>
                      <a:pt x="20" y="0"/>
                      <a:pt x="42" y="0"/>
                    </a:cubicBezTo>
                    <a:cubicBezTo>
                      <a:pt x="65" y="0"/>
                      <a:pt x="84" y="19"/>
                      <a:pt x="84"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0" name="Freeform 16">
                <a:extLst>
                  <a:ext uri="{FF2B5EF4-FFF2-40B4-BE49-F238E27FC236}">
                    <a16:creationId xmlns:a16="http://schemas.microsoft.com/office/drawing/2014/main" id="{C447D932-43B8-12E6-39EB-A0EB4BCF08EB}"/>
                  </a:ext>
                </a:extLst>
              </p:cNvPr>
              <p:cNvSpPr>
                <a:spLocks noChangeArrowheads="1"/>
              </p:cNvSpPr>
              <p:nvPr/>
            </p:nvSpPr>
            <p:spPr bwMode="auto">
              <a:xfrm>
                <a:off x="6389688" y="2943225"/>
                <a:ext cx="223837" cy="92075"/>
              </a:xfrm>
              <a:custGeom>
                <a:avLst/>
                <a:gdLst>
                  <a:gd name="T0" fmla="*/ 578 w 622"/>
                  <a:gd name="T1" fmla="*/ 254 h 255"/>
                  <a:gd name="T2" fmla="*/ 621 w 622"/>
                  <a:gd name="T3" fmla="*/ 211 h 255"/>
                  <a:gd name="T4" fmla="*/ 621 w 622"/>
                  <a:gd name="T5" fmla="*/ 42 h 255"/>
                  <a:gd name="T6" fmla="*/ 578 w 622"/>
                  <a:gd name="T7" fmla="*/ 0 h 255"/>
                  <a:gd name="T8" fmla="*/ 42 w 622"/>
                  <a:gd name="T9" fmla="*/ 0 h 255"/>
                  <a:gd name="T10" fmla="*/ 0 w 622"/>
                  <a:gd name="T11" fmla="*/ 42 h 255"/>
                  <a:gd name="T12" fmla="*/ 0 w 622"/>
                  <a:gd name="T13" fmla="*/ 211 h 255"/>
                  <a:gd name="T14" fmla="*/ 42 w 622"/>
                  <a:gd name="T15" fmla="*/ 254 h 255"/>
                  <a:gd name="T16" fmla="*/ 578 w 622"/>
                  <a:gd name="T17" fmla="*/ 25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2" h="255">
                    <a:moveTo>
                      <a:pt x="578" y="254"/>
                    </a:moveTo>
                    <a:cubicBezTo>
                      <a:pt x="601" y="254"/>
                      <a:pt x="621" y="234"/>
                      <a:pt x="621" y="211"/>
                    </a:cubicBezTo>
                    <a:cubicBezTo>
                      <a:pt x="621" y="154"/>
                      <a:pt x="621" y="98"/>
                      <a:pt x="621" y="42"/>
                    </a:cubicBezTo>
                    <a:cubicBezTo>
                      <a:pt x="621" y="19"/>
                      <a:pt x="601" y="0"/>
                      <a:pt x="578" y="0"/>
                    </a:cubicBezTo>
                    <a:cubicBezTo>
                      <a:pt x="400" y="0"/>
                      <a:pt x="221" y="0"/>
                      <a:pt x="42" y="0"/>
                    </a:cubicBezTo>
                    <a:cubicBezTo>
                      <a:pt x="20" y="0"/>
                      <a:pt x="0" y="19"/>
                      <a:pt x="0" y="42"/>
                    </a:cubicBezTo>
                    <a:cubicBezTo>
                      <a:pt x="0" y="98"/>
                      <a:pt x="0" y="154"/>
                      <a:pt x="0" y="211"/>
                    </a:cubicBezTo>
                    <a:cubicBezTo>
                      <a:pt x="0" y="234"/>
                      <a:pt x="20" y="254"/>
                      <a:pt x="42" y="254"/>
                    </a:cubicBezTo>
                    <a:cubicBezTo>
                      <a:pt x="221" y="254"/>
                      <a:pt x="400" y="254"/>
                      <a:pt x="578" y="254"/>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1" name="Freeform 17">
                <a:extLst>
                  <a:ext uri="{FF2B5EF4-FFF2-40B4-BE49-F238E27FC236}">
                    <a16:creationId xmlns:a16="http://schemas.microsoft.com/office/drawing/2014/main" id="{4120A6A5-3F76-D8B4-1BD1-AA9D1C069AEC}"/>
                  </a:ext>
                </a:extLst>
              </p:cNvPr>
              <p:cNvSpPr>
                <a:spLocks noChangeArrowheads="1"/>
              </p:cNvSpPr>
              <p:nvPr/>
            </p:nvSpPr>
            <p:spPr bwMode="auto">
              <a:xfrm>
                <a:off x="6510338" y="3184525"/>
                <a:ext cx="30162" cy="31750"/>
              </a:xfrm>
              <a:custGeom>
                <a:avLst/>
                <a:gdLst>
                  <a:gd name="T0" fmla="*/ 84 w 85"/>
                  <a:gd name="T1" fmla="*/ 43 h 86"/>
                  <a:gd name="T2" fmla="*/ 42 w 85"/>
                  <a:gd name="T3" fmla="*/ 85 h 86"/>
                  <a:gd name="T4" fmla="*/ 0 w 85"/>
                  <a:gd name="T5" fmla="*/ 43 h 86"/>
                  <a:gd name="T6" fmla="*/ 42 w 85"/>
                  <a:gd name="T7" fmla="*/ 0 h 86"/>
                  <a:gd name="T8" fmla="*/ 84 w 85"/>
                  <a:gd name="T9" fmla="*/ 43 h 86"/>
                </a:gdLst>
                <a:ahLst/>
                <a:cxnLst>
                  <a:cxn ang="0">
                    <a:pos x="T0" y="T1"/>
                  </a:cxn>
                  <a:cxn ang="0">
                    <a:pos x="T2" y="T3"/>
                  </a:cxn>
                  <a:cxn ang="0">
                    <a:pos x="T4" y="T5"/>
                  </a:cxn>
                  <a:cxn ang="0">
                    <a:pos x="T6" y="T7"/>
                  </a:cxn>
                  <a:cxn ang="0">
                    <a:pos x="T8" y="T9"/>
                  </a:cxn>
                </a:cxnLst>
                <a:rect l="0" t="0" r="r" b="b"/>
                <a:pathLst>
                  <a:path w="85" h="86">
                    <a:moveTo>
                      <a:pt x="84" y="43"/>
                    </a:moveTo>
                    <a:cubicBezTo>
                      <a:pt x="84" y="65"/>
                      <a:pt x="65" y="85"/>
                      <a:pt x="42" y="85"/>
                    </a:cubicBezTo>
                    <a:cubicBezTo>
                      <a:pt x="20" y="85"/>
                      <a:pt x="0" y="65"/>
                      <a:pt x="0" y="43"/>
                    </a:cubicBezTo>
                    <a:cubicBezTo>
                      <a:pt x="0" y="20"/>
                      <a:pt x="20" y="0"/>
                      <a:pt x="42" y="0"/>
                    </a:cubicBezTo>
                    <a:cubicBezTo>
                      <a:pt x="65" y="0"/>
                      <a:pt x="84" y="20"/>
                      <a:pt x="84" y="43"/>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2" name="Freeform 18">
                <a:extLst>
                  <a:ext uri="{FF2B5EF4-FFF2-40B4-BE49-F238E27FC236}">
                    <a16:creationId xmlns:a16="http://schemas.microsoft.com/office/drawing/2014/main" id="{40A171A5-81E1-4104-AB49-43976A194A27}"/>
                  </a:ext>
                </a:extLst>
              </p:cNvPr>
              <p:cNvSpPr>
                <a:spLocks noChangeArrowheads="1"/>
              </p:cNvSpPr>
              <p:nvPr/>
            </p:nvSpPr>
            <p:spPr bwMode="auto">
              <a:xfrm>
                <a:off x="6577013" y="3124200"/>
                <a:ext cx="31750" cy="31750"/>
              </a:xfrm>
              <a:custGeom>
                <a:avLst/>
                <a:gdLst>
                  <a:gd name="T0" fmla="*/ 85 w 86"/>
                  <a:gd name="T1" fmla="*/ 42 h 86"/>
                  <a:gd name="T2" fmla="*/ 42 w 86"/>
                  <a:gd name="T3" fmla="*/ 85 h 86"/>
                  <a:gd name="T4" fmla="*/ 0 w 86"/>
                  <a:gd name="T5" fmla="*/ 42 h 86"/>
                  <a:gd name="T6" fmla="*/ 42 w 86"/>
                  <a:gd name="T7" fmla="*/ 0 h 86"/>
                  <a:gd name="T8" fmla="*/ 85 w 86"/>
                  <a:gd name="T9" fmla="*/ 42 h 86"/>
                </a:gdLst>
                <a:ahLst/>
                <a:cxnLst>
                  <a:cxn ang="0">
                    <a:pos x="T0" y="T1"/>
                  </a:cxn>
                  <a:cxn ang="0">
                    <a:pos x="T2" y="T3"/>
                  </a:cxn>
                  <a:cxn ang="0">
                    <a:pos x="T4" y="T5"/>
                  </a:cxn>
                  <a:cxn ang="0">
                    <a:pos x="T6" y="T7"/>
                  </a:cxn>
                  <a:cxn ang="0">
                    <a:pos x="T8" y="T9"/>
                  </a:cxn>
                </a:cxnLst>
                <a:rect l="0" t="0" r="r" b="b"/>
                <a:pathLst>
                  <a:path w="86" h="86">
                    <a:moveTo>
                      <a:pt x="85" y="42"/>
                    </a:moveTo>
                    <a:cubicBezTo>
                      <a:pt x="85" y="65"/>
                      <a:pt x="65" y="85"/>
                      <a:pt x="42" y="85"/>
                    </a:cubicBezTo>
                    <a:cubicBezTo>
                      <a:pt x="20" y="85"/>
                      <a:pt x="0" y="64"/>
                      <a:pt x="0" y="42"/>
                    </a:cubicBezTo>
                    <a:cubicBezTo>
                      <a:pt x="0" y="19"/>
                      <a:pt x="20" y="0"/>
                      <a:pt x="42" y="0"/>
                    </a:cubicBezTo>
                    <a:cubicBezTo>
                      <a:pt x="65" y="0"/>
                      <a:pt x="85" y="20"/>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3" name="Freeform 19">
                <a:extLst>
                  <a:ext uri="{FF2B5EF4-FFF2-40B4-BE49-F238E27FC236}">
                    <a16:creationId xmlns:a16="http://schemas.microsoft.com/office/drawing/2014/main" id="{FE6EC6EB-594B-8F5F-AC0B-7B83905A7F65}"/>
                  </a:ext>
                </a:extLst>
              </p:cNvPr>
              <p:cNvSpPr>
                <a:spLocks noChangeArrowheads="1"/>
              </p:cNvSpPr>
              <p:nvPr/>
            </p:nvSpPr>
            <p:spPr bwMode="auto">
              <a:xfrm>
                <a:off x="6577013" y="3063875"/>
                <a:ext cx="31750" cy="30163"/>
              </a:xfrm>
              <a:custGeom>
                <a:avLst/>
                <a:gdLst>
                  <a:gd name="T0" fmla="*/ 85 w 86"/>
                  <a:gd name="T1" fmla="*/ 42 h 85"/>
                  <a:gd name="T2" fmla="*/ 42 w 86"/>
                  <a:gd name="T3" fmla="*/ 84 h 85"/>
                  <a:gd name="T4" fmla="*/ 0 w 86"/>
                  <a:gd name="T5" fmla="*/ 42 h 85"/>
                  <a:gd name="T6" fmla="*/ 42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4"/>
                      <a:pt x="65" y="84"/>
                      <a:pt x="42" y="84"/>
                    </a:cubicBezTo>
                    <a:cubicBezTo>
                      <a:pt x="20" y="84"/>
                      <a:pt x="0" y="64"/>
                      <a:pt x="0" y="42"/>
                    </a:cubicBezTo>
                    <a:cubicBezTo>
                      <a:pt x="0" y="19"/>
                      <a:pt x="20" y="0"/>
                      <a:pt x="42" y="0"/>
                    </a:cubicBezTo>
                    <a:cubicBezTo>
                      <a:pt x="65" y="0"/>
                      <a:pt x="85" y="19"/>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4" name="Freeform 20">
                <a:extLst>
                  <a:ext uri="{FF2B5EF4-FFF2-40B4-BE49-F238E27FC236}">
                    <a16:creationId xmlns:a16="http://schemas.microsoft.com/office/drawing/2014/main" id="{413FCF02-DED1-51F4-E81E-F32F95A57F21}"/>
                  </a:ext>
                </a:extLst>
              </p:cNvPr>
              <p:cNvSpPr>
                <a:spLocks noChangeArrowheads="1"/>
              </p:cNvSpPr>
              <p:nvPr/>
            </p:nvSpPr>
            <p:spPr bwMode="auto">
              <a:xfrm>
                <a:off x="6577013" y="3184525"/>
                <a:ext cx="31750" cy="31750"/>
              </a:xfrm>
              <a:custGeom>
                <a:avLst/>
                <a:gdLst>
                  <a:gd name="T0" fmla="*/ 85 w 86"/>
                  <a:gd name="T1" fmla="*/ 43 h 86"/>
                  <a:gd name="T2" fmla="*/ 42 w 86"/>
                  <a:gd name="T3" fmla="*/ 85 h 86"/>
                  <a:gd name="T4" fmla="*/ 0 w 86"/>
                  <a:gd name="T5" fmla="*/ 43 h 86"/>
                  <a:gd name="T6" fmla="*/ 42 w 86"/>
                  <a:gd name="T7" fmla="*/ 0 h 86"/>
                  <a:gd name="T8" fmla="*/ 85 w 86"/>
                  <a:gd name="T9" fmla="*/ 43 h 86"/>
                </a:gdLst>
                <a:ahLst/>
                <a:cxnLst>
                  <a:cxn ang="0">
                    <a:pos x="T0" y="T1"/>
                  </a:cxn>
                  <a:cxn ang="0">
                    <a:pos x="T2" y="T3"/>
                  </a:cxn>
                  <a:cxn ang="0">
                    <a:pos x="T4" y="T5"/>
                  </a:cxn>
                  <a:cxn ang="0">
                    <a:pos x="T6" y="T7"/>
                  </a:cxn>
                  <a:cxn ang="0">
                    <a:pos x="T8" y="T9"/>
                  </a:cxn>
                </a:cxnLst>
                <a:rect l="0" t="0" r="r" b="b"/>
                <a:pathLst>
                  <a:path w="86" h="86">
                    <a:moveTo>
                      <a:pt x="85" y="43"/>
                    </a:moveTo>
                    <a:cubicBezTo>
                      <a:pt x="85" y="65"/>
                      <a:pt x="65" y="85"/>
                      <a:pt x="42" y="85"/>
                    </a:cubicBezTo>
                    <a:cubicBezTo>
                      <a:pt x="20" y="85"/>
                      <a:pt x="0" y="65"/>
                      <a:pt x="0" y="43"/>
                    </a:cubicBezTo>
                    <a:cubicBezTo>
                      <a:pt x="0" y="20"/>
                      <a:pt x="20" y="0"/>
                      <a:pt x="42" y="0"/>
                    </a:cubicBezTo>
                    <a:cubicBezTo>
                      <a:pt x="65" y="0"/>
                      <a:pt x="85" y="20"/>
                      <a:pt x="85" y="43"/>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5" name="Freeform 21">
                <a:extLst>
                  <a:ext uri="{FF2B5EF4-FFF2-40B4-BE49-F238E27FC236}">
                    <a16:creationId xmlns:a16="http://schemas.microsoft.com/office/drawing/2014/main" id="{7A79D2EF-0450-6838-BD38-90D916137A68}"/>
                  </a:ext>
                </a:extLst>
              </p:cNvPr>
              <p:cNvSpPr>
                <a:spLocks noChangeArrowheads="1"/>
              </p:cNvSpPr>
              <p:nvPr/>
            </p:nvSpPr>
            <p:spPr bwMode="auto">
              <a:xfrm>
                <a:off x="6577013" y="3124200"/>
                <a:ext cx="31750" cy="31750"/>
              </a:xfrm>
              <a:custGeom>
                <a:avLst/>
                <a:gdLst>
                  <a:gd name="T0" fmla="*/ 85 w 86"/>
                  <a:gd name="T1" fmla="*/ 42 h 86"/>
                  <a:gd name="T2" fmla="*/ 42 w 86"/>
                  <a:gd name="T3" fmla="*/ 85 h 86"/>
                  <a:gd name="T4" fmla="*/ 0 w 86"/>
                  <a:gd name="T5" fmla="*/ 42 h 86"/>
                  <a:gd name="T6" fmla="*/ 42 w 86"/>
                  <a:gd name="T7" fmla="*/ 0 h 86"/>
                  <a:gd name="T8" fmla="*/ 85 w 86"/>
                  <a:gd name="T9" fmla="*/ 42 h 86"/>
                </a:gdLst>
                <a:ahLst/>
                <a:cxnLst>
                  <a:cxn ang="0">
                    <a:pos x="T0" y="T1"/>
                  </a:cxn>
                  <a:cxn ang="0">
                    <a:pos x="T2" y="T3"/>
                  </a:cxn>
                  <a:cxn ang="0">
                    <a:pos x="T4" y="T5"/>
                  </a:cxn>
                  <a:cxn ang="0">
                    <a:pos x="T6" y="T7"/>
                  </a:cxn>
                  <a:cxn ang="0">
                    <a:pos x="T8" y="T9"/>
                  </a:cxn>
                </a:cxnLst>
                <a:rect l="0" t="0" r="r" b="b"/>
                <a:pathLst>
                  <a:path w="86" h="86">
                    <a:moveTo>
                      <a:pt x="85" y="42"/>
                    </a:moveTo>
                    <a:cubicBezTo>
                      <a:pt x="85" y="65"/>
                      <a:pt x="65" y="85"/>
                      <a:pt x="42" y="85"/>
                    </a:cubicBezTo>
                    <a:cubicBezTo>
                      <a:pt x="20" y="85"/>
                      <a:pt x="0" y="64"/>
                      <a:pt x="0" y="42"/>
                    </a:cubicBezTo>
                    <a:cubicBezTo>
                      <a:pt x="0" y="19"/>
                      <a:pt x="20" y="0"/>
                      <a:pt x="42" y="0"/>
                    </a:cubicBezTo>
                    <a:cubicBezTo>
                      <a:pt x="65" y="0"/>
                      <a:pt x="85" y="20"/>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6" name="Freeform 22">
                <a:extLst>
                  <a:ext uri="{FF2B5EF4-FFF2-40B4-BE49-F238E27FC236}">
                    <a16:creationId xmlns:a16="http://schemas.microsoft.com/office/drawing/2014/main" id="{87930206-2175-88C0-9A5C-3D5E84C44A85}"/>
                  </a:ext>
                </a:extLst>
              </p:cNvPr>
              <p:cNvSpPr>
                <a:spLocks noChangeArrowheads="1"/>
              </p:cNvSpPr>
              <p:nvPr/>
            </p:nvSpPr>
            <p:spPr bwMode="auto">
              <a:xfrm>
                <a:off x="6577013" y="3063875"/>
                <a:ext cx="31750" cy="30163"/>
              </a:xfrm>
              <a:custGeom>
                <a:avLst/>
                <a:gdLst>
                  <a:gd name="T0" fmla="*/ 85 w 86"/>
                  <a:gd name="T1" fmla="*/ 42 h 85"/>
                  <a:gd name="T2" fmla="*/ 42 w 86"/>
                  <a:gd name="T3" fmla="*/ 84 h 85"/>
                  <a:gd name="T4" fmla="*/ 0 w 86"/>
                  <a:gd name="T5" fmla="*/ 42 h 85"/>
                  <a:gd name="T6" fmla="*/ 42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4"/>
                      <a:pt x="65" y="84"/>
                      <a:pt x="42" y="84"/>
                    </a:cubicBezTo>
                    <a:cubicBezTo>
                      <a:pt x="20" y="84"/>
                      <a:pt x="0" y="64"/>
                      <a:pt x="0" y="42"/>
                    </a:cubicBezTo>
                    <a:cubicBezTo>
                      <a:pt x="0" y="19"/>
                      <a:pt x="20" y="0"/>
                      <a:pt x="42" y="0"/>
                    </a:cubicBezTo>
                    <a:cubicBezTo>
                      <a:pt x="65" y="0"/>
                      <a:pt x="85" y="19"/>
                      <a:pt x="85" y="42"/>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7" name="Freeform 23">
                <a:extLst>
                  <a:ext uri="{FF2B5EF4-FFF2-40B4-BE49-F238E27FC236}">
                    <a16:creationId xmlns:a16="http://schemas.microsoft.com/office/drawing/2014/main" id="{474A41A2-F1D3-6A8F-0E0F-CE9525FC7776}"/>
                  </a:ext>
                </a:extLst>
              </p:cNvPr>
              <p:cNvSpPr>
                <a:spLocks noChangeArrowheads="1"/>
              </p:cNvSpPr>
              <p:nvPr/>
            </p:nvSpPr>
            <p:spPr bwMode="auto">
              <a:xfrm>
                <a:off x="6577013" y="3184525"/>
                <a:ext cx="31750" cy="31750"/>
              </a:xfrm>
              <a:custGeom>
                <a:avLst/>
                <a:gdLst>
                  <a:gd name="T0" fmla="*/ 85 w 86"/>
                  <a:gd name="T1" fmla="*/ 43 h 86"/>
                  <a:gd name="T2" fmla="*/ 42 w 86"/>
                  <a:gd name="T3" fmla="*/ 85 h 86"/>
                  <a:gd name="T4" fmla="*/ 0 w 86"/>
                  <a:gd name="T5" fmla="*/ 43 h 86"/>
                  <a:gd name="T6" fmla="*/ 42 w 86"/>
                  <a:gd name="T7" fmla="*/ 0 h 86"/>
                  <a:gd name="T8" fmla="*/ 85 w 86"/>
                  <a:gd name="T9" fmla="*/ 43 h 86"/>
                </a:gdLst>
                <a:ahLst/>
                <a:cxnLst>
                  <a:cxn ang="0">
                    <a:pos x="T0" y="T1"/>
                  </a:cxn>
                  <a:cxn ang="0">
                    <a:pos x="T2" y="T3"/>
                  </a:cxn>
                  <a:cxn ang="0">
                    <a:pos x="T4" y="T5"/>
                  </a:cxn>
                  <a:cxn ang="0">
                    <a:pos x="T6" y="T7"/>
                  </a:cxn>
                  <a:cxn ang="0">
                    <a:pos x="T8" y="T9"/>
                  </a:cxn>
                </a:cxnLst>
                <a:rect l="0" t="0" r="r" b="b"/>
                <a:pathLst>
                  <a:path w="86" h="86">
                    <a:moveTo>
                      <a:pt x="85" y="43"/>
                    </a:moveTo>
                    <a:cubicBezTo>
                      <a:pt x="85" y="65"/>
                      <a:pt x="65" y="85"/>
                      <a:pt x="42" y="85"/>
                    </a:cubicBezTo>
                    <a:cubicBezTo>
                      <a:pt x="20" y="85"/>
                      <a:pt x="0" y="65"/>
                      <a:pt x="0" y="43"/>
                    </a:cubicBezTo>
                    <a:cubicBezTo>
                      <a:pt x="0" y="20"/>
                      <a:pt x="20" y="0"/>
                      <a:pt x="42" y="0"/>
                    </a:cubicBezTo>
                    <a:cubicBezTo>
                      <a:pt x="65" y="0"/>
                      <a:pt x="85" y="20"/>
                      <a:pt x="85" y="43"/>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8" name="Freeform 24">
                <a:extLst>
                  <a:ext uri="{FF2B5EF4-FFF2-40B4-BE49-F238E27FC236}">
                    <a16:creationId xmlns:a16="http://schemas.microsoft.com/office/drawing/2014/main" id="{955F2B7F-6EBE-91E2-002F-E05822D9AB43}"/>
                  </a:ext>
                </a:extLst>
              </p:cNvPr>
              <p:cNvSpPr>
                <a:spLocks noChangeArrowheads="1"/>
              </p:cNvSpPr>
              <p:nvPr/>
            </p:nvSpPr>
            <p:spPr bwMode="auto">
              <a:xfrm>
                <a:off x="6577013" y="2973388"/>
                <a:ext cx="1587" cy="31750"/>
              </a:xfrm>
              <a:custGeom>
                <a:avLst/>
                <a:gdLst>
                  <a:gd name="T0" fmla="*/ 0 w 1"/>
                  <a:gd name="T1" fmla="*/ 85 h 86"/>
                  <a:gd name="T2" fmla="*/ 0 w 1"/>
                  <a:gd name="T3" fmla="*/ 0 h 86"/>
                </a:gdLst>
                <a:ahLst/>
                <a:cxnLst>
                  <a:cxn ang="0">
                    <a:pos x="T0" y="T1"/>
                  </a:cxn>
                  <a:cxn ang="0">
                    <a:pos x="T2" y="T3"/>
                  </a:cxn>
                </a:cxnLst>
                <a:rect l="0" t="0" r="r" b="b"/>
                <a:pathLst>
                  <a:path w="1" h="86">
                    <a:moveTo>
                      <a:pt x="0" y="85"/>
                    </a:moveTo>
                    <a:cubicBezTo>
                      <a:pt x="0" y="56"/>
                      <a:pt x="0" y="28"/>
                      <a:pt x="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49" name="Freeform 25">
                <a:extLst>
                  <a:ext uri="{FF2B5EF4-FFF2-40B4-BE49-F238E27FC236}">
                    <a16:creationId xmlns:a16="http://schemas.microsoft.com/office/drawing/2014/main" id="{A861B966-4F71-08A0-24AE-9859ED83655F}"/>
                  </a:ext>
                </a:extLst>
              </p:cNvPr>
              <p:cNvSpPr>
                <a:spLocks noChangeArrowheads="1"/>
              </p:cNvSpPr>
              <p:nvPr/>
            </p:nvSpPr>
            <p:spPr bwMode="auto">
              <a:xfrm>
                <a:off x="6546850" y="2973388"/>
                <a:ext cx="1588" cy="31750"/>
              </a:xfrm>
              <a:custGeom>
                <a:avLst/>
                <a:gdLst>
                  <a:gd name="T0" fmla="*/ 0 w 1"/>
                  <a:gd name="T1" fmla="*/ 85 h 86"/>
                  <a:gd name="T2" fmla="*/ 0 w 1"/>
                  <a:gd name="T3" fmla="*/ 0 h 86"/>
                </a:gdLst>
                <a:ahLst/>
                <a:cxnLst>
                  <a:cxn ang="0">
                    <a:pos x="T0" y="T1"/>
                  </a:cxn>
                  <a:cxn ang="0">
                    <a:pos x="T2" y="T3"/>
                  </a:cxn>
                </a:cxnLst>
                <a:rect l="0" t="0" r="r" b="b"/>
                <a:pathLst>
                  <a:path w="1" h="86">
                    <a:moveTo>
                      <a:pt x="0" y="85"/>
                    </a:moveTo>
                    <a:cubicBezTo>
                      <a:pt x="0" y="56"/>
                      <a:pt x="0" y="28"/>
                      <a:pt x="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50" name="Freeform 26">
                <a:extLst>
                  <a:ext uri="{FF2B5EF4-FFF2-40B4-BE49-F238E27FC236}">
                    <a16:creationId xmlns:a16="http://schemas.microsoft.com/office/drawing/2014/main" id="{55FF9EEF-0216-ED46-2F04-4FF952AC1688}"/>
                  </a:ext>
                </a:extLst>
              </p:cNvPr>
              <p:cNvSpPr>
                <a:spLocks noChangeArrowheads="1"/>
              </p:cNvSpPr>
              <p:nvPr/>
            </p:nvSpPr>
            <p:spPr bwMode="auto">
              <a:xfrm>
                <a:off x="6516688" y="2973388"/>
                <a:ext cx="1587" cy="31750"/>
              </a:xfrm>
              <a:custGeom>
                <a:avLst/>
                <a:gdLst>
                  <a:gd name="T0" fmla="*/ 0 w 1"/>
                  <a:gd name="T1" fmla="*/ 85 h 86"/>
                  <a:gd name="T2" fmla="*/ 0 w 1"/>
                  <a:gd name="T3" fmla="*/ 0 h 86"/>
                </a:gdLst>
                <a:ahLst/>
                <a:cxnLst>
                  <a:cxn ang="0">
                    <a:pos x="T0" y="T1"/>
                  </a:cxn>
                  <a:cxn ang="0">
                    <a:pos x="T2" y="T3"/>
                  </a:cxn>
                </a:cxnLst>
                <a:rect l="0" t="0" r="r" b="b"/>
                <a:pathLst>
                  <a:path w="1" h="86">
                    <a:moveTo>
                      <a:pt x="0" y="85"/>
                    </a:moveTo>
                    <a:cubicBezTo>
                      <a:pt x="0" y="56"/>
                      <a:pt x="0" y="28"/>
                      <a:pt x="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sp>
            <p:nvSpPr>
              <p:cNvPr id="251" name="Freeform 27">
                <a:extLst>
                  <a:ext uri="{FF2B5EF4-FFF2-40B4-BE49-F238E27FC236}">
                    <a16:creationId xmlns:a16="http://schemas.microsoft.com/office/drawing/2014/main" id="{6B076A85-2FBF-A75E-0E0A-B38547B44B49}"/>
                  </a:ext>
                </a:extLst>
              </p:cNvPr>
              <p:cNvSpPr>
                <a:spLocks noChangeArrowheads="1"/>
              </p:cNvSpPr>
              <p:nvPr/>
            </p:nvSpPr>
            <p:spPr bwMode="auto">
              <a:xfrm>
                <a:off x="6484938" y="2973388"/>
                <a:ext cx="1587" cy="31750"/>
              </a:xfrm>
              <a:custGeom>
                <a:avLst/>
                <a:gdLst>
                  <a:gd name="T0" fmla="*/ 0 w 1"/>
                  <a:gd name="T1" fmla="*/ 85 h 86"/>
                  <a:gd name="T2" fmla="*/ 0 w 1"/>
                  <a:gd name="T3" fmla="*/ 0 h 86"/>
                </a:gdLst>
                <a:ahLst/>
                <a:cxnLst>
                  <a:cxn ang="0">
                    <a:pos x="T0" y="T1"/>
                  </a:cxn>
                  <a:cxn ang="0">
                    <a:pos x="T2" y="T3"/>
                  </a:cxn>
                </a:cxnLst>
                <a:rect l="0" t="0" r="r" b="b"/>
                <a:pathLst>
                  <a:path w="1" h="86">
                    <a:moveTo>
                      <a:pt x="0" y="85"/>
                    </a:moveTo>
                    <a:cubicBezTo>
                      <a:pt x="0" y="56"/>
                      <a:pt x="0" y="28"/>
                      <a:pt x="0" y="0"/>
                    </a:cubicBezTo>
                  </a:path>
                </a:pathLst>
              </a:custGeom>
              <a:grpFill/>
              <a:ln w="12700" cap="flat">
                <a:solidFill>
                  <a:schemeClr val="accent2">
                    <a:lumMod val="50000"/>
                    <a:alpha val="64000"/>
                  </a:scheme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mj-lt"/>
                </a:endParaRPr>
              </a:p>
            </p:txBody>
          </p:sp>
        </p:grpSp>
      </p:grpSp>
      <p:sp>
        <p:nvSpPr>
          <p:cNvPr id="4" name="TextBox 3">
            <a:extLst>
              <a:ext uri="{FF2B5EF4-FFF2-40B4-BE49-F238E27FC236}">
                <a16:creationId xmlns:a16="http://schemas.microsoft.com/office/drawing/2014/main" id="{A49B7890-7308-979E-50F1-DE82D72F3031}"/>
              </a:ext>
            </a:extLst>
          </p:cNvPr>
          <p:cNvSpPr txBox="1"/>
          <p:nvPr/>
        </p:nvSpPr>
        <p:spPr>
          <a:xfrm>
            <a:off x="5955459" y="12871390"/>
            <a:ext cx="7072705" cy="523220"/>
          </a:xfrm>
          <a:prstGeom prst="rect">
            <a:avLst/>
          </a:prstGeom>
          <a:noFill/>
        </p:spPr>
        <p:txBody>
          <a:bodyPr wrap="none" rtlCol="0">
            <a:spAutoFit/>
          </a:bodyPr>
          <a:lstStyle/>
          <a:p>
            <a:pPr algn="l"/>
            <a:r>
              <a:rPr lang="en-GB" sz="2800">
                <a:solidFill>
                  <a:srgbClr val="00B050"/>
                </a:solidFill>
                <a:latin typeface="+mj-lt"/>
              </a:rPr>
              <a:t>*Completed by Infra Discovery Workstream</a:t>
            </a:r>
          </a:p>
        </p:txBody>
      </p:sp>
      <p:sp>
        <p:nvSpPr>
          <p:cNvPr id="5" name="TextBox 4">
            <a:extLst>
              <a:ext uri="{FF2B5EF4-FFF2-40B4-BE49-F238E27FC236}">
                <a16:creationId xmlns:a16="http://schemas.microsoft.com/office/drawing/2014/main" id="{B78D5325-D55E-46F1-F2AE-BF8A12932D96}"/>
              </a:ext>
            </a:extLst>
          </p:cNvPr>
          <p:cNvSpPr txBox="1"/>
          <p:nvPr/>
        </p:nvSpPr>
        <p:spPr>
          <a:xfrm>
            <a:off x="3375176" y="9947783"/>
            <a:ext cx="364202" cy="646331"/>
          </a:xfrm>
          <a:prstGeom prst="rect">
            <a:avLst/>
          </a:prstGeom>
          <a:noFill/>
        </p:spPr>
        <p:txBody>
          <a:bodyPr wrap="none" rtlCol="0">
            <a:spAutoFit/>
          </a:bodyPr>
          <a:lstStyle/>
          <a:p>
            <a:pPr algn="l"/>
            <a:r>
              <a:rPr lang="en-GB" sz="3600">
                <a:latin typeface="+mj-lt"/>
              </a:rPr>
              <a:t>*</a:t>
            </a:r>
          </a:p>
        </p:txBody>
      </p:sp>
    </p:spTree>
    <p:extLst>
      <p:ext uri="{BB962C8B-B14F-4D97-AF65-F5344CB8AC3E}">
        <p14:creationId xmlns:p14="http://schemas.microsoft.com/office/powerpoint/2010/main" val="1976554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fade">
                                      <p:cBhvr>
                                        <p:cTn id="7" dur="1000"/>
                                        <p:tgtEl>
                                          <p:spTgt spid="94"/>
                                        </p:tgtEl>
                                      </p:cBhvr>
                                    </p:animEffect>
                                    <p:anim calcmode="lin" valueType="num">
                                      <p:cBhvr>
                                        <p:cTn id="8" dur="1000" fill="hold"/>
                                        <p:tgtEl>
                                          <p:spTgt spid="94"/>
                                        </p:tgtEl>
                                        <p:attrNameLst>
                                          <p:attrName>ppt_x</p:attrName>
                                        </p:attrNameLst>
                                      </p:cBhvr>
                                      <p:tavLst>
                                        <p:tav tm="0">
                                          <p:val>
                                            <p:strVal val="#ppt_x"/>
                                          </p:val>
                                        </p:tav>
                                        <p:tav tm="100000">
                                          <p:val>
                                            <p:strVal val="#ppt_x"/>
                                          </p:val>
                                        </p:tav>
                                      </p:tavLst>
                                    </p:anim>
                                    <p:anim calcmode="lin" valueType="num">
                                      <p:cBhvr>
                                        <p:cTn id="9" dur="1000" fill="hold"/>
                                        <p:tgtEl>
                                          <p:spTgt spid="9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01"/>
                                        </p:tgtEl>
                                        <p:attrNameLst>
                                          <p:attrName>style.visibility</p:attrName>
                                        </p:attrNameLst>
                                      </p:cBhvr>
                                      <p:to>
                                        <p:strVal val="visible"/>
                                      </p:to>
                                    </p:set>
                                    <p:animEffect transition="in" filter="fade">
                                      <p:cBhvr>
                                        <p:cTn id="12" dur="1000"/>
                                        <p:tgtEl>
                                          <p:spTgt spid="101"/>
                                        </p:tgtEl>
                                      </p:cBhvr>
                                    </p:animEffect>
                                    <p:anim calcmode="lin" valueType="num">
                                      <p:cBhvr>
                                        <p:cTn id="13" dur="1000" fill="hold"/>
                                        <p:tgtEl>
                                          <p:spTgt spid="101"/>
                                        </p:tgtEl>
                                        <p:attrNameLst>
                                          <p:attrName>ppt_x</p:attrName>
                                        </p:attrNameLst>
                                      </p:cBhvr>
                                      <p:tavLst>
                                        <p:tav tm="0">
                                          <p:val>
                                            <p:strVal val="#ppt_x"/>
                                          </p:val>
                                        </p:tav>
                                        <p:tav tm="100000">
                                          <p:val>
                                            <p:strVal val="#ppt_x"/>
                                          </p:val>
                                        </p:tav>
                                      </p:tavLst>
                                    </p:anim>
                                    <p:anim calcmode="lin" valueType="num">
                                      <p:cBhvr>
                                        <p:cTn id="14" dur="1000" fill="hold"/>
                                        <p:tgtEl>
                                          <p:spTgt spid="101"/>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102"/>
                                        </p:tgtEl>
                                        <p:attrNameLst>
                                          <p:attrName>style.visibility</p:attrName>
                                        </p:attrNameLst>
                                      </p:cBhvr>
                                      <p:to>
                                        <p:strVal val="visible"/>
                                      </p:to>
                                    </p:set>
                                    <p:animEffect transition="in" filter="fade">
                                      <p:cBhvr>
                                        <p:cTn id="17" dur="1000"/>
                                        <p:tgtEl>
                                          <p:spTgt spid="102"/>
                                        </p:tgtEl>
                                      </p:cBhvr>
                                    </p:animEffect>
                                    <p:anim calcmode="lin" valueType="num">
                                      <p:cBhvr>
                                        <p:cTn id="18" dur="1000" fill="hold"/>
                                        <p:tgtEl>
                                          <p:spTgt spid="102"/>
                                        </p:tgtEl>
                                        <p:attrNameLst>
                                          <p:attrName>ppt_x</p:attrName>
                                        </p:attrNameLst>
                                      </p:cBhvr>
                                      <p:tavLst>
                                        <p:tav tm="0">
                                          <p:val>
                                            <p:strVal val="#ppt_x"/>
                                          </p:val>
                                        </p:tav>
                                        <p:tav tm="100000">
                                          <p:val>
                                            <p:strVal val="#ppt_x"/>
                                          </p:val>
                                        </p:tav>
                                      </p:tavLst>
                                    </p:anim>
                                    <p:anim calcmode="lin" valueType="num">
                                      <p:cBhvr>
                                        <p:cTn id="19" dur="1000" fill="hold"/>
                                        <p:tgtEl>
                                          <p:spTgt spid="10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fade">
                                      <p:cBhvr>
                                        <p:cTn id="22" dur="1000"/>
                                        <p:tgtEl>
                                          <p:spTgt spid="120"/>
                                        </p:tgtEl>
                                      </p:cBhvr>
                                    </p:animEffect>
                                    <p:anim calcmode="lin" valueType="num">
                                      <p:cBhvr>
                                        <p:cTn id="23" dur="1000" fill="hold"/>
                                        <p:tgtEl>
                                          <p:spTgt spid="120"/>
                                        </p:tgtEl>
                                        <p:attrNameLst>
                                          <p:attrName>ppt_x</p:attrName>
                                        </p:attrNameLst>
                                      </p:cBhvr>
                                      <p:tavLst>
                                        <p:tav tm="0">
                                          <p:val>
                                            <p:strVal val="#ppt_x"/>
                                          </p:val>
                                        </p:tav>
                                        <p:tav tm="100000">
                                          <p:val>
                                            <p:strVal val="#ppt_x"/>
                                          </p:val>
                                        </p:tav>
                                      </p:tavLst>
                                    </p:anim>
                                    <p:anim calcmode="lin" valueType="num">
                                      <p:cBhvr>
                                        <p:cTn id="24" dur="1000" fill="hold"/>
                                        <p:tgtEl>
                                          <p:spTgt spid="120"/>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121"/>
                                        </p:tgtEl>
                                        <p:attrNameLst>
                                          <p:attrName>style.visibility</p:attrName>
                                        </p:attrNameLst>
                                      </p:cBhvr>
                                      <p:to>
                                        <p:strVal val="visible"/>
                                      </p:to>
                                    </p:set>
                                    <p:animEffect transition="in" filter="fade">
                                      <p:cBhvr>
                                        <p:cTn id="27" dur="1000"/>
                                        <p:tgtEl>
                                          <p:spTgt spid="121"/>
                                        </p:tgtEl>
                                      </p:cBhvr>
                                    </p:animEffect>
                                    <p:anim calcmode="lin" valueType="num">
                                      <p:cBhvr>
                                        <p:cTn id="28" dur="1000" fill="hold"/>
                                        <p:tgtEl>
                                          <p:spTgt spid="121"/>
                                        </p:tgtEl>
                                        <p:attrNameLst>
                                          <p:attrName>ppt_x</p:attrName>
                                        </p:attrNameLst>
                                      </p:cBhvr>
                                      <p:tavLst>
                                        <p:tav tm="0">
                                          <p:val>
                                            <p:strVal val="#ppt_x"/>
                                          </p:val>
                                        </p:tav>
                                        <p:tav tm="100000">
                                          <p:val>
                                            <p:strVal val="#ppt_x"/>
                                          </p:val>
                                        </p:tav>
                                      </p:tavLst>
                                    </p:anim>
                                    <p:anim calcmode="lin" valueType="num">
                                      <p:cBhvr>
                                        <p:cTn id="29" dur="1000" fill="hold"/>
                                        <p:tgtEl>
                                          <p:spTgt spid="121"/>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127"/>
                                        </p:tgtEl>
                                        <p:attrNameLst>
                                          <p:attrName>style.visibility</p:attrName>
                                        </p:attrNameLst>
                                      </p:cBhvr>
                                      <p:to>
                                        <p:strVal val="visible"/>
                                      </p:to>
                                    </p:set>
                                    <p:animEffect transition="in" filter="fade">
                                      <p:cBhvr>
                                        <p:cTn id="32" dur="1000"/>
                                        <p:tgtEl>
                                          <p:spTgt spid="127"/>
                                        </p:tgtEl>
                                      </p:cBhvr>
                                    </p:animEffect>
                                    <p:anim calcmode="lin" valueType="num">
                                      <p:cBhvr>
                                        <p:cTn id="33" dur="1000" fill="hold"/>
                                        <p:tgtEl>
                                          <p:spTgt spid="127"/>
                                        </p:tgtEl>
                                        <p:attrNameLst>
                                          <p:attrName>ppt_x</p:attrName>
                                        </p:attrNameLst>
                                      </p:cBhvr>
                                      <p:tavLst>
                                        <p:tav tm="0">
                                          <p:val>
                                            <p:strVal val="#ppt_x"/>
                                          </p:val>
                                        </p:tav>
                                        <p:tav tm="100000">
                                          <p:val>
                                            <p:strVal val="#ppt_x"/>
                                          </p:val>
                                        </p:tav>
                                      </p:tavLst>
                                    </p:anim>
                                    <p:anim calcmode="lin" valueType="num">
                                      <p:cBhvr>
                                        <p:cTn id="34" dur="1000" fill="hold"/>
                                        <p:tgtEl>
                                          <p:spTgt spid="127"/>
                                        </p:tgtEl>
                                        <p:attrNameLst>
                                          <p:attrName>ppt_y</p:attrName>
                                        </p:attrNameLst>
                                      </p:cBhvr>
                                      <p:tavLst>
                                        <p:tav tm="0">
                                          <p:val>
                                            <p:strVal val="#ppt_y+.1"/>
                                          </p:val>
                                        </p:tav>
                                        <p:tav tm="100000">
                                          <p:val>
                                            <p:strVal val="#ppt_y"/>
                                          </p:val>
                                        </p:tav>
                                      </p:tavLst>
                                    </p:anim>
                                  </p:childTnLst>
                                </p:cTn>
                              </p:par>
                              <p:par>
                                <p:cTn id="35" presetID="42" presetClass="entr" presetSubtype="0" fill="hold" nodeType="withEffect">
                                  <p:stCondLst>
                                    <p:cond delay="0"/>
                                  </p:stCondLst>
                                  <p:childTnLst>
                                    <p:set>
                                      <p:cBhvr>
                                        <p:cTn id="36" dur="1" fill="hold">
                                          <p:stCondLst>
                                            <p:cond delay="0"/>
                                          </p:stCondLst>
                                        </p:cTn>
                                        <p:tgtEl>
                                          <p:spTgt spid="128"/>
                                        </p:tgtEl>
                                        <p:attrNameLst>
                                          <p:attrName>style.visibility</p:attrName>
                                        </p:attrNameLst>
                                      </p:cBhvr>
                                      <p:to>
                                        <p:strVal val="visible"/>
                                      </p:to>
                                    </p:set>
                                    <p:animEffect transition="in" filter="fade">
                                      <p:cBhvr>
                                        <p:cTn id="37" dur="1000"/>
                                        <p:tgtEl>
                                          <p:spTgt spid="128"/>
                                        </p:tgtEl>
                                      </p:cBhvr>
                                    </p:animEffect>
                                    <p:anim calcmode="lin" valueType="num">
                                      <p:cBhvr>
                                        <p:cTn id="38" dur="1000" fill="hold"/>
                                        <p:tgtEl>
                                          <p:spTgt spid="128"/>
                                        </p:tgtEl>
                                        <p:attrNameLst>
                                          <p:attrName>ppt_x</p:attrName>
                                        </p:attrNameLst>
                                      </p:cBhvr>
                                      <p:tavLst>
                                        <p:tav tm="0">
                                          <p:val>
                                            <p:strVal val="#ppt_x"/>
                                          </p:val>
                                        </p:tav>
                                        <p:tav tm="100000">
                                          <p:val>
                                            <p:strVal val="#ppt_x"/>
                                          </p:val>
                                        </p:tav>
                                      </p:tavLst>
                                    </p:anim>
                                    <p:anim calcmode="lin" valueType="num">
                                      <p:cBhvr>
                                        <p:cTn id="39" dur="1000" fill="hold"/>
                                        <p:tgtEl>
                                          <p:spTgt spid="128"/>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31"/>
                                        </p:tgtEl>
                                        <p:attrNameLst>
                                          <p:attrName>style.visibility</p:attrName>
                                        </p:attrNameLst>
                                      </p:cBhvr>
                                      <p:to>
                                        <p:strVal val="visible"/>
                                      </p:to>
                                    </p:set>
                                    <p:animEffect transition="in" filter="fade">
                                      <p:cBhvr>
                                        <p:cTn id="42" dur="1000"/>
                                        <p:tgtEl>
                                          <p:spTgt spid="131"/>
                                        </p:tgtEl>
                                      </p:cBhvr>
                                    </p:animEffect>
                                    <p:anim calcmode="lin" valueType="num">
                                      <p:cBhvr>
                                        <p:cTn id="43" dur="1000" fill="hold"/>
                                        <p:tgtEl>
                                          <p:spTgt spid="131"/>
                                        </p:tgtEl>
                                        <p:attrNameLst>
                                          <p:attrName>ppt_x</p:attrName>
                                        </p:attrNameLst>
                                      </p:cBhvr>
                                      <p:tavLst>
                                        <p:tav tm="0">
                                          <p:val>
                                            <p:strVal val="#ppt_x"/>
                                          </p:val>
                                        </p:tav>
                                        <p:tav tm="100000">
                                          <p:val>
                                            <p:strVal val="#ppt_x"/>
                                          </p:val>
                                        </p:tav>
                                      </p:tavLst>
                                    </p:anim>
                                    <p:anim calcmode="lin" valueType="num">
                                      <p:cBhvr>
                                        <p:cTn id="44" dur="1000" fill="hold"/>
                                        <p:tgtEl>
                                          <p:spTgt spid="131"/>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32"/>
                                        </p:tgtEl>
                                        <p:attrNameLst>
                                          <p:attrName>style.visibility</p:attrName>
                                        </p:attrNameLst>
                                      </p:cBhvr>
                                      <p:to>
                                        <p:strVal val="visible"/>
                                      </p:to>
                                    </p:set>
                                    <p:animEffect transition="in" filter="fade">
                                      <p:cBhvr>
                                        <p:cTn id="47" dur="1000"/>
                                        <p:tgtEl>
                                          <p:spTgt spid="132"/>
                                        </p:tgtEl>
                                      </p:cBhvr>
                                    </p:animEffect>
                                    <p:anim calcmode="lin" valueType="num">
                                      <p:cBhvr>
                                        <p:cTn id="48" dur="1000" fill="hold"/>
                                        <p:tgtEl>
                                          <p:spTgt spid="132"/>
                                        </p:tgtEl>
                                        <p:attrNameLst>
                                          <p:attrName>ppt_x</p:attrName>
                                        </p:attrNameLst>
                                      </p:cBhvr>
                                      <p:tavLst>
                                        <p:tav tm="0">
                                          <p:val>
                                            <p:strVal val="#ppt_x"/>
                                          </p:val>
                                        </p:tav>
                                        <p:tav tm="100000">
                                          <p:val>
                                            <p:strVal val="#ppt_x"/>
                                          </p:val>
                                        </p:tav>
                                      </p:tavLst>
                                    </p:anim>
                                    <p:anim calcmode="lin" valueType="num">
                                      <p:cBhvr>
                                        <p:cTn id="49" dur="1000" fill="hold"/>
                                        <p:tgtEl>
                                          <p:spTgt spid="132"/>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39"/>
                                        </p:tgtEl>
                                        <p:attrNameLst>
                                          <p:attrName>style.visibility</p:attrName>
                                        </p:attrNameLst>
                                      </p:cBhvr>
                                      <p:to>
                                        <p:strVal val="visible"/>
                                      </p:to>
                                    </p:set>
                                    <p:animEffect transition="in" filter="fade">
                                      <p:cBhvr>
                                        <p:cTn id="52" dur="1000"/>
                                        <p:tgtEl>
                                          <p:spTgt spid="139"/>
                                        </p:tgtEl>
                                      </p:cBhvr>
                                    </p:animEffect>
                                    <p:anim calcmode="lin" valueType="num">
                                      <p:cBhvr>
                                        <p:cTn id="53" dur="1000" fill="hold"/>
                                        <p:tgtEl>
                                          <p:spTgt spid="139"/>
                                        </p:tgtEl>
                                        <p:attrNameLst>
                                          <p:attrName>ppt_x</p:attrName>
                                        </p:attrNameLst>
                                      </p:cBhvr>
                                      <p:tavLst>
                                        <p:tav tm="0">
                                          <p:val>
                                            <p:strVal val="#ppt_x"/>
                                          </p:val>
                                        </p:tav>
                                        <p:tav tm="100000">
                                          <p:val>
                                            <p:strVal val="#ppt_x"/>
                                          </p:val>
                                        </p:tav>
                                      </p:tavLst>
                                    </p:anim>
                                    <p:anim calcmode="lin" valueType="num">
                                      <p:cBhvr>
                                        <p:cTn id="54" dur="1000" fill="hold"/>
                                        <p:tgtEl>
                                          <p:spTgt spid="139"/>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54"/>
                                        </p:tgtEl>
                                        <p:attrNameLst>
                                          <p:attrName>style.visibility</p:attrName>
                                        </p:attrNameLst>
                                      </p:cBhvr>
                                      <p:to>
                                        <p:strVal val="visible"/>
                                      </p:to>
                                    </p:set>
                                    <p:animEffect transition="in" filter="fade">
                                      <p:cBhvr>
                                        <p:cTn id="57" dur="1000"/>
                                        <p:tgtEl>
                                          <p:spTgt spid="154"/>
                                        </p:tgtEl>
                                      </p:cBhvr>
                                    </p:animEffect>
                                    <p:anim calcmode="lin" valueType="num">
                                      <p:cBhvr>
                                        <p:cTn id="58" dur="1000" fill="hold"/>
                                        <p:tgtEl>
                                          <p:spTgt spid="154"/>
                                        </p:tgtEl>
                                        <p:attrNameLst>
                                          <p:attrName>ppt_x</p:attrName>
                                        </p:attrNameLst>
                                      </p:cBhvr>
                                      <p:tavLst>
                                        <p:tav tm="0">
                                          <p:val>
                                            <p:strVal val="#ppt_x"/>
                                          </p:val>
                                        </p:tav>
                                        <p:tav tm="100000">
                                          <p:val>
                                            <p:strVal val="#ppt_x"/>
                                          </p:val>
                                        </p:tav>
                                      </p:tavLst>
                                    </p:anim>
                                    <p:anim calcmode="lin" valueType="num">
                                      <p:cBhvr>
                                        <p:cTn id="59" dur="1000" fill="hold"/>
                                        <p:tgtEl>
                                          <p:spTgt spid="154"/>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181"/>
                                        </p:tgtEl>
                                        <p:attrNameLst>
                                          <p:attrName>style.visibility</p:attrName>
                                        </p:attrNameLst>
                                      </p:cBhvr>
                                      <p:to>
                                        <p:strVal val="visible"/>
                                      </p:to>
                                    </p:set>
                                    <p:animEffect transition="in" filter="fade">
                                      <p:cBhvr>
                                        <p:cTn id="62" dur="1000"/>
                                        <p:tgtEl>
                                          <p:spTgt spid="181"/>
                                        </p:tgtEl>
                                      </p:cBhvr>
                                    </p:animEffect>
                                    <p:anim calcmode="lin" valueType="num">
                                      <p:cBhvr>
                                        <p:cTn id="63" dur="1000" fill="hold"/>
                                        <p:tgtEl>
                                          <p:spTgt spid="181"/>
                                        </p:tgtEl>
                                        <p:attrNameLst>
                                          <p:attrName>ppt_x</p:attrName>
                                        </p:attrNameLst>
                                      </p:cBhvr>
                                      <p:tavLst>
                                        <p:tav tm="0">
                                          <p:val>
                                            <p:strVal val="#ppt_x"/>
                                          </p:val>
                                        </p:tav>
                                        <p:tav tm="100000">
                                          <p:val>
                                            <p:strVal val="#ppt_x"/>
                                          </p:val>
                                        </p:tav>
                                      </p:tavLst>
                                    </p:anim>
                                    <p:anim calcmode="lin" valueType="num">
                                      <p:cBhvr>
                                        <p:cTn id="64" dur="1000" fill="hold"/>
                                        <p:tgtEl>
                                          <p:spTgt spid="181"/>
                                        </p:tgtEl>
                                        <p:attrNameLst>
                                          <p:attrName>ppt_y</p:attrName>
                                        </p:attrNameLst>
                                      </p:cBhvr>
                                      <p:tavLst>
                                        <p:tav tm="0">
                                          <p:val>
                                            <p:strVal val="#ppt_y+.1"/>
                                          </p:val>
                                        </p:tav>
                                        <p:tav tm="100000">
                                          <p:val>
                                            <p:strVal val="#ppt_y"/>
                                          </p:val>
                                        </p:tav>
                                      </p:tavLst>
                                    </p:anim>
                                  </p:childTnLst>
                                </p:cTn>
                              </p:par>
                              <p:par>
                                <p:cTn id="65" presetID="42" presetClass="entr" presetSubtype="0" fill="hold" nodeType="withEffect">
                                  <p:stCondLst>
                                    <p:cond delay="0"/>
                                  </p:stCondLst>
                                  <p:childTnLst>
                                    <p:set>
                                      <p:cBhvr>
                                        <p:cTn id="66" dur="1" fill="hold">
                                          <p:stCondLst>
                                            <p:cond delay="0"/>
                                          </p:stCondLst>
                                        </p:cTn>
                                        <p:tgtEl>
                                          <p:spTgt spid="199"/>
                                        </p:tgtEl>
                                        <p:attrNameLst>
                                          <p:attrName>style.visibility</p:attrName>
                                        </p:attrNameLst>
                                      </p:cBhvr>
                                      <p:to>
                                        <p:strVal val="visible"/>
                                      </p:to>
                                    </p:set>
                                    <p:animEffect transition="in" filter="fade">
                                      <p:cBhvr>
                                        <p:cTn id="67" dur="1000"/>
                                        <p:tgtEl>
                                          <p:spTgt spid="199"/>
                                        </p:tgtEl>
                                      </p:cBhvr>
                                    </p:animEffect>
                                    <p:anim calcmode="lin" valueType="num">
                                      <p:cBhvr>
                                        <p:cTn id="68" dur="1000" fill="hold"/>
                                        <p:tgtEl>
                                          <p:spTgt spid="199"/>
                                        </p:tgtEl>
                                        <p:attrNameLst>
                                          <p:attrName>ppt_x</p:attrName>
                                        </p:attrNameLst>
                                      </p:cBhvr>
                                      <p:tavLst>
                                        <p:tav tm="0">
                                          <p:val>
                                            <p:strVal val="#ppt_x"/>
                                          </p:val>
                                        </p:tav>
                                        <p:tav tm="100000">
                                          <p:val>
                                            <p:strVal val="#ppt_x"/>
                                          </p:val>
                                        </p:tav>
                                      </p:tavLst>
                                    </p:anim>
                                    <p:anim calcmode="lin" valueType="num">
                                      <p:cBhvr>
                                        <p:cTn id="69" dur="1000" fill="hold"/>
                                        <p:tgtEl>
                                          <p:spTgt spid="199"/>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213"/>
                                        </p:tgtEl>
                                        <p:attrNameLst>
                                          <p:attrName>style.visibility</p:attrName>
                                        </p:attrNameLst>
                                      </p:cBhvr>
                                      <p:to>
                                        <p:strVal val="visible"/>
                                      </p:to>
                                    </p:set>
                                    <p:animEffect transition="in" filter="fade">
                                      <p:cBhvr>
                                        <p:cTn id="72" dur="1000"/>
                                        <p:tgtEl>
                                          <p:spTgt spid="213"/>
                                        </p:tgtEl>
                                      </p:cBhvr>
                                    </p:animEffect>
                                    <p:anim calcmode="lin" valueType="num">
                                      <p:cBhvr>
                                        <p:cTn id="73" dur="1000" fill="hold"/>
                                        <p:tgtEl>
                                          <p:spTgt spid="213"/>
                                        </p:tgtEl>
                                        <p:attrNameLst>
                                          <p:attrName>ppt_x</p:attrName>
                                        </p:attrNameLst>
                                      </p:cBhvr>
                                      <p:tavLst>
                                        <p:tav tm="0">
                                          <p:val>
                                            <p:strVal val="#ppt_x"/>
                                          </p:val>
                                        </p:tav>
                                        <p:tav tm="100000">
                                          <p:val>
                                            <p:strVal val="#ppt_x"/>
                                          </p:val>
                                        </p:tav>
                                      </p:tavLst>
                                    </p:anim>
                                    <p:anim calcmode="lin" valueType="num">
                                      <p:cBhvr>
                                        <p:cTn id="74" dur="1000" fill="hold"/>
                                        <p:tgtEl>
                                          <p:spTgt spid="213"/>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14"/>
                                        </p:tgtEl>
                                        <p:attrNameLst>
                                          <p:attrName>style.visibility</p:attrName>
                                        </p:attrNameLst>
                                      </p:cBhvr>
                                      <p:to>
                                        <p:strVal val="visible"/>
                                      </p:to>
                                    </p:set>
                                    <p:animEffect transition="in" filter="fade">
                                      <p:cBhvr>
                                        <p:cTn id="77" dur="1000"/>
                                        <p:tgtEl>
                                          <p:spTgt spid="214"/>
                                        </p:tgtEl>
                                      </p:cBhvr>
                                    </p:animEffect>
                                    <p:anim calcmode="lin" valueType="num">
                                      <p:cBhvr>
                                        <p:cTn id="78" dur="1000" fill="hold"/>
                                        <p:tgtEl>
                                          <p:spTgt spid="214"/>
                                        </p:tgtEl>
                                        <p:attrNameLst>
                                          <p:attrName>ppt_x</p:attrName>
                                        </p:attrNameLst>
                                      </p:cBhvr>
                                      <p:tavLst>
                                        <p:tav tm="0">
                                          <p:val>
                                            <p:strVal val="#ppt_x"/>
                                          </p:val>
                                        </p:tav>
                                        <p:tav tm="100000">
                                          <p:val>
                                            <p:strVal val="#ppt_x"/>
                                          </p:val>
                                        </p:tav>
                                      </p:tavLst>
                                    </p:anim>
                                    <p:anim calcmode="lin" valueType="num">
                                      <p:cBhvr>
                                        <p:cTn id="79" dur="1000" fill="hold"/>
                                        <p:tgtEl>
                                          <p:spTgt spid="214"/>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15"/>
                                        </p:tgtEl>
                                        <p:attrNameLst>
                                          <p:attrName>style.visibility</p:attrName>
                                        </p:attrNameLst>
                                      </p:cBhvr>
                                      <p:to>
                                        <p:strVal val="visible"/>
                                      </p:to>
                                    </p:set>
                                    <p:animEffect transition="in" filter="fade">
                                      <p:cBhvr>
                                        <p:cTn id="82" dur="1000"/>
                                        <p:tgtEl>
                                          <p:spTgt spid="215"/>
                                        </p:tgtEl>
                                      </p:cBhvr>
                                    </p:animEffect>
                                    <p:anim calcmode="lin" valueType="num">
                                      <p:cBhvr>
                                        <p:cTn id="83" dur="1000" fill="hold"/>
                                        <p:tgtEl>
                                          <p:spTgt spid="215"/>
                                        </p:tgtEl>
                                        <p:attrNameLst>
                                          <p:attrName>ppt_x</p:attrName>
                                        </p:attrNameLst>
                                      </p:cBhvr>
                                      <p:tavLst>
                                        <p:tav tm="0">
                                          <p:val>
                                            <p:strVal val="#ppt_x"/>
                                          </p:val>
                                        </p:tav>
                                        <p:tav tm="100000">
                                          <p:val>
                                            <p:strVal val="#ppt_x"/>
                                          </p:val>
                                        </p:tav>
                                      </p:tavLst>
                                    </p:anim>
                                    <p:anim calcmode="lin" valueType="num">
                                      <p:cBhvr>
                                        <p:cTn id="84" dur="1000" fill="hold"/>
                                        <p:tgtEl>
                                          <p:spTgt spid="215"/>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16"/>
                                        </p:tgtEl>
                                        <p:attrNameLst>
                                          <p:attrName>style.visibility</p:attrName>
                                        </p:attrNameLst>
                                      </p:cBhvr>
                                      <p:to>
                                        <p:strVal val="visible"/>
                                      </p:to>
                                    </p:set>
                                    <p:animEffect transition="in" filter="fade">
                                      <p:cBhvr>
                                        <p:cTn id="87" dur="1000"/>
                                        <p:tgtEl>
                                          <p:spTgt spid="216"/>
                                        </p:tgtEl>
                                      </p:cBhvr>
                                    </p:animEffect>
                                    <p:anim calcmode="lin" valueType="num">
                                      <p:cBhvr>
                                        <p:cTn id="88" dur="1000" fill="hold"/>
                                        <p:tgtEl>
                                          <p:spTgt spid="216"/>
                                        </p:tgtEl>
                                        <p:attrNameLst>
                                          <p:attrName>ppt_x</p:attrName>
                                        </p:attrNameLst>
                                      </p:cBhvr>
                                      <p:tavLst>
                                        <p:tav tm="0">
                                          <p:val>
                                            <p:strVal val="#ppt_x"/>
                                          </p:val>
                                        </p:tav>
                                        <p:tav tm="100000">
                                          <p:val>
                                            <p:strVal val="#ppt_x"/>
                                          </p:val>
                                        </p:tav>
                                      </p:tavLst>
                                    </p:anim>
                                    <p:anim calcmode="lin" valueType="num">
                                      <p:cBhvr>
                                        <p:cTn id="89" dur="1000" fill="hold"/>
                                        <p:tgtEl>
                                          <p:spTgt spid="216"/>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217"/>
                                        </p:tgtEl>
                                        <p:attrNameLst>
                                          <p:attrName>style.visibility</p:attrName>
                                        </p:attrNameLst>
                                      </p:cBhvr>
                                      <p:to>
                                        <p:strVal val="visible"/>
                                      </p:to>
                                    </p:set>
                                    <p:animEffect transition="in" filter="fade">
                                      <p:cBhvr>
                                        <p:cTn id="92" dur="1000"/>
                                        <p:tgtEl>
                                          <p:spTgt spid="217"/>
                                        </p:tgtEl>
                                      </p:cBhvr>
                                    </p:animEffect>
                                    <p:anim calcmode="lin" valueType="num">
                                      <p:cBhvr>
                                        <p:cTn id="93" dur="1000" fill="hold"/>
                                        <p:tgtEl>
                                          <p:spTgt spid="217"/>
                                        </p:tgtEl>
                                        <p:attrNameLst>
                                          <p:attrName>ppt_x</p:attrName>
                                        </p:attrNameLst>
                                      </p:cBhvr>
                                      <p:tavLst>
                                        <p:tav tm="0">
                                          <p:val>
                                            <p:strVal val="#ppt_x"/>
                                          </p:val>
                                        </p:tav>
                                        <p:tav tm="100000">
                                          <p:val>
                                            <p:strVal val="#ppt_x"/>
                                          </p:val>
                                        </p:tav>
                                      </p:tavLst>
                                    </p:anim>
                                    <p:anim calcmode="lin" valueType="num">
                                      <p:cBhvr>
                                        <p:cTn id="94" dur="1000" fill="hold"/>
                                        <p:tgtEl>
                                          <p:spTgt spid="217"/>
                                        </p:tgtEl>
                                        <p:attrNameLst>
                                          <p:attrName>ppt_y</p:attrName>
                                        </p:attrNameLst>
                                      </p:cBhvr>
                                      <p:tavLst>
                                        <p:tav tm="0">
                                          <p:val>
                                            <p:strVal val="#ppt_y+.1"/>
                                          </p:val>
                                        </p:tav>
                                        <p:tav tm="100000">
                                          <p:val>
                                            <p:strVal val="#ppt_y"/>
                                          </p:val>
                                        </p:tav>
                                      </p:tavLst>
                                    </p:anim>
                                  </p:childTnLst>
                                </p:cTn>
                              </p:par>
                              <p:par>
                                <p:cTn id="95" presetID="42" presetClass="entr" presetSubtype="0" fill="hold" nodeType="withEffect">
                                  <p:stCondLst>
                                    <p:cond delay="0"/>
                                  </p:stCondLst>
                                  <p:childTnLst>
                                    <p:set>
                                      <p:cBhvr>
                                        <p:cTn id="96" dur="1" fill="hold">
                                          <p:stCondLst>
                                            <p:cond delay="0"/>
                                          </p:stCondLst>
                                        </p:cTn>
                                        <p:tgtEl>
                                          <p:spTgt spid="229"/>
                                        </p:tgtEl>
                                        <p:attrNameLst>
                                          <p:attrName>style.visibility</p:attrName>
                                        </p:attrNameLst>
                                      </p:cBhvr>
                                      <p:to>
                                        <p:strVal val="visible"/>
                                      </p:to>
                                    </p:set>
                                    <p:animEffect transition="in" filter="fade">
                                      <p:cBhvr>
                                        <p:cTn id="97" dur="1000"/>
                                        <p:tgtEl>
                                          <p:spTgt spid="229"/>
                                        </p:tgtEl>
                                      </p:cBhvr>
                                    </p:animEffect>
                                    <p:anim calcmode="lin" valueType="num">
                                      <p:cBhvr>
                                        <p:cTn id="98" dur="1000" fill="hold"/>
                                        <p:tgtEl>
                                          <p:spTgt spid="229"/>
                                        </p:tgtEl>
                                        <p:attrNameLst>
                                          <p:attrName>ppt_x</p:attrName>
                                        </p:attrNameLst>
                                      </p:cBhvr>
                                      <p:tavLst>
                                        <p:tav tm="0">
                                          <p:val>
                                            <p:strVal val="#ppt_x"/>
                                          </p:val>
                                        </p:tav>
                                        <p:tav tm="100000">
                                          <p:val>
                                            <p:strVal val="#ppt_x"/>
                                          </p:val>
                                        </p:tav>
                                      </p:tavLst>
                                    </p:anim>
                                    <p:anim calcmode="lin" valueType="num">
                                      <p:cBhvr>
                                        <p:cTn id="99" dur="1000" fill="hold"/>
                                        <p:tgtEl>
                                          <p:spTgt spid="2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20" grpId="0"/>
      <p:bldP spid="127" grpId="0"/>
      <p:bldP spid="131" grpId="0"/>
      <p:bldP spid="214" grpId="0"/>
      <p:bldP spid="215" grpId="0"/>
      <p:bldP spid="216" grpId="0"/>
      <p:bldP spid="217"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 name="Title 631">
            <a:extLst>
              <a:ext uri="{FF2B5EF4-FFF2-40B4-BE49-F238E27FC236}">
                <a16:creationId xmlns:a16="http://schemas.microsoft.com/office/drawing/2014/main" id="{45B78C99-4ADE-26BC-B1F1-C29F82D7E0B8}"/>
              </a:ext>
            </a:extLst>
          </p:cNvPr>
          <p:cNvSpPr>
            <a:spLocks noGrp="1"/>
          </p:cNvSpPr>
          <p:nvPr>
            <p:ph type="title"/>
          </p:nvPr>
        </p:nvSpPr>
        <p:spPr>
          <a:xfrm>
            <a:off x="668992" y="321217"/>
            <a:ext cx="22991108" cy="999313"/>
          </a:xfrm>
        </p:spPr>
        <p:txBody>
          <a:bodyPr/>
          <a:lstStyle/>
          <a:p>
            <a:r>
              <a:rPr lang="en-US" sz="6400">
                <a:ln>
                  <a:noFill/>
                </a:ln>
                <a:solidFill>
                  <a:prstClr val="white"/>
                </a:solidFill>
                <a:ea typeface="+mn-ea"/>
                <a:cs typeface="+mn-cs"/>
              </a:rPr>
              <a:t>Migration Strategy Selection</a:t>
            </a:r>
            <a:endParaRPr lang="en-GB"/>
          </a:p>
        </p:txBody>
      </p:sp>
      <p:cxnSp>
        <p:nvCxnSpPr>
          <p:cNvPr id="627" name="Curved Connector 626">
            <a:extLst>
              <a:ext uri="{FF2B5EF4-FFF2-40B4-BE49-F238E27FC236}">
                <a16:creationId xmlns:a16="http://schemas.microsoft.com/office/drawing/2014/main" id="{9D19B82F-B35F-82AD-EBD3-E75B94A19D43}"/>
              </a:ext>
            </a:extLst>
          </p:cNvPr>
          <p:cNvCxnSpPr>
            <a:cxnSpLocks/>
          </p:cNvCxnSpPr>
          <p:nvPr/>
        </p:nvCxnSpPr>
        <p:spPr>
          <a:xfrm>
            <a:off x="16058247" y="4809252"/>
            <a:ext cx="1322134" cy="4053368"/>
          </a:xfrm>
          <a:prstGeom prst="curvedConnector3">
            <a:avLst>
              <a:gd name="adj1" fmla="val 52412"/>
            </a:avLst>
          </a:prstGeom>
          <a:ln w="50800">
            <a:gradFill>
              <a:gsLst>
                <a:gs pos="28000">
                  <a:schemeClr val="accent4">
                    <a:lumMod val="75000"/>
                  </a:schemeClr>
                </a:gs>
                <a:gs pos="82000">
                  <a:srgbClr val="FF0000"/>
                </a:gs>
              </a:gsLst>
              <a:lin ang="5400000" scaled="1"/>
            </a:gradFill>
            <a:headEnd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929CA489-3E7D-F05D-A97B-6714B0FE04E5}"/>
              </a:ext>
            </a:extLst>
          </p:cNvPr>
          <p:cNvCxnSpPr>
            <a:cxnSpLocks/>
          </p:cNvCxnSpPr>
          <p:nvPr/>
        </p:nvCxnSpPr>
        <p:spPr>
          <a:xfrm>
            <a:off x="16072616" y="3223792"/>
            <a:ext cx="1296332" cy="0"/>
          </a:xfrm>
          <a:prstGeom prst="line">
            <a:avLst/>
          </a:prstGeom>
          <a:ln w="50800">
            <a:solidFill>
              <a:schemeClr val="accent4">
                <a:lumMod val="75000"/>
                <a:alpha val="80000"/>
              </a:scheme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D4206631-C5FA-DFC3-0FF9-DBF05141BD42}"/>
              </a:ext>
            </a:extLst>
          </p:cNvPr>
          <p:cNvCxnSpPr>
            <a:cxnSpLocks/>
          </p:cNvCxnSpPr>
          <p:nvPr/>
        </p:nvCxnSpPr>
        <p:spPr>
          <a:xfrm>
            <a:off x="12915832" y="3224088"/>
            <a:ext cx="1998704" cy="0"/>
          </a:xfrm>
          <a:prstGeom prst="line">
            <a:avLst/>
          </a:prstGeom>
          <a:ln w="50800">
            <a:solidFill>
              <a:schemeClr val="accent4">
                <a:lumMod val="75000"/>
                <a:alpha val="80000"/>
              </a:scheme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75" name="Straight Connector 574">
            <a:extLst>
              <a:ext uri="{FF2B5EF4-FFF2-40B4-BE49-F238E27FC236}">
                <a16:creationId xmlns:a16="http://schemas.microsoft.com/office/drawing/2014/main" id="{6680AA10-09AC-B24B-6B31-D5839070C429}"/>
              </a:ext>
            </a:extLst>
          </p:cNvPr>
          <p:cNvCxnSpPr>
            <a:cxnSpLocks/>
          </p:cNvCxnSpPr>
          <p:nvPr/>
        </p:nvCxnSpPr>
        <p:spPr>
          <a:xfrm flipV="1">
            <a:off x="9342164" y="6749896"/>
            <a:ext cx="2402168" cy="1983992"/>
          </a:xfrm>
          <a:prstGeom prst="line">
            <a:avLst/>
          </a:prstGeom>
          <a:ln w="50800">
            <a:solidFill>
              <a:srgbClr val="FF0000">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08" name="Elbow Connector 607">
            <a:extLst>
              <a:ext uri="{FF2B5EF4-FFF2-40B4-BE49-F238E27FC236}">
                <a16:creationId xmlns:a16="http://schemas.microsoft.com/office/drawing/2014/main" id="{CC91DD73-D63D-8044-9848-23D54BCEE683}"/>
              </a:ext>
            </a:extLst>
          </p:cNvPr>
          <p:cNvCxnSpPr>
            <a:cxnSpLocks/>
          </p:cNvCxnSpPr>
          <p:nvPr/>
        </p:nvCxnSpPr>
        <p:spPr>
          <a:xfrm rot="5400000" flipH="1" flipV="1">
            <a:off x="7224091" y="5603366"/>
            <a:ext cx="4658834" cy="1477184"/>
          </a:xfrm>
          <a:prstGeom prst="bentConnector2">
            <a:avLst/>
          </a:prstGeom>
          <a:ln w="50800">
            <a:solidFill>
              <a:schemeClr val="accent4">
                <a:lumMod val="75000"/>
              </a:schemeClr>
            </a:solidFill>
            <a:tailEnd type="none" w="sm" len="sm"/>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13E393D1-F26C-8500-113E-3C667A83AAF3}"/>
              </a:ext>
            </a:extLst>
          </p:cNvPr>
          <p:cNvCxnSpPr>
            <a:cxnSpLocks/>
          </p:cNvCxnSpPr>
          <p:nvPr/>
        </p:nvCxnSpPr>
        <p:spPr>
          <a:xfrm>
            <a:off x="18523173" y="9286196"/>
            <a:ext cx="2143338" cy="0"/>
          </a:xfrm>
          <a:prstGeom prst="line">
            <a:avLst/>
          </a:prstGeom>
          <a:ln w="50800">
            <a:solidFill>
              <a:srgbClr val="00B050">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78982239-4DCE-F464-6B4B-C09C787C9E35}"/>
              </a:ext>
            </a:extLst>
          </p:cNvPr>
          <p:cNvCxnSpPr>
            <a:cxnSpLocks/>
          </p:cNvCxnSpPr>
          <p:nvPr/>
        </p:nvCxnSpPr>
        <p:spPr>
          <a:xfrm>
            <a:off x="12904400" y="9290622"/>
            <a:ext cx="2017864" cy="0"/>
          </a:xfrm>
          <a:prstGeom prst="line">
            <a:avLst/>
          </a:prstGeom>
          <a:ln w="50800">
            <a:solidFill>
              <a:srgbClr val="950989">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59" name="Straight Connector 558">
            <a:extLst>
              <a:ext uri="{FF2B5EF4-FFF2-40B4-BE49-F238E27FC236}">
                <a16:creationId xmlns:a16="http://schemas.microsoft.com/office/drawing/2014/main" id="{D65C491C-4184-5637-3421-ABD72514379D}"/>
              </a:ext>
            </a:extLst>
          </p:cNvPr>
          <p:cNvCxnSpPr>
            <a:cxnSpLocks/>
          </p:cNvCxnSpPr>
          <p:nvPr/>
        </p:nvCxnSpPr>
        <p:spPr>
          <a:xfrm>
            <a:off x="9387690" y="9288830"/>
            <a:ext cx="2356640" cy="0"/>
          </a:xfrm>
          <a:prstGeom prst="line">
            <a:avLst/>
          </a:prstGeom>
          <a:ln w="50800">
            <a:solidFill>
              <a:srgbClr val="950989">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40" name="Straight Connector 539">
            <a:extLst>
              <a:ext uri="{FF2B5EF4-FFF2-40B4-BE49-F238E27FC236}">
                <a16:creationId xmlns:a16="http://schemas.microsoft.com/office/drawing/2014/main" id="{5C99B696-2CBC-F391-42F8-D98BD5567940}"/>
              </a:ext>
            </a:extLst>
          </p:cNvPr>
          <p:cNvCxnSpPr>
            <a:cxnSpLocks/>
          </p:cNvCxnSpPr>
          <p:nvPr/>
        </p:nvCxnSpPr>
        <p:spPr>
          <a:xfrm>
            <a:off x="11759250" y="12288334"/>
            <a:ext cx="1332320" cy="0"/>
          </a:xfrm>
          <a:prstGeom prst="line">
            <a:avLst/>
          </a:prstGeom>
          <a:ln w="50800">
            <a:solidFill>
              <a:srgbClr val="00BEBD">
                <a:alpha val="76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283" name="Straight Connector 282">
            <a:extLst>
              <a:ext uri="{FF2B5EF4-FFF2-40B4-BE49-F238E27FC236}">
                <a16:creationId xmlns:a16="http://schemas.microsoft.com/office/drawing/2014/main" id="{A0C5E69A-EE1B-E29D-6571-EDDD5BD5D701}"/>
              </a:ext>
            </a:extLst>
          </p:cNvPr>
          <p:cNvCxnSpPr>
            <a:cxnSpLocks/>
          </p:cNvCxnSpPr>
          <p:nvPr/>
        </p:nvCxnSpPr>
        <p:spPr>
          <a:xfrm>
            <a:off x="4231958" y="9252664"/>
            <a:ext cx="1339756" cy="0"/>
          </a:xfrm>
          <a:prstGeom prst="line">
            <a:avLst/>
          </a:prstGeom>
          <a:ln w="50800">
            <a:solidFill>
              <a:schemeClr val="bg1">
                <a:alpha val="80000"/>
              </a:schemeClr>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16CD130C-6056-2DAF-5288-9579BDA826A0}"/>
              </a:ext>
            </a:extLst>
          </p:cNvPr>
          <p:cNvGrpSpPr>
            <a:grpSpLocks noChangeAspect="1"/>
          </p:cNvGrpSpPr>
          <p:nvPr/>
        </p:nvGrpSpPr>
        <p:grpSpPr>
          <a:xfrm>
            <a:off x="3089166" y="8671373"/>
            <a:ext cx="1142792" cy="1142794"/>
            <a:chOff x="1015206" y="5351463"/>
            <a:chExt cx="747712" cy="747713"/>
          </a:xfrm>
        </p:grpSpPr>
        <p:grpSp>
          <p:nvGrpSpPr>
            <p:cNvPr id="67" name="Group 66">
              <a:extLst>
                <a:ext uri="{FF2B5EF4-FFF2-40B4-BE49-F238E27FC236}">
                  <a16:creationId xmlns:a16="http://schemas.microsoft.com/office/drawing/2014/main" id="{C5BF702C-D238-028B-81C4-CDA633B3D419}"/>
                </a:ext>
              </a:extLst>
            </p:cNvPr>
            <p:cNvGrpSpPr/>
            <p:nvPr/>
          </p:nvGrpSpPr>
          <p:grpSpPr>
            <a:xfrm>
              <a:off x="1124743" y="5461001"/>
              <a:ext cx="619125" cy="619125"/>
              <a:chOff x="1124743" y="5461001"/>
              <a:chExt cx="619125" cy="619125"/>
            </a:xfrm>
          </p:grpSpPr>
          <p:sp>
            <p:nvSpPr>
              <p:cNvPr id="68" name="Freeform 234">
                <a:extLst>
                  <a:ext uri="{FF2B5EF4-FFF2-40B4-BE49-F238E27FC236}">
                    <a16:creationId xmlns:a16="http://schemas.microsoft.com/office/drawing/2014/main" id="{EB191FEA-B4B4-072F-5F92-1AEB355B6D1B}"/>
                  </a:ext>
                </a:extLst>
              </p:cNvPr>
              <p:cNvSpPr>
                <a:spLocks noChangeArrowheads="1"/>
              </p:cNvSpPr>
              <p:nvPr/>
            </p:nvSpPr>
            <p:spPr bwMode="auto">
              <a:xfrm>
                <a:off x="1256506" y="5592763"/>
                <a:ext cx="266700" cy="266700"/>
              </a:xfrm>
              <a:custGeom>
                <a:avLst/>
                <a:gdLst>
                  <a:gd name="T0" fmla="*/ 273 w 739"/>
                  <a:gd name="T1" fmla="*/ 138 h 739"/>
                  <a:gd name="T2" fmla="*/ 310 w 739"/>
                  <a:gd name="T3" fmla="*/ 82 h 739"/>
                  <a:gd name="T4" fmla="*/ 310 w 739"/>
                  <a:gd name="T5" fmla="*/ 60 h 739"/>
                  <a:gd name="T6" fmla="*/ 369 w 739"/>
                  <a:gd name="T7" fmla="*/ 0 h 739"/>
                  <a:gd name="T8" fmla="*/ 428 w 739"/>
                  <a:gd name="T9" fmla="*/ 60 h 739"/>
                  <a:gd name="T10" fmla="*/ 428 w 739"/>
                  <a:gd name="T11" fmla="*/ 82 h 739"/>
                  <a:gd name="T12" fmla="*/ 465 w 739"/>
                  <a:gd name="T13" fmla="*/ 138 h 739"/>
                  <a:gd name="T14" fmla="*/ 530 w 739"/>
                  <a:gd name="T15" fmla="*/ 125 h 739"/>
                  <a:gd name="T16" fmla="*/ 546 w 739"/>
                  <a:gd name="T17" fmla="*/ 109 h 739"/>
                  <a:gd name="T18" fmla="*/ 630 w 739"/>
                  <a:gd name="T19" fmla="*/ 108 h 739"/>
                  <a:gd name="T20" fmla="*/ 630 w 739"/>
                  <a:gd name="T21" fmla="*/ 192 h 739"/>
                  <a:gd name="T22" fmla="*/ 614 w 739"/>
                  <a:gd name="T23" fmla="*/ 208 h 739"/>
                  <a:gd name="T24" fmla="*/ 601 w 739"/>
                  <a:gd name="T25" fmla="*/ 273 h 739"/>
                  <a:gd name="T26" fmla="*/ 656 w 739"/>
                  <a:gd name="T27" fmla="*/ 310 h 739"/>
                  <a:gd name="T28" fmla="*/ 679 w 739"/>
                  <a:gd name="T29" fmla="*/ 310 h 739"/>
                  <a:gd name="T30" fmla="*/ 738 w 739"/>
                  <a:gd name="T31" fmla="*/ 369 h 739"/>
                  <a:gd name="T32" fmla="*/ 679 w 739"/>
                  <a:gd name="T33" fmla="*/ 428 h 739"/>
                  <a:gd name="T34" fmla="*/ 656 w 739"/>
                  <a:gd name="T35" fmla="*/ 428 h 739"/>
                  <a:gd name="T36" fmla="*/ 601 w 739"/>
                  <a:gd name="T37" fmla="*/ 465 h 739"/>
                  <a:gd name="T38" fmla="*/ 614 w 739"/>
                  <a:gd name="T39" fmla="*/ 530 h 739"/>
                  <a:gd name="T40" fmla="*/ 630 w 739"/>
                  <a:gd name="T41" fmla="*/ 547 h 739"/>
                  <a:gd name="T42" fmla="*/ 630 w 739"/>
                  <a:gd name="T43" fmla="*/ 630 h 739"/>
                  <a:gd name="T44" fmla="*/ 546 w 739"/>
                  <a:gd name="T45" fmla="*/ 630 h 739"/>
                  <a:gd name="T46" fmla="*/ 530 w 739"/>
                  <a:gd name="T47" fmla="*/ 614 h 739"/>
                  <a:gd name="T48" fmla="*/ 465 w 739"/>
                  <a:gd name="T49" fmla="*/ 601 h 739"/>
                  <a:gd name="T50" fmla="*/ 428 w 739"/>
                  <a:gd name="T51" fmla="*/ 656 h 739"/>
                  <a:gd name="T52" fmla="*/ 428 w 739"/>
                  <a:gd name="T53" fmla="*/ 679 h 739"/>
                  <a:gd name="T54" fmla="*/ 369 w 739"/>
                  <a:gd name="T55" fmla="*/ 738 h 739"/>
                  <a:gd name="T56" fmla="*/ 310 w 739"/>
                  <a:gd name="T57" fmla="*/ 679 h 739"/>
                  <a:gd name="T58" fmla="*/ 310 w 739"/>
                  <a:gd name="T59" fmla="*/ 656 h 739"/>
                  <a:gd name="T60" fmla="*/ 273 w 739"/>
                  <a:gd name="T61" fmla="*/ 601 h 739"/>
                  <a:gd name="T62" fmla="*/ 208 w 739"/>
                  <a:gd name="T63" fmla="*/ 614 h 739"/>
                  <a:gd name="T64" fmla="*/ 192 w 739"/>
                  <a:gd name="T65" fmla="*/ 630 h 739"/>
                  <a:gd name="T66" fmla="*/ 108 w 739"/>
                  <a:gd name="T67" fmla="*/ 630 h 739"/>
                  <a:gd name="T68" fmla="*/ 108 w 739"/>
                  <a:gd name="T69" fmla="*/ 547 h 739"/>
                  <a:gd name="T70" fmla="*/ 124 w 739"/>
                  <a:gd name="T71" fmla="*/ 530 h 739"/>
                  <a:gd name="T72" fmla="*/ 137 w 739"/>
                  <a:gd name="T73" fmla="*/ 465 h 739"/>
                  <a:gd name="T74" fmla="*/ 82 w 739"/>
                  <a:gd name="T75" fmla="*/ 428 h 739"/>
                  <a:gd name="T76" fmla="*/ 59 w 739"/>
                  <a:gd name="T77" fmla="*/ 428 h 739"/>
                  <a:gd name="T78" fmla="*/ 0 w 739"/>
                  <a:gd name="T79" fmla="*/ 369 h 739"/>
                  <a:gd name="T80" fmla="*/ 59 w 739"/>
                  <a:gd name="T81" fmla="*/ 310 h 739"/>
                  <a:gd name="T82" fmla="*/ 82 w 739"/>
                  <a:gd name="T83" fmla="*/ 310 h 739"/>
                  <a:gd name="T84" fmla="*/ 137 w 739"/>
                  <a:gd name="T85" fmla="*/ 273 h 739"/>
                  <a:gd name="T86" fmla="*/ 124 w 739"/>
                  <a:gd name="T87" fmla="*/ 208 h 739"/>
                  <a:gd name="T88" fmla="*/ 108 w 739"/>
                  <a:gd name="T89" fmla="*/ 192 h 739"/>
                  <a:gd name="T90" fmla="*/ 108 w 739"/>
                  <a:gd name="T91" fmla="*/ 108 h 739"/>
                  <a:gd name="T92" fmla="*/ 192 w 739"/>
                  <a:gd name="T93" fmla="*/ 109 h 739"/>
                  <a:gd name="T94" fmla="*/ 208 w 739"/>
                  <a:gd name="T95" fmla="*/ 125 h 739"/>
                  <a:gd name="T96" fmla="*/ 273 w 739"/>
                  <a:gd name="T97" fmla="*/ 138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9" h="739">
                    <a:moveTo>
                      <a:pt x="273" y="138"/>
                    </a:moveTo>
                    <a:cubicBezTo>
                      <a:pt x="295" y="128"/>
                      <a:pt x="310" y="106"/>
                      <a:pt x="310" y="82"/>
                    </a:cubicBezTo>
                    <a:cubicBezTo>
                      <a:pt x="310" y="75"/>
                      <a:pt x="310" y="67"/>
                      <a:pt x="310" y="60"/>
                    </a:cubicBezTo>
                    <a:cubicBezTo>
                      <a:pt x="310" y="27"/>
                      <a:pt x="336" y="0"/>
                      <a:pt x="369" y="0"/>
                    </a:cubicBezTo>
                    <a:cubicBezTo>
                      <a:pt x="402" y="0"/>
                      <a:pt x="428" y="27"/>
                      <a:pt x="428" y="60"/>
                    </a:cubicBezTo>
                    <a:cubicBezTo>
                      <a:pt x="428" y="67"/>
                      <a:pt x="428" y="75"/>
                      <a:pt x="428" y="82"/>
                    </a:cubicBezTo>
                    <a:cubicBezTo>
                      <a:pt x="428" y="106"/>
                      <a:pt x="443" y="128"/>
                      <a:pt x="465" y="138"/>
                    </a:cubicBezTo>
                    <a:cubicBezTo>
                      <a:pt x="487" y="147"/>
                      <a:pt x="513" y="142"/>
                      <a:pt x="530" y="125"/>
                    </a:cubicBezTo>
                    <a:cubicBezTo>
                      <a:pt x="535" y="120"/>
                      <a:pt x="541" y="114"/>
                      <a:pt x="546" y="109"/>
                    </a:cubicBezTo>
                    <a:cubicBezTo>
                      <a:pt x="569" y="85"/>
                      <a:pt x="607" y="85"/>
                      <a:pt x="630" y="108"/>
                    </a:cubicBezTo>
                    <a:cubicBezTo>
                      <a:pt x="653" y="132"/>
                      <a:pt x="653" y="169"/>
                      <a:pt x="630" y="192"/>
                    </a:cubicBezTo>
                    <a:cubicBezTo>
                      <a:pt x="625" y="197"/>
                      <a:pt x="619" y="203"/>
                      <a:pt x="614" y="208"/>
                    </a:cubicBezTo>
                    <a:cubicBezTo>
                      <a:pt x="596" y="225"/>
                      <a:pt x="591" y="251"/>
                      <a:pt x="601" y="273"/>
                    </a:cubicBezTo>
                    <a:cubicBezTo>
                      <a:pt x="610" y="296"/>
                      <a:pt x="632" y="310"/>
                      <a:pt x="656" y="310"/>
                    </a:cubicBezTo>
                    <a:cubicBezTo>
                      <a:pt x="664" y="310"/>
                      <a:pt x="671" y="310"/>
                      <a:pt x="679" y="310"/>
                    </a:cubicBezTo>
                    <a:cubicBezTo>
                      <a:pt x="711" y="310"/>
                      <a:pt x="738" y="337"/>
                      <a:pt x="738" y="369"/>
                    </a:cubicBezTo>
                    <a:cubicBezTo>
                      <a:pt x="738" y="402"/>
                      <a:pt x="711" y="428"/>
                      <a:pt x="679" y="428"/>
                    </a:cubicBezTo>
                    <a:cubicBezTo>
                      <a:pt x="671" y="428"/>
                      <a:pt x="664" y="428"/>
                      <a:pt x="656" y="428"/>
                    </a:cubicBezTo>
                    <a:cubicBezTo>
                      <a:pt x="632" y="428"/>
                      <a:pt x="610" y="443"/>
                      <a:pt x="601" y="465"/>
                    </a:cubicBezTo>
                    <a:cubicBezTo>
                      <a:pt x="591" y="488"/>
                      <a:pt x="596" y="513"/>
                      <a:pt x="614" y="530"/>
                    </a:cubicBezTo>
                    <a:cubicBezTo>
                      <a:pt x="619" y="536"/>
                      <a:pt x="625" y="541"/>
                      <a:pt x="630" y="547"/>
                    </a:cubicBezTo>
                    <a:cubicBezTo>
                      <a:pt x="653" y="570"/>
                      <a:pt x="653" y="607"/>
                      <a:pt x="630" y="630"/>
                    </a:cubicBezTo>
                    <a:cubicBezTo>
                      <a:pt x="607" y="653"/>
                      <a:pt x="569" y="653"/>
                      <a:pt x="546" y="630"/>
                    </a:cubicBezTo>
                    <a:cubicBezTo>
                      <a:pt x="541" y="625"/>
                      <a:pt x="535" y="619"/>
                      <a:pt x="530" y="614"/>
                    </a:cubicBezTo>
                    <a:cubicBezTo>
                      <a:pt x="513" y="597"/>
                      <a:pt x="487" y="592"/>
                      <a:pt x="465" y="601"/>
                    </a:cubicBezTo>
                    <a:cubicBezTo>
                      <a:pt x="443" y="610"/>
                      <a:pt x="428" y="632"/>
                      <a:pt x="428" y="656"/>
                    </a:cubicBezTo>
                    <a:cubicBezTo>
                      <a:pt x="428" y="664"/>
                      <a:pt x="428" y="671"/>
                      <a:pt x="428" y="679"/>
                    </a:cubicBezTo>
                    <a:cubicBezTo>
                      <a:pt x="428" y="712"/>
                      <a:pt x="402" y="738"/>
                      <a:pt x="369" y="738"/>
                    </a:cubicBezTo>
                    <a:cubicBezTo>
                      <a:pt x="336" y="738"/>
                      <a:pt x="310" y="712"/>
                      <a:pt x="310" y="679"/>
                    </a:cubicBezTo>
                    <a:cubicBezTo>
                      <a:pt x="310" y="671"/>
                      <a:pt x="310" y="664"/>
                      <a:pt x="310" y="656"/>
                    </a:cubicBezTo>
                    <a:cubicBezTo>
                      <a:pt x="310" y="632"/>
                      <a:pt x="295" y="610"/>
                      <a:pt x="273" y="601"/>
                    </a:cubicBezTo>
                    <a:cubicBezTo>
                      <a:pt x="251" y="592"/>
                      <a:pt x="225" y="597"/>
                      <a:pt x="208" y="614"/>
                    </a:cubicBezTo>
                    <a:cubicBezTo>
                      <a:pt x="203" y="619"/>
                      <a:pt x="197" y="625"/>
                      <a:pt x="192" y="630"/>
                    </a:cubicBezTo>
                    <a:cubicBezTo>
                      <a:pt x="169" y="653"/>
                      <a:pt x="131" y="653"/>
                      <a:pt x="108" y="630"/>
                    </a:cubicBezTo>
                    <a:cubicBezTo>
                      <a:pt x="85" y="607"/>
                      <a:pt x="85" y="570"/>
                      <a:pt x="108" y="547"/>
                    </a:cubicBezTo>
                    <a:cubicBezTo>
                      <a:pt x="113" y="541"/>
                      <a:pt x="119" y="536"/>
                      <a:pt x="124" y="530"/>
                    </a:cubicBezTo>
                    <a:cubicBezTo>
                      <a:pt x="142" y="513"/>
                      <a:pt x="147" y="488"/>
                      <a:pt x="137" y="465"/>
                    </a:cubicBezTo>
                    <a:cubicBezTo>
                      <a:pt x="128" y="443"/>
                      <a:pt x="106" y="428"/>
                      <a:pt x="82" y="428"/>
                    </a:cubicBezTo>
                    <a:cubicBezTo>
                      <a:pt x="74" y="428"/>
                      <a:pt x="67" y="428"/>
                      <a:pt x="59" y="428"/>
                    </a:cubicBezTo>
                    <a:cubicBezTo>
                      <a:pt x="27" y="428"/>
                      <a:pt x="0" y="402"/>
                      <a:pt x="0" y="369"/>
                    </a:cubicBezTo>
                    <a:cubicBezTo>
                      <a:pt x="0" y="337"/>
                      <a:pt x="27" y="310"/>
                      <a:pt x="59" y="310"/>
                    </a:cubicBezTo>
                    <a:cubicBezTo>
                      <a:pt x="67" y="310"/>
                      <a:pt x="74" y="310"/>
                      <a:pt x="82" y="310"/>
                    </a:cubicBezTo>
                    <a:cubicBezTo>
                      <a:pt x="106" y="310"/>
                      <a:pt x="128" y="296"/>
                      <a:pt x="137" y="273"/>
                    </a:cubicBezTo>
                    <a:cubicBezTo>
                      <a:pt x="147" y="251"/>
                      <a:pt x="142" y="225"/>
                      <a:pt x="124" y="208"/>
                    </a:cubicBezTo>
                    <a:cubicBezTo>
                      <a:pt x="119" y="203"/>
                      <a:pt x="113" y="197"/>
                      <a:pt x="108" y="192"/>
                    </a:cubicBezTo>
                    <a:cubicBezTo>
                      <a:pt x="85" y="169"/>
                      <a:pt x="85" y="132"/>
                      <a:pt x="108" y="108"/>
                    </a:cubicBezTo>
                    <a:cubicBezTo>
                      <a:pt x="131" y="85"/>
                      <a:pt x="169" y="85"/>
                      <a:pt x="192" y="109"/>
                    </a:cubicBezTo>
                    <a:cubicBezTo>
                      <a:pt x="197" y="114"/>
                      <a:pt x="203" y="120"/>
                      <a:pt x="208" y="125"/>
                    </a:cubicBezTo>
                    <a:cubicBezTo>
                      <a:pt x="225" y="142"/>
                      <a:pt x="251" y="147"/>
                      <a:pt x="273" y="13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69" name="Freeform 235">
                <a:extLst>
                  <a:ext uri="{FF2B5EF4-FFF2-40B4-BE49-F238E27FC236}">
                    <a16:creationId xmlns:a16="http://schemas.microsoft.com/office/drawing/2014/main" id="{343F3EAD-579A-957D-E238-C68A18E35A50}"/>
                  </a:ext>
                </a:extLst>
              </p:cNvPr>
              <p:cNvSpPr>
                <a:spLocks noChangeArrowheads="1"/>
              </p:cNvSpPr>
              <p:nvPr/>
            </p:nvSpPr>
            <p:spPr bwMode="auto">
              <a:xfrm>
                <a:off x="1353343" y="5689601"/>
                <a:ext cx="73025" cy="73025"/>
              </a:xfrm>
              <a:custGeom>
                <a:avLst/>
                <a:gdLst>
                  <a:gd name="T0" fmla="*/ 202 w 203"/>
                  <a:gd name="T1" fmla="*/ 100 h 202"/>
                  <a:gd name="T2" fmla="*/ 188 w 203"/>
                  <a:gd name="T3" fmla="*/ 151 h 202"/>
                  <a:gd name="T4" fmla="*/ 151 w 203"/>
                  <a:gd name="T5" fmla="*/ 187 h 202"/>
                  <a:gd name="T6" fmla="*/ 101 w 203"/>
                  <a:gd name="T7" fmla="*/ 201 h 202"/>
                  <a:gd name="T8" fmla="*/ 51 w 203"/>
                  <a:gd name="T9" fmla="*/ 187 h 202"/>
                  <a:gd name="T10" fmla="*/ 14 w 203"/>
                  <a:gd name="T11" fmla="*/ 151 h 202"/>
                  <a:gd name="T12" fmla="*/ 0 w 203"/>
                  <a:gd name="T13" fmla="*/ 100 h 202"/>
                  <a:gd name="T14" fmla="*/ 14 w 203"/>
                  <a:gd name="T15" fmla="*/ 50 h 202"/>
                  <a:gd name="T16" fmla="*/ 51 w 203"/>
                  <a:gd name="T17" fmla="*/ 13 h 202"/>
                  <a:gd name="T18" fmla="*/ 101 w 203"/>
                  <a:gd name="T19" fmla="*/ 0 h 202"/>
                  <a:gd name="T20" fmla="*/ 151 w 203"/>
                  <a:gd name="T21" fmla="*/ 13 h 202"/>
                  <a:gd name="T22" fmla="*/ 188 w 203"/>
                  <a:gd name="T23" fmla="*/ 50 h 202"/>
                  <a:gd name="T24" fmla="*/ 202 w 203"/>
                  <a:gd name="T25" fmla="*/ 10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2">
                    <a:moveTo>
                      <a:pt x="202" y="100"/>
                    </a:moveTo>
                    <a:cubicBezTo>
                      <a:pt x="202" y="119"/>
                      <a:pt x="197" y="135"/>
                      <a:pt x="188" y="151"/>
                    </a:cubicBezTo>
                    <a:cubicBezTo>
                      <a:pt x="179" y="168"/>
                      <a:pt x="167" y="178"/>
                      <a:pt x="151" y="187"/>
                    </a:cubicBezTo>
                    <a:cubicBezTo>
                      <a:pt x="135" y="197"/>
                      <a:pt x="119" y="201"/>
                      <a:pt x="101" y="201"/>
                    </a:cubicBezTo>
                    <a:cubicBezTo>
                      <a:pt x="82" y="201"/>
                      <a:pt x="67" y="197"/>
                      <a:pt x="51" y="187"/>
                    </a:cubicBezTo>
                    <a:cubicBezTo>
                      <a:pt x="35" y="178"/>
                      <a:pt x="23" y="168"/>
                      <a:pt x="14" y="151"/>
                    </a:cubicBezTo>
                    <a:cubicBezTo>
                      <a:pt x="5" y="135"/>
                      <a:pt x="0" y="119"/>
                      <a:pt x="0" y="100"/>
                    </a:cubicBezTo>
                    <a:cubicBezTo>
                      <a:pt x="0" y="82"/>
                      <a:pt x="5" y="66"/>
                      <a:pt x="14" y="50"/>
                    </a:cubicBezTo>
                    <a:cubicBezTo>
                      <a:pt x="23" y="34"/>
                      <a:pt x="35" y="22"/>
                      <a:pt x="51" y="13"/>
                    </a:cubicBezTo>
                    <a:cubicBezTo>
                      <a:pt x="67" y="4"/>
                      <a:pt x="83" y="0"/>
                      <a:pt x="101" y="0"/>
                    </a:cubicBezTo>
                    <a:cubicBezTo>
                      <a:pt x="120" y="0"/>
                      <a:pt x="135" y="4"/>
                      <a:pt x="151" y="13"/>
                    </a:cubicBezTo>
                    <a:cubicBezTo>
                      <a:pt x="167" y="22"/>
                      <a:pt x="179" y="34"/>
                      <a:pt x="188" y="50"/>
                    </a:cubicBezTo>
                    <a:cubicBezTo>
                      <a:pt x="197" y="66"/>
                      <a:pt x="202" y="82"/>
                      <a:pt x="202" y="10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70" name="Freeform 237">
                <a:extLst>
                  <a:ext uri="{FF2B5EF4-FFF2-40B4-BE49-F238E27FC236}">
                    <a16:creationId xmlns:a16="http://schemas.microsoft.com/office/drawing/2014/main" id="{32751D7B-31A7-58A7-206A-9A7A39C2A0FE}"/>
                  </a:ext>
                </a:extLst>
              </p:cNvPr>
              <p:cNvSpPr>
                <a:spLocks noChangeArrowheads="1"/>
              </p:cNvSpPr>
              <p:nvPr/>
            </p:nvSpPr>
            <p:spPr bwMode="auto">
              <a:xfrm>
                <a:off x="1189831" y="5526088"/>
                <a:ext cx="398462" cy="398463"/>
              </a:xfrm>
              <a:custGeom>
                <a:avLst/>
                <a:gdLst>
                  <a:gd name="T0" fmla="*/ 1106 w 1107"/>
                  <a:gd name="T1" fmla="*/ 553 h 1107"/>
                  <a:gd name="T2" fmla="*/ 1032 w 1107"/>
                  <a:gd name="T3" fmla="*/ 830 h 1107"/>
                  <a:gd name="T4" fmla="*/ 830 w 1107"/>
                  <a:gd name="T5" fmla="*/ 1032 h 1107"/>
                  <a:gd name="T6" fmla="*/ 553 w 1107"/>
                  <a:gd name="T7" fmla="*/ 1106 h 1107"/>
                  <a:gd name="T8" fmla="*/ 277 w 1107"/>
                  <a:gd name="T9" fmla="*/ 1032 h 1107"/>
                  <a:gd name="T10" fmla="*/ 74 w 1107"/>
                  <a:gd name="T11" fmla="*/ 830 h 1107"/>
                  <a:gd name="T12" fmla="*/ 0 w 1107"/>
                  <a:gd name="T13" fmla="*/ 553 h 1107"/>
                  <a:gd name="T14" fmla="*/ 74 w 1107"/>
                  <a:gd name="T15" fmla="*/ 277 h 1107"/>
                  <a:gd name="T16" fmla="*/ 277 w 1107"/>
                  <a:gd name="T17" fmla="*/ 74 h 1107"/>
                  <a:gd name="T18" fmla="*/ 553 w 1107"/>
                  <a:gd name="T19" fmla="*/ 0 h 1107"/>
                  <a:gd name="T20" fmla="*/ 830 w 1107"/>
                  <a:gd name="T21" fmla="*/ 74 h 1107"/>
                  <a:gd name="T22" fmla="*/ 1032 w 1107"/>
                  <a:gd name="T23" fmla="*/ 277 h 1107"/>
                  <a:gd name="T24" fmla="*/ 1106 w 1107"/>
                  <a:gd name="T25" fmla="*/ 553 h 1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7" h="1107">
                    <a:moveTo>
                      <a:pt x="1106" y="553"/>
                    </a:moveTo>
                    <a:cubicBezTo>
                      <a:pt x="1106" y="655"/>
                      <a:pt x="1083" y="742"/>
                      <a:pt x="1032" y="830"/>
                    </a:cubicBezTo>
                    <a:cubicBezTo>
                      <a:pt x="981" y="918"/>
                      <a:pt x="918" y="981"/>
                      <a:pt x="830" y="1032"/>
                    </a:cubicBezTo>
                    <a:cubicBezTo>
                      <a:pt x="741" y="1083"/>
                      <a:pt x="655" y="1106"/>
                      <a:pt x="553" y="1106"/>
                    </a:cubicBezTo>
                    <a:cubicBezTo>
                      <a:pt x="451" y="1106"/>
                      <a:pt x="365" y="1083"/>
                      <a:pt x="277" y="1032"/>
                    </a:cubicBezTo>
                    <a:cubicBezTo>
                      <a:pt x="188" y="981"/>
                      <a:pt x="125" y="918"/>
                      <a:pt x="74" y="830"/>
                    </a:cubicBezTo>
                    <a:cubicBezTo>
                      <a:pt x="23" y="742"/>
                      <a:pt x="0" y="655"/>
                      <a:pt x="0" y="553"/>
                    </a:cubicBezTo>
                    <a:cubicBezTo>
                      <a:pt x="0" y="451"/>
                      <a:pt x="23" y="366"/>
                      <a:pt x="74" y="277"/>
                    </a:cubicBezTo>
                    <a:cubicBezTo>
                      <a:pt x="125" y="189"/>
                      <a:pt x="188" y="125"/>
                      <a:pt x="277" y="74"/>
                    </a:cubicBezTo>
                    <a:cubicBezTo>
                      <a:pt x="365" y="23"/>
                      <a:pt x="451" y="0"/>
                      <a:pt x="553" y="0"/>
                    </a:cubicBezTo>
                    <a:cubicBezTo>
                      <a:pt x="655" y="0"/>
                      <a:pt x="741" y="23"/>
                      <a:pt x="830" y="74"/>
                    </a:cubicBezTo>
                    <a:cubicBezTo>
                      <a:pt x="918" y="125"/>
                      <a:pt x="981" y="189"/>
                      <a:pt x="1032" y="277"/>
                    </a:cubicBezTo>
                    <a:cubicBezTo>
                      <a:pt x="1083" y="366"/>
                      <a:pt x="1106" y="451"/>
                      <a:pt x="1106" y="553"/>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71" name="Freeform 238">
                <a:extLst>
                  <a:ext uri="{FF2B5EF4-FFF2-40B4-BE49-F238E27FC236}">
                    <a16:creationId xmlns:a16="http://schemas.microsoft.com/office/drawing/2014/main" id="{0F728B04-61AC-30D9-851A-DF26D88AD1CA}"/>
                  </a:ext>
                </a:extLst>
              </p:cNvPr>
              <p:cNvSpPr>
                <a:spLocks noChangeArrowheads="1"/>
              </p:cNvSpPr>
              <p:nvPr/>
            </p:nvSpPr>
            <p:spPr bwMode="auto">
              <a:xfrm>
                <a:off x="1124743" y="5461001"/>
                <a:ext cx="619125" cy="619125"/>
              </a:xfrm>
              <a:custGeom>
                <a:avLst/>
                <a:gdLst>
                  <a:gd name="T0" fmla="*/ 1718 w 1719"/>
                  <a:gd name="T1" fmla="*/ 1624 h 1720"/>
                  <a:gd name="T2" fmla="*/ 1275 w 1719"/>
                  <a:gd name="T3" fmla="*/ 1181 h 1720"/>
                  <a:gd name="T4" fmla="*/ 1272 w 1719"/>
                  <a:gd name="T5" fmla="*/ 1137 h 1720"/>
                  <a:gd name="T6" fmla="*/ 1209 w 1719"/>
                  <a:gd name="T7" fmla="*/ 261 h 1720"/>
                  <a:gd name="T8" fmla="*/ 261 w 1719"/>
                  <a:gd name="T9" fmla="*/ 261 h 1720"/>
                  <a:gd name="T10" fmla="*/ 261 w 1719"/>
                  <a:gd name="T11" fmla="*/ 1209 h 1720"/>
                  <a:gd name="T12" fmla="*/ 1136 w 1719"/>
                  <a:gd name="T13" fmla="*/ 1272 h 1720"/>
                  <a:gd name="T14" fmla="*/ 1180 w 1719"/>
                  <a:gd name="T15" fmla="*/ 1275 h 1720"/>
                  <a:gd name="T16" fmla="*/ 1623 w 1719"/>
                  <a:gd name="T17" fmla="*/ 1719 h 1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9" h="1720">
                    <a:moveTo>
                      <a:pt x="1718" y="1624"/>
                    </a:moveTo>
                    <a:cubicBezTo>
                      <a:pt x="1570" y="1476"/>
                      <a:pt x="1423" y="1329"/>
                      <a:pt x="1275" y="1181"/>
                    </a:cubicBezTo>
                    <a:cubicBezTo>
                      <a:pt x="1263" y="1169"/>
                      <a:pt x="1262" y="1150"/>
                      <a:pt x="1272" y="1137"/>
                    </a:cubicBezTo>
                    <a:cubicBezTo>
                      <a:pt x="1468" y="874"/>
                      <a:pt x="1447" y="500"/>
                      <a:pt x="1209" y="261"/>
                    </a:cubicBezTo>
                    <a:cubicBezTo>
                      <a:pt x="948" y="0"/>
                      <a:pt x="522" y="0"/>
                      <a:pt x="261" y="261"/>
                    </a:cubicBezTo>
                    <a:cubicBezTo>
                      <a:pt x="0" y="523"/>
                      <a:pt x="0" y="948"/>
                      <a:pt x="261" y="1209"/>
                    </a:cubicBezTo>
                    <a:cubicBezTo>
                      <a:pt x="499" y="1448"/>
                      <a:pt x="874" y="1469"/>
                      <a:pt x="1136" y="1272"/>
                    </a:cubicBezTo>
                    <a:cubicBezTo>
                      <a:pt x="1150" y="1262"/>
                      <a:pt x="1168" y="1264"/>
                      <a:pt x="1180" y="1275"/>
                    </a:cubicBezTo>
                    <a:cubicBezTo>
                      <a:pt x="1328" y="1423"/>
                      <a:pt x="1475" y="1571"/>
                      <a:pt x="1623" y="171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sp>
          <p:nvSpPr>
            <p:cNvPr id="66" name="Freeform 236">
              <a:extLst>
                <a:ext uri="{FF2B5EF4-FFF2-40B4-BE49-F238E27FC236}">
                  <a16:creationId xmlns:a16="http://schemas.microsoft.com/office/drawing/2014/main" id="{6D3D9136-C647-F3D2-D637-50335F39843F}"/>
                </a:ext>
              </a:extLst>
            </p:cNvPr>
            <p:cNvSpPr>
              <a:spLocks noChangeArrowheads="1"/>
            </p:cNvSpPr>
            <p:nvPr/>
          </p:nvSpPr>
          <p:spPr bwMode="auto">
            <a:xfrm>
              <a:off x="1015206" y="5351463"/>
              <a:ext cx="747712" cy="747713"/>
            </a:xfrm>
            <a:custGeom>
              <a:avLst/>
              <a:gdLst>
                <a:gd name="T0" fmla="*/ 1743 w 2079"/>
                <a:gd name="T1" fmla="*/ 2078 h 2079"/>
                <a:gd name="T2" fmla="*/ 2078 w 2079"/>
                <a:gd name="T3" fmla="*/ 1743 h 2079"/>
                <a:gd name="T4" fmla="*/ 2078 w 2079"/>
                <a:gd name="T5" fmla="*/ 335 h 2079"/>
                <a:gd name="T6" fmla="*/ 1743 w 2079"/>
                <a:gd name="T7" fmla="*/ 0 h 2079"/>
                <a:gd name="T8" fmla="*/ 335 w 2079"/>
                <a:gd name="T9" fmla="*/ 0 h 2079"/>
                <a:gd name="T10" fmla="*/ 0 w 2079"/>
                <a:gd name="T11" fmla="*/ 335 h 2079"/>
                <a:gd name="T12" fmla="*/ 0 w 2079"/>
                <a:gd name="T13" fmla="*/ 1743 h 2079"/>
                <a:gd name="T14" fmla="*/ 335 w 2079"/>
                <a:gd name="T15" fmla="*/ 2078 h 2079"/>
                <a:gd name="T16" fmla="*/ 1743 w 2079"/>
                <a:gd name="T17" fmla="*/ 2078 h 2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9" h="2079">
                  <a:moveTo>
                    <a:pt x="1743" y="2078"/>
                  </a:moveTo>
                  <a:cubicBezTo>
                    <a:pt x="1927" y="2078"/>
                    <a:pt x="2078" y="1928"/>
                    <a:pt x="2078" y="1743"/>
                  </a:cubicBezTo>
                  <a:cubicBezTo>
                    <a:pt x="2078" y="1274"/>
                    <a:pt x="2078" y="804"/>
                    <a:pt x="2078" y="335"/>
                  </a:cubicBezTo>
                  <a:cubicBezTo>
                    <a:pt x="2078" y="151"/>
                    <a:pt x="1927" y="0"/>
                    <a:pt x="1743" y="0"/>
                  </a:cubicBezTo>
                  <a:cubicBezTo>
                    <a:pt x="1274" y="0"/>
                    <a:pt x="804" y="0"/>
                    <a:pt x="335" y="0"/>
                  </a:cubicBezTo>
                  <a:cubicBezTo>
                    <a:pt x="151" y="0"/>
                    <a:pt x="0" y="151"/>
                    <a:pt x="0" y="335"/>
                  </a:cubicBezTo>
                  <a:cubicBezTo>
                    <a:pt x="0" y="804"/>
                    <a:pt x="0" y="1274"/>
                    <a:pt x="0" y="1743"/>
                  </a:cubicBezTo>
                  <a:cubicBezTo>
                    <a:pt x="0" y="1928"/>
                    <a:pt x="151" y="2078"/>
                    <a:pt x="335" y="2078"/>
                  </a:cubicBezTo>
                  <a:cubicBezTo>
                    <a:pt x="804" y="2078"/>
                    <a:pt x="1274" y="2078"/>
                    <a:pt x="1743" y="207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nvGrpSpPr>
          <p:cNvPr id="86" name="Group 85">
            <a:extLst>
              <a:ext uri="{FF2B5EF4-FFF2-40B4-BE49-F238E27FC236}">
                <a16:creationId xmlns:a16="http://schemas.microsoft.com/office/drawing/2014/main" id="{FEA0CA55-1FDD-959D-CCEE-F54602482DBE}"/>
              </a:ext>
            </a:extLst>
          </p:cNvPr>
          <p:cNvGrpSpPr>
            <a:grpSpLocks noChangeAspect="1"/>
          </p:cNvGrpSpPr>
          <p:nvPr/>
        </p:nvGrpSpPr>
        <p:grpSpPr>
          <a:xfrm>
            <a:off x="8247652" y="8678575"/>
            <a:ext cx="1142796" cy="1142798"/>
            <a:chOff x="787528" y="3801238"/>
            <a:chExt cx="781901" cy="781903"/>
          </a:xfrm>
        </p:grpSpPr>
        <p:grpSp>
          <p:nvGrpSpPr>
            <p:cNvPr id="88" name="Group 87">
              <a:extLst>
                <a:ext uri="{FF2B5EF4-FFF2-40B4-BE49-F238E27FC236}">
                  <a16:creationId xmlns:a16="http://schemas.microsoft.com/office/drawing/2014/main" id="{506D282A-0D2D-C503-708D-92ED56B9AEAA}"/>
                </a:ext>
              </a:extLst>
            </p:cNvPr>
            <p:cNvGrpSpPr/>
            <p:nvPr/>
          </p:nvGrpSpPr>
          <p:grpSpPr>
            <a:xfrm>
              <a:off x="931303" y="3958803"/>
              <a:ext cx="496320" cy="624338"/>
              <a:chOff x="931303" y="3958803"/>
              <a:chExt cx="496320" cy="624338"/>
            </a:xfrm>
          </p:grpSpPr>
          <p:sp>
            <p:nvSpPr>
              <p:cNvPr id="89" name="Freeform 203">
                <a:extLst>
                  <a:ext uri="{FF2B5EF4-FFF2-40B4-BE49-F238E27FC236}">
                    <a16:creationId xmlns:a16="http://schemas.microsoft.com/office/drawing/2014/main" id="{27AFE177-B40F-2082-501B-6D7D809C58F4}"/>
                  </a:ext>
                </a:extLst>
              </p:cNvPr>
              <p:cNvSpPr>
                <a:spLocks noChangeArrowheads="1"/>
              </p:cNvSpPr>
              <p:nvPr/>
            </p:nvSpPr>
            <p:spPr bwMode="auto">
              <a:xfrm>
                <a:off x="1041596" y="4482696"/>
                <a:ext cx="275733" cy="100445"/>
              </a:xfrm>
              <a:custGeom>
                <a:avLst/>
                <a:gdLst>
                  <a:gd name="T0" fmla="*/ 616 w 617"/>
                  <a:gd name="T1" fmla="*/ 226 h 227"/>
                  <a:gd name="T2" fmla="*/ 308 w 617"/>
                  <a:gd name="T3" fmla="*/ 0 h 227"/>
                  <a:gd name="T4" fmla="*/ 0 w 617"/>
                  <a:gd name="T5" fmla="*/ 226 h 227"/>
                </a:gdLst>
                <a:ahLst/>
                <a:cxnLst>
                  <a:cxn ang="0">
                    <a:pos x="T0" y="T1"/>
                  </a:cxn>
                  <a:cxn ang="0">
                    <a:pos x="T2" y="T3"/>
                  </a:cxn>
                  <a:cxn ang="0">
                    <a:pos x="T4" y="T5"/>
                  </a:cxn>
                </a:cxnLst>
                <a:rect l="0" t="0" r="r" b="b"/>
                <a:pathLst>
                  <a:path w="617" h="227">
                    <a:moveTo>
                      <a:pt x="616" y="226"/>
                    </a:moveTo>
                    <a:cubicBezTo>
                      <a:pt x="575" y="95"/>
                      <a:pt x="452" y="0"/>
                      <a:pt x="308" y="0"/>
                    </a:cubicBezTo>
                    <a:cubicBezTo>
                      <a:pt x="164" y="0"/>
                      <a:pt x="41" y="95"/>
                      <a:pt x="0" y="22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90" name="Freeform 204">
                <a:extLst>
                  <a:ext uri="{FF2B5EF4-FFF2-40B4-BE49-F238E27FC236}">
                    <a16:creationId xmlns:a16="http://schemas.microsoft.com/office/drawing/2014/main" id="{2F2B77A3-5831-AAEE-6EF4-97CBD09D7333}"/>
                  </a:ext>
                </a:extLst>
              </p:cNvPr>
              <p:cNvSpPr>
                <a:spLocks noChangeArrowheads="1"/>
              </p:cNvSpPr>
              <p:nvPr/>
            </p:nvSpPr>
            <p:spPr bwMode="auto">
              <a:xfrm>
                <a:off x="1153860" y="3958803"/>
                <a:ext cx="51208" cy="523894"/>
              </a:xfrm>
              <a:custGeom>
                <a:avLst/>
                <a:gdLst>
                  <a:gd name="T0" fmla="*/ 0 w 114"/>
                  <a:gd name="T1" fmla="*/ 1171 h 1172"/>
                  <a:gd name="T2" fmla="*/ 0 w 114"/>
                  <a:gd name="T3" fmla="*/ 56 h 1172"/>
                  <a:gd name="T4" fmla="*/ 56 w 114"/>
                  <a:gd name="T5" fmla="*/ 0 h 1172"/>
                  <a:gd name="T6" fmla="*/ 113 w 114"/>
                  <a:gd name="T7" fmla="*/ 56 h 1172"/>
                  <a:gd name="T8" fmla="*/ 113 w 114"/>
                  <a:gd name="T9" fmla="*/ 1171 h 1172"/>
                </a:gdLst>
                <a:ahLst/>
                <a:cxnLst>
                  <a:cxn ang="0">
                    <a:pos x="T0" y="T1"/>
                  </a:cxn>
                  <a:cxn ang="0">
                    <a:pos x="T2" y="T3"/>
                  </a:cxn>
                  <a:cxn ang="0">
                    <a:pos x="T4" y="T5"/>
                  </a:cxn>
                  <a:cxn ang="0">
                    <a:pos x="T6" y="T7"/>
                  </a:cxn>
                  <a:cxn ang="0">
                    <a:pos x="T8" y="T9"/>
                  </a:cxn>
                </a:cxnLst>
                <a:rect l="0" t="0" r="r" b="b"/>
                <a:pathLst>
                  <a:path w="114" h="1172">
                    <a:moveTo>
                      <a:pt x="0" y="1171"/>
                    </a:moveTo>
                    <a:cubicBezTo>
                      <a:pt x="0" y="800"/>
                      <a:pt x="0" y="428"/>
                      <a:pt x="0" y="56"/>
                    </a:cubicBezTo>
                    <a:cubicBezTo>
                      <a:pt x="0" y="25"/>
                      <a:pt x="25" y="0"/>
                      <a:pt x="56" y="0"/>
                    </a:cubicBezTo>
                    <a:cubicBezTo>
                      <a:pt x="87" y="0"/>
                      <a:pt x="113" y="25"/>
                      <a:pt x="113" y="56"/>
                    </a:cubicBezTo>
                    <a:cubicBezTo>
                      <a:pt x="113" y="428"/>
                      <a:pt x="113" y="800"/>
                      <a:pt x="113" y="11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91" name="Freeform 205">
                <a:extLst>
                  <a:ext uri="{FF2B5EF4-FFF2-40B4-BE49-F238E27FC236}">
                    <a16:creationId xmlns:a16="http://schemas.microsoft.com/office/drawing/2014/main" id="{00B9BF94-0448-7E80-900E-72B564FB62E1}"/>
                  </a:ext>
                </a:extLst>
              </p:cNvPr>
              <p:cNvSpPr>
                <a:spLocks noChangeArrowheads="1"/>
              </p:cNvSpPr>
              <p:nvPr/>
            </p:nvSpPr>
            <p:spPr bwMode="auto">
              <a:xfrm>
                <a:off x="1205067" y="4010010"/>
                <a:ext cx="222556" cy="88628"/>
              </a:xfrm>
              <a:custGeom>
                <a:avLst/>
                <a:gdLst>
                  <a:gd name="T0" fmla="*/ 0 w 499"/>
                  <a:gd name="T1" fmla="*/ 197 h 198"/>
                  <a:gd name="T2" fmla="*/ 361 w 499"/>
                  <a:gd name="T3" fmla="*/ 197 h 198"/>
                  <a:gd name="T4" fmla="*/ 411 w 499"/>
                  <a:gd name="T5" fmla="*/ 179 h 198"/>
                  <a:gd name="T6" fmla="*/ 486 w 499"/>
                  <a:gd name="T7" fmla="*/ 117 h 198"/>
                  <a:gd name="T8" fmla="*/ 486 w 499"/>
                  <a:gd name="T9" fmla="*/ 81 h 198"/>
                  <a:gd name="T10" fmla="*/ 411 w 499"/>
                  <a:gd name="T11" fmla="*/ 18 h 198"/>
                  <a:gd name="T12" fmla="*/ 361 w 499"/>
                  <a:gd name="T13" fmla="*/ 0 h 198"/>
                  <a:gd name="T14" fmla="*/ 0 w 499"/>
                  <a:gd name="T15" fmla="*/ 0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9" h="198">
                    <a:moveTo>
                      <a:pt x="0" y="197"/>
                    </a:moveTo>
                    <a:cubicBezTo>
                      <a:pt x="120" y="197"/>
                      <a:pt x="241" y="197"/>
                      <a:pt x="361" y="197"/>
                    </a:cubicBezTo>
                    <a:cubicBezTo>
                      <a:pt x="376" y="197"/>
                      <a:pt x="399" y="189"/>
                      <a:pt x="411" y="179"/>
                    </a:cubicBezTo>
                    <a:cubicBezTo>
                      <a:pt x="436" y="159"/>
                      <a:pt x="461" y="138"/>
                      <a:pt x="486" y="117"/>
                    </a:cubicBezTo>
                    <a:cubicBezTo>
                      <a:pt x="498" y="107"/>
                      <a:pt x="498" y="91"/>
                      <a:pt x="486" y="81"/>
                    </a:cubicBezTo>
                    <a:cubicBezTo>
                      <a:pt x="461" y="60"/>
                      <a:pt x="436" y="39"/>
                      <a:pt x="411" y="18"/>
                    </a:cubicBezTo>
                    <a:cubicBezTo>
                      <a:pt x="399" y="8"/>
                      <a:pt x="376" y="0"/>
                      <a:pt x="361" y="0"/>
                    </a:cubicBezTo>
                    <a:cubicBezTo>
                      <a:pt x="241" y="0"/>
                      <a:pt x="120"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92" name="Freeform 206">
                <a:extLst>
                  <a:ext uri="{FF2B5EF4-FFF2-40B4-BE49-F238E27FC236}">
                    <a16:creationId xmlns:a16="http://schemas.microsoft.com/office/drawing/2014/main" id="{DAD0A7B7-2836-C800-D389-74DD14CCCF72}"/>
                  </a:ext>
                </a:extLst>
              </p:cNvPr>
              <p:cNvSpPr>
                <a:spLocks noChangeArrowheads="1"/>
              </p:cNvSpPr>
              <p:nvPr/>
            </p:nvSpPr>
            <p:spPr bwMode="auto">
              <a:xfrm>
                <a:off x="931303" y="4096669"/>
                <a:ext cx="222557" cy="88628"/>
              </a:xfrm>
              <a:custGeom>
                <a:avLst/>
                <a:gdLst>
                  <a:gd name="T0" fmla="*/ 499 w 500"/>
                  <a:gd name="T1" fmla="*/ 198 h 199"/>
                  <a:gd name="T2" fmla="*/ 137 w 500"/>
                  <a:gd name="T3" fmla="*/ 198 h 199"/>
                  <a:gd name="T4" fmla="*/ 87 w 500"/>
                  <a:gd name="T5" fmla="*/ 180 h 199"/>
                  <a:gd name="T6" fmla="*/ 12 w 500"/>
                  <a:gd name="T7" fmla="*/ 117 h 199"/>
                  <a:gd name="T8" fmla="*/ 12 w 500"/>
                  <a:gd name="T9" fmla="*/ 81 h 199"/>
                  <a:gd name="T10" fmla="*/ 87 w 500"/>
                  <a:gd name="T11" fmla="*/ 19 h 199"/>
                  <a:gd name="T12" fmla="*/ 137 w 500"/>
                  <a:gd name="T13" fmla="*/ 0 h 199"/>
                  <a:gd name="T14" fmla="*/ 499 w 500"/>
                  <a:gd name="T15" fmla="*/ 0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0" h="199">
                    <a:moveTo>
                      <a:pt x="499" y="198"/>
                    </a:moveTo>
                    <a:cubicBezTo>
                      <a:pt x="378" y="198"/>
                      <a:pt x="258" y="198"/>
                      <a:pt x="137" y="198"/>
                    </a:cubicBezTo>
                    <a:cubicBezTo>
                      <a:pt x="122" y="198"/>
                      <a:pt x="99" y="190"/>
                      <a:pt x="87" y="180"/>
                    </a:cubicBezTo>
                    <a:cubicBezTo>
                      <a:pt x="62" y="159"/>
                      <a:pt x="37" y="138"/>
                      <a:pt x="12" y="117"/>
                    </a:cubicBezTo>
                    <a:cubicBezTo>
                      <a:pt x="0" y="107"/>
                      <a:pt x="0" y="91"/>
                      <a:pt x="12" y="81"/>
                    </a:cubicBezTo>
                    <a:cubicBezTo>
                      <a:pt x="37" y="61"/>
                      <a:pt x="62" y="40"/>
                      <a:pt x="87" y="19"/>
                    </a:cubicBezTo>
                    <a:cubicBezTo>
                      <a:pt x="99" y="9"/>
                      <a:pt x="122" y="0"/>
                      <a:pt x="137" y="0"/>
                    </a:cubicBezTo>
                    <a:cubicBezTo>
                      <a:pt x="258" y="0"/>
                      <a:pt x="378" y="0"/>
                      <a:pt x="499"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93" name="Freeform 207">
                <a:extLst>
                  <a:ext uri="{FF2B5EF4-FFF2-40B4-BE49-F238E27FC236}">
                    <a16:creationId xmlns:a16="http://schemas.microsoft.com/office/drawing/2014/main" id="{3DC04746-C4F7-0342-D673-F29F0556E286}"/>
                  </a:ext>
                </a:extLst>
              </p:cNvPr>
              <p:cNvSpPr>
                <a:spLocks noChangeArrowheads="1"/>
              </p:cNvSpPr>
              <p:nvPr/>
            </p:nvSpPr>
            <p:spPr bwMode="auto">
              <a:xfrm>
                <a:off x="1205067" y="4185297"/>
                <a:ext cx="222556" cy="88629"/>
              </a:xfrm>
              <a:custGeom>
                <a:avLst/>
                <a:gdLst>
                  <a:gd name="T0" fmla="*/ 0 w 499"/>
                  <a:gd name="T1" fmla="*/ 198 h 199"/>
                  <a:gd name="T2" fmla="*/ 361 w 499"/>
                  <a:gd name="T3" fmla="*/ 198 h 199"/>
                  <a:gd name="T4" fmla="*/ 411 w 499"/>
                  <a:gd name="T5" fmla="*/ 179 h 199"/>
                  <a:gd name="T6" fmla="*/ 486 w 499"/>
                  <a:gd name="T7" fmla="*/ 117 h 199"/>
                  <a:gd name="T8" fmla="*/ 486 w 499"/>
                  <a:gd name="T9" fmla="*/ 81 h 199"/>
                  <a:gd name="T10" fmla="*/ 411 w 499"/>
                  <a:gd name="T11" fmla="*/ 18 h 199"/>
                  <a:gd name="T12" fmla="*/ 361 w 499"/>
                  <a:gd name="T13" fmla="*/ 0 h 199"/>
                  <a:gd name="T14" fmla="*/ 0 w 499"/>
                  <a:gd name="T15" fmla="*/ 0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9" h="199">
                    <a:moveTo>
                      <a:pt x="0" y="198"/>
                    </a:moveTo>
                    <a:cubicBezTo>
                      <a:pt x="120" y="198"/>
                      <a:pt x="241" y="198"/>
                      <a:pt x="361" y="198"/>
                    </a:cubicBezTo>
                    <a:cubicBezTo>
                      <a:pt x="376" y="198"/>
                      <a:pt x="399" y="189"/>
                      <a:pt x="411" y="179"/>
                    </a:cubicBezTo>
                    <a:cubicBezTo>
                      <a:pt x="436" y="159"/>
                      <a:pt x="461" y="138"/>
                      <a:pt x="486" y="117"/>
                    </a:cubicBezTo>
                    <a:cubicBezTo>
                      <a:pt x="498" y="107"/>
                      <a:pt x="498" y="91"/>
                      <a:pt x="486" y="81"/>
                    </a:cubicBezTo>
                    <a:cubicBezTo>
                      <a:pt x="461" y="60"/>
                      <a:pt x="436" y="39"/>
                      <a:pt x="411" y="18"/>
                    </a:cubicBezTo>
                    <a:cubicBezTo>
                      <a:pt x="399" y="8"/>
                      <a:pt x="376" y="0"/>
                      <a:pt x="361" y="0"/>
                    </a:cubicBezTo>
                    <a:cubicBezTo>
                      <a:pt x="241" y="0"/>
                      <a:pt x="120"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sp>
          <p:nvSpPr>
            <p:cNvPr id="87" name="Freeform 202">
              <a:extLst>
                <a:ext uri="{FF2B5EF4-FFF2-40B4-BE49-F238E27FC236}">
                  <a16:creationId xmlns:a16="http://schemas.microsoft.com/office/drawing/2014/main" id="{24A5593F-E3A9-44F1-50DC-BE37F92A4C6A}"/>
                </a:ext>
              </a:extLst>
            </p:cNvPr>
            <p:cNvSpPr>
              <a:spLocks noChangeArrowheads="1"/>
            </p:cNvSpPr>
            <p:nvPr/>
          </p:nvSpPr>
          <p:spPr bwMode="auto">
            <a:xfrm>
              <a:off x="787528" y="3801241"/>
              <a:ext cx="781901" cy="781901"/>
            </a:xfrm>
            <a:custGeom>
              <a:avLst/>
              <a:gdLst>
                <a:gd name="T0" fmla="*/ 1468 w 1751"/>
                <a:gd name="T1" fmla="*/ 1750 h 1751"/>
                <a:gd name="T2" fmla="*/ 1750 w 1751"/>
                <a:gd name="T3" fmla="*/ 1468 h 1751"/>
                <a:gd name="T4" fmla="*/ 1750 w 1751"/>
                <a:gd name="T5" fmla="*/ 282 h 1751"/>
                <a:gd name="T6" fmla="*/ 1468 w 1751"/>
                <a:gd name="T7" fmla="*/ 0 h 1751"/>
                <a:gd name="T8" fmla="*/ 282 w 1751"/>
                <a:gd name="T9" fmla="*/ 0 h 1751"/>
                <a:gd name="T10" fmla="*/ 0 w 1751"/>
                <a:gd name="T11" fmla="*/ 282 h 1751"/>
                <a:gd name="T12" fmla="*/ 0 w 1751"/>
                <a:gd name="T13" fmla="*/ 1468 h 1751"/>
                <a:gd name="T14" fmla="*/ 282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8"/>
                  </a:cubicBezTo>
                  <a:cubicBezTo>
                    <a:pt x="1750" y="1073"/>
                    <a:pt x="1750" y="678"/>
                    <a:pt x="1750" y="282"/>
                  </a:cubicBezTo>
                  <a:cubicBezTo>
                    <a:pt x="1750" y="127"/>
                    <a:pt x="1623" y="0"/>
                    <a:pt x="1468" y="0"/>
                  </a:cubicBezTo>
                  <a:cubicBezTo>
                    <a:pt x="1073" y="0"/>
                    <a:pt x="677" y="0"/>
                    <a:pt x="282" y="0"/>
                  </a:cubicBezTo>
                  <a:cubicBezTo>
                    <a:pt x="127" y="0"/>
                    <a:pt x="0" y="127"/>
                    <a:pt x="0" y="282"/>
                  </a:cubicBezTo>
                  <a:cubicBezTo>
                    <a:pt x="0" y="678"/>
                    <a:pt x="0" y="1073"/>
                    <a:pt x="0" y="1468"/>
                  </a:cubicBezTo>
                  <a:cubicBezTo>
                    <a:pt x="0" y="1623"/>
                    <a:pt x="127" y="1750"/>
                    <a:pt x="282" y="1750"/>
                  </a:cubicBezTo>
                  <a:cubicBezTo>
                    <a:pt x="677" y="1750"/>
                    <a:pt x="1073" y="1750"/>
                    <a:pt x="1468"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nvGrpSpPr>
          <p:cNvPr id="94" name="Group 93">
            <a:extLst>
              <a:ext uri="{FF2B5EF4-FFF2-40B4-BE49-F238E27FC236}">
                <a16:creationId xmlns:a16="http://schemas.microsoft.com/office/drawing/2014/main" id="{FEE3DAEE-02E6-281D-DB99-593D90647570}"/>
              </a:ext>
            </a:extLst>
          </p:cNvPr>
          <p:cNvGrpSpPr>
            <a:grpSpLocks noChangeAspect="1"/>
          </p:cNvGrpSpPr>
          <p:nvPr/>
        </p:nvGrpSpPr>
        <p:grpSpPr>
          <a:xfrm>
            <a:off x="11763046" y="8677883"/>
            <a:ext cx="1142796" cy="1142794"/>
            <a:chOff x="2755083" y="2166535"/>
            <a:chExt cx="781902" cy="781901"/>
          </a:xfrm>
        </p:grpSpPr>
        <p:grpSp>
          <p:nvGrpSpPr>
            <p:cNvPr id="96" name="Group 95">
              <a:extLst>
                <a:ext uri="{FF2B5EF4-FFF2-40B4-BE49-F238E27FC236}">
                  <a16:creationId xmlns:a16="http://schemas.microsoft.com/office/drawing/2014/main" id="{115CF835-93FC-B23A-4E16-C2E910C7E97D}"/>
                </a:ext>
              </a:extLst>
            </p:cNvPr>
            <p:cNvGrpSpPr/>
            <p:nvPr/>
          </p:nvGrpSpPr>
          <p:grpSpPr>
            <a:xfrm>
              <a:off x="2918554" y="2331975"/>
              <a:ext cx="454960" cy="454960"/>
              <a:chOff x="2918554" y="2331975"/>
              <a:chExt cx="454960" cy="454960"/>
            </a:xfrm>
          </p:grpSpPr>
          <p:sp>
            <p:nvSpPr>
              <p:cNvPr id="97" name="Freeform 109">
                <a:extLst>
                  <a:ext uri="{FF2B5EF4-FFF2-40B4-BE49-F238E27FC236}">
                    <a16:creationId xmlns:a16="http://schemas.microsoft.com/office/drawing/2014/main" id="{9BBA204A-536F-D539-DEFE-2FC1016AE1D7}"/>
                  </a:ext>
                </a:extLst>
              </p:cNvPr>
              <p:cNvSpPr>
                <a:spLocks noChangeArrowheads="1"/>
              </p:cNvSpPr>
              <p:nvPr/>
            </p:nvSpPr>
            <p:spPr bwMode="auto">
              <a:xfrm>
                <a:off x="3196256" y="2576196"/>
                <a:ext cx="51208" cy="51208"/>
              </a:xfrm>
              <a:custGeom>
                <a:avLst/>
                <a:gdLst>
                  <a:gd name="T0" fmla="*/ 112 w 113"/>
                  <a:gd name="T1" fmla="*/ 57 h 114"/>
                  <a:gd name="T2" fmla="*/ 56 w 113"/>
                  <a:gd name="T3" fmla="*/ 113 h 114"/>
                  <a:gd name="T4" fmla="*/ 0 w 113"/>
                  <a:gd name="T5" fmla="*/ 57 h 114"/>
                  <a:gd name="T6" fmla="*/ 56 w 113"/>
                  <a:gd name="T7" fmla="*/ 0 h 114"/>
                  <a:gd name="T8" fmla="*/ 112 w 113"/>
                  <a:gd name="T9" fmla="*/ 57 h 114"/>
                </a:gdLst>
                <a:ahLst/>
                <a:cxnLst>
                  <a:cxn ang="0">
                    <a:pos x="T0" y="T1"/>
                  </a:cxn>
                  <a:cxn ang="0">
                    <a:pos x="T2" y="T3"/>
                  </a:cxn>
                  <a:cxn ang="0">
                    <a:pos x="T4" y="T5"/>
                  </a:cxn>
                  <a:cxn ang="0">
                    <a:pos x="T6" y="T7"/>
                  </a:cxn>
                  <a:cxn ang="0">
                    <a:pos x="T8" y="T9"/>
                  </a:cxn>
                </a:cxnLst>
                <a:rect l="0" t="0" r="r" b="b"/>
                <a:pathLst>
                  <a:path w="113" h="114">
                    <a:moveTo>
                      <a:pt x="112" y="57"/>
                    </a:moveTo>
                    <a:cubicBezTo>
                      <a:pt x="112" y="88"/>
                      <a:pt x="87" y="113"/>
                      <a:pt x="56" y="113"/>
                    </a:cubicBezTo>
                    <a:cubicBezTo>
                      <a:pt x="25" y="113"/>
                      <a:pt x="0" y="88"/>
                      <a:pt x="0" y="57"/>
                    </a:cubicBezTo>
                    <a:cubicBezTo>
                      <a:pt x="0" y="26"/>
                      <a:pt x="25" y="0"/>
                      <a:pt x="56" y="0"/>
                    </a:cubicBezTo>
                    <a:cubicBezTo>
                      <a:pt x="87" y="0"/>
                      <a:pt x="112" y="26"/>
                      <a:pt x="112" y="5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98" name="Freeform 110">
                <a:extLst>
                  <a:ext uri="{FF2B5EF4-FFF2-40B4-BE49-F238E27FC236}">
                    <a16:creationId xmlns:a16="http://schemas.microsoft.com/office/drawing/2014/main" id="{B605F3D0-B6BA-BADE-ED14-DF1DF7F351AA}"/>
                  </a:ext>
                </a:extLst>
              </p:cNvPr>
              <p:cNvSpPr>
                <a:spLocks noChangeArrowheads="1"/>
              </p:cNvSpPr>
              <p:nvPr/>
            </p:nvSpPr>
            <p:spPr bwMode="auto">
              <a:xfrm>
                <a:off x="2961883" y="2458025"/>
                <a:ext cx="25603" cy="1969"/>
              </a:xfrm>
              <a:custGeom>
                <a:avLst/>
                <a:gdLst>
                  <a:gd name="T0" fmla="*/ 0 w 58"/>
                  <a:gd name="T1" fmla="*/ 0 h 1"/>
                  <a:gd name="T2" fmla="*/ 57 w 58"/>
                  <a:gd name="T3" fmla="*/ 0 h 1"/>
                </a:gdLst>
                <a:ahLst/>
                <a:cxnLst>
                  <a:cxn ang="0">
                    <a:pos x="T0" y="T1"/>
                  </a:cxn>
                  <a:cxn ang="0">
                    <a:pos x="T2" y="T3"/>
                  </a:cxn>
                </a:cxnLst>
                <a:rect l="0" t="0" r="r" b="b"/>
                <a:pathLst>
                  <a:path w="58" h="1">
                    <a:moveTo>
                      <a:pt x="0" y="0"/>
                    </a:moveTo>
                    <a:cubicBezTo>
                      <a:pt x="19" y="0"/>
                      <a:pt x="38" y="0"/>
                      <a:pt x="57"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99" name="Freeform 111">
                <a:extLst>
                  <a:ext uri="{FF2B5EF4-FFF2-40B4-BE49-F238E27FC236}">
                    <a16:creationId xmlns:a16="http://schemas.microsoft.com/office/drawing/2014/main" id="{1005A1FA-C818-32F4-093C-FBABCDE75DB8}"/>
                  </a:ext>
                </a:extLst>
              </p:cNvPr>
              <p:cNvSpPr>
                <a:spLocks noChangeArrowheads="1"/>
              </p:cNvSpPr>
              <p:nvPr/>
            </p:nvSpPr>
            <p:spPr bwMode="auto">
              <a:xfrm>
                <a:off x="3048543" y="2458025"/>
                <a:ext cx="25603" cy="1969"/>
              </a:xfrm>
              <a:custGeom>
                <a:avLst/>
                <a:gdLst>
                  <a:gd name="T0" fmla="*/ 0 w 57"/>
                  <a:gd name="T1" fmla="*/ 0 h 1"/>
                  <a:gd name="T2" fmla="*/ 56 w 57"/>
                  <a:gd name="T3" fmla="*/ 0 h 1"/>
                </a:gdLst>
                <a:ahLst/>
                <a:cxnLst>
                  <a:cxn ang="0">
                    <a:pos x="T0" y="T1"/>
                  </a:cxn>
                  <a:cxn ang="0">
                    <a:pos x="T2" y="T3"/>
                  </a:cxn>
                </a:cxnLst>
                <a:rect l="0" t="0" r="r" b="b"/>
                <a:pathLst>
                  <a:path w="57" h="1">
                    <a:moveTo>
                      <a:pt x="0" y="0"/>
                    </a:moveTo>
                    <a:cubicBezTo>
                      <a:pt x="18" y="0"/>
                      <a:pt x="37" y="0"/>
                      <a:pt x="56"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0" name="Freeform 112">
                <a:extLst>
                  <a:ext uri="{FF2B5EF4-FFF2-40B4-BE49-F238E27FC236}">
                    <a16:creationId xmlns:a16="http://schemas.microsoft.com/office/drawing/2014/main" id="{FD12E811-4ABF-0F65-AC84-91D53D70AAD0}"/>
                  </a:ext>
                </a:extLst>
              </p:cNvPr>
              <p:cNvSpPr>
                <a:spLocks noChangeArrowheads="1"/>
              </p:cNvSpPr>
              <p:nvPr/>
            </p:nvSpPr>
            <p:spPr bwMode="auto">
              <a:xfrm>
                <a:off x="3133231" y="2458025"/>
                <a:ext cx="25604" cy="1969"/>
              </a:xfrm>
              <a:custGeom>
                <a:avLst/>
                <a:gdLst>
                  <a:gd name="T0" fmla="*/ 0 w 58"/>
                  <a:gd name="T1" fmla="*/ 0 h 1"/>
                  <a:gd name="T2" fmla="*/ 57 w 58"/>
                  <a:gd name="T3" fmla="*/ 0 h 1"/>
                </a:gdLst>
                <a:ahLst/>
                <a:cxnLst>
                  <a:cxn ang="0">
                    <a:pos x="T0" y="T1"/>
                  </a:cxn>
                  <a:cxn ang="0">
                    <a:pos x="T2" y="T3"/>
                  </a:cxn>
                </a:cxnLst>
                <a:rect l="0" t="0" r="r" b="b"/>
                <a:pathLst>
                  <a:path w="58" h="1">
                    <a:moveTo>
                      <a:pt x="0" y="0"/>
                    </a:moveTo>
                    <a:cubicBezTo>
                      <a:pt x="19" y="0"/>
                      <a:pt x="38" y="0"/>
                      <a:pt x="57"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1" name="Freeform 113">
                <a:extLst>
                  <a:ext uri="{FF2B5EF4-FFF2-40B4-BE49-F238E27FC236}">
                    <a16:creationId xmlns:a16="http://schemas.microsoft.com/office/drawing/2014/main" id="{D7D5622A-EBE7-545F-6096-7A05D33E2512}"/>
                  </a:ext>
                </a:extLst>
              </p:cNvPr>
              <p:cNvSpPr>
                <a:spLocks noChangeArrowheads="1"/>
              </p:cNvSpPr>
              <p:nvPr/>
            </p:nvSpPr>
            <p:spPr bwMode="auto">
              <a:xfrm>
                <a:off x="3217922" y="2458025"/>
                <a:ext cx="25603" cy="1969"/>
              </a:xfrm>
              <a:custGeom>
                <a:avLst/>
                <a:gdLst>
                  <a:gd name="T0" fmla="*/ 0 w 57"/>
                  <a:gd name="T1" fmla="*/ 0 h 1"/>
                  <a:gd name="T2" fmla="*/ 56 w 57"/>
                  <a:gd name="T3" fmla="*/ 0 h 1"/>
                </a:gdLst>
                <a:ahLst/>
                <a:cxnLst>
                  <a:cxn ang="0">
                    <a:pos x="T0" y="T1"/>
                  </a:cxn>
                  <a:cxn ang="0">
                    <a:pos x="T2" y="T3"/>
                  </a:cxn>
                </a:cxnLst>
                <a:rect l="0" t="0" r="r" b="b"/>
                <a:pathLst>
                  <a:path w="57" h="1">
                    <a:moveTo>
                      <a:pt x="0" y="0"/>
                    </a:moveTo>
                    <a:cubicBezTo>
                      <a:pt x="18" y="0"/>
                      <a:pt x="37" y="0"/>
                      <a:pt x="56"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2" name="Freeform 114">
                <a:extLst>
                  <a:ext uri="{FF2B5EF4-FFF2-40B4-BE49-F238E27FC236}">
                    <a16:creationId xmlns:a16="http://schemas.microsoft.com/office/drawing/2014/main" id="{A55AAA71-96A9-2B52-60F9-024175B766AA}"/>
                  </a:ext>
                </a:extLst>
              </p:cNvPr>
              <p:cNvSpPr>
                <a:spLocks noChangeArrowheads="1"/>
              </p:cNvSpPr>
              <p:nvPr/>
            </p:nvSpPr>
            <p:spPr bwMode="auto">
              <a:xfrm>
                <a:off x="3302611" y="2458025"/>
                <a:ext cx="25604" cy="1969"/>
              </a:xfrm>
              <a:custGeom>
                <a:avLst/>
                <a:gdLst>
                  <a:gd name="T0" fmla="*/ 0 w 58"/>
                  <a:gd name="T1" fmla="*/ 0 h 1"/>
                  <a:gd name="T2" fmla="*/ 57 w 58"/>
                  <a:gd name="T3" fmla="*/ 0 h 1"/>
                </a:gdLst>
                <a:ahLst/>
                <a:cxnLst>
                  <a:cxn ang="0">
                    <a:pos x="T0" y="T1"/>
                  </a:cxn>
                  <a:cxn ang="0">
                    <a:pos x="T2" y="T3"/>
                  </a:cxn>
                </a:cxnLst>
                <a:rect l="0" t="0" r="r" b="b"/>
                <a:pathLst>
                  <a:path w="58" h="1">
                    <a:moveTo>
                      <a:pt x="0" y="0"/>
                    </a:moveTo>
                    <a:cubicBezTo>
                      <a:pt x="19" y="0"/>
                      <a:pt x="38" y="0"/>
                      <a:pt x="57"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3" name="Freeform 115">
                <a:extLst>
                  <a:ext uri="{FF2B5EF4-FFF2-40B4-BE49-F238E27FC236}">
                    <a16:creationId xmlns:a16="http://schemas.microsoft.com/office/drawing/2014/main" id="{50B1193A-F421-CE95-2E5D-90276CE75558}"/>
                  </a:ext>
                </a:extLst>
              </p:cNvPr>
              <p:cNvSpPr>
                <a:spLocks noChangeArrowheads="1"/>
              </p:cNvSpPr>
              <p:nvPr/>
            </p:nvSpPr>
            <p:spPr bwMode="auto">
              <a:xfrm>
                <a:off x="2961883" y="2747544"/>
                <a:ext cx="25603" cy="1970"/>
              </a:xfrm>
              <a:custGeom>
                <a:avLst/>
                <a:gdLst>
                  <a:gd name="T0" fmla="*/ 0 w 58"/>
                  <a:gd name="T1" fmla="*/ 0 h 1"/>
                  <a:gd name="T2" fmla="*/ 57 w 58"/>
                  <a:gd name="T3" fmla="*/ 0 h 1"/>
                </a:gdLst>
                <a:ahLst/>
                <a:cxnLst>
                  <a:cxn ang="0">
                    <a:pos x="T0" y="T1"/>
                  </a:cxn>
                  <a:cxn ang="0">
                    <a:pos x="T2" y="T3"/>
                  </a:cxn>
                </a:cxnLst>
                <a:rect l="0" t="0" r="r" b="b"/>
                <a:pathLst>
                  <a:path w="58" h="1">
                    <a:moveTo>
                      <a:pt x="0" y="0"/>
                    </a:moveTo>
                    <a:cubicBezTo>
                      <a:pt x="19" y="0"/>
                      <a:pt x="38" y="0"/>
                      <a:pt x="57"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4" name="Freeform 116">
                <a:extLst>
                  <a:ext uri="{FF2B5EF4-FFF2-40B4-BE49-F238E27FC236}">
                    <a16:creationId xmlns:a16="http://schemas.microsoft.com/office/drawing/2014/main" id="{5907A5D9-A89C-0DDB-60B2-B95A9DEEB4A9}"/>
                  </a:ext>
                </a:extLst>
              </p:cNvPr>
              <p:cNvSpPr>
                <a:spLocks noChangeArrowheads="1"/>
              </p:cNvSpPr>
              <p:nvPr/>
            </p:nvSpPr>
            <p:spPr bwMode="auto">
              <a:xfrm>
                <a:off x="3048543" y="2747544"/>
                <a:ext cx="25603" cy="1970"/>
              </a:xfrm>
              <a:custGeom>
                <a:avLst/>
                <a:gdLst>
                  <a:gd name="T0" fmla="*/ 0 w 57"/>
                  <a:gd name="T1" fmla="*/ 0 h 1"/>
                  <a:gd name="T2" fmla="*/ 56 w 57"/>
                  <a:gd name="T3" fmla="*/ 0 h 1"/>
                </a:gdLst>
                <a:ahLst/>
                <a:cxnLst>
                  <a:cxn ang="0">
                    <a:pos x="T0" y="T1"/>
                  </a:cxn>
                  <a:cxn ang="0">
                    <a:pos x="T2" y="T3"/>
                  </a:cxn>
                </a:cxnLst>
                <a:rect l="0" t="0" r="r" b="b"/>
                <a:pathLst>
                  <a:path w="57" h="1">
                    <a:moveTo>
                      <a:pt x="0" y="0"/>
                    </a:moveTo>
                    <a:cubicBezTo>
                      <a:pt x="18" y="0"/>
                      <a:pt x="37" y="0"/>
                      <a:pt x="56"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5" name="Freeform 117">
                <a:extLst>
                  <a:ext uri="{FF2B5EF4-FFF2-40B4-BE49-F238E27FC236}">
                    <a16:creationId xmlns:a16="http://schemas.microsoft.com/office/drawing/2014/main" id="{0DC1CE0B-D2B3-577E-C578-C4BD0EDD5927}"/>
                  </a:ext>
                </a:extLst>
              </p:cNvPr>
              <p:cNvSpPr>
                <a:spLocks noChangeArrowheads="1"/>
              </p:cNvSpPr>
              <p:nvPr/>
            </p:nvSpPr>
            <p:spPr bwMode="auto">
              <a:xfrm>
                <a:off x="3133231" y="2747544"/>
                <a:ext cx="25604" cy="1970"/>
              </a:xfrm>
              <a:custGeom>
                <a:avLst/>
                <a:gdLst>
                  <a:gd name="T0" fmla="*/ 0 w 58"/>
                  <a:gd name="T1" fmla="*/ 0 h 1"/>
                  <a:gd name="T2" fmla="*/ 57 w 58"/>
                  <a:gd name="T3" fmla="*/ 0 h 1"/>
                </a:gdLst>
                <a:ahLst/>
                <a:cxnLst>
                  <a:cxn ang="0">
                    <a:pos x="T0" y="T1"/>
                  </a:cxn>
                  <a:cxn ang="0">
                    <a:pos x="T2" y="T3"/>
                  </a:cxn>
                </a:cxnLst>
                <a:rect l="0" t="0" r="r" b="b"/>
                <a:pathLst>
                  <a:path w="58" h="1">
                    <a:moveTo>
                      <a:pt x="0" y="0"/>
                    </a:moveTo>
                    <a:cubicBezTo>
                      <a:pt x="19" y="0"/>
                      <a:pt x="38" y="0"/>
                      <a:pt x="57"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6" name="Freeform 118">
                <a:extLst>
                  <a:ext uri="{FF2B5EF4-FFF2-40B4-BE49-F238E27FC236}">
                    <a16:creationId xmlns:a16="http://schemas.microsoft.com/office/drawing/2014/main" id="{99F06FC7-A585-F46D-6F2E-046CBA40C113}"/>
                  </a:ext>
                </a:extLst>
              </p:cNvPr>
              <p:cNvSpPr>
                <a:spLocks noChangeArrowheads="1"/>
              </p:cNvSpPr>
              <p:nvPr/>
            </p:nvSpPr>
            <p:spPr bwMode="auto">
              <a:xfrm>
                <a:off x="3217922" y="2747544"/>
                <a:ext cx="25603" cy="1970"/>
              </a:xfrm>
              <a:custGeom>
                <a:avLst/>
                <a:gdLst>
                  <a:gd name="T0" fmla="*/ 0 w 57"/>
                  <a:gd name="T1" fmla="*/ 0 h 1"/>
                  <a:gd name="T2" fmla="*/ 56 w 57"/>
                  <a:gd name="T3" fmla="*/ 0 h 1"/>
                </a:gdLst>
                <a:ahLst/>
                <a:cxnLst>
                  <a:cxn ang="0">
                    <a:pos x="T0" y="T1"/>
                  </a:cxn>
                  <a:cxn ang="0">
                    <a:pos x="T2" y="T3"/>
                  </a:cxn>
                </a:cxnLst>
                <a:rect l="0" t="0" r="r" b="b"/>
                <a:pathLst>
                  <a:path w="57" h="1">
                    <a:moveTo>
                      <a:pt x="0" y="0"/>
                    </a:moveTo>
                    <a:cubicBezTo>
                      <a:pt x="18" y="0"/>
                      <a:pt x="37" y="0"/>
                      <a:pt x="56"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7" name="Freeform 119">
                <a:extLst>
                  <a:ext uri="{FF2B5EF4-FFF2-40B4-BE49-F238E27FC236}">
                    <a16:creationId xmlns:a16="http://schemas.microsoft.com/office/drawing/2014/main" id="{A2220594-AA65-F303-0CC1-2B23593F126B}"/>
                  </a:ext>
                </a:extLst>
              </p:cNvPr>
              <p:cNvSpPr>
                <a:spLocks noChangeArrowheads="1"/>
              </p:cNvSpPr>
              <p:nvPr/>
            </p:nvSpPr>
            <p:spPr bwMode="auto">
              <a:xfrm>
                <a:off x="3302611" y="2747544"/>
                <a:ext cx="25604" cy="1970"/>
              </a:xfrm>
              <a:custGeom>
                <a:avLst/>
                <a:gdLst>
                  <a:gd name="T0" fmla="*/ 0 w 58"/>
                  <a:gd name="T1" fmla="*/ 0 h 1"/>
                  <a:gd name="T2" fmla="*/ 57 w 58"/>
                  <a:gd name="T3" fmla="*/ 0 h 1"/>
                </a:gdLst>
                <a:ahLst/>
                <a:cxnLst>
                  <a:cxn ang="0">
                    <a:pos x="T0" y="T1"/>
                  </a:cxn>
                  <a:cxn ang="0">
                    <a:pos x="T2" y="T3"/>
                  </a:cxn>
                </a:cxnLst>
                <a:rect l="0" t="0" r="r" b="b"/>
                <a:pathLst>
                  <a:path w="58" h="1">
                    <a:moveTo>
                      <a:pt x="0" y="0"/>
                    </a:moveTo>
                    <a:cubicBezTo>
                      <a:pt x="19" y="0"/>
                      <a:pt x="38" y="0"/>
                      <a:pt x="57"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8" name="Freeform 120">
                <a:extLst>
                  <a:ext uri="{FF2B5EF4-FFF2-40B4-BE49-F238E27FC236}">
                    <a16:creationId xmlns:a16="http://schemas.microsoft.com/office/drawing/2014/main" id="{639FEEC1-1D0F-4F8B-121B-ED3342F7BFB0}"/>
                  </a:ext>
                </a:extLst>
              </p:cNvPr>
              <p:cNvSpPr>
                <a:spLocks noChangeArrowheads="1"/>
              </p:cNvSpPr>
              <p:nvPr/>
            </p:nvSpPr>
            <p:spPr bwMode="auto">
              <a:xfrm>
                <a:off x="3145049" y="2526958"/>
                <a:ext cx="226496" cy="151654"/>
              </a:xfrm>
              <a:custGeom>
                <a:avLst/>
                <a:gdLst>
                  <a:gd name="T0" fmla="*/ 508 w 509"/>
                  <a:gd name="T1" fmla="*/ 339 h 340"/>
                  <a:gd name="T2" fmla="*/ 169 w 509"/>
                  <a:gd name="T3" fmla="*/ 339 h 340"/>
                  <a:gd name="T4" fmla="*/ 0 w 509"/>
                  <a:gd name="T5" fmla="*/ 170 h 340"/>
                  <a:gd name="T6" fmla="*/ 169 w 509"/>
                  <a:gd name="T7" fmla="*/ 0 h 340"/>
                  <a:gd name="T8" fmla="*/ 508 w 509"/>
                  <a:gd name="T9" fmla="*/ 0 h 340"/>
                </a:gdLst>
                <a:ahLst/>
                <a:cxnLst>
                  <a:cxn ang="0">
                    <a:pos x="T0" y="T1"/>
                  </a:cxn>
                  <a:cxn ang="0">
                    <a:pos x="T2" y="T3"/>
                  </a:cxn>
                  <a:cxn ang="0">
                    <a:pos x="T4" y="T5"/>
                  </a:cxn>
                  <a:cxn ang="0">
                    <a:pos x="T6" y="T7"/>
                  </a:cxn>
                  <a:cxn ang="0">
                    <a:pos x="T8" y="T9"/>
                  </a:cxn>
                </a:cxnLst>
                <a:rect l="0" t="0" r="r" b="b"/>
                <a:pathLst>
                  <a:path w="509" h="340">
                    <a:moveTo>
                      <a:pt x="508" y="339"/>
                    </a:moveTo>
                    <a:cubicBezTo>
                      <a:pt x="395" y="339"/>
                      <a:pt x="282" y="339"/>
                      <a:pt x="169" y="339"/>
                    </a:cubicBezTo>
                    <a:cubicBezTo>
                      <a:pt x="76" y="339"/>
                      <a:pt x="0" y="263"/>
                      <a:pt x="0" y="170"/>
                    </a:cubicBezTo>
                    <a:cubicBezTo>
                      <a:pt x="0" y="76"/>
                      <a:pt x="76" y="0"/>
                      <a:pt x="169" y="0"/>
                    </a:cubicBezTo>
                    <a:cubicBezTo>
                      <a:pt x="282" y="0"/>
                      <a:pt x="395" y="0"/>
                      <a:pt x="508"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09" name="Freeform 121">
                <a:extLst>
                  <a:ext uri="{FF2B5EF4-FFF2-40B4-BE49-F238E27FC236}">
                    <a16:creationId xmlns:a16="http://schemas.microsoft.com/office/drawing/2014/main" id="{F1C77B1A-C133-9005-D495-4BC4485671CA}"/>
                  </a:ext>
                </a:extLst>
              </p:cNvPr>
              <p:cNvSpPr>
                <a:spLocks noChangeArrowheads="1"/>
              </p:cNvSpPr>
              <p:nvPr/>
            </p:nvSpPr>
            <p:spPr bwMode="auto">
              <a:xfrm>
                <a:off x="2961883" y="2375305"/>
                <a:ext cx="366332" cy="43330"/>
              </a:xfrm>
              <a:custGeom>
                <a:avLst/>
                <a:gdLst>
                  <a:gd name="T0" fmla="*/ 0 w 820"/>
                  <a:gd name="T1" fmla="*/ 0 h 99"/>
                  <a:gd name="T2" fmla="*/ 791 w 820"/>
                  <a:gd name="T3" fmla="*/ 0 h 99"/>
                  <a:gd name="T4" fmla="*/ 819 w 820"/>
                  <a:gd name="T5" fmla="*/ 28 h 99"/>
                  <a:gd name="T6" fmla="*/ 819 w 820"/>
                  <a:gd name="T7" fmla="*/ 98 h 99"/>
                </a:gdLst>
                <a:ahLst/>
                <a:cxnLst>
                  <a:cxn ang="0">
                    <a:pos x="T0" y="T1"/>
                  </a:cxn>
                  <a:cxn ang="0">
                    <a:pos x="T2" y="T3"/>
                  </a:cxn>
                  <a:cxn ang="0">
                    <a:pos x="T4" y="T5"/>
                  </a:cxn>
                  <a:cxn ang="0">
                    <a:pos x="T6" y="T7"/>
                  </a:cxn>
                </a:cxnLst>
                <a:rect l="0" t="0" r="r" b="b"/>
                <a:pathLst>
                  <a:path w="820" h="99">
                    <a:moveTo>
                      <a:pt x="0" y="0"/>
                    </a:moveTo>
                    <a:cubicBezTo>
                      <a:pt x="263" y="0"/>
                      <a:pt x="527" y="0"/>
                      <a:pt x="791" y="0"/>
                    </a:cubicBezTo>
                    <a:cubicBezTo>
                      <a:pt x="806" y="0"/>
                      <a:pt x="819" y="12"/>
                      <a:pt x="819" y="28"/>
                    </a:cubicBezTo>
                    <a:cubicBezTo>
                      <a:pt x="819" y="51"/>
                      <a:pt x="819" y="74"/>
                      <a:pt x="819" y="9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10" name="Freeform 122">
                <a:extLst>
                  <a:ext uri="{FF2B5EF4-FFF2-40B4-BE49-F238E27FC236}">
                    <a16:creationId xmlns:a16="http://schemas.microsoft.com/office/drawing/2014/main" id="{971648F3-7E7C-B632-8C03-F7BF4345F840}"/>
                  </a:ext>
                </a:extLst>
              </p:cNvPr>
              <p:cNvSpPr>
                <a:spLocks noChangeArrowheads="1"/>
              </p:cNvSpPr>
              <p:nvPr/>
            </p:nvSpPr>
            <p:spPr bwMode="auto">
              <a:xfrm>
                <a:off x="2918554" y="2331975"/>
                <a:ext cx="454960" cy="454960"/>
              </a:xfrm>
              <a:custGeom>
                <a:avLst/>
                <a:gdLst>
                  <a:gd name="T0" fmla="*/ 1016 w 1017"/>
                  <a:gd name="T1" fmla="*/ 254 h 1017"/>
                  <a:gd name="T2" fmla="*/ 1016 w 1017"/>
                  <a:gd name="T3" fmla="*/ 56 h 1017"/>
                  <a:gd name="T4" fmla="*/ 959 w 1017"/>
                  <a:gd name="T5" fmla="*/ 0 h 1017"/>
                  <a:gd name="T6" fmla="*/ 98 w 1017"/>
                  <a:gd name="T7" fmla="*/ 0 h 1017"/>
                  <a:gd name="T8" fmla="*/ 0 w 1017"/>
                  <a:gd name="T9" fmla="*/ 99 h 1017"/>
                  <a:gd name="T10" fmla="*/ 0 w 1017"/>
                  <a:gd name="T11" fmla="*/ 917 h 1017"/>
                  <a:gd name="T12" fmla="*/ 98 w 1017"/>
                  <a:gd name="T13" fmla="*/ 1016 h 1017"/>
                  <a:gd name="T14" fmla="*/ 959 w 1017"/>
                  <a:gd name="T15" fmla="*/ 1016 h 1017"/>
                  <a:gd name="T16" fmla="*/ 1016 w 1017"/>
                  <a:gd name="T17" fmla="*/ 959 h 1017"/>
                  <a:gd name="T18" fmla="*/ 1016 w 1017"/>
                  <a:gd name="T19" fmla="*/ 254 h 1017"/>
                  <a:gd name="T20" fmla="*/ 959 w 1017"/>
                  <a:gd name="T21" fmla="*/ 197 h 1017"/>
                  <a:gd name="T22" fmla="*/ 98 w 1017"/>
                  <a:gd name="T23" fmla="*/ 197 h 1017"/>
                  <a:gd name="T24" fmla="*/ 0 w 1017"/>
                  <a:gd name="T25" fmla="*/ 99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7" h="1017">
                    <a:moveTo>
                      <a:pt x="1016" y="254"/>
                    </a:moveTo>
                    <a:cubicBezTo>
                      <a:pt x="1016" y="188"/>
                      <a:pt x="1016" y="122"/>
                      <a:pt x="1016" y="56"/>
                    </a:cubicBezTo>
                    <a:cubicBezTo>
                      <a:pt x="1016" y="25"/>
                      <a:pt x="990" y="0"/>
                      <a:pt x="959" y="0"/>
                    </a:cubicBezTo>
                    <a:cubicBezTo>
                      <a:pt x="672" y="0"/>
                      <a:pt x="385" y="0"/>
                      <a:pt x="98" y="0"/>
                    </a:cubicBezTo>
                    <a:cubicBezTo>
                      <a:pt x="44" y="0"/>
                      <a:pt x="0" y="44"/>
                      <a:pt x="0" y="99"/>
                    </a:cubicBezTo>
                    <a:cubicBezTo>
                      <a:pt x="0" y="371"/>
                      <a:pt x="0" y="644"/>
                      <a:pt x="0" y="917"/>
                    </a:cubicBezTo>
                    <a:cubicBezTo>
                      <a:pt x="0" y="972"/>
                      <a:pt x="44" y="1016"/>
                      <a:pt x="98" y="1016"/>
                    </a:cubicBezTo>
                    <a:cubicBezTo>
                      <a:pt x="385" y="1016"/>
                      <a:pt x="672" y="1016"/>
                      <a:pt x="959" y="1016"/>
                    </a:cubicBezTo>
                    <a:cubicBezTo>
                      <a:pt x="990" y="1016"/>
                      <a:pt x="1016" y="991"/>
                      <a:pt x="1016" y="959"/>
                    </a:cubicBezTo>
                    <a:cubicBezTo>
                      <a:pt x="1016" y="724"/>
                      <a:pt x="1016" y="489"/>
                      <a:pt x="1016" y="254"/>
                    </a:cubicBezTo>
                    <a:cubicBezTo>
                      <a:pt x="1016" y="223"/>
                      <a:pt x="990" y="197"/>
                      <a:pt x="959" y="197"/>
                    </a:cubicBezTo>
                    <a:cubicBezTo>
                      <a:pt x="672" y="197"/>
                      <a:pt x="385" y="197"/>
                      <a:pt x="98" y="197"/>
                    </a:cubicBezTo>
                    <a:cubicBezTo>
                      <a:pt x="44" y="197"/>
                      <a:pt x="0" y="153"/>
                      <a:pt x="0" y="9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sp>
          <p:nvSpPr>
            <p:cNvPr id="95" name="Freeform 108">
              <a:extLst>
                <a:ext uri="{FF2B5EF4-FFF2-40B4-BE49-F238E27FC236}">
                  <a16:creationId xmlns:a16="http://schemas.microsoft.com/office/drawing/2014/main" id="{17D8EC55-1CA9-BCAA-8373-A02AEEA06808}"/>
                </a:ext>
              </a:extLst>
            </p:cNvPr>
            <p:cNvSpPr>
              <a:spLocks noChangeArrowheads="1"/>
            </p:cNvSpPr>
            <p:nvPr/>
          </p:nvSpPr>
          <p:spPr bwMode="auto">
            <a:xfrm>
              <a:off x="2755083" y="2166535"/>
              <a:ext cx="781902" cy="781901"/>
            </a:xfrm>
            <a:custGeom>
              <a:avLst/>
              <a:gdLst>
                <a:gd name="T0" fmla="*/ 1467 w 1751"/>
                <a:gd name="T1" fmla="*/ 1750 h 1751"/>
                <a:gd name="T2" fmla="*/ 1750 w 1751"/>
                <a:gd name="T3" fmla="*/ 1468 h 1751"/>
                <a:gd name="T4" fmla="*/ 1750 w 1751"/>
                <a:gd name="T5" fmla="*/ 282 h 1751"/>
                <a:gd name="T6" fmla="*/ 1467 w 1751"/>
                <a:gd name="T7" fmla="*/ 0 h 1751"/>
                <a:gd name="T8" fmla="*/ 282 w 1751"/>
                <a:gd name="T9" fmla="*/ 0 h 1751"/>
                <a:gd name="T10" fmla="*/ 0 w 1751"/>
                <a:gd name="T11" fmla="*/ 282 h 1751"/>
                <a:gd name="T12" fmla="*/ 0 w 1751"/>
                <a:gd name="T13" fmla="*/ 1468 h 1751"/>
                <a:gd name="T14" fmla="*/ 282 w 1751"/>
                <a:gd name="T15" fmla="*/ 1750 h 1751"/>
                <a:gd name="T16" fmla="*/ 1467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7" y="1750"/>
                  </a:moveTo>
                  <a:cubicBezTo>
                    <a:pt x="1623" y="1750"/>
                    <a:pt x="1750" y="1623"/>
                    <a:pt x="1750" y="1468"/>
                  </a:cubicBezTo>
                  <a:cubicBezTo>
                    <a:pt x="1750" y="1072"/>
                    <a:pt x="1750" y="677"/>
                    <a:pt x="1750" y="282"/>
                  </a:cubicBezTo>
                  <a:cubicBezTo>
                    <a:pt x="1750" y="127"/>
                    <a:pt x="1623" y="0"/>
                    <a:pt x="1467" y="0"/>
                  </a:cubicBezTo>
                  <a:cubicBezTo>
                    <a:pt x="1072" y="0"/>
                    <a:pt x="677" y="0"/>
                    <a:pt x="282" y="0"/>
                  </a:cubicBezTo>
                  <a:cubicBezTo>
                    <a:pt x="127" y="0"/>
                    <a:pt x="0" y="127"/>
                    <a:pt x="0" y="282"/>
                  </a:cubicBezTo>
                  <a:cubicBezTo>
                    <a:pt x="0" y="677"/>
                    <a:pt x="0" y="1072"/>
                    <a:pt x="0" y="1468"/>
                  </a:cubicBezTo>
                  <a:cubicBezTo>
                    <a:pt x="0" y="1623"/>
                    <a:pt x="127" y="1750"/>
                    <a:pt x="282" y="1750"/>
                  </a:cubicBezTo>
                  <a:cubicBezTo>
                    <a:pt x="677" y="1750"/>
                    <a:pt x="1072" y="1750"/>
                    <a:pt x="1467"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nvGrpSpPr>
          <p:cNvPr id="111" name="Group 110">
            <a:extLst>
              <a:ext uri="{FF2B5EF4-FFF2-40B4-BE49-F238E27FC236}">
                <a16:creationId xmlns:a16="http://schemas.microsoft.com/office/drawing/2014/main" id="{96FB62C3-1A17-034B-A69A-3B2B31A07BFA}"/>
              </a:ext>
            </a:extLst>
          </p:cNvPr>
          <p:cNvGrpSpPr>
            <a:grpSpLocks noChangeAspect="1"/>
          </p:cNvGrpSpPr>
          <p:nvPr/>
        </p:nvGrpSpPr>
        <p:grpSpPr>
          <a:xfrm>
            <a:off x="4365117" y="11683269"/>
            <a:ext cx="1142794" cy="1142794"/>
            <a:chOff x="9320213" y="2201863"/>
            <a:chExt cx="630237" cy="630237"/>
          </a:xfrm>
        </p:grpSpPr>
        <p:sp>
          <p:nvSpPr>
            <p:cNvPr id="112" name="Freeform 176">
              <a:extLst>
                <a:ext uri="{FF2B5EF4-FFF2-40B4-BE49-F238E27FC236}">
                  <a16:creationId xmlns:a16="http://schemas.microsoft.com/office/drawing/2014/main" id="{C41BE313-DB80-E39A-E4E7-2C791F0F7FF9}"/>
                </a:ext>
              </a:extLst>
            </p:cNvPr>
            <p:cNvSpPr>
              <a:spLocks noChangeArrowheads="1"/>
            </p:cNvSpPr>
            <p:nvPr/>
          </p:nvSpPr>
          <p:spPr bwMode="auto">
            <a:xfrm>
              <a:off x="9320213" y="2201863"/>
              <a:ext cx="630237" cy="630237"/>
            </a:xfrm>
            <a:custGeom>
              <a:avLst/>
              <a:gdLst>
                <a:gd name="T0" fmla="*/ 1468 w 1751"/>
                <a:gd name="T1" fmla="*/ 1749 h 1750"/>
                <a:gd name="T2" fmla="*/ 1750 w 1751"/>
                <a:gd name="T3" fmla="*/ 1467 h 1750"/>
                <a:gd name="T4" fmla="*/ 1750 w 1751"/>
                <a:gd name="T5" fmla="*/ 282 h 1750"/>
                <a:gd name="T6" fmla="*/ 1468 w 1751"/>
                <a:gd name="T7" fmla="*/ 0 h 1750"/>
                <a:gd name="T8" fmla="*/ 283 w 1751"/>
                <a:gd name="T9" fmla="*/ 0 h 1750"/>
                <a:gd name="T10" fmla="*/ 0 w 1751"/>
                <a:gd name="T11" fmla="*/ 282 h 1750"/>
                <a:gd name="T12" fmla="*/ 0 w 1751"/>
                <a:gd name="T13" fmla="*/ 1467 h 1750"/>
                <a:gd name="T14" fmla="*/ 283 w 1751"/>
                <a:gd name="T15" fmla="*/ 1749 h 1750"/>
                <a:gd name="T16" fmla="*/ 1468 w 1751"/>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0">
                  <a:moveTo>
                    <a:pt x="1468" y="1749"/>
                  </a:moveTo>
                  <a:cubicBezTo>
                    <a:pt x="1623" y="1749"/>
                    <a:pt x="1750" y="1623"/>
                    <a:pt x="1750" y="1467"/>
                  </a:cubicBezTo>
                  <a:cubicBezTo>
                    <a:pt x="1750" y="1072"/>
                    <a:pt x="1750" y="677"/>
                    <a:pt x="1750" y="282"/>
                  </a:cubicBezTo>
                  <a:cubicBezTo>
                    <a:pt x="1750" y="127"/>
                    <a:pt x="1623" y="0"/>
                    <a:pt x="1468" y="0"/>
                  </a:cubicBezTo>
                  <a:cubicBezTo>
                    <a:pt x="1073" y="0"/>
                    <a:pt x="678" y="0"/>
                    <a:pt x="283" y="0"/>
                  </a:cubicBezTo>
                  <a:cubicBezTo>
                    <a:pt x="127" y="0"/>
                    <a:pt x="0" y="127"/>
                    <a:pt x="0" y="282"/>
                  </a:cubicBezTo>
                  <a:cubicBezTo>
                    <a:pt x="0" y="677"/>
                    <a:pt x="0" y="1072"/>
                    <a:pt x="0" y="1467"/>
                  </a:cubicBezTo>
                  <a:cubicBezTo>
                    <a:pt x="0" y="1623"/>
                    <a:pt x="127" y="1749"/>
                    <a:pt x="283" y="1749"/>
                  </a:cubicBezTo>
                  <a:cubicBezTo>
                    <a:pt x="678" y="1749"/>
                    <a:pt x="1073" y="1749"/>
                    <a:pt x="1468" y="174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13" name="Group 112">
              <a:extLst>
                <a:ext uri="{FF2B5EF4-FFF2-40B4-BE49-F238E27FC236}">
                  <a16:creationId xmlns:a16="http://schemas.microsoft.com/office/drawing/2014/main" id="{792D0B4B-5273-0A2B-A2AA-FE705B977CA9}"/>
                </a:ext>
              </a:extLst>
            </p:cNvPr>
            <p:cNvGrpSpPr/>
            <p:nvPr/>
          </p:nvGrpSpPr>
          <p:grpSpPr>
            <a:xfrm>
              <a:off x="9472613" y="2347913"/>
              <a:ext cx="325437" cy="336550"/>
              <a:chOff x="9472613" y="2347913"/>
              <a:chExt cx="325437" cy="336550"/>
            </a:xfrm>
          </p:grpSpPr>
          <p:sp>
            <p:nvSpPr>
              <p:cNvPr id="114" name="Freeform 177">
                <a:extLst>
                  <a:ext uri="{FF2B5EF4-FFF2-40B4-BE49-F238E27FC236}">
                    <a16:creationId xmlns:a16="http://schemas.microsoft.com/office/drawing/2014/main" id="{957BE9D6-576A-330C-6B06-030862F2A3D5}"/>
                  </a:ext>
                </a:extLst>
              </p:cNvPr>
              <p:cNvSpPr>
                <a:spLocks noChangeArrowheads="1"/>
              </p:cNvSpPr>
              <p:nvPr/>
            </p:nvSpPr>
            <p:spPr bwMode="auto">
              <a:xfrm>
                <a:off x="9621838" y="2638425"/>
                <a:ext cx="74612" cy="1588"/>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15" name="Freeform 178">
                <a:extLst>
                  <a:ext uri="{FF2B5EF4-FFF2-40B4-BE49-F238E27FC236}">
                    <a16:creationId xmlns:a16="http://schemas.microsoft.com/office/drawing/2014/main" id="{FF7777AD-4A54-2819-6505-1521F21C37BF}"/>
                  </a:ext>
                </a:extLst>
              </p:cNvPr>
              <p:cNvSpPr>
                <a:spLocks noChangeArrowheads="1"/>
              </p:cNvSpPr>
              <p:nvPr/>
            </p:nvSpPr>
            <p:spPr bwMode="auto">
              <a:xfrm>
                <a:off x="9472613" y="2592388"/>
                <a:ext cx="325437" cy="92075"/>
              </a:xfrm>
              <a:custGeom>
                <a:avLst/>
                <a:gdLst>
                  <a:gd name="T0" fmla="*/ 0 w 904"/>
                  <a:gd name="T1" fmla="*/ 198 h 255"/>
                  <a:gd name="T2" fmla="*/ 56 w 904"/>
                  <a:gd name="T3" fmla="*/ 254 h 255"/>
                  <a:gd name="T4" fmla="*/ 846 w 904"/>
                  <a:gd name="T5" fmla="*/ 254 h 255"/>
                  <a:gd name="T6" fmla="*/ 903 w 904"/>
                  <a:gd name="T7" fmla="*/ 198 h 255"/>
                  <a:gd name="T8" fmla="*/ 903 w 904"/>
                  <a:gd name="T9" fmla="*/ 57 h 255"/>
                  <a:gd name="T10" fmla="*/ 846 w 904"/>
                  <a:gd name="T11" fmla="*/ 0 h 255"/>
                  <a:gd name="T12" fmla="*/ 56 w 904"/>
                  <a:gd name="T13" fmla="*/ 0 h 255"/>
                  <a:gd name="T14" fmla="*/ 0 w 904"/>
                  <a:gd name="T15" fmla="*/ 57 h 255"/>
                  <a:gd name="T16" fmla="*/ 0 w 904"/>
                  <a:gd name="T17" fmla="*/ 19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8"/>
                    </a:moveTo>
                    <a:cubicBezTo>
                      <a:pt x="0" y="229"/>
                      <a:pt x="25" y="254"/>
                      <a:pt x="56" y="254"/>
                    </a:cubicBezTo>
                    <a:cubicBezTo>
                      <a:pt x="319" y="254"/>
                      <a:pt x="583" y="254"/>
                      <a:pt x="846" y="254"/>
                    </a:cubicBezTo>
                    <a:cubicBezTo>
                      <a:pt x="878" y="254"/>
                      <a:pt x="903" y="229"/>
                      <a:pt x="903" y="198"/>
                    </a:cubicBezTo>
                    <a:cubicBezTo>
                      <a:pt x="903" y="151"/>
                      <a:pt x="903" y="104"/>
                      <a:pt x="903" y="57"/>
                    </a:cubicBezTo>
                    <a:cubicBezTo>
                      <a:pt x="903" y="26"/>
                      <a:pt x="878" y="0"/>
                      <a:pt x="846" y="0"/>
                    </a:cubicBezTo>
                    <a:cubicBezTo>
                      <a:pt x="583" y="0"/>
                      <a:pt x="319" y="0"/>
                      <a:pt x="56" y="0"/>
                    </a:cubicBezTo>
                    <a:cubicBezTo>
                      <a:pt x="25" y="0"/>
                      <a:pt x="0" y="26"/>
                      <a:pt x="0" y="57"/>
                    </a:cubicBezTo>
                    <a:cubicBezTo>
                      <a:pt x="0" y="104"/>
                      <a:pt x="0" y="151"/>
                      <a:pt x="0" y="19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16" name="Freeform 179">
                <a:extLst>
                  <a:ext uri="{FF2B5EF4-FFF2-40B4-BE49-F238E27FC236}">
                    <a16:creationId xmlns:a16="http://schemas.microsoft.com/office/drawing/2014/main" id="{BD8F5F25-5EBB-AF5D-2CAB-9A3C43B57306}"/>
                  </a:ext>
                </a:extLst>
              </p:cNvPr>
              <p:cNvSpPr>
                <a:spLocks noChangeArrowheads="1"/>
              </p:cNvSpPr>
              <p:nvPr/>
            </p:nvSpPr>
            <p:spPr bwMode="auto">
              <a:xfrm>
                <a:off x="9621838" y="2516188"/>
                <a:ext cx="74612" cy="1587"/>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17" name="Freeform 180">
                <a:extLst>
                  <a:ext uri="{FF2B5EF4-FFF2-40B4-BE49-F238E27FC236}">
                    <a16:creationId xmlns:a16="http://schemas.microsoft.com/office/drawing/2014/main" id="{D4E9BE00-C003-206F-1FC7-4A8A2975C26F}"/>
                  </a:ext>
                </a:extLst>
              </p:cNvPr>
              <p:cNvSpPr>
                <a:spLocks noChangeArrowheads="1"/>
              </p:cNvSpPr>
              <p:nvPr/>
            </p:nvSpPr>
            <p:spPr bwMode="auto">
              <a:xfrm>
                <a:off x="9472613" y="2470150"/>
                <a:ext cx="325437" cy="92075"/>
              </a:xfrm>
              <a:custGeom>
                <a:avLst/>
                <a:gdLst>
                  <a:gd name="T0" fmla="*/ 0 w 904"/>
                  <a:gd name="T1" fmla="*/ 197 h 255"/>
                  <a:gd name="T2" fmla="*/ 56 w 904"/>
                  <a:gd name="T3" fmla="*/ 254 h 255"/>
                  <a:gd name="T4" fmla="*/ 846 w 904"/>
                  <a:gd name="T5" fmla="*/ 254 h 255"/>
                  <a:gd name="T6" fmla="*/ 903 w 904"/>
                  <a:gd name="T7" fmla="*/ 197 h 255"/>
                  <a:gd name="T8" fmla="*/ 903 w 904"/>
                  <a:gd name="T9" fmla="*/ 56 h 255"/>
                  <a:gd name="T10" fmla="*/ 846 w 904"/>
                  <a:gd name="T11" fmla="*/ 0 h 255"/>
                  <a:gd name="T12" fmla="*/ 56 w 904"/>
                  <a:gd name="T13" fmla="*/ 0 h 255"/>
                  <a:gd name="T14" fmla="*/ 0 w 904"/>
                  <a:gd name="T15" fmla="*/ 56 h 255"/>
                  <a:gd name="T16" fmla="*/ 0 w 904"/>
                  <a:gd name="T17" fmla="*/ 19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7"/>
                    </a:moveTo>
                    <a:cubicBezTo>
                      <a:pt x="0" y="228"/>
                      <a:pt x="25" y="254"/>
                      <a:pt x="56" y="254"/>
                    </a:cubicBezTo>
                    <a:cubicBezTo>
                      <a:pt x="319" y="254"/>
                      <a:pt x="583" y="254"/>
                      <a:pt x="846" y="254"/>
                    </a:cubicBezTo>
                    <a:cubicBezTo>
                      <a:pt x="878" y="254"/>
                      <a:pt x="903" y="228"/>
                      <a:pt x="903" y="197"/>
                    </a:cubicBezTo>
                    <a:cubicBezTo>
                      <a:pt x="903" y="150"/>
                      <a:pt x="903" y="103"/>
                      <a:pt x="903" y="56"/>
                    </a:cubicBezTo>
                    <a:cubicBezTo>
                      <a:pt x="903" y="25"/>
                      <a:pt x="878" y="0"/>
                      <a:pt x="846" y="0"/>
                    </a:cubicBezTo>
                    <a:cubicBezTo>
                      <a:pt x="583" y="0"/>
                      <a:pt x="319" y="0"/>
                      <a:pt x="56" y="0"/>
                    </a:cubicBezTo>
                    <a:cubicBezTo>
                      <a:pt x="25" y="0"/>
                      <a:pt x="0" y="25"/>
                      <a:pt x="0" y="56"/>
                    </a:cubicBezTo>
                    <a:cubicBezTo>
                      <a:pt x="0" y="103"/>
                      <a:pt x="0" y="150"/>
                      <a:pt x="0" y="19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18" name="Freeform 181">
                <a:extLst>
                  <a:ext uri="{FF2B5EF4-FFF2-40B4-BE49-F238E27FC236}">
                    <a16:creationId xmlns:a16="http://schemas.microsoft.com/office/drawing/2014/main" id="{E12733B3-381F-883E-F9A8-A392310486B8}"/>
                  </a:ext>
                </a:extLst>
              </p:cNvPr>
              <p:cNvSpPr>
                <a:spLocks noChangeArrowheads="1"/>
              </p:cNvSpPr>
              <p:nvPr/>
            </p:nvSpPr>
            <p:spPr bwMode="auto">
              <a:xfrm>
                <a:off x="9621838" y="2393950"/>
                <a:ext cx="74612" cy="1588"/>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19" name="Freeform 182">
                <a:extLst>
                  <a:ext uri="{FF2B5EF4-FFF2-40B4-BE49-F238E27FC236}">
                    <a16:creationId xmlns:a16="http://schemas.microsoft.com/office/drawing/2014/main" id="{47D9EEF4-5ECE-A0AA-B479-2EBAE4446A09}"/>
                  </a:ext>
                </a:extLst>
              </p:cNvPr>
              <p:cNvSpPr>
                <a:spLocks noChangeArrowheads="1"/>
              </p:cNvSpPr>
              <p:nvPr/>
            </p:nvSpPr>
            <p:spPr bwMode="auto">
              <a:xfrm>
                <a:off x="9734550" y="2393950"/>
                <a:ext cx="23813" cy="1588"/>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20" name="Freeform 183">
                <a:extLst>
                  <a:ext uri="{FF2B5EF4-FFF2-40B4-BE49-F238E27FC236}">
                    <a16:creationId xmlns:a16="http://schemas.microsoft.com/office/drawing/2014/main" id="{00783D0C-181A-F7CF-F302-E72CF598343D}"/>
                  </a:ext>
                </a:extLst>
              </p:cNvPr>
              <p:cNvSpPr>
                <a:spLocks noChangeArrowheads="1"/>
              </p:cNvSpPr>
              <p:nvPr/>
            </p:nvSpPr>
            <p:spPr bwMode="auto">
              <a:xfrm>
                <a:off x="9734550" y="2516188"/>
                <a:ext cx="23813" cy="1587"/>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21" name="Freeform 184">
                <a:extLst>
                  <a:ext uri="{FF2B5EF4-FFF2-40B4-BE49-F238E27FC236}">
                    <a16:creationId xmlns:a16="http://schemas.microsoft.com/office/drawing/2014/main" id="{D75980E6-C9C4-6A34-1EF7-C2C1603F4704}"/>
                  </a:ext>
                </a:extLst>
              </p:cNvPr>
              <p:cNvSpPr>
                <a:spLocks noChangeArrowheads="1"/>
              </p:cNvSpPr>
              <p:nvPr/>
            </p:nvSpPr>
            <p:spPr bwMode="auto">
              <a:xfrm>
                <a:off x="9734550" y="2638425"/>
                <a:ext cx="23813" cy="1588"/>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22" name="Freeform 185">
                <a:extLst>
                  <a:ext uri="{FF2B5EF4-FFF2-40B4-BE49-F238E27FC236}">
                    <a16:creationId xmlns:a16="http://schemas.microsoft.com/office/drawing/2014/main" id="{2FB3F62A-9676-3FFA-EE8F-E3F24B1FF535}"/>
                  </a:ext>
                </a:extLst>
              </p:cNvPr>
              <p:cNvSpPr>
                <a:spLocks noChangeArrowheads="1"/>
              </p:cNvSpPr>
              <p:nvPr/>
            </p:nvSpPr>
            <p:spPr bwMode="auto">
              <a:xfrm>
                <a:off x="9472613" y="2347913"/>
                <a:ext cx="325437" cy="92075"/>
              </a:xfrm>
              <a:custGeom>
                <a:avLst/>
                <a:gdLst>
                  <a:gd name="T0" fmla="*/ 0 w 904"/>
                  <a:gd name="T1" fmla="*/ 198 h 255"/>
                  <a:gd name="T2" fmla="*/ 56 w 904"/>
                  <a:gd name="T3" fmla="*/ 254 h 255"/>
                  <a:gd name="T4" fmla="*/ 846 w 904"/>
                  <a:gd name="T5" fmla="*/ 254 h 255"/>
                  <a:gd name="T6" fmla="*/ 903 w 904"/>
                  <a:gd name="T7" fmla="*/ 198 h 255"/>
                  <a:gd name="T8" fmla="*/ 903 w 904"/>
                  <a:gd name="T9" fmla="*/ 56 h 255"/>
                  <a:gd name="T10" fmla="*/ 846 w 904"/>
                  <a:gd name="T11" fmla="*/ 0 h 255"/>
                  <a:gd name="T12" fmla="*/ 56 w 904"/>
                  <a:gd name="T13" fmla="*/ 0 h 255"/>
                  <a:gd name="T14" fmla="*/ 0 w 904"/>
                  <a:gd name="T15" fmla="*/ 56 h 255"/>
                  <a:gd name="T16" fmla="*/ 0 w 904"/>
                  <a:gd name="T17" fmla="*/ 19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8"/>
                    </a:moveTo>
                    <a:cubicBezTo>
                      <a:pt x="0" y="229"/>
                      <a:pt x="25" y="254"/>
                      <a:pt x="56" y="254"/>
                    </a:cubicBezTo>
                    <a:cubicBezTo>
                      <a:pt x="319" y="254"/>
                      <a:pt x="583" y="254"/>
                      <a:pt x="846" y="254"/>
                    </a:cubicBezTo>
                    <a:cubicBezTo>
                      <a:pt x="878" y="254"/>
                      <a:pt x="903" y="229"/>
                      <a:pt x="903" y="198"/>
                    </a:cubicBezTo>
                    <a:cubicBezTo>
                      <a:pt x="903" y="150"/>
                      <a:pt x="903" y="103"/>
                      <a:pt x="903" y="56"/>
                    </a:cubicBezTo>
                    <a:cubicBezTo>
                      <a:pt x="903" y="25"/>
                      <a:pt x="878" y="0"/>
                      <a:pt x="846" y="0"/>
                    </a:cubicBezTo>
                    <a:cubicBezTo>
                      <a:pt x="583" y="0"/>
                      <a:pt x="319" y="0"/>
                      <a:pt x="56" y="0"/>
                    </a:cubicBezTo>
                    <a:cubicBezTo>
                      <a:pt x="25" y="0"/>
                      <a:pt x="0" y="25"/>
                      <a:pt x="0" y="56"/>
                    </a:cubicBezTo>
                    <a:cubicBezTo>
                      <a:pt x="0" y="103"/>
                      <a:pt x="0" y="150"/>
                      <a:pt x="0" y="19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grpSp>
        <p:nvGrpSpPr>
          <p:cNvPr id="123" name="Group 122">
            <a:extLst>
              <a:ext uri="{FF2B5EF4-FFF2-40B4-BE49-F238E27FC236}">
                <a16:creationId xmlns:a16="http://schemas.microsoft.com/office/drawing/2014/main" id="{C49C3C5C-7A89-4819-4878-867A71659D77}"/>
              </a:ext>
            </a:extLst>
          </p:cNvPr>
          <p:cNvGrpSpPr>
            <a:grpSpLocks noChangeAspect="1"/>
          </p:cNvGrpSpPr>
          <p:nvPr/>
        </p:nvGrpSpPr>
        <p:grpSpPr>
          <a:xfrm>
            <a:off x="5997467" y="11682561"/>
            <a:ext cx="1142794" cy="1142794"/>
            <a:chOff x="10619395" y="2166535"/>
            <a:chExt cx="781901" cy="781901"/>
          </a:xfrm>
        </p:grpSpPr>
        <p:sp>
          <p:nvSpPr>
            <p:cNvPr id="124" name="Freeform 111">
              <a:extLst>
                <a:ext uri="{FF2B5EF4-FFF2-40B4-BE49-F238E27FC236}">
                  <a16:creationId xmlns:a16="http://schemas.microsoft.com/office/drawing/2014/main" id="{2C5346EA-B66A-4880-FD98-154A560DB15A}"/>
                </a:ext>
              </a:extLst>
            </p:cNvPr>
            <p:cNvSpPr>
              <a:spLocks noChangeArrowheads="1"/>
            </p:cNvSpPr>
            <p:nvPr/>
          </p:nvSpPr>
          <p:spPr bwMode="auto">
            <a:xfrm>
              <a:off x="10619395" y="2166535"/>
              <a:ext cx="781901" cy="781901"/>
            </a:xfrm>
            <a:custGeom>
              <a:avLst/>
              <a:gdLst>
                <a:gd name="T0" fmla="*/ 1468 w 1751"/>
                <a:gd name="T1" fmla="*/ 1750 h 1751"/>
                <a:gd name="T2" fmla="*/ 1750 w 1751"/>
                <a:gd name="T3" fmla="*/ 1468 h 1751"/>
                <a:gd name="T4" fmla="*/ 1750 w 1751"/>
                <a:gd name="T5" fmla="*/ 282 h 1751"/>
                <a:gd name="T6" fmla="*/ 1468 w 1751"/>
                <a:gd name="T7" fmla="*/ 0 h 1751"/>
                <a:gd name="T8" fmla="*/ 282 w 1751"/>
                <a:gd name="T9" fmla="*/ 0 h 1751"/>
                <a:gd name="T10" fmla="*/ 0 w 1751"/>
                <a:gd name="T11" fmla="*/ 282 h 1751"/>
                <a:gd name="T12" fmla="*/ 0 w 1751"/>
                <a:gd name="T13" fmla="*/ 1468 h 1751"/>
                <a:gd name="T14" fmla="*/ 282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8"/>
                  </a:cubicBezTo>
                  <a:cubicBezTo>
                    <a:pt x="1750" y="1072"/>
                    <a:pt x="1750" y="677"/>
                    <a:pt x="1750" y="282"/>
                  </a:cubicBezTo>
                  <a:cubicBezTo>
                    <a:pt x="1750" y="127"/>
                    <a:pt x="1623" y="0"/>
                    <a:pt x="1468" y="0"/>
                  </a:cubicBezTo>
                  <a:cubicBezTo>
                    <a:pt x="1073" y="0"/>
                    <a:pt x="677" y="0"/>
                    <a:pt x="282" y="0"/>
                  </a:cubicBezTo>
                  <a:cubicBezTo>
                    <a:pt x="127" y="0"/>
                    <a:pt x="0" y="127"/>
                    <a:pt x="0" y="282"/>
                  </a:cubicBezTo>
                  <a:cubicBezTo>
                    <a:pt x="0" y="677"/>
                    <a:pt x="0" y="1072"/>
                    <a:pt x="0" y="1468"/>
                  </a:cubicBezTo>
                  <a:cubicBezTo>
                    <a:pt x="0" y="1623"/>
                    <a:pt x="127" y="1750"/>
                    <a:pt x="282" y="1750"/>
                  </a:cubicBezTo>
                  <a:cubicBezTo>
                    <a:pt x="677" y="1750"/>
                    <a:pt x="1073" y="1750"/>
                    <a:pt x="1468"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25" name="Group 124">
              <a:extLst>
                <a:ext uri="{FF2B5EF4-FFF2-40B4-BE49-F238E27FC236}">
                  <a16:creationId xmlns:a16="http://schemas.microsoft.com/office/drawing/2014/main" id="{58789106-C671-7A0D-E836-AEB8F8BC6E7D}"/>
                </a:ext>
              </a:extLst>
            </p:cNvPr>
            <p:cNvGrpSpPr/>
            <p:nvPr/>
          </p:nvGrpSpPr>
          <p:grpSpPr>
            <a:xfrm>
              <a:off x="10788774" y="2312280"/>
              <a:ext cx="370271" cy="504198"/>
              <a:chOff x="10788774" y="2312280"/>
              <a:chExt cx="370271" cy="504198"/>
            </a:xfrm>
          </p:grpSpPr>
          <p:sp>
            <p:nvSpPr>
              <p:cNvPr id="126" name="Freeform 112">
                <a:extLst>
                  <a:ext uri="{FF2B5EF4-FFF2-40B4-BE49-F238E27FC236}">
                    <a16:creationId xmlns:a16="http://schemas.microsoft.com/office/drawing/2014/main" id="{F22A868B-9538-6A3A-7775-BEBE5953BF2C}"/>
                  </a:ext>
                </a:extLst>
              </p:cNvPr>
              <p:cNvSpPr>
                <a:spLocks noChangeArrowheads="1"/>
              </p:cNvSpPr>
              <p:nvPr/>
            </p:nvSpPr>
            <p:spPr bwMode="auto">
              <a:xfrm>
                <a:off x="11032995" y="2337883"/>
                <a:ext cx="63025" cy="214679"/>
              </a:xfrm>
              <a:custGeom>
                <a:avLst/>
                <a:gdLst>
                  <a:gd name="T0" fmla="*/ 0 w 142"/>
                  <a:gd name="T1" fmla="*/ 71 h 481"/>
                  <a:gd name="T2" fmla="*/ 71 w 142"/>
                  <a:gd name="T3" fmla="*/ 0 h 481"/>
                  <a:gd name="T4" fmla="*/ 141 w 142"/>
                  <a:gd name="T5" fmla="*/ 71 h 481"/>
                  <a:gd name="T6" fmla="*/ 141 w 142"/>
                  <a:gd name="T7" fmla="*/ 480 h 481"/>
                </a:gdLst>
                <a:ahLst/>
                <a:cxnLst>
                  <a:cxn ang="0">
                    <a:pos x="T0" y="T1"/>
                  </a:cxn>
                  <a:cxn ang="0">
                    <a:pos x="T2" y="T3"/>
                  </a:cxn>
                  <a:cxn ang="0">
                    <a:pos x="T4" y="T5"/>
                  </a:cxn>
                  <a:cxn ang="0">
                    <a:pos x="T6" y="T7"/>
                  </a:cxn>
                </a:cxnLst>
                <a:rect l="0" t="0" r="r" b="b"/>
                <a:pathLst>
                  <a:path w="142" h="481">
                    <a:moveTo>
                      <a:pt x="0" y="71"/>
                    </a:moveTo>
                    <a:cubicBezTo>
                      <a:pt x="0" y="32"/>
                      <a:pt x="32" y="0"/>
                      <a:pt x="71" y="0"/>
                    </a:cubicBezTo>
                    <a:cubicBezTo>
                      <a:pt x="110" y="0"/>
                      <a:pt x="141" y="32"/>
                      <a:pt x="141" y="71"/>
                    </a:cubicBezTo>
                    <a:cubicBezTo>
                      <a:pt x="141" y="207"/>
                      <a:pt x="141" y="343"/>
                      <a:pt x="141" y="48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27" name="Freeform 113">
                <a:extLst>
                  <a:ext uri="{FF2B5EF4-FFF2-40B4-BE49-F238E27FC236}">
                    <a16:creationId xmlns:a16="http://schemas.microsoft.com/office/drawing/2014/main" id="{1FA71A50-140B-C724-10B0-6EC583746AEC}"/>
                  </a:ext>
                </a:extLst>
              </p:cNvPr>
              <p:cNvSpPr>
                <a:spLocks noChangeArrowheads="1"/>
              </p:cNvSpPr>
              <p:nvPr/>
            </p:nvSpPr>
            <p:spPr bwMode="auto">
              <a:xfrm>
                <a:off x="10969970" y="2312280"/>
                <a:ext cx="63025" cy="226495"/>
              </a:xfrm>
              <a:custGeom>
                <a:avLst/>
                <a:gdLst>
                  <a:gd name="T0" fmla="*/ 0 w 142"/>
                  <a:gd name="T1" fmla="*/ 508 h 509"/>
                  <a:gd name="T2" fmla="*/ 0 w 142"/>
                  <a:gd name="T3" fmla="*/ 70 h 509"/>
                  <a:gd name="T4" fmla="*/ 71 w 142"/>
                  <a:gd name="T5" fmla="*/ 0 h 509"/>
                  <a:gd name="T6" fmla="*/ 141 w 142"/>
                  <a:gd name="T7" fmla="*/ 70 h 509"/>
                  <a:gd name="T8" fmla="*/ 141 w 142"/>
                  <a:gd name="T9" fmla="*/ 479 h 509"/>
                </a:gdLst>
                <a:ahLst/>
                <a:cxnLst>
                  <a:cxn ang="0">
                    <a:pos x="T0" y="T1"/>
                  </a:cxn>
                  <a:cxn ang="0">
                    <a:pos x="T2" y="T3"/>
                  </a:cxn>
                  <a:cxn ang="0">
                    <a:pos x="T4" y="T5"/>
                  </a:cxn>
                  <a:cxn ang="0">
                    <a:pos x="T6" y="T7"/>
                  </a:cxn>
                  <a:cxn ang="0">
                    <a:pos x="T8" y="T9"/>
                  </a:cxn>
                </a:cxnLst>
                <a:rect l="0" t="0" r="r" b="b"/>
                <a:pathLst>
                  <a:path w="142" h="509">
                    <a:moveTo>
                      <a:pt x="0" y="508"/>
                    </a:moveTo>
                    <a:cubicBezTo>
                      <a:pt x="0" y="362"/>
                      <a:pt x="0" y="216"/>
                      <a:pt x="0" y="70"/>
                    </a:cubicBezTo>
                    <a:cubicBezTo>
                      <a:pt x="0" y="31"/>
                      <a:pt x="32" y="0"/>
                      <a:pt x="71" y="0"/>
                    </a:cubicBezTo>
                    <a:cubicBezTo>
                      <a:pt x="110" y="0"/>
                      <a:pt x="141" y="31"/>
                      <a:pt x="141" y="70"/>
                    </a:cubicBezTo>
                    <a:cubicBezTo>
                      <a:pt x="141" y="206"/>
                      <a:pt x="141" y="342"/>
                      <a:pt x="141" y="47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28" name="Freeform 114">
                <a:extLst>
                  <a:ext uri="{FF2B5EF4-FFF2-40B4-BE49-F238E27FC236}">
                    <a16:creationId xmlns:a16="http://schemas.microsoft.com/office/drawing/2014/main" id="{57EADA11-23BD-89CC-FD83-3AF35C776EA0}"/>
                  </a:ext>
                </a:extLst>
              </p:cNvPr>
              <p:cNvSpPr>
                <a:spLocks noChangeArrowheads="1"/>
              </p:cNvSpPr>
              <p:nvPr/>
            </p:nvSpPr>
            <p:spPr bwMode="auto">
              <a:xfrm>
                <a:off x="10906946" y="2351671"/>
                <a:ext cx="63025" cy="297398"/>
              </a:xfrm>
              <a:custGeom>
                <a:avLst/>
                <a:gdLst>
                  <a:gd name="T0" fmla="*/ 0 w 142"/>
                  <a:gd name="T1" fmla="*/ 665 h 666"/>
                  <a:gd name="T2" fmla="*/ 0 w 142"/>
                  <a:gd name="T3" fmla="*/ 70 h 666"/>
                  <a:gd name="T4" fmla="*/ 71 w 142"/>
                  <a:gd name="T5" fmla="*/ 0 h 666"/>
                  <a:gd name="T6" fmla="*/ 141 w 142"/>
                  <a:gd name="T7" fmla="*/ 70 h 666"/>
                </a:gdLst>
                <a:ahLst/>
                <a:cxnLst>
                  <a:cxn ang="0">
                    <a:pos x="T0" y="T1"/>
                  </a:cxn>
                  <a:cxn ang="0">
                    <a:pos x="T2" y="T3"/>
                  </a:cxn>
                  <a:cxn ang="0">
                    <a:pos x="T4" y="T5"/>
                  </a:cxn>
                  <a:cxn ang="0">
                    <a:pos x="T6" y="T7"/>
                  </a:cxn>
                </a:cxnLst>
                <a:rect l="0" t="0" r="r" b="b"/>
                <a:pathLst>
                  <a:path w="142" h="666">
                    <a:moveTo>
                      <a:pt x="0" y="665"/>
                    </a:moveTo>
                    <a:cubicBezTo>
                      <a:pt x="0" y="466"/>
                      <a:pt x="0" y="268"/>
                      <a:pt x="0" y="70"/>
                    </a:cubicBezTo>
                    <a:cubicBezTo>
                      <a:pt x="0" y="32"/>
                      <a:pt x="32" y="0"/>
                      <a:pt x="71" y="0"/>
                    </a:cubicBezTo>
                    <a:cubicBezTo>
                      <a:pt x="110" y="0"/>
                      <a:pt x="141" y="32"/>
                      <a:pt x="141" y="7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29" name="Freeform 115">
                <a:extLst>
                  <a:ext uri="{FF2B5EF4-FFF2-40B4-BE49-F238E27FC236}">
                    <a16:creationId xmlns:a16="http://schemas.microsoft.com/office/drawing/2014/main" id="{9437A62E-0DA0-9BE7-B0C3-D5F7F5F6DB58}"/>
                  </a:ext>
                </a:extLst>
              </p:cNvPr>
              <p:cNvSpPr>
                <a:spLocks noChangeArrowheads="1"/>
              </p:cNvSpPr>
              <p:nvPr/>
            </p:nvSpPr>
            <p:spPr bwMode="auto">
              <a:xfrm>
                <a:off x="10788774" y="2400908"/>
                <a:ext cx="370271" cy="415570"/>
              </a:xfrm>
              <a:custGeom>
                <a:avLst/>
                <a:gdLst>
                  <a:gd name="T0" fmla="*/ 519 w 830"/>
                  <a:gd name="T1" fmla="*/ 707 h 932"/>
                  <a:gd name="T2" fmla="*/ 272 w 830"/>
                  <a:gd name="T3" fmla="*/ 558 h 932"/>
                  <a:gd name="T4" fmla="*/ 259 w 830"/>
                  <a:gd name="T5" fmla="*/ 552 h 932"/>
                  <a:gd name="T6" fmla="*/ 139 w 830"/>
                  <a:gd name="T7" fmla="*/ 378 h 932"/>
                  <a:gd name="T8" fmla="*/ 41 w 830"/>
                  <a:gd name="T9" fmla="*/ 359 h 932"/>
                  <a:gd name="T10" fmla="*/ 22 w 830"/>
                  <a:gd name="T11" fmla="*/ 457 h 932"/>
                  <a:gd name="T12" fmla="*/ 247 w 830"/>
                  <a:gd name="T13" fmla="*/ 786 h 932"/>
                  <a:gd name="T14" fmla="*/ 247 w 830"/>
                  <a:gd name="T15" fmla="*/ 785 h 932"/>
                  <a:gd name="T16" fmla="*/ 513 w 830"/>
                  <a:gd name="T17" fmla="*/ 931 h 932"/>
                  <a:gd name="T18" fmla="*/ 829 w 830"/>
                  <a:gd name="T19" fmla="*/ 616 h 932"/>
                  <a:gd name="T20" fmla="*/ 829 w 830"/>
                  <a:gd name="T21" fmla="*/ 71 h 932"/>
                  <a:gd name="T22" fmla="*/ 758 w 830"/>
                  <a:gd name="T23" fmla="*/ 0 h 932"/>
                  <a:gd name="T24" fmla="*/ 687 w 830"/>
                  <a:gd name="T25" fmla="*/ 71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0" h="932">
                    <a:moveTo>
                      <a:pt x="519" y="707"/>
                    </a:moveTo>
                    <a:cubicBezTo>
                      <a:pt x="478" y="606"/>
                      <a:pt x="376" y="547"/>
                      <a:pt x="272" y="558"/>
                    </a:cubicBezTo>
                    <a:cubicBezTo>
                      <a:pt x="267" y="558"/>
                      <a:pt x="262" y="556"/>
                      <a:pt x="259" y="552"/>
                    </a:cubicBezTo>
                    <a:cubicBezTo>
                      <a:pt x="219" y="494"/>
                      <a:pt x="179" y="436"/>
                      <a:pt x="139" y="378"/>
                    </a:cubicBezTo>
                    <a:cubicBezTo>
                      <a:pt x="117" y="346"/>
                      <a:pt x="74" y="337"/>
                      <a:pt x="41" y="359"/>
                    </a:cubicBezTo>
                    <a:cubicBezTo>
                      <a:pt x="9" y="381"/>
                      <a:pt x="0" y="425"/>
                      <a:pt x="22" y="457"/>
                    </a:cubicBezTo>
                    <a:cubicBezTo>
                      <a:pt x="97" y="566"/>
                      <a:pt x="172" y="676"/>
                      <a:pt x="247" y="786"/>
                    </a:cubicBezTo>
                    <a:cubicBezTo>
                      <a:pt x="247" y="785"/>
                      <a:pt x="247" y="785"/>
                      <a:pt x="247" y="785"/>
                    </a:cubicBezTo>
                    <a:cubicBezTo>
                      <a:pt x="303" y="873"/>
                      <a:pt x="402" y="931"/>
                      <a:pt x="513" y="931"/>
                    </a:cubicBezTo>
                    <a:cubicBezTo>
                      <a:pt x="687" y="931"/>
                      <a:pt x="829" y="790"/>
                      <a:pt x="829" y="616"/>
                    </a:cubicBezTo>
                    <a:cubicBezTo>
                      <a:pt x="829" y="434"/>
                      <a:pt x="829" y="252"/>
                      <a:pt x="829" y="71"/>
                    </a:cubicBezTo>
                    <a:cubicBezTo>
                      <a:pt x="829" y="32"/>
                      <a:pt x="797" y="0"/>
                      <a:pt x="758" y="0"/>
                    </a:cubicBezTo>
                    <a:cubicBezTo>
                      <a:pt x="719" y="0"/>
                      <a:pt x="687" y="32"/>
                      <a:pt x="687" y="7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130" name="Group 129">
            <a:extLst>
              <a:ext uri="{FF2B5EF4-FFF2-40B4-BE49-F238E27FC236}">
                <a16:creationId xmlns:a16="http://schemas.microsoft.com/office/drawing/2014/main" id="{22F5889C-29C7-8859-C00D-462EC0BDC242}"/>
              </a:ext>
            </a:extLst>
          </p:cNvPr>
          <p:cNvGrpSpPr>
            <a:grpSpLocks noChangeAspect="1"/>
          </p:cNvGrpSpPr>
          <p:nvPr/>
        </p:nvGrpSpPr>
        <p:grpSpPr>
          <a:xfrm>
            <a:off x="8243521" y="11693494"/>
            <a:ext cx="1142794" cy="1142796"/>
            <a:chOff x="6690922" y="510965"/>
            <a:chExt cx="788067" cy="788068"/>
          </a:xfrm>
        </p:grpSpPr>
        <p:sp>
          <p:nvSpPr>
            <p:cNvPr id="131" name="Freeform 77">
              <a:extLst>
                <a:ext uri="{FF2B5EF4-FFF2-40B4-BE49-F238E27FC236}">
                  <a16:creationId xmlns:a16="http://schemas.microsoft.com/office/drawing/2014/main" id="{32F89FF7-3942-0E47-BD16-55E98EE84E59}"/>
                </a:ext>
              </a:extLst>
            </p:cNvPr>
            <p:cNvSpPr>
              <a:spLocks noChangeArrowheads="1"/>
            </p:cNvSpPr>
            <p:nvPr/>
          </p:nvSpPr>
          <p:spPr bwMode="auto">
            <a:xfrm>
              <a:off x="6690922" y="510965"/>
              <a:ext cx="788067" cy="788068"/>
            </a:xfrm>
            <a:custGeom>
              <a:avLst/>
              <a:gdLst>
                <a:gd name="T0" fmla="*/ 1467 w 1751"/>
                <a:gd name="T1" fmla="*/ 1750 h 1751"/>
                <a:gd name="T2" fmla="*/ 1750 w 1751"/>
                <a:gd name="T3" fmla="*/ 1467 h 1751"/>
                <a:gd name="T4" fmla="*/ 1750 w 1751"/>
                <a:gd name="T5" fmla="*/ 282 h 1751"/>
                <a:gd name="T6" fmla="*/ 1467 w 1751"/>
                <a:gd name="T7" fmla="*/ 0 h 1751"/>
                <a:gd name="T8" fmla="*/ 282 w 1751"/>
                <a:gd name="T9" fmla="*/ 0 h 1751"/>
                <a:gd name="T10" fmla="*/ 0 w 1751"/>
                <a:gd name="T11" fmla="*/ 282 h 1751"/>
                <a:gd name="T12" fmla="*/ 0 w 1751"/>
                <a:gd name="T13" fmla="*/ 1467 h 1751"/>
                <a:gd name="T14" fmla="*/ 282 w 1751"/>
                <a:gd name="T15" fmla="*/ 1750 h 1751"/>
                <a:gd name="T16" fmla="*/ 1467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7" y="1750"/>
                  </a:moveTo>
                  <a:cubicBezTo>
                    <a:pt x="1623" y="1750"/>
                    <a:pt x="1750" y="1623"/>
                    <a:pt x="1750" y="1467"/>
                  </a:cubicBezTo>
                  <a:cubicBezTo>
                    <a:pt x="1750" y="1072"/>
                    <a:pt x="1750" y="677"/>
                    <a:pt x="1750" y="282"/>
                  </a:cubicBezTo>
                  <a:cubicBezTo>
                    <a:pt x="1750" y="127"/>
                    <a:pt x="1623" y="0"/>
                    <a:pt x="1467" y="0"/>
                  </a:cubicBezTo>
                  <a:cubicBezTo>
                    <a:pt x="1072" y="0"/>
                    <a:pt x="677" y="0"/>
                    <a:pt x="282" y="0"/>
                  </a:cubicBezTo>
                  <a:cubicBezTo>
                    <a:pt x="127" y="0"/>
                    <a:pt x="0" y="127"/>
                    <a:pt x="0" y="282"/>
                  </a:cubicBezTo>
                  <a:cubicBezTo>
                    <a:pt x="0" y="677"/>
                    <a:pt x="0" y="1072"/>
                    <a:pt x="0" y="1467"/>
                  </a:cubicBezTo>
                  <a:cubicBezTo>
                    <a:pt x="0" y="1623"/>
                    <a:pt x="127" y="1750"/>
                    <a:pt x="282" y="1750"/>
                  </a:cubicBezTo>
                  <a:cubicBezTo>
                    <a:pt x="677" y="1750"/>
                    <a:pt x="1072" y="1750"/>
                    <a:pt x="1467"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32" name="Group 131">
              <a:extLst>
                <a:ext uri="{FF2B5EF4-FFF2-40B4-BE49-F238E27FC236}">
                  <a16:creationId xmlns:a16="http://schemas.microsoft.com/office/drawing/2014/main" id="{208ED5BD-F2B5-7AB6-2DB8-8275274BC345}"/>
                </a:ext>
              </a:extLst>
            </p:cNvPr>
            <p:cNvGrpSpPr/>
            <p:nvPr/>
          </p:nvGrpSpPr>
          <p:grpSpPr>
            <a:xfrm>
              <a:off x="6899352" y="667786"/>
              <a:ext cx="422819" cy="420831"/>
              <a:chOff x="6899352" y="667786"/>
              <a:chExt cx="422819" cy="420831"/>
            </a:xfrm>
          </p:grpSpPr>
          <p:sp>
            <p:nvSpPr>
              <p:cNvPr id="133" name="Freeform 78">
                <a:extLst>
                  <a:ext uri="{FF2B5EF4-FFF2-40B4-BE49-F238E27FC236}">
                    <a16:creationId xmlns:a16="http://schemas.microsoft.com/office/drawing/2014/main" id="{3345B424-22C2-EA22-82FA-8F5617EF7C24}"/>
                  </a:ext>
                </a:extLst>
              </p:cNvPr>
              <p:cNvSpPr>
                <a:spLocks noChangeArrowheads="1"/>
              </p:cNvSpPr>
              <p:nvPr/>
            </p:nvSpPr>
            <p:spPr bwMode="auto">
              <a:xfrm>
                <a:off x="7199097" y="745202"/>
                <a:ext cx="45656" cy="45657"/>
              </a:xfrm>
              <a:custGeom>
                <a:avLst/>
                <a:gdLst>
                  <a:gd name="T0" fmla="*/ 0 w 101"/>
                  <a:gd name="T1" fmla="*/ 0 h 100"/>
                  <a:gd name="T2" fmla="*/ 100 w 101"/>
                  <a:gd name="T3" fmla="*/ 99 h 100"/>
                </a:gdLst>
                <a:ahLst/>
                <a:cxnLst>
                  <a:cxn ang="0">
                    <a:pos x="T0" y="T1"/>
                  </a:cxn>
                  <a:cxn ang="0">
                    <a:pos x="T2" y="T3"/>
                  </a:cxn>
                </a:cxnLst>
                <a:rect l="0" t="0" r="r" b="b"/>
                <a:pathLst>
                  <a:path w="101" h="100">
                    <a:moveTo>
                      <a:pt x="0" y="0"/>
                    </a:moveTo>
                    <a:cubicBezTo>
                      <a:pt x="34" y="33"/>
                      <a:pt x="67" y="66"/>
                      <a:pt x="100" y="9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34" name="Freeform 79">
                <a:extLst>
                  <a:ext uri="{FF2B5EF4-FFF2-40B4-BE49-F238E27FC236}">
                    <a16:creationId xmlns:a16="http://schemas.microsoft.com/office/drawing/2014/main" id="{B8C23397-199C-E3D6-3A50-9D0E71807A32}"/>
                  </a:ext>
                </a:extLst>
              </p:cNvPr>
              <p:cNvSpPr>
                <a:spLocks noChangeArrowheads="1"/>
              </p:cNvSpPr>
              <p:nvPr/>
            </p:nvSpPr>
            <p:spPr bwMode="auto">
              <a:xfrm>
                <a:off x="7234828" y="709471"/>
                <a:ext cx="45656" cy="45657"/>
              </a:xfrm>
              <a:custGeom>
                <a:avLst/>
                <a:gdLst>
                  <a:gd name="T0" fmla="*/ 0 w 101"/>
                  <a:gd name="T1" fmla="*/ 0 h 101"/>
                  <a:gd name="T2" fmla="*/ 100 w 101"/>
                  <a:gd name="T3" fmla="*/ 100 h 101"/>
                </a:gdLst>
                <a:ahLst/>
                <a:cxnLst>
                  <a:cxn ang="0">
                    <a:pos x="T0" y="T1"/>
                  </a:cxn>
                  <a:cxn ang="0">
                    <a:pos x="T2" y="T3"/>
                  </a:cxn>
                </a:cxnLst>
                <a:rect l="0" t="0" r="r" b="b"/>
                <a:pathLst>
                  <a:path w="101" h="101">
                    <a:moveTo>
                      <a:pt x="0" y="0"/>
                    </a:moveTo>
                    <a:cubicBezTo>
                      <a:pt x="34" y="33"/>
                      <a:pt x="67" y="67"/>
                      <a:pt x="100" y="10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35" name="Freeform 80">
                <a:extLst>
                  <a:ext uri="{FF2B5EF4-FFF2-40B4-BE49-F238E27FC236}">
                    <a16:creationId xmlns:a16="http://schemas.microsoft.com/office/drawing/2014/main" id="{830EB2EA-CD54-8DA3-DE98-5F1FBB9FB10D}"/>
                  </a:ext>
                </a:extLst>
              </p:cNvPr>
              <p:cNvSpPr>
                <a:spLocks noChangeArrowheads="1"/>
              </p:cNvSpPr>
              <p:nvPr/>
            </p:nvSpPr>
            <p:spPr bwMode="auto">
              <a:xfrm>
                <a:off x="7006546" y="667786"/>
                <a:ext cx="315625" cy="315624"/>
              </a:xfrm>
              <a:custGeom>
                <a:avLst/>
                <a:gdLst>
                  <a:gd name="T0" fmla="*/ 83 w 703"/>
                  <a:gd name="T1" fmla="*/ 519 h 703"/>
                  <a:gd name="T2" fmla="*/ 591 w 703"/>
                  <a:gd name="T3" fmla="*/ 11 h 703"/>
                  <a:gd name="T4" fmla="*/ 631 w 703"/>
                  <a:gd name="T5" fmla="*/ 11 h 703"/>
                  <a:gd name="T6" fmla="*/ 691 w 703"/>
                  <a:gd name="T7" fmla="*/ 71 h 703"/>
                  <a:gd name="T8" fmla="*/ 691 w 703"/>
                  <a:gd name="T9" fmla="*/ 111 h 703"/>
                  <a:gd name="T10" fmla="*/ 182 w 703"/>
                  <a:gd name="T11" fmla="*/ 619 h 703"/>
                  <a:gd name="T12" fmla="*/ 21 w 703"/>
                  <a:gd name="T13" fmla="*/ 699 h 703"/>
                  <a:gd name="T14" fmla="*/ 5 w 703"/>
                  <a:gd name="T15" fmla="*/ 697 h 703"/>
                  <a:gd name="T16" fmla="*/ 2 w 703"/>
                  <a:gd name="T17" fmla="*/ 680 h 703"/>
                  <a:gd name="T18" fmla="*/ 83 w 703"/>
                  <a:gd name="T19" fmla="*/ 519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3" h="703">
                    <a:moveTo>
                      <a:pt x="83" y="519"/>
                    </a:moveTo>
                    <a:cubicBezTo>
                      <a:pt x="253" y="350"/>
                      <a:pt x="422" y="180"/>
                      <a:pt x="591" y="11"/>
                    </a:cubicBezTo>
                    <a:cubicBezTo>
                      <a:pt x="602" y="0"/>
                      <a:pt x="620" y="0"/>
                      <a:pt x="631" y="11"/>
                    </a:cubicBezTo>
                    <a:cubicBezTo>
                      <a:pt x="651" y="31"/>
                      <a:pt x="671" y="51"/>
                      <a:pt x="691" y="71"/>
                    </a:cubicBezTo>
                    <a:cubicBezTo>
                      <a:pt x="702" y="82"/>
                      <a:pt x="702" y="100"/>
                      <a:pt x="691" y="111"/>
                    </a:cubicBezTo>
                    <a:cubicBezTo>
                      <a:pt x="522" y="280"/>
                      <a:pt x="352" y="450"/>
                      <a:pt x="182" y="619"/>
                    </a:cubicBezTo>
                    <a:cubicBezTo>
                      <a:pt x="129" y="646"/>
                      <a:pt x="75" y="672"/>
                      <a:pt x="21" y="699"/>
                    </a:cubicBezTo>
                    <a:cubicBezTo>
                      <a:pt x="16" y="702"/>
                      <a:pt x="9" y="701"/>
                      <a:pt x="5" y="697"/>
                    </a:cubicBezTo>
                    <a:cubicBezTo>
                      <a:pt x="1" y="692"/>
                      <a:pt x="0" y="686"/>
                      <a:pt x="2" y="680"/>
                    </a:cubicBezTo>
                    <a:cubicBezTo>
                      <a:pt x="29" y="626"/>
                      <a:pt x="56" y="573"/>
                      <a:pt x="83" y="51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36" name="Freeform 81">
                <a:extLst>
                  <a:ext uri="{FF2B5EF4-FFF2-40B4-BE49-F238E27FC236}">
                    <a16:creationId xmlns:a16="http://schemas.microsoft.com/office/drawing/2014/main" id="{4E1E0A3A-2A77-77A5-438F-7682C67E6D5C}"/>
                  </a:ext>
                </a:extLst>
              </p:cNvPr>
              <p:cNvSpPr>
                <a:spLocks noChangeArrowheads="1"/>
              </p:cNvSpPr>
              <p:nvPr/>
            </p:nvSpPr>
            <p:spPr bwMode="auto">
              <a:xfrm>
                <a:off x="6899352" y="685650"/>
                <a:ext cx="402967" cy="402967"/>
              </a:xfrm>
              <a:custGeom>
                <a:avLst/>
                <a:gdLst>
                  <a:gd name="T0" fmla="*/ 416 w 897"/>
                  <a:gd name="T1" fmla="*/ 379 h 897"/>
                  <a:gd name="T2" fmla="*/ 48 w 897"/>
                  <a:gd name="T3" fmla="*/ 11 h 897"/>
                  <a:gd name="T4" fmla="*/ 17 w 897"/>
                  <a:gd name="T5" fmla="*/ 5 h 897"/>
                  <a:gd name="T6" fmla="*/ 0 w 897"/>
                  <a:gd name="T7" fmla="*/ 31 h 897"/>
                  <a:gd name="T8" fmla="*/ 0 w 897"/>
                  <a:gd name="T9" fmla="*/ 868 h 897"/>
                  <a:gd name="T10" fmla="*/ 28 w 897"/>
                  <a:gd name="T11" fmla="*/ 896 h 897"/>
                  <a:gd name="T12" fmla="*/ 865 w 897"/>
                  <a:gd name="T13" fmla="*/ 896 h 897"/>
                  <a:gd name="T14" fmla="*/ 891 w 897"/>
                  <a:gd name="T15" fmla="*/ 878 h 897"/>
                  <a:gd name="T16" fmla="*/ 885 w 897"/>
                  <a:gd name="T17" fmla="*/ 848 h 897"/>
                  <a:gd name="T18" fmla="*/ 516 w 897"/>
                  <a:gd name="T19" fmla="*/ 479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7" h="897">
                    <a:moveTo>
                      <a:pt x="416" y="379"/>
                    </a:moveTo>
                    <a:cubicBezTo>
                      <a:pt x="294" y="256"/>
                      <a:pt x="171" y="134"/>
                      <a:pt x="48" y="11"/>
                    </a:cubicBezTo>
                    <a:cubicBezTo>
                      <a:pt x="40" y="3"/>
                      <a:pt x="28" y="0"/>
                      <a:pt x="17" y="5"/>
                    </a:cubicBezTo>
                    <a:cubicBezTo>
                      <a:pt x="7" y="9"/>
                      <a:pt x="0" y="19"/>
                      <a:pt x="0" y="31"/>
                    </a:cubicBezTo>
                    <a:cubicBezTo>
                      <a:pt x="0" y="310"/>
                      <a:pt x="0" y="589"/>
                      <a:pt x="0" y="868"/>
                    </a:cubicBezTo>
                    <a:cubicBezTo>
                      <a:pt x="0" y="883"/>
                      <a:pt x="12" y="896"/>
                      <a:pt x="28" y="896"/>
                    </a:cubicBezTo>
                    <a:cubicBezTo>
                      <a:pt x="307" y="896"/>
                      <a:pt x="586" y="896"/>
                      <a:pt x="865" y="896"/>
                    </a:cubicBezTo>
                    <a:cubicBezTo>
                      <a:pt x="876" y="896"/>
                      <a:pt x="887" y="888"/>
                      <a:pt x="891" y="878"/>
                    </a:cubicBezTo>
                    <a:cubicBezTo>
                      <a:pt x="896" y="867"/>
                      <a:pt x="893" y="856"/>
                      <a:pt x="885" y="848"/>
                    </a:cubicBezTo>
                    <a:cubicBezTo>
                      <a:pt x="762" y="725"/>
                      <a:pt x="639" y="602"/>
                      <a:pt x="516" y="47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37" name="Freeform 82">
                <a:extLst>
                  <a:ext uri="{FF2B5EF4-FFF2-40B4-BE49-F238E27FC236}">
                    <a16:creationId xmlns:a16="http://schemas.microsoft.com/office/drawing/2014/main" id="{D8E7F618-C164-76D9-52F2-7727B80D7829}"/>
                  </a:ext>
                </a:extLst>
              </p:cNvPr>
              <p:cNvSpPr>
                <a:spLocks noChangeArrowheads="1"/>
              </p:cNvSpPr>
              <p:nvPr/>
            </p:nvSpPr>
            <p:spPr bwMode="auto">
              <a:xfrm>
                <a:off x="6962874" y="830560"/>
                <a:ext cx="194536" cy="194536"/>
              </a:xfrm>
              <a:custGeom>
                <a:avLst/>
                <a:gdLst>
                  <a:gd name="T0" fmla="*/ 14 w 433"/>
                  <a:gd name="T1" fmla="*/ 433 h 434"/>
                  <a:gd name="T2" fmla="*/ 0 w 433"/>
                  <a:gd name="T3" fmla="*/ 419 h 434"/>
                  <a:gd name="T4" fmla="*/ 0 w 433"/>
                  <a:gd name="T5" fmla="*/ 15 h 434"/>
                  <a:gd name="T6" fmla="*/ 9 w 433"/>
                  <a:gd name="T7" fmla="*/ 2 h 434"/>
                  <a:gd name="T8" fmla="*/ 24 w 433"/>
                  <a:gd name="T9" fmla="*/ 6 h 434"/>
                  <a:gd name="T10" fmla="*/ 427 w 433"/>
                  <a:gd name="T11" fmla="*/ 409 h 434"/>
                  <a:gd name="T12" fmla="*/ 430 w 433"/>
                  <a:gd name="T13" fmla="*/ 424 h 434"/>
                  <a:gd name="T14" fmla="*/ 417 w 433"/>
                  <a:gd name="T15" fmla="*/ 433 h 434"/>
                  <a:gd name="T16" fmla="*/ 14 w 433"/>
                  <a:gd name="T17" fmla="*/ 433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3" h="434">
                    <a:moveTo>
                      <a:pt x="14" y="433"/>
                    </a:moveTo>
                    <a:cubicBezTo>
                      <a:pt x="6" y="433"/>
                      <a:pt x="0" y="426"/>
                      <a:pt x="0" y="419"/>
                    </a:cubicBezTo>
                    <a:cubicBezTo>
                      <a:pt x="0" y="284"/>
                      <a:pt x="0" y="150"/>
                      <a:pt x="0" y="15"/>
                    </a:cubicBezTo>
                    <a:cubicBezTo>
                      <a:pt x="0" y="10"/>
                      <a:pt x="3" y="5"/>
                      <a:pt x="9" y="2"/>
                    </a:cubicBezTo>
                    <a:cubicBezTo>
                      <a:pt x="14" y="0"/>
                      <a:pt x="20" y="1"/>
                      <a:pt x="24" y="6"/>
                    </a:cubicBezTo>
                    <a:cubicBezTo>
                      <a:pt x="159" y="140"/>
                      <a:pt x="293" y="275"/>
                      <a:pt x="427" y="409"/>
                    </a:cubicBezTo>
                    <a:cubicBezTo>
                      <a:pt x="431" y="413"/>
                      <a:pt x="432" y="419"/>
                      <a:pt x="430" y="424"/>
                    </a:cubicBezTo>
                    <a:cubicBezTo>
                      <a:pt x="428" y="429"/>
                      <a:pt x="423" y="433"/>
                      <a:pt x="417" y="433"/>
                    </a:cubicBezTo>
                    <a:cubicBezTo>
                      <a:pt x="283" y="433"/>
                      <a:pt x="149" y="433"/>
                      <a:pt x="14" y="433"/>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grpSp>
        <p:nvGrpSpPr>
          <p:cNvPr id="138" name="Group 137">
            <a:extLst>
              <a:ext uri="{FF2B5EF4-FFF2-40B4-BE49-F238E27FC236}">
                <a16:creationId xmlns:a16="http://schemas.microsoft.com/office/drawing/2014/main" id="{BFD9EF63-49BA-7597-08F1-C1DE04A9AD53}"/>
              </a:ext>
            </a:extLst>
          </p:cNvPr>
          <p:cNvGrpSpPr>
            <a:grpSpLocks noChangeAspect="1"/>
          </p:cNvGrpSpPr>
          <p:nvPr/>
        </p:nvGrpSpPr>
        <p:grpSpPr>
          <a:xfrm>
            <a:off x="10606757" y="11693494"/>
            <a:ext cx="1142798" cy="1142796"/>
            <a:chOff x="6690921" y="3812116"/>
            <a:chExt cx="788068" cy="788067"/>
          </a:xfrm>
        </p:grpSpPr>
        <p:sp>
          <p:nvSpPr>
            <p:cNvPr id="139" name="Freeform 242">
              <a:extLst>
                <a:ext uri="{FF2B5EF4-FFF2-40B4-BE49-F238E27FC236}">
                  <a16:creationId xmlns:a16="http://schemas.microsoft.com/office/drawing/2014/main" id="{E6EADA0C-9078-2888-3268-612984B51940}"/>
                </a:ext>
              </a:extLst>
            </p:cNvPr>
            <p:cNvSpPr>
              <a:spLocks noChangeArrowheads="1"/>
            </p:cNvSpPr>
            <p:nvPr/>
          </p:nvSpPr>
          <p:spPr bwMode="auto">
            <a:xfrm>
              <a:off x="6690921" y="3812116"/>
              <a:ext cx="788068" cy="788067"/>
            </a:xfrm>
            <a:custGeom>
              <a:avLst/>
              <a:gdLst>
                <a:gd name="T0" fmla="*/ 1467 w 1751"/>
                <a:gd name="T1" fmla="*/ 1750 h 1751"/>
                <a:gd name="T2" fmla="*/ 1750 w 1751"/>
                <a:gd name="T3" fmla="*/ 1468 h 1751"/>
                <a:gd name="T4" fmla="*/ 1750 w 1751"/>
                <a:gd name="T5" fmla="*/ 282 h 1751"/>
                <a:gd name="T6" fmla="*/ 1467 w 1751"/>
                <a:gd name="T7" fmla="*/ 0 h 1751"/>
                <a:gd name="T8" fmla="*/ 282 w 1751"/>
                <a:gd name="T9" fmla="*/ 0 h 1751"/>
                <a:gd name="T10" fmla="*/ 0 w 1751"/>
                <a:gd name="T11" fmla="*/ 282 h 1751"/>
                <a:gd name="T12" fmla="*/ 0 w 1751"/>
                <a:gd name="T13" fmla="*/ 1468 h 1751"/>
                <a:gd name="T14" fmla="*/ 282 w 1751"/>
                <a:gd name="T15" fmla="*/ 1750 h 1751"/>
                <a:gd name="T16" fmla="*/ 1467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7" y="1750"/>
                  </a:moveTo>
                  <a:cubicBezTo>
                    <a:pt x="1623" y="1750"/>
                    <a:pt x="1750" y="1623"/>
                    <a:pt x="1750" y="1468"/>
                  </a:cubicBezTo>
                  <a:cubicBezTo>
                    <a:pt x="1750" y="1073"/>
                    <a:pt x="1750" y="678"/>
                    <a:pt x="1750" y="282"/>
                  </a:cubicBezTo>
                  <a:cubicBezTo>
                    <a:pt x="1750" y="127"/>
                    <a:pt x="1623" y="0"/>
                    <a:pt x="1467" y="0"/>
                  </a:cubicBezTo>
                  <a:cubicBezTo>
                    <a:pt x="1072" y="0"/>
                    <a:pt x="677" y="0"/>
                    <a:pt x="282" y="0"/>
                  </a:cubicBezTo>
                  <a:cubicBezTo>
                    <a:pt x="127" y="0"/>
                    <a:pt x="0" y="127"/>
                    <a:pt x="0" y="282"/>
                  </a:cubicBezTo>
                  <a:cubicBezTo>
                    <a:pt x="0" y="678"/>
                    <a:pt x="0" y="1073"/>
                    <a:pt x="0" y="1468"/>
                  </a:cubicBezTo>
                  <a:cubicBezTo>
                    <a:pt x="0" y="1623"/>
                    <a:pt x="127" y="1750"/>
                    <a:pt x="282" y="1750"/>
                  </a:cubicBezTo>
                  <a:cubicBezTo>
                    <a:pt x="677" y="1750"/>
                    <a:pt x="1072" y="1750"/>
                    <a:pt x="1467"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40" name="Group 139">
              <a:extLst>
                <a:ext uri="{FF2B5EF4-FFF2-40B4-BE49-F238E27FC236}">
                  <a16:creationId xmlns:a16="http://schemas.microsoft.com/office/drawing/2014/main" id="{E410CF09-0F9B-AF27-39E9-44AC759B9DCF}"/>
                </a:ext>
              </a:extLst>
            </p:cNvPr>
            <p:cNvGrpSpPr/>
            <p:nvPr/>
          </p:nvGrpSpPr>
          <p:grpSpPr>
            <a:xfrm>
              <a:off x="6867592" y="4028487"/>
              <a:ext cx="436712" cy="355326"/>
              <a:chOff x="6867592" y="4028487"/>
              <a:chExt cx="436712" cy="355326"/>
            </a:xfrm>
          </p:grpSpPr>
          <p:sp>
            <p:nvSpPr>
              <p:cNvPr id="141" name="Freeform 243">
                <a:extLst>
                  <a:ext uri="{FF2B5EF4-FFF2-40B4-BE49-F238E27FC236}">
                    <a16:creationId xmlns:a16="http://schemas.microsoft.com/office/drawing/2014/main" id="{05FF1155-02E2-017F-AAA2-FBF47AAF984A}"/>
                  </a:ext>
                </a:extLst>
              </p:cNvPr>
              <p:cNvSpPr>
                <a:spLocks noChangeArrowheads="1"/>
              </p:cNvSpPr>
              <p:nvPr/>
            </p:nvSpPr>
            <p:spPr bwMode="auto">
              <a:xfrm>
                <a:off x="6867592" y="4092008"/>
                <a:ext cx="111163" cy="228282"/>
              </a:xfrm>
              <a:custGeom>
                <a:avLst/>
                <a:gdLst>
                  <a:gd name="T0" fmla="*/ 245 w 246"/>
                  <a:gd name="T1" fmla="*/ 508 h 509"/>
                  <a:gd name="T2" fmla="*/ 11 w 246"/>
                  <a:gd name="T3" fmla="*/ 274 h 509"/>
                  <a:gd name="T4" fmla="*/ 11 w 246"/>
                  <a:gd name="T5" fmla="*/ 234 h 509"/>
                  <a:gd name="T6" fmla="*/ 245 w 246"/>
                  <a:gd name="T7" fmla="*/ 0 h 509"/>
                </a:gdLst>
                <a:ahLst/>
                <a:cxnLst>
                  <a:cxn ang="0">
                    <a:pos x="T0" y="T1"/>
                  </a:cxn>
                  <a:cxn ang="0">
                    <a:pos x="T2" y="T3"/>
                  </a:cxn>
                  <a:cxn ang="0">
                    <a:pos x="T4" y="T5"/>
                  </a:cxn>
                  <a:cxn ang="0">
                    <a:pos x="T6" y="T7"/>
                  </a:cxn>
                </a:cxnLst>
                <a:rect l="0" t="0" r="r" b="b"/>
                <a:pathLst>
                  <a:path w="246" h="509">
                    <a:moveTo>
                      <a:pt x="245" y="508"/>
                    </a:moveTo>
                    <a:cubicBezTo>
                      <a:pt x="167" y="430"/>
                      <a:pt x="89" y="352"/>
                      <a:pt x="11" y="274"/>
                    </a:cubicBezTo>
                    <a:cubicBezTo>
                      <a:pt x="0" y="263"/>
                      <a:pt x="0" y="245"/>
                      <a:pt x="11" y="234"/>
                    </a:cubicBezTo>
                    <a:cubicBezTo>
                      <a:pt x="89" y="156"/>
                      <a:pt x="167" y="78"/>
                      <a:pt x="245"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42" name="Freeform 244">
                <a:extLst>
                  <a:ext uri="{FF2B5EF4-FFF2-40B4-BE49-F238E27FC236}">
                    <a16:creationId xmlns:a16="http://schemas.microsoft.com/office/drawing/2014/main" id="{78A55174-7544-7FDB-5F7F-13EED15F27CA}"/>
                  </a:ext>
                </a:extLst>
              </p:cNvPr>
              <p:cNvSpPr>
                <a:spLocks noChangeArrowheads="1"/>
              </p:cNvSpPr>
              <p:nvPr/>
            </p:nvSpPr>
            <p:spPr bwMode="auto">
              <a:xfrm>
                <a:off x="7193141" y="4092008"/>
                <a:ext cx="111163" cy="228282"/>
              </a:xfrm>
              <a:custGeom>
                <a:avLst/>
                <a:gdLst>
                  <a:gd name="T0" fmla="*/ 0 w 246"/>
                  <a:gd name="T1" fmla="*/ 508 h 509"/>
                  <a:gd name="T2" fmla="*/ 234 w 246"/>
                  <a:gd name="T3" fmla="*/ 274 h 509"/>
                  <a:gd name="T4" fmla="*/ 234 w 246"/>
                  <a:gd name="T5" fmla="*/ 234 h 509"/>
                  <a:gd name="T6" fmla="*/ 0 w 246"/>
                  <a:gd name="T7" fmla="*/ 0 h 509"/>
                </a:gdLst>
                <a:ahLst/>
                <a:cxnLst>
                  <a:cxn ang="0">
                    <a:pos x="T0" y="T1"/>
                  </a:cxn>
                  <a:cxn ang="0">
                    <a:pos x="T2" y="T3"/>
                  </a:cxn>
                  <a:cxn ang="0">
                    <a:pos x="T4" y="T5"/>
                  </a:cxn>
                  <a:cxn ang="0">
                    <a:pos x="T6" y="T7"/>
                  </a:cxn>
                </a:cxnLst>
                <a:rect l="0" t="0" r="r" b="b"/>
                <a:pathLst>
                  <a:path w="246" h="509">
                    <a:moveTo>
                      <a:pt x="0" y="508"/>
                    </a:moveTo>
                    <a:cubicBezTo>
                      <a:pt x="78" y="430"/>
                      <a:pt x="156" y="352"/>
                      <a:pt x="234" y="274"/>
                    </a:cubicBezTo>
                    <a:cubicBezTo>
                      <a:pt x="245" y="263"/>
                      <a:pt x="245" y="245"/>
                      <a:pt x="234" y="234"/>
                    </a:cubicBezTo>
                    <a:cubicBezTo>
                      <a:pt x="156" y="156"/>
                      <a:pt x="78" y="78"/>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43" name="Freeform 245">
                <a:extLst>
                  <a:ext uri="{FF2B5EF4-FFF2-40B4-BE49-F238E27FC236}">
                    <a16:creationId xmlns:a16="http://schemas.microsoft.com/office/drawing/2014/main" id="{E648B5F4-D30C-EEA0-F70F-19A6D81F73C2}"/>
                  </a:ext>
                </a:extLst>
              </p:cNvPr>
              <p:cNvSpPr>
                <a:spLocks noChangeArrowheads="1"/>
              </p:cNvSpPr>
              <p:nvPr/>
            </p:nvSpPr>
            <p:spPr bwMode="auto">
              <a:xfrm>
                <a:off x="7040291" y="4028487"/>
                <a:ext cx="89328" cy="355326"/>
              </a:xfrm>
              <a:custGeom>
                <a:avLst/>
                <a:gdLst>
                  <a:gd name="T0" fmla="*/ 198 w 199"/>
                  <a:gd name="T1" fmla="*/ 0 h 791"/>
                  <a:gd name="T2" fmla="*/ 0 w 199"/>
                  <a:gd name="T3" fmla="*/ 790 h 791"/>
                </a:gdLst>
                <a:ahLst/>
                <a:cxnLst>
                  <a:cxn ang="0">
                    <a:pos x="T0" y="T1"/>
                  </a:cxn>
                  <a:cxn ang="0">
                    <a:pos x="T2" y="T3"/>
                  </a:cxn>
                </a:cxnLst>
                <a:rect l="0" t="0" r="r" b="b"/>
                <a:pathLst>
                  <a:path w="199" h="791">
                    <a:moveTo>
                      <a:pt x="198" y="0"/>
                    </a:moveTo>
                    <a:cubicBezTo>
                      <a:pt x="132" y="264"/>
                      <a:pt x="66" y="527"/>
                      <a:pt x="0" y="79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144" name="Group 143">
            <a:extLst>
              <a:ext uri="{FF2B5EF4-FFF2-40B4-BE49-F238E27FC236}">
                <a16:creationId xmlns:a16="http://schemas.microsoft.com/office/drawing/2014/main" id="{BE972193-7646-5666-27A6-02111A6C9591}"/>
              </a:ext>
            </a:extLst>
          </p:cNvPr>
          <p:cNvGrpSpPr>
            <a:grpSpLocks noChangeAspect="1"/>
          </p:cNvGrpSpPr>
          <p:nvPr/>
        </p:nvGrpSpPr>
        <p:grpSpPr>
          <a:xfrm>
            <a:off x="15678041" y="11681469"/>
            <a:ext cx="1142794" cy="1142794"/>
            <a:chOff x="2728748" y="3804176"/>
            <a:chExt cx="788067" cy="788067"/>
          </a:xfrm>
        </p:grpSpPr>
        <p:sp>
          <p:nvSpPr>
            <p:cNvPr id="145" name="Freeform 157">
              <a:extLst>
                <a:ext uri="{FF2B5EF4-FFF2-40B4-BE49-F238E27FC236}">
                  <a16:creationId xmlns:a16="http://schemas.microsoft.com/office/drawing/2014/main" id="{7E879734-374D-B4B6-DD8C-8A9A2D024FAE}"/>
                </a:ext>
              </a:extLst>
            </p:cNvPr>
            <p:cNvSpPr>
              <a:spLocks noChangeArrowheads="1"/>
            </p:cNvSpPr>
            <p:nvPr/>
          </p:nvSpPr>
          <p:spPr bwMode="auto">
            <a:xfrm>
              <a:off x="2728748" y="3804176"/>
              <a:ext cx="788067" cy="788067"/>
            </a:xfrm>
            <a:custGeom>
              <a:avLst/>
              <a:gdLst>
                <a:gd name="T0" fmla="*/ 1467 w 1751"/>
                <a:gd name="T1" fmla="*/ 1750 h 1751"/>
                <a:gd name="T2" fmla="*/ 1750 w 1751"/>
                <a:gd name="T3" fmla="*/ 1468 h 1751"/>
                <a:gd name="T4" fmla="*/ 1750 w 1751"/>
                <a:gd name="T5" fmla="*/ 282 h 1751"/>
                <a:gd name="T6" fmla="*/ 1467 w 1751"/>
                <a:gd name="T7" fmla="*/ 0 h 1751"/>
                <a:gd name="T8" fmla="*/ 282 w 1751"/>
                <a:gd name="T9" fmla="*/ 0 h 1751"/>
                <a:gd name="T10" fmla="*/ 0 w 1751"/>
                <a:gd name="T11" fmla="*/ 282 h 1751"/>
                <a:gd name="T12" fmla="*/ 0 w 1751"/>
                <a:gd name="T13" fmla="*/ 1468 h 1751"/>
                <a:gd name="T14" fmla="*/ 282 w 1751"/>
                <a:gd name="T15" fmla="*/ 1750 h 1751"/>
                <a:gd name="T16" fmla="*/ 1467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7" y="1750"/>
                  </a:moveTo>
                  <a:cubicBezTo>
                    <a:pt x="1623" y="1750"/>
                    <a:pt x="1750" y="1623"/>
                    <a:pt x="1750" y="1468"/>
                  </a:cubicBezTo>
                  <a:cubicBezTo>
                    <a:pt x="1750" y="1073"/>
                    <a:pt x="1750" y="678"/>
                    <a:pt x="1750" y="282"/>
                  </a:cubicBezTo>
                  <a:cubicBezTo>
                    <a:pt x="1750" y="127"/>
                    <a:pt x="1623" y="0"/>
                    <a:pt x="1467" y="0"/>
                  </a:cubicBezTo>
                  <a:cubicBezTo>
                    <a:pt x="1072" y="0"/>
                    <a:pt x="677" y="0"/>
                    <a:pt x="282" y="0"/>
                  </a:cubicBezTo>
                  <a:cubicBezTo>
                    <a:pt x="127" y="0"/>
                    <a:pt x="0" y="127"/>
                    <a:pt x="0" y="282"/>
                  </a:cubicBezTo>
                  <a:cubicBezTo>
                    <a:pt x="0" y="678"/>
                    <a:pt x="0" y="1073"/>
                    <a:pt x="0" y="1468"/>
                  </a:cubicBezTo>
                  <a:cubicBezTo>
                    <a:pt x="0" y="1623"/>
                    <a:pt x="127" y="1750"/>
                    <a:pt x="282" y="1750"/>
                  </a:cubicBezTo>
                  <a:cubicBezTo>
                    <a:pt x="677" y="1750"/>
                    <a:pt x="1072" y="1750"/>
                    <a:pt x="1467"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46" name="Group 145">
              <a:extLst>
                <a:ext uri="{FF2B5EF4-FFF2-40B4-BE49-F238E27FC236}">
                  <a16:creationId xmlns:a16="http://schemas.microsoft.com/office/drawing/2014/main" id="{CA230DF3-CE5F-5AEB-6FFE-38C7E9831186}"/>
                </a:ext>
              </a:extLst>
            </p:cNvPr>
            <p:cNvGrpSpPr/>
            <p:nvPr/>
          </p:nvGrpSpPr>
          <p:grpSpPr>
            <a:xfrm>
              <a:off x="2728748" y="3804176"/>
              <a:ext cx="788067" cy="625293"/>
              <a:chOff x="2728748" y="3804176"/>
              <a:chExt cx="788067" cy="625293"/>
            </a:xfrm>
          </p:grpSpPr>
          <p:sp>
            <p:nvSpPr>
              <p:cNvPr id="147" name="Freeform 158">
                <a:extLst>
                  <a:ext uri="{FF2B5EF4-FFF2-40B4-BE49-F238E27FC236}">
                    <a16:creationId xmlns:a16="http://schemas.microsoft.com/office/drawing/2014/main" id="{51705282-D1EB-44F8-EDB1-20690E960E90}"/>
                  </a:ext>
                </a:extLst>
              </p:cNvPr>
              <p:cNvSpPr>
                <a:spLocks noChangeArrowheads="1"/>
              </p:cNvSpPr>
              <p:nvPr/>
            </p:nvSpPr>
            <p:spPr bwMode="auto">
              <a:xfrm>
                <a:off x="2990775" y="3804176"/>
                <a:ext cx="131014" cy="395026"/>
              </a:xfrm>
              <a:custGeom>
                <a:avLst/>
                <a:gdLst>
                  <a:gd name="T0" fmla="*/ 291 w 292"/>
                  <a:gd name="T1" fmla="*/ 0 h 876"/>
                  <a:gd name="T2" fmla="*/ 291 w 292"/>
                  <a:gd name="T3" fmla="*/ 282 h 876"/>
                  <a:gd name="T4" fmla="*/ 140 w 292"/>
                  <a:gd name="T5" fmla="*/ 360 h 876"/>
                  <a:gd name="T6" fmla="*/ 0 w 292"/>
                  <a:gd name="T7" fmla="*/ 452 h 876"/>
                  <a:gd name="T8" fmla="*/ 140 w 292"/>
                  <a:gd name="T9" fmla="*/ 544 h 876"/>
                  <a:gd name="T10" fmla="*/ 291 w 292"/>
                  <a:gd name="T11" fmla="*/ 621 h 876"/>
                  <a:gd name="T12" fmla="*/ 291 w 292"/>
                  <a:gd name="T13" fmla="*/ 875 h 876"/>
                </a:gdLst>
                <a:ahLst/>
                <a:cxnLst>
                  <a:cxn ang="0">
                    <a:pos x="T0" y="T1"/>
                  </a:cxn>
                  <a:cxn ang="0">
                    <a:pos x="T2" y="T3"/>
                  </a:cxn>
                  <a:cxn ang="0">
                    <a:pos x="T4" y="T5"/>
                  </a:cxn>
                  <a:cxn ang="0">
                    <a:pos x="T6" y="T7"/>
                  </a:cxn>
                  <a:cxn ang="0">
                    <a:pos x="T8" y="T9"/>
                  </a:cxn>
                  <a:cxn ang="0">
                    <a:pos x="T10" y="T11"/>
                  </a:cxn>
                  <a:cxn ang="0">
                    <a:pos x="T12" y="T13"/>
                  </a:cxn>
                </a:cxnLst>
                <a:rect l="0" t="0" r="r" b="b"/>
                <a:pathLst>
                  <a:path w="292" h="876">
                    <a:moveTo>
                      <a:pt x="291" y="0"/>
                    </a:moveTo>
                    <a:cubicBezTo>
                      <a:pt x="291" y="94"/>
                      <a:pt x="291" y="188"/>
                      <a:pt x="291" y="282"/>
                    </a:cubicBezTo>
                    <a:cubicBezTo>
                      <a:pt x="291" y="392"/>
                      <a:pt x="216" y="431"/>
                      <a:pt x="140" y="360"/>
                    </a:cubicBezTo>
                    <a:cubicBezTo>
                      <a:pt x="82" y="305"/>
                      <a:pt x="0" y="359"/>
                      <a:pt x="0" y="452"/>
                    </a:cubicBezTo>
                    <a:cubicBezTo>
                      <a:pt x="0" y="545"/>
                      <a:pt x="82" y="598"/>
                      <a:pt x="140" y="544"/>
                    </a:cubicBezTo>
                    <a:cubicBezTo>
                      <a:pt x="216" y="472"/>
                      <a:pt x="291" y="511"/>
                      <a:pt x="291" y="621"/>
                    </a:cubicBezTo>
                    <a:cubicBezTo>
                      <a:pt x="291" y="706"/>
                      <a:pt x="291" y="791"/>
                      <a:pt x="291" y="87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48" name="Freeform 159">
                <a:extLst>
                  <a:ext uri="{FF2B5EF4-FFF2-40B4-BE49-F238E27FC236}">
                    <a16:creationId xmlns:a16="http://schemas.microsoft.com/office/drawing/2014/main" id="{8396B974-F266-3AC2-1723-B2099D918580}"/>
                  </a:ext>
                </a:extLst>
              </p:cNvPr>
              <p:cNvSpPr>
                <a:spLocks noChangeArrowheads="1"/>
              </p:cNvSpPr>
              <p:nvPr/>
            </p:nvSpPr>
            <p:spPr bwMode="auto">
              <a:xfrm>
                <a:off x="2728748" y="4199202"/>
                <a:ext cx="395026" cy="230267"/>
              </a:xfrm>
              <a:custGeom>
                <a:avLst/>
                <a:gdLst>
                  <a:gd name="T0" fmla="*/ 875 w 876"/>
                  <a:gd name="T1" fmla="*/ 0 h 511"/>
                  <a:gd name="T2" fmla="*/ 655 w 876"/>
                  <a:gd name="T3" fmla="*/ 127 h 511"/>
                  <a:gd name="T4" fmla="*/ 663 w 876"/>
                  <a:gd name="T5" fmla="*/ 297 h 511"/>
                  <a:gd name="T6" fmla="*/ 654 w 876"/>
                  <a:gd name="T7" fmla="*/ 464 h 511"/>
                  <a:gd name="T8" fmla="*/ 504 w 876"/>
                  <a:gd name="T9" fmla="*/ 389 h 511"/>
                  <a:gd name="T10" fmla="*/ 361 w 876"/>
                  <a:gd name="T11" fmla="*/ 296 h 511"/>
                  <a:gd name="T12" fmla="*/ 0 w 876"/>
                  <a:gd name="T13" fmla="*/ 505 h 511"/>
                </a:gdLst>
                <a:ahLst/>
                <a:cxnLst>
                  <a:cxn ang="0">
                    <a:pos x="T0" y="T1"/>
                  </a:cxn>
                  <a:cxn ang="0">
                    <a:pos x="T2" y="T3"/>
                  </a:cxn>
                  <a:cxn ang="0">
                    <a:pos x="T4" y="T5"/>
                  </a:cxn>
                  <a:cxn ang="0">
                    <a:pos x="T6" y="T7"/>
                  </a:cxn>
                  <a:cxn ang="0">
                    <a:pos x="T8" y="T9"/>
                  </a:cxn>
                  <a:cxn ang="0">
                    <a:pos x="T10" y="T11"/>
                  </a:cxn>
                  <a:cxn ang="0">
                    <a:pos x="T12" y="T13"/>
                  </a:cxn>
                </a:cxnLst>
                <a:rect l="0" t="0" r="r" b="b"/>
                <a:pathLst>
                  <a:path w="876" h="511">
                    <a:moveTo>
                      <a:pt x="875" y="0"/>
                    </a:moveTo>
                    <a:cubicBezTo>
                      <a:pt x="801" y="43"/>
                      <a:pt x="728" y="85"/>
                      <a:pt x="655" y="127"/>
                    </a:cubicBezTo>
                    <a:cubicBezTo>
                      <a:pt x="559" y="182"/>
                      <a:pt x="563" y="267"/>
                      <a:pt x="663" y="297"/>
                    </a:cubicBezTo>
                    <a:cubicBezTo>
                      <a:pt x="739" y="319"/>
                      <a:pt x="735" y="417"/>
                      <a:pt x="654" y="464"/>
                    </a:cubicBezTo>
                    <a:cubicBezTo>
                      <a:pt x="573" y="510"/>
                      <a:pt x="486" y="466"/>
                      <a:pt x="504" y="389"/>
                    </a:cubicBezTo>
                    <a:cubicBezTo>
                      <a:pt x="528" y="287"/>
                      <a:pt x="457" y="241"/>
                      <a:pt x="361" y="296"/>
                    </a:cubicBezTo>
                    <a:cubicBezTo>
                      <a:pt x="240" y="366"/>
                      <a:pt x="120" y="436"/>
                      <a:pt x="0" y="50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49" name="Freeform 160">
                <a:extLst>
                  <a:ext uri="{FF2B5EF4-FFF2-40B4-BE49-F238E27FC236}">
                    <a16:creationId xmlns:a16="http://schemas.microsoft.com/office/drawing/2014/main" id="{CB29B15C-E0EC-1EBB-6A37-D1AA06038991}"/>
                  </a:ext>
                </a:extLst>
              </p:cNvPr>
              <p:cNvSpPr>
                <a:spLocks noChangeArrowheads="1"/>
              </p:cNvSpPr>
              <p:nvPr/>
            </p:nvSpPr>
            <p:spPr bwMode="auto">
              <a:xfrm>
                <a:off x="3121789" y="4159501"/>
                <a:ext cx="395026" cy="265998"/>
              </a:xfrm>
              <a:custGeom>
                <a:avLst/>
                <a:gdLst>
                  <a:gd name="T0" fmla="*/ 875 w 876"/>
                  <a:gd name="T1" fmla="*/ 592 h 593"/>
                  <a:gd name="T2" fmla="*/ 513 w 876"/>
                  <a:gd name="T3" fmla="*/ 383 h 593"/>
                  <a:gd name="T4" fmla="*/ 521 w 876"/>
                  <a:gd name="T5" fmla="*/ 214 h 593"/>
                  <a:gd name="T6" fmla="*/ 512 w 876"/>
                  <a:gd name="T7" fmla="*/ 47 h 593"/>
                  <a:gd name="T8" fmla="*/ 362 w 876"/>
                  <a:gd name="T9" fmla="*/ 122 h 593"/>
                  <a:gd name="T10" fmla="*/ 220 w 876"/>
                  <a:gd name="T11" fmla="*/ 214 h 593"/>
                  <a:gd name="T12" fmla="*/ 0 w 876"/>
                  <a:gd name="T13" fmla="*/ 87 h 593"/>
                </a:gdLst>
                <a:ahLst/>
                <a:cxnLst>
                  <a:cxn ang="0">
                    <a:pos x="T0" y="T1"/>
                  </a:cxn>
                  <a:cxn ang="0">
                    <a:pos x="T2" y="T3"/>
                  </a:cxn>
                  <a:cxn ang="0">
                    <a:pos x="T4" y="T5"/>
                  </a:cxn>
                  <a:cxn ang="0">
                    <a:pos x="T6" y="T7"/>
                  </a:cxn>
                  <a:cxn ang="0">
                    <a:pos x="T8" y="T9"/>
                  </a:cxn>
                  <a:cxn ang="0">
                    <a:pos x="T10" y="T11"/>
                  </a:cxn>
                  <a:cxn ang="0">
                    <a:pos x="T12" y="T13"/>
                  </a:cxn>
                </a:cxnLst>
                <a:rect l="0" t="0" r="r" b="b"/>
                <a:pathLst>
                  <a:path w="876" h="593">
                    <a:moveTo>
                      <a:pt x="875" y="592"/>
                    </a:moveTo>
                    <a:cubicBezTo>
                      <a:pt x="754" y="523"/>
                      <a:pt x="633" y="453"/>
                      <a:pt x="513" y="383"/>
                    </a:cubicBezTo>
                    <a:cubicBezTo>
                      <a:pt x="418" y="328"/>
                      <a:pt x="421" y="244"/>
                      <a:pt x="521" y="214"/>
                    </a:cubicBezTo>
                    <a:cubicBezTo>
                      <a:pt x="597" y="191"/>
                      <a:pt x="592" y="93"/>
                      <a:pt x="512" y="47"/>
                    </a:cubicBezTo>
                    <a:cubicBezTo>
                      <a:pt x="431" y="0"/>
                      <a:pt x="344" y="45"/>
                      <a:pt x="362" y="122"/>
                    </a:cubicBezTo>
                    <a:cubicBezTo>
                      <a:pt x="386" y="224"/>
                      <a:pt x="315" y="269"/>
                      <a:pt x="220" y="214"/>
                    </a:cubicBezTo>
                    <a:cubicBezTo>
                      <a:pt x="146" y="172"/>
                      <a:pt x="73" y="130"/>
                      <a:pt x="0" y="8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150" name="Group 149">
            <a:extLst>
              <a:ext uri="{FF2B5EF4-FFF2-40B4-BE49-F238E27FC236}">
                <a16:creationId xmlns:a16="http://schemas.microsoft.com/office/drawing/2014/main" id="{831B0088-CAFA-E8BE-6B8D-B7A76E3DA6E1}"/>
              </a:ext>
            </a:extLst>
          </p:cNvPr>
          <p:cNvGrpSpPr>
            <a:grpSpLocks noChangeAspect="1"/>
          </p:cNvGrpSpPr>
          <p:nvPr/>
        </p:nvGrpSpPr>
        <p:grpSpPr>
          <a:xfrm>
            <a:off x="11744333" y="6165546"/>
            <a:ext cx="1142798" cy="1142796"/>
            <a:chOff x="4686300" y="2201863"/>
            <a:chExt cx="630238" cy="630237"/>
          </a:xfrm>
        </p:grpSpPr>
        <p:sp>
          <p:nvSpPr>
            <p:cNvPr id="151" name="Freeform 365">
              <a:extLst>
                <a:ext uri="{FF2B5EF4-FFF2-40B4-BE49-F238E27FC236}">
                  <a16:creationId xmlns:a16="http://schemas.microsoft.com/office/drawing/2014/main" id="{5D1777BF-54FF-F7B6-74D5-BD44E435FA4B}"/>
                </a:ext>
              </a:extLst>
            </p:cNvPr>
            <p:cNvSpPr>
              <a:spLocks noChangeArrowheads="1"/>
            </p:cNvSpPr>
            <p:nvPr/>
          </p:nvSpPr>
          <p:spPr bwMode="auto">
            <a:xfrm>
              <a:off x="4686300" y="2201863"/>
              <a:ext cx="630238" cy="630237"/>
            </a:xfrm>
            <a:custGeom>
              <a:avLst/>
              <a:gdLst>
                <a:gd name="T0" fmla="*/ 1467 w 1750"/>
                <a:gd name="T1" fmla="*/ 1749 h 1750"/>
                <a:gd name="T2" fmla="*/ 1749 w 1750"/>
                <a:gd name="T3" fmla="*/ 1467 h 1750"/>
                <a:gd name="T4" fmla="*/ 1749 w 1750"/>
                <a:gd name="T5" fmla="*/ 282 h 1750"/>
                <a:gd name="T6" fmla="*/ 1467 w 1750"/>
                <a:gd name="T7" fmla="*/ 0 h 1750"/>
                <a:gd name="T8" fmla="*/ 282 w 1750"/>
                <a:gd name="T9" fmla="*/ 0 h 1750"/>
                <a:gd name="T10" fmla="*/ 0 w 1750"/>
                <a:gd name="T11" fmla="*/ 282 h 1750"/>
                <a:gd name="T12" fmla="*/ 0 w 1750"/>
                <a:gd name="T13" fmla="*/ 1467 h 1750"/>
                <a:gd name="T14" fmla="*/ 282 w 1750"/>
                <a:gd name="T15" fmla="*/ 1749 h 1750"/>
                <a:gd name="T16" fmla="*/ 1467 w 1750"/>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0" h="1750">
                  <a:moveTo>
                    <a:pt x="1467" y="1749"/>
                  </a:moveTo>
                  <a:cubicBezTo>
                    <a:pt x="1622" y="1749"/>
                    <a:pt x="1749" y="1623"/>
                    <a:pt x="1749" y="1467"/>
                  </a:cubicBezTo>
                  <a:cubicBezTo>
                    <a:pt x="1749" y="1072"/>
                    <a:pt x="1749" y="677"/>
                    <a:pt x="1749" y="282"/>
                  </a:cubicBezTo>
                  <a:cubicBezTo>
                    <a:pt x="1749" y="127"/>
                    <a:pt x="1622" y="0"/>
                    <a:pt x="1467" y="0"/>
                  </a:cubicBezTo>
                  <a:cubicBezTo>
                    <a:pt x="1072" y="0"/>
                    <a:pt x="677" y="0"/>
                    <a:pt x="282" y="0"/>
                  </a:cubicBezTo>
                  <a:cubicBezTo>
                    <a:pt x="127" y="0"/>
                    <a:pt x="0" y="127"/>
                    <a:pt x="0" y="282"/>
                  </a:cubicBezTo>
                  <a:cubicBezTo>
                    <a:pt x="0" y="677"/>
                    <a:pt x="0" y="1072"/>
                    <a:pt x="0" y="1467"/>
                  </a:cubicBezTo>
                  <a:cubicBezTo>
                    <a:pt x="0" y="1623"/>
                    <a:pt x="127" y="1749"/>
                    <a:pt x="282" y="1749"/>
                  </a:cubicBezTo>
                  <a:cubicBezTo>
                    <a:pt x="677" y="1749"/>
                    <a:pt x="1072" y="1749"/>
                    <a:pt x="1467" y="174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52" name="Group 151">
              <a:extLst>
                <a:ext uri="{FF2B5EF4-FFF2-40B4-BE49-F238E27FC236}">
                  <a16:creationId xmlns:a16="http://schemas.microsoft.com/office/drawing/2014/main" id="{BF0363C3-E870-5EA2-F710-929923660A18}"/>
                </a:ext>
              </a:extLst>
            </p:cNvPr>
            <p:cNvGrpSpPr/>
            <p:nvPr/>
          </p:nvGrpSpPr>
          <p:grpSpPr>
            <a:xfrm>
              <a:off x="4751388" y="2268538"/>
              <a:ext cx="498475" cy="496887"/>
              <a:chOff x="4751388" y="2268538"/>
              <a:chExt cx="498475" cy="496887"/>
            </a:xfrm>
          </p:grpSpPr>
          <p:sp>
            <p:nvSpPr>
              <p:cNvPr id="153" name="Freeform 366">
                <a:extLst>
                  <a:ext uri="{FF2B5EF4-FFF2-40B4-BE49-F238E27FC236}">
                    <a16:creationId xmlns:a16="http://schemas.microsoft.com/office/drawing/2014/main" id="{F5A73DFC-E199-46F5-E97C-1A4207EE8504}"/>
                  </a:ext>
                </a:extLst>
              </p:cNvPr>
              <p:cNvSpPr>
                <a:spLocks noChangeArrowheads="1"/>
              </p:cNvSpPr>
              <p:nvPr/>
            </p:nvSpPr>
            <p:spPr bwMode="auto">
              <a:xfrm>
                <a:off x="4919663" y="2268538"/>
                <a:ext cx="163512" cy="163512"/>
              </a:xfrm>
              <a:custGeom>
                <a:avLst/>
                <a:gdLst>
                  <a:gd name="T0" fmla="*/ 451 w 452"/>
                  <a:gd name="T1" fmla="*/ 225 h 452"/>
                  <a:gd name="T2" fmla="*/ 421 w 452"/>
                  <a:gd name="T3" fmla="*/ 338 h 452"/>
                  <a:gd name="T4" fmla="*/ 338 w 452"/>
                  <a:gd name="T5" fmla="*/ 421 h 452"/>
                  <a:gd name="T6" fmla="*/ 225 w 452"/>
                  <a:gd name="T7" fmla="*/ 451 h 452"/>
                  <a:gd name="T8" fmla="*/ 113 w 452"/>
                  <a:gd name="T9" fmla="*/ 421 h 452"/>
                  <a:gd name="T10" fmla="*/ 30 w 452"/>
                  <a:gd name="T11" fmla="*/ 338 h 452"/>
                  <a:gd name="T12" fmla="*/ 0 w 452"/>
                  <a:gd name="T13" fmla="*/ 225 h 452"/>
                  <a:gd name="T14" fmla="*/ 30 w 452"/>
                  <a:gd name="T15" fmla="*/ 112 h 452"/>
                  <a:gd name="T16" fmla="*/ 113 w 452"/>
                  <a:gd name="T17" fmla="*/ 30 h 452"/>
                  <a:gd name="T18" fmla="*/ 225 w 452"/>
                  <a:gd name="T19" fmla="*/ 0 h 452"/>
                  <a:gd name="T20" fmla="*/ 338 w 452"/>
                  <a:gd name="T21" fmla="*/ 30 h 452"/>
                  <a:gd name="T22" fmla="*/ 421 w 452"/>
                  <a:gd name="T23" fmla="*/ 112 h 452"/>
                  <a:gd name="T24" fmla="*/ 451 w 452"/>
                  <a:gd name="T25" fmla="*/ 22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2" h="452">
                    <a:moveTo>
                      <a:pt x="451" y="225"/>
                    </a:moveTo>
                    <a:cubicBezTo>
                      <a:pt x="451" y="267"/>
                      <a:pt x="442" y="302"/>
                      <a:pt x="421" y="338"/>
                    </a:cubicBezTo>
                    <a:cubicBezTo>
                      <a:pt x="400" y="374"/>
                      <a:pt x="374" y="400"/>
                      <a:pt x="338" y="421"/>
                    </a:cubicBezTo>
                    <a:cubicBezTo>
                      <a:pt x="302" y="442"/>
                      <a:pt x="266" y="451"/>
                      <a:pt x="225" y="451"/>
                    </a:cubicBezTo>
                    <a:cubicBezTo>
                      <a:pt x="183" y="451"/>
                      <a:pt x="149" y="442"/>
                      <a:pt x="113" y="421"/>
                    </a:cubicBezTo>
                    <a:cubicBezTo>
                      <a:pt x="77" y="400"/>
                      <a:pt x="51" y="374"/>
                      <a:pt x="30" y="338"/>
                    </a:cubicBezTo>
                    <a:cubicBezTo>
                      <a:pt x="9" y="302"/>
                      <a:pt x="0" y="266"/>
                      <a:pt x="0" y="225"/>
                    </a:cubicBezTo>
                    <a:cubicBezTo>
                      <a:pt x="0" y="183"/>
                      <a:pt x="9" y="148"/>
                      <a:pt x="30" y="112"/>
                    </a:cubicBezTo>
                    <a:cubicBezTo>
                      <a:pt x="51" y="76"/>
                      <a:pt x="77" y="51"/>
                      <a:pt x="113" y="30"/>
                    </a:cubicBezTo>
                    <a:cubicBezTo>
                      <a:pt x="149" y="9"/>
                      <a:pt x="184" y="0"/>
                      <a:pt x="225" y="0"/>
                    </a:cubicBezTo>
                    <a:cubicBezTo>
                      <a:pt x="267" y="0"/>
                      <a:pt x="302" y="9"/>
                      <a:pt x="338" y="30"/>
                    </a:cubicBezTo>
                    <a:cubicBezTo>
                      <a:pt x="374" y="51"/>
                      <a:pt x="400" y="76"/>
                      <a:pt x="421" y="112"/>
                    </a:cubicBezTo>
                    <a:cubicBezTo>
                      <a:pt x="442" y="148"/>
                      <a:pt x="451" y="184"/>
                      <a:pt x="451" y="22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54" name="Freeform 367">
                <a:extLst>
                  <a:ext uri="{FF2B5EF4-FFF2-40B4-BE49-F238E27FC236}">
                    <a16:creationId xmlns:a16="http://schemas.microsoft.com/office/drawing/2014/main" id="{825DFC07-9D3B-FDA8-E175-E0ACAA4E814D}"/>
                  </a:ext>
                </a:extLst>
              </p:cNvPr>
              <p:cNvSpPr>
                <a:spLocks noChangeArrowheads="1"/>
              </p:cNvSpPr>
              <p:nvPr/>
            </p:nvSpPr>
            <p:spPr bwMode="auto">
              <a:xfrm>
                <a:off x="5060950" y="2524125"/>
                <a:ext cx="80963" cy="61913"/>
              </a:xfrm>
              <a:custGeom>
                <a:avLst/>
                <a:gdLst>
                  <a:gd name="T0" fmla="*/ 222 w 223"/>
                  <a:gd name="T1" fmla="*/ 0 h 173"/>
                  <a:gd name="T2" fmla="*/ 174 w 223"/>
                  <a:gd name="T3" fmla="*/ 166 h 173"/>
                  <a:gd name="T4" fmla="*/ 165 w 223"/>
                  <a:gd name="T5" fmla="*/ 171 h 173"/>
                  <a:gd name="T6" fmla="*/ 0 w 223"/>
                  <a:gd name="T7" fmla="*/ 123 h 173"/>
                </a:gdLst>
                <a:ahLst/>
                <a:cxnLst>
                  <a:cxn ang="0">
                    <a:pos x="T0" y="T1"/>
                  </a:cxn>
                  <a:cxn ang="0">
                    <a:pos x="T2" y="T3"/>
                  </a:cxn>
                  <a:cxn ang="0">
                    <a:pos x="T4" y="T5"/>
                  </a:cxn>
                  <a:cxn ang="0">
                    <a:pos x="T6" y="T7"/>
                  </a:cxn>
                </a:cxnLst>
                <a:rect l="0" t="0" r="r" b="b"/>
                <a:pathLst>
                  <a:path w="223" h="173">
                    <a:moveTo>
                      <a:pt x="222" y="0"/>
                    </a:moveTo>
                    <a:cubicBezTo>
                      <a:pt x="206" y="55"/>
                      <a:pt x="190" y="110"/>
                      <a:pt x="174" y="166"/>
                    </a:cubicBezTo>
                    <a:cubicBezTo>
                      <a:pt x="173" y="170"/>
                      <a:pt x="169" y="172"/>
                      <a:pt x="165" y="171"/>
                    </a:cubicBezTo>
                    <a:cubicBezTo>
                      <a:pt x="110" y="155"/>
                      <a:pt x="55" y="139"/>
                      <a:pt x="0" y="12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55" name="Freeform 368">
                <a:extLst>
                  <a:ext uri="{FF2B5EF4-FFF2-40B4-BE49-F238E27FC236}">
                    <a16:creationId xmlns:a16="http://schemas.microsoft.com/office/drawing/2014/main" id="{75486A38-85F1-C588-0EF5-BDCBCDF3DD34}"/>
                  </a:ext>
                </a:extLst>
              </p:cNvPr>
              <p:cNvSpPr>
                <a:spLocks noChangeArrowheads="1"/>
              </p:cNvSpPr>
              <p:nvPr/>
            </p:nvSpPr>
            <p:spPr bwMode="auto">
              <a:xfrm>
                <a:off x="5032375" y="2424113"/>
                <a:ext cx="90488" cy="161925"/>
              </a:xfrm>
              <a:custGeom>
                <a:avLst/>
                <a:gdLst>
                  <a:gd name="T0" fmla="*/ 249 w 250"/>
                  <a:gd name="T1" fmla="*/ 449 h 450"/>
                  <a:gd name="T2" fmla="*/ 0 w 250"/>
                  <a:gd name="T3" fmla="*/ 0 h 450"/>
                </a:gdLst>
                <a:ahLst/>
                <a:cxnLst>
                  <a:cxn ang="0">
                    <a:pos x="T0" y="T1"/>
                  </a:cxn>
                  <a:cxn ang="0">
                    <a:pos x="T2" y="T3"/>
                  </a:cxn>
                </a:cxnLst>
                <a:rect l="0" t="0" r="r" b="b"/>
                <a:pathLst>
                  <a:path w="250" h="450">
                    <a:moveTo>
                      <a:pt x="249" y="449"/>
                    </a:moveTo>
                    <a:cubicBezTo>
                      <a:pt x="166" y="299"/>
                      <a:pt x="83" y="149"/>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56" name="Freeform 369">
                <a:extLst>
                  <a:ext uri="{FF2B5EF4-FFF2-40B4-BE49-F238E27FC236}">
                    <a16:creationId xmlns:a16="http://schemas.microsoft.com/office/drawing/2014/main" id="{E360A9DD-07C0-1887-2AB8-89EDF133DEB4}"/>
                  </a:ext>
                </a:extLst>
              </p:cNvPr>
              <p:cNvSpPr>
                <a:spLocks noChangeArrowheads="1"/>
              </p:cNvSpPr>
              <p:nvPr/>
            </p:nvSpPr>
            <p:spPr bwMode="auto">
              <a:xfrm>
                <a:off x="4859338" y="2524125"/>
                <a:ext cx="80962" cy="61913"/>
              </a:xfrm>
              <a:custGeom>
                <a:avLst/>
                <a:gdLst>
                  <a:gd name="T0" fmla="*/ 0 w 223"/>
                  <a:gd name="T1" fmla="*/ 0 h 173"/>
                  <a:gd name="T2" fmla="*/ 48 w 223"/>
                  <a:gd name="T3" fmla="*/ 166 h 173"/>
                  <a:gd name="T4" fmla="*/ 56 w 223"/>
                  <a:gd name="T5" fmla="*/ 171 h 173"/>
                  <a:gd name="T6" fmla="*/ 222 w 223"/>
                  <a:gd name="T7" fmla="*/ 123 h 173"/>
                </a:gdLst>
                <a:ahLst/>
                <a:cxnLst>
                  <a:cxn ang="0">
                    <a:pos x="T0" y="T1"/>
                  </a:cxn>
                  <a:cxn ang="0">
                    <a:pos x="T2" y="T3"/>
                  </a:cxn>
                  <a:cxn ang="0">
                    <a:pos x="T4" y="T5"/>
                  </a:cxn>
                  <a:cxn ang="0">
                    <a:pos x="T6" y="T7"/>
                  </a:cxn>
                </a:cxnLst>
                <a:rect l="0" t="0" r="r" b="b"/>
                <a:pathLst>
                  <a:path w="223" h="173">
                    <a:moveTo>
                      <a:pt x="0" y="0"/>
                    </a:moveTo>
                    <a:cubicBezTo>
                      <a:pt x="16" y="55"/>
                      <a:pt x="32" y="110"/>
                      <a:pt x="48" y="166"/>
                    </a:cubicBezTo>
                    <a:cubicBezTo>
                      <a:pt x="49" y="170"/>
                      <a:pt x="53" y="172"/>
                      <a:pt x="56" y="171"/>
                    </a:cubicBezTo>
                    <a:cubicBezTo>
                      <a:pt x="111" y="155"/>
                      <a:pt x="166" y="139"/>
                      <a:pt x="222" y="12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57" name="Freeform 370">
                <a:extLst>
                  <a:ext uri="{FF2B5EF4-FFF2-40B4-BE49-F238E27FC236}">
                    <a16:creationId xmlns:a16="http://schemas.microsoft.com/office/drawing/2014/main" id="{AEF44C28-CE00-85A9-C764-4D092BBAA6F0}"/>
                  </a:ext>
                </a:extLst>
              </p:cNvPr>
              <p:cNvSpPr>
                <a:spLocks noChangeArrowheads="1"/>
              </p:cNvSpPr>
              <p:nvPr/>
            </p:nvSpPr>
            <p:spPr bwMode="auto">
              <a:xfrm>
                <a:off x="4878388" y="2424113"/>
                <a:ext cx="90487" cy="161925"/>
              </a:xfrm>
              <a:custGeom>
                <a:avLst/>
                <a:gdLst>
                  <a:gd name="T0" fmla="*/ 0 w 250"/>
                  <a:gd name="T1" fmla="*/ 449 h 450"/>
                  <a:gd name="T2" fmla="*/ 249 w 250"/>
                  <a:gd name="T3" fmla="*/ 0 h 450"/>
                </a:gdLst>
                <a:ahLst/>
                <a:cxnLst>
                  <a:cxn ang="0">
                    <a:pos x="T0" y="T1"/>
                  </a:cxn>
                  <a:cxn ang="0">
                    <a:pos x="T2" y="T3"/>
                  </a:cxn>
                </a:cxnLst>
                <a:rect l="0" t="0" r="r" b="b"/>
                <a:pathLst>
                  <a:path w="250" h="450">
                    <a:moveTo>
                      <a:pt x="0" y="449"/>
                    </a:moveTo>
                    <a:cubicBezTo>
                      <a:pt x="83" y="299"/>
                      <a:pt x="166" y="149"/>
                      <a:pt x="249"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58" name="Freeform 371">
                <a:extLst>
                  <a:ext uri="{FF2B5EF4-FFF2-40B4-BE49-F238E27FC236}">
                    <a16:creationId xmlns:a16="http://schemas.microsoft.com/office/drawing/2014/main" id="{F0CBF928-244E-7E92-5A05-7240446CBC59}"/>
                  </a:ext>
                </a:extLst>
              </p:cNvPr>
              <p:cNvSpPr>
                <a:spLocks noChangeArrowheads="1"/>
              </p:cNvSpPr>
              <p:nvPr/>
            </p:nvSpPr>
            <p:spPr bwMode="auto">
              <a:xfrm>
                <a:off x="5086350" y="2601913"/>
                <a:ext cx="163513" cy="163512"/>
              </a:xfrm>
              <a:custGeom>
                <a:avLst/>
                <a:gdLst>
                  <a:gd name="T0" fmla="*/ 451 w 452"/>
                  <a:gd name="T1" fmla="*/ 226 h 453"/>
                  <a:gd name="T2" fmla="*/ 403 w 452"/>
                  <a:gd name="T3" fmla="*/ 155 h 453"/>
                  <a:gd name="T4" fmla="*/ 401 w 452"/>
                  <a:gd name="T5" fmla="*/ 154 h 453"/>
                  <a:gd name="T6" fmla="*/ 401 w 452"/>
                  <a:gd name="T7" fmla="*/ 151 h 453"/>
                  <a:gd name="T8" fmla="*/ 385 w 452"/>
                  <a:gd name="T9" fmla="*/ 66 h 453"/>
                  <a:gd name="T10" fmla="*/ 301 w 452"/>
                  <a:gd name="T11" fmla="*/ 51 h 453"/>
                  <a:gd name="T12" fmla="*/ 298 w 452"/>
                  <a:gd name="T13" fmla="*/ 51 h 453"/>
                  <a:gd name="T14" fmla="*/ 296 w 452"/>
                  <a:gd name="T15" fmla="*/ 49 h 453"/>
                  <a:gd name="T16" fmla="*/ 226 w 452"/>
                  <a:gd name="T17" fmla="*/ 0 h 453"/>
                  <a:gd name="T18" fmla="*/ 155 w 452"/>
                  <a:gd name="T19" fmla="*/ 49 h 453"/>
                  <a:gd name="T20" fmla="*/ 153 w 452"/>
                  <a:gd name="T21" fmla="*/ 51 h 453"/>
                  <a:gd name="T22" fmla="*/ 150 w 452"/>
                  <a:gd name="T23" fmla="*/ 51 h 453"/>
                  <a:gd name="T24" fmla="*/ 66 w 452"/>
                  <a:gd name="T25" fmla="*/ 66 h 453"/>
                  <a:gd name="T26" fmla="*/ 51 w 452"/>
                  <a:gd name="T27" fmla="*/ 151 h 453"/>
                  <a:gd name="T28" fmla="*/ 51 w 452"/>
                  <a:gd name="T29" fmla="*/ 154 h 453"/>
                  <a:gd name="T30" fmla="*/ 49 w 452"/>
                  <a:gd name="T31" fmla="*/ 156 h 453"/>
                  <a:gd name="T32" fmla="*/ 0 w 452"/>
                  <a:gd name="T33" fmla="*/ 226 h 453"/>
                  <a:gd name="T34" fmla="*/ 49 w 452"/>
                  <a:gd name="T35" fmla="*/ 296 h 453"/>
                  <a:gd name="T36" fmla="*/ 51 w 452"/>
                  <a:gd name="T37" fmla="*/ 298 h 453"/>
                  <a:gd name="T38" fmla="*/ 51 w 452"/>
                  <a:gd name="T39" fmla="*/ 301 h 453"/>
                  <a:gd name="T40" fmla="*/ 66 w 452"/>
                  <a:gd name="T41" fmla="*/ 386 h 453"/>
                  <a:gd name="T42" fmla="*/ 150 w 452"/>
                  <a:gd name="T43" fmla="*/ 401 h 453"/>
                  <a:gd name="T44" fmla="*/ 153 w 452"/>
                  <a:gd name="T45" fmla="*/ 401 h 453"/>
                  <a:gd name="T46" fmla="*/ 155 w 452"/>
                  <a:gd name="T47" fmla="*/ 403 h 453"/>
                  <a:gd name="T48" fmla="*/ 226 w 452"/>
                  <a:gd name="T49" fmla="*/ 452 h 453"/>
                  <a:gd name="T50" fmla="*/ 296 w 452"/>
                  <a:gd name="T51" fmla="*/ 403 h 453"/>
                  <a:gd name="T52" fmla="*/ 298 w 452"/>
                  <a:gd name="T53" fmla="*/ 401 h 453"/>
                  <a:gd name="T54" fmla="*/ 301 w 452"/>
                  <a:gd name="T55" fmla="*/ 401 h 453"/>
                  <a:gd name="T56" fmla="*/ 385 w 452"/>
                  <a:gd name="T57" fmla="*/ 386 h 453"/>
                  <a:gd name="T58" fmla="*/ 401 w 452"/>
                  <a:gd name="T59" fmla="*/ 301 h 453"/>
                  <a:gd name="T60" fmla="*/ 401 w 452"/>
                  <a:gd name="T61" fmla="*/ 298 h 453"/>
                  <a:gd name="T62" fmla="*/ 403 w 452"/>
                  <a:gd name="T63" fmla="*/ 296 h 453"/>
                  <a:gd name="T64" fmla="*/ 451 w 452"/>
                  <a:gd name="T65" fmla="*/ 226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2" h="453">
                    <a:moveTo>
                      <a:pt x="451" y="226"/>
                    </a:moveTo>
                    <a:cubicBezTo>
                      <a:pt x="451" y="194"/>
                      <a:pt x="431" y="166"/>
                      <a:pt x="403" y="155"/>
                    </a:cubicBezTo>
                    <a:cubicBezTo>
                      <a:pt x="402" y="155"/>
                      <a:pt x="401" y="154"/>
                      <a:pt x="401" y="154"/>
                    </a:cubicBezTo>
                    <a:cubicBezTo>
                      <a:pt x="400" y="153"/>
                      <a:pt x="400" y="152"/>
                      <a:pt x="401" y="151"/>
                    </a:cubicBezTo>
                    <a:cubicBezTo>
                      <a:pt x="413" y="123"/>
                      <a:pt x="407" y="88"/>
                      <a:pt x="385" y="66"/>
                    </a:cubicBezTo>
                    <a:cubicBezTo>
                      <a:pt x="362" y="43"/>
                      <a:pt x="329" y="38"/>
                      <a:pt x="301" y="51"/>
                    </a:cubicBezTo>
                    <a:cubicBezTo>
                      <a:pt x="300" y="51"/>
                      <a:pt x="299" y="51"/>
                      <a:pt x="298" y="51"/>
                    </a:cubicBezTo>
                    <a:cubicBezTo>
                      <a:pt x="297" y="51"/>
                      <a:pt x="297" y="50"/>
                      <a:pt x="296" y="49"/>
                    </a:cubicBezTo>
                    <a:cubicBezTo>
                      <a:pt x="286" y="21"/>
                      <a:pt x="258" y="0"/>
                      <a:pt x="226" y="0"/>
                    </a:cubicBezTo>
                    <a:cubicBezTo>
                      <a:pt x="194" y="0"/>
                      <a:pt x="166" y="21"/>
                      <a:pt x="155" y="49"/>
                    </a:cubicBezTo>
                    <a:cubicBezTo>
                      <a:pt x="155" y="50"/>
                      <a:pt x="154" y="51"/>
                      <a:pt x="153" y="51"/>
                    </a:cubicBezTo>
                    <a:cubicBezTo>
                      <a:pt x="152" y="51"/>
                      <a:pt x="151" y="51"/>
                      <a:pt x="150" y="51"/>
                    </a:cubicBezTo>
                    <a:cubicBezTo>
                      <a:pt x="123" y="38"/>
                      <a:pt x="89" y="44"/>
                      <a:pt x="66" y="66"/>
                    </a:cubicBezTo>
                    <a:cubicBezTo>
                      <a:pt x="43" y="89"/>
                      <a:pt x="38" y="123"/>
                      <a:pt x="51" y="151"/>
                    </a:cubicBezTo>
                    <a:cubicBezTo>
                      <a:pt x="51" y="152"/>
                      <a:pt x="51" y="153"/>
                      <a:pt x="51" y="154"/>
                    </a:cubicBezTo>
                    <a:cubicBezTo>
                      <a:pt x="50" y="154"/>
                      <a:pt x="50" y="155"/>
                      <a:pt x="49" y="156"/>
                    </a:cubicBezTo>
                    <a:cubicBezTo>
                      <a:pt x="20" y="166"/>
                      <a:pt x="0" y="194"/>
                      <a:pt x="0" y="226"/>
                    </a:cubicBezTo>
                    <a:cubicBezTo>
                      <a:pt x="0" y="258"/>
                      <a:pt x="20" y="286"/>
                      <a:pt x="49" y="296"/>
                    </a:cubicBezTo>
                    <a:cubicBezTo>
                      <a:pt x="50" y="297"/>
                      <a:pt x="50" y="298"/>
                      <a:pt x="51" y="298"/>
                    </a:cubicBezTo>
                    <a:cubicBezTo>
                      <a:pt x="51" y="299"/>
                      <a:pt x="51" y="300"/>
                      <a:pt x="51" y="301"/>
                    </a:cubicBezTo>
                    <a:cubicBezTo>
                      <a:pt x="38" y="329"/>
                      <a:pt x="43" y="363"/>
                      <a:pt x="66" y="386"/>
                    </a:cubicBezTo>
                    <a:cubicBezTo>
                      <a:pt x="89" y="408"/>
                      <a:pt x="123" y="413"/>
                      <a:pt x="150" y="401"/>
                    </a:cubicBezTo>
                    <a:cubicBezTo>
                      <a:pt x="151" y="400"/>
                      <a:pt x="152" y="400"/>
                      <a:pt x="153" y="401"/>
                    </a:cubicBezTo>
                    <a:cubicBezTo>
                      <a:pt x="154" y="401"/>
                      <a:pt x="155" y="402"/>
                      <a:pt x="155" y="403"/>
                    </a:cubicBezTo>
                    <a:cubicBezTo>
                      <a:pt x="166" y="431"/>
                      <a:pt x="194" y="452"/>
                      <a:pt x="226" y="452"/>
                    </a:cubicBezTo>
                    <a:cubicBezTo>
                      <a:pt x="258" y="452"/>
                      <a:pt x="286" y="431"/>
                      <a:pt x="296" y="403"/>
                    </a:cubicBezTo>
                    <a:cubicBezTo>
                      <a:pt x="297" y="402"/>
                      <a:pt x="297" y="401"/>
                      <a:pt x="298" y="401"/>
                    </a:cubicBezTo>
                    <a:cubicBezTo>
                      <a:pt x="299" y="400"/>
                      <a:pt x="300" y="400"/>
                      <a:pt x="301" y="401"/>
                    </a:cubicBezTo>
                    <a:cubicBezTo>
                      <a:pt x="329" y="413"/>
                      <a:pt x="363" y="408"/>
                      <a:pt x="385" y="386"/>
                    </a:cubicBezTo>
                    <a:cubicBezTo>
                      <a:pt x="408" y="363"/>
                      <a:pt x="413" y="329"/>
                      <a:pt x="401" y="301"/>
                    </a:cubicBezTo>
                    <a:cubicBezTo>
                      <a:pt x="400" y="300"/>
                      <a:pt x="400" y="299"/>
                      <a:pt x="401" y="298"/>
                    </a:cubicBezTo>
                    <a:cubicBezTo>
                      <a:pt x="401" y="297"/>
                      <a:pt x="402" y="297"/>
                      <a:pt x="403" y="296"/>
                    </a:cubicBezTo>
                    <a:cubicBezTo>
                      <a:pt x="431" y="286"/>
                      <a:pt x="451" y="258"/>
                      <a:pt x="451" y="22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59" name="Freeform 372">
                <a:extLst>
                  <a:ext uri="{FF2B5EF4-FFF2-40B4-BE49-F238E27FC236}">
                    <a16:creationId xmlns:a16="http://schemas.microsoft.com/office/drawing/2014/main" id="{AF0FB4AF-D16C-FECD-3B6E-C301F39BC5C1}"/>
                  </a:ext>
                </a:extLst>
              </p:cNvPr>
              <p:cNvSpPr>
                <a:spLocks noChangeArrowheads="1"/>
              </p:cNvSpPr>
              <p:nvPr/>
            </p:nvSpPr>
            <p:spPr bwMode="auto">
              <a:xfrm>
                <a:off x="4751388" y="2601913"/>
                <a:ext cx="163512" cy="163512"/>
              </a:xfrm>
              <a:custGeom>
                <a:avLst/>
                <a:gdLst>
                  <a:gd name="T0" fmla="*/ 452 w 453"/>
                  <a:gd name="T1" fmla="*/ 226 h 453"/>
                  <a:gd name="T2" fmla="*/ 403 w 453"/>
                  <a:gd name="T3" fmla="*/ 155 h 453"/>
                  <a:gd name="T4" fmla="*/ 401 w 453"/>
                  <a:gd name="T5" fmla="*/ 154 h 453"/>
                  <a:gd name="T6" fmla="*/ 401 w 453"/>
                  <a:gd name="T7" fmla="*/ 151 h 453"/>
                  <a:gd name="T8" fmla="*/ 386 w 453"/>
                  <a:gd name="T9" fmla="*/ 66 h 453"/>
                  <a:gd name="T10" fmla="*/ 301 w 453"/>
                  <a:gd name="T11" fmla="*/ 51 h 453"/>
                  <a:gd name="T12" fmla="*/ 299 w 453"/>
                  <a:gd name="T13" fmla="*/ 51 h 453"/>
                  <a:gd name="T14" fmla="*/ 297 w 453"/>
                  <a:gd name="T15" fmla="*/ 49 h 453"/>
                  <a:gd name="T16" fmla="*/ 226 w 453"/>
                  <a:gd name="T17" fmla="*/ 0 h 453"/>
                  <a:gd name="T18" fmla="*/ 156 w 453"/>
                  <a:gd name="T19" fmla="*/ 49 h 453"/>
                  <a:gd name="T20" fmla="*/ 154 w 453"/>
                  <a:gd name="T21" fmla="*/ 51 h 453"/>
                  <a:gd name="T22" fmla="*/ 151 w 453"/>
                  <a:gd name="T23" fmla="*/ 51 h 453"/>
                  <a:gd name="T24" fmla="*/ 66 w 453"/>
                  <a:gd name="T25" fmla="*/ 66 h 453"/>
                  <a:gd name="T26" fmla="*/ 51 w 453"/>
                  <a:gd name="T27" fmla="*/ 151 h 453"/>
                  <a:gd name="T28" fmla="*/ 51 w 453"/>
                  <a:gd name="T29" fmla="*/ 154 h 453"/>
                  <a:gd name="T30" fmla="*/ 49 w 453"/>
                  <a:gd name="T31" fmla="*/ 156 h 453"/>
                  <a:gd name="T32" fmla="*/ 0 w 453"/>
                  <a:gd name="T33" fmla="*/ 226 h 453"/>
                  <a:gd name="T34" fmla="*/ 49 w 453"/>
                  <a:gd name="T35" fmla="*/ 296 h 453"/>
                  <a:gd name="T36" fmla="*/ 51 w 453"/>
                  <a:gd name="T37" fmla="*/ 298 h 453"/>
                  <a:gd name="T38" fmla="*/ 51 w 453"/>
                  <a:gd name="T39" fmla="*/ 301 h 453"/>
                  <a:gd name="T40" fmla="*/ 66 w 453"/>
                  <a:gd name="T41" fmla="*/ 386 h 453"/>
                  <a:gd name="T42" fmla="*/ 151 w 453"/>
                  <a:gd name="T43" fmla="*/ 401 h 453"/>
                  <a:gd name="T44" fmla="*/ 154 w 453"/>
                  <a:gd name="T45" fmla="*/ 401 h 453"/>
                  <a:gd name="T46" fmla="*/ 156 w 453"/>
                  <a:gd name="T47" fmla="*/ 403 h 453"/>
                  <a:gd name="T48" fmla="*/ 226 w 453"/>
                  <a:gd name="T49" fmla="*/ 452 h 453"/>
                  <a:gd name="T50" fmla="*/ 297 w 453"/>
                  <a:gd name="T51" fmla="*/ 403 h 453"/>
                  <a:gd name="T52" fmla="*/ 299 w 453"/>
                  <a:gd name="T53" fmla="*/ 401 h 453"/>
                  <a:gd name="T54" fmla="*/ 301 w 453"/>
                  <a:gd name="T55" fmla="*/ 401 h 453"/>
                  <a:gd name="T56" fmla="*/ 386 w 453"/>
                  <a:gd name="T57" fmla="*/ 386 h 453"/>
                  <a:gd name="T58" fmla="*/ 401 w 453"/>
                  <a:gd name="T59" fmla="*/ 301 h 453"/>
                  <a:gd name="T60" fmla="*/ 401 w 453"/>
                  <a:gd name="T61" fmla="*/ 298 h 453"/>
                  <a:gd name="T62" fmla="*/ 403 w 453"/>
                  <a:gd name="T63" fmla="*/ 296 h 453"/>
                  <a:gd name="T64" fmla="*/ 452 w 453"/>
                  <a:gd name="T65" fmla="*/ 226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3" h="453">
                    <a:moveTo>
                      <a:pt x="452" y="226"/>
                    </a:moveTo>
                    <a:cubicBezTo>
                      <a:pt x="452" y="194"/>
                      <a:pt x="432" y="166"/>
                      <a:pt x="403" y="155"/>
                    </a:cubicBezTo>
                    <a:cubicBezTo>
                      <a:pt x="402" y="155"/>
                      <a:pt x="401" y="154"/>
                      <a:pt x="401" y="154"/>
                    </a:cubicBezTo>
                    <a:cubicBezTo>
                      <a:pt x="401" y="153"/>
                      <a:pt x="401" y="152"/>
                      <a:pt x="401" y="151"/>
                    </a:cubicBezTo>
                    <a:cubicBezTo>
                      <a:pt x="414" y="123"/>
                      <a:pt x="409" y="89"/>
                      <a:pt x="386" y="66"/>
                    </a:cubicBezTo>
                    <a:cubicBezTo>
                      <a:pt x="363" y="44"/>
                      <a:pt x="329" y="38"/>
                      <a:pt x="301" y="51"/>
                    </a:cubicBezTo>
                    <a:cubicBezTo>
                      <a:pt x="300" y="51"/>
                      <a:pt x="299" y="51"/>
                      <a:pt x="299" y="51"/>
                    </a:cubicBezTo>
                    <a:cubicBezTo>
                      <a:pt x="298" y="51"/>
                      <a:pt x="297" y="50"/>
                      <a:pt x="297" y="49"/>
                    </a:cubicBezTo>
                    <a:cubicBezTo>
                      <a:pt x="286" y="21"/>
                      <a:pt x="258" y="0"/>
                      <a:pt x="226" y="0"/>
                    </a:cubicBezTo>
                    <a:cubicBezTo>
                      <a:pt x="194" y="0"/>
                      <a:pt x="166" y="21"/>
                      <a:pt x="156" y="49"/>
                    </a:cubicBezTo>
                    <a:cubicBezTo>
                      <a:pt x="155" y="50"/>
                      <a:pt x="155" y="51"/>
                      <a:pt x="154" y="51"/>
                    </a:cubicBezTo>
                    <a:cubicBezTo>
                      <a:pt x="153" y="51"/>
                      <a:pt x="152" y="51"/>
                      <a:pt x="151" y="51"/>
                    </a:cubicBezTo>
                    <a:cubicBezTo>
                      <a:pt x="123" y="38"/>
                      <a:pt x="89" y="44"/>
                      <a:pt x="66" y="66"/>
                    </a:cubicBezTo>
                    <a:cubicBezTo>
                      <a:pt x="44" y="89"/>
                      <a:pt x="39" y="123"/>
                      <a:pt x="51" y="151"/>
                    </a:cubicBezTo>
                    <a:cubicBezTo>
                      <a:pt x="52" y="152"/>
                      <a:pt x="52" y="153"/>
                      <a:pt x="51" y="154"/>
                    </a:cubicBezTo>
                    <a:cubicBezTo>
                      <a:pt x="50" y="154"/>
                      <a:pt x="50" y="155"/>
                      <a:pt x="49" y="156"/>
                    </a:cubicBezTo>
                    <a:cubicBezTo>
                      <a:pt x="21" y="166"/>
                      <a:pt x="0" y="194"/>
                      <a:pt x="0" y="226"/>
                    </a:cubicBezTo>
                    <a:cubicBezTo>
                      <a:pt x="0" y="258"/>
                      <a:pt x="21" y="286"/>
                      <a:pt x="49" y="296"/>
                    </a:cubicBezTo>
                    <a:cubicBezTo>
                      <a:pt x="50" y="297"/>
                      <a:pt x="50" y="297"/>
                      <a:pt x="51" y="298"/>
                    </a:cubicBezTo>
                    <a:cubicBezTo>
                      <a:pt x="52" y="299"/>
                      <a:pt x="52" y="300"/>
                      <a:pt x="51" y="301"/>
                    </a:cubicBezTo>
                    <a:cubicBezTo>
                      <a:pt x="39" y="329"/>
                      <a:pt x="43" y="363"/>
                      <a:pt x="66" y="386"/>
                    </a:cubicBezTo>
                    <a:cubicBezTo>
                      <a:pt x="88" y="408"/>
                      <a:pt x="123" y="413"/>
                      <a:pt x="151" y="401"/>
                    </a:cubicBezTo>
                    <a:cubicBezTo>
                      <a:pt x="152" y="400"/>
                      <a:pt x="153" y="400"/>
                      <a:pt x="154" y="401"/>
                    </a:cubicBezTo>
                    <a:cubicBezTo>
                      <a:pt x="155" y="401"/>
                      <a:pt x="155" y="402"/>
                      <a:pt x="156" y="403"/>
                    </a:cubicBezTo>
                    <a:cubicBezTo>
                      <a:pt x="166" y="431"/>
                      <a:pt x="194" y="452"/>
                      <a:pt x="226" y="452"/>
                    </a:cubicBezTo>
                    <a:cubicBezTo>
                      <a:pt x="258" y="452"/>
                      <a:pt x="286" y="431"/>
                      <a:pt x="297" y="403"/>
                    </a:cubicBezTo>
                    <a:cubicBezTo>
                      <a:pt x="297" y="402"/>
                      <a:pt x="298" y="401"/>
                      <a:pt x="299" y="401"/>
                    </a:cubicBezTo>
                    <a:cubicBezTo>
                      <a:pt x="299" y="400"/>
                      <a:pt x="300" y="400"/>
                      <a:pt x="301" y="401"/>
                    </a:cubicBezTo>
                    <a:cubicBezTo>
                      <a:pt x="329" y="413"/>
                      <a:pt x="363" y="408"/>
                      <a:pt x="386" y="386"/>
                    </a:cubicBezTo>
                    <a:cubicBezTo>
                      <a:pt x="409" y="363"/>
                      <a:pt x="414" y="329"/>
                      <a:pt x="401" y="301"/>
                    </a:cubicBezTo>
                    <a:cubicBezTo>
                      <a:pt x="401" y="300"/>
                      <a:pt x="401" y="299"/>
                      <a:pt x="401" y="298"/>
                    </a:cubicBezTo>
                    <a:cubicBezTo>
                      <a:pt x="401" y="297"/>
                      <a:pt x="402" y="297"/>
                      <a:pt x="403" y="296"/>
                    </a:cubicBezTo>
                    <a:cubicBezTo>
                      <a:pt x="432" y="286"/>
                      <a:pt x="452" y="258"/>
                      <a:pt x="452" y="22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60" name="Freeform 373">
                <a:extLst>
                  <a:ext uri="{FF2B5EF4-FFF2-40B4-BE49-F238E27FC236}">
                    <a16:creationId xmlns:a16="http://schemas.microsoft.com/office/drawing/2014/main" id="{817378C9-52F1-807E-B3C9-ECD235041852}"/>
                  </a:ext>
                </a:extLst>
              </p:cNvPr>
              <p:cNvSpPr>
                <a:spLocks noChangeArrowheads="1"/>
              </p:cNvSpPr>
              <p:nvPr/>
            </p:nvSpPr>
            <p:spPr bwMode="auto">
              <a:xfrm>
                <a:off x="5049838" y="2682875"/>
                <a:ext cx="7937" cy="1588"/>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61" name="Freeform 374">
                <a:extLst>
                  <a:ext uri="{FF2B5EF4-FFF2-40B4-BE49-F238E27FC236}">
                    <a16:creationId xmlns:a16="http://schemas.microsoft.com/office/drawing/2014/main" id="{89B06A4F-A976-257F-696A-7676BE77BBDA}"/>
                  </a:ext>
                </a:extLst>
              </p:cNvPr>
              <p:cNvSpPr>
                <a:spLocks noChangeArrowheads="1"/>
              </p:cNvSpPr>
              <p:nvPr/>
            </p:nvSpPr>
            <p:spPr bwMode="auto">
              <a:xfrm>
                <a:off x="5014913" y="2682875"/>
                <a:ext cx="7937" cy="1588"/>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62" name="Freeform 375">
                <a:extLst>
                  <a:ext uri="{FF2B5EF4-FFF2-40B4-BE49-F238E27FC236}">
                    <a16:creationId xmlns:a16="http://schemas.microsoft.com/office/drawing/2014/main" id="{673461AC-1455-C5BB-7B59-4C17A412746C}"/>
                  </a:ext>
                </a:extLst>
              </p:cNvPr>
              <p:cNvSpPr>
                <a:spLocks noChangeArrowheads="1"/>
              </p:cNvSpPr>
              <p:nvPr/>
            </p:nvSpPr>
            <p:spPr bwMode="auto">
              <a:xfrm>
                <a:off x="4978400" y="2682875"/>
                <a:ext cx="7938" cy="1588"/>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63" name="Freeform 376">
                <a:extLst>
                  <a:ext uri="{FF2B5EF4-FFF2-40B4-BE49-F238E27FC236}">
                    <a16:creationId xmlns:a16="http://schemas.microsoft.com/office/drawing/2014/main" id="{FE4FDC99-0F20-F944-E264-6C110210C0E1}"/>
                  </a:ext>
                </a:extLst>
              </p:cNvPr>
              <p:cNvSpPr>
                <a:spLocks noChangeArrowheads="1"/>
              </p:cNvSpPr>
              <p:nvPr/>
            </p:nvSpPr>
            <p:spPr bwMode="auto">
              <a:xfrm>
                <a:off x="4943475" y="2682875"/>
                <a:ext cx="7938" cy="1588"/>
              </a:xfrm>
              <a:custGeom>
                <a:avLst/>
                <a:gdLst>
                  <a:gd name="T0" fmla="*/ 22 w 23"/>
                  <a:gd name="T1" fmla="*/ 0 h 1"/>
                  <a:gd name="T2" fmla="*/ 0 w 23"/>
                  <a:gd name="T3" fmla="*/ 0 h 1"/>
                </a:gdLst>
                <a:ahLst/>
                <a:cxnLst>
                  <a:cxn ang="0">
                    <a:pos x="T0" y="T1"/>
                  </a:cxn>
                  <a:cxn ang="0">
                    <a:pos x="T2" y="T3"/>
                  </a:cxn>
                </a:cxnLst>
                <a:rect l="0" t="0" r="r" b="b"/>
                <a:pathLst>
                  <a:path w="23" h="1">
                    <a:moveTo>
                      <a:pt x="22"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164" name="Group 163">
            <a:extLst>
              <a:ext uri="{FF2B5EF4-FFF2-40B4-BE49-F238E27FC236}">
                <a16:creationId xmlns:a16="http://schemas.microsoft.com/office/drawing/2014/main" id="{08EDA5A0-B287-B4A2-B24D-24A491DBD105}"/>
              </a:ext>
            </a:extLst>
          </p:cNvPr>
          <p:cNvGrpSpPr>
            <a:grpSpLocks noChangeAspect="1"/>
          </p:cNvGrpSpPr>
          <p:nvPr/>
        </p:nvGrpSpPr>
        <p:grpSpPr>
          <a:xfrm>
            <a:off x="17380379" y="8678573"/>
            <a:ext cx="1142794" cy="1142794"/>
            <a:chOff x="10619395" y="3801241"/>
            <a:chExt cx="781901" cy="781901"/>
          </a:xfrm>
        </p:grpSpPr>
        <p:sp>
          <p:nvSpPr>
            <p:cNvPr id="165" name="Freeform 152">
              <a:extLst>
                <a:ext uri="{FF2B5EF4-FFF2-40B4-BE49-F238E27FC236}">
                  <a16:creationId xmlns:a16="http://schemas.microsoft.com/office/drawing/2014/main" id="{D137B817-8C92-F8DC-CAA3-909EA36F9360}"/>
                </a:ext>
              </a:extLst>
            </p:cNvPr>
            <p:cNvSpPr>
              <a:spLocks noChangeArrowheads="1"/>
            </p:cNvSpPr>
            <p:nvPr/>
          </p:nvSpPr>
          <p:spPr bwMode="auto">
            <a:xfrm>
              <a:off x="10619395" y="3801241"/>
              <a:ext cx="781901" cy="781901"/>
            </a:xfrm>
            <a:custGeom>
              <a:avLst/>
              <a:gdLst>
                <a:gd name="T0" fmla="*/ 1468 w 1751"/>
                <a:gd name="T1" fmla="*/ 1750 h 1751"/>
                <a:gd name="T2" fmla="*/ 1750 w 1751"/>
                <a:gd name="T3" fmla="*/ 1468 h 1751"/>
                <a:gd name="T4" fmla="*/ 1750 w 1751"/>
                <a:gd name="T5" fmla="*/ 282 h 1751"/>
                <a:gd name="T6" fmla="*/ 1468 w 1751"/>
                <a:gd name="T7" fmla="*/ 0 h 1751"/>
                <a:gd name="T8" fmla="*/ 282 w 1751"/>
                <a:gd name="T9" fmla="*/ 0 h 1751"/>
                <a:gd name="T10" fmla="*/ 0 w 1751"/>
                <a:gd name="T11" fmla="*/ 282 h 1751"/>
                <a:gd name="T12" fmla="*/ 0 w 1751"/>
                <a:gd name="T13" fmla="*/ 1468 h 1751"/>
                <a:gd name="T14" fmla="*/ 282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8"/>
                  </a:cubicBezTo>
                  <a:cubicBezTo>
                    <a:pt x="1750" y="1073"/>
                    <a:pt x="1750" y="678"/>
                    <a:pt x="1750" y="282"/>
                  </a:cubicBezTo>
                  <a:cubicBezTo>
                    <a:pt x="1750" y="127"/>
                    <a:pt x="1623" y="0"/>
                    <a:pt x="1468" y="0"/>
                  </a:cubicBezTo>
                  <a:cubicBezTo>
                    <a:pt x="1073" y="0"/>
                    <a:pt x="677" y="0"/>
                    <a:pt x="282" y="0"/>
                  </a:cubicBezTo>
                  <a:cubicBezTo>
                    <a:pt x="127" y="0"/>
                    <a:pt x="0" y="127"/>
                    <a:pt x="0" y="282"/>
                  </a:cubicBezTo>
                  <a:cubicBezTo>
                    <a:pt x="0" y="678"/>
                    <a:pt x="0" y="1073"/>
                    <a:pt x="0" y="1468"/>
                  </a:cubicBezTo>
                  <a:cubicBezTo>
                    <a:pt x="0" y="1623"/>
                    <a:pt x="127" y="1750"/>
                    <a:pt x="282" y="1750"/>
                  </a:cubicBezTo>
                  <a:cubicBezTo>
                    <a:pt x="677" y="1750"/>
                    <a:pt x="1073" y="1750"/>
                    <a:pt x="1468"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66" name="Group 165">
              <a:extLst>
                <a:ext uri="{FF2B5EF4-FFF2-40B4-BE49-F238E27FC236}">
                  <a16:creationId xmlns:a16="http://schemas.microsoft.com/office/drawing/2014/main" id="{B0ED33C5-2173-9681-022A-900F09579D31}"/>
                </a:ext>
              </a:extLst>
            </p:cNvPr>
            <p:cNvGrpSpPr/>
            <p:nvPr/>
          </p:nvGrpSpPr>
          <p:grpSpPr>
            <a:xfrm>
              <a:off x="10759231" y="3941076"/>
              <a:ext cx="504198" cy="504198"/>
              <a:chOff x="10759231" y="3941076"/>
              <a:chExt cx="504198" cy="504198"/>
            </a:xfrm>
          </p:grpSpPr>
          <p:sp>
            <p:nvSpPr>
              <p:cNvPr id="167" name="Freeform 153">
                <a:extLst>
                  <a:ext uri="{FF2B5EF4-FFF2-40B4-BE49-F238E27FC236}">
                    <a16:creationId xmlns:a16="http://schemas.microsoft.com/office/drawing/2014/main" id="{B41F0FE8-D7D1-1424-5FCD-9798DBDAE6A2}"/>
                  </a:ext>
                </a:extLst>
              </p:cNvPr>
              <p:cNvSpPr>
                <a:spLocks noChangeArrowheads="1"/>
              </p:cNvSpPr>
              <p:nvPr/>
            </p:nvSpPr>
            <p:spPr bwMode="auto">
              <a:xfrm>
                <a:off x="10759231" y="3941076"/>
                <a:ext cx="504198" cy="504198"/>
              </a:xfrm>
              <a:custGeom>
                <a:avLst/>
                <a:gdLst>
                  <a:gd name="T0" fmla="*/ 1128 w 1129"/>
                  <a:gd name="T1" fmla="*/ 564 h 1129"/>
                  <a:gd name="T2" fmla="*/ 1053 w 1129"/>
                  <a:gd name="T3" fmla="*/ 846 h 1129"/>
                  <a:gd name="T4" fmla="*/ 846 w 1129"/>
                  <a:gd name="T5" fmla="*/ 1053 h 1129"/>
                  <a:gd name="T6" fmla="*/ 564 w 1129"/>
                  <a:gd name="T7" fmla="*/ 1128 h 1129"/>
                  <a:gd name="T8" fmla="*/ 282 w 1129"/>
                  <a:gd name="T9" fmla="*/ 1053 h 1129"/>
                  <a:gd name="T10" fmla="*/ 75 w 1129"/>
                  <a:gd name="T11" fmla="*/ 846 h 1129"/>
                  <a:gd name="T12" fmla="*/ 0 w 1129"/>
                  <a:gd name="T13" fmla="*/ 564 h 1129"/>
                  <a:gd name="T14" fmla="*/ 75 w 1129"/>
                  <a:gd name="T15" fmla="*/ 282 h 1129"/>
                  <a:gd name="T16" fmla="*/ 282 w 1129"/>
                  <a:gd name="T17" fmla="*/ 75 h 1129"/>
                  <a:gd name="T18" fmla="*/ 564 w 1129"/>
                  <a:gd name="T19" fmla="*/ 0 h 1129"/>
                  <a:gd name="T20" fmla="*/ 846 w 1129"/>
                  <a:gd name="T21" fmla="*/ 75 h 1129"/>
                  <a:gd name="T22" fmla="*/ 1053 w 1129"/>
                  <a:gd name="T23" fmla="*/ 282 h 1129"/>
                  <a:gd name="T24" fmla="*/ 1128 w 1129"/>
                  <a:gd name="T25" fmla="*/ 564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9" h="1129">
                    <a:moveTo>
                      <a:pt x="1128" y="564"/>
                    </a:moveTo>
                    <a:cubicBezTo>
                      <a:pt x="1128" y="668"/>
                      <a:pt x="1105" y="756"/>
                      <a:pt x="1053" y="846"/>
                    </a:cubicBezTo>
                    <a:cubicBezTo>
                      <a:pt x="1001" y="936"/>
                      <a:pt x="936" y="1001"/>
                      <a:pt x="846" y="1053"/>
                    </a:cubicBezTo>
                    <a:cubicBezTo>
                      <a:pt x="756" y="1105"/>
                      <a:pt x="668" y="1128"/>
                      <a:pt x="564" y="1128"/>
                    </a:cubicBezTo>
                    <a:cubicBezTo>
                      <a:pt x="460" y="1128"/>
                      <a:pt x="372" y="1105"/>
                      <a:pt x="282" y="1053"/>
                    </a:cubicBezTo>
                    <a:cubicBezTo>
                      <a:pt x="192" y="1001"/>
                      <a:pt x="127" y="936"/>
                      <a:pt x="75" y="846"/>
                    </a:cubicBezTo>
                    <a:cubicBezTo>
                      <a:pt x="23" y="756"/>
                      <a:pt x="0" y="668"/>
                      <a:pt x="0" y="564"/>
                    </a:cubicBezTo>
                    <a:cubicBezTo>
                      <a:pt x="0" y="460"/>
                      <a:pt x="23" y="372"/>
                      <a:pt x="75" y="282"/>
                    </a:cubicBezTo>
                    <a:cubicBezTo>
                      <a:pt x="127" y="192"/>
                      <a:pt x="192" y="127"/>
                      <a:pt x="282" y="75"/>
                    </a:cubicBezTo>
                    <a:cubicBezTo>
                      <a:pt x="372" y="23"/>
                      <a:pt x="460" y="0"/>
                      <a:pt x="564" y="0"/>
                    </a:cubicBezTo>
                    <a:cubicBezTo>
                      <a:pt x="668" y="0"/>
                      <a:pt x="756" y="23"/>
                      <a:pt x="846" y="75"/>
                    </a:cubicBezTo>
                    <a:cubicBezTo>
                      <a:pt x="936" y="127"/>
                      <a:pt x="1001" y="192"/>
                      <a:pt x="1053" y="282"/>
                    </a:cubicBezTo>
                    <a:cubicBezTo>
                      <a:pt x="1105" y="372"/>
                      <a:pt x="1128" y="460"/>
                      <a:pt x="1128" y="56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68" name="Freeform 154">
                <a:extLst>
                  <a:ext uri="{FF2B5EF4-FFF2-40B4-BE49-F238E27FC236}">
                    <a16:creationId xmlns:a16="http://schemas.microsoft.com/office/drawing/2014/main" id="{1B983BAC-78E4-D4D7-C345-78672E4DB0F6}"/>
                  </a:ext>
                </a:extLst>
              </p:cNvPr>
              <p:cNvSpPr>
                <a:spLocks noChangeArrowheads="1"/>
              </p:cNvSpPr>
              <p:nvPr/>
            </p:nvSpPr>
            <p:spPr bwMode="auto">
              <a:xfrm>
                <a:off x="10910885" y="4110455"/>
                <a:ext cx="189074" cy="171349"/>
              </a:xfrm>
              <a:custGeom>
                <a:avLst/>
                <a:gdLst>
                  <a:gd name="T0" fmla="*/ 424 w 425"/>
                  <a:gd name="T1" fmla="*/ 0 h 383"/>
                  <a:gd name="T2" fmla="*/ 156 w 425"/>
                  <a:gd name="T3" fmla="*/ 371 h 383"/>
                  <a:gd name="T4" fmla="*/ 134 w 425"/>
                  <a:gd name="T5" fmla="*/ 382 h 383"/>
                  <a:gd name="T6" fmla="*/ 111 w 425"/>
                  <a:gd name="T7" fmla="*/ 372 h 383"/>
                  <a:gd name="T8" fmla="*/ 0 w 425"/>
                  <a:gd name="T9" fmla="*/ 231 h 383"/>
                </a:gdLst>
                <a:ahLst/>
                <a:cxnLst>
                  <a:cxn ang="0">
                    <a:pos x="T0" y="T1"/>
                  </a:cxn>
                  <a:cxn ang="0">
                    <a:pos x="T2" y="T3"/>
                  </a:cxn>
                  <a:cxn ang="0">
                    <a:pos x="T4" y="T5"/>
                  </a:cxn>
                  <a:cxn ang="0">
                    <a:pos x="T6" y="T7"/>
                  </a:cxn>
                  <a:cxn ang="0">
                    <a:pos x="T8" y="T9"/>
                  </a:cxn>
                </a:cxnLst>
                <a:rect l="0" t="0" r="r" b="b"/>
                <a:pathLst>
                  <a:path w="425" h="383">
                    <a:moveTo>
                      <a:pt x="424" y="0"/>
                    </a:moveTo>
                    <a:cubicBezTo>
                      <a:pt x="335" y="124"/>
                      <a:pt x="245" y="248"/>
                      <a:pt x="156" y="371"/>
                    </a:cubicBezTo>
                    <a:cubicBezTo>
                      <a:pt x="151" y="378"/>
                      <a:pt x="143" y="382"/>
                      <a:pt x="134" y="382"/>
                    </a:cubicBezTo>
                    <a:cubicBezTo>
                      <a:pt x="126" y="382"/>
                      <a:pt x="116" y="378"/>
                      <a:pt x="111" y="372"/>
                    </a:cubicBezTo>
                    <a:cubicBezTo>
                      <a:pt x="74" y="325"/>
                      <a:pt x="37" y="278"/>
                      <a:pt x="0" y="23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169" name="Group 168">
            <a:extLst>
              <a:ext uri="{FF2B5EF4-FFF2-40B4-BE49-F238E27FC236}">
                <a16:creationId xmlns:a16="http://schemas.microsoft.com/office/drawing/2014/main" id="{BA3CF282-8BBD-64E5-9039-C63C68D1FD46}"/>
              </a:ext>
            </a:extLst>
          </p:cNvPr>
          <p:cNvGrpSpPr>
            <a:grpSpLocks noChangeAspect="1"/>
          </p:cNvGrpSpPr>
          <p:nvPr/>
        </p:nvGrpSpPr>
        <p:grpSpPr>
          <a:xfrm>
            <a:off x="20666510" y="8678570"/>
            <a:ext cx="1142796" cy="1142796"/>
            <a:chOff x="10655081" y="3812116"/>
            <a:chExt cx="788067" cy="788067"/>
          </a:xfrm>
        </p:grpSpPr>
        <p:sp>
          <p:nvSpPr>
            <p:cNvPr id="170" name="Freeform 246">
              <a:extLst>
                <a:ext uri="{FF2B5EF4-FFF2-40B4-BE49-F238E27FC236}">
                  <a16:creationId xmlns:a16="http://schemas.microsoft.com/office/drawing/2014/main" id="{EB4AF8A2-A740-0DE4-098F-504DE98C5EB1}"/>
                </a:ext>
              </a:extLst>
            </p:cNvPr>
            <p:cNvSpPr>
              <a:spLocks noChangeArrowheads="1"/>
            </p:cNvSpPr>
            <p:nvPr/>
          </p:nvSpPr>
          <p:spPr bwMode="auto">
            <a:xfrm>
              <a:off x="10655081" y="3812116"/>
              <a:ext cx="788067" cy="788067"/>
            </a:xfrm>
            <a:custGeom>
              <a:avLst/>
              <a:gdLst>
                <a:gd name="T0" fmla="*/ 1468 w 1751"/>
                <a:gd name="T1" fmla="*/ 1750 h 1751"/>
                <a:gd name="T2" fmla="*/ 1750 w 1751"/>
                <a:gd name="T3" fmla="*/ 1468 h 1751"/>
                <a:gd name="T4" fmla="*/ 1750 w 1751"/>
                <a:gd name="T5" fmla="*/ 282 h 1751"/>
                <a:gd name="T6" fmla="*/ 1468 w 1751"/>
                <a:gd name="T7" fmla="*/ 0 h 1751"/>
                <a:gd name="T8" fmla="*/ 282 w 1751"/>
                <a:gd name="T9" fmla="*/ 0 h 1751"/>
                <a:gd name="T10" fmla="*/ 0 w 1751"/>
                <a:gd name="T11" fmla="*/ 282 h 1751"/>
                <a:gd name="T12" fmla="*/ 0 w 1751"/>
                <a:gd name="T13" fmla="*/ 1468 h 1751"/>
                <a:gd name="T14" fmla="*/ 282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8"/>
                  </a:cubicBezTo>
                  <a:cubicBezTo>
                    <a:pt x="1750" y="1073"/>
                    <a:pt x="1750" y="678"/>
                    <a:pt x="1750" y="282"/>
                  </a:cubicBezTo>
                  <a:cubicBezTo>
                    <a:pt x="1750" y="127"/>
                    <a:pt x="1623" y="0"/>
                    <a:pt x="1468" y="0"/>
                  </a:cubicBezTo>
                  <a:cubicBezTo>
                    <a:pt x="1073" y="0"/>
                    <a:pt x="677" y="0"/>
                    <a:pt x="282" y="0"/>
                  </a:cubicBezTo>
                  <a:cubicBezTo>
                    <a:pt x="127" y="0"/>
                    <a:pt x="0" y="127"/>
                    <a:pt x="0" y="282"/>
                  </a:cubicBezTo>
                  <a:cubicBezTo>
                    <a:pt x="0" y="678"/>
                    <a:pt x="0" y="1073"/>
                    <a:pt x="0" y="1468"/>
                  </a:cubicBezTo>
                  <a:cubicBezTo>
                    <a:pt x="0" y="1623"/>
                    <a:pt x="127" y="1750"/>
                    <a:pt x="282" y="1750"/>
                  </a:cubicBezTo>
                  <a:cubicBezTo>
                    <a:pt x="677" y="1750"/>
                    <a:pt x="1073" y="1750"/>
                    <a:pt x="1468"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71" name="Group 170">
              <a:extLst>
                <a:ext uri="{FF2B5EF4-FFF2-40B4-BE49-F238E27FC236}">
                  <a16:creationId xmlns:a16="http://schemas.microsoft.com/office/drawing/2014/main" id="{A156AF68-1BB5-8FE2-EF28-DD042649B57A}"/>
                </a:ext>
              </a:extLst>
            </p:cNvPr>
            <p:cNvGrpSpPr/>
            <p:nvPr/>
          </p:nvGrpSpPr>
          <p:grpSpPr>
            <a:xfrm>
              <a:off x="10770214" y="3927249"/>
              <a:ext cx="559787" cy="559787"/>
              <a:chOff x="10770214" y="3927249"/>
              <a:chExt cx="559787" cy="559787"/>
            </a:xfrm>
          </p:grpSpPr>
          <p:sp>
            <p:nvSpPr>
              <p:cNvPr id="172" name="Freeform 247">
                <a:extLst>
                  <a:ext uri="{FF2B5EF4-FFF2-40B4-BE49-F238E27FC236}">
                    <a16:creationId xmlns:a16="http://schemas.microsoft.com/office/drawing/2014/main" id="{E370851C-7C72-7CD0-CF85-676E740BFFF1}"/>
                  </a:ext>
                </a:extLst>
              </p:cNvPr>
              <p:cNvSpPr>
                <a:spLocks noChangeArrowheads="1"/>
              </p:cNvSpPr>
              <p:nvPr/>
            </p:nvSpPr>
            <p:spPr bwMode="auto">
              <a:xfrm>
                <a:off x="10770214" y="4181337"/>
                <a:ext cx="305699" cy="305699"/>
              </a:xfrm>
              <a:custGeom>
                <a:avLst/>
                <a:gdLst>
                  <a:gd name="T0" fmla="*/ 491 w 678"/>
                  <a:gd name="T1" fmla="*/ 66 h 678"/>
                  <a:gd name="T2" fmla="*/ 452 w 678"/>
                  <a:gd name="T3" fmla="*/ 76 h 678"/>
                  <a:gd name="T4" fmla="*/ 447 w 678"/>
                  <a:gd name="T5" fmla="*/ 76 h 678"/>
                  <a:gd name="T6" fmla="*/ 444 w 678"/>
                  <a:gd name="T7" fmla="*/ 73 h 678"/>
                  <a:gd name="T8" fmla="*/ 339 w 678"/>
                  <a:gd name="T9" fmla="*/ 0 h 678"/>
                  <a:gd name="T10" fmla="*/ 233 w 678"/>
                  <a:gd name="T11" fmla="*/ 73 h 678"/>
                  <a:gd name="T12" fmla="*/ 230 w 678"/>
                  <a:gd name="T13" fmla="*/ 76 h 678"/>
                  <a:gd name="T14" fmla="*/ 226 w 678"/>
                  <a:gd name="T15" fmla="*/ 76 h 678"/>
                  <a:gd name="T16" fmla="*/ 99 w 678"/>
                  <a:gd name="T17" fmla="*/ 99 h 678"/>
                  <a:gd name="T18" fmla="*/ 76 w 678"/>
                  <a:gd name="T19" fmla="*/ 225 h 678"/>
                  <a:gd name="T20" fmla="*/ 76 w 678"/>
                  <a:gd name="T21" fmla="*/ 230 h 678"/>
                  <a:gd name="T22" fmla="*/ 73 w 678"/>
                  <a:gd name="T23" fmla="*/ 233 h 678"/>
                  <a:gd name="T24" fmla="*/ 0 w 678"/>
                  <a:gd name="T25" fmla="*/ 338 h 678"/>
                  <a:gd name="T26" fmla="*/ 73 w 678"/>
                  <a:gd name="T27" fmla="*/ 444 h 678"/>
                  <a:gd name="T28" fmla="*/ 76 w 678"/>
                  <a:gd name="T29" fmla="*/ 447 h 678"/>
                  <a:gd name="T30" fmla="*/ 76 w 678"/>
                  <a:gd name="T31" fmla="*/ 451 h 678"/>
                  <a:gd name="T32" fmla="*/ 99 w 678"/>
                  <a:gd name="T33" fmla="*/ 578 h 678"/>
                  <a:gd name="T34" fmla="*/ 226 w 678"/>
                  <a:gd name="T35" fmla="*/ 601 h 678"/>
                  <a:gd name="T36" fmla="*/ 230 w 678"/>
                  <a:gd name="T37" fmla="*/ 601 h 678"/>
                  <a:gd name="T38" fmla="*/ 233 w 678"/>
                  <a:gd name="T39" fmla="*/ 604 h 678"/>
                  <a:gd name="T40" fmla="*/ 339 w 678"/>
                  <a:gd name="T41" fmla="*/ 677 h 678"/>
                  <a:gd name="T42" fmla="*/ 444 w 678"/>
                  <a:gd name="T43" fmla="*/ 604 h 678"/>
                  <a:gd name="T44" fmla="*/ 447 w 678"/>
                  <a:gd name="T45" fmla="*/ 601 h 678"/>
                  <a:gd name="T46" fmla="*/ 452 w 678"/>
                  <a:gd name="T47" fmla="*/ 601 h 678"/>
                  <a:gd name="T48" fmla="*/ 578 w 678"/>
                  <a:gd name="T49" fmla="*/ 578 h 678"/>
                  <a:gd name="T50" fmla="*/ 601 w 678"/>
                  <a:gd name="T51" fmla="*/ 451 h 678"/>
                  <a:gd name="T52" fmla="*/ 601 w 678"/>
                  <a:gd name="T53" fmla="*/ 447 h 678"/>
                  <a:gd name="T54" fmla="*/ 604 w 678"/>
                  <a:gd name="T55" fmla="*/ 444 h 678"/>
                  <a:gd name="T56" fmla="*/ 677 w 678"/>
                  <a:gd name="T57" fmla="*/ 338 h 678"/>
                  <a:gd name="T58" fmla="*/ 604 w 678"/>
                  <a:gd name="T59" fmla="*/ 233 h 678"/>
                  <a:gd name="T60" fmla="*/ 601 w 678"/>
                  <a:gd name="T61" fmla="*/ 230 h 678"/>
                  <a:gd name="T62" fmla="*/ 601 w 678"/>
                  <a:gd name="T63" fmla="*/ 225 h 678"/>
                  <a:gd name="T64" fmla="*/ 611 w 678"/>
                  <a:gd name="T65" fmla="*/ 186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8" h="678">
                    <a:moveTo>
                      <a:pt x="491" y="66"/>
                    </a:moveTo>
                    <a:cubicBezTo>
                      <a:pt x="478" y="67"/>
                      <a:pt x="464" y="70"/>
                      <a:pt x="452" y="76"/>
                    </a:cubicBezTo>
                    <a:cubicBezTo>
                      <a:pt x="450" y="77"/>
                      <a:pt x="449" y="77"/>
                      <a:pt x="447" y="76"/>
                    </a:cubicBezTo>
                    <a:cubicBezTo>
                      <a:pt x="446" y="75"/>
                      <a:pt x="445" y="74"/>
                      <a:pt x="444" y="73"/>
                    </a:cubicBezTo>
                    <a:cubicBezTo>
                      <a:pt x="428" y="30"/>
                      <a:pt x="388" y="0"/>
                      <a:pt x="339" y="0"/>
                    </a:cubicBezTo>
                    <a:cubicBezTo>
                      <a:pt x="291" y="0"/>
                      <a:pt x="249" y="30"/>
                      <a:pt x="233" y="73"/>
                    </a:cubicBezTo>
                    <a:cubicBezTo>
                      <a:pt x="232" y="74"/>
                      <a:pt x="231" y="75"/>
                      <a:pt x="230" y="76"/>
                    </a:cubicBezTo>
                    <a:cubicBezTo>
                      <a:pt x="229" y="77"/>
                      <a:pt x="227" y="77"/>
                      <a:pt x="226" y="76"/>
                    </a:cubicBezTo>
                    <a:cubicBezTo>
                      <a:pt x="184" y="57"/>
                      <a:pt x="133" y="65"/>
                      <a:pt x="99" y="99"/>
                    </a:cubicBezTo>
                    <a:cubicBezTo>
                      <a:pt x="65" y="133"/>
                      <a:pt x="57" y="184"/>
                      <a:pt x="76" y="225"/>
                    </a:cubicBezTo>
                    <a:cubicBezTo>
                      <a:pt x="77" y="227"/>
                      <a:pt x="77" y="228"/>
                      <a:pt x="76" y="230"/>
                    </a:cubicBezTo>
                    <a:cubicBezTo>
                      <a:pt x="76" y="231"/>
                      <a:pt x="75" y="232"/>
                      <a:pt x="73" y="233"/>
                    </a:cubicBezTo>
                    <a:cubicBezTo>
                      <a:pt x="31" y="249"/>
                      <a:pt x="0" y="290"/>
                      <a:pt x="0" y="338"/>
                    </a:cubicBezTo>
                    <a:cubicBezTo>
                      <a:pt x="0" y="387"/>
                      <a:pt x="31" y="428"/>
                      <a:pt x="73" y="444"/>
                    </a:cubicBezTo>
                    <a:cubicBezTo>
                      <a:pt x="75" y="445"/>
                      <a:pt x="76" y="446"/>
                      <a:pt x="76" y="447"/>
                    </a:cubicBezTo>
                    <a:cubicBezTo>
                      <a:pt x="77" y="448"/>
                      <a:pt x="77" y="450"/>
                      <a:pt x="76" y="451"/>
                    </a:cubicBezTo>
                    <a:cubicBezTo>
                      <a:pt x="57" y="493"/>
                      <a:pt x="65" y="544"/>
                      <a:pt x="99" y="578"/>
                    </a:cubicBezTo>
                    <a:cubicBezTo>
                      <a:pt x="133" y="612"/>
                      <a:pt x="184" y="620"/>
                      <a:pt x="226" y="601"/>
                    </a:cubicBezTo>
                    <a:cubicBezTo>
                      <a:pt x="227" y="600"/>
                      <a:pt x="229" y="600"/>
                      <a:pt x="230" y="601"/>
                    </a:cubicBezTo>
                    <a:cubicBezTo>
                      <a:pt x="231" y="601"/>
                      <a:pt x="232" y="602"/>
                      <a:pt x="233" y="604"/>
                    </a:cubicBezTo>
                    <a:cubicBezTo>
                      <a:pt x="249" y="646"/>
                      <a:pt x="291" y="677"/>
                      <a:pt x="339" y="677"/>
                    </a:cubicBezTo>
                    <a:cubicBezTo>
                      <a:pt x="388" y="677"/>
                      <a:pt x="428" y="646"/>
                      <a:pt x="444" y="604"/>
                    </a:cubicBezTo>
                    <a:cubicBezTo>
                      <a:pt x="445" y="602"/>
                      <a:pt x="446" y="601"/>
                      <a:pt x="447" y="601"/>
                    </a:cubicBezTo>
                    <a:cubicBezTo>
                      <a:pt x="449" y="600"/>
                      <a:pt x="450" y="600"/>
                      <a:pt x="452" y="601"/>
                    </a:cubicBezTo>
                    <a:cubicBezTo>
                      <a:pt x="493" y="620"/>
                      <a:pt x="544" y="612"/>
                      <a:pt x="578" y="578"/>
                    </a:cubicBezTo>
                    <a:cubicBezTo>
                      <a:pt x="612" y="544"/>
                      <a:pt x="620" y="493"/>
                      <a:pt x="601" y="451"/>
                    </a:cubicBezTo>
                    <a:cubicBezTo>
                      <a:pt x="601" y="450"/>
                      <a:pt x="600" y="448"/>
                      <a:pt x="601" y="447"/>
                    </a:cubicBezTo>
                    <a:cubicBezTo>
                      <a:pt x="602" y="446"/>
                      <a:pt x="603" y="445"/>
                      <a:pt x="604" y="444"/>
                    </a:cubicBezTo>
                    <a:cubicBezTo>
                      <a:pt x="647" y="428"/>
                      <a:pt x="677" y="387"/>
                      <a:pt x="677" y="338"/>
                    </a:cubicBezTo>
                    <a:cubicBezTo>
                      <a:pt x="677" y="290"/>
                      <a:pt x="647" y="249"/>
                      <a:pt x="604" y="233"/>
                    </a:cubicBezTo>
                    <a:cubicBezTo>
                      <a:pt x="603" y="232"/>
                      <a:pt x="602" y="231"/>
                      <a:pt x="601" y="230"/>
                    </a:cubicBezTo>
                    <a:cubicBezTo>
                      <a:pt x="600" y="228"/>
                      <a:pt x="601" y="227"/>
                      <a:pt x="601" y="225"/>
                    </a:cubicBezTo>
                    <a:cubicBezTo>
                      <a:pt x="607" y="213"/>
                      <a:pt x="610" y="199"/>
                      <a:pt x="611" y="186"/>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73" name="Freeform 248">
                <a:extLst>
                  <a:ext uri="{FF2B5EF4-FFF2-40B4-BE49-F238E27FC236}">
                    <a16:creationId xmlns:a16="http://schemas.microsoft.com/office/drawing/2014/main" id="{08A6FFA3-D084-E7DF-AC06-EFED6C0A0789}"/>
                  </a:ext>
                </a:extLst>
              </p:cNvPr>
              <p:cNvSpPr>
                <a:spLocks noChangeArrowheads="1"/>
              </p:cNvSpPr>
              <p:nvPr/>
            </p:nvSpPr>
            <p:spPr bwMode="auto">
              <a:xfrm>
                <a:off x="11024302" y="3927249"/>
                <a:ext cx="305699" cy="305699"/>
              </a:xfrm>
              <a:custGeom>
                <a:avLst/>
                <a:gdLst>
                  <a:gd name="T0" fmla="*/ 186 w 678"/>
                  <a:gd name="T1" fmla="*/ 611 h 679"/>
                  <a:gd name="T2" fmla="*/ 225 w 678"/>
                  <a:gd name="T3" fmla="*/ 601 h 679"/>
                  <a:gd name="T4" fmla="*/ 229 w 678"/>
                  <a:gd name="T5" fmla="*/ 601 h 679"/>
                  <a:gd name="T6" fmla="*/ 232 w 678"/>
                  <a:gd name="T7" fmla="*/ 604 h 679"/>
                  <a:gd name="T8" fmla="*/ 338 w 678"/>
                  <a:gd name="T9" fmla="*/ 678 h 679"/>
                  <a:gd name="T10" fmla="*/ 444 w 678"/>
                  <a:gd name="T11" fmla="*/ 604 h 679"/>
                  <a:gd name="T12" fmla="*/ 447 w 678"/>
                  <a:gd name="T13" fmla="*/ 601 h 679"/>
                  <a:gd name="T14" fmla="*/ 451 w 678"/>
                  <a:gd name="T15" fmla="*/ 601 h 679"/>
                  <a:gd name="T16" fmla="*/ 578 w 678"/>
                  <a:gd name="T17" fmla="*/ 578 h 679"/>
                  <a:gd name="T18" fmla="*/ 601 w 678"/>
                  <a:gd name="T19" fmla="*/ 452 h 679"/>
                  <a:gd name="T20" fmla="*/ 600 w 678"/>
                  <a:gd name="T21" fmla="*/ 448 h 679"/>
                  <a:gd name="T22" fmla="*/ 604 w 678"/>
                  <a:gd name="T23" fmla="*/ 445 h 679"/>
                  <a:gd name="T24" fmla="*/ 677 w 678"/>
                  <a:gd name="T25" fmla="*/ 339 h 679"/>
                  <a:gd name="T26" fmla="*/ 604 w 678"/>
                  <a:gd name="T27" fmla="*/ 233 h 679"/>
                  <a:gd name="T28" fmla="*/ 600 w 678"/>
                  <a:gd name="T29" fmla="*/ 230 h 679"/>
                  <a:gd name="T30" fmla="*/ 601 w 678"/>
                  <a:gd name="T31" fmla="*/ 226 h 679"/>
                  <a:gd name="T32" fmla="*/ 578 w 678"/>
                  <a:gd name="T33" fmla="*/ 99 h 679"/>
                  <a:gd name="T34" fmla="*/ 451 w 678"/>
                  <a:gd name="T35" fmla="*/ 77 h 679"/>
                  <a:gd name="T36" fmla="*/ 447 w 678"/>
                  <a:gd name="T37" fmla="*/ 77 h 679"/>
                  <a:gd name="T38" fmla="*/ 444 w 678"/>
                  <a:gd name="T39" fmla="*/ 74 h 679"/>
                  <a:gd name="T40" fmla="*/ 338 w 678"/>
                  <a:gd name="T41" fmla="*/ 0 h 679"/>
                  <a:gd name="T42" fmla="*/ 232 w 678"/>
                  <a:gd name="T43" fmla="*/ 74 h 679"/>
                  <a:gd name="T44" fmla="*/ 230 w 678"/>
                  <a:gd name="T45" fmla="*/ 77 h 679"/>
                  <a:gd name="T46" fmla="*/ 225 w 678"/>
                  <a:gd name="T47" fmla="*/ 77 h 679"/>
                  <a:gd name="T48" fmla="*/ 99 w 678"/>
                  <a:gd name="T49" fmla="*/ 99 h 679"/>
                  <a:gd name="T50" fmla="*/ 76 w 678"/>
                  <a:gd name="T51" fmla="*/ 226 h 679"/>
                  <a:gd name="T52" fmla="*/ 76 w 678"/>
                  <a:gd name="T53" fmla="*/ 230 h 679"/>
                  <a:gd name="T54" fmla="*/ 73 w 678"/>
                  <a:gd name="T55" fmla="*/ 233 h 679"/>
                  <a:gd name="T56" fmla="*/ 0 w 678"/>
                  <a:gd name="T57" fmla="*/ 339 h 679"/>
                  <a:gd name="T58" fmla="*/ 73 w 678"/>
                  <a:gd name="T59" fmla="*/ 445 h 679"/>
                  <a:gd name="T60" fmla="*/ 76 w 678"/>
                  <a:gd name="T61" fmla="*/ 448 h 679"/>
                  <a:gd name="T62" fmla="*/ 76 w 678"/>
                  <a:gd name="T63" fmla="*/ 452 h 679"/>
                  <a:gd name="T64" fmla="*/ 66 w 678"/>
                  <a:gd name="T65" fmla="*/ 491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8" h="679">
                    <a:moveTo>
                      <a:pt x="186" y="611"/>
                    </a:moveTo>
                    <a:cubicBezTo>
                      <a:pt x="199" y="610"/>
                      <a:pt x="213" y="607"/>
                      <a:pt x="225" y="601"/>
                    </a:cubicBezTo>
                    <a:cubicBezTo>
                      <a:pt x="227" y="601"/>
                      <a:pt x="228" y="601"/>
                      <a:pt x="229" y="601"/>
                    </a:cubicBezTo>
                    <a:cubicBezTo>
                      <a:pt x="231" y="602"/>
                      <a:pt x="232" y="603"/>
                      <a:pt x="232" y="604"/>
                    </a:cubicBezTo>
                    <a:cubicBezTo>
                      <a:pt x="248" y="647"/>
                      <a:pt x="290" y="678"/>
                      <a:pt x="338" y="678"/>
                    </a:cubicBezTo>
                    <a:cubicBezTo>
                      <a:pt x="386" y="678"/>
                      <a:pt x="428" y="647"/>
                      <a:pt x="444" y="604"/>
                    </a:cubicBezTo>
                    <a:cubicBezTo>
                      <a:pt x="444" y="603"/>
                      <a:pt x="445" y="602"/>
                      <a:pt x="447" y="601"/>
                    </a:cubicBezTo>
                    <a:cubicBezTo>
                      <a:pt x="448" y="601"/>
                      <a:pt x="450" y="601"/>
                      <a:pt x="451" y="601"/>
                    </a:cubicBezTo>
                    <a:cubicBezTo>
                      <a:pt x="493" y="620"/>
                      <a:pt x="543" y="613"/>
                      <a:pt x="578" y="578"/>
                    </a:cubicBezTo>
                    <a:cubicBezTo>
                      <a:pt x="612" y="544"/>
                      <a:pt x="619" y="493"/>
                      <a:pt x="601" y="452"/>
                    </a:cubicBezTo>
                    <a:cubicBezTo>
                      <a:pt x="600" y="450"/>
                      <a:pt x="600" y="449"/>
                      <a:pt x="600" y="448"/>
                    </a:cubicBezTo>
                    <a:cubicBezTo>
                      <a:pt x="601" y="446"/>
                      <a:pt x="602" y="445"/>
                      <a:pt x="604" y="445"/>
                    </a:cubicBezTo>
                    <a:cubicBezTo>
                      <a:pt x="646" y="429"/>
                      <a:pt x="677" y="387"/>
                      <a:pt x="677" y="339"/>
                    </a:cubicBezTo>
                    <a:cubicBezTo>
                      <a:pt x="677" y="291"/>
                      <a:pt x="646" y="249"/>
                      <a:pt x="604" y="233"/>
                    </a:cubicBezTo>
                    <a:cubicBezTo>
                      <a:pt x="602" y="233"/>
                      <a:pt x="601" y="232"/>
                      <a:pt x="600" y="230"/>
                    </a:cubicBezTo>
                    <a:cubicBezTo>
                      <a:pt x="600" y="229"/>
                      <a:pt x="600" y="227"/>
                      <a:pt x="601" y="226"/>
                    </a:cubicBezTo>
                    <a:cubicBezTo>
                      <a:pt x="619" y="184"/>
                      <a:pt x="612" y="134"/>
                      <a:pt x="578" y="99"/>
                    </a:cubicBezTo>
                    <a:cubicBezTo>
                      <a:pt x="543" y="65"/>
                      <a:pt x="493" y="58"/>
                      <a:pt x="451" y="77"/>
                    </a:cubicBezTo>
                    <a:cubicBezTo>
                      <a:pt x="450" y="77"/>
                      <a:pt x="448" y="77"/>
                      <a:pt x="447" y="77"/>
                    </a:cubicBezTo>
                    <a:cubicBezTo>
                      <a:pt x="445" y="76"/>
                      <a:pt x="444" y="75"/>
                      <a:pt x="444" y="74"/>
                    </a:cubicBezTo>
                    <a:cubicBezTo>
                      <a:pt x="428" y="31"/>
                      <a:pt x="386" y="0"/>
                      <a:pt x="338" y="0"/>
                    </a:cubicBezTo>
                    <a:cubicBezTo>
                      <a:pt x="290" y="0"/>
                      <a:pt x="249" y="31"/>
                      <a:pt x="232" y="74"/>
                    </a:cubicBezTo>
                    <a:cubicBezTo>
                      <a:pt x="232" y="75"/>
                      <a:pt x="231" y="76"/>
                      <a:pt x="230" y="77"/>
                    </a:cubicBezTo>
                    <a:cubicBezTo>
                      <a:pt x="228" y="77"/>
                      <a:pt x="227" y="77"/>
                      <a:pt x="225" y="77"/>
                    </a:cubicBezTo>
                    <a:cubicBezTo>
                      <a:pt x="184" y="58"/>
                      <a:pt x="133" y="65"/>
                      <a:pt x="99" y="99"/>
                    </a:cubicBezTo>
                    <a:cubicBezTo>
                      <a:pt x="65" y="134"/>
                      <a:pt x="57" y="184"/>
                      <a:pt x="76" y="226"/>
                    </a:cubicBezTo>
                    <a:cubicBezTo>
                      <a:pt x="76" y="227"/>
                      <a:pt x="76" y="229"/>
                      <a:pt x="76" y="230"/>
                    </a:cubicBezTo>
                    <a:cubicBezTo>
                      <a:pt x="75" y="232"/>
                      <a:pt x="74" y="233"/>
                      <a:pt x="73" y="233"/>
                    </a:cubicBezTo>
                    <a:cubicBezTo>
                      <a:pt x="30" y="249"/>
                      <a:pt x="0" y="291"/>
                      <a:pt x="0" y="339"/>
                    </a:cubicBezTo>
                    <a:cubicBezTo>
                      <a:pt x="0" y="387"/>
                      <a:pt x="30" y="429"/>
                      <a:pt x="73" y="445"/>
                    </a:cubicBezTo>
                    <a:cubicBezTo>
                      <a:pt x="74" y="445"/>
                      <a:pt x="75" y="446"/>
                      <a:pt x="76" y="448"/>
                    </a:cubicBezTo>
                    <a:cubicBezTo>
                      <a:pt x="76" y="449"/>
                      <a:pt x="76" y="450"/>
                      <a:pt x="76" y="452"/>
                    </a:cubicBezTo>
                    <a:cubicBezTo>
                      <a:pt x="70" y="464"/>
                      <a:pt x="67" y="478"/>
                      <a:pt x="66" y="49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74" name="Freeform 249">
                <a:extLst>
                  <a:ext uri="{FF2B5EF4-FFF2-40B4-BE49-F238E27FC236}">
                    <a16:creationId xmlns:a16="http://schemas.microsoft.com/office/drawing/2014/main" id="{35F30B74-29B7-C4B3-FF0D-F5C3F4513C01}"/>
                  </a:ext>
                </a:extLst>
              </p:cNvPr>
              <p:cNvSpPr>
                <a:spLocks noChangeArrowheads="1"/>
              </p:cNvSpPr>
              <p:nvPr/>
            </p:nvSpPr>
            <p:spPr bwMode="auto">
              <a:xfrm>
                <a:off x="10923063" y="4068188"/>
                <a:ext cx="265998" cy="265998"/>
              </a:xfrm>
              <a:custGeom>
                <a:avLst/>
                <a:gdLst>
                  <a:gd name="T0" fmla="*/ 590 w 591"/>
                  <a:gd name="T1" fmla="*/ 0 h 591"/>
                  <a:gd name="T2" fmla="*/ 0 w 591"/>
                  <a:gd name="T3" fmla="*/ 590 h 591"/>
                </a:gdLst>
                <a:ahLst/>
                <a:cxnLst>
                  <a:cxn ang="0">
                    <a:pos x="T0" y="T1"/>
                  </a:cxn>
                  <a:cxn ang="0">
                    <a:pos x="T2" y="T3"/>
                  </a:cxn>
                </a:cxnLst>
                <a:rect l="0" t="0" r="r" b="b"/>
                <a:pathLst>
                  <a:path w="591" h="591">
                    <a:moveTo>
                      <a:pt x="590" y="0"/>
                    </a:moveTo>
                    <a:cubicBezTo>
                      <a:pt x="393" y="197"/>
                      <a:pt x="197" y="394"/>
                      <a:pt x="0" y="59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75" name="Freeform 250">
                <a:extLst>
                  <a:ext uri="{FF2B5EF4-FFF2-40B4-BE49-F238E27FC236}">
                    <a16:creationId xmlns:a16="http://schemas.microsoft.com/office/drawing/2014/main" id="{349E10D6-512A-D27D-7C07-D100ADC50292}"/>
                  </a:ext>
                </a:extLst>
              </p:cNvPr>
              <p:cNvSpPr>
                <a:spLocks noChangeArrowheads="1"/>
              </p:cNvSpPr>
              <p:nvPr/>
            </p:nvSpPr>
            <p:spPr bwMode="auto">
              <a:xfrm>
                <a:off x="11111644" y="4066203"/>
                <a:ext cx="77417" cy="77417"/>
              </a:xfrm>
              <a:custGeom>
                <a:avLst/>
                <a:gdLst>
                  <a:gd name="T0" fmla="*/ 0 w 170"/>
                  <a:gd name="T1" fmla="*/ 0 h 170"/>
                  <a:gd name="T2" fmla="*/ 162 w 170"/>
                  <a:gd name="T3" fmla="*/ 0 h 170"/>
                  <a:gd name="T4" fmla="*/ 169 w 170"/>
                  <a:gd name="T5" fmla="*/ 7 h 170"/>
                  <a:gd name="T6" fmla="*/ 169 w 170"/>
                  <a:gd name="T7" fmla="*/ 169 h 170"/>
                </a:gdLst>
                <a:ahLst/>
                <a:cxnLst>
                  <a:cxn ang="0">
                    <a:pos x="T0" y="T1"/>
                  </a:cxn>
                  <a:cxn ang="0">
                    <a:pos x="T2" y="T3"/>
                  </a:cxn>
                  <a:cxn ang="0">
                    <a:pos x="T4" y="T5"/>
                  </a:cxn>
                  <a:cxn ang="0">
                    <a:pos x="T6" y="T7"/>
                  </a:cxn>
                </a:cxnLst>
                <a:rect l="0" t="0" r="r" b="b"/>
                <a:pathLst>
                  <a:path w="170" h="170">
                    <a:moveTo>
                      <a:pt x="0" y="0"/>
                    </a:moveTo>
                    <a:cubicBezTo>
                      <a:pt x="54" y="0"/>
                      <a:pt x="108" y="0"/>
                      <a:pt x="162" y="0"/>
                    </a:cubicBezTo>
                    <a:cubicBezTo>
                      <a:pt x="166" y="0"/>
                      <a:pt x="169" y="3"/>
                      <a:pt x="169" y="7"/>
                    </a:cubicBezTo>
                    <a:cubicBezTo>
                      <a:pt x="169" y="61"/>
                      <a:pt x="169" y="115"/>
                      <a:pt x="169" y="16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176" name="Group 175">
            <a:extLst>
              <a:ext uri="{FF2B5EF4-FFF2-40B4-BE49-F238E27FC236}">
                <a16:creationId xmlns:a16="http://schemas.microsoft.com/office/drawing/2014/main" id="{5CABC839-87F9-18B2-2D33-57E48849B8BC}"/>
              </a:ext>
            </a:extLst>
          </p:cNvPr>
          <p:cNvGrpSpPr>
            <a:grpSpLocks noChangeAspect="1"/>
          </p:cNvGrpSpPr>
          <p:nvPr/>
        </p:nvGrpSpPr>
        <p:grpSpPr>
          <a:xfrm>
            <a:off x="20666510" y="11693497"/>
            <a:ext cx="1142796" cy="1142794"/>
            <a:chOff x="4720668" y="5435946"/>
            <a:chExt cx="781902" cy="781901"/>
          </a:xfrm>
        </p:grpSpPr>
        <p:sp>
          <p:nvSpPr>
            <p:cNvPr id="177" name="Freeform 253">
              <a:extLst>
                <a:ext uri="{FF2B5EF4-FFF2-40B4-BE49-F238E27FC236}">
                  <a16:creationId xmlns:a16="http://schemas.microsoft.com/office/drawing/2014/main" id="{CD71B9C8-FF0A-7FF4-2CD5-48E96C037E80}"/>
                </a:ext>
              </a:extLst>
            </p:cNvPr>
            <p:cNvSpPr>
              <a:spLocks noChangeArrowheads="1"/>
            </p:cNvSpPr>
            <p:nvPr/>
          </p:nvSpPr>
          <p:spPr bwMode="auto">
            <a:xfrm>
              <a:off x="4720668" y="5435946"/>
              <a:ext cx="781902" cy="781901"/>
            </a:xfrm>
            <a:custGeom>
              <a:avLst/>
              <a:gdLst>
                <a:gd name="T0" fmla="*/ 1468 w 1751"/>
                <a:gd name="T1" fmla="*/ 1750 h 1751"/>
                <a:gd name="T2" fmla="*/ 1750 w 1751"/>
                <a:gd name="T3" fmla="*/ 1468 h 1751"/>
                <a:gd name="T4" fmla="*/ 1750 w 1751"/>
                <a:gd name="T5" fmla="*/ 283 h 1751"/>
                <a:gd name="T6" fmla="*/ 1468 w 1751"/>
                <a:gd name="T7" fmla="*/ 0 h 1751"/>
                <a:gd name="T8" fmla="*/ 283 w 1751"/>
                <a:gd name="T9" fmla="*/ 0 h 1751"/>
                <a:gd name="T10" fmla="*/ 0 w 1751"/>
                <a:gd name="T11" fmla="*/ 283 h 1751"/>
                <a:gd name="T12" fmla="*/ 0 w 1751"/>
                <a:gd name="T13" fmla="*/ 1468 h 1751"/>
                <a:gd name="T14" fmla="*/ 283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8"/>
                  </a:cubicBezTo>
                  <a:cubicBezTo>
                    <a:pt x="1750" y="1073"/>
                    <a:pt x="1750" y="678"/>
                    <a:pt x="1750" y="283"/>
                  </a:cubicBezTo>
                  <a:cubicBezTo>
                    <a:pt x="1750" y="127"/>
                    <a:pt x="1623" y="0"/>
                    <a:pt x="1468" y="0"/>
                  </a:cubicBezTo>
                  <a:cubicBezTo>
                    <a:pt x="1073" y="0"/>
                    <a:pt x="678" y="0"/>
                    <a:pt x="283" y="0"/>
                  </a:cubicBezTo>
                  <a:cubicBezTo>
                    <a:pt x="127" y="0"/>
                    <a:pt x="0" y="127"/>
                    <a:pt x="0" y="283"/>
                  </a:cubicBezTo>
                  <a:cubicBezTo>
                    <a:pt x="0" y="678"/>
                    <a:pt x="0" y="1073"/>
                    <a:pt x="0" y="1468"/>
                  </a:cubicBezTo>
                  <a:cubicBezTo>
                    <a:pt x="0" y="1623"/>
                    <a:pt x="127" y="1750"/>
                    <a:pt x="283" y="1750"/>
                  </a:cubicBezTo>
                  <a:cubicBezTo>
                    <a:pt x="678" y="1750"/>
                    <a:pt x="1073" y="1750"/>
                    <a:pt x="1468"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78" name="Group 177">
              <a:extLst>
                <a:ext uri="{FF2B5EF4-FFF2-40B4-BE49-F238E27FC236}">
                  <a16:creationId xmlns:a16="http://schemas.microsoft.com/office/drawing/2014/main" id="{1D33A979-956D-7D32-BB9D-774217AE0FAE}"/>
                </a:ext>
              </a:extLst>
            </p:cNvPr>
            <p:cNvGrpSpPr/>
            <p:nvPr/>
          </p:nvGrpSpPr>
          <p:grpSpPr>
            <a:xfrm>
              <a:off x="4848688" y="5587599"/>
              <a:ext cx="527833" cy="630248"/>
              <a:chOff x="4848688" y="5587599"/>
              <a:chExt cx="527833" cy="630248"/>
            </a:xfrm>
          </p:grpSpPr>
          <p:sp>
            <p:nvSpPr>
              <p:cNvPr id="179" name="Freeform 254">
                <a:extLst>
                  <a:ext uri="{FF2B5EF4-FFF2-40B4-BE49-F238E27FC236}">
                    <a16:creationId xmlns:a16="http://schemas.microsoft.com/office/drawing/2014/main" id="{D68038AD-3061-340F-D832-F1AF5BA2284B}"/>
                  </a:ext>
                </a:extLst>
              </p:cNvPr>
              <p:cNvSpPr>
                <a:spLocks noChangeArrowheads="1"/>
              </p:cNvSpPr>
              <p:nvPr/>
            </p:nvSpPr>
            <p:spPr bwMode="auto">
              <a:xfrm>
                <a:off x="5069275" y="5733344"/>
                <a:ext cx="114232" cy="100446"/>
              </a:xfrm>
              <a:custGeom>
                <a:avLst/>
                <a:gdLst>
                  <a:gd name="T0" fmla="*/ 253 w 254"/>
                  <a:gd name="T1" fmla="*/ 0 h 223"/>
                  <a:gd name="T2" fmla="*/ 95 w 254"/>
                  <a:gd name="T3" fmla="*/ 217 h 223"/>
                  <a:gd name="T4" fmla="*/ 87 w 254"/>
                  <a:gd name="T5" fmla="*/ 222 h 223"/>
                  <a:gd name="T6" fmla="*/ 79 w 254"/>
                  <a:gd name="T7" fmla="*/ 218 h 223"/>
                  <a:gd name="T8" fmla="*/ 0 w 254"/>
                  <a:gd name="T9" fmla="*/ 119 h 223"/>
                </a:gdLst>
                <a:ahLst/>
                <a:cxnLst>
                  <a:cxn ang="0">
                    <a:pos x="T0" y="T1"/>
                  </a:cxn>
                  <a:cxn ang="0">
                    <a:pos x="T2" y="T3"/>
                  </a:cxn>
                  <a:cxn ang="0">
                    <a:pos x="T4" y="T5"/>
                  </a:cxn>
                  <a:cxn ang="0">
                    <a:pos x="T6" y="T7"/>
                  </a:cxn>
                  <a:cxn ang="0">
                    <a:pos x="T8" y="T9"/>
                  </a:cxn>
                </a:cxnLst>
                <a:rect l="0" t="0" r="r" b="b"/>
                <a:pathLst>
                  <a:path w="254" h="223">
                    <a:moveTo>
                      <a:pt x="253" y="0"/>
                    </a:moveTo>
                    <a:cubicBezTo>
                      <a:pt x="200" y="72"/>
                      <a:pt x="147" y="145"/>
                      <a:pt x="95" y="217"/>
                    </a:cubicBezTo>
                    <a:cubicBezTo>
                      <a:pt x="93" y="220"/>
                      <a:pt x="90" y="221"/>
                      <a:pt x="87" y="222"/>
                    </a:cubicBezTo>
                    <a:cubicBezTo>
                      <a:pt x="84" y="222"/>
                      <a:pt x="81" y="220"/>
                      <a:pt x="79" y="218"/>
                    </a:cubicBezTo>
                    <a:cubicBezTo>
                      <a:pt x="52" y="185"/>
                      <a:pt x="26" y="152"/>
                      <a:pt x="0" y="11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80" name="Freeform 255">
                <a:extLst>
                  <a:ext uri="{FF2B5EF4-FFF2-40B4-BE49-F238E27FC236}">
                    <a16:creationId xmlns:a16="http://schemas.microsoft.com/office/drawing/2014/main" id="{11FF9FC6-44F0-A625-06E2-949306ACF46D}"/>
                  </a:ext>
                </a:extLst>
              </p:cNvPr>
              <p:cNvSpPr>
                <a:spLocks noChangeArrowheads="1"/>
              </p:cNvSpPr>
              <p:nvPr/>
            </p:nvSpPr>
            <p:spPr bwMode="auto">
              <a:xfrm>
                <a:off x="5006250" y="6013016"/>
                <a:ext cx="80750" cy="204831"/>
              </a:xfrm>
              <a:custGeom>
                <a:avLst/>
                <a:gdLst>
                  <a:gd name="T0" fmla="*/ 179 w 180"/>
                  <a:gd name="T1" fmla="*/ 0 h 459"/>
                  <a:gd name="T2" fmla="*/ 0 w 180"/>
                  <a:gd name="T3" fmla="*/ 458 h 459"/>
                </a:gdLst>
                <a:ahLst/>
                <a:cxnLst>
                  <a:cxn ang="0">
                    <a:pos x="T0" y="T1"/>
                  </a:cxn>
                  <a:cxn ang="0">
                    <a:pos x="T2" y="T3"/>
                  </a:cxn>
                </a:cxnLst>
                <a:rect l="0" t="0" r="r" b="b"/>
                <a:pathLst>
                  <a:path w="180" h="459">
                    <a:moveTo>
                      <a:pt x="179" y="0"/>
                    </a:moveTo>
                    <a:cubicBezTo>
                      <a:pt x="179" y="177"/>
                      <a:pt x="111" y="338"/>
                      <a:pt x="0" y="45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81" name="Freeform 256">
                <a:extLst>
                  <a:ext uri="{FF2B5EF4-FFF2-40B4-BE49-F238E27FC236}">
                    <a16:creationId xmlns:a16="http://schemas.microsoft.com/office/drawing/2014/main" id="{57C2A33B-CB00-B7C7-D8BA-8D996DDEA742}"/>
                  </a:ext>
                </a:extLst>
              </p:cNvPr>
              <p:cNvSpPr>
                <a:spLocks noChangeArrowheads="1"/>
              </p:cNvSpPr>
              <p:nvPr/>
            </p:nvSpPr>
            <p:spPr bwMode="auto">
              <a:xfrm>
                <a:off x="5136239" y="6013016"/>
                <a:ext cx="80750" cy="204831"/>
              </a:xfrm>
              <a:custGeom>
                <a:avLst/>
                <a:gdLst>
                  <a:gd name="T0" fmla="*/ 178 w 179"/>
                  <a:gd name="T1" fmla="*/ 458 h 459"/>
                  <a:gd name="T2" fmla="*/ 0 w 179"/>
                  <a:gd name="T3" fmla="*/ 0 h 459"/>
                </a:gdLst>
                <a:ahLst/>
                <a:cxnLst>
                  <a:cxn ang="0">
                    <a:pos x="T0" y="T1"/>
                  </a:cxn>
                  <a:cxn ang="0">
                    <a:pos x="T2" y="T3"/>
                  </a:cxn>
                </a:cxnLst>
                <a:rect l="0" t="0" r="r" b="b"/>
                <a:pathLst>
                  <a:path w="179" h="459">
                    <a:moveTo>
                      <a:pt x="178" y="458"/>
                    </a:moveTo>
                    <a:cubicBezTo>
                      <a:pt x="67" y="338"/>
                      <a:pt x="0" y="177"/>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82" name="Freeform 257">
                <a:extLst>
                  <a:ext uri="{FF2B5EF4-FFF2-40B4-BE49-F238E27FC236}">
                    <a16:creationId xmlns:a16="http://schemas.microsoft.com/office/drawing/2014/main" id="{FDAB55B7-3F20-F0C8-2D62-095B58802CF0}"/>
                  </a:ext>
                </a:extLst>
              </p:cNvPr>
              <p:cNvSpPr>
                <a:spLocks noChangeArrowheads="1"/>
              </p:cNvSpPr>
              <p:nvPr/>
            </p:nvSpPr>
            <p:spPr bwMode="auto">
              <a:xfrm>
                <a:off x="4962920" y="5587599"/>
                <a:ext cx="297398" cy="429356"/>
              </a:xfrm>
              <a:custGeom>
                <a:avLst/>
                <a:gdLst>
                  <a:gd name="T0" fmla="*/ 29 w 668"/>
                  <a:gd name="T1" fmla="*/ 0 h 961"/>
                  <a:gd name="T2" fmla="*/ 7 w 668"/>
                  <a:gd name="T3" fmla="*/ 10 h 961"/>
                  <a:gd name="T4" fmla="*/ 1 w 668"/>
                  <a:gd name="T5" fmla="*/ 32 h 961"/>
                  <a:gd name="T6" fmla="*/ 95 w 668"/>
                  <a:gd name="T7" fmla="*/ 751 h 961"/>
                  <a:gd name="T8" fmla="*/ 333 w 668"/>
                  <a:gd name="T9" fmla="*/ 960 h 961"/>
                  <a:gd name="T10" fmla="*/ 571 w 668"/>
                  <a:gd name="T11" fmla="*/ 751 h 961"/>
                  <a:gd name="T12" fmla="*/ 666 w 668"/>
                  <a:gd name="T13" fmla="*/ 32 h 961"/>
                  <a:gd name="T14" fmla="*/ 659 w 668"/>
                  <a:gd name="T15" fmla="*/ 10 h 961"/>
                  <a:gd name="T16" fmla="*/ 638 w 668"/>
                  <a:gd name="T17" fmla="*/ 0 h 961"/>
                  <a:gd name="T18" fmla="*/ 29 w 668"/>
                  <a:gd name="T19" fmla="*/ 0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8" h="961">
                    <a:moveTo>
                      <a:pt x="29" y="0"/>
                    </a:moveTo>
                    <a:cubicBezTo>
                      <a:pt x="21" y="0"/>
                      <a:pt x="13" y="4"/>
                      <a:pt x="7" y="10"/>
                    </a:cubicBezTo>
                    <a:cubicBezTo>
                      <a:pt x="2" y="16"/>
                      <a:pt x="0" y="24"/>
                      <a:pt x="1" y="32"/>
                    </a:cubicBezTo>
                    <a:cubicBezTo>
                      <a:pt x="32" y="272"/>
                      <a:pt x="63" y="511"/>
                      <a:pt x="95" y="751"/>
                    </a:cubicBezTo>
                    <a:cubicBezTo>
                      <a:pt x="111" y="869"/>
                      <a:pt x="211" y="960"/>
                      <a:pt x="333" y="960"/>
                    </a:cubicBezTo>
                    <a:cubicBezTo>
                      <a:pt x="454" y="960"/>
                      <a:pt x="556" y="869"/>
                      <a:pt x="571" y="751"/>
                    </a:cubicBezTo>
                    <a:cubicBezTo>
                      <a:pt x="602" y="511"/>
                      <a:pt x="634" y="272"/>
                      <a:pt x="666" y="32"/>
                    </a:cubicBezTo>
                    <a:cubicBezTo>
                      <a:pt x="667" y="24"/>
                      <a:pt x="664" y="16"/>
                      <a:pt x="659" y="10"/>
                    </a:cubicBezTo>
                    <a:cubicBezTo>
                      <a:pt x="654" y="4"/>
                      <a:pt x="646" y="0"/>
                      <a:pt x="638" y="0"/>
                    </a:cubicBezTo>
                    <a:cubicBezTo>
                      <a:pt x="435" y="0"/>
                      <a:pt x="232" y="0"/>
                      <a:pt x="29"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83" name="Freeform 258">
                <a:extLst>
                  <a:ext uri="{FF2B5EF4-FFF2-40B4-BE49-F238E27FC236}">
                    <a16:creationId xmlns:a16="http://schemas.microsoft.com/office/drawing/2014/main" id="{4F7E750D-EFB8-A3C1-CA2D-EDE20A7742EC}"/>
                  </a:ext>
                </a:extLst>
              </p:cNvPr>
              <p:cNvSpPr>
                <a:spLocks noChangeArrowheads="1"/>
              </p:cNvSpPr>
              <p:nvPr/>
            </p:nvSpPr>
            <p:spPr bwMode="auto">
              <a:xfrm>
                <a:off x="4968828" y="5636838"/>
                <a:ext cx="287551" cy="1969"/>
              </a:xfrm>
              <a:custGeom>
                <a:avLst/>
                <a:gdLst>
                  <a:gd name="T0" fmla="*/ 644 w 645"/>
                  <a:gd name="T1" fmla="*/ 0 h 1"/>
                  <a:gd name="T2" fmla="*/ 0 w 645"/>
                  <a:gd name="T3" fmla="*/ 0 h 1"/>
                </a:gdLst>
                <a:ahLst/>
                <a:cxnLst>
                  <a:cxn ang="0">
                    <a:pos x="T0" y="T1"/>
                  </a:cxn>
                  <a:cxn ang="0">
                    <a:pos x="T2" y="T3"/>
                  </a:cxn>
                </a:cxnLst>
                <a:rect l="0" t="0" r="r" b="b"/>
                <a:pathLst>
                  <a:path w="645" h="1">
                    <a:moveTo>
                      <a:pt x="644" y="0"/>
                    </a:moveTo>
                    <a:cubicBezTo>
                      <a:pt x="429" y="0"/>
                      <a:pt x="214"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84" name="Freeform 259">
                <a:extLst>
                  <a:ext uri="{FF2B5EF4-FFF2-40B4-BE49-F238E27FC236}">
                    <a16:creationId xmlns:a16="http://schemas.microsoft.com/office/drawing/2014/main" id="{CD88B6D6-BF39-1B39-F7C1-7526BCFC4CBA}"/>
                  </a:ext>
                </a:extLst>
              </p:cNvPr>
              <p:cNvSpPr>
                <a:spLocks noChangeArrowheads="1"/>
              </p:cNvSpPr>
              <p:nvPr/>
            </p:nvSpPr>
            <p:spPr bwMode="auto">
              <a:xfrm>
                <a:off x="4848688" y="5636838"/>
                <a:ext cx="155592" cy="287551"/>
              </a:xfrm>
              <a:custGeom>
                <a:avLst/>
                <a:gdLst>
                  <a:gd name="T0" fmla="*/ 349 w 350"/>
                  <a:gd name="T1" fmla="*/ 629 h 643"/>
                  <a:gd name="T2" fmla="*/ 208 w 350"/>
                  <a:gd name="T3" fmla="*/ 569 h 643"/>
                  <a:gd name="T4" fmla="*/ 26 w 350"/>
                  <a:gd name="T5" fmla="*/ 255 h 643"/>
                  <a:gd name="T6" fmla="*/ 0 w 350"/>
                  <a:gd name="T7" fmla="*/ 157 h 643"/>
                  <a:gd name="T8" fmla="*/ 156 w 350"/>
                  <a:gd name="T9" fmla="*/ 0 h 643"/>
                  <a:gd name="T10" fmla="*/ 282 w 350"/>
                  <a:gd name="T11" fmla="*/ 125 h 643"/>
                  <a:gd name="T12" fmla="*/ 181 w 350"/>
                  <a:gd name="T13" fmla="*/ 226 h 643"/>
                  <a:gd name="T14" fmla="*/ 125 w 350"/>
                  <a:gd name="T15" fmla="*/ 202 h 6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0" h="643">
                    <a:moveTo>
                      <a:pt x="349" y="629"/>
                    </a:moveTo>
                    <a:cubicBezTo>
                      <a:pt x="295" y="642"/>
                      <a:pt x="237" y="620"/>
                      <a:pt x="208" y="569"/>
                    </a:cubicBezTo>
                    <a:cubicBezTo>
                      <a:pt x="147" y="464"/>
                      <a:pt x="86" y="360"/>
                      <a:pt x="26" y="255"/>
                    </a:cubicBezTo>
                    <a:cubicBezTo>
                      <a:pt x="9" y="226"/>
                      <a:pt x="0" y="192"/>
                      <a:pt x="0" y="157"/>
                    </a:cubicBezTo>
                    <a:cubicBezTo>
                      <a:pt x="0" y="70"/>
                      <a:pt x="70" y="0"/>
                      <a:pt x="156" y="0"/>
                    </a:cubicBezTo>
                    <a:cubicBezTo>
                      <a:pt x="226" y="0"/>
                      <a:pt x="282" y="56"/>
                      <a:pt x="282" y="125"/>
                    </a:cubicBezTo>
                    <a:cubicBezTo>
                      <a:pt x="282" y="181"/>
                      <a:pt x="237" y="226"/>
                      <a:pt x="181" y="226"/>
                    </a:cubicBezTo>
                    <a:cubicBezTo>
                      <a:pt x="159" y="226"/>
                      <a:pt x="139" y="217"/>
                      <a:pt x="125" y="202"/>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85" name="Freeform 260">
                <a:extLst>
                  <a:ext uri="{FF2B5EF4-FFF2-40B4-BE49-F238E27FC236}">
                    <a16:creationId xmlns:a16="http://schemas.microsoft.com/office/drawing/2014/main" id="{DA98874A-C572-B63B-7235-403588B62CC5}"/>
                  </a:ext>
                </a:extLst>
              </p:cNvPr>
              <p:cNvSpPr>
                <a:spLocks noChangeArrowheads="1"/>
              </p:cNvSpPr>
              <p:nvPr/>
            </p:nvSpPr>
            <p:spPr bwMode="auto">
              <a:xfrm>
                <a:off x="5218959" y="5636838"/>
                <a:ext cx="157562" cy="287551"/>
              </a:xfrm>
              <a:custGeom>
                <a:avLst/>
                <a:gdLst>
                  <a:gd name="T0" fmla="*/ 0 w 351"/>
                  <a:gd name="T1" fmla="*/ 629 h 643"/>
                  <a:gd name="T2" fmla="*/ 142 w 351"/>
                  <a:gd name="T3" fmla="*/ 569 h 643"/>
                  <a:gd name="T4" fmla="*/ 324 w 351"/>
                  <a:gd name="T5" fmla="*/ 255 h 643"/>
                  <a:gd name="T6" fmla="*/ 350 w 351"/>
                  <a:gd name="T7" fmla="*/ 157 h 643"/>
                  <a:gd name="T8" fmla="*/ 193 w 351"/>
                  <a:gd name="T9" fmla="*/ 0 h 643"/>
                  <a:gd name="T10" fmla="*/ 68 w 351"/>
                  <a:gd name="T11" fmla="*/ 125 h 643"/>
                  <a:gd name="T12" fmla="*/ 168 w 351"/>
                  <a:gd name="T13" fmla="*/ 226 h 643"/>
                  <a:gd name="T14" fmla="*/ 225 w 351"/>
                  <a:gd name="T15" fmla="*/ 202 h 6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643">
                    <a:moveTo>
                      <a:pt x="0" y="629"/>
                    </a:moveTo>
                    <a:cubicBezTo>
                      <a:pt x="54" y="642"/>
                      <a:pt x="113" y="620"/>
                      <a:pt x="142" y="569"/>
                    </a:cubicBezTo>
                    <a:cubicBezTo>
                      <a:pt x="202" y="464"/>
                      <a:pt x="263" y="360"/>
                      <a:pt x="324" y="255"/>
                    </a:cubicBezTo>
                    <a:cubicBezTo>
                      <a:pt x="340" y="226"/>
                      <a:pt x="350" y="192"/>
                      <a:pt x="350" y="157"/>
                    </a:cubicBezTo>
                    <a:cubicBezTo>
                      <a:pt x="350" y="70"/>
                      <a:pt x="280" y="0"/>
                      <a:pt x="193" y="0"/>
                    </a:cubicBezTo>
                    <a:cubicBezTo>
                      <a:pt x="124" y="0"/>
                      <a:pt x="68" y="56"/>
                      <a:pt x="68" y="125"/>
                    </a:cubicBezTo>
                    <a:cubicBezTo>
                      <a:pt x="68" y="181"/>
                      <a:pt x="113" y="226"/>
                      <a:pt x="168" y="226"/>
                    </a:cubicBezTo>
                    <a:cubicBezTo>
                      <a:pt x="190" y="226"/>
                      <a:pt x="210" y="217"/>
                      <a:pt x="225" y="202"/>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186" name="Group 185">
            <a:extLst>
              <a:ext uri="{FF2B5EF4-FFF2-40B4-BE49-F238E27FC236}">
                <a16:creationId xmlns:a16="http://schemas.microsoft.com/office/drawing/2014/main" id="{3048B76B-CA7C-4CAD-06CC-0531C0DC874F}"/>
              </a:ext>
            </a:extLst>
          </p:cNvPr>
          <p:cNvGrpSpPr/>
          <p:nvPr/>
        </p:nvGrpSpPr>
        <p:grpSpPr>
          <a:xfrm>
            <a:off x="14906433" y="4240558"/>
            <a:ext cx="1142798" cy="1142796"/>
            <a:chOff x="4709834" y="2156578"/>
            <a:chExt cx="788068" cy="788067"/>
          </a:xfrm>
        </p:grpSpPr>
        <p:sp>
          <p:nvSpPr>
            <p:cNvPr id="187" name="Freeform 55">
              <a:extLst>
                <a:ext uri="{FF2B5EF4-FFF2-40B4-BE49-F238E27FC236}">
                  <a16:creationId xmlns:a16="http://schemas.microsoft.com/office/drawing/2014/main" id="{29A428D8-1A59-05FB-C2E8-5A5DE09DBBFA}"/>
                </a:ext>
              </a:extLst>
            </p:cNvPr>
            <p:cNvSpPr>
              <a:spLocks noChangeArrowheads="1"/>
            </p:cNvSpPr>
            <p:nvPr/>
          </p:nvSpPr>
          <p:spPr bwMode="auto">
            <a:xfrm>
              <a:off x="4709834" y="2156578"/>
              <a:ext cx="788068" cy="788067"/>
            </a:xfrm>
            <a:custGeom>
              <a:avLst/>
              <a:gdLst>
                <a:gd name="T0" fmla="*/ 283 w 1751"/>
                <a:gd name="T1" fmla="*/ 1750 h 1751"/>
                <a:gd name="T2" fmla="*/ 0 w 1751"/>
                <a:gd name="T3" fmla="*/ 1468 h 1751"/>
                <a:gd name="T4" fmla="*/ 0 w 1751"/>
                <a:gd name="T5" fmla="*/ 282 h 1751"/>
                <a:gd name="T6" fmla="*/ 283 w 1751"/>
                <a:gd name="T7" fmla="*/ 0 h 1751"/>
                <a:gd name="T8" fmla="*/ 1468 w 1751"/>
                <a:gd name="T9" fmla="*/ 0 h 1751"/>
                <a:gd name="T10" fmla="*/ 1750 w 1751"/>
                <a:gd name="T11" fmla="*/ 282 h 1751"/>
                <a:gd name="T12" fmla="*/ 1750 w 1751"/>
                <a:gd name="T13" fmla="*/ 1468 h 1751"/>
                <a:gd name="T14" fmla="*/ 1468 w 1751"/>
                <a:gd name="T15" fmla="*/ 1750 h 1751"/>
                <a:gd name="T16" fmla="*/ 283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3" y="1750"/>
                  </a:moveTo>
                  <a:cubicBezTo>
                    <a:pt x="127" y="1750"/>
                    <a:pt x="0" y="1623"/>
                    <a:pt x="0" y="1468"/>
                  </a:cubicBezTo>
                  <a:cubicBezTo>
                    <a:pt x="0" y="1072"/>
                    <a:pt x="0" y="677"/>
                    <a:pt x="0" y="282"/>
                  </a:cubicBezTo>
                  <a:cubicBezTo>
                    <a:pt x="0" y="127"/>
                    <a:pt x="127" y="0"/>
                    <a:pt x="283" y="0"/>
                  </a:cubicBezTo>
                  <a:cubicBezTo>
                    <a:pt x="678" y="0"/>
                    <a:pt x="1073" y="0"/>
                    <a:pt x="1468" y="0"/>
                  </a:cubicBezTo>
                  <a:cubicBezTo>
                    <a:pt x="1623" y="0"/>
                    <a:pt x="1750" y="127"/>
                    <a:pt x="1750" y="282"/>
                  </a:cubicBezTo>
                  <a:cubicBezTo>
                    <a:pt x="1750" y="677"/>
                    <a:pt x="1750" y="1072"/>
                    <a:pt x="1750" y="1468"/>
                  </a:cubicBezTo>
                  <a:cubicBezTo>
                    <a:pt x="1750" y="1623"/>
                    <a:pt x="1623" y="1750"/>
                    <a:pt x="1468" y="1750"/>
                  </a:cubicBezTo>
                  <a:cubicBezTo>
                    <a:pt x="1073" y="1750"/>
                    <a:pt x="678" y="1750"/>
                    <a:pt x="283"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88" name="Group 187">
              <a:extLst>
                <a:ext uri="{FF2B5EF4-FFF2-40B4-BE49-F238E27FC236}">
                  <a16:creationId xmlns:a16="http://schemas.microsoft.com/office/drawing/2014/main" id="{11950015-F486-1DB2-FAD0-841CF404F6F7}"/>
                </a:ext>
              </a:extLst>
            </p:cNvPr>
            <p:cNvGrpSpPr/>
            <p:nvPr/>
          </p:nvGrpSpPr>
          <p:grpSpPr>
            <a:xfrm>
              <a:off x="4856728" y="2339203"/>
              <a:ext cx="482369" cy="430757"/>
              <a:chOff x="4856728" y="2339203"/>
              <a:chExt cx="482369" cy="430757"/>
            </a:xfrm>
          </p:grpSpPr>
          <p:sp>
            <p:nvSpPr>
              <p:cNvPr id="189" name="Freeform 56">
                <a:extLst>
                  <a:ext uri="{FF2B5EF4-FFF2-40B4-BE49-F238E27FC236}">
                    <a16:creationId xmlns:a16="http://schemas.microsoft.com/office/drawing/2014/main" id="{13749A7B-15D5-27BE-7948-6994F126A80A}"/>
                  </a:ext>
                </a:extLst>
              </p:cNvPr>
              <p:cNvSpPr>
                <a:spLocks noChangeArrowheads="1"/>
              </p:cNvSpPr>
              <p:nvPr/>
            </p:nvSpPr>
            <p:spPr bwMode="auto">
              <a:xfrm>
                <a:off x="4856728" y="2339203"/>
                <a:ext cx="450608" cy="430757"/>
              </a:xfrm>
              <a:custGeom>
                <a:avLst/>
                <a:gdLst>
                  <a:gd name="T0" fmla="*/ 404 w 1002"/>
                  <a:gd name="T1" fmla="*/ 87 h 958"/>
                  <a:gd name="T2" fmla="*/ 559 w 1002"/>
                  <a:gd name="T3" fmla="*/ 71 h 958"/>
                  <a:gd name="T4" fmla="*/ 412 w 1002"/>
                  <a:gd name="T5" fmla="*/ 0 h 958"/>
                  <a:gd name="T6" fmla="*/ 281 w 1002"/>
                  <a:gd name="T7" fmla="*/ 54 h 958"/>
                  <a:gd name="T8" fmla="*/ 157 w 1002"/>
                  <a:gd name="T9" fmla="*/ 178 h 958"/>
                  <a:gd name="T10" fmla="*/ 145 w 1002"/>
                  <a:gd name="T11" fmla="*/ 215 h 958"/>
                  <a:gd name="T12" fmla="*/ 146 w 1002"/>
                  <a:gd name="T13" fmla="*/ 217 h 958"/>
                  <a:gd name="T14" fmla="*/ 60 w 1002"/>
                  <a:gd name="T15" fmla="*/ 302 h 958"/>
                  <a:gd name="T16" fmla="*/ 59 w 1002"/>
                  <a:gd name="T17" fmla="*/ 302 h 958"/>
                  <a:gd name="T18" fmla="*/ 22 w 1002"/>
                  <a:gd name="T19" fmla="*/ 314 h 958"/>
                  <a:gd name="T20" fmla="*/ 8 w 1002"/>
                  <a:gd name="T21" fmla="*/ 327 h 958"/>
                  <a:gd name="T22" fmla="*/ 8 w 1002"/>
                  <a:gd name="T23" fmla="*/ 357 h 958"/>
                  <a:gd name="T24" fmla="*/ 125 w 1002"/>
                  <a:gd name="T25" fmla="*/ 474 h 958"/>
                  <a:gd name="T26" fmla="*/ 156 w 1002"/>
                  <a:gd name="T27" fmla="*/ 474 h 958"/>
                  <a:gd name="T28" fmla="*/ 169 w 1002"/>
                  <a:gd name="T29" fmla="*/ 461 h 958"/>
                  <a:gd name="T30" fmla="*/ 181 w 1002"/>
                  <a:gd name="T31" fmla="*/ 423 h 958"/>
                  <a:gd name="T32" fmla="*/ 307 w 1002"/>
                  <a:gd name="T33" fmla="*/ 359 h 958"/>
                  <a:gd name="T34" fmla="*/ 800 w 1002"/>
                  <a:gd name="T35" fmla="*/ 901 h 958"/>
                  <a:gd name="T36" fmla="*/ 957 w 1002"/>
                  <a:gd name="T37" fmla="*/ 911 h 958"/>
                  <a:gd name="T38" fmla="*/ 947 w 1002"/>
                  <a:gd name="T39" fmla="*/ 754 h 958"/>
                  <a:gd name="T40" fmla="*/ 404 w 1002"/>
                  <a:gd name="T41" fmla="*/ 260 h 958"/>
                  <a:gd name="T42" fmla="*/ 404 w 1002"/>
                  <a:gd name="T43" fmla="*/ 87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2" h="958">
                    <a:moveTo>
                      <a:pt x="404" y="87"/>
                    </a:moveTo>
                    <a:cubicBezTo>
                      <a:pt x="447" y="44"/>
                      <a:pt x="522" y="29"/>
                      <a:pt x="559" y="71"/>
                    </a:cubicBezTo>
                    <a:cubicBezTo>
                      <a:pt x="552" y="63"/>
                      <a:pt x="505" y="0"/>
                      <a:pt x="412" y="0"/>
                    </a:cubicBezTo>
                    <a:cubicBezTo>
                      <a:pt x="362" y="0"/>
                      <a:pt x="316" y="19"/>
                      <a:pt x="281" y="54"/>
                    </a:cubicBezTo>
                    <a:cubicBezTo>
                      <a:pt x="239" y="95"/>
                      <a:pt x="198" y="136"/>
                      <a:pt x="157" y="178"/>
                    </a:cubicBezTo>
                    <a:cubicBezTo>
                      <a:pt x="147" y="188"/>
                      <a:pt x="143" y="202"/>
                      <a:pt x="145" y="215"/>
                    </a:cubicBezTo>
                    <a:cubicBezTo>
                      <a:pt x="145" y="215"/>
                      <a:pt x="145" y="216"/>
                      <a:pt x="146" y="217"/>
                    </a:cubicBezTo>
                    <a:cubicBezTo>
                      <a:pt x="153" y="264"/>
                      <a:pt x="108" y="310"/>
                      <a:pt x="60" y="302"/>
                    </a:cubicBezTo>
                    <a:cubicBezTo>
                      <a:pt x="59" y="302"/>
                      <a:pt x="59" y="302"/>
                      <a:pt x="59" y="302"/>
                    </a:cubicBezTo>
                    <a:cubicBezTo>
                      <a:pt x="45" y="300"/>
                      <a:pt x="31" y="304"/>
                      <a:pt x="22" y="314"/>
                    </a:cubicBezTo>
                    <a:cubicBezTo>
                      <a:pt x="17" y="318"/>
                      <a:pt x="12" y="322"/>
                      <a:pt x="8" y="327"/>
                    </a:cubicBezTo>
                    <a:cubicBezTo>
                      <a:pt x="0" y="335"/>
                      <a:pt x="0" y="349"/>
                      <a:pt x="8" y="357"/>
                    </a:cubicBezTo>
                    <a:cubicBezTo>
                      <a:pt x="47" y="396"/>
                      <a:pt x="86" y="435"/>
                      <a:pt x="125" y="474"/>
                    </a:cubicBezTo>
                    <a:cubicBezTo>
                      <a:pt x="134" y="483"/>
                      <a:pt x="147" y="483"/>
                      <a:pt x="156" y="474"/>
                    </a:cubicBezTo>
                    <a:cubicBezTo>
                      <a:pt x="160" y="470"/>
                      <a:pt x="165" y="465"/>
                      <a:pt x="169" y="461"/>
                    </a:cubicBezTo>
                    <a:cubicBezTo>
                      <a:pt x="179" y="451"/>
                      <a:pt x="183" y="437"/>
                      <a:pt x="181" y="423"/>
                    </a:cubicBezTo>
                    <a:cubicBezTo>
                      <a:pt x="169" y="361"/>
                      <a:pt x="251" y="303"/>
                      <a:pt x="307" y="359"/>
                    </a:cubicBezTo>
                    <a:cubicBezTo>
                      <a:pt x="471" y="539"/>
                      <a:pt x="635" y="720"/>
                      <a:pt x="800" y="901"/>
                    </a:cubicBezTo>
                    <a:cubicBezTo>
                      <a:pt x="843" y="949"/>
                      <a:pt x="911" y="957"/>
                      <a:pt x="957" y="911"/>
                    </a:cubicBezTo>
                    <a:cubicBezTo>
                      <a:pt x="1001" y="867"/>
                      <a:pt x="998" y="800"/>
                      <a:pt x="947" y="754"/>
                    </a:cubicBezTo>
                    <a:cubicBezTo>
                      <a:pt x="766" y="589"/>
                      <a:pt x="585" y="424"/>
                      <a:pt x="404" y="260"/>
                    </a:cubicBezTo>
                    <a:cubicBezTo>
                      <a:pt x="357" y="212"/>
                      <a:pt x="357" y="135"/>
                      <a:pt x="404" y="8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190" name="Freeform 57">
                <a:extLst>
                  <a:ext uri="{FF2B5EF4-FFF2-40B4-BE49-F238E27FC236}">
                    <a16:creationId xmlns:a16="http://schemas.microsoft.com/office/drawing/2014/main" id="{5B45EBA4-11EA-35FD-3808-6076CCC2E204}"/>
                  </a:ext>
                </a:extLst>
              </p:cNvPr>
              <p:cNvSpPr>
                <a:spLocks noChangeArrowheads="1"/>
              </p:cNvSpPr>
              <p:nvPr/>
            </p:nvSpPr>
            <p:spPr bwMode="auto">
              <a:xfrm>
                <a:off x="4920250" y="2573440"/>
                <a:ext cx="194536" cy="196520"/>
              </a:xfrm>
              <a:custGeom>
                <a:avLst/>
                <a:gdLst>
                  <a:gd name="T0" fmla="*/ 311 w 432"/>
                  <a:gd name="T1" fmla="*/ 0 h 437"/>
                  <a:gd name="T2" fmla="*/ 53 w 432"/>
                  <a:gd name="T3" fmla="*/ 235 h 437"/>
                  <a:gd name="T4" fmla="*/ 43 w 432"/>
                  <a:gd name="T5" fmla="*/ 393 h 437"/>
                  <a:gd name="T6" fmla="*/ 202 w 432"/>
                  <a:gd name="T7" fmla="*/ 383 h 437"/>
                  <a:gd name="T8" fmla="*/ 431 w 432"/>
                  <a:gd name="T9" fmla="*/ 131 h 437"/>
                </a:gdLst>
                <a:ahLst/>
                <a:cxnLst>
                  <a:cxn ang="0">
                    <a:pos x="T0" y="T1"/>
                  </a:cxn>
                  <a:cxn ang="0">
                    <a:pos x="T2" y="T3"/>
                  </a:cxn>
                  <a:cxn ang="0">
                    <a:pos x="T4" y="T5"/>
                  </a:cxn>
                  <a:cxn ang="0">
                    <a:pos x="T6" y="T7"/>
                  </a:cxn>
                  <a:cxn ang="0">
                    <a:pos x="T8" y="T9"/>
                  </a:cxn>
                </a:cxnLst>
                <a:rect l="0" t="0" r="r" b="b"/>
                <a:pathLst>
                  <a:path w="432" h="437">
                    <a:moveTo>
                      <a:pt x="311" y="0"/>
                    </a:moveTo>
                    <a:cubicBezTo>
                      <a:pt x="225" y="78"/>
                      <a:pt x="139" y="156"/>
                      <a:pt x="53" y="235"/>
                    </a:cubicBezTo>
                    <a:cubicBezTo>
                      <a:pt x="2" y="281"/>
                      <a:pt x="0" y="349"/>
                      <a:pt x="43" y="393"/>
                    </a:cubicBezTo>
                    <a:cubicBezTo>
                      <a:pt x="87" y="436"/>
                      <a:pt x="155" y="434"/>
                      <a:pt x="202" y="383"/>
                    </a:cubicBezTo>
                    <a:cubicBezTo>
                      <a:pt x="278" y="299"/>
                      <a:pt x="354" y="215"/>
                      <a:pt x="431" y="13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91" name="Freeform 58">
                <a:extLst>
                  <a:ext uri="{FF2B5EF4-FFF2-40B4-BE49-F238E27FC236}">
                    <a16:creationId xmlns:a16="http://schemas.microsoft.com/office/drawing/2014/main" id="{6B453A5E-5EB9-4847-E979-FB0E8944C635}"/>
                  </a:ext>
                </a:extLst>
              </p:cNvPr>
              <p:cNvSpPr>
                <a:spLocks noChangeArrowheads="1"/>
              </p:cNvSpPr>
              <p:nvPr/>
            </p:nvSpPr>
            <p:spPr bwMode="auto">
              <a:xfrm>
                <a:off x="5114785" y="2351114"/>
                <a:ext cx="224312" cy="222326"/>
              </a:xfrm>
              <a:custGeom>
                <a:avLst/>
                <a:gdLst>
                  <a:gd name="T0" fmla="*/ 119 w 500"/>
                  <a:gd name="T1" fmla="*/ 495 h 496"/>
                  <a:gd name="T2" fmla="*/ 180 w 500"/>
                  <a:gd name="T3" fmla="*/ 428 h 496"/>
                  <a:gd name="T4" fmla="*/ 224 w 500"/>
                  <a:gd name="T5" fmla="*/ 416 h 496"/>
                  <a:gd name="T6" fmla="*/ 430 w 500"/>
                  <a:gd name="T7" fmla="*/ 364 h 496"/>
                  <a:gd name="T8" fmla="*/ 485 w 500"/>
                  <a:gd name="T9" fmla="*/ 179 h 496"/>
                  <a:gd name="T10" fmla="*/ 466 w 500"/>
                  <a:gd name="T11" fmla="*/ 157 h 496"/>
                  <a:gd name="T12" fmla="*/ 438 w 500"/>
                  <a:gd name="T13" fmla="*/ 164 h 496"/>
                  <a:gd name="T14" fmla="*/ 351 w 500"/>
                  <a:gd name="T15" fmla="*/ 251 h 496"/>
                  <a:gd name="T16" fmla="*/ 247 w 500"/>
                  <a:gd name="T17" fmla="*/ 251 h 496"/>
                  <a:gd name="T18" fmla="*/ 247 w 500"/>
                  <a:gd name="T19" fmla="*/ 147 h 496"/>
                  <a:gd name="T20" fmla="*/ 334 w 500"/>
                  <a:gd name="T21" fmla="*/ 60 h 496"/>
                  <a:gd name="T22" fmla="*/ 341 w 500"/>
                  <a:gd name="T23" fmla="*/ 32 h 496"/>
                  <a:gd name="T24" fmla="*/ 319 w 500"/>
                  <a:gd name="T25" fmla="*/ 13 h 496"/>
                  <a:gd name="T26" fmla="*/ 134 w 500"/>
                  <a:gd name="T27" fmla="*/ 68 h 496"/>
                  <a:gd name="T28" fmla="*/ 83 w 500"/>
                  <a:gd name="T29" fmla="*/ 277 h 496"/>
                  <a:gd name="T30" fmla="*/ 71 w 500"/>
                  <a:gd name="T31" fmla="*/ 321 h 496"/>
                  <a:gd name="T32" fmla="*/ 0 w 500"/>
                  <a:gd name="T33" fmla="*/ 38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0" h="496">
                    <a:moveTo>
                      <a:pt x="119" y="495"/>
                    </a:moveTo>
                    <a:cubicBezTo>
                      <a:pt x="139" y="472"/>
                      <a:pt x="159" y="450"/>
                      <a:pt x="180" y="428"/>
                    </a:cubicBezTo>
                    <a:cubicBezTo>
                      <a:pt x="191" y="416"/>
                      <a:pt x="208" y="411"/>
                      <a:pt x="224" y="416"/>
                    </a:cubicBezTo>
                    <a:cubicBezTo>
                      <a:pt x="294" y="437"/>
                      <a:pt x="374" y="420"/>
                      <a:pt x="430" y="364"/>
                    </a:cubicBezTo>
                    <a:cubicBezTo>
                      <a:pt x="480" y="313"/>
                      <a:pt x="499" y="243"/>
                      <a:pt x="485" y="179"/>
                    </a:cubicBezTo>
                    <a:cubicBezTo>
                      <a:pt x="483" y="169"/>
                      <a:pt x="476" y="160"/>
                      <a:pt x="466" y="157"/>
                    </a:cubicBezTo>
                    <a:cubicBezTo>
                      <a:pt x="456" y="154"/>
                      <a:pt x="445" y="157"/>
                      <a:pt x="438" y="164"/>
                    </a:cubicBezTo>
                    <a:cubicBezTo>
                      <a:pt x="420" y="183"/>
                      <a:pt x="392" y="210"/>
                      <a:pt x="351" y="251"/>
                    </a:cubicBezTo>
                    <a:cubicBezTo>
                      <a:pt x="323" y="280"/>
                      <a:pt x="276" y="280"/>
                      <a:pt x="247" y="251"/>
                    </a:cubicBezTo>
                    <a:cubicBezTo>
                      <a:pt x="219" y="222"/>
                      <a:pt x="219" y="175"/>
                      <a:pt x="247" y="147"/>
                    </a:cubicBezTo>
                    <a:cubicBezTo>
                      <a:pt x="276" y="118"/>
                      <a:pt x="305" y="89"/>
                      <a:pt x="334" y="60"/>
                    </a:cubicBezTo>
                    <a:cubicBezTo>
                      <a:pt x="341" y="53"/>
                      <a:pt x="344" y="42"/>
                      <a:pt x="341" y="32"/>
                    </a:cubicBezTo>
                    <a:cubicBezTo>
                      <a:pt x="338" y="22"/>
                      <a:pt x="329" y="15"/>
                      <a:pt x="319" y="13"/>
                    </a:cubicBezTo>
                    <a:cubicBezTo>
                      <a:pt x="255" y="0"/>
                      <a:pt x="185" y="18"/>
                      <a:pt x="134" y="68"/>
                    </a:cubicBezTo>
                    <a:cubicBezTo>
                      <a:pt x="78" y="125"/>
                      <a:pt x="61" y="206"/>
                      <a:pt x="83" y="277"/>
                    </a:cubicBezTo>
                    <a:cubicBezTo>
                      <a:pt x="88" y="293"/>
                      <a:pt x="83" y="310"/>
                      <a:pt x="71" y="321"/>
                    </a:cubicBezTo>
                    <a:cubicBezTo>
                      <a:pt x="57" y="334"/>
                      <a:pt x="35" y="354"/>
                      <a:pt x="0" y="38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192" name="Group 191">
            <a:extLst>
              <a:ext uri="{FF2B5EF4-FFF2-40B4-BE49-F238E27FC236}">
                <a16:creationId xmlns:a16="http://schemas.microsoft.com/office/drawing/2014/main" id="{FA2B2D68-5378-12C8-BC15-A8029D6F9144}"/>
              </a:ext>
            </a:extLst>
          </p:cNvPr>
          <p:cNvGrpSpPr/>
          <p:nvPr/>
        </p:nvGrpSpPr>
        <p:grpSpPr>
          <a:xfrm>
            <a:off x="14922264" y="2663381"/>
            <a:ext cx="1142796" cy="1142798"/>
            <a:chOff x="10655081" y="510965"/>
            <a:chExt cx="788067" cy="788068"/>
          </a:xfrm>
        </p:grpSpPr>
        <p:sp>
          <p:nvSpPr>
            <p:cNvPr id="193" name="Freeform 97">
              <a:extLst>
                <a:ext uri="{FF2B5EF4-FFF2-40B4-BE49-F238E27FC236}">
                  <a16:creationId xmlns:a16="http://schemas.microsoft.com/office/drawing/2014/main" id="{7B74218C-86E2-40AF-8428-2315D805A5B8}"/>
                </a:ext>
              </a:extLst>
            </p:cNvPr>
            <p:cNvSpPr>
              <a:spLocks noChangeArrowheads="1"/>
            </p:cNvSpPr>
            <p:nvPr/>
          </p:nvSpPr>
          <p:spPr bwMode="auto">
            <a:xfrm>
              <a:off x="10655081" y="510965"/>
              <a:ext cx="788067" cy="788068"/>
            </a:xfrm>
            <a:custGeom>
              <a:avLst/>
              <a:gdLst>
                <a:gd name="T0" fmla="*/ 282 w 1751"/>
                <a:gd name="T1" fmla="*/ 1750 h 1751"/>
                <a:gd name="T2" fmla="*/ 0 w 1751"/>
                <a:gd name="T3" fmla="*/ 1467 h 1751"/>
                <a:gd name="T4" fmla="*/ 0 w 1751"/>
                <a:gd name="T5" fmla="*/ 282 h 1751"/>
                <a:gd name="T6" fmla="*/ 282 w 1751"/>
                <a:gd name="T7" fmla="*/ 0 h 1751"/>
                <a:gd name="T8" fmla="*/ 1468 w 1751"/>
                <a:gd name="T9" fmla="*/ 0 h 1751"/>
                <a:gd name="T10" fmla="*/ 1750 w 1751"/>
                <a:gd name="T11" fmla="*/ 282 h 1751"/>
                <a:gd name="T12" fmla="*/ 1750 w 1751"/>
                <a:gd name="T13" fmla="*/ 1467 h 1751"/>
                <a:gd name="T14" fmla="*/ 1468 w 1751"/>
                <a:gd name="T15" fmla="*/ 1750 h 1751"/>
                <a:gd name="T16" fmla="*/ 282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2" y="1750"/>
                  </a:moveTo>
                  <a:cubicBezTo>
                    <a:pt x="127" y="1750"/>
                    <a:pt x="0" y="1623"/>
                    <a:pt x="0" y="1467"/>
                  </a:cubicBezTo>
                  <a:cubicBezTo>
                    <a:pt x="0" y="1072"/>
                    <a:pt x="0" y="677"/>
                    <a:pt x="0" y="282"/>
                  </a:cubicBezTo>
                  <a:cubicBezTo>
                    <a:pt x="0" y="127"/>
                    <a:pt x="127" y="0"/>
                    <a:pt x="282" y="0"/>
                  </a:cubicBezTo>
                  <a:cubicBezTo>
                    <a:pt x="677" y="0"/>
                    <a:pt x="1073" y="0"/>
                    <a:pt x="1468" y="0"/>
                  </a:cubicBezTo>
                  <a:cubicBezTo>
                    <a:pt x="1623" y="0"/>
                    <a:pt x="1750" y="127"/>
                    <a:pt x="1750" y="282"/>
                  </a:cubicBezTo>
                  <a:cubicBezTo>
                    <a:pt x="1750" y="677"/>
                    <a:pt x="1750" y="1072"/>
                    <a:pt x="1750" y="1467"/>
                  </a:cubicBezTo>
                  <a:cubicBezTo>
                    <a:pt x="1750" y="1623"/>
                    <a:pt x="1623" y="1750"/>
                    <a:pt x="1468" y="1750"/>
                  </a:cubicBezTo>
                  <a:cubicBezTo>
                    <a:pt x="1073" y="1750"/>
                    <a:pt x="677" y="1750"/>
                    <a:pt x="282"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194" name="Group 193">
              <a:extLst>
                <a:ext uri="{FF2B5EF4-FFF2-40B4-BE49-F238E27FC236}">
                  <a16:creationId xmlns:a16="http://schemas.microsoft.com/office/drawing/2014/main" id="{369338C1-A41E-2E19-3BB2-186CDED8355F}"/>
                </a:ext>
              </a:extLst>
            </p:cNvPr>
            <p:cNvGrpSpPr/>
            <p:nvPr/>
          </p:nvGrpSpPr>
          <p:grpSpPr>
            <a:xfrm>
              <a:off x="10837706" y="713441"/>
              <a:ext cx="424803" cy="381131"/>
              <a:chOff x="10837706" y="713441"/>
              <a:chExt cx="424803" cy="381131"/>
            </a:xfrm>
          </p:grpSpPr>
          <p:sp>
            <p:nvSpPr>
              <p:cNvPr id="195" name="Freeform 98">
                <a:extLst>
                  <a:ext uri="{FF2B5EF4-FFF2-40B4-BE49-F238E27FC236}">
                    <a16:creationId xmlns:a16="http://schemas.microsoft.com/office/drawing/2014/main" id="{2D9AA856-E5B4-5149-3DD4-A4FEE9DDD481}"/>
                  </a:ext>
                </a:extLst>
              </p:cNvPr>
              <p:cNvSpPr>
                <a:spLocks noChangeArrowheads="1"/>
              </p:cNvSpPr>
              <p:nvPr/>
            </p:nvSpPr>
            <p:spPr bwMode="auto">
              <a:xfrm>
                <a:off x="10905198" y="860335"/>
                <a:ext cx="1984" cy="234237"/>
              </a:xfrm>
              <a:custGeom>
                <a:avLst/>
                <a:gdLst>
                  <a:gd name="T0" fmla="*/ 0 w 1"/>
                  <a:gd name="T1" fmla="*/ 520 h 521"/>
                  <a:gd name="T2" fmla="*/ 0 w 1"/>
                  <a:gd name="T3" fmla="*/ 0 h 521"/>
                </a:gdLst>
                <a:ahLst/>
                <a:cxnLst>
                  <a:cxn ang="0">
                    <a:pos x="T0" y="T1"/>
                  </a:cxn>
                  <a:cxn ang="0">
                    <a:pos x="T2" y="T3"/>
                  </a:cxn>
                </a:cxnLst>
                <a:rect l="0" t="0" r="r" b="b"/>
                <a:pathLst>
                  <a:path w="1" h="521">
                    <a:moveTo>
                      <a:pt x="0" y="520"/>
                    </a:moveTo>
                    <a:cubicBezTo>
                      <a:pt x="0" y="347"/>
                      <a:pt x="0" y="173"/>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96" name="Freeform 99">
                <a:extLst>
                  <a:ext uri="{FF2B5EF4-FFF2-40B4-BE49-F238E27FC236}">
                    <a16:creationId xmlns:a16="http://schemas.microsoft.com/office/drawing/2014/main" id="{497FBFFA-C16E-1484-489F-EA7A0038E706}"/>
                  </a:ext>
                </a:extLst>
              </p:cNvPr>
              <p:cNvSpPr>
                <a:spLocks noChangeArrowheads="1"/>
              </p:cNvSpPr>
              <p:nvPr/>
            </p:nvSpPr>
            <p:spPr bwMode="auto">
              <a:xfrm>
                <a:off x="10905198" y="713441"/>
                <a:ext cx="1984" cy="79402"/>
              </a:xfrm>
              <a:custGeom>
                <a:avLst/>
                <a:gdLst>
                  <a:gd name="T0" fmla="*/ 0 w 1"/>
                  <a:gd name="T1" fmla="*/ 174 h 175"/>
                  <a:gd name="T2" fmla="*/ 0 w 1"/>
                  <a:gd name="T3" fmla="*/ 0 h 175"/>
                </a:gdLst>
                <a:ahLst/>
                <a:cxnLst>
                  <a:cxn ang="0">
                    <a:pos x="T0" y="T1"/>
                  </a:cxn>
                  <a:cxn ang="0">
                    <a:pos x="T2" y="T3"/>
                  </a:cxn>
                </a:cxnLst>
                <a:rect l="0" t="0" r="r" b="b"/>
                <a:pathLst>
                  <a:path w="1" h="175">
                    <a:moveTo>
                      <a:pt x="0" y="174"/>
                    </a:moveTo>
                    <a:cubicBezTo>
                      <a:pt x="0" y="116"/>
                      <a:pt x="0" y="58"/>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97" name="Freeform 100">
                <a:extLst>
                  <a:ext uri="{FF2B5EF4-FFF2-40B4-BE49-F238E27FC236}">
                    <a16:creationId xmlns:a16="http://schemas.microsoft.com/office/drawing/2014/main" id="{1CDA4459-DE77-FC2A-06C5-2F929FD3CBA2}"/>
                  </a:ext>
                </a:extLst>
              </p:cNvPr>
              <p:cNvSpPr>
                <a:spLocks noChangeArrowheads="1"/>
              </p:cNvSpPr>
              <p:nvPr/>
            </p:nvSpPr>
            <p:spPr bwMode="auto">
              <a:xfrm>
                <a:off x="11195017" y="860335"/>
                <a:ext cx="1984" cy="234237"/>
              </a:xfrm>
              <a:custGeom>
                <a:avLst/>
                <a:gdLst>
                  <a:gd name="T0" fmla="*/ 0 w 1"/>
                  <a:gd name="T1" fmla="*/ 520 h 521"/>
                  <a:gd name="T2" fmla="*/ 0 w 1"/>
                  <a:gd name="T3" fmla="*/ 0 h 521"/>
                </a:gdLst>
                <a:ahLst/>
                <a:cxnLst>
                  <a:cxn ang="0">
                    <a:pos x="T0" y="T1"/>
                  </a:cxn>
                  <a:cxn ang="0">
                    <a:pos x="T2" y="T3"/>
                  </a:cxn>
                </a:cxnLst>
                <a:rect l="0" t="0" r="r" b="b"/>
                <a:pathLst>
                  <a:path w="1" h="521">
                    <a:moveTo>
                      <a:pt x="0" y="520"/>
                    </a:moveTo>
                    <a:cubicBezTo>
                      <a:pt x="0" y="347"/>
                      <a:pt x="0" y="173"/>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98" name="Freeform 101">
                <a:extLst>
                  <a:ext uri="{FF2B5EF4-FFF2-40B4-BE49-F238E27FC236}">
                    <a16:creationId xmlns:a16="http://schemas.microsoft.com/office/drawing/2014/main" id="{801C4784-93C0-C06F-B279-4DF9CA98BA85}"/>
                  </a:ext>
                </a:extLst>
              </p:cNvPr>
              <p:cNvSpPr>
                <a:spLocks noChangeArrowheads="1"/>
              </p:cNvSpPr>
              <p:nvPr/>
            </p:nvSpPr>
            <p:spPr bwMode="auto">
              <a:xfrm>
                <a:off x="11195017" y="713441"/>
                <a:ext cx="1984" cy="79402"/>
              </a:xfrm>
              <a:custGeom>
                <a:avLst/>
                <a:gdLst>
                  <a:gd name="T0" fmla="*/ 0 w 1"/>
                  <a:gd name="T1" fmla="*/ 174 h 175"/>
                  <a:gd name="T2" fmla="*/ 0 w 1"/>
                  <a:gd name="T3" fmla="*/ 0 h 175"/>
                </a:gdLst>
                <a:ahLst/>
                <a:cxnLst>
                  <a:cxn ang="0">
                    <a:pos x="T0" y="T1"/>
                  </a:cxn>
                  <a:cxn ang="0">
                    <a:pos x="T2" y="T3"/>
                  </a:cxn>
                </a:cxnLst>
                <a:rect l="0" t="0" r="r" b="b"/>
                <a:pathLst>
                  <a:path w="1" h="175">
                    <a:moveTo>
                      <a:pt x="0" y="174"/>
                    </a:moveTo>
                    <a:cubicBezTo>
                      <a:pt x="0" y="116"/>
                      <a:pt x="0" y="58"/>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199" name="Freeform 102">
                <a:extLst>
                  <a:ext uri="{FF2B5EF4-FFF2-40B4-BE49-F238E27FC236}">
                    <a16:creationId xmlns:a16="http://schemas.microsoft.com/office/drawing/2014/main" id="{40EEA487-DA48-07F8-182D-21FAD3CE05C2}"/>
                  </a:ext>
                </a:extLst>
              </p:cNvPr>
              <p:cNvSpPr>
                <a:spLocks noChangeArrowheads="1"/>
              </p:cNvSpPr>
              <p:nvPr/>
            </p:nvSpPr>
            <p:spPr bwMode="auto">
              <a:xfrm>
                <a:off x="11050107" y="713441"/>
                <a:ext cx="1986" cy="234237"/>
              </a:xfrm>
              <a:custGeom>
                <a:avLst/>
                <a:gdLst>
                  <a:gd name="T0" fmla="*/ 0 w 1"/>
                  <a:gd name="T1" fmla="*/ 0 h 522"/>
                  <a:gd name="T2" fmla="*/ 0 w 1"/>
                  <a:gd name="T3" fmla="*/ 521 h 522"/>
                </a:gdLst>
                <a:ahLst/>
                <a:cxnLst>
                  <a:cxn ang="0">
                    <a:pos x="T0" y="T1"/>
                  </a:cxn>
                  <a:cxn ang="0">
                    <a:pos x="T2" y="T3"/>
                  </a:cxn>
                </a:cxnLst>
                <a:rect l="0" t="0" r="r" b="b"/>
                <a:pathLst>
                  <a:path w="1" h="522">
                    <a:moveTo>
                      <a:pt x="0" y="0"/>
                    </a:moveTo>
                    <a:cubicBezTo>
                      <a:pt x="0" y="174"/>
                      <a:pt x="0" y="347"/>
                      <a:pt x="0" y="52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00" name="Freeform 103">
                <a:extLst>
                  <a:ext uri="{FF2B5EF4-FFF2-40B4-BE49-F238E27FC236}">
                    <a16:creationId xmlns:a16="http://schemas.microsoft.com/office/drawing/2014/main" id="{4C415FD7-3DA8-05D6-B067-E7AE060A236D}"/>
                  </a:ext>
                </a:extLst>
              </p:cNvPr>
              <p:cNvSpPr>
                <a:spLocks noChangeArrowheads="1"/>
              </p:cNvSpPr>
              <p:nvPr/>
            </p:nvSpPr>
            <p:spPr bwMode="auto">
              <a:xfrm>
                <a:off x="11050107" y="1015169"/>
                <a:ext cx="1986" cy="77418"/>
              </a:xfrm>
              <a:custGeom>
                <a:avLst/>
                <a:gdLst>
                  <a:gd name="T0" fmla="*/ 0 w 1"/>
                  <a:gd name="T1" fmla="*/ 0 h 174"/>
                  <a:gd name="T2" fmla="*/ 0 w 1"/>
                  <a:gd name="T3" fmla="*/ 173 h 174"/>
                </a:gdLst>
                <a:ahLst/>
                <a:cxnLst>
                  <a:cxn ang="0">
                    <a:pos x="T0" y="T1"/>
                  </a:cxn>
                  <a:cxn ang="0">
                    <a:pos x="T2" y="T3"/>
                  </a:cxn>
                </a:cxnLst>
                <a:rect l="0" t="0" r="r" b="b"/>
                <a:pathLst>
                  <a:path w="1" h="174">
                    <a:moveTo>
                      <a:pt x="0" y="0"/>
                    </a:moveTo>
                    <a:cubicBezTo>
                      <a:pt x="0" y="58"/>
                      <a:pt x="0" y="115"/>
                      <a:pt x="0" y="17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01" name="Freeform 104">
                <a:extLst>
                  <a:ext uri="{FF2B5EF4-FFF2-40B4-BE49-F238E27FC236}">
                    <a16:creationId xmlns:a16="http://schemas.microsoft.com/office/drawing/2014/main" id="{C32A9DE2-55DD-8748-CB81-1892D5545EC7}"/>
                  </a:ext>
                </a:extLst>
              </p:cNvPr>
              <p:cNvSpPr>
                <a:spLocks noChangeArrowheads="1"/>
              </p:cNvSpPr>
              <p:nvPr/>
            </p:nvSpPr>
            <p:spPr bwMode="auto">
              <a:xfrm>
                <a:off x="10837706" y="792843"/>
                <a:ext cx="134984" cy="67492"/>
              </a:xfrm>
              <a:custGeom>
                <a:avLst/>
                <a:gdLst>
                  <a:gd name="T0" fmla="*/ 223 w 298"/>
                  <a:gd name="T1" fmla="*/ 0 h 150"/>
                  <a:gd name="T2" fmla="*/ 74 w 298"/>
                  <a:gd name="T3" fmla="*/ 0 h 150"/>
                  <a:gd name="T4" fmla="*/ 0 w 298"/>
                  <a:gd name="T5" fmla="*/ 74 h 150"/>
                  <a:gd name="T6" fmla="*/ 74 w 298"/>
                  <a:gd name="T7" fmla="*/ 149 h 150"/>
                  <a:gd name="T8" fmla="*/ 223 w 298"/>
                  <a:gd name="T9" fmla="*/ 149 h 150"/>
                  <a:gd name="T10" fmla="*/ 297 w 298"/>
                  <a:gd name="T11" fmla="*/ 74 h 150"/>
                  <a:gd name="T12" fmla="*/ 223 w 298"/>
                  <a:gd name="T13" fmla="*/ 0 h 150"/>
                </a:gdLst>
                <a:ahLst/>
                <a:cxnLst>
                  <a:cxn ang="0">
                    <a:pos x="T0" y="T1"/>
                  </a:cxn>
                  <a:cxn ang="0">
                    <a:pos x="T2" y="T3"/>
                  </a:cxn>
                  <a:cxn ang="0">
                    <a:pos x="T4" y="T5"/>
                  </a:cxn>
                  <a:cxn ang="0">
                    <a:pos x="T6" y="T7"/>
                  </a:cxn>
                  <a:cxn ang="0">
                    <a:pos x="T8" y="T9"/>
                  </a:cxn>
                  <a:cxn ang="0">
                    <a:pos x="T10" y="T11"/>
                  </a:cxn>
                  <a:cxn ang="0">
                    <a:pos x="T12" y="T13"/>
                  </a:cxn>
                </a:cxnLst>
                <a:rect l="0" t="0" r="r" b="b"/>
                <a:pathLst>
                  <a:path w="298" h="150">
                    <a:moveTo>
                      <a:pt x="223" y="0"/>
                    </a:moveTo>
                    <a:cubicBezTo>
                      <a:pt x="197" y="0"/>
                      <a:pt x="100" y="0"/>
                      <a:pt x="74" y="0"/>
                    </a:cubicBezTo>
                    <a:cubicBezTo>
                      <a:pt x="33" y="0"/>
                      <a:pt x="0" y="33"/>
                      <a:pt x="0" y="74"/>
                    </a:cubicBezTo>
                    <a:cubicBezTo>
                      <a:pt x="0" y="115"/>
                      <a:pt x="33" y="149"/>
                      <a:pt x="74" y="149"/>
                    </a:cubicBezTo>
                    <a:cubicBezTo>
                      <a:pt x="100" y="149"/>
                      <a:pt x="197" y="149"/>
                      <a:pt x="223" y="149"/>
                    </a:cubicBezTo>
                    <a:cubicBezTo>
                      <a:pt x="264" y="149"/>
                      <a:pt x="297" y="115"/>
                      <a:pt x="297" y="74"/>
                    </a:cubicBezTo>
                    <a:cubicBezTo>
                      <a:pt x="297" y="33"/>
                      <a:pt x="264" y="0"/>
                      <a:pt x="223"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02" name="Freeform 105">
                <a:extLst>
                  <a:ext uri="{FF2B5EF4-FFF2-40B4-BE49-F238E27FC236}">
                    <a16:creationId xmlns:a16="http://schemas.microsoft.com/office/drawing/2014/main" id="{34085DC6-55F2-7DE9-E0EA-F2B1A3DA0FF6}"/>
                  </a:ext>
                </a:extLst>
              </p:cNvPr>
              <p:cNvSpPr>
                <a:spLocks noChangeArrowheads="1"/>
              </p:cNvSpPr>
              <p:nvPr/>
            </p:nvSpPr>
            <p:spPr bwMode="auto">
              <a:xfrm>
                <a:off x="11127525" y="792843"/>
                <a:ext cx="134984" cy="67492"/>
              </a:xfrm>
              <a:custGeom>
                <a:avLst/>
                <a:gdLst>
                  <a:gd name="T0" fmla="*/ 223 w 299"/>
                  <a:gd name="T1" fmla="*/ 0 h 150"/>
                  <a:gd name="T2" fmla="*/ 75 w 299"/>
                  <a:gd name="T3" fmla="*/ 0 h 150"/>
                  <a:gd name="T4" fmla="*/ 0 w 299"/>
                  <a:gd name="T5" fmla="*/ 74 h 150"/>
                  <a:gd name="T6" fmla="*/ 75 w 299"/>
                  <a:gd name="T7" fmla="*/ 149 h 150"/>
                  <a:gd name="T8" fmla="*/ 223 w 299"/>
                  <a:gd name="T9" fmla="*/ 149 h 150"/>
                  <a:gd name="T10" fmla="*/ 298 w 299"/>
                  <a:gd name="T11" fmla="*/ 74 h 150"/>
                  <a:gd name="T12" fmla="*/ 223 w 299"/>
                  <a:gd name="T13" fmla="*/ 0 h 150"/>
                </a:gdLst>
                <a:ahLst/>
                <a:cxnLst>
                  <a:cxn ang="0">
                    <a:pos x="T0" y="T1"/>
                  </a:cxn>
                  <a:cxn ang="0">
                    <a:pos x="T2" y="T3"/>
                  </a:cxn>
                  <a:cxn ang="0">
                    <a:pos x="T4" y="T5"/>
                  </a:cxn>
                  <a:cxn ang="0">
                    <a:pos x="T6" y="T7"/>
                  </a:cxn>
                  <a:cxn ang="0">
                    <a:pos x="T8" y="T9"/>
                  </a:cxn>
                  <a:cxn ang="0">
                    <a:pos x="T10" y="T11"/>
                  </a:cxn>
                  <a:cxn ang="0">
                    <a:pos x="T12" y="T13"/>
                  </a:cxn>
                </a:cxnLst>
                <a:rect l="0" t="0" r="r" b="b"/>
                <a:pathLst>
                  <a:path w="299" h="150">
                    <a:moveTo>
                      <a:pt x="223" y="0"/>
                    </a:moveTo>
                    <a:cubicBezTo>
                      <a:pt x="198" y="0"/>
                      <a:pt x="101" y="0"/>
                      <a:pt x="75" y="0"/>
                    </a:cubicBezTo>
                    <a:cubicBezTo>
                      <a:pt x="34" y="0"/>
                      <a:pt x="0" y="33"/>
                      <a:pt x="0" y="74"/>
                    </a:cubicBezTo>
                    <a:cubicBezTo>
                      <a:pt x="0" y="115"/>
                      <a:pt x="34" y="149"/>
                      <a:pt x="75" y="149"/>
                    </a:cubicBezTo>
                    <a:cubicBezTo>
                      <a:pt x="101" y="149"/>
                      <a:pt x="198" y="149"/>
                      <a:pt x="223" y="149"/>
                    </a:cubicBezTo>
                    <a:cubicBezTo>
                      <a:pt x="264" y="149"/>
                      <a:pt x="298" y="115"/>
                      <a:pt x="298" y="74"/>
                    </a:cubicBezTo>
                    <a:cubicBezTo>
                      <a:pt x="298" y="33"/>
                      <a:pt x="264" y="0"/>
                      <a:pt x="223"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03" name="Freeform 106">
                <a:extLst>
                  <a:ext uri="{FF2B5EF4-FFF2-40B4-BE49-F238E27FC236}">
                    <a16:creationId xmlns:a16="http://schemas.microsoft.com/office/drawing/2014/main" id="{DC531A25-A447-0816-BCCA-45EE8F30E393}"/>
                  </a:ext>
                </a:extLst>
              </p:cNvPr>
              <p:cNvSpPr>
                <a:spLocks noChangeArrowheads="1"/>
              </p:cNvSpPr>
              <p:nvPr/>
            </p:nvSpPr>
            <p:spPr bwMode="auto">
              <a:xfrm>
                <a:off x="10982615" y="949663"/>
                <a:ext cx="134984" cy="67492"/>
              </a:xfrm>
              <a:custGeom>
                <a:avLst/>
                <a:gdLst>
                  <a:gd name="T0" fmla="*/ 223 w 299"/>
                  <a:gd name="T1" fmla="*/ 0 h 149"/>
                  <a:gd name="T2" fmla="*/ 75 w 299"/>
                  <a:gd name="T3" fmla="*/ 0 h 149"/>
                  <a:gd name="T4" fmla="*/ 0 w 299"/>
                  <a:gd name="T5" fmla="*/ 74 h 149"/>
                  <a:gd name="T6" fmla="*/ 75 w 299"/>
                  <a:gd name="T7" fmla="*/ 148 h 149"/>
                  <a:gd name="T8" fmla="*/ 223 w 299"/>
                  <a:gd name="T9" fmla="*/ 148 h 149"/>
                  <a:gd name="T10" fmla="*/ 298 w 299"/>
                  <a:gd name="T11" fmla="*/ 74 h 149"/>
                  <a:gd name="T12" fmla="*/ 223 w 299"/>
                  <a:gd name="T13" fmla="*/ 0 h 149"/>
                </a:gdLst>
                <a:ahLst/>
                <a:cxnLst>
                  <a:cxn ang="0">
                    <a:pos x="T0" y="T1"/>
                  </a:cxn>
                  <a:cxn ang="0">
                    <a:pos x="T2" y="T3"/>
                  </a:cxn>
                  <a:cxn ang="0">
                    <a:pos x="T4" y="T5"/>
                  </a:cxn>
                  <a:cxn ang="0">
                    <a:pos x="T6" y="T7"/>
                  </a:cxn>
                  <a:cxn ang="0">
                    <a:pos x="T8" y="T9"/>
                  </a:cxn>
                  <a:cxn ang="0">
                    <a:pos x="T10" y="T11"/>
                  </a:cxn>
                  <a:cxn ang="0">
                    <a:pos x="T12" y="T13"/>
                  </a:cxn>
                </a:cxnLst>
                <a:rect l="0" t="0" r="r" b="b"/>
                <a:pathLst>
                  <a:path w="299" h="149">
                    <a:moveTo>
                      <a:pt x="223" y="0"/>
                    </a:moveTo>
                    <a:cubicBezTo>
                      <a:pt x="197" y="0"/>
                      <a:pt x="100" y="0"/>
                      <a:pt x="75" y="0"/>
                    </a:cubicBezTo>
                    <a:cubicBezTo>
                      <a:pt x="34" y="0"/>
                      <a:pt x="0" y="33"/>
                      <a:pt x="0" y="74"/>
                    </a:cubicBezTo>
                    <a:cubicBezTo>
                      <a:pt x="0" y="115"/>
                      <a:pt x="34" y="148"/>
                      <a:pt x="75" y="148"/>
                    </a:cubicBezTo>
                    <a:cubicBezTo>
                      <a:pt x="100" y="148"/>
                      <a:pt x="197" y="148"/>
                      <a:pt x="223" y="148"/>
                    </a:cubicBezTo>
                    <a:cubicBezTo>
                      <a:pt x="264" y="148"/>
                      <a:pt x="298" y="115"/>
                      <a:pt x="298" y="74"/>
                    </a:cubicBezTo>
                    <a:cubicBezTo>
                      <a:pt x="298" y="33"/>
                      <a:pt x="264" y="0"/>
                      <a:pt x="223"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grpSp>
        <p:nvGrpSpPr>
          <p:cNvPr id="204" name="Group 203">
            <a:extLst>
              <a:ext uri="{FF2B5EF4-FFF2-40B4-BE49-F238E27FC236}">
                <a16:creationId xmlns:a16="http://schemas.microsoft.com/office/drawing/2014/main" id="{597C45F6-25F5-1E23-FB42-563FE5DB0E34}"/>
              </a:ext>
            </a:extLst>
          </p:cNvPr>
          <p:cNvGrpSpPr/>
          <p:nvPr/>
        </p:nvGrpSpPr>
        <p:grpSpPr>
          <a:xfrm>
            <a:off x="13100993" y="11689138"/>
            <a:ext cx="1142798" cy="1142796"/>
            <a:chOff x="6517942" y="4571049"/>
            <a:chExt cx="634771" cy="634770"/>
          </a:xfrm>
        </p:grpSpPr>
        <p:sp>
          <p:nvSpPr>
            <p:cNvPr id="205" name="Freeform 242">
              <a:extLst>
                <a:ext uri="{FF2B5EF4-FFF2-40B4-BE49-F238E27FC236}">
                  <a16:creationId xmlns:a16="http://schemas.microsoft.com/office/drawing/2014/main" id="{99E7BDCB-7051-443B-9AAB-595F37CEFDA5}"/>
                </a:ext>
              </a:extLst>
            </p:cNvPr>
            <p:cNvSpPr>
              <a:spLocks noChangeArrowheads="1"/>
            </p:cNvSpPr>
            <p:nvPr/>
          </p:nvSpPr>
          <p:spPr bwMode="auto">
            <a:xfrm>
              <a:off x="6517942" y="4571049"/>
              <a:ext cx="634771" cy="634770"/>
            </a:xfrm>
            <a:custGeom>
              <a:avLst/>
              <a:gdLst>
                <a:gd name="T0" fmla="*/ 1467 w 1751"/>
                <a:gd name="T1" fmla="*/ 1750 h 1751"/>
                <a:gd name="T2" fmla="*/ 1750 w 1751"/>
                <a:gd name="T3" fmla="*/ 1468 h 1751"/>
                <a:gd name="T4" fmla="*/ 1750 w 1751"/>
                <a:gd name="T5" fmla="*/ 282 h 1751"/>
                <a:gd name="T6" fmla="*/ 1467 w 1751"/>
                <a:gd name="T7" fmla="*/ 0 h 1751"/>
                <a:gd name="T8" fmla="*/ 282 w 1751"/>
                <a:gd name="T9" fmla="*/ 0 h 1751"/>
                <a:gd name="T10" fmla="*/ 0 w 1751"/>
                <a:gd name="T11" fmla="*/ 282 h 1751"/>
                <a:gd name="T12" fmla="*/ 0 w 1751"/>
                <a:gd name="T13" fmla="*/ 1468 h 1751"/>
                <a:gd name="T14" fmla="*/ 282 w 1751"/>
                <a:gd name="T15" fmla="*/ 1750 h 1751"/>
                <a:gd name="T16" fmla="*/ 1467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7" y="1750"/>
                  </a:moveTo>
                  <a:cubicBezTo>
                    <a:pt x="1623" y="1750"/>
                    <a:pt x="1750" y="1623"/>
                    <a:pt x="1750" y="1468"/>
                  </a:cubicBezTo>
                  <a:cubicBezTo>
                    <a:pt x="1750" y="1073"/>
                    <a:pt x="1750" y="678"/>
                    <a:pt x="1750" y="282"/>
                  </a:cubicBezTo>
                  <a:cubicBezTo>
                    <a:pt x="1750" y="127"/>
                    <a:pt x="1623" y="0"/>
                    <a:pt x="1467" y="0"/>
                  </a:cubicBezTo>
                  <a:cubicBezTo>
                    <a:pt x="1072" y="0"/>
                    <a:pt x="677" y="0"/>
                    <a:pt x="282" y="0"/>
                  </a:cubicBezTo>
                  <a:cubicBezTo>
                    <a:pt x="127" y="0"/>
                    <a:pt x="0" y="127"/>
                    <a:pt x="0" y="282"/>
                  </a:cubicBezTo>
                  <a:cubicBezTo>
                    <a:pt x="0" y="678"/>
                    <a:pt x="0" y="1073"/>
                    <a:pt x="0" y="1468"/>
                  </a:cubicBezTo>
                  <a:cubicBezTo>
                    <a:pt x="0" y="1623"/>
                    <a:pt x="127" y="1750"/>
                    <a:pt x="282" y="1750"/>
                  </a:cubicBezTo>
                  <a:cubicBezTo>
                    <a:pt x="677" y="1750"/>
                    <a:pt x="1072" y="1750"/>
                    <a:pt x="1467"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206" name="Group 205">
              <a:extLst>
                <a:ext uri="{FF2B5EF4-FFF2-40B4-BE49-F238E27FC236}">
                  <a16:creationId xmlns:a16="http://schemas.microsoft.com/office/drawing/2014/main" id="{F56432A4-D246-ED73-C055-32D102FEA2CC}"/>
                </a:ext>
              </a:extLst>
            </p:cNvPr>
            <p:cNvGrpSpPr>
              <a:grpSpLocks noChangeAspect="1"/>
            </p:cNvGrpSpPr>
            <p:nvPr/>
          </p:nvGrpSpPr>
          <p:grpSpPr>
            <a:xfrm>
              <a:off x="6592205" y="4651198"/>
              <a:ext cx="486243" cy="554621"/>
              <a:chOff x="796925" y="3857625"/>
              <a:chExt cx="711200" cy="811213"/>
            </a:xfrm>
          </p:grpSpPr>
          <p:grpSp>
            <p:nvGrpSpPr>
              <p:cNvPr id="207" name="Group 206">
                <a:extLst>
                  <a:ext uri="{FF2B5EF4-FFF2-40B4-BE49-F238E27FC236}">
                    <a16:creationId xmlns:a16="http://schemas.microsoft.com/office/drawing/2014/main" id="{3C6CD158-C265-872A-C0E9-E1188B2E329A}"/>
                  </a:ext>
                </a:extLst>
              </p:cNvPr>
              <p:cNvGrpSpPr/>
              <p:nvPr/>
            </p:nvGrpSpPr>
            <p:grpSpPr>
              <a:xfrm>
                <a:off x="974725" y="3857625"/>
                <a:ext cx="355600" cy="431800"/>
                <a:chOff x="974725" y="3857625"/>
                <a:chExt cx="355600" cy="431800"/>
              </a:xfrm>
            </p:grpSpPr>
            <p:sp>
              <p:nvSpPr>
                <p:cNvPr id="213" name="Freeform 1">
                  <a:extLst>
                    <a:ext uri="{FF2B5EF4-FFF2-40B4-BE49-F238E27FC236}">
                      <a16:creationId xmlns:a16="http://schemas.microsoft.com/office/drawing/2014/main" id="{74FF1A99-DB62-2D55-982B-696F4C59E05A}"/>
                    </a:ext>
                  </a:extLst>
                </p:cNvPr>
                <p:cNvSpPr>
                  <a:spLocks noChangeArrowheads="1"/>
                </p:cNvSpPr>
                <p:nvPr/>
              </p:nvSpPr>
              <p:spPr bwMode="auto">
                <a:xfrm>
                  <a:off x="1020763" y="4208463"/>
                  <a:ext cx="227012" cy="79375"/>
                </a:xfrm>
                <a:custGeom>
                  <a:avLst/>
                  <a:gdLst>
                    <a:gd name="T0" fmla="*/ 0 w 631"/>
                    <a:gd name="T1" fmla="*/ 221 h 222"/>
                    <a:gd name="T2" fmla="*/ 127 w 631"/>
                    <a:gd name="T3" fmla="*/ 95 h 222"/>
                    <a:gd name="T4" fmla="*/ 127 w 631"/>
                    <a:gd name="T5" fmla="*/ 35 h 222"/>
                    <a:gd name="T6" fmla="*/ 137 w 631"/>
                    <a:gd name="T7" fmla="*/ 10 h 222"/>
                    <a:gd name="T8" fmla="*/ 162 w 631"/>
                    <a:gd name="T9" fmla="*/ 0 h 222"/>
                    <a:gd name="T10" fmla="*/ 630 w 631"/>
                    <a:gd name="T11" fmla="*/ 0 h 222"/>
                  </a:gdLst>
                  <a:ahLst/>
                  <a:cxnLst>
                    <a:cxn ang="0">
                      <a:pos x="T0" y="T1"/>
                    </a:cxn>
                    <a:cxn ang="0">
                      <a:pos x="T2" y="T3"/>
                    </a:cxn>
                    <a:cxn ang="0">
                      <a:pos x="T4" y="T5"/>
                    </a:cxn>
                    <a:cxn ang="0">
                      <a:pos x="T6" y="T7"/>
                    </a:cxn>
                    <a:cxn ang="0">
                      <a:pos x="T8" y="T9"/>
                    </a:cxn>
                    <a:cxn ang="0">
                      <a:pos x="T10" y="T11"/>
                    </a:cxn>
                  </a:cxnLst>
                  <a:rect l="0" t="0" r="r" b="b"/>
                  <a:pathLst>
                    <a:path w="631" h="222">
                      <a:moveTo>
                        <a:pt x="0" y="221"/>
                      </a:moveTo>
                      <a:cubicBezTo>
                        <a:pt x="70" y="221"/>
                        <a:pt x="127" y="165"/>
                        <a:pt x="127" y="95"/>
                      </a:cubicBezTo>
                      <a:cubicBezTo>
                        <a:pt x="127" y="75"/>
                        <a:pt x="127" y="55"/>
                        <a:pt x="127" y="35"/>
                      </a:cubicBezTo>
                      <a:cubicBezTo>
                        <a:pt x="127" y="24"/>
                        <a:pt x="130" y="17"/>
                        <a:pt x="137" y="10"/>
                      </a:cubicBezTo>
                      <a:cubicBezTo>
                        <a:pt x="144" y="3"/>
                        <a:pt x="151" y="0"/>
                        <a:pt x="162" y="0"/>
                      </a:cubicBezTo>
                      <a:cubicBezTo>
                        <a:pt x="318" y="0"/>
                        <a:pt x="474" y="0"/>
                        <a:pt x="63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14" name="Freeform 2">
                  <a:extLst>
                    <a:ext uri="{FF2B5EF4-FFF2-40B4-BE49-F238E27FC236}">
                      <a16:creationId xmlns:a16="http://schemas.microsoft.com/office/drawing/2014/main" id="{73C491F0-FA71-D04C-CE2F-64FECF8C4062}"/>
                    </a:ext>
                  </a:extLst>
                </p:cNvPr>
                <p:cNvSpPr>
                  <a:spLocks noChangeArrowheads="1"/>
                </p:cNvSpPr>
                <p:nvPr/>
              </p:nvSpPr>
              <p:spPr bwMode="auto">
                <a:xfrm>
                  <a:off x="974725" y="3857625"/>
                  <a:ext cx="355600" cy="431800"/>
                </a:xfrm>
                <a:custGeom>
                  <a:avLst/>
                  <a:gdLst>
                    <a:gd name="T0" fmla="*/ 859 w 987"/>
                    <a:gd name="T1" fmla="*/ 1197 h 1198"/>
                    <a:gd name="T2" fmla="*/ 127 w 987"/>
                    <a:gd name="T3" fmla="*/ 1197 h 1198"/>
                    <a:gd name="T4" fmla="*/ 0 w 987"/>
                    <a:gd name="T5" fmla="*/ 1071 h 1198"/>
                    <a:gd name="T6" fmla="*/ 4 w 987"/>
                    <a:gd name="T7" fmla="*/ 1039 h 1198"/>
                    <a:gd name="T8" fmla="*/ 247 w 987"/>
                    <a:gd name="T9" fmla="*/ 159 h 1198"/>
                    <a:gd name="T10" fmla="*/ 250 w 987"/>
                    <a:gd name="T11" fmla="*/ 127 h 1198"/>
                    <a:gd name="T12" fmla="*/ 123 w 987"/>
                    <a:gd name="T13" fmla="*/ 0 h 1198"/>
                    <a:gd name="T14" fmla="*/ 856 w 987"/>
                    <a:gd name="T15" fmla="*/ 0 h 1198"/>
                    <a:gd name="T16" fmla="*/ 983 w 987"/>
                    <a:gd name="T17" fmla="*/ 127 h 1198"/>
                    <a:gd name="T18" fmla="*/ 979 w 987"/>
                    <a:gd name="T19" fmla="*/ 159 h 1198"/>
                    <a:gd name="T20" fmla="*/ 754 w 987"/>
                    <a:gd name="T21" fmla="*/ 979 h 1198"/>
                    <a:gd name="T22" fmla="*/ 951 w 987"/>
                    <a:gd name="T23" fmla="*/ 979 h 1198"/>
                    <a:gd name="T24" fmla="*/ 986 w 987"/>
                    <a:gd name="T25" fmla="*/ 1014 h 1198"/>
                    <a:gd name="T26" fmla="*/ 986 w 987"/>
                    <a:gd name="T27" fmla="*/ 1074 h 1198"/>
                    <a:gd name="T28" fmla="*/ 859 w 987"/>
                    <a:gd name="T29" fmla="*/ 119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7" h="1198">
                      <a:moveTo>
                        <a:pt x="859" y="1197"/>
                      </a:moveTo>
                      <a:cubicBezTo>
                        <a:pt x="615" y="1197"/>
                        <a:pt x="371" y="1197"/>
                        <a:pt x="127" y="1197"/>
                      </a:cubicBezTo>
                      <a:cubicBezTo>
                        <a:pt x="57" y="1197"/>
                        <a:pt x="0" y="1141"/>
                        <a:pt x="0" y="1071"/>
                      </a:cubicBezTo>
                      <a:cubicBezTo>
                        <a:pt x="0" y="1060"/>
                        <a:pt x="0" y="1050"/>
                        <a:pt x="4" y="1039"/>
                      </a:cubicBezTo>
                      <a:cubicBezTo>
                        <a:pt x="85" y="746"/>
                        <a:pt x="166" y="453"/>
                        <a:pt x="247" y="159"/>
                      </a:cubicBezTo>
                      <a:cubicBezTo>
                        <a:pt x="250" y="148"/>
                        <a:pt x="250" y="138"/>
                        <a:pt x="250" y="127"/>
                      </a:cubicBezTo>
                      <a:cubicBezTo>
                        <a:pt x="250" y="57"/>
                        <a:pt x="194" y="0"/>
                        <a:pt x="123" y="0"/>
                      </a:cubicBezTo>
                      <a:cubicBezTo>
                        <a:pt x="367" y="0"/>
                        <a:pt x="612" y="0"/>
                        <a:pt x="856" y="0"/>
                      </a:cubicBezTo>
                      <a:cubicBezTo>
                        <a:pt x="926" y="0"/>
                        <a:pt x="983" y="57"/>
                        <a:pt x="983" y="127"/>
                      </a:cubicBezTo>
                      <a:cubicBezTo>
                        <a:pt x="983" y="138"/>
                        <a:pt x="983" y="148"/>
                        <a:pt x="979" y="159"/>
                      </a:cubicBezTo>
                      <a:cubicBezTo>
                        <a:pt x="904" y="433"/>
                        <a:pt x="829" y="706"/>
                        <a:pt x="754" y="979"/>
                      </a:cubicBezTo>
                      <a:cubicBezTo>
                        <a:pt x="820" y="979"/>
                        <a:pt x="885" y="979"/>
                        <a:pt x="951" y="979"/>
                      </a:cubicBezTo>
                      <a:cubicBezTo>
                        <a:pt x="972" y="979"/>
                        <a:pt x="986" y="993"/>
                        <a:pt x="986" y="1014"/>
                      </a:cubicBezTo>
                      <a:cubicBezTo>
                        <a:pt x="986" y="1034"/>
                        <a:pt x="986" y="1054"/>
                        <a:pt x="986" y="1074"/>
                      </a:cubicBezTo>
                      <a:cubicBezTo>
                        <a:pt x="986" y="1141"/>
                        <a:pt x="930" y="1197"/>
                        <a:pt x="859" y="119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15" name="Freeform 3">
                  <a:extLst>
                    <a:ext uri="{FF2B5EF4-FFF2-40B4-BE49-F238E27FC236}">
                      <a16:creationId xmlns:a16="http://schemas.microsoft.com/office/drawing/2014/main" id="{91C208FA-8D62-9DBB-A5CC-9673B9E46408}"/>
                    </a:ext>
                  </a:extLst>
                </p:cNvPr>
                <p:cNvSpPr>
                  <a:spLocks noChangeArrowheads="1"/>
                </p:cNvSpPr>
                <p:nvPr/>
              </p:nvSpPr>
              <p:spPr bwMode="auto">
                <a:xfrm>
                  <a:off x="974725" y="3857625"/>
                  <a:ext cx="84138" cy="80963"/>
                </a:xfrm>
                <a:custGeom>
                  <a:avLst/>
                  <a:gdLst>
                    <a:gd name="T0" fmla="*/ 233 w 234"/>
                    <a:gd name="T1" fmla="*/ 222 h 223"/>
                    <a:gd name="T2" fmla="*/ 35 w 234"/>
                    <a:gd name="T3" fmla="*/ 222 h 223"/>
                    <a:gd name="T4" fmla="*/ 0 w 234"/>
                    <a:gd name="T5" fmla="*/ 187 h 223"/>
                    <a:gd name="T6" fmla="*/ 0 w 234"/>
                    <a:gd name="T7" fmla="*/ 127 h 223"/>
                    <a:gd name="T8" fmla="*/ 127 w 234"/>
                    <a:gd name="T9" fmla="*/ 0 h 223"/>
                  </a:gdLst>
                  <a:ahLst/>
                  <a:cxnLst>
                    <a:cxn ang="0">
                      <a:pos x="T0" y="T1"/>
                    </a:cxn>
                    <a:cxn ang="0">
                      <a:pos x="T2" y="T3"/>
                    </a:cxn>
                    <a:cxn ang="0">
                      <a:pos x="T4" y="T5"/>
                    </a:cxn>
                    <a:cxn ang="0">
                      <a:pos x="T6" y="T7"/>
                    </a:cxn>
                    <a:cxn ang="0">
                      <a:pos x="T8" y="T9"/>
                    </a:cxn>
                  </a:cxnLst>
                  <a:rect l="0" t="0" r="r" b="b"/>
                  <a:pathLst>
                    <a:path w="234" h="223">
                      <a:moveTo>
                        <a:pt x="233" y="222"/>
                      </a:moveTo>
                      <a:cubicBezTo>
                        <a:pt x="167" y="222"/>
                        <a:pt x="101" y="222"/>
                        <a:pt x="35" y="222"/>
                      </a:cubicBezTo>
                      <a:cubicBezTo>
                        <a:pt x="14" y="222"/>
                        <a:pt x="0" y="208"/>
                        <a:pt x="0" y="187"/>
                      </a:cubicBezTo>
                      <a:cubicBezTo>
                        <a:pt x="0" y="167"/>
                        <a:pt x="0" y="147"/>
                        <a:pt x="0" y="127"/>
                      </a:cubicBezTo>
                      <a:cubicBezTo>
                        <a:pt x="0" y="57"/>
                        <a:pt x="57" y="0"/>
                        <a:pt x="127"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16" name="Freeform 4">
                  <a:extLst>
                    <a:ext uri="{FF2B5EF4-FFF2-40B4-BE49-F238E27FC236}">
                      <a16:creationId xmlns:a16="http://schemas.microsoft.com/office/drawing/2014/main" id="{157342A3-9A11-7EB9-3DBA-2F65BE825E2B}"/>
                    </a:ext>
                  </a:extLst>
                </p:cNvPr>
                <p:cNvSpPr>
                  <a:spLocks noChangeArrowheads="1"/>
                </p:cNvSpPr>
                <p:nvPr/>
              </p:nvSpPr>
              <p:spPr bwMode="auto">
                <a:xfrm>
                  <a:off x="1201738" y="4033838"/>
                  <a:ext cx="30162" cy="79375"/>
                </a:xfrm>
                <a:custGeom>
                  <a:avLst/>
                  <a:gdLst>
                    <a:gd name="T0" fmla="*/ 0 w 82"/>
                    <a:gd name="T1" fmla="*/ 221 h 222"/>
                    <a:gd name="T2" fmla="*/ 78 w 82"/>
                    <a:gd name="T3" fmla="*/ 119 h 222"/>
                    <a:gd name="T4" fmla="*/ 78 w 82"/>
                    <a:gd name="T5" fmla="*/ 102 h 222"/>
                    <a:gd name="T6" fmla="*/ 0 w 82"/>
                    <a:gd name="T7" fmla="*/ 0 h 222"/>
                  </a:gdLst>
                  <a:ahLst/>
                  <a:cxnLst>
                    <a:cxn ang="0">
                      <a:pos x="T0" y="T1"/>
                    </a:cxn>
                    <a:cxn ang="0">
                      <a:pos x="T2" y="T3"/>
                    </a:cxn>
                    <a:cxn ang="0">
                      <a:pos x="T4" y="T5"/>
                    </a:cxn>
                    <a:cxn ang="0">
                      <a:pos x="T6" y="T7"/>
                    </a:cxn>
                  </a:cxnLst>
                  <a:rect l="0" t="0" r="r" b="b"/>
                  <a:pathLst>
                    <a:path w="82" h="222">
                      <a:moveTo>
                        <a:pt x="0" y="221"/>
                      </a:moveTo>
                      <a:cubicBezTo>
                        <a:pt x="26" y="187"/>
                        <a:pt x="52" y="153"/>
                        <a:pt x="78" y="119"/>
                      </a:cubicBezTo>
                      <a:cubicBezTo>
                        <a:pt x="81" y="112"/>
                        <a:pt x="81" y="105"/>
                        <a:pt x="78" y="102"/>
                      </a:cubicBezTo>
                      <a:cubicBezTo>
                        <a:pt x="52" y="68"/>
                        <a:pt x="26" y="34"/>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17" name="Freeform 5">
                  <a:extLst>
                    <a:ext uri="{FF2B5EF4-FFF2-40B4-BE49-F238E27FC236}">
                      <a16:creationId xmlns:a16="http://schemas.microsoft.com/office/drawing/2014/main" id="{2A1D114E-6BC6-F8B3-536B-84415410F629}"/>
                    </a:ext>
                  </a:extLst>
                </p:cNvPr>
                <p:cNvSpPr>
                  <a:spLocks noChangeArrowheads="1"/>
                </p:cNvSpPr>
                <p:nvPr/>
              </p:nvSpPr>
              <p:spPr bwMode="auto">
                <a:xfrm>
                  <a:off x="1073150" y="4032250"/>
                  <a:ext cx="30163" cy="80963"/>
                </a:xfrm>
                <a:custGeom>
                  <a:avLst/>
                  <a:gdLst>
                    <a:gd name="T0" fmla="*/ 81 w 82"/>
                    <a:gd name="T1" fmla="*/ 0 h 223"/>
                    <a:gd name="T2" fmla="*/ 3 w 82"/>
                    <a:gd name="T3" fmla="*/ 102 h 223"/>
                    <a:gd name="T4" fmla="*/ 3 w 82"/>
                    <a:gd name="T5" fmla="*/ 120 h 223"/>
                    <a:gd name="T6" fmla="*/ 81 w 82"/>
                    <a:gd name="T7" fmla="*/ 222 h 223"/>
                  </a:gdLst>
                  <a:ahLst/>
                  <a:cxnLst>
                    <a:cxn ang="0">
                      <a:pos x="T0" y="T1"/>
                    </a:cxn>
                    <a:cxn ang="0">
                      <a:pos x="T2" y="T3"/>
                    </a:cxn>
                    <a:cxn ang="0">
                      <a:pos x="T4" y="T5"/>
                    </a:cxn>
                    <a:cxn ang="0">
                      <a:pos x="T6" y="T7"/>
                    </a:cxn>
                  </a:cxnLst>
                  <a:rect l="0" t="0" r="r" b="b"/>
                  <a:pathLst>
                    <a:path w="82" h="223">
                      <a:moveTo>
                        <a:pt x="81" y="0"/>
                      </a:moveTo>
                      <a:cubicBezTo>
                        <a:pt x="55" y="34"/>
                        <a:pt x="29" y="68"/>
                        <a:pt x="3" y="102"/>
                      </a:cubicBezTo>
                      <a:cubicBezTo>
                        <a:pt x="0" y="109"/>
                        <a:pt x="0" y="116"/>
                        <a:pt x="3" y="120"/>
                      </a:cubicBezTo>
                      <a:cubicBezTo>
                        <a:pt x="29" y="154"/>
                        <a:pt x="55" y="188"/>
                        <a:pt x="81" y="222"/>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18" name="Freeform 6">
                  <a:extLst>
                    <a:ext uri="{FF2B5EF4-FFF2-40B4-BE49-F238E27FC236}">
                      <a16:creationId xmlns:a16="http://schemas.microsoft.com/office/drawing/2014/main" id="{29CC6050-BA91-75CD-AAF9-14256D58870A}"/>
                    </a:ext>
                  </a:extLst>
                </p:cNvPr>
                <p:cNvSpPr>
                  <a:spLocks noChangeArrowheads="1"/>
                </p:cNvSpPr>
                <p:nvPr/>
              </p:nvSpPr>
              <p:spPr bwMode="auto">
                <a:xfrm>
                  <a:off x="1136650" y="4010025"/>
                  <a:ext cx="30163" cy="125413"/>
                </a:xfrm>
                <a:custGeom>
                  <a:avLst/>
                  <a:gdLst>
                    <a:gd name="T0" fmla="*/ 84 w 85"/>
                    <a:gd name="T1" fmla="*/ 0 h 350"/>
                    <a:gd name="T2" fmla="*/ 0 w 85"/>
                    <a:gd name="T3" fmla="*/ 349 h 350"/>
                  </a:gdLst>
                  <a:ahLst/>
                  <a:cxnLst>
                    <a:cxn ang="0">
                      <a:pos x="T0" y="T1"/>
                    </a:cxn>
                    <a:cxn ang="0">
                      <a:pos x="T2" y="T3"/>
                    </a:cxn>
                  </a:cxnLst>
                  <a:rect l="0" t="0" r="r" b="b"/>
                  <a:pathLst>
                    <a:path w="85" h="350">
                      <a:moveTo>
                        <a:pt x="84" y="0"/>
                      </a:moveTo>
                      <a:cubicBezTo>
                        <a:pt x="56" y="117"/>
                        <a:pt x="28" y="233"/>
                        <a:pt x="0" y="34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nvGrpSpPr>
              <p:cNvPr id="208" name="Group 207">
                <a:extLst>
                  <a:ext uri="{FF2B5EF4-FFF2-40B4-BE49-F238E27FC236}">
                    <a16:creationId xmlns:a16="http://schemas.microsoft.com/office/drawing/2014/main" id="{06F7C2CF-C72F-C671-A4B8-01266FCBD2EF}"/>
                  </a:ext>
                </a:extLst>
              </p:cNvPr>
              <p:cNvGrpSpPr/>
              <p:nvPr/>
            </p:nvGrpSpPr>
            <p:grpSpPr>
              <a:xfrm>
                <a:off x="796925" y="4235450"/>
                <a:ext cx="711200" cy="433388"/>
                <a:chOff x="796925" y="4235450"/>
                <a:chExt cx="711200" cy="433388"/>
              </a:xfrm>
            </p:grpSpPr>
            <p:sp>
              <p:nvSpPr>
                <p:cNvPr id="209" name="Freeform 148">
                  <a:extLst>
                    <a:ext uri="{FF2B5EF4-FFF2-40B4-BE49-F238E27FC236}">
                      <a16:creationId xmlns:a16="http://schemas.microsoft.com/office/drawing/2014/main" id="{DD7294FC-32C6-8DCA-8935-F4633A7A513D}"/>
                    </a:ext>
                  </a:extLst>
                </p:cNvPr>
                <p:cNvSpPr>
                  <a:spLocks noChangeArrowheads="1"/>
                </p:cNvSpPr>
                <p:nvPr/>
              </p:nvSpPr>
              <p:spPr bwMode="auto">
                <a:xfrm>
                  <a:off x="862013" y="4381500"/>
                  <a:ext cx="157162" cy="287338"/>
                </a:xfrm>
                <a:custGeom>
                  <a:avLst/>
                  <a:gdLst>
                    <a:gd name="T0" fmla="*/ 436 w 437"/>
                    <a:gd name="T1" fmla="*/ 796 h 797"/>
                    <a:gd name="T2" fmla="*/ 436 w 437"/>
                    <a:gd name="T3" fmla="*/ 458 h 797"/>
                    <a:gd name="T4" fmla="*/ 345 w 437"/>
                    <a:gd name="T5" fmla="*/ 232 h 797"/>
                    <a:gd name="T6" fmla="*/ 148 w 437"/>
                    <a:gd name="T7" fmla="*/ 35 h 797"/>
                    <a:gd name="T8" fmla="*/ 25 w 437"/>
                    <a:gd name="T9" fmla="*/ 35 h 797"/>
                    <a:gd name="T10" fmla="*/ 0 w 437"/>
                    <a:gd name="T11" fmla="*/ 99 h 797"/>
                  </a:gdLst>
                  <a:ahLst/>
                  <a:cxnLst>
                    <a:cxn ang="0">
                      <a:pos x="T0" y="T1"/>
                    </a:cxn>
                    <a:cxn ang="0">
                      <a:pos x="T2" y="T3"/>
                    </a:cxn>
                    <a:cxn ang="0">
                      <a:pos x="T4" y="T5"/>
                    </a:cxn>
                    <a:cxn ang="0">
                      <a:pos x="T6" y="T7"/>
                    </a:cxn>
                    <a:cxn ang="0">
                      <a:pos x="T8" y="T9"/>
                    </a:cxn>
                    <a:cxn ang="0">
                      <a:pos x="T10" y="T11"/>
                    </a:cxn>
                  </a:cxnLst>
                  <a:rect l="0" t="0" r="r" b="b"/>
                  <a:pathLst>
                    <a:path w="437" h="797">
                      <a:moveTo>
                        <a:pt x="436" y="796"/>
                      </a:moveTo>
                      <a:cubicBezTo>
                        <a:pt x="436" y="684"/>
                        <a:pt x="436" y="571"/>
                        <a:pt x="436" y="458"/>
                      </a:cubicBezTo>
                      <a:cubicBezTo>
                        <a:pt x="436" y="373"/>
                        <a:pt x="405" y="292"/>
                        <a:pt x="345" y="232"/>
                      </a:cubicBezTo>
                      <a:cubicBezTo>
                        <a:pt x="279" y="167"/>
                        <a:pt x="214" y="101"/>
                        <a:pt x="148" y="35"/>
                      </a:cubicBezTo>
                      <a:cubicBezTo>
                        <a:pt x="113" y="0"/>
                        <a:pt x="56" y="0"/>
                        <a:pt x="25" y="35"/>
                      </a:cubicBezTo>
                      <a:cubicBezTo>
                        <a:pt x="7" y="53"/>
                        <a:pt x="0" y="74"/>
                        <a:pt x="0" y="9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10" name="Freeform 149">
                  <a:extLst>
                    <a:ext uri="{FF2B5EF4-FFF2-40B4-BE49-F238E27FC236}">
                      <a16:creationId xmlns:a16="http://schemas.microsoft.com/office/drawing/2014/main" id="{899CA53B-0B16-E2D4-E49B-0EF0B3421F0D}"/>
                    </a:ext>
                  </a:extLst>
                </p:cNvPr>
                <p:cNvSpPr>
                  <a:spLocks noChangeArrowheads="1"/>
                </p:cNvSpPr>
                <p:nvPr/>
              </p:nvSpPr>
              <p:spPr bwMode="auto">
                <a:xfrm>
                  <a:off x="796925" y="4235450"/>
                  <a:ext cx="134938" cy="433388"/>
                </a:xfrm>
                <a:custGeom>
                  <a:avLst/>
                  <a:gdLst>
                    <a:gd name="T0" fmla="*/ 374 w 375"/>
                    <a:gd name="T1" fmla="*/ 736 h 1202"/>
                    <a:gd name="T2" fmla="*/ 201 w 375"/>
                    <a:gd name="T3" fmla="*/ 563 h 1202"/>
                    <a:gd name="T4" fmla="*/ 176 w 375"/>
                    <a:gd name="T5" fmla="*/ 500 h 1202"/>
                    <a:gd name="T6" fmla="*/ 176 w 375"/>
                    <a:gd name="T7" fmla="*/ 88 h 1202"/>
                    <a:gd name="T8" fmla="*/ 88 w 375"/>
                    <a:gd name="T9" fmla="*/ 0 h 1202"/>
                    <a:gd name="T10" fmla="*/ 0 w 375"/>
                    <a:gd name="T11" fmla="*/ 88 h 1202"/>
                    <a:gd name="T12" fmla="*/ 0 w 375"/>
                    <a:gd name="T13" fmla="*/ 549 h 1202"/>
                    <a:gd name="T14" fmla="*/ 67 w 375"/>
                    <a:gd name="T15" fmla="*/ 711 h 1202"/>
                    <a:gd name="T16" fmla="*/ 286 w 375"/>
                    <a:gd name="T17" fmla="*/ 930 h 1202"/>
                    <a:gd name="T18" fmla="*/ 300 w 375"/>
                    <a:gd name="T19" fmla="*/ 968 h 1202"/>
                    <a:gd name="T20" fmla="*/ 300 w 375"/>
                    <a:gd name="T21" fmla="*/ 1201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 h="1202">
                      <a:moveTo>
                        <a:pt x="374" y="736"/>
                      </a:moveTo>
                      <a:cubicBezTo>
                        <a:pt x="316" y="679"/>
                        <a:pt x="259" y="621"/>
                        <a:pt x="201" y="563"/>
                      </a:cubicBezTo>
                      <a:cubicBezTo>
                        <a:pt x="183" y="546"/>
                        <a:pt x="176" y="525"/>
                        <a:pt x="176" y="500"/>
                      </a:cubicBezTo>
                      <a:cubicBezTo>
                        <a:pt x="176" y="363"/>
                        <a:pt x="176" y="226"/>
                        <a:pt x="176" y="88"/>
                      </a:cubicBezTo>
                      <a:cubicBezTo>
                        <a:pt x="176" y="39"/>
                        <a:pt x="138" y="0"/>
                        <a:pt x="88" y="0"/>
                      </a:cubicBezTo>
                      <a:cubicBezTo>
                        <a:pt x="39" y="0"/>
                        <a:pt x="0" y="39"/>
                        <a:pt x="0" y="88"/>
                      </a:cubicBezTo>
                      <a:cubicBezTo>
                        <a:pt x="0" y="242"/>
                        <a:pt x="0" y="396"/>
                        <a:pt x="0" y="549"/>
                      </a:cubicBezTo>
                      <a:cubicBezTo>
                        <a:pt x="0" y="609"/>
                        <a:pt x="25" y="669"/>
                        <a:pt x="67" y="711"/>
                      </a:cubicBezTo>
                      <a:cubicBezTo>
                        <a:pt x="140" y="784"/>
                        <a:pt x="213" y="857"/>
                        <a:pt x="286" y="930"/>
                      </a:cubicBezTo>
                      <a:cubicBezTo>
                        <a:pt x="296" y="940"/>
                        <a:pt x="300" y="954"/>
                        <a:pt x="300" y="968"/>
                      </a:cubicBezTo>
                      <a:cubicBezTo>
                        <a:pt x="300" y="1046"/>
                        <a:pt x="300" y="1124"/>
                        <a:pt x="300" y="120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11" name="Freeform 150">
                  <a:extLst>
                    <a:ext uri="{FF2B5EF4-FFF2-40B4-BE49-F238E27FC236}">
                      <a16:creationId xmlns:a16="http://schemas.microsoft.com/office/drawing/2014/main" id="{5B1823E7-9570-6D84-416A-7B6837068545}"/>
                    </a:ext>
                  </a:extLst>
                </p:cNvPr>
                <p:cNvSpPr>
                  <a:spLocks noChangeArrowheads="1"/>
                </p:cNvSpPr>
                <p:nvPr/>
              </p:nvSpPr>
              <p:spPr bwMode="auto">
                <a:xfrm>
                  <a:off x="1285875" y="4381500"/>
                  <a:ext cx="157163" cy="287338"/>
                </a:xfrm>
                <a:custGeom>
                  <a:avLst/>
                  <a:gdLst>
                    <a:gd name="T0" fmla="*/ 0 w 437"/>
                    <a:gd name="T1" fmla="*/ 796 h 797"/>
                    <a:gd name="T2" fmla="*/ 0 w 437"/>
                    <a:gd name="T3" fmla="*/ 458 h 797"/>
                    <a:gd name="T4" fmla="*/ 91 w 437"/>
                    <a:gd name="T5" fmla="*/ 232 h 797"/>
                    <a:gd name="T6" fmla="*/ 288 w 437"/>
                    <a:gd name="T7" fmla="*/ 35 h 797"/>
                    <a:gd name="T8" fmla="*/ 412 w 437"/>
                    <a:gd name="T9" fmla="*/ 35 h 797"/>
                    <a:gd name="T10" fmla="*/ 436 w 437"/>
                    <a:gd name="T11" fmla="*/ 99 h 797"/>
                  </a:gdLst>
                  <a:ahLst/>
                  <a:cxnLst>
                    <a:cxn ang="0">
                      <a:pos x="T0" y="T1"/>
                    </a:cxn>
                    <a:cxn ang="0">
                      <a:pos x="T2" y="T3"/>
                    </a:cxn>
                    <a:cxn ang="0">
                      <a:pos x="T4" y="T5"/>
                    </a:cxn>
                    <a:cxn ang="0">
                      <a:pos x="T6" y="T7"/>
                    </a:cxn>
                    <a:cxn ang="0">
                      <a:pos x="T8" y="T9"/>
                    </a:cxn>
                    <a:cxn ang="0">
                      <a:pos x="T10" y="T11"/>
                    </a:cxn>
                  </a:cxnLst>
                  <a:rect l="0" t="0" r="r" b="b"/>
                  <a:pathLst>
                    <a:path w="437" h="797">
                      <a:moveTo>
                        <a:pt x="0" y="796"/>
                      </a:moveTo>
                      <a:cubicBezTo>
                        <a:pt x="0" y="684"/>
                        <a:pt x="0" y="571"/>
                        <a:pt x="0" y="458"/>
                      </a:cubicBezTo>
                      <a:cubicBezTo>
                        <a:pt x="0" y="373"/>
                        <a:pt x="31" y="292"/>
                        <a:pt x="91" y="232"/>
                      </a:cubicBezTo>
                      <a:cubicBezTo>
                        <a:pt x="157" y="167"/>
                        <a:pt x="222" y="101"/>
                        <a:pt x="288" y="35"/>
                      </a:cubicBezTo>
                      <a:cubicBezTo>
                        <a:pt x="324" y="0"/>
                        <a:pt x="380" y="0"/>
                        <a:pt x="412" y="35"/>
                      </a:cubicBezTo>
                      <a:cubicBezTo>
                        <a:pt x="429" y="53"/>
                        <a:pt x="436" y="74"/>
                        <a:pt x="436" y="9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12" name="Freeform 151">
                  <a:extLst>
                    <a:ext uri="{FF2B5EF4-FFF2-40B4-BE49-F238E27FC236}">
                      <a16:creationId xmlns:a16="http://schemas.microsoft.com/office/drawing/2014/main" id="{AC2E9AC1-CB1F-04A6-FCD4-2CEF74A4B23E}"/>
                    </a:ext>
                  </a:extLst>
                </p:cNvPr>
                <p:cNvSpPr>
                  <a:spLocks noChangeArrowheads="1"/>
                </p:cNvSpPr>
                <p:nvPr/>
              </p:nvSpPr>
              <p:spPr bwMode="auto">
                <a:xfrm>
                  <a:off x="1373188" y="4235450"/>
                  <a:ext cx="134937" cy="433388"/>
                </a:xfrm>
                <a:custGeom>
                  <a:avLst/>
                  <a:gdLst>
                    <a:gd name="T0" fmla="*/ 0 w 374"/>
                    <a:gd name="T1" fmla="*/ 736 h 1202"/>
                    <a:gd name="T2" fmla="*/ 172 w 374"/>
                    <a:gd name="T3" fmla="*/ 563 h 1202"/>
                    <a:gd name="T4" fmla="*/ 197 w 374"/>
                    <a:gd name="T5" fmla="*/ 500 h 1202"/>
                    <a:gd name="T6" fmla="*/ 197 w 374"/>
                    <a:gd name="T7" fmla="*/ 88 h 1202"/>
                    <a:gd name="T8" fmla="*/ 285 w 374"/>
                    <a:gd name="T9" fmla="*/ 0 h 1202"/>
                    <a:gd name="T10" fmla="*/ 373 w 374"/>
                    <a:gd name="T11" fmla="*/ 88 h 1202"/>
                    <a:gd name="T12" fmla="*/ 373 w 374"/>
                    <a:gd name="T13" fmla="*/ 549 h 1202"/>
                    <a:gd name="T14" fmla="*/ 306 w 374"/>
                    <a:gd name="T15" fmla="*/ 711 h 1202"/>
                    <a:gd name="T16" fmla="*/ 88 w 374"/>
                    <a:gd name="T17" fmla="*/ 930 h 1202"/>
                    <a:gd name="T18" fmla="*/ 74 w 374"/>
                    <a:gd name="T19" fmla="*/ 968 h 1202"/>
                    <a:gd name="T20" fmla="*/ 74 w 374"/>
                    <a:gd name="T21" fmla="*/ 1201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 h="1202">
                      <a:moveTo>
                        <a:pt x="0" y="736"/>
                      </a:moveTo>
                      <a:cubicBezTo>
                        <a:pt x="57" y="679"/>
                        <a:pt x="115" y="621"/>
                        <a:pt x="172" y="563"/>
                      </a:cubicBezTo>
                      <a:cubicBezTo>
                        <a:pt x="190" y="546"/>
                        <a:pt x="197" y="525"/>
                        <a:pt x="197" y="500"/>
                      </a:cubicBezTo>
                      <a:cubicBezTo>
                        <a:pt x="197" y="363"/>
                        <a:pt x="197" y="226"/>
                        <a:pt x="197" y="88"/>
                      </a:cubicBezTo>
                      <a:cubicBezTo>
                        <a:pt x="197" y="39"/>
                        <a:pt x="236" y="0"/>
                        <a:pt x="285" y="0"/>
                      </a:cubicBezTo>
                      <a:cubicBezTo>
                        <a:pt x="334" y="0"/>
                        <a:pt x="373" y="39"/>
                        <a:pt x="373" y="88"/>
                      </a:cubicBezTo>
                      <a:cubicBezTo>
                        <a:pt x="373" y="242"/>
                        <a:pt x="373" y="396"/>
                        <a:pt x="373" y="549"/>
                      </a:cubicBezTo>
                      <a:cubicBezTo>
                        <a:pt x="373" y="609"/>
                        <a:pt x="348" y="669"/>
                        <a:pt x="306" y="711"/>
                      </a:cubicBezTo>
                      <a:cubicBezTo>
                        <a:pt x="233" y="784"/>
                        <a:pt x="161" y="857"/>
                        <a:pt x="88" y="930"/>
                      </a:cubicBezTo>
                      <a:cubicBezTo>
                        <a:pt x="77" y="940"/>
                        <a:pt x="74" y="954"/>
                        <a:pt x="74" y="968"/>
                      </a:cubicBezTo>
                      <a:cubicBezTo>
                        <a:pt x="74" y="1046"/>
                        <a:pt x="74" y="1124"/>
                        <a:pt x="74" y="120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grpSp>
        <p:nvGrpSpPr>
          <p:cNvPr id="219" name="Group 218">
            <a:extLst>
              <a:ext uri="{FF2B5EF4-FFF2-40B4-BE49-F238E27FC236}">
                <a16:creationId xmlns:a16="http://schemas.microsoft.com/office/drawing/2014/main" id="{A7277350-E938-F4C6-2528-D472049049D7}"/>
              </a:ext>
            </a:extLst>
          </p:cNvPr>
          <p:cNvGrpSpPr>
            <a:grpSpLocks noChangeAspect="1"/>
          </p:cNvGrpSpPr>
          <p:nvPr/>
        </p:nvGrpSpPr>
        <p:grpSpPr>
          <a:xfrm>
            <a:off x="14935062" y="6165546"/>
            <a:ext cx="1142796" cy="1142796"/>
            <a:chOff x="10619395" y="2166535"/>
            <a:chExt cx="781901" cy="781901"/>
          </a:xfrm>
        </p:grpSpPr>
        <p:sp>
          <p:nvSpPr>
            <p:cNvPr id="220" name="Freeform 219">
              <a:extLst>
                <a:ext uri="{FF2B5EF4-FFF2-40B4-BE49-F238E27FC236}">
                  <a16:creationId xmlns:a16="http://schemas.microsoft.com/office/drawing/2014/main" id="{1FA8391A-CF7F-F989-86F6-22137F50FC22}"/>
                </a:ext>
              </a:extLst>
            </p:cNvPr>
            <p:cNvSpPr>
              <a:spLocks noChangeArrowheads="1"/>
            </p:cNvSpPr>
            <p:nvPr/>
          </p:nvSpPr>
          <p:spPr bwMode="auto">
            <a:xfrm>
              <a:off x="10619395" y="2166535"/>
              <a:ext cx="781901" cy="781901"/>
            </a:xfrm>
            <a:custGeom>
              <a:avLst/>
              <a:gdLst>
                <a:gd name="T0" fmla="*/ 1750 w 1751"/>
                <a:gd name="T1" fmla="*/ 282 h 1751"/>
                <a:gd name="T2" fmla="*/ 1468 w 1751"/>
                <a:gd name="T3" fmla="*/ 0 h 1751"/>
                <a:gd name="T4" fmla="*/ 282 w 1751"/>
                <a:gd name="T5" fmla="*/ 0 h 1751"/>
                <a:gd name="T6" fmla="*/ 0 w 1751"/>
                <a:gd name="T7" fmla="*/ 282 h 1751"/>
                <a:gd name="T8" fmla="*/ 0 w 1751"/>
                <a:gd name="T9" fmla="*/ 1468 h 1751"/>
                <a:gd name="T10" fmla="*/ 282 w 1751"/>
                <a:gd name="T11" fmla="*/ 1750 h 1751"/>
                <a:gd name="T12" fmla="*/ 1468 w 1751"/>
                <a:gd name="T13" fmla="*/ 1750 h 1751"/>
                <a:gd name="T14" fmla="*/ 1750 w 1751"/>
                <a:gd name="T15" fmla="*/ 1468 h 1751"/>
                <a:gd name="T16" fmla="*/ 1750 w 1751"/>
                <a:gd name="T17" fmla="*/ 282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750" y="282"/>
                  </a:moveTo>
                  <a:cubicBezTo>
                    <a:pt x="1750" y="127"/>
                    <a:pt x="1623" y="0"/>
                    <a:pt x="1468" y="0"/>
                  </a:cubicBezTo>
                  <a:cubicBezTo>
                    <a:pt x="1073" y="0"/>
                    <a:pt x="677" y="0"/>
                    <a:pt x="282" y="0"/>
                  </a:cubicBezTo>
                  <a:cubicBezTo>
                    <a:pt x="127" y="0"/>
                    <a:pt x="0" y="127"/>
                    <a:pt x="0" y="282"/>
                  </a:cubicBezTo>
                  <a:cubicBezTo>
                    <a:pt x="0" y="677"/>
                    <a:pt x="0" y="1072"/>
                    <a:pt x="0" y="1468"/>
                  </a:cubicBezTo>
                  <a:cubicBezTo>
                    <a:pt x="0" y="1623"/>
                    <a:pt x="127" y="1750"/>
                    <a:pt x="282" y="1750"/>
                  </a:cubicBezTo>
                  <a:cubicBezTo>
                    <a:pt x="677" y="1750"/>
                    <a:pt x="1073" y="1750"/>
                    <a:pt x="1468" y="1750"/>
                  </a:cubicBezTo>
                  <a:cubicBezTo>
                    <a:pt x="1623" y="1750"/>
                    <a:pt x="1750" y="1623"/>
                    <a:pt x="1750" y="1468"/>
                  </a:cubicBezTo>
                  <a:cubicBezTo>
                    <a:pt x="1750" y="1072"/>
                    <a:pt x="1750" y="677"/>
                    <a:pt x="1750" y="28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221" name="Group 220">
              <a:extLst>
                <a:ext uri="{FF2B5EF4-FFF2-40B4-BE49-F238E27FC236}">
                  <a16:creationId xmlns:a16="http://schemas.microsoft.com/office/drawing/2014/main" id="{260D71DF-D5C4-1A57-C90A-BE8D378B2689}"/>
                </a:ext>
              </a:extLst>
            </p:cNvPr>
            <p:cNvGrpSpPr/>
            <p:nvPr/>
          </p:nvGrpSpPr>
          <p:grpSpPr>
            <a:xfrm>
              <a:off x="10719840" y="2292585"/>
              <a:ext cx="581011" cy="655851"/>
              <a:chOff x="10719840" y="2292585"/>
              <a:chExt cx="581011" cy="655851"/>
            </a:xfrm>
          </p:grpSpPr>
          <p:sp>
            <p:nvSpPr>
              <p:cNvPr id="222" name="Freeform 146">
                <a:extLst>
                  <a:ext uri="{FF2B5EF4-FFF2-40B4-BE49-F238E27FC236}">
                    <a16:creationId xmlns:a16="http://schemas.microsoft.com/office/drawing/2014/main" id="{02E8C1A2-EF59-1D37-407A-B3C2ABF2C401}"/>
                  </a:ext>
                </a:extLst>
              </p:cNvPr>
              <p:cNvSpPr>
                <a:spLocks noChangeArrowheads="1"/>
              </p:cNvSpPr>
              <p:nvPr/>
            </p:nvSpPr>
            <p:spPr bwMode="auto">
              <a:xfrm>
                <a:off x="11174801" y="2426512"/>
                <a:ext cx="126050" cy="63025"/>
              </a:xfrm>
              <a:custGeom>
                <a:avLst/>
                <a:gdLst>
                  <a:gd name="T0" fmla="*/ 282 w 283"/>
                  <a:gd name="T1" fmla="*/ 138 h 139"/>
                  <a:gd name="T2" fmla="*/ 146 w 283"/>
                  <a:gd name="T3" fmla="*/ 2 h 139"/>
                  <a:gd name="T4" fmla="*/ 136 w 283"/>
                  <a:gd name="T5" fmla="*/ 2 h 139"/>
                  <a:gd name="T6" fmla="*/ 0 w 283"/>
                  <a:gd name="T7" fmla="*/ 138 h 139"/>
                </a:gdLst>
                <a:ahLst/>
                <a:cxnLst>
                  <a:cxn ang="0">
                    <a:pos x="T0" y="T1"/>
                  </a:cxn>
                  <a:cxn ang="0">
                    <a:pos x="T2" y="T3"/>
                  </a:cxn>
                  <a:cxn ang="0">
                    <a:pos x="T4" y="T5"/>
                  </a:cxn>
                  <a:cxn ang="0">
                    <a:pos x="T6" y="T7"/>
                  </a:cxn>
                </a:cxnLst>
                <a:rect l="0" t="0" r="r" b="b"/>
                <a:pathLst>
                  <a:path w="283" h="139">
                    <a:moveTo>
                      <a:pt x="282" y="138"/>
                    </a:moveTo>
                    <a:cubicBezTo>
                      <a:pt x="237" y="92"/>
                      <a:pt x="191" y="47"/>
                      <a:pt x="146" y="2"/>
                    </a:cubicBezTo>
                    <a:cubicBezTo>
                      <a:pt x="143" y="0"/>
                      <a:pt x="139" y="0"/>
                      <a:pt x="136" y="2"/>
                    </a:cubicBezTo>
                    <a:cubicBezTo>
                      <a:pt x="91" y="47"/>
                      <a:pt x="45" y="92"/>
                      <a:pt x="0" y="13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23" name="Freeform 147">
                <a:extLst>
                  <a:ext uri="{FF2B5EF4-FFF2-40B4-BE49-F238E27FC236}">
                    <a16:creationId xmlns:a16="http://schemas.microsoft.com/office/drawing/2014/main" id="{E744B9BA-F05C-3DAF-FF8E-895AC0888322}"/>
                  </a:ext>
                </a:extLst>
              </p:cNvPr>
              <p:cNvSpPr>
                <a:spLocks noChangeArrowheads="1"/>
              </p:cNvSpPr>
              <p:nvPr/>
            </p:nvSpPr>
            <p:spPr bwMode="auto">
              <a:xfrm>
                <a:off x="10719840" y="2426512"/>
                <a:ext cx="126050" cy="63025"/>
              </a:xfrm>
              <a:custGeom>
                <a:avLst/>
                <a:gdLst>
                  <a:gd name="T0" fmla="*/ 282 w 283"/>
                  <a:gd name="T1" fmla="*/ 138 h 139"/>
                  <a:gd name="T2" fmla="*/ 146 w 283"/>
                  <a:gd name="T3" fmla="*/ 2 h 139"/>
                  <a:gd name="T4" fmla="*/ 136 w 283"/>
                  <a:gd name="T5" fmla="*/ 2 h 139"/>
                  <a:gd name="T6" fmla="*/ 0 w 283"/>
                  <a:gd name="T7" fmla="*/ 138 h 139"/>
                </a:gdLst>
                <a:ahLst/>
                <a:cxnLst>
                  <a:cxn ang="0">
                    <a:pos x="T0" y="T1"/>
                  </a:cxn>
                  <a:cxn ang="0">
                    <a:pos x="T2" y="T3"/>
                  </a:cxn>
                  <a:cxn ang="0">
                    <a:pos x="T4" y="T5"/>
                  </a:cxn>
                  <a:cxn ang="0">
                    <a:pos x="T6" y="T7"/>
                  </a:cxn>
                </a:cxnLst>
                <a:rect l="0" t="0" r="r" b="b"/>
                <a:pathLst>
                  <a:path w="283" h="139">
                    <a:moveTo>
                      <a:pt x="282" y="138"/>
                    </a:moveTo>
                    <a:cubicBezTo>
                      <a:pt x="237" y="92"/>
                      <a:pt x="191" y="47"/>
                      <a:pt x="146" y="2"/>
                    </a:cubicBezTo>
                    <a:cubicBezTo>
                      <a:pt x="143" y="0"/>
                      <a:pt x="139" y="0"/>
                      <a:pt x="136" y="2"/>
                    </a:cubicBezTo>
                    <a:cubicBezTo>
                      <a:pt x="91" y="47"/>
                      <a:pt x="45" y="92"/>
                      <a:pt x="0" y="13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24" name="Freeform 148">
                <a:extLst>
                  <a:ext uri="{FF2B5EF4-FFF2-40B4-BE49-F238E27FC236}">
                    <a16:creationId xmlns:a16="http://schemas.microsoft.com/office/drawing/2014/main" id="{890BE97E-9169-11F8-E8E6-4EB3C439E5C1}"/>
                  </a:ext>
                </a:extLst>
              </p:cNvPr>
              <p:cNvSpPr>
                <a:spLocks noChangeArrowheads="1"/>
              </p:cNvSpPr>
              <p:nvPr/>
            </p:nvSpPr>
            <p:spPr bwMode="auto">
              <a:xfrm>
                <a:off x="10855738" y="2292585"/>
                <a:ext cx="126050" cy="63025"/>
              </a:xfrm>
              <a:custGeom>
                <a:avLst/>
                <a:gdLst>
                  <a:gd name="T0" fmla="*/ 282 w 283"/>
                  <a:gd name="T1" fmla="*/ 138 h 139"/>
                  <a:gd name="T2" fmla="*/ 146 w 283"/>
                  <a:gd name="T3" fmla="*/ 2 h 139"/>
                  <a:gd name="T4" fmla="*/ 136 w 283"/>
                  <a:gd name="T5" fmla="*/ 2 h 139"/>
                  <a:gd name="T6" fmla="*/ 0 w 283"/>
                  <a:gd name="T7" fmla="*/ 138 h 139"/>
                </a:gdLst>
                <a:ahLst/>
                <a:cxnLst>
                  <a:cxn ang="0">
                    <a:pos x="T0" y="T1"/>
                  </a:cxn>
                  <a:cxn ang="0">
                    <a:pos x="T2" y="T3"/>
                  </a:cxn>
                  <a:cxn ang="0">
                    <a:pos x="T4" y="T5"/>
                  </a:cxn>
                  <a:cxn ang="0">
                    <a:pos x="T6" y="T7"/>
                  </a:cxn>
                </a:cxnLst>
                <a:rect l="0" t="0" r="r" b="b"/>
                <a:pathLst>
                  <a:path w="283" h="139">
                    <a:moveTo>
                      <a:pt x="282" y="138"/>
                    </a:moveTo>
                    <a:cubicBezTo>
                      <a:pt x="237" y="92"/>
                      <a:pt x="191" y="47"/>
                      <a:pt x="146" y="2"/>
                    </a:cubicBezTo>
                    <a:cubicBezTo>
                      <a:pt x="143" y="0"/>
                      <a:pt x="139" y="0"/>
                      <a:pt x="136" y="2"/>
                    </a:cubicBezTo>
                    <a:cubicBezTo>
                      <a:pt x="91" y="47"/>
                      <a:pt x="45" y="92"/>
                      <a:pt x="0" y="13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25" name="Freeform 149">
                <a:extLst>
                  <a:ext uri="{FF2B5EF4-FFF2-40B4-BE49-F238E27FC236}">
                    <a16:creationId xmlns:a16="http://schemas.microsoft.com/office/drawing/2014/main" id="{1C33FB3F-D3A3-4B02-5A77-B4B0A02A9A17}"/>
                  </a:ext>
                </a:extLst>
              </p:cNvPr>
              <p:cNvSpPr>
                <a:spLocks noChangeArrowheads="1"/>
              </p:cNvSpPr>
              <p:nvPr/>
            </p:nvSpPr>
            <p:spPr bwMode="auto">
              <a:xfrm>
                <a:off x="11038903" y="2292585"/>
                <a:ext cx="126050" cy="63025"/>
              </a:xfrm>
              <a:custGeom>
                <a:avLst/>
                <a:gdLst>
                  <a:gd name="T0" fmla="*/ 282 w 283"/>
                  <a:gd name="T1" fmla="*/ 138 h 139"/>
                  <a:gd name="T2" fmla="*/ 146 w 283"/>
                  <a:gd name="T3" fmla="*/ 2 h 139"/>
                  <a:gd name="T4" fmla="*/ 136 w 283"/>
                  <a:gd name="T5" fmla="*/ 2 h 139"/>
                  <a:gd name="T6" fmla="*/ 0 w 283"/>
                  <a:gd name="T7" fmla="*/ 138 h 139"/>
                </a:gdLst>
                <a:ahLst/>
                <a:cxnLst>
                  <a:cxn ang="0">
                    <a:pos x="T0" y="T1"/>
                  </a:cxn>
                  <a:cxn ang="0">
                    <a:pos x="T2" y="T3"/>
                  </a:cxn>
                  <a:cxn ang="0">
                    <a:pos x="T4" y="T5"/>
                  </a:cxn>
                  <a:cxn ang="0">
                    <a:pos x="T6" y="T7"/>
                  </a:cxn>
                </a:cxnLst>
                <a:rect l="0" t="0" r="r" b="b"/>
                <a:pathLst>
                  <a:path w="283" h="139">
                    <a:moveTo>
                      <a:pt x="282" y="138"/>
                    </a:moveTo>
                    <a:cubicBezTo>
                      <a:pt x="237" y="92"/>
                      <a:pt x="191" y="47"/>
                      <a:pt x="146" y="2"/>
                    </a:cubicBezTo>
                    <a:cubicBezTo>
                      <a:pt x="143" y="0"/>
                      <a:pt x="139" y="0"/>
                      <a:pt x="136" y="2"/>
                    </a:cubicBezTo>
                    <a:cubicBezTo>
                      <a:pt x="91" y="47"/>
                      <a:pt x="45" y="92"/>
                      <a:pt x="0" y="13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26" name="Freeform 150">
                <a:extLst>
                  <a:ext uri="{FF2B5EF4-FFF2-40B4-BE49-F238E27FC236}">
                    <a16:creationId xmlns:a16="http://schemas.microsoft.com/office/drawing/2014/main" id="{CCFA2E36-7EFD-DB19-9017-D12914B4B785}"/>
                  </a:ext>
                </a:extLst>
              </p:cNvPr>
              <p:cNvSpPr>
                <a:spLocks noChangeArrowheads="1"/>
              </p:cNvSpPr>
              <p:nvPr/>
            </p:nvSpPr>
            <p:spPr bwMode="auto">
              <a:xfrm>
                <a:off x="10782865" y="2292585"/>
                <a:ext cx="319063" cy="655851"/>
              </a:xfrm>
              <a:custGeom>
                <a:avLst/>
                <a:gdLst>
                  <a:gd name="T0" fmla="*/ 0 w 714"/>
                  <a:gd name="T1" fmla="*/ 1468 h 1469"/>
                  <a:gd name="T2" fmla="*/ 152 w 714"/>
                  <a:gd name="T3" fmla="*/ 1101 h 1469"/>
                  <a:gd name="T4" fmla="*/ 650 w 714"/>
                  <a:gd name="T5" fmla="*/ 603 h 1469"/>
                  <a:gd name="T6" fmla="*/ 713 w 714"/>
                  <a:gd name="T7" fmla="*/ 451 h 1469"/>
                  <a:gd name="T8" fmla="*/ 713 w 714"/>
                  <a:gd name="T9" fmla="*/ 0 h 1469"/>
                </a:gdLst>
                <a:ahLst/>
                <a:cxnLst>
                  <a:cxn ang="0">
                    <a:pos x="T0" y="T1"/>
                  </a:cxn>
                  <a:cxn ang="0">
                    <a:pos x="T2" y="T3"/>
                  </a:cxn>
                  <a:cxn ang="0">
                    <a:pos x="T4" y="T5"/>
                  </a:cxn>
                  <a:cxn ang="0">
                    <a:pos x="T6" y="T7"/>
                  </a:cxn>
                  <a:cxn ang="0">
                    <a:pos x="T8" y="T9"/>
                  </a:cxn>
                </a:cxnLst>
                <a:rect l="0" t="0" r="r" b="b"/>
                <a:pathLst>
                  <a:path w="714" h="1469">
                    <a:moveTo>
                      <a:pt x="0" y="1468"/>
                    </a:moveTo>
                    <a:cubicBezTo>
                      <a:pt x="0" y="1329"/>
                      <a:pt x="54" y="1199"/>
                      <a:pt x="152" y="1101"/>
                    </a:cubicBezTo>
                    <a:cubicBezTo>
                      <a:pt x="318" y="935"/>
                      <a:pt x="484" y="769"/>
                      <a:pt x="650" y="603"/>
                    </a:cubicBezTo>
                    <a:cubicBezTo>
                      <a:pt x="690" y="563"/>
                      <a:pt x="713" y="508"/>
                      <a:pt x="713" y="451"/>
                    </a:cubicBezTo>
                    <a:cubicBezTo>
                      <a:pt x="713" y="300"/>
                      <a:pt x="713" y="150"/>
                      <a:pt x="713"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27" name="Freeform 151">
                <a:extLst>
                  <a:ext uri="{FF2B5EF4-FFF2-40B4-BE49-F238E27FC236}">
                    <a16:creationId xmlns:a16="http://schemas.microsoft.com/office/drawing/2014/main" id="{BE3304D4-90C7-27E9-A8AE-383ED1C5DBA0}"/>
                  </a:ext>
                </a:extLst>
              </p:cNvPr>
              <p:cNvSpPr>
                <a:spLocks noChangeArrowheads="1"/>
              </p:cNvSpPr>
              <p:nvPr/>
            </p:nvSpPr>
            <p:spPr bwMode="auto">
              <a:xfrm>
                <a:off x="10918763" y="2426512"/>
                <a:ext cx="319063" cy="521923"/>
              </a:xfrm>
              <a:custGeom>
                <a:avLst/>
                <a:gdLst>
                  <a:gd name="T0" fmla="*/ 713 w 714"/>
                  <a:gd name="T1" fmla="*/ 0 h 1170"/>
                  <a:gd name="T2" fmla="*/ 713 w 714"/>
                  <a:gd name="T3" fmla="*/ 152 h 1170"/>
                  <a:gd name="T4" fmla="*/ 561 w 714"/>
                  <a:gd name="T5" fmla="*/ 519 h 1170"/>
                  <a:gd name="T6" fmla="*/ 63 w 714"/>
                  <a:gd name="T7" fmla="*/ 1016 h 1170"/>
                  <a:gd name="T8" fmla="*/ 0 w 714"/>
                  <a:gd name="T9" fmla="*/ 1169 h 1170"/>
                </a:gdLst>
                <a:ahLst/>
                <a:cxnLst>
                  <a:cxn ang="0">
                    <a:pos x="T0" y="T1"/>
                  </a:cxn>
                  <a:cxn ang="0">
                    <a:pos x="T2" y="T3"/>
                  </a:cxn>
                  <a:cxn ang="0">
                    <a:pos x="T4" y="T5"/>
                  </a:cxn>
                  <a:cxn ang="0">
                    <a:pos x="T6" y="T7"/>
                  </a:cxn>
                  <a:cxn ang="0">
                    <a:pos x="T8" y="T9"/>
                  </a:cxn>
                </a:cxnLst>
                <a:rect l="0" t="0" r="r" b="b"/>
                <a:pathLst>
                  <a:path w="714" h="1170">
                    <a:moveTo>
                      <a:pt x="713" y="0"/>
                    </a:moveTo>
                    <a:cubicBezTo>
                      <a:pt x="713" y="50"/>
                      <a:pt x="713" y="101"/>
                      <a:pt x="713" y="152"/>
                    </a:cubicBezTo>
                    <a:cubicBezTo>
                      <a:pt x="713" y="290"/>
                      <a:pt x="659" y="420"/>
                      <a:pt x="561" y="519"/>
                    </a:cubicBezTo>
                    <a:cubicBezTo>
                      <a:pt x="395" y="684"/>
                      <a:pt x="229" y="850"/>
                      <a:pt x="63" y="1016"/>
                    </a:cubicBezTo>
                    <a:cubicBezTo>
                      <a:pt x="22" y="1057"/>
                      <a:pt x="0" y="1111"/>
                      <a:pt x="0" y="116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28" name="Freeform 152">
                <a:extLst>
                  <a:ext uri="{FF2B5EF4-FFF2-40B4-BE49-F238E27FC236}">
                    <a16:creationId xmlns:a16="http://schemas.microsoft.com/office/drawing/2014/main" id="{4456DDF7-BDD0-317A-3911-819CB6A4D4AB}"/>
                  </a:ext>
                </a:extLst>
              </p:cNvPr>
              <p:cNvSpPr>
                <a:spLocks noChangeArrowheads="1"/>
              </p:cNvSpPr>
              <p:nvPr/>
            </p:nvSpPr>
            <p:spPr bwMode="auto">
              <a:xfrm>
                <a:off x="10918763" y="2292585"/>
                <a:ext cx="319063" cy="655851"/>
              </a:xfrm>
              <a:custGeom>
                <a:avLst/>
                <a:gdLst>
                  <a:gd name="T0" fmla="*/ 713 w 714"/>
                  <a:gd name="T1" fmla="*/ 1468 h 1469"/>
                  <a:gd name="T2" fmla="*/ 561 w 714"/>
                  <a:gd name="T3" fmla="*/ 1101 h 1469"/>
                  <a:gd name="T4" fmla="*/ 63 w 714"/>
                  <a:gd name="T5" fmla="*/ 603 h 1469"/>
                  <a:gd name="T6" fmla="*/ 0 w 714"/>
                  <a:gd name="T7" fmla="*/ 451 h 1469"/>
                  <a:gd name="T8" fmla="*/ 0 w 714"/>
                  <a:gd name="T9" fmla="*/ 0 h 1469"/>
                </a:gdLst>
                <a:ahLst/>
                <a:cxnLst>
                  <a:cxn ang="0">
                    <a:pos x="T0" y="T1"/>
                  </a:cxn>
                  <a:cxn ang="0">
                    <a:pos x="T2" y="T3"/>
                  </a:cxn>
                  <a:cxn ang="0">
                    <a:pos x="T4" y="T5"/>
                  </a:cxn>
                  <a:cxn ang="0">
                    <a:pos x="T6" y="T7"/>
                  </a:cxn>
                  <a:cxn ang="0">
                    <a:pos x="T8" y="T9"/>
                  </a:cxn>
                </a:cxnLst>
                <a:rect l="0" t="0" r="r" b="b"/>
                <a:pathLst>
                  <a:path w="714" h="1469">
                    <a:moveTo>
                      <a:pt x="713" y="1468"/>
                    </a:moveTo>
                    <a:cubicBezTo>
                      <a:pt x="713" y="1329"/>
                      <a:pt x="659" y="1199"/>
                      <a:pt x="561" y="1101"/>
                    </a:cubicBezTo>
                    <a:cubicBezTo>
                      <a:pt x="395" y="935"/>
                      <a:pt x="229" y="769"/>
                      <a:pt x="63" y="603"/>
                    </a:cubicBezTo>
                    <a:cubicBezTo>
                      <a:pt x="22" y="563"/>
                      <a:pt x="0" y="508"/>
                      <a:pt x="0" y="451"/>
                    </a:cubicBezTo>
                    <a:cubicBezTo>
                      <a:pt x="0" y="300"/>
                      <a:pt x="0" y="15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29" name="Freeform 153">
                <a:extLst>
                  <a:ext uri="{FF2B5EF4-FFF2-40B4-BE49-F238E27FC236}">
                    <a16:creationId xmlns:a16="http://schemas.microsoft.com/office/drawing/2014/main" id="{D072643F-2F56-70E7-2CAF-0478A43CF8EA}"/>
                  </a:ext>
                </a:extLst>
              </p:cNvPr>
              <p:cNvSpPr>
                <a:spLocks noChangeArrowheads="1"/>
              </p:cNvSpPr>
              <p:nvPr/>
            </p:nvSpPr>
            <p:spPr bwMode="auto">
              <a:xfrm>
                <a:off x="10782865" y="2426512"/>
                <a:ext cx="319063" cy="521923"/>
              </a:xfrm>
              <a:custGeom>
                <a:avLst/>
                <a:gdLst>
                  <a:gd name="T0" fmla="*/ 0 w 714"/>
                  <a:gd name="T1" fmla="*/ 0 h 1170"/>
                  <a:gd name="T2" fmla="*/ 0 w 714"/>
                  <a:gd name="T3" fmla="*/ 152 h 1170"/>
                  <a:gd name="T4" fmla="*/ 152 w 714"/>
                  <a:gd name="T5" fmla="*/ 519 h 1170"/>
                  <a:gd name="T6" fmla="*/ 650 w 714"/>
                  <a:gd name="T7" fmla="*/ 1016 h 1170"/>
                  <a:gd name="T8" fmla="*/ 713 w 714"/>
                  <a:gd name="T9" fmla="*/ 1169 h 1170"/>
                </a:gdLst>
                <a:ahLst/>
                <a:cxnLst>
                  <a:cxn ang="0">
                    <a:pos x="T0" y="T1"/>
                  </a:cxn>
                  <a:cxn ang="0">
                    <a:pos x="T2" y="T3"/>
                  </a:cxn>
                  <a:cxn ang="0">
                    <a:pos x="T4" y="T5"/>
                  </a:cxn>
                  <a:cxn ang="0">
                    <a:pos x="T6" y="T7"/>
                  </a:cxn>
                  <a:cxn ang="0">
                    <a:pos x="T8" y="T9"/>
                  </a:cxn>
                </a:cxnLst>
                <a:rect l="0" t="0" r="r" b="b"/>
                <a:pathLst>
                  <a:path w="714" h="1170">
                    <a:moveTo>
                      <a:pt x="0" y="0"/>
                    </a:moveTo>
                    <a:cubicBezTo>
                      <a:pt x="0" y="50"/>
                      <a:pt x="0" y="101"/>
                      <a:pt x="0" y="152"/>
                    </a:cubicBezTo>
                    <a:cubicBezTo>
                      <a:pt x="0" y="290"/>
                      <a:pt x="54" y="420"/>
                      <a:pt x="152" y="519"/>
                    </a:cubicBezTo>
                    <a:cubicBezTo>
                      <a:pt x="318" y="684"/>
                      <a:pt x="484" y="850"/>
                      <a:pt x="650" y="1016"/>
                    </a:cubicBezTo>
                    <a:cubicBezTo>
                      <a:pt x="691" y="1057"/>
                      <a:pt x="713" y="1111"/>
                      <a:pt x="713" y="116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grpSp>
        <p:nvGrpSpPr>
          <p:cNvPr id="230" name="Group 229">
            <a:extLst>
              <a:ext uri="{FF2B5EF4-FFF2-40B4-BE49-F238E27FC236}">
                <a16:creationId xmlns:a16="http://schemas.microsoft.com/office/drawing/2014/main" id="{04BD0EA4-D647-09F6-1F57-3785385B66BE}"/>
              </a:ext>
            </a:extLst>
          </p:cNvPr>
          <p:cNvGrpSpPr/>
          <p:nvPr/>
        </p:nvGrpSpPr>
        <p:grpSpPr>
          <a:xfrm>
            <a:off x="11761606" y="2668809"/>
            <a:ext cx="1142796" cy="1142798"/>
            <a:chOff x="5767877" y="290374"/>
            <a:chExt cx="634770" cy="634771"/>
          </a:xfrm>
        </p:grpSpPr>
        <p:grpSp>
          <p:nvGrpSpPr>
            <p:cNvPr id="231" name="Group 230">
              <a:extLst>
                <a:ext uri="{FF2B5EF4-FFF2-40B4-BE49-F238E27FC236}">
                  <a16:creationId xmlns:a16="http://schemas.microsoft.com/office/drawing/2014/main" id="{5D69308E-B327-2485-5866-F514A59C2BE3}"/>
                </a:ext>
              </a:extLst>
            </p:cNvPr>
            <p:cNvGrpSpPr/>
            <p:nvPr/>
          </p:nvGrpSpPr>
          <p:grpSpPr>
            <a:xfrm>
              <a:off x="5826281" y="373854"/>
              <a:ext cx="508000" cy="457200"/>
              <a:chOff x="4852988" y="2201863"/>
              <a:chExt cx="508000" cy="457200"/>
            </a:xfrm>
          </p:grpSpPr>
          <p:sp>
            <p:nvSpPr>
              <p:cNvPr id="233" name="Freeform 114">
                <a:extLst>
                  <a:ext uri="{FF2B5EF4-FFF2-40B4-BE49-F238E27FC236}">
                    <a16:creationId xmlns:a16="http://schemas.microsoft.com/office/drawing/2014/main" id="{E62DA1D0-B150-33BD-4D67-2E9189C320A7}"/>
                  </a:ext>
                </a:extLst>
              </p:cNvPr>
              <p:cNvSpPr>
                <a:spLocks noChangeArrowheads="1"/>
              </p:cNvSpPr>
              <p:nvPr/>
            </p:nvSpPr>
            <p:spPr bwMode="auto">
              <a:xfrm>
                <a:off x="4852988" y="2201863"/>
                <a:ext cx="508000" cy="177800"/>
              </a:xfrm>
              <a:custGeom>
                <a:avLst/>
                <a:gdLst>
                  <a:gd name="T0" fmla="*/ 0 w 1410"/>
                  <a:gd name="T1" fmla="*/ 247 h 494"/>
                  <a:gd name="T2" fmla="*/ 704 w 1410"/>
                  <a:gd name="T3" fmla="*/ 0 h 494"/>
                  <a:gd name="T4" fmla="*/ 1409 w 1410"/>
                  <a:gd name="T5" fmla="*/ 247 h 494"/>
                  <a:gd name="T6" fmla="*/ 704 w 1410"/>
                  <a:gd name="T7" fmla="*/ 493 h 494"/>
                  <a:gd name="T8" fmla="*/ 0 w 1410"/>
                  <a:gd name="T9" fmla="*/ 247 h 494"/>
                </a:gdLst>
                <a:ahLst/>
                <a:cxnLst>
                  <a:cxn ang="0">
                    <a:pos x="T0" y="T1"/>
                  </a:cxn>
                  <a:cxn ang="0">
                    <a:pos x="T2" y="T3"/>
                  </a:cxn>
                  <a:cxn ang="0">
                    <a:pos x="T4" y="T5"/>
                  </a:cxn>
                  <a:cxn ang="0">
                    <a:pos x="T6" y="T7"/>
                  </a:cxn>
                  <a:cxn ang="0">
                    <a:pos x="T8" y="T9"/>
                  </a:cxn>
                </a:cxnLst>
                <a:rect l="0" t="0" r="r" b="b"/>
                <a:pathLst>
                  <a:path w="1410" h="494">
                    <a:moveTo>
                      <a:pt x="0" y="247"/>
                    </a:moveTo>
                    <a:cubicBezTo>
                      <a:pt x="0" y="110"/>
                      <a:pt x="316" y="0"/>
                      <a:pt x="704" y="0"/>
                    </a:cubicBezTo>
                    <a:cubicBezTo>
                      <a:pt x="1091" y="0"/>
                      <a:pt x="1409" y="110"/>
                      <a:pt x="1409" y="247"/>
                    </a:cubicBezTo>
                    <a:cubicBezTo>
                      <a:pt x="1409" y="384"/>
                      <a:pt x="1091" y="493"/>
                      <a:pt x="704" y="493"/>
                    </a:cubicBezTo>
                    <a:cubicBezTo>
                      <a:pt x="316" y="493"/>
                      <a:pt x="0" y="381"/>
                      <a:pt x="0" y="24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34" name="Freeform 115">
                <a:extLst>
                  <a:ext uri="{FF2B5EF4-FFF2-40B4-BE49-F238E27FC236}">
                    <a16:creationId xmlns:a16="http://schemas.microsoft.com/office/drawing/2014/main" id="{687D5E37-691F-1490-8BA3-12AA6DE3295C}"/>
                  </a:ext>
                </a:extLst>
              </p:cNvPr>
              <p:cNvSpPr>
                <a:spLocks noChangeArrowheads="1"/>
              </p:cNvSpPr>
              <p:nvPr/>
            </p:nvSpPr>
            <p:spPr bwMode="auto">
              <a:xfrm>
                <a:off x="5043488" y="2271713"/>
                <a:ext cx="127000" cy="38100"/>
              </a:xfrm>
              <a:custGeom>
                <a:avLst/>
                <a:gdLst>
                  <a:gd name="T0" fmla="*/ 352 w 353"/>
                  <a:gd name="T1" fmla="*/ 53 h 107"/>
                  <a:gd name="T2" fmla="*/ 329 w 353"/>
                  <a:gd name="T3" fmla="*/ 79 h 107"/>
                  <a:gd name="T4" fmla="*/ 264 w 353"/>
                  <a:gd name="T5" fmla="*/ 99 h 107"/>
                  <a:gd name="T6" fmla="*/ 176 w 353"/>
                  <a:gd name="T7" fmla="*/ 106 h 107"/>
                  <a:gd name="T8" fmla="*/ 88 w 353"/>
                  <a:gd name="T9" fmla="*/ 99 h 107"/>
                  <a:gd name="T10" fmla="*/ 24 w 353"/>
                  <a:gd name="T11" fmla="*/ 79 h 107"/>
                  <a:gd name="T12" fmla="*/ 0 w 353"/>
                  <a:gd name="T13" fmla="*/ 53 h 107"/>
                  <a:gd name="T14" fmla="*/ 24 w 353"/>
                  <a:gd name="T15" fmla="*/ 27 h 107"/>
                  <a:gd name="T16" fmla="*/ 88 w 353"/>
                  <a:gd name="T17" fmla="*/ 7 h 107"/>
                  <a:gd name="T18" fmla="*/ 176 w 353"/>
                  <a:gd name="T19" fmla="*/ 0 h 107"/>
                  <a:gd name="T20" fmla="*/ 264 w 353"/>
                  <a:gd name="T21" fmla="*/ 7 h 107"/>
                  <a:gd name="T22" fmla="*/ 329 w 353"/>
                  <a:gd name="T23" fmla="*/ 27 h 107"/>
                  <a:gd name="T24" fmla="*/ 352 w 353"/>
                  <a:gd name="T25" fmla="*/ 5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3" h="107">
                    <a:moveTo>
                      <a:pt x="352" y="53"/>
                    </a:moveTo>
                    <a:cubicBezTo>
                      <a:pt x="352" y="63"/>
                      <a:pt x="345" y="70"/>
                      <a:pt x="329" y="79"/>
                    </a:cubicBezTo>
                    <a:cubicBezTo>
                      <a:pt x="313" y="87"/>
                      <a:pt x="292" y="94"/>
                      <a:pt x="264" y="99"/>
                    </a:cubicBezTo>
                    <a:cubicBezTo>
                      <a:pt x="235" y="104"/>
                      <a:pt x="208" y="106"/>
                      <a:pt x="176" y="106"/>
                    </a:cubicBezTo>
                    <a:cubicBezTo>
                      <a:pt x="143" y="106"/>
                      <a:pt x="116" y="104"/>
                      <a:pt x="88" y="99"/>
                    </a:cubicBezTo>
                    <a:cubicBezTo>
                      <a:pt x="60" y="94"/>
                      <a:pt x="40" y="87"/>
                      <a:pt x="24" y="79"/>
                    </a:cubicBezTo>
                    <a:cubicBezTo>
                      <a:pt x="8" y="70"/>
                      <a:pt x="0" y="63"/>
                      <a:pt x="0" y="53"/>
                    </a:cubicBezTo>
                    <a:cubicBezTo>
                      <a:pt x="0" y="43"/>
                      <a:pt x="8" y="35"/>
                      <a:pt x="24" y="27"/>
                    </a:cubicBezTo>
                    <a:cubicBezTo>
                      <a:pt x="40" y="18"/>
                      <a:pt x="60" y="12"/>
                      <a:pt x="88" y="7"/>
                    </a:cubicBezTo>
                    <a:cubicBezTo>
                      <a:pt x="116" y="2"/>
                      <a:pt x="144" y="0"/>
                      <a:pt x="176" y="0"/>
                    </a:cubicBezTo>
                    <a:cubicBezTo>
                      <a:pt x="209" y="0"/>
                      <a:pt x="235" y="2"/>
                      <a:pt x="264" y="7"/>
                    </a:cubicBezTo>
                    <a:cubicBezTo>
                      <a:pt x="292" y="12"/>
                      <a:pt x="313" y="18"/>
                      <a:pt x="329" y="27"/>
                    </a:cubicBezTo>
                    <a:cubicBezTo>
                      <a:pt x="345" y="35"/>
                      <a:pt x="352" y="43"/>
                      <a:pt x="352" y="53"/>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35" name="Freeform 116">
                <a:extLst>
                  <a:ext uri="{FF2B5EF4-FFF2-40B4-BE49-F238E27FC236}">
                    <a16:creationId xmlns:a16="http://schemas.microsoft.com/office/drawing/2014/main" id="{F6465D55-8D9D-D16A-51AF-FF8BD196B627}"/>
                  </a:ext>
                </a:extLst>
              </p:cNvPr>
              <p:cNvSpPr>
                <a:spLocks noChangeArrowheads="1"/>
              </p:cNvSpPr>
              <p:nvPr/>
            </p:nvSpPr>
            <p:spPr bwMode="auto">
              <a:xfrm>
                <a:off x="4902200" y="2371725"/>
                <a:ext cx="406400" cy="201613"/>
              </a:xfrm>
              <a:custGeom>
                <a:avLst/>
                <a:gdLst>
                  <a:gd name="T0" fmla="*/ 848 w 1127"/>
                  <a:gd name="T1" fmla="*/ 0 h 558"/>
                  <a:gd name="T2" fmla="*/ 848 w 1127"/>
                  <a:gd name="T3" fmla="*/ 145 h 558"/>
                  <a:gd name="T4" fmla="*/ 855 w 1127"/>
                  <a:gd name="T5" fmla="*/ 152 h 558"/>
                  <a:gd name="T6" fmla="*/ 1087 w 1127"/>
                  <a:gd name="T7" fmla="*/ 152 h 558"/>
                  <a:gd name="T8" fmla="*/ 1102 w 1127"/>
                  <a:gd name="T9" fmla="*/ 205 h 558"/>
                  <a:gd name="T10" fmla="*/ 595 w 1127"/>
                  <a:gd name="T11" fmla="*/ 543 h 558"/>
                  <a:gd name="T12" fmla="*/ 531 w 1127"/>
                  <a:gd name="T13" fmla="*/ 543 h 558"/>
                  <a:gd name="T14" fmla="*/ 24 w 1127"/>
                  <a:gd name="T15" fmla="*/ 205 h 558"/>
                  <a:gd name="T16" fmla="*/ 38 w 1127"/>
                  <a:gd name="T17" fmla="*/ 152 h 558"/>
                  <a:gd name="T18" fmla="*/ 271 w 1127"/>
                  <a:gd name="T19" fmla="*/ 152 h 558"/>
                  <a:gd name="T20" fmla="*/ 278 w 1127"/>
                  <a:gd name="T21" fmla="*/ 145 h 558"/>
                  <a:gd name="T22" fmla="*/ 278 w 1127"/>
                  <a:gd name="T23"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558">
                    <a:moveTo>
                      <a:pt x="848" y="0"/>
                    </a:moveTo>
                    <a:cubicBezTo>
                      <a:pt x="848" y="48"/>
                      <a:pt x="848" y="96"/>
                      <a:pt x="848" y="145"/>
                    </a:cubicBezTo>
                    <a:cubicBezTo>
                      <a:pt x="848" y="148"/>
                      <a:pt x="852" y="152"/>
                      <a:pt x="855" y="152"/>
                    </a:cubicBezTo>
                    <a:cubicBezTo>
                      <a:pt x="932" y="152"/>
                      <a:pt x="1009" y="152"/>
                      <a:pt x="1087" y="152"/>
                    </a:cubicBezTo>
                    <a:cubicBezTo>
                      <a:pt x="1116" y="152"/>
                      <a:pt x="1126" y="187"/>
                      <a:pt x="1102" y="205"/>
                    </a:cubicBezTo>
                    <a:cubicBezTo>
                      <a:pt x="933" y="317"/>
                      <a:pt x="764" y="430"/>
                      <a:pt x="595" y="543"/>
                    </a:cubicBezTo>
                    <a:cubicBezTo>
                      <a:pt x="577" y="557"/>
                      <a:pt x="552" y="557"/>
                      <a:pt x="531" y="543"/>
                    </a:cubicBezTo>
                    <a:cubicBezTo>
                      <a:pt x="362" y="430"/>
                      <a:pt x="193" y="317"/>
                      <a:pt x="24" y="205"/>
                    </a:cubicBezTo>
                    <a:cubicBezTo>
                      <a:pt x="0" y="190"/>
                      <a:pt x="14" y="152"/>
                      <a:pt x="38" y="152"/>
                    </a:cubicBezTo>
                    <a:cubicBezTo>
                      <a:pt x="115" y="152"/>
                      <a:pt x="193" y="152"/>
                      <a:pt x="271" y="152"/>
                    </a:cubicBezTo>
                    <a:cubicBezTo>
                      <a:pt x="274" y="152"/>
                      <a:pt x="278" y="148"/>
                      <a:pt x="278" y="145"/>
                    </a:cubicBezTo>
                    <a:cubicBezTo>
                      <a:pt x="278" y="96"/>
                      <a:pt x="278" y="48"/>
                      <a:pt x="278"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36" name="Freeform 117">
                <a:extLst>
                  <a:ext uri="{FF2B5EF4-FFF2-40B4-BE49-F238E27FC236}">
                    <a16:creationId xmlns:a16="http://schemas.microsoft.com/office/drawing/2014/main" id="{F1508CFB-33C5-6BA6-791E-28C97250AD19}"/>
                  </a:ext>
                </a:extLst>
              </p:cNvPr>
              <p:cNvSpPr>
                <a:spLocks noChangeArrowheads="1"/>
              </p:cNvSpPr>
              <p:nvPr/>
            </p:nvSpPr>
            <p:spPr bwMode="auto">
              <a:xfrm>
                <a:off x="4903788" y="2544763"/>
                <a:ext cx="406400" cy="114300"/>
              </a:xfrm>
              <a:custGeom>
                <a:avLst/>
                <a:gdLst>
                  <a:gd name="T0" fmla="*/ 440 w 1128"/>
                  <a:gd name="T1" fmla="*/ 0 h 318"/>
                  <a:gd name="T2" fmla="*/ 71 w 1128"/>
                  <a:gd name="T3" fmla="*/ 0 h 318"/>
                  <a:gd name="T4" fmla="*/ 0 w 1128"/>
                  <a:gd name="T5" fmla="*/ 71 h 318"/>
                  <a:gd name="T6" fmla="*/ 0 w 1128"/>
                  <a:gd name="T7" fmla="*/ 247 h 318"/>
                  <a:gd name="T8" fmla="*/ 71 w 1128"/>
                  <a:gd name="T9" fmla="*/ 317 h 318"/>
                  <a:gd name="T10" fmla="*/ 1056 w 1128"/>
                  <a:gd name="T11" fmla="*/ 317 h 318"/>
                  <a:gd name="T12" fmla="*/ 1127 w 1128"/>
                  <a:gd name="T13" fmla="*/ 247 h 318"/>
                  <a:gd name="T14" fmla="*/ 1127 w 1128"/>
                  <a:gd name="T15" fmla="*/ 71 h 318"/>
                  <a:gd name="T16" fmla="*/ 1056 w 1128"/>
                  <a:gd name="T17" fmla="*/ 0 h 318"/>
                  <a:gd name="T18" fmla="*/ 687 w 1128"/>
                  <a:gd name="T19"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8" h="318">
                    <a:moveTo>
                      <a:pt x="440" y="0"/>
                    </a:moveTo>
                    <a:cubicBezTo>
                      <a:pt x="317" y="0"/>
                      <a:pt x="194" y="0"/>
                      <a:pt x="71" y="0"/>
                    </a:cubicBezTo>
                    <a:cubicBezTo>
                      <a:pt x="32" y="0"/>
                      <a:pt x="0" y="32"/>
                      <a:pt x="0" y="71"/>
                    </a:cubicBezTo>
                    <a:cubicBezTo>
                      <a:pt x="0" y="129"/>
                      <a:pt x="0" y="188"/>
                      <a:pt x="0" y="247"/>
                    </a:cubicBezTo>
                    <a:cubicBezTo>
                      <a:pt x="0" y="285"/>
                      <a:pt x="32" y="317"/>
                      <a:pt x="71" y="317"/>
                    </a:cubicBezTo>
                    <a:cubicBezTo>
                      <a:pt x="399" y="317"/>
                      <a:pt x="727" y="317"/>
                      <a:pt x="1056" y="317"/>
                    </a:cubicBezTo>
                    <a:cubicBezTo>
                      <a:pt x="1095" y="317"/>
                      <a:pt x="1127" y="285"/>
                      <a:pt x="1127" y="247"/>
                    </a:cubicBezTo>
                    <a:cubicBezTo>
                      <a:pt x="1127" y="188"/>
                      <a:pt x="1127" y="129"/>
                      <a:pt x="1127" y="71"/>
                    </a:cubicBezTo>
                    <a:cubicBezTo>
                      <a:pt x="1127" y="32"/>
                      <a:pt x="1095" y="0"/>
                      <a:pt x="1056" y="0"/>
                    </a:cubicBezTo>
                    <a:cubicBezTo>
                      <a:pt x="933" y="0"/>
                      <a:pt x="810" y="0"/>
                      <a:pt x="687"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37" name="Freeform 118">
                <a:extLst>
                  <a:ext uri="{FF2B5EF4-FFF2-40B4-BE49-F238E27FC236}">
                    <a16:creationId xmlns:a16="http://schemas.microsoft.com/office/drawing/2014/main" id="{309A4CA6-00FA-B435-17EB-D1815A18DB2D}"/>
                  </a:ext>
                </a:extLst>
              </p:cNvPr>
              <p:cNvSpPr>
                <a:spLocks noChangeArrowheads="1"/>
              </p:cNvSpPr>
              <p:nvPr/>
            </p:nvSpPr>
            <p:spPr bwMode="auto">
              <a:xfrm>
                <a:off x="5091113" y="2601913"/>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69" y="0"/>
                      <a:pt x="8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38" name="Freeform 119">
                <a:extLst>
                  <a:ext uri="{FF2B5EF4-FFF2-40B4-BE49-F238E27FC236}">
                    <a16:creationId xmlns:a16="http://schemas.microsoft.com/office/drawing/2014/main" id="{A49CB611-BA8B-7DAA-669B-2A6E2E21C112}"/>
                  </a:ext>
                </a:extLst>
              </p:cNvPr>
              <p:cNvSpPr>
                <a:spLocks noChangeArrowheads="1"/>
              </p:cNvSpPr>
              <p:nvPr/>
            </p:nvSpPr>
            <p:spPr bwMode="auto">
              <a:xfrm>
                <a:off x="5232400" y="2601913"/>
                <a:ext cx="28575" cy="1587"/>
              </a:xfrm>
              <a:custGeom>
                <a:avLst/>
                <a:gdLst>
                  <a:gd name="T0" fmla="*/ 77 w 78"/>
                  <a:gd name="T1" fmla="*/ 0 h 1"/>
                  <a:gd name="T2" fmla="*/ 0 w 78"/>
                  <a:gd name="T3" fmla="*/ 0 h 1"/>
                </a:gdLst>
                <a:ahLst/>
                <a:cxnLst>
                  <a:cxn ang="0">
                    <a:pos x="T0" y="T1"/>
                  </a:cxn>
                  <a:cxn ang="0">
                    <a:pos x="T2" y="T3"/>
                  </a:cxn>
                </a:cxnLst>
                <a:rect l="0" t="0" r="r" b="b"/>
                <a:pathLst>
                  <a:path w="78" h="1">
                    <a:moveTo>
                      <a:pt x="77" y="0"/>
                    </a:moveTo>
                    <a:cubicBezTo>
                      <a:pt x="51" y="0"/>
                      <a:pt x="2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sp>
          <p:nvSpPr>
            <p:cNvPr id="232" name="Freeform 97">
              <a:extLst>
                <a:ext uri="{FF2B5EF4-FFF2-40B4-BE49-F238E27FC236}">
                  <a16:creationId xmlns:a16="http://schemas.microsoft.com/office/drawing/2014/main" id="{62F84918-330E-8166-2DCB-1F6B1AB00F8F}"/>
                </a:ext>
              </a:extLst>
            </p:cNvPr>
            <p:cNvSpPr>
              <a:spLocks noChangeArrowheads="1"/>
            </p:cNvSpPr>
            <p:nvPr/>
          </p:nvSpPr>
          <p:spPr bwMode="auto">
            <a:xfrm>
              <a:off x="5767877" y="290374"/>
              <a:ext cx="634770" cy="634771"/>
            </a:xfrm>
            <a:custGeom>
              <a:avLst/>
              <a:gdLst>
                <a:gd name="T0" fmla="*/ 282 w 1751"/>
                <a:gd name="T1" fmla="*/ 1750 h 1751"/>
                <a:gd name="T2" fmla="*/ 0 w 1751"/>
                <a:gd name="T3" fmla="*/ 1467 h 1751"/>
                <a:gd name="T4" fmla="*/ 0 w 1751"/>
                <a:gd name="T5" fmla="*/ 282 h 1751"/>
                <a:gd name="T6" fmla="*/ 282 w 1751"/>
                <a:gd name="T7" fmla="*/ 0 h 1751"/>
                <a:gd name="T8" fmla="*/ 1468 w 1751"/>
                <a:gd name="T9" fmla="*/ 0 h 1751"/>
                <a:gd name="T10" fmla="*/ 1750 w 1751"/>
                <a:gd name="T11" fmla="*/ 282 h 1751"/>
                <a:gd name="T12" fmla="*/ 1750 w 1751"/>
                <a:gd name="T13" fmla="*/ 1467 h 1751"/>
                <a:gd name="T14" fmla="*/ 1468 w 1751"/>
                <a:gd name="T15" fmla="*/ 1750 h 1751"/>
                <a:gd name="T16" fmla="*/ 282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2" y="1750"/>
                  </a:moveTo>
                  <a:cubicBezTo>
                    <a:pt x="127" y="1750"/>
                    <a:pt x="0" y="1623"/>
                    <a:pt x="0" y="1467"/>
                  </a:cubicBezTo>
                  <a:cubicBezTo>
                    <a:pt x="0" y="1072"/>
                    <a:pt x="0" y="677"/>
                    <a:pt x="0" y="282"/>
                  </a:cubicBezTo>
                  <a:cubicBezTo>
                    <a:pt x="0" y="127"/>
                    <a:pt x="127" y="0"/>
                    <a:pt x="282" y="0"/>
                  </a:cubicBezTo>
                  <a:cubicBezTo>
                    <a:pt x="677" y="0"/>
                    <a:pt x="1073" y="0"/>
                    <a:pt x="1468" y="0"/>
                  </a:cubicBezTo>
                  <a:cubicBezTo>
                    <a:pt x="1623" y="0"/>
                    <a:pt x="1750" y="127"/>
                    <a:pt x="1750" y="282"/>
                  </a:cubicBezTo>
                  <a:cubicBezTo>
                    <a:pt x="1750" y="677"/>
                    <a:pt x="1750" y="1072"/>
                    <a:pt x="1750" y="1467"/>
                  </a:cubicBezTo>
                  <a:cubicBezTo>
                    <a:pt x="1750" y="1623"/>
                    <a:pt x="1623" y="1750"/>
                    <a:pt x="1468" y="1750"/>
                  </a:cubicBezTo>
                  <a:cubicBezTo>
                    <a:pt x="1073" y="1750"/>
                    <a:pt x="677" y="1750"/>
                    <a:pt x="282"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nvGrpSpPr>
          <p:cNvPr id="239" name="Group 238">
            <a:extLst>
              <a:ext uri="{FF2B5EF4-FFF2-40B4-BE49-F238E27FC236}">
                <a16:creationId xmlns:a16="http://schemas.microsoft.com/office/drawing/2014/main" id="{BA8EB05C-9A41-E338-A70A-044F270BD20A}"/>
              </a:ext>
            </a:extLst>
          </p:cNvPr>
          <p:cNvGrpSpPr>
            <a:grpSpLocks noChangeAspect="1"/>
          </p:cNvGrpSpPr>
          <p:nvPr/>
        </p:nvGrpSpPr>
        <p:grpSpPr>
          <a:xfrm>
            <a:off x="17380379" y="2663385"/>
            <a:ext cx="1142798" cy="1142794"/>
            <a:chOff x="8673843" y="518756"/>
            <a:chExt cx="786384" cy="786382"/>
          </a:xfrm>
        </p:grpSpPr>
        <p:sp>
          <p:nvSpPr>
            <p:cNvPr id="240" name="Freeform 1">
              <a:extLst>
                <a:ext uri="{FF2B5EF4-FFF2-40B4-BE49-F238E27FC236}">
                  <a16:creationId xmlns:a16="http://schemas.microsoft.com/office/drawing/2014/main" id="{F5EB2509-318C-31C5-62D5-2BCC7E4F5FCA}"/>
                </a:ext>
              </a:extLst>
            </p:cNvPr>
            <p:cNvSpPr>
              <a:spLocks noChangeArrowheads="1"/>
            </p:cNvSpPr>
            <p:nvPr/>
          </p:nvSpPr>
          <p:spPr bwMode="auto">
            <a:xfrm>
              <a:off x="8673843" y="518756"/>
              <a:ext cx="786384" cy="786382"/>
            </a:xfrm>
            <a:custGeom>
              <a:avLst/>
              <a:gdLst>
                <a:gd name="T0" fmla="*/ 1030 w 1229"/>
                <a:gd name="T1" fmla="*/ 1228 h 1229"/>
                <a:gd name="T2" fmla="*/ 1228 w 1229"/>
                <a:gd name="T3" fmla="*/ 1030 h 1229"/>
                <a:gd name="T4" fmla="*/ 1228 w 1229"/>
                <a:gd name="T5" fmla="*/ 198 h 1229"/>
                <a:gd name="T6" fmla="*/ 1030 w 1229"/>
                <a:gd name="T7" fmla="*/ 0 h 1229"/>
                <a:gd name="T8" fmla="*/ 198 w 1229"/>
                <a:gd name="T9" fmla="*/ 0 h 1229"/>
                <a:gd name="T10" fmla="*/ 0 w 1229"/>
                <a:gd name="T11" fmla="*/ 198 h 1229"/>
                <a:gd name="T12" fmla="*/ 0 w 1229"/>
                <a:gd name="T13" fmla="*/ 1030 h 1229"/>
                <a:gd name="T14" fmla="*/ 198 w 1229"/>
                <a:gd name="T15" fmla="*/ 1228 h 1229"/>
                <a:gd name="T16" fmla="*/ 1030 w 1229"/>
                <a:gd name="T17" fmla="*/ 1228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9" h="1229">
                  <a:moveTo>
                    <a:pt x="1030" y="1228"/>
                  </a:moveTo>
                  <a:cubicBezTo>
                    <a:pt x="1139" y="1228"/>
                    <a:pt x="1228" y="1139"/>
                    <a:pt x="1228" y="1030"/>
                  </a:cubicBezTo>
                  <a:cubicBezTo>
                    <a:pt x="1228" y="753"/>
                    <a:pt x="1228" y="475"/>
                    <a:pt x="1228" y="198"/>
                  </a:cubicBezTo>
                  <a:cubicBezTo>
                    <a:pt x="1228" y="89"/>
                    <a:pt x="1139" y="0"/>
                    <a:pt x="1030" y="0"/>
                  </a:cubicBezTo>
                  <a:cubicBezTo>
                    <a:pt x="753" y="0"/>
                    <a:pt x="475" y="0"/>
                    <a:pt x="198" y="0"/>
                  </a:cubicBezTo>
                  <a:cubicBezTo>
                    <a:pt x="89" y="0"/>
                    <a:pt x="0" y="89"/>
                    <a:pt x="0" y="198"/>
                  </a:cubicBezTo>
                  <a:cubicBezTo>
                    <a:pt x="0" y="475"/>
                    <a:pt x="0" y="753"/>
                    <a:pt x="0" y="1030"/>
                  </a:cubicBezTo>
                  <a:cubicBezTo>
                    <a:pt x="0" y="1139"/>
                    <a:pt x="89" y="1228"/>
                    <a:pt x="198" y="1228"/>
                  </a:cubicBezTo>
                  <a:cubicBezTo>
                    <a:pt x="475" y="1228"/>
                    <a:pt x="753" y="1228"/>
                    <a:pt x="1030" y="122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241" name="Group 240">
              <a:extLst>
                <a:ext uri="{FF2B5EF4-FFF2-40B4-BE49-F238E27FC236}">
                  <a16:creationId xmlns:a16="http://schemas.microsoft.com/office/drawing/2014/main" id="{A9EBD6C9-7F19-E895-B08D-31B92CB1C1B0}"/>
                </a:ext>
              </a:extLst>
            </p:cNvPr>
            <p:cNvGrpSpPr/>
            <p:nvPr/>
          </p:nvGrpSpPr>
          <p:grpSpPr>
            <a:xfrm>
              <a:off x="8817591" y="656865"/>
              <a:ext cx="493250" cy="515801"/>
              <a:chOff x="8817591" y="656865"/>
              <a:chExt cx="493250" cy="515801"/>
            </a:xfrm>
          </p:grpSpPr>
          <p:sp>
            <p:nvSpPr>
              <p:cNvPr id="242" name="Freeform 2">
                <a:extLst>
                  <a:ext uri="{FF2B5EF4-FFF2-40B4-BE49-F238E27FC236}">
                    <a16:creationId xmlns:a16="http://schemas.microsoft.com/office/drawing/2014/main" id="{D15F7CE6-89E5-E1B5-E78D-6B605DA4F7C2}"/>
                  </a:ext>
                </a:extLst>
              </p:cNvPr>
              <p:cNvSpPr>
                <a:spLocks noChangeArrowheads="1"/>
              </p:cNvSpPr>
              <p:nvPr/>
            </p:nvSpPr>
            <p:spPr bwMode="auto">
              <a:xfrm>
                <a:off x="8978249" y="887989"/>
                <a:ext cx="101469" cy="101469"/>
              </a:xfrm>
              <a:custGeom>
                <a:avLst/>
                <a:gdLst>
                  <a:gd name="T0" fmla="*/ 0 w 159"/>
                  <a:gd name="T1" fmla="*/ 158 h 159"/>
                  <a:gd name="T2" fmla="*/ 158 w 159"/>
                  <a:gd name="T3" fmla="*/ 0 h 159"/>
                </a:gdLst>
                <a:ahLst/>
                <a:cxnLst>
                  <a:cxn ang="0">
                    <a:pos x="T0" y="T1"/>
                  </a:cxn>
                  <a:cxn ang="0">
                    <a:pos x="T2" y="T3"/>
                  </a:cxn>
                </a:cxnLst>
                <a:rect l="0" t="0" r="r" b="b"/>
                <a:pathLst>
                  <a:path w="159" h="159">
                    <a:moveTo>
                      <a:pt x="0" y="158"/>
                    </a:moveTo>
                    <a:cubicBezTo>
                      <a:pt x="53" y="105"/>
                      <a:pt x="106" y="52"/>
                      <a:pt x="158"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43" name="Freeform 3">
                <a:extLst>
                  <a:ext uri="{FF2B5EF4-FFF2-40B4-BE49-F238E27FC236}">
                    <a16:creationId xmlns:a16="http://schemas.microsoft.com/office/drawing/2014/main" id="{9DD831FF-E8B1-5EA5-3EC8-AD5EFE1BC3B8}"/>
                  </a:ext>
                </a:extLst>
              </p:cNvPr>
              <p:cNvSpPr>
                <a:spLocks noChangeArrowheads="1"/>
              </p:cNvSpPr>
              <p:nvPr/>
            </p:nvSpPr>
            <p:spPr bwMode="auto">
              <a:xfrm>
                <a:off x="8868326" y="992277"/>
                <a:ext cx="107106" cy="107106"/>
              </a:xfrm>
              <a:custGeom>
                <a:avLst/>
                <a:gdLst>
                  <a:gd name="T0" fmla="*/ 82 w 166"/>
                  <a:gd name="T1" fmla="*/ 0 h 166"/>
                  <a:gd name="T2" fmla="*/ 21 w 166"/>
                  <a:gd name="T3" fmla="*/ 20 h 166"/>
                  <a:gd name="T4" fmla="*/ 12 w 166"/>
                  <a:gd name="T5" fmla="*/ 58 h 166"/>
                  <a:gd name="T6" fmla="*/ 107 w 166"/>
                  <a:gd name="T7" fmla="*/ 153 h 166"/>
                  <a:gd name="T8" fmla="*/ 145 w 166"/>
                  <a:gd name="T9" fmla="*/ 144 h 166"/>
                  <a:gd name="T10" fmla="*/ 165 w 166"/>
                  <a:gd name="T11" fmla="*/ 83 h 166"/>
                </a:gdLst>
                <a:ahLst/>
                <a:cxnLst>
                  <a:cxn ang="0">
                    <a:pos x="T0" y="T1"/>
                  </a:cxn>
                  <a:cxn ang="0">
                    <a:pos x="T2" y="T3"/>
                  </a:cxn>
                  <a:cxn ang="0">
                    <a:pos x="T4" y="T5"/>
                  </a:cxn>
                  <a:cxn ang="0">
                    <a:pos x="T6" y="T7"/>
                  </a:cxn>
                  <a:cxn ang="0">
                    <a:pos x="T8" y="T9"/>
                  </a:cxn>
                  <a:cxn ang="0">
                    <a:pos x="T10" y="T11"/>
                  </a:cxn>
                </a:cxnLst>
                <a:rect l="0" t="0" r="r" b="b"/>
                <a:pathLst>
                  <a:path w="166" h="166">
                    <a:moveTo>
                      <a:pt x="82" y="0"/>
                    </a:moveTo>
                    <a:cubicBezTo>
                      <a:pt x="61" y="7"/>
                      <a:pt x="41" y="14"/>
                      <a:pt x="21" y="20"/>
                    </a:cubicBezTo>
                    <a:cubicBezTo>
                      <a:pt x="5" y="26"/>
                      <a:pt x="0" y="46"/>
                      <a:pt x="12" y="58"/>
                    </a:cubicBezTo>
                    <a:cubicBezTo>
                      <a:pt x="43" y="90"/>
                      <a:pt x="75" y="122"/>
                      <a:pt x="107" y="153"/>
                    </a:cubicBezTo>
                    <a:cubicBezTo>
                      <a:pt x="119" y="165"/>
                      <a:pt x="139" y="160"/>
                      <a:pt x="145" y="144"/>
                    </a:cubicBezTo>
                    <a:cubicBezTo>
                      <a:pt x="151" y="124"/>
                      <a:pt x="158" y="104"/>
                      <a:pt x="165" y="83"/>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44" name="Freeform 4">
                <a:extLst>
                  <a:ext uri="{FF2B5EF4-FFF2-40B4-BE49-F238E27FC236}">
                    <a16:creationId xmlns:a16="http://schemas.microsoft.com/office/drawing/2014/main" id="{6A63FF27-AEE0-02C7-4492-0CFE26C33DA3}"/>
                  </a:ext>
                </a:extLst>
              </p:cNvPr>
              <p:cNvSpPr>
                <a:spLocks noChangeArrowheads="1"/>
              </p:cNvSpPr>
              <p:nvPr/>
            </p:nvSpPr>
            <p:spPr bwMode="auto">
              <a:xfrm>
                <a:off x="8885237" y="656865"/>
                <a:ext cx="425604" cy="425606"/>
              </a:xfrm>
              <a:custGeom>
                <a:avLst/>
                <a:gdLst>
                  <a:gd name="T0" fmla="*/ 338 w 665"/>
                  <a:gd name="T1" fmla="*/ 104 h 665"/>
                  <a:gd name="T2" fmla="*/ 611 w 665"/>
                  <a:gd name="T3" fmla="*/ 16 h 665"/>
                  <a:gd name="T4" fmla="*/ 648 w 665"/>
                  <a:gd name="T5" fmla="*/ 53 h 665"/>
                  <a:gd name="T6" fmla="*/ 560 w 665"/>
                  <a:gd name="T7" fmla="*/ 326 h 665"/>
                  <a:gd name="T8" fmla="*/ 240 w 665"/>
                  <a:gd name="T9" fmla="*/ 646 h 665"/>
                  <a:gd name="T10" fmla="*/ 177 w 665"/>
                  <a:gd name="T11" fmla="*/ 646 h 665"/>
                  <a:gd name="T12" fmla="*/ 18 w 665"/>
                  <a:gd name="T13" fmla="*/ 487 h 665"/>
                  <a:gd name="T14" fmla="*/ 18 w 665"/>
                  <a:gd name="T15" fmla="*/ 424 h 665"/>
                  <a:gd name="T16" fmla="*/ 338 w 665"/>
                  <a:gd name="T17" fmla="*/ 104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5" h="665">
                    <a:moveTo>
                      <a:pt x="338" y="104"/>
                    </a:moveTo>
                    <a:cubicBezTo>
                      <a:pt x="412" y="29"/>
                      <a:pt x="515" y="0"/>
                      <a:pt x="611" y="16"/>
                    </a:cubicBezTo>
                    <a:cubicBezTo>
                      <a:pt x="630" y="19"/>
                      <a:pt x="645" y="34"/>
                      <a:pt x="648" y="53"/>
                    </a:cubicBezTo>
                    <a:cubicBezTo>
                      <a:pt x="664" y="149"/>
                      <a:pt x="635" y="252"/>
                      <a:pt x="560" y="326"/>
                    </a:cubicBezTo>
                    <a:cubicBezTo>
                      <a:pt x="453" y="432"/>
                      <a:pt x="346" y="539"/>
                      <a:pt x="240" y="646"/>
                    </a:cubicBezTo>
                    <a:cubicBezTo>
                      <a:pt x="223" y="664"/>
                      <a:pt x="194" y="664"/>
                      <a:pt x="177" y="646"/>
                    </a:cubicBezTo>
                    <a:cubicBezTo>
                      <a:pt x="124" y="593"/>
                      <a:pt x="71" y="540"/>
                      <a:pt x="18" y="487"/>
                    </a:cubicBezTo>
                    <a:cubicBezTo>
                      <a:pt x="0" y="470"/>
                      <a:pt x="0" y="441"/>
                      <a:pt x="18" y="424"/>
                    </a:cubicBezTo>
                    <a:cubicBezTo>
                      <a:pt x="125" y="318"/>
                      <a:pt x="232" y="211"/>
                      <a:pt x="338" y="10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45" name="Freeform 5">
                <a:extLst>
                  <a:ext uri="{FF2B5EF4-FFF2-40B4-BE49-F238E27FC236}">
                    <a16:creationId xmlns:a16="http://schemas.microsoft.com/office/drawing/2014/main" id="{9270D2D3-E1B5-AD23-0865-4DB9E090FCD1}"/>
                  </a:ext>
                </a:extLst>
              </p:cNvPr>
              <p:cNvSpPr>
                <a:spLocks noChangeArrowheads="1"/>
              </p:cNvSpPr>
              <p:nvPr/>
            </p:nvSpPr>
            <p:spPr bwMode="auto">
              <a:xfrm>
                <a:off x="8823228" y="1045829"/>
                <a:ext cx="67646" cy="67646"/>
              </a:xfrm>
              <a:custGeom>
                <a:avLst/>
                <a:gdLst>
                  <a:gd name="T0" fmla="*/ 107 w 108"/>
                  <a:gd name="T1" fmla="*/ 0 h 108"/>
                  <a:gd name="T2" fmla="*/ 0 w 108"/>
                  <a:gd name="T3" fmla="*/ 107 h 108"/>
                </a:gdLst>
                <a:ahLst/>
                <a:cxnLst>
                  <a:cxn ang="0">
                    <a:pos x="T0" y="T1"/>
                  </a:cxn>
                  <a:cxn ang="0">
                    <a:pos x="T2" y="T3"/>
                  </a:cxn>
                </a:cxnLst>
                <a:rect l="0" t="0" r="r" b="b"/>
                <a:pathLst>
                  <a:path w="108" h="108">
                    <a:moveTo>
                      <a:pt x="107" y="0"/>
                    </a:moveTo>
                    <a:cubicBezTo>
                      <a:pt x="71" y="36"/>
                      <a:pt x="35" y="72"/>
                      <a:pt x="0" y="107"/>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46" name="Freeform 6">
                <a:extLst>
                  <a:ext uri="{FF2B5EF4-FFF2-40B4-BE49-F238E27FC236}">
                    <a16:creationId xmlns:a16="http://schemas.microsoft.com/office/drawing/2014/main" id="{36C084DA-922A-904B-E862-29F4B3A67ECB}"/>
                  </a:ext>
                </a:extLst>
              </p:cNvPr>
              <p:cNvSpPr>
                <a:spLocks noChangeArrowheads="1"/>
              </p:cNvSpPr>
              <p:nvPr/>
            </p:nvSpPr>
            <p:spPr bwMode="auto">
              <a:xfrm>
                <a:off x="8820409" y="1105020"/>
                <a:ext cx="67646" cy="67646"/>
              </a:xfrm>
              <a:custGeom>
                <a:avLst/>
                <a:gdLst>
                  <a:gd name="T0" fmla="*/ 107 w 108"/>
                  <a:gd name="T1" fmla="*/ 0 h 108"/>
                  <a:gd name="T2" fmla="*/ 0 w 108"/>
                  <a:gd name="T3" fmla="*/ 107 h 108"/>
                </a:gdLst>
                <a:ahLst/>
                <a:cxnLst>
                  <a:cxn ang="0">
                    <a:pos x="T0" y="T1"/>
                  </a:cxn>
                  <a:cxn ang="0">
                    <a:pos x="T2" y="T3"/>
                  </a:cxn>
                </a:cxnLst>
                <a:rect l="0" t="0" r="r" b="b"/>
                <a:pathLst>
                  <a:path w="108" h="108">
                    <a:moveTo>
                      <a:pt x="107" y="0"/>
                    </a:moveTo>
                    <a:cubicBezTo>
                      <a:pt x="71" y="36"/>
                      <a:pt x="35" y="72"/>
                      <a:pt x="0" y="107"/>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47" name="Freeform 7">
                <a:extLst>
                  <a:ext uri="{FF2B5EF4-FFF2-40B4-BE49-F238E27FC236}">
                    <a16:creationId xmlns:a16="http://schemas.microsoft.com/office/drawing/2014/main" id="{B4018B35-1F43-9C5A-BBAE-E6C17DDEA63B}"/>
                  </a:ext>
                </a:extLst>
              </p:cNvPr>
              <p:cNvSpPr>
                <a:spLocks noChangeArrowheads="1"/>
              </p:cNvSpPr>
              <p:nvPr/>
            </p:nvSpPr>
            <p:spPr bwMode="auto">
              <a:xfrm>
                <a:off x="9057170" y="887989"/>
                <a:ext cx="163477" cy="262129"/>
              </a:xfrm>
              <a:custGeom>
                <a:avLst/>
                <a:gdLst>
                  <a:gd name="T0" fmla="*/ 0 w 254"/>
                  <a:gd name="T1" fmla="*/ 253 h 408"/>
                  <a:gd name="T2" fmla="*/ 132 w 254"/>
                  <a:gd name="T3" fmla="*/ 386 h 408"/>
                  <a:gd name="T4" fmla="*/ 193 w 254"/>
                  <a:gd name="T5" fmla="*/ 399 h 408"/>
                  <a:gd name="T6" fmla="*/ 228 w 254"/>
                  <a:gd name="T7" fmla="*/ 347 h 408"/>
                  <a:gd name="T8" fmla="*/ 226 w 254"/>
                  <a:gd name="T9" fmla="*/ 63 h 408"/>
                  <a:gd name="T10" fmla="*/ 253 w 254"/>
                  <a:gd name="T11" fmla="*/ 0 h 408"/>
                </a:gdLst>
                <a:ahLst/>
                <a:cxnLst>
                  <a:cxn ang="0">
                    <a:pos x="T0" y="T1"/>
                  </a:cxn>
                  <a:cxn ang="0">
                    <a:pos x="T2" y="T3"/>
                  </a:cxn>
                  <a:cxn ang="0">
                    <a:pos x="T4" y="T5"/>
                  </a:cxn>
                  <a:cxn ang="0">
                    <a:pos x="T6" y="T7"/>
                  </a:cxn>
                  <a:cxn ang="0">
                    <a:pos x="T8" y="T9"/>
                  </a:cxn>
                  <a:cxn ang="0">
                    <a:pos x="T10" y="T11"/>
                  </a:cxn>
                </a:cxnLst>
                <a:rect l="0" t="0" r="r" b="b"/>
                <a:pathLst>
                  <a:path w="254" h="408">
                    <a:moveTo>
                      <a:pt x="0" y="253"/>
                    </a:moveTo>
                    <a:cubicBezTo>
                      <a:pt x="44" y="298"/>
                      <a:pt x="88" y="342"/>
                      <a:pt x="132" y="386"/>
                    </a:cubicBezTo>
                    <a:cubicBezTo>
                      <a:pt x="148" y="403"/>
                      <a:pt x="172" y="407"/>
                      <a:pt x="193" y="399"/>
                    </a:cubicBezTo>
                    <a:cubicBezTo>
                      <a:pt x="214" y="390"/>
                      <a:pt x="228" y="369"/>
                      <a:pt x="228" y="347"/>
                    </a:cubicBezTo>
                    <a:cubicBezTo>
                      <a:pt x="228" y="253"/>
                      <a:pt x="227" y="158"/>
                      <a:pt x="226" y="63"/>
                    </a:cubicBezTo>
                    <a:cubicBezTo>
                      <a:pt x="226" y="39"/>
                      <a:pt x="236" y="17"/>
                      <a:pt x="253"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48" name="Freeform 8">
                <a:extLst>
                  <a:ext uri="{FF2B5EF4-FFF2-40B4-BE49-F238E27FC236}">
                    <a16:creationId xmlns:a16="http://schemas.microsoft.com/office/drawing/2014/main" id="{A8E930FC-FE39-6221-AE63-650B984AF69D}"/>
                  </a:ext>
                </a:extLst>
              </p:cNvPr>
              <p:cNvSpPr>
                <a:spLocks noChangeArrowheads="1"/>
              </p:cNvSpPr>
              <p:nvPr/>
            </p:nvSpPr>
            <p:spPr bwMode="auto">
              <a:xfrm>
                <a:off x="8817591" y="747060"/>
                <a:ext cx="262127" cy="163477"/>
              </a:xfrm>
              <a:custGeom>
                <a:avLst/>
                <a:gdLst>
                  <a:gd name="T0" fmla="*/ 154 w 408"/>
                  <a:gd name="T1" fmla="*/ 254 h 255"/>
                  <a:gd name="T2" fmla="*/ 21 w 408"/>
                  <a:gd name="T3" fmla="*/ 121 h 255"/>
                  <a:gd name="T4" fmla="*/ 8 w 408"/>
                  <a:gd name="T5" fmla="*/ 60 h 255"/>
                  <a:gd name="T6" fmla="*/ 60 w 408"/>
                  <a:gd name="T7" fmla="*/ 25 h 255"/>
                  <a:gd name="T8" fmla="*/ 344 w 408"/>
                  <a:gd name="T9" fmla="*/ 26 h 255"/>
                  <a:gd name="T10" fmla="*/ 407 w 408"/>
                  <a:gd name="T11" fmla="*/ 0 h 255"/>
                </a:gdLst>
                <a:ahLst/>
                <a:cxnLst>
                  <a:cxn ang="0">
                    <a:pos x="T0" y="T1"/>
                  </a:cxn>
                  <a:cxn ang="0">
                    <a:pos x="T2" y="T3"/>
                  </a:cxn>
                  <a:cxn ang="0">
                    <a:pos x="T4" y="T5"/>
                  </a:cxn>
                  <a:cxn ang="0">
                    <a:pos x="T6" y="T7"/>
                  </a:cxn>
                  <a:cxn ang="0">
                    <a:pos x="T8" y="T9"/>
                  </a:cxn>
                  <a:cxn ang="0">
                    <a:pos x="T10" y="T11"/>
                  </a:cxn>
                </a:cxnLst>
                <a:rect l="0" t="0" r="r" b="b"/>
                <a:pathLst>
                  <a:path w="408" h="255">
                    <a:moveTo>
                      <a:pt x="154" y="254"/>
                    </a:moveTo>
                    <a:cubicBezTo>
                      <a:pt x="109" y="209"/>
                      <a:pt x="65" y="165"/>
                      <a:pt x="21" y="121"/>
                    </a:cubicBezTo>
                    <a:cubicBezTo>
                      <a:pt x="4" y="105"/>
                      <a:pt x="0" y="81"/>
                      <a:pt x="8" y="60"/>
                    </a:cubicBezTo>
                    <a:cubicBezTo>
                      <a:pt x="17" y="39"/>
                      <a:pt x="38" y="25"/>
                      <a:pt x="60" y="25"/>
                    </a:cubicBezTo>
                    <a:cubicBezTo>
                      <a:pt x="154" y="25"/>
                      <a:pt x="249" y="25"/>
                      <a:pt x="344" y="26"/>
                    </a:cubicBezTo>
                    <a:cubicBezTo>
                      <a:pt x="368" y="27"/>
                      <a:pt x="391" y="17"/>
                      <a:pt x="407"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49" name="Freeform 9">
                <a:extLst>
                  <a:ext uri="{FF2B5EF4-FFF2-40B4-BE49-F238E27FC236}">
                    <a16:creationId xmlns:a16="http://schemas.microsoft.com/office/drawing/2014/main" id="{4803EE8A-41A7-7EF2-AF06-0F8E4FC36263}"/>
                  </a:ext>
                </a:extLst>
              </p:cNvPr>
              <p:cNvSpPr>
                <a:spLocks noChangeArrowheads="1"/>
              </p:cNvSpPr>
              <p:nvPr/>
            </p:nvSpPr>
            <p:spPr bwMode="auto">
              <a:xfrm>
                <a:off x="9121998" y="735786"/>
                <a:ext cx="109924" cy="109925"/>
              </a:xfrm>
              <a:custGeom>
                <a:avLst/>
                <a:gdLst>
                  <a:gd name="T0" fmla="*/ 131 w 173"/>
                  <a:gd name="T1" fmla="*/ 168 h 173"/>
                  <a:gd name="T2" fmla="*/ 139 w 173"/>
                  <a:gd name="T3" fmla="*/ 33 h 173"/>
                  <a:gd name="T4" fmla="*/ 4 w 173"/>
                  <a:gd name="T5" fmla="*/ 41 h 173"/>
                  <a:gd name="T6" fmla="*/ 4 w 173"/>
                  <a:gd name="T7" fmla="*/ 57 h 173"/>
                  <a:gd name="T8" fmla="*/ 115 w 173"/>
                  <a:gd name="T9" fmla="*/ 168 h 173"/>
                  <a:gd name="T10" fmla="*/ 131 w 173"/>
                  <a:gd name="T11" fmla="*/ 168 h 173"/>
                </a:gdLst>
                <a:ahLst/>
                <a:cxnLst>
                  <a:cxn ang="0">
                    <a:pos x="T0" y="T1"/>
                  </a:cxn>
                  <a:cxn ang="0">
                    <a:pos x="T2" y="T3"/>
                  </a:cxn>
                  <a:cxn ang="0">
                    <a:pos x="T4" y="T5"/>
                  </a:cxn>
                  <a:cxn ang="0">
                    <a:pos x="T6" y="T7"/>
                  </a:cxn>
                  <a:cxn ang="0">
                    <a:pos x="T8" y="T9"/>
                  </a:cxn>
                  <a:cxn ang="0">
                    <a:pos x="T10" y="T11"/>
                  </a:cxn>
                </a:cxnLst>
                <a:rect l="0" t="0" r="r" b="b"/>
                <a:pathLst>
                  <a:path w="173" h="173">
                    <a:moveTo>
                      <a:pt x="131" y="168"/>
                    </a:moveTo>
                    <a:cubicBezTo>
                      <a:pt x="167" y="125"/>
                      <a:pt x="172" y="66"/>
                      <a:pt x="139" y="33"/>
                    </a:cubicBezTo>
                    <a:cubicBezTo>
                      <a:pt x="106" y="0"/>
                      <a:pt x="47" y="5"/>
                      <a:pt x="4" y="41"/>
                    </a:cubicBezTo>
                    <a:cubicBezTo>
                      <a:pt x="0" y="45"/>
                      <a:pt x="0" y="53"/>
                      <a:pt x="4" y="57"/>
                    </a:cubicBezTo>
                    <a:cubicBezTo>
                      <a:pt x="41" y="94"/>
                      <a:pt x="78" y="131"/>
                      <a:pt x="115" y="168"/>
                    </a:cubicBezTo>
                    <a:cubicBezTo>
                      <a:pt x="119" y="172"/>
                      <a:pt x="126" y="172"/>
                      <a:pt x="131" y="16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sp>
        <p:nvSpPr>
          <p:cNvPr id="262" name="TextBox 261">
            <a:extLst>
              <a:ext uri="{FF2B5EF4-FFF2-40B4-BE49-F238E27FC236}">
                <a16:creationId xmlns:a16="http://schemas.microsoft.com/office/drawing/2014/main" id="{893763B1-D0EA-C31A-BE25-EDF756B6202C}"/>
              </a:ext>
            </a:extLst>
          </p:cNvPr>
          <p:cNvSpPr txBox="1"/>
          <p:nvPr/>
        </p:nvSpPr>
        <p:spPr>
          <a:xfrm>
            <a:off x="3042683" y="9814166"/>
            <a:ext cx="1167307" cy="369332"/>
          </a:xfrm>
          <a:prstGeom prst="rect">
            <a:avLst/>
          </a:prstGeom>
          <a:noFill/>
        </p:spPr>
        <p:txBody>
          <a:bodyPr wrap="none" rtlCol="0">
            <a:spAutoFit/>
          </a:bodyPr>
          <a:lstStyle/>
          <a:p>
            <a:pPr defTabSz="1828800">
              <a:defRPr/>
            </a:pPr>
            <a:r>
              <a:rPr lang="en-GB">
                <a:latin typeface="Fira Sans Light" panose="020B0403050000020004" pitchFamily="34" charset="0"/>
              </a:rPr>
              <a:t>Discovery</a:t>
            </a:r>
          </a:p>
        </p:txBody>
      </p:sp>
      <p:sp>
        <p:nvSpPr>
          <p:cNvPr id="263" name="TextBox 262">
            <a:extLst>
              <a:ext uri="{FF2B5EF4-FFF2-40B4-BE49-F238E27FC236}">
                <a16:creationId xmlns:a16="http://schemas.microsoft.com/office/drawing/2014/main" id="{7AAC36D4-1683-28CA-4BD7-112EA8063992}"/>
              </a:ext>
            </a:extLst>
          </p:cNvPr>
          <p:cNvSpPr txBox="1"/>
          <p:nvPr/>
        </p:nvSpPr>
        <p:spPr>
          <a:xfrm>
            <a:off x="5163647" y="9780204"/>
            <a:ext cx="2095445" cy="369332"/>
          </a:xfrm>
          <a:prstGeom prst="rect">
            <a:avLst/>
          </a:prstGeom>
          <a:noFill/>
        </p:spPr>
        <p:txBody>
          <a:bodyPr wrap="none" rtlCol="0">
            <a:spAutoFit/>
          </a:bodyPr>
          <a:lstStyle/>
          <a:p>
            <a:pPr defTabSz="1828800">
              <a:defRPr/>
            </a:pPr>
            <a:r>
              <a:rPr lang="en-GB">
                <a:latin typeface="Fira Sans Light" panose="020B0403050000020004" pitchFamily="34" charset="0"/>
              </a:rPr>
              <a:t>Assess &amp; Prioritise</a:t>
            </a:r>
          </a:p>
        </p:txBody>
      </p:sp>
      <p:sp>
        <p:nvSpPr>
          <p:cNvPr id="264" name="TextBox 263">
            <a:extLst>
              <a:ext uri="{FF2B5EF4-FFF2-40B4-BE49-F238E27FC236}">
                <a16:creationId xmlns:a16="http://schemas.microsoft.com/office/drawing/2014/main" id="{BAA89F06-1E8C-EBC3-FDDD-8D15FCA7D678}"/>
              </a:ext>
            </a:extLst>
          </p:cNvPr>
          <p:cNvSpPr txBox="1"/>
          <p:nvPr/>
        </p:nvSpPr>
        <p:spPr>
          <a:xfrm>
            <a:off x="7689234" y="9778723"/>
            <a:ext cx="2297424" cy="646331"/>
          </a:xfrm>
          <a:prstGeom prst="rect">
            <a:avLst/>
          </a:prstGeom>
          <a:noFill/>
        </p:spPr>
        <p:txBody>
          <a:bodyPr wrap="none" rtlCol="0">
            <a:spAutoFit/>
          </a:bodyPr>
          <a:lstStyle/>
          <a:p>
            <a:pPr algn="ctr" defTabSz="1828800">
              <a:defRPr/>
            </a:pPr>
            <a:r>
              <a:rPr lang="en-GB">
                <a:latin typeface="Fira Sans Light" panose="020B0403050000020004" pitchFamily="34" charset="0"/>
              </a:rPr>
              <a:t>Determine Migration</a:t>
            </a:r>
          </a:p>
          <a:p>
            <a:pPr algn="ctr" defTabSz="1828800">
              <a:defRPr/>
            </a:pPr>
            <a:r>
              <a:rPr lang="en-GB">
                <a:latin typeface="Fira Sans Light" panose="020B0403050000020004" pitchFamily="34" charset="0"/>
              </a:rPr>
              <a:t>Strategy</a:t>
            </a:r>
          </a:p>
        </p:txBody>
      </p:sp>
      <p:sp>
        <p:nvSpPr>
          <p:cNvPr id="265" name="TextBox 264">
            <a:extLst>
              <a:ext uri="{FF2B5EF4-FFF2-40B4-BE49-F238E27FC236}">
                <a16:creationId xmlns:a16="http://schemas.microsoft.com/office/drawing/2014/main" id="{BB512865-C86C-5FD6-ED3D-9D0B3EA43C9C}"/>
              </a:ext>
            </a:extLst>
          </p:cNvPr>
          <p:cNvSpPr txBox="1"/>
          <p:nvPr/>
        </p:nvSpPr>
        <p:spPr>
          <a:xfrm>
            <a:off x="11021973" y="9796189"/>
            <a:ext cx="2699778" cy="646331"/>
          </a:xfrm>
          <a:prstGeom prst="rect">
            <a:avLst/>
          </a:prstGeom>
          <a:noFill/>
        </p:spPr>
        <p:txBody>
          <a:bodyPr wrap="none" rtlCol="0">
            <a:spAutoFit/>
          </a:bodyPr>
          <a:lstStyle/>
          <a:p>
            <a:pPr algn="ctr" defTabSz="1828800">
              <a:defRPr/>
            </a:pPr>
            <a:r>
              <a:rPr lang="en-GB">
                <a:latin typeface="Fira Sans Light" panose="020B0403050000020004" pitchFamily="34" charset="0"/>
              </a:rPr>
              <a:t>Purchase COTS / SaaS &amp;</a:t>
            </a:r>
          </a:p>
          <a:p>
            <a:pPr algn="ctr" defTabSz="1828800">
              <a:defRPr/>
            </a:pPr>
            <a:r>
              <a:rPr lang="en-GB">
                <a:latin typeface="Fira Sans Light" panose="020B0403050000020004" pitchFamily="34" charset="0"/>
              </a:rPr>
              <a:t>Licensing</a:t>
            </a:r>
          </a:p>
        </p:txBody>
      </p:sp>
      <p:sp>
        <p:nvSpPr>
          <p:cNvPr id="266" name="TextBox 265">
            <a:extLst>
              <a:ext uri="{FF2B5EF4-FFF2-40B4-BE49-F238E27FC236}">
                <a16:creationId xmlns:a16="http://schemas.microsoft.com/office/drawing/2014/main" id="{096101B3-B655-0299-D9A8-110094B322FB}"/>
              </a:ext>
            </a:extLst>
          </p:cNvPr>
          <p:cNvSpPr txBox="1"/>
          <p:nvPr/>
        </p:nvSpPr>
        <p:spPr>
          <a:xfrm>
            <a:off x="14700213" y="9791663"/>
            <a:ext cx="1645001" cy="646331"/>
          </a:xfrm>
          <a:prstGeom prst="rect">
            <a:avLst/>
          </a:prstGeom>
          <a:noFill/>
        </p:spPr>
        <p:txBody>
          <a:bodyPr wrap="none" rtlCol="0">
            <a:spAutoFit/>
          </a:bodyPr>
          <a:lstStyle/>
          <a:p>
            <a:pPr algn="ctr" defTabSz="1828800">
              <a:defRPr/>
            </a:pPr>
            <a:r>
              <a:rPr lang="en-GB">
                <a:latin typeface="Fira Sans Light" panose="020B0403050000020004" pitchFamily="34" charset="0"/>
              </a:rPr>
              <a:t>Manual install</a:t>
            </a:r>
          </a:p>
          <a:p>
            <a:pPr algn="ctr" defTabSz="1828800">
              <a:defRPr/>
            </a:pPr>
            <a:r>
              <a:rPr lang="en-GB">
                <a:latin typeface="Fira Sans Light" panose="020B0403050000020004" pitchFamily="34" charset="0"/>
              </a:rPr>
              <a:t>&amp; set up</a:t>
            </a:r>
          </a:p>
        </p:txBody>
      </p:sp>
      <p:sp>
        <p:nvSpPr>
          <p:cNvPr id="267" name="TextBox 266">
            <a:extLst>
              <a:ext uri="{FF2B5EF4-FFF2-40B4-BE49-F238E27FC236}">
                <a16:creationId xmlns:a16="http://schemas.microsoft.com/office/drawing/2014/main" id="{7338079F-425E-8D41-1FCF-EE0261D1D3E7}"/>
              </a:ext>
            </a:extLst>
          </p:cNvPr>
          <p:cNvSpPr txBox="1"/>
          <p:nvPr/>
        </p:nvSpPr>
        <p:spPr>
          <a:xfrm>
            <a:off x="17380959" y="9791662"/>
            <a:ext cx="1228221" cy="369332"/>
          </a:xfrm>
          <a:prstGeom prst="rect">
            <a:avLst/>
          </a:prstGeom>
          <a:noFill/>
        </p:spPr>
        <p:txBody>
          <a:bodyPr wrap="none" rtlCol="0">
            <a:spAutoFit/>
          </a:bodyPr>
          <a:lstStyle/>
          <a:p>
            <a:pPr algn="ctr" defTabSz="1828800">
              <a:defRPr/>
            </a:pPr>
            <a:r>
              <a:rPr lang="en-GB">
                <a:latin typeface="Fira Sans Light" panose="020B0403050000020004" pitchFamily="34" charset="0"/>
              </a:rPr>
              <a:t>Validation</a:t>
            </a:r>
          </a:p>
        </p:txBody>
      </p:sp>
      <p:sp>
        <p:nvSpPr>
          <p:cNvPr id="268" name="TextBox 267">
            <a:extLst>
              <a:ext uri="{FF2B5EF4-FFF2-40B4-BE49-F238E27FC236}">
                <a16:creationId xmlns:a16="http://schemas.microsoft.com/office/drawing/2014/main" id="{241658B3-200B-8BBE-BB33-DFE1BCCF2636}"/>
              </a:ext>
            </a:extLst>
          </p:cNvPr>
          <p:cNvSpPr txBox="1"/>
          <p:nvPr/>
        </p:nvSpPr>
        <p:spPr>
          <a:xfrm>
            <a:off x="20674447" y="9776538"/>
            <a:ext cx="1157689" cy="369332"/>
          </a:xfrm>
          <a:prstGeom prst="rect">
            <a:avLst/>
          </a:prstGeom>
          <a:noFill/>
        </p:spPr>
        <p:txBody>
          <a:bodyPr wrap="none" rtlCol="0">
            <a:spAutoFit/>
          </a:bodyPr>
          <a:lstStyle/>
          <a:p>
            <a:pPr algn="ctr" defTabSz="1828800">
              <a:defRPr/>
            </a:pPr>
            <a:r>
              <a:rPr lang="en-GB">
                <a:latin typeface="Fira Sans Light" panose="020B0403050000020004" pitchFamily="34" charset="0"/>
              </a:rPr>
              <a:t>Migration</a:t>
            </a:r>
          </a:p>
        </p:txBody>
      </p:sp>
      <p:sp>
        <p:nvSpPr>
          <p:cNvPr id="269" name="TextBox 268">
            <a:extLst>
              <a:ext uri="{FF2B5EF4-FFF2-40B4-BE49-F238E27FC236}">
                <a16:creationId xmlns:a16="http://schemas.microsoft.com/office/drawing/2014/main" id="{16BEEEC9-2436-8AA9-BA19-5AA130E7E354}"/>
              </a:ext>
            </a:extLst>
          </p:cNvPr>
          <p:cNvSpPr txBox="1"/>
          <p:nvPr/>
        </p:nvSpPr>
        <p:spPr>
          <a:xfrm>
            <a:off x="20614897" y="12821896"/>
            <a:ext cx="1317989" cy="369332"/>
          </a:xfrm>
          <a:prstGeom prst="rect">
            <a:avLst/>
          </a:prstGeom>
          <a:noFill/>
        </p:spPr>
        <p:txBody>
          <a:bodyPr wrap="none" rtlCol="0">
            <a:spAutoFit/>
          </a:bodyPr>
          <a:lstStyle/>
          <a:p>
            <a:pPr algn="ctr" defTabSz="1828800">
              <a:defRPr/>
            </a:pPr>
            <a:r>
              <a:rPr lang="en-GB">
                <a:latin typeface="Fira Sans Light" panose="020B0403050000020004" pitchFamily="34" charset="0"/>
              </a:rPr>
              <a:t>Production</a:t>
            </a:r>
          </a:p>
        </p:txBody>
      </p:sp>
      <p:sp>
        <p:nvSpPr>
          <p:cNvPr id="270" name="TextBox 269">
            <a:extLst>
              <a:ext uri="{FF2B5EF4-FFF2-40B4-BE49-F238E27FC236}">
                <a16:creationId xmlns:a16="http://schemas.microsoft.com/office/drawing/2014/main" id="{52D583D7-86B5-341C-B17D-652BE4388BFA}"/>
              </a:ext>
            </a:extLst>
          </p:cNvPr>
          <p:cNvSpPr txBox="1"/>
          <p:nvPr/>
        </p:nvSpPr>
        <p:spPr>
          <a:xfrm>
            <a:off x="15611658" y="12861812"/>
            <a:ext cx="1319592" cy="369332"/>
          </a:xfrm>
          <a:prstGeom prst="rect">
            <a:avLst/>
          </a:prstGeom>
          <a:noFill/>
        </p:spPr>
        <p:txBody>
          <a:bodyPr wrap="none" rtlCol="0">
            <a:spAutoFit/>
          </a:bodyPr>
          <a:lstStyle/>
          <a:p>
            <a:pPr algn="ctr" defTabSz="1828800">
              <a:defRPr/>
            </a:pPr>
            <a:r>
              <a:rPr lang="en-GB">
                <a:latin typeface="Fira Sans Light" panose="020B0403050000020004" pitchFamily="34" charset="0"/>
              </a:rPr>
              <a:t>Integration</a:t>
            </a:r>
          </a:p>
        </p:txBody>
      </p:sp>
      <p:sp>
        <p:nvSpPr>
          <p:cNvPr id="271" name="TextBox 270">
            <a:extLst>
              <a:ext uri="{FF2B5EF4-FFF2-40B4-BE49-F238E27FC236}">
                <a16:creationId xmlns:a16="http://schemas.microsoft.com/office/drawing/2014/main" id="{63896EE2-7A4E-A104-09CB-EA1C2FC526A0}"/>
              </a:ext>
            </a:extLst>
          </p:cNvPr>
          <p:cNvSpPr txBox="1"/>
          <p:nvPr/>
        </p:nvSpPr>
        <p:spPr>
          <a:xfrm>
            <a:off x="12814353" y="12826326"/>
            <a:ext cx="1798890" cy="369332"/>
          </a:xfrm>
          <a:prstGeom prst="rect">
            <a:avLst/>
          </a:prstGeom>
          <a:noFill/>
        </p:spPr>
        <p:txBody>
          <a:bodyPr wrap="none" rtlCol="0">
            <a:spAutoFit/>
          </a:bodyPr>
          <a:lstStyle/>
          <a:p>
            <a:pPr algn="ctr" defTabSz="1828800">
              <a:defRPr/>
            </a:pPr>
            <a:r>
              <a:rPr lang="en-GB">
                <a:latin typeface="Fira Sans Light" panose="020B0403050000020004" pitchFamily="34" charset="0"/>
              </a:rPr>
              <a:t>Full ALM / SDLC</a:t>
            </a:r>
          </a:p>
        </p:txBody>
      </p:sp>
      <p:sp>
        <p:nvSpPr>
          <p:cNvPr id="272" name="TextBox 271">
            <a:extLst>
              <a:ext uri="{FF2B5EF4-FFF2-40B4-BE49-F238E27FC236}">
                <a16:creationId xmlns:a16="http://schemas.microsoft.com/office/drawing/2014/main" id="{DBE46631-D9EB-10BA-7DF5-DC944A13C9E3}"/>
              </a:ext>
            </a:extLst>
          </p:cNvPr>
          <p:cNvSpPr txBox="1"/>
          <p:nvPr/>
        </p:nvSpPr>
        <p:spPr>
          <a:xfrm>
            <a:off x="10433758" y="12844619"/>
            <a:ext cx="1552027" cy="646331"/>
          </a:xfrm>
          <a:prstGeom prst="rect">
            <a:avLst/>
          </a:prstGeom>
          <a:noFill/>
        </p:spPr>
        <p:txBody>
          <a:bodyPr wrap="none" rtlCol="0">
            <a:spAutoFit/>
          </a:bodyPr>
          <a:lstStyle/>
          <a:p>
            <a:pPr algn="ctr" defTabSz="1828800">
              <a:defRPr/>
            </a:pPr>
            <a:r>
              <a:rPr lang="en-GB">
                <a:latin typeface="Fira Sans Light" panose="020B0403050000020004" pitchFamily="34" charset="0"/>
              </a:rPr>
              <a:t>App Code </a:t>
            </a:r>
          </a:p>
          <a:p>
            <a:pPr algn="ctr" defTabSz="1828800">
              <a:defRPr/>
            </a:pPr>
            <a:r>
              <a:rPr lang="en-GB">
                <a:latin typeface="Fira Sans Light" panose="020B0403050000020004" pitchFamily="34" charset="0"/>
              </a:rPr>
              <a:t>Development</a:t>
            </a:r>
          </a:p>
        </p:txBody>
      </p:sp>
      <p:sp>
        <p:nvSpPr>
          <p:cNvPr id="273" name="TextBox 272">
            <a:extLst>
              <a:ext uri="{FF2B5EF4-FFF2-40B4-BE49-F238E27FC236}">
                <a16:creationId xmlns:a16="http://schemas.microsoft.com/office/drawing/2014/main" id="{701E55C1-12C8-542A-276E-DF649C5613F1}"/>
              </a:ext>
            </a:extLst>
          </p:cNvPr>
          <p:cNvSpPr txBox="1"/>
          <p:nvPr/>
        </p:nvSpPr>
        <p:spPr>
          <a:xfrm>
            <a:off x="7497705" y="12843082"/>
            <a:ext cx="2618682" cy="646331"/>
          </a:xfrm>
          <a:prstGeom prst="rect">
            <a:avLst/>
          </a:prstGeom>
          <a:noFill/>
        </p:spPr>
        <p:txBody>
          <a:bodyPr wrap="square" rtlCol="0">
            <a:spAutoFit/>
          </a:bodyPr>
          <a:lstStyle/>
          <a:p>
            <a:pPr algn="ctr" defTabSz="1828800">
              <a:defRPr/>
            </a:pPr>
            <a:r>
              <a:rPr lang="en-GB">
                <a:latin typeface="Fira Sans Light" panose="020B0403050000020004" pitchFamily="34" charset="0"/>
              </a:rPr>
              <a:t>Redesign application / Infrastructure</a:t>
            </a:r>
          </a:p>
        </p:txBody>
      </p:sp>
      <p:sp>
        <p:nvSpPr>
          <p:cNvPr id="274" name="TextBox 273">
            <a:extLst>
              <a:ext uri="{FF2B5EF4-FFF2-40B4-BE49-F238E27FC236}">
                <a16:creationId xmlns:a16="http://schemas.microsoft.com/office/drawing/2014/main" id="{91CEFAC3-0834-B2B3-5AB2-520A8B59AAAB}"/>
              </a:ext>
            </a:extLst>
          </p:cNvPr>
          <p:cNvSpPr txBox="1"/>
          <p:nvPr/>
        </p:nvSpPr>
        <p:spPr>
          <a:xfrm>
            <a:off x="5754620" y="12875305"/>
            <a:ext cx="1694695" cy="646331"/>
          </a:xfrm>
          <a:prstGeom prst="rect">
            <a:avLst/>
          </a:prstGeom>
          <a:noFill/>
        </p:spPr>
        <p:txBody>
          <a:bodyPr wrap="none" rtlCol="0">
            <a:spAutoFit/>
          </a:bodyPr>
          <a:lstStyle/>
          <a:p>
            <a:pPr algn="ctr" defTabSz="1828800">
              <a:defRPr/>
            </a:pPr>
            <a:r>
              <a:rPr lang="en-GB">
                <a:latin typeface="Fira Sans Light" panose="020B0403050000020004" pitchFamily="34" charset="0"/>
              </a:rPr>
              <a:t>Retire or </a:t>
            </a:r>
          </a:p>
          <a:p>
            <a:pPr algn="ctr" defTabSz="1828800">
              <a:defRPr/>
            </a:pPr>
            <a:r>
              <a:rPr lang="en-GB">
                <a:latin typeface="Fira Sans Light" panose="020B0403050000020004" pitchFamily="34" charset="0"/>
              </a:rPr>
              <a:t>Decommission</a:t>
            </a:r>
          </a:p>
        </p:txBody>
      </p:sp>
      <p:sp>
        <p:nvSpPr>
          <p:cNvPr id="275" name="TextBox 274">
            <a:extLst>
              <a:ext uri="{FF2B5EF4-FFF2-40B4-BE49-F238E27FC236}">
                <a16:creationId xmlns:a16="http://schemas.microsoft.com/office/drawing/2014/main" id="{BC1E5138-F790-F779-CFDB-E6A21A76FAD3}"/>
              </a:ext>
            </a:extLst>
          </p:cNvPr>
          <p:cNvSpPr txBox="1"/>
          <p:nvPr/>
        </p:nvSpPr>
        <p:spPr>
          <a:xfrm>
            <a:off x="4231812" y="12875304"/>
            <a:ext cx="1410964" cy="369332"/>
          </a:xfrm>
          <a:prstGeom prst="rect">
            <a:avLst/>
          </a:prstGeom>
          <a:noFill/>
        </p:spPr>
        <p:txBody>
          <a:bodyPr wrap="none" rtlCol="0">
            <a:spAutoFit/>
          </a:bodyPr>
          <a:lstStyle/>
          <a:p>
            <a:pPr algn="ctr" defTabSz="1828800">
              <a:defRPr/>
            </a:pPr>
            <a:r>
              <a:rPr lang="en-GB">
                <a:latin typeface="Fira Sans Light" panose="020B0403050000020004" pitchFamily="34" charset="0"/>
              </a:rPr>
              <a:t>Retain As-Is</a:t>
            </a:r>
          </a:p>
        </p:txBody>
      </p:sp>
      <p:sp>
        <p:nvSpPr>
          <p:cNvPr id="276" name="TextBox 275">
            <a:extLst>
              <a:ext uri="{FF2B5EF4-FFF2-40B4-BE49-F238E27FC236}">
                <a16:creationId xmlns:a16="http://schemas.microsoft.com/office/drawing/2014/main" id="{453838CC-3E05-EA65-D900-0766DE4BBCE4}"/>
              </a:ext>
            </a:extLst>
          </p:cNvPr>
          <p:cNvSpPr txBox="1"/>
          <p:nvPr/>
        </p:nvSpPr>
        <p:spPr>
          <a:xfrm>
            <a:off x="11518170" y="7311285"/>
            <a:ext cx="1577675" cy="646331"/>
          </a:xfrm>
          <a:prstGeom prst="rect">
            <a:avLst/>
          </a:prstGeom>
          <a:noFill/>
        </p:spPr>
        <p:txBody>
          <a:bodyPr wrap="none" rtlCol="0">
            <a:spAutoFit/>
          </a:bodyPr>
          <a:lstStyle/>
          <a:p>
            <a:pPr algn="ctr" defTabSz="1828800">
              <a:defRPr/>
            </a:pPr>
            <a:r>
              <a:rPr lang="en-GB">
                <a:latin typeface="Fira Sans Light" panose="020B0403050000020004" pitchFamily="34" charset="0"/>
              </a:rPr>
              <a:t>Determine</a:t>
            </a:r>
          </a:p>
          <a:p>
            <a:pPr algn="ctr" defTabSz="1828800">
              <a:defRPr/>
            </a:pPr>
            <a:r>
              <a:rPr lang="en-GB">
                <a:latin typeface="Fira Sans Light" panose="020B0403050000020004" pitchFamily="34" charset="0"/>
              </a:rPr>
              <a:t>New Platform</a:t>
            </a:r>
          </a:p>
        </p:txBody>
      </p:sp>
      <p:sp>
        <p:nvSpPr>
          <p:cNvPr id="277" name="TextBox 276">
            <a:extLst>
              <a:ext uri="{FF2B5EF4-FFF2-40B4-BE49-F238E27FC236}">
                <a16:creationId xmlns:a16="http://schemas.microsoft.com/office/drawing/2014/main" id="{EA8A5854-3761-D823-8AED-9EB39E350675}"/>
              </a:ext>
            </a:extLst>
          </p:cNvPr>
          <p:cNvSpPr txBox="1"/>
          <p:nvPr/>
        </p:nvSpPr>
        <p:spPr>
          <a:xfrm>
            <a:off x="14503508" y="7276417"/>
            <a:ext cx="2034531" cy="646331"/>
          </a:xfrm>
          <a:prstGeom prst="rect">
            <a:avLst/>
          </a:prstGeom>
          <a:noFill/>
        </p:spPr>
        <p:txBody>
          <a:bodyPr wrap="none" rtlCol="0">
            <a:spAutoFit/>
          </a:bodyPr>
          <a:lstStyle/>
          <a:p>
            <a:pPr algn="ctr" defTabSz="1828800">
              <a:defRPr/>
            </a:pPr>
            <a:r>
              <a:rPr lang="en-GB">
                <a:latin typeface="Fira Sans Light" panose="020B0403050000020004" pitchFamily="34" charset="0"/>
              </a:rPr>
              <a:t>Modify underlying</a:t>
            </a:r>
          </a:p>
          <a:p>
            <a:pPr algn="ctr" defTabSz="1828800">
              <a:defRPr/>
            </a:pPr>
            <a:r>
              <a:rPr lang="en-GB">
                <a:latin typeface="Fira Sans Light" panose="020B0403050000020004" pitchFamily="34" charset="0"/>
              </a:rPr>
              <a:t>infrastructure</a:t>
            </a:r>
          </a:p>
        </p:txBody>
      </p:sp>
      <p:sp>
        <p:nvSpPr>
          <p:cNvPr id="279" name="TextBox 278">
            <a:extLst>
              <a:ext uri="{FF2B5EF4-FFF2-40B4-BE49-F238E27FC236}">
                <a16:creationId xmlns:a16="http://schemas.microsoft.com/office/drawing/2014/main" id="{A2DBD1F4-5813-CE1D-AE68-9AB88340F30C}"/>
              </a:ext>
            </a:extLst>
          </p:cNvPr>
          <p:cNvSpPr txBox="1"/>
          <p:nvPr/>
        </p:nvSpPr>
        <p:spPr>
          <a:xfrm>
            <a:off x="11894074" y="3854544"/>
            <a:ext cx="825867" cy="369332"/>
          </a:xfrm>
          <a:prstGeom prst="rect">
            <a:avLst/>
          </a:prstGeom>
          <a:noFill/>
        </p:spPr>
        <p:txBody>
          <a:bodyPr wrap="none" rtlCol="0">
            <a:spAutoFit/>
          </a:bodyPr>
          <a:lstStyle/>
          <a:p>
            <a:pPr algn="ctr" defTabSz="1828800">
              <a:defRPr/>
            </a:pPr>
            <a:r>
              <a:rPr lang="en-GB">
                <a:latin typeface="Fira Sans Light" panose="020B0403050000020004" pitchFamily="34" charset="0"/>
              </a:rPr>
              <a:t>Install</a:t>
            </a:r>
          </a:p>
        </p:txBody>
      </p:sp>
      <p:sp>
        <p:nvSpPr>
          <p:cNvPr id="280" name="TextBox 279">
            <a:extLst>
              <a:ext uri="{FF2B5EF4-FFF2-40B4-BE49-F238E27FC236}">
                <a16:creationId xmlns:a16="http://schemas.microsoft.com/office/drawing/2014/main" id="{B2C37171-EC0B-7D3F-E80B-14C822185DA1}"/>
              </a:ext>
            </a:extLst>
          </p:cNvPr>
          <p:cNvSpPr txBox="1"/>
          <p:nvPr/>
        </p:nvSpPr>
        <p:spPr>
          <a:xfrm>
            <a:off x="14900528" y="3801936"/>
            <a:ext cx="1172116" cy="369332"/>
          </a:xfrm>
          <a:prstGeom prst="rect">
            <a:avLst/>
          </a:prstGeom>
          <a:noFill/>
        </p:spPr>
        <p:txBody>
          <a:bodyPr wrap="none" rtlCol="0">
            <a:spAutoFit/>
          </a:bodyPr>
          <a:lstStyle/>
          <a:p>
            <a:pPr algn="ctr" defTabSz="1828800">
              <a:defRPr/>
            </a:pPr>
            <a:r>
              <a:rPr lang="en-GB">
                <a:latin typeface="Fira Sans Light" panose="020B0403050000020004" pitchFamily="34" charset="0"/>
              </a:rPr>
              <a:t>Configure</a:t>
            </a:r>
          </a:p>
        </p:txBody>
      </p:sp>
      <p:sp>
        <p:nvSpPr>
          <p:cNvPr id="281" name="TextBox 280">
            <a:extLst>
              <a:ext uri="{FF2B5EF4-FFF2-40B4-BE49-F238E27FC236}">
                <a16:creationId xmlns:a16="http://schemas.microsoft.com/office/drawing/2014/main" id="{439101E3-92F1-EC4E-000B-D7CE42D30FEC}"/>
              </a:ext>
            </a:extLst>
          </p:cNvPr>
          <p:cNvSpPr txBox="1"/>
          <p:nvPr/>
        </p:nvSpPr>
        <p:spPr>
          <a:xfrm>
            <a:off x="17523615" y="3828456"/>
            <a:ext cx="893193" cy="369332"/>
          </a:xfrm>
          <a:prstGeom prst="rect">
            <a:avLst/>
          </a:prstGeom>
          <a:noFill/>
        </p:spPr>
        <p:txBody>
          <a:bodyPr wrap="none" rtlCol="0">
            <a:spAutoFit/>
          </a:bodyPr>
          <a:lstStyle/>
          <a:p>
            <a:pPr algn="ctr" defTabSz="1828800">
              <a:defRPr/>
            </a:pPr>
            <a:r>
              <a:rPr lang="en-GB">
                <a:latin typeface="Fira Sans Light" panose="020B0403050000020004" pitchFamily="34" charset="0"/>
              </a:rPr>
              <a:t>Deploy</a:t>
            </a:r>
          </a:p>
        </p:txBody>
      </p:sp>
      <p:cxnSp>
        <p:nvCxnSpPr>
          <p:cNvPr id="511" name="Straight Connector 510">
            <a:extLst>
              <a:ext uri="{FF2B5EF4-FFF2-40B4-BE49-F238E27FC236}">
                <a16:creationId xmlns:a16="http://schemas.microsoft.com/office/drawing/2014/main" id="{AABB323B-E837-A0F4-0537-41DA15D3E79E}"/>
              </a:ext>
            </a:extLst>
          </p:cNvPr>
          <p:cNvCxnSpPr>
            <a:cxnSpLocks/>
          </p:cNvCxnSpPr>
          <p:nvPr/>
        </p:nvCxnSpPr>
        <p:spPr>
          <a:xfrm>
            <a:off x="6717111" y="9252664"/>
            <a:ext cx="1526410" cy="0"/>
          </a:xfrm>
          <a:prstGeom prst="line">
            <a:avLst/>
          </a:prstGeom>
          <a:ln w="50800">
            <a:solidFill>
              <a:schemeClr val="bg1">
                <a:alpha val="80000"/>
              </a:schemeClr>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BFACDE2C-3B90-1E6D-CA85-6B51CEC28D0B}"/>
              </a:ext>
            </a:extLst>
          </p:cNvPr>
          <p:cNvGrpSpPr>
            <a:grpSpLocks noChangeAspect="1"/>
          </p:cNvGrpSpPr>
          <p:nvPr/>
        </p:nvGrpSpPr>
        <p:grpSpPr>
          <a:xfrm>
            <a:off x="5574314" y="8678575"/>
            <a:ext cx="1142796" cy="1142794"/>
            <a:chOff x="7775575" y="2201863"/>
            <a:chExt cx="630238" cy="630237"/>
          </a:xfrm>
        </p:grpSpPr>
        <p:sp>
          <p:nvSpPr>
            <p:cNvPr id="73" name="Freeform 200">
              <a:extLst>
                <a:ext uri="{FF2B5EF4-FFF2-40B4-BE49-F238E27FC236}">
                  <a16:creationId xmlns:a16="http://schemas.microsoft.com/office/drawing/2014/main" id="{512E3837-0ACF-A5FD-0952-9AE4AF52DFE2}"/>
                </a:ext>
              </a:extLst>
            </p:cNvPr>
            <p:cNvSpPr>
              <a:spLocks noChangeArrowheads="1"/>
            </p:cNvSpPr>
            <p:nvPr/>
          </p:nvSpPr>
          <p:spPr bwMode="auto">
            <a:xfrm>
              <a:off x="7775575" y="2201863"/>
              <a:ext cx="630238" cy="630237"/>
            </a:xfrm>
            <a:custGeom>
              <a:avLst/>
              <a:gdLst>
                <a:gd name="T0" fmla="*/ 1468 w 1751"/>
                <a:gd name="T1" fmla="*/ 1749 h 1750"/>
                <a:gd name="T2" fmla="*/ 1750 w 1751"/>
                <a:gd name="T3" fmla="*/ 1467 h 1750"/>
                <a:gd name="T4" fmla="*/ 1750 w 1751"/>
                <a:gd name="T5" fmla="*/ 282 h 1750"/>
                <a:gd name="T6" fmla="*/ 1468 w 1751"/>
                <a:gd name="T7" fmla="*/ 0 h 1750"/>
                <a:gd name="T8" fmla="*/ 282 w 1751"/>
                <a:gd name="T9" fmla="*/ 0 h 1750"/>
                <a:gd name="T10" fmla="*/ 0 w 1751"/>
                <a:gd name="T11" fmla="*/ 282 h 1750"/>
                <a:gd name="T12" fmla="*/ 0 w 1751"/>
                <a:gd name="T13" fmla="*/ 1467 h 1750"/>
                <a:gd name="T14" fmla="*/ 282 w 1751"/>
                <a:gd name="T15" fmla="*/ 1749 h 1750"/>
                <a:gd name="T16" fmla="*/ 1468 w 1751"/>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0">
                  <a:moveTo>
                    <a:pt x="1468" y="1749"/>
                  </a:moveTo>
                  <a:cubicBezTo>
                    <a:pt x="1623" y="1749"/>
                    <a:pt x="1750" y="1623"/>
                    <a:pt x="1750" y="1467"/>
                  </a:cubicBezTo>
                  <a:cubicBezTo>
                    <a:pt x="1750" y="1072"/>
                    <a:pt x="1750" y="677"/>
                    <a:pt x="1750" y="282"/>
                  </a:cubicBezTo>
                  <a:cubicBezTo>
                    <a:pt x="1750" y="127"/>
                    <a:pt x="1623" y="0"/>
                    <a:pt x="1468" y="0"/>
                  </a:cubicBezTo>
                  <a:cubicBezTo>
                    <a:pt x="1073" y="0"/>
                    <a:pt x="678" y="0"/>
                    <a:pt x="282" y="0"/>
                  </a:cubicBezTo>
                  <a:cubicBezTo>
                    <a:pt x="127" y="0"/>
                    <a:pt x="0" y="127"/>
                    <a:pt x="0" y="282"/>
                  </a:cubicBezTo>
                  <a:cubicBezTo>
                    <a:pt x="0" y="677"/>
                    <a:pt x="0" y="1072"/>
                    <a:pt x="0" y="1467"/>
                  </a:cubicBezTo>
                  <a:cubicBezTo>
                    <a:pt x="0" y="1623"/>
                    <a:pt x="127" y="1749"/>
                    <a:pt x="282" y="1749"/>
                  </a:cubicBezTo>
                  <a:cubicBezTo>
                    <a:pt x="678" y="1749"/>
                    <a:pt x="1073" y="1749"/>
                    <a:pt x="1468" y="174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74" name="Group 73">
              <a:extLst>
                <a:ext uri="{FF2B5EF4-FFF2-40B4-BE49-F238E27FC236}">
                  <a16:creationId xmlns:a16="http://schemas.microsoft.com/office/drawing/2014/main" id="{BCC4723C-83D8-4FB7-3257-021A81FA2CF4}"/>
                </a:ext>
              </a:extLst>
            </p:cNvPr>
            <p:cNvGrpSpPr/>
            <p:nvPr/>
          </p:nvGrpSpPr>
          <p:grpSpPr>
            <a:xfrm>
              <a:off x="7947025" y="2292350"/>
              <a:ext cx="284163" cy="407988"/>
              <a:chOff x="7947025" y="2292350"/>
              <a:chExt cx="284163" cy="407988"/>
            </a:xfrm>
          </p:grpSpPr>
          <p:sp>
            <p:nvSpPr>
              <p:cNvPr id="75" name="Freeform 201">
                <a:extLst>
                  <a:ext uri="{FF2B5EF4-FFF2-40B4-BE49-F238E27FC236}">
                    <a16:creationId xmlns:a16="http://schemas.microsoft.com/office/drawing/2014/main" id="{0AA27319-8D2E-C583-8C29-7C45C2BAF6C0}"/>
                  </a:ext>
                </a:extLst>
              </p:cNvPr>
              <p:cNvSpPr>
                <a:spLocks noChangeArrowheads="1"/>
              </p:cNvSpPr>
              <p:nvPr/>
            </p:nvSpPr>
            <p:spPr bwMode="auto">
              <a:xfrm>
                <a:off x="7947025" y="2333625"/>
                <a:ext cx="284163" cy="366713"/>
              </a:xfrm>
              <a:custGeom>
                <a:avLst/>
                <a:gdLst>
                  <a:gd name="T0" fmla="*/ 564 w 791"/>
                  <a:gd name="T1" fmla="*/ 0 h 1017"/>
                  <a:gd name="T2" fmla="*/ 734 w 791"/>
                  <a:gd name="T3" fmla="*/ 0 h 1017"/>
                  <a:gd name="T4" fmla="*/ 790 w 791"/>
                  <a:gd name="T5" fmla="*/ 56 h 1017"/>
                  <a:gd name="T6" fmla="*/ 790 w 791"/>
                  <a:gd name="T7" fmla="*/ 959 h 1017"/>
                  <a:gd name="T8" fmla="*/ 734 w 791"/>
                  <a:gd name="T9" fmla="*/ 1016 h 1017"/>
                  <a:gd name="T10" fmla="*/ 56 w 791"/>
                  <a:gd name="T11" fmla="*/ 1016 h 1017"/>
                  <a:gd name="T12" fmla="*/ 0 w 791"/>
                  <a:gd name="T13" fmla="*/ 959 h 1017"/>
                  <a:gd name="T14" fmla="*/ 0 w 791"/>
                  <a:gd name="T15" fmla="*/ 56 h 1017"/>
                  <a:gd name="T16" fmla="*/ 56 w 791"/>
                  <a:gd name="T17" fmla="*/ 0 h 1017"/>
                  <a:gd name="T18" fmla="*/ 226 w 791"/>
                  <a:gd name="T19" fmla="*/ 0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1017">
                    <a:moveTo>
                      <a:pt x="564" y="0"/>
                    </a:moveTo>
                    <a:cubicBezTo>
                      <a:pt x="621" y="0"/>
                      <a:pt x="678" y="0"/>
                      <a:pt x="734" y="0"/>
                    </a:cubicBezTo>
                    <a:cubicBezTo>
                      <a:pt x="765" y="0"/>
                      <a:pt x="790" y="25"/>
                      <a:pt x="790" y="56"/>
                    </a:cubicBezTo>
                    <a:cubicBezTo>
                      <a:pt x="790" y="357"/>
                      <a:pt x="790" y="658"/>
                      <a:pt x="790" y="959"/>
                    </a:cubicBezTo>
                    <a:cubicBezTo>
                      <a:pt x="790" y="990"/>
                      <a:pt x="765" y="1016"/>
                      <a:pt x="734" y="1016"/>
                    </a:cubicBezTo>
                    <a:cubicBezTo>
                      <a:pt x="508" y="1016"/>
                      <a:pt x="282" y="1016"/>
                      <a:pt x="56" y="1016"/>
                    </a:cubicBezTo>
                    <a:cubicBezTo>
                      <a:pt x="25" y="1016"/>
                      <a:pt x="0" y="990"/>
                      <a:pt x="0" y="959"/>
                    </a:cubicBezTo>
                    <a:cubicBezTo>
                      <a:pt x="0" y="658"/>
                      <a:pt x="0" y="357"/>
                      <a:pt x="0" y="56"/>
                    </a:cubicBezTo>
                    <a:cubicBezTo>
                      <a:pt x="0" y="25"/>
                      <a:pt x="25" y="0"/>
                      <a:pt x="56" y="0"/>
                    </a:cubicBezTo>
                    <a:cubicBezTo>
                      <a:pt x="113" y="0"/>
                      <a:pt x="170" y="0"/>
                      <a:pt x="226"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76" name="Freeform 202">
                <a:extLst>
                  <a:ext uri="{FF2B5EF4-FFF2-40B4-BE49-F238E27FC236}">
                    <a16:creationId xmlns:a16="http://schemas.microsoft.com/office/drawing/2014/main" id="{E4AC1A77-C96D-2D9A-1B31-93BD554900F1}"/>
                  </a:ext>
                </a:extLst>
              </p:cNvPr>
              <p:cNvSpPr>
                <a:spLocks noChangeArrowheads="1"/>
              </p:cNvSpPr>
              <p:nvPr/>
            </p:nvSpPr>
            <p:spPr bwMode="auto">
              <a:xfrm>
                <a:off x="7997825" y="2292350"/>
                <a:ext cx="182563" cy="92075"/>
              </a:xfrm>
              <a:custGeom>
                <a:avLst/>
                <a:gdLst>
                  <a:gd name="T0" fmla="*/ 508 w 509"/>
                  <a:gd name="T1" fmla="*/ 197 h 255"/>
                  <a:gd name="T2" fmla="*/ 423 w 509"/>
                  <a:gd name="T3" fmla="*/ 113 h 255"/>
                  <a:gd name="T4" fmla="*/ 380 w 509"/>
                  <a:gd name="T5" fmla="*/ 113 h 255"/>
                  <a:gd name="T6" fmla="*/ 366 w 509"/>
                  <a:gd name="T7" fmla="*/ 100 h 255"/>
                  <a:gd name="T8" fmla="*/ 254 w 509"/>
                  <a:gd name="T9" fmla="*/ 0 h 255"/>
                  <a:gd name="T10" fmla="*/ 142 w 509"/>
                  <a:gd name="T11" fmla="*/ 100 h 255"/>
                  <a:gd name="T12" fmla="*/ 128 w 509"/>
                  <a:gd name="T13" fmla="*/ 113 h 255"/>
                  <a:gd name="T14" fmla="*/ 85 w 509"/>
                  <a:gd name="T15" fmla="*/ 113 h 255"/>
                  <a:gd name="T16" fmla="*/ 0 w 509"/>
                  <a:gd name="T17" fmla="*/ 197 h 255"/>
                  <a:gd name="T18" fmla="*/ 0 w 509"/>
                  <a:gd name="T19" fmla="*/ 226 h 255"/>
                  <a:gd name="T20" fmla="*/ 28 w 509"/>
                  <a:gd name="T21" fmla="*/ 254 h 255"/>
                  <a:gd name="T22" fmla="*/ 480 w 509"/>
                  <a:gd name="T23" fmla="*/ 254 h 255"/>
                  <a:gd name="T24" fmla="*/ 508 w 509"/>
                  <a:gd name="T25" fmla="*/ 226 h 255"/>
                  <a:gd name="T26" fmla="*/ 508 w 509"/>
                  <a:gd name="T27" fmla="*/ 19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9" h="255">
                    <a:moveTo>
                      <a:pt x="508" y="197"/>
                    </a:moveTo>
                    <a:cubicBezTo>
                      <a:pt x="508" y="151"/>
                      <a:pt x="470" y="113"/>
                      <a:pt x="423" y="113"/>
                    </a:cubicBezTo>
                    <a:cubicBezTo>
                      <a:pt x="409" y="113"/>
                      <a:pt x="395" y="113"/>
                      <a:pt x="380" y="113"/>
                    </a:cubicBezTo>
                    <a:cubicBezTo>
                      <a:pt x="373" y="113"/>
                      <a:pt x="367" y="107"/>
                      <a:pt x="366" y="100"/>
                    </a:cubicBezTo>
                    <a:cubicBezTo>
                      <a:pt x="359" y="44"/>
                      <a:pt x="308" y="0"/>
                      <a:pt x="254" y="0"/>
                    </a:cubicBezTo>
                    <a:cubicBezTo>
                      <a:pt x="200" y="0"/>
                      <a:pt x="149" y="44"/>
                      <a:pt x="142" y="100"/>
                    </a:cubicBezTo>
                    <a:cubicBezTo>
                      <a:pt x="141" y="107"/>
                      <a:pt x="135" y="113"/>
                      <a:pt x="128" y="113"/>
                    </a:cubicBezTo>
                    <a:cubicBezTo>
                      <a:pt x="114" y="113"/>
                      <a:pt x="100" y="113"/>
                      <a:pt x="85" y="113"/>
                    </a:cubicBezTo>
                    <a:cubicBezTo>
                      <a:pt x="38" y="113"/>
                      <a:pt x="0" y="151"/>
                      <a:pt x="0" y="197"/>
                    </a:cubicBezTo>
                    <a:cubicBezTo>
                      <a:pt x="0" y="206"/>
                      <a:pt x="0" y="216"/>
                      <a:pt x="0" y="226"/>
                    </a:cubicBezTo>
                    <a:cubicBezTo>
                      <a:pt x="0" y="241"/>
                      <a:pt x="13" y="254"/>
                      <a:pt x="28" y="254"/>
                    </a:cubicBezTo>
                    <a:cubicBezTo>
                      <a:pt x="179" y="254"/>
                      <a:pt x="330" y="254"/>
                      <a:pt x="480" y="254"/>
                    </a:cubicBezTo>
                    <a:cubicBezTo>
                      <a:pt x="495" y="254"/>
                      <a:pt x="508" y="241"/>
                      <a:pt x="508" y="226"/>
                    </a:cubicBezTo>
                    <a:cubicBezTo>
                      <a:pt x="508" y="216"/>
                      <a:pt x="508" y="206"/>
                      <a:pt x="508" y="19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77" name="Freeform 203">
                <a:extLst>
                  <a:ext uri="{FF2B5EF4-FFF2-40B4-BE49-F238E27FC236}">
                    <a16:creationId xmlns:a16="http://schemas.microsoft.com/office/drawing/2014/main" id="{18802779-069E-0CEF-D2F7-37C794E2E0D2}"/>
                  </a:ext>
                </a:extLst>
              </p:cNvPr>
              <p:cNvSpPr>
                <a:spLocks noChangeArrowheads="1"/>
              </p:cNvSpPr>
              <p:nvPr/>
            </p:nvSpPr>
            <p:spPr bwMode="auto">
              <a:xfrm>
                <a:off x="8080375" y="2444750"/>
                <a:ext cx="92075" cy="1588"/>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78" name="Freeform 204">
                <a:extLst>
                  <a:ext uri="{FF2B5EF4-FFF2-40B4-BE49-F238E27FC236}">
                    <a16:creationId xmlns:a16="http://schemas.microsoft.com/office/drawing/2014/main" id="{39C79BC9-598A-B64F-D893-2E504F6322BB}"/>
                  </a:ext>
                </a:extLst>
              </p:cNvPr>
              <p:cNvSpPr>
                <a:spLocks noChangeArrowheads="1"/>
              </p:cNvSpPr>
              <p:nvPr/>
            </p:nvSpPr>
            <p:spPr bwMode="auto">
              <a:xfrm>
                <a:off x="8080375" y="2322513"/>
                <a:ext cx="20638" cy="20637"/>
              </a:xfrm>
              <a:custGeom>
                <a:avLst/>
                <a:gdLst>
                  <a:gd name="T0" fmla="*/ 56 w 57"/>
                  <a:gd name="T1" fmla="*/ 29 h 58"/>
                  <a:gd name="T2" fmla="*/ 28 w 57"/>
                  <a:gd name="T3" fmla="*/ 57 h 58"/>
                  <a:gd name="T4" fmla="*/ 0 w 57"/>
                  <a:gd name="T5" fmla="*/ 29 h 58"/>
                  <a:gd name="T6" fmla="*/ 28 w 57"/>
                  <a:gd name="T7" fmla="*/ 0 h 58"/>
                  <a:gd name="T8" fmla="*/ 56 w 57"/>
                  <a:gd name="T9" fmla="*/ 29 h 58"/>
                </a:gdLst>
                <a:ahLst/>
                <a:cxnLst>
                  <a:cxn ang="0">
                    <a:pos x="T0" y="T1"/>
                  </a:cxn>
                  <a:cxn ang="0">
                    <a:pos x="T2" y="T3"/>
                  </a:cxn>
                  <a:cxn ang="0">
                    <a:pos x="T4" y="T5"/>
                  </a:cxn>
                  <a:cxn ang="0">
                    <a:pos x="T6" y="T7"/>
                  </a:cxn>
                  <a:cxn ang="0">
                    <a:pos x="T8" y="T9"/>
                  </a:cxn>
                </a:cxnLst>
                <a:rect l="0" t="0" r="r" b="b"/>
                <a:pathLst>
                  <a:path w="57" h="58">
                    <a:moveTo>
                      <a:pt x="56" y="29"/>
                    </a:moveTo>
                    <a:cubicBezTo>
                      <a:pt x="56" y="44"/>
                      <a:pt x="44" y="57"/>
                      <a:pt x="28" y="57"/>
                    </a:cubicBezTo>
                    <a:cubicBezTo>
                      <a:pt x="12" y="57"/>
                      <a:pt x="0" y="44"/>
                      <a:pt x="0" y="29"/>
                    </a:cubicBezTo>
                    <a:cubicBezTo>
                      <a:pt x="0" y="13"/>
                      <a:pt x="12" y="0"/>
                      <a:pt x="28" y="0"/>
                    </a:cubicBezTo>
                    <a:cubicBezTo>
                      <a:pt x="44" y="0"/>
                      <a:pt x="56" y="13"/>
                      <a:pt x="56" y="2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79" name="Freeform 205">
                <a:extLst>
                  <a:ext uri="{FF2B5EF4-FFF2-40B4-BE49-F238E27FC236}">
                    <a16:creationId xmlns:a16="http://schemas.microsoft.com/office/drawing/2014/main" id="{CA80675C-C397-16E8-E700-F38D9B019F6C}"/>
                  </a:ext>
                </a:extLst>
              </p:cNvPr>
              <p:cNvSpPr>
                <a:spLocks noChangeArrowheads="1"/>
              </p:cNvSpPr>
              <p:nvPr/>
            </p:nvSpPr>
            <p:spPr bwMode="auto">
              <a:xfrm>
                <a:off x="8008938" y="2430463"/>
                <a:ext cx="31750" cy="30162"/>
              </a:xfrm>
              <a:custGeom>
                <a:avLst/>
                <a:gdLst>
                  <a:gd name="T0" fmla="*/ 85 w 86"/>
                  <a:gd name="T1" fmla="*/ 42 h 85"/>
                  <a:gd name="T2" fmla="*/ 43 w 86"/>
                  <a:gd name="T3" fmla="*/ 84 h 85"/>
                  <a:gd name="T4" fmla="*/ 0 w 86"/>
                  <a:gd name="T5" fmla="*/ 42 h 85"/>
                  <a:gd name="T6" fmla="*/ 43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6"/>
                      <a:pt x="66" y="84"/>
                      <a:pt x="43" y="84"/>
                    </a:cubicBezTo>
                    <a:cubicBezTo>
                      <a:pt x="19" y="84"/>
                      <a:pt x="0" y="66"/>
                      <a:pt x="0" y="42"/>
                    </a:cubicBezTo>
                    <a:cubicBezTo>
                      <a:pt x="0" y="19"/>
                      <a:pt x="19" y="0"/>
                      <a:pt x="43" y="0"/>
                    </a:cubicBezTo>
                    <a:cubicBezTo>
                      <a:pt x="66" y="0"/>
                      <a:pt x="85" y="19"/>
                      <a:pt x="85" y="4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80" name="Freeform 206">
                <a:extLst>
                  <a:ext uri="{FF2B5EF4-FFF2-40B4-BE49-F238E27FC236}">
                    <a16:creationId xmlns:a16="http://schemas.microsoft.com/office/drawing/2014/main" id="{7C1C6F4E-1642-8DC1-7BC5-D0AEBF2F2789}"/>
                  </a:ext>
                </a:extLst>
              </p:cNvPr>
              <p:cNvSpPr>
                <a:spLocks noChangeArrowheads="1"/>
              </p:cNvSpPr>
              <p:nvPr/>
            </p:nvSpPr>
            <p:spPr bwMode="auto">
              <a:xfrm>
                <a:off x="8008938" y="2490788"/>
                <a:ext cx="31750" cy="31750"/>
              </a:xfrm>
              <a:custGeom>
                <a:avLst/>
                <a:gdLst>
                  <a:gd name="T0" fmla="*/ 85 w 86"/>
                  <a:gd name="T1" fmla="*/ 42 h 86"/>
                  <a:gd name="T2" fmla="*/ 43 w 86"/>
                  <a:gd name="T3" fmla="*/ 85 h 86"/>
                  <a:gd name="T4" fmla="*/ 0 w 86"/>
                  <a:gd name="T5" fmla="*/ 42 h 86"/>
                  <a:gd name="T6" fmla="*/ 43 w 86"/>
                  <a:gd name="T7" fmla="*/ 0 h 86"/>
                  <a:gd name="T8" fmla="*/ 85 w 86"/>
                  <a:gd name="T9" fmla="*/ 42 h 86"/>
                </a:gdLst>
                <a:ahLst/>
                <a:cxnLst>
                  <a:cxn ang="0">
                    <a:pos x="T0" y="T1"/>
                  </a:cxn>
                  <a:cxn ang="0">
                    <a:pos x="T2" y="T3"/>
                  </a:cxn>
                  <a:cxn ang="0">
                    <a:pos x="T4" y="T5"/>
                  </a:cxn>
                  <a:cxn ang="0">
                    <a:pos x="T6" y="T7"/>
                  </a:cxn>
                  <a:cxn ang="0">
                    <a:pos x="T8" y="T9"/>
                  </a:cxn>
                </a:cxnLst>
                <a:rect l="0" t="0" r="r" b="b"/>
                <a:pathLst>
                  <a:path w="86" h="86">
                    <a:moveTo>
                      <a:pt x="85" y="42"/>
                    </a:moveTo>
                    <a:cubicBezTo>
                      <a:pt x="85" y="66"/>
                      <a:pt x="66" y="85"/>
                      <a:pt x="43" y="85"/>
                    </a:cubicBezTo>
                    <a:cubicBezTo>
                      <a:pt x="19" y="85"/>
                      <a:pt x="0" y="66"/>
                      <a:pt x="0" y="42"/>
                    </a:cubicBezTo>
                    <a:cubicBezTo>
                      <a:pt x="0" y="19"/>
                      <a:pt x="19" y="0"/>
                      <a:pt x="43" y="0"/>
                    </a:cubicBezTo>
                    <a:cubicBezTo>
                      <a:pt x="66" y="0"/>
                      <a:pt x="85" y="19"/>
                      <a:pt x="85" y="4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81" name="Freeform 207">
                <a:extLst>
                  <a:ext uri="{FF2B5EF4-FFF2-40B4-BE49-F238E27FC236}">
                    <a16:creationId xmlns:a16="http://schemas.microsoft.com/office/drawing/2014/main" id="{FD46FC6B-5604-C9B1-FD95-8794221419CC}"/>
                  </a:ext>
                </a:extLst>
              </p:cNvPr>
              <p:cNvSpPr>
                <a:spLocks noChangeArrowheads="1"/>
              </p:cNvSpPr>
              <p:nvPr/>
            </p:nvSpPr>
            <p:spPr bwMode="auto">
              <a:xfrm>
                <a:off x="8008938" y="2551113"/>
                <a:ext cx="31750" cy="31750"/>
              </a:xfrm>
              <a:custGeom>
                <a:avLst/>
                <a:gdLst>
                  <a:gd name="T0" fmla="*/ 85 w 86"/>
                  <a:gd name="T1" fmla="*/ 43 h 86"/>
                  <a:gd name="T2" fmla="*/ 43 w 86"/>
                  <a:gd name="T3" fmla="*/ 85 h 86"/>
                  <a:gd name="T4" fmla="*/ 0 w 86"/>
                  <a:gd name="T5" fmla="*/ 43 h 86"/>
                  <a:gd name="T6" fmla="*/ 43 w 86"/>
                  <a:gd name="T7" fmla="*/ 0 h 86"/>
                  <a:gd name="T8" fmla="*/ 85 w 86"/>
                  <a:gd name="T9" fmla="*/ 43 h 86"/>
                </a:gdLst>
                <a:ahLst/>
                <a:cxnLst>
                  <a:cxn ang="0">
                    <a:pos x="T0" y="T1"/>
                  </a:cxn>
                  <a:cxn ang="0">
                    <a:pos x="T2" y="T3"/>
                  </a:cxn>
                  <a:cxn ang="0">
                    <a:pos x="T4" y="T5"/>
                  </a:cxn>
                  <a:cxn ang="0">
                    <a:pos x="T6" y="T7"/>
                  </a:cxn>
                  <a:cxn ang="0">
                    <a:pos x="T8" y="T9"/>
                  </a:cxn>
                </a:cxnLst>
                <a:rect l="0" t="0" r="r" b="b"/>
                <a:pathLst>
                  <a:path w="86" h="86">
                    <a:moveTo>
                      <a:pt x="85" y="43"/>
                    </a:moveTo>
                    <a:cubicBezTo>
                      <a:pt x="85" y="66"/>
                      <a:pt x="66" y="85"/>
                      <a:pt x="43" y="85"/>
                    </a:cubicBezTo>
                    <a:cubicBezTo>
                      <a:pt x="19" y="85"/>
                      <a:pt x="0" y="66"/>
                      <a:pt x="0" y="43"/>
                    </a:cubicBezTo>
                    <a:cubicBezTo>
                      <a:pt x="0" y="19"/>
                      <a:pt x="19" y="0"/>
                      <a:pt x="43" y="0"/>
                    </a:cubicBezTo>
                    <a:cubicBezTo>
                      <a:pt x="66" y="0"/>
                      <a:pt x="85" y="19"/>
                      <a:pt x="85" y="43"/>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82" name="Freeform 208">
                <a:extLst>
                  <a:ext uri="{FF2B5EF4-FFF2-40B4-BE49-F238E27FC236}">
                    <a16:creationId xmlns:a16="http://schemas.microsoft.com/office/drawing/2014/main" id="{681426A3-1866-7AB8-BD55-D84367EEFE47}"/>
                  </a:ext>
                </a:extLst>
              </p:cNvPr>
              <p:cNvSpPr>
                <a:spLocks noChangeArrowheads="1"/>
              </p:cNvSpPr>
              <p:nvPr/>
            </p:nvSpPr>
            <p:spPr bwMode="auto">
              <a:xfrm>
                <a:off x="8008938" y="2613025"/>
                <a:ext cx="31750" cy="30163"/>
              </a:xfrm>
              <a:custGeom>
                <a:avLst/>
                <a:gdLst>
                  <a:gd name="T0" fmla="*/ 85 w 86"/>
                  <a:gd name="T1" fmla="*/ 42 h 85"/>
                  <a:gd name="T2" fmla="*/ 43 w 86"/>
                  <a:gd name="T3" fmla="*/ 84 h 85"/>
                  <a:gd name="T4" fmla="*/ 0 w 86"/>
                  <a:gd name="T5" fmla="*/ 42 h 85"/>
                  <a:gd name="T6" fmla="*/ 43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5"/>
                      <a:pt x="66" y="84"/>
                      <a:pt x="43" y="84"/>
                    </a:cubicBezTo>
                    <a:cubicBezTo>
                      <a:pt x="19" y="84"/>
                      <a:pt x="0" y="65"/>
                      <a:pt x="0" y="42"/>
                    </a:cubicBezTo>
                    <a:cubicBezTo>
                      <a:pt x="0" y="19"/>
                      <a:pt x="19" y="0"/>
                      <a:pt x="43" y="0"/>
                    </a:cubicBezTo>
                    <a:cubicBezTo>
                      <a:pt x="66" y="0"/>
                      <a:pt x="85" y="19"/>
                      <a:pt x="85" y="4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83" name="Freeform 209">
                <a:extLst>
                  <a:ext uri="{FF2B5EF4-FFF2-40B4-BE49-F238E27FC236}">
                    <a16:creationId xmlns:a16="http://schemas.microsoft.com/office/drawing/2014/main" id="{07210444-82B2-1507-E6E5-B3E02B9F8850}"/>
                  </a:ext>
                </a:extLst>
              </p:cNvPr>
              <p:cNvSpPr>
                <a:spLocks noChangeArrowheads="1"/>
              </p:cNvSpPr>
              <p:nvPr/>
            </p:nvSpPr>
            <p:spPr bwMode="auto">
              <a:xfrm>
                <a:off x="8080375" y="2506663"/>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84" name="Freeform 210">
                <a:extLst>
                  <a:ext uri="{FF2B5EF4-FFF2-40B4-BE49-F238E27FC236}">
                    <a16:creationId xmlns:a16="http://schemas.microsoft.com/office/drawing/2014/main" id="{BF8F4061-3B9E-A895-91EF-607685187875}"/>
                  </a:ext>
                </a:extLst>
              </p:cNvPr>
              <p:cNvSpPr>
                <a:spLocks noChangeArrowheads="1"/>
              </p:cNvSpPr>
              <p:nvPr/>
            </p:nvSpPr>
            <p:spPr bwMode="auto">
              <a:xfrm>
                <a:off x="8080375" y="2566988"/>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85" name="Freeform 211">
                <a:extLst>
                  <a:ext uri="{FF2B5EF4-FFF2-40B4-BE49-F238E27FC236}">
                    <a16:creationId xmlns:a16="http://schemas.microsoft.com/office/drawing/2014/main" id="{8530E5C1-40B6-73AE-1352-0A2BB4C3F923}"/>
                  </a:ext>
                </a:extLst>
              </p:cNvPr>
              <p:cNvSpPr>
                <a:spLocks noChangeArrowheads="1"/>
              </p:cNvSpPr>
              <p:nvPr/>
            </p:nvSpPr>
            <p:spPr bwMode="auto">
              <a:xfrm>
                <a:off x="8080375" y="2627313"/>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cxnSp>
        <p:nvCxnSpPr>
          <p:cNvPr id="523" name="Elbow Connector 522">
            <a:extLst>
              <a:ext uri="{FF2B5EF4-FFF2-40B4-BE49-F238E27FC236}">
                <a16:creationId xmlns:a16="http://schemas.microsoft.com/office/drawing/2014/main" id="{2FBECB24-9F8F-C3CE-A3C0-D169AC68052D}"/>
              </a:ext>
            </a:extLst>
          </p:cNvPr>
          <p:cNvCxnSpPr>
            <a:cxnSpLocks/>
          </p:cNvCxnSpPr>
          <p:nvPr/>
        </p:nvCxnSpPr>
        <p:spPr>
          <a:xfrm rot="5400000" flipH="1" flipV="1">
            <a:off x="5749053" y="10853727"/>
            <a:ext cx="1418" cy="1632350"/>
          </a:xfrm>
          <a:prstGeom prst="bentConnector3">
            <a:avLst>
              <a:gd name="adj1" fmla="val 29110152"/>
            </a:avLst>
          </a:prstGeom>
          <a:ln w="50800">
            <a:solidFill>
              <a:schemeClr val="bg1">
                <a:lumMod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7DD3BF60-8286-379B-D961-EDDA1A5D10AB}"/>
              </a:ext>
            </a:extLst>
          </p:cNvPr>
          <p:cNvCxnSpPr>
            <a:cxnSpLocks/>
            <a:stCxn id="264" idx="1"/>
          </p:cNvCxnSpPr>
          <p:nvPr/>
        </p:nvCxnSpPr>
        <p:spPr>
          <a:xfrm flipH="1">
            <a:off x="5705695" y="10101889"/>
            <a:ext cx="1983539" cy="1156308"/>
          </a:xfrm>
          <a:prstGeom prst="line">
            <a:avLst/>
          </a:prstGeom>
          <a:ln w="50800">
            <a:solidFill>
              <a:schemeClr val="bg1">
                <a:lumMod val="50000"/>
              </a:schemeClr>
            </a:solidFill>
            <a:tailEnd type="none" w="sm" len="sm"/>
          </a:ln>
        </p:spPr>
        <p:style>
          <a:lnRef idx="1">
            <a:schemeClr val="accent1"/>
          </a:lnRef>
          <a:fillRef idx="0">
            <a:schemeClr val="accent1"/>
          </a:fillRef>
          <a:effectRef idx="0">
            <a:schemeClr val="accent1"/>
          </a:effectRef>
          <a:fontRef idx="minor">
            <a:schemeClr val="tx1"/>
          </a:fontRef>
        </p:style>
      </p:cxnSp>
      <p:sp>
        <p:nvSpPr>
          <p:cNvPr id="532" name="TextBox 531">
            <a:extLst>
              <a:ext uri="{FF2B5EF4-FFF2-40B4-BE49-F238E27FC236}">
                <a16:creationId xmlns:a16="http://schemas.microsoft.com/office/drawing/2014/main" id="{4BC4BDF1-6DD2-96D8-549B-F523EDFFCBE9}"/>
              </a:ext>
            </a:extLst>
          </p:cNvPr>
          <p:cNvSpPr txBox="1"/>
          <p:nvPr/>
        </p:nvSpPr>
        <p:spPr>
          <a:xfrm>
            <a:off x="5841232" y="10506422"/>
            <a:ext cx="1542410" cy="369332"/>
          </a:xfrm>
          <a:prstGeom prst="rect">
            <a:avLst/>
          </a:prstGeom>
          <a:solidFill>
            <a:schemeClr val="bg1"/>
          </a:solidFill>
        </p:spPr>
        <p:txBody>
          <a:bodyPr wrap="none" rtlCol="0">
            <a:spAutoFit/>
          </a:bodyPr>
          <a:lstStyle/>
          <a:p>
            <a:pPr defTabSz="1828800">
              <a:defRPr/>
            </a:pPr>
            <a:r>
              <a:rPr lang="en-GB" i="1">
                <a:latin typeface="Fira Sans" panose="020B0503050000020004" pitchFamily="34" charset="0"/>
              </a:rPr>
              <a:t>No Migration</a:t>
            </a:r>
          </a:p>
        </p:txBody>
      </p:sp>
      <p:cxnSp>
        <p:nvCxnSpPr>
          <p:cNvPr id="533" name="Straight Connector 532">
            <a:extLst>
              <a:ext uri="{FF2B5EF4-FFF2-40B4-BE49-F238E27FC236}">
                <a16:creationId xmlns:a16="http://schemas.microsoft.com/office/drawing/2014/main" id="{6557CD68-E3A0-9E28-8BFF-EF34549273CB}"/>
              </a:ext>
            </a:extLst>
          </p:cNvPr>
          <p:cNvCxnSpPr>
            <a:cxnSpLocks/>
            <a:stCxn id="264" idx="2"/>
          </p:cNvCxnSpPr>
          <p:nvPr/>
        </p:nvCxnSpPr>
        <p:spPr>
          <a:xfrm flipH="1">
            <a:off x="8837945" y="10425054"/>
            <a:ext cx="1" cy="1244137"/>
          </a:xfrm>
          <a:prstGeom prst="line">
            <a:avLst/>
          </a:prstGeom>
          <a:ln w="50800">
            <a:solidFill>
              <a:srgbClr val="00BEBD">
                <a:alpha val="76000"/>
              </a:srgbClr>
            </a:solidFill>
            <a:tailEnd type="triangle" w="sm" len="sm"/>
          </a:ln>
        </p:spPr>
        <p:style>
          <a:lnRef idx="1">
            <a:schemeClr val="accent1"/>
          </a:lnRef>
          <a:fillRef idx="0">
            <a:schemeClr val="accent1"/>
          </a:fillRef>
          <a:effectRef idx="0">
            <a:schemeClr val="accent1"/>
          </a:effectRef>
          <a:fontRef idx="minor">
            <a:schemeClr val="tx1"/>
          </a:fontRef>
        </p:style>
      </p:cxnSp>
      <p:sp>
        <p:nvSpPr>
          <p:cNvPr id="536" name="TextBox 535">
            <a:extLst>
              <a:ext uri="{FF2B5EF4-FFF2-40B4-BE49-F238E27FC236}">
                <a16:creationId xmlns:a16="http://schemas.microsoft.com/office/drawing/2014/main" id="{75D4D40C-1A51-42F6-E57B-5D0F590210E6}"/>
              </a:ext>
            </a:extLst>
          </p:cNvPr>
          <p:cNvSpPr txBox="1"/>
          <p:nvPr/>
        </p:nvSpPr>
        <p:spPr>
          <a:xfrm>
            <a:off x="8282112" y="10774712"/>
            <a:ext cx="1059906" cy="369332"/>
          </a:xfrm>
          <a:prstGeom prst="rect">
            <a:avLst/>
          </a:prstGeom>
          <a:solidFill>
            <a:schemeClr val="bg1"/>
          </a:solidFill>
        </p:spPr>
        <p:txBody>
          <a:bodyPr wrap="none" rtlCol="0">
            <a:spAutoFit/>
          </a:bodyPr>
          <a:lstStyle/>
          <a:p>
            <a:pPr defTabSz="1828800">
              <a:defRPr/>
            </a:pPr>
            <a:r>
              <a:rPr lang="en-GB" i="1">
                <a:latin typeface="Fira Sans" panose="020B0503050000020004" pitchFamily="34" charset="0"/>
              </a:rPr>
              <a:t>Refactor</a:t>
            </a:r>
          </a:p>
        </p:txBody>
      </p:sp>
      <p:cxnSp>
        <p:nvCxnSpPr>
          <p:cNvPr id="537" name="Straight Connector 536">
            <a:extLst>
              <a:ext uri="{FF2B5EF4-FFF2-40B4-BE49-F238E27FC236}">
                <a16:creationId xmlns:a16="http://schemas.microsoft.com/office/drawing/2014/main" id="{D84817A3-1EE8-E48C-3DFB-62089556848B}"/>
              </a:ext>
            </a:extLst>
          </p:cNvPr>
          <p:cNvCxnSpPr>
            <a:cxnSpLocks/>
          </p:cNvCxnSpPr>
          <p:nvPr/>
        </p:nvCxnSpPr>
        <p:spPr>
          <a:xfrm>
            <a:off x="9413414" y="12288334"/>
            <a:ext cx="1181236" cy="0"/>
          </a:xfrm>
          <a:prstGeom prst="line">
            <a:avLst/>
          </a:prstGeom>
          <a:ln w="50800">
            <a:solidFill>
              <a:srgbClr val="00BEBD">
                <a:alpha val="76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42" name="Straight Connector 541">
            <a:extLst>
              <a:ext uri="{FF2B5EF4-FFF2-40B4-BE49-F238E27FC236}">
                <a16:creationId xmlns:a16="http://schemas.microsoft.com/office/drawing/2014/main" id="{A79A8689-62D5-5082-356F-6997EFDB7095}"/>
              </a:ext>
            </a:extLst>
          </p:cNvPr>
          <p:cNvCxnSpPr>
            <a:cxnSpLocks/>
          </p:cNvCxnSpPr>
          <p:nvPr/>
        </p:nvCxnSpPr>
        <p:spPr>
          <a:xfrm>
            <a:off x="14262082" y="12288334"/>
            <a:ext cx="1390304" cy="0"/>
          </a:xfrm>
          <a:prstGeom prst="line">
            <a:avLst/>
          </a:prstGeom>
          <a:ln w="50800">
            <a:solidFill>
              <a:srgbClr val="00BEBD">
                <a:alpha val="76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58" name="Elbow Connector 557">
            <a:extLst>
              <a:ext uri="{FF2B5EF4-FFF2-40B4-BE49-F238E27FC236}">
                <a16:creationId xmlns:a16="http://schemas.microsoft.com/office/drawing/2014/main" id="{804B200A-730E-26BE-2763-351B3E69A59D}"/>
              </a:ext>
            </a:extLst>
          </p:cNvPr>
          <p:cNvCxnSpPr>
            <a:cxnSpLocks/>
            <a:endCxn id="267" idx="2"/>
          </p:cNvCxnSpPr>
          <p:nvPr/>
        </p:nvCxnSpPr>
        <p:spPr>
          <a:xfrm rot="5400000" flipH="1" flipV="1">
            <a:off x="16354607" y="10647874"/>
            <a:ext cx="2127342" cy="1153583"/>
          </a:xfrm>
          <a:prstGeom prst="bentConnector3">
            <a:avLst>
              <a:gd name="adj1" fmla="val 50000"/>
            </a:avLst>
          </a:prstGeom>
          <a:ln w="50800">
            <a:solidFill>
              <a:srgbClr val="00BEBD">
                <a:alpha val="76000"/>
              </a:srgbClr>
            </a:solidFill>
            <a:headEnd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71FC4698-12E0-F442-3C21-F3054DB0A2B2}"/>
              </a:ext>
            </a:extLst>
          </p:cNvPr>
          <p:cNvCxnSpPr>
            <a:cxnSpLocks/>
          </p:cNvCxnSpPr>
          <p:nvPr/>
        </p:nvCxnSpPr>
        <p:spPr>
          <a:xfrm>
            <a:off x="16090966" y="9288830"/>
            <a:ext cx="1268908" cy="0"/>
          </a:xfrm>
          <a:prstGeom prst="line">
            <a:avLst/>
          </a:prstGeom>
          <a:ln w="50800">
            <a:solidFill>
              <a:srgbClr val="950989">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250" name="Group 249">
            <a:extLst>
              <a:ext uri="{FF2B5EF4-FFF2-40B4-BE49-F238E27FC236}">
                <a16:creationId xmlns:a16="http://schemas.microsoft.com/office/drawing/2014/main" id="{2E175D38-6388-FF63-1DD7-B96299EED199}"/>
              </a:ext>
            </a:extLst>
          </p:cNvPr>
          <p:cNvGrpSpPr/>
          <p:nvPr/>
        </p:nvGrpSpPr>
        <p:grpSpPr>
          <a:xfrm>
            <a:off x="14948153" y="8673064"/>
            <a:ext cx="1142794" cy="1142796"/>
            <a:chOff x="7540310" y="3605237"/>
            <a:chExt cx="634770" cy="634771"/>
          </a:xfrm>
        </p:grpSpPr>
        <p:grpSp>
          <p:nvGrpSpPr>
            <p:cNvPr id="251" name="Group 250">
              <a:extLst>
                <a:ext uri="{FF2B5EF4-FFF2-40B4-BE49-F238E27FC236}">
                  <a16:creationId xmlns:a16="http://schemas.microsoft.com/office/drawing/2014/main" id="{00943325-3D5B-95AE-A585-E064FC83EB2B}"/>
                </a:ext>
              </a:extLst>
            </p:cNvPr>
            <p:cNvGrpSpPr/>
            <p:nvPr/>
          </p:nvGrpSpPr>
          <p:grpSpPr>
            <a:xfrm>
              <a:off x="7557603" y="3629159"/>
              <a:ext cx="279400" cy="279400"/>
              <a:chOff x="3017838" y="4122738"/>
              <a:chExt cx="279400" cy="279400"/>
            </a:xfrm>
          </p:grpSpPr>
          <p:sp>
            <p:nvSpPr>
              <p:cNvPr id="260" name="Freeform 38">
                <a:extLst>
                  <a:ext uri="{FF2B5EF4-FFF2-40B4-BE49-F238E27FC236}">
                    <a16:creationId xmlns:a16="http://schemas.microsoft.com/office/drawing/2014/main" id="{94035246-D0E4-50BC-BCD6-71B17998A530}"/>
                  </a:ext>
                </a:extLst>
              </p:cNvPr>
              <p:cNvSpPr>
                <a:spLocks noChangeArrowheads="1"/>
              </p:cNvSpPr>
              <p:nvPr/>
            </p:nvSpPr>
            <p:spPr bwMode="auto">
              <a:xfrm>
                <a:off x="3017838" y="4122738"/>
                <a:ext cx="279400" cy="279400"/>
              </a:xfrm>
              <a:custGeom>
                <a:avLst/>
                <a:gdLst>
                  <a:gd name="T0" fmla="*/ 285 w 776"/>
                  <a:gd name="T1" fmla="*/ 145 h 776"/>
                  <a:gd name="T2" fmla="*/ 324 w 776"/>
                  <a:gd name="T3" fmla="*/ 88 h 776"/>
                  <a:gd name="T4" fmla="*/ 324 w 776"/>
                  <a:gd name="T5" fmla="*/ 64 h 776"/>
                  <a:gd name="T6" fmla="*/ 387 w 776"/>
                  <a:gd name="T7" fmla="*/ 0 h 776"/>
                  <a:gd name="T8" fmla="*/ 451 w 776"/>
                  <a:gd name="T9" fmla="*/ 64 h 776"/>
                  <a:gd name="T10" fmla="*/ 451 w 776"/>
                  <a:gd name="T11" fmla="*/ 88 h 776"/>
                  <a:gd name="T12" fmla="*/ 489 w 776"/>
                  <a:gd name="T13" fmla="*/ 145 h 776"/>
                  <a:gd name="T14" fmla="*/ 556 w 776"/>
                  <a:gd name="T15" fmla="*/ 131 h 776"/>
                  <a:gd name="T16" fmla="*/ 574 w 776"/>
                  <a:gd name="T17" fmla="*/ 113 h 776"/>
                  <a:gd name="T18" fmla="*/ 662 w 776"/>
                  <a:gd name="T19" fmla="*/ 113 h 776"/>
                  <a:gd name="T20" fmla="*/ 662 w 776"/>
                  <a:gd name="T21" fmla="*/ 201 h 776"/>
                  <a:gd name="T22" fmla="*/ 644 w 776"/>
                  <a:gd name="T23" fmla="*/ 219 h 776"/>
                  <a:gd name="T24" fmla="*/ 630 w 776"/>
                  <a:gd name="T25" fmla="*/ 286 h 776"/>
                  <a:gd name="T26" fmla="*/ 687 w 776"/>
                  <a:gd name="T27" fmla="*/ 324 h 776"/>
                  <a:gd name="T28" fmla="*/ 711 w 776"/>
                  <a:gd name="T29" fmla="*/ 324 h 776"/>
                  <a:gd name="T30" fmla="*/ 775 w 776"/>
                  <a:gd name="T31" fmla="*/ 388 h 776"/>
                  <a:gd name="T32" fmla="*/ 711 w 776"/>
                  <a:gd name="T33" fmla="*/ 451 h 776"/>
                  <a:gd name="T34" fmla="*/ 687 w 776"/>
                  <a:gd name="T35" fmla="*/ 451 h 776"/>
                  <a:gd name="T36" fmla="*/ 630 w 776"/>
                  <a:gd name="T37" fmla="*/ 490 h 776"/>
                  <a:gd name="T38" fmla="*/ 644 w 776"/>
                  <a:gd name="T39" fmla="*/ 557 h 776"/>
                  <a:gd name="T40" fmla="*/ 662 w 776"/>
                  <a:gd name="T41" fmla="*/ 574 h 776"/>
                  <a:gd name="T42" fmla="*/ 662 w 776"/>
                  <a:gd name="T43" fmla="*/ 662 h 776"/>
                  <a:gd name="T44" fmla="*/ 574 w 776"/>
                  <a:gd name="T45" fmla="*/ 662 h 776"/>
                  <a:gd name="T46" fmla="*/ 556 w 776"/>
                  <a:gd name="T47" fmla="*/ 645 h 776"/>
                  <a:gd name="T48" fmla="*/ 489 w 776"/>
                  <a:gd name="T49" fmla="*/ 631 h 776"/>
                  <a:gd name="T50" fmla="*/ 451 w 776"/>
                  <a:gd name="T51" fmla="*/ 687 h 776"/>
                  <a:gd name="T52" fmla="*/ 451 w 776"/>
                  <a:gd name="T53" fmla="*/ 712 h 776"/>
                  <a:gd name="T54" fmla="*/ 387 w 776"/>
                  <a:gd name="T55" fmla="*/ 775 h 776"/>
                  <a:gd name="T56" fmla="*/ 324 w 776"/>
                  <a:gd name="T57" fmla="*/ 712 h 776"/>
                  <a:gd name="T58" fmla="*/ 324 w 776"/>
                  <a:gd name="T59" fmla="*/ 687 h 776"/>
                  <a:gd name="T60" fmla="*/ 285 w 776"/>
                  <a:gd name="T61" fmla="*/ 631 h 776"/>
                  <a:gd name="T62" fmla="*/ 218 w 776"/>
                  <a:gd name="T63" fmla="*/ 645 h 776"/>
                  <a:gd name="T64" fmla="*/ 201 w 776"/>
                  <a:gd name="T65" fmla="*/ 662 h 776"/>
                  <a:gd name="T66" fmla="*/ 113 w 776"/>
                  <a:gd name="T67" fmla="*/ 662 h 776"/>
                  <a:gd name="T68" fmla="*/ 113 w 776"/>
                  <a:gd name="T69" fmla="*/ 574 h 776"/>
                  <a:gd name="T70" fmla="*/ 130 w 776"/>
                  <a:gd name="T71" fmla="*/ 557 h 776"/>
                  <a:gd name="T72" fmla="*/ 144 w 776"/>
                  <a:gd name="T73" fmla="*/ 490 h 776"/>
                  <a:gd name="T74" fmla="*/ 88 w 776"/>
                  <a:gd name="T75" fmla="*/ 451 h 776"/>
                  <a:gd name="T76" fmla="*/ 63 w 776"/>
                  <a:gd name="T77" fmla="*/ 451 h 776"/>
                  <a:gd name="T78" fmla="*/ 0 w 776"/>
                  <a:gd name="T79" fmla="*/ 388 h 776"/>
                  <a:gd name="T80" fmla="*/ 63 w 776"/>
                  <a:gd name="T81" fmla="*/ 324 h 776"/>
                  <a:gd name="T82" fmla="*/ 88 w 776"/>
                  <a:gd name="T83" fmla="*/ 324 h 776"/>
                  <a:gd name="T84" fmla="*/ 144 w 776"/>
                  <a:gd name="T85" fmla="*/ 286 h 776"/>
                  <a:gd name="T86" fmla="*/ 130 w 776"/>
                  <a:gd name="T87" fmla="*/ 219 h 776"/>
                  <a:gd name="T88" fmla="*/ 113 w 776"/>
                  <a:gd name="T89" fmla="*/ 201 h 776"/>
                  <a:gd name="T90" fmla="*/ 113 w 776"/>
                  <a:gd name="T91" fmla="*/ 113 h 776"/>
                  <a:gd name="T92" fmla="*/ 201 w 776"/>
                  <a:gd name="T93" fmla="*/ 113 h 776"/>
                  <a:gd name="T94" fmla="*/ 218 w 776"/>
                  <a:gd name="T95" fmla="*/ 131 h 776"/>
                  <a:gd name="T96" fmla="*/ 285 w 776"/>
                  <a:gd name="T97" fmla="*/ 145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6" h="776">
                    <a:moveTo>
                      <a:pt x="285" y="145"/>
                    </a:moveTo>
                    <a:cubicBezTo>
                      <a:pt x="310" y="134"/>
                      <a:pt x="324" y="113"/>
                      <a:pt x="324" y="88"/>
                    </a:cubicBezTo>
                    <a:cubicBezTo>
                      <a:pt x="324" y="80"/>
                      <a:pt x="324" y="72"/>
                      <a:pt x="324" y="64"/>
                    </a:cubicBezTo>
                    <a:cubicBezTo>
                      <a:pt x="324" y="29"/>
                      <a:pt x="352" y="0"/>
                      <a:pt x="387" y="0"/>
                    </a:cubicBezTo>
                    <a:cubicBezTo>
                      <a:pt x="422" y="0"/>
                      <a:pt x="451" y="29"/>
                      <a:pt x="451" y="64"/>
                    </a:cubicBezTo>
                    <a:cubicBezTo>
                      <a:pt x="451" y="72"/>
                      <a:pt x="451" y="80"/>
                      <a:pt x="451" y="88"/>
                    </a:cubicBezTo>
                    <a:cubicBezTo>
                      <a:pt x="451" y="113"/>
                      <a:pt x="465" y="138"/>
                      <a:pt x="489" y="145"/>
                    </a:cubicBezTo>
                    <a:cubicBezTo>
                      <a:pt x="514" y="155"/>
                      <a:pt x="539" y="148"/>
                      <a:pt x="556" y="131"/>
                    </a:cubicBezTo>
                    <a:cubicBezTo>
                      <a:pt x="562" y="125"/>
                      <a:pt x="568" y="119"/>
                      <a:pt x="574" y="113"/>
                    </a:cubicBezTo>
                    <a:cubicBezTo>
                      <a:pt x="599" y="88"/>
                      <a:pt x="637" y="88"/>
                      <a:pt x="662" y="113"/>
                    </a:cubicBezTo>
                    <a:cubicBezTo>
                      <a:pt x="687" y="138"/>
                      <a:pt x="687" y="176"/>
                      <a:pt x="662" y="201"/>
                    </a:cubicBezTo>
                    <a:cubicBezTo>
                      <a:pt x="656" y="207"/>
                      <a:pt x="650" y="213"/>
                      <a:pt x="644" y="219"/>
                    </a:cubicBezTo>
                    <a:cubicBezTo>
                      <a:pt x="627" y="236"/>
                      <a:pt x="620" y="265"/>
                      <a:pt x="630" y="286"/>
                    </a:cubicBezTo>
                    <a:cubicBezTo>
                      <a:pt x="641" y="310"/>
                      <a:pt x="662" y="324"/>
                      <a:pt x="687" y="324"/>
                    </a:cubicBezTo>
                    <a:cubicBezTo>
                      <a:pt x="695" y="324"/>
                      <a:pt x="703" y="324"/>
                      <a:pt x="711" y="324"/>
                    </a:cubicBezTo>
                    <a:cubicBezTo>
                      <a:pt x="746" y="324"/>
                      <a:pt x="775" y="353"/>
                      <a:pt x="775" y="388"/>
                    </a:cubicBezTo>
                    <a:cubicBezTo>
                      <a:pt x="775" y="423"/>
                      <a:pt x="746" y="451"/>
                      <a:pt x="711" y="451"/>
                    </a:cubicBezTo>
                    <a:cubicBezTo>
                      <a:pt x="703" y="451"/>
                      <a:pt x="695" y="451"/>
                      <a:pt x="687" y="451"/>
                    </a:cubicBezTo>
                    <a:cubicBezTo>
                      <a:pt x="662" y="451"/>
                      <a:pt x="637" y="465"/>
                      <a:pt x="630" y="490"/>
                    </a:cubicBezTo>
                    <a:cubicBezTo>
                      <a:pt x="620" y="515"/>
                      <a:pt x="627" y="539"/>
                      <a:pt x="644" y="557"/>
                    </a:cubicBezTo>
                    <a:cubicBezTo>
                      <a:pt x="650" y="563"/>
                      <a:pt x="656" y="569"/>
                      <a:pt x="662" y="574"/>
                    </a:cubicBezTo>
                    <a:cubicBezTo>
                      <a:pt x="687" y="599"/>
                      <a:pt x="687" y="638"/>
                      <a:pt x="662" y="662"/>
                    </a:cubicBezTo>
                    <a:cubicBezTo>
                      <a:pt x="637" y="687"/>
                      <a:pt x="599" y="687"/>
                      <a:pt x="574" y="662"/>
                    </a:cubicBezTo>
                    <a:cubicBezTo>
                      <a:pt x="568" y="657"/>
                      <a:pt x="562" y="651"/>
                      <a:pt x="556" y="645"/>
                    </a:cubicBezTo>
                    <a:cubicBezTo>
                      <a:pt x="539" y="627"/>
                      <a:pt x="511" y="620"/>
                      <a:pt x="489" y="631"/>
                    </a:cubicBezTo>
                    <a:cubicBezTo>
                      <a:pt x="465" y="641"/>
                      <a:pt x="451" y="662"/>
                      <a:pt x="451" y="687"/>
                    </a:cubicBezTo>
                    <a:cubicBezTo>
                      <a:pt x="451" y="696"/>
                      <a:pt x="451" y="704"/>
                      <a:pt x="451" y="712"/>
                    </a:cubicBezTo>
                    <a:cubicBezTo>
                      <a:pt x="451" y="747"/>
                      <a:pt x="422" y="775"/>
                      <a:pt x="387" y="775"/>
                    </a:cubicBezTo>
                    <a:cubicBezTo>
                      <a:pt x="352" y="775"/>
                      <a:pt x="324" y="747"/>
                      <a:pt x="324" y="712"/>
                    </a:cubicBezTo>
                    <a:cubicBezTo>
                      <a:pt x="324" y="704"/>
                      <a:pt x="324" y="696"/>
                      <a:pt x="324" y="687"/>
                    </a:cubicBezTo>
                    <a:cubicBezTo>
                      <a:pt x="324" y="662"/>
                      <a:pt x="310" y="638"/>
                      <a:pt x="285" y="631"/>
                    </a:cubicBezTo>
                    <a:cubicBezTo>
                      <a:pt x="261" y="620"/>
                      <a:pt x="236" y="627"/>
                      <a:pt x="218" y="645"/>
                    </a:cubicBezTo>
                    <a:cubicBezTo>
                      <a:pt x="212" y="651"/>
                      <a:pt x="206" y="657"/>
                      <a:pt x="201" y="662"/>
                    </a:cubicBezTo>
                    <a:cubicBezTo>
                      <a:pt x="176" y="687"/>
                      <a:pt x="137" y="687"/>
                      <a:pt x="113" y="662"/>
                    </a:cubicBezTo>
                    <a:cubicBezTo>
                      <a:pt x="88" y="638"/>
                      <a:pt x="88" y="599"/>
                      <a:pt x="113" y="574"/>
                    </a:cubicBezTo>
                    <a:cubicBezTo>
                      <a:pt x="118" y="569"/>
                      <a:pt x="124" y="563"/>
                      <a:pt x="130" y="557"/>
                    </a:cubicBezTo>
                    <a:cubicBezTo>
                      <a:pt x="148" y="539"/>
                      <a:pt x="155" y="511"/>
                      <a:pt x="144" y="490"/>
                    </a:cubicBezTo>
                    <a:cubicBezTo>
                      <a:pt x="134" y="465"/>
                      <a:pt x="113" y="451"/>
                      <a:pt x="88" y="451"/>
                    </a:cubicBezTo>
                    <a:cubicBezTo>
                      <a:pt x="79" y="451"/>
                      <a:pt x="71" y="451"/>
                      <a:pt x="63" y="451"/>
                    </a:cubicBezTo>
                    <a:cubicBezTo>
                      <a:pt x="28" y="451"/>
                      <a:pt x="0" y="423"/>
                      <a:pt x="0" y="388"/>
                    </a:cubicBezTo>
                    <a:cubicBezTo>
                      <a:pt x="0" y="353"/>
                      <a:pt x="28" y="324"/>
                      <a:pt x="63" y="324"/>
                    </a:cubicBezTo>
                    <a:cubicBezTo>
                      <a:pt x="71" y="324"/>
                      <a:pt x="79" y="324"/>
                      <a:pt x="88" y="324"/>
                    </a:cubicBezTo>
                    <a:cubicBezTo>
                      <a:pt x="113" y="324"/>
                      <a:pt x="137" y="310"/>
                      <a:pt x="144" y="286"/>
                    </a:cubicBezTo>
                    <a:cubicBezTo>
                      <a:pt x="155" y="261"/>
                      <a:pt x="148" y="236"/>
                      <a:pt x="130" y="219"/>
                    </a:cubicBezTo>
                    <a:cubicBezTo>
                      <a:pt x="124" y="213"/>
                      <a:pt x="118" y="207"/>
                      <a:pt x="113" y="201"/>
                    </a:cubicBezTo>
                    <a:cubicBezTo>
                      <a:pt x="88" y="176"/>
                      <a:pt x="88" y="138"/>
                      <a:pt x="113" y="113"/>
                    </a:cubicBezTo>
                    <a:cubicBezTo>
                      <a:pt x="137" y="88"/>
                      <a:pt x="176" y="88"/>
                      <a:pt x="201" y="113"/>
                    </a:cubicBezTo>
                    <a:cubicBezTo>
                      <a:pt x="206" y="119"/>
                      <a:pt x="212" y="125"/>
                      <a:pt x="218" y="131"/>
                    </a:cubicBezTo>
                    <a:cubicBezTo>
                      <a:pt x="236" y="148"/>
                      <a:pt x="264" y="155"/>
                      <a:pt x="285" y="14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61" name="Freeform 39">
                <a:extLst>
                  <a:ext uri="{FF2B5EF4-FFF2-40B4-BE49-F238E27FC236}">
                    <a16:creationId xmlns:a16="http://schemas.microsoft.com/office/drawing/2014/main" id="{79D5F249-8512-C053-173E-4A7EA3119051}"/>
                  </a:ext>
                </a:extLst>
              </p:cNvPr>
              <p:cNvSpPr>
                <a:spLocks noChangeArrowheads="1"/>
              </p:cNvSpPr>
              <p:nvPr/>
            </p:nvSpPr>
            <p:spPr bwMode="auto">
              <a:xfrm>
                <a:off x="3119438" y="4222750"/>
                <a:ext cx="76200" cy="76200"/>
              </a:xfrm>
              <a:custGeom>
                <a:avLst/>
                <a:gdLst>
                  <a:gd name="T0" fmla="*/ 211 w 212"/>
                  <a:gd name="T1" fmla="*/ 106 h 212"/>
                  <a:gd name="T2" fmla="*/ 197 w 212"/>
                  <a:gd name="T3" fmla="*/ 159 h 212"/>
                  <a:gd name="T4" fmla="*/ 158 w 212"/>
                  <a:gd name="T5" fmla="*/ 197 h 212"/>
                  <a:gd name="T6" fmla="*/ 105 w 212"/>
                  <a:gd name="T7" fmla="*/ 211 h 212"/>
                  <a:gd name="T8" fmla="*/ 52 w 212"/>
                  <a:gd name="T9" fmla="*/ 197 h 212"/>
                  <a:gd name="T10" fmla="*/ 14 w 212"/>
                  <a:gd name="T11" fmla="*/ 159 h 212"/>
                  <a:gd name="T12" fmla="*/ 0 w 212"/>
                  <a:gd name="T13" fmla="*/ 106 h 212"/>
                  <a:gd name="T14" fmla="*/ 14 w 212"/>
                  <a:gd name="T15" fmla="*/ 53 h 212"/>
                  <a:gd name="T16" fmla="*/ 52 w 212"/>
                  <a:gd name="T17" fmla="*/ 14 h 212"/>
                  <a:gd name="T18" fmla="*/ 105 w 212"/>
                  <a:gd name="T19" fmla="*/ 0 h 212"/>
                  <a:gd name="T20" fmla="*/ 158 w 212"/>
                  <a:gd name="T21" fmla="*/ 14 h 212"/>
                  <a:gd name="T22" fmla="*/ 197 w 212"/>
                  <a:gd name="T23" fmla="*/ 53 h 212"/>
                  <a:gd name="T24" fmla="*/ 211 w 212"/>
                  <a:gd name="T25" fmla="*/ 10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2" h="212">
                    <a:moveTo>
                      <a:pt x="211" y="106"/>
                    </a:moveTo>
                    <a:cubicBezTo>
                      <a:pt x="211" y="125"/>
                      <a:pt x="206" y="143"/>
                      <a:pt x="197" y="159"/>
                    </a:cubicBezTo>
                    <a:cubicBezTo>
                      <a:pt x="187" y="176"/>
                      <a:pt x="175" y="188"/>
                      <a:pt x="158" y="197"/>
                    </a:cubicBezTo>
                    <a:cubicBezTo>
                      <a:pt x="141" y="207"/>
                      <a:pt x="124" y="211"/>
                      <a:pt x="105" y="211"/>
                    </a:cubicBezTo>
                    <a:cubicBezTo>
                      <a:pt x="85" y="211"/>
                      <a:pt x="68" y="207"/>
                      <a:pt x="52" y="197"/>
                    </a:cubicBezTo>
                    <a:cubicBezTo>
                      <a:pt x="35" y="188"/>
                      <a:pt x="24" y="176"/>
                      <a:pt x="14" y="159"/>
                    </a:cubicBezTo>
                    <a:cubicBezTo>
                      <a:pt x="4" y="143"/>
                      <a:pt x="0" y="126"/>
                      <a:pt x="0" y="106"/>
                    </a:cubicBezTo>
                    <a:cubicBezTo>
                      <a:pt x="0" y="87"/>
                      <a:pt x="4" y="70"/>
                      <a:pt x="14" y="53"/>
                    </a:cubicBezTo>
                    <a:cubicBezTo>
                      <a:pt x="24" y="36"/>
                      <a:pt x="35" y="24"/>
                      <a:pt x="52" y="14"/>
                    </a:cubicBezTo>
                    <a:cubicBezTo>
                      <a:pt x="68" y="5"/>
                      <a:pt x="86" y="0"/>
                      <a:pt x="105" y="0"/>
                    </a:cubicBezTo>
                    <a:cubicBezTo>
                      <a:pt x="125" y="0"/>
                      <a:pt x="141" y="5"/>
                      <a:pt x="158" y="14"/>
                    </a:cubicBezTo>
                    <a:cubicBezTo>
                      <a:pt x="175" y="24"/>
                      <a:pt x="187" y="36"/>
                      <a:pt x="197" y="53"/>
                    </a:cubicBezTo>
                    <a:cubicBezTo>
                      <a:pt x="206" y="70"/>
                      <a:pt x="211" y="86"/>
                      <a:pt x="211" y="10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grpSp>
          <p:nvGrpSpPr>
            <p:cNvPr id="252" name="Group 251">
              <a:extLst>
                <a:ext uri="{FF2B5EF4-FFF2-40B4-BE49-F238E27FC236}">
                  <a16:creationId xmlns:a16="http://schemas.microsoft.com/office/drawing/2014/main" id="{B5206944-2AA0-28D2-F469-E3C755C2D802}"/>
                </a:ext>
              </a:extLst>
            </p:cNvPr>
            <p:cNvGrpSpPr/>
            <p:nvPr/>
          </p:nvGrpSpPr>
          <p:grpSpPr>
            <a:xfrm>
              <a:off x="7708996" y="3787971"/>
              <a:ext cx="397718" cy="357946"/>
              <a:chOff x="4852988" y="2201863"/>
              <a:chExt cx="508000" cy="457200"/>
            </a:xfrm>
          </p:grpSpPr>
          <p:sp>
            <p:nvSpPr>
              <p:cNvPr id="254" name="Freeform 114">
                <a:extLst>
                  <a:ext uri="{FF2B5EF4-FFF2-40B4-BE49-F238E27FC236}">
                    <a16:creationId xmlns:a16="http://schemas.microsoft.com/office/drawing/2014/main" id="{B830E770-D51A-7F81-5D2D-C73B549AF16D}"/>
                  </a:ext>
                </a:extLst>
              </p:cNvPr>
              <p:cNvSpPr>
                <a:spLocks noChangeArrowheads="1"/>
              </p:cNvSpPr>
              <p:nvPr/>
            </p:nvSpPr>
            <p:spPr bwMode="auto">
              <a:xfrm>
                <a:off x="4852988" y="2201863"/>
                <a:ext cx="508000" cy="177800"/>
              </a:xfrm>
              <a:custGeom>
                <a:avLst/>
                <a:gdLst>
                  <a:gd name="T0" fmla="*/ 0 w 1410"/>
                  <a:gd name="T1" fmla="*/ 247 h 494"/>
                  <a:gd name="T2" fmla="*/ 704 w 1410"/>
                  <a:gd name="T3" fmla="*/ 0 h 494"/>
                  <a:gd name="T4" fmla="*/ 1409 w 1410"/>
                  <a:gd name="T5" fmla="*/ 247 h 494"/>
                  <a:gd name="T6" fmla="*/ 704 w 1410"/>
                  <a:gd name="T7" fmla="*/ 493 h 494"/>
                  <a:gd name="T8" fmla="*/ 0 w 1410"/>
                  <a:gd name="T9" fmla="*/ 247 h 494"/>
                </a:gdLst>
                <a:ahLst/>
                <a:cxnLst>
                  <a:cxn ang="0">
                    <a:pos x="T0" y="T1"/>
                  </a:cxn>
                  <a:cxn ang="0">
                    <a:pos x="T2" y="T3"/>
                  </a:cxn>
                  <a:cxn ang="0">
                    <a:pos x="T4" y="T5"/>
                  </a:cxn>
                  <a:cxn ang="0">
                    <a:pos x="T6" y="T7"/>
                  </a:cxn>
                  <a:cxn ang="0">
                    <a:pos x="T8" y="T9"/>
                  </a:cxn>
                </a:cxnLst>
                <a:rect l="0" t="0" r="r" b="b"/>
                <a:pathLst>
                  <a:path w="1410" h="494">
                    <a:moveTo>
                      <a:pt x="0" y="247"/>
                    </a:moveTo>
                    <a:cubicBezTo>
                      <a:pt x="0" y="110"/>
                      <a:pt x="316" y="0"/>
                      <a:pt x="704" y="0"/>
                    </a:cubicBezTo>
                    <a:cubicBezTo>
                      <a:pt x="1091" y="0"/>
                      <a:pt x="1409" y="110"/>
                      <a:pt x="1409" y="247"/>
                    </a:cubicBezTo>
                    <a:cubicBezTo>
                      <a:pt x="1409" y="384"/>
                      <a:pt x="1091" y="493"/>
                      <a:pt x="704" y="493"/>
                    </a:cubicBezTo>
                    <a:cubicBezTo>
                      <a:pt x="316" y="493"/>
                      <a:pt x="0" y="381"/>
                      <a:pt x="0" y="247"/>
                    </a:cubicBezTo>
                  </a:path>
                </a:pathLst>
              </a:custGeom>
              <a:solidFill>
                <a:schemeClr val="bg1"/>
              </a:solidFill>
              <a:ln w="15875" cap="flat">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55" name="Freeform 115">
                <a:extLst>
                  <a:ext uri="{FF2B5EF4-FFF2-40B4-BE49-F238E27FC236}">
                    <a16:creationId xmlns:a16="http://schemas.microsoft.com/office/drawing/2014/main" id="{AA0F7522-5260-3918-4D1E-DDE78F98B01B}"/>
                  </a:ext>
                </a:extLst>
              </p:cNvPr>
              <p:cNvSpPr>
                <a:spLocks noChangeArrowheads="1"/>
              </p:cNvSpPr>
              <p:nvPr/>
            </p:nvSpPr>
            <p:spPr bwMode="auto">
              <a:xfrm>
                <a:off x="5043488" y="2271713"/>
                <a:ext cx="127000" cy="38100"/>
              </a:xfrm>
              <a:custGeom>
                <a:avLst/>
                <a:gdLst>
                  <a:gd name="T0" fmla="*/ 352 w 353"/>
                  <a:gd name="T1" fmla="*/ 53 h 107"/>
                  <a:gd name="T2" fmla="*/ 329 w 353"/>
                  <a:gd name="T3" fmla="*/ 79 h 107"/>
                  <a:gd name="T4" fmla="*/ 264 w 353"/>
                  <a:gd name="T5" fmla="*/ 99 h 107"/>
                  <a:gd name="T6" fmla="*/ 176 w 353"/>
                  <a:gd name="T7" fmla="*/ 106 h 107"/>
                  <a:gd name="T8" fmla="*/ 88 w 353"/>
                  <a:gd name="T9" fmla="*/ 99 h 107"/>
                  <a:gd name="T10" fmla="*/ 24 w 353"/>
                  <a:gd name="T11" fmla="*/ 79 h 107"/>
                  <a:gd name="T12" fmla="*/ 0 w 353"/>
                  <a:gd name="T13" fmla="*/ 53 h 107"/>
                  <a:gd name="T14" fmla="*/ 24 w 353"/>
                  <a:gd name="T15" fmla="*/ 27 h 107"/>
                  <a:gd name="T16" fmla="*/ 88 w 353"/>
                  <a:gd name="T17" fmla="*/ 7 h 107"/>
                  <a:gd name="T18" fmla="*/ 176 w 353"/>
                  <a:gd name="T19" fmla="*/ 0 h 107"/>
                  <a:gd name="T20" fmla="*/ 264 w 353"/>
                  <a:gd name="T21" fmla="*/ 7 h 107"/>
                  <a:gd name="T22" fmla="*/ 329 w 353"/>
                  <a:gd name="T23" fmla="*/ 27 h 107"/>
                  <a:gd name="T24" fmla="*/ 352 w 353"/>
                  <a:gd name="T25" fmla="*/ 5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3" h="107">
                    <a:moveTo>
                      <a:pt x="352" y="53"/>
                    </a:moveTo>
                    <a:cubicBezTo>
                      <a:pt x="352" y="63"/>
                      <a:pt x="345" y="70"/>
                      <a:pt x="329" y="79"/>
                    </a:cubicBezTo>
                    <a:cubicBezTo>
                      <a:pt x="313" y="87"/>
                      <a:pt x="292" y="94"/>
                      <a:pt x="264" y="99"/>
                    </a:cubicBezTo>
                    <a:cubicBezTo>
                      <a:pt x="235" y="104"/>
                      <a:pt x="208" y="106"/>
                      <a:pt x="176" y="106"/>
                    </a:cubicBezTo>
                    <a:cubicBezTo>
                      <a:pt x="143" y="106"/>
                      <a:pt x="116" y="104"/>
                      <a:pt x="88" y="99"/>
                    </a:cubicBezTo>
                    <a:cubicBezTo>
                      <a:pt x="60" y="94"/>
                      <a:pt x="40" y="87"/>
                      <a:pt x="24" y="79"/>
                    </a:cubicBezTo>
                    <a:cubicBezTo>
                      <a:pt x="8" y="70"/>
                      <a:pt x="0" y="63"/>
                      <a:pt x="0" y="53"/>
                    </a:cubicBezTo>
                    <a:cubicBezTo>
                      <a:pt x="0" y="43"/>
                      <a:pt x="8" y="35"/>
                      <a:pt x="24" y="27"/>
                    </a:cubicBezTo>
                    <a:cubicBezTo>
                      <a:pt x="40" y="18"/>
                      <a:pt x="60" y="12"/>
                      <a:pt x="88" y="7"/>
                    </a:cubicBezTo>
                    <a:cubicBezTo>
                      <a:pt x="116" y="2"/>
                      <a:pt x="144" y="0"/>
                      <a:pt x="176" y="0"/>
                    </a:cubicBezTo>
                    <a:cubicBezTo>
                      <a:pt x="209" y="0"/>
                      <a:pt x="235" y="2"/>
                      <a:pt x="264" y="7"/>
                    </a:cubicBezTo>
                    <a:cubicBezTo>
                      <a:pt x="292" y="12"/>
                      <a:pt x="313" y="18"/>
                      <a:pt x="329" y="27"/>
                    </a:cubicBezTo>
                    <a:cubicBezTo>
                      <a:pt x="345" y="35"/>
                      <a:pt x="352" y="43"/>
                      <a:pt x="352" y="53"/>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256" name="Freeform 116">
                <a:extLst>
                  <a:ext uri="{FF2B5EF4-FFF2-40B4-BE49-F238E27FC236}">
                    <a16:creationId xmlns:a16="http://schemas.microsoft.com/office/drawing/2014/main" id="{B3E7B424-D3D2-711C-19FE-9AA800A25CCE}"/>
                  </a:ext>
                </a:extLst>
              </p:cNvPr>
              <p:cNvSpPr>
                <a:spLocks noChangeArrowheads="1"/>
              </p:cNvSpPr>
              <p:nvPr/>
            </p:nvSpPr>
            <p:spPr bwMode="auto">
              <a:xfrm>
                <a:off x="4902200" y="2371725"/>
                <a:ext cx="406400" cy="201613"/>
              </a:xfrm>
              <a:custGeom>
                <a:avLst/>
                <a:gdLst>
                  <a:gd name="T0" fmla="*/ 848 w 1127"/>
                  <a:gd name="T1" fmla="*/ 0 h 558"/>
                  <a:gd name="T2" fmla="*/ 848 w 1127"/>
                  <a:gd name="T3" fmla="*/ 145 h 558"/>
                  <a:gd name="T4" fmla="*/ 855 w 1127"/>
                  <a:gd name="T5" fmla="*/ 152 h 558"/>
                  <a:gd name="T6" fmla="*/ 1087 w 1127"/>
                  <a:gd name="T7" fmla="*/ 152 h 558"/>
                  <a:gd name="T8" fmla="*/ 1102 w 1127"/>
                  <a:gd name="T9" fmla="*/ 205 h 558"/>
                  <a:gd name="T10" fmla="*/ 595 w 1127"/>
                  <a:gd name="T11" fmla="*/ 543 h 558"/>
                  <a:gd name="T12" fmla="*/ 531 w 1127"/>
                  <a:gd name="T13" fmla="*/ 543 h 558"/>
                  <a:gd name="T14" fmla="*/ 24 w 1127"/>
                  <a:gd name="T15" fmla="*/ 205 h 558"/>
                  <a:gd name="T16" fmla="*/ 38 w 1127"/>
                  <a:gd name="T17" fmla="*/ 152 h 558"/>
                  <a:gd name="T18" fmla="*/ 271 w 1127"/>
                  <a:gd name="T19" fmla="*/ 152 h 558"/>
                  <a:gd name="T20" fmla="*/ 278 w 1127"/>
                  <a:gd name="T21" fmla="*/ 145 h 558"/>
                  <a:gd name="T22" fmla="*/ 278 w 1127"/>
                  <a:gd name="T23"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7" h="558">
                    <a:moveTo>
                      <a:pt x="848" y="0"/>
                    </a:moveTo>
                    <a:cubicBezTo>
                      <a:pt x="848" y="48"/>
                      <a:pt x="848" y="96"/>
                      <a:pt x="848" y="145"/>
                    </a:cubicBezTo>
                    <a:cubicBezTo>
                      <a:pt x="848" y="148"/>
                      <a:pt x="852" y="152"/>
                      <a:pt x="855" y="152"/>
                    </a:cubicBezTo>
                    <a:cubicBezTo>
                      <a:pt x="932" y="152"/>
                      <a:pt x="1009" y="152"/>
                      <a:pt x="1087" y="152"/>
                    </a:cubicBezTo>
                    <a:cubicBezTo>
                      <a:pt x="1116" y="152"/>
                      <a:pt x="1126" y="187"/>
                      <a:pt x="1102" y="205"/>
                    </a:cubicBezTo>
                    <a:cubicBezTo>
                      <a:pt x="933" y="317"/>
                      <a:pt x="764" y="430"/>
                      <a:pt x="595" y="543"/>
                    </a:cubicBezTo>
                    <a:cubicBezTo>
                      <a:pt x="577" y="557"/>
                      <a:pt x="552" y="557"/>
                      <a:pt x="531" y="543"/>
                    </a:cubicBezTo>
                    <a:cubicBezTo>
                      <a:pt x="362" y="430"/>
                      <a:pt x="193" y="317"/>
                      <a:pt x="24" y="205"/>
                    </a:cubicBezTo>
                    <a:cubicBezTo>
                      <a:pt x="0" y="190"/>
                      <a:pt x="14" y="152"/>
                      <a:pt x="38" y="152"/>
                    </a:cubicBezTo>
                    <a:cubicBezTo>
                      <a:pt x="115" y="152"/>
                      <a:pt x="193" y="152"/>
                      <a:pt x="271" y="152"/>
                    </a:cubicBezTo>
                    <a:cubicBezTo>
                      <a:pt x="274" y="152"/>
                      <a:pt x="278" y="148"/>
                      <a:pt x="278" y="145"/>
                    </a:cubicBezTo>
                    <a:cubicBezTo>
                      <a:pt x="278" y="96"/>
                      <a:pt x="278" y="48"/>
                      <a:pt x="278"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57" name="Freeform 117">
                <a:extLst>
                  <a:ext uri="{FF2B5EF4-FFF2-40B4-BE49-F238E27FC236}">
                    <a16:creationId xmlns:a16="http://schemas.microsoft.com/office/drawing/2014/main" id="{E4D96C43-D386-1F43-89A3-0162963F6B53}"/>
                  </a:ext>
                </a:extLst>
              </p:cNvPr>
              <p:cNvSpPr>
                <a:spLocks noChangeArrowheads="1"/>
              </p:cNvSpPr>
              <p:nvPr/>
            </p:nvSpPr>
            <p:spPr bwMode="auto">
              <a:xfrm>
                <a:off x="4903788" y="2544763"/>
                <a:ext cx="406400" cy="114300"/>
              </a:xfrm>
              <a:custGeom>
                <a:avLst/>
                <a:gdLst>
                  <a:gd name="T0" fmla="*/ 440 w 1128"/>
                  <a:gd name="T1" fmla="*/ 0 h 318"/>
                  <a:gd name="T2" fmla="*/ 71 w 1128"/>
                  <a:gd name="T3" fmla="*/ 0 h 318"/>
                  <a:gd name="T4" fmla="*/ 0 w 1128"/>
                  <a:gd name="T5" fmla="*/ 71 h 318"/>
                  <a:gd name="T6" fmla="*/ 0 w 1128"/>
                  <a:gd name="T7" fmla="*/ 247 h 318"/>
                  <a:gd name="T8" fmla="*/ 71 w 1128"/>
                  <a:gd name="T9" fmla="*/ 317 h 318"/>
                  <a:gd name="T10" fmla="*/ 1056 w 1128"/>
                  <a:gd name="T11" fmla="*/ 317 h 318"/>
                  <a:gd name="T12" fmla="*/ 1127 w 1128"/>
                  <a:gd name="T13" fmla="*/ 247 h 318"/>
                  <a:gd name="T14" fmla="*/ 1127 w 1128"/>
                  <a:gd name="T15" fmla="*/ 71 h 318"/>
                  <a:gd name="T16" fmla="*/ 1056 w 1128"/>
                  <a:gd name="T17" fmla="*/ 0 h 318"/>
                  <a:gd name="T18" fmla="*/ 687 w 1128"/>
                  <a:gd name="T19"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8" h="318">
                    <a:moveTo>
                      <a:pt x="440" y="0"/>
                    </a:moveTo>
                    <a:cubicBezTo>
                      <a:pt x="317" y="0"/>
                      <a:pt x="194" y="0"/>
                      <a:pt x="71" y="0"/>
                    </a:cubicBezTo>
                    <a:cubicBezTo>
                      <a:pt x="32" y="0"/>
                      <a:pt x="0" y="32"/>
                      <a:pt x="0" y="71"/>
                    </a:cubicBezTo>
                    <a:cubicBezTo>
                      <a:pt x="0" y="129"/>
                      <a:pt x="0" y="188"/>
                      <a:pt x="0" y="247"/>
                    </a:cubicBezTo>
                    <a:cubicBezTo>
                      <a:pt x="0" y="285"/>
                      <a:pt x="32" y="317"/>
                      <a:pt x="71" y="317"/>
                    </a:cubicBezTo>
                    <a:cubicBezTo>
                      <a:pt x="399" y="317"/>
                      <a:pt x="727" y="317"/>
                      <a:pt x="1056" y="317"/>
                    </a:cubicBezTo>
                    <a:cubicBezTo>
                      <a:pt x="1095" y="317"/>
                      <a:pt x="1127" y="285"/>
                      <a:pt x="1127" y="247"/>
                    </a:cubicBezTo>
                    <a:cubicBezTo>
                      <a:pt x="1127" y="188"/>
                      <a:pt x="1127" y="129"/>
                      <a:pt x="1127" y="71"/>
                    </a:cubicBezTo>
                    <a:cubicBezTo>
                      <a:pt x="1127" y="32"/>
                      <a:pt x="1095" y="0"/>
                      <a:pt x="1056" y="0"/>
                    </a:cubicBezTo>
                    <a:cubicBezTo>
                      <a:pt x="933" y="0"/>
                      <a:pt x="810" y="0"/>
                      <a:pt x="687"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58" name="Freeform 118">
                <a:extLst>
                  <a:ext uri="{FF2B5EF4-FFF2-40B4-BE49-F238E27FC236}">
                    <a16:creationId xmlns:a16="http://schemas.microsoft.com/office/drawing/2014/main" id="{2E077B97-FDE5-46DD-579D-AE0A7C559775}"/>
                  </a:ext>
                </a:extLst>
              </p:cNvPr>
              <p:cNvSpPr>
                <a:spLocks noChangeArrowheads="1"/>
              </p:cNvSpPr>
              <p:nvPr/>
            </p:nvSpPr>
            <p:spPr bwMode="auto">
              <a:xfrm>
                <a:off x="5091113" y="2601913"/>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69" y="0"/>
                      <a:pt x="8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259" name="Freeform 119">
                <a:extLst>
                  <a:ext uri="{FF2B5EF4-FFF2-40B4-BE49-F238E27FC236}">
                    <a16:creationId xmlns:a16="http://schemas.microsoft.com/office/drawing/2014/main" id="{4E11863C-55B8-590F-8DA2-807F7089CEB0}"/>
                  </a:ext>
                </a:extLst>
              </p:cNvPr>
              <p:cNvSpPr>
                <a:spLocks noChangeArrowheads="1"/>
              </p:cNvSpPr>
              <p:nvPr/>
            </p:nvSpPr>
            <p:spPr bwMode="auto">
              <a:xfrm>
                <a:off x="5232400" y="2601913"/>
                <a:ext cx="28575" cy="1587"/>
              </a:xfrm>
              <a:custGeom>
                <a:avLst/>
                <a:gdLst>
                  <a:gd name="T0" fmla="*/ 77 w 78"/>
                  <a:gd name="T1" fmla="*/ 0 h 1"/>
                  <a:gd name="T2" fmla="*/ 0 w 78"/>
                  <a:gd name="T3" fmla="*/ 0 h 1"/>
                </a:gdLst>
                <a:ahLst/>
                <a:cxnLst>
                  <a:cxn ang="0">
                    <a:pos x="T0" y="T1"/>
                  </a:cxn>
                  <a:cxn ang="0">
                    <a:pos x="T2" y="T3"/>
                  </a:cxn>
                </a:cxnLst>
                <a:rect l="0" t="0" r="r" b="b"/>
                <a:pathLst>
                  <a:path w="78" h="1">
                    <a:moveTo>
                      <a:pt x="77" y="0"/>
                    </a:moveTo>
                    <a:cubicBezTo>
                      <a:pt x="51" y="0"/>
                      <a:pt x="2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sp>
          <p:nvSpPr>
            <p:cNvPr id="253" name="Freeform 97">
              <a:extLst>
                <a:ext uri="{FF2B5EF4-FFF2-40B4-BE49-F238E27FC236}">
                  <a16:creationId xmlns:a16="http://schemas.microsoft.com/office/drawing/2014/main" id="{DA8A3196-5452-D402-8971-F9004FC5C5E7}"/>
                </a:ext>
              </a:extLst>
            </p:cNvPr>
            <p:cNvSpPr>
              <a:spLocks noChangeArrowheads="1"/>
            </p:cNvSpPr>
            <p:nvPr/>
          </p:nvSpPr>
          <p:spPr bwMode="auto">
            <a:xfrm>
              <a:off x="7540310" y="3605237"/>
              <a:ext cx="634770" cy="634771"/>
            </a:xfrm>
            <a:custGeom>
              <a:avLst/>
              <a:gdLst>
                <a:gd name="T0" fmla="*/ 282 w 1751"/>
                <a:gd name="T1" fmla="*/ 1750 h 1751"/>
                <a:gd name="T2" fmla="*/ 0 w 1751"/>
                <a:gd name="T3" fmla="*/ 1467 h 1751"/>
                <a:gd name="T4" fmla="*/ 0 w 1751"/>
                <a:gd name="T5" fmla="*/ 282 h 1751"/>
                <a:gd name="T6" fmla="*/ 282 w 1751"/>
                <a:gd name="T7" fmla="*/ 0 h 1751"/>
                <a:gd name="T8" fmla="*/ 1468 w 1751"/>
                <a:gd name="T9" fmla="*/ 0 h 1751"/>
                <a:gd name="T10" fmla="*/ 1750 w 1751"/>
                <a:gd name="T11" fmla="*/ 282 h 1751"/>
                <a:gd name="T12" fmla="*/ 1750 w 1751"/>
                <a:gd name="T13" fmla="*/ 1467 h 1751"/>
                <a:gd name="T14" fmla="*/ 1468 w 1751"/>
                <a:gd name="T15" fmla="*/ 1750 h 1751"/>
                <a:gd name="T16" fmla="*/ 282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2" y="1750"/>
                  </a:moveTo>
                  <a:cubicBezTo>
                    <a:pt x="127" y="1750"/>
                    <a:pt x="0" y="1623"/>
                    <a:pt x="0" y="1467"/>
                  </a:cubicBezTo>
                  <a:cubicBezTo>
                    <a:pt x="0" y="1072"/>
                    <a:pt x="0" y="677"/>
                    <a:pt x="0" y="282"/>
                  </a:cubicBezTo>
                  <a:cubicBezTo>
                    <a:pt x="0" y="127"/>
                    <a:pt x="127" y="0"/>
                    <a:pt x="282" y="0"/>
                  </a:cubicBezTo>
                  <a:cubicBezTo>
                    <a:pt x="677" y="0"/>
                    <a:pt x="1073" y="0"/>
                    <a:pt x="1468" y="0"/>
                  </a:cubicBezTo>
                  <a:cubicBezTo>
                    <a:pt x="1623" y="0"/>
                    <a:pt x="1750" y="127"/>
                    <a:pt x="1750" y="282"/>
                  </a:cubicBezTo>
                  <a:cubicBezTo>
                    <a:pt x="1750" y="677"/>
                    <a:pt x="1750" y="1072"/>
                    <a:pt x="1750" y="1467"/>
                  </a:cubicBezTo>
                  <a:cubicBezTo>
                    <a:pt x="1750" y="1623"/>
                    <a:pt x="1623" y="1750"/>
                    <a:pt x="1468" y="1750"/>
                  </a:cubicBezTo>
                  <a:cubicBezTo>
                    <a:pt x="1073" y="1750"/>
                    <a:pt x="677" y="1750"/>
                    <a:pt x="282"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sp>
        <p:nvSpPr>
          <p:cNvPr id="567" name="TextBox 566">
            <a:extLst>
              <a:ext uri="{FF2B5EF4-FFF2-40B4-BE49-F238E27FC236}">
                <a16:creationId xmlns:a16="http://schemas.microsoft.com/office/drawing/2014/main" id="{22120495-531B-F4DC-BE5F-0BD41141936E}"/>
              </a:ext>
            </a:extLst>
          </p:cNvPr>
          <p:cNvSpPr txBox="1"/>
          <p:nvPr/>
        </p:nvSpPr>
        <p:spPr>
          <a:xfrm>
            <a:off x="9893386" y="9071188"/>
            <a:ext cx="1181236" cy="369332"/>
          </a:xfrm>
          <a:prstGeom prst="rect">
            <a:avLst/>
          </a:prstGeom>
          <a:solidFill>
            <a:schemeClr val="bg1"/>
          </a:solidFill>
        </p:spPr>
        <p:txBody>
          <a:bodyPr wrap="square" rtlCol="0">
            <a:spAutoFit/>
          </a:bodyPr>
          <a:lstStyle/>
          <a:p>
            <a:pPr defTabSz="1828800">
              <a:defRPr/>
            </a:pPr>
            <a:r>
              <a:rPr lang="en-GB" i="1">
                <a:latin typeface="Fira Sans" panose="020B0503050000020004" pitchFamily="34" charset="0"/>
              </a:rPr>
              <a:t>Replace</a:t>
            </a:r>
          </a:p>
        </p:txBody>
      </p:sp>
      <p:cxnSp>
        <p:nvCxnSpPr>
          <p:cNvPr id="570" name="Straight Connector 569">
            <a:extLst>
              <a:ext uri="{FF2B5EF4-FFF2-40B4-BE49-F238E27FC236}">
                <a16:creationId xmlns:a16="http://schemas.microsoft.com/office/drawing/2014/main" id="{FBBBF90C-42A5-A894-7C29-5C586553A07B}"/>
              </a:ext>
            </a:extLst>
          </p:cNvPr>
          <p:cNvCxnSpPr>
            <a:cxnSpLocks/>
            <a:stCxn id="268" idx="2"/>
          </p:cNvCxnSpPr>
          <p:nvPr/>
        </p:nvCxnSpPr>
        <p:spPr>
          <a:xfrm flipH="1">
            <a:off x="21253288" y="10145870"/>
            <a:ext cx="4" cy="1547624"/>
          </a:xfrm>
          <a:prstGeom prst="line">
            <a:avLst/>
          </a:prstGeom>
          <a:ln w="50800">
            <a:solidFill>
              <a:srgbClr val="92D050">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sp>
        <p:nvSpPr>
          <p:cNvPr id="583" name="TextBox 582">
            <a:extLst>
              <a:ext uri="{FF2B5EF4-FFF2-40B4-BE49-F238E27FC236}">
                <a16:creationId xmlns:a16="http://schemas.microsoft.com/office/drawing/2014/main" id="{6FD43D08-0D10-F4EB-C8F4-465B06B1E4B2}"/>
              </a:ext>
            </a:extLst>
          </p:cNvPr>
          <p:cNvSpPr txBox="1"/>
          <p:nvPr/>
        </p:nvSpPr>
        <p:spPr>
          <a:xfrm>
            <a:off x="9649668" y="7553391"/>
            <a:ext cx="1609016" cy="369332"/>
          </a:xfrm>
          <a:prstGeom prst="rect">
            <a:avLst/>
          </a:prstGeom>
          <a:solidFill>
            <a:schemeClr val="bg1"/>
          </a:solidFill>
        </p:spPr>
        <p:txBody>
          <a:bodyPr wrap="square" rtlCol="0">
            <a:spAutoFit/>
          </a:bodyPr>
          <a:lstStyle/>
          <a:p>
            <a:pPr defTabSz="1828800">
              <a:defRPr/>
            </a:pPr>
            <a:r>
              <a:rPr lang="en-GB" i="1">
                <a:latin typeface="Fira Sans" panose="020B0503050000020004" pitchFamily="34" charset="0"/>
              </a:rPr>
              <a:t>Replatform</a:t>
            </a:r>
          </a:p>
        </p:txBody>
      </p:sp>
      <p:cxnSp>
        <p:nvCxnSpPr>
          <p:cNvPr id="584" name="Straight Connector 583">
            <a:extLst>
              <a:ext uri="{FF2B5EF4-FFF2-40B4-BE49-F238E27FC236}">
                <a16:creationId xmlns:a16="http://schemas.microsoft.com/office/drawing/2014/main" id="{0AF5883D-A8C5-BD12-1E93-C5CB4E6ED42F}"/>
              </a:ext>
            </a:extLst>
          </p:cNvPr>
          <p:cNvCxnSpPr>
            <a:cxnSpLocks/>
          </p:cNvCxnSpPr>
          <p:nvPr/>
        </p:nvCxnSpPr>
        <p:spPr>
          <a:xfrm>
            <a:off x="12904400" y="6751678"/>
            <a:ext cx="1998704" cy="0"/>
          </a:xfrm>
          <a:prstGeom prst="line">
            <a:avLst/>
          </a:prstGeom>
          <a:ln w="50800">
            <a:solidFill>
              <a:srgbClr val="FF0000">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B0E63FCB-80CE-3073-14F6-CBB09E359A05}"/>
              </a:ext>
            </a:extLst>
          </p:cNvPr>
          <p:cNvCxnSpPr>
            <a:cxnSpLocks/>
            <a:stCxn id="277" idx="2"/>
          </p:cNvCxnSpPr>
          <p:nvPr/>
        </p:nvCxnSpPr>
        <p:spPr>
          <a:xfrm>
            <a:off x="15520774" y="7922748"/>
            <a:ext cx="0" cy="748626"/>
          </a:xfrm>
          <a:prstGeom prst="line">
            <a:avLst/>
          </a:prstGeom>
          <a:ln w="50800">
            <a:solidFill>
              <a:srgbClr val="FF0000">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95" name="Straight Connector 594">
            <a:extLst>
              <a:ext uri="{FF2B5EF4-FFF2-40B4-BE49-F238E27FC236}">
                <a16:creationId xmlns:a16="http://schemas.microsoft.com/office/drawing/2014/main" id="{ED4CB4E6-F93A-FBB3-4938-D0413E5475E4}"/>
              </a:ext>
            </a:extLst>
          </p:cNvPr>
          <p:cNvCxnSpPr>
            <a:cxnSpLocks/>
          </p:cNvCxnSpPr>
          <p:nvPr/>
        </p:nvCxnSpPr>
        <p:spPr>
          <a:xfrm flipV="1">
            <a:off x="15519568" y="5383352"/>
            <a:ext cx="0" cy="759072"/>
          </a:xfrm>
          <a:prstGeom prst="line">
            <a:avLst/>
          </a:prstGeom>
          <a:ln w="38100">
            <a:solidFill>
              <a:srgbClr val="FF0000">
                <a:alpha val="80000"/>
              </a:srgbClr>
            </a:solidFill>
            <a:prstDash val="sysDot"/>
            <a:tailEnd type="triangle" w="sm" len="sm"/>
          </a:ln>
        </p:spPr>
        <p:style>
          <a:lnRef idx="1">
            <a:schemeClr val="accent1"/>
          </a:lnRef>
          <a:fillRef idx="0">
            <a:schemeClr val="accent1"/>
          </a:fillRef>
          <a:effectRef idx="0">
            <a:schemeClr val="accent1"/>
          </a:effectRef>
          <a:fontRef idx="minor">
            <a:schemeClr val="tx1"/>
          </a:fontRef>
        </p:style>
      </p:cxnSp>
      <p:sp>
        <p:nvSpPr>
          <p:cNvPr id="278" name="TextBox 277">
            <a:extLst>
              <a:ext uri="{FF2B5EF4-FFF2-40B4-BE49-F238E27FC236}">
                <a16:creationId xmlns:a16="http://schemas.microsoft.com/office/drawing/2014/main" id="{B732E423-B59A-4F03-8A59-24AF556A2929}"/>
              </a:ext>
            </a:extLst>
          </p:cNvPr>
          <p:cNvSpPr txBox="1"/>
          <p:nvPr/>
        </p:nvSpPr>
        <p:spPr>
          <a:xfrm>
            <a:off x="14533458" y="5567874"/>
            <a:ext cx="1963999" cy="338554"/>
          </a:xfrm>
          <a:prstGeom prst="rect">
            <a:avLst/>
          </a:prstGeom>
          <a:solidFill>
            <a:schemeClr val="bg1"/>
          </a:solidFill>
        </p:spPr>
        <p:txBody>
          <a:bodyPr wrap="none" rtlCol="0">
            <a:spAutoFit/>
          </a:bodyPr>
          <a:lstStyle/>
          <a:p>
            <a:pPr algn="ctr" defTabSz="1828800">
              <a:defRPr/>
            </a:pPr>
            <a:r>
              <a:rPr lang="en-GB" sz="1600">
                <a:latin typeface="Fira Sans Light" panose="020B0403050000020004" pitchFamily="34" charset="0"/>
              </a:rPr>
              <a:t>Use Migration tools</a:t>
            </a:r>
          </a:p>
        </p:txBody>
      </p:sp>
      <p:cxnSp>
        <p:nvCxnSpPr>
          <p:cNvPr id="602" name="Elbow Connector 601">
            <a:extLst>
              <a:ext uri="{FF2B5EF4-FFF2-40B4-BE49-F238E27FC236}">
                <a16:creationId xmlns:a16="http://schemas.microsoft.com/office/drawing/2014/main" id="{E2444E78-CC30-6D54-F18A-DB176370B88C}"/>
              </a:ext>
            </a:extLst>
          </p:cNvPr>
          <p:cNvCxnSpPr>
            <a:cxnSpLocks/>
          </p:cNvCxnSpPr>
          <p:nvPr/>
        </p:nvCxnSpPr>
        <p:spPr>
          <a:xfrm rot="10800000" flipH="1" flipV="1">
            <a:off x="11747293" y="3223272"/>
            <a:ext cx="3151078" cy="1591232"/>
          </a:xfrm>
          <a:prstGeom prst="bentConnector3">
            <a:avLst>
              <a:gd name="adj1" fmla="val -44861"/>
            </a:avLst>
          </a:prstGeom>
          <a:ln w="50800">
            <a:solidFill>
              <a:schemeClr val="accent4">
                <a:lumMod val="75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09" name="TextBox 608">
            <a:extLst>
              <a:ext uri="{FF2B5EF4-FFF2-40B4-BE49-F238E27FC236}">
                <a16:creationId xmlns:a16="http://schemas.microsoft.com/office/drawing/2014/main" id="{DDCA0464-279A-5C05-E3A7-17E1690E1546}"/>
              </a:ext>
            </a:extLst>
          </p:cNvPr>
          <p:cNvSpPr txBox="1"/>
          <p:nvPr/>
        </p:nvSpPr>
        <p:spPr>
          <a:xfrm>
            <a:off x="8258669" y="7038195"/>
            <a:ext cx="1216662" cy="400110"/>
          </a:xfrm>
          <a:prstGeom prst="rect">
            <a:avLst/>
          </a:prstGeom>
          <a:solidFill>
            <a:schemeClr val="bg1"/>
          </a:solidFill>
        </p:spPr>
        <p:txBody>
          <a:bodyPr wrap="square" rtlCol="0">
            <a:spAutoFit/>
          </a:bodyPr>
          <a:lstStyle/>
          <a:p>
            <a:pPr defTabSz="1828800">
              <a:defRPr/>
            </a:pPr>
            <a:r>
              <a:rPr lang="en-GB" sz="2000" i="1">
                <a:latin typeface="Fira Sans" panose="020B0503050000020004" pitchFamily="34" charset="0"/>
              </a:rPr>
              <a:t>Rehost</a:t>
            </a:r>
          </a:p>
        </p:txBody>
      </p:sp>
      <p:sp>
        <p:nvSpPr>
          <p:cNvPr id="612" name="TextBox 611">
            <a:extLst>
              <a:ext uri="{FF2B5EF4-FFF2-40B4-BE49-F238E27FC236}">
                <a16:creationId xmlns:a16="http://schemas.microsoft.com/office/drawing/2014/main" id="{DF1B6DD0-E294-6B4F-EDA6-F13C1B51BCBF}"/>
              </a:ext>
            </a:extLst>
          </p:cNvPr>
          <p:cNvSpPr txBox="1"/>
          <p:nvPr/>
        </p:nvSpPr>
        <p:spPr>
          <a:xfrm>
            <a:off x="10476938" y="2729320"/>
            <a:ext cx="1142796" cy="1200329"/>
          </a:xfrm>
          <a:prstGeom prst="rect">
            <a:avLst/>
          </a:prstGeom>
          <a:noFill/>
        </p:spPr>
        <p:txBody>
          <a:bodyPr wrap="square" rtlCol="0">
            <a:spAutoFit/>
          </a:bodyPr>
          <a:lstStyle/>
          <a:p>
            <a:pPr defTabSz="1828800">
              <a:defRPr/>
            </a:pPr>
            <a:r>
              <a:rPr lang="en-GB" sz="3600" i="1">
                <a:latin typeface="Fira Sans" panose="020B0503050000020004" pitchFamily="34" charset="0"/>
              </a:rPr>
              <a:t>Manual</a:t>
            </a:r>
          </a:p>
        </p:txBody>
      </p:sp>
      <p:sp>
        <p:nvSpPr>
          <p:cNvPr id="613" name="TextBox 612">
            <a:extLst>
              <a:ext uri="{FF2B5EF4-FFF2-40B4-BE49-F238E27FC236}">
                <a16:creationId xmlns:a16="http://schemas.microsoft.com/office/drawing/2014/main" id="{C85C26B3-5592-399B-D998-DF17224864C4}"/>
              </a:ext>
            </a:extLst>
          </p:cNvPr>
          <p:cNvSpPr txBox="1"/>
          <p:nvPr/>
        </p:nvSpPr>
        <p:spPr>
          <a:xfrm>
            <a:off x="10472554" y="4390651"/>
            <a:ext cx="1452876" cy="369332"/>
          </a:xfrm>
          <a:prstGeom prst="rect">
            <a:avLst/>
          </a:prstGeom>
          <a:noFill/>
        </p:spPr>
        <p:txBody>
          <a:bodyPr wrap="square" rtlCol="0">
            <a:spAutoFit/>
          </a:bodyPr>
          <a:lstStyle/>
          <a:p>
            <a:pPr defTabSz="1828800">
              <a:defRPr/>
            </a:pPr>
            <a:r>
              <a:rPr lang="en-GB" i="1">
                <a:latin typeface="Fira Sans" panose="020B0503050000020004" pitchFamily="34" charset="0"/>
              </a:rPr>
              <a:t>Automate</a:t>
            </a:r>
          </a:p>
        </p:txBody>
      </p:sp>
      <p:cxnSp>
        <p:nvCxnSpPr>
          <p:cNvPr id="617" name="Straight Connector 616">
            <a:extLst>
              <a:ext uri="{FF2B5EF4-FFF2-40B4-BE49-F238E27FC236}">
                <a16:creationId xmlns:a16="http://schemas.microsoft.com/office/drawing/2014/main" id="{A7BD2D3F-6158-C0FD-7152-13BA1ACA5B31}"/>
              </a:ext>
            </a:extLst>
          </p:cNvPr>
          <p:cNvCxnSpPr>
            <a:cxnSpLocks/>
          </p:cNvCxnSpPr>
          <p:nvPr/>
        </p:nvCxnSpPr>
        <p:spPr>
          <a:xfrm>
            <a:off x="17937442" y="4270116"/>
            <a:ext cx="0" cy="4401256"/>
          </a:xfrm>
          <a:prstGeom prst="line">
            <a:avLst/>
          </a:prstGeom>
          <a:ln w="50800">
            <a:solidFill>
              <a:schemeClr val="accent4">
                <a:lumMod val="75000"/>
                <a:alpha val="80000"/>
              </a:scheme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8E9D726-561B-FF1A-CD28-49D0033CB505}"/>
              </a:ext>
            </a:extLst>
          </p:cNvPr>
          <p:cNvCxnSpPr>
            <a:cxnSpLocks/>
          </p:cNvCxnSpPr>
          <p:nvPr/>
        </p:nvCxnSpPr>
        <p:spPr>
          <a:xfrm flipH="1" flipV="1">
            <a:off x="7111799" y="3142177"/>
            <a:ext cx="1135854" cy="5720450"/>
          </a:xfrm>
          <a:prstGeom prst="bentConnector4">
            <a:avLst>
              <a:gd name="adj1" fmla="val 99824"/>
              <a:gd name="adj2" fmla="val 51609"/>
            </a:avLst>
          </a:prstGeom>
          <a:ln w="50800">
            <a:solidFill>
              <a:srgbClr val="FF842E">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59" name="Group 58">
            <a:extLst>
              <a:ext uri="{FF2B5EF4-FFF2-40B4-BE49-F238E27FC236}">
                <a16:creationId xmlns:a16="http://schemas.microsoft.com/office/drawing/2014/main" id="{0EB4B474-1EAD-9DCE-EEFE-F98E0A9F4C08}"/>
              </a:ext>
            </a:extLst>
          </p:cNvPr>
          <p:cNvGrpSpPr>
            <a:grpSpLocks noChangeAspect="1"/>
          </p:cNvGrpSpPr>
          <p:nvPr/>
        </p:nvGrpSpPr>
        <p:grpSpPr>
          <a:xfrm>
            <a:off x="6537620" y="1882591"/>
            <a:ext cx="1214976" cy="1217554"/>
            <a:chOff x="6661943" y="2220913"/>
            <a:chExt cx="747713" cy="749300"/>
          </a:xfrm>
        </p:grpSpPr>
        <p:sp>
          <p:nvSpPr>
            <p:cNvPr id="60" name="Freeform 327">
              <a:extLst>
                <a:ext uri="{FF2B5EF4-FFF2-40B4-BE49-F238E27FC236}">
                  <a16:creationId xmlns:a16="http://schemas.microsoft.com/office/drawing/2014/main" id="{CE051D31-7AC9-5014-7075-58C88AF769ED}"/>
                </a:ext>
              </a:extLst>
            </p:cNvPr>
            <p:cNvSpPr>
              <a:spLocks noChangeArrowheads="1"/>
            </p:cNvSpPr>
            <p:nvPr/>
          </p:nvSpPr>
          <p:spPr bwMode="auto">
            <a:xfrm>
              <a:off x="6661943" y="2220913"/>
              <a:ext cx="747713" cy="749300"/>
            </a:xfrm>
            <a:custGeom>
              <a:avLst/>
              <a:gdLst>
                <a:gd name="T0" fmla="*/ 1742 w 2079"/>
                <a:gd name="T1" fmla="*/ 2079 h 2080"/>
                <a:gd name="T2" fmla="*/ 2078 w 2079"/>
                <a:gd name="T3" fmla="*/ 1744 h 2080"/>
                <a:gd name="T4" fmla="*/ 2078 w 2079"/>
                <a:gd name="T5" fmla="*/ 336 h 2080"/>
                <a:gd name="T6" fmla="*/ 1742 w 2079"/>
                <a:gd name="T7" fmla="*/ 0 h 2080"/>
                <a:gd name="T8" fmla="*/ 335 w 2079"/>
                <a:gd name="T9" fmla="*/ 0 h 2080"/>
                <a:gd name="T10" fmla="*/ 0 w 2079"/>
                <a:gd name="T11" fmla="*/ 336 h 2080"/>
                <a:gd name="T12" fmla="*/ 0 w 2079"/>
                <a:gd name="T13" fmla="*/ 1744 h 2080"/>
                <a:gd name="T14" fmla="*/ 335 w 2079"/>
                <a:gd name="T15" fmla="*/ 2079 h 2080"/>
                <a:gd name="T16" fmla="*/ 1742 w 2079"/>
                <a:gd name="T17" fmla="*/ 2079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9" h="2080">
                  <a:moveTo>
                    <a:pt x="1742" y="2079"/>
                  </a:moveTo>
                  <a:cubicBezTo>
                    <a:pt x="1927" y="2079"/>
                    <a:pt x="2078" y="1928"/>
                    <a:pt x="2078" y="1744"/>
                  </a:cubicBezTo>
                  <a:cubicBezTo>
                    <a:pt x="2078" y="1274"/>
                    <a:pt x="2078" y="805"/>
                    <a:pt x="2078" y="336"/>
                  </a:cubicBezTo>
                  <a:cubicBezTo>
                    <a:pt x="2078" y="151"/>
                    <a:pt x="1927" y="0"/>
                    <a:pt x="1742" y="0"/>
                  </a:cubicBezTo>
                  <a:cubicBezTo>
                    <a:pt x="1273" y="0"/>
                    <a:pt x="804" y="0"/>
                    <a:pt x="335" y="0"/>
                  </a:cubicBezTo>
                  <a:cubicBezTo>
                    <a:pt x="150" y="0"/>
                    <a:pt x="0" y="151"/>
                    <a:pt x="0" y="336"/>
                  </a:cubicBezTo>
                  <a:cubicBezTo>
                    <a:pt x="0" y="805"/>
                    <a:pt x="0" y="1274"/>
                    <a:pt x="0" y="1744"/>
                  </a:cubicBezTo>
                  <a:cubicBezTo>
                    <a:pt x="0" y="1928"/>
                    <a:pt x="150" y="2079"/>
                    <a:pt x="335" y="2079"/>
                  </a:cubicBezTo>
                  <a:cubicBezTo>
                    <a:pt x="804" y="2079"/>
                    <a:pt x="1273" y="2079"/>
                    <a:pt x="1742" y="207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61" name="Group 60">
              <a:extLst>
                <a:ext uri="{FF2B5EF4-FFF2-40B4-BE49-F238E27FC236}">
                  <a16:creationId xmlns:a16="http://schemas.microsoft.com/office/drawing/2014/main" id="{1EBE5C80-727C-E947-3320-A8AFA0663F35}"/>
                </a:ext>
              </a:extLst>
            </p:cNvPr>
            <p:cNvGrpSpPr/>
            <p:nvPr/>
          </p:nvGrpSpPr>
          <p:grpSpPr>
            <a:xfrm>
              <a:off x="6817518" y="2347913"/>
              <a:ext cx="434975" cy="496888"/>
              <a:chOff x="6817518" y="2347913"/>
              <a:chExt cx="434975" cy="496888"/>
            </a:xfrm>
          </p:grpSpPr>
          <p:sp>
            <p:nvSpPr>
              <p:cNvPr id="62" name="Freeform 328">
                <a:extLst>
                  <a:ext uri="{FF2B5EF4-FFF2-40B4-BE49-F238E27FC236}">
                    <a16:creationId xmlns:a16="http://schemas.microsoft.com/office/drawing/2014/main" id="{D4D7AF1D-14FF-A58A-DB87-EA1A778D2D61}"/>
                  </a:ext>
                </a:extLst>
              </p:cNvPr>
              <p:cNvSpPr>
                <a:spLocks noChangeArrowheads="1"/>
              </p:cNvSpPr>
              <p:nvPr/>
            </p:nvSpPr>
            <p:spPr bwMode="auto">
              <a:xfrm>
                <a:off x="6817518" y="2347913"/>
                <a:ext cx="434975" cy="496888"/>
              </a:xfrm>
              <a:custGeom>
                <a:avLst/>
                <a:gdLst>
                  <a:gd name="T0" fmla="*/ 1207 w 1208"/>
                  <a:gd name="T1" fmla="*/ 999 h 1380"/>
                  <a:gd name="T2" fmla="*/ 1173 w 1208"/>
                  <a:gd name="T3" fmla="*/ 1057 h 1380"/>
                  <a:gd name="T4" fmla="*/ 637 w 1208"/>
                  <a:gd name="T5" fmla="*/ 1367 h 1380"/>
                  <a:gd name="T6" fmla="*/ 570 w 1208"/>
                  <a:gd name="T7" fmla="*/ 1367 h 1380"/>
                  <a:gd name="T8" fmla="*/ 34 w 1208"/>
                  <a:gd name="T9" fmla="*/ 1057 h 1380"/>
                  <a:gd name="T10" fmla="*/ 0 w 1208"/>
                  <a:gd name="T11" fmla="*/ 999 h 1380"/>
                  <a:gd name="T12" fmla="*/ 0 w 1208"/>
                  <a:gd name="T13" fmla="*/ 380 h 1380"/>
                  <a:gd name="T14" fmla="*/ 34 w 1208"/>
                  <a:gd name="T15" fmla="*/ 322 h 1380"/>
                  <a:gd name="T16" fmla="*/ 570 w 1208"/>
                  <a:gd name="T17" fmla="*/ 12 h 1380"/>
                  <a:gd name="T18" fmla="*/ 637 w 1208"/>
                  <a:gd name="T19" fmla="*/ 12 h 1380"/>
                  <a:gd name="T20" fmla="*/ 1173 w 1208"/>
                  <a:gd name="T21" fmla="*/ 322 h 1380"/>
                  <a:gd name="T22" fmla="*/ 1207 w 1208"/>
                  <a:gd name="T23" fmla="*/ 380 h 1380"/>
                  <a:gd name="T24" fmla="*/ 1207 w 1208"/>
                  <a:gd name="T25" fmla="*/ 999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8" h="1380">
                    <a:moveTo>
                      <a:pt x="1207" y="999"/>
                    </a:moveTo>
                    <a:cubicBezTo>
                      <a:pt x="1207" y="1023"/>
                      <a:pt x="1194" y="1045"/>
                      <a:pt x="1173" y="1057"/>
                    </a:cubicBezTo>
                    <a:cubicBezTo>
                      <a:pt x="995" y="1160"/>
                      <a:pt x="816" y="1263"/>
                      <a:pt x="637" y="1367"/>
                    </a:cubicBezTo>
                    <a:cubicBezTo>
                      <a:pt x="616" y="1379"/>
                      <a:pt x="591" y="1379"/>
                      <a:pt x="570" y="1367"/>
                    </a:cubicBezTo>
                    <a:cubicBezTo>
                      <a:pt x="392" y="1263"/>
                      <a:pt x="213" y="1160"/>
                      <a:pt x="34" y="1057"/>
                    </a:cubicBezTo>
                    <a:cubicBezTo>
                      <a:pt x="13" y="1045"/>
                      <a:pt x="0" y="1023"/>
                      <a:pt x="0" y="999"/>
                    </a:cubicBezTo>
                    <a:cubicBezTo>
                      <a:pt x="0" y="792"/>
                      <a:pt x="0" y="586"/>
                      <a:pt x="0" y="380"/>
                    </a:cubicBezTo>
                    <a:cubicBezTo>
                      <a:pt x="0" y="356"/>
                      <a:pt x="13" y="334"/>
                      <a:pt x="34" y="322"/>
                    </a:cubicBezTo>
                    <a:cubicBezTo>
                      <a:pt x="213" y="218"/>
                      <a:pt x="392" y="115"/>
                      <a:pt x="570" y="12"/>
                    </a:cubicBezTo>
                    <a:cubicBezTo>
                      <a:pt x="591" y="0"/>
                      <a:pt x="616" y="0"/>
                      <a:pt x="637" y="12"/>
                    </a:cubicBezTo>
                    <a:cubicBezTo>
                      <a:pt x="816" y="115"/>
                      <a:pt x="995" y="218"/>
                      <a:pt x="1173" y="322"/>
                    </a:cubicBezTo>
                    <a:cubicBezTo>
                      <a:pt x="1194" y="334"/>
                      <a:pt x="1207" y="356"/>
                      <a:pt x="1207" y="380"/>
                    </a:cubicBezTo>
                    <a:cubicBezTo>
                      <a:pt x="1207" y="586"/>
                      <a:pt x="1207" y="792"/>
                      <a:pt x="1207" y="99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63" name="Freeform 329">
                <a:extLst>
                  <a:ext uri="{FF2B5EF4-FFF2-40B4-BE49-F238E27FC236}">
                    <a16:creationId xmlns:a16="http://schemas.microsoft.com/office/drawing/2014/main" id="{99C6A62A-EC6D-4F92-0A22-0E7FABF58E46}"/>
                  </a:ext>
                </a:extLst>
              </p:cNvPr>
              <p:cNvSpPr>
                <a:spLocks noChangeArrowheads="1"/>
              </p:cNvSpPr>
              <p:nvPr/>
            </p:nvSpPr>
            <p:spPr bwMode="auto">
              <a:xfrm>
                <a:off x="7035006" y="2592388"/>
                <a:ext cx="1587" cy="250825"/>
              </a:xfrm>
              <a:custGeom>
                <a:avLst/>
                <a:gdLst>
                  <a:gd name="T0" fmla="*/ 0 w 1"/>
                  <a:gd name="T1" fmla="*/ 0 h 698"/>
                  <a:gd name="T2" fmla="*/ 0 w 1"/>
                  <a:gd name="T3" fmla="*/ 697 h 698"/>
                </a:gdLst>
                <a:ahLst/>
                <a:cxnLst>
                  <a:cxn ang="0">
                    <a:pos x="T0" y="T1"/>
                  </a:cxn>
                  <a:cxn ang="0">
                    <a:pos x="T2" y="T3"/>
                  </a:cxn>
                </a:cxnLst>
                <a:rect l="0" t="0" r="r" b="b"/>
                <a:pathLst>
                  <a:path w="1" h="698">
                    <a:moveTo>
                      <a:pt x="0" y="0"/>
                    </a:moveTo>
                    <a:cubicBezTo>
                      <a:pt x="0" y="232"/>
                      <a:pt x="0" y="464"/>
                      <a:pt x="0" y="69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48" name="Freeform 330">
                <a:extLst>
                  <a:ext uri="{FF2B5EF4-FFF2-40B4-BE49-F238E27FC236}">
                    <a16:creationId xmlns:a16="http://schemas.microsoft.com/office/drawing/2014/main" id="{AACF7A5D-9DAD-D71E-522A-73950A930CC4}"/>
                  </a:ext>
                </a:extLst>
              </p:cNvPr>
              <p:cNvSpPr>
                <a:spLocks noChangeArrowheads="1"/>
              </p:cNvSpPr>
              <p:nvPr/>
            </p:nvSpPr>
            <p:spPr bwMode="auto">
              <a:xfrm>
                <a:off x="6820693" y="2471738"/>
                <a:ext cx="428625" cy="120650"/>
              </a:xfrm>
              <a:custGeom>
                <a:avLst/>
                <a:gdLst>
                  <a:gd name="T0" fmla="*/ 0 w 1190"/>
                  <a:gd name="T1" fmla="*/ 0 h 337"/>
                  <a:gd name="T2" fmla="*/ 561 w 1190"/>
                  <a:gd name="T3" fmla="*/ 324 h 337"/>
                  <a:gd name="T4" fmla="*/ 628 w 1190"/>
                  <a:gd name="T5" fmla="*/ 324 h 337"/>
                  <a:gd name="T6" fmla="*/ 1189 w 1190"/>
                  <a:gd name="T7" fmla="*/ 0 h 337"/>
                </a:gdLst>
                <a:ahLst/>
                <a:cxnLst>
                  <a:cxn ang="0">
                    <a:pos x="T0" y="T1"/>
                  </a:cxn>
                  <a:cxn ang="0">
                    <a:pos x="T2" y="T3"/>
                  </a:cxn>
                  <a:cxn ang="0">
                    <a:pos x="T4" y="T5"/>
                  </a:cxn>
                  <a:cxn ang="0">
                    <a:pos x="T6" y="T7"/>
                  </a:cxn>
                </a:cxnLst>
                <a:rect l="0" t="0" r="r" b="b"/>
                <a:pathLst>
                  <a:path w="1190" h="337">
                    <a:moveTo>
                      <a:pt x="0" y="0"/>
                    </a:moveTo>
                    <a:cubicBezTo>
                      <a:pt x="187" y="108"/>
                      <a:pt x="374" y="216"/>
                      <a:pt x="561" y="324"/>
                    </a:cubicBezTo>
                    <a:cubicBezTo>
                      <a:pt x="582" y="336"/>
                      <a:pt x="607" y="336"/>
                      <a:pt x="628" y="324"/>
                    </a:cubicBezTo>
                    <a:cubicBezTo>
                      <a:pt x="815" y="216"/>
                      <a:pt x="1002" y="108"/>
                      <a:pt x="1189"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49" name="Freeform 331">
                <a:extLst>
                  <a:ext uri="{FF2B5EF4-FFF2-40B4-BE49-F238E27FC236}">
                    <a16:creationId xmlns:a16="http://schemas.microsoft.com/office/drawing/2014/main" id="{729328BF-2A43-400F-2355-3F2F8A4C7FB0}"/>
                  </a:ext>
                </a:extLst>
              </p:cNvPr>
              <p:cNvSpPr>
                <a:spLocks noChangeArrowheads="1"/>
              </p:cNvSpPr>
              <p:nvPr/>
            </p:nvSpPr>
            <p:spPr bwMode="auto">
              <a:xfrm>
                <a:off x="7095331" y="2635251"/>
                <a:ext cx="1587" cy="107950"/>
              </a:xfrm>
              <a:custGeom>
                <a:avLst/>
                <a:gdLst>
                  <a:gd name="T0" fmla="*/ 0 w 1"/>
                  <a:gd name="T1" fmla="*/ 297 h 298"/>
                  <a:gd name="T2" fmla="*/ 0 w 1"/>
                  <a:gd name="T3" fmla="*/ 0 h 298"/>
                </a:gdLst>
                <a:ahLst/>
                <a:cxnLst>
                  <a:cxn ang="0">
                    <a:pos x="T0" y="T1"/>
                  </a:cxn>
                  <a:cxn ang="0">
                    <a:pos x="T2" y="T3"/>
                  </a:cxn>
                </a:cxnLst>
                <a:rect l="0" t="0" r="r" b="b"/>
                <a:pathLst>
                  <a:path w="1" h="298">
                    <a:moveTo>
                      <a:pt x="0" y="297"/>
                    </a:moveTo>
                    <a:cubicBezTo>
                      <a:pt x="0" y="198"/>
                      <a:pt x="0" y="99"/>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50" name="Freeform 332">
                <a:extLst>
                  <a:ext uri="{FF2B5EF4-FFF2-40B4-BE49-F238E27FC236}">
                    <a16:creationId xmlns:a16="http://schemas.microsoft.com/office/drawing/2014/main" id="{ED75F22C-2780-6FFC-C86B-652292BB7163}"/>
                  </a:ext>
                </a:extLst>
              </p:cNvPr>
              <p:cNvSpPr>
                <a:spLocks noChangeArrowheads="1"/>
              </p:cNvSpPr>
              <p:nvPr/>
            </p:nvSpPr>
            <p:spPr bwMode="auto">
              <a:xfrm>
                <a:off x="7144543" y="2606676"/>
                <a:ext cx="1588" cy="107950"/>
              </a:xfrm>
              <a:custGeom>
                <a:avLst/>
                <a:gdLst>
                  <a:gd name="T0" fmla="*/ 0 w 1"/>
                  <a:gd name="T1" fmla="*/ 297 h 298"/>
                  <a:gd name="T2" fmla="*/ 0 w 1"/>
                  <a:gd name="T3" fmla="*/ 0 h 298"/>
                </a:gdLst>
                <a:ahLst/>
                <a:cxnLst>
                  <a:cxn ang="0">
                    <a:pos x="T0" y="T1"/>
                  </a:cxn>
                  <a:cxn ang="0">
                    <a:pos x="T2" y="T3"/>
                  </a:cxn>
                </a:cxnLst>
                <a:rect l="0" t="0" r="r" b="b"/>
                <a:pathLst>
                  <a:path w="1" h="298">
                    <a:moveTo>
                      <a:pt x="0" y="297"/>
                    </a:moveTo>
                    <a:cubicBezTo>
                      <a:pt x="0" y="198"/>
                      <a:pt x="0" y="99"/>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51" name="Freeform 333">
                <a:extLst>
                  <a:ext uri="{FF2B5EF4-FFF2-40B4-BE49-F238E27FC236}">
                    <a16:creationId xmlns:a16="http://schemas.microsoft.com/office/drawing/2014/main" id="{BD506B0A-9CBA-7958-560B-E6D13C215B66}"/>
                  </a:ext>
                </a:extLst>
              </p:cNvPr>
              <p:cNvSpPr>
                <a:spLocks noChangeArrowheads="1"/>
              </p:cNvSpPr>
              <p:nvPr/>
            </p:nvSpPr>
            <p:spPr bwMode="auto">
              <a:xfrm>
                <a:off x="7192168" y="2579688"/>
                <a:ext cx="1588" cy="107950"/>
              </a:xfrm>
              <a:custGeom>
                <a:avLst/>
                <a:gdLst>
                  <a:gd name="T0" fmla="*/ 0 w 1"/>
                  <a:gd name="T1" fmla="*/ 297 h 298"/>
                  <a:gd name="T2" fmla="*/ 0 w 1"/>
                  <a:gd name="T3" fmla="*/ 0 h 298"/>
                </a:gdLst>
                <a:ahLst/>
                <a:cxnLst>
                  <a:cxn ang="0">
                    <a:pos x="T0" y="T1"/>
                  </a:cxn>
                  <a:cxn ang="0">
                    <a:pos x="T2" y="T3"/>
                  </a:cxn>
                </a:cxnLst>
                <a:rect l="0" t="0" r="r" b="b"/>
                <a:pathLst>
                  <a:path w="1" h="298">
                    <a:moveTo>
                      <a:pt x="0" y="297"/>
                    </a:moveTo>
                    <a:cubicBezTo>
                      <a:pt x="0" y="198"/>
                      <a:pt x="0" y="99"/>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52" name="Freeform 334">
                <a:extLst>
                  <a:ext uri="{FF2B5EF4-FFF2-40B4-BE49-F238E27FC236}">
                    <a16:creationId xmlns:a16="http://schemas.microsoft.com/office/drawing/2014/main" id="{BC61DBB3-A325-651C-3122-B13D09E8112A}"/>
                  </a:ext>
                </a:extLst>
              </p:cNvPr>
              <p:cNvSpPr>
                <a:spLocks noChangeArrowheads="1"/>
              </p:cNvSpPr>
              <p:nvPr/>
            </p:nvSpPr>
            <p:spPr bwMode="auto">
              <a:xfrm>
                <a:off x="6974681" y="2635251"/>
                <a:ext cx="1587" cy="107950"/>
              </a:xfrm>
              <a:custGeom>
                <a:avLst/>
                <a:gdLst>
                  <a:gd name="T0" fmla="*/ 0 w 1"/>
                  <a:gd name="T1" fmla="*/ 297 h 298"/>
                  <a:gd name="T2" fmla="*/ 0 w 1"/>
                  <a:gd name="T3" fmla="*/ 0 h 298"/>
                </a:gdLst>
                <a:ahLst/>
                <a:cxnLst>
                  <a:cxn ang="0">
                    <a:pos x="T0" y="T1"/>
                  </a:cxn>
                  <a:cxn ang="0">
                    <a:pos x="T2" y="T3"/>
                  </a:cxn>
                </a:cxnLst>
                <a:rect l="0" t="0" r="r" b="b"/>
                <a:pathLst>
                  <a:path w="1" h="298">
                    <a:moveTo>
                      <a:pt x="0" y="297"/>
                    </a:moveTo>
                    <a:cubicBezTo>
                      <a:pt x="0" y="198"/>
                      <a:pt x="0" y="99"/>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53" name="Freeform 335">
                <a:extLst>
                  <a:ext uri="{FF2B5EF4-FFF2-40B4-BE49-F238E27FC236}">
                    <a16:creationId xmlns:a16="http://schemas.microsoft.com/office/drawing/2014/main" id="{17A639EB-7EA1-80DA-A5B2-4C169EDE2322}"/>
                  </a:ext>
                </a:extLst>
              </p:cNvPr>
              <p:cNvSpPr>
                <a:spLocks noChangeArrowheads="1"/>
              </p:cNvSpPr>
              <p:nvPr/>
            </p:nvSpPr>
            <p:spPr bwMode="auto">
              <a:xfrm>
                <a:off x="6927056" y="2606676"/>
                <a:ext cx="1587" cy="107950"/>
              </a:xfrm>
              <a:custGeom>
                <a:avLst/>
                <a:gdLst>
                  <a:gd name="T0" fmla="*/ 0 w 1"/>
                  <a:gd name="T1" fmla="*/ 297 h 298"/>
                  <a:gd name="T2" fmla="*/ 0 w 1"/>
                  <a:gd name="T3" fmla="*/ 0 h 298"/>
                </a:gdLst>
                <a:ahLst/>
                <a:cxnLst>
                  <a:cxn ang="0">
                    <a:pos x="T0" y="T1"/>
                  </a:cxn>
                  <a:cxn ang="0">
                    <a:pos x="T2" y="T3"/>
                  </a:cxn>
                </a:cxnLst>
                <a:rect l="0" t="0" r="r" b="b"/>
                <a:pathLst>
                  <a:path w="1" h="298">
                    <a:moveTo>
                      <a:pt x="0" y="297"/>
                    </a:moveTo>
                    <a:cubicBezTo>
                      <a:pt x="0" y="198"/>
                      <a:pt x="0" y="99"/>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54" name="Freeform 336">
                <a:extLst>
                  <a:ext uri="{FF2B5EF4-FFF2-40B4-BE49-F238E27FC236}">
                    <a16:creationId xmlns:a16="http://schemas.microsoft.com/office/drawing/2014/main" id="{0FD528BF-016C-B7D9-6DA9-8F7CC21113E2}"/>
                  </a:ext>
                </a:extLst>
              </p:cNvPr>
              <p:cNvSpPr>
                <a:spLocks noChangeArrowheads="1"/>
              </p:cNvSpPr>
              <p:nvPr/>
            </p:nvSpPr>
            <p:spPr bwMode="auto">
              <a:xfrm>
                <a:off x="6877843" y="2579688"/>
                <a:ext cx="1588" cy="107950"/>
              </a:xfrm>
              <a:custGeom>
                <a:avLst/>
                <a:gdLst>
                  <a:gd name="T0" fmla="*/ 0 w 1"/>
                  <a:gd name="T1" fmla="*/ 297 h 298"/>
                  <a:gd name="T2" fmla="*/ 0 w 1"/>
                  <a:gd name="T3" fmla="*/ 0 h 298"/>
                </a:gdLst>
                <a:ahLst/>
                <a:cxnLst>
                  <a:cxn ang="0">
                    <a:pos x="T0" y="T1"/>
                  </a:cxn>
                  <a:cxn ang="0">
                    <a:pos x="T2" y="T3"/>
                  </a:cxn>
                </a:cxnLst>
                <a:rect l="0" t="0" r="r" b="b"/>
                <a:pathLst>
                  <a:path w="1" h="298">
                    <a:moveTo>
                      <a:pt x="0" y="297"/>
                    </a:moveTo>
                    <a:cubicBezTo>
                      <a:pt x="0" y="198"/>
                      <a:pt x="0" y="99"/>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55" name="Freeform 337">
                <a:extLst>
                  <a:ext uri="{FF2B5EF4-FFF2-40B4-BE49-F238E27FC236}">
                    <a16:creationId xmlns:a16="http://schemas.microsoft.com/office/drawing/2014/main" id="{0C7926EA-7BEF-C12F-C41F-715E6C55B03B}"/>
                  </a:ext>
                </a:extLst>
              </p:cNvPr>
              <p:cNvSpPr>
                <a:spLocks noChangeArrowheads="1"/>
              </p:cNvSpPr>
              <p:nvPr/>
            </p:nvSpPr>
            <p:spPr bwMode="auto">
              <a:xfrm>
                <a:off x="7039768" y="2470151"/>
                <a:ext cx="93663" cy="53975"/>
              </a:xfrm>
              <a:custGeom>
                <a:avLst/>
                <a:gdLst>
                  <a:gd name="T0" fmla="*/ 257 w 258"/>
                  <a:gd name="T1" fmla="*/ 0 h 150"/>
                  <a:gd name="T2" fmla="*/ 0 w 258"/>
                  <a:gd name="T3" fmla="*/ 149 h 150"/>
                </a:gdLst>
                <a:ahLst/>
                <a:cxnLst>
                  <a:cxn ang="0">
                    <a:pos x="T0" y="T1"/>
                  </a:cxn>
                  <a:cxn ang="0">
                    <a:pos x="T2" y="T3"/>
                  </a:cxn>
                </a:cxnLst>
                <a:rect l="0" t="0" r="r" b="b"/>
                <a:pathLst>
                  <a:path w="258" h="150">
                    <a:moveTo>
                      <a:pt x="257" y="0"/>
                    </a:moveTo>
                    <a:cubicBezTo>
                      <a:pt x="172" y="49"/>
                      <a:pt x="86" y="99"/>
                      <a:pt x="0" y="14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56" name="Freeform 338">
                <a:extLst>
                  <a:ext uri="{FF2B5EF4-FFF2-40B4-BE49-F238E27FC236}">
                    <a16:creationId xmlns:a16="http://schemas.microsoft.com/office/drawing/2014/main" id="{FED04164-6B2A-8352-4B45-0605DC419AFC}"/>
                  </a:ext>
                </a:extLst>
              </p:cNvPr>
              <p:cNvSpPr>
                <a:spLocks noChangeArrowheads="1"/>
              </p:cNvSpPr>
              <p:nvPr/>
            </p:nvSpPr>
            <p:spPr bwMode="auto">
              <a:xfrm>
                <a:off x="6990556" y="2443163"/>
                <a:ext cx="93662" cy="53975"/>
              </a:xfrm>
              <a:custGeom>
                <a:avLst/>
                <a:gdLst>
                  <a:gd name="T0" fmla="*/ 257 w 258"/>
                  <a:gd name="T1" fmla="*/ 0 h 149"/>
                  <a:gd name="T2" fmla="*/ 0 w 258"/>
                  <a:gd name="T3" fmla="*/ 148 h 149"/>
                </a:gdLst>
                <a:ahLst/>
                <a:cxnLst>
                  <a:cxn ang="0">
                    <a:pos x="T0" y="T1"/>
                  </a:cxn>
                  <a:cxn ang="0">
                    <a:pos x="T2" y="T3"/>
                  </a:cxn>
                </a:cxnLst>
                <a:rect l="0" t="0" r="r" b="b"/>
                <a:pathLst>
                  <a:path w="258" h="149">
                    <a:moveTo>
                      <a:pt x="257" y="0"/>
                    </a:moveTo>
                    <a:cubicBezTo>
                      <a:pt x="172" y="49"/>
                      <a:pt x="86" y="98"/>
                      <a:pt x="0" y="14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57" name="Freeform 339">
                <a:extLst>
                  <a:ext uri="{FF2B5EF4-FFF2-40B4-BE49-F238E27FC236}">
                    <a16:creationId xmlns:a16="http://schemas.microsoft.com/office/drawing/2014/main" id="{F3D16108-F389-D9B9-4EE5-5D0CB054D679}"/>
                  </a:ext>
                </a:extLst>
              </p:cNvPr>
              <p:cNvSpPr>
                <a:spLocks noChangeArrowheads="1"/>
              </p:cNvSpPr>
              <p:nvPr/>
            </p:nvSpPr>
            <p:spPr bwMode="auto">
              <a:xfrm>
                <a:off x="6942931" y="2414588"/>
                <a:ext cx="93662" cy="53975"/>
              </a:xfrm>
              <a:custGeom>
                <a:avLst/>
                <a:gdLst>
                  <a:gd name="T0" fmla="*/ 257 w 258"/>
                  <a:gd name="T1" fmla="*/ 0 h 150"/>
                  <a:gd name="T2" fmla="*/ 0 w 258"/>
                  <a:gd name="T3" fmla="*/ 149 h 150"/>
                </a:gdLst>
                <a:ahLst/>
                <a:cxnLst>
                  <a:cxn ang="0">
                    <a:pos x="T0" y="T1"/>
                  </a:cxn>
                  <a:cxn ang="0">
                    <a:pos x="T2" y="T3"/>
                  </a:cxn>
                </a:cxnLst>
                <a:rect l="0" t="0" r="r" b="b"/>
                <a:pathLst>
                  <a:path w="258" h="150">
                    <a:moveTo>
                      <a:pt x="257" y="0"/>
                    </a:moveTo>
                    <a:cubicBezTo>
                      <a:pt x="172" y="49"/>
                      <a:pt x="86" y="99"/>
                      <a:pt x="0" y="14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sp>
        <p:nvSpPr>
          <p:cNvPr id="465" name="TextBox 464">
            <a:extLst>
              <a:ext uri="{FF2B5EF4-FFF2-40B4-BE49-F238E27FC236}">
                <a16:creationId xmlns:a16="http://schemas.microsoft.com/office/drawing/2014/main" id="{BB2246CA-7344-D02B-5210-BD6A5D00F40E}"/>
              </a:ext>
            </a:extLst>
          </p:cNvPr>
          <p:cNvSpPr txBox="1"/>
          <p:nvPr/>
        </p:nvSpPr>
        <p:spPr>
          <a:xfrm>
            <a:off x="4476245" y="1994918"/>
            <a:ext cx="2161018" cy="1200329"/>
          </a:xfrm>
          <a:prstGeom prst="rect">
            <a:avLst/>
          </a:prstGeom>
          <a:noFill/>
        </p:spPr>
        <p:txBody>
          <a:bodyPr wrap="square" rtlCol="0">
            <a:spAutoFit/>
          </a:bodyPr>
          <a:lstStyle/>
          <a:p>
            <a:pPr algn="ctr" defTabSz="1828800">
              <a:defRPr/>
            </a:pPr>
            <a:r>
              <a:rPr lang="en-GB">
                <a:latin typeface="Fira Sans Light" panose="020B0403050000020004" pitchFamily="34" charset="0"/>
              </a:rPr>
              <a:t>Containers / VMWare Cloud on Hyper-Scaler Platform</a:t>
            </a:r>
          </a:p>
        </p:txBody>
      </p:sp>
      <p:cxnSp>
        <p:nvCxnSpPr>
          <p:cNvPr id="466" name="Straight Connector 465">
            <a:extLst>
              <a:ext uri="{FF2B5EF4-FFF2-40B4-BE49-F238E27FC236}">
                <a16:creationId xmlns:a16="http://schemas.microsoft.com/office/drawing/2014/main" id="{85580A79-6677-A679-A52D-86B2B3AF5857}"/>
              </a:ext>
            </a:extLst>
          </p:cNvPr>
          <p:cNvCxnSpPr>
            <a:cxnSpLocks/>
          </p:cNvCxnSpPr>
          <p:nvPr/>
        </p:nvCxnSpPr>
        <p:spPr>
          <a:xfrm>
            <a:off x="7777408" y="2118368"/>
            <a:ext cx="11673496" cy="0"/>
          </a:xfrm>
          <a:prstGeom prst="line">
            <a:avLst/>
          </a:prstGeom>
          <a:ln w="50800">
            <a:solidFill>
              <a:srgbClr val="FF842E">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468" name="Group 467">
            <a:extLst>
              <a:ext uri="{FF2B5EF4-FFF2-40B4-BE49-F238E27FC236}">
                <a16:creationId xmlns:a16="http://schemas.microsoft.com/office/drawing/2014/main" id="{761C3510-A0D9-873B-0A87-77F267BE193E}"/>
              </a:ext>
            </a:extLst>
          </p:cNvPr>
          <p:cNvGrpSpPr>
            <a:grpSpLocks noChangeAspect="1"/>
          </p:cNvGrpSpPr>
          <p:nvPr/>
        </p:nvGrpSpPr>
        <p:grpSpPr>
          <a:xfrm>
            <a:off x="19450905" y="1888349"/>
            <a:ext cx="1217554" cy="1217554"/>
            <a:chOff x="6230938" y="2201863"/>
            <a:chExt cx="630237" cy="630237"/>
          </a:xfrm>
        </p:grpSpPr>
        <p:sp>
          <p:nvSpPr>
            <p:cNvPr id="469" name="Freeform 327">
              <a:extLst>
                <a:ext uri="{FF2B5EF4-FFF2-40B4-BE49-F238E27FC236}">
                  <a16:creationId xmlns:a16="http://schemas.microsoft.com/office/drawing/2014/main" id="{A9644433-CBA9-7CA1-C540-9A1A84FA8661}"/>
                </a:ext>
              </a:extLst>
            </p:cNvPr>
            <p:cNvSpPr>
              <a:spLocks noChangeArrowheads="1"/>
            </p:cNvSpPr>
            <p:nvPr/>
          </p:nvSpPr>
          <p:spPr bwMode="auto">
            <a:xfrm>
              <a:off x="6230938" y="2201863"/>
              <a:ext cx="630237" cy="630237"/>
            </a:xfrm>
            <a:custGeom>
              <a:avLst/>
              <a:gdLst>
                <a:gd name="T0" fmla="*/ 1467 w 1751"/>
                <a:gd name="T1" fmla="*/ 1749 h 1750"/>
                <a:gd name="T2" fmla="*/ 1750 w 1751"/>
                <a:gd name="T3" fmla="*/ 1467 h 1750"/>
                <a:gd name="T4" fmla="*/ 1750 w 1751"/>
                <a:gd name="T5" fmla="*/ 282 h 1750"/>
                <a:gd name="T6" fmla="*/ 1467 w 1751"/>
                <a:gd name="T7" fmla="*/ 0 h 1750"/>
                <a:gd name="T8" fmla="*/ 282 w 1751"/>
                <a:gd name="T9" fmla="*/ 0 h 1750"/>
                <a:gd name="T10" fmla="*/ 0 w 1751"/>
                <a:gd name="T11" fmla="*/ 282 h 1750"/>
                <a:gd name="T12" fmla="*/ 0 w 1751"/>
                <a:gd name="T13" fmla="*/ 1467 h 1750"/>
                <a:gd name="T14" fmla="*/ 282 w 1751"/>
                <a:gd name="T15" fmla="*/ 1749 h 1750"/>
                <a:gd name="T16" fmla="*/ 1467 w 1751"/>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0">
                  <a:moveTo>
                    <a:pt x="1467" y="1749"/>
                  </a:moveTo>
                  <a:cubicBezTo>
                    <a:pt x="1623" y="1749"/>
                    <a:pt x="1750" y="1623"/>
                    <a:pt x="1750" y="1467"/>
                  </a:cubicBezTo>
                  <a:cubicBezTo>
                    <a:pt x="1750" y="1072"/>
                    <a:pt x="1750" y="677"/>
                    <a:pt x="1750" y="282"/>
                  </a:cubicBezTo>
                  <a:cubicBezTo>
                    <a:pt x="1750" y="127"/>
                    <a:pt x="1623" y="0"/>
                    <a:pt x="1467" y="0"/>
                  </a:cubicBezTo>
                  <a:cubicBezTo>
                    <a:pt x="1072" y="0"/>
                    <a:pt x="677" y="0"/>
                    <a:pt x="282" y="0"/>
                  </a:cubicBezTo>
                  <a:cubicBezTo>
                    <a:pt x="127" y="0"/>
                    <a:pt x="0" y="127"/>
                    <a:pt x="0" y="282"/>
                  </a:cubicBezTo>
                  <a:cubicBezTo>
                    <a:pt x="0" y="677"/>
                    <a:pt x="0" y="1072"/>
                    <a:pt x="0" y="1467"/>
                  </a:cubicBezTo>
                  <a:cubicBezTo>
                    <a:pt x="0" y="1623"/>
                    <a:pt x="127" y="1749"/>
                    <a:pt x="282" y="1749"/>
                  </a:cubicBezTo>
                  <a:cubicBezTo>
                    <a:pt x="677" y="1749"/>
                    <a:pt x="1072" y="1749"/>
                    <a:pt x="1467" y="174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grpSp>
          <p:nvGrpSpPr>
            <p:cNvPr id="470" name="Group 469">
              <a:extLst>
                <a:ext uri="{FF2B5EF4-FFF2-40B4-BE49-F238E27FC236}">
                  <a16:creationId xmlns:a16="http://schemas.microsoft.com/office/drawing/2014/main" id="{2186421A-E22A-2172-03B0-075F703CB1D0}"/>
                </a:ext>
              </a:extLst>
            </p:cNvPr>
            <p:cNvGrpSpPr/>
            <p:nvPr/>
          </p:nvGrpSpPr>
          <p:grpSpPr>
            <a:xfrm>
              <a:off x="6296025" y="2268538"/>
              <a:ext cx="498475" cy="496887"/>
              <a:chOff x="6296025" y="2268538"/>
              <a:chExt cx="498475" cy="496887"/>
            </a:xfrm>
          </p:grpSpPr>
          <p:sp>
            <p:nvSpPr>
              <p:cNvPr id="471" name="Freeform 328">
                <a:extLst>
                  <a:ext uri="{FF2B5EF4-FFF2-40B4-BE49-F238E27FC236}">
                    <a16:creationId xmlns:a16="http://schemas.microsoft.com/office/drawing/2014/main" id="{3D24FF3E-1934-2FAC-5DAA-184CD5E45E98}"/>
                  </a:ext>
                </a:extLst>
              </p:cNvPr>
              <p:cNvSpPr>
                <a:spLocks noChangeArrowheads="1"/>
              </p:cNvSpPr>
              <p:nvPr/>
            </p:nvSpPr>
            <p:spPr bwMode="auto">
              <a:xfrm>
                <a:off x="6605588" y="2524125"/>
                <a:ext cx="80962" cy="61913"/>
              </a:xfrm>
              <a:custGeom>
                <a:avLst/>
                <a:gdLst>
                  <a:gd name="T0" fmla="*/ 222 w 223"/>
                  <a:gd name="T1" fmla="*/ 0 h 173"/>
                  <a:gd name="T2" fmla="*/ 174 w 223"/>
                  <a:gd name="T3" fmla="*/ 166 h 173"/>
                  <a:gd name="T4" fmla="*/ 166 w 223"/>
                  <a:gd name="T5" fmla="*/ 171 h 173"/>
                  <a:gd name="T6" fmla="*/ 0 w 223"/>
                  <a:gd name="T7" fmla="*/ 123 h 173"/>
                </a:gdLst>
                <a:ahLst/>
                <a:cxnLst>
                  <a:cxn ang="0">
                    <a:pos x="T0" y="T1"/>
                  </a:cxn>
                  <a:cxn ang="0">
                    <a:pos x="T2" y="T3"/>
                  </a:cxn>
                  <a:cxn ang="0">
                    <a:pos x="T4" y="T5"/>
                  </a:cxn>
                  <a:cxn ang="0">
                    <a:pos x="T6" y="T7"/>
                  </a:cxn>
                </a:cxnLst>
                <a:rect l="0" t="0" r="r" b="b"/>
                <a:pathLst>
                  <a:path w="223" h="173">
                    <a:moveTo>
                      <a:pt x="222" y="0"/>
                    </a:moveTo>
                    <a:cubicBezTo>
                      <a:pt x="206" y="55"/>
                      <a:pt x="190" y="110"/>
                      <a:pt x="174" y="166"/>
                    </a:cubicBezTo>
                    <a:cubicBezTo>
                      <a:pt x="173" y="170"/>
                      <a:pt x="169" y="172"/>
                      <a:pt x="166" y="171"/>
                    </a:cubicBezTo>
                    <a:cubicBezTo>
                      <a:pt x="111" y="155"/>
                      <a:pt x="56" y="139"/>
                      <a:pt x="0" y="12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72" name="Freeform 329">
                <a:extLst>
                  <a:ext uri="{FF2B5EF4-FFF2-40B4-BE49-F238E27FC236}">
                    <a16:creationId xmlns:a16="http://schemas.microsoft.com/office/drawing/2014/main" id="{DD8570F9-ABAE-AF67-3702-7D4830903310}"/>
                  </a:ext>
                </a:extLst>
              </p:cNvPr>
              <p:cNvSpPr>
                <a:spLocks noChangeArrowheads="1"/>
              </p:cNvSpPr>
              <p:nvPr/>
            </p:nvSpPr>
            <p:spPr bwMode="auto">
              <a:xfrm>
                <a:off x="6570663" y="2411413"/>
                <a:ext cx="96837" cy="173037"/>
              </a:xfrm>
              <a:custGeom>
                <a:avLst/>
                <a:gdLst>
                  <a:gd name="T0" fmla="*/ 0 w 268"/>
                  <a:gd name="T1" fmla="*/ 0 h 482"/>
                  <a:gd name="T2" fmla="*/ 267 w 268"/>
                  <a:gd name="T3" fmla="*/ 481 h 482"/>
                </a:gdLst>
                <a:ahLst/>
                <a:cxnLst>
                  <a:cxn ang="0">
                    <a:pos x="T0" y="T1"/>
                  </a:cxn>
                  <a:cxn ang="0">
                    <a:pos x="T2" y="T3"/>
                  </a:cxn>
                </a:cxnLst>
                <a:rect l="0" t="0" r="r" b="b"/>
                <a:pathLst>
                  <a:path w="268" h="482">
                    <a:moveTo>
                      <a:pt x="0" y="0"/>
                    </a:moveTo>
                    <a:cubicBezTo>
                      <a:pt x="89" y="160"/>
                      <a:pt x="178" y="320"/>
                      <a:pt x="267" y="48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73" name="Freeform 330">
                <a:extLst>
                  <a:ext uri="{FF2B5EF4-FFF2-40B4-BE49-F238E27FC236}">
                    <a16:creationId xmlns:a16="http://schemas.microsoft.com/office/drawing/2014/main" id="{88012344-FE02-0FBD-7A6D-F166798BE982}"/>
                  </a:ext>
                </a:extLst>
              </p:cNvPr>
              <p:cNvSpPr>
                <a:spLocks noChangeArrowheads="1"/>
              </p:cNvSpPr>
              <p:nvPr/>
            </p:nvSpPr>
            <p:spPr bwMode="auto">
              <a:xfrm>
                <a:off x="6403975" y="2524125"/>
                <a:ext cx="80963" cy="61913"/>
              </a:xfrm>
              <a:custGeom>
                <a:avLst/>
                <a:gdLst>
                  <a:gd name="T0" fmla="*/ 0 w 224"/>
                  <a:gd name="T1" fmla="*/ 0 h 173"/>
                  <a:gd name="T2" fmla="*/ 48 w 224"/>
                  <a:gd name="T3" fmla="*/ 166 h 173"/>
                  <a:gd name="T4" fmla="*/ 57 w 224"/>
                  <a:gd name="T5" fmla="*/ 171 h 173"/>
                  <a:gd name="T6" fmla="*/ 223 w 224"/>
                  <a:gd name="T7" fmla="*/ 123 h 173"/>
                </a:gdLst>
                <a:ahLst/>
                <a:cxnLst>
                  <a:cxn ang="0">
                    <a:pos x="T0" y="T1"/>
                  </a:cxn>
                  <a:cxn ang="0">
                    <a:pos x="T2" y="T3"/>
                  </a:cxn>
                  <a:cxn ang="0">
                    <a:pos x="T4" y="T5"/>
                  </a:cxn>
                  <a:cxn ang="0">
                    <a:pos x="T6" y="T7"/>
                  </a:cxn>
                </a:cxnLst>
                <a:rect l="0" t="0" r="r" b="b"/>
                <a:pathLst>
                  <a:path w="224" h="173">
                    <a:moveTo>
                      <a:pt x="0" y="0"/>
                    </a:moveTo>
                    <a:cubicBezTo>
                      <a:pt x="16" y="55"/>
                      <a:pt x="32" y="110"/>
                      <a:pt x="48" y="166"/>
                    </a:cubicBezTo>
                    <a:cubicBezTo>
                      <a:pt x="49" y="170"/>
                      <a:pt x="53" y="172"/>
                      <a:pt x="57" y="171"/>
                    </a:cubicBezTo>
                    <a:cubicBezTo>
                      <a:pt x="113" y="155"/>
                      <a:pt x="168" y="139"/>
                      <a:pt x="223" y="12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74" name="Freeform 331">
                <a:extLst>
                  <a:ext uri="{FF2B5EF4-FFF2-40B4-BE49-F238E27FC236}">
                    <a16:creationId xmlns:a16="http://schemas.microsoft.com/office/drawing/2014/main" id="{03506CAD-89B3-CE60-9534-AB2703DC5433}"/>
                  </a:ext>
                </a:extLst>
              </p:cNvPr>
              <p:cNvSpPr>
                <a:spLocks noChangeArrowheads="1"/>
              </p:cNvSpPr>
              <p:nvPr/>
            </p:nvSpPr>
            <p:spPr bwMode="auto">
              <a:xfrm>
                <a:off x="6423025" y="2411413"/>
                <a:ext cx="96838" cy="173037"/>
              </a:xfrm>
              <a:custGeom>
                <a:avLst/>
                <a:gdLst>
                  <a:gd name="T0" fmla="*/ 267 w 268"/>
                  <a:gd name="T1" fmla="*/ 0 h 482"/>
                  <a:gd name="T2" fmla="*/ 0 w 268"/>
                  <a:gd name="T3" fmla="*/ 481 h 482"/>
                </a:gdLst>
                <a:ahLst/>
                <a:cxnLst>
                  <a:cxn ang="0">
                    <a:pos x="T0" y="T1"/>
                  </a:cxn>
                  <a:cxn ang="0">
                    <a:pos x="T2" y="T3"/>
                  </a:cxn>
                </a:cxnLst>
                <a:rect l="0" t="0" r="r" b="b"/>
                <a:pathLst>
                  <a:path w="268" h="482">
                    <a:moveTo>
                      <a:pt x="267" y="0"/>
                    </a:moveTo>
                    <a:cubicBezTo>
                      <a:pt x="178" y="160"/>
                      <a:pt x="89" y="320"/>
                      <a:pt x="0" y="48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75" name="Freeform 332">
                <a:extLst>
                  <a:ext uri="{FF2B5EF4-FFF2-40B4-BE49-F238E27FC236}">
                    <a16:creationId xmlns:a16="http://schemas.microsoft.com/office/drawing/2014/main" id="{595CE303-E860-88B5-D56F-FF5BB28FBAAE}"/>
                  </a:ext>
                </a:extLst>
              </p:cNvPr>
              <p:cNvSpPr>
                <a:spLocks noChangeArrowheads="1"/>
              </p:cNvSpPr>
              <p:nvPr/>
            </p:nvSpPr>
            <p:spPr bwMode="auto">
              <a:xfrm>
                <a:off x="6464300" y="2268538"/>
                <a:ext cx="163513" cy="163512"/>
              </a:xfrm>
              <a:custGeom>
                <a:avLst/>
                <a:gdLst>
                  <a:gd name="T0" fmla="*/ 451 w 452"/>
                  <a:gd name="T1" fmla="*/ 225 h 452"/>
                  <a:gd name="T2" fmla="*/ 403 w 452"/>
                  <a:gd name="T3" fmla="*/ 155 h 452"/>
                  <a:gd name="T4" fmla="*/ 401 w 452"/>
                  <a:gd name="T5" fmla="*/ 153 h 452"/>
                  <a:gd name="T6" fmla="*/ 401 w 452"/>
                  <a:gd name="T7" fmla="*/ 150 h 452"/>
                  <a:gd name="T8" fmla="*/ 385 w 452"/>
                  <a:gd name="T9" fmla="*/ 66 h 452"/>
                  <a:gd name="T10" fmla="*/ 301 w 452"/>
                  <a:gd name="T11" fmla="*/ 50 h 452"/>
                  <a:gd name="T12" fmla="*/ 298 w 452"/>
                  <a:gd name="T13" fmla="*/ 50 h 452"/>
                  <a:gd name="T14" fmla="*/ 296 w 452"/>
                  <a:gd name="T15" fmla="*/ 48 h 452"/>
                  <a:gd name="T16" fmla="*/ 226 w 452"/>
                  <a:gd name="T17" fmla="*/ 0 h 452"/>
                  <a:gd name="T18" fmla="*/ 155 w 452"/>
                  <a:gd name="T19" fmla="*/ 48 h 452"/>
                  <a:gd name="T20" fmla="*/ 153 w 452"/>
                  <a:gd name="T21" fmla="*/ 50 h 452"/>
                  <a:gd name="T22" fmla="*/ 150 w 452"/>
                  <a:gd name="T23" fmla="*/ 50 h 452"/>
                  <a:gd name="T24" fmla="*/ 66 w 452"/>
                  <a:gd name="T25" fmla="*/ 66 h 452"/>
                  <a:gd name="T26" fmla="*/ 51 w 452"/>
                  <a:gd name="T27" fmla="*/ 150 h 452"/>
                  <a:gd name="T28" fmla="*/ 51 w 452"/>
                  <a:gd name="T29" fmla="*/ 153 h 452"/>
                  <a:gd name="T30" fmla="*/ 49 w 452"/>
                  <a:gd name="T31" fmla="*/ 155 h 452"/>
                  <a:gd name="T32" fmla="*/ 0 w 452"/>
                  <a:gd name="T33" fmla="*/ 225 h 452"/>
                  <a:gd name="T34" fmla="*/ 49 w 452"/>
                  <a:gd name="T35" fmla="*/ 296 h 452"/>
                  <a:gd name="T36" fmla="*/ 51 w 452"/>
                  <a:gd name="T37" fmla="*/ 298 h 452"/>
                  <a:gd name="T38" fmla="*/ 51 w 452"/>
                  <a:gd name="T39" fmla="*/ 301 h 452"/>
                  <a:gd name="T40" fmla="*/ 66 w 452"/>
                  <a:gd name="T41" fmla="*/ 385 h 452"/>
                  <a:gd name="T42" fmla="*/ 150 w 452"/>
                  <a:gd name="T43" fmla="*/ 400 h 452"/>
                  <a:gd name="T44" fmla="*/ 153 w 452"/>
                  <a:gd name="T45" fmla="*/ 400 h 452"/>
                  <a:gd name="T46" fmla="*/ 155 w 452"/>
                  <a:gd name="T47" fmla="*/ 402 h 452"/>
                  <a:gd name="T48" fmla="*/ 226 w 452"/>
                  <a:gd name="T49" fmla="*/ 451 h 452"/>
                  <a:gd name="T50" fmla="*/ 296 w 452"/>
                  <a:gd name="T51" fmla="*/ 402 h 452"/>
                  <a:gd name="T52" fmla="*/ 298 w 452"/>
                  <a:gd name="T53" fmla="*/ 400 h 452"/>
                  <a:gd name="T54" fmla="*/ 301 w 452"/>
                  <a:gd name="T55" fmla="*/ 400 h 452"/>
                  <a:gd name="T56" fmla="*/ 385 w 452"/>
                  <a:gd name="T57" fmla="*/ 385 h 452"/>
                  <a:gd name="T58" fmla="*/ 401 w 452"/>
                  <a:gd name="T59" fmla="*/ 301 h 452"/>
                  <a:gd name="T60" fmla="*/ 401 w 452"/>
                  <a:gd name="T61" fmla="*/ 298 h 452"/>
                  <a:gd name="T62" fmla="*/ 403 w 452"/>
                  <a:gd name="T63" fmla="*/ 296 h 452"/>
                  <a:gd name="T64" fmla="*/ 451 w 452"/>
                  <a:gd name="T65" fmla="*/ 22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2" h="452">
                    <a:moveTo>
                      <a:pt x="451" y="225"/>
                    </a:moveTo>
                    <a:cubicBezTo>
                      <a:pt x="451" y="193"/>
                      <a:pt x="431" y="166"/>
                      <a:pt x="403" y="155"/>
                    </a:cubicBezTo>
                    <a:cubicBezTo>
                      <a:pt x="402" y="155"/>
                      <a:pt x="401" y="154"/>
                      <a:pt x="401" y="153"/>
                    </a:cubicBezTo>
                    <a:cubicBezTo>
                      <a:pt x="400" y="152"/>
                      <a:pt x="400" y="151"/>
                      <a:pt x="401" y="150"/>
                    </a:cubicBezTo>
                    <a:cubicBezTo>
                      <a:pt x="413" y="122"/>
                      <a:pt x="408" y="89"/>
                      <a:pt x="385" y="66"/>
                    </a:cubicBezTo>
                    <a:cubicBezTo>
                      <a:pt x="363" y="43"/>
                      <a:pt x="329" y="38"/>
                      <a:pt x="301" y="50"/>
                    </a:cubicBezTo>
                    <a:cubicBezTo>
                      <a:pt x="300" y="51"/>
                      <a:pt x="300" y="50"/>
                      <a:pt x="298" y="50"/>
                    </a:cubicBezTo>
                    <a:cubicBezTo>
                      <a:pt x="297" y="49"/>
                      <a:pt x="297" y="49"/>
                      <a:pt x="296" y="48"/>
                    </a:cubicBezTo>
                    <a:cubicBezTo>
                      <a:pt x="285" y="20"/>
                      <a:pt x="259" y="0"/>
                      <a:pt x="226" y="0"/>
                    </a:cubicBezTo>
                    <a:cubicBezTo>
                      <a:pt x="194" y="0"/>
                      <a:pt x="166" y="20"/>
                      <a:pt x="155" y="48"/>
                    </a:cubicBezTo>
                    <a:cubicBezTo>
                      <a:pt x="155" y="49"/>
                      <a:pt x="154" y="50"/>
                      <a:pt x="153" y="50"/>
                    </a:cubicBezTo>
                    <a:cubicBezTo>
                      <a:pt x="152" y="51"/>
                      <a:pt x="151" y="51"/>
                      <a:pt x="150" y="50"/>
                    </a:cubicBezTo>
                    <a:cubicBezTo>
                      <a:pt x="123" y="38"/>
                      <a:pt x="89" y="43"/>
                      <a:pt x="66" y="66"/>
                    </a:cubicBezTo>
                    <a:cubicBezTo>
                      <a:pt x="43" y="89"/>
                      <a:pt x="38" y="122"/>
                      <a:pt x="51" y="150"/>
                    </a:cubicBezTo>
                    <a:cubicBezTo>
                      <a:pt x="51" y="151"/>
                      <a:pt x="51" y="152"/>
                      <a:pt x="51" y="153"/>
                    </a:cubicBezTo>
                    <a:cubicBezTo>
                      <a:pt x="50" y="154"/>
                      <a:pt x="50" y="155"/>
                      <a:pt x="49" y="155"/>
                    </a:cubicBezTo>
                    <a:cubicBezTo>
                      <a:pt x="20" y="166"/>
                      <a:pt x="0" y="193"/>
                      <a:pt x="0" y="225"/>
                    </a:cubicBezTo>
                    <a:cubicBezTo>
                      <a:pt x="0" y="258"/>
                      <a:pt x="20" y="285"/>
                      <a:pt x="49" y="296"/>
                    </a:cubicBezTo>
                    <a:cubicBezTo>
                      <a:pt x="50" y="296"/>
                      <a:pt x="50" y="297"/>
                      <a:pt x="51" y="298"/>
                    </a:cubicBezTo>
                    <a:cubicBezTo>
                      <a:pt x="51" y="299"/>
                      <a:pt x="51" y="300"/>
                      <a:pt x="51" y="301"/>
                    </a:cubicBezTo>
                    <a:cubicBezTo>
                      <a:pt x="38" y="328"/>
                      <a:pt x="43" y="362"/>
                      <a:pt x="66" y="385"/>
                    </a:cubicBezTo>
                    <a:cubicBezTo>
                      <a:pt x="89" y="408"/>
                      <a:pt x="123" y="413"/>
                      <a:pt x="150" y="400"/>
                    </a:cubicBezTo>
                    <a:cubicBezTo>
                      <a:pt x="151" y="400"/>
                      <a:pt x="152" y="399"/>
                      <a:pt x="153" y="400"/>
                    </a:cubicBezTo>
                    <a:cubicBezTo>
                      <a:pt x="155" y="400"/>
                      <a:pt x="155" y="401"/>
                      <a:pt x="155" y="402"/>
                    </a:cubicBezTo>
                    <a:cubicBezTo>
                      <a:pt x="166" y="431"/>
                      <a:pt x="194" y="451"/>
                      <a:pt x="226" y="451"/>
                    </a:cubicBezTo>
                    <a:cubicBezTo>
                      <a:pt x="259" y="451"/>
                      <a:pt x="285" y="431"/>
                      <a:pt x="296" y="402"/>
                    </a:cubicBezTo>
                    <a:cubicBezTo>
                      <a:pt x="297" y="401"/>
                      <a:pt x="297" y="401"/>
                      <a:pt x="298" y="400"/>
                    </a:cubicBezTo>
                    <a:cubicBezTo>
                      <a:pt x="299" y="400"/>
                      <a:pt x="300" y="400"/>
                      <a:pt x="301" y="400"/>
                    </a:cubicBezTo>
                    <a:cubicBezTo>
                      <a:pt x="329" y="413"/>
                      <a:pt x="363" y="408"/>
                      <a:pt x="385" y="385"/>
                    </a:cubicBezTo>
                    <a:cubicBezTo>
                      <a:pt x="408" y="362"/>
                      <a:pt x="413" y="328"/>
                      <a:pt x="401" y="301"/>
                    </a:cubicBezTo>
                    <a:cubicBezTo>
                      <a:pt x="400" y="300"/>
                      <a:pt x="400" y="299"/>
                      <a:pt x="401" y="298"/>
                    </a:cubicBezTo>
                    <a:cubicBezTo>
                      <a:pt x="401" y="297"/>
                      <a:pt x="402" y="296"/>
                      <a:pt x="403" y="296"/>
                    </a:cubicBezTo>
                    <a:cubicBezTo>
                      <a:pt x="431" y="285"/>
                      <a:pt x="451" y="258"/>
                      <a:pt x="451" y="22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476" name="Freeform 333">
                <a:extLst>
                  <a:ext uri="{FF2B5EF4-FFF2-40B4-BE49-F238E27FC236}">
                    <a16:creationId xmlns:a16="http://schemas.microsoft.com/office/drawing/2014/main" id="{CD876C12-F1C5-F876-12D6-E26B6B2D7CAA}"/>
                  </a:ext>
                </a:extLst>
              </p:cNvPr>
              <p:cNvSpPr>
                <a:spLocks noChangeArrowheads="1"/>
              </p:cNvSpPr>
              <p:nvPr/>
            </p:nvSpPr>
            <p:spPr bwMode="auto">
              <a:xfrm>
                <a:off x="6630988" y="2601913"/>
                <a:ext cx="163512" cy="163512"/>
              </a:xfrm>
              <a:custGeom>
                <a:avLst/>
                <a:gdLst>
                  <a:gd name="T0" fmla="*/ 452 w 453"/>
                  <a:gd name="T1" fmla="*/ 226 h 453"/>
                  <a:gd name="T2" fmla="*/ 403 w 453"/>
                  <a:gd name="T3" fmla="*/ 155 h 453"/>
                  <a:gd name="T4" fmla="*/ 401 w 453"/>
                  <a:gd name="T5" fmla="*/ 154 h 453"/>
                  <a:gd name="T6" fmla="*/ 401 w 453"/>
                  <a:gd name="T7" fmla="*/ 151 h 453"/>
                  <a:gd name="T8" fmla="*/ 386 w 453"/>
                  <a:gd name="T9" fmla="*/ 66 h 453"/>
                  <a:gd name="T10" fmla="*/ 301 w 453"/>
                  <a:gd name="T11" fmla="*/ 51 h 453"/>
                  <a:gd name="T12" fmla="*/ 298 w 453"/>
                  <a:gd name="T13" fmla="*/ 51 h 453"/>
                  <a:gd name="T14" fmla="*/ 296 w 453"/>
                  <a:gd name="T15" fmla="*/ 49 h 453"/>
                  <a:gd name="T16" fmla="*/ 226 w 453"/>
                  <a:gd name="T17" fmla="*/ 0 h 453"/>
                  <a:gd name="T18" fmla="*/ 156 w 453"/>
                  <a:gd name="T19" fmla="*/ 49 h 453"/>
                  <a:gd name="T20" fmla="*/ 154 w 453"/>
                  <a:gd name="T21" fmla="*/ 51 h 453"/>
                  <a:gd name="T22" fmla="*/ 151 w 453"/>
                  <a:gd name="T23" fmla="*/ 51 h 453"/>
                  <a:gd name="T24" fmla="*/ 66 w 453"/>
                  <a:gd name="T25" fmla="*/ 66 h 453"/>
                  <a:gd name="T26" fmla="*/ 51 w 453"/>
                  <a:gd name="T27" fmla="*/ 151 h 453"/>
                  <a:gd name="T28" fmla="*/ 51 w 453"/>
                  <a:gd name="T29" fmla="*/ 154 h 453"/>
                  <a:gd name="T30" fmla="*/ 49 w 453"/>
                  <a:gd name="T31" fmla="*/ 156 h 453"/>
                  <a:gd name="T32" fmla="*/ 0 w 453"/>
                  <a:gd name="T33" fmla="*/ 226 h 453"/>
                  <a:gd name="T34" fmla="*/ 49 w 453"/>
                  <a:gd name="T35" fmla="*/ 296 h 453"/>
                  <a:gd name="T36" fmla="*/ 51 w 453"/>
                  <a:gd name="T37" fmla="*/ 298 h 453"/>
                  <a:gd name="T38" fmla="*/ 51 w 453"/>
                  <a:gd name="T39" fmla="*/ 301 h 453"/>
                  <a:gd name="T40" fmla="*/ 66 w 453"/>
                  <a:gd name="T41" fmla="*/ 386 h 453"/>
                  <a:gd name="T42" fmla="*/ 151 w 453"/>
                  <a:gd name="T43" fmla="*/ 401 h 453"/>
                  <a:gd name="T44" fmla="*/ 154 w 453"/>
                  <a:gd name="T45" fmla="*/ 401 h 453"/>
                  <a:gd name="T46" fmla="*/ 156 w 453"/>
                  <a:gd name="T47" fmla="*/ 403 h 453"/>
                  <a:gd name="T48" fmla="*/ 226 w 453"/>
                  <a:gd name="T49" fmla="*/ 452 h 453"/>
                  <a:gd name="T50" fmla="*/ 296 w 453"/>
                  <a:gd name="T51" fmla="*/ 403 h 453"/>
                  <a:gd name="T52" fmla="*/ 298 w 453"/>
                  <a:gd name="T53" fmla="*/ 401 h 453"/>
                  <a:gd name="T54" fmla="*/ 301 w 453"/>
                  <a:gd name="T55" fmla="*/ 401 h 453"/>
                  <a:gd name="T56" fmla="*/ 386 w 453"/>
                  <a:gd name="T57" fmla="*/ 386 h 453"/>
                  <a:gd name="T58" fmla="*/ 401 w 453"/>
                  <a:gd name="T59" fmla="*/ 301 h 453"/>
                  <a:gd name="T60" fmla="*/ 401 w 453"/>
                  <a:gd name="T61" fmla="*/ 298 h 453"/>
                  <a:gd name="T62" fmla="*/ 403 w 453"/>
                  <a:gd name="T63" fmla="*/ 296 h 453"/>
                  <a:gd name="T64" fmla="*/ 452 w 453"/>
                  <a:gd name="T65" fmla="*/ 226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3" h="453">
                    <a:moveTo>
                      <a:pt x="452" y="226"/>
                    </a:moveTo>
                    <a:cubicBezTo>
                      <a:pt x="452" y="194"/>
                      <a:pt x="431" y="166"/>
                      <a:pt x="403" y="155"/>
                    </a:cubicBezTo>
                    <a:cubicBezTo>
                      <a:pt x="402" y="155"/>
                      <a:pt x="402" y="154"/>
                      <a:pt x="401" y="154"/>
                    </a:cubicBezTo>
                    <a:cubicBezTo>
                      <a:pt x="401" y="153"/>
                      <a:pt x="401" y="152"/>
                      <a:pt x="401" y="151"/>
                    </a:cubicBezTo>
                    <a:cubicBezTo>
                      <a:pt x="414" y="123"/>
                      <a:pt x="409" y="88"/>
                      <a:pt x="386" y="66"/>
                    </a:cubicBezTo>
                    <a:cubicBezTo>
                      <a:pt x="364" y="43"/>
                      <a:pt x="329" y="38"/>
                      <a:pt x="301" y="51"/>
                    </a:cubicBezTo>
                    <a:cubicBezTo>
                      <a:pt x="300" y="51"/>
                      <a:pt x="299" y="51"/>
                      <a:pt x="298" y="51"/>
                    </a:cubicBezTo>
                    <a:cubicBezTo>
                      <a:pt x="298" y="50"/>
                      <a:pt x="297" y="50"/>
                      <a:pt x="296" y="49"/>
                    </a:cubicBezTo>
                    <a:cubicBezTo>
                      <a:pt x="286" y="21"/>
                      <a:pt x="258" y="0"/>
                      <a:pt x="226" y="0"/>
                    </a:cubicBezTo>
                    <a:cubicBezTo>
                      <a:pt x="194" y="0"/>
                      <a:pt x="166" y="21"/>
                      <a:pt x="156" y="49"/>
                    </a:cubicBezTo>
                    <a:cubicBezTo>
                      <a:pt x="155" y="50"/>
                      <a:pt x="155" y="50"/>
                      <a:pt x="154" y="51"/>
                    </a:cubicBezTo>
                    <a:cubicBezTo>
                      <a:pt x="153" y="51"/>
                      <a:pt x="152" y="51"/>
                      <a:pt x="151" y="51"/>
                    </a:cubicBezTo>
                    <a:cubicBezTo>
                      <a:pt x="123" y="38"/>
                      <a:pt x="89" y="44"/>
                      <a:pt x="66" y="66"/>
                    </a:cubicBezTo>
                    <a:cubicBezTo>
                      <a:pt x="44" y="89"/>
                      <a:pt x="39" y="123"/>
                      <a:pt x="51" y="151"/>
                    </a:cubicBezTo>
                    <a:cubicBezTo>
                      <a:pt x="52" y="152"/>
                      <a:pt x="52" y="153"/>
                      <a:pt x="51" y="154"/>
                    </a:cubicBezTo>
                    <a:cubicBezTo>
                      <a:pt x="51" y="154"/>
                      <a:pt x="50" y="155"/>
                      <a:pt x="49" y="156"/>
                    </a:cubicBezTo>
                    <a:cubicBezTo>
                      <a:pt x="21" y="166"/>
                      <a:pt x="0" y="194"/>
                      <a:pt x="0" y="226"/>
                    </a:cubicBezTo>
                    <a:cubicBezTo>
                      <a:pt x="0" y="258"/>
                      <a:pt x="21" y="286"/>
                      <a:pt x="49" y="296"/>
                    </a:cubicBezTo>
                    <a:cubicBezTo>
                      <a:pt x="50" y="297"/>
                      <a:pt x="51" y="297"/>
                      <a:pt x="51" y="298"/>
                    </a:cubicBezTo>
                    <a:cubicBezTo>
                      <a:pt x="52" y="299"/>
                      <a:pt x="52" y="300"/>
                      <a:pt x="51" y="301"/>
                    </a:cubicBezTo>
                    <a:cubicBezTo>
                      <a:pt x="39" y="329"/>
                      <a:pt x="44" y="363"/>
                      <a:pt x="66" y="386"/>
                    </a:cubicBezTo>
                    <a:cubicBezTo>
                      <a:pt x="89" y="408"/>
                      <a:pt x="123" y="413"/>
                      <a:pt x="151" y="401"/>
                    </a:cubicBezTo>
                    <a:cubicBezTo>
                      <a:pt x="152" y="400"/>
                      <a:pt x="153" y="400"/>
                      <a:pt x="154" y="401"/>
                    </a:cubicBezTo>
                    <a:cubicBezTo>
                      <a:pt x="155" y="401"/>
                      <a:pt x="155" y="402"/>
                      <a:pt x="156" y="403"/>
                    </a:cubicBezTo>
                    <a:cubicBezTo>
                      <a:pt x="166" y="431"/>
                      <a:pt x="194" y="452"/>
                      <a:pt x="226" y="452"/>
                    </a:cubicBezTo>
                    <a:cubicBezTo>
                      <a:pt x="258" y="452"/>
                      <a:pt x="286" y="431"/>
                      <a:pt x="296" y="403"/>
                    </a:cubicBezTo>
                    <a:cubicBezTo>
                      <a:pt x="297" y="402"/>
                      <a:pt x="298" y="401"/>
                      <a:pt x="298" y="401"/>
                    </a:cubicBezTo>
                    <a:cubicBezTo>
                      <a:pt x="299" y="400"/>
                      <a:pt x="300" y="400"/>
                      <a:pt x="301" y="401"/>
                    </a:cubicBezTo>
                    <a:cubicBezTo>
                      <a:pt x="329" y="413"/>
                      <a:pt x="364" y="408"/>
                      <a:pt x="386" y="386"/>
                    </a:cubicBezTo>
                    <a:cubicBezTo>
                      <a:pt x="409" y="363"/>
                      <a:pt x="414" y="329"/>
                      <a:pt x="401" y="301"/>
                    </a:cubicBezTo>
                    <a:cubicBezTo>
                      <a:pt x="401" y="300"/>
                      <a:pt x="401" y="299"/>
                      <a:pt x="401" y="298"/>
                    </a:cubicBezTo>
                    <a:cubicBezTo>
                      <a:pt x="402" y="297"/>
                      <a:pt x="402" y="297"/>
                      <a:pt x="403" y="296"/>
                    </a:cubicBezTo>
                    <a:cubicBezTo>
                      <a:pt x="431" y="286"/>
                      <a:pt x="452" y="258"/>
                      <a:pt x="452" y="22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477" name="Freeform 334">
                <a:extLst>
                  <a:ext uri="{FF2B5EF4-FFF2-40B4-BE49-F238E27FC236}">
                    <a16:creationId xmlns:a16="http://schemas.microsoft.com/office/drawing/2014/main" id="{82E6B5CB-62E2-B946-D9D9-D7DA4C830CB2}"/>
                  </a:ext>
                </a:extLst>
              </p:cNvPr>
              <p:cNvSpPr>
                <a:spLocks noChangeArrowheads="1"/>
              </p:cNvSpPr>
              <p:nvPr/>
            </p:nvSpPr>
            <p:spPr bwMode="auto">
              <a:xfrm>
                <a:off x="6296025" y="2601913"/>
                <a:ext cx="163513" cy="163512"/>
              </a:xfrm>
              <a:custGeom>
                <a:avLst/>
                <a:gdLst>
                  <a:gd name="T0" fmla="*/ 451 w 452"/>
                  <a:gd name="T1" fmla="*/ 226 h 453"/>
                  <a:gd name="T2" fmla="*/ 402 w 452"/>
                  <a:gd name="T3" fmla="*/ 155 h 453"/>
                  <a:gd name="T4" fmla="*/ 400 w 452"/>
                  <a:gd name="T5" fmla="*/ 154 h 453"/>
                  <a:gd name="T6" fmla="*/ 400 w 452"/>
                  <a:gd name="T7" fmla="*/ 151 h 453"/>
                  <a:gd name="T8" fmla="*/ 385 w 452"/>
                  <a:gd name="T9" fmla="*/ 66 h 453"/>
                  <a:gd name="T10" fmla="*/ 301 w 452"/>
                  <a:gd name="T11" fmla="*/ 51 h 453"/>
                  <a:gd name="T12" fmla="*/ 298 w 452"/>
                  <a:gd name="T13" fmla="*/ 51 h 453"/>
                  <a:gd name="T14" fmla="*/ 296 w 452"/>
                  <a:gd name="T15" fmla="*/ 49 h 453"/>
                  <a:gd name="T16" fmla="*/ 225 w 452"/>
                  <a:gd name="T17" fmla="*/ 0 h 453"/>
                  <a:gd name="T18" fmla="*/ 155 w 452"/>
                  <a:gd name="T19" fmla="*/ 49 h 453"/>
                  <a:gd name="T20" fmla="*/ 153 w 452"/>
                  <a:gd name="T21" fmla="*/ 51 h 453"/>
                  <a:gd name="T22" fmla="*/ 150 w 452"/>
                  <a:gd name="T23" fmla="*/ 51 h 453"/>
                  <a:gd name="T24" fmla="*/ 66 w 452"/>
                  <a:gd name="T25" fmla="*/ 66 h 453"/>
                  <a:gd name="T26" fmla="*/ 50 w 452"/>
                  <a:gd name="T27" fmla="*/ 151 h 453"/>
                  <a:gd name="T28" fmla="*/ 51 w 452"/>
                  <a:gd name="T29" fmla="*/ 154 h 453"/>
                  <a:gd name="T30" fmla="*/ 48 w 452"/>
                  <a:gd name="T31" fmla="*/ 156 h 453"/>
                  <a:gd name="T32" fmla="*/ 0 w 452"/>
                  <a:gd name="T33" fmla="*/ 226 h 453"/>
                  <a:gd name="T34" fmla="*/ 48 w 452"/>
                  <a:gd name="T35" fmla="*/ 296 h 453"/>
                  <a:gd name="T36" fmla="*/ 51 w 452"/>
                  <a:gd name="T37" fmla="*/ 298 h 453"/>
                  <a:gd name="T38" fmla="*/ 50 w 452"/>
                  <a:gd name="T39" fmla="*/ 301 h 453"/>
                  <a:gd name="T40" fmla="*/ 66 w 452"/>
                  <a:gd name="T41" fmla="*/ 386 h 453"/>
                  <a:gd name="T42" fmla="*/ 150 w 452"/>
                  <a:gd name="T43" fmla="*/ 401 h 453"/>
                  <a:gd name="T44" fmla="*/ 153 w 452"/>
                  <a:gd name="T45" fmla="*/ 401 h 453"/>
                  <a:gd name="T46" fmla="*/ 155 w 452"/>
                  <a:gd name="T47" fmla="*/ 403 h 453"/>
                  <a:gd name="T48" fmla="*/ 225 w 452"/>
                  <a:gd name="T49" fmla="*/ 452 h 453"/>
                  <a:gd name="T50" fmla="*/ 296 w 452"/>
                  <a:gd name="T51" fmla="*/ 403 h 453"/>
                  <a:gd name="T52" fmla="*/ 298 w 452"/>
                  <a:gd name="T53" fmla="*/ 401 h 453"/>
                  <a:gd name="T54" fmla="*/ 301 w 452"/>
                  <a:gd name="T55" fmla="*/ 401 h 453"/>
                  <a:gd name="T56" fmla="*/ 385 w 452"/>
                  <a:gd name="T57" fmla="*/ 386 h 453"/>
                  <a:gd name="T58" fmla="*/ 400 w 452"/>
                  <a:gd name="T59" fmla="*/ 301 h 453"/>
                  <a:gd name="T60" fmla="*/ 400 w 452"/>
                  <a:gd name="T61" fmla="*/ 298 h 453"/>
                  <a:gd name="T62" fmla="*/ 402 w 452"/>
                  <a:gd name="T63" fmla="*/ 296 h 453"/>
                  <a:gd name="T64" fmla="*/ 451 w 452"/>
                  <a:gd name="T65" fmla="*/ 226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2" h="453">
                    <a:moveTo>
                      <a:pt x="451" y="226"/>
                    </a:moveTo>
                    <a:cubicBezTo>
                      <a:pt x="451" y="194"/>
                      <a:pt x="431" y="166"/>
                      <a:pt x="402" y="155"/>
                    </a:cubicBezTo>
                    <a:cubicBezTo>
                      <a:pt x="401" y="155"/>
                      <a:pt x="401" y="154"/>
                      <a:pt x="400" y="154"/>
                    </a:cubicBezTo>
                    <a:cubicBezTo>
                      <a:pt x="400" y="153"/>
                      <a:pt x="400" y="152"/>
                      <a:pt x="400" y="151"/>
                    </a:cubicBezTo>
                    <a:cubicBezTo>
                      <a:pt x="413" y="123"/>
                      <a:pt x="408" y="88"/>
                      <a:pt x="385" y="66"/>
                    </a:cubicBezTo>
                    <a:cubicBezTo>
                      <a:pt x="362" y="43"/>
                      <a:pt x="328" y="38"/>
                      <a:pt x="301" y="51"/>
                    </a:cubicBezTo>
                    <a:cubicBezTo>
                      <a:pt x="300" y="51"/>
                      <a:pt x="299" y="51"/>
                      <a:pt x="298" y="51"/>
                    </a:cubicBezTo>
                    <a:cubicBezTo>
                      <a:pt x="297" y="51"/>
                      <a:pt x="296" y="50"/>
                      <a:pt x="296" y="49"/>
                    </a:cubicBezTo>
                    <a:cubicBezTo>
                      <a:pt x="285" y="21"/>
                      <a:pt x="258" y="0"/>
                      <a:pt x="225" y="0"/>
                    </a:cubicBezTo>
                    <a:cubicBezTo>
                      <a:pt x="193" y="0"/>
                      <a:pt x="166" y="21"/>
                      <a:pt x="155" y="49"/>
                    </a:cubicBezTo>
                    <a:cubicBezTo>
                      <a:pt x="155" y="50"/>
                      <a:pt x="154" y="51"/>
                      <a:pt x="153" y="51"/>
                    </a:cubicBezTo>
                    <a:cubicBezTo>
                      <a:pt x="152" y="51"/>
                      <a:pt x="151" y="51"/>
                      <a:pt x="150" y="51"/>
                    </a:cubicBezTo>
                    <a:cubicBezTo>
                      <a:pt x="122" y="38"/>
                      <a:pt x="89" y="44"/>
                      <a:pt x="66" y="66"/>
                    </a:cubicBezTo>
                    <a:cubicBezTo>
                      <a:pt x="43" y="89"/>
                      <a:pt x="38" y="123"/>
                      <a:pt x="50" y="151"/>
                    </a:cubicBezTo>
                    <a:cubicBezTo>
                      <a:pt x="51" y="152"/>
                      <a:pt x="52" y="153"/>
                      <a:pt x="51" y="154"/>
                    </a:cubicBezTo>
                    <a:cubicBezTo>
                      <a:pt x="51" y="154"/>
                      <a:pt x="49" y="155"/>
                      <a:pt x="48" y="156"/>
                    </a:cubicBezTo>
                    <a:cubicBezTo>
                      <a:pt x="20" y="166"/>
                      <a:pt x="0" y="194"/>
                      <a:pt x="0" y="226"/>
                    </a:cubicBezTo>
                    <a:cubicBezTo>
                      <a:pt x="0" y="258"/>
                      <a:pt x="20" y="286"/>
                      <a:pt x="48" y="296"/>
                    </a:cubicBezTo>
                    <a:cubicBezTo>
                      <a:pt x="49" y="297"/>
                      <a:pt x="51" y="297"/>
                      <a:pt x="51" y="298"/>
                    </a:cubicBezTo>
                    <a:cubicBezTo>
                      <a:pt x="52" y="298"/>
                      <a:pt x="51" y="300"/>
                      <a:pt x="50" y="301"/>
                    </a:cubicBezTo>
                    <a:cubicBezTo>
                      <a:pt x="38" y="329"/>
                      <a:pt x="43" y="363"/>
                      <a:pt x="66" y="386"/>
                    </a:cubicBezTo>
                    <a:cubicBezTo>
                      <a:pt x="89" y="408"/>
                      <a:pt x="122" y="413"/>
                      <a:pt x="150" y="401"/>
                    </a:cubicBezTo>
                    <a:cubicBezTo>
                      <a:pt x="151" y="400"/>
                      <a:pt x="152" y="400"/>
                      <a:pt x="153" y="401"/>
                    </a:cubicBezTo>
                    <a:cubicBezTo>
                      <a:pt x="155" y="401"/>
                      <a:pt x="155" y="402"/>
                      <a:pt x="155" y="403"/>
                    </a:cubicBezTo>
                    <a:cubicBezTo>
                      <a:pt x="166" y="431"/>
                      <a:pt x="193" y="452"/>
                      <a:pt x="225" y="452"/>
                    </a:cubicBezTo>
                    <a:cubicBezTo>
                      <a:pt x="258" y="452"/>
                      <a:pt x="285" y="431"/>
                      <a:pt x="296" y="403"/>
                    </a:cubicBezTo>
                    <a:cubicBezTo>
                      <a:pt x="296" y="402"/>
                      <a:pt x="297" y="401"/>
                      <a:pt x="298" y="401"/>
                    </a:cubicBezTo>
                    <a:cubicBezTo>
                      <a:pt x="299" y="400"/>
                      <a:pt x="300" y="400"/>
                      <a:pt x="301" y="401"/>
                    </a:cubicBezTo>
                    <a:cubicBezTo>
                      <a:pt x="328" y="413"/>
                      <a:pt x="362" y="408"/>
                      <a:pt x="385" y="386"/>
                    </a:cubicBezTo>
                    <a:cubicBezTo>
                      <a:pt x="408" y="363"/>
                      <a:pt x="413" y="329"/>
                      <a:pt x="400" y="301"/>
                    </a:cubicBezTo>
                    <a:cubicBezTo>
                      <a:pt x="400" y="300"/>
                      <a:pt x="400" y="298"/>
                      <a:pt x="400" y="298"/>
                    </a:cubicBezTo>
                    <a:cubicBezTo>
                      <a:pt x="401" y="297"/>
                      <a:pt x="401" y="297"/>
                      <a:pt x="402" y="296"/>
                    </a:cubicBezTo>
                    <a:cubicBezTo>
                      <a:pt x="431" y="286"/>
                      <a:pt x="451" y="258"/>
                      <a:pt x="451" y="22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a:latin typeface="Arial"/>
                </a:endParaRPr>
              </a:p>
            </p:txBody>
          </p:sp>
          <p:sp>
            <p:nvSpPr>
              <p:cNvPr id="478" name="Freeform 335">
                <a:extLst>
                  <a:ext uri="{FF2B5EF4-FFF2-40B4-BE49-F238E27FC236}">
                    <a16:creationId xmlns:a16="http://schemas.microsoft.com/office/drawing/2014/main" id="{F44F3C0B-7065-AC5A-244B-94DAFB11709D}"/>
                  </a:ext>
                </a:extLst>
              </p:cNvPr>
              <p:cNvSpPr>
                <a:spLocks noChangeArrowheads="1"/>
              </p:cNvSpPr>
              <p:nvPr/>
            </p:nvSpPr>
            <p:spPr bwMode="auto">
              <a:xfrm>
                <a:off x="6594475" y="2682875"/>
                <a:ext cx="7938" cy="1588"/>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79" name="Freeform 336">
                <a:extLst>
                  <a:ext uri="{FF2B5EF4-FFF2-40B4-BE49-F238E27FC236}">
                    <a16:creationId xmlns:a16="http://schemas.microsoft.com/office/drawing/2014/main" id="{8466D361-E996-D666-B532-A5F7CA9415B5}"/>
                  </a:ext>
                </a:extLst>
              </p:cNvPr>
              <p:cNvSpPr>
                <a:spLocks noChangeArrowheads="1"/>
              </p:cNvSpPr>
              <p:nvPr/>
            </p:nvSpPr>
            <p:spPr bwMode="auto">
              <a:xfrm>
                <a:off x="6559550" y="2682875"/>
                <a:ext cx="7938" cy="1588"/>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80" name="Freeform 337">
                <a:extLst>
                  <a:ext uri="{FF2B5EF4-FFF2-40B4-BE49-F238E27FC236}">
                    <a16:creationId xmlns:a16="http://schemas.microsoft.com/office/drawing/2014/main" id="{220094A5-B944-AF23-17D5-07E40850CABB}"/>
                  </a:ext>
                </a:extLst>
              </p:cNvPr>
              <p:cNvSpPr>
                <a:spLocks noChangeArrowheads="1"/>
              </p:cNvSpPr>
              <p:nvPr/>
            </p:nvSpPr>
            <p:spPr bwMode="auto">
              <a:xfrm>
                <a:off x="6523038" y="2682875"/>
                <a:ext cx="7937" cy="1588"/>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sp>
            <p:nvSpPr>
              <p:cNvPr id="481" name="Freeform 338">
                <a:extLst>
                  <a:ext uri="{FF2B5EF4-FFF2-40B4-BE49-F238E27FC236}">
                    <a16:creationId xmlns:a16="http://schemas.microsoft.com/office/drawing/2014/main" id="{14898C42-740B-C39D-0147-5CB867A41480}"/>
                  </a:ext>
                </a:extLst>
              </p:cNvPr>
              <p:cNvSpPr>
                <a:spLocks noChangeArrowheads="1"/>
              </p:cNvSpPr>
              <p:nvPr/>
            </p:nvSpPr>
            <p:spPr bwMode="auto">
              <a:xfrm>
                <a:off x="6488113" y="2682875"/>
                <a:ext cx="7937" cy="1588"/>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a:latin typeface="Arial"/>
                </a:endParaRPr>
              </a:p>
            </p:txBody>
          </p:sp>
        </p:grpSp>
      </p:grpSp>
      <p:sp>
        <p:nvSpPr>
          <p:cNvPr id="482" name="TextBox 481">
            <a:extLst>
              <a:ext uri="{FF2B5EF4-FFF2-40B4-BE49-F238E27FC236}">
                <a16:creationId xmlns:a16="http://schemas.microsoft.com/office/drawing/2014/main" id="{3ABDE1FC-80AB-3E82-A116-09521F6D652E}"/>
              </a:ext>
            </a:extLst>
          </p:cNvPr>
          <p:cNvSpPr txBox="1"/>
          <p:nvPr/>
        </p:nvSpPr>
        <p:spPr>
          <a:xfrm>
            <a:off x="20416977" y="2084619"/>
            <a:ext cx="2161018" cy="646331"/>
          </a:xfrm>
          <a:prstGeom prst="rect">
            <a:avLst/>
          </a:prstGeom>
          <a:noFill/>
        </p:spPr>
        <p:txBody>
          <a:bodyPr wrap="square" rtlCol="0">
            <a:spAutoFit/>
          </a:bodyPr>
          <a:lstStyle/>
          <a:p>
            <a:pPr algn="ctr" defTabSz="1828800">
              <a:defRPr/>
            </a:pPr>
            <a:r>
              <a:rPr lang="en-GB">
                <a:latin typeface="Fira Sans Light" panose="020B0403050000020004" pitchFamily="34" charset="0"/>
              </a:rPr>
              <a:t>Determine Configuration</a:t>
            </a:r>
          </a:p>
        </p:txBody>
      </p:sp>
      <p:cxnSp>
        <p:nvCxnSpPr>
          <p:cNvPr id="483" name="Straight Connector 54">
            <a:extLst>
              <a:ext uri="{FF2B5EF4-FFF2-40B4-BE49-F238E27FC236}">
                <a16:creationId xmlns:a16="http://schemas.microsoft.com/office/drawing/2014/main" id="{3F461C99-E931-7BD9-CA9F-BC0CC5FEE6E6}"/>
              </a:ext>
            </a:extLst>
          </p:cNvPr>
          <p:cNvCxnSpPr>
            <a:cxnSpLocks/>
          </p:cNvCxnSpPr>
          <p:nvPr/>
        </p:nvCxnSpPr>
        <p:spPr>
          <a:xfrm flipV="1">
            <a:off x="18522520" y="3094919"/>
            <a:ext cx="1532688" cy="5767702"/>
          </a:xfrm>
          <a:prstGeom prst="bentConnector2">
            <a:avLst/>
          </a:prstGeom>
          <a:ln w="50800">
            <a:solidFill>
              <a:srgbClr val="FF842E">
                <a:alpha val="80000"/>
              </a:srgbClr>
            </a:solidFill>
            <a:tailEnd type="triangle" w="sm" len="sm"/>
          </a:ln>
        </p:spPr>
        <p:style>
          <a:lnRef idx="1">
            <a:schemeClr val="accent1"/>
          </a:lnRef>
          <a:fillRef idx="0">
            <a:schemeClr val="accent1"/>
          </a:fillRef>
          <a:effectRef idx="0">
            <a:schemeClr val="accent1"/>
          </a:effectRef>
          <a:fontRef idx="minor">
            <a:schemeClr val="tx1"/>
          </a:fontRef>
        </p:style>
      </p:cxnSp>
      <p:sp>
        <p:nvSpPr>
          <p:cNvPr id="487" name="TextBox 486">
            <a:extLst>
              <a:ext uri="{FF2B5EF4-FFF2-40B4-BE49-F238E27FC236}">
                <a16:creationId xmlns:a16="http://schemas.microsoft.com/office/drawing/2014/main" id="{776A0A31-B90E-74E3-EA79-E9232A542B7C}"/>
              </a:ext>
            </a:extLst>
          </p:cNvPr>
          <p:cNvSpPr txBox="1"/>
          <p:nvPr/>
        </p:nvSpPr>
        <p:spPr>
          <a:xfrm>
            <a:off x="6426718" y="5756178"/>
            <a:ext cx="1526408" cy="400110"/>
          </a:xfrm>
          <a:prstGeom prst="rect">
            <a:avLst/>
          </a:prstGeom>
          <a:solidFill>
            <a:schemeClr val="bg1"/>
          </a:solidFill>
        </p:spPr>
        <p:txBody>
          <a:bodyPr wrap="square" rtlCol="0">
            <a:spAutoFit/>
          </a:bodyPr>
          <a:lstStyle/>
          <a:p>
            <a:pPr defTabSz="1828800">
              <a:defRPr/>
            </a:pPr>
            <a:r>
              <a:rPr lang="en-GB" sz="2000" i="1">
                <a:latin typeface="Fira Sans" panose="020B0503050000020004" pitchFamily="34" charset="0"/>
              </a:rPr>
              <a:t>Relocate</a:t>
            </a:r>
          </a:p>
        </p:txBody>
      </p:sp>
      <p:sp>
        <p:nvSpPr>
          <p:cNvPr id="2" name="Oval 1">
            <a:extLst>
              <a:ext uri="{FF2B5EF4-FFF2-40B4-BE49-F238E27FC236}">
                <a16:creationId xmlns:a16="http://schemas.microsoft.com/office/drawing/2014/main" id="{686B355F-4B29-4F98-5B8C-A63A53A375CF}"/>
              </a:ext>
            </a:extLst>
          </p:cNvPr>
          <p:cNvSpPr/>
          <p:nvPr/>
        </p:nvSpPr>
        <p:spPr>
          <a:xfrm>
            <a:off x="2491588" y="7941336"/>
            <a:ext cx="7898704" cy="2833376"/>
          </a:xfrm>
          <a:prstGeom prst="ellipse">
            <a:avLst/>
          </a:prstGeom>
          <a:noFill/>
          <a:ln w="53975">
            <a:solidFill>
              <a:srgbClr val="00B050">
                <a:alpha val="5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solidFill>
                <a:schemeClr val="tx1"/>
              </a:solidFill>
            </a:endParaRPr>
          </a:p>
        </p:txBody>
      </p:sp>
      <p:sp>
        <p:nvSpPr>
          <p:cNvPr id="3" name="TextBox 2">
            <a:extLst>
              <a:ext uri="{FF2B5EF4-FFF2-40B4-BE49-F238E27FC236}">
                <a16:creationId xmlns:a16="http://schemas.microsoft.com/office/drawing/2014/main" id="{2DFB62D8-B307-3E0E-ED4E-C2E5FCB575B1}"/>
              </a:ext>
            </a:extLst>
          </p:cNvPr>
          <p:cNvSpPr txBox="1"/>
          <p:nvPr/>
        </p:nvSpPr>
        <p:spPr>
          <a:xfrm>
            <a:off x="4331466" y="7299097"/>
            <a:ext cx="2419252" cy="584775"/>
          </a:xfrm>
          <a:prstGeom prst="rect">
            <a:avLst/>
          </a:prstGeom>
          <a:noFill/>
        </p:spPr>
        <p:txBody>
          <a:bodyPr wrap="none" rtlCol="0">
            <a:spAutoFit/>
          </a:bodyPr>
          <a:lstStyle/>
          <a:p>
            <a:pPr algn="l"/>
            <a:r>
              <a:rPr lang="en-GB" sz="3200">
                <a:latin typeface="Fira Sans" panose="020B0503050000020004" pitchFamily="34" charset="0"/>
              </a:rPr>
              <a:t>We are here</a:t>
            </a:r>
          </a:p>
        </p:txBody>
      </p:sp>
      <p:sp>
        <p:nvSpPr>
          <p:cNvPr id="4" name="Slide Number Placeholder 8">
            <a:extLst>
              <a:ext uri="{FF2B5EF4-FFF2-40B4-BE49-F238E27FC236}">
                <a16:creationId xmlns:a16="http://schemas.microsoft.com/office/drawing/2014/main" id="{7EB5AEAB-A2CC-D752-600D-F1F17EA279A6}"/>
              </a:ext>
            </a:extLst>
          </p:cNvPr>
          <p:cNvSpPr>
            <a:spLocks noGrp="1"/>
          </p:cNvSpPr>
          <p:nvPr>
            <p:ph type="sldNum" sz="quarter" idx="4"/>
          </p:nvPr>
        </p:nvSpPr>
        <p:spPr>
          <a:xfrm>
            <a:off x="22402802" y="13271500"/>
            <a:ext cx="1234804" cy="215444"/>
          </a:xfrm>
        </p:spPr>
        <p:txBody>
          <a:bodyPr/>
          <a:lstStyle/>
          <a:p>
            <a:pPr>
              <a:defRPr/>
            </a:pPr>
            <a:fld id="{762E77F0-FB5B-4E8E-9BC9-34F14560A017}" type="slidenum">
              <a:rPr lang="en-US">
                <a:latin typeface="Arial"/>
              </a:rPr>
              <a:pPr>
                <a:defRPr/>
              </a:pPr>
              <a:t>62</a:t>
            </a:fld>
            <a:endParaRPr lang="en-US">
              <a:latin typeface="Arial"/>
            </a:endParaRPr>
          </a:p>
        </p:txBody>
      </p:sp>
    </p:spTree>
    <p:extLst>
      <p:ext uri="{BB962C8B-B14F-4D97-AF65-F5344CB8AC3E}">
        <p14:creationId xmlns:p14="http://schemas.microsoft.com/office/powerpoint/2010/main" val="23161972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B614943-1D0D-B368-AB1E-7B3CD17B1B71}"/>
              </a:ext>
            </a:extLst>
          </p:cNvPr>
          <p:cNvSpPr/>
          <p:nvPr/>
        </p:nvSpPr>
        <p:spPr>
          <a:xfrm>
            <a:off x="22778" y="9913630"/>
            <a:ext cx="7184572" cy="37342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latin typeface="+mj-lt"/>
            </a:endParaRPr>
          </a:p>
        </p:txBody>
      </p:sp>
      <p:sp>
        <p:nvSpPr>
          <p:cNvPr id="2" name="Title 1">
            <a:extLst>
              <a:ext uri="{FF2B5EF4-FFF2-40B4-BE49-F238E27FC236}">
                <a16:creationId xmlns:a16="http://schemas.microsoft.com/office/drawing/2014/main" id="{279CD179-D1A8-0C99-600A-E93EAD7C96AE}"/>
              </a:ext>
            </a:extLst>
          </p:cNvPr>
          <p:cNvSpPr>
            <a:spLocks noGrp="1"/>
          </p:cNvSpPr>
          <p:nvPr>
            <p:ph type="title"/>
          </p:nvPr>
        </p:nvSpPr>
        <p:spPr>
          <a:xfrm>
            <a:off x="668992" y="537179"/>
            <a:ext cx="22991108" cy="968086"/>
          </a:xfrm>
        </p:spPr>
        <p:txBody>
          <a:bodyPr/>
          <a:lstStyle/>
          <a:p>
            <a:r>
              <a:rPr lang="en-GB"/>
              <a:t>Applications and Services In Scope for Migration</a:t>
            </a:r>
          </a:p>
        </p:txBody>
      </p:sp>
      <p:sp>
        <p:nvSpPr>
          <p:cNvPr id="3" name="Slide Number Placeholder 2">
            <a:extLst>
              <a:ext uri="{FF2B5EF4-FFF2-40B4-BE49-F238E27FC236}">
                <a16:creationId xmlns:a16="http://schemas.microsoft.com/office/drawing/2014/main" id="{851CD9B6-2652-793D-4120-7BBA2B9E2FD4}"/>
              </a:ext>
            </a:extLst>
          </p:cNvPr>
          <p:cNvSpPr>
            <a:spLocks noGrp="1"/>
          </p:cNvSpPr>
          <p:nvPr>
            <p:ph type="sldNum" sz="quarter" idx="4"/>
          </p:nvPr>
        </p:nvSpPr>
        <p:spPr/>
        <p:txBody>
          <a:bodyPr/>
          <a:lstStyle/>
          <a:p>
            <a:fld id="{762E77F0-FB5B-4E8E-9BC9-34F14560A017}" type="slidenum">
              <a:rPr lang="en-US" smtClean="0">
                <a:latin typeface="+mj-lt"/>
              </a:rPr>
              <a:pPr/>
              <a:t>63</a:t>
            </a:fld>
            <a:endParaRPr lang="en-US">
              <a:latin typeface="+mj-lt"/>
            </a:endParaRPr>
          </a:p>
        </p:txBody>
      </p:sp>
      <p:graphicFrame>
        <p:nvGraphicFramePr>
          <p:cNvPr id="5" name="Table 4">
            <a:extLst>
              <a:ext uri="{FF2B5EF4-FFF2-40B4-BE49-F238E27FC236}">
                <a16:creationId xmlns:a16="http://schemas.microsoft.com/office/drawing/2014/main" id="{4EC79B33-3892-EF01-F2C9-199909FCC39B}"/>
              </a:ext>
            </a:extLst>
          </p:cNvPr>
          <p:cNvGraphicFramePr>
            <a:graphicFrameLocks noGrp="1"/>
          </p:cNvGraphicFramePr>
          <p:nvPr/>
        </p:nvGraphicFramePr>
        <p:xfrm>
          <a:off x="0" y="2111162"/>
          <a:ext cx="17306700" cy="11570244"/>
        </p:xfrm>
        <a:graphic>
          <a:graphicData uri="http://schemas.openxmlformats.org/drawingml/2006/table">
            <a:tbl>
              <a:tblPr firstRow="1" bandRow="1">
                <a:tableStyleId>{D27102A9-8310-4765-A935-A1911B00CA55}</a:tableStyleId>
              </a:tblPr>
              <a:tblGrid>
                <a:gridCol w="3461340">
                  <a:extLst>
                    <a:ext uri="{9D8B030D-6E8A-4147-A177-3AD203B41FA5}">
                      <a16:colId xmlns:a16="http://schemas.microsoft.com/office/drawing/2014/main" val="2853722523"/>
                    </a:ext>
                  </a:extLst>
                </a:gridCol>
                <a:gridCol w="4171100">
                  <a:extLst>
                    <a:ext uri="{9D8B030D-6E8A-4147-A177-3AD203B41FA5}">
                      <a16:colId xmlns:a16="http://schemas.microsoft.com/office/drawing/2014/main" val="1787887897"/>
                    </a:ext>
                  </a:extLst>
                </a:gridCol>
                <a:gridCol w="1045030">
                  <a:extLst>
                    <a:ext uri="{9D8B030D-6E8A-4147-A177-3AD203B41FA5}">
                      <a16:colId xmlns:a16="http://schemas.microsoft.com/office/drawing/2014/main" val="1500478067"/>
                    </a:ext>
                  </a:extLst>
                </a:gridCol>
                <a:gridCol w="4478694">
                  <a:extLst>
                    <a:ext uri="{9D8B030D-6E8A-4147-A177-3AD203B41FA5}">
                      <a16:colId xmlns:a16="http://schemas.microsoft.com/office/drawing/2014/main" val="565278767"/>
                    </a:ext>
                  </a:extLst>
                </a:gridCol>
                <a:gridCol w="4150536">
                  <a:extLst>
                    <a:ext uri="{9D8B030D-6E8A-4147-A177-3AD203B41FA5}">
                      <a16:colId xmlns:a16="http://schemas.microsoft.com/office/drawing/2014/main" val="1124717466"/>
                    </a:ext>
                  </a:extLst>
                </a:gridCol>
              </a:tblGrid>
              <a:tr h="713418">
                <a:tc>
                  <a:txBody>
                    <a:bodyPr/>
                    <a:lstStyle/>
                    <a:p>
                      <a:pPr algn="ctr"/>
                      <a:r>
                        <a:rPr lang="en-GB" sz="2800">
                          <a:solidFill>
                            <a:schemeClr val="tx1"/>
                          </a:solidFill>
                        </a:rPr>
                        <a:t>Name</a:t>
                      </a:r>
                      <a:endParaRPr lang="en-GB" sz="2800">
                        <a:solidFill>
                          <a:schemeClr val="tx1"/>
                        </a:solidFill>
                        <a:latin typeface="Fira Sans" panose="020B0503050000020004" pitchFamily="34" charset="0"/>
                      </a:endParaRPr>
                    </a:p>
                  </a:txBody>
                  <a:tcPr marL="182880" marR="182880" marT="91440" marB="91440" anchor="ctr">
                    <a:lnB w="12700" cap="flat" cmpd="sng" algn="ctr">
                      <a:solidFill>
                        <a:schemeClr val="tx1"/>
                      </a:solidFill>
                      <a:prstDash val="solid"/>
                      <a:round/>
                      <a:headEnd type="none" w="med" len="med"/>
                      <a:tailEnd type="none" w="med" len="med"/>
                    </a:lnB>
                    <a:solidFill>
                      <a:schemeClr val="bg1"/>
                    </a:solidFill>
                  </a:tcPr>
                </a:tc>
                <a:tc>
                  <a:txBody>
                    <a:bodyPr/>
                    <a:lstStyle/>
                    <a:p>
                      <a:pPr algn="ctr"/>
                      <a:r>
                        <a:rPr lang="en-GB" sz="2800">
                          <a:solidFill>
                            <a:schemeClr val="tx1"/>
                          </a:solidFill>
                        </a:rPr>
                        <a:t>Virtual Servers Count</a:t>
                      </a:r>
                      <a:endParaRPr lang="en-GB" sz="2800">
                        <a:solidFill>
                          <a:schemeClr val="tx1"/>
                        </a:solidFill>
                        <a:latin typeface="Fira Sans" panose="020B0503050000020004" pitchFamily="34" charset="0"/>
                      </a:endParaRPr>
                    </a:p>
                  </a:txBody>
                  <a:tcPr marL="182880" marR="182880" marT="91440" marB="91440" anchor="ctr">
                    <a:lnB w="12700" cap="flat" cmpd="sng" algn="ctr">
                      <a:solidFill>
                        <a:schemeClr val="tx1"/>
                      </a:solidFill>
                      <a:prstDash val="solid"/>
                      <a:round/>
                      <a:headEnd type="none" w="med" len="med"/>
                      <a:tailEnd type="none" w="med" len="med"/>
                    </a:lnB>
                    <a:solidFill>
                      <a:schemeClr val="bg1"/>
                    </a:solidFill>
                  </a:tcPr>
                </a:tc>
                <a:tc>
                  <a:txBody>
                    <a:bodyPr/>
                    <a:lstStyle/>
                    <a:p>
                      <a:pPr algn="ctr"/>
                      <a:endParaRPr lang="en-GB" sz="2800">
                        <a:solidFill>
                          <a:schemeClr val="tx1"/>
                        </a:solidFill>
                        <a:latin typeface="Fira Sans" panose="020B0503050000020004" pitchFamily="34" charset="0"/>
                      </a:endParaRPr>
                    </a:p>
                  </a:txBody>
                  <a:tcPr marL="182880" marR="182880" marT="91440" marB="91440" anchor="ctr">
                    <a:lnB w="12700" cap="flat" cmpd="sng" algn="ctr">
                      <a:solidFill>
                        <a:schemeClr val="tx1"/>
                      </a:solidFill>
                      <a:prstDash val="solid"/>
                      <a:round/>
                      <a:headEnd type="none" w="med" len="med"/>
                      <a:tailEnd type="none" w="med" len="med"/>
                    </a:lnB>
                    <a:solidFill>
                      <a:schemeClr val="bg1"/>
                    </a:solidFill>
                  </a:tcPr>
                </a:tc>
                <a:tc>
                  <a:txBody>
                    <a:bodyPr/>
                    <a:lstStyle/>
                    <a:p>
                      <a:pPr algn="ctr"/>
                      <a:r>
                        <a:rPr lang="en-GB" sz="2800">
                          <a:solidFill>
                            <a:schemeClr val="tx1"/>
                          </a:solidFill>
                        </a:rPr>
                        <a:t>Name</a:t>
                      </a:r>
                      <a:endParaRPr lang="en-GB" sz="2800">
                        <a:solidFill>
                          <a:schemeClr val="tx1"/>
                        </a:solidFill>
                        <a:latin typeface="Fira Sans" panose="020B0503050000020004" pitchFamily="34" charset="0"/>
                      </a:endParaRPr>
                    </a:p>
                  </a:txBody>
                  <a:tcPr marL="182880" marR="182880" marT="91440" marB="91440" anchor="ctr">
                    <a:lnB w="12700" cap="flat" cmpd="sng" algn="ctr">
                      <a:solidFill>
                        <a:schemeClr val="tx1"/>
                      </a:solidFill>
                      <a:prstDash val="solid"/>
                      <a:round/>
                      <a:headEnd type="none" w="med" len="med"/>
                      <a:tailEnd type="none" w="med" len="med"/>
                    </a:lnB>
                    <a:solidFill>
                      <a:schemeClr val="bg1"/>
                    </a:solidFill>
                  </a:tcPr>
                </a:tc>
                <a:tc>
                  <a:txBody>
                    <a:bodyPr/>
                    <a:lstStyle/>
                    <a:p>
                      <a:pPr algn="ctr"/>
                      <a:r>
                        <a:rPr lang="en-GB" sz="2800">
                          <a:solidFill>
                            <a:schemeClr val="tx1"/>
                          </a:solidFill>
                        </a:rPr>
                        <a:t>Virtual Servers Count</a:t>
                      </a:r>
                    </a:p>
                  </a:txBody>
                  <a:tcPr marL="182880" marR="182880" marT="91440" marB="91440" anchor="ctr">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7240252"/>
                  </a:ext>
                </a:extLst>
              </a:tr>
              <a:tr h="1024890">
                <a:tc>
                  <a:txBody>
                    <a:bodyPr/>
                    <a:lstStyle/>
                    <a:p>
                      <a:pPr algn="ctr" fontAlgn="b"/>
                      <a:r>
                        <a:rPr lang="en-GB" sz="2000" b="0" u="none" strike="noStrike">
                          <a:solidFill>
                            <a:srgbClr val="000000"/>
                          </a:solidFill>
                          <a:effectLst/>
                        </a:rPr>
                        <a:t>Achilles.com</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6</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15">
                  <a:txBody>
                    <a:bodyPr/>
                    <a:lstStyle/>
                    <a:p>
                      <a:pPr algn="ctr" fontAlgn="b"/>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200" b="0" u="none" strike="noStrike">
                          <a:solidFill>
                            <a:srgbClr val="000000"/>
                          </a:solidFill>
                          <a:effectLst/>
                        </a:rPr>
                        <a:t>My Insight (https://myinsight.achilles.com/Reports/browse) - User Lane reports</a:t>
                      </a:r>
                      <a:endParaRPr lang="en-GB" sz="2200" b="0" i="0" u="none" strike="noStrike">
                        <a:solidFill>
                          <a:srgbClr val="000000"/>
                        </a:solidFill>
                        <a:effectLst/>
                        <a:latin typeface="Calibri" panose="020F050202020403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28097998"/>
                  </a:ext>
                </a:extLst>
              </a:tr>
              <a:tr h="999528">
                <a:tc>
                  <a:txBody>
                    <a:bodyPr/>
                    <a:lstStyle/>
                    <a:p>
                      <a:pPr algn="ctr" fontAlgn="b"/>
                      <a:r>
                        <a:rPr lang="en-GB" sz="2000" b="0" u="none" strike="noStrike">
                          <a:solidFill>
                            <a:srgbClr val="000000"/>
                          </a:solidFill>
                          <a:effectLst/>
                        </a:rPr>
                        <a:t>Thompson Reuters</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4</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1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a:solidFill>
                            <a:srgbClr val="000000"/>
                          </a:solidFill>
                          <a:effectLst/>
                        </a:rPr>
                        <a:t>Hackolade</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0330221"/>
                  </a:ext>
                </a:extLst>
              </a:tr>
              <a:tr h="679416">
                <a:tc>
                  <a:txBody>
                    <a:bodyPr/>
                    <a:lstStyle/>
                    <a:p>
                      <a:pPr algn="ctr" fontAlgn="b"/>
                      <a:r>
                        <a:rPr lang="en-GB" sz="2000" b="0" u="none" strike="noStrike">
                          <a:solidFill>
                            <a:srgbClr val="000000"/>
                          </a:solidFill>
                          <a:effectLst/>
                        </a:rPr>
                        <a:t>MyAchilles</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77</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a:solidFill>
                            <a:srgbClr val="000000"/>
                          </a:solidFill>
                          <a:effectLst/>
                        </a:rPr>
                        <a:t>Nagios Monitoring</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00499462"/>
                  </a:ext>
                </a:extLst>
              </a:tr>
              <a:tr h="679416">
                <a:tc>
                  <a:txBody>
                    <a:bodyPr/>
                    <a:lstStyle/>
                    <a:p>
                      <a:pPr algn="ctr" fontAlgn="b"/>
                      <a:r>
                        <a:rPr lang="en-GB" sz="2000" b="0" u="none" strike="noStrike">
                          <a:solidFill>
                            <a:srgbClr val="000000"/>
                          </a:solidFill>
                          <a:effectLst/>
                        </a:rPr>
                        <a:t>Central Reporting</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2</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err="1">
                          <a:solidFill>
                            <a:srgbClr val="000000"/>
                          </a:solidFill>
                          <a:effectLst/>
                        </a:rPr>
                        <a:t>Netsuite</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38429802"/>
                  </a:ext>
                </a:extLst>
              </a:tr>
              <a:tr h="679416">
                <a:tc>
                  <a:txBody>
                    <a:bodyPr/>
                    <a:lstStyle/>
                    <a:p>
                      <a:pPr algn="ctr" fontAlgn="b"/>
                      <a:r>
                        <a:rPr lang="en-GB" sz="2000" b="0" u="none" strike="noStrike">
                          <a:solidFill>
                            <a:srgbClr val="000000"/>
                          </a:solidFill>
                          <a:effectLst/>
                        </a:rPr>
                        <a:t>Domain Controllers – INTERNAL ACHILLES</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3</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a:solidFill>
                            <a:srgbClr val="000000"/>
                          </a:solidFill>
                          <a:effectLst/>
                        </a:rPr>
                        <a:t>Analytics Data Platform (aka SAP-IQ)</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4987968"/>
                  </a:ext>
                </a:extLst>
              </a:tr>
              <a:tr h="679416">
                <a:tc>
                  <a:txBody>
                    <a:bodyPr/>
                    <a:lstStyle/>
                    <a:p>
                      <a:pPr algn="ctr" fontAlgn="b"/>
                      <a:r>
                        <a:rPr lang="en-GB" sz="2000" b="0" u="none" strike="noStrike">
                          <a:solidFill>
                            <a:srgbClr val="000000"/>
                          </a:solidFill>
                          <a:effectLst/>
                        </a:rPr>
                        <a:t>Azure DevOps</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2</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200" b="0" u="none" strike="noStrike">
                          <a:solidFill>
                            <a:srgbClr val="000000"/>
                          </a:solidFill>
                          <a:effectLst/>
                        </a:rPr>
                        <a:t>Qualys appliance</a:t>
                      </a:r>
                      <a:endParaRPr lang="en-GB" sz="2200" b="0" i="0" u="none" strike="noStrike">
                        <a:solidFill>
                          <a:srgbClr val="000000"/>
                        </a:solidFill>
                        <a:effectLst/>
                        <a:latin typeface="Calibri" panose="020F050202020403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1497222"/>
                  </a:ext>
                </a:extLst>
              </a:tr>
              <a:tr h="679416">
                <a:tc>
                  <a:txBody>
                    <a:bodyPr/>
                    <a:lstStyle/>
                    <a:p>
                      <a:pPr algn="ctr" fontAlgn="b"/>
                      <a:r>
                        <a:rPr lang="en-GB" sz="2000" b="0" u="none" strike="noStrike">
                          <a:solidFill>
                            <a:srgbClr val="000000"/>
                          </a:solidFill>
                          <a:effectLst/>
                        </a:rPr>
                        <a:t>Bomgar Appliance</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1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a:solidFill>
                            <a:srgbClr val="000000"/>
                          </a:solidFill>
                          <a:effectLst/>
                        </a:rPr>
                        <a:t>SCCM </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2</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4182453"/>
                  </a:ext>
                </a:extLst>
              </a:tr>
              <a:tr h="679416">
                <a:tc>
                  <a:txBody>
                    <a:bodyPr/>
                    <a:lstStyle/>
                    <a:p>
                      <a:pPr algn="ctr" fontAlgn="b"/>
                      <a:r>
                        <a:rPr lang="en-GB" sz="2000" b="0" u="none" strike="noStrike">
                          <a:solidFill>
                            <a:srgbClr val="000000"/>
                          </a:solidFill>
                          <a:effectLst/>
                        </a:rPr>
                        <a:t>DevOps - Jenkins, FileServer</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6</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a:solidFill>
                            <a:srgbClr val="000000"/>
                          </a:solidFill>
                          <a:effectLst/>
                        </a:rPr>
                        <a:t>Service Desk</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4</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91408947"/>
                  </a:ext>
                </a:extLst>
              </a:tr>
              <a:tr h="679416">
                <a:tc>
                  <a:txBody>
                    <a:bodyPr/>
                    <a:lstStyle/>
                    <a:p>
                      <a:pPr algn="ctr" fontAlgn="b"/>
                      <a:r>
                        <a:rPr lang="en-GB" sz="2000" b="0" u="none" strike="noStrike">
                          <a:solidFill>
                            <a:srgbClr val="000000"/>
                          </a:solidFill>
                          <a:effectLst/>
                        </a:rPr>
                        <a:t>Domain Controllers - Non Prod</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2</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a:solidFill>
                            <a:srgbClr val="000000"/>
                          </a:solidFill>
                          <a:effectLst/>
                        </a:rPr>
                        <a:t>StartBank</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2</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1848031"/>
                  </a:ext>
                </a:extLst>
              </a:tr>
              <a:tr h="679416">
                <a:tc>
                  <a:txBody>
                    <a:bodyPr/>
                    <a:lstStyle/>
                    <a:p>
                      <a:pPr algn="ctr" fontAlgn="b"/>
                      <a:r>
                        <a:rPr lang="en-GB" sz="2000" b="0" u="none" strike="noStrike">
                          <a:solidFill>
                            <a:srgbClr val="000000"/>
                          </a:solidFill>
                          <a:effectLst/>
                        </a:rPr>
                        <a:t>Duo Multi–factor App</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a:solidFill>
                            <a:srgbClr val="000000"/>
                          </a:solidFill>
                          <a:effectLst/>
                        </a:rPr>
                        <a:t>SMTP Server</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09978128"/>
                  </a:ext>
                </a:extLst>
              </a:tr>
              <a:tr h="679416">
                <a:tc>
                  <a:txBody>
                    <a:bodyPr/>
                    <a:lstStyle/>
                    <a:p>
                      <a:pPr algn="ctr" fontAlgn="b"/>
                      <a:r>
                        <a:rPr lang="en-GB" sz="2000" b="0" u="none" strike="noStrike">
                          <a:solidFill>
                            <a:srgbClr val="000000"/>
                          </a:solidFill>
                          <a:effectLst/>
                        </a:rPr>
                        <a:t>Eclipse</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3</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200" b="0" u="none" strike="noStrike">
                          <a:solidFill>
                            <a:srgbClr val="000000"/>
                          </a:solidFill>
                          <a:effectLst/>
                        </a:rPr>
                        <a:t>Taegis appliance</a:t>
                      </a:r>
                      <a:endParaRPr lang="en-GB" sz="2200" b="0" i="0" u="none" strike="noStrike">
                        <a:solidFill>
                          <a:srgbClr val="000000"/>
                        </a:solidFill>
                        <a:effectLst/>
                        <a:latin typeface="Calibri" panose="020F050202020403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39384641"/>
                  </a:ext>
                </a:extLst>
              </a:tr>
              <a:tr h="679416">
                <a:tc>
                  <a:txBody>
                    <a:bodyPr/>
                    <a:lstStyle/>
                    <a:p>
                      <a:pPr algn="ctr" fontAlgn="b"/>
                      <a:r>
                        <a:rPr lang="en-GB" sz="2200" b="0" u="none" strike="noStrike">
                          <a:solidFill>
                            <a:srgbClr val="000000"/>
                          </a:solidFill>
                          <a:effectLst/>
                        </a:rPr>
                        <a:t>ELK</a:t>
                      </a:r>
                      <a:endParaRPr lang="en-GB" sz="2200" b="0" i="0" u="none" strike="noStrike">
                        <a:solidFill>
                          <a:srgbClr val="000000"/>
                        </a:solidFill>
                        <a:effectLst/>
                        <a:latin typeface="Calibri" panose="020F050202020403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3</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1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200" b="0" u="none" strike="noStrike">
                          <a:solidFill>
                            <a:srgbClr val="000000"/>
                          </a:solidFill>
                          <a:effectLst/>
                        </a:rPr>
                        <a:t>Telephone call log</a:t>
                      </a:r>
                      <a:endParaRPr lang="en-GB" sz="2200" b="0" i="0" u="none" strike="noStrike">
                        <a:solidFill>
                          <a:srgbClr val="000000"/>
                        </a:solidFill>
                        <a:effectLst/>
                        <a:latin typeface="Calibri" panose="020F050202020403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5480765"/>
                  </a:ext>
                </a:extLst>
              </a:tr>
              <a:tr h="679416">
                <a:tc>
                  <a:txBody>
                    <a:bodyPr/>
                    <a:lstStyle/>
                    <a:p>
                      <a:pPr algn="ctr" fontAlgn="b"/>
                      <a:r>
                        <a:rPr lang="en-GB" sz="2000" b="0" u="none" strike="noStrike">
                          <a:solidFill>
                            <a:srgbClr val="000000"/>
                          </a:solidFill>
                          <a:effectLst/>
                        </a:rPr>
                        <a:t>Achilles File Server</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1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GB" sz="2000" b="0" u="none" strike="noStrike">
                          <a:solidFill>
                            <a:srgbClr val="000000"/>
                          </a:solidFill>
                          <a:effectLst/>
                        </a:rPr>
                        <a:t>Dynatrace</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5389286"/>
                  </a:ext>
                </a:extLst>
              </a:tr>
              <a:tr h="679416">
                <a:tc>
                  <a:txBody>
                    <a:bodyPr/>
                    <a:lstStyle/>
                    <a:p>
                      <a:pPr algn="ctr" fontAlgn="b"/>
                      <a:r>
                        <a:rPr lang="en-GB" sz="2000" b="0" u="none" strike="noStrike">
                          <a:solidFill>
                            <a:srgbClr val="000000"/>
                          </a:solidFill>
                          <a:effectLst/>
                        </a:rPr>
                        <a:t>Jenkins DNS &amp; File Servers - Infra &amp; Citrix Netscaller</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2</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algn="ctr" fontAlgn="b"/>
                      <a:r>
                        <a:rPr lang="en-GB" sz="2000" b="0" i="0" u="none" strike="noStrike" err="1">
                          <a:solidFill>
                            <a:srgbClr val="000000"/>
                          </a:solidFill>
                          <a:effectLst/>
                          <a:latin typeface="Arial" panose="020B0604020202020204" pitchFamily="34" charset="0"/>
                        </a:rPr>
                        <a:t>GoSupply</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lgn="ctr" fontAlgn="b"/>
                      <a:r>
                        <a:rPr lang="en-GB" sz="2000" b="0" i="0" u="none" strike="noStrike">
                          <a:solidFill>
                            <a:srgbClr val="000000"/>
                          </a:solidFill>
                          <a:effectLst/>
                          <a:latin typeface="Arial" panose="020B0604020202020204" pitchFamily="34" charset="0"/>
                        </a:rPr>
                        <a:t>26</a:t>
                      </a: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6922119"/>
                  </a:ext>
                </a:extLst>
              </a:tr>
              <a:tr h="679416">
                <a:tc>
                  <a:txBody>
                    <a:bodyPr/>
                    <a:lstStyle/>
                    <a:p>
                      <a:pPr algn="ctr" fontAlgn="b"/>
                      <a:r>
                        <a:rPr lang="en-GB" sz="2000" b="0" u="none" strike="noStrike">
                          <a:solidFill>
                            <a:srgbClr val="000000"/>
                          </a:solidFill>
                          <a:effectLst/>
                        </a:rPr>
                        <a:t>Load Balancer</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GB" sz="2000" b="0" u="none" strike="noStrike">
                          <a:solidFill>
                            <a:srgbClr val="000000"/>
                          </a:solidFill>
                          <a:effectLst/>
                        </a:rPr>
                        <a:t>1</a:t>
                      </a:r>
                      <a:endParaRPr lang="en-GB" sz="2000" b="0" i="0" u="none" strike="noStrike">
                        <a:solidFill>
                          <a:srgbClr val="000000"/>
                        </a:solidFill>
                        <a:effectLst/>
                        <a:latin typeface="Arial" panose="020B0604020202020204" pitchFamily="34" charset="0"/>
                      </a:endParaRPr>
                    </a:p>
                  </a:txBody>
                  <a:tcPr marL="19050" marR="19050" marT="190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en-GB" sz="1000" b="0" i="0" u="none" strike="noStrike">
                        <a:solidFill>
                          <a:srgbClr val="000000"/>
                        </a:solidFill>
                        <a:effectLst/>
                        <a:latin typeface="Arial" panose="020B06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85830161"/>
                  </a:ext>
                </a:extLst>
              </a:tr>
            </a:tbl>
          </a:graphicData>
        </a:graphic>
      </p:graphicFrame>
      <p:sp>
        <p:nvSpPr>
          <p:cNvPr id="6" name="TextBox 5">
            <a:extLst>
              <a:ext uri="{FF2B5EF4-FFF2-40B4-BE49-F238E27FC236}">
                <a16:creationId xmlns:a16="http://schemas.microsoft.com/office/drawing/2014/main" id="{8A777A88-72A3-93DF-091F-C8E44C833D21}"/>
              </a:ext>
            </a:extLst>
          </p:cNvPr>
          <p:cNvSpPr txBox="1"/>
          <p:nvPr/>
        </p:nvSpPr>
        <p:spPr>
          <a:xfrm>
            <a:off x="17306696" y="2111163"/>
            <a:ext cx="7077304" cy="646331"/>
          </a:xfrm>
          <a:prstGeom prst="rect">
            <a:avLst/>
          </a:prstGeom>
          <a:solidFill>
            <a:schemeClr val="bg1"/>
          </a:solidFill>
        </p:spPr>
        <p:txBody>
          <a:bodyPr wrap="square" rtlCol="0">
            <a:spAutoFit/>
          </a:bodyPr>
          <a:lstStyle/>
          <a:p>
            <a:pPr algn="ctr"/>
            <a:r>
              <a:rPr lang="en-GB" sz="3600" b="1">
                <a:latin typeface="+mj-lt"/>
              </a:rPr>
              <a:t>Total</a:t>
            </a:r>
          </a:p>
        </p:txBody>
      </p:sp>
      <p:grpSp>
        <p:nvGrpSpPr>
          <p:cNvPr id="7" name="Group 6">
            <a:extLst>
              <a:ext uri="{FF2B5EF4-FFF2-40B4-BE49-F238E27FC236}">
                <a16:creationId xmlns:a16="http://schemas.microsoft.com/office/drawing/2014/main" id="{BDE1E804-3BF6-F380-4D82-D4B5F33DD007}"/>
              </a:ext>
            </a:extLst>
          </p:cNvPr>
          <p:cNvGrpSpPr/>
          <p:nvPr/>
        </p:nvGrpSpPr>
        <p:grpSpPr>
          <a:xfrm>
            <a:off x="18550623" y="3455725"/>
            <a:ext cx="4267370" cy="2747325"/>
            <a:chOff x="8719625" y="1840507"/>
            <a:chExt cx="3375051" cy="2172854"/>
          </a:xfrm>
        </p:grpSpPr>
        <p:grpSp>
          <p:nvGrpSpPr>
            <p:cNvPr id="13" name="Group 12">
              <a:extLst>
                <a:ext uri="{FF2B5EF4-FFF2-40B4-BE49-F238E27FC236}">
                  <a16:creationId xmlns:a16="http://schemas.microsoft.com/office/drawing/2014/main" id="{2AF34910-4A6A-67D1-D71A-A624E1866D70}"/>
                </a:ext>
              </a:extLst>
            </p:cNvPr>
            <p:cNvGrpSpPr>
              <a:grpSpLocks noChangeAspect="1"/>
            </p:cNvGrpSpPr>
            <p:nvPr/>
          </p:nvGrpSpPr>
          <p:grpSpPr>
            <a:xfrm>
              <a:off x="9612908" y="1840507"/>
              <a:ext cx="1588493" cy="1588493"/>
              <a:chOff x="8632825" y="520700"/>
              <a:chExt cx="911225" cy="911225"/>
            </a:xfrm>
          </p:grpSpPr>
          <p:sp>
            <p:nvSpPr>
              <p:cNvPr id="14" name="Freeform 3">
                <a:extLst>
                  <a:ext uri="{FF2B5EF4-FFF2-40B4-BE49-F238E27FC236}">
                    <a16:creationId xmlns:a16="http://schemas.microsoft.com/office/drawing/2014/main" id="{31667855-5453-FBF3-94DA-74F3737224FA}"/>
                  </a:ext>
                </a:extLst>
              </p:cNvPr>
              <p:cNvSpPr>
                <a:spLocks noChangeArrowheads="1"/>
              </p:cNvSpPr>
              <p:nvPr/>
            </p:nvSpPr>
            <p:spPr bwMode="auto">
              <a:xfrm>
                <a:off x="8632825" y="520700"/>
                <a:ext cx="911225" cy="911225"/>
              </a:xfrm>
              <a:custGeom>
                <a:avLst/>
                <a:gdLst>
                  <a:gd name="T0" fmla="*/ 370 w 2529"/>
                  <a:gd name="T1" fmla="*/ 2158 h 2529"/>
                  <a:gd name="T2" fmla="*/ 845 w 2529"/>
                  <a:gd name="T3" fmla="*/ 2260 h 2529"/>
                  <a:gd name="T4" fmla="*/ 856 w 2529"/>
                  <a:gd name="T5" fmla="*/ 2264 h 2529"/>
                  <a:gd name="T6" fmla="*/ 1264 w 2529"/>
                  <a:gd name="T7" fmla="*/ 2528 h 2529"/>
                  <a:gd name="T8" fmla="*/ 1673 w 2529"/>
                  <a:gd name="T9" fmla="*/ 2264 h 2529"/>
                  <a:gd name="T10" fmla="*/ 1683 w 2529"/>
                  <a:gd name="T11" fmla="*/ 2260 h 2529"/>
                  <a:gd name="T12" fmla="*/ 2158 w 2529"/>
                  <a:gd name="T13" fmla="*/ 2158 h 2529"/>
                  <a:gd name="T14" fmla="*/ 2261 w 2529"/>
                  <a:gd name="T15" fmla="*/ 1683 h 2529"/>
                  <a:gd name="T16" fmla="*/ 2264 w 2529"/>
                  <a:gd name="T17" fmla="*/ 1672 h 2529"/>
                  <a:gd name="T18" fmla="*/ 2528 w 2529"/>
                  <a:gd name="T19" fmla="*/ 1264 h 2529"/>
                  <a:gd name="T20" fmla="*/ 2264 w 2529"/>
                  <a:gd name="T21" fmla="*/ 855 h 2529"/>
                  <a:gd name="T22" fmla="*/ 2261 w 2529"/>
                  <a:gd name="T23" fmla="*/ 845 h 2529"/>
                  <a:gd name="T24" fmla="*/ 2158 w 2529"/>
                  <a:gd name="T25" fmla="*/ 369 h 2529"/>
                  <a:gd name="T26" fmla="*/ 1683 w 2529"/>
                  <a:gd name="T27" fmla="*/ 267 h 2529"/>
                  <a:gd name="T28" fmla="*/ 1673 w 2529"/>
                  <a:gd name="T29" fmla="*/ 264 h 2529"/>
                  <a:gd name="T30" fmla="*/ 1264 w 2529"/>
                  <a:gd name="T31" fmla="*/ 0 h 2529"/>
                  <a:gd name="T32" fmla="*/ 856 w 2529"/>
                  <a:gd name="T33" fmla="*/ 264 h 2529"/>
                  <a:gd name="T34" fmla="*/ 845 w 2529"/>
                  <a:gd name="T35" fmla="*/ 267 h 2529"/>
                  <a:gd name="T36" fmla="*/ 370 w 2529"/>
                  <a:gd name="T37" fmla="*/ 369 h 2529"/>
                  <a:gd name="T38" fmla="*/ 268 w 2529"/>
                  <a:gd name="T39" fmla="*/ 845 h 2529"/>
                  <a:gd name="T40" fmla="*/ 264 w 2529"/>
                  <a:gd name="T41" fmla="*/ 855 h 2529"/>
                  <a:gd name="T42" fmla="*/ 0 w 2529"/>
                  <a:gd name="T43" fmla="*/ 1264 h 2529"/>
                  <a:gd name="T44" fmla="*/ 264 w 2529"/>
                  <a:gd name="T45" fmla="*/ 1672 h 2529"/>
                  <a:gd name="T46" fmla="*/ 268 w 2529"/>
                  <a:gd name="T47" fmla="*/ 1683 h 2529"/>
                  <a:gd name="T48" fmla="*/ 370 w 2529"/>
                  <a:gd name="T49" fmla="*/ 2158 h 2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29" h="2529">
                    <a:moveTo>
                      <a:pt x="370" y="2158"/>
                    </a:moveTo>
                    <a:cubicBezTo>
                      <a:pt x="500" y="2288"/>
                      <a:pt x="687" y="2320"/>
                      <a:pt x="845" y="2260"/>
                    </a:cubicBezTo>
                    <a:cubicBezTo>
                      <a:pt x="849" y="2260"/>
                      <a:pt x="856" y="2260"/>
                      <a:pt x="856" y="2264"/>
                    </a:cubicBezTo>
                    <a:cubicBezTo>
                      <a:pt x="926" y="2419"/>
                      <a:pt x="1085" y="2528"/>
                      <a:pt x="1264" y="2528"/>
                    </a:cubicBezTo>
                    <a:cubicBezTo>
                      <a:pt x="1444" y="2528"/>
                      <a:pt x="1602" y="2419"/>
                      <a:pt x="1673" y="2264"/>
                    </a:cubicBezTo>
                    <a:cubicBezTo>
                      <a:pt x="1676" y="2260"/>
                      <a:pt x="1680" y="2257"/>
                      <a:pt x="1683" y="2260"/>
                    </a:cubicBezTo>
                    <a:cubicBezTo>
                      <a:pt x="1842" y="2320"/>
                      <a:pt x="2032" y="2285"/>
                      <a:pt x="2158" y="2158"/>
                    </a:cubicBezTo>
                    <a:cubicBezTo>
                      <a:pt x="2289" y="2028"/>
                      <a:pt x="2320" y="1841"/>
                      <a:pt x="2261" y="1683"/>
                    </a:cubicBezTo>
                    <a:cubicBezTo>
                      <a:pt x="2261" y="1679"/>
                      <a:pt x="2261" y="1672"/>
                      <a:pt x="2264" y="1672"/>
                    </a:cubicBezTo>
                    <a:cubicBezTo>
                      <a:pt x="2419" y="1602"/>
                      <a:pt x="2528" y="1443"/>
                      <a:pt x="2528" y="1264"/>
                    </a:cubicBezTo>
                    <a:cubicBezTo>
                      <a:pt x="2528" y="1084"/>
                      <a:pt x="2419" y="926"/>
                      <a:pt x="2264" y="855"/>
                    </a:cubicBezTo>
                    <a:cubicBezTo>
                      <a:pt x="2261" y="852"/>
                      <a:pt x="2257" y="848"/>
                      <a:pt x="2261" y="845"/>
                    </a:cubicBezTo>
                    <a:cubicBezTo>
                      <a:pt x="2320" y="686"/>
                      <a:pt x="2285" y="496"/>
                      <a:pt x="2158" y="369"/>
                    </a:cubicBezTo>
                    <a:cubicBezTo>
                      <a:pt x="2028" y="239"/>
                      <a:pt x="1842" y="207"/>
                      <a:pt x="1683" y="267"/>
                    </a:cubicBezTo>
                    <a:cubicBezTo>
                      <a:pt x="1680" y="267"/>
                      <a:pt x="1673" y="267"/>
                      <a:pt x="1673" y="264"/>
                    </a:cubicBezTo>
                    <a:cubicBezTo>
                      <a:pt x="1602" y="109"/>
                      <a:pt x="1444" y="0"/>
                      <a:pt x="1264" y="0"/>
                    </a:cubicBezTo>
                    <a:cubicBezTo>
                      <a:pt x="1085" y="0"/>
                      <a:pt x="926" y="109"/>
                      <a:pt x="856" y="264"/>
                    </a:cubicBezTo>
                    <a:cubicBezTo>
                      <a:pt x="852" y="267"/>
                      <a:pt x="849" y="271"/>
                      <a:pt x="845" y="267"/>
                    </a:cubicBezTo>
                    <a:cubicBezTo>
                      <a:pt x="687" y="207"/>
                      <a:pt x="497" y="243"/>
                      <a:pt x="370" y="369"/>
                    </a:cubicBezTo>
                    <a:cubicBezTo>
                      <a:pt x="240" y="500"/>
                      <a:pt x="208" y="686"/>
                      <a:pt x="268" y="845"/>
                    </a:cubicBezTo>
                    <a:cubicBezTo>
                      <a:pt x="268" y="848"/>
                      <a:pt x="268" y="855"/>
                      <a:pt x="264" y="855"/>
                    </a:cubicBezTo>
                    <a:cubicBezTo>
                      <a:pt x="109" y="926"/>
                      <a:pt x="0" y="1084"/>
                      <a:pt x="0" y="1264"/>
                    </a:cubicBezTo>
                    <a:cubicBezTo>
                      <a:pt x="0" y="1443"/>
                      <a:pt x="109" y="1602"/>
                      <a:pt x="264" y="1672"/>
                    </a:cubicBezTo>
                    <a:cubicBezTo>
                      <a:pt x="268" y="1676"/>
                      <a:pt x="271" y="1679"/>
                      <a:pt x="268" y="1683"/>
                    </a:cubicBezTo>
                    <a:cubicBezTo>
                      <a:pt x="208" y="1841"/>
                      <a:pt x="243" y="2028"/>
                      <a:pt x="370" y="2158"/>
                    </a:cubicBezTo>
                  </a:path>
                </a:pathLst>
              </a:custGeom>
              <a:noFill/>
              <a:ln w="285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grpSp>
            <p:nvGrpSpPr>
              <p:cNvPr id="15" name="Group 14">
                <a:extLst>
                  <a:ext uri="{FF2B5EF4-FFF2-40B4-BE49-F238E27FC236}">
                    <a16:creationId xmlns:a16="http://schemas.microsoft.com/office/drawing/2014/main" id="{C3659817-00C7-BE56-348A-2A85D91AD79D}"/>
                  </a:ext>
                </a:extLst>
              </p:cNvPr>
              <p:cNvGrpSpPr/>
              <p:nvPr/>
            </p:nvGrpSpPr>
            <p:grpSpPr>
              <a:xfrm>
                <a:off x="8853488" y="768350"/>
                <a:ext cx="469900" cy="412750"/>
                <a:chOff x="8853488" y="768350"/>
                <a:chExt cx="469900" cy="412750"/>
              </a:xfrm>
            </p:grpSpPr>
            <p:sp>
              <p:nvSpPr>
                <p:cNvPr id="16" name="Freeform 4">
                  <a:extLst>
                    <a:ext uri="{FF2B5EF4-FFF2-40B4-BE49-F238E27FC236}">
                      <a16:creationId xmlns:a16="http://schemas.microsoft.com/office/drawing/2014/main" id="{03066B76-4074-1ED3-7695-F473DACA4EA3}"/>
                    </a:ext>
                  </a:extLst>
                </p:cNvPr>
                <p:cNvSpPr>
                  <a:spLocks noChangeArrowheads="1"/>
                </p:cNvSpPr>
                <p:nvPr/>
              </p:nvSpPr>
              <p:spPr bwMode="auto">
                <a:xfrm>
                  <a:off x="8853488" y="768350"/>
                  <a:ext cx="469900" cy="150813"/>
                </a:xfrm>
                <a:custGeom>
                  <a:avLst/>
                  <a:gdLst>
                    <a:gd name="T0" fmla="*/ 25 w 1307"/>
                    <a:gd name="T1" fmla="*/ 173 h 417"/>
                    <a:gd name="T2" fmla="*/ 0 w 1307"/>
                    <a:gd name="T3" fmla="*/ 208 h 417"/>
                    <a:gd name="T4" fmla="*/ 25 w 1307"/>
                    <a:gd name="T5" fmla="*/ 243 h 417"/>
                    <a:gd name="T6" fmla="*/ 616 w 1307"/>
                    <a:gd name="T7" fmla="*/ 409 h 417"/>
                    <a:gd name="T8" fmla="*/ 690 w 1307"/>
                    <a:gd name="T9" fmla="*/ 409 h 417"/>
                    <a:gd name="T10" fmla="*/ 1281 w 1307"/>
                    <a:gd name="T11" fmla="*/ 243 h 417"/>
                    <a:gd name="T12" fmla="*/ 1306 w 1307"/>
                    <a:gd name="T13" fmla="*/ 208 h 417"/>
                    <a:gd name="T14" fmla="*/ 1281 w 1307"/>
                    <a:gd name="T15" fmla="*/ 173 h 417"/>
                    <a:gd name="T16" fmla="*/ 690 w 1307"/>
                    <a:gd name="T17" fmla="*/ 7 h 417"/>
                    <a:gd name="T18" fmla="*/ 616 w 1307"/>
                    <a:gd name="T19" fmla="*/ 7 h 417"/>
                    <a:gd name="T20" fmla="*/ 25 w 1307"/>
                    <a:gd name="T21" fmla="*/ 17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7" h="417">
                      <a:moveTo>
                        <a:pt x="25" y="173"/>
                      </a:moveTo>
                      <a:cubicBezTo>
                        <a:pt x="10" y="176"/>
                        <a:pt x="0" y="190"/>
                        <a:pt x="0" y="208"/>
                      </a:cubicBezTo>
                      <a:cubicBezTo>
                        <a:pt x="0" y="222"/>
                        <a:pt x="10" y="236"/>
                        <a:pt x="25" y="243"/>
                      </a:cubicBezTo>
                      <a:cubicBezTo>
                        <a:pt x="222" y="298"/>
                        <a:pt x="419" y="354"/>
                        <a:pt x="616" y="409"/>
                      </a:cubicBezTo>
                      <a:cubicBezTo>
                        <a:pt x="641" y="416"/>
                        <a:pt x="665" y="416"/>
                        <a:pt x="690" y="409"/>
                      </a:cubicBezTo>
                      <a:cubicBezTo>
                        <a:pt x="887" y="354"/>
                        <a:pt x="1084" y="298"/>
                        <a:pt x="1281" y="243"/>
                      </a:cubicBezTo>
                      <a:cubicBezTo>
                        <a:pt x="1295" y="240"/>
                        <a:pt x="1306" y="226"/>
                        <a:pt x="1306" y="208"/>
                      </a:cubicBezTo>
                      <a:cubicBezTo>
                        <a:pt x="1306" y="194"/>
                        <a:pt x="1295" y="180"/>
                        <a:pt x="1281" y="173"/>
                      </a:cubicBezTo>
                      <a:cubicBezTo>
                        <a:pt x="1084" y="118"/>
                        <a:pt x="887" y="62"/>
                        <a:pt x="690" y="7"/>
                      </a:cubicBezTo>
                      <a:cubicBezTo>
                        <a:pt x="665" y="0"/>
                        <a:pt x="641" y="0"/>
                        <a:pt x="616" y="7"/>
                      </a:cubicBezTo>
                      <a:cubicBezTo>
                        <a:pt x="419" y="62"/>
                        <a:pt x="222" y="118"/>
                        <a:pt x="25" y="173"/>
                      </a:cubicBezTo>
                    </a:path>
                  </a:pathLst>
                </a:custGeom>
                <a:noFill/>
                <a:ln w="28575" cap="flat">
                  <a:solidFill>
                    <a:srgbClr val="B40BAD"/>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sp>
              <p:nvSpPr>
                <p:cNvPr id="17" name="Freeform 5">
                  <a:extLst>
                    <a:ext uri="{FF2B5EF4-FFF2-40B4-BE49-F238E27FC236}">
                      <a16:creationId xmlns:a16="http://schemas.microsoft.com/office/drawing/2014/main" id="{41244441-0193-666A-341A-38B1633C9206}"/>
                    </a:ext>
                  </a:extLst>
                </p:cNvPr>
                <p:cNvSpPr>
                  <a:spLocks noChangeArrowheads="1"/>
                </p:cNvSpPr>
                <p:nvPr/>
              </p:nvSpPr>
              <p:spPr bwMode="auto">
                <a:xfrm>
                  <a:off x="8853488" y="887413"/>
                  <a:ext cx="469900" cy="119062"/>
                </a:xfrm>
                <a:custGeom>
                  <a:avLst/>
                  <a:gdLst>
                    <a:gd name="T0" fmla="*/ 341 w 1307"/>
                    <a:gd name="T1" fmla="*/ 0 h 332"/>
                    <a:gd name="T2" fmla="*/ 25 w 1307"/>
                    <a:gd name="T3" fmla="*/ 88 h 332"/>
                    <a:gd name="T4" fmla="*/ 0 w 1307"/>
                    <a:gd name="T5" fmla="*/ 123 h 332"/>
                    <a:gd name="T6" fmla="*/ 25 w 1307"/>
                    <a:gd name="T7" fmla="*/ 159 h 332"/>
                    <a:gd name="T8" fmla="*/ 616 w 1307"/>
                    <a:gd name="T9" fmla="*/ 324 h 332"/>
                    <a:gd name="T10" fmla="*/ 690 w 1307"/>
                    <a:gd name="T11" fmla="*/ 324 h 332"/>
                    <a:gd name="T12" fmla="*/ 1281 w 1307"/>
                    <a:gd name="T13" fmla="*/ 159 h 332"/>
                    <a:gd name="T14" fmla="*/ 1306 w 1307"/>
                    <a:gd name="T15" fmla="*/ 123 h 332"/>
                    <a:gd name="T16" fmla="*/ 1281 w 1307"/>
                    <a:gd name="T17" fmla="*/ 88 h 332"/>
                    <a:gd name="T18" fmla="*/ 965 w 1307"/>
                    <a:gd name="T19"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7" h="332">
                      <a:moveTo>
                        <a:pt x="341" y="0"/>
                      </a:moveTo>
                      <a:cubicBezTo>
                        <a:pt x="236" y="29"/>
                        <a:pt x="131" y="59"/>
                        <a:pt x="25" y="88"/>
                      </a:cubicBezTo>
                      <a:cubicBezTo>
                        <a:pt x="10" y="92"/>
                        <a:pt x="0" y="106"/>
                        <a:pt x="0" y="123"/>
                      </a:cubicBezTo>
                      <a:cubicBezTo>
                        <a:pt x="0" y="138"/>
                        <a:pt x="10" y="152"/>
                        <a:pt x="25" y="159"/>
                      </a:cubicBezTo>
                      <a:cubicBezTo>
                        <a:pt x="222" y="214"/>
                        <a:pt x="419" y="269"/>
                        <a:pt x="616" y="324"/>
                      </a:cubicBezTo>
                      <a:cubicBezTo>
                        <a:pt x="641" y="331"/>
                        <a:pt x="665" y="331"/>
                        <a:pt x="690" y="324"/>
                      </a:cubicBezTo>
                      <a:cubicBezTo>
                        <a:pt x="887" y="269"/>
                        <a:pt x="1084" y="214"/>
                        <a:pt x="1281" y="159"/>
                      </a:cubicBezTo>
                      <a:cubicBezTo>
                        <a:pt x="1295" y="155"/>
                        <a:pt x="1306" y="141"/>
                        <a:pt x="1306" y="123"/>
                      </a:cubicBezTo>
                      <a:cubicBezTo>
                        <a:pt x="1306" y="109"/>
                        <a:pt x="1295" y="95"/>
                        <a:pt x="1281" y="88"/>
                      </a:cubicBezTo>
                      <a:cubicBezTo>
                        <a:pt x="1176" y="59"/>
                        <a:pt x="1071" y="29"/>
                        <a:pt x="965" y="0"/>
                      </a:cubicBezTo>
                    </a:path>
                  </a:pathLst>
                </a:custGeom>
                <a:noFill/>
                <a:ln w="28575" cap="flat">
                  <a:solidFill>
                    <a:srgbClr val="BE000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sp>
              <p:nvSpPr>
                <p:cNvPr id="18" name="Freeform 6">
                  <a:extLst>
                    <a:ext uri="{FF2B5EF4-FFF2-40B4-BE49-F238E27FC236}">
                      <a16:creationId xmlns:a16="http://schemas.microsoft.com/office/drawing/2014/main" id="{4290C664-A04C-D6E3-4A3A-8F54208772C8}"/>
                    </a:ext>
                  </a:extLst>
                </p:cNvPr>
                <p:cNvSpPr>
                  <a:spLocks noChangeArrowheads="1"/>
                </p:cNvSpPr>
                <p:nvPr/>
              </p:nvSpPr>
              <p:spPr bwMode="auto">
                <a:xfrm>
                  <a:off x="8853488" y="974725"/>
                  <a:ext cx="469900" cy="119063"/>
                </a:xfrm>
                <a:custGeom>
                  <a:avLst/>
                  <a:gdLst>
                    <a:gd name="T0" fmla="*/ 341 w 1307"/>
                    <a:gd name="T1" fmla="*/ 0 h 332"/>
                    <a:gd name="T2" fmla="*/ 25 w 1307"/>
                    <a:gd name="T3" fmla="*/ 88 h 332"/>
                    <a:gd name="T4" fmla="*/ 0 w 1307"/>
                    <a:gd name="T5" fmla="*/ 123 h 332"/>
                    <a:gd name="T6" fmla="*/ 25 w 1307"/>
                    <a:gd name="T7" fmla="*/ 159 h 332"/>
                    <a:gd name="T8" fmla="*/ 616 w 1307"/>
                    <a:gd name="T9" fmla="*/ 324 h 332"/>
                    <a:gd name="T10" fmla="*/ 690 w 1307"/>
                    <a:gd name="T11" fmla="*/ 324 h 332"/>
                    <a:gd name="T12" fmla="*/ 1281 w 1307"/>
                    <a:gd name="T13" fmla="*/ 159 h 332"/>
                    <a:gd name="T14" fmla="*/ 1306 w 1307"/>
                    <a:gd name="T15" fmla="*/ 123 h 332"/>
                    <a:gd name="T16" fmla="*/ 1281 w 1307"/>
                    <a:gd name="T17" fmla="*/ 88 h 332"/>
                    <a:gd name="T18" fmla="*/ 965 w 1307"/>
                    <a:gd name="T19"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7" h="332">
                      <a:moveTo>
                        <a:pt x="341" y="0"/>
                      </a:moveTo>
                      <a:cubicBezTo>
                        <a:pt x="236" y="29"/>
                        <a:pt x="131" y="59"/>
                        <a:pt x="25" y="88"/>
                      </a:cubicBezTo>
                      <a:cubicBezTo>
                        <a:pt x="10" y="92"/>
                        <a:pt x="0" y="106"/>
                        <a:pt x="0" y="123"/>
                      </a:cubicBezTo>
                      <a:cubicBezTo>
                        <a:pt x="0" y="137"/>
                        <a:pt x="10" y="152"/>
                        <a:pt x="25" y="159"/>
                      </a:cubicBezTo>
                      <a:cubicBezTo>
                        <a:pt x="222" y="214"/>
                        <a:pt x="419" y="269"/>
                        <a:pt x="616" y="324"/>
                      </a:cubicBezTo>
                      <a:cubicBezTo>
                        <a:pt x="641" y="331"/>
                        <a:pt x="665" y="331"/>
                        <a:pt x="690" y="324"/>
                      </a:cubicBezTo>
                      <a:cubicBezTo>
                        <a:pt x="887" y="269"/>
                        <a:pt x="1084" y="214"/>
                        <a:pt x="1281" y="159"/>
                      </a:cubicBezTo>
                      <a:cubicBezTo>
                        <a:pt x="1295" y="155"/>
                        <a:pt x="1306" y="141"/>
                        <a:pt x="1306" y="123"/>
                      </a:cubicBezTo>
                      <a:cubicBezTo>
                        <a:pt x="1306" y="109"/>
                        <a:pt x="1295" y="95"/>
                        <a:pt x="1281" y="88"/>
                      </a:cubicBezTo>
                      <a:cubicBezTo>
                        <a:pt x="1176" y="59"/>
                        <a:pt x="1071" y="29"/>
                        <a:pt x="965" y="0"/>
                      </a:cubicBezTo>
                    </a:path>
                  </a:pathLst>
                </a:custGeom>
                <a:noFill/>
                <a:ln w="28575" cap="flat">
                  <a:solidFill>
                    <a:srgbClr val="0156B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sp>
              <p:nvSpPr>
                <p:cNvPr id="19" name="Freeform 7">
                  <a:extLst>
                    <a:ext uri="{FF2B5EF4-FFF2-40B4-BE49-F238E27FC236}">
                      <a16:creationId xmlns:a16="http://schemas.microsoft.com/office/drawing/2014/main" id="{E5911D68-FC64-9459-61B5-53D21CFD8A3B}"/>
                    </a:ext>
                  </a:extLst>
                </p:cNvPr>
                <p:cNvSpPr>
                  <a:spLocks noChangeArrowheads="1"/>
                </p:cNvSpPr>
                <p:nvPr/>
              </p:nvSpPr>
              <p:spPr bwMode="auto">
                <a:xfrm>
                  <a:off x="8853488" y="1062038"/>
                  <a:ext cx="469900" cy="119062"/>
                </a:xfrm>
                <a:custGeom>
                  <a:avLst/>
                  <a:gdLst>
                    <a:gd name="T0" fmla="*/ 341 w 1307"/>
                    <a:gd name="T1" fmla="*/ 0 h 332"/>
                    <a:gd name="T2" fmla="*/ 25 w 1307"/>
                    <a:gd name="T3" fmla="*/ 88 h 332"/>
                    <a:gd name="T4" fmla="*/ 0 w 1307"/>
                    <a:gd name="T5" fmla="*/ 123 h 332"/>
                    <a:gd name="T6" fmla="*/ 25 w 1307"/>
                    <a:gd name="T7" fmla="*/ 159 h 332"/>
                    <a:gd name="T8" fmla="*/ 616 w 1307"/>
                    <a:gd name="T9" fmla="*/ 324 h 332"/>
                    <a:gd name="T10" fmla="*/ 690 w 1307"/>
                    <a:gd name="T11" fmla="*/ 324 h 332"/>
                    <a:gd name="T12" fmla="*/ 1281 w 1307"/>
                    <a:gd name="T13" fmla="*/ 159 h 332"/>
                    <a:gd name="T14" fmla="*/ 1306 w 1307"/>
                    <a:gd name="T15" fmla="*/ 123 h 332"/>
                    <a:gd name="T16" fmla="*/ 1281 w 1307"/>
                    <a:gd name="T17" fmla="*/ 88 h 332"/>
                    <a:gd name="T18" fmla="*/ 965 w 1307"/>
                    <a:gd name="T19"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7" h="332">
                      <a:moveTo>
                        <a:pt x="341" y="0"/>
                      </a:moveTo>
                      <a:cubicBezTo>
                        <a:pt x="236" y="29"/>
                        <a:pt x="131" y="59"/>
                        <a:pt x="25" y="88"/>
                      </a:cubicBezTo>
                      <a:cubicBezTo>
                        <a:pt x="10" y="92"/>
                        <a:pt x="0" y="106"/>
                        <a:pt x="0" y="123"/>
                      </a:cubicBezTo>
                      <a:cubicBezTo>
                        <a:pt x="0" y="137"/>
                        <a:pt x="10" y="152"/>
                        <a:pt x="25" y="159"/>
                      </a:cubicBezTo>
                      <a:cubicBezTo>
                        <a:pt x="222" y="214"/>
                        <a:pt x="419" y="269"/>
                        <a:pt x="616" y="324"/>
                      </a:cubicBezTo>
                      <a:cubicBezTo>
                        <a:pt x="641" y="331"/>
                        <a:pt x="665" y="331"/>
                        <a:pt x="690" y="324"/>
                      </a:cubicBezTo>
                      <a:cubicBezTo>
                        <a:pt x="887" y="269"/>
                        <a:pt x="1084" y="214"/>
                        <a:pt x="1281" y="159"/>
                      </a:cubicBezTo>
                      <a:cubicBezTo>
                        <a:pt x="1295" y="155"/>
                        <a:pt x="1306" y="141"/>
                        <a:pt x="1306" y="123"/>
                      </a:cubicBezTo>
                      <a:cubicBezTo>
                        <a:pt x="1306" y="109"/>
                        <a:pt x="1295" y="95"/>
                        <a:pt x="1281" y="88"/>
                      </a:cubicBezTo>
                      <a:cubicBezTo>
                        <a:pt x="1176" y="59"/>
                        <a:pt x="1071" y="29"/>
                        <a:pt x="965" y="0"/>
                      </a:cubicBezTo>
                    </a:path>
                  </a:pathLst>
                </a:custGeom>
                <a:noFill/>
                <a:ln w="28575" cap="flat">
                  <a:solidFill>
                    <a:srgbClr val="6921B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grpSp>
        </p:grpSp>
        <p:sp>
          <p:nvSpPr>
            <p:cNvPr id="20" name="TextBox 19">
              <a:extLst>
                <a:ext uri="{FF2B5EF4-FFF2-40B4-BE49-F238E27FC236}">
                  <a16:creationId xmlns:a16="http://schemas.microsoft.com/office/drawing/2014/main" id="{8932BA09-B595-315E-3342-75B0092B0B1F}"/>
                </a:ext>
              </a:extLst>
            </p:cNvPr>
            <p:cNvSpPr txBox="1"/>
            <p:nvPr/>
          </p:nvSpPr>
          <p:spPr>
            <a:xfrm>
              <a:off x="8719625" y="3502179"/>
              <a:ext cx="3375051" cy="511182"/>
            </a:xfrm>
            <a:prstGeom prst="rect">
              <a:avLst/>
            </a:prstGeom>
            <a:noFill/>
          </p:spPr>
          <p:txBody>
            <a:bodyPr wrap="square" rtlCol="0">
              <a:spAutoFit/>
            </a:bodyPr>
            <a:lstStyle/>
            <a:p>
              <a:pPr algn="l"/>
              <a:r>
                <a:rPr lang="en-GB" sz="3600" b="1">
                  <a:latin typeface="+mj-lt"/>
                </a:rPr>
                <a:t>29 Apps / Services</a:t>
              </a:r>
            </a:p>
          </p:txBody>
        </p:sp>
      </p:grpSp>
      <p:grpSp>
        <p:nvGrpSpPr>
          <p:cNvPr id="21" name="Group 20">
            <a:extLst>
              <a:ext uri="{FF2B5EF4-FFF2-40B4-BE49-F238E27FC236}">
                <a16:creationId xmlns:a16="http://schemas.microsoft.com/office/drawing/2014/main" id="{75DEBF69-9A0A-17D3-4D14-1264B0434B54}"/>
              </a:ext>
            </a:extLst>
          </p:cNvPr>
          <p:cNvGrpSpPr>
            <a:grpSpLocks noChangeAspect="1"/>
          </p:cNvGrpSpPr>
          <p:nvPr/>
        </p:nvGrpSpPr>
        <p:grpSpPr>
          <a:xfrm>
            <a:off x="19680074" y="6626996"/>
            <a:ext cx="2008472" cy="2008472"/>
            <a:chOff x="683623" y="502726"/>
            <a:chExt cx="912128" cy="912128"/>
          </a:xfrm>
        </p:grpSpPr>
        <p:sp>
          <p:nvSpPr>
            <p:cNvPr id="22" name="Freeform 190">
              <a:extLst>
                <a:ext uri="{FF2B5EF4-FFF2-40B4-BE49-F238E27FC236}">
                  <a16:creationId xmlns:a16="http://schemas.microsoft.com/office/drawing/2014/main" id="{12CFDB1A-ADE5-9435-77F6-EC97CE135902}"/>
                </a:ext>
              </a:extLst>
            </p:cNvPr>
            <p:cNvSpPr>
              <a:spLocks noChangeArrowheads="1"/>
            </p:cNvSpPr>
            <p:nvPr/>
          </p:nvSpPr>
          <p:spPr bwMode="auto">
            <a:xfrm>
              <a:off x="683623" y="502726"/>
              <a:ext cx="912128" cy="912128"/>
            </a:xfrm>
            <a:custGeom>
              <a:avLst/>
              <a:gdLst>
                <a:gd name="T0" fmla="*/ 370 w 2532"/>
                <a:gd name="T1" fmla="*/ 2161 h 2532"/>
                <a:gd name="T2" fmla="*/ 846 w 2532"/>
                <a:gd name="T3" fmla="*/ 2263 h 2532"/>
                <a:gd name="T4" fmla="*/ 857 w 2532"/>
                <a:gd name="T5" fmla="*/ 2267 h 2532"/>
                <a:gd name="T6" fmla="*/ 1266 w 2532"/>
                <a:gd name="T7" fmla="*/ 2531 h 2532"/>
                <a:gd name="T8" fmla="*/ 1675 w 2532"/>
                <a:gd name="T9" fmla="*/ 2267 h 2532"/>
                <a:gd name="T10" fmla="*/ 1685 w 2532"/>
                <a:gd name="T11" fmla="*/ 2263 h 2532"/>
                <a:gd name="T12" fmla="*/ 2161 w 2532"/>
                <a:gd name="T13" fmla="*/ 2161 h 2532"/>
                <a:gd name="T14" fmla="*/ 2263 w 2532"/>
                <a:gd name="T15" fmla="*/ 1685 h 2532"/>
                <a:gd name="T16" fmla="*/ 2267 w 2532"/>
                <a:gd name="T17" fmla="*/ 1674 h 2532"/>
                <a:gd name="T18" fmla="*/ 2531 w 2532"/>
                <a:gd name="T19" fmla="*/ 1266 h 2532"/>
                <a:gd name="T20" fmla="*/ 2267 w 2532"/>
                <a:gd name="T21" fmla="*/ 857 h 2532"/>
                <a:gd name="T22" fmla="*/ 2263 w 2532"/>
                <a:gd name="T23" fmla="*/ 846 h 2532"/>
                <a:gd name="T24" fmla="*/ 2161 w 2532"/>
                <a:gd name="T25" fmla="*/ 370 h 2532"/>
                <a:gd name="T26" fmla="*/ 1685 w 2532"/>
                <a:gd name="T27" fmla="*/ 268 h 2532"/>
                <a:gd name="T28" fmla="*/ 1675 w 2532"/>
                <a:gd name="T29" fmla="*/ 265 h 2532"/>
                <a:gd name="T30" fmla="*/ 1266 w 2532"/>
                <a:gd name="T31" fmla="*/ 0 h 2532"/>
                <a:gd name="T32" fmla="*/ 857 w 2532"/>
                <a:gd name="T33" fmla="*/ 265 h 2532"/>
                <a:gd name="T34" fmla="*/ 846 w 2532"/>
                <a:gd name="T35" fmla="*/ 268 h 2532"/>
                <a:gd name="T36" fmla="*/ 370 w 2532"/>
                <a:gd name="T37" fmla="*/ 370 h 2532"/>
                <a:gd name="T38" fmla="*/ 268 w 2532"/>
                <a:gd name="T39" fmla="*/ 846 h 2532"/>
                <a:gd name="T40" fmla="*/ 265 w 2532"/>
                <a:gd name="T41" fmla="*/ 857 h 2532"/>
                <a:gd name="T42" fmla="*/ 0 w 2532"/>
                <a:gd name="T43" fmla="*/ 1266 h 2532"/>
                <a:gd name="T44" fmla="*/ 265 w 2532"/>
                <a:gd name="T45" fmla="*/ 1674 h 2532"/>
                <a:gd name="T46" fmla="*/ 268 w 2532"/>
                <a:gd name="T47" fmla="*/ 1685 h 2532"/>
                <a:gd name="T48" fmla="*/ 370 w 2532"/>
                <a:gd name="T49" fmla="*/ 2161 h 2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32" h="2532">
                  <a:moveTo>
                    <a:pt x="370" y="2161"/>
                  </a:moveTo>
                  <a:cubicBezTo>
                    <a:pt x="501" y="2291"/>
                    <a:pt x="688" y="2323"/>
                    <a:pt x="846" y="2263"/>
                  </a:cubicBezTo>
                  <a:cubicBezTo>
                    <a:pt x="850" y="2263"/>
                    <a:pt x="857" y="2263"/>
                    <a:pt x="857" y="2267"/>
                  </a:cubicBezTo>
                  <a:cubicBezTo>
                    <a:pt x="927" y="2422"/>
                    <a:pt x="1086" y="2531"/>
                    <a:pt x="1266" y="2531"/>
                  </a:cubicBezTo>
                  <a:cubicBezTo>
                    <a:pt x="1446" y="2531"/>
                    <a:pt x="1604" y="2422"/>
                    <a:pt x="1675" y="2267"/>
                  </a:cubicBezTo>
                  <a:cubicBezTo>
                    <a:pt x="1678" y="2263"/>
                    <a:pt x="1682" y="2260"/>
                    <a:pt x="1685" y="2263"/>
                  </a:cubicBezTo>
                  <a:cubicBezTo>
                    <a:pt x="1844" y="2323"/>
                    <a:pt x="2034" y="2288"/>
                    <a:pt x="2161" y="2161"/>
                  </a:cubicBezTo>
                  <a:cubicBezTo>
                    <a:pt x="2292" y="2030"/>
                    <a:pt x="2323" y="1844"/>
                    <a:pt x="2263" y="1685"/>
                  </a:cubicBezTo>
                  <a:cubicBezTo>
                    <a:pt x="2263" y="1682"/>
                    <a:pt x="2263" y="1674"/>
                    <a:pt x="2267" y="1674"/>
                  </a:cubicBezTo>
                  <a:cubicBezTo>
                    <a:pt x="2422" y="1604"/>
                    <a:pt x="2531" y="1445"/>
                    <a:pt x="2531" y="1266"/>
                  </a:cubicBezTo>
                  <a:cubicBezTo>
                    <a:pt x="2531" y="1086"/>
                    <a:pt x="2422" y="927"/>
                    <a:pt x="2267" y="857"/>
                  </a:cubicBezTo>
                  <a:cubicBezTo>
                    <a:pt x="2263" y="853"/>
                    <a:pt x="2260" y="850"/>
                    <a:pt x="2263" y="846"/>
                  </a:cubicBezTo>
                  <a:cubicBezTo>
                    <a:pt x="2323" y="688"/>
                    <a:pt x="2288" y="497"/>
                    <a:pt x="2161" y="370"/>
                  </a:cubicBezTo>
                  <a:cubicBezTo>
                    <a:pt x="2031" y="240"/>
                    <a:pt x="1844" y="208"/>
                    <a:pt x="1685" y="268"/>
                  </a:cubicBezTo>
                  <a:cubicBezTo>
                    <a:pt x="1682" y="268"/>
                    <a:pt x="1675" y="268"/>
                    <a:pt x="1675" y="265"/>
                  </a:cubicBezTo>
                  <a:cubicBezTo>
                    <a:pt x="1604" y="110"/>
                    <a:pt x="1446" y="0"/>
                    <a:pt x="1266" y="0"/>
                  </a:cubicBezTo>
                  <a:cubicBezTo>
                    <a:pt x="1086" y="0"/>
                    <a:pt x="927" y="110"/>
                    <a:pt x="857" y="265"/>
                  </a:cubicBezTo>
                  <a:cubicBezTo>
                    <a:pt x="853" y="268"/>
                    <a:pt x="850" y="272"/>
                    <a:pt x="846" y="268"/>
                  </a:cubicBezTo>
                  <a:cubicBezTo>
                    <a:pt x="688" y="208"/>
                    <a:pt x="496" y="243"/>
                    <a:pt x="370" y="370"/>
                  </a:cubicBezTo>
                  <a:cubicBezTo>
                    <a:pt x="239" y="500"/>
                    <a:pt x="208" y="688"/>
                    <a:pt x="268" y="846"/>
                  </a:cubicBezTo>
                  <a:cubicBezTo>
                    <a:pt x="268" y="850"/>
                    <a:pt x="268" y="857"/>
                    <a:pt x="265" y="857"/>
                  </a:cubicBezTo>
                  <a:cubicBezTo>
                    <a:pt x="110" y="927"/>
                    <a:pt x="0" y="1086"/>
                    <a:pt x="0" y="1266"/>
                  </a:cubicBezTo>
                  <a:cubicBezTo>
                    <a:pt x="0" y="1445"/>
                    <a:pt x="110" y="1604"/>
                    <a:pt x="265" y="1674"/>
                  </a:cubicBezTo>
                  <a:cubicBezTo>
                    <a:pt x="268" y="1678"/>
                    <a:pt x="272" y="1682"/>
                    <a:pt x="268" y="1685"/>
                  </a:cubicBezTo>
                  <a:cubicBezTo>
                    <a:pt x="208" y="1844"/>
                    <a:pt x="244" y="2030"/>
                    <a:pt x="370" y="2161"/>
                  </a:cubicBezTo>
                </a:path>
              </a:pathLst>
            </a:custGeom>
            <a:noFill/>
            <a:ln w="285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grpSp>
          <p:nvGrpSpPr>
            <p:cNvPr id="23" name="Group 22">
              <a:extLst>
                <a:ext uri="{FF2B5EF4-FFF2-40B4-BE49-F238E27FC236}">
                  <a16:creationId xmlns:a16="http://schemas.microsoft.com/office/drawing/2014/main" id="{FD7E539E-2476-3077-C2A0-07B197251C75}"/>
                </a:ext>
              </a:extLst>
            </p:cNvPr>
            <p:cNvGrpSpPr/>
            <p:nvPr/>
          </p:nvGrpSpPr>
          <p:grpSpPr>
            <a:xfrm>
              <a:off x="937875" y="749031"/>
              <a:ext cx="406802" cy="417927"/>
              <a:chOff x="937875" y="749031"/>
              <a:chExt cx="406802" cy="417927"/>
            </a:xfrm>
          </p:grpSpPr>
          <p:sp>
            <p:nvSpPr>
              <p:cNvPr id="24" name="Freeform 191">
                <a:extLst>
                  <a:ext uri="{FF2B5EF4-FFF2-40B4-BE49-F238E27FC236}">
                    <a16:creationId xmlns:a16="http://schemas.microsoft.com/office/drawing/2014/main" id="{CB69FD96-CAD9-C55A-81E0-FEE395D96600}"/>
                  </a:ext>
                </a:extLst>
              </p:cNvPr>
              <p:cNvSpPr>
                <a:spLocks noChangeArrowheads="1"/>
              </p:cNvSpPr>
              <p:nvPr/>
            </p:nvSpPr>
            <p:spPr bwMode="auto">
              <a:xfrm>
                <a:off x="1125386" y="1109752"/>
                <a:ext cx="92167" cy="1590"/>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69" y="0"/>
                      <a:pt x="84" y="0"/>
                      <a:pt x="0" y="0"/>
                    </a:cubicBezTo>
                  </a:path>
                </a:pathLst>
              </a:custGeom>
              <a:noFill/>
              <a:ln w="285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sp>
            <p:nvSpPr>
              <p:cNvPr id="25" name="Freeform 192">
                <a:extLst>
                  <a:ext uri="{FF2B5EF4-FFF2-40B4-BE49-F238E27FC236}">
                    <a16:creationId xmlns:a16="http://schemas.microsoft.com/office/drawing/2014/main" id="{58444383-7C1A-85F0-2216-8E628CE20889}"/>
                  </a:ext>
                </a:extLst>
              </p:cNvPr>
              <p:cNvSpPr>
                <a:spLocks noChangeArrowheads="1"/>
              </p:cNvSpPr>
              <p:nvPr/>
            </p:nvSpPr>
            <p:spPr bwMode="auto">
              <a:xfrm>
                <a:off x="937875" y="1052545"/>
                <a:ext cx="406802" cy="114413"/>
              </a:xfrm>
              <a:custGeom>
                <a:avLst/>
                <a:gdLst>
                  <a:gd name="T0" fmla="*/ 0 w 1129"/>
                  <a:gd name="T1" fmla="*/ 247 h 319"/>
                  <a:gd name="T2" fmla="*/ 71 w 1129"/>
                  <a:gd name="T3" fmla="*/ 318 h 319"/>
                  <a:gd name="T4" fmla="*/ 1058 w 1129"/>
                  <a:gd name="T5" fmla="*/ 318 h 319"/>
                  <a:gd name="T6" fmla="*/ 1128 w 1129"/>
                  <a:gd name="T7" fmla="*/ 247 h 319"/>
                  <a:gd name="T8" fmla="*/ 1128 w 1129"/>
                  <a:gd name="T9" fmla="*/ 71 h 319"/>
                  <a:gd name="T10" fmla="*/ 1058 w 1129"/>
                  <a:gd name="T11" fmla="*/ 0 h 319"/>
                  <a:gd name="T12" fmla="*/ 71 w 1129"/>
                  <a:gd name="T13" fmla="*/ 0 h 319"/>
                  <a:gd name="T14" fmla="*/ 0 w 1129"/>
                  <a:gd name="T15" fmla="*/ 71 h 319"/>
                  <a:gd name="T16" fmla="*/ 0 w 1129"/>
                  <a:gd name="T17" fmla="*/ 24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9" h="319">
                    <a:moveTo>
                      <a:pt x="0" y="247"/>
                    </a:moveTo>
                    <a:cubicBezTo>
                      <a:pt x="0" y="286"/>
                      <a:pt x="32" y="318"/>
                      <a:pt x="71" y="318"/>
                    </a:cubicBezTo>
                    <a:cubicBezTo>
                      <a:pt x="400" y="318"/>
                      <a:pt x="729" y="318"/>
                      <a:pt x="1058" y="318"/>
                    </a:cubicBezTo>
                    <a:cubicBezTo>
                      <a:pt x="1097" y="318"/>
                      <a:pt x="1128" y="286"/>
                      <a:pt x="1128" y="247"/>
                    </a:cubicBezTo>
                    <a:cubicBezTo>
                      <a:pt x="1128" y="188"/>
                      <a:pt x="1128" y="129"/>
                      <a:pt x="1128" y="71"/>
                    </a:cubicBezTo>
                    <a:cubicBezTo>
                      <a:pt x="1128" y="32"/>
                      <a:pt x="1097" y="0"/>
                      <a:pt x="1058" y="0"/>
                    </a:cubicBezTo>
                    <a:cubicBezTo>
                      <a:pt x="729" y="0"/>
                      <a:pt x="400" y="0"/>
                      <a:pt x="71" y="0"/>
                    </a:cubicBezTo>
                    <a:cubicBezTo>
                      <a:pt x="32" y="0"/>
                      <a:pt x="0" y="32"/>
                      <a:pt x="0" y="71"/>
                    </a:cubicBezTo>
                    <a:cubicBezTo>
                      <a:pt x="0" y="129"/>
                      <a:pt x="0" y="188"/>
                      <a:pt x="0" y="247"/>
                    </a:cubicBezTo>
                  </a:path>
                </a:pathLst>
              </a:custGeom>
              <a:noFill/>
              <a:ln w="28575" cap="flat">
                <a:solidFill>
                  <a:srgbClr val="0156B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sp>
            <p:nvSpPr>
              <p:cNvPr id="26" name="Freeform 193">
                <a:extLst>
                  <a:ext uri="{FF2B5EF4-FFF2-40B4-BE49-F238E27FC236}">
                    <a16:creationId xmlns:a16="http://schemas.microsoft.com/office/drawing/2014/main" id="{BA85601A-7F88-8E90-50A7-2017BDAA4528}"/>
                  </a:ext>
                </a:extLst>
              </p:cNvPr>
              <p:cNvSpPr>
                <a:spLocks noChangeArrowheads="1"/>
              </p:cNvSpPr>
              <p:nvPr/>
            </p:nvSpPr>
            <p:spPr bwMode="auto">
              <a:xfrm>
                <a:off x="1125386" y="957201"/>
                <a:ext cx="92167" cy="1590"/>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69" y="0"/>
                      <a:pt x="84" y="0"/>
                      <a:pt x="0" y="0"/>
                    </a:cubicBezTo>
                  </a:path>
                </a:pathLst>
              </a:custGeom>
              <a:noFill/>
              <a:ln w="285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sp>
            <p:nvSpPr>
              <p:cNvPr id="27" name="Freeform 194">
                <a:extLst>
                  <a:ext uri="{FF2B5EF4-FFF2-40B4-BE49-F238E27FC236}">
                    <a16:creationId xmlns:a16="http://schemas.microsoft.com/office/drawing/2014/main" id="{3751D759-2E83-0187-1DE3-79CD39333E75}"/>
                  </a:ext>
                </a:extLst>
              </p:cNvPr>
              <p:cNvSpPr>
                <a:spLocks noChangeArrowheads="1"/>
              </p:cNvSpPr>
              <p:nvPr/>
            </p:nvSpPr>
            <p:spPr bwMode="auto">
              <a:xfrm>
                <a:off x="937875" y="901582"/>
                <a:ext cx="406802" cy="114413"/>
              </a:xfrm>
              <a:custGeom>
                <a:avLst/>
                <a:gdLst>
                  <a:gd name="T0" fmla="*/ 0 w 1129"/>
                  <a:gd name="T1" fmla="*/ 246 h 318"/>
                  <a:gd name="T2" fmla="*/ 71 w 1129"/>
                  <a:gd name="T3" fmla="*/ 317 h 318"/>
                  <a:gd name="T4" fmla="*/ 1058 w 1129"/>
                  <a:gd name="T5" fmla="*/ 317 h 318"/>
                  <a:gd name="T6" fmla="*/ 1128 w 1129"/>
                  <a:gd name="T7" fmla="*/ 246 h 318"/>
                  <a:gd name="T8" fmla="*/ 1128 w 1129"/>
                  <a:gd name="T9" fmla="*/ 70 h 318"/>
                  <a:gd name="T10" fmla="*/ 1058 w 1129"/>
                  <a:gd name="T11" fmla="*/ 0 h 318"/>
                  <a:gd name="T12" fmla="*/ 71 w 1129"/>
                  <a:gd name="T13" fmla="*/ 0 h 318"/>
                  <a:gd name="T14" fmla="*/ 0 w 1129"/>
                  <a:gd name="T15" fmla="*/ 70 h 318"/>
                  <a:gd name="T16" fmla="*/ 0 w 1129"/>
                  <a:gd name="T17" fmla="*/ 2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9" h="318">
                    <a:moveTo>
                      <a:pt x="0" y="246"/>
                    </a:moveTo>
                    <a:cubicBezTo>
                      <a:pt x="0" y="285"/>
                      <a:pt x="32" y="317"/>
                      <a:pt x="71" y="317"/>
                    </a:cubicBezTo>
                    <a:cubicBezTo>
                      <a:pt x="400" y="317"/>
                      <a:pt x="729" y="317"/>
                      <a:pt x="1058" y="317"/>
                    </a:cubicBezTo>
                    <a:cubicBezTo>
                      <a:pt x="1097" y="317"/>
                      <a:pt x="1128" y="285"/>
                      <a:pt x="1128" y="246"/>
                    </a:cubicBezTo>
                    <a:cubicBezTo>
                      <a:pt x="1128" y="187"/>
                      <a:pt x="1128" y="128"/>
                      <a:pt x="1128" y="70"/>
                    </a:cubicBezTo>
                    <a:cubicBezTo>
                      <a:pt x="1128" y="31"/>
                      <a:pt x="1097" y="0"/>
                      <a:pt x="1058" y="0"/>
                    </a:cubicBezTo>
                    <a:cubicBezTo>
                      <a:pt x="729" y="0"/>
                      <a:pt x="400" y="0"/>
                      <a:pt x="71" y="0"/>
                    </a:cubicBezTo>
                    <a:cubicBezTo>
                      <a:pt x="32" y="0"/>
                      <a:pt x="0" y="31"/>
                      <a:pt x="0" y="70"/>
                    </a:cubicBezTo>
                    <a:cubicBezTo>
                      <a:pt x="0" y="128"/>
                      <a:pt x="0" y="187"/>
                      <a:pt x="0" y="246"/>
                    </a:cubicBezTo>
                  </a:path>
                </a:pathLst>
              </a:custGeom>
              <a:noFill/>
              <a:ln w="28575" cap="flat">
                <a:solidFill>
                  <a:srgbClr val="6921B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sp>
            <p:nvSpPr>
              <p:cNvPr id="28" name="Freeform 195">
                <a:extLst>
                  <a:ext uri="{FF2B5EF4-FFF2-40B4-BE49-F238E27FC236}">
                    <a16:creationId xmlns:a16="http://schemas.microsoft.com/office/drawing/2014/main" id="{C4974F33-E515-4B26-F74F-60709D5609C8}"/>
                  </a:ext>
                </a:extLst>
              </p:cNvPr>
              <p:cNvSpPr>
                <a:spLocks noChangeArrowheads="1"/>
              </p:cNvSpPr>
              <p:nvPr/>
            </p:nvSpPr>
            <p:spPr bwMode="auto">
              <a:xfrm>
                <a:off x="1125386" y="804650"/>
                <a:ext cx="92167" cy="1590"/>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69" y="0"/>
                      <a:pt x="84" y="0"/>
                      <a:pt x="0" y="0"/>
                    </a:cubicBezTo>
                  </a:path>
                </a:pathLst>
              </a:custGeom>
              <a:noFill/>
              <a:ln w="285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sp>
            <p:nvSpPr>
              <p:cNvPr id="29" name="Freeform 196">
                <a:extLst>
                  <a:ext uri="{FF2B5EF4-FFF2-40B4-BE49-F238E27FC236}">
                    <a16:creationId xmlns:a16="http://schemas.microsoft.com/office/drawing/2014/main" id="{66436404-811A-A9EE-B8C0-F54454495E03}"/>
                  </a:ext>
                </a:extLst>
              </p:cNvPr>
              <p:cNvSpPr>
                <a:spLocks noChangeArrowheads="1"/>
              </p:cNvSpPr>
              <p:nvPr/>
            </p:nvSpPr>
            <p:spPr bwMode="auto">
              <a:xfrm>
                <a:off x="1266812" y="804650"/>
                <a:ext cx="28604" cy="1590"/>
              </a:xfrm>
              <a:custGeom>
                <a:avLst/>
                <a:gdLst>
                  <a:gd name="T0" fmla="*/ 78 w 79"/>
                  <a:gd name="T1" fmla="*/ 0 h 1"/>
                  <a:gd name="T2" fmla="*/ 0 w 79"/>
                  <a:gd name="T3" fmla="*/ 0 h 1"/>
                </a:gdLst>
                <a:ahLst/>
                <a:cxnLst>
                  <a:cxn ang="0">
                    <a:pos x="T0" y="T1"/>
                  </a:cxn>
                  <a:cxn ang="0">
                    <a:pos x="T2" y="T3"/>
                  </a:cxn>
                </a:cxnLst>
                <a:rect l="0" t="0" r="r" b="b"/>
                <a:pathLst>
                  <a:path w="79" h="1">
                    <a:moveTo>
                      <a:pt x="78" y="0"/>
                    </a:moveTo>
                    <a:cubicBezTo>
                      <a:pt x="52" y="0"/>
                      <a:pt x="26" y="0"/>
                      <a:pt x="0" y="0"/>
                    </a:cubicBezTo>
                  </a:path>
                </a:pathLst>
              </a:custGeom>
              <a:noFill/>
              <a:ln w="285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sp>
            <p:nvSpPr>
              <p:cNvPr id="30" name="Freeform 197">
                <a:extLst>
                  <a:ext uri="{FF2B5EF4-FFF2-40B4-BE49-F238E27FC236}">
                    <a16:creationId xmlns:a16="http://schemas.microsoft.com/office/drawing/2014/main" id="{472ACBD2-B44A-2161-4B66-09CCBFA4023A}"/>
                  </a:ext>
                </a:extLst>
              </p:cNvPr>
              <p:cNvSpPr>
                <a:spLocks noChangeArrowheads="1"/>
              </p:cNvSpPr>
              <p:nvPr/>
            </p:nvSpPr>
            <p:spPr bwMode="auto">
              <a:xfrm>
                <a:off x="1266812" y="957201"/>
                <a:ext cx="28604" cy="1590"/>
              </a:xfrm>
              <a:custGeom>
                <a:avLst/>
                <a:gdLst>
                  <a:gd name="T0" fmla="*/ 78 w 79"/>
                  <a:gd name="T1" fmla="*/ 0 h 1"/>
                  <a:gd name="T2" fmla="*/ 0 w 79"/>
                  <a:gd name="T3" fmla="*/ 0 h 1"/>
                </a:gdLst>
                <a:ahLst/>
                <a:cxnLst>
                  <a:cxn ang="0">
                    <a:pos x="T0" y="T1"/>
                  </a:cxn>
                  <a:cxn ang="0">
                    <a:pos x="T2" y="T3"/>
                  </a:cxn>
                </a:cxnLst>
                <a:rect l="0" t="0" r="r" b="b"/>
                <a:pathLst>
                  <a:path w="79" h="1">
                    <a:moveTo>
                      <a:pt x="78" y="0"/>
                    </a:moveTo>
                    <a:cubicBezTo>
                      <a:pt x="52" y="0"/>
                      <a:pt x="26" y="0"/>
                      <a:pt x="0" y="0"/>
                    </a:cubicBezTo>
                  </a:path>
                </a:pathLst>
              </a:custGeom>
              <a:noFill/>
              <a:ln w="285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sp>
            <p:nvSpPr>
              <p:cNvPr id="31" name="Freeform 198">
                <a:extLst>
                  <a:ext uri="{FF2B5EF4-FFF2-40B4-BE49-F238E27FC236}">
                    <a16:creationId xmlns:a16="http://schemas.microsoft.com/office/drawing/2014/main" id="{0535D7E3-6D76-3E27-1131-A60DEA721E26}"/>
                  </a:ext>
                </a:extLst>
              </p:cNvPr>
              <p:cNvSpPr>
                <a:spLocks noChangeArrowheads="1"/>
              </p:cNvSpPr>
              <p:nvPr/>
            </p:nvSpPr>
            <p:spPr bwMode="auto">
              <a:xfrm>
                <a:off x="1266812" y="1109752"/>
                <a:ext cx="28604" cy="1590"/>
              </a:xfrm>
              <a:custGeom>
                <a:avLst/>
                <a:gdLst>
                  <a:gd name="T0" fmla="*/ 78 w 79"/>
                  <a:gd name="T1" fmla="*/ 0 h 1"/>
                  <a:gd name="T2" fmla="*/ 0 w 79"/>
                  <a:gd name="T3" fmla="*/ 0 h 1"/>
                </a:gdLst>
                <a:ahLst/>
                <a:cxnLst>
                  <a:cxn ang="0">
                    <a:pos x="T0" y="T1"/>
                  </a:cxn>
                  <a:cxn ang="0">
                    <a:pos x="T2" y="T3"/>
                  </a:cxn>
                </a:cxnLst>
                <a:rect l="0" t="0" r="r" b="b"/>
                <a:pathLst>
                  <a:path w="79" h="1">
                    <a:moveTo>
                      <a:pt x="78" y="0"/>
                    </a:moveTo>
                    <a:cubicBezTo>
                      <a:pt x="52" y="0"/>
                      <a:pt x="26" y="0"/>
                      <a:pt x="0" y="0"/>
                    </a:cubicBezTo>
                  </a:path>
                </a:pathLst>
              </a:custGeom>
              <a:noFill/>
              <a:ln w="285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600">
                  <a:latin typeface="+mj-lt"/>
                </a:endParaRPr>
              </a:p>
            </p:txBody>
          </p:sp>
          <p:sp>
            <p:nvSpPr>
              <p:cNvPr id="32" name="Freeform 199">
                <a:extLst>
                  <a:ext uri="{FF2B5EF4-FFF2-40B4-BE49-F238E27FC236}">
                    <a16:creationId xmlns:a16="http://schemas.microsoft.com/office/drawing/2014/main" id="{6FB02C35-544E-5B4B-CE44-B22479B71123}"/>
                  </a:ext>
                </a:extLst>
              </p:cNvPr>
              <p:cNvSpPr>
                <a:spLocks noChangeArrowheads="1"/>
              </p:cNvSpPr>
              <p:nvPr/>
            </p:nvSpPr>
            <p:spPr bwMode="auto">
              <a:xfrm>
                <a:off x="937875" y="749031"/>
                <a:ext cx="406802" cy="114413"/>
              </a:xfrm>
              <a:custGeom>
                <a:avLst/>
                <a:gdLst>
                  <a:gd name="T0" fmla="*/ 0 w 1129"/>
                  <a:gd name="T1" fmla="*/ 246 h 318"/>
                  <a:gd name="T2" fmla="*/ 71 w 1129"/>
                  <a:gd name="T3" fmla="*/ 317 h 318"/>
                  <a:gd name="T4" fmla="*/ 1058 w 1129"/>
                  <a:gd name="T5" fmla="*/ 317 h 318"/>
                  <a:gd name="T6" fmla="*/ 1128 w 1129"/>
                  <a:gd name="T7" fmla="*/ 246 h 318"/>
                  <a:gd name="T8" fmla="*/ 1128 w 1129"/>
                  <a:gd name="T9" fmla="*/ 70 h 318"/>
                  <a:gd name="T10" fmla="*/ 1058 w 1129"/>
                  <a:gd name="T11" fmla="*/ 0 h 318"/>
                  <a:gd name="T12" fmla="*/ 71 w 1129"/>
                  <a:gd name="T13" fmla="*/ 0 h 318"/>
                  <a:gd name="T14" fmla="*/ 0 w 1129"/>
                  <a:gd name="T15" fmla="*/ 70 h 318"/>
                  <a:gd name="T16" fmla="*/ 0 w 1129"/>
                  <a:gd name="T17" fmla="*/ 2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9" h="318">
                    <a:moveTo>
                      <a:pt x="0" y="246"/>
                    </a:moveTo>
                    <a:cubicBezTo>
                      <a:pt x="0" y="285"/>
                      <a:pt x="32" y="317"/>
                      <a:pt x="71" y="317"/>
                    </a:cubicBezTo>
                    <a:cubicBezTo>
                      <a:pt x="400" y="317"/>
                      <a:pt x="729" y="317"/>
                      <a:pt x="1058" y="317"/>
                    </a:cubicBezTo>
                    <a:cubicBezTo>
                      <a:pt x="1097" y="317"/>
                      <a:pt x="1128" y="285"/>
                      <a:pt x="1128" y="246"/>
                    </a:cubicBezTo>
                    <a:cubicBezTo>
                      <a:pt x="1128" y="187"/>
                      <a:pt x="1128" y="128"/>
                      <a:pt x="1128" y="70"/>
                    </a:cubicBezTo>
                    <a:cubicBezTo>
                      <a:pt x="1128" y="31"/>
                      <a:pt x="1097" y="0"/>
                      <a:pt x="1058" y="0"/>
                    </a:cubicBezTo>
                    <a:cubicBezTo>
                      <a:pt x="729" y="0"/>
                      <a:pt x="400" y="0"/>
                      <a:pt x="71" y="0"/>
                    </a:cubicBezTo>
                    <a:cubicBezTo>
                      <a:pt x="32" y="0"/>
                      <a:pt x="0" y="31"/>
                      <a:pt x="0" y="70"/>
                    </a:cubicBezTo>
                    <a:cubicBezTo>
                      <a:pt x="0" y="128"/>
                      <a:pt x="0" y="187"/>
                      <a:pt x="0" y="246"/>
                    </a:cubicBezTo>
                  </a:path>
                </a:pathLst>
              </a:custGeom>
              <a:noFill/>
              <a:ln w="28575" cap="flat">
                <a:solidFill>
                  <a:srgbClr val="BE000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grpSp>
      </p:grpSp>
      <p:sp>
        <p:nvSpPr>
          <p:cNvPr id="33" name="TextBox 32">
            <a:extLst>
              <a:ext uri="{FF2B5EF4-FFF2-40B4-BE49-F238E27FC236}">
                <a16:creationId xmlns:a16="http://schemas.microsoft.com/office/drawing/2014/main" id="{2EDA6647-D705-0994-6848-25706B8D6520}"/>
              </a:ext>
            </a:extLst>
          </p:cNvPr>
          <p:cNvSpPr txBox="1"/>
          <p:nvPr/>
        </p:nvSpPr>
        <p:spPr>
          <a:xfrm>
            <a:off x="17492547" y="8777100"/>
            <a:ext cx="6868674" cy="1754326"/>
          </a:xfrm>
          <a:prstGeom prst="rect">
            <a:avLst/>
          </a:prstGeom>
          <a:noFill/>
        </p:spPr>
        <p:txBody>
          <a:bodyPr wrap="square" rtlCol="0">
            <a:spAutoFit/>
          </a:bodyPr>
          <a:lstStyle/>
          <a:p>
            <a:pPr algn="ctr"/>
            <a:r>
              <a:rPr lang="en-GB" sz="3600" b="1">
                <a:latin typeface="+mj-lt"/>
              </a:rPr>
              <a:t>158 Virtual Servers Total</a:t>
            </a:r>
          </a:p>
          <a:p>
            <a:pPr algn="l"/>
            <a:r>
              <a:rPr lang="en-GB" sz="3600">
                <a:latin typeface="+mj-lt"/>
              </a:rPr>
              <a:t>             *final count of servers will differ in cloud</a:t>
            </a:r>
          </a:p>
        </p:txBody>
      </p:sp>
      <p:grpSp>
        <p:nvGrpSpPr>
          <p:cNvPr id="36" name="Group 35">
            <a:extLst>
              <a:ext uri="{FF2B5EF4-FFF2-40B4-BE49-F238E27FC236}">
                <a16:creationId xmlns:a16="http://schemas.microsoft.com/office/drawing/2014/main" id="{4F78BAD2-609A-4A62-7325-4AFEFE65E81B}"/>
              </a:ext>
            </a:extLst>
          </p:cNvPr>
          <p:cNvGrpSpPr>
            <a:grpSpLocks noChangeAspect="1"/>
          </p:cNvGrpSpPr>
          <p:nvPr/>
        </p:nvGrpSpPr>
        <p:grpSpPr>
          <a:xfrm>
            <a:off x="19680386" y="10128291"/>
            <a:ext cx="2008472" cy="2008470"/>
            <a:chOff x="8609912" y="2149004"/>
            <a:chExt cx="912128" cy="912128"/>
          </a:xfrm>
        </p:grpSpPr>
        <p:grpSp>
          <p:nvGrpSpPr>
            <p:cNvPr id="37" name="Group 36">
              <a:extLst>
                <a:ext uri="{FF2B5EF4-FFF2-40B4-BE49-F238E27FC236}">
                  <a16:creationId xmlns:a16="http://schemas.microsoft.com/office/drawing/2014/main" id="{7B680202-5440-91CC-858D-EE17CB83D43D}"/>
                </a:ext>
              </a:extLst>
            </p:cNvPr>
            <p:cNvGrpSpPr/>
            <p:nvPr/>
          </p:nvGrpSpPr>
          <p:grpSpPr>
            <a:xfrm>
              <a:off x="8865753" y="2398488"/>
              <a:ext cx="402036" cy="413159"/>
              <a:chOff x="8865753" y="2398488"/>
              <a:chExt cx="402036" cy="413159"/>
            </a:xfrm>
          </p:grpSpPr>
          <p:sp>
            <p:nvSpPr>
              <p:cNvPr id="39" name="Freeform 36">
                <a:extLst>
                  <a:ext uri="{FF2B5EF4-FFF2-40B4-BE49-F238E27FC236}">
                    <a16:creationId xmlns:a16="http://schemas.microsoft.com/office/drawing/2014/main" id="{39C7D841-01EB-474A-8836-18BCC55CEE39}"/>
                  </a:ext>
                </a:extLst>
              </p:cNvPr>
              <p:cNvSpPr>
                <a:spLocks noChangeArrowheads="1"/>
              </p:cNvSpPr>
              <p:nvPr/>
            </p:nvSpPr>
            <p:spPr bwMode="auto">
              <a:xfrm>
                <a:off x="8865753" y="2454105"/>
                <a:ext cx="402036" cy="55617"/>
              </a:xfrm>
              <a:custGeom>
                <a:avLst/>
                <a:gdLst>
                  <a:gd name="T0" fmla="*/ 1114 w 1115"/>
                  <a:gd name="T1" fmla="*/ 0 h 156"/>
                  <a:gd name="T2" fmla="*/ 557 w 1115"/>
                  <a:gd name="T3" fmla="*/ 155 h 156"/>
                  <a:gd name="T4" fmla="*/ 0 w 1115"/>
                  <a:gd name="T5" fmla="*/ 0 h 156"/>
                </a:gdLst>
                <a:ahLst/>
                <a:cxnLst>
                  <a:cxn ang="0">
                    <a:pos x="T0" y="T1"/>
                  </a:cxn>
                  <a:cxn ang="0">
                    <a:pos x="T2" y="T3"/>
                  </a:cxn>
                  <a:cxn ang="0">
                    <a:pos x="T4" y="T5"/>
                  </a:cxn>
                </a:cxnLst>
                <a:rect l="0" t="0" r="r" b="b"/>
                <a:pathLst>
                  <a:path w="1115" h="156">
                    <a:moveTo>
                      <a:pt x="1114" y="0"/>
                    </a:moveTo>
                    <a:cubicBezTo>
                      <a:pt x="1114" y="85"/>
                      <a:pt x="864" y="155"/>
                      <a:pt x="557" y="155"/>
                    </a:cubicBezTo>
                    <a:cubicBezTo>
                      <a:pt x="251" y="155"/>
                      <a:pt x="0" y="85"/>
                      <a:pt x="0" y="0"/>
                    </a:cubicBezTo>
                  </a:path>
                </a:pathLst>
              </a:custGeom>
              <a:noFill/>
              <a:ln w="28575" cap="flat">
                <a:solidFill>
                  <a:srgbClr val="B40BAD"/>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sp>
            <p:nvSpPr>
              <p:cNvPr id="40" name="Freeform 37">
                <a:extLst>
                  <a:ext uri="{FF2B5EF4-FFF2-40B4-BE49-F238E27FC236}">
                    <a16:creationId xmlns:a16="http://schemas.microsoft.com/office/drawing/2014/main" id="{070FCC4E-5CC8-73B1-FF20-FB11BD1DDA2F}"/>
                  </a:ext>
                </a:extLst>
              </p:cNvPr>
              <p:cNvSpPr>
                <a:spLocks noChangeArrowheads="1"/>
              </p:cNvSpPr>
              <p:nvPr/>
            </p:nvSpPr>
            <p:spPr bwMode="auto">
              <a:xfrm>
                <a:off x="8865753" y="2554216"/>
                <a:ext cx="402036" cy="55619"/>
              </a:xfrm>
              <a:custGeom>
                <a:avLst/>
                <a:gdLst>
                  <a:gd name="T0" fmla="*/ 1114 w 1115"/>
                  <a:gd name="T1" fmla="*/ 0 h 156"/>
                  <a:gd name="T2" fmla="*/ 557 w 1115"/>
                  <a:gd name="T3" fmla="*/ 155 h 156"/>
                  <a:gd name="T4" fmla="*/ 0 w 1115"/>
                  <a:gd name="T5" fmla="*/ 0 h 156"/>
                </a:gdLst>
                <a:ahLst/>
                <a:cxnLst>
                  <a:cxn ang="0">
                    <a:pos x="T0" y="T1"/>
                  </a:cxn>
                  <a:cxn ang="0">
                    <a:pos x="T2" y="T3"/>
                  </a:cxn>
                  <a:cxn ang="0">
                    <a:pos x="T4" y="T5"/>
                  </a:cxn>
                </a:cxnLst>
                <a:rect l="0" t="0" r="r" b="b"/>
                <a:pathLst>
                  <a:path w="1115" h="156">
                    <a:moveTo>
                      <a:pt x="1114" y="0"/>
                    </a:moveTo>
                    <a:cubicBezTo>
                      <a:pt x="1114" y="85"/>
                      <a:pt x="864" y="155"/>
                      <a:pt x="557" y="155"/>
                    </a:cubicBezTo>
                    <a:cubicBezTo>
                      <a:pt x="251" y="155"/>
                      <a:pt x="0" y="85"/>
                      <a:pt x="0" y="0"/>
                    </a:cubicBezTo>
                  </a:path>
                </a:pathLst>
              </a:custGeom>
              <a:noFill/>
              <a:ln w="28575" cap="flat">
                <a:solidFill>
                  <a:srgbClr val="EB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sp>
            <p:nvSpPr>
              <p:cNvPr id="41" name="Freeform 38">
                <a:extLst>
                  <a:ext uri="{FF2B5EF4-FFF2-40B4-BE49-F238E27FC236}">
                    <a16:creationId xmlns:a16="http://schemas.microsoft.com/office/drawing/2014/main" id="{9442BC3C-6736-5C9A-0E7F-32264EC7E45F}"/>
                  </a:ext>
                </a:extLst>
              </p:cNvPr>
              <p:cNvSpPr>
                <a:spLocks noChangeArrowheads="1"/>
              </p:cNvSpPr>
              <p:nvPr/>
            </p:nvSpPr>
            <p:spPr bwMode="auto">
              <a:xfrm>
                <a:off x="8865753" y="2654329"/>
                <a:ext cx="402036" cy="55617"/>
              </a:xfrm>
              <a:custGeom>
                <a:avLst/>
                <a:gdLst>
                  <a:gd name="T0" fmla="*/ 1114 w 1115"/>
                  <a:gd name="T1" fmla="*/ 0 h 156"/>
                  <a:gd name="T2" fmla="*/ 557 w 1115"/>
                  <a:gd name="T3" fmla="*/ 155 h 156"/>
                  <a:gd name="T4" fmla="*/ 0 w 1115"/>
                  <a:gd name="T5" fmla="*/ 0 h 156"/>
                </a:gdLst>
                <a:ahLst/>
                <a:cxnLst>
                  <a:cxn ang="0">
                    <a:pos x="T0" y="T1"/>
                  </a:cxn>
                  <a:cxn ang="0">
                    <a:pos x="T2" y="T3"/>
                  </a:cxn>
                  <a:cxn ang="0">
                    <a:pos x="T4" y="T5"/>
                  </a:cxn>
                </a:cxnLst>
                <a:rect l="0" t="0" r="r" b="b"/>
                <a:pathLst>
                  <a:path w="1115" h="156">
                    <a:moveTo>
                      <a:pt x="1114" y="0"/>
                    </a:moveTo>
                    <a:cubicBezTo>
                      <a:pt x="1114" y="84"/>
                      <a:pt x="864" y="155"/>
                      <a:pt x="557" y="155"/>
                    </a:cubicBezTo>
                    <a:cubicBezTo>
                      <a:pt x="251" y="155"/>
                      <a:pt x="0" y="84"/>
                      <a:pt x="0" y="0"/>
                    </a:cubicBezTo>
                  </a:path>
                </a:pathLst>
              </a:custGeom>
              <a:noFill/>
              <a:ln w="28575" cap="flat">
                <a:solidFill>
                  <a:srgbClr val="0156B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sp>
            <p:nvSpPr>
              <p:cNvPr id="42" name="Freeform 39">
                <a:extLst>
                  <a:ext uri="{FF2B5EF4-FFF2-40B4-BE49-F238E27FC236}">
                    <a16:creationId xmlns:a16="http://schemas.microsoft.com/office/drawing/2014/main" id="{6A479EEF-BFAF-26F2-949B-3F70BC584851}"/>
                  </a:ext>
                </a:extLst>
              </p:cNvPr>
              <p:cNvSpPr>
                <a:spLocks noChangeArrowheads="1"/>
              </p:cNvSpPr>
              <p:nvPr/>
            </p:nvSpPr>
            <p:spPr bwMode="auto">
              <a:xfrm>
                <a:off x="8865753" y="2398488"/>
                <a:ext cx="402036" cy="413159"/>
              </a:xfrm>
              <a:custGeom>
                <a:avLst/>
                <a:gdLst>
                  <a:gd name="T0" fmla="*/ 1114 w 1115"/>
                  <a:gd name="T1" fmla="*/ 155 h 1146"/>
                  <a:gd name="T2" fmla="*/ 1114 w 1115"/>
                  <a:gd name="T3" fmla="*/ 990 h 1146"/>
                  <a:gd name="T4" fmla="*/ 557 w 1115"/>
                  <a:gd name="T5" fmla="*/ 1145 h 1146"/>
                  <a:gd name="T6" fmla="*/ 0 w 1115"/>
                  <a:gd name="T7" fmla="*/ 990 h 1146"/>
                  <a:gd name="T8" fmla="*/ 0 w 1115"/>
                  <a:gd name="T9" fmla="*/ 155 h 1146"/>
                  <a:gd name="T10" fmla="*/ 557 w 1115"/>
                  <a:gd name="T11" fmla="*/ 0 h 1146"/>
                  <a:gd name="T12" fmla="*/ 1114 w 1115"/>
                  <a:gd name="T13" fmla="*/ 155 h 1146"/>
                </a:gdLst>
                <a:ahLst/>
                <a:cxnLst>
                  <a:cxn ang="0">
                    <a:pos x="T0" y="T1"/>
                  </a:cxn>
                  <a:cxn ang="0">
                    <a:pos x="T2" y="T3"/>
                  </a:cxn>
                  <a:cxn ang="0">
                    <a:pos x="T4" y="T5"/>
                  </a:cxn>
                  <a:cxn ang="0">
                    <a:pos x="T6" y="T7"/>
                  </a:cxn>
                  <a:cxn ang="0">
                    <a:pos x="T8" y="T9"/>
                  </a:cxn>
                  <a:cxn ang="0">
                    <a:pos x="T10" y="T11"/>
                  </a:cxn>
                  <a:cxn ang="0">
                    <a:pos x="T12" y="T13"/>
                  </a:cxn>
                </a:cxnLst>
                <a:rect l="0" t="0" r="r" b="b"/>
                <a:pathLst>
                  <a:path w="1115" h="1146">
                    <a:moveTo>
                      <a:pt x="1114" y="155"/>
                    </a:moveTo>
                    <a:cubicBezTo>
                      <a:pt x="1114" y="433"/>
                      <a:pt x="1114" y="711"/>
                      <a:pt x="1114" y="990"/>
                    </a:cubicBezTo>
                    <a:cubicBezTo>
                      <a:pt x="1114" y="1075"/>
                      <a:pt x="864" y="1145"/>
                      <a:pt x="557" y="1145"/>
                    </a:cubicBezTo>
                    <a:cubicBezTo>
                      <a:pt x="251" y="1145"/>
                      <a:pt x="0" y="1075"/>
                      <a:pt x="0" y="990"/>
                    </a:cubicBezTo>
                    <a:cubicBezTo>
                      <a:pt x="0" y="711"/>
                      <a:pt x="0" y="433"/>
                      <a:pt x="0" y="155"/>
                    </a:cubicBezTo>
                    <a:cubicBezTo>
                      <a:pt x="0" y="70"/>
                      <a:pt x="250" y="0"/>
                      <a:pt x="557" y="0"/>
                    </a:cubicBezTo>
                    <a:cubicBezTo>
                      <a:pt x="863" y="0"/>
                      <a:pt x="1114" y="70"/>
                      <a:pt x="1114" y="155"/>
                    </a:cubicBezTo>
                  </a:path>
                </a:pathLst>
              </a:custGeom>
              <a:noFill/>
              <a:ln w="285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grpSp>
        <p:sp>
          <p:nvSpPr>
            <p:cNvPr id="38" name="Freeform 40">
              <a:extLst>
                <a:ext uri="{FF2B5EF4-FFF2-40B4-BE49-F238E27FC236}">
                  <a16:creationId xmlns:a16="http://schemas.microsoft.com/office/drawing/2014/main" id="{59F41C89-6E8D-D04F-07D7-ADC543DDD503}"/>
                </a:ext>
              </a:extLst>
            </p:cNvPr>
            <p:cNvSpPr>
              <a:spLocks noChangeArrowheads="1"/>
            </p:cNvSpPr>
            <p:nvPr/>
          </p:nvSpPr>
          <p:spPr bwMode="auto">
            <a:xfrm>
              <a:off x="8609912" y="2149004"/>
              <a:ext cx="912128" cy="912128"/>
            </a:xfrm>
            <a:custGeom>
              <a:avLst/>
              <a:gdLst>
                <a:gd name="T0" fmla="*/ 370 w 2532"/>
                <a:gd name="T1" fmla="*/ 2161 h 2532"/>
                <a:gd name="T2" fmla="*/ 846 w 2532"/>
                <a:gd name="T3" fmla="*/ 2263 h 2532"/>
                <a:gd name="T4" fmla="*/ 856 w 2532"/>
                <a:gd name="T5" fmla="*/ 2266 h 2532"/>
                <a:gd name="T6" fmla="*/ 1265 w 2532"/>
                <a:gd name="T7" fmla="*/ 2531 h 2532"/>
                <a:gd name="T8" fmla="*/ 1674 w 2532"/>
                <a:gd name="T9" fmla="*/ 2266 h 2532"/>
                <a:gd name="T10" fmla="*/ 1685 w 2532"/>
                <a:gd name="T11" fmla="*/ 2263 h 2532"/>
                <a:gd name="T12" fmla="*/ 2160 w 2532"/>
                <a:gd name="T13" fmla="*/ 2161 h 2532"/>
                <a:gd name="T14" fmla="*/ 2263 w 2532"/>
                <a:gd name="T15" fmla="*/ 1685 h 2532"/>
                <a:gd name="T16" fmla="*/ 2266 w 2532"/>
                <a:gd name="T17" fmla="*/ 1674 h 2532"/>
                <a:gd name="T18" fmla="*/ 2531 w 2532"/>
                <a:gd name="T19" fmla="*/ 1265 h 2532"/>
                <a:gd name="T20" fmla="*/ 2266 w 2532"/>
                <a:gd name="T21" fmla="*/ 857 h 2532"/>
                <a:gd name="T22" fmla="*/ 2263 w 2532"/>
                <a:gd name="T23" fmla="*/ 846 h 2532"/>
                <a:gd name="T24" fmla="*/ 2160 w 2532"/>
                <a:gd name="T25" fmla="*/ 370 h 2532"/>
                <a:gd name="T26" fmla="*/ 1685 w 2532"/>
                <a:gd name="T27" fmla="*/ 268 h 2532"/>
                <a:gd name="T28" fmla="*/ 1674 w 2532"/>
                <a:gd name="T29" fmla="*/ 264 h 2532"/>
                <a:gd name="T30" fmla="*/ 1265 w 2532"/>
                <a:gd name="T31" fmla="*/ 0 h 2532"/>
                <a:gd name="T32" fmla="*/ 856 w 2532"/>
                <a:gd name="T33" fmla="*/ 264 h 2532"/>
                <a:gd name="T34" fmla="*/ 846 w 2532"/>
                <a:gd name="T35" fmla="*/ 268 h 2532"/>
                <a:gd name="T36" fmla="*/ 370 w 2532"/>
                <a:gd name="T37" fmla="*/ 370 h 2532"/>
                <a:gd name="T38" fmla="*/ 267 w 2532"/>
                <a:gd name="T39" fmla="*/ 846 h 2532"/>
                <a:gd name="T40" fmla="*/ 264 w 2532"/>
                <a:gd name="T41" fmla="*/ 857 h 2532"/>
                <a:gd name="T42" fmla="*/ 0 w 2532"/>
                <a:gd name="T43" fmla="*/ 1265 h 2532"/>
                <a:gd name="T44" fmla="*/ 264 w 2532"/>
                <a:gd name="T45" fmla="*/ 1674 h 2532"/>
                <a:gd name="T46" fmla="*/ 267 w 2532"/>
                <a:gd name="T47" fmla="*/ 1685 h 2532"/>
                <a:gd name="T48" fmla="*/ 370 w 2532"/>
                <a:gd name="T49" fmla="*/ 2161 h 2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32" h="2532">
                  <a:moveTo>
                    <a:pt x="370" y="2161"/>
                  </a:moveTo>
                  <a:cubicBezTo>
                    <a:pt x="500" y="2291"/>
                    <a:pt x="687" y="2323"/>
                    <a:pt x="846" y="2263"/>
                  </a:cubicBezTo>
                  <a:cubicBezTo>
                    <a:pt x="849" y="2263"/>
                    <a:pt x="856" y="2263"/>
                    <a:pt x="856" y="2266"/>
                  </a:cubicBezTo>
                  <a:cubicBezTo>
                    <a:pt x="927" y="2421"/>
                    <a:pt x="1085" y="2531"/>
                    <a:pt x="1265" y="2531"/>
                  </a:cubicBezTo>
                  <a:cubicBezTo>
                    <a:pt x="1445" y="2531"/>
                    <a:pt x="1603" y="2421"/>
                    <a:pt x="1674" y="2266"/>
                  </a:cubicBezTo>
                  <a:cubicBezTo>
                    <a:pt x="1677" y="2263"/>
                    <a:pt x="1681" y="2259"/>
                    <a:pt x="1685" y="2263"/>
                  </a:cubicBezTo>
                  <a:cubicBezTo>
                    <a:pt x="1843" y="2323"/>
                    <a:pt x="2034" y="2288"/>
                    <a:pt x="2160" y="2161"/>
                  </a:cubicBezTo>
                  <a:cubicBezTo>
                    <a:pt x="2291" y="2030"/>
                    <a:pt x="2323" y="1843"/>
                    <a:pt x="2263" y="1685"/>
                  </a:cubicBezTo>
                  <a:cubicBezTo>
                    <a:pt x="2263" y="1681"/>
                    <a:pt x="2263" y="1674"/>
                    <a:pt x="2266" y="1674"/>
                  </a:cubicBezTo>
                  <a:cubicBezTo>
                    <a:pt x="2421" y="1604"/>
                    <a:pt x="2531" y="1445"/>
                    <a:pt x="2531" y="1265"/>
                  </a:cubicBezTo>
                  <a:cubicBezTo>
                    <a:pt x="2531" y="1082"/>
                    <a:pt x="2421" y="927"/>
                    <a:pt x="2266" y="857"/>
                  </a:cubicBezTo>
                  <a:cubicBezTo>
                    <a:pt x="2263" y="853"/>
                    <a:pt x="2259" y="850"/>
                    <a:pt x="2263" y="846"/>
                  </a:cubicBezTo>
                  <a:cubicBezTo>
                    <a:pt x="2323" y="687"/>
                    <a:pt x="2287" y="497"/>
                    <a:pt x="2160" y="370"/>
                  </a:cubicBezTo>
                  <a:cubicBezTo>
                    <a:pt x="2030" y="240"/>
                    <a:pt x="1843" y="208"/>
                    <a:pt x="1685" y="268"/>
                  </a:cubicBezTo>
                  <a:cubicBezTo>
                    <a:pt x="1681" y="268"/>
                    <a:pt x="1674" y="268"/>
                    <a:pt x="1674" y="264"/>
                  </a:cubicBezTo>
                  <a:cubicBezTo>
                    <a:pt x="1603" y="109"/>
                    <a:pt x="1445" y="0"/>
                    <a:pt x="1265" y="0"/>
                  </a:cubicBezTo>
                  <a:cubicBezTo>
                    <a:pt x="1085" y="0"/>
                    <a:pt x="927" y="109"/>
                    <a:pt x="856" y="264"/>
                  </a:cubicBezTo>
                  <a:cubicBezTo>
                    <a:pt x="853" y="268"/>
                    <a:pt x="849" y="271"/>
                    <a:pt x="846" y="268"/>
                  </a:cubicBezTo>
                  <a:cubicBezTo>
                    <a:pt x="687" y="208"/>
                    <a:pt x="497" y="243"/>
                    <a:pt x="370" y="370"/>
                  </a:cubicBezTo>
                  <a:cubicBezTo>
                    <a:pt x="239" y="501"/>
                    <a:pt x="208" y="687"/>
                    <a:pt x="267" y="846"/>
                  </a:cubicBezTo>
                  <a:cubicBezTo>
                    <a:pt x="267" y="850"/>
                    <a:pt x="267" y="857"/>
                    <a:pt x="264" y="857"/>
                  </a:cubicBezTo>
                  <a:cubicBezTo>
                    <a:pt x="109" y="927"/>
                    <a:pt x="0" y="1086"/>
                    <a:pt x="0" y="1265"/>
                  </a:cubicBezTo>
                  <a:cubicBezTo>
                    <a:pt x="0" y="1449"/>
                    <a:pt x="109" y="1604"/>
                    <a:pt x="264" y="1674"/>
                  </a:cubicBezTo>
                  <a:cubicBezTo>
                    <a:pt x="267" y="1678"/>
                    <a:pt x="271" y="1681"/>
                    <a:pt x="267" y="1685"/>
                  </a:cubicBezTo>
                  <a:cubicBezTo>
                    <a:pt x="208" y="1847"/>
                    <a:pt x="243" y="2034"/>
                    <a:pt x="370" y="2161"/>
                  </a:cubicBezTo>
                </a:path>
              </a:pathLst>
            </a:custGeom>
            <a:noFill/>
            <a:ln w="285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600">
                <a:latin typeface="+mj-lt"/>
              </a:endParaRPr>
            </a:p>
          </p:txBody>
        </p:sp>
      </p:grpSp>
      <p:sp>
        <p:nvSpPr>
          <p:cNvPr id="43" name="TextBox 42">
            <a:extLst>
              <a:ext uri="{FF2B5EF4-FFF2-40B4-BE49-F238E27FC236}">
                <a16:creationId xmlns:a16="http://schemas.microsoft.com/office/drawing/2014/main" id="{68D3430E-F2FC-72FA-D38A-CE108FE656D0}"/>
              </a:ext>
            </a:extLst>
          </p:cNvPr>
          <p:cNvSpPr txBox="1"/>
          <p:nvPr/>
        </p:nvSpPr>
        <p:spPr>
          <a:xfrm>
            <a:off x="17169183" y="12189729"/>
            <a:ext cx="7352334" cy="1200329"/>
          </a:xfrm>
          <a:prstGeom prst="rect">
            <a:avLst/>
          </a:prstGeom>
          <a:noFill/>
        </p:spPr>
        <p:txBody>
          <a:bodyPr wrap="none" rtlCol="0">
            <a:spAutoFit/>
          </a:bodyPr>
          <a:lstStyle/>
          <a:p>
            <a:pPr algn="ctr"/>
            <a:r>
              <a:rPr lang="en-GB" sz="3600" b="1">
                <a:latin typeface="+mj-lt"/>
              </a:rPr>
              <a:t>64 DB Virtual Servers</a:t>
            </a:r>
          </a:p>
          <a:p>
            <a:pPr algn="l"/>
            <a:endParaRPr lang="en-GB" sz="3600">
              <a:latin typeface="+mj-lt"/>
            </a:endParaRPr>
          </a:p>
        </p:txBody>
      </p:sp>
    </p:spTree>
    <p:extLst>
      <p:ext uri="{BB962C8B-B14F-4D97-AF65-F5344CB8AC3E}">
        <p14:creationId xmlns:p14="http://schemas.microsoft.com/office/powerpoint/2010/main" val="266920742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1">
            <a:extLst>
              <a:ext uri="{FF2B5EF4-FFF2-40B4-BE49-F238E27FC236}">
                <a16:creationId xmlns:a16="http://schemas.microsoft.com/office/drawing/2014/main" id="{CBF8ABCA-555A-E1F8-16F7-5757D7B0ECB1}"/>
              </a:ext>
            </a:extLst>
          </p:cNvPr>
          <p:cNvSpPr>
            <a:spLocks noGrp="1"/>
          </p:cNvSpPr>
          <p:nvPr>
            <p:ph type="title"/>
          </p:nvPr>
        </p:nvSpPr>
        <p:spPr>
          <a:xfrm>
            <a:off x="668992" y="336535"/>
            <a:ext cx="22991108" cy="874407"/>
          </a:xfrm>
        </p:spPr>
        <p:txBody>
          <a:bodyPr/>
          <a:lstStyle/>
          <a:p>
            <a:r>
              <a:rPr lang="en-GB" sz="5600"/>
              <a:t>Workload Summary</a:t>
            </a:r>
          </a:p>
        </p:txBody>
      </p:sp>
      <p:sp>
        <p:nvSpPr>
          <p:cNvPr id="3" name="Slide Number Placeholder 2">
            <a:extLst>
              <a:ext uri="{FF2B5EF4-FFF2-40B4-BE49-F238E27FC236}">
                <a16:creationId xmlns:a16="http://schemas.microsoft.com/office/drawing/2014/main" id="{3C2C2DE3-2F23-F02C-4F2D-C33EC61AAE71}"/>
              </a:ext>
            </a:extLst>
          </p:cNvPr>
          <p:cNvSpPr>
            <a:spLocks noGrp="1"/>
          </p:cNvSpPr>
          <p:nvPr>
            <p:ph type="sldNum" sz="quarter" idx="4"/>
          </p:nvPr>
        </p:nvSpPr>
        <p:spPr/>
        <p:txBody>
          <a:bodyPr/>
          <a:lstStyle/>
          <a:p>
            <a:pPr>
              <a:defRPr/>
            </a:pPr>
            <a:fld id="{762E77F0-FB5B-4E8E-9BC9-34F14560A017}" type="slidenum">
              <a:rPr lang="en-US">
                <a:latin typeface="+mj-lt"/>
              </a:rPr>
              <a:pPr>
                <a:defRPr/>
              </a:pPr>
              <a:t>64</a:t>
            </a:fld>
            <a:endParaRPr lang="en-US">
              <a:latin typeface="+mj-lt"/>
            </a:endParaRPr>
          </a:p>
        </p:txBody>
      </p:sp>
      <p:sp>
        <p:nvSpPr>
          <p:cNvPr id="4" name="Slide Number Placeholder 2">
            <a:extLst>
              <a:ext uri="{FF2B5EF4-FFF2-40B4-BE49-F238E27FC236}">
                <a16:creationId xmlns:a16="http://schemas.microsoft.com/office/drawing/2014/main" id="{D6A7A277-46F4-BEEF-BBD5-129A7E898D31}"/>
              </a:ext>
            </a:extLst>
          </p:cNvPr>
          <p:cNvSpPr txBox="1">
            <a:spLocks/>
          </p:cNvSpPr>
          <p:nvPr/>
        </p:nvSpPr>
        <p:spPr>
          <a:xfrm>
            <a:off x="22402802" y="13271500"/>
            <a:ext cx="1234804" cy="215444"/>
          </a:xfrm>
          <a:prstGeom prst="rect">
            <a:avLst/>
          </a:prstGeom>
        </p:spPr>
        <p:txBody>
          <a:bodyPr vert="horz" lIns="0" tIns="0" rIns="0" bIns="0" rtlCol="0" anchor="t" anchorCtr="0">
            <a:spAutoFit/>
          </a:bodyPr>
          <a:lstStyle>
            <a:defPPr>
              <a:defRPr lang="en-US"/>
            </a:defPPr>
            <a:lvl1pPr marL="0" algn="r" defTabSz="228600" rtl="0" eaLnBrk="1" latinLnBrk="0" hangingPunct="1">
              <a:defRPr sz="700" kern="1200">
                <a:solidFill>
                  <a:schemeClr val="bg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defTabSz="457200">
              <a:defRPr/>
            </a:pPr>
            <a:fld id="{762E77F0-FB5B-4E8E-9BC9-34F14560A017}" type="slidenum">
              <a:rPr lang="en-US" sz="1400">
                <a:solidFill>
                  <a:schemeClr val="tx1"/>
                </a:solidFill>
                <a:latin typeface="+mj-lt"/>
              </a:rPr>
              <a:pPr defTabSz="457200">
                <a:defRPr/>
              </a:pPr>
              <a:t>64</a:t>
            </a:fld>
            <a:endParaRPr lang="en-US" sz="1400">
              <a:solidFill>
                <a:schemeClr val="tx1"/>
              </a:solidFill>
              <a:latin typeface="+mj-lt"/>
            </a:endParaRPr>
          </a:p>
        </p:txBody>
      </p:sp>
      <p:grpSp>
        <p:nvGrpSpPr>
          <p:cNvPr id="5" name="Group 4">
            <a:extLst>
              <a:ext uri="{FF2B5EF4-FFF2-40B4-BE49-F238E27FC236}">
                <a16:creationId xmlns:a16="http://schemas.microsoft.com/office/drawing/2014/main" id="{D93383BE-081B-B1F0-3956-BCF7B37F3FCA}"/>
              </a:ext>
            </a:extLst>
          </p:cNvPr>
          <p:cNvGrpSpPr/>
          <p:nvPr/>
        </p:nvGrpSpPr>
        <p:grpSpPr>
          <a:xfrm>
            <a:off x="322379" y="5457726"/>
            <a:ext cx="23396514" cy="7849716"/>
            <a:chOff x="2378719" y="3419093"/>
            <a:chExt cx="9480727" cy="3924858"/>
          </a:xfrm>
        </p:grpSpPr>
        <p:grpSp>
          <p:nvGrpSpPr>
            <p:cNvPr id="6" name="Group 5">
              <a:extLst>
                <a:ext uri="{FF2B5EF4-FFF2-40B4-BE49-F238E27FC236}">
                  <a16:creationId xmlns:a16="http://schemas.microsoft.com/office/drawing/2014/main" id="{183C2533-A75B-7771-B044-DD30F416D3AF}"/>
                </a:ext>
              </a:extLst>
            </p:cNvPr>
            <p:cNvGrpSpPr/>
            <p:nvPr/>
          </p:nvGrpSpPr>
          <p:grpSpPr>
            <a:xfrm>
              <a:off x="2378720" y="3419093"/>
              <a:ext cx="9470406" cy="1145746"/>
              <a:chOff x="185652" y="3380681"/>
              <a:chExt cx="9445969" cy="1089170"/>
            </a:xfrm>
          </p:grpSpPr>
          <p:grpSp>
            <p:nvGrpSpPr>
              <p:cNvPr id="11" name="Group 10">
                <a:extLst>
                  <a:ext uri="{FF2B5EF4-FFF2-40B4-BE49-F238E27FC236}">
                    <a16:creationId xmlns:a16="http://schemas.microsoft.com/office/drawing/2014/main" id="{538DE64F-0A69-8233-37FC-33D7B9549F0D}"/>
                  </a:ext>
                </a:extLst>
              </p:cNvPr>
              <p:cNvGrpSpPr/>
              <p:nvPr/>
            </p:nvGrpSpPr>
            <p:grpSpPr>
              <a:xfrm>
                <a:off x="185653" y="3380681"/>
                <a:ext cx="9445968" cy="694032"/>
                <a:chOff x="185654" y="3555781"/>
                <a:chExt cx="8741118" cy="694032"/>
              </a:xfrm>
            </p:grpSpPr>
            <p:sp>
              <p:nvSpPr>
                <p:cNvPr id="18" name="Rectangle 17">
                  <a:extLst>
                    <a:ext uri="{FF2B5EF4-FFF2-40B4-BE49-F238E27FC236}">
                      <a16:creationId xmlns:a16="http://schemas.microsoft.com/office/drawing/2014/main" id="{5E1C75E2-D2AC-B6CD-BF59-926566C3B9CF}"/>
                    </a:ext>
                  </a:extLst>
                </p:cNvPr>
                <p:cNvSpPr/>
                <p:nvPr/>
              </p:nvSpPr>
              <p:spPr>
                <a:xfrm>
                  <a:off x="196347" y="3555781"/>
                  <a:ext cx="1343775" cy="283867"/>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bg1"/>
                      </a:solidFill>
                      <a:latin typeface="+mj-lt"/>
                    </a:rPr>
                    <a:t>Move</a:t>
                  </a:r>
                </a:p>
              </p:txBody>
            </p:sp>
            <p:sp>
              <p:nvSpPr>
                <p:cNvPr id="19" name="Rectangle 18">
                  <a:extLst>
                    <a:ext uri="{FF2B5EF4-FFF2-40B4-BE49-F238E27FC236}">
                      <a16:creationId xmlns:a16="http://schemas.microsoft.com/office/drawing/2014/main" id="{6C170AC1-4376-0DCC-DC9F-17C59D67F03B}"/>
                    </a:ext>
                  </a:extLst>
                </p:cNvPr>
                <p:cNvSpPr/>
                <p:nvPr/>
              </p:nvSpPr>
              <p:spPr>
                <a:xfrm>
                  <a:off x="1665122" y="3560170"/>
                  <a:ext cx="4302713" cy="275726"/>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bg1"/>
                      </a:solidFill>
                      <a:latin typeface="+mj-lt"/>
                    </a:rPr>
                    <a:t>Modernise</a:t>
                  </a:r>
                </a:p>
              </p:txBody>
            </p:sp>
            <p:sp>
              <p:nvSpPr>
                <p:cNvPr id="20" name="Rectangle 19">
                  <a:extLst>
                    <a:ext uri="{FF2B5EF4-FFF2-40B4-BE49-F238E27FC236}">
                      <a16:creationId xmlns:a16="http://schemas.microsoft.com/office/drawing/2014/main" id="{02DA43D9-C39A-6001-BFBA-C7ECC6F759FE}"/>
                    </a:ext>
                  </a:extLst>
                </p:cNvPr>
                <p:cNvSpPr/>
                <p:nvPr/>
              </p:nvSpPr>
              <p:spPr>
                <a:xfrm>
                  <a:off x="7582996" y="3560170"/>
                  <a:ext cx="1343775" cy="275726"/>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bg1"/>
                      </a:solidFill>
                      <a:latin typeface="+mj-lt"/>
                    </a:rPr>
                    <a:t>Mothball</a:t>
                  </a:r>
                </a:p>
              </p:txBody>
            </p:sp>
            <p:sp>
              <p:nvSpPr>
                <p:cNvPr id="21" name="Rectangle 20">
                  <a:extLst>
                    <a:ext uri="{FF2B5EF4-FFF2-40B4-BE49-F238E27FC236}">
                      <a16:creationId xmlns:a16="http://schemas.microsoft.com/office/drawing/2014/main" id="{4D3B84B1-F163-63D2-048D-B17CBDDD13DD}"/>
                    </a:ext>
                  </a:extLst>
                </p:cNvPr>
                <p:cNvSpPr/>
                <p:nvPr/>
              </p:nvSpPr>
              <p:spPr>
                <a:xfrm>
                  <a:off x="185654" y="3960541"/>
                  <a:ext cx="1343775" cy="28927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tx1"/>
                      </a:solidFill>
                      <a:latin typeface="+mj-lt"/>
                    </a:rPr>
                    <a:t>Rehost</a:t>
                  </a:r>
                </a:p>
              </p:txBody>
            </p:sp>
            <p:sp>
              <p:nvSpPr>
                <p:cNvPr id="22" name="Rectangle 21">
                  <a:extLst>
                    <a:ext uri="{FF2B5EF4-FFF2-40B4-BE49-F238E27FC236}">
                      <a16:creationId xmlns:a16="http://schemas.microsoft.com/office/drawing/2014/main" id="{9F1F8BCE-5CD6-C125-48AC-2423B4241F7B}"/>
                    </a:ext>
                  </a:extLst>
                </p:cNvPr>
                <p:cNvSpPr/>
                <p:nvPr/>
              </p:nvSpPr>
              <p:spPr>
                <a:xfrm>
                  <a:off x="1665123" y="3960541"/>
                  <a:ext cx="1343775" cy="28927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err="1">
                      <a:solidFill>
                        <a:schemeClr val="tx1"/>
                      </a:solidFill>
                      <a:latin typeface="+mj-lt"/>
                    </a:rPr>
                    <a:t>Replatform</a:t>
                  </a:r>
                </a:p>
              </p:txBody>
            </p:sp>
            <p:sp>
              <p:nvSpPr>
                <p:cNvPr id="23" name="Rectangle 22">
                  <a:extLst>
                    <a:ext uri="{FF2B5EF4-FFF2-40B4-BE49-F238E27FC236}">
                      <a16:creationId xmlns:a16="http://schemas.microsoft.com/office/drawing/2014/main" id="{BF15C94E-AAED-2A12-213D-29A12FAF18A1}"/>
                    </a:ext>
                  </a:extLst>
                </p:cNvPr>
                <p:cNvSpPr/>
                <p:nvPr/>
              </p:nvSpPr>
              <p:spPr>
                <a:xfrm>
                  <a:off x="4624061" y="3960541"/>
                  <a:ext cx="1343775" cy="28927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tx1"/>
                      </a:solidFill>
                      <a:latin typeface="+mj-lt"/>
                    </a:rPr>
                    <a:t>Replace</a:t>
                  </a:r>
                </a:p>
              </p:txBody>
            </p:sp>
            <p:sp>
              <p:nvSpPr>
                <p:cNvPr id="24" name="Rectangle 23">
                  <a:extLst>
                    <a:ext uri="{FF2B5EF4-FFF2-40B4-BE49-F238E27FC236}">
                      <a16:creationId xmlns:a16="http://schemas.microsoft.com/office/drawing/2014/main" id="{2972119B-4376-7EAA-BE6A-1F628D384BB4}"/>
                    </a:ext>
                  </a:extLst>
                </p:cNvPr>
                <p:cNvSpPr/>
                <p:nvPr/>
              </p:nvSpPr>
              <p:spPr>
                <a:xfrm>
                  <a:off x="3144592" y="3960541"/>
                  <a:ext cx="1343775" cy="28927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tx1"/>
                      </a:solidFill>
                      <a:latin typeface="+mj-lt"/>
                    </a:rPr>
                    <a:t>Refactor</a:t>
                  </a:r>
                </a:p>
              </p:txBody>
            </p:sp>
            <p:sp>
              <p:nvSpPr>
                <p:cNvPr id="25" name="Rectangle 24">
                  <a:extLst>
                    <a:ext uri="{FF2B5EF4-FFF2-40B4-BE49-F238E27FC236}">
                      <a16:creationId xmlns:a16="http://schemas.microsoft.com/office/drawing/2014/main" id="{7882C799-5E55-65D1-E5FA-E9F45DDFE4F0}"/>
                    </a:ext>
                  </a:extLst>
                </p:cNvPr>
                <p:cNvSpPr/>
                <p:nvPr/>
              </p:nvSpPr>
              <p:spPr>
                <a:xfrm>
                  <a:off x="6103530" y="3960541"/>
                  <a:ext cx="1343775" cy="28927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tx1"/>
                      </a:solidFill>
                      <a:latin typeface="+mj-lt"/>
                    </a:rPr>
                    <a:t>Retain</a:t>
                  </a:r>
                </a:p>
              </p:txBody>
            </p:sp>
            <p:sp>
              <p:nvSpPr>
                <p:cNvPr id="26" name="Rectangle 25">
                  <a:extLst>
                    <a:ext uri="{FF2B5EF4-FFF2-40B4-BE49-F238E27FC236}">
                      <a16:creationId xmlns:a16="http://schemas.microsoft.com/office/drawing/2014/main" id="{D03ACE61-D7C2-4652-3B83-1525B9E5F732}"/>
                    </a:ext>
                  </a:extLst>
                </p:cNvPr>
                <p:cNvSpPr/>
                <p:nvPr/>
              </p:nvSpPr>
              <p:spPr>
                <a:xfrm>
                  <a:off x="7582997" y="3960541"/>
                  <a:ext cx="1343775" cy="28927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tx1"/>
                      </a:solidFill>
                      <a:latin typeface="+mj-lt"/>
                    </a:rPr>
                    <a:t>Retire</a:t>
                  </a:r>
                </a:p>
              </p:txBody>
            </p:sp>
            <p:sp>
              <p:nvSpPr>
                <p:cNvPr id="27" name="Rectangle 26">
                  <a:extLst>
                    <a:ext uri="{FF2B5EF4-FFF2-40B4-BE49-F238E27FC236}">
                      <a16:creationId xmlns:a16="http://schemas.microsoft.com/office/drawing/2014/main" id="{75BF1FAB-0D57-E73B-6313-2DE3430D8BBD}"/>
                    </a:ext>
                  </a:extLst>
                </p:cNvPr>
                <p:cNvSpPr/>
                <p:nvPr/>
              </p:nvSpPr>
              <p:spPr>
                <a:xfrm>
                  <a:off x="6103530" y="3560170"/>
                  <a:ext cx="1343775" cy="275726"/>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a:solidFill>
                        <a:schemeClr val="bg1"/>
                      </a:solidFill>
                      <a:latin typeface="+mj-lt"/>
                    </a:rPr>
                    <a:t>Maintain</a:t>
                  </a:r>
                </a:p>
              </p:txBody>
            </p:sp>
          </p:grpSp>
          <p:sp>
            <p:nvSpPr>
              <p:cNvPr id="12" name="Rectangle 11">
                <a:extLst>
                  <a:ext uri="{FF2B5EF4-FFF2-40B4-BE49-F238E27FC236}">
                    <a16:creationId xmlns:a16="http://schemas.microsoft.com/office/drawing/2014/main" id="{F9A9596D-3BEC-C971-EA74-918B626F4BD0}"/>
                  </a:ext>
                </a:extLst>
              </p:cNvPr>
              <p:cNvSpPr/>
              <p:nvPr/>
            </p:nvSpPr>
            <p:spPr>
              <a:xfrm>
                <a:off x="185652" y="4082053"/>
                <a:ext cx="1452132" cy="38779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b="1">
                    <a:solidFill>
                      <a:schemeClr val="tx1"/>
                    </a:solidFill>
                    <a:latin typeface="+mj-lt"/>
                  </a:rPr>
                  <a:t>27</a:t>
                </a:r>
              </a:p>
            </p:txBody>
          </p:sp>
          <p:sp>
            <p:nvSpPr>
              <p:cNvPr id="13" name="Rectangle 12">
                <a:extLst>
                  <a:ext uri="{FF2B5EF4-FFF2-40B4-BE49-F238E27FC236}">
                    <a16:creationId xmlns:a16="http://schemas.microsoft.com/office/drawing/2014/main" id="{A73FF814-F5A5-7F1C-EC11-1FA0DA04F781}"/>
                  </a:ext>
                </a:extLst>
              </p:cNvPr>
              <p:cNvSpPr/>
              <p:nvPr/>
            </p:nvSpPr>
            <p:spPr>
              <a:xfrm>
                <a:off x="1784420" y="4082053"/>
                <a:ext cx="1452132" cy="38779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b="1">
                    <a:solidFill>
                      <a:schemeClr val="tx1"/>
                    </a:solidFill>
                    <a:latin typeface="+mj-lt"/>
                  </a:rPr>
                  <a:t>1</a:t>
                </a:r>
              </a:p>
            </p:txBody>
          </p:sp>
          <p:sp>
            <p:nvSpPr>
              <p:cNvPr id="14" name="Rectangle 13">
                <a:extLst>
                  <a:ext uri="{FF2B5EF4-FFF2-40B4-BE49-F238E27FC236}">
                    <a16:creationId xmlns:a16="http://schemas.microsoft.com/office/drawing/2014/main" id="{9A96CBF4-527A-5C83-2DB2-308487DF0B81}"/>
                  </a:ext>
                </a:extLst>
              </p:cNvPr>
              <p:cNvSpPr/>
              <p:nvPr/>
            </p:nvSpPr>
            <p:spPr>
              <a:xfrm>
                <a:off x="4981956" y="4082053"/>
                <a:ext cx="1452132" cy="38779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b="1">
                    <a:solidFill>
                      <a:schemeClr val="tx1"/>
                    </a:solidFill>
                    <a:latin typeface="+mj-lt"/>
                  </a:rPr>
                  <a:t>0</a:t>
                </a:r>
              </a:p>
            </p:txBody>
          </p:sp>
          <p:sp>
            <p:nvSpPr>
              <p:cNvPr id="15" name="Rectangle 14">
                <a:extLst>
                  <a:ext uri="{FF2B5EF4-FFF2-40B4-BE49-F238E27FC236}">
                    <a16:creationId xmlns:a16="http://schemas.microsoft.com/office/drawing/2014/main" id="{02FCFB84-64CA-A92F-9219-5DE2F99C715E}"/>
                  </a:ext>
                </a:extLst>
              </p:cNvPr>
              <p:cNvSpPr/>
              <p:nvPr/>
            </p:nvSpPr>
            <p:spPr>
              <a:xfrm>
                <a:off x="3383188" y="4082053"/>
                <a:ext cx="1452132" cy="38779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b="1">
                    <a:solidFill>
                      <a:schemeClr val="tx1"/>
                    </a:solidFill>
                    <a:latin typeface="+mj-lt"/>
                  </a:rPr>
                  <a:t>1*</a:t>
                </a:r>
              </a:p>
            </p:txBody>
          </p:sp>
          <p:sp>
            <p:nvSpPr>
              <p:cNvPr id="16" name="Rectangle 15">
                <a:extLst>
                  <a:ext uri="{FF2B5EF4-FFF2-40B4-BE49-F238E27FC236}">
                    <a16:creationId xmlns:a16="http://schemas.microsoft.com/office/drawing/2014/main" id="{C37E8170-1592-5E45-85E9-B238EBEB697E}"/>
                  </a:ext>
                </a:extLst>
              </p:cNvPr>
              <p:cNvSpPr/>
              <p:nvPr/>
            </p:nvSpPr>
            <p:spPr>
              <a:xfrm>
                <a:off x="6580723" y="4082053"/>
                <a:ext cx="1452132" cy="38779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b="1">
                    <a:solidFill>
                      <a:schemeClr val="tx1"/>
                    </a:solidFill>
                    <a:latin typeface="+mj-lt"/>
                  </a:rPr>
                  <a:t>0</a:t>
                </a:r>
              </a:p>
            </p:txBody>
          </p:sp>
          <p:sp>
            <p:nvSpPr>
              <p:cNvPr id="17" name="Rectangle 16">
                <a:extLst>
                  <a:ext uri="{FF2B5EF4-FFF2-40B4-BE49-F238E27FC236}">
                    <a16:creationId xmlns:a16="http://schemas.microsoft.com/office/drawing/2014/main" id="{7E0D0332-32B1-B911-601F-22D0EA94847E}"/>
                  </a:ext>
                </a:extLst>
              </p:cNvPr>
              <p:cNvSpPr/>
              <p:nvPr/>
            </p:nvSpPr>
            <p:spPr>
              <a:xfrm>
                <a:off x="8179489" y="4082053"/>
                <a:ext cx="1452132" cy="38779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b="1">
                    <a:solidFill>
                      <a:schemeClr val="tx1"/>
                    </a:solidFill>
                    <a:latin typeface="+mj-lt"/>
                  </a:rPr>
                  <a:t>3</a:t>
                </a:r>
              </a:p>
            </p:txBody>
          </p:sp>
        </p:grpSp>
        <p:sp>
          <p:nvSpPr>
            <p:cNvPr id="7" name="Rectangle 6">
              <a:extLst>
                <a:ext uri="{FF2B5EF4-FFF2-40B4-BE49-F238E27FC236}">
                  <a16:creationId xmlns:a16="http://schemas.microsoft.com/office/drawing/2014/main" id="{5B3E360C-78FC-0F77-480C-FDC803074173}"/>
                </a:ext>
              </a:extLst>
            </p:cNvPr>
            <p:cNvSpPr/>
            <p:nvPr/>
          </p:nvSpPr>
          <p:spPr>
            <a:xfrm>
              <a:off x="7187432" y="4657178"/>
              <a:ext cx="4672014" cy="327820"/>
            </a:xfrm>
            <a:prstGeom prst="rect">
              <a:avLst/>
            </a:prstGeom>
            <a:solidFill>
              <a:schemeClr val="accent6">
                <a:lumMod val="75000"/>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b="1">
                  <a:solidFill>
                    <a:schemeClr val="bg1"/>
                  </a:solidFill>
                  <a:latin typeface="+mj-lt"/>
                </a:rPr>
                <a:t>Customer-Led Alternatives</a:t>
              </a:r>
            </a:p>
          </p:txBody>
        </p:sp>
        <p:sp>
          <p:nvSpPr>
            <p:cNvPr id="8" name="Rectangle 7">
              <a:extLst>
                <a:ext uri="{FF2B5EF4-FFF2-40B4-BE49-F238E27FC236}">
                  <a16:creationId xmlns:a16="http://schemas.microsoft.com/office/drawing/2014/main" id="{DB6C380C-ED4B-EF54-4792-B3D7EB898BDF}"/>
                </a:ext>
              </a:extLst>
            </p:cNvPr>
            <p:cNvSpPr/>
            <p:nvPr/>
          </p:nvSpPr>
          <p:spPr>
            <a:xfrm>
              <a:off x="2378719" y="4657178"/>
              <a:ext cx="4672596" cy="327820"/>
            </a:xfrm>
            <a:prstGeom prst="rect">
              <a:avLst/>
            </a:prstGeom>
            <a:solidFill>
              <a:schemeClr val="tx2">
                <a:alpha val="82229"/>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800" b="1">
                  <a:solidFill>
                    <a:schemeClr val="bg1"/>
                  </a:solidFill>
                  <a:latin typeface="+mj-lt"/>
                </a:rPr>
                <a:t>Rackspace Migration Services</a:t>
              </a:r>
            </a:p>
          </p:txBody>
        </p:sp>
        <p:sp>
          <p:nvSpPr>
            <p:cNvPr id="9" name="TextBox 8">
              <a:extLst>
                <a:ext uri="{FF2B5EF4-FFF2-40B4-BE49-F238E27FC236}">
                  <a16:creationId xmlns:a16="http://schemas.microsoft.com/office/drawing/2014/main" id="{936AD164-0E92-2B7D-A97C-E2AC61CE2C17}"/>
                </a:ext>
              </a:extLst>
            </p:cNvPr>
            <p:cNvSpPr txBox="1"/>
            <p:nvPr/>
          </p:nvSpPr>
          <p:spPr>
            <a:xfrm>
              <a:off x="2378719" y="4984998"/>
              <a:ext cx="4661697" cy="1843387"/>
            </a:xfrm>
            <a:prstGeom prst="rect">
              <a:avLst/>
            </a:prstGeom>
            <a:noFill/>
            <a:ln>
              <a:solidFill>
                <a:schemeClr val="bg2">
                  <a:alpha val="50000"/>
                </a:schemeClr>
              </a:solidFill>
            </a:ln>
          </p:spPr>
          <p:txBody>
            <a:bodyPr wrap="square" tIns="216000" rtlCol="0">
              <a:noAutofit/>
            </a:bodyPr>
            <a:lstStyle/>
            <a:p>
              <a:pPr>
                <a:defRPr/>
              </a:pPr>
              <a:r>
                <a:rPr lang="en-GB" sz="2400">
                  <a:latin typeface="+mj-lt"/>
                </a:rPr>
                <a:t>Rackspace Migration Services will assist with moving and modernising customer workloads into the chosen target Cloud. </a:t>
              </a:r>
            </a:p>
            <a:p>
              <a:pPr>
                <a:defRPr/>
              </a:pPr>
              <a:endParaRPr lang="en-GB" sz="2400">
                <a:latin typeface="+mj-lt"/>
              </a:endParaRPr>
            </a:p>
            <a:p>
              <a:pPr>
                <a:defRPr/>
              </a:pPr>
              <a:r>
                <a:rPr lang="en-GB" sz="2400">
                  <a:latin typeface="+mj-lt"/>
                </a:rPr>
                <a:t>The ‘Move’ bucket includes all applications that will migrate like-for-like using either a new build or image-based approach.</a:t>
              </a:r>
            </a:p>
            <a:p>
              <a:pPr>
                <a:defRPr/>
              </a:pPr>
              <a:endParaRPr lang="en-GB" sz="2400">
                <a:latin typeface="+mj-lt"/>
              </a:endParaRPr>
            </a:p>
            <a:p>
              <a:pPr>
                <a:defRPr/>
              </a:pPr>
              <a:r>
                <a:rPr lang="en-GB" sz="2400">
                  <a:latin typeface="+mj-lt"/>
                </a:rPr>
                <a:t>Applications in the ‘Modernise’ bucket may have varying degrees of transformation associated with the migration.  This may impact the overall timeline and will involve coordinating multiple stakeholders</a:t>
              </a:r>
            </a:p>
          </p:txBody>
        </p:sp>
        <p:sp>
          <p:nvSpPr>
            <p:cNvPr id="10" name="TextBox 9">
              <a:extLst>
                <a:ext uri="{FF2B5EF4-FFF2-40B4-BE49-F238E27FC236}">
                  <a16:creationId xmlns:a16="http://schemas.microsoft.com/office/drawing/2014/main" id="{AC2E6379-E4D8-C67D-CF3B-A6B022D3FC8C}"/>
                </a:ext>
              </a:extLst>
            </p:cNvPr>
            <p:cNvSpPr txBox="1"/>
            <p:nvPr/>
          </p:nvSpPr>
          <p:spPr>
            <a:xfrm>
              <a:off x="7187425" y="4988506"/>
              <a:ext cx="4661697" cy="2355445"/>
            </a:xfrm>
            <a:prstGeom prst="rect">
              <a:avLst/>
            </a:prstGeom>
            <a:noFill/>
            <a:ln>
              <a:solidFill>
                <a:schemeClr val="accent6">
                  <a:lumMod val="75000"/>
                  <a:alpha val="50000"/>
                </a:schemeClr>
              </a:solidFill>
            </a:ln>
          </p:spPr>
          <p:txBody>
            <a:bodyPr wrap="square" tIns="216000" rtlCol="0">
              <a:noAutofit/>
            </a:bodyPr>
            <a:lstStyle/>
            <a:p>
              <a:pPr>
                <a:defRPr/>
              </a:pPr>
              <a:r>
                <a:rPr lang="en-GB" sz="2400">
                  <a:latin typeface="+mj-lt"/>
                </a:rPr>
                <a:t>Applications that are not suitable for the cloud as-is will either modernise to embrace a SaaS platform, or an entirely new application may be deployed straight into target.  In either scenario the customer is unlikely to benefit from Migration Services.  </a:t>
              </a:r>
            </a:p>
            <a:p>
              <a:pPr>
                <a:defRPr/>
              </a:pPr>
              <a:endParaRPr lang="en-GB" sz="2400">
                <a:latin typeface="+mj-lt"/>
              </a:endParaRPr>
            </a:p>
            <a:p>
              <a:pPr>
                <a:defRPr/>
              </a:pPr>
              <a:r>
                <a:rPr lang="en-GB" sz="2400">
                  <a:latin typeface="+mj-lt"/>
                </a:rPr>
                <a:t>In some cases the customer may choose to maintain the application in source, at most an understanding of the application affinity will be required to understand the impact of migrating closely-coupled interfaces.  </a:t>
              </a:r>
            </a:p>
            <a:p>
              <a:pPr>
                <a:defRPr/>
              </a:pPr>
              <a:endParaRPr lang="en-GB" sz="2400">
                <a:latin typeface="+mj-lt"/>
              </a:endParaRPr>
            </a:p>
            <a:p>
              <a:pPr>
                <a:defRPr/>
              </a:pPr>
              <a:r>
                <a:rPr lang="en-GB" sz="2400">
                  <a:latin typeface="+mj-lt"/>
                </a:rPr>
                <a:t>Applications to be mothballed do not require any migration services, however the customer should consider the data retention requirements and how this data will be recovered after the application has been decommissioned.</a:t>
              </a:r>
            </a:p>
          </p:txBody>
        </p:sp>
      </p:grpSp>
      <p:sp>
        <p:nvSpPr>
          <p:cNvPr id="28" name="TextBox 27">
            <a:extLst>
              <a:ext uri="{FF2B5EF4-FFF2-40B4-BE49-F238E27FC236}">
                <a16:creationId xmlns:a16="http://schemas.microsoft.com/office/drawing/2014/main" id="{EEC96113-ED33-98B2-78F1-2CEDF7947C80}"/>
              </a:ext>
            </a:extLst>
          </p:cNvPr>
          <p:cNvSpPr txBox="1"/>
          <p:nvPr/>
        </p:nvSpPr>
        <p:spPr>
          <a:xfrm>
            <a:off x="170163" y="4710577"/>
            <a:ext cx="6261122" cy="523220"/>
          </a:xfrm>
          <a:prstGeom prst="rect">
            <a:avLst/>
          </a:prstGeom>
          <a:noFill/>
        </p:spPr>
        <p:txBody>
          <a:bodyPr wrap="square">
            <a:spAutoFit/>
          </a:bodyPr>
          <a:lstStyle/>
          <a:p>
            <a:pPr>
              <a:defRPr/>
            </a:pPr>
            <a:r>
              <a:rPr lang="en-GB" sz="2800" b="1">
                <a:latin typeface="+mj-lt"/>
              </a:rPr>
              <a:t>MIGRATION STRATEGY</a:t>
            </a:r>
          </a:p>
        </p:txBody>
      </p:sp>
      <p:cxnSp>
        <p:nvCxnSpPr>
          <p:cNvPr id="30" name="Straight Connector 29">
            <a:extLst>
              <a:ext uri="{FF2B5EF4-FFF2-40B4-BE49-F238E27FC236}">
                <a16:creationId xmlns:a16="http://schemas.microsoft.com/office/drawing/2014/main" id="{7C654517-E4EE-C63D-64DB-5454CC48429B}"/>
              </a:ext>
            </a:extLst>
          </p:cNvPr>
          <p:cNvCxnSpPr>
            <a:cxnSpLocks/>
          </p:cNvCxnSpPr>
          <p:nvPr/>
        </p:nvCxnSpPr>
        <p:spPr>
          <a:xfrm>
            <a:off x="20438" y="1361668"/>
            <a:ext cx="688554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A95E26C-9FB6-9985-397E-1970D34F175C}"/>
              </a:ext>
            </a:extLst>
          </p:cNvPr>
          <p:cNvGrpSpPr>
            <a:grpSpLocks noChangeAspect="1"/>
          </p:cNvGrpSpPr>
          <p:nvPr/>
        </p:nvGrpSpPr>
        <p:grpSpPr>
          <a:xfrm>
            <a:off x="5351349" y="1776885"/>
            <a:ext cx="1231094" cy="1231094"/>
            <a:chOff x="9309100" y="3124200"/>
            <a:chExt cx="630238" cy="630238"/>
          </a:xfrm>
        </p:grpSpPr>
        <p:sp>
          <p:nvSpPr>
            <p:cNvPr id="32" name="Freeform 151">
              <a:extLst>
                <a:ext uri="{FF2B5EF4-FFF2-40B4-BE49-F238E27FC236}">
                  <a16:creationId xmlns:a16="http://schemas.microsoft.com/office/drawing/2014/main" id="{252E60AD-7F16-AAA7-9620-B5B82436D400}"/>
                </a:ext>
              </a:extLst>
            </p:cNvPr>
            <p:cNvSpPr>
              <a:spLocks noChangeArrowheads="1"/>
            </p:cNvSpPr>
            <p:nvPr/>
          </p:nvSpPr>
          <p:spPr bwMode="auto">
            <a:xfrm>
              <a:off x="9309100" y="3124200"/>
              <a:ext cx="630238" cy="630238"/>
            </a:xfrm>
            <a:custGeom>
              <a:avLst/>
              <a:gdLst>
                <a:gd name="T0" fmla="*/ 1468 w 1751"/>
                <a:gd name="T1" fmla="*/ 1748 h 1749"/>
                <a:gd name="T2" fmla="*/ 1750 w 1751"/>
                <a:gd name="T3" fmla="*/ 1466 h 1749"/>
                <a:gd name="T4" fmla="*/ 1750 w 1751"/>
                <a:gd name="T5" fmla="*/ 282 h 1749"/>
                <a:gd name="T6" fmla="*/ 1468 w 1751"/>
                <a:gd name="T7" fmla="*/ 0 h 1749"/>
                <a:gd name="T8" fmla="*/ 282 w 1751"/>
                <a:gd name="T9" fmla="*/ 0 h 1749"/>
                <a:gd name="T10" fmla="*/ 0 w 1751"/>
                <a:gd name="T11" fmla="*/ 282 h 1749"/>
                <a:gd name="T12" fmla="*/ 0 w 1751"/>
                <a:gd name="T13" fmla="*/ 1466 h 1749"/>
                <a:gd name="T14" fmla="*/ 282 w 1751"/>
                <a:gd name="T15" fmla="*/ 1748 h 1749"/>
                <a:gd name="T16" fmla="*/ 1468 w 1751"/>
                <a:gd name="T17" fmla="*/ 1748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49">
                  <a:moveTo>
                    <a:pt x="1468" y="1748"/>
                  </a:moveTo>
                  <a:cubicBezTo>
                    <a:pt x="1623" y="1748"/>
                    <a:pt x="1750" y="1621"/>
                    <a:pt x="1750" y="1466"/>
                  </a:cubicBezTo>
                  <a:cubicBezTo>
                    <a:pt x="1750" y="1071"/>
                    <a:pt x="1750" y="677"/>
                    <a:pt x="1750" y="282"/>
                  </a:cubicBezTo>
                  <a:cubicBezTo>
                    <a:pt x="1750" y="127"/>
                    <a:pt x="1623" y="0"/>
                    <a:pt x="1468" y="0"/>
                  </a:cubicBezTo>
                  <a:cubicBezTo>
                    <a:pt x="1073" y="0"/>
                    <a:pt x="677" y="0"/>
                    <a:pt x="282" y="0"/>
                  </a:cubicBezTo>
                  <a:cubicBezTo>
                    <a:pt x="127" y="0"/>
                    <a:pt x="0" y="127"/>
                    <a:pt x="0" y="282"/>
                  </a:cubicBezTo>
                  <a:cubicBezTo>
                    <a:pt x="0" y="677"/>
                    <a:pt x="0" y="1071"/>
                    <a:pt x="0" y="1466"/>
                  </a:cubicBezTo>
                  <a:cubicBezTo>
                    <a:pt x="0" y="1621"/>
                    <a:pt x="127" y="1748"/>
                    <a:pt x="282" y="1748"/>
                  </a:cubicBezTo>
                  <a:cubicBezTo>
                    <a:pt x="677" y="1748"/>
                    <a:pt x="1073" y="1748"/>
                    <a:pt x="1468" y="174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33" name="Group 32">
              <a:extLst>
                <a:ext uri="{FF2B5EF4-FFF2-40B4-BE49-F238E27FC236}">
                  <a16:creationId xmlns:a16="http://schemas.microsoft.com/office/drawing/2014/main" id="{BEB80A97-9DC6-6144-2C9D-505CF888289D}"/>
                </a:ext>
              </a:extLst>
            </p:cNvPr>
            <p:cNvGrpSpPr/>
            <p:nvPr/>
          </p:nvGrpSpPr>
          <p:grpSpPr>
            <a:xfrm>
              <a:off x="9382125" y="3295650"/>
              <a:ext cx="485775" cy="285750"/>
              <a:chOff x="9382125" y="3295650"/>
              <a:chExt cx="485775" cy="285750"/>
            </a:xfrm>
          </p:grpSpPr>
          <p:sp>
            <p:nvSpPr>
              <p:cNvPr id="34" name="Freeform 152">
                <a:extLst>
                  <a:ext uri="{FF2B5EF4-FFF2-40B4-BE49-F238E27FC236}">
                    <a16:creationId xmlns:a16="http://schemas.microsoft.com/office/drawing/2014/main" id="{237606F6-1347-EBDF-E619-7F0BEDC84231}"/>
                  </a:ext>
                </a:extLst>
              </p:cNvPr>
              <p:cNvSpPr>
                <a:spLocks noChangeArrowheads="1"/>
              </p:cNvSpPr>
              <p:nvPr/>
            </p:nvSpPr>
            <p:spPr bwMode="auto">
              <a:xfrm>
                <a:off x="9721850" y="3297238"/>
                <a:ext cx="7938" cy="1587"/>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5" name="Freeform 153">
                <a:extLst>
                  <a:ext uri="{FF2B5EF4-FFF2-40B4-BE49-F238E27FC236}">
                    <a16:creationId xmlns:a16="http://schemas.microsoft.com/office/drawing/2014/main" id="{ABE05A06-9DA4-C384-7929-18CE75CA5DA3}"/>
                  </a:ext>
                </a:extLst>
              </p:cNvPr>
              <p:cNvSpPr>
                <a:spLocks noChangeArrowheads="1"/>
              </p:cNvSpPr>
              <p:nvPr/>
            </p:nvSpPr>
            <p:spPr bwMode="auto">
              <a:xfrm>
                <a:off x="9721850" y="3579813"/>
                <a:ext cx="7938" cy="1587"/>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6" name="Freeform 154">
                <a:extLst>
                  <a:ext uri="{FF2B5EF4-FFF2-40B4-BE49-F238E27FC236}">
                    <a16:creationId xmlns:a16="http://schemas.microsoft.com/office/drawing/2014/main" id="{C334C96A-F2C2-30E0-65BD-1B87AABD479F}"/>
                  </a:ext>
                </a:extLst>
              </p:cNvPr>
              <p:cNvSpPr>
                <a:spLocks noChangeArrowheads="1"/>
              </p:cNvSpPr>
              <p:nvPr/>
            </p:nvSpPr>
            <p:spPr bwMode="auto">
              <a:xfrm>
                <a:off x="9866313" y="3435350"/>
                <a:ext cx="1587" cy="7938"/>
              </a:xfrm>
              <a:custGeom>
                <a:avLst/>
                <a:gdLst>
                  <a:gd name="T0" fmla="*/ 0 w 1"/>
                  <a:gd name="T1" fmla="*/ 21 h 22"/>
                  <a:gd name="T2" fmla="*/ 0 w 1"/>
                  <a:gd name="T3" fmla="*/ 0 h 22"/>
                </a:gdLst>
                <a:ahLst/>
                <a:cxnLst>
                  <a:cxn ang="0">
                    <a:pos x="T0" y="T1"/>
                  </a:cxn>
                  <a:cxn ang="0">
                    <a:pos x="T2" y="T3"/>
                  </a:cxn>
                </a:cxnLst>
                <a:rect l="0" t="0" r="r" b="b"/>
                <a:pathLst>
                  <a:path w="1" h="22">
                    <a:moveTo>
                      <a:pt x="0" y="21"/>
                    </a:moveTo>
                    <a:cubicBezTo>
                      <a:pt x="0" y="14"/>
                      <a:pt x="0" y="7"/>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7" name="Freeform 155">
                <a:extLst>
                  <a:ext uri="{FF2B5EF4-FFF2-40B4-BE49-F238E27FC236}">
                    <a16:creationId xmlns:a16="http://schemas.microsoft.com/office/drawing/2014/main" id="{FDD162F7-D64E-D132-9835-66BD3503656B}"/>
                  </a:ext>
                </a:extLst>
              </p:cNvPr>
              <p:cNvSpPr>
                <a:spLocks noChangeArrowheads="1"/>
              </p:cNvSpPr>
              <p:nvPr/>
            </p:nvSpPr>
            <p:spPr bwMode="auto">
              <a:xfrm>
                <a:off x="9685338" y="3300413"/>
                <a:ext cx="7937" cy="3175"/>
              </a:xfrm>
              <a:custGeom>
                <a:avLst/>
                <a:gdLst>
                  <a:gd name="T0" fmla="*/ 21 w 22"/>
                  <a:gd name="T1" fmla="*/ 0 h 7"/>
                  <a:gd name="T2" fmla="*/ 0 w 22"/>
                  <a:gd name="T3" fmla="*/ 6 h 7"/>
                </a:gdLst>
                <a:ahLst/>
                <a:cxnLst>
                  <a:cxn ang="0">
                    <a:pos x="T0" y="T1"/>
                  </a:cxn>
                  <a:cxn ang="0">
                    <a:pos x="T2" y="T3"/>
                  </a:cxn>
                </a:cxnLst>
                <a:rect l="0" t="0" r="r" b="b"/>
                <a:pathLst>
                  <a:path w="22" h="7">
                    <a:moveTo>
                      <a:pt x="21" y="0"/>
                    </a:moveTo>
                    <a:cubicBezTo>
                      <a:pt x="14" y="2"/>
                      <a:pt x="7" y="4"/>
                      <a:pt x="0" y="6"/>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8" name="Freeform 156">
                <a:extLst>
                  <a:ext uri="{FF2B5EF4-FFF2-40B4-BE49-F238E27FC236}">
                    <a16:creationId xmlns:a16="http://schemas.microsoft.com/office/drawing/2014/main" id="{AC689455-26B3-960B-5056-750D4CDFC5E7}"/>
                  </a:ext>
                </a:extLst>
              </p:cNvPr>
              <p:cNvSpPr>
                <a:spLocks noChangeArrowheads="1"/>
              </p:cNvSpPr>
              <p:nvPr/>
            </p:nvSpPr>
            <p:spPr bwMode="auto">
              <a:xfrm>
                <a:off x="9758363" y="3573463"/>
                <a:ext cx="7937" cy="1587"/>
              </a:xfrm>
              <a:custGeom>
                <a:avLst/>
                <a:gdLst>
                  <a:gd name="T0" fmla="*/ 20 w 21"/>
                  <a:gd name="T1" fmla="*/ 0 h 6"/>
                  <a:gd name="T2" fmla="*/ 0 w 21"/>
                  <a:gd name="T3" fmla="*/ 5 h 6"/>
                </a:gdLst>
                <a:ahLst/>
                <a:cxnLst>
                  <a:cxn ang="0">
                    <a:pos x="T0" y="T1"/>
                  </a:cxn>
                  <a:cxn ang="0">
                    <a:pos x="T2" y="T3"/>
                  </a:cxn>
                </a:cxnLst>
                <a:rect l="0" t="0" r="r" b="b"/>
                <a:pathLst>
                  <a:path w="21" h="6">
                    <a:moveTo>
                      <a:pt x="20" y="0"/>
                    </a:moveTo>
                    <a:cubicBezTo>
                      <a:pt x="13" y="2"/>
                      <a:pt x="7" y="4"/>
                      <a:pt x="0" y="5"/>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9" name="Freeform 157">
                <a:extLst>
                  <a:ext uri="{FF2B5EF4-FFF2-40B4-BE49-F238E27FC236}">
                    <a16:creationId xmlns:a16="http://schemas.microsoft.com/office/drawing/2014/main" id="{EBB65A22-B2B8-B5EE-D322-06D15604D4E4}"/>
                  </a:ext>
                </a:extLst>
              </p:cNvPr>
              <p:cNvSpPr>
                <a:spLocks noChangeArrowheads="1"/>
              </p:cNvSpPr>
              <p:nvPr/>
            </p:nvSpPr>
            <p:spPr bwMode="auto">
              <a:xfrm>
                <a:off x="9861550" y="3398838"/>
                <a:ext cx="3175" cy="7937"/>
              </a:xfrm>
              <a:custGeom>
                <a:avLst/>
                <a:gdLst>
                  <a:gd name="T0" fmla="*/ 6 w 7"/>
                  <a:gd name="T1" fmla="*/ 20 h 21"/>
                  <a:gd name="T2" fmla="*/ 0 w 7"/>
                  <a:gd name="T3" fmla="*/ 0 h 21"/>
                </a:gdLst>
                <a:ahLst/>
                <a:cxnLst>
                  <a:cxn ang="0">
                    <a:pos x="T0" y="T1"/>
                  </a:cxn>
                  <a:cxn ang="0">
                    <a:pos x="T2" y="T3"/>
                  </a:cxn>
                </a:cxnLst>
                <a:rect l="0" t="0" r="r" b="b"/>
                <a:pathLst>
                  <a:path w="7" h="21">
                    <a:moveTo>
                      <a:pt x="6" y="20"/>
                    </a:moveTo>
                    <a:cubicBezTo>
                      <a:pt x="4" y="13"/>
                      <a:pt x="2" y="6"/>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0" name="Freeform 158">
                <a:extLst>
                  <a:ext uri="{FF2B5EF4-FFF2-40B4-BE49-F238E27FC236}">
                    <a16:creationId xmlns:a16="http://schemas.microsoft.com/office/drawing/2014/main" id="{30801480-A0A8-700C-6BBB-79ABEF00CEAA}"/>
                  </a:ext>
                </a:extLst>
              </p:cNvPr>
              <p:cNvSpPr>
                <a:spLocks noChangeArrowheads="1"/>
              </p:cNvSpPr>
              <p:nvPr/>
            </p:nvSpPr>
            <p:spPr bwMode="auto">
              <a:xfrm>
                <a:off x="9588500" y="3470275"/>
                <a:ext cx="1588" cy="7938"/>
              </a:xfrm>
              <a:custGeom>
                <a:avLst/>
                <a:gdLst>
                  <a:gd name="T0" fmla="*/ 5 w 6"/>
                  <a:gd name="T1" fmla="*/ 21 h 22"/>
                  <a:gd name="T2" fmla="*/ 0 w 6"/>
                  <a:gd name="T3" fmla="*/ 0 h 22"/>
                </a:gdLst>
                <a:ahLst/>
                <a:cxnLst>
                  <a:cxn ang="0">
                    <a:pos x="T0" y="T1"/>
                  </a:cxn>
                  <a:cxn ang="0">
                    <a:pos x="T2" y="T3"/>
                  </a:cxn>
                </a:cxnLst>
                <a:rect l="0" t="0" r="r" b="b"/>
                <a:pathLst>
                  <a:path w="6" h="22">
                    <a:moveTo>
                      <a:pt x="5" y="21"/>
                    </a:moveTo>
                    <a:cubicBezTo>
                      <a:pt x="3" y="14"/>
                      <a:pt x="2" y="7"/>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1" name="Freeform 159">
                <a:extLst>
                  <a:ext uri="{FF2B5EF4-FFF2-40B4-BE49-F238E27FC236}">
                    <a16:creationId xmlns:a16="http://schemas.microsoft.com/office/drawing/2014/main" id="{91315F79-16AD-B4FB-6E53-3CB1E8731E15}"/>
                  </a:ext>
                </a:extLst>
              </p:cNvPr>
              <p:cNvSpPr>
                <a:spLocks noChangeArrowheads="1"/>
              </p:cNvSpPr>
              <p:nvPr/>
            </p:nvSpPr>
            <p:spPr bwMode="auto">
              <a:xfrm>
                <a:off x="9652000" y="3314700"/>
                <a:ext cx="6350" cy="4763"/>
              </a:xfrm>
              <a:custGeom>
                <a:avLst/>
                <a:gdLst>
                  <a:gd name="T0" fmla="*/ 18 w 19"/>
                  <a:gd name="T1" fmla="*/ 0 h 12"/>
                  <a:gd name="T2" fmla="*/ 0 w 19"/>
                  <a:gd name="T3" fmla="*/ 11 h 12"/>
                </a:gdLst>
                <a:ahLst/>
                <a:cxnLst>
                  <a:cxn ang="0">
                    <a:pos x="T0" y="T1"/>
                  </a:cxn>
                  <a:cxn ang="0">
                    <a:pos x="T2" y="T3"/>
                  </a:cxn>
                </a:cxnLst>
                <a:rect l="0" t="0" r="r" b="b"/>
                <a:pathLst>
                  <a:path w="19" h="12">
                    <a:moveTo>
                      <a:pt x="18" y="0"/>
                    </a:moveTo>
                    <a:cubicBezTo>
                      <a:pt x="12" y="3"/>
                      <a:pt x="6" y="7"/>
                      <a:pt x="0" y="1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2" name="Freeform 160">
                <a:extLst>
                  <a:ext uri="{FF2B5EF4-FFF2-40B4-BE49-F238E27FC236}">
                    <a16:creationId xmlns:a16="http://schemas.microsoft.com/office/drawing/2014/main" id="{6353CE04-DA2C-5178-0687-DF47CF8B272C}"/>
                  </a:ext>
                </a:extLst>
              </p:cNvPr>
              <p:cNvSpPr>
                <a:spLocks noChangeArrowheads="1"/>
              </p:cNvSpPr>
              <p:nvPr/>
            </p:nvSpPr>
            <p:spPr bwMode="auto">
              <a:xfrm>
                <a:off x="9793288" y="3557588"/>
                <a:ext cx="6350" cy="4762"/>
              </a:xfrm>
              <a:custGeom>
                <a:avLst/>
                <a:gdLst>
                  <a:gd name="T0" fmla="*/ 18 w 19"/>
                  <a:gd name="T1" fmla="*/ 0 h 12"/>
                  <a:gd name="T2" fmla="*/ 0 w 19"/>
                  <a:gd name="T3" fmla="*/ 11 h 12"/>
                </a:gdLst>
                <a:ahLst/>
                <a:cxnLst>
                  <a:cxn ang="0">
                    <a:pos x="T0" y="T1"/>
                  </a:cxn>
                  <a:cxn ang="0">
                    <a:pos x="T2" y="T3"/>
                  </a:cxn>
                </a:cxnLst>
                <a:rect l="0" t="0" r="r" b="b"/>
                <a:pathLst>
                  <a:path w="19" h="12">
                    <a:moveTo>
                      <a:pt x="18" y="0"/>
                    </a:moveTo>
                    <a:cubicBezTo>
                      <a:pt x="12" y="4"/>
                      <a:pt x="6" y="8"/>
                      <a:pt x="0" y="1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3" name="Freeform 161">
                <a:extLst>
                  <a:ext uri="{FF2B5EF4-FFF2-40B4-BE49-F238E27FC236}">
                    <a16:creationId xmlns:a16="http://schemas.microsoft.com/office/drawing/2014/main" id="{E7E72478-BC01-944A-9C15-EC348B3EA2BE}"/>
                  </a:ext>
                </a:extLst>
              </p:cNvPr>
              <p:cNvSpPr>
                <a:spLocks noChangeArrowheads="1"/>
              </p:cNvSpPr>
              <p:nvPr/>
            </p:nvSpPr>
            <p:spPr bwMode="auto">
              <a:xfrm>
                <a:off x="9845675" y="3363913"/>
                <a:ext cx="3175" cy="7937"/>
              </a:xfrm>
              <a:custGeom>
                <a:avLst/>
                <a:gdLst>
                  <a:gd name="T0" fmla="*/ 10 w 11"/>
                  <a:gd name="T1" fmla="*/ 19 h 20"/>
                  <a:gd name="T2" fmla="*/ 0 w 11"/>
                  <a:gd name="T3" fmla="*/ 0 h 20"/>
                </a:gdLst>
                <a:ahLst/>
                <a:cxnLst>
                  <a:cxn ang="0">
                    <a:pos x="T0" y="T1"/>
                  </a:cxn>
                  <a:cxn ang="0">
                    <a:pos x="T2" y="T3"/>
                  </a:cxn>
                </a:cxnLst>
                <a:rect l="0" t="0" r="r" b="b"/>
                <a:pathLst>
                  <a:path w="11" h="20">
                    <a:moveTo>
                      <a:pt x="10" y="19"/>
                    </a:moveTo>
                    <a:cubicBezTo>
                      <a:pt x="7" y="12"/>
                      <a:pt x="3" y="6"/>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4" name="Freeform 162">
                <a:extLst>
                  <a:ext uri="{FF2B5EF4-FFF2-40B4-BE49-F238E27FC236}">
                    <a16:creationId xmlns:a16="http://schemas.microsoft.com/office/drawing/2014/main" id="{4FC84312-583F-215A-7747-981A61507159}"/>
                  </a:ext>
                </a:extLst>
              </p:cNvPr>
              <p:cNvSpPr>
                <a:spLocks noChangeArrowheads="1"/>
              </p:cNvSpPr>
              <p:nvPr/>
            </p:nvSpPr>
            <p:spPr bwMode="auto">
              <a:xfrm>
                <a:off x="9601200" y="3505200"/>
                <a:ext cx="3175" cy="6350"/>
              </a:xfrm>
              <a:custGeom>
                <a:avLst/>
                <a:gdLst>
                  <a:gd name="T0" fmla="*/ 10 w 11"/>
                  <a:gd name="T1" fmla="*/ 18 h 19"/>
                  <a:gd name="T2" fmla="*/ 0 w 11"/>
                  <a:gd name="T3" fmla="*/ 0 h 19"/>
                </a:gdLst>
                <a:ahLst/>
                <a:cxnLst>
                  <a:cxn ang="0">
                    <a:pos x="T0" y="T1"/>
                  </a:cxn>
                  <a:cxn ang="0">
                    <a:pos x="T2" y="T3"/>
                  </a:cxn>
                </a:cxnLst>
                <a:rect l="0" t="0" r="r" b="b"/>
                <a:pathLst>
                  <a:path w="11" h="19">
                    <a:moveTo>
                      <a:pt x="10" y="18"/>
                    </a:moveTo>
                    <a:cubicBezTo>
                      <a:pt x="7" y="12"/>
                      <a:pt x="3" y="6"/>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5" name="Freeform 163">
                <a:extLst>
                  <a:ext uri="{FF2B5EF4-FFF2-40B4-BE49-F238E27FC236}">
                    <a16:creationId xmlns:a16="http://schemas.microsoft.com/office/drawing/2014/main" id="{EEC26456-ED63-6174-4BEC-D7E7818C1A48}"/>
                  </a:ext>
                </a:extLst>
              </p:cNvPr>
              <p:cNvSpPr>
                <a:spLocks noChangeArrowheads="1"/>
              </p:cNvSpPr>
              <p:nvPr/>
            </p:nvSpPr>
            <p:spPr bwMode="auto">
              <a:xfrm>
                <a:off x="9821863" y="3535363"/>
                <a:ext cx="6350" cy="6350"/>
              </a:xfrm>
              <a:custGeom>
                <a:avLst/>
                <a:gdLst>
                  <a:gd name="T0" fmla="*/ 15 w 16"/>
                  <a:gd name="T1" fmla="*/ 0 h 16"/>
                  <a:gd name="T2" fmla="*/ 0 w 16"/>
                  <a:gd name="T3" fmla="*/ 15 h 16"/>
                </a:gdLst>
                <a:ahLst/>
                <a:cxnLst>
                  <a:cxn ang="0">
                    <a:pos x="T0" y="T1"/>
                  </a:cxn>
                  <a:cxn ang="0">
                    <a:pos x="T2" y="T3"/>
                  </a:cxn>
                </a:cxnLst>
                <a:rect l="0" t="0" r="r" b="b"/>
                <a:pathLst>
                  <a:path w="16" h="16">
                    <a:moveTo>
                      <a:pt x="15" y="0"/>
                    </a:moveTo>
                    <a:cubicBezTo>
                      <a:pt x="10" y="5"/>
                      <a:pt x="5" y="10"/>
                      <a:pt x="0" y="15"/>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6" name="Freeform 164">
                <a:extLst>
                  <a:ext uri="{FF2B5EF4-FFF2-40B4-BE49-F238E27FC236}">
                    <a16:creationId xmlns:a16="http://schemas.microsoft.com/office/drawing/2014/main" id="{6341727D-4DC7-009A-C4B2-6FBCFA2CAD06}"/>
                  </a:ext>
                </a:extLst>
              </p:cNvPr>
              <p:cNvSpPr>
                <a:spLocks noChangeArrowheads="1"/>
              </p:cNvSpPr>
              <p:nvPr/>
            </p:nvSpPr>
            <p:spPr bwMode="auto">
              <a:xfrm>
                <a:off x="9821863" y="3335338"/>
                <a:ext cx="6350" cy="6350"/>
              </a:xfrm>
              <a:custGeom>
                <a:avLst/>
                <a:gdLst>
                  <a:gd name="T0" fmla="*/ 15 w 16"/>
                  <a:gd name="T1" fmla="*/ 15 h 16"/>
                  <a:gd name="T2" fmla="*/ 0 w 16"/>
                  <a:gd name="T3" fmla="*/ 0 h 16"/>
                </a:gdLst>
                <a:ahLst/>
                <a:cxnLst>
                  <a:cxn ang="0">
                    <a:pos x="T0" y="T1"/>
                  </a:cxn>
                  <a:cxn ang="0">
                    <a:pos x="T2" y="T3"/>
                  </a:cxn>
                </a:cxnLst>
                <a:rect l="0" t="0" r="r" b="b"/>
                <a:pathLst>
                  <a:path w="16" h="16">
                    <a:moveTo>
                      <a:pt x="15" y="15"/>
                    </a:moveTo>
                    <a:cubicBezTo>
                      <a:pt x="10" y="10"/>
                      <a:pt x="5" y="5"/>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7" name="Freeform 165">
                <a:extLst>
                  <a:ext uri="{FF2B5EF4-FFF2-40B4-BE49-F238E27FC236}">
                    <a16:creationId xmlns:a16="http://schemas.microsoft.com/office/drawing/2014/main" id="{0053C6A7-5EC2-5CEA-1D31-CB33A18CFFC7}"/>
                  </a:ext>
                </a:extLst>
              </p:cNvPr>
              <p:cNvSpPr>
                <a:spLocks noChangeArrowheads="1"/>
              </p:cNvSpPr>
              <p:nvPr/>
            </p:nvSpPr>
            <p:spPr bwMode="auto">
              <a:xfrm>
                <a:off x="9601200" y="3363913"/>
                <a:ext cx="3175" cy="7937"/>
              </a:xfrm>
              <a:custGeom>
                <a:avLst/>
                <a:gdLst>
                  <a:gd name="T0" fmla="*/ 10 w 11"/>
                  <a:gd name="T1" fmla="*/ 0 h 20"/>
                  <a:gd name="T2" fmla="*/ 0 w 11"/>
                  <a:gd name="T3" fmla="*/ 19 h 20"/>
                </a:gdLst>
                <a:ahLst/>
                <a:cxnLst>
                  <a:cxn ang="0">
                    <a:pos x="T0" y="T1"/>
                  </a:cxn>
                  <a:cxn ang="0">
                    <a:pos x="T2" y="T3"/>
                  </a:cxn>
                </a:cxnLst>
                <a:rect l="0" t="0" r="r" b="b"/>
                <a:pathLst>
                  <a:path w="11" h="20">
                    <a:moveTo>
                      <a:pt x="10" y="0"/>
                    </a:moveTo>
                    <a:cubicBezTo>
                      <a:pt x="7" y="6"/>
                      <a:pt x="3" y="12"/>
                      <a:pt x="0" y="1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8" name="Freeform 166">
                <a:extLst>
                  <a:ext uri="{FF2B5EF4-FFF2-40B4-BE49-F238E27FC236}">
                    <a16:creationId xmlns:a16="http://schemas.microsoft.com/office/drawing/2014/main" id="{87B050E4-2AE7-5293-068F-3B5257EED8A0}"/>
                  </a:ext>
                </a:extLst>
              </p:cNvPr>
              <p:cNvSpPr>
                <a:spLocks noChangeArrowheads="1"/>
              </p:cNvSpPr>
              <p:nvPr/>
            </p:nvSpPr>
            <p:spPr bwMode="auto">
              <a:xfrm>
                <a:off x="9845675" y="3505200"/>
                <a:ext cx="3175" cy="6350"/>
              </a:xfrm>
              <a:custGeom>
                <a:avLst/>
                <a:gdLst>
                  <a:gd name="T0" fmla="*/ 10 w 11"/>
                  <a:gd name="T1" fmla="*/ 0 h 19"/>
                  <a:gd name="T2" fmla="*/ 0 w 11"/>
                  <a:gd name="T3" fmla="*/ 18 h 19"/>
                </a:gdLst>
                <a:ahLst/>
                <a:cxnLst>
                  <a:cxn ang="0">
                    <a:pos x="T0" y="T1"/>
                  </a:cxn>
                  <a:cxn ang="0">
                    <a:pos x="T2" y="T3"/>
                  </a:cxn>
                </a:cxnLst>
                <a:rect l="0" t="0" r="r" b="b"/>
                <a:pathLst>
                  <a:path w="11" h="19">
                    <a:moveTo>
                      <a:pt x="10" y="0"/>
                    </a:moveTo>
                    <a:cubicBezTo>
                      <a:pt x="7" y="6"/>
                      <a:pt x="3" y="12"/>
                      <a:pt x="0" y="1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9" name="Freeform 167">
                <a:extLst>
                  <a:ext uri="{FF2B5EF4-FFF2-40B4-BE49-F238E27FC236}">
                    <a16:creationId xmlns:a16="http://schemas.microsoft.com/office/drawing/2014/main" id="{7737C499-FC6D-EF98-3409-EFCE376CBDC3}"/>
                  </a:ext>
                </a:extLst>
              </p:cNvPr>
              <p:cNvSpPr>
                <a:spLocks noChangeArrowheads="1"/>
              </p:cNvSpPr>
              <p:nvPr/>
            </p:nvSpPr>
            <p:spPr bwMode="auto">
              <a:xfrm>
                <a:off x="9793288" y="3314700"/>
                <a:ext cx="6350" cy="4763"/>
              </a:xfrm>
              <a:custGeom>
                <a:avLst/>
                <a:gdLst>
                  <a:gd name="T0" fmla="*/ 18 w 19"/>
                  <a:gd name="T1" fmla="*/ 11 h 12"/>
                  <a:gd name="T2" fmla="*/ 0 w 19"/>
                  <a:gd name="T3" fmla="*/ 0 h 12"/>
                </a:gdLst>
                <a:ahLst/>
                <a:cxnLst>
                  <a:cxn ang="0">
                    <a:pos x="T0" y="T1"/>
                  </a:cxn>
                  <a:cxn ang="0">
                    <a:pos x="T2" y="T3"/>
                  </a:cxn>
                </a:cxnLst>
                <a:rect l="0" t="0" r="r" b="b"/>
                <a:pathLst>
                  <a:path w="19" h="12">
                    <a:moveTo>
                      <a:pt x="18" y="11"/>
                    </a:moveTo>
                    <a:cubicBezTo>
                      <a:pt x="12" y="7"/>
                      <a:pt x="6" y="3"/>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0" name="Freeform 168">
                <a:extLst>
                  <a:ext uri="{FF2B5EF4-FFF2-40B4-BE49-F238E27FC236}">
                    <a16:creationId xmlns:a16="http://schemas.microsoft.com/office/drawing/2014/main" id="{8EB6C1E0-B6B7-1D02-EE1A-164585220813}"/>
                  </a:ext>
                </a:extLst>
              </p:cNvPr>
              <p:cNvSpPr>
                <a:spLocks noChangeArrowheads="1"/>
              </p:cNvSpPr>
              <p:nvPr/>
            </p:nvSpPr>
            <p:spPr bwMode="auto">
              <a:xfrm>
                <a:off x="9652000" y="3557588"/>
                <a:ext cx="6350" cy="4762"/>
              </a:xfrm>
              <a:custGeom>
                <a:avLst/>
                <a:gdLst>
                  <a:gd name="T0" fmla="*/ 18 w 19"/>
                  <a:gd name="T1" fmla="*/ 11 h 12"/>
                  <a:gd name="T2" fmla="*/ 0 w 19"/>
                  <a:gd name="T3" fmla="*/ 0 h 12"/>
                </a:gdLst>
                <a:ahLst/>
                <a:cxnLst>
                  <a:cxn ang="0">
                    <a:pos x="T0" y="T1"/>
                  </a:cxn>
                  <a:cxn ang="0">
                    <a:pos x="T2" y="T3"/>
                  </a:cxn>
                </a:cxnLst>
                <a:rect l="0" t="0" r="r" b="b"/>
                <a:pathLst>
                  <a:path w="19" h="12">
                    <a:moveTo>
                      <a:pt x="18" y="11"/>
                    </a:moveTo>
                    <a:cubicBezTo>
                      <a:pt x="12" y="8"/>
                      <a:pt x="6" y="4"/>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1" name="Freeform 169">
                <a:extLst>
                  <a:ext uri="{FF2B5EF4-FFF2-40B4-BE49-F238E27FC236}">
                    <a16:creationId xmlns:a16="http://schemas.microsoft.com/office/drawing/2014/main" id="{31231637-0EE1-863D-1421-400554CA6A34}"/>
                  </a:ext>
                </a:extLst>
              </p:cNvPr>
              <p:cNvSpPr>
                <a:spLocks noChangeArrowheads="1"/>
              </p:cNvSpPr>
              <p:nvPr/>
            </p:nvSpPr>
            <p:spPr bwMode="auto">
              <a:xfrm>
                <a:off x="9588500" y="3398838"/>
                <a:ext cx="1588" cy="7937"/>
              </a:xfrm>
              <a:custGeom>
                <a:avLst/>
                <a:gdLst>
                  <a:gd name="T0" fmla="*/ 5 w 6"/>
                  <a:gd name="T1" fmla="*/ 0 h 21"/>
                  <a:gd name="T2" fmla="*/ 0 w 6"/>
                  <a:gd name="T3" fmla="*/ 20 h 21"/>
                </a:gdLst>
                <a:ahLst/>
                <a:cxnLst>
                  <a:cxn ang="0">
                    <a:pos x="T0" y="T1"/>
                  </a:cxn>
                  <a:cxn ang="0">
                    <a:pos x="T2" y="T3"/>
                  </a:cxn>
                </a:cxnLst>
                <a:rect l="0" t="0" r="r" b="b"/>
                <a:pathLst>
                  <a:path w="6" h="21">
                    <a:moveTo>
                      <a:pt x="5" y="0"/>
                    </a:moveTo>
                    <a:cubicBezTo>
                      <a:pt x="3" y="6"/>
                      <a:pt x="2" y="13"/>
                      <a:pt x="0" y="2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2" name="Freeform 170">
                <a:extLst>
                  <a:ext uri="{FF2B5EF4-FFF2-40B4-BE49-F238E27FC236}">
                    <a16:creationId xmlns:a16="http://schemas.microsoft.com/office/drawing/2014/main" id="{565363E9-9DDE-D139-5747-C734CF312237}"/>
                  </a:ext>
                </a:extLst>
              </p:cNvPr>
              <p:cNvSpPr>
                <a:spLocks noChangeArrowheads="1"/>
              </p:cNvSpPr>
              <p:nvPr/>
            </p:nvSpPr>
            <p:spPr bwMode="auto">
              <a:xfrm>
                <a:off x="9861550" y="3470275"/>
                <a:ext cx="3175" cy="7938"/>
              </a:xfrm>
              <a:custGeom>
                <a:avLst/>
                <a:gdLst>
                  <a:gd name="T0" fmla="*/ 6 w 7"/>
                  <a:gd name="T1" fmla="*/ 0 h 22"/>
                  <a:gd name="T2" fmla="*/ 0 w 7"/>
                  <a:gd name="T3" fmla="*/ 21 h 22"/>
                </a:gdLst>
                <a:ahLst/>
                <a:cxnLst>
                  <a:cxn ang="0">
                    <a:pos x="T0" y="T1"/>
                  </a:cxn>
                  <a:cxn ang="0">
                    <a:pos x="T2" y="T3"/>
                  </a:cxn>
                </a:cxnLst>
                <a:rect l="0" t="0" r="r" b="b"/>
                <a:pathLst>
                  <a:path w="7" h="22">
                    <a:moveTo>
                      <a:pt x="6" y="0"/>
                    </a:moveTo>
                    <a:cubicBezTo>
                      <a:pt x="4" y="7"/>
                      <a:pt x="2" y="14"/>
                      <a:pt x="0" y="2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3" name="Freeform 171">
                <a:extLst>
                  <a:ext uri="{FF2B5EF4-FFF2-40B4-BE49-F238E27FC236}">
                    <a16:creationId xmlns:a16="http://schemas.microsoft.com/office/drawing/2014/main" id="{5E663266-DF9E-710D-B6C0-C983922B731E}"/>
                  </a:ext>
                </a:extLst>
              </p:cNvPr>
              <p:cNvSpPr>
                <a:spLocks noChangeArrowheads="1"/>
              </p:cNvSpPr>
              <p:nvPr/>
            </p:nvSpPr>
            <p:spPr bwMode="auto">
              <a:xfrm>
                <a:off x="9758363" y="3300413"/>
                <a:ext cx="7937" cy="3175"/>
              </a:xfrm>
              <a:custGeom>
                <a:avLst/>
                <a:gdLst>
                  <a:gd name="T0" fmla="*/ 20 w 21"/>
                  <a:gd name="T1" fmla="*/ 6 h 7"/>
                  <a:gd name="T2" fmla="*/ 0 w 21"/>
                  <a:gd name="T3" fmla="*/ 0 h 7"/>
                </a:gdLst>
                <a:ahLst/>
                <a:cxnLst>
                  <a:cxn ang="0">
                    <a:pos x="T0" y="T1"/>
                  </a:cxn>
                  <a:cxn ang="0">
                    <a:pos x="T2" y="T3"/>
                  </a:cxn>
                </a:cxnLst>
                <a:rect l="0" t="0" r="r" b="b"/>
                <a:pathLst>
                  <a:path w="21" h="7">
                    <a:moveTo>
                      <a:pt x="20" y="6"/>
                    </a:moveTo>
                    <a:cubicBezTo>
                      <a:pt x="13" y="4"/>
                      <a:pt x="7" y="2"/>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4" name="Freeform 172">
                <a:extLst>
                  <a:ext uri="{FF2B5EF4-FFF2-40B4-BE49-F238E27FC236}">
                    <a16:creationId xmlns:a16="http://schemas.microsoft.com/office/drawing/2014/main" id="{F4A84B50-0DD5-F58C-50AC-5017F90D0BBD}"/>
                  </a:ext>
                </a:extLst>
              </p:cNvPr>
              <p:cNvSpPr>
                <a:spLocks noChangeArrowheads="1"/>
              </p:cNvSpPr>
              <p:nvPr/>
            </p:nvSpPr>
            <p:spPr bwMode="auto">
              <a:xfrm>
                <a:off x="9685338" y="3573463"/>
                <a:ext cx="7937" cy="1587"/>
              </a:xfrm>
              <a:custGeom>
                <a:avLst/>
                <a:gdLst>
                  <a:gd name="T0" fmla="*/ 21 w 22"/>
                  <a:gd name="T1" fmla="*/ 5 h 6"/>
                  <a:gd name="T2" fmla="*/ 0 w 22"/>
                  <a:gd name="T3" fmla="*/ 0 h 6"/>
                </a:gdLst>
                <a:ahLst/>
                <a:cxnLst>
                  <a:cxn ang="0">
                    <a:pos x="T0" y="T1"/>
                  </a:cxn>
                  <a:cxn ang="0">
                    <a:pos x="T2" y="T3"/>
                  </a:cxn>
                </a:cxnLst>
                <a:rect l="0" t="0" r="r" b="b"/>
                <a:pathLst>
                  <a:path w="22" h="6">
                    <a:moveTo>
                      <a:pt x="21" y="5"/>
                    </a:moveTo>
                    <a:cubicBezTo>
                      <a:pt x="14" y="4"/>
                      <a:pt x="7" y="2"/>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5" name="Freeform 173">
                <a:extLst>
                  <a:ext uri="{FF2B5EF4-FFF2-40B4-BE49-F238E27FC236}">
                    <a16:creationId xmlns:a16="http://schemas.microsoft.com/office/drawing/2014/main" id="{41391DA0-7577-306A-444B-64DE3FC5910E}"/>
                  </a:ext>
                </a:extLst>
              </p:cNvPr>
              <p:cNvSpPr>
                <a:spLocks noChangeArrowheads="1"/>
              </p:cNvSpPr>
              <p:nvPr/>
            </p:nvSpPr>
            <p:spPr bwMode="auto">
              <a:xfrm>
                <a:off x="9525000" y="3438525"/>
                <a:ext cx="239713" cy="1588"/>
              </a:xfrm>
              <a:custGeom>
                <a:avLst/>
                <a:gdLst>
                  <a:gd name="T0" fmla="*/ 664 w 665"/>
                  <a:gd name="T1" fmla="*/ 0 h 1"/>
                  <a:gd name="T2" fmla="*/ 0 w 665"/>
                  <a:gd name="T3" fmla="*/ 0 h 1"/>
                </a:gdLst>
                <a:ahLst/>
                <a:cxnLst>
                  <a:cxn ang="0">
                    <a:pos x="T0" y="T1"/>
                  </a:cxn>
                  <a:cxn ang="0">
                    <a:pos x="T2" y="T3"/>
                  </a:cxn>
                </a:cxnLst>
                <a:rect l="0" t="0" r="r" b="b"/>
                <a:pathLst>
                  <a:path w="665" h="1">
                    <a:moveTo>
                      <a:pt x="664" y="0"/>
                    </a:moveTo>
                    <a:cubicBezTo>
                      <a:pt x="443" y="0"/>
                      <a:pt x="2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6" name="Freeform 174">
                <a:extLst>
                  <a:ext uri="{FF2B5EF4-FFF2-40B4-BE49-F238E27FC236}">
                    <a16:creationId xmlns:a16="http://schemas.microsoft.com/office/drawing/2014/main" id="{BEAE2354-54F1-15EC-2859-45AD42EC25DF}"/>
                  </a:ext>
                </a:extLst>
              </p:cNvPr>
              <p:cNvSpPr>
                <a:spLocks noChangeArrowheads="1"/>
              </p:cNvSpPr>
              <p:nvPr/>
            </p:nvSpPr>
            <p:spPr bwMode="auto">
              <a:xfrm>
                <a:off x="9725025" y="3397250"/>
                <a:ext cx="39688" cy="80963"/>
              </a:xfrm>
              <a:custGeom>
                <a:avLst/>
                <a:gdLst>
                  <a:gd name="T0" fmla="*/ 0 w 112"/>
                  <a:gd name="T1" fmla="*/ 225 h 226"/>
                  <a:gd name="T2" fmla="*/ 108 w 112"/>
                  <a:gd name="T3" fmla="*/ 118 h 226"/>
                  <a:gd name="T4" fmla="*/ 108 w 112"/>
                  <a:gd name="T5" fmla="*/ 108 h 226"/>
                  <a:gd name="T6" fmla="*/ 0 w 112"/>
                  <a:gd name="T7" fmla="*/ 0 h 226"/>
                </a:gdLst>
                <a:ahLst/>
                <a:cxnLst>
                  <a:cxn ang="0">
                    <a:pos x="T0" y="T1"/>
                  </a:cxn>
                  <a:cxn ang="0">
                    <a:pos x="T2" y="T3"/>
                  </a:cxn>
                  <a:cxn ang="0">
                    <a:pos x="T4" y="T5"/>
                  </a:cxn>
                  <a:cxn ang="0">
                    <a:pos x="T6" y="T7"/>
                  </a:cxn>
                </a:cxnLst>
                <a:rect l="0" t="0" r="r" b="b"/>
                <a:pathLst>
                  <a:path w="112" h="226">
                    <a:moveTo>
                      <a:pt x="0" y="225"/>
                    </a:moveTo>
                    <a:cubicBezTo>
                      <a:pt x="36" y="189"/>
                      <a:pt x="72" y="154"/>
                      <a:pt x="108" y="118"/>
                    </a:cubicBezTo>
                    <a:cubicBezTo>
                      <a:pt x="111" y="116"/>
                      <a:pt x="111" y="111"/>
                      <a:pt x="108" y="108"/>
                    </a:cubicBezTo>
                    <a:cubicBezTo>
                      <a:pt x="72" y="72"/>
                      <a:pt x="36" y="36"/>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7" name="Freeform 175">
                <a:extLst>
                  <a:ext uri="{FF2B5EF4-FFF2-40B4-BE49-F238E27FC236}">
                    <a16:creationId xmlns:a16="http://schemas.microsoft.com/office/drawing/2014/main" id="{F558B71C-C200-9D05-EFE9-20915A8472E1}"/>
                  </a:ext>
                </a:extLst>
              </p:cNvPr>
              <p:cNvSpPr>
                <a:spLocks noChangeArrowheads="1"/>
              </p:cNvSpPr>
              <p:nvPr/>
            </p:nvSpPr>
            <p:spPr bwMode="auto">
              <a:xfrm>
                <a:off x="9382125" y="3295650"/>
                <a:ext cx="284163" cy="284163"/>
              </a:xfrm>
              <a:custGeom>
                <a:avLst/>
                <a:gdLst>
                  <a:gd name="T0" fmla="*/ 395 w 791"/>
                  <a:gd name="T1" fmla="*/ 789 h 790"/>
                  <a:gd name="T2" fmla="*/ 0 w 791"/>
                  <a:gd name="T3" fmla="*/ 395 h 790"/>
                  <a:gd name="T4" fmla="*/ 395 w 791"/>
                  <a:gd name="T5" fmla="*/ 0 h 790"/>
                  <a:gd name="T6" fmla="*/ 790 w 791"/>
                  <a:gd name="T7" fmla="*/ 395 h 790"/>
                  <a:gd name="T8" fmla="*/ 395 w 791"/>
                  <a:gd name="T9" fmla="*/ 789 h 790"/>
                </a:gdLst>
                <a:ahLst/>
                <a:cxnLst>
                  <a:cxn ang="0">
                    <a:pos x="T0" y="T1"/>
                  </a:cxn>
                  <a:cxn ang="0">
                    <a:pos x="T2" y="T3"/>
                  </a:cxn>
                  <a:cxn ang="0">
                    <a:pos x="T4" y="T5"/>
                  </a:cxn>
                  <a:cxn ang="0">
                    <a:pos x="T6" y="T7"/>
                  </a:cxn>
                  <a:cxn ang="0">
                    <a:pos x="T8" y="T9"/>
                  </a:cxn>
                </a:cxnLst>
                <a:rect l="0" t="0" r="r" b="b"/>
                <a:pathLst>
                  <a:path w="791" h="790">
                    <a:moveTo>
                      <a:pt x="395" y="789"/>
                    </a:moveTo>
                    <a:cubicBezTo>
                      <a:pt x="177" y="789"/>
                      <a:pt x="0" y="612"/>
                      <a:pt x="0" y="395"/>
                    </a:cubicBezTo>
                    <a:cubicBezTo>
                      <a:pt x="0" y="178"/>
                      <a:pt x="178" y="0"/>
                      <a:pt x="395" y="0"/>
                    </a:cubicBezTo>
                    <a:cubicBezTo>
                      <a:pt x="613" y="0"/>
                      <a:pt x="790" y="178"/>
                      <a:pt x="790" y="395"/>
                    </a:cubicBezTo>
                    <a:cubicBezTo>
                      <a:pt x="790" y="612"/>
                      <a:pt x="612" y="789"/>
                      <a:pt x="395" y="78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grpSp>
      <p:grpSp>
        <p:nvGrpSpPr>
          <p:cNvPr id="58" name="Group 57">
            <a:extLst>
              <a:ext uri="{FF2B5EF4-FFF2-40B4-BE49-F238E27FC236}">
                <a16:creationId xmlns:a16="http://schemas.microsoft.com/office/drawing/2014/main" id="{3D85ABCF-1ECE-E9FD-8BCE-CF8FE87F619A}"/>
              </a:ext>
            </a:extLst>
          </p:cNvPr>
          <p:cNvGrpSpPr>
            <a:grpSpLocks noChangeAspect="1"/>
          </p:cNvGrpSpPr>
          <p:nvPr/>
        </p:nvGrpSpPr>
        <p:grpSpPr>
          <a:xfrm>
            <a:off x="4534064" y="3326078"/>
            <a:ext cx="1229764" cy="1229764"/>
            <a:chOff x="9320213" y="2201863"/>
            <a:chExt cx="630237" cy="630237"/>
          </a:xfrm>
        </p:grpSpPr>
        <p:sp>
          <p:nvSpPr>
            <p:cNvPr id="59" name="Freeform 176">
              <a:extLst>
                <a:ext uri="{FF2B5EF4-FFF2-40B4-BE49-F238E27FC236}">
                  <a16:creationId xmlns:a16="http://schemas.microsoft.com/office/drawing/2014/main" id="{8D8C7B6A-BE9E-970C-0387-7F9F965E8788}"/>
                </a:ext>
              </a:extLst>
            </p:cNvPr>
            <p:cNvSpPr>
              <a:spLocks noChangeArrowheads="1"/>
            </p:cNvSpPr>
            <p:nvPr/>
          </p:nvSpPr>
          <p:spPr bwMode="auto">
            <a:xfrm>
              <a:off x="9320213" y="2201863"/>
              <a:ext cx="630237" cy="630237"/>
            </a:xfrm>
            <a:custGeom>
              <a:avLst/>
              <a:gdLst>
                <a:gd name="T0" fmla="*/ 1468 w 1751"/>
                <a:gd name="T1" fmla="*/ 1749 h 1750"/>
                <a:gd name="T2" fmla="*/ 1750 w 1751"/>
                <a:gd name="T3" fmla="*/ 1467 h 1750"/>
                <a:gd name="T4" fmla="*/ 1750 w 1751"/>
                <a:gd name="T5" fmla="*/ 282 h 1750"/>
                <a:gd name="T6" fmla="*/ 1468 w 1751"/>
                <a:gd name="T7" fmla="*/ 0 h 1750"/>
                <a:gd name="T8" fmla="*/ 283 w 1751"/>
                <a:gd name="T9" fmla="*/ 0 h 1750"/>
                <a:gd name="T10" fmla="*/ 0 w 1751"/>
                <a:gd name="T11" fmla="*/ 282 h 1750"/>
                <a:gd name="T12" fmla="*/ 0 w 1751"/>
                <a:gd name="T13" fmla="*/ 1467 h 1750"/>
                <a:gd name="T14" fmla="*/ 283 w 1751"/>
                <a:gd name="T15" fmla="*/ 1749 h 1750"/>
                <a:gd name="T16" fmla="*/ 1468 w 1751"/>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0">
                  <a:moveTo>
                    <a:pt x="1468" y="1749"/>
                  </a:moveTo>
                  <a:cubicBezTo>
                    <a:pt x="1623" y="1749"/>
                    <a:pt x="1750" y="1623"/>
                    <a:pt x="1750" y="1467"/>
                  </a:cubicBezTo>
                  <a:cubicBezTo>
                    <a:pt x="1750" y="1072"/>
                    <a:pt x="1750" y="677"/>
                    <a:pt x="1750" y="282"/>
                  </a:cubicBezTo>
                  <a:cubicBezTo>
                    <a:pt x="1750" y="127"/>
                    <a:pt x="1623" y="0"/>
                    <a:pt x="1468" y="0"/>
                  </a:cubicBezTo>
                  <a:cubicBezTo>
                    <a:pt x="1073" y="0"/>
                    <a:pt x="678" y="0"/>
                    <a:pt x="283" y="0"/>
                  </a:cubicBezTo>
                  <a:cubicBezTo>
                    <a:pt x="127" y="0"/>
                    <a:pt x="0" y="127"/>
                    <a:pt x="0" y="282"/>
                  </a:cubicBezTo>
                  <a:cubicBezTo>
                    <a:pt x="0" y="677"/>
                    <a:pt x="0" y="1072"/>
                    <a:pt x="0" y="1467"/>
                  </a:cubicBezTo>
                  <a:cubicBezTo>
                    <a:pt x="0" y="1623"/>
                    <a:pt x="127" y="1749"/>
                    <a:pt x="283" y="1749"/>
                  </a:cubicBezTo>
                  <a:cubicBezTo>
                    <a:pt x="678" y="1749"/>
                    <a:pt x="1073" y="1749"/>
                    <a:pt x="1468" y="174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60" name="Group 59">
              <a:extLst>
                <a:ext uri="{FF2B5EF4-FFF2-40B4-BE49-F238E27FC236}">
                  <a16:creationId xmlns:a16="http://schemas.microsoft.com/office/drawing/2014/main" id="{4174905F-A7E7-5821-CC92-AA74F0FC841D}"/>
                </a:ext>
              </a:extLst>
            </p:cNvPr>
            <p:cNvGrpSpPr/>
            <p:nvPr/>
          </p:nvGrpSpPr>
          <p:grpSpPr>
            <a:xfrm>
              <a:off x="9472613" y="2347913"/>
              <a:ext cx="325437" cy="336550"/>
              <a:chOff x="9472613" y="2347913"/>
              <a:chExt cx="325437" cy="336550"/>
            </a:xfrm>
          </p:grpSpPr>
          <p:sp>
            <p:nvSpPr>
              <p:cNvPr id="61" name="Freeform 177">
                <a:extLst>
                  <a:ext uri="{FF2B5EF4-FFF2-40B4-BE49-F238E27FC236}">
                    <a16:creationId xmlns:a16="http://schemas.microsoft.com/office/drawing/2014/main" id="{C9DF3B21-8DB3-077B-1475-88C0910AC8F9}"/>
                  </a:ext>
                </a:extLst>
              </p:cNvPr>
              <p:cNvSpPr>
                <a:spLocks noChangeArrowheads="1"/>
              </p:cNvSpPr>
              <p:nvPr/>
            </p:nvSpPr>
            <p:spPr bwMode="auto">
              <a:xfrm>
                <a:off x="9621838" y="2638425"/>
                <a:ext cx="74612" cy="1588"/>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2" name="Freeform 178">
                <a:extLst>
                  <a:ext uri="{FF2B5EF4-FFF2-40B4-BE49-F238E27FC236}">
                    <a16:creationId xmlns:a16="http://schemas.microsoft.com/office/drawing/2014/main" id="{A3D5C3AA-EBE8-B6C3-75FB-BD545023F640}"/>
                  </a:ext>
                </a:extLst>
              </p:cNvPr>
              <p:cNvSpPr>
                <a:spLocks noChangeArrowheads="1"/>
              </p:cNvSpPr>
              <p:nvPr/>
            </p:nvSpPr>
            <p:spPr bwMode="auto">
              <a:xfrm>
                <a:off x="9472613" y="2592388"/>
                <a:ext cx="325437" cy="92075"/>
              </a:xfrm>
              <a:custGeom>
                <a:avLst/>
                <a:gdLst>
                  <a:gd name="T0" fmla="*/ 0 w 904"/>
                  <a:gd name="T1" fmla="*/ 198 h 255"/>
                  <a:gd name="T2" fmla="*/ 56 w 904"/>
                  <a:gd name="T3" fmla="*/ 254 h 255"/>
                  <a:gd name="T4" fmla="*/ 846 w 904"/>
                  <a:gd name="T5" fmla="*/ 254 h 255"/>
                  <a:gd name="T6" fmla="*/ 903 w 904"/>
                  <a:gd name="T7" fmla="*/ 198 h 255"/>
                  <a:gd name="T8" fmla="*/ 903 w 904"/>
                  <a:gd name="T9" fmla="*/ 57 h 255"/>
                  <a:gd name="T10" fmla="*/ 846 w 904"/>
                  <a:gd name="T11" fmla="*/ 0 h 255"/>
                  <a:gd name="T12" fmla="*/ 56 w 904"/>
                  <a:gd name="T13" fmla="*/ 0 h 255"/>
                  <a:gd name="T14" fmla="*/ 0 w 904"/>
                  <a:gd name="T15" fmla="*/ 57 h 255"/>
                  <a:gd name="T16" fmla="*/ 0 w 904"/>
                  <a:gd name="T17" fmla="*/ 19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8"/>
                    </a:moveTo>
                    <a:cubicBezTo>
                      <a:pt x="0" y="229"/>
                      <a:pt x="25" y="254"/>
                      <a:pt x="56" y="254"/>
                    </a:cubicBezTo>
                    <a:cubicBezTo>
                      <a:pt x="319" y="254"/>
                      <a:pt x="583" y="254"/>
                      <a:pt x="846" y="254"/>
                    </a:cubicBezTo>
                    <a:cubicBezTo>
                      <a:pt x="878" y="254"/>
                      <a:pt x="903" y="229"/>
                      <a:pt x="903" y="198"/>
                    </a:cubicBezTo>
                    <a:cubicBezTo>
                      <a:pt x="903" y="151"/>
                      <a:pt x="903" y="104"/>
                      <a:pt x="903" y="57"/>
                    </a:cubicBezTo>
                    <a:cubicBezTo>
                      <a:pt x="903" y="26"/>
                      <a:pt x="878" y="0"/>
                      <a:pt x="846" y="0"/>
                    </a:cubicBezTo>
                    <a:cubicBezTo>
                      <a:pt x="583" y="0"/>
                      <a:pt x="319" y="0"/>
                      <a:pt x="56" y="0"/>
                    </a:cubicBezTo>
                    <a:cubicBezTo>
                      <a:pt x="25" y="0"/>
                      <a:pt x="0" y="26"/>
                      <a:pt x="0" y="57"/>
                    </a:cubicBezTo>
                    <a:cubicBezTo>
                      <a:pt x="0" y="104"/>
                      <a:pt x="0" y="151"/>
                      <a:pt x="0" y="19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63" name="Freeform 179">
                <a:extLst>
                  <a:ext uri="{FF2B5EF4-FFF2-40B4-BE49-F238E27FC236}">
                    <a16:creationId xmlns:a16="http://schemas.microsoft.com/office/drawing/2014/main" id="{66FF265C-FCD4-3BF6-8C90-3D95F42880B3}"/>
                  </a:ext>
                </a:extLst>
              </p:cNvPr>
              <p:cNvSpPr>
                <a:spLocks noChangeArrowheads="1"/>
              </p:cNvSpPr>
              <p:nvPr/>
            </p:nvSpPr>
            <p:spPr bwMode="auto">
              <a:xfrm>
                <a:off x="9621838" y="2516188"/>
                <a:ext cx="74612" cy="1587"/>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4" name="Freeform 180">
                <a:extLst>
                  <a:ext uri="{FF2B5EF4-FFF2-40B4-BE49-F238E27FC236}">
                    <a16:creationId xmlns:a16="http://schemas.microsoft.com/office/drawing/2014/main" id="{8CEBD767-5914-CA2E-398B-BCAC68A7F87C}"/>
                  </a:ext>
                </a:extLst>
              </p:cNvPr>
              <p:cNvSpPr>
                <a:spLocks noChangeArrowheads="1"/>
              </p:cNvSpPr>
              <p:nvPr/>
            </p:nvSpPr>
            <p:spPr bwMode="auto">
              <a:xfrm>
                <a:off x="9472613" y="2470150"/>
                <a:ext cx="325437" cy="92075"/>
              </a:xfrm>
              <a:custGeom>
                <a:avLst/>
                <a:gdLst>
                  <a:gd name="T0" fmla="*/ 0 w 904"/>
                  <a:gd name="T1" fmla="*/ 197 h 255"/>
                  <a:gd name="T2" fmla="*/ 56 w 904"/>
                  <a:gd name="T3" fmla="*/ 254 h 255"/>
                  <a:gd name="T4" fmla="*/ 846 w 904"/>
                  <a:gd name="T5" fmla="*/ 254 h 255"/>
                  <a:gd name="T6" fmla="*/ 903 w 904"/>
                  <a:gd name="T7" fmla="*/ 197 h 255"/>
                  <a:gd name="T8" fmla="*/ 903 w 904"/>
                  <a:gd name="T9" fmla="*/ 56 h 255"/>
                  <a:gd name="T10" fmla="*/ 846 w 904"/>
                  <a:gd name="T11" fmla="*/ 0 h 255"/>
                  <a:gd name="T12" fmla="*/ 56 w 904"/>
                  <a:gd name="T13" fmla="*/ 0 h 255"/>
                  <a:gd name="T14" fmla="*/ 0 w 904"/>
                  <a:gd name="T15" fmla="*/ 56 h 255"/>
                  <a:gd name="T16" fmla="*/ 0 w 904"/>
                  <a:gd name="T17" fmla="*/ 19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7"/>
                    </a:moveTo>
                    <a:cubicBezTo>
                      <a:pt x="0" y="228"/>
                      <a:pt x="25" y="254"/>
                      <a:pt x="56" y="254"/>
                    </a:cubicBezTo>
                    <a:cubicBezTo>
                      <a:pt x="319" y="254"/>
                      <a:pt x="583" y="254"/>
                      <a:pt x="846" y="254"/>
                    </a:cubicBezTo>
                    <a:cubicBezTo>
                      <a:pt x="878" y="254"/>
                      <a:pt x="903" y="228"/>
                      <a:pt x="903" y="197"/>
                    </a:cubicBezTo>
                    <a:cubicBezTo>
                      <a:pt x="903" y="150"/>
                      <a:pt x="903" y="103"/>
                      <a:pt x="903" y="56"/>
                    </a:cubicBezTo>
                    <a:cubicBezTo>
                      <a:pt x="903" y="25"/>
                      <a:pt x="878" y="0"/>
                      <a:pt x="846" y="0"/>
                    </a:cubicBezTo>
                    <a:cubicBezTo>
                      <a:pt x="583" y="0"/>
                      <a:pt x="319" y="0"/>
                      <a:pt x="56" y="0"/>
                    </a:cubicBezTo>
                    <a:cubicBezTo>
                      <a:pt x="25" y="0"/>
                      <a:pt x="0" y="25"/>
                      <a:pt x="0" y="56"/>
                    </a:cubicBezTo>
                    <a:cubicBezTo>
                      <a:pt x="0" y="103"/>
                      <a:pt x="0" y="150"/>
                      <a:pt x="0" y="19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65" name="Freeform 181">
                <a:extLst>
                  <a:ext uri="{FF2B5EF4-FFF2-40B4-BE49-F238E27FC236}">
                    <a16:creationId xmlns:a16="http://schemas.microsoft.com/office/drawing/2014/main" id="{127D7759-5922-916B-2B42-01A0A8451226}"/>
                  </a:ext>
                </a:extLst>
              </p:cNvPr>
              <p:cNvSpPr>
                <a:spLocks noChangeArrowheads="1"/>
              </p:cNvSpPr>
              <p:nvPr/>
            </p:nvSpPr>
            <p:spPr bwMode="auto">
              <a:xfrm>
                <a:off x="9621838" y="2393950"/>
                <a:ext cx="74612" cy="1588"/>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6" name="Freeform 182">
                <a:extLst>
                  <a:ext uri="{FF2B5EF4-FFF2-40B4-BE49-F238E27FC236}">
                    <a16:creationId xmlns:a16="http://schemas.microsoft.com/office/drawing/2014/main" id="{3241FE5B-B6C6-CC48-582F-C5E9EDE1F540}"/>
                  </a:ext>
                </a:extLst>
              </p:cNvPr>
              <p:cNvSpPr>
                <a:spLocks noChangeArrowheads="1"/>
              </p:cNvSpPr>
              <p:nvPr/>
            </p:nvSpPr>
            <p:spPr bwMode="auto">
              <a:xfrm>
                <a:off x="9734550" y="2393950"/>
                <a:ext cx="23813" cy="1588"/>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7" name="Freeform 183">
                <a:extLst>
                  <a:ext uri="{FF2B5EF4-FFF2-40B4-BE49-F238E27FC236}">
                    <a16:creationId xmlns:a16="http://schemas.microsoft.com/office/drawing/2014/main" id="{922DADE4-063C-3B2B-DE6D-32068C27D10B}"/>
                  </a:ext>
                </a:extLst>
              </p:cNvPr>
              <p:cNvSpPr>
                <a:spLocks noChangeArrowheads="1"/>
              </p:cNvSpPr>
              <p:nvPr/>
            </p:nvSpPr>
            <p:spPr bwMode="auto">
              <a:xfrm>
                <a:off x="9734550" y="2516188"/>
                <a:ext cx="23813" cy="1587"/>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8" name="Freeform 184">
                <a:extLst>
                  <a:ext uri="{FF2B5EF4-FFF2-40B4-BE49-F238E27FC236}">
                    <a16:creationId xmlns:a16="http://schemas.microsoft.com/office/drawing/2014/main" id="{B5A5C2C2-5055-4F85-4D20-EBF470D3D639}"/>
                  </a:ext>
                </a:extLst>
              </p:cNvPr>
              <p:cNvSpPr>
                <a:spLocks noChangeArrowheads="1"/>
              </p:cNvSpPr>
              <p:nvPr/>
            </p:nvSpPr>
            <p:spPr bwMode="auto">
              <a:xfrm>
                <a:off x="9734550" y="2638425"/>
                <a:ext cx="23813" cy="1588"/>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9" name="Freeform 185">
                <a:extLst>
                  <a:ext uri="{FF2B5EF4-FFF2-40B4-BE49-F238E27FC236}">
                    <a16:creationId xmlns:a16="http://schemas.microsoft.com/office/drawing/2014/main" id="{3AA40F3C-8FF9-4950-3B82-031E6C9C8CB4}"/>
                  </a:ext>
                </a:extLst>
              </p:cNvPr>
              <p:cNvSpPr>
                <a:spLocks noChangeArrowheads="1"/>
              </p:cNvSpPr>
              <p:nvPr/>
            </p:nvSpPr>
            <p:spPr bwMode="auto">
              <a:xfrm>
                <a:off x="9472613" y="2347913"/>
                <a:ext cx="325437" cy="92075"/>
              </a:xfrm>
              <a:custGeom>
                <a:avLst/>
                <a:gdLst>
                  <a:gd name="T0" fmla="*/ 0 w 904"/>
                  <a:gd name="T1" fmla="*/ 198 h 255"/>
                  <a:gd name="T2" fmla="*/ 56 w 904"/>
                  <a:gd name="T3" fmla="*/ 254 h 255"/>
                  <a:gd name="T4" fmla="*/ 846 w 904"/>
                  <a:gd name="T5" fmla="*/ 254 h 255"/>
                  <a:gd name="T6" fmla="*/ 903 w 904"/>
                  <a:gd name="T7" fmla="*/ 198 h 255"/>
                  <a:gd name="T8" fmla="*/ 903 w 904"/>
                  <a:gd name="T9" fmla="*/ 56 h 255"/>
                  <a:gd name="T10" fmla="*/ 846 w 904"/>
                  <a:gd name="T11" fmla="*/ 0 h 255"/>
                  <a:gd name="T12" fmla="*/ 56 w 904"/>
                  <a:gd name="T13" fmla="*/ 0 h 255"/>
                  <a:gd name="T14" fmla="*/ 0 w 904"/>
                  <a:gd name="T15" fmla="*/ 56 h 255"/>
                  <a:gd name="T16" fmla="*/ 0 w 904"/>
                  <a:gd name="T17" fmla="*/ 19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8"/>
                    </a:moveTo>
                    <a:cubicBezTo>
                      <a:pt x="0" y="229"/>
                      <a:pt x="25" y="254"/>
                      <a:pt x="56" y="254"/>
                    </a:cubicBezTo>
                    <a:cubicBezTo>
                      <a:pt x="319" y="254"/>
                      <a:pt x="583" y="254"/>
                      <a:pt x="846" y="254"/>
                    </a:cubicBezTo>
                    <a:cubicBezTo>
                      <a:pt x="878" y="254"/>
                      <a:pt x="903" y="229"/>
                      <a:pt x="903" y="198"/>
                    </a:cubicBezTo>
                    <a:cubicBezTo>
                      <a:pt x="903" y="150"/>
                      <a:pt x="903" y="103"/>
                      <a:pt x="903" y="56"/>
                    </a:cubicBezTo>
                    <a:cubicBezTo>
                      <a:pt x="903" y="25"/>
                      <a:pt x="878" y="0"/>
                      <a:pt x="846" y="0"/>
                    </a:cubicBezTo>
                    <a:cubicBezTo>
                      <a:pt x="583" y="0"/>
                      <a:pt x="319" y="0"/>
                      <a:pt x="56" y="0"/>
                    </a:cubicBezTo>
                    <a:cubicBezTo>
                      <a:pt x="25" y="0"/>
                      <a:pt x="0" y="25"/>
                      <a:pt x="0" y="56"/>
                    </a:cubicBezTo>
                    <a:cubicBezTo>
                      <a:pt x="0" y="103"/>
                      <a:pt x="0" y="150"/>
                      <a:pt x="0" y="19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grpSp>
      <p:sp>
        <p:nvSpPr>
          <p:cNvPr id="70" name="TextBox 69">
            <a:extLst>
              <a:ext uri="{FF2B5EF4-FFF2-40B4-BE49-F238E27FC236}">
                <a16:creationId xmlns:a16="http://schemas.microsoft.com/office/drawing/2014/main" id="{AB81D099-673D-9C6B-3D0E-331DB2EC3725}"/>
              </a:ext>
            </a:extLst>
          </p:cNvPr>
          <p:cNvSpPr txBox="1"/>
          <p:nvPr/>
        </p:nvSpPr>
        <p:spPr>
          <a:xfrm>
            <a:off x="15304" y="1754932"/>
            <a:ext cx="5419816" cy="954107"/>
          </a:xfrm>
          <a:prstGeom prst="rect">
            <a:avLst/>
          </a:prstGeom>
          <a:noFill/>
        </p:spPr>
        <p:txBody>
          <a:bodyPr wrap="square" rtlCol="0">
            <a:spAutoFit/>
          </a:bodyPr>
          <a:lstStyle/>
          <a:p>
            <a:pPr>
              <a:defRPr/>
            </a:pPr>
            <a:r>
              <a:rPr lang="en-GB" sz="2800">
                <a:latin typeface="+mj-lt"/>
              </a:rPr>
              <a:t>Business Applications in scope for Cloud Migration</a:t>
            </a:r>
          </a:p>
        </p:txBody>
      </p:sp>
      <p:sp>
        <p:nvSpPr>
          <p:cNvPr id="71" name="TextBox 70">
            <a:extLst>
              <a:ext uri="{FF2B5EF4-FFF2-40B4-BE49-F238E27FC236}">
                <a16:creationId xmlns:a16="http://schemas.microsoft.com/office/drawing/2014/main" id="{DD5A3BF8-29D6-2283-290D-70153D852D20}"/>
              </a:ext>
            </a:extLst>
          </p:cNvPr>
          <p:cNvSpPr txBox="1"/>
          <p:nvPr/>
        </p:nvSpPr>
        <p:spPr>
          <a:xfrm>
            <a:off x="79731" y="3237941"/>
            <a:ext cx="4182555" cy="954107"/>
          </a:xfrm>
          <a:prstGeom prst="rect">
            <a:avLst/>
          </a:prstGeom>
          <a:noFill/>
        </p:spPr>
        <p:txBody>
          <a:bodyPr wrap="none" rtlCol="0">
            <a:spAutoFit/>
          </a:bodyPr>
          <a:lstStyle/>
          <a:p>
            <a:pPr>
              <a:defRPr/>
            </a:pPr>
            <a:r>
              <a:rPr lang="en-GB" sz="2800">
                <a:latin typeface="+mj-lt"/>
              </a:rPr>
              <a:t>Applications out of scope</a:t>
            </a:r>
          </a:p>
          <a:p>
            <a:pPr>
              <a:defRPr/>
            </a:pPr>
            <a:r>
              <a:rPr lang="en-GB" sz="2800">
                <a:latin typeface="+mj-lt"/>
              </a:rPr>
              <a:t>for Migration Services</a:t>
            </a:r>
          </a:p>
        </p:txBody>
      </p:sp>
      <p:cxnSp>
        <p:nvCxnSpPr>
          <p:cNvPr id="72" name="Straight Connector 71">
            <a:extLst>
              <a:ext uri="{FF2B5EF4-FFF2-40B4-BE49-F238E27FC236}">
                <a16:creationId xmlns:a16="http://schemas.microsoft.com/office/drawing/2014/main" id="{CDE061FD-E07E-F645-B0BD-B7DE6BD01F1D}"/>
              </a:ext>
            </a:extLst>
          </p:cNvPr>
          <p:cNvCxnSpPr>
            <a:cxnSpLocks/>
          </p:cNvCxnSpPr>
          <p:nvPr/>
        </p:nvCxnSpPr>
        <p:spPr>
          <a:xfrm>
            <a:off x="0" y="2782976"/>
            <a:ext cx="534254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C787E21-DBE6-F0B7-357D-2304629521C9}"/>
              </a:ext>
            </a:extLst>
          </p:cNvPr>
          <p:cNvCxnSpPr>
            <a:cxnSpLocks/>
          </p:cNvCxnSpPr>
          <p:nvPr/>
        </p:nvCxnSpPr>
        <p:spPr>
          <a:xfrm>
            <a:off x="6279563" y="1757220"/>
            <a:ext cx="26866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B5E7EA6-DFF6-667C-799D-A20BA1DF4498}"/>
              </a:ext>
            </a:extLst>
          </p:cNvPr>
          <p:cNvCxnSpPr>
            <a:cxnSpLocks/>
          </p:cNvCxnSpPr>
          <p:nvPr/>
        </p:nvCxnSpPr>
        <p:spPr>
          <a:xfrm>
            <a:off x="5503936" y="3307186"/>
            <a:ext cx="3462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CCBA979E-33C5-A3AB-AED9-F540E72A1388}"/>
              </a:ext>
            </a:extLst>
          </p:cNvPr>
          <p:cNvCxnSpPr/>
          <p:nvPr/>
        </p:nvCxnSpPr>
        <p:spPr>
          <a:xfrm>
            <a:off x="-1" y="4224694"/>
            <a:ext cx="45327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F884D9D6-9605-26F4-250D-7CEA23F37029}"/>
              </a:ext>
            </a:extLst>
          </p:cNvPr>
          <p:cNvSpPr txBox="1"/>
          <p:nvPr/>
        </p:nvSpPr>
        <p:spPr>
          <a:xfrm>
            <a:off x="7358829" y="2005591"/>
            <a:ext cx="870751" cy="830997"/>
          </a:xfrm>
          <a:prstGeom prst="rect">
            <a:avLst/>
          </a:prstGeom>
          <a:noFill/>
        </p:spPr>
        <p:txBody>
          <a:bodyPr wrap="none" rtlCol="0">
            <a:spAutoFit/>
          </a:bodyPr>
          <a:lstStyle/>
          <a:p>
            <a:pPr>
              <a:defRPr/>
            </a:pPr>
            <a:r>
              <a:rPr lang="en-GB" sz="4800">
                <a:latin typeface="+mj-lt"/>
              </a:rPr>
              <a:t>10</a:t>
            </a:r>
          </a:p>
        </p:txBody>
      </p:sp>
      <p:sp>
        <p:nvSpPr>
          <p:cNvPr id="77" name="TextBox 76">
            <a:extLst>
              <a:ext uri="{FF2B5EF4-FFF2-40B4-BE49-F238E27FC236}">
                <a16:creationId xmlns:a16="http://schemas.microsoft.com/office/drawing/2014/main" id="{75F47038-00B3-98DE-008F-23E2A301EDDF}"/>
              </a:ext>
            </a:extLst>
          </p:cNvPr>
          <p:cNvSpPr txBox="1"/>
          <p:nvPr/>
        </p:nvSpPr>
        <p:spPr>
          <a:xfrm>
            <a:off x="7329017" y="3547663"/>
            <a:ext cx="527709" cy="830997"/>
          </a:xfrm>
          <a:prstGeom prst="rect">
            <a:avLst/>
          </a:prstGeom>
          <a:noFill/>
        </p:spPr>
        <p:txBody>
          <a:bodyPr wrap="none" rtlCol="0">
            <a:spAutoFit/>
          </a:bodyPr>
          <a:lstStyle/>
          <a:p>
            <a:pPr>
              <a:defRPr/>
            </a:pPr>
            <a:r>
              <a:rPr lang="en-GB" sz="4800">
                <a:latin typeface="+mj-lt"/>
              </a:rPr>
              <a:t>3</a:t>
            </a:r>
          </a:p>
        </p:txBody>
      </p:sp>
      <p:sp>
        <p:nvSpPr>
          <p:cNvPr id="84" name="Freeform 200">
            <a:extLst>
              <a:ext uri="{FF2B5EF4-FFF2-40B4-BE49-F238E27FC236}">
                <a16:creationId xmlns:a16="http://schemas.microsoft.com/office/drawing/2014/main" id="{0111BB0A-A4F0-C4D3-BE7A-170B69C9ACA2}"/>
              </a:ext>
            </a:extLst>
          </p:cNvPr>
          <p:cNvSpPr>
            <a:spLocks noChangeArrowheads="1"/>
          </p:cNvSpPr>
          <p:nvPr/>
        </p:nvSpPr>
        <p:spPr bwMode="auto">
          <a:xfrm>
            <a:off x="19306714" y="25041"/>
            <a:ext cx="4849892" cy="4849886"/>
          </a:xfrm>
          <a:custGeom>
            <a:avLst/>
            <a:gdLst>
              <a:gd name="T0" fmla="*/ 1468 w 1751"/>
              <a:gd name="T1" fmla="*/ 1749 h 1750"/>
              <a:gd name="T2" fmla="*/ 1750 w 1751"/>
              <a:gd name="T3" fmla="*/ 1467 h 1750"/>
              <a:gd name="T4" fmla="*/ 1750 w 1751"/>
              <a:gd name="T5" fmla="*/ 282 h 1750"/>
              <a:gd name="T6" fmla="*/ 1468 w 1751"/>
              <a:gd name="T7" fmla="*/ 0 h 1750"/>
              <a:gd name="T8" fmla="*/ 282 w 1751"/>
              <a:gd name="T9" fmla="*/ 0 h 1750"/>
              <a:gd name="T10" fmla="*/ 0 w 1751"/>
              <a:gd name="T11" fmla="*/ 282 h 1750"/>
              <a:gd name="T12" fmla="*/ 0 w 1751"/>
              <a:gd name="T13" fmla="*/ 1467 h 1750"/>
              <a:gd name="T14" fmla="*/ 282 w 1751"/>
              <a:gd name="T15" fmla="*/ 1749 h 1750"/>
              <a:gd name="T16" fmla="*/ 1468 w 1751"/>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0">
                <a:moveTo>
                  <a:pt x="1468" y="1749"/>
                </a:moveTo>
                <a:cubicBezTo>
                  <a:pt x="1623" y="1749"/>
                  <a:pt x="1750" y="1623"/>
                  <a:pt x="1750" y="1467"/>
                </a:cubicBezTo>
                <a:cubicBezTo>
                  <a:pt x="1750" y="1072"/>
                  <a:pt x="1750" y="677"/>
                  <a:pt x="1750" y="282"/>
                </a:cubicBezTo>
                <a:cubicBezTo>
                  <a:pt x="1750" y="127"/>
                  <a:pt x="1623" y="0"/>
                  <a:pt x="1468" y="0"/>
                </a:cubicBezTo>
                <a:cubicBezTo>
                  <a:pt x="1073" y="0"/>
                  <a:pt x="678" y="0"/>
                  <a:pt x="282" y="0"/>
                </a:cubicBezTo>
                <a:cubicBezTo>
                  <a:pt x="127" y="0"/>
                  <a:pt x="0" y="127"/>
                  <a:pt x="0" y="282"/>
                </a:cubicBezTo>
                <a:cubicBezTo>
                  <a:pt x="0" y="677"/>
                  <a:pt x="0" y="1072"/>
                  <a:pt x="0" y="1467"/>
                </a:cubicBezTo>
                <a:cubicBezTo>
                  <a:pt x="0" y="1623"/>
                  <a:pt x="127" y="1749"/>
                  <a:pt x="282" y="1749"/>
                </a:cubicBezTo>
                <a:cubicBezTo>
                  <a:pt x="678" y="1749"/>
                  <a:pt x="1073" y="1749"/>
                  <a:pt x="1468" y="1749"/>
                </a:cubicBezTo>
              </a:path>
            </a:pathLst>
          </a:custGeom>
          <a:solidFill>
            <a:schemeClr val="bg1"/>
          </a:solidFill>
          <a:ln w="15875" cap="flat">
            <a:solidFill>
              <a:schemeClr val="tx1"/>
            </a:solidFill>
            <a:miter lim="800000"/>
            <a:headEnd/>
            <a:tailEnd/>
          </a:ln>
          <a:effectLst/>
        </p:spPr>
        <p:txBody>
          <a:bodyPr wrap="none" anchor="ctr"/>
          <a:lstStyle/>
          <a:p>
            <a:pPr>
              <a:defRPr/>
            </a:pPr>
            <a:endParaRPr lang="en-US">
              <a:latin typeface="+mj-lt"/>
            </a:endParaRPr>
          </a:p>
        </p:txBody>
      </p:sp>
      <p:grpSp>
        <p:nvGrpSpPr>
          <p:cNvPr id="85" name="Group 84">
            <a:extLst>
              <a:ext uri="{FF2B5EF4-FFF2-40B4-BE49-F238E27FC236}">
                <a16:creationId xmlns:a16="http://schemas.microsoft.com/office/drawing/2014/main" id="{09ED09E3-36F2-244E-CAF1-F83A623241DF}"/>
              </a:ext>
            </a:extLst>
          </p:cNvPr>
          <p:cNvGrpSpPr/>
          <p:nvPr/>
        </p:nvGrpSpPr>
        <p:grpSpPr>
          <a:xfrm>
            <a:off x="19734571" y="250855"/>
            <a:ext cx="709134" cy="1018142"/>
            <a:chOff x="7947025" y="2292350"/>
            <a:chExt cx="284163" cy="407988"/>
          </a:xfrm>
        </p:grpSpPr>
        <p:sp>
          <p:nvSpPr>
            <p:cNvPr id="86" name="Freeform 201">
              <a:extLst>
                <a:ext uri="{FF2B5EF4-FFF2-40B4-BE49-F238E27FC236}">
                  <a16:creationId xmlns:a16="http://schemas.microsoft.com/office/drawing/2014/main" id="{AA79DCC0-E889-8382-EE5F-F4D866DE1087}"/>
                </a:ext>
              </a:extLst>
            </p:cNvPr>
            <p:cNvSpPr>
              <a:spLocks noChangeArrowheads="1"/>
            </p:cNvSpPr>
            <p:nvPr/>
          </p:nvSpPr>
          <p:spPr bwMode="auto">
            <a:xfrm>
              <a:off x="7947025" y="2333625"/>
              <a:ext cx="284163" cy="366713"/>
            </a:xfrm>
            <a:custGeom>
              <a:avLst/>
              <a:gdLst>
                <a:gd name="T0" fmla="*/ 564 w 791"/>
                <a:gd name="T1" fmla="*/ 0 h 1017"/>
                <a:gd name="T2" fmla="*/ 734 w 791"/>
                <a:gd name="T3" fmla="*/ 0 h 1017"/>
                <a:gd name="T4" fmla="*/ 790 w 791"/>
                <a:gd name="T5" fmla="*/ 56 h 1017"/>
                <a:gd name="T6" fmla="*/ 790 w 791"/>
                <a:gd name="T7" fmla="*/ 959 h 1017"/>
                <a:gd name="T8" fmla="*/ 734 w 791"/>
                <a:gd name="T9" fmla="*/ 1016 h 1017"/>
                <a:gd name="T10" fmla="*/ 56 w 791"/>
                <a:gd name="T11" fmla="*/ 1016 h 1017"/>
                <a:gd name="T12" fmla="*/ 0 w 791"/>
                <a:gd name="T13" fmla="*/ 959 h 1017"/>
                <a:gd name="T14" fmla="*/ 0 w 791"/>
                <a:gd name="T15" fmla="*/ 56 h 1017"/>
                <a:gd name="T16" fmla="*/ 56 w 791"/>
                <a:gd name="T17" fmla="*/ 0 h 1017"/>
                <a:gd name="T18" fmla="*/ 226 w 791"/>
                <a:gd name="T19" fmla="*/ 0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1" h="1017">
                  <a:moveTo>
                    <a:pt x="564" y="0"/>
                  </a:moveTo>
                  <a:cubicBezTo>
                    <a:pt x="621" y="0"/>
                    <a:pt x="678" y="0"/>
                    <a:pt x="734" y="0"/>
                  </a:cubicBezTo>
                  <a:cubicBezTo>
                    <a:pt x="765" y="0"/>
                    <a:pt x="790" y="25"/>
                    <a:pt x="790" y="56"/>
                  </a:cubicBezTo>
                  <a:cubicBezTo>
                    <a:pt x="790" y="357"/>
                    <a:pt x="790" y="658"/>
                    <a:pt x="790" y="959"/>
                  </a:cubicBezTo>
                  <a:cubicBezTo>
                    <a:pt x="790" y="990"/>
                    <a:pt x="765" y="1016"/>
                    <a:pt x="734" y="1016"/>
                  </a:cubicBezTo>
                  <a:cubicBezTo>
                    <a:pt x="508" y="1016"/>
                    <a:pt x="282" y="1016"/>
                    <a:pt x="56" y="1016"/>
                  </a:cubicBezTo>
                  <a:cubicBezTo>
                    <a:pt x="25" y="1016"/>
                    <a:pt x="0" y="990"/>
                    <a:pt x="0" y="959"/>
                  </a:cubicBezTo>
                  <a:cubicBezTo>
                    <a:pt x="0" y="658"/>
                    <a:pt x="0" y="357"/>
                    <a:pt x="0" y="56"/>
                  </a:cubicBezTo>
                  <a:cubicBezTo>
                    <a:pt x="0" y="25"/>
                    <a:pt x="25" y="0"/>
                    <a:pt x="56" y="0"/>
                  </a:cubicBezTo>
                  <a:cubicBezTo>
                    <a:pt x="113" y="0"/>
                    <a:pt x="170" y="0"/>
                    <a:pt x="226"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87" name="Freeform 202">
              <a:extLst>
                <a:ext uri="{FF2B5EF4-FFF2-40B4-BE49-F238E27FC236}">
                  <a16:creationId xmlns:a16="http://schemas.microsoft.com/office/drawing/2014/main" id="{0B7A4669-260C-BA7D-6E65-5B972A0BBF0D}"/>
                </a:ext>
              </a:extLst>
            </p:cNvPr>
            <p:cNvSpPr>
              <a:spLocks noChangeArrowheads="1"/>
            </p:cNvSpPr>
            <p:nvPr/>
          </p:nvSpPr>
          <p:spPr bwMode="auto">
            <a:xfrm>
              <a:off x="7997825" y="2292350"/>
              <a:ext cx="182563" cy="92075"/>
            </a:xfrm>
            <a:custGeom>
              <a:avLst/>
              <a:gdLst>
                <a:gd name="T0" fmla="*/ 508 w 509"/>
                <a:gd name="T1" fmla="*/ 197 h 255"/>
                <a:gd name="T2" fmla="*/ 423 w 509"/>
                <a:gd name="T3" fmla="*/ 113 h 255"/>
                <a:gd name="T4" fmla="*/ 380 w 509"/>
                <a:gd name="T5" fmla="*/ 113 h 255"/>
                <a:gd name="T6" fmla="*/ 366 w 509"/>
                <a:gd name="T7" fmla="*/ 100 h 255"/>
                <a:gd name="T8" fmla="*/ 254 w 509"/>
                <a:gd name="T9" fmla="*/ 0 h 255"/>
                <a:gd name="T10" fmla="*/ 142 w 509"/>
                <a:gd name="T11" fmla="*/ 100 h 255"/>
                <a:gd name="T12" fmla="*/ 128 w 509"/>
                <a:gd name="T13" fmla="*/ 113 h 255"/>
                <a:gd name="T14" fmla="*/ 85 w 509"/>
                <a:gd name="T15" fmla="*/ 113 h 255"/>
                <a:gd name="T16" fmla="*/ 0 w 509"/>
                <a:gd name="T17" fmla="*/ 197 h 255"/>
                <a:gd name="T18" fmla="*/ 0 w 509"/>
                <a:gd name="T19" fmla="*/ 226 h 255"/>
                <a:gd name="T20" fmla="*/ 28 w 509"/>
                <a:gd name="T21" fmla="*/ 254 h 255"/>
                <a:gd name="T22" fmla="*/ 480 w 509"/>
                <a:gd name="T23" fmla="*/ 254 h 255"/>
                <a:gd name="T24" fmla="*/ 508 w 509"/>
                <a:gd name="T25" fmla="*/ 226 h 255"/>
                <a:gd name="T26" fmla="*/ 508 w 509"/>
                <a:gd name="T27" fmla="*/ 19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9" h="255">
                  <a:moveTo>
                    <a:pt x="508" y="197"/>
                  </a:moveTo>
                  <a:cubicBezTo>
                    <a:pt x="508" y="151"/>
                    <a:pt x="470" y="113"/>
                    <a:pt x="423" y="113"/>
                  </a:cubicBezTo>
                  <a:cubicBezTo>
                    <a:pt x="409" y="113"/>
                    <a:pt x="395" y="113"/>
                    <a:pt x="380" y="113"/>
                  </a:cubicBezTo>
                  <a:cubicBezTo>
                    <a:pt x="373" y="113"/>
                    <a:pt x="367" y="107"/>
                    <a:pt x="366" y="100"/>
                  </a:cubicBezTo>
                  <a:cubicBezTo>
                    <a:pt x="359" y="44"/>
                    <a:pt x="308" y="0"/>
                    <a:pt x="254" y="0"/>
                  </a:cubicBezTo>
                  <a:cubicBezTo>
                    <a:pt x="200" y="0"/>
                    <a:pt x="149" y="44"/>
                    <a:pt x="142" y="100"/>
                  </a:cubicBezTo>
                  <a:cubicBezTo>
                    <a:pt x="141" y="107"/>
                    <a:pt x="135" y="113"/>
                    <a:pt x="128" y="113"/>
                  </a:cubicBezTo>
                  <a:cubicBezTo>
                    <a:pt x="114" y="113"/>
                    <a:pt x="100" y="113"/>
                    <a:pt x="85" y="113"/>
                  </a:cubicBezTo>
                  <a:cubicBezTo>
                    <a:pt x="38" y="113"/>
                    <a:pt x="0" y="151"/>
                    <a:pt x="0" y="197"/>
                  </a:cubicBezTo>
                  <a:cubicBezTo>
                    <a:pt x="0" y="206"/>
                    <a:pt x="0" y="216"/>
                    <a:pt x="0" y="226"/>
                  </a:cubicBezTo>
                  <a:cubicBezTo>
                    <a:pt x="0" y="241"/>
                    <a:pt x="13" y="254"/>
                    <a:pt x="28" y="254"/>
                  </a:cubicBezTo>
                  <a:cubicBezTo>
                    <a:pt x="179" y="254"/>
                    <a:pt x="330" y="254"/>
                    <a:pt x="480" y="254"/>
                  </a:cubicBezTo>
                  <a:cubicBezTo>
                    <a:pt x="495" y="254"/>
                    <a:pt x="508" y="241"/>
                    <a:pt x="508" y="226"/>
                  </a:cubicBezTo>
                  <a:cubicBezTo>
                    <a:pt x="508" y="216"/>
                    <a:pt x="508" y="206"/>
                    <a:pt x="508" y="19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88" name="Freeform 203">
              <a:extLst>
                <a:ext uri="{FF2B5EF4-FFF2-40B4-BE49-F238E27FC236}">
                  <a16:creationId xmlns:a16="http://schemas.microsoft.com/office/drawing/2014/main" id="{1C18D8CA-BB5A-36F7-9AE6-BA25C18860D6}"/>
                </a:ext>
              </a:extLst>
            </p:cNvPr>
            <p:cNvSpPr>
              <a:spLocks noChangeArrowheads="1"/>
            </p:cNvSpPr>
            <p:nvPr/>
          </p:nvSpPr>
          <p:spPr bwMode="auto">
            <a:xfrm>
              <a:off x="8080375" y="2444750"/>
              <a:ext cx="92075" cy="1588"/>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89" name="Freeform 204">
              <a:extLst>
                <a:ext uri="{FF2B5EF4-FFF2-40B4-BE49-F238E27FC236}">
                  <a16:creationId xmlns:a16="http://schemas.microsoft.com/office/drawing/2014/main" id="{03EB51A6-D2A8-2094-22E7-4D5C06AE414D}"/>
                </a:ext>
              </a:extLst>
            </p:cNvPr>
            <p:cNvSpPr>
              <a:spLocks noChangeArrowheads="1"/>
            </p:cNvSpPr>
            <p:nvPr/>
          </p:nvSpPr>
          <p:spPr bwMode="auto">
            <a:xfrm>
              <a:off x="8080375" y="2322513"/>
              <a:ext cx="20638" cy="20637"/>
            </a:xfrm>
            <a:custGeom>
              <a:avLst/>
              <a:gdLst>
                <a:gd name="T0" fmla="*/ 56 w 57"/>
                <a:gd name="T1" fmla="*/ 29 h 58"/>
                <a:gd name="T2" fmla="*/ 28 w 57"/>
                <a:gd name="T3" fmla="*/ 57 h 58"/>
                <a:gd name="T4" fmla="*/ 0 w 57"/>
                <a:gd name="T5" fmla="*/ 29 h 58"/>
                <a:gd name="T6" fmla="*/ 28 w 57"/>
                <a:gd name="T7" fmla="*/ 0 h 58"/>
                <a:gd name="T8" fmla="*/ 56 w 57"/>
                <a:gd name="T9" fmla="*/ 29 h 58"/>
              </a:gdLst>
              <a:ahLst/>
              <a:cxnLst>
                <a:cxn ang="0">
                  <a:pos x="T0" y="T1"/>
                </a:cxn>
                <a:cxn ang="0">
                  <a:pos x="T2" y="T3"/>
                </a:cxn>
                <a:cxn ang="0">
                  <a:pos x="T4" y="T5"/>
                </a:cxn>
                <a:cxn ang="0">
                  <a:pos x="T6" y="T7"/>
                </a:cxn>
                <a:cxn ang="0">
                  <a:pos x="T8" y="T9"/>
                </a:cxn>
              </a:cxnLst>
              <a:rect l="0" t="0" r="r" b="b"/>
              <a:pathLst>
                <a:path w="57" h="58">
                  <a:moveTo>
                    <a:pt x="56" y="29"/>
                  </a:moveTo>
                  <a:cubicBezTo>
                    <a:pt x="56" y="44"/>
                    <a:pt x="44" y="57"/>
                    <a:pt x="28" y="57"/>
                  </a:cubicBezTo>
                  <a:cubicBezTo>
                    <a:pt x="12" y="57"/>
                    <a:pt x="0" y="44"/>
                    <a:pt x="0" y="29"/>
                  </a:cubicBezTo>
                  <a:cubicBezTo>
                    <a:pt x="0" y="13"/>
                    <a:pt x="12" y="0"/>
                    <a:pt x="28" y="0"/>
                  </a:cubicBezTo>
                  <a:cubicBezTo>
                    <a:pt x="44" y="0"/>
                    <a:pt x="56" y="13"/>
                    <a:pt x="56" y="2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90" name="Freeform 205">
              <a:extLst>
                <a:ext uri="{FF2B5EF4-FFF2-40B4-BE49-F238E27FC236}">
                  <a16:creationId xmlns:a16="http://schemas.microsoft.com/office/drawing/2014/main" id="{538EE19F-B034-F946-1FB2-A61A2C06E444}"/>
                </a:ext>
              </a:extLst>
            </p:cNvPr>
            <p:cNvSpPr>
              <a:spLocks noChangeArrowheads="1"/>
            </p:cNvSpPr>
            <p:nvPr/>
          </p:nvSpPr>
          <p:spPr bwMode="auto">
            <a:xfrm>
              <a:off x="8008938" y="2430463"/>
              <a:ext cx="31750" cy="30162"/>
            </a:xfrm>
            <a:custGeom>
              <a:avLst/>
              <a:gdLst>
                <a:gd name="T0" fmla="*/ 85 w 86"/>
                <a:gd name="T1" fmla="*/ 42 h 85"/>
                <a:gd name="T2" fmla="*/ 43 w 86"/>
                <a:gd name="T3" fmla="*/ 84 h 85"/>
                <a:gd name="T4" fmla="*/ 0 w 86"/>
                <a:gd name="T5" fmla="*/ 42 h 85"/>
                <a:gd name="T6" fmla="*/ 43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6"/>
                    <a:pt x="66" y="84"/>
                    <a:pt x="43" y="84"/>
                  </a:cubicBezTo>
                  <a:cubicBezTo>
                    <a:pt x="19" y="84"/>
                    <a:pt x="0" y="66"/>
                    <a:pt x="0" y="42"/>
                  </a:cubicBezTo>
                  <a:cubicBezTo>
                    <a:pt x="0" y="19"/>
                    <a:pt x="19" y="0"/>
                    <a:pt x="43" y="0"/>
                  </a:cubicBezTo>
                  <a:cubicBezTo>
                    <a:pt x="66" y="0"/>
                    <a:pt x="85" y="19"/>
                    <a:pt x="85" y="4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91" name="Freeform 206">
              <a:extLst>
                <a:ext uri="{FF2B5EF4-FFF2-40B4-BE49-F238E27FC236}">
                  <a16:creationId xmlns:a16="http://schemas.microsoft.com/office/drawing/2014/main" id="{0C2B3C22-B77F-BA91-8FAD-C4D88E61E732}"/>
                </a:ext>
              </a:extLst>
            </p:cNvPr>
            <p:cNvSpPr>
              <a:spLocks noChangeArrowheads="1"/>
            </p:cNvSpPr>
            <p:nvPr/>
          </p:nvSpPr>
          <p:spPr bwMode="auto">
            <a:xfrm>
              <a:off x="8008938" y="2490788"/>
              <a:ext cx="31750" cy="31750"/>
            </a:xfrm>
            <a:custGeom>
              <a:avLst/>
              <a:gdLst>
                <a:gd name="T0" fmla="*/ 85 w 86"/>
                <a:gd name="T1" fmla="*/ 42 h 86"/>
                <a:gd name="T2" fmla="*/ 43 w 86"/>
                <a:gd name="T3" fmla="*/ 85 h 86"/>
                <a:gd name="T4" fmla="*/ 0 w 86"/>
                <a:gd name="T5" fmla="*/ 42 h 86"/>
                <a:gd name="T6" fmla="*/ 43 w 86"/>
                <a:gd name="T7" fmla="*/ 0 h 86"/>
                <a:gd name="T8" fmla="*/ 85 w 86"/>
                <a:gd name="T9" fmla="*/ 42 h 86"/>
              </a:gdLst>
              <a:ahLst/>
              <a:cxnLst>
                <a:cxn ang="0">
                  <a:pos x="T0" y="T1"/>
                </a:cxn>
                <a:cxn ang="0">
                  <a:pos x="T2" y="T3"/>
                </a:cxn>
                <a:cxn ang="0">
                  <a:pos x="T4" y="T5"/>
                </a:cxn>
                <a:cxn ang="0">
                  <a:pos x="T6" y="T7"/>
                </a:cxn>
                <a:cxn ang="0">
                  <a:pos x="T8" y="T9"/>
                </a:cxn>
              </a:cxnLst>
              <a:rect l="0" t="0" r="r" b="b"/>
              <a:pathLst>
                <a:path w="86" h="86">
                  <a:moveTo>
                    <a:pt x="85" y="42"/>
                  </a:moveTo>
                  <a:cubicBezTo>
                    <a:pt x="85" y="66"/>
                    <a:pt x="66" y="85"/>
                    <a:pt x="43" y="85"/>
                  </a:cubicBezTo>
                  <a:cubicBezTo>
                    <a:pt x="19" y="85"/>
                    <a:pt x="0" y="66"/>
                    <a:pt x="0" y="42"/>
                  </a:cubicBezTo>
                  <a:cubicBezTo>
                    <a:pt x="0" y="19"/>
                    <a:pt x="19" y="0"/>
                    <a:pt x="43" y="0"/>
                  </a:cubicBezTo>
                  <a:cubicBezTo>
                    <a:pt x="66" y="0"/>
                    <a:pt x="85" y="19"/>
                    <a:pt x="85" y="4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92" name="Freeform 207">
              <a:extLst>
                <a:ext uri="{FF2B5EF4-FFF2-40B4-BE49-F238E27FC236}">
                  <a16:creationId xmlns:a16="http://schemas.microsoft.com/office/drawing/2014/main" id="{542CD10B-A8D3-986B-B28C-975DDB69B5AB}"/>
                </a:ext>
              </a:extLst>
            </p:cNvPr>
            <p:cNvSpPr>
              <a:spLocks noChangeArrowheads="1"/>
            </p:cNvSpPr>
            <p:nvPr/>
          </p:nvSpPr>
          <p:spPr bwMode="auto">
            <a:xfrm>
              <a:off x="8008938" y="2551113"/>
              <a:ext cx="31750" cy="31750"/>
            </a:xfrm>
            <a:custGeom>
              <a:avLst/>
              <a:gdLst>
                <a:gd name="T0" fmla="*/ 85 w 86"/>
                <a:gd name="T1" fmla="*/ 43 h 86"/>
                <a:gd name="T2" fmla="*/ 43 w 86"/>
                <a:gd name="T3" fmla="*/ 85 h 86"/>
                <a:gd name="T4" fmla="*/ 0 w 86"/>
                <a:gd name="T5" fmla="*/ 43 h 86"/>
                <a:gd name="T6" fmla="*/ 43 w 86"/>
                <a:gd name="T7" fmla="*/ 0 h 86"/>
                <a:gd name="T8" fmla="*/ 85 w 86"/>
                <a:gd name="T9" fmla="*/ 43 h 86"/>
              </a:gdLst>
              <a:ahLst/>
              <a:cxnLst>
                <a:cxn ang="0">
                  <a:pos x="T0" y="T1"/>
                </a:cxn>
                <a:cxn ang="0">
                  <a:pos x="T2" y="T3"/>
                </a:cxn>
                <a:cxn ang="0">
                  <a:pos x="T4" y="T5"/>
                </a:cxn>
                <a:cxn ang="0">
                  <a:pos x="T6" y="T7"/>
                </a:cxn>
                <a:cxn ang="0">
                  <a:pos x="T8" y="T9"/>
                </a:cxn>
              </a:cxnLst>
              <a:rect l="0" t="0" r="r" b="b"/>
              <a:pathLst>
                <a:path w="86" h="86">
                  <a:moveTo>
                    <a:pt x="85" y="43"/>
                  </a:moveTo>
                  <a:cubicBezTo>
                    <a:pt x="85" y="66"/>
                    <a:pt x="66" y="85"/>
                    <a:pt x="43" y="85"/>
                  </a:cubicBezTo>
                  <a:cubicBezTo>
                    <a:pt x="19" y="85"/>
                    <a:pt x="0" y="66"/>
                    <a:pt x="0" y="43"/>
                  </a:cubicBezTo>
                  <a:cubicBezTo>
                    <a:pt x="0" y="19"/>
                    <a:pt x="19" y="0"/>
                    <a:pt x="43" y="0"/>
                  </a:cubicBezTo>
                  <a:cubicBezTo>
                    <a:pt x="66" y="0"/>
                    <a:pt x="85" y="19"/>
                    <a:pt x="85" y="43"/>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93" name="Freeform 208">
              <a:extLst>
                <a:ext uri="{FF2B5EF4-FFF2-40B4-BE49-F238E27FC236}">
                  <a16:creationId xmlns:a16="http://schemas.microsoft.com/office/drawing/2014/main" id="{C4C731E1-C2BA-9331-A16E-0DF0FA2EBEAD}"/>
                </a:ext>
              </a:extLst>
            </p:cNvPr>
            <p:cNvSpPr>
              <a:spLocks noChangeArrowheads="1"/>
            </p:cNvSpPr>
            <p:nvPr/>
          </p:nvSpPr>
          <p:spPr bwMode="auto">
            <a:xfrm>
              <a:off x="8008938" y="2613025"/>
              <a:ext cx="31750" cy="30163"/>
            </a:xfrm>
            <a:custGeom>
              <a:avLst/>
              <a:gdLst>
                <a:gd name="T0" fmla="*/ 85 w 86"/>
                <a:gd name="T1" fmla="*/ 42 h 85"/>
                <a:gd name="T2" fmla="*/ 43 w 86"/>
                <a:gd name="T3" fmla="*/ 84 h 85"/>
                <a:gd name="T4" fmla="*/ 0 w 86"/>
                <a:gd name="T5" fmla="*/ 42 h 85"/>
                <a:gd name="T6" fmla="*/ 43 w 86"/>
                <a:gd name="T7" fmla="*/ 0 h 85"/>
                <a:gd name="T8" fmla="*/ 85 w 86"/>
                <a:gd name="T9" fmla="*/ 42 h 85"/>
              </a:gdLst>
              <a:ahLst/>
              <a:cxnLst>
                <a:cxn ang="0">
                  <a:pos x="T0" y="T1"/>
                </a:cxn>
                <a:cxn ang="0">
                  <a:pos x="T2" y="T3"/>
                </a:cxn>
                <a:cxn ang="0">
                  <a:pos x="T4" y="T5"/>
                </a:cxn>
                <a:cxn ang="0">
                  <a:pos x="T6" y="T7"/>
                </a:cxn>
                <a:cxn ang="0">
                  <a:pos x="T8" y="T9"/>
                </a:cxn>
              </a:cxnLst>
              <a:rect l="0" t="0" r="r" b="b"/>
              <a:pathLst>
                <a:path w="86" h="85">
                  <a:moveTo>
                    <a:pt x="85" y="42"/>
                  </a:moveTo>
                  <a:cubicBezTo>
                    <a:pt x="85" y="65"/>
                    <a:pt x="66" y="84"/>
                    <a:pt x="43" y="84"/>
                  </a:cubicBezTo>
                  <a:cubicBezTo>
                    <a:pt x="19" y="84"/>
                    <a:pt x="0" y="65"/>
                    <a:pt x="0" y="42"/>
                  </a:cubicBezTo>
                  <a:cubicBezTo>
                    <a:pt x="0" y="19"/>
                    <a:pt x="19" y="0"/>
                    <a:pt x="43" y="0"/>
                  </a:cubicBezTo>
                  <a:cubicBezTo>
                    <a:pt x="66" y="0"/>
                    <a:pt x="85" y="19"/>
                    <a:pt x="85" y="4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94" name="Freeform 209">
              <a:extLst>
                <a:ext uri="{FF2B5EF4-FFF2-40B4-BE49-F238E27FC236}">
                  <a16:creationId xmlns:a16="http://schemas.microsoft.com/office/drawing/2014/main" id="{3C840D7A-566E-5426-5CF0-41332B2140FE}"/>
                </a:ext>
              </a:extLst>
            </p:cNvPr>
            <p:cNvSpPr>
              <a:spLocks noChangeArrowheads="1"/>
            </p:cNvSpPr>
            <p:nvPr/>
          </p:nvSpPr>
          <p:spPr bwMode="auto">
            <a:xfrm>
              <a:off x="8080375" y="2506663"/>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95" name="Freeform 210">
              <a:extLst>
                <a:ext uri="{FF2B5EF4-FFF2-40B4-BE49-F238E27FC236}">
                  <a16:creationId xmlns:a16="http://schemas.microsoft.com/office/drawing/2014/main" id="{64757576-98B1-C285-7979-73FF13814B56}"/>
                </a:ext>
              </a:extLst>
            </p:cNvPr>
            <p:cNvSpPr>
              <a:spLocks noChangeArrowheads="1"/>
            </p:cNvSpPr>
            <p:nvPr/>
          </p:nvSpPr>
          <p:spPr bwMode="auto">
            <a:xfrm>
              <a:off x="8080375" y="2566988"/>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96" name="Freeform 211">
              <a:extLst>
                <a:ext uri="{FF2B5EF4-FFF2-40B4-BE49-F238E27FC236}">
                  <a16:creationId xmlns:a16="http://schemas.microsoft.com/office/drawing/2014/main" id="{B2A57B62-92A1-E977-B802-52F0C4E9D7BD}"/>
                </a:ext>
              </a:extLst>
            </p:cNvPr>
            <p:cNvSpPr>
              <a:spLocks noChangeArrowheads="1"/>
            </p:cNvSpPr>
            <p:nvPr/>
          </p:nvSpPr>
          <p:spPr bwMode="auto">
            <a:xfrm>
              <a:off x="8080375" y="2627313"/>
              <a:ext cx="92075" cy="1587"/>
            </a:xfrm>
            <a:custGeom>
              <a:avLst/>
              <a:gdLst>
                <a:gd name="T0" fmla="*/ 254 w 255"/>
                <a:gd name="T1" fmla="*/ 0 h 1"/>
                <a:gd name="T2" fmla="*/ 0 w 255"/>
                <a:gd name="T3" fmla="*/ 0 h 1"/>
              </a:gdLst>
              <a:ahLst/>
              <a:cxnLst>
                <a:cxn ang="0">
                  <a:pos x="T0" y="T1"/>
                </a:cxn>
                <a:cxn ang="0">
                  <a:pos x="T2" y="T3"/>
                </a:cxn>
              </a:cxnLst>
              <a:rect l="0" t="0" r="r" b="b"/>
              <a:pathLst>
                <a:path w="255" h="1">
                  <a:moveTo>
                    <a:pt x="254" y="0"/>
                  </a:moveTo>
                  <a:cubicBezTo>
                    <a:pt x="170" y="0"/>
                    <a:pt x="85"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grpSp>
      <p:cxnSp>
        <p:nvCxnSpPr>
          <p:cNvPr id="82" name="Straight Connector 81">
            <a:extLst>
              <a:ext uri="{FF2B5EF4-FFF2-40B4-BE49-F238E27FC236}">
                <a16:creationId xmlns:a16="http://schemas.microsoft.com/office/drawing/2014/main" id="{32E67F84-4EFA-E754-BCC1-8444DE818140}"/>
              </a:ext>
            </a:extLst>
          </p:cNvPr>
          <p:cNvCxnSpPr>
            <a:cxnSpLocks/>
          </p:cNvCxnSpPr>
          <p:nvPr/>
        </p:nvCxnSpPr>
        <p:spPr>
          <a:xfrm>
            <a:off x="19734570" y="1268996"/>
            <a:ext cx="367513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630CA9EB-78E0-41A1-E875-0E59BDBEFEA3}"/>
              </a:ext>
            </a:extLst>
          </p:cNvPr>
          <p:cNvSpPr txBox="1"/>
          <p:nvPr/>
        </p:nvSpPr>
        <p:spPr>
          <a:xfrm>
            <a:off x="20606057" y="121057"/>
            <a:ext cx="3185487" cy="1200329"/>
          </a:xfrm>
          <a:prstGeom prst="rect">
            <a:avLst/>
          </a:prstGeom>
          <a:noFill/>
        </p:spPr>
        <p:txBody>
          <a:bodyPr wrap="none" rtlCol="0">
            <a:spAutoFit/>
          </a:bodyPr>
          <a:lstStyle/>
          <a:p>
            <a:pPr>
              <a:defRPr/>
            </a:pPr>
            <a:r>
              <a:rPr lang="en-GB" sz="3600" b="1">
                <a:latin typeface="+mj-lt"/>
              </a:rPr>
              <a:t>MIGRATION</a:t>
            </a:r>
          </a:p>
          <a:p>
            <a:pPr>
              <a:defRPr/>
            </a:pPr>
            <a:r>
              <a:rPr lang="en-GB" sz="3600" b="1">
                <a:latin typeface="+mj-lt"/>
              </a:rPr>
              <a:t>COMPLEXITY</a:t>
            </a:r>
          </a:p>
        </p:txBody>
      </p:sp>
      <p:sp>
        <p:nvSpPr>
          <p:cNvPr id="80" name="TextBox 79">
            <a:extLst>
              <a:ext uri="{FF2B5EF4-FFF2-40B4-BE49-F238E27FC236}">
                <a16:creationId xmlns:a16="http://schemas.microsoft.com/office/drawing/2014/main" id="{35F031D1-42F5-8E6C-DF0A-F3631270A907}"/>
              </a:ext>
            </a:extLst>
          </p:cNvPr>
          <p:cNvSpPr txBox="1"/>
          <p:nvPr/>
        </p:nvSpPr>
        <p:spPr>
          <a:xfrm>
            <a:off x="19487068" y="1271654"/>
            <a:ext cx="6492804" cy="3616375"/>
          </a:xfrm>
          <a:prstGeom prst="rect">
            <a:avLst/>
          </a:prstGeom>
          <a:noFill/>
        </p:spPr>
        <p:txBody>
          <a:bodyPr wrap="square" rtlCol="0">
            <a:spAutoFit/>
          </a:bodyPr>
          <a:lstStyle/>
          <a:p>
            <a:pPr>
              <a:spcAft>
                <a:spcPts val="1200"/>
              </a:spcAft>
              <a:defRPr/>
            </a:pPr>
            <a:r>
              <a:rPr lang="en-GB" sz="2800">
                <a:latin typeface="+mj-lt"/>
              </a:rPr>
              <a:t>Basic: </a:t>
            </a:r>
            <a:r>
              <a:rPr lang="en-GB" sz="2800" b="1">
                <a:latin typeface="+mj-lt"/>
              </a:rPr>
              <a:t>						13</a:t>
            </a:r>
          </a:p>
          <a:p>
            <a:pPr>
              <a:spcAft>
                <a:spcPts val="1200"/>
              </a:spcAft>
              <a:defRPr/>
            </a:pPr>
            <a:r>
              <a:rPr lang="en-GB" sz="2800">
                <a:latin typeface="+mj-lt"/>
              </a:rPr>
              <a:t>Standard:</a:t>
            </a:r>
            <a:r>
              <a:rPr lang="en-GB" sz="2800" b="1">
                <a:latin typeface="+mj-lt"/>
              </a:rPr>
              <a:t> 					8</a:t>
            </a:r>
          </a:p>
          <a:p>
            <a:pPr>
              <a:spcAft>
                <a:spcPts val="1200"/>
              </a:spcAft>
              <a:defRPr/>
            </a:pPr>
            <a:r>
              <a:rPr lang="en-GB" sz="2800">
                <a:latin typeface="+mj-lt"/>
              </a:rPr>
              <a:t>Complex:</a:t>
            </a:r>
            <a:r>
              <a:rPr lang="en-GB" sz="2800" b="1">
                <a:latin typeface="+mj-lt"/>
              </a:rPr>
              <a:t> 					2</a:t>
            </a:r>
          </a:p>
          <a:p>
            <a:pPr>
              <a:spcAft>
                <a:spcPts val="1200"/>
              </a:spcAft>
              <a:defRPr/>
            </a:pPr>
            <a:r>
              <a:rPr lang="en-GB" sz="2800">
                <a:latin typeface="+mj-lt"/>
              </a:rPr>
              <a:t>Super Complex:	</a:t>
            </a:r>
            <a:r>
              <a:rPr lang="en-GB" sz="2800" b="1">
                <a:latin typeface="+mj-lt"/>
              </a:rPr>
              <a:t> 		0</a:t>
            </a:r>
          </a:p>
          <a:p>
            <a:pPr>
              <a:defRPr/>
            </a:pPr>
            <a:endParaRPr lang="en-GB" sz="2800">
              <a:latin typeface="+mj-lt"/>
            </a:endParaRPr>
          </a:p>
          <a:p>
            <a:pPr>
              <a:defRPr/>
            </a:pPr>
            <a:r>
              <a:rPr lang="en-GB" sz="2800">
                <a:latin typeface="+mj-lt"/>
              </a:rPr>
              <a:t>Unclassified: 	</a:t>
            </a:r>
            <a:r>
              <a:rPr lang="en-GB" sz="2800" b="1">
                <a:latin typeface="+mj-lt"/>
              </a:rPr>
              <a:t>			6</a:t>
            </a:r>
          </a:p>
          <a:p>
            <a:pPr>
              <a:defRPr/>
            </a:pPr>
            <a:r>
              <a:rPr lang="en-GB" sz="2100" b="1">
                <a:latin typeface="+mj-lt"/>
              </a:rPr>
              <a:t>                                     </a:t>
            </a:r>
            <a:r>
              <a:rPr lang="en-GB" sz="1600" b="1">
                <a:latin typeface="+mj-lt"/>
              </a:rPr>
              <a:t>(Shared Services)</a:t>
            </a:r>
            <a:endParaRPr lang="en-GB" sz="2100">
              <a:latin typeface="+mj-lt"/>
            </a:endParaRPr>
          </a:p>
        </p:txBody>
      </p:sp>
      <p:grpSp>
        <p:nvGrpSpPr>
          <p:cNvPr id="100" name="Group 99">
            <a:extLst>
              <a:ext uri="{FF2B5EF4-FFF2-40B4-BE49-F238E27FC236}">
                <a16:creationId xmlns:a16="http://schemas.microsoft.com/office/drawing/2014/main" id="{297160FC-08BF-778F-F91B-20E82E0774A8}"/>
              </a:ext>
            </a:extLst>
          </p:cNvPr>
          <p:cNvGrpSpPr>
            <a:grpSpLocks noChangeAspect="1"/>
          </p:cNvGrpSpPr>
          <p:nvPr/>
        </p:nvGrpSpPr>
        <p:grpSpPr>
          <a:xfrm>
            <a:off x="14617269" y="1776885"/>
            <a:ext cx="1231094" cy="1231094"/>
            <a:chOff x="9309100" y="3124200"/>
            <a:chExt cx="630238" cy="630238"/>
          </a:xfrm>
        </p:grpSpPr>
        <p:sp>
          <p:nvSpPr>
            <p:cNvPr id="101" name="Freeform 151">
              <a:extLst>
                <a:ext uri="{FF2B5EF4-FFF2-40B4-BE49-F238E27FC236}">
                  <a16:creationId xmlns:a16="http://schemas.microsoft.com/office/drawing/2014/main" id="{5A0E41D7-03B5-73D2-4448-D4AABA7763EF}"/>
                </a:ext>
              </a:extLst>
            </p:cNvPr>
            <p:cNvSpPr>
              <a:spLocks noChangeArrowheads="1"/>
            </p:cNvSpPr>
            <p:nvPr/>
          </p:nvSpPr>
          <p:spPr bwMode="auto">
            <a:xfrm>
              <a:off x="9309100" y="3124200"/>
              <a:ext cx="630238" cy="630238"/>
            </a:xfrm>
            <a:custGeom>
              <a:avLst/>
              <a:gdLst>
                <a:gd name="T0" fmla="*/ 1468 w 1751"/>
                <a:gd name="T1" fmla="*/ 1748 h 1749"/>
                <a:gd name="T2" fmla="*/ 1750 w 1751"/>
                <a:gd name="T3" fmla="*/ 1466 h 1749"/>
                <a:gd name="T4" fmla="*/ 1750 w 1751"/>
                <a:gd name="T5" fmla="*/ 282 h 1749"/>
                <a:gd name="T6" fmla="*/ 1468 w 1751"/>
                <a:gd name="T7" fmla="*/ 0 h 1749"/>
                <a:gd name="T8" fmla="*/ 282 w 1751"/>
                <a:gd name="T9" fmla="*/ 0 h 1749"/>
                <a:gd name="T10" fmla="*/ 0 w 1751"/>
                <a:gd name="T11" fmla="*/ 282 h 1749"/>
                <a:gd name="T12" fmla="*/ 0 w 1751"/>
                <a:gd name="T13" fmla="*/ 1466 h 1749"/>
                <a:gd name="T14" fmla="*/ 282 w 1751"/>
                <a:gd name="T15" fmla="*/ 1748 h 1749"/>
                <a:gd name="T16" fmla="*/ 1468 w 1751"/>
                <a:gd name="T17" fmla="*/ 1748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49">
                  <a:moveTo>
                    <a:pt x="1468" y="1748"/>
                  </a:moveTo>
                  <a:cubicBezTo>
                    <a:pt x="1623" y="1748"/>
                    <a:pt x="1750" y="1621"/>
                    <a:pt x="1750" y="1466"/>
                  </a:cubicBezTo>
                  <a:cubicBezTo>
                    <a:pt x="1750" y="1071"/>
                    <a:pt x="1750" y="677"/>
                    <a:pt x="1750" y="282"/>
                  </a:cubicBezTo>
                  <a:cubicBezTo>
                    <a:pt x="1750" y="127"/>
                    <a:pt x="1623" y="0"/>
                    <a:pt x="1468" y="0"/>
                  </a:cubicBezTo>
                  <a:cubicBezTo>
                    <a:pt x="1073" y="0"/>
                    <a:pt x="677" y="0"/>
                    <a:pt x="282" y="0"/>
                  </a:cubicBezTo>
                  <a:cubicBezTo>
                    <a:pt x="127" y="0"/>
                    <a:pt x="0" y="127"/>
                    <a:pt x="0" y="282"/>
                  </a:cubicBezTo>
                  <a:cubicBezTo>
                    <a:pt x="0" y="677"/>
                    <a:pt x="0" y="1071"/>
                    <a:pt x="0" y="1466"/>
                  </a:cubicBezTo>
                  <a:cubicBezTo>
                    <a:pt x="0" y="1621"/>
                    <a:pt x="127" y="1748"/>
                    <a:pt x="282" y="1748"/>
                  </a:cubicBezTo>
                  <a:cubicBezTo>
                    <a:pt x="677" y="1748"/>
                    <a:pt x="1073" y="1748"/>
                    <a:pt x="1468" y="174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102" name="Group 101">
              <a:extLst>
                <a:ext uri="{FF2B5EF4-FFF2-40B4-BE49-F238E27FC236}">
                  <a16:creationId xmlns:a16="http://schemas.microsoft.com/office/drawing/2014/main" id="{BE21A233-0A81-6FB1-0457-E1F8CBF29D39}"/>
                </a:ext>
              </a:extLst>
            </p:cNvPr>
            <p:cNvGrpSpPr/>
            <p:nvPr/>
          </p:nvGrpSpPr>
          <p:grpSpPr>
            <a:xfrm>
              <a:off x="9382125" y="3295650"/>
              <a:ext cx="485775" cy="285750"/>
              <a:chOff x="9382125" y="3295650"/>
              <a:chExt cx="485775" cy="285750"/>
            </a:xfrm>
          </p:grpSpPr>
          <p:sp>
            <p:nvSpPr>
              <p:cNvPr id="103" name="Freeform 152">
                <a:extLst>
                  <a:ext uri="{FF2B5EF4-FFF2-40B4-BE49-F238E27FC236}">
                    <a16:creationId xmlns:a16="http://schemas.microsoft.com/office/drawing/2014/main" id="{529ACD36-3088-511E-2E39-6E2D7B47BAF1}"/>
                  </a:ext>
                </a:extLst>
              </p:cNvPr>
              <p:cNvSpPr>
                <a:spLocks noChangeArrowheads="1"/>
              </p:cNvSpPr>
              <p:nvPr/>
            </p:nvSpPr>
            <p:spPr bwMode="auto">
              <a:xfrm>
                <a:off x="9721850" y="3297238"/>
                <a:ext cx="7938" cy="1587"/>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4" name="Freeform 153">
                <a:extLst>
                  <a:ext uri="{FF2B5EF4-FFF2-40B4-BE49-F238E27FC236}">
                    <a16:creationId xmlns:a16="http://schemas.microsoft.com/office/drawing/2014/main" id="{0547E31C-C66E-6AD3-D63E-0177EF399029}"/>
                  </a:ext>
                </a:extLst>
              </p:cNvPr>
              <p:cNvSpPr>
                <a:spLocks noChangeArrowheads="1"/>
              </p:cNvSpPr>
              <p:nvPr/>
            </p:nvSpPr>
            <p:spPr bwMode="auto">
              <a:xfrm>
                <a:off x="9721850" y="3579813"/>
                <a:ext cx="7938" cy="1587"/>
              </a:xfrm>
              <a:custGeom>
                <a:avLst/>
                <a:gdLst>
                  <a:gd name="T0" fmla="*/ 21 w 22"/>
                  <a:gd name="T1" fmla="*/ 0 h 1"/>
                  <a:gd name="T2" fmla="*/ 0 w 22"/>
                  <a:gd name="T3" fmla="*/ 0 h 1"/>
                </a:gdLst>
                <a:ahLst/>
                <a:cxnLst>
                  <a:cxn ang="0">
                    <a:pos x="T0" y="T1"/>
                  </a:cxn>
                  <a:cxn ang="0">
                    <a:pos x="T2" y="T3"/>
                  </a:cxn>
                </a:cxnLst>
                <a:rect l="0" t="0" r="r" b="b"/>
                <a:pathLst>
                  <a:path w="22" h="1">
                    <a:moveTo>
                      <a:pt x="21" y="0"/>
                    </a:moveTo>
                    <a:cubicBezTo>
                      <a:pt x="14" y="0"/>
                      <a:pt x="7"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5" name="Freeform 154">
                <a:extLst>
                  <a:ext uri="{FF2B5EF4-FFF2-40B4-BE49-F238E27FC236}">
                    <a16:creationId xmlns:a16="http://schemas.microsoft.com/office/drawing/2014/main" id="{72C7B5BC-826E-6514-E22D-9DF62373AB73}"/>
                  </a:ext>
                </a:extLst>
              </p:cNvPr>
              <p:cNvSpPr>
                <a:spLocks noChangeArrowheads="1"/>
              </p:cNvSpPr>
              <p:nvPr/>
            </p:nvSpPr>
            <p:spPr bwMode="auto">
              <a:xfrm>
                <a:off x="9866313" y="3435350"/>
                <a:ext cx="1587" cy="7938"/>
              </a:xfrm>
              <a:custGeom>
                <a:avLst/>
                <a:gdLst>
                  <a:gd name="T0" fmla="*/ 0 w 1"/>
                  <a:gd name="T1" fmla="*/ 21 h 22"/>
                  <a:gd name="T2" fmla="*/ 0 w 1"/>
                  <a:gd name="T3" fmla="*/ 0 h 22"/>
                </a:gdLst>
                <a:ahLst/>
                <a:cxnLst>
                  <a:cxn ang="0">
                    <a:pos x="T0" y="T1"/>
                  </a:cxn>
                  <a:cxn ang="0">
                    <a:pos x="T2" y="T3"/>
                  </a:cxn>
                </a:cxnLst>
                <a:rect l="0" t="0" r="r" b="b"/>
                <a:pathLst>
                  <a:path w="1" h="22">
                    <a:moveTo>
                      <a:pt x="0" y="21"/>
                    </a:moveTo>
                    <a:cubicBezTo>
                      <a:pt x="0" y="14"/>
                      <a:pt x="0" y="7"/>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6" name="Freeform 155">
                <a:extLst>
                  <a:ext uri="{FF2B5EF4-FFF2-40B4-BE49-F238E27FC236}">
                    <a16:creationId xmlns:a16="http://schemas.microsoft.com/office/drawing/2014/main" id="{07C88DF0-F2FE-8FC3-9BF4-012031462083}"/>
                  </a:ext>
                </a:extLst>
              </p:cNvPr>
              <p:cNvSpPr>
                <a:spLocks noChangeArrowheads="1"/>
              </p:cNvSpPr>
              <p:nvPr/>
            </p:nvSpPr>
            <p:spPr bwMode="auto">
              <a:xfrm>
                <a:off x="9685338" y="3300413"/>
                <a:ext cx="7937" cy="3175"/>
              </a:xfrm>
              <a:custGeom>
                <a:avLst/>
                <a:gdLst>
                  <a:gd name="T0" fmla="*/ 21 w 22"/>
                  <a:gd name="T1" fmla="*/ 0 h 7"/>
                  <a:gd name="T2" fmla="*/ 0 w 22"/>
                  <a:gd name="T3" fmla="*/ 6 h 7"/>
                </a:gdLst>
                <a:ahLst/>
                <a:cxnLst>
                  <a:cxn ang="0">
                    <a:pos x="T0" y="T1"/>
                  </a:cxn>
                  <a:cxn ang="0">
                    <a:pos x="T2" y="T3"/>
                  </a:cxn>
                </a:cxnLst>
                <a:rect l="0" t="0" r="r" b="b"/>
                <a:pathLst>
                  <a:path w="22" h="7">
                    <a:moveTo>
                      <a:pt x="21" y="0"/>
                    </a:moveTo>
                    <a:cubicBezTo>
                      <a:pt x="14" y="2"/>
                      <a:pt x="7" y="4"/>
                      <a:pt x="0" y="6"/>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7" name="Freeform 156">
                <a:extLst>
                  <a:ext uri="{FF2B5EF4-FFF2-40B4-BE49-F238E27FC236}">
                    <a16:creationId xmlns:a16="http://schemas.microsoft.com/office/drawing/2014/main" id="{61E70FC5-3F5C-E0D7-3515-831E60B26E15}"/>
                  </a:ext>
                </a:extLst>
              </p:cNvPr>
              <p:cNvSpPr>
                <a:spLocks noChangeArrowheads="1"/>
              </p:cNvSpPr>
              <p:nvPr/>
            </p:nvSpPr>
            <p:spPr bwMode="auto">
              <a:xfrm>
                <a:off x="9758363" y="3573463"/>
                <a:ext cx="7937" cy="1587"/>
              </a:xfrm>
              <a:custGeom>
                <a:avLst/>
                <a:gdLst>
                  <a:gd name="T0" fmla="*/ 20 w 21"/>
                  <a:gd name="T1" fmla="*/ 0 h 6"/>
                  <a:gd name="T2" fmla="*/ 0 w 21"/>
                  <a:gd name="T3" fmla="*/ 5 h 6"/>
                </a:gdLst>
                <a:ahLst/>
                <a:cxnLst>
                  <a:cxn ang="0">
                    <a:pos x="T0" y="T1"/>
                  </a:cxn>
                  <a:cxn ang="0">
                    <a:pos x="T2" y="T3"/>
                  </a:cxn>
                </a:cxnLst>
                <a:rect l="0" t="0" r="r" b="b"/>
                <a:pathLst>
                  <a:path w="21" h="6">
                    <a:moveTo>
                      <a:pt x="20" y="0"/>
                    </a:moveTo>
                    <a:cubicBezTo>
                      <a:pt x="13" y="2"/>
                      <a:pt x="7" y="4"/>
                      <a:pt x="0" y="5"/>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8" name="Freeform 157">
                <a:extLst>
                  <a:ext uri="{FF2B5EF4-FFF2-40B4-BE49-F238E27FC236}">
                    <a16:creationId xmlns:a16="http://schemas.microsoft.com/office/drawing/2014/main" id="{BA4D32D1-FB81-4A89-5E71-36F8CAFA70B6}"/>
                  </a:ext>
                </a:extLst>
              </p:cNvPr>
              <p:cNvSpPr>
                <a:spLocks noChangeArrowheads="1"/>
              </p:cNvSpPr>
              <p:nvPr/>
            </p:nvSpPr>
            <p:spPr bwMode="auto">
              <a:xfrm>
                <a:off x="9861550" y="3398838"/>
                <a:ext cx="3175" cy="7937"/>
              </a:xfrm>
              <a:custGeom>
                <a:avLst/>
                <a:gdLst>
                  <a:gd name="T0" fmla="*/ 6 w 7"/>
                  <a:gd name="T1" fmla="*/ 20 h 21"/>
                  <a:gd name="T2" fmla="*/ 0 w 7"/>
                  <a:gd name="T3" fmla="*/ 0 h 21"/>
                </a:gdLst>
                <a:ahLst/>
                <a:cxnLst>
                  <a:cxn ang="0">
                    <a:pos x="T0" y="T1"/>
                  </a:cxn>
                  <a:cxn ang="0">
                    <a:pos x="T2" y="T3"/>
                  </a:cxn>
                </a:cxnLst>
                <a:rect l="0" t="0" r="r" b="b"/>
                <a:pathLst>
                  <a:path w="7" h="21">
                    <a:moveTo>
                      <a:pt x="6" y="20"/>
                    </a:moveTo>
                    <a:cubicBezTo>
                      <a:pt x="4" y="13"/>
                      <a:pt x="2" y="6"/>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9" name="Freeform 158">
                <a:extLst>
                  <a:ext uri="{FF2B5EF4-FFF2-40B4-BE49-F238E27FC236}">
                    <a16:creationId xmlns:a16="http://schemas.microsoft.com/office/drawing/2014/main" id="{1CCB02C4-3902-BBBA-C29E-1C8F36DECE3C}"/>
                  </a:ext>
                </a:extLst>
              </p:cNvPr>
              <p:cNvSpPr>
                <a:spLocks noChangeArrowheads="1"/>
              </p:cNvSpPr>
              <p:nvPr/>
            </p:nvSpPr>
            <p:spPr bwMode="auto">
              <a:xfrm>
                <a:off x="9588500" y="3470275"/>
                <a:ext cx="1588" cy="7938"/>
              </a:xfrm>
              <a:custGeom>
                <a:avLst/>
                <a:gdLst>
                  <a:gd name="T0" fmla="*/ 5 w 6"/>
                  <a:gd name="T1" fmla="*/ 21 h 22"/>
                  <a:gd name="T2" fmla="*/ 0 w 6"/>
                  <a:gd name="T3" fmla="*/ 0 h 22"/>
                </a:gdLst>
                <a:ahLst/>
                <a:cxnLst>
                  <a:cxn ang="0">
                    <a:pos x="T0" y="T1"/>
                  </a:cxn>
                  <a:cxn ang="0">
                    <a:pos x="T2" y="T3"/>
                  </a:cxn>
                </a:cxnLst>
                <a:rect l="0" t="0" r="r" b="b"/>
                <a:pathLst>
                  <a:path w="6" h="22">
                    <a:moveTo>
                      <a:pt x="5" y="21"/>
                    </a:moveTo>
                    <a:cubicBezTo>
                      <a:pt x="3" y="14"/>
                      <a:pt x="2" y="7"/>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0" name="Freeform 159">
                <a:extLst>
                  <a:ext uri="{FF2B5EF4-FFF2-40B4-BE49-F238E27FC236}">
                    <a16:creationId xmlns:a16="http://schemas.microsoft.com/office/drawing/2014/main" id="{747E0620-E750-C055-9EFC-CA73ECB12E6A}"/>
                  </a:ext>
                </a:extLst>
              </p:cNvPr>
              <p:cNvSpPr>
                <a:spLocks noChangeArrowheads="1"/>
              </p:cNvSpPr>
              <p:nvPr/>
            </p:nvSpPr>
            <p:spPr bwMode="auto">
              <a:xfrm>
                <a:off x="9652000" y="3314700"/>
                <a:ext cx="6350" cy="4763"/>
              </a:xfrm>
              <a:custGeom>
                <a:avLst/>
                <a:gdLst>
                  <a:gd name="T0" fmla="*/ 18 w 19"/>
                  <a:gd name="T1" fmla="*/ 0 h 12"/>
                  <a:gd name="T2" fmla="*/ 0 w 19"/>
                  <a:gd name="T3" fmla="*/ 11 h 12"/>
                </a:gdLst>
                <a:ahLst/>
                <a:cxnLst>
                  <a:cxn ang="0">
                    <a:pos x="T0" y="T1"/>
                  </a:cxn>
                  <a:cxn ang="0">
                    <a:pos x="T2" y="T3"/>
                  </a:cxn>
                </a:cxnLst>
                <a:rect l="0" t="0" r="r" b="b"/>
                <a:pathLst>
                  <a:path w="19" h="12">
                    <a:moveTo>
                      <a:pt x="18" y="0"/>
                    </a:moveTo>
                    <a:cubicBezTo>
                      <a:pt x="12" y="3"/>
                      <a:pt x="6" y="7"/>
                      <a:pt x="0" y="1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1" name="Freeform 160">
                <a:extLst>
                  <a:ext uri="{FF2B5EF4-FFF2-40B4-BE49-F238E27FC236}">
                    <a16:creationId xmlns:a16="http://schemas.microsoft.com/office/drawing/2014/main" id="{04B9AA9D-244B-B503-0EA3-E98D9C6AD1E4}"/>
                  </a:ext>
                </a:extLst>
              </p:cNvPr>
              <p:cNvSpPr>
                <a:spLocks noChangeArrowheads="1"/>
              </p:cNvSpPr>
              <p:nvPr/>
            </p:nvSpPr>
            <p:spPr bwMode="auto">
              <a:xfrm>
                <a:off x="9793288" y="3557588"/>
                <a:ext cx="6350" cy="4762"/>
              </a:xfrm>
              <a:custGeom>
                <a:avLst/>
                <a:gdLst>
                  <a:gd name="T0" fmla="*/ 18 w 19"/>
                  <a:gd name="T1" fmla="*/ 0 h 12"/>
                  <a:gd name="T2" fmla="*/ 0 w 19"/>
                  <a:gd name="T3" fmla="*/ 11 h 12"/>
                </a:gdLst>
                <a:ahLst/>
                <a:cxnLst>
                  <a:cxn ang="0">
                    <a:pos x="T0" y="T1"/>
                  </a:cxn>
                  <a:cxn ang="0">
                    <a:pos x="T2" y="T3"/>
                  </a:cxn>
                </a:cxnLst>
                <a:rect l="0" t="0" r="r" b="b"/>
                <a:pathLst>
                  <a:path w="19" h="12">
                    <a:moveTo>
                      <a:pt x="18" y="0"/>
                    </a:moveTo>
                    <a:cubicBezTo>
                      <a:pt x="12" y="4"/>
                      <a:pt x="6" y="8"/>
                      <a:pt x="0" y="1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2" name="Freeform 161">
                <a:extLst>
                  <a:ext uri="{FF2B5EF4-FFF2-40B4-BE49-F238E27FC236}">
                    <a16:creationId xmlns:a16="http://schemas.microsoft.com/office/drawing/2014/main" id="{94F3B4C7-FF88-DB1E-BA89-614759C0DDB0}"/>
                  </a:ext>
                </a:extLst>
              </p:cNvPr>
              <p:cNvSpPr>
                <a:spLocks noChangeArrowheads="1"/>
              </p:cNvSpPr>
              <p:nvPr/>
            </p:nvSpPr>
            <p:spPr bwMode="auto">
              <a:xfrm>
                <a:off x="9845675" y="3363913"/>
                <a:ext cx="3175" cy="7937"/>
              </a:xfrm>
              <a:custGeom>
                <a:avLst/>
                <a:gdLst>
                  <a:gd name="T0" fmla="*/ 10 w 11"/>
                  <a:gd name="T1" fmla="*/ 19 h 20"/>
                  <a:gd name="T2" fmla="*/ 0 w 11"/>
                  <a:gd name="T3" fmla="*/ 0 h 20"/>
                </a:gdLst>
                <a:ahLst/>
                <a:cxnLst>
                  <a:cxn ang="0">
                    <a:pos x="T0" y="T1"/>
                  </a:cxn>
                  <a:cxn ang="0">
                    <a:pos x="T2" y="T3"/>
                  </a:cxn>
                </a:cxnLst>
                <a:rect l="0" t="0" r="r" b="b"/>
                <a:pathLst>
                  <a:path w="11" h="20">
                    <a:moveTo>
                      <a:pt x="10" y="19"/>
                    </a:moveTo>
                    <a:cubicBezTo>
                      <a:pt x="7" y="12"/>
                      <a:pt x="3" y="6"/>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3" name="Freeform 162">
                <a:extLst>
                  <a:ext uri="{FF2B5EF4-FFF2-40B4-BE49-F238E27FC236}">
                    <a16:creationId xmlns:a16="http://schemas.microsoft.com/office/drawing/2014/main" id="{A9804E60-0576-4361-EA11-585F5DAEB0A6}"/>
                  </a:ext>
                </a:extLst>
              </p:cNvPr>
              <p:cNvSpPr>
                <a:spLocks noChangeArrowheads="1"/>
              </p:cNvSpPr>
              <p:nvPr/>
            </p:nvSpPr>
            <p:spPr bwMode="auto">
              <a:xfrm>
                <a:off x="9601200" y="3505200"/>
                <a:ext cx="3175" cy="6350"/>
              </a:xfrm>
              <a:custGeom>
                <a:avLst/>
                <a:gdLst>
                  <a:gd name="T0" fmla="*/ 10 w 11"/>
                  <a:gd name="T1" fmla="*/ 18 h 19"/>
                  <a:gd name="T2" fmla="*/ 0 w 11"/>
                  <a:gd name="T3" fmla="*/ 0 h 19"/>
                </a:gdLst>
                <a:ahLst/>
                <a:cxnLst>
                  <a:cxn ang="0">
                    <a:pos x="T0" y="T1"/>
                  </a:cxn>
                  <a:cxn ang="0">
                    <a:pos x="T2" y="T3"/>
                  </a:cxn>
                </a:cxnLst>
                <a:rect l="0" t="0" r="r" b="b"/>
                <a:pathLst>
                  <a:path w="11" h="19">
                    <a:moveTo>
                      <a:pt x="10" y="18"/>
                    </a:moveTo>
                    <a:cubicBezTo>
                      <a:pt x="7" y="12"/>
                      <a:pt x="3" y="6"/>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4" name="Freeform 163">
                <a:extLst>
                  <a:ext uri="{FF2B5EF4-FFF2-40B4-BE49-F238E27FC236}">
                    <a16:creationId xmlns:a16="http://schemas.microsoft.com/office/drawing/2014/main" id="{A475A10E-40DD-A2E6-9EC7-B429AE179CE7}"/>
                  </a:ext>
                </a:extLst>
              </p:cNvPr>
              <p:cNvSpPr>
                <a:spLocks noChangeArrowheads="1"/>
              </p:cNvSpPr>
              <p:nvPr/>
            </p:nvSpPr>
            <p:spPr bwMode="auto">
              <a:xfrm>
                <a:off x="9821863" y="3535363"/>
                <a:ext cx="6350" cy="6350"/>
              </a:xfrm>
              <a:custGeom>
                <a:avLst/>
                <a:gdLst>
                  <a:gd name="T0" fmla="*/ 15 w 16"/>
                  <a:gd name="T1" fmla="*/ 0 h 16"/>
                  <a:gd name="T2" fmla="*/ 0 w 16"/>
                  <a:gd name="T3" fmla="*/ 15 h 16"/>
                </a:gdLst>
                <a:ahLst/>
                <a:cxnLst>
                  <a:cxn ang="0">
                    <a:pos x="T0" y="T1"/>
                  </a:cxn>
                  <a:cxn ang="0">
                    <a:pos x="T2" y="T3"/>
                  </a:cxn>
                </a:cxnLst>
                <a:rect l="0" t="0" r="r" b="b"/>
                <a:pathLst>
                  <a:path w="16" h="16">
                    <a:moveTo>
                      <a:pt x="15" y="0"/>
                    </a:moveTo>
                    <a:cubicBezTo>
                      <a:pt x="10" y="5"/>
                      <a:pt x="5" y="10"/>
                      <a:pt x="0" y="15"/>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5" name="Freeform 164">
                <a:extLst>
                  <a:ext uri="{FF2B5EF4-FFF2-40B4-BE49-F238E27FC236}">
                    <a16:creationId xmlns:a16="http://schemas.microsoft.com/office/drawing/2014/main" id="{11348B51-D661-E26C-9098-D3496D6F6288}"/>
                  </a:ext>
                </a:extLst>
              </p:cNvPr>
              <p:cNvSpPr>
                <a:spLocks noChangeArrowheads="1"/>
              </p:cNvSpPr>
              <p:nvPr/>
            </p:nvSpPr>
            <p:spPr bwMode="auto">
              <a:xfrm>
                <a:off x="9821863" y="3335338"/>
                <a:ext cx="6350" cy="6350"/>
              </a:xfrm>
              <a:custGeom>
                <a:avLst/>
                <a:gdLst>
                  <a:gd name="T0" fmla="*/ 15 w 16"/>
                  <a:gd name="T1" fmla="*/ 15 h 16"/>
                  <a:gd name="T2" fmla="*/ 0 w 16"/>
                  <a:gd name="T3" fmla="*/ 0 h 16"/>
                </a:gdLst>
                <a:ahLst/>
                <a:cxnLst>
                  <a:cxn ang="0">
                    <a:pos x="T0" y="T1"/>
                  </a:cxn>
                  <a:cxn ang="0">
                    <a:pos x="T2" y="T3"/>
                  </a:cxn>
                </a:cxnLst>
                <a:rect l="0" t="0" r="r" b="b"/>
                <a:pathLst>
                  <a:path w="16" h="16">
                    <a:moveTo>
                      <a:pt x="15" y="15"/>
                    </a:moveTo>
                    <a:cubicBezTo>
                      <a:pt x="10" y="10"/>
                      <a:pt x="5" y="5"/>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6" name="Freeform 165">
                <a:extLst>
                  <a:ext uri="{FF2B5EF4-FFF2-40B4-BE49-F238E27FC236}">
                    <a16:creationId xmlns:a16="http://schemas.microsoft.com/office/drawing/2014/main" id="{FB1A6C2D-0C0E-14F3-6931-3314461DADD4}"/>
                  </a:ext>
                </a:extLst>
              </p:cNvPr>
              <p:cNvSpPr>
                <a:spLocks noChangeArrowheads="1"/>
              </p:cNvSpPr>
              <p:nvPr/>
            </p:nvSpPr>
            <p:spPr bwMode="auto">
              <a:xfrm>
                <a:off x="9601200" y="3363913"/>
                <a:ext cx="3175" cy="7937"/>
              </a:xfrm>
              <a:custGeom>
                <a:avLst/>
                <a:gdLst>
                  <a:gd name="T0" fmla="*/ 10 w 11"/>
                  <a:gd name="T1" fmla="*/ 0 h 20"/>
                  <a:gd name="T2" fmla="*/ 0 w 11"/>
                  <a:gd name="T3" fmla="*/ 19 h 20"/>
                </a:gdLst>
                <a:ahLst/>
                <a:cxnLst>
                  <a:cxn ang="0">
                    <a:pos x="T0" y="T1"/>
                  </a:cxn>
                  <a:cxn ang="0">
                    <a:pos x="T2" y="T3"/>
                  </a:cxn>
                </a:cxnLst>
                <a:rect l="0" t="0" r="r" b="b"/>
                <a:pathLst>
                  <a:path w="11" h="20">
                    <a:moveTo>
                      <a:pt x="10" y="0"/>
                    </a:moveTo>
                    <a:cubicBezTo>
                      <a:pt x="7" y="6"/>
                      <a:pt x="3" y="12"/>
                      <a:pt x="0" y="1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7" name="Freeform 166">
                <a:extLst>
                  <a:ext uri="{FF2B5EF4-FFF2-40B4-BE49-F238E27FC236}">
                    <a16:creationId xmlns:a16="http://schemas.microsoft.com/office/drawing/2014/main" id="{77DA4621-FE44-EE58-7ED4-5C6B6477884B}"/>
                  </a:ext>
                </a:extLst>
              </p:cNvPr>
              <p:cNvSpPr>
                <a:spLocks noChangeArrowheads="1"/>
              </p:cNvSpPr>
              <p:nvPr/>
            </p:nvSpPr>
            <p:spPr bwMode="auto">
              <a:xfrm>
                <a:off x="9845675" y="3505200"/>
                <a:ext cx="3175" cy="6350"/>
              </a:xfrm>
              <a:custGeom>
                <a:avLst/>
                <a:gdLst>
                  <a:gd name="T0" fmla="*/ 10 w 11"/>
                  <a:gd name="T1" fmla="*/ 0 h 19"/>
                  <a:gd name="T2" fmla="*/ 0 w 11"/>
                  <a:gd name="T3" fmla="*/ 18 h 19"/>
                </a:gdLst>
                <a:ahLst/>
                <a:cxnLst>
                  <a:cxn ang="0">
                    <a:pos x="T0" y="T1"/>
                  </a:cxn>
                  <a:cxn ang="0">
                    <a:pos x="T2" y="T3"/>
                  </a:cxn>
                </a:cxnLst>
                <a:rect l="0" t="0" r="r" b="b"/>
                <a:pathLst>
                  <a:path w="11" h="19">
                    <a:moveTo>
                      <a:pt x="10" y="0"/>
                    </a:moveTo>
                    <a:cubicBezTo>
                      <a:pt x="7" y="6"/>
                      <a:pt x="3" y="12"/>
                      <a:pt x="0" y="1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8" name="Freeform 167">
                <a:extLst>
                  <a:ext uri="{FF2B5EF4-FFF2-40B4-BE49-F238E27FC236}">
                    <a16:creationId xmlns:a16="http://schemas.microsoft.com/office/drawing/2014/main" id="{A4372687-DC1F-0F45-8EA2-D73E17E3B582}"/>
                  </a:ext>
                </a:extLst>
              </p:cNvPr>
              <p:cNvSpPr>
                <a:spLocks noChangeArrowheads="1"/>
              </p:cNvSpPr>
              <p:nvPr/>
            </p:nvSpPr>
            <p:spPr bwMode="auto">
              <a:xfrm>
                <a:off x="9793288" y="3314700"/>
                <a:ext cx="6350" cy="4763"/>
              </a:xfrm>
              <a:custGeom>
                <a:avLst/>
                <a:gdLst>
                  <a:gd name="T0" fmla="*/ 18 w 19"/>
                  <a:gd name="T1" fmla="*/ 11 h 12"/>
                  <a:gd name="T2" fmla="*/ 0 w 19"/>
                  <a:gd name="T3" fmla="*/ 0 h 12"/>
                </a:gdLst>
                <a:ahLst/>
                <a:cxnLst>
                  <a:cxn ang="0">
                    <a:pos x="T0" y="T1"/>
                  </a:cxn>
                  <a:cxn ang="0">
                    <a:pos x="T2" y="T3"/>
                  </a:cxn>
                </a:cxnLst>
                <a:rect l="0" t="0" r="r" b="b"/>
                <a:pathLst>
                  <a:path w="19" h="12">
                    <a:moveTo>
                      <a:pt x="18" y="11"/>
                    </a:moveTo>
                    <a:cubicBezTo>
                      <a:pt x="12" y="7"/>
                      <a:pt x="6" y="3"/>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9" name="Freeform 168">
                <a:extLst>
                  <a:ext uri="{FF2B5EF4-FFF2-40B4-BE49-F238E27FC236}">
                    <a16:creationId xmlns:a16="http://schemas.microsoft.com/office/drawing/2014/main" id="{18D97C09-8122-2406-A875-8201665FF647}"/>
                  </a:ext>
                </a:extLst>
              </p:cNvPr>
              <p:cNvSpPr>
                <a:spLocks noChangeArrowheads="1"/>
              </p:cNvSpPr>
              <p:nvPr/>
            </p:nvSpPr>
            <p:spPr bwMode="auto">
              <a:xfrm>
                <a:off x="9652000" y="3557588"/>
                <a:ext cx="6350" cy="4762"/>
              </a:xfrm>
              <a:custGeom>
                <a:avLst/>
                <a:gdLst>
                  <a:gd name="T0" fmla="*/ 18 w 19"/>
                  <a:gd name="T1" fmla="*/ 11 h 12"/>
                  <a:gd name="T2" fmla="*/ 0 w 19"/>
                  <a:gd name="T3" fmla="*/ 0 h 12"/>
                </a:gdLst>
                <a:ahLst/>
                <a:cxnLst>
                  <a:cxn ang="0">
                    <a:pos x="T0" y="T1"/>
                  </a:cxn>
                  <a:cxn ang="0">
                    <a:pos x="T2" y="T3"/>
                  </a:cxn>
                </a:cxnLst>
                <a:rect l="0" t="0" r="r" b="b"/>
                <a:pathLst>
                  <a:path w="19" h="12">
                    <a:moveTo>
                      <a:pt x="18" y="11"/>
                    </a:moveTo>
                    <a:cubicBezTo>
                      <a:pt x="12" y="8"/>
                      <a:pt x="6" y="4"/>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20" name="Freeform 169">
                <a:extLst>
                  <a:ext uri="{FF2B5EF4-FFF2-40B4-BE49-F238E27FC236}">
                    <a16:creationId xmlns:a16="http://schemas.microsoft.com/office/drawing/2014/main" id="{B552786D-D509-091A-1E7C-8D6C1D6CAACF}"/>
                  </a:ext>
                </a:extLst>
              </p:cNvPr>
              <p:cNvSpPr>
                <a:spLocks noChangeArrowheads="1"/>
              </p:cNvSpPr>
              <p:nvPr/>
            </p:nvSpPr>
            <p:spPr bwMode="auto">
              <a:xfrm>
                <a:off x="9588500" y="3398838"/>
                <a:ext cx="1588" cy="7937"/>
              </a:xfrm>
              <a:custGeom>
                <a:avLst/>
                <a:gdLst>
                  <a:gd name="T0" fmla="*/ 5 w 6"/>
                  <a:gd name="T1" fmla="*/ 0 h 21"/>
                  <a:gd name="T2" fmla="*/ 0 w 6"/>
                  <a:gd name="T3" fmla="*/ 20 h 21"/>
                </a:gdLst>
                <a:ahLst/>
                <a:cxnLst>
                  <a:cxn ang="0">
                    <a:pos x="T0" y="T1"/>
                  </a:cxn>
                  <a:cxn ang="0">
                    <a:pos x="T2" y="T3"/>
                  </a:cxn>
                </a:cxnLst>
                <a:rect l="0" t="0" r="r" b="b"/>
                <a:pathLst>
                  <a:path w="6" h="21">
                    <a:moveTo>
                      <a:pt x="5" y="0"/>
                    </a:moveTo>
                    <a:cubicBezTo>
                      <a:pt x="3" y="6"/>
                      <a:pt x="2" y="13"/>
                      <a:pt x="0" y="2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21" name="Freeform 170">
                <a:extLst>
                  <a:ext uri="{FF2B5EF4-FFF2-40B4-BE49-F238E27FC236}">
                    <a16:creationId xmlns:a16="http://schemas.microsoft.com/office/drawing/2014/main" id="{1D69E342-10E8-611A-AFB5-38BDDDB284B5}"/>
                  </a:ext>
                </a:extLst>
              </p:cNvPr>
              <p:cNvSpPr>
                <a:spLocks noChangeArrowheads="1"/>
              </p:cNvSpPr>
              <p:nvPr/>
            </p:nvSpPr>
            <p:spPr bwMode="auto">
              <a:xfrm>
                <a:off x="9861550" y="3470275"/>
                <a:ext cx="3175" cy="7938"/>
              </a:xfrm>
              <a:custGeom>
                <a:avLst/>
                <a:gdLst>
                  <a:gd name="T0" fmla="*/ 6 w 7"/>
                  <a:gd name="T1" fmla="*/ 0 h 22"/>
                  <a:gd name="T2" fmla="*/ 0 w 7"/>
                  <a:gd name="T3" fmla="*/ 21 h 22"/>
                </a:gdLst>
                <a:ahLst/>
                <a:cxnLst>
                  <a:cxn ang="0">
                    <a:pos x="T0" y="T1"/>
                  </a:cxn>
                  <a:cxn ang="0">
                    <a:pos x="T2" y="T3"/>
                  </a:cxn>
                </a:cxnLst>
                <a:rect l="0" t="0" r="r" b="b"/>
                <a:pathLst>
                  <a:path w="7" h="22">
                    <a:moveTo>
                      <a:pt x="6" y="0"/>
                    </a:moveTo>
                    <a:cubicBezTo>
                      <a:pt x="4" y="7"/>
                      <a:pt x="2" y="14"/>
                      <a:pt x="0" y="2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22" name="Freeform 171">
                <a:extLst>
                  <a:ext uri="{FF2B5EF4-FFF2-40B4-BE49-F238E27FC236}">
                    <a16:creationId xmlns:a16="http://schemas.microsoft.com/office/drawing/2014/main" id="{2FB6D6F6-A5EC-EA31-6C04-3C5492E5A3E0}"/>
                  </a:ext>
                </a:extLst>
              </p:cNvPr>
              <p:cNvSpPr>
                <a:spLocks noChangeArrowheads="1"/>
              </p:cNvSpPr>
              <p:nvPr/>
            </p:nvSpPr>
            <p:spPr bwMode="auto">
              <a:xfrm>
                <a:off x="9758363" y="3300413"/>
                <a:ext cx="7937" cy="3175"/>
              </a:xfrm>
              <a:custGeom>
                <a:avLst/>
                <a:gdLst>
                  <a:gd name="T0" fmla="*/ 20 w 21"/>
                  <a:gd name="T1" fmla="*/ 6 h 7"/>
                  <a:gd name="T2" fmla="*/ 0 w 21"/>
                  <a:gd name="T3" fmla="*/ 0 h 7"/>
                </a:gdLst>
                <a:ahLst/>
                <a:cxnLst>
                  <a:cxn ang="0">
                    <a:pos x="T0" y="T1"/>
                  </a:cxn>
                  <a:cxn ang="0">
                    <a:pos x="T2" y="T3"/>
                  </a:cxn>
                </a:cxnLst>
                <a:rect l="0" t="0" r="r" b="b"/>
                <a:pathLst>
                  <a:path w="21" h="7">
                    <a:moveTo>
                      <a:pt x="20" y="6"/>
                    </a:moveTo>
                    <a:cubicBezTo>
                      <a:pt x="13" y="4"/>
                      <a:pt x="7" y="2"/>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23" name="Freeform 172">
                <a:extLst>
                  <a:ext uri="{FF2B5EF4-FFF2-40B4-BE49-F238E27FC236}">
                    <a16:creationId xmlns:a16="http://schemas.microsoft.com/office/drawing/2014/main" id="{0D617C59-B90A-046C-0FC2-200FBCD52EFE}"/>
                  </a:ext>
                </a:extLst>
              </p:cNvPr>
              <p:cNvSpPr>
                <a:spLocks noChangeArrowheads="1"/>
              </p:cNvSpPr>
              <p:nvPr/>
            </p:nvSpPr>
            <p:spPr bwMode="auto">
              <a:xfrm>
                <a:off x="9685338" y="3573463"/>
                <a:ext cx="7937" cy="1587"/>
              </a:xfrm>
              <a:custGeom>
                <a:avLst/>
                <a:gdLst>
                  <a:gd name="T0" fmla="*/ 21 w 22"/>
                  <a:gd name="T1" fmla="*/ 5 h 6"/>
                  <a:gd name="T2" fmla="*/ 0 w 22"/>
                  <a:gd name="T3" fmla="*/ 0 h 6"/>
                </a:gdLst>
                <a:ahLst/>
                <a:cxnLst>
                  <a:cxn ang="0">
                    <a:pos x="T0" y="T1"/>
                  </a:cxn>
                  <a:cxn ang="0">
                    <a:pos x="T2" y="T3"/>
                  </a:cxn>
                </a:cxnLst>
                <a:rect l="0" t="0" r="r" b="b"/>
                <a:pathLst>
                  <a:path w="22" h="6">
                    <a:moveTo>
                      <a:pt x="21" y="5"/>
                    </a:moveTo>
                    <a:cubicBezTo>
                      <a:pt x="14" y="4"/>
                      <a:pt x="7" y="2"/>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24" name="Freeform 173">
                <a:extLst>
                  <a:ext uri="{FF2B5EF4-FFF2-40B4-BE49-F238E27FC236}">
                    <a16:creationId xmlns:a16="http://schemas.microsoft.com/office/drawing/2014/main" id="{F8C2A5AF-A936-5A7F-9ED0-BDAEA2A255DB}"/>
                  </a:ext>
                </a:extLst>
              </p:cNvPr>
              <p:cNvSpPr>
                <a:spLocks noChangeArrowheads="1"/>
              </p:cNvSpPr>
              <p:nvPr/>
            </p:nvSpPr>
            <p:spPr bwMode="auto">
              <a:xfrm>
                <a:off x="9525000" y="3438525"/>
                <a:ext cx="239713" cy="1588"/>
              </a:xfrm>
              <a:custGeom>
                <a:avLst/>
                <a:gdLst>
                  <a:gd name="T0" fmla="*/ 664 w 665"/>
                  <a:gd name="T1" fmla="*/ 0 h 1"/>
                  <a:gd name="T2" fmla="*/ 0 w 665"/>
                  <a:gd name="T3" fmla="*/ 0 h 1"/>
                </a:gdLst>
                <a:ahLst/>
                <a:cxnLst>
                  <a:cxn ang="0">
                    <a:pos x="T0" y="T1"/>
                  </a:cxn>
                  <a:cxn ang="0">
                    <a:pos x="T2" y="T3"/>
                  </a:cxn>
                </a:cxnLst>
                <a:rect l="0" t="0" r="r" b="b"/>
                <a:pathLst>
                  <a:path w="665" h="1">
                    <a:moveTo>
                      <a:pt x="664" y="0"/>
                    </a:moveTo>
                    <a:cubicBezTo>
                      <a:pt x="443" y="0"/>
                      <a:pt x="2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25" name="Freeform 174">
                <a:extLst>
                  <a:ext uri="{FF2B5EF4-FFF2-40B4-BE49-F238E27FC236}">
                    <a16:creationId xmlns:a16="http://schemas.microsoft.com/office/drawing/2014/main" id="{F3C844D7-D07E-5A45-4D12-EAE9856921BB}"/>
                  </a:ext>
                </a:extLst>
              </p:cNvPr>
              <p:cNvSpPr>
                <a:spLocks noChangeArrowheads="1"/>
              </p:cNvSpPr>
              <p:nvPr/>
            </p:nvSpPr>
            <p:spPr bwMode="auto">
              <a:xfrm>
                <a:off x="9725025" y="3397250"/>
                <a:ext cx="39688" cy="80963"/>
              </a:xfrm>
              <a:custGeom>
                <a:avLst/>
                <a:gdLst>
                  <a:gd name="T0" fmla="*/ 0 w 112"/>
                  <a:gd name="T1" fmla="*/ 225 h 226"/>
                  <a:gd name="T2" fmla="*/ 108 w 112"/>
                  <a:gd name="T3" fmla="*/ 118 h 226"/>
                  <a:gd name="T4" fmla="*/ 108 w 112"/>
                  <a:gd name="T5" fmla="*/ 108 h 226"/>
                  <a:gd name="T6" fmla="*/ 0 w 112"/>
                  <a:gd name="T7" fmla="*/ 0 h 226"/>
                </a:gdLst>
                <a:ahLst/>
                <a:cxnLst>
                  <a:cxn ang="0">
                    <a:pos x="T0" y="T1"/>
                  </a:cxn>
                  <a:cxn ang="0">
                    <a:pos x="T2" y="T3"/>
                  </a:cxn>
                  <a:cxn ang="0">
                    <a:pos x="T4" y="T5"/>
                  </a:cxn>
                  <a:cxn ang="0">
                    <a:pos x="T6" y="T7"/>
                  </a:cxn>
                </a:cxnLst>
                <a:rect l="0" t="0" r="r" b="b"/>
                <a:pathLst>
                  <a:path w="112" h="226">
                    <a:moveTo>
                      <a:pt x="0" y="225"/>
                    </a:moveTo>
                    <a:cubicBezTo>
                      <a:pt x="36" y="189"/>
                      <a:pt x="72" y="154"/>
                      <a:pt x="108" y="118"/>
                    </a:cubicBezTo>
                    <a:cubicBezTo>
                      <a:pt x="111" y="116"/>
                      <a:pt x="111" y="111"/>
                      <a:pt x="108" y="108"/>
                    </a:cubicBezTo>
                    <a:cubicBezTo>
                      <a:pt x="72" y="72"/>
                      <a:pt x="36" y="36"/>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26" name="Freeform 175">
                <a:extLst>
                  <a:ext uri="{FF2B5EF4-FFF2-40B4-BE49-F238E27FC236}">
                    <a16:creationId xmlns:a16="http://schemas.microsoft.com/office/drawing/2014/main" id="{24D9EEFD-AD83-B3A6-5E31-7769D7DCA2D0}"/>
                  </a:ext>
                </a:extLst>
              </p:cNvPr>
              <p:cNvSpPr>
                <a:spLocks noChangeArrowheads="1"/>
              </p:cNvSpPr>
              <p:nvPr/>
            </p:nvSpPr>
            <p:spPr bwMode="auto">
              <a:xfrm>
                <a:off x="9382125" y="3295650"/>
                <a:ext cx="284163" cy="284163"/>
              </a:xfrm>
              <a:custGeom>
                <a:avLst/>
                <a:gdLst>
                  <a:gd name="T0" fmla="*/ 395 w 791"/>
                  <a:gd name="T1" fmla="*/ 789 h 790"/>
                  <a:gd name="T2" fmla="*/ 0 w 791"/>
                  <a:gd name="T3" fmla="*/ 395 h 790"/>
                  <a:gd name="T4" fmla="*/ 395 w 791"/>
                  <a:gd name="T5" fmla="*/ 0 h 790"/>
                  <a:gd name="T6" fmla="*/ 790 w 791"/>
                  <a:gd name="T7" fmla="*/ 395 h 790"/>
                  <a:gd name="T8" fmla="*/ 395 w 791"/>
                  <a:gd name="T9" fmla="*/ 789 h 790"/>
                </a:gdLst>
                <a:ahLst/>
                <a:cxnLst>
                  <a:cxn ang="0">
                    <a:pos x="T0" y="T1"/>
                  </a:cxn>
                  <a:cxn ang="0">
                    <a:pos x="T2" y="T3"/>
                  </a:cxn>
                  <a:cxn ang="0">
                    <a:pos x="T4" y="T5"/>
                  </a:cxn>
                  <a:cxn ang="0">
                    <a:pos x="T6" y="T7"/>
                  </a:cxn>
                  <a:cxn ang="0">
                    <a:pos x="T8" y="T9"/>
                  </a:cxn>
                </a:cxnLst>
                <a:rect l="0" t="0" r="r" b="b"/>
                <a:pathLst>
                  <a:path w="791" h="790">
                    <a:moveTo>
                      <a:pt x="395" y="789"/>
                    </a:moveTo>
                    <a:cubicBezTo>
                      <a:pt x="177" y="789"/>
                      <a:pt x="0" y="612"/>
                      <a:pt x="0" y="395"/>
                    </a:cubicBezTo>
                    <a:cubicBezTo>
                      <a:pt x="0" y="178"/>
                      <a:pt x="178" y="0"/>
                      <a:pt x="395" y="0"/>
                    </a:cubicBezTo>
                    <a:cubicBezTo>
                      <a:pt x="613" y="0"/>
                      <a:pt x="790" y="178"/>
                      <a:pt x="790" y="395"/>
                    </a:cubicBezTo>
                    <a:cubicBezTo>
                      <a:pt x="790" y="612"/>
                      <a:pt x="612" y="789"/>
                      <a:pt x="395" y="78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grpSp>
      <p:sp>
        <p:nvSpPr>
          <p:cNvPr id="127" name="TextBox 126">
            <a:extLst>
              <a:ext uri="{FF2B5EF4-FFF2-40B4-BE49-F238E27FC236}">
                <a16:creationId xmlns:a16="http://schemas.microsoft.com/office/drawing/2014/main" id="{BCF8345D-14CE-0139-B574-C73F93BBAB79}"/>
              </a:ext>
            </a:extLst>
          </p:cNvPr>
          <p:cNvSpPr txBox="1"/>
          <p:nvPr/>
        </p:nvSpPr>
        <p:spPr>
          <a:xfrm>
            <a:off x="9281224" y="1754933"/>
            <a:ext cx="5419816" cy="954107"/>
          </a:xfrm>
          <a:prstGeom prst="rect">
            <a:avLst/>
          </a:prstGeom>
          <a:noFill/>
        </p:spPr>
        <p:txBody>
          <a:bodyPr wrap="square" rtlCol="0">
            <a:spAutoFit/>
          </a:bodyPr>
          <a:lstStyle/>
          <a:p>
            <a:pPr>
              <a:defRPr/>
            </a:pPr>
            <a:r>
              <a:rPr lang="en-GB" sz="2800">
                <a:latin typeface="+mj-lt"/>
              </a:rPr>
              <a:t>Shared Services &amp; Appliances in scope for Cloud Migration</a:t>
            </a:r>
          </a:p>
        </p:txBody>
      </p:sp>
      <p:cxnSp>
        <p:nvCxnSpPr>
          <p:cNvPr id="128" name="Straight Connector 127">
            <a:extLst>
              <a:ext uri="{FF2B5EF4-FFF2-40B4-BE49-F238E27FC236}">
                <a16:creationId xmlns:a16="http://schemas.microsoft.com/office/drawing/2014/main" id="{FA522B4B-5641-9425-52FF-A97C7A4BA6A1}"/>
              </a:ext>
            </a:extLst>
          </p:cNvPr>
          <p:cNvCxnSpPr>
            <a:cxnSpLocks/>
          </p:cNvCxnSpPr>
          <p:nvPr/>
        </p:nvCxnSpPr>
        <p:spPr>
          <a:xfrm>
            <a:off x="9265920" y="2782976"/>
            <a:ext cx="534254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60CD96C-C876-BED7-C21C-1E5C388728E3}"/>
              </a:ext>
            </a:extLst>
          </p:cNvPr>
          <p:cNvCxnSpPr>
            <a:cxnSpLocks/>
          </p:cNvCxnSpPr>
          <p:nvPr/>
        </p:nvCxnSpPr>
        <p:spPr>
          <a:xfrm>
            <a:off x="15545482" y="1757220"/>
            <a:ext cx="347985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TextBox 129">
            <a:extLst>
              <a:ext uri="{FF2B5EF4-FFF2-40B4-BE49-F238E27FC236}">
                <a16:creationId xmlns:a16="http://schemas.microsoft.com/office/drawing/2014/main" id="{36215DAC-0809-E237-9B6B-AD7DA4168E6B}"/>
              </a:ext>
            </a:extLst>
          </p:cNvPr>
          <p:cNvSpPr txBox="1"/>
          <p:nvPr/>
        </p:nvSpPr>
        <p:spPr>
          <a:xfrm>
            <a:off x="16624749" y="2005591"/>
            <a:ext cx="1042273" cy="830997"/>
          </a:xfrm>
          <a:prstGeom prst="rect">
            <a:avLst/>
          </a:prstGeom>
          <a:noFill/>
        </p:spPr>
        <p:txBody>
          <a:bodyPr wrap="none" rtlCol="0">
            <a:spAutoFit/>
          </a:bodyPr>
          <a:lstStyle/>
          <a:p>
            <a:pPr>
              <a:defRPr/>
            </a:pPr>
            <a:r>
              <a:rPr lang="en-GB" sz="4800">
                <a:latin typeface="+mj-lt"/>
              </a:rPr>
              <a:t> 19</a:t>
            </a:r>
          </a:p>
        </p:txBody>
      </p:sp>
      <p:grpSp>
        <p:nvGrpSpPr>
          <p:cNvPr id="132" name="Group 131">
            <a:extLst>
              <a:ext uri="{FF2B5EF4-FFF2-40B4-BE49-F238E27FC236}">
                <a16:creationId xmlns:a16="http://schemas.microsoft.com/office/drawing/2014/main" id="{FB6F4DE9-FD01-DE6D-9A76-BBF02AB847EF}"/>
              </a:ext>
            </a:extLst>
          </p:cNvPr>
          <p:cNvGrpSpPr>
            <a:grpSpLocks noChangeAspect="1"/>
          </p:cNvGrpSpPr>
          <p:nvPr/>
        </p:nvGrpSpPr>
        <p:grpSpPr>
          <a:xfrm>
            <a:off x="13782568" y="3326078"/>
            <a:ext cx="1229764" cy="1229764"/>
            <a:chOff x="9320213" y="2201863"/>
            <a:chExt cx="630237" cy="630237"/>
          </a:xfrm>
        </p:grpSpPr>
        <p:sp>
          <p:nvSpPr>
            <p:cNvPr id="133" name="Freeform 176">
              <a:extLst>
                <a:ext uri="{FF2B5EF4-FFF2-40B4-BE49-F238E27FC236}">
                  <a16:creationId xmlns:a16="http://schemas.microsoft.com/office/drawing/2014/main" id="{6773DFC0-BD94-3CBD-BA83-75B2FCD0ADAE}"/>
                </a:ext>
              </a:extLst>
            </p:cNvPr>
            <p:cNvSpPr>
              <a:spLocks noChangeArrowheads="1"/>
            </p:cNvSpPr>
            <p:nvPr/>
          </p:nvSpPr>
          <p:spPr bwMode="auto">
            <a:xfrm>
              <a:off x="9320213" y="2201863"/>
              <a:ext cx="630237" cy="630237"/>
            </a:xfrm>
            <a:custGeom>
              <a:avLst/>
              <a:gdLst>
                <a:gd name="T0" fmla="*/ 1468 w 1751"/>
                <a:gd name="T1" fmla="*/ 1749 h 1750"/>
                <a:gd name="T2" fmla="*/ 1750 w 1751"/>
                <a:gd name="T3" fmla="*/ 1467 h 1750"/>
                <a:gd name="T4" fmla="*/ 1750 w 1751"/>
                <a:gd name="T5" fmla="*/ 282 h 1750"/>
                <a:gd name="T6" fmla="*/ 1468 w 1751"/>
                <a:gd name="T7" fmla="*/ 0 h 1750"/>
                <a:gd name="T8" fmla="*/ 283 w 1751"/>
                <a:gd name="T9" fmla="*/ 0 h 1750"/>
                <a:gd name="T10" fmla="*/ 0 w 1751"/>
                <a:gd name="T11" fmla="*/ 282 h 1750"/>
                <a:gd name="T12" fmla="*/ 0 w 1751"/>
                <a:gd name="T13" fmla="*/ 1467 h 1750"/>
                <a:gd name="T14" fmla="*/ 283 w 1751"/>
                <a:gd name="T15" fmla="*/ 1749 h 1750"/>
                <a:gd name="T16" fmla="*/ 1468 w 1751"/>
                <a:gd name="T17" fmla="*/ 1749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0">
                  <a:moveTo>
                    <a:pt x="1468" y="1749"/>
                  </a:moveTo>
                  <a:cubicBezTo>
                    <a:pt x="1623" y="1749"/>
                    <a:pt x="1750" y="1623"/>
                    <a:pt x="1750" y="1467"/>
                  </a:cubicBezTo>
                  <a:cubicBezTo>
                    <a:pt x="1750" y="1072"/>
                    <a:pt x="1750" y="677"/>
                    <a:pt x="1750" y="282"/>
                  </a:cubicBezTo>
                  <a:cubicBezTo>
                    <a:pt x="1750" y="127"/>
                    <a:pt x="1623" y="0"/>
                    <a:pt x="1468" y="0"/>
                  </a:cubicBezTo>
                  <a:cubicBezTo>
                    <a:pt x="1073" y="0"/>
                    <a:pt x="678" y="0"/>
                    <a:pt x="283" y="0"/>
                  </a:cubicBezTo>
                  <a:cubicBezTo>
                    <a:pt x="127" y="0"/>
                    <a:pt x="0" y="127"/>
                    <a:pt x="0" y="282"/>
                  </a:cubicBezTo>
                  <a:cubicBezTo>
                    <a:pt x="0" y="677"/>
                    <a:pt x="0" y="1072"/>
                    <a:pt x="0" y="1467"/>
                  </a:cubicBezTo>
                  <a:cubicBezTo>
                    <a:pt x="0" y="1623"/>
                    <a:pt x="127" y="1749"/>
                    <a:pt x="283" y="1749"/>
                  </a:cubicBezTo>
                  <a:cubicBezTo>
                    <a:pt x="678" y="1749"/>
                    <a:pt x="1073" y="1749"/>
                    <a:pt x="1468" y="174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134" name="Group 133">
              <a:extLst>
                <a:ext uri="{FF2B5EF4-FFF2-40B4-BE49-F238E27FC236}">
                  <a16:creationId xmlns:a16="http://schemas.microsoft.com/office/drawing/2014/main" id="{29229615-8140-3ED9-8BAB-715724CFCEAF}"/>
                </a:ext>
              </a:extLst>
            </p:cNvPr>
            <p:cNvGrpSpPr/>
            <p:nvPr/>
          </p:nvGrpSpPr>
          <p:grpSpPr>
            <a:xfrm>
              <a:off x="9472613" y="2347913"/>
              <a:ext cx="325437" cy="336550"/>
              <a:chOff x="9472613" y="2347913"/>
              <a:chExt cx="325437" cy="336550"/>
            </a:xfrm>
          </p:grpSpPr>
          <p:sp>
            <p:nvSpPr>
              <p:cNvPr id="135" name="Freeform 177">
                <a:extLst>
                  <a:ext uri="{FF2B5EF4-FFF2-40B4-BE49-F238E27FC236}">
                    <a16:creationId xmlns:a16="http://schemas.microsoft.com/office/drawing/2014/main" id="{DC911DA6-EFCE-90F3-EA13-A98D849E4BFA}"/>
                  </a:ext>
                </a:extLst>
              </p:cNvPr>
              <p:cNvSpPr>
                <a:spLocks noChangeArrowheads="1"/>
              </p:cNvSpPr>
              <p:nvPr/>
            </p:nvSpPr>
            <p:spPr bwMode="auto">
              <a:xfrm>
                <a:off x="9621838" y="2638425"/>
                <a:ext cx="74612" cy="1588"/>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36" name="Freeform 178">
                <a:extLst>
                  <a:ext uri="{FF2B5EF4-FFF2-40B4-BE49-F238E27FC236}">
                    <a16:creationId xmlns:a16="http://schemas.microsoft.com/office/drawing/2014/main" id="{A4E7E413-C81F-9A46-16A3-B1E25E445173}"/>
                  </a:ext>
                </a:extLst>
              </p:cNvPr>
              <p:cNvSpPr>
                <a:spLocks noChangeArrowheads="1"/>
              </p:cNvSpPr>
              <p:nvPr/>
            </p:nvSpPr>
            <p:spPr bwMode="auto">
              <a:xfrm>
                <a:off x="9472613" y="2592388"/>
                <a:ext cx="325437" cy="92075"/>
              </a:xfrm>
              <a:custGeom>
                <a:avLst/>
                <a:gdLst>
                  <a:gd name="T0" fmla="*/ 0 w 904"/>
                  <a:gd name="T1" fmla="*/ 198 h 255"/>
                  <a:gd name="T2" fmla="*/ 56 w 904"/>
                  <a:gd name="T3" fmla="*/ 254 h 255"/>
                  <a:gd name="T4" fmla="*/ 846 w 904"/>
                  <a:gd name="T5" fmla="*/ 254 h 255"/>
                  <a:gd name="T6" fmla="*/ 903 w 904"/>
                  <a:gd name="T7" fmla="*/ 198 h 255"/>
                  <a:gd name="T8" fmla="*/ 903 w 904"/>
                  <a:gd name="T9" fmla="*/ 57 h 255"/>
                  <a:gd name="T10" fmla="*/ 846 w 904"/>
                  <a:gd name="T11" fmla="*/ 0 h 255"/>
                  <a:gd name="T12" fmla="*/ 56 w 904"/>
                  <a:gd name="T13" fmla="*/ 0 h 255"/>
                  <a:gd name="T14" fmla="*/ 0 w 904"/>
                  <a:gd name="T15" fmla="*/ 57 h 255"/>
                  <a:gd name="T16" fmla="*/ 0 w 904"/>
                  <a:gd name="T17" fmla="*/ 19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8"/>
                    </a:moveTo>
                    <a:cubicBezTo>
                      <a:pt x="0" y="229"/>
                      <a:pt x="25" y="254"/>
                      <a:pt x="56" y="254"/>
                    </a:cubicBezTo>
                    <a:cubicBezTo>
                      <a:pt x="319" y="254"/>
                      <a:pt x="583" y="254"/>
                      <a:pt x="846" y="254"/>
                    </a:cubicBezTo>
                    <a:cubicBezTo>
                      <a:pt x="878" y="254"/>
                      <a:pt x="903" y="229"/>
                      <a:pt x="903" y="198"/>
                    </a:cubicBezTo>
                    <a:cubicBezTo>
                      <a:pt x="903" y="151"/>
                      <a:pt x="903" y="104"/>
                      <a:pt x="903" y="57"/>
                    </a:cubicBezTo>
                    <a:cubicBezTo>
                      <a:pt x="903" y="26"/>
                      <a:pt x="878" y="0"/>
                      <a:pt x="846" y="0"/>
                    </a:cubicBezTo>
                    <a:cubicBezTo>
                      <a:pt x="583" y="0"/>
                      <a:pt x="319" y="0"/>
                      <a:pt x="56" y="0"/>
                    </a:cubicBezTo>
                    <a:cubicBezTo>
                      <a:pt x="25" y="0"/>
                      <a:pt x="0" y="26"/>
                      <a:pt x="0" y="57"/>
                    </a:cubicBezTo>
                    <a:cubicBezTo>
                      <a:pt x="0" y="104"/>
                      <a:pt x="0" y="151"/>
                      <a:pt x="0" y="19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37" name="Freeform 179">
                <a:extLst>
                  <a:ext uri="{FF2B5EF4-FFF2-40B4-BE49-F238E27FC236}">
                    <a16:creationId xmlns:a16="http://schemas.microsoft.com/office/drawing/2014/main" id="{6B92E631-DB04-EDB6-E03E-2F41E0241A05}"/>
                  </a:ext>
                </a:extLst>
              </p:cNvPr>
              <p:cNvSpPr>
                <a:spLocks noChangeArrowheads="1"/>
              </p:cNvSpPr>
              <p:nvPr/>
            </p:nvSpPr>
            <p:spPr bwMode="auto">
              <a:xfrm>
                <a:off x="9621838" y="2516188"/>
                <a:ext cx="74612" cy="1587"/>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38" name="Freeform 180">
                <a:extLst>
                  <a:ext uri="{FF2B5EF4-FFF2-40B4-BE49-F238E27FC236}">
                    <a16:creationId xmlns:a16="http://schemas.microsoft.com/office/drawing/2014/main" id="{87920E30-AD02-7E3D-69D4-94A768A23D10}"/>
                  </a:ext>
                </a:extLst>
              </p:cNvPr>
              <p:cNvSpPr>
                <a:spLocks noChangeArrowheads="1"/>
              </p:cNvSpPr>
              <p:nvPr/>
            </p:nvSpPr>
            <p:spPr bwMode="auto">
              <a:xfrm>
                <a:off x="9472613" y="2470150"/>
                <a:ext cx="325437" cy="92075"/>
              </a:xfrm>
              <a:custGeom>
                <a:avLst/>
                <a:gdLst>
                  <a:gd name="T0" fmla="*/ 0 w 904"/>
                  <a:gd name="T1" fmla="*/ 197 h 255"/>
                  <a:gd name="T2" fmla="*/ 56 w 904"/>
                  <a:gd name="T3" fmla="*/ 254 h 255"/>
                  <a:gd name="T4" fmla="*/ 846 w 904"/>
                  <a:gd name="T5" fmla="*/ 254 h 255"/>
                  <a:gd name="T6" fmla="*/ 903 w 904"/>
                  <a:gd name="T7" fmla="*/ 197 h 255"/>
                  <a:gd name="T8" fmla="*/ 903 w 904"/>
                  <a:gd name="T9" fmla="*/ 56 h 255"/>
                  <a:gd name="T10" fmla="*/ 846 w 904"/>
                  <a:gd name="T11" fmla="*/ 0 h 255"/>
                  <a:gd name="T12" fmla="*/ 56 w 904"/>
                  <a:gd name="T13" fmla="*/ 0 h 255"/>
                  <a:gd name="T14" fmla="*/ 0 w 904"/>
                  <a:gd name="T15" fmla="*/ 56 h 255"/>
                  <a:gd name="T16" fmla="*/ 0 w 904"/>
                  <a:gd name="T17" fmla="*/ 19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7"/>
                    </a:moveTo>
                    <a:cubicBezTo>
                      <a:pt x="0" y="228"/>
                      <a:pt x="25" y="254"/>
                      <a:pt x="56" y="254"/>
                    </a:cubicBezTo>
                    <a:cubicBezTo>
                      <a:pt x="319" y="254"/>
                      <a:pt x="583" y="254"/>
                      <a:pt x="846" y="254"/>
                    </a:cubicBezTo>
                    <a:cubicBezTo>
                      <a:pt x="878" y="254"/>
                      <a:pt x="903" y="228"/>
                      <a:pt x="903" y="197"/>
                    </a:cubicBezTo>
                    <a:cubicBezTo>
                      <a:pt x="903" y="150"/>
                      <a:pt x="903" y="103"/>
                      <a:pt x="903" y="56"/>
                    </a:cubicBezTo>
                    <a:cubicBezTo>
                      <a:pt x="903" y="25"/>
                      <a:pt x="878" y="0"/>
                      <a:pt x="846" y="0"/>
                    </a:cubicBezTo>
                    <a:cubicBezTo>
                      <a:pt x="583" y="0"/>
                      <a:pt x="319" y="0"/>
                      <a:pt x="56" y="0"/>
                    </a:cubicBezTo>
                    <a:cubicBezTo>
                      <a:pt x="25" y="0"/>
                      <a:pt x="0" y="25"/>
                      <a:pt x="0" y="56"/>
                    </a:cubicBezTo>
                    <a:cubicBezTo>
                      <a:pt x="0" y="103"/>
                      <a:pt x="0" y="150"/>
                      <a:pt x="0" y="19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39" name="Freeform 181">
                <a:extLst>
                  <a:ext uri="{FF2B5EF4-FFF2-40B4-BE49-F238E27FC236}">
                    <a16:creationId xmlns:a16="http://schemas.microsoft.com/office/drawing/2014/main" id="{DED2A881-9795-2058-CED3-693931C15D68}"/>
                  </a:ext>
                </a:extLst>
              </p:cNvPr>
              <p:cNvSpPr>
                <a:spLocks noChangeArrowheads="1"/>
              </p:cNvSpPr>
              <p:nvPr/>
            </p:nvSpPr>
            <p:spPr bwMode="auto">
              <a:xfrm>
                <a:off x="9621838" y="2393950"/>
                <a:ext cx="74612" cy="1588"/>
              </a:xfrm>
              <a:custGeom>
                <a:avLst/>
                <a:gdLst>
                  <a:gd name="T0" fmla="*/ 205 w 206"/>
                  <a:gd name="T1" fmla="*/ 0 h 1"/>
                  <a:gd name="T2" fmla="*/ 0 w 206"/>
                  <a:gd name="T3" fmla="*/ 0 h 1"/>
                </a:gdLst>
                <a:ahLst/>
                <a:cxnLst>
                  <a:cxn ang="0">
                    <a:pos x="T0" y="T1"/>
                  </a:cxn>
                  <a:cxn ang="0">
                    <a:pos x="T2" y="T3"/>
                  </a:cxn>
                </a:cxnLst>
                <a:rect l="0" t="0" r="r" b="b"/>
                <a:pathLst>
                  <a:path w="206" h="1">
                    <a:moveTo>
                      <a:pt x="205" y="0"/>
                    </a:moveTo>
                    <a:cubicBezTo>
                      <a:pt x="137"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40" name="Freeform 182">
                <a:extLst>
                  <a:ext uri="{FF2B5EF4-FFF2-40B4-BE49-F238E27FC236}">
                    <a16:creationId xmlns:a16="http://schemas.microsoft.com/office/drawing/2014/main" id="{4F070356-5860-3FF9-D883-F2A290EDDFDB}"/>
                  </a:ext>
                </a:extLst>
              </p:cNvPr>
              <p:cNvSpPr>
                <a:spLocks noChangeArrowheads="1"/>
              </p:cNvSpPr>
              <p:nvPr/>
            </p:nvSpPr>
            <p:spPr bwMode="auto">
              <a:xfrm>
                <a:off x="9734550" y="2393950"/>
                <a:ext cx="23813" cy="1588"/>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41" name="Freeform 183">
                <a:extLst>
                  <a:ext uri="{FF2B5EF4-FFF2-40B4-BE49-F238E27FC236}">
                    <a16:creationId xmlns:a16="http://schemas.microsoft.com/office/drawing/2014/main" id="{38086F56-6B8D-C376-B16A-24B9BA619757}"/>
                  </a:ext>
                </a:extLst>
              </p:cNvPr>
              <p:cNvSpPr>
                <a:spLocks noChangeArrowheads="1"/>
              </p:cNvSpPr>
              <p:nvPr/>
            </p:nvSpPr>
            <p:spPr bwMode="auto">
              <a:xfrm>
                <a:off x="9734550" y="2516188"/>
                <a:ext cx="23813" cy="1587"/>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42" name="Freeform 184">
                <a:extLst>
                  <a:ext uri="{FF2B5EF4-FFF2-40B4-BE49-F238E27FC236}">
                    <a16:creationId xmlns:a16="http://schemas.microsoft.com/office/drawing/2014/main" id="{719C53F3-E006-F163-BFB9-9FB7950BB4E6}"/>
                  </a:ext>
                </a:extLst>
              </p:cNvPr>
              <p:cNvSpPr>
                <a:spLocks noChangeArrowheads="1"/>
              </p:cNvSpPr>
              <p:nvPr/>
            </p:nvSpPr>
            <p:spPr bwMode="auto">
              <a:xfrm>
                <a:off x="9734550" y="2638425"/>
                <a:ext cx="23813" cy="1588"/>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43" name="Freeform 185">
                <a:extLst>
                  <a:ext uri="{FF2B5EF4-FFF2-40B4-BE49-F238E27FC236}">
                    <a16:creationId xmlns:a16="http://schemas.microsoft.com/office/drawing/2014/main" id="{18FB30BE-D1E6-11F7-4698-B76BB54AFF28}"/>
                  </a:ext>
                </a:extLst>
              </p:cNvPr>
              <p:cNvSpPr>
                <a:spLocks noChangeArrowheads="1"/>
              </p:cNvSpPr>
              <p:nvPr/>
            </p:nvSpPr>
            <p:spPr bwMode="auto">
              <a:xfrm>
                <a:off x="9472613" y="2347913"/>
                <a:ext cx="325437" cy="92075"/>
              </a:xfrm>
              <a:custGeom>
                <a:avLst/>
                <a:gdLst>
                  <a:gd name="T0" fmla="*/ 0 w 904"/>
                  <a:gd name="T1" fmla="*/ 198 h 255"/>
                  <a:gd name="T2" fmla="*/ 56 w 904"/>
                  <a:gd name="T3" fmla="*/ 254 h 255"/>
                  <a:gd name="T4" fmla="*/ 846 w 904"/>
                  <a:gd name="T5" fmla="*/ 254 h 255"/>
                  <a:gd name="T6" fmla="*/ 903 w 904"/>
                  <a:gd name="T7" fmla="*/ 198 h 255"/>
                  <a:gd name="T8" fmla="*/ 903 w 904"/>
                  <a:gd name="T9" fmla="*/ 56 h 255"/>
                  <a:gd name="T10" fmla="*/ 846 w 904"/>
                  <a:gd name="T11" fmla="*/ 0 h 255"/>
                  <a:gd name="T12" fmla="*/ 56 w 904"/>
                  <a:gd name="T13" fmla="*/ 0 h 255"/>
                  <a:gd name="T14" fmla="*/ 0 w 904"/>
                  <a:gd name="T15" fmla="*/ 56 h 255"/>
                  <a:gd name="T16" fmla="*/ 0 w 904"/>
                  <a:gd name="T17" fmla="*/ 19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4" h="255">
                    <a:moveTo>
                      <a:pt x="0" y="198"/>
                    </a:moveTo>
                    <a:cubicBezTo>
                      <a:pt x="0" y="229"/>
                      <a:pt x="25" y="254"/>
                      <a:pt x="56" y="254"/>
                    </a:cubicBezTo>
                    <a:cubicBezTo>
                      <a:pt x="319" y="254"/>
                      <a:pt x="583" y="254"/>
                      <a:pt x="846" y="254"/>
                    </a:cubicBezTo>
                    <a:cubicBezTo>
                      <a:pt x="878" y="254"/>
                      <a:pt x="903" y="229"/>
                      <a:pt x="903" y="198"/>
                    </a:cubicBezTo>
                    <a:cubicBezTo>
                      <a:pt x="903" y="150"/>
                      <a:pt x="903" y="103"/>
                      <a:pt x="903" y="56"/>
                    </a:cubicBezTo>
                    <a:cubicBezTo>
                      <a:pt x="903" y="25"/>
                      <a:pt x="878" y="0"/>
                      <a:pt x="846" y="0"/>
                    </a:cubicBezTo>
                    <a:cubicBezTo>
                      <a:pt x="583" y="0"/>
                      <a:pt x="319" y="0"/>
                      <a:pt x="56" y="0"/>
                    </a:cubicBezTo>
                    <a:cubicBezTo>
                      <a:pt x="25" y="0"/>
                      <a:pt x="0" y="25"/>
                      <a:pt x="0" y="56"/>
                    </a:cubicBezTo>
                    <a:cubicBezTo>
                      <a:pt x="0" y="103"/>
                      <a:pt x="0" y="150"/>
                      <a:pt x="0" y="19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grpSp>
      <p:sp>
        <p:nvSpPr>
          <p:cNvPr id="144" name="TextBox 143">
            <a:extLst>
              <a:ext uri="{FF2B5EF4-FFF2-40B4-BE49-F238E27FC236}">
                <a16:creationId xmlns:a16="http://schemas.microsoft.com/office/drawing/2014/main" id="{CB4BCCF3-FE40-5007-8D7E-6AFA18B40C38}"/>
              </a:ext>
            </a:extLst>
          </p:cNvPr>
          <p:cNvSpPr txBox="1"/>
          <p:nvPr/>
        </p:nvSpPr>
        <p:spPr>
          <a:xfrm>
            <a:off x="9328234" y="3481292"/>
            <a:ext cx="3959738" cy="523220"/>
          </a:xfrm>
          <a:prstGeom prst="rect">
            <a:avLst/>
          </a:prstGeom>
          <a:noFill/>
        </p:spPr>
        <p:txBody>
          <a:bodyPr wrap="none" rtlCol="0">
            <a:spAutoFit/>
          </a:bodyPr>
          <a:lstStyle/>
          <a:p>
            <a:pPr>
              <a:defRPr/>
            </a:pPr>
            <a:r>
              <a:rPr lang="en-GB" sz="2800">
                <a:latin typeface="+mj-lt"/>
              </a:rPr>
              <a:t>Data Centre Exit Dates </a:t>
            </a:r>
          </a:p>
        </p:txBody>
      </p:sp>
      <p:cxnSp>
        <p:nvCxnSpPr>
          <p:cNvPr id="145" name="Straight Connector 144">
            <a:extLst>
              <a:ext uri="{FF2B5EF4-FFF2-40B4-BE49-F238E27FC236}">
                <a16:creationId xmlns:a16="http://schemas.microsoft.com/office/drawing/2014/main" id="{FBF9423C-8D23-8BC1-8060-2B6118ADFF11}"/>
              </a:ext>
            </a:extLst>
          </p:cNvPr>
          <p:cNvCxnSpPr>
            <a:cxnSpLocks/>
          </p:cNvCxnSpPr>
          <p:nvPr/>
        </p:nvCxnSpPr>
        <p:spPr>
          <a:xfrm>
            <a:off x="14752440" y="3307186"/>
            <a:ext cx="346226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591A4865-5488-6914-8A66-E4A12CB91141}"/>
              </a:ext>
            </a:extLst>
          </p:cNvPr>
          <p:cNvCxnSpPr/>
          <p:nvPr/>
        </p:nvCxnSpPr>
        <p:spPr>
          <a:xfrm>
            <a:off x="9248503" y="4224694"/>
            <a:ext cx="453273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03CE4136-072F-AB5D-16CF-ABC1B4094A86}"/>
              </a:ext>
            </a:extLst>
          </p:cNvPr>
          <p:cNvSpPr txBox="1"/>
          <p:nvPr/>
        </p:nvSpPr>
        <p:spPr>
          <a:xfrm>
            <a:off x="15370652" y="3547662"/>
            <a:ext cx="3374642" cy="1077218"/>
          </a:xfrm>
          <a:prstGeom prst="rect">
            <a:avLst/>
          </a:prstGeom>
          <a:noFill/>
        </p:spPr>
        <p:txBody>
          <a:bodyPr wrap="none" rtlCol="0">
            <a:spAutoFit/>
          </a:bodyPr>
          <a:lstStyle/>
          <a:p>
            <a:pPr>
              <a:defRPr/>
            </a:pPr>
            <a:r>
              <a:rPr lang="en-GB" sz="3200">
                <a:latin typeface="+mj-lt"/>
              </a:rPr>
              <a:t>DDC – May 2025</a:t>
            </a:r>
            <a:br>
              <a:rPr lang="en-GB" sz="3200">
                <a:latin typeface="+mj-lt"/>
              </a:rPr>
            </a:br>
            <a:r>
              <a:rPr lang="en-GB" sz="3200">
                <a:latin typeface="+mj-lt"/>
              </a:rPr>
              <a:t>LEPC – Oct 2025</a:t>
            </a:r>
          </a:p>
        </p:txBody>
      </p:sp>
      <p:sp>
        <p:nvSpPr>
          <p:cNvPr id="99" name="TextBox 98">
            <a:extLst>
              <a:ext uri="{FF2B5EF4-FFF2-40B4-BE49-F238E27FC236}">
                <a16:creationId xmlns:a16="http://schemas.microsoft.com/office/drawing/2014/main" id="{41B978CC-D74F-6A25-7406-684D329DB726}"/>
              </a:ext>
            </a:extLst>
          </p:cNvPr>
          <p:cNvSpPr txBox="1"/>
          <p:nvPr/>
        </p:nvSpPr>
        <p:spPr>
          <a:xfrm>
            <a:off x="3090672" y="12298736"/>
            <a:ext cx="8992916" cy="769441"/>
          </a:xfrm>
          <a:prstGeom prst="rect">
            <a:avLst/>
          </a:prstGeom>
          <a:noFill/>
        </p:spPr>
        <p:txBody>
          <a:bodyPr wrap="square" rtlCol="0">
            <a:spAutoFit/>
          </a:bodyPr>
          <a:lstStyle/>
          <a:p>
            <a:pPr algn="l"/>
            <a:r>
              <a:rPr lang="en-GB" sz="2200">
                <a:latin typeface="+mj-lt"/>
              </a:rPr>
              <a:t>*If </a:t>
            </a:r>
            <a:r>
              <a:rPr lang="en-GB" sz="2200" err="1">
                <a:latin typeface="+mj-lt"/>
              </a:rPr>
              <a:t>GoSupply</a:t>
            </a:r>
            <a:r>
              <a:rPr lang="en-GB" sz="2200">
                <a:latin typeface="+mj-lt"/>
              </a:rPr>
              <a:t> Migrates to AWS.</a:t>
            </a:r>
          </a:p>
          <a:p>
            <a:pPr algn="l"/>
            <a:r>
              <a:rPr lang="en-GB" sz="2200">
                <a:latin typeface="+mj-lt"/>
              </a:rPr>
              <a:t> In the case of </a:t>
            </a:r>
            <a:r>
              <a:rPr lang="en-GB" sz="2200" err="1">
                <a:latin typeface="+mj-lt"/>
              </a:rPr>
              <a:t>GoSupply</a:t>
            </a:r>
            <a:r>
              <a:rPr lang="en-GB" sz="2200">
                <a:latin typeface="+mj-lt"/>
              </a:rPr>
              <a:t> staying in Azure no R–treatment is required.</a:t>
            </a:r>
          </a:p>
        </p:txBody>
      </p:sp>
    </p:spTree>
    <p:extLst>
      <p:ext uri="{BB962C8B-B14F-4D97-AF65-F5344CB8AC3E}">
        <p14:creationId xmlns:p14="http://schemas.microsoft.com/office/powerpoint/2010/main" val="7826773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 name="Rectangle 161">
            <a:extLst>
              <a:ext uri="{FF2B5EF4-FFF2-40B4-BE49-F238E27FC236}">
                <a16:creationId xmlns:a16="http://schemas.microsoft.com/office/drawing/2014/main" id="{5ADF4990-2575-F9C4-5872-230A057D573C}"/>
              </a:ext>
            </a:extLst>
          </p:cNvPr>
          <p:cNvSpPr/>
          <p:nvPr/>
        </p:nvSpPr>
        <p:spPr>
          <a:xfrm>
            <a:off x="-17755" y="-31858"/>
            <a:ext cx="19591922" cy="230088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latin typeface="+mj-lt"/>
            </a:endParaRPr>
          </a:p>
        </p:txBody>
      </p:sp>
      <p:sp>
        <p:nvSpPr>
          <p:cNvPr id="3" name="Slide Number Placeholder 2">
            <a:extLst>
              <a:ext uri="{FF2B5EF4-FFF2-40B4-BE49-F238E27FC236}">
                <a16:creationId xmlns:a16="http://schemas.microsoft.com/office/drawing/2014/main" id="{3C722CE3-4AFF-CB6D-47B9-8734C3E8E211}"/>
              </a:ext>
            </a:extLst>
          </p:cNvPr>
          <p:cNvSpPr>
            <a:spLocks noGrp="1"/>
          </p:cNvSpPr>
          <p:nvPr>
            <p:ph type="sldNum" sz="quarter" idx="4"/>
          </p:nvPr>
        </p:nvSpPr>
        <p:spPr/>
        <p:txBody>
          <a:bodyPr/>
          <a:lstStyle/>
          <a:p>
            <a:pPr>
              <a:defRPr/>
            </a:pPr>
            <a:fld id="{762E77F0-FB5B-4E8E-9BC9-34F14560A017}" type="slidenum">
              <a:rPr lang="en-US">
                <a:latin typeface="+mj-lt"/>
              </a:rPr>
              <a:pPr>
                <a:defRPr/>
              </a:pPr>
              <a:t>65</a:t>
            </a:fld>
            <a:endParaRPr lang="en-US">
              <a:latin typeface="+mj-lt"/>
            </a:endParaRPr>
          </a:p>
        </p:txBody>
      </p:sp>
      <p:sp>
        <p:nvSpPr>
          <p:cNvPr id="5" name="Slide Number Placeholder 2">
            <a:extLst>
              <a:ext uri="{FF2B5EF4-FFF2-40B4-BE49-F238E27FC236}">
                <a16:creationId xmlns:a16="http://schemas.microsoft.com/office/drawing/2014/main" id="{5804B1F7-6F91-E9DE-3B67-85453FA2534E}"/>
              </a:ext>
            </a:extLst>
          </p:cNvPr>
          <p:cNvSpPr txBox="1">
            <a:spLocks/>
          </p:cNvSpPr>
          <p:nvPr/>
        </p:nvSpPr>
        <p:spPr>
          <a:xfrm>
            <a:off x="22402802" y="13271500"/>
            <a:ext cx="1234804" cy="215444"/>
          </a:xfrm>
          <a:prstGeom prst="rect">
            <a:avLst/>
          </a:prstGeom>
        </p:spPr>
        <p:txBody>
          <a:bodyPr vert="horz" lIns="0" tIns="0" rIns="0" bIns="0" rtlCol="0" anchor="t" anchorCtr="0">
            <a:spAutoFit/>
          </a:bodyPr>
          <a:lstStyle>
            <a:defPPr>
              <a:defRPr lang="en-US"/>
            </a:defPPr>
            <a:lvl1pPr marL="0" algn="r" defTabSz="228600" rtl="0" eaLnBrk="1" latinLnBrk="0" hangingPunct="1">
              <a:defRPr sz="700" kern="1200">
                <a:solidFill>
                  <a:schemeClr val="bg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defTabSz="457200">
              <a:defRPr/>
            </a:pPr>
            <a:fld id="{762E77F0-FB5B-4E8E-9BC9-34F14560A017}" type="slidenum">
              <a:rPr lang="en-US" sz="1400">
                <a:solidFill>
                  <a:schemeClr val="tx1"/>
                </a:solidFill>
                <a:latin typeface="+mj-lt"/>
              </a:rPr>
              <a:pPr defTabSz="457200">
                <a:defRPr/>
              </a:pPr>
              <a:t>65</a:t>
            </a:fld>
            <a:endParaRPr lang="en-US" sz="1400">
              <a:solidFill>
                <a:schemeClr val="tx1"/>
              </a:solidFill>
              <a:latin typeface="+mj-lt"/>
            </a:endParaRPr>
          </a:p>
        </p:txBody>
      </p:sp>
      <p:sp>
        <p:nvSpPr>
          <p:cNvPr id="6" name="TextBox 5">
            <a:extLst>
              <a:ext uri="{FF2B5EF4-FFF2-40B4-BE49-F238E27FC236}">
                <a16:creationId xmlns:a16="http://schemas.microsoft.com/office/drawing/2014/main" id="{12756BA4-4703-6D70-CB7A-9A0DF51E2357}"/>
              </a:ext>
            </a:extLst>
          </p:cNvPr>
          <p:cNvSpPr txBox="1"/>
          <p:nvPr/>
        </p:nvSpPr>
        <p:spPr>
          <a:xfrm>
            <a:off x="342901" y="657221"/>
            <a:ext cx="3126177" cy="830997"/>
          </a:xfrm>
          <a:prstGeom prst="rect">
            <a:avLst/>
          </a:prstGeom>
          <a:noFill/>
        </p:spPr>
        <p:txBody>
          <a:bodyPr wrap="none" rtlCol="0">
            <a:spAutoFit/>
          </a:bodyPr>
          <a:lstStyle/>
          <a:p>
            <a:pPr>
              <a:defRPr/>
            </a:pPr>
            <a:r>
              <a:rPr lang="en-GB" sz="4800" err="1">
                <a:solidFill>
                  <a:schemeClr val="bg1"/>
                </a:solidFill>
                <a:latin typeface="+mj-lt"/>
              </a:rPr>
              <a:t>MyAchilles</a:t>
            </a:r>
            <a:endParaRPr lang="en-GB" sz="4800">
              <a:solidFill>
                <a:schemeClr val="bg1"/>
              </a:solidFill>
              <a:latin typeface="+mj-lt"/>
            </a:endParaRPr>
          </a:p>
        </p:txBody>
      </p:sp>
      <p:cxnSp>
        <p:nvCxnSpPr>
          <p:cNvPr id="7" name="Straight Connector 6">
            <a:extLst>
              <a:ext uri="{FF2B5EF4-FFF2-40B4-BE49-F238E27FC236}">
                <a16:creationId xmlns:a16="http://schemas.microsoft.com/office/drawing/2014/main" id="{14C46A9E-27F8-9A85-1395-8F27257DAD90}"/>
              </a:ext>
            </a:extLst>
          </p:cNvPr>
          <p:cNvCxnSpPr>
            <a:cxnSpLocks/>
          </p:cNvCxnSpPr>
          <p:nvPr/>
        </p:nvCxnSpPr>
        <p:spPr>
          <a:xfrm>
            <a:off x="-17756" y="1600286"/>
            <a:ext cx="387301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A842D108-CA2D-91AD-5217-B2D8FE6A1A33}"/>
              </a:ext>
            </a:extLst>
          </p:cNvPr>
          <p:cNvSpPr/>
          <p:nvPr/>
        </p:nvSpPr>
        <p:spPr>
          <a:xfrm>
            <a:off x="18858269" y="-68209"/>
            <a:ext cx="5525730" cy="25568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sz="3600">
              <a:solidFill>
                <a:schemeClr val="tx1"/>
              </a:solidFill>
              <a:latin typeface="+mj-lt"/>
            </a:endParaRPr>
          </a:p>
        </p:txBody>
      </p:sp>
      <p:graphicFrame>
        <p:nvGraphicFramePr>
          <p:cNvPr id="9" name="Table 82">
            <a:extLst>
              <a:ext uri="{FF2B5EF4-FFF2-40B4-BE49-F238E27FC236}">
                <a16:creationId xmlns:a16="http://schemas.microsoft.com/office/drawing/2014/main" id="{76F9EDD4-0E7D-4223-8138-C65C0727B433}"/>
              </a:ext>
            </a:extLst>
          </p:cNvPr>
          <p:cNvGraphicFramePr>
            <a:graphicFrameLocks noGrp="1"/>
          </p:cNvGraphicFramePr>
          <p:nvPr/>
        </p:nvGraphicFramePr>
        <p:xfrm>
          <a:off x="7114626" y="1"/>
          <a:ext cx="10154748" cy="1715678"/>
        </p:xfrm>
        <a:graphic>
          <a:graphicData uri="http://schemas.openxmlformats.org/drawingml/2006/table">
            <a:tbl>
              <a:tblPr firstRow="1" bandRow="1">
                <a:tableStyleId>{5C22544A-7EE6-4342-B048-85BDC9FD1C3A}</a:tableStyleId>
              </a:tblPr>
              <a:tblGrid>
                <a:gridCol w="3384916">
                  <a:extLst>
                    <a:ext uri="{9D8B030D-6E8A-4147-A177-3AD203B41FA5}">
                      <a16:colId xmlns:a16="http://schemas.microsoft.com/office/drawing/2014/main" val="609119988"/>
                    </a:ext>
                  </a:extLst>
                </a:gridCol>
                <a:gridCol w="3384916">
                  <a:extLst>
                    <a:ext uri="{9D8B030D-6E8A-4147-A177-3AD203B41FA5}">
                      <a16:colId xmlns:a16="http://schemas.microsoft.com/office/drawing/2014/main" val="3432720020"/>
                    </a:ext>
                  </a:extLst>
                </a:gridCol>
                <a:gridCol w="3384916">
                  <a:extLst>
                    <a:ext uri="{9D8B030D-6E8A-4147-A177-3AD203B41FA5}">
                      <a16:colId xmlns:a16="http://schemas.microsoft.com/office/drawing/2014/main" val="635216825"/>
                    </a:ext>
                  </a:extLst>
                </a:gridCol>
              </a:tblGrid>
              <a:tr h="640112">
                <a:tc>
                  <a:txBody>
                    <a:bodyPr/>
                    <a:lstStyle/>
                    <a:p>
                      <a:pPr algn="ctr"/>
                      <a:r>
                        <a:rPr lang="en-GB" sz="2800" b="0">
                          <a:latin typeface="Fira Sans" panose="020B0503050000020004" pitchFamily="34" charset="0"/>
                        </a:rPr>
                        <a:t>Classification</a:t>
                      </a:r>
                    </a:p>
                  </a:txBody>
                  <a:tcPr marL="182880" marR="182880" marT="91440" marB="91440">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alpha val="74000"/>
                      </a:schemeClr>
                    </a:solidFill>
                  </a:tcPr>
                </a:tc>
                <a:tc>
                  <a:txBody>
                    <a:bodyPr/>
                    <a:lstStyle/>
                    <a:p>
                      <a:pPr algn="ctr"/>
                      <a:r>
                        <a:rPr lang="en-GB" sz="2800" b="0">
                          <a:latin typeface="Fira Sans" panose="020B0503050000020004" pitchFamily="34" charset="0"/>
                        </a:rPr>
                        <a:t>Scope</a:t>
                      </a:r>
                      <a:endParaRPr lang="en-GB" sz="2800"/>
                    </a:p>
                  </a:txBody>
                  <a:tcPr marL="182880" marR="182880" marT="91440" marB="914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alpha val="74000"/>
                      </a:schemeClr>
                    </a:solidFill>
                  </a:tcPr>
                </a:tc>
                <a:tc>
                  <a:txBody>
                    <a:bodyPr/>
                    <a:lstStyle/>
                    <a:p>
                      <a:pPr algn="ctr"/>
                      <a:r>
                        <a:rPr lang="en-GB" sz="2800" b="0">
                          <a:latin typeface="Fira Sans" panose="020B0503050000020004" pitchFamily="34" charset="0"/>
                        </a:rPr>
                        <a:t>Strategy</a:t>
                      </a:r>
                    </a:p>
                  </a:txBody>
                  <a:tcPr marL="182880" marR="182880" marT="91440" marB="91440">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alpha val="74000"/>
                      </a:schemeClr>
                    </a:solidFill>
                  </a:tcPr>
                </a:tc>
                <a:extLst>
                  <a:ext uri="{0D108BD9-81ED-4DB2-BD59-A6C34878D82A}">
                    <a16:rowId xmlns:a16="http://schemas.microsoft.com/office/drawing/2014/main" val="1408072981"/>
                  </a:ext>
                </a:extLst>
              </a:tr>
              <a:tr h="1075566">
                <a:tc>
                  <a:txBody>
                    <a:bodyPr/>
                    <a:lstStyle/>
                    <a:p>
                      <a:pPr algn="ctr">
                        <a:lnSpc>
                          <a:spcPct val="200000"/>
                        </a:lnSpc>
                      </a:pPr>
                      <a:r>
                        <a:rPr lang="en-GB" sz="2400" b="0" i="0">
                          <a:solidFill>
                            <a:schemeClr val="bg1"/>
                          </a:solidFill>
                          <a:latin typeface="Fira Sans UltraLight" panose="020B0303050000020004" pitchFamily="34" charset="0"/>
                        </a:rPr>
                        <a:t>Complex</a:t>
                      </a:r>
                    </a:p>
                  </a:txBody>
                  <a:tcPr marL="182880" marR="182880" marT="91440" marB="91440">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2">
                        <a:alpha val="74000"/>
                      </a:schemeClr>
                    </a:solidFill>
                  </a:tcPr>
                </a:tc>
                <a:tc>
                  <a:txBody>
                    <a:bodyPr/>
                    <a:lstStyle/>
                    <a:p>
                      <a:pPr marL="0" marR="0" lvl="0" indent="0" algn="ctr" defTabSz="914400" rtl="0" eaLnBrk="1" fontAlgn="auto" latinLnBrk="0" hangingPunct="1">
                        <a:lnSpc>
                          <a:spcPct val="2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FFFFFF"/>
                          </a:solidFill>
                          <a:effectLst/>
                          <a:uLnTx/>
                          <a:uFillTx/>
                          <a:latin typeface="Fira Sans UltraLight" panose="020B0303050000020004" pitchFamily="34" charset="0"/>
                          <a:ea typeface="+mn-ea"/>
                          <a:cs typeface="+mn-cs"/>
                        </a:rPr>
                        <a:t>In Scope</a:t>
                      </a:r>
                    </a:p>
                  </a:txBody>
                  <a:tcPr marL="182880" marR="182880" marT="91440" marB="914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2">
                        <a:alpha val="74000"/>
                      </a:schemeClr>
                    </a:solidFill>
                  </a:tcPr>
                </a:tc>
                <a:tc>
                  <a:txBody>
                    <a:bodyPr/>
                    <a:lstStyle/>
                    <a:p>
                      <a:pPr marL="0" marR="0" lvl="0" indent="0" algn="ctr" defTabSz="914400" rtl="0" eaLnBrk="1" fontAlgn="auto" latinLnBrk="0" hangingPunct="1">
                        <a:lnSpc>
                          <a:spcPct val="2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FFFFFF"/>
                          </a:solidFill>
                          <a:effectLst/>
                          <a:uLnTx/>
                          <a:uFillTx/>
                          <a:latin typeface="Fira Sans UltraLight" panose="020B0303050000020004" pitchFamily="34" charset="0"/>
                          <a:ea typeface="+mn-ea"/>
                          <a:cs typeface="+mn-cs"/>
                        </a:rPr>
                        <a:t>Rehost</a:t>
                      </a:r>
                    </a:p>
                  </a:txBody>
                  <a:tcPr marL="182880" marR="182880" marT="91440" marB="9144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2">
                        <a:alpha val="74000"/>
                      </a:schemeClr>
                    </a:solidFill>
                  </a:tcPr>
                </a:tc>
                <a:extLst>
                  <a:ext uri="{0D108BD9-81ED-4DB2-BD59-A6C34878D82A}">
                    <a16:rowId xmlns:a16="http://schemas.microsoft.com/office/drawing/2014/main" val="3018591672"/>
                  </a:ext>
                </a:extLst>
              </a:tr>
            </a:tbl>
          </a:graphicData>
        </a:graphic>
      </p:graphicFrame>
      <p:grpSp>
        <p:nvGrpSpPr>
          <p:cNvPr id="11" name="Group 10">
            <a:extLst>
              <a:ext uri="{FF2B5EF4-FFF2-40B4-BE49-F238E27FC236}">
                <a16:creationId xmlns:a16="http://schemas.microsoft.com/office/drawing/2014/main" id="{A1836412-0159-4DC2-09B2-D2F9A949A44A}"/>
              </a:ext>
            </a:extLst>
          </p:cNvPr>
          <p:cNvGrpSpPr>
            <a:grpSpLocks noChangeAspect="1"/>
          </p:cNvGrpSpPr>
          <p:nvPr/>
        </p:nvGrpSpPr>
        <p:grpSpPr>
          <a:xfrm>
            <a:off x="3248945" y="2870030"/>
            <a:ext cx="1221914" cy="1221916"/>
            <a:chOff x="1015206" y="5351463"/>
            <a:chExt cx="747712" cy="747713"/>
          </a:xfrm>
        </p:grpSpPr>
        <p:sp>
          <p:nvSpPr>
            <p:cNvPr id="16" name="Freeform 236">
              <a:extLst>
                <a:ext uri="{FF2B5EF4-FFF2-40B4-BE49-F238E27FC236}">
                  <a16:creationId xmlns:a16="http://schemas.microsoft.com/office/drawing/2014/main" id="{DB345901-47BB-9032-1D62-EB84D63FA066}"/>
                </a:ext>
              </a:extLst>
            </p:cNvPr>
            <p:cNvSpPr>
              <a:spLocks noChangeArrowheads="1"/>
            </p:cNvSpPr>
            <p:nvPr/>
          </p:nvSpPr>
          <p:spPr bwMode="auto">
            <a:xfrm>
              <a:off x="1015206" y="5351463"/>
              <a:ext cx="747712" cy="747713"/>
            </a:xfrm>
            <a:custGeom>
              <a:avLst/>
              <a:gdLst>
                <a:gd name="T0" fmla="*/ 1743 w 2079"/>
                <a:gd name="T1" fmla="*/ 2078 h 2079"/>
                <a:gd name="T2" fmla="*/ 2078 w 2079"/>
                <a:gd name="T3" fmla="*/ 1743 h 2079"/>
                <a:gd name="T4" fmla="*/ 2078 w 2079"/>
                <a:gd name="T5" fmla="*/ 335 h 2079"/>
                <a:gd name="T6" fmla="*/ 1743 w 2079"/>
                <a:gd name="T7" fmla="*/ 0 h 2079"/>
                <a:gd name="T8" fmla="*/ 335 w 2079"/>
                <a:gd name="T9" fmla="*/ 0 h 2079"/>
                <a:gd name="T10" fmla="*/ 0 w 2079"/>
                <a:gd name="T11" fmla="*/ 335 h 2079"/>
                <a:gd name="T12" fmla="*/ 0 w 2079"/>
                <a:gd name="T13" fmla="*/ 1743 h 2079"/>
                <a:gd name="T14" fmla="*/ 335 w 2079"/>
                <a:gd name="T15" fmla="*/ 2078 h 2079"/>
                <a:gd name="T16" fmla="*/ 1743 w 2079"/>
                <a:gd name="T17" fmla="*/ 2078 h 2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9" h="2079">
                  <a:moveTo>
                    <a:pt x="1743" y="2078"/>
                  </a:moveTo>
                  <a:cubicBezTo>
                    <a:pt x="1927" y="2078"/>
                    <a:pt x="2078" y="1928"/>
                    <a:pt x="2078" y="1743"/>
                  </a:cubicBezTo>
                  <a:cubicBezTo>
                    <a:pt x="2078" y="1274"/>
                    <a:pt x="2078" y="804"/>
                    <a:pt x="2078" y="335"/>
                  </a:cubicBezTo>
                  <a:cubicBezTo>
                    <a:pt x="2078" y="151"/>
                    <a:pt x="1927" y="0"/>
                    <a:pt x="1743" y="0"/>
                  </a:cubicBezTo>
                  <a:cubicBezTo>
                    <a:pt x="1274" y="0"/>
                    <a:pt x="804" y="0"/>
                    <a:pt x="335" y="0"/>
                  </a:cubicBezTo>
                  <a:cubicBezTo>
                    <a:pt x="151" y="0"/>
                    <a:pt x="0" y="151"/>
                    <a:pt x="0" y="335"/>
                  </a:cubicBezTo>
                  <a:cubicBezTo>
                    <a:pt x="0" y="804"/>
                    <a:pt x="0" y="1274"/>
                    <a:pt x="0" y="1743"/>
                  </a:cubicBezTo>
                  <a:cubicBezTo>
                    <a:pt x="0" y="1928"/>
                    <a:pt x="151" y="2078"/>
                    <a:pt x="335" y="2078"/>
                  </a:cubicBezTo>
                  <a:cubicBezTo>
                    <a:pt x="804" y="2078"/>
                    <a:pt x="1274" y="2078"/>
                    <a:pt x="1743" y="207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17" name="Group 16">
              <a:extLst>
                <a:ext uri="{FF2B5EF4-FFF2-40B4-BE49-F238E27FC236}">
                  <a16:creationId xmlns:a16="http://schemas.microsoft.com/office/drawing/2014/main" id="{5E8C3876-D427-939E-325A-6BC496D99038}"/>
                </a:ext>
              </a:extLst>
            </p:cNvPr>
            <p:cNvGrpSpPr/>
            <p:nvPr/>
          </p:nvGrpSpPr>
          <p:grpSpPr>
            <a:xfrm>
              <a:off x="1124743" y="5461001"/>
              <a:ext cx="619125" cy="619125"/>
              <a:chOff x="1124743" y="5461001"/>
              <a:chExt cx="619125" cy="619125"/>
            </a:xfrm>
          </p:grpSpPr>
          <p:sp>
            <p:nvSpPr>
              <p:cNvPr id="18" name="Freeform 234">
                <a:extLst>
                  <a:ext uri="{FF2B5EF4-FFF2-40B4-BE49-F238E27FC236}">
                    <a16:creationId xmlns:a16="http://schemas.microsoft.com/office/drawing/2014/main" id="{75DE999D-37EF-893A-525D-1A4122A329D4}"/>
                  </a:ext>
                </a:extLst>
              </p:cNvPr>
              <p:cNvSpPr>
                <a:spLocks noChangeArrowheads="1"/>
              </p:cNvSpPr>
              <p:nvPr/>
            </p:nvSpPr>
            <p:spPr bwMode="auto">
              <a:xfrm>
                <a:off x="1256506" y="5592763"/>
                <a:ext cx="266700" cy="266700"/>
              </a:xfrm>
              <a:custGeom>
                <a:avLst/>
                <a:gdLst>
                  <a:gd name="T0" fmla="*/ 273 w 739"/>
                  <a:gd name="T1" fmla="*/ 138 h 739"/>
                  <a:gd name="T2" fmla="*/ 310 w 739"/>
                  <a:gd name="T3" fmla="*/ 82 h 739"/>
                  <a:gd name="T4" fmla="*/ 310 w 739"/>
                  <a:gd name="T5" fmla="*/ 60 h 739"/>
                  <a:gd name="T6" fmla="*/ 369 w 739"/>
                  <a:gd name="T7" fmla="*/ 0 h 739"/>
                  <a:gd name="T8" fmla="*/ 428 w 739"/>
                  <a:gd name="T9" fmla="*/ 60 h 739"/>
                  <a:gd name="T10" fmla="*/ 428 w 739"/>
                  <a:gd name="T11" fmla="*/ 82 h 739"/>
                  <a:gd name="T12" fmla="*/ 465 w 739"/>
                  <a:gd name="T13" fmla="*/ 138 h 739"/>
                  <a:gd name="T14" fmla="*/ 530 w 739"/>
                  <a:gd name="T15" fmla="*/ 125 h 739"/>
                  <a:gd name="T16" fmla="*/ 546 w 739"/>
                  <a:gd name="T17" fmla="*/ 109 h 739"/>
                  <a:gd name="T18" fmla="*/ 630 w 739"/>
                  <a:gd name="T19" fmla="*/ 108 h 739"/>
                  <a:gd name="T20" fmla="*/ 630 w 739"/>
                  <a:gd name="T21" fmla="*/ 192 h 739"/>
                  <a:gd name="T22" fmla="*/ 614 w 739"/>
                  <a:gd name="T23" fmla="*/ 208 h 739"/>
                  <a:gd name="T24" fmla="*/ 601 w 739"/>
                  <a:gd name="T25" fmla="*/ 273 h 739"/>
                  <a:gd name="T26" fmla="*/ 656 w 739"/>
                  <a:gd name="T27" fmla="*/ 310 h 739"/>
                  <a:gd name="T28" fmla="*/ 679 w 739"/>
                  <a:gd name="T29" fmla="*/ 310 h 739"/>
                  <a:gd name="T30" fmla="*/ 738 w 739"/>
                  <a:gd name="T31" fmla="*/ 369 h 739"/>
                  <a:gd name="T32" fmla="*/ 679 w 739"/>
                  <a:gd name="T33" fmla="*/ 428 h 739"/>
                  <a:gd name="T34" fmla="*/ 656 w 739"/>
                  <a:gd name="T35" fmla="*/ 428 h 739"/>
                  <a:gd name="T36" fmla="*/ 601 w 739"/>
                  <a:gd name="T37" fmla="*/ 465 h 739"/>
                  <a:gd name="T38" fmla="*/ 614 w 739"/>
                  <a:gd name="T39" fmla="*/ 530 h 739"/>
                  <a:gd name="T40" fmla="*/ 630 w 739"/>
                  <a:gd name="T41" fmla="*/ 547 h 739"/>
                  <a:gd name="T42" fmla="*/ 630 w 739"/>
                  <a:gd name="T43" fmla="*/ 630 h 739"/>
                  <a:gd name="T44" fmla="*/ 546 w 739"/>
                  <a:gd name="T45" fmla="*/ 630 h 739"/>
                  <a:gd name="T46" fmla="*/ 530 w 739"/>
                  <a:gd name="T47" fmla="*/ 614 h 739"/>
                  <a:gd name="T48" fmla="*/ 465 w 739"/>
                  <a:gd name="T49" fmla="*/ 601 h 739"/>
                  <a:gd name="T50" fmla="*/ 428 w 739"/>
                  <a:gd name="T51" fmla="*/ 656 h 739"/>
                  <a:gd name="T52" fmla="*/ 428 w 739"/>
                  <a:gd name="T53" fmla="*/ 679 h 739"/>
                  <a:gd name="T54" fmla="*/ 369 w 739"/>
                  <a:gd name="T55" fmla="*/ 738 h 739"/>
                  <a:gd name="T56" fmla="*/ 310 w 739"/>
                  <a:gd name="T57" fmla="*/ 679 h 739"/>
                  <a:gd name="T58" fmla="*/ 310 w 739"/>
                  <a:gd name="T59" fmla="*/ 656 h 739"/>
                  <a:gd name="T60" fmla="*/ 273 w 739"/>
                  <a:gd name="T61" fmla="*/ 601 h 739"/>
                  <a:gd name="T62" fmla="*/ 208 w 739"/>
                  <a:gd name="T63" fmla="*/ 614 h 739"/>
                  <a:gd name="T64" fmla="*/ 192 w 739"/>
                  <a:gd name="T65" fmla="*/ 630 h 739"/>
                  <a:gd name="T66" fmla="*/ 108 w 739"/>
                  <a:gd name="T67" fmla="*/ 630 h 739"/>
                  <a:gd name="T68" fmla="*/ 108 w 739"/>
                  <a:gd name="T69" fmla="*/ 547 h 739"/>
                  <a:gd name="T70" fmla="*/ 124 w 739"/>
                  <a:gd name="T71" fmla="*/ 530 h 739"/>
                  <a:gd name="T72" fmla="*/ 137 w 739"/>
                  <a:gd name="T73" fmla="*/ 465 h 739"/>
                  <a:gd name="T74" fmla="*/ 82 w 739"/>
                  <a:gd name="T75" fmla="*/ 428 h 739"/>
                  <a:gd name="T76" fmla="*/ 59 w 739"/>
                  <a:gd name="T77" fmla="*/ 428 h 739"/>
                  <a:gd name="T78" fmla="*/ 0 w 739"/>
                  <a:gd name="T79" fmla="*/ 369 h 739"/>
                  <a:gd name="T80" fmla="*/ 59 w 739"/>
                  <a:gd name="T81" fmla="*/ 310 h 739"/>
                  <a:gd name="T82" fmla="*/ 82 w 739"/>
                  <a:gd name="T83" fmla="*/ 310 h 739"/>
                  <a:gd name="T84" fmla="*/ 137 w 739"/>
                  <a:gd name="T85" fmla="*/ 273 h 739"/>
                  <a:gd name="T86" fmla="*/ 124 w 739"/>
                  <a:gd name="T87" fmla="*/ 208 h 739"/>
                  <a:gd name="T88" fmla="*/ 108 w 739"/>
                  <a:gd name="T89" fmla="*/ 192 h 739"/>
                  <a:gd name="T90" fmla="*/ 108 w 739"/>
                  <a:gd name="T91" fmla="*/ 108 h 739"/>
                  <a:gd name="T92" fmla="*/ 192 w 739"/>
                  <a:gd name="T93" fmla="*/ 109 h 739"/>
                  <a:gd name="T94" fmla="*/ 208 w 739"/>
                  <a:gd name="T95" fmla="*/ 125 h 739"/>
                  <a:gd name="T96" fmla="*/ 273 w 739"/>
                  <a:gd name="T97" fmla="*/ 138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9" h="739">
                    <a:moveTo>
                      <a:pt x="273" y="138"/>
                    </a:moveTo>
                    <a:cubicBezTo>
                      <a:pt x="295" y="128"/>
                      <a:pt x="310" y="106"/>
                      <a:pt x="310" y="82"/>
                    </a:cubicBezTo>
                    <a:cubicBezTo>
                      <a:pt x="310" y="75"/>
                      <a:pt x="310" y="67"/>
                      <a:pt x="310" y="60"/>
                    </a:cubicBezTo>
                    <a:cubicBezTo>
                      <a:pt x="310" y="27"/>
                      <a:pt x="336" y="0"/>
                      <a:pt x="369" y="0"/>
                    </a:cubicBezTo>
                    <a:cubicBezTo>
                      <a:pt x="402" y="0"/>
                      <a:pt x="428" y="27"/>
                      <a:pt x="428" y="60"/>
                    </a:cubicBezTo>
                    <a:cubicBezTo>
                      <a:pt x="428" y="67"/>
                      <a:pt x="428" y="75"/>
                      <a:pt x="428" y="82"/>
                    </a:cubicBezTo>
                    <a:cubicBezTo>
                      <a:pt x="428" y="106"/>
                      <a:pt x="443" y="128"/>
                      <a:pt x="465" y="138"/>
                    </a:cubicBezTo>
                    <a:cubicBezTo>
                      <a:pt x="487" y="147"/>
                      <a:pt x="513" y="142"/>
                      <a:pt x="530" y="125"/>
                    </a:cubicBezTo>
                    <a:cubicBezTo>
                      <a:pt x="535" y="120"/>
                      <a:pt x="541" y="114"/>
                      <a:pt x="546" y="109"/>
                    </a:cubicBezTo>
                    <a:cubicBezTo>
                      <a:pt x="569" y="85"/>
                      <a:pt x="607" y="85"/>
                      <a:pt x="630" y="108"/>
                    </a:cubicBezTo>
                    <a:cubicBezTo>
                      <a:pt x="653" y="132"/>
                      <a:pt x="653" y="169"/>
                      <a:pt x="630" y="192"/>
                    </a:cubicBezTo>
                    <a:cubicBezTo>
                      <a:pt x="625" y="197"/>
                      <a:pt x="619" y="203"/>
                      <a:pt x="614" y="208"/>
                    </a:cubicBezTo>
                    <a:cubicBezTo>
                      <a:pt x="596" y="225"/>
                      <a:pt x="591" y="251"/>
                      <a:pt x="601" y="273"/>
                    </a:cubicBezTo>
                    <a:cubicBezTo>
                      <a:pt x="610" y="296"/>
                      <a:pt x="632" y="310"/>
                      <a:pt x="656" y="310"/>
                    </a:cubicBezTo>
                    <a:cubicBezTo>
                      <a:pt x="664" y="310"/>
                      <a:pt x="671" y="310"/>
                      <a:pt x="679" y="310"/>
                    </a:cubicBezTo>
                    <a:cubicBezTo>
                      <a:pt x="711" y="310"/>
                      <a:pt x="738" y="337"/>
                      <a:pt x="738" y="369"/>
                    </a:cubicBezTo>
                    <a:cubicBezTo>
                      <a:pt x="738" y="402"/>
                      <a:pt x="711" y="428"/>
                      <a:pt x="679" y="428"/>
                    </a:cubicBezTo>
                    <a:cubicBezTo>
                      <a:pt x="671" y="428"/>
                      <a:pt x="664" y="428"/>
                      <a:pt x="656" y="428"/>
                    </a:cubicBezTo>
                    <a:cubicBezTo>
                      <a:pt x="632" y="428"/>
                      <a:pt x="610" y="443"/>
                      <a:pt x="601" y="465"/>
                    </a:cubicBezTo>
                    <a:cubicBezTo>
                      <a:pt x="591" y="488"/>
                      <a:pt x="596" y="513"/>
                      <a:pt x="614" y="530"/>
                    </a:cubicBezTo>
                    <a:cubicBezTo>
                      <a:pt x="619" y="536"/>
                      <a:pt x="625" y="541"/>
                      <a:pt x="630" y="547"/>
                    </a:cubicBezTo>
                    <a:cubicBezTo>
                      <a:pt x="653" y="570"/>
                      <a:pt x="653" y="607"/>
                      <a:pt x="630" y="630"/>
                    </a:cubicBezTo>
                    <a:cubicBezTo>
                      <a:pt x="607" y="653"/>
                      <a:pt x="569" y="653"/>
                      <a:pt x="546" y="630"/>
                    </a:cubicBezTo>
                    <a:cubicBezTo>
                      <a:pt x="541" y="625"/>
                      <a:pt x="535" y="619"/>
                      <a:pt x="530" y="614"/>
                    </a:cubicBezTo>
                    <a:cubicBezTo>
                      <a:pt x="513" y="597"/>
                      <a:pt x="487" y="592"/>
                      <a:pt x="465" y="601"/>
                    </a:cubicBezTo>
                    <a:cubicBezTo>
                      <a:pt x="443" y="610"/>
                      <a:pt x="428" y="632"/>
                      <a:pt x="428" y="656"/>
                    </a:cubicBezTo>
                    <a:cubicBezTo>
                      <a:pt x="428" y="664"/>
                      <a:pt x="428" y="671"/>
                      <a:pt x="428" y="679"/>
                    </a:cubicBezTo>
                    <a:cubicBezTo>
                      <a:pt x="428" y="712"/>
                      <a:pt x="402" y="738"/>
                      <a:pt x="369" y="738"/>
                    </a:cubicBezTo>
                    <a:cubicBezTo>
                      <a:pt x="336" y="738"/>
                      <a:pt x="310" y="712"/>
                      <a:pt x="310" y="679"/>
                    </a:cubicBezTo>
                    <a:cubicBezTo>
                      <a:pt x="310" y="671"/>
                      <a:pt x="310" y="664"/>
                      <a:pt x="310" y="656"/>
                    </a:cubicBezTo>
                    <a:cubicBezTo>
                      <a:pt x="310" y="632"/>
                      <a:pt x="295" y="610"/>
                      <a:pt x="273" y="601"/>
                    </a:cubicBezTo>
                    <a:cubicBezTo>
                      <a:pt x="251" y="592"/>
                      <a:pt x="225" y="597"/>
                      <a:pt x="208" y="614"/>
                    </a:cubicBezTo>
                    <a:cubicBezTo>
                      <a:pt x="203" y="619"/>
                      <a:pt x="197" y="625"/>
                      <a:pt x="192" y="630"/>
                    </a:cubicBezTo>
                    <a:cubicBezTo>
                      <a:pt x="169" y="653"/>
                      <a:pt x="131" y="653"/>
                      <a:pt x="108" y="630"/>
                    </a:cubicBezTo>
                    <a:cubicBezTo>
                      <a:pt x="85" y="607"/>
                      <a:pt x="85" y="570"/>
                      <a:pt x="108" y="547"/>
                    </a:cubicBezTo>
                    <a:cubicBezTo>
                      <a:pt x="113" y="541"/>
                      <a:pt x="119" y="536"/>
                      <a:pt x="124" y="530"/>
                    </a:cubicBezTo>
                    <a:cubicBezTo>
                      <a:pt x="142" y="513"/>
                      <a:pt x="147" y="488"/>
                      <a:pt x="137" y="465"/>
                    </a:cubicBezTo>
                    <a:cubicBezTo>
                      <a:pt x="128" y="443"/>
                      <a:pt x="106" y="428"/>
                      <a:pt x="82" y="428"/>
                    </a:cubicBezTo>
                    <a:cubicBezTo>
                      <a:pt x="74" y="428"/>
                      <a:pt x="67" y="428"/>
                      <a:pt x="59" y="428"/>
                    </a:cubicBezTo>
                    <a:cubicBezTo>
                      <a:pt x="27" y="428"/>
                      <a:pt x="0" y="402"/>
                      <a:pt x="0" y="369"/>
                    </a:cubicBezTo>
                    <a:cubicBezTo>
                      <a:pt x="0" y="337"/>
                      <a:pt x="27" y="310"/>
                      <a:pt x="59" y="310"/>
                    </a:cubicBezTo>
                    <a:cubicBezTo>
                      <a:pt x="67" y="310"/>
                      <a:pt x="74" y="310"/>
                      <a:pt x="82" y="310"/>
                    </a:cubicBezTo>
                    <a:cubicBezTo>
                      <a:pt x="106" y="310"/>
                      <a:pt x="128" y="296"/>
                      <a:pt x="137" y="273"/>
                    </a:cubicBezTo>
                    <a:cubicBezTo>
                      <a:pt x="147" y="251"/>
                      <a:pt x="142" y="225"/>
                      <a:pt x="124" y="208"/>
                    </a:cubicBezTo>
                    <a:cubicBezTo>
                      <a:pt x="119" y="203"/>
                      <a:pt x="113" y="197"/>
                      <a:pt x="108" y="192"/>
                    </a:cubicBezTo>
                    <a:cubicBezTo>
                      <a:pt x="85" y="169"/>
                      <a:pt x="85" y="132"/>
                      <a:pt x="108" y="108"/>
                    </a:cubicBezTo>
                    <a:cubicBezTo>
                      <a:pt x="131" y="85"/>
                      <a:pt x="169" y="85"/>
                      <a:pt x="192" y="109"/>
                    </a:cubicBezTo>
                    <a:cubicBezTo>
                      <a:pt x="197" y="114"/>
                      <a:pt x="203" y="120"/>
                      <a:pt x="208" y="125"/>
                    </a:cubicBezTo>
                    <a:cubicBezTo>
                      <a:pt x="225" y="142"/>
                      <a:pt x="251" y="147"/>
                      <a:pt x="273" y="13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9" name="Freeform 235">
                <a:extLst>
                  <a:ext uri="{FF2B5EF4-FFF2-40B4-BE49-F238E27FC236}">
                    <a16:creationId xmlns:a16="http://schemas.microsoft.com/office/drawing/2014/main" id="{CCE7E355-1B07-C085-35B3-93BB067EC26B}"/>
                  </a:ext>
                </a:extLst>
              </p:cNvPr>
              <p:cNvSpPr>
                <a:spLocks noChangeArrowheads="1"/>
              </p:cNvSpPr>
              <p:nvPr/>
            </p:nvSpPr>
            <p:spPr bwMode="auto">
              <a:xfrm>
                <a:off x="1353343" y="5689601"/>
                <a:ext cx="73025" cy="73025"/>
              </a:xfrm>
              <a:custGeom>
                <a:avLst/>
                <a:gdLst>
                  <a:gd name="T0" fmla="*/ 202 w 203"/>
                  <a:gd name="T1" fmla="*/ 100 h 202"/>
                  <a:gd name="T2" fmla="*/ 188 w 203"/>
                  <a:gd name="T3" fmla="*/ 151 h 202"/>
                  <a:gd name="T4" fmla="*/ 151 w 203"/>
                  <a:gd name="T5" fmla="*/ 187 h 202"/>
                  <a:gd name="T6" fmla="*/ 101 w 203"/>
                  <a:gd name="T7" fmla="*/ 201 h 202"/>
                  <a:gd name="T8" fmla="*/ 51 w 203"/>
                  <a:gd name="T9" fmla="*/ 187 h 202"/>
                  <a:gd name="T10" fmla="*/ 14 w 203"/>
                  <a:gd name="T11" fmla="*/ 151 h 202"/>
                  <a:gd name="T12" fmla="*/ 0 w 203"/>
                  <a:gd name="T13" fmla="*/ 100 h 202"/>
                  <a:gd name="T14" fmla="*/ 14 w 203"/>
                  <a:gd name="T15" fmla="*/ 50 h 202"/>
                  <a:gd name="T16" fmla="*/ 51 w 203"/>
                  <a:gd name="T17" fmla="*/ 13 h 202"/>
                  <a:gd name="T18" fmla="*/ 101 w 203"/>
                  <a:gd name="T19" fmla="*/ 0 h 202"/>
                  <a:gd name="T20" fmla="*/ 151 w 203"/>
                  <a:gd name="T21" fmla="*/ 13 h 202"/>
                  <a:gd name="T22" fmla="*/ 188 w 203"/>
                  <a:gd name="T23" fmla="*/ 50 h 202"/>
                  <a:gd name="T24" fmla="*/ 202 w 203"/>
                  <a:gd name="T25" fmla="*/ 10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02">
                    <a:moveTo>
                      <a:pt x="202" y="100"/>
                    </a:moveTo>
                    <a:cubicBezTo>
                      <a:pt x="202" y="119"/>
                      <a:pt x="197" y="135"/>
                      <a:pt x="188" y="151"/>
                    </a:cubicBezTo>
                    <a:cubicBezTo>
                      <a:pt x="179" y="168"/>
                      <a:pt x="167" y="178"/>
                      <a:pt x="151" y="187"/>
                    </a:cubicBezTo>
                    <a:cubicBezTo>
                      <a:pt x="135" y="197"/>
                      <a:pt x="119" y="201"/>
                      <a:pt x="101" y="201"/>
                    </a:cubicBezTo>
                    <a:cubicBezTo>
                      <a:pt x="82" y="201"/>
                      <a:pt x="67" y="197"/>
                      <a:pt x="51" y="187"/>
                    </a:cubicBezTo>
                    <a:cubicBezTo>
                      <a:pt x="35" y="178"/>
                      <a:pt x="23" y="168"/>
                      <a:pt x="14" y="151"/>
                    </a:cubicBezTo>
                    <a:cubicBezTo>
                      <a:pt x="5" y="135"/>
                      <a:pt x="0" y="119"/>
                      <a:pt x="0" y="100"/>
                    </a:cubicBezTo>
                    <a:cubicBezTo>
                      <a:pt x="0" y="82"/>
                      <a:pt x="5" y="66"/>
                      <a:pt x="14" y="50"/>
                    </a:cubicBezTo>
                    <a:cubicBezTo>
                      <a:pt x="23" y="34"/>
                      <a:pt x="35" y="22"/>
                      <a:pt x="51" y="13"/>
                    </a:cubicBezTo>
                    <a:cubicBezTo>
                      <a:pt x="67" y="4"/>
                      <a:pt x="83" y="0"/>
                      <a:pt x="101" y="0"/>
                    </a:cubicBezTo>
                    <a:cubicBezTo>
                      <a:pt x="120" y="0"/>
                      <a:pt x="135" y="4"/>
                      <a:pt x="151" y="13"/>
                    </a:cubicBezTo>
                    <a:cubicBezTo>
                      <a:pt x="167" y="22"/>
                      <a:pt x="179" y="34"/>
                      <a:pt x="188" y="50"/>
                    </a:cubicBezTo>
                    <a:cubicBezTo>
                      <a:pt x="197" y="66"/>
                      <a:pt x="202" y="82"/>
                      <a:pt x="202" y="10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0" name="Freeform 237">
                <a:extLst>
                  <a:ext uri="{FF2B5EF4-FFF2-40B4-BE49-F238E27FC236}">
                    <a16:creationId xmlns:a16="http://schemas.microsoft.com/office/drawing/2014/main" id="{FE5CE226-F69C-A937-05FD-D50AF7B8E18A}"/>
                  </a:ext>
                </a:extLst>
              </p:cNvPr>
              <p:cNvSpPr>
                <a:spLocks noChangeArrowheads="1"/>
              </p:cNvSpPr>
              <p:nvPr/>
            </p:nvSpPr>
            <p:spPr bwMode="auto">
              <a:xfrm>
                <a:off x="1189831" y="5526088"/>
                <a:ext cx="398462" cy="398463"/>
              </a:xfrm>
              <a:custGeom>
                <a:avLst/>
                <a:gdLst>
                  <a:gd name="T0" fmla="*/ 1106 w 1107"/>
                  <a:gd name="T1" fmla="*/ 553 h 1107"/>
                  <a:gd name="T2" fmla="*/ 1032 w 1107"/>
                  <a:gd name="T3" fmla="*/ 830 h 1107"/>
                  <a:gd name="T4" fmla="*/ 830 w 1107"/>
                  <a:gd name="T5" fmla="*/ 1032 h 1107"/>
                  <a:gd name="T6" fmla="*/ 553 w 1107"/>
                  <a:gd name="T7" fmla="*/ 1106 h 1107"/>
                  <a:gd name="T8" fmla="*/ 277 w 1107"/>
                  <a:gd name="T9" fmla="*/ 1032 h 1107"/>
                  <a:gd name="T10" fmla="*/ 74 w 1107"/>
                  <a:gd name="T11" fmla="*/ 830 h 1107"/>
                  <a:gd name="T12" fmla="*/ 0 w 1107"/>
                  <a:gd name="T13" fmla="*/ 553 h 1107"/>
                  <a:gd name="T14" fmla="*/ 74 w 1107"/>
                  <a:gd name="T15" fmla="*/ 277 h 1107"/>
                  <a:gd name="T16" fmla="*/ 277 w 1107"/>
                  <a:gd name="T17" fmla="*/ 74 h 1107"/>
                  <a:gd name="T18" fmla="*/ 553 w 1107"/>
                  <a:gd name="T19" fmla="*/ 0 h 1107"/>
                  <a:gd name="T20" fmla="*/ 830 w 1107"/>
                  <a:gd name="T21" fmla="*/ 74 h 1107"/>
                  <a:gd name="T22" fmla="*/ 1032 w 1107"/>
                  <a:gd name="T23" fmla="*/ 277 h 1107"/>
                  <a:gd name="T24" fmla="*/ 1106 w 1107"/>
                  <a:gd name="T25" fmla="*/ 553 h 1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7" h="1107">
                    <a:moveTo>
                      <a:pt x="1106" y="553"/>
                    </a:moveTo>
                    <a:cubicBezTo>
                      <a:pt x="1106" y="655"/>
                      <a:pt x="1083" y="742"/>
                      <a:pt x="1032" y="830"/>
                    </a:cubicBezTo>
                    <a:cubicBezTo>
                      <a:pt x="981" y="918"/>
                      <a:pt x="918" y="981"/>
                      <a:pt x="830" y="1032"/>
                    </a:cubicBezTo>
                    <a:cubicBezTo>
                      <a:pt x="741" y="1083"/>
                      <a:pt x="655" y="1106"/>
                      <a:pt x="553" y="1106"/>
                    </a:cubicBezTo>
                    <a:cubicBezTo>
                      <a:pt x="451" y="1106"/>
                      <a:pt x="365" y="1083"/>
                      <a:pt x="277" y="1032"/>
                    </a:cubicBezTo>
                    <a:cubicBezTo>
                      <a:pt x="188" y="981"/>
                      <a:pt x="125" y="918"/>
                      <a:pt x="74" y="830"/>
                    </a:cubicBezTo>
                    <a:cubicBezTo>
                      <a:pt x="23" y="742"/>
                      <a:pt x="0" y="655"/>
                      <a:pt x="0" y="553"/>
                    </a:cubicBezTo>
                    <a:cubicBezTo>
                      <a:pt x="0" y="451"/>
                      <a:pt x="23" y="366"/>
                      <a:pt x="74" y="277"/>
                    </a:cubicBezTo>
                    <a:cubicBezTo>
                      <a:pt x="125" y="189"/>
                      <a:pt x="188" y="125"/>
                      <a:pt x="277" y="74"/>
                    </a:cubicBezTo>
                    <a:cubicBezTo>
                      <a:pt x="365" y="23"/>
                      <a:pt x="451" y="0"/>
                      <a:pt x="553" y="0"/>
                    </a:cubicBezTo>
                    <a:cubicBezTo>
                      <a:pt x="655" y="0"/>
                      <a:pt x="741" y="23"/>
                      <a:pt x="830" y="74"/>
                    </a:cubicBezTo>
                    <a:cubicBezTo>
                      <a:pt x="918" y="125"/>
                      <a:pt x="981" y="189"/>
                      <a:pt x="1032" y="277"/>
                    </a:cubicBezTo>
                    <a:cubicBezTo>
                      <a:pt x="1083" y="366"/>
                      <a:pt x="1106" y="451"/>
                      <a:pt x="1106" y="553"/>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1" name="Freeform 238">
                <a:extLst>
                  <a:ext uri="{FF2B5EF4-FFF2-40B4-BE49-F238E27FC236}">
                    <a16:creationId xmlns:a16="http://schemas.microsoft.com/office/drawing/2014/main" id="{452BFFFA-66C6-963C-2AB2-53F70AD5795A}"/>
                  </a:ext>
                </a:extLst>
              </p:cNvPr>
              <p:cNvSpPr>
                <a:spLocks noChangeArrowheads="1"/>
              </p:cNvSpPr>
              <p:nvPr/>
            </p:nvSpPr>
            <p:spPr bwMode="auto">
              <a:xfrm>
                <a:off x="1124743" y="5461001"/>
                <a:ext cx="619125" cy="619125"/>
              </a:xfrm>
              <a:custGeom>
                <a:avLst/>
                <a:gdLst>
                  <a:gd name="T0" fmla="*/ 1718 w 1719"/>
                  <a:gd name="T1" fmla="*/ 1624 h 1720"/>
                  <a:gd name="T2" fmla="*/ 1275 w 1719"/>
                  <a:gd name="T3" fmla="*/ 1181 h 1720"/>
                  <a:gd name="T4" fmla="*/ 1272 w 1719"/>
                  <a:gd name="T5" fmla="*/ 1137 h 1720"/>
                  <a:gd name="T6" fmla="*/ 1209 w 1719"/>
                  <a:gd name="T7" fmla="*/ 261 h 1720"/>
                  <a:gd name="T8" fmla="*/ 261 w 1719"/>
                  <a:gd name="T9" fmla="*/ 261 h 1720"/>
                  <a:gd name="T10" fmla="*/ 261 w 1719"/>
                  <a:gd name="T11" fmla="*/ 1209 h 1720"/>
                  <a:gd name="T12" fmla="*/ 1136 w 1719"/>
                  <a:gd name="T13" fmla="*/ 1272 h 1720"/>
                  <a:gd name="T14" fmla="*/ 1180 w 1719"/>
                  <a:gd name="T15" fmla="*/ 1275 h 1720"/>
                  <a:gd name="T16" fmla="*/ 1623 w 1719"/>
                  <a:gd name="T17" fmla="*/ 1719 h 1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9" h="1720">
                    <a:moveTo>
                      <a:pt x="1718" y="1624"/>
                    </a:moveTo>
                    <a:cubicBezTo>
                      <a:pt x="1570" y="1476"/>
                      <a:pt x="1423" y="1329"/>
                      <a:pt x="1275" y="1181"/>
                    </a:cubicBezTo>
                    <a:cubicBezTo>
                      <a:pt x="1263" y="1169"/>
                      <a:pt x="1262" y="1150"/>
                      <a:pt x="1272" y="1137"/>
                    </a:cubicBezTo>
                    <a:cubicBezTo>
                      <a:pt x="1468" y="874"/>
                      <a:pt x="1447" y="500"/>
                      <a:pt x="1209" y="261"/>
                    </a:cubicBezTo>
                    <a:cubicBezTo>
                      <a:pt x="948" y="0"/>
                      <a:pt x="522" y="0"/>
                      <a:pt x="261" y="261"/>
                    </a:cubicBezTo>
                    <a:cubicBezTo>
                      <a:pt x="0" y="523"/>
                      <a:pt x="0" y="948"/>
                      <a:pt x="261" y="1209"/>
                    </a:cubicBezTo>
                    <a:cubicBezTo>
                      <a:pt x="499" y="1448"/>
                      <a:pt x="874" y="1469"/>
                      <a:pt x="1136" y="1272"/>
                    </a:cubicBezTo>
                    <a:cubicBezTo>
                      <a:pt x="1150" y="1262"/>
                      <a:pt x="1168" y="1264"/>
                      <a:pt x="1180" y="1275"/>
                    </a:cubicBezTo>
                    <a:cubicBezTo>
                      <a:pt x="1328" y="1423"/>
                      <a:pt x="1475" y="1571"/>
                      <a:pt x="1623" y="171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grpSp>
      </p:grpSp>
      <p:sp>
        <p:nvSpPr>
          <p:cNvPr id="12" name="TextBox 11">
            <a:extLst>
              <a:ext uri="{FF2B5EF4-FFF2-40B4-BE49-F238E27FC236}">
                <a16:creationId xmlns:a16="http://schemas.microsoft.com/office/drawing/2014/main" id="{9A884D3E-FCB3-C32F-A642-F2052FF7448B}"/>
              </a:ext>
            </a:extLst>
          </p:cNvPr>
          <p:cNvSpPr txBox="1"/>
          <p:nvPr/>
        </p:nvSpPr>
        <p:spPr>
          <a:xfrm>
            <a:off x="36404" y="3155405"/>
            <a:ext cx="3181408" cy="646331"/>
          </a:xfrm>
          <a:prstGeom prst="rect">
            <a:avLst/>
          </a:prstGeom>
          <a:noFill/>
        </p:spPr>
        <p:txBody>
          <a:bodyPr wrap="square" rtlCol="0">
            <a:spAutoFit/>
          </a:bodyPr>
          <a:lstStyle/>
          <a:p>
            <a:pPr algn="ctr">
              <a:defRPr/>
            </a:pPr>
            <a:r>
              <a:rPr lang="en-GB" sz="3600">
                <a:latin typeface="+mj-lt"/>
              </a:rPr>
              <a:t>Description</a:t>
            </a:r>
          </a:p>
        </p:txBody>
      </p:sp>
      <p:cxnSp>
        <p:nvCxnSpPr>
          <p:cNvPr id="13" name="Straight Connector 12">
            <a:extLst>
              <a:ext uri="{FF2B5EF4-FFF2-40B4-BE49-F238E27FC236}">
                <a16:creationId xmlns:a16="http://schemas.microsoft.com/office/drawing/2014/main" id="{B777114D-4DC6-4C4C-E1A4-B58A3A7B2C6E}"/>
              </a:ext>
            </a:extLst>
          </p:cNvPr>
          <p:cNvCxnSpPr>
            <a:cxnSpLocks/>
          </p:cNvCxnSpPr>
          <p:nvPr/>
        </p:nvCxnSpPr>
        <p:spPr>
          <a:xfrm>
            <a:off x="-4602" y="3866944"/>
            <a:ext cx="324924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0F15515-753D-BBC9-70B5-AF025D8FD297}"/>
              </a:ext>
            </a:extLst>
          </p:cNvPr>
          <p:cNvCxnSpPr>
            <a:cxnSpLocks/>
          </p:cNvCxnSpPr>
          <p:nvPr/>
        </p:nvCxnSpPr>
        <p:spPr>
          <a:xfrm>
            <a:off x="4138818" y="2852160"/>
            <a:ext cx="347985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A453B7A6-A97D-E8D5-3BB0-70DEF5B3B5AF}"/>
              </a:ext>
            </a:extLst>
          </p:cNvPr>
          <p:cNvSpPr txBox="1"/>
          <p:nvPr/>
        </p:nvSpPr>
        <p:spPr>
          <a:xfrm>
            <a:off x="4577227" y="2553910"/>
            <a:ext cx="14186130" cy="1569660"/>
          </a:xfrm>
          <a:prstGeom prst="rect">
            <a:avLst/>
          </a:prstGeom>
          <a:noFill/>
        </p:spPr>
        <p:txBody>
          <a:bodyPr wrap="square" rtlCol="0">
            <a:spAutoFit/>
          </a:bodyPr>
          <a:lstStyle/>
          <a:p>
            <a:pPr>
              <a:defRPr/>
            </a:pPr>
            <a:endParaRPr lang="en-GB" sz="2400">
              <a:latin typeface="+mj-lt"/>
            </a:endParaRPr>
          </a:p>
          <a:p>
            <a:pPr>
              <a:defRPr/>
            </a:pPr>
            <a:r>
              <a:rPr lang="en-GB" sz="2400" err="1">
                <a:latin typeface="+mj-lt"/>
              </a:rPr>
              <a:t>MyAchilles</a:t>
            </a:r>
            <a:r>
              <a:rPr lang="en-GB" sz="2400">
                <a:latin typeface="+mj-lt"/>
              </a:rPr>
              <a:t> is a web-based supply chain risk management platform that enables supply chain data collection, analysis, and sharing in a simple and seamless manner. (Crown Jewel Application). Estimated at 500k users. </a:t>
            </a:r>
          </a:p>
        </p:txBody>
      </p:sp>
      <p:sp>
        <p:nvSpPr>
          <p:cNvPr id="23" name="TextBox 22">
            <a:extLst>
              <a:ext uri="{FF2B5EF4-FFF2-40B4-BE49-F238E27FC236}">
                <a16:creationId xmlns:a16="http://schemas.microsoft.com/office/drawing/2014/main" id="{36E3D7E4-7823-D5D8-EE9B-8A4B9794E61A}"/>
              </a:ext>
            </a:extLst>
          </p:cNvPr>
          <p:cNvSpPr txBox="1"/>
          <p:nvPr/>
        </p:nvSpPr>
        <p:spPr>
          <a:xfrm>
            <a:off x="28828" y="4867824"/>
            <a:ext cx="3207804" cy="954107"/>
          </a:xfrm>
          <a:prstGeom prst="rect">
            <a:avLst/>
          </a:prstGeom>
          <a:noFill/>
        </p:spPr>
        <p:txBody>
          <a:bodyPr wrap="square" rtlCol="0">
            <a:spAutoFit/>
          </a:bodyPr>
          <a:lstStyle/>
          <a:p>
            <a:pPr algn="ctr">
              <a:defRPr/>
            </a:pPr>
            <a:r>
              <a:rPr lang="en-GB" sz="2800">
                <a:latin typeface="+mj-lt"/>
              </a:rPr>
              <a:t>Infrastructure &amp; </a:t>
            </a:r>
          </a:p>
          <a:p>
            <a:pPr algn="ctr">
              <a:defRPr/>
            </a:pPr>
            <a:r>
              <a:rPr lang="en-GB" sz="2800">
                <a:latin typeface="+mj-lt"/>
              </a:rPr>
              <a:t>Technology</a:t>
            </a:r>
          </a:p>
        </p:txBody>
      </p:sp>
      <p:cxnSp>
        <p:nvCxnSpPr>
          <p:cNvPr id="24" name="Straight Connector 23">
            <a:extLst>
              <a:ext uri="{FF2B5EF4-FFF2-40B4-BE49-F238E27FC236}">
                <a16:creationId xmlns:a16="http://schemas.microsoft.com/office/drawing/2014/main" id="{3956E7B6-6AB1-A53A-A9FD-63629B323D26}"/>
              </a:ext>
            </a:extLst>
          </p:cNvPr>
          <p:cNvCxnSpPr>
            <a:cxnSpLocks/>
          </p:cNvCxnSpPr>
          <p:nvPr/>
        </p:nvCxnSpPr>
        <p:spPr>
          <a:xfrm>
            <a:off x="-4602" y="5906862"/>
            <a:ext cx="324924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5308E1D-C9CB-033D-A460-06EE12DD8747}"/>
              </a:ext>
            </a:extLst>
          </p:cNvPr>
          <p:cNvCxnSpPr>
            <a:cxnSpLocks/>
          </p:cNvCxnSpPr>
          <p:nvPr/>
        </p:nvCxnSpPr>
        <p:spPr>
          <a:xfrm>
            <a:off x="4158494" y="4892078"/>
            <a:ext cx="347985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A8E84CB2-BC23-A0F6-F8DA-6E982B6D809D}"/>
              </a:ext>
            </a:extLst>
          </p:cNvPr>
          <p:cNvSpPr txBox="1"/>
          <p:nvPr/>
        </p:nvSpPr>
        <p:spPr>
          <a:xfrm>
            <a:off x="4565769" y="5015494"/>
            <a:ext cx="14311326" cy="1938992"/>
          </a:xfrm>
          <a:prstGeom prst="rect">
            <a:avLst/>
          </a:prstGeom>
          <a:noFill/>
        </p:spPr>
        <p:txBody>
          <a:bodyPr wrap="square" rtlCol="0">
            <a:spAutoFit/>
          </a:bodyPr>
          <a:lstStyle/>
          <a:p>
            <a:pPr marL="571500" indent="-571500">
              <a:buFont typeface="Arial" panose="020B0604020202020204" pitchFamily="34" charset="0"/>
              <a:buChar char="•"/>
              <a:defRPr/>
            </a:pPr>
            <a:r>
              <a:rPr lang="en-GB" sz="2400">
                <a:latin typeface="+mj-lt"/>
              </a:rPr>
              <a:t>Running on Windows Server 2016 &amp; 2019, Linux RHEL 7.9 &amp; 9 and Linux RedHat Enterprise 7 &amp; 8</a:t>
            </a:r>
          </a:p>
          <a:p>
            <a:pPr marL="571500" indent="-571500">
              <a:buFont typeface="Arial" panose="020B0604020202020204" pitchFamily="34" charset="0"/>
              <a:buChar char="•"/>
              <a:defRPr/>
            </a:pPr>
            <a:r>
              <a:rPr lang="en-GB" sz="2400">
                <a:latin typeface="+mj-lt"/>
              </a:rPr>
              <a:t>Database Engines Include: NEO4J, SQL, MongoDB, Redis, IQ, Elastic Search and </a:t>
            </a:r>
            <a:r>
              <a:rPr lang="en-GB" sz="2400" err="1">
                <a:latin typeface="+mj-lt"/>
              </a:rPr>
              <a:t>FileStorage</a:t>
            </a:r>
            <a:r>
              <a:rPr lang="en-GB" sz="2400">
                <a:latin typeface="+mj-lt"/>
              </a:rPr>
              <a:t>.</a:t>
            </a:r>
          </a:p>
          <a:p>
            <a:pPr marL="571500" indent="-571500">
              <a:buFont typeface="Arial" panose="020B0604020202020204" pitchFamily="34" charset="0"/>
              <a:buChar char="•"/>
              <a:defRPr/>
            </a:pPr>
            <a:r>
              <a:rPr lang="en-GB" sz="2400">
                <a:latin typeface="+mj-lt"/>
              </a:rPr>
              <a:t>Blue / Green Deployment.</a:t>
            </a:r>
          </a:p>
          <a:p>
            <a:pPr marL="571500" indent="-571500">
              <a:buFont typeface="Arial" panose="020B0604020202020204" pitchFamily="34" charset="0"/>
              <a:buChar char="•"/>
              <a:defRPr/>
            </a:pPr>
            <a:r>
              <a:rPr lang="en-GB" sz="2400">
                <a:latin typeface="+mj-lt"/>
              </a:rPr>
              <a:t>Use of Jenkins, Azure DevOps, CI/CD ad–hoc pipelines and Scheduled Cron Jobs for Automation.</a:t>
            </a:r>
          </a:p>
          <a:p>
            <a:pPr marL="571500" indent="-571500">
              <a:buFont typeface="Arial" panose="020B0604020202020204" pitchFamily="34" charset="0"/>
              <a:buChar char="•"/>
              <a:defRPr/>
            </a:pPr>
            <a:endParaRPr lang="en-GB" sz="2400">
              <a:latin typeface="+mj-lt"/>
            </a:endParaRPr>
          </a:p>
        </p:txBody>
      </p:sp>
      <p:grpSp>
        <p:nvGrpSpPr>
          <p:cNvPr id="27" name="Group 26">
            <a:extLst>
              <a:ext uri="{FF2B5EF4-FFF2-40B4-BE49-F238E27FC236}">
                <a16:creationId xmlns:a16="http://schemas.microsoft.com/office/drawing/2014/main" id="{5F9A46E8-064D-EC13-4695-917033BD7269}"/>
              </a:ext>
            </a:extLst>
          </p:cNvPr>
          <p:cNvGrpSpPr>
            <a:grpSpLocks noChangeAspect="1"/>
          </p:cNvGrpSpPr>
          <p:nvPr/>
        </p:nvGrpSpPr>
        <p:grpSpPr>
          <a:xfrm>
            <a:off x="3248945" y="4921244"/>
            <a:ext cx="1221914" cy="1220560"/>
            <a:chOff x="2336097" y="4104286"/>
            <a:chExt cx="630238" cy="630237"/>
          </a:xfrm>
        </p:grpSpPr>
        <p:sp>
          <p:nvSpPr>
            <p:cNvPr id="28" name="Freeform 134">
              <a:extLst>
                <a:ext uri="{FF2B5EF4-FFF2-40B4-BE49-F238E27FC236}">
                  <a16:creationId xmlns:a16="http://schemas.microsoft.com/office/drawing/2014/main" id="{8ECE27C5-6390-68F6-0742-42A54B42BF59}"/>
                </a:ext>
              </a:extLst>
            </p:cNvPr>
            <p:cNvSpPr>
              <a:spLocks noChangeArrowheads="1"/>
            </p:cNvSpPr>
            <p:nvPr/>
          </p:nvSpPr>
          <p:spPr bwMode="auto">
            <a:xfrm>
              <a:off x="2336097" y="4104286"/>
              <a:ext cx="630238" cy="630237"/>
            </a:xfrm>
            <a:custGeom>
              <a:avLst/>
              <a:gdLst>
                <a:gd name="T0" fmla="*/ 1467 w 1750"/>
                <a:gd name="T1" fmla="*/ 1750 h 1751"/>
                <a:gd name="T2" fmla="*/ 1749 w 1750"/>
                <a:gd name="T3" fmla="*/ 1468 h 1751"/>
                <a:gd name="T4" fmla="*/ 1749 w 1750"/>
                <a:gd name="T5" fmla="*/ 282 h 1751"/>
                <a:gd name="T6" fmla="*/ 1467 w 1750"/>
                <a:gd name="T7" fmla="*/ 0 h 1751"/>
                <a:gd name="T8" fmla="*/ 282 w 1750"/>
                <a:gd name="T9" fmla="*/ 0 h 1751"/>
                <a:gd name="T10" fmla="*/ 0 w 1750"/>
                <a:gd name="T11" fmla="*/ 282 h 1751"/>
                <a:gd name="T12" fmla="*/ 0 w 1750"/>
                <a:gd name="T13" fmla="*/ 1468 h 1751"/>
                <a:gd name="T14" fmla="*/ 282 w 1750"/>
                <a:gd name="T15" fmla="*/ 1750 h 1751"/>
                <a:gd name="T16" fmla="*/ 1467 w 1750"/>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0" h="1751">
                  <a:moveTo>
                    <a:pt x="1467" y="1750"/>
                  </a:moveTo>
                  <a:cubicBezTo>
                    <a:pt x="1622" y="1750"/>
                    <a:pt x="1749" y="1623"/>
                    <a:pt x="1749" y="1468"/>
                  </a:cubicBezTo>
                  <a:cubicBezTo>
                    <a:pt x="1749" y="1073"/>
                    <a:pt x="1749" y="678"/>
                    <a:pt x="1749" y="282"/>
                  </a:cubicBezTo>
                  <a:cubicBezTo>
                    <a:pt x="1749" y="127"/>
                    <a:pt x="1622" y="0"/>
                    <a:pt x="1467" y="0"/>
                  </a:cubicBezTo>
                  <a:cubicBezTo>
                    <a:pt x="1072" y="0"/>
                    <a:pt x="677" y="0"/>
                    <a:pt x="282" y="0"/>
                  </a:cubicBezTo>
                  <a:cubicBezTo>
                    <a:pt x="127" y="0"/>
                    <a:pt x="0" y="127"/>
                    <a:pt x="0" y="282"/>
                  </a:cubicBezTo>
                  <a:cubicBezTo>
                    <a:pt x="0" y="678"/>
                    <a:pt x="0" y="1073"/>
                    <a:pt x="0" y="1468"/>
                  </a:cubicBezTo>
                  <a:cubicBezTo>
                    <a:pt x="0" y="1623"/>
                    <a:pt x="127" y="1750"/>
                    <a:pt x="282" y="1750"/>
                  </a:cubicBezTo>
                  <a:cubicBezTo>
                    <a:pt x="677" y="1750"/>
                    <a:pt x="1072" y="1750"/>
                    <a:pt x="1467"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29" name="Group 28">
              <a:extLst>
                <a:ext uri="{FF2B5EF4-FFF2-40B4-BE49-F238E27FC236}">
                  <a16:creationId xmlns:a16="http://schemas.microsoft.com/office/drawing/2014/main" id="{5AC1798E-5BB4-0C27-C158-49B62148016A}"/>
                </a:ext>
              </a:extLst>
            </p:cNvPr>
            <p:cNvGrpSpPr/>
            <p:nvPr/>
          </p:nvGrpSpPr>
          <p:grpSpPr>
            <a:xfrm>
              <a:off x="2455863" y="4235450"/>
              <a:ext cx="411162" cy="342900"/>
              <a:chOff x="2455863" y="4235450"/>
              <a:chExt cx="411162" cy="342900"/>
            </a:xfrm>
          </p:grpSpPr>
          <p:sp>
            <p:nvSpPr>
              <p:cNvPr id="30" name="Freeform 135">
                <a:extLst>
                  <a:ext uri="{FF2B5EF4-FFF2-40B4-BE49-F238E27FC236}">
                    <a16:creationId xmlns:a16="http://schemas.microsoft.com/office/drawing/2014/main" id="{E9CCF8A0-8B17-73A2-2BD2-B6160BA89BF1}"/>
                  </a:ext>
                </a:extLst>
              </p:cNvPr>
              <p:cNvSpPr>
                <a:spLocks noChangeArrowheads="1"/>
              </p:cNvSpPr>
              <p:nvPr/>
            </p:nvSpPr>
            <p:spPr bwMode="auto">
              <a:xfrm>
                <a:off x="2459038" y="4235450"/>
                <a:ext cx="254000" cy="244475"/>
              </a:xfrm>
              <a:custGeom>
                <a:avLst/>
                <a:gdLst>
                  <a:gd name="T0" fmla="*/ 706 w 707"/>
                  <a:gd name="T1" fmla="*/ 0 h 679"/>
                  <a:gd name="T2" fmla="*/ 0 w 707"/>
                  <a:gd name="T3" fmla="*/ 678 h 679"/>
                </a:gdLst>
                <a:ahLst/>
                <a:cxnLst>
                  <a:cxn ang="0">
                    <a:pos x="T0" y="T1"/>
                  </a:cxn>
                  <a:cxn ang="0">
                    <a:pos x="T2" y="T3"/>
                  </a:cxn>
                </a:cxnLst>
                <a:rect l="0" t="0" r="r" b="b"/>
                <a:pathLst>
                  <a:path w="707" h="679">
                    <a:moveTo>
                      <a:pt x="706" y="0"/>
                    </a:moveTo>
                    <a:cubicBezTo>
                      <a:pt x="471" y="226"/>
                      <a:pt x="235" y="452"/>
                      <a:pt x="0" y="67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1" name="Freeform 136">
                <a:extLst>
                  <a:ext uri="{FF2B5EF4-FFF2-40B4-BE49-F238E27FC236}">
                    <a16:creationId xmlns:a16="http://schemas.microsoft.com/office/drawing/2014/main" id="{86132E97-3EDB-EEB9-467D-101A65464565}"/>
                  </a:ext>
                </a:extLst>
              </p:cNvPr>
              <p:cNvSpPr>
                <a:spLocks noChangeArrowheads="1"/>
              </p:cNvSpPr>
              <p:nvPr/>
            </p:nvSpPr>
            <p:spPr bwMode="auto">
              <a:xfrm>
                <a:off x="2652713" y="4235450"/>
                <a:ext cx="61912" cy="61913"/>
              </a:xfrm>
              <a:custGeom>
                <a:avLst/>
                <a:gdLst>
                  <a:gd name="T0" fmla="*/ 170 w 171"/>
                  <a:gd name="T1" fmla="*/ 169 h 170"/>
                  <a:gd name="T2" fmla="*/ 170 w 171"/>
                  <a:gd name="T3" fmla="*/ 7 h 170"/>
                  <a:gd name="T4" fmla="*/ 163 w 171"/>
                  <a:gd name="T5" fmla="*/ 0 h 170"/>
                  <a:gd name="T6" fmla="*/ 0 w 171"/>
                  <a:gd name="T7" fmla="*/ 0 h 170"/>
                </a:gdLst>
                <a:ahLst/>
                <a:cxnLst>
                  <a:cxn ang="0">
                    <a:pos x="T0" y="T1"/>
                  </a:cxn>
                  <a:cxn ang="0">
                    <a:pos x="T2" y="T3"/>
                  </a:cxn>
                  <a:cxn ang="0">
                    <a:pos x="T4" y="T5"/>
                  </a:cxn>
                  <a:cxn ang="0">
                    <a:pos x="T6" y="T7"/>
                  </a:cxn>
                </a:cxnLst>
                <a:rect l="0" t="0" r="r" b="b"/>
                <a:pathLst>
                  <a:path w="171" h="170">
                    <a:moveTo>
                      <a:pt x="170" y="169"/>
                    </a:moveTo>
                    <a:cubicBezTo>
                      <a:pt x="170" y="115"/>
                      <a:pt x="170" y="61"/>
                      <a:pt x="170" y="7"/>
                    </a:cubicBezTo>
                    <a:cubicBezTo>
                      <a:pt x="170" y="3"/>
                      <a:pt x="167" y="0"/>
                      <a:pt x="163" y="0"/>
                    </a:cubicBezTo>
                    <a:cubicBezTo>
                      <a:pt x="109" y="0"/>
                      <a:pt x="5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2" name="Freeform 137">
                <a:extLst>
                  <a:ext uri="{FF2B5EF4-FFF2-40B4-BE49-F238E27FC236}">
                    <a16:creationId xmlns:a16="http://schemas.microsoft.com/office/drawing/2014/main" id="{AC6D2CFD-D1D7-F6AB-E82D-ED3690C95CD7}"/>
                  </a:ext>
                </a:extLst>
              </p:cNvPr>
              <p:cNvSpPr>
                <a:spLocks noChangeArrowheads="1"/>
              </p:cNvSpPr>
              <p:nvPr/>
            </p:nvSpPr>
            <p:spPr bwMode="auto">
              <a:xfrm>
                <a:off x="2749550" y="4235450"/>
                <a:ext cx="117475" cy="61913"/>
              </a:xfrm>
              <a:custGeom>
                <a:avLst/>
                <a:gdLst>
                  <a:gd name="T0" fmla="*/ 324 w 325"/>
                  <a:gd name="T1" fmla="*/ 56 h 170"/>
                  <a:gd name="T2" fmla="*/ 268 w 325"/>
                  <a:gd name="T3" fmla="*/ 0 h 170"/>
                  <a:gd name="T4" fmla="*/ 56 w 325"/>
                  <a:gd name="T5" fmla="*/ 0 h 170"/>
                  <a:gd name="T6" fmla="*/ 0 w 325"/>
                  <a:gd name="T7" fmla="*/ 56 h 170"/>
                  <a:gd name="T8" fmla="*/ 0 w 325"/>
                  <a:gd name="T9" fmla="*/ 113 h 170"/>
                  <a:gd name="T10" fmla="*/ 56 w 325"/>
                  <a:gd name="T11" fmla="*/ 169 h 170"/>
                  <a:gd name="T12" fmla="*/ 268 w 325"/>
                  <a:gd name="T13" fmla="*/ 169 h 170"/>
                  <a:gd name="T14" fmla="*/ 324 w 325"/>
                  <a:gd name="T15" fmla="*/ 113 h 170"/>
                  <a:gd name="T16" fmla="*/ 324 w 325"/>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70">
                    <a:moveTo>
                      <a:pt x="324" y="56"/>
                    </a:moveTo>
                    <a:cubicBezTo>
                      <a:pt x="324" y="25"/>
                      <a:pt x="299" y="0"/>
                      <a:pt x="268" y="0"/>
                    </a:cubicBezTo>
                    <a:cubicBezTo>
                      <a:pt x="197" y="0"/>
                      <a:pt x="127" y="0"/>
                      <a:pt x="56" y="0"/>
                    </a:cubicBezTo>
                    <a:cubicBezTo>
                      <a:pt x="25" y="0"/>
                      <a:pt x="0" y="25"/>
                      <a:pt x="0" y="56"/>
                    </a:cubicBezTo>
                    <a:cubicBezTo>
                      <a:pt x="0" y="75"/>
                      <a:pt x="0" y="94"/>
                      <a:pt x="0" y="113"/>
                    </a:cubicBezTo>
                    <a:cubicBezTo>
                      <a:pt x="0" y="144"/>
                      <a:pt x="25" y="169"/>
                      <a:pt x="56" y="169"/>
                    </a:cubicBezTo>
                    <a:cubicBezTo>
                      <a:pt x="127" y="169"/>
                      <a:pt x="197" y="169"/>
                      <a:pt x="268" y="169"/>
                    </a:cubicBezTo>
                    <a:cubicBezTo>
                      <a:pt x="299" y="169"/>
                      <a:pt x="324" y="144"/>
                      <a:pt x="324" y="113"/>
                    </a:cubicBezTo>
                    <a:cubicBezTo>
                      <a:pt x="324" y="94"/>
                      <a:pt x="324" y="75"/>
                      <a:pt x="324" y="5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33" name="Freeform 138">
                <a:extLst>
                  <a:ext uri="{FF2B5EF4-FFF2-40B4-BE49-F238E27FC236}">
                    <a16:creationId xmlns:a16="http://schemas.microsoft.com/office/drawing/2014/main" id="{E769C67E-1F7C-FC2F-6BB2-210CD4DB6837}"/>
                  </a:ext>
                </a:extLst>
              </p:cNvPr>
              <p:cNvSpPr>
                <a:spLocks noChangeArrowheads="1"/>
              </p:cNvSpPr>
              <p:nvPr/>
            </p:nvSpPr>
            <p:spPr bwMode="auto">
              <a:xfrm>
                <a:off x="2825750" y="4265613"/>
                <a:ext cx="15875" cy="1587"/>
              </a:xfrm>
              <a:custGeom>
                <a:avLst/>
                <a:gdLst>
                  <a:gd name="T0" fmla="*/ 43 w 44"/>
                  <a:gd name="T1" fmla="*/ 0 h 1"/>
                  <a:gd name="T2" fmla="*/ 0 w 44"/>
                  <a:gd name="T3" fmla="*/ 0 h 1"/>
                </a:gdLst>
                <a:ahLst/>
                <a:cxnLst>
                  <a:cxn ang="0">
                    <a:pos x="T0" y="T1"/>
                  </a:cxn>
                  <a:cxn ang="0">
                    <a:pos x="T2" y="T3"/>
                  </a:cxn>
                </a:cxnLst>
                <a:rect l="0" t="0" r="r" b="b"/>
                <a:pathLst>
                  <a:path w="44" h="1">
                    <a:moveTo>
                      <a:pt x="43" y="0"/>
                    </a:moveTo>
                    <a:cubicBezTo>
                      <a:pt x="29" y="0"/>
                      <a:pt x="1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4" name="Freeform 139">
                <a:extLst>
                  <a:ext uri="{FF2B5EF4-FFF2-40B4-BE49-F238E27FC236}">
                    <a16:creationId xmlns:a16="http://schemas.microsoft.com/office/drawing/2014/main" id="{B5B16C89-2201-1162-ABE9-90BD160FA49A}"/>
                  </a:ext>
                </a:extLst>
              </p:cNvPr>
              <p:cNvSpPr>
                <a:spLocks noChangeArrowheads="1"/>
              </p:cNvSpPr>
              <p:nvPr/>
            </p:nvSpPr>
            <p:spPr bwMode="auto">
              <a:xfrm>
                <a:off x="2749550" y="4329113"/>
                <a:ext cx="117475" cy="61912"/>
              </a:xfrm>
              <a:custGeom>
                <a:avLst/>
                <a:gdLst>
                  <a:gd name="T0" fmla="*/ 324 w 325"/>
                  <a:gd name="T1" fmla="*/ 56 h 170"/>
                  <a:gd name="T2" fmla="*/ 268 w 325"/>
                  <a:gd name="T3" fmla="*/ 0 h 170"/>
                  <a:gd name="T4" fmla="*/ 56 w 325"/>
                  <a:gd name="T5" fmla="*/ 0 h 170"/>
                  <a:gd name="T6" fmla="*/ 0 w 325"/>
                  <a:gd name="T7" fmla="*/ 56 h 170"/>
                  <a:gd name="T8" fmla="*/ 0 w 325"/>
                  <a:gd name="T9" fmla="*/ 113 h 170"/>
                  <a:gd name="T10" fmla="*/ 56 w 325"/>
                  <a:gd name="T11" fmla="*/ 169 h 170"/>
                  <a:gd name="T12" fmla="*/ 268 w 325"/>
                  <a:gd name="T13" fmla="*/ 169 h 170"/>
                  <a:gd name="T14" fmla="*/ 324 w 325"/>
                  <a:gd name="T15" fmla="*/ 113 h 170"/>
                  <a:gd name="T16" fmla="*/ 324 w 325"/>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70">
                    <a:moveTo>
                      <a:pt x="324" y="56"/>
                    </a:moveTo>
                    <a:cubicBezTo>
                      <a:pt x="324" y="25"/>
                      <a:pt x="299" y="0"/>
                      <a:pt x="268" y="0"/>
                    </a:cubicBezTo>
                    <a:cubicBezTo>
                      <a:pt x="197" y="0"/>
                      <a:pt x="127" y="0"/>
                      <a:pt x="56" y="0"/>
                    </a:cubicBezTo>
                    <a:cubicBezTo>
                      <a:pt x="25" y="0"/>
                      <a:pt x="0" y="25"/>
                      <a:pt x="0" y="56"/>
                    </a:cubicBezTo>
                    <a:cubicBezTo>
                      <a:pt x="0" y="75"/>
                      <a:pt x="0" y="94"/>
                      <a:pt x="0" y="113"/>
                    </a:cubicBezTo>
                    <a:cubicBezTo>
                      <a:pt x="0" y="144"/>
                      <a:pt x="25" y="169"/>
                      <a:pt x="56" y="169"/>
                    </a:cubicBezTo>
                    <a:cubicBezTo>
                      <a:pt x="127" y="169"/>
                      <a:pt x="197" y="169"/>
                      <a:pt x="268" y="169"/>
                    </a:cubicBezTo>
                    <a:cubicBezTo>
                      <a:pt x="299" y="169"/>
                      <a:pt x="324" y="144"/>
                      <a:pt x="324" y="113"/>
                    </a:cubicBezTo>
                    <a:cubicBezTo>
                      <a:pt x="324" y="94"/>
                      <a:pt x="324" y="75"/>
                      <a:pt x="324" y="5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35" name="Freeform 140">
                <a:extLst>
                  <a:ext uri="{FF2B5EF4-FFF2-40B4-BE49-F238E27FC236}">
                    <a16:creationId xmlns:a16="http://schemas.microsoft.com/office/drawing/2014/main" id="{9A4E3AD3-8B15-1867-E7CD-6E03BCF6B4F7}"/>
                  </a:ext>
                </a:extLst>
              </p:cNvPr>
              <p:cNvSpPr>
                <a:spLocks noChangeArrowheads="1"/>
              </p:cNvSpPr>
              <p:nvPr/>
            </p:nvSpPr>
            <p:spPr bwMode="auto">
              <a:xfrm>
                <a:off x="2825750" y="4359275"/>
                <a:ext cx="15875" cy="1588"/>
              </a:xfrm>
              <a:custGeom>
                <a:avLst/>
                <a:gdLst>
                  <a:gd name="T0" fmla="*/ 43 w 44"/>
                  <a:gd name="T1" fmla="*/ 0 h 1"/>
                  <a:gd name="T2" fmla="*/ 0 w 44"/>
                  <a:gd name="T3" fmla="*/ 0 h 1"/>
                </a:gdLst>
                <a:ahLst/>
                <a:cxnLst>
                  <a:cxn ang="0">
                    <a:pos x="T0" y="T1"/>
                  </a:cxn>
                  <a:cxn ang="0">
                    <a:pos x="T2" y="T3"/>
                  </a:cxn>
                </a:cxnLst>
                <a:rect l="0" t="0" r="r" b="b"/>
                <a:pathLst>
                  <a:path w="44" h="1">
                    <a:moveTo>
                      <a:pt x="43" y="0"/>
                    </a:moveTo>
                    <a:cubicBezTo>
                      <a:pt x="29" y="0"/>
                      <a:pt x="1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6" name="Freeform 141">
                <a:extLst>
                  <a:ext uri="{FF2B5EF4-FFF2-40B4-BE49-F238E27FC236}">
                    <a16:creationId xmlns:a16="http://schemas.microsoft.com/office/drawing/2014/main" id="{06CB58F2-896A-CE10-5491-25B9C012277E}"/>
                  </a:ext>
                </a:extLst>
              </p:cNvPr>
              <p:cNvSpPr>
                <a:spLocks noChangeArrowheads="1"/>
              </p:cNvSpPr>
              <p:nvPr/>
            </p:nvSpPr>
            <p:spPr bwMode="auto">
              <a:xfrm>
                <a:off x="2749550" y="4422775"/>
                <a:ext cx="117475" cy="61913"/>
              </a:xfrm>
              <a:custGeom>
                <a:avLst/>
                <a:gdLst>
                  <a:gd name="T0" fmla="*/ 324 w 325"/>
                  <a:gd name="T1" fmla="*/ 56 h 170"/>
                  <a:gd name="T2" fmla="*/ 268 w 325"/>
                  <a:gd name="T3" fmla="*/ 0 h 170"/>
                  <a:gd name="T4" fmla="*/ 56 w 325"/>
                  <a:gd name="T5" fmla="*/ 0 h 170"/>
                  <a:gd name="T6" fmla="*/ 0 w 325"/>
                  <a:gd name="T7" fmla="*/ 56 h 170"/>
                  <a:gd name="T8" fmla="*/ 0 w 325"/>
                  <a:gd name="T9" fmla="*/ 113 h 170"/>
                  <a:gd name="T10" fmla="*/ 56 w 325"/>
                  <a:gd name="T11" fmla="*/ 169 h 170"/>
                  <a:gd name="T12" fmla="*/ 268 w 325"/>
                  <a:gd name="T13" fmla="*/ 169 h 170"/>
                  <a:gd name="T14" fmla="*/ 324 w 325"/>
                  <a:gd name="T15" fmla="*/ 113 h 170"/>
                  <a:gd name="T16" fmla="*/ 324 w 325"/>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70">
                    <a:moveTo>
                      <a:pt x="324" y="56"/>
                    </a:moveTo>
                    <a:cubicBezTo>
                      <a:pt x="324" y="25"/>
                      <a:pt x="299" y="0"/>
                      <a:pt x="268" y="0"/>
                    </a:cubicBezTo>
                    <a:cubicBezTo>
                      <a:pt x="197" y="0"/>
                      <a:pt x="127" y="0"/>
                      <a:pt x="56" y="0"/>
                    </a:cubicBezTo>
                    <a:cubicBezTo>
                      <a:pt x="25" y="0"/>
                      <a:pt x="0" y="25"/>
                      <a:pt x="0" y="56"/>
                    </a:cubicBezTo>
                    <a:cubicBezTo>
                      <a:pt x="0" y="75"/>
                      <a:pt x="0" y="94"/>
                      <a:pt x="0" y="113"/>
                    </a:cubicBezTo>
                    <a:cubicBezTo>
                      <a:pt x="0" y="144"/>
                      <a:pt x="25" y="169"/>
                      <a:pt x="56" y="169"/>
                    </a:cubicBezTo>
                    <a:cubicBezTo>
                      <a:pt x="127" y="169"/>
                      <a:pt x="197" y="169"/>
                      <a:pt x="268" y="169"/>
                    </a:cubicBezTo>
                    <a:cubicBezTo>
                      <a:pt x="299" y="169"/>
                      <a:pt x="324" y="144"/>
                      <a:pt x="324" y="113"/>
                    </a:cubicBezTo>
                    <a:cubicBezTo>
                      <a:pt x="324" y="94"/>
                      <a:pt x="324" y="75"/>
                      <a:pt x="324" y="5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37" name="Freeform 142">
                <a:extLst>
                  <a:ext uri="{FF2B5EF4-FFF2-40B4-BE49-F238E27FC236}">
                    <a16:creationId xmlns:a16="http://schemas.microsoft.com/office/drawing/2014/main" id="{3622E79F-9225-82D6-2572-EDEF6E67F037}"/>
                  </a:ext>
                </a:extLst>
              </p:cNvPr>
              <p:cNvSpPr>
                <a:spLocks noChangeArrowheads="1"/>
              </p:cNvSpPr>
              <p:nvPr/>
            </p:nvSpPr>
            <p:spPr bwMode="auto">
              <a:xfrm>
                <a:off x="2825750" y="4452938"/>
                <a:ext cx="15875" cy="1587"/>
              </a:xfrm>
              <a:custGeom>
                <a:avLst/>
                <a:gdLst>
                  <a:gd name="T0" fmla="*/ 43 w 44"/>
                  <a:gd name="T1" fmla="*/ 0 h 1"/>
                  <a:gd name="T2" fmla="*/ 0 w 44"/>
                  <a:gd name="T3" fmla="*/ 0 h 1"/>
                </a:gdLst>
                <a:ahLst/>
                <a:cxnLst>
                  <a:cxn ang="0">
                    <a:pos x="T0" y="T1"/>
                  </a:cxn>
                  <a:cxn ang="0">
                    <a:pos x="T2" y="T3"/>
                  </a:cxn>
                </a:cxnLst>
                <a:rect l="0" t="0" r="r" b="b"/>
                <a:pathLst>
                  <a:path w="44" h="1">
                    <a:moveTo>
                      <a:pt x="43" y="0"/>
                    </a:moveTo>
                    <a:cubicBezTo>
                      <a:pt x="29" y="0"/>
                      <a:pt x="1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38" name="Freeform 143">
                <a:extLst>
                  <a:ext uri="{FF2B5EF4-FFF2-40B4-BE49-F238E27FC236}">
                    <a16:creationId xmlns:a16="http://schemas.microsoft.com/office/drawing/2014/main" id="{282933F1-9E00-9AAD-F6C5-2A745D995826}"/>
                  </a:ext>
                </a:extLst>
              </p:cNvPr>
              <p:cNvSpPr>
                <a:spLocks noChangeArrowheads="1"/>
              </p:cNvSpPr>
              <p:nvPr/>
            </p:nvSpPr>
            <p:spPr bwMode="auto">
              <a:xfrm>
                <a:off x="2749550" y="4516438"/>
                <a:ext cx="117475" cy="61912"/>
              </a:xfrm>
              <a:custGeom>
                <a:avLst/>
                <a:gdLst>
                  <a:gd name="T0" fmla="*/ 324 w 325"/>
                  <a:gd name="T1" fmla="*/ 56 h 170"/>
                  <a:gd name="T2" fmla="*/ 268 w 325"/>
                  <a:gd name="T3" fmla="*/ 0 h 170"/>
                  <a:gd name="T4" fmla="*/ 56 w 325"/>
                  <a:gd name="T5" fmla="*/ 0 h 170"/>
                  <a:gd name="T6" fmla="*/ 0 w 325"/>
                  <a:gd name="T7" fmla="*/ 56 h 170"/>
                  <a:gd name="T8" fmla="*/ 0 w 325"/>
                  <a:gd name="T9" fmla="*/ 113 h 170"/>
                  <a:gd name="T10" fmla="*/ 56 w 325"/>
                  <a:gd name="T11" fmla="*/ 169 h 170"/>
                  <a:gd name="T12" fmla="*/ 268 w 325"/>
                  <a:gd name="T13" fmla="*/ 169 h 170"/>
                  <a:gd name="T14" fmla="*/ 324 w 325"/>
                  <a:gd name="T15" fmla="*/ 113 h 170"/>
                  <a:gd name="T16" fmla="*/ 324 w 325"/>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5" h="170">
                    <a:moveTo>
                      <a:pt x="324" y="56"/>
                    </a:moveTo>
                    <a:cubicBezTo>
                      <a:pt x="324" y="25"/>
                      <a:pt x="299" y="0"/>
                      <a:pt x="268" y="0"/>
                    </a:cubicBezTo>
                    <a:cubicBezTo>
                      <a:pt x="197" y="0"/>
                      <a:pt x="127" y="0"/>
                      <a:pt x="56" y="0"/>
                    </a:cubicBezTo>
                    <a:cubicBezTo>
                      <a:pt x="25" y="0"/>
                      <a:pt x="0" y="25"/>
                      <a:pt x="0" y="56"/>
                    </a:cubicBezTo>
                    <a:cubicBezTo>
                      <a:pt x="0" y="75"/>
                      <a:pt x="0" y="94"/>
                      <a:pt x="0" y="113"/>
                    </a:cubicBezTo>
                    <a:cubicBezTo>
                      <a:pt x="0" y="144"/>
                      <a:pt x="25" y="169"/>
                      <a:pt x="56" y="169"/>
                    </a:cubicBezTo>
                    <a:cubicBezTo>
                      <a:pt x="127" y="169"/>
                      <a:pt x="197" y="169"/>
                      <a:pt x="268" y="169"/>
                    </a:cubicBezTo>
                    <a:cubicBezTo>
                      <a:pt x="299" y="169"/>
                      <a:pt x="324" y="144"/>
                      <a:pt x="324" y="113"/>
                    </a:cubicBezTo>
                    <a:cubicBezTo>
                      <a:pt x="324" y="94"/>
                      <a:pt x="324" y="75"/>
                      <a:pt x="324" y="5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39" name="Freeform 144">
                <a:extLst>
                  <a:ext uri="{FF2B5EF4-FFF2-40B4-BE49-F238E27FC236}">
                    <a16:creationId xmlns:a16="http://schemas.microsoft.com/office/drawing/2014/main" id="{690103EA-0085-F9A7-2B00-1081AC6CD81F}"/>
                  </a:ext>
                </a:extLst>
              </p:cNvPr>
              <p:cNvSpPr>
                <a:spLocks noChangeArrowheads="1"/>
              </p:cNvSpPr>
              <p:nvPr/>
            </p:nvSpPr>
            <p:spPr bwMode="auto">
              <a:xfrm>
                <a:off x="2825750" y="4546600"/>
                <a:ext cx="15875" cy="1588"/>
              </a:xfrm>
              <a:custGeom>
                <a:avLst/>
                <a:gdLst>
                  <a:gd name="T0" fmla="*/ 43 w 44"/>
                  <a:gd name="T1" fmla="*/ 0 h 1"/>
                  <a:gd name="T2" fmla="*/ 0 w 44"/>
                  <a:gd name="T3" fmla="*/ 0 h 1"/>
                </a:gdLst>
                <a:ahLst/>
                <a:cxnLst>
                  <a:cxn ang="0">
                    <a:pos x="T0" y="T1"/>
                  </a:cxn>
                  <a:cxn ang="0">
                    <a:pos x="T2" y="T3"/>
                  </a:cxn>
                </a:cxnLst>
                <a:rect l="0" t="0" r="r" b="b"/>
                <a:pathLst>
                  <a:path w="44" h="1">
                    <a:moveTo>
                      <a:pt x="43" y="0"/>
                    </a:moveTo>
                    <a:cubicBezTo>
                      <a:pt x="29" y="0"/>
                      <a:pt x="1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0" name="Freeform 145">
                <a:extLst>
                  <a:ext uri="{FF2B5EF4-FFF2-40B4-BE49-F238E27FC236}">
                    <a16:creationId xmlns:a16="http://schemas.microsoft.com/office/drawing/2014/main" id="{A6537BD5-D1BF-9E87-34FE-10FE0C5D5E0B}"/>
                  </a:ext>
                </a:extLst>
              </p:cNvPr>
              <p:cNvSpPr>
                <a:spLocks noChangeArrowheads="1"/>
              </p:cNvSpPr>
              <p:nvPr/>
            </p:nvSpPr>
            <p:spPr bwMode="auto">
              <a:xfrm>
                <a:off x="2601913" y="4422775"/>
                <a:ext cx="117475" cy="61913"/>
              </a:xfrm>
              <a:custGeom>
                <a:avLst/>
                <a:gdLst>
                  <a:gd name="T0" fmla="*/ 325 w 326"/>
                  <a:gd name="T1" fmla="*/ 56 h 170"/>
                  <a:gd name="T2" fmla="*/ 268 w 326"/>
                  <a:gd name="T3" fmla="*/ 0 h 170"/>
                  <a:gd name="T4" fmla="*/ 57 w 326"/>
                  <a:gd name="T5" fmla="*/ 0 h 170"/>
                  <a:gd name="T6" fmla="*/ 0 w 326"/>
                  <a:gd name="T7" fmla="*/ 56 h 170"/>
                  <a:gd name="T8" fmla="*/ 0 w 326"/>
                  <a:gd name="T9" fmla="*/ 113 h 170"/>
                  <a:gd name="T10" fmla="*/ 57 w 326"/>
                  <a:gd name="T11" fmla="*/ 169 h 170"/>
                  <a:gd name="T12" fmla="*/ 268 w 326"/>
                  <a:gd name="T13" fmla="*/ 169 h 170"/>
                  <a:gd name="T14" fmla="*/ 325 w 326"/>
                  <a:gd name="T15" fmla="*/ 113 h 170"/>
                  <a:gd name="T16" fmla="*/ 325 w 326"/>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70">
                    <a:moveTo>
                      <a:pt x="325" y="56"/>
                    </a:moveTo>
                    <a:cubicBezTo>
                      <a:pt x="325" y="25"/>
                      <a:pt x="300" y="0"/>
                      <a:pt x="268" y="0"/>
                    </a:cubicBezTo>
                    <a:cubicBezTo>
                      <a:pt x="198" y="0"/>
                      <a:pt x="127" y="0"/>
                      <a:pt x="57" y="0"/>
                    </a:cubicBezTo>
                    <a:cubicBezTo>
                      <a:pt x="26" y="0"/>
                      <a:pt x="0" y="25"/>
                      <a:pt x="0" y="56"/>
                    </a:cubicBezTo>
                    <a:cubicBezTo>
                      <a:pt x="0" y="75"/>
                      <a:pt x="0" y="94"/>
                      <a:pt x="0" y="113"/>
                    </a:cubicBezTo>
                    <a:cubicBezTo>
                      <a:pt x="0" y="144"/>
                      <a:pt x="26" y="169"/>
                      <a:pt x="57" y="169"/>
                    </a:cubicBezTo>
                    <a:cubicBezTo>
                      <a:pt x="127" y="169"/>
                      <a:pt x="198" y="169"/>
                      <a:pt x="268" y="169"/>
                    </a:cubicBezTo>
                    <a:cubicBezTo>
                      <a:pt x="300" y="169"/>
                      <a:pt x="325" y="144"/>
                      <a:pt x="325" y="113"/>
                    </a:cubicBezTo>
                    <a:cubicBezTo>
                      <a:pt x="325" y="94"/>
                      <a:pt x="325" y="75"/>
                      <a:pt x="325" y="5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41" name="Freeform 146">
                <a:extLst>
                  <a:ext uri="{FF2B5EF4-FFF2-40B4-BE49-F238E27FC236}">
                    <a16:creationId xmlns:a16="http://schemas.microsoft.com/office/drawing/2014/main" id="{C2EA7881-822E-5C87-7823-60601B985EB2}"/>
                  </a:ext>
                </a:extLst>
              </p:cNvPr>
              <p:cNvSpPr>
                <a:spLocks noChangeArrowheads="1"/>
              </p:cNvSpPr>
              <p:nvPr/>
            </p:nvSpPr>
            <p:spPr bwMode="auto">
              <a:xfrm>
                <a:off x="2678113" y="4452938"/>
                <a:ext cx="15875" cy="1587"/>
              </a:xfrm>
              <a:custGeom>
                <a:avLst/>
                <a:gdLst>
                  <a:gd name="T0" fmla="*/ 42 w 43"/>
                  <a:gd name="T1" fmla="*/ 0 h 1"/>
                  <a:gd name="T2" fmla="*/ 0 w 43"/>
                  <a:gd name="T3" fmla="*/ 0 h 1"/>
                </a:gdLst>
                <a:ahLst/>
                <a:cxnLst>
                  <a:cxn ang="0">
                    <a:pos x="T0" y="T1"/>
                  </a:cxn>
                  <a:cxn ang="0">
                    <a:pos x="T2" y="T3"/>
                  </a:cxn>
                </a:cxnLst>
                <a:rect l="0" t="0" r="r" b="b"/>
                <a:pathLst>
                  <a:path w="43" h="1">
                    <a:moveTo>
                      <a:pt x="42" y="0"/>
                    </a:moveTo>
                    <a:cubicBezTo>
                      <a:pt x="28" y="0"/>
                      <a:pt x="1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2" name="Freeform 147">
                <a:extLst>
                  <a:ext uri="{FF2B5EF4-FFF2-40B4-BE49-F238E27FC236}">
                    <a16:creationId xmlns:a16="http://schemas.microsoft.com/office/drawing/2014/main" id="{395B0111-5A7E-8944-6835-210E4B3E6A76}"/>
                  </a:ext>
                </a:extLst>
              </p:cNvPr>
              <p:cNvSpPr>
                <a:spLocks noChangeArrowheads="1"/>
              </p:cNvSpPr>
              <p:nvPr/>
            </p:nvSpPr>
            <p:spPr bwMode="auto">
              <a:xfrm>
                <a:off x="2601913" y="4516438"/>
                <a:ext cx="117475" cy="61912"/>
              </a:xfrm>
              <a:custGeom>
                <a:avLst/>
                <a:gdLst>
                  <a:gd name="T0" fmla="*/ 325 w 326"/>
                  <a:gd name="T1" fmla="*/ 56 h 170"/>
                  <a:gd name="T2" fmla="*/ 268 w 326"/>
                  <a:gd name="T3" fmla="*/ 0 h 170"/>
                  <a:gd name="T4" fmla="*/ 57 w 326"/>
                  <a:gd name="T5" fmla="*/ 0 h 170"/>
                  <a:gd name="T6" fmla="*/ 0 w 326"/>
                  <a:gd name="T7" fmla="*/ 56 h 170"/>
                  <a:gd name="T8" fmla="*/ 0 w 326"/>
                  <a:gd name="T9" fmla="*/ 113 h 170"/>
                  <a:gd name="T10" fmla="*/ 57 w 326"/>
                  <a:gd name="T11" fmla="*/ 169 h 170"/>
                  <a:gd name="T12" fmla="*/ 268 w 326"/>
                  <a:gd name="T13" fmla="*/ 169 h 170"/>
                  <a:gd name="T14" fmla="*/ 325 w 326"/>
                  <a:gd name="T15" fmla="*/ 113 h 170"/>
                  <a:gd name="T16" fmla="*/ 325 w 326"/>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70">
                    <a:moveTo>
                      <a:pt x="325" y="56"/>
                    </a:moveTo>
                    <a:cubicBezTo>
                      <a:pt x="325" y="25"/>
                      <a:pt x="300" y="0"/>
                      <a:pt x="268" y="0"/>
                    </a:cubicBezTo>
                    <a:cubicBezTo>
                      <a:pt x="198" y="0"/>
                      <a:pt x="127" y="0"/>
                      <a:pt x="57" y="0"/>
                    </a:cubicBezTo>
                    <a:cubicBezTo>
                      <a:pt x="26" y="0"/>
                      <a:pt x="0" y="25"/>
                      <a:pt x="0" y="56"/>
                    </a:cubicBezTo>
                    <a:cubicBezTo>
                      <a:pt x="0" y="75"/>
                      <a:pt x="0" y="94"/>
                      <a:pt x="0" y="113"/>
                    </a:cubicBezTo>
                    <a:cubicBezTo>
                      <a:pt x="0" y="144"/>
                      <a:pt x="26" y="169"/>
                      <a:pt x="57" y="169"/>
                    </a:cubicBezTo>
                    <a:cubicBezTo>
                      <a:pt x="127" y="169"/>
                      <a:pt x="198" y="169"/>
                      <a:pt x="268" y="169"/>
                    </a:cubicBezTo>
                    <a:cubicBezTo>
                      <a:pt x="300" y="169"/>
                      <a:pt x="325" y="144"/>
                      <a:pt x="325" y="113"/>
                    </a:cubicBezTo>
                    <a:cubicBezTo>
                      <a:pt x="325" y="94"/>
                      <a:pt x="325" y="75"/>
                      <a:pt x="325" y="5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43" name="Freeform 148">
                <a:extLst>
                  <a:ext uri="{FF2B5EF4-FFF2-40B4-BE49-F238E27FC236}">
                    <a16:creationId xmlns:a16="http://schemas.microsoft.com/office/drawing/2014/main" id="{D4AAA7BB-0C09-8C2A-D3DA-41440F42CEC9}"/>
                  </a:ext>
                </a:extLst>
              </p:cNvPr>
              <p:cNvSpPr>
                <a:spLocks noChangeArrowheads="1"/>
              </p:cNvSpPr>
              <p:nvPr/>
            </p:nvSpPr>
            <p:spPr bwMode="auto">
              <a:xfrm>
                <a:off x="2678113" y="4546600"/>
                <a:ext cx="15875" cy="1588"/>
              </a:xfrm>
              <a:custGeom>
                <a:avLst/>
                <a:gdLst>
                  <a:gd name="T0" fmla="*/ 42 w 43"/>
                  <a:gd name="T1" fmla="*/ 0 h 1"/>
                  <a:gd name="T2" fmla="*/ 0 w 43"/>
                  <a:gd name="T3" fmla="*/ 0 h 1"/>
                </a:gdLst>
                <a:ahLst/>
                <a:cxnLst>
                  <a:cxn ang="0">
                    <a:pos x="T0" y="T1"/>
                  </a:cxn>
                  <a:cxn ang="0">
                    <a:pos x="T2" y="T3"/>
                  </a:cxn>
                </a:cxnLst>
                <a:rect l="0" t="0" r="r" b="b"/>
                <a:pathLst>
                  <a:path w="43" h="1">
                    <a:moveTo>
                      <a:pt x="42" y="0"/>
                    </a:moveTo>
                    <a:cubicBezTo>
                      <a:pt x="28" y="0"/>
                      <a:pt x="1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44" name="Freeform 149">
                <a:extLst>
                  <a:ext uri="{FF2B5EF4-FFF2-40B4-BE49-F238E27FC236}">
                    <a16:creationId xmlns:a16="http://schemas.microsoft.com/office/drawing/2014/main" id="{DDF12092-638B-E8C3-151F-858E777EC9FC}"/>
                  </a:ext>
                </a:extLst>
              </p:cNvPr>
              <p:cNvSpPr>
                <a:spLocks noChangeArrowheads="1"/>
              </p:cNvSpPr>
              <p:nvPr/>
            </p:nvSpPr>
            <p:spPr bwMode="auto">
              <a:xfrm>
                <a:off x="2455863" y="4516438"/>
                <a:ext cx="117475" cy="61912"/>
              </a:xfrm>
              <a:custGeom>
                <a:avLst/>
                <a:gdLst>
                  <a:gd name="T0" fmla="*/ 325 w 326"/>
                  <a:gd name="T1" fmla="*/ 56 h 170"/>
                  <a:gd name="T2" fmla="*/ 268 w 326"/>
                  <a:gd name="T3" fmla="*/ 0 h 170"/>
                  <a:gd name="T4" fmla="*/ 57 w 326"/>
                  <a:gd name="T5" fmla="*/ 0 h 170"/>
                  <a:gd name="T6" fmla="*/ 0 w 326"/>
                  <a:gd name="T7" fmla="*/ 56 h 170"/>
                  <a:gd name="T8" fmla="*/ 0 w 326"/>
                  <a:gd name="T9" fmla="*/ 113 h 170"/>
                  <a:gd name="T10" fmla="*/ 57 w 326"/>
                  <a:gd name="T11" fmla="*/ 169 h 170"/>
                  <a:gd name="T12" fmla="*/ 268 w 326"/>
                  <a:gd name="T13" fmla="*/ 169 h 170"/>
                  <a:gd name="T14" fmla="*/ 325 w 326"/>
                  <a:gd name="T15" fmla="*/ 113 h 170"/>
                  <a:gd name="T16" fmla="*/ 325 w 326"/>
                  <a:gd name="T17" fmla="*/ 5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70">
                    <a:moveTo>
                      <a:pt x="325" y="56"/>
                    </a:moveTo>
                    <a:cubicBezTo>
                      <a:pt x="325" y="25"/>
                      <a:pt x="299" y="0"/>
                      <a:pt x="268" y="0"/>
                    </a:cubicBezTo>
                    <a:cubicBezTo>
                      <a:pt x="198" y="0"/>
                      <a:pt x="127" y="0"/>
                      <a:pt x="57" y="0"/>
                    </a:cubicBezTo>
                    <a:cubicBezTo>
                      <a:pt x="25" y="0"/>
                      <a:pt x="0" y="25"/>
                      <a:pt x="0" y="56"/>
                    </a:cubicBezTo>
                    <a:cubicBezTo>
                      <a:pt x="0" y="75"/>
                      <a:pt x="0" y="94"/>
                      <a:pt x="0" y="113"/>
                    </a:cubicBezTo>
                    <a:cubicBezTo>
                      <a:pt x="0" y="144"/>
                      <a:pt x="25" y="169"/>
                      <a:pt x="57" y="169"/>
                    </a:cubicBezTo>
                    <a:cubicBezTo>
                      <a:pt x="127" y="169"/>
                      <a:pt x="198" y="169"/>
                      <a:pt x="268" y="169"/>
                    </a:cubicBezTo>
                    <a:cubicBezTo>
                      <a:pt x="299" y="169"/>
                      <a:pt x="325" y="144"/>
                      <a:pt x="325" y="113"/>
                    </a:cubicBezTo>
                    <a:cubicBezTo>
                      <a:pt x="325" y="94"/>
                      <a:pt x="325" y="75"/>
                      <a:pt x="325" y="5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45" name="Freeform 150">
                <a:extLst>
                  <a:ext uri="{FF2B5EF4-FFF2-40B4-BE49-F238E27FC236}">
                    <a16:creationId xmlns:a16="http://schemas.microsoft.com/office/drawing/2014/main" id="{3BBADB16-66EB-36BF-FAF2-DF91B3D01CCD}"/>
                  </a:ext>
                </a:extLst>
              </p:cNvPr>
              <p:cNvSpPr>
                <a:spLocks noChangeArrowheads="1"/>
              </p:cNvSpPr>
              <p:nvPr/>
            </p:nvSpPr>
            <p:spPr bwMode="auto">
              <a:xfrm>
                <a:off x="2532063" y="4546600"/>
                <a:ext cx="15875" cy="1588"/>
              </a:xfrm>
              <a:custGeom>
                <a:avLst/>
                <a:gdLst>
                  <a:gd name="T0" fmla="*/ 42 w 43"/>
                  <a:gd name="T1" fmla="*/ 0 h 1"/>
                  <a:gd name="T2" fmla="*/ 0 w 43"/>
                  <a:gd name="T3" fmla="*/ 0 h 1"/>
                </a:gdLst>
                <a:ahLst/>
                <a:cxnLst>
                  <a:cxn ang="0">
                    <a:pos x="T0" y="T1"/>
                  </a:cxn>
                  <a:cxn ang="0">
                    <a:pos x="T2" y="T3"/>
                  </a:cxn>
                </a:cxnLst>
                <a:rect l="0" t="0" r="r" b="b"/>
                <a:pathLst>
                  <a:path w="43" h="1">
                    <a:moveTo>
                      <a:pt x="42" y="0"/>
                    </a:moveTo>
                    <a:cubicBezTo>
                      <a:pt x="28" y="0"/>
                      <a:pt x="14"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grpSp>
      </p:grpSp>
      <p:grpSp>
        <p:nvGrpSpPr>
          <p:cNvPr id="47" name="Group 46">
            <a:extLst>
              <a:ext uri="{FF2B5EF4-FFF2-40B4-BE49-F238E27FC236}">
                <a16:creationId xmlns:a16="http://schemas.microsoft.com/office/drawing/2014/main" id="{F61CC6BF-A455-7AFC-C1FD-BB4FCB96A40D}"/>
              </a:ext>
            </a:extLst>
          </p:cNvPr>
          <p:cNvGrpSpPr/>
          <p:nvPr/>
        </p:nvGrpSpPr>
        <p:grpSpPr>
          <a:xfrm>
            <a:off x="3244977" y="6975964"/>
            <a:ext cx="1220562" cy="1220560"/>
            <a:chOff x="6690921" y="2156578"/>
            <a:chExt cx="788068" cy="788067"/>
          </a:xfrm>
        </p:grpSpPr>
        <p:sp>
          <p:nvSpPr>
            <p:cNvPr id="52" name="Freeform 126">
              <a:extLst>
                <a:ext uri="{FF2B5EF4-FFF2-40B4-BE49-F238E27FC236}">
                  <a16:creationId xmlns:a16="http://schemas.microsoft.com/office/drawing/2014/main" id="{B342196F-BE2F-B1AE-AC93-919F628CF7D2}"/>
                </a:ext>
              </a:extLst>
            </p:cNvPr>
            <p:cNvSpPr>
              <a:spLocks noChangeArrowheads="1"/>
            </p:cNvSpPr>
            <p:nvPr/>
          </p:nvSpPr>
          <p:spPr bwMode="auto">
            <a:xfrm>
              <a:off x="6690921" y="2156578"/>
              <a:ext cx="788068" cy="788067"/>
            </a:xfrm>
            <a:custGeom>
              <a:avLst/>
              <a:gdLst>
                <a:gd name="T0" fmla="*/ 1467 w 1751"/>
                <a:gd name="T1" fmla="*/ 1750 h 1751"/>
                <a:gd name="T2" fmla="*/ 1750 w 1751"/>
                <a:gd name="T3" fmla="*/ 1468 h 1751"/>
                <a:gd name="T4" fmla="*/ 1750 w 1751"/>
                <a:gd name="T5" fmla="*/ 282 h 1751"/>
                <a:gd name="T6" fmla="*/ 1467 w 1751"/>
                <a:gd name="T7" fmla="*/ 0 h 1751"/>
                <a:gd name="T8" fmla="*/ 282 w 1751"/>
                <a:gd name="T9" fmla="*/ 0 h 1751"/>
                <a:gd name="T10" fmla="*/ 0 w 1751"/>
                <a:gd name="T11" fmla="*/ 282 h 1751"/>
                <a:gd name="T12" fmla="*/ 0 w 1751"/>
                <a:gd name="T13" fmla="*/ 1468 h 1751"/>
                <a:gd name="T14" fmla="*/ 282 w 1751"/>
                <a:gd name="T15" fmla="*/ 1750 h 1751"/>
                <a:gd name="T16" fmla="*/ 1467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7" y="1750"/>
                  </a:moveTo>
                  <a:cubicBezTo>
                    <a:pt x="1623" y="1750"/>
                    <a:pt x="1750" y="1623"/>
                    <a:pt x="1750" y="1468"/>
                  </a:cubicBezTo>
                  <a:cubicBezTo>
                    <a:pt x="1750" y="1072"/>
                    <a:pt x="1750" y="677"/>
                    <a:pt x="1750" y="282"/>
                  </a:cubicBezTo>
                  <a:cubicBezTo>
                    <a:pt x="1750" y="127"/>
                    <a:pt x="1623" y="0"/>
                    <a:pt x="1467" y="0"/>
                  </a:cubicBezTo>
                  <a:cubicBezTo>
                    <a:pt x="1072" y="0"/>
                    <a:pt x="677" y="0"/>
                    <a:pt x="282" y="0"/>
                  </a:cubicBezTo>
                  <a:cubicBezTo>
                    <a:pt x="127" y="0"/>
                    <a:pt x="0" y="127"/>
                    <a:pt x="0" y="282"/>
                  </a:cubicBezTo>
                  <a:cubicBezTo>
                    <a:pt x="0" y="677"/>
                    <a:pt x="0" y="1072"/>
                    <a:pt x="0" y="1468"/>
                  </a:cubicBezTo>
                  <a:cubicBezTo>
                    <a:pt x="0" y="1623"/>
                    <a:pt x="127" y="1750"/>
                    <a:pt x="282" y="1750"/>
                  </a:cubicBezTo>
                  <a:cubicBezTo>
                    <a:pt x="677" y="1750"/>
                    <a:pt x="1072" y="1750"/>
                    <a:pt x="1467"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53" name="Group 52">
              <a:extLst>
                <a:ext uri="{FF2B5EF4-FFF2-40B4-BE49-F238E27FC236}">
                  <a16:creationId xmlns:a16="http://schemas.microsoft.com/office/drawing/2014/main" id="{6E62920B-74E5-3289-BC01-1DADE74859C6}"/>
                </a:ext>
              </a:extLst>
            </p:cNvPr>
            <p:cNvGrpSpPr/>
            <p:nvPr/>
          </p:nvGrpSpPr>
          <p:grpSpPr>
            <a:xfrm>
              <a:off x="6764369" y="2230025"/>
              <a:ext cx="643159" cy="643159"/>
              <a:chOff x="6764369" y="2230025"/>
              <a:chExt cx="643159" cy="643159"/>
            </a:xfrm>
          </p:grpSpPr>
          <p:sp>
            <p:nvSpPr>
              <p:cNvPr id="54" name="Freeform 127">
                <a:extLst>
                  <a:ext uri="{FF2B5EF4-FFF2-40B4-BE49-F238E27FC236}">
                    <a16:creationId xmlns:a16="http://schemas.microsoft.com/office/drawing/2014/main" id="{1824EBE8-F852-7348-DEF9-58BB992B9482}"/>
                  </a:ext>
                </a:extLst>
              </p:cNvPr>
              <p:cNvSpPr>
                <a:spLocks noChangeArrowheads="1"/>
              </p:cNvSpPr>
              <p:nvPr/>
            </p:nvSpPr>
            <p:spPr bwMode="auto">
              <a:xfrm>
                <a:off x="6984710" y="2450367"/>
                <a:ext cx="204462" cy="204460"/>
              </a:xfrm>
              <a:custGeom>
                <a:avLst/>
                <a:gdLst>
                  <a:gd name="T0" fmla="*/ 452 w 453"/>
                  <a:gd name="T1" fmla="*/ 226 h 453"/>
                  <a:gd name="T2" fmla="*/ 421 w 453"/>
                  <a:gd name="T3" fmla="*/ 339 h 453"/>
                  <a:gd name="T4" fmla="*/ 339 w 453"/>
                  <a:gd name="T5" fmla="*/ 421 h 453"/>
                  <a:gd name="T6" fmla="*/ 226 w 453"/>
                  <a:gd name="T7" fmla="*/ 452 h 453"/>
                  <a:gd name="T8" fmla="*/ 113 w 453"/>
                  <a:gd name="T9" fmla="*/ 421 h 453"/>
                  <a:gd name="T10" fmla="*/ 30 w 453"/>
                  <a:gd name="T11" fmla="*/ 339 h 453"/>
                  <a:gd name="T12" fmla="*/ 0 w 453"/>
                  <a:gd name="T13" fmla="*/ 226 h 453"/>
                  <a:gd name="T14" fmla="*/ 30 w 453"/>
                  <a:gd name="T15" fmla="*/ 113 h 453"/>
                  <a:gd name="T16" fmla="*/ 113 w 453"/>
                  <a:gd name="T17" fmla="*/ 30 h 453"/>
                  <a:gd name="T18" fmla="*/ 226 w 453"/>
                  <a:gd name="T19" fmla="*/ 0 h 453"/>
                  <a:gd name="T20" fmla="*/ 339 w 453"/>
                  <a:gd name="T21" fmla="*/ 30 h 453"/>
                  <a:gd name="T22" fmla="*/ 421 w 453"/>
                  <a:gd name="T23" fmla="*/ 113 h 453"/>
                  <a:gd name="T24" fmla="*/ 452 w 453"/>
                  <a:gd name="T25" fmla="*/ 226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3" h="453">
                    <a:moveTo>
                      <a:pt x="452" y="226"/>
                    </a:moveTo>
                    <a:cubicBezTo>
                      <a:pt x="452" y="267"/>
                      <a:pt x="442" y="303"/>
                      <a:pt x="421" y="339"/>
                    </a:cubicBezTo>
                    <a:cubicBezTo>
                      <a:pt x="401" y="375"/>
                      <a:pt x="375" y="400"/>
                      <a:pt x="339" y="421"/>
                    </a:cubicBezTo>
                    <a:cubicBezTo>
                      <a:pt x="303" y="441"/>
                      <a:pt x="268" y="452"/>
                      <a:pt x="226" y="452"/>
                    </a:cubicBezTo>
                    <a:cubicBezTo>
                      <a:pt x="185" y="452"/>
                      <a:pt x="149" y="441"/>
                      <a:pt x="113" y="421"/>
                    </a:cubicBezTo>
                    <a:cubicBezTo>
                      <a:pt x="77" y="400"/>
                      <a:pt x="51" y="375"/>
                      <a:pt x="30" y="339"/>
                    </a:cubicBezTo>
                    <a:cubicBezTo>
                      <a:pt x="9" y="303"/>
                      <a:pt x="0" y="267"/>
                      <a:pt x="0" y="226"/>
                    </a:cubicBezTo>
                    <a:cubicBezTo>
                      <a:pt x="0" y="184"/>
                      <a:pt x="9" y="149"/>
                      <a:pt x="30" y="113"/>
                    </a:cubicBezTo>
                    <a:cubicBezTo>
                      <a:pt x="51" y="77"/>
                      <a:pt x="77" y="50"/>
                      <a:pt x="113" y="30"/>
                    </a:cubicBezTo>
                    <a:cubicBezTo>
                      <a:pt x="149" y="9"/>
                      <a:pt x="184" y="0"/>
                      <a:pt x="226" y="0"/>
                    </a:cubicBezTo>
                    <a:cubicBezTo>
                      <a:pt x="267" y="0"/>
                      <a:pt x="303" y="9"/>
                      <a:pt x="339" y="30"/>
                    </a:cubicBezTo>
                    <a:cubicBezTo>
                      <a:pt x="375" y="50"/>
                      <a:pt x="401" y="77"/>
                      <a:pt x="421" y="113"/>
                    </a:cubicBezTo>
                    <a:cubicBezTo>
                      <a:pt x="442" y="149"/>
                      <a:pt x="452" y="184"/>
                      <a:pt x="452" y="22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55" name="Freeform 128">
                <a:extLst>
                  <a:ext uri="{FF2B5EF4-FFF2-40B4-BE49-F238E27FC236}">
                    <a16:creationId xmlns:a16="http://schemas.microsoft.com/office/drawing/2014/main" id="{DBD169FB-2756-DFEA-9178-A80B43417266}"/>
                  </a:ext>
                </a:extLst>
              </p:cNvPr>
              <p:cNvSpPr>
                <a:spLocks noChangeArrowheads="1"/>
              </p:cNvSpPr>
              <p:nvPr/>
            </p:nvSpPr>
            <p:spPr bwMode="auto">
              <a:xfrm>
                <a:off x="7330110" y="2513889"/>
                <a:ext cx="77418" cy="77417"/>
              </a:xfrm>
              <a:custGeom>
                <a:avLst/>
                <a:gdLst>
                  <a:gd name="T0" fmla="*/ 169 w 170"/>
                  <a:gd name="T1" fmla="*/ 85 h 171"/>
                  <a:gd name="T2" fmla="*/ 158 w 170"/>
                  <a:gd name="T3" fmla="*/ 127 h 171"/>
                  <a:gd name="T4" fmla="*/ 127 w 170"/>
                  <a:gd name="T5" fmla="*/ 158 h 171"/>
                  <a:gd name="T6" fmla="*/ 84 w 170"/>
                  <a:gd name="T7" fmla="*/ 170 h 171"/>
                  <a:gd name="T8" fmla="*/ 42 w 170"/>
                  <a:gd name="T9" fmla="*/ 158 h 171"/>
                  <a:gd name="T10" fmla="*/ 11 w 170"/>
                  <a:gd name="T11" fmla="*/ 127 h 171"/>
                  <a:gd name="T12" fmla="*/ 0 w 170"/>
                  <a:gd name="T13" fmla="*/ 85 h 171"/>
                  <a:gd name="T14" fmla="*/ 11 w 170"/>
                  <a:gd name="T15" fmla="*/ 43 h 171"/>
                  <a:gd name="T16" fmla="*/ 42 w 170"/>
                  <a:gd name="T17" fmla="*/ 12 h 171"/>
                  <a:gd name="T18" fmla="*/ 84 w 170"/>
                  <a:gd name="T19" fmla="*/ 0 h 171"/>
                  <a:gd name="T20" fmla="*/ 127 w 170"/>
                  <a:gd name="T21" fmla="*/ 12 h 171"/>
                  <a:gd name="T22" fmla="*/ 158 w 170"/>
                  <a:gd name="T23" fmla="*/ 43 h 171"/>
                  <a:gd name="T24" fmla="*/ 169 w 170"/>
                  <a:gd name="T25" fmla="*/ 8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171">
                    <a:moveTo>
                      <a:pt x="169" y="85"/>
                    </a:moveTo>
                    <a:cubicBezTo>
                      <a:pt x="169" y="100"/>
                      <a:pt x="166" y="113"/>
                      <a:pt x="158" y="127"/>
                    </a:cubicBezTo>
                    <a:cubicBezTo>
                      <a:pt x="151" y="140"/>
                      <a:pt x="141" y="150"/>
                      <a:pt x="127" y="158"/>
                    </a:cubicBezTo>
                    <a:cubicBezTo>
                      <a:pt x="114" y="166"/>
                      <a:pt x="100" y="170"/>
                      <a:pt x="84" y="170"/>
                    </a:cubicBezTo>
                    <a:cubicBezTo>
                      <a:pt x="69" y="170"/>
                      <a:pt x="56" y="166"/>
                      <a:pt x="42" y="158"/>
                    </a:cubicBezTo>
                    <a:cubicBezTo>
                      <a:pt x="29" y="150"/>
                      <a:pt x="19" y="140"/>
                      <a:pt x="11" y="127"/>
                    </a:cubicBezTo>
                    <a:cubicBezTo>
                      <a:pt x="3" y="113"/>
                      <a:pt x="0" y="100"/>
                      <a:pt x="0" y="85"/>
                    </a:cubicBezTo>
                    <a:cubicBezTo>
                      <a:pt x="0" y="69"/>
                      <a:pt x="3" y="56"/>
                      <a:pt x="11" y="43"/>
                    </a:cubicBezTo>
                    <a:cubicBezTo>
                      <a:pt x="19" y="29"/>
                      <a:pt x="29" y="19"/>
                      <a:pt x="42" y="12"/>
                    </a:cubicBezTo>
                    <a:cubicBezTo>
                      <a:pt x="56" y="4"/>
                      <a:pt x="69" y="0"/>
                      <a:pt x="84" y="0"/>
                    </a:cubicBezTo>
                    <a:cubicBezTo>
                      <a:pt x="100" y="0"/>
                      <a:pt x="114" y="4"/>
                      <a:pt x="127" y="12"/>
                    </a:cubicBezTo>
                    <a:cubicBezTo>
                      <a:pt x="141" y="19"/>
                      <a:pt x="151" y="29"/>
                      <a:pt x="158" y="43"/>
                    </a:cubicBezTo>
                    <a:cubicBezTo>
                      <a:pt x="166" y="56"/>
                      <a:pt x="169" y="69"/>
                      <a:pt x="169" y="8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56" name="Freeform 129">
                <a:extLst>
                  <a:ext uri="{FF2B5EF4-FFF2-40B4-BE49-F238E27FC236}">
                    <a16:creationId xmlns:a16="http://schemas.microsoft.com/office/drawing/2014/main" id="{26955611-F3CA-ABFC-D4B9-F52AB75B7C28}"/>
                  </a:ext>
                </a:extLst>
              </p:cNvPr>
              <p:cNvSpPr>
                <a:spLocks noChangeArrowheads="1"/>
              </p:cNvSpPr>
              <p:nvPr/>
            </p:nvSpPr>
            <p:spPr bwMode="auto">
              <a:xfrm>
                <a:off x="6764369" y="2513889"/>
                <a:ext cx="77417" cy="77417"/>
              </a:xfrm>
              <a:custGeom>
                <a:avLst/>
                <a:gdLst>
                  <a:gd name="T0" fmla="*/ 169 w 170"/>
                  <a:gd name="T1" fmla="*/ 85 h 171"/>
                  <a:gd name="T2" fmla="*/ 158 w 170"/>
                  <a:gd name="T3" fmla="*/ 127 h 171"/>
                  <a:gd name="T4" fmla="*/ 127 w 170"/>
                  <a:gd name="T5" fmla="*/ 158 h 171"/>
                  <a:gd name="T6" fmla="*/ 84 w 170"/>
                  <a:gd name="T7" fmla="*/ 170 h 171"/>
                  <a:gd name="T8" fmla="*/ 42 w 170"/>
                  <a:gd name="T9" fmla="*/ 158 h 171"/>
                  <a:gd name="T10" fmla="*/ 11 w 170"/>
                  <a:gd name="T11" fmla="*/ 127 h 171"/>
                  <a:gd name="T12" fmla="*/ 0 w 170"/>
                  <a:gd name="T13" fmla="*/ 85 h 171"/>
                  <a:gd name="T14" fmla="*/ 11 w 170"/>
                  <a:gd name="T15" fmla="*/ 43 h 171"/>
                  <a:gd name="T16" fmla="*/ 42 w 170"/>
                  <a:gd name="T17" fmla="*/ 12 h 171"/>
                  <a:gd name="T18" fmla="*/ 84 w 170"/>
                  <a:gd name="T19" fmla="*/ 0 h 171"/>
                  <a:gd name="T20" fmla="*/ 127 w 170"/>
                  <a:gd name="T21" fmla="*/ 12 h 171"/>
                  <a:gd name="T22" fmla="*/ 158 w 170"/>
                  <a:gd name="T23" fmla="*/ 43 h 171"/>
                  <a:gd name="T24" fmla="*/ 169 w 170"/>
                  <a:gd name="T25" fmla="*/ 8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171">
                    <a:moveTo>
                      <a:pt x="169" y="85"/>
                    </a:moveTo>
                    <a:cubicBezTo>
                      <a:pt x="169" y="100"/>
                      <a:pt x="166" y="113"/>
                      <a:pt x="158" y="127"/>
                    </a:cubicBezTo>
                    <a:cubicBezTo>
                      <a:pt x="151" y="140"/>
                      <a:pt x="141" y="150"/>
                      <a:pt x="127" y="158"/>
                    </a:cubicBezTo>
                    <a:cubicBezTo>
                      <a:pt x="114" y="166"/>
                      <a:pt x="100" y="170"/>
                      <a:pt x="84" y="170"/>
                    </a:cubicBezTo>
                    <a:cubicBezTo>
                      <a:pt x="69" y="170"/>
                      <a:pt x="56" y="166"/>
                      <a:pt x="42" y="158"/>
                    </a:cubicBezTo>
                    <a:cubicBezTo>
                      <a:pt x="29" y="150"/>
                      <a:pt x="19" y="140"/>
                      <a:pt x="11" y="127"/>
                    </a:cubicBezTo>
                    <a:cubicBezTo>
                      <a:pt x="3" y="113"/>
                      <a:pt x="0" y="100"/>
                      <a:pt x="0" y="85"/>
                    </a:cubicBezTo>
                    <a:cubicBezTo>
                      <a:pt x="0" y="69"/>
                      <a:pt x="3" y="56"/>
                      <a:pt x="11" y="43"/>
                    </a:cubicBezTo>
                    <a:cubicBezTo>
                      <a:pt x="19" y="29"/>
                      <a:pt x="29" y="19"/>
                      <a:pt x="42" y="12"/>
                    </a:cubicBezTo>
                    <a:cubicBezTo>
                      <a:pt x="56" y="4"/>
                      <a:pt x="69" y="0"/>
                      <a:pt x="84" y="0"/>
                    </a:cubicBezTo>
                    <a:cubicBezTo>
                      <a:pt x="100" y="0"/>
                      <a:pt x="114" y="4"/>
                      <a:pt x="127" y="12"/>
                    </a:cubicBezTo>
                    <a:cubicBezTo>
                      <a:pt x="141" y="19"/>
                      <a:pt x="151" y="29"/>
                      <a:pt x="158" y="43"/>
                    </a:cubicBezTo>
                    <a:cubicBezTo>
                      <a:pt x="166" y="56"/>
                      <a:pt x="169" y="69"/>
                      <a:pt x="169" y="8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57" name="Freeform 130">
                <a:extLst>
                  <a:ext uri="{FF2B5EF4-FFF2-40B4-BE49-F238E27FC236}">
                    <a16:creationId xmlns:a16="http://schemas.microsoft.com/office/drawing/2014/main" id="{C4300F47-E193-7AFE-4055-B4FF6E5D86A4}"/>
                  </a:ext>
                </a:extLst>
              </p:cNvPr>
              <p:cNvSpPr>
                <a:spLocks noChangeArrowheads="1"/>
              </p:cNvSpPr>
              <p:nvPr/>
            </p:nvSpPr>
            <p:spPr bwMode="auto">
              <a:xfrm>
                <a:off x="7187186" y="2551604"/>
                <a:ext cx="142924" cy="1986"/>
              </a:xfrm>
              <a:custGeom>
                <a:avLst/>
                <a:gdLst>
                  <a:gd name="T0" fmla="*/ 318 w 319"/>
                  <a:gd name="T1" fmla="*/ 0 h 1"/>
                  <a:gd name="T2" fmla="*/ 0 w 319"/>
                  <a:gd name="T3" fmla="*/ 0 h 1"/>
                </a:gdLst>
                <a:ahLst/>
                <a:cxnLst>
                  <a:cxn ang="0">
                    <a:pos x="T0" y="T1"/>
                  </a:cxn>
                  <a:cxn ang="0">
                    <a:pos x="T2" y="T3"/>
                  </a:cxn>
                </a:cxnLst>
                <a:rect l="0" t="0" r="r" b="b"/>
                <a:pathLst>
                  <a:path w="319" h="1">
                    <a:moveTo>
                      <a:pt x="318" y="0"/>
                    </a:moveTo>
                    <a:cubicBezTo>
                      <a:pt x="212" y="0"/>
                      <a:pt x="106"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8" name="Freeform 131">
                <a:extLst>
                  <a:ext uri="{FF2B5EF4-FFF2-40B4-BE49-F238E27FC236}">
                    <a16:creationId xmlns:a16="http://schemas.microsoft.com/office/drawing/2014/main" id="{EA27F552-AF77-904D-7694-248208CE2670}"/>
                  </a:ext>
                </a:extLst>
              </p:cNvPr>
              <p:cNvSpPr>
                <a:spLocks noChangeArrowheads="1"/>
              </p:cNvSpPr>
              <p:nvPr/>
            </p:nvSpPr>
            <p:spPr bwMode="auto">
              <a:xfrm>
                <a:off x="6839801" y="2551604"/>
                <a:ext cx="142924" cy="1986"/>
              </a:xfrm>
              <a:custGeom>
                <a:avLst/>
                <a:gdLst>
                  <a:gd name="T0" fmla="*/ 0 w 319"/>
                  <a:gd name="T1" fmla="*/ 0 h 1"/>
                  <a:gd name="T2" fmla="*/ 318 w 319"/>
                  <a:gd name="T3" fmla="*/ 0 h 1"/>
                </a:gdLst>
                <a:ahLst/>
                <a:cxnLst>
                  <a:cxn ang="0">
                    <a:pos x="T0" y="T1"/>
                  </a:cxn>
                  <a:cxn ang="0">
                    <a:pos x="T2" y="T3"/>
                  </a:cxn>
                </a:cxnLst>
                <a:rect l="0" t="0" r="r" b="b"/>
                <a:pathLst>
                  <a:path w="319" h="1">
                    <a:moveTo>
                      <a:pt x="0" y="0"/>
                    </a:moveTo>
                    <a:cubicBezTo>
                      <a:pt x="106" y="0"/>
                      <a:pt x="212" y="0"/>
                      <a:pt x="318"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59" name="Freeform 132">
                <a:extLst>
                  <a:ext uri="{FF2B5EF4-FFF2-40B4-BE49-F238E27FC236}">
                    <a16:creationId xmlns:a16="http://schemas.microsoft.com/office/drawing/2014/main" id="{2387FBF9-7DAA-34B5-63EC-E13EA45B7281}"/>
                  </a:ext>
                </a:extLst>
              </p:cNvPr>
              <p:cNvSpPr>
                <a:spLocks noChangeArrowheads="1"/>
              </p:cNvSpPr>
              <p:nvPr/>
            </p:nvSpPr>
            <p:spPr bwMode="auto">
              <a:xfrm>
                <a:off x="7048232" y="2230025"/>
                <a:ext cx="77418" cy="77418"/>
              </a:xfrm>
              <a:custGeom>
                <a:avLst/>
                <a:gdLst>
                  <a:gd name="T0" fmla="*/ 169 w 170"/>
                  <a:gd name="T1" fmla="*/ 84 h 170"/>
                  <a:gd name="T2" fmla="*/ 158 w 170"/>
                  <a:gd name="T3" fmla="*/ 127 h 170"/>
                  <a:gd name="T4" fmla="*/ 127 w 170"/>
                  <a:gd name="T5" fmla="*/ 158 h 170"/>
                  <a:gd name="T6" fmla="*/ 85 w 170"/>
                  <a:gd name="T7" fmla="*/ 169 h 170"/>
                  <a:gd name="T8" fmla="*/ 42 w 170"/>
                  <a:gd name="T9" fmla="*/ 158 h 170"/>
                  <a:gd name="T10" fmla="*/ 11 w 170"/>
                  <a:gd name="T11" fmla="*/ 127 h 170"/>
                  <a:gd name="T12" fmla="*/ 0 w 170"/>
                  <a:gd name="T13" fmla="*/ 84 h 170"/>
                  <a:gd name="T14" fmla="*/ 11 w 170"/>
                  <a:gd name="T15" fmla="*/ 42 h 170"/>
                  <a:gd name="T16" fmla="*/ 42 w 170"/>
                  <a:gd name="T17" fmla="*/ 11 h 170"/>
                  <a:gd name="T18" fmla="*/ 85 w 170"/>
                  <a:gd name="T19" fmla="*/ 0 h 170"/>
                  <a:gd name="T20" fmla="*/ 127 w 170"/>
                  <a:gd name="T21" fmla="*/ 11 h 170"/>
                  <a:gd name="T22" fmla="*/ 158 w 170"/>
                  <a:gd name="T23" fmla="*/ 42 h 170"/>
                  <a:gd name="T24" fmla="*/ 169 w 170"/>
                  <a:gd name="T25" fmla="*/ 8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170">
                    <a:moveTo>
                      <a:pt x="169" y="84"/>
                    </a:moveTo>
                    <a:cubicBezTo>
                      <a:pt x="169" y="100"/>
                      <a:pt x="166" y="113"/>
                      <a:pt x="158" y="127"/>
                    </a:cubicBezTo>
                    <a:cubicBezTo>
                      <a:pt x="150" y="140"/>
                      <a:pt x="141" y="150"/>
                      <a:pt x="127" y="158"/>
                    </a:cubicBezTo>
                    <a:cubicBezTo>
                      <a:pt x="114" y="166"/>
                      <a:pt x="101" y="169"/>
                      <a:pt x="85" y="169"/>
                    </a:cubicBezTo>
                    <a:cubicBezTo>
                      <a:pt x="70" y="169"/>
                      <a:pt x="56" y="166"/>
                      <a:pt x="42" y="158"/>
                    </a:cubicBezTo>
                    <a:cubicBezTo>
                      <a:pt x="29" y="150"/>
                      <a:pt x="19" y="140"/>
                      <a:pt x="11" y="127"/>
                    </a:cubicBezTo>
                    <a:cubicBezTo>
                      <a:pt x="4" y="113"/>
                      <a:pt x="0" y="99"/>
                      <a:pt x="0" y="84"/>
                    </a:cubicBezTo>
                    <a:cubicBezTo>
                      <a:pt x="0" y="68"/>
                      <a:pt x="4" y="55"/>
                      <a:pt x="11" y="42"/>
                    </a:cubicBezTo>
                    <a:cubicBezTo>
                      <a:pt x="19" y="28"/>
                      <a:pt x="29" y="19"/>
                      <a:pt x="42" y="11"/>
                    </a:cubicBezTo>
                    <a:cubicBezTo>
                      <a:pt x="56" y="3"/>
                      <a:pt x="69" y="0"/>
                      <a:pt x="85" y="0"/>
                    </a:cubicBezTo>
                    <a:cubicBezTo>
                      <a:pt x="100" y="0"/>
                      <a:pt x="114" y="3"/>
                      <a:pt x="127" y="11"/>
                    </a:cubicBezTo>
                    <a:cubicBezTo>
                      <a:pt x="141" y="19"/>
                      <a:pt x="150" y="28"/>
                      <a:pt x="158" y="42"/>
                    </a:cubicBezTo>
                    <a:cubicBezTo>
                      <a:pt x="166" y="55"/>
                      <a:pt x="169" y="69"/>
                      <a:pt x="169" y="8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60" name="Freeform 133">
                <a:extLst>
                  <a:ext uri="{FF2B5EF4-FFF2-40B4-BE49-F238E27FC236}">
                    <a16:creationId xmlns:a16="http://schemas.microsoft.com/office/drawing/2014/main" id="{FFCCAD81-3280-1DB1-EE30-CB2116E8E936}"/>
                  </a:ext>
                </a:extLst>
              </p:cNvPr>
              <p:cNvSpPr>
                <a:spLocks noChangeArrowheads="1"/>
              </p:cNvSpPr>
              <p:nvPr/>
            </p:nvSpPr>
            <p:spPr bwMode="auto">
              <a:xfrm>
                <a:off x="7048232" y="2795767"/>
                <a:ext cx="77418" cy="77417"/>
              </a:xfrm>
              <a:custGeom>
                <a:avLst/>
                <a:gdLst>
                  <a:gd name="T0" fmla="*/ 169 w 170"/>
                  <a:gd name="T1" fmla="*/ 84 h 170"/>
                  <a:gd name="T2" fmla="*/ 158 w 170"/>
                  <a:gd name="T3" fmla="*/ 127 h 170"/>
                  <a:gd name="T4" fmla="*/ 127 w 170"/>
                  <a:gd name="T5" fmla="*/ 158 h 170"/>
                  <a:gd name="T6" fmla="*/ 85 w 170"/>
                  <a:gd name="T7" fmla="*/ 169 h 170"/>
                  <a:gd name="T8" fmla="*/ 42 w 170"/>
                  <a:gd name="T9" fmla="*/ 158 h 170"/>
                  <a:gd name="T10" fmla="*/ 11 w 170"/>
                  <a:gd name="T11" fmla="*/ 127 h 170"/>
                  <a:gd name="T12" fmla="*/ 0 w 170"/>
                  <a:gd name="T13" fmla="*/ 84 h 170"/>
                  <a:gd name="T14" fmla="*/ 11 w 170"/>
                  <a:gd name="T15" fmla="*/ 42 h 170"/>
                  <a:gd name="T16" fmla="*/ 42 w 170"/>
                  <a:gd name="T17" fmla="*/ 11 h 170"/>
                  <a:gd name="T18" fmla="*/ 85 w 170"/>
                  <a:gd name="T19" fmla="*/ 0 h 170"/>
                  <a:gd name="T20" fmla="*/ 127 w 170"/>
                  <a:gd name="T21" fmla="*/ 11 h 170"/>
                  <a:gd name="T22" fmla="*/ 158 w 170"/>
                  <a:gd name="T23" fmla="*/ 42 h 170"/>
                  <a:gd name="T24" fmla="*/ 169 w 170"/>
                  <a:gd name="T25" fmla="*/ 8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170">
                    <a:moveTo>
                      <a:pt x="169" y="84"/>
                    </a:moveTo>
                    <a:cubicBezTo>
                      <a:pt x="169" y="100"/>
                      <a:pt x="166" y="113"/>
                      <a:pt x="158" y="127"/>
                    </a:cubicBezTo>
                    <a:cubicBezTo>
                      <a:pt x="150" y="140"/>
                      <a:pt x="141" y="150"/>
                      <a:pt x="127" y="158"/>
                    </a:cubicBezTo>
                    <a:cubicBezTo>
                      <a:pt x="114" y="165"/>
                      <a:pt x="101" y="169"/>
                      <a:pt x="85" y="169"/>
                    </a:cubicBezTo>
                    <a:cubicBezTo>
                      <a:pt x="70" y="169"/>
                      <a:pt x="56" y="165"/>
                      <a:pt x="42" y="158"/>
                    </a:cubicBezTo>
                    <a:cubicBezTo>
                      <a:pt x="29" y="150"/>
                      <a:pt x="19" y="140"/>
                      <a:pt x="11" y="127"/>
                    </a:cubicBezTo>
                    <a:cubicBezTo>
                      <a:pt x="4" y="113"/>
                      <a:pt x="0" y="99"/>
                      <a:pt x="0" y="84"/>
                    </a:cubicBezTo>
                    <a:cubicBezTo>
                      <a:pt x="0" y="68"/>
                      <a:pt x="4" y="55"/>
                      <a:pt x="11" y="42"/>
                    </a:cubicBezTo>
                    <a:cubicBezTo>
                      <a:pt x="19" y="28"/>
                      <a:pt x="29" y="19"/>
                      <a:pt x="42" y="11"/>
                    </a:cubicBezTo>
                    <a:cubicBezTo>
                      <a:pt x="56" y="3"/>
                      <a:pt x="69" y="0"/>
                      <a:pt x="85" y="0"/>
                    </a:cubicBezTo>
                    <a:cubicBezTo>
                      <a:pt x="100" y="0"/>
                      <a:pt x="114" y="3"/>
                      <a:pt x="127" y="11"/>
                    </a:cubicBezTo>
                    <a:cubicBezTo>
                      <a:pt x="141" y="19"/>
                      <a:pt x="150" y="28"/>
                      <a:pt x="158" y="42"/>
                    </a:cubicBezTo>
                    <a:cubicBezTo>
                      <a:pt x="166" y="55"/>
                      <a:pt x="169" y="69"/>
                      <a:pt x="169" y="8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61" name="Freeform 134">
                <a:extLst>
                  <a:ext uri="{FF2B5EF4-FFF2-40B4-BE49-F238E27FC236}">
                    <a16:creationId xmlns:a16="http://schemas.microsoft.com/office/drawing/2014/main" id="{66593B1D-2EAE-E96F-5C21-228E1360A2CA}"/>
                  </a:ext>
                </a:extLst>
              </p:cNvPr>
              <p:cNvSpPr>
                <a:spLocks noChangeArrowheads="1"/>
              </p:cNvSpPr>
              <p:nvPr/>
            </p:nvSpPr>
            <p:spPr bwMode="auto">
              <a:xfrm>
                <a:off x="7085948" y="2307443"/>
                <a:ext cx="1984" cy="142924"/>
              </a:xfrm>
              <a:custGeom>
                <a:avLst/>
                <a:gdLst>
                  <a:gd name="T0" fmla="*/ 0 w 1"/>
                  <a:gd name="T1" fmla="*/ 0 h 319"/>
                  <a:gd name="T2" fmla="*/ 0 w 1"/>
                  <a:gd name="T3" fmla="*/ 318 h 319"/>
                </a:gdLst>
                <a:ahLst/>
                <a:cxnLst>
                  <a:cxn ang="0">
                    <a:pos x="T0" y="T1"/>
                  </a:cxn>
                  <a:cxn ang="0">
                    <a:pos x="T2" y="T3"/>
                  </a:cxn>
                </a:cxnLst>
                <a:rect l="0" t="0" r="r" b="b"/>
                <a:pathLst>
                  <a:path w="1" h="319">
                    <a:moveTo>
                      <a:pt x="0" y="0"/>
                    </a:moveTo>
                    <a:cubicBezTo>
                      <a:pt x="0" y="106"/>
                      <a:pt x="0" y="212"/>
                      <a:pt x="0" y="31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2" name="Freeform 135">
                <a:extLst>
                  <a:ext uri="{FF2B5EF4-FFF2-40B4-BE49-F238E27FC236}">
                    <a16:creationId xmlns:a16="http://schemas.microsoft.com/office/drawing/2014/main" id="{2B9F6B54-BE6E-36E9-F970-07B006A0E6EA}"/>
                  </a:ext>
                </a:extLst>
              </p:cNvPr>
              <p:cNvSpPr>
                <a:spLocks noChangeArrowheads="1"/>
              </p:cNvSpPr>
              <p:nvPr/>
            </p:nvSpPr>
            <p:spPr bwMode="auto">
              <a:xfrm>
                <a:off x="7085948" y="2652843"/>
                <a:ext cx="1984" cy="142924"/>
              </a:xfrm>
              <a:custGeom>
                <a:avLst/>
                <a:gdLst>
                  <a:gd name="T0" fmla="*/ 0 w 1"/>
                  <a:gd name="T1" fmla="*/ 318 h 319"/>
                  <a:gd name="T2" fmla="*/ 0 w 1"/>
                  <a:gd name="T3" fmla="*/ 0 h 319"/>
                </a:gdLst>
                <a:ahLst/>
                <a:cxnLst>
                  <a:cxn ang="0">
                    <a:pos x="T0" y="T1"/>
                  </a:cxn>
                  <a:cxn ang="0">
                    <a:pos x="T2" y="T3"/>
                  </a:cxn>
                </a:cxnLst>
                <a:rect l="0" t="0" r="r" b="b"/>
                <a:pathLst>
                  <a:path w="1" h="319">
                    <a:moveTo>
                      <a:pt x="0" y="318"/>
                    </a:moveTo>
                    <a:cubicBezTo>
                      <a:pt x="0" y="212"/>
                      <a:pt x="0" y="106"/>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3" name="Freeform 136">
                <a:extLst>
                  <a:ext uri="{FF2B5EF4-FFF2-40B4-BE49-F238E27FC236}">
                    <a16:creationId xmlns:a16="http://schemas.microsoft.com/office/drawing/2014/main" id="{E6FD944B-53FF-3951-943F-FC8CF50B3A45}"/>
                  </a:ext>
                </a:extLst>
              </p:cNvPr>
              <p:cNvSpPr>
                <a:spLocks noChangeArrowheads="1"/>
              </p:cNvSpPr>
              <p:nvPr/>
            </p:nvSpPr>
            <p:spPr bwMode="auto">
              <a:xfrm>
                <a:off x="7246737" y="2714379"/>
                <a:ext cx="77418" cy="77418"/>
              </a:xfrm>
              <a:custGeom>
                <a:avLst/>
                <a:gdLst>
                  <a:gd name="T0" fmla="*/ 170 w 171"/>
                  <a:gd name="T1" fmla="*/ 84 h 170"/>
                  <a:gd name="T2" fmla="*/ 158 w 171"/>
                  <a:gd name="T3" fmla="*/ 127 h 170"/>
                  <a:gd name="T4" fmla="*/ 127 w 171"/>
                  <a:gd name="T5" fmla="*/ 158 h 170"/>
                  <a:gd name="T6" fmla="*/ 85 w 171"/>
                  <a:gd name="T7" fmla="*/ 169 h 170"/>
                  <a:gd name="T8" fmla="*/ 43 w 171"/>
                  <a:gd name="T9" fmla="*/ 158 h 170"/>
                  <a:gd name="T10" fmla="*/ 12 w 171"/>
                  <a:gd name="T11" fmla="*/ 127 h 170"/>
                  <a:gd name="T12" fmla="*/ 0 w 171"/>
                  <a:gd name="T13" fmla="*/ 84 h 170"/>
                  <a:gd name="T14" fmla="*/ 12 w 171"/>
                  <a:gd name="T15" fmla="*/ 42 h 170"/>
                  <a:gd name="T16" fmla="*/ 43 w 171"/>
                  <a:gd name="T17" fmla="*/ 11 h 170"/>
                  <a:gd name="T18" fmla="*/ 85 w 171"/>
                  <a:gd name="T19" fmla="*/ 0 h 170"/>
                  <a:gd name="T20" fmla="*/ 127 w 171"/>
                  <a:gd name="T21" fmla="*/ 11 h 170"/>
                  <a:gd name="T22" fmla="*/ 158 w 171"/>
                  <a:gd name="T23" fmla="*/ 42 h 170"/>
                  <a:gd name="T24" fmla="*/ 170 w 171"/>
                  <a:gd name="T25" fmla="*/ 8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70">
                    <a:moveTo>
                      <a:pt x="170" y="84"/>
                    </a:moveTo>
                    <a:cubicBezTo>
                      <a:pt x="170" y="100"/>
                      <a:pt x="166" y="113"/>
                      <a:pt x="158" y="127"/>
                    </a:cubicBezTo>
                    <a:cubicBezTo>
                      <a:pt x="151" y="140"/>
                      <a:pt x="141" y="150"/>
                      <a:pt x="127" y="158"/>
                    </a:cubicBezTo>
                    <a:cubicBezTo>
                      <a:pt x="114" y="165"/>
                      <a:pt x="101" y="169"/>
                      <a:pt x="85" y="169"/>
                    </a:cubicBezTo>
                    <a:cubicBezTo>
                      <a:pt x="70" y="169"/>
                      <a:pt x="57" y="165"/>
                      <a:pt x="43" y="158"/>
                    </a:cubicBezTo>
                    <a:cubicBezTo>
                      <a:pt x="30" y="150"/>
                      <a:pt x="20" y="140"/>
                      <a:pt x="12" y="127"/>
                    </a:cubicBezTo>
                    <a:cubicBezTo>
                      <a:pt x="4" y="113"/>
                      <a:pt x="0" y="99"/>
                      <a:pt x="0" y="84"/>
                    </a:cubicBezTo>
                    <a:cubicBezTo>
                      <a:pt x="0" y="68"/>
                      <a:pt x="4" y="55"/>
                      <a:pt x="12" y="42"/>
                    </a:cubicBezTo>
                    <a:cubicBezTo>
                      <a:pt x="20" y="28"/>
                      <a:pt x="30" y="19"/>
                      <a:pt x="43" y="11"/>
                    </a:cubicBezTo>
                    <a:cubicBezTo>
                      <a:pt x="57" y="3"/>
                      <a:pt x="70" y="0"/>
                      <a:pt x="85" y="0"/>
                    </a:cubicBezTo>
                    <a:cubicBezTo>
                      <a:pt x="101" y="0"/>
                      <a:pt x="114" y="3"/>
                      <a:pt x="127" y="11"/>
                    </a:cubicBezTo>
                    <a:cubicBezTo>
                      <a:pt x="141" y="19"/>
                      <a:pt x="151" y="28"/>
                      <a:pt x="158" y="42"/>
                    </a:cubicBezTo>
                    <a:cubicBezTo>
                      <a:pt x="166" y="55"/>
                      <a:pt x="170" y="69"/>
                      <a:pt x="170" y="8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64" name="Freeform 137">
                <a:extLst>
                  <a:ext uri="{FF2B5EF4-FFF2-40B4-BE49-F238E27FC236}">
                    <a16:creationId xmlns:a16="http://schemas.microsoft.com/office/drawing/2014/main" id="{E2321726-0BD4-F3E5-D2D2-ADAFB8321D4E}"/>
                  </a:ext>
                </a:extLst>
              </p:cNvPr>
              <p:cNvSpPr>
                <a:spLocks noChangeArrowheads="1"/>
              </p:cNvSpPr>
              <p:nvPr/>
            </p:nvSpPr>
            <p:spPr bwMode="auto">
              <a:xfrm>
                <a:off x="6847741" y="2313397"/>
                <a:ext cx="77417" cy="77418"/>
              </a:xfrm>
              <a:custGeom>
                <a:avLst/>
                <a:gdLst>
                  <a:gd name="T0" fmla="*/ 169 w 170"/>
                  <a:gd name="T1" fmla="*/ 85 h 170"/>
                  <a:gd name="T2" fmla="*/ 158 w 170"/>
                  <a:gd name="T3" fmla="*/ 127 h 170"/>
                  <a:gd name="T4" fmla="*/ 127 w 170"/>
                  <a:gd name="T5" fmla="*/ 158 h 170"/>
                  <a:gd name="T6" fmla="*/ 84 w 170"/>
                  <a:gd name="T7" fmla="*/ 169 h 170"/>
                  <a:gd name="T8" fmla="*/ 42 w 170"/>
                  <a:gd name="T9" fmla="*/ 158 h 170"/>
                  <a:gd name="T10" fmla="*/ 11 w 170"/>
                  <a:gd name="T11" fmla="*/ 127 h 170"/>
                  <a:gd name="T12" fmla="*/ 0 w 170"/>
                  <a:gd name="T13" fmla="*/ 85 h 170"/>
                  <a:gd name="T14" fmla="*/ 11 w 170"/>
                  <a:gd name="T15" fmla="*/ 42 h 170"/>
                  <a:gd name="T16" fmla="*/ 42 w 170"/>
                  <a:gd name="T17" fmla="*/ 11 h 170"/>
                  <a:gd name="T18" fmla="*/ 84 w 170"/>
                  <a:gd name="T19" fmla="*/ 0 h 170"/>
                  <a:gd name="T20" fmla="*/ 127 w 170"/>
                  <a:gd name="T21" fmla="*/ 11 h 170"/>
                  <a:gd name="T22" fmla="*/ 158 w 170"/>
                  <a:gd name="T23" fmla="*/ 42 h 170"/>
                  <a:gd name="T24" fmla="*/ 169 w 170"/>
                  <a:gd name="T25" fmla="*/ 8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170">
                    <a:moveTo>
                      <a:pt x="169" y="85"/>
                    </a:moveTo>
                    <a:cubicBezTo>
                      <a:pt x="169" y="100"/>
                      <a:pt x="166" y="113"/>
                      <a:pt x="158" y="127"/>
                    </a:cubicBezTo>
                    <a:cubicBezTo>
                      <a:pt x="150" y="140"/>
                      <a:pt x="141" y="150"/>
                      <a:pt x="127" y="158"/>
                    </a:cubicBezTo>
                    <a:cubicBezTo>
                      <a:pt x="114" y="166"/>
                      <a:pt x="100" y="169"/>
                      <a:pt x="84" y="169"/>
                    </a:cubicBezTo>
                    <a:cubicBezTo>
                      <a:pt x="69" y="169"/>
                      <a:pt x="56" y="166"/>
                      <a:pt x="42" y="158"/>
                    </a:cubicBezTo>
                    <a:cubicBezTo>
                      <a:pt x="29" y="150"/>
                      <a:pt x="19" y="140"/>
                      <a:pt x="11" y="127"/>
                    </a:cubicBezTo>
                    <a:cubicBezTo>
                      <a:pt x="3" y="113"/>
                      <a:pt x="0" y="100"/>
                      <a:pt x="0" y="85"/>
                    </a:cubicBezTo>
                    <a:cubicBezTo>
                      <a:pt x="0" y="69"/>
                      <a:pt x="3" y="55"/>
                      <a:pt x="11" y="42"/>
                    </a:cubicBezTo>
                    <a:cubicBezTo>
                      <a:pt x="19" y="28"/>
                      <a:pt x="29" y="19"/>
                      <a:pt x="42" y="11"/>
                    </a:cubicBezTo>
                    <a:cubicBezTo>
                      <a:pt x="56" y="3"/>
                      <a:pt x="69" y="0"/>
                      <a:pt x="84" y="0"/>
                    </a:cubicBezTo>
                    <a:cubicBezTo>
                      <a:pt x="100" y="0"/>
                      <a:pt x="114" y="3"/>
                      <a:pt x="127" y="11"/>
                    </a:cubicBezTo>
                    <a:cubicBezTo>
                      <a:pt x="141" y="19"/>
                      <a:pt x="150" y="28"/>
                      <a:pt x="158" y="42"/>
                    </a:cubicBezTo>
                    <a:cubicBezTo>
                      <a:pt x="166" y="55"/>
                      <a:pt x="169" y="69"/>
                      <a:pt x="169" y="8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65" name="Freeform 138">
                <a:extLst>
                  <a:ext uri="{FF2B5EF4-FFF2-40B4-BE49-F238E27FC236}">
                    <a16:creationId xmlns:a16="http://schemas.microsoft.com/office/drawing/2014/main" id="{57D0E4C2-7F64-6D17-287D-22C3C507FB8D}"/>
                  </a:ext>
                </a:extLst>
              </p:cNvPr>
              <p:cNvSpPr>
                <a:spLocks noChangeArrowheads="1"/>
              </p:cNvSpPr>
              <p:nvPr/>
            </p:nvSpPr>
            <p:spPr bwMode="auto">
              <a:xfrm>
                <a:off x="7157410" y="2623066"/>
                <a:ext cx="101237" cy="101239"/>
              </a:xfrm>
              <a:custGeom>
                <a:avLst/>
                <a:gdLst>
                  <a:gd name="T0" fmla="*/ 225 w 226"/>
                  <a:gd name="T1" fmla="*/ 224 h 225"/>
                  <a:gd name="T2" fmla="*/ 0 w 226"/>
                  <a:gd name="T3" fmla="*/ 0 h 225"/>
                </a:gdLst>
                <a:ahLst/>
                <a:cxnLst>
                  <a:cxn ang="0">
                    <a:pos x="T0" y="T1"/>
                  </a:cxn>
                  <a:cxn ang="0">
                    <a:pos x="T2" y="T3"/>
                  </a:cxn>
                </a:cxnLst>
                <a:rect l="0" t="0" r="r" b="b"/>
                <a:pathLst>
                  <a:path w="226" h="225">
                    <a:moveTo>
                      <a:pt x="225" y="224"/>
                    </a:moveTo>
                    <a:cubicBezTo>
                      <a:pt x="150" y="149"/>
                      <a:pt x="75" y="74"/>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6" name="Freeform 139">
                <a:extLst>
                  <a:ext uri="{FF2B5EF4-FFF2-40B4-BE49-F238E27FC236}">
                    <a16:creationId xmlns:a16="http://schemas.microsoft.com/office/drawing/2014/main" id="{54F8C601-46A6-CC43-72CC-BF24C75D0B6F}"/>
                  </a:ext>
                </a:extLst>
              </p:cNvPr>
              <p:cNvSpPr>
                <a:spLocks noChangeArrowheads="1"/>
              </p:cNvSpPr>
              <p:nvPr/>
            </p:nvSpPr>
            <p:spPr bwMode="auto">
              <a:xfrm>
                <a:off x="6911263" y="2378905"/>
                <a:ext cx="101237" cy="101237"/>
              </a:xfrm>
              <a:custGeom>
                <a:avLst/>
                <a:gdLst>
                  <a:gd name="T0" fmla="*/ 0 w 226"/>
                  <a:gd name="T1" fmla="*/ 0 h 226"/>
                  <a:gd name="T2" fmla="*/ 225 w 226"/>
                  <a:gd name="T3" fmla="*/ 225 h 226"/>
                </a:gdLst>
                <a:ahLst/>
                <a:cxnLst>
                  <a:cxn ang="0">
                    <a:pos x="T0" y="T1"/>
                  </a:cxn>
                  <a:cxn ang="0">
                    <a:pos x="T2" y="T3"/>
                  </a:cxn>
                </a:cxnLst>
                <a:rect l="0" t="0" r="r" b="b"/>
                <a:pathLst>
                  <a:path w="226" h="226">
                    <a:moveTo>
                      <a:pt x="0" y="0"/>
                    </a:moveTo>
                    <a:cubicBezTo>
                      <a:pt x="75" y="75"/>
                      <a:pt x="150" y="150"/>
                      <a:pt x="225" y="22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67" name="Freeform 140">
                <a:extLst>
                  <a:ext uri="{FF2B5EF4-FFF2-40B4-BE49-F238E27FC236}">
                    <a16:creationId xmlns:a16="http://schemas.microsoft.com/office/drawing/2014/main" id="{DCEAF92E-4B99-4728-67D5-1E25E5CAE570}"/>
                  </a:ext>
                </a:extLst>
              </p:cNvPr>
              <p:cNvSpPr>
                <a:spLocks noChangeArrowheads="1"/>
              </p:cNvSpPr>
              <p:nvPr/>
            </p:nvSpPr>
            <p:spPr bwMode="auto">
              <a:xfrm>
                <a:off x="7246737" y="2313397"/>
                <a:ext cx="77418" cy="77418"/>
              </a:xfrm>
              <a:custGeom>
                <a:avLst/>
                <a:gdLst>
                  <a:gd name="T0" fmla="*/ 170 w 171"/>
                  <a:gd name="T1" fmla="*/ 85 h 170"/>
                  <a:gd name="T2" fmla="*/ 158 w 171"/>
                  <a:gd name="T3" fmla="*/ 127 h 170"/>
                  <a:gd name="T4" fmla="*/ 127 w 171"/>
                  <a:gd name="T5" fmla="*/ 158 h 170"/>
                  <a:gd name="T6" fmla="*/ 85 w 171"/>
                  <a:gd name="T7" fmla="*/ 169 h 170"/>
                  <a:gd name="T8" fmla="*/ 43 w 171"/>
                  <a:gd name="T9" fmla="*/ 158 h 170"/>
                  <a:gd name="T10" fmla="*/ 12 w 171"/>
                  <a:gd name="T11" fmla="*/ 127 h 170"/>
                  <a:gd name="T12" fmla="*/ 0 w 171"/>
                  <a:gd name="T13" fmla="*/ 85 h 170"/>
                  <a:gd name="T14" fmla="*/ 12 w 171"/>
                  <a:gd name="T15" fmla="*/ 42 h 170"/>
                  <a:gd name="T16" fmla="*/ 43 w 171"/>
                  <a:gd name="T17" fmla="*/ 11 h 170"/>
                  <a:gd name="T18" fmla="*/ 85 w 171"/>
                  <a:gd name="T19" fmla="*/ 0 h 170"/>
                  <a:gd name="T20" fmla="*/ 127 w 171"/>
                  <a:gd name="T21" fmla="*/ 11 h 170"/>
                  <a:gd name="T22" fmla="*/ 158 w 171"/>
                  <a:gd name="T23" fmla="*/ 42 h 170"/>
                  <a:gd name="T24" fmla="*/ 170 w 171"/>
                  <a:gd name="T25" fmla="*/ 8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70">
                    <a:moveTo>
                      <a:pt x="170" y="85"/>
                    </a:moveTo>
                    <a:cubicBezTo>
                      <a:pt x="170" y="100"/>
                      <a:pt x="166" y="113"/>
                      <a:pt x="158" y="127"/>
                    </a:cubicBezTo>
                    <a:cubicBezTo>
                      <a:pt x="151" y="140"/>
                      <a:pt x="141" y="150"/>
                      <a:pt x="127" y="158"/>
                    </a:cubicBezTo>
                    <a:cubicBezTo>
                      <a:pt x="114" y="166"/>
                      <a:pt x="101" y="169"/>
                      <a:pt x="85" y="169"/>
                    </a:cubicBezTo>
                    <a:cubicBezTo>
                      <a:pt x="70" y="169"/>
                      <a:pt x="57" y="166"/>
                      <a:pt x="43" y="158"/>
                    </a:cubicBezTo>
                    <a:cubicBezTo>
                      <a:pt x="30" y="150"/>
                      <a:pt x="20" y="140"/>
                      <a:pt x="12" y="127"/>
                    </a:cubicBezTo>
                    <a:cubicBezTo>
                      <a:pt x="4" y="113"/>
                      <a:pt x="0" y="100"/>
                      <a:pt x="0" y="85"/>
                    </a:cubicBezTo>
                    <a:cubicBezTo>
                      <a:pt x="0" y="69"/>
                      <a:pt x="4" y="55"/>
                      <a:pt x="12" y="42"/>
                    </a:cubicBezTo>
                    <a:cubicBezTo>
                      <a:pt x="20" y="28"/>
                      <a:pt x="30" y="19"/>
                      <a:pt x="43" y="11"/>
                    </a:cubicBezTo>
                    <a:cubicBezTo>
                      <a:pt x="57" y="3"/>
                      <a:pt x="70" y="0"/>
                      <a:pt x="85" y="0"/>
                    </a:cubicBezTo>
                    <a:cubicBezTo>
                      <a:pt x="101" y="0"/>
                      <a:pt x="114" y="3"/>
                      <a:pt x="127" y="11"/>
                    </a:cubicBezTo>
                    <a:cubicBezTo>
                      <a:pt x="141" y="19"/>
                      <a:pt x="151" y="28"/>
                      <a:pt x="158" y="42"/>
                    </a:cubicBezTo>
                    <a:cubicBezTo>
                      <a:pt x="166" y="55"/>
                      <a:pt x="170" y="69"/>
                      <a:pt x="170" y="8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68" name="Freeform 141">
                <a:extLst>
                  <a:ext uri="{FF2B5EF4-FFF2-40B4-BE49-F238E27FC236}">
                    <a16:creationId xmlns:a16="http://schemas.microsoft.com/office/drawing/2014/main" id="{6D993673-ADFD-DBCC-841D-6018634FE30B}"/>
                  </a:ext>
                </a:extLst>
              </p:cNvPr>
              <p:cNvSpPr>
                <a:spLocks noChangeArrowheads="1"/>
              </p:cNvSpPr>
              <p:nvPr/>
            </p:nvSpPr>
            <p:spPr bwMode="auto">
              <a:xfrm>
                <a:off x="6847741" y="2714379"/>
                <a:ext cx="77417" cy="77418"/>
              </a:xfrm>
              <a:custGeom>
                <a:avLst/>
                <a:gdLst>
                  <a:gd name="T0" fmla="*/ 169 w 170"/>
                  <a:gd name="T1" fmla="*/ 84 h 170"/>
                  <a:gd name="T2" fmla="*/ 158 w 170"/>
                  <a:gd name="T3" fmla="*/ 127 h 170"/>
                  <a:gd name="T4" fmla="*/ 127 w 170"/>
                  <a:gd name="T5" fmla="*/ 158 h 170"/>
                  <a:gd name="T6" fmla="*/ 84 w 170"/>
                  <a:gd name="T7" fmla="*/ 169 h 170"/>
                  <a:gd name="T8" fmla="*/ 42 w 170"/>
                  <a:gd name="T9" fmla="*/ 158 h 170"/>
                  <a:gd name="T10" fmla="*/ 11 w 170"/>
                  <a:gd name="T11" fmla="*/ 127 h 170"/>
                  <a:gd name="T12" fmla="*/ 0 w 170"/>
                  <a:gd name="T13" fmla="*/ 84 h 170"/>
                  <a:gd name="T14" fmla="*/ 11 w 170"/>
                  <a:gd name="T15" fmla="*/ 42 h 170"/>
                  <a:gd name="T16" fmla="*/ 42 w 170"/>
                  <a:gd name="T17" fmla="*/ 11 h 170"/>
                  <a:gd name="T18" fmla="*/ 84 w 170"/>
                  <a:gd name="T19" fmla="*/ 0 h 170"/>
                  <a:gd name="T20" fmla="*/ 127 w 170"/>
                  <a:gd name="T21" fmla="*/ 11 h 170"/>
                  <a:gd name="T22" fmla="*/ 158 w 170"/>
                  <a:gd name="T23" fmla="*/ 42 h 170"/>
                  <a:gd name="T24" fmla="*/ 169 w 170"/>
                  <a:gd name="T25" fmla="*/ 8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0" h="170">
                    <a:moveTo>
                      <a:pt x="169" y="84"/>
                    </a:moveTo>
                    <a:cubicBezTo>
                      <a:pt x="169" y="100"/>
                      <a:pt x="166" y="113"/>
                      <a:pt x="158" y="127"/>
                    </a:cubicBezTo>
                    <a:cubicBezTo>
                      <a:pt x="150" y="140"/>
                      <a:pt x="141" y="150"/>
                      <a:pt x="127" y="158"/>
                    </a:cubicBezTo>
                    <a:cubicBezTo>
                      <a:pt x="114" y="165"/>
                      <a:pt x="100" y="169"/>
                      <a:pt x="84" y="169"/>
                    </a:cubicBezTo>
                    <a:cubicBezTo>
                      <a:pt x="69" y="169"/>
                      <a:pt x="56" y="165"/>
                      <a:pt x="42" y="158"/>
                    </a:cubicBezTo>
                    <a:cubicBezTo>
                      <a:pt x="29" y="150"/>
                      <a:pt x="19" y="140"/>
                      <a:pt x="11" y="127"/>
                    </a:cubicBezTo>
                    <a:cubicBezTo>
                      <a:pt x="3" y="113"/>
                      <a:pt x="0" y="99"/>
                      <a:pt x="0" y="84"/>
                    </a:cubicBezTo>
                    <a:cubicBezTo>
                      <a:pt x="0" y="68"/>
                      <a:pt x="3" y="55"/>
                      <a:pt x="11" y="42"/>
                    </a:cubicBezTo>
                    <a:cubicBezTo>
                      <a:pt x="19" y="28"/>
                      <a:pt x="29" y="19"/>
                      <a:pt x="42" y="11"/>
                    </a:cubicBezTo>
                    <a:cubicBezTo>
                      <a:pt x="56" y="3"/>
                      <a:pt x="69" y="0"/>
                      <a:pt x="84" y="0"/>
                    </a:cubicBezTo>
                    <a:cubicBezTo>
                      <a:pt x="100" y="0"/>
                      <a:pt x="114" y="3"/>
                      <a:pt x="127" y="11"/>
                    </a:cubicBezTo>
                    <a:cubicBezTo>
                      <a:pt x="141" y="19"/>
                      <a:pt x="150" y="28"/>
                      <a:pt x="158" y="42"/>
                    </a:cubicBezTo>
                    <a:cubicBezTo>
                      <a:pt x="166" y="55"/>
                      <a:pt x="169" y="69"/>
                      <a:pt x="169" y="8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69" name="Freeform 142">
                <a:extLst>
                  <a:ext uri="{FF2B5EF4-FFF2-40B4-BE49-F238E27FC236}">
                    <a16:creationId xmlns:a16="http://schemas.microsoft.com/office/drawing/2014/main" id="{6836B5A3-7983-97BC-2932-F57E03E720C5}"/>
                  </a:ext>
                </a:extLst>
              </p:cNvPr>
              <p:cNvSpPr>
                <a:spLocks noChangeArrowheads="1"/>
              </p:cNvSpPr>
              <p:nvPr/>
            </p:nvSpPr>
            <p:spPr bwMode="auto">
              <a:xfrm>
                <a:off x="7157410" y="2378905"/>
                <a:ext cx="101237" cy="101237"/>
              </a:xfrm>
              <a:custGeom>
                <a:avLst/>
                <a:gdLst>
                  <a:gd name="T0" fmla="*/ 225 w 226"/>
                  <a:gd name="T1" fmla="*/ 0 h 226"/>
                  <a:gd name="T2" fmla="*/ 0 w 226"/>
                  <a:gd name="T3" fmla="*/ 225 h 226"/>
                </a:gdLst>
                <a:ahLst/>
                <a:cxnLst>
                  <a:cxn ang="0">
                    <a:pos x="T0" y="T1"/>
                  </a:cxn>
                  <a:cxn ang="0">
                    <a:pos x="T2" y="T3"/>
                  </a:cxn>
                </a:cxnLst>
                <a:rect l="0" t="0" r="r" b="b"/>
                <a:pathLst>
                  <a:path w="226" h="226">
                    <a:moveTo>
                      <a:pt x="225" y="0"/>
                    </a:moveTo>
                    <a:cubicBezTo>
                      <a:pt x="150" y="75"/>
                      <a:pt x="75" y="150"/>
                      <a:pt x="0" y="22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70" name="Freeform 143">
                <a:extLst>
                  <a:ext uri="{FF2B5EF4-FFF2-40B4-BE49-F238E27FC236}">
                    <a16:creationId xmlns:a16="http://schemas.microsoft.com/office/drawing/2014/main" id="{ACD47E20-2879-C63D-B8E6-C115AE2A28E0}"/>
                  </a:ext>
                </a:extLst>
              </p:cNvPr>
              <p:cNvSpPr>
                <a:spLocks noChangeArrowheads="1"/>
              </p:cNvSpPr>
              <p:nvPr/>
            </p:nvSpPr>
            <p:spPr bwMode="auto">
              <a:xfrm>
                <a:off x="6911263" y="2623066"/>
                <a:ext cx="101237" cy="101239"/>
              </a:xfrm>
              <a:custGeom>
                <a:avLst/>
                <a:gdLst>
                  <a:gd name="T0" fmla="*/ 0 w 226"/>
                  <a:gd name="T1" fmla="*/ 224 h 225"/>
                  <a:gd name="T2" fmla="*/ 225 w 226"/>
                  <a:gd name="T3" fmla="*/ 0 h 225"/>
                </a:gdLst>
                <a:ahLst/>
                <a:cxnLst>
                  <a:cxn ang="0">
                    <a:pos x="T0" y="T1"/>
                  </a:cxn>
                  <a:cxn ang="0">
                    <a:pos x="T2" y="T3"/>
                  </a:cxn>
                </a:cxnLst>
                <a:rect l="0" t="0" r="r" b="b"/>
                <a:pathLst>
                  <a:path w="226" h="225">
                    <a:moveTo>
                      <a:pt x="0" y="224"/>
                    </a:moveTo>
                    <a:cubicBezTo>
                      <a:pt x="75" y="149"/>
                      <a:pt x="150" y="74"/>
                      <a:pt x="225"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grpSp>
      </p:grpSp>
      <p:cxnSp>
        <p:nvCxnSpPr>
          <p:cNvPr id="48" name="Straight Connector 47">
            <a:extLst>
              <a:ext uri="{FF2B5EF4-FFF2-40B4-BE49-F238E27FC236}">
                <a16:creationId xmlns:a16="http://schemas.microsoft.com/office/drawing/2014/main" id="{5EF4F74B-8BA0-F8F7-EE34-7DFC889F7634}"/>
              </a:ext>
            </a:extLst>
          </p:cNvPr>
          <p:cNvCxnSpPr>
            <a:cxnSpLocks/>
          </p:cNvCxnSpPr>
          <p:nvPr/>
        </p:nvCxnSpPr>
        <p:spPr>
          <a:xfrm>
            <a:off x="-11894" y="7961582"/>
            <a:ext cx="324924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97E474F8-CC0A-0988-E512-DD76B240F115}"/>
              </a:ext>
            </a:extLst>
          </p:cNvPr>
          <p:cNvCxnSpPr>
            <a:cxnSpLocks/>
          </p:cNvCxnSpPr>
          <p:nvPr/>
        </p:nvCxnSpPr>
        <p:spPr>
          <a:xfrm>
            <a:off x="4151202" y="6962700"/>
            <a:ext cx="347985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0F7D1806-D949-F70E-8250-242E8BEC73A4}"/>
              </a:ext>
            </a:extLst>
          </p:cNvPr>
          <p:cNvSpPr txBox="1"/>
          <p:nvPr/>
        </p:nvSpPr>
        <p:spPr>
          <a:xfrm>
            <a:off x="39668" y="7312634"/>
            <a:ext cx="3178144" cy="584775"/>
          </a:xfrm>
          <a:prstGeom prst="rect">
            <a:avLst/>
          </a:prstGeom>
          <a:noFill/>
        </p:spPr>
        <p:txBody>
          <a:bodyPr wrap="square" rtlCol="0">
            <a:spAutoFit/>
          </a:bodyPr>
          <a:lstStyle/>
          <a:p>
            <a:pPr algn="ctr">
              <a:defRPr/>
            </a:pPr>
            <a:r>
              <a:rPr lang="en-GB" sz="3200">
                <a:latin typeface="+mj-lt"/>
              </a:rPr>
              <a:t>Environments</a:t>
            </a:r>
          </a:p>
        </p:txBody>
      </p:sp>
      <p:sp>
        <p:nvSpPr>
          <p:cNvPr id="51" name="TextBox 50">
            <a:extLst>
              <a:ext uri="{FF2B5EF4-FFF2-40B4-BE49-F238E27FC236}">
                <a16:creationId xmlns:a16="http://schemas.microsoft.com/office/drawing/2014/main" id="{BF160B11-6A22-B20A-70B6-8F5497B91F34}"/>
              </a:ext>
            </a:extLst>
          </p:cNvPr>
          <p:cNvSpPr txBox="1"/>
          <p:nvPr/>
        </p:nvSpPr>
        <p:spPr>
          <a:xfrm>
            <a:off x="4565769" y="6977206"/>
            <a:ext cx="14273670" cy="1569660"/>
          </a:xfrm>
          <a:prstGeom prst="rect">
            <a:avLst/>
          </a:prstGeom>
          <a:noFill/>
        </p:spPr>
        <p:txBody>
          <a:bodyPr wrap="square" rtlCol="0">
            <a:spAutoFit/>
          </a:bodyPr>
          <a:lstStyle/>
          <a:p>
            <a:pPr marL="571500" indent="-571500">
              <a:buFont typeface="Arial" panose="020B0604020202020204" pitchFamily="34" charset="0"/>
              <a:buChar char="•"/>
              <a:defRPr/>
            </a:pPr>
            <a:r>
              <a:rPr lang="en-GB" sz="2400">
                <a:latin typeface="+mj-lt"/>
              </a:rPr>
              <a:t>Production and Staging hosted in DDC. Staging, App Support, DEMO, DEV, DEV–DMT and QA hosted in LEPC.</a:t>
            </a:r>
          </a:p>
          <a:p>
            <a:pPr marL="571500" indent="-571500">
              <a:buFont typeface="Arial" panose="020B0604020202020204" pitchFamily="34" charset="0"/>
              <a:buChar char="•"/>
              <a:defRPr/>
            </a:pPr>
            <a:r>
              <a:rPr lang="en-GB" sz="2400">
                <a:latin typeface="+mj-lt"/>
              </a:rPr>
              <a:t>DR running in AWS, not tested fully end to end. </a:t>
            </a:r>
          </a:p>
          <a:p>
            <a:pPr marL="571500" indent="-571500">
              <a:buFont typeface="Arial" panose="020B0604020202020204" pitchFamily="34" charset="0"/>
              <a:buChar char="•"/>
              <a:defRPr/>
            </a:pPr>
            <a:r>
              <a:rPr lang="en-GB" sz="2400">
                <a:latin typeface="+mj-lt"/>
              </a:rPr>
              <a:t>All Env’s running on VMware.</a:t>
            </a:r>
          </a:p>
        </p:txBody>
      </p:sp>
      <p:cxnSp>
        <p:nvCxnSpPr>
          <p:cNvPr id="4" name="Elbow Connector 3">
            <a:extLst>
              <a:ext uri="{FF2B5EF4-FFF2-40B4-BE49-F238E27FC236}">
                <a16:creationId xmlns:a16="http://schemas.microsoft.com/office/drawing/2014/main" id="{AE343EC3-84AB-19DB-AAD3-AA348054FD9E}"/>
              </a:ext>
            </a:extLst>
          </p:cNvPr>
          <p:cNvCxnSpPr>
            <a:cxnSpLocks/>
          </p:cNvCxnSpPr>
          <p:nvPr/>
        </p:nvCxnSpPr>
        <p:spPr>
          <a:xfrm>
            <a:off x="1256832" y="10548198"/>
            <a:ext cx="12174032" cy="2130944"/>
          </a:xfrm>
          <a:prstGeom prst="bentConnector3">
            <a:avLst>
              <a:gd name="adj1" fmla="val 239"/>
            </a:avLst>
          </a:prstGeom>
          <a:ln w="15875">
            <a:solidFill>
              <a:srgbClr val="C00000">
                <a:alpha val="58082"/>
              </a:srgbClr>
            </a:solidFill>
          </a:ln>
        </p:spPr>
        <p:style>
          <a:lnRef idx="1">
            <a:schemeClr val="accent1"/>
          </a:lnRef>
          <a:fillRef idx="0">
            <a:schemeClr val="accent1"/>
          </a:fillRef>
          <a:effectRef idx="0">
            <a:schemeClr val="accent1"/>
          </a:effectRef>
          <a:fontRef idx="minor">
            <a:schemeClr val="tx1"/>
          </a:fontRef>
        </p:style>
      </p:cxnSp>
      <p:sp>
        <p:nvSpPr>
          <p:cNvPr id="72" name="Freeform 1">
            <a:extLst>
              <a:ext uri="{FF2B5EF4-FFF2-40B4-BE49-F238E27FC236}">
                <a16:creationId xmlns:a16="http://schemas.microsoft.com/office/drawing/2014/main" id="{BB4B337C-BEDE-2193-BD85-CFC6BB6FE56B}"/>
              </a:ext>
            </a:extLst>
          </p:cNvPr>
          <p:cNvSpPr>
            <a:spLocks noChangeArrowheads="1"/>
          </p:cNvSpPr>
          <p:nvPr/>
        </p:nvSpPr>
        <p:spPr bwMode="auto">
          <a:xfrm>
            <a:off x="1261711" y="8849870"/>
            <a:ext cx="763686" cy="1579080"/>
          </a:xfrm>
          <a:custGeom>
            <a:avLst/>
            <a:gdLst>
              <a:gd name="T0" fmla="*/ 0 w 848"/>
              <a:gd name="T1" fmla="*/ 1748 h 1749"/>
              <a:gd name="T2" fmla="*/ 565 w 848"/>
              <a:gd name="T3" fmla="*/ 1748 h 1749"/>
              <a:gd name="T4" fmla="*/ 847 w 848"/>
              <a:gd name="T5" fmla="*/ 1466 h 1749"/>
              <a:gd name="T6" fmla="*/ 847 w 848"/>
              <a:gd name="T7" fmla="*/ 282 h 1749"/>
              <a:gd name="T8" fmla="*/ 565 w 848"/>
              <a:gd name="T9" fmla="*/ 0 h 1749"/>
              <a:gd name="T10" fmla="*/ 0 w 848"/>
              <a:gd name="T11" fmla="*/ 0 h 1749"/>
            </a:gdLst>
            <a:ahLst/>
            <a:cxnLst>
              <a:cxn ang="0">
                <a:pos x="T0" y="T1"/>
              </a:cxn>
              <a:cxn ang="0">
                <a:pos x="T2" y="T3"/>
              </a:cxn>
              <a:cxn ang="0">
                <a:pos x="T4" y="T5"/>
              </a:cxn>
              <a:cxn ang="0">
                <a:pos x="T6" y="T7"/>
              </a:cxn>
              <a:cxn ang="0">
                <a:pos x="T8" y="T9"/>
              </a:cxn>
              <a:cxn ang="0">
                <a:pos x="T10" y="T11"/>
              </a:cxn>
            </a:cxnLst>
            <a:rect l="0" t="0" r="r" b="b"/>
            <a:pathLst>
              <a:path w="848" h="1749">
                <a:moveTo>
                  <a:pt x="0" y="1748"/>
                </a:moveTo>
                <a:cubicBezTo>
                  <a:pt x="189" y="1748"/>
                  <a:pt x="377" y="1748"/>
                  <a:pt x="565" y="1748"/>
                </a:cubicBezTo>
                <a:cubicBezTo>
                  <a:pt x="720" y="1748"/>
                  <a:pt x="847" y="1621"/>
                  <a:pt x="847" y="1466"/>
                </a:cubicBezTo>
                <a:cubicBezTo>
                  <a:pt x="847" y="1071"/>
                  <a:pt x="847" y="677"/>
                  <a:pt x="847" y="282"/>
                </a:cubicBezTo>
                <a:cubicBezTo>
                  <a:pt x="847" y="127"/>
                  <a:pt x="720" y="0"/>
                  <a:pt x="565" y="0"/>
                </a:cubicBezTo>
                <a:cubicBezTo>
                  <a:pt x="377" y="0"/>
                  <a:pt x="189"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73" name="Freeform 2">
            <a:extLst>
              <a:ext uri="{FF2B5EF4-FFF2-40B4-BE49-F238E27FC236}">
                <a16:creationId xmlns:a16="http://schemas.microsoft.com/office/drawing/2014/main" id="{0F32A5F0-390B-DF26-D948-29A4393F22F4}"/>
              </a:ext>
            </a:extLst>
          </p:cNvPr>
          <p:cNvSpPr>
            <a:spLocks noChangeArrowheads="1"/>
          </p:cNvSpPr>
          <p:nvPr/>
        </p:nvSpPr>
        <p:spPr bwMode="auto">
          <a:xfrm>
            <a:off x="342900" y="8722591"/>
            <a:ext cx="914832" cy="1833642"/>
          </a:xfrm>
          <a:custGeom>
            <a:avLst/>
            <a:gdLst>
              <a:gd name="T0" fmla="*/ 1015 w 1016"/>
              <a:gd name="T1" fmla="*/ 550 h 2031"/>
              <a:gd name="T2" fmla="*/ 1015 w 1016"/>
              <a:gd name="T3" fmla="*/ 29 h 2031"/>
              <a:gd name="T4" fmla="*/ 1006 w 1016"/>
              <a:gd name="T5" fmla="*/ 8 h 2031"/>
              <a:gd name="T6" fmla="*/ 985 w 1016"/>
              <a:gd name="T7" fmla="*/ 1 h 2031"/>
              <a:gd name="T8" fmla="*/ 688 w 1016"/>
              <a:gd name="T9" fmla="*/ 211 h 2031"/>
              <a:gd name="T10" fmla="*/ 679 w 1016"/>
              <a:gd name="T11" fmla="*/ 214 h 2031"/>
              <a:gd name="T12" fmla="*/ 298 w 1016"/>
              <a:gd name="T13" fmla="*/ 297 h 2031"/>
              <a:gd name="T14" fmla="*/ 215 w 1016"/>
              <a:gd name="T15" fmla="*/ 679 h 2031"/>
              <a:gd name="T16" fmla="*/ 211 w 1016"/>
              <a:gd name="T17" fmla="*/ 687 h 2031"/>
              <a:gd name="T18" fmla="*/ 0 w 1016"/>
              <a:gd name="T19" fmla="*/ 1015 h 2031"/>
              <a:gd name="T20" fmla="*/ 211 w 1016"/>
              <a:gd name="T21" fmla="*/ 1343 h 2031"/>
              <a:gd name="T22" fmla="*/ 215 w 1016"/>
              <a:gd name="T23" fmla="*/ 1352 h 2031"/>
              <a:gd name="T24" fmla="*/ 298 w 1016"/>
              <a:gd name="T25" fmla="*/ 1733 h 2031"/>
              <a:gd name="T26" fmla="*/ 679 w 1016"/>
              <a:gd name="T27" fmla="*/ 1816 h 2031"/>
              <a:gd name="T28" fmla="*/ 688 w 1016"/>
              <a:gd name="T29" fmla="*/ 1820 h 2031"/>
              <a:gd name="T30" fmla="*/ 985 w 1016"/>
              <a:gd name="T31" fmla="*/ 2029 h 2031"/>
              <a:gd name="T32" fmla="*/ 1006 w 1016"/>
              <a:gd name="T33" fmla="*/ 2022 h 2031"/>
              <a:gd name="T34" fmla="*/ 1015 w 1016"/>
              <a:gd name="T35" fmla="*/ 2001 h 2031"/>
              <a:gd name="T36" fmla="*/ 1015 w 1016"/>
              <a:gd name="T37" fmla="*/ 1480 h 2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16" h="2031">
                <a:moveTo>
                  <a:pt x="1015" y="550"/>
                </a:moveTo>
                <a:cubicBezTo>
                  <a:pt x="1015" y="376"/>
                  <a:pt x="1015" y="202"/>
                  <a:pt x="1015" y="29"/>
                </a:cubicBezTo>
                <a:cubicBezTo>
                  <a:pt x="1015" y="21"/>
                  <a:pt x="1013" y="13"/>
                  <a:pt x="1006" y="8"/>
                </a:cubicBezTo>
                <a:cubicBezTo>
                  <a:pt x="1000" y="2"/>
                  <a:pt x="992" y="0"/>
                  <a:pt x="985" y="1"/>
                </a:cubicBezTo>
                <a:cubicBezTo>
                  <a:pt x="853" y="12"/>
                  <a:pt x="741" y="95"/>
                  <a:pt x="688" y="211"/>
                </a:cubicBezTo>
                <a:cubicBezTo>
                  <a:pt x="686" y="214"/>
                  <a:pt x="683" y="216"/>
                  <a:pt x="679" y="214"/>
                </a:cubicBezTo>
                <a:cubicBezTo>
                  <a:pt x="551" y="167"/>
                  <a:pt x="401" y="194"/>
                  <a:pt x="298" y="297"/>
                </a:cubicBezTo>
                <a:cubicBezTo>
                  <a:pt x="195" y="400"/>
                  <a:pt x="167" y="550"/>
                  <a:pt x="215" y="679"/>
                </a:cubicBezTo>
                <a:cubicBezTo>
                  <a:pt x="216" y="682"/>
                  <a:pt x="215" y="686"/>
                  <a:pt x="211" y="687"/>
                </a:cubicBezTo>
                <a:cubicBezTo>
                  <a:pt x="87" y="744"/>
                  <a:pt x="0" y="870"/>
                  <a:pt x="0" y="1015"/>
                </a:cubicBezTo>
                <a:cubicBezTo>
                  <a:pt x="0" y="1161"/>
                  <a:pt x="87" y="1286"/>
                  <a:pt x="211" y="1343"/>
                </a:cubicBezTo>
                <a:cubicBezTo>
                  <a:pt x="215" y="1344"/>
                  <a:pt x="216" y="1348"/>
                  <a:pt x="215" y="1352"/>
                </a:cubicBezTo>
                <a:cubicBezTo>
                  <a:pt x="167" y="1480"/>
                  <a:pt x="195" y="1630"/>
                  <a:pt x="298" y="1733"/>
                </a:cubicBezTo>
                <a:cubicBezTo>
                  <a:pt x="401" y="1836"/>
                  <a:pt x="551" y="1864"/>
                  <a:pt x="679" y="1816"/>
                </a:cubicBezTo>
                <a:cubicBezTo>
                  <a:pt x="683" y="1815"/>
                  <a:pt x="686" y="1816"/>
                  <a:pt x="688" y="1820"/>
                </a:cubicBezTo>
                <a:cubicBezTo>
                  <a:pt x="741" y="1935"/>
                  <a:pt x="853" y="2018"/>
                  <a:pt x="985" y="2029"/>
                </a:cubicBezTo>
                <a:cubicBezTo>
                  <a:pt x="992" y="2030"/>
                  <a:pt x="1000" y="2027"/>
                  <a:pt x="1006" y="2022"/>
                </a:cubicBezTo>
                <a:cubicBezTo>
                  <a:pt x="1012" y="2017"/>
                  <a:pt x="1015" y="2009"/>
                  <a:pt x="1015" y="2001"/>
                </a:cubicBezTo>
                <a:cubicBezTo>
                  <a:pt x="1015" y="1950"/>
                  <a:pt x="1015" y="1816"/>
                  <a:pt x="1015" y="148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74" name="Freeform 3">
            <a:extLst>
              <a:ext uri="{FF2B5EF4-FFF2-40B4-BE49-F238E27FC236}">
                <a16:creationId xmlns:a16="http://schemas.microsoft.com/office/drawing/2014/main" id="{F778D45C-7839-ECD2-C330-B6B75B6CDAA9}"/>
              </a:ext>
            </a:extLst>
          </p:cNvPr>
          <p:cNvSpPr>
            <a:spLocks noChangeArrowheads="1"/>
          </p:cNvSpPr>
          <p:nvPr/>
        </p:nvSpPr>
        <p:spPr bwMode="auto">
          <a:xfrm>
            <a:off x="1261710" y="9752772"/>
            <a:ext cx="3976" cy="75572"/>
          </a:xfrm>
          <a:custGeom>
            <a:avLst/>
            <a:gdLst>
              <a:gd name="T0" fmla="*/ 0 w 1"/>
              <a:gd name="T1" fmla="*/ 0 h 85"/>
              <a:gd name="T2" fmla="*/ 0 w 1"/>
              <a:gd name="T3" fmla="*/ 84 h 85"/>
            </a:gdLst>
            <a:ahLst/>
            <a:cxnLst>
              <a:cxn ang="0">
                <a:pos x="T0" y="T1"/>
              </a:cxn>
              <a:cxn ang="0">
                <a:pos x="T2" y="T3"/>
              </a:cxn>
            </a:cxnLst>
            <a:rect l="0" t="0" r="r" b="b"/>
            <a:pathLst>
              <a:path w="1" h="85">
                <a:moveTo>
                  <a:pt x="0" y="0"/>
                </a:moveTo>
                <a:cubicBezTo>
                  <a:pt x="0" y="28"/>
                  <a:pt x="0" y="56"/>
                  <a:pt x="0" y="8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75" name="Freeform 4">
            <a:extLst>
              <a:ext uri="{FF2B5EF4-FFF2-40B4-BE49-F238E27FC236}">
                <a16:creationId xmlns:a16="http://schemas.microsoft.com/office/drawing/2014/main" id="{764DDF54-06F3-9E5F-A2D0-90116913B57C}"/>
              </a:ext>
            </a:extLst>
          </p:cNvPr>
          <p:cNvSpPr>
            <a:spLocks noChangeArrowheads="1"/>
          </p:cNvSpPr>
          <p:nvPr/>
        </p:nvSpPr>
        <p:spPr bwMode="auto">
          <a:xfrm>
            <a:off x="1261710" y="9450481"/>
            <a:ext cx="3976" cy="79550"/>
          </a:xfrm>
          <a:custGeom>
            <a:avLst/>
            <a:gdLst>
              <a:gd name="T0" fmla="*/ 0 w 1"/>
              <a:gd name="T1" fmla="*/ 0 h 86"/>
              <a:gd name="T2" fmla="*/ 0 w 1"/>
              <a:gd name="T3" fmla="*/ 85 h 86"/>
            </a:gdLst>
            <a:ahLst/>
            <a:cxnLst>
              <a:cxn ang="0">
                <a:pos x="T0" y="T1"/>
              </a:cxn>
              <a:cxn ang="0">
                <a:pos x="T2" y="T3"/>
              </a:cxn>
            </a:cxnLst>
            <a:rect l="0" t="0" r="r" b="b"/>
            <a:pathLst>
              <a:path w="1" h="86">
                <a:moveTo>
                  <a:pt x="0" y="0"/>
                </a:moveTo>
                <a:cubicBezTo>
                  <a:pt x="0" y="28"/>
                  <a:pt x="0" y="56"/>
                  <a:pt x="0" y="85"/>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76" name="Freeform 5">
            <a:extLst>
              <a:ext uri="{FF2B5EF4-FFF2-40B4-BE49-F238E27FC236}">
                <a16:creationId xmlns:a16="http://schemas.microsoft.com/office/drawing/2014/main" id="{3424827A-149F-3E5D-94D6-09FF06AFB141}"/>
              </a:ext>
            </a:extLst>
          </p:cNvPr>
          <p:cNvSpPr>
            <a:spLocks noChangeArrowheads="1"/>
          </p:cNvSpPr>
          <p:nvPr/>
        </p:nvSpPr>
        <p:spPr bwMode="auto">
          <a:xfrm>
            <a:off x="1229891" y="9335131"/>
            <a:ext cx="182966" cy="3978"/>
          </a:xfrm>
          <a:custGeom>
            <a:avLst/>
            <a:gdLst>
              <a:gd name="T0" fmla="*/ 204 w 205"/>
              <a:gd name="T1" fmla="*/ 0 h 1"/>
              <a:gd name="T2" fmla="*/ 0 w 205"/>
              <a:gd name="T3" fmla="*/ 0 h 1"/>
            </a:gdLst>
            <a:ahLst/>
            <a:cxnLst>
              <a:cxn ang="0">
                <a:pos x="T0" y="T1"/>
              </a:cxn>
              <a:cxn ang="0">
                <a:pos x="T2" y="T3"/>
              </a:cxn>
            </a:cxnLst>
            <a:rect l="0" t="0" r="r" b="b"/>
            <a:pathLst>
              <a:path w="205" h="1">
                <a:moveTo>
                  <a:pt x="204" y="0"/>
                </a:moveTo>
                <a:cubicBezTo>
                  <a:pt x="136"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77" name="Freeform 6">
            <a:extLst>
              <a:ext uri="{FF2B5EF4-FFF2-40B4-BE49-F238E27FC236}">
                <a16:creationId xmlns:a16="http://schemas.microsoft.com/office/drawing/2014/main" id="{3DC3A660-2FAC-256F-BE6C-3D3731721602}"/>
              </a:ext>
            </a:extLst>
          </p:cNvPr>
          <p:cNvSpPr>
            <a:spLocks noChangeArrowheads="1"/>
          </p:cNvSpPr>
          <p:nvPr/>
        </p:nvSpPr>
        <p:spPr bwMode="auto">
          <a:xfrm>
            <a:off x="1512294" y="9335131"/>
            <a:ext cx="59664" cy="3978"/>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78" name="Freeform 7">
            <a:extLst>
              <a:ext uri="{FF2B5EF4-FFF2-40B4-BE49-F238E27FC236}">
                <a16:creationId xmlns:a16="http://schemas.microsoft.com/office/drawing/2014/main" id="{6C632D59-A61A-44B3-F0AD-0E0BF8F94BFB}"/>
              </a:ext>
            </a:extLst>
          </p:cNvPr>
          <p:cNvSpPr>
            <a:spLocks noChangeArrowheads="1"/>
          </p:cNvSpPr>
          <p:nvPr/>
        </p:nvSpPr>
        <p:spPr bwMode="auto">
          <a:xfrm>
            <a:off x="852025" y="9219782"/>
            <a:ext cx="815394" cy="230696"/>
          </a:xfrm>
          <a:custGeom>
            <a:avLst/>
            <a:gdLst>
              <a:gd name="T0" fmla="*/ 0 w 903"/>
              <a:gd name="T1" fmla="*/ 198 h 255"/>
              <a:gd name="T2" fmla="*/ 56 w 903"/>
              <a:gd name="T3" fmla="*/ 254 h 255"/>
              <a:gd name="T4" fmla="*/ 845 w 903"/>
              <a:gd name="T5" fmla="*/ 254 h 255"/>
              <a:gd name="T6" fmla="*/ 902 w 903"/>
              <a:gd name="T7" fmla="*/ 198 h 255"/>
              <a:gd name="T8" fmla="*/ 902 w 903"/>
              <a:gd name="T9" fmla="*/ 56 h 255"/>
              <a:gd name="T10" fmla="*/ 845 w 903"/>
              <a:gd name="T11" fmla="*/ 0 h 255"/>
              <a:gd name="T12" fmla="*/ 56 w 903"/>
              <a:gd name="T13" fmla="*/ 0 h 255"/>
              <a:gd name="T14" fmla="*/ 0 w 903"/>
              <a:gd name="T15" fmla="*/ 56 h 255"/>
              <a:gd name="T16" fmla="*/ 0 w 903"/>
              <a:gd name="T17" fmla="*/ 19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3" h="255">
                <a:moveTo>
                  <a:pt x="0" y="198"/>
                </a:moveTo>
                <a:cubicBezTo>
                  <a:pt x="0" y="229"/>
                  <a:pt x="25" y="254"/>
                  <a:pt x="56" y="254"/>
                </a:cubicBezTo>
                <a:cubicBezTo>
                  <a:pt x="319" y="254"/>
                  <a:pt x="582" y="254"/>
                  <a:pt x="845" y="254"/>
                </a:cubicBezTo>
                <a:cubicBezTo>
                  <a:pt x="876" y="254"/>
                  <a:pt x="902" y="229"/>
                  <a:pt x="902" y="198"/>
                </a:cubicBezTo>
                <a:cubicBezTo>
                  <a:pt x="902" y="150"/>
                  <a:pt x="902" y="103"/>
                  <a:pt x="902" y="56"/>
                </a:cubicBezTo>
                <a:cubicBezTo>
                  <a:pt x="902" y="25"/>
                  <a:pt x="876" y="0"/>
                  <a:pt x="845" y="0"/>
                </a:cubicBezTo>
                <a:cubicBezTo>
                  <a:pt x="582" y="0"/>
                  <a:pt x="319" y="0"/>
                  <a:pt x="56" y="0"/>
                </a:cubicBezTo>
                <a:cubicBezTo>
                  <a:pt x="25" y="0"/>
                  <a:pt x="0" y="25"/>
                  <a:pt x="0" y="56"/>
                </a:cubicBezTo>
                <a:cubicBezTo>
                  <a:pt x="0" y="103"/>
                  <a:pt x="0" y="150"/>
                  <a:pt x="0" y="19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79" name="Freeform 8">
            <a:extLst>
              <a:ext uri="{FF2B5EF4-FFF2-40B4-BE49-F238E27FC236}">
                <a16:creationId xmlns:a16="http://schemas.microsoft.com/office/drawing/2014/main" id="{0E9D7BB4-6024-AE9F-6CCE-CBF78102F667}"/>
              </a:ext>
            </a:extLst>
          </p:cNvPr>
          <p:cNvSpPr>
            <a:spLocks noChangeArrowheads="1"/>
          </p:cNvSpPr>
          <p:nvPr/>
        </p:nvSpPr>
        <p:spPr bwMode="auto">
          <a:xfrm>
            <a:off x="1229891" y="9637423"/>
            <a:ext cx="182966" cy="3978"/>
          </a:xfrm>
          <a:custGeom>
            <a:avLst/>
            <a:gdLst>
              <a:gd name="T0" fmla="*/ 204 w 205"/>
              <a:gd name="T1" fmla="*/ 0 h 1"/>
              <a:gd name="T2" fmla="*/ 0 w 205"/>
              <a:gd name="T3" fmla="*/ 0 h 1"/>
            </a:gdLst>
            <a:ahLst/>
            <a:cxnLst>
              <a:cxn ang="0">
                <a:pos x="T0" y="T1"/>
              </a:cxn>
              <a:cxn ang="0">
                <a:pos x="T2" y="T3"/>
              </a:cxn>
            </a:cxnLst>
            <a:rect l="0" t="0" r="r" b="b"/>
            <a:pathLst>
              <a:path w="205" h="1">
                <a:moveTo>
                  <a:pt x="204" y="0"/>
                </a:moveTo>
                <a:cubicBezTo>
                  <a:pt x="136"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80" name="Freeform 9">
            <a:extLst>
              <a:ext uri="{FF2B5EF4-FFF2-40B4-BE49-F238E27FC236}">
                <a16:creationId xmlns:a16="http://schemas.microsoft.com/office/drawing/2014/main" id="{C00A40B1-170C-E020-9894-969BAB06FF30}"/>
              </a:ext>
            </a:extLst>
          </p:cNvPr>
          <p:cNvSpPr>
            <a:spLocks noChangeArrowheads="1"/>
          </p:cNvSpPr>
          <p:nvPr/>
        </p:nvSpPr>
        <p:spPr bwMode="auto">
          <a:xfrm>
            <a:off x="1512294" y="9637423"/>
            <a:ext cx="59664" cy="3978"/>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81" name="Freeform 10">
            <a:extLst>
              <a:ext uri="{FF2B5EF4-FFF2-40B4-BE49-F238E27FC236}">
                <a16:creationId xmlns:a16="http://schemas.microsoft.com/office/drawing/2014/main" id="{3C38CCB9-C940-B3D2-3705-452B9F56A4A3}"/>
              </a:ext>
            </a:extLst>
          </p:cNvPr>
          <p:cNvSpPr>
            <a:spLocks noChangeArrowheads="1"/>
          </p:cNvSpPr>
          <p:nvPr/>
        </p:nvSpPr>
        <p:spPr bwMode="auto">
          <a:xfrm>
            <a:off x="852025" y="9526050"/>
            <a:ext cx="815394" cy="230696"/>
          </a:xfrm>
          <a:custGeom>
            <a:avLst/>
            <a:gdLst>
              <a:gd name="T0" fmla="*/ 0 w 903"/>
              <a:gd name="T1" fmla="*/ 196 h 254"/>
              <a:gd name="T2" fmla="*/ 56 w 903"/>
              <a:gd name="T3" fmla="*/ 253 h 254"/>
              <a:gd name="T4" fmla="*/ 845 w 903"/>
              <a:gd name="T5" fmla="*/ 253 h 254"/>
              <a:gd name="T6" fmla="*/ 902 w 903"/>
              <a:gd name="T7" fmla="*/ 196 h 254"/>
              <a:gd name="T8" fmla="*/ 902 w 903"/>
              <a:gd name="T9" fmla="*/ 56 h 254"/>
              <a:gd name="T10" fmla="*/ 845 w 903"/>
              <a:gd name="T11" fmla="*/ 0 h 254"/>
              <a:gd name="T12" fmla="*/ 56 w 903"/>
              <a:gd name="T13" fmla="*/ 0 h 254"/>
              <a:gd name="T14" fmla="*/ 0 w 903"/>
              <a:gd name="T15" fmla="*/ 56 h 254"/>
              <a:gd name="T16" fmla="*/ 0 w 903"/>
              <a:gd name="T17" fmla="*/ 19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3" h="254">
                <a:moveTo>
                  <a:pt x="0" y="196"/>
                </a:moveTo>
                <a:cubicBezTo>
                  <a:pt x="0" y="227"/>
                  <a:pt x="25" y="253"/>
                  <a:pt x="56" y="253"/>
                </a:cubicBezTo>
                <a:cubicBezTo>
                  <a:pt x="319" y="253"/>
                  <a:pt x="582" y="253"/>
                  <a:pt x="845" y="253"/>
                </a:cubicBezTo>
                <a:cubicBezTo>
                  <a:pt x="876" y="253"/>
                  <a:pt x="902" y="227"/>
                  <a:pt x="902" y="196"/>
                </a:cubicBezTo>
                <a:cubicBezTo>
                  <a:pt x="902" y="149"/>
                  <a:pt x="902" y="103"/>
                  <a:pt x="902" y="56"/>
                </a:cubicBezTo>
                <a:cubicBezTo>
                  <a:pt x="902" y="25"/>
                  <a:pt x="876" y="0"/>
                  <a:pt x="845" y="0"/>
                </a:cubicBezTo>
                <a:cubicBezTo>
                  <a:pt x="582" y="0"/>
                  <a:pt x="319" y="0"/>
                  <a:pt x="56" y="0"/>
                </a:cubicBezTo>
                <a:cubicBezTo>
                  <a:pt x="25" y="0"/>
                  <a:pt x="0" y="25"/>
                  <a:pt x="0" y="56"/>
                </a:cubicBezTo>
                <a:cubicBezTo>
                  <a:pt x="0" y="103"/>
                  <a:pt x="0" y="149"/>
                  <a:pt x="0" y="196"/>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82" name="Freeform 11">
            <a:extLst>
              <a:ext uri="{FF2B5EF4-FFF2-40B4-BE49-F238E27FC236}">
                <a16:creationId xmlns:a16="http://schemas.microsoft.com/office/drawing/2014/main" id="{35BDBC8B-CC9A-ACFF-26B7-C663627DE87C}"/>
              </a:ext>
            </a:extLst>
          </p:cNvPr>
          <p:cNvSpPr>
            <a:spLocks noChangeArrowheads="1"/>
          </p:cNvSpPr>
          <p:nvPr/>
        </p:nvSpPr>
        <p:spPr bwMode="auto">
          <a:xfrm>
            <a:off x="1229891" y="9943692"/>
            <a:ext cx="182966" cy="3976"/>
          </a:xfrm>
          <a:custGeom>
            <a:avLst/>
            <a:gdLst>
              <a:gd name="T0" fmla="*/ 204 w 205"/>
              <a:gd name="T1" fmla="*/ 0 h 1"/>
              <a:gd name="T2" fmla="*/ 0 w 205"/>
              <a:gd name="T3" fmla="*/ 0 h 1"/>
            </a:gdLst>
            <a:ahLst/>
            <a:cxnLst>
              <a:cxn ang="0">
                <a:pos x="T0" y="T1"/>
              </a:cxn>
              <a:cxn ang="0">
                <a:pos x="T2" y="T3"/>
              </a:cxn>
            </a:cxnLst>
            <a:rect l="0" t="0" r="r" b="b"/>
            <a:pathLst>
              <a:path w="205" h="1">
                <a:moveTo>
                  <a:pt x="204" y="0"/>
                </a:moveTo>
                <a:cubicBezTo>
                  <a:pt x="136" y="0"/>
                  <a:pt x="68"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83" name="Freeform 12">
            <a:extLst>
              <a:ext uri="{FF2B5EF4-FFF2-40B4-BE49-F238E27FC236}">
                <a16:creationId xmlns:a16="http://schemas.microsoft.com/office/drawing/2014/main" id="{3D72CABB-0910-40A2-509A-6350A6ADA7ED}"/>
              </a:ext>
            </a:extLst>
          </p:cNvPr>
          <p:cNvSpPr>
            <a:spLocks noChangeArrowheads="1"/>
          </p:cNvSpPr>
          <p:nvPr/>
        </p:nvSpPr>
        <p:spPr bwMode="auto">
          <a:xfrm>
            <a:off x="1512294" y="9943692"/>
            <a:ext cx="59664" cy="3976"/>
          </a:xfrm>
          <a:custGeom>
            <a:avLst/>
            <a:gdLst>
              <a:gd name="T0" fmla="*/ 63 w 64"/>
              <a:gd name="T1" fmla="*/ 0 h 1"/>
              <a:gd name="T2" fmla="*/ 0 w 64"/>
              <a:gd name="T3" fmla="*/ 0 h 1"/>
            </a:gdLst>
            <a:ahLst/>
            <a:cxnLst>
              <a:cxn ang="0">
                <a:pos x="T0" y="T1"/>
              </a:cxn>
              <a:cxn ang="0">
                <a:pos x="T2" y="T3"/>
              </a:cxn>
            </a:cxnLst>
            <a:rect l="0" t="0" r="r" b="b"/>
            <a:pathLst>
              <a:path w="64" h="1">
                <a:moveTo>
                  <a:pt x="63" y="0"/>
                </a:moveTo>
                <a:cubicBezTo>
                  <a:pt x="42" y="0"/>
                  <a:pt x="21"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84" name="Freeform 13">
            <a:extLst>
              <a:ext uri="{FF2B5EF4-FFF2-40B4-BE49-F238E27FC236}">
                <a16:creationId xmlns:a16="http://schemas.microsoft.com/office/drawing/2014/main" id="{30329878-7961-3E57-CE84-E83E65B168B1}"/>
              </a:ext>
            </a:extLst>
          </p:cNvPr>
          <p:cNvSpPr>
            <a:spLocks noChangeArrowheads="1"/>
          </p:cNvSpPr>
          <p:nvPr/>
        </p:nvSpPr>
        <p:spPr bwMode="auto">
          <a:xfrm>
            <a:off x="852025" y="9828342"/>
            <a:ext cx="815394" cy="230696"/>
          </a:xfrm>
          <a:custGeom>
            <a:avLst/>
            <a:gdLst>
              <a:gd name="T0" fmla="*/ 0 w 903"/>
              <a:gd name="T1" fmla="*/ 198 h 255"/>
              <a:gd name="T2" fmla="*/ 56 w 903"/>
              <a:gd name="T3" fmla="*/ 254 h 255"/>
              <a:gd name="T4" fmla="*/ 845 w 903"/>
              <a:gd name="T5" fmla="*/ 254 h 255"/>
              <a:gd name="T6" fmla="*/ 902 w 903"/>
              <a:gd name="T7" fmla="*/ 198 h 255"/>
              <a:gd name="T8" fmla="*/ 902 w 903"/>
              <a:gd name="T9" fmla="*/ 57 h 255"/>
              <a:gd name="T10" fmla="*/ 845 w 903"/>
              <a:gd name="T11" fmla="*/ 0 h 255"/>
              <a:gd name="T12" fmla="*/ 56 w 903"/>
              <a:gd name="T13" fmla="*/ 0 h 255"/>
              <a:gd name="T14" fmla="*/ 0 w 903"/>
              <a:gd name="T15" fmla="*/ 57 h 255"/>
              <a:gd name="T16" fmla="*/ 0 w 903"/>
              <a:gd name="T17" fmla="*/ 19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3" h="255">
                <a:moveTo>
                  <a:pt x="0" y="198"/>
                </a:moveTo>
                <a:cubicBezTo>
                  <a:pt x="0" y="229"/>
                  <a:pt x="25" y="254"/>
                  <a:pt x="56" y="254"/>
                </a:cubicBezTo>
                <a:cubicBezTo>
                  <a:pt x="319" y="254"/>
                  <a:pt x="582" y="254"/>
                  <a:pt x="845" y="254"/>
                </a:cubicBezTo>
                <a:cubicBezTo>
                  <a:pt x="876" y="254"/>
                  <a:pt x="902" y="229"/>
                  <a:pt x="902" y="198"/>
                </a:cubicBezTo>
                <a:cubicBezTo>
                  <a:pt x="902" y="151"/>
                  <a:pt x="902" y="104"/>
                  <a:pt x="902" y="57"/>
                </a:cubicBezTo>
                <a:cubicBezTo>
                  <a:pt x="902" y="26"/>
                  <a:pt x="876" y="0"/>
                  <a:pt x="845" y="0"/>
                </a:cubicBezTo>
                <a:cubicBezTo>
                  <a:pt x="582" y="0"/>
                  <a:pt x="319" y="0"/>
                  <a:pt x="56" y="0"/>
                </a:cubicBezTo>
                <a:cubicBezTo>
                  <a:pt x="25" y="0"/>
                  <a:pt x="0" y="26"/>
                  <a:pt x="0" y="57"/>
                </a:cubicBezTo>
                <a:cubicBezTo>
                  <a:pt x="0" y="104"/>
                  <a:pt x="0" y="151"/>
                  <a:pt x="0" y="19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cxnSp>
        <p:nvCxnSpPr>
          <p:cNvPr id="85" name="Straight Connector 84">
            <a:extLst>
              <a:ext uri="{FF2B5EF4-FFF2-40B4-BE49-F238E27FC236}">
                <a16:creationId xmlns:a16="http://schemas.microsoft.com/office/drawing/2014/main" id="{ECD620ED-A494-8FE2-AE6A-92376A23BE5C}"/>
              </a:ext>
            </a:extLst>
          </p:cNvPr>
          <p:cNvCxnSpPr>
            <a:cxnSpLocks/>
          </p:cNvCxnSpPr>
          <p:nvPr/>
        </p:nvCxnSpPr>
        <p:spPr>
          <a:xfrm>
            <a:off x="2034748" y="9389160"/>
            <a:ext cx="421856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6EC096C8-CC90-629A-4581-8C0E3E6A8B0F}"/>
              </a:ext>
            </a:extLst>
          </p:cNvPr>
          <p:cNvSpPr txBox="1"/>
          <p:nvPr/>
        </p:nvSpPr>
        <p:spPr>
          <a:xfrm>
            <a:off x="1106454" y="8834519"/>
            <a:ext cx="6175120" cy="523220"/>
          </a:xfrm>
          <a:prstGeom prst="rect">
            <a:avLst/>
          </a:prstGeom>
          <a:noFill/>
        </p:spPr>
        <p:txBody>
          <a:bodyPr wrap="square" rtlCol="0">
            <a:spAutoFit/>
          </a:bodyPr>
          <a:lstStyle/>
          <a:p>
            <a:pPr algn="ctr">
              <a:defRPr/>
            </a:pPr>
            <a:r>
              <a:rPr lang="en-GB" sz="2800">
                <a:latin typeface="+mj-lt"/>
              </a:rPr>
              <a:t>Migration Considerations</a:t>
            </a:r>
          </a:p>
        </p:txBody>
      </p:sp>
      <p:sp>
        <p:nvSpPr>
          <p:cNvPr id="87" name="Rectangle 86">
            <a:extLst>
              <a:ext uri="{FF2B5EF4-FFF2-40B4-BE49-F238E27FC236}">
                <a16:creationId xmlns:a16="http://schemas.microsoft.com/office/drawing/2014/main" id="{34EE0FA3-E968-8B01-878E-0593A7D5CB34}"/>
              </a:ext>
            </a:extLst>
          </p:cNvPr>
          <p:cNvSpPr/>
          <p:nvPr/>
        </p:nvSpPr>
        <p:spPr>
          <a:xfrm>
            <a:off x="1943134" y="9246902"/>
            <a:ext cx="17013464" cy="3950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216000" tIns="216000" rtlCol="0" anchor="t"/>
          <a:lstStyle/>
          <a:p>
            <a:pPr marL="342900" indent="-342900">
              <a:spcAft>
                <a:spcPts val="1200"/>
              </a:spcAft>
              <a:buFont typeface="Arial" panose="020B0604020202020204" pitchFamily="34" charset="0"/>
              <a:buChar char="•"/>
              <a:defRPr/>
            </a:pPr>
            <a:r>
              <a:rPr lang="en-GB" sz="2200">
                <a:solidFill>
                  <a:schemeClr val="tx1"/>
                </a:solidFill>
                <a:latin typeface="+mj-lt"/>
              </a:rPr>
              <a:t>Currently have a Blue / Green Deployment, recommendation is to prepare a parallel env in Cloud, and failover to new deployment (a parallel run of the application to minimise downtime)  </a:t>
            </a:r>
          </a:p>
          <a:p>
            <a:pPr marL="342900" indent="-342900">
              <a:spcAft>
                <a:spcPts val="1200"/>
              </a:spcAft>
              <a:buFont typeface="Arial" panose="020B0604020202020204" pitchFamily="34" charset="0"/>
              <a:buChar char="•"/>
              <a:defRPr/>
            </a:pPr>
            <a:r>
              <a:rPr lang="en-GB" sz="2200">
                <a:solidFill>
                  <a:schemeClr val="tx1"/>
                </a:solidFill>
                <a:latin typeface="+mj-lt"/>
              </a:rPr>
              <a:t>Interfaces with many other applications receiving and sending large volumes of data.</a:t>
            </a:r>
          </a:p>
          <a:p>
            <a:pPr marL="342900" indent="-342900">
              <a:spcAft>
                <a:spcPts val="1200"/>
              </a:spcAft>
              <a:buFont typeface="Arial" panose="020B0604020202020204" pitchFamily="34" charset="0"/>
              <a:buChar char="•"/>
              <a:defRPr/>
            </a:pPr>
            <a:r>
              <a:rPr lang="en-GB" sz="2200">
                <a:solidFill>
                  <a:schemeClr val="tx1"/>
                </a:solidFill>
                <a:latin typeface="+mj-lt"/>
              </a:rPr>
              <a:t>Accessed directly by users across different regions and time–zones</a:t>
            </a:r>
          </a:p>
          <a:p>
            <a:pPr marL="342900" indent="-342900">
              <a:spcAft>
                <a:spcPts val="1200"/>
              </a:spcAft>
              <a:buFont typeface="Arial" panose="020B0604020202020204" pitchFamily="34" charset="0"/>
              <a:buChar char="•"/>
              <a:defRPr/>
            </a:pPr>
            <a:r>
              <a:rPr lang="en-GB" sz="2200">
                <a:solidFill>
                  <a:schemeClr val="tx1"/>
                </a:solidFill>
                <a:latin typeface="+mj-lt"/>
              </a:rPr>
              <a:t>Includes interfaces with external APIs and 3</a:t>
            </a:r>
            <a:r>
              <a:rPr lang="en-GB" sz="2200" baseline="30000">
                <a:solidFill>
                  <a:schemeClr val="tx1"/>
                </a:solidFill>
                <a:latin typeface="+mj-lt"/>
              </a:rPr>
              <a:t>rd</a:t>
            </a:r>
            <a:r>
              <a:rPr lang="en-GB" sz="2200">
                <a:solidFill>
                  <a:schemeClr val="tx1"/>
                </a:solidFill>
                <a:latin typeface="+mj-lt"/>
              </a:rPr>
              <a:t> party suppliers</a:t>
            </a:r>
          </a:p>
          <a:p>
            <a:pPr marL="342900" indent="-342900">
              <a:spcAft>
                <a:spcPts val="1200"/>
              </a:spcAft>
              <a:buFont typeface="Arial" panose="020B0604020202020204" pitchFamily="34" charset="0"/>
              <a:buChar char="•"/>
              <a:defRPr/>
            </a:pPr>
            <a:r>
              <a:rPr lang="en-GB" sz="2200">
                <a:solidFill>
                  <a:schemeClr val="tx1"/>
                </a:solidFill>
                <a:latin typeface="+mj-lt"/>
              </a:rPr>
              <a:t>Downtime must be minimal, outages from previous supplier has left Achilles customers frustrated. </a:t>
            </a:r>
          </a:p>
          <a:p>
            <a:pPr marL="342900" indent="-342900">
              <a:spcAft>
                <a:spcPts val="1200"/>
              </a:spcAft>
              <a:buFont typeface="Arial" panose="020B0604020202020204" pitchFamily="34" charset="0"/>
              <a:buChar char="•"/>
              <a:defRPr/>
            </a:pPr>
            <a:r>
              <a:rPr lang="en-GB" sz="2200">
                <a:solidFill>
                  <a:schemeClr val="tx1"/>
                </a:solidFill>
                <a:latin typeface="+mj-lt"/>
              </a:rPr>
              <a:t>Assumption – NEO4J will be upgraded in source before migration.</a:t>
            </a:r>
          </a:p>
        </p:txBody>
      </p:sp>
      <p:sp>
        <p:nvSpPr>
          <p:cNvPr id="91" name="TextBox 90">
            <a:extLst>
              <a:ext uri="{FF2B5EF4-FFF2-40B4-BE49-F238E27FC236}">
                <a16:creationId xmlns:a16="http://schemas.microsoft.com/office/drawing/2014/main" id="{FCF2C2E0-D1F9-62F6-9E03-C51ADCA385BF}"/>
              </a:ext>
            </a:extLst>
          </p:cNvPr>
          <p:cNvSpPr txBox="1"/>
          <p:nvPr/>
        </p:nvSpPr>
        <p:spPr>
          <a:xfrm>
            <a:off x="18877094" y="2592377"/>
            <a:ext cx="4798140" cy="523220"/>
          </a:xfrm>
          <a:prstGeom prst="rect">
            <a:avLst/>
          </a:prstGeom>
          <a:noFill/>
        </p:spPr>
        <p:txBody>
          <a:bodyPr wrap="square" rtlCol="0">
            <a:spAutoFit/>
          </a:bodyPr>
          <a:lstStyle/>
          <a:p>
            <a:pPr>
              <a:defRPr/>
            </a:pPr>
            <a:r>
              <a:rPr lang="en-GB" sz="2800">
                <a:latin typeface="+mj-lt"/>
              </a:rPr>
              <a:t>Application Stats</a:t>
            </a:r>
          </a:p>
        </p:txBody>
      </p:sp>
      <p:cxnSp>
        <p:nvCxnSpPr>
          <p:cNvPr id="92" name="Straight Connector 91">
            <a:extLst>
              <a:ext uri="{FF2B5EF4-FFF2-40B4-BE49-F238E27FC236}">
                <a16:creationId xmlns:a16="http://schemas.microsoft.com/office/drawing/2014/main" id="{A4E0B836-DFE5-50C7-F35E-D31245E905D3}"/>
              </a:ext>
            </a:extLst>
          </p:cNvPr>
          <p:cNvCxnSpPr>
            <a:cxnSpLocks/>
          </p:cNvCxnSpPr>
          <p:nvPr/>
        </p:nvCxnSpPr>
        <p:spPr>
          <a:xfrm>
            <a:off x="18861604" y="3177902"/>
            <a:ext cx="294634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D9BAC2E1-2B92-F53B-8476-13A8AD4DBF68}"/>
              </a:ext>
            </a:extLst>
          </p:cNvPr>
          <p:cNvGrpSpPr/>
          <p:nvPr/>
        </p:nvGrpSpPr>
        <p:grpSpPr>
          <a:xfrm>
            <a:off x="19256184" y="3643088"/>
            <a:ext cx="1101180" cy="1101180"/>
            <a:chOff x="745676" y="2156578"/>
            <a:chExt cx="788067" cy="788067"/>
          </a:xfrm>
        </p:grpSpPr>
        <p:sp>
          <p:nvSpPr>
            <p:cNvPr id="98" name="Freeform 342">
              <a:extLst>
                <a:ext uri="{FF2B5EF4-FFF2-40B4-BE49-F238E27FC236}">
                  <a16:creationId xmlns:a16="http://schemas.microsoft.com/office/drawing/2014/main" id="{4B75F5D8-E727-78CE-FDF9-55F2B5864B96}"/>
                </a:ext>
              </a:extLst>
            </p:cNvPr>
            <p:cNvSpPr>
              <a:spLocks noChangeArrowheads="1"/>
            </p:cNvSpPr>
            <p:nvPr/>
          </p:nvSpPr>
          <p:spPr bwMode="auto">
            <a:xfrm>
              <a:off x="745676" y="2156578"/>
              <a:ext cx="788067" cy="788067"/>
            </a:xfrm>
            <a:custGeom>
              <a:avLst/>
              <a:gdLst>
                <a:gd name="T0" fmla="*/ 1468 w 1751"/>
                <a:gd name="T1" fmla="*/ 1750 h 1751"/>
                <a:gd name="T2" fmla="*/ 1750 w 1751"/>
                <a:gd name="T3" fmla="*/ 1468 h 1751"/>
                <a:gd name="T4" fmla="*/ 1750 w 1751"/>
                <a:gd name="T5" fmla="*/ 282 h 1751"/>
                <a:gd name="T6" fmla="*/ 1468 w 1751"/>
                <a:gd name="T7" fmla="*/ 0 h 1751"/>
                <a:gd name="T8" fmla="*/ 282 w 1751"/>
                <a:gd name="T9" fmla="*/ 0 h 1751"/>
                <a:gd name="T10" fmla="*/ 0 w 1751"/>
                <a:gd name="T11" fmla="*/ 282 h 1751"/>
                <a:gd name="T12" fmla="*/ 0 w 1751"/>
                <a:gd name="T13" fmla="*/ 1468 h 1751"/>
                <a:gd name="T14" fmla="*/ 282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8"/>
                  </a:cubicBezTo>
                  <a:cubicBezTo>
                    <a:pt x="1750" y="1072"/>
                    <a:pt x="1750" y="677"/>
                    <a:pt x="1750" y="282"/>
                  </a:cubicBezTo>
                  <a:cubicBezTo>
                    <a:pt x="1750" y="127"/>
                    <a:pt x="1623" y="0"/>
                    <a:pt x="1468" y="0"/>
                  </a:cubicBezTo>
                  <a:cubicBezTo>
                    <a:pt x="1073" y="0"/>
                    <a:pt x="677" y="0"/>
                    <a:pt x="282" y="0"/>
                  </a:cubicBezTo>
                  <a:cubicBezTo>
                    <a:pt x="127" y="0"/>
                    <a:pt x="0" y="127"/>
                    <a:pt x="0" y="282"/>
                  </a:cubicBezTo>
                  <a:cubicBezTo>
                    <a:pt x="0" y="677"/>
                    <a:pt x="0" y="1072"/>
                    <a:pt x="0" y="1468"/>
                  </a:cubicBezTo>
                  <a:cubicBezTo>
                    <a:pt x="0" y="1623"/>
                    <a:pt x="127" y="1750"/>
                    <a:pt x="282" y="1750"/>
                  </a:cubicBezTo>
                  <a:cubicBezTo>
                    <a:pt x="677" y="1750"/>
                    <a:pt x="1073" y="1750"/>
                    <a:pt x="1468"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99" name="Group 98">
              <a:extLst>
                <a:ext uri="{FF2B5EF4-FFF2-40B4-BE49-F238E27FC236}">
                  <a16:creationId xmlns:a16="http://schemas.microsoft.com/office/drawing/2014/main" id="{9A7B4B9E-C471-3135-1A3E-382DAFC64C5E}"/>
                </a:ext>
              </a:extLst>
            </p:cNvPr>
            <p:cNvGrpSpPr/>
            <p:nvPr/>
          </p:nvGrpSpPr>
          <p:grpSpPr>
            <a:xfrm>
              <a:off x="918375" y="2281636"/>
              <a:ext cx="444653" cy="539936"/>
              <a:chOff x="918375" y="2281636"/>
              <a:chExt cx="444653" cy="539936"/>
            </a:xfrm>
          </p:grpSpPr>
          <p:sp>
            <p:nvSpPr>
              <p:cNvPr id="100" name="Freeform 343">
                <a:extLst>
                  <a:ext uri="{FF2B5EF4-FFF2-40B4-BE49-F238E27FC236}">
                    <a16:creationId xmlns:a16="http://schemas.microsoft.com/office/drawing/2014/main" id="{951BFC2C-069B-F2D2-A983-2CFDCB628037}"/>
                  </a:ext>
                </a:extLst>
              </p:cNvPr>
              <p:cNvSpPr>
                <a:spLocks noChangeArrowheads="1"/>
              </p:cNvSpPr>
              <p:nvPr/>
            </p:nvSpPr>
            <p:spPr bwMode="auto">
              <a:xfrm>
                <a:off x="1067255" y="2621082"/>
                <a:ext cx="51611" cy="49626"/>
              </a:xfrm>
              <a:custGeom>
                <a:avLst/>
                <a:gdLst>
                  <a:gd name="T0" fmla="*/ 112 w 113"/>
                  <a:gd name="T1" fmla="*/ 111 h 112"/>
                  <a:gd name="T2" fmla="*/ 0 w 113"/>
                  <a:gd name="T3" fmla="*/ 0 h 112"/>
                </a:gdLst>
                <a:ahLst/>
                <a:cxnLst>
                  <a:cxn ang="0">
                    <a:pos x="T0" y="T1"/>
                  </a:cxn>
                  <a:cxn ang="0">
                    <a:pos x="T2" y="T3"/>
                  </a:cxn>
                </a:cxnLst>
                <a:rect l="0" t="0" r="r" b="b"/>
                <a:pathLst>
                  <a:path w="113" h="112">
                    <a:moveTo>
                      <a:pt x="112" y="111"/>
                    </a:moveTo>
                    <a:cubicBezTo>
                      <a:pt x="75" y="74"/>
                      <a:pt x="37" y="37"/>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1" name="Freeform 344">
                <a:extLst>
                  <a:ext uri="{FF2B5EF4-FFF2-40B4-BE49-F238E27FC236}">
                    <a16:creationId xmlns:a16="http://schemas.microsoft.com/office/drawing/2014/main" id="{D5C6F066-7104-9B27-1EC5-96E5FE9BC90D}"/>
                  </a:ext>
                </a:extLst>
              </p:cNvPr>
              <p:cNvSpPr>
                <a:spLocks noChangeArrowheads="1"/>
              </p:cNvSpPr>
              <p:nvPr/>
            </p:nvSpPr>
            <p:spPr bwMode="auto">
              <a:xfrm>
                <a:off x="1162538" y="2716364"/>
                <a:ext cx="51611" cy="51611"/>
              </a:xfrm>
              <a:custGeom>
                <a:avLst/>
                <a:gdLst>
                  <a:gd name="T0" fmla="*/ 112 w 113"/>
                  <a:gd name="T1" fmla="*/ 112 h 113"/>
                  <a:gd name="T2" fmla="*/ 0 w 113"/>
                  <a:gd name="T3" fmla="*/ 0 h 113"/>
                </a:gdLst>
                <a:ahLst/>
                <a:cxnLst>
                  <a:cxn ang="0">
                    <a:pos x="T0" y="T1"/>
                  </a:cxn>
                  <a:cxn ang="0">
                    <a:pos x="T2" y="T3"/>
                  </a:cxn>
                </a:cxnLst>
                <a:rect l="0" t="0" r="r" b="b"/>
                <a:pathLst>
                  <a:path w="113" h="113">
                    <a:moveTo>
                      <a:pt x="112" y="112"/>
                    </a:moveTo>
                    <a:cubicBezTo>
                      <a:pt x="75" y="74"/>
                      <a:pt x="37" y="37"/>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2" name="Freeform 345">
                <a:extLst>
                  <a:ext uri="{FF2B5EF4-FFF2-40B4-BE49-F238E27FC236}">
                    <a16:creationId xmlns:a16="http://schemas.microsoft.com/office/drawing/2014/main" id="{B7E19333-B381-AC75-B0EA-F0A707467A4A}"/>
                  </a:ext>
                </a:extLst>
              </p:cNvPr>
              <p:cNvSpPr>
                <a:spLocks noChangeArrowheads="1"/>
              </p:cNvSpPr>
              <p:nvPr/>
            </p:nvSpPr>
            <p:spPr bwMode="auto">
              <a:xfrm>
                <a:off x="1162538" y="2621082"/>
                <a:ext cx="51611" cy="49626"/>
              </a:xfrm>
              <a:custGeom>
                <a:avLst/>
                <a:gdLst>
                  <a:gd name="T0" fmla="*/ 0 w 113"/>
                  <a:gd name="T1" fmla="*/ 111 h 112"/>
                  <a:gd name="T2" fmla="*/ 112 w 113"/>
                  <a:gd name="T3" fmla="*/ 0 h 112"/>
                </a:gdLst>
                <a:ahLst/>
                <a:cxnLst>
                  <a:cxn ang="0">
                    <a:pos x="T0" y="T1"/>
                  </a:cxn>
                  <a:cxn ang="0">
                    <a:pos x="T2" y="T3"/>
                  </a:cxn>
                </a:cxnLst>
                <a:rect l="0" t="0" r="r" b="b"/>
                <a:pathLst>
                  <a:path w="113" h="112">
                    <a:moveTo>
                      <a:pt x="0" y="111"/>
                    </a:moveTo>
                    <a:cubicBezTo>
                      <a:pt x="37" y="74"/>
                      <a:pt x="75" y="37"/>
                      <a:pt x="11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3" name="Freeform 346">
                <a:extLst>
                  <a:ext uri="{FF2B5EF4-FFF2-40B4-BE49-F238E27FC236}">
                    <a16:creationId xmlns:a16="http://schemas.microsoft.com/office/drawing/2014/main" id="{B864B349-93B5-A477-2CC8-96A09649E659}"/>
                  </a:ext>
                </a:extLst>
              </p:cNvPr>
              <p:cNvSpPr>
                <a:spLocks noChangeArrowheads="1"/>
              </p:cNvSpPr>
              <p:nvPr/>
            </p:nvSpPr>
            <p:spPr bwMode="auto">
              <a:xfrm>
                <a:off x="1067255" y="2716364"/>
                <a:ext cx="51611" cy="51611"/>
              </a:xfrm>
              <a:custGeom>
                <a:avLst/>
                <a:gdLst>
                  <a:gd name="T0" fmla="*/ 0 w 113"/>
                  <a:gd name="T1" fmla="*/ 112 h 113"/>
                  <a:gd name="T2" fmla="*/ 112 w 113"/>
                  <a:gd name="T3" fmla="*/ 0 h 113"/>
                </a:gdLst>
                <a:ahLst/>
                <a:cxnLst>
                  <a:cxn ang="0">
                    <a:pos x="T0" y="T1"/>
                  </a:cxn>
                  <a:cxn ang="0">
                    <a:pos x="T2" y="T3"/>
                  </a:cxn>
                </a:cxnLst>
                <a:rect l="0" t="0" r="r" b="b"/>
                <a:pathLst>
                  <a:path w="113" h="113">
                    <a:moveTo>
                      <a:pt x="0" y="112"/>
                    </a:moveTo>
                    <a:cubicBezTo>
                      <a:pt x="37" y="74"/>
                      <a:pt x="75" y="37"/>
                      <a:pt x="11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4" name="Freeform 347">
                <a:extLst>
                  <a:ext uri="{FF2B5EF4-FFF2-40B4-BE49-F238E27FC236}">
                    <a16:creationId xmlns:a16="http://schemas.microsoft.com/office/drawing/2014/main" id="{ACB39FBC-0827-C801-0339-91EB09EB5C99}"/>
                  </a:ext>
                </a:extLst>
              </p:cNvPr>
              <p:cNvSpPr>
                <a:spLocks noChangeArrowheads="1"/>
              </p:cNvSpPr>
              <p:nvPr/>
            </p:nvSpPr>
            <p:spPr bwMode="auto">
              <a:xfrm>
                <a:off x="1067255" y="2430516"/>
                <a:ext cx="51611" cy="51611"/>
              </a:xfrm>
              <a:custGeom>
                <a:avLst/>
                <a:gdLst>
                  <a:gd name="T0" fmla="*/ 112 w 113"/>
                  <a:gd name="T1" fmla="*/ 112 h 113"/>
                  <a:gd name="T2" fmla="*/ 0 w 113"/>
                  <a:gd name="T3" fmla="*/ 0 h 113"/>
                </a:gdLst>
                <a:ahLst/>
                <a:cxnLst>
                  <a:cxn ang="0">
                    <a:pos x="T0" y="T1"/>
                  </a:cxn>
                  <a:cxn ang="0">
                    <a:pos x="T2" y="T3"/>
                  </a:cxn>
                </a:cxnLst>
                <a:rect l="0" t="0" r="r" b="b"/>
                <a:pathLst>
                  <a:path w="113" h="113">
                    <a:moveTo>
                      <a:pt x="112" y="112"/>
                    </a:moveTo>
                    <a:cubicBezTo>
                      <a:pt x="75" y="74"/>
                      <a:pt x="37" y="37"/>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5" name="Freeform 348">
                <a:extLst>
                  <a:ext uri="{FF2B5EF4-FFF2-40B4-BE49-F238E27FC236}">
                    <a16:creationId xmlns:a16="http://schemas.microsoft.com/office/drawing/2014/main" id="{07815711-2A04-32C6-A0AE-3DBBD4A8E953}"/>
                  </a:ext>
                </a:extLst>
              </p:cNvPr>
              <p:cNvSpPr>
                <a:spLocks noChangeArrowheads="1"/>
              </p:cNvSpPr>
              <p:nvPr/>
            </p:nvSpPr>
            <p:spPr bwMode="auto">
              <a:xfrm>
                <a:off x="1162538" y="2525799"/>
                <a:ext cx="51611" cy="51611"/>
              </a:xfrm>
              <a:custGeom>
                <a:avLst/>
                <a:gdLst>
                  <a:gd name="T0" fmla="*/ 112 w 113"/>
                  <a:gd name="T1" fmla="*/ 112 h 113"/>
                  <a:gd name="T2" fmla="*/ 0 w 113"/>
                  <a:gd name="T3" fmla="*/ 0 h 113"/>
                </a:gdLst>
                <a:ahLst/>
                <a:cxnLst>
                  <a:cxn ang="0">
                    <a:pos x="T0" y="T1"/>
                  </a:cxn>
                  <a:cxn ang="0">
                    <a:pos x="T2" y="T3"/>
                  </a:cxn>
                </a:cxnLst>
                <a:rect l="0" t="0" r="r" b="b"/>
                <a:pathLst>
                  <a:path w="113" h="113">
                    <a:moveTo>
                      <a:pt x="112" y="112"/>
                    </a:moveTo>
                    <a:cubicBezTo>
                      <a:pt x="75" y="74"/>
                      <a:pt x="37" y="37"/>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6" name="Freeform 349">
                <a:extLst>
                  <a:ext uri="{FF2B5EF4-FFF2-40B4-BE49-F238E27FC236}">
                    <a16:creationId xmlns:a16="http://schemas.microsoft.com/office/drawing/2014/main" id="{E2A09845-ACC7-670B-0188-FA3AD46AD817}"/>
                  </a:ext>
                </a:extLst>
              </p:cNvPr>
              <p:cNvSpPr>
                <a:spLocks noChangeArrowheads="1"/>
              </p:cNvSpPr>
              <p:nvPr/>
            </p:nvSpPr>
            <p:spPr bwMode="auto">
              <a:xfrm>
                <a:off x="1162538" y="2430516"/>
                <a:ext cx="51611" cy="51611"/>
              </a:xfrm>
              <a:custGeom>
                <a:avLst/>
                <a:gdLst>
                  <a:gd name="T0" fmla="*/ 0 w 113"/>
                  <a:gd name="T1" fmla="*/ 112 h 113"/>
                  <a:gd name="T2" fmla="*/ 112 w 113"/>
                  <a:gd name="T3" fmla="*/ 0 h 113"/>
                </a:gdLst>
                <a:ahLst/>
                <a:cxnLst>
                  <a:cxn ang="0">
                    <a:pos x="T0" y="T1"/>
                  </a:cxn>
                  <a:cxn ang="0">
                    <a:pos x="T2" y="T3"/>
                  </a:cxn>
                </a:cxnLst>
                <a:rect l="0" t="0" r="r" b="b"/>
                <a:pathLst>
                  <a:path w="113" h="113">
                    <a:moveTo>
                      <a:pt x="0" y="112"/>
                    </a:moveTo>
                    <a:cubicBezTo>
                      <a:pt x="37" y="74"/>
                      <a:pt x="75" y="37"/>
                      <a:pt x="11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7" name="Freeform 350">
                <a:extLst>
                  <a:ext uri="{FF2B5EF4-FFF2-40B4-BE49-F238E27FC236}">
                    <a16:creationId xmlns:a16="http://schemas.microsoft.com/office/drawing/2014/main" id="{1F9081CE-BD89-4E09-8A6F-10E7EFFA2DDB}"/>
                  </a:ext>
                </a:extLst>
              </p:cNvPr>
              <p:cNvSpPr>
                <a:spLocks noChangeArrowheads="1"/>
              </p:cNvSpPr>
              <p:nvPr/>
            </p:nvSpPr>
            <p:spPr bwMode="auto">
              <a:xfrm>
                <a:off x="1067255" y="2525799"/>
                <a:ext cx="51611" cy="51611"/>
              </a:xfrm>
              <a:custGeom>
                <a:avLst/>
                <a:gdLst>
                  <a:gd name="T0" fmla="*/ 0 w 113"/>
                  <a:gd name="T1" fmla="*/ 112 h 113"/>
                  <a:gd name="T2" fmla="*/ 112 w 113"/>
                  <a:gd name="T3" fmla="*/ 0 h 113"/>
                </a:gdLst>
                <a:ahLst/>
                <a:cxnLst>
                  <a:cxn ang="0">
                    <a:pos x="T0" y="T1"/>
                  </a:cxn>
                  <a:cxn ang="0">
                    <a:pos x="T2" y="T3"/>
                  </a:cxn>
                </a:cxnLst>
                <a:rect l="0" t="0" r="r" b="b"/>
                <a:pathLst>
                  <a:path w="113" h="113">
                    <a:moveTo>
                      <a:pt x="0" y="112"/>
                    </a:moveTo>
                    <a:cubicBezTo>
                      <a:pt x="37" y="74"/>
                      <a:pt x="75" y="37"/>
                      <a:pt x="11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08" name="Freeform 351">
                <a:extLst>
                  <a:ext uri="{FF2B5EF4-FFF2-40B4-BE49-F238E27FC236}">
                    <a16:creationId xmlns:a16="http://schemas.microsoft.com/office/drawing/2014/main" id="{E55DBD72-B917-1116-ECB5-51FA19BAF4BB}"/>
                  </a:ext>
                </a:extLst>
              </p:cNvPr>
              <p:cNvSpPr>
                <a:spLocks noChangeArrowheads="1"/>
              </p:cNvSpPr>
              <p:nvPr/>
            </p:nvSpPr>
            <p:spPr bwMode="auto">
              <a:xfrm>
                <a:off x="1108941" y="2281636"/>
                <a:ext cx="63522" cy="63522"/>
              </a:xfrm>
              <a:custGeom>
                <a:avLst/>
                <a:gdLst>
                  <a:gd name="T0" fmla="*/ 142 w 143"/>
                  <a:gd name="T1" fmla="*/ 71 h 142"/>
                  <a:gd name="T2" fmla="*/ 132 w 143"/>
                  <a:gd name="T3" fmla="*/ 106 h 142"/>
                  <a:gd name="T4" fmla="*/ 106 w 143"/>
                  <a:gd name="T5" fmla="*/ 132 h 142"/>
                  <a:gd name="T6" fmla="*/ 71 w 143"/>
                  <a:gd name="T7" fmla="*/ 141 h 142"/>
                  <a:gd name="T8" fmla="*/ 36 w 143"/>
                  <a:gd name="T9" fmla="*/ 132 h 142"/>
                  <a:gd name="T10" fmla="*/ 10 w 143"/>
                  <a:gd name="T11" fmla="*/ 106 h 142"/>
                  <a:gd name="T12" fmla="*/ 0 w 143"/>
                  <a:gd name="T13" fmla="*/ 71 h 142"/>
                  <a:gd name="T14" fmla="*/ 10 w 143"/>
                  <a:gd name="T15" fmla="*/ 35 h 142"/>
                  <a:gd name="T16" fmla="*/ 36 w 143"/>
                  <a:gd name="T17" fmla="*/ 10 h 142"/>
                  <a:gd name="T18" fmla="*/ 71 w 143"/>
                  <a:gd name="T19" fmla="*/ 0 h 142"/>
                  <a:gd name="T20" fmla="*/ 106 w 143"/>
                  <a:gd name="T21" fmla="*/ 10 h 142"/>
                  <a:gd name="T22" fmla="*/ 132 w 143"/>
                  <a:gd name="T23" fmla="*/ 35 h 142"/>
                  <a:gd name="T24" fmla="*/ 142 w 14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 h="142">
                    <a:moveTo>
                      <a:pt x="142" y="71"/>
                    </a:moveTo>
                    <a:cubicBezTo>
                      <a:pt x="142" y="84"/>
                      <a:pt x="138" y="95"/>
                      <a:pt x="132" y="106"/>
                    </a:cubicBezTo>
                    <a:cubicBezTo>
                      <a:pt x="125" y="117"/>
                      <a:pt x="117" y="125"/>
                      <a:pt x="106" y="132"/>
                    </a:cubicBezTo>
                    <a:cubicBezTo>
                      <a:pt x="94" y="138"/>
                      <a:pt x="84" y="141"/>
                      <a:pt x="71" y="141"/>
                    </a:cubicBezTo>
                    <a:cubicBezTo>
                      <a:pt x="58" y="141"/>
                      <a:pt x="47" y="138"/>
                      <a:pt x="36" y="132"/>
                    </a:cubicBezTo>
                    <a:cubicBezTo>
                      <a:pt x="25" y="125"/>
                      <a:pt x="16" y="117"/>
                      <a:pt x="10" y="106"/>
                    </a:cubicBezTo>
                    <a:cubicBezTo>
                      <a:pt x="3" y="95"/>
                      <a:pt x="0" y="84"/>
                      <a:pt x="0" y="71"/>
                    </a:cubicBezTo>
                    <a:cubicBezTo>
                      <a:pt x="0" y="58"/>
                      <a:pt x="3" y="46"/>
                      <a:pt x="10" y="35"/>
                    </a:cubicBezTo>
                    <a:cubicBezTo>
                      <a:pt x="16" y="23"/>
                      <a:pt x="25" y="16"/>
                      <a:pt x="36" y="10"/>
                    </a:cubicBezTo>
                    <a:cubicBezTo>
                      <a:pt x="47" y="3"/>
                      <a:pt x="58" y="0"/>
                      <a:pt x="71" y="0"/>
                    </a:cubicBezTo>
                    <a:cubicBezTo>
                      <a:pt x="84" y="0"/>
                      <a:pt x="94" y="3"/>
                      <a:pt x="106" y="10"/>
                    </a:cubicBezTo>
                    <a:cubicBezTo>
                      <a:pt x="117" y="16"/>
                      <a:pt x="125" y="23"/>
                      <a:pt x="132" y="35"/>
                    </a:cubicBezTo>
                    <a:cubicBezTo>
                      <a:pt x="138" y="46"/>
                      <a:pt x="142" y="58"/>
                      <a:pt x="142" y="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09" name="Freeform 352">
                <a:extLst>
                  <a:ext uri="{FF2B5EF4-FFF2-40B4-BE49-F238E27FC236}">
                    <a16:creationId xmlns:a16="http://schemas.microsoft.com/office/drawing/2014/main" id="{B3683470-E46C-C7FB-0534-CD748BEBE1E8}"/>
                  </a:ext>
                </a:extLst>
              </p:cNvPr>
              <p:cNvSpPr>
                <a:spLocks noChangeArrowheads="1"/>
              </p:cNvSpPr>
              <p:nvPr/>
            </p:nvSpPr>
            <p:spPr bwMode="auto">
              <a:xfrm>
                <a:off x="1108941" y="2472202"/>
                <a:ext cx="63522" cy="63522"/>
              </a:xfrm>
              <a:custGeom>
                <a:avLst/>
                <a:gdLst>
                  <a:gd name="T0" fmla="*/ 142 w 143"/>
                  <a:gd name="T1" fmla="*/ 71 h 143"/>
                  <a:gd name="T2" fmla="*/ 132 w 143"/>
                  <a:gd name="T3" fmla="*/ 106 h 143"/>
                  <a:gd name="T4" fmla="*/ 106 w 143"/>
                  <a:gd name="T5" fmla="*/ 132 h 143"/>
                  <a:gd name="T6" fmla="*/ 71 w 143"/>
                  <a:gd name="T7" fmla="*/ 142 h 143"/>
                  <a:gd name="T8" fmla="*/ 36 w 143"/>
                  <a:gd name="T9" fmla="*/ 132 h 143"/>
                  <a:gd name="T10" fmla="*/ 10 w 143"/>
                  <a:gd name="T11" fmla="*/ 106 h 143"/>
                  <a:gd name="T12" fmla="*/ 0 w 143"/>
                  <a:gd name="T13" fmla="*/ 71 h 143"/>
                  <a:gd name="T14" fmla="*/ 10 w 143"/>
                  <a:gd name="T15" fmla="*/ 36 h 143"/>
                  <a:gd name="T16" fmla="*/ 36 w 143"/>
                  <a:gd name="T17" fmla="*/ 10 h 143"/>
                  <a:gd name="T18" fmla="*/ 71 w 143"/>
                  <a:gd name="T19" fmla="*/ 0 h 143"/>
                  <a:gd name="T20" fmla="*/ 106 w 143"/>
                  <a:gd name="T21" fmla="*/ 10 h 143"/>
                  <a:gd name="T22" fmla="*/ 132 w 143"/>
                  <a:gd name="T23" fmla="*/ 36 h 143"/>
                  <a:gd name="T24" fmla="*/ 142 w 143"/>
                  <a:gd name="T25" fmla="*/ 7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 h="143">
                    <a:moveTo>
                      <a:pt x="142" y="71"/>
                    </a:moveTo>
                    <a:cubicBezTo>
                      <a:pt x="142" y="84"/>
                      <a:pt x="138" y="94"/>
                      <a:pt x="132" y="106"/>
                    </a:cubicBezTo>
                    <a:cubicBezTo>
                      <a:pt x="125" y="117"/>
                      <a:pt x="117" y="125"/>
                      <a:pt x="106" y="132"/>
                    </a:cubicBezTo>
                    <a:cubicBezTo>
                      <a:pt x="94" y="138"/>
                      <a:pt x="84" y="142"/>
                      <a:pt x="71" y="142"/>
                    </a:cubicBezTo>
                    <a:cubicBezTo>
                      <a:pt x="58" y="142"/>
                      <a:pt x="47" y="138"/>
                      <a:pt x="36" y="132"/>
                    </a:cubicBezTo>
                    <a:cubicBezTo>
                      <a:pt x="25" y="125"/>
                      <a:pt x="16" y="117"/>
                      <a:pt x="10" y="106"/>
                    </a:cubicBezTo>
                    <a:cubicBezTo>
                      <a:pt x="3" y="94"/>
                      <a:pt x="0" y="84"/>
                      <a:pt x="0" y="71"/>
                    </a:cubicBezTo>
                    <a:cubicBezTo>
                      <a:pt x="0" y="58"/>
                      <a:pt x="3" y="47"/>
                      <a:pt x="10" y="36"/>
                    </a:cubicBezTo>
                    <a:cubicBezTo>
                      <a:pt x="16" y="25"/>
                      <a:pt x="25" y="16"/>
                      <a:pt x="36" y="10"/>
                    </a:cubicBezTo>
                    <a:cubicBezTo>
                      <a:pt x="47" y="3"/>
                      <a:pt x="58" y="0"/>
                      <a:pt x="71" y="0"/>
                    </a:cubicBezTo>
                    <a:cubicBezTo>
                      <a:pt x="84" y="0"/>
                      <a:pt x="94" y="3"/>
                      <a:pt x="106" y="10"/>
                    </a:cubicBezTo>
                    <a:cubicBezTo>
                      <a:pt x="117" y="16"/>
                      <a:pt x="125" y="25"/>
                      <a:pt x="132" y="36"/>
                    </a:cubicBezTo>
                    <a:cubicBezTo>
                      <a:pt x="138" y="47"/>
                      <a:pt x="142" y="58"/>
                      <a:pt x="142" y="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10" name="Freeform 353">
                <a:extLst>
                  <a:ext uri="{FF2B5EF4-FFF2-40B4-BE49-F238E27FC236}">
                    <a16:creationId xmlns:a16="http://schemas.microsoft.com/office/drawing/2014/main" id="{FE78E8D5-A812-D154-A81A-DD15B8ACC8AF}"/>
                  </a:ext>
                </a:extLst>
              </p:cNvPr>
              <p:cNvSpPr>
                <a:spLocks noChangeArrowheads="1"/>
              </p:cNvSpPr>
              <p:nvPr/>
            </p:nvSpPr>
            <p:spPr bwMode="auto">
              <a:xfrm>
                <a:off x="1067255" y="2335234"/>
                <a:ext cx="51611" cy="51611"/>
              </a:xfrm>
              <a:custGeom>
                <a:avLst/>
                <a:gdLst>
                  <a:gd name="T0" fmla="*/ 0 w 113"/>
                  <a:gd name="T1" fmla="*/ 112 h 113"/>
                  <a:gd name="T2" fmla="*/ 112 w 113"/>
                  <a:gd name="T3" fmla="*/ 0 h 113"/>
                </a:gdLst>
                <a:ahLst/>
                <a:cxnLst>
                  <a:cxn ang="0">
                    <a:pos x="T0" y="T1"/>
                  </a:cxn>
                  <a:cxn ang="0">
                    <a:pos x="T2" y="T3"/>
                  </a:cxn>
                </a:cxnLst>
                <a:rect l="0" t="0" r="r" b="b"/>
                <a:pathLst>
                  <a:path w="113" h="113">
                    <a:moveTo>
                      <a:pt x="0" y="112"/>
                    </a:moveTo>
                    <a:cubicBezTo>
                      <a:pt x="37" y="74"/>
                      <a:pt x="75" y="37"/>
                      <a:pt x="11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1" name="Freeform 354">
                <a:extLst>
                  <a:ext uri="{FF2B5EF4-FFF2-40B4-BE49-F238E27FC236}">
                    <a16:creationId xmlns:a16="http://schemas.microsoft.com/office/drawing/2014/main" id="{B8114492-790E-0E02-8493-619F2D9927C7}"/>
                  </a:ext>
                </a:extLst>
              </p:cNvPr>
              <p:cNvSpPr>
                <a:spLocks noChangeArrowheads="1"/>
              </p:cNvSpPr>
              <p:nvPr/>
            </p:nvSpPr>
            <p:spPr bwMode="auto">
              <a:xfrm>
                <a:off x="1204223" y="2376919"/>
                <a:ext cx="63522" cy="63522"/>
              </a:xfrm>
              <a:custGeom>
                <a:avLst/>
                <a:gdLst>
                  <a:gd name="T0" fmla="*/ 141 w 142"/>
                  <a:gd name="T1" fmla="*/ 70 h 142"/>
                  <a:gd name="T2" fmla="*/ 132 w 142"/>
                  <a:gd name="T3" fmla="*/ 106 h 142"/>
                  <a:gd name="T4" fmla="*/ 106 w 142"/>
                  <a:gd name="T5" fmla="*/ 132 h 142"/>
                  <a:gd name="T6" fmla="*/ 71 w 142"/>
                  <a:gd name="T7" fmla="*/ 141 h 142"/>
                  <a:gd name="T8" fmla="*/ 35 w 142"/>
                  <a:gd name="T9" fmla="*/ 132 h 142"/>
                  <a:gd name="T10" fmla="*/ 10 w 142"/>
                  <a:gd name="T11" fmla="*/ 106 h 142"/>
                  <a:gd name="T12" fmla="*/ 0 w 142"/>
                  <a:gd name="T13" fmla="*/ 70 h 142"/>
                  <a:gd name="T14" fmla="*/ 10 w 142"/>
                  <a:gd name="T15" fmla="*/ 35 h 142"/>
                  <a:gd name="T16" fmla="*/ 35 w 142"/>
                  <a:gd name="T17" fmla="*/ 9 h 142"/>
                  <a:gd name="T18" fmla="*/ 71 w 142"/>
                  <a:gd name="T19" fmla="*/ 0 h 142"/>
                  <a:gd name="T20" fmla="*/ 106 w 142"/>
                  <a:gd name="T21" fmla="*/ 9 h 142"/>
                  <a:gd name="T22" fmla="*/ 132 w 142"/>
                  <a:gd name="T23" fmla="*/ 35 h 142"/>
                  <a:gd name="T24" fmla="*/ 141 w 142"/>
                  <a:gd name="T25"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2">
                    <a:moveTo>
                      <a:pt x="141" y="70"/>
                    </a:moveTo>
                    <a:cubicBezTo>
                      <a:pt x="141" y="83"/>
                      <a:pt x="138" y="94"/>
                      <a:pt x="132" y="106"/>
                    </a:cubicBezTo>
                    <a:cubicBezTo>
                      <a:pt x="125" y="117"/>
                      <a:pt x="117" y="125"/>
                      <a:pt x="106" y="132"/>
                    </a:cubicBezTo>
                    <a:cubicBezTo>
                      <a:pt x="95" y="138"/>
                      <a:pt x="84" y="141"/>
                      <a:pt x="71" y="141"/>
                    </a:cubicBezTo>
                    <a:cubicBezTo>
                      <a:pt x="58" y="141"/>
                      <a:pt x="46" y="138"/>
                      <a:pt x="35" y="132"/>
                    </a:cubicBezTo>
                    <a:cubicBezTo>
                      <a:pt x="23" y="125"/>
                      <a:pt x="16" y="117"/>
                      <a:pt x="10" y="106"/>
                    </a:cubicBezTo>
                    <a:cubicBezTo>
                      <a:pt x="3" y="94"/>
                      <a:pt x="0" y="83"/>
                      <a:pt x="0" y="70"/>
                    </a:cubicBezTo>
                    <a:cubicBezTo>
                      <a:pt x="0" y="57"/>
                      <a:pt x="3" y="46"/>
                      <a:pt x="10" y="35"/>
                    </a:cubicBezTo>
                    <a:cubicBezTo>
                      <a:pt x="16" y="24"/>
                      <a:pt x="23" y="15"/>
                      <a:pt x="35" y="9"/>
                    </a:cubicBezTo>
                    <a:cubicBezTo>
                      <a:pt x="46" y="2"/>
                      <a:pt x="58" y="0"/>
                      <a:pt x="71" y="0"/>
                    </a:cubicBezTo>
                    <a:cubicBezTo>
                      <a:pt x="84" y="0"/>
                      <a:pt x="95" y="2"/>
                      <a:pt x="106" y="9"/>
                    </a:cubicBezTo>
                    <a:cubicBezTo>
                      <a:pt x="117" y="15"/>
                      <a:pt x="125" y="24"/>
                      <a:pt x="132" y="35"/>
                    </a:cubicBezTo>
                    <a:cubicBezTo>
                      <a:pt x="138" y="46"/>
                      <a:pt x="141" y="57"/>
                      <a:pt x="141" y="7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12" name="Freeform 355">
                <a:extLst>
                  <a:ext uri="{FF2B5EF4-FFF2-40B4-BE49-F238E27FC236}">
                    <a16:creationId xmlns:a16="http://schemas.microsoft.com/office/drawing/2014/main" id="{B26FC152-E77E-0EE7-F70A-E94EC8F234CF}"/>
                  </a:ext>
                </a:extLst>
              </p:cNvPr>
              <p:cNvSpPr>
                <a:spLocks noChangeArrowheads="1"/>
              </p:cNvSpPr>
              <p:nvPr/>
            </p:nvSpPr>
            <p:spPr bwMode="auto">
              <a:xfrm>
                <a:off x="1013658" y="2376919"/>
                <a:ext cx="63522" cy="63522"/>
              </a:xfrm>
              <a:custGeom>
                <a:avLst/>
                <a:gdLst>
                  <a:gd name="T0" fmla="*/ 141 w 142"/>
                  <a:gd name="T1" fmla="*/ 70 h 142"/>
                  <a:gd name="T2" fmla="*/ 132 w 142"/>
                  <a:gd name="T3" fmla="*/ 106 h 142"/>
                  <a:gd name="T4" fmla="*/ 106 w 142"/>
                  <a:gd name="T5" fmla="*/ 132 h 142"/>
                  <a:gd name="T6" fmla="*/ 70 w 142"/>
                  <a:gd name="T7" fmla="*/ 141 h 142"/>
                  <a:gd name="T8" fmla="*/ 35 w 142"/>
                  <a:gd name="T9" fmla="*/ 132 h 142"/>
                  <a:gd name="T10" fmla="*/ 9 w 142"/>
                  <a:gd name="T11" fmla="*/ 106 h 142"/>
                  <a:gd name="T12" fmla="*/ 0 w 142"/>
                  <a:gd name="T13" fmla="*/ 70 h 142"/>
                  <a:gd name="T14" fmla="*/ 9 w 142"/>
                  <a:gd name="T15" fmla="*/ 35 h 142"/>
                  <a:gd name="T16" fmla="*/ 35 w 142"/>
                  <a:gd name="T17" fmla="*/ 9 h 142"/>
                  <a:gd name="T18" fmla="*/ 70 w 142"/>
                  <a:gd name="T19" fmla="*/ 0 h 142"/>
                  <a:gd name="T20" fmla="*/ 106 w 142"/>
                  <a:gd name="T21" fmla="*/ 9 h 142"/>
                  <a:gd name="T22" fmla="*/ 132 w 142"/>
                  <a:gd name="T23" fmla="*/ 35 h 142"/>
                  <a:gd name="T24" fmla="*/ 141 w 142"/>
                  <a:gd name="T25"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2">
                    <a:moveTo>
                      <a:pt x="141" y="70"/>
                    </a:moveTo>
                    <a:cubicBezTo>
                      <a:pt x="141" y="83"/>
                      <a:pt x="138" y="94"/>
                      <a:pt x="132" y="106"/>
                    </a:cubicBezTo>
                    <a:cubicBezTo>
                      <a:pt x="125" y="117"/>
                      <a:pt x="117" y="125"/>
                      <a:pt x="106" y="132"/>
                    </a:cubicBezTo>
                    <a:cubicBezTo>
                      <a:pt x="94" y="138"/>
                      <a:pt x="83" y="141"/>
                      <a:pt x="70" y="141"/>
                    </a:cubicBezTo>
                    <a:cubicBezTo>
                      <a:pt x="57" y="141"/>
                      <a:pt x="46" y="138"/>
                      <a:pt x="35" y="132"/>
                    </a:cubicBezTo>
                    <a:cubicBezTo>
                      <a:pt x="24" y="125"/>
                      <a:pt x="15" y="117"/>
                      <a:pt x="9" y="106"/>
                    </a:cubicBezTo>
                    <a:cubicBezTo>
                      <a:pt x="2" y="94"/>
                      <a:pt x="0" y="83"/>
                      <a:pt x="0" y="70"/>
                    </a:cubicBezTo>
                    <a:cubicBezTo>
                      <a:pt x="0" y="57"/>
                      <a:pt x="2" y="46"/>
                      <a:pt x="9" y="35"/>
                    </a:cubicBezTo>
                    <a:cubicBezTo>
                      <a:pt x="15" y="24"/>
                      <a:pt x="24" y="15"/>
                      <a:pt x="35" y="9"/>
                    </a:cubicBezTo>
                    <a:cubicBezTo>
                      <a:pt x="46" y="2"/>
                      <a:pt x="57" y="0"/>
                      <a:pt x="70" y="0"/>
                    </a:cubicBezTo>
                    <a:cubicBezTo>
                      <a:pt x="83" y="0"/>
                      <a:pt x="94" y="2"/>
                      <a:pt x="106" y="9"/>
                    </a:cubicBezTo>
                    <a:cubicBezTo>
                      <a:pt x="117" y="15"/>
                      <a:pt x="125" y="24"/>
                      <a:pt x="132" y="35"/>
                    </a:cubicBezTo>
                    <a:cubicBezTo>
                      <a:pt x="138" y="46"/>
                      <a:pt x="141" y="57"/>
                      <a:pt x="141" y="7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13" name="Freeform 356">
                <a:extLst>
                  <a:ext uri="{FF2B5EF4-FFF2-40B4-BE49-F238E27FC236}">
                    <a16:creationId xmlns:a16="http://schemas.microsoft.com/office/drawing/2014/main" id="{D40D2605-3131-D3DB-690D-C586B49E8248}"/>
                  </a:ext>
                </a:extLst>
              </p:cNvPr>
              <p:cNvSpPr>
                <a:spLocks noChangeArrowheads="1"/>
              </p:cNvSpPr>
              <p:nvPr/>
            </p:nvSpPr>
            <p:spPr bwMode="auto">
              <a:xfrm>
                <a:off x="1108941" y="2662767"/>
                <a:ext cx="63522" cy="63522"/>
              </a:xfrm>
              <a:custGeom>
                <a:avLst/>
                <a:gdLst>
                  <a:gd name="T0" fmla="*/ 142 w 143"/>
                  <a:gd name="T1" fmla="*/ 70 h 142"/>
                  <a:gd name="T2" fmla="*/ 132 w 143"/>
                  <a:gd name="T3" fmla="*/ 106 h 142"/>
                  <a:gd name="T4" fmla="*/ 106 w 143"/>
                  <a:gd name="T5" fmla="*/ 132 h 142"/>
                  <a:gd name="T6" fmla="*/ 71 w 143"/>
                  <a:gd name="T7" fmla="*/ 141 h 142"/>
                  <a:gd name="T8" fmla="*/ 36 w 143"/>
                  <a:gd name="T9" fmla="*/ 132 h 142"/>
                  <a:gd name="T10" fmla="*/ 10 w 143"/>
                  <a:gd name="T11" fmla="*/ 106 h 142"/>
                  <a:gd name="T12" fmla="*/ 0 w 143"/>
                  <a:gd name="T13" fmla="*/ 70 h 142"/>
                  <a:gd name="T14" fmla="*/ 10 w 143"/>
                  <a:gd name="T15" fmla="*/ 35 h 142"/>
                  <a:gd name="T16" fmla="*/ 36 w 143"/>
                  <a:gd name="T17" fmla="*/ 9 h 142"/>
                  <a:gd name="T18" fmla="*/ 71 w 143"/>
                  <a:gd name="T19" fmla="*/ 0 h 142"/>
                  <a:gd name="T20" fmla="*/ 106 w 143"/>
                  <a:gd name="T21" fmla="*/ 9 h 142"/>
                  <a:gd name="T22" fmla="*/ 132 w 143"/>
                  <a:gd name="T23" fmla="*/ 35 h 142"/>
                  <a:gd name="T24" fmla="*/ 142 w 143"/>
                  <a:gd name="T25"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 h="142">
                    <a:moveTo>
                      <a:pt x="142" y="70"/>
                    </a:moveTo>
                    <a:cubicBezTo>
                      <a:pt x="142" y="83"/>
                      <a:pt x="138" y="94"/>
                      <a:pt x="132" y="106"/>
                    </a:cubicBezTo>
                    <a:cubicBezTo>
                      <a:pt x="125" y="117"/>
                      <a:pt x="117" y="125"/>
                      <a:pt x="106" y="132"/>
                    </a:cubicBezTo>
                    <a:cubicBezTo>
                      <a:pt x="94" y="138"/>
                      <a:pt x="84" y="141"/>
                      <a:pt x="71" y="141"/>
                    </a:cubicBezTo>
                    <a:cubicBezTo>
                      <a:pt x="58" y="141"/>
                      <a:pt x="47" y="138"/>
                      <a:pt x="36" y="132"/>
                    </a:cubicBezTo>
                    <a:cubicBezTo>
                      <a:pt x="25" y="125"/>
                      <a:pt x="16" y="117"/>
                      <a:pt x="10" y="106"/>
                    </a:cubicBezTo>
                    <a:cubicBezTo>
                      <a:pt x="3" y="94"/>
                      <a:pt x="0" y="83"/>
                      <a:pt x="0" y="70"/>
                    </a:cubicBezTo>
                    <a:cubicBezTo>
                      <a:pt x="0" y="57"/>
                      <a:pt x="3" y="46"/>
                      <a:pt x="10" y="35"/>
                    </a:cubicBezTo>
                    <a:cubicBezTo>
                      <a:pt x="16" y="24"/>
                      <a:pt x="25" y="15"/>
                      <a:pt x="36" y="9"/>
                    </a:cubicBezTo>
                    <a:cubicBezTo>
                      <a:pt x="47" y="2"/>
                      <a:pt x="58" y="0"/>
                      <a:pt x="71" y="0"/>
                    </a:cubicBezTo>
                    <a:cubicBezTo>
                      <a:pt x="84" y="0"/>
                      <a:pt x="94" y="2"/>
                      <a:pt x="106" y="9"/>
                    </a:cubicBezTo>
                    <a:cubicBezTo>
                      <a:pt x="117" y="15"/>
                      <a:pt x="125" y="24"/>
                      <a:pt x="132" y="35"/>
                    </a:cubicBezTo>
                    <a:cubicBezTo>
                      <a:pt x="138" y="46"/>
                      <a:pt x="142" y="57"/>
                      <a:pt x="142" y="7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14" name="Freeform 357">
                <a:extLst>
                  <a:ext uri="{FF2B5EF4-FFF2-40B4-BE49-F238E27FC236}">
                    <a16:creationId xmlns:a16="http://schemas.microsoft.com/office/drawing/2014/main" id="{6FE77715-3D79-C8FB-7E50-2894FD3F7067}"/>
                  </a:ext>
                </a:extLst>
              </p:cNvPr>
              <p:cNvSpPr>
                <a:spLocks noChangeArrowheads="1"/>
              </p:cNvSpPr>
              <p:nvPr/>
            </p:nvSpPr>
            <p:spPr bwMode="auto">
              <a:xfrm>
                <a:off x="1257821" y="2621082"/>
                <a:ext cx="49626" cy="49626"/>
              </a:xfrm>
              <a:custGeom>
                <a:avLst/>
                <a:gdLst>
                  <a:gd name="T0" fmla="*/ 111 w 112"/>
                  <a:gd name="T1" fmla="*/ 111 h 112"/>
                  <a:gd name="T2" fmla="*/ 0 w 112"/>
                  <a:gd name="T3" fmla="*/ 0 h 112"/>
                </a:gdLst>
                <a:ahLst/>
                <a:cxnLst>
                  <a:cxn ang="0">
                    <a:pos x="T0" y="T1"/>
                  </a:cxn>
                  <a:cxn ang="0">
                    <a:pos x="T2" y="T3"/>
                  </a:cxn>
                </a:cxnLst>
                <a:rect l="0" t="0" r="r" b="b"/>
                <a:pathLst>
                  <a:path w="112" h="112">
                    <a:moveTo>
                      <a:pt x="111" y="111"/>
                    </a:moveTo>
                    <a:cubicBezTo>
                      <a:pt x="74" y="74"/>
                      <a:pt x="37" y="37"/>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5" name="Freeform 358">
                <a:extLst>
                  <a:ext uri="{FF2B5EF4-FFF2-40B4-BE49-F238E27FC236}">
                    <a16:creationId xmlns:a16="http://schemas.microsoft.com/office/drawing/2014/main" id="{C97A8140-3A80-2363-4954-C0C918FA0B28}"/>
                  </a:ext>
                </a:extLst>
              </p:cNvPr>
              <p:cNvSpPr>
                <a:spLocks noChangeArrowheads="1"/>
              </p:cNvSpPr>
              <p:nvPr/>
            </p:nvSpPr>
            <p:spPr bwMode="auto">
              <a:xfrm>
                <a:off x="1257821" y="2525799"/>
                <a:ext cx="49626" cy="51611"/>
              </a:xfrm>
              <a:custGeom>
                <a:avLst/>
                <a:gdLst>
                  <a:gd name="T0" fmla="*/ 0 w 112"/>
                  <a:gd name="T1" fmla="*/ 112 h 113"/>
                  <a:gd name="T2" fmla="*/ 111 w 112"/>
                  <a:gd name="T3" fmla="*/ 0 h 113"/>
                </a:gdLst>
                <a:ahLst/>
                <a:cxnLst>
                  <a:cxn ang="0">
                    <a:pos x="T0" y="T1"/>
                  </a:cxn>
                  <a:cxn ang="0">
                    <a:pos x="T2" y="T3"/>
                  </a:cxn>
                </a:cxnLst>
                <a:rect l="0" t="0" r="r" b="b"/>
                <a:pathLst>
                  <a:path w="112" h="113">
                    <a:moveTo>
                      <a:pt x="0" y="112"/>
                    </a:moveTo>
                    <a:cubicBezTo>
                      <a:pt x="37" y="74"/>
                      <a:pt x="74" y="37"/>
                      <a:pt x="111"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6" name="Freeform 359">
                <a:extLst>
                  <a:ext uri="{FF2B5EF4-FFF2-40B4-BE49-F238E27FC236}">
                    <a16:creationId xmlns:a16="http://schemas.microsoft.com/office/drawing/2014/main" id="{5D4CB01F-C5D8-4FDA-49F9-9A77BD756725}"/>
                  </a:ext>
                </a:extLst>
              </p:cNvPr>
              <p:cNvSpPr>
                <a:spLocks noChangeArrowheads="1"/>
              </p:cNvSpPr>
              <p:nvPr/>
            </p:nvSpPr>
            <p:spPr bwMode="auto">
              <a:xfrm>
                <a:off x="1204223" y="2567485"/>
                <a:ext cx="63522" cy="63522"/>
              </a:xfrm>
              <a:custGeom>
                <a:avLst/>
                <a:gdLst>
                  <a:gd name="T0" fmla="*/ 141 w 142"/>
                  <a:gd name="T1" fmla="*/ 71 h 142"/>
                  <a:gd name="T2" fmla="*/ 132 w 142"/>
                  <a:gd name="T3" fmla="*/ 106 h 142"/>
                  <a:gd name="T4" fmla="*/ 106 w 142"/>
                  <a:gd name="T5" fmla="*/ 132 h 142"/>
                  <a:gd name="T6" fmla="*/ 71 w 142"/>
                  <a:gd name="T7" fmla="*/ 141 h 142"/>
                  <a:gd name="T8" fmla="*/ 35 w 142"/>
                  <a:gd name="T9" fmla="*/ 132 h 142"/>
                  <a:gd name="T10" fmla="*/ 10 w 142"/>
                  <a:gd name="T11" fmla="*/ 106 h 142"/>
                  <a:gd name="T12" fmla="*/ 0 w 142"/>
                  <a:gd name="T13" fmla="*/ 71 h 142"/>
                  <a:gd name="T14" fmla="*/ 10 w 142"/>
                  <a:gd name="T15" fmla="*/ 35 h 142"/>
                  <a:gd name="T16" fmla="*/ 35 w 142"/>
                  <a:gd name="T17" fmla="*/ 10 h 142"/>
                  <a:gd name="T18" fmla="*/ 71 w 142"/>
                  <a:gd name="T19" fmla="*/ 0 h 142"/>
                  <a:gd name="T20" fmla="*/ 106 w 142"/>
                  <a:gd name="T21" fmla="*/ 10 h 142"/>
                  <a:gd name="T22" fmla="*/ 132 w 142"/>
                  <a:gd name="T23" fmla="*/ 35 h 142"/>
                  <a:gd name="T24" fmla="*/ 141 w 142"/>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2">
                    <a:moveTo>
                      <a:pt x="141" y="71"/>
                    </a:moveTo>
                    <a:cubicBezTo>
                      <a:pt x="141" y="84"/>
                      <a:pt x="138" y="95"/>
                      <a:pt x="132" y="106"/>
                    </a:cubicBezTo>
                    <a:cubicBezTo>
                      <a:pt x="125" y="117"/>
                      <a:pt x="117" y="125"/>
                      <a:pt x="106" y="132"/>
                    </a:cubicBezTo>
                    <a:cubicBezTo>
                      <a:pt x="95" y="138"/>
                      <a:pt x="84" y="141"/>
                      <a:pt x="71" y="141"/>
                    </a:cubicBezTo>
                    <a:cubicBezTo>
                      <a:pt x="58" y="141"/>
                      <a:pt x="46" y="138"/>
                      <a:pt x="35" y="132"/>
                    </a:cubicBezTo>
                    <a:cubicBezTo>
                      <a:pt x="23" y="125"/>
                      <a:pt x="16" y="117"/>
                      <a:pt x="10" y="106"/>
                    </a:cubicBezTo>
                    <a:cubicBezTo>
                      <a:pt x="3" y="95"/>
                      <a:pt x="0" y="84"/>
                      <a:pt x="0" y="71"/>
                    </a:cubicBezTo>
                    <a:cubicBezTo>
                      <a:pt x="0" y="58"/>
                      <a:pt x="3" y="46"/>
                      <a:pt x="10" y="35"/>
                    </a:cubicBezTo>
                    <a:cubicBezTo>
                      <a:pt x="16" y="23"/>
                      <a:pt x="23" y="16"/>
                      <a:pt x="35" y="10"/>
                    </a:cubicBezTo>
                    <a:cubicBezTo>
                      <a:pt x="46" y="3"/>
                      <a:pt x="58" y="0"/>
                      <a:pt x="71" y="0"/>
                    </a:cubicBezTo>
                    <a:cubicBezTo>
                      <a:pt x="84" y="0"/>
                      <a:pt x="95" y="3"/>
                      <a:pt x="106" y="10"/>
                    </a:cubicBezTo>
                    <a:cubicBezTo>
                      <a:pt x="117" y="16"/>
                      <a:pt x="125" y="23"/>
                      <a:pt x="132" y="35"/>
                    </a:cubicBezTo>
                    <a:cubicBezTo>
                      <a:pt x="138" y="46"/>
                      <a:pt x="141" y="58"/>
                      <a:pt x="141" y="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17" name="Freeform 360">
                <a:extLst>
                  <a:ext uri="{FF2B5EF4-FFF2-40B4-BE49-F238E27FC236}">
                    <a16:creationId xmlns:a16="http://schemas.microsoft.com/office/drawing/2014/main" id="{2C7A880A-F154-DCFF-B80E-DCCC80F1A27A}"/>
                  </a:ext>
                </a:extLst>
              </p:cNvPr>
              <p:cNvSpPr>
                <a:spLocks noChangeArrowheads="1"/>
              </p:cNvSpPr>
              <p:nvPr/>
            </p:nvSpPr>
            <p:spPr bwMode="auto">
              <a:xfrm>
                <a:off x="971972" y="2621082"/>
                <a:ext cx="49626" cy="49626"/>
              </a:xfrm>
              <a:custGeom>
                <a:avLst/>
                <a:gdLst>
                  <a:gd name="T0" fmla="*/ 0 w 112"/>
                  <a:gd name="T1" fmla="*/ 111 h 112"/>
                  <a:gd name="T2" fmla="*/ 111 w 112"/>
                  <a:gd name="T3" fmla="*/ 0 h 112"/>
                </a:gdLst>
                <a:ahLst/>
                <a:cxnLst>
                  <a:cxn ang="0">
                    <a:pos x="T0" y="T1"/>
                  </a:cxn>
                  <a:cxn ang="0">
                    <a:pos x="T2" y="T3"/>
                  </a:cxn>
                </a:cxnLst>
                <a:rect l="0" t="0" r="r" b="b"/>
                <a:pathLst>
                  <a:path w="112" h="112">
                    <a:moveTo>
                      <a:pt x="0" y="111"/>
                    </a:moveTo>
                    <a:cubicBezTo>
                      <a:pt x="37" y="74"/>
                      <a:pt x="74" y="37"/>
                      <a:pt x="111"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8" name="Freeform 361">
                <a:extLst>
                  <a:ext uri="{FF2B5EF4-FFF2-40B4-BE49-F238E27FC236}">
                    <a16:creationId xmlns:a16="http://schemas.microsoft.com/office/drawing/2014/main" id="{F7ED0628-53F6-F4B1-C315-7306068D0547}"/>
                  </a:ext>
                </a:extLst>
              </p:cNvPr>
              <p:cNvSpPr>
                <a:spLocks noChangeArrowheads="1"/>
              </p:cNvSpPr>
              <p:nvPr/>
            </p:nvSpPr>
            <p:spPr bwMode="auto">
              <a:xfrm>
                <a:off x="971972" y="2525799"/>
                <a:ext cx="49626" cy="51611"/>
              </a:xfrm>
              <a:custGeom>
                <a:avLst/>
                <a:gdLst>
                  <a:gd name="T0" fmla="*/ 111 w 112"/>
                  <a:gd name="T1" fmla="*/ 112 h 113"/>
                  <a:gd name="T2" fmla="*/ 0 w 112"/>
                  <a:gd name="T3" fmla="*/ 0 h 113"/>
                </a:gdLst>
                <a:ahLst/>
                <a:cxnLst>
                  <a:cxn ang="0">
                    <a:pos x="T0" y="T1"/>
                  </a:cxn>
                  <a:cxn ang="0">
                    <a:pos x="T2" y="T3"/>
                  </a:cxn>
                </a:cxnLst>
                <a:rect l="0" t="0" r="r" b="b"/>
                <a:pathLst>
                  <a:path w="112" h="113">
                    <a:moveTo>
                      <a:pt x="111" y="112"/>
                    </a:moveTo>
                    <a:cubicBezTo>
                      <a:pt x="74" y="74"/>
                      <a:pt x="37" y="37"/>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19" name="Freeform 362">
                <a:extLst>
                  <a:ext uri="{FF2B5EF4-FFF2-40B4-BE49-F238E27FC236}">
                    <a16:creationId xmlns:a16="http://schemas.microsoft.com/office/drawing/2014/main" id="{D1C045D7-4DD0-D290-92E1-59D72BB373E7}"/>
                  </a:ext>
                </a:extLst>
              </p:cNvPr>
              <p:cNvSpPr>
                <a:spLocks noChangeArrowheads="1"/>
              </p:cNvSpPr>
              <p:nvPr/>
            </p:nvSpPr>
            <p:spPr bwMode="auto">
              <a:xfrm>
                <a:off x="971972" y="2430516"/>
                <a:ext cx="49626" cy="51611"/>
              </a:xfrm>
              <a:custGeom>
                <a:avLst/>
                <a:gdLst>
                  <a:gd name="T0" fmla="*/ 0 w 112"/>
                  <a:gd name="T1" fmla="*/ 112 h 113"/>
                  <a:gd name="T2" fmla="*/ 111 w 112"/>
                  <a:gd name="T3" fmla="*/ 0 h 113"/>
                </a:gdLst>
                <a:ahLst/>
                <a:cxnLst>
                  <a:cxn ang="0">
                    <a:pos x="T0" y="T1"/>
                  </a:cxn>
                  <a:cxn ang="0">
                    <a:pos x="T2" y="T3"/>
                  </a:cxn>
                </a:cxnLst>
                <a:rect l="0" t="0" r="r" b="b"/>
                <a:pathLst>
                  <a:path w="112" h="113">
                    <a:moveTo>
                      <a:pt x="0" y="112"/>
                    </a:moveTo>
                    <a:cubicBezTo>
                      <a:pt x="37" y="74"/>
                      <a:pt x="74" y="37"/>
                      <a:pt x="111"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20" name="Freeform 363">
                <a:extLst>
                  <a:ext uri="{FF2B5EF4-FFF2-40B4-BE49-F238E27FC236}">
                    <a16:creationId xmlns:a16="http://schemas.microsoft.com/office/drawing/2014/main" id="{DA5588ED-B082-CD31-7440-C4E67C75BD6F}"/>
                  </a:ext>
                </a:extLst>
              </p:cNvPr>
              <p:cNvSpPr>
                <a:spLocks noChangeArrowheads="1"/>
              </p:cNvSpPr>
              <p:nvPr/>
            </p:nvSpPr>
            <p:spPr bwMode="auto">
              <a:xfrm>
                <a:off x="918375" y="2472202"/>
                <a:ext cx="63522" cy="63522"/>
              </a:xfrm>
              <a:custGeom>
                <a:avLst/>
                <a:gdLst>
                  <a:gd name="T0" fmla="*/ 141 w 142"/>
                  <a:gd name="T1" fmla="*/ 71 h 143"/>
                  <a:gd name="T2" fmla="*/ 132 w 142"/>
                  <a:gd name="T3" fmla="*/ 106 h 143"/>
                  <a:gd name="T4" fmla="*/ 106 w 142"/>
                  <a:gd name="T5" fmla="*/ 132 h 143"/>
                  <a:gd name="T6" fmla="*/ 71 w 142"/>
                  <a:gd name="T7" fmla="*/ 142 h 143"/>
                  <a:gd name="T8" fmla="*/ 35 w 142"/>
                  <a:gd name="T9" fmla="*/ 132 h 143"/>
                  <a:gd name="T10" fmla="*/ 10 w 142"/>
                  <a:gd name="T11" fmla="*/ 106 h 143"/>
                  <a:gd name="T12" fmla="*/ 0 w 142"/>
                  <a:gd name="T13" fmla="*/ 71 h 143"/>
                  <a:gd name="T14" fmla="*/ 10 w 142"/>
                  <a:gd name="T15" fmla="*/ 36 h 143"/>
                  <a:gd name="T16" fmla="*/ 35 w 142"/>
                  <a:gd name="T17" fmla="*/ 10 h 143"/>
                  <a:gd name="T18" fmla="*/ 71 w 142"/>
                  <a:gd name="T19" fmla="*/ 0 h 143"/>
                  <a:gd name="T20" fmla="*/ 106 w 142"/>
                  <a:gd name="T21" fmla="*/ 10 h 143"/>
                  <a:gd name="T22" fmla="*/ 132 w 142"/>
                  <a:gd name="T23" fmla="*/ 36 h 143"/>
                  <a:gd name="T24" fmla="*/ 141 w 142"/>
                  <a:gd name="T25" fmla="*/ 7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3">
                    <a:moveTo>
                      <a:pt x="141" y="71"/>
                    </a:moveTo>
                    <a:cubicBezTo>
                      <a:pt x="141" y="84"/>
                      <a:pt x="138" y="94"/>
                      <a:pt x="132" y="106"/>
                    </a:cubicBezTo>
                    <a:cubicBezTo>
                      <a:pt x="125" y="117"/>
                      <a:pt x="117" y="125"/>
                      <a:pt x="106" y="132"/>
                    </a:cubicBezTo>
                    <a:cubicBezTo>
                      <a:pt x="95" y="138"/>
                      <a:pt x="84" y="142"/>
                      <a:pt x="71" y="142"/>
                    </a:cubicBezTo>
                    <a:cubicBezTo>
                      <a:pt x="58" y="142"/>
                      <a:pt x="46" y="138"/>
                      <a:pt x="35" y="132"/>
                    </a:cubicBezTo>
                    <a:cubicBezTo>
                      <a:pt x="23" y="125"/>
                      <a:pt x="16" y="117"/>
                      <a:pt x="10" y="106"/>
                    </a:cubicBezTo>
                    <a:cubicBezTo>
                      <a:pt x="3" y="94"/>
                      <a:pt x="0" y="84"/>
                      <a:pt x="0" y="71"/>
                    </a:cubicBezTo>
                    <a:cubicBezTo>
                      <a:pt x="0" y="58"/>
                      <a:pt x="3" y="47"/>
                      <a:pt x="10" y="36"/>
                    </a:cubicBezTo>
                    <a:cubicBezTo>
                      <a:pt x="16" y="25"/>
                      <a:pt x="23" y="16"/>
                      <a:pt x="35" y="10"/>
                    </a:cubicBezTo>
                    <a:cubicBezTo>
                      <a:pt x="46" y="3"/>
                      <a:pt x="58" y="0"/>
                      <a:pt x="71" y="0"/>
                    </a:cubicBezTo>
                    <a:cubicBezTo>
                      <a:pt x="84" y="0"/>
                      <a:pt x="95" y="3"/>
                      <a:pt x="106" y="10"/>
                    </a:cubicBezTo>
                    <a:cubicBezTo>
                      <a:pt x="117" y="16"/>
                      <a:pt x="125" y="25"/>
                      <a:pt x="132" y="36"/>
                    </a:cubicBezTo>
                    <a:cubicBezTo>
                      <a:pt x="138" y="47"/>
                      <a:pt x="141" y="58"/>
                      <a:pt x="141" y="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21" name="Freeform 364">
                <a:extLst>
                  <a:ext uri="{FF2B5EF4-FFF2-40B4-BE49-F238E27FC236}">
                    <a16:creationId xmlns:a16="http://schemas.microsoft.com/office/drawing/2014/main" id="{1880075F-F010-450C-F8EA-67C84A7A717D}"/>
                  </a:ext>
                </a:extLst>
              </p:cNvPr>
              <p:cNvSpPr>
                <a:spLocks noChangeArrowheads="1"/>
              </p:cNvSpPr>
              <p:nvPr/>
            </p:nvSpPr>
            <p:spPr bwMode="auto">
              <a:xfrm>
                <a:off x="1013658" y="2567485"/>
                <a:ext cx="63522" cy="63522"/>
              </a:xfrm>
              <a:custGeom>
                <a:avLst/>
                <a:gdLst>
                  <a:gd name="T0" fmla="*/ 141 w 142"/>
                  <a:gd name="T1" fmla="*/ 71 h 142"/>
                  <a:gd name="T2" fmla="*/ 132 w 142"/>
                  <a:gd name="T3" fmla="*/ 106 h 142"/>
                  <a:gd name="T4" fmla="*/ 106 w 142"/>
                  <a:gd name="T5" fmla="*/ 132 h 142"/>
                  <a:gd name="T6" fmla="*/ 70 w 142"/>
                  <a:gd name="T7" fmla="*/ 141 h 142"/>
                  <a:gd name="T8" fmla="*/ 35 w 142"/>
                  <a:gd name="T9" fmla="*/ 132 h 142"/>
                  <a:gd name="T10" fmla="*/ 9 w 142"/>
                  <a:gd name="T11" fmla="*/ 106 h 142"/>
                  <a:gd name="T12" fmla="*/ 0 w 142"/>
                  <a:gd name="T13" fmla="*/ 71 h 142"/>
                  <a:gd name="T14" fmla="*/ 9 w 142"/>
                  <a:gd name="T15" fmla="*/ 35 h 142"/>
                  <a:gd name="T16" fmla="*/ 35 w 142"/>
                  <a:gd name="T17" fmla="*/ 10 h 142"/>
                  <a:gd name="T18" fmla="*/ 70 w 142"/>
                  <a:gd name="T19" fmla="*/ 0 h 142"/>
                  <a:gd name="T20" fmla="*/ 106 w 142"/>
                  <a:gd name="T21" fmla="*/ 10 h 142"/>
                  <a:gd name="T22" fmla="*/ 132 w 142"/>
                  <a:gd name="T23" fmla="*/ 35 h 142"/>
                  <a:gd name="T24" fmla="*/ 141 w 142"/>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2">
                    <a:moveTo>
                      <a:pt x="141" y="71"/>
                    </a:moveTo>
                    <a:cubicBezTo>
                      <a:pt x="141" y="84"/>
                      <a:pt x="138" y="95"/>
                      <a:pt x="132" y="106"/>
                    </a:cubicBezTo>
                    <a:cubicBezTo>
                      <a:pt x="125" y="117"/>
                      <a:pt x="117" y="125"/>
                      <a:pt x="106" y="132"/>
                    </a:cubicBezTo>
                    <a:cubicBezTo>
                      <a:pt x="94" y="138"/>
                      <a:pt x="83" y="141"/>
                      <a:pt x="70" y="141"/>
                    </a:cubicBezTo>
                    <a:cubicBezTo>
                      <a:pt x="57" y="141"/>
                      <a:pt x="46" y="138"/>
                      <a:pt x="35" y="132"/>
                    </a:cubicBezTo>
                    <a:cubicBezTo>
                      <a:pt x="24" y="125"/>
                      <a:pt x="15" y="117"/>
                      <a:pt x="9" y="106"/>
                    </a:cubicBezTo>
                    <a:cubicBezTo>
                      <a:pt x="2" y="95"/>
                      <a:pt x="0" y="84"/>
                      <a:pt x="0" y="71"/>
                    </a:cubicBezTo>
                    <a:cubicBezTo>
                      <a:pt x="0" y="58"/>
                      <a:pt x="2" y="46"/>
                      <a:pt x="9" y="35"/>
                    </a:cubicBezTo>
                    <a:cubicBezTo>
                      <a:pt x="15" y="23"/>
                      <a:pt x="24" y="16"/>
                      <a:pt x="35" y="10"/>
                    </a:cubicBezTo>
                    <a:cubicBezTo>
                      <a:pt x="46" y="3"/>
                      <a:pt x="57" y="0"/>
                      <a:pt x="70" y="0"/>
                    </a:cubicBezTo>
                    <a:cubicBezTo>
                      <a:pt x="83" y="0"/>
                      <a:pt x="94" y="3"/>
                      <a:pt x="106" y="10"/>
                    </a:cubicBezTo>
                    <a:cubicBezTo>
                      <a:pt x="117" y="16"/>
                      <a:pt x="125" y="23"/>
                      <a:pt x="132" y="35"/>
                    </a:cubicBezTo>
                    <a:cubicBezTo>
                      <a:pt x="138" y="46"/>
                      <a:pt x="141" y="58"/>
                      <a:pt x="141" y="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22" name="Freeform 365">
                <a:extLst>
                  <a:ext uri="{FF2B5EF4-FFF2-40B4-BE49-F238E27FC236}">
                    <a16:creationId xmlns:a16="http://schemas.microsoft.com/office/drawing/2014/main" id="{F683F2E8-3568-11D7-4470-7B21AFB1E52B}"/>
                  </a:ext>
                </a:extLst>
              </p:cNvPr>
              <p:cNvSpPr>
                <a:spLocks noChangeArrowheads="1"/>
              </p:cNvSpPr>
              <p:nvPr/>
            </p:nvSpPr>
            <p:spPr bwMode="auto">
              <a:xfrm>
                <a:off x="1299506" y="2472202"/>
                <a:ext cx="63522" cy="63522"/>
              </a:xfrm>
              <a:custGeom>
                <a:avLst/>
                <a:gdLst>
                  <a:gd name="T0" fmla="*/ 141 w 142"/>
                  <a:gd name="T1" fmla="*/ 71 h 143"/>
                  <a:gd name="T2" fmla="*/ 132 w 142"/>
                  <a:gd name="T3" fmla="*/ 106 h 143"/>
                  <a:gd name="T4" fmla="*/ 106 w 142"/>
                  <a:gd name="T5" fmla="*/ 132 h 143"/>
                  <a:gd name="T6" fmla="*/ 70 w 142"/>
                  <a:gd name="T7" fmla="*/ 142 h 143"/>
                  <a:gd name="T8" fmla="*/ 35 w 142"/>
                  <a:gd name="T9" fmla="*/ 132 h 143"/>
                  <a:gd name="T10" fmla="*/ 9 w 142"/>
                  <a:gd name="T11" fmla="*/ 106 h 143"/>
                  <a:gd name="T12" fmla="*/ 0 w 142"/>
                  <a:gd name="T13" fmla="*/ 71 h 143"/>
                  <a:gd name="T14" fmla="*/ 9 w 142"/>
                  <a:gd name="T15" fmla="*/ 36 h 143"/>
                  <a:gd name="T16" fmla="*/ 35 w 142"/>
                  <a:gd name="T17" fmla="*/ 10 h 143"/>
                  <a:gd name="T18" fmla="*/ 70 w 142"/>
                  <a:gd name="T19" fmla="*/ 0 h 143"/>
                  <a:gd name="T20" fmla="*/ 106 w 142"/>
                  <a:gd name="T21" fmla="*/ 10 h 143"/>
                  <a:gd name="T22" fmla="*/ 132 w 142"/>
                  <a:gd name="T23" fmla="*/ 36 h 143"/>
                  <a:gd name="T24" fmla="*/ 141 w 142"/>
                  <a:gd name="T25" fmla="*/ 7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3">
                    <a:moveTo>
                      <a:pt x="141" y="71"/>
                    </a:moveTo>
                    <a:cubicBezTo>
                      <a:pt x="141" y="84"/>
                      <a:pt x="138" y="94"/>
                      <a:pt x="132" y="106"/>
                    </a:cubicBezTo>
                    <a:cubicBezTo>
                      <a:pt x="125" y="117"/>
                      <a:pt x="117" y="125"/>
                      <a:pt x="106" y="132"/>
                    </a:cubicBezTo>
                    <a:cubicBezTo>
                      <a:pt x="94" y="138"/>
                      <a:pt x="83" y="142"/>
                      <a:pt x="70" y="142"/>
                    </a:cubicBezTo>
                    <a:cubicBezTo>
                      <a:pt x="57" y="142"/>
                      <a:pt x="46" y="138"/>
                      <a:pt x="35" y="132"/>
                    </a:cubicBezTo>
                    <a:cubicBezTo>
                      <a:pt x="24" y="125"/>
                      <a:pt x="15" y="117"/>
                      <a:pt x="9" y="106"/>
                    </a:cubicBezTo>
                    <a:cubicBezTo>
                      <a:pt x="2" y="94"/>
                      <a:pt x="0" y="84"/>
                      <a:pt x="0" y="71"/>
                    </a:cubicBezTo>
                    <a:cubicBezTo>
                      <a:pt x="0" y="58"/>
                      <a:pt x="2" y="47"/>
                      <a:pt x="9" y="36"/>
                    </a:cubicBezTo>
                    <a:cubicBezTo>
                      <a:pt x="15" y="25"/>
                      <a:pt x="24" y="16"/>
                      <a:pt x="35" y="10"/>
                    </a:cubicBezTo>
                    <a:cubicBezTo>
                      <a:pt x="46" y="3"/>
                      <a:pt x="57" y="0"/>
                      <a:pt x="70" y="0"/>
                    </a:cubicBezTo>
                    <a:cubicBezTo>
                      <a:pt x="83" y="0"/>
                      <a:pt x="94" y="3"/>
                      <a:pt x="106" y="10"/>
                    </a:cubicBezTo>
                    <a:cubicBezTo>
                      <a:pt x="117" y="16"/>
                      <a:pt x="125" y="25"/>
                      <a:pt x="132" y="36"/>
                    </a:cubicBezTo>
                    <a:cubicBezTo>
                      <a:pt x="138" y="47"/>
                      <a:pt x="141" y="58"/>
                      <a:pt x="141" y="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23" name="Freeform 366">
                <a:extLst>
                  <a:ext uri="{FF2B5EF4-FFF2-40B4-BE49-F238E27FC236}">
                    <a16:creationId xmlns:a16="http://schemas.microsoft.com/office/drawing/2014/main" id="{5FE06DE0-77AE-F70A-CBCF-A048CF8A5BA3}"/>
                  </a:ext>
                </a:extLst>
              </p:cNvPr>
              <p:cNvSpPr>
                <a:spLocks noChangeArrowheads="1"/>
              </p:cNvSpPr>
              <p:nvPr/>
            </p:nvSpPr>
            <p:spPr bwMode="auto">
              <a:xfrm>
                <a:off x="1204223" y="2758050"/>
                <a:ext cx="63522" cy="63522"/>
              </a:xfrm>
              <a:custGeom>
                <a:avLst/>
                <a:gdLst>
                  <a:gd name="T0" fmla="*/ 141 w 142"/>
                  <a:gd name="T1" fmla="*/ 71 h 143"/>
                  <a:gd name="T2" fmla="*/ 132 w 142"/>
                  <a:gd name="T3" fmla="*/ 106 h 143"/>
                  <a:gd name="T4" fmla="*/ 106 w 142"/>
                  <a:gd name="T5" fmla="*/ 132 h 143"/>
                  <a:gd name="T6" fmla="*/ 71 w 142"/>
                  <a:gd name="T7" fmla="*/ 142 h 143"/>
                  <a:gd name="T8" fmla="*/ 35 w 142"/>
                  <a:gd name="T9" fmla="*/ 132 h 143"/>
                  <a:gd name="T10" fmla="*/ 10 w 142"/>
                  <a:gd name="T11" fmla="*/ 106 h 143"/>
                  <a:gd name="T12" fmla="*/ 0 w 142"/>
                  <a:gd name="T13" fmla="*/ 71 h 143"/>
                  <a:gd name="T14" fmla="*/ 10 w 142"/>
                  <a:gd name="T15" fmla="*/ 36 h 143"/>
                  <a:gd name="T16" fmla="*/ 35 w 142"/>
                  <a:gd name="T17" fmla="*/ 10 h 143"/>
                  <a:gd name="T18" fmla="*/ 71 w 142"/>
                  <a:gd name="T19" fmla="*/ 0 h 143"/>
                  <a:gd name="T20" fmla="*/ 106 w 142"/>
                  <a:gd name="T21" fmla="*/ 10 h 143"/>
                  <a:gd name="T22" fmla="*/ 132 w 142"/>
                  <a:gd name="T23" fmla="*/ 36 h 143"/>
                  <a:gd name="T24" fmla="*/ 141 w 142"/>
                  <a:gd name="T25" fmla="*/ 7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3">
                    <a:moveTo>
                      <a:pt x="141" y="71"/>
                    </a:moveTo>
                    <a:cubicBezTo>
                      <a:pt x="141" y="84"/>
                      <a:pt x="138" y="94"/>
                      <a:pt x="132" y="106"/>
                    </a:cubicBezTo>
                    <a:cubicBezTo>
                      <a:pt x="125" y="117"/>
                      <a:pt x="117" y="125"/>
                      <a:pt x="106" y="132"/>
                    </a:cubicBezTo>
                    <a:cubicBezTo>
                      <a:pt x="95" y="138"/>
                      <a:pt x="84" y="142"/>
                      <a:pt x="71" y="142"/>
                    </a:cubicBezTo>
                    <a:cubicBezTo>
                      <a:pt x="58" y="142"/>
                      <a:pt x="46" y="138"/>
                      <a:pt x="35" y="132"/>
                    </a:cubicBezTo>
                    <a:cubicBezTo>
                      <a:pt x="23" y="125"/>
                      <a:pt x="16" y="117"/>
                      <a:pt x="10" y="106"/>
                    </a:cubicBezTo>
                    <a:cubicBezTo>
                      <a:pt x="3" y="94"/>
                      <a:pt x="0" y="84"/>
                      <a:pt x="0" y="71"/>
                    </a:cubicBezTo>
                    <a:cubicBezTo>
                      <a:pt x="0" y="58"/>
                      <a:pt x="3" y="47"/>
                      <a:pt x="10" y="36"/>
                    </a:cubicBezTo>
                    <a:cubicBezTo>
                      <a:pt x="16" y="24"/>
                      <a:pt x="23" y="16"/>
                      <a:pt x="35" y="10"/>
                    </a:cubicBezTo>
                    <a:cubicBezTo>
                      <a:pt x="46" y="3"/>
                      <a:pt x="58" y="0"/>
                      <a:pt x="71" y="0"/>
                    </a:cubicBezTo>
                    <a:cubicBezTo>
                      <a:pt x="84" y="0"/>
                      <a:pt x="95" y="3"/>
                      <a:pt x="106" y="10"/>
                    </a:cubicBezTo>
                    <a:cubicBezTo>
                      <a:pt x="117" y="16"/>
                      <a:pt x="125" y="24"/>
                      <a:pt x="132" y="36"/>
                    </a:cubicBezTo>
                    <a:cubicBezTo>
                      <a:pt x="138" y="47"/>
                      <a:pt x="141" y="58"/>
                      <a:pt x="141" y="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24" name="Freeform 367">
                <a:extLst>
                  <a:ext uri="{FF2B5EF4-FFF2-40B4-BE49-F238E27FC236}">
                    <a16:creationId xmlns:a16="http://schemas.microsoft.com/office/drawing/2014/main" id="{337CA95E-1FA0-6EA6-CE90-1E7479EA9FC1}"/>
                  </a:ext>
                </a:extLst>
              </p:cNvPr>
              <p:cNvSpPr>
                <a:spLocks noChangeArrowheads="1"/>
              </p:cNvSpPr>
              <p:nvPr/>
            </p:nvSpPr>
            <p:spPr bwMode="auto">
              <a:xfrm>
                <a:off x="1013658" y="2758050"/>
                <a:ext cx="63522" cy="63522"/>
              </a:xfrm>
              <a:custGeom>
                <a:avLst/>
                <a:gdLst>
                  <a:gd name="T0" fmla="*/ 141 w 142"/>
                  <a:gd name="T1" fmla="*/ 71 h 143"/>
                  <a:gd name="T2" fmla="*/ 132 w 142"/>
                  <a:gd name="T3" fmla="*/ 106 h 143"/>
                  <a:gd name="T4" fmla="*/ 106 w 142"/>
                  <a:gd name="T5" fmla="*/ 132 h 143"/>
                  <a:gd name="T6" fmla="*/ 70 w 142"/>
                  <a:gd name="T7" fmla="*/ 142 h 143"/>
                  <a:gd name="T8" fmla="*/ 35 w 142"/>
                  <a:gd name="T9" fmla="*/ 132 h 143"/>
                  <a:gd name="T10" fmla="*/ 9 w 142"/>
                  <a:gd name="T11" fmla="*/ 106 h 143"/>
                  <a:gd name="T12" fmla="*/ 0 w 142"/>
                  <a:gd name="T13" fmla="*/ 71 h 143"/>
                  <a:gd name="T14" fmla="*/ 9 w 142"/>
                  <a:gd name="T15" fmla="*/ 36 h 143"/>
                  <a:gd name="T16" fmla="*/ 35 w 142"/>
                  <a:gd name="T17" fmla="*/ 10 h 143"/>
                  <a:gd name="T18" fmla="*/ 70 w 142"/>
                  <a:gd name="T19" fmla="*/ 0 h 143"/>
                  <a:gd name="T20" fmla="*/ 106 w 142"/>
                  <a:gd name="T21" fmla="*/ 10 h 143"/>
                  <a:gd name="T22" fmla="*/ 132 w 142"/>
                  <a:gd name="T23" fmla="*/ 36 h 143"/>
                  <a:gd name="T24" fmla="*/ 141 w 142"/>
                  <a:gd name="T25" fmla="*/ 7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3">
                    <a:moveTo>
                      <a:pt x="141" y="71"/>
                    </a:moveTo>
                    <a:cubicBezTo>
                      <a:pt x="141" y="84"/>
                      <a:pt x="138" y="94"/>
                      <a:pt x="132" y="106"/>
                    </a:cubicBezTo>
                    <a:cubicBezTo>
                      <a:pt x="125" y="117"/>
                      <a:pt x="117" y="125"/>
                      <a:pt x="106" y="132"/>
                    </a:cubicBezTo>
                    <a:cubicBezTo>
                      <a:pt x="94" y="138"/>
                      <a:pt x="83" y="142"/>
                      <a:pt x="70" y="142"/>
                    </a:cubicBezTo>
                    <a:cubicBezTo>
                      <a:pt x="57" y="142"/>
                      <a:pt x="46" y="138"/>
                      <a:pt x="35" y="132"/>
                    </a:cubicBezTo>
                    <a:cubicBezTo>
                      <a:pt x="24" y="125"/>
                      <a:pt x="15" y="117"/>
                      <a:pt x="9" y="106"/>
                    </a:cubicBezTo>
                    <a:cubicBezTo>
                      <a:pt x="2" y="94"/>
                      <a:pt x="0" y="84"/>
                      <a:pt x="0" y="71"/>
                    </a:cubicBezTo>
                    <a:cubicBezTo>
                      <a:pt x="0" y="58"/>
                      <a:pt x="2" y="47"/>
                      <a:pt x="9" y="36"/>
                    </a:cubicBezTo>
                    <a:cubicBezTo>
                      <a:pt x="15" y="24"/>
                      <a:pt x="24" y="16"/>
                      <a:pt x="35" y="10"/>
                    </a:cubicBezTo>
                    <a:cubicBezTo>
                      <a:pt x="46" y="3"/>
                      <a:pt x="57" y="0"/>
                      <a:pt x="70" y="0"/>
                    </a:cubicBezTo>
                    <a:cubicBezTo>
                      <a:pt x="83" y="0"/>
                      <a:pt x="94" y="3"/>
                      <a:pt x="106" y="10"/>
                    </a:cubicBezTo>
                    <a:cubicBezTo>
                      <a:pt x="117" y="16"/>
                      <a:pt x="125" y="24"/>
                      <a:pt x="132" y="36"/>
                    </a:cubicBezTo>
                    <a:cubicBezTo>
                      <a:pt x="138" y="47"/>
                      <a:pt x="141" y="58"/>
                      <a:pt x="141" y="7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25" name="Freeform 368">
                <a:extLst>
                  <a:ext uri="{FF2B5EF4-FFF2-40B4-BE49-F238E27FC236}">
                    <a16:creationId xmlns:a16="http://schemas.microsoft.com/office/drawing/2014/main" id="{E9655A32-0C75-40D6-633E-70DF8CF73A02}"/>
                  </a:ext>
                </a:extLst>
              </p:cNvPr>
              <p:cNvSpPr>
                <a:spLocks noChangeArrowheads="1"/>
              </p:cNvSpPr>
              <p:nvPr/>
            </p:nvSpPr>
            <p:spPr bwMode="auto">
              <a:xfrm>
                <a:off x="1299506" y="2662767"/>
                <a:ext cx="63522" cy="63522"/>
              </a:xfrm>
              <a:custGeom>
                <a:avLst/>
                <a:gdLst>
                  <a:gd name="T0" fmla="*/ 141 w 142"/>
                  <a:gd name="T1" fmla="*/ 70 h 142"/>
                  <a:gd name="T2" fmla="*/ 132 w 142"/>
                  <a:gd name="T3" fmla="*/ 106 h 142"/>
                  <a:gd name="T4" fmla="*/ 106 w 142"/>
                  <a:gd name="T5" fmla="*/ 132 h 142"/>
                  <a:gd name="T6" fmla="*/ 70 w 142"/>
                  <a:gd name="T7" fmla="*/ 141 h 142"/>
                  <a:gd name="T8" fmla="*/ 35 w 142"/>
                  <a:gd name="T9" fmla="*/ 132 h 142"/>
                  <a:gd name="T10" fmla="*/ 9 w 142"/>
                  <a:gd name="T11" fmla="*/ 106 h 142"/>
                  <a:gd name="T12" fmla="*/ 0 w 142"/>
                  <a:gd name="T13" fmla="*/ 70 h 142"/>
                  <a:gd name="T14" fmla="*/ 9 w 142"/>
                  <a:gd name="T15" fmla="*/ 35 h 142"/>
                  <a:gd name="T16" fmla="*/ 35 w 142"/>
                  <a:gd name="T17" fmla="*/ 9 h 142"/>
                  <a:gd name="T18" fmla="*/ 70 w 142"/>
                  <a:gd name="T19" fmla="*/ 0 h 142"/>
                  <a:gd name="T20" fmla="*/ 106 w 142"/>
                  <a:gd name="T21" fmla="*/ 9 h 142"/>
                  <a:gd name="T22" fmla="*/ 132 w 142"/>
                  <a:gd name="T23" fmla="*/ 35 h 142"/>
                  <a:gd name="T24" fmla="*/ 141 w 142"/>
                  <a:gd name="T25"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2">
                    <a:moveTo>
                      <a:pt x="141" y="70"/>
                    </a:moveTo>
                    <a:cubicBezTo>
                      <a:pt x="141" y="83"/>
                      <a:pt x="138" y="94"/>
                      <a:pt x="132" y="106"/>
                    </a:cubicBezTo>
                    <a:cubicBezTo>
                      <a:pt x="125" y="117"/>
                      <a:pt x="117" y="125"/>
                      <a:pt x="106" y="132"/>
                    </a:cubicBezTo>
                    <a:cubicBezTo>
                      <a:pt x="94" y="138"/>
                      <a:pt x="83" y="141"/>
                      <a:pt x="70" y="141"/>
                    </a:cubicBezTo>
                    <a:cubicBezTo>
                      <a:pt x="57" y="141"/>
                      <a:pt x="46" y="138"/>
                      <a:pt x="35" y="132"/>
                    </a:cubicBezTo>
                    <a:cubicBezTo>
                      <a:pt x="24" y="125"/>
                      <a:pt x="15" y="117"/>
                      <a:pt x="9" y="106"/>
                    </a:cubicBezTo>
                    <a:cubicBezTo>
                      <a:pt x="2" y="94"/>
                      <a:pt x="0" y="83"/>
                      <a:pt x="0" y="70"/>
                    </a:cubicBezTo>
                    <a:cubicBezTo>
                      <a:pt x="0" y="57"/>
                      <a:pt x="2" y="46"/>
                      <a:pt x="9" y="35"/>
                    </a:cubicBezTo>
                    <a:cubicBezTo>
                      <a:pt x="15" y="24"/>
                      <a:pt x="24" y="15"/>
                      <a:pt x="35" y="9"/>
                    </a:cubicBezTo>
                    <a:cubicBezTo>
                      <a:pt x="46" y="2"/>
                      <a:pt x="57" y="0"/>
                      <a:pt x="70" y="0"/>
                    </a:cubicBezTo>
                    <a:cubicBezTo>
                      <a:pt x="83" y="0"/>
                      <a:pt x="94" y="2"/>
                      <a:pt x="106" y="9"/>
                    </a:cubicBezTo>
                    <a:cubicBezTo>
                      <a:pt x="117" y="15"/>
                      <a:pt x="125" y="24"/>
                      <a:pt x="132" y="35"/>
                    </a:cubicBezTo>
                    <a:cubicBezTo>
                      <a:pt x="138" y="46"/>
                      <a:pt x="141" y="57"/>
                      <a:pt x="141" y="7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26" name="Freeform 369">
                <a:extLst>
                  <a:ext uri="{FF2B5EF4-FFF2-40B4-BE49-F238E27FC236}">
                    <a16:creationId xmlns:a16="http://schemas.microsoft.com/office/drawing/2014/main" id="{8DBDF16A-09AA-C0E4-BCE6-E9C6123F42C0}"/>
                  </a:ext>
                </a:extLst>
              </p:cNvPr>
              <p:cNvSpPr>
                <a:spLocks noChangeArrowheads="1"/>
              </p:cNvSpPr>
              <p:nvPr/>
            </p:nvSpPr>
            <p:spPr bwMode="auto">
              <a:xfrm>
                <a:off x="918375" y="2662767"/>
                <a:ext cx="63522" cy="63522"/>
              </a:xfrm>
              <a:custGeom>
                <a:avLst/>
                <a:gdLst>
                  <a:gd name="T0" fmla="*/ 141 w 142"/>
                  <a:gd name="T1" fmla="*/ 70 h 142"/>
                  <a:gd name="T2" fmla="*/ 132 w 142"/>
                  <a:gd name="T3" fmla="*/ 106 h 142"/>
                  <a:gd name="T4" fmla="*/ 106 w 142"/>
                  <a:gd name="T5" fmla="*/ 132 h 142"/>
                  <a:gd name="T6" fmla="*/ 71 w 142"/>
                  <a:gd name="T7" fmla="*/ 141 h 142"/>
                  <a:gd name="T8" fmla="*/ 35 w 142"/>
                  <a:gd name="T9" fmla="*/ 132 h 142"/>
                  <a:gd name="T10" fmla="*/ 10 w 142"/>
                  <a:gd name="T11" fmla="*/ 106 h 142"/>
                  <a:gd name="T12" fmla="*/ 0 w 142"/>
                  <a:gd name="T13" fmla="*/ 70 h 142"/>
                  <a:gd name="T14" fmla="*/ 10 w 142"/>
                  <a:gd name="T15" fmla="*/ 35 h 142"/>
                  <a:gd name="T16" fmla="*/ 35 w 142"/>
                  <a:gd name="T17" fmla="*/ 9 h 142"/>
                  <a:gd name="T18" fmla="*/ 71 w 142"/>
                  <a:gd name="T19" fmla="*/ 0 h 142"/>
                  <a:gd name="T20" fmla="*/ 106 w 142"/>
                  <a:gd name="T21" fmla="*/ 9 h 142"/>
                  <a:gd name="T22" fmla="*/ 132 w 142"/>
                  <a:gd name="T23" fmla="*/ 35 h 142"/>
                  <a:gd name="T24" fmla="*/ 141 w 142"/>
                  <a:gd name="T25"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2">
                    <a:moveTo>
                      <a:pt x="141" y="70"/>
                    </a:moveTo>
                    <a:cubicBezTo>
                      <a:pt x="141" y="83"/>
                      <a:pt x="138" y="94"/>
                      <a:pt x="132" y="106"/>
                    </a:cubicBezTo>
                    <a:cubicBezTo>
                      <a:pt x="125" y="117"/>
                      <a:pt x="117" y="125"/>
                      <a:pt x="106" y="132"/>
                    </a:cubicBezTo>
                    <a:cubicBezTo>
                      <a:pt x="95" y="138"/>
                      <a:pt x="84" y="141"/>
                      <a:pt x="71" y="141"/>
                    </a:cubicBezTo>
                    <a:cubicBezTo>
                      <a:pt x="58" y="141"/>
                      <a:pt x="46" y="138"/>
                      <a:pt x="35" y="132"/>
                    </a:cubicBezTo>
                    <a:cubicBezTo>
                      <a:pt x="23" y="125"/>
                      <a:pt x="16" y="117"/>
                      <a:pt x="10" y="106"/>
                    </a:cubicBezTo>
                    <a:cubicBezTo>
                      <a:pt x="3" y="94"/>
                      <a:pt x="0" y="83"/>
                      <a:pt x="0" y="70"/>
                    </a:cubicBezTo>
                    <a:cubicBezTo>
                      <a:pt x="0" y="57"/>
                      <a:pt x="3" y="46"/>
                      <a:pt x="10" y="35"/>
                    </a:cubicBezTo>
                    <a:cubicBezTo>
                      <a:pt x="16" y="24"/>
                      <a:pt x="23" y="15"/>
                      <a:pt x="35" y="9"/>
                    </a:cubicBezTo>
                    <a:cubicBezTo>
                      <a:pt x="46" y="2"/>
                      <a:pt x="58" y="0"/>
                      <a:pt x="71" y="0"/>
                    </a:cubicBezTo>
                    <a:cubicBezTo>
                      <a:pt x="84" y="0"/>
                      <a:pt x="95" y="2"/>
                      <a:pt x="106" y="9"/>
                    </a:cubicBezTo>
                    <a:cubicBezTo>
                      <a:pt x="117" y="15"/>
                      <a:pt x="125" y="24"/>
                      <a:pt x="132" y="35"/>
                    </a:cubicBezTo>
                    <a:cubicBezTo>
                      <a:pt x="138" y="46"/>
                      <a:pt x="141" y="57"/>
                      <a:pt x="141" y="7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grpSp>
      <p:cxnSp>
        <p:nvCxnSpPr>
          <p:cNvPr id="95" name="Straight Connector 94">
            <a:extLst>
              <a:ext uri="{FF2B5EF4-FFF2-40B4-BE49-F238E27FC236}">
                <a16:creationId xmlns:a16="http://schemas.microsoft.com/office/drawing/2014/main" id="{6F11A604-1A72-7E95-4199-36D3E148A60E}"/>
              </a:ext>
            </a:extLst>
          </p:cNvPr>
          <p:cNvCxnSpPr>
            <a:cxnSpLocks/>
          </p:cNvCxnSpPr>
          <p:nvPr/>
        </p:nvCxnSpPr>
        <p:spPr>
          <a:xfrm>
            <a:off x="20334776" y="3986538"/>
            <a:ext cx="192545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B60D311E-BC51-A0EA-3A13-762A05494FBF}"/>
              </a:ext>
            </a:extLst>
          </p:cNvPr>
          <p:cNvSpPr txBox="1"/>
          <p:nvPr/>
        </p:nvSpPr>
        <p:spPr>
          <a:xfrm>
            <a:off x="20256119" y="3529720"/>
            <a:ext cx="2146666" cy="430887"/>
          </a:xfrm>
          <a:prstGeom prst="rect">
            <a:avLst/>
          </a:prstGeom>
          <a:noFill/>
        </p:spPr>
        <p:txBody>
          <a:bodyPr wrap="square" rtlCol="0">
            <a:spAutoFit/>
          </a:bodyPr>
          <a:lstStyle/>
          <a:p>
            <a:pPr>
              <a:defRPr/>
            </a:pPr>
            <a:r>
              <a:rPr lang="en-GB" sz="2200">
                <a:latin typeface="+mj-lt"/>
              </a:rPr>
              <a:t>Dependencies</a:t>
            </a:r>
          </a:p>
        </p:txBody>
      </p:sp>
      <p:sp>
        <p:nvSpPr>
          <p:cNvPr id="97" name="TextBox 96">
            <a:extLst>
              <a:ext uri="{FF2B5EF4-FFF2-40B4-BE49-F238E27FC236}">
                <a16:creationId xmlns:a16="http://schemas.microsoft.com/office/drawing/2014/main" id="{C2BA2D37-CE38-CB69-21D2-DD2EC28DF6C8}"/>
              </a:ext>
            </a:extLst>
          </p:cNvPr>
          <p:cNvSpPr txBox="1"/>
          <p:nvPr/>
        </p:nvSpPr>
        <p:spPr>
          <a:xfrm>
            <a:off x="21349843" y="4037170"/>
            <a:ext cx="2146666" cy="430887"/>
          </a:xfrm>
          <a:prstGeom prst="rect">
            <a:avLst/>
          </a:prstGeom>
          <a:noFill/>
        </p:spPr>
        <p:txBody>
          <a:bodyPr wrap="square" rtlCol="0">
            <a:spAutoFit/>
          </a:bodyPr>
          <a:lstStyle/>
          <a:p>
            <a:pPr>
              <a:defRPr/>
            </a:pPr>
            <a:r>
              <a:rPr lang="en-GB" sz="2200">
                <a:latin typeface="+mj-lt"/>
              </a:rPr>
              <a:t>5 Interfaces </a:t>
            </a:r>
          </a:p>
        </p:txBody>
      </p:sp>
      <p:sp>
        <p:nvSpPr>
          <p:cNvPr id="128" name="TextBox 127">
            <a:extLst>
              <a:ext uri="{FF2B5EF4-FFF2-40B4-BE49-F238E27FC236}">
                <a16:creationId xmlns:a16="http://schemas.microsoft.com/office/drawing/2014/main" id="{781558D5-04D2-00AC-2EE8-B10DBC275D65}"/>
              </a:ext>
            </a:extLst>
          </p:cNvPr>
          <p:cNvSpPr txBox="1"/>
          <p:nvPr/>
        </p:nvSpPr>
        <p:spPr>
          <a:xfrm>
            <a:off x="20250777" y="5361067"/>
            <a:ext cx="2146666" cy="430887"/>
          </a:xfrm>
          <a:prstGeom prst="rect">
            <a:avLst/>
          </a:prstGeom>
          <a:noFill/>
        </p:spPr>
        <p:txBody>
          <a:bodyPr wrap="square" rtlCol="0">
            <a:spAutoFit/>
          </a:bodyPr>
          <a:lstStyle/>
          <a:p>
            <a:pPr>
              <a:defRPr/>
            </a:pPr>
            <a:r>
              <a:rPr lang="en-GB" sz="2200">
                <a:latin typeface="+mj-lt"/>
              </a:rPr>
              <a:t>Databases</a:t>
            </a:r>
          </a:p>
        </p:txBody>
      </p:sp>
      <p:cxnSp>
        <p:nvCxnSpPr>
          <p:cNvPr id="129" name="Straight Connector 128">
            <a:extLst>
              <a:ext uri="{FF2B5EF4-FFF2-40B4-BE49-F238E27FC236}">
                <a16:creationId xmlns:a16="http://schemas.microsoft.com/office/drawing/2014/main" id="{5875699F-F55C-711B-3746-F46D072051F9}"/>
              </a:ext>
            </a:extLst>
          </p:cNvPr>
          <p:cNvCxnSpPr>
            <a:cxnSpLocks/>
          </p:cNvCxnSpPr>
          <p:nvPr/>
        </p:nvCxnSpPr>
        <p:spPr>
          <a:xfrm>
            <a:off x="20352023" y="5817884"/>
            <a:ext cx="138709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TextBox 129">
            <a:extLst>
              <a:ext uri="{FF2B5EF4-FFF2-40B4-BE49-F238E27FC236}">
                <a16:creationId xmlns:a16="http://schemas.microsoft.com/office/drawing/2014/main" id="{3167E7C7-6ED5-4D87-86A1-2FFB3C7B556B}"/>
              </a:ext>
            </a:extLst>
          </p:cNvPr>
          <p:cNvSpPr txBox="1"/>
          <p:nvPr/>
        </p:nvSpPr>
        <p:spPr>
          <a:xfrm>
            <a:off x="21344500" y="5868516"/>
            <a:ext cx="3039500" cy="430887"/>
          </a:xfrm>
          <a:prstGeom prst="rect">
            <a:avLst/>
          </a:prstGeom>
          <a:noFill/>
        </p:spPr>
        <p:txBody>
          <a:bodyPr wrap="square" rtlCol="0">
            <a:spAutoFit/>
          </a:bodyPr>
          <a:lstStyle/>
          <a:p>
            <a:pPr>
              <a:defRPr/>
            </a:pPr>
            <a:r>
              <a:rPr lang="en-GB" sz="2200">
                <a:latin typeface="+mj-lt"/>
              </a:rPr>
              <a:t>7 Database Engines</a:t>
            </a:r>
          </a:p>
        </p:txBody>
      </p:sp>
      <p:grpSp>
        <p:nvGrpSpPr>
          <p:cNvPr id="131" name="Group 130">
            <a:extLst>
              <a:ext uri="{FF2B5EF4-FFF2-40B4-BE49-F238E27FC236}">
                <a16:creationId xmlns:a16="http://schemas.microsoft.com/office/drawing/2014/main" id="{6B1BDA92-BA32-79EA-60FC-80815326A590}"/>
              </a:ext>
            </a:extLst>
          </p:cNvPr>
          <p:cNvGrpSpPr/>
          <p:nvPr/>
        </p:nvGrpSpPr>
        <p:grpSpPr>
          <a:xfrm>
            <a:off x="19253667" y="5466019"/>
            <a:ext cx="1097902" cy="1097902"/>
            <a:chOff x="8673994" y="2156578"/>
            <a:chExt cx="788067" cy="788067"/>
          </a:xfrm>
        </p:grpSpPr>
        <p:sp>
          <p:nvSpPr>
            <p:cNvPr id="132" name="Freeform 87">
              <a:extLst>
                <a:ext uri="{FF2B5EF4-FFF2-40B4-BE49-F238E27FC236}">
                  <a16:creationId xmlns:a16="http://schemas.microsoft.com/office/drawing/2014/main" id="{CE9716AC-CA03-72E0-378B-2B66EF10F2C1}"/>
                </a:ext>
              </a:extLst>
            </p:cNvPr>
            <p:cNvSpPr>
              <a:spLocks noChangeArrowheads="1"/>
            </p:cNvSpPr>
            <p:nvPr/>
          </p:nvSpPr>
          <p:spPr bwMode="auto">
            <a:xfrm>
              <a:off x="8673994" y="2156578"/>
              <a:ext cx="788067" cy="788067"/>
            </a:xfrm>
            <a:custGeom>
              <a:avLst/>
              <a:gdLst>
                <a:gd name="T0" fmla="*/ 283 w 1751"/>
                <a:gd name="T1" fmla="*/ 1750 h 1751"/>
                <a:gd name="T2" fmla="*/ 0 w 1751"/>
                <a:gd name="T3" fmla="*/ 1468 h 1751"/>
                <a:gd name="T4" fmla="*/ 0 w 1751"/>
                <a:gd name="T5" fmla="*/ 282 h 1751"/>
                <a:gd name="T6" fmla="*/ 283 w 1751"/>
                <a:gd name="T7" fmla="*/ 0 h 1751"/>
                <a:gd name="T8" fmla="*/ 1468 w 1751"/>
                <a:gd name="T9" fmla="*/ 0 h 1751"/>
                <a:gd name="T10" fmla="*/ 1750 w 1751"/>
                <a:gd name="T11" fmla="*/ 282 h 1751"/>
                <a:gd name="T12" fmla="*/ 1750 w 1751"/>
                <a:gd name="T13" fmla="*/ 1468 h 1751"/>
                <a:gd name="T14" fmla="*/ 1468 w 1751"/>
                <a:gd name="T15" fmla="*/ 1750 h 1751"/>
                <a:gd name="T16" fmla="*/ 283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3" y="1750"/>
                  </a:moveTo>
                  <a:cubicBezTo>
                    <a:pt x="127" y="1750"/>
                    <a:pt x="0" y="1623"/>
                    <a:pt x="0" y="1468"/>
                  </a:cubicBezTo>
                  <a:cubicBezTo>
                    <a:pt x="0" y="1072"/>
                    <a:pt x="0" y="677"/>
                    <a:pt x="0" y="282"/>
                  </a:cubicBezTo>
                  <a:cubicBezTo>
                    <a:pt x="0" y="127"/>
                    <a:pt x="127" y="0"/>
                    <a:pt x="283" y="0"/>
                  </a:cubicBezTo>
                  <a:cubicBezTo>
                    <a:pt x="678" y="0"/>
                    <a:pt x="1073" y="0"/>
                    <a:pt x="1468" y="0"/>
                  </a:cubicBezTo>
                  <a:cubicBezTo>
                    <a:pt x="1623" y="0"/>
                    <a:pt x="1750" y="127"/>
                    <a:pt x="1750" y="282"/>
                  </a:cubicBezTo>
                  <a:cubicBezTo>
                    <a:pt x="1750" y="677"/>
                    <a:pt x="1750" y="1072"/>
                    <a:pt x="1750" y="1468"/>
                  </a:cubicBezTo>
                  <a:cubicBezTo>
                    <a:pt x="1750" y="1623"/>
                    <a:pt x="1623" y="1750"/>
                    <a:pt x="1468" y="1750"/>
                  </a:cubicBezTo>
                  <a:cubicBezTo>
                    <a:pt x="1073" y="1750"/>
                    <a:pt x="678" y="1750"/>
                    <a:pt x="283"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133" name="Group 132">
              <a:extLst>
                <a:ext uri="{FF2B5EF4-FFF2-40B4-BE49-F238E27FC236}">
                  <a16:creationId xmlns:a16="http://schemas.microsoft.com/office/drawing/2014/main" id="{1DCAD36B-9ECC-E113-4669-E6243A011FED}"/>
                </a:ext>
              </a:extLst>
            </p:cNvPr>
            <p:cNvGrpSpPr/>
            <p:nvPr/>
          </p:nvGrpSpPr>
          <p:grpSpPr>
            <a:xfrm>
              <a:off x="8866544" y="2345158"/>
              <a:ext cx="402967" cy="412892"/>
              <a:chOff x="8866544" y="2345158"/>
              <a:chExt cx="402967" cy="412892"/>
            </a:xfrm>
          </p:grpSpPr>
          <p:sp>
            <p:nvSpPr>
              <p:cNvPr id="134" name="Freeform 88">
                <a:extLst>
                  <a:ext uri="{FF2B5EF4-FFF2-40B4-BE49-F238E27FC236}">
                    <a16:creationId xmlns:a16="http://schemas.microsoft.com/office/drawing/2014/main" id="{48686406-FDE1-4C61-0110-E914FEFE6156}"/>
                  </a:ext>
                </a:extLst>
              </p:cNvPr>
              <p:cNvSpPr>
                <a:spLocks noChangeArrowheads="1"/>
              </p:cNvSpPr>
              <p:nvPr/>
            </p:nvSpPr>
            <p:spPr bwMode="auto">
              <a:xfrm>
                <a:off x="8866544" y="2400739"/>
                <a:ext cx="402967" cy="55582"/>
              </a:xfrm>
              <a:custGeom>
                <a:avLst/>
                <a:gdLst>
                  <a:gd name="T0" fmla="*/ 0 w 893"/>
                  <a:gd name="T1" fmla="*/ 0 h 125"/>
                  <a:gd name="T2" fmla="*/ 446 w 893"/>
                  <a:gd name="T3" fmla="*/ 124 h 125"/>
                  <a:gd name="T4" fmla="*/ 892 w 893"/>
                  <a:gd name="T5" fmla="*/ 0 h 125"/>
                </a:gdLst>
                <a:ahLst/>
                <a:cxnLst>
                  <a:cxn ang="0">
                    <a:pos x="T0" y="T1"/>
                  </a:cxn>
                  <a:cxn ang="0">
                    <a:pos x="T2" y="T3"/>
                  </a:cxn>
                  <a:cxn ang="0">
                    <a:pos x="T4" y="T5"/>
                  </a:cxn>
                </a:cxnLst>
                <a:rect l="0" t="0" r="r" b="b"/>
                <a:pathLst>
                  <a:path w="893" h="125">
                    <a:moveTo>
                      <a:pt x="0" y="0"/>
                    </a:moveTo>
                    <a:cubicBezTo>
                      <a:pt x="0" y="69"/>
                      <a:pt x="200" y="124"/>
                      <a:pt x="446" y="124"/>
                    </a:cubicBezTo>
                    <a:cubicBezTo>
                      <a:pt x="693" y="124"/>
                      <a:pt x="892" y="69"/>
                      <a:pt x="89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35" name="Freeform 89">
                <a:extLst>
                  <a:ext uri="{FF2B5EF4-FFF2-40B4-BE49-F238E27FC236}">
                    <a16:creationId xmlns:a16="http://schemas.microsoft.com/office/drawing/2014/main" id="{D058E932-E80B-0A17-898B-129E5BE617BB}"/>
                  </a:ext>
                </a:extLst>
              </p:cNvPr>
              <p:cNvSpPr>
                <a:spLocks noChangeArrowheads="1"/>
              </p:cNvSpPr>
              <p:nvPr/>
            </p:nvSpPr>
            <p:spPr bwMode="auto">
              <a:xfrm>
                <a:off x="8866544" y="2499992"/>
                <a:ext cx="402967" cy="55582"/>
              </a:xfrm>
              <a:custGeom>
                <a:avLst/>
                <a:gdLst>
                  <a:gd name="T0" fmla="*/ 0 w 893"/>
                  <a:gd name="T1" fmla="*/ 0 h 125"/>
                  <a:gd name="T2" fmla="*/ 446 w 893"/>
                  <a:gd name="T3" fmla="*/ 124 h 125"/>
                  <a:gd name="T4" fmla="*/ 892 w 893"/>
                  <a:gd name="T5" fmla="*/ 0 h 125"/>
                </a:gdLst>
                <a:ahLst/>
                <a:cxnLst>
                  <a:cxn ang="0">
                    <a:pos x="T0" y="T1"/>
                  </a:cxn>
                  <a:cxn ang="0">
                    <a:pos x="T2" y="T3"/>
                  </a:cxn>
                  <a:cxn ang="0">
                    <a:pos x="T4" y="T5"/>
                  </a:cxn>
                </a:cxnLst>
                <a:rect l="0" t="0" r="r" b="b"/>
                <a:pathLst>
                  <a:path w="893" h="125">
                    <a:moveTo>
                      <a:pt x="0" y="0"/>
                    </a:moveTo>
                    <a:cubicBezTo>
                      <a:pt x="0" y="69"/>
                      <a:pt x="200" y="124"/>
                      <a:pt x="446" y="124"/>
                    </a:cubicBezTo>
                    <a:cubicBezTo>
                      <a:pt x="693" y="124"/>
                      <a:pt x="892" y="69"/>
                      <a:pt x="89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36" name="Freeform 90">
                <a:extLst>
                  <a:ext uri="{FF2B5EF4-FFF2-40B4-BE49-F238E27FC236}">
                    <a16:creationId xmlns:a16="http://schemas.microsoft.com/office/drawing/2014/main" id="{CF47C986-B611-9FC0-C386-364CE9645F5D}"/>
                  </a:ext>
                </a:extLst>
              </p:cNvPr>
              <p:cNvSpPr>
                <a:spLocks noChangeArrowheads="1"/>
              </p:cNvSpPr>
              <p:nvPr/>
            </p:nvSpPr>
            <p:spPr bwMode="auto">
              <a:xfrm>
                <a:off x="8866544" y="2601231"/>
                <a:ext cx="402967" cy="55582"/>
              </a:xfrm>
              <a:custGeom>
                <a:avLst/>
                <a:gdLst>
                  <a:gd name="T0" fmla="*/ 0 w 893"/>
                  <a:gd name="T1" fmla="*/ 0 h 125"/>
                  <a:gd name="T2" fmla="*/ 446 w 893"/>
                  <a:gd name="T3" fmla="*/ 124 h 125"/>
                  <a:gd name="T4" fmla="*/ 892 w 893"/>
                  <a:gd name="T5" fmla="*/ 0 h 125"/>
                </a:gdLst>
                <a:ahLst/>
                <a:cxnLst>
                  <a:cxn ang="0">
                    <a:pos x="T0" y="T1"/>
                  </a:cxn>
                  <a:cxn ang="0">
                    <a:pos x="T2" y="T3"/>
                  </a:cxn>
                  <a:cxn ang="0">
                    <a:pos x="T4" y="T5"/>
                  </a:cxn>
                </a:cxnLst>
                <a:rect l="0" t="0" r="r" b="b"/>
                <a:pathLst>
                  <a:path w="893" h="125">
                    <a:moveTo>
                      <a:pt x="0" y="0"/>
                    </a:moveTo>
                    <a:cubicBezTo>
                      <a:pt x="0" y="69"/>
                      <a:pt x="200" y="124"/>
                      <a:pt x="446" y="124"/>
                    </a:cubicBezTo>
                    <a:cubicBezTo>
                      <a:pt x="693" y="124"/>
                      <a:pt x="892" y="69"/>
                      <a:pt x="89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37" name="Freeform 91">
                <a:extLst>
                  <a:ext uri="{FF2B5EF4-FFF2-40B4-BE49-F238E27FC236}">
                    <a16:creationId xmlns:a16="http://schemas.microsoft.com/office/drawing/2014/main" id="{AC621907-7C37-64EF-25F3-187B0C0C7EAF}"/>
                  </a:ext>
                </a:extLst>
              </p:cNvPr>
              <p:cNvSpPr>
                <a:spLocks noChangeArrowheads="1"/>
              </p:cNvSpPr>
              <p:nvPr/>
            </p:nvSpPr>
            <p:spPr bwMode="auto">
              <a:xfrm>
                <a:off x="8866544" y="2345158"/>
                <a:ext cx="402967" cy="412892"/>
              </a:xfrm>
              <a:custGeom>
                <a:avLst/>
                <a:gdLst>
                  <a:gd name="T0" fmla="*/ 446 w 893"/>
                  <a:gd name="T1" fmla="*/ 0 h 917"/>
                  <a:gd name="T2" fmla="*/ 0 w 893"/>
                  <a:gd name="T3" fmla="*/ 123 h 917"/>
                  <a:gd name="T4" fmla="*/ 0 w 893"/>
                  <a:gd name="T5" fmla="*/ 792 h 917"/>
                  <a:gd name="T6" fmla="*/ 446 w 893"/>
                  <a:gd name="T7" fmla="*/ 916 h 917"/>
                  <a:gd name="T8" fmla="*/ 892 w 893"/>
                  <a:gd name="T9" fmla="*/ 792 h 917"/>
                  <a:gd name="T10" fmla="*/ 892 w 893"/>
                  <a:gd name="T11" fmla="*/ 123 h 917"/>
                  <a:gd name="T12" fmla="*/ 446 w 893"/>
                  <a:gd name="T13" fmla="*/ 0 h 917"/>
                </a:gdLst>
                <a:ahLst/>
                <a:cxnLst>
                  <a:cxn ang="0">
                    <a:pos x="T0" y="T1"/>
                  </a:cxn>
                  <a:cxn ang="0">
                    <a:pos x="T2" y="T3"/>
                  </a:cxn>
                  <a:cxn ang="0">
                    <a:pos x="T4" y="T5"/>
                  </a:cxn>
                  <a:cxn ang="0">
                    <a:pos x="T6" y="T7"/>
                  </a:cxn>
                  <a:cxn ang="0">
                    <a:pos x="T8" y="T9"/>
                  </a:cxn>
                  <a:cxn ang="0">
                    <a:pos x="T10" y="T11"/>
                  </a:cxn>
                  <a:cxn ang="0">
                    <a:pos x="T12" y="T13"/>
                  </a:cxn>
                </a:cxnLst>
                <a:rect l="0" t="0" r="r" b="b"/>
                <a:pathLst>
                  <a:path w="893" h="917">
                    <a:moveTo>
                      <a:pt x="446" y="0"/>
                    </a:moveTo>
                    <a:cubicBezTo>
                      <a:pt x="200" y="0"/>
                      <a:pt x="0" y="55"/>
                      <a:pt x="0" y="123"/>
                    </a:cubicBezTo>
                    <a:cubicBezTo>
                      <a:pt x="0" y="346"/>
                      <a:pt x="0" y="569"/>
                      <a:pt x="0" y="792"/>
                    </a:cubicBezTo>
                    <a:cubicBezTo>
                      <a:pt x="0" y="861"/>
                      <a:pt x="200" y="916"/>
                      <a:pt x="446" y="916"/>
                    </a:cubicBezTo>
                    <a:cubicBezTo>
                      <a:pt x="693" y="916"/>
                      <a:pt x="892" y="861"/>
                      <a:pt x="892" y="792"/>
                    </a:cubicBezTo>
                    <a:cubicBezTo>
                      <a:pt x="892" y="569"/>
                      <a:pt x="892" y="346"/>
                      <a:pt x="892" y="123"/>
                    </a:cubicBezTo>
                    <a:cubicBezTo>
                      <a:pt x="892" y="55"/>
                      <a:pt x="693" y="0"/>
                      <a:pt x="446"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grpSp>
      <p:sp>
        <p:nvSpPr>
          <p:cNvPr id="138" name="TextBox 137">
            <a:extLst>
              <a:ext uri="{FF2B5EF4-FFF2-40B4-BE49-F238E27FC236}">
                <a16:creationId xmlns:a16="http://schemas.microsoft.com/office/drawing/2014/main" id="{1E6E9305-C532-1157-8963-268B95B136AD}"/>
              </a:ext>
            </a:extLst>
          </p:cNvPr>
          <p:cNvSpPr txBox="1"/>
          <p:nvPr/>
        </p:nvSpPr>
        <p:spPr>
          <a:xfrm>
            <a:off x="21352714" y="6254655"/>
            <a:ext cx="3169500" cy="430887"/>
          </a:xfrm>
          <a:prstGeom prst="rect">
            <a:avLst/>
          </a:prstGeom>
          <a:noFill/>
        </p:spPr>
        <p:txBody>
          <a:bodyPr wrap="square" rtlCol="0">
            <a:spAutoFit/>
          </a:bodyPr>
          <a:lstStyle/>
          <a:p>
            <a:pPr>
              <a:defRPr/>
            </a:pPr>
            <a:r>
              <a:rPr lang="en-GB" sz="2200">
                <a:latin typeface="+mj-lt"/>
              </a:rPr>
              <a:t>16 TB total size (Prod)</a:t>
            </a:r>
          </a:p>
        </p:txBody>
      </p:sp>
      <p:grpSp>
        <p:nvGrpSpPr>
          <p:cNvPr id="139" name="Group 138">
            <a:extLst>
              <a:ext uri="{FF2B5EF4-FFF2-40B4-BE49-F238E27FC236}">
                <a16:creationId xmlns:a16="http://schemas.microsoft.com/office/drawing/2014/main" id="{E1D26C54-15AA-007A-9CA6-7FE6D4D9689E}"/>
              </a:ext>
            </a:extLst>
          </p:cNvPr>
          <p:cNvGrpSpPr/>
          <p:nvPr/>
        </p:nvGrpSpPr>
        <p:grpSpPr>
          <a:xfrm>
            <a:off x="19251633" y="7228467"/>
            <a:ext cx="1097902" cy="1097902"/>
            <a:chOff x="745676" y="3804176"/>
            <a:chExt cx="788067" cy="788067"/>
          </a:xfrm>
        </p:grpSpPr>
        <p:sp>
          <p:nvSpPr>
            <p:cNvPr id="140" name="Freeform 210">
              <a:extLst>
                <a:ext uri="{FF2B5EF4-FFF2-40B4-BE49-F238E27FC236}">
                  <a16:creationId xmlns:a16="http://schemas.microsoft.com/office/drawing/2014/main" id="{0038F2B0-E60A-6783-FD33-B76EE6E89021}"/>
                </a:ext>
              </a:extLst>
            </p:cNvPr>
            <p:cNvSpPr>
              <a:spLocks noChangeArrowheads="1"/>
            </p:cNvSpPr>
            <p:nvPr/>
          </p:nvSpPr>
          <p:spPr bwMode="auto">
            <a:xfrm>
              <a:off x="745676" y="3804176"/>
              <a:ext cx="788067" cy="788067"/>
            </a:xfrm>
            <a:custGeom>
              <a:avLst/>
              <a:gdLst>
                <a:gd name="T0" fmla="*/ 282 w 1751"/>
                <a:gd name="T1" fmla="*/ 1750 h 1751"/>
                <a:gd name="T2" fmla="*/ 0 w 1751"/>
                <a:gd name="T3" fmla="*/ 1468 h 1751"/>
                <a:gd name="T4" fmla="*/ 0 w 1751"/>
                <a:gd name="T5" fmla="*/ 282 h 1751"/>
                <a:gd name="T6" fmla="*/ 282 w 1751"/>
                <a:gd name="T7" fmla="*/ 0 h 1751"/>
                <a:gd name="T8" fmla="*/ 1468 w 1751"/>
                <a:gd name="T9" fmla="*/ 0 h 1751"/>
                <a:gd name="T10" fmla="*/ 1750 w 1751"/>
                <a:gd name="T11" fmla="*/ 282 h 1751"/>
                <a:gd name="T12" fmla="*/ 1750 w 1751"/>
                <a:gd name="T13" fmla="*/ 1468 h 1751"/>
                <a:gd name="T14" fmla="*/ 1468 w 1751"/>
                <a:gd name="T15" fmla="*/ 1750 h 1751"/>
                <a:gd name="T16" fmla="*/ 282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2" y="1750"/>
                  </a:moveTo>
                  <a:cubicBezTo>
                    <a:pt x="127" y="1750"/>
                    <a:pt x="0" y="1623"/>
                    <a:pt x="0" y="1468"/>
                  </a:cubicBezTo>
                  <a:cubicBezTo>
                    <a:pt x="0" y="1073"/>
                    <a:pt x="0" y="678"/>
                    <a:pt x="0" y="282"/>
                  </a:cubicBezTo>
                  <a:cubicBezTo>
                    <a:pt x="0" y="127"/>
                    <a:pt x="127" y="0"/>
                    <a:pt x="282" y="0"/>
                  </a:cubicBezTo>
                  <a:cubicBezTo>
                    <a:pt x="677" y="0"/>
                    <a:pt x="1073" y="0"/>
                    <a:pt x="1468" y="0"/>
                  </a:cubicBezTo>
                  <a:cubicBezTo>
                    <a:pt x="1623" y="0"/>
                    <a:pt x="1750" y="127"/>
                    <a:pt x="1750" y="282"/>
                  </a:cubicBezTo>
                  <a:cubicBezTo>
                    <a:pt x="1750" y="678"/>
                    <a:pt x="1750" y="1073"/>
                    <a:pt x="1750" y="1468"/>
                  </a:cubicBezTo>
                  <a:cubicBezTo>
                    <a:pt x="1750" y="1623"/>
                    <a:pt x="1623" y="1750"/>
                    <a:pt x="1468" y="1750"/>
                  </a:cubicBezTo>
                  <a:cubicBezTo>
                    <a:pt x="1073" y="1750"/>
                    <a:pt x="677" y="1750"/>
                    <a:pt x="282"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141" name="Group 140">
              <a:extLst>
                <a:ext uri="{FF2B5EF4-FFF2-40B4-BE49-F238E27FC236}">
                  <a16:creationId xmlns:a16="http://schemas.microsoft.com/office/drawing/2014/main" id="{2AD5D80A-32A3-7D2B-F08B-EC38851C2399}"/>
                </a:ext>
              </a:extLst>
            </p:cNvPr>
            <p:cNvGrpSpPr/>
            <p:nvPr/>
          </p:nvGrpSpPr>
          <p:grpSpPr>
            <a:xfrm>
              <a:off x="886614" y="3945114"/>
              <a:ext cx="508175" cy="508175"/>
              <a:chOff x="886614" y="3945114"/>
              <a:chExt cx="508175" cy="508175"/>
            </a:xfrm>
          </p:grpSpPr>
          <p:sp>
            <p:nvSpPr>
              <p:cNvPr id="142" name="Freeform 211">
                <a:extLst>
                  <a:ext uri="{FF2B5EF4-FFF2-40B4-BE49-F238E27FC236}">
                    <a16:creationId xmlns:a16="http://schemas.microsoft.com/office/drawing/2014/main" id="{DD429E4A-F145-7305-7AB9-99CA543E77BE}"/>
                  </a:ext>
                </a:extLst>
              </p:cNvPr>
              <p:cNvSpPr>
                <a:spLocks noChangeArrowheads="1"/>
              </p:cNvSpPr>
              <p:nvPr/>
            </p:nvSpPr>
            <p:spPr bwMode="auto">
              <a:xfrm>
                <a:off x="1140702" y="4010622"/>
                <a:ext cx="1986" cy="375175"/>
              </a:xfrm>
              <a:custGeom>
                <a:avLst/>
                <a:gdLst>
                  <a:gd name="T0" fmla="*/ 0 w 1"/>
                  <a:gd name="T1" fmla="*/ 0 h 833"/>
                  <a:gd name="T2" fmla="*/ 0 w 1"/>
                  <a:gd name="T3" fmla="*/ 832 h 833"/>
                </a:gdLst>
                <a:ahLst/>
                <a:cxnLst>
                  <a:cxn ang="0">
                    <a:pos x="T0" y="T1"/>
                  </a:cxn>
                  <a:cxn ang="0">
                    <a:pos x="T2" y="T3"/>
                  </a:cxn>
                </a:cxnLst>
                <a:rect l="0" t="0" r="r" b="b"/>
                <a:pathLst>
                  <a:path w="1" h="833">
                    <a:moveTo>
                      <a:pt x="0" y="0"/>
                    </a:moveTo>
                    <a:cubicBezTo>
                      <a:pt x="0" y="278"/>
                      <a:pt x="0" y="555"/>
                      <a:pt x="0" y="83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43" name="Freeform 212">
                <a:extLst>
                  <a:ext uri="{FF2B5EF4-FFF2-40B4-BE49-F238E27FC236}">
                    <a16:creationId xmlns:a16="http://schemas.microsoft.com/office/drawing/2014/main" id="{32FB6499-EA1B-6CD7-822C-473891E9D0E7}"/>
                  </a:ext>
                </a:extLst>
              </p:cNvPr>
              <p:cNvSpPr>
                <a:spLocks noChangeArrowheads="1"/>
              </p:cNvSpPr>
              <p:nvPr/>
            </p:nvSpPr>
            <p:spPr bwMode="auto">
              <a:xfrm>
                <a:off x="952122" y="4197217"/>
                <a:ext cx="375175" cy="1984"/>
              </a:xfrm>
              <a:custGeom>
                <a:avLst/>
                <a:gdLst>
                  <a:gd name="T0" fmla="*/ 0 w 833"/>
                  <a:gd name="T1" fmla="*/ 0 h 1"/>
                  <a:gd name="T2" fmla="*/ 832 w 833"/>
                  <a:gd name="T3" fmla="*/ 0 h 1"/>
                </a:gdLst>
                <a:ahLst/>
                <a:cxnLst>
                  <a:cxn ang="0">
                    <a:pos x="T0" y="T1"/>
                  </a:cxn>
                  <a:cxn ang="0">
                    <a:pos x="T2" y="T3"/>
                  </a:cxn>
                </a:cxnLst>
                <a:rect l="0" t="0" r="r" b="b"/>
                <a:pathLst>
                  <a:path w="833" h="1">
                    <a:moveTo>
                      <a:pt x="0" y="0"/>
                    </a:moveTo>
                    <a:cubicBezTo>
                      <a:pt x="277" y="0"/>
                      <a:pt x="555" y="0"/>
                      <a:pt x="832"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44" name="Freeform 213">
                <a:extLst>
                  <a:ext uri="{FF2B5EF4-FFF2-40B4-BE49-F238E27FC236}">
                    <a16:creationId xmlns:a16="http://schemas.microsoft.com/office/drawing/2014/main" id="{877745D6-325D-62E9-EEF1-C4F0C1622C3F}"/>
                  </a:ext>
                </a:extLst>
              </p:cNvPr>
              <p:cNvSpPr>
                <a:spLocks noChangeArrowheads="1"/>
              </p:cNvSpPr>
              <p:nvPr/>
            </p:nvSpPr>
            <p:spPr bwMode="auto">
              <a:xfrm>
                <a:off x="956092" y="4076128"/>
                <a:ext cx="369221" cy="1986"/>
              </a:xfrm>
              <a:custGeom>
                <a:avLst/>
                <a:gdLst>
                  <a:gd name="T0" fmla="*/ 818 w 819"/>
                  <a:gd name="T1" fmla="*/ 0 h 1"/>
                  <a:gd name="T2" fmla="*/ 0 w 819"/>
                  <a:gd name="T3" fmla="*/ 0 h 1"/>
                </a:gdLst>
                <a:ahLst/>
                <a:cxnLst>
                  <a:cxn ang="0">
                    <a:pos x="T0" y="T1"/>
                  </a:cxn>
                  <a:cxn ang="0">
                    <a:pos x="T2" y="T3"/>
                  </a:cxn>
                </a:cxnLst>
                <a:rect l="0" t="0" r="r" b="b"/>
                <a:pathLst>
                  <a:path w="819" h="1">
                    <a:moveTo>
                      <a:pt x="818" y="0"/>
                    </a:moveTo>
                    <a:cubicBezTo>
                      <a:pt x="545" y="0"/>
                      <a:pt x="273"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45" name="Freeform 214">
                <a:extLst>
                  <a:ext uri="{FF2B5EF4-FFF2-40B4-BE49-F238E27FC236}">
                    <a16:creationId xmlns:a16="http://schemas.microsoft.com/office/drawing/2014/main" id="{57F14931-CA56-F276-0C31-30DC8BA6AB98}"/>
                  </a:ext>
                </a:extLst>
              </p:cNvPr>
              <p:cNvSpPr>
                <a:spLocks noChangeArrowheads="1"/>
              </p:cNvSpPr>
              <p:nvPr/>
            </p:nvSpPr>
            <p:spPr bwMode="auto">
              <a:xfrm>
                <a:off x="956092" y="4320291"/>
                <a:ext cx="369221" cy="1984"/>
              </a:xfrm>
              <a:custGeom>
                <a:avLst/>
                <a:gdLst>
                  <a:gd name="T0" fmla="*/ 0 w 819"/>
                  <a:gd name="T1" fmla="*/ 0 h 1"/>
                  <a:gd name="T2" fmla="*/ 818 w 819"/>
                  <a:gd name="T3" fmla="*/ 0 h 1"/>
                </a:gdLst>
                <a:ahLst/>
                <a:cxnLst>
                  <a:cxn ang="0">
                    <a:pos x="T0" y="T1"/>
                  </a:cxn>
                  <a:cxn ang="0">
                    <a:pos x="T2" y="T3"/>
                  </a:cxn>
                </a:cxnLst>
                <a:rect l="0" t="0" r="r" b="b"/>
                <a:pathLst>
                  <a:path w="819" h="1">
                    <a:moveTo>
                      <a:pt x="0" y="0"/>
                    </a:moveTo>
                    <a:cubicBezTo>
                      <a:pt x="273" y="0"/>
                      <a:pt x="545" y="0"/>
                      <a:pt x="818"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46" name="Freeform 215">
                <a:extLst>
                  <a:ext uri="{FF2B5EF4-FFF2-40B4-BE49-F238E27FC236}">
                    <a16:creationId xmlns:a16="http://schemas.microsoft.com/office/drawing/2014/main" id="{DA719E2F-D00C-B49F-4028-B27A75AD9890}"/>
                  </a:ext>
                </a:extLst>
              </p:cNvPr>
              <p:cNvSpPr>
                <a:spLocks noChangeArrowheads="1"/>
              </p:cNvSpPr>
              <p:nvPr/>
            </p:nvSpPr>
            <p:spPr bwMode="auto">
              <a:xfrm>
                <a:off x="1106956" y="3945114"/>
                <a:ext cx="67492" cy="67492"/>
              </a:xfrm>
              <a:custGeom>
                <a:avLst/>
                <a:gdLst>
                  <a:gd name="T0" fmla="*/ 0 w 149"/>
                  <a:gd name="T1" fmla="*/ 74 h 149"/>
                  <a:gd name="T2" fmla="*/ 74 w 149"/>
                  <a:gd name="T3" fmla="*/ 148 h 149"/>
                  <a:gd name="T4" fmla="*/ 148 w 149"/>
                  <a:gd name="T5" fmla="*/ 74 h 149"/>
                  <a:gd name="T6" fmla="*/ 74 w 149"/>
                  <a:gd name="T7" fmla="*/ 0 h 149"/>
                  <a:gd name="T8" fmla="*/ 0 w 149"/>
                  <a:gd name="T9" fmla="*/ 74 h 149"/>
                </a:gdLst>
                <a:ahLst/>
                <a:cxnLst>
                  <a:cxn ang="0">
                    <a:pos x="T0" y="T1"/>
                  </a:cxn>
                  <a:cxn ang="0">
                    <a:pos x="T2" y="T3"/>
                  </a:cxn>
                  <a:cxn ang="0">
                    <a:pos x="T4" y="T5"/>
                  </a:cxn>
                  <a:cxn ang="0">
                    <a:pos x="T6" y="T7"/>
                  </a:cxn>
                  <a:cxn ang="0">
                    <a:pos x="T8" y="T9"/>
                  </a:cxn>
                </a:cxnLst>
                <a:rect l="0" t="0" r="r" b="b"/>
                <a:pathLst>
                  <a:path w="149" h="149">
                    <a:moveTo>
                      <a:pt x="0" y="74"/>
                    </a:moveTo>
                    <a:cubicBezTo>
                      <a:pt x="0" y="115"/>
                      <a:pt x="33" y="148"/>
                      <a:pt x="74" y="148"/>
                    </a:cubicBezTo>
                    <a:cubicBezTo>
                      <a:pt x="115" y="148"/>
                      <a:pt x="148" y="115"/>
                      <a:pt x="148" y="74"/>
                    </a:cubicBezTo>
                    <a:cubicBezTo>
                      <a:pt x="148" y="33"/>
                      <a:pt x="115" y="0"/>
                      <a:pt x="74" y="0"/>
                    </a:cubicBezTo>
                    <a:cubicBezTo>
                      <a:pt x="33" y="0"/>
                      <a:pt x="0" y="33"/>
                      <a:pt x="0" y="7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47" name="Freeform 216">
                <a:extLst>
                  <a:ext uri="{FF2B5EF4-FFF2-40B4-BE49-F238E27FC236}">
                    <a16:creationId xmlns:a16="http://schemas.microsoft.com/office/drawing/2014/main" id="{DEAC0AC3-12A0-F2B6-D889-955CD0ED4C11}"/>
                  </a:ext>
                </a:extLst>
              </p:cNvPr>
              <p:cNvSpPr>
                <a:spLocks noChangeArrowheads="1"/>
              </p:cNvSpPr>
              <p:nvPr/>
            </p:nvSpPr>
            <p:spPr bwMode="auto">
              <a:xfrm>
                <a:off x="1106956" y="4385797"/>
                <a:ext cx="67492" cy="67492"/>
              </a:xfrm>
              <a:custGeom>
                <a:avLst/>
                <a:gdLst>
                  <a:gd name="T0" fmla="*/ 148 w 149"/>
                  <a:gd name="T1" fmla="*/ 74 h 149"/>
                  <a:gd name="T2" fmla="*/ 74 w 149"/>
                  <a:gd name="T3" fmla="*/ 0 h 149"/>
                  <a:gd name="T4" fmla="*/ 0 w 149"/>
                  <a:gd name="T5" fmla="*/ 74 h 149"/>
                  <a:gd name="T6" fmla="*/ 74 w 149"/>
                  <a:gd name="T7" fmla="*/ 148 h 149"/>
                  <a:gd name="T8" fmla="*/ 148 w 149"/>
                  <a:gd name="T9" fmla="*/ 74 h 149"/>
                </a:gdLst>
                <a:ahLst/>
                <a:cxnLst>
                  <a:cxn ang="0">
                    <a:pos x="T0" y="T1"/>
                  </a:cxn>
                  <a:cxn ang="0">
                    <a:pos x="T2" y="T3"/>
                  </a:cxn>
                  <a:cxn ang="0">
                    <a:pos x="T4" y="T5"/>
                  </a:cxn>
                  <a:cxn ang="0">
                    <a:pos x="T6" y="T7"/>
                  </a:cxn>
                  <a:cxn ang="0">
                    <a:pos x="T8" y="T9"/>
                  </a:cxn>
                </a:cxnLst>
                <a:rect l="0" t="0" r="r" b="b"/>
                <a:pathLst>
                  <a:path w="149" h="149">
                    <a:moveTo>
                      <a:pt x="148" y="74"/>
                    </a:moveTo>
                    <a:cubicBezTo>
                      <a:pt x="148" y="33"/>
                      <a:pt x="115" y="0"/>
                      <a:pt x="74" y="0"/>
                    </a:cubicBezTo>
                    <a:cubicBezTo>
                      <a:pt x="33" y="0"/>
                      <a:pt x="0" y="33"/>
                      <a:pt x="0" y="74"/>
                    </a:cubicBezTo>
                    <a:cubicBezTo>
                      <a:pt x="0" y="115"/>
                      <a:pt x="33" y="148"/>
                      <a:pt x="74" y="148"/>
                    </a:cubicBezTo>
                    <a:cubicBezTo>
                      <a:pt x="115" y="148"/>
                      <a:pt x="148" y="115"/>
                      <a:pt x="148" y="74"/>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48" name="Freeform 217">
                <a:extLst>
                  <a:ext uri="{FF2B5EF4-FFF2-40B4-BE49-F238E27FC236}">
                    <a16:creationId xmlns:a16="http://schemas.microsoft.com/office/drawing/2014/main" id="{47B55DA8-DE74-166C-E067-0D87E39BDE96}"/>
                  </a:ext>
                </a:extLst>
              </p:cNvPr>
              <p:cNvSpPr>
                <a:spLocks noChangeArrowheads="1"/>
              </p:cNvSpPr>
              <p:nvPr/>
            </p:nvSpPr>
            <p:spPr bwMode="auto">
              <a:xfrm>
                <a:off x="1327297" y="4165456"/>
                <a:ext cx="67492" cy="67492"/>
              </a:xfrm>
              <a:custGeom>
                <a:avLst/>
                <a:gdLst>
                  <a:gd name="T0" fmla="*/ 74 w 149"/>
                  <a:gd name="T1" fmla="*/ 0 h 149"/>
                  <a:gd name="T2" fmla="*/ 0 w 149"/>
                  <a:gd name="T3" fmla="*/ 74 h 149"/>
                  <a:gd name="T4" fmla="*/ 74 w 149"/>
                  <a:gd name="T5" fmla="*/ 148 h 149"/>
                  <a:gd name="T6" fmla="*/ 148 w 149"/>
                  <a:gd name="T7" fmla="*/ 74 h 149"/>
                  <a:gd name="T8" fmla="*/ 74 w 149"/>
                  <a:gd name="T9" fmla="*/ 0 h 149"/>
                </a:gdLst>
                <a:ahLst/>
                <a:cxnLst>
                  <a:cxn ang="0">
                    <a:pos x="T0" y="T1"/>
                  </a:cxn>
                  <a:cxn ang="0">
                    <a:pos x="T2" y="T3"/>
                  </a:cxn>
                  <a:cxn ang="0">
                    <a:pos x="T4" y="T5"/>
                  </a:cxn>
                  <a:cxn ang="0">
                    <a:pos x="T6" y="T7"/>
                  </a:cxn>
                  <a:cxn ang="0">
                    <a:pos x="T8" y="T9"/>
                  </a:cxn>
                </a:cxnLst>
                <a:rect l="0" t="0" r="r" b="b"/>
                <a:pathLst>
                  <a:path w="149" h="149">
                    <a:moveTo>
                      <a:pt x="74" y="0"/>
                    </a:moveTo>
                    <a:cubicBezTo>
                      <a:pt x="33" y="0"/>
                      <a:pt x="0" y="33"/>
                      <a:pt x="0" y="74"/>
                    </a:cubicBezTo>
                    <a:cubicBezTo>
                      <a:pt x="0" y="115"/>
                      <a:pt x="33" y="148"/>
                      <a:pt x="74" y="148"/>
                    </a:cubicBezTo>
                    <a:cubicBezTo>
                      <a:pt x="115" y="148"/>
                      <a:pt x="148" y="115"/>
                      <a:pt x="148" y="74"/>
                    </a:cubicBezTo>
                    <a:cubicBezTo>
                      <a:pt x="148" y="33"/>
                      <a:pt x="115" y="0"/>
                      <a:pt x="74"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49" name="Freeform 218">
                <a:extLst>
                  <a:ext uri="{FF2B5EF4-FFF2-40B4-BE49-F238E27FC236}">
                    <a16:creationId xmlns:a16="http://schemas.microsoft.com/office/drawing/2014/main" id="{840000FB-D4DB-B9B9-4F98-8AA701BA3A08}"/>
                  </a:ext>
                </a:extLst>
              </p:cNvPr>
              <p:cNvSpPr>
                <a:spLocks noChangeArrowheads="1"/>
              </p:cNvSpPr>
              <p:nvPr/>
            </p:nvSpPr>
            <p:spPr bwMode="auto">
              <a:xfrm>
                <a:off x="886614" y="4165456"/>
                <a:ext cx="67492" cy="67492"/>
              </a:xfrm>
              <a:custGeom>
                <a:avLst/>
                <a:gdLst>
                  <a:gd name="T0" fmla="*/ 74 w 149"/>
                  <a:gd name="T1" fmla="*/ 148 h 149"/>
                  <a:gd name="T2" fmla="*/ 148 w 149"/>
                  <a:gd name="T3" fmla="*/ 74 h 149"/>
                  <a:gd name="T4" fmla="*/ 74 w 149"/>
                  <a:gd name="T5" fmla="*/ 0 h 149"/>
                  <a:gd name="T6" fmla="*/ 0 w 149"/>
                  <a:gd name="T7" fmla="*/ 74 h 149"/>
                  <a:gd name="T8" fmla="*/ 74 w 149"/>
                  <a:gd name="T9" fmla="*/ 148 h 149"/>
                </a:gdLst>
                <a:ahLst/>
                <a:cxnLst>
                  <a:cxn ang="0">
                    <a:pos x="T0" y="T1"/>
                  </a:cxn>
                  <a:cxn ang="0">
                    <a:pos x="T2" y="T3"/>
                  </a:cxn>
                  <a:cxn ang="0">
                    <a:pos x="T4" y="T5"/>
                  </a:cxn>
                  <a:cxn ang="0">
                    <a:pos x="T6" y="T7"/>
                  </a:cxn>
                  <a:cxn ang="0">
                    <a:pos x="T8" y="T9"/>
                  </a:cxn>
                </a:cxnLst>
                <a:rect l="0" t="0" r="r" b="b"/>
                <a:pathLst>
                  <a:path w="149" h="149">
                    <a:moveTo>
                      <a:pt x="74" y="148"/>
                    </a:moveTo>
                    <a:cubicBezTo>
                      <a:pt x="115" y="148"/>
                      <a:pt x="148" y="115"/>
                      <a:pt x="148" y="74"/>
                    </a:cubicBezTo>
                    <a:cubicBezTo>
                      <a:pt x="148" y="33"/>
                      <a:pt x="115" y="0"/>
                      <a:pt x="74" y="0"/>
                    </a:cubicBezTo>
                    <a:cubicBezTo>
                      <a:pt x="33" y="0"/>
                      <a:pt x="0" y="33"/>
                      <a:pt x="0" y="74"/>
                    </a:cubicBezTo>
                    <a:cubicBezTo>
                      <a:pt x="0" y="115"/>
                      <a:pt x="33" y="148"/>
                      <a:pt x="74" y="148"/>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150" name="Freeform 219">
                <a:extLst>
                  <a:ext uri="{FF2B5EF4-FFF2-40B4-BE49-F238E27FC236}">
                    <a16:creationId xmlns:a16="http://schemas.microsoft.com/office/drawing/2014/main" id="{1BB0C02A-1F01-7398-5E74-61D691819309}"/>
                  </a:ext>
                </a:extLst>
              </p:cNvPr>
              <p:cNvSpPr>
                <a:spLocks noChangeArrowheads="1"/>
              </p:cNvSpPr>
              <p:nvPr/>
            </p:nvSpPr>
            <p:spPr bwMode="auto">
              <a:xfrm>
                <a:off x="1172463" y="3986801"/>
                <a:ext cx="83372" cy="424802"/>
              </a:xfrm>
              <a:custGeom>
                <a:avLst/>
                <a:gdLst>
                  <a:gd name="T0" fmla="*/ 0 w 184"/>
                  <a:gd name="T1" fmla="*/ 941 h 942"/>
                  <a:gd name="T2" fmla="*/ 183 w 184"/>
                  <a:gd name="T3" fmla="*/ 470 h 942"/>
                  <a:gd name="T4" fmla="*/ 0 w 184"/>
                  <a:gd name="T5" fmla="*/ 0 h 942"/>
                </a:gdLst>
                <a:ahLst/>
                <a:cxnLst>
                  <a:cxn ang="0">
                    <a:pos x="T0" y="T1"/>
                  </a:cxn>
                  <a:cxn ang="0">
                    <a:pos x="T2" y="T3"/>
                  </a:cxn>
                  <a:cxn ang="0">
                    <a:pos x="T4" y="T5"/>
                  </a:cxn>
                </a:cxnLst>
                <a:rect l="0" t="0" r="r" b="b"/>
                <a:pathLst>
                  <a:path w="184" h="942">
                    <a:moveTo>
                      <a:pt x="0" y="941"/>
                    </a:moveTo>
                    <a:cubicBezTo>
                      <a:pt x="106" y="881"/>
                      <a:pt x="183" y="693"/>
                      <a:pt x="183" y="470"/>
                    </a:cubicBezTo>
                    <a:cubicBezTo>
                      <a:pt x="183" y="247"/>
                      <a:pt x="106" y="59"/>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51" name="Freeform 220">
                <a:extLst>
                  <a:ext uri="{FF2B5EF4-FFF2-40B4-BE49-F238E27FC236}">
                    <a16:creationId xmlns:a16="http://schemas.microsoft.com/office/drawing/2014/main" id="{0D7EF204-712E-D906-0563-B9A6E732C58D}"/>
                  </a:ext>
                </a:extLst>
              </p:cNvPr>
              <p:cNvSpPr>
                <a:spLocks noChangeArrowheads="1"/>
              </p:cNvSpPr>
              <p:nvPr/>
            </p:nvSpPr>
            <p:spPr bwMode="auto">
              <a:xfrm>
                <a:off x="1025568" y="3986801"/>
                <a:ext cx="83372" cy="424802"/>
              </a:xfrm>
              <a:custGeom>
                <a:avLst/>
                <a:gdLst>
                  <a:gd name="T0" fmla="*/ 183 w 184"/>
                  <a:gd name="T1" fmla="*/ 0 h 942"/>
                  <a:gd name="T2" fmla="*/ 0 w 184"/>
                  <a:gd name="T3" fmla="*/ 470 h 942"/>
                  <a:gd name="T4" fmla="*/ 183 w 184"/>
                  <a:gd name="T5" fmla="*/ 941 h 942"/>
                </a:gdLst>
                <a:ahLst/>
                <a:cxnLst>
                  <a:cxn ang="0">
                    <a:pos x="T0" y="T1"/>
                  </a:cxn>
                  <a:cxn ang="0">
                    <a:pos x="T2" y="T3"/>
                  </a:cxn>
                  <a:cxn ang="0">
                    <a:pos x="T4" y="T5"/>
                  </a:cxn>
                </a:cxnLst>
                <a:rect l="0" t="0" r="r" b="b"/>
                <a:pathLst>
                  <a:path w="184" h="942">
                    <a:moveTo>
                      <a:pt x="183" y="0"/>
                    </a:moveTo>
                    <a:cubicBezTo>
                      <a:pt x="78" y="59"/>
                      <a:pt x="0" y="247"/>
                      <a:pt x="0" y="470"/>
                    </a:cubicBezTo>
                    <a:cubicBezTo>
                      <a:pt x="0" y="693"/>
                      <a:pt x="78" y="881"/>
                      <a:pt x="183" y="94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52" name="Freeform 221">
                <a:extLst>
                  <a:ext uri="{FF2B5EF4-FFF2-40B4-BE49-F238E27FC236}">
                    <a16:creationId xmlns:a16="http://schemas.microsoft.com/office/drawing/2014/main" id="{08CCD6F3-937A-9A2D-E08A-83768E28A406}"/>
                  </a:ext>
                </a:extLst>
              </p:cNvPr>
              <p:cNvSpPr>
                <a:spLocks noChangeArrowheads="1"/>
              </p:cNvSpPr>
              <p:nvPr/>
            </p:nvSpPr>
            <p:spPr bwMode="auto">
              <a:xfrm>
                <a:off x="1174448" y="4230963"/>
                <a:ext cx="184610" cy="184611"/>
              </a:xfrm>
              <a:custGeom>
                <a:avLst/>
                <a:gdLst>
                  <a:gd name="T0" fmla="*/ 0 w 412"/>
                  <a:gd name="T1" fmla="*/ 411 h 412"/>
                  <a:gd name="T2" fmla="*/ 411 w 412"/>
                  <a:gd name="T3" fmla="*/ 0 h 412"/>
                </a:gdLst>
                <a:ahLst/>
                <a:cxnLst>
                  <a:cxn ang="0">
                    <a:pos x="T0" y="T1"/>
                  </a:cxn>
                  <a:cxn ang="0">
                    <a:pos x="T2" y="T3"/>
                  </a:cxn>
                </a:cxnLst>
                <a:rect l="0" t="0" r="r" b="b"/>
                <a:pathLst>
                  <a:path w="412" h="412">
                    <a:moveTo>
                      <a:pt x="0" y="411"/>
                    </a:moveTo>
                    <a:cubicBezTo>
                      <a:pt x="212" y="379"/>
                      <a:pt x="379" y="212"/>
                      <a:pt x="411"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53" name="Freeform 222">
                <a:extLst>
                  <a:ext uri="{FF2B5EF4-FFF2-40B4-BE49-F238E27FC236}">
                    <a16:creationId xmlns:a16="http://schemas.microsoft.com/office/drawing/2014/main" id="{6B046131-059F-C98B-7412-B5289FA5D829}"/>
                  </a:ext>
                </a:extLst>
              </p:cNvPr>
              <p:cNvSpPr>
                <a:spLocks noChangeArrowheads="1"/>
              </p:cNvSpPr>
              <p:nvPr/>
            </p:nvSpPr>
            <p:spPr bwMode="auto">
              <a:xfrm>
                <a:off x="1174448" y="3980845"/>
                <a:ext cx="184610" cy="184611"/>
              </a:xfrm>
              <a:custGeom>
                <a:avLst/>
                <a:gdLst>
                  <a:gd name="T0" fmla="*/ 411 w 412"/>
                  <a:gd name="T1" fmla="*/ 410 h 411"/>
                  <a:gd name="T2" fmla="*/ 0 w 412"/>
                  <a:gd name="T3" fmla="*/ 0 h 411"/>
                </a:gdLst>
                <a:ahLst/>
                <a:cxnLst>
                  <a:cxn ang="0">
                    <a:pos x="T0" y="T1"/>
                  </a:cxn>
                  <a:cxn ang="0">
                    <a:pos x="T2" y="T3"/>
                  </a:cxn>
                </a:cxnLst>
                <a:rect l="0" t="0" r="r" b="b"/>
                <a:pathLst>
                  <a:path w="412" h="411">
                    <a:moveTo>
                      <a:pt x="411" y="410"/>
                    </a:moveTo>
                    <a:cubicBezTo>
                      <a:pt x="379" y="199"/>
                      <a:pt x="212" y="32"/>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54" name="Freeform 223">
                <a:extLst>
                  <a:ext uri="{FF2B5EF4-FFF2-40B4-BE49-F238E27FC236}">
                    <a16:creationId xmlns:a16="http://schemas.microsoft.com/office/drawing/2014/main" id="{149ED841-22DE-999F-BF87-5794246BB04D}"/>
                  </a:ext>
                </a:extLst>
              </p:cNvPr>
              <p:cNvSpPr>
                <a:spLocks noChangeArrowheads="1"/>
              </p:cNvSpPr>
              <p:nvPr/>
            </p:nvSpPr>
            <p:spPr bwMode="auto">
              <a:xfrm>
                <a:off x="922345" y="3980845"/>
                <a:ext cx="184611" cy="184611"/>
              </a:xfrm>
              <a:custGeom>
                <a:avLst/>
                <a:gdLst>
                  <a:gd name="T0" fmla="*/ 411 w 412"/>
                  <a:gd name="T1" fmla="*/ 0 h 411"/>
                  <a:gd name="T2" fmla="*/ 0 w 412"/>
                  <a:gd name="T3" fmla="*/ 410 h 411"/>
                </a:gdLst>
                <a:ahLst/>
                <a:cxnLst>
                  <a:cxn ang="0">
                    <a:pos x="T0" y="T1"/>
                  </a:cxn>
                  <a:cxn ang="0">
                    <a:pos x="T2" y="T3"/>
                  </a:cxn>
                </a:cxnLst>
                <a:rect l="0" t="0" r="r" b="b"/>
                <a:pathLst>
                  <a:path w="412" h="411">
                    <a:moveTo>
                      <a:pt x="411" y="0"/>
                    </a:moveTo>
                    <a:cubicBezTo>
                      <a:pt x="200" y="32"/>
                      <a:pt x="32" y="199"/>
                      <a:pt x="0" y="41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55" name="Freeform 224">
                <a:extLst>
                  <a:ext uri="{FF2B5EF4-FFF2-40B4-BE49-F238E27FC236}">
                    <a16:creationId xmlns:a16="http://schemas.microsoft.com/office/drawing/2014/main" id="{11979882-2011-ED13-83F3-4AD3C008F4AD}"/>
                  </a:ext>
                </a:extLst>
              </p:cNvPr>
              <p:cNvSpPr>
                <a:spLocks noChangeArrowheads="1"/>
              </p:cNvSpPr>
              <p:nvPr/>
            </p:nvSpPr>
            <p:spPr bwMode="auto">
              <a:xfrm>
                <a:off x="922345" y="4230963"/>
                <a:ext cx="184611" cy="184611"/>
              </a:xfrm>
              <a:custGeom>
                <a:avLst/>
                <a:gdLst>
                  <a:gd name="T0" fmla="*/ 0 w 412"/>
                  <a:gd name="T1" fmla="*/ 0 h 412"/>
                  <a:gd name="T2" fmla="*/ 411 w 412"/>
                  <a:gd name="T3" fmla="*/ 411 h 412"/>
                </a:gdLst>
                <a:ahLst/>
                <a:cxnLst>
                  <a:cxn ang="0">
                    <a:pos x="T0" y="T1"/>
                  </a:cxn>
                  <a:cxn ang="0">
                    <a:pos x="T2" y="T3"/>
                  </a:cxn>
                </a:cxnLst>
                <a:rect l="0" t="0" r="r" b="b"/>
                <a:pathLst>
                  <a:path w="412" h="412">
                    <a:moveTo>
                      <a:pt x="0" y="0"/>
                    </a:moveTo>
                    <a:cubicBezTo>
                      <a:pt x="32" y="212"/>
                      <a:pt x="200" y="379"/>
                      <a:pt x="411" y="411"/>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grpSp>
      </p:grpSp>
      <p:sp>
        <p:nvSpPr>
          <p:cNvPr id="156" name="TextBox 155">
            <a:extLst>
              <a:ext uri="{FF2B5EF4-FFF2-40B4-BE49-F238E27FC236}">
                <a16:creationId xmlns:a16="http://schemas.microsoft.com/office/drawing/2014/main" id="{4DC01532-AB5D-FB25-9F43-34D212940B32}"/>
              </a:ext>
            </a:extLst>
          </p:cNvPr>
          <p:cNvSpPr txBox="1"/>
          <p:nvPr/>
        </p:nvSpPr>
        <p:spPr>
          <a:xfrm>
            <a:off x="20265511" y="7147055"/>
            <a:ext cx="2736314" cy="430887"/>
          </a:xfrm>
          <a:prstGeom prst="rect">
            <a:avLst/>
          </a:prstGeom>
          <a:noFill/>
        </p:spPr>
        <p:txBody>
          <a:bodyPr wrap="square" rtlCol="0">
            <a:spAutoFit/>
          </a:bodyPr>
          <a:lstStyle/>
          <a:p>
            <a:pPr>
              <a:defRPr/>
            </a:pPr>
            <a:r>
              <a:rPr lang="en-GB" sz="2200">
                <a:latin typeface="+mj-lt"/>
              </a:rPr>
              <a:t>Business Criticality</a:t>
            </a:r>
          </a:p>
        </p:txBody>
      </p:sp>
      <p:cxnSp>
        <p:nvCxnSpPr>
          <p:cNvPr id="157" name="Straight Connector 156">
            <a:extLst>
              <a:ext uri="{FF2B5EF4-FFF2-40B4-BE49-F238E27FC236}">
                <a16:creationId xmlns:a16="http://schemas.microsoft.com/office/drawing/2014/main" id="{1550305F-F0EB-3EC2-C9F3-D600D977F14F}"/>
              </a:ext>
            </a:extLst>
          </p:cNvPr>
          <p:cNvCxnSpPr>
            <a:cxnSpLocks/>
          </p:cNvCxnSpPr>
          <p:nvPr/>
        </p:nvCxnSpPr>
        <p:spPr>
          <a:xfrm>
            <a:off x="20366757" y="7603872"/>
            <a:ext cx="242441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TextBox 159">
            <a:extLst>
              <a:ext uri="{FF2B5EF4-FFF2-40B4-BE49-F238E27FC236}">
                <a16:creationId xmlns:a16="http://schemas.microsoft.com/office/drawing/2014/main" id="{DB8B6DA7-56FA-E133-EC26-84076ACB6A61}"/>
              </a:ext>
            </a:extLst>
          </p:cNvPr>
          <p:cNvSpPr txBox="1"/>
          <p:nvPr/>
        </p:nvSpPr>
        <p:spPr>
          <a:xfrm>
            <a:off x="21416599" y="7631955"/>
            <a:ext cx="2146666" cy="430887"/>
          </a:xfrm>
          <a:prstGeom prst="rect">
            <a:avLst/>
          </a:prstGeom>
          <a:noFill/>
        </p:spPr>
        <p:txBody>
          <a:bodyPr wrap="square" rtlCol="0">
            <a:spAutoFit/>
          </a:bodyPr>
          <a:lstStyle/>
          <a:p>
            <a:pPr>
              <a:defRPr/>
            </a:pPr>
            <a:r>
              <a:rPr lang="en-GB" sz="2200">
                <a:latin typeface="+mj-lt"/>
              </a:rPr>
              <a:t>Level - High</a:t>
            </a:r>
          </a:p>
        </p:txBody>
      </p:sp>
      <p:grpSp>
        <p:nvGrpSpPr>
          <p:cNvPr id="189" name="Group 188">
            <a:extLst>
              <a:ext uri="{FF2B5EF4-FFF2-40B4-BE49-F238E27FC236}">
                <a16:creationId xmlns:a16="http://schemas.microsoft.com/office/drawing/2014/main" id="{54B5A7F3-321B-3516-2E45-E144AD0D1C10}"/>
              </a:ext>
            </a:extLst>
          </p:cNvPr>
          <p:cNvGrpSpPr>
            <a:grpSpLocks noChangeAspect="1"/>
          </p:cNvGrpSpPr>
          <p:nvPr/>
        </p:nvGrpSpPr>
        <p:grpSpPr>
          <a:xfrm>
            <a:off x="19259110" y="8951706"/>
            <a:ext cx="1097904" cy="1097904"/>
            <a:chOff x="8673994" y="2164519"/>
            <a:chExt cx="788067" cy="788067"/>
          </a:xfrm>
        </p:grpSpPr>
        <p:sp>
          <p:nvSpPr>
            <p:cNvPr id="190" name="Freeform 167">
              <a:extLst>
                <a:ext uri="{FF2B5EF4-FFF2-40B4-BE49-F238E27FC236}">
                  <a16:creationId xmlns:a16="http://schemas.microsoft.com/office/drawing/2014/main" id="{666C02D7-DA96-C499-B143-B7506904BD53}"/>
                </a:ext>
              </a:extLst>
            </p:cNvPr>
            <p:cNvSpPr>
              <a:spLocks noChangeArrowheads="1"/>
            </p:cNvSpPr>
            <p:nvPr/>
          </p:nvSpPr>
          <p:spPr bwMode="auto">
            <a:xfrm>
              <a:off x="8673994" y="2164519"/>
              <a:ext cx="788067" cy="788067"/>
            </a:xfrm>
            <a:custGeom>
              <a:avLst/>
              <a:gdLst>
                <a:gd name="T0" fmla="*/ 283 w 1751"/>
                <a:gd name="T1" fmla="*/ 1750 h 1751"/>
                <a:gd name="T2" fmla="*/ 0 w 1751"/>
                <a:gd name="T3" fmla="*/ 1468 h 1751"/>
                <a:gd name="T4" fmla="*/ 0 w 1751"/>
                <a:gd name="T5" fmla="*/ 282 h 1751"/>
                <a:gd name="T6" fmla="*/ 283 w 1751"/>
                <a:gd name="T7" fmla="*/ 0 h 1751"/>
                <a:gd name="T8" fmla="*/ 1468 w 1751"/>
                <a:gd name="T9" fmla="*/ 0 h 1751"/>
                <a:gd name="T10" fmla="*/ 1750 w 1751"/>
                <a:gd name="T11" fmla="*/ 282 h 1751"/>
                <a:gd name="T12" fmla="*/ 1750 w 1751"/>
                <a:gd name="T13" fmla="*/ 1468 h 1751"/>
                <a:gd name="T14" fmla="*/ 1468 w 1751"/>
                <a:gd name="T15" fmla="*/ 1750 h 1751"/>
                <a:gd name="T16" fmla="*/ 283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3" y="1750"/>
                  </a:moveTo>
                  <a:cubicBezTo>
                    <a:pt x="127" y="1750"/>
                    <a:pt x="0" y="1623"/>
                    <a:pt x="0" y="1468"/>
                  </a:cubicBezTo>
                  <a:cubicBezTo>
                    <a:pt x="0" y="1072"/>
                    <a:pt x="0" y="677"/>
                    <a:pt x="0" y="282"/>
                  </a:cubicBezTo>
                  <a:cubicBezTo>
                    <a:pt x="0" y="127"/>
                    <a:pt x="127" y="0"/>
                    <a:pt x="283" y="0"/>
                  </a:cubicBezTo>
                  <a:cubicBezTo>
                    <a:pt x="678" y="0"/>
                    <a:pt x="1073" y="0"/>
                    <a:pt x="1468" y="0"/>
                  </a:cubicBezTo>
                  <a:cubicBezTo>
                    <a:pt x="1623" y="0"/>
                    <a:pt x="1750" y="127"/>
                    <a:pt x="1750" y="282"/>
                  </a:cubicBezTo>
                  <a:cubicBezTo>
                    <a:pt x="1750" y="677"/>
                    <a:pt x="1750" y="1072"/>
                    <a:pt x="1750" y="1468"/>
                  </a:cubicBezTo>
                  <a:cubicBezTo>
                    <a:pt x="1750" y="1623"/>
                    <a:pt x="1623" y="1750"/>
                    <a:pt x="1468" y="1750"/>
                  </a:cubicBezTo>
                  <a:cubicBezTo>
                    <a:pt x="1073" y="1750"/>
                    <a:pt x="678" y="1750"/>
                    <a:pt x="283"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191" name="Group 190">
              <a:extLst>
                <a:ext uri="{FF2B5EF4-FFF2-40B4-BE49-F238E27FC236}">
                  <a16:creationId xmlns:a16="http://schemas.microsoft.com/office/drawing/2014/main" id="{3C4BA4CC-8469-3DEB-5CFE-F66BAE01B836}"/>
                </a:ext>
              </a:extLst>
            </p:cNvPr>
            <p:cNvGrpSpPr/>
            <p:nvPr/>
          </p:nvGrpSpPr>
          <p:grpSpPr>
            <a:xfrm>
              <a:off x="8793097" y="2299503"/>
              <a:ext cx="535966" cy="508175"/>
              <a:chOff x="8793097" y="2299503"/>
              <a:chExt cx="535966" cy="508175"/>
            </a:xfrm>
          </p:grpSpPr>
          <p:sp>
            <p:nvSpPr>
              <p:cNvPr id="192" name="Freeform 168">
                <a:extLst>
                  <a:ext uri="{FF2B5EF4-FFF2-40B4-BE49-F238E27FC236}">
                    <a16:creationId xmlns:a16="http://schemas.microsoft.com/office/drawing/2014/main" id="{91D5BB81-768D-0941-54B4-B9128180C4CD}"/>
                  </a:ext>
                </a:extLst>
              </p:cNvPr>
              <p:cNvSpPr>
                <a:spLocks noChangeArrowheads="1"/>
              </p:cNvSpPr>
              <p:nvPr/>
            </p:nvSpPr>
            <p:spPr bwMode="auto">
              <a:xfrm>
                <a:off x="8846693" y="2678648"/>
                <a:ext cx="134984" cy="79402"/>
              </a:xfrm>
              <a:custGeom>
                <a:avLst/>
                <a:gdLst>
                  <a:gd name="T0" fmla="*/ 299 w 300"/>
                  <a:gd name="T1" fmla="*/ 102 h 177"/>
                  <a:gd name="T2" fmla="*/ 167 w 300"/>
                  <a:gd name="T3" fmla="*/ 176 h 177"/>
                  <a:gd name="T4" fmla="*/ 13 w 300"/>
                  <a:gd name="T5" fmla="*/ 0 h 177"/>
                </a:gdLst>
                <a:ahLst/>
                <a:cxnLst>
                  <a:cxn ang="0">
                    <a:pos x="T0" y="T1"/>
                  </a:cxn>
                  <a:cxn ang="0">
                    <a:pos x="T2" y="T3"/>
                  </a:cxn>
                  <a:cxn ang="0">
                    <a:pos x="T4" y="T5"/>
                  </a:cxn>
                </a:cxnLst>
                <a:rect l="0" t="0" r="r" b="b"/>
                <a:pathLst>
                  <a:path w="300" h="177">
                    <a:moveTo>
                      <a:pt x="299" y="102"/>
                    </a:moveTo>
                    <a:cubicBezTo>
                      <a:pt x="272" y="146"/>
                      <a:pt x="223" y="176"/>
                      <a:pt x="167" y="176"/>
                    </a:cubicBezTo>
                    <a:cubicBezTo>
                      <a:pt x="74" y="176"/>
                      <a:pt x="0" y="94"/>
                      <a:pt x="13"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93" name="Freeform 169">
                <a:extLst>
                  <a:ext uri="{FF2B5EF4-FFF2-40B4-BE49-F238E27FC236}">
                    <a16:creationId xmlns:a16="http://schemas.microsoft.com/office/drawing/2014/main" id="{3A7FC899-F1F5-AA18-10EB-B7EE3CE1F757}"/>
                  </a:ext>
                </a:extLst>
              </p:cNvPr>
              <p:cNvSpPr>
                <a:spLocks noChangeArrowheads="1"/>
              </p:cNvSpPr>
              <p:nvPr/>
            </p:nvSpPr>
            <p:spPr bwMode="auto">
              <a:xfrm>
                <a:off x="8955872" y="2299503"/>
                <a:ext cx="111163" cy="57566"/>
              </a:xfrm>
              <a:custGeom>
                <a:avLst/>
                <a:gdLst>
                  <a:gd name="T0" fmla="*/ 0 w 249"/>
                  <a:gd name="T1" fmla="*/ 89 h 128"/>
                  <a:gd name="T2" fmla="*/ 121 w 249"/>
                  <a:gd name="T3" fmla="*/ 0 h 128"/>
                  <a:gd name="T4" fmla="*/ 248 w 249"/>
                  <a:gd name="T5" fmla="*/ 127 h 128"/>
                </a:gdLst>
                <a:ahLst/>
                <a:cxnLst>
                  <a:cxn ang="0">
                    <a:pos x="T0" y="T1"/>
                  </a:cxn>
                  <a:cxn ang="0">
                    <a:pos x="T2" y="T3"/>
                  </a:cxn>
                  <a:cxn ang="0">
                    <a:pos x="T4" y="T5"/>
                  </a:cxn>
                </a:cxnLst>
                <a:rect l="0" t="0" r="r" b="b"/>
                <a:pathLst>
                  <a:path w="249" h="128">
                    <a:moveTo>
                      <a:pt x="0" y="89"/>
                    </a:moveTo>
                    <a:cubicBezTo>
                      <a:pt x="17" y="37"/>
                      <a:pt x="65" y="0"/>
                      <a:pt x="121" y="0"/>
                    </a:cubicBezTo>
                    <a:cubicBezTo>
                      <a:pt x="191" y="0"/>
                      <a:pt x="248" y="57"/>
                      <a:pt x="248" y="127"/>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94" name="Freeform 170">
                <a:extLst>
                  <a:ext uri="{FF2B5EF4-FFF2-40B4-BE49-F238E27FC236}">
                    <a16:creationId xmlns:a16="http://schemas.microsoft.com/office/drawing/2014/main" id="{0FFE1F24-8CBC-3BAE-02DB-6DEDB22C238A}"/>
                  </a:ext>
                </a:extLst>
              </p:cNvPr>
              <p:cNvSpPr>
                <a:spLocks noChangeArrowheads="1"/>
              </p:cNvSpPr>
              <p:nvPr/>
            </p:nvSpPr>
            <p:spPr bwMode="auto">
              <a:xfrm>
                <a:off x="8812948" y="2561530"/>
                <a:ext cx="99253" cy="119103"/>
              </a:xfrm>
              <a:custGeom>
                <a:avLst/>
                <a:gdLst>
                  <a:gd name="T0" fmla="*/ 218 w 219"/>
                  <a:gd name="T1" fmla="*/ 224 h 264"/>
                  <a:gd name="T2" fmla="*/ 127 w 219"/>
                  <a:gd name="T3" fmla="*/ 263 h 264"/>
                  <a:gd name="T4" fmla="*/ 0 w 219"/>
                  <a:gd name="T5" fmla="*/ 136 h 264"/>
                  <a:gd name="T6" fmla="*/ 142 w 219"/>
                  <a:gd name="T7" fmla="*/ 10 h 264"/>
                </a:gdLst>
                <a:ahLst/>
                <a:cxnLst>
                  <a:cxn ang="0">
                    <a:pos x="T0" y="T1"/>
                  </a:cxn>
                  <a:cxn ang="0">
                    <a:pos x="T2" y="T3"/>
                  </a:cxn>
                  <a:cxn ang="0">
                    <a:pos x="T4" y="T5"/>
                  </a:cxn>
                  <a:cxn ang="0">
                    <a:pos x="T6" y="T7"/>
                  </a:cxn>
                </a:cxnLst>
                <a:rect l="0" t="0" r="r" b="b"/>
                <a:pathLst>
                  <a:path w="219" h="264">
                    <a:moveTo>
                      <a:pt x="218" y="224"/>
                    </a:moveTo>
                    <a:cubicBezTo>
                      <a:pt x="195" y="248"/>
                      <a:pt x="163" y="263"/>
                      <a:pt x="127" y="263"/>
                    </a:cubicBezTo>
                    <a:cubicBezTo>
                      <a:pt x="57" y="263"/>
                      <a:pt x="0" y="206"/>
                      <a:pt x="0" y="136"/>
                    </a:cubicBezTo>
                    <a:cubicBezTo>
                      <a:pt x="0" y="60"/>
                      <a:pt x="66" y="0"/>
                      <a:pt x="142" y="1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95" name="Freeform 171">
                <a:extLst>
                  <a:ext uri="{FF2B5EF4-FFF2-40B4-BE49-F238E27FC236}">
                    <a16:creationId xmlns:a16="http://schemas.microsoft.com/office/drawing/2014/main" id="{94FBD70E-84D5-491C-A2FB-920B9709F26F}"/>
                  </a:ext>
                </a:extLst>
              </p:cNvPr>
              <p:cNvSpPr>
                <a:spLocks noChangeArrowheads="1"/>
              </p:cNvSpPr>
              <p:nvPr/>
            </p:nvSpPr>
            <p:spPr bwMode="auto">
              <a:xfrm>
                <a:off x="8920141" y="2744155"/>
                <a:ext cx="146894" cy="63522"/>
              </a:xfrm>
              <a:custGeom>
                <a:avLst/>
                <a:gdLst>
                  <a:gd name="T0" fmla="*/ 326 w 327"/>
                  <a:gd name="T1" fmla="*/ 0 h 142"/>
                  <a:gd name="T2" fmla="*/ 159 w 327"/>
                  <a:gd name="T3" fmla="*/ 141 h 142"/>
                  <a:gd name="T4" fmla="*/ 0 w 327"/>
                  <a:gd name="T5" fmla="*/ 28 h 142"/>
                </a:gdLst>
                <a:ahLst/>
                <a:cxnLst>
                  <a:cxn ang="0">
                    <a:pos x="T0" y="T1"/>
                  </a:cxn>
                  <a:cxn ang="0">
                    <a:pos x="T2" y="T3"/>
                  </a:cxn>
                  <a:cxn ang="0">
                    <a:pos x="T4" y="T5"/>
                  </a:cxn>
                </a:cxnLst>
                <a:rect l="0" t="0" r="r" b="b"/>
                <a:pathLst>
                  <a:path w="327" h="142">
                    <a:moveTo>
                      <a:pt x="326" y="0"/>
                    </a:moveTo>
                    <a:cubicBezTo>
                      <a:pt x="313" y="80"/>
                      <a:pt x="243" y="141"/>
                      <a:pt x="159" y="141"/>
                    </a:cubicBezTo>
                    <a:cubicBezTo>
                      <a:pt x="86" y="141"/>
                      <a:pt x="23" y="94"/>
                      <a:pt x="0" y="28"/>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96" name="Freeform 172">
                <a:extLst>
                  <a:ext uri="{FF2B5EF4-FFF2-40B4-BE49-F238E27FC236}">
                    <a16:creationId xmlns:a16="http://schemas.microsoft.com/office/drawing/2014/main" id="{0C114D17-5F35-2D39-EEB6-B69EDB78A4E6}"/>
                  </a:ext>
                </a:extLst>
              </p:cNvPr>
              <p:cNvSpPr>
                <a:spLocks noChangeArrowheads="1"/>
              </p:cNvSpPr>
              <p:nvPr/>
            </p:nvSpPr>
            <p:spPr bwMode="auto">
              <a:xfrm>
                <a:off x="9067035" y="2357069"/>
                <a:ext cx="1984" cy="387087"/>
              </a:xfrm>
              <a:custGeom>
                <a:avLst/>
                <a:gdLst>
                  <a:gd name="T0" fmla="*/ 0 w 1"/>
                  <a:gd name="T1" fmla="*/ 0 h 862"/>
                  <a:gd name="T2" fmla="*/ 0 w 1"/>
                  <a:gd name="T3" fmla="*/ 861 h 862"/>
                </a:gdLst>
                <a:ahLst/>
                <a:cxnLst>
                  <a:cxn ang="0">
                    <a:pos x="T0" y="T1"/>
                  </a:cxn>
                  <a:cxn ang="0">
                    <a:pos x="T2" y="T3"/>
                  </a:cxn>
                </a:cxnLst>
                <a:rect l="0" t="0" r="r" b="b"/>
                <a:pathLst>
                  <a:path w="1" h="862">
                    <a:moveTo>
                      <a:pt x="0" y="0"/>
                    </a:moveTo>
                    <a:cubicBezTo>
                      <a:pt x="0" y="287"/>
                      <a:pt x="0" y="574"/>
                      <a:pt x="0" y="861"/>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97" name="Freeform 173">
                <a:extLst>
                  <a:ext uri="{FF2B5EF4-FFF2-40B4-BE49-F238E27FC236}">
                    <a16:creationId xmlns:a16="http://schemas.microsoft.com/office/drawing/2014/main" id="{8B7E4924-BD30-5C03-C00B-7917E0C3C054}"/>
                  </a:ext>
                </a:extLst>
              </p:cNvPr>
              <p:cNvSpPr>
                <a:spLocks noChangeArrowheads="1"/>
              </p:cNvSpPr>
              <p:nvPr/>
            </p:nvSpPr>
            <p:spPr bwMode="auto">
              <a:xfrm>
                <a:off x="8872500" y="2337218"/>
                <a:ext cx="119103" cy="71462"/>
              </a:xfrm>
              <a:custGeom>
                <a:avLst/>
                <a:gdLst>
                  <a:gd name="T0" fmla="*/ 9 w 263"/>
                  <a:gd name="T1" fmla="*/ 156 h 157"/>
                  <a:gd name="T2" fmla="*/ 149 w 263"/>
                  <a:gd name="T3" fmla="*/ 0 h 157"/>
                  <a:gd name="T4" fmla="*/ 262 w 263"/>
                  <a:gd name="T5" fmla="*/ 56 h 157"/>
                </a:gdLst>
                <a:ahLst/>
                <a:cxnLst>
                  <a:cxn ang="0">
                    <a:pos x="T0" y="T1"/>
                  </a:cxn>
                  <a:cxn ang="0">
                    <a:pos x="T2" y="T3"/>
                  </a:cxn>
                  <a:cxn ang="0">
                    <a:pos x="T4" y="T5"/>
                  </a:cxn>
                </a:cxnLst>
                <a:rect l="0" t="0" r="r" b="b"/>
                <a:pathLst>
                  <a:path w="263" h="157">
                    <a:moveTo>
                      <a:pt x="9" y="156"/>
                    </a:moveTo>
                    <a:cubicBezTo>
                      <a:pt x="0" y="72"/>
                      <a:pt x="66" y="0"/>
                      <a:pt x="149" y="0"/>
                    </a:cubicBezTo>
                    <a:cubicBezTo>
                      <a:pt x="195" y="0"/>
                      <a:pt x="236" y="22"/>
                      <a:pt x="262" y="56"/>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98" name="Freeform 174">
                <a:extLst>
                  <a:ext uri="{FF2B5EF4-FFF2-40B4-BE49-F238E27FC236}">
                    <a16:creationId xmlns:a16="http://schemas.microsoft.com/office/drawing/2014/main" id="{DB8B27BD-6A1A-0A6E-A634-ED273639A28D}"/>
                  </a:ext>
                </a:extLst>
              </p:cNvPr>
              <p:cNvSpPr>
                <a:spLocks noChangeArrowheads="1"/>
              </p:cNvSpPr>
              <p:nvPr/>
            </p:nvSpPr>
            <p:spPr bwMode="auto">
              <a:xfrm>
                <a:off x="8818903" y="2386845"/>
                <a:ext cx="113149" cy="111163"/>
              </a:xfrm>
              <a:custGeom>
                <a:avLst/>
                <a:gdLst>
                  <a:gd name="T0" fmla="*/ 35 w 250"/>
                  <a:gd name="T1" fmla="*/ 244 h 245"/>
                  <a:gd name="T2" fmla="*/ 249 w 250"/>
                  <a:gd name="T3" fmla="*/ 39 h 245"/>
                </a:gdLst>
                <a:ahLst/>
                <a:cxnLst>
                  <a:cxn ang="0">
                    <a:pos x="T0" y="T1"/>
                  </a:cxn>
                  <a:cxn ang="0">
                    <a:pos x="T2" y="T3"/>
                  </a:cxn>
                </a:cxnLst>
                <a:rect l="0" t="0" r="r" b="b"/>
                <a:pathLst>
                  <a:path w="250" h="245">
                    <a:moveTo>
                      <a:pt x="35" y="244"/>
                    </a:moveTo>
                    <a:cubicBezTo>
                      <a:pt x="0" y="112"/>
                      <a:pt x="127" y="0"/>
                      <a:pt x="249" y="39"/>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199" name="Freeform 175">
                <a:extLst>
                  <a:ext uri="{FF2B5EF4-FFF2-40B4-BE49-F238E27FC236}">
                    <a16:creationId xmlns:a16="http://schemas.microsoft.com/office/drawing/2014/main" id="{DDB3602C-C670-145D-8439-FC69F5F9F7C5}"/>
                  </a:ext>
                </a:extLst>
              </p:cNvPr>
              <p:cNvSpPr>
                <a:spLocks noChangeArrowheads="1"/>
              </p:cNvSpPr>
              <p:nvPr/>
            </p:nvSpPr>
            <p:spPr bwMode="auto">
              <a:xfrm>
                <a:off x="8793097" y="2474188"/>
                <a:ext cx="95283" cy="113148"/>
              </a:xfrm>
              <a:custGeom>
                <a:avLst/>
                <a:gdLst>
                  <a:gd name="T0" fmla="*/ 74 w 210"/>
                  <a:gd name="T1" fmla="*/ 252 h 253"/>
                  <a:gd name="T2" fmla="*/ 209 w 210"/>
                  <a:gd name="T3" fmla="*/ 7 h 253"/>
                </a:gdLst>
                <a:ahLst/>
                <a:cxnLst>
                  <a:cxn ang="0">
                    <a:pos x="T0" y="T1"/>
                  </a:cxn>
                  <a:cxn ang="0">
                    <a:pos x="T2" y="T3"/>
                  </a:cxn>
                </a:cxnLst>
                <a:rect l="0" t="0" r="r" b="b"/>
                <a:pathLst>
                  <a:path w="210" h="253">
                    <a:moveTo>
                      <a:pt x="74" y="252"/>
                    </a:moveTo>
                    <a:cubicBezTo>
                      <a:pt x="0" y="146"/>
                      <a:pt x="81" y="0"/>
                      <a:pt x="209" y="7"/>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00" name="Freeform 176">
                <a:extLst>
                  <a:ext uri="{FF2B5EF4-FFF2-40B4-BE49-F238E27FC236}">
                    <a16:creationId xmlns:a16="http://schemas.microsoft.com/office/drawing/2014/main" id="{E3FC3978-ACE1-1D58-6643-530A90ABF67C}"/>
                  </a:ext>
                </a:extLst>
              </p:cNvPr>
              <p:cNvSpPr>
                <a:spLocks noChangeArrowheads="1"/>
              </p:cNvSpPr>
              <p:nvPr/>
            </p:nvSpPr>
            <p:spPr bwMode="auto">
              <a:xfrm>
                <a:off x="8938006" y="2432501"/>
                <a:ext cx="97268" cy="57567"/>
              </a:xfrm>
              <a:custGeom>
                <a:avLst/>
                <a:gdLst>
                  <a:gd name="T0" fmla="*/ 217 w 218"/>
                  <a:gd name="T1" fmla="*/ 0 h 128"/>
                  <a:gd name="T2" fmla="*/ 90 w 218"/>
                  <a:gd name="T3" fmla="*/ 127 h 128"/>
                  <a:gd name="T4" fmla="*/ 0 w 218"/>
                  <a:gd name="T5" fmla="*/ 90 h 128"/>
                </a:gdLst>
                <a:ahLst/>
                <a:cxnLst>
                  <a:cxn ang="0">
                    <a:pos x="T0" y="T1"/>
                  </a:cxn>
                  <a:cxn ang="0">
                    <a:pos x="T2" y="T3"/>
                  </a:cxn>
                  <a:cxn ang="0">
                    <a:pos x="T4" y="T5"/>
                  </a:cxn>
                </a:cxnLst>
                <a:rect l="0" t="0" r="r" b="b"/>
                <a:pathLst>
                  <a:path w="218" h="128">
                    <a:moveTo>
                      <a:pt x="217" y="0"/>
                    </a:moveTo>
                    <a:cubicBezTo>
                      <a:pt x="217" y="70"/>
                      <a:pt x="160" y="127"/>
                      <a:pt x="90" y="127"/>
                    </a:cubicBezTo>
                    <a:cubicBezTo>
                      <a:pt x="55" y="127"/>
                      <a:pt x="23" y="113"/>
                      <a:pt x="0" y="9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01" name="Freeform 177">
                <a:extLst>
                  <a:ext uri="{FF2B5EF4-FFF2-40B4-BE49-F238E27FC236}">
                    <a16:creationId xmlns:a16="http://schemas.microsoft.com/office/drawing/2014/main" id="{F62A1980-C0D0-8CCF-8C8E-59052EE6E443}"/>
                  </a:ext>
                </a:extLst>
              </p:cNvPr>
              <p:cNvSpPr>
                <a:spLocks noChangeArrowheads="1"/>
              </p:cNvSpPr>
              <p:nvPr/>
            </p:nvSpPr>
            <p:spPr bwMode="auto">
              <a:xfrm>
                <a:off x="8930066" y="2623066"/>
                <a:ext cx="57567" cy="57567"/>
              </a:xfrm>
              <a:custGeom>
                <a:avLst/>
                <a:gdLst>
                  <a:gd name="T0" fmla="*/ 127 w 128"/>
                  <a:gd name="T1" fmla="*/ 127 h 128"/>
                  <a:gd name="T2" fmla="*/ 0 w 128"/>
                  <a:gd name="T3" fmla="*/ 0 h 128"/>
                </a:gdLst>
                <a:ahLst/>
                <a:cxnLst>
                  <a:cxn ang="0">
                    <a:pos x="T0" y="T1"/>
                  </a:cxn>
                  <a:cxn ang="0">
                    <a:pos x="T2" y="T3"/>
                  </a:cxn>
                </a:cxnLst>
                <a:rect l="0" t="0" r="r" b="b"/>
                <a:pathLst>
                  <a:path w="128" h="128">
                    <a:moveTo>
                      <a:pt x="127" y="127"/>
                    </a:moveTo>
                    <a:cubicBezTo>
                      <a:pt x="127" y="57"/>
                      <a:pt x="70"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02" name="Freeform 178">
                <a:extLst>
                  <a:ext uri="{FF2B5EF4-FFF2-40B4-BE49-F238E27FC236}">
                    <a16:creationId xmlns:a16="http://schemas.microsoft.com/office/drawing/2014/main" id="{ED58CC7F-F5B6-31E5-DDA7-283A01C71F9F}"/>
                  </a:ext>
                </a:extLst>
              </p:cNvPr>
              <p:cNvSpPr>
                <a:spLocks noChangeArrowheads="1"/>
              </p:cNvSpPr>
              <p:nvPr/>
            </p:nvSpPr>
            <p:spPr bwMode="auto">
              <a:xfrm>
                <a:off x="9029319" y="2382875"/>
                <a:ext cx="37717" cy="39701"/>
              </a:xfrm>
              <a:custGeom>
                <a:avLst/>
                <a:gdLst>
                  <a:gd name="T0" fmla="*/ 84 w 85"/>
                  <a:gd name="T1" fmla="*/ 85 h 86"/>
                  <a:gd name="T2" fmla="*/ 0 w 85"/>
                  <a:gd name="T3" fmla="*/ 0 h 86"/>
                </a:gdLst>
                <a:ahLst/>
                <a:cxnLst>
                  <a:cxn ang="0">
                    <a:pos x="T0" y="T1"/>
                  </a:cxn>
                  <a:cxn ang="0">
                    <a:pos x="T2" y="T3"/>
                  </a:cxn>
                </a:cxnLst>
                <a:rect l="0" t="0" r="r" b="b"/>
                <a:pathLst>
                  <a:path w="85" h="86">
                    <a:moveTo>
                      <a:pt x="84" y="85"/>
                    </a:moveTo>
                    <a:cubicBezTo>
                      <a:pt x="84" y="38"/>
                      <a:pt x="46" y="0"/>
                      <a:pt x="0"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03" name="Freeform 179">
                <a:extLst>
                  <a:ext uri="{FF2B5EF4-FFF2-40B4-BE49-F238E27FC236}">
                    <a16:creationId xmlns:a16="http://schemas.microsoft.com/office/drawing/2014/main" id="{DB1FFFCD-C2FE-309A-7C99-7AE28AAF1894}"/>
                  </a:ext>
                </a:extLst>
              </p:cNvPr>
              <p:cNvSpPr>
                <a:spLocks noChangeArrowheads="1"/>
              </p:cNvSpPr>
              <p:nvPr/>
            </p:nvSpPr>
            <p:spPr bwMode="auto">
              <a:xfrm>
                <a:off x="8939992" y="2490068"/>
                <a:ext cx="45656" cy="45656"/>
              </a:xfrm>
              <a:custGeom>
                <a:avLst/>
                <a:gdLst>
                  <a:gd name="T0" fmla="*/ 0 w 100"/>
                  <a:gd name="T1" fmla="*/ 99 h 100"/>
                  <a:gd name="T2" fmla="*/ 99 w 100"/>
                  <a:gd name="T3" fmla="*/ 0 h 100"/>
                </a:gdLst>
                <a:ahLst/>
                <a:cxnLst>
                  <a:cxn ang="0">
                    <a:pos x="T0" y="T1"/>
                  </a:cxn>
                  <a:cxn ang="0">
                    <a:pos x="T2" y="T3"/>
                  </a:cxn>
                </a:cxnLst>
                <a:rect l="0" t="0" r="r" b="b"/>
                <a:pathLst>
                  <a:path w="100" h="100">
                    <a:moveTo>
                      <a:pt x="0" y="99"/>
                    </a:moveTo>
                    <a:cubicBezTo>
                      <a:pt x="55" y="99"/>
                      <a:pt x="99" y="54"/>
                      <a:pt x="99" y="0"/>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04" name="Freeform 180">
                <a:extLst>
                  <a:ext uri="{FF2B5EF4-FFF2-40B4-BE49-F238E27FC236}">
                    <a16:creationId xmlns:a16="http://schemas.microsoft.com/office/drawing/2014/main" id="{C647AF53-C239-8D4E-4EC5-FB8697759149}"/>
                  </a:ext>
                </a:extLst>
              </p:cNvPr>
              <p:cNvSpPr>
                <a:spLocks noChangeArrowheads="1"/>
              </p:cNvSpPr>
              <p:nvPr/>
            </p:nvSpPr>
            <p:spPr bwMode="auto">
              <a:xfrm>
                <a:off x="8961827" y="2573440"/>
                <a:ext cx="63522" cy="61536"/>
              </a:xfrm>
              <a:custGeom>
                <a:avLst/>
                <a:gdLst>
                  <a:gd name="T0" fmla="*/ 141 w 142"/>
                  <a:gd name="T1" fmla="*/ 0 h 135"/>
                  <a:gd name="T2" fmla="*/ 0 w 142"/>
                  <a:gd name="T3" fmla="*/ 134 h 135"/>
                </a:gdLst>
                <a:ahLst/>
                <a:cxnLst>
                  <a:cxn ang="0">
                    <a:pos x="T0" y="T1"/>
                  </a:cxn>
                  <a:cxn ang="0">
                    <a:pos x="T2" y="T3"/>
                  </a:cxn>
                </a:cxnLst>
                <a:rect l="0" t="0" r="r" b="b"/>
                <a:pathLst>
                  <a:path w="142" h="135">
                    <a:moveTo>
                      <a:pt x="141" y="0"/>
                    </a:moveTo>
                    <a:cubicBezTo>
                      <a:pt x="65" y="0"/>
                      <a:pt x="3" y="59"/>
                      <a:pt x="0" y="134"/>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05" name="Freeform 181">
                <a:extLst>
                  <a:ext uri="{FF2B5EF4-FFF2-40B4-BE49-F238E27FC236}">
                    <a16:creationId xmlns:a16="http://schemas.microsoft.com/office/drawing/2014/main" id="{5E37BA05-CBA7-02E1-3EEB-3B0ECC811CAF}"/>
                  </a:ext>
                </a:extLst>
              </p:cNvPr>
              <p:cNvSpPr>
                <a:spLocks noChangeArrowheads="1"/>
              </p:cNvSpPr>
              <p:nvPr/>
            </p:nvSpPr>
            <p:spPr bwMode="auto">
              <a:xfrm>
                <a:off x="9029319" y="2660783"/>
                <a:ext cx="37717" cy="39701"/>
              </a:xfrm>
              <a:custGeom>
                <a:avLst/>
                <a:gdLst>
                  <a:gd name="T0" fmla="*/ 84 w 85"/>
                  <a:gd name="T1" fmla="*/ 0 h 86"/>
                  <a:gd name="T2" fmla="*/ 0 w 85"/>
                  <a:gd name="T3" fmla="*/ 85 h 86"/>
                </a:gdLst>
                <a:ahLst/>
                <a:cxnLst>
                  <a:cxn ang="0">
                    <a:pos x="T0" y="T1"/>
                  </a:cxn>
                  <a:cxn ang="0">
                    <a:pos x="T2" y="T3"/>
                  </a:cxn>
                </a:cxnLst>
                <a:rect l="0" t="0" r="r" b="b"/>
                <a:pathLst>
                  <a:path w="85" h="86">
                    <a:moveTo>
                      <a:pt x="84" y="0"/>
                    </a:moveTo>
                    <a:cubicBezTo>
                      <a:pt x="84" y="47"/>
                      <a:pt x="46" y="85"/>
                      <a:pt x="0" y="85"/>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06" name="Freeform 182">
                <a:extLst>
                  <a:ext uri="{FF2B5EF4-FFF2-40B4-BE49-F238E27FC236}">
                    <a16:creationId xmlns:a16="http://schemas.microsoft.com/office/drawing/2014/main" id="{34B521BC-515A-E01D-A236-D0AE3B91266E}"/>
                  </a:ext>
                </a:extLst>
              </p:cNvPr>
              <p:cNvSpPr>
                <a:spLocks noChangeArrowheads="1"/>
              </p:cNvSpPr>
              <p:nvPr/>
            </p:nvSpPr>
            <p:spPr bwMode="auto">
              <a:xfrm>
                <a:off x="9067035" y="2299503"/>
                <a:ext cx="262028" cy="508175"/>
              </a:xfrm>
              <a:custGeom>
                <a:avLst/>
                <a:gdLst>
                  <a:gd name="T0" fmla="*/ 0 w 584"/>
                  <a:gd name="T1" fmla="*/ 988 h 1130"/>
                  <a:gd name="T2" fmla="*/ 167 w 584"/>
                  <a:gd name="T3" fmla="*/ 1129 h 1130"/>
                  <a:gd name="T4" fmla="*/ 325 w 584"/>
                  <a:gd name="T5" fmla="*/ 1020 h 1130"/>
                  <a:gd name="T6" fmla="*/ 332 w 584"/>
                  <a:gd name="T7" fmla="*/ 1016 h 1130"/>
                  <a:gd name="T8" fmla="*/ 479 w 584"/>
                  <a:gd name="T9" fmla="*/ 845 h 1130"/>
                  <a:gd name="T10" fmla="*/ 484 w 584"/>
                  <a:gd name="T11" fmla="*/ 838 h 1130"/>
                  <a:gd name="T12" fmla="*/ 565 w 584"/>
                  <a:gd name="T13" fmla="*/ 720 h 1130"/>
                  <a:gd name="T14" fmla="*/ 539 w 584"/>
                  <a:gd name="T15" fmla="*/ 644 h 1130"/>
                  <a:gd name="T16" fmla="*/ 539 w 584"/>
                  <a:gd name="T17" fmla="*/ 636 h 1130"/>
                  <a:gd name="T18" fmla="*/ 520 w 584"/>
                  <a:gd name="T19" fmla="*/ 441 h 1130"/>
                  <a:gd name="T20" fmla="*/ 518 w 584"/>
                  <a:gd name="T21" fmla="*/ 434 h 1130"/>
                  <a:gd name="T22" fmla="*/ 427 w 584"/>
                  <a:gd name="T23" fmla="*/ 243 h 1130"/>
                  <a:gd name="T24" fmla="*/ 423 w 584"/>
                  <a:gd name="T25" fmla="*/ 236 h 1130"/>
                  <a:gd name="T26" fmla="*/ 283 w 584"/>
                  <a:gd name="T27" fmla="*/ 85 h 1130"/>
                  <a:gd name="T28" fmla="*/ 254 w 584"/>
                  <a:gd name="T29" fmla="*/ 87 h 1130"/>
                  <a:gd name="T30" fmla="*/ 246 w 584"/>
                  <a:gd name="T31" fmla="*/ 83 h 1130"/>
                  <a:gd name="T32" fmla="*/ 127 w 584"/>
                  <a:gd name="T33" fmla="*/ 0 h 1130"/>
                  <a:gd name="T34" fmla="*/ 0 w 584"/>
                  <a:gd name="T35" fmla="*/ 127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4" h="1130">
                    <a:moveTo>
                      <a:pt x="0" y="988"/>
                    </a:moveTo>
                    <a:cubicBezTo>
                      <a:pt x="14" y="1068"/>
                      <a:pt x="84" y="1129"/>
                      <a:pt x="167" y="1129"/>
                    </a:cubicBezTo>
                    <a:cubicBezTo>
                      <a:pt x="239" y="1129"/>
                      <a:pt x="301" y="1084"/>
                      <a:pt x="325" y="1020"/>
                    </a:cubicBezTo>
                    <a:cubicBezTo>
                      <a:pt x="326" y="1018"/>
                      <a:pt x="329" y="1016"/>
                      <a:pt x="332" y="1016"/>
                    </a:cubicBezTo>
                    <a:cubicBezTo>
                      <a:pt x="420" y="1012"/>
                      <a:pt x="488" y="935"/>
                      <a:pt x="479" y="845"/>
                    </a:cubicBezTo>
                    <a:cubicBezTo>
                      <a:pt x="479" y="842"/>
                      <a:pt x="481" y="839"/>
                      <a:pt x="484" y="838"/>
                    </a:cubicBezTo>
                    <a:cubicBezTo>
                      <a:pt x="531" y="820"/>
                      <a:pt x="565" y="773"/>
                      <a:pt x="565" y="720"/>
                    </a:cubicBezTo>
                    <a:cubicBezTo>
                      <a:pt x="565" y="691"/>
                      <a:pt x="555" y="665"/>
                      <a:pt x="539" y="644"/>
                    </a:cubicBezTo>
                    <a:cubicBezTo>
                      <a:pt x="538" y="641"/>
                      <a:pt x="537" y="638"/>
                      <a:pt x="539" y="636"/>
                    </a:cubicBezTo>
                    <a:cubicBezTo>
                      <a:pt x="583" y="570"/>
                      <a:pt x="567" y="490"/>
                      <a:pt x="520" y="441"/>
                    </a:cubicBezTo>
                    <a:cubicBezTo>
                      <a:pt x="518" y="439"/>
                      <a:pt x="517" y="437"/>
                      <a:pt x="518" y="434"/>
                    </a:cubicBezTo>
                    <a:cubicBezTo>
                      <a:pt x="538" y="351"/>
                      <a:pt x="493" y="276"/>
                      <a:pt x="427" y="243"/>
                    </a:cubicBezTo>
                    <a:cubicBezTo>
                      <a:pt x="425" y="242"/>
                      <a:pt x="423" y="239"/>
                      <a:pt x="423" y="236"/>
                    </a:cubicBezTo>
                    <a:cubicBezTo>
                      <a:pt x="429" y="154"/>
                      <a:pt x="364" y="85"/>
                      <a:pt x="283" y="85"/>
                    </a:cubicBezTo>
                    <a:cubicBezTo>
                      <a:pt x="273" y="85"/>
                      <a:pt x="264" y="86"/>
                      <a:pt x="254" y="87"/>
                    </a:cubicBezTo>
                    <a:cubicBezTo>
                      <a:pt x="251" y="88"/>
                      <a:pt x="248" y="86"/>
                      <a:pt x="246" y="83"/>
                    </a:cubicBezTo>
                    <a:cubicBezTo>
                      <a:pt x="229" y="35"/>
                      <a:pt x="182" y="0"/>
                      <a:pt x="127" y="0"/>
                    </a:cubicBezTo>
                    <a:cubicBezTo>
                      <a:pt x="57" y="0"/>
                      <a:pt x="0" y="57"/>
                      <a:pt x="0" y="127"/>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07" name="Freeform 183">
                <a:extLst>
                  <a:ext uri="{FF2B5EF4-FFF2-40B4-BE49-F238E27FC236}">
                    <a16:creationId xmlns:a16="http://schemas.microsoft.com/office/drawing/2014/main" id="{CBE3CE9A-44C0-869B-414C-13163398D1AF}"/>
                  </a:ext>
                </a:extLst>
              </p:cNvPr>
              <p:cNvSpPr>
                <a:spLocks noChangeArrowheads="1"/>
              </p:cNvSpPr>
              <p:nvPr/>
            </p:nvSpPr>
            <p:spPr bwMode="auto">
              <a:xfrm>
                <a:off x="9118647" y="2394785"/>
                <a:ext cx="51611" cy="51611"/>
              </a:xfrm>
              <a:custGeom>
                <a:avLst/>
                <a:gdLst>
                  <a:gd name="T0" fmla="*/ 57 w 114"/>
                  <a:gd name="T1" fmla="*/ 113 h 114"/>
                  <a:gd name="T2" fmla="*/ 0 w 114"/>
                  <a:gd name="T3" fmla="*/ 56 h 114"/>
                  <a:gd name="T4" fmla="*/ 57 w 114"/>
                  <a:gd name="T5" fmla="*/ 0 h 114"/>
                  <a:gd name="T6" fmla="*/ 113 w 114"/>
                  <a:gd name="T7" fmla="*/ 56 h 114"/>
                  <a:gd name="T8" fmla="*/ 57 w 114"/>
                  <a:gd name="T9" fmla="*/ 113 h 114"/>
                </a:gdLst>
                <a:ahLst/>
                <a:cxnLst>
                  <a:cxn ang="0">
                    <a:pos x="T0" y="T1"/>
                  </a:cxn>
                  <a:cxn ang="0">
                    <a:pos x="T2" y="T3"/>
                  </a:cxn>
                  <a:cxn ang="0">
                    <a:pos x="T4" y="T5"/>
                  </a:cxn>
                  <a:cxn ang="0">
                    <a:pos x="T6" y="T7"/>
                  </a:cxn>
                  <a:cxn ang="0">
                    <a:pos x="T8" y="T9"/>
                  </a:cxn>
                </a:cxnLst>
                <a:rect l="0" t="0" r="r" b="b"/>
                <a:pathLst>
                  <a:path w="114" h="114">
                    <a:moveTo>
                      <a:pt x="57" y="113"/>
                    </a:moveTo>
                    <a:cubicBezTo>
                      <a:pt x="26" y="113"/>
                      <a:pt x="0" y="87"/>
                      <a:pt x="0" y="56"/>
                    </a:cubicBezTo>
                    <a:cubicBezTo>
                      <a:pt x="0" y="25"/>
                      <a:pt x="26" y="0"/>
                      <a:pt x="57" y="0"/>
                    </a:cubicBezTo>
                    <a:cubicBezTo>
                      <a:pt x="88" y="0"/>
                      <a:pt x="113" y="25"/>
                      <a:pt x="113" y="56"/>
                    </a:cubicBezTo>
                    <a:cubicBezTo>
                      <a:pt x="113" y="87"/>
                      <a:pt x="88" y="113"/>
                      <a:pt x="57" y="11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08" name="Freeform 184">
                <a:extLst>
                  <a:ext uri="{FF2B5EF4-FFF2-40B4-BE49-F238E27FC236}">
                    <a16:creationId xmlns:a16="http://schemas.microsoft.com/office/drawing/2014/main" id="{EFE96189-5A0A-AEFB-9D18-89E9A1075E08}"/>
                  </a:ext>
                </a:extLst>
              </p:cNvPr>
              <p:cNvSpPr>
                <a:spLocks noChangeArrowheads="1"/>
              </p:cNvSpPr>
              <p:nvPr/>
            </p:nvSpPr>
            <p:spPr bwMode="auto">
              <a:xfrm>
                <a:off x="9118647" y="2533739"/>
                <a:ext cx="51611" cy="51611"/>
              </a:xfrm>
              <a:custGeom>
                <a:avLst/>
                <a:gdLst>
                  <a:gd name="T0" fmla="*/ 57 w 114"/>
                  <a:gd name="T1" fmla="*/ 113 h 114"/>
                  <a:gd name="T2" fmla="*/ 0 w 114"/>
                  <a:gd name="T3" fmla="*/ 57 h 114"/>
                  <a:gd name="T4" fmla="*/ 57 w 114"/>
                  <a:gd name="T5" fmla="*/ 0 h 114"/>
                  <a:gd name="T6" fmla="*/ 113 w 114"/>
                  <a:gd name="T7" fmla="*/ 57 h 114"/>
                  <a:gd name="T8" fmla="*/ 57 w 114"/>
                  <a:gd name="T9" fmla="*/ 113 h 114"/>
                </a:gdLst>
                <a:ahLst/>
                <a:cxnLst>
                  <a:cxn ang="0">
                    <a:pos x="T0" y="T1"/>
                  </a:cxn>
                  <a:cxn ang="0">
                    <a:pos x="T2" y="T3"/>
                  </a:cxn>
                  <a:cxn ang="0">
                    <a:pos x="T4" y="T5"/>
                  </a:cxn>
                  <a:cxn ang="0">
                    <a:pos x="T6" y="T7"/>
                  </a:cxn>
                  <a:cxn ang="0">
                    <a:pos x="T8" y="T9"/>
                  </a:cxn>
                </a:cxnLst>
                <a:rect l="0" t="0" r="r" b="b"/>
                <a:pathLst>
                  <a:path w="114" h="114">
                    <a:moveTo>
                      <a:pt x="57" y="113"/>
                    </a:moveTo>
                    <a:cubicBezTo>
                      <a:pt x="26" y="113"/>
                      <a:pt x="0" y="88"/>
                      <a:pt x="0" y="57"/>
                    </a:cubicBezTo>
                    <a:cubicBezTo>
                      <a:pt x="0" y="25"/>
                      <a:pt x="26" y="0"/>
                      <a:pt x="57" y="0"/>
                    </a:cubicBezTo>
                    <a:cubicBezTo>
                      <a:pt x="88" y="0"/>
                      <a:pt x="113" y="25"/>
                      <a:pt x="113" y="57"/>
                    </a:cubicBezTo>
                    <a:cubicBezTo>
                      <a:pt x="113" y="88"/>
                      <a:pt x="88" y="113"/>
                      <a:pt x="57" y="11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09" name="Freeform 185">
                <a:extLst>
                  <a:ext uri="{FF2B5EF4-FFF2-40B4-BE49-F238E27FC236}">
                    <a16:creationId xmlns:a16="http://schemas.microsoft.com/office/drawing/2014/main" id="{3D3BEE9F-43F2-7D2E-E0A0-E90686B6C009}"/>
                  </a:ext>
                </a:extLst>
              </p:cNvPr>
              <p:cNvSpPr>
                <a:spLocks noChangeArrowheads="1"/>
              </p:cNvSpPr>
              <p:nvPr/>
            </p:nvSpPr>
            <p:spPr bwMode="auto">
              <a:xfrm>
                <a:off x="9118647" y="2674678"/>
                <a:ext cx="51611" cy="51611"/>
              </a:xfrm>
              <a:custGeom>
                <a:avLst/>
                <a:gdLst>
                  <a:gd name="T0" fmla="*/ 57 w 114"/>
                  <a:gd name="T1" fmla="*/ 112 h 113"/>
                  <a:gd name="T2" fmla="*/ 0 w 114"/>
                  <a:gd name="T3" fmla="*/ 56 h 113"/>
                  <a:gd name="T4" fmla="*/ 57 w 114"/>
                  <a:gd name="T5" fmla="*/ 0 h 113"/>
                  <a:gd name="T6" fmla="*/ 113 w 114"/>
                  <a:gd name="T7" fmla="*/ 56 h 113"/>
                  <a:gd name="T8" fmla="*/ 57 w 114"/>
                  <a:gd name="T9" fmla="*/ 112 h 113"/>
                </a:gdLst>
                <a:ahLst/>
                <a:cxnLst>
                  <a:cxn ang="0">
                    <a:pos x="T0" y="T1"/>
                  </a:cxn>
                  <a:cxn ang="0">
                    <a:pos x="T2" y="T3"/>
                  </a:cxn>
                  <a:cxn ang="0">
                    <a:pos x="T4" y="T5"/>
                  </a:cxn>
                  <a:cxn ang="0">
                    <a:pos x="T6" y="T7"/>
                  </a:cxn>
                  <a:cxn ang="0">
                    <a:pos x="T8" y="T9"/>
                  </a:cxn>
                </a:cxnLst>
                <a:rect l="0" t="0" r="r" b="b"/>
                <a:pathLst>
                  <a:path w="114" h="113">
                    <a:moveTo>
                      <a:pt x="57" y="112"/>
                    </a:moveTo>
                    <a:cubicBezTo>
                      <a:pt x="26" y="112"/>
                      <a:pt x="0" y="87"/>
                      <a:pt x="0" y="56"/>
                    </a:cubicBezTo>
                    <a:cubicBezTo>
                      <a:pt x="0" y="25"/>
                      <a:pt x="26" y="0"/>
                      <a:pt x="57" y="0"/>
                    </a:cubicBezTo>
                    <a:cubicBezTo>
                      <a:pt x="88" y="0"/>
                      <a:pt x="113" y="25"/>
                      <a:pt x="113" y="56"/>
                    </a:cubicBezTo>
                    <a:cubicBezTo>
                      <a:pt x="113" y="87"/>
                      <a:pt x="88" y="112"/>
                      <a:pt x="57" y="112"/>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10" name="Freeform 186">
                <a:extLst>
                  <a:ext uri="{FF2B5EF4-FFF2-40B4-BE49-F238E27FC236}">
                    <a16:creationId xmlns:a16="http://schemas.microsoft.com/office/drawing/2014/main" id="{1621B04E-E477-4F0D-68ED-B9F9F363560E}"/>
                  </a:ext>
                </a:extLst>
              </p:cNvPr>
              <p:cNvSpPr>
                <a:spLocks noChangeArrowheads="1"/>
              </p:cNvSpPr>
              <p:nvPr/>
            </p:nvSpPr>
            <p:spPr bwMode="auto">
              <a:xfrm>
                <a:off x="9194079" y="2464262"/>
                <a:ext cx="51611" cy="51611"/>
              </a:xfrm>
              <a:custGeom>
                <a:avLst/>
                <a:gdLst>
                  <a:gd name="T0" fmla="*/ 56 w 113"/>
                  <a:gd name="T1" fmla="*/ 113 h 114"/>
                  <a:gd name="T2" fmla="*/ 0 w 113"/>
                  <a:gd name="T3" fmla="*/ 56 h 114"/>
                  <a:gd name="T4" fmla="*/ 56 w 113"/>
                  <a:gd name="T5" fmla="*/ 0 h 114"/>
                  <a:gd name="T6" fmla="*/ 112 w 113"/>
                  <a:gd name="T7" fmla="*/ 56 h 114"/>
                  <a:gd name="T8" fmla="*/ 56 w 113"/>
                  <a:gd name="T9" fmla="*/ 113 h 114"/>
                </a:gdLst>
                <a:ahLst/>
                <a:cxnLst>
                  <a:cxn ang="0">
                    <a:pos x="T0" y="T1"/>
                  </a:cxn>
                  <a:cxn ang="0">
                    <a:pos x="T2" y="T3"/>
                  </a:cxn>
                  <a:cxn ang="0">
                    <a:pos x="T4" y="T5"/>
                  </a:cxn>
                  <a:cxn ang="0">
                    <a:pos x="T6" y="T7"/>
                  </a:cxn>
                  <a:cxn ang="0">
                    <a:pos x="T8" y="T9"/>
                  </a:cxn>
                </a:cxnLst>
                <a:rect l="0" t="0" r="r" b="b"/>
                <a:pathLst>
                  <a:path w="113" h="114">
                    <a:moveTo>
                      <a:pt x="56" y="113"/>
                    </a:moveTo>
                    <a:cubicBezTo>
                      <a:pt x="25" y="113"/>
                      <a:pt x="0" y="87"/>
                      <a:pt x="0" y="56"/>
                    </a:cubicBezTo>
                    <a:cubicBezTo>
                      <a:pt x="0" y="25"/>
                      <a:pt x="25" y="0"/>
                      <a:pt x="56" y="0"/>
                    </a:cubicBezTo>
                    <a:cubicBezTo>
                      <a:pt x="87" y="0"/>
                      <a:pt x="112" y="25"/>
                      <a:pt x="112" y="56"/>
                    </a:cubicBezTo>
                    <a:cubicBezTo>
                      <a:pt x="112" y="87"/>
                      <a:pt x="87" y="113"/>
                      <a:pt x="56" y="11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11" name="Freeform 187">
                <a:extLst>
                  <a:ext uri="{FF2B5EF4-FFF2-40B4-BE49-F238E27FC236}">
                    <a16:creationId xmlns:a16="http://schemas.microsoft.com/office/drawing/2014/main" id="{9EDA5563-EE99-57D1-F1C7-E89B347F4627}"/>
                  </a:ext>
                </a:extLst>
              </p:cNvPr>
              <p:cNvSpPr>
                <a:spLocks noChangeArrowheads="1"/>
              </p:cNvSpPr>
              <p:nvPr/>
            </p:nvSpPr>
            <p:spPr bwMode="auto">
              <a:xfrm>
                <a:off x="9194079" y="2605201"/>
                <a:ext cx="51611" cy="51611"/>
              </a:xfrm>
              <a:custGeom>
                <a:avLst/>
                <a:gdLst>
                  <a:gd name="T0" fmla="*/ 56 w 113"/>
                  <a:gd name="T1" fmla="*/ 113 h 114"/>
                  <a:gd name="T2" fmla="*/ 0 w 113"/>
                  <a:gd name="T3" fmla="*/ 57 h 114"/>
                  <a:gd name="T4" fmla="*/ 56 w 113"/>
                  <a:gd name="T5" fmla="*/ 0 h 114"/>
                  <a:gd name="T6" fmla="*/ 112 w 113"/>
                  <a:gd name="T7" fmla="*/ 57 h 114"/>
                  <a:gd name="T8" fmla="*/ 56 w 113"/>
                  <a:gd name="T9" fmla="*/ 113 h 114"/>
                </a:gdLst>
                <a:ahLst/>
                <a:cxnLst>
                  <a:cxn ang="0">
                    <a:pos x="T0" y="T1"/>
                  </a:cxn>
                  <a:cxn ang="0">
                    <a:pos x="T2" y="T3"/>
                  </a:cxn>
                  <a:cxn ang="0">
                    <a:pos x="T4" y="T5"/>
                  </a:cxn>
                  <a:cxn ang="0">
                    <a:pos x="T6" y="T7"/>
                  </a:cxn>
                  <a:cxn ang="0">
                    <a:pos x="T8" y="T9"/>
                  </a:cxn>
                </a:cxnLst>
                <a:rect l="0" t="0" r="r" b="b"/>
                <a:pathLst>
                  <a:path w="113" h="114">
                    <a:moveTo>
                      <a:pt x="56" y="113"/>
                    </a:moveTo>
                    <a:cubicBezTo>
                      <a:pt x="25" y="113"/>
                      <a:pt x="0" y="88"/>
                      <a:pt x="0" y="57"/>
                    </a:cubicBezTo>
                    <a:cubicBezTo>
                      <a:pt x="0" y="26"/>
                      <a:pt x="25" y="0"/>
                      <a:pt x="56" y="0"/>
                    </a:cubicBezTo>
                    <a:cubicBezTo>
                      <a:pt x="87" y="0"/>
                      <a:pt x="112" y="26"/>
                      <a:pt x="112" y="57"/>
                    </a:cubicBezTo>
                    <a:cubicBezTo>
                      <a:pt x="112" y="88"/>
                      <a:pt x="87" y="113"/>
                      <a:pt x="56" y="113"/>
                    </a:cubicBezTo>
                  </a:path>
                </a:pathLst>
              </a:custGeom>
              <a:noFill/>
              <a:ln w="15875" cap="rnd">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12" name="Freeform 188">
                <a:extLst>
                  <a:ext uri="{FF2B5EF4-FFF2-40B4-BE49-F238E27FC236}">
                    <a16:creationId xmlns:a16="http://schemas.microsoft.com/office/drawing/2014/main" id="{41941681-299E-D7BE-A9EF-CA2B8A9DB884}"/>
                  </a:ext>
                </a:extLst>
              </p:cNvPr>
              <p:cNvSpPr>
                <a:spLocks noChangeArrowheads="1"/>
              </p:cNvSpPr>
              <p:nvPr/>
            </p:nvSpPr>
            <p:spPr bwMode="auto">
              <a:xfrm>
                <a:off x="9067035" y="2420590"/>
                <a:ext cx="51611" cy="1986"/>
              </a:xfrm>
              <a:custGeom>
                <a:avLst/>
                <a:gdLst>
                  <a:gd name="T0" fmla="*/ 113 w 114"/>
                  <a:gd name="T1" fmla="*/ 0 h 1"/>
                  <a:gd name="T2" fmla="*/ 0 w 114"/>
                  <a:gd name="T3" fmla="*/ 0 h 1"/>
                </a:gdLst>
                <a:ahLst/>
                <a:cxnLst>
                  <a:cxn ang="0">
                    <a:pos x="T0" y="T1"/>
                  </a:cxn>
                  <a:cxn ang="0">
                    <a:pos x="T2" y="T3"/>
                  </a:cxn>
                </a:cxnLst>
                <a:rect l="0" t="0" r="r" b="b"/>
                <a:pathLst>
                  <a:path w="114" h="1">
                    <a:moveTo>
                      <a:pt x="113" y="0"/>
                    </a:moveTo>
                    <a:cubicBezTo>
                      <a:pt x="76" y="0"/>
                      <a:pt x="38"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13" name="Freeform 189">
                <a:extLst>
                  <a:ext uri="{FF2B5EF4-FFF2-40B4-BE49-F238E27FC236}">
                    <a16:creationId xmlns:a16="http://schemas.microsoft.com/office/drawing/2014/main" id="{70578D39-3D3F-5AD4-8962-A82C9CD6C7FD}"/>
                  </a:ext>
                </a:extLst>
              </p:cNvPr>
              <p:cNvSpPr>
                <a:spLocks noChangeArrowheads="1"/>
              </p:cNvSpPr>
              <p:nvPr/>
            </p:nvSpPr>
            <p:spPr bwMode="auto">
              <a:xfrm>
                <a:off x="9067035" y="2559544"/>
                <a:ext cx="51611" cy="1986"/>
              </a:xfrm>
              <a:custGeom>
                <a:avLst/>
                <a:gdLst>
                  <a:gd name="T0" fmla="*/ 113 w 114"/>
                  <a:gd name="T1" fmla="*/ 0 h 1"/>
                  <a:gd name="T2" fmla="*/ 0 w 114"/>
                  <a:gd name="T3" fmla="*/ 0 h 1"/>
                </a:gdLst>
                <a:ahLst/>
                <a:cxnLst>
                  <a:cxn ang="0">
                    <a:pos x="T0" y="T1"/>
                  </a:cxn>
                  <a:cxn ang="0">
                    <a:pos x="T2" y="T3"/>
                  </a:cxn>
                </a:cxnLst>
                <a:rect l="0" t="0" r="r" b="b"/>
                <a:pathLst>
                  <a:path w="114" h="1">
                    <a:moveTo>
                      <a:pt x="113" y="0"/>
                    </a:moveTo>
                    <a:cubicBezTo>
                      <a:pt x="76" y="0"/>
                      <a:pt x="38"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14" name="Freeform 190">
                <a:extLst>
                  <a:ext uri="{FF2B5EF4-FFF2-40B4-BE49-F238E27FC236}">
                    <a16:creationId xmlns:a16="http://schemas.microsoft.com/office/drawing/2014/main" id="{7A7FFD43-F098-AE1E-09F6-94BE5225CFD6}"/>
                  </a:ext>
                </a:extLst>
              </p:cNvPr>
              <p:cNvSpPr>
                <a:spLocks noChangeArrowheads="1"/>
              </p:cNvSpPr>
              <p:nvPr/>
            </p:nvSpPr>
            <p:spPr bwMode="auto">
              <a:xfrm>
                <a:off x="9067035" y="2700484"/>
                <a:ext cx="51611" cy="1984"/>
              </a:xfrm>
              <a:custGeom>
                <a:avLst/>
                <a:gdLst>
                  <a:gd name="T0" fmla="*/ 113 w 114"/>
                  <a:gd name="T1" fmla="*/ 0 h 1"/>
                  <a:gd name="T2" fmla="*/ 0 w 114"/>
                  <a:gd name="T3" fmla="*/ 0 h 1"/>
                </a:gdLst>
                <a:ahLst/>
                <a:cxnLst>
                  <a:cxn ang="0">
                    <a:pos x="T0" y="T1"/>
                  </a:cxn>
                  <a:cxn ang="0">
                    <a:pos x="T2" y="T3"/>
                  </a:cxn>
                </a:cxnLst>
                <a:rect l="0" t="0" r="r" b="b"/>
                <a:pathLst>
                  <a:path w="114" h="1">
                    <a:moveTo>
                      <a:pt x="113" y="0"/>
                    </a:moveTo>
                    <a:cubicBezTo>
                      <a:pt x="76" y="0"/>
                      <a:pt x="38"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15" name="Freeform 191">
                <a:extLst>
                  <a:ext uri="{FF2B5EF4-FFF2-40B4-BE49-F238E27FC236}">
                    <a16:creationId xmlns:a16="http://schemas.microsoft.com/office/drawing/2014/main" id="{99A3C3B7-1436-400B-3222-E894B19329AD}"/>
                  </a:ext>
                </a:extLst>
              </p:cNvPr>
              <p:cNvSpPr>
                <a:spLocks noChangeArrowheads="1"/>
              </p:cNvSpPr>
              <p:nvPr/>
            </p:nvSpPr>
            <p:spPr bwMode="auto">
              <a:xfrm>
                <a:off x="9067035" y="2629022"/>
                <a:ext cx="127044" cy="1984"/>
              </a:xfrm>
              <a:custGeom>
                <a:avLst/>
                <a:gdLst>
                  <a:gd name="T0" fmla="*/ 283 w 284"/>
                  <a:gd name="T1" fmla="*/ 0 h 1"/>
                  <a:gd name="T2" fmla="*/ 0 w 284"/>
                  <a:gd name="T3" fmla="*/ 0 h 1"/>
                </a:gdLst>
                <a:ahLst/>
                <a:cxnLst>
                  <a:cxn ang="0">
                    <a:pos x="T0" y="T1"/>
                  </a:cxn>
                  <a:cxn ang="0">
                    <a:pos x="T2" y="T3"/>
                  </a:cxn>
                </a:cxnLst>
                <a:rect l="0" t="0" r="r" b="b"/>
                <a:pathLst>
                  <a:path w="284" h="1">
                    <a:moveTo>
                      <a:pt x="283" y="0"/>
                    </a:moveTo>
                    <a:cubicBezTo>
                      <a:pt x="189" y="0"/>
                      <a:pt x="95"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16" name="Freeform 192">
                <a:extLst>
                  <a:ext uri="{FF2B5EF4-FFF2-40B4-BE49-F238E27FC236}">
                    <a16:creationId xmlns:a16="http://schemas.microsoft.com/office/drawing/2014/main" id="{5677A550-0AC1-7939-B106-75DA3B961E7E}"/>
                  </a:ext>
                </a:extLst>
              </p:cNvPr>
              <p:cNvSpPr>
                <a:spLocks noChangeArrowheads="1"/>
              </p:cNvSpPr>
              <p:nvPr/>
            </p:nvSpPr>
            <p:spPr bwMode="auto">
              <a:xfrm>
                <a:off x="9067035" y="2490068"/>
                <a:ext cx="127044" cy="1984"/>
              </a:xfrm>
              <a:custGeom>
                <a:avLst/>
                <a:gdLst>
                  <a:gd name="T0" fmla="*/ 283 w 284"/>
                  <a:gd name="T1" fmla="*/ 0 h 1"/>
                  <a:gd name="T2" fmla="*/ 0 w 284"/>
                  <a:gd name="T3" fmla="*/ 0 h 1"/>
                </a:gdLst>
                <a:ahLst/>
                <a:cxnLst>
                  <a:cxn ang="0">
                    <a:pos x="T0" y="T1"/>
                  </a:cxn>
                  <a:cxn ang="0">
                    <a:pos x="T2" y="T3"/>
                  </a:cxn>
                </a:cxnLst>
                <a:rect l="0" t="0" r="r" b="b"/>
                <a:pathLst>
                  <a:path w="284" h="1">
                    <a:moveTo>
                      <a:pt x="283" y="0"/>
                    </a:moveTo>
                    <a:cubicBezTo>
                      <a:pt x="189" y="0"/>
                      <a:pt x="95" y="0"/>
                      <a:pt x="0"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grpSp>
      </p:grpSp>
      <p:sp>
        <p:nvSpPr>
          <p:cNvPr id="217" name="TextBox 216">
            <a:extLst>
              <a:ext uri="{FF2B5EF4-FFF2-40B4-BE49-F238E27FC236}">
                <a16:creationId xmlns:a16="http://schemas.microsoft.com/office/drawing/2014/main" id="{B096F65A-2FF3-7ED2-5753-BC273ED596D6}"/>
              </a:ext>
            </a:extLst>
          </p:cNvPr>
          <p:cNvSpPr txBox="1"/>
          <p:nvPr/>
        </p:nvSpPr>
        <p:spPr>
          <a:xfrm>
            <a:off x="20256911" y="8851637"/>
            <a:ext cx="2736314" cy="430887"/>
          </a:xfrm>
          <a:prstGeom prst="rect">
            <a:avLst/>
          </a:prstGeom>
          <a:noFill/>
        </p:spPr>
        <p:txBody>
          <a:bodyPr wrap="square" rtlCol="0">
            <a:spAutoFit/>
          </a:bodyPr>
          <a:lstStyle/>
          <a:p>
            <a:pPr>
              <a:defRPr/>
            </a:pPr>
            <a:r>
              <a:rPr lang="en-GB" sz="2200">
                <a:latin typeface="+mj-lt"/>
              </a:rPr>
              <a:t>Knowledge Level</a:t>
            </a:r>
          </a:p>
        </p:txBody>
      </p:sp>
      <p:cxnSp>
        <p:nvCxnSpPr>
          <p:cNvPr id="218" name="Straight Connector 217">
            <a:extLst>
              <a:ext uri="{FF2B5EF4-FFF2-40B4-BE49-F238E27FC236}">
                <a16:creationId xmlns:a16="http://schemas.microsoft.com/office/drawing/2014/main" id="{F04E9123-41AD-4A30-486B-0EFCBF4A8E40}"/>
              </a:ext>
            </a:extLst>
          </p:cNvPr>
          <p:cNvCxnSpPr>
            <a:cxnSpLocks/>
          </p:cNvCxnSpPr>
          <p:nvPr/>
        </p:nvCxnSpPr>
        <p:spPr>
          <a:xfrm>
            <a:off x="20358156" y="9308454"/>
            <a:ext cx="219704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1" name="TextBox 220">
            <a:extLst>
              <a:ext uri="{FF2B5EF4-FFF2-40B4-BE49-F238E27FC236}">
                <a16:creationId xmlns:a16="http://schemas.microsoft.com/office/drawing/2014/main" id="{222FC898-C567-293E-4C73-3A85E7305DFD}"/>
              </a:ext>
            </a:extLst>
          </p:cNvPr>
          <p:cNvSpPr txBox="1"/>
          <p:nvPr/>
        </p:nvSpPr>
        <p:spPr>
          <a:xfrm>
            <a:off x="21416597" y="9339253"/>
            <a:ext cx="2436462" cy="430887"/>
          </a:xfrm>
          <a:prstGeom prst="rect">
            <a:avLst/>
          </a:prstGeom>
          <a:noFill/>
        </p:spPr>
        <p:txBody>
          <a:bodyPr wrap="square" rtlCol="0">
            <a:spAutoFit/>
          </a:bodyPr>
          <a:lstStyle/>
          <a:p>
            <a:pPr>
              <a:defRPr/>
            </a:pPr>
            <a:r>
              <a:rPr lang="en-GB" sz="2200">
                <a:latin typeface="+mj-lt"/>
              </a:rPr>
              <a:t>Level - High</a:t>
            </a:r>
          </a:p>
        </p:txBody>
      </p:sp>
      <p:grpSp>
        <p:nvGrpSpPr>
          <p:cNvPr id="224" name="Group 223">
            <a:extLst>
              <a:ext uri="{FF2B5EF4-FFF2-40B4-BE49-F238E27FC236}">
                <a16:creationId xmlns:a16="http://schemas.microsoft.com/office/drawing/2014/main" id="{D347DF46-7BE3-2F30-684F-F2833FAC8175}"/>
              </a:ext>
            </a:extLst>
          </p:cNvPr>
          <p:cNvGrpSpPr/>
          <p:nvPr/>
        </p:nvGrpSpPr>
        <p:grpSpPr>
          <a:xfrm>
            <a:off x="19251628" y="10655501"/>
            <a:ext cx="1097904" cy="1097902"/>
            <a:chOff x="2728747" y="3804176"/>
            <a:chExt cx="788068" cy="788067"/>
          </a:xfrm>
        </p:grpSpPr>
        <p:sp>
          <p:nvSpPr>
            <p:cNvPr id="225" name="Freeform 49">
              <a:extLst>
                <a:ext uri="{FF2B5EF4-FFF2-40B4-BE49-F238E27FC236}">
                  <a16:creationId xmlns:a16="http://schemas.microsoft.com/office/drawing/2014/main" id="{427E9B25-40DA-B18A-9DA5-5AD480C10E9D}"/>
                </a:ext>
              </a:extLst>
            </p:cNvPr>
            <p:cNvSpPr>
              <a:spLocks noChangeArrowheads="1"/>
            </p:cNvSpPr>
            <p:nvPr/>
          </p:nvSpPr>
          <p:spPr bwMode="auto">
            <a:xfrm>
              <a:off x="2728747" y="3804176"/>
              <a:ext cx="788068" cy="788067"/>
            </a:xfrm>
            <a:custGeom>
              <a:avLst/>
              <a:gdLst>
                <a:gd name="T0" fmla="*/ 282 w 1751"/>
                <a:gd name="T1" fmla="*/ 1750 h 1751"/>
                <a:gd name="T2" fmla="*/ 0 w 1751"/>
                <a:gd name="T3" fmla="*/ 1468 h 1751"/>
                <a:gd name="T4" fmla="*/ 0 w 1751"/>
                <a:gd name="T5" fmla="*/ 282 h 1751"/>
                <a:gd name="T6" fmla="*/ 282 w 1751"/>
                <a:gd name="T7" fmla="*/ 0 h 1751"/>
                <a:gd name="T8" fmla="*/ 1467 w 1751"/>
                <a:gd name="T9" fmla="*/ 0 h 1751"/>
                <a:gd name="T10" fmla="*/ 1750 w 1751"/>
                <a:gd name="T11" fmla="*/ 282 h 1751"/>
                <a:gd name="T12" fmla="*/ 1750 w 1751"/>
                <a:gd name="T13" fmla="*/ 1468 h 1751"/>
                <a:gd name="T14" fmla="*/ 1467 w 1751"/>
                <a:gd name="T15" fmla="*/ 1750 h 1751"/>
                <a:gd name="T16" fmla="*/ 282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282" y="1750"/>
                  </a:moveTo>
                  <a:cubicBezTo>
                    <a:pt x="127" y="1750"/>
                    <a:pt x="0" y="1623"/>
                    <a:pt x="0" y="1468"/>
                  </a:cubicBezTo>
                  <a:cubicBezTo>
                    <a:pt x="0" y="1073"/>
                    <a:pt x="0" y="678"/>
                    <a:pt x="0" y="282"/>
                  </a:cubicBezTo>
                  <a:cubicBezTo>
                    <a:pt x="0" y="127"/>
                    <a:pt x="127" y="0"/>
                    <a:pt x="282" y="0"/>
                  </a:cubicBezTo>
                  <a:cubicBezTo>
                    <a:pt x="677" y="0"/>
                    <a:pt x="1072" y="0"/>
                    <a:pt x="1467" y="0"/>
                  </a:cubicBezTo>
                  <a:cubicBezTo>
                    <a:pt x="1623" y="0"/>
                    <a:pt x="1750" y="127"/>
                    <a:pt x="1750" y="282"/>
                  </a:cubicBezTo>
                  <a:cubicBezTo>
                    <a:pt x="1750" y="678"/>
                    <a:pt x="1750" y="1073"/>
                    <a:pt x="1750" y="1468"/>
                  </a:cubicBezTo>
                  <a:cubicBezTo>
                    <a:pt x="1750" y="1623"/>
                    <a:pt x="1623" y="1750"/>
                    <a:pt x="1467" y="1750"/>
                  </a:cubicBezTo>
                  <a:cubicBezTo>
                    <a:pt x="1072" y="1750"/>
                    <a:pt x="677" y="1750"/>
                    <a:pt x="282" y="175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grpSp>
          <p:nvGrpSpPr>
            <p:cNvPr id="226" name="Group 225">
              <a:extLst>
                <a:ext uri="{FF2B5EF4-FFF2-40B4-BE49-F238E27FC236}">
                  <a16:creationId xmlns:a16="http://schemas.microsoft.com/office/drawing/2014/main" id="{2A5CFB88-1D89-0609-D76F-C149670572B6}"/>
                </a:ext>
              </a:extLst>
            </p:cNvPr>
            <p:cNvGrpSpPr/>
            <p:nvPr/>
          </p:nvGrpSpPr>
          <p:grpSpPr>
            <a:xfrm>
              <a:off x="2899462" y="3986801"/>
              <a:ext cx="446638" cy="424803"/>
              <a:chOff x="2899462" y="3986801"/>
              <a:chExt cx="446638" cy="424803"/>
            </a:xfrm>
          </p:grpSpPr>
          <p:sp>
            <p:nvSpPr>
              <p:cNvPr id="227" name="Freeform 50">
                <a:extLst>
                  <a:ext uri="{FF2B5EF4-FFF2-40B4-BE49-F238E27FC236}">
                    <a16:creationId xmlns:a16="http://schemas.microsoft.com/office/drawing/2014/main" id="{AB72EB53-CE9C-E9DD-8EF0-116B4CB6D7E3}"/>
                  </a:ext>
                </a:extLst>
              </p:cNvPr>
              <p:cNvSpPr>
                <a:spLocks noChangeArrowheads="1"/>
              </p:cNvSpPr>
              <p:nvPr/>
            </p:nvSpPr>
            <p:spPr bwMode="auto">
              <a:xfrm>
                <a:off x="2899462" y="3986801"/>
                <a:ext cx="446638" cy="190565"/>
              </a:xfrm>
              <a:custGeom>
                <a:avLst/>
                <a:gdLst>
                  <a:gd name="T0" fmla="*/ 496 w 992"/>
                  <a:gd name="T1" fmla="*/ 422 h 423"/>
                  <a:gd name="T2" fmla="*/ 991 w 992"/>
                  <a:gd name="T3" fmla="*/ 211 h 423"/>
                  <a:gd name="T4" fmla="*/ 496 w 992"/>
                  <a:gd name="T5" fmla="*/ 0 h 423"/>
                  <a:gd name="T6" fmla="*/ 0 w 992"/>
                  <a:gd name="T7" fmla="*/ 211 h 423"/>
                  <a:gd name="T8" fmla="*/ 496 w 992"/>
                  <a:gd name="T9" fmla="*/ 422 h 423"/>
                </a:gdLst>
                <a:ahLst/>
                <a:cxnLst>
                  <a:cxn ang="0">
                    <a:pos x="T0" y="T1"/>
                  </a:cxn>
                  <a:cxn ang="0">
                    <a:pos x="T2" y="T3"/>
                  </a:cxn>
                  <a:cxn ang="0">
                    <a:pos x="T4" y="T5"/>
                  </a:cxn>
                  <a:cxn ang="0">
                    <a:pos x="T6" y="T7"/>
                  </a:cxn>
                  <a:cxn ang="0">
                    <a:pos x="T8" y="T9"/>
                  </a:cxn>
                </a:cxnLst>
                <a:rect l="0" t="0" r="r" b="b"/>
                <a:pathLst>
                  <a:path w="992" h="423">
                    <a:moveTo>
                      <a:pt x="496" y="422"/>
                    </a:moveTo>
                    <a:cubicBezTo>
                      <a:pt x="769" y="422"/>
                      <a:pt x="991" y="327"/>
                      <a:pt x="991" y="211"/>
                    </a:cubicBezTo>
                    <a:cubicBezTo>
                      <a:pt x="991" y="95"/>
                      <a:pt x="769" y="0"/>
                      <a:pt x="496" y="0"/>
                    </a:cubicBezTo>
                    <a:cubicBezTo>
                      <a:pt x="222" y="0"/>
                      <a:pt x="0" y="95"/>
                      <a:pt x="0" y="211"/>
                    </a:cubicBezTo>
                    <a:cubicBezTo>
                      <a:pt x="0" y="327"/>
                      <a:pt x="222" y="422"/>
                      <a:pt x="496" y="422"/>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28" name="Freeform 51">
                <a:extLst>
                  <a:ext uri="{FF2B5EF4-FFF2-40B4-BE49-F238E27FC236}">
                    <a16:creationId xmlns:a16="http://schemas.microsoft.com/office/drawing/2014/main" id="{642396F4-C0DD-7FA2-1C9F-8157721534FA}"/>
                  </a:ext>
                </a:extLst>
              </p:cNvPr>
              <p:cNvSpPr>
                <a:spLocks noChangeArrowheads="1"/>
              </p:cNvSpPr>
              <p:nvPr/>
            </p:nvSpPr>
            <p:spPr bwMode="auto">
              <a:xfrm>
                <a:off x="3056282" y="4058263"/>
                <a:ext cx="134984" cy="45656"/>
              </a:xfrm>
              <a:custGeom>
                <a:avLst/>
                <a:gdLst>
                  <a:gd name="T0" fmla="*/ 149 w 298"/>
                  <a:gd name="T1" fmla="*/ 99 h 100"/>
                  <a:gd name="T2" fmla="*/ 297 w 298"/>
                  <a:gd name="T3" fmla="*/ 50 h 100"/>
                  <a:gd name="T4" fmla="*/ 149 w 298"/>
                  <a:gd name="T5" fmla="*/ 0 h 100"/>
                  <a:gd name="T6" fmla="*/ 0 w 298"/>
                  <a:gd name="T7" fmla="*/ 50 h 100"/>
                  <a:gd name="T8" fmla="*/ 149 w 298"/>
                  <a:gd name="T9" fmla="*/ 99 h 100"/>
                </a:gdLst>
                <a:ahLst/>
                <a:cxnLst>
                  <a:cxn ang="0">
                    <a:pos x="T0" y="T1"/>
                  </a:cxn>
                  <a:cxn ang="0">
                    <a:pos x="T2" y="T3"/>
                  </a:cxn>
                  <a:cxn ang="0">
                    <a:pos x="T4" y="T5"/>
                  </a:cxn>
                  <a:cxn ang="0">
                    <a:pos x="T6" y="T7"/>
                  </a:cxn>
                  <a:cxn ang="0">
                    <a:pos x="T8" y="T9"/>
                  </a:cxn>
                </a:cxnLst>
                <a:rect l="0" t="0" r="r" b="b"/>
                <a:pathLst>
                  <a:path w="298" h="100">
                    <a:moveTo>
                      <a:pt x="149" y="99"/>
                    </a:moveTo>
                    <a:cubicBezTo>
                      <a:pt x="231" y="99"/>
                      <a:pt x="297" y="77"/>
                      <a:pt x="297" y="50"/>
                    </a:cubicBezTo>
                    <a:cubicBezTo>
                      <a:pt x="297" y="23"/>
                      <a:pt x="231" y="0"/>
                      <a:pt x="149" y="0"/>
                    </a:cubicBezTo>
                    <a:cubicBezTo>
                      <a:pt x="67" y="0"/>
                      <a:pt x="0" y="23"/>
                      <a:pt x="0" y="50"/>
                    </a:cubicBezTo>
                    <a:cubicBezTo>
                      <a:pt x="0" y="77"/>
                      <a:pt x="67" y="99"/>
                      <a:pt x="149" y="99"/>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defRPr/>
                </a:pPr>
                <a:endParaRPr lang="en-US">
                  <a:latin typeface="+mj-lt"/>
                </a:endParaRPr>
              </a:p>
            </p:txBody>
          </p:sp>
          <p:sp>
            <p:nvSpPr>
              <p:cNvPr id="229" name="Freeform 52">
                <a:extLst>
                  <a:ext uri="{FF2B5EF4-FFF2-40B4-BE49-F238E27FC236}">
                    <a16:creationId xmlns:a16="http://schemas.microsoft.com/office/drawing/2014/main" id="{A5F9DF9D-9261-AD1B-2262-5171E24E26A9}"/>
                  </a:ext>
                </a:extLst>
              </p:cNvPr>
              <p:cNvSpPr>
                <a:spLocks noChangeArrowheads="1"/>
              </p:cNvSpPr>
              <p:nvPr/>
            </p:nvSpPr>
            <p:spPr bwMode="auto">
              <a:xfrm>
                <a:off x="2899462" y="4119799"/>
                <a:ext cx="446638" cy="134984"/>
              </a:xfrm>
              <a:custGeom>
                <a:avLst/>
                <a:gdLst>
                  <a:gd name="T0" fmla="*/ 44 w 992"/>
                  <a:gd name="T1" fmla="*/ 0 h 298"/>
                  <a:gd name="T2" fmla="*/ 0 w 992"/>
                  <a:gd name="T3" fmla="*/ 86 h 298"/>
                  <a:gd name="T4" fmla="*/ 496 w 992"/>
                  <a:gd name="T5" fmla="*/ 297 h 298"/>
                  <a:gd name="T6" fmla="*/ 991 w 992"/>
                  <a:gd name="T7" fmla="*/ 86 h 298"/>
                  <a:gd name="T8" fmla="*/ 947 w 992"/>
                  <a:gd name="T9" fmla="*/ 0 h 298"/>
                </a:gdLst>
                <a:ahLst/>
                <a:cxnLst>
                  <a:cxn ang="0">
                    <a:pos x="T0" y="T1"/>
                  </a:cxn>
                  <a:cxn ang="0">
                    <a:pos x="T2" y="T3"/>
                  </a:cxn>
                  <a:cxn ang="0">
                    <a:pos x="T4" y="T5"/>
                  </a:cxn>
                  <a:cxn ang="0">
                    <a:pos x="T6" y="T7"/>
                  </a:cxn>
                  <a:cxn ang="0">
                    <a:pos x="T8" y="T9"/>
                  </a:cxn>
                </a:cxnLst>
                <a:rect l="0" t="0" r="r" b="b"/>
                <a:pathLst>
                  <a:path w="992" h="298">
                    <a:moveTo>
                      <a:pt x="44" y="0"/>
                    </a:moveTo>
                    <a:cubicBezTo>
                      <a:pt x="16" y="26"/>
                      <a:pt x="0" y="55"/>
                      <a:pt x="0" y="86"/>
                    </a:cubicBezTo>
                    <a:cubicBezTo>
                      <a:pt x="0" y="203"/>
                      <a:pt x="222" y="297"/>
                      <a:pt x="496" y="297"/>
                    </a:cubicBezTo>
                    <a:cubicBezTo>
                      <a:pt x="769" y="297"/>
                      <a:pt x="991" y="203"/>
                      <a:pt x="991" y="86"/>
                    </a:cubicBezTo>
                    <a:cubicBezTo>
                      <a:pt x="991" y="55"/>
                      <a:pt x="975" y="26"/>
                      <a:pt x="947"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30" name="Freeform 53">
                <a:extLst>
                  <a:ext uri="{FF2B5EF4-FFF2-40B4-BE49-F238E27FC236}">
                    <a16:creationId xmlns:a16="http://schemas.microsoft.com/office/drawing/2014/main" id="{6DEB3889-D2B7-3B2F-A490-FEABFA53A49A}"/>
                  </a:ext>
                </a:extLst>
              </p:cNvPr>
              <p:cNvSpPr>
                <a:spLocks noChangeArrowheads="1"/>
              </p:cNvSpPr>
              <p:nvPr/>
            </p:nvSpPr>
            <p:spPr bwMode="auto">
              <a:xfrm>
                <a:off x="2899462" y="4197217"/>
                <a:ext cx="446638" cy="134984"/>
              </a:xfrm>
              <a:custGeom>
                <a:avLst/>
                <a:gdLst>
                  <a:gd name="T0" fmla="*/ 44 w 992"/>
                  <a:gd name="T1" fmla="*/ 0 h 298"/>
                  <a:gd name="T2" fmla="*/ 0 w 992"/>
                  <a:gd name="T3" fmla="*/ 87 h 298"/>
                  <a:gd name="T4" fmla="*/ 496 w 992"/>
                  <a:gd name="T5" fmla="*/ 297 h 298"/>
                  <a:gd name="T6" fmla="*/ 991 w 992"/>
                  <a:gd name="T7" fmla="*/ 87 h 298"/>
                  <a:gd name="T8" fmla="*/ 947 w 992"/>
                  <a:gd name="T9" fmla="*/ 0 h 298"/>
                </a:gdLst>
                <a:ahLst/>
                <a:cxnLst>
                  <a:cxn ang="0">
                    <a:pos x="T0" y="T1"/>
                  </a:cxn>
                  <a:cxn ang="0">
                    <a:pos x="T2" y="T3"/>
                  </a:cxn>
                  <a:cxn ang="0">
                    <a:pos x="T4" y="T5"/>
                  </a:cxn>
                  <a:cxn ang="0">
                    <a:pos x="T6" y="T7"/>
                  </a:cxn>
                  <a:cxn ang="0">
                    <a:pos x="T8" y="T9"/>
                  </a:cxn>
                </a:cxnLst>
                <a:rect l="0" t="0" r="r" b="b"/>
                <a:pathLst>
                  <a:path w="992" h="298">
                    <a:moveTo>
                      <a:pt x="44" y="0"/>
                    </a:moveTo>
                    <a:cubicBezTo>
                      <a:pt x="16" y="27"/>
                      <a:pt x="0" y="56"/>
                      <a:pt x="0" y="87"/>
                    </a:cubicBezTo>
                    <a:cubicBezTo>
                      <a:pt x="0" y="203"/>
                      <a:pt x="222" y="297"/>
                      <a:pt x="496" y="297"/>
                    </a:cubicBezTo>
                    <a:cubicBezTo>
                      <a:pt x="769" y="297"/>
                      <a:pt x="991" y="203"/>
                      <a:pt x="991" y="87"/>
                    </a:cubicBezTo>
                    <a:cubicBezTo>
                      <a:pt x="991" y="56"/>
                      <a:pt x="975" y="27"/>
                      <a:pt x="947"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sp>
            <p:nvSpPr>
              <p:cNvPr id="231" name="Freeform 54">
                <a:extLst>
                  <a:ext uri="{FF2B5EF4-FFF2-40B4-BE49-F238E27FC236}">
                    <a16:creationId xmlns:a16="http://schemas.microsoft.com/office/drawing/2014/main" id="{6EE85267-CC62-F5C1-26C1-C38CC7E054C6}"/>
                  </a:ext>
                </a:extLst>
              </p:cNvPr>
              <p:cNvSpPr>
                <a:spLocks noChangeArrowheads="1"/>
              </p:cNvSpPr>
              <p:nvPr/>
            </p:nvSpPr>
            <p:spPr bwMode="auto">
              <a:xfrm>
                <a:off x="2899462" y="4276620"/>
                <a:ext cx="446638" cy="134984"/>
              </a:xfrm>
              <a:custGeom>
                <a:avLst/>
                <a:gdLst>
                  <a:gd name="T0" fmla="*/ 44 w 992"/>
                  <a:gd name="T1" fmla="*/ 0 h 298"/>
                  <a:gd name="T2" fmla="*/ 0 w 992"/>
                  <a:gd name="T3" fmla="*/ 86 h 298"/>
                  <a:gd name="T4" fmla="*/ 496 w 992"/>
                  <a:gd name="T5" fmla="*/ 297 h 298"/>
                  <a:gd name="T6" fmla="*/ 991 w 992"/>
                  <a:gd name="T7" fmla="*/ 86 h 298"/>
                  <a:gd name="T8" fmla="*/ 947 w 992"/>
                  <a:gd name="T9" fmla="*/ 0 h 298"/>
                </a:gdLst>
                <a:ahLst/>
                <a:cxnLst>
                  <a:cxn ang="0">
                    <a:pos x="T0" y="T1"/>
                  </a:cxn>
                  <a:cxn ang="0">
                    <a:pos x="T2" y="T3"/>
                  </a:cxn>
                  <a:cxn ang="0">
                    <a:pos x="T4" y="T5"/>
                  </a:cxn>
                  <a:cxn ang="0">
                    <a:pos x="T6" y="T7"/>
                  </a:cxn>
                  <a:cxn ang="0">
                    <a:pos x="T8" y="T9"/>
                  </a:cxn>
                </a:cxnLst>
                <a:rect l="0" t="0" r="r" b="b"/>
                <a:pathLst>
                  <a:path w="992" h="298">
                    <a:moveTo>
                      <a:pt x="44" y="0"/>
                    </a:moveTo>
                    <a:cubicBezTo>
                      <a:pt x="16" y="26"/>
                      <a:pt x="0" y="55"/>
                      <a:pt x="0" y="86"/>
                    </a:cubicBezTo>
                    <a:cubicBezTo>
                      <a:pt x="0" y="203"/>
                      <a:pt x="222" y="297"/>
                      <a:pt x="496" y="297"/>
                    </a:cubicBezTo>
                    <a:cubicBezTo>
                      <a:pt x="769" y="297"/>
                      <a:pt x="991" y="203"/>
                      <a:pt x="991" y="86"/>
                    </a:cubicBezTo>
                    <a:cubicBezTo>
                      <a:pt x="991" y="55"/>
                      <a:pt x="975" y="26"/>
                      <a:pt x="947" y="0"/>
                    </a:cubicBezTo>
                  </a:path>
                </a:pathLst>
              </a:custGeom>
              <a:noFill/>
              <a:ln w="15875" cap="flat">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defRPr/>
                </a:pPr>
                <a:endParaRPr lang="en-US">
                  <a:latin typeface="+mj-lt"/>
                </a:endParaRPr>
              </a:p>
            </p:txBody>
          </p:sp>
        </p:grpSp>
      </p:grpSp>
      <p:sp>
        <p:nvSpPr>
          <p:cNvPr id="232" name="TextBox 231">
            <a:extLst>
              <a:ext uri="{FF2B5EF4-FFF2-40B4-BE49-F238E27FC236}">
                <a16:creationId xmlns:a16="http://schemas.microsoft.com/office/drawing/2014/main" id="{7129D21F-1697-EE52-CFAE-F2E2FEA61A84}"/>
              </a:ext>
            </a:extLst>
          </p:cNvPr>
          <p:cNvSpPr txBox="1"/>
          <p:nvPr/>
        </p:nvSpPr>
        <p:spPr>
          <a:xfrm>
            <a:off x="20249497" y="10564465"/>
            <a:ext cx="2736314" cy="430887"/>
          </a:xfrm>
          <a:prstGeom prst="rect">
            <a:avLst/>
          </a:prstGeom>
          <a:noFill/>
        </p:spPr>
        <p:txBody>
          <a:bodyPr wrap="square" rtlCol="0">
            <a:spAutoFit/>
          </a:bodyPr>
          <a:lstStyle/>
          <a:p>
            <a:pPr>
              <a:defRPr/>
            </a:pPr>
            <a:r>
              <a:rPr lang="en-GB" sz="2200">
                <a:latin typeface="+mj-lt"/>
              </a:rPr>
              <a:t>File Data Volume</a:t>
            </a:r>
          </a:p>
        </p:txBody>
      </p:sp>
      <p:cxnSp>
        <p:nvCxnSpPr>
          <p:cNvPr id="233" name="Straight Connector 232">
            <a:extLst>
              <a:ext uri="{FF2B5EF4-FFF2-40B4-BE49-F238E27FC236}">
                <a16:creationId xmlns:a16="http://schemas.microsoft.com/office/drawing/2014/main" id="{FD4BCBBC-9E30-8E5B-A552-EC5A2C240550}"/>
              </a:ext>
            </a:extLst>
          </p:cNvPr>
          <p:cNvCxnSpPr>
            <a:cxnSpLocks/>
          </p:cNvCxnSpPr>
          <p:nvPr/>
        </p:nvCxnSpPr>
        <p:spPr>
          <a:xfrm>
            <a:off x="20350742" y="11021282"/>
            <a:ext cx="219704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4" name="TextBox 233">
            <a:extLst>
              <a:ext uri="{FF2B5EF4-FFF2-40B4-BE49-F238E27FC236}">
                <a16:creationId xmlns:a16="http://schemas.microsoft.com/office/drawing/2014/main" id="{0FF7E41F-1CB4-0C4B-E2EF-C004C649A6BD}"/>
              </a:ext>
            </a:extLst>
          </p:cNvPr>
          <p:cNvSpPr txBox="1"/>
          <p:nvPr/>
        </p:nvSpPr>
        <p:spPr>
          <a:xfrm>
            <a:off x="21409183" y="11052081"/>
            <a:ext cx="2436462" cy="430887"/>
          </a:xfrm>
          <a:prstGeom prst="rect">
            <a:avLst/>
          </a:prstGeom>
          <a:noFill/>
        </p:spPr>
        <p:txBody>
          <a:bodyPr wrap="square" rtlCol="0">
            <a:spAutoFit/>
          </a:bodyPr>
          <a:lstStyle/>
          <a:p>
            <a:pPr>
              <a:defRPr/>
            </a:pPr>
            <a:r>
              <a:rPr lang="en-GB" sz="2200">
                <a:latin typeface="+mj-lt"/>
              </a:rPr>
              <a:t>12TB Data</a:t>
            </a:r>
          </a:p>
        </p:txBody>
      </p:sp>
      <p:sp>
        <p:nvSpPr>
          <p:cNvPr id="2" name="Rectangle 1">
            <a:extLst>
              <a:ext uri="{FF2B5EF4-FFF2-40B4-BE49-F238E27FC236}">
                <a16:creationId xmlns:a16="http://schemas.microsoft.com/office/drawing/2014/main" id="{BB4504C2-942B-A210-6CCB-FDA537F49962}"/>
              </a:ext>
            </a:extLst>
          </p:cNvPr>
          <p:cNvSpPr/>
          <p:nvPr/>
        </p:nvSpPr>
        <p:spPr>
          <a:xfrm>
            <a:off x="7114625" y="1743776"/>
            <a:ext cx="3335114" cy="428208"/>
          </a:xfrm>
          <a:prstGeom prst="rect">
            <a:avLst/>
          </a:prstGeom>
          <a:solidFill>
            <a:srgbClr val="00BEBC">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a:solidFill>
                  <a:schemeClr val="bg1"/>
                </a:solidFill>
                <a:latin typeface="+mj-lt"/>
              </a:rPr>
              <a:t>Knowledge Level</a:t>
            </a:r>
          </a:p>
        </p:txBody>
      </p:sp>
      <p:sp>
        <p:nvSpPr>
          <p:cNvPr id="88" name="Rectangle 87">
            <a:extLst>
              <a:ext uri="{FF2B5EF4-FFF2-40B4-BE49-F238E27FC236}">
                <a16:creationId xmlns:a16="http://schemas.microsoft.com/office/drawing/2014/main" id="{5565D6F3-9315-1BFE-A5B0-D5760FB5B5CB}"/>
              </a:ext>
            </a:extLst>
          </p:cNvPr>
          <p:cNvSpPr/>
          <p:nvPr/>
        </p:nvSpPr>
        <p:spPr>
          <a:xfrm>
            <a:off x="13934261" y="1743776"/>
            <a:ext cx="3335114" cy="428208"/>
          </a:xfrm>
          <a:prstGeom prst="rect">
            <a:avLst/>
          </a:prstGeom>
          <a:solidFill>
            <a:schemeClr val="accent6">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a:solidFill>
                  <a:schemeClr val="bg1"/>
                </a:solidFill>
                <a:latin typeface="+mj-lt"/>
              </a:rPr>
              <a:t>Business Criticality</a:t>
            </a:r>
          </a:p>
        </p:txBody>
      </p:sp>
      <p:pic>
        <p:nvPicPr>
          <p:cNvPr id="158" name="Picture 157" descr="Achilles launches Ethical Business ...">
            <a:extLst>
              <a:ext uri="{FF2B5EF4-FFF2-40B4-BE49-F238E27FC236}">
                <a16:creationId xmlns:a16="http://schemas.microsoft.com/office/drawing/2014/main" id="{AEC2E663-4064-6BC5-8B2E-2D9A22F870CA}"/>
              </a:ext>
            </a:extLst>
          </p:cNvPr>
          <p:cNvPicPr>
            <a:picLocks noChangeAspect="1"/>
          </p:cNvPicPr>
          <p:nvPr/>
        </p:nvPicPr>
        <p:blipFill>
          <a:blip r:embed="rId3"/>
          <a:stretch>
            <a:fillRect/>
          </a:stretch>
        </p:blipFill>
        <p:spPr>
          <a:xfrm>
            <a:off x="19574166" y="3626"/>
            <a:ext cx="4236252" cy="2462276"/>
          </a:xfrm>
          <a:prstGeom prst="rect">
            <a:avLst/>
          </a:prstGeom>
        </p:spPr>
      </p:pic>
      <p:cxnSp>
        <p:nvCxnSpPr>
          <p:cNvPr id="163" name="Straight Connector 162">
            <a:extLst>
              <a:ext uri="{FF2B5EF4-FFF2-40B4-BE49-F238E27FC236}">
                <a16:creationId xmlns:a16="http://schemas.microsoft.com/office/drawing/2014/main" id="{145005DF-0AEB-6B48-7D14-DBB07580EB31}"/>
              </a:ext>
            </a:extLst>
          </p:cNvPr>
          <p:cNvCxnSpPr>
            <a:cxnSpLocks/>
          </p:cNvCxnSpPr>
          <p:nvPr/>
        </p:nvCxnSpPr>
        <p:spPr>
          <a:xfrm flipV="1">
            <a:off x="18839438" y="2249847"/>
            <a:ext cx="0" cy="1146615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80348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7A0A9F-C0C6-DEBB-6587-F7146D52B28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78A2C7B-49B5-2386-F857-BD8337CB35CF}"/>
              </a:ext>
            </a:extLst>
          </p:cNvPr>
          <p:cNvSpPr>
            <a:spLocks noGrp="1"/>
          </p:cNvSpPr>
          <p:nvPr>
            <p:ph type="title"/>
          </p:nvPr>
        </p:nvSpPr>
        <p:spPr>
          <a:xfrm>
            <a:off x="668992" y="537179"/>
            <a:ext cx="22991108" cy="997838"/>
          </a:xfrm>
        </p:spPr>
        <p:txBody>
          <a:bodyPr/>
          <a:lstStyle/>
          <a:p>
            <a:r>
              <a:rPr lang="en-GB"/>
              <a:t>High-Level Release Plan – Azure</a:t>
            </a:r>
          </a:p>
        </p:txBody>
      </p:sp>
      <p:sp>
        <p:nvSpPr>
          <p:cNvPr id="3" name="Slide Number Placeholder 2">
            <a:extLst>
              <a:ext uri="{FF2B5EF4-FFF2-40B4-BE49-F238E27FC236}">
                <a16:creationId xmlns:a16="http://schemas.microsoft.com/office/drawing/2014/main" id="{6C3DB736-4C68-2EF7-7081-C2DCD1B62E26}"/>
              </a:ext>
            </a:extLst>
          </p:cNvPr>
          <p:cNvSpPr>
            <a:spLocks noGrp="1"/>
          </p:cNvSpPr>
          <p:nvPr>
            <p:ph type="sldNum" sz="quarter" idx="4"/>
          </p:nvPr>
        </p:nvSpPr>
        <p:spPr/>
        <p:txBody>
          <a:bodyPr/>
          <a:lstStyle/>
          <a:p>
            <a:fld id="{762E77F0-FB5B-4E8E-9BC9-34F14560A017}" type="slidenum">
              <a:rPr lang="en-US" smtClean="0">
                <a:latin typeface="+mj-lt"/>
              </a:rPr>
              <a:pPr/>
              <a:t>66</a:t>
            </a:fld>
            <a:endParaRPr lang="en-US">
              <a:latin typeface="+mj-lt"/>
            </a:endParaRPr>
          </a:p>
        </p:txBody>
      </p:sp>
      <p:graphicFrame>
        <p:nvGraphicFramePr>
          <p:cNvPr id="4" name="Table 3">
            <a:extLst>
              <a:ext uri="{FF2B5EF4-FFF2-40B4-BE49-F238E27FC236}">
                <a16:creationId xmlns:a16="http://schemas.microsoft.com/office/drawing/2014/main" id="{9DFB288B-E307-3061-CFAE-B60BBE18B0A9}"/>
              </a:ext>
            </a:extLst>
          </p:cNvPr>
          <p:cNvGraphicFramePr>
            <a:graphicFrameLocks noGrp="1"/>
          </p:cNvGraphicFramePr>
          <p:nvPr/>
        </p:nvGraphicFramePr>
        <p:xfrm>
          <a:off x="565644" y="2789448"/>
          <a:ext cx="23252712" cy="9248672"/>
        </p:xfrm>
        <a:graphic>
          <a:graphicData uri="http://schemas.openxmlformats.org/drawingml/2006/table">
            <a:tbl>
              <a:tblPr firstRow="1" bandRow="1">
                <a:tableStyleId>{5C22544A-7EE6-4342-B048-85BDC9FD1C3A}</a:tableStyleId>
              </a:tblPr>
              <a:tblGrid>
                <a:gridCol w="830454">
                  <a:extLst>
                    <a:ext uri="{9D8B030D-6E8A-4147-A177-3AD203B41FA5}">
                      <a16:colId xmlns:a16="http://schemas.microsoft.com/office/drawing/2014/main" val="712184300"/>
                    </a:ext>
                  </a:extLst>
                </a:gridCol>
                <a:gridCol w="830454">
                  <a:extLst>
                    <a:ext uri="{9D8B030D-6E8A-4147-A177-3AD203B41FA5}">
                      <a16:colId xmlns:a16="http://schemas.microsoft.com/office/drawing/2014/main" val="2424333893"/>
                    </a:ext>
                  </a:extLst>
                </a:gridCol>
                <a:gridCol w="830454">
                  <a:extLst>
                    <a:ext uri="{9D8B030D-6E8A-4147-A177-3AD203B41FA5}">
                      <a16:colId xmlns:a16="http://schemas.microsoft.com/office/drawing/2014/main" val="3593382404"/>
                    </a:ext>
                  </a:extLst>
                </a:gridCol>
                <a:gridCol w="830454">
                  <a:extLst>
                    <a:ext uri="{9D8B030D-6E8A-4147-A177-3AD203B41FA5}">
                      <a16:colId xmlns:a16="http://schemas.microsoft.com/office/drawing/2014/main" val="3718225364"/>
                    </a:ext>
                  </a:extLst>
                </a:gridCol>
                <a:gridCol w="830454">
                  <a:extLst>
                    <a:ext uri="{9D8B030D-6E8A-4147-A177-3AD203B41FA5}">
                      <a16:colId xmlns:a16="http://schemas.microsoft.com/office/drawing/2014/main" val="736112135"/>
                    </a:ext>
                  </a:extLst>
                </a:gridCol>
                <a:gridCol w="830454">
                  <a:extLst>
                    <a:ext uri="{9D8B030D-6E8A-4147-A177-3AD203B41FA5}">
                      <a16:colId xmlns:a16="http://schemas.microsoft.com/office/drawing/2014/main" val="1422397768"/>
                    </a:ext>
                  </a:extLst>
                </a:gridCol>
                <a:gridCol w="830454">
                  <a:extLst>
                    <a:ext uri="{9D8B030D-6E8A-4147-A177-3AD203B41FA5}">
                      <a16:colId xmlns:a16="http://schemas.microsoft.com/office/drawing/2014/main" val="3085822828"/>
                    </a:ext>
                  </a:extLst>
                </a:gridCol>
                <a:gridCol w="830454">
                  <a:extLst>
                    <a:ext uri="{9D8B030D-6E8A-4147-A177-3AD203B41FA5}">
                      <a16:colId xmlns:a16="http://schemas.microsoft.com/office/drawing/2014/main" val="1244982596"/>
                    </a:ext>
                  </a:extLst>
                </a:gridCol>
                <a:gridCol w="830454">
                  <a:extLst>
                    <a:ext uri="{9D8B030D-6E8A-4147-A177-3AD203B41FA5}">
                      <a16:colId xmlns:a16="http://schemas.microsoft.com/office/drawing/2014/main" val="2050576690"/>
                    </a:ext>
                  </a:extLst>
                </a:gridCol>
                <a:gridCol w="830454">
                  <a:extLst>
                    <a:ext uri="{9D8B030D-6E8A-4147-A177-3AD203B41FA5}">
                      <a16:colId xmlns:a16="http://schemas.microsoft.com/office/drawing/2014/main" val="3174208659"/>
                    </a:ext>
                  </a:extLst>
                </a:gridCol>
                <a:gridCol w="830454">
                  <a:extLst>
                    <a:ext uri="{9D8B030D-6E8A-4147-A177-3AD203B41FA5}">
                      <a16:colId xmlns:a16="http://schemas.microsoft.com/office/drawing/2014/main" val="3853355482"/>
                    </a:ext>
                  </a:extLst>
                </a:gridCol>
                <a:gridCol w="830454">
                  <a:extLst>
                    <a:ext uri="{9D8B030D-6E8A-4147-A177-3AD203B41FA5}">
                      <a16:colId xmlns:a16="http://schemas.microsoft.com/office/drawing/2014/main" val="2292536065"/>
                    </a:ext>
                  </a:extLst>
                </a:gridCol>
                <a:gridCol w="830454">
                  <a:extLst>
                    <a:ext uri="{9D8B030D-6E8A-4147-A177-3AD203B41FA5}">
                      <a16:colId xmlns:a16="http://schemas.microsoft.com/office/drawing/2014/main" val="393505867"/>
                    </a:ext>
                  </a:extLst>
                </a:gridCol>
                <a:gridCol w="830454">
                  <a:extLst>
                    <a:ext uri="{9D8B030D-6E8A-4147-A177-3AD203B41FA5}">
                      <a16:colId xmlns:a16="http://schemas.microsoft.com/office/drawing/2014/main" val="2046631917"/>
                    </a:ext>
                  </a:extLst>
                </a:gridCol>
                <a:gridCol w="830454">
                  <a:extLst>
                    <a:ext uri="{9D8B030D-6E8A-4147-A177-3AD203B41FA5}">
                      <a16:colId xmlns:a16="http://schemas.microsoft.com/office/drawing/2014/main" val="2696860446"/>
                    </a:ext>
                  </a:extLst>
                </a:gridCol>
                <a:gridCol w="830454">
                  <a:extLst>
                    <a:ext uri="{9D8B030D-6E8A-4147-A177-3AD203B41FA5}">
                      <a16:colId xmlns:a16="http://schemas.microsoft.com/office/drawing/2014/main" val="619941978"/>
                    </a:ext>
                  </a:extLst>
                </a:gridCol>
                <a:gridCol w="830454">
                  <a:extLst>
                    <a:ext uri="{9D8B030D-6E8A-4147-A177-3AD203B41FA5}">
                      <a16:colId xmlns:a16="http://schemas.microsoft.com/office/drawing/2014/main" val="1866930123"/>
                    </a:ext>
                  </a:extLst>
                </a:gridCol>
                <a:gridCol w="830454">
                  <a:extLst>
                    <a:ext uri="{9D8B030D-6E8A-4147-A177-3AD203B41FA5}">
                      <a16:colId xmlns:a16="http://schemas.microsoft.com/office/drawing/2014/main" val="4116657051"/>
                    </a:ext>
                  </a:extLst>
                </a:gridCol>
                <a:gridCol w="830454">
                  <a:extLst>
                    <a:ext uri="{9D8B030D-6E8A-4147-A177-3AD203B41FA5}">
                      <a16:colId xmlns:a16="http://schemas.microsoft.com/office/drawing/2014/main" val="2959429504"/>
                    </a:ext>
                  </a:extLst>
                </a:gridCol>
                <a:gridCol w="830454">
                  <a:extLst>
                    <a:ext uri="{9D8B030D-6E8A-4147-A177-3AD203B41FA5}">
                      <a16:colId xmlns:a16="http://schemas.microsoft.com/office/drawing/2014/main" val="4217313970"/>
                    </a:ext>
                  </a:extLst>
                </a:gridCol>
                <a:gridCol w="830454">
                  <a:extLst>
                    <a:ext uri="{9D8B030D-6E8A-4147-A177-3AD203B41FA5}">
                      <a16:colId xmlns:a16="http://schemas.microsoft.com/office/drawing/2014/main" val="4170283363"/>
                    </a:ext>
                  </a:extLst>
                </a:gridCol>
                <a:gridCol w="830454">
                  <a:extLst>
                    <a:ext uri="{9D8B030D-6E8A-4147-A177-3AD203B41FA5}">
                      <a16:colId xmlns:a16="http://schemas.microsoft.com/office/drawing/2014/main" val="3476204744"/>
                    </a:ext>
                  </a:extLst>
                </a:gridCol>
                <a:gridCol w="830454">
                  <a:extLst>
                    <a:ext uri="{9D8B030D-6E8A-4147-A177-3AD203B41FA5}">
                      <a16:colId xmlns:a16="http://schemas.microsoft.com/office/drawing/2014/main" val="741067442"/>
                    </a:ext>
                  </a:extLst>
                </a:gridCol>
                <a:gridCol w="830454">
                  <a:extLst>
                    <a:ext uri="{9D8B030D-6E8A-4147-A177-3AD203B41FA5}">
                      <a16:colId xmlns:a16="http://schemas.microsoft.com/office/drawing/2014/main" val="998994736"/>
                    </a:ext>
                  </a:extLst>
                </a:gridCol>
                <a:gridCol w="830454">
                  <a:extLst>
                    <a:ext uri="{9D8B030D-6E8A-4147-A177-3AD203B41FA5}">
                      <a16:colId xmlns:a16="http://schemas.microsoft.com/office/drawing/2014/main" val="3349688206"/>
                    </a:ext>
                  </a:extLst>
                </a:gridCol>
                <a:gridCol w="830454">
                  <a:extLst>
                    <a:ext uri="{9D8B030D-6E8A-4147-A177-3AD203B41FA5}">
                      <a16:colId xmlns:a16="http://schemas.microsoft.com/office/drawing/2014/main" val="613391585"/>
                    </a:ext>
                  </a:extLst>
                </a:gridCol>
                <a:gridCol w="830454">
                  <a:extLst>
                    <a:ext uri="{9D8B030D-6E8A-4147-A177-3AD203B41FA5}">
                      <a16:colId xmlns:a16="http://schemas.microsoft.com/office/drawing/2014/main" val="1945001895"/>
                    </a:ext>
                  </a:extLst>
                </a:gridCol>
                <a:gridCol w="830454">
                  <a:extLst>
                    <a:ext uri="{9D8B030D-6E8A-4147-A177-3AD203B41FA5}">
                      <a16:colId xmlns:a16="http://schemas.microsoft.com/office/drawing/2014/main" val="31954738"/>
                    </a:ext>
                  </a:extLst>
                </a:gridCol>
              </a:tblGrid>
              <a:tr h="1036320">
                <a:tc>
                  <a:txBody>
                    <a:bodyPr/>
                    <a:lstStyle/>
                    <a:p>
                      <a:r>
                        <a:rPr lang="en-GB" sz="2800">
                          <a:solidFill>
                            <a:schemeClr val="tx1"/>
                          </a:solidFill>
                        </a:rPr>
                        <a:t>WK</a:t>
                      </a:r>
                    </a:p>
                  </a:txBody>
                  <a:tcPr marL="182880" marR="182880" marT="91440" marB="91440"/>
                </a:tc>
                <a:tc>
                  <a:txBody>
                    <a:bodyPr/>
                    <a:lstStyle/>
                    <a:p>
                      <a:r>
                        <a:rPr lang="en-GB" sz="2800">
                          <a:solidFill>
                            <a:schemeClr val="tx1"/>
                          </a:solidFill>
                        </a:rPr>
                        <a:t>1</a:t>
                      </a:r>
                    </a:p>
                  </a:txBody>
                  <a:tcPr marL="182880" marR="182880" marT="91440" marB="91440"/>
                </a:tc>
                <a:tc>
                  <a:txBody>
                    <a:bodyPr/>
                    <a:lstStyle/>
                    <a:p>
                      <a:r>
                        <a:rPr lang="en-GB" sz="2800">
                          <a:solidFill>
                            <a:schemeClr val="tx1"/>
                          </a:solidFill>
                        </a:rPr>
                        <a:t>2</a:t>
                      </a:r>
                    </a:p>
                  </a:txBody>
                  <a:tcPr marL="182880" marR="182880" marT="91440" marB="91440"/>
                </a:tc>
                <a:tc>
                  <a:txBody>
                    <a:bodyPr/>
                    <a:lstStyle/>
                    <a:p>
                      <a:r>
                        <a:rPr lang="en-GB" sz="2800">
                          <a:solidFill>
                            <a:schemeClr val="tx1"/>
                          </a:solidFill>
                        </a:rPr>
                        <a:t>3</a:t>
                      </a:r>
                    </a:p>
                  </a:txBody>
                  <a:tcPr marL="182880" marR="182880" marT="91440" marB="91440"/>
                </a:tc>
                <a:tc>
                  <a:txBody>
                    <a:bodyPr/>
                    <a:lstStyle/>
                    <a:p>
                      <a:r>
                        <a:rPr lang="en-GB" sz="2800">
                          <a:solidFill>
                            <a:schemeClr val="tx1"/>
                          </a:solidFill>
                        </a:rPr>
                        <a:t>4</a:t>
                      </a:r>
                    </a:p>
                  </a:txBody>
                  <a:tcPr marL="182880" marR="182880" marT="91440" marB="91440"/>
                </a:tc>
                <a:tc>
                  <a:txBody>
                    <a:bodyPr/>
                    <a:lstStyle/>
                    <a:p>
                      <a:r>
                        <a:rPr lang="en-GB" sz="2800">
                          <a:solidFill>
                            <a:schemeClr val="tx1"/>
                          </a:solidFill>
                        </a:rPr>
                        <a:t>5</a:t>
                      </a:r>
                    </a:p>
                  </a:txBody>
                  <a:tcPr marL="182880" marR="182880" marT="91440" marB="91440"/>
                </a:tc>
                <a:tc>
                  <a:txBody>
                    <a:bodyPr/>
                    <a:lstStyle/>
                    <a:p>
                      <a:r>
                        <a:rPr lang="en-GB" sz="2800">
                          <a:solidFill>
                            <a:schemeClr val="tx1"/>
                          </a:solidFill>
                        </a:rPr>
                        <a:t>6</a:t>
                      </a:r>
                    </a:p>
                  </a:txBody>
                  <a:tcPr marL="182880" marR="182880" marT="91440" marB="91440"/>
                </a:tc>
                <a:tc>
                  <a:txBody>
                    <a:bodyPr/>
                    <a:lstStyle/>
                    <a:p>
                      <a:r>
                        <a:rPr lang="en-GB" sz="2800">
                          <a:solidFill>
                            <a:schemeClr val="tx1"/>
                          </a:solidFill>
                        </a:rPr>
                        <a:t>7</a:t>
                      </a:r>
                    </a:p>
                  </a:txBody>
                  <a:tcPr marL="182880" marR="182880" marT="91440" marB="91440"/>
                </a:tc>
                <a:tc>
                  <a:txBody>
                    <a:bodyPr/>
                    <a:lstStyle/>
                    <a:p>
                      <a:r>
                        <a:rPr lang="en-GB" sz="2800">
                          <a:solidFill>
                            <a:schemeClr val="tx1"/>
                          </a:solidFill>
                        </a:rPr>
                        <a:t>8</a:t>
                      </a:r>
                    </a:p>
                  </a:txBody>
                  <a:tcPr marL="182880" marR="182880" marT="91440" marB="91440"/>
                </a:tc>
                <a:tc>
                  <a:txBody>
                    <a:bodyPr/>
                    <a:lstStyle/>
                    <a:p>
                      <a:r>
                        <a:rPr lang="en-GB" sz="2800">
                          <a:solidFill>
                            <a:schemeClr val="tx1"/>
                          </a:solidFill>
                        </a:rPr>
                        <a:t>9</a:t>
                      </a:r>
                    </a:p>
                  </a:txBody>
                  <a:tcPr marL="182880" marR="182880" marT="91440" marB="91440"/>
                </a:tc>
                <a:tc>
                  <a:txBody>
                    <a:bodyPr/>
                    <a:lstStyle/>
                    <a:p>
                      <a:r>
                        <a:rPr lang="en-GB" sz="2800">
                          <a:solidFill>
                            <a:schemeClr val="tx1"/>
                          </a:solidFill>
                        </a:rPr>
                        <a:t>10</a:t>
                      </a:r>
                    </a:p>
                  </a:txBody>
                  <a:tcPr marL="182880" marR="182880" marT="91440" marB="91440"/>
                </a:tc>
                <a:tc>
                  <a:txBody>
                    <a:bodyPr/>
                    <a:lstStyle/>
                    <a:p>
                      <a:r>
                        <a:rPr lang="en-GB" sz="2800">
                          <a:solidFill>
                            <a:schemeClr val="tx1"/>
                          </a:solidFill>
                        </a:rPr>
                        <a:t>11</a:t>
                      </a:r>
                    </a:p>
                  </a:txBody>
                  <a:tcPr marL="182880" marR="182880" marT="91440" marB="91440"/>
                </a:tc>
                <a:tc>
                  <a:txBody>
                    <a:bodyPr/>
                    <a:lstStyle/>
                    <a:p>
                      <a:r>
                        <a:rPr lang="en-GB" sz="2800">
                          <a:solidFill>
                            <a:schemeClr val="tx1"/>
                          </a:solidFill>
                        </a:rPr>
                        <a:t>12</a:t>
                      </a:r>
                    </a:p>
                  </a:txBody>
                  <a:tcPr marL="182880" marR="182880" marT="91440" marB="91440"/>
                </a:tc>
                <a:tc>
                  <a:txBody>
                    <a:bodyPr/>
                    <a:lstStyle/>
                    <a:p>
                      <a:r>
                        <a:rPr lang="en-GB" sz="2800">
                          <a:solidFill>
                            <a:schemeClr val="tx1"/>
                          </a:solidFill>
                        </a:rPr>
                        <a:t>13</a:t>
                      </a:r>
                    </a:p>
                  </a:txBody>
                  <a:tcPr marL="182880" marR="182880" marT="91440" marB="91440"/>
                </a:tc>
                <a:tc>
                  <a:txBody>
                    <a:bodyPr/>
                    <a:lstStyle/>
                    <a:p>
                      <a:r>
                        <a:rPr lang="en-GB" sz="2800">
                          <a:solidFill>
                            <a:schemeClr val="tx1"/>
                          </a:solidFill>
                        </a:rPr>
                        <a:t>14</a:t>
                      </a:r>
                    </a:p>
                  </a:txBody>
                  <a:tcPr marL="182880" marR="182880" marT="91440" marB="91440"/>
                </a:tc>
                <a:tc>
                  <a:txBody>
                    <a:bodyPr/>
                    <a:lstStyle/>
                    <a:p>
                      <a:r>
                        <a:rPr lang="en-GB" sz="2800">
                          <a:solidFill>
                            <a:schemeClr val="tx1"/>
                          </a:solidFill>
                        </a:rPr>
                        <a:t>15</a:t>
                      </a:r>
                    </a:p>
                  </a:txBody>
                  <a:tcPr marL="182880" marR="182880" marT="91440" marB="91440"/>
                </a:tc>
                <a:tc>
                  <a:txBody>
                    <a:bodyPr/>
                    <a:lstStyle/>
                    <a:p>
                      <a:r>
                        <a:rPr lang="en-GB" sz="2800">
                          <a:solidFill>
                            <a:schemeClr val="tx1"/>
                          </a:solidFill>
                        </a:rPr>
                        <a:t>16</a:t>
                      </a:r>
                    </a:p>
                  </a:txBody>
                  <a:tcPr marL="182880" marR="182880" marT="91440" marB="91440"/>
                </a:tc>
                <a:tc>
                  <a:txBody>
                    <a:bodyPr/>
                    <a:lstStyle/>
                    <a:p>
                      <a:r>
                        <a:rPr lang="en-GB" sz="2800">
                          <a:solidFill>
                            <a:schemeClr val="tx1"/>
                          </a:solidFill>
                        </a:rPr>
                        <a:t>17</a:t>
                      </a:r>
                    </a:p>
                  </a:txBody>
                  <a:tcPr marL="182880" marR="182880" marT="91440" marB="91440"/>
                </a:tc>
                <a:tc>
                  <a:txBody>
                    <a:bodyPr/>
                    <a:lstStyle/>
                    <a:p>
                      <a:r>
                        <a:rPr lang="en-GB" sz="2800">
                          <a:solidFill>
                            <a:schemeClr val="tx1"/>
                          </a:solidFill>
                        </a:rPr>
                        <a:t>18</a:t>
                      </a:r>
                    </a:p>
                  </a:txBody>
                  <a:tcPr marL="182880" marR="182880" marT="91440" marB="91440"/>
                </a:tc>
                <a:tc>
                  <a:txBody>
                    <a:bodyPr/>
                    <a:lstStyle/>
                    <a:p>
                      <a:r>
                        <a:rPr lang="en-GB" sz="2800">
                          <a:solidFill>
                            <a:schemeClr val="tx1"/>
                          </a:solidFill>
                        </a:rPr>
                        <a:t>19</a:t>
                      </a:r>
                    </a:p>
                  </a:txBody>
                  <a:tcPr marL="182880" marR="182880" marT="91440" marB="91440"/>
                </a:tc>
                <a:tc>
                  <a:txBody>
                    <a:bodyPr/>
                    <a:lstStyle/>
                    <a:p>
                      <a:r>
                        <a:rPr lang="en-GB" sz="2800">
                          <a:solidFill>
                            <a:schemeClr val="tx1"/>
                          </a:solidFill>
                        </a:rPr>
                        <a:t>20</a:t>
                      </a:r>
                    </a:p>
                  </a:txBody>
                  <a:tcPr marL="182880" marR="182880" marT="91440" marB="91440"/>
                </a:tc>
                <a:tc>
                  <a:txBody>
                    <a:bodyPr/>
                    <a:lstStyle/>
                    <a:p>
                      <a:r>
                        <a:rPr lang="en-GB" sz="2800">
                          <a:solidFill>
                            <a:schemeClr val="tx1"/>
                          </a:solidFill>
                        </a:rPr>
                        <a:t>21</a:t>
                      </a:r>
                    </a:p>
                  </a:txBody>
                  <a:tcPr marL="182880" marR="182880" marT="91440" marB="91440"/>
                </a:tc>
                <a:tc>
                  <a:txBody>
                    <a:bodyPr/>
                    <a:lstStyle/>
                    <a:p>
                      <a:r>
                        <a:rPr lang="en-GB" sz="2800">
                          <a:solidFill>
                            <a:schemeClr val="tx1"/>
                          </a:solidFill>
                        </a:rPr>
                        <a:t>22</a:t>
                      </a:r>
                    </a:p>
                  </a:txBody>
                  <a:tcPr marL="182880" marR="182880" marT="91440" marB="91440"/>
                </a:tc>
                <a:tc>
                  <a:txBody>
                    <a:bodyPr/>
                    <a:lstStyle/>
                    <a:p>
                      <a:r>
                        <a:rPr lang="en-GB" sz="2800">
                          <a:solidFill>
                            <a:schemeClr val="tx1"/>
                          </a:solidFill>
                        </a:rPr>
                        <a:t>23</a:t>
                      </a:r>
                    </a:p>
                  </a:txBody>
                  <a:tcPr marL="182880" marR="182880" marT="91440" marB="91440"/>
                </a:tc>
                <a:tc>
                  <a:txBody>
                    <a:bodyPr/>
                    <a:lstStyle/>
                    <a:p>
                      <a:r>
                        <a:rPr lang="en-GB" sz="2800">
                          <a:solidFill>
                            <a:schemeClr val="tx1"/>
                          </a:solidFill>
                        </a:rPr>
                        <a:t>24</a:t>
                      </a:r>
                    </a:p>
                  </a:txBody>
                  <a:tcPr marL="182880" marR="182880" marT="91440" marB="91440"/>
                </a:tc>
                <a:tc>
                  <a:txBody>
                    <a:bodyPr/>
                    <a:lstStyle/>
                    <a:p>
                      <a:r>
                        <a:rPr lang="en-GB" sz="2800">
                          <a:solidFill>
                            <a:schemeClr val="tx1"/>
                          </a:solidFill>
                        </a:rPr>
                        <a:t>25</a:t>
                      </a:r>
                    </a:p>
                  </a:txBody>
                  <a:tcPr marL="182880" marR="182880" marT="91440" marB="91440"/>
                </a:tc>
                <a:tc>
                  <a:txBody>
                    <a:bodyPr/>
                    <a:lstStyle/>
                    <a:p>
                      <a:r>
                        <a:rPr lang="en-GB" sz="2800">
                          <a:solidFill>
                            <a:schemeClr val="tx1"/>
                          </a:solidFill>
                        </a:rPr>
                        <a:t>26</a:t>
                      </a:r>
                    </a:p>
                  </a:txBody>
                  <a:tcPr marL="182880" marR="182880" marT="91440" marB="91440"/>
                </a:tc>
                <a:tc>
                  <a:txBody>
                    <a:bodyPr/>
                    <a:lstStyle/>
                    <a:p>
                      <a:r>
                        <a:rPr lang="en-GB" sz="2800">
                          <a:solidFill>
                            <a:schemeClr val="tx1"/>
                          </a:solidFill>
                        </a:rPr>
                        <a:t>27</a:t>
                      </a:r>
                    </a:p>
                  </a:txBody>
                  <a:tcPr marL="182880" marR="182880" marT="91440" marB="91440"/>
                </a:tc>
                <a:extLst>
                  <a:ext uri="{0D108BD9-81ED-4DB2-BD59-A6C34878D82A}">
                    <a16:rowId xmlns:a16="http://schemas.microsoft.com/office/drawing/2014/main" val="2847685098"/>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1717281041"/>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2516661653"/>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639167260"/>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1651938929"/>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2093070256"/>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939063051"/>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3859751505"/>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1045525724"/>
                  </a:ext>
                </a:extLst>
              </a:tr>
            </a:tbl>
          </a:graphicData>
        </a:graphic>
      </p:graphicFrame>
      <p:sp>
        <p:nvSpPr>
          <p:cNvPr id="5" name="Pentagon 4">
            <a:extLst>
              <a:ext uri="{FF2B5EF4-FFF2-40B4-BE49-F238E27FC236}">
                <a16:creationId xmlns:a16="http://schemas.microsoft.com/office/drawing/2014/main" id="{8533947C-9E18-845E-5539-DB93A97A153C}"/>
              </a:ext>
            </a:extLst>
          </p:cNvPr>
          <p:cNvSpPr/>
          <p:nvPr/>
        </p:nvSpPr>
        <p:spPr>
          <a:xfrm>
            <a:off x="1422230" y="3866248"/>
            <a:ext cx="4900192" cy="920536"/>
          </a:xfrm>
          <a:prstGeom prst="homePlat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a:latin typeface="+mj-lt"/>
              </a:rPr>
              <a:t>LZ Design and Build – Wave 0</a:t>
            </a:r>
          </a:p>
        </p:txBody>
      </p:sp>
      <p:sp>
        <p:nvSpPr>
          <p:cNvPr id="6" name="Pentagon 5">
            <a:extLst>
              <a:ext uri="{FF2B5EF4-FFF2-40B4-BE49-F238E27FC236}">
                <a16:creationId xmlns:a16="http://schemas.microsoft.com/office/drawing/2014/main" id="{819116AD-8BA4-9644-5866-201F42D41248}"/>
              </a:ext>
            </a:extLst>
          </p:cNvPr>
          <p:cNvSpPr/>
          <p:nvPr/>
        </p:nvSpPr>
        <p:spPr>
          <a:xfrm>
            <a:off x="1422232" y="4897250"/>
            <a:ext cx="8279116" cy="920536"/>
          </a:xfrm>
          <a:prstGeom prst="homePlat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Core and Wave 1 Shared Services</a:t>
            </a:r>
          </a:p>
        </p:txBody>
      </p:sp>
      <p:sp>
        <p:nvSpPr>
          <p:cNvPr id="7" name="Pentagon 6">
            <a:extLst>
              <a:ext uri="{FF2B5EF4-FFF2-40B4-BE49-F238E27FC236}">
                <a16:creationId xmlns:a16="http://schemas.microsoft.com/office/drawing/2014/main" id="{4B0C14B5-5A29-2A81-C86D-AFC9E32AD73D}"/>
              </a:ext>
            </a:extLst>
          </p:cNvPr>
          <p:cNvSpPr/>
          <p:nvPr/>
        </p:nvSpPr>
        <p:spPr>
          <a:xfrm>
            <a:off x="1422231" y="5915978"/>
            <a:ext cx="10769770" cy="920536"/>
          </a:xfrm>
          <a:prstGeom prst="homePlat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1 (</a:t>
            </a:r>
            <a:r>
              <a:rPr lang="en-GB" sz="3600" err="1">
                <a:latin typeface="+mj-lt"/>
              </a:rPr>
              <a:t>MyAchilles</a:t>
            </a:r>
            <a:r>
              <a:rPr lang="en-GB" sz="3600">
                <a:latin typeface="+mj-lt"/>
              </a:rPr>
              <a:t> Included)</a:t>
            </a:r>
          </a:p>
        </p:txBody>
      </p:sp>
      <p:sp>
        <p:nvSpPr>
          <p:cNvPr id="8" name="Pentagon 7">
            <a:extLst>
              <a:ext uri="{FF2B5EF4-FFF2-40B4-BE49-F238E27FC236}">
                <a16:creationId xmlns:a16="http://schemas.microsoft.com/office/drawing/2014/main" id="{4017319F-2A21-9414-2E23-8B2EDBAE9C4F}"/>
              </a:ext>
            </a:extLst>
          </p:cNvPr>
          <p:cNvSpPr/>
          <p:nvPr/>
        </p:nvSpPr>
        <p:spPr>
          <a:xfrm>
            <a:off x="7224128" y="6946980"/>
            <a:ext cx="5786480" cy="920536"/>
          </a:xfrm>
          <a:prstGeom prst="homePlat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2</a:t>
            </a:r>
          </a:p>
        </p:txBody>
      </p:sp>
      <p:sp>
        <p:nvSpPr>
          <p:cNvPr id="9" name="Pentagon 8">
            <a:extLst>
              <a:ext uri="{FF2B5EF4-FFF2-40B4-BE49-F238E27FC236}">
                <a16:creationId xmlns:a16="http://schemas.microsoft.com/office/drawing/2014/main" id="{6412206B-E6BC-B26D-E6BB-EB6C69A6FE9A}"/>
              </a:ext>
            </a:extLst>
          </p:cNvPr>
          <p:cNvSpPr/>
          <p:nvPr/>
        </p:nvSpPr>
        <p:spPr>
          <a:xfrm>
            <a:off x="5556071" y="7965708"/>
            <a:ext cx="8290558" cy="920536"/>
          </a:xfrm>
          <a:prstGeom prst="homePlat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3 &amp; Wave  3 Shared Services</a:t>
            </a:r>
          </a:p>
        </p:txBody>
      </p:sp>
      <p:sp>
        <p:nvSpPr>
          <p:cNvPr id="10" name="Pentagon 9">
            <a:extLst>
              <a:ext uri="{FF2B5EF4-FFF2-40B4-BE49-F238E27FC236}">
                <a16:creationId xmlns:a16="http://schemas.microsoft.com/office/drawing/2014/main" id="{A501CAEB-6CCA-89C1-8F5C-C90D377344F9}"/>
              </a:ext>
            </a:extLst>
          </p:cNvPr>
          <p:cNvSpPr/>
          <p:nvPr/>
        </p:nvSpPr>
        <p:spPr>
          <a:xfrm>
            <a:off x="9701350" y="8984434"/>
            <a:ext cx="5016136" cy="920536"/>
          </a:xfrm>
          <a:prstGeom prst="homePlate">
            <a:avLst/>
          </a:prstGeom>
          <a:solidFill>
            <a:srgbClr val="EB7B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4</a:t>
            </a:r>
          </a:p>
        </p:txBody>
      </p:sp>
      <p:sp>
        <p:nvSpPr>
          <p:cNvPr id="11" name="Pentagon 10">
            <a:extLst>
              <a:ext uri="{FF2B5EF4-FFF2-40B4-BE49-F238E27FC236}">
                <a16:creationId xmlns:a16="http://schemas.microsoft.com/office/drawing/2014/main" id="{CD1440BF-2BAD-D08E-5723-259E9E5FA4C8}"/>
              </a:ext>
            </a:extLst>
          </p:cNvPr>
          <p:cNvSpPr/>
          <p:nvPr/>
        </p:nvSpPr>
        <p:spPr>
          <a:xfrm>
            <a:off x="13010610" y="10054764"/>
            <a:ext cx="5016136" cy="920536"/>
          </a:xfrm>
          <a:prstGeom prst="homePlate">
            <a:avLst/>
          </a:prstGeom>
          <a:solidFill>
            <a:srgbClr val="EB5E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5</a:t>
            </a:r>
          </a:p>
        </p:txBody>
      </p:sp>
      <p:sp>
        <p:nvSpPr>
          <p:cNvPr id="12" name="TextBox 11">
            <a:extLst>
              <a:ext uri="{FF2B5EF4-FFF2-40B4-BE49-F238E27FC236}">
                <a16:creationId xmlns:a16="http://schemas.microsoft.com/office/drawing/2014/main" id="{F5F991D7-51B8-61EE-61CA-415E9852F33A}"/>
              </a:ext>
            </a:extLst>
          </p:cNvPr>
          <p:cNvSpPr txBox="1"/>
          <p:nvPr/>
        </p:nvSpPr>
        <p:spPr>
          <a:xfrm>
            <a:off x="179253" y="12089003"/>
            <a:ext cx="12622346" cy="1446550"/>
          </a:xfrm>
          <a:prstGeom prst="rect">
            <a:avLst/>
          </a:prstGeom>
          <a:solidFill>
            <a:schemeClr val="bg1"/>
          </a:solidFill>
        </p:spPr>
        <p:txBody>
          <a:bodyPr wrap="square" rtlCol="0">
            <a:spAutoFit/>
          </a:bodyPr>
          <a:lstStyle/>
          <a:p>
            <a:pPr algn="l"/>
            <a:r>
              <a:rPr lang="en-GB" sz="2400">
                <a:latin typeface="+mj-lt"/>
              </a:rPr>
              <a:t>Production &amp; Staging Final Migration Estimate – 12 weeks</a:t>
            </a:r>
          </a:p>
          <a:p>
            <a:pPr algn="l"/>
            <a:r>
              <a:rPr lang="en-GB" sz="2400">
                <a:latin typeface="+mj-lt"/>
              </a:rPr>
              <a:t>Non–Production Final Migration Estimate – 20 weeks </a:t>
            </a:r>
          </a:p>
          <a:p>
            <a:pPr algn="l"/>
            <a:r>
              <a:rPr lang="en-GB" sz="2400" err="1">
                <a:latin typeface="+mj-lt"/>
              </a:rPr>
              <a:t>GoSupply</a:t>
            </a:r>
            <a:r>
              <a:rPr lang="en-GB" sz="2400">
                <a:latin typeface="+mj-lt"/>
              </a:rPr>
              <a:t> Final ‘Migration’ Estimate – 23 Weeks (if Transitioning into New Azure Tenant)</a:t>
            </a:r>
          </a:p>
          <a:p>
            <a:pPr algn="l"/>
            <a:r>
              <a:rPr lang="en-GB" sz="1600">
                <a:latin typeface="+mj-lt"/>
              </a:rPr>
              <a:t>*Detailed High–level Release Plan in Reference Documentation</a:t>
            </a:r>
          </a:p>
        </p:txBody>
      </p:sp>
      <p:sp>
        <p:nvSpPr>
          <p:cNvPr id="25" name="TextBox 24">
            <a:extLst>
              <a:ext uri="{FF2B5EF4-FFF2-40B4-BE49-F238E27FC236}">
                <a16:creationId xmlns:a16="http://schemas.microsoft.com/office/drawing/2014/main" id="{B5B9981B-41AF-C235-219B-B7D6A23516E0}"/>
              </a:ext>
            </a:extLst>
          </p:cNvPr>
          <p:cNvSpPr txBox="1"/>
          <p:nvPr/>
        </p:nvSpPr>
        <p:spPr>
          <a:xfrm>
            <a:off x="12423210" y="12189159"/>
            <a:ext cx="12346152" cy="738664"/>
          </a:xfrm>
          <a:prstGeom prst="rect">
            <a:avLst/>
          </a:prstGeom>
          <a:noFill/>
        </p:spPr>
        <p:txBody>
          <a:bodyPr wrap="square" rtlCol="0">
            <a:spAutoFit/>
          </a:bodyPr>
          <a:lstStyle/>
          <a:p>
            <a:pPr algn="l"/>
            <a:r>
              <a:rPr lang="en-GB" sz="2100">
                <a:latin typeface="+mj-lt"/>
              </a:rPr>
              <a:t>Release Plan is planned on an estimate of 15–20 hours on avg. weekly for Achilles to engage in workshops and data gathering.  (doesn’t include time required for app deployment, testing etc)</a:t>
            </a:r>
            <a:endParaRPr lang="en-GB" sz="800">
              <a:latin typeface="+mj-lt"/>
            </a:endParaRPr>
          </a:p>
        </p:txBody>
      </p:sp>
      <p:sp>
        <p:nvSpPr>
          <p:cNvPr id="13" name="Pentagon 12">
            <a:extLst>
              <a:ext uri="{FF2B5EF4-FFF2-40B4-BE49-F238E27FC236}">
                <a16:creationId xmlns:a16="http://schemas.microsoft.com/office/drawing/2014/main" id="{60BBDE61-AAA6-3013-ED4D-F7FFCD3A1ED9}"/>
              </a:ext>
            </a:extLst>
          </p:cNvPr>
          <p:cNvSpPr/>
          <p:nvPr/>
        </p:nvSpPr>
        <p:spPr>
          <a:xfrm>
            <a:off x="13846628" y="11091610"/>
            <a:ext cx="6690796" cy="920536"/>
          </a:xfrm>
          <a:prstGeom prst="homePlat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6 (</a:t>
            </a:r>
            <a:r>
              <a:rPr lang="en-GB" sz="3600" err="1">
                <a:latin typeface="+mj-lt"/>
              </a:rPr>
              <a:t>GoSupply</a:t>
            </a:r>
            <a:r>
              <a:rPr lang="en-GB" sz="3600">
                <a:latin typeface="+mj-lt"/>
              </a:rPr>
              <a:t>)</a:t>
            </a:r>
          </a:p>
        </p:txBody>
      </p:sp>
    </p:spTree>
    <p:extLst>
      <p:ext uri="{BB962C8B-B14F-4D97-AF65-F5344CB8AC3E}">
        <p14:creationId xmlns:p14="http://schemas.microsoft.com/office/powerpoint/2010/main" val="399733986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2B28B9-E5E0-E4CF-0EA7-5E1286C3760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22A5431-AF73-66A7-D912-03BBF2B0E047}"/>
              </a:ext>
            </a:extLst>
          </p:cNvPr>
          <p:cNvSpPr>
            <a:spLocks noGrp="1"/>
          </p:cNvSpPr>
          <p:nvPr>
            <p:ph type="title"/>
          </p:nvPr>
        </p:nvSpPr>
        <p:spPr>
          <a:xfrm>
            <a:off x="668992" y="537179"/>
            <a:ext cx="22991108" cy="997838"/>
          </a:xfrm>
        </p:spPr>
        <p:txBody>
          <a:bodyPr/>
          <a:lstStyle/>
          <a:p>
            <a:r>
              <a:rPr lang="en-GB"/>
              <a:t>High-Level Release Plan – AWS</a:t>
            </a:r>
          </a:p>
        </p:txBody>
      </p:sp>
      <p:sp>
        <p:nvSpPr>
          <p:cNvPr id="3" name="Slide Number Placeholder 2">
            <a:extLst>
              <a:ext uri="{FF2B5EF4-FFF2-40B4-BE49-F238E27FC236}">
                <a16:creationId xmlns:a16="http://schemas.microsoft.com/office/drawing/2014/main" id="{3795C4D8-1F42-E483-7E1B-54C4E14135D2}"/>
              </a:ext>
            </a:extLst>
          </p:cNvPr>
          <p:cNvSpPr>
            <a:spLocks noGrp="1"/>
          </p:cNvSpPr>
          <p:nvPr>
            <p:ph type="sldNum" sz="quarter" idx="4"/>
          </p:nvPr>
        </p:nvSpPr>
        <p:spPr/>
        <p:txBody>
          <a:bodyPr/>
          <a:lstStyle/>
          <a:p>
            <a:fld id="{762E77F0-FB5B-4E8E-9BC9-34F14560A017}" type="slidenum">
              <a:rPr lang="en-US" smtClean="0">
                <a:latin typeface="+mj-lt"/>
              </a:rPr>
              <a:pPr/>
              <a:t>67</a:t>
            </a:fld>
            <a:endParaRPr lang="en-US">
              <a:latin typeface="+mj-lt"/>
            </a:endParaRPr>
          </a:p>
        </p:txBody>
      </p:sp>
      <p:graphicFrame>
        <p:nvGraphicFramePr>
          <p:cNvPr id="4" name="Table 3">
            <a:extLst>
              <a:ext uri="{FF2B5EF4-FFF2-40B4-BE49-F238E27FC236}">
                <a16:creationId xmlns:a16="http://schemas.microsoft.com/office/drawing/2014/main" id="{22BDEC5E-A2E7-8C85-3819-73EE4F788718}"/>
              </a:ext>
            </a:extLst>
          </p:cNvPr>
          <p:cNvGraphicFramePr>
            <a:graphicFrameLocks noGrp="1"/>
          </p:cNvGraphicFramePr>
          <p:nvPr/>
        </p:nvGraphicFramePr>
        <p:xfrm>
          <a:off x="565644" y="2789448"/>
          <a:ext cx="23252712" cy="9248672"/>
        </p:xfrm>
        <a:graphic>
          <a:graphicData uri="http://schemas.openxmlformats.org/drawingml/2006/table">
            <a:tbl>
              <a:tblPr firstRow="1" bandRow="1">
                <a:tableStyleId>{5C22544A-7EE6-4342-B048-85BDC9FD1C3A}</a:tableStyleId>
              </a:tblPr>
              <a:tblGrid>
                <a:gridCol w="830454">
                  <a:extLst>
                    <a:ext uri="{9D8B030D-6E8A-4147-A177-3AD203B41FA5}">
                      <a16:colId xmlns:a16="http://schemas.microsoft.com/office/drawing/2014/main" val="712184300"/>
                    </a:ext>
                  </a:extLst>
                </a:gridCol>
                <a:gridCol w="830454">
                  <a:extLst>
                    <a:ext uri="{9D8B030D-6E8A-4147-A177-3AD203B41FA5}">
                      <a16:colId xmlns:a16="http://schemas.microsoft.com/office/drawing/2014/main" val="2424333893"/>
                    </a:ext>
                  </a:extLst>
                </a:gridCol>
                <a:gridCol w="830454">
                  <a:extLst>
                    <a:ext uri="{9D8B030D-6E8A-4147-A177-3AD203B41FA5}">
                      <a16:colId xmlns:a16="http://schemas.microsoft.com/office/drawing/2014/main" val="3593382404"/>
                    </a:ext>
                  </a:extLst>
                </a:gridCol>
                <a:gridCol w="830454">
                  <a:extLst>
                    <a:ext uri="{9D8B030D-6E8A-4147-A177-3AD203B41FA5}">
                      <a16:colId xmlns:a16="http://schemas.microsoft.com/office/drawing/2014/main" val="3718225364"/>
                    </a:ext>
                  </a:extLst>
                </a:gridCol>
                <a:gridCol w="830454">
                  <a:extLst>
                    <a:ext uri="{9D8B030D-6E8A-4147-A177-3AD203B41FA5}">
                      <a16:colId xmlns:a16="http://schemas.microsoft.com/office/drawing/2014/main" val="736112135"/>
                    </a:ext>
                  </a:extLst>
                </a:gridCol>
                <a:gridCol w="830454">
                  <a:extLst>
                    <a:ext uri="{9D8B030D-6E8A-4147-A177-3AD203B41FA5}">
                      <a16:colId xmlns:a16="http://schemas.microsoft.com/office/drawing/2014/main" val="1422397768"/>
                    </a:ext>
                  </a:extLst>
                </a:gridCol>
                <a:gridCol w="830454">
                  <a:extLst>
                    <a:ext uri="{9D8B030D-6E8A-4147-A177-3AD203B41FA5}">
                      <a16:colId xmlns:a16="http://schemas.microsoft.com/office/drawing/2014/main" val="3085822828"/>
                    </a:ext>
                  </a:extLst>
                </a:gridCol>
                <a:gridCol w="830454">
                  <a:extLst>
                    <a:ext uri="{9D8B030D-6E8A-4147-A177-3AD203B41FA5}">
                      <a16:colId xmlns:a16="http://schemas.microsoft.com/office/drawing/2014/main" val="1244982596"/>
                    </a:ext>
                  </a:extLst>
                </a:gridCol>
                <a:gridCol w="830454">
                  <a:extLst>
                    <a:ext uri="{9D8B030D-6E8A-4147-A177-3AD203B41FA5}">
                      <a16:colId xmlns:a16="http://schemas.microsoft.com/office/drawing/2014/main" val="2050576690"/>
                    </a:ext>
                  </a:extLst>
                </a:gridCol>
                <a:gridCol w="830454">
                  <a:extLst>
                    <a:ext uri="{9D8B030D-6E8A-4147-A177-3AD203B41FA5}">
                      <a16:colId xmlns:a16="http://schemas.microsoft.com/office/drawing/2014/main" val="3174208659"/>
                    </a:ext>
                  </a:extLst>
                </a:gridCol>
                <a:gridCol w="830454">
                  <a:extLst>
                    <a:ext uri="{9D8B030D-6E8A-4147-A177-3AD203B41FA5}">
                      <a16:colId xmlns:a16="http://schemas.microsoft.com/office/drawing/2014/main" val="3853355482"/>
                    </a:ext>
                  </a:extLst>
                </a:gridCol>
                <a:gridCol w="830454">
                  <a:extLst>
                    <a:ext uri="{9D8B030D-6E8A-4147-A177-3AD203B41FA5}">
                      <a16:colId xmlns:a16="http://schemas.microsoft.com/office/drawing/2014/main" val="2292536065"/>
                    </a:ext>
                  </a:extLst>
                </a:gridCol>
                <a:gridCol w="830454">
                  <a:extLst>
                    <a:ext uri="{9D8B030D-6E8A-4147-A177-3AD203B41FA5}">
                      <a16:colId xmlns:a16="http://schemas.microsoft.com/office/drawing/2014/main" val="393505867"/>
                    </a:ext>
                  </a:extLst>
                </a:gridCol>
                <a:gridCol w="830454">
                  <a:extLst>
                    <a:ext uri="{9D8B030D-6E8A-4147-A177-3AD203B41FA5}">
                      <a16:colId xmlns:a16="http://schemas.microsoft.com/office/drawing/2014/main" val="2046631917"/>
                    </a:ext>
                  </a:extLst>
                </a:gridCol>
                <a:gridCol w="830454">
                  <a:extLst>
                    <a:ext uri="{9D8B030D-6E8A-4147-A177-3AD203B41FA5}">
                      <a16:colId xmlns:a16="http://schemas.microsoft.com/office/drawing/2014/main" val="2696860446"/>
                    </a:ext>
                  </a:extLst>
                </a:gridCol>
                <a:gridCol w="830454">
                  <a:extLst>
                    <a:ext uri="{9D8B030D-6E8A-4147-A177-3AD203B41FA5}">
                      <a16:colId xmlns:a16="http://schemas.microsoft.com/office/drawing/2014/main" val="619941978"/>
                    </a:ext>
                  </a:extLst>
                </a:gridCol>
                <a:gridCol w="830454">
                  <a:extLst>
                    <a:ext uri="{9D8B030D-6E8A-4147-A177-3AD203B41FA5}">
                      <a16:colId xmlns:a16="http://schemas.microsoft.com/office/drawing/2014/main" val="1866930123"/>
                    </a:ext>
                  </a:extLst>
                </a:gridCol>
                <a:gridCol w="830454">
                  <a:extLst>
                    <a:ext uri="{9D8B030D-6E8A-4147-A177-3AD203B41FA5}">
                      <a16:colId xmlns:a16="http://schemas.microsoft.com/office/drawing/2014/main" val="4116657051"/>
                    </a:ext>
                  </a:extLst>
                </a:gridCol>
                <a:gridCol w="830454">
                  <a:extLst>
                    <a:ext uri="{9D8B030D-6E8A-4147-A177-3AD203B41FA5}">
                      <a16:colId xmlns:a16="http://schemas.microsoft.com/office/drawing/2014/main" val="2959429504"/>
                    </a:ext>
                  </a:extLst>
                </a:gridCol>
                <a:gridCol w="830454">
                  <a:extLst>
                    <a:ext uri="{9D8B030D-6E8A-4147-A177-3AD203B41FA5}">
                      <a16:colId xmlns:a16="http://schemas.microsoft.com/office/drawing/2014/main" val="4217313970"/>
                    </a:ext>
                  </a:extLst>
                </a:gridCol>
                <a:gridCol w="830454">
                  <a:extLst>
                    <a:ext uri="{9D8B030D-6E8A-4147-A177-3AD203B41FA5}">
                      <a16:colId xmlns:a16="http://schemas.microsoft.com/office/drawing/2014/main" val="4170283363"/>
                    </a:ext>
                  </a:extLst>
                </a:gridCol>
                <a:gridCol w="830454">
                  <a:extLst>
                    <a:ext uri="{9D8B030D-6E8A-4147-A177-3AD203B41FA5}">
                      <a16:colId xmlns:a16="http://schemas.microsoft.com/office/drawing/2014/main" val="3476204744"/>
                    </a:ext>
                  </a:extLst>
                </a:gridCol>
                <a:gridCol w="830454">
                  <a:extLst>
                    <a:ext uri="{9D8B030D-6E8A-4147-A177-3AD203B41FA5}">
                      <a16:colId xmlns:a16="http://schemas.microsoft.com/office/drawing/2014/main" val="741067442"/>
                    </a:ext>
                  </a:extLst>
                </a:gridCol>
                <a:gridCol w="830454">
                  <a:extLst>
                    <a:ext uri="{9D8B030D-6E8A-4147-A177-3AD203B41FA5}">
                      <a16:colId xmlns:a16="http://schemas.microsoft.com/office/drawing/2014/main" val="998994736"/>
                    </a:ext>
                  </a:extLst>
                </a:gridCol>
                <a:gridCol w="830454">
                  <a:extLst>
                    <a:ext uri="{9D8B030D-6E8A-4147-A177-3AD203B41FA5}">
                      <a16:colId xmlns:a16="http://schemas.microsoft.com/office/drawing/2014/main" val="3349688206"/>
                    </a:ext>
                  </a:extLst>
                </a:gridCol>
                <a:gridCol w="830454">
                  <a:extLst>
                    <a:ext uri="{9D8B030D-6E8A-4147-A177-3AD203B41FA5}">
                      <a16:colId xmlns:a16="http://schemas.microsoft.com/office/drawing/2014/main" val="613391585"/>
                    </a:ext>
                  </a:extLst>
                </a:gridCol>
                <a:gridCol w="830454">
                  <a:extLst>
                    <a:ext uri="{9D8B030D-6E8A-4147-A177-3AD203B41FA5}">
                      <a16:colId xmlns:a16="http://schemas.microsoft.com/office/drawing/2014/main" val="1945001895"/>
                    </a:ext>
                  </a:extLst>
                </a:gridCol>
                <a:gridCol w="830454">
                  <a:extLst>
                    <a:ext uri="{9D8B030D-6E8A-4147-A177-3AD203B41FA5}">
                      <a16:colId xmlns:a16="http://schemas.microsoft.com/office/drawing/2014/main" val="31954738"/>
                    </a:ext>
                  </a:extLst>
                </a:gridCol>
              </a:tblGrid>
              <a:tr h="1036320">
                <a:tc>
                  <a:txBody>
                    <a:bodyPr/>
                    <a:lstStyle/>
                    <a:p>
                      <a:r>
                        <a:rPr lang="en-GB" sz="2800">
                          <a:solidFill>
                            <a:schemeClr val="tx1"/>
                          </a:solidFill>
                        </a:rPr>
                        <a:t>WK</a:t>
                      </a:r>
                    </a:p>
                  </a:txBody>
                  <a:tcPr marL="182880" marR="182880" marT="91440" marB="91440"/>
                </a:tc>
                <a:tc>
                  <a:txBody>
                    <a:bodyPr/>
                    <a:lstStyle/>
                    <a:p>
                      <a:r>
                        <a:rPr lang="en-GB" sz="2800">
                          <a:solidFill>
                            <a:schemeClr val="tx1"/>
                          </a:solidFill>
                        </a:rPr>
                        <a:t>1</a:t>
                      </a:r>
                    </a:p>
                  </a:txBody>
                  <a:tcPr marL="182880" marR="182880" marT="91440" marB="91440"/>
                </a:tc>
                <a:tc>
                  <a:txBody>
                    <a:bodyPr/>
                    <a:lstStyle/>
                    <a:p>
                      <a:r>
                        <a:rPr lang="en-GB" sz="2800">
                          <a:solidFill>
                            <a:schemeClr val="tx1"/>
                          </a:solidFill>
                        </a:rPr>
                        <a:t>2</a:t>
                      </a:r>
                    </a:p>
                  </a:txBody>
                  <a:tcPr marL="182880" marR="182880" marT="91440" marB="91440"/>
                </a:tc>
                <a:tc>
                  <a:txBody>
                    <a:bodyPr/>
                    <a:lstStyle/>
                    <a:p>
                      <a:r>
                        <a:rPr lang="en-GB" sz="2800">
                          <a:solidFill>
                            <a:schemeClr val="tx1"/>
                          </a:solidFill>
                        </a:rPr>
                        <a:t>3</a:t>
                      </a:r>
                    </a:p>
                  </a:txBody>
                  <a:tcPr marL="182880" marR="182880" marT="91440" marB="91440"/>
                </a:tc>
                <a:tc>
                  <a:txBody>
                    <a:bodyPr/>
                    <a:lstStyle/>
                    <a:p>
                      <a:r>
                        <a:rPr lang="en-GB" sz="2800">
                          <a:solidFill>
                            <a:schemeClr val="tx1"/>
                          </a:solidFill>
                        </a:rPr>
                        <a:t>4</a:t>
                      </a:r>
                    </a:p>
                  </a:txBody>
                  <a:tcPr marL="182880" marR="182880" marT="91440" marB="91440"/>
                </a:tc>
                <a:tc>
                  <a:txBody>
                    <a:bodyPr/>
                    <a:lstStyle/>
                    <a:p>
                      <a:r>
                        <a:rPr lang="en-GB" sz="2800">
                          <a:solidFill>
                            <a:schemeClr val="tx1"/>
                          </a:solidFill>
                        </a:rPr>
                        <a:t>5</a:t>
                      </a:r>
                    </a:p>
                  </a:txBody>
                  <a:tcPr marL="182880" marR="182880" marT="91440" marB="91440"/>
                </a:tc>
                <a:tc>
                  <a:txBody>
                    <a:bodyPr/>
                    <a:lstStyle/>
                    <a:p>
                      <a:r>
                        <a:rPr lang="en-GB" sz="2800">
                          <a:solidFill>
                            <a:schemeClr val="tx1"/>
                          </a:solidFill>
                        </a:rPr>
                        <a:t>6</a:t>
                      </a:r>
                    </a:p>
                  </a:txBody>
                  <a:tcPr marL="182880" marR="182880" marT="91440" marB="91440"/>
                </a:tc>
                <a:tc>
                  <a:txBody>
                    <a:bodyPr/>
                    <a:lstStyle/>
                    <a:p>
                      <a:r>
                        <a:rPr lang="en-GB" sz="2800">
                          <a:solidFill>
                            <a:schemeClr val="tx1"/>
                          </a:solidFill>
                        </a:rPr>
                        <a:t>7</a:t>
                      </a:r>
                    </a:p>
                  </a:txBody>
                  <a:tcPr marL="182880" marR="182880" marT="91440" marB="91440"/>
                </a:tc>
                <a:tc>
                  <a:txBody>
                    <a:bodyPr/>
                    <a:lstStyle/>
                    <a:p>
                      <a:r>
                        <a:rPr lang="en-GB" sz="2800">
                          <a:solidFill>
                            <a:schemeClr val="tx1"/>
                          </a:solidFill>
                        </a:rPr>
                        <a:t>8</a:t>
                      </a:r>
                    </a:p>
                  </a:txBody>
                  <a:tcPr marL="182880" marR="182880" marT="91440" marB="91440"/>
                </a:tc>
                <a:tc>
                  <a:txBody>
                    <a:bodyPr/>
                    <a:lstStyle/>
                    <a:p>
                      <a:r>
                        <a:rPr lang="en-GB" sz="2800">
                          <a:solidFill>
                            <a:schemeClr val="tx1"/>
                          </a:solidFill>
                        </a:rPr>
                        <a:t>9</a:t>
                      </a:r>
                    </a:p>
                  </a:txBody>
                  <a:tcPr marL="182880" marR="182880" marT="91440" marB="91440"/>
                </a:tc>
                <a:tc>
                  <a:txBody>
                    <a:bodyPr/>
                    <a:lstStyle/>
                    <a:p>
                      <a:r>
                        <a:rPr lang="en-GB" sz="2800">
                          <a:solidFill>
                            <a:schemeClr val="tx1"/>
                          </a:solidFill>
                        </a:rPr>
                        <a:t>10</a:t>
                      </a:r>
                    </a:p>
                  </a:txBody>
                  <a:tcPr marL="182880" marR="182880" marT="91440" marB="91440"/>
                </a:tc>
                <a:tc>
                  <a:txBody>
                    <a:bodyPr/>
                    <a:lstStyle/>
                    <a:p>
                      <a:r>
                        <a:rPr lang="en-GB" sz="2800">
                          <a:solidFill>
                            <a:schemeClr val="tx1"/>
                          </a:solidFill>
                        </a:rPr>
                        <a:t>11</a:t>
                      </a:r>
                    </a:p>
                  </a:txBody>
                  <a:tcPr marL="182880" marR="182880" marT="91440" marB="91440"/>
                </a:tc>
                <a:tc>
                  <a:txBody>
                    <a:bodyPr/>
                    <a:lstStyle/>
                    <a:p>
                      <a:r>
                        <a:rPr lang="en-GB" sz="2800">
                          <a:solidFill>
                            <a:schemeClr val="tx1"/>
                          </a:solidFill>
                        </a:rPr>
                        <a:t>12</a:t>
                      </a:r>
                    </a:p>
                  </a:txBody>
                  <a:tcPr marL="182880" marR="182880" marT="91440" marB="91440"/>
                </a:tc>
                <a:tc>
                  <a:txBody>
                    <a:bodyPr/>
                    <a:lstStyle/>
                    <a:p>
                      <a:r>
                        <a:rPr lang="en-GB" sz="2800">
                          <a:solidFill>
                            <a:schemeClr val="tx1"/>
                          </a:solidFill>
                        </a:rPr>
                        <a:t>13</a:t>
                      </a:r>
                    </a:p>
                  </a:txBody>
                  <a:tcPr marL="182880" marR="182880" marT="91440" marB="91440"/>
                </a:tc>
                <a:tc>
                  <a:txBody>
                    <a:bodyPr/>
                    <a:lstStyle/>
                    <a:p>
                      <a:r>
                        <a:rPr lang="en-GB" sz="2800">
                          <a:solidFill>
                            <a:schemeClr val="tx1"/>
                          </a:solidFill>
                        </a:rPr>
                        <a:t>14</a:t>
                      </a:r>
                    </a:p>
                  </a:txBody>
                  <a:tcPr marL="182880" marR="182880" marT="91440" marB="91440"/>
                </a:tc>
                <a:tc>
                  <a:txBody>
                    <a:bodyPr/>
                    <a:lstStyle/>
                    <a:p>
                      <a:r>
                        <a:rPr lang="en-GB" sz="2800">
                          <a:solidFill>
                            <a:schemeClr val="tx1"/>
                          </a:solidFill>
                        </a:rPr>
                        <a:t>15</a:t>
                      </a:r>
                    </a:p>
                  </a:txBody>
                  <a:tcPr marL="182880" marR="182880" marT="91440" marB="91440"/>
                </a:tc>
                <a:tc>
                  <a:txBody>
                    <a:bodyPr/>
                    <a:lstStyle/>
                    <a:p>
                      <a:r>
                        <a:rPr lang="en-GB" sz="2800">
                          <a:solidFill>
                            <a:schemeClr val="tx1"/>
                          </a:solidFill>
                        </a:rPr>
                        <a:t>16</a:t>
                      </a:r>
                    </a:p>
                  </a:txBody>
                  <a:tcPr marL="182880" marR="182880" marT="91440" marB="91440"/>
                </a:tc>
                <a:tc>
                  <a:txBody>
                    <a:bodyPr/>
                    <a:lstStyle/>
                    <a:p>
                      <a:r>
                        <a:rPr lang="en-GB" sz="2800">
                          <a:solidFill>
                            <a:schemeClr val="tx1"/>
                          </a:solidFill>
                        </a:rPr>
                        <a:t>17</a:t>
                      </a:r>
                    </a:p>
                  </a:txBody>
                  <a:tcPr marL="182880" marR="182880" marT="91440" marB="91440"/>
                </a:tc>
                <a:tc>
                  <a:txBody>
                    <a:bodyPr/>
                    <a:lstStyle/>
                    <a:p>
                      <a:r>
                        <a:rPr lang="en-GB" sz="2800">
                          <a:solidFill>
                            <a:schemeClr val="tx1"/>
                          </a:solidFill>
                        </a:rPr>
                        <a:t>18</a:t>
                      </a:r>
                    </a:p>
                  </a:txBody>
                  <a:tcPr marL="182880" marR="182880" marT="91440" marB="91440"/>
                </a:tc>
                <a:tc>
                  <a:txBody>
                    <a:bodyPr/>
                    <a:lstStyle/>
                    <a:p>
                      <a:r>
                        <a:rPr lang="en-GB" sz="2800">
                          <a:solidFill>
                            <a:schemeClr val="tx1"/>
                          </a:solidFill>
                        </a:rPr>
                        <a:t>19</a:t>
                      </a:r>
                    </a:p>
                  </a:txBody>
                  <a:tcPr marL="182880" marR="182880" marT="91440" marB="91440"/>
                </a:tc>
                <a:tc>
                  <a:txBody>
                    <a:bodyPr/>
                    <a:lstStyle/>
                    <a:p>
                      <a:r>
                        <a:rPr lang="en-GB" sz="2800">
                          <a:solidFill>
                            <a:schemeClr val="tx1"/>
                          </a:solidFill>
                        </a:rPr>
                        <a:t>20</a:t>
                      </a:r>
                    </a:p>
                  </a:txBody>
                  <a:tcPr marL="182880" marR="182880" marT="91440" marB="91440"/>
                </a:tc>
                <a:tc>
                  <a:txBody>
                    <a:bodyPr/>
                    <a:lstStyle/>
                    <a:p>
                      <a:r>
                        <a:rPr lang="en-GB" sz="2800">
                          <a:solidFill>
                            <a:schemeClr val="tx1"/>
                          </a:solidFill>
                        </a:rPr>
                        <a:t>21</a:t>
                      </a:r>
                    </a:p>
                  </a:txBody>
                  <a:tcPr marL="182880" marR="182880" marT="91440" marB="91440"/>
                </a:tc>
                <a:tc>
                  <a:txBody>
                    <a:bodyPr/>
                    <a:lstStyle/>
                    <a:p>
                      <a:r>
                        <a:rPr lang="en-GB" sz="2800">
                          <a:solidFill>
                            <a:schemeClr val="tx1"/>
                          </a:solidFill>
                        </a:rPr>
                        <a:t>22</a:t>
                      </a:r>
                    </a:p>
                  </a:txBody>
                  <a:tcPr marL="182880" marR="182880" marT="91440" marB="91440"/>
                </a:tc>
                <a:tc>
                  <a:txBody>
                    <a:bodyPr/>
                    <a:lstStyle/>
                    <a:p>
                      <a:r>
                        <a:rPr lang="en-GB" sz="2800">
                          <a:solidFill>
                            <a:schemeClr val="tx1"/>
                          </a:solidFill>
                        </a:rPr>
                        <a:t>23</a:t>
                      </a:r>
                    </a:p>
                  </a:txBody>
                  <a:tcPr marL="182880" marR="182880" marT="91440" marB="91440"/>
                </a:tc>
                <a:tc>
                  <a:txBody>
                    <a:bodyPr/>
                    <a:lstStyle/>
                    <a:p>
                      <a:r>
                        <a:rPr lang="en-GB" sz="2800">
                          <a:solidFill>
                            <a:schemeClr val="tx1"/>
                          </a:solidFill>
                        </a:rPr>
                        <a:t>24</a:t>
                      </a:r>
                    </a:p>
                  </a:txBody>
                  <a:tcPr marL="182880" marR="182880" marT="91440" marB="91440"/>
                </a:tc>
                <a:tc>
                  <a:txBody>
                    <a:bodyPr/>
                    <a:lstStyle/>
                    <a:p>
                      <a:r>
                        <a:rPr lang="en-GB" sz="2800">
                          <a:solidFill>
                            <a:schemeClr val="tx1"/>
                          </a:solidFill>
                        </a:rPr>
                        <a:t>25</a:t>
                      </a:r>
                    </a:p>
                  </a:txBody>
                  <a:tcPr marL="182880" marR="182880" marT="91440" marB="91440"/>
                </a:tc>
                <a:tc>
                  <a:txBody>
                    <a:bodyPr/>
                    <a:lstStyle/>
                    <a:p>
                      <a:r>
                        <a:rPr lang="en-GB" sz="2800">
                          <a:solidFill>
                            <a:schemeClr val="tx1"/>
                          </a:solidFill>
                        </a:rPr>
                        <a:t>26</a:t>
                      </a:r>
                    </a:p>
                  </a:txBody>
                  <a:tcPr marL="182880" marR="182880" marT="91440" marB="91440"/>
                </a:tc>
                <a:tc>
                  <a:txBody>
                    <a:bodyPr/>
                    <a:lstStyle/>
                    <a:p>
                      <a:r>
                        <a:rPr lang="en-GB" sz="2800">
                          <a:solidFill>
                            <a:schemeClr val="tx1"/>
                          </a:solidFill>
                        </a:rPr>
                        <a:t>27</a:t>
                      </a:r>
                    </a:p>
                  </a:txBody>
                  <a:tcPr marL="182880" marR="182880" marT="91440" marB="91440"/>
                </a:tc>
                <a:extLst>
                  <a:ext uri="{0D108BD9-81ED-4DB2-BD59-A6C34878D82A}">
                    <a16:rowId xmlns:a16="http://schemas.microsoft.com/office/drawing/2014/main" val="2847685098"/>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1717281041"/>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2516661653"/>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639167260"/>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1651938929"/>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2093070256"/>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939063051"/>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3859751505"/>
                  </a:ext>
                </a:extLst>
              </a:tr>
              <a:tr h="1026544">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tc>
                  <a:txBody>
                    <a:bodyPr/>
                    <a:lstStyle/>
                    <a:p>
                      <a:endParaRPr lang="en-GB" sz="2800"/>
                    </a:p>
                  </a:txBody>
                  <a:tcPr marL="182880" marR="182880" marT="91440" marB="91440"/>
                </a:tc>
                <a:extLst>
                  <a:ext uri="{0D108BD9-81ED-4DB2-BD59-A6C34878D82A}">
                    <a16:rowId xmlns:a16="http://schemas.microsoft.com/office/drawing/2014/main" val="1045525724"/>
                  </a:ext>
                </a:extLst>
              </a:tr>
            </a:tbl>
          </a:graphicData>
        </a:graphic>
      </p:graphicFrame>
      <p:sp>
        <p:nvSpPr>
          <p:cNvPr id="5" name="Pentagon 4">
            <a:extLst>
              <a:ext uri="{FF2B5EF4-FFF2-40B4-BE49-F238E27FC236}">
                <a16:creationId xmlns:a16="http://schemas.microsoft.com/office/drawing/2014/main" id="{85DA8E3D-9E18-7700-9689-DE032D91D7BA}"/>
              </a:ext>
            </a:extLst>
          </p:cNvPr>
          <p:cNvSpPr/>
          <p:nvPr/>
        </p:nvSpPr>
        <p:spPr>
          <a:xfrm>
            <a:off x="1422230" y="3866248"/>
            <a:ext cx="4900192" cy="920536"/>
          </a:xfrm>
          <a:prstGeom prst="homePlat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a:latin typeface="+mj-lt"/>
              </a:rPr>
              <a:t>LZ Design and Build – Wave 0</a:t>
            </a:r>
          </a:p>
        </p:txBody>
      </p:sp>
      <p:sp>
        <p:nvSpPr>
          <p:cNvPr id="6" name="Pentagon 5">
            <a:extLst>
              <a:ext uri="{FF2B5EF4-FFF2-40B4-BE49-F238E27FC236}">
                <a16:creationId xmlns:a16="http://schemas.microsoft.com/office/drawing/2014/main" id="{523AB9BB-5155-8071-62E2-455DCFAAAE50}"/>
              </a:ext>
            </a:extLst>
          </p:cNvPr>
          <p:cNvSpPr/>
          <p:nvPr/>
        </p:nvSpPr>
        <p:spPr>
          <a:xfrm>
            <a:off x="1422232" y="4897250"/>
            <a:ext cx="8279116" cy="920536"/>
          </a:xfrm>
          <a:prstGeom prst="homePlat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Core and Wave 1 Shared Services</a:t>
            </a:r>
          </a:p>
        </p:txBody>
      </p:sp>
      <p:sp>
        <p:nvSpPr>
          <p:cNvPr id="7" name="Pentagon 6">
            <a:extLst>
              <a:ext uri="{FF2B5EF4-FFF2-40B4-BE49-F238E27FC236}">
                <a16:creationId xmlns:a16="http://schemas.microsoft.com/office/drawing/2014/main" id="{3DC19686-52B4-72AB-79C8-A23964E62323}"/>
              </a:ext>
            </a:extLst>
          </p:cNvPr>
          <p:cNvSpPr/>
          <p:nvPr/>
        </p:nvSpPr>
        <p:spPr>
          <a:xfrm>
            <a:off x="1422231" y="5915978"/>
            <a:ext cx="10769770" cy="920536"/>
          </a:xfrm>
          <a:prstGeom prst="homePlat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1 (</a:t>
            </a:r>
            <a:r>
              <a:rPr lang="en-GB" sz="3600" err="1">
                <a:latin typeface="+mj-lt"/>
              </a:rPr>
              <a:t>MyAchilles</a:t>
            </a:r>
            <a:r>
              <a:rPr lang="en-GB" sz="3600">
                <a:latin typeface="+mj-lt"/>
              </a:rPr>
              <a:t> Included)</a:t>
            </a:r>
          </a:p>
        </p:txBody>
      </p:sp>
      <p:sp>
        <p:nvSpPr>
          <p:cNvPr id="8" name="Pentagon 7">
            <a:extLst>
              <a:ext uri="{FF2B5EF4-FFF2-40B4-BE49-F238E27FC236}">
                <a16:creationId xmlns:a16="http://schemas.microsoft.com/office/drawing/2014/main" id="{285FF7E3-A8DB-65DC-3DD7-6CBAD94AEEBC}"/>
              </a:ext>
            </a:extLst>
          </p:cNvPr>
          <p:cNvSpPr/>
          <p:nvPr/>
        </p:nvSpPr>
        <p:spPr>
          <a:xfrm>
            <a:off x="7224128" y="6946980"/>
            <a:ext cx="5786480" cy="920536"/>
          </a:xfrm>
          <a:prstGeom prst="homePlat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2</a:t>
            </a:r>
          </a:p>
        </p:txBody>
      </p:sp>
      <p:sp>
        <p:nvSpPr>
          <p:cNvPr id="9" name="Pentagon 8">
            <a:extLst>
              <a:ext uri="{FF2B5EF4-FFF2-40B4-BE49-F238E27FC236}">
                <a16:creationId xmlns:a16="http://schemas.microsoft.com/office/drawing/2014/main" id="{EABD6002-54A2-D85C-247F-1AB20386893C}"/>
              </a:ext>
            </a:extLst>
          </p:cNvPr>
          <p:cNvSpPr/>
          <p:nvPr/>
        </p:nvSpPr>
        <p:spPr>
          <a:xfrm>
            <a:off x="5556071" y="7965708"/>
            <a:ext cx="8290558" cy="920536"/>
          </a:xfrm>
          <a:prstGeom prst="homePlat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3 &amp; Wave  3 Shared Services</a:t>
            </a:r>
          </a:p>
        </p:txBody>
      </p:sp>
      <p:sp>
        <p:nvSpPr>
          <p:cNvPr id="10" name="Pentagon 9">
            <a:extLst>
              <a:ext uri="{FF2B5EF4-FFF2-40B4-BE49-F238E27FC236}">
                <a16:creationId xmlns:a16="http://schemas.microsoft.com/office/drawing/2014/main" id="{A4513980-A635-00D0-E92B-98A38C3F4DE0}"/>
              </a:ext>
            </a:extLst>
          </p:cNvPr>
          <p:cNvSpPr/>
          <p:nvPr/>
        </p:nvSpPr>
        <p:spPr>
          <a:xfrm>
            <a:off x="9701350" y="8984434"/>
            <a:ext cx="5016136" cy="920536"/>
          </a:xfrm>
          <a:prstGeom prst="homePlate">
            <a:avLst/>
          </a:prstGeom>
          <a:solidFill>
            <a:srgbClr val="EB7B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4</a:t>
            </a:r>
          </a:p>
        </p:txBody>
      </p:sp>
      <p:sp>
        <p:nvSpPr>
          <p:cNvPr id="11" name="Pentagon 10">
            <a:extLst>
              <a:ext uri="{FF2B5EF4-FFF2-40B4-BE49-F238E27FC236}">
                <a16:creationId xmlns:a16="http://schemas.microsoft.com/office/drawing/2014/main" id="{9E36ECA9-1CFC-017C-76A8-D48815FADCAF}"/>
              </a:ext>
            </a:extLst>
          </p:cNvPr>
          <p:cNvSpPr/>
          <p:nvPr/>
        </p:nvSpPr>
        <p:spPr>
          <a:xfrm>
            <a:off x="13010610" y="10054764"/>
            <a:ext cx="5016136" cy="920536"/>
          </a:xfrm>
          <a:prstGeom prst="homePlate">
            <a:avLst/>
          </a:prstGeom>
          <a:solidFill>
            <a:srgbClr val="EB5E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5</a:t>
            </a:r>
          </a:p>
        </p:txBody>
      </p:sp>
      <p:sp>
        <p:nvSpPr>
          <p:cNvPr id="12" name="TextBox 11">
            <a:extLst>
              <a:ext uri="{FF2B5EF4-FFF2-40B4-BE49-F238E27FC236}">
                <a16:creationId xmlns:a16="http://schemas.microsoft.com/office/drawing/2014/main" id="{FD685B6E-6C12-C555-DF44-2E5904507D88}"/>
              </a:ext>
            </a:extLst>
          </p:cNvPr>
          <p:cNvSpPr txBox="1"/>
          <p:nvPr/>
        </p:nvSpPr>
        <p:spPr>
          <a:xfrm>
            <a:off x="179254" y="12089003"/>
            <a:ext cx="12330940" cy="1446550"/>
          </a:xfrm>
          <a:prstGeom prst="rect">
            <a:avLst/>
          </a:prstGeom>
          <a:solidFill>
            <a:schemeClr val="bg1"/>
          </a:solidFill>
        </p:spPr>
        <p:txBody>
          <a:bodyPr wrap="square" rtlCol="0">
            <a:spAutoFit/>
          </a:bodyPr>
          <a:lstStyle/>
          <a:p>
            <a:pPr algn="l"/>
            <a:r>
              <a:rPr lang="en-GB" sz="2400">
                <a:latin typeface="+mj-lt"/>
              </a:rPr>
              <a:t>Production &amp; Staging Final Migration Estimate – 12 weeks</a:t>
            </a:r>
          </a:p>
          <a:p>
            <a:pPr algn="l"/>
            <a:r>
              <a:rPr lang="en-GB" sz="2400">
                <a:latin typeface="+mj-lt"/>
              </a:rPr>
              <a:t>Non–Production Final Migration Estimate – 20 weeks </a:t>
            </a:r>
          </a:p>
          <a:p>
            <a:pPr algn="l"/>
            <a:r>
              <a:rPr lang="en-GB" sz="2400" err="1">
                <a:latin typeface="+mj-lt"/>
              </a:rPr>
              <a:t>GoSupply</a:t>
            </a:r>
            <a:r>
              <a:rPr lang="en-GB" sz="2400">
                <a:latin typeface="+mj-lt"/>
              </a:rPr>
              <a:t> Final Migration Estimate – 27 Weeks (if Migrating to AWS)</a:t>
            </a:r>
          </a:p>
          <a:p>
            <a:pPr algn="l"/>
            <a:r>
              <a:rPr lang="en-GB" sz="1600">
                <a:latin typeface="+mj-lt"/>
              </a:rPr>
              <a:t>*Detailed High–level Release Plan in Reference Documentation</a:t>
            </a:r>
          </a:p>
        </p:txBody>
      </p:sp>
      <p:sp>
        <p:nvSpPr>
          <p:cNvPr id="25" name="TextBox 24">
            <a:extLst>
              <a:ext uri="{FF2B5EF4-FFF2-40B4-BE49-F238E27FC236}">
                <a16:creationId xmlns:a16="http://schemas.microsoft.com/office/drawing/2014/main" id="{F4E343D6-EFB2-91C4-597D-CF7654E01206}"/>
              </a:ext>
            </a:extLst>
          </p:cNvPr>
          <p:cNvSpPr txBox="1"/>
          <p:nvPr/>
        </p:nvSpPr>
        <p:spPr>
          <a:xfrm>
            <a:off x="12423210" y="12189159"/>
            <a:ext cx="12346152" cy="738664"/>
          </a:xfrm>
          <a:prstGeom prst="rect">
            <a:avLst/>
          </a:prstGeom>
          <a:noFill/>
        </p:spPr>
        <p:txBody>
          <a:bodyPr wrap="square" rtlCol="0">
            <a:spAutoFit/>
          </a:bodyPr>
          <a:lstStyle/>
          <a:p>
            <a:pPr algn="l"/>
            <a:r>
              <a:rPr lang="en-GB" sz="2100">
                <a:latin typeface="+mj-lt"/>
              </a:rPr>
              <a:t>Release Plan is planned on an estimate of 15–20 hours on avg. weekly for Achilles to engage in workshops and data gathering.  (doesn’t include time required for app deployment, testing etc)</a:t>
            </a:r>
            <a:endParaRPr lang="en-GB" sz="800">
              <a:latin typeface="+mj-lt"/>
            </a:endParaRPr>
          </a:p>
        </p:txBody>
      </p:sp>
      <p:sp>
        <p:nvSpPr>
          <p:cNvPr id="13" name="Pentagon 12">
            <a:extLst>
              <a:ext uri="{FF2B5EF4-FFF2-40B4-BE49-F238E27FC236}">
                <a16:creationId xmlns:a16="http://schemas.microsoft.com/office/drawing/2014/main" id="{20D3A8FB-A0B9-2A63-AD9D-8ECFB7C23304}"/>
              </a:ext>
            </a:extLst>
          </p:cNvPr>
          <p:cNvSpPr/>
          <p:nvPr/>
        </p:nvSpPr>
        <p:spPr>
          <a:xfrm>
            <a:off x="13846628" y="11091610"/>
            <a:ext cx="9971728" cy="920536"/>
          </a:xfrm>
          <a:prstGeom prst="homePlat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a:latin typeface="+mj-lt"/>
              </a:rPr>
              <a:t>Wave 6 (</a:t>
            </a:r>
            <a:r>
              <a:rPr lang="en-GB" sz="3600" err="1">
                <a:latin typeface="+mj-lt"/>
              </a:rPr>
              <a:t>GoSupply</a:t>
            </a:r>
            <a:r>
              <a:rPr lang="en-GB" sz="3600">
                <a:latin typeface="+mj-lt"/>
              </a:rPr>
              <a:t>)</a:t>
            </a:r>
          </a:p>
        </p:txBody>
      </p:sp>
    </p:spTree>
    <p:extLst>
      <p:ext uri="{BB962C8B-B14F-4D97-AF65-F5344CB8AC3E}">
        <p14:creationId xmlns:p14="http://schemas.microsoft.com/office/powerpoint/2010/main" val="17933315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3E2F5F-20C7-7176-E2F7-F22DF574F816}"/>
              </a:ext>
            </a:extLst>
          </p:cNvPr>
          <p:cNvSpPr>
            <a:spLocks noGrp="1"/>
          </p:cNvSpPr>
          <p:nvPr>
            <p:ph type="title"/>
          </p:nvPr>
        </p:nvSpPr>
        <p:spPr>
          <a:xfrm>
            <a:off x="668992" y="537179"/>
            <a:ext cx="22991108" cy="997838"/>
          </a:xfrm>
        </p:spPr>
        <p:txBody>
          <a:bodyPr/>
          <a:lstStyle/>
          <a:p>
            <a:r>
              <a:rPr lang="en-GB"/>
              <a:t>Migration Scope and Detailed Waves.</a:t>
            </a:r>
          </a:p>
        </p:txBody>
      </p:sp>
      <p:sp>
        <p:nvSpPr>
          <p:cNvPr id="3" name="Slide Number Placeholder 2">
            <a:extLst>
              <a:ext uri="{FF2B5EF4-FFF2-40B4-BE49-F238E27FC236}">
                <a16:creationId xmlns:a16="http://schemas.microsoft.com/office/drawing/2014/main" id="{797890EB-E7DA-6ED8-33C9-845394481EB0}"/>
              </a:ext>
            </a:extLst>
          </p:cNvPr>
          <p:cNvSpPr>
            <a:spLocks noGrp="1"/>
          </p:cNvSpPr>
          <p:nvPr>
            <p:ph type="sldNum" sz="quarter" idx="4"/>
          </p:nvPr>
        </p:nvSpPr>
        <p:spPr/>
        <p:txBody>
          <a:bodyPr/>
          <a:lstStyle/>
          <a:p>
            <a:fld id="{762E77F0-FB5B-4E8E-9BC9-34F14560A017}" type="slidenum">
              <a:rPr lang="en-US" smtClean="0">
                <a:latin typeface="+mj-lt"/>
              </a:rPr>
              <a:pPr/>
              <a:t>68</a:t>
            </a:fld>
            <a:endParaRPr lang="en-US">
              <a:latin typeface="+mj-lt"/>
            </a:endParaRPr>
          </a:p>
        </p:txBody>
      </p:sp>
      <p:graphicFrame>
        <p:nvGraphicFramePr>
          <p:cNvPr id="4" name="Table 3">
            <a:extLst>
              <a:ext uri="{FF2B5EF4-FFF2-40B4-BE49-F238E27FC236}">
                <a16:creationId xmlns:a16="http://schemas.microsoft.com/office/drawing/2014/main" id="{4F2B6E53-ACDF-8AD3-B75F-F48639031E75}"/>
              </a:ext>
            </a:extLst>
          </p:cNvPr>
          <p:cNvGraphicFramePr>
            <a:graphicFrameLocks noGrp="1"/>
          </p:cNvGraphicFramePr>
          <p:nvPr/>
        </p:nvGraphicFramePr>
        <p:xfrm>
          <a:off x="509048" y="2243579"/>
          <a:ext cx="14309888" cy="10279346"/>
        </p:xfrm>
        <a:graphic>
          <a:graphicData uri="http://schemas.openxmlformats.org/drawingml/2006/table">
            <a:tbl>
              <a:tblPr/>
              <a:tblGrid>
                <a:gridCol w="1532200">
                  <a:extLst>
                    <a:ext uri="{9D8B030D-6E8A-4147-A177-3AD203B41FA5}">
                      <a16:colId xmlns:a16="http://schemas.microsoft.com/office/drawing/2014/main" val="3839322742"/>
                    </a:ext>
                  </a:extLst>
                </a:gridCol>
                <a:gridCol w="3803370">
                  <a:extLst>
                    <a:ext uri="{9D8B030D-6E8A-4147-A177-3AD203B41FA5}">
                      <a16:colId xmlns:a16="http://schemas.microsoft.com/office/drawing/2014/main" val="2002684675"/>
                    </a:ext>
                  </a:extLst>
                </a:gridCol>
                <a:gridCol w="3055542">
                  <a:extLst>
                    <a:ext uri="{9D8B030D-6E8A-4147-A177-3AD203B41FA5}">
                      <a16:colId xmlns:a16="http://schemas.microsoft.com/office/drawing/2014/main" val="1853837546"/>
                    </a:ext>
                  </a:extLst>
                </a:gridCol>
                <a:gridCol w="3825426">
                  <a:extLst>
                    <a:ext uri="{9D8B030D-6E8A-4147-A177-3AD203B41FA5}">
                      <a16:colId xmlns:a16="http://schemas.microsoft.com/office/drawing/2014/main" val="2465176001"/>
                    </a:ext>
                  </a:extLst>
                </a:gridCol>
                <a:gridCol w="2093350">
                  <a:extLst>
                    <a:ext uri="{9D8B030D-6E8A-4147-A177-3AD203B41FA5}">
                      <a16:colId xmlns:a16="http://schemas.microsoft.com/office/drawing/2014/main" val="4040897792"/>
                    </a:ext>
                  </a:extLst>
                </a:gridCol>
              </a:tblGrid>
              <a:tr h="861532">
                <a:tc gridSpan="5">
                  <a:txBody>
                    <a:bodyPr/>
                    <a:lstStyle/>
                    <a:p>
                      <a:pPr algn="ctr" fontAlgn="ctr"/>
                      <a:r>
                        <a:rPr lang="en-GB" sz="2200" b="1" i="0" u="none" strike="noStrike">
                          <a:solidFill>
                            <a:srgbClr val="000000"/>
                          </a:solidFill>
                          <a:effectLst/>
                          <a:latin typeface="+mj-lt"/>
                        </a:rPr>
                        <a:t>Migration Scope</a:t>
                      </a:r>
                    </a:p>
                  </a:txBody>
                  <a:tcPr marL="505290" marR="505290" marT="252644" marB="25264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6E0B4"/>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2841360127"/>
                  </a:ext>
                </a:extLst>
              </a:tr>
              <a:tr h="622602">
                <a:tc>
                  <a:txBody>
                    <a:bodyPr/>
                    <a:lstStyle/>
                    <a:p>
                      <a:pPr algn="ctr" fontAlgn="ctr"/>
                      <a:r>
                        <a:rPr lang="en-GB" sz="2200" b="1" i="0" u="none" strike="noStrike">
                          <a:solidFill>
                            <a:srgbClr val="000000"/>
                          </a:solidFill>
                          <a:effectLst/>
                          <a:latin typeface="+mj-lt"/>
                        </a:rPr>
                        <a:t>Wave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GB" sz="2200" b="1" i="0" u="none" strike="noStrike">
                          <a:solidFill>
                            <a:srgbClr val="000000"/>
                          </a:solidFill>
                          <a:effectLst/>
                          <a:latin typeface="+mj-lt"/>
                        </a:rPr>
                        <a:t>Application</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GB" sz="2200" b="1" i="0" u="none" strike="noStrike">
                          <a:solidFill>
                            <a:srgbClr val="000000"/>
                          </a:solidFill>
                          <a:effectLst/>
                          <a:latin typeface="+mj-lt"/>
                        </a:rPr>
                        <a:t>Migration Approach</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GB" sz="2200" b="1" i="0" u="none" strike="noStrike">
                          <a:solidFill>
                            <a:srgbClr val="000000"/>
                          </a:solidFill>
                          <a:effectLst/>
                          <a:latin typeface="+mj-lt"/>
                        </a:rPr>
                        <a:t>Env's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GB" sz="2200" b="1" i="0" u="none" strike="noStrike">
                          <a:solidFill>
                            <a:srgbClr val="000000"/>
                          </a:solidFill>
                          <a:effectLst/>
                          <a:latin typeface="+mj-lt"/>
                        </a:rPr>
                        <a:t>Classification</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81147730"/>
                  </a:ext>
                </a:extLst>
              </a:tr>
              <a:tr h="359524">
                <a:tc>
                  <a:txBody>
                    <a:bodyPr/>
                    <a:lstStyle/>
                    <a:p>
                      <a:pPr algn="ctr" fontAlgn="ctr"/>
                      <a:r>
                        <a:rPr lang="en-GB" sz="2200" b="0" i="0" u="none" strike="noStrike">
                          <a:solidFill>
                            <a:srgbClr val="000000"/>
                          </a:solidFill>
                          <a:effectLst/>
                          <a:latin typeface="+mj-lt"/>
                        </a:rPr>
                        <a:t>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chemeClr val="tx1"/>
                          </a:solidFill>
                          <a:effectLst/>
                          <a:latin typeface="+mj-lt"/>
                        </a:rPr>
                        <a:t> LZ Build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chemeClr val="tx1"/>
                          </a:solidFill>
                          <a:effectLst/>
                          <a:latin typeface="+mj-lt"/>
                        </a:rPr>
                        <a:t> n/a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All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chemeClr val="tx1"/>
                          </a:solidFill>
                          <a:effectLst/>
                          <a:latin typeface="+mj-lt"/>
                        </a:rPr>
                        <a:t> n/a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88115315"/>
                  </a:ext>
                </a:extLst>
              </a:tr>
              <a:tr h="359524">
                <a:tc>
                  <a:txBody>
                    <a:bodyPr/>
                    <a:lstStyle/>
                    <a:p>
                      <a:pPr algn="ctr" fontAlgn="ctr"/>
                      <a:r>
                        <a:rPr lang="en-GB" sz="2200" b="0" i="0" u="none" strike="noStrike">
                          <a:solidFill>
                            <a:srgbClr val="000000"/>
                          </a:solidFill>
                          <a:effectLst/>
                          <a:latin typeface="+mj-lt"/>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rgbClr val="000000"/>
                          </a:solidFill>
                          <a:effectLst/>
                          <a:latin typeface="+mj-lt"/>
                        </a:rPr>
                        <a:t> Core Shared Services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rgbClr val="000000"/>
                          </a:solidFill>
                          <a:effectLst/>
                          <a:latin typeface="+mj-lt"/>
                        </a:rPr>
                        <a:t> Build New</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rgbClr val="000000"/>
                          </a:solidFill>
                          <a:effectLst/>
                          <a:latin typeface="+mj-lt"/>
                        </a:rPr>
                        <a:t> Prod / Dev / Staging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0" u="none" strike="noStrike">
                          <a:solidFill>
                            <a:schemeClr val="tx1"/>
                          </a:solidFill>
                          <a:effectLst/>
                          <a:latin typeface="+mj-lt"/>
                        </a:rPr>
                        <a:t> n/a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extLst>
                  <a:ext uri="{0D108BD9-81ED-4DB2-BD59-A6C34878D82A}">
                    <a16:rowId xmlns:a16="http://schemas.microsoft.com/office/drawing/2014/main" val="4283434649"/>
                  </a:ext>
                </a:extLst>
              </a:tr>
              <a:tr h="622602">
                <a:tc>
                  <a:txBody>
                    <a:bodyPr/>
                    <a:lstStyle/>
                    <a:p>
                      <a:pPr algn="ctr" fontAlgn="ctr"/>
                      <a:r>
                        <a:rPr lang="en-GB" sz="2200" b="0" i="0" u="none" strike="noStrike">
                          <a:solidFill>
                            <a:srgbClr val="000000"/>
                          </a:solidFill>
                          <a:effectLst/>
                          <a:latin typeface="+mj-lt"/>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rgbClr val="000000"/>
                          </a:solidFill>
                          <a:effectLst/>
                          <a:latin typeface="+mj-lt"/>
                        </a:rPr>
                        <a:t> Shared Services For Wave 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rgbClr val="000000"/>
                          </a:solidFill>
                          <a:effectLst/>
                          <a:latin typeface="+mj-lt"/>
                        </a:rPr>
                        <a:t> Build New</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rgbClr val="000000"/>
                          </a:solidFill>
                          <a:effectLst/>
                          <a:latin typeface="+mj-lt"/>
                        </a:rPr>
                        <a:t> Staging / Prod / Dev</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0" u="none" strike="noStrike">
                          <a:solidFill>
                            <a:schemeClr val="tx1"/>
                          </a:solidFill>
                          <a:effectLst/>
                          <a:latin typeface="+mj-lt"/>
                        </a:rPr>
                        <a:t> n/a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extLst>
                  <a:ext uri="{0D108BD9-81ED-4DB2-BD59-A6C34878D82A}">
                    <a16:rowId xmlns:a16="http://schemas.microsoft.com/office/drawing/2014/main" val="224303599"/>
                  </a:ext>
                </a:extLst>
              </a:tr>
              <a:tr h="359524">
                <a:tc>
                  <a:txBody>
                    <a:bodyPr/>
                    <a:lstStyle/>
                    <a:p>
                      <a:pPr algn="ctr" fontAlgn="ctr"/>
                      <a:r>
                        <a:rPr lang="en-GB" sz="2200" b="0" i="0" u="none" strike="noStrike">
                          <a:solidFill>
                            <a:srgbClr val="000000"/>
                          </a:solidFill>
                          <a:effectLst/>
                          <a:latin typeface="+mj-lt"/>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MyAchilles</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Re–Platform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Staging /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Complex</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11979985"/>
                  </a:ext>
                </a:extLst>
              </a:tr>
              <a:tr h="359524">
                <a:tc>
                  <a:txBody>
                    <a:bodyPr/>
                    <a:lstStyle/>
                    <a:p>
                      <a:pPr algn="ctr" fontAlgn="ctr"/>
                      <a:r>
                        <a:rPr lang="en-GB" sz="2200" b="0" i="0" u="none" strike="noStrike">
                          <a:solidFill>
                            <a:srgbClr val="000000"/>
                          </a:solidFill>
                          <a:effectLst/>
                          <a:latin typeface="+mj-lt"/>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Thompson Reuters</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Staging /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Standard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09035422"/>
                  </a:ext>
                </a:extLst>
              </a:tr>
              <a:tr h="359524">
                <a:tc>
                  <a:txBody>
                    <a:bodyPr/>
                    <a:lstStyle/>
                    <a:p>
                      <a:pPr algn="ctr" fontAlgn="ctr"/>
                      <a:r>
                        <a:rPr lang="en-GB" sz="2200" b="0" i="0" u="none" strike="noStrike">
                          <a:solidFill>
                            <a:srgbClr val="000000"/>
                          </a:solidFill>
                          <a:effectLst/>
                          <a:latin typeface="+mj-lt"/>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Achilles.com</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Staging /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Standard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43360319"/>
                  </a:ext>
                </a:extLst>
              </a:tr>
              <a:tr h="359524">
                <a:tc>
                  <a:txBody>
                    <a:bodyPr/>
                    <a:lstStyle/>
                    <a:p>
                      <a:pPr algn="ctr" fontAlgn="ctr"/>
                      <a:r>
                        <a:rPr lang="en-GB" sz="2200" b="0" i="0" u="none" strike="noStrike">
                          <a:solidFill>
                            <a:srgbClr val="000000"/>
                          </a:solidFill>
                          <a:effectLst/>
                          <a:latin typeface="+mj-lt"/>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Central Reporting</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Staging /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Standard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2769147"/>
                  </a:ext>
                </a:extLst>
              </a:tr>
              <a:tr h="359524">
                <a:tc>
                  <a:txBody>
                    <a:bodyPr/>
                    <a:lstStyle/>
                    <a:p>
                      <a:pPr algn="ctr" fontAlgn="ctr"/>
                      <a:r>
                        <a:rPr lang="en-GB" sz="2200" b="0" i="0" u="none" strike="noStrike">
                          <a:solidFill>
                            <a:srgbClr val="000000"/>
                          </a:solidFill>
                          <a:effectLst/>
                          <a:latin typeface="+mj-lt"/>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Nagios Monitoring</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Standard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24252865"/>
                  </a:ext>
                </a:extLst>
              </a:tr>
              <a:tr h="359524">
                <a:tc>
                  <a:txBody>
                    <a:bodyPr/>
                    <a:lstStyle/>
                    <a:p>
                      <a:pPr algn="ctr" fontAlgn="ctr"/>
                      <a:r>
                        <a:rPr lang="en-GB" sz="2200" b="0" i="0" u="none" strike="noStrike">
                          <a:solidFill>
                            <a:srgbClr val="000000"/>
                          </a:solidFill>
                          <a:effectLst/>
                          <a:latin typeface="+mj-lt"/>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a:t>
                      </a:r>
                      <a:r>
                        <a:rPr lang="en-GB" sz="2200" b="0" i="0" u="none" strike="noStrike" err="1">
                          <a:solidFill>
                            <a:srgbClr val="000000"/>
                          </a:solidFill>
                          <a:effectLst/>
                          <a:latin typeface="+mj-lt"/>
                        </a:rPr>
                        <a:t>Netsuite</a:t>
                      </a:r>
                      <a:endParaRPr lang="en-GB" sz="22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Basic</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50753192"/>
                  </a:ext>
                </a:extLst>
              </a:tr>
              <a:tr h="359524">
                <a:tc>
                  <a:txBody>
                    <a:bodyPr/>
                    <a:lstStyle/>
                    <a:p>
                      <a:pPr algn="ctr" fontAlgn="ctr"/>
                      <a:r>
                        <a:rPr lang="en-GB" sz="2200" b="0" i="0" u="none" strike="noStrike">
                          <a:solidFill>
                            <a:srgbClr val="000000"/>
                          </a:solidFill>
                          <a:effectLst/>
                          <a:latin typeface="+mj-lt"/>
                        </a:rPr>
                        <a:t>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Eclipse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Image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Staging / QA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Standard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38633466"/>
                  </a:ext>
                </a:extLst>
              </a:tr>
              <a:tr h="622602">
                <a:tc>
                  <a:txBody>
                    <a:bodyPr/>
                    <a:lstStyle/>
                    <a:p>
                      <a:pPr algn="ctr" fontAlgn="ctr"/>
                      <a:r>
                        <a:rPr lang="en-GB" sz="2200" b="0" i="0" u="none" strike="noStrike">
                          <a:solidFill>
                            <a:srgbClr val="000000"/>
                          </a:solidFill>
                          <a:effectLst/>
                          <a:latin typeface="+mj-lt"/>
                        </a:rPr>
                        <a:t>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rgbClr val="000000"/>
                          </a:solidFill>
                          <a:effectLst/>
                          <a:latin typeface="+mj-lt"/>
                        </a:rPr>
                        <a:t> Shared Services For Wave 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rgbClr val="000000"/>
                          </a:solidFill>
                          <a:effectLst/>
                          <a:latin typeface="+mj-lt"/>
                        </a:rPr>
                        <a:t> Build New</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1" u="none" strike="noStrike">
                          <a:solidFill>
                            <a:schemeClr val="tx1"/>
                          </a:solidFill>
                          <a:effectLst/>
                          <a:latin typeface="+mj-lt"/>
                        </a:rPr>
                        <a:t>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tc>
                  <a:txBody>
                    <a:bodyPr/>
                    <a:lstStyle/>
                    <a:p>
                      <a:pPr algn="l" fontAlgn="ctr"/>
                      <a:r>
                        <a:rPr lang="en-GB" sz="2200" b="0" i="0" u="none" strike="noStrike">
                          <a:solidFill>
                            <a:schemeClr val="tx1"/>
                          </a:solidFill>
                          <a:effectLst/>
                          <a:latin typeface="+mj-lt"/>
                        </a:rPr>
                        <a:t> n/a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2CC"/>
                    </a:solidFill>
                  </a:tcPr>
                </a:tc>
                <a:extLst>
                  <a:ext uri="{0D108BD9-81ED-4DB2-BD59-A6C34878D82A}">
                    <a16:rowId xmlns:a16="http://schemas.microsoft.com/office/drawing/2014/main" val="4263854920"/>
                  </a:ext>
                </a:extLst>
              </a:tr>
              <a:tr h="359524">
                <a:tc>
                  <a:txBody>
                    <a:bodyPr/>
                    <a:lstStyle/>
                    <a:p>
                      <a:pPr algn="ctr" fontAlgn="ctr"/>
                      <a:r>
                        <a:rPr lang="en-GB" sz="2200" b="0" i="0" u="none" strike="noStrike">
                          <a:solidFill>
                            <a:srgbClr val="000000"/>
                          </a:solidFill>
                          <a:effectLst/>
                          <a:latin typeface="+mj-lt"/>
                        </a:rPr>
                        <a:t>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Service Desk</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Image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Prod &amp; Dev?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Basic</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42459095"/>
                  </a:ext>
                </a:extLst>
              </a:tr>
              <a:tr h="359524">
                <a:tc>
                  <a:txBody>
                    <a:bodyPr/>
                    <a:lstStyle/>
                    <a:p>
                      <a:pPr algn="ctr" fontAlgn="ctr"/>
                      <a:r>
                        <a:rPr lang="en-GB" sz="2200" b="0" i="0" u="none" strike="noStrike">
                          <a:solidFill>
                            <a:srgbClr val="000000"/>
                          </a:solidFill>
                          <a:effectLst/>
                          <a:latin typeface="+mj-lt"/>
                        </a:rPr>
                        <a:t>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Telephone call log</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Image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Basic</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6010035"/>
                  </a:ext>
                </a:extLst>
              </a:tr>
              <a:tr h="359524">
                <a:tc>
                  <a:txBody>
                    <a:bodyPr/>
                    <a:lstStyle/>
                    <a:p>
                      <a:pPr algn="ctr" fontAlgn="ctr"/>
                      <a:r>
                        <a:rPr lang="en-GB" sz="2200" b="0" i="0" u="none" strike="noStrike">
                          <a:solidFill>
                            <a:srgbClr val="000000"/>
                          </a:solidFill>
                          <a:effectLst/>
                          <a:latin typeface="+mj-lt"/>
                        </a:rPr>
                        <a:t>4</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My Insight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Basic</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41396689"/>
                  </a:ext>
                </a:extLst>
              </a:tr>
              <a:tr h="359524">
                <a:tc>
                  <a:txBody>
                    <a:bodyPr/>
                    <a:lstStyle/>
                    <a:p>
                      <a:pPr algn="ctr" fontAlgn="ctr"/>
                      <a:r>
                        <a:rPr lang="en-GB" sz="2200" b="0" i="0" u="none" strike="noStrike">
                          <a:solidFill>
                            <a:srgbClr val="000000"/>
                          </a:solidFill>
                          <a:effectLst/>
                          <a:latin typeface="+mj-lt"/>
                        </a:rPr>
                        <a:t>4</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a:t>
                      </a:r>
                      <a:r>
                        <a:rPr lang="en-GB" sz="2200" b="0" i="1" u="none" strike="noStrike" err="1">
                          <a:solidFill>
                            <a:srgbClr val="000000"/>
                          </a:solidFill>
                          <a:effectLst/>
                          <a:latin typeface="+mj-lt"/>
                        </a:rPr>
                        <a:t>Hackolade</a:t>
                      </a:r>
                      <a:endParaRPr lang="en-GB" sz="2200" b="0" i="1" u="none" strike="noStrike">
                        <a:solidFill>
                          <a:srgbClr val="000000"/>
                        </a:solidFill>
                        <a:effectLst/>
                        <a:latin typeface="+mj-lt"/>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Image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Dev</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Basic</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95636899"/>
                  </a:ext>
                </a:extLst>
              </a:tr>
              <a:tr h="359524">
                <a:tc>
                  <a:txBody>
                    <a:bodyPr/>
                    <a:lstStyle/>
                    <a:p>
                      <a:pPr algn="ctr" fontAlgn="ctr"/>
                      <a:r>
                        <a:rPr lang="en-GB" sz="2200" b="0" i="0" u="none" strike="noStrike">
                          <a:solidFill>
                            <a:srgbClr val="000000"/>
                          </a:solidFill>
                          <a:effectLst/>
                          <a:latin typeface="+mj-lt"/>
                        </a:rPr>
                        <a:t>4</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chemeClr val="tx1"/>
                          </a:solidFill>
                          <a:effectLst/>
                          <a:latin typeface="+mj-lt"/>
                        </a:rPr>
                        <a:t> StartBank (Archive)*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chemeClr val="tx1"/>
                          </a:solidFill>
                          <a:effectLst/>
                          <a:latin typeface="+mj-lt"/>
                        </a:rPr>
                        <a:t> Re-Host Image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Prod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Basic</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92776109"/>
                  </a:ext>
                </a:extLst>
              </a:tr>
              <a:tr h="359524">
                <a:tc>
                  <a:txBody>
                    <a:bodyPr/>
                    <a:lstStyle/>
                    <a:p>
                      <a:pPr algn="ctr" fontAlgn="ctr"/>
                      <a:r>
                        <a:rPr lang="en-GB" sz="2200" b="0" i="0" u="none" strike="noStrike">
                          <a:solidFill>
                            <a:srgbClr val="000000"/>
                          </a:solidFill>
                          <a:effectLst/>
                          <a:latin typeface="+mj-lt"/>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GB" sz="2200" b="0" i="0" u="none" strike="noStrike">
                          <a:solidFill>
                            <a:srgbClr val="006100"/>
                          </a:solidFill>
                          <a:effectLst/>
                          <a:latin typeface="+mj-lt"/>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94297731"/>
                  </a:ext>
                </a:extLst>
              </a:tr>
              <a:tr h="719052">
                <a:tc>
                  <a:txBody>
                    <a:bodyPr/>
                    <a:lstStyle/>
                    <a:p>
                      <a:pPr algn="ctr" fontAlgn="ctr"/>
                      <a:r>
                        <a:rPr lang="en-GB" sz="2200" b="0" i="0" u="none" strike="noStrike">
                          <a:solidFill>
                            <a:srgbClr val="000000"/>
                          </a:solidFill>
                          <a:effectLst/>
                          <a:latin typeface="+mj-lt"/>
                        </a:rPr>
                        <a:t>5</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MyAchilles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DEV / App Support / Demo / Dev /  Dev–DMT / QA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Complex</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04924013"/>
                  </a:ext>
                </a:extLst>
              </a:tr>
              <a:tr h="359524">
                <a:tc>
                  <a:txBody>
                    <a:bodyPr/>
                    <a:lstStyle/>
                    <a:p>
                      <a:pPr algn="ctr" fontAlgn="ctr"/>
                      <a:r>
                        <a:rPr lang="en-GB" sz="2200" b="0" i="0" u="none" strike="noStrike">
                          <a:solidFill>
                            <a:srgbClr val="000000"/>
                          </a:solidFill>
                          <a:effectLst/>
                          <a:latin typeface="+mj-lt"/>
                        </a:rPr>
                        <a:t>5</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Central Reporting</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Dev</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Standard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97139103"/>
                  </a:ext>
                </a:extLst>
              </a:tr>
              <a:tr h="359524">
                <a:tc>
                  <a:txBody>
                    <a:bodyPr/>
                    <a:lstStyle/>
                    <a:p>
                      <a:pPr algn="ctr" fontAlgn="ctr"/>
                      <a:r>
                        <a:rPr lang="en-GB" sz="2200" b="0" i="0" u="none" strike="noStrike">
                          <a:solidFill>
                            <a:srgbClr val="000000"/>
                          </a:solidFill>
                          <a:effectLst/>
                          <a:latin typeface="+mj-lt"/>
                        </a:rPr>
                        <a:t>5</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Thompson Reuters</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Dev</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Standard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2949201"/>
                  </a:ext>
                </a:extLst>
              </a:tr>
              <a:tr h="359524">
                <a:tc>
                  <a:txBody>
                    <a:bodyPr/>
                    <a:lstStyle/>
                    <a:p>
                      <a:pPr algn="ctr" fontAlgn="ctr"/>
                      <a:r>
                        <a:rPr lang="en-GB" sz="2200" b="0" i="0" u="none" strike="noStrike">
                          <a:solidFill>
                            <a:srgbClr val="000000"/>
                          </a:solidFill>
                          <a:effectLst/>
                          <a:latin typeface="+mj-lt"/>
                        </a:rPr>
                        <a:t>5</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a:t>
                      </a:r>
                      <a:r>
                        <a:rPr lang="en-GB" sz="2200" b="0" i="0" u="none" strike="noStrike" err="1">
                          <a:solidFill>
                            <a:srgbClr val="000000"/>
                          </a:solidFill>
                          <a:effectLst/>
                          <a:latin typeface="+mj-lt"/>
                        </a:rPr>
                        <a:t>Achilles.com</a:t>
                      </a:r>
                      <a:endParaRPr lang="en-GB" sz="22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Re–Host Greenfield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Dev</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Standard</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161896682"/>
                  </a:ext>
                </a:extLst>
              </a:tr>
              <a:tr h="359524">
                <a:tc>
                  <a:txBody>
                    <a:bodyPr/>
                    <a:lstStyle/>
                    <a:p>
                      <a:pPr algn="ctr" fontAlgn="ctr"/>
                      <a:r>
                        <a:rPr lang="en-GB" sz="2200" b="0" i="0" u="none" strike="noStrike">
                          <a:solidFill>
                            <a:srgbClr val="000000"/>
                          </a:solidFill>
                          <a:effectLst/>
                          <a:latin typeface="+mj-lt"/>
                        </a:rPr>
                        <a:t>6</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b"/>
                      <a:r>
                        <a:rPr lang="en-GB" sz="2200" b="0" i="0" u="none" strike="noStrike">
                          <a:solidFill>
                            <a:srgbClr val="000000"/>
                          </a:solidFill>
                          <a:effectLst/>
                          <a:latin typeface="+mj-lt"/>
                        </a:rPr>
                        <a:t> GoSupply Azure to AWS**</a:t>
                      </a: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Refactor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1" u="none" strike="noStrike">
                          <a:solidFill>
                            <a:srgbClr val="000000"/>
                          </a:solidFill>
                          <a:effectLst/>
                          <a:latin typeface="+mj-lt"/>
                        </a:rPr>
                        <a:t> Prod/UAT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en-GB" sz="2200" b="0" i="0" u="none" strike="noStrike">
                          <a:solidFill>
                            <a:srgbClr val="000000"/>
                          </a:solidFill>
                          <a:effectLst/>
                          <a:latin typeface="+mj-lt"/>
                        </a:rPr>
                        <a:t> Complex</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16419625"/>
                  </a:ext>
                </a:extLst>
              </a:tr>
            </a:tbl>
          </a:graphicData>
        </a:graphic>
      </p:graphicFrame>
      <p:graphicFrame>
        <p:nvGraphicFramePr>
          <p:cNvPr id="12" name="Table 11">
            <a:extLst>
              <a:ext uri="{FF2B5EF4-FFF2-40B4-BE49-F238E27FC236}">
                <a16:creationId xmlns:a16="http://schemas.microsoft.com/office/drawing/2014/main" id="{079F2F92-39DB-5659-A50E-E600465E18EF}"/>
              </a:ext>
            </a:extLst>
          </p:cNvPr>
          <p:cNvGraphicFramePr>
            <a:graphicFrameLocks noGrp="1"/>
          </p:cNvGraphicFramePr>
          <p:nvPr/>
        </p:nvGraphicFramePr>
        <p:xfrm>
          <a:off x="16044421" y="3105644"/>
          <a:ext cx="7197586" cy="8211720"/>
        </p:xfrm>
        <a:graphic>
          <a:graphicData uri="http://schemas.openxmlformats.org/drawingml/2006/table">
            <a:tbl>
              <a:tblPr>
                <a:tableStyleId>{5C22544A-7EE6-4342-B048-85BDC9FD1C3A}</a:tableStyleId>
              </a:tblPr>
              <a:tblGrid>
                <a:gridCol w="4706748">
                  <a:extLst>
                    <a:ext uri="{9D8B030D-6E8A-4147-A177-3AD203B41FA5}">
                      <a16:colId xmlns:a16="http://schemas.microsoft.com/office/drawing/2014/main" val="4027756827"/>
                    </a:ext>
                  </a:extLst>
                </a:gridCol>
                <a:gridCol w="2490838">
                  <a:extLst>
                    <a:ext uri="{9D8B030D-6E8A-4147-A177-3AD203B41FA5}">
                      <a16:colId xmlns:a16="http://schemas.microsoft.com/office/drawing/2014/main" val="1442760507"/>
                    </a:ext>
                  </a:extLst>
                </a:gridCol>
              </a:tblGrid>
              <a:tr h="608516">
                <a:tc>
                  <a:txBody>
                    <a:bodyPr/>
                    <a:lstStyle/>
                    <a:p>
                      <a:pPr algn="l" fontAlgn="b"/>
                      <a:r>
                        <a:rPr lang="en-GB" sz="2000" b="1" u="none" strike="noStrike">
                          <a:effectLst/>
                          <a:latin typeface="+mj-lt"/>
                        </a:rPr>
                        <a:t> Shared Service</a:t>
                      </a:r>
                      <a:endParaRPr lang="en-GB" sz="2000" b="1"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b="1" u="none" strike="noStrike">
                          <a:effectLst/>
                          <a:latin typeface="+mj-lt"/>
                        </a:rPr>
                        <a:t> Release</a:t>
                      </a:r>
                      <a:endParaRPr lang="en-GB" sz="2000" b="1"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49518829"/>
                  </a:ext>
                </a:extLst>
              </a:tr>
              <a:tr h="417690">
                <a:tc>
                  <a:txBody>
                    <a:bodyPr/>
                    <a:lstStyle/>
                    <a:p>
                      <a:pPr algn="l" fontAlgn="b"/>
                      <a:r>
                        <a:rPr lang="en-GB" sz="2000" u="none" strike="noStrike">
                          <a:effectLst/>
                          <a:latin typeface="+mj-lt"/>
                        </a:rPr>
                        <a:t> Domain Controllers  Non Prod</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Core Shared Service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3389646"/>
                  </a:ext>
                </a:extLst>
              </a:tr>
              <a:tr h="417690">
                <a:tc>
                  <a:txBody>
                    <a:bodyPr/>
                    <a:lstStyle/>
                    <a:p>
                      <a:pPr algn="l" fontAlgn="b"/>
                      <a:r>
                        <a:rPr lang="en-GB" sz="2000" u="none" strike="noStrike">
                          <a:effectLst/>
                          <a:latin typeface="+mj-lt"/>
                        </a:rPr>
                        <a:t> Duo Multi–factor App</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Core Shared Service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08872021"/>
                  </a:ext>
                </a:extLst>
              </a:tr>
              <a:tr h="417690">
                <a:tc>
                  <a:txBody>
                    <a:bodyPr/>
                    <a:lstStyle/>
                    <a:p>
                      <a:pPr algn="l" fontAlgn="b"/>
                      <a:r>
                        <a:rPr lang="en-GB" sz="2000" u="none" strike="noStrike">
                          <a:effectLst/>
                          <a:latin typeface="+mj-lt"/>
                        </a:rPr>
                        <a:t> ELK</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Core Shared Service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22568314"/>
                  </a:ext>
                </a:extLst>
              </a:tr>
              <a:tr h="417690">
                <a:tc>
                  <a:txBody>
                    <a:bodyPr/>
                    <a:lstStyle/>
                    <a:p>
                      <a:pPr algn="l" fontAlgn="b"/>
                      <a:r>
                        <a:rPr lang="en-GB" sz="2000" u="none" strike="noStrike">
                          <a:effectLst/>
                          <a:latin typeface="+mj-lt"/>
                        </a:rPr>
                        <a:t> Load Balancer</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Core Shared Service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7616693"/>
                  </a:ext>
                </a:extLst>
              </a:tr>
              <a:tr h="417690">
                <a:tc>
                  <a:txBody>
                    <a:bodyPr/>
                    <a:lstStyle/>
                    <a:p>
                      <a:pPr algn="l" fontAlgn="b"/>
                      <a:r>
                        <a:rPr lang="en-GB" sz="2000" u="none" strike="noStrike">
                          <a:effectLst/>
                          <a:latin typeface="+mj-lt"/>
                        </a:rPr>
                        <a:t> Qualys appliance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Core Shared Service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6451369"/>
                  </a:ext>
                </a:extLst>
              </a:tr>
              <a:tr h="417690">
                <a:tc>
                  <a:txBody>
                    <a:bodyPr/>
                    <a:lstStyle/>
                    <a:p>
                      <a:pPr algn="l" fontAlgn="b"/>
                      <a:r>
                        <a:rPr lang="en-GB" sz="2000" u="none" strike="noStrike">
                          <a:effectLst/>
                          <a:latin typeface="+mj-lt"/>
                        </a:rPr>
                        <a:t> SMTP Server</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Core Shared Service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09984555"/>
                  </a:ext>
                </a:extLst>
              </a:tr>
              <a:tr h="417690">
                <a:tc>
                  <a:txBody>
                    <a:bodyPr/>
                    <a:lstStyle/>
                    <a:p>
                      <a:pPr algn="l" fontAlgn="b"/>
                      <a:r>
                        <a:rPr lang="en-GB" sz="2000" u="none" strike="noStrike">
                          <a:effectLst/>
                          <a:latin typeface="+mj-lt"/>
                        </a:rPr>
                        <a:t> Taegis appliance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Core Shared Service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55178807"/>
                  </a:ext>
                </a:extLst>
              </a:tr>
              <a:tr h="417690">
                <a:tc>
                  <a:txBody>
                    <a:bodyPr/>
                    <a:lstStyle/>
                    <a:p>
                      <a:pPr algn="l" fontAlgn="b"/>
                      <a:r>
                        <a:rPr lang="en-GB" sz="2000" u="none" strike="noStrike">
                          <a:effectLst/>
                          <a:latin typeface="+mj-lt"/>
                        </a:rPr>
                        <a:t> Dynatrace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Core Shared Service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03110215"/>
                  </a:ext>
                </a:extLst>
              </a:tr>
              <a:tr h="417690">
                <a:tc>
                  <a:txBody>
                    <a:bodyPr/>
                    <a:lstStyle/>
                    <a:p>
                      <a:pPr algn="l" fontAlgn="b"/>
                      <a:r>
                        <a:rPr lang="en-GB" sz="2000" u="none" strike="noStrike">
                          <a:effectLst/>
                          <a:latin typeface="+mj-lt"/>
                        </a:rPr>
                        <a:t> Azure DevOps </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1</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57692368"/>
                  </a:ext>
                </a:extLst>
              </a:tr>
              <a:tr h="417690">
                <a:tc>
                  <a:txBody>
                    <a:bodyPr/>
                    <a:lstStyle/>
                    <a:p>
                      <a:pPr algn="l" fontAlgn="b"/>
                      <a:r>
                        <a:rPr lang="en-GB" sz="2000" u="none" strike="noStrike">
                          <a:effectLst/>
                          <a:latin typeface="+mj-lt"/>
                        </a:rPr>
                        <a:t> DevOps / Jenkins File Server</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1</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531249"/>
                  </a:ext>
                </a:extLst>
              </a:tr>
              <a:tr h="417690">
                <a:tc>
                  <a:txBody>
                    <a:bodyPr/>
                    <a:lstStyle/>
                    <a:p>
                      <a:pPr algn="l" fontAlgn="b"/>
                      <a:r>
                        <a:rPr lang="en-GB" sz="2000" u="none" strike="noStrike">
                          <a:effectLst/>
                          <a:latin typeface="+mj-lt"/>
                        </a:rPr>
                        <a:t> Analytics Data Platform SAP IQ</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1</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89054089"/>
                  </a:ext>
                </a:extLst>
              </a:tr>
              <a:tr h="417690">
                <a:tc>
                  <a:txBody>
                    <a:bodyPr/>
                    <a:lstStyle/>
                    <a:p>
                      <a:pPr algn="l" fontAlgn="b"/>
                      <a:r>
                        <a:rPr lang="en-GB" sz="2000" u="none" strike="noStrike">
                          <a:effectLst/>
                          <a:latin typeface="+mj-lt"/>
                        </a:rPr>
                        <a:t>  MyAchilles Domain Controllers </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1</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8516183"/>
                  </a:ext>
                </a:extLst>
              </a:tr>
              <a:tr h="417690">
                <a:tc>
                  <a:txBody>
                    <a:bodyPr/>
                    <a:lstStyle/>
                    <a:p>
                      <a:pPr algn="l" fontAlgn="b"/>
                      <a:r>
                        <a:rPr lang="en-GB" sz="2000" u="none" strike="noStrike">
                          <a:effectLst/>
                          <a:latin typeface="+mj-lt"/>
                        </a:rPr>
                        <a:t> Domain Controllers (Internal Achilles)</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3</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7560092"/>
                  </a:ext>
                </a:extLst>
              </a:tr>
              <a:tr h="417690">
                <a:tc>
                  <a:txBody>
                    <a:bodyPr/>
                    <a:lstStyle/>
                    <a:p>
                      <a:pPr algn="l" fontAlgn="b"/>
                      <a:r>
                        <a:rPr lang="en-GB" sz="2000" u="none" strike="noStrike">
                          <a:effectLst/>
                          <a:latin typeface="+mj-lt"/>
                        </a:rPr>
                        <a:t> Bomgar Appliance</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3</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14955118"/>
                  </a:ext>
                </a:extLst>
              </a:tr>
              <a:tr h="417690">
                <a:tc>
                  <a:txBody>
                    <a:bodyPr/>
                    <a:lstStyle/>
                    <a:p>
                      <a:pPr algn="l" fontAlgn="b"/>
                      <a:r>
                        <a:rPr lang="en-GB" sz="2000" u="none" strike="noStrike">
                          <a:effectLst/>
                          <a:latin typeface="+mj-lt"/>
                        </a:rPr>
                        <a:t> Achilles File Server</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3</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3072947"/>
                  </a:ext>
                </a:extLst>
              </a:tr>
              <a:tr h="920164">
                <a:tc>
                  <a:txBody>
                    <a:bodyPr/>
                    <a:lstStyle/>
                    <a:p>
                      <a:pPr algn="l" fontAlgn="b"/>
                      <a:r>
                        <a:rPr lang="en-GB" sz="2000" u="none" strike="noStrike">
                          <a:effectLst/>
                          <a:latin typeface="+mj-lt"/>
                        </a:rPr>
                        <a:t> Jenkins DNS / FileServers /</a:t>
                      </a:r>
                      <a:br>
                        <a:rPr lang="en-GB" sz="2000" u="none" strike="noStrike">
                          <a:effectLst/>
                          <a:latin typeface="+mj-lt"/>
                        </a:rPr>
                      </a:br>
                      <a:r>
                        <a:rPr lang="en-GB" sz="2000" u="none" strike="noStrike">
                          <a:effectLst/>
                          <a:latin typeface="+mj-lt"/>
                        </a:rPr>
                        <a:t> Citrix Netscaler</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3</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1055473"/>
                  </a:ext>
                </a:extLst>
              </a:tr>
              <a:tr h="417690">
                <a:tc>
                  <a:txBody>
                    <a:bodyPr/>
                    <a:lstStyle/>
                    <a:p>
                      <a:pPr algn="l" fontAlgn="b"/>
                      <a:r>
                        <a:rPr lang="en-GB" sz="2000" u="none" strike="noStrike">
                          <a:effectLst/>
                          <a:latin typeface="+mj-lt"/>
                        </a:rPr>
                        <a:t> SCCM</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b"/>
                      <a:r>
                        <a:rPr lang="en-GB" sz="2000" u="none" strike="noStrike">
                          <a:effectLst/>
                          <a:latin typeface="+mj-lt"/>
                        </a:rPr>
                        <a:t> Wave 3</a:t>
                      </a:r>
                      <a:endParaRPr lang="en-GB" sz="2000" b="0" i="0" u="none" strike="noStrike">
                        <a:solidFill>
                          <a:srgbClr val="000000"/>
                        </a:solidFill>
                        <a:effectLst/>
                        <a:latin typeface="+mj-lt"/>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02300129"/>
                  </a:ext>
                </a:extLst>
              </a:tr>
            </a:tbl>
          </a:graphicData>
        </a:graphic>
      </p:graphicFrame>
      <p:sp>
        <p:nvSpPr>
          <p:cNvPr id="13" name="TextBox 12">
            <a:extLst>
              <a:ext uri="{FF2B5EF4-FFF2-40B4-BE49-F238E27FC236}">
                <a16:creationId xmlns:a16="http://schemas.microsoft.com/office/drawing/2014/main" id="{D46CD384-2DEF-9B14-1E8F-284291EC37B5}"/>
              </a:ext>
            </a:extLst>
          </p:cNvPr>
          <p:cNvSpPr txBox="1"/>
          <p:nvPr/>
        </p:nvSpPr>
        <p:spPr>
          <a:xfrm>
            <a:off x="16044421" y="2318995"/>
            <a:ext cx="7197586" cy="461665"/>
          </a:xfrm>
          <a:prstGeom prst="rect">
            <a:avLst/>
          </a:prstGeom>
          <a:solidFill>
            <a:srgbClr val="C6E0B4"/>
          </a:solidFill>
        </p:spPr>
        <p:txBody>
          <a:bodyPr wrap="square" rtlCol="0">
            <a:spAutoFit/>
          </a:bodyPr>
          <a:lstStyle/>
          <a:p>
            <a:pPr algn="ctr"/>
            <a:r>
              <a:rPr lang="en-GB" sz="2400" b="1">
                <a:latin typeface="+mj-lt"/>
              </a:rPr>
              <a:t>Shared Services Scope</a:t>
            </a:r>
          </a:p>
        </p:txBody>
      </p:sp>
      <p:sp>
        <p:nvSpPr>
          <p:cNvPr id="14" name="Rectangle 13">
            <a:extLst>
              <a:ext uri="{FF2B5EF4-FFF2-40B4-BE49-F238E27FC236}">
                <a16:creationId xmlns:a16="http://schemas.microsoft.com/office/drawing/2014/main" id="{AA0DBABB-E073-9246-205E-5A8EA20AFDCB}"/>
              </a:ext>
            </a:extLst>
          </p:cNvPr>
          <p:cNvSpPr/>
          <p:nvPr/>
        </p:nvSpPr>
        <p:spPr>
          <a:xfrm>
            <a:off x="16044421" y="2243579"/>
            <a:ext cx="7197586" cy="862066"/>
          </a:xfrm>
          <a:prstGeom prst="rect">
            <a:avLst/>
          </a:prstGeom>
          <a:solidFill>
            <a:srgbClr val="FFF2CC"/>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b="1">
                <a:solidFill>
                  <a:schemeClr val="tx1"/>
                </a:solidFill>
                <a:latin typeface="+mj-lt"/>
              </a:rPr>
              <a:t>Shared Service List</a:t>
            </a:r>
          </a:p>
        </p:txBody>
      </p:sp>
      <p:sp>
        <p:nvSpPr>
          <p:cNvPr id="15" name="TextBox 14">
            <a:extLst>
              <a:ext uri="{FF2B5EF4-FFF2-40B4-BE49-F238E27FC236}">
                <a16:creationId xmlns:a16="http://schemas.microsoft.com/office/drawing/2014/main" id="{E1416E14-AABC-03EC-3F8B-C59B6D5307A9}"/>
              </a:ext>
            </a:extLst>
          </p:cNvPr>
          <p:cNvSpPr txBox="1"/>
          <p:nvPr/>
        </p:nvSpPr>
        <p:spPr>
          <a:xfrm>
            <a:off x="15869235" y="11472423"/>
            <a:ext cx="7547954" cy="1785104"/>
          </a:xfrm>
          <a:prstGeom prst="rect">
            <a:avLst/>
          </a:prstGeom>
          <a:noFill/>
        </p:spPr>
        <p:txBody>
          <a:bodyPr wrap="square" rtlCol="0">
            <a:spAutoFit/>
          </a:bodyPr>
          <a:lstStyle/>
          <a:p>
            <a:pPr algn="l"/>
            <a:r>
              <a:rPr lang="en-GB" sz="2200">
                <a:latin typeface="+mj-lt"/>
              </a:rPr>
              <a:t>*</a:t>
            </a:r>
            <a:r>
              <a:rPr lang="en-GB" sz="2200" err="1">
                <a:latin typeface="+mj-lt"/>
              </a:rPr>
              <a:t>Startbank</a:t>
            </a:r>
            <a:r>
              <a:rPr lang="en-GB" sz="2200">
                <a:latin typeface="+mj-lt"/>
              </a:rPr>
              <a:t> is only being kept for archival purposes, assumption is an image copy would be migrated to cloud.</a:t>
            </a:r>
          </a:p>
          <a:p>
            <a:pPr algn="l"/>
            <a:endParaRPr lang="en-GB" sz="2200">
              <a:latin typeface="+mj-lt"/>
            </a:endParaRPr>
          </a:p>
          <a:p>
            <a:pPr algn="l"/>
            <a:r>
              <a:rPr lang="en-GB" sz="2200">
                <a:latin typeface="+mj-lt"/>
              </a:rPr>
              <a:t>**Only applicable if Achilles choose to migrate to AWS vs Azure.</a:t>
            </a:r>
          </a:p>
        </p:txBody>
      </p:sp>
    </p:spTree>
    <p:extLst>
      <p:ext uri="{BB962C8B-B14F-4D97-AF65-F5344CB8AC3E}">
        <p14:creationId xmlns:p14="http://schemas.microsoft.com/office/powerpoint/2010/main" val="318367240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A24EBDF7-24E0-4FA5-9F79-FD5A2048B239}"/>
              </a:ext>
            </a:extLst>
          </p:cNvPr>
          <p:cNvSpPr>
            <a:spLocks noGrp="1"/>
          </p:cNvSpPr>
          <p:nvPr>
            <p:ph type="sldNum" sz="quarter" idx="4"/>
          </p:nvPr>
        </p:nvSpPr>
        <p:spPr/>
        <p:txBody>
          <a:bodyPr/>
          <a:lstStyle/>
          <a:p>
            <a:pPr>
              <a:defRPr/>
            </a:pPr>
            <a:fld id="{762E77F0-FB5B-4E8E-9BC9-34F14560A017}" type="slidenum">
              <a:rPr lang="en-US">
                <a:solidFill>
                  <a:prstClr val="black"/>
                </a:solidFill>
                <a:latin typeface="+mj-lt"/>
              </a:rPr>
              <a:pPr>
                <a:defRPr/>
              </a:pPr>
              <a:t>69</a:t>
            </a:fld>
            <a:endParaRPr lang="en-US">
              <a:solidFill>
                <a:prstClr val="black"/>
              </a:solidFill>
              <a:latin typeface="+mj-lt"/>
            </a:endParaRPr>
          </a:p>
        </p:txBody>
      </p:sp>
      <p:sp>
        <p:nvSpPr>
          <p:cNvPr id="7" name="Title 1">
            <a:extLst>
              <a:ext uri="{FF2B5EF4-FFF2-40B4-BE49-F238E27FC236}">
                <a16:creationId xmlns:a16="http://schemas.microsoft.com/office/drawing/2014/main" id="{7935F72F-BAEE-430B-B272-964AC802E754}"/>
              </a:ext>
            </a:extLst>
          </p:cNvPr>
          <p:cNvSpPr txBox="1">
            <a:spLocks/>
          </p:cNvSpPr>
          <p:nvPr/>
        </p:nvSpPr>
        <p:spPr>
          <a:xfrm>
            <a:off x="1263285" y="642242"/>
            <a:ext cx="10130110" cy="1215424"/>
          </a:xfrm>
          <a:prstGeom prst="rect">
            <a:avLst/>
          </a:prstGeom>
          <a:ln w="12700">
            <a:noFill/>
          </a:ln>
        </p:spPr>
        <p:txBody>
          <a:bodyPr vert="horz" lIns="0" tIns="0" rIns="0" bIns="0" rtlCol="0" anchor="t" anchorCtr="0">
            <a:noAutofit/>
          </a:bodyPr>
          <a:lstStyle>
            <a:lvl1pPr algn="l" defTabSz="914400" rtl="0" eaLnBrk="1" fontAlgn="base" latinLnBrk="0" hangingPunct="1">
              <a:lnSpc>
                <a:spcPct val="110000"/>
              </a:lnSpc>
              <a:spcBef>
                <a:spcPct val="0"/>
              </a:spcBef>
              <a:buNone/>
              <a:defRPr sz="3100" kern="1200">
                <a:ln w="9525">
                  <a:noFill/>
                </a:ln>
                <a:solidFill>
                  <a:schemeClr val="tx2"/>
                </a:solidFill>
                <a:latin typeface="+mj-lt"/>
                <a:ea typeface="+mj-ea"/>
                <a:cs typeface="+mj-cs"/>
              </a:defRPr>
            </a:lvl1pPr>
          </a:lstStyle>
          <a:p>
            <a:pPr defTabSz="1828800">
              <a:defRPr/>
            </a:pPr>
            <a:r>
              <a:rPr lang="en-GB" sz="5600">
                <a:solidFill>
                  <a:schemeClr val="bg1"/>
                </a:solidFill>
              </a:rPr>
              <a:t>Greenfield Migration approach</a:t>
            </a:r>
          </a:p>
        </p:txBody>
      </p:sp>
      <p:sp>
        <p:nvSpPr>
          <p:cNvPr id="8" name="Title 1">
            <a:extLst>
              <a:ext uri="{FF2B5EF4-FFF2-40B4-BE49-F238E27FC236}">
                <a16:creationId xmlns:a16="http://schemas.microsoft.com/office/drawing/2014/main" id="{2AD3DD94-CF96-4C09-B135-2918CDC4F0F5}"/>
              </a:ext>
            </a:extLst>
          </p:cNvPr>
          <p:cNvSpPr txBox="1">
            <a:spLocks/>
          </p:cNvSpPr>
          <p:nvPr/>
        </p:nvSpPr>
        <p:spPr>
          <a:xfrm>
            <a:off x="14276265" y="629910"/>
            <a:ext cx="8844410" cy="1215424"/>
          </a:xfrm>
          <a:prstGeom prst="rect">
            <a:avLst/>
          </a:prstGeom>
          <a:ln w="12700">
            <a:noFill/>
          </a:ln>
        </p:spPr>
        <p:txBody>
          <a:bodyPr vert="horz" lIns="0" tIns="0" rIns="0" bIns="0" rtlCol="0" anchor="t" anchorCtr="0">
            <a:noAutofit/>
          </a:bodyPr>
          <a:lstStyle>
            <a:lvl1pPr algn="l" defTabSz="914400" rtl="0" eaLnBrk="1" fontAlgn="base" latinLnBrk="0" hangingPunct="1">
              <a:lnSpc>
                <a:spcPct val="110000"/>
              </a:lnSpc>
              <a:spcBef>
                <a:spcPct val="0"/>
              </a:spcBef>
              <a:buNone/>
              <a:defRPr sz="3125" kern="1200">
                <a:ln w="9525">
                  <a:noFill/>
                </a:ln>
                <a:solidFill>
                  <a:schemeClr val="tx2"/>
                </a:solidFill>
                <a:latin typeface="+mj-lt"/>
                <a:ea typeface="+mj-ea"/>
                <a:cs typeface="+mj-cs"/>
              </a:defRPr>
            </a:lvl1pPr>
          </a:lstStyle>
          <a:p>
            <a:pPr defTabSz="1828800">
              <a:defRPr/>
            </a:pPr>
            <a:r>
              <a:rPr lang="en-GB" sz="5600">
                <a:solidFill>
                  <a:schemeClr val="bg1"/>
                </a:solidFill>
              </a:rPr>
              <a:t>Image Migration approach</a:t>
            </a:r>
          </a:p>
        </p:txBody>
      </p:sp>
      <p:cxnSp>
        <p:nvCxnSpPr>
          <p:cNvPr id="9" name="Straight Connector 8">
            <a:extLst>
              <a:ext uri="{FF2B5EF4-FFF2-40B4-BE49-F238E27FC236}">
                <a16:creationId xmlns:a16="http://schemas.microsoft.com/office/drawing/2014/main" id="{955E81D0-8826-4FBA-9D25-829B9A576BA8}"/>
              </a:ext>
            </a:extLst>
          </p:cNvPr>
          <p:cNvCxnSpPr>
            <a:cxnSpLocks/>
          </p:cNvCxnSpPr>
          <p:nvPr/>
        </p:nvCxnSpPr>
        <p:spPr>
          <a:xfrm>
            <a:off x="12192000" y="592260"/>
            <a:ext cx="0" cy="11647416"/>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F921E97-E741-437B-B283-216B695CD267}"/>
              </a:ext>
            </a:extLst>
          </p:cNvPr>
          <p:cNvGrpSpPr/>
          <p:nvPr/>
        </p:nvGrpSpPr>
        <p:grpSpPr>
          <a:xfrm>
            <a:off x="1215302" y="3240544"/>
            <a:ext cx="10183688" cy="8999132"/>
            <a:chOff x="548061" y="1928395"/>
            <a:chExt cx="5091844" cy="4499566"/>
          </a:xfrm>
        </p:grpSpPr>
        <p:sp>
          <p:nvSpPr>
            <p:cNvPr id="10" name="Rectangle 9">
              <a:extLst>
                <a:ext uri="{FF2B5EF4-FFF2-40B4-BE49-F238E27FC236}">
                  <a16:creationId xmlns:a16="http://schemas.microsoft.com/office/drawing/2014/main" id="{E91607F7-D6E1-4BD2-8379-2D8BB3E785D9}"/>
                </a:ext>
              </a:extLst>
            </p:cNvPr>
            <p:cNvSpPr/>
            <p:nvPr/>
          </p:nvSpPr>
          <p:spPr>
            <a:xfrm>
              <a:off x="548061" y="1928395"/>
              <a:ext cx="2545922" cy="4499566"/>
            </a:xfrm>
            <a:prstGeom prst="rect">
              <a:avLst/>
            </a:prstGeom>
            <a:ln>
              <a:solidFill>
                <a:schemeClr val="bg1">
                  <a:lumMod val="85000"/>
                </a:schemeClr>
              </a:solidFill>
            </a:ln>
          </p:spPr>
          <p:style>
            <a:lnRef idx="1">
              <a:schemeClr val="accent1"/>
            </a:lnRef>
            <a:fillRef idx="2">
              <a:schemeClr val="accent1"/>
            </a:fillRef>
            <a:effectRef idx="1">
              <a:schemeClr val="accent1"/>
            </a:effectRef>
            <a:fontRef idx="minor">
              <a:schemeClr val="dk1"/>
            </a:fontRef>
          </p:style>
          <p:txBody>
            <a:bodyPr lIns="288000" tIns="720000" bIns="72000" rtlCol="0" anchor="t"/>
            <a:lstStyle/>
            <a:p>
              <a:pPr marL="288000" indent="-288000">
                <a:spcAft>
                  <a:spcPts val="600"/>
                </a:spcAft>
                <a:buClr>
                  <a:srgbClr val="EB0000"/>
                </a:buClr>
                <a:buFont typeface="+mj-lt"/>
                <a:buAutoNum type="arabicPeriod"/>
                <a:defRPr/>
              </a:pPr>
              <a:r>
                <a:rPr lang="en-GB" sz="2300">
                  <a:solidFill>
                    <a:prstClr val="black"/>
                  </a:solidFill>
                  <a:latin typeface="+mj-lt"/>
                </a:rPr>
                <a:t>‘Application / client first’ approach.</a:t>
              </a:r>
            </a:p>
            <a:p>
              <a:pPr marL="288000" indent="-288000">
                <a:spcAft>
                  <a:spcPts val="600"/>
                </a:spcAft>
                <a:buClr>
                  <a:srgbClr val="EB0000"/>
                </a:buClr>
                <a:buFont typeface="+mj-lt"/>
                <a:buAutoNum type="arabicPeriod"/>
                <a:defRPr/>
              </a:pPr>
              <a:r>
                <a:rPr lang="en-GB" sz="2300">
                  <a:solidFill>
                    <a:prstClr val="black"/>
                  </a:solidFill>
                  <a:latin typeface="+mj-lt"/>
                </a:rPr>
                <a:t>SQL/Database setup &amp; config in Cloud before Cutover.</a:t>
              </a:r>
            </a:p>
            <a:p>
              <a:pPr marL="288000" indent="-288000">
                <a:spcAft>
                  <a:spcPts val="600"/>
                </a:spcAft>
                <a:buClr>
                  <a:srgbClr val="EB0000"/>
                </a:buClr>
                <a:buFont typeface="+mj-lt"/>
                <a:buAutoNum type="arabicPeriod"/>
                <a:defRPr/>
              </a:pPr>
              <a:r>
                <a:rPr lang="en-GB" sz="2300">
                  <a:solidFill>
                    <a:prstClr val="black"/>
                  </a:solidFill>
                  <a:latin typeface="+mj-lt"/>
                  <a:cs typeface="Arial"/>
                </a:rPr>
                <a:t>Safely test in Cloud before Cutover.</a:t>
              </a:r>
            </a:p>
            <a:p>
              <a:pPr marL="288000" indent="-288000">
                <a:spcAft>
                  <a:spcPts val="600"/>
                </a:spcAft>
                <a:buClr>
                  <a:srgbClr val="EB0000"/>
                </a:buClr>
                <a:buFont typeface="+mj-lt"/>
                <a:buAutoNum type="arabicPeriod"/>
                <a:defRPr/>
              </a:pPr>
              <a:r>
                <a:rPr lang="en-GB" sz="2300">
                  <a:solidFill>
                    <a:prstClr val="black"/>
                  </a:solidFill>
                  <a:latin typeface="+mj-lt"/>
                  <a:cs typeface="Arial"/>
                </a:rPr>
                <a:t>Ideal for critical workloads.</a:t>
              </a:r>
            </a:p>
            <a:p>
              <a:pPr marL="288000" indent="-288000">
                <a:spcAft>
                  <a:spcPts val="600"/>
                </a:spcAft>
                <a:buClr>
                  <a:srgbClr val="EB0000"/>
                </a:buClr>
                <a:buFont typeface="+mj-lt"/>
                <a:buAutoNum type="arabicPeriod"/>
                <a:defRPr/>
              </a:pPr>
              <a:r>
                <a:rPr lang="en-GB" sz="2300">
                  <a:solidFill>
                    <a:prstClr val="black"/>
                  </a:solidFill>
                  <a:latin typeface="+mj-lt"/>
                </a:rPr>
                <a:t>Option to </a:t>
              </a:r>
              <a:r>
                <a:rPr lang="en-GB" sz="2300" err="1">
                  <a:solidFill>
                    <a:prstClr val="black"/>
                  </a:solidFill>
                  <a:latin typeface="+mj-lt"/>
                </a:rPr>
                <a:t>Replatform</a:t>
              </a:r>
              <a:r>
                <a:rPr lang="en-GB" sz="2300">
                  <a:solidFill>
                    <a:prstClr val="black"/>
                  </a:solidFill>
                  <a:latin typeface="+mj-lt"/>
                </a:rPr>
                <a:t> / Re-size.</a:t>
              </a:r>
            </a:p>
            <a:p>
              <a:pPr marL="288000" indent="-288000">
                <a:spcAft>
                  <a:spcPts val="600"/>
                </a:spcAft>
                <a:buClr>
                  <a:srgbClr val="EB0000"/>
                </a:buClr>
                <a:buFont typeface="+mj-lt"/>
                <a:buAutoNum type="arabicPeriod"/>
                <a:defRPr/>
              </a:pPr>
              <a:r>
                <a:rPr lang="en-GB" sz="2300">
                  <a:solidFill>
                    <a:prstClr val="black"/>
                  </a:solidFill>
                  <a:latin typeface="+mj-lt"/>
                </a:rPr>
                <a:t>Setup DR in Cloud before Cutover &amp; DR testing (optional)</a:t>
              </a:r>
            </a:p>
            <a:p>
              <a:pPr marL="288000" indent="-288000">
                <a:spcAft>
                  <a:spcPts val="600"/>
                </a:spcAft>
                <a:buClr>
                  <a:srgbClr val="EB0000"/>
                </a:buClr>
                <a:buFont typeface="+mj-lt"/>
                <a:buAutoNum type="arabicPeriod"/>
                <a:defRPr/>
              </a:pPr>
              <a:r>
                <a:rPr lang="en-GB" sz="2300">
                  <a:solidFill>
                    <a:prstClr val="black"/>
                  </a:solidFill>
                  <a:latin typeface="+mj-lt"/>
                </a:rPr>
                <a:t>Separate Apps that run on the same server.</a:t>
              </a:r>
            </a:p>
            <a:p>
              <a:pPr marL="288000" indent="-288000">
                <a:spcAft>
                  <a:spcPts val="600"/>
                </a:spcAft>
                <a:buClr>
                  <a:srgbClr val="EB0000"/>
                </a:buClr>
                <a:buFont typeface="+mj-lt"/>
                <a:buAutoNum type="arabicPeriod"/>
                <a:defRPr/>
              </a:pPr>
              <a:r>
                <a:rPr lang="en-GB" sz="2300">
                  <a:solidFill>
                    <a:prstClr val="black"/>
                  </a:solidFill>
                  <a:latin typeface="+mj-lt"/>
                </a:rPr>
                <a:t>Parallel run possible.</a:t>
              </a:r>
            </a:p>
            <a:p>
              <a:pPr marL="288000" indent="-288000">
                <a:spcAft>
                  <a:spcPts val="600"/>
                </a:spcAft>
                <a:buClr>
                  <a:srgbClr val="EB0000"/>
                </a:buClr>
                <a:buFont typeface="+mj-lt"/>
                <a:buAutoNum type="arabicPeriod"/>
                <a:defRPr/>
              </a:pPr>
              <a:r>
                <a:rPr lang="en-GB" sz="2300">
                  <a:solidFill>
                    <a:prstClr val="black"/>
                  </a:solidFill>
                  <a:latin typeface="+mj-lt"/>
                </a:rPr>
                <a:t>Reduced Downtime for migration event.</a:t>
              </a:r>
            </a:p>
          </p:txBody>
        </p:sp>
        <p:sp>
          <p:nvSpPr>
            <p:cNvPr id="11" name="Rectangle 10">
              <a:extLst>
                <a:ext uri="{FF2B5EF4-FFF2-40B4-BE49-F238E27FC236}">
                  <a16:creationId xmlns:a16="http://schemas.microsoft.com/office/drawing/2014/main" id="{FD83CBFE-2C18-4AC2-A8CF-3ECAEDC4F0BD}"/>
                </a:ext>
              </a:extLst>
            </p:cNvPr>
            <p:cNvSpPr/>
            <p:nvPr/>
          </p:nvSpPr>
          <p:spPr>
            <a:xfrm>
              <a:off x="3093983" y="1928395"/>
              <a:ext cx="2545922" cy="4499566"/>
            </a:xfrm>
            <a:prstGeom prst="rect">
              <a:avLst/>
            </a:prstGeom>
            <a:solidFill>
              <a:schemeClr val="bg1"/>
            </a:solidFill>
            <a:ln>
              <a:solidFill>
                <a:schemeClr val="bg1">
                  <a:lumMod val="85000"/>
                </a:schemeClr>
              </a:solidFill>
            </a:ln>
          </p:spPr>
          <p:style>
            <a:lnRef idx="1">
              <a:schemeClr val="accent1"/>
            </a:lnRef>
            <a:fillRef idx="2">
              <a:schemeClr val="accent1"/>
            </a:fillRef>
            <a:effectRef idx="1">
              <a:schemeClr val="accent1"/>
            </a:effectRef>
            <a:fontRef idx="minor">
              <a:schemeClr val="dk1"/>
            </a:fontRef>
          </p:style>
          <p:txBody>
            <a:bodyPr lIns="288000" tIns="720000" bIns="72000" rtlCol="0" anchor="t"/>
            <a:lstStyle/>
            <a:p>
              <a:pPr marL="288000" indent="-288000">
                <a:spcAft>
                  <a:spcPts val="600"/>
                </a:spcAft>
                <a:buClr>
                  <a:srgbClr val="EB0000"/>
                </a:buClr>
                <a:buFont typeface="+mj-lt"/>
                <a:buAutoNum type="arabicPeriod"/>
                <a:defRPr/>
              </a:pPr>
              <a:r>
                <a:rPr lang="en-US" sz="2300">
                  <a:solidFill>
                    <a:prstClr val="black"/>
                  </a:solidFill>
                  <a:latin typeface="+mj-lt"/>
                  <a:cs typeface="Arial"/>
                </a:rPr>
                <a:t>Requirement for a lot of time from Achilles Teams for app deployment, testing etc.</a:t>
              </a:r>
              <a:endParaRPr lang="en-US" sz="2300">
                <a:solidFill>
                  <a:srgbClr val="3300FC"/>
                </a:solidFill>
                <a:latin typeface="+mj-lt"/>
                <a:cs typeface="Arial"/>
              </a:endParaRPr>
            </a:p>
            <a:p>
              <a:pPr marL="288000" indent="-288000">
                <a:spcAft>
                  <a:spcPts val="600"/>
                </a:spcAft>
                <a:buClr>
                  <a:srgbClr val="EB0000"/>
                </a:buClr>
                <a:buFont typeface="+mj-lt"/>
                <a:buAutoNum type="arabicPeriod"/>
                <a:defRPr/>
              </a:pPr>
              <a:r>
                <a:rPr lang="en-US" sz="2300">
                  <a:solidFill>
                    <a:prstClr val="black"/>
                  </a:solidFill>
                  <a:latin typeface="+mj-lt"/>
                  <a:cs typeface="Arial"/>
                </a:rPr>
                <a:t>Longer project timelines.</a:t>
              </a:r>
            </a:p>
            <a:p>
              <a:pPr marL="288000" indent="-288000">
                <a:spcAft>
                  <a:spcPts val="600"/>
                </a:spcAft>
                <a:buClr>
                  <a:srgbClr val="EB0000"/>
                </a:buClr>
                <a:buFont typeface="+mj-lt"/>
                <a:buAutoNum type="arabicPeriod"/>
                <a:defRPr/>
              </a:pPr>
              <a:r>
                <a:rPr lang="en-US" sz="2300">
                  <a:solidFill>
                    <a:prstClr val="black"/>
                  </a:solidFill>
                  <a:latin typeface="+mj-lt"/>
                  <a:cs typeface="Arial"/>
                </a:rPr>
                <a:t>Non-Prod migration events not co–ordinated, unless requested.</a:t>
              </a:r>
            </a:p>
            <a:p>
              <a:pPr>
                <a:spcAft>
                  <a:spcPts val="600"/>
                </a:spcAft>
                <a:buClr>
                  <a:srgbClr val="EB0000"/>
                </a:buClr>
                <a:buFont typeface="Arial" panose="020B0604020202020204" pitchFamily="34" charset="0"/>
                <a:buChar char="•"/>
                <a:defRPr/>
              </a:pPr>
              <a:endParaRPr lang="en-GB" sz="2300">
                <a:solidFill>
                  <a:prstClr val="black"/>
                </a:solidFill>
                <a:latin typeface="+mj-lt"/>
                <a:cs typeface="Arial"/>
              </a:endParaRPr>
            </a:p>
          </p:txBody>
        </p:sp>
      </p:grpSp>
      <p:grpSp>
        <p:nvGrpSpPr>
          <p:cNvPr id="20" name="Group 19">
            <a:extLst>
              <a:ext uri="{FF2B5EF4-FFF2-40B4-BE49-F238E27FC236}">
                <a16:creationId xmlns:a16="http://schemas.microsoft.com/office/drawing/2014/main" id="{CD090532-5138-4876-9D1C-DE202CE5E6D3}"/>
              </a:ext>
            </a:extLst>
          </p:cNvPr>
          <p:cNvGrpSpPr/>
          <p:nvPr/>
        </p:nvGrpSpPr>
        <p:grpSpPr>
          <a:xfrm>
            <a:off x="13403000" y="3277365"/>
            <a:ext cx="10183688" cy="8999134"/>
            <a:chOff x="6701500" y="1928393"/>
            <a:chExt cx="5091844" cy="4499567"/>
          </a:xfrm>
        </p:grpSpPr>
        <p:sp>
          <p:nvSpPr>
            <p:cNvPr id="14" name="Rectangle 13">
              <a:extLst>
                <a:ext uri="{FF2B5EF4-FFF2-40B4-BE49-F238E27FC236}">
                  <a16:creationId xmlns:a16="http://schemas.microsoft.com/office/drawing/2014/main" id="{B9B65EC0-4BB0-45A4-9B6C-0D8820736679}"/>
                </a:ext>
              </a:extLst>
            </p:cNvPr>
            <p:cNvSpPr/>
            <p:nvPr/>
          </p:nvSpPr>
          <p:spPr>
            <a:xfrm>
              <a:off x="6701500" y="1928393"/>
              <a:ext cx="2545922" cy="4499567"/>
            </a:xfrm>
            <a:prstGeom prst="rect">
              <a:avLst/>
            </a:prstGeom>
            <a:ln>
              <a:solidFill>
                <a:schemeClr val="bg1">
                  <a:lumMod val="85000"/>
                </a:schemeClr>
              </a:solidFill>
            </a:ln>
          </p:spPr>
          <p:style>
            <a:lnRef idx="1">
              <a:schemeClr val="accent1"/>
            </a:lnRef>
            <a:fillRef idx="2">
              <a:schemeClr val="accent1"/>
            </a:fillRef>
            <a:effectRef idx="1">
              <a:schemeClr val="accent1"/>
            </a:effectRef>
            <a:fontRef idx="minor">
              <a:schemeClr val="dk1"/>
            </a:fontRef>
          </p:style>
          <p:txBody>
            <a:bodyPr lIns="288000" tIns="720000" bIns="72000" rtlCol="0" anchor="t"/>
            <a:lstStyle/>
            <a:p>
              <a:pPr marL="288000" indent="-288000">
                <a:spcAft>
                  <a:spcPts val="600"/>
                </a:spcAft>
                <a:buClr>
                  <a:srgbClr val="EB0000"/>
                </a:buClr>
                <a:buFont typeface="+mj-lt"/>
                <a:buAutoNum type="arabicPeriod"/>
                <a:defRPr/>
              </a:pPr>
              <a:r>
                <a:rPr lang="en-GB" sz="2300">
                  <a:solidFill>
                    <a:prstClr val="black"/>
                  </a:solidFill>
                  <a:latin typeface="+mj-lt"/>
                </a:rPr>
                <a:t>Tool-based, ‘infrastructure’ approach.</a:t>
              </a:r>
            </a:p>
            <a:p>
              <a:pPr marL="288000" indent="-288000">
                <a:spcAft>
                  <a:spcPts val="600"/>
                </a:spcAft>
                <a:buClr>
                  <a:srgbClr val="EB0000"/>
                </a:buClr>
                <a:buFont typeface="+mj-lt"/>
                <a:buAutoNum type="arabicPeriod"/>
                <a:defRPr/>
              </a:pPr>
              <a:r>
                <a:rPr lang="en-US" sz="2300">
                  <a:solidFill>
                    <a:prstClr val="black"/>
                  </a:solidFill>
                  <a:latin typeface="+mj-lt"/>
                </a:rPr>
                <a:t>Ideal for apps that can </a:t>
              </a:r>
              <a:r>
                <a:rPr lang="en-GB" sz="2300">
                  <a:solidFill>
                    <a:prstClr val="black"/>
                  </a:solidFill>
                  <a:latin typeface="+mj-lt"/>
                  <a:cs typeface="Arial"/>
                </a:rPr>
                <a:t>tolerate move &amp; fix-forward.</a:t>
              </a:r>
              <a:endParaRPr lang="en-US" sz="2300">
                <a:solidFill>
                  <a:prstClr val="black"/>
                </a:solidFill>
                <a:latin typeface="+mj-lt"/>
              </a:endParaRPr>
            </a:p>
            <a:p>
              <a:pPr marL="288000" indent="-288000">
                <a:spcAft>
                  <a:spcPts val="600"/>
                </a:spcAft>
                <a:buClr>
                  <a:srgbClr val="EB0000"/>
                </a:buClr>
                <a:buFont typeface="+mj-lt"/>
                <a:buAutoNum type="arabicPeriod"/>
                <a:defRPr/>
              </a:pPr>
              <a:r>
                <a:rPr lang="en-US" sz="2300">
                  <a:solidFill>
                    <a:prstClr val="black"/>
                  </a:solidFill>
                  <a:latin typeface="+mj-lt"/>
                </a:rPr>
                <a:t>Potential shorter project timeline. </a:t>
              </a:r>
            </a:p>
            <a:p>
              <a:pPr marL="288000" indent="-288000">
                <a:spcAft>
                  <a:spcPts val="600"/>
                </a:spcAft>
                <a:buClr>
                  <a:srgbClr val="EB0000"/>
                </a:buClr>
                <a:buFont typeface="+mj-lt"/>
                <a:buAutoNum type="arabicPeriod"/>
                <a:defRPr/>
              </a:pPr>
              <a:r>
                <a:rPr lang="en-US" sz="2300">
                  <a:solidFill>
                    <a:prstClr val="black"/>
                  </a:solidFill>
                  <a:latin typeface="+mj-lt"/>
                </a:rPr>
                <a:t>Ideal for </a:t>
              </a:r>
              <a:r>
                <a:rPr lang="en-GB" sz="2300">
                  <a:solidFill>
                    <a:prstClr val="black"/>
                  </a:solidFill>
                  <a:latin typeface="+mj-lt"/>
                  <a:cs typeface="Arial"/>
                </a:rPr>
                <a:t>low criticality / standalone applications.</a:t>
              </a:r>
            </a:p>
            <a:p>
              <a:pPr marL="288000" indent="-288000">
                <a:spcAft>
                  <a:spcPts val="600"/>
                </a:spcAft>
                <a:buClr>
                  <a:srgbClr val="EB0000"/>
                </a:buClr>
                <a:buFont typeface="+mj-lt"/>
                <a:buAutoNum type="arabicPeriod"/>
                <a:defRPr/>
              </a:pPr>
              <a:r>
                <a:rPr lang="en-US" sz="2300">
                  <a:solidFill>
                    <a:prstClr val="black"/>
                  </a:solidFill>
                  <a:latin typeface="+mj-lt"/>
                </a:rPr>
                <a:t>All Cutover events are RXT coordinated and performed by RXT engineers.</a:t>
              </a:r>
              <a:endParaRPr lang="en-GB" sz="2300">
                <a:solidFill>
                  <a:prstClr val="black"/>
                </a:solidFill>
                <a:latin typeface="+mj-lt"/>
                <a:cs typeface="Arial"/>
              </a:endParaRPr>
            </a:p>
            <a:p>
              <a:pPr marL="288000" indent="-288000">
                <a:spcAft>
                  <a:spcPts val="600"/>
                </a:spcAft>
                <a:buClr>
                  <a:srgbClr val="EB0000"/>
                </a:buClr>
                <a:buFont typeface="+mj-lt"/>
                <a:buAutoNum type="arabicPeriod"/>
                <a:defRPr/>
              </a:pPr>
              <a:r>
                <a:rPr lang="en-GB" sz="2300">
                  <a:solidFill>
                    <a:prstClr val="black"/>
                  </a:solidFill>
                  <a:latin typeface="+mj-lt"/>
                  <a:cs typeface="Arial"/>
                </a:rPr>
                <a:t>RXT resources for migration prep &amp; execution (not app testing).</a:t>
              </a:r>
            </a:p>
            <a:p>
              <a:pPr marL="288000" indent="-288000">
                <a:spcAft>
                  <a:spcPts val="600"/>
                </a:spcAft>
                <a:buClr>
                  <a:srgbClr val="EB0000"/>
                </a:buClr>
                <a:buFont typeface="+mj-lt"/>
                <a:buAutoNum type="arabicPeriod"/>
                <a:defRPr/>
              </a:pPr>
              <a:r>
                <a:rPr lang="en-GB" sz="2300">
                  <a:solidFill>
                    <a:prstClr val="black"/>
                  </a:solidFill>
                  <a:latin typeface="+mj-lt"/>
                  <a:cs typeface="Arial"/>
                </a:rPr>
                <a:t>No app re-deployment.</a:t>
              </a:r>
            </a:p>
            <a:p>
              <a:pPr marL="288000" indent="-288000">
                <a:spcAft>
                  <a:spcPts val="600"/>
                </a:spcAft>
                <a:buClr>
                  <a:srgbClr val="EB0000"/>
                </a:buClr>
                <a:buFont typeface="Arial" panose="020B0604020202020204" pitchFamily="34" charset="0"/>
                <a:buChar char="•"/>
                <a:defRPr/>
              </a:pPr>
              <a:endParaRPr lang="en-GB" sz="2300">
                <a:solidFill>
                  <a:prstClr val="black"/>
                </a:solidFill>
                <a:latin typeface="+mj-lt"/>
              </a:endParaRPr>
            </a:p>
          </p:txBody>
        </p:sp>
        <p:sp>
          <p:nvSpPr>
            <p:cNvPr id="15" name="Rectangle 14">
              <a:extLst>
                <a:ext uri="{FF2B5EF4-FFF2-40B4-BE49-F238E27FC236}">
                  <a16:creationId xmlns:a16="http://schemas.microsoft.com/office/drawing/2014/main" id="{C5396D97-A705-4D90-B599-C8A0D7F5DC71}"/>
                </a:ext>
              </a:extLst>
            </p:cNvPr>
            <p:cNvSpPr/>
            <p:nvPr/>
          </p:nvSpPr>
          <p:spPr>
            <a:xfrm>
              <a:off x="9247422" y="1928394"/>
              <a:ext cx="2545922" cy="4499566"/>
            </a:xfrm>
            <a:prstGeom prst="rect">
              <a:avLst/>
            </a:prstGeom>
            <a:ln>
              <a:solidFill>
                <a:schemeClr val="bg1">
                  <a:lumMod val="85000"/>
                </a:schemeClr>
              </a:solidFill>
            </a:ln>
          </p:spPr>
          <p:style>
            <a:lnRef idx="1">
              <a:schemeClr val="accent1"/>
            </a:lnRef>
            <a:fillRef idx="2">
              <a:schemeClr val="accent1"/>
            </a:fillRef>
            <a:effectRef idx="1">
              <a:schemeClr val="accent1"/>
            </a:effectRef>
            <a:fontRef idx="minor">
              <a:schemeClr val="dk1"/>
            </a:fontRef>
          </p:style>
          <p:txBody>
            <a:bodyPr lIns="288000" tIns="720000" bIns="72000" rtlCol="0" anchor="t"/>
            <a:lstStyle/>
            <a:p>
              <a:pPr marL="288000" indent="-288000">
                <a:spcAft>
                  <a:spcPts val="600"/>
                </a:spcAft>
                <a:buClr>
                  <a:srgbClr val="EB0000"/>
                </a:buClr>
                <a:buFont typeface="+mj-lt"/>
                <a:buAutoNum type="arabicPeriod"/>
                <a:defRPr/>
              </a:pPr>
              <a:r>
                <a:rPr lang="en-US" sz="2300">
                  <a:solidFill>
                    <a:prstClr val="black"/>
                  </a:solidFill>
                  <a:latin typeface="+mj-lt"/>
                  <a:cs typeface="Arial"/>
                </a:rPr>
                <a:t>Application config &amp; testing in Azure not possible before Cutover events.</a:t>
              </a:r>
            </a:p>
            <a:p>
              <a:pPr marL="288000" indent="-288000">
                <a:spcAft>
                  <a:spcPts val="600"/>
                </a:spcAft>
                <a:buClr>
                  <a:srgbClr val="EB0000"/>
                </a:buClr>
                <a:buFont typeface="+mj-lt"/>
                <a:buAutoNum type="arabicPeriod"/>
                <a:defRPr/>
              </a:pPr>
              <a:r>
                <a:rPr lang="en-GB" sz="2300">
                  <a:solidFill>
                    <a:prstClr val="black"/>
                  </a:solidFill>
                  <a:latin typeface="+mj-lt"/>
                  <a:cs typeface="Arial"/>
                </a:rPr>
                <a:t>Longer migration windows per event (depending on #Virtual Servers).</a:t>
              </a:r>
            </a:p>
            <a:p>
              <a:pPr marL="288000" indent="-288000">
                <a:spcAft>
                  <a:spcPts val="600"/>
                </a:spcAft>
                <a:buClr>
                  <a:srgbClr val="EB0000"/>
                </a:buClr>
                <a:buFont typeface="+mj-lt"/>
                <a:buAutoNum type="arabicPeriod"/>
                <a:defRPr/>
              </a:pPr>
              <a:r>
                <a:rPr lang="en-GB" sz="2300">
                  <a:solidFill>
                    <a:prstClr val="black"/>
                  </a:solidFill>
                  <a:latin typeface="+mj-lt"/>
                  <a:cs typeface="Arial"/>
                </a:rPr>
                <a:t>DR Implementation after Cutover event.</a:t>
              </a:r>
            </a:p>
            <a:p>
              <a:pPr marL="288000" indent="-288000">
                <a:spcAft>
                  <a:spcPts val="600"/>
                </a:spcAft>
                <a:buClr>
                  <a:srgbClr val="EB0000"/>
                </a:buClr>
                <a:buFont typeface="+mj-lt"/>
                <a:buAutoNum type="arabicPeriod"/>
                <a:defRPr/>
              </a:pPr>
              <a:r>
                <a:rPr lang="en-US" sz="2300">
                  <a:solidFill>
                    <a:prstClr val="black"/>
                  </a:solidFill>
                  <a:latin typeface="+mj-lt"/>
                </a:rPr>
                <a:t>Only applicable for non-clustered services.</a:t>
              </a:r>
            </a:p>
            <a:p>
              <a:pPr marL="288000" indent="-288000">
                <a:spcAft>
                  <a:spcPts val="600"/>
                </a:spcAft>
                <a:buClr>
                  <a:srgbClr val="EB0000"/>
                </a:buClr>
                <a:buFont typeface="+mj-lt"/>
                <a:buAutoNum type="arabicPeriod"/>
                <a:defRPr/>
              </a:pPr>
              <a:r>
                <a:rPr lang="en-US" sz="2300">
                  <a:solidFill>
                    <a:prstClr val="black"/>
                  </a:solidFill>
                  <a:latin typeface="+mj-lt"/>
                </a:rPr>
                <a:t>Rehost (lift &amp; shift) for app Virtual Servers only.</a:t>
              </a:r>
            </a:p>
            <a:p>
              <a:pPr marL="288000" indent="-288000">
                <a:spcAft>
                  <a:spcPts val="600"/>
                </a:spcAft>
                <a:buClr>
                  <a:srgbClr val="EB0000"/>
                </a:buClr>
                <a:buFont typeface="+mj-lt"/>
                <a:buAutoNum type="arabicPeriod"/>
                <a:defRPr/>
              </a:pPr>
              <a:r>
                <a:rPr lang="en-US" sz="2300">
                  <a:solidFill>
                    <a:prstClr val="black"/>
                  </a:solidFill>
                  <a:latin typeface="+mj-lt"/>
                </a:rPr>
                <a:t>Parallel run for the same Virtual Servers not possible.</a:t>
              </a:r>
            </a:p>
            <a:p>
              <a:pPr marL="288000" indent="-288000">
                <a:spcAft>
                  <a:spcPts val="600"/>
                </a:spcAft>
                <a:buClr>
                  <a:srgbClr val="EB0000"/>
                </a:buClr>
                <a:defRPr/>
              </a:pPr>
              <a:endParaRPr lang="en-GB" sz="2300">
                <a:solidFill>
                  <a:prstClr val="black"/>
                </a:solidFill>
                <a:latin typeface="+mj-lt"/>
                <a:cs typeface="Arial"/>
              </a:endParaRPr>
            </a:p>
          </p:txBody>
        </p:sp>
      </p:grpSp>
      <p:sp>
        <p:nvSpPr>
          <p:cNvPr id="4" name="TextBox 3">
            <a:extLst>
              <a:ext uri="{FF2B5EF4-FFF2-40B4-BE49-F238E27FC236}">
                <a16:creationId xmlns:a16="http://schemas.microsoft.com/office/drawing/2014/main" id="{8A6E7206-AA49-6802-F670-1512440ED304}"/>
              </a:ext>
            </a:extLst>
          </p:cNvPr>
          <p:cNvSpPr txBox="1"/>
          <p:nvPr/>
        </p:nvSpPr>
        <p:spPr>
          <a:xfrm>
            <a:off x="5647764" y="11580267"/>
            <a:ext cx="13641940" cy="646331"/>
          </a:xfrm>
          <a:prstGeom prst="rect">
            <a:avLst/>
          </a:prstGeom>
          <a:solidFill>
            <a:schemeClr val="bg1"/>
          </a:solidFill>
          <a:effectLst>
            <a:outerShdw blurRad="50800" dist="38100" dir="2700000" algn="tl" rotWithShape="0">
              <a:prstClr val="black">
                <a:alpha val="40000"/>
              </a:prstClr>
            </a:outerShdw>
            <a:softEdge rad="31750"/>
          </a:effectLst>
        </p:spPr>
        <p:txBody>
          <a:bodyPr wrap="none" rtlCol="0">
            <a:spAutoFit/>
          </a:bodyPr>
          <a:lstStyle/>
          <a:p>
            <a:pPr>
              <a:defRPr/>
            </a:pPr>
            <a:r>
              <a:rPr lang="en-GB" sz="3600">
                <a:solidFill>
                  <a:prstClr val="black"/>
                </a:solidFill>
                <a:latin typeface="+mj-lt"/>
              </a:rPr>
              <a:t>A Hybrid of Both Approaches can be taken for different workloads.</a:t>
            </a:r>
          </a:p>
        </p:txBody>
      </p:sp>
      <p:sp>
        <p:nvSpPr>
          <p:cNvPr id="2" name="TextBox 1">
            <a:extLst>
              <a:ext uri="{FF2B5EF4-FFF2-40B4-BE49-F238E27FC236}">
                <a16:creationId xmlns:a16="http://schemas.microsoft.com/office/drawing/2014/main" id="{D1F59DAA-ED18-0CD1-E628-B50E0C764B47}"/>
              </a:ext>
            </a:extLst>
          </p:cNvPr>
          <p:cNvSpPr txBox="1"/>
          <p:nvPr/>
        </p:nvSpPr>
        <p:spPr>
          <a:xfrm>
            <a:off x="2182414" y="2334003"/>
            <a:ext cx="3157620" cy="646331"/>
          </a:xfrm>
          <a:prstGeom prst="rect">
            <a:avLst/>
          </a:prstGeom>
          <a:noFill/>
        </p:spPr>
        <p:txBody>
          <a:bodyPr wrap="square" rtlCol="0">
            <a:spAutoFit/>
          </a:bodyPr>
          <a:lstStyle/>
          <a:p>
            <a:pPr algn="ctr"/>
            <a:r>
              <a:rPr lang="en-GB" sz="3600">
                <a:solidFill>
                  <a:schemeClr val="bg2"/>
                </a:solidFill>
                <a:latin typeface="+mj-lt"/>
              </a:rPr>
              <a:t>Pro</a:t>
            </a:r>
          </a:p>
        </p:txBody>
      </p:sp>
      <p:sp>
        <p:nvSpPr>
          <p:cNvPr id="5" name="TextBox 4">
            <a:extLst>
              <a:ext uri="{FF2B5EF4-FFF2-40B4-BE49-F238E27FC236}">
                <a16:creationId xmlns:a16="http://schemas.microsoft.com/office/drawing/2014/main" id="{94B34D9F-BE7C-5200-E485-0966ECBBB3D2}"/>
              </a:ext>
            </a:extLst>
          </p:cNvPr>
          <p:cNvSpPr txBox="1"/>
          <p:nvPr/>
        </p:nvSpPr>
        <p:spPr>
          <a:xfrm>
            <a:off x="7056268" y="2349001"/>
            <a:ext cx="3157620" cy="646331"/>
          </a:xfrm>
          <a:prstGeom prst="rect">
            <a:avLst/>
          </a:prstGeom>
          <a:noFill/>
        </p:spPr>
        <p:txBody>
          <a:bodyPr wrap="square" rtlCol="0">
            <a:spAutoFit/>
          </a:bodyPr>
          <a:lstStyle/>
          <a:p>
            <a:pPr algn="ctr"/>
            <a:r>
              <a:rPr lang="en-GB" sz="3600">
                <a:solidFill>
                  <a:schemeClr val="bg2"/>
                </a:solidFill>
                <a:latin typeface="+mj-lt"/>
              </a:rPr>
              <a:t>Con</a:t>
            </a:r>
          </a:p>
        </p:txBody>
      </p:sp>
      <p:sp>
        <p:nvSpPr>
          <p:cNvPr id="6" name="TextBox 5">
            <a:extLst>
              <a:ext uri="{FF2B5EF4-FFF2-40B4-BE49-F238E27FC236}">
                <a16:creationId xmlns:a16="http://schemas.microsoft.com/office/drawing/2014/main" id="{0DF99D4D-E26F-5C8F-3E3B-649A8B9DCE38}"/>
              </a:ext>
            </a:extLst>
          </p:cNvPr>
          <p:cNvSpPr txBox="1"/>
          <p:nvPr/>
        </p:nvSpPr>
        <p:spPr>
          <a:xfrm>
            <a:off x="14275056" y="2319005"/>
            <a:ext cx="3157620" cy="646331"/>
          </a:xfrm>
          <a:prstGeom prst="rect">
            <a:avLst/>
          </a:prstGeom>
          <a:noFill/>
        </p:spPr>
        <p:txBody>
          <a:bodyPr wrap="square" rtlCol="0">
            <a:spAutoFit/>
          </a:bodyPr>
          <a:lstStyle/>
          <a:p>
            <a:pPr algn="ctr"/>
            <a:r>
              <a:rPr lang="en-GB" sz="3600">
                <a:solidFill>
                  <a:schemeClr val="bg2"/>
                </a:solidFill>
                <a:latin typeface="+mj-lt"/>
              </a:rPr>
              <a:t>Pro</a:t>
            </a:r>
          </a:p>
        </p:txBody>
      </p:sp>
      <p:sp>
        <p:nvSpPr>
          <p:cNvPr id="18" name="TextBox 17">
            <a:extLst>
              <a:ext uri="{FF2B5EF4-FFF2-40B4-BE49-F238E27FC236}">
                <a16:creationId xmlns:a16="http://schemas.microsoft.com/office/drawing/2014/main" id="{7D80A368-D0E7-4EDC-9FD9-EAD5EDE1B286}"/>
              </a:ext>
            </a:extLst>
          </p:cNvPr>
          <p:cNvSpPr txBox="1"/>
          <p:nvPr/>
        </p:nvSpPr>
        <p:spPr>
          <a:xfrm>
            <a:off x="19148910" y="2334003"/>
            <a:ext cx="3157620" cy="646331"/>
          </a:xfrm>
          <a:prstGeom prst="rect">
            <a:avLst/>
          </a:prstGeom>
          <a:noFill/>
        </p:spPr>
        <p:txBody>
          <a:bodyPr wrap="square" rtlCol="0">
            <a:spAutoFit/>
          </a:bodyPr>
          <a:lstStyle/>
          <a:p>
            <a:pPr algn="ctr"/>
            <a:r>
              <a:rPr lang="en-GB" sz="3600">
                <a:solidFill>
                  <a:schemeClr val="bg2"/>
                </a:solidFill>
                <a:latin typeface="+mj-lt"/>
              </a:rPr>
              <a:t>Con</a:t>
            </a:r>
          </a:p>
        </p:txBody>
      </p:sp>
    </p:spTree>
    <p:extLst>
      <p:ext uri="{BB962C8B-B14F-4D97-AF65-F5344CB8AC3E}">
        <p14:creationId xmlns:p14="http://schemas.microsoft.com/office/powerpoint/2010/main" val="55985196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FE2BE0-19E1-30DB-9256-E40F223E6683}"/>
              </a:ext>
            </a:extLst>
          </p:cNvPr>
          <p:cNvSpPr>
            <a:spLocks noGrp="1"/>
          </p:cNvSpPr>
          <p:nvPr>
            <p:ph type="title"/>
          </p:nvPr>
        </p:nvSpPr>
        <p:spPr/>
        <p:txBody>
          <a:bodyPr/>
          <a:lstStyle/>
          <a:p>
            <a:r>
              <a:rPr lang="en-GB"/>
              <a:t>8 Step Pipeline Methodology</a:t>
            </a:r>
          </a:p>
        </p:txBody>
      </p:sp>
      <p:sp>
        <p:nvSpPr>
          <p:cNvPr id="125" name="Rectangle 177">
            <a:extLst>
              <a:ext uri="{FF2B5EF4-FFF2-40B4-BE49-F238E27FC236}">
                <a16:creationId xmlns:a16="http://schemas.microsoft.com/office/drawing/2014/main" id="{887A130B-919D-BDFC-0856-0019C2134888}"/>
              </a:ext>
            </a:extLst>
          </p:cNvPr>
          <p:cNvSpPr/>
          <p:nvPr/>
        </p:nvSpPr>
        <p:spPr>
          <a:xfrm>
            <a:off x="4995360" y="6976944"/>
            <a:ext cx="1090800" cy="1167840"/>
          </a:xfrm>
          <a:prstGeom prst="rect">
            <a:avLst/>
          </a:prstGeom>
          <a:solidFill>
            <a:schemeClr val="bg1">
              <a:lumMod val="95000"/>
            </a:schemeClr>
          </a:solidFill>
          <a:ln>
            <a:solidFill>
              <a:srgbClr val="FF676B"/>
            </a:solidFill>
            <a:prstDash val="sysDash"/>
          </a:ln>
        </p:spPr>
        <p:style>
          <a:lnRef idx="2">
            <a:schemeClr val="accent1">
              <a:shade val="50000"/>
            </a:schemeClr>
          </a:lnRef>
          <a:fillRef idx="1">
            <a:schemeClr val="accent1"/>
          </a:fillRef>
          <a:effectRef idx="0">
            <a:schemeClr val="accent1"/>
          </a:effectRef>
          <a:fontRef idx="minor"/>
        </p:style>
        <p:txBody>
          <a:bodyPr/>
          <a:lstStyle/>
          <a:p>
            <a:endParaRPr lang="en-GB" sz="3600"/>
          </a:p>
        </p:txBody>
      </p:sp>
      <p:grpSp>
        <p:nvGrpSpPr>
          <p:cNvPr id="126" name="Group 178">
            <a:extLst>
              <a:ext uri="{FF2B5EF4-FFF2-40B4-BE49-F238E27FC236}">
                <a16:creationId xmlns:a16="http://schemas.microsoft.com/office/drawing/2014/main" id="{F4C0A116-6317-119B-3F16-01B4467C689D}"/>
              </a:ext>
            </a:extLst>
          </p:cNvPr>
          <p:cNvGrpSpPr/>
          <p:nvPr/>
        </p:nvGrpSpPr>
        <p:grpSpPr>
          <a:xfrm>
            <a:off x="3792960" y="6151105"/>
            <a:ext cx="3754800" cy="3219840"/>
            <a:chOff x="1896480" y="1859400"/>
            <a:chExt cx="1877400" cy="1609920"/>
          </a:xfrm>
        </p:grpSpPr>
        <p:grpSp>
          <p:nvGrpSpPr>
            <p:cNvPr id="172" name="Group 179">
              <a:extLst>
                <a:ext uri="{FF2B5EF4-FFF2-40B4-BE49-F238E27FC236}">
                  <a16:creationId xmlns:a16="http://schemas.microsoft.com/office/drawing/2014/main" id="{07DD9C90-1BA6-1312-B502-625155EB7312}"/>
                </a:ext>
              </a:extLst>
            </p:cNvPr>
            <p:cNvGrpSpPr/>
            <p:nvPr/>
          </p:nvGrpSpPr>
          <p:grpSpPr>
            <a:xfrm>
              <a:off x="1896480" y="2310120"/>
              <a:ext cx="750240" cy="474985"/>
              <a:chOff x="1896480" y="2310120"/>
              <a:chExt cx="750240" cy="474985"/>
            </a:xfrm>
          </p:grpSpPr>
          <p:sp>
            <p:nvSpPr>
              <p:cNvPr id="190" name="Shape">
                <a:extLst>
                  <a:ext uri="{FF2B5EF4-FFF2-40B4-BE49-F238E27FC236}">
                    <a16:creationId xmlns:a16="http://schemas.microsoft.com/office/drawing/2014/main" id="{8230D076-1478-8BD3-AF3D-936150E9BC5E}"/>
                  </a:ext>
                </a:extLst>
              </p:cNvPr>
              <p:cNvSpPr/>
              <p:nvPr/>
            </p:nvSpPr>
            <p:spPr>
              <a:xfrm>
                <a:off x="2192400" y="231012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FF676B"/>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191" name="TextBox 203">
                <a:extLst>
                  <a:ext uri="{FF2B5EF4-FFF2-40B4-BE49-F238E27FC236}">
                    <a16:creationId xmlns:a16="http://schemas.microsoft.com/office/drawing/2014/main" id="{9934A771-0190-F068-8F60-728C453C8086}"/>
                  </a:ext>
                </a:extLst>
              </p:cNvPr>
              <p:cNvSpPr/>
              <p:nvPr/>
            </p:nvSpPr>
            <p:spPr>
              <a:xfrm>
                <a:off x="1896480" y="2509560"/>
                <a:ext cx="7502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 App </a:t>
                </a:r>
                <a:endParaRPr lang="en-GB" sz="1200" spc="-2">
                  <a:latin typeface="Arial"/>
                </a:endParaRPr>
              </a:p>
              <a:p>
                <a:pPr algn="ctr">
                  <a:tabLst>
                    <a:tab pos="0" algn="l"/>
                  </a:tabLst>
                </a:pPr>
                <a:r>
                  <a:rPr lang="en-GB" sz="1200" spc="-2">
                    <a:solidFill>
                      <a:srgbClr val="000000"/>
                    </a:solidFill>
                    <a:latin typeface="Arial"/>
                    <a:ea typeface="DejaVu Sans"/>
                  </a:rPr>
                  <a:t>Charter</a:t>
                </a:r>
                <a:endParaRPr lang="en-GB" sz="1200" spc="-2">
                  <a:latin typeface="Arial"/>
                </a:endParaRPr>
              </a:p>
            </p:txBody>
          </p:sp>
        </p:grpSp>
        <p:grpSp>
          <p:nvGrpSpPr>
            <p:cNvPr id="173" name="Group 180">
              <a:extLst>
                <a:ext uri="{FF2B5EF4-FFF2-40B4-BE49-F238E27FC236}">
                  <a16:creationId xmlns:a16="http://schemas.microsoft.com/office/drawing/2014/main" id="{66A3F656-B3C3-2BC9-0166-CAC5C468989C}"/>
                </a:ext>
              </a:extLst>
            </p:cNvPr>
            <p:cNvGrpSpPr/>
            <p:nvPr/>
          </p:nvGrpSpPr>
          <p:grpSpPr>
            <a:xfrm>
              <a:off x="2061360" y="1859400"/>
              <a:ext cx="1712520" cy="1609920"/>
              <a:chOff x="2061360" y="1859400"/>
              <a:chExt cx="1712520" cy="1609920"/>
            </a:xfrm>
          </p:grpSpPr>
          <p:sp>
            <p:nvSpPr>
              <p:cNvPr id="174" name="Double Brace 181">
                <a:extLst>
                  <a:ext uri="{FF2B5EF4-FFF2-40B4-BE49-F238E27FC236}">
                    <a16:creationId xmlns:a16="http://schemas.microsoft.com/office/drawing/2014/main" id="{377295C1-AB31-16AF-590F-F5FA91DE3820}"/>
                  </a:ext>
                </a:extLst>
              </p:cNvPr>
              <p:cNvSpPr/>
              <p:nvPr/>
            </p:nvSpPr>
            <p:spPr>
              <a:xfrm>
                <a:off x="2161800" y="2897640"/>
                <a:ext cx="1262160" cy="525240"/>
              </a:xfrm>
              <a:prstGeom prst="bracePair">
                <a:avLst>
                  <a:gd name="adj" fmla="val 8333"/>
                </a:avLst>
              </a:prstGeom>
              <a:solidFill>
                <a:schemeClr val="bg1">
                  <a:lumMod val="95000"/>
                </a:schemeClr>
              </a:solidFill>
              <a:ln>
                <a:solidFill>
                  <a:srgbClr val="FF676B"/>
                </a:solidFill>
              </a:ln>
            </p:spPr>
            <p:style>
              <a:lnRef idx="1">
                <a:schemeClr val="accent1"/>
              </a:lnRef>
              <a:fillRef idx="0">
                <a:schemeClr val="accent1"/>
              </a:fillRef>
              <a:effectRef idx="0">
                <a:schemeClr val="accent1"/>
              </a:effectRef>
              <a:fontRef idx="minor"/>
            </p:style>
            <p:txBody>
              <a:bodyPr/>
              <a:lstStyle/>
              <a:p>
                <a:endParaRPr lang="en-GB" sz="3600"/>
              </a:p>
            </p:txBody>
          </p:sp>
          <p:grpSp>
            <p:nvGrpSpPr>
              <p:cNvPr id="175" name="Group 182">
                <a:extLst>
                  <a:ext uri="{FF2B5EF4-FFF2-40B4-BE49-F238E27FC236}">
                    <a16:creationId xmlns:a16="http://schemas.microsoft.com/office/drawing/2014/main" id="{D6FE174D-5667-3440-9E44-B2921F854588}"/>
                  </a:ext>
                </a:extLst>
              </p:cNvPr>
              <p:cNvGrpSpPr/>
              <p:nvPr/>
            </p:nvGrpSpPr>
            <p:grpSpPr>
              <a:xfrm>
                <a:off x="2730960" y="2948760"/>
                <a:ext cx="750240" cy="480025"/>
                <a:chOff x="2730960" y="2948760"/>
                <a:chExt cx="750240" cy="480025"/>
              </a:xfrm>
            </p:grpSpPr>
            <p:sp>
              <p:nvSpPr>
                <p:cNvPr id="188" name="TextBox 200">
                  <a:extLst>
                    <a:ext uri="{FF2B5EF4-FFF2-40B4-BE49-F238E27FC236}">
                      <a16:creationId xmlns:a16="http://schemas.microsoft.com/office/drawing/2014/main" id="{2EEAAF57-5858-2266-A02A-B511A642360B}"/>
                    </a:ext>
                  </a:extLst>
                </p:cNvPr>
                <p:cNvSpPr/>
                <p:nvPr/>
              </p:nvSpPr>
              <p:spPr>
                <a:xfrm>
                  <a:off x="2730960" y="3153240"/>
                  <a:ext cx="7502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Automation</a:t>
                  </a:r>
                  <a:endParaRPr lang="en-GB" sz="1200" spc="-2">
                    <a:latin typeface="Arial"/>
                  </a:endParaRPr>
                </a:p>
                <a:p>
                  <a:pPr algn="ctr">
                    <a:tabLst>
                      <a:tab pos="0" algn="l"/>
                    </a:tabLst>
                  </a:pPr>
                  <a:r>
                    <a:rPr lang="en-GB" sz="1200" spc="-2">
                      <a:solidFill>
                        <a:srgbClr val="000000"/>
                      </a:solidFill>
                      <a:latin typeface="Arial"/>
                      <a:ea typeface="DejaVu Sans"/>
                    </a:rPr>
                    <a:t>Readiness</a:t>
                  </a:r>
                  <a:endParaRPr lang="en-GB" sz="1200" spc="-2">
                    <a:latin typeface="Arial"/>
                  </a:endParaRPr>
                </a:p>
              </p:txBody>
            </p:sp>
            <p:sp>
              <p:nvSpPr>
                <p:cNvPr id="189" name="Shape">
                  <a:extLst>
                    <a:ext uri="{FF2B5EF4-FFF2-40B4-BE49-F238E27FC236}">
                      <a16:creationId xmlns:a16="http://schemas.microsoft.com/office/drawing/2014/main" id="{23739716-7917-9CDA-501B-36A27E1FA0CA}"/>
                    </a:ext>
                  </a:extLst>
                </p:cNvPr>
                <p:cNvSpPr/>
                <p:nvPr/>
              </p:nvSpPr>
              <p:spPr>
                <a:xfrm>
                  <a:off x="3022920" y="2948760"/>
                  <a:ext cx="163440" cy="205920"/>
                </a:xfrm>
                <a:custGeom>
                  <a:avLst/>
                  <a:gdLst/>
                  <a:ahLst/>
                  <a:cxnLst/>
                  <a:rect l="l" t="t" r="r" b="b"/>
                  <a:pathLst>
                    <a:path w="21600" h="21600">
                      <a:moveTo>
                        <a:pt x="0" y="21600"/>
                      </a:moveTo>
                      <a:lnTo>
                        <a:pt x="0" y="0"/>
                      </a:lnTo>
                      <a:lnTo>
                        <a:pt x="21600" y="0"/>
                      </a:lnTo>
                      <a:lnTo>
                        <a:pt x="21600" y="21600"/>
                      </a:lnTo>
                      <a:lnTo>
                        <a:pt x="0" y="21600"/>
                      </a:lnTo>
                      <a:close/>
                      <a:moveTo>
                        <a:pt x="1079" y="20716"/>
                      </a:moveTo>
                      <a:lnTo>
                        <a:pt x="20521" y="20716"/>
                      </a:lnTo>
                      <a:lnTo>
                        <a:pt x="20521" y="884"/>
                      </a:lnTo>
                      <a:lnTo>
                        <a:pt x="1079" y="884"/>
                      </a:lnTo>
                      <a:lnTo>
                        <a:pt x="1079" y="20716"/>
                      </a:lnTo>
                      <a:close/>
                      <a:moveTo>
                        <a:pt x="7375" y="14641"/>
                      </a:moveTo>
                      <a:lnTo>
                        <a:pt x="6442" y="14175"/>
                      </a:lnTo>
                      <a:lnTo>
                        <a:pt x="4664" y="16456"/>
                      </a:lnTo>
                      <a:lnTo>
                        <a:pt x="4023" y="15618"/>
                      </a:lnTo>
                      <a:lnTo>
                        <a:pt x="3090" y="16084"/>
                      </a:lnTo>
                      <a:lnTo>
                        <a:pt x="4664" y="18132"/>
                      </a:lnTo>
                      <a:lnTo>
                        <a:pt x="7375" y="14641"/>
                      </a:lnTo>
                      <a:close/>
                      <a:moveTo>
                        <a:pt x="15624" y="16875"/>
                      </a:moveTo>
                      <a:lnTo>
                        <a:pt x="8395" y="16875"/>
                      </a:lnTo>
                      <a:lnTo>
                        <a:pt x="8395" y="17759"/>
                      </a:lnTo>
                      <a:lnTo>
                        <a:pt x="15624" y="17759"/>
                      </a:lnTo>
                      <a:lnTo>
                        <a:pt x="15624" y="16875"/>
                      </a:lnTo>
                      <a:close/>
                      <a:moveTo>
                        <a:pt x="18044" y="14943"/>
                      </a:moveTo>
                      <a:lnTo>
                        <a:pt x="8395" y="14943"/>
                      </a:lnTo>
                      <a:lnTo>
                        <a:pt x="8395" y="15828"/>
                      </a:lnTo>
                      <a:lnTo>
                        <a:pt x="18044" y="15828"/>
                      </a:lnTo>
                      <a:lnTo>
                        <a:pt x="18044" y="14943"/>
                      </a:lnTo>
                      <a:close/>
                      <a:moveTo>
                        <a:pt x="7375" y="9357"/>
                      </a:moveTo>
                      <a:lnTo>
                        <a:pt x="6442" y="8891"/>
                      </a:lnTo>
                      <a:lnTo>
                        <a:pt x="4664" y="11172"/>
                      </a:lnTo>
                      <a:lnTo>
                        <a:pt x="4023" y="10334"/>
                      </a:lnTo>
                      <a:lnTo>
                        <a:pt x="3090" y="10777"/>
                      </a:lnTo>
                      <a:lnTo>
                        <a:pt x="4664" y="12825"/>
                      </a:lnTo>
                      <a:lnTo>
                        <a:pt x="7375" y="9357"/>
                      </a:lnTo>
                      <a:close/>
                      <a:moveTo>
                        <a:pt x="15624" y="11568"/>
                      </a:moveTo>
                      <a:lnTo>
                        <a:pt x="8395" y="11568"/>
                      </a:lnTo>
                      <a:lnTo>
                        <a:pt x="8395" y="12453"/>
                      </a:lnTo>
                      <a:lnTo>
                        <a:pt x="15624" y="12453"/>
                      </a:lnTo>
                      <a:lnTo>
                        <a:pt x="15624" y="11568"/>
                      </a:lnTo>
                      <a:close/>
                      <a:moveTo>
                        <a:pt x="18044" y="9636"/>
                      </a:moveTo>
                      <a:lnTo>
                        <a:pt x="8395" y="9636"/>
                      </a:lnTo>
                      <a:lnTo>
                        <a:pt x="8395" y="10521"/>
                      </a:lnTo>
                      <a:lnTo>
                        <a:pt x="18044" y="10521"/>
                      </a:lnTo>
                      <a:lnTo>
                        <a:pt x="18044" y="9636"/>
                      </a:lnTo>
                      <a:close/>
                      <a:moveTo>
                        <a:pt x="7375" y="4050"/>
                      </a:moveTo>
                      <a:lnTo>
                        <a:pt x="6442" y="3584"/>
                      </a:lnTo>
                      <a:lnTo>
                        <a:pt x="4664" y="5866"/>
                      </a:lnTo>
                      <a:lnTo>
                        <a:pt x="4023" y="5028"/>
                      </a:lnTo>
                      <a:lnTo>
                        <a:pt x="3090" y="5493"/>
                      </a:lnTo>
                      <a:lnTo>
                        <a:pt x="4664" y="7518"/>
                      </a:lnTo>
                      <a:lnTo>
                        <a:pt x="7375" y="4050"/>
                      </a:lnTo>
                      <a:close/>
                      <a:moveTo>
                        <a:pt x="15624" y="6261"/>
                      </a:moveTo>
                      <a:lnTo>
                        <a:pt x="8395" y="6261"/>
                      </a:lnTo>
                      <a:lnTo>
                        <a:pt x="8395" y="7146"/>
                      </a:lnTo>
                      <a:lnTo>
                        <a:pt x="15624" y="7146"/>
                      </a:lnTo>
                      <a:lnTo>
                        <a:pt x="15624" y="6261"/>
                      </a:lnTo>
                      <a:close/>
                      <a:moveTo>
                        <a:pt x="18044" y="4329"/>
                      </a:moveTo>
                      <a:lnTo>
                        <a:pt x="8395" y="4329"/>
                      </a:lnTo>
                      <a:lnTo>
                        <a:pt x="8395" y="5214"/>
                      </a:lnTo>
                      <a:lnTo>
                        <a:pt x="18044" y="5214"/>
                      </a:lnTo>
                      <a:lnTo>
                        <a:pt x="18044" y="4329"/>
                      </a:lnTo>
                      <a:close/>
                    </a:path>
                  </a:pathLst>
                </a:custGeom>
                <a:solidFill>
                  <a:srgbClr val="FF676B"/>
                </a:solidFill>
                <a:ln w="12700">
                  <a:noFill/>
                </a:ln>
              </p:spPr>
              <p:style>
                <a:lnRef idx="0">
                  <a:scrgbClr r="0" g="0" b="0"/>
                </a:lnRef>
                <a:fillRef idx="0">
                  <a:scrgbClr r="0" g="0" b="0"/>
                </a:fillRef>
                <a:effectRef idx="0">
                  <a:scrgbClr r="0" g="0" b="0"/>
                </a:effectRef>
                <a:fontRef idx="minor"/>
              </p:style>
              <p:txBody>
                <a:bodyPr/>
                <a:lstStyle/>
                <a:p>
                  <a:endParaRPr lang="en-GB" sz="3600"/>
                </a:p>
              </p:txBody>
            </p:sp>
          </p:grpSp>
          <p:sp>
            <p:nvSpPr>
              <p:cNvPr id="176" name="Arrow: Chevron 183">
                <a:extLst>
                  <a:ext uri="{FF2B5EF4-FFF2-40B4-BE49-F238E27FC236}">
                    <a16:creationId xmlns:a16="http://schemas.microsoft.com/office/drawing/2014/main" id="{6B1C5999-8C59-92B3-8150-EDABFA427DCD}"/>
                  </a:ext>
                </a:extLst>
              </p:cNvPr>
              <p:cNvSpPr/>
              <p:nvPr/>
            </p:nvSpPr>
            <p:spPr>
              <a:xfrm>
                <a:off x="2063880" y="1859400"/>
                <a:ext cx="1710000" cy="348840"/>
              </a:xfrm>
              <a:prstGeom prst="chevron">
                <a:avLst>
                  <a:gd name="adj" fmla="val 50000"/>
                </a:avLst>
              </a:prstGeom>
              <a:solidFill>
                <a:srgbClr val="FF676B"/>
              </a:solidFill>
              <a:ln>
                <a:solidFill>
                  <a:srgbClr val="FF676B"/>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ASSESS</a:t>
                </a:r>
                <a:endParaRPr lang="en-GB" spc="-2">
                  <a:latin typeface="Arial"/>
                </a:endParaRPr>
              </a:p>
            </p:txBody>
          </p:sp>
          <p:sp>
            <p:nvSpPr>
              <p:cNvPr id="177" name="Freeform 127">
                <a:extLst>
                  <a:ext uri="{FF2B5EF4-FFF2-40B4-BE49-F238E27FC236}">
                    <a16:creationId xmlns:a16="http://schemas.microsoft.com/office/drawing/2014/main" id="{34CFB3D1-3F28-4ADD-0A5D-DA68AA6D88D5}"/>
                  </a:ext>
                </a:extLst>
              </p:cNvPr>
              <p:cNvSpPr/>
              <p:nvPr/>
            </p:nvSpPr>
            <p:spPr>
              <a:xfrm>
                <a:off x="3277080" y="1909800"/>
                <a:ext cx="275760" cy="253800"/>
              </a:xfrm>
              <a:custGeom>
                <a:avLst/>
                <a:gdLst/>
                <a:ahLst/>
                <a:cxnLst/>
                <a:rect l="l" t="t" r="r" b="b"/>
                <a:pathLst>
                  <a:path w="934" h="861">
                    <a:moveTo>
                      <a:pt x="846" y="189"/>
                    </a:moveTo>
                    <a:lnTo>
                      <a:pt x="723" y="189"/>
                    </a:lnTo>
                    <a:lnTo>
                      <a:pt x="723" y="148"/>
                    </a:lnTo>
                    <a:lnTo>
                      <a:pt x="755" y="148"/>
                    </a:lnTo>
                    <a:lnTo>
                      <a:pt x="755" y="0"/>
                    </a:lnTo>
                    <a:lnTo>
                      <a:pt x="527" y="0"/>
                    </a:lnTo>
                    <a:lnTo>
                      <a:pt x="527" y="148"/>
                    </a:lnTo>
                    <a:lnTo>
                      <a:pt x="559" y="148"/>
                    </a:lnTo>
                    <a:lnTo>
                      <a:pt x="559" y="189"/>
                    </a:lnTo>
                    <a:lnTo>
                      <a:pt x="375" y="189"/>
                    </a:lnTo>
                    <a:lnTo>
                      <a:pt x="375" y="148"/>
                    </a:lnTo>
                    <a:lnTo>
                      <a:pt x="406" y="148"/>
                    </a:lnTo>
                    <a:lnTo>
                      <a:pt x="406" y="0"/>
                    </a:lnTo>
                    <a:lnTo>
                      <a:pt x="179" y="0"/>
                    </a:lnTo>
                    <a:lnTo>
                      <a:pt x="179" y="148"/>
                    </a:lnTo>
                    <a:lnTo>
                      <a:pt x="211" y="148"/>
                    </a:lnTo>
                    <a:lnTo>
                      <a:pt x="211" y="189"/>
                    </a:lnTo>
                    <a:lnTo>
                      <a:pt x="88" y="189"/>
                    </a:lnTo>
                    <a:lnTo>
                      <a:pt x="0" y="575"/>
                    </a:lnTo>
                    <a:lnTo>
                      <a:pt x="60" y="575"/>
                    </a:lnTo>
                    <a:lnTo>
                      <a:pt x="6" y="724"/>
                    </a:lnTo>
                    <a:lnTo>
                      <a:pt x="5" y="860"/>
                    </a:lnTo>
                    <a:lnTo>
                      <a:pt x="406" y="860"/>
                    </a:lnTo>
                    <a:lnTo>
                      <a:pt x="406" y="730"/>
                    </a:lnTo>
                    <a:lnTo>
                      <a:pt x="351" y="575"/>
                    </a:lnTo>
                    <a:lnTo>
                      <a:pt x="406" y="575"/>
                    </a:lnTo>
                    <a:lnTo>
                      <a:pt x="406" y="496"/>
                    </a:lnTo>
                    <a:lnTo>
                      <a:pt x="527" y="496"/>
                    </a:lnTo>
                    <a:lnTo>
                      <a:pt x="527" y="575"/>
                    </a:lnTo>
                    <a:lnTo>
                      <a:pt x="583" y="575"/>
                    </a:lnTo>
                    <a:lnTo>
                      <a:pt x="528" y="724"/>
                    </a:lnTo>
                    <a:lnTo>
                      <a:pt x="527" y="860"/>
                    </a:lnTo>
                    <a:lnTo>
                      <a:pt x="929" y="860"/>
                    </a:lnTo>
                    <a:lnTo>
                      <a:pt x="929" y="730"/>
                    </a:lnTo>
                    <a:lnTo>
                      <a:pt x="873" y="575"/>
                    </a:lnTo>
                    <a:lnTo>
                      <a:pt x="933" y="575"/>
                    </a:lnTo>
                    <a:lnTo>
                      <a:pt x="846" y="189"/>
                    </a:lnTo>
                    <a:close/>
                    <a:moveTo>
                      <a:pt x="565" y="37"/>
                    </a:moveTo>
                    <a:lnTo>
                      <a:pt x="717" y="37"/>
                    </a:lnTo>
                    <a:lnTo>
                      <a:pt x="717" y="110"/>
                    </a:lnTo>
                    <a:lnTo>
                      <a:pt x="565" y="110"/>
                    </a:lnTo>
                    <a:lnTo>
                      <a:pt x="565" y="37"/>
                    </a:lnTo>
                    <a:close/>
                    <a:moveTo>
                      <a:pt x="596" y="148"/>
                    </a:moveTo>
                    <a:lnTo>
                      <a:pt x="686" y="148"/>
                    </a:lnTo>
                    <a:lnTo>
                      <a:pt x="686" y="189"/>
                    </a:lnTo>
                    <a:lnTo>
                      <a:pt x="596" y="189"/>
                    </a:lnTo>
                    <a:lnTo>
                      <a:pt x="596" y="148"/>
                    </a:lnTo>
                    <a:close/>
                    <a:moveTo>
                      <a:pt x="606" y="433"/>
                    </a:moveTo>
                    <a:lnTo>
                      <a:pt x="606" y="459"/>
                    </a:lnTo>
                    <a:lnTo>
                      <a:pt x="327" y="459"/>
                    </a:lnTo>
                    <a:lnTo>
                      <a:pt x="327" y="433"/>
                    </a:lnTo>
                    <a:lnTo>
                      <a:pt x="606" y="433"/>
                    </a:lnTo>
                    <a:close/>
                    <a:moveTo>
                      <a:pt x="406" y="395"/>
                    </a:moveTo>
                    <a:lnTo>
                      <a:pt x="406" y="290"/>
                    </a:lnTo>
                    <a:lnTo>
                      <a:pt x="527" y="290"/>
                    </a:lnTo>
                    <a:lnTo>
                      <a:pt x="527" y="395"/>
                    </a:lnTo>
                    <a:lnTo>
                      <a:pt x="406" y="395"/>
                    </a:lnTo>
                    <a:close/>
                    <a:moveTo>
                      <a:pt x="327" y="253"/>
                    </a:moveTo>
                    <a:lnTo>
                      <a:pt x="327" y="227"/>
                    </a:lnTo>
                    <a:lnTo>
                      <a:pt x="606" y="227"/>
                    </a:lnTo>
                    <a:lnTo>
                      <a:pt x="606" y="253"/>
                    </a:lnTo>
                    <a:lnTo>
                      <a:pt x="327" y="253"/>
                    </a:lnTo>
                    <a:close/>
                    <a:moveTo>
                      <a:pt x="216" y="37"/>
                    </a:moveTo>
                    <a:lnTo>
                      <a:pt x="369" y="37"/>
                    </a:lnTo>
                    <a:lnTo>
                      <a:pt x="369" y="110"/>
                    </a:lnTo>
                    <a:lnTo>
                      <a:pt x="216" y="110"/>
                    </a:lnTo>
                    <a:lnTo>
                      <a:pt x="216" y="37"/>
                    </a:lnTo>
                    <a:close/>
                    <a:moveTo>
                      <a:pt x="248" y="148"/>
                    </a:moveTo>
                    <a:lnTo>
                      <a:pt x="337" y="148"/>
                    </a:lnTo>
                    <a:lnTo>
                      <a:pt x="337" y="189"/>
                    </a:lnTo>
                    <a:lnTo>
                      <a:pt x="248" y="189"/>
                    </a:lnTo>
                    <a:lnTo>
                      <a:pt x="248" y="148"/>
                    </a:lnTo>
                    <a:close/>
                    <a:moveTo>
                      <a:pt x="42" y="823"/>
                    </a:moveTo>
                    <a:lnTo>
                      <a:pt x="42" y="749"/>
                    </a:lnTo>
                    <a:lnTo>
                      <a:pt x="369" y="749"/>
                    </a:lnTo>
                    <a:lnTo>
                      <a:pt x="369" y="823"/>
                    </a:lnTo>
                    <a:lnTo>
                      <a:pt x="42" y="823"/>
                    </a:lnTo>
                    <a:close/>
                    <a:moveTo>
                      <a:pt x="361" y="712"/>
                    </a:moveTo>
                    <a:lnTo>
                      <a:pt x="50" y="712"/>
                    </a:lnTo>
                    <a:lnTo>
                      <a:pt x="100" y="575"/>
                    </a:lnTo>
                    <a:lnTo>
                      <a:pt x="311" y="575"/>
                    </a:lnTo>
                    <a:lnTo>
                      <a:pt x="361" y="712"/>
                    </a:lnTo>
                    <a:close/>
                    <a:moveTo>
                      <a:pt x="47" y="538"/>
                    </a:moveTo>
                    <a:lnTo>
                      <a:pt x="118" y="227"/>
                    </a:lnTo>
                    <a:lnTo>
                      <a:pt x="290" y="227"/>
                    </a:lnTo>
                    <a:lnTo>
                      <a:pt x="290" y="290"/>
                    </a:lnTo>
                    <a:lnTo>
                      <a:pt x="369" y="290"/>
                    </a:lnTo>
                    <a:lnTo>
                      <a:pt x="369" y="395"/>
                    </a:lnTo>
                    <a:lnTo>
                      <a:pt x="290" y="395"/>
                    </a:lnTo>
                    <a:lnTo>
                      <a:pt x="290" y="496"/>
                    </a:lnTo>
                    <a:lnTo>
                      <a:pt x="369" y="496"/>
                    </a:lnTo>
                    <a:lnTo>
                      <a:pt x="369" y="538"/>
                    </a:lnTo>
                    <a:lnTo>
                      <a:pt x="47" y="538"/>
                    </a:lnTo>
                    <a:close/>
                    <a:moveTo>
                      <a:pt x="644" y="496"/>
                    </a:moveTo>
                    <a:lnTo>
                      <a:pt x="644" y="395"/>
                    </a:lnTo>
                    <a:lnTo>
                      <a:pt x="565" y="395"/>
                    </a:lnTo>
                    <a:lnTo>
                      <a:pt x="565" y="290"/>
                    </a:lnTo>
                    <a:lnTo>
                      <a:pt x="644" y="290"/>
                    </a:lnTo>
                    <a:lnTo>
                      <a:pt x="644" y="227"/>
                    </a:lnTo>
                    <a:lnTo>
                      <a:pt x="816" y="227"/>
                    </a:lnTo>
                    <a:lnTo>
                      <a:pt x="887" y="538"/>
                    </a:lnTo>
                    <a:lnTo>
                      <a:pt x="565" y="538"/>
                    </a:lnTo>
                    <a:lnTo>
                      <a:pt x="565" y="496"/>
                    </a:lnTo>
                    <a:lnTo>
                      <a:pt x="644" y="496"/>
                    </a:lnTo>
                    <a:close/>
                    <a:moveTo>
                      <a:pt x="565" y="823"/>
                    </a:moveTo>
                    <a:lnTo>
                      <a:pt x="565" y="749"/>
                    </a:lnTo>
                    <a:lnTo>
                      <a:pt x="891" y="749"/>
                    </a:lnTo>
                    <a:lnTo>
                      <a:pt x="891" y="823"/>
                    </a:lnTo>
                    <a:lnTo>
                      <a:pt x="565" y="823"/>
                    </a:lnTo>
                    <a:close/>
                    <a:moveTo>
                      <a:pt x="883" y="712"/>
                    </a:moveTo>
                    <a:lnTo>
                      <a:pt x="573" y="712"/>
                    </a:lnTo>
                    <a:lnTo>
                      <a:pt x="622" y="575"/>
                    </a:lnTo>
                    <a:lnTo>
                      <a:pt x="834" y="575"/>
                    </a:lnTo>
                    <a:lnTo>
                      <a:pt x="883" y="712"/>
                    </a:lnTo>
                    <a:close/>
                  </a:path>
                </a:pathLst>
              </a:custGeom>
              <a:solidFill>
                <a:schemeClr val="bg1"/>
              </a:solidFill>
              <a:ln w="0">
                <a:noFill/>
              </a:ln>
            </p:spPr>
            <p:style>
              <a:lnRef idx="0">
                <a:scrgbClr r="0" g="0" b="0"/>
              </a:lnRef>
              <a:fillRef idx="0">
                <a:scrgbClr r="0" g="0" b="0"/>
              </a:fillRef>
              <a:effectRef idx="0">
                <a:scrgbClr r="0" g="0" b="0"/>
              </a:effectRef>
              <a:fontRef idx="minor"/>
            </p:style>
            <p:txBody>
              <a:bodyPr/>
              <a:lstStyle/>
              <a:p>
                <a:endParaRPr lang="en-GB" sz="3600"/>
              </a:p>
            </p:txBody>
          </p:sp>
          <p:sp>
            <p:nvSpPr>
              <p:cNvPr id="178" name="Rectangle 185">
                <a:extLst>
                  <a:ext uri="{FF2B5EF4-FFF2-40B4-BE49-F238E27FC236}">
                    <a16:creationId xmlns:a16="http://schemas.microsoft.com/office/drawing/2014/main" id="{709F6ED5-0410-BE85-1465-8EF4875D353F}"/>
                  </a:ext>
                </a:extLst>
              </p:cNvPr>
              <p:cNvSpPr/>
              <p:nvPr/>
            </p:nvSpPr>
            <p:spPr>
              <a:xfrm>
                <a:off x="2061360" y="2228760"/>
                <a:ext cx="1522440" cy="1240560"/>
              </a:xfrm>
              <a:prstGeom prst="rect">
                <a:avLst/>
              </a:prstGeom>
              <a:noFill/>
              <a:ln w="28575">
                <a:solidFill>
                  <a:srgbClr val="FF676B"/>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grpSp>
            <p:nvGrpSpPr>
              <p:cNvPr id="179" name="Group 186">
                <a:extLst>
                  <a:ext uri="{FF2B5EF4-FFF2-40B4-BE49-F238E27FC236}">
                    <a16:creationId xmlns:a16="http://schemas.microsoft.com/office/drawing/2014/main" id="{C152ABBD-C53F-36A7-2EBC-24231BCAD1FF}"/>
                  </a:ext>
                </a:extLst>
              </p:cNvPr>
              <p:cNvGrpSpPr/>
              <p:nvPr/>
            </p:nvGrpSpPr>
            <p:grpSpPr>
              <a:xfrm>
                <a:off x="2908800" y="2310120"/>
                <a:ext cx="750240" cy="474985"/>
                <a:chOff x="2908800" y="2310120"/>
                <a:chExt cx="750240" cy="474985"/>
              </a:xfrm>
            </p:grpSpPr>
            <p:sp>
              <p:nvSpPr>
                <p:cNvPr id="186" name="Shape">
                  <a:extLst>
                    <a:ext uri="{FF2B5EF4-FFF2-40B4-BE49-F238E27FC236}">
                      <a16:creationId xmlns:a16="http://schemas.microsoft.com/office/drawing/2014/main" id="{A137DEC6-AF37-45C0-7063-D85CF0C4A18C}"/>
                    </a:ext>
                  </a:extLst>
                </p:cNvPr>
                <p:cNvSpPr/>
                <p:nvPr/>
              </p:nvSpPr>
              <p:spPr>
                <a:xfrm>
                  <a:off x="3204720" y="231012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FF676B"/>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187" name="TextBox 199">
                  <a:extLst>
                    <a:ext uri="{FF2B5EF4-FFF2-40B4-BE49-F238E27FC236}">
                      <a16:creationId xmlns:a16="http://schemas.microsoft.com/office/drawing/2014/main" id="{748D50A3-1CC7-E995-CEE0-8E0EDEE952B9}"/>
                    </a:ext>
                  </a:extLst>
                </p:cNvPr>
                <p:cNvSpPr/>
                <p:nvPr/>
              </p:nvSpPr>
              <p:spPr>
                <a:xfrm>
                  <a:off x="2908800" y="2509560"/>
                  <a:ext cx="7502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Assessment</a:t>
                  </a:r>
                  <a:endParaRPr lang="en-GB" sz="1200" spc="-2">
                    <a:latin typeface="Arial"/>
                  </a:endParaRPr>
                </a:p>
                <a:p>
                  <a:pPr algn="ctr">
                    <a:tabLst>
                      <a:tab pos="0" algn="l"/>
                    </a:tabLst>
                  </a:pPr>
                  <a:r>
                    <a:rPr lang="en-GB" sz="1200" spc="-2">
                      <a:solidFill>
                        <a:srgbClr val="000000"/>
                      </a:solidFill>
                      <a:latin typeface="Arial"/>
                      <a:ea typeface="DejaVu Sans"/>
                    </a:rPr>
                    <a:t>Workbook</a:t>
                  </a:r>
                  <a:endParaRPr lang="en-GB" sz="1200" spc="-2">
                    <a:latin typeface="Arial"/>
                  </a:endParaRPr>
                </a:p>
              </p:txBody>
            </p:sp>
          </p:grpSp>
          <p:grpSp>
            <p:nvGrpSpPr>
              <p:cNvPr id="180" name="Group 192">
                <a:extLst>
                  <a:ext uri="{FF2B5EF4-FFF2-40B4-BE49-F238E27FC236}">
                    <a16:creationId xmlns:a16="http://schemas.microsoft.com/office/drawing/2014/main" id="{5D899D34-3878-62A2-578F-6D1FC74FBD54}"/>
                  </a:ext>
                </a:extLst>
              </p:cNvPr>
              <p:cNvGrpSpPr/>
              <p:nvPr/>
            </p:nvGrpSpPr>
            <p:grpSpPr>
              <a:xfrm>
                <a:off x="2328120" y="2310120"/>
                <a:ext cx="912960" cy="559398"/>
                <a:chOff x="2328120" y="2310120"/>
                <a:chExt cx="912960" cy="559398"/>
              </a:xfrm>
            </p:grpSpPr>
            <p:sp>
              <p:nvSpPr>
                <p:cNvPr id="184" name="Shape">
                  <a:extLst>
                    <a:ext uri="{FF2B5EF4-FFF2-40B4-BE49-F238E27FC236}">
                      <a16:creationId xmlns:a16="http://schemas.microsoft.com/office/drawing/2014/main" id="{B213A32F-19CA-1539-A392-7DC727DB248C}"/>
                    </a:ext>
                  </a:extLst>
                </p:cNvPr>
                <p:cNvSpPr/>
                <p:nvPr/>
              </p:nvSpPr>
              <p:spPr>
                <a:xfrm>
                  <a:off x="2709720" y="2310120"/>
                  <a:ext cx="158400" cy="204480"/>
                </a:xfrm>
                <a:custGeom>
                  <a:avLst/>
                  <a:gdLst/>
                  <a:ahLst/>
                  <a:cxnLst/>
                  <a:rect l="l" t="t" r="r" b="b"/>
                  <a:pathLst>
                    <a:path w="17257" h="18073">
                      <a:moveTo>
                        <a:pt x="3186" y="9460"/>
                      </a:moveTo>
                      <a:lnTo>
                        <a:pt x="8911" y="9460"/>
                      </a:lnTo>
                      <a:lnTo>
                        <a:pt x="6063" y="5429"/>
                      </a:lnTo>
                      <a:lnTo>
                        <a:pt x="3186" y="9460"/>
                      </a:lnTo>
                      <a:close/>
                      <a:moveTo>
                        <a:pt x="5019" y="8590"/>
                      </a:moveTo>
                      <a:lnTo>
                        <a:pt x="6063" y="7147"/>
                      </a:lnTo>
                      <a:lnTo>
                        <a:pt x="7078" y="8590"/>
                      </a:lnTo>
                      <a:lnTo>
                        <a:pt x="5019" y="8590"/>
                      </a:lnTo>
                      <a:close/>
                      <a:moveTo>
                        <a:pt x="3722" y="15027"/>
                      </a:moveTo>
                      <a:lnTo>
                        <a:pt x="8544" y="15027"/>
                      </a:lnTo>
                      <a:lnTo>
                        <a:pt x="8544" y="11133"/>
                      </a:lnTo>
                      <a:lnTo>
                        <a:pt x="3722" y="11133"/>
                      </a:lnTo>
                      <a:lnTo>
                        <a:pt x="3722" y="15027"/>
                      </a:lnTo>
                      <a:close/>
                      <a:moveTo>
                        <a:pt x="4794" y="12003"/>
                      </a:moveTo>
                      <a:lnTo>
                        <a:pt x="7473" y="12003"/>
                      </a:lnTo>
                      <a:lnTo>
                        <a:pt x="7473" y="14156"/>
                      </a:lnTo>
                      <a:lnTo>
                        <a:pt x="4794" y="14156"/>
                      </a:lnTo>
                      <a:lnTo>
                        <a:pt x="4794" y="12003"/>
                      </a:lnTo>
                      <a:close/>
                      <a:moveTo>
                        <a:pt x="11731" y="8590"/>
                      </a:moveTo>
                      <a:cubicBezTo>
                        <a:pt x="10405" y="8590"/>
                        <a:pt x="9334" y="9483"/>
                        <a:pt x="9334" y="10560"/>
                      </a:cubicBezTo>
                      <a:cubicBezTo>
                        <a:pt x="9334" y="11637"/>
                        <a:pt x="10405" y="12507"/>
                        <a:pt x="11731" y="12507"/>
                      </a:cubicBezTo>
                      <a:cubicBezTo>
                        <a:pt x="13056" y="12507"/>
                        <a:pt x="14127" y="11637"/>
                        <a:pt x="14127" y="10560"/>
                      </a:cubicBezTo>
                      <a:cubicBezTo>
                        <a:pt x="14127" y="9483"/>
                        <a:pt x="13056" y="8590"/>
                        <a:pt x="11731" y="8590"/>
                      </a:cubicBezTo>
                      <a:close/>
                      <a:moveTo>
                        <a:pt x="11731" y="11637"/>
                      </a:moveTo>
                      <a:cubicBezTo>
                        <a:pt x="10997" y="11637"/>
                        <a:pt x="10405" y="11156"/>
                        <a:pt x="10405" y="10560"/>
                      </a:cubicBezTo>
                      <a:cubicBezTo>
                        <a:pt x="10405" y="9942"/>
                        <a:pt x="10997" y="9460"/>
                        <a:pt x="11731" y="9460"/>
                      </a:cubicBezTo>
                      <a:cubicBezTo>
                        <a:pt x="12464" y="9460"/>
                        <a:pt x="13084" y="9942"/>
                        <a:pt x="13084" y="10560"/>
                      </a:cubicBezTo>
                      <a:cubicBezTo>
                        <a:pt x="13084" y="11156"/>
                        <a:pt x="12464" y="11637"/>
                        <a:pt x="11731" y="11637"/>
                      </a:cubicBezTo>
                      <a:close/>
                      <a:moveTo>
                        <a:pt x="17257" y="14523"/>
                      </a:moveTo>
                      <a:cubicBezTo>
                        <a:pt x="17265" y="12300"/>
                        <a:pt x="17208" y="10489"/>
                        <a:pt x="17233" y="5594"/>
                      </a:cubicBezTo>
                      <a:cubicBezTo>
                        <a:pt x="17189" y="5539"/>
                        <a:pt x="12410" y="1642"/>
                        <a:pt x="9995" y="34"/>
                      </a:cubicBezTo>
                      <a:lnTo>
                        <a:pt x="4343" y="0"/>
                      </a:lnTo>
                      <a:lnTo>
                        <a:pt x="0" y="0"/>
                      </a:lnTo>
                      <a:lnTo>
                        <a:pt x="0" y="18073"/>
                      </a:lnTo>
                      <a:lnTo>
                        <a:pt x="17257" y="18073"/>
                      </a:lnTo>
                      <a:lnTo>
                        <a:pt x="17257" y="14523"/>
                      </a:lnTo>
                      <a:close/>
                      <a:moveTo>
                        <a:pt x="10067" y="1169"/>
                      </a:moveTo>
                      <a:lnTo>
                        <a:pt x="15735" y="5567"/>
                      </a:lnTo>
                      <a:lnTo>
                        <a:pt x="10067" y="5567"/>
                      </a:lnTo>
                      <a:lnTo>
                        <a:pt x="10067" y="1169"/>
                      </a:lnTo>
                      <a:close/>
                      <a:moveTo>
                        <a:pt x="1072" y="17203"/>
                      </a:moveTo>
                      <a:lnTo>
                        <a:pt x="1072" y="871"/>
                      </a:lnTo>
                      <a:lnTo>
                        <a:pt x="8995" y="871"/>
                      </a:lnTo>
                      <a:lnTo>
                        <a:pt x="8995" y="6437"/>
                      </a:lnTo>
                      <a:lnTo>
                        <a:pt x="16186" y="6437"/>
                      </a:lnTo>
                      <a:lnTo>
                        <a:pt x="16186" y="17203"/>
                      </a:lnTo>
                      <a:lnTo>
                        <a:pt x="1072" y="17203"/>
                      </a:lnTo>
                      <a:close/>
                    </a:path>
                  </a:pathLst>
                </a:custGeom>
                <a:solidFill>
                  <a:srgbClr val="FF676B"/>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185" name="TextBox 197">
                  <a:extLst>
                    <a:ext uri="{FF2B5EF4-FFF2-40B4-BE49-F238E27FC236}">
                      <a16:creationId xmlns:a16="http://schemas.microsoft.com/office/drawing/2014/main" id="{1A30828E-5970-39A5-4E30-51AF0D368342}"/>
                    </a:ext>
                  </a:extLst>
                </p:cNvPr>
                <p:cNvSpPr/>
                <p:nvPr/>
              </p:nvSpPr>
              <p:spPr>
                <a:xfrm>
                  <a:off x="2328120" y="2501640"/>
                  <a:ext cx="912960" cy="367878"/>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Business </a:t>
                  </a:r>
                  <a:endParaRPr lang="en-GB" sz="1200" spc="-2">
                    <a:latin typeface="Arial"/>
                  </a:endParaRPr>
                </a:p>
                <a:p>
                  <a:pPr algn="ctr">
                    <a:tabLst>
                      <a:tab pos="0" algn="l"/>
                    </a:tabLst>
                  </a:pPr>
                  <a:r>
                    <a:rPr lang="en-GB" sz="1200" spc="-2">
                      <a:solidFill>
                        <a:srgbClr val="000000"/>
                      </a:solidFill>
                      <a:latin typeface="Arial"/>
                      <a:ea typeface="DejaVu Sans"/>
                    </a:rPr>
                    <a:t>Service &amp; </a:t>
                  </a:r>
                  <a:endParaRPr lang="en-GB" sz="1200" spc="-2">
                    <a:latin typeface="Arial"/>
                  </a:endParaRPr>
                </a:p>
                <a:p>
                  <a:pPr algn="ctr">
                    <a:tabLst>
                      <a:tab pos="0" algn="l"/>
                    </a:tabLst>
                  </a:pPr>
                  <a:r>
                    <a:rPr lang="en-GB" sz="1200" spc="-2">
                      <a:solidFill>
                        <a:srgbClr val="000000"/>
                      </a:solidFill>
                      <a:latin typeface="Arial"/>
                      <a:ea typeface="DejaVu Sans"/>
                    </a:rPr>
                    <a:t>Arch. Maps</a:t>
                  </a:r>
                  <a:endParaRPr lang="en-GB" sz="1200" spc="-2">
                    <a:latin typeface="Arial"/>
                  </a:endParaRPr>
                </a:p>
              </p:txBody>
            </p:sp>
          </p:grpSp>
          <p:grpSp>
            <p:nvGrpSpPr>
              <p:cNvPr id="181" name="Group 193">
                <a:extLst>
                  <a:ext uri="{FF2B5EF4-FFF2-40B4-BE49-F238E27FC236}">
                    <a16:creationId xmlns:a16="http://schemas.microsoft.com/office/drawing/2014/main" id="{1A8CBC10-D7D6-4A03-82AC-7E0DDB71F5DD}"/>
                  </a:ext>
                </a:extLst>
              </p:cNvPr>
              <p:cNvGrpSpPr/>
              <p:nvPr/>
            </p:nvGrpSpPr>
            <p:grpSpPr>
              <a:xfrm>
                <a:off x="2122200" y="2950200"/>
                <a:ext cx="750240" cy="474985"/>
                <a:chOff x="2122200" y="2950200"/>
                <a:chExt cx="750240" cy="474985"/>
              </a:xfrm>
            </p:grpSpPr>
            <p:sp>
              <p:nvSpPr>
                <p:cNvPr id="182" name="Shape">
                  <a:extLst>
                    <a:ext uri="{FF2B5EF4-FFF2-40B4-BE49-F238E27FC236}">
                      <a16:creationId xmlns:a16="http://schemas.microsoft.com/office/drawing/2014/main" id="{9C967D1A-4405-E18D-DE1C-E42FF06AE5F3}"/>
                    </a:ext>
                  </a:extLst>
                </p:cNvPr>
                <p:cNvSpPr/>
                <p:nvPr/>
              </p:nvSpPr>
              <p:spPr>
                <a:xfrm>
                  <a:off x="2418120" y="295020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FF676B"/>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183" name="TextBox 195">
                  <a:extLst>
                    <a:ext uri="{FF2B5EF4-FFF2-40B4-BE49-F238E27FC236}">
                      <a16:creationId xmlns:a16="http://schemas.microsoft.com/office/drawing/2014/main" id="{A1F6E53F-F2BC-2B8C-DD3D-DD19C51094E5}"/>
                    </a:ext>
                  </a:extLst>
                </p:cNvPr>
                <p:cNvSpPr/>
                <p:nvPr/>
              </p:nvSpPr>
              <p:spPr>
                <a:xfrm>
                  <a:off x="2122200" y="3149640"/>
                  <a:ext cx="7502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Automation</a:t>
                  </a:r>
                  <a:endParaRPr lang="en-GB" sz="1200" spc="-2">
                    <a:latin typeface="Arial"/>
                  </a:endParaRPr>
                </a:p>
                <a:p>
                  <a:pPr algn="ctr">
                    <a:tabLst>
                      <a:tab pos="0" algn="l"/>
                    </a:tabLst>
                  </a:pPr>
                  <a:r>
                    <a:rPr lang="en-GB" sz="1200" spc="-2">
                      <a:solidFill>
                        <a:srgbClr val="000000"/>
                      </a:solidFill>
                      <a:latin typeface="Arial"/>
                      <a:ea typeface="DejaVu Sans"/>
                    </a:rPr>
                    <a:t>Assessment</a:t>
                  </a:r>
                  <a:endParaRPr lang="en-GB" sz="1200" spc="-2">
                    <a:latin typeface="Arial"/>
                  </a:endParaRPr>
                </a:p>
              </p:txBody>
            </p:sp>
          </p:grpSp>
        </p:grpSp>
      </p:grpSp>
      <p:sp>
        <p:nvSpPr>
          <p:cNvPr id="192" name="Rectangle 204">
            <a:extLst>
              <a:ext uri="{FF2B5EF4-FFF2-40B4-BE49-F238E27FC236}">
                <a16:creationId xmlns:a16="http://schemas.microsoft.com/office/drawing/2014/main" id="{DC1C0476-08F0-441E-AE55-D72A1432980A}"/>
              </a:ext>
            </a:extLst>
          </p:cNvPr>
          <p:cNvSpPr/>
          <p:nvPr/>
        </p:nvSpPr>
        <p:spPr>
          <a:xfrm>
            <a:off x="8800560" y="6989904"/>
            <a:ext cx="1090800" cy="1167840"/>
          </a:xfrm>
          <a:prstGeom prst="rect">
            <a:avLst/>
          </a:prstGeom>
          <a:solidFill>
            <a:schemeClr val="bg1">
              <a:lumMod val="95000"/>
            </a:schemeClr>
          </a:solidFill>
          <a:ln>
            <a:solidFill>
              <a:srgbClr val="E179DA"/>
            </a:solidFill>
            <a:prstDash val="sysDash"/>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193" name="Rectangle 205">
            <a:extLst>
              <a:ext uri="{FF2B5EF4-FFF2-40B4-BE49-F238E27FC236}">
                <a16:creationId xmlns:a16="http://schemas.microsoft.com/office/drawing/2014/main" id="{844AB252-5A9C-8BC0-86C9-26DF6F4111C3}"/>
              </a:ext>
            </a:extLst>
          </p:cNvPr>
          <p:cNvSpPr/>
          <p:nvPr/>
        </p:nvSpPr>
        <p:spPr>
          <a:xfrm>
            <a:off x="21119760" y="9689184"/>
            <a:ext cx="398160" cy="418320"/>
          </a:xfrm>
          <a:prstGeom prst="rect">
            <a:avLst/>
          </a:prstGeom>
          <a:solidFill>
            <a:schemeClr val="bg1">
              <a:lumMod val="95000"/>
            </a:schemeClr>
          </a:solidFill>
          <a:ln>
            <a:solidFill>
              <a:srgbClr val="404040"/>
            </a:solidFill>
            <a:prstDash val="lgDashDotDot"/>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194" name="Double Brace 206">
            <a:extLst>
              <a:ext uri="{FF2B5EF4-FFF2-40B4-BE49-F238E27FC236}">
                <a16:creationId xmlns:a16="http://schemas.microsoft.com/office/drawing/2014/main" id="{92096986-418D-854E-D58C-297C4F79045E}"/>
              </a:ext>
            </a:extLst>
          </p:cNvPr>
          <p:cNvSpPr/>
          <p:nvPr/>
        </p:nvSpPr>
        <p:spPr>
          <a:xfrm>
            <a:off x="21039120" y="8929584"/>
            <a:ext cx="557280" cy="464400"/>
          </a:xfrm>
          <a:prstGeom prst="bracePair">
            <a:avLst>
              <a:gd name="adj" fmla="val 8333"/>
            </a:avLst>
          </a:prstGeom>
          <a:solidFill>
            <a:schemeClr val="bg1">
              <a:lumMod val="95000"/>
            </a:schemeClr>
          </a:solidFill>
          <a:ln>
            <a:solidFill>
              <a:srgbClr val="404040"/>
            </a:solidFill>
          </a:ln>
        </p:spPr>
        <p:style>
          <a:lnRef idx="1">
            <a:schemeClr val="accent1"/>
          </a:lnRef>
          <a:fillRef idx="0">
            <a:schemeClr val="accent1"/>
          </a:fillRef>
          <a:effectRef idx="0">
            <a:schemeClr val="accent1"/>
          </a:effectRef>
          <a:fontRef idx="minor"/>
        </p:style>
        <p:txBody>
          <a:bodyPr/>
          <a:lstStyle/>
          <a:p>
            <a:endParaRPr lang="en-GB" sz="3600"/>
          </a:p>
        </p:txBody>
      </p:sp>
      <p:sp>
        <p:nvSpPr>
          <p:cNvPr id="195" name="TextBox 207">
            <a:extLst>
              <a:ext uri="{FF2B5EF4-FFF2-40B4-BE49-F238E27FC236}">
                <a16:creationId xmlns:a16="http://schemas.microsoft.com/office/drawing/2014/main" id="{7BFFEB9C-DB58-CACE-ACEE-4C28D814AF8A}"/>
              </a:ext>
            </a:extLst>
          </p:cNvPr>
          <p:cNvSpPr/>
          <p:nvPr/>
        </p:nvSpPr>
        <p:spPr>
          <a:xfrm>
            <a:off x="21699360" y="8977825"/>
            <a:ext cx="1314000" cy="366424"/>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tabLst>
                <a:tab pos="0" algn="l"/>
              </a:tabLst>
            </a:pPr>
            <a:r>
              <a:rPr lang="en-GB" sz="1200" spc="-2">
                <a:solidFill>
                  <a:srgbClr val="000000"/>
                </a:solidFill>
                <a:latin typeface="Arial"/>
                <a:ea typeface="DejaVu Sans"/>
              </a:rPr>
              <a:t>If in scope</a:t>
            </a:r>
            <a:endParaRPr lang="en-GB" sz="1200" spc="-2">
              <a:latin typeface="Arial"/>
            </a:endParaRPr>
          </a:p>
        </p:txBody>
      </p:sp>
      <p:sp>
        <p:nvSpPr>
          <p:cNvPr id="196" name="TextBox 208">
            <a:extLst>
              <a:ext uri="{FF2B5EF4-FFF2-40B4-BE49-F238E27FC236}">
                <a16:creationId xmlns:a16="http://schemas.microsoft.com/office/drawing/2014/main" id="{A4B10FBB-CFBD-E152-5621-E46130D49D8B}"/>
              </a:ext>
            </a:extLst>
          </p:cNvPr>
          <p:cNvSpPr/>
          <p:nvPr/>
        </p:nvSpPr>
        <p:spPr>
          <a:xfrm>
            <a:off x="21699360" y="9714385"/>
            <a:ext cx="2048400" cy="366424"/>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tabLst>
                <a:tab pos="0" algn="l"/>
              </a:tabLst>
            </a:pPr>
            <a:r>
              <a:rPr lang="en-GB" sz="1200" spc="-2">
                <a:solidFill>
                  <a:srgbClr val="000000"/>
                </a:solidFill>
                <a:latin typeface="Arial"/>
                <a:ea typeface="DejaVu Sans"/>
              </a:rPr>
              <a:t>Customer responsibility</a:t>
            </a:r>
            <a:endParaRPr lang="en-GB" sz="1200" spc="-2">
              <a:latin typeface="Arial"/>
            </a:endParaRPr>
          </a:p>
        </p:txBody>
      </p:sp>
      <p:grpSp>
        <p:nvGrpSpPr>
          <p:cNvPr id="197" name="Group 209">
            <a:extLst>
              <a:ext uri="{FF2B5EF4-FFF2-40B4-BE49-F238E27FC236}">
                <a16:creationId xmlns:a16="http://schemas.microsoft.com/office/drawing/2014/main" id="{27557739-60C5-DBF1-5223-1C215B0113B1}"/>
              </a:ext>
            </a:extLst>
          </p:cNvPr>
          <p:cNvGrpSpPr/>
          <p:nvPr/>
        </p:nvGrpSpPr>
        <p:grpSpPr>
          <a:xfrm>
            <a:off x="780480" y="3975985"/>
            <a:ext cx="22866480" cy="1899360"/>
            <a:chOff x="390240" y="771840"/>
            <a:chExt cx="11433240" cy="949680"/>
          </a:xfrm>
        </p:grpSpPr>
        <p:sp>
          <p:nvSpPr>
            <p:cNvPr id="198" name="Rectangle 210">
              <a:extLst>
                <a:ext uri="{FF2B5EF4-FFF2-40B4-BE49-F238E27FC236}">
                  <a16:creationId xmlns:a16="http://schemas.microsoft.com/office/drawing/2014/main" id="{F6D318BF-33EA-23FC-7124-0B25A2CAE7D6}"/>
                </a:ext>
              </a:extLst>
            </p:cNvPr>
            <p:cNvSpPr/>
            <p:nvPr/>
          </p:nvSpPr>
          <p:spPr>
            <a:xfrm>
              <a:off x="407520" y="1141200"/>
              <a:ext cx="11210040" cy="580320"/>
            </a:xfrm>
            <a:prstGeom prst="rect">
              <a:avLst/>
            </a:prstGeom>
            <a:noFill/>
            <a:ln w="28575">
              <a:solidFill>
                <a:srgbClr val="0A3A70"/>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199" name="Arrow: Pentagon 211">
              <a:extLst>
                <a:ext uri="{FF2B5EF4-FFF2-40B4-BE49-F238E27FC236}">
                  <a16:creationId xmlns:a16="http://schemas.microsoft.com/office/drawing/2014/main" id="{C4EF0AAA-553B-7CBA-0203-832B4AB354A9}"/>
                </a:ext>
              </a:extLst>
            </p:cNvPr>
            <p:cNvSpPr/>
            <p:nvPr/>
          </p:nvSpPr>
          <p:spPr>
            <a:xfrm>
              <a:off x="390240" y="771840"/>
              <a:ext cx="11433240" cy="348840"/>
            </a:xfrm>
            <a:prstGeom prst="homePlate">
              <a:avLst>
                <a:gd name="adj" fmla="val 50000"/>
              </a:avLst>
            </a:prstGeom>
            <a:solidFill>
              <a:schemeClr val="accent5">
                <a:lumMod val="25000"/>
              </a:schemeClr>
            </a:solidFill>
            <a:ln>
              <a:solidFill>
                <a:srgbClr val="0A3A70"/>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GOVERNANCE</a:t>
              </a:r>
              <a:endParaRPr lang="en-GB" spc="-2">
                <a:latin typeface="Arial"/>
              </a:endParaRPr>
            </a:p>
          </p:txBody>
        </p:sp>
        <p:sp>
          <p:nvSpPr>
            <p:cNvPr id="200" name="Shape">
              <a:extLst>
                <a:ext uri="{FF2B5EF4-FFF2-40B4-BE49-F238E27FC236}">
                  <a16:creationId xmlns:a16="http://schemas.microsoft.com/office/drawing/2014/main" id="{C3A72D7C-812D-2EDB-4179-0D64F85554FB}"/>
                </a:ext>
              </a:extLst>
            </p:cNvPr>
            <p:cNvSpPr/>
            <p:nvPr/>
          </p:nvSpPr>
          <p:spPr>
            <a:xfrm>
              <a:off x="11262960" y="823320"/>
              <a:ext cx="301320" cy="275040"/>
            </a:xfrm>
            <a:custGeom>
              <a:avLst/>
              <a:gdLst/>
              <a:ahLst/>
              <a:cxnLst/>
              <a:rect l="l" t="t" r="r" b="b"/>
              <a:pathLst>
                <a:path w="21600" h="21600">
                  <a:moveTo>
                    <a:pt x="0" y="20712"/>
                  </a:moveTo>
                  <a:lnTo>
                    <a:pt x="21600" y="20712"/>
                  </a:lnTo>
                  <a:lnTo>
                    <a:pt x="21600" y="21600"/>
                  </a:lnTo>
                  <a:lnTo>
                    <a:pt x="0" y="21600"/>
                  </a:lnTo>
                  <a:lnTo>
                    <a:pt x="0" y="20712"/>
                  </a:lnTo>
                  <a:close/>
                  <a:moveTo>
                    <a:pt x="20598" y="20104"/>
                  </a:moveTo>
                  <a:lnTo>
                    <a:pt x="20598" y="19239"/>
                  </a:lnTo>
                  <a:lnTo>
                    <a:pt x="1023" y="19239"/>
                  </a:lnTo>
                  <a:lnTo>
                    <a:pt x="1023" y="20104"/>
                  </a:lnTo>
                  <a:lnTo>
                    <a:pt x="20598" y="20104"/>
                  </a:lnTo>
                  <a:close/>
                  <a:moveTo>
                    <a:pt x="2644" y="17766"/>
                  </a:moveTo>
                  <a:lnTo>
                    <a:pt x="2644" y="10870"/>
                  </a:lnTo>
                  <a:lnTo>
                    <a:pt x="2026" y="10870"/>
                  </a:lnTo>
                  <a:lnTo>
                    <a:pt x="2026" y="9982"/>
                  </a:lnTo>
                  <a:lnTo>
                    <a:pt x="5416" y="9982"/>
                  </a:lnTo>
                  <a:lnTo>
                    <a:pt x="5416" y="10870"/>
                  </a:lnTo>
                  <a:lnTo>
                    <a:pt x="4798" y="10870"/>
                  </a:lnTo>
                  <a:lnTo>
                    <a:pt x="4798" y="17766"/>
                  </a:lnTo>
                  <a:lnTo>
                    <a:pt x="5416" y="17766"/>
                  </a:lnTo>
                  <a:lnTo>
                    <a:pt x="5416" y="18631"/>
                  </a:lnTo>
                  <a:lnTo>
                    <a:pt x="2026" y="18631"/>
                  </a:lnTo>
                  <a:lnTo>
                    <a:pt x="2026" y="17766"/>
                  </a:lnTo>
                  <a:lnTo>
                    <a:pt x="2644" y="17766"/>
                  </a:lnTo>
                  <a:close/>
                  <a:moveTo>
                    <a:pt x="3433" y="17766"/>
                  </a:moveTo>
                  <a:lnTo>
                    <a:pt x="3987" y="17766"/>
                  </a:lnTo>
                  <a:lnTo>
                    <a:pt x="3987" y="10870"/>
                  </a:lnTo>
                  <a:lnTo>
                    <a:pt x="3433" y="10870"/>
                  </a:lnTo>
                  <a:lnTo>
                    <a:pt x="3433" y="17766"/>
                  </a:lnTo>
                  <a:close/>
                  <a:moveTo>
                    <a:pt x="7378" y="17766"/>
                  </a:moveTo>
                  <a:lnTo>
                    <a:pt x="7378" y="10870"/>
                  </a:lnTo>
                  <a:lnTo>
                    <a:pt x="6759" y="10870"/>
                  </a:lnTo>
                  <a:lnTo>
                    <a:pt x="6759" y="9982"/>
                  </a:lnTo>
                  <a:lnTo>
                    <a:pt x="10128" y="9982"/>
                  </a:lnTo>
                  <a:lnTo>
                    <a:pt x="10128" y="10870"/>
                  </a:lnTo>
                  <a:lnTo>
                    <a:pt x="9510" y="10870"/>
                  </a:lnTo>
                  <a:lnTo>
                    <a:pt x="9510" y="17766"/>
                  </a:lnTo>
                  <a:lnTo>
                    <a:pt x="10128" y="17766"/>
                  </a:lnTo>
                  <a:lnTo>
                    <a:pt x="10128" y="18631"/>
                  </a:lnTo>
                  <a:lnTo>
                    <a:pt x="6759" y="18631"/>
                  </a:lnTo>
                  <a:lnTo>
                    <a:pt x="6759" y="17766"/>
                  </a:lnTo>
                  <a:lnTo>
                    <a:pt x="7378" y="17766"/>
                  </a:lnTo>
                  <a:close/>
                  <a:moveTo>
                    <a:pt x="8167" y="17766"/>
                  </a:moveTo>
                  <a:lnTo>
                    <a:pt x="8721" y="17766"/>
                  </a:lnTo>
                  <a:lnTo>
                    <a:pt x="8721" y="10870"/>
                  </a:lnTo>
                  <a:lnTo>
                    <a:pt x="8167" y="10870"/>
                  </a:lnTo>
                  <a:lnTo>
                    <a:pt x="8167" y="17766"/>
                  </a:lnTo>
                  <a:close/>
                  <a:moveTo>
                    <a:pt x="12090" y="17766"/>
                  </a:moveTo>
                  <a:lnTo>
                    <a:pt x="12090" y="10870"/>
                  </a:lnTo>
                  <a:lnTo>
                    <a:pt x="11472" y="10870"/>
                  </a:lnTo>
                  <a:lnTo>
                    <a:pt x="11472" y="9982"/>
                  </a:lnTo>
                  <a:lnTo>
                    <a:pt x="14862" y="9982"/>
                  </a:lnTo>
                  <a:lnTo>
                    <a:pt x="14862" y="10870"/>
                  </a:lnTo>
                  <a:lnTo>
                    <a:pt x="14244" y="10870"/>
                  </a:lnTo>
                  <a:lnTo>
                    <a:pt x="14244" y="17766"/>
                  </a:lnTo>
                  <a:lnTo>
                    <a:pt x="14862" y="17766"/>
                  </a:lnTo>
                  <a:lnTo>
                    <a:pt x="14862" y="18631"/>
                  </a:lnTo>
                  <a:lnTo>
                    <a:pt x="11472" y="18631"/>
                  </a:lnTo>
                  <a:lnTo>
                    <a:pt x="11472" y="17766"/>
                  </a:lnTo>
                  <a:lnTo>
                    <a:pt x="12090" y="17766"/>
                  </a:lnTo>
                  <a:close/>
                  <a:moveTo>
                    <a:pt x="12900" y="17766"/>
                  </a:moveTo>
                  <a:lnTo>
                    <a:pt x="13455" y="17766"/>
                  </a:lnTo>
                  <a:lnTo>
                    <a:pt x="13455" y="10870"/>
                  </a:lnTo>
                  <a:lnTo>
                    <a:pt x="12900" y="10870"/>
                  </a:lnTo>
                  <a:lnTo>
                    <a:pt x="12900" y="17766"/>
                  </a:lnTo>
                  <a:close/>
                  <a:moveTo>
                    <a:pt x="16824" y="17766"/>
                  </a:moveTo>
                  <a:lnTo>
                    <a:pt x="16824" y="10870"/>
                  </a:lnTo>
                  <a:lnTo>
                    <a:pt x="16205" y="10870"/>
                  </a:lnTo>
                  <a:lnTo>
                    <a:pt x="16205" y="9982"/>
                  </a:lnTo>
                  <a:lnTo>
                    <a:pt x="19574" y="9982"/>
                  </a:lnTo>
                  <a:lnTo>
                    <a:pt x="19574" y="10870"/>
                  </a:lnTo>
                  <a:lnTo>
                    <a:pt x="18956" y="10870"/>
                  </a:lnTo>
                  <a:lnTo>
                    <a:pt x="18956" y="17766"/>
                  </a:lnTo>
                  <a:lnTo>
                    <a:pt x="19574" y="17766"/>
                  </a:lnTo>
                  <a:lnTo>
                    <a:pt x="19574" y="18631"/>
                  </a:lnTo>
                  <a:lnTo>
                    <a:pt x="16205" y="18631"/>
                  </a:lnTo>
                  <a:lnTo>
                    <a:pt x="16205" y="17766"/>
                  </a:lnTo>
                  <a:lnTo>
                    <a:pt x="16824" y="17766"/>
                  </a:lnTo>
                  <a:close/>
                  <a:moveTo>
                    <a:pt x="17613" y="17766"/>
                  </a:moveTo>
                  <a:lnTo>
                    <a:pt x="18167" y="17766"/>
                  </a:lnTo>
                  <a:lnTo>
                    <a:pt x="18167" y="10870"/>
                  </a:lnTo>
                  <a:lnTo>
                    <a:pt x="17613" y="10870"/>
                  </a:lnTo>
                  <a:lnTo>
                    <a:pt x="17613" y="17766"/>
                  </a:lnTo>
                  <a:close/>
                  <a:moveTo>
                    <a:pt x="20982" y="9374"/>
                  </a:moveTo>
                  <a:lnTo>
                    <a:pt x="618" y="9374"/>
                  </a:lnTo>
                  <a:lnTo>
                    <a:pt x="618" y="8673"/>
                  </a:lnTo>
                  <a:cubicBezTo>
                    <a:pt x="618" y="6335"/>
                    <a:pt x="2324" y="4418"/>
                    <a:pt x="4435" y="4348"/>
                  </a:cubicBezTo>
                  <a:cubicBezTo>
                    <a:pt x="4947" y="1800"/>
                    <a:pt x="6994" y="0"/>
                    <a:pt x="9403" y="0"/>
                  </a:cubicBezTo>
                  <a:cubicBezTo>
                    <a:pt x="11386" y="0"/>
                    <a:pt x="13135" y="1216"/>
                    <a:pt x="13988" y="3132"/>
                  </a:cubicBezTo>
                  <a:cubicBezTo>
                    <a:pt x="14329" y="3039"/>
                    <a:pt x="14670" y="2992"/>
                    <a:pt x="15033" y="2992"/>
                  </a:cubicBezTo>
                  <a:cubicBezTo>
                    <a:pt x="16483" y="2992"/>
                    <a:pt x="17762" y="3881"/>
                    <a:pt x="18402" y="5306"/>
                  </a:cubicBezTo>
                  <a:cubicBezTo>
                    <a:pt x="19873" y="5587"/>
                    <a:pt x="20960" y="6990"/>
                    <a:pt x="20982" y="8649"/>
                  </a:cubicBezTo>
                  <a:lnTo>
                    <a:pt x="20982" y="9374"/>
                  </a:lnTo>
                  <a:close/>
                  <a:moveTo>
                    <a:pt x="20193" y="8509"/>
                  </a:moveTo>
                  <a:cubicBezTo>
                    <a:pt x="20107" y="7270"/>
                    <a:pt x="19212" y="6265"/>
                    <a:pt x="18082" y="6125"/>
                  </a:cubicBezTo>
                  <a:lnTo>
                    <a:pt x="17847" y="6101"/>
                  </a:lnTo>
                  <a:lnTo>
                    <a:pt x="17741" y="5868"/>
                  </a:lnTo>
                  <a:cubicBezTo>
                    <a:pt x="17293" y="4652"/>
                    <a:pt x="16227" y="3857"/>
                    <a:pt x="15033" y="3857"/>
                  </a:cubicBezTo>
                  <a:cubicBezTo>
                    <a:pt x="14649" y="3857"/>
                    <a:pt x="14286" y="3927"/>
                    <a:pt x="13924" y="4091"/>
                  </a:cubicBezTo>
                  <a:lnTo>
                    <a:pt x="13561" y="4255"/>
                  </a:lnTo>
                  <a:lnTo>
                    <a:pt x="13412" y="3834"/>
                  </a:lnTo>
                  <a:cubicBezTo>
                    <a:pt x="12751" y="2034"/>
                    <a:pt x="11173" y="865"/>
                    <a:pt x="9403" y="865"/>
                  </a:cubicBezTo>
                  <a:cubicBezTo>
                    <a:pt x="7292" y="865"/>
                    <a:pt x="5480" y="2595"/>
                    <a:pt x="5139" y="4862"/>
                  </a:cubicBezTo>
                  <a:lnTo>
                    <a:pt x="5096" y="5236"/>
                  </a:lnTo>
                  <a:lnTo>
                    <a:pt x="4542" y="5236"/>
                  </a:lnTo>
                  <a:cubicBezTo>
                    <a:pt x="2879" y="5236"/>
                    <a:pt x="1493" y="6686"/>
                    <a:pt x="1429" y="8509"/>
                  </a:cubicBezTo>
                  <a:lnTo>
                    <a:pt x="20193" y="8509"/>
                  </a:lnTo>
                  <a:close/>
                  <a:moveTo>
                    <a:pt x="12559" y="5610"/>
                  </a:moveTo>
                  <a:cubicBezTo>
                    <a:pt x="12559" y="6662"/>
                    <a:pt x="11770" y="7527"/>
                    <a:pt x="10811" y="7527"/>
                  </a:cubicBezTo>
                  <a:cubicBezTo>
                    <a:pt x="9851" y="7527"/>
                    <a:pt x="9062" y="6662"/>
                    <a:pt x="9062" y="5610"/>
                  </a:cubicBezTo>
                  <a:cubicBezTo>
                    <a:pt x="9062" y="4558"/>
                    <a:pt x="9851" y="3694"/>
                    <a:pt x="10811" y="3694"/>
                  </a:cubicBezTo>
                  <a:cubicBezTo>
                    <a:pt x="11770" y="3694"/>
                    <a:pt x="12559" y="4558"/>
                    <a:pt x="12559" y="5610"/>
                  </a:cubicBezTo>
                  <a:close/>
                  <a:moveTo>
                    <a:pt x="11749" y="5610"/>
                  </a:moveTo>
                  <a:cubicBezTo>
                    <a:pt x="11749" y="5049"/>
                    <a:pt x="11344" y="4582"/>
                    <a:pt x="10811" y="4582"/>
                  </a:cubicBezTo>
                  <a:cubicBezTo>
                    <a:pt x="10299" y="4582"/>
                    <a:pt x="9851" y="5049"/>
                    <a:pt x="9851" y="5610"/>
                  </a:cubicBezTo>
                  <a:cubicBezTo>
                    <a:pt x="9851" y="6195"/>
                    <a:pt x="10299" y="6662"/>
                    <a:pt x="10811" y="6662"/>
                  </a:cubicBezTo>
                  <a:cubicBezTo>
                    <a:pt x="11344" y="6662"/>
                    <a:pt x="11749" y="6195"/>
                    <a:pt x="11749" y="5610"/>
                  </a:cubicBezTo>
                  <a:close/>
                </a:path>
              </a:pathLst>
            </a:custGeom>
            <a:solidFill>
              <a:schemeClr val="bg1"/>
            </a:solidFill>
            <a:ln w="12700">
              <a:noFill/>
            </a:ln>
          </p:spPr>
          <p:style>
            <a:lnRef idx="0">
              <a:scrgbClr r="0" g="0" b="0"/>
            </a:lnRef>
            <a:fillRef idx="0">
              <a:scrgbClr r="0" g="0" b="0"/>
            </a:fillRef>
            <a:effectRef idx="0">
              <a:scrgbClr r="0" g="0" b="0"/>
            </a:effectRef>
            <a:fontRef idx="minor"/>
          </p:style>
          <p:txBody>
            <a:bodyPr/>
            <a:lstStyle/>
            <a:p>
              <a:endParaRPr lang="en-GB" sz="3600"/>
            </a:p>
          </p:txBody>
        </p:sp>
        <p:grpSp>
          <p:nvGrpSpPr>
            <p:cNvPr id="201" name="Group 213">
              <a:extLst>
                <a:ext uri="{FF2B5EF4-FFF2-40B4-BE49-F238E27FC236}">
                  <a16:creationId xmlns:a16="http://schemas.microsoft.com/office/drawing/2014/main" id="{19BE6DCD-F47A-3F9D-4812-B5CAA1A49069}"/>
                </a:ext>
              </a:extLst>
            </p:cNvPr>
            <p:cNvGrpSpPr/>
            <p:nvPr/>
          </p:nvGrpSpPr>
          <p:grpSpPr>
            <a:xfrm>
              <a:off x="4197600" y="1226880"/>
              <a:ext cx="665640" cy="480385"/>
              <a:chOff x="4197600" y="1226880"/>
              <a:chExt cx="665640" cy="480385"/>
            </a:xfrm>
          </p:grpSpPr>
          <p:sp>
            <p:nvSpPr>
              <p:cNvPr id="202" name="Shape">
                <a:extLst>
                  <a:ext uri="{FF2B5EF4-FFF2-40B4-BE49-F238E27FC236}">
                    <a16:creationId xmlns:a16="http://schemas.microsoft.com/office/drawing/2014/main" id="{94CB6D39-D40C-82E3-F52D-06C37AD82B23}"/>
                  </a:ext>
                </a:extLst>
              </p:cNvPr>
              <p:cNvSpPr/>
              <p:nvPr/>
            </p:nvSpPr>
            <p:spPr>
              <a:xfrm>
                <a:off x="4415400" y="1226880"/>
                <a:ext cx="241200" cy="204120"/>
              </a:xfrm>
              <a:custGeom>
                <a:avLst/>
                <a:gdLst/>
                <a:ahLst/>
                <a:cxnLst/>
                <a:rect l="l" t="t" r="r" b="b"/>
                <a:pathLst>
                  <a:path w="21600" h="21600">
                    <a:moveTo>
                      <a:pt x="20139" y="6896"/>
                    </a:moveTo>
                    <a:lnTo>
                      <a:pt x="1461" y="6896"/>
                    </a:lnTo>
                    <a:lnTo>
                      <a:pt x="1461" y="19876"/>
                    </a:lnTo>
                    <a:lnTo>
                      <a:pt x="20139" y="19876"/>
                    </a:lnTo>
                    <a:lnTo>
                      <a:pt x="20139" y="6896"/>
                    </a:lnTo>
                    <a:close/>
                    <a:moveTo>
                      <a:pt x="19346" y="9901"/>
                    </a:moveTo>
                    <a:lnTo>
                      <a:pt x="17572" y="9901"/>
                    </a:lnTo>
                    <a:lnTo>
                      <a:pt x="17572" y="7808"/>
                    </a:lnTo>
                    <a:lnTo>
                      <a:pt x="19346" y="7808"/>
                    </a:lnTo>
                    <a:lnTo>
                      <a:pt x="19346" y="9901"/>
                    </a:lnTo>
                    <a:close/>
                    <a:moveTo>
                      <a:pt x="9141" y="12930"/>
                    </a:moveTo>
                    <a:lnTo>
                      <a:pt x="7367" y="12930"/>
                    </a:lnTo>
                    <a:lnTo>
                      <a:pt x="7367" y="10837"/>
                    </a:lnTo>
                    <a:lnTo>
                      <a:pt x="9141" y="10837"/>
                    </a:lnTo>
                    <a:lnTo>
                      <a:pt x="9141" y="12930"/>
                    </a:lnTo>
                    <a:close/>
                    <a:moveTo>
                      <a:pt x="9913" y="10837"/>
                    </a:moveTo>
                    <a:lnTo>
                      <a:pt x="11687" y="10837"/>
                    </a:lnTo>
                    <a:lnTo>
                      <a:pt x="11687" y="12930"/>
                    </a:lnTo>
                    <a:lnTo>
                      <a:pt x="9913" y="12930"/>
                    </a:lnTo>
                    <a:lnTo>
                      <a:pt x="9913" y="10837"/>
                    </a:lnTo>
                    <a:close/>
                    <a:moveTo>
                      <a:pt x="9141" y="13842"/>
                    </a:moveTo>
                    <a:lnTo>
                      <a:pt x="9141" y="15935"/>
                    </a:lnTo>
                    <a:lnTo>
                      <a:pt x="7367" y="15935"/>
                    </a:lnTo>
                    <a:lnTo>
                      <a:pt x="7367" y="13842"/>
                    </a:lnTo>
                    <a:lnTo>
                      <a:pt x="9141" y="13842"/>
                    </a:lnTo>
                    <a:close/>
                    <a:moveTo>
                      <a:pt x="9913" y="13842"/>
                    </a:moveTo>
                    <a:lnTo>
                      <a:pt x="11687" y="13842"/>
                    </a:lnTo>
                    <a:lnTo>
                      <a:pt x="11687" y="15935"/>
                    </a:lnTo>
                    <a:lnTo>
                      <a:pt x="9913" y="15935"/>
                    </a:lnTo>
                    <a:lnTo>
                      <a:pt x="9913" y="13842"/>
                    </a:lnTo>
                    <a:close/>
                    <a:moveTo>
                      <a:pt x="12480" y="13842"/>
                    </a:moveTo>
                    <a:lnTo>
                      <a:pt x="14254" y="13842"/>
                    </a:lnTo>
                    <a:lnTo>
                      <a:pt x="14254" y="15935"/>
                    </a:lnTo>
                    <a:lnTo>
                      <a:pt x="12480" y="15935"/>
                    </a:lnTo>
                    <a:lnTo>
                      <a:pt x="12480" y="13842"/>
                    </a:lnTo>
                    <a:close/>
                    <a:moveTo>
                      <a:pt x="12480" y="12930"/>
                    </a:moveTo>
                    <a:lnTo>
                      <a:pt x="12480" y="10837"/>
                    </a:lnTo>
                    <a:lnTo>
                      <a:pt x="14254" y="10837"/>
                    </a:lnTo>
                    <a:lnTo>
                      <a:pt x="14254" y="12930"/>
                    </a:lnTo>
                    <a:lnTo>
                      <a:pt x="12480" y="12930"/>
                    </a:lnTo>
                    <a:close/>
                    <a:moveTo>
                      <a:pt x="15026" y="10837"/>
                    </a:moveTo>
                    <a:lnTo>
                      <a:pt x="16800" y="10837"/>
                    </a:lnTo>
                    <a:lnTo>
                      <a:pt x="16800" y="12930"/>
                    </a:lnTo>
                    <a:lnTo>
                      <a:pt x="15026" y="12930"/>
                    </a:lnTo>
                    <a:lnTo>
                      <a:pt x="15026" y="10837"/>
                    </a:lnTo>
                    <a:close/>
                    <a:moveTo>
                      <a:pt x="15026" y="7808"/>
                    </a:moveTo>
                    <a:lnTo>
                      <a:pt x="16800" y="7808"/>
                    </a:lnTo>
                    <a:lnTo>
                      <a:pt x="16800" y="9901"/>
                    </a:lnTo>
                    <a:lnTo>
                      <a:pt x="15026" y="9901"/>
                    </a:lnTo>
                    <a:lnTo>
                      <a:pt x="15026" y="7808"/>
                    </a:lnTo>
                    <a:close/>
                    <a:moveTo>
                      <a:pt x="14254" y="9901"/>
                    </a:moveTo>
                    <a:lnTo>
                      <a:pt x="12480" y="9901"/>
                    </a:lnTo>
                    <a:lnTo>
                      <a:pt x="12480" y="7808"/>
                    </a:lnTo>
                    <a:lnTo>
                      <a:pt x="14254" y="7808"/>
                    </a:lnTo>
                    <a:lnTo>
                      <a:pt x="14254" y="9901"/>
                    </a:lnTo>
                    <a:close/>
                    <a:moveTo>
                      <a:pt x="11687" y="9901"/>
                    </a:moveTo>
                    <a:lnTo>
                      <a:pt x="9913" y="9901"/>
                    </a:lnTo>
                    <a:lnTo>
                      <a:pt x="9913" y="7808"/>
                    </a:lnTo>
                    <a:lnTo>
                      <a:pt x="11687" y="7808"/>
                    </a:lnTo>
                    <a:lnTo>
                      <a:pt x="11687" y="9901"/>
                    </a:lnTo>
                    <a:close/>
                    <a:moveTo>
                      <a:pt x="9141" y="9901"/>
                    </a:moveTo>
                    <a:lnTo>
                      <a:pt x="7367" y="9901"/>
                    </a:lnTo>
                    <a:lnTo>
                      <a:pt x="7367" y="7808"/>
                    </a:lnTo>
                    <a:lnTo>
                      <a:pt x="9141" y="7808"/>
                    </a:lnTo>
                    <a:lnTo>
                      <a:pt x="9141" y="9901"/>
                    </a:lnTo>
                    <a:close/>
                    <a:moveTo>
                      <a:pt x="6574" y="9901"/>
                    </a:moveTo>
                    <a:lnTo>
                      <a:pt x="4800" y="9901"/>
                    </a:lnTo>
                    <a:lnTo>
                      <a:pt x="4800" y="7808"/>
                    </a:lnTo>
                    <a:lnTo>
                      <a:pt x="6574" y="7808"/>
                    </a:lnTo>
                    <a:lnTo>
                      <a:pt x="6574" y="9901"/>
                    </a:lnTo>
                    <a:close/>
                    <a:moveTo>
                      <a:pt x="6574" y="12930"/>
                    </a:moveTo>
                    <a:lnTo>
                      <a:pt x="4800" y="12930"/>
                    </a:lnTo>
                    <a:lnTo>
                      <a:pt x="4800" y="10837"/>
                    </a:lnTo>
                    <a:lnTo>
                      <a:pt x="6574" y="10837"/>
                    </a:lnTo>
                    <a:lnTo>
                      <a:pt x="6574" y="12930"/>
                    </a:lnTo>
                    <a:close/>
                    <a:moveTo>
                      <a:pt x="4028" y="12930"/>
                    </a:moveTo>
                    <a:lnTo>
                      <a:pt x="2254" y="12930"/>
                    </a:lnTo>
                    <a:lnTo>
                      <a:pt x="2254" y="10837"/>
                    </a:lnTo>
                    <a:lnTo>
                      <a:pt x="4028" y="10837"/>
                    </a:lnTo>
                    <a:lnTo>
                      <a:pt x="4028" y="12930"/>
                    </a:lnTo>
                    <a:close/>
                    <a:moveTo>
                      <a:pt x="4028" y="13842"/>
                    </a:moveTo>
                    <a:lnTo>
                      <a:pt x="4028" y="15935"/>
                    </a:lnTo>
                    <a:lnTo>
                      <a:pt x="2254" y="15935"/>
                    </a:lnTo>
                    <a:lnTo>
                      <a:pt x="2254" y="13842"/>
                    </a:lnTo>
                    <a:lnTo>
                      <a:pt x="4028" y="13842"/>
                    </a:lnTo>
                    <a:close/>
                    <a:moveTo>
                      <a:pt x="4800" y="13842"/>
                    </a:moveTo>
                    <a:lnTo>
                      <a:pt x="6574" y="13842"/>
                    </a:lnTo>
                    <a:lnTo>
                      <a:pt x="6574" y="15935"/>
                    </a:lnTo>
                    <a:lnTo>
                      <a:pt x="4800" y="15935"/>
                    </a:lnTo>
                    <a:lnTo>
                      <a:pt x="4800" y="13842"/>
                    </a:lnTo>
                    <a:close/>
                    <a:moveTo>
                      <a:pt x="6574" y="16847"/>
                    </a:moveTo>
                    <a:lnTo>
                      <a:pt x="6574" y="18940"/>
                    </a:lnTo>
                    <a:lnTo>
                      <a:pt x="4800" y="18940"/>
                    </a:lnTo>
                    <a:lnTo>
                      <a:pt x="4800" y="16847"/>
                    </a:lnTo>
                    <a:lnTo>
                      <a:pt x="6574" y="16847"/>
                    </a:lnTo>
                    <a:close/>
                    <a:moveTo>
                      <a:pt x="7367" y="16847"/>
                    </a:moveTo>
                    <a:lnTo>
                      <a:pt x="9141" y="16847"/>
                    </a:lnTo>
                    <a:lnTo>
                      <a:pt x="9141" y="18940"/>
                    </a:lnTo>
                    <a:lnTo>
                      <a:pt x="7367" y="18940"/>
                    </a:lnTo>
                    <a:lnTo>
                      <a:pt x="7367" y="16847"/>
                    </a:lnTo>
                    <a:close/>
                    <a:moveTo>
                      <a:pt x="9913" y="16847"/>
                    </a:moveTo>
                    <a:lnTo>
                      <a:pt x="11687" y="16847"/>
                    </a:lnTo>
                    <a:lnTo>
                      <a:pt x="11687" y="18940"/>
                    </a:lnTo>
                    <a:lnTo>
                      <a:pt x="9913" y="18940"/>
                    </a:lnTo>
                    <a:lnTo>
                      <a:pt x="9913" y="16847"/>
                    </a:lnTo>
                    <a:close/>
                    <a:moveTo>
                      <a:pt x="12480" y="16847"/>
                    </a:moveTo>
                    <a:lnTo>
                      <a:pt x="14254" y="16847"/>
                    </a:lnTo>
                    <a:lnTo>
                      <a:pt x="14254" y="18940"/>
                    </a:lnTo>
                    <a:lnTo>
                      <a:pt x="12480" y="18940"/>
                    </a:lnTo>
                    <a:lnTo>
                      <a:pt x="12480" y="16847"/>
                    </a:lnTo>
                    <a:close/>
                    <a:moveTo>
                      <a:pt x="15026" y="16847"/>
                    </a:moveTo>
                    <a:lnTo>
                      <a:pt x="16800" y="16847"/>
                    </a:lnTo>
                    <a:lnTo>
                      <a:pt x="16800" y="18940"/>
                    </a:lnTo>
                    <a:lnTo>
                      <a:pt x="15026" y="18940"/>
                    </a:lnTo>
                    <a:lnTo>
                      <a:pt x="15026" y="16847"/>
                    </a:lnTo>
                    <a:close/>
                    <a:moveTo>
                      <a:pt x="15026" y="15935"/>
                    </a:moveTo>
                    <a:lnTo>
                      <a:pt x="15026" y="13842"/>
                    </a:lnTo>
                    <a:lnTo>
                      <a:pt x="16800" y="13842"/>
                    </a:lnTo>
                    <a:lnTo>
                      <a:pt x="16800" y="15935"/>
                    </a:lnTo>
                    <a:lnTo>
                      <a:pt x="15026" y="15935"/>
                    </a:lnTo>
                    <a:close/>
                    <a:moveTo>
                      <a:pt x="17572" y="13842"/>
                    </a:moveTo>
                    <a:lnTo>
                      <a:pt x="19346" y="13842"/>
                    </a:lnTo>
                    <a:lnTo>
                      <a:pt x="19346" y="15935"/>
                    </a:lnTo>
                    <a:lnTo>
                      <a:pt x="17572" y="15935"/>
                    </a:lnTo>
                    <a:lnTo>
                      <a:pt x="17572" y="13842"/>
                    </a:lnTo>
                    <a:close/>
                    <a:moveTo>
                      <a:pt x="17572" y="12930"/>
                    </a:moveTo>
                    <a:lnTo>
                      <a:pt x="17572" y="10837"/>
                    </a:lnTo>
                    <a:lnTo>
                      <a:pt x="19346" y="10837"/>
                    </a:lnTo>
                    <a:lnTo>
                      <a:pt x="19346" y="12930"/>
                    </a:lnTo>
                    <a:lnTo>
                      <a:pt x="17572" y="12930"/>
                    </a:lnTo>
                    <a:close/>
                    <a:moveTo>
                      <a:pt x="4028" y="7808"/>
                    </a:moveTo>
                    <a:lnTo>
                      <a:pt x="4028" y="9901"/>
                    </a:lnTo>
                    <a:lnTo>
                      <a:pt x="2254" y="9901"/>
                    </a:lnTo>
                    <a:lnTo>
                      <a:pt x="2254" y="7808"/>
                    </a:lnTo>
                    <a:lnTo>
                      <a:pt x="4028" y="7808"/>
                    </a:lnTo>
                    <a:close/>
                    <a:moveTo>
                      <a:pt x="2254" y="16847"/>
                    </a:moveTo>
                    <a:lnTo>
                      <a:pt x="4028" y="16847"/>
                    </a:lnTo>
                    <a:lnTo>
                      <a:pt x="4028" y="18940"/>
                    </a:lnTo>
                    <a:lnTo>
                      <a:pt x="2254" y="18940"/>
                    </a:lnTo>
                    <a:lnTo>
                      <a:pt x="2254" y="16847"/>
                    </a:lnTo>
                    <a:close/>
                    <a:moveTo>
                      <a:pt x="17572" y="18940"/>
                    </a:moveTo>
                    <a:lnTo>
                      <a:pt x="17572" y="16847"/>
                    </a:lnTo>
                    <a:lnTo>
                      <a:pt x="19346" y="16847"/>
                    </a:lnTo>
                    <a:lnTo>
                      <a:pt x="19346" y="18940"/>
                    </a:lnTo>
                    <a:lnTo>
                      <a:pt x="17572" y="18940"/>
                    </a:lnTo>
                    <a:close/>
                    <a:moveTo>
                      <a:pt x="21600" y="0"/>
                    </a:moveTo>
                    <a:lnTo>
                      <a:pt x="0" y="0"/>
                    </a:lnTo>
                    <a:lnTo>
                      <a:pt x="0" y="21600"/>
                    </a:lnTo>
                    <a:lnTo>
                      <a:pt x="21600" y="21600"/>
                    </a:lnTo>
                    <a:lnTo>
                      <a:pt x="21600" y="0"/>
                    </a:lnTo>
                    <a:close/>
                    <a:moveTo>
                      <a:pt x="20807" y="20664"/>
                    </a:moveTo>
                    <a:lnTo>
                      <a:pt x="793" y="20664"/>
                    </a:lnTo>
                    <a:lnTo>
                      <a:pt x="793" y="911"/>
                    </a:lnTo>
                    <a:lnTo>
                      <a:pt x="20807" y="911"/>
                    </a:lnTo>
                    <a:lnTo>
                      <a:pt x="20807" y="20664"/>
                    </a:lnTo>
                    <a:close/>
                  </a:path>
                </a:pathLst>
              </a:custGeom>
              <a:solidFill>
                <a:srgbClr val="0A3A7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03" name="TextBox 215">
                <a:extLst>
                  <a:ext uri="{FF2B5EF4-FFF2-40B4-BE49-F238E27FC236}">
                    <a16:creationId xmlns:a16="http://schemas.microsoft.com/office/drawing/2014/main" id="{C08EDAE5-7228-FEB8-CDC5-D849B88247BC}"/>
                  </a:ext>
                </a:extLst>
              </p:cNvPr>
              <p:cNvSpPr/>
              <p:nvPr/>
            </p:nvSpPr>
            <p:spPr>
              <a:xfrm>
                <a:off x="4197600" y="1431720"/>
                <a:ext cx="6656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Release</a:t>
                </a:r>
                <a:endParaRPr lang="en-GB" sz="1200" spc="-2">
                  <a:latin typeface="Arial"/>
                </a:endParaRPr>
              </a:p>
              <a:p>
                <a:pPr algn="ctr">
                  <a:tabLst>
                    <a:tab pos="0" algn="l"/>
                  </a:tabLst>
                </a:pPr>
                <a:r>
                  <a:rPr lang="en-GB" sz="1200" spc="-2">
                    <a:solidFill>
                      <a:srgbClr val="000000"/>
                    </a:solidFill>
                    <a:latin typeface="Arial"/>
                    <a:ea typeface="DejaVu Sans"/>
                  </a:rPr>
                  <a:t>Planning</a:t>
                </a:r>
                <a:endParaRPr lang="en-GB" sz="1200" spc="-2">
                  <a:latin typeface="Arial"/>
                </a:endParaRPr>
              </a:p>
            </p:txBody>
          </p:sp>
        </p:grpSp>
      </p:grpSp>
      <p:grpSp>
        <p:nvGrpSpPr>
          <p:cNvPr id="204" name="Group 216">
            <a:extLst>
              <a:ext uri="{FF2B5EF4-FFF2-40B4-BE49-F238E27FC236}">
                <a16:creationId xmlns:a16="http://schemas.microsoft.com/office/drawing/2014/main" id="{69B09FAE-8E5F-F9DE-B471-49F36A7B272C}"/>
              </a:ext>
            </a:extLst>
          </p:cNvPr>
          <p:cNvGrpSpPr/>
          <p:nvPr/>
        </p:nvGrpSpPr>
        <p:grpSpPr>
          <a:xfrm>
            <a:off x="753840" y="6151104"/>
            <a:ext cx="3515040" cy="3220560"/>
            <a:chOff x="376920" y="1859400"/>
            <a:chExt cx="1757520" cy="1610280"/>
          </a:xfrm>
        </p:grpSpPr>
        <p:sp>
          <p:nvSpPr>
            <p:cNvPr id="205" name="Rectangle 217">
              <a:extLst>
                <a:ext uri="{FF2B5EF4-FFF2-40B4-BE49-F238E27FC236}">
                  <a16:creationId xmlns:a16="http://schemas.microsoft.com/office/drawing/2014/main" id="{DCE7D46A-1DEB-9D17-4F0D-7C9D7D620D37}"/>
                </a:ext>
              </a:extLst>
            </p:cNvPr>
            <p:cNvSpPr/>
            <p:nvPr/>
          </p:nvSpPr>
          <p:spPr>
            <a:xfrm>
              <a:off x="407520" y="2219400"/>
              <a:ext cx="1540800" cy="1250280"/>
            </a:xfrm>
            <a:prstGeom prst="rect">
              <a:avLst/>
            </a:prstGeom>
            <a:noFill/>
            <a:ln w="28575">
              <a:solidFill>
                <a:srgbClr val="EB0000"/>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206" name="Arrow: Pentagon 218">
              <a:extLst>
                <a:ext uri="{FF2B5EF4-FFF2-40B4-BE49-F238E27FC236}">
                  <a16:creationId xmlns:a16="http://schemas.microsoft.com/office/drawing/2014/main" id="{9130E9B4-9807-31BC-EBA2-AD37491A9D86}"/>
                </a:ext>
              </a:extLst>
            </p:cNvPr>
            <p:cNvSpPr/>
            <p:nvPr/>
          </p:nvSpPr>
          <p:spPr>
            <a:xfrm>
              <a:off x="390240" y="1859400"/>
              <a:ext cx="1744200" cy="348840"/>
            </a:xfrm>
            <a:prstGeom prst="homePlate">
              <a:avLst>
                <a:gd name="adj" fmla="val 50000"/>
              </a:avLst>
            </a:prstGeom>
            <a:solidFill>
              <a:schemeClr val="tx2"/>
            </a:solidFill>
            <a:ln>
              <a:solidFill>
                <a:srgbClr val="EB0000"/>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ENGAGE</a:t>
              </a:r>
              <a:endParaRPr lang="en-GB" spc="-2">
                <a:latin typeface="Arial"/>
              </a:endParaRPr>
            </a:p>
          </p:txBody>
        </p:sp>
        <p:sp>
          <p:nvSpPr>
            <p:cNvPr id="207" name="Freeform 122">
              <a:extLst>
                <a:ext uri="{FF2B5EF4-FFF2-40B4-BE49-F238E27FC236}">
                  <a16:creationId xmlns:a16="http://schemas.microsoft.com/office/drawing/2014/main" id="{27490939-BF7C-20FB-75CA-274CCA03CE8B}"/>
                </a:ext>
              </a:extLst>
            </p:cNvPr>
            <p:cNvSpPr/>
            <p:nvPr/>
          </p:nvSpPr>
          <p:spPr>
            <a:xfrm>
              <a:off x="1705680" y="1887480"/>
              <a:ext cx="204120" cy="284040"/>
            </a:xfrm>
            <a:custGeom>
              <a:avLst/>
              <a:gdLst/>
              <a:ahLst/>
              <a:cxnLst/>
              <a:rect l="l" t="t" r="r" b="b"/>
              <a:pathLst>
                <a:path w="736" h="1025">
                  <a:moveTo>
                    <a:pt x="504" y="91"/>
                  </a:moveTo>
                  <a:lnTo>
                    <a:pt x="462" y="91"/>
                  </a:lnTo>
                  <a:cubicBezTo>
                    <a:pt x="460" y="41"/>
                    <a:pt x="418" y="0"/>
                    <a:pt x="367" y="0"/>
                  </a:cubicBezTo>
                  <a:cubicBezTo>
                    <a:pt x="316" y="0"/>
                    <a:pt x="275" y="41"/>
                    <a:pt x="273" y="91"/>
                  </a:cubicBezTo>
                  <a:lnTo>
                    <a:pt x="231" y="91"/>
                  </a:lnTo>
                  <a:cubicBezTo>
                    <a:pt x="204" y="91"/>
                    <a:pt x="179" y="103"/>
                    <a:pt x="162" y="122"/>
                  </a:cubicBezTo>
                  <a:lnTo>
                    <a:pt x="0" y="122"/>
                  </a:lnTo>
                  <a:lnTo>
                    <a:pt x="0" y="1024"/>
                  </a:lnTo>
                  <a:lnTo>
                    <a:pt x="735" y="1024"/>
                  </a:lnTo>
                  <a:lnTo>
                    <a:pt x="735" y="122"/>
                  </a:lnTo>
                  <a:lnTo>
                    <a:pt x="573" y="122"/>
                  </a:lnTo>
                  <a:cubicBezTo>
                    <a:pt x="556" y="103"/>
                    <a:pt x="531" y="91"/>
                    <a:pt x="504" y="91"/>
                  </a:cubicBezTo>
                  <a:close/>
                  <a:moveTo>
                    <a:pt x="637" y="220"/>
                  </a:moveTo>
                  <a:lnTo>
                    <a:pt x="637" y="926"/>
                  </a:lnTo>
                  <a:lnTo>
                    <a:pt x="98" y="926"/>
                  </a:lnTo>
                  <a:lnTo>
                    <a:pt x="98" y="220"/>
                  </a:lnTo>
                  <a:lnTo>
                    <a:pt x="136" y="220"/>
                  </a:lnTo>
                  <a:lnTo>
                    <a:pt x="136" y="250"/>
                  </a:lnTo>
                  <a:lnTo>
                    <a:pt x="598" y="250"/>
                  </a:lnTo>
                  <a:lnTo>
                    <a:pt x="598" y="220"/>
                  </a:lnTo>
                  <a:lnTo>
                    <a:pt x="637" y="220"/>
                  </a:lnTo>
                  <a:close/>
                  <a:moveTo>
                    <a:pt x="174" y="186"/>
                  </a:moveTo>
                  <a:cubicBezTo>
                    <a:pt x="174" y="154"/>
                    <a:pt x="199" y="129"/>
                    <a:pt x="231" y="129"/>
                  </a:cubicBezTo>
                  <a:lnTo>
                    <a:pt x="310" y="129"/>
                  </a:lnTo>
                  <a:lnTo>
                    <a:pt x="310" y="95"/>
                  </a:lnTo>
                  <a:cubicBezTo>
                    <a:pt x="310" y="63"/>
                    <a:pt x="335" y="38"/>
                    <a:pt x="367" y="38"/>
                  </a:cubicBezTo>
                  <a:cubicBezTo>
                    <a:pt x="398" y="38"/>
                    <a:pt x="425" y="63"/>
                    <a:pt x="425" y="95"/>
                  </a:cubicBezTo>
                  <a:lnTo>
                    <a:pt x="425" y="129"/>
                  </a:lnTo>
                  <a:lnTo>
                    <a:pt x="504" y="129"/>
                  </a:lnTo>
                  <a:cubicBezTo>
                    <a:pt x="535" y="129"/>
                    <a:pt x="561" y="154"/>
                    <a:pt x="561" y="186"/>
                  </a:cubicBezTo>
                  <a:lnTo>
                    <a:pt x="561" y="213"/>
                  </a:lnTo>
                  <a:lnTo>
                    <a:pt x="174" y="213"/>
                  </a:lnTo>
                  <a:lnTo>
                    <a:pt x="174" y="186"/>
                  </a:lnTo>
                  <a:close/>
                  <a:moveTo>
                    <a:pt x="698" y="986"/>
                  </a:moveTo>
                  <a:lnTo>
                    <a:pt x="37" y="986"/>
                  </a:lnTo>
                  <a:lnTo>
                    <a:pt x="37" y="159"/>
                  </a:lnTo>
                  <a:lnTo>
                    <a:pt x="141" y="159"/>
                  </a:lnTo>
                  <a:cubicBezTo>
                    <a:pt x="138" y="167"/>
                    <a:pt x="137" y="174"/>
                    <a:pt x="137" y="182"/>
                  </a:cubicBezTo>
                  <a:lnTo>
                    <a:pt x="60" y="182"/>
                  </a:lnTo>
                  <a:lnTo>
                    <a:pt x="60" y="963"/>
                  </a:lnTo>
                  <a:lnTo>
                    <a:pt x="674" y="963"/>
                  </a:lnTo>
                  <a:lnTo>
                    <a:pt x="674" y="182"/>
                  </a:lnTo>
                  <a:lnTo>
                    <a:pt x="598" y="182"/>
                  </a:lnTo>
                  <a:cubicBezTo>
                    <a:pt x="598" y="174"/>
                    <a:pt x="596" y="167"/>
                    <a:pt x="594" y="159"/>
                  </a:cubicBezTo>
                  <a:lnTo>
                    <a:pt x="698" y="159"/>
                  </a:lnTo>
                  <a:lnTo>
                    <a:pt x="698" y="986"/>
                  </a:lnTo>
                  <a:close/>
                  <a:moveTo>
                    <a:pt x="390" y="95"/>
                  </a:moveTo>
                  <a:cubicBezTo>
                    <a:pt x="390" y="107"/>
                    <a:pt x="380" y="118"/>
                    <a:pt x="367" y="118"/>
                  </a:cubicBezTo>
                  <a:cubicBezTo>
                    <a:pt x="355" y="118"/>
                    <a:pt x="345" y="107"/>
                    <a:pt x="345" y="95"/>
                  </a:cubicBezTo>
                  <a:cubicBezTo>
                    <a:pt x="345" y="82"/>
                    <a:pt x="355" y="72"/>
                    <a:pt x="367" y="72"/>
                  </a:cubicBezTo>
                  <a:cubicBezTo>
                    <a:pt x="380" y="72"/>
                    <a:pt x="390" y="82"/>
                    <a:pt x="390" y="95"/>
                  </a:cubicBezTo>
                  <a:close/>
                  <a:moveTo>
                    <a:pt x="239" y="662"/>
                  </a:moveTo>
                  <a:lnTo>
                    <a:pt x="270" y="681"/>
                  </a:lnTo>
                  <a:lnTo>
                    <a:pt x="214" y="772"/>
                  </a:lnTo>
                  <a:cubicBezTo>
                    <a:pt x="211" y="777"/>
                    <a:pt x="204" y="781"/>
                    <a:pt x="198" y="781"/>
                  </a:cubicBezTo>
                  <a:cubicBezTo>
                    <a:pt x="191" y="781"/>
                    <a:pt x="186" y="777"/>
                    <a:pt x="182" y="772"/>
                  </a:cubicBezTo>
                  <a:lnTo>
                    <a:pt x="154" y="727"/>
                  </a:lnTo>
                  <a:lnTo>
                    <a:pt x="186" y="707"/>
                  </a:lnTo>
                  <a:lnTo>
                    <a:pt x="198" y="727"/>
                  </a:lnTo>
                  <a:lnTo>
                    <a:pt x="239" y="662"/>
                  </a:lnTo>
                  <a:close/>
                  <a:moveTo>
                    <a:pt x="291" y="744"/>
                  </a:moveTo>
                  <a:lnTo>
                    <a:pt x="504" y="744"/>
                  </a:lnTo>
                  <a:lnTo>
                    <a:pt x="504" y="781"/>
                  </a:lnTo>
                  <a:lnTo>
                    <a:pt x="291" y="781"/>
                  </a:lnTo>
                  <a:lnTo>
                    <a:pt x="291" y="744"/>
                  </a:lnTo>
                  <a:close/>
                  <a:moveTo>
                    <a:pt x="291" y="683"/>
                  </a:moveTo>
                  <a:lnTo>
                    <a:pt x="565" y="683"/>
                  </a:lnTo>
                  <a:lnTo>
                    <a:pt x="565" y="720"/>
                  </a:lnTo>
                  <a:lnTo>
                    <a:pt x="291" y="720"/>
                  </a:lnTo>
                  <a:lnTo>
                    <a:pt x="291" y="683"/>
                  </a:lnTo>
                  <a:close/>
                  <a:moveTo>
                    <a:pt x="239" y="495"/>
                  </a:moveTo>
                  <a:lnTo>
                    <a:pt x="270" y="514"/>
                  </a:lnTo>
                  <a:lnTo>
                    <a:pt x="214" y="605"/>
                  </a:lnTo>
                  <a:cubicBezTo>
                    <a:pt x="211" y="611"/>
                    <a:pt x="204" y="614"/>
                    <a:pt x="198" y="614"/>
                  </a:cubicBezTo>
                  <a:cubicBezTo>
                    <a:pt x="191" y="614"/>
                    <a:pt x="186" y="611"/>
                    <a:pt x="182" y="605"/>
                  </a:cubicBezTo>
                  <a:lnTo>
                    <a:pt x="154" y="560"/>
                  </a:lnTo>
                  <a:lnTo>
                    <a:pt x="186" y="540"/>
                  </a:lnTo>
                  <a:lnTo>
                    <a:pt x="198" y="560"/>
                  </a:lnTo>
                  <a:lnTo>
                    <a:pt x="239" y="495"/>
                  </a:lnTo>
                  <a:close/>
                  <a:moveTo>
                    <a:pt x="504" y="614"/>
                  </a:moveTo>
                  <a:lnTo>
                    <a:pt x="291" y="614"/>
                  </a:lnTo>
                  <a:lnTo>
                    <a:pt x="291" y="577"/>
                  </a:lnTo>
                  <a:lnTo>
                    <a:pt x="504" y="577"/>
                  </a:lnTo>
                  <a:lnTo>
                    <a:pt x="504" y="614"/>
                  </a:lnTo>
                  <a:close/>
                  <a:moveTo>
                    <a:pt x="291" y="516"/>
                  </a:moveTo>
                  <a:lnTo>
                    <a:pt x="565" y="516"/>
                  </a:lnTo>
                  <a:lnTo>
                    <a:pt x="565" y="554"/>
                  </a:lnTo>
                  <a:lnTo>
                    <a:pt x="291" y="554"/>
                  </a:lnTo>
                  <a:lnTo>
                    <a:pt x="291" y="516"/>
                  </a:lnTo>
                  <a:close/>
                  <a:moveTo>
                    <a:pt x="239" y="328"/>
                  </a:moveTo>
                  <a:lnTo>
                    <a:pt x="270" y="347"/>
                  </a:lnTo>
                  <a:lnTo>
                    <a:pt x="214" y="438"/>
                  </a:lnTo>
                  <a:cubicBezTo>
                    <a:pt x="211" y="444"/>
                    <a:pt x="204" y="447"/>
                    <a:pt x="198" y="447"/>
                  </a:cubicBezTo>
                  <a:cubicBezTo>
                    <a:pt x="191" y="447"/>
                    <a:pt x="186" y="444"/>
                    <a:pt x="182" y="438"/>
                  </a:cubicBezTo>
                  <a:lnTo>
                    <a:pt x="154" y="393"/>
                  </a:lnTo>
                  <a:lnTo>
                    <a:pt x="186" y="373"/>
                  </a:lnTo>
                  <a:lnTo>
                    <a:pt x="198" y="393"/>
                  </a:lnTo>
                  <a:lnTo>
                    <a:pt x="239" y="328"/>
                  </a:lnTo>
                  <a:close/>
                  <a:moveTo>
                    <a:pt x="504" y="447"/>
                  </a:moveTo>
                  <a:lnTo>
                    <a:pt x="291" y="447"/>
                  </a:lnTo>
                  <a:lnTo>
                    <a:pt x="291" y="410"/>
                  </a:lnTo>
                  <a:lnTo>
                    <a:pt x="504" y="410"/>
                  </a:lnTo>
                  <a:lnTo>
                    <a:pt x="504" y="447"/>
                  </a:lnTo>
                  <a:close/>
                  <a:moveTo>
                    <a:pt x="291" y="349"/>
                  </a:moveTo>
                  <a:lnTo>
                    <a:pt x="565" y="349"/>
                  </a:lnTo>
                  <a:lnTo>
                    <a:pt x="565" y="387"/>
                  </a:lnTo>
                  <a:lnTo>
                    <a:pt x="291" y="387"/>
                  </a:lnTo>
                  <a:lnTo>
                    <a:pt x="291" y="349"/>
                  </a:lnTo>
                  <a:close/>
                </a:path>
              </a:pathLst>
            </a:custGeom>
            <a:solidFill>
              <a:schemeClr val="bg1"/>
            </a:solidFill>
            <a:ln w="0">
              <a:noFill/>
            </a:ln>
          </p:spPr>
          <p:style>
            <a:lnRef idx="0">
              <a:scrgbClr r="0" g="0" b="0"/>
            </a:lnRef>
            <a:fillRef idx="0">
              <a:scrgbClr r="0" g="0" b="0"/>
            </a:fillRef>
            <a:effectRef idx="0">
              <a:scrgbClr r="0" g="0" b="0"/>
            </a:effectRef>
            <a:fontRef idx="minor"/>
          </p:style>
          <p:txBody>
            <a:bodyPr/>
            <a:lstStyle/>
            <a:p>
              <a:endParaRPr lang="en-GB" sz="3600"/>
            </a:p>
          </p:txBody>
        </p:sp>
        <p:grpSp>
          <p:nvGrpSpPr>
            <p:cNvPr id="208" name="Group 220">
              <a:extLst>
                <a:ext uri="{FF2B5EF4-FFF2-40B4-BE49-F238E27FC236}">
                  <a16:creationId xmlns:a16="http://schemas.microsoft.com/office/drawing/2014/main" id="{6421641F-11EC-22A3-E2B4-FB1D92FCE50A}"/>
                </a:ext>
              </a:extLst>
            </p:cNvPr>
            <p:cNvGrpSpPr/>
            <p:nvPr/>
          </p:nvGrpSpPr>
          <p:grpSpPr>
            <a:xfrm>
              <a:off x="875880" y="2309040"/>
              <a:ext cx="643680" cy="567318"/>
              <a:chOff x="875880" y="2309040"/>
              <a:chExt cx="643680" cy="567318"/>
            </a:xfrm>
          </p:grpSpPr>
          <p:sp>
            <p:nvSpPr>
              <p:cNvPr id="224" name="Shape">
                <a:extLst>
                  <a:ext uri="{FF2B5EF4-FFF2-40B4-BE49-F238E27FC236}">
                    <a16:creationId xmlns:a16="http://schemas.microsoft.com/office/drawing/2014/main" id="{8D126DD0-E986-6F4C-0425-FC51B7853BCD}"/>
                  </a:ext>
                </a:extLst>
              </p:cNvPr>
              <p:cNvSpPr/>
              <p:nvPr/>
            </p:nvSpPr>
            <p:spPr>
              <a:xfrm>
                <a:off x="1118520" y="230904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EB000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25" name="TextBox 277">
                <a:extLst>
                  <a:ext uri="{FF2B5EF4-FFF2-40B4-BE49-F238E27FC236}">
                    <a16:creationId xmlns:a16="http://schemas.microsoft.com/office/drawing/2014/main" id="{A23DC491-2419-0F95-3560-8A7A397A1868}"/>
                  </a:ext>
                </a:extLst>
              </p:cNvPr>
              <p:cNvSpPr/>
              <p:nvPr/>
            </p:nvSpPr>
            <p:spPr>
              <a:xfrm>
                <a:off x="875880" y="2508480"/>
                <a:ext cx="643680" cy="367878"/>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App </a:t>
                </a:r>
                <a:endParaRPr lang="en-GB" sz="1200" spc="-2">
                  <a:latin typeface="Arial"/>
                </a:endParaRPr>
              </a:p>
              <a:p>
                <a:pPr algn="ctr">
                  <a:tabLst>
                    <a:tab pos="0" algn="l"/>
                  </a:tabLst>
                </a:pPr>
                <a:r>
                  <a:rPr lang="en-GB" sz="1200" spc="-2">
                    <a:solidFill>
                      <a:srgbClr val="000000"/>
                    </a:solidFill>
                    <a:latin typeface="Arial"/>
                    <a:ea typeface="DejaVu Sans"/>
                  </a:rPr>
                  <a:t>Profiling Workbook</a:t>
                </a:r>
                <a:endParaRPr lang="en-GB" sz="1200" spc="-2">
                  <a:latin typeface="Arial"/>
                </a:endParaRPr>
              </a:p>
            </p:txBody>
          </p:sp>
        </p:grpSp>
        <p:grpSp>
          <p:nvGrpSpPr>
            <p:cNvPr id="209" name="Group 221">
              <a:extLst>
                <a:ext uri="{FF2B5EF4-FFF2-40B4-BE49-F238E27FC236}">
                  <a16:creationId xmlns:a16="http://schemas.microsoft.com/office/drawing/2014/main" id="{190E3603-2CDD-1FEE-AD2B-A873B788B046}"/>
                </a:ext>
              </a:extLst>
            </p:cNvPr>
            <p:cNvGrpSpPr/>
            <p:nvPr/>
          </p:nvGrpSpPr>
          <p:grpSpPr>
            <a:xfrm>
              <a:off x="1356480" y="2316600"/>
              <a:ext cx="643680" cy="464185"/>
              <a:chOff x="1356480" y="2316600"/>
              <a:chExt cx="643680" cy="464185"/>
            </a:xfrm>
          </p:grpSpPr>
          <p:sp>
            <p:nvSpPr>
              <p:cNvPr id="222" name="TextBox 274">
                <a:extLst>
                  <a:ext uri="{FF2B5EF4-FFF2-40B4-BE49-F238E27FC236}">
                    <a16:creationId xmlns:a16="http://schemas.microsoft.com/office/drawing/2014/main" id="{96F9D22F-6079-B115-37F9-CB452ADB5E88}"/>
                  </a:ext>
                </a:extLst>
              </p:cNvPr>
              <p:cNvSpPr/>
              <p:nvPr/>
            </p:nvSpPr>
            <p:spPr>
              <a:xfrm>
                <a:off x="1356480" y="2505240"/>
                <a:ext cx="64368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Project Readiness</a:t>
                </a:r>
                <a:endParaRPr lang="en-GB" sz="1200" spc="-2">
                  <a:latin typeface="Arial"/>
                </a:endParaRPr>
              </a:p>
            </p:txBody>
          </p:sp>
          <p:sp>
            <p:nvSpPr>
              <p:cNvPr id="223" name="Shape">
                <a:extLst>
                  <a:ext uri="{FF2B5EF4-FFF2-40B4-BE49-F238E27FC236}">
                    <a16:creationId xmlns:a16="http://schemas.microsoft.com/office/drawing/2014/main" id="{5406695D-7257-2300-C0AE-F3306F22ED48}"/>
                  </a:ext>
                </a:extLst>
              </p:cNvPr>
              <p:cNvSpPr/>
              <p:nvPr/>
            </p:nvSpPr>
            <p:spPr>
              <a:xfrm>
                <a:off x="1596600" y="2316600"/>
                <a:ext cx="163440" cy="205920"/>
              </a:xfrm>
              <a:custGeom>
                <a:avLst/>
                <a:gdLst/>
                <a:ahLst/>
                <a:cxnLst/>
                <a:rect l="l" t="t" r="r" b="b"/>
                <a:pathLst>
                  <a:path w="21600" h="21600">
                    <a:moveTo>
                      <a:pt x="0" y="21600"/>
                    </a:moveTo>
                    <a:lnTo>
                      <a:pt x="0" y="0"/>
                    </a:lnTo>
                    <a:lnTo>
                      <a:pt x="21600" y="0"/>
                    </a:lnTo>
                    <a:lnTo>
                      <a:pt x="21600" y="21600"/>
                    </a:lnTo>
                    <a:lnTo>
                      <a:pt x="0" y="21600"/>
                    </a:lnTo>
                    <a:close/>
                    <a:moveTo>
                      <a:pt x="1079" y="20716"/>
                    </a:moveTo>
                    <a:lnTo>
                      <a:pt x="20521" y="20716"/>
                    </a:lnTo>
                    <a:lnTo>
                      <a:pt x="20521" y="884"/>
                    </a:lnTo>
                    <a:lnTo>
                      <a:pt x="1079" y="884"/>
                    </a:lnTo>
                    <a:lnTo>
                      <a:pt x="1079" y="20716"/>
                    </a:lnTo>
                    <a:close/>
                    <a:moveTo>
                      <a:pt x="7375" y="14641"/>
                    </a:moveTo>
                    <a:lnTo>
                      <a:pt x="6442" y="14175"/>
                    </a:lnTo>
                    <a:lnTo>
                      <a:pt x="4664" y="16456"/>
                    </a:lnTo>
                    <a:lnTo>
                      <a:pt x="4023" y="15618"/>
                    </a:lnTo>
                    <a:lnTo>
                      <a:pt x="3090" y="16084"/>
                    </a:lnTo>
                    <a:lnTo>
                      <a:pt x="4664" y="18132"/>
                    </a:lnTo>
                    <a:lnTo>
                      <a:pt x="7375" y="14641"/>
                    </a:lnTo>
                    <a:close/>
                    <a:moveTo>
                      <a:pt x="15624" y="16875"/>
                    </a:moveTo>
                    <a:lnTo>
                      <a:pt x="8395" y="16875"/>
                    </a:lnTo>
                    <a:lnTo>
                      <a:pt x="8395" y="17759"/>
                    </a:lnTo>
                    <a:lnTo>
                      <a:pt x="15624" y="17759"/>
                    </a:lnTo>
                    <a:lnTo>
                      <a:pt x="15624" y="16875"/>
                    </a:lnTo>
                    <a:close/>
                    <a:moveTo>
                      <a:pt x="18044" y="14943"/>
                    </a:moveTo>
                    <a:lnTo>
                      <a:pt x="8395" y="14943"/>
                    </a:lnTo>
                    <a:lnTo>
                      <a:pt x="8395" y="15828"/>
                    </a:lnTo>
                    <a:lnTo>
                      <a:pt x="18044" y="15828"/>
                    </a:lnTo>
                    <a:lnTo>
                      <a:pt x="18044" y="14943"/>
                    </a:lnTo>
                    <a:close/>
                    <a:moveTo>
                      <a:pt x="7375" y="9357"/>
                    </a:moveTo>
                    <a:lnTo>
                      <a:pt x="6442" y="8891"/>
                    </a:lnTo>
                    <a:lnTo>
                      <a:pt x="4664" y="11172"/>
                    </a:lnTo>
                    <a:lnTo>
                      <a:pt x="4023" y="10334"/>
                    </a:lnTo>
                    <a:lnTo>
                      <a:pt x="3090" y="10777"/>
                    </a:lnTo>
                    <a:lnTo>
                      <a:pt x="4664" y="12825"/>
                    </a:lnTo>
                    <a:lnTo>
                      <a:pt x="7375" y="9357"/>
                    </a:lnTo>
                    <a:close/>
                    <a:moveTo>
                      <a:pt x="15624" y="11568"/>
                    </a:moveTo>
                    <a:lnTo>
                      <a:pt x="8395" y="11568"/>
                    </a:lnTo>
                    <a:lnTo>
                      <a:pt x="8395" y="12453"/>
                    </a:lnTo>
                    <a:lnTo>
                      <a:pt x="15624" y="12453"/>
                    </a:lnTo>
                    <a:lnTo>
                      <a:pt x="15624" y="11568"/>
                    </a:lnTo>
                    <a:close/>
                    <a:moveTo>
                      <a:pt x="18044" y="9636"/>
                    </a:moveTo>
                    <a:lnTo>
                      <a:pt x="8395" y="9636"/>
                    </a:lnTo>
                    <a:lnTo>
                      <a:pt x="8395" y="10521"/>
                    </a:lnTo>
                    <a:lnTo>
                      <a:pt x="18044" y="10521"/>
                    </a:lnTo>
                    <a:lnTo>
                      <a:pt x="18044" y="9636"/>
                    </a:lnTo>
                    <a:close/>
                    <a:moveTo>
                      <a:pt x="7375" y="4050"/>
                    </a:moveTo>
                    <a:lnTo>
                      <a:pt x="6442" y="3584"/>
                    </a:lnTo>
                    <a:lnTo>
                      <a:pt x="4664" y="5866"/>
                    </a:lnTo>
                    <a:lnTo>
                      <a:pt x="4023" y="5028"/>
                    </a:lnTo>
                    <a:lnTo>
                      <a:pt x="3090" y="5493"/>
                    </a:lnTo>
                    <a:lnTo>
                      <a:pt x="4664" y="7518"/>
                    </a:lnTo>
                    <a:lnTo>
                      <a:pt x="7375" y="4050"/>
                    </a:lnTo>
                    <a:close/>
                    <a:moveTo>
                      <a:pt x="15624" y="6261"/>
                    </a:moveTo>
                    <a:lnTo>
                      <a:pt x="8395" y="6261"/>
                    </a:lnTo>
                    <a:lnTo>
                      <a:pt x="8395" y="7146"/>
                    </a:lnTo>
                    <a:lnTo>
                      <a:pt x="15624" y="7146"/>
                    </a:lnTo>
                    <a:lnTo>
                      <a:pt x="15624" y="6261"/>
                    </a:lnTo>
                    <a:close/>
                    <a:moveTo>
                      <a:pt x="18044" y="4329"/>
                    </a:moveTo>
                    <a:lnTo>
                      <a:pt x="8395" y="4329"/>
                    </a:lnTo>
                    <a:lnTo>
                      <a:pt x="8395" y="5214"/>
                    </a:lnTo>
                    <a:lnTo>
                      <a:pt x="18044" y="5214"/>
                    </a:lnTo>
                    <a:lnTo>
                      <a:pt x="18044" y="4329"/>
                    </a:lnTo>
                    <a:close/>
                  </a:path>
                </a:pathLst>
              </a:custGeom>
              <a:solidFill>
                <a:srgbClr val="EB0000"/>
              </a:solidFill>
              <a:ln w="12700">
                <a:noFill/>
              </a:ln>
            </p:spPr>
            <p:style>
              <a:lnRef idx="0">
                <a:scrgbClr r="0" g="0" b="0"/>
              </a:lnRef>
              <a:fillRef idx="0">
                <a:scrgbClr r="0" g="0" b="0"/>
              </a:fillRef>
              <a:effectRef idx="0">
                <a:scrgbClr r="0" g="0" b="0"/>
              </a:effectRef>
              <a:fontRef idx="minor"/>
            </p:style>
            <p:txBody>
              <a:bodyPr/>
              <a:lstStyle/>
              <a:p>
                <a:endParaRPr lang="en-GB" sz="3600"/>
              </a:p>
            </p:txBody>
          </p:sp>
        </p:grpSp>
        <p:grpSp>
          <p:nvGrpSpPr>
            <p:cNvPr id="210" name="Group 262">
              <a:extLst>
                <a:ext uri="{FF2B5EF4-FFF2-40B4-BE49-F238E27FC236}">
                  <a16:creationId xmlns:a16="http://schemas.microsoft.com/office/drawing/2014/main" id="{7062D09B-738E-6303-01BB-AF75133CAAD5}"/>
                </a:ext>
              </a:extLst>
            </p:cNvPr>
            <p:cNvGrpSpPr/>
            <p:nvPr/>
          </p:nvGrpSpPr>
          <p:grpSpPr>
            <a:xfrm>
              <a:off x="376920" y="2315160"/>
              <a:ext cx="600480" cy="474985"/>
              <a:chOff x="376920" y="2315160"/>
              <a:chExt cx="600480" cy="474985"/>
            </a:xfrm>
          </p:grpSpPr>
          <p:sp>
            <p:nvSpPr>
              <p:cNvPr id="220" name="Shape">
                <a:extLst>
                  <a:ext uri="{FF2B5EF4-FFF2-40B4-BE49-F238E27FC236}">
                    <a16:creationId xmlns:a16="http://schemas.microsoft.com/office/drawing/2014/main" id="{A46B4E0C-68A6-DF64-B7CA-6FB348B4CF9B}"/>
                  </a:ext>
                </a:extLst>
              </p:cNvPr>
              <p:cNvSpPr/>
              <p:nvPr/>
            </p:nvSpPr>
            <p:spPr>
              <a:xfrm>
                <a:off x="601560" y="231516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EB000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21" name="TextBox 273">
                <a:extLst>
                  <a:ext uri="{FF2B5EF4-FFF2-40B4-BE49-F238E27FC236}">
                    <a16:creationId xmlns:a16="http://schemas.microsoft.com/office/drawing/2014/main" id="{F251CCC9-A6B1-AA0E-1EDB-0B1E93416B6A}"/>
                  </a:ext>
                </a:extLst>
              </p:cNvPr>
              <p:cNvSpPr/>
              <p:nvPr/>
            </p:nvSpPr>
            <p:spPr>
              <a:xfrm>
                <a:off x="376920" y="2514600"/>
                <a:ext cx="60048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Complexity Assessment</a:t>
                </a:r>
                <a:endParaRPr lang="en-GB" sz="1200" spc="-2">
                  <a:latin typeface="Arial"/>
                </a:endParaRPr>
              </a:p>
            </p:txBody>
          </p:sp>
        </p:grpSp>
        <p:grpSp>
          <p:nvGrpSpPr>
            <p:cNvPr id="211" name="Group 263">
              <a:extLst>
                <a:ext uri="{FF2B5EF4-FFF2-40B4-BE49-F238E27FC236}">
                  <a16:creationId xmlns:a16="http://schemas.microsoft.com/office/drawing/2014/main" id="{744C8B5F-AD00-B9F1-8931-7E9A418D4272}"/>
                </a:ext>
              </a:extLst>
            </p:cNvPr>
            <p:cNvGrpSpPr/>
            <p:nvPr/>
          </p:nvGrpSpPr>
          <p:grpSpPr>
            <a:xfrm>
              <a:off x="462240" y="2877480"/>
              <a:ext cx="466920" cy="573078"/>
              <a:chOff x="462240" y="2877480"/>
              <a:chExt cx="466920" cy="573078"/>
            </a:xfrm>
          </p:grpSpPr>
          <p:sp>
            <p:nvSpPr>
              <p:cNvPr id="218" name="Shape">
                <a:extLst>
                  <a:ext uri="{FF2B5EF4-FFF2-40B4-BE49-F238E27FC236}">
                    <a16:creationId xmlns:a16="http://schemas.microsoft.com/office/drawing/2014/main" id="{A6A70C93-1003-935F-6DBF-EE73D256D25F}"/>
                  </a:ext>
                </a:extLst>
              </p:cNvPr>
              <p:cNvSpPr/>
              <p:nvPr/>
            </p:nvSpPr>
            <p:spPr>
              <a:xfrm>
                <a:off x="575280" y="2877480"/>
                <a:ext cx="241200" cy="204120"/>
              </a:xfrm>
              <a:custGeom>
                <a:avLst/>
                <a:gdLst/>
                <a:ahLst/>
                <a:cxnLst/>
                <a:rect l="l" t="t" r="r" b="b"/>
                <a:pathLst>
                  <a:path w="21600" h="21600">
                    <a:moveTo>
                      <a:pt x="20139" y="6896"/>
                    </a:moveTo>
                    <a:lnTo>
                      <a:pt x="1461" y="6896"/>
                    </a:lnTo>
                    <a:lnTo>
                      <a:pt x="1461" y="19876"/>
                    </a:lnTo>
                    <a:lnTo>
                      <a:pt x="20139" y="19876"/>
                    </a:lnTo>
                    <a:lnTo>
                      <a:pt x="20139" y="6896"/>
                    </a:lnTo>
                    <a:close/>
                    <a:moveTo>
                      <a:pt x="19346" y="9901"/>
                    </a:moveTo>
                    <a:lnTo>
                      <a:pt x="17572" y="9901"/>
                    </a:lnTo>
                    <a:lnTo>
                      <a:pt x="17572" y="7808"/>
                    </a:lnTo>
                    <a:lnTo>
                      <a:pt x="19346" y="7808"/>
                    </a:lnTo>
                    <a:lnTo>
                      <a:pt x="19346" y="9901"/>
                    </a:lnTo>
                    <a:close/>
                    <a:moveTo>
                      <a:pt x="9141" y="12930"/>
                    </a:moveTo>
                    <a:lnTo>
                      <a:pt x="7367" y="12930"/>
                    </a:lnTo>
                    <a:lnTo>
                      <a:pt x="7367" y="10837"/>
                    </a:lnTo>
                    <a:lnTo>
                      <a:pt x="9141" y="10837"/>
                    </a:lnTo>
                    <a:lnTo>
                      <a:pt x="9141" y="12930"/>
                    </a:lnTo>
                    <a:close/>
                    <a:moveTo>
                      <a:pt x="9913" y="10837"/>
                    </a:moveTo>
                    <a:lnTo>
                      <a:pt x="11687" y="10837"/>
                    </a:lnTo>
                    <a:lnTo>
                      <a:pt x="11687" y="12930"/>
                    </a:lnTo>
                    <a:lnTo>
                      <a:pt x="9913" y="12930"/>
                    </a:lnTo>
                    <a:lnTo>
                      <a:pt x="9913" y="10837"/>
                    </a:lnTo>
                    <a:close/>
                    <a:moveTo>
                      <a:pt x="9141" y="13842"/>
                    </a:moveTo>
                    <a:lnTo>
                      <a:pt x="9141" y="15935"/>
                    </a:lnTo>
                    <a:lnTo>
                      <a:pt x="7367" y="15935"/>
                    </a:lnTo>
                    <a:lnTo>
                      <a:pt x="7367" y="13842"/>
                    </a:lnTo>
                    <a:lnTo>
                      <a:pt x="9141" y="13842"/>
                    </a:lnTo>
                    <a:close/>
                    <a:moveTo>
                      <a:pt x="9913" y="13842"/>
                    </a:moveTo>
                    <a:lnTo>
                      <a:pt x="11687" y="13842"/>
                    </a:lnTo>
                    <a:lnTo>
                      <a:pt x="11687" y="15935"/>
                    </a:lnTo>
                    <a:lnTo>
                      <a:pt x="9913" y="15935"/>
                    </a:lnTo>
                    <a:lnTo>
                      <a:pt x="9913" y="13842"/>
                    </a:lnTo>
                    <a:close/>
                    <a:moveTo>
                      <a:pt x="12480" y="13842"/>
                    </a:moveTo>
                    <a:lnTo>
                      <a:pt x="14254" y="13842"/>
                    </a:lnTo>
                    <a:lnTo>
                      <a:pt x="14254" y="15935"/>
                    </a:lnTo>
                    <a:lnTo>
                      <a:pt x="12480" y="15935"/>
                    </a:lnTo>
                    <a:lnTo>
                      <a:pt x="12480" y="13842"/>
                    </a:lnTo>
                    <a:close/>
                    <a:moveTo>
                      <a:pt x="12480" y="12930"/>
                    </a:moveTo>
                    <a:lnTo>
                      <a:pt x="12480" y="10837"/>
                    </a:lnTo>
                    <a:lnTo>
                      <a:pt x="14254" y="10837"/>
                    </a:lnTo>
                    <a:lnTo>
                      <a:pt x="14254" y="12930"/>
                    </a:lnTo>
                    <a:lnTo>
                      <a:pt x="12480" y="12930"/>
                    </a:lnTo>
                    <a:close/>
                    <a:moveTo>
                      <a:pt x="15026" y="10837"/>
                    </a:moveTo>
                    <a:lnTo>
                      <a:pt x="16800" y="10837"/>
                    </a:lnTo>
                    <a:lnTo>
                      <a:pt x="16800" y="12930"/>
                    </a:lnTo>
                    <a:lnTo>
                      <a:pt x="15026" y="12930"/>
                    </a:lnTo>
                    <a:lnTo>
                      <a:pt x="15026" y="10837"/>
                    </a:lnTo>
                    <a:close/>
                    <a:moveTo>
                      <a:pt x="15026" y="7808"/>
                    </a:moveTo>
                    <a:lnTo>
                      <a:pt x="16800" y="7808"/>
                    </a:lnTo>
                    <a:lnTo>
                      <a:pt x="16800" y="9901"/>
                    </a:lnTo>
                    <a:lnTo>
                      <a:pt x="15026" y="9901"/>
                    </a:lnTo>
                    <a:lnTo>
                      <a:pt x="15026" y="7808"/>
                    </a:lnTo>
                    <a:close/>
                    <a:moveTo>
                      <a:pt x="14254" y="9901"/>
                    </a:moveTo>
                    <a:lnTo>
                      <a:pt x="12480" y="9901"/>
                    </a:lnTo>
                    <a:lnTo>
                      <a:pt x="12480" y="7808"/>
                    </a:lnTo>
                    <a:lnTo>
                      <a:pt x="14254" y="7808"/>
                    </a:lnTo>
                    <a:lnTo>
                      <a:pt x="14254" y="9901"/>
                    </a:lnTo>
                    <a:close/>
                    <a:moveTo>
                      <a:pt x="11687" y="9901"/>
                    </a:moveTo>
                    <a:lnTo>
                      <a:pt x="9913" y="9901"/>
                    </a:lnTo>
                    <a:lnTo>
                      <a:pt x="9913" y="7808"/>
                    </a:lnTo>
                    <a:lnTo>
                      <a:pt x="11687" y="7808"/>
                    </a:lnTo>
                    <a:lnTo>
                      <a:pt x="11687" y="9901"/>
                    </a:lnTo>
                    <a:close/>
                    <a:moveTo>
                      <a:pt x="9141" y="9901"/>
                    </a:moveTo>
                    <a:lnTo>
                      <a:pt x="7367" y="9901"/>
                    </a:lnTo>
                    <a:lnTo>
                      <a:pt x="7367" y="7808"/>
                    </a:lnTo>
                    <a:lnTo>
                      <a:pt x="9141" y="7808"/>
                    </a:lnTo>
                    <a:lnTo>
                      <a:pt x="9141" y="9901"/>
                    </a:lnTo>
                    <a:close/>
                    <a:moveTo>
                      <a:pt x="6574" y="9901"/>
                    </a:moveTo>
                    <a:lnTo>
                      <a:pt x="4800" y="9901"/>
                    </a:lnTo>
                    <a:lnTo>
                      <a:pt x="4800" y="7808"/>
                    </a:lnTo>
                    <a:lnTo>
                      <a:pt x="6574" y="7808"/>
                    </a:lnTo>
                    <a:lnTo>
                      <a:pt x="6574" y="9901"/>
                    </a:lnTo>
                    <a:close/>
                    <a:moveTo>
                      <a:pt x="6574" y="12930"/>
                    </a:moveTo>
                    <a:lnTo>
                      <a:pt x="4800" y="12930"/>
                    </a:lnTo>
                    <a:lnTo>
                      <a:pt x="4800" y="10837"/>
                    </a:lnTo>
                    <a:lnTo>
                      <a:pt x="6574" y="10837"/>
                    </a:lnTo>
                    <a:lnTo>
                      <a:pt x="6574" y="12930"/>
                    </a:lnTo>
                    <a:close/>
                    <a:moveTo>
                      <a:pt x="4028" y="12930"/>
                    </a:moveTo>
                    <a:lnTo>
                      <a:pt x="2254" y="12930"/>
                    </a:lnTo>
                    <a:lnTo>
                      <a:pt x="2254" y="10837"/>
                    </a:lnTo>
                    <a:lnTo>
                      <a:pt x="4028" y="10837"/>
                    </a:lnTo>
                    <a:lnTo>
                      <a:pt x="4028" y="12930"/>
                    </a:lnTo>
                    <a:close/>
                    <a:moveTo>
                      <a:pt x="4028" y="13842"/>
                    </a:moveTo>
                    <a:lnTo>
                      <a:pt x="4028" y="15935"/>
                    </a:lnTo>
                    <a:lnTo>
                      <a:pt x="2254" y="15935"/>
                    </a:lnTo>
                    <a:lnTo>
                      <a:pt x="2254" y="13842"/>
                    </a:lnTo>
                    <a:lnTo>
                      <a:pt x="4028" y="13842"/>
                    </a:lnTo>
                    <a:close/>
                    <a:moveTo>
                      <a:pt x="4800" y="13842"/>
                    </a:moveTo>
                    <a:lnTo>
                      <a:pt x="6574" y="13842"/>
                    </a:lnTo>
                    <a:lnTo>
                      <a:pt x="6574" y="15935"/>
                    </a:lnTo>
                    <a:lnTo>
                      <a:pt x="4800" y="15935"/>
                    </a:lnTo>
                    <a:lnTo>
                      <a:pt x="4800" y="13842"/>
                    </a:lnTo>
                    <a:close/>
                    <a:moveTo>
                      <a:pt x="6574" y="16847"/>
                    </a:moveTo>
                    <a:lnTo>
                      <a:pt x="6574" y="18940"/>
                    </a:lnTo>
                    <a:lnTo>
                      <a:pt x="4800" y="18940"/>
                    </a:lnTo>
                    <a:lnTo>
                      <a:pt x="4800" y="16847"/>
                    </a:lnTo>
                    <a:lnTo>
                      <a:pt x="6574" y="16847"/>
                    </a:lnTo>
                    <a:close/>
                    <a:moveTo>
                      <a:pt x="7367" y="16847"/>
                    </a:moveTo>
                    <a:lnTo>
                      <a:pt x="9141" y="16847"/>
                    </a:lnTo>
                    <a:lnTo>
                      <a:pt x="9141" y="18940"/>
                    </a:lnTo>
                    <a:lnTo>
                      <a:pt x="7367" y="18940"/>
                    </a:lnTo>
                    <a:lnTo>
                      <a:pt x="7367" y="16847"/>
                    </a:lnTo>
                    <a:close/>
                    <a:moveTo>
                      <a:pt x="9913" y="16847"/>
                    </a:moveTo>
                    <a:lnTo>
                      <a:pt x="11687" y="16847"/>
                    </a:lnTo>
                    <a:lnTo>
                      <a:pt x="11687" y="18940"/>
                    </a:lnTo>
                    <a:lnTo>
                      <a:pt x="9913" y="18940"/>
                    </a:lnTo>
                    <a:lnTo>
                      <a:pt x="9913" y="16847"/>
                    </a:lnTo>
                    <a:close/>
                    <a:moveTo>
                      <a:pt x="12480" y="16847"/>
                    </a:moveTo>
                    <a:lnTo>
                      <a:pt x="14254" y="16847"/>
                    </a:lnTo>
                    <a:lnTo>
                      <a:pt x="14254" y="18940"/>
                    </a:lnTo>
                    <a:lnTo>
                      <a:pt x="12480" y="18940"/>
                    </a:lnTo>
                    <a:lnTo>
                      <a:pt x="12480" y="16847"/>
                    </a:lnTo>
                    <a:close/>
                    <a:moveTo>
                      <a:pt x="15026" y="16847"/>
                    </a:moveTo>
                    <a:lnTo>
                      <a:pt x="16800" y="16847"/>
                    </a:lnTo>
                    <a:lnTo>
                      <a:pt x="16800" y="18940"/>
                    </a:lnTo>
                    <a:lnTo>
                      <a:pt x="15026" y="18940"/>
                    </a:lnTo>
                    <a:lnTo>
                      <a:pt x="15026" y="16847"/>
                    </a:lnTo>
                    <a:close/>
                    <a:moveTo>
                      <a:pt x="15026" y="15935"/>
                    </a:moveTo>
                    <a:lnTo>
                      <a:pt x="15026" y="13842"/>
                    </a:lnTo>
                    <a:lnTo>
                      <a:pt x="16800" y="13842"/>
                    </a:lnTo>
                    <a:lnTo>
                      <a:pt x="16800" y="15935"/>
                    </a:lnTo>
                    <a:lnTo>
                      <a:pt x="15026" y="15935"/>
                    </a:lnTo>
                    <a:close/>
                    <a:moveTo>
                      <a:pt x="17572" y="13842"/>
                    </a:moveTo>
                    <a:lnTo>
                      <a:pt x="19346" y="13842"/>
                    </a:lnTo>
                    <a:lnTo>
                      <a:pt x="19346" y="15935"/>
                    </a:lnTo>
                    <a:lnTo>
                      <a:pt x="17572" y="15935"/>
                    </a:lnTo>
                    <a:lnTo>
                      <a:pt x="17572" y="13842"/>
                    </a:lnTo>
                    <a:close/>
                    <a:moveTo>
                      <a:pt x="17572" y="12930"/>
                    </a:moveTo>
                    <a:lnTo>
                      <a:pt x="17572" y="10837"/>
                    </a:lnTo>
                    <a:lnTo>
                      <a:pt x="19346" y="10837"/>
                    </a:lnTo>
                    <a:lnTo>
                      <a:pt x="19346" y="12930"/>
                    </a:lnTo>
                    <a:lnTo>
                      <a:pt x="17572" y="12930"/>
                    </a:lnTo>
                    <a:close/>
                    <a:moveTo>
                      <a:pt x="4028" y="7808"/>
                    </a:moveTo>
                    <a:lnTo>
                      <a:pt x="4028" y="9901"/>
                    </a:lnTo>
                    <a:lnTo>
                      <a:pt x="2254" y="9901"/>
                    </a:lnTo>
                    <a:lnTo>
                      <a:pt x="2254" y="7808"/>
                    </a:lnTo>
                    <a:lnTo>
                      <a:pt x="4028" y="7808"/>
                    </a:lnTo>
                    <a:close/>
                    <a:moveTo>
                      <a:pt x="2254" y="16847"/>
                    </a:moveTo>
                    <a:lnTo>
                      <a:pt x="4028" y="16847"/>
                    </a:lnTo>
                    <a:lnTo>
                      <a:pt x="4028" y="18940"/>
                    </a:lnTo>
                    <a:lnTo>
                      <a:pt x="2254" y="18940"/>
                    </a:lnTo>
                    <a:lnTo>
                      <a:pt x="2254" y="16847"/>
                    </a:lnTo>
                    <a:close/>
                    <a:moveTo>
                      <a:pt x="17572" y="18940"/>
                    </a:moveTo>
                    <a:lnTo>
                      <a:pt x="17572" y="16847"/>
                    </a:lnTo>
                    <a:lnTo>
                      <a:pt x="19346" y="16847"/>
                    </a:lnTo>
                    <a:lnTo>
                      <a:pt x="19346" y="18940"/>
                    </a:lnTo>
                    <a:lnTo>
                      <a:pt x="17572" y="18940"/>
                    </a:lnTo>
                    <a:close/>
                    <a:moveTo>
                      <a:pt x="21600" y="0"/>
                    </a:moveTo>
                    <a:lnTo>
                      <a:pt x="0" y="0"/>
                    </a:lnTo>
                    <a:lnTo>
                      <a:pt x="0" y="21600"/>
                    </a:lnTo>
                    <a:lnTo>
                      <a:pt x="21600" y="21600"/>
                    </a:lnTo>
                    <a:lnTo>
                      <a:pt x="21600" y="0"/>
                    </a:lnTo>
                    <a:close/>
                    <a:moveTo>
                      <a:pt x="20807" y="20664"/>
                    </a:moveTo>
                    <a:lnTo>
                      <a:pt x="793" y="20664"/>
                    </a:lnTo>
                    <a:lnTo>
                      <a:pt x="793" y="911"/>
                    </a:lnTo>
                    <a:lnTo>
                      <a:pt x="20807" y="911"/>
                    </a:lnTo>
                    <a:lnTo>
                      <a:pt x="20807" y="20664"/>
                    </a:lnTo>
                    <a:close/>
                  </a:path>
                </a:pathLst>
              </a:custGeom>
              <a:solidFill>
                <a:srgbClr val="EB000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19" name="TextBox 271">
                <a:extLst>
                  <a:ext uri="{FF2B5EF4-FFF2-40B4-BE49-F238E27FC236}">
                    <a16:creationId xmlns:a16="http://schemas.microsoft.com/office/drawing/2014/main" id="{8267648D-AB85-51E9-BC1D-012CE620E49A}"/>
                  </a:ext>
                </a:extLst>
              </p:cNvPr>
              <p:cNvSpPr/>
              <p:nvPr/>
            </p:nvSpPr>
            <p:spPr>
              <a:xfrm>
                <a:off x="462240" y="3082680"/>
                <a:ext cx="466920" cy="367878"/>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Initial </a:t>
                </a:r>
                <a:endParaRPr lang="en-GB" sz="1200" spc="-2">
                  <a:latin typeface="Arial"/>
                </a:endParaRPr>
              </a:p>
              <a:p>
                <a:pPr algn="ctr">
                  <a:tabLst>
                    <a:tab pos="0" algn="l"/>
                  </a:tabLst>
                </a:pPr>
                <a:r>
                  <a:rPr lang="en-GB" sz="1200" spc="-2">
                    <a:solidFill>
                      <a:srgbClr val="000000"/>
                    </a:solidFill>
                    <a:latin typeface="Arial"/>
                    <a:ea typeface="DejaVu Sans"/>
                  </a:rPr>
                  <a:t>Release</a:t>
                </a:r>
                <a:endParaRPr lang="en-GB" sz="1200" spc="-2">
                  <a:latin typeface="Arial"/>
                </a:endParaRPr>
              </a:p>
              <a:p>
                <a:pPr algn="ctr">
                  <a:tabLst>
                    <a:tab pos="0" algn="l"/>
                  </a:tabLst>
                </a:pPr>
                <a:r>
                  <a:rPr lang="en-GB" sz="1200" spc="-2">
                    <a:solidFill>
                      <a:srgbClr val="000000"/>
                    </a:solidFill>
                    <a:latin typeface="Arial"/>
                    <a:ea typeface="DejaVu Sans"/>
                  </a:rPr>
                  <a:t>Plan</a:t>
                </a:r>
                <a:endParaRPr lang="en-GB" sz="1200" spc="-2">
                  <a:latin typeface="Arial"/>
                </a:endParaRPr>
              </a:p>
            </p:txBody>
          </p:sp>
        </p:grpSp>
        <p:grpSp>
          <p:nvGrpSpPr>
            <p:cNvPr id="212" name="Group 264">
              <a:extLst>
                <a:ext uri="{FF2B5EF4-FFF2-40B4-BE49-F238E27FC236}">
                  <a16:creationId xmlns:a16="http://schemas.microsoft.com/office/drawing/2014/main" id="{F63D25E7-C483-CFFA-9403-24C517B74073}"/>
                </a:ext>
              </a:extLst>
            </p:cNvPr>
            <p:cNvGrpSpPr/>
            <p:nvPr/>
          </p:nvGrpSpPr>
          <p:grpSpPr>
            <a:xfrm>
              <a:off x="1342800" y="2877480"/>
              <a:ext cx="643680" cy="464185"/>
              <a:chOff x="1342800" y="2877480"/>
              <a:chExt cx="643680" cy="464185"/>
            </a:xfrm>
          </p:grpSpPr>
          <p:sp>
            <p:nvSpPr>
              <p:cNvPr id="216" name="TextBox 268">
                <a:extLst>
                  <a:ext uri="{FF2B5EF4-FFF2-40B4-BE49-F238E27FC236}">
                    <a16:creationId xmlns:a16="http://schemas.microsoft.com/office/drawing/2014/main" id="{9BA00B29-A9F5-CDB0-E19C-D95B928FD105}"/>
                  </a:ext>
                </a:extLst>
              </p:cNvPr>
              <p:cNvSpPr/>
              <p:nvPr/>
            </p:nvSpPr>
            <p:spPr>
              <a:xfrm>
                <a:off x="1342800" y="3066120"/>
                <a:ext cx="64368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Application Readiness</a:t>
                </a:r>
                <a:endParaRPr lang="en-GB" sz="1200" spc="-2">
                  <a:latin typeface="Arial"/>
                </a:endParaRPr>
              </a:p>
            </p:txBody>
          </p:sp>
          <p:sp>
            <p:nvSpPr>
              <p:cNvPr id="217" name="Shape">
                <a:extLst>
                  <a:ext uri="{FF2B5EF4-FFF2-40B4-BE49-F238E27FC236}">
                    <a16:creationId xmlns:a16="http://schemas.microsoft.com/office/drawing/2014/main" id="{37A933B7-5A48-E63A-F2FC-733AA3FE865C}"/>
                  </a:ext>
                </a:extLst>
              </p:cNvPr>
              <p:cNvSpPr/>
              <p:nvPr/>
            </p:nvSpPr>
            <p:spPr>
              <a:xfrm>
                <a:off x="1582920" y="2877480"/>
                <a:ext cx="163440" cy="205920"/>
              </a:xfrm>
              <a:custGeom>
                <a:avLst/>
                <a:gdLst/>
                <a:ahLst/>
                <a:cxnLst/>
                <a:rect l="l" t="t" r="r" b="b"/>
                <a:pathLst>
                  <a:path w="21600" h="21600">
                    <a:moveTo>
                      <a:pt x="0" y="21600"/>
                    </a:moveTo>
                    <a:lnTo>
                      <a:pt x="0" y="0"/>
                    </a:lnTo>
                    <a:lnTo>
                      <a:pt x="21600" y="0"/>
                    </a:lnTo>
                    <a:lnTo>
                      <a:pt x="21600" y="21600"/>
                    </a:lnTo>
                    <a:lnTo>
                      <a:pt x="0" y="21600"/>
                    </a:lnTo>
                    <a:close/>
                    <a:moveTo>
                      <a:pt x="1079" y="20716"/>
                    </a:moveTo>
                    <a:lnTo>
                      <a:pt x="20521" y="20716"/>
                    </a:lnTo>
                    <a:lnTo>
                      <a:pt x="20521" y="884"/>
                    </a:lnTo>
                    <a:lnTo>
                      <a:pt x="1079" y="884"/>
                    </a:lnTo>
                    <a:lnTo>
                      <a:pt x="1079" y="20716"/>
                    </a:lnTo>
                    <a:close/>
                    <a:moveTo>
                      <a:pt x="7375" y="14641"/>
                    </a:moveTo>
                    <a:lnTo>
                      <a:pt x="6442" y="14175"/>
                    </a:lnTo>
                    <a:lnTo>
                      <a:pt x="4664" y="16456"/>
                    </a:lnTo>
                    <a:lnTo>
                      <a:pt x="4023" y="15618"/>
                    </a:lnTo>
                    <a:lnTo>
                      <a:pt x="3090" y="16084"/>
                    </a:lnTo>
                    <a:lnTo>
                      <a:pt x="4664" y="18132"/>
                    </a:lnTo>
                    <a:lnTo>
                      <a:pt x="7375" y="14641"/>
                    </a:lnTo>
                    <a:close/>
                    <a:moveTo>
                      <a:pt x="15624" y="16875"/>
                    </a:moveTo>
                    <a:lnTo>
                      <a:pt x="8395" y="16875"/>
                    </a:lnTo>
                    <a:lnTo>
                      <a:pt x="8395" y="17759"/>
                    </a:lnTo>
                    <a:lnTo>
                      <a:pt x="15624" y="17759"/>
                    </a:lnTo>
                    <a:lnTo>
                      <a:pt x="15624" y="16875"/>
                    </a:lnTo>
                    <a:close/>
                    <a:moveTo>
                      <a:pt x="18044" y="14943"/>
                    </a:moveTo>
                    <a:lnTo>
                      <a:pt x="8395" y="14943"/>
                    </a:lnTo>
                    <a:lnTo>
                      <a:pt x="8395" y="15828"/>
                    </a:lnTo>
                    <a:lnTo>
                      <a:pt x="18044" y="15828"/>
                    </a:lnTo>
                    <a:lnTo>
                      <a:pt x="18044" y="14943"/>
                    </a:lnTo>
                    <a:close/>
                    <a:moveTo>
                      <a:pt x="7375" y="9357"/>
                    </a:moveTo>
                    <a:lnTo>
                      <a:pt x="6442" y="8891"/>
                    </a:lnTo>
                    <a:lnTo>
                      <a:pt x="4664" y="11172"/>
                    </a:lnTo>
                    <a:lnTo>
                      <a:pt x="4023" y="10334"/>
                    </a:lnTo>
                    <a:lnTo>
                      <a:pt x="3090" y="10777"/>
                    </a:lnTo>
                    <a:lnTo>
                      <a:pt x="4664" y="12825"/>
                    </a:lnTo>
                    <a:lnTo>
                      <a:pt x="7375" y="9357"/>
                    </a:lnTo>
                    <a:close/>
                    <a:moveTo>
                      <a:pt x="15624" y="11568"/>
                    </a:moveTo>
                    <a:lnTo>
                      <a:pt x="8395" y="11568"/>
                    </a:lnTo>
                    <a:lnTo>
                      <a:pt x="8395" y="12453"/>
                    </a:lnTo>
                    <a:lnTo>
                      <a:pt x="15624" y="12453"/>
                    </a:lnTo>
                    <a:lnTo>
                      <a:pt x="15624" y="11568"/>
                    </a:lnTo>
                    <a:close/>
                    <a:moveTo>
                      <a:pt x="18044" y="9636"/>
                    </a:moveTo>
                    <a:lnTo>
                      <a:pt x="8395" y="9636"/>
                    </a:lnTo>
                    <a:lnTo>
                      <a:pt x="8395" y="10521"/>
                    </a:lnTo>
                    <a:lnTo>
                      <a:pt x="18044" y="10521"/>
                    </a:lnTo>
                    <a:lnTo>
                      <a:pt x="18044" y="9636"/>
                    </a:lnTo>
                    <a:close/>
                    <a:moveTo>
                      <a:pt x="7375" y="4050"/>
                    </a:moveTo>
                    <a:lnTo>
                      <a:pt x="6442" y="3584"/>
                    </a:lnTo>
                    <a:lnTo>
                      <a:pt x="4664" y="5866"/>
                    </a:lnTo>
                    <a:lnTo>
                      <a:pt x="4023" y="5028"/>
                    </a:lnTo>
                    <a:lnTo>
                      <a:pt x="3090" y="5493"/>
                    </a:lnTo>
                    <a:lnTo>
                      <a:pt x="4664" y="7518"/>
                    </a:lnTo>
                    <a:lnTo>
                      <a:pt x="7375" y="4050"/>
                    </a:lnTo>
                    <a:close/>
                    <a:moveTo>
                      <a:pt x="15624" y="6261"/>
                    </a:moveTo>
                    <a:lnTo>
                      <a:pt x="8395" y="6261"/>
                    </a:lnTo>
                    <a:lnTo>
                      <a:pt x="8395" y="7146"/>
                    </a:lnTo>
                    <a:lnTo>
                      <a:pt x="15624" y="7146"/>
                    </a:lnTo>
                    <a:lnTo>
                      <a:pt x="15624" y="6261"/>
                    </a:lnTo>
                    <a:close/>
                    <a:moveTo>
                      <a:pt x="18044" y="4329"/>
                    </a:moveTo>
                    <a:lnTo>
                      <a:pt x="8395" y="4329"/>
                    </a:lnTo>
                    <a:lnTo>
                      <a:pt x="8395" y="5214"/>
                    </a:lnTo>
                    <a:lnTo>
                      <a:pt x="18044" y="5214"/>
                    </a:lnTo>
                    <a:lnTo>
                      <a:pt x="18044" y="4329"/>
                    </a:lnTo>
                    <a:close/>
                  </a:path>
                </a:pathLst>
              </a:custGeom>
              <a:solidFill>
                <a:srgbClr val="EB0000"/>
              </a:solidFill>
              <a:ln w="12700">
                <a:noFill/>
              </a:ln>
            </p:spPr>
            <p:style>
              <a:lnRef idx="0">
                <a:scrgbClr r="0" g="0" b="0"/>
              </a:lnRef>
              <a:fillRef idx="0">
                <a:scrgbClr r="0" g="0" b="0"/>
              </a:fillRef>
              <a:effectRef idx="0">
                <a:scrgbClr r="0" g="0" b="0"/>
              </a:effectRef>
              <a:fontRef idx="minor"/>
            </p:style>
            <p:txBody>
              <a:bodyPr/>
              <a:lstStyle/>
              <a:p>
                <a:endParaRPr lang="en-GB" sz="3600"/>
              </a:p>
            </p:txBody>
          </p:sp>
        </p:grpSp>
        <p:grpSp>
          <p:nvGrpSpPr>
            <p:cNvPr id="213" name="Group 265">
              <a:extLst>
                <a:ext uri="{FF2B5EF4-FFF2-40B4-BE49-F238E27FC236}">
                  <a16:creationId xmlns:a16="http://schemas.microsoft.com/office/drawing/2014/main" id="{74D13B29-0FFC-AD4C-6585-ACA9451B1B6C}"/>
                </a:ext>
              </a:extLst>
            </p:cNvPr>
            <p:cNvGrpSpPr/>
            <p:nvPr/>
          </p:nvGrpSpPr>
          <p:grpSpPr>
            <a:xfrm>
              <a:off x="1022040" y="2876040"/>
              <a:ext cx="351360" cy="552385"/>
              <a:chOff x="1022040" y="2876040"/>
              <a:chExt cx="351360" cy="552385"/>
            </a:xfrm>
          </p:grpSpPr>
          <p:sp>
            <p:nvSpPr>
              <p:cNvPr id="214" name="Shape">
                <a:extLst>
                  <a:ext uri="{FF2B5EF4-FFF2-40B4-BE49-F238E27FC236}">
                    <a16:creationId xmlns:a16="http://schemas.microsoft.com/office/drawing/2014/main" id="{5C6AD5EB-47AE-3925-5117-A5648BDE673D}"/>
                  </a:ext>
                </a:extLst>
              </p:cNvPr>
              <p:cNvSpPr/>
              <p:nvPr/>
            </p:nvSpPr>
            <p:spPr>
              <a:xfrm>
                <a:off x="1063440" y="2876040"/>
                <a:ext cx="275040" cy="289800"/>
              </a:xfrm>
              <a:custGeom>
                <a:avLst/>
                <a:gdLst/>
                <a:ahLst/>
                <a:cxnLst/>
                <a:rect l="l" t="t" r="r" b="b"/>
                <a:pathLst>
                  <a:path w="21600" h="21600">
                    <a:moveTo>
                      <a:pt x="19318" y="21600"/>
                    </a:moveTo>
                    <a:lnTo>
                      <a:pt x="17260" y="21600"/>
                    </a:lnTo>
                    <a:lnTo>
                      <a:pt x="17260" y="15126"/>
                    </a:lnTo>
                    <a:lnTo>
                      <a:pt x="16709" y="15126"/>
                    </a:lnTo>
                    <a:lnTo>
                      <a:pt x="16709" y="21600"/>
                    </a:lnTo>
                    <a:lnTo>
                      <a:pt x="14651" y="21600"/>
                    </a:lnTo>
                    <a:lnTo>
                      <a:pt x="14651" y="9538"/>
                    </a:lnTo>
                    <a:cubicBezTo>
                      <a:pt x="12593" y="9210"/>
                      <a:pt x="11065" y="7515"/>
                      <a:pt x="11065" y="5530"/>
                    </a:cubicBezTo>
                    <a:lnTo>
                      <a:pt x="11065" y="3333"/>
                    </a:lnTo>
                    <a:lnTo>
                      <a:pt x="13143" y="3333"/>
                    </a:lnTo>
                    <a:lnTo>
                      <a:pt x="13143" y="5530"/>
                    </a:lnTo>
                    <a:cubicBezTo>
                      <a:pt x="13143" y="6705"/>
                      <a:pt x="14142" y="7630"/>
                      <a:pt x="15365" y="7630"/>
                    </a:cubicBezTo>
                    <a:lnTo>
                      <a:pt x="16974" y="7630"/>
                    </a:lnTo>
                    <a:cubicBezTo>
                      <a:pt x="19522" y="7630"/>
                      <a:pt x="21600" y="9596"/>
                      <a:pt x="21600" y="12004"/>
                    </a:cubicBezTo>
                    <a:lnTo>
                      <a:pt x="21600" y="14817"/>
                    </a:lnTo>
                    <a:lnTo>
                      <a:pt x="19522" y="14817"/>
                    </a:lnTo>
                    <a:lnTo>
                      <a:pt x="19522" y="12004"/>
                    </a:lnTo>
                    <a:cubicBezTo>
                      <a:pt x="19522" y="11677"/>
                      <a:pt x="19460" y="11349"/>
                      <a:pt x="19318" y="11060"/>
                    </a:cubicBezTo>
                    <a:lnTo>
                      <a:pt x="19318" y="21600"/>
                    </a:lnTo>
                    <a:close/>
                    <a:moveTo>
                      <a:pt x="18543" y="20868"/>
                    </a:moveTo>
                    <a:lnTo>
                      <a:pt x="18543" y="10097"/>
                    </a:lnTo>
                    <a:cubicBezTo>
                      <a:pt x="18543" y="9904"/>
                      <a:pt x="18666" y="9750"/>
                      <a:pt x="18829" y="9673"/>
                    </a:cubicBezTo>
                    <a:cubicBezTo>
                      <a:pt x="18992" y="9615"/>
                      <a:pt x="19195" y="9654"/>
                      <a:pt x="19318" y="9788"/>
                    </a:cubicBezTo>
                    <a:cubicBezTo>
                      <a:pt x="19949" y="10366"/>
                      <a:pt x="20296" y="11176"/>
                      <a:pt x="20296" y="12004"/>
                    </a:cubicBezTo>
                    <a:lnTo>
                      <a:pt x="20296" y="14105"/>
                    </a:lnTo>
                    <a:lnTo>
                      <a:pt x="20826" y="14105"/>
                    </a:lnTo>
                    <a:lnTo>
                      <a:pt x="20826" y="12004"/>
                    </a:lnTo>
                    <a:cubicBezTo>
                      <a:pt x="20826" y="10000"/>
                      <a:pt x="19114" y="8363"/>
                      <a:pt x="16974" y="8363"/>
                    </a:cubicBezTo>
                    <a:lnTo>
                      <a:pt x="15365" y="8363"/>
                    </a:lnTo>
                    <a:cubicBezTo>
                      <a:pt x="13714" y="8363"/>
                      <a:pt x="12369" y="7091"/>
                      <a:pt x="12369" y="5530"/>
                    </a:cubicBezTo>
                    <a:lnTo>
                      <a:pt x="12369" y="4066"/>
                    </a:lnTo>
                    <a:lnTo>
                      <a:pt x="11839" y="4066"/>
                    </a:lnTo>
                    <a:lnTo>
                      <a:pt x="11839" y="5530"/>
                    </a:lnTo>
                    <a:cubicBezTo>
                      <a:pt x="11839" y="7187"/>
                      <a:pt x="13143" y="8594"/>
                      <a:pt x="14855" y="8825"/>
                    </a:cubicBezTo>
                    <a:lnTo>
                      <a:pt x="15426" y="8921"/>
                    </a:lnTo>
                    <a:lnTo>
                      <a:pt x="15426" y="20868"/>
                    </a:lnTo>
                    <a:lnTo>
                      <a:pt x="15955" y="20868"/>
                    </a:lnTo>
                    <a:lnTo>
                      <a:pt x="15955" y="14413"/>
                    </a:lnTo>
                    <a:lnTo>
                      <a:pt x="18014" y="14413"/>
                    </a:lnTo>
                    <a:lnTo>
                      <a:pt x="18014" y="20868"/>
                    </a:lnTo>
                    <a:lnTo>
                      <a:pt x="18543" y="20868"/>
                    </a:lnTo>
                    <a:close/>
                    <a:moveTo>
                      <a:pt x="16974" y="7438"/>
                    </a:moveTo>
                    <a:cubicBezTo>
                      <a:pt x="16057" y="7438"/>
                      <a:pt x="15303" y="6705"/>
                      <a:pt x="15303" y="5838"/>
                    </a:cubicBezTo>
                    <a:cubicBezTo>
                      <a:pt x="15303" y="4952"/>
                      <a:pt x="16057" y="4258"/>
                      <a:pt x="16974" y="4258"/>
                    </a:cubicBezTo>
                    <a:cubicBezTo>
                      <a:pt x="17912" y="4258"/>
                      <a:pt x="18666" y="4952"/>
                      <a:pt x="18666" y="5838"/>
                    </a:cubicBezTo>
                    <a:cubicBezTo>
                      <a:pt x="18666" y="6705"/>
                      <a:pt x="17912" y="7438"/>
                      <a:pt x="16974" y="7438"/>
                    </a:cubicBezTo>
                    <a:close/>
                    <a:moveTo>
                      <a:pt x="16974" y="4971"/>
                    </a:moveTo>
                    <a:cubicBezTo>
                      <a:pt x="16485" y="4971"/>
                      <a:pt x="16057" y="5357"/>
                      <a:pt x="16057" y="5838"/>
                    </a:cubicBezTo>
                    <a:cubicBezTo>
                      <a:pt x="16057" y="6301"/>
                      <a:pt x="16485" y="6705"/>
                      <a:pt x="16974" y="6705"/>
                    </a:cubicBezTo>
                    <a:cubicBezTo>
                      <a:pt x="17484" y="6705"/>
                      <a:pt x="17891" y="6301"/>
                      <a:pt x="17891" y="5838"/>
                    </a:cubicBezTo>
                    <a:cubicBezTo>
                      <a:pt x="17891" y="5357"/>
                      <a:pt x="17484" y="4971"/>
                      <a:pt x="16974" y="4971"/>
                    </a:cubicBezTo>
                    <a:close/>
                    <a:moveTo>
                      <a:pt x="6949" y="21600"/>
                    </a:moveTo>
                    <a:lnTo>
                      <a:pt x="4891" y="21600"/>
                    </a:lnTo>
                    <a:lnTo>
                      <a:pt x="4891" y="15126"/>
                    </a:lnTo>
                    <a:lnTo>
                      <a:pt x="4361" y="15126"/>
                    </a:lnTo>
                    <a:lnTo>
                      <a:pt x="4361" y="21600"/>
                    </a:lnTo>
                    <a:lnTo>
                      <a:pt x="2282" y="21600"/>
                    </a:lnTo>
                    <a:lnTo>
                      <a:pt x="2282" y="11060"/>
                    </a:lnTo>
                    <a:cubicBezTo>
                      <a:pt x="2140" y="11349"/>
                      <a:pt x="2078" y="11677"/>
                      <a:pt x="2078" y="12004"/>
                    </a:cubicBezTo>
                    <a:lnTo>
                      <a:pt x="2078" y="14817"/>
                    </a:lnTo>
                    <a:lnTo>
                      <a:pt x="0" y="14817"/>
                    </a:lnTo>
                    <a:lnTo>
                      <a:pt x="0" y="12004"/>
                    </a:lnTo>
                    <a:cubicBezTo>
                      <a:pt x="0" y="9596"/>
                      <a:pt x="2078" y="7630"/>
                      <a:pt x="4626" y="7630"/>
                    </a:cubicBezTo>
                    <a:lnTo>
                      <a:pt x="6256" y="7630"/>
                    </a:lnTo>
                    <a:cubicBezTo>
                      <a:pt x="7478" y="7630"/>
                      <a:pt x="8457" y="6705"/>
                      <a:pt x="8457" y="5530"/>
                    </a:cubicBezTo>
                    <a:lnTo>
                      <a:pt x="8457" y="3333"/>
                    </a:lnTo>
                    <a:lnTo>
                      <a:pt x="10535" y="3333"/>
                    </a:lnTo>
                    <a:lnTo>
                      <a:pt x="10535" y="5530"/>
                    </a:lnTo>
                    <a:cubicBezTo>
                      <a:pt x="10535" y="7515"/>
                      <a:pt x="9007" y="9210"/>
                      <a:pt x="6949" y="9538"/>
                    </a:cubicBezTo>
                    <a:lnTo>
                      <a:pt x="6949" y="21600"/>
                    </a:lnTo>
                    <a:close/>
                    <a:moveTo>
                      <a:pt x="6195" y="20868"/>
                    </a:moveTo>
                    <a:lnTo>
                      <a:pt x="6195" y="8921"/>
                    </a:lnTo>
                    <a:lnTo>
                      <a:pt x="6745" y="8825"/>
                    </a:lnTo>
                    <a:cubicBezTo>
                      <a:pt x="8477" y="8594"/>
                      <a:pt x="9761" y="7187"/>
                      <a:pt x="9761" y="5530"/>
                    </a:cubicBezTo>
                    <a:lnTo>
                      <a:pt x="9761" y="4066"/>
                    </a:lnTo>
                    <a:lnTo>
                      <a:pt x="9231" y="4066"/>
                    </a:lnTo>
                    <a:lnTo>
                      <a:pt x="9231" y="5530"/>
                    </a:lnTo>
                    <a:cubicBezTo>
                      <a:pt x="9231" y="7091"/>
                      <a:pt x="7886" y="8363"/>
                      <a:pt x="6256" y="8363"/>
                    </a:cubicBezTo>
                    <a:lnTo>
                      <a:pt x="4626" y="8363"/>
                    </a:lnTo>
                    <a:cubicBezTo>
                      <a:pt x="2506" y="8363"/>
                      <a:pt x="774" y="10000"/>
                      <a:pt x="774" y="12004"/>
                    </a:cubicBezTo>
                    <a:lnTo>
                      <a:pt x="774" y="14105"/>
                    </a:lnTo>
                    <a:lnTo>
                      <a:pt x="1304" y="14105"/>
                    </a:lnTo>
                    <a:lnTo>
                      <a:pt x="1304" y="12004"/>
                    </a:lnTo>
                    <a:cubicBezTo>
                      <a:pt x="1304" y="11176"/>
                      <a:pt x="1651" y="10366"/>
                      <a:pt x="2282" y="9788"/>
                    </a:cubicBezTo>
                    <a:cubicBezTo>
                      <a:pt x="2425" y="9654"/>
                      <a:pt x="2608" y="9615"/>
                      <a:pt x="2771" y="9673"/>
                    </a:cubicBezTo>
                    <a:cubicBezTo>
                      <a:pt x="2955" y="9750"/>
                      <a:pt x="3057" y="9904"/>
                      <a:pt x="3057" y="10097"/>
                    </a:cubicBezTo>
                    <a:lnTo>
                      <a:pt x="3057" y="20868"/>
                    </a:lnTo>
                    <a:lnTo>
                      <a:pt x="3586" y="20868"/>
                    </a:lnTo>
                    <a:lnTo>
                      <a:pt x="3586" y="14413"/>
                    </a:lnTo>
                    <a:lnTo>
                      <a:pt x="5645" y="14413"/>
                    </a:lnTo>
                    <a:lnTo>
                      <a:pt x="5645" y="20868"/>
                    </a:lnTo>
                    <a:lnTo>
                      <a:pt x="6195" y="20868"/>
                    </a:lnTo>
                    <a:close/>
                    <a:moveTo>
                      <a:pt x="4626" y="7438"/>
                    </a:moveTo>
                    <a:cubicBezTo>
                      <a:pt x="3688" y="7438"/>
                      <a:pt x="2934" y="6705"/>
                      <a:pt x="2934" y="5838"/>
                    </a:cubicBezTo>
                    <a:cubicBezTo>
                      <a:pt x="2934" y="4952"/>
                      <a:pt x="3688" y="4258"/>
                      <a:pt x="4626" y="4258"/>
                    </a:cubicBezTo>
                    <a:cubicBezTo>
                      <a:pt x="5543" y="4258"/>
                      <a:pt x="6297" y="4952"/>
                      <a:pt x="6297" y="5838"/>
                    </a:cubicBezTo>
                    <a:cubicBezTo>
                      <a:pt x="6297" y="6705"/>
                      <a:pt x="5543" y="7438"/>
                      <a:pt x="4626" y="7438"/>
                    </a:cubicBezTo>
                    <a:close/>
                    <a:moveTo>
                      <a:pt x="4626" y="4971"/>
                    </a:moveTo>
                    <a:cubicBezTo>
                      <a:pt x="4116" y="4971"/>
                      <a:pt x="3709" y="5357"/>
                      <a:pt x="3709" y="5838"/>
                    </a:cubicBezTo>
                    <a:cubicBezTo>
                      <a:pt x="3709" y="6301"/>
                      <a:pt x="4116" y="6705"/>
                      <a:pt x="4626" y="6705"/>
                    </a:cubicBezTo>
                    <a:cubicBezTo>
                      <a:pt x="5115" y="6705"/>
                      <a:pt x="5543" y="6301"/>
                      <a:pt x="5543" y="5838"/>
                    </a:cubicBezTo>
                    <a:cubicBezTo>
                      <a:pt x="5543" y="5357"/>
                      <a:pt x="5115" y="4971"/>
                      <a:pt x="4626" y="4971"/>
                    </a:cubicBezTo>
                    <a:close/>
                    <a:moveTo>
                      <a:pt x="11187" y="0"/>
                    </a:moveTo>
                    <a:lnTo>
                      <a:pt x="10413" y="0"/>
                    </a:lnTo>
                    <a:lnTo>
                      <a:pt x="10413" y="1233"/>
                    </a:lnTo>
                    <a:lnTo>
                      <a:pt x="11187" y="1233"/>
                    </a:lnTo>
                    <a:lnTo>
                      <a:pt x="11187" y="0"/>
                    </a:lnTo>
                    <a:close/>
                    <a:moveTo>
                      <a:pt x="9781" y="1368"/>
                    </a:moveTo>
                    <a:lnTo>
                      <a:pt x="9231" y="250"/>
                    </a:lnTo>
                    <a:lnTo>
                      <a:pt x="8538" y="559"/>
                    </a:lnTo>
                    <a:lnTo>
                      <a:pt x="9088" y="1676"/>
                    </a:lnTo>
                    <a:lnTo>
                      <a:pt x="9781" y="1368"/>
                    </a:lnTo>
                    <a:close/>
                    <a:moveTo>
                      <a:pt x="8558" y="2042"/>
                    </a:moveTo>
                    <a:lnTo>
                      <a:pt x="7560" y="1252"/>
                    </a:lnTo>
                    <a:lnTo>
                      <a:pt x="7071" y="1811"/>
                    </a:lnTo>
                    <a:lnTo>
                      <a:pt x="8069" y="2601"/>
                    </a:lnTo>
                    <a:lnTo>
                      <a:pt x="8558" y="2042"/>
                    </a:lnTo>
                    <a:close/>
                    <a:moveTo>
                      <a:pt x="7764" y="3160"/>
                    </a:moveTo>
                    <a:lnTo>
                      <a:pt x="6500" y="2832"/>
                    </a:lnTo>
                    <a:lnTo>
                      <a:pt x="6297" y="3545"/>
                    </a:lnTo>
                    <a:lnTo>
                      <a:pt x="7560" y="3854"/>
                    </a:lnTo>
                    <a:lnTo>
                      <a:pt x="7764" y="3160"/>
                    </a:lnTo>
                    <a:close/>
                    <a:moveTo>
                      <a:pt x="13082" y="559"/>
                    </a:moveTo>
                    <a:lnTo>
                      <a:pt x="12369" y="250"/>
                    </a:lnTo>
                    <a:lnTo>
                      <a:pt x="11819" y="1368"/>
                    </a:lnTo>
                    <a:lnTo>
                      <a:pt x="12532" y="1676"/>
                    </a:lnTo>
                    <a:lnTo>
                      <a:pt x="13082" y="559"/>
                    </a:lnTo>
                    <a:close/>
                    <a:moveTo>
                      <a:pt x="14529" y="1811"/>
                    </a:moveTo>
                    <a:lnTo>
                      <a:pt x="14040" y="1252"/>
                    </a:lnTo>
                    <a:lnTo>
                      <a:pt x="13042" y="2042"/>
                    </a:lnTo>
                    <a:lnTo>
                      <a:pt x="13551" y="2601"/>
                    </a:lnTo>
                    <a:lnTo>
                      <a:pt x="14529" y="1811"/>
                    </a:lnTo>
                    <a:close/>
                    <a:moveTo>
                      <a:pt x="15303" y="3545"/>
                    </a:moveTo>
                    <a:lnTo>
                      <a:pt x="15100" y="2832"/>
                    </a:lnTo>
                    <a:lnTo>
                      <a:pt x="13836" y="3160"/>
                    </a:lnTo>
                    <a:lnTo>
                      <a:pt x="14040" y="3854"/>
                    </a:lnTo>
                    <a:lnTo>
                      <a:pt x="15303" y="3545"/>
                    </a:lnTo>
                    <a:close/>
                  </a:path>
                </a:pathLst>
              </a:custGeom>
              <a:solidFill>
                <a:srgbClr val="EB000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15" name="TextBox 267">
                <a:extLst>
                  <a:ext uri="{FF2B5EF4-FFF2-40B4-BE49-F238E27FC236}">
                    <a16:creationId xmlns:a16="http://schemas.microsoft.com/office/drawing/2014/main" id="{B8902FCE-AF06-CFB3-356F-70E5181DF387}"/>
                  </a:ext>
                </a:extLst>
              </p:cNvPr>
              <p:cNvSpPr/>
              <p:nvPr/>
            </p:nvSpPr>
            <p:spPr>
              <a:xfrm>
                <a:off x="1022040" y="3152880"/>
                <a:ext cx="35136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Kick</a:t>
                </a:r>
                <a:endParaRPr lang="en-GB" sz="1200" spc="-2">
                  <a:latin typeface="Arial"/>
                </a:endParaRPr>
              </a:p>
              <a:p>
                <a:pPr algn="ctr">
                  <a:tabLst>
                    <a:tab pos="0" algn="l"/>
                  </a:tabLst>
                </a:pPr>
                <a:r>
                  <a:rPr lang="en-GB" sz="1200" spc="-2">
                    <a:solidFill>
                      <a:srgbClr val="000000"/>
                    </a:solidFill>
                    <a:latin typeface="Arial"/>
                    <a:ea typeface="DejaVu Sans"/>
                  </a:rPr>
                  <a:t>Off</a:t>
                </a:r>
                <a:endParaRPr lang="en-GB" sz="1200" spc="-2">
                  <a:latin typeface="Arial"/>
                </a:endParaRPr>
              </a:p>
            </p:txBody>
          </p:sp>
        </p:grpSp>
      </p:grpSp>
      <p:grpSp>
        <p:nvGrpSpPr>
          <p:cNvPr id="226" name="Group 338">
            <a:extLst>
              <a:ext uri="{FF2B5EF4-FFF2-40B4-BE49-F238E27FC236}">
                <a16:creationId xmlns:a16="http://schemas.microsoft.com/office/drawing/2014/main" id="{731C0C10-1E6C-8EFA-CEFB-A5863DE4831A}"/>
              </a:ext>
            </a:extLst>
          </p:cNvPr>
          <p:cNvGrpSpPr/>
          <p:nvPr/>
        </p:nvGrpSpPr>
        <p:grpSpPr>
          <a:xfrm>
            <a:off x="7395840" y="6151105"/>
            <a:ext cx="3217680" cy="2255760"/>
            <a:chOff x="3697920" y="1859400"/>
            <a:chExt cx="1608840" cy="1127880"/>
          </a:xfrm>
        </p:grpSpPr>
        <p:sp>
          <p:nvSpPr>
            <p:cNvPr id="227" name="Arrow: Chevron 339">
              <a:extLst>
                <a:ext uri="{FF2B5EF4-FFF2-40B4-BE49-F238E27FC236}">
                  <a16:creationId xmlns:a16="http://schemas.microsoft.com/office/drawing/2014/main" id="{6A3FBFF1-6D43-21BF-9D4E-04DDEE5EC235}"/>
                </a:ext>
              </a:extLst>
            </p:cNvPr>
            <p:cNvSpPr/>
            <p:nvPr/>
          </p:nvSpPr>
          <p:spPr>
            <a:xfrm>
              <a:off x="3703320" y="1859400"/>
              <a:ext cx="1603440" cy="348840"/>
            </a:xfrm>
            <a:prstGeom prst="chevron">
              <a:avLst>
                <a:gd name="adj" fmla="val 50000"/>
              </a:avLst>
            </a:prstGeom>
            <a:solidFill>
              <a:schemeClr val="accent3">
                <a:lumMod val="75000"/>
              </a:schemeClr>
            </a:solidFill>
            <a:ln>
              <a:solidFill>
                <a:srgbClr val="E179DA"/>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DESIGN</a:t>
              </a:r>
              <a:endParaRPr lang="en-GB" spc="-2">
                <a:latin typeface="Arial"/>
              </a:endParaRPr>
            </a:p>
          </p:txBody>
        </p:sp>
        <p:sp>
          <p:nvSpPr>
            <p:cNvPr id="228" name="Freeform 126">
              <a:extLst>
                <a:ext uri="{FF2B5EF4-FFF2-40B4-BE49-F238E27FC236}">
                  <a16:creationId xmlns:a16="http://schemas.microsoft.com/office/drawing/2014/main" id="{9458BE45-4B75-CB25-34A3-13B8D52F1A85}"/>
                </a:ext>
              </a:extLst>
            </p:cNvPr>
            <p:cNvSpPr/>
            <p:nvPr/>
          </p:nvSpPr>
          <p:spPr>
            <a:xfrm>
              <a:off x="4816440" y="1891080"/>
              <a:ext cx="296640" cy="289800"/>
            </a:xfrm>
            <a:custGeom>
              <a:avLst/>
              <a:gdLst/>
              <a:ahLst/>
              <a:cxnLst/>
              <a:rect l="l" t="t" r="r" b="b"/>
              <a:pathLst>
                <a:path w="999" h="980">
                  <a:moveTo>
                    <a:pt x="837" y="74"/>
                  </a:moveTo>
                  <a:lnTo>
                    <a:pt x="530" y="382"/>
                  </a:lnTo>
                  <a:lnTo>
                    <a:pt x="501" y="354"/>
                  </a:lnTo>
                  <a:lnTo>
                    <a:pt x="399" y="252"/>
                  </a:lnTo>
                  <a:lnTo>
                    <a:pt x="578" y="73"/>
                  </a:lnTo>
                  <a:lnTo>
                    <a:pt x="560" y="54"/>
                  </a:lnTo>
                  <a:cubicBezTo>
                    <a:pt x="506" y="0"/>
                    <a:pt x="419" y="0"/>
                    <a:pt x="365" y="54"/>
                  </a:cubicBezTo>
                  <a:lnTo>
                    <a:pt x="295" y="124"/>
                  </a:lnTo>
                  <a:cubicBezTo>
                    <a:pt x="243" y="97"/>
                    <a:pt x="178" y="107"/>
                    <a:pt x="136" y="149"/>
                  </a:cubicBezTo>
                  <a:cubicBezTo>
                    <a:pt x="93" y="191"/>
                    <a:pt x="84" y="256"/>
                    <a:pt x="111" y="309"/>
                  </a:cubicBezTo>
                  <a:lnTo>
                    <a:pt x="41" y="378"/>
                  </a:lnTo>
                  <a:cubicBezTo>
                    <a:pt x="15" y="404"/>
                    <a:pt x="0" y="439"/>
                    <a:pt x="0" y="476"/>
                  </a:cubicBezTo>
                  <a:cubicBezTo>
                    <a:pt x="0" y="512"/>
                    <a:pt x="15" y="547"/>
                    <a:pt x="41" y="573"/>
                  </a:cubicBezTo>
                  <a:lnTo>
                    <a:pt x="59" y="592"/>
                  </a:lnTo>
                  <a:lnTo>
                    <a:pt x="239" y="412"/>
                  </a:lnTo>
                  <a:lnTo>
                    <a:pt x="369" y="543"/>
                  </a:lnTo>
                  <a:lnTo>
                    <a:pt x="164" y="748"/>
                  </a:lnTo>
                  <a:lnTo>
                    <a:pt x="160" y="751"/>
                  </a:lnTo>
                  <a:lnTo>
                    <a:pt x="93" y="979"/>
                  </a:lnTo>
                  <a:lnTo>
                    <a:pt x="321" y="912"/>
                  </a:lnTo>
                  <a:lnTo>
                    <a:pt x="530" y="703"/>
                  </a:lnTo>
                  <a:lnTo>
                    <a:pt x="798" y="972"/>
                  </a:lnTo>
                  <a:lnTo>
                    <a:pt x="959" y="811"/>
                  </a:lnTo>
                  <a:lnTo>
                    <a:pt x="709" y="561"/>
                  </a:lnTo>
                  <a:lnTo>
                    <a:pt x="690" y="543"/>
                  </a:lnTo>
                  <a:lnTo>
                    <a:pt x="998" y="235"/>
                  </a:lnTo>
                  <a:lnTo>
                    <a:pt x="837" y="74"/>
                  </a:lnTo>
                  <a:close/>
                  <a:moveTo>
                    <a:pt x="945" y="235"/>
                  </a:moveTo>
                  <a:lnTo>
                    <a:pt x="865" y="315"/>
                  </a:lnTo>
                  <a:lnTo>
                    <a:pt x="757" y="207"/>
                  </a:lnTo>
                  <a:lnTo>
                    <a:pt x="837" y="127"/>
                  </a:lnTo>
                  <a:lnTo>
                    <a:pt x="945" y="235"/>
                  </a:lnTo>
                  <a:close/>
                  <a:moveTo>
                    <a:pt x="276" y="822"/>
                  </a:moveTo>
                  <a:lnTo>
                    <a:pt x="731" y="368"/>
                  </a:lnTo>
                  <a:lnTo>
                    <a:pt x="772" y="408"/>
                  </a:lnTo>
                  <a:lnTo>
                    <a:pt x="317" y="863"/>
                  </a:lnTo>
                  <a:lnTo>
                    <a:pt x="276" y="822"/>
                  </a:lnTo>
                  <a:close/>
                  <a:moveTo>
                    <a:pt x="209" y="755"/>
                  </a:moveTo>
                  <a:lnTo>
                    <a:pt x="664" y="301"/>
                  </a:lnTo>
                  <a:lnTo>
                    <a:pt x="705" y="341"/>
                  </a:lnTo>
                  <a:lnTo>
                    <a:pt x="250" y="796"/>
                  </a:lnTo>
                  <a:lnTo>
                    <a:pt x="209" y="755"/>
                  </a:lnTo>
                  <a:close/>
                  <a:moveTo>
                    <a:pt x="690" y="274"/>
                  </a:moveTo>
                  <a:lnTo>
                    <a:pt x="731" y="233"/>
                  </a:lnTo>
                  <a:lnTo>
                    <a:pt x="839" y="341"/>
                  </a:lnTo>
                  <a:lnTo>
                    <a:pt x="798" y="382"/>
                  </a:lnTo>
                  <a:lnTo>
                    <a:pt x="690" y="274"/>
                  </a:lnTo>
                  <a:close/>
                  <a:moveTo>
                    <a:pt x="38" y="476"/>
                  </a:moveTo>
                  <a:cubicBezTo>
                    <a:pt x="38" y="449"/>
                    <a:pt x="48" y="424"/>
                    <a:pt x="67" y="405"/>
                  </a:cubicBezTo>
                  <a:lnTo>
                    <a:pt x="158" y="314"/>
                  </a:lnTo>
                  <a:lnTo>
                    <a:pt x="150" y="301"/>
                  </a:lnTo>
                  <a:cubicBezTo>
                    <a:pt x="123" y="262"/>
                    <a:pt x="129" y="209"/>
                    <a:pt x="162" y="175"/>
                  </a:cubicBezTo>
                  <a:cubicBezTo>
                    <a:pt x="182" y="156"/>
                    <a:pt x="207" y="146"/>
                    <a:pt x="233" y="146"/>
                  </a:cubicBezTo>
                  <a:cubicBezTo>
                    <a:pt x="252" y="146"/>
                    <a:pt x="271" y="152"/>
                    <a:pt x="288" y="163"/>
                  </a:cubicBezTo>
                  <a:lnTo>
                    <a:pt x="301" y="171"/>
                  </a:lnTo>
                  <a:lnTo>
                    <a:pt x="392" y="80"/>
                  </a:lnTo>
                  <a:cubicBezTo>
                    <a:pt x="428" y="44"/>
                    <a:pt x="486" y="42"/>
                    <a:pt x="525" y="73"/>
                  </a:cubicBezTo>
                  <a:lnTo>
                    <a:pt x="60" y="538"/>
                  </a:lnTo>
                  <a:cubicBezTo>
                    <a:pt x="46" y="521"/>
                    <a:pt x="38" y="499"/>
                    <a:pt x="38" y="476"/>
                  </a:cubicBezTo>
                  <a:close/>
                  <a:moveTo>
                    <a:pt x="265" y="386"/>
                  </a:moveTo>
                  <a:lnTo>
                    <a:pt x="373" y="278"/>
                  </a:lnTo>
                  <a:lnTo>
                    <a:pt x="402" y="308"/>
                  </a:lnTo>
                  <a:lnTo>
                    <a:pt x="348" y="362"/>
                  </a:lnTo>
                  <a:lnTo>
                    <a:pt x="375" y="388"/>
                  </a:lnTo>
                  <a:lnTo>
                    <a:pt x="429" y="334"/>
                  </a:lnTo>
                  <a:lnTo>
                    <a:pt x="458" y="364"/>
                  </a:lnTo>
                  <a:lnTo>
                    <a:pt x="404" y="418"/>
                  </a:lnTo>
                  <a:lnTo>
                    <a:pt x="431" y="444"/>
                  </a:lnTo>
                  <a:lnTo>
                    <a:pt x="485" y="390"/>
                  </a:lnTo>
                  <a:lnTo>
                    <a:pt x="503" y="408"/>
                  </a:lnTo>
                  <a:lnTo>
                    <a:pt x="395" y="516"/>
                  </a:lnTo>
                  <a:lnTo>
                    <a:pt x="265" y="386"/>
                  </a:lnTo>
                  <a:close/>
                  <a:moveTo>
                    <a:pt x="189" y="788"/>
                  </a:moveTo>
                  <a:lnTo>
                    <a:pt x="284" y="884"/>
                  </a:lnTo>
                  <a:lnTo>
                    <a:pt x="149" y="924"/>
                  </a:lnTo>
                  <a:lnTo>
                    <a:pt x="189" y="788"/>
                  </a:lnTo>
                  <a:close/>
                  <a:moveTo>
                    <a:pt x="682" y="587"/>
                  </a:moveTo>
                  <a:lnTo>
                    <a:pt x="628" y="641"/>
                  </a:lnTo>
                  <a:lnTo>
                    <a:pt x="655" y="668"/>
                  </a:lnTo>
                  <a:lnTo>
                    <a:pt x="709" y="614"/>
                  </a:lnTo>
                  <a:lnTo>
                    <a:pt x="738" y="643"/>
                  </a:lnTo>
                  <a:lnTo>
                    <a:pt x="684" y="697"/>
                  </a:lnTo>
                  <a:lnTo>
                    <a:pt x="711" y="724"/>
                  </a:lnTo>
                  <a:lnTo>
                    <a:pt x="765" y="670"/>
                  </a:lnTo>
                  <a:lnTo>
                    <a:pt x="794" y="699"/>
                  </a:lnTo>
                  <a:lnTo>
                    <a:pt x="740" y="753"/>
                  </a:lnTo>
                  <a:lnTo>
                    <a:pt x="767" y="780"/>
                  </a:lnTo>
                  <a:lnTo>
                    <a:pt x="820" y="726"/>
                  </a:lnTo>
                  <a:lnTo>
                    <a:pt x="850" y="755"/>
                  </a:lnTo>
                  <a:lnTo>
                    <a:pt x="796" y="809"/>
                  </a:lnTo>
                  <a:lnTo>
                    <a:pt x="823" y="836"/>
                  </a:lnTo>
                  <a:lnTo>
                    <a:pt x="876" y="782"/>
                  </a:lnTo>
                  <a:lnTo>
                    <a:pt x="906" y="811"/>
                  </a:lnTo>
                  <a:lnTo>
                    <a:pt x="798" y="919"/>
                  </a:lnTo>
                  <a:lnTo>
                    <a:pt x="556" y="677"/>
                  </a:lnTo>
                  <a:lnTo>
                    <a:pt x="664" y="569"/>
                  </a:lnTo>
                  <a:lnTo>
                    <a:pt x="682" y="587"/>
                  </a:lnTo>
                  <a:close/>
                </a:path>
              </a:pathLst>
            </a:custGeom>
            <a:solidFill>
              <a:schemeClr val="bg1"/>
            </a:solidFill>
            <a:ln w="0">
              <a:noFill/>
            </a:ln>
          </p:spPr>
          <p:style>
            <a:lnRef idx="0">
              <a:scrgbClr r="0" g="0" b="0"/>
            </a:lnRef>
            <a:fillRef idx="0">
              <a:scrgbClr r="0" g="0" b="0"/>
            </a:fillRef>
            <a:effectRef idx="0">
              <a:scrgbClr r="0" g="0" b="0"/>
            </a:effectRef>
            <a:fontRef idx="minor"/>
          </p:style>
          <p:txBody>
            <a:bodyPr/>
            <a:lstStyle/>
            <a:p>
              <a:endParaRPr lang="en-GB" sz="3600"/>
            </a:p>
          </p:txBody>
        </p:sp>
        <p:sp>
          <p:nvSpPr>
            <p:cNvPr id="229" name="Rectangle 341">
              <a:extLst>
                <a:ext uri="{FF2B5EF4-FFF2-40B4-BE49-F238E27FC236}">
                  <a16:creationId xmlns:a16="http://schemas.microsoft.com/office/drawing/2014/main" id="{AC3FB06E-1F43-B1E3-5D5B-3E0D239EADD5}"/>
                </a:ext>
              </a:extLst>
            </p:cNvPr>
            <p:cNvSpPr/>
            <p:nvPr/>
          </p:nvSpPr>
          <p:spPr>
            <a:xfrm>
              <a:off x="3703680" y="2228760"/>
              <a:ext cx="1418400" cy="758520"/>
            </a:xfrm>
            <a:prstGeom prst="rect">
              <a:avLst/>
            </a:prstGeom>
            <a:noFill/>
            <a:ln w="28575">
              <a:solidFill>
                <a:srgbClr val="E179DA"/>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230" name="Shape">
              <a:extLst>
                <a:ext uri="{FF2B5EF4-FFF2-40B4-BE49-F238E27FC236}">
                  <a16:creationId xmlns:a16="http://schemas.microsoft.com/office/drawing/2014/main" id="{886B2C30-2BA9-F54B-581C-74A60D340A37}"/>
                </a:ext>
              </a:extLst>
            </p:cNvPr>
            <p:cNvSpPr/>
            <p:nvPr/>
          </p:nvSpPr>
          <p:spPr>
            <a:xfrm>
              <a:off x="3993840" y="232524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E179DA"/>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31" name="TextBox 343">
              <a:extLst>
                <a:ext uri="{FF2B5EF4-FFF2-40B4-BE49-F238E27FC236}">
                  <a16:creationId xmlns:a16="http://schemas.microsoft.com/office/drawing/2014/main" id="{041BE1B2-10FE-57FD-4284-904B8B0917EC}"/>
                </a:ext>
              </a:extLst>
            </p:cNvPr>
            <p:cNvSpPr/>
            <p:nvPr/>
          </p:nvSpPr>
          <p:spPr>
            <a:xfrm>
              <a:off x="3697920" y="2524680"/>
              <a:ext cx="7502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Migration Strategy</a:t>
              </a:r>
              <a:endParaRPr lang="en-GB" sz="1200" spc="-2">
                <a:latin typeface="Arial"/>
              </a:endParaRPr>
            </a:p>
          </p:txBody>
        </p:sp>
        <p:sp>
          <p:nvSpPr>
            <p:cNvPr id="232" name="Shape">
              <a:extLst>
                <a:ext uri="{FF2B5EF4-FFF2-40B4-BE49-F238E27FC236}">
                  <a16:creationId xmlns:a16="http://schemas.microsoft.com/office/drawing/2014/main" id="{18B02E1C-2C3B-7D3E-764C-5211F8D0EB48}"/>
                </a:ext>
              </a:extLst>
            </p:cNvPr>
            <p:cNvSpPr/>
            <p:nvPr/>
          </p:nvSpPr>
          <p:spPr>
            <a:xfrm>
              <a:off x="4598640" y="2332440"/>
              <a:ext cx="158400" cy="204480"/>
            </a:xfrm>
            <a:custGeom>
              <a:avLst/>
              <a:gdLst/>
              <a:ahLst/>
              <a:cxnLst/>
              <a:rect l="l" t="t" r="r" b="b"/>
              <a:pathLst>
                <a:path w="17257" h="18073">
                  <a:moveTo>
                    <a:pt x="3186" y="9460"/>
                  </a:moveTo>
                  <a:lnTo>
                    <a:pt x="8911" y="9460"/>
                  </a:lnTo>
                  <a:lnTo>
                    <a:pt x="6063" y="5429"/>
                  </a:lnTo>
                  <a:lnTo>
                    <a:pt x="3186" y="9460"/>
                  </a:lnTo>
                  <a:close/>
                  <a:moveTo>
                    <a:pt x="5019" y="8590"/>
                  </a:moveTo>
                  <a:lnTo>
                    <a:pt x="6063" y="7147"/>
                  </a:lnTo>
                  <a:lnTo>
                    <a:pt x="7078" y="8590"/>
                  </a:lnTo>
                  <a:lnTo>
                    <a:pt x="5019" y="8590"/>
                  </a:lnTo>
                  <a:close/>
                  <a:moveTo>
                    <a:pt x="3722" y="15027"/>
                  </a:moveTo>
                  <a:lnTo>
                    <a:pt x="8544" y="15027"/>
                  </a:lnTo>
                  <a:lnTo>
                    <a:pt x="8544" y="11133"/>
                  </a:lnTo>
                  <a:lnTo>
                    <a:pt x="3722" y="11133"/>
                  </a:lnTo>
                  <a:lnTo>
                    <a:pt x="3722" y="15027"/>
                  </a:lnTo>
                  <a:close/>
                  <a:moveTo>
                    <a:pt x="4794" y="12003"/>
                  </a:moveTo>
                  <a:lnTo>
                    <a:pt x="7473" y="12003"/>
                  </a:lnTo>
                  <a:lnTo>
                    <a:pt x="7473" y="14156"/>
                  </a:lnTo>
                  <a:lnTo>
                    <a:pt x="4794" y="14156"/>
                  </a:lnTo>
                  <a:lnTo>
                    <a:pt x="4794" y="12003"/>
                  </a:lnTo>
                  <a:close/>
                  <a:moveTo>
                    <a:pt x="11731" y="8590"/>
                  </a:moveTo>
                  <a:cubicBezTo>
                    <a:pt x="10405" y="8590"/>
                    <a:pt x="9334" y="9483"/>
                    <a:pt x="9334" y="10560"/>
                  </a:cubicBezTo>
                  <a:cubicBezTo>
                    <a:pt x="9334" y="11637"/>
                    <a:pt x="10405" y="12507"/>
                    <a:pt x="11731" y="12507"/>
                  </a:cubicBezTo>
                  <a:cubicBezTo>
                    <a:pt x="13056" y="12507"/>
                    <a:pt x="14127" y="11637"/>
                    <a:pt x="14127" y="10560"/>
                  </a:cubicBezTo>
                  <a:cubicBezTo>
                    <a:pt x="14127" y="9483"/>
                    <a:pt x="13056" y="8590"/>
                    <a:pt x="11731" y="8590"/>
                  </a:cubicBezTo>
                  <a:close/>
                  <a:moveTo>
                    <a:pt x="11731" y="11637"/>
                  </a:moveTo>
                  <a:cubicBezTo>
                    <a:pt x="10997" y="11637"/>
                    <a:pt x="10405" y="11156"/>
                    <a:pt x="10405" y="10560"/>
                  </a:cubicBezTo>
                  <a:cubicBezTo>
                    <a:pt x="10405" y="9942"/>
                    <a:pt x="10997" y="9460"/>
                    <a:pt x="11731" y="9460"/>
                  </a:cubicBezTo>
                  <a:cubicBezTo>
                    <a:pt x="12464" y="9460"/>
                    <a:pt x="13084" y="9942"/>
                    <a:pt x="13084" y="10560"/>
                  </a:cubicBezTo>
                  <a:cubicBezTo>
                    <a:pt x="13084" y="11156"/>
                    <a:pt x="12464" y="11637"/>
                    <a:pt x="11731" y="11637"/>
                  </a:cubicBezTo>
                  <a:close/>
                  <a:moveTo>
                    <a:pt x="17257" y="14523"/>
                  </a:moveTo>
                  <a:cubicBezTo>
                    <a:pt x="17265" y="12300"/>
                    <a:pt x="17208" y="10489"/>
                    <a:pt x="17233" y="5594"/>
                  </a:cubicBezTo>
                  <a:cubicBezTo>
                    <a:pt x="17189" y="5539"/>
                    <a:pt x="12410" y="1642"/>
                    <a:pt x="9995" y="34"/>
                  </a:cubicBezTo>
                  <a:lnTo>
                    <a:pt x="4343" y="0"/>
                  </a:lnTo>
                  <a:lnTo>
                    <a:pt x="0" y="0"/>
                  </a:lnTo>
                  <a:lnTo>
                    <a:pt x="0" y="18073"/>
                  </a:lnTo>
                  <a:lnTo>
                    <a:pt x="17257" y="18073"/>
                  </a:lnTo>
                  <a:lnTo>
                    <a:pt x="17257" y="14523"/>
                  </a:lnTo>
                  <a:close/>
                  <a:moveTo>
                    <a:pt x="10067" y="1169"/>
                  </a:moveTo>
                  <a:lnTo>
                    <a:pt x="15735" y="5567"/>
                  </a:lnTo>
                  <a:lnTo>
                    <a:pt x="10067" y="5567"/>
                  </a:lnTo>
                  <a:lnTo>
                    <a:pt x="10067" y="1169"/>
                  </a:lnTo>
                  <a:close/>
                  <a:moveTo>
                    <a:pt x="1072" y="17203"/>
                  </a:moveTo>
                  <a:lnTo>
                    <a:pt x="1072" y="871"/>
                  </a:lnTo>
                  <a:lnTo>
                    <a:pt x="8995" y="871"/>
                  </a:lnTo>
                  <a:lnTo>
                    <a:pt x="8995" y="6437"/>
                  </a:lnTo>
                  <a:lnTo>
                    <a:pt x="16186" y="6437"/>
                  </a:lnTo>
                  <a:lnTo>
                    <a:pt x="16186" y="17203"/>
                  </a:lnTo>
                  <a:lnTo>
                    <a:pt x="1072" y="17203"/>
                  </a:lnTo>
                  <a:close/>
                </a:path>
              </a:pathLst>
            </a:custGeom>
            <a:solidFill>
              <a:srgbClr val="E179DA"/>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33" name="TextBox 345">
              <a:extLst>
                <a:ext uri="{FF2B5EF4-FFF2-40B4-BE49-F238E27FC236}">
                  <a16:creationId xmlns:a16="http://schemas.microsoft.com/office/drawing/2014/main" id="{E95F9146-4BB2-1564-A331-ED11EFC7C527}"/>
                </a:ext>
              </a:extLst>
            </p:cNvPr>
            <p:cNvSpPr/>
            <p:nvPr/>
          </p:nvSpPr>
          <p:spPr>
            <a:xfrm>
              <a:off x="4217400" y="2514600"/>
              <a:ext cx="91296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Migration </a:t>
              </a:r>
              <a:endParaRPr lang="en-GB" sz="1200" spc="-2">
                <a:latin typeface="Arial"/>
              </a:endParaRPr>
            </a:p>
            <a:p>
              <a:pPr algn="ctr">
                <a:tabLst>
                  <a:tab pos="0" algn="l"/>
                </a:tabLst>
              </a:pPr>
              <a:r>
                <a:rPr lang="en-GB" sz="1200" spc="-2">
                  <a:solidFill>
                    <a:srgbClr val="000000"/>
                  </a:solidFill>
                  <a:latin typeface="Arial"/>
                  <a:ea typeface="DejaVu Sans"/>
                </a:rPr>
                <a:t>Storyboard</a:t>
              </a:r>
              <a:endParaRPr lang="en-GB" sz="1200" spc="-2">
                <a:latin typeface="Arial"/>
              </a:endParaRPr>
            </a:p>
          </p:txBody>
        </p:sp>
      </p:grpSp>
      <p:grpSp>
        <p:nvGrpSpPr>
          <p:cNvPr id="234" name="Group 346">
            <a:extLst>
              <a:ext uri="{FF2B5EF4-FFF2-40B4-BE49-F238E27FC236}">
                <a16:creationId xmlns:a16="http://schemas.microsoft.com/office/drawing/2014/main" id="{C415F1DE-A33E-151B-36DE-870F7F361283}"/>
              </a:ext>
            </a:extLst>
          </p:cNvPr>
          <p:cNvGrpSpPr/>
          <p:nvPr/>
        </p:nvGrpSpPr>
        <p:grpSpPr>
          <a:xfrm>
            <a:off x="10473840" y="6151105"/>
            <a:ext cx="3771360" cy="2255760"/>
            <a:chOff x="5236920" y="1859400"/>
            <a:chExt cx="1885680" cy="1127880"/>
          </a:xfrm>
        </p:grpSpPr>
        <p:sp>
          <p:nvSpPr>
            <p:cNvPr id="235" name="Arrow: Chevron 347">
              <a:extLst>
                <a:ext uri="{FF2B5EF4-FFF2-40B4-BE49-F238E27FC236}">
                  <a16:creationId xmlns:a16="http://schemas.microsoft.com/office/drawing/2014/main" id="{CFC6F1AB-CD63-D4FA-E79E-46ADAF3609AD}"/>
                </a:ext>
              </a:extLst>
            </p:cNvPr>
            <p:cNvSpPr/>
            <p:nvPr/>
          </p:nvSpPr>
          <p:spPr>
            <a:xfrm>
              <a:off x="5236920" y="1859400"/>
              <a:ext cx="1885680" cy="348840"/>
            </a:xfrm>
            <a:prstGeom prst="chevron">
              <a:avLst>
                <a:gd name="adj" fmla="val 50000"/>
              </a:avLst>
            </a:prstGeom>
            <a:solidFill>
              <a:schemeClr val="accent2"/>
            </a:solidFill>
            <a:ln>
              <a:solidFill>
                <a:srgbClr val="95008A"/>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PLAN</a:t>
              </a:r>
              <a:endParaRPr lang="en-GB" spc="-2">
                <a:latin typeface="Arial"/>
              </a:endParaRPr>
            </a:p>
          </p:txBody>
        </p:sp>
        <p:sp>
          <p:nvSpPr>
            <p:cNvPr id="236" name="Freeform 123">
              <a:extLst>
                <a:ext uri="{FF2B5EF4-FFF2-40B4-BE49-F238E27FC236}">
                  <a16:creationId xmlns:a16="http://schemas.microsoft.com/office/drawing/2014/main" id="{CFE8110B-F4F0-C28D-9D4E-A42580E32FC2}"/>
                </a:ext>
              </a:extLst>
            </p:cNvPr>
            <p:cNvSpPr/>
            <p:nvPr/>
          </p:nvSpPr>
          <p:spPr>
            <a:xfrm>
              <a:off x="6624360" y="1904400"/>
              <a:ext cx="280440" cy="293760"/>
            </a:xfrm>
            <a:custGeom>
              <a:avLst/>
              <a:gdLst/>
              <a:ahLst/>
              <a:cxnLst/>
              <a:rect l="l" t="t" r="r" b="b"/>
              <a:pathLst>
                <a:path w="925" h="972">
                  <a:moveTo>
                    <a:pt x="550" y="755"/>
                  </a:moveTo>
                  <a:lnTo>
                    <a:pt x="607" y="698"/>
                  </a:lnTo>
                  <a:lnTo>
                    <a:pt x="550" y="641"/>
                  </a:lnTo>
                  <a:lnTo>
                    <a:pt x="577" y="614"/>
                  </a:lnTo>
                  <a:lnTo>
                    <a:pt x="634" y="671"/>
                  </a:lnTo>
                  <a:lnTo>
                    <a:pt x="691" y="614"/>
                  </a:lnTo>
                  <a:lnTo>
                    <a:pt x="717" y="641"/>
                  </a:lnTo>
                  <a:lnTo>
                    <a:pt x="660" y="698"/>
                  </a:lnTo>
                  <a:lnTo>
                    <a:pt x="717" y="755"/>
                  </a:lnTo>
                  <a:lnTo>
                    <a:pt x="691" y="782"/>
                  </a:lnTo>
                  <a:lnTo>
                    <a:pt x="634" y="725"/>
                  </a:lnTo>
                  <a:lnTo>
                    <a:pt x="577" y="782"/>
                  </a:lnTo>
                  <a:lnTo>
                    <a:pt x="550" y="755"/>
                  </a:lnTo>
                  <a:close/>
                  <a:moveTo>
                    <a:pt x="422" y="486"/>
                  </a:moveTo>
                  <a:lnTo>
                    <a:pt x="846" y="486"/>
                  </a:lnTo>
                  <a:lnTo>
                    <a:pt x="846" y="910"/>
                  </a:lnTo>
                  <a:lnTo>
                    <a:pt x="158" y="910"/>
                  </a:lnTo>
                  <a:cubicBezTo>
                    <a:pt x="150" y="945"/>
                    <a:pt x="118" y="971"/>
                    <a:pt x="80" y="971"/>
                  </a:cubicBezTo>
                  <a:cubicBezTo>
                    <a:pt x="36" y="971"/>
                    <a:pt x="0" y="935"/>
                    <a:pt x="0" y="891"/>
                  </a:cubicBezTo>
                  <a:cubicBezTo>
                    <a:pt x="0" y="847"/>
                    <a:pt x="36" y="811"/>
                    <a:pt x="80" y="811"/>
                  </a:cubicBezTo>
                  <a:cubicBezTo>
                    <a:pt x="118" y="811"/>
                    <a:pt x="150" y="837"/>
                    <a:pt x="158" y="872"/>
                  </a:cubicBezTo>
                  <a:lnTo>
                    <a:pt x="808" y="872"/>
                  </a:lnTo>
                  <a:lnTo>
                    <a:pt x="808" y="524"/>
                  </a:lnTo>
                  <a:lnTo>
                    <a:pt x="459" y="524"/>
                  </a:lnTo>
                  <a:lnTo>
                    <a:pt x="459" y="717"/>
                  </a:lnTo>
                  <a:lnTo>
                    <a:pt x="35" y="717"/>
                  </a:lnTo>
                  <a:lnTo>
                    <a:pt x="35" y="293"/>
                  </a:lnTo>
                  <a:lnTo>
                    <a:pt x="422" y="293"/>
                  </a:lnTo>
                  <a:lnTo>
                    <a:pt x="422" y="99"/>
                  </a:lnTo>
                  <a:lnTo>
                    <a:pt x="852" y="99"/>
                  </a:lnTo>
                  <a:lnTo>
                    <a:pt x="778" y="26"/>
                  </a:lnTo>
                  <a:lnTo>
                    <a:pt x="805" y="0"/>
                  </a:lnTo>
                  <a:lnTo>
                    <a:pt x="924" y="118"/>
                  </a:lnTo>
                  <a:lnTo>
                    <a:pt x="805" y="237"/>
                  </a:lnTo>
                  <a:lnTo>
                    <a:pt x="778" y="210"/>
                  </a:lnTo>
                  <a:lnTo>
                    <a:pt x="852" y="137"/>
                  </a:lnTo>
                  <a:lnTo>
                    <a:pt x="459" y="137"/>
                  </a:lnTo>
                  <a:lnTo>
                    <a:pt x="459" y="330"/>
                  </a:lnTo>
                  <a:lnTo>
                    <a:pt x="73" y="330"/>
                  </a:lnTo>
                  <a:lnTo>
                    <a:pt x="73" y="679"/>
                  </a:lnTo>
                  <a:lnTo>
                    <a:pt x="422" y="679"/>
                  </a:lnTo>
                  <a:lnTo>
                    <a:pt x="422" y="486"/>
                  </a:lnTo>
                  <a:close/>
                  <a:moveTo>
                    <a:pt x="123" y="891"/>
                  </a:moveTo>
                  <a:cubicBezTo>
                    <a:pt x="123" y="868"/>
                    <a:pt x="104" y="849"/>
                    <a:pt x="80" y="849"/>
                  </a:cubicBezTo>
                  <a:cubicBezTo>
                    <a:pt x="57" y="849"/>
                    <a:pt x="38" y="868"/>
                    <a:pt x="38" y="891"/>
                  </a:cubicBezTo>
                  <a:cubicBezTo>
                    <a:pt x="38" y="915"/>
                    <a:pt x="57" y="934"/>
                    <a:pt x="80" y="934"/>
                  </a:cubicBezTo>
                  <a:cubicBezTo>
                    <a:pt x="104" y="934"/>
                    <a:pt x="123" y="915"/>
                    <a:pt x="123" y="891"/>
                  </a:cubicBezTo>
                  <a:close/>
                  <a:moveTo>
                    <a:pt x="304" y="421"/>
                  </a:moveTo>
                  <a:lnTo>
                    <a:pt x="247" y="478"/>
                  </a:lnTo>
                  <a:lnTo>
                    <a:pt x="190" y="421"/>
                  </a:lnTo>
                  <a:lnTo>
                    <a:pt x="164" y="448"/>
                  </a:lnTo>
                  <a:lnTo>
                    <a:pt x="221" y="505"/>
                  </a:lnTo>
                  <a:lnTo>
                    <a:pt x="164" y="562"/>
                  </a:lnTo>
                  <a:lnTo>
                    <a:pt x="190" y="588"/>
                  </a:lnTo>
                  <a:lnTo>
                    <a:pt x="247" y="531"/>
                  </a:lnTo>
                  <a:lnTo>
                    <a:pt x="304" y="588"/>
                  </a:lnTo>
                  <a:lnTo>
                    <a:pt x="331" y="562"/>
                  </a:lnTo>
                  <a:lnTo>
                    <a:pt x="274" y="505"/>
                  </a:lnTo>
                  <a:lnTo>
                    <a:pt x="331" y="448"/>
                  </a:lnTo>
                  <a:lnTo>
                    <a:pt x="304" y="421"/>
                  </a:lnTo>
                  <a:close/>
                  <a:moveTo>
                    <a:pt x="691" y="228"/>
                  </a:moveTo>
                  <a:lnTo>
                    <a:pt x="634" y="285"/>
                  </a:lnTo>
                  <a:lnTo>
                    <a:pt x="577" y="228"/>
                  </a:lnTo>
                  <a:lnTo>
                    <a:pt x="550" y="255"/>
                  </a:lnTo>
                  <a:lnTo>
                    <a:pt x="607" y="311"/>
                  </a:lnTo>
                  <a:lnTo>
                    <a:pt x="550" y="368"/>
                  </a:lnTo>
                  <a:lnTo>
                    <a:pt x="577" y="395"/>
                  </a:lnTo>
                  <a:lnTo>
                    <a:pt x="634" y="338"/>
                  </a:lnTo>
                  <a:lnTo>
                    <a:pt x="691" y="395"/>
                  </a:lnTo>
                  <a:lnTo>
                    <a:pt x="717" y="368"/>
                  </a:lnTo>
                  <a:lnTo>
                    <a:pt x="660" y="311"/>
                  </a:lnTo>
                  <a:lnTo>
                    <a:pt x="717" y="255"/>
                  </a:lnTo>
                  <a:lnTo>
                    <a:pt x="691" y="228"/>
                  </a:lnTo>
                  <a:close/>
                  <a:moveTo>
                    <a:pt x="190" y="202"/>
                  </a:moveTo>
                  <a:lnTo>
                    <a:pt x="247" y="145"/>
                  </a:lnTo>
                  <a:lnTo>
                    <a:pt x="304" y="202"/>
                  </a:lnTo>
                  <a:lnTo>
                    <a:pt x="331" y="175"/>
                  </a:lnTo>
                  <a:lnTo>
                    <a:pt x="274" y="118"/>
                  </a:lnTo>
                  <a:lnTo>
                    <a:pt x="331" y="61"/>
                  </a:lnTo>
                  <a:lnTo>
                    <a:pt x="304" y="35"/>
                  </a:lnTo>
                  <a:lnTo>
                    <a:pt x="247" y="92"/>
                  </a:lnTo>
                  <a:lnTo>
                    <a:pt x="190" y="35"/>
                  </a:lnTo>
                  <a:lnTo>
                    <a:pt x="164" y="61"/>
                  </a:lnTo>
                  <a:lnTo>
                    <a:pt x="221" y="118"/>
                  </a:lnTo>
                  <a:lnTo>
                    <a:pt x="164" y="175"/>
                  </a:lnTo>
                  <a:lnTo>
                    <a:pt x="190" y="20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237" name="Rectangle 349">
              <a:extLst>
                <a:ext uri="{FF2B5EF4-FFF2-40B4-BE49-F238E27FC236}">
                  <a16:creationId xmlns:a16="http://schemas.microsoft.com/office/drawing/2014/main" id="{6E2CDF7D-73F1-3D2E-3591-FD4340215013}"/>
                </a:ext>
              </a:extLst>
            </p:cNvPr>
            <p:cNvSpPr/>
            <p:nvPr/>
          </p:nvSpPr>
          <p:spPr>
            <a:xfrm>
              <a:off x="5239440" y="2228760"/>
              <a:ext cx="1692360" cy="758520"/>
            </a:xfrm>
            <a:prstGeom prst="rect">
              <a:avLst/>
            </a:prstGeom>
            <a:noFill/>
            <a:ln w="28575">
              <a:solidFill>
                <a:srgbClr val="95008A"/>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grpSp>
          <p:nvGrpSpPr>
            <p:cNvPr id="238" name="Group 350">
              <a:extLst>
                <a:ext uri="{FF2B5EF4-FFF2-40B4-BE49-F238E27FC236}">
                  <a16:creationId xmlns:a16="http://schemas.microsoft.com/office/drawing/2014/main" id="{507BECA5-7566-0408-5262-2457C0CC4B21}"/>
                </a:ext>
              </a:extLst>
            </p:cNvPr>
            <p:cNvGrpSpPr/>
            <p:nvPr/>
          </p:nvGrpSpPr>
          <p:grpSpPr>
            <a:xfrm>
              <a:off x="5252040" y="2342160"/>
              <a:ext cx="643680" cy="567318"/>
              <a:chOff x="5252040" y="2342160"/>
              <a:chExt cx="643680" cy="567318"/>
            </a:xfrm>
          </p:grpSpPr>
          <p:sp>
            <p:nvSpPr>
              <p:cNvPr id="245" name="Shape">
                <a:extLst>
                  <a:ext uri="{FF2B5EF4-FFF2-40B4-BE49-F238E27FC236}">
                    <a16:creationId xmlns:a16="http://schemas.microsoft.com/office/drawing/2014/main" id="{64C93222-B574-4899-718E-3ACD371D61B6}"/>
                  </a:ext>
                </a:extLst>
              </p:cNvPr>
              <p:cNvSpPr/>
              <p:nvPr/>
            </p:nvSpPr>
            <p:spPr>
              <a:xfrm>
                <a:off x="5494680" y="234216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95008A"/>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46" name="TextBox 358">
                <a:extLst>
                  <a:ext uri="{FF2B5EF4-FFF2-40B4-BE49-F238E27FC236}">
                    <a16:creationId xmlns:a16="http://schemas.microsoft.com/office/drawing/2014/main" id="{CDE7BFEA-5BC7-1606-FE0A-82C792E6EEB1}"/>
                  </a:ext>
                </a:extLst>
              </p:cNvPr>
              <p:cNvSpPr/>
              <p:nvPr/>
            </p:nvSpPr>
            <p:spPr>
              <a:xfrm>
                <a:off x="5252040" y="2541600"/>
                <a:ext cx="643680" cy="367878"/>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Migration Runbook</a:t>
                </a:r>
                <a:endParaRPr lang="en-GB" sz="1200" spc="-2">
                  <a:latin typeface="Arial"/>
                </a:endParaRPr>
              </a:p>
              <a:p>
                <a:pPr algn="ctr">
                  <a:tabLst>
                    <a:tab pos="0" algn="l"/>
                  </a:tabLst>
                </a:pPr>
                <a:r>
                  <a:rPr lang="en-GB" sz="1200" spc="-2">
                    <a:solidFill>
                      <a:srgbClr val="000000"/>
                    </a:solidFill>
                    <a:latin typeface="Arial"/>
                    <a:ea typeface="DejaVu Sans"/>
                  </a:rPr>
                  <a:t>/Workbook</a:t>
                </a:r>
                <a:endParaRPr lang="en-GB" sz="1200" spc="-2">
                  <a:latin typeface="Arial"/>
                </a:endParaRPr>
              </a:p>
            </p:txBody>
          </p:sp>
        </p:grpSp>
        <p:grpSp>
          <p:nvGrpSpPr>
            <p:cNvPr id="239" name="Group 351">
              <a:extLst>
                <a:ext uri="{FF2B5EF4-FFF2-40B4-BE49-F238E27FC236}">
                  <a16:creationId xmlns:a16="http://schemas.microsoft.com/office/drawing/2014/main" id="{7021BACC-A52D-9886-2510-660830A3B2C8}"/>
                </a:ext>
              </a:extLst>
            </p:cNvPr>
            <p:cNvGrpSpPr/>
            <p:nvPr/>
          </p:nvGrpSpPr>
          <p:grpSpPr>
            <a:xfrm>
              <a:off x="5746320" y="2331000"/>
              <a:ext cx="665640" cy="573078"/>
              <a:chOff x="5746320" y="2331000"/>
              <a:chExt cx="665640" cy="573078"/>
            </a:xfrm>
          </p:grpSpPr>
          <p:sp>
            <p:nvSpPr>
              <p:cNvPr id="243" name="Shape">
                <a:extLst>
                  <a:ext uri="{FF2B5EF4-FFF2-40B4-BE49-F238E27FC236}">
                    <a16:creationId xmlns:a16="http://schemas.microsoft.com/office/drawing/2014/main" id="{9BFB607F-A104-0458-01D0-8E404E16356D}"/>
                  </a:ext>
                </a:extLst>
              </p:cNvPr>
              <p:cNvSpPr/>
              <p:nvPr/>
            </p:nvSpPr>
            <p:spPr>
              <a:xfrm>
                <a:off x="5964120" y="2331000"/>
                <a:ext cx="241200" cy="204120"/>
              </a:xfrm>
              <a:custGeom>
                <a:avLst/>
                <a:gdLst/>
                <a:ahLst/>
                <a:cxnLst/>
                <a:rect l="l" t="t" r="r" b="b"/>
                <a:pathLst>
                  <a:path w="21600" h="21600">
                    <a:moveTo>
                      <a:pt x="20139" y="6896"/>
                    </a:moveTo>
                    <a:lnTo>
                      <a:pt x="1461" y="6896"/>
                    </a:lnTo>
                    <a:lnTo>
                      <a:pt x="1461" y="19876"/>
                    </a:lnTo>
                    <a:lnTo>
                      <a:pt x="20139" y="19876"/>
                    </a:lnTo>
                    <a:lnTo>
                      <a:pt x="20139" y="6896"/>
                    </a:lnTo>
                    <a:close/>
                    <a:moveTo>
                      <a:pt x="19346" y="9901"/>
                    </a:moveTo>
                    <a:lnTo>
                      <a:pt x="17572" y="9901"/>
                    </a:lnTo>
                    <a:lnTo>
                      <a:pt x="17572" y="7808"/>
                    </a:lnTo>
                    <a:lnTo>
                      <a:pt x="19346" y="7808"/>
                    </a:lnTo>
                    <a:lnTo>
                      <a:pt x="19346" y="9901"/>
                    </a:lnTo>
                    <a:close/>
                    <a:moveTo>
                      <a:pt x="9141" y="12930"/>
                    </a:moveTo>
                    <a:lnTo>
                      <a:pt x="7367" y="12930"/>
                    </a:lnTo>
                    <a:lnTo>
                      <a:pt x="7367" y="10837"/>
                    </a:lnTo>
                    <a:lnTo>
                      <a:pt x="9141" y="10837"/>
                    </a:lnTo>
                    <a:lnTo>
                      <a:pt x="9141" y="12930"/>
                    </a:lnTo>
                    <a:close/>
                    <a:moveTo>
                      <a:pt x="9913" y="10837"/>
                    </a:moveTo>
                    <a:lnTo>
                      <a:pt x="11687" y="10837"/>
                    </a:lnTo>
                    <a:lnTo>
                      <a:pt x="11687" y="12930"/>
                    </a:lnTo>
                    <a:lnTo>
                      <a:pt x="9913" y="12930"/>
                    </a:lnTo>
                    <a:lnTo>
                      <a:pt x="9913" y="10837"/>
                    </a:lnTo>
                    <a:close/>
                    <a:moveTo>
                      <a:pt x="9141" y="13842"/>
                    </a:moveTo>
                    <a:lnTo>
                      <a:pt x="9141" y="15935"/>
                    </a:lnTo>
                    <a:lnTo>
                      <a:pt x="7367" y="15935"/>
                    </a:lnTo>
                    <a:lnTo>
                      <a:pt x="7367" y="13842"/>
                    </a:lnTo>
                    <a:lnTo>
                      <a:pt x="9141" y="13842"/>
                    </a:lnTo>
                    <a:close/>
                    <a:moveTo>
                      <a:pt x="9913" y="13842"/>
                    </a:moveTo>
                    <a:lnTo>
                      <a:pt x="11687" y="13842"/>
                    </a:lnTo>
                    <a:lnTo>
                      <a:pt x="11687" y="15935"/>
                    </a:lnTo>
                    <a:lnTo>
                      <a:pt x="9913" y="15935"/>
                    </a:lnTo>
                    <a:lnTo>
                      <a:pt x="9913" y="13842"/>
                    </a:lnTo>
                    <a:close/>
                    <a:moveTo>
                      <a:pt x="12480" y="13842"/>
                    </a:moveTo>
                    <a:lnTo>
                      <a:pt x="14254" y="13842"/>
                    </a:lnTo>
                    <a:lnTo>
                      <a:pt x="14254" y="15935"/>
                    </a:lnTo>
                    <a:lnTo>
                      <a:pt x="12480" y="15935"/>
                    </a:lnTo>
                    <a:lnTo>
                      <a:pt x="12480" y="13842"/>
                    </a:lnTo>
                    <a:close/>
                    <a:moveTo>
                      <a:pt x="12480" y="12930"/>
                    </a:moveTo>
                    <a:lnTo>
                      <a:pt x="12480" y="10837"/>
                    </a:lnTo>
                    <a:lnTo>
                      <a:pt x="14254" y="10837"/>
                    </a:lnTo>
                    <a:lnTo>
                      <a:pt x="14254" y="12930"/>
                    </a:lnTo>
                    <a:lnTo>
                      <a:pt x="12480" y="12930"/>
                    </a:lnTo>
                    <a:close/>
                    <a:moveTo>
                      <a:pt x="15026" y="10837"/>
                    </a:moveTo>
                    <a:lnTo>
                      <a:pt x="16800" y="10837"/>
                    </a:lnTo>
                    <a:lnTo>
                      <a:pt x="16800" y="12930"/>
                    </a:lnTo>
                    <a:lnTo>
                      <a:pt x="15026" y="12930"/>
                    </a:lnTo>
                    <a:lnTo>
                      <a:pt x="15026" y="10837"/>
                    </a:lnTo>
                    <a:close/>
                    <a:moveTo>
                      <a:pt x="15026" y="7808"/>
                    </a:moveTo>
                    <a:lnTo>
                      <a:pt x="16800" y="7808"/>
                    </a:lnTo>
                    <a:lnTo>
                      <a:pt x="16800" y="9901"/>
                    </a:lnTo>
                    <a:lnTo>
                      <a:pt x="15026" y="9901"/>
                    </a:lnTo>
                    <a:lnTo>
                      <a:pt x="15026" y="7808"/>
                    </a:lnTo>
                    <a:close/>
                    <a:moveTo>
                      <a:pt x="14254" y="9901"/>
                    </a:moveTo>
                    <a:lnTo>
                      <a:pt x="12480" y="9901"/>
                    </a:lnTo>
                    <a:lnTo>
                      <a:pt x="12480" y="7808"/>
                    </a:lnTo>
                    <a:lnTo>
                      <a:pt x="14254" y="7808"/>
                    </a:lnTo>
                    <a:lnTo>
                      <a:pt x="14254" y="9901"/>
                    </a:lnTo>
                    <a:close/>
                    <a:moveTo>
                      <a:pt x="11687" y="9901"/>
                    </a:moveTo>
                    <a:lnTo>
                      <a:pt x="9913" y="9901"/>
                    </a:lnTo>
                    <a:lnTo>
                      <a:pt x="9913" y="7808"/>
                    </a:lnTo>
                    <a:lnTo>
                      <a:pt x="11687" y="7808"/>
                    </a:lnTo>
                    <a:lnTo>
                      <a:pt x="11687" y="9901"/>
                    </a:lnTo>
                    <a:close/>
                    <a:moveTo>
                      <a:pt x="9141" y="9901"/>
                    </a:moveTo>
                    <a:lnTo>
                      <a:pt x="7367" y="9901"/>
                    </a:lnTo>
                    <a:lnTo>
                      <a:pt x="7367" y="7808"/>
                    </a:lnTo>
                    <a:lnTo>
                      <a:pt x="9141" y="7808"/>
                    </a:lnTo>
                    <a:lnTo>
                      <a:pt x="9141" y="9901"/>
                    </a:lnTo>
                    <a:close/>
                    <a:moveTo>
                      <a:pt x="6574" y="9901"/>
                    </a:moveTo>
                    <a:lnTo>
                      <a:pt x="4800" y="9901"/>
                    </a:lnTo>
                    <a:lnTo>
                      <a:pt x="4800" y="7808"/>
                    </a:lnTo>
                    <a:lnTo>
                      <a:pt x="6574" y="7808"/>
                    </a:lnTo>
                    <a:lnTo>
                      <a:pt x="6574" y="9901"/>
                    </a:lnTo>
                    <a:close/>
                    <a:moveTo>
                      <a:pt x="6574" y="12930"/>
                    </a:moveTo>
                    <a:lnTo>
                      <a:pt x="4800" y="12930"/>
                    </a:lnTo>
                    <a:lnTo>
                      <a:pt x="4800" y="10837"/>
                    </a:lnTo>
                    <a:lnTo>
                      <a:pt x="6574" y="10837"/>
                    </a:lnTo>
                    <a:lnTo>
                      <a:pt x="6574" y="12930"/>
                    </a:lnTo>
                    <a:close/>
                    <a:moveTo>
                      <a:pt x="4028" y="12930"/>
                    </a:moveTo>
                    <a:lnTo>
                      <a:pt x="2254" y="12930"/>
                    </a:lnTo>
                    <a:lnTo>
                      <a:pt x="2254" y="10837"/>
                    </a:lnTo>
                    <a:lnTo>
                      <a:pt x="4028" y="10837"/>
                    </a:lnTo>
                    <a:lnTo>
                      <a:pt x="4028" y="12930"/>
                    </a:lnTo>
                    <a:close/>
                    <a:moveTo>
                      <a:pt x="4028" y="13842"/>
                    </a:moveTo>
                    <a:lnTo>
                      <a:pt x="4028" y="15935"/>
                    </a:lnTo>
                    <a:lnTo>
                      <a:pt x="2254" y="15935"/>
                    </a:lnTo>
                    <a:lnTo>
                      <a:pt x="2254" y="13842"/>
                    </a:lnTo>
                    <a:lnTo>
                      <a:pt x="4028" y="13842"/>
                    </a:lnTo>
                    <a:close/>
                    <a:moveTo>
                      <a:pt x="4800" y="13842"/>
                    </a:moveTo>
                    <a:lnTo>
                      <a:pt x="6574" y="13842"/>
                    </a:lnTo>
                    <a:lnTo>
                      <a:pt x="6574" y="15935"/>
                    </a:lnTo>
                    <a:lnTo>
                      <a:pt x="4800" y="15935"/>
                    </a:lnTo>
                    <a:lnTo>
                      <a:pt x="4800" y="13842"/>
                    </a:lnTo>
                    <a:close/>
                    <a:moveTo>
                      <a:pt x="6574" y="16847"/>
                    </a:moveTo>
                    <a:lnTo>
                      <a:pt x="6574" y="18940"/>
                    </a:lnTo>
                    <a:lnTo>
                      <a:pt x="4800" y="18940"/>
                    </a:lnTo>
                    <a:lnTo>
                      <a:pt x="4800" y="16847"/>
                    </a:lnTo>
                    <a:lnTo>
                      <a:pt x="6574" y="16847"/>
                    </a:lnTo>
                    <a:close/>
                    <a:moveTo>
                      <a:pt x="7367" y="16847"/>
                    </a:moveTo>
                    <a:lnTo>
                      <a:pt x="9141" y="16847"/>
                    </a:lnTo>
                    <a:lnTo>
                      <a:pt x="9141" y="18940"/>
                    </a:lnTo>
                    <a:lnTo>
                      <a:pt x="7367" y="18940"/>
                    </a:lnTo>
                    <a:lnTo>
                      <a:pt x="7367" y="16847"/>
                    </a:lnTo>
                    <a:close/>
                    <a:moveTo>
                      <a:pt x="9913" y="16847"/>
                    </a:moveTo>
                    <a:lnTo>
                      <a:pt x="11687" y="16847"/>
                    </a:lnTo>
                    <a:lnTo>
                      <a:pt x="11687" y="18940"/>
                    </a:lnTo>
                    <a:lnTo>
                      <a:pt x="9913" y="18940"/>
                    </a:lnTo>
                    <a:lnTo>
                      <a:pt x="9913" y="16847"/>
                    </a:lnTo>
                    <a:close/>
                    <a:moveTo>
                      <a:pt x="12480" y="16847"/>
                    </a:moveTo>
                    <a:lnTo>
                      <a:pt x="14254" y="16847"/>
                    </a:lnTo>
                    <a:lnTo>
                      <a:pt x="14254" y="18940"/>
                    </a:lnTo>
                    <a:lnTo>
                      <a:pt x="12480" y="18940"/>
                    </a:lnTo>
                    <a:lnTo>
                      <a:pt x="12480" y="16847"/>
                    </a:lnTo>
                    <a:close/>
                    <a:moveTo>
                      <a:pt x="15026" y="16847"/>
                    </a:moveTo>
                    <a:lnTo>
                      <a:pt x="16800" y="16847"/>
                    </a:lnTo>
                    <a:lnTo>
                      <a:pt x="16800" y="18940"/>
                    </a:lnTo>
                    <a:lnTo>
                      <a:pt x="15026" y="18940"/>
                    </a:lnTo>
                    <a:lnTo>
                      <a:pt x="15026" y="16847"/>
                    </a:lnTo>
                    <a:close/>
                    <a:moveTo>
                      <a:pt x="15026" y="15935"/>
                    </a:moveTo>
                    <a:lnTo>
                      <a:pt x="15026" y="13842"/>
                    </a:lnTo>
                    <a:lnTo>
                      <a:pt x="16800" y="13842"/>
                    </a:lnTo>
                    <a:lnTo>
                      <a:pt x="16800" y="15935"/>
                    </a:lnTo>
                    <a:lnTo>
                      <a:pt x="15026" y="15935"/>
                    </a:lnTo>
                    <a:close/>
                    <a:moveTo>
                      <a:pt x="17572" y="13842"/>
                    </a:moveTo>
                    <a:lnTo>
                      <a:pt x="19346" y="13842"/>
                    </a:lnTo>
                    <a:lnTo>
                      <a:pt x="19346" y="15935"/>
                    </a:lnTo>
                    <a:lnTo>
                      <a:pt x="17572" y="15935"/>
                    </a:lnTo>
                    <a:lnTo>
                      <a:pt x="17572" y="13842"/>
                    </a:lnTo>
                    <a:close/>
                    <a:moveTo>
                      <a:pt x="17572" y="12930"/>
                    </a:moveTo>
                    <a:lnTo>
                      <a:pt x="17572" y="10837"/>
                    </a:lnTo>
                    <a:lnTo>
                      <a:pt x="19346" y="10837"/>
                    </a:lnTo>
                    <a:lnTo>
                      <a:pt x="19346" y="12930"/>
                    </a:lnTo>
                    <a:lnTo>
                      <a:pt x="17572" y="12930"/>
                    </a:lnTo>
                    <a:close/>
                    <a:moveTo>
                      <a:pt x="4028" y="7808"/>
                    </a:moveTo>
                    <a:lnTo>
                      <a:pt x="4028" y="9901"/>
                    </a:lnTo>
                    <a:lnTo>
                      <a:pt x="2254" y="9901"/>
                    </a:lnTo>
                    <a:lnTo>
                      <a:pt x="2254" y="7808"/>
                    </a:lnTo>
                    <a:lnTo>
                      <a:pt x="4028" y="7808"/>
                    </a:lnTo>
                    <a:close/>
                    <a:moveTo>
                      <a:pt x="2254" y="16847"/>
                    </a:moveTo>
                    <a:lnTo>
                      <a:pt x="4028" y="16847"/>
                    </a:lnTo>
                    <a:lnTo>
                      <a:pt x="4028" y="18940"/>
                    </a:lnTo>
                    <a:lnTo>
                      <a:pt x="2254" y="18940"/>
                    </a:lnTo>
                    <a:lnTo>
                      <a:pt x="2254" y="16847"/>
                    </a:lnTo>
                    <a:close/>
                    <a:moveTo>
                      <a:pt x="17572" y="18940"/>
                    </a:moveTo>
                    <a:lnTo>
                      <a:pt x="17572" y="16847"/>
                    </a:lnTo>
                    <a:lnTo>
                      <a:pt x="19346" y="16847"/>
                    </a:lnTo>
                    <a:lnTo>
                      <a:pt x="19346" y="18940"/>
                    </a:lnTo>
                    <a:lnTo>
                      <a:pt x="17572" y="18940"/>
                    </a:lnTo>
                    <a:close/>
                    <a:moveTo>
                      <a:pt x="21600" y="0"/>
                    </a:moveTo>
                    <a:lnTo>
                      <a:pt x="0" y="0"/>
                    </a:lnTo>
                    <a:lnTo>
                      <a:pt x="0" y="21600"/>
                    </a:lnTo>
                    <a:lnTo>
                      <a:pt x="21600" y="21600"/>
                    </a:lnTo>
                    <a:lnTo>
                      <a:pt x="21600" y="0"/>
                    </a:lnTo>
                    <a:close/>
                    <a:moveTo>
                      <a:pt x="20807" y="20664"/>
                    </a:moveTo>
                    <a:lnTo>
                      <a:pt x="793" y="20664"/>
                    </a:lnTo>
                    <a:lnTo>
                      <a:pt x="793" y="911"/>
                    </a:lnTo>
                    <a:lnTo>
                      <a:pt x="20807" y="911"/>
                    </a:lnTo>
                    <a:lnTo>
                      <a:pt x="20807" y="20664"/>
                    </a:lnTo>
                    <a:close/>
                  </a:path>
                </a:pathLst>
              </a:custGeom>
              <a:solidFill>
                <a:srgbClr val="95008A"/>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44" name="TextBox 356">
                <a:extLst>
                  <a:ext uri="{FF2B5EF4-FFF2-40B4-BE49-F238E27FC236}">
                    <a16:creationId xmlns:a16="http://schemas.microsoft.com/office/drawing/2014/main" id="{FB9F62EF-4305-C8C5-7A4F-12CFD8248327}"/>
                  </a:ext>
                </a:extLst>
              </p:cNvPr>
              <p:cNvSpPr/>
              <p:nvPr/>
            </p:nvSpPr>
            <p:spPr>
              <a:xfrm>
                <a:off x="5746320" y="2536200"/>
                <a:ext cx="665640" cy="367878"/>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Migration Event Schedule</a:t>
                </a:r>
                <a:endParaRPr lang="en-GB" sz="1200" spc="-2">
                  <a:latin typeface="Arial"/>
                </a:endParaRPr>
              </a:p>
            </p:txBody>
          </p:sp>
        </p:grpSp>
        <p:grpSp>
          <p:nvGrpSpPr>
            <p:cNvPr id="240" name="Group 352">
              <a:extLst>
                <a:ext uri="{FF2B5EF4-FFF2-40B4-BE49-F238E27FC236}">
                  <a16:creationId xmlns:a16="http://schemas.microsoft.com/office/drawing/2014/main" id="{22002710-7C03-84A3-A381-9E525011F0C0}"/>
                </a:ext>
              </a:extLst>
            </p:cNvPr>
            <p:cNvGrpSpPr/>
            <p:nvPr/>
          </p:nvGrpSpPr>
          <p:grpSpPr>
            <a:xfrm>
              <a:off x="6263280" y="2316960"/>
              <a:ext cx="665640" cy="526825"/>
              <a:chOff x="6263280" y="2316960"/>
              <a:chExt cx="665640" cy="526825"/>
            </a:xfrm>
          </p:grpSpPr>
          <p:sp>
            <p:nvSpPr>
              <p:cNvPr id="241" name="Shape">
                <a:extLst>
                  <a:ext uri="{FF2B5EF4-FFF2-40B4-BE49-F238E27FC236}">
                    <a16:creationId xmlns:a16="http://schemas.microsoft.com/office/drawing/2014/main" id="{BD4FC5F9-F4E0-A53A-70E2-A533B059F5E1}"/>
                  </a:ext>
                </a:extLst>
              </p:cNvPr>
              <p:cNvSpPr/>
              <p:nvPr/>
            </p:nvSpPr>
            <p:spPr>
              <a:xfrm>
                <a:off x="6455160" y="2316960"/>
                <a:ext cx="291600" cy="249120"/>
              </a:xfrm>
              <a:custGeom>
                <a:avLst/>
                <a:gdLst/>
                <a:ahLst/>
                <a:cxnLst/>
                <a:rect l="l" t="t" r="r" b="b"/>
                <a:pathLst>
                  <a:path w="21600" h="21600">
                    <a:moveTo>
                      <a:pt x="10808" y="12695"/>
                    </a:moveTo>
                    <a:cubicBezTo>
                      <a:pt x="11698" y="12695"/>
                      <a:pt x="12423" y="11867"/>
                      <a:pt x="12423" y="10810"/>
                    </a:cubicBezTo>
                    <a:cubicBezTo>
                      <a:pt x="12423" y="9771"/>
                      <a:pt x="11698" y="8905"/>
                      <a:pt x="10808" y="8905"/>
                    </a:cubicBezTo>
                    <a:cubicBezTo>
                      <a:pt x="9902" y="8905"/>
                      <a:pt x="9177" y="9771"/>
                      <a:pt x="9177" y="10810"/>
                    </a:cubicBezTo>
                    <a:cubicBezTo>
                      <a:pt x="9177" y="11867"/>
                      <a:pt x="9902" y="12695"/>
                      <a:pt x="10808" y="12695"/>
                    </a:cubicBezTo>
                    <a:close/>
                    <a:moveTo>
                      <a:pt x="10808" y="9636"/>
                    </a:moveTo>
                    <a:cubicBezTo>
                      <a:pt x="11352" y="9636"/>
                      <a:pt x="11813" y="10175"/>
                      <a:pt x="11813" y="10810"/>
                    </a:cubicBezTo>
                    <a:cubicBezTo>
                      <a:pt x="11813" y="11464"/>
                      <a:pt x="11352" y="11983"/>
                      <a:pt x="10808" y="11983"/>
                    </a:cubicBezTo>
                    <a:cubicBezTo>
                      <a:pt x="10248" y="11983"/>
                      <a:pt x="9803" y="11464"/>
                      <a:pt x="9803" y="10810"/>
                    </a:cubicBezTo>
                    <a:cubicBezTo>
                      <a:pt x="9803" y="10175"/>
                      <a:pt x="10248" y="9636"/>
                      <a:pt x="10808" y="9636"/>
                    </a:cubicBezTo>
                    <a:close/>
                    <a:moveTo>
                      <a:pt x="6376" y="9713"/>
                    </a:moveTo>
                    <a:cubicBezTo>
                      <a:pt x="5882" y="9790"/>
                      <a:pt x="5569" y="10002"/>
                      <a:pt x="5371" y="10175"/>
                    </a:cubicBezTo>
                    <a:lnTo>
                      <a:pt x="5256" y="10271"/>
                    </a:lnTo>
                    <a:lnTo>
                      <a:pt x="5239" y="10425"/>
                    </a:lnTo>
                    <a:cubicBezTo>
                      <a:pt x="5239" y="10540"/>
                      <a:pt x="5223" y="10713"/>
                      <a:pt x="5223" y="10810"/>
                    </a:cubicBezTo>
                    <a:cubicBezTo>
                      <a:pt x="5223" y="10925"/>
                      <a:pt x="5239" y="11060"/>
                      <a:pt x="5239" y="11175"/>
                    </a:cubicBezTo>
                    <a:lnTo>
                      <a:pt x="5256" y="11329"/>
                    </a:lnTo>
                    <a:lnTo>
                      <a:pt x="5371" y="11425"/>
                    </a:lnTo>
                    <a:cubicBezTo>
                      <a:pt x="5569" y="11598"/>
                      <a:pt x="5882" y="11810"/>
                      <a:pt x="6393" y="11887"/>
                    </a:cubicBezTo>
                    <a:lnTo>
                      <a:pt x="6409" y="11887"/>
                    </a:lnTo>
                    <a:cubicBezTo>
                      <a:pt x="6442" y="12060"/>
                      <a:pt x="6492" y="12252"/>
                      <a:pt x="6541" y="12425"/>
                    </a:cubicBezTo>
                    <a:cubicBezTo>
                      <a:pt x="6524" y="12425"/>
                      <a:pt x="6508" y="12445"/>
                      <a:pt x="6508" y="12445"/>
                    </a:cubicBezTo>
                    <a:cubicBezTo>
                      <a:pt x="6113" y="12791"/>
                      <a:pt x="5931" y="13175"/>
                      <a:pt x="5832" y="13425"/>
                    </a:cubicBezTo>
                    <a:lnTo>
                      <a:pt x="5767" y="13560"/>
                    </a:lnTo>
                    <a:lnTo>
                      <a:pt x="5832" y="13714"/>
                    </a:lnTo>
                    <a:cubicBezTo>
                      <a:pt x="5865" y="13829"/>
                      <a:pt x="5931" y="13964"/>
                      <a:pt x="5981" y="14060"/>
                    </a:cubicBezTo>
                    <a:cubicBezTo>
                      <a:pt x="6030" y="14156"/>
                      <a:pt x="6096" y="14272"/>
                      <a:pt x="6146" y="14368"/>
                    </a:cubicBezTo>
                    <a:lnTo>
                      <a:pt x="6228" y="14503"/>
                    </a:lnTo>
                    <a:lnTo>
                      <a:pt x="6376" y="14522"/>
                    </a:lnTo>
                    <a:cubicBezTo>
                      <a:pt x="6607" y="14541"/>
                      <a:pt x="6986" y="14541"/>
                      <a:pt x="7447" y="14310"/>
                    </a:cubicBezTo>
                    <a:lnTo>
                      <a:pt x="7464" y="14310"/>
                    </a:lnTo>
                    <a:cubicBezTo>
                      <a:pt x="7579" y="14445"/>
                      <a:pt x="7678" y="14580"/>
                      <a:pt x="7793" y="14695"/>
                    </a:cubicBezTo>
                    <a:cubicBezTo>
                      <a:pt x="7793" y="14714"/>
                      <a:pt x="7793" y="14714"/>
                      <a:pt x="7793" y="14733"/>
                    </a:cubicBezTo>
                    <a:cubicBezTo>
                      <a:pt x="7595" y="15272"/>
                      <a:pt x="7595" y="15695"/>
                      <a:pt x="7628" y="15964"/>
                    </a:cubicBezTo>
                    <a:lnTo>
                      <a:pt x="7628" y="16137"/>
                    </a:lnTo>
                    <a:lnTo>
                      <a:pt x="7744" y="16234"/>
                    </a:lnTo>
                    <a:cubicBezTo>
                      <a:pt x="7826" y="16291"/>
                      <a:pt x="7925" y="16368"/>
                      <a:pt x="8007" y="16426"/>
                    </a:cubicBezTo>
                    <a:cubicBezTo>
                      <a:pt x="8106" y="16484"/>
                      <a:pt x="8205" y="16561"/>
                      <a:pt x="8304" y="16599"/>
                    </a:cubicBezTo>
                    <a:lnTo>
                      <a:pt x="8436" y="16676"/>
                    </a:lnTo>
                    <a:lnTo>
                      <a:pt x="8551" y="16599"/>
                    </a:lnTo>
                    <a:cubicBezTo>
                      <a:pt x="8765" y="16484"/>
                      <a:pt x="9095" y="16272"/>
                      <a:pt x="9391" y="15811"/>
                    </a:cubicBezTo>
                    <a:cubicBezTo>
                      <a:pt x="9408" y="15811"/>
                      <a:pt x="9408" y="15791"/>
                      <a:pt x="9408" y="15791"/>
                    </a:cubicBezTo>
                    <a:cubicBezTo>
                      <a:pt x="9556" y="15849"/>
                      <a:pt x="9721" y="15887"/>
                      <a:pt x="9869" y="15926"/>
                    </a:cubicBezTo>
                    <a:cubicBezTo>
                      <a:pt x="9869" y="15945"/>
                      <a:pt x="9869" y="15945"/>
                      <a:pt x="9869" y="15964"/>
                    </a:cubicBezTo>
                    <a:cubicBezTo>
                      <a:pt x="9935" y="16541"/>
                      <a:pt x="10133" y="16907"/>
                      <a:pt x="10265" y="17138"/>
                    </a:cubicBezTo>
                    <a:lnTo>
                      <a:pt x="10347" y="17272"/>
                    </a:lnTo>
                    <a:lnTo>
                      <a:pt x="10479" y="17292"/>
                    </a:lnTo>
                    <a:cubicBezTo>
                      <a:pt x="10578" y="17311"/>
                      <a:pt x="10709" y="17311"/>
                      <a:pt x="10808" y="17311"/>
                    </a:cubicBezTo>
                    <a:cubicBezTo>
                      <a:pt x="10907" y="17311"/>
                      <a:pt x="11022" y="17311"/>
                      <a:pt x="11121" y="17292"/>
                    </a:cubicBezTo>
                    <a:lnTo>
                      <a:pt x="11270" y="17272"/>
                    </a:lnTo>
                    <a:lnTo>
                      <a:pt x="11335" y="17138"/>
                    </a:lnTo>
                    <a:cubicBezTo>
                      <a:pt x="11484" y="16907"/>
                      <a:pt x="11665" y="16541"/>
                      <a:pt x="11731" y="15964"/>
                    </a:cubicBezTo>
                    <a:cubicBezTo>
                      <a:pt x="11731" y="15945"/>
                      <a:pt x="11731" y="15945"/>
                      <a:pt x="11731" y="15926"/>
                    </a:cubicBezTo>
                    <a:cubicBezTo>
                      <a:pt x="11896" y="15887"/>
                      <a:pt x="12044" y="15830"/>
                      <a:pt x="12192" y="15791"/>
                    </a:cubicBezTo>
                    <a:lnTo>
                      <a:pt x="12209" y="15811"/>
                    </a:lnTo>
                    <a:cubicBezTo>
                      <a:pt x="12505" y="16272"/>
                      <a:pt x="12835" y="16484"/>
                      <a:pt x="13049" y="16599"/>
                    </a:cubicBezTo>
                    <a:lnTo>
                      <a:pt x="13181" y="16676"/>
                    </a:lnTo>
                    <a:lnTo>
                      <a:pt x="13296" y="16599"/>
                    </a:lnTo>
                    <a:cubicBezTo>
                      <a:pt x="13395" y="16561"/>
                      <a:pt x="13510" y="16484"/>
                      <a:pt x="13593" y="16426"/>
                    </a:cubicBezTo>
                    <a:cubicBezTo>
                      <a:pt x="13675" y="16368"/>
                      <a:pt x="13774" y="16291"/>
                      <a:pt x="13856" y="16234"/>
                    </a:cubicBezTo>
                    <a:lnTo>
                      <a:pt x="13972" y="16137"/>
                    </a:lnTo>
                    <a:lnTo>
                      <a:pt x="13988" y="15964"/>
                    </a:lnTo>
                    <a:cubicBezTo>
                      <a:pt x="14005" y="15695"/>
                      <a:pt x="14005" y="15272"/>
                      <a:pt x="13807" y="14733"/>
                    </a:cubicBezTo>
                    <a:cubicBezTo>
                      <a:pt x="13807" y="14714"/>
                      <a:pt x="13807" y="14714"/>
                      <a:pt x="13807" y="14695"/>
                    </a:cubicBezTo>
                    <a:cubicBezTo>
                      <a:pt x="13922" y="14580"/>
                      <a:pt x="14038" y="14445"/>
                      <a:pt x="14136" y="14310"/>
                    </a:cubicBezTo>
                    <a:cubicBezTo>
                      <a:pt x="14153" y="14310"/>
                      <a:pt x="14169" y="14310"/>
                      <a:pt x="14169" y="14329"/>
                    </a:cubicBezTo>
                    <a:cubicBezTo>
                      <a:pt x="14631" y="14541"/>
                      <a:pt x="14993" y="14541"/>
                      <a:pt x="15240" y="14522"/>
                    </a:cubicBezTo>
                    <a:lnTo>
                      <a:pt x="15372" y="14503"/>
                    </a:lnTo>
                    <a:lnTo>
                      <a:pt x="15454" y="14368"/>
                    </a:lnTo>
                    <a:cubicBezTo>
                      <a:pt x="15504" y="14272"/>
                      <a:pt x="15586" y="14156"/>
                      <a:pt x="15636" y="14060"/>
                    </a:cubicBezTo>
                    <a:cubicBezTo>
                      <a:pt x="15669" y="13964"/>
                      <a:pt x="15735" y="13829"/>
                      <a:pt x="15784" y="13714"/>
                    </a:cubicBezTo>
                    <a:lnTo>
                      <a:pt x="15833" y="13560"/>
                    </a:lnTo>
                    <a:lnTo>
                      <a:pt x="15768" y="13425"/>
                    </a:lnTo>
                    <a:cubicBezTo>
                      <a:pt x="15669" y="13175"/>
                      <a:pt x="15487" y="12791"/>
                      <a:pt x="15092" y="12445"/>
                    </a:cubicBezTo>
                    <a:lnTo>
                      <a:pt x="15076" y="12425"/>
                    </a:lnTo>
                    <a:cubicBezTo>
                      <a:pt x="15125" y="12252"/>
                      <a:pt x="15158" y="12079"/>
                      <a:pt x="15191" y="11887"/>
                    </a:cubicBezTo>
                    <a:cubicBezTo>
                      <a:pt x="15207" y="11887"/>
                      <a:pt x="15224" y="11887"/>
                      <a:pt x="15224" y="11887"/>
                    </a:cubicBezTo>
                    <a:cubicBezTo>
                      <a:pt x="15718" y="11810"/>
                      <a:pt x="16031" y="11598"/>
                      <a:pt x="16229" y="11425"/>
                    </a:cubicBezTo>
                    <a:lnTo>
                      <a:pt x="16344" y="11329"/>
                    </a:lnTo>
                    <a:lnTo>
                      <a:pt x="16361" y="11175"/>
                    </a:lnTo>
                    <a:cubicBezTo>
                      <a:pt x="16377" y="11060"/>
                      <a:pt x="16377" y="10925"/>
                      <a:pt x="16377" y="10810"/>
                    </a:cubicBezTo>
                    <a:cubicBezTo>
                      <a:pt x="16377" y="10713"/>
                      <a:pt x="16377" y="10540"/>
                      <a:pt x="16361" y="10425"/>
                    </a:cubicBezTo>
                    <a:lnTo>
                      <a:pt x="16344" y="10271"/>
                    </a:lnTo>
                    <a:lnTo>
                      <a:pt x="16229" y="10175"/>
                    </a:lnTo>
                    <a:cubicBezTo>
                      <a:pt x="16031" y="10002"/>
                      <a:pt x="15718" y="9790"/>
                      <a:pt x="15224" y="9713"/>
                    </a:cubicBezTo>
                    <a:cubicBezTo>
                      <a:pt x="15207" y="9713"/>
                      <a:pt x="15207" y="9713"/>
                      <a:pt x="15191" y="9713"/>
                    </a:cubicBezTo>
                    <a:cubicBezTo>
                      <a:pt x="15158" y="9521"/>
                      <a:pt x="15125" y="9348"/>
                      <a:pt x="15076" y="9175"/>
                    </a:cubicBezTo>
                    <a:lnTo>
                      <a:pt x="15092" y="9155"/>
                    </a:lnTo>
                    <a:cubicBezTo>
                      <a:pt x="15487" y="8809"/>
                      <a:pt x="15669" y="8425"/>
                      <a:pt x="15768" y="8175"/>
                    </a:cubicBezTo>
                    <a:lnTo>
                      <a:pt x="15833" y="8040"/>
                    </a:lnTo>
                    <a:lnTo>
                      <a:pt x="15784" y="7886"/>
                    </a:lnTo>
                    <a:cubicBezTo>
                      <a:pt x="15735" y="7771"/>
                      <a:pt x="15669" y="7655"/>
                      <a:pt x="15636" y="7540"/>
                    </a:cubicBezTo>
                    <a:cubicBezTo>
                      <a:pt x="15586" y="7444"/>
                      <a:pt x="15504" y="7328"/>
                      <a:pt x="15454" y="7232"/>
                    </a:cubicBezTo>
                    <a:lnTo>
                      <a:pt x="15372" y="7097"/>
                    </a:lnTo>
                    <a:lnTo>
                      <a:pt x="15240" y="7078"/>
                    </a:lnTo>
                    <a:cubicBezTo>
                      <a:pt x="14993" y="7059"/>
                      <a:pt x="14631" y="7059"/>
                      <a:pt x="14169" y="7290"/>
                    </a:cubicBezTo>
                    <a:cubicBezTo>
                      <a:pt x="14153" y="7290"/>
                      <a:pt x="14153" y="7290"/>
                      <a:pt x="14136" y="7290"/>
                    </a:cubicBezTo>
                    <a:cubicBezTo>
                      <a:pt x="14038" y="7155"/>
                      <a:pt x="13922" y="7020"/>
                      <a:pt x="13807" y="6905"/>
                    </a:cubicBezTo>
                    <a:cubicBezTo>
                      <a:pt x="13807" y="6886"/>
                      <a:pt x="13807" y="6886"/>
                      <a:pt x="13823" y="6867"/>
                    </a:cubicBezTo>
                    <a:cubicBezTo>
                      <a:pt x="14005" y="6328"/>
                      <a:pt x="14005" y="5905"/>
                      <a:pt x="13988" y="5636"/>
                    </a:cubicBezTo>
                    <a:lnTo>
                      <a:pt x="13972" y="5463"/>
                    </a:lnTo>
                    <a:lnTo>
                      <a:pt x="13856" y="5366"/>
                    </a:lnTo>
                    <a:cubicBezTo>
                      <a:pt x="13790" y="5309"/>
                      <a:pt x="13675" y="5232"/>
                      <a:pt x="13593" y="5174"/>
                    </a:cubicBezTo>
                    <a:cubicBezTo>
                      <a:pt x="13510" y="5116"/>
                      <a:pt x="13395" y="5039"/>
                      <a:pt x="13296" y="5001"/>
                    </a:cubicBezTo>
                    <a:lnTo>
                      <a:pt x="13181" y="4924"/>
                    </a:lnTo>
                    <a:lnTo>
                      <a:pt x="13049" y="5001"/>
                    </a:lnTo>
                    <a:cubicBezTo>
                      <a:pt x="12835" y="5116"/>
                      <a:pt x="12505" y="5328"/>
                      <a:pt x="12209" y="5789"/>
                    </a:cubicBezTo>
                    <a:cubicBezTo>
                      <a:pt x="12209" y="5809"/>
                      <a:pt x="12192" y="5809"/>
                      <a:pt x="12192" y="5809"/>
                    </a:cubicBezTo>
                    <a:cubicBezTo>
                      <a:pt x="12044" y="5751"/>
                      <a:pt x="11879" y="5713"/>
                      <a:pt x="11731" y="5674"/>
                    </a:cubicBezTo>
                    <a:cubicBezTo>
                      <a:pt x="11731" y="5655"/>
                      <a:pt x="11731" y="5655"/>
                      <a:pt x="11731" y="5636"/>
                    </a:cubicBezTo>
                    <a:cubicBezTo>
                      <a:pt x="11665" y="5059"/>
                      <a:pt x="11484" y="4693"/>
                      <a:pt x="11335" y="4462"/>
                    </a:cubicBezTo>
                    <a:lnTo>
                      <a:pt x="11270" y="4328"/>
                    </a:lnTo>
                    <a:lnTo>
                      <a:pt x="11121" y="4308"/>
                    </a:lnTo>
                    <a:cubicBezTo>
                      <a:pt x="10924" y="4289"/>
                      <a:pt x="10676" y="4289"/>
                      <a:pt x="10479" y="4308"/>
                    </a:cubicBezTo>
                    <a:lnTo>
                      <a:pt x="10347" y="4328"/>
                    </a:lnTo>
                    <a:lnTo>
                      <a:pt x="10265" y="4462"/>
                    </a:lnTo>
                    <a:cubicBezTo>
                      <a:pt x="10133" y="4693"/>
                      <a:pt x="9935" y="5059"/>
                      <a:pt x="9869" y="5636"/>
                    </a:cubicBezTo>
                    <a:cubicBezTo>
                      <a:pt x="9869" y="5655"/>
                      <a:pt x="9869" y="5655"/>
                      <a:pt x="9869" y="5674"/>
                    </a:cubicBezTo>
                    <a:cubicBezTo>
                      <a:pt x="9721" y="5713"/>
                      <a:pt x="9556" y="5770"/>
                      <a:pt x="9408" y="5809"/>
                    </a:cubicBezTo>
                    <a:lnTo>
                      <a:pt x="9391" y="5789"/>
                    </a:lnTo>
                    <a:cubicBezTo>
                      <a:pt x="9095" y="5328"/>
                      <a:pt x="8765" y="5116"/>
                      <a:pt x="8551" y="5001"/>
                    </a:cubicBezTo>
                    <a:lnTo>
                      <a:pt x="8436" y="4924"/>
                    </a:lnTo>
                    <a:lnTo>
                      <a:pt x="8304" y="5001"/>
                    </a:lnTo>
                    <a:cubicBezTo>
                      <a:pt x="8222" y="5039"/>
                      <a:pt x="8106" y="5116"/>
                      <a:pt x="8024" y="5174"/>
                    </a:cubicBezTo>
                    <a:cubicBezTo>
                      <a:pt x="7925" y="5232"/>
                      <a:pt x="7826" y="5309"/>
                      <a:pt x="7744" y="5366"/>
                    </a:cubicBezTo>
                    <a:lnTo>
                      <a:pt x="7628" y="5463"/>
                    </a:lnTo>
                    <a:lnTo>
                      <a:pt x="7628" y="5636"/>
                    </a:lnTo>
                    <a:cubicBezTo>
                      <a:pt x="7595" y="5905"/>
                      <a:pt x="7595" y="6328"/>
                      <a:pt x="7793" y="6867"/>
                    </a:cubicBezTo>
                    <a:cubicBezTo>
                      <a:pt x="7793" y="6886"/>
                      <a:pt x="7793" y="6886"/>
                      <a:pt x="7793" y="6905"/>
                    </a:cubicBezTo>
                    <a:cubicBezTo>
                      <a:pt x="7678" y="7020"/>
                      <a:pt x="7562" y="7155"/>
                      <a:pt x="7464" y="7290"/>
                    </a:cubicBezTo>
                    <a:cubicBezTo>
                      <a:pt x="7447" y="7290"/>
                      <a:pt x="7447" y="7290"/>
                      <a:pt x="7431" y="7290"/>
                    </a:cubicBezTo>
                    <a:cubicBezTo>
                      <a:pt x="6969" y="7059"/>
                      <a:pt x="6607" y="7059"/>
                      <a:pt x="6376" y="7078"/>
                    </a:cubicBezTo>
                    <a:lnTo>
                      <a:pt x="6228" y="7097"/>
                    </a:lnTo>
                    <a:lnTo>
                      <a:pt x="6146" y="7232"/>
                    </a:lnTo>
                    <a:cubicBezTo>
                      <a:pt x="6096" y="7328"/>
                      <a:pt x="6030" y="7444"/>
                      <a:pt x="5981" y="7540"/>
                    </a:cubicBezTo>
                    <a:cubicBezTo>
                      <a:pt x="5931" y="7655"/>
                      <a:pt x="5865" y="7771"/>
                      <a:pt x="5832" y="7886"/>
                    </a:cubicBezTo>
                    <a:lnTo>
                      <a:pt x="5767" y="8040"/>
                    </a:lnTo>
                    <a:lnTo>
                      <a:pt x="5832" y="8175"/>
                    </a:lnTo>
                    <a:cubicBezTo>
                      <a:pt x="5931" y="8425"/>
                      <a:pt x="6113" y="8809"/>
                      <a:pt x="6508" y="9155"/>
                    </a:cubicBezTo>
                    <a:cubicBezTo>
                      <a:pt x="6524" y="9155"/>
                      <a:pt x="6524" y="9175"/>
                      <a:pt x="6541" y="9175"/>
                    </a:cubicBezTo>
                    <a:cubicBezTo>
                      <a:pt x="6492" y="9348"/>
                      <a:pt x="6442" y="9540"/>
                      <a:pt x="6409" y="9713"/>
                    </a:cubicBezTo>
                    <a:cubicBezTo>
                      <a:pt x="6393" y="9713"/>
                      <a:pt x="6393" y="9713"/>
                      <a:pt x="6376" y="9713"/>
                    </a:cubicBezTo>
                    <a:close/>
                    <a:moveTo>
                      <a:pt x="7019" y="9886"/>
                    </a:moveTo>
                    <a:cubicBezTo>
                      <a:pt x="7052" y="9713"/>
                      <a:pt x="7085" y="9540"/>
                      <a:pt x="7134" y="9348"/>
                    </a:cubicBezTo>
                    <a:cubicBezTo>
                      <a:pt x="7216" y="9059"/>
                      <a:pt x="7118" y="8790"/>
                      <a:pt x="6887" y="8578"/>
                    </a:cubicBezTo>
                    <a:cubicBezTo>
                      <a:pt x="6673" y="8386"/>
                      <a:pt x="6541" y="8194"/>
                      <a:pt x="6459" y="8021"/>
                    </a:cubicBezTo>
                    <a:cubicBezTo>
                      <a:pt x="6475" y="7982"/>
                      <a:pt x="6492" y="7944"/>
                      <a:pt x="6508" y="7905"/>
                    </a:cubicBezTo>
                    <a:cubicBezTo>
                      <a:pt x="6524" y="7867"/>
                      <a:pt x="6557" y="7848"/>
                      <a:pt x="6574" y="7809"/>
                    </a:cubicBezTo>
                    <a:cubicBezTo>
                      <a:pt x="6739" y="7809"/>
                      <a:pt x="6936" y="7828"/>
                      <a:pt x="7200" y="7944"/>
                    </a:cubicBezTo>
                    <a:cubicBezTo>
                      <a:pt x="7480" y="8098"/>
                      <a:pt x="7727" y="8040"/>
                      <a:pt x="7908" y="7809"/>
                    </a:cubicBezTo>
                    <a:cubicBezTo>
                      <a:pt x="8007" y="7674"/>
                      <a:pt x="8123" y="7540"/>
                      <a:pt x="8238" y="7424"/>
                    </a:cubicBezTo>
                    <a:cubicBezTo>
                      <a:pt x="8436" y="7213"/>
                      <a:pt x="8485" y="6924"/>
                      <a:pt x="8353" y="6578"/>
                    </a:cubicBezTo>
                    <a:cubicBezTo>
                      <a:pt x="8254" y="6290"/>
                      <a:pt x="8238" y="6059"/>
                      <a:pt x="8238" y="5866"/>
                    </a:cubicBezTo>
                    <a:cubicBezTo>
                      <a:pt x="8271" y="5828"/>
                      <a:pt x="8304" y="5809"/>
                      <a:pt x="8320" y="5789"/>
                    </a:cubicBezTo>
                    <a:cubicBezTo>
                      <a:pt x="8353" y="5770"/>
                      <a:pt x="8386" y="5751"/>
                      <a:pt x="8419" y="5732"/>
                    </a:cubicBezTo>
                    <a:cubicBezTo>
                      <a:pt x="8568" y="5828"/>
                      <a:pt x="8732" y="5982"/>
                      <a:pt x="8897" y="6232"/>
                    </a:cubicBezTo>
                    <a:cubicBezTo>
                      <a:pt x="9078" y="6501"/>
                      <a:pt x="9309" y="6617"/>
                      <a:pt x="9573" y="6520"/>
                    </a:cubicBezTo>
                    <a:cubicBezTo>
                      <a:pt x="9721" y="6463"/>
                      <a:pt x="9869" y="6405"/>
                      <a:pt x="10034" y="6386"/>
                    </a:cubicBezTo>
                    <a:lnTo>
                      <a:pt x="10034" y="6367"/>
                    </a:lnTo>
                    <a:cubicBezTo>
                      <a:pt x="10297" y="6309"/>
                      <a:pt x="10462" y="6097"/>
                      <a:pt x="10495" y="5732"/>
                    </a:cubicBezTo>
                    <a:cubicBezTo>
                      <a:pt x="10528" y="5405"/>
                      <a:pt x="10611" y="5193"/>
                      <a:pt x="10693" y="5020"/>
                    </a:cubicBezTo>
                    <a:cubicBezTo>
                      <a:pt x="10775" y="5020"/>
                      <a:pt x="10841" y="5020"/>
                      <a:pt x="10907" y="5020"/>
                    </a:cubicBezTo>
                    <a:cubicBezTo>
                      <a:pt x="10989" y="5193"/>
                      <a:pt x="11072" y="5405"/>
                      <a:pt x="11105" y="5732"/>
                    </a:cubicBezTo>
                    <a:cubicBezTo>
                      <a:pt x="11154" y="6097"/>
                      <a:pt x="11303" y="6309"/>
                      <a:pt x="11583" y="6386"/>
                    </a:cubicBezTo>
                    <a:cubicBezTo>
                      <a:pt x="11731" y="6405"/>
                      <a:pt x="11879" y="6463"/>
                      <a:pt x="12044" y="6520"/>
                    </a:cubicBezTo>
                    <a:cubicBezTo>
                      <a:pt x="12308" y="6617"/>
                      <a:pt x="12522" y="6501"/>
                      <a:pt x="12703" y="6232"/>
                    </a:cubicBezTo>
                    <a:cubicBezTo>
                      <a:pt x="12868" y="5963"/>
                      <a:pt x="13032" y="5828"/>
                      <a:pt x="13181" y="5732"/>
                    </a:cubicBezTo>
                    <a:cubicBezTo>
                      <a:pt x="13214" y="5751"/>
                      <a:pt x="13247" y="5770"/>
                      <a:pt x="13280" y="5789"/>
                    </a:cubicBezTo>
                    <a:cubicBezTo>
                      <a:pt x="13313" y="5809"/>
                      <a:pt x="13346" y="5828"/>
                      <a:pt x="13378" y="5866"/>
                    </a:cubicBezTo>
                    <a:cubicBezTo>
                      <a:pt x="13378" y="6059"/>
                      <a:pt x="13346" y="6290"/>
                      <a:pt x="13247" y="6597"/>
                    </a:cubicBezTo>
                    <a:cubicBezTo>
                      <a:pt x="13115" y="6924"/>
                      <a:pt x="13164" y="7213"/>
                      <a:pt x="13362" y="7424"/>
                    </a:cubicBezTo>
                    <a:cubicBezTo>
                      <a:pt x="13477" y="7540"/>
                      <a:pt x="13593" y="7674"/>
                      <a:pt x="13692" y="7809"/>
                    </a:cubicBezTo>
                    <a:cubicBezTo>
                      <a:pt x="13889" y="8040"/>
                      <a:pt x="14120" y="8098"/>
                      <a:pt x="14416" y="7944"/>
                    </a:cubicBezTo>
                    <a:cubicBezTo>
                      <a:pt x="14664" y="7828"/>
                      <a:pt x="14861" y="7790"/>
                      <a:pt x="15026" y="7809"/>
                    </a:cubicBezTo>
                    <a:cubicBezTo>
                      <a:pt x="15059" y="7848"/>
                      <a:pt x="15076" y="7886"/>
                      <a:pt x="15092" y="7905"/>
                    </a:cubicBezTo>
                    <a:cubicBezTo>
                      <a:pt x="15108" y="7944"/>
                      <a:pt x="15125" y="7982"/>
                      <a:pt x="15141" y="8021"/>
                    </a:cubicBezTo>
                    <a:cubicBezTo>
                      <a:pt x="15059" y="8194"/>
                      <a:pt x="14944" y="8386"/>
                      <a:pt x="14713" y="8578"/>
                    </a:cubicBezTo>
                    <a:cubicBezTo>
                      <a:pt x="14482" y="8790"/>
                      <a:pt x="14400" y="9040"/>
                      <a:pt x="14466" y="9367"/>
                    </a:cubicBezTo>
                    <a:cubicBezTo>
                      <a:pt x="14515" y="9540"/>
                      <a:pt x="14565" y="9713"/>
                      <a:pt x="14598" y="9906"/>
                    </a:cubicBezTo>
                    <a:cubicBezTo>
                      <a:pt x="14647" y="10213"/>
                      <a:pt x="14845" y="10386"/>
                      <a:pt x="15158" y="10444"/>
                    </a:cubicBezTo>
                    <a:cubicBezTo>
                      <a:pt x="15422" y="10483"/>
                      <a:pt x="15603" y="10579"/>
                      <a:pt x="15751" y="10675"/>
                    </a:cubicBezTo>
                    <a:cubicBezTo>
                      <a:pt x="15751" y="10713"/>
                      <a:pt x="15751" y="10771"/>
                      <a:pt x="15751" y="10810"/>
                    </a:cubicBezTo>
                    <a:cubicBezTo>
                      <a:pt x="15751" y="10848"/>
                      <a:pt x="15751" y="10887"/>
                      <a:pt x="15751" y="10925"/>
                    </a:cubicBezTo>
                    <a:cubicBezTo>
                      <a:pt x="15603" y="11021"/>
                      <a:pt x="15422" y="11117"/>
                      <a:pt x="15141" y="11156"/>
                    </a:cubicBezTo>
                    <a:cubicBezTo>
                      <a:pt x="14828" y="11214"/>
                      <a:pt x="14647" y="11387"/>
                      <a:pt x="14598" y="11714"/>
                    </a:cubicBezTo>
                    <a:cubicBezTo>
                      <a:pt x="14565" y="11887"/>
                      <a:pt x="14515" y="12060"/>
                      <a:pt x="14466" y="12252"/>
                    </a:cubicBezTo>
                    <a:cubicBezTo>
                      <a:pt x="14400" y="12541"/>
                      <a:pt x="14482" y="12810"/>
                      <a:pt x="14730" y="13022"/>
                    </a:cubicBezTo>
                    <a:cubicBezTo>
                      <a:pt x="14944" y="13214"/>
                      <a:pt x="15059" y="13406"/>
                      <a:pt x="15141" y="13579"/>
                    </a:cubicBezTo>
                    <a:cubicBezTo>
                      <a:pt x="15125" y="13618"/>
                      <a:pt x="15108" y="13656"/>
                      <a:pt x="15092" y="13695"/>
                    </a:cubicBezTo>
                    <a:cubicBezTo>
                      <a:pt x="15076" y="13733"/>
                      <a:pt x="15059" y="13752"/>
                      <a:pt x="15026" y="13791"/>
                    </a:cubicBezTo>
                    <a:cubicBezTo>
                      <a:pt x="14861" y="13810"/>
                      <a:pt x="14664" y="13772"/>
                      <a:pt x="14400" y="13656"/>
                    </a:cubicBezTo>
                    <a:cubicBezTo>
                      <a:pt x="14120" y="13502"/>
                      <a:pt x="13889" y="13560"/>
                      <a:pt x="13692" y="13791"/>
                    </a:cubicBezTo>
                    <a:cubicBezTo>
                      <a:pt x="13593" y="13926"/>
                      <a:pt x="13477" y="14060"/>
                      <a:pt x="13362" y="14176"/>
                    </a:cubicBezTo>
                    <a:cubicBezTo>
                      <a:pt x="13164" y="14387"/>
                      <a:pt x="13115" y="14676"/>
                      <a:pt x="13247" y="15022"/>
                    </a:cubicBezTo>
                    <a:cubicBezTo>
                      <a:pt x="13346" y="15310"/>
                      <a:pt x="13378" y="15541"/>
                      <a:pt x="13378" y="15734"/>
                    </a:cubicBezTo>
                    <a:cubicBezTo>
                      <a:pt x="13346" y="15772"/>
                      <a:pt x="13313" y="15791"/>
                      <a:pt x="13280" y="15811"/>
                    </a:cubicBezTo>
                    <a:cubicBezTo>
                      <a:pt x="13247" y="15830"/>
                      <a:pt x="13214" y="15849"/>
                      <a:pt x="13181" y="15868"/>
                    </a:cubicBezTo>
                    <a:cubicBezTo>
                      <a:pt x="13032" y="15772"/>
                      <a:pt x="12868" y="15618"/>
                      <a:pt x="12703" y="15368"/>
                    </a:cubicBezTo>
                    <a:cubicBezTo>
                      <a:pt x="12522" y="15099"/>
                      <a:pt x="12308" y="14983"/>
                      <a:pt x="12044" y="15080"/>
                    </a:cubicBezTo>
                    <a:cubicBezTo>
                      <a:pt x="11896" y="15137"/>
                      <a:pt x="11731" y="15195"/>
                      <a:pt x="11566" y="15233"/>
                    </a:cubicBezTo>
                    <a:cubicBezTo>
                      <a:pt x="11303" y="15291"/>
                      <a:pt x="11154" y="15503"/>
                      <a:pt x="11105" y="15868"/>
                    </a:cubicBezTo>
                    <a:cubicBezTo>
                      <a:pt x="11072" y="16195"/>
                      <a:pt x="10989" y="16407"/>
                      <a:pt x="10907" y="16580"/>
                    </a:cubicBezTo>
                    <a:cubicBezTo>
                      <a:pt x="10841" y="16580"/>
                      <a:pt x="10775" y="16580"/>
                      <a:pt x="10693" y="16580"/>
                    </a:cubicBezTo>
                    <a:cubicBezTo>
                      <a:pt x="10611" y="16407"/>
                      <a:pt x="10528" y="16195"/>
                      <a:pt x="10495" y="15868"/>
                    </a:cubicBezTo>
                    <a:cubicBezTo>
                      <a:pt x="10462" y="15503"/>
                      <a:pt x="10297" y="15291"/>
                      <a:pt x="10034" y="15233"/>
                    </a:cubicBezTo>
                    <a:cubicBezTo>
                      <a:pt x="9869" y="15195"/>
                      <a:pt x="9721" y="15137"/>
                      <a:pt x="9573" y="15080"/>
                    </a:cubicBezTo>
                    <a:cubicBezTo>
                      <a:pt x="9309" y="14983"/>
                      <a:pt x="9095" y="15080"/>
                      <a:pt x="8897" y="15387"/>
                    </a:cubicBezTo>
                    <a:cubicBezTo>
                      <a:pt x="8732" y="15637"/>
                      <a:pt x="8568" y="15772"/>
                      <a:pt x="8419" y="15868"/>
                    </a:cubicBezTo>
                    <a:cubicBezTo>
                      <a:pt x="8386" y="15849"/>
                      <a:pt x="8353" y="15830"/>
                      <a:pt x="8320" y="15811"/>
                    </a:cubicBezTo>
                    <a:cubicBezTo>
                      <a:pt x="8304" y="15791"/>
                      <a:pt x="8271" y="15772"/>
                      <a:pt x="8238" y="15734"/>
                    </a:cubicBezTo>
                    <a:cubicBezTo>
                      <a:pt x="8238" y="15541"/>
                      <a:pt x="8254" y="15310"/>
                      <a:pt x="8370" y="15003"/>
                    </a:cubicBezTo>
                    <a:cubicBezTo>
                      <a:pt x="8485" y="14676"/>
                      <a:pt x="8436" y="14387"/>
                      <a:pt x="8238" y="14176"/>
                    </a:cubicBezTo>
                    <a:cubicBezTo>
                      <a:pt x="8123" y="14060"/>
                      <a:pt x="8007" y="13926"/>
                      <a:pt x="7908" y="13791"/>
                    </a:cubicBezTo>
                    <a:cubicBezTo>
                      <a:pt x="7727" y="13560"/>
                      <a:pt x="7480" y="13502"/>
                      <a:pt x="7184" y="13656"/>
                    </a:cubicBezTo>
                    <a:cubicBezTo>
                      <a:pt x="6936" y="13772"/>
                      <a:pt x="6722" y="13810"/>
                      <a:pt x="6574" y="13791"/>
                    </a:cubicBezTo>
                    <a:cubicBezTo>
                      <a:pt x="6557" y="13752"/>
                      <a:pt x="6524" y="13733"/>
                      <a:pt x="6508" y="13695"/>
                    </a:cubicBezTo>
                    <a:cubicBezTo>
                      <a:pt x="6492" y="13656"/>
                      <a:pt x="6475" y="13618"/>
                      <a:pt x="6459" y="13579"/>
                    </a:cubicBezTo>
                    <a:cubicBezTo>
                      <a:pt x="6541" y="13406"/>
                      <a:pt x="6673" y="13214"/>
                      <a:pt x="6887" y="13022"/>
                    </a:cubicBezTo>
                    <a:cubicBezTo>
                      <a:pt x="7134" y="12810"/>
                      <a:pt x="7216" y="12541"/>
                      <a:pt x="7134" y="12233"/>
                    </a:cubicBezTo>
                    <a:cubicBezTo>
                      <a:pt x="7085" y="12060"/>
                      <a:pt x="7035" y="11887"/>
                      <a:pt x="7019" y="11694"/>
                    </a:cubicBezTo>
                    <a:cubicBezTo>
                      <a:pt x="6953" y="11387"/>
                      <a:pt x="6772" y="11214"/>
                      <a:pt x="6459" y="11156"/>
                    </a:cubicBezTo>
                    <a:cubicBezTo>
                      <a:pt x="6178" y="11117"/>
                      <a:pt x="5997" y="11021"/>
                      <a:pt x="5849" y="10925"/>
                    </a:cubicBezTo>
                    <a:cubicBezTo>
                      <a:pt x="5849" y="10887"/>
                      <a:pt x="5849" y="10848"/>
                      <a:pt x="5849" y="10810"/>
                    </a:cubicBezTo>
                    <a:cubicBezTo>
                      <a:pt x="5849" y="10771"/>
                      <a:pt x="5849" y="10713"/>
                      <a:pt x="5849" y="10675"/>
                    </a:cubicBezTo>
                    <a:cubicBezTo>
                      <a:pt x="5997" y="10579"/>
                      <a:pt x="6195" y="10483"/>
                      <a:pt x="6459" y="10444"/>
                    </a:cubicBezTo>
                    <a:cubicBezTo>
                      <a:pt x="6772" y="10386"/>
                      <a:pt x="6953" y="10213"/>
                      <a:pt x="7019" y="9886"/>
                    </a:cubicBezTo>
                    <a:close/>
                    <a:moveTo>
                      <a:pt x="21155" y="9463"/>
                    </a:moveTo>
                    <a:lnTo>
                      <a:pt x="21600" y="9963"/>
                    </a:lnTo>
                    <a:lnTo>
                      <a:pt x="19755" y="12175"/>
                    </a:lnTo>
                    <a:lnTo>
                      <a:pt x="17876" y="10021"/>
                    </a:lnTo>
                    <a:lnTo>
                      <a:pt x="18305" y="9502"/>
                    </a:lnTo>
                    <a:lnTo>
                      <a:pt x="19442" y="10790"/>
                    </a:lnTo>
                    <a:cubicBezTo>
                      <a:pt x="19425" y="5232"/>
                      <a:pt x="15553" y="712"/>
                      <a:pt x="10808" y="712"/>
                    </a:cubicBezTo>
                    <a:cubicBezTo>
                      <a:pt x="6739" y="712"/>
                      <a:pt x="3196" y="4078"/>
                      <a:pt x="2356" y="8713"/>
                    </a:cubicBezTo>
                    <a:lnTo>
                      <a:pt x="1746" y="8559"/>
                    </a:lnTo>
                    <a:cubicBezTo>
                      <a:pt x="2636" y="3597"/>
                      <a:pt x="6459" y="0"/>
                      <a:pt x="10808" y="0"/>
                    </a:cubicBezTo>
                    <a:cubicBezTo>
                      <a:pt x="15899" y="0"/>
                      <a:pt x="20051" y="4828"/>
                      <a:pt x="20051" y="10771"/>
                    </a:cubicBezTo>
                    <a:lnTo>
                      <a:pt x="21155" y="9463"/>
                    </a:lnTo>
                    <a:close/>
                    <a:moveTo>
                      <a:pt x="3295" y="12098"/>
                    </a:moveTo>
                    <a:lnTo>
                      <a:pt x="2175" y="10810"/>
                    </a:lnTo>
                    <a:cubicBezTo>
                      <a:pt x="2175" y="16368"/>
                      <a:pt x="6047" y="20888"/>
                      <a:pt x="10808" y="20888"/>
                    </a:cubicBezTo>
                    <a:cubicBezTo>
                      <a:pt x="14861" y="20888"/>
                      <a:pt x="18420" y="17522"/>
                      <a:pt x="19244" y="12887"/>
                    </a:cubicBezTo>
                    <a:lnTo>
                      <a:pt x="19854" y="13041"/>
                    </a:lnTo>
                    <a:cubicBezTo>
                      <a:pt x="18964" y="18003"/>
                      <a:pt x="15158" y="21600"/>
                      <a:pt x="10808" y="21600"/>
                    </a:cubicBezTo>
                    <a:cubicBezTo>
                      <a:pt x="5701" y="21600"/>
                      <a:pt x="1565" y="16772"/>
                      <a:pt x="1549" y="10829"/>
                    </a:cubicBezTo>
                    <a:lnTo>
                      <a:pt x="445" y="12137"/>
                    </a:lnTo>
                    <a:lnTo>
                      <a:pt x="0" y="11637"/>
                    </a:lnTo>
                    <a:lnTo>
                      <a:pt x="1845" y="9444"/>
                    </a:lnTo>
                    <a:lnTo>
                      <a:pt x="3724" y="11598"/>
                    </a:lnTo>
                    <a:lnTo>
                      <a:pt x="3295" y="12098"/>
                    </a:lnTo>
                    <a:close/>
                  </a:path>
                </a:pathLst>
              </a:custGeom>
              <a:solidFill>
                <a:srgbClr val="95008A"/>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42" name="TextBox 354">
                <a:extLst>
                  <a:ext uri="{FF2B5EF4-FFF2-40B4-BE49-F238E27FC236}">
                    <a16:creationId xmlns:a16="http://schemas.microsoft.com/office/drawing/2014/main" id="{D80C5A4C-C2F8-22B1-2714-C761C674018B}"/>
                  </a:ext>
                </a:extLst>
              </p:cNvPr>
              <p:cNvSpPr/>
              <p:nvPr/>
            </p:nvSpPr>
            <p:spPr>
              <a:xfrm>
                <a:off x="6263280" y="2568240"/>
                <a:ext cx="6656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Change</a:t>
                </a:r>
                <a:endParaRPr lang="en-GB" sz="1200" spc="-2">
                  <a:latin typeface="Arial"/>
                </a:endParaRPr>
              </a:p>
              <a:p>
                <a:pPr algn="ctr">
                  <a:tabLst>
                    <a:tab pos="0" algn="l"/>
                  </a:tabLst>
                </a:pPr>
                <a:r>
                  <a:rPr lang="en-GB" sz="1200" spc="-2">
                    <a:solidFill>
                      <a:srgbClr val="000000"/>
                    </a:solidFill>
                    <a:latin typeface="Arial"/>
                    <a:ea typeface="DejaVu Sans"/>
                  </a:rPr>
                  <a:t>Management</a:t>
                </a:r>
                <a:endParaRPr lang="en-GB" sz="1200" spc="-2">
                  <a:latin typeface="Arial"/>
                </a:endParaRPr>
              </a:p>
            </p:txBody>
          </p:sp>
        </p:grpSp>
      </p:grpSp>
      <p:grpSp>
        <p:nvGrpSpPr>
          <p:cNvPr id="247" name="Group 359">
            <a:extLst>
              <a:ext uri="{FF2B5EF4-FFF2-40B4-BE49-F238E27FC236}">
                <a16:creationId xmlns:a16="http://schemas.microsoft.com/office/drawing/2014/main" id="{9E2A23E8-F260-5B6B-8A31-A7397C3CEBA4}"/>
              </a:ext>
            </a:extLst>
          </p:cNvPr>
          <p:cNvGrpSpPr/>
          <p:nvPr/>
        </p:nvGrpSpPr>
        <p:grpSpPr>
          <a:xfrm>
            <a:off x="14086800" y="6151105"/>
            <a:ext cx="3321360" cy="2255760"/>
            <a:chOff x="7043400" y="1859400"/>
            <a:chExt cx="1660680" cy="1127880"/>
          </a:xfrm>
        </p:grpSpPr>
        <p:sp>
          <p:nvSpPr>
            <p:cNvPr id="248" name="Rectangle 360">
              <a:extLst>
                <a:ext uri="{FF2B5EF4-FFF2-40B4-BE49-F238E27FC236}">
                  <a16:creationId xmlns:a16="http://schemas.microsoft.com/office/drawing/2014/main" id="{520CC70F-7C3F-796E-7A91-07F394E9D37A}"/>
                </a:ext>
              </a:extLst>
            </p:cNvPr>
            <p:cNvSpPr/>
            <p:nvPr/>
          </p:nvSpPr>
          <p:spPr>
            <a:xfrm>
              <a:off x="7756920" y="2270520"/>
              <a:ext cx="596520" cy="636480"/>
            </a:xfrm>
            <a:prstGeom prst="rect">
              <a:avLst/>
            </a:prstGeom>
            <a:solidFill>
              <a:schemeClr val="bg1">
                <a:lumMod val="95000"/>
              </a:schemeClr>
            </a:solidFill>
            <a:ln>
              <a:solidFill>
                <a:srgbClr val="8464FF"/>
              </a:solidFill>
              <a:prstDash val="lgDashDotDot"/>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249" name="Arrow: Chevron 361">
              <a:extLst>
                <a:ext uri="{FF2B5EF4-FFF2-40B4-BE49-F238E27FC236}">
                  <a16:creationId xmlns:a16="http://schemas.microsoft.com/office/drawing/2014/main" id="{A6C33753-EFCA-1A3C-D6A3-5B4CADBFACB2}"/>
                </a:ext>
              </a:extLst>
            </p:cNvPr>
            <p:cNvSpPr/>
            <p:nvPr/>
          </p:nvSpPr>
          <p:spPr>
            <a:xfrm>
              <a:off x="7043400" y="1859400"/>
              <a:ext cx="1660680" cy="348840"/>
            </a:xfrm>
            <a:prstGeom prst="chevron">
              <a:avLst>
                <a:gd name="adj" fmla="val 50000"/>
              </a:avLst>
            </a:prstGeom>
            <a:solidFill>
              <a:schemeClr val="accent4">
                <a:lumMod val="60000"/>
                <a:lumOff val="40000"/>
              </a:schemeClr>
            </a:solidFill>
            <a:ln>
              <a:solidFill>
                <a:srgbClr val="8464FF"/>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MIGRATE</a:t>
              </a:r>
              <a:endParaRPr lang="en-GB" spc="-2">
                <a:latin typeface="Arial"/>
              </a:endParaRPr>
            </a:p>
          </p:txBody>
        </p:sp>
        <p:sp>
          <p:nvSpPr>
            <p:cNvPr id="250" name="Freeform 128">
              <a:extLst>
                <a:ext uri="{FF2B5EF4-FFF2-40B4-BE49-F238E27FC236}">
                  <a16:creationId xmlns:a16="http://schemas.microsoft.com/office/drawing/2014/main" id="{36B54B54-EEF1-F04F-7869-CBE82E7FDCFA}"/>
                </a:ext>
              </a:extLst>
            </p:cNvPr>
            <p:cNvSpPr/>
            <p:nvPr/>
          </p:nvSpPr>
          <p:spPr>
            <a:xfrm>
              <a:off x="8182800" y="1905120"/>
              <a:ext cx="291960" cy="255960"/>
            </a:xfrm>
            <a:custGeom>
              <a:avLst/>
              <a:gdLst/>
              <a:ahLst/>
              <a:cxnLst/>
              <a:rect l="l" t="t" r="r" b="b"/>
              <a:pathLst>
                <a:path w="1115" h="980">
                  <a:moveTo>
                    <a:pt x="575" y="976"/>
                  </a:moveTo>
                  <a:lnTo>
                    <a:pt x="538" y="976"/>
                  </a:lnTo>
                  <a:lnTo>
                    <a:pt x="538" y="201"/>
                  </a:lnTo>
                  <a:lnTo>
                    <a:pt x="575" y="201"/>
                  </a:lnTo>
                  <a:lnTo>
                    <a:pt x="575" y="976"/>
                  </a:lnTo>
                  <a:close/>
                  <a:moveTo>
                    <a:pt x="480" y="773"/>
                  </a:moveTo>
                  <a:lnTo>
                    <a:pt x="0" y="773"/>
                  </a:lnTo>
                  <a:lnTo>
                    <a:pt x="0" y="593"/>
                  </a:lnTo>
                  <a:lnTo>
                    <a:pt x="480" y="593"/>
                  </a:lnTo>
                  <a:lnTo>
                    <a:pt x="480" y="773"/>
                  </a:lnTo>
                  <a:close/>
                  <a:moveTo>
                    <a:pt x="443" y="631"/>
                  </a:moveTo>
                  <a:lnTo>
                    <a:pt x="37" y="631"/>
                  </a:lnTo>
                  <a:lnTo>
                    <a:pt x="37" y="736"/>
                  </a:lnTo>
                  <a:lnTo>
                    <a:pt x="443" y="736"/>
                  </a:lnTo>
                  <a:lnTo>
                    <a:pt x="443" y="631"/>
                  </a:lnTo>
                  <a:close/>
                  <a:moveTo>
                    <a:pt x="480" y="979"/>
                  </a:moveTo>
                  <a:lnTo>
                    <a:pt x="0" y="979"/>
                  </a:lnTo>
                  <a:lnTo>
                    <a:pt x="0" y="799"/>
                  </a:lnTo>
                  <a:lnTo>
                    <a:pt x="480" y="799"/>
                  </a:lnTo>
                  <a:lnTo>
                    <a:pt x="480" y="979"/>
                  </a:lnTo>
                  <a:close/>
                  <a:moveTo>
                    <a:pt x="443" y="837"/>
                  </a:moveTo>
                  <a:lnTo>
                    <a:pt x="37" y="837"/>
                  </a:lnTo>
                  <a:lnTo>
                    <a:pt x="37" y="942"/>
                  </a:lnTo>
                  <a:lnTo>
                    <a:pt x="443" y="942"/>
                  </a:lnTo>
                  <a:lnTo>
                    <a:pt x="443" y="837"/>
                  </a:lnTo>
                  <a:close/>
                  <a:moveTo>
                    <a:pt x="480" y="567"/>
                  </a:moveTo>
                  <a:lnTo>
                    <a:pt x="0" y="567"/>
                  </a:lnTo>
                  <a:lnTo>
                    <a:pt x="0" y="388"/>
                  </a:lnTo>
                  <a:lnTo>
                    <a:pt x="175" y="388"/>
                  </a:lnTo>
                  <a:cubicBezTo>
                    <a:pt x="185" y="172"/>
                    <a:pt x="363" y="0"/>
                    <a:pt x="580" y="0"/>
                  </a:cubicBezTo>
                  <a:cubicBezTo>
                    <a:pt x="769" y="0"/>
                    <a:pt x="933" y="130"/>
                    <a:pt x="976" y="312"/>
                  </a:cubicBezTo>
                  <a:lnTo>
                    <a:pt x="1100" y="312"/>
                  </a:lnTo>
                  <a:lnTo>
                    <a:pt x="1008" y="388"/>
                  </a:lnTo>
                  <a:lnTo>
                    <a:pt x="1114" y="388"/>
                  </a:lnTo>
                  <a:lnTo>
                    <a:pt x="1114" y="567"/>
                  </a:lnTo>
                  <a:lnTo>
                    <a:pt x="633" y="567"/>
                  </a:lnTo>
                  <a:lnTo>
                    <a:pt x="633" y="388"/>
                  </a:lnTo>
                  <a:lnTo>
                    <a:pt x="739" y="388"/>
                  </a:lnTo>
                  <a:lnTo>
                    <a:pt x="647" y="312"/>
                  </a:lnTo>
                  <a:lnTo>
                    <a:pt x="774" y="312"/>
                  </a:lnTo>
                  <a:cubicBezTo>
                    <a:pt x="737" y="222"/>
                    <a:pt x="648" y="160"/>
                    <a:pt x="549" y="160"/>
                  </a:cubicBezTo>
                  <a:cubicBezTo>
                    <a:pt x="420" y="160"/>
                    <a:pt x="315" y="261"/>
                    <a:pt x="307" y="388"/>
                  </a:cubicBezTo>
                  <a:lnTo>
                    <a:pt x="480" y="388"/>
                  </a:lnTo>
                  <a:lnTo>
                    <a:pt x="480" y="567"/>
                  </a:lnTo>
                  <a:close/>
                  <a:moveTo>
                    <a:pt x="873" y="498"/>
                  </a:moveTo>
                  <a:lnTo>
                    <a:pt x="784" y="425"/>
                  </a:lnTo>
                  <a:lnTo>
                    <a:pt x="670" y="425"/>
                  </a:lnTo>
                  <a:lnTo>
                    <a:pt x="670" y="530"/>
                  </a:lnTo>
                  <a:lnTo>
                    <a:pt x="1076" y="530"/>
                  </a:lnTo>
                  <a:lnTo>
                    <a:pt x="1076" y="425"/>
                  </a:lnTo>
                  <a:lnTo>
                    <a:pt x="962" y="425"/>
                  </a:lnTo>
                  <a:lnTo>
                    <a:pt x="873" y="498"/>
                  </a:lnTo>
                  <a:close/>
                  <a:moveTo>
                    <a:pt x="443" y="425"/>
                  </a:moveTo>
                  <a:lnTo>
                    <a:pt x="306" y="425"/>
                  </a:lnTo>
                  <a:lnTo>
                    <a:pt x="306" y="454"/>
                  </a:lnTo>
                  <a:lnTo>
                    <a:pt x="269" y="454"/>
                  </a:lnTo>
                  <a:lnTo>
                    <a:pt x="269" y="402"/>
                  </a:lnTo>
                  <a:cubicBezTo>
                    <a:pt x="269" y="248"/>
                    <a:pt x="394" y="123"/>
                    <a:pt x="549" y="123"/>
                  </a:cubicBezTo>
                  <a:cubicBezTo>
                    <a:pt x="673" y="123"/>
                    <a:pt x="784" y="206"/>
                    <a:pt x="818" y="326"/>
                  </a:cubicBezTo>
                  <a:lnTo>
                    <a:pt x="825" y="350"/>
                  </a:lnTo>
                  <a:lnTo>
                    <a:pt x="752" y="350"/>
                  </a:lnTo>
                  <a:lnTo>
                    <a:pt x="873" y="449"/>
                  </a:lnTo>
                  <a:lnTo>
                    <a:pt x="995" y="350"/>
                  </a:lnTo>
                  <a:lnTo>
                    <a:pt x="945" y="350"/>
                  </a:lnTo>
                  <a:lnTo>
                    <a:pt x="942" y="335"/>
                  </a:lnTo>
                  <a:cubicBezTo>
                    <a:pt x="908" y="162"/>
                    <a:pt x="756" y="37"/>
                    <a:pt x="580" y="37"/>
                  </a:cubicBezTo>
                  <a:cubicBezTo>
                    <a:pt x="377" y="37"/>
                    <a:pt x="211" y="203"/>
                    <a:pt x="211" y="406"/>
                  </a:cubicBezTo>
                  <a:lnTo>
                    <a:pt x="211" y="454"/>
                  </a:lnTo>
                  <a:lnTo>
                    <a:pt x="174" y="454"/>
                  </a:lnTo>
                  <a:lnTo>
                    <a:pt x="174" y="425"/>
                  </a:lnTo>
                  <a:lnTo>
                    <a:pt x="37" y="425"/>
                  </a:lnTo>
                  <a:lnTo>
                    <a:pt x="37" y="530"/>
                  </a:lnTo>
                  <a:lnTo>
                    <a:pt x="443" y="530"/>
                  </a:lnTo>
                  <a:lnTo>
                    <a:pt x="443" y="425"/>
                  </a:lnTo>
                  <a:close/>
                  <a:moveTo>
                    <a:pt x="375" y="913"/>
                  </a:moveTo>
                  <a:cubicBezTo>
                    <a:pt x="388" y="913"/>
                    <a:pt x="398" y="902"/>
                    <a:pt x="398" y="889"/>
                  </a:cubicBezTo>
                  <a:cubicBezTo>
                    <a:pt x="398" y="876"/>
                    <a:pt x="388" y="865"/>
                    <a:pt x="375" y="865"/>
                  </a:cubicBezTo>
                  <a:cubicBezTo>
                    <a:pt x="362" y="865"/>
                    <a:pt x="351" y="876"/>
                    <a:pt x="351" y="889"/>
                  </a:cubicBezTo>
                  <a:cubicBezTo>
                    <a:pt x="351" y="902"/>
                    <a:pt x="362" y="913"/>
                    <a:pt x="375" y="913"/>
                  </a:cubicBezTo>
                  <a:close/>
                  <a:moveTo>
                    <a:pt x="375" y="707"/>
                  </a:moveTo>
                  <a:cubicBezTo>
                    <a:pt x="388" y="707"/>
                    <a:pt x="398" y="696"/>
                    <a:pt x="398" y="683"/>
                  </a:cubicBezTo>
                  <a:cubicBezTo>
                    <a:pt x="398" y="670"/>
                    <a:pt x="388" y="660"/>
                    <a:pt x="375" y="660"/>
                  </a:cubicBezTo>
                  <a:cubicBezTo>
                    <a:pt x="362" y="660"/>
                    <a:pt x="351" y="670"/>
                    <a:pt x="351" y="683"/>
                  </a:cubicBezTo>
                  <a:cubicBezTo>
                    <a:pt x="351" y="696"/>
                    <a:pt x="362" y="707"/>
                    <a:pt x="375" y="707"/>
                  </a:cubicBezTo>
                  <a:close/>
                  <a:moveTo>
                    <a:pt x="375" y="501"/>
                  </a:moveTo>
                  <a:cubicBezTo>
                    <a:pt x="388" y="501"/>
                    <a:pt x="398" y="491"/>
                    <a:pt x="398" y="478"/>
                  </a:cubicBezTo>
                  <a:cubicBezTo>
                    <a:pt x="398" y="464"/>
                    <a:pt x="388" y="454"/>
                    <a:pt x="375" y="454"/>
                  </a:cubicBezTo>
                  <a:cubicBezTo>
                    <a:pt x="362" y="454"/>
                    <a:pt x="351" y="464"/>
                    <a:pt x="351" y="478"/>
                  </a:cubicBezTo>
                  <a:cubicBezTo>
                    <a:pt x="351" y="491"/>
                    <a:pt x="362" y="501"/>
                    <a:pt x="375" y="501"/>
                  </a:cubicBezTo>
                  <a:close/>
                  <a:moveTo>
                    <a:pt x="1114" y="773"/>
                  </a:moveTo>
                  <a:lnTo>
                    <a:pt x="633" y="773"/>
                  </a:lnTo>
                  <a:lnTo>
                    <a:pt x="633" y="593"/>
                  </a:lnTo>
                  <a:lnTo>
                    <a:pt x="1114" y="593"/>
                  </a:lnTo>
                  <a:lnTo>
                    <a:pt x="1114" y="773"/>
                  </a:lnTo>
                  <a:close/>
                  <a:moveTo>
                    <a:pt x="1076" y="631"/>
                  </a:moveTo>
                  <a:lnTo>
                    <a:pt x="670" y="631"/>
                  </a:lnTo>
                  <a:lnTo>
                    <a:pt x="670" y="736"/>
                  </a:lnTo>
                  <a:lnTo>
                    <a:pt x="1076" y="736"/>
                  </a:lnTo>
                  <a:lnTo>
                    <a:pt x="1076" y="631"/>
                  </a:lnTo>
                  <a:close/>
                  <a:moveTo>
                    <a:pt x="1114" y="799"/>
                  </a:moveTo>
                  <a:lnTo>
                    <a:pt x="1114" y="979"/>
                  </a:lnTo>
                  <a:lnTo>
                    <a:pt x="633" y="979"/>
                  </a:lnTo>
                  <a:lnTo>
                    <a:pt x="633" y="799"/>
                  </a:lnTo>
                  <a:lnTo>
                    <a:pt x="1114" y="799"/>
                  </a:lnTo>
                  <a:close/>
                  <a:moveTo>
                    <a:pt x="1076" y="942"/>
                  </a:moveTo>
                  <a:lnTo>
                    <a:pt x="1076" y="837"/>
                  </a:lnTo>
                  <a:lnTo>
                    <a:pt x="670" y="837"/>
                  </a:lnTo>
                  <a:lnTo>
                    <a:pt x="670" y="942"/>
                  </a:lnTo>
                  <a:lnTo>
                    <a:pt x="1076" y="942"/>
                  </a:lnTo>
                  <a:close/>
                  <a:moveTo>
                    <a:pt x="1008" y="865"/>
                  </a:moveTo>
                  <a:cubicBezTo>
                    <a:pt x="995" y="865"/>
                    <a:pt x="984" y="876"/>
                    <a:pt x="984" y="889"/>
                  </a:cubicBezTo>
                  <a:cubicBezTo>
                    <a:pt x="984" y="902"/>
                    <a:pt x="995" y="913"/>
                    <a:pt x="1008" y="913"/>
                  </a:cubicBezTo>
                  <a:cubicBezTo>
                    <a:pt x="1021" y="913"/>
                    <a:pt x="1032" y="902"/>
                    <a:pt x="1032" y="889"/>
                  </a:cubicBezTo>
                  <a:cubicBezTo>
                    <a:pt x="1032" y="876"/>
                    <a:pt x="1021" y="865"/>
                    <a:pt x="1008" y="865"/>
                  </a:cubicBezTo>
                  <a:close/>
                  <a:moveTo>
                    <a:pt x="1008" y="707"/>
                  </a:moveTo>
                  <a:cubicBezTo>
                    <a:pt x="1021" y="707"/>
                    <a:pt x="1032" y="696"/>
                    <a:pt x="1032" y="683"/>
                  </a:cubicBezTo>
                  <a:cubicBezTo>
                    <a:pt x="1032" y="670"/>
                    <a:pt x="1021" y="660"/>
                    <a:pt x="1008" y="660"/>
                  </a:cubicBezTo>
                  <a:cubicBezTo>
                    <a:pt x="995" y="660"/>
                    <a:pt x="984" y="670"/>
                    <a:pt x="984" y="683"/>
                  </a:cubicBezTo>
                  <a:cubicBezTo>
                    <a:pt x="984" y="696"/>
                    <a:pt x="995" y="707"/>
                    <a:pt x="1008" y="707"/>
                  </a:cubicBezTo>
                  <a:close/>
                  <a:moveTo>
                    <a:pt x="1008" y="501"/>
                  </a:moveTo>
                  <a:cubicBezTo>
                    <a:pt x="1021" y="501"/>
                    <a:pt x="1032" y="491"/>
                    <a:pt x="1032" y="478"/>
                  </a:cubicBezTo>
                  <a:cubicBezTo>
                    <a:pt x="1032" y="464"/>
                    <a:pt x="1021" y="454"/>
                    <a:pt x="1008" y="454"/>
                  </a:cubicBezTo>
                  <a:cubicBezTo>
                    <a:pt x="995" y="454"/>
                    <a:pt x="984" y="464"/>
                    <a:pt x="984" y="478"/>
                  </a:cubicBezTo>
                  <a:cubicBezTo>
                    <a:pt x="984" y="491"/>
                    <a:pt x="995" y="501"/>
                    <a:pt x="1008" y="501"/>
                  </a:cubicBezTo>
                  <a:close/>
                </a:path>
              </a:pathLst>
            </a:custGeom>
            <a:solidFill>
              <a:schemeClr val="bg1"/>
            </a:solidFill>
            <a:ln w="0">
              <a:noFill/>
            </a:ln>
          </p:spPr>
          <p:style>
            <a:lnRef idx="0">
              <a:scrgbClr r="0" g="0" b="0"/>
            </a:lnRef>
            <a:fillRef idx="0">
              <a:scrgbClr r="0" g="0" b="0"/>
            </a:fillRef>
            <a:effectRef idx="0">
              <a:scrgbClr r="0" g="0" b="0"/>
            </a:effectRef>
            <a:fontRef idx="minor"/>
          </p:style>
          <p:txBody>
            <a:bodyPr/>
            <a:lstStyle/>
            <a:p>
              <a:endParaRPr lang="en-GB" sz="3600"/>
            </a:p>
          </p:txBody>
        </p:sp>
        <p:sp>
          <p:nvSpPr>
            <p:cNvPr id="251" name="Rectangle 363">
              <a:extLst>
                <a:ext uri="{FF2B5EF4-FFF2-40B4-BE49-F238E27FC236}">
                  <a16:creationId xmlns:a16="http://schemas.microsoft.com/office/drawing/2014/main" id="{1F98E1D2-4CA7-5B78-AD6E-96926349AC95}"/>
                </a:ext>
              </a:extLst>
            </p:cNvPr>
            <p:cNvSpPr/>
            <p:nvPr/>
          </p:nvSpPr>
          <p:spPr>
            <a:xfrm>
              <a:off x="7043400" y="2228760"/>
              <a:ext cx="1471680" cy="758520"/>
            </a:xfrm>
            <a:prstGeom prst="rect">
              <a:avLst/>
            </a:prstGeom>
            <a:noFill/>
            <a:ln w="28575">
              <a:solidFill>
                <a:srgbClr val="8464FF"/>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grpSp>
          <p:nvGrpSpPr>
            <p:cNvPr id="252" name="Group 364">
              <a:extLst>
                <a:ext uri="{FF2B5EF4-FFF2-40B4-BE49-F238E27FC236}">
                  <a16:creationId xmlns:a16="http://schemas.microsoft.com/office/drawing/2014/main" id="{FBCEF47B-1D89-71C6-5217-DC069A26E871}"/>
                </a:ext>
              </a:extLst>
            </p:cNvPr>
            <p:cNvGrpSpPr/>
            <p:nvPr/>
          </p:nvGrpSpPr>
          <p:grpSpPr>
            <a:xfrm>
              <a:off x="7113240" y="2316960"/>
              <a:ext cx="665640" cy="523225"/>
              <a:chOff x="7113240" y="2316960"/>
              <a:chExt cx="665640" cy="523225"/>
            </a:xfrm>
          </p:grpSpPr>
          <p:sp>
            <p:nvSpPr>
              <p:cNvPr id="256" name="Shape">
                <a:extLst>
                  <a:ext uri="{FF2B5EF4-FFF2-40B4-BE49-F238E27FC236}">
                    <a16:creationId xmlns:a16="http://schemas.microsoft.com/office/drawing/2014/main" id="{805D9F1B-D70C-6237-D35E-3EAB3C877E87}"/>
                  </a:ext>
                </a:extLst>
              </p:cNvPr>
              <p:cNvSpPr/>
              <p:nvPr/>
            </p:nvSpPr>
            <p:spPr>
              <a:xfrm>
                <a:off x="7323120" y="2316960"/>
                <a:ext cx="245880" cy="245880"/>
              </a:xfrm>
              <a:custGeom>
                <a:avLst/>
                <a:gdLst/>
                <a:ahLst/>
                <a:cxnLst/>
                <a:rect l="l" t="t" r="r" b="b"/>
                <a:pathLst>
                  <a:path w="21600" h="21600">
                    <a:moveTo>
                      <a:pt x="10789" y="21600"/>
                    </a:moveTo>
                    <a:cubicBezTo>
                      <a:pt x="16742" y="21600"/>
                      <a:pt x="21600" y="16742"/>
                      <a:pt x="21600" y="10789"/>
                    </a:cubicBezTo>
                    <a:cubicBezTo>
                      <a:pt x="21600" y="4836"/>
                      <a:pt x="16742" y="0"/>
                      <a:pt x="10789" y="0"/>
                    </a:cubicBezTo>
                    <a:cubicBezTo>
                      <a:pt x="4836" y="0"/>
                      <a:pt x="0" y="4836"/>
                      <a:pt x="0" y="10789"/>
                    </a:cubicBezTo>
                    <a:cubicBezTo>
                      <a:pt x="0" y="16742"/>
                      <a:pt x="4836" y="21600"/>
                      <a:pt x="10789" y="21600"/>
                    </a:cubicBezTo>
                    <a:close/>
                    <a:moveTo>
                      <a:pt x="10789" y="810"/>
                    </a:moveTo>
                    <a:cubicBezTo>
                      <a:pt x="16304" y="810"/>
                      <a:pt x="20768" y="5274"/>
                      <a:pt x="20768" y="10789"/>
                    </a:cubicBezTo>
                    <a:cubicBezTo>
                      <a:pt x="20768" y="16282"/>
                      <a:pt x="16304" y="20768"/>
                      <a:pt x="10789" y="20768"/>
                    </a:cubicBezTo>
                    <a:cubicBezTo>
                      <a:pt x="5296" y="20768"/>
                      <a:pt x="810" y="16282"/>
                      <a:pt x="810" y="10789"/>
                    </a:cubicBezTo>
                    <a:cubicBezTo>
                      <a:pt x="810" y="5274"/>
                      <a:pt x="5296" y="810"/>
                      <a:pt x="10789" y="810"/>
                    </a:cubicBezTo>
                    <a:close/>
                    <a:moveTo>
                      <a:pt x="10789" y="19521"/>
                    </a:moveTo>
                    <a:cubicBezTo>
                      <a:pt x="15604" y="19521"/>
                      <a:pt x="19521" y="15582"/>
                      <a:pt x="19521" y="10789"/>
                    </a:cubicBezTo>
                    <a:cubicBezTo>
                      <a:pt x="19521" y="5974"/>
                      <a:pt x="15604" y="2079"/>
                      <a:pt x="10789" y="2079"/>
                    </a:cubicBezTo>
                    <a:cubicBezTo>
                      <a:pt x="5996" y="2079"/>
                      <a:pt x="2079" y="5974"/>
                      <a:pt x="2079" y="10789"/>
                    </a:cubicBezTo>
                    <a:cubicBezTo>
                      <a:pt x="2079" y="15582"/>
                      <a:pt x="5996" y="19521"/>
                      <a:pt x="10789" y="19521"/>
                    </a:cubicBezTo>
                    <a:close/>
                    <a:moveTo>
                      <a:pt x="10789" y="2889"/>
                    </a:moveTo>
                    <a:cubicBezTo>
                      <a:pt x="15144" y="2889"/>
                      <a:pt x="18689" y="6434"/>
                      <a:pt x="18689" y="10789"/>
                    </a:cubicBezTo>
                    <a:cubicBezTo>
                      <a:pt x="18689" y="15144"/>
                      <a:pt x="15144" y="18689"/>
                      <a:pt x="10789" y="18689"/>
                    </a:cubicBezTo>
                    <a:cubicBezTo>
                      <a:pt x="6434" y="18689"/>
                      <a:pt x="2889" y="15144"/>
                      <a:pt x="2889" y="10789"/>
                    </a:cubicBezTo>
                    <a:cubicBezTo>
                      <a:pt x="2889" y="6434"/>
                      <a:pt x="6434" y="2889"/>
                      <a:pt x="10789" y="2889"/>
                    </a:cubicBezTo>
                    <a:close/>
                    <a:moveTo>
                      <a:pt x="10789" y="12452"/>
                    </a:moveTo>
                    <a:cubicBezTo>
                      <a:pt x="11555" y="12452"/>
                      <a:pt x="12212" y="11927"/>
                      <a:pt x="12387" y="11205"/>
                    </a:cubicBezTo>
                    <a:lnTo>
                      <a:pt x="17026" y="11205"/>
                    </a:lnTo>
                    <a:lnTo>
                      <a:pt x="17026" y="10395"/>
                    </a:lnTo>
                    <a:lnTo>
                      <a:pt x="12387" y="10395"/>
                    </a:lnTo>
                    <a:cubicBezTo>
                      <a:pt x="12233" y="9804"/>
                      <a:pt x="11796" y="9345"/>
                      <a:pt x="11205" y="9191"/>
                    </a:cubicBezTo>
                    <a:lnTo>
                      <a:pt x="11205" y="5799"/>
                    </a:lnTo>
                    <a:lnTo>
                      <a:pt x="10395" y="5799"/>
                    </a:lnTo>
                    <a:lnTo>
                      <a:pt x="10395" y="9191"/>
                    </a:lnTo>
                    <a:cubicBezTo>
                      <a:pt x="9673" y="9388"/>
                      <a:pt x="9148" y="10023"/>
                      <a:pt x="9148" y="10789"/>
                    </a:cubicBezTo>
                    <a:cubicBezTo>
                      <a:pt x="9148" y="11708"/>
                      <a:pt x="9892" y="12452"/>
                      <a:pt x="10789" y="12452"/>
                    </a:cubicBezTo>
                    <a:close/>
                    <a:moveTo>
                      <a:pt x="10789" y="9957"/>
                    </a:moveTo>
                    <a:cubicBezTo>
                      <a:pt x="11249" y="9957"/>
                      <a:pt x="11643" y="10329"/>
                      <a:pt x="11643" y="10789"/>
                    </a:cubicBezTo>
                    <a:cubicBezTo>
                      <a:pt x="11643" y="11249"/>
                      <a:pt x="11249" y="11643"/>
                      <a:pt x="10789" y="11643"/>
                    </a:cubicBezTo>
                    <a:cubicBezTo>
                      <a:pt x="10329" y="11643"/>
                      <a:pt x="9957" y="11249"/>
                      <a:pt x="9957" y="10789"/>
                    </a:cubicBezTo>
                    <a:cubicBezTo>
                      <a:pt x="9957" y="10329"/>
                      <a:pt x="10329" y="9957"/>
                      <a:pt x="10789" y="9957"/>
                    </a:cubicBezTo>
                    <a:close/>
                    <a:moveTo>
                      <a:pt x="10373" y="4136"/>
                    </a:moveTo>
                    <a:cubicBezTo>
                      <a:pt x="10373" y="3917"/>
                      <a:pt x="10570" y="3720"/>
                      <a:pt x="10789" y="3720"/>
                    </a:cubicBezTo>
                    <a:cubicBezTo>
                      <a:pt x="11030" y="3720"/>
                      <a:pt x="11205" y="3895"/>
                      <a:pt x="11205" y="4136"/>
                    </a:cubicBezTo>
                    <a:cubicBezTo>
                      <a:pt x="11205" y="4355"/>
                      <a:pt x="11030" y="4552"/>
                      <a:pt x="10789" y="4552"/>
                    </a:cubicBezTo>
                    <a:cubicBezTo>
                      <a:pt x="10570" y="4552"/>
                      <a:pt x="10373" y="4377"/>
                      <a:pt x="10373" y="4136"/>
                    </a:cubicBezTo>
                    <a:close/>
                    <a:moveTo>
                      <a:pt x="11205" y="17442"/>
                    </a:moveTo>
                    <a:cubicBezTo>
                      <a:pt x="11205" y="17683"/>
                      <a:pt x="11030" y="17858"/>
                      <a:pt x="10789" y="17858"/>
                    </a:cubicBezTo>
                    <a:cubicBezTo>
                      <a:pt x="10570" y="17858"/>
                      <a:pt x="10373" y="17683"/>
                      <a:pt x="10373" y="17442"/>
                    </a:cubicBezTo>
                    <a:cubicBezTo>
                      <a:pt x="10373" y="17223"/>
                      <a:pt x="10570" y="17026"/>
                      <a:pt x="10789" y="17026"/>
                    </a:cubicBezTo>
                    <a:cubicBezTo>
                      <a:pt x="11030" y="17026"/>
                      <a:pt x="11205" y="17223"/>
                      <a:pt x="11205" y="17442"/>
                    </a:cubicBezTo>
                    <a:close/>
                    <a:moveTo>
                      <a:pt x="4552" y="10789"/>
                    </a:moveTo>
                    <a:cubicBezTo>
                      <a:pt x="4552" y="11030"/>
                      <a:pt x="4377" y="11205"/>
                      <a:pt x="4136" y="11205"/>
                    </a:cubicBezTo>
                    <a:cubicBezTo>
                      <a:pt x="3917" y="11205"/>
                      <a:pt x="3720" y="11030"/>
                      <a:pt x="3720" y="10789"/>
                    </a:cubicBezTo>
                    <a:cubicBezTo>
                      <a:pt x="3720" y="10570"/>
                      <a:pt x="3917" y="10373"/>
                      <a:pt x="4136" y="10373"/>
                    </a:cubicBezTo>
                    <a:cubicBezTo>
                      <a:pt x="4377" y="10373"/>
                      <a:pt x="4552" y="10570"/>
                      <a:pt x="4552" y="10789"/>
                    </a:cubicBezTo>
                    <a:close/>
                    <a:moveTo>
                      <a:pt x="7047" y="5033"/>
                    </a:moveTo>
                    <a:cubicBezTo>
                      <a:pt x="7047" y="4815"/>
                      <a:pt x="7244" y="4618"/>
                      <a:pt x="7463" y="4618"/>
                    </a:cubicBezTo>
                    <a:cubicBezTo>
                      <a:pt x="7703" y="4618"/>
                      <a:pt x="7878" y="4815"/>
                      <a:pt x="7878" y="5033"/>
                    </a:cubicBezTo>
                    <a:cubicBezTo>
                      <a:pt x="7878" y="5274"/>
                      <a:pt x="7703" y="5449"/>
                      <a:pt x="7463" y="5449"/>
                    </a:cubicBezTo>
                    <a:cubicBezTo>
                      <a:pt x="7244" y="5449"/>
                      <a:pt x="7047" y="5274"/>
                      <a:pt x="7047" y="5033"/>
                    </a:cubicBezTo>
                    <a:close/>
                    <a:moveTo>
                      <a:pt x="14531" y="16567"/>
                    </a:moveTo>
                    <a:cubicBezTo>
                      <a:pt x="14531" y="16785"/>
                      <a:pt x="14356" y="16960"/>
                      <a:pt x="14116" y="16960"/>
                    </a:cubicBezTo>
                    <a:cubicBezTo>
                      <a:pt x="13897" y="16960"/>
                      <a:pt x="13700" y="16785"/>
                      <a:pt x="13700" y="16567"/>
                    </a:cubicBezTo>
                    <a:cubicBezTo>
                      <a:pt x="13700" y="16326"/>
                      <a:pt x="13897" y="16151"/>
                      <a:pt x="14116" y="16151"/>
                    </a:cubicBezTo>
                    <a:cubicBezTo>
                      <a:pt x="14356" y="16151"/>
                      <a:pt x="14531" y="16326"/>
                      <a:pt x="14531" y="16567"/>
                    </a:cubicBezTo>
                    <a:close/>
                    <a:moveTo>
                      <a:pt x="16129" y="7463"/>
                    </a:moveTo>
                    <a:cubicBezTo>
                      <a:pt x="16129" y="7244"/>
                      <a:pt x="16326" y="7047"/>
                      <a:pt x="16545" y="7047"/>
                    </a:cubicBezTo>
                    <a:cubicBezTo>
                      <a:pt x="16785" y="7047"/>
                      <a:pt x="16960" y="7244"/>
                      <a:pt x="16960" y="7463"/>
                    </a:cubicBezTo>
                    <a:cubicBezTo>
                      <a:pt x="16960" y="7703"/>
                      <a:pt x="16785" y="7878"/>
                      <a:pt x="16545" y="7878"/>
                    </a:cubicBezTo>
                    <a:cubicBezTo>
                      <a:pt x="16326" y="7878"/>
                      <a:pt x="16129" y="7703"/>
                      <a:pt x="16129" y="7463"/>
                    </a:cubicBezTo>
                    <a:close/>
                    <a:moveTo>
                      <a:pt x="5033" y="14531"/>
                    </a:moveTo>
                    <a:cubicBezTo>
                      <a:pt x="4815" y="14531"/>
                      <a:pt x="4618" y="14356"/>
                      <a:pt x="4618" y="14116"/>
                    </a:cubicBezTo>
                    <a:cubicBezTo>
                      <a:pt x="4618" y="13897"/>
                      <a:pt x="4815" y="13700"/>
                      <a:pt x="5033" y="13700"/>
                    </a:cubicBezTo>
                    <a:cubicBezTo>
                      <a:pt x="5274" y="13700"/>
                      <a:pt x="5449" y="13897"/>
                      <a:pt x="5449" y="14116"/>
                    </a:cubicBezTo>
                    <a:cubicBezTo>
                      <a:pt x="5449" y="14356"/>
                      <a:pt x="5274" y="14531"/>
                      <a:pt x="5033" y="14531"/>
                    </a:cubicBezTo>
                    <a:close/>
                    <a:moveTo>
                      <a:pt x="4618" y="7463"/>
                    </a:moveTo>
                    <a:cubicBezTo>
                      <a:pt x="4618" y="7244"/>
                      <a:pt x="4815" y="7047"/>
                      <a:pt x="5033" y="7047"/>
                    </a:cubicBezTo>
                    <a:cubicBezTo>
                      <a:pt x="5274" y="7047"/>
                      <a:pt x="5449" y="7244"/>
                      <a:pt x="5449" y="7463"/>
                    </a:cubicBezTo>
                    <a:cubicBezTo>
                      <a:pt x="5449" y="7703"/>
                      <a:pt x="5274" y="7878"/>
                      <a:pt x="5033" y="7878"/>
                    </a:cubicBezTo>
                    <a:cubicBezTo>
                      <a:pt x="4815" y="7878"/>
                      <a:pt x="4618" y="7703"/>
                      <a:pt x="4618" y="7463"/>
                    </a:cubicBezTo>
                    <a:close/>
                    <a:moveTo>
                      <a:pt x="16960" y="14116"/>
                    </a:moveTo>
                    <a:cubicBezTo>
                      <a:pt x="16960" y="14356"/>
                      <a:pt x="16785" y="14531"/>
                      <a:pt x="16545" y="14531"/>
                    </a:cubicBezTo>
                    <a:cubicBezTo>
                      <a:pt x="16326" y="14531"/>
                      <a:pt x="16129" y="14356"/>
                      <a:pt x="16129" y="14116"/>
                    </a:cubicBezTo>
                    <a:cubicBezTo>
                      <a:pt x="16129" y="13897"/>
                      <a:pt x="16326" y="13700"/>
                      <a:pt x="16545" y="13700"/>
                    </a:cubicBezTo>
                    <a:cubicBezTo>
                      <a:pt x="16785" y="13700"/>
                      <a:pt x="16960" y="13897"/>
                      <a:pt x="16960" y="14116"/>
                    </a:cubicBezTo>
                    <a:close/>
                    <a:moveTo>
                      <a:pt x="13700" y="5033"/>
                    </a:moveTo>
                    <a:cubicBezTo>
                      <a:pt x="13700" y="4815"/>
                      <a:pt x="13897" y="4618"/>
                      <a:pt x="14116" y="4618"/>
                    </a:cubicBezTo>
                    <a:cubicBezTo>
                      <a:pt x="14356" y="4618"/>
                      <a:pt x="14531" y="4815"/>
                      <a:pt x="14531" y="5033"/>
                    </a:cubicBezTo>
                    <a:cubicBezTo>
                      <a:pt x="14531" y="5274"/>
                      <a:pt x="14356" y="5449"/>
                      <a:pt x="14116" y="5449"/>
                    </a:cubicBezTo>
                    <a:cubicBezTo>
                      <a:pt x="13897" y="5449"/>
                      <a:pt x="13700" y="5274"/>
                      <a:pt x="13700" y="5033"/>
                    </a:cubicBezTo>
                    <a:close/>
                    <a:moveTo>
                      <a:pt x="7047" y="16545"/>
                    </a:moveTo>
                    <a:cubicBezTo>
                      <a:pt x="7047" y="16326"/>
                      <a:pt x="7244" y="16151"/>
                      <a:pt x="7463" y="16151"/>
                    </a:cubicBezTo>
                    <a:cubicBezTo>
                      <a:pt x="7703" y="16151"/>
                      <a:pt x="7878" y="16326"/>
                      <a:pt x="7878" y="16567"/>
                    </a:cubicBezTo>
                    <a:cubicBezTo>
                      <a:pt x="7878" y="16785"/>
                      <a:pt x="7703" y="16960"/>
                      <a:pt x="7463" y="16960"/>
                    </a:cubicBezTo>
                    <a:cubicBezTo>
                      <a:pt x="7244" y="16960"/>
                      <a:pt x="7047" y="16785"/>
                      <a:pt x="7047" y="16545"/>
                    </a:cubicBezTo>
                    <a:close/>
                  </a:path>
                </a:pathLst>
              </a:custGeom>
              <a:solidFill>
                <a:srgbClr val="8464FF"/>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57" name="TextBox 369">
                <a:extLst>
                  <a:ext uri="{FF2B5EF4-FFF2-40B4-BE49-F238E27FC236}">
                    <a16:creationId xmlns:a16="http://schemas.microsoft.com/office/drawing/2014/main" id="{63A26FD3-444A-6CC8-588C-1D8D50AFDCE9}"/>
                  </a:ext>
                </a:extLst>
              </p:cNvPr>
              <p:cNvSpPr/>
              <p:nvPr/>
            </p:nvSpPr>
            <p:spPr>
              <a:xfrm>
                <a:off x="7113240" y="2564640"/>
                <a:ext cx="6656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Migration Events</a:t>
                </a:r>
                <a:endParaRPr lang="en-GB" sz="1200" spc="-2">
                  <a:latin typeface="Arial"/>
                </a:endParaRPr>
              </a:p>
            </p:txBody>
          </p:sp>
        </p:grpSp>
        <p:grpSp>
          <p:nvGrpSpPr>
            <p:cNvPr id="253" name="Group 365">
              <a:extLst>
                <a:ext uri="{FF2B5EF4-FFF2-40B4-BE49-F238E27FC236}">
                  <a16:creationId xmlns:a16="http://schemas.microsoft.com/office/drawing/2014/main" id="{0EED2749-7576-9673-5154-E0B6C638B670}"/>
                </a:ext>
              </a:extLst>
            </p:cNvPr>
            <p:cNvGrpSpPr/>
            <p:nvPr/>
          </p:nvGrpSpPr>
          <p:grpSpPr>
            <a:xfrm>
              <a:off x="7719120" y="2316960"/>
              <a:ext cx="665640" cy="515305"/>
              <a:chOff x="7719120" y="2316960"/>
              <a:chExt cx="665640" cy="515305"/>
            </a:xfrm>
          </p:grpSpPr>
          <p:sp>
            <p:nvSpPr>
              <p:cNvPr id="254" name="Shape">
                <a:extLst>
                  <a:ext uri="{FF2B5EF4-FFF2-40B4-BE49-F238E27FC236}">
                    <a16:creationId xmlns:a16="http://schemas.microsoft.com/office/drawing/2014/main" id="{4ACC4DC8-CF38-A315-F7BD-0EC2473E5E51}"/>
                  </a:ext>
                </a:extLst>
              </p:cNvPr>
              <p:cNvSpPr/>
              <p:nvPr/>
            </p:nvSpPr>
            <p:spPr>
              <a:xfrm>
                <a:off x="7905240" y="2316960"/>
                <a:ext cx="293400" cy="250920"/>
              </a:xfrm>
              <a:custGeom>
                <a:avLst/>
                <a:gdLst/>
                <a:ahLst/>
                <a:cxnLst/>
                <a:rect l="l" t="t" r="r" b="b"/>
                <a:pathLst>
                  <a:path w="21600" h="21600">
                    <a:moveTo>
                      <a:pt x="9635" y="13440"/>
                    </a:moveTo>
                    <a:cubicBezTo>
                      <a:pt x="9751" y="13517"/>
                      <a:pt x="9866" y="13575"/>
                      <a:pt x="9998" y="13633"/>
                    </a:cubicBezTo>
                    <a:lnTo>
                      <a:pt x="10114" y="14329"/>
                    </a:lnTo>
                    <a:lnTo>
                      <a:pt x="10412" y="14445"/>
                    </a:lnTo>
                    <a:cubicBezTo>
                      <a:pt x="10527" y="14484"/>
                      <a:pt x="10643" y="14503"/>
                      <a:pt x="10792" y="14503"/>
                    </a:cubicBezTo>
                    <a:cubicBezTo>
                      <a:pt x="10957" y="14503"/>
                      <a:pt x="11073" y="14484"/>
                      <a:pt x="11172" y="14445"/>
                    </a:cubicBezTo>
                    <a:lnTo>
                      <a:pt x="11486" y="14310"/>
                    </a:lnTo>
                    <a:lnTo>
                      <a:pt x="11568" y="13633"/>
                    </a:lnTo>
                    <a:cubicBezTo>
                      <a:pt x="11701" y="13594"/>
                      <a:pt x="11816" y="13536"/>
                      <a:pt x="11949" y="13459"/>
                    </a:cubicBezTo>
                    <a:lnTo>
                      <a:pt x="12444" y="13846"/>
                    </a:lnTo>
                    <a:lnTo>
                      <a:pt x="12725" y="13691"/>
                    </a:lnTo>
                    <a:cubicBezTo>
                      <a:pt x="12824" y="13633"/>
                      <a:pt x="12924" y="13556"/>
                      <a:pt x="13039" y="13420"/>
                    </a:cubicBezTo>
                    <a:cubicBezTo>
                      <a:pt x="13138" y="13285"/>
                      <a:pt x="13221" y="13169"/>
                      <a:pt x="13271" y="13072"/>
                    </a:cubicBezTo>
                    <a:lnTo>
                      <a:pt x="13419" y="12724"/>
                    </a:lnTo>
                    <a:lnTo>
                      <a:pt x="13056" y="12163"/>
                    </a:lnTo>
                    <a:cubicBezTo>
                      <a:pt x="13122" y="12028"/>
                      <a:pt x="13172" y="11873"/>
                      <a:pt x="13221" y="11738"/>
                    </a:cubicBezTo>
                    <a:lnTo>
                      <a:pt x="13816" y="11583"/>
                    </a:lnTo>
                    <a:lnTo>
                      <a:pt x="13915" y="11235"/>
                    </a:lnTo>
                    <a:cubicBezTo>
                      <a:pt x="13948" y="11119"/>
                      <a:pt x="13965" y="10984"/>
                      <a:pt x="13965" y="10790"/>
                    </a:cubicBezTo>
                    <a:cubicBezTo>
                      <a:pt x="13965" y="10616"/>
                      <a:pt x="13948" y="10462"/>
                      <a:pt x="13915" y="10346"/>
                    </a:cubicBezTo>
                    <a:lnTo>
                      <a:pt x="13800" y="9997"/>
                    </a:lnTo>
                    <a:lnTo>
                      <a:pt x="13221" y="9881"/>
                    </a:lnTo>
                    <a:cubicBezTo>
                      <a:pt x="13188" y="9746"/>
                      <a:pt x="13122" y="9591"/>
                      <a:pt x="13072" y="9456"/>
                    </a:cubicBezTo>
                    <a:lnTo>
                      <a:pt x="13403" y="8857"/>
                    </a:lnTo>
                    <a:lnTo>
                      <a:pt x="13271" y="8528"/>
                    </a:lnTo>
                    <a:cubicBezTo>
                      <a:pt x="13221" y="8412"/>
                      <a:pt x="13155" y="8315"/>
                      <a:pt x="13039" y="8180"/>
                    </a:cubicBezTo>
                    <a:cubicBezTo>
                      <a:pt x="12924" y="8044"/>
                      <a:pt x="12824" y="7967"/>
                      <a:pt x="12725" y="7909"/>
                    </a:cubicBezTo>
                    <a:lnTo>
                      <a:pt x="12444" y="7735"/>
                    </a:lnTo>
                    <a:lnTo>
                      <a:pt x="11965" y="8141"/>
                    </a:lnTo>
                    <a:cubicBezTo>
                      <a:pt x="11849" y="8083"/>
                      <a:pt x="11717" y="8025"/>
                      <a:pt x="11602" y="7967"/>
                    </a:cubicBezTo>
                    <a:lnTo>
                      <a:pt x="11469" y="7271"/>
                    </a:lnTo>
                    <a:lnTo>
                      <a:pt x="11172" y="7155"/>
                    </a:lnTo>
                    <a:cubicBezTo>
                      <a:pt x="11073" y="7116"/>
                      <a:pt x="10957" y="7097"/>
                      <a:pt x="10792" y="7097"/>
                    </a:cubicBezTo>
                    <a:cubicBezTo>
                      <a:pt x="10643" y="7097"/>
                      <a:pt x="10511" y="7116"/>
                      <a:pt x="10412" y="7155"/>
                    </a:cubicBezTo>
                    <a:lnTo>
                      <a:pt x="10114" y="7271"/>
                    </a:lnTo>
                    <a:lnTo>
                      <a:pt x="10015" y="7967"/>
                    </a:lnTo>
                    <a:cubicBezTo>
                      <a:pt x="9899" y="8006"/>
                      <a:pt x="9767" y="8064"/>
                      <a:pt x="9651" y="8141"/>
                    </a:cubicBezTo>
                    <a:lnTo>
                      <a:pt x="9139" y="7754"/>
                    </a:lnTo>
                    <a:lnTo>
                      <a:pt x="8858" y="7909"/>
                    </a:lnTo>
                    <a:cubicBezTo>
                      <a:pt x="8759" y="7967"/>
                      <a:pt x="8676" y="8044"/>
                      <a:pt x="8561" y="8180"/>
                    </a:cubicBezTo>
                    <a:cubicBezTo>
                      <a:pt x="8445" y="8296"/>
                      <a:pt x="8379" y="8412"/>
                      <a:pt x="8329" y="8528"/>
                    </a:cubicBezTo>
                    <a:lnTo>
                      <a:pt x="8181" y="8876"/>
                    </a:lnTo>
                    <a:lnTo>
                      <a:pt x="8528" y="9437"/>
                    </a:lnTo>
                    <a:cubicBezTo>
                      <a:pt x="8478" y="9572"/>
                      <a:pt x="8428" y="9707"/>
                      <a:pt x="8379" y="9862"/>
                    </a:cubicBezTo>
                    <a:lnTo>
                      <a:pt x="7784" y="9997"/>
                    </a:lnTo>
                    <a:lnTo>
                      <a:pt x="7685" y="10346"/>
                    </a:lnTo>
                    <a:cubicBezTo>
                      <a:pt x="7652" y="10462"/>
                      <a:pt x="7635" y="10616"/>
                      <a:pt x="7635" y="10790"/>
                    </a:cubicBezTo>
                    <a:cubicBezTo>
                      <a:pt x="7635" y="10984"/>
                      <a:pt x="7652" y="11119"/>
                      <a:pt x="7685" y="11235"/>
                    </a:cubicBezTo>
                    <a:lnTo>
                      <a:pt x="7784" y="11603"/>
                    </a:lnTo>
                    <a:lnTo>
                      <a:pt x="8379" y="11699"/>
                    </a:lnTo>
                    <a:cubicBezTo>
                      <a:pt x="8412" y="11854"/>
                      <a:pt x="8462" y="11989"/>
                      <a:pt x="8528" y="12144"/>
                    </a:cubicBezTo>
                    <a:lnTo>
                      <a:pt x="8181" y="12724"/>
                    </a:lnTo>
                    <a:lnTo>
                      <a:pt x="8329" y="13072"/>
                    </a:lnTo>
                    <a:cubicBezTo>
                      <a:pt x="8379" y="13169"/>
                      <a:pt x="8445" y="13285"/>
                      <a:pt x="8561" y="13420"/>
                    </a:cubicBezTo>
                    <a:cubicBezTo>
                      <a:pt x="8676" y="13556"/>
                      <a:pt x="8759" y="13633"/>
                      <a:pt x="8858" y="13691"/>
                    </a:cubicBezTo>
                    <a:lnTo>
                      <a:pt x="9156" y="13846"/>
                    </a:lnTo>
                    <a:lnTo>
                      <a:pt x="9635" y="13440"/>
                    </a:lnTo>
                    <a:close/>
                    <a:moveTo>
                      <a:pt x="9090" y="13130"/>
                    </a:moveTo>
                    <a:cubicBezTo>
                      <a:pt x="9056" y="13111"/>
                      <a:pt x="9023" y="13072"/>
                      <a:pt x="8924" y="12975"/>
                    </a:cubicBezTo>
                    <a:cubicBezTo>
                      <a:pt x="8858" y="12898"/>
                      <a:pt x="8825" y="12840"/>
                      <a:pt x="8809" y="12801"/>
                    </a:cubicBezTo>
                    <a:lnTo>
                      <a:pt x="8792" y="12782"/>
                    </a:lnTo>
                    <a:lnTo>
                      <a:pt x="9139" y="12183"/>
                    </a:lnTo>
                    <a:lnTo>
                      <a:pt x="9007" y="11893"/>
                    </a:lnTo>
                    <a:cubicBezTo>
                      <a:pt x="8957" y="11757"/>
                      <a:pt x="8908" y="11622"/>
                      <a:pt x="8875" y="11486"/>
                    </a:cubicBezTo>
                    <a:lnTo>
                      <a:pt x="8776" y="11158"/>
                    </a:lnTo>
                    <a:lnTo>
                      <a:pt x="8181" y="11042"/>
                    </a:lnTo>
                    <a:cubicBezTo>
                      <a:pt x="8164" y="11003"/>
                      <a:pt x="8164" y="10945"/>
                      <a:pt x="8164" y="10790"/>
                    </a:cubicBezTo>
                    <a:cubicBezTo>
                      <a:pt x="8164" y="10655"/>
                      <a:pt x="8164" y="10597"/>
                      <a:pt x="8181" y="10558"/>
                    </a:cubicBezTo>
                    <a:lnTo>
                      <a:pt x="8792" y="10404"/>
                    </a:lnTo>
                    <a:lnTo>
                      <a:pt x="8875" y="10094"/>
                    </a:lnTo>
                    <a:cubicBezTo>
                      <a:pt x="8908" y="9959"/>
                      <a:pt x="8957" y="9823"/>
                      <a:pt x="9023" y="9688"/>
                    </a:cubicBezTo>
                    <a:lnTo>
                      <a:pt x="9156" y="9379"/>
                    </a:lnTo>
                    <a:lnTo>
                      <a:pt x="8792" y="8818"/>
                    </a:lnTo>
                    <a:lnTo>
                      <a:pt x="8809" y="8799"/>
                    </a:lnTo>
                    <a:cubicBezTo>
                      <a:pt x="8809" y="8779"/>
                      <a:pt x="8842" y="8721"/>
                      <a:pt x="8924" y="8625"/>
                    </a:cubicBezTo>
                    <a:cubicBezTo>
                      <a:pt x="8990" y="8528"/>
                      <a:pt x="9056" y="8489"/>
                      <a:pt x="9090" y="8470"/>
                    </a:cubicBezTo>
                    <a:lnTo>
                      <a:pt x="9106" y="8450"/>
                    </a:lnTo>
                    <a:lnTo>
                      <a:pt x="9618" y="8857"/>
                    </a:lnTo>
                    <a:lnTo>
                      <a:pt x="9866" y="8702"/>
                    </a:lnTo>
                    <a:cubicBezTo>
                      <a:pt x="9982" y="8644"/>
                      <a:pt x="10098" y="8586"/>
                      <a:pt x="10213" y="8547"/>
                    </a:cubicBezTo>
                    <a:lnTo>
                      <a:pt x="10494" y="8431"/>
                    </a:lnTo>
                    <a:lnTo>
                      <a:pt x="10577" y="7735"/>
                    </a:lnTo>
                    <a:lnTo>
                      <a:pt x="10593" y="7735"/>
                    </a:lnTo>
                    <a:cubicBezTo>
                      <a:pt x="10626" y="7716"/>
                      <a:pt x="10709" y="7716"/>
                      <a:pt x="10792" y="7716"/>
                    </a:cubicBezTo>
                    <a:cubicBezTo>
                      <a:pt x="10924" y="7716"/>
                      <a:pt x="10974" y="7735"/>
                      <a:pt x="11007" y="7735"/>
                    </a:cubicBezTo>
                    <a:lnTo>
                      <a:pt x="11139" y="8450"/>
                    </a:lnTo>
                    <a:lnTo>
                      <a:pt x="11403" y="8547"/>
                    </a:lnTo>
                    <a:cubicBezTo>
                      <a:pt x="11519" y="8586"/>
                      <a:pt x="11635" y="8644"/>
                      <a:pt x="11750" y="8721"/>
                    </a:cubicBezTo>
                    <a:lnTo>
                      <a:pt x="11998" y="8876"/>
                    </a:lnTo>
                    <a:lnTo>
                      <a:pt x="12494" y="8450"/>
                    </a:lnTo>
                    <a:lnTo>
                      <a:pt x="12494" y="8470"/>
                    </a:lnTo>
                    <a:cubicBezTo>
                      <a:pt x="12527" y="8470"/>
                      <a:pt x="12577" y="8509"/>
                      <a:pt x="12659" y="8625"/>
                    </a:cubicBezTo>
                    <a:cubicBezTo>
                      <a:pt x="12758" y="8721"/>
                      <a:pt x="12775" y="8779"/>
                      <a:pt x="12791" y="8799"/>
                    </a:cubicBezTo>
                    <a:lnTo>
                      <a:pt x="12791" y="8818"/>
                    </a:lnTo>
                    <a:lnTo>
                      <a:pt x="12461" y="9417"/>
                    </a:lnTo>
                    <a:lnTo>
                      <a:pt x="12593" y="9707"/>
                    </a:lnTo>
                    <a:cubicBezTo>
                      <a:pt x="12643" y="9843"/>
                      <a:pt x="12692" y="9978"/>
                      <a:pt x="12725" y="10114"/>
                    </a:cubicBezTo>
                    <a:lnTo>
                      <a:pt x="12808" y="10442"/>
                    </a:lnTo>
                    <a:lnTo>
                      <a:pt x="13419" y="10558"/>
                    </a:lnTo>
                    <a:cubicBezTo>
                      <a:pt x="13419" y="10578"/>
                      <a:pt x="13436" y="10655"/>
                      <a:pt x="13436" y="10790"/>
                    </a:cubicBezTo>
                    <a:cubicBezTo>
                      <a:pt x="13436" y="10926"/>
                      <a:pt x="13419" y="11003"/>
                      <a:pt x="13419" y="11042"/>
                    </a:cubicBezTo>
                    <a:lnTo>
                      <a:pt x="12808" y="11196"/>
                    </a:lnTo>
                    <a:lnTo>
                      <a:pt x="12725" y="11506"/>
                    </a:lnTo>
                    <a:cubicBezTo>
                      <a:pt x="12676" y="11641"/>
                      <a:pt x="12626" y="11777"/>
                      <a:pt x="12577" y="11912"/>
                    </a:cubicBezTo>
                    <a:lnTo>
                      <a:pt x="12444" y="12202"/>
                    </a:lnTo>
                    <a:lnTo>
                      <a:pt x="12791" y="12782"/>
                    </a:lnTo>
                    <a:lnTo>
                      <a:pt x="12791" y="12801"/>
                    </a:lnTo>
                    <a:cubicBezTo>
                      <a:pt x="12791" y="12821"/>
                      <a:pt x="12758" y="12879"/>
                      <a:pt x="12659" y="12975"/>
                    </a:cubicBezTo>
                    <a:cubicBezTo>
                      <a:pt x="12593" y="13053"/>
                      <a:pt x="12544" y="13111"/>
                      <a:pt x="12510" y="13130"/>
                    </a:cubicBezTo>
                    <a:lnTo>
                      <a:pt x="12494" y="13150"/>
                    </a:lnTo>
                    <a:lnTo>
                      <a:pt x="11982" y="12743"/>
                    </a:lnTo>
                    <a:lnTo>
                      <a:pt x="11734" y="12898"/>
                    </a:lnTo>
                    <a:cubicBezTo>
                      <a:pt x="11618" y="12956"/>
                      <a:pt x="11502" y="13014"/>
                      <a:pt x="11387" y="13053"/>
                    </a:cubicBezTo>
                    <a:lnTo>
                      <a:pt x="11106" y="13150"/>
                    </a:lnTo>
                    <a:lnTo>
                      <a:pt x="11007" y="13865"/>
                    </a:lnTo>
                    <a:cubicBezTo>
                      <a:pt x="10974" y="13865"/>
                      <a:pt x="10924" y="13884"/>
                      <a:pt x="10792" y="13884"/>
                    </a:cubicBezTo>
                    <a:cubicBezTo>
                      <a:pt x="10709" y="13884"/>
                      <a:pt x="10626" y="13884"/>
                      <a:pt x="10593" y="13865"/>
                    </a:cubicBezTo>
                    <a:lnTo>
                      <a:pt x="10577" y="13846"/>
                    </a:lnTo>
                    <a:lnTo>
                      <a:pt x="10461" y="13150"/>
                    </a:lnTo>
                    <a:lnTo>
                      <a:pt x="10197" y="13053"/>
                    </a:lnTo>
                    <a:cubicBezTo>
                      <a:pt x="10065" y="13014"/>
                      <a:pt x="9949" y="12956"/>
                      <a:pt x="9850" y="12879"/>
                    </a:cubicBezTo>
                    <a:lnTo>
                      <a:pt x="9585" y="12724"/>
                    </a:lnTo>
                    <a:lnTo>
                      <a:pt x="9090" y="13130"/>
                    </a:lnTo>
                    <a:close/>
                    <a:moveTo>
                      <a:pt x="10792" y="12028"/>
                    </a:moveTo>
                    <a:cubicBezTo>
                      <a:pt x="11387" y="12028"/>
                      <a:pt x="11849" y="11486"/>
                      <a:pt x="11849" y="10790"/>
                    </a:cubicBezTo>
                    <a:cubicBezTo>
                      <a:pt x="11849" y="10114"/>
                      <a:pt x="11370" y="9572"/>
                      <a:pt x="10792" y="9572"/>
                    </a:cubicBezTo>
                    <a:cubicBezTo>
                      <a:pt x="10511" y="9572"/>
                      <a:pt x="10246" y="9688"/>
                      <a:pt x="10048" y="9920"/>
                    </a:cubicBezTo>
                    <a:cubicBezTo>
                      <a:pt x="9850" y="10152"/>
                      <a:pt x="9734" y="10462"/>
                      <a:pt x="9734" y="10790"/>
                    </a:cubicBezTo>
                    <a:cubicBezTo>
                      <a:pt x="9734" y="11486"/>
                      <a:pt x="10213" y="12028"/>
                      <a:pt x="10792" y="12028"/>
                    </a:cubicBezTo>
                    <a:close/>
                    <a:moveTo>
                      <a:pt x="10428" y="10365"/>
                    </a:moveTo>
                    <a:cubicBezTo>
                      <a:pt x="10527" y="10249"/>
                      <a:pt x="10660" y="10172"/>
                      <a:pt x="10792" y="10172"/>
                    </a:cubicBezTo>
                    <a:cubicBezTo>
                      <a:pt x="11089" y="10172"/>
                      <a:pt x="11321" y="10462"/>
                      <a:pt x="11321" y="10790"/>
                    </a:cubicBezTo>
                    <a:cubicBezTo>
                      <a:pt x="11321" y="11138"/>
                      <a:pt x="11089" y="11409"/>
                      <a:pt x="10792" y="11409"/>
                    </a:cubicBezTo>
                    <a:cubicBezTo>
                      <a:pt x="10511" y="11409"/>
                      <a:pt x="10263" y="11138"/>
                      <a:pt x="10263" y="10790"/>
                    </a:cubicBezTo>
                    <a:cubicBezTo>
                      <a:pt x="10263" y="10636"/>
                      <a:pt x="10329" y="10481"/>
                      <a:pt x="10428" y="10365"/>
                    </a:cubicBezTo>
                    <a:close/>
                    <a:moveTo>
                      <a:pt x="2281" y="8683"/>
                    </a:moveTo>
                    <a:lnTo>
                      <a:pt x="1752" y="8547"/>
                    </a:lnTo>
                    <a:cubicBezTo>
                      <a:pt x="2661" y="3597"/>
                      <a:pt x="6462" y="0"/>
                      <a:pt x="10792" y="0"/>
                    </a:cubicBezTo>
                    <a:cubicBezTo>
                      <a:pt x="15882" y="0"/>
                      <a:pt x="20030" y="4834"/>
                      <a:pt x="20030" y="10790"/>
                    </a:cubicBezTo>
                    <a:lnTo>
                      <a:pt x="20030" y="10906"/>
                    </a:lnTo>
                    <a:lnTo>
                      <a:pt x="21220" y="9495"/>
                    </a:lnTo>
                    <a:lnTo>
                      <a:pt x="21600" y="9920"/>
                    </a:lnTo>
                    <a:lnTo>
                      <a:pt x="19782" y="12086"/>
                    </a:lnTo>
                    <a:lnTo>
                      <a:pt x="17931" y="9959"/>
                    </a:lnTo>
                    <a:lnTo>
                      <a:pt x="18295" y="9533"/>
                    </a:lnTo>
                    <a:lnTo>
                      <a:pt x="19501" y="10906"/>
                    </a:lnTo>
                    <a:lnTo>
                      <a:pt x="19501" y="10790"/>
                    </a:lnTo>
                    <a:cubicBezTo>
                      <a:pt x="19501" y="5182"/>
                      <a:pt x="15601" y="599"/>
                      <a:pt x="10792" y="599"/>
                    </a:cubicBezTo>
                    <a:cubicBezTo>
                      <a:pt x="6710" y="599"/>
                      <a:pt x="3123" y="4003"/>
                      <a:pt x="2281" y="8683"/>
                    </a:cubicBezTo>
                    <a:close/>
                    <a:moveTo>
                      <a:pt x="19319" y="12917"/>
                    </a:moveTo>
                    <a:lnTo>
                      <a:pt x="19832" y="13053"/>
                    </a:lnTo>
                    <a:cubicBezTo>
                      <a:pt x="18939" y="18003"/>
                      <a:pt x="15138" y="21600"/>
                      <a:pt x="10792" y="21600"/>
                    </a:cubicBezTo>
                    <a:cubicBezTo>
                      <a:pt x="5702" y="21600"/>
                      <a:pt x="1553" y="16766"/>
                      <a:pt x="1553" y="10790"/>
                    </a:cubicBezTo>
                    <a:lnTo>
                      <a:pt x="1553" y="10694"/>
                    </a:lnTo>
                    <a:lnTo>
                      <a:pt x="380" y="12105"/>
                    </a:lnTo>
                    <a:lnTo>
                      <a:pt x="0" y="11680"/>
                    </a:lnTo>
                    <a:lnTo>
                      <a:pt x="1818" y="9514"/>
                    </a:lnTo>
                    <a:lnTo>
                      <a:pt x="3669" y="11622"/>
                    </a:lnTo>
                    <a:lnTo>
                      <a:pt x="3305" y="12067"/>
                    </a:lnTo>
                    <a:lnTo>
                      <a:pt x="2082" y="10674"/>
                    </a:lnTo>
                    <a:lnTo>
                      <a:pt x="2082" y="10790"/>
                    </a:lnTo>
                    <a:cubicBezTo>
                      <a:pt x="2082" y="16418"/>
                      <a:pt x="5999" y="20981"/>
                      <a:pt x="10792" y="20981"/>
                    </a:cubicBezTo>
                    <a:cubicBezTo>
                      <a:pt x="14890" y="20981"/>
                      <a:pt x="18477" y="17597"/>
                      <a:pt x="19319" y="12917"/>
                    </a:cubicBezTo>
                    <a:close/>
                    <a:moveTo>
                      <a:pt x="10792" y="17288"/>
                    </a:moveTo>
                    <a:lnTo>
                      <a:pt x="10643" y="17288"/>
                    </a:lnTo>
                    <a:lnTo>
                      <a:pt x="11585" y="18390"/>
                    </a:lnTo>
                    <a:lnTo>
                      <a:pt x="11221" y="18835"/>
                    </a:lnTo>
                    <a:lnTo>
                      <a:pt x="9635" y="16978"/>
                    </a:lnTo>
                    <a:lnTo>
                      <a:pt x="11221" y="15122"/>
                    </a:lnTo>
                    <a:lnTo>
                      <a:pt x="11585" y="15567"/>
                    </a:lnTo>
                    <a:lnTo>
                      <a:pt x="10643" y="16669"/>
                    </a:lnTo>
                    <a:lnTo>
                      <a:pt x="10792" y="16669"/>
                    </a:lnTo>
                    <a:cubicBezTo>
                      <a:pt x="13568" y="16669"/>
                      <a:pt x="15816" y="14039"/>
                      <a:pt x="15816" y="10790"/>
                    </a:cubicBezTo>
                    <a:cubicBezTo>
                      <a:pt x="15816" y="8373"/>
                      <a:pt x="14560" y="6227"/>
                      <a:pt x="12643" y="5337"/>
                    </a:cubicBezTo>
                    <a:lnTo>
                      <a:pt x="12824" y="4757"/>
                    </a:lnTo>
                    <a:cubicBezTo>
                      <a:pt x="14956" y="5743"/>
                      <a:pt x="16345" y="8122"/>
                      <a:pt x="16345" y="10790"/>
                    </a:cubicBezTo>
                    <a:cubicBezTo>
                      <a:pt x="16345" y="14368"/>
                      <a:pt x="13849" y="17288"/>
                      <a:pt x="10792" y="17288"/>
                    </a:cubicBezTo>
                    <a:close/>
                    <a:moveTo>
                      <a:pt x="10792" y="4312"/>
                    </a:moveTo>
                    <a:lnTo>
                      <a:pt x="10957" y="4312"/>
                    </a:lnTo>
                    <a:lnTo>
                      <a:pt x="9998" y="3210"/>
                    </a:lnTo>
                    <a:lnTo>
                      <a:pt x="10379" y="2765"/>
                    </a:lnTo>
                    <a:lnTo>
                      <a:pt x="11965" y="4622"/>
                    </a:lnTo>
                    <a:lnTo>
                      <a:pt x="10379" y="6478"/>
                    </a:lnTo>
                    <a:lnTo>
                      <a:pt x="9998" y="6033"/>
                    </a:lnTo>
                    <a:lnTo>
                      <a:pt x="10957" y="4931"/>
                    </a:lnTo>
                    <a:lnTo>
                      <a:pt x="10792" y="4931"/>
                    </a:lnTo>
                    <a:cubicBezTo>
                      <a:pt x="8032" y="4931"/>
                      <a:pt x="5784" y="7561"/>
                      <a:pt x="5784" y="10790"/>
                    </a:cubicBezTo>
                    <a:cubicBezTo>
                      <a:pt x="5784" y="13227"/>
                      <a:pt x="7024" y="15373"/>
                      <a:pt x="8957" y="16263"/>
                    </a:cubicBezTo>
                    <a:lnTo>
                      <a:pt x="8759" y="16824"/>
                    </a:lnTo>
                    <a:cubicBezTo>
                      <a:pt x="6627" y="15857"/>
                      <a:pt x="5255" y="13478"/>
                      <a:pt x="5255" y="10790"/>
                    </a:cubicBezTo>
                    <a:cubicBezTo>
                      <a:pt x="5255" y="7213"/>
                      <a:pt x="7734" y="4312"/>
                      <a:pt x="10792" y="4312"/>
                    </a:cubicBezTo>
                    <a:close/>
                  </a:path>
                </a:pathLst>
              </a:custGeom>
              <a:solidFill>
                <a:srgbClr val="8464FF"/>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55" name="TextBox 367">
                <a:extLst>
                  <a:ext uri="{FF2B5EF4-FFF2-40B4-BE49-F238E27FC236}">
                    <a16:creationId xmlns:a16="http://schemas.microsoft.com/office/drawing/2014/main" id="{C5209892-98AC-E124-BB47-0A645EA60FB5}"/>
                  </a:ext>
                </a:extLst>
              </p:cNvPr>
              <p:cNvSpPr/>
              <p:nvPr/>
            </p:nvSpPr>
            <p:spPr>
              <a:xfrm>
                <a:off x="7719120" y="2556720"/>
                <a:ext cx="6656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Acceptance Testing</a:t>
                </a:r>
                <a:endParaRPr lang="en-GB" sz="1200" spc="-2">
                  <a:latin typeface="Arial"/>
                </a:endParaRPr>
              </a:p>
            </p:txBody>
          </p:sp>
        </p:grpSp>
      </p:grpSp>
      <p:grpSp>
        <p:nvGrpSpPr>
          <p:cNvPr id="258" name="Group 370">
            <a:extLst>
              <a:ext uri="{FF2B5EF4-FFF2-40B4-BE49-F238E27FC236}">
                <a16:creationId xmlns:a16="http://schemas.microsoft.com/office/drawing/2014/main" id="{94D2214F-5E71-23FB-1428-B5A06662911E}"/>
              </a:ext>
            </a:extLst>
          </p:cNvPr>
          <p:cNvGrpSpPr/>
          <p:nvPr/>
        </p:nvGrpSpPr>
        <p:grpSpPr>
          <a:xfrm>
            <a:off x="17256240" y="6151105"/>
            <a:ext cx="3501360" cy="2255760"/>
            <a:chOff x="8628120" y="1859400"/>
            <a:chExt cx="1750680" cy="1127880"/>
          </a:xfrm>
        </p:grpSpPr>
        <p:sp>
          <p:nvSpPr>
            <p:cNvPr id="259" name="Arrow: Chevron 371">
              <a:extLst>
                <a:ext uri="{FF2B5EF4-FFF2-40B4-BE49-F238E27FC236}">
                  <a16:creationId xmlns:a16="http://schemas.microsoft.com/office/drawing/2014/main" id="{22C53FB7-B755-DAA0-F86B-16887F9CF6BB}"/>
                </a:ext>
              </a:extLst>
            </p:cNvPr>
            <p:cNvSpPr/>
            <p:nvPr/>
          </p:nvSpPr>
          <p:spPr>
            <a:xfrm>
              <a:off x="8629560" y="1859400"/>
              <a:ext cx="1749240" cy="348840"/>
            </a:xfrm>
            <a:prstGeom prst="chevron">
              <a:avLst>
                <a:gd name="adj" fmla="val 50000"/>
              </a:avLst>
            </a:prstGeom>
            <a:solidFill>
              <a:schemeClr val="accent5">
                <a:lumMod val="50000"/>
              </a:schemeClr>
            </a:solidFill>
            <a:ln>
              <a:solidFill>
                <a:srgbClr val="1374DF"/>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HYPER CARE</a:t>
              </a:r>
              <a:endParaRPr lang="en-GB" spc="-2">
                <a:latin typeface="Arial"/>
              </a:endParaRPr>
            </a:p>
          </p:txBody>
        </p:sp>
        <p:sp>
          <p:nvSpPr>
            <p:cNvPr id="260" name="Freeform 129">
              <a:extLst>
                <a:ext uri="{FF2B5EF4-FFF2-40B4-BE49-F238E27FC236}">
                  <a16:creationId xmlns:a16="http://schemas.microsoft.com/office/drawing/2014/main" id="{B48FBCC1-EE8C-EFD4-AC22-FCCA97294F24}"/>
                </a:ext>
              </a:extLst>
            </p:cNvPr>
            <p:cNvSpPr/>
            <p:nvPr/>
          </p:nvSpPr>
          <p:spPr>
            <a:xfrm>
              <a:off x="9907560" y="1917720"/>
              <a:ext cx="240120" cy="241200"/>
            </a:xfrm>
            <a:custGeom>
              <a:avLst/>
              <a:gdLst/>
              <a:ahLst/>
              <a:cxnLst/>
              <a:rect l="l" t="t" r="r" b="b"/>
              <a:pathLst>
                <a:path w="935" h="940">
                  <a:moveTo>
                    <a:pt x="20" y="611"/>
                  </a:moveTo>
                  <a:lnTo>
                    <a:pt x="31" y="608"/>
                  </a:lnTo>
                  <a:cubicBezTo>
                    <a:pt x="30" y="625"/>
                    <a:pt x="28" y="642"/>
                    <a:pt x="26" y="661"/>
                  </a:cubicBezTo>
                  <a:cubicBezTo>
                    <a:pt x="17" y="730"/>
                    <a:pt x="8" y="809"/>
                    <a:pt x="69" y="870"/>
                  </a:cubicBezTo>
                  <a:cubicBezTo>
                    <a:pt x="109" y="909"/>
                    <a:pt x="156" y="919"/>
                    <a:pt x="202" y="919"/>
                  </a:cubicBezTo>
                  <a:cubicBezTo>
                    <a:pt x="228" y="919"/>
                    <a:pt x="254" y="916"/>
                    <a:pt x="279" y="913"/>
                  </a:cubicBezTo>
                  <a:cubicBezTo>
                    <a:pt x="297" y="911"/>
                    <a:pt x="314" y="909"/>
                    <a:pt x="331" y="908"/>
                  </a:cubicBezTo>
                  <a:lnTo>
                    <a:pt x="328" y="919"/>
                  </a:lnTo>
                  <a:lnTo>
                    <a:pt x="346" y="923"/>
                  </a:lnTo>
                  <a:cubicBezTo>
                    <a:pt x="385" y="934"/>
                    <a:pt x="426" y="939"/>
                    <a:pt x="467" y="939"/>
                  </a:cubicBezTo>
                  <a:cubicBezTo>
                    <a:pt x="508" y="939"/>
                    <a:pt x="549" y="934"/>
                    <a:pt x="588" y="923"/>
                  </a:cubicBezTo>
                  <a:lnTo>
                    <a:pt x="606" y="919"/>
                  </a:lnTo>
                  <a:lnTo>
                    <a:pt x="603" y="908"/>
                  </a:lnTo>
                  <a:cubicBezTo>
                    <a:pt x="620" y="909"/>
                    <a:pt x="637" y="911"/>
                    <a:pt x="655" y="913"/>
                  </a:cubicBezTo>
                  <a:cubicBezTo>
                    <a:pt x="680" y="916"/>
                    <a:pt x="706" y="919"/>
                    <a:pt x="733" y="919"/>
                  </a:cubicBezTo>
                  <a:cubicBezTo>
                    <a:pt x="779" y="919"/>
                    <a:pt x="826" y="909"/>
                    <a:pt x="865" y="870"/>
                  </a:cubicBezTo>
                  <a:cubicBezTo>
                    <a:pt x="925" y="808"/>
                    <a:pt x="916" y="730"/>
                    <a:pt x="908" y="660"/>
                  </a:cubicBezTo>
                  <a:cubicBezTo>
                    <a:pt x="906" y="642"/>
                    <a:pt x="904" y="625"/>
                    <a:pt x="903" y="608"/>
                  </a:cubicBezTo>
                  <a:lnTo>
                    <a:pt x="914" y="611"/>
                  </a:lnTo>
                  <a:lnTo>
                    <a:pt x="918" y="593"/>
                  </a:lnTo>
                  <a:cubicBezTo>
                    <a:pt x="929" y="554"/>
                    <a:pt x="934" y="513"/>
                    <a:pt x="934" y="472"/>
                  </a:cubicBezTo>
                  <a:cubicBezTo>
                    <a:pt x="934" y="431"/>
                    <a:pt x="929" y="390"/>
                    <a:pt x="918" y="351"/>
                  </a:cubicBezTo>
                  <a:lnTo>
                    <a:pt x="914" y="334"/>
                  </a:lnTo>
                  <a:lnTo>
                    <a:pt x="903" y="336"/>
                  </a:lnTo>
                  <a:cubicBezTo>
                    <a:pt x="904" y="319"/>
                    <a:pt x="906" y="302"/>
                    <a:pt x="908" y="284"/>
                  </a:cubicBezTo>
                  <a:cubicBezTo>
                    <a:pt x="916" y="214"/>
                    <a:pt x="926" y="135"/>
                    <a:pt x="865" y="74"/>
                  </a:cubicBezTo>
                  <a:cubicBezTo>
                    <a:pt x="803" y="14"/>
                    <a:pt x="724" y="23"/>
                    <a:pt x="655" y="31"/>
                  </a:cubicBezTo>
                  <a:cubicBezTo>
                    <a:pt x="637" y="33"/>
                    <a:pt x="620" y="35"/>
                    <a:pt x="603" y="36"/>
                  </a:cubicBezTo>
                  <a:lnTo>
                    <a:pt x="606" y="26"/>
                  </a:lnTo>
                  <a:lnTo>
                    <a:pt x="588" y="21"/>
                  </a:lnTo>
                  <a:cubicBezTo>
                    <a:pt x="509" y="0"/>
                    <a:pt x="424" y="0"/>
                    <a:pt x="346" y="21"/>
                  </a:cubicBezTo>
                  <a:lnTo>
                    <a:pt x="328" y="26"/>
                  </a:lnTo>
                  <a:lnTo>
                    <a:pt x="331" y="36"/>
                  </a:lnTo>
                  <a:cubicBezTo>
                    <a:pt x="314" y="35"/>
                    <a:pt x="297" y="33"/>
                    <a:pt x="278" y="31"/>
                  </a:cubicBezTo>
                  <a:cubicBezTo>
                    <a:pt x="209" y="23"/>
                    <a:pt x="130" y="13"/>
                    <a:pt x="69" y="74"/>
                  </a:cubicBezTo>
                  <a:cubicBezTo>
                    <a:pt x="8" y="136"/>
                    <a:pt x="18" y="215"/>
                    <a:pt x="26" y="284"/>
                  </a:cubicBezTo>
                  <a:cubicBezTo>
                    <a:pt x="28" y="302"/>
                    <a:pt x="30" y="319"/>
                    <a:pt x="31" y="336"/>
                  </a:cubicBezTo>
                  <a:lnTo>
                    <a:pt x="20" y="334"/>
                  </a:lnTo>
                  <a:lnTo>
                    <a:pt x="16" y="351"/>
                  </a:lnTo>
                  <a:cubicBezTo>
                    <a:pt x="5" y="390"/>
                    <a:pt x="0" y="431"/>
                    <a:pt x="0" y="472"/>
                  </a:cubicBezTo>
                  <a:cubicBezTo>
                    <a:pt x="0" y="513"/>
                    <a:pt x="5" y="554"/>
                    <a:pt x="16" y="593"/>
                  </a:cubicBezTo>
                  <a:lnTo>
                    <a:pt x="20" y="611"/>
                  </a:lnTo>
                  <a:close/>
                  <a:moveTo>
                    <a:pt x="687" y="428"/>
                  </a:moveTo>
                  <a:lnTo>
                    <a:pt x="887" y="379"/>
                  </a:lnTo>
                  <a:cubicBezTo>
                    <a:pt x="893" y="409"/>
                    <a:pt x="897" y="440"/>
                    <a:pt x="897" y="472"/>
                  </a:cubicBezTo>
                  <a:cubicBezTo>
                    <a:pt x="897" y="503"/>
                    <a:pt x="893" y="535"/>
                    <a:pt x="887" y="566"/>
                  </a:cubicBezTo>
                  <a:lnTo>
                    <a:pt x="687" y="516"/>
                  </a:lnTo>
                  <a:cubicBezTo>
                    <a:pt x="690" y="502"/>
                    <a:pt x="691" y="487"/>
                    <a:pt x="691" y="472"/>
                  </a:cubicBezTo>
                  <a:cubicBezTo>
                    <a:pt x="691" y="457"/>
                    <a:pt x="690" y="442"/>
                    <a:pt x="687" y="428"/>
                  </a:cubicBezTo>
                  <a:close/>
                  <a:moveTo>
                    <a:pt x="676" y="552"/>
                  </a:moveTo>
                  <a:lnTo>
                    <a:pt x="840" y="593"/>
                  </a:lnTo>
                  <a:cubicBezTo>
                    <a:pt x="802" y="712"/>
                    <a:pt x="707" y="807"/>
                    <a:pt x="587" y="845"/>
                  </a:cubicBezTo>
                  <a:lnTo>
                    <a:pt x="547" y="681"/>
                  </a:lnTo>
                  <a:cubicBezTo>
                    <a:pt x="606" y="659"/>
                    <a:pt x="653" y="611"/>
                    <a:pt x="676" y="552"/>
                  </a:cubicBezTo>
                  <a:close/>
                  <a:moveTo>
                    <a:pt x="676" y="392"/>
                  </a:moveTo>
                  <a:cubicBezTo>
                    <a:pt x="653" y="333"/>
                    <a:pt x="606" y="286"/>
                    <a:pt x="547" y="263"/>
                  </a:cubicBezTo>
                  <a:lnTo>
                    <a:pt x="587" y="99"/>
                  </a:lnTo>
                  <a:cubicBezTo>
                    <a:pt x="707" y="137"/>
                    <a:pt x="802" y="232"/>
                    <a:pt x="840" y="352"/>
                  </a:cubicBezTo>
                  <a:lnTo>
                    <a:pt x="676" y="392"/>
                  </a:lnTo>
                  <a:close/>
                  <a:moveTo>
                    <a:pt x="654" y="472"/>
                  </a:moveTo>
                  <a:cubicBezTo>
                    <a:pt x="654" y="575"/>
                    <a:pt x="570" y="659"/>
                    <a:pt x="467" y="659"/>
                  </a:cubicBezTo>
                  <a:cubicBezTo>
                    <a:pt x="364" y="659"/>
                    <a:pt x="280" y="575"/>
                    <a:pt x="280" y="472"/>
                  </a:cubicBezTo>
                  <a:cubicBezTo>
                    <a:pt x="280" y="369"/>
                    <a:pt x="364" y="285"/>
                    <a:pt x="467" y="285"/>
                  </a:cubicBezTo>
                  <a:cubicBezTo>
                    <a:pt x="570" y="285"/>
                    <a:pt x="654" y="369"/>
                    <a:pt x="654" y="472"/>
                  </a:cubicBezTo>
                  <a:close/>
                  <a:moveTo>
                    <a:pt x="247" y="516"/>
                  </a:moveTo>
                  <a:lnTo>
                    <a:pt x="47" y="566"/>
                  </a:lnTo>
                  <a:cubicBezTo>
                    <a:pt x="40" y="535"/>
                    <a:pt x="37" y="503"/>
                    <a:pt x="37" y="472"/>
                  </a:cubicBezTo>
                  <a:cubicBezTo>
                    <a:pt x="37" y="440"/>
                    <a:pt x="40" y="409"/>
                    <a:pt x="47" y="379"/>
                  </a:cubicBezTo>
                  <a:lnTo>
                    <a:pt x="247" y="428"/>
                  </a:lnTo>
                  <a:cubicBezTo>
                    <a:pt x="244" y="442"/>
                    <a:pt x="243" y="457"/>
                    <a:pt x="243" y="472"/>
                  </a:cubicBezTo>
                  <a:cubicBezTo>
                    <a:pt x="243" y="487"/>
                    <a:pt x="244" y="502"/>
                    <a:pt x="247" y="516"/>
                  </a:cubicBezTo>
                  <a:close/>
                  <a:moveTo>
                    <a:pt x="258" y="552"/>
                  </a:moveTo>
                  <a:cubicBezTo>
                    <a:pt x="280" y="611"/>
                    <a:pt x="328" y="659"/>
                    <a:pt x="387" y="681"/>
                  </a:cubicBezTo>
                  <a:lnTo>
                    <a:pt x="346" y="845"/>
                  </a:lnTo>
                  <a:cubicBezTo>
                    <a:pt x="227" y="807"/>
                    <a:pt x="132" y="712"/>
                    <a:pt x="94" y="593"/>
                  </a:cubicBezTo>
                  <a:lnTo>
                    <a:pt x="258" y="552"/>
                  </a:lnTo>
                  <a:close/>
                  <a:moveTo>
                    <a:pt x="258" y="392"/>
                  </a:moveTo>
                  <a:lnTo>
                    <a:pt x="94" y="352"/>
                  </a:lnTo>
                  <a:cubicBezTo>
                    <a:pt x="132" y="232"/>
                    <a:pt x="227" y="137"/>
                    <a:pt x="346" y="99"/>
                  </a:cubicBezTo>
                  <a:lnTo>
                    <a:pt x="387" y="263"/>
                  </a:lnTo>
                  <a:cubicBezTo>
                    <a:pt x="328" y="286"/>
                    <a:pt x="280" y="333"/>
                    <a:pt x="258" y="392"/>
                  </a:cubicBezTo>
                  <a:close/>
                  <a:moveTo>
                    <a:pt x="274" y="876"/>
                  </a:moveTo>
                  <a:cubicBezTo>
                    <a:pt x="207" y="884"/>
                    <a:pt x="144" y="891"/>
                    <a:pt x="95" y="843"/>
                  </a:cubicBezTo>
                  <a:cubicBezTo>
                    <a:pt x="47" y="796"/>
                    <a:pt x="55" y="732"/>
                    <a:pt x="63" y="665"/>
                  </a:cubicBezTo>
                  <a:cubicBezTo>
                    <a:pt x="64" y="653"/>
                    <a:pt x="66" y="641"/>
                    <a:pt x="67" y="629"/>
                  </a:cubicBezTo>
                  <a:cubicBezTo>
                    <a:pt x="111" y="740"/>
                    <a:pt x="199" y="828"/>
                    <a:pt x="310" y="872"/>
                  </a:cubicBezTo>
                  <a:cubicBezTo>
                    <a:pt x="298" y="873"/>
                    <a:pt x="286" y="875"/>
                    <a:pt x="274" y="876"/>
                  </a:cubicBezTo>
                  <a:close/>
                  <a:moveTo>
                    <a:pt x="373" y="892"/>
                  </a:moveTo>
                  <a:lnTo>
                    <a:pt x="423" y="692"/>
                  </a:lnTo>
                  <a:cubicBezTo>
                    <a:pt x="437" y="695"/>
                    <a:pt x="452" y="696"/>
                    <a:pt x="467" y="696"/>
                  </a:cubicBezTo>
                  <a:cubicBezTo>
                    <a:pt x="482" y="696"/>
                    <a:pt x="497" y="695"/>
                    <a:pt x="511" y="692"/>
                  </a:cubicBezTo>
                  <a:lnTo>
                    <a:pt x="560" y="892"/>
                  </a:lnTo>
                  <a:cubicBezTo>
                    <a:pt x="499" y="905"/>
                    <a:pt x="434" y="905"/>
                    <a:pt x="373" y="892"/>
                  </a:cubicBezTo>
                  <a:close/>
                  <a:moveTo>
                    <a:pt x="838" y="844"/>
                  </a:moveTo>
                  <a:cubicBezTo>
                    <a:pt x="790" y="892"/>
                    <a:pt x="727" y="884"/>
                    <a:pt x="660" y="876"/>
                  </a:cubicBezTo>
                  <a:cubicBezTo>
                    <a:pt x="648" y="875"/>
                    <a:pt x="636" y="873"/>
                    <a:pt x="624" y="872"/>
                  </a:cubicBezTo>
                  <a:cubicBezTo>
                    <a:pt x="735" y="828"/>
                    <a:pt x="823" y="740"/>
                    <a:pt x="867" y="629"/>
                  </a:cubicBezTo>
                  <a:cubicBezTo>
                    <a:pt x="868" y="641"/>
                    <a:pt x="869" y="653"/>
                    <a:pt x="871" y="664"/>
                  </a:cubicBezTo>
                  <a:cubicBezTo>
                    <a:pt x="879" y="732"/>
                    <a:pt x="886" y="795"/>
                    <a:pt x="838" y="844"/>
                  </a:cubicBezTo>
                  <a:close/>
                  <a:moveTo>
                    <a:pt x="659" y="68"/>
                  </a:moveTo>
                  <a:cubicBezTo>
                    <a:pt x="726" y="60"/>
                    <a:pt x="790" y="53"/>
                    <a:pt x="838" y="101"/>
                  </a:cubicBezTo>
                  <a:cubicBezTo>
                    <a:pt x="887" y="149"/>
                    <a:pt x="879" y="212"/>
                    <a:pt x="871" y="279"/>
                  </a:cubicBezTo>
                  <a:cubicBezTo>
                    <a:pt x="869" y="291"/>
                    <a:pt x="868" y="303"/>
                    <a:pt x="867" y="315"/>
                  </a:cubicBezTo>
                  <a:cubicBezTo>
                    <a:pt x="823" y="204"/>
                    <a:pt x="735" y="116"/>
                    <a:pt x="624" y="72"/>
                  </a:cubicBezTo>
                  <a:cubicBezTo>
                    <a:pt x="636" y="71"/>
                    <a:pt x="648" y="70"/>
                    <a:pt x="659" y="68"/>
                  </a:cubicBezTo>
                  <a:close/>
                  <a:moveTo>
                    <a:pt x="560" y="52"/>
                  </a:moveTo>
                  <a:lnTo>
                    <a:pt x="511" y="252"/>
                  </a:lnTo>
                  <a:cubicBezTo>
                    <a:pt x="497" y="249"/>
                    <a:pt x="482" y="248"/>
                    <a:pt x="467" y="248"/>
                  </a:cubicBezTo>
                  <a:cubicBezTo>
                    <a:pt x="452" y="248"/>
                    <a:pt x="437" y="249"/>
                    <a:pt x="423" y="252"/>
                  </a:cubicBezTo>
                  <a:lnTo>
                    <a:pt x="373" y="52"/>
                  </a:lnTo>
                  <a:cubicBezTo>
                    <a:pt x="435" y="39"/>
                    <a:pt x="499" y="39"/>
                    <a:pt x="560" y="52"/>
                  </a:cubicBezTo>
                  <a:close/>
                  <a:moveTo>
                    <a:pt x="96" y="101"/>
                  </a:moveTo>
                  <a:cubicBezTo>
                    <a:pt x="143" y="52"/>
                    <a:pt x="207" y="60"/>
                    <a:pt x="274" y="68"/>
                  </a:cubicBezTo>
                  <a:cubicBezTo>
                    <a:pt x="286" y="70"/>
                    <a:pt x="298" y="71"/>
                    <a:pt x="310" y="72"/>
                  </a:cubicBezTo>
                  <a:cubicBezTo>
                    <a:pt x="199" y="116"/>
                    <a:pt x="111" y="204"/>
                    <a:pt x="67" y="315"/>
                  </a:cubicBezTo>
                  <a:cubicBezTo>
                    <a:pt x="66" y="303"/>
                    <a:pt x="64" y="291"/>
                    <a:pt x="63" y="280"/>
                  </a:cubicBezTo>
                  <a:cubicBezTo>
                    <a:pt x="55" y="213"/>
                    <a:pt x="48" y="149"/>
                    <a:pt x="96" y="101"/>
                  </a:cubicBezTo>
                  <a:close/>
                </a:path>
              </a:pathLst>
            </a:custGeom>
            <a:solidFill>
              <a:schemeClr val="bg1"/>
            </a:solidFill>
            <a:ln w="0">
              <a:noFill/>
            </a:ln>
          </p:spPr>
          <p:style>
            <a:lnRef idx="0">
              <a:scrgbClr r="0" g="0" b="0"/>
            </a:lnRef>
            <a:fillRef idx="0">
              <a:scrgbClr r="0" g="0" b="0"/>
            </a:fillRef>
            <a:effectRef idx="0">
              <a:scrgbClr r="0" g="0" b="0"/>
            </a:effectRef>
            <a:fontRef idx="minor"/>
          </p:style>
          <p:txBody>
            <a:bodyPr/>
            <a:lstStyle/>
            <a:p>
              <a:endParaRPr lang="en-GB" sz="3600"/>
            </a:p>
          </p:txBody>
        </p:sp>
        <p:sp>
          <p:nvSpPr>
            <p:cNvPr id="261" name="Rectangle 373">
              <a:extLst>
                <a:ext uri="{FF2B5EF4-FFF2-40B4-BE49-F238E27FC236}">
                  <a16:creationId xmlns:a16="http://schemas.microsoft.com/office/drawing/2014/main" id="{A0C529F6-CD99-C5C0-046E-89C7C2BC407B}"/>
                </a:ext>
              </a:extLst>
            </p:cNvPr>
            <p:cNvSpPr/>
            <p:nvPr/>
          </p:nvSpPr>
          <p:spPr>
            <a:xfrm>
              <a:off x="8628120" y="2228760"/>
              <a:ext cx="1563840" cy="758520"/>
            </a:xfrm>
            <a:prstGeom prst="rect">
              <a:avLst/>
            </a:prstGeom>
            <a:noFill/>
            <a:ln w="28575">
              <a:solidFill>
                <a:srgbClr val="1374DF"/>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262" name="TextBox 374">
              <a:extLst>
                <a:ext uri="{FF2B5EF4-FFF2-40B4-BE49-F238E27FC236}">
                  <a16:creationId xmlns:a16="http://schemas.microsoft.com/office/drawing/2014/main" id="{B2F8A827-306F-326B-BD30-1E98195D0C78}"/>
                </a:ext>
              </a:extLst>
            </p:cNvPr>
            <p:cNvSpPr/>
            <p:nvPr/>
          </p:nvSpPr>
          <p:spPr>
            <a:xfrm>
              <a:off x="8699400" y="2553840"/>
              <a:ext cx="64368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Service Health Check</a:t>
              </a:r>
              <a:endParaRPr lang="en-GB" sz="1200" spc="-2">
                <a:latin typeface="Arial"/>
              </a:endParaRPr>
            </a:p>
          </p:txBody>
        </p:sp>
        <p:sp>
          <p:nvSpPr>
            <p:cNvPr id="263" name="Shape">
              <a:extLst>
                <a:ext uri="{FF2B5EF4-FFF2-40B4-BE49-F238E27FC236}">
                  <a16:creationId xmlns:a16="http://schemas.microsoft.com/office/drawing/2014/main" id="{89F570FC-21F1-43EB-6110-87F3CE073DE2}"/>
                </a:ext>
              </a:extLst>
            </p:cNvPr>
            <p:cNvSpPr/>
            <p:nvPr/>
          </p:nvSpPr>
          <p:spPr>
            <a:xfrm>
              <a:off x="8939520" y="2355120"/>
              <a:ext cx="163440" cy="205920"/>
            </a:xfrm>
            <a:custGeom>
              <a:avLst/>
              <a:gdLst/>
              <a:ahLst/>
              <a:cxnLst/>
              <a:rect l="l" t="t" r="r" b="b"/>
              <a:pathLst>
                <a:path w="21600" h="21600">
                  <a:moveTo>
                    <a:pt x="0" y="21600"/>
                  </a:moveTo>
                  <a:lnTo>
                    <a:pt x="0" y="0"/>
                  </a:lnTo>
                  <a:lnTo>
                    <a:pt x="21600" y="0"/>
                  </a:lnTo>
                  <a:lnTo>
                    <a:pt x="21600" y="21600"/>
                  </a:lnTo>
                  <a:lnTo>
                    <a:pt x="0" y="21600"/>
                  </a:lnTo>
                  <a:close/>
                  <a:moveTo>
                    <a:pt x="1079" y="20716"/>
                  </a:moveTo>
                  <a:lnTo>
                    <a:pt x="20521" y="20716"/>
                  </a:lnTo>
                  <a:lnTo>
                    <a:pt x="20521" y="884"/>
                  </a:lnTo>
                  <a:lnTo>
                    <a:pt x="1079" y="884"/>
                  </a:lnTo>
                  <a:lnTo>
                    <a:pt x="1079" y="20716"/>
                  </a:lnTo>
                  <a:close/>
                  <a:moveTo>
                    <a:pt x="7375" y="14641"/>
                  </a:moveTo>
                  <a:lnTo>
                    <a:pt x="6442" y="14175"/>
                  </a:lnTo>
                  <a:lnTo>
                    <a:pt x="4664" y="16456"/>
                  </a:lnTo>
                  <a:lnTo>
                    <a:pt x="4023" y="15618"/>
                  </a:lnTo>
                  <a:lnTo>
                    <a:pt x="3090" y="16084"/>
                  </a:lnTo>
                  <a:lnTo>
                    <a:pt x="4664" y="18132"/>
                  </a:lnTo>
                  <a:lnTo>
                    <a:pt x="7375" y="14641"/>
                  </a:lnTo>
                  <a:close/>
                  <a:moveTo>
                    <a:pt x="15624" y="16875"/>
                  </a:moveTo>
                  <a:lnTo>
                    <a:pt x="8395" y="16875"/>
                  </a:lnTo>
                  <a:lnTo>
                    <a:pt x="8395" y="17759"/>
                  </a:lnTo>
                  <a:lnTo>
                    <a:pt x="15624" y="17759"/>
                  </a:lnTo>
                  <a:lnTo>
                    <a:pt x="15624" y="16875"/>
                  </a:lnTo>
                  <a:close/>
                  <a:moveTo>
                    <a:pt x="18044" y="14943"/>
                  </a:moveTo>
                  <a:lnTo>
                    <a:pt x="8395" y="14943"/>
                  </a:lnTo>
                  <a:lnTo>
                    <a:pt x="8395" y="15828"/>
                  </a:lnTo>
                  <a:lnTo>
                    <a:pt x="18044" y="15828"/>
                  </a:lnTo>
                  <a:lnTo>
                    <a:pt x="18044" y="14943"/>
                  </a:lnTo>
                  <a:close/>
                  <a:moveTo>
                    <a:pt x="7375" y="9357"/>
                  </a:moveTo>
                  <a:lnTo>
                    <a:pt x="6442" y="8891"/>
                  </a:lnTo>
                  <a:lnTo>
                    <a:pt x="4664" y="11172"/>
                  </a:lnTo>
                  <a:lnTo>
                    <a:pt x="4023" y="10334"/>
                  </a:lnTo>
                  <a:lnTo>
                    <a:pt x="3090" y="10777"/>
                  </a:lnTo>
                  <a:lnTo>
                    <a:pt x="4664" y="12825"/>
                  </a:lnTo>
                  <a:lnTo>
                    <a:pt x="7375" y="9357"/>
                  </a:lnTo>
                  <a:close/>
                  <a:moveTo>
                    <a:pt x="15624" y="11568"/>
                  </a:moveTo>
                  <a:lnTo>
                    <a:pt x="8395" y="11568"/>
                  </a:lnTo>
                  <a:lnTo>
                    <a:pt x="8395" y="12453"/>
                  </a:lnTo>
                  <a:lnTo>
                    <a:pt x="15624" y="12453"/>
                  </a:lnTo>
                  <a:lnTo>
                    <a:pt x="15624" y="11568"/>
                  </a:lnTo>
                  <a:close/>
                  <a:moveTo>
                    <a:pt x="18044" y="9636"/>
                  </a:moveTo>
                  <a:lnTo>
                    <a:pt x="8395" y="9636"/>
                  </a:lnTo>
                  <a:lnTo>
                    <a:pt x="8395" y="10521"/>
                  </a:lnTo>
                  <a:lnTo>
                    <a:pt x="18044" y="10521"/>
                  </a:lnTo>
                  <a:lnTo>
                    <a:pt x="18044" y="9636"/>
                  </a:lnTo>
                  <a:close/>
                  <a:moveTo>
                    <a:pt x="7375" y="4050"/>
                  </a:moveTo>
                  <a:lnTo>
                    <a:pt x="6442" y="3584"/>
                  </a:lnTo>
                  <a:lnTo>
                    <a:pt x="4664" y="5866"/>
                  </a:lnTo>
                  <a:lnTo>
                    <a:pt x="4023" y="5028"/>
                  </a:lnTo>
                  <a:lnTo>
                    <a:pt x="3090" y="5493"/>
                  </a:lnTo>
                  <a:lnTo>
                    <a:pt x="4664" y="7518"/>
                  </a:lnTo>
                  <a:lnTo>
                    <a:pt x="7375" y="4050"/>
                  </a:lnTo>
                  <a:close/>
                  <a:moveTo>
                    <a:pt x="15624" y="6261"/>
                  </a:moveTo>
                  <a:lnTo>
                    <a:pt x="8395" y="6261"/>
                  </a:lnTo>
                  <a:lnTo>
                    <a:pt x="8395" y="7146"/>
                  </a:lnTo>
                  <a:lnTo>
                    <a:pt x="15624" y="7146"/>
                  </a:lnTo>
                  <a:lnTo>
                    <a:pt x="15624" y="6261"/>
                  </a:lnTo>
                  <a:close/>
                  <a:moveTo>
                    <a:pt x="18044" y="4329"/>
                  </a:moveTo>
                  <a:lnTo>
                    <a:pt x="8395" y="4329"/>
                  </a:lnTo>
                  <a:lnTo>
                    <a:pt x="8395" y="5214"/>
                  </a:lnTo>
                  <a:lnTo>
                    <a:pt x="18044" y="5214"/>
                  </a:lnTo>
                  <a:lnTo>
                    <a:pt x="18044" y="4329"/>
                  </a:lnTo>
                  <a:close/>
                </a:path>
              </a:pathLst>
            </a:custGeom>
            <a:solidFill>
              <a:srgbClr val="1374DF"/>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64" name="Shape">
              <a:extLst>
                <a:ext uri="{FF2B5EF4-FFF2-40B4-BE49-F238E27FC236}">
                  <a16:creationId xmlns:a16="http://schemas.microsoft.com/office/drawing/2014/main" id="{06DFBCE5-087D-3E58-0971-A7F6650C7D6A}"/>
                </a:ext>
              </a:extLst>
            </p:cNvPr>
            <p:cNvSpPr/>
            <p:nvPr/>
          </p:nvSpPr>
          <p:spPr>
            <a:xfrm>
              <a:off x="9539640" y="2316600"/>
              <a:ext cx="254160" cy="288000"/>
            </a:xfrm>
            <a:custGeom>
              <a:avLst/>
              <a:gdLst/>
              <a:ahLst/>
              <a:cxnLst/>
              <a:rect l="l" t="t" r="r" b="b"/>
              <a:pathLst>
                <a:path w="21600" h="21533">
                  <a:moveTo>
                    <a:pt x="3585" y="18843"/>
                  </a:moveTo>
                  <a:lnTo>
                    <a:pt x="0" y="15694"/>
                  </a:lnTo>
                  <a:lnTo>
                    <a:pt x="0" y="9158"/>
                  </a:lnTo>
                  <a:lnTo>
                    <a:pt x="2635" y="9158"/>
                  </a:lnTo>
                  <a:lnTo>
                    <a:pt x="2635" y="13684"/>
                  </a:lnTo>
                  <a:lnTo>
                    <a:pt x="3639" y="12798"/>
                  </a:lnTo>
                  <a:lnTo>
                    <a:pt x="7995" y="16643"/>
                  </a:lnTo>
                  <a:lnTo>
                    <a:pt x="7995" y="21533"/>
                  </a:lnTo>
                  <a:lnTo>
                    <a:pt x="7152" y="21533"/>
                  </a:lnTo>
                  <a:lnTo>
                    <a:pt x="7152" y="16960"/>
                  </a:lnTo>
                  <a:lnTo>
                    <a:pt x="3639" y="13858"/>
                  </a:lnTo>
                  <a:lnTo>
                    <a:pt x="2994" y="14428"/>
                  </a:lnTo>
                  <a:lnTo>
                    <a:pt x="5378" y="16533"/>
                  </a:lnTo>
                  <a:lnTo>
                    <a:pt x="4768" y="17071"/>
                  </a:lnTo>
                  <a:lnTo>
                    <a:pt x="1793" y="14428"/>
                  </a:lnTo>
                  <a:lnTo>
                    <a:pt x="1793" y="9902"/>
                  </a:lnTo>
                  <a:lnTo>
                    <a:pt x="842" y="9902"/>
                  </a:lnTo>
                  <a:lnTo>
                    <a:pt x="842" y="15377"/>
                  </a:lnTo>
                  <a:lnTo>
                    <a:pt x="4428" y="18542"/>
                  </a:lnTo>
                  <a:lnTo>
                    <a:pt x="4428" y="21533"/>
                  </a:lnTo>
                  <a:lnTo>
                    <a:pt x="3585" y="21533"/>
                  </a:lnTo>
                  <a:lnTo>
                    <a:pt x="3585" y="18843"/>
                  </a:lnTo>
                  <a:close/>
                  <a:moveTo>
                    <a:pt x="18965" y="13684"/>
                  </a:moveTo>
                  <a:lnTo>
                    <a:pt x="17961" y="12798"/>
                  </a:lnTo>
                  <a:lnTo>
                    <a:pt x="13605" y="16643"/>
                  </a:lnTo>
                  <a:lnTo>
                    <a:pt x="13605" y="21533"/>
                  </a:lnTo>
                  <a:lnTo>
                    <a:pt x="14448" y="21533"/>
                  </a:lnTo>
                  <a:lnTo>
                    <a:pt x="14448" y="16960"/>
                  </a:lnTo>
                  <a:lnTo>
                    <a:pt x="17961" y="13858"/>
                  </a:lnTo>
                  <a:lnTo>
                    <a:pt x="18606" y="14428"/>
                  </a:lnTo>
                  <a:lnTo>
                    <a:pt x="16222" y="16533"/>
                  </a:lnTo>
                  <a:lnTo>
                    <a:pt x="16832" y="17071"/>
                  </a:lnTo>
                  <a:lnTo>
                    <a:pt x="19807" y="14428"/>
                  </a:lnTo>
                  <a:lnTo>
                    <a:pt x="19807" y="9902"/>
                  </a:lnTo>
                  <a:lnTo>
                    <a:pt x="20758" y="9902"/>
                  </a:lnTo>
                  <a:lnTo>
                    <a:pt x="20758" y="15377"/>
                  </a:lnTo>
                  <a:lnTo>
                    <a:pt x="17172" y="18542"/>
                  </a:lnTo>
                  <a:lnTo>
                    <a:pt x="17172" y="21533"/>
                  </a:lnTo>
                  <a:lnTo>
                    <a:pt x="18015" y="21533"/>
                  </a:lnTo>
                  <a:lnTo>
                    <a:pt x="18015" y="18843"/>
                  </a:lnTo>
                  <a:lnTo>
                    <a:pt x="21600" y="15694"/>
                  </a:lnTo>
                  <a:lnTo>
                    <a:pt x="21600" y="9158"/>
                  </a:lnTo>
                  <a:lnTo>
                    <a:pt x="18965" y="9158"/>
                  </a:lnTo>
                  <a:lnTo>
                    <a:pt x="18965" y="13684"/>
                  </a:lnTo>
                  <a:close/>
                  <a:moveTo>
                    <a:pt x="4177" y="7624"/>
                  </a:moveTo>
                  <a:cubicBezTo>
                    <a:pt x="4015" y="7117"/>
                    <a:pt x="3944" y="6595"/>
                    <a:pt x="3944" y="6057"/>
                  </a:cubicBezTo>
                  <a:cubicBezTo>
                    <a:pt x="3944" y="5535"/>
                    <a:pt x="4015" y="4997"/>
                    <a:pt x="4177" y="4490"/>
                  </a:cubicBezTo>
                  <a:lnTo>
                    <a:pt x="4284" y="4142"/>
                  </a:lnTo>
                  <a:lnTo>
                    <a:pt x="4374" y="4174"/>
                  </a:lnTo>
                  <a:cubicBezTo>
                    <a:pt x="4356" y="4016"/>
                    <a:pt x="4338" y="3857"/>
                    <a:pt x="4320" y="3699"/>
                  </a:cubicBezTo>
                  <a:cubicBezTo>
                    <a:pt x="4195" y="2781"/>
                    <a:pt x="4051" y="1753"/>
                    <a:pt x="4983" y="930"/>
                  </a:cubicBezTo>
                  <a:cubicBezTo>
                    <a:pt x="5897" y="91"/>
                    <a:pt x="7080" y="218"/>
                    <a:pt x="8120" y="329"/>
                  </a:cubicBezTo>
                  <a:cubicBezTo>
                    <a:pt x="8299" y="360"/>
                    <a:pt x="8479" y="376"/>
                    <a:pt x="8658" y="392"/>
                  </a:cubicBezTo>
                  <a:lnTo>
                    <a:pt x="8640" y="297"/>
                  </a:lnTo>
                  <a:lnTo>
                    <a:pt x="9016" y="202"/>
                  </a:lnTo>
                  <a:cubicBezTo>
                    <a:pt x="10182" y="-67"/>
                    <a:pt x="11418" y="-67"/>
                    <a:pt x="12584" y="202"/>
                  </a:cubicBezTo>
                  <a:lnTo>
                    <a:pt x="12960" y="297"/>
                  </a:lnTo>
                  <a:lnTo>
                    <a:pt x="12942" y="392"/>
                  </a:lnTo>
                  <a:cubicBezTo>
                    <a:pt x="13121" y="376"/>
                    <a:pt x="13301" y="360"/>
                    <a:pt x="13480" y="344"/>
                  </a:cubicBezTo>
                  <a:cubicBezTo>
                    <a:pt x="14520" y="234"/>
                    <a:pt x="15685" y="107"/>
                    <a:pt x="16617" y="914"/>
                  </a:cubicBezTo>
                  <a:cubicBezTo>
                    <a:pt x="17549" y="1737"/>
                    <a:pt x="17405" y="2781"/>
                    <a:pt x="17280" y="3683"/>
                  </a:cubicBezTo>
                  <a:cubicBezTo>
                    <a:pt x="17262" y="3857"/>
                    <a:pt x="17244" y="4016"/>
                    <a:pt x="17226" y="4174"/>
                  </a:cubicBezTo>
                  <a:lnTo>
                    <a:pt x="17316" y="4142"/>
                  </a:lnTo>
                  <a:lnTo>
                    <a:pt x="17423" y="4490"/>
                  </a:lnTo>
                  <a:cubicBezTo>
                    <a:pt x="17585" y="4997"/>
                    <a:pt x="17656" y="5535"/>
                    <a:pt x="17656" y="6057"/>
                  </a:cubicBezTo>
                  <a:cubicBezTo>
                    <a:pt x="17656" y="6595"/>
                    <a:pt x="17585" y="7117"/>
                    <a:pt x="17423" y="7624"/>
                  </a:cubicBezTo>
                  <a:lnTo>
                    <a:pt x="17316" y="7972"/>
                  </a:lnTo>
                  <a:lnTo>
                    <a:pt x="17226" y="7956"/>
                  </a:lnTo>
                  <a:cubicBezTo>
                    <a:pt x="17244" y="8114"/>
                    <a:pt x="17262" y="8272"/>
                    <a:pt x="17280" y="8431"/>
                  </a:cubicBezTo>
                  <a:cubicBezTo>
                    <a:pt x="17405" y="9333"/>
                    <a:pt x="17549" y="10377"/>
                    <a:pt x="16617" y="11200"/>
                  </a:cubicBezTo>
                  <a:cubicBezTo>
                    <a:pt x="16025" y="11738"/>
                    <a:pt x="15326" y="11864"/>
                    <a:pt x="14627" y="11864"/>
                  </a:cubicBezTo>
                  <a:cubicBezTo>
                    <a:pt x="14233" y="11864"/>
                    <a:pt x="13856" y="11833"/>
                    <a:pt x="13480" y="11785"/>
                  </a:cubicBezTo>
                  <a:cubicBezTo>
                    <a:pt x="13301" y="11769"/>
                    <a:pt x="13121" y="11754"/>
                    <a:pt x="12942" y="11738"/>
                  </a:cubicBezTo>
                  <a:lnTo>
                    <a:pt x="12960" y="11817"/>
                  </a:lnTo>
                  <a:lnTo>
                    <a:pt x="12584" y="11912"/>
                  </a:lnTo>
                  <a:cubicBezTo>
                    <a:pt x="11992" y="12054"/>
                    <a:pt x="11400" y="12118"/>
                    <a:pt x="10791" y="12118"/>
                  </a:cubicBezTo>
                  <a:cubicBezTo>
                    <a:pt x="10200" y="12118"/>
                    <a:pt x="9608" y="12054"/>
                    <a:pt x="9016" y="11912"/>
                  </a:cubicBezTo>
                  <a:lnTo>
                    <a:pt x="8640" y="11817"/>
                  </a:lnTo>
                  <a:lnTo>
                    <a:pt x="8658" y="11738"/>
                  </a:lnTo>
                  <a:cubicBezTo>
                    <a:pt x="8479" y="11754"/>
                    <a:pt x="8299" y="11769"/>
                    <a:pt x="8120" y="11785"/>
                  </a:cubicBezTo>
                  <a:cubicBezTo>
                    <a:pt x="7762" y="11817"/>
                    <a:pt x="7367" y="11864"/>
                    <a:pt x="6991" y="11864"/>
                  </a:cubicBezTo>
                  <a:cubicBezTo>
                    <a:pt x="6292" y="11864"/>
                    <a:pt x="5593" y="11722"/>
                    <a:pt x="4983" y="11200"/>
                  </a:cubicBezTo>
                  <a:cubicBezTo>
                    <a:pt x="4051" y="10393"/>
                    <a:pt x="4195" y="9348"/>
                    <a:pt x="4320" y="8431"/>
                  </a:cubicBezTo>
                  <a:cubicBezTo>
                    <a:pt x="4338" y="8272"/>
                    <a:pt x="4356" y="8114"/>
                    <a:pt x="4374" y="7956"/>
                  </a:cubicBezTo>
                  <a:lnTo>
                    <a:pt x="4284" y="7972"/>
                  </a:lnTo>
                  <a:lnTo>
                    <a:pt x="4177" y="7624"/>
                  </a:lnTo>
                  <a:close/>
                  <a:moveTo>
                    <a:pt x="5467" y="4380"/>
                  </a:moveTo>
                  <a:lnTo>
                    <a:pt x="7815" y="4854"/>
                  </a:lnTo>
                  <a:cubicBezTo>
                    <a:pt x="8138" y="4221"/>
                    <a:pt x="8712" y="3715"/>
                    <a:pt x="9429" y="3430"/>
                  </a:cubicBezTo>
                  <a:lnTo>
                    <a:pt x="8909" y="1357"/>
                  </a:lnTo>
                  <a:cubicBezTo>
                    <a:pt x="7314" y="1864"/>
                    <a:pt x="6041" y="2971"/>
                    <a:pt x="5467" y="4380"/>
                  </a:cubicBezTo>
                  <a:close/>
                  <a:moveTo>
                    <a:pt x="12691" y="1357"/>
                  </a:moveTo>
                  <a:lnTo>
                    <a:pt x="12171" y="3430"/>
                  </a:lnTo>
                  <a:cubicBezTo>
                    <a:pt x="12888" y="3715"/>
                    <a:pt x="13462" y="4221"/>
                    <a:pt x="13785" y="4854"/>
                  </a:cubicBezTo>
                  <a:lnTo>
                    <a:pt x="16133" y="4380"/>
                  </a:lnTo>
                  <a:cubicBezTo>
                    <a:pt x="15559" y="2987"/>
                    <a:pt x="14286" y="1864"/>
                    <a:pt x="12691" y="1357"/>
                  </a:cubicBezTo>
                  <a:close/>
                  <a:moveTo>
                    <a:pt x="16133" y="7734"/>
                  </a:moveTo>
                  <a:lnTo>
                    <a:pt x="13785" y="7275"/>
                  </a:lnTo>
                  <a:cubicBezTo>
                    <a:pt x="13462" y="7893"/>
                    <a:pt x="12888" y="8399"/>
                    <a:pt x="12171" y="8700"/>
                  </a:cubicBezTo>
                  <a:lnTo>
                    <a:pt x="12691" y="10757"/>
                  </a:lnTo>
                  <a:cubicBezTo>
                    <a:pt x="14286" y="10266"/>
                    <a:pt x="15559" y="9143"/>
                    <a:pt x="16133" y="7734"/>
                  </a:cubicBezTo>
                  <a:close/>
                  <a:moveTo>
                    <a:pt x="14036" y="5566"/>
                  </a:moveTo>
                  <a:cubicBezTo>
                    <a:pt x="14071" y="5725"/>
                    <a:pt x="14089" y="5883"/>
                    <a:pt x="14089" y="6057"/>
                  </a:cubicBezTo>
                  <a:cubicBezTo>
                    <a:pt x="14089" y="6231"/>
                    <a:pt x="14071" y="6405"/>
                    <a:pt x="14036" y="6563"/>
                  </a:cubicBezTo>
                  <a:lnTo>
                    <a:pt x="16706" y="7086"/>
                  </a:lnTo>
                  <a:cubicBezTo>
                    <a:pt x="16778" y="6753"/>
                    <a:pt x="16814" y="6405"/>
                    <a:pt x="16814" y="6057"/>
                  </a:cubicBezTo>
                  <a:cubicBezTo>
                    <a:pt x="16814" y="5709"/>
                    <a:pt x="16778" y="5377"/>
                    <a:pt x="16706" y="5028"/>
                  </a:cubicBezTo>
                  <a:lnTo>
                    <a:pt x="14036" y="5566"/>
                  </a:lnTo>
                  <a:close/>
                  <a:moveTo>
                    <a:pt x="10791" y="3905"/>
                  </a:moveTo>
                  <a:cubicBezTo>
                    <a:pt x="9447" y="3905"/>
                    <a:pt x="8353" y="4870"/>
                    <a:pt x="8353" y="6057"/>
                  </a:cubicBezTo>
                  <a:cubicBezTo>
                    <a:pt x="8353" y="7244"/>
                    <a:pt x="9447" y="8209"/>
                    <a:pt x="10791" y="8209"/>
                  </a:cubicBezTo>
                  <a:cubicBezTo>
                    <a:pt x="12153" y="8209"/>
                    <a:pt x="13247" y="7244"/>
                    <a:pt x="13247" y="6057"/>
                  </a:cubicBezTo>
                  <a:cubicBezTo>
                    <a:pt x="13247" y="4870"/>
                    <a:pt x="12153" y="3905"/>
                    <a:pt x="10791" y="3905"/>
                  </a:cubicBezTo>
                  <a:close/>
                  <a:moveTo>
                    <a:pt x="8909" y="10757"/>
                  </a:moveTo>
                  <a:lnTo>
                    <a:pt x="9429" y="8700"/>
                  </a:lnTo>
                  <a:cubicBezTo>
                    <a:pt x="8712" y="8399"/>
                    <a:pt x="8138" y="7893"/>
                    <a:pt x="7815" y="7275"/>
                  </a:cubicBezTo>
                  <a:lnTo>
                    <a:pt x="5467" y="7734"/>
                  </a:lnTo>
                  <a:cubicBezTo>
                    <a:pt x="6041" y="9143"/>
                    <a:pt x="7314" y="10266"/>
                    <a:pt x="8909" y="10757"/>
                  </a:cubicBezTo>
                  <a:close/>
                  <a:moveTo>
                    <a:pt x="4894" y="5028"/>
                  </a:moveTo>
                  <a:cubicBezTo>
                    <a:pt x="4822" y="5377"/>
                    <a:pt x="4786" y="5709"/>
                    <a:pt x="4786" y="6057"/>
                  </a:cubicBezTo>
                  <a:cubicBezTo>
                    <a:pt x="4786" y="6405"/>
                    <a:pt x="4822" y="6753"/>
                    <a:pt x="4894" y="7086"/>
                  </a:cubicBezTo>
                  <a:lnTo>
                    <a:pt x="7564" y="6563"/>
                  </a:lnTo>
                  <a:cubicBezTo>
                    <a:pt x="7529" y="6405"/>
                    <a:pt x="7511" y="6231"/>
                    <a:pt x="7511" y="6057"/>
                  </a:cubicBezTo>
                  <a:cubicBezTo>
                    <a:pt x="7511" y="5883"/>
                    <a:pt x="7529" y="5725"/>
                    <a:pt x="7564" y="5566"/>
                  </a:cubicBezTo>
                  <a:lnTo>
                    <a:pt x="4894" y="5028"/>
                  </a:lnTo>
                  <a:close/>
                  <a:moveTo>
                    <a:pt x="7654" y="11073"/>
                  </a:moveTo>
                  <a:cubicBezTo>
                    <a:pt x="6597" y="10551"/>
                    <a:pt x="5700" y="9776"/>
                    <a:pt x="5109" y="8826"/>
                  </a:cubicBezTo>
                  <a:cubicBezTo>
                    <a:pt x="5019" y="9554"/>
                    <a:pt x="5019" y="10187"/>
                    <a:pt x="5575" y="10662"/>
                  </a:cubicBezTo>
                  <a:cubicBezTo>
                    <a:pt x="6130" y="11152"/>
                    <a:pt x="6847" y="11152"/>
                    <a:pt x="7654" y="11073"/>
                  </a:cubicBezTo>
                  <a:close/>
                  <a:moveTo>
                    <a:pt x="11956" y="11279"/>
                  </a:moveTo>
                  <a:lnTo>
                    <a:pt x="11365" y="8921"/>
                  </a:lnTo>
                  <a:cubicBezTo>
                    <a:pt x="11185" y="8953"/>
                    <a:pt x="10988" y="8969"/>
                    <a:pt x="10791" y="8969"/>
                  </a:cubicBezTo>
                  <a:cubicBezTo>
                    <a:pt x="10612" y="8969"/>
                    <a:pt x="10415" y="8953"/>
                    <a:pt x="10235" y="8921"/>
                  </a:cubicBezTo>
                  <a:lnTo>
                    <a:pt x="9644" y="11279"/>
                  </a:lnTo>
                  <a:cubicBezTo>
                    <a:pt x="10397" y="11406"/>
                    <a:pt x="11203" y="11406"/>
                    <a:pt x="11956" y="11279"/>
                  </a:cubicBezTo>
                  <a:close/>
                  <a:moveTo>
                    <a:pt x="16491" y="8842"/>
                  </a:moveTo>
                  <a:cubicBezTo>
                    <a:pt x="15900" y="9776"/>
                    <a:pt x="15003" y="10567"/>
                    <a:pt x="13946" y="11089"/>
                  </a:cubicBezTo>
                  <a:cubicBezTo>
                    <a:pt x="14753" y="11168"/>
                    <a:pt x="15470" y="11168"/>
                    <a:pt x="16025" y="10678"/>
                  </a:cubicBezTo>
                  <a:cubicBezTo>
                    <a:pt x="16581" y="10171"/>
                    <a:pt x="16563" y="9554"/>
                    <a:pt x="16491" y="8842"/>
                  </a:cubicBezTo>
                  <a:close/>
                  <a:moveTo>
                    <a:pt x="13946" y="1041"/>
                  </a:moveTo>
                  <a:cubicBezTo>
                    <a:pt x="15003" y="1563"/>
                    <a:pt x="15900" y="2354"/>
                    <a:pt x="16491" y="3288"/>
                  </a:cubicBezTo>
                  <a:cubicBezTo>
                    <a:pt x="16581" y="2576"/>
                    <a:pt x="16581" y="1943"/>
                    <a:pt x="16025" y="1452"/>
                  </a:cubicBezTo>
                  <a:cubicBezTo>
                    <a:pt x="15470" y="962"/>
                    <a:pt x="14753" y="962"/>
                    <a:pt x="13946" y="1041"/>
                  </a:cubicBezTo>
                  <a:close/>
                  <a:moveTo>
                    <a:pt x="9644" y="851"/>
                  </a:moveTo>
                  <a:lnTo>
                    <a:pt x="10235" y="3209"/>
                  </a:lnTo>
                  <a:cubicBezTo>
                    <a:pt x="10415" y="3177"/>
                    <a:pt x="10612" y="3161"/>
                    <a:pt x="10791" y="3161"/>
                  </a:cubicBezTo>
                  <a:cubicBezTo>
                    <a:pt x="10988" y="3161"/>
                    <a:pt x="11185" y="3177"/>
                    <a:pt x="11365" y="3209"/>
                  </a:cubicBezTo>
                  <a:lnTo>
                    <a:pt x="11956" y="851"/>
                  </a:lnTo>
                  <a:cubicBezTo>
                    <a:pt x="11203" y="708"/>
                    <a:pt x="10397" y="708"/>
                    <a:pt x="9644" y="851"/>
                  </a:cubicBezTo>
                  <a:close/>
                  <a:moveTo>
                    <a:pt x="5109" y="3288"/>
                  </a:moveTo>
                  <a:cubicBezTo>
                    <a:pt x="5700" y="2338"/>
                    <a:pt x="6597" y="1563"/>
                    <a:pt x="7654" y="1041"/>
                  </a:cubicBezTo>
                  <a:cubicBezTo>
                    <a:pt x="6847" y="962"/>
                    <a:pt x="6130" y="946"/>
                    <a:pt x="5575" y="1452"/>
                  </a:cubicBezTo>
                  <a:cubicBezTo>
                    <a:pt x="5019" y="1943"/>
                    <a:pt x="5037" y="2576"/>
                    <a:pt x="5109" y="3288"/>
                  </a:cubicBezTo>
                  <a:close/>
                </a:path>
              </a:pathLst>
            </a:custGeom>
            <a:solidFill>
              <a:srgbClr val="1374DF"/>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65" name="TextBox 377">
              <a:extLst>
                <a:ext uri="{FF2B5EF4-FFF2-40B4-BE49-F238E27FC236}">
                  <a16:creationId xmlns:a16="http://schemas.microsoft.com/office/drawing/2014/main" id="{DC89CF1D-58FE-54C1-C04B-94EFF9010062}"/>
                </a:ext>
              </a:extLst>
            </p:cNvPr>
            <p:cNvSpPr/>
            <p:nvPr/>
          </p:nvSpPr>
          <p:spPr>
            <a:xfrm>
              <a:off x="9344880" y="2585160"/>
              <a:ext cx="643680" cy="367878"/>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Transition to</a:t>
              </a:r>
              <a:endParaRPr lang="en-GB" sz="1200" spc="-2">
                <a:latin typeface="Arial"/>
              </a:endParaRPr>
            </a:p>
            <a:p>
              <a:pPr algn="ctr">
                <a:tabLst>
                  <a:tab pos="0" algn="l"/>
                </a:tabLst>
              </a:pPr>
              <a:r>
                <a:rPr lang="en-GB" sz="1200" spc="-2">
                  <a:solidFill>
                    <a:srgbClr val="000000"/>
                  </a:solidFill>
                  <a:latin typeface="Arial"/>
                  <a:ea typeface="DejaVu Sans"/>
                </a:rPr>
                <a:t>Managed Service</a:t>
              </a:r>
              <a:endParaRPr lang="en-GB" sz="1200" spc="-2">
                <a:latin typeface="Arial"/>
              </a:endParaRPr>
            </a:p>
          </p:txBody>
        </p:sp>
      </p:grpSp>
      <p:grpSp>
        <p:nvGrpSpPr>
          <p:cNvPr id="266" name="Group 378">
            <a:extLst>
              <a:ext uri="{FF2B5EF4-FFF2-40B4-BE49-F238E27FC236}">
                <a16:creationId xmlns:a16="http://schemas.microsoft.com/office/drawing/2014/main" id="{4033E5C7-34A0-C333-7A5D-CB1101BEB4FF}"/>
              </a:ext>
            </a:extLst>
          </p:cNvPr>
          <p:cNvGrpSpPr/>
          <p:nvPr/>
        </p:nvGrpSpPr>
        <p:grpSpPr>
          <a:xfrm>
            <a:off x="20575440" y="6151105"/>
            <a:ext cx="3031920" cy="2255760"/>
            <a:chOff x="10287720" y="1859400"/>
            <a:chExt cx="1515960" cy="1127880"/>
          </a:xfrm>
        </p:grpSpPr>
        <p:sp>
          <p:nvSpPr>
            <p:cNvPr id="267" name="Arrow: Chevron 379">
              <a:extLst>
                <a:ext uri="{FF2B5EF4-FFF2-40B4-BE49-F238E27FC236}">
                  <a16:creationId xmlns:a16="http://schemas.microsoft.com/office/drawing/2014/main" id="{10A112FD-0E9E-4DCC-A39D-D75BA51DB6CE}"/>
                </a:ext>
              </a:extLst>
            </p:cNvPr>
            <p:cNvSpPr/>
            <p:nvPr/>
          </p:nvSpPr>
          <p:spPr>
            <a:xfrm>
              <a:off x="10301760" y="1859400"/>
              <a:ext cx="1501920" cy="348840"/>
            </a:xfrm>
            <a:prstGeom prst="chevron">
              <a:avLst>
                <a:gd name="adj" fmla="val 50000"/>
              </a:avLst>
            </a:prstGeom>
            <a:solidFill>
              <a:schemeClr val="accent4"/>
            </a:solidFill>
            <a:ln>
              <a:solidFill>
                <a:srgbClr val="3300FC"/>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CLOSE</a:t>
              </a:r>
              <a:endParaRPr lang="en-GB" spc="-2">
                <a:latin typeface="Arial"/>
              </a:endParaRPr>
            </a:p>
          </p:txBody>
        </p:sp>
        <p:sp>
          <p:nvSpPr>
            <p:cNvPr id="268" name="Freeform 125">
              <a:extLst>
                <a:ext uri="{FF2B5EF4-FFF2-40B4-BE49-F238E27FC236}">
                  <a16:creationId xmlns:a16="http://schemas.microsoft.com/office/drawing/2014/main" id="{C86E16AA-5A86-170D-19D0-8EB6FDB4AE2D}"/>
                </a:ext>
              </a:extLst>
            </p:cNvPr>
            <p:cNvSpPr/>
            <p:nvPr/>
          </p:nvSpPr>
          <p:spPr>
            <a:xfrm>
              <a:off x="11367720" y="1898280"/>
              <a:ext cx="225360" cy="293040"/>
            </a:xfrm>
            <a:custGeom>
              <a:avLst/>
              <a:gdLst/>
              <a:ahLst/>
              <a:cxnLst/>
              <a:rect l="l" t="t" r="r" b="b"/>
              <a:pathLst>
                <a:path w="927" h="1204">
                  <a:moveTo>
                    <a:pt x="585" y="997"/>
                  </a:moveTo>
                  <a:lnTo>
                    <a:pt x="478" y="997"/>
                  </a:lnTo>
                  <a:lnTo>
                    <a:pt x="478" y="620"/>
                  </a:lnTo>
                  <a:lnTo>
                    <a:pt x="448" y="620"/>
                  </a:lnTo>
                  <a:lnTo>
                    <a:pt x="448" y="997"/>
                  </a:lnTo>
                  <a:lnTo>
                    <a:pt x="341" y="997"/>
                  </a:lnTo>
                  <a:lnTo>
                    <a:pt x="341" y="343"/>
                  </a:lnTo>
                  <a:cubicBezTo>
                    <a:pt x="234" y="326"/>
                    <a:pt x="153" y="232"/>
                    <a:pt x="153" y="122"/>
                  </a:cubicBezTo>
                  <a:lnTo>
                    <a:pt x="153" y="0"/>
                  </a:lnTo>
                  <a:lnTo>
                    <a:pt x="259" y="0"/>
                  </a:lnTo>
                  <a:lnTo>
                    <a:pt x="259" y="122"/>
                  </a:lnTo>
                  <a:cubicBezTo>
                    <a:pt x="259" y="187"/>
                    <a:pt x="312" y="240"/>
                    <a:pt x="377" y="240"/>
                  </a:cubicBezTo>
                  <a:lnTo>
                    <a:pt x="463" y="240"/>
                  </a:lnTo>
                  <a:cubicBezTo>
                    <a:pt x="596" y="240"/>
                    <a:pt x="705" y="348"/>
                    <a:pt x="705" y="482"/>
                  </a:cubicBezTo>
                  <a:lnTo>
                    <a:pt x="705" y="620"/>
                  </a:lnTo>
                  <a:lnTo>
                    <a:pt x="598" y="620"/>
                  </a:lnTo>
                  <a:lnTo>
                    <a:pt x="598" y="482"/>
                  </a:lnTo>
                  <a:cubicBezTo>
                    <a:pt x="598" y="461"/>
                    <a:pt x="594" y="441"/>
                    <a:pt x="585" y="422"/>
                  </a:cubicBezTo>
                  <a:lnTo>
                    <a:pt x="585" y="997"/>
                  </a:lnTo>
                  <a:close/>
                  <a:moveTo>
                    <a:pt x="547" y="960"/>
                  </a:moveTo>
                  <a:lnTo>
                    <a:pt x="547" y="375"/>
                  </a:lnTo>
                  <a:cubicBezTo>
                    <a:pt x="547" y="365"/>
                    <a:pt x="552" y="357"/>
                    <a:pt x="560" y="353"/>
                  </a:cubicBezTo>
                  <a:cubicBezTo>
                    <a:pt x="569" y="350"/>
                    <a:pt x="578" y="352"/>
                    <a:pt x="585" y="359"/>
                  </a:cubicBezTo>
                  <a:cubicBezTo>
                    <a:pt x="618" y="391"/>
                    <a:pt x="636" y="436"/>
                    <a:pt x="636" y="482"/>
                  </a:cubicBezTo>
                  <a:lnTo>
                    <a:pt x="636" y="583"/>
                  </a:lnTo>
                  <a:lnTo>
                    <a:pt x="667" y="583"/>
                  </a:lnTo>
                  <a:lnTo>
                    <a:pt x="667" y="482"/>
                  </a:lnTo>
                  <a:cubicBezTo>
                    <a:pt x="667" y="369"/>
                    <a:pt x="575" y="278"/>
                    <a:pt x="463" y="278"/>
                  </a:cubicBezTo>
                  <a:lnTo>
                    <a:pt x="377" y="278"/>
                  </a:lnTo>
                  <a:cubicBezTo>
                    <a:pt x="291" y="278"/>
                    <a:pt x="221" y="208"/>
                    <a:pt x="221" y="122"/>
                  </a:cubicBezTo>
                  <a:lnTo>
                    <a:pt x="221" y="38"/>
                  </a:lnTo>
                  <a:lnTo>
                    <a:pt x="191" y="38"/>
                  </a:lnTo>
                  <a:lnTo>
                    <a:pt x="191" y="122"/>
                  </a:lnTo>
                  <a:cubicBezTo>
                    <a:pt x="191" y="214"/>
                    <a:pt x="259" y="294"/>
                    <a:pt x="351" y="307"/>
                  </a:cubicBezTo>
                  <a:lnTo>
                    <a:pt x="379" y="311"/>
                  </a:lnTo>
                  <a:lnTo>
                    <a:pt x="379" y="960"/>
                  </a:lnTo>
                  <a:lnTo>
                    <a:pt x="410" y="960"/>
                  </a:lnTo>
                  <a:lnTo>
                    <a:pt x="410" y="583"/>
                  </a:lnTo>
                  <a:lnTo>
                    <a:pt x="516" y="583"/>
                  </a:lnTo>
                  <a:lnTo>
                    <a:pt x="516" y="960"/>
                  </a:lnTo>
                  <a:lnTo>
                    <a:pt x="547" y="960"/>
                  </a:lnTo>
                  <a:close/>
                  <a:moveTo>
                    <a:pt x="463" y="226"/>
                  </a:moveTo>
                  <a:cubicBezTo>
                    <a:pt x="415" y="226"/>
                    <a:pt x="376" y="187"/>
                    <a:pt x="376" y="139"/>
                  </a:cubicBezTo>
                  <a:cubicBezTo>
                    <a:pt x="376" y="91"/>
                    <a:pt x="415" y="51"/>
                    <a:pt x="463" y="51"/>
                  </a:cubicBezTo>
                  <a:cubicBezTo>
                    <a:pt x="511" y="51"/>
                    <a:pt x="550" y="91"/>
                    <a:pt x="550" y="139"/>
                  </a:cubicBezTo>
                  <a:cubicBezTo>
                    <a:pt x="550" y="187"/>
                    <a:pt x="511" y="226"/>
                    <a:pt x="463" y="226"/>
                  </a:cubicBezTo>
                  <a:close/>
                  <a:moveTo>
                    <a:pt x="463" y="89"/>
                  </a:moveTo>
                  <a:cubicBezTo>
                    <a:pt x="436" y="89"/>
                    <a:pt x="413" y="111"/>
                    <a:pt x="413" y="139"/>
                  </a:cubicBezTo>
                  <a:cubicBezTo>
                    <a:pt x="413" y="166"/>
                    <a:pt x="436" y="189"/>
                    <a:pt x="463" y="189"/>
                  </a:cubicBezTo>
                  <a:cubicBezTo>
                    <a:pt x="490" y="189"/>
                    <a:pt x="513" y="166"/>
                    <a:pt x="513" y="139"/>
                  </a:cubicBezTo>
                  <a:cubicBezTo>
                    <a:pt x="513" y="111"/>
                    <a:pt x="490" y="89"/>
                    <a:pt x="463" y="89"/>
                  </a:cubicBezTo>
                  <a:close/>
                  <a:moveTo>
                    <a:pt x="926" y="1165"/>
                  </a:moveTo>
                  <a:lnTo>
                    <a:pt x="636" y="1165"/>
                  </a:lnTo>
                  <a:lnTo>
                    <a:pt x="636" y="1028"/>
                  </a:lnTo>
                  <a:lnTo>
                    <a:pt x="290" y="1028"/>
                  </a:lnTo>
                  <a:lnTo>
                    <a:pt x="290" y="1114"/>
                  </a:lnTo>
                  <a:lnTo>
                    <a:pt x="0" y="1114"/>
                  </a:lnTo>
                  <a:lnTo>
                    <a:pt x="0" y="1152"/>
                  </a:lnTo>
                  <a:lnTo>
                    <a:pt x="328" y="1152"/>
                  </a:lnTo>
                  <a:lnTo>
                    <a:pt x="328" y="1066"/>
                  </a:lnTo>
                  <a:lnTo>
                    <a:pt x="598" y="1066"/>
                  </a:lnTo>
                  <a:lnTo>
                    <a:pt x="598" y="1203"/>
                  </a:lnTo>
                  <a:lnTo>
                    <a:pt x="926" y="1203"/>
                  </a:lnTo>
                  <a:lnTo>
                    <a:pt x="926" y="1165"/>
                  </a:lnTo>
                  <a:close/>
                </a:path>
              </a:pathLst>
            </a:custGeom>
            <a:solidFill>
              <a:schemeClr val="bg1"/>
            </a:solidFill>
            <a:ln w="0">
              <a:noFill/>
            </a:ln>
          </p:spPr>
          <p:style>
            <a:lnRef idx="0">
              <a:scrgbClr r="0" g="0" b="0"/>
            </a:lnRef>
            <a:fillRef idx="0">
              <a:scrgbClr r="0" g="0" b="0"/>
            </a:fillRef>
            <a:effectRef idx="0">
              <a:scrgbClr r="0" g="0" b="0"/>
            </a:effectRef>
            <a:fontRef idx="minor"/>
          </p:style>
          <p:txBody>
            <a:bodyPr/>
            <a:lstStyle/>
            <a:p>
              <a:endParaRPr lang="en-GB" sz="3600"/>
            </a:p>
          </p:txBody>
        </p:sp>
        <p:sp>
          <p:nvSpPr>
            <p:cNvPr id="269" name="Rectangle 381">
              <a:extLst>
                <a:ext uri="{FF2B5EF4-FFF2-40B4-BE49-F238E27FC236}">
                  <a16:creationId xmlns:a16="http://schemas.microsoft.com/office/drawing/2014/main" id="{2C857D42-98BD-2DD4-E095-C08868BDDDA0}"/>
                </a:ext>
              </a:extLst>
            </p:cNvPr>
            <p:cNvSpPr/>
            <p:nvPr/>
          </p:nvSpPr>
          <p:spPr>
            <a:xfrm>
              <a:off x="10301760" y="2228760"/>
              <a:ext cx="1317600" cy="758520"/>
            </a:xfrm>
            <a:prstGeom prst="rect">
              <a:avLst/>
            </a:prstGeom>
            <a:noFill/>
            <a:ln w="28575">
              <a:solidFill>
                <a:srgbClr val="3300FC"/>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270" name="Shape">
              <a:extLst>
                <a:ext uri="{FF2B5EF4-FFF2-40B4-BE49-F238E27FC236}">
                  <a16:creationId xmlns:a16="http://schemas.microsoft.com/office/drawing/2014/main" id="{A98C6C62-E6BD-FD03-4608-5FBA3EE0010B}"/>
                </a:ext>
              </a:extLst>
            </p:cNvPr>
            <p:cNvSpPr/>
            <p:nvPr/>
          </p:nvSpPr>
          <p:spPr>
            <a:xfrm>
              <a:off x="10583640" y="236520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3300FC"/>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71" name="TextBox 383">
              <a:extLst>
                <a:ext uri="{FF2B5EF4-FFF2-40B4-BE49-F238E27FC236}">
                  <a16:creationId xmlns:a16="http://schemas.microsoft.com/office/drawing/2014/main" id="{E1D2EE79-D6ED-A974-70C4-946303EF0640}"/>
                </a:ext>
              </a:extLst>
            </p:cNvPr>
            <p:cNvSpPr/>
            <p:nvPr/>
          </p:nvSpPr>
          <p:spPr>
            <a:xfrm>
              <a:off x="10287720" y="2564640"/>
              <a:ext cx="7502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Feedback/</a:t>
              </a:r>
              <a:endParaRPr lang="en-GB" sz="1200" spc="-2">
                <a:latin typeface="Arial"/>
              </a:endParaRPr>
            </a:p>
            <a:p>
              <a:pPr algn="ctr">
                <a:tabLst>
                  <a:tab pos="0" algn="l"/>
                </a:tabLst>
              </a:pPr>
              <a:r>
                <a:rPr lang="en-GB" sz="1200" spc="-2">
                  <a:solidFill>
                    <a:srgbClr val="000000"/>
                  </a:solidFill>
                  <a:latin typeface="Arial"/>
                  <a:ea typeface="DejaVu Sans"/>
                </a:rPr>
                <a:t>Lessons learnt</a:t>
              </a:r>
              <a:endParaRPr lang="en-GB" sz="1200" spc="-2">
                <a:latin typeface="Arial"/>
              </a:endParaRPr>
            </a:p>
          </p:txBody>
        </p:sp>
        <p:sp>
          <p:nvSpPr>
            <p:cNvPr id="272" name="Shape">
              <a:extLst>
                <a:ext uri="{FF2B5EF4-FFF2-40B4-BE49-F238E27FC236}">
                  <a16:creationId xmlns:a16="http://schemas.microsoft.com/office/drawing/2014/main" id="{2330528F-CC86-92F5-56B9-B215068E7F9A}"/>
                </a:ext>
              </a:extLst>
            </p:cNvPr>
            <p:cNvSpPr/>
            <p:nvPr/>
          </p:nvSpPr>
          <p:spPr>
            <a:xfrm>
              <a:off x="11201760" y="236520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3300FC"/>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73" name="TextBox 385">
              <a:extLst>
                <a:ext uri="{FF2B5EF4-FFF2-40B4-BE49-F238E27FC236}">
                  <a16:creationId xmlns:a16="http://schemas.microsoft.com/office/drawing/2014/main" id="{01CE2BE7-B8A4-0D03-6FB0-425F2727AC27}"/>
                </a:ext>
              </a:extLst>
            </p:cNvPr>
            <p:cNvSpPr/>
            <p:nvPr/>
          </p:nvSpPr>
          <p:spPr>
            <a:xfrm>
              <a:off x="10905840" y="2564640"/>
              <a:ext cx="7502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Project</a:t>
              </a:r>
              <a:endParaRPr lang="en-GB" sz="1200" spc="-2">
                <a:latin typeface="Arial"/>
              </a:endParaRPr>
            </a:p>
            <a:p>
              <a:pPr algn="ctr">
                <a:tabLst>
                  <a:tab pos="0" algn="l"/>
                </a:tabLst>
              </a:pPr>
              <a:r>
                <a:rPr lang="en-GB" sz="1200" spc="-2">
                  <a:solidFill>
                    <a:srgbClr val="000000"/>
                  </a:solidFill>
                  <a:latin typeface="Arial"/>
                  <a:ea typeface="DejaVu Sans"/>
                </a:rPr>
                <a:t>Review</a:t>
              </a:r>
              <a:endParaRPr lang="en-GB" sz="1200" spc="-2">
                <a:latin typeface="Arial"/>
              </a:endParaRPr>
            </a:p>
          </p:txBody>
        </p:sp>
      </p:grpSp>
      <p:grpSp>
        <p:nvGrpSpPr>
          <p:cNvPr id="274" name="Group 386">
            <a:extLst>
              <a:ext uri="{FF2B5EF4-FFF2-40B4-BE49-F238E27FC236}">
                <a16:creationId xmlns:a16="http://schemas.microsoft.com/office/drawing/2014/main" id="{3BF11222-D202-4306-2F17-57B15DFAF7A8}"/>
              </a:ext>
            </a:extLst>
          </p:cNvPr>
          <p:cNvGrpSpPr/>
          <p:nvPr/>
        </p:nvGrpSpPr>
        <p:grpSpPr>
          <a:xfrm>
            <a:off x="9141840" y="8600545"/>
            <a:ext cx="3908880" cy="3410640"/>
            <a:chOff x="4570920" y="3084120"/>
            <a:chExt cx="1954440" cy="1705320"/>
          </a:xfrm>
        </p:grpSpPr>
        <p:sp>
          <p:nvSpPr>
            <p:cNvPr id="275" name="Rectangle 387">
              <a:extLst>
                <a:ext uri="{FF2B5EF4-FFF2-40B4-BE49-F238E27FC236}">
                  <a16:creationId xmlns:a16="http://schemas.microsoft.com/office/drawing/2014/main" id="{D17A1998-6BD9-73E9-9A9E-38259F61EE65}"/>
                </a:ext>
              </a:extLst>
            </p:cNvPr>
            <p:cNvSpPr/>
            <p:nvPr/>
          </p:nvSpPr>
          <p:spPr>
            <a:xfrm>
              <a:off x="5492880" y="4143240"/>
              <a:ext cx="658080" cy="600480"/>
            </a:xfrm>
            <a:prstGeom prst="rect">
              <a:avLst/>
            </a:prstGeom>
            <a:solidFill>
              <a:schemeClr val="bg1">
                <a:lumMod val="95000"/>
              </a:schemeClr>
            </a:solidFill>
            <a:ln>
              <a:solidFill>
                <a:srgbClr val="BC2AB3"/>
              </a:solidFill>
              <a:prstDash val="lgDashDotDot"/>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276" name="Arrow: Pentagon 388">
              <a:extLst>
                <a:ext uri="{FF2B5EF4-FFF2-40B4-BE49-F238E27FC236}">
                  <a16:creationId xmlns:a16="http://schemas.microsoft.com/office/drawing/2014/main" id="{A8BDEEEF-34EF-3CF7-B0E6-2AC5AE649F02}"/>
                </a:ext>
              </a:extLst>
            </p:cNvPr>
            <p:cNvSpPr/>
            <p:nvPr/>
          </p:nvSpPr>
          <p:spPr>
            <a:xfrm>
              <a:off x="4570920" y="3084120"/>
              <a:ext cx="1954440" cy="382320"/>
            </a:xfrm>
            <a:prstGeom prst="homePlate">
              <a:avLst>
                <a:gd name="adj" fmla="val 50000"/>
              </a:avLst>
            </a:prstGeom>
            <a:solidFill>
              <a:schemeClr val="accent3">
                <a:lumMod val="50000"/>
              </a:schemeClr>
            </a:solidFill>
            <a:ln>
              <a:solidFill>
                <a:srgbClr val="BC2AB3"/>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BUILD</a:t>
              </a:r>
              <a:endParaRPr lang="en-GB" spc="-2">
                <a:latin typeface="Arial"/>
              </a:endParaRPr>
            </a:p>
          </p:txBody>
        </p:sp>
        <p:sp>
          <p:nvSpPr>
            <p:cNvPr id="277" name="Freeform 124">
              <a:extLst>
                <a:ext uri="{FF2B5EF4-FFF2-40B4-BE49-F238E27FC236}">
                  <a16:creationId xmlns:a16="http://schemas.microsoft.com/office/drawing/2014/main" id="{208963F4-9459-4667-C220-56FB4ED2E1C3}"/>
                </a:ext>
              </a:extLst>
            </p:cNvPr>
            <p:cNvSpPr/>
            <p:nvPr/>
          </p:nvSpPr>
          <p:spPr>
            <a:xfrm>
              <a:off x="5995800" y="3129840"/>
              <a:ext cx="309600" cy="292320"/>
            </a:xfrm>
            <a:custGeom>
              <a:avLst/>
              <a:gdLst/>
              <a:ahLst/>
              <a:cxnLst/>
              <a:rect l="l" t="t" r="r" b="b"/>
              <a:pathLst>
                <a:path w="1151" h="991">
                  <a:moveTo>
                    <a:pt x="306" y="429"/>
                  </a:moveTo>
                  <a:lnTo>
                    <a:pt x="417" y="429"/>
                  </a:lnTo>
                  <a:lnTo>
                    <a:pt x="417" y="467"/>
                  </a:lnTo>
                  <a:lnTo>
                    <a:pt x="306" y="467"/>
                  </a:lnTo>
                  <a:lnTo>
                    <a:pt x="306" y="429"/>
                  </a:lnTo>
                  <a:close/>
                  <a:moveTo>
                    <a:pt x="829" y="467"/>
                  </a:moveTo>
                  <a:lnTo>
                    <a:pt x="829" y="429"/>
                  </a:lnTo>
                  <a:lnTo>
                    <a:pt x="718" y="429"/>
                  </a:lnTo>
                  <a:lnTo>
                    <a:pt x="718" y="467"/>
                  </a:lnTo>
                  <a:lnTo>
                    <a:pt x="829" y="467"/>
                  </a:lnTo>
                  <a:close/>
                  <a:moveTo>
                    <a:pt x="447" y="356"/>
                  </a:moveTo>
                  <a:lnTo>
                    <a:pt x="350" y="301"/>
                  </a:lnTo>
                  <a:lnTo>
                    <a:pt x="332" y="333"/>
                  </a:lnTo>
                  <a:lnTo>
                    <a:pt x="428" y="389"/>
                  </a:lnTo>
                  <a:lnTo>
                    <a:pt x="447" y="356"/>
                  </a:lnTo>
                  <a:close/>
                  <a:moveTo>
                    <a:pt x="689" y="356"/>
                  </a:moveTo>
                  <a:lnTo>
                    <a:pt x="708" y="389"/>
                  </a:lnTo>
                  <a:lnTo>
                    <a:pt x="804" y="333"/>
                  </a:lnTo>
                  <a:lnTo>
                    <a:pt x="785" y="301"/>
                  </a:lnTo>
                  <a:lnTo>
                    <a:pt x="689" y="356"/>
                  </a:lnTo>
                  <a:close/>
                  <a:moveTo>
                    <a:pt x="1110" y="0"/>
                  </a:moveTo>
                  <a:lnTo>
                    <a:pt x="1150" y="110"/>
                  </a:lnTo>
                  <a:lnTo>
                    <a:pt x="614" y="305"/>
                  </a:lnTo>
                  <a:lnTo>
                    <a:pt x="646" y="395"/>
                  </a:lnTo>
                  <a:lnTo>
                    <a:pt x="507" y="445"/>
                  </a:lnTo>
                  <a:lnTo>
                    <a:pt x="427" y="225"/>
                  </a:lnTo>
                  <a:lnTo>
                    <a:pt x="491" y="74"/>
                  </a:lnTo>
                  <a:lnTo>
                    <a:pt x="525" y="61"/>
                  </a:lnTo>
                  <a:lnTo>
                    <a:pt x="574" y="195"/>
                  </a:lnTo>
                  <a:lnTo>
                    <a:pt x="1110" y="0"/>
                  </a:lnTo>
                  <a:close/>
                  <a:moveTo>
                    <a:pt x="598" y="372"/>
                  </a:moveTo>
                  <a:lnTo>
                    <a:pt x="566" y="283"/>
                  </a:lnTo>
                  <a:lnTo>
                    <a:pt x="566" y="283"/>
                  </a:lnTo>
                  <a:lnTo>
                    <a:pt x="551" y="243"/>
                  </a:lnTo>
                  <a:lnTo>
                    <a:pt x="551" y="243"/>
                  </a:lnTo>
                  <a:lnTo>
                    <a:pt x="509" y="127"/>
                  </a:lnTo>
                  <a:lnTo>
                    <a:pt x="467" y="227"/>
                  </a:lnTo>
                  <a:lnTo>
                    <a:pt x="529" y="397"/>
                  </a:lnTo>
                  <a:lnTo>
                    <a:pt x="598" y="372"/>
                  </a:lnTo>
                  <a:close/>
                  <a:moveTo>
                    <a:pt x="1102" y="87"/>
                  </a:moveTo>
                  <a:lnTo>
                    <a:pt x="1088" y="48"/>
                  </a:lnTo>
                  <a:lnTo>
                    <a:pt x="587" y="231"/>
                  </a:lnTo>
                  <a:lnTo>
                    <a:pt x="601" y="270"/>
                  </a:lnTo>
                  <a:lnTo>
                    <a:pt x="1102" y="87"/>
                  </a:lnTo>
                  <a:close/>
                  <a:moveTo>
                    <a:pt x="1149" y="493"/>
                  </a:moveTo>
                  <a:lnTo>
                    <a:pt x="1149" y="609"/>
                  </a:lnTo>
                  <a:lnTo>
                    <a:pt x="1067" y="609"/>
                  </a:lnTo>
                  <a:cubicBezTo>
                    <a:pt x="961" y="609"/>
                    <a:pt x="872" y="692"/>
                    <a:pt x="865" y="798"/>
                  </a:cubicBezTo>
                  <a:lnTo>
                    <a:pt x="863" y="815"/>
                  </a:lnTo>
                  <a:lnTo>
                    <a:pt x="833" y="815"/>
                  </a:lnTo>
                  <a:cubicBezTo>
                    <a:pt x="838" y="861"/>
                    <a:pt x="877" y="897"/>
                    <a:pt x="925" y="897"/>
                  </a:cubicBezTo>
                  <a:lnTo>
                    <a:pt x="943" y="897"/>
                  </a:lnTo>
                  <a:lnTo>
                    <a:pt x="943" y="990"/>
                  </a:lnTo>
                  <a:lnTo>
                    <a:pt x="383" y="990"/>
                  </a:lnTo>
                  <a:lnTo>
                    <a:pt x="383" y="897"/>
                  </a:lnTo>
                  <a:lnTo>
                    <a:pt x="401" y="897"/>
                  </a:lnTo>
                  <a:cubicBezTo>
                    <a:pt x="448" y="897"/>
                    <a:pt x="488" y="861"/>
                    <a:pt x="493" y="815"/>
                  </a:cubicBezTo>
                  <a:lnTo>
                    <a:pt x="462" y="815"/>
                  </a:lnTo>
                  <a:lnTo>
                    <a:pt x="449" y="752"/>
                  </a:lnTo>
                  <a:lnTo>
                    <a:pt x="394" y="752"/>
                  </a:lnTo>
                  <a:cubicBezTo>
                    <a:pt x="198" y="746"/>
                    <a:pt x="74" y="685"/>
                    <a:pt x="14" y="567"/>
                  </a:cubicBezTo>
                  <a:lnTo>
                    <a:pt x="0" y="540"/>
                  </a:lnTo>
                  <a:lnTo>
                    <a:pt x="414" y="540"/>
                  </a:lnTo>
                  <a:lnTo>
                    <a:pt x="414" y="493"/>
                  </a:lnTo>
                  <a:lnTo>
                    <a:pt x="1149" y="493"/>
                  </a:lnTo>
                  <a:close/>
                  <a:moveTo>
                    <a:pt x="442" y="714"/>
                  </a:moveTo>
                  <a:lnTo>
                    <a:pt x="415" y="578"/>
                  </a:lnTo>
                  <a:lnTo>
                    <a:pt x="356" y="578"/>
                  </a:lnTo>
                  <a:lnTo>
                    <a:pt x="356" y="654"/>
                  </a:lnTo>
                  <a:lnTo>
                    <a:pt x="319" y="654"/>
                  </a:lnTo>
                  <a:lnTo>
                    <a:pt x="319" y="578"/>
                  </a:lnTo>
                  <a:lnTo>
                    <a:pt x="63" y="578"/>
                  </a:lnTo>
                  <a:cubicBezTo>
                    <a:pt x="122" y="664"/>
                    <a:pt x="230" y="709"/>
                    <a:pt x="395" y="714"/>
                  </a:cubicBezTo>
                  <a:lnTo>
                    <a:pt x="442" y="714"/>
                  </a:lnTo>
                  <a:close/>
                  <a:moveTo>
                    <a:pt x="795" y="815"/>
                  </a:moveTo>
                  <a:lnTo>
                    <a:pt x="530" y="815"/>
                  </a:lnTo>
                  <a:cubicBezTo>
                    <a:pt x="525" y="876"/>
                    <a:pt x="479" y="924"/>
                    <a:pt x="420" y="933"/>
                  </a:cubicBezTo>
                  <a:lnTo>
                    <a:pt x="420" y="953"/>
                  </a:lnTo>
                  <a:lnTo>
                    <a:pt x="906" y="953"/>
                  </a:lnTo>
                  <a:lnTo>
                    <a:pt x="906" y="933"/>
                  </a:lnTo>
                  <a:cubicBezTo>
                    <a:pt x="847" y="924"/>
                    <a:pt x="800" y="876"/>
                    <a:pt x="795" y="815"/>
                  </a:cubicBezTo>
                  <a:close/>
                  <a:moveTo>
                    <a:pt x="452" y="573"/>
                  </a:moveTo>
                  <a:lnTo>
                    <a:pt x="493" y="778"/>
                  </a:lnTo>
                  <a:lnTo>
                    <a:pt x="829" y="778"/>
                  </a:lnTo>
                  <a:cubicBezTo>
                    <a:pt x="846" y="661"/>
                    <a:pt x="948" y="572"/>
                    <a:pt x="1067" y="572"/>
                  </a:cubicBezTo>
                  <a:lnTo>
                    <a:pt x="1112" y="572"/>
                  </a:lnTo>
                  <a:lnTo>
                    <a:pt x="1112" y="530"/>
                  </a:lnTo>
                  <a:lnTo>
                    <a:pt x="452" y="530"/>
                  </a:lnTo>
                  <a:lnTo>
                    <a:pt x="452" y="573"/>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278" name="Rectangle 390">
              <a:extLst>
                <a:ext uri="{FF2B5EF4-FFF2-40B4-BE49-F238E27FC236}">
                  <a16:creationId xmlns:a16="http://schemas.microsoft.com/office/drawing/2014/main" id="{0EC42B12-5F90-0EBD-EF7E-47B215C420D0}"/>
                </a:ext>
              </a:extLst>
            </p:cNvPr>
            <p:cNvSpPr/>
            <p:nvPr/>
          </p:nvSpPr>
          <p:spPr>
            <a:xfrm>
              <a:off x="4580640" y="3484080"/>
              <a:ext cx="1766160" cy="1305360"/>
            </a:xfrm>
            <a:prstGeom prst="rect">
              <a:avLst/>
            </a:prstGeom>
            <a:noFill/>
            <a:ln w="28575">
              <a:solidFill>
                <a:srgbClr val="BC2AB3"/>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grpSp>
          <p:nvGrpSpPr>
            <p:cNvPr id="279" name="Group 391">
              <a:extLst>
                <a:ext uri="{FF2B5EF4-FFF2-40B4-BE49-F238E27FC236}">
                  <a16:creationId xmlns:a16="http://schemas.microsoft.com/office/drawing/2014/main" id="{395590F3-7562-DC70-4AA8-5BFF44D7E132}"/>
                </a:ext>
              </a:extLst>
            </p:cNvPr>
            <p:cNvGrpSpPr/>
            <p:nvPr/>
          </p:nvGrpSpPr>
          <p:grpSpPr>
            <a:xfrm>
              <a:off x="4712040" y="3577320"/>
              <a:ext cx="792360" cy="494065"/>
              <a:chOff x="4712040" y="3577320"/>
              <a:chExt cx="792360" cy="494065"/>
            </a:xfrm>
          </p:grpSpPr>
          <p:sp>
            <p:nvSpPr>
              <p:cNvPr id="289" name="Shape">
                <a:extLst>
                  <a:ext uri="{FF2B5EF4-FFF2-40B4-BE49-F238E27FC236}">
                    <a16:creationId xmlns:a16="http://schemas.microsoft.com/office/drawing/2014/main" id="{0CBDC935-85B7-F883-1F90-ADDCF9B8F914}"/>
                  </a:ext>
                </a:extLst>
              </p:cNvPr>
              <p:cNvSpPr/>
              <p:nvPr/>
            </p:nvSpPr>
            <p:spPr>
              <a:xfrm>
                <a:off x="5028840" y="3577320"/>
                <a:ext cx="158400" cy="22536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BC2AB3"/>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90" name="TextBox 402">
                <a:extLst>
                  <a:ext uri="{FF2B5EF4-FFF2-40B4-BE49-F238E27FC236}">
                    <a16:creationId xmlns:a16="http://schemas.microsoft.com/office/drawing/2014/main" id="{6F28F8C8-1CFD-D977-B1C5-D822F402CC17}"/>
                  </a:ext>
                </a:extLst>
              </p:cNvPr>
              <p:cNvSpPr/>
              <p:nvPr/>
            </p:nvSpPr>
            <p:spPr>
              <a:xfrm>
                <a:off x="4712040" y="3795840"/>
                <a:ext cx="79236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Implementation</a:t>
                </a:r>
                <a:endParaRPr lang="en-GB" sz="1200" spc="-2">
                  <a:latin typeface="Arial"/>
                </a:endParaRPr>
              </a:p>
              <a:p>
                <a:pPr algn="ctr">
                  <a:tabLst>
                    <a:tab pos="0" algn="l"/>
                  </a:tabLst>
                </a:pPr>
                <a:r>
                  <a:rPr lang="en-GB" sz="1200" spc="-2">
                    <a:solidFill>
                      <a:srgbClr val="000000"/>
                    </a:solidFill>
                    <a:latin typeface="Arial"/>
                    <a:ea typeface="DejaVu Sans"/>
                  </a:rPr>
                  <a:t>Workbook</a:t>
                </a:r>
                <a:endParaRPr lang="en-GB" sz="1200" spc="-2">
                  <a:latin typeface="Arial"/>
                </a:endParaRPr>
              </a:p>
            </p:txBody>
          </p:sp>
        </p:grpSp>
        <p:grpSp>
          <p:nvGrpSpPr>
            <p:cNvPr id="280" name="Group 392">
              <a:extLst>
                <a:ext uri="{FF2B5EF4-FFF2-40B4-BE49-F238E27FC236}">
                  <a16:creationId xmlns:a16="http://schemas.microsoft.com/office/drawing/2014/main" id="{0F3BCF36-643C-969B-A636-A3DEEF0F9776}"/>
                </a:ext>
              </a:extLst>
            </p:cNvPr>
            <p:cNvGrpSpPr/>
            <p:nvPr/>
          </p:nvGrpSpPr>
          <p:grpSpPr>
            <a:xfrm>
              <a:off x="4775040" y="4152240"/>
              <a:ext cx="665640" cy="549145"/>
              <a:chOff x="4775040" y="4152240"/>
              <a:chExt cx="665640" cy="549145"/>
            </a:xfrm>
          </p:grpSpPr>
          <p:sp>
            <p:nvSpPr>
              <p:cNvPr id="287" name="Shape">
                <a:extLst>
                  <a:ext uri="{FF2B5EF4-FFF2-40B4-BE49-F238E27FC236}">
                    <a16:creationId xmlns:a16="http://schemas.microsoft.com/office/drawing/2014/main" id="{2B6F9DA1-5B65-39BE-7B90-5B4EAD7F357C}"/>
                  </a:ext>
                </a:extLst>
              </p:cNvPr>
              <p:cNvSpPr/>
              <p:nvPr/>
            </p:nvSpPr>
            <p:spPr>
              <a:xfrm>
                <a:off x="4961160" y="4152240"/>
                <a:ext cx="293400" cy="275040"/>
              </a:xfrm>
              <a:custGeom>
                <a:avLst/>
                <a:gdLst/>
                <a:ahLst/>
                <a:cxnLst/>
                <a:rect l="l" t="t" r="r" b="b"/>
                <a:pathLst>
                  <a:path w="21600" h="21600">
                    <a:moveTo>
                      <a:pt x="9635" y="13440"/>
                    </a:moveTo>
                    <a:cubicBezTo>
                      <a:pt x="9751" y="13517"/>
                      <a:pt x="9866" y="13575"/>
                      <a:pt x="9998" y="13633"/>
                    </a:cubicBezTo>
                    <a:lnTo>
                      <a:pt x="10114" y="14329"/>
                    </a:lnTo>
                    <a:lnTo>
                      <a:pt x="10412" y="14445"/>
                    </a:lnTo>
                    <a:cubicBezTo>
                      <a:pt x="10527" y="14484"/>
                      <a:pt x="10643" y="14503"/>
                      <a:pt x="10792" y="14503"/>
                    </a:cubicBezTo>
                    <a:cubicBezTo>
                      <a:pt x="10957" y="14503"/>
                      <a:pt x="11073" y="14484"/>
                      <a:pt x="11172" y="14445"/>
                    </a:cubicBezTo>
                    <a:lnTo>
                      <a:pt x="11486" y="14310"/>
                    </a:lnTo>
                    <a:lnTo>
                      <a:pt x="11568" y="13633"/>
                    </a:lnTo>
                    <a:cubicBezTo>
                      <a:pt x="11701" y="13594"/>
                      <a:pt x="11816" y="13536"/>
                      <a:pt x="11949" y="13459"/>
                    </a:cubicBezTo>
                    <a:lnTo>
                      <a:pt x="12444" y="13846"/>
                    </a:lnTo>
                    <a:lnTo>
                      <a:pt x="12725" y="13691"/>
                    </a:lnTo>
                    <a:cubicBezTo>
                      <a:pt x="12824" y="13633"/>
                      <a:pt x="12924" y="13556"/>
                      <a:pt x="13039" y="13420"/>
                    </a:cubicBezTo>
                    <a:cubicBezTo>
                      <a:pt x="13138" y="13285"/>
                      <a:pt x="13221" y="13169"/>
                      <a:pt x="13271" y="13072"/>
                    </a:cubicBezTo>
                    <a:lnTo>
                      <a:pt x="13419" y="12724"/>
                    </a:lnTo>
                    <a:lnTo>
                      <a:pt x="13056" y="12163"/>
                    </a:lnTo>
                    <a:cubicBezTo>
                      <a:pt x="13122" y="12028"/>
                      <a:pt x="13172" y="11873"/>
                      <a:pt x="13221" y="11738"/>
                    </a:cubicBezTo>
                    <a:lnTo>
                      <a:pt x="13816" y="11583"/>
                    </a:lnTo>
                    <a:lnTo>
                      <a:pt x="13915" y="11235"/>
                    </a:lnTo>
                    <a:cubicBezTo>
                      <a:pt x="13948" y="11119"/>
                      <a:pt x="13965" y="10984"/>
                      <a:pt x="13965" y="10790"/>
                    </a:cubicBezTo>
                    <a:cubicBezTo>
                      <a:pt x="13965" y="10616"/>
                      <a:pt x="13948" y="10462"/>
                      <a:pt x="13915" y="10346"/>
                    </a:cubicBezTo>
                    <a:lnTo>
                      <a:pt x="13800" y="9997"/>
                    </a:lnTo>
                    <a:lnTo>
                      <a:pt x="13221" y="9881"/>
                    </a:lnTo>
                    <a:cubicBezTo>
                      <a:pt x="13188" y="9746"/>
                      <a:pt x="13122" y="9591"/>
                      <a:pt x="13072" y="9456"/>
                    </a:cubicBezTo>
                    <a:lnTo>
                      <a:pt x="13403" y="8857"/>
                    </a:lnTo>
                    <a:lnTo>
                      <a:pt x="13271" y="8528"/>
                    </a:lnTo>
                    <a:cubicBezTo>
                      <a:pt x="13221" y="8412"/>
                      <a:pt x="13155" y="8315"/>
                      <a:pt x="13039" y="8180"/>
                    </a:cubicBezTo>
                    <a:cubicBezTo>
                      <a:pt x="12924" y="8044"/>
                      <a:pt x="12824" y="7967"/>
                      <a:pt x="12725" y="7909"/>
                    </a:cubicBezTo>
                    <a:lnTo>
                      <a:pt x="12444" y="7735"/>
                    </a:lnTo>
                    <a:lnTo>
                      <a:pt x="11965" y="8141"/>
                    </a:lnTo>
                    <a:cubicBezTo>
                      <a:pt x="11849" y="8083"/>
                      <a:pt x="11717" y="8025"/>
                      <a:pt x="11602" y="7967"/>
                    </a:cubicBezTo>
                    <a:lnTo>
                      <a:pt x="11469" y="7271"/>
                    </a:lnTo>
                    <a:lnTo>
                      <a:pt x="11172" y="7155"/>
                    </a:lnTo>
                    <a:cubicBezTo>
                      <a:pt x="11073" y="7116"/>
                      <a:pt x="10957" y="7097"/>
                      <a:pt x="10792" y="7097"/>
                    </a:cubicBezTo>
                    <a:cubicBezTo>
                      <a:pt x="10643" y="7097"/>
                      <a:pt x="10511" y="7116"/>
                      <a:pt x="10412" y="7155"/>
                    </a:cubicBezTo>
                    <a:lnTo>
                      <a:pt x="10114" y="7271"/>
                    </a:lnTo>
                    <a:lnTo>
                      <a:pt x="10015" y="7967"/>
                    </a:lnTo>
                    <a:cubicBezTo>
                      <a:pt x="9899" y="8006"/>
                      <a:pt x="9767" y="8064"/>
                      <a:pt x="9651" y="8141"/>
                    </a:cubicBezTo>
                    <a:lnTo>
                      <a:pt x="9139" y="7754"/>
                    </a:lnTo>
                    <a:lnTo>
                      <a:pt x="8858" y="7909"/>
                    </a:lnTo>
                    <a:cubicBezTo>
                      <a:pt x="8759" y="7967"/>
                      <a:pt x="8676" y="8044"/>
                      <a:pt x="8561" y="8180"/>
                    </a:cubicBezTo>
                    <a:cubicBezTo>
                      <a:pt x="8445" y="8296"/>
                      <a:pt x="8379" y="8412"/>
                      <a:pt x="8329" y="8528"/>
                    </a:cubicBezTo>
                    <a:lnTo>
                      <a:pt x="8181" y="8876"/>
                    </a:lnTo>
                    <a:lnTo>
                      <a:pt x="8528" y="9437"/>
                    </a:lnTo>
                    <a:cubicBezTo>
                      <a:pt x="8478" y="9572"/>
                      <a:pt x="8428" y="9707"/>
                      <a:pt x="8379" y="9862"/>
                    </a:cubicBezTo>
                    <a:lnTo>
                      <a:pt x="7784" y="9997"/>
                    </a:lnTo>
                    <a:lnTo>
                      <a:pt x="7685" y="10346"/>
                    </a:lnTo>
                    <a:cubicBezTo>
                      <a:pt x="7652" y="10462"/>
                      <a:pt x="7635" y="10616"/>
                      <a:pt x="7635" y="10790"/>
                    </a:cubicBezTo>
                    <a:cubicBezTo>
                      <a:pt x="7635" y="10984"/>
                      <a:pt x="7652" y="11119"/>
                      <a:pt x="7685" y="11235"/>
                    </a:cubicBezTo>
                    <a:lnTo>
                      <a:pt x="7784" y="11603"/>
                    </a:lnTo>
                    <a:lnTo>
                      <a:pt x="8379" y="11699"/>
                    </a:lnTo>
                    <a:cubicBezTo>
                      <a:pt x="8412" y="11854"/>
                      <a:pt x="8462" y="11989"/>
                      <a:pt x="8528" y="12144"/>
                    </a:cubicBezTo>
                    <a:lnTo>
                      <a:pt x="8181" y="12724"/>
                    </a:lnTo>
                    <a:lnTo>
                      <a:pt x="8329" y="13072"/>
                    </a:lnTo>
                    <a:cubicBezTo>
                      <a:pt x="8379" y="13169"/>
                      <a:pt x="8445" y="13285"/>
                      <a:pt x="8561" y="13420"/>
                    </a:cubicBezTo>
                    <a:cubicBezTo>
                      <a:pt x="8676" y="13556"/>
                      <a:pt x="8759" y="13633"/>
                      <a:pt x="8858" y="13691"/>
                    </a:cubicBezTo>
                    <a:lnTo>
                      <a:pt x="9156" y="13846"/>
                    </a:lnTo>
                    <a:lnTo>
                      <a:pt x="9635" y="13440"/>
                    </a:lnTo>
                    <a:close/>
                    <a:moveTo>
                      <a:pt x="9090" y="13130"/>
                    </a:moveTo>
                    <a:cubicBezTo>
                      <a:pt x="9056" y="13111"/>
                      <a:pt x="9023" y="13072"/>
                      <a:pt x="8924" y="12975"/>
                    </a:cubicBezTo>
                    <a:cubicBezTo>
                      <a:pt x="8858" y="12898"/>
                      <a:pt x="8825" y="12840"/>
                      <a:pt x="8809" y="12801"/>
                    </a:cubicBezTo>
                    <a:lnTo>
                      <a:pt x="8792" y="12782"/>
                    </a:lnTo>
                    <a:lnTo>
                      <a:pt x="9139" y="12183"/>
                    </a:lnTo>
                    <a:lnTo>
                      <a:pt x="9007" y="11893"/>
                    </a:lnTo>
                    <a:cubicBezTo>
                      <a:pt x="8957" y="11757"/>
                      <a:pt x="8908" y="11622"/>
                      <a:pt x="8875" y="11486"/>
                    </a:cubicBezTo>
                    <a:lnTo>
                      <a:pt x="8776" y="11158"/>
                    </a:lnTo>
                    <a:lnTo>
                      <a:pt x="8181" y="11042"/>
                    </a:lnTo>
                    <a:cubicBezTo>
                      <a:pt x="8164" y="11003"/>
                      <a:pt x="8164" y="10945"/>
                      <a:pt x="8164" y="10790"/>
                    </a:cubicBezTo>
                    <a:cubicBezTo>
                      <a:pt x="8164" y="10655"/>
                      <a:pt x="8164" y="10597"/>
                      <a:pt x="8181" y="10558"/>
                    </a:cubicBezTo>
                    <a:lnTo>
                      <a:pt x="8792" y="10404"/>
                    </a:lnTo>
                    <a:lnTo>
                      <a:pt x="8875" y="10094"/>
                    </a:lnTo>
                    <a:cubicBezTo>
                      <a:pt x="8908" y="9959"/>
                      <a:pt x="8957" y="9823"/>
                      <a:pt x="9023" y="9688"/>
                    </a:cubicBezTo>
                    <a:lnTo>
                      <a:pt x="9156" y="9379"/>
                    </a:lnTo>
                    <a:lnTo>
                      <a:pt x="8792" y="8818"/>
                    </a:lnTo>
                    <a:lnTo>
                      <a:pt x="8809" y="8799"/>
                    </a:lnTo>
                    <a:cubicBezTo>
                      <a:pt x="8809" y="8779"/>
                      <a:pt x="8842" y="8721"/>
                      <a:pt x="8924" y="8625"/>
                    </a:cubicBezTo>
                    <a:cubicBezTo>
                      <a:pt x="8990" y="8528"/>
                      <a:pt x="9056" y="8489"/>
                      <a:pt x="9090" y="8470"/>
                    </a:cubicBezTo>
                    <a:lnTo>
                      <a:pt x="9106" y="8450"/>
                    </a:lnTo>
                    <a:lnTo>
                      <a:pt x="9618" y="8857"/>
                    </a:lnTo>
                    <a:lnTo>
                      <a:pt x="9866" y="8702"/>
                    </a:lnTo>
                    <a:cubicBezTo>
                      <a:pt x="9982" y="8644"/>
                      <a:pt x="10098" y="8586"/>
                      <a:pt x="10213" y="8547"/>
                    </a:cubicBezTo>
                    <a:lnTo>
                      <a:pt x="10494" y="8431"/>
                    </a:lnTo>
                    <a:lnTo>
                      <a:pt x="10577" y="7735"/>
                    </a:lnTo>
                    <a:lnTo>
                      <a:pt x="10593" y="7735"/>
                    </a:lnTo>
                    <a:cubicBezTo>
                      <a:pt x="10626" y="7716"/>
                      <a:pt x="10709" y="7716"/>
                      <a:pt x="10792" y="7716"/>
                    </a:cubicBezTo>
                    <a:cubicBezTo>
                      <a:pt x="10924" y="7716"/>
                      <a:pt x="10974" y="7735"/>
                      <a:pt x="11007" y="7735"/>
                    </a:cubicBezTo>
                    <a:lnTo>
                      <a:pt x="11139" y="8450"/>
                    </a:lnTo>
                    <a:lnTo>
                      <a:pt x="11403" y="8547"/>
                    </a:lnTo>
                    <a:cubicBezTo>
                      <a:pt x="11519" y="8586"/>
                      <a:pt x="11635" y="8644"/>
                      <a:pt x="11750" y="8721"/>
                    </a:cubicBezTo>
                    <a:lnTo>
                      <a:pt x="11998" y="8876"/>
                    </a:lnTo>
                    <a:lnTo>
                      <a:pt x="12494" y="8450"/>
                    </a:lnTo>
                    <a:lnTo>
                      <a:pt x="12494" y="8470"/>
                    </a:lnTo>
                    <a:cubicBezTo>
                      <a:pt x="12527" y="8470"/>
                      <a:pt x="12577" y="8509"/>
                      <a:pt x="12659" y="8625"/>
                    </a:cubicBezTo>
                    <a:cubicBezTo>
                      <a:pt x="12758" y="8721"/>
                      <a:pt x="12775" y="8779"/>
                      <a:pt x="12791" y="8799"/>
                    </a:cubicBezTo>
                    <a:lnTo>
                      <a:pt x="12791" y="8818"/>
                    </a:lnTo>
                    <a:lnTo>
                      <a:pt x="12461" y="9417"/>
                    </a:lnTo>
                    <a:lnTo>
                      <a:pt x="12593" y="9707"/>
                    </a:lnTo>
                    <a:cubicBezTo>
                      <a:pt x="12643" y="9843"/>
                      <a:pt x="12692" y="9978"/>
                      <a:pt x="12725" y="10114"/>
                    </a:cubicBezTo>
                    <a:lnTo>
                      <a:pt x="12808" y="10442"/>
                    </a:lnTo>
                    <a:lnTo>
                      <a:pt x="13419" y="10558"/>
                    </a:lnTo>
                    <a:cubicBezTo>
                      <a:pt x="13419" y="10578"/>
                      <a:pt x="13436" y="10655"/>
                      <a:pt x="13436" y="10790"/>
                    </a:cubicBezTo>
                    <a:cubicBezTo>
                      <a:pt x="13436" y="10926"/>
                      <a:pt x="13419" y="11003"/>
                      <a:pt x="13419" y="11042"/>
                    </a:cubicBezTo>
                    <a:lnTo>
                      <a:pt x="12808" y="11196"/>
                    </a:lnTo>
                    <a:lnTo>
                      <a:pt x="12725" y="11506"/>
                    </a:lnTo>
                    <a:cubicBezTo>
                      <a:pt x="12676" y="11641"/>
                      <a:pt x="12626" y="11777"/>
                      <a:pt x="12577" y="11912"/>
                    </a:cubicBezTo>
                    <a:lnTo>
                      <a:pt x="12444" y="12202"/>
                    </a:lnTo>
                    <a:lnTo>
                      <a:pt x="12791" y="12782"/>
                    </a:lnTo>
                    <a:lnTo>
                      <a:pt x="12791" y="12801"/>
                    </a:lnTo>
                    <a:cubicBezTo>
                      <a:pt x="12791" y="12821"/>
                      <a:pt x="12758" y="12879"/>
                      <a:pt x="12659" y="12975"/>
                    </a:cubicBezTo>
                    <a:cubicBezTo>
                      <a:pt x="12593" y="13053"/>
                      <a:pt x="12544" y="13111"/>
                      <a:pt x="12510" y="13130"/>
                    </a:cubicBezTo>
                    <a:lnTo>
                      <a:pt x="12494" y="13150"/>
                    </a:lnTo>
                    <a:lnTo>
                      <a:pt x="11982" y="12743"/>
                    </a:lnTo>
                    <a:lnTo>
                      <a:pt x="11734" y="12898"/>
                    </a:lnTo>
                    <a:cubicBezTo>
                      <a:pt x="11618" y="12956"/>
                      <a:pt x="11502" y="13014"/>
                      <a:pt x="11387" y="13053"/>
                    </a:cubicBezTo>
                    <a:lnTo>
                      <a:pt x="11106" y="13150"/>
                    </a:lnTo>
                    <a:lnTo>
                      <a:pt x="11007" y="13865"/>
                    </a:lnTo>
                    <a:cubicBezTo>
                      <a:pt x="10974" y="13865"/>
                      <a:pt x="10924" y="13884"/>
                      <a:pt x="10792" y="13884"/>
                    </a:cubicBezTo>
                    <a:cubicBezTo>
                      <a:pt x="10709" y="13884"/>
                      <a:pt x="10626" y="13884"/>
                      <a:pt x="10593" y="13865"/>
                    </a:cubicBezTo>
                    <a:lnTo>
                      <a:pt x="10577" y="13846"/>
                    </a:lnTo>
                    <a:lnTo>
                      <a:pt x="10461" y="13150"/>
                    </a:lnTo>
                    <a:lnTo>
                      <a:pt x="10197" y="13053"/>
                    </a:lnTo>
                    <a:cubicBezTo>
                      <a:pt x="10065" y="13014"/>
                      <a:pt x="9949" y="12956"/>
                      <a:pt x="9850" y="12879"/>
                    </a:cubicBezTo>
                    <a:lnTo>
                      <a:pt x="9585" y="12724"/>
                    </a:lnTo>
                    <a:lnTo>
                      <a:pt x="9090" y="13130"/>
                    </a:lnTo>
                    <a:close/>
                    <a:moveTo>
                      <a:pt x="10792" y="12028"/>
                    </a:moveTo>
                    <a:cubicBezTo>
                      <a:pt x="11387" y="12028"/>
                      <a:pt x="11849" y="11486"/>
                      <a:pt x="11849" y="10790"/>
                    </a:cubicBezTo>
                    <a:cubicBezTo>
                      <a:pt x="11849" y="10114"/>
                      <a:pt x="11370" y="9572"/>
                      <a:pt x="10792" y="9572"/>
                    </a:cubicBezTo>
                    <a:cubicBezTo>
                      <a:pt x="10511" y="9572"/>
                      <a:pt x="10246" y="9688"/>
                      <a:pt x="10048" y="9920"/>
                    </a:cubicBezTo>
                    <a:cubicBezTo>
                      <a:pt x="9850" y="10152"/>
                      <a:pt x="9734" y="10462"/>
                      <a:pt x="9734" y="10790"/>
                    </a:cubicBezTo>
                    <a:cubicBezTo>
                      <a:pt x="9734" y="11486"/>
                      <a:pt x="10213" y="12028"/>
                      <a:pt x="10792" y="12028"/>
                    </a:cubicBezTo>
                    <a:close/>
                    <a:moveTo>
                      <a:pt x="10428" y="10365"/>
                    </a:moveTo>
                    <a:cubicBezTo>
                      <a:pt x="10527" y="10249"/>
                      <a:pt x="10660" y="10172"/>
                      <a:pt x="10792" y="10172"/>
                    </a:cubicBezTo>
                    <a:cubicBezTo>
                      <a:pt x="11089" y="10172"/>
                      <a:pt x="11321" y="10462"/>
                      <a:pt x="11321" y="10790"/>
                    </a:cubicBezTo>
                    <a:cubicBezTo>
                      <a:pt x="11321" y="11138"/>
                      <a:pt x="11089" y="11409"/>
                      <a:pt x="10792" y="11409"/>
                    </a:cubicBezTo>
                    <a:cubicBezTo>
                      <a:pt x="10511" y="11409"/>
                      <a:pt x="10263" y="11138"/>
                      <a:pt x="10263" y="10790"/>
                    </a:cubicBezTo>
                    <a:cubicBezTo>
                      <a:pt x="10263" y="10636"/>
                      <a:pt x="10329" y="10481"/>
                      <a:pt x="10428" y="10365"/>
                    </a:cubicBezTo>
                    <a:close/>
                    <a:moveTo>
                      <a:pt x="2281" y="8683"/>
                    </a:moveTo>
                    <a:lnTo>
                      <a:pt x="1752" y="8547"/>
                    </a:lnTo>
                    <a:cubicBezTo>
                      <a:pt x="2661" y="3597"/>
                      <a:pt x="6462" y="0"/>
                      <a:pt x="10792" y="0"/>
                    </a:cubicBezTo>
                    <a:cubicBezTo>
                      <a:pt x="15882" y="0"/>
                      <a:pt x="20030" y="4834"/>
                      <a:pt x="20030" y="10790"/>
                    </a:cubicBezTo>
                    <a:lnTo>
                      <a:pt x="20030" y="10906"/>
                    </a:lnTo>
                    <a:lnTo>
                      <a:pt x="21220" y="9495"/>
                    </a:lnTo>
                    <a:lnTo>
                      <a:pt x="21600" y="9920"/>
                    </a:lnTo>
                    <a:lnTo>
                      <a:pt x="19782" y="12086"/>
                    </a:lnTo>
                    <a:lnTo>
                      <a:pt x="17931" y="9959"/>
                    </a:lnTo>
                    <a:lnTo>
                      <a:pt x="18295" y="9533"/>
                    </a:lnTo>
                    <a:lnTo>
                      <a:pt x="19501" y="10906"/>
                    </a:lnTo>
                    <a:lnTo>
                      <a:pt x="19501" y="10790"/>
                    </a:lnTo>
                    <a:cubicBezTo>
                      <a:pt x="19501" y="5182"/>
                      <a:pt x="15601" y="599"/>
                      <a:pt x="10792" y="599"/>
                    </a:cubicBezTo>
                    <a:cubicBezTo>
                      <a:pt x="6710" y="599"/>
                      <a:pt x="3123" y="4003"/>
                      <a:pt x="2281" y="8683"/>
                    </a:cubicBezTo>
                    <a:close/>
                    <a:moveTo>
                      <a:pt x="19319" y="12917"/>
                    </a:moveTo>
                    <a:lnTo>
                      <a:pt x="19832" y="13053"/>
                    </a:lnTo>
                    <a:cubicBezTo>
                      <a:pt x="18939" y="18003"/>
                      <a:pt x="15138" y="21600"/>
                      <a:pt x="10792" y="21600"/>
                    </a:cubicBezTo>
                    <a:cubicBezTo>
                      <a:pt x="5702" y="21600"/>
                      <a:pt x="1553" y="16766"/>
                      <a:pt x="1553" y="10790"/>
                    </a:cubicBezTo>
                    <a:lnTo>
                      <a:pt x="1553" y="10694"/>
                    </a:lnTo>
                    <a:lnTo>
                      <a:pt x="380" y="12105"/>
                    </a:lnTo>
                    <a:lnTo>
                      <a:pt x="0" y="11680"/>
                    </a:lnTo>
                    <a:lnTo>
                      <a:pt x="1818" y="9514"/>
                    </a:lnTo>
                    <a:lnTo>
                      <a:pt x="3669" y="11622"/>
                    </a:lnTo>
                    <a:lnTo>
                      <a:pt x="3305" y="12067"/>
                    </a:lnTo>
                    <a:lnTo>
                      <a:pt x="2082" y="10674"/>
                    </a:lnTo>
                    <a:lnTo>
                      <a:pt x="2082" y="10790"/>
                    </a:lnTo>
                    <a:cubicBezTo>
                      <a:pt x="2082" y="16418"/>
                      <a:pt x="5999" y="20981"/>
                      <a:pt x="10792" y="20981"/>
                    </a:cubicBezTo>
                    <a:cubicBezTo>
                      <a:pt x="14890" y="20981"/>
                      <a:pt x="18477" y="17597"/>
                      <a:pt x="19319" y="12917"/>
                    </a:cubicBezTo>
                    <a:close/>
                    <a:moveTo>
                      <a:pt x="10792" y="17288"/>
                    </a:moveTo>
                    <a:lnTo>
                      <a:pt x="10643" y="17288"/>
                    </a:lnTo>
                    <a:lnTo>
                      <a:pt x="11585" y="18390"/>
                    </a:lnTo>
                    <a:lnTo>
                      <a:pt x="11221" y="18835"/>
                    </a:lnTo>
                    <a:lnTo>
                      <a:pt x="9635" y="16978"/>
                    </a:lnTo>
                    <a:lnTo>
                      <a:pt x="11221" y="15122"/>
                    </a:lnTo>
                    <a:lnTo>
                      <a:pt x="11585" y="15567"/>
                    </a:lnTo>
                    <a:lnTo>
                      <a:pt x="10643" y="16669"/>
                    </a:lnTo>
                    <a:lnTo>
                      <a:pt x="10792" y="16669"/>
                    </a:lnTo>
                    <a:cubicBezTo>
                      <a:pt x="13568" y="16669"/>
                      <a:pt x="15816" y="14039"/>
                      <a:pt x="15816" y="10790"/>
                    </a:cubicBezTo>
                    <a:cubicBezTo>
                      <a:pt x="15816" y="8373"/>
                      <a:pt x="14560" y="6227"/>
                      <a:pt x="12643" y="5337"/>
                    </a:cubicBezTo>
                    <a:lnTo>
                      <a:pt x="12824" y="4757"/>
                    </a:lnTo>
                    <a:cubicBezTo>
                      <a:pt x="14956" y="5743"/>
                      <a:pt x="16345" y="8122"/>
                      <a:pt x="16345" y="10790"/>
                    </a:cubicBezTo>
                    <a:cubicBezTo>
                      <a:pt x="16345" y="14368"/>
                      <a:pt x="13849" y="17288"/>
                      <a:pt x="10792" y="17288"/>
                    </a:cubicBezTo>
                    <a:close/>
                    <a:moveTo>
                      <a:pt x="10792" y="4312"/>
                    </a:moveTo>
                    <a:lnTo>
                      <a:pt x="10957" y="4312"/>
                    </a:lnTo>
                    <a:lnTo>
                      <a:pt x="9998" y="3210"/>
                    </a:lnTo>
                    <a:lnTo>
                      <a:pt x="10379" y="2765"/>
                    </a:lnTo>
                    <a:lnTo>
                      <a:pt x="11965" y="4622"/>
                    </a:lnTo>
                    <a:lnTo>
                      <a:pt x="10379" y="6478"/>
                    </a:lnTo>
                    <a:lnTo>
                      <a:pt x="9998" y="6033"/>
                    </a:lnTo>
                    <a:lnTo>
                      <a:pt x="10957" y="4931"/>
                    </a:lnTo>
                    <a:lnTo>
                      <a:pt x="10792" y="4931"/>
                    </a:lnTo>
                    <a:cubicBezTo>
                      <a:pt x="8032" y="4931"/>
                      <a:pt x="5784" y="7561"/>
                      <a:pt x="5784" y="10790"/>
                    </a:cubicBezTo>
                    <a:cubicBezTo>
                      <a:pt x="5784" y="13227"/>
                      <a:pt x="7024" y="15373"/>
                      <a:pt x="8957" y="16263"/>
                    </a:cubicBezTo>
                    <a:lnTo>
                      <a:pt x="8759" y="16824"/>
                    </a:lnTo>
                    <a:cubicBezTo>
                      <a:pt x="6627" y="15857"/>
                      <a:pt x="5255" y="13478"/>
                      <a:pt x="5255" y="10790"/>
                    </a:cubicBezTo>
                    <a:cubicBezTo>
                      <a:pt x="5255" y="7213"/>
                      <a:pt x="7734" y="4312"/>
                      <a:pt x="10792" y="4312"/>
                    </a:cubicBezTo>
                    <a:close/>
                  </a:path>
                </a:pathLst>
              </a:custGeom>
              <a:solidFill>
                <a:srgbClr val="BC2AB3"/>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88" name="TextBox 400">
                <a:extLst>
                  <a:ext uri="{FF2B5EF4-FFF2-40B4-BE49-F238E27FC236}">
                    <a16:creationId xmlns:a16="http://schemas.microsoft.com/office/drawing/2014/main" id="{D565D368-D374-D773-784F-1C1D93B94CEB}"/>
                  </a:ext>
                </a:extLst>
              </p:cNvPr>
              <p:cNvSpPr/>
              <p:nvPr/>
            </p:nvSpPr>
            <p:spPr>
              <a:xfrm>
                <a:off x="4775040" y="4425840"/>
                <a:ext cx="66564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Environment Build</a:t>
                </a:r>
                <a:endParaRPr lang="en-GB" sz="1200" spc="-2">
                  <a:latin typeface="Arial"/>
                </a:endParaRPr>
              </a:p>
            </p:txBody>
          </p:sp>
        </p:grpSp>
        <p:grpSp>
          <p:nvGrpSpPr>
            <p:cNvPr id="281" name="Group 393">
              <a:extLst>
                <a:ext uri="{FF2B5EF4-FFF2-40B4-BE49-F238E27FC236}">
                  <a16:creationId xmlns:a16="http://schemas.microsoft.com/office/drawing/2014/main" id="{B8DCEBEE-1FD5-6F4A-6C50-0D9B7492BE81}"/>
                </a:ext>
              </a:extLst>
            </p:cNvPr>
            <p:cNvGrpSpPr/>
            <p:nvPr/>
          </p:nvGrpSpPr>
          <p:grpSpPr>
            <a:xfrm>
              <a:off x="5423760" y="3577320"/>
              <a:ext cx="792360" cy="494065"/>
              <a:chOff x="5423760" y="3577320"/>
              <a:chExt cx="792360" cy="494065"/>
            </a:xfrm>
          </p:grpSpPr>
          <p:sp>
            <p:nvSpPr>
              <p:cNvPr id="285" name="Shape">
                <a:extLst>
                  <a:ext uri="{FF2B5EF4-FFF2-40B4-BE49-F238E27FC236}">
                    <a16:creationId xmlns:a16="http://schemas.microsoft.com/office/drawing/2014/main" id="{82FBD1BA-61DA-9958-9899-9EB2BE9AE573}"/>
                  </a:ext>
                </a:extLst>
              </p:cNvPr>
              <p:cNvSpPr/>
              <p:nvPr/>
            </p:nvSpPr>
            <p:spPr>
              <a:xfrm>
                <a:off x="5740920" y="3577320"/>
                <a:ext cx="158400" cy="22536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BC2AB3"/>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86" name="TextBox 398">
                <a:extLst>
                  <a:ext uri="{FF2B5EF4-FFF2-40B4-BE49-F238E27FC236}">
                    <a16:creationId xmlns:a16="http://schemas.microsoft.com/office/drawing/2014/main" id="{00EC8D45-A4A7-4BB0-8716-4180803B733D}"/>
                  </a:ext>
                </a:extLst>
              </p:cNvPr>
              <p:cNvSpPr/>
              <p:nvPr/>
            </p:nvSpPr>
            <p:spPr>
              <a:xfrm>
                <a:off x="5423760" y="3795840"/>
                <a:ext cx="79236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Operational Runbook</a:t>
                </a:r>
                <a:endParaRPr lang="en-GB" sz="1200" spc="-2">
                  <a:latin typeface="Arial"/>
                </a:endParaRPr>
              </a:p>
            </p:txBody>
          </p:sp>
        </p:grpSp>
        <p:grpSp>
          <p:nvGrpSpPr>
            <p:cNvPr id="282" name="Group 394">
              <a:extLst>
                <a:ext uri="{FF2B5EF4-FFF2-40B4-BE49-F238E27FC236}">
                  <a16:creationId xmlns:a16="http://schemas.microsoft.com/office/drawing/2014/main" id="{40349C12-B92B-9103-DBC0-1B2945CDFD3C}"/>
                </a:ext>
              </a:extLst>
            </p:cNvPr>
            <p:cNvGrpSpPr/>
            <p:nvPr/>
          </p:nvGrpSpPr>
          <p:grpSpPr>
            <a:xfrm>
              <a:off x="5423760" y="4198320"/>
              <a:ext cx="792360" cy="504865"/>
              <a:chOff x="5423760" y="4198320"/>
              <a:chExt cx="792360" cy="504865"/>
            </a:xfrm>
          </p:grpSpPr>
          <p:sp>
            <p:nvSpPr>
              <p:cNvPr id="283" name="Shape">
                <a:extLst>
                  <a:ext uri="{FF2B5EF4-FFF2-40B4-BE49-F238E27FC236}">
                    <a16:creationId xmlns:a16="http://schemas.microsoft.com/office/drawing/2014/main" id="{046AAE6B-F113-3529-5F2D-C208A324CDDE}"/>
                  </a:ext>
                </a:extLst>
              </p:cNvPr>
              <p:cNvSpPr/>
              <p:nvPr/>
            </p:nvSpPr>
            <p:spPr>
              <a:xfrm>
                <a:off x="5706720" y="4198320"/>
                <a:ext cx="226800" cy="225000"/>
              </a:xfrm>
              <a:custGeom>
                <a:avLst/>
                <a:gdLst/>
                <a:ahLst/>
                <a:cxnLst/>
                <a:rect l="l" t="t" r="r" b="b"/>
                <a:pathLst>
                  <a:path w="21600" h="21600">
                    <a:moveTo>
                      <a:pt x="21600" y="4499"/>
                    </a:moveTo>
                    <a:cubicBezTo>
                      <a:pt x="21600" y="2326"/>
                      <a:pt x="17811" y="0"/>
                      <a:pt x="10812" y="0"/>
                    </a:cubicBezTo>
                    <a:cubicBezTo>
                      <a:pt x="3789" y="0"/>
                      <a:pt x="0" y="2326"/>
                      <a:pt x="0" y="4499"/>
                    </a:cubicBezTo>
                    <a:cubicBezTo>
                      <a:pt x="0" y="6263"/>
                      <a:pt x="2518" y="8129"/>
                      <a:pt x="7254" y="8768"/>
                    </a:cubicBezTo>
                    <a:lnTo>
                      <a:pt x="7254" y="11477"/>
                    </a:lnTo>
                    <a:lnTo>
                      <a:pt x="3396" y="11477"/>
                    </a:lnTo>
                    <a:lnTo>
                      <a:pt x="7739" y="15491"/>
                    </a:lnTo>
                    <a:lnTo>
                      <a:pt x="2079" y="15491"/>
                    </a:lnTo>
                    <a:lnTo>
                      <a:pt x="2079" y="21600"/>
                    </a:lnTo>
                    <a:lnTo>
                      <a:pt x="19521" y="21600"/>
                    </a:lnTo>
                    <a:lnTo>
                      <a:pt x="19521" y="15491"/>
                    </a:lnTo>
                    <a:lnTo>
                      <a:pt x="13861" y="15491"/>
                    </a:lnTo>
                    <a:lnTo>
                      <a:pt x="18204" y="11477"/>
                    </a:lnTo>
                    <a:lnTo>
                      <a:pt x="14346" y="11477"/>
                    </a:lnTo>
                    <a:lnTo>
                      <a:pt x="14346" y="8768"/>
                    </a:lnTo>
                    <a:cubicBezTo>
                      <a:pt x="19082" y="8129"/>
                      <a:pt x="21600" y="6263"/>
                      <a:pt x="21600" y="4499"/>
                    </a:cubicBezTo>
                    <a:close/>
                    <a:moveTo>
                      <a:pt x="878" y="4499"/>
                    </a:moveTo>
                    <a:cubicBezTo>
                      <a:pt x="878" y="2812"/>
                      <a:pt x="4944" y="971"/>
                      <a:pt x="10812" y="971"/>
                    </a:cubicBezTo>
                    <a:cubicBezTo>
                      <a:pt x="16656" y="971"/>
                      <a:pt x="20745" y="2812"/>
                      <a:pt x="20745" y="4499"/>
                    </a:cubicBezTo>
                    <a:cubicBezTo>
                      <a:pt x="20745" y="6160"/>
                      <a:pt x="16656" y="8027"/>
                      <a:pt x="10812" y="8027"/>
                    </a:cubicBezTo>
                    <a:cubicBezTo>
                      <a:pt x="4944" y="8027"/>
                      <a:pt x="878" y="6160"/>
                      <a:pt x="878" y="4499"/>
                    </a:cubicBezTo>
                    <a:close/>
                    <a:moveTo>
                      <a:pt x="18666" y="16436"/>
                    </a:moveTo>
                    <a:lnTo>
                      <a:pt x="18666" y="20654"/>
                    </a:lnTo>
                    <a:lnTo>
                      <a:pt x="2934" y="20654"/>
                    </a:lnTo>
                    <a:lnTo>
                      <a:pt x="2934" y="16436"/>
                    </a:lnTo>
                    <a:lnTo>
                      <a:pt x="8779" y="16436"/>
                    </a:lnTo>
                    <a:lnTo>
                      <a:pt x="10812" y="18302"/>
                    </a:lnTo>
                    <a:lnTo>
                      <a:pt x="12821" y="16436"/>
                    </a:lnTo>
                    <a:lnTo>
                      <a:pt x="18666" y="16436"/>
                    </a:lnTo>
                    <a:close/>
                    <a:moveTo>
                      <a:pt x="15825" y="12423"/>
                    </a:moveTo>
                    <a:lnTo>
                      <a:pt x="10812" y="17050"/>
                    </a:lnTo>
                    <a:lnTo>
                      <a:pt x="5775" y="12423"/>
                    </a:lnTo>
                    <a:lnTo>
                      <a:pt x="8132" y="12423"/>
                    </a:lnTo>
                    <a:lnTo>
                      <a:pt x="8132" y="8870"/>
                    </a:lnTo>
                    <a:cubicBezTo>
                      <a:pt x="8963" y="8947"/>
                      <a:pt x="9841" y="8998"/>
                      <a:pt x="10812" y="8998"/>
                    </a:cubicBezTo>
                    <a:cubicBezTo>
                      <a:pt x="11759" y="8998"/>
                      <a:pt x="12637" y="8947"/>
                      <a:pt x="13491" y="8870"/>
                    </a:cubicBezTo>
                    <a:lnTo>
                      <a:pt x="13491" y="12423"/>
                    </a:lnTo>
                    <a:lnTo>
                      <a:pt x="15825" y="12423"/>
                    </a:lnTo>
                    <a:close/>
                    <a:moveTo>
                      <a:pt x="13815" y="4499"/>
                    </a:moveTo>
                    <a:cubicBezTo>
                      <a:pt x="13815" y="3502"/>
                      <a:pt x="12198" y="3170"/>
                      <a:pt x="10812" y="3170"/>
                    </a:cubicBezTo>
                    <a:cubicBezTo>
                      <a:pt x="9402" y="3170"/>
                      <a:pt x="7785" y="3502"/>
                      <a:pt x="7785" y="4499"/>
                    </a:cubicBezTo>
                    <a:cubicBezTo>
                      <a:pt x="7785" y="5496"/>
                      <a:pt x="9402" y="5828"/>
                      <a:pt x="10812" y="5828"/>
                    </a:cubicBezTo>
                    <a:cubicBezTo>
                      <a:pt x="12198" y="5828"/>
                      <a:pt x="13815" y="5496"/>
                      <a:pt x="13815" y="4499"/>
                    </a:cubicBezTo>
                    <a:close/>
                    <a:moveTo>
                      <a:pt x="10812" y="4116"/>
                    </a:moveTo>
                    <a:cubicBezTo>
                      <a:pt x="11874" y="4116"/>
                      <a:pt x="12590" y="4320"/>
                      <a:pt x="12868" y="4499"/>
                    </a:cubicBezTo>
                    <a:cubicBezTo>
                      <a:pt x="12590" y="4652"/>
                      <a:pt x="11874" y="4882"/>
                      <a:pt x="10812" y="4882"/>
                    </a:cubicBezTo>
                    <a:cubicBezTo>
                      <a:pt x="9749" y="4882"/>
                      <a:pt x="9033" y="4652"/>
                      <a:pt x="8732" y="4499"/>
                    </a:cubicBezTo>
                    <a:cubicBezTo>
                      <a:pt x="9033" y="4320"/>
                      <a:pt x="9749" y="4116"/>
                      <a:pt x="10812" y="4116"/>
                    </a:cubicBezTo>
                    <a:close/>
                    <a:moveTo>
                      <a:pt x="15478" y="18533"/>
                    </a:moveTo>
                    <a:cubicBezTo>
                      <a:pt x="15478" y="18072"/>
                      <a:pt x="15825" y="17689"/>
                      <a:pt x="16240" y="17689"/>
                    </a:cubicBezTo>
                    <a:cubicBezTo>
                      <a:pt x="16679" y="17689"/>
                      <a:pt x="17026" y="18072"/>
                      <a:pt x="17026" y="18533"/>
                    </a:cubicBezTo>
                    <a:cubicBezTo>
                      <a:pt x="17026" y="19018"/>
                      <a:pt x="16679" y="19402"/>
                      <a:pt x="16240" y="19402"/>
                    </a:cubicBezTo>
                    <a:cubicBezTo>
                      <a:pt x="15825" y="19402"/>
                      <a:pt x="15478" y="19018"/>
                      <a:pt x="15478" y="18533"/>
                    </a:cubicBezTo>
                    <a:close/>
                  </a:path>
                </a:pathLst>
              </a:custGeom>
              <a:solidFill>
                <a:srgbClr val="BC2AB3"/>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84" name="TextBox 396">
                <a:extLst>
                  <a:ext uri="{FF2B5EF4-FFF2-40B4-BE49-F238E27FC236}">
                    <a16:creationId xmlns:a16="http://schemas.microsoft.com/office/drawing/2014/main" id="{A262BF8E-866E-FC27-18ED-A703CD7C52CC}"/>
                  </a:ext>
                </a:extLst>
              </p:cNvPr>
              <p:cNvSpPr/>
              <p:nvPr/>
            </p:nvSpPr>
            <p:spPr>
              <a:xfrm>
                <a:off x="5423760" y="4427640"/>
                <a:ext cx="79236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Application Install &amp; Test</a:t>
                </a:r>
                <a:endParaRPr lang="en-GB" sz="1200" spc="-2">
                  <a:latin typeface="Arial"/>
                </a:endParaRPr>
              </a:p>
            </p:txBody>
          </p:sp>
        </p:grpSp>
      </p:grpSp>
      <p:grpSp>
        <p:nvGrpSpPr>
          <p:cNvPr id="291" name="Group 425">
            <a:extLst>
              <a:ext uri="{FF2B5EF4-FFF2-40B4-BE49-F238E27FC236}">
                <a16:creationId xmlns:a16="http://schemas.microsoft.com/office/drawing/2014/main" id="{BF211FC5-67A8-333F-5CD7-78AD0BA56C9D}"/>
              </a:ext>
            </a:extLst>
          </p:cNvPr>
          <p:cNvGrpSpPr/>
          <p:nvPr/>
        </p:nvGrpSpPr>
        <p:grpSpPr>
          <a:xfrm>
            <a:off x="780480" y="10018945"/>
            <a:ext cx="8043120" cy="1968480"/>
            <a:chOff x="390240" y="3793320"/>
            <a:chExt cx="4021560" cy="984240"/>
          </a:xfrm>
        </p:grpSpPr>
        <p:sp>
          <p:nvSpPr>
            <p:cNvPr id="292" name="Arrow: Pentagon 426">
              <a:extLst>
                <a:ext uri="{FF2B5EF4-FFF2-40B4-BE49-F238E27FC236}">
                  <a16:creationId xmlns:a16="http://schemas.microsoft.com/office/drawing/2014/main" id="{274EFC38-31D2-4247-A108-0FA28E5B297F}"/>
                </a:ext>
              </a:extLst>
            </p:cNvPr>
            <p:cNvSpPr/>
            <p:nvPr/>
          </p:nvSpPr>
          <p:spPr>
            <a:xfrm>
              <a:off x="390240" y="3793320"/>
              <a:ext cx="4021560" cy="348840"/>
            </a:xfrm>
            <a:prstGeom prst="homePlate">
              <a:avLst>
                <a:gd name="adj" fmla="val 50000"/>
              </a:avLst>
            </a:prstGeom>
            <a:solidFill>
              <a:srgbClr val="FF9900"/>
            </a:solidFill>
            <a:ln>
              <a:solidFill>
                <a:srgbClr val="FF9900"/>
              </a:solid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spc="-2">
                  <a:solidFill>
                    <a:srgbClr val="FFFFFF"/>
                  </a:solidFill>
                  <a:latin typeface="Arial"/>
                  <a:ea typeface="DejaVu Sans"/>
                </a:rPr>
                <a:t>SOLUTION ARCHITECTURE</a:t>
              </a:r>
              <a:endParaRPr lang="en-GB" spc="-2">
                <a:latin typeface="Arial"/>
              </a:endParaRPr>
            </a:p>
          </p:txBody>
        </p:sp>
        <p:sp>
          <p:nvSpPr>
            <p:cNvPr id="293" name="Shape">
              <a:extLst>
                <a:ext uri="{FF2B5EF4-FFF2-40B4-BE49-F238E27FC236}">
                  <a16:creationId xmlns:a16="http://schemas.microsoft.com/office/drawing/2014/main" id="{ED9616CC-5DA6-D44D-D49F-A19E25335D5E}"/>
                </a:ext>
              </a:extLst>
            </p:cNvPr>
            <p:cNvSpPr/>
            <p:nvPr/>
          </p:nvSpPr>
          <p:spPr>
            <a:xfrm>
              <a:off x="3971160" y="3847680"/>
              <a:ext cx="181080" cy="233640"/>
            </a:xfrm>
            <a:custGeom>
              <a:avLst/>
              <a:gdLst/>
              <a:ahLst/>
              <a:cxnLst/>
              <a:rect l="l" t="t" r="r" b="b"/>
              <a:pathLst>
                <a:path w="17257" h="18073">
                  <a:moveTo>
                    <a:pt x="3186" y="9460"/>
                  </a:moveTo>
                  <a:lnTo>
                    <a:pt x="8911" y="9460"/>
                  </a:lnTo>
                  <a:lnTo>
                    <a:pt x="6063" y="5429"/>
                  </a:lnTo>
                  <a:lnTo>
                    <a:pt x="3186" y="9460"/>
                  </a:lnTo>
                  <a:close/>
                  <a:moveTo>
                    <a:pt x="5019" y="8590"/>
                  </a:moveTo>
                  <a:lnTo>
                    <a:pt x="6063" y="7147"/>
                  </a:lnTo>
                  <a:lnTo>
                    <a:pt x="7078" y="8590"/>
                  </a:lnTo>
                  <a:lnTo>
                    <a:pt x="5019" y="8590"/>
                  </a:lnTo>
                  <a:close/>
                  <a:moveTo>
                    <a:pt x="3722" y="15027"/>
                  </a:moveTo>
                  <a:lnTo>
                    <a:pt x="8544" y="15027"/>
                  </a:lnTo>
                  <a:lnTo>
                    <a:pt x="8544" y="11133"/>
                  </a:lnTo>
                  <a:lnTo>
                    <a:pt x="3722" y="11133"/>
                  </a:lnTo>
                  <a:lnTo>
                    <a:pt x="3722" y="15027"/>
                  </a:lnTo>
                  <a:close/>
                  <a:moveTo>
                    <a:pt x="4794" y="12003"/>
                  </a:moveTo>
                  <a:lnTo>
                    <a:pt x="7473" y="12003"/>
                  </a:lnTo>
                  <a:lnTo>
                    <a:pt x="7473" y="14156"/>
                  </a:lnTo>
                  <a:lnTo>
                    <a:pt x="4794" y="14156"/>
                  </a:lnTo>
                  <a:lnTo>
                    <a:pt x="4794" y="12003"/>
                  </a:lnTo>
                  <a:close/>
                  <a:moveTo>
                    <a:pt x="11731" y="8590"/>
                  </a:moveTo>
                  <a:cubicBezTo>
                    <a:pt x="10405" y="8590"/>
                    <a:pt x="9334" y="9483"/>
                    <a:pt x="9334" y="10560"/>
                  </a:cubicBezTo>
                  <a:cubicBezTo>
                    <a:pt x="9334" y="11637"/>
                    <a:pt x="10405" y="12507"/>
                    <a:pt x="11731" y="12507"/>
                  </a:cubicBezTo>
                  <a:cubicBezTo>
                    <a:pt x="13056" y="12507"/>
                    <a:pt x="14127" y="11637"/>
                    <a:pt x="14127" y="10560"/>
                  </a:cubicBezTo>
                  <a:cubicBezTo>
                    <a:pt x="14127" y="9483"/>
                    <a:pt x="13056" y="8590"/>
                    <a:pt x="11731" y="8590"/>
                  </a:cubicBezTo>
                  <a:close/>
                  <a:moveTo>
                    <a:pt x="11731" y="11637"/>
                  </a:moveTo>
                  <a:cubicBezTo>
                    <a:pt x="10997" y="11637"/>
                    <a:pt x="10405" y="11156"/>
                    <a:pt x="10405" y="10560"/>
                  </a:cubicBezTo>
                  <a:cubicBezTo>
                    <a:pt x="10405" y="9942"/>
                    <a:pt x="10997" y="9460"/>
                    <a:pt x="11731" y="9460"/>
                  </a:cubicBezTo>
                  <a:cubicBezTo>
                    <a:pt x="12464" y="9460"/>
                    <a:pt x="13084" y="9942"/>
                    <a:pt x="13084" y="10560"/>
                  </a:cubicBezTo>
                  <a:cubicBezTo>
                    <a:pt x="13084" y="11156"/>
                    <a:pt x="12464" y="11637"/>
                    <a:pt x="11731" y="11637"/>
                  </a:cubicBezTo>
                  <a:close/>
                  <a:moveTo>
                    <a:pt x="17257" y="14523"/>
                  </a:moveTo>
                  <a:cubicBezTo>
                    <a:pt x="17265" y="12300"/>
                    <a:pt x="17208" y="10489"/>
                    <a:pt x="17233" y="5594"/>
                  </a:cubicBezTo>
                  <a:cubicBezTo>
                    <a:pt x="17189" y="5539"/>
                    <a:pt x="12410" y="1642"/>
                    <a:pt x="9995" y="34"/>
                  </a:cubicBezTo>
                  <a:lnTo>
                    <a:pt x="4343" y="0"/>
                  </a:lnTo>
                  <a:lnTo>
                    <a:pt x="0" y="0"/>
                  </a:lnTo>
                  <a:lnTo>
                    <a:pt x="0" y="18073"/>
                  </a:lnTo>
                  <a:lnTo>
                    <a:pt x="17257" y="18073"/>
                  </a:lnTo>
                  <a:lnTo>
                    <a:pt x="17257" y="14523"/>
                  </a:lnTo>
                  <a:close/>
                  <a:moveTo>
                    <a:pt x="10067" y="1169"/>
                  </a:moveTo>
                  <a:lnTo>
                    <a:pt x="15735" y="5567"/>
                  </a:lnTo>
                  <a:lnTo>
                    <a:pt x="10067" y="5567"/>
                  </a:lnTo>
                  <a:lnTo>
                    <a:pt x="10067" y="1169"/>
                  </a:lnTo>
                  <a:close/>
                  <a:moveTo>
                    <a:pt x="1072" y="17203"/>
                  </a:moveTo>
                  <a:lnTo>
                    <a:pt x="1072" y="871"/>
                  </a:lnTo>
                  <a:lnTo>
                    <a:pt x="8995" y="871"/>
                  </a:lnTo>
                  <a:lnTo>
                    <a:pt x="8995" y="6437"/>
                  </a:lnTo>
                  <a:lnTo>
                    <a:pt x="16186" y="6437"/>
                  </a:lnTo>
                  <a:lnTo>
                    <a:pt x="16186" y="17203"/>
                  </a:lnTo>
                  <a:lnTo>
                    <a:pt x="1072" y="17203"/>
                  </a:lnTo>
                  <a:close/>
                </a:path>
              </a:pathLst>
            </a:custGeom>
            <a:solidFill>
              <a:schemeClr val="bg1"/>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94" name="Shape">
              <a:extLst>
                <a:ext uri="{FF2B5EF4-FFF2-40B4-BE49-F238E27FC236}">
                  <a16:creationId xmlns:a16="http://schemas.microsoft.com/office/drawing/2014/main" id="{27C1CE11-C61D-AB63-70D7-D01810FEC279}"/>
                </a:ext>
              </a:extLst>
            </p:cNvPr>
            <p:cNvSpPr/>
            <p:nvPr/>
          </p:nvSpPr>
          <p:spPr>
            <a:xfrm>
              <a:off x="620640" y="4258800"/>
              <a:ext cx="158400" cy="204480"/>
            </a:xfrm>
            <a:custGeom>
              <a:avLst/>
              <a:gdLst/>
              <a:ahLst/>
              <a:cxnLst/>
              <a:rect l="l" t="t" r="r" b="b"/>
              <a:pathLst>
                <a:path w="17257" h="18073">
                  <a:moveTo>
                    <a:pt x="3186" y="9460"/>
                  </a:moveTo>
                  <a:lnTo>
                    <a:pt x="8911" y="9460"/>
                  </a:lnTo>
                  <a:lnTo>
                    <a:pt x="6063" y="5429"/>
                  </a:lnTo>
                  <a:lnTo>
                    <a:pt x="3186" y="9460"/>
                  </a:lnTo>
                  <a:close/>
                  <a:moveTo>
                    <a:pt x="5019" y="8590"/>
                  </a:moveTo>
                  <a:lnTo>
                    <a:pt x="6063" y="7147"/>
                  </a:lnTo>
                  <a:lnTo>
                    <a:pt x="7078" y="8590"/>
                  </a:lnTo>
                  <a:lnTo>
                    <a:pt x="5019" y="8590"/>
                  </a:lnTo>
                  <a:close/>
                  <a:moveTo>
                    <a:pt x="3722" y="15027"/>
                  </a:moveTo>
                  <a:lnTo>
                    <a:pt x="8544" y="15027"/>
                  </a:lnTo>
                  <a:lnTo>
                    <a:pt x="8544" y="11133"/>
                  </a:lnTo>
                  <a:lnTo>
                    <a:pt x="3722" y="11133"/>
                  </a:lnTo>
                  <a:lnTo>
                    <a:pt x="3722" y="15027"/>
                  </a:lnTo>
                  <a:close/>
                  <a:moveTo>
                    <a:pt x="4794" y="12003"/>
                  </a:moveTo>
                  <a:lnTo>
                    <a:pt x="7473" y="12003"/>
                  </a:lnTo>
                  <a:lnTo>
                    <a:pt x="7473" y="14156"/>
                  </a:lnTo>
                  <a:lnTo>
                    <a:pt x="4794" y="14156"/>
                  </a:lnTo>
                  <a:lnTo>
                    <a:pt x="4794" y="12003"/>
                  </a:lnTo>
                  <a:close/>
                  <a:moveTo>
                    <a:pt x="11731" y="8590"/>
                  </a:moveTo>
                  <a:cubicBezTo>
                    <a:pt x="10405" y="8590"/>
                    <a:pt x="9334" y="9483"/>
                    <a:pt x="9334" y="10560"/>
                  </a:cubicBezTo>
                  <a:cubicBezTo>
                    <a:pt x="9334" y="11637"/>
                    <a:pt x="10405" y="12507"/>
                    <a:pt x="11731" y="12507"/>
                  </a:cubicBezTo>
                  <a:cubicBezTo>
                    <a:pt x="13056" y="12507"/>
                    <a:pt x="14127" y="11637"/>
                    <a:pt x="14127" y="10560"/>
                  </a:cubicBezTo>
                  <a:cubicBezTo>
                    <a:pt x="14127" y="9483"/>
                    <a:pt x="13056" y="8590"/>
                    <a:pt x="11731" y="8590"/>
                  </a:cubicBezTo>
                  <a:close/>
                  <a:moveTo>
                    <a:pt x="11731" y="11637"/>
                  </a:moveTo>
                  <a:cubicBezTo>
                    <a:pt x="10997" y="11637"/>
                    <a:pt x="10405" y="11156"/>
                    <a:pt x="10405" y="10560"/>
                  </a:cubicBezTo>
                  <a:cubicBezTo>
                    <a:pt x="10405" y="9942"/>
                    <a:pt x="10997" y="9460"/>
                    <a:pt x="11731" y="9460"/>
                  </a:cubicBezTo>
                  <a:cubicBezTo>
                    <a:pt x="12464" y="9460"/>
                    <a:pt x="13084" y="9942"/>
                    <a:pt x="13084" y="10560"/>
                  </a:cubicBezTo>
                  <a:cubicBezTo>
                    <a:pt x="13084" y="11156"/>
                    <a:pt x="12464" y="11637"/>
                    <a:pt x="11731" y="11637"/>
                  </a:cubicBezTo>
                  <a:close/>
                  <a:moveTo>
                    <a:pt x="17257" y="14523"/>
                  </a:moveTo>
                  <a:cubicBezTo>
                    <a:pt x="17265" y="12300"/>
                    <a:pt x="17208" y="10489"/>
                    <a:pt x="17233" y="5594"/>
                  </a:cubicBezTo>
                  <a:cubicBezTo>
                    <a:pt x="17189" y="5539"/>
                    <a:pt x="12410" y="1642"/>
                    <a:pt x="9995" y="34"/>
                  </a:cubicBezTo>
                  <a:lnTo>
                    <a:pt x="4343" y="0"/>
                  </a:lnTo>
                  <a:lnTo>
                    <a:pt x="0" y="0"/>
                  </a:lnTo>
                  <a:lnTo>
                    <a:pt x="0" y="18073"/>
                  </a:lnTo>
                  <a:lnTo>
                    <a:pt x="17257" y="18073"/>
                  </a:lnTo>
                  <a:lnTo>
                    <a:pt x="17257" y="14523"/>
                  </a:lnTo>
                  <a:close/>
                  <a:moveTo>
                    <a:pt x="10067" y="1169"/>
                  </a:moveTo>
                  <a:lnTo>
                    <a:pt x="15735" y="5567"/>
                  </a:lnTo>
                  <a:lnTo>
                    <a:pt x="10067" y="5567"/>
                  </a:lnTo>
                  <a:lnTo>
                    <a:pt x="10067" y="1169"/>
                  </a:lnTo>
                  <a:close/>
                  <a:moveTo>
                    <a:pt x="1072" y="17203"/>
                  </a:moveTo>
                  <a:lnTo>
                    <a:pt x="1072" y="871"/>
                  </a:lnTo>
                  <a:lnTo>
                    <a:pt x="8995" y="871"/>
                  </a:lnTo>
                  <a:lnTo>
                    <a:pt x="8995" y="6437"/>
                  </a:lnTo>
                  <a:lnTo>
                    <a:pt x="16186" y="6437"/>
                  </a:lnTo>
                  <a:lnTo>
                    <a:pt x="16186" y="17203"/>
                  </a:lnTo>
                  <a:lnTo>
                    <a:pt x="1072" y="17203"/>
                  </a:lnTo>
                  <a:close/>
                </a:path>
              </a:pathLst>
            </a:custGeom>
            <a:solidFill>
              <a:srgbClr val="FF990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95" name="TextBox 429">
              <a:extLst>
                <a:ext uri="{FF2B5EF4-FFF2-40B4-BE49-F238E27FC236}">
                  <a16:creationId xmlns:a16="http://schemas.microsoft.com/office/drawing/2014/main" id="{C2262A3D-F3AF-7C42-4235-4BFC16C76ED5}"/>
                </a:ext>
              </a:extLst>
            </p:cNvPr>
            <p:cNvSpPr/>
            <p:nvPr/>
          </p:nvSpPr>
          <p:spPr>
            <a:xfrm>
              <a:off x="424080" y="4460040"/>
              <a:ext cx="54612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High Level</a:t>
              </a:r>
              <a:endParaRPr lang="en-GB" sz="1200" spc="-2">
                <a:latin typeface="Arial"/>
              </a:endParaRPr>
            </a:p>
            <a:p>
              <a:pPr algn="ctr">
                <a:tabLst>
                  <a:tab pos="0" algn="l"/>
                </a:tabLst>
              </a:pPr>
              <a:r>
                <a:rPr lang="en-GB" sz="1200" spc="-2">
                  <a:solidFill>
                    <a:srgbClr val="000000"/>
                  </a:solidFill>
                  <a:latin typeface="Arial"/>
                  <a:ea typeface="DejaVu Sans"/>
                </a:rPr>
                <a:t>Design</a:t>
              </a:r>
              <a:endParaRPr lang="en-GB" sz="1200" spc="-2">
                <a:latin typeface="Arial"/>
              </a:endParaRPr>
            </a:p>
          </p:txBody>
        </p:sp>
        <p:grpSp>
          <p:nvGrpSpPr>
            <p:cNvPr id="296" name="Group 430">
              <a:extLst>
                <a:ext uri="{FF2B5EF4-FFF2-40B4-BE49-F238E27FC236}">
                  <a16:creationId xmlns:a16="http://schemas.microsoft.com/office/drawing/2014/main" id="{232D4215-9B21-A304-967D-27CC699ED506}"/>
                </a:ext>
              </a:extLst>
            </p:cNvPr>
            <p:cNvGrpSpPr/>
            <p:nvPr/>
          </p:nvGrpSpPr>
          <p:grpSpPr>
            <a:xfrm>
              <a:off x="2212920" y="4253760"/>
              <a:ext cx="912960" cy="476425"/>
              <a:chOff x="2212920" y="4253760"/>
              <a:chExt cx="912960" cy="476425"/>
            </a:xfrm>
          </p:grpSpPr>
          <p:sp>
            <p:nvSpPr>
              <p:cNvPr id="302" name="Shape">
                <a:extLst>
                  <a:ext uri="{FF2B5EF4-FFF2-40B4-BE49-F238E27FC236}">
                    <a16:creationId xmlns:a16="http://schemas.microsoft.com/office/drawing/2014/main" id="{52F24777-BD1B-13B3-C843-C1C3813ADA2D}"/>
                  </a:ext>
                </a:extLst>
              </p:cNvPr>
              <p:cNvSpPr/>
              <p:nvPr/>
            </p:nvSpPr>
            <p:spPr>
              <a:xfrm>
                <a:off x="2592720" y="4253760"/>
                <a:ext cx="158400" cy="205920"/>
              </a:xfrm>
              <a:custGeom>
                <a:avLst/>
                <a:gdLst/>
                <a:ahLst/>
                <a:cxnLst/>
                <a:rect l="l" t="t" r="r" b="b"/>
                <a:pathLst>
                  <a:path w="21600" h="16482">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FF990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303" name="TextBox 437">
                <a:extLst>
                  <a:ext uri="{FF2B5EF4-FFF2-40B4-BE49-F238E27FC236}">
                    <a16:creationId xmlns:a16="http://schemas.microsoft.com/office/drawing/2014/main" id="{94D94981-7548-518E-0A35-6B68E37CC04D}"/>
                  </a:ext>
                </a:extLst>
              </p:cNvPr>
              <p:cNvSpPr/>
              <p:nvPr/>
            </p:nvSpPr>
            <p:spPr>
              <a:xfrm>
                <a:off x="2212920" y="4454640"/>
                <a:ext cx="91296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Reference Architecture</a:t>
                </a:r>
                <a:endParaRPr lang="en-GB" sz="1200" spc="-2">
                  <a:latin typeface="Arial"/>
                </a:endParaRPr>
              </a:p>
            </p:txBody>
          </p:sp>
        </p:grpSp>
        <p:sp>
          <p:nvSpPr>
            <p:cNvPr id="297" name="Shape">
              <a:extLst>
                <a:ext uri="{FF2B5EF4-FFF2-40B4-BE49-F238E27FC236}">
                  <a16:creationId xmlns:a16="http://schemas.microsoft.com/office/drawing/2014/main" id="{2FBE7DD0-8486-B1A9-B47D-6FCE7A2CCCBE}"/>
                </a:ext>
              </a:extLst>
            </p:cNvPr>
            <p:cNvSpPr/>
            <p:nvPr/>
          </p:nvSpPr>
          <p:spPr>
            <a:xfrm>
              <a:off x="3922200" y="4250520"/>
              <a:ext cx="158400" cy="204480"/>
            </a:xfrm>
            <a:custGeom>
              <a:avLst/>
              <a:gdLst/>
              <a:ahLst/>
              <a:cxnLst/>
              <a:rect l="l" t="t" r="r" b="b"/>
              <a:pathLst>
                <a:path w="17257" h="18073">
                  <a:moveTo>
                    <a:pt x="3186" y="9460"/>
                  </a:moveTo>
                  <a:lnTo>
                    <a:pt x="8911" y="9460"/>
                  </a:lnTo>
                  <a:lnTo>
                    <a:pt x="6063" y="5429"/>
                  </a:lnTo>
                  <a:lnTo>
                    <a:pt x="3186" y="9460"/>
                  </a:lnTo>
                  <a:close/>
                  <a:moveTo>
                    <a:pt x="5019" y="8590"/>
                  </a:moveTo>
                  <a:lnTo>
                    <a:pt x="6063" y="7147"/>
                  </a:lnTo>
                  <a:lnTo>
                    <a:pt x="7078" y="8590"/>
                  </a:lnTo>
                  <a:lnTo>
                    <a:pt x="5019" y="8590"/>
                  </a:lnTo>
                  <a:close/>
                  <a:moveTo>
                    <a:pt x="3722" y="15027"/>
                  </a:moveTo>
                  <a:lnTo>
                    <a:pt x="8544" y="15027"/>
                  </a:lnTo>
                  <a:lnTo>
                    <a:pt x="8544" y="11133"/>
                  </a:lnTo>
                  <a:lnTo>
                    <a:pt x="3722" y="11133"/>
                  </a:lnTo>
                  <a:lnTo>
                    <a:pt x="3722" y="15027"/>
                  </a:lnTo>
                  <a:close/>
                  <a:moveTo>
                    <a:pt x="4794" y="12003"/>
                  </a:moveTo>
                  <a:lnTo>
                    <a:pt x="7473" y="12003"/>
                  </a:lnTo>
                  <a:lnTo>
                    <a:pt x="7473" y="14156"/>
                  </a:lnTo>
                  <a:lnTo>
                    <a:pt x="4794" y="14156"/>
                  </a:lnTo>
                  <a:lnTo>
                    <a:pt x="4794" y="12003"/>
                  </a:lnTo>
                  <a:close/>
                  <a:moveTo>
                    <a:pt x="11731" y="8590"/>
                  </a:moveTo>
                  <a:cubicBezTo>
                    <a:pt x="10405" y="8590"/>
                    <a:pt x="9334" y="9483"/>
                    <a:pt x="9334" y="10560"/>
                  </a:cubicBezTo>
                  <a:cubicBezTo>
                    <a:pt x="9334" y="11637"/>
                    <a:pt x="10405" y="12507"/>
                    <a:pt x="11731" y="12507"/>
                  </a:cubicBezTo>
                  <a:cubicBezTo>
                    <a:pt x="13056" y="12507"/>
                    <a:pt x="14127" y="11637"/>
                    <a:pt x="14127" y="10560"/>
                  </a:cubicBezTo>
                  <a:cubicBezTo>
                    <a:pt x="14127" y="9483"/>
                    <a:pt x="13056" y="8590"/>
                    <a:pt x="11731" y="8590"/>
                  </a:cubicBezTo>
                  <a:close/>
                  <a:moveTo>
                    <a:pt x="11731" y="11637"/>
                  </a:moveTo>
                  <a:cubicBezTo>
                    <a:pt x="10997" y="11637"/>
                    <a:pt x="10405" y="11156"/>
                    <a:pt x="10405" y="10560"/>
                  </a:cubicBezTo>
                  <a:cubicBezTo>
                    <a:pt x="10405" y="9942"/>
                    <a:pt x="10997" y="9460"/>
                    <a:pt x="11731" y="9460"/>
                  </a:cubicBezTo>
                  <a:cubicBezTo>
                    <a:pt x="12464" y="9460"/>
                    <a:pt x="13084" y="9942"/>
                    <a:pt x="13084" y="10560"/>
                  </a:cubicBezTo>
                  <a:cubicBezTo>
                    <a:pt x="13084" y="11156"/>
                    <a:pt x="12464" y="11637"/>
                    <a:pt x="11731" y="11637"/>
                  </a:cubicBezTo>
                  <a:close/>
                  <a:moveTo>
                    <a:pt x="17257" y="14523"/>
                  </a:moveTo>
                  <a:cubicBezTo>
                    <a:pt x="17265" y="12300"/>
                    <a:pt x="17208" y="10489"/>
                    <a:pt x="17233" y="5594"/>
                  </a:cubicBezTo>
                  <a:cubicBezTo>
                    <a:pt x="17189" y="5539"/>
                    <a:pt x="12410" y="1642"/>
                    <a:pt x="9995" y="34"/>
                  </a:cubicBezTo>
                  <a:lnTo>
                    <a:pt x="4343" y="0"/>
                  </a:lnTo>
                  <a:lnTo>
                    <a:pt x="0" y="0"/>
                  </a:lnTo>
                  <a:lnTo>
                    <a:pt x="0" y="18073"/>
                  </a:lnTo>
                  <a:lnTo>
                    <a:pt x="17257" y="18073"/>
                  </a:lnTo>
                  <a:lnTo>
                    <a:pt x="17257" y="14523"/>
                  </a:lnTo>
                  <a:close/>
                  <a:moveTo>
                    <a:pt x="10067" y="1169"/>
                  </a:moveTo>
                  <a:lnTo>
                    <a:pt x="15735" y="5567"/>
                  </a:lnTo>
                  <a:lnTo>
                    <a:pt x="10067" y="5567"/>
                  </a:lnTo>
                  <a:lnTo>
                    <a:pt x="10067" y="1169"/>
                  </a:lnTo>
                  <a:close/>
                  <a:moveTo>
                    <a:pt x="1072" y="17203"/>
                  </a:moveTo>
                  <a:lnTo>
                    <a:pt x="1072" y="871"/>
                  </a:lnTo>
                  <a:lnTo>
                    <a:pt x="8995" y="871"/>
                  </a:lnTo>
                  <a:lnTo>
                    <a:pt x="8995" y="6437"/>
                  </a:lnTo>
                  <a:lnTo>
                    <a:pt x="16186" y="6437"/>
                  </a:lnTo>
                  <a:lnTo>
                    <a:pt x="16186" y="17203"/>
                  </a:lnTo>
                  <a:lnTo>
                    <a:pt x="1072" y="17203"/>
                  </a:lnTo>
                  <a:close/>
                </a:path>
              </a:pathLst>
            </a:custGeom>
            <a:solidFill>
              <a:srgbClr val="FF990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298" name="TextBox 432">
              <a:extLst>
                <a:ext uri="{FF2B5EF4-FFF2-40B4-BE49-F238E27FC236}">
                  <a16:creationId xmlns:a16="http://schemas.microsoft.com/office/drawing/2014/main" id="{261264CB-1868-369D-9880-BD1340B21204}"/>
                </a:ext>
              </a:extLst>
            </p:cNvPr>
            <p:cNvSpPr/>
            <p:nvPr/>
          </p:nvSpPr>
          <p:spPr>
            <a:xfrm>
              <a:off x="3751920" y="4451760"/>
              <a:ext cx="49932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Detailed</a:t>
              </a:r>
              <a:endParaRPr lang="en-GB" sz="1200" spc="-2">
                <a:latin typeface="Arial"/>
              </a:endParaRPr>
            </a:p>
            <a:p>
              <a:pPr algn="ctr">
                <a:tabLst>
                  <a:tab pos="0" algn="l"/>
                </a:tabLst>
              </a:pPr>
              <a:r>
                <a:rPr lang="en-GB" sz="1200" spc="-2">
                  <a:solidFill>
                    <a:srgbClr val="000000"/>
                  </a:solidFill>
                  <a:latin typeface="Arial"/>
                  <a:ea typeface="DejaVu Sans"/>
                </a:rPr>
                <a:t>Design</a:t>
              </a:r>
              <a:endParaRPr lang="en-GB" sz="1200" spc="-2">
                <a:latin typeface="Arial"/>
              </a:endParaRPr>
            </a:p>
          </p:txBody>
        </p:sp>
        <p:sp>
          <p:nvSpPr>
            <p:cNvPr id="299" name="Rectangle 433">
              <a:extLst>
                <a:ext uri="{FF2B5EF4-FFF2-40B4-BE49-F238E27FC236}">
                  <a16:creationId xmlns:a16="http://schemas.microsoft.com/office/drawing/2014/main" id="{322CF965-1717-5E1E-CD49-2B5C43F4B83E}"/>
                </a:ext>
              </a:extLst>
            </p:cNvPr>
            <p:cNvSpPr/>
            <p:nvPr/>
          </p:nvSpPr>
          <p:spPr>
            <a:xfrm>
              <a:off x="407520" y="4150080"/>
              <a:ext cx="3827520" cy="627480"/>
            </a:xfrm>
            <a:prstGeom prst="rect">
              <a:avLst/>
            </a:prstGeom>
            <a:noFill/>
            <a:ln w="28575">
              <a:solidFill>
                <a:srgbClr val="FF9900"/>
              </a:solidFill>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300" name="Shape">
              <a:extLst>
                <a:ext uri="{FF2B5EF4-FFF2-40B4-BE49-F238E27FC236}">
                  <a16:creationId xmlns:a16="http://schemas.microsoft.com/office/drawing/2014/main" id="{0D5EAA10-45D5-5182-1177-98927F39153C}"/>
                </a:ext>
              </a:extLst>
            </p:cNvPr>
            <p:cNvSpPr/>
            <p:nvPr/>
          </p:nvSpPr>
          <p:spPr>
            <a:xfrm>
              <a:off x="1353960" y="4255560"/>
              <a:ext cx="147960" cy="199440"/>
            </a:xfrm>
            <a:custGeom>
              <a:avLst/>
              <a:gdLst/>
              <a:ahLst/>
              <a:cxnLst/>
              <a:rect l="l" t="t" r="r" b="b"/>
              <a:pathLst>
                <a:path w="21600" h="21600">
                  <a:moveTo>
                    <a:pt x="0" y="21600"/>
                  </a:moveTo>
                  <a:lnTo>
                    <a:pt x="21600" y="21600"/>
                  </a:lnTo>
                  <a:lnTo>
                    <a:pt x="21600" y="0"/>
                  </a:lnTo>
                  <a:lnTo>
                    <a:pt x="0" y="0"/>
                  </a:lnTo>
                  <a:lnTo>
                    <a:pt x="0" y="21600"/>
                  </a:lnTo>
                  <a:close/>
                  <a:moveTo>
                    <a:pt x="1200" y="896"/>
                  </a:moveTo>
                  <a:lnTo>
                    <a:pt x="20368" y="896"/>
                  </a:lnTo>
                  <a:lnTo>
                    <a:pt x="20368" y="20704"/>
                  </a:lnTo>
                  <a:lnTo>
                    <a:pt x="1200" y="20704"/>
                  </a:lnTo>
                  <a:lnTo>
                    <a:pt x="1200" y="896"/>
                  </a:lnTo>
                  <a:close/>
                  <a:moveTo>
                    <a:pt x="2822" y="8088"/>
                  </a:moveTo>
                  <a:lnTo>
                    <a:pt x="18746" y="8088"/>
                  </a:lnTo>
                  <a:lnTo>
                    <a:pt x="18746" y="2518"/>
                  </a:lnTo>
                  <a:lnTo>
                    <a:pt x="2822" y="2518"/>
                  </a:lnTo>
                  <a:lnTo>
                    <a:pt x="2822" y="8088"/>
                  </a:lnTo>
                  <a:close/>
                  <a:moveTo>
                    <a:pt x="4054" y="3439"/>
                  </a:moveTo>
                  <a:lnTo>
                    <a:pt x="17546" y="3439"/>
                  </a:lnTo>
                  <a:lnTo>
                    <a:pt x="17546" y="7168"/>
                  </a:lnTo>
                  <a:lnTo>
                    <a:pt x="4054" y="7168"/>
                  </a:lnTo>
                  <a:lnTo>
                    <a:pt x="4054" y="3439"/>
                  </a:lnTo>
                  <a:close/>
                  <a:moveTo>
                    <a:pt x="16443" y="9710"/>
                  </a:moveTo>
                  <a:lnTo>
                    <a:pt x="18714" y="9710"/>
                  </a:lnTo>
                  <a:lnTo>
                    <a:pt x="18714" y="10606"/>
                  </a:lnTo>
                  <a:lnTo>
                    <a:pt x="16443" y="10606"/>
                  </a:lnTo>
                  <a:lnTo>
                    <a:pt x="16443" y="9710"/>
                  </a:lnTo>
                  <a:close/>
                  <a:moveTo>
                    <a:pt x="13070" y="9710"/>
                  </a:moveTo>
                  <a:lnTo>
                    <a:pt x="15308" y="9710"/>
                  </a:lnTo>
                  <a:lnTo>
                    <a:pt x="15308" y="10606"/>
                  </a:lnTo>
                  <a:lnTo>
                    <a:pt x="13070" y="10606"/>
                  </a:lnTo>
                  <a:lnTo>
                    <a:pt x="13070" y="9710"/>
                  </a:lnTo>
                  <a:close/>
                  <a:moveTo>
                    <a:pt x="9665" y="9710"/>
                  </a:moveTo>
                  <a:lnTo>
                    <a:pt x="11935" y="9710"/>
                  </a:lnTo>
                  <a:lnTo>
                    <a:pt x="11935" y="10606"/>
                  </a:lnTo>
                  <a:lnTo>
                    <a:pt x="9665" y="10606"/>
                  </a:lnTo>
                  <a:lnTo>
                    <a:pt x="9665" y="9710"/>
                  </a:lnTo>
                  <a:close/>
                  <a:moveTo>
                    <a:pt x="6259" y="9710"/>
                  </a:moveTo>
                  <a:lnTo>
                    <a:pt x="8530" y="9710"/>
                  </a:lnTo>
                  <a:lnTo>
                    <a:pt x="8530" y="10606"/>
                  </a:lnTo>
                  <a:lnTo>
                    <a:pt x="6259" y="10606"/>
                  </a:lnTo>
                  <a:lnTo>
                    <a:pt x="6259" y="9710"/>
                  </a:lnTo>
                  <a:close/>
                  <a:moveTo>
                    <a:pt x="2886" y="9710"/>
                  </a:moveTo>
                  <a:lnTo>
                    <a:pt x="5124" y="9710"/>
                  </a:lnTo>
                  <a:lnTo>
                    <a:pt x="5124" y="10606"/>
                  </a:lnTo>
                  <a:lnTo>
                    <a:pt x="2886" y="10606"/>
                  </a:lnTo>
                  <a:lnTo>
                    <a:pt x="2886" y="9710"/>
                  </a:lnTo>
                  <a:close/>
                  <a:moveTo>
                    <a:pt x="16443" y="11405"/>
                  </a:moveTo>
                  <a:lnTo>
                    <a:pt x="18714" y="11405"/>
                  </a:lnTo>
                  <a:lnTo>
                    <a:pt x="18714" y="12301"/>
                  </a:lnTo>
                  <a:lnTo>
                    <a:pt x="16443" y="12301"/>
                  </a:lnTo>
                  <a:lnTo>
                    <a:pt x="16443" y="11405"/>
                  </a:lnTo>
                  <a:close/>
                  <a:moveTo>
                    <a:pt x="13070" y="11405"/>
                  </a:moveTo>
                  <a:lnTo>
                    <a:pt x="15308" y="11405"/>
                  </a:lnTo>
                  <a:lnTo>
                    <a:pt x="15308" y="12301"/>
                  </a:lnTo>
                  <a:lnTo>
                    <a:pt x="13070" y="12301"/>
                  </a:lnTo>
                  <a:lnTo>
                    <a:pt x="13070" y="11405"/>
                  </a:lnTo>
                  <a:close/>
                  <a:moveTo>
                    <a:pt x="9665" y="11405"/>
                  </a:moveTo>
                  <a:lnTo>
                    <a:pt x="11935" y="11405"/>
                  </a:lnTo>
                  <a:lnTo>
                    <a:pt x="11935" y="12301"/>
                  </a:lnTo>
                  <a:lnTo>
                    <a:pt x="9665" y="12301"/>
                  </a:lnTo>
                  <a:lnTo>
                    <a:pt x="9665" y="11405"/>
                  </a:lnTo>
                  <a:close/>
                  <a:moveTo>
                    <a:pt x="6259" y="11405"/>
                  </a:moveTo>
                  <a:lnTo>
                    <a:pt x="8530" y="11405"/>
                  </a:lnTo>
                  <a:lnTo>
                    <a:pt x="8530" y="12301"/>
                  </a:lnTo>
                  <a:lnTo>
                    <a:pt x="6259" y="12301"/>
                  </a:lnTo>
                  <a:lnTo>
                    <a:pt x="6259" y="11405"/>
                  </a:lnTo>
                  <a:close/>
                  <a:moveTo>
                    <a:pt x="2886" y="11405"/>
                  </a:moveTo>
                  <a:lnTo>
                    <a:pt x="5124" y="11405"/>
                  </a:lnTo>
                  <a:lnTo>
                    <a:pt x="5124" y="12301"/>
                  </a:lnTo>
                  <a:lnTo>
                    <a:pt x="2886" y="12301"/>
                  </a:lnTo>
                  <a:lnTo>
                    <a:pt x="2886" y="11405"/>
                  </a:lnTo>
                  <a:close/>
                  <a:moveTo>
                    <a:pt x="16443" y="13100"/>
                  </a:moveTo>
                  <a:lnTo>
                    <a:pt x="18714" y="13100"/>
                  </a:lnTo>
                  <a:lnTo>
                    <a:pt x="18714" y="13996"/>
                  </a:lnTo>
                  <a:lnTo>
                    <a:pt x="16443" y="13996"/>
                  </a:lnTo>
                  <a:lnTo>
                    <a:pt x="16443" y="13100"/>
                  </a:lnTo>
                  <a:close/>
                  <a:moveTo>
                    <a:pt x="13070" y="13100"/>
                  </a:moveTo>
                  <a:lnTo>
                    <a:pt x="15308" y="13100"/>
                  </a:lnTo>
                  <a:lnTo>
                    <a:pt x="15308" y="13996"/>
                  </a:lnTo>
                  <a:lnTo>
                    <a:pt x="13070" y="13996"/>
                  </a:lnTo>
                  <a:lnTo>
                    <a:pt x="13070" y="13100"/>
                  </a:lnTo>
                  <a:close/>
                  <a:moveTo>
                    <a:pt x="9665" y="13100"/>
                  </a:moveTo>
                  <a:lnTo>
                    <a:pt x="11935" y="13100"/>
                  </a:lnTo>
                  <a:lnTo>
                    <a:pt x="11935" y="13996"/>
                  </a:lnTo>
                  <a:lnTo>
                    <a:pt x="9665" y="13996"/>
                  </a:lnTo>
                  <a:lnTo>
                    <a:pt x="9665" y="13100"/>
                  </a:lnTo>
                  <a:close/>
                  <a:moveTo>
                    <a:pt x="6259" y="13100"/>
                  </a:moveTo>
                  <a:lnTo>
                    <a:pt x="8530" y="13100"/>
                  </a:lnTo>
                  <a:lnTo>
                    <a:pt x="8530" y="13996"/>
                  </a:lnTo>
                  <a:lnTo>
                    <a:pt x="6259" y="13996"/>
                  </a:lnTo>
                  <a:lnTo>
                    <a:pt x="6259" y="13100"/>
                  </a:lnTo>
                  <a:close/>
                  <a:moveTo>
                    <a:pt x="2886" y="13100"/>
                  </a:moveTo>
                  <a:lnTo>
                    <a:pt x="5124" y="13100"/>
                  </a:lnTo>
                  <a:lnTo>
                    <a:pt x="5124" y="13996"/>
                  </a:lnTo>
                  <a:lnTo>
                    <a:pt x="2886" y="13996"/>
                  </a:lnTo>
                  <a:lnTo>
                    <a:pt x="2886" y="13100"/>
                  </a:lnTo>
                  <a:close/>
                  <a:moveTo>
                    <a:pt x="16443" y="14771"/>
                  </a:moveTo>
                  <a:lnTo>
                    <a:pt x="18714" y="14771"/>
                  </a:lnTo>
                  <a:lnTo>
                    <a:pt x="18714" y="15691"/>
                  </a:lnTo>
                  <a:lnTo>
                    <a:pt x="16443" y="15691"/>
                  </a:lnTo>
                  <a:lnTo>
                    <a:pt x="16443" y="14771"/>
                  </a:lnTo>
                  <a:close/>
                  <a:moveTo>
                    <a:pt x="13070" y="14771"/>
                  </a:moveTo>
                  <a:lnTo>
                    <a:pt x="15308" y="14771"/>
                  </a:lnTo>
                  <a:lnTo>
                    <a:pt x="15308" y="15691"/>
                  </a:lnTo>
                  <a:lnTo>
                    <a:pt x="13070" y="15691"/>
                  </a:lnTo>
                  <a:lnTo>
                    <a:pt x="13070" y="14771"/>
                  </a:lnTo>
                  <a:close/>
                  <a:moveTo>
                    <a:pt x="9665" y="14771"/>
                  </a:moveTo>
                  <a:lnTo>
                    <a:pt x="11935" y="14771"/>
                  </a:lnTo>
                  <a:lnTo>
                    <a:pt x="11935" y="15691"/>
                  </a:lnTo>
                  <a:lnTo>
                    <a:pt x="9665" y="15691"/>
                  </a:lnTo>
                  <a:lnTo>
                    <a:pt x="9665" y="14771"/>
                  </a:lnTo>
                  <a:close/>
                  <a:moveTo>
                    <a:pt x="6259" y="14771"/>
                  </a:moveTo>
                  <a:lnTo>
                    <a:pt x="8530" y="14771"/>
                  </a:lnTo>
                  <a:lnTo>
                    <a:pt x="8530" y="15691"/>
                  </a:lnTo>
                  <a:lnTo>
                    <a:pt x="6259" y="15691"/>
                  </a:lnTo>
                  <a:lnTo>
                    <a:pt x="6259" y="14771"/>
                  </a:lnTo>
                  <a:close/>
                  <a:moveTo>
                    <a:pt x="2886" y="14771"/>
                  </a:moveTo>
                  <a:lnTo>
                    <a:pt x="5124" y="14771"/>
                  </a:lnTo>
                  <a:lnTo>
                    <a:pt x="5124" y="15691"/>
                  </a:lnTo>
                  <a:lnTo>
                    <a:pt x="2886" y="15691"/>
                  </a:lnTo>
                  <a:lnTo>
                    <a:pt x="2886" y="14771"/>
                  </a:lnTo>
                  <a:close/>
                  <a:moveTo>
                    <a:pt x="16443" y="16466"/>
                  </a:moveTo>
                  <a:lnTo>
                    <a:pt x="18714" y="16466"/>
                  </a:lnTo>
                  <a:lnTo>
                    <a:pt x="18714" y="17387"/>
                  </a:lnTo>
                  <a:lnTo>
                    <a:pt x="16443" y="17387"/>
                  </a:lnTo>
                  <a:lnTo>
                    <a:pt x="16443" y="16466"/>
                  </a:lnTo>
                  <a:close/>
                  <a:moveTo>
                    <a:pt x="13070" y="16466"/>
                  </a:moveTo>
                  <a:lnTo>
                    <a:pt x="15308" y="16466"/>
                  </a:lnTo>
                  <a:lnTo>
                    <a:pt x="15308" y="17387"/>
                  </a:lnTo>
                  <a:lnTo>
                    <a:pt x="13070" y="17387"/>
                  </a:lnTo>
                  <a:lnTo>
                    <a:pt x="13070" y="16466"/>
                  </a:lnTo>
                  <a:close/>
                  <a:moveTo>
                    <a:pt x="9665" y="16466"/>
                  </a:moveTo>
                  <a:lnTo>
                    <a:pt x="11935" y="16466"/>
                  </a:lnTo>
                  <a:lnTo>
                    <a:pt x="11935" y="17387"/>
                  </a:lnTo>
                  <a:lnTo>
                    <a:pt x="9665" y="17387"/>
                  </a:lnTo>
                  <a:lnTo>
                    <a:pt x="9665" y="16466"/>
                  </a:lnTo>
                  <a:close/>
                  <a:moveTo>
                    <a:pt x="6259" y="16466"/>
                  </a:moveTo>
                  <a:lnTo>
                    <a:pt x="8530" y="16466"/>
                  </a:lnTo>
                  <a:lnTo>
                    <a:pt x="8530" y="17387"/>
                  </a:lnTo>
                  <a:lnTo>
                    <a:pt x="6259" y="17387"/>
                  </a:lnTo>
                  <a:lnTo>
                    <a:pt x="6259" y="16466"/>
                  </a:lnTo>
                  <a:close/>
                  <a:moveTo>
                    <a:pt x="2886" y="16466"/>
                  </a:moveTo>
                  <a:lnTo>
                    <a:pt x="5124" y="16466"/>
                  </a:lnTo>
                  <a:lnTo>
                    <a:pt x="5124" y="17387"/>
                  </a:lnTo>
                  <a:lnTo>
                    <a:pt x="2886" y="17387"/>
                  </a:lnTo>
                  <a:lnTo>
                    <a:pt x="2886" y="16466"/>
                  </a:lnTo>
                  <a:close/>
                  <a:moveTo>
                    <a:pt x="16443" y="18161"/>
                  </a:moveTo>
                  <a:lnTo>
                    <a:pt x="18714" y="18161"/>
                  </a:lnTo>
                  <a:lnTo>
                    <a:pt x="18714" y="19057"/>
                  </a:lnTo>
                  <a:lnTo>
                    <a:pt x="16443" y="19057"/>
                  </a:lnTo>
                  <a:lnTo>
                    <a:pt x="16443" y="18161"/>
                  </a:lnTo>
                  <a:close/>
                  <a:moveTo>
                    <a:pt x="13070" y="18161"/>
                  </a:moveTo>
                  <a:lnTo>
                    <a:pt x="15308" y="18161"/>
                  </a:lnTo>
                  <a:lnTo>
                    <a:pt x="15308" y="19057"/>
                  </a:lnTo>
                  <a:lnTo>
                    <a:pt x="13070" y="19057"/>
                  </a:lnTo>
                  <a:lnTo>
                    <a:pt x="13070" y="18161"/>
                  </a:lnTo>
                  <a:close/>
                  <a:moveTo>
                    <a:pt x="9665" y="18161"/>
                  </a:moveTo>
                  <a:lnTo>
                    <a:pt x="11935" y="18161"/>
                  </a:lnTo>
                  <a:lnTo>
                    <a:pt x="11935" y="19057"/>
                  </a:lnTo>
                  <a:lnTo>
                    <a:pt x="9665" y="19057"/>
                  </a:lnTo>
                  <a:lnTo>
                    <a:pt x="9665" y="18161"/>
                  </a:lnTo>
                  <a:close/>
                  <a:moveTo>
                    <a:pt x="6259" y="18161"/>
                  </a:moveTo>
                  <a:lnTo>
                    <a:pt x="8530" y="18161"/>
                  </a:lnTo>
                  <a:lnTo>
                    <a:pt x="8530" y="19057"/>
                  </a:lnTo>
                  <a:lnTo>
                    <a:pt x="6259" y="19057"/>
                  </a:lnTo>
                  <a:lnTo>
                    <a:pt x="6259" y="18161"/>
                  </a:lnTo>
                  <a:close/>
                  <a:moveTo>
                    <a:pt x="2886" y="18161"/>
                  </a:moveTo>
                  <a:lnTo>
                    <a:pt x="5124" y="18161"/>
                  </a:lnTo>
                  <a:lnTo>
                    <a:pt x="5124" y="19057"/>
                  </a:lnTo>
                  <a:lnTo>
                    <a:pt x="2886" y="19057"/>
                  </a:lnTo>
                  <a:lnTo>
                    <a:pt x="2886" y="18161"/>
                  </a:lnTo>
                  <a:close/>
                  <a:moveTo>
                    <a:pt x="15276" y="4238"/>
                  </a:moveTo>
                  <a:lnTo>
                    <a:pt x="16508" y="4238"/>
                  </a:lnTo>
                  <a:lnTo>
                    <a:pt x="16508" y="5085"/>
                  </a:lnTo>
                  <a:lnTo>
                    <a:pt x="15276" y="5085"/>
                  </a:lnTo>
                  <a:lnTo>
                    <a:pt x="15276" y="4238"/>
                  </a:lnTo>
                  <a:close/>
                  <a:moveTo>
                    <a:pt x="15276" y="5521"/>
                  </a:moveTo>
                  <a:lnTo>
                    <a:pt x="16508" y="5521"/>
                  </a:lnTo>
                  <a:lnTo>
                    <a:pt x="16508" y="6369"/>
                  </a:lnTo>
                  <a:lnTo>
                    <a:pt x="15276" y="6369"/>
                  </a:lnTo>
                  <a:lnTo>
                    <a:pt x="15276" y="5521"/>
                  </a:lnTo>
                  <a:close/>
                  <a:moveTo>
                    <a:pt x="13005" y="4238"/>
                  </a:moveTo>
                  <a:lnTo>
                    <a:pt x="14238" y="4238"/>
                  </a:lnTo>
                  <a:lnTo>
                    <a:pt x="14238" y="5085"/>
                  </a:lnTo>
                  <a:lnTo>
                    <a:pt x="13005" y="5085"/>
                  </a:lnTo>
                  <a:lnTo>
                    <a:pt x="13005" y="4238"/>
                  </a:lnTo>
                  <a:close/>
                  <a:moveTo>
                    <a:pt x="13005" y="5521"/>
                  </a:moveTo>
                  <a:lnTo>
                    <a:pt x="14238" y="5521"/>
                  </a:lnTo>
                  <a:lnTo>
                    <a:pt x="14238" y="6369"/>
                  </a:lnTo>
                  <a:lnTo>
                    <a:pt x="13005" y="6369"/>
                  </a:lnTo>
                  <a:lnTo>
                    <a:pt x="13005" y="5521"/>
                  </a:lnTo>
                  <a:close/>
                  <a:moveTo>
                    <a:pt x="10768" y="4238"/>
                  </a:moveTo>
                  <a:lnTo>
                    <a:pt x="11968" y="4238"/>
                  </a:lnTo>
                  <a:lnTo>
                    <a:pt x="11968" y="5085"/>
                  </a:lnTo>
                  <a:lnTo>
                    <a:pt x="10768" y="5085"/>
                  </a:lnTo>
                  <a:lnTo>
                    <a:pt x="10768" y="4238"/>
                  </a:lnTo>
                  <a:close/>
                  <a:moveTo>
                    <a:pt x="10768" y="5521"/>
                  </a:moveTo>
                  <a:lnTo>
                    <a:pt x="11968" y="5521"/>
                  </a:lnTo>
                  <a:lnTo>
                    <a:pt x="11968" y="6369"/>
                  </a:lnTo>
                  <a:lnTo>
                    <a:pt x="10768" y="6369"/>
                  </a:lnTo>
                  <a:lnTo>
                    <a:pt x="10768" y="5521"/>
                  </a:lnTo>
                  <a:close/>
                </a:path>
              </a:pathLst>
            </a:custGeom>
            <a:solidFill>
              <a:srgbClr val="FF9900"/>
            </a:solidFill>
            <a:ln w="12700">
              <a:noFill/>
            </a:ln>
          </p:spPr>
          <p:style>
            <a:lnRef idx="0">
              <a:scrgbClr r="0" g="0" b="0"/>
            </a:lnRef>
            <a:fillRef idx="0">
              <a:scrgbClr r="0" g="0" b="0"/>
            </a:fillRef>
            <a:effectRef idx="0">
              <a:scrgbClr r="0" g="0" b="0"/>
            </a:effectRef>
            <a:fontRef idx="minor"/>
          </p:style>
          <p:txBody>
            <a:bodyPr/>
            <a:lstStyle/>
            <a:p>
              <a:endParaRPr lang="en-GB" sz="3600"/>
            </a:p>
          </p:txBody>
        </p:sp>
        <p:sp>
          <p:nvSpPr>
            <p:cNvPr id="301" name="TextBox 435">
              <a:extLst>
                <a:ext uri="{FF2B5EF4-FFF2-40B4-BE49-F238E27FC236}">
                  <a16:creationId xmlns:a16="http://schemas.microsoft.com/office/drawing/2014/main" id="{2BD01DE8-E7E1-E519-54A4-61A0F8B4395B}"/>
                </a:ext>
              </a:extLst>
            </p:cNvPr>
            <p:cNvSpPr/>
            <p:nvPr/>
          </p:nvSpPr>
          <p:spPr>
            <a:xfrm>
              <a:off x="1095480" y="4453200"/>
              <a:ext cx="664920" cy="275545"/>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lgn="ctr">
                <a:tabLst>
                  <a:tab pos="0" algn="l"/>
                </a:tabLst>
              </a:pPr>
              <a:r>
                <a:rPr lang="en-GB" sz="1200" spc="-2">
                  <a:solidFill>
                    <a:srgbClr val="000000"/>
                  </a:solidFill>
                  <a:latin typeface="Arial"/>
                  <a:ea typeface="DejaVu Sans"/>
                </a:rPr>
                <a:t>Est. Cost of</a:t>
              </a:r>
              <a:endParaRPr lang="en-GB" sz="1200" spc="-2">
                <a:latin typeface="Arial"/>
              </a:endParaRPr>
            </a:p>
            <a:p>
              <a:pPr algn="ctr">
                <a:tabLst>
                  <a:tab pos="0" algn="l"/>
                </a:tabLst>
              </a:pPr>
              <a:r>
                <a:rPr lang="en-GB" sz="1200" spc="-2">
                  <a:solidFill>
                    <a:srgbClr val="000000"/>
                  </a:solidFill>
                  <a:latin typeface="Arial"/>
                  <a:ea typeface="DejaVu Sans"/>
                </a:rPr>
                <a:t>Operation</a:t>
              </a:r>
              <a:endParaRPr lang="en-GB" sz="1200" spc="-2">
                <a:latin typeface="Arial"/>
              </a:endParaRPr>
            </a:p>
          </p:txBody>
        </p:sp>
      </p:grpSp>
      <p:sp>
        <p:nvSpPr>
          <p:cNvPr id="304" name="Arrow: Pentagon 438">
            <a:extLst>
              <a:ext uri="{FF2B5EF4-FFF2-40B4-BE49-F238E27FC236}">
                <a16:creationId xmlns:a16="http://schemas.microsoft.com/office/drawing/2014/main" id="{E6F5CE08-0271-E8F0-3253-CF0C2778E47C}"/>
              </a:ext>
            </a:extLst>
          </p:cNvPr>
          <p:cNvSpPr/>
          <p:nvPr/>
        </p:nvSpPr>
        <p:spPr>
          <a:xfrm>
            <a:off x="780480" y="3194064"/>
            <a:ext cx="22866480" cy="508320"/>
          </a:xfrm>
          <a:prstGeom prst="homePlate">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p:style>
        <p:txBody>
          <a:bodyPr lIns="180000" tIns="90000" rIns="180000" bIns="90000" anchor="ctr">
            <a:noAutofit/>
          </a:bodyPr>
          <a:lstStyle/>
          <a:p>
            <a:pPr>
              <a:tabLst>
                <a:tab pos="0" algn="l"/>
              </a:tabLst>
            </a:pPr>
            <a:r>
              <a:rPr lang="en-GB" b="1" spc="-2">
                <a:solidFill>
                  <a:srgbClr val="000000"/>
                </a:solidFill>
                <a:latin typeface="Arial"/>
                <a:ea typeface="DejaVu Sans"/>
              </a:rPr>
              <a:t>TIMELINE</a:t>
            </a:r>
            <a:endParaRPr lang="en-GB" spc="-2">
              <a:latin typeface="Arial"/>
            </a:endParaRPr>
          </a:p>
        </p:txBody>
      </p:sp>
      <p:sp>
        <p:nvSpPr>
          <p:cNvPr id="305" name="Rectangle 439">
            <a:extLst>
              <a:ext uri="{FF2B5EF4-FFF2-40B4-BE49-F238E27FC236}">
                <a16:creationId xmlns:a16="http://schemas.microsoft.com/office/drawing/2014/main" id="{E4703555-BEF6-2137-9BBA-DF87A470B1A7}"/>
              </a:ext>
            </a:extLst>
          </p:cNvPr>
          <p:cNvSpPr/>
          <p:nvPr/>
        </p:nvSpPr>
        <p:spPr>
          <a:xfrm>
            <a:off x="21129840" y="10461024"/>
            <a:ext cx="398160" cy="418320"/>
          </a:xfrm>
          <a:prstGeom prst="rect">
            <a:avLst/>
          </a:prstGeom>
          <a:solidFill>
            <a:schemeClr val="bg1">
              <a:lumMod val="95000"/>
            </a:schemeClr>
          </a:solidFill>
          <a:ln>
            <a:solidFill>
              <a:srgbClr val="404040"/>
            </a:solidFill>
            <a:prstDash val="sysDash"/>
          </a:ln>
        </p:spPr>
        <p:style>
          <a:lnRef idx="2">
            <a:schemeClr val="accent1">
              <a:shade val="50000"/>
            </a:schemeClr>
          </a:lnRef>
          <a:fillRef idx="1">
            <a:schemeClr val="accent1"/>
          </a:fillRef>
          <a:effectRef idx="0">
            <a:schemeClr val="accent1"/>
          </a:effectRef>
          <a:fontRef idx="minor"/>
        </p:style>
        <p:txBody>
          <a:bodyPr/>
          <a:lstStyle/>
          <a:p>
            <a:endParaRPr lang="en-GB" sz="3600"/>
          </a:p>
        </p:txBody>
      </p:sp>
      <p:sp>
        <p:nvSpPr>
          <p:cNvPr id="306" name="TextBox 440">
            <a:extLst>
              <a:ext uri="{FF2B5EF4-FFF2-40B4-BE49-F238E27FC236}">
                <a16:creationId xmlns:a16="http://schemas.microsoft.com/office/drawing/2014/main" id="{FE6E1590-B2D8-43FE-216E-DF3EB6152969}"/>
              </a:ext>
            </a:extLst>
          </p:cNvPr>
          <p:cNvSpPr/>
          <p:nvPr/>
        </p:nvSpPr>
        <p:spPr>
          <a:xfrm>
            <a:off x="21710160" y="10486225"/>
            <a:ext cx="2048400" cy="551090"/>
          </a:xfrm>
          <a:prstGeom prst="rect">
            <a:avLst/>
          </a:prstGeom>
          <a:noFill/>
          <a:ln w="0">
            <a:noFill/>
          </a:ln>
        </p:spPr>
        <p:style>
          <a:lnRef idx="0">
            <a:scrgbClr r="0" g="0" b="0"/>
          </a:lnRef>
          <a:fillRef idx="0">
            <a:scrgbClr r="0" g="0" b="0"/>
          </a:fillRef>
          <a:effectRef idx="0">
            <a:scrgbClr r="0" g="0" b="0"/>
          </a:effectRef>
          <a:fontRef idx="minor"/>
        </p:style>
        <p:txBody>
          <a:bodyPr lIns="180000" tIns="90000" rIns="180000" bIns="90000" anchor="t">
            <a:spAutoFit/>
          </a:bodyPr>
          <a:lstStyle/>
          <a:p>
            <a:pPr>
              <a:tabLst>
                <a:tab pos="0" algn="l"/>
              </a:tabLst>
            </a:pPr>
            <a:r>
              <a:rPr lang="en-GB" sz="1200" spc="-2">
                <a:solidFill>
                  <a:srgbClr val="000000"/>
                </a:solidFill>
                <a:latin typeface="Arial"/>
                <a:ea typeface="DejaVu Sans"/>
              </a:rPr>
              <a:t>Deliverable dependent on classification</a:t>
            </a:r>
            <a:endParaRPr lang="en-GB" sz="1200" spc="-2">
              <a:latin typeface="Arial"/>
            </a:endParaRPr>
          </a:p>
        </p:txBody>
      </p:sp>
    </p:spTree>
    <p:extLst>
      <p:ext uri="{BB962C8B-B14F-4D97-AF65-F5344CB8AC3E}">
        <p14:creationId xmlns:p14="http://schemas.microsoft.com/office/powerpoint/2010/main" val="32787600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0D55950-08B6-14B2-C5D5-69062B974011}"/>
              </a:ext>
            </a:extLst>
          </p:cNvPr>
          <p:cNvSpPr>
            <a:spLocks noGrp="1"/>
          </p:cNvSpPr>
          <p:nvPr>
            <p:ph type="body" sz="quarter" idx="12"/>
          </p:nvPr>
        </p:nvSpPr>
        <p:spPr>
          <a:xfrm>
            <a:off x="723902" y="2781304"/>
            <a:ext cx="22936200" cy="2020296"/>
          </a:xfrm>
        </p:spPr>
        <p:txBody>
          <a:bodyPr/>
          <a:lstStyle/>
          <a:p>
            <a:r>
              <a:rPr lang="en-GB">
                <a:hlinkClick r:id="rId2"/>
              </a:rPr>
              <a:t>Completed Application Profiling Workbook – Including Analysis</a:t>
            </a:r>
            <a:r>
              <a:rPr lang="en-GB"/>
              <a:t> </a:t>
            </a:r>
            <a:endParaRPr lang="en-GB">
              <a:hlinkClick r:id="" action="ppaction://noaction"/>
            </a:endParaRPr>
          </a:p>
          <a:p>
            <a:r>
              <a:rPr lang="en-GB">
                <a:hlinkClick r:id="" action="ppaction://noaction"/>
              </a:rPr>
              <a:t>App to Server Mapping</a:t>
            </a:r>
          </a:p>
          <a:p>
            <a:r>
              <a:rPr lang="en-GB">
                <a:hlinkClick r:id="rId3"/>
              </a:rPr>
              <a:t>Release Plan</a:t>
            </a:r>
            <a:endParaRPr lang="en-GB"/>
          </a:p>
        </p:txBody>
      </p:sp>
      <p:sp>
        <p:nvSpPr>
          <p:cNvPr id="2" name="Title 1">
            <a:extLst>
              <a:ext uri="{FF2B5EF4-FFF2-40B4-BE49-F238E27FC236}">
                <a16:creationId xmlns:a16="http://schemas.microsoft.com/office/drawing/2014/main" id="{01895ED5-BF70-742E-8EDB-A2652A8F03C9}"/>
              </a:ext>
            </a:extLst>
          </p:cNvPr>
          <p:cNvSpPr>
            <a:spLocks noGrp="1"/>
          </p:cNvSpPr>
          <p:nvPr>
            <p:ph type="title"/>
          </p:nvPr>
        </p:nvSpPr>
        <p:spPr/>
        <p:txBody>
          <a:bodyPr/>
          <a:lstStyle/>
          <a:p>
            <a:r>
              <a:rPr lang="en-GB"/>
              <a:t>Reference Documentation</a:t>
            </a:r>
          </a:p>
        </p:txBody>
      </p:sp>
      <p:sp>
        <p:nvSpPr>
          <p:cNvPr id="3" name="Slide Number Placeholder 2">
            <a:extLst>
              <a:ext uri="{FF2B5EF4-FFF2-40B4-BE49-F238E27FC236}">
                <a16:creationId xmlns:a16="http://schemas.microsoft.com/office/drawing/2014/main" id="{B332DB7F-CDE4-A5A5-A2A2-3374B22CCC02}"/>
              </a:ext>
            </a:extLst>
          </p:cNvPr>
          <p:cNvSpPr>
            <a:spLocks noGrp="1"/>
          </p:cNvSpPr>
          <p:nvPr>
            <p:ph type="sldNum" sz="quarter" idx="4"/>
          </p:nvPr>
        </p:nvSpPr>
        <p:spPr/>
        <p:txBody>
          <a:bodyPr/>
          <a:lstStyle/>
          <a:p>
            <a:fld id="{762E77F0-FB5B-4E8E-9BC9-34F14560A017}" type="slidenum">
              <a:rPr lang="en-US" smtClean="0"/>
              <a:pPr/>
              <a:t>71</a:t>
            </a:fld>
            <a:endParaRPr lang="en-US"/>
          </a:p>
        </p:txBody>
      </p:sp>
    </p:spTree>
    <p:extLst>
      <p:ext uri="{BB962C8B-B14F-4D97-AF65-F5344CB8AC3E}">
        <p14:creationId xmlns:p14="http://schemas.microsoft.com/office/powerpoint/2010/main" val="84415028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8D8E49-FECE-EAE1-FF9D-237A0929941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DD87BA9-4FA0-269A-88C9-66B7E0F0A89C}"/>
              </a:ext>
            </a:extLst>
          </p:cNvPr>
          <p:cNvSpPr>
            <a:spLocks noGrp="1"/>
          </p:cNvSpPr>
          <p:nvPr>
            <p:ph type="title"/>
          </p:nvPr>
        </p:nvSpPr>
        <p:spPr/>
        <p:txBody>
          <a:bodyPr/>
          <a:lstStyle/>
          <a:p>
            <a:r>
              <a:rPr lang="en-GB"/>
              <a:t>Preparing for the Migration	</a:t>
            </a:r>
          </a:p>
        </p:txBody>
      </p:sp>
      <p:sp>
        <p:nvSpPr>
          <p:cNvPr id="3" name="Slide Number Placeholder 2">
            <a:extLst>
              <a:ext uri="{FF2B5EF4-FFF2-40B4-BE49-F238E27FC236}">
                <a16:creationId xmlns:a16="http://schemas.microsoft.com/office/drawing/2014/main" id="{BBBDCA16-443C-E0BC-9E7E-161206BFB66F}"/>
              </a:ext>
            </a:extLst>
          </p:cNvPr>
          <p:cNvSpPr>
            <a:spLocks noGrp="1"/>
          </p:cNvSpPr>
          <p:nvPr>
            <p:ph type="sldNum" sz="quarter" idx="4"/>
          </p:nvPr>
        </p:nvSpPr>
        <p:spPr/>
        <p:txBody>
          <a:bodyPr/>
          <a:lstStyle/>
          <a:p>
            <a:fld id="{762E77F0-FB5B-4E8E-9BC9-34F14560A017}" type="slidenum">
              <a:rPr lang="en-US" smtClean="0"/>
              <a:pPr/>
              <a:t>72</a:t>
            </a:fld>
            <a:endParaRPr lang="en-US"/>
          </a:p>
        </p:txBody>
      </p:sp>
      <p:sp>
        <p:nvSpPr>
          <p:cNvPr id="7" name="Rectangle 6">
            <a:extLst>
              <a:ext uri="{FF2B5EF4-FFF2-40B4-BE49-F238E27FC236}">
                <a16:creationId xmlns:a16="http://schemas.microsoft.com/office/drawing/2014/main" id="{F588BA42-E493-B0D4-713E-9BB8AF6EA9FF}"/>
              </a:ext>
            </a:extLst>
          </p:cNvPr>
          <p:cNvSpPr/>
          <p:nvPr/>
        </p:nvSpPr>
        <p:spPr>
          <a:xfrm>
            <a:off x="13632286" y="3571993"/>
            <a:ext cx="943920" cy="1177526"/>
          </a:xfrm>
          <a:prstGeom prst="rect">
            <a:avLst/>
          </a:prstGeom>
          <a:solidFill>
            <a:schemeClr val="bg1"/>
          </a:solidFill>
          <a:ln w="12700">
            <a:solidFill>
              <a:srgbClr val="FF676B"/>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sz="7200">
              <a:solidFill>
                <a:schemeClr val="tx1"/>
              </a:solidFill>
              <a:latin typeface="Arial"/>
            </a:endParaRPr>
          </a:p>
        </p:txBody>
      </p:sp>
      <p:grpSp>
        <p:nvGrpSpPr>
          <p:cNvPr id="8" name="Group 7">
            <a:extLst>
              <a:ext uri="{FF2B5EF4-FFF2-40B4-BE49-F238E27FC236}">
                <a16:creationId xmlns:a16="http://schemas.microsoft.com/office/drawing/2014/main" id="{C7B45AFC-73BC-6817-4572-643250AFCDF9}"/>
              </a:ext>
            </a:extLst>
          </p:cNvPr>
          <p:cNvGrpSpPr/>
          <p:nvPr/>
        </p:nvGrpSpPr>
        <p:grpSpPr>
          <a:xfrm>
            <a:off x="12323019" y="2747075"/>
            <a:ext cx="3757566" cy="3222154"/>
            <a:chOff x="1896354" y="1859403"/>
            <a:chExt cx="1878783" cy="1611077"/>
          </a:xfrm>
        </p:grpSpPr>
        <p:grpSp>
          <p:nvGrpSpPr>
            <p:cNvPr id="9" name="Group 8">
              <a:extLst>
                <a:ext uri="{FF2B5EF4-FFF2-40B4-BE49-F238E27FC236}">
                  <a16:creationId xmlns:a16="http://schemas.microsoft.com/office/drawing/2014/main" id="{16E3B7E2-F17E-AD1B-ABAB-BBA6E1CA3937}"/>
                </a:ext>
              </a:extLst>
            </p:cNvPr>
            <p:cNvGrpSpPr/>
            <p:nvPr/>
          </p:nvGrpSpPr>
          <p:grpSpPr>
            <a:xfrm>
              <a:off x="1896354" y="2309989"/>
              <a:ext cx="751328" cy="430348"/>
              <a:chOff x="531469" y="2374421"/>
              <a:chExt cx="715310" cy="409716"/>
            </a:xfrm>
          </p:grpSpPr>
          <p:sp>
            <p:nvSpPr>
              <p:cNvPr id="27" name="Shape">
                <a:extLst>
                  <a:ext uri="{FF2B5EF4-FFF2-40B4-BE49-F238E27FC236}">
                    <a16:creationId xmlns:a16="http://schemas.microsoft.com/office/drawing/2014/main" id="{7C5502FE-8083-B188-FD91-CA7300BBEFA7}"/>
                  </a:ext>
                </a:extLst>
              </p:cNvPr>
              <p:cNvSpPr/>
              <p:nvPr/>
            </p:nvSpPr>
            <p:spPr>
              <a:xfrm>
                <a:off x="813210" y="2374421"/>
                <a:ext cx="151828" cy="196917"/>
              </a:xfrm>
              <a:custGeom>
                <a:avLst/>
                <a:gdLst>
                  <a:gd name="connsiteX0" fmla="*/ 21600 w 21600"/>
                  <a:gd name="connsiteY0" fmla="*/ 16482 h 20177"/>
                  <a:gd name="connsiteX1" fmla="*/ 21600 w 21600"/>
                  <a:gd name="connsiteY1" fmla="*/ 5197 h 20177"/>
                  <a:gd name="connsiteX2" fmla="*/ 12314 w 21600"/>
                  <a:gd name="connsiteY2" fmla="*/ 0 h 20177"/>
                  <a:gd name="connsiteX3" fmla="*/ 0 w 21600"/>
                  <a:gd name="connsiteY3" fmla="*/ 0 h 20177"/>
                  <a:gd name="connsiteX4" fmla="*/ 0 w 21600"/>
                  <a:gd name="connsiteY4" fmla="*/ 16482 h 20177"/>
                  <a:gd name="connsiteX5" fmla="*/ 10161 w 21600"/>
                  <a:gd name="connsiteY5" fmla="*/ 16482 h 20177"/>
                  <a:gd name="connsiteX6" fmla="*/ 10161 w 21600"/>
                  <a:gd name="connsiteY6" fmla="*/ 20177 h 20177"/>
                  <a:gd name="connsiteX7" fmla="*/ 6191 w 21600"/>
                  <a:gd name="connsiteY7" fmla="*/ 17825 h 20177"/>
                  <a:gd name="connsiteX8" fmla="*/ 5282 w 21600"/>
                  <a:gd name="connsiteY8" fmla="*/ 18359 h 20177"/>
                  <a:gd name="connsiteX9" fmla="*/ 16318 w 21600"/>
                  <a:gd name="connsiteY9" fmla="*/ 18359 h 20177"/>
                  <a:gd name="connsiteX10" fmla="*/ 15443 w 21600"/>
                  <a:gd name="connsiteY10" fmla="*/ 17825 h 20177"/>
                  <a:gd name="connsiteX11" fmla="*/ 11439 w 21600"/>
                  <a:gd name="connsiteY11" fmla="*/ 20177 h 20177"/>
                  <a:gd name="connsiteX12" fmla="*/ 11439 w 21600"/>
                  <a:gd name="connsiteY12" fmla="*/ 16482 h 20177"/>
                  <a:gd name="connsiteX13" fmla="*/ 21600 w 21600"/>
                  <a:gd name="connsiteY13" fmla="*/ 16482 h 20177"/>
                  <a:gd name="connsiteX14" fmla="*/ 19850 w 21600"/>
                  <a:gd name="connsiteY14" fmla="*/ 5237 h 20177"/>
                  <a:gd name="connsiteX15" fmla="*/ 12213 w 21600"/>
                  <a:gd name="connsiteY15" fmla="*/ 5237 h 20177"/>
                  <a:gd name="connsiteX16" fmla="*/ 12213 w 21600"/>
                  <a:gd name="connsiteY16" fmla="*/ 968 h 20177"/>
                  <a:gd name="connsiteX17" fmla="*/ 19850 w 21600"/>
                  <a:gd name="connsiteY17" fmla="*/ 5237 h 20177"/>
                  <a:gd name="connsiteX18" fmla="*/ 10935 w 21600"/>
                  <a:gd name="connsiteY18" fmla="*/ 731 h 20177"/>
                  <a:gd name="connsiteX19" fmla="*/ 10935 w 21600"/>
                  <a:gd name="connsiteY19" fmla="*/ 3340 h 20177"/>
                  <a:gd name="connsiteX20" fmla="*/ 3465 w 21600"/>
                  <a:gd name="connsiteY20" fmla="*/ 3340 h 20177"/>
                  <a:gd name="connsiteX21" fmla="*/ 3465 w 21600"/>
                  <a:gd name="connsiteY21" fmla="*/ 4071 h 20177"/>
                  <a:gd name="connsiteX22" fmla="*/ 10935 w 21600"/>
                  <a:gd name="connsiteY22" fmla="*/ 4071 h 20177"/>
                  <a:gd name="connsiteX23" fmla="*/ 10935 w 21600"/>
                  <a:gd name="connsiteY23" fmla="*/ 5237 h 20177"/>
                  <a:gd name="connsiteX24" fmla="*/ 3465 w 21600"/>
                  <a:gd name="connsiteY24" fmla="*/ 5237 h 20177"/>
                  <a:gd name="connsiteX25" fmla="*/ 3465 w 21600"/>
                  <a:gd name="connsiteY25" fmla="*/ 5988 h 20177"/>
                  <a:gd name="connsiteX26" fmla="*/ 20321 w 21600"/>
                  <a:gd name="connsiteY26" fmla="*/ 5988 h 20177"/>
                  <a:gd name="connsiteX27" fmla="*/ 20321 w 21600"/>
                  <a:gd name="connsiteY27" fmla="*/ 15731 h 20177"/>
                  <a:gd name="connsiteX28" fmla="*/ 1279 w 21600"/>
                  <a:gd name="connsiteY28" fmla="*/ 15731 h 20177"/>
                  <a:gd name="connsiteX29" fmla="*/ 1279 w 21600"/>
                  <a:gd name="connsiteY29" fmla="*/ 731 h 20177"/>
                  <a:gd name="connsiteX30" fmla="*/ 10935 w 21600"/>
                  <a:gd name="connsiteY30" fmla="*/ 731 h 20177"/>
                  <a:gd name="connsiteX31" fmla="*/ 3465 w 21600"/>
                  <a:gd name="connsiteY31" fmla="*/ 12865 h 20177"/>
                  <a:gd name="connsiteX32" fmla="*/ 15645 w 21600"/>
                  <a:gd name="connsiteY32" fmla="*/ 12865 h 20177"/>
                  <a:gd name="connsiteX33" fmla="*/ 15645 w 21600"/>
                  <a:gd name="connsiteY33" fmla="*/ 13616 h 20177"/>
                  <a:gd name="connsiteX34" fmla="*/ 3465 w 21600"/>
                  <a:gd name="connsiteY34" fmla="*/ 13616 h 20177"/>
                  <a:gd name="connsiteX35" fmla="*/ 3465 w 21600"/>
                  <a:gd name="connsiteY35" fmla="*/ 12865 h 20177"/>
                  <a:gd name="connsiteX36" fmla="*/ 3465 w 21600"/>
                  <a:gd name="connsiteY36" fmla="*/ 10968 h 20177"/>
                  <a:gd name="connsiteX37" fmla="*/ 18067 w 21600"/>
                  <a:gd name="connsiteY37" fmla="*/ 10968 h 20177"/>
                  <a:gd name="connsiteX38" fmla="*/ 18067 w 21600"/>
                  <a:gd name="connsiteY38" fmla="*/ 11719 h 20177"/>
                  <a:gd name="connsiteX39" fmla="*/ 3465 w 21600"/>
                  <a:gd name="connsiteY39" fmla="*/ 11719 h 20177"/>
                  <a:gd name="connsiteX40" fmla="*/ 3465 w 21600"/>
                  <a:gd name="connsiteY40" fmla="*/ 10968 h 20177"/>
                  <a:gd name="connsiteX41" fmla="*/ 3465 w 21600"/>
                  <a:gd name="connsiteY41" fmla="*/ 9051 h 20177"/>
                  <a:gd name="connsiteX42" fmla="*/ 18067 w 21600"/>
                  <a:gd name="connsiteY42" fmla="*/ 9051 h 20177"/>
                  <a:gd name="connsiteX43" fmla="*/ 18067 w 21600"/>
                  <a:gd name="connsiteY43" fmla="*/ 9802 h 20177"/>
                  <a:gd name="connsiteX44" fmla="*/ 3465 w 21600"/>
                  <a:gd name="connsiteY44" fmla="*/ 9802 h 20177"/>
                  <a:gd name="connsiteX45" fmla="*/ 3465 w 21600"/>
                  <a:gd name="connsiteY45" fmla="*/ 9051 h 20177"/>
                  <a:gd name="connsiteX46" fmla="*/ 3465 w 21600"/>
                  <a:gd name="connsiteY46" fmla="*/ 7154 h 20177"/>
                  <a:gd name="connsiteX47" fmla="*/ 18067 w 21600"/>
                  <a:gd name="connsiteY47" fmla="*/ 7154 h 20177"/>
                  <a:gd name="connsiteX48" fmla="*/ 18067 w 21600"/>
                  <a:gd name="connsiteY48" fmla="*/ 7885 h 20177"/>
                  <a:gd name="connsiteX49" fmla="*/ 3465 w 21600"/>
                  <a:gd name="connsiteY49" fmla="*/ 7885 h 20177"/>
                  <a:gd name="connsiteX50" fmla="*/ 3465 w 21600"/>
                  <a:gd name="connsiteY50" fmla="*/ 7154 h 20177"/>
                  <a:gd name="connsiteX0" fmla="*/ 21600 w 21600"/>
                  <a:gd name="connsiteY0" fmla="*/ 16482 h 20177"/>
                  <a:gd name="connsiteX1" fmla="*/ 21600 w 21600"/>
                  <a:gd name="connsiteY1" fmla="*/ 5197 h 20177"/>
                  <a:gd name="connsiteX2" fmla="*/ 12314 w 21600"/>
                  <a:gd name="connsiteY2" fmla="*/ 0 h 20177"/>
                  <a:gd name="connsiteX3" fmla="*/ 0 w 21600"/>
                  <a:gd name="connsiteY3" fmla="*/ 0 h 20177"/>
                  <a:gd name="connsiteX4" fmla="*/ 0 w 21600"/>
                  <a:gd name="connsiteY4" fmla="*/ 16482 h 20177"/>
                  <a:gd name="connsiteX5" fmla="*/ 10161 w 21600"/>
                  <a:gd name="connsiteY5" fmla="*/ 16482 h 20177"/>
                  <a:gd name="connsiteX6" fmla="*/ 10161 w 21600"/>
                  <a:gd name="connsiteY6" fmla="*/ 20177 h 20177"/>
                  <a:gd name="connsiteX7" fmla="*/ 6191 w 21600"/>
                  <a:gd name="connsiteY7" fmla="*/ 17825 h 20177"/>
                  <a:gd name="connsiteX8" fmla="*/ 5282 w 21600"/>
                  <a:gd name="connsiteY8" fmla="*/ 18359 h 20177"/>
                  <a:gd name="connsiteX9" fmla="*/ 16318 w 21600"/>
                  <a:gd name="connsiteY9" fmla="*/ 18359 h 20177"/>
                  <a:gd name="connsiteX10" fmla="*/ 15443 w 21600"/>
                  <a:gd name="connsiteY10" fmla="*/ 17825 h 20177"/>
                  <a:gd name="connsiteX11" fmla="*/ 11439 w 21600"/>
                  <a:gd name="connsiteY11" fmla="*/ 16482 h 20177"/>
                  <a:gd name="connsiteX12" fmla="*/ 21600 w 21600"/>
                  <a:gd name="connsiteY12" fmla="*/ 16482 h 20177"/>
                  <a:gd name="connsiteX13" fmla="*/ 19850 w 21600"/>
                  <a:gd name="connsiteY13" fmla="*/ 5237 h 20177"/>
                  <a:gd name="connsiteX14" fmla="*/ 12213 w 21600"/>
                  <a:gd name="connsiteY14" fmla="*/ 5237 h 20177"/>
                  <a:gd name="connsiteX15" fmla="*/ 12213 w 21600"/>
                  <a:gd name="connsiteY15" fmla="*/ 968 h 20177"/>
                  <a:gd name="connsiteX16" fmla="*/ 19850 w 21600"/>
                  <a:gd name="connsiteY16" fmla="*/ 5237 h 20177"/>
                  <a:gd name="connsiteX17" fmla="*/ 10935 w 21600"/>
                  <a:gd name="connsiteY17" fmla="*/ 731 h 20177"/>
                  <a:gd name="connsiteX18" fmla="*/ 10935 w 21600"/>
                  <a:gd name="connsiteY18" fmla="*/ 3340 h 20177"/>
                  <a:gd name="connsiteX19" fmla="*/ 3465 w 21600"/>
                  <a:gd name="connsiteY19" fmla="*/ 3340 h 20177"/>
                  <a:gd name="connsiteX20" fmla="*/ 3465 w 21600"/>
                  <a:gd name="connsiteY20" fmla="*/ 4071 h 20177"/>
                  <a:gd name="connsiteX21" fmla="*/ 10935 w 21600"/>
                  <a:gd name="connsiteY21" fmla="*/ 4071 h 20177"/>
                  <a:gd name="connsiteX22" fmla="*/ 10935 w 21600"/>
                  <a:gd name="connsiteY22" fmla="*/ 5237 h 20177"/>
                  <a:gd name="connsiteX23" fmla="*/ 3465 w 21600"/>
                  <a:gd name="connsiteY23" fmla="*/ 5237 h 20177"/>
                  <a:gd name="connsiteX24" fmla="*/ 3465 w 21600"/>
                  <a:gd name="connsiteY24" fmla="*/ 5988 h 20177"/>
                  <a:gd name="connsiteX25" fmla="*/ 20321 w 21600"/>
                  <a:gd name="connsiteY25" fmla="*/ 5988 h 20177"/>
                  <a:gd name="connsiteX26" fmla="*/ 20321 w 21600"/>
                  <a:gd name="connsiteY26" fmla="*/ 15731 h 20177"/>
                  <a:gd name="connsiteX27" fmla="*/ 1279 w 21600"/>
                  <a:gd name="connsiteY27" fmla="*/ 15731 h 20177"/>
                  <a:gd name="connsiteX28" fmla="*/ 1279 w 21600"/>
                  <a:gd name="connsiteY28" fmla="*/ 731 h 20177"/>
                  <a:gd name="connsiteX29" fmla="*/ 10935 w 21600"/>
                  <a:gd name="connsiteY29" fmla="*/ 731 h 20177"/>
                  <a:gd name="connsiteX30" fmla="*/ 3465 w 21600"/>
                  <a:gd name="connsiteY30" fmla="*/ 12865 h 20177"/>
                  <a:gd name="connsiteX31" fmla="*/ 15645 w 21600"/>
                  <a:gd name="connsiteY31" fmla="*/ 12865 h 20177"/>
                  <a:gd name="connsiteX32" fmla="*/ 15645 w 21600"/>
                  <a:gd name="connsiteY32" fmla="*/ 13616 h 20177"/>
                  <a:gd name="connsiteX33" fmla="*/ 3465 w 21600"/>
                  <a:gd name="connsiteY33" fmla="*/ 13616 h 20177"/>
                  <a:gd name="connsiteX34" fmla="*/ 3465 w 21600"/>
                  <a:gd name="connsiteY34" fmla="*/ 12865 h 20177"/>
                  <a:gd name="connsiteX35" fmla="*/ 3465 w 21600"/>
                  <a:gd name="connsiteY35" fmla="*/ 10968 h 20177"/>
                  <a:gd name="connsiteX36" fmla="*/ 18067 w 21600"/>
                  <a:gd name="connsiteY36" fmla="*/ 10968 h 20177"/>
                  <a:gd name="connsiteX37" fmla="*/ 18067 w 21600"/>
                  <a:gd name="connsiteY37" fmla="*/ 11719 h 20177"/>
                  <a:gd name="connsiteX38" fmla="*/ 3465 w 21600"/>
                  <a:gd name="connsiteY38" fmla="*/ 11719 h 20177"/>
                  <a:gd name="connsiteX39" fmla="*/ 3465 w 21600"/>
                  <a:gd name="connsiteY39" fmla="*/ 10968 h 20177"/>
                  <a:gd name="connsiteX40" fmla="*/ 3465 w 21600"/>
                  <a:gd name="connsiteY40" fmla="*/ 9051 h 20177"/>
                  <a:gd name="connsiteX41" fmla="*/ 18067 w 21600"/>
                  <a:gd name="connsiteY41" fmla="*/ 9051 h 20177"/>
                  <a:gd name="connsiteX42" fmla="*/ 18067 w 21600"/>
                  <a:gd name="connsiteY42" fmla="*/ 9802 h 20177"/>
                  <a:gd name="connsiteX43" fmla="*/ 3465 w 21600"/>
                  <a:gd name="connsiteY43" fmla="*/ 9802 h 20177"/>
                  <a:gd name="connsiteX44" fmla="*/ 3465 w 21600"/>
                  <a:gd name="connsiteY44" fmla="*/ 9051 h 20177"/>
                  <a:gd name="connsiteX45" fmla="*/ 3465 w 21600"/>
                  <a:gd name="connsiteY45" fmla="*/ 7154 h 20177"/>
                  <a:gd name="connsiteX46" fmla="*/ 18067 w 21600"/>
                  <a:gd name="connsiteY46" fmla="*/ 7154 h 20177"/>
                  <a:gd name="connsiteX47" fmla="*/ 18067 w 21600"/>
                  <a:gd name="connsiteY47" fmla="*/ 7885 h 20177"/>
                  <a:gd name="connsiteX48" fmla="*/ 3465 w 21600"/>
                  <a:gd name="connsiteY48" fmla="*/ 7885 h 20177"/>
                  <a:gd name="connsiteX49" fmla="*/ 3465 w 21600"/>
                  <a:gd name="connsiteY49" fmla="*/ 7154 h 20177"/>
                  <a:gd name="connsiteX0" fmla="*/ 21600 w 21600"/>
                  <a:gd name="connsiteY0" fmla="*/ 16482 h 18359"/>
                  <a:gd name="connsiteX1" fmla="*/ 21600 w 21600"/>
                  <a:gd name="connsiteY1" fmla="*/ 5197 h 18359"/>
                  <a:gd name="connsiteX2" fmla="*/ 12314 w 21600"/>
                  <a:gd name="connsiteY2" fmla="*/ 0 h 18359"/>
                  <a:gd name="connsiteX3" fmla="*/ 0 w 21600"/>
                  <a:gd name="connsiteY3" fmla="*/ 0 h 18359"/>
                  <a:gd name="connsiteX4" fmla="*/ 0 w 21600"/>
                  <a:gd name="connsiteY4" fmla="*/ 16482 h 18359"/>
                  <a:gd name="connsiteX5" fmla="*/ 10161 w 21600"/>
                  <a:gd name="connsiteY5" fmla="*/ 16482 h 18359"/>
                  <a:gd name="connsiteX6" fmla="*/ 6191 w 21600"/>
                  <a:gd name="connsiteY6" fmla="*/ 17825 h 18359"/>
                  <a:gd name="connsiteX7" fmla="*/ 5282 w 21600"/>
                  <a:gd name="connsiteY7" fmla="*/ 18359 h 18359"/>
                  <a:gd name="connsiteX8" fmla="*/ 16318 w 21600"/>
                  <a:gd name="connsiteY8" fmla="*/ 18359 h 18359"/>
                  <a:gd name="connsiteX9" fmla="*/ 15443 w 21600"/>
                  <a:gd name="connsiteY9" fmla="*/ 17825 h 18359"/>
                  <a:gd name="connsiteX10" fmla="*/ 11439 w 21600"/>
                  <a:gd name="connsiteY10" fmla="*/ 16482 h 18359"/>
                  <a:gd name="connsiteX11" fmla="*/ 21600 w 21600"/>
                  <a:gd name="connsiteY11" fmla="*/ 16482 h 18359"/>
                  <a:gd name="connsiteX12" fmla="*/ 19850 w 21600"/>
                  <a:gd name="connsiteY12" fmla="*/ 5237 h 18359"/>
                  <a:gd name="connsiteX13" fmla="*/ 12213 w 21600"/>
                  <a:gd name="connsiteY13" fmla="*/ 5237 h 18359"/>
                  <a:gd name="connsiteX14" fmla="*/ 12213 w 21600"/>
                  <a:gd name="connsiteY14" fmla="*/ 968 h 18359"/>
                  <a:gd name="connsiteX15" fmla="*/ 19850 w 21600"/>
                  <a:gd name="connsiteY15" fmla="*/ 5237 h 18359"/>
                  <a:gd name="connsiteX16" fmla="*/ 10935 w 21600"/>
                  <a:gd name="connsiteY16" fmla="*/ 731 h 18359"/>
                  <a:gd name="connsiteX17" fmla="*/ 10935 w 21600"/>
                  <a:gd name="connsiteY17" fmla="*/ 3340 h 18359"/>
                  <a:gd name="connsiteX18" fmla="*/ 3465 w 21600"/>
                  <a:gd name="connsiteY18" fmla="*/ 3340 h 18359"/>
                  <a:gd name="connsiteX19" fmla="*/ 3465 w 21600"/>
                  <a:gd name="connsiteY19" fmla="*/ 4071 h 18359"/>
                  <a:gd name="connsiteX20" fmla="*/ 10935 w 21600"/>
                  <a:gd name="connsiteY20" fmla="*/ 4071 h 18359"/>
                  <a:gd name="connsiteX21" fmla="*/ 10935 w 21600"/>
                  <a:gd name="connsiteY21" fmla="*/ 5237 h 18359"/>
                  <a:gd name="connsiteX22" fmla="*/ 3465 w 21600"/>
                  <a:gd name="connsiteY22" fmla="*/ 5237 h 18359"/>
                  <a:gd name="connsiteX23" fmla="*/ 3465 w 21600"/>
                  <a:gd name="connsiteY23" fmla="*/ 5988 h 18359"/>
                  <a:gd name="connsiteX24" fmla="*/ 20321 w 21600"/>
                  <a:gd name="connsiteY24" fmla="*/ 5988 h 18359"/>
                  <a:gd name="connsiteX25" fmla="*/ 20321 w 21600"/>
                  <a:gd name="connsiteY25" fmla="*/ 15731 h 18359"/>
                  <a:gd name="connsiteX26" fmla="*/ 1279 w 21600"/>
                  <a:gd name="connsiteY26" fmla="*/ 15731 h 18359"/>
                  <a:gd name="connsiteX27" fmla="*/ 1279 w 21600"/>
                  <a:gd name="connsiteY27" fmla="*/ 731 h 18359"/>
                  <a:gd name="connsiteX28" fmla="*/ 10935 w 21600"/>
                  <a:gd name="connsiteY28" fmla="*/ 731 h 18359"/>
                  <a:gd name="connsiteX29" fmla="*/ 3465 w 21600"/>
                  <a:gd name="connsiteY29" fmla="*/ 12865 h 18359"/>
                  <a:gd name="connsiteX30" fmla="*/ 15645 w 21600"/>
                  <a:gd name="connsiteY30" fmla="*/ 12865 h 18359"/>
                  <a:gd name="connsiteX31" fmla="*/ 15645 w 21600"/>
                  <a:gd name="connsiteY31" fmla="*/ 13616 h 18359"/>
                  <a:gd name="connsiteX32" fmla="*/ 3465 w 21600"/>
                  <a:gd name="connsiteY32" fmla="*/ 13616 h 18359"/>
                  <a:gd name="connsiteX33" fmla="*/ 3465 w 21600"/>
                  <a:gd name="connsiteY33" fmla="*/ 12865 h 18359"/>
                  <a:gd name="connsiteX34" fmla="*/ 3465 w 21600"/>
                  <a:gd name="connsiteY34" fmla="*/ 10968 h 18359"/>
                  <a:gd name="connsiteX35" fmla="*/ 18067 w 21600"/>
                  <a:gd name="connsiteY35" fmla="*/ 10968 h 18359"/>
                  <a:gd name="connsiteX36" fmla="*/ 18067 w 21600"/>
                  <a:gd name="connsiteY36" fmla="*/ 11719 h 18359"/>
                  <a:gd name="connsiteX37" fmla="*/ 3465 w 21600"/>
                  <a:gd name="connsiteY37" fmla="*/ 11719 h 18359"/>
                  <a:gd name="connsiteX38" fmla="*/ 3465 w 21600"/>
                  <a:gd name="connsiteY38" fmla="*/ 10968 h 18359"/>
                  <a:gd name="connsiteX39" fmla="*/ 3465 w 21600"/>
                  <a:gd name="connsiteY39" fmla="*/ 9051 h 18359"/>
                  <a:gd name="connsiteX40" fmla="*/ 18067 w 21600"/>
                  <a:gd name="connsiteY40" fmla="*/ 9051 h 18359"/>
                  <a:gd name="connsiteX41" fmla="*/ 18067 w 21600"/>
                  <a:gd name="connsiteY41" fmla="*/ 9802 h 18359"/>
                  <a:gd name="connsiteX42" fmla="*/ 3465 w 21600"/>
                  <a:gd name="connsiteY42" fmla="*/ 9802 h 18359"/>
                  <a:gd name="connsiteX43" fmla="*/ 3465 w 21600"/>
                  <a:gd name="connsiteY43" fmla="*/ 9051 h 18359"/>
                  <a:gd name="connsiteX44" fmla="*/ 3465 w 21600"/>
                  <a:gd name="connsiteY44" fmla="*/ 7154 h 18359"/>
                  <a:gd name="connsiteX45" fmla="*/ 18067 w 21600"/>
                  <a:gd name="connsiteY45" fmla="*/ 7154 h 18359"/>
                  <a:gd name="connsiteX46" fmla="*/ 18067 w 21600"/>
                  <a:gd name="connsiteY46" fmla="*/ 7885 h 18359"/>
                  <a:gd name="connsiteX47" fmla="*/ 3465 w 21600"/>
                  <a:gd name="connsiteY47" fmla="*/ 7885 h 18359"/>
                  <a:gd name="connsiteX48" fmla="*/ 3465 w 21600"/>
                  <a:gd name="connsiteY48" fmla="*/ 7154 h 18359"/>
                  <a:gd name="connsiteX0" fmla="*/ 21600 w 21600"/>
                  <a:gd name="connsiteY0" fmla="*/ 16482 h 18359"/>
                  <a:gd name="connsiteX1" fmla="*/ 21600 w 21600"/>
                  <a:gd name="connsiteY1" fmla="*/ 5197 h 18359"/>
                  <a:gd name="connsiteX2" fmla="*/ 12314 w 21600"/>
                  <a:gd name="connsiteY2" fmla="*/ 0 h 18359"/>
                  <a:gd name="connsiteX3" fmla="*/ 0 w 21600"/>
                  <a:gd name="connsiteY3" fmla="*/ 0 h 18359"/>
                  <a:gd name="connsiteX4" fmla="*/ 0 w 21600"/>
                  <a:gd name="connsiteY4" fmla="*/ 16482 h 18359"/>
                  <a:gd name="connsiteX5" fmla="*/ 10161 w 21600"/>
                  <a:gd name="connsiteY5" fmla="*/ 16482 h 18359"/>
                  <a:gd name="connsiteX6" fmla="*/ 6191 w 21600"/>
                  <a:gd name="connsiteY6" fmla="*/ 17825 h 18359"/>
                  <a:gd name="connsiteX7" fmla="*/ 5282 w 21600"/>
                  <a:gd name="connsiteY7" fmla="*/ 18359 h 18359"/>
                  <a:gd name="connsiteX8" fmla="*/ 15443 w 21600"/>
                  <a:gd name="connsiteY8" fmla="*/ 17825 h 18359"/>
                  <a:gd name="connsiteX9" fmla="*/ 11439 w 21600"/>
                  <a:gd name="connsiteY9" fmla="*/ 16482 h 18359"/>
                  <a:gd name="connsiteX10" fmla="*/ 21600 w 21600"/>
                  <a:gd name="connsiteY10" fmla="*/ 16482 h 18359"/>
                  <a:gd name="connsiteX11" fmla="*/ 19850 w 21600"/>
                  <a:gd name="connsiteY11" fmla="*/ 5237 h 18359"/>
                  <a:gd name="connsiteX12" fmla="*/ 12213 w 21600"/>
                  <a:gd name="connsiteY12" fmla="*/ 5237 h 18359"/>
                  <a:gd name="connsiteX13" fmla="*/ 12213 w 21600"/>
                  <a:gd name="connsiteY13" fmla="*/ 968 h 18359"/>
                  <a:gd name="connsiteX14" fmla="*/ 19850 w 21600"/>
                  <a:gd name="connsiteY14" fmla="*/ 5237 h 18359"/>
                  <a:gd name="connsiteX15" fmla="*/ 10935 w 21600"/>
                  <a:gd name="connsiteY15" fmla="*/ 731 h 18359"/>
                  <a:gd name="connsiteX16" fmla="*/ 10935 w 21600"/>
                  <a:gd name="connsiteY16" fmla="*/ 3340 h 18359"/>
                  <a:gd name="connsiteX17" fmla="*/ 3465 w 21600"/>
                  <a:gd name="connsiteY17" fmla="*/ 3340 h 18359"/>
                  <a:gd name="connsiteX18" fmla="*/ 3465 w 21600"/>
                  <a:gd name="connsiteY18" fmla="*/ 4071 h 18359"/>
                  <a:gd name="connsiteX19" fmla="*/ 10935 w 21600"/>
                  <a:gd name="connsiteY19" fmla="*/ 4071 h 18359"/>
                  <a:gd name="connsiteX20" fmla="*/ 10935 w 21600"/>
                  <a:gd name="connsiteY20" fmla="*/ 5237 h 18359"/>
                  <a:gd name="connsiteX21" fmla="*/ 3465 w 21600"/>
                  <a:gd name="connsiteY21" fmla="*/ 5237 h 18359"/>
                  <a:gd name="connsiteX22" fmla="*/ 3465 w 21600"/>
                  <a:gd name="connsiteY22" fmla="*/ 5988 h 18359"/>
                  <a:gd name="connsiteX23" fmla="*/ 20321 w 21600"/>
                  <a:gd name="connsiteY23" fmla="*/ 5988 h 18359"/>
                  <a:gd name="connsiteX24" fmla="*/ 20321 w 21600"/>
                  <a:gd name="connsiteY24" fmla="*/ 15731 h 18359"/>
                  <a:gd name="connsiteX25" fmla="*/ 1279 w 21600"/>
                  <a:gd name="connsiteY25" fmla="*/ 15731 h 18359"/>
                  <a:gd name="connsiteX26" fmla="*/ 1279 w 21600"/>
                  <a:gd name="connsiteY26" fmla="*/ 731 h 18359"/>
                  <a:gd name="connsiteX27" fmla="*/ 10935 w 21600"/>
                  <a:gd name="connsiteY27" fmla="*/ 731 h 18359"/>
                  <a:gd name="connsiteX28" fmla="*/ 3465 w 21600"/>
                  <a:gd name="connsiteY28" fmla="*/ 12865 h 18359"/>
                  <a:gd name="connsiteX29" fmla="*/ 15645 w 21600"/>
                  <a:gd name="connsiteY29" fmla="*/ 12865 h 18359"/>
                  <a:gd name="connsiteX30" fmla="*/ 15645 w 21600"/>
                  <a:gd name="connsiteY30" fmla="*/ 13616 h 18359"/>
                  <a:gd name="connsiteX31" fmla="*/ 3465 w 21600"/>
                  <a:gd name="connsiteY31" fmla="*/ 13616 h 18359"/>
                  <a:gd name="connsiteX32" fmla="*/ 3465 w 21600"/>
                  <a:gd name="connsiteY32" fmla="*/ 12865 h 18359"/>
                  <a:gd name="connsiteX33" fmla="*/ 3465 w 21600"/>
                  <a:gd name="connsiteY33" fmla="*/ 10968 h 18359"/>
                  <a:gd name="connsiteX34" fmla="*/ 18067 w 21600"/>
                  <a:gd name="connsiteY34" fmla="*/ 10968 h 18359"/>
                  <a:gd name="connsiteX35" fmla="*/ 18067 w 21600"/>
                  <a:gd name="connsiteY35" fmla="*/ 11719 h 18359"/>
                  <a:gd name="connsiteX36" fmla="*/ 3465 w 21600"/>
                  <a:gd name="connsiteY36" fmla="*/ 11719 h 18359"/>
                  <a:gd name="connsiteX37" fmla="*/ 3465 w 21600"/>
                  <a:gd name="connsiteY37" fmla="*/ 10968 h 18359"/>
                  <a:gd name="connsiteX38" fmla="*/ 3465 w 21600"/>
                  <a:gd name="connsiteY38" fmla="*/ 9051 h 18359"/>
                  <a:gd name="connsiteX39" fmla="*/ 18067 w 21600"/>
                  <a:gd name="connsiteY39" fmla="*/ 9051 h 18359"/>
                  <a:gd name="connsiteX40" fmla="*/ 18067 w 21600"/>
                  <a:gd name="connsiteY40" fmla="*/ 9802 h 18359"/>
                  <a:gd name="connsiteX41" fmla="*/ 3465 w 21600"/>
                  <a:gd name="connsiteY41" fmla="*/ 9802 h 18359"/>
                  <a:gd name="connsiteX42" fmla="*/ 3465 w 21600"/>
                  <a:gd name="connsiteY42" fmla="*/ 9051 h 18359"/>
                  <a:gd name="connsiteX43" fmla="*/ 3465 w 21600"/>
                  <a:gd name="connsiteY43" fmla="*/ 7154 h 18359"/>
                  <a:gd name="connsiteX44" fmla="*/ 18067 w 21600"/>
                  <a:gd name="connsiteY44" fmla="*/ 7154 h 18359"/>
                  <a:gd name="connsiteX45" fmla="*/ 18067 w 21600"/>
                  <a:gd name="connsiteY45" fmla="*/ 7885 h 18359"/>
                  <a:gd name="connsiteX46" fmla="*/ 3465 w 21600"/>
                  <a:gd name="connsiteY46" fmla="*/ 7885 h 18359"/>
                  <a:gd name="connsiteX47" fmla="*/ 3465 w 21600"/>
                  <a:gd name="connsiteY47" fmla="*/ 7154 h 18359"/>
                  <a:gd name="connsiteX0" fmla="*/ 21600 w 21600"/>
                  <a:gd name="connsiteY0" fmla="*/ 16482 h 17825"/>
                  <a:gd name="connsiteX1" fmla="*/ 21600 w 21600"/>
                  <a:gd name="connsiteY1" fmla="*/ 5197 h 17825"/>
                  <a:gd name="connsiteX2" fmla="*/ 12314 w 21600"/>
                  <a:gd name="connsiteY2" fmla="*/ 0 h 17825"/>
                  <a:gd name="connsiteX3" fmla="*/ 0 w 21600"/>
                  <a:gd name="connsiteY3" fmla="*/ 0 h 17825"/>
                  <a:gd name="connsiteX4" fmla="*/ 0 w 21600"/>
                  <a:gd name="connsiteY4" fmla="*/ 16482 h 17825"/>
                  <a:gd name="connsiteX5" fmla="*/ 10161 w 21600"/>
                  <a:gd name="connsiteY5" fmla="*/ 16482 h 17825"/>
                  <a:gd name="connsiteX6" fmla="*/ 6191 w 21600"/>
                  <a:gd name="connsiteY6" fmla="*/ 17825 h 17825"/>
                  <a:gd name="connsiteX7" fmla="*/ 15443 w 21600"/>
                  <a:gd name="connsiteY7" fmla="*/ 17825 h 17825"/>
                  <a:gd name="connsiteX8" fmla="*/ 11439 w 21600"/>
                  <a:gd name="connsiteY8" fmla="*/ 16482 h 17825"/>
                  <a:gd name="connsiteX9" fmla="*/ 21600 w 21600"/>
                  <a:gd name="connsiteY9" fmla="*/ 16482 h 17825"/>
                  <a:gd name="connsiteX10" fmla="*/ 19850 w 21600"/>
                  <a:gd name="connsiteY10" fmla="*/ 5237 h 17825"/>
                  <a:gd name="connsiteX11" fmla="*/ 12213 w 21600"/>
                  <a:gd name="connsiteY11" fmla="*/ 5237 h 17825"/>
                  <a:gd name="connsiteX12" fmla="*/ 12213 w 21600"/>
                  <a:gd name="connsiteY12" fmla="*/ 968 h 17825"/>
                  <a:gd name="connsiteX13" fmla="*/ 19850 w 21600"/>
                  <a:gd name="connsiteY13" fmla="*/ 5237 h 17825"/>
                  <a:gd name="connsiteX14" fmla="*/ 10935 w 21600"/>
                  <a:gd name="connsiteY14" fmla="*/ 731 h 17825"/>
                  <a:gd name="connsiteX15" fmla="*/ 10935 w 21600"/>
                  <a:gd name="connsiteY15" fmla="*/ 3340 h 17825"/>
                  <a:gd name="connsiteX16" fmla="*/ 3465 w 21600"/>
                  <a:gd name="connsiteY16" fmla="*/ 3340 h 17825"/>
                  <a:gd name="connsiteX17" fmla="*/ 3465 w 21600"/>
                  <a:gd name="connsiteY17" fmla="*/ 4071 h 17825"/>
                  <a:gd name="connsiteX18" fmla="*/ 10935 w 21600"/>
                  <a:gd name="connsiteY18" fmla="*/ 4071 h 17825"/>
                  <a:gd name="connsiteX19" fmla="*/ 10935 w 21600"/>
                  <a:gd name="connsiteY19" fmla="*/ 5237 h 17825"/>
                  <a:gd name="connsiteX20" fmla="*/ 3465 w 21600"/>
                  <a:gd name="connsiteY20" fmla="*/ 5237 h 17825"/>
                  <a:gd name="connsiteX21" fmla="*/ 3465 w 21600"/>
                  <a:gd name="connsiteY21" fmla="*/ 5988 h 17825"/>
                  <a:gd name="connsiteX22" fmla="*/ 20321 w 21600"/>
                  <a:gd name="connsiteY22" fmla="*/ 5988 h 17825"/>
                  <a:gd name="connsiteX23" fmla="*/ 20321 w 21600"/>
                  <a:gd name="connsiteY23" fmla="*/ 15731 h 17825"/>
                  <a:gd name="connsiteX24" fmla="*/ 1279 w 21600"/>
                  <a:gd name="connsiteY24" fmla="*/ 15731 h 17825"/>
                  <a:gd name="connsiteX25" fmla="*/ 1279 w 21600"/>
                  <a:gd name="connsiteY25" fmla="*/ 731 h 17825"/>
                  <a:gd name="connsiteX26" fmla="*/ 10935 w 21600"/>
                  <a:gd name="connsiteY26" fmla="*/ 731 h 17825"/>
                  <a:gd name="connsiteX27" fmla="*/ 3465 w 21600"/>
                  <a:gd name="connsiteY27" fmla="*/ 12865 h 17825"/>
                  <a:gd name="connsiteX28" fmla="*/ 15645 w 21600"/>
                  <a:gd name="connsiteY28" fmla="*/ 12865 h 17825"/>
                  <a:gd name="connsiteX29" fmla="*/ 15645 w 21600"/>
                  <a:gd name="connsiteY29" fmla="*/ 13616 h 17825"/>
                  <a:gd name="connsiteX30" fmla="*/ 3465 w 21600"/>
                  <a:gd name="connsiteY30" fmla="*/ 13616 h 17825"/>
                  <a:gd name="connsiteX31" fmla="*/ 3465 w 21600"/>
                  <a:gd name="connsiteY31" fmla="*/ 12865 h 17825"/>
                  <a:gd name="connsiteX32" fmla="*/ 3465 w 21600"/>
                  <a:gd name="connsiteY32" fmla="*/ 10968 h 17825"/>
                  <a:gd name="connsiteX33" fmla="*/ 18067 w 21600"/>
                  <a:gd name="connsiteY33" fmla="*/ 10968 h 17825"/>
                  <a:gd name="connsiteX34" fmla="*/ 18067 w 21600"/>
                  <a:gd name="connsiteY34" fmla="*/ 11719 h 17825"/>
                  <a:gd name="connsiteX35" fmla="*/ 3465 w 21600"/>
                  <a:gd name="connsiteY35" fmla="*/ 11719 h 17825"/>
                  <a:gd name="connsiteX36" fmla="*/ 3465 w 21600"/>
                  <a:gd name="connsiteY36" fmla="*/ 10968 h 17825"/>
                  <a:gd name="connsiteX37" fmla="*/ 3465 w 21600"/>
                  <a:gd name="connsiteY37" fmla="*/ 9051 h 17825"/>
                  <a:gd name="connsiteX38" fmla="*/ 18067 w 21600"/>
                  <a:gd name="connsiteY38" fmla="*/ 9051 h 17825"/>
                  <a:gd name="connsiteX39" fmla="*/ 18067 w 21600"/>
                  <a:gd name="connsiteY39" fmla="*/ 9802 h 17825"/>
                  <a:gd name="connsiteX40" fmla="*/ 3465 w 21600"/>
                  <a:gd name="connsiteY40" fmla="*/ 9802 h 17825"/>
                  <a:gd name="connsiteX41" fmla="*/ 3465 w 21600"/>
                  <a:gd name="connsiteY41" fmla="*/ 9051 h 17825"/>
                  <a:gd name="connsiteX42" fmla="*/ 3465 w 21600"/>
                  <a:gd name="connsiteY42" fmla="*/ 7154 h 17825"/>
                  <a:gd name="connsiteX43" fmla="*/ 18067 w 21600"/>
                  <a:gd name="connsiteY43" fmla="*/ 7154 h 17825"/>
                  <a:gd name="connsiteX44" fmla="*/ 18067 w 21600"/>
                  <a:gd name="connsiteY44" fmla="*/ 7885 h 17825"/>
                  <a:gd name="connsiteX45" fmla="*/ 3465 w 21600"/>
                  <a:gd name="connsiteY45" fmla="*/ 7885 h 17825"/>
                  <a:gd name="connsiteX46" fmla="*/ 3465 w 21600"/>
                  <a:gd name="connsiteY46" fmla="*/ 7154 h 17825"/>
                  <a:gd name="connsiteX0" fmla="*/ 21600 w 21600"/>
                  <a:gd name="connsiteY0" fmla="*/ 16482 h 17825"/>
                  <a:gd name="connsiteX1" fmla="*/ 21600 w 21600"/>
                  <a:gd name="connsiteY1" fmla="*/ 5197 h 17825"/>
                  <a:gd name="connsiteX2" fmla="*/ 12314 w 21600"/>
                  <a:gd name="connsiteY2" fmla="*/ 0 h 17825"/>
                  <a:gd name="connsiteX3" fmla="*/ 0 w 21600"/>
                  <a:gd name="connsiteY3" fmla="*/ 0 h 17825"/>
                  <a:gd name="connsiteX4" fmla="*/ 0 w 21600"/>
                  <a:gd name="connsiteY4" fmla="*/ 16482 h 17825"/>
                  <a:gd name="connsiteX5" fmla="*/ 10161 w 21600"/>
                  <a:gd name="connsiteY5" fmla="*/ 16482 h 17825"/>
                  <a:gd name="connsiteX6" fmla="*/ 6191 w 21600"/>
                  <a:gd name="connsiteY6" fmla="*/ 17825 h 17825"/>
                  <a:gd name="connsiteX7" fmla="*/ 11439 w 21600"/>
                  <a:gd name="connsiteY7" fmla="*/ 16482 h 17825"/>
                  <a:gd name="connsiteX8" fmla="*/ 21600 w 21600"/>
                  <a:gd name="connsiteY8" fmla="*/ 16482 h 17825"/>
                  <a:gd name="connsiteX9" fmla="*/ 19850 w 21600"/>
                  <a:gd name="connsiteY9" fmla="*/ 5237 h 17825"/>
                  <a:gd name="connsiteX10" fmla="*/ 12213 w 21600"/>
                  <a:gd name="connsiteY10" fmla="*/ 5237 h 17825"/>
                  <a:gd name="connsiteX11" fmla="*/ 12213 w 21600"/>
                  <a:gd name="connsiteY11" fmla="*/ 968 h 17825"/>
                  <a:gd name="connsiteX12" fmla="*/ 19850 w 21600"/>
                  <a:gd name="connsiteY12" fmla="*/ 5237 h 17825"/>
                  <a:gd name="connsiteX13" fmla="*/ 10935 w 21600"/>
                  <a:gd name="connsiteY13" fmla="*/ 731 h 17825"/>
                  <a:gd name="connsiteX14" fmla="*/ 10935 w 21600"/>
                  <a:gd name="connsiteY14" fmla="*/ 3340 h 17825"/>
                  <a:gd name="connsiteX15" fmla="*/ 3465 w 21600"/>
                  <a:gd name="connsiteY15" fmla="*/ 3340 h 17825"/>
                  <a:gd name="connsiteX16" fmla="*/ 3465 w 21600"/>
                  <a:gd name="connsiteY16" fmla="*/ 4071 h 17825"/>
                  <a:gd name="connsiteX17" fmla="*/ 10935 w 21600"/>
                  <a:gd name="connsiteY17" fmla="*/ 4071 h 17825"/>
                  <a:gd name="connsiteX18" fmla="*/ 10935 w 21600"/>
                  <a:gd name="connsiteY18" fmla="*/ 5237 h 17825"/>
                  <a:gd name="connsiteX19" fmla="*/ 3465 w 21600"/>
                  <a:gd name="connsiteY19" fmla="*/ 5237 h 17825"/>
                  <a:gd name="connsiteX20" fmla="*/ 3465 w 21600"/>
                  <a:gd name="connsiteY20" fmla="*/ 5988 h 17825"/>
                  <a:gd name="connsiteX21" fmla="*/ 20321 w 21600"/>
                  <a:gd name="connsiteY21" fmla="*/ 5988 h 17825"/>
                  <a:gd name="connsiteX22" fmla="*/ 20321 w 21600"/>
                  <a:gd name="connsiteY22" fmla="*/ 15731 h 17825"/>
                  <a:gd name="connsiteX23" fmla="*/ 1279 w 21600"/>
                  <a:gd name="connsiteY23" fmla="*/ 15731 h 17825"/>
                  <a:gd name="connsiteX24" fmla="*/ 1279 w 21600"/>
                  <a:gd name="connsiteY24" fmla="*/ 731 h 17825"/>
                  <a:gd name="connsiteX25" fmla="*/ 10935 w 21600"/>
                  <a:gd name="connsiteY25" fmla="*/ 731 h 17825"/>
                  <a:gd name="connsiteX26" fmla="*/ 3465 w 21600"/>
                  <a:gd name="connsiteY26" fmla="*/ 12865 h 17825"/>
                  <a:gd name="connsiteX27" fmla="*/ 15645 w 21600"/>
                  <a:gd name="connsiteY27" fmla="*/ 12865 h 17825"/>
                  <a:gd name="connsiteX28" fmla="*/ 15645 w 21600"/>
                  <a:gd name="connsiteY28" fmla="*/ 13616 h 17825"/>
                  <a:gd name="connsiteX29" fmla="*/ 3465 w 21600"/>
                  <a:gd name="connsiteY29" fmla="*/ 13616 h 17825"/>
                  <a:gd name="connsiteX30" fmla="*/ 3465 w 21600"/>
                  <a:gd name="connsiteY30" fmla="*/ 12865 h 17825"/>
                  <a:gd name="connsiteX31" fmla="*/ 3465 w 21600"/>
                  <a:gd name="connsiteY31" fmla="*/ 10968 h 17825"/>
                  <a:gd name="connsiteX32" fmla="*/ 18067 w 21600"/>
                  <a:gd name="connsiteY32" fmla="*/ 10968 h 17825"/>
                  <a:gd name="connsiteX33" fmla="*/ 18067 w 21600"/>
                  <a:gd name="connsiteY33" fmla="*/ 11719 h 17825"/>
                  <a:gd name="connsiteX34" fmla="*/ 3465 w 21600"/>
                  <a:gd name="connsiteY34" fmla="*/ 11719 h 17825"/>
                  <a:gd name="connsiteX35" fmla="*/ 3465 w 21600"/>
                  <a:gd name="connsiteY35" fmla="*/ 10968 h 17825"/>
                  <a:gd name="connsiteX36" fmla="*/ 3465 w 21600"/>
                  <a:gd name="connsiteY36" fmla="*/ 9051 h 17825"/>
                  <a:gd name="connsiteX37" fmla="*/ 18067 w 21600"/>
                  <a:gd name="connsiteY37" fmla="*/ 9051 h 17825"/>
                  <a:gd name="connsiteX38" fmla="*/ 18067 w 21600"/>
                  <a:gd name="connsiteY38" fmla="*/ 9802 h 17825"/>
                  <a:gd name="connsiteX39" fmla="*/ 3465 w 21600"/>
                  <a:gd name="connsiteY39" fmla="*/ 9802 h 17825"/>
                  <a:gd name="connsiteX40" fmla="*/ 3465 w 21600"/>
                  <a:gd name="connsiteY40" fmla="*/ 9051 h 17825"/>
                  <a:gd name="connsiteX41" fmla="*/ 3465 w 21600"/>
                  <a:gd name="connsiteY41" fmla="*/ 7154 h 17825"/>
                  <a:gd name="connsiteX42" fmla="*/ 18067 w 21600"/>
                  <a:gd name="connsiteY42" fmla="*/ 7154 h 17825"/>
                  <a:gd name="connsiteX43" fmla="*/ 18067 w 21600"/>
                  <a:gd name="connsiteY43" fmla="*/ 7885 h 17825"/>
                  <a:gd name="connsiteX44" fmla="*/ 3465 w 21600"/>
                  <a:gd name="connsiteY44" fmla="*/ 7885 h 17825"/>
                  <a:gd name="connsiteX45" fmla="*/ 3465 w 21600"/>
                  <a:gd name="connsiteY45" fmla="*/ 7154 h 17825"/>
                  <a:gd name="connsiteX0" fmla="*/ 21600 w 21600"/>
                  <a:gd name="connsiteY0" fmla="*/ 16482 h 16482"/>
                  <a:gd name="connsiteX1" fmla="*/ 21600 w 21600"/>
                  <a:gd name="connsiteY1" fmla="*/ 5197 h 16482"/>
                  <a:gd name="connsiteX2" fmla="*/ 12314 w 21600"/>
                  <a:gd name="connsiteY2" fmla="*/ 0 h 16482"/>
                  <a:gd name="connsiteX3" fmla="*/ 0 w 21600"/>
                  <a:gd name="connsiteY3" fmla="*/ 0 h 16482"/>
                  <a:gd name="connsiteX4" fmla="*/ 0 w 21600"/>
                  <a:gd name="connsiteY4" fmla="*/ 16482 h 16482"/>
                  <a:gd name="connsiteX5" fmla="*/ 10161 w 21600"/>
                  <a:gd name="connsiteY5" fmla="*/ 16482 h 16482"/>
                  <a:gd name="connsiteX6" fmla="*/ 11439 w 21600"/>
                  <a:gd name="connsiteY6" fmla="*/ 16482 h 16482"/>
                  <a:gd name="connsiteX7" fmla="*/ 21600 w 21600"/>
                  <a:gd name="connsiteY7" fmla="*/ 16482 h 16482"/>
                  <a:gd name="connsiteX8" fmla="*/ 19850 w 21600"/>
                  <a:gd name="connsiteY8" fmla="*/ 5237 h 16482"/>
                  <a:gd name="connsiteX9" fmla="*/ 12213 w 21600"/>
                  <a:gd name="connsiteY9" fmla="*/ 5237 h 16482"/>
                  <a:gd name="connsiteX10" fmla="*/ 12213 w 21600"/>
                  <a:gd name="connsiteY10" fmla="*/ 968 h 16482"/>
                  <a:gd name="connsiteX11" fmla="*/ 19850 w 21600"/>
                  <a:gd name="connsiteY11" fmla="*/ 5237 h 16482"/>
                  <a:gd name="connsiteX12" fmla="*/ 10935 w 21600"/>
                  <a:gd name="connsiteY12" fmla="*/ 731 h 16482"/>
                  <a:gd name="connsiteX13" fmla="*/ 10935 w 21600"/>
                  <a:gd name="connsiteY13" fmla="*/ 3340 h 16482"/>
                  <a:gd name="connsiteX14" fmla="*/ 3465 w 21600"/>
                  <a:gd name="connsiteY14" fmla="*/ 3340 h 16482"/>
                  <a:gd name="connsiteX15" fmla="*/ 3465 w 21600"/>
                  <a:gd name="connsiteY15" fmla="*/ 4071 h 16482"/>
                  <a:gd name="connsiteX16" fmla="*/ 10935 w 21600"/>
                  <a:gd name="connsiteY16" fmla="*/ 4071 h 16482"/>
                  <a:gd name="connsiteX17" fmla="*/ 10935 w 21600"/>
                  <a:gd name="connsiteY17" fmla="*/ 5237 h 16482"/>
                  <a:gd name="connsiteX18" fmla="*/ 3465 w 21600"/>
                  <a:gd name="connsiteY18" fmla="*/ 5237 h 16482"/>
                  <a:gd name="connsiteX19" fmla="*/ 3465 w 21600"/>
                  <a:gd name="connsiteY19" fmla="*/ 5988 h 16482"/>
                  <a:gd name="connsiteX20" fmla="*/ 20321 w 21600"/>
                  <a:gd name="connsiteY20" fmla="*/ 5988 h 16482"/>
                  <a:gd name="connsiteX21" fmla="*/ 20321 w 21600"/>
                  <a:gd name="connsiteY21" fmla="*/ 15731 h 16482"/>
                  <a:gd name="connsiteX22" fmla="*/ 1279 w 21600"/>
                  <a:gd name="connsiteY22" fmla="*/ 15731 h 16482"/>
                  <a:gd name="connsiteX23" fmla="*/ 1279 w 21600"/>
                  <a:gd name="connsiteY23" fmla="*/ 731 h 16482"/>
                  <a:gd name="connsiteX24" fmla="*/ 10935 w 21600"/>
                  <a:gd name="connsiteY24" fmla="*/ 731 h 16482"/>
                  <a:gd name="connsiteX25" fmla="*/ 3465 w 21600"/>
                  <a:gd name="connsiteY25" fmla="*/ 12865 h 16482"/>
                  <a:gd name="connsiteX26" fmla="*/ 15645 w 21600"/>
                  <a:gd name="connsiteY26" fmla="*/ 12865 h 16482"/>
                  <a:gd name="connsiteX27" fmla="*/ 15645 w 21600"/>
                  <a:gd name="connsiteY27" fmla="*/ 13616 h 16482"/>
                  <a:gd name="connsiteX28" fmla="*/ 3465 w 21600"/>
                  <a:gd name="connsiteY28" fmla="*/ 13616 h 16482"/>
                  <a:gd name="connsiteX29" fmla="*/ 3465 w 21600"/>
                  <a:gd name="connsiteY29" fmla="*/ 12865 h 16482"/>
                  <a:gd name="connsiteX30" fmla="*/ 3465 w 21600"/>
                  <a:gd name="connsiteY30" fmla="*/ 10968 h 16482"/>
                  <a:gd name="connsiteX31" fmla="*/ 18067 w 21600"/>
                  <a:gd name="connsiteY31" fmla="*/ 10968 h 16482"/>
                  <a:gd name="connsiteX32" fmla="*/ 18067 w 21600"/>
                  <a:gd name="connsiteY32" fmla="*/ 11719 h 16482"/>
                  <a:gd name="connsiteX33" fmla="*/ 3465 w 21600"/>
                  <a:gd name="connsiteY33" fmla="*/ 11719 h 16482"/>
                  <a:gd name="connsiteX34" fmla="*/ 3465 w 21600"/>
                  <a:gd name="connsiteY34" fmla="*/ 10968 h 16482"/>
                  <a:gd name="connsiteX35" fmla="*/ 3465 w 21600"/>
                  <a:gd name="connsiteY35" fmla="*/ 9051 h 16482"/>
                  <a:gd name="connsiteX36" fmla="*/ 18067 w 21600"/>
                  <a:gd name="connsiteY36" fmla="*/ 9051 h 16482"/>
                  <a:gd name="connsiteX37" fmla="*/ 18067 w 21600"/>
                  <a:gd name="connsiteY37" fmla="*/ 9802 h 16482"/>
                  <a:gd name="connsiteX38" fmla="*/ 3465 w 21600"/>
                  <a:gd name="connsiteY38" fmla="*/ 9802 h 16482"/>
                  <a:gd name="connsiteX39" fmla="*/ 3465 w 21600"/>
                  <a:gd name="connsiteY39" fmla="*/ 9051 h 16482"/>
                  <a:gd name="connsiteX40" fmla="*/ 3465 w 21600"/>
                  <a:gd name="connsiteY40" fmla="*/ 7154 h 16482"/>
                  <a:gd name="connsiteX41" fmla="*/ 18067 w 21600"/>
                  <a:gd name="connsiteY41" fmla="*/ 7154 h 16482"/>
                  <a:gd name="connsiteX42" fmla="*/ 18067 w 21600"/>
                  <a:gd name="connsiteY42" fmla="*/ 7885 h 16482"/>
                  <a:gd name="connsiteX43" fmla="*/ 3465 w 21600"/>
                  <a:gd name="connsiteY43" fmla="*/ 7885 h 16482"/>
                  <a:gd name="connsiteX44" fmla="*/ 3465 w 21600"/>
                  <a:gd name="connsiteY44" fmla="*/ 7154 h 1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600" h="16482" extrusionOk="0">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FF676B"/>
              </a:solidFill>
              <a:ln w="12700">
                <a:miter lim="400000"/>
              </a:ln>
            </p:spPr>
            <p:txBody>
              <a:bodyPr tIns="182878" bIns="182878" anchor="ctr">
                <a:normAutofit fontScale="25000" lnSpcReduction="20000"/>
              </a:bodyPr>
              <a:lstStyle/>
              <a:p>
                <a:pPr defTabSz="1828800">
                  <a:spcBef>
                    <a:spcPts val="4400"/>
                  </a:spcBef>
                  <a:defRPr/>
                </a:pPr>
                <a:endParaRPr sz="6400">
                  <a:latin typeface="Arial"/>
                </a:endParaRPr>
              </a:p>
            </p:txBody>
          </p:sp>
          <p:sp>
            <p:nvSpPr>
              <p:cNvPr id="28" name="TextBox 27">
                <a:extLst>
                  <a:ext uri="{FF2B5EF4-FFF2-40B4-BE49-F238E27FC236}">
                    <a16:creationId xmlns:a16="http://schemas.microsoft.com/office/drawing/2014/main" id="{4427C8B1-0B34-2280-7BB1-87DE87BFA492}"/>
                  </a:ext>
                </a:extLst>
              </p:cNvPr>
              <p:cNvSpPr txBox="1"/>
              <p:nvPr/>
            </p:nvSpPr>
            <p:spPr>
              <a:xfrm>
                <a:off x="531469" y="2564371"/>
                <a:ext cx="715310" cy="219766"/>
              </a:xfrm>
              <a:prstGeom prst="rect">
                <a:avLst/>
              </a:prstGeom>
              <a:noFill/>
            </p:spPr>
            <p:txBody>
              <a:bodyPr wrap="square" rtlCol="0">
                <a:spAutoFit/>
              </a:bodyPr>
              <a:lstStyle/>
              <a:p>
                <a:pPr algn="ctr">
                  <a:defRPr/>
                </a:pPr>
                <a:r>
                  <a:rPr lang="en-GB" sz="1200">
                    <a:latin typeface="Arial"/>
                  </a:rPr>
                  <a:t> App </a:t>
                </a:r>
              </a:p>
              <a:p>
                <a:pPr algn="ctr">
                  <a:defRPr/>
                </a:pPr>
                <a:r>
                  <a:rPr lang="en-GB" sz="1200">
                    <a:latin typeface="Arial"/>
                  </a:rPr>
                  <a:t>Charter</a:t>
                </a:r>
              </a:p>
            </p:txBody>
          </p:sp>
        </p:grpSp>
        <p:grpSp>
          <p:nvGrpSpPr>
            <p:cNvPr id="10" name="Group 9">
              <a:extLst>
                <a:ext uri="{FF2B5EF4-FFF2-40B4-BE49-F238E27FC236}">
                  <a16:creationId xmlns:a16="http://schemas.microsoft.com/office/drawing/2014/main" id="{6F398309-3D93-843D-F34E-E9264C3FEB83}"/>
                </a:ext>
              </a:extLst>
            </p:cNvPr>
            <p:cNvGrpSpPr/>
            <p:nvPr/>
          </p:nvGrpSpPr>
          <p:grpSpPr>
            <a:xfrm>
              <a:off x="2061308" y="1859403"/>
              <a:ext cx="1713829" cy="1611077"/>
              <a:chOff x="2064483" y="1859403"/>
              <a:chExt cx="1713829" cy="1611077"/>
            </a:xfrm>
          </p:grpSpPr>
          <p:sp>
            <p:nvSpPr>
              <p:cNvPr id="11" name="Double Brace 10">
                <a:extLst>
                  <a:ext uri="{FF2B5EF4-FFF2-40B4-BE49-F238E27FC236}">
                    <a16:creationId xmlns:a16="http://schemas.microsoft.com/office/drawing/2014/main" id="{E2BB2EBD-F87E-F98C-2F13-C3D74E77A109}"/>
                  </a:ext>
                </a:extLst>
              </p:cNvPr>
              <p:cNvSpPr/>
              <p:nvPr/>
            </p:nvSpPr>
            <p:spPr>
              <a:xfrm>
                <a:off x="2164884" y="2897811"/>
                <a:ext cx="1263140" cy="526477"/>
              </a:xfrm>
              <a:prstGeom prst="bracePair">
                <a:avLst/>
              </a:prstGeom>
              <a:solidFill>
                <a:schemeClr val="bg1"/>
              </a:solidFill>
              <a:ln w="9525">
                <a:solidFill>
                  <a:srgbClr val="FF676B"/>
                </a:solidFill>
              </a:ln>
            </p:spPr>
            <p:style>
              <a:lnRef idx="1">
                <a:schemeClr val="accent1"/>
              </a:lnRef>
              <a:fillRef idx="0">
                <a:schemeClr val="accent1"/>
              </a:fillRef>
              <a:effectRef idx="0">
                <a:schemeClr val="accent1"/>
              </a:effectRef>
              <a:fontRef idx="minor">
                <a:schemeClr val="tx1"/>
              </a:fontRef>
            </p:style>
            <p:txBody>
              <a:bodyPr rtlCol="0" anchor="ctr"/>
              <a:lstStyle/>
              <a:p>
                <a:pPr algn="ctr">
                  <a:defRPr/>
                </a:pPr>
                <a:endParaRPr lang="en-GB">
                  <a:latin typeface="Arial"/>
                </a:endParaRPr>
              </a:p>
            </p:txBody>
          </p:sp>
          <p:grpSp>
            <p:nvGrpSpPr>
              <p:cNvPr id="12" name="Group 11">
                <a:extLst>
                  <a:ext uri="{FF2B5EF4-FFF2-40B4-BE49-F238E27FC236}">
                    <a16:creationId xmlns:a16="http://schemas.microsoft.com/office/drawing/2014/main" id="{BBF86CAA-BC4B-FA62-1BF0-61E1A15DFC7A}"/>
                  </a:ext>
                </a:extLst>
              </p:cNvPr>
              <p:cNvGrpSpPr/>
              <p:nvPr/>
            </p:nvGrpSpPr>
            <p:grpSpPr>
              <a:xfrm>
                <a:off x="2734178" y="2948633"/>
                <a:ext cx="751329" cy="435324"/>
                <a:chOff x="2696492" y="2542326"/>
                <a:chExt cx="715310" cy="414455"/>
              </a:xfrm>
            </p:grpSpPr>
            <p:sp>
              <p:nvSpPr>
                <p:cNvPr id="25" name="TextBox 24">
                  <a:extLst>
                    <a:ext uri="{FF2B5EF4-FFF2-40B4-BE49-F238E27FC236}">
                      <a16:creationId xmlns:a16="http://schemas.microsoft.com/office/drawing/2014/main" id="{FD6FC8F5-EC8C-32B0-C130-838447E69019}"/>
                    </a:ext>
                  </a:extLst>
                </p:cNvPr>
                <p:cNvSpPr txBox="1"/>
                <p:nvPr/>
              </p:nvSpPr>
              <p:spPr>
                <a:xfrm>
                  <a:off x="2696492" y="2737014"/>
                  <a:ext cx="715310" cy="219767"/>
                </a:xfrm>
                <a:prstGeom prst="rect">
                  <a:avLst/>
                </a:prstGeom>
                <a:noFill/>
              </p:spPr>
              <p:txBody>
                <a:bodyPr wrap="square" rtlCol="0">
                  <a:spAutoFit/>
                </a:bodyPr>
                <a:lstStyle/>
                <a:p>
                  <a:pPr algn="ctr">
                    <a:defRPr/>
                  </a:pPr>
                  <a:r>
                    <a:rPr lang="en-GB" sz="1200">
                      <a:latin typeface="Arial"/>
                    </a:rPr>
                    <a:t>Automation</a:t>
                  </a:r>
                </a:p>
                <a:p>
                  <a:pPr algn="ctr">
                    <a:defRPr/>
                  </a:pPr>
                  <a:r>
                    <a:rPr lang="en-GB" sz="1200">
                      <a:latin typeface="Arial"/>
                    </a:rPr>
                    <a:t>Readiness</a:t>
                  </a:r>
                </a:p>
              </p:txBody>
            </p:sp>
            <p:sp>
              <p:nvSpPr>
                <p:cNvPr id="26" name="Shape">
                  <a:extLst>
                    <a:ext uri="{FF2B5EF4-FFF2-40B4-BE49-F238E27FC236}">
                      <a16:creationId xmlns:a16="http://schemas.microsoft.com/office/drawing/2014/main" id="{6DED371A-C3BA-28F4-4D55-3CC890A32F56}"/>
                    </a:ext>
                  </a:extLst>
                </p:cNvPr>
                <p:cNvSpPr/>
                <p:nvPr/>
              </p:nvSpPr>
              <p:spPr>
                <a:xfrm>
                  <a:off x="2974441" y="2542326"/>
                  <a:ext cx="156745" cy="196917"/>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0"/>
                      </a:lnTo>
                      <a:lnTo>
                        <a:pt x="21600" y="21600"/>
                      </a:lnTo>
                      <a:lnTo>
                        <a:pt x="0" y="21600"/>
                      </a:lnTo>
                      <a:close/>
                      <a:moveTo>
                        <a:pt x="1079" y="20716"/>
                      </a:moveTo>
                      <a:lnTo>
                        <a:pt x="20521" y="20716"/>
                      </a:lnTo>
                      <a:lnTo>
                        <a:pt x="20521" y="884"/>
                      </a:lnTo>
                      <a:lnTo>
                        <a:pt x="1079" y="884"/>
                      </a:lnTo>
                      <a:lnTo>
                        <a:pt x="1079" y="20716"/>
                      </a:lnTo>
                      <a:close/>
                      <a:moveTo>
                        <a:pt x="7375" y="14641"/>
                      </a:moveTo>
                      <a:lnTo>
                        <a:pt x="6442" y="14175"/>
                      </a:lnTo>
                      <a:lnTo>
                        <a:pt x="4664" y="16456"/>
                      </a:lnTo>
                      <a:lnTo>
                        <a:pt x="4023" y="15618"/>
                      </a:lnTo>
                      <a:lnTo>
                        <a:pt x="3090" y="16084"/>
                      </a:lnTo>
                      <a:lnTo>
                        <a:pt x="4664" y="18132"/>
                      </a:lnTo>
                      <a:lnTo>
                        <a:pt x="7375" y="14641"/>
                      </a:lnTo>
                      <a:close/>
                      <a:moveTo>
                        <a:pt x="15624" y="16875"/>
                      </a:moveTo>
                      <a:lnTo>
                        <a:pt x="8395" y="16875"/>
                      </a:lnTo>
                      <a:lnTo>
                        <a:pt x="8395" y="17759"/>
                      </a:lnTo>
                      <a:lnTo>
                        <a:pt x="15624" y="17759"/>
                      </a:lnTo>
                      <a:lnTo>
                        <a:pt x="15624" y="16875"/>
                      </a:lnTo>
                      <a:close/>
                      <a:moveTo>
                        <a:pt x="18044" y="14943"/>
                      </a:moveTo>
                      <a:lnTo>
                        <a:pt x="8395" y="14943"/>
                      </a:lnTo>
                      <a:lnTo>
                        <a:pt x="8395" y="15828"/>
                      </a:lnTo>
                      <a:lnTo>
                        <a:pt x="18044" y="15828"/>
                      </a:lnTo>
                      <a:lnTo>
                        <a:pt x="18044" y="14943"/>
                      </a:lnTo>
                      <a:close/>
                      <a:moveTo>
                        <a:pt x="7375" y="9357"/>
                      </a:moveTo>
                      <a:lnTo>
                        <a:pt x="6442" y="8891"/>
                      </a:lnTo>
                      <a:lnTo>
                        <a:pt x="4664" y="11172"/>
                      </a:lnTo>
                      <a:lnTo>
                        <a:pt x="4023" y="10334"/>
                      </a:lnTo>
                      <a:lnTo>
                        <a:pt x="3090" y="10777"/>
                      </a:lnTo>
                      <a:lnTo>
                        <a:pt x="4664" y="12825"/>
                      </a:lnTo>
                      <a:lnTo>
                        <a:pt x="7375" y="9357"/>
                      </a:lnTo>
                      <a:close/>
                      <a:moveTo>
                        <a:pt x="15624" y="11568"/>
                      </a:moveTo>
                      <a:lnTo>
                        <a:pt x="8395" y="11568"/>
                      </a:lnTo>
                      <a:lnTo>
                        <a:pt x="8395" y="12453"/>
                      </a:lnTo>
                      <a:lnTo>
                        <a:pt x="15624" y="12453"/>
                      </a:lnTo>
                      <a:lnTo>
                        <a:pt x="15624" y="11568"/>
                      </a:lnTo>
                      <a:close/>
                      <a:moveTo>
                        <a:pt x="18044" y="9636"/>
                      </a:moveTo>
                      <a:lnTo>
                        <a:pt x="8395" y="9636"/>
                      </a:lnTo>
                      <a:lnTo>
                        <a:pt x="8395" y="10521"/>
                      </a:lnTo>
                      <a:lnTo>
                        <a:pt x="18044" y="10521"/>
                      </a:lnTo>
                      <a:lnTo>
                        <a:pt x="18044" y="9636"/>
                      </a:lnTo>
                      <a:close/>
                      <a:moveTo>
                        <a:pt x="7375" y="4050"/>
                      </a:moveTo>
                      <a:lnTo>
                        <a:pt x="6442" y="3584"/>
                      </a:lnTo>
                      <a:lnTo>
                        <a:pt x="4664" y="5866"/>
                      </a:lnTo>
                      <a:lnTo>
                        <a:pt x="4023" y="5028"/>
                      </a:lnTo>
                      <a:lnTo>
                        <a:pt x="3090" y="5493"/>
                      </a:lnTo>
                      <a:lnTo>
                        <a:pt x="4664" y="7518"/>
                      </a:lnTo>
                      <a:lnTo>
                        <a:pt x="7375" y="4050"/>
                      </a:lnTo>
                      <a:close/>
                      <a:moveTo>
                        <a:pt x="15624" y="6261"/>
                      </a:moveTo>
                      <a:lnTo>
                        <a:pt x="8395" y="6261"/>
                      </a:lnTo>
                      <a:lnTo>
                        <a:pt x="8395" y="7146"/>
                      </a:lnTo>
                      <a:lnTo>
                        <a:pt x="15624" y="7146"/>
                      </a:lnTo>
                      <a:lnTo>
                        <a:pt x="15624" y="6261"/>
                      </a:lnTo>
                      <a:close/>
                      <a:moveTo>
                        <a:pt x="18044" y="4329"/>
                      </a:moveTo>
                      <a:lnTo>
                        <a:pt x="8395" y="4329"/>
                      </a:lnTo>
                      <a:lnTo>
                        <a:pt x="8395" y="5214"/>
                      </a:lnTo>
                      <a:lnTo>
                        <a:pt x="18044" y="5214"/>
                      </a:lnTo>
                      <a:lnTo>
                        <a:pt x="18044" y="4329"/>
                      </a:lnTo>
                      <a:close/>
                    </a:path>
                  </a:pathLst>
                </a:custGeom>
                <a:solidFill>
                  <a:srgbClr val="FF676B"/>
                </a:solidFill>
                <a:ln w="12700">
                  <a:miter lim="400000"/>
                </a:ln>
              </p:spPr>
              <p:txBody>
                <a:bodyPr tIns="182878" bIns="182878" anchor="ctr">
                  <a:normAutofit fontScale="25000" lnSpcReduction="20000"/>
                </a:bodyPr>
                <a:lstStyle/>
                <a:p>
                  <a:pPr defTabSz="1828800">
                    <a:spcBef>
                      <a:spcPts val="4400"/>
                    </a:spcBef>
                    <a:defRPr sz="3200">
                      <a:solidFill>
                        <a:srgbClr val="FFFFFF"/>
                      </a:solidFill>
                    </a:defRPr>
                  </a:pPr>
                  <a:endParaRPr sz="6400">
                    <a:latin typeface="Arial"/>
                  </a:endParaRPr>
                </a:p>
              </p:txBody>
            </p:sp>
          </p:grpSp>
          <p:sp>
            <p:nvSpPr>
              <p:cNvPr id="13" name="Arrow: Chevron 183">
                <a:extLst>
                  <a:ext uri="{FF2B5EF4-FFF2-40B4-BE49-F238E27FC236}">
                    <a16:creationId xmlns:a16="http://schemas.microsoft.com/office/drawing/2014/main" id="{1A64C124-51E8-4EDC-D4FC-A7680ACFB462}"/>
                  </a:ext>
                </a:extLst>
              </p:cNvPr>
              <p:cNvSpPr/>
              <p:nvPr/>
            </p:nvSpPr>
            <p:spPr>
              <a:xfrm>
                <a:off x="2067128" y="1859403"/>
                <a:ext cx="1711184" cy="350088"/>
              </a:xfrm>
              <a:prstGeom prst="chevron">
                <a:avLst/>
              </a:prstGeom>
              <a:solidFill>
                <a:srgbClr val="FF676B"/>
              </a:solidFill>
              <a:ln>
                <a:solidFill>
                  <a:srgbClr val="FF676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en-GB">
                    <a:solidFill>
                      <a:schemeClr val="bg1"/>
                    </a:solidFill>
                    <a:latin typeface="Arial"/>
                  </a:rPr>
                  <a:t>ASSESS</a:t>
                </a:r>
              </a:p>
            </p:txBody>
          </p:sp>
          <p:sp>
            <p:nvSpPr>
              <p:cNvPr id="14" name="Freeform 127">
                <a:extLst>
                  <a:ext uri="{FF2B5EF4-FFF2-40B4-BE49-F238E27FC236}">
                    <a16:creationId xmlns:a16="http://schemas.microsoft.com/office/drawing/2014/main" id="{68F0AF04-8123-88DD-6A6A-80B29549C063}"/>
                  </a:ext>
                </a:extLst>
              </p:cNvPr>
              <p:cNvSpPr>
                <a:spLocks noChangeAspect="1" noChangeArrowheads="1"/>
              </p:cNvSpPr>
              <p:nvPr/>
            </p:nvSpPr>
            <p:spPr bwMode="auto">
              <a:xfrm>
                <a:off x="3280257" y="1909945"/>
                <a:ext cx="276969" cy="254760"/>
              </a:xfrm>
              <a:custGeom>
                <a:avLst/>
                <a:gdLst>
                  <a:gd name="T0" fmla="*/ 723 w 934"/>
                  <a:gd name="T1" fmla="*/ 189 h 861"/>
                  <a:gd name="T2" fmla="*/ 755 w 934"/>
                  <a:gd name="T3" fmla="*/ 148 h 861"/>
                  <a:gd name="T4" fmla="*/ 527 w 934"/>
                  <a:gd name="T5" fmla="*/ 0 h 861"/>
                  <a:gd name="T6" fmla="*/ 559 w 934"/>
                  <a:gd name="T7" fmla="*/ 148 h 861"/>
                  <a:gd name="T8" fmla="*/ 375 w 934"/>
                  <a:gd name="T9" fmla="*/ 189 h 861"/>
                  <a:gd name="T10" fmla="*/ 406 w 934"/>
                  <a:gd name="T11" fmla="*/ 148 h 861"/>
                  <a:gd name="T12" fmla="*/ 179 w 934"/>
                  <a:gd name="T13" fmla="*/ 0 h 861"/>
                  <a:gd name="T14" fmla="*/ 211 w 934"/>
                  <a:gd name="T15" fmla="*/ 148 h 861"/>
                  <a:gd name="T16" fmla="*/ 88 w 934"/>
                  <a:gd name="T17" fmla="*/ 189 h 861"/>
                  <a:gd name="T18" fmla="*/ 60 w 934"/>
                  <a:gd name="T19" fmla="*/ 575 h 861"/>
                  <a:gd name="T20" fmla="*/ 5 w 934"/>
                  <a:gd name="T21" fmla="*/ 860 h 861"/>
                  <a:gd name="T22" fmla="*/ 406 w 934"/>
                  <a:gd name="T23" fmla="*/ 730 h 861"/>
                  <a:gd name="T24" fmla="*/ 406 w 934"/>
                  <a:gd name="T25" fmla="*/ 575 h 861"/>
                  <a:gd name="T26" fmla="*/ 527 w 934"/>
                  <a:gd name="T27" fmla="*/ 496 h 861"/>
                  <a:gd name="T28" fmla="*/ 583 w 934"/>
                  <a:gd name="T29" fmla="*/ 575 h 861"/>
                  <a:gd name="T30" fmla="*/ 527 w 934"/>
                  <a:gd name="T31" fmla="*/ 860 h 861"/>
                  <a:gd name="T32" fmla="*/ 929 w 934"/>
                  <a:gd name="T33" fmla="*/ 730 h 861"/>
                  <a:gd name="T34" fmla="*/ 933 w 934"/>
                  <a:gd name="T35" fmla="*/ 575 h 861"/>
                  <a:gd name="T36" fmla="*/ 565 w 934"/>
                  <a:gd name="T37" fmla="*/ 37 h 861"/>
                  <a:gd name="T38" fmla="*/ 717 w 934"/>
                  <a:gd name="T39" fmla="*/ 110 h 861"/>
                  <a:gd name="T40" fmla="*/ 565 w 934"/>
                  <a:gd name="T41" fmla="*/ 37 h 861"/>
                  <a:gd name="T42" fmla="*/ 686 w 934"/>
                  <a:gd name="T43" fmla="*/ 148 h 861"/>
                  <a:gd name="T44" fmla="*/ 596 w 934"/>
                  <a:gd name="T45" fmla="*/ 189 h 861"/>
                  <a:gd name="T46" fmla="*/ 606 w 934"/>
                  <a:gd name="T47" fmla="*/ 433 h 861"/>
                  <a:gd name="T48" fmla="*/ 327 w 934"/>
                  <a:gd name="T49" fmla="*/ 459 h 861"/>
                  <a:gd name="T50" fmla="*/ 606 w 934"/>
                  <a:gd name="T51" fmla="*/ 433 h 861"/>
                  <a:gd name="T52" fmla="*/ 406 w 934"/>
                  <a:gd name="T53" fmla="*/ 290 h 861"/>
                  <a:gd name="T54" fmla="*/ 527 w 934"/>
                  <a:gd name="T55" fmla="*/ 395 h 861"/>
                  <a:gd name="T56" fmla="*/ 327 w 934"/>
                  <a:gd name="T57" fmla="*/ 253 h 861"/>
                  <a:gd name="T58" fmla="*/ 606 w 934"/>
                  <a:gd name="T59" fmla="*/ 227 h 861"/>
                  <a:gd name="T60" fmla="*/ 327 w 934"/>
                  <a:gd name="T61" fmla="*/ 253 h 861"/>
                  <a:gd name="T62" fmla="*/ 369 w 934"/>
                  <a:gd name="T63" fmla="*/ 37 h 861"/>
                  <a:gd name="T64" fmla="*/ 216 w 934"/>
                  <a:gd name="T65" fmla="*/ 110 h 861"/>
                  <a:gd name="T66" fmla="*/ 248 w 934"/>
                  <a:gd name="T67" fmla="*/ 148 h 861"/>
                  <a:gd name="T68" fmla="*/ 337 w 934"/>
                  <a:gd name="T69" fmla="*/ 189 h 861"/>
                  <a:gd name="T70" fmla="*/ 248 w 934"/>
                  <a:gd name="T71" fmla="*/ 148 h 861"/>
                  <a:gd name="T72" fmla="*/ 42 w 934"/>
                  <a:gd name="T73" fmla="*/ 749 h 861"/>
                  <a:gd name="T74" fmla="*/ 369 w 934"/>
                  <a:gd name="T75" fmla="*/ 823 h 861"/>
                  <a:gd name="T76" fmla="*/ 361 w 934"/>
                  <a:gd name="T77" fmla="*/ 712 h 861"/>
                  <a:gd name="T78" fmla="*/ 100 w 934"/>
                  <a:gd name="T79" fmla="*/ 575 h 861"/>
                  <a:gd name="T80" fmla="*/ 361 w 934"/>
                  <a:gd name="T81" fmla="*/ 712 h 861"/>
                  <a:gd name="T82" fmla="*/ 118 w 934"/>
                  <a:gd name="T83" fmla="*/ 227 h 861"/>
                  <a:gd name="T84" fmla="*/ 290 w 934"/>
                  <a:gd name="T85" fmla="*/ 290 h 861"/>
                  <a:gd name="T86" fmla="*/ 369 w 934"/>
                  <a:gd name="T87" fmla="*/ 395 h 861"/>
                  <a:gd name="T88" fmla="*/ 290 w 934"/>
                  <a:gd name="T89" fmla="*/ 496 h 861"/>
                  <a:gd name="T90" fmla="*/ 369 w 934"/>
                  <a:gd name="T91" fmla="*/ 538 h 861"/>
                  <a:gd name="T92" fmla="*/ 644 w 934"/>
                  <a:gd name="T93" fmla="*/ 496 h 861"/>
                  <a:gd name="T94" fmla="*/ 565 w 934"/>
                  <a:gd name="T95" fmla="*/ 395 h 861"/>
                  <a:gd name="T96" fmla="*/ 644 w 934"/>
                  <a:gd name="T97" fmla="*/ 290 h 861"/>
                  <a:gd name="T98" fmla="*/ 816 w 934"/>
                  <a:gd name="T99" fmla="*/ 227 h 861"/>
                  <a:gd name="T100" fmla="*/ 565 w 934"/>
                  <a:gd name="T101" fmla="*/ 538 h 861"/>
                  <a:gd name="T102" fmla="*/ 644 w 934"/>
                  <a:gd name="T103" fmla="*/ 496 h 861"/>
                  <a:gd name="T104" fmla="*/ 565 w 934"/>
                  <a:gd name="T105" fmla="*/ 749 h 861"/>
                  <a:gd name="T106" fmla="*/ 891 w 934"/>
                  <a:gd name="T107" fmla="*/ 823 h 861"/>
                  <a:gd name="T108" fmla="*/ 883 w 934"/>
                  <a:gd name="T109" fmla="*/ 712 h 861"/>
                  <a:gd name="T110" fmla="*/ 622 w 934"/>
                  <a:gd name="T111" fmla="*/ 575 h 861"/>
                  <a:gd name="T112" fmla="*/ 883 w 934"/>
                  <a:gd name="T113" fmla="*/ 712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34" h="861">
                    <a:moveTo>
                      <a:pt x="846" y="189"/>
                    </a:moveTo>
                    <a:lnTo>
                      <a:pt x="723" y="189"/>
                    </a:lnTo>
                    <a:lnTo>
                      <a:pt x="723" y="148"/>
                    </a:lnTo>
                    <a:lnTo>
                      <a:pt x="755" y="148"/>
                    </a:lnTo>
                    <a:lnTo>
                      <a:pt x="755" y="0"/>
                    </a:lnTo>
                    <a:lnTo>
                      <a:pt x="527" y="0"/>
                    </a:lnTo>
                    <a:lnTo>
                      <a:pt x="527" y="148"/>
                    </a:lnTo>
                    <a:lnTo>
                      <a:pt x="559" y="148"/>
                    </a:lnTo>
                    <a:lnTo>
                      <a:pt x="559" y="189"/>
                    </a:lnTo>
                    <a:lnTo>
                      <a:pt x="375" y="189"/>
                    </a:lnTo>
                    <a:lnTo>
                      <a:pt x="375" y="148"/>
                    </a:lnTo>
                    <a:lnTo>
                      <a:pt x="406" y="148"/>
                    </a:lnTo>
                    <a:lnTo>
                      <a:pt x="406" y="0"/>
                    </a:lnTo>
                    <a:lnTo>
                      <a:pt x="179" y="0"/>
                    </a:lnTo>
                    <a:lnTo>
                      <a:pt x="179" y="148"/>
                    </a:lnTo>
                    <a:lnTo>
                      <a:pt x="211" y="148"/>
                    </a:lnTo>
                    <a:lnTo>
                      <a:pt x="211" y="189"/>
                    </a:lnTo>
                    <a:lnTo>
                      <a:pt x="88" y="189"/>
                    </a:lnTo>
                    <a:lnTo>
                      <a:pt x="0" y="575"/>
                    </a:lnTo>
                    <a:lnTo>
                      <a:pt x="60" y="575"/>
                    </a:lnTo>
                    <a:lnTo>
                      <a:pt x="6" y="724"/>
                    </a:lnTo>
                    <a:lnTo>
                      <a:pt x="5" y="860"/>
                    </a:lnTo>
                    <a:lnTo>
                      <a:pt x="406" y="860"/>
                    </a:lnTo>
                    <a:lnTo>
                      <a:pt x="406" y="730"/>
                    </a:lnTo>
                    <a:lnTo>
                      <a:pt x="351" y="575"/>
                    </a:lnTo>
                    <a:lnTo>
                      <a:pt x="406" y="575"/>
                    </a:lnTo>
                    <a:lnTo>
                      <a:pt x="406" y="496"/>
                    </a:lnTo>
                    <a:lnTo>
                      <a:pt x="527" y="496"/>
                    </a:lnTo>
                    <a:lnTo>
                      <a:pt x="527" y="575"/>
                    </a:lnTo>
                    <a:lnTo>
                      <a:pt x="583" y="575"/>
                    </a:lnTo>
                    <a:lnTo>
                      <a:pt x="528" y="724"/>
                    </a:lnTo>
                    <a:lnTo>
                      <a:pt x="527" y="860"/>
                    </a:lnTo>
                    <a:lnTo>
                      <a:pt x="929" y="860"/>
                    </a:lnTo>
                    <a:lnTo>
                      <a:pt x="929" y="730"/>
                    </a:lnTo>
                    <a:lnTo>
                      <a:pt x="873" y="575"/>
                    </a:lnTo>
                    <a:lnTo>
                      <a:pt x="933" y="575"/>
                    </a:lnTo>
                    <a:lnTo>
                      <a:pt x="846" y="189"/>
                    </a:lnTo>
                    <a:close/>
                    <a:moveTo>
                      <a:pt x="565" y="37"/>
                    </a:moveTo>
                    <a:lnTo>
                      <a:pt x="717" y="37"/>
                    </a:lnTo>
                    <a:lnTo>
                      <a:pt x="717" y="110"/>
                    </a:lnTo>
                    <a:lnTo>
                      <a:pt x="565" y="110"/>
                    </a:lnTo>
                    <a:lnTo>
                      <a:pt x="565" y="37"/>
                    </a:lnTo>
                    <a:close/>
                    <a:moveTo>
                      <a:pt x="596" y="148"/>
                    </a:moveTo>
                    <a:lnTo>
                      <a:pt x="686" y="148"/>
                    </a:lnTo>
                    <a:lnTo>
                      <a:pt x="686" y="189"/>
                    </a:lnTo>
                    <a:lnTo>
                      <a:pt x="596" y="189"/>
                    </a:lnTo>
                    <a:lnTo>
                      <a:pt x="596" y="148"/>
                    </a:lnTo>
                    <a:close/>
                    <a:moveTo>
                      <a:pt x="606" y="433"/>
                    </a:moveTo>
                    <a:lnTo>
                      <a:pt x="606" y="459"/>
                    </a:lnTo>
                    <a:lnTo>
                      <a:pt x="327" y="459"/>
                    </a:lnTo>
                    <a:lnTo>
                      <a:pt x="327" y="433"/>
                    </a:lnTo>
                    <a:lnTo>
                      <a:pt x="606" y="433"/>
                    </a:lnTo>
                    <a:close/>
                    <a:moveTo>
                      <a:pt x="406" y="395"/>
                    </a:moveTo>
                    <a:lnTo>
                      <a:pt x="406" y="290"/>
                    </a:lnTo>
                    <a:lnTo>
                      <a:pt x="527" y="290"/>
                    </a:lnTo>
                    <a:lnTo>
                      <a:pt x="527" y="395"/>
                    </a:lnTo>
                    <a:lnTo>
                      <a:pt x="406" y="395"/>
                    </a:lnTo>
                    <a:close/>
                    <a:moveTo>
                      <a:pt x="327" y="253"/>
                    </a:moveTo>
                    <a:lnTo>
                      <a:pt x="327" y="227"/>
                    </a:lnTo>
                    <a:lnTo>
                      <a:pt x="606" y="227"/>
                    </a:lnTo>
                    <a:lnTo>
                      <a:pt x="606" y="253"/>
                    </a:lnTo>
                    <a:lnTo>
                      <a:pt x="327" y="253"/>
                    </a:lnTo>
                    <a:close/>
                    <a:moveTo>
                      <a:pt x="216" y="37"/>
                    </a:moveTo>
                    <a:lnTo>
                      <a:pt x="369" y="37"/>
                    </a:lnTo>
                    <a:lnTo>
                      <a:pt x="369" y="110"/>
                    </a:lnTo>
                    <a:lnTo>
                      <a:pt x="216" y="110"/>
                    </a:lnTo>
                    <a:lnTo>
                      <a:pt x="216" y="37"/>
                    </a:lnTo>
                    <a:close/>
                    <a:moveTo>
                      <a:pt x="248" y="148"/>
                    </a:moveTo>
                    <a:lnTo>
                      <a:pt x="337" y="148"/>
                    </a:lnTo>
                    <a:lnTo>
                      <a:pt x="337" y="189"/>
                    </a:lnTo>
                    <a:lnTo>
                      <a:pt x="248" y="189"/>
                    </a:lnTo>
                    <a:lnTo>
                      <a:pt x="248" y="148"/>
                    </a:lnTo>
                    <a:close/>
                    <a:moveTo>
                      <a:pt x="42" y="823"/>
                    </a:moveTo>
                    <a:lnTo>
                      <a:pt x="42" y="749"/>
                    </a:lnTo>
                    <a:lnTo>
                      <a:pt x="369" y="749"/>
                    </a:lnTo>
                    <a:lnTo>
                      <a:pt x="369" y="823"/>
                    </a:lnTo>
                    <a:lnTo>
                      <a:pt x="42" y="823"/>
                    </a:lnTo>
                    <a:close/>
                    <a:moveTo>
                      <a:pt x="361" y="712"/>
                    </a:moveTo>
                    <a:lnTo>
                      <a:pt x="50" y="712"/>
                    </a:lnTo>
                    <a:lnTo>
                      <a:pt x="100" y="575"/>
                    </a:lnTo>
                    <a:lnTo>
                      <a:pt x="311" y="575"/>
                    </a:lnTo>
                    <a:lnTo>
                      <a:pt x="361" y="712"/>
                    </a:lnTo>
                    <a:close/>
                    <a:moveTo>
                      <a:pt x="47" y="538"/>
                    </a:moveTo>
                    <a:lnTo>
                      <a:pt x="118" y="227"/>
                    </a:lnTo>
                    <a:lnTo>
                      <a:pt x="290" y="227"/>
                    </a:lnTo>
                    <a:lnTo>
                      <a:pt x="290" y="290"/>
                    </a:lnTo>
                    <a:lnTo>
                      <a:pt x="369" y="290"/>
                    </a:lnTo>
                    <a:lnTo>
                      <a:pt x="369" y="395"/>
                    </a:lnTo>
                    <a:lnTo>
                      <a:pt x="290" y="395"/>
                    </a:lnTo>
                    <a:lnTo>
                      <a:pt x="290" y="496"/>
                    </a:lnTo>
                    <a:lnTo>
                      <a:pt x="369" y="496"/>
                    </a:lnTo>
                    <a:lnTo>
                      <a:pt x="369" y="538"/>
                    </a:lnTo>
                    <a:lnTo>
                      <a:pt x="47" y="538"/>
                    </a:lnTo>
                    <a:close/>
                    <a:moveTo>
                      <a:pt x="644" y="496"/>
                    </a:moveTo>
                    <a:lnTo>
                      <a:pt x="644" y="395"/>
                    </a:lnTo>
                    <a:lnTo>
                      <a:pt x="565" y="395"/>
                    </a:lnTo>
                    <a:lnTo>
                      <a:pt x="565" y="290"/>
                    </a:lnTo>
                    <a:lnTo>
                      <a:pt x="644" y="290"/>
                    </a:lnTo>
                    <a:lnTo>
                      <a:pt x="644" y="227"/>
                    </a:lnTo>
                    <a:lnTo>
                      <a:pt x="816" y="227"/>
                    </a:lnTo>
                    <a:lnTo>
                      <a:pt x="887" y="538"/>
                    </a:lnTo>
                    <a:lnTo>
                      <a:pt x="565" y="538"/>
                    </a:lnTo>
                    <a:lnTo>
                      <a:pt x="565" y="496"/>
                    </a:lnTo>
                    <a:lnTo>
                      <a:pt x="644" y="496"/>
                    </a:lnTo>
                    <a:close/>
                    <a:moveTo>
                      <a:pt x="565" y="823"/>
                    </a:moveTo>
                    <a:lnTo>
                      <a:pt x="565" y="749"/>
                    </a:lnTo>
                    <a:lnTo>
                      <a:pt x="891" y="749"/>
                    </a:lnTo>
                    <a:lnTo>
                      <a:pt x="891" y="823"/>
                    </a:lnTo>
                    <a:lnTo>
                      <a:pt x="565" y="823"/>
                    </a:lnTo>
                    <a:close/>
                    <a:moveTo>
                      <a:pt x="883" y="712"/>
                    </a:moveTo>
                    <a:lnTo>
                      <a:pt x="573" y="712"/>
                    </a:lnTo>
                    <a:lnTo>
                      <a:pt x="622" y="575"/>
                    </a:lnTo>
                    <a:lnTo>
                      <a:pt x="834" y="575"/>
                    </a:lnTo>
                    <a:lnTo>
                      <a:pt x="883" y="712"/>
                    </a:lnTo>
                    <a:close/>
                  </a:path>
                </a:pathLst>
              </a:custGeom>
              <a:solidFill>
                <a:schemeClr val="bg1"/>
              </a:solidFill>
              <a:ln>
                <a:noFill/>
              </a:ln>
              <a:effectLst/>
            </p:spPr>
            <p:txBody>
              <a:bodyPr wrap="none" anchor="ctr"/>
              <a:lstStyle/>
              <a:p>
                <a:pPr defTabSz="825500" hangingPunct="0">
                  <a:lnSpc>
                    <a:spcPct val="110000"/>
                  </a:lnSpc>
                  <a:defRPr/>
                </a:pPr>
                <a:endParaRPr lang="en-US" sz="5050" kern="0" cap="all" spc="102">
                  <a:latin typeface="Arial"/>
                  <a:sym typeface="Arial"/>
                </a:endParaRPr>
              </a:p>
            </p:txBody>
          </p:sp>
          <p:sp>
            <p:nvSpPr>
              <p:cNvPr id="15" name="Rectangle 14">
                <a:extLst>
                  <a:ext uri="{FF2B5EF4-FFF2-40B4-BE49-F238E27FC236}">
                    <a16:creationId xmlns:a16="http://schemas.microsoft.com/office/drawing/2014/main" id="{4CE6811F-4056-4E62-0888-480A2D94C45C}"/>
                  </a:ext>
                </a:extLst>
              </p:cNvPr>
              <p:cNvSpPr/>
              <p:nvPr/>
            </p:nvSpPr>
            <p:spPr>
              <a:xfrm>
                <a:off x="2064483" y="2228923"/>
                <a:ext cx="1523354" cy="1241557"/>
              </a:xfrm>
              <a:prstGeom prst="rect">
                <a:avLst/>
              </a:prstGeom>
              <a:noFill/>
              <a:ln w="28575">
                <a:solidFill>
                  <a:srgbClr val="FF676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sz="7200">
                  <a:solidFill>
                    <a:schemeClr val="tx1"/>
                  </a:solidFill>
                  <a:latin typeface="Arial"/>
                </a:endParaRPr>
              </a:p>
            </p:txBody>
          </p:sp>
          <p:grpSp>
            <p:nvGrpSpPr>
              <p:cNvPr id="16" name="Group 15">
                <a:extLst>
                  <a:ext uri="{FF2B5EF4-FFF2-40B4-BE49-F238E27FC236}">
                    <a16:creationId xmlns:a16="http://schemas.microsoft.com/office/drawing/2014/main" id="{D7E000B9-E0A7-2520-E149-40E217A01C84}"/>
                  </a:ext>
                </a:extLst>
              </p:cNvPr>
              <p:cNvGrpSpPr/>
              <p:nvPr/>
            </p:nvGrpSpPr>
            <p:grpSpPr>
              <a:xfrm>
                <a:off x="2912097" y="2309989"/>
                <a:ext cx="751328" cy="430348"/>
                <a:chOff x="531469" y="2374421"/>
                <a:chExt cx="715310" cy="409716"/>
              </a:xfrm>
            </p:grpSpPr>
            <p:sp>
              <p:nvSpPr>
                <p:cNvPr id="23" name="Shape">
                  <a:extLst>
                    <a:ext uri="{FF2B5EF4-FFF2-40B4-BE49-F238E27FC236}">
                      <a16:creationId xmlns:a16="http://schemas.microsoft.com/office/drawing/2014/main" id="{CC7C536F-37CB-4FF4-277C-02ACD1EF3F9B}"/>
                    </a:ext>
                  </a:extLst>
                </p:cNvPr>
                <p:cNvSpPr/>
                <p:nvPr/>
              </p:nvSpPr>
              <p:spPr>
                <a:xfrm>
                  <a:off x="813210" y="2374421"/>
                  <a:ext cx="151828" cy="196917"/>
                </a:xfrm>
                <a:custGeom>
                  <a:avLst/>
                  <a:gdLst>
                    <a:gd name="connsiteX0" fmla="*/ 21600 w 21600"/>
                    <a:gd name="connsiteY0" fmla="*/ 16482 h 20177"/>
                    <a:gd name="connsiteX1" fmla="*/ 21600 w 21600"/>
                    <a:gd name="connsiteY1" fmla="*/ 5197 h 20177"/>
                    <a:gd name="connsiteX2" fmla="*/ 12314 w 21600"/>
                    <a:gd name="connsiteY2" fmla="*/ 0 h 20177"/>
                    <a:gd name="connsiteX3" fmla="*/ 0 w 21600"/>
                    <a:gd name="connsiteY3" fmla="*/ 0 h 20177"/>
                    <a:gd name="connsiteX4" fmla="*/ 0 w 21600"/>
                    <a:gd name="connsiteY4" fmla="*/ 16482 h 20177"/>
                    <a:gd name="connsiteX5" fmla="*/ 10161 w 21600"/>
                    <a:gd name="connsiteY5" fmla="*/ 16482 h 20177"/>
                    <a:gd name="connsiteX6" fmla="*/ 10161 w 21600"/>
                    <a:gd name="connsiteY6" fmla="*/ 20177 h 20177"/>
                    <a:gd name="connsiteX7" fmla="*/ 6191 w 21600"/>
                    <a:gd name="connsiteY7" fmla="*/ 17825 h 20177"/>
                    <a:gd name="connsiteX8" fmla="*/ 5282 w 21600"/>
                    <a:gd name="connsiteY8" fmla="*/ 18359 h 20177"/>
                    <a:gd name="connsiteX9" fmla="*/ 16318 w 21600"/>
                    <a:gd name="connsiteY9" fmla="*/ 18359 h 20177"/>
                    <a:gd name="connsiteX10" fmla="*/ 15443 w 21600"/>
                    <a:gd name="connsiteY10" fmla="*/ 17825 h 20177"/>
                    <a:gd name="connsiteX11" fmla="*/ 11439 w 21600"/>
                    <a:gd name="connsiteY11" fmla="*/ 20177 h 20177"/>
                    <a:gd name="connsiteX12" fmla="*/ 11439 w 21600"/>
                    <a:gd name="connsiteY12" fmla="*/ 16482 h 20177"/>
                    <a:gd name="connsiteX13" fmla="*/ 21600 w 21600"/>
                    <a:gd name="connsiteY13" fmla="*/ 16482 h 20177"/>
                    <a:gd name="connsiteX14" fmla="*/ 19850 w 21600"/>
                    <a:gd name="connsiteY14" fmla="*/ 5237 h 20177"/>
                    <a:gd name="connsiteX15" fmla="*/ 12213 w 21600"/>
                    <a:gd name="connsiteY15" fmla="*/ 5237 h 20177"/>
                    <a:gd name="connsiteX16" fmla="*/ 12213 w 21600"/>
                    <a:gd name="connsiteY16" fmla="*/ 968 h 20177"/>
                    <a:gd name="connsiteX17" fmla="*/ 19850 w 21600"/>
                    <a:gd name="connsiteY17" fmla="*/ 5237 h 20177"/>
                    <a:gd name="connsiteX18" fmla="*/ 10935 w 21600"/>
                    <a:gd name="connsiteY18" fmla="*/ 731 h 20177"/>
                    <a:gd name="connsiteX19" fmla="*/ 10935 w 21600"/>
                    <a:gd name="connsiteY19" fmla="*/ 3340 h 20177"/>
                    <a:gd name="connsiteX20" fmla="*/ 3465 w 21600"/>
                    <a:gd name="connsiteY20" fmla="*/ 3340 h 20177"/>
                    <a:gd name="connsiteX21" fmla="*/ 3465 w 21600"/>
                    <a:gd name="connsiteY21" fmla="*/ 4071 h 20177"/>
                    <a:gd name="connsiteX22" fmla="*/ 10935 w 21600"/>
                    <a:gd name="connsiteY22" fmla="*/ 4071 h 20177"/>
                    <a:gd name="connsiteX23" fmla="*/ 10935 w 21600"/>
                    <a:gd name="connsiteY23" fmla="*/ 5237 h 20177"/>
                    <a:gd name="connsiteX24" fmla="*/ 3465 w 21600"/>
                    <a:gd name="connsiteY24" fmla="*/ 5237 h 20177"/>
                    <a:gd name="connsiteX25" fmla="*/ 3465 w 21600"/>
                    <a:gd name="connsiteY25" fmla="*/ 5988 h 20177"/>
                    <a:gd name="connsiteX26" fmla="*/ 20321 w 21600"/>
                    <a:gd name="connsiteY26" fmla="*/ 5988 h 20177"/>
                    <a:gd name="connsiteX27" fmla="*/ 20321 w 21600"/>
                    <a:gd name="connsiteY27" fmla="*/ 15731 h 20177"/>
                    <a:gd name="connsiteX28" fmla="*/ 1279 w 21600"/>
                    <a:gd name="connsiteY28" fmla="*/ 15731 h 20177"/>
                    <a:gd name="connsiteX29" fmla="*/ 1279 w 21600"/>
                    <a:gd name="connsiteY29" fmla="*/ 731 h 20177"/>
                    <a:gd name="connsiteX30" fmla="*/ 10935 w 21600"/>
                    <a:gd name="connsiteY30" fmla="*/ 731 h 20177"/>
                    <a:gd name="connsiteX31" fmla="*/ 3465 w 21600"/>
                    <a:gd name="connsiteY31" fmla="*/ 12865 h 20177"/>
                    <a:gd name="connsiteX32" fmla="*/ 15645 w 21600"/>
                    <a:gd name="connsiteY32" fmla="*/ 12865 h 20177"/>
                    <a:gd name="connsiteX33" fmla="*/ 15645 w 21600"/>
                    <a:gd name="connsiteY33" fmla="*/ 13616 h 20177"/>
                    <a:gd name="connsiteX34" fmla="*/ 3465 w 21600"/>
                    <a:gd name="connsiteY34" fmla="*/ 13616 h 20177"/>
                    <a:gd name="connsiteX35" fmla="*/ 3465 w 21600"/>
                    <a:gd name="connsiteY35" fmla="*/ 12865 h 20177"/>
                    <a:gd name="connsiteX36" fmla="*/ 3465 w 21600"/>
                    <a:gd name="connsiteY36" fmla="*/ 10968 h 20177"/>
                    <a:gd name="connsiteX37" fmla="*/ 18067 w 21600"/>
                    <a:gd name="connsiteY37" fmla="*/ 10968 h 20177"/>
                    <a:gd name="connsiteX38" fmla="*/ 18067 w 21600"/>
                    <a:gd name="connsiteY38" fmla="*/ 11719 h 20177"/>
                    <a:gd name="connsiteX39" fmla="*/ 3465 w 21600"/>
                    <a:gd name="connsiteY39" fmla="*/ 11719 h 20177"/>
                    <a:gd name="connsiteX40" fmla="*/ 3465 w 21600"/>
                    <a:gd name="connsiteY40" fmla="*/ 10968 h 20177"/>
                    <a:gd name="connsiteX41" fmla="*/ 3465 w 21600"/>
                    <a:gd name="connsiteY41" fmla="*/ 9051 h 20177"/>
                    <a:gd name="connsiteX42" fmla="*/ 18067 w 21600"/>
                    <a:gd name="connsiteY42" fmla="*/ 9051 h 20177"/>
                    <a:gd name="connsiteX43" fmla="*/ 18067 w 21600"/>
                    <a:gd name="connsiteY43" fmla="*/ 9802 h 20177"/>
                    <a:gd name="connsiteX44" fmla="*/ 3465 w 21600"/>
                    <a:gd name="connsiteY44" fmla="*/ 9802 h 20177"/>
                    <a:gd name="connsiteX45" fmla="*/ 3465 w 21600"/>
                    <a:gd name="connsiteY45" fmla="*/ 9051 h 20177"/>
                    <a:gd name="connsiteX46" fmla="*/ 3465 w 21600"/>
                    <a:gd name="connsiteY46" fmla="*/ 7154 h 20177"/>
                    <a:gd name="connsiteX47" fmla="*/ 18067 w 21600"/>
                    <a:gd name="connsiteY47" fmla="*/ 7154 h 20177"/>
                    <a:gd name="connsiteX48" fmla="*/ 18067 w 21600"/>
                    <a:gd name="connsiteY48" fmla="*/ 7885 h 20177"/>
                    <a:gd name="connsiteX49" fmla="*/ 3465 w 21600"/>
                    <a:gd name="connsiteY49" fmla="*/ 7885 h 20177"/>
                    <a:gd name="connsiteX50" fmla="*/ 3465 w 21600"/>
                    <a:gd name="connsiteY50" fmla="*/ 7154 h 20177"/>
                    <a:gd name="connsiteX0" fmla="*/ 21600 w 21600"/>
                    <a:gd name="connsiteY0" fmla="*/ 16482 h 20177"/>
                    <a:gd name="connsiteX1" fmla="*/ 21600 w 21600"/>
                    <a:gd name="connsiteY1" fmla="*/ 5197 h 20177"/>
                    <a:gd name="connsiteX2" fmla="*/ 12314 w 21600"/>
                    <a:gd name="connsiteY2" fmla="*/ 0 h 20177"/>
                    <a:gd name="connsiteX3" fmla="*/ 0 w 21600"/>
                    <a:gd name="connsiteY3" fmla="*/ 0 h 20177"/>
                    <a:gd name="connsiteX4" fmla="*/ 0 w 21600"/>
                    <a:gd name="connsiteY4" fmla="*/ 16482 h 20177"/>
                    <a:gd name="connsiteX5" fmla="*/ 10161 w 21600"/>
                    <a:gd name="connsiteY5" fmla="*/ 16482 h 20177"/>
                    <a:gd name="connsiteX6" fmla="*/ 10161 w 21600"/>
                    <a:gd name="connsiteY6" fmla="*/ 20177 h 20177"/>
                    <a:gd name="connsiteX7" fmla="*/ 6191 w 21600"/>
                    <a:gd name="connsiteY7" fmla="*/ 17825 h 20177"/>
                    <a:gd name="connsiteX8" fmla="*/ 5282 w 21600"/>
                    <a:gd name="connsiteY8" fmla="*/ 18359 h 20177"/>
                    <a:gd name="connsiteX9" fmla="*/ 16318 w 21600"/>
                    <a:gd name="connsiteY9" fmla="*/ 18359 h 20177"/>
                    <a:gd name="connsiteX10" fmla="*/ 15443 w 21600"/>
                    <a:gd name="connsiteY10" fmla="*/ 17825 h 20177"/>
                    <a:gd name="connsiteX11" fmla="*/ 11439 w 21600"/>
                    <a:gd name="connsiteY11" fmla="*/ 16482 h 20177"/>
                    <a:gd name="connsiteX12" fmla="*/ 21600 w 21600"/>
                    <a:gd name="connsiteY12" fmla="*/ 16482 h 20177"/>
                    <a:gd name="connsiteX13" fmla="*/ 19850 w 21600"/>
                    <a:gd name="connsiteY13" fmla="*/ 5237 h 20177"/>
                    <a:gd name="connsiteX14" fmla="*/ 12213 w 21600"/>
                    <a:gd name="connsiteY14" fmla="*/ 5237 h 20177"/>
                    <a:gd name="connsiteX15" fmla="*/ 12213 w 21600"/>
                    <a:gd name="connsiteY15" fmla="*/ 968 h 20177"/>
                    <a:gd name="connsiteX16" fmla="*/ 19850 w 21600"/>
                    <a:gd name="connsiteY16" fmla="*/ 5237 h 20177"/>
                    <a:gd name="connsiteX17" fmla="*/ 10935 w 21600"/>
                    <a:gd name="connsiteY17" fmla="*/ 731 h 20177"/>
                    <a:gd name="connsiteX18" fmla="*/ 10935 w 21600"/>
                    <a:gd name="connsiteY18" fmla="*/ 3340 h 20177"/>
                    <a:gd name="connsiteX19" fmla="*/ 3465 w 21600"/>
                    <a:gd name="connsiteY19" fmla="*/ 3340 h 20177"/>
                    <a:gd name="connsiteX20" fmla="*/ 3465 w 21600"/>
                    <a:gd name="connsiteY20" fmla="*/ 4071 h 20177"/>
                    <a:gd name="connsiteX21" fmla="*/ 10935 w 21600"/>
                    <a:gd name="connsiteY21" fmla="*/ 4071 h 20177"/>
                    <a:gd name="connsiteX22" fmla="*/ 10935 w 21600"/>
                    <a:gd name="connsiteY22" fmla="*/ 5237 h 20177"/>
                    <a:gd name="connsiteX23" fmla="*/ 3465 w 21600"/>
                    <a:gd name="connsiteY23" fmla="*/ 5237 h 20177"/>
                    <a:gd name="connsiteX24" fmla="*/ 3465 w 21600"/>
                    <a:gd name="connsiteY24" fmla="*/ 5988 h 20177"/>
                    <a:gd name="connsiteX25" fmla="*/ 20321 w 21600"/>
                    <a:gd name="connsiteY25" fmla="*/ 5988 h 20177"/>
                    <a:gd name="connsiteX26" fmla="*/ 20321 w 21600"/>
                    <a:gd name="connsiteY26" fmla="*/ 15731 h 20177"/>
                    <a:gd name="connsiteX27" fmla="*/ 1279 w 21600"/>
                    <a:gd name="connsiteY27" fmla="*/ 15731 h 20177"/>
                    <a:gd name="connsiteX28" fmla="*/ 1279 w 21600"/>
                    <a:gd name="connsiteY28" fmla="*/ 731 h 20177"/>
                    <a:gd name="connsiteX29" fmla="*/ 10935 w 21600"/>
                    <a:gd name="connsiteY29" fmla="*/ 731 h 20177"/>
                    <a:gd name="connsiteX30" fmla="*/ 3465 w 21600"/>
                    <a:gd name="connsiteY30" fmla="*/ 12865 h 20177"/>
                    <a:gd name="connsiteX31" fmla="*/ 15645 w 21600"/>
                    <a:gd name="connsiteY31" fmla="*/ 12865 h 20177"/>
                    <a:gd name="connsiteX32" fmla="*/ 15645 w 21600"/>
                    <a:gd name="connsiteY32" fmla="*/ 13616 h 20177"/>
                    <a:gd name="connsiteX33" fmla="*/ 3465 w 21600"/>
                    <a:gd name="connsiteY33" fmla="*/ 13616 h 20177"/>
                    <a:gd name="connsiteX34" fmla="*/ 3465 w 21600"/>
                    <a:gd name="connsiteY34" fmla="*/ 12865 h 20177"/>
                    <a:gd name="connsiteX35" fmla="*/ 3465 w 21600"/>
                    <a:gd name="connsiteY35" fmla="*/ 10968 h 20177"/>
                    <a:gd name="connsiteX36" fmla="*/ 18067 w 21600"/>
                    <a:gd name="connsiteY36" fmla="*/ 10968 h 20177"/>
                    <a:gd name="connsiteX37" fmla="*/ 18067 w 21600"/>
                    <a:gd name="connsiteY37" fmla="*/ 11719 h 20177"/>
                    <a:gd name="connsiteX38" fmla="*/ 3465 w 21600"/>
                    <a:gd name="connsiteY38" fmla="*/ 11719 h 20177"/>
                    <a:gd name="connsiteX39" fmla="*/ 3465 w 21600"/>
                    <a:gd name="connsiteY39" fmla="*/ 10968 h 20177"/>
                    <a:gd name="connsiteX40" fmla="*/ 3465 w 21600"/>
                    <a:gd name="connsiteY40" fmla="*/ 9051 h 20177"/>
                    <a:gd name="connsiteX41" fmla="*/ 18067 w 21600"/>
                    <a:gd name="connsiteY41" fmla="*/ 9051 h 20177"/>
                    <a:gd name="connsiteX42" fmla="*/ 18067 w 21600"/>
                    <a:gd name="connsiteY42" fmla="*/ 9802 h 20177"/>
                    <a:gd name="connsiteX43" fmla="*/ 3465 w 21600"/>
                    <a:gd name="connsiteY43" fmla="*/ 9802 h 20177"/>
                    <a:gd name="connsiteX44" fmla="*/ 3465 w 21600"/>
                    <a:gd name="connsiteY44" fmla="*/ 9051 h 20177"/>
                    <a:gd name="connsiteX45" fmla="*/ 3465 w 21600"/>
                    <a:gd name="connsiteY45" fmla="*/ 7154 h 20177"/>
                    <a:gd name="connsiteX46" fmla="*/ 18067 w 21600"/>
                    <a:gd name="connsiteY46" fmla="*/ 7154 h 20177"/>
                    <a:gd name="connsiteX47" fmla="*/ 18067 w 21600"/>
                    <a:gd name="connsiteY47" fmla="*/ 7885 h 20177"/>
                    <a:gd name="connsiteX48" fmla="*/ 3465 w 21600"/>
                    <a:gd name="connsiteY48" fmla="*/ 7885 h 20177"/>
                    <a:gd name="connsiteX49" fmla="*/ 3465 w 21600"/>
                    <a:gd name="connsiteY49" fmla="*/ 7154 h 20177"/>
                    <a:gd name="connsiteX0" fmla="*/ 21600 w 21600"/>
                    <a:gd name="connsiteY0" fmla="*/ 16482 h 18359"/>
                    <a:gd name="connsiteX1" fmla="*/ 21600 w 21600"/>
                    <a:gd name="connsiteY1" fmla="*/ 5197 h 18359"/>
                    <a:gd name="connsiteX2" fmla="*/ 12314 w 21600"/>
                    <a:gd name="connsiteY2" fmla="*/ 0 h 18359"/>
                    <a:gd name="connsiteX3" fmla="*/ 0 w 21600"/>
                    <a:gd name="connsiteY3" fmla="*/ 0 h 18359"/>
                    <a:gd name="connsiteX4" fmla="*/ 0 w 21600"/>
                    <a:gd name="connsiteY4" fmla="*/ 16482 h 18359"/>
                    <a:gd name="connsiteX5" fmla="*/ 10161 w 21600"/>
                    <a:gd name="connsiteY5" fmla="*/ 16482 h 18359"/>
                    <a:gd name="connsiteX6" fmla="*/ 6191 w 21600"/>
                    <a:gd name="connsiteY6" fmla="*/ 17825 h 18359"/>
                    <a:gd name="connsiteX7" fmla="*/ 5282 w 21600"/>
                    <a:gd name="connsiteY7" fmla="*/ 18359 h 18359"/>
                    <a:gd name="connsiteX8" fmla="*/ 16318 w 21600"/>
                    <a:gd name="connsiteY8" fmla="*/ 18359 h 18359"/>
                    <a:gd name="connsiteX9" fmla="*/ 15443 w 21600"/>
                    <a:gd name="connsiteY9" fmla="*/ 17825 h 18359"/>
                    <a:gd name="connsiteX10" fmla="*/ 11439 w 21600"/>
                    <a:gd name="connsiteY10" fmla="*/ 16482 h 18359"/>
                    <a:gd name="connsiteX11" fmla="*/ 21600 w 21600"/>
                    <a:gd name="connsiteY11" fmla="*/ 16482 h 18359"/>
                    <a:gd name="connsiteX12" fmla="*/ 19850 w 21600"/>
                    <a:gd name="connsiteY12" fmla="*/ 5237 h 18359"/>
                    <a:gd name="connsiteX13" fmla="*/ 12213 w 21600"/>
                    <a:gd name="connsiteY13" fmla="*/ 5237 h 18359"/>
                    <a:gd name="connsiteX14" fmla="*/ 12213 w 21600"/>
                    <a:gd name="connsiteY14" fmla="*/ 968 h 18359"/>
                    <a:gd name="connsiteX15" fmla="*/ 19850 w 21600"/>
                    <a:gd name="connsiteY15" fmla="*/ 5237 h 18359"/>
                    <a:gd name="connsiteX16" fmla="*/ 10935 w 21600"/>
                    <a:gd name="connsiteY16" fmla="*/ 731 h 18359"/>
                    <a:gd name="connsiteX17" fmla="*/ 10935 w 21600"/>
                    <a:gd name="connsiteY17" fmla="*/ 3340 h 18359"/>
                    <a:gd name="connsiteX18" fmla="*/ 3465 w 21600"/>
                    <a:gd name="connsiteY18" fmla="*/ 3340 h 18359"/>
                    <a:gd name="connsiteX19" fmla="*/ 3465 w 21600"/>
                    <a:gd name="connsiteY19" fmla="*/ 4071 h 18359"/>
                    <a:gd name="connsiteX20" fmla="*/ 10935 w 21600"/>
                    <a:gd name="connsiteY20" fmla="*/ 4071 h 18359"/>
                    <a:gd name="connsiteX21" fmla="*/ 10935 w 21600"/>
                    <a:gd name="connsiteY21" fmla="*/ 5237 h 18359"/>
                    <a:gd name="connsiteX22" fmla="*/ 3465 w 21600"/>
                    <a:gd name="connsiteY22" fmla="*/ 5237 h 18359"/>
                    <a:gd name="connsiteX23" fmla="*/ 3465 w 21600"/>
                    <a:gd name="connsiteY23" fmla="*/ 5988 h 18359"/>
                    <a:gd name="connsiteX24" fmla="*/ 20321 w 21600"/>
                    <a:gd name="connsiteY24" fmla="*/ 5988 h 18359"/>
                    <a:gd name="connsiteX25" fmla="*/ 20321 w 21600"/>
                    <a:gd name="connsiteY25" fmla="*/ 15731 h 18359"/>
                    <a:gd name="connsiteX26" fmla="*/ 1279 w 21600"/>
                    <a:gd name="connsiteY26" fmla="*/ 15731 h 18359"/>
                    <a:gd name="connsiteX27" fmla="*/ 1279 w 21600"/>
                    <a:gd name="connsiteY27" fmla="*/ 731 h 18359"/>
                    <a:gd name="connsiteX28" fmla="*/ 10935 w 21600"/>
                    <a:gd name="connsiteY28" fmla="*/ 731 h 18359"/>
                    <a:gd name="connsiteX29" fmla="*/ 3465 w 21600"/>
                    <a:gd name="connsiteY29" fmla="*/ 12865 h 18359"/>
                    <a:gd name="connsiteX30" fmla="*/ 15645 w 21600"/>
                    <a:gd name="connsiteY30" fmla="*/ 12865 h 18359"/>
                    <a:gd name="connsiteX31" fmla="*/ 15645 w 21600"/>
                    <a:gd name="connsiteY31" fmla="*/ 13616 h 18359"/>
                    <a:gd name="connsiteX32" fmla="*/ 3465 w 21600"/>
                    <a:gd name="connsiteY32" fmla="*/ 13616 h 18359"/>
                    <a:gd name="connsiteX33" fmla="*/ 3465 w 21600"/>
                    <a:gd name="connsiteY33" fmla="*/ 12865 h 18359"/>
                    <a:gd name="connsiteX34" fmla="*/ 3465 w 21600"/>
                    <a:gd name="connsiteY34" fmla="*/ 10968 h 18359"/>
                    <a:gd name="connsiteX35" fmla="*/ 18067 w 21600"/>
                    <a:gd name="connsiteY35" fmla="*/ 10968 h 18359"/>
                    <a:gd name="connsiteX36" fmla="*/ 18067 w 21600"/>
                    <a:gd name="connsiteY36" fmla="*/ 11719 h 18359"/>
                    <a:gd name="connsiteX37" fmla="*/ 3465 w 21600"/>
                    <a:gd name="connsiteY37" fmla="*/ 11719 h 18359"/>
                    <a:gd name="connsiteX38" fmla="*/ 3465 w 21600"/>
                    <a:gd name="connsiteY38" fmla="*/ 10968 h 18359"/>
                    <a:gd name="connsiteX39" fmla="*/ 3465 w 21600"/>
                    <a:gd name="connsiteY39" fmla="*/ 9051 h 18359"/>
                    <a:gd name="connsiteX40" fmla="*/ 18067 w 21600"/>
                    <a:gd name="connsiteY40" fmla="*/ 9051 h 18359"/>
                    <a:gd name="connsiteX41" fmla="*/ 18067 w 21600"/>
                    <a:gd name="connsiteY41" fmla="*/ 9802 h 18359"/>
                    <a:gd name="connsiteX42" fmla="*/ 3465 w 21600"/>
                    <a:gd name="connsiteY42" fmla="*/ 9802 h 18359"/>
                    <a:gd name="connsiteX43" fmla="*/ 3465 w 21600"/>
                    <a:gd name="connsiteY43" fmla="*/ 9051 h 18359"/>
                    <a:gd name="connsiteX44" fmla="*/ 3465 w 21600"/>
                    <a:gd name="connsiteY44" fmla="*/ 7154 h 18359"/>
                    <a:gd name="connsiteX45" fmla="*/ 18067 w 21600"/>
                    <a:gd name="connsiteY45" fmla="*/ 7154 h 18359"/>
                    <a:gd name="connsiteX46" fmla="*/ 18067 w 21600"/>
                    <a:gd name="connsiteY46" fmla="*/ 7885 h 18359"/>
                    <a:gd name="connsiteX47" fmla="*/ 3465 w 21600"/>
                    <a:gd name="connsiteY47" fmla="*/ 7885 h 18359"/>
                    <a:gd name="connsiteX48" fmla="*/ 3465 w 21600"/>
                    <a:gd name="connsiteY48" fmla="*/ 7154 h 18359"/>
                    <a:gd name="connsiteX0" fmla="*/ 21600 w 21600"/>
                    <a:gd name="connsiteY0" fmla="*/ 16482 h 18359"/>
                    <a:gd name="connsiteX1" fmla="*/ 21600 w 21600"/>
                    <a:gd name="connsiteY1" fmla="*/ 5197 h 18359"/>
                    <a:gd name="connsiteX2" fmla="*/ 12314 w 21600"/>
                    <a:gd name="connsiteY2" fmla="*/ 0 h 18359"/>
                    <a:gd name="connsiteX3" fmla="*/ 0 w 21600"/>
                    <a:gd name="connsiteY3" fmla="*/ 0 h 18359"/>
                    <a:gd name="connsiteX4" fmla="*/ 0 w 21600"/>
                    <a:gd name="connsiteY4" fmla="*/ 16482 h 18359"/>
                    <a:gd name="connsiteX5" fmla="*/ 10161 w 21600"/>
                    <a:gd name="connsiteY5" fmla="*/ 16482 h 18359"/>
                    <a:gd name="connsiteX6" fmla="*/ 6191 w 21600"/>
                    <a:gd name="connsiteY6" fmla="*/ 17825 h 18359"/>
                    <a:gd name="connsiteX7" fmla="*/ 5282 w 21600"/>
                    <a:gd name="connsiteY7" fmla="*/ 18359 h 18359"/>
                    <a:gd name="connsiteX8" fmla="*/ 15443 w 21600"/>
                    <a:gd name="connsiteY8" fmla="*/ 17825 h 18359"/>
                    <a:gd name="connsiteX9" fmla="*/ 11439 w 21600"/>
                    <a:gd name="connsiteY9" fmla="*/ 16482 h 18359"/>
                    <a:gd name="connsiteX10" fmla="*/ 21600 w 21600"/>
                    <a:gd name="connsiteY10" fmla="*/ 16482 h 18359"/>
                    <a:gd name="connsiteX11" fmla="*/ 19850 w 21600"/>
                    <a:gd name="connsiteY11" fmla="*/ 5237 h 18359"/>
                    <a:gd name="connsiteX12" fmla="*/ 12213 w 21600"/>
                    <a:gd name="connsiteY12" fmla="*/ 5237 h 18359"/>
                    <a:gd name="connsiteX13" fmla="*/ 12213 w 21600"/>
                    <a:gd name="connsiteY13" fmla="*/ 968 h 18359"/>
                    <a:gd name="connsiteX14" fmla="*/ 19850 w 21600"/>
                    <a:gd name="connsiteY14" fmla="*/ 5237 h 18359"/>
                    <a:gd name="connsiteX15" fmla="*/ 10935 w 21600"/>
                    <a:gd name="connsiteY15" fmla="*/ 731 h 18359"/>
                    <a:gd name="connsiteX16" fmla="*/ 10935 w 21600"/>
                    <a:gd name="connsiteY16" fmla="*/ 3340 h 18359"/>
                    <a:gd name="connsiteX17" fmla="*/ 3465 w 21600"/>
                    <a:gd name="connsiteY17" fmla="*/ 3340 h 18359"/>
                    <a:gd name="connsiteX18" fmla="*/ 3465 w 21600"/>
                    <a:gd name="connsiteY18" fmla="*/ 4071 h 18359"/>
                    <a:gd name="connsiteX19" fmla="*/ 10935 w 21600"/>
                    <a:gd name="connsiteY19" fmla="*/ 4071 h 18359"/>
                    <a:gd name="connsiteX20" fmla="*/ 10935 w 21600"/>
                    <a:gd name="connsiteY20" fmla="*/ 5237 h 18359"/>
                    <a:gd name="connsiteX21" fmla="*/ 3465 w 21600"/>
                    <a:gd name="connsiteY21" fmla="*/ 5237 h 18359"/>
                    <a:gd name="connsiteX22" fmla="*/ 3465 w 21600"/>
                    <a:gd name="connsiteY22" fmla="*/ 5988 h 18359"/>
                    <a:gd name="connsiteX23" fmla="*/ 20321 w 21600"/>
                    <a:gd name="connsiteY23" fmla="*/ 5988 h 18359"/>
                    <a:gd name="connsiteX24" fmla="*/ 20321 w 21600"/>
                    <a:gd name="connsiteY24" fmla="*/ 15731 h 18359"/>
                    <a:gd name="connsiteX25" fmla="*/ 1279 w 21600"/>
                    <a:gd name="connsiteY25" fmla="*/ 15731 h 18359"/>
                    <a:gd name="connsiteX26" fmla="*/ 1279 w 21600"/>
                    <a:gd name="connsiteY26" fmla="*/ 731 h 18359"/>
                    <a:gd name="connsiteX27" fmla="*/ 10935 w 21600"/>
                    <a:gd name="connsiteY27" fmla="*/ 731 h 18359"/>
                    <a:gd name="connsiteX28" fmla="*/ 3465 w 21600"/>
                    <a:gd name="connsiteY28" fmla="*/ 12865 h 18359"/>
                    <a:gd name="connsiteX29" fmla="*/ 15645 w 21600"/>
                    <a:gd name="connsiteY29" fmla="*/ 12865 h 18359"/>
                    <a:gd name="connsiteX30" fmla="*/ 15645 w 21600"/>
                    <a:gd name="connsiteY30" fmla="*/ 13616 h 18359"/>
                    <a:gd name="connsiteX31" fmla="*/ 3465 w 21600"/>
                    <a:gd name="connsiteY31" fmla="*/ 13616 h 18359"/>
                    <a:gd name="connsiteX32" fmla="*/ 3465 w 21600"/>
                    <a:gd name="connsiteY32" fmla="*/ 12865 h 18359"/>
                    <a:gd name="connsiteX33" fmla="*/ 3465 w 21600"/>
                    <a:gd name="connsiteY33" fmla="*/ 10968 h 18359"/>
                    <a:gd name="connsiteX34" fmla="*/ 18067 w 21600"/>
                    <a:gd name="connsiteY34" fmla="*/ 10968 h 18359"/>
                    <a:gd name="connsiteX35" fmla="*/ 18067 w 21600"/>
                    <a:gd name="connsiteY35" fmla="*/ 11719 h 18359"/>
                    <a:gd name="connsiteX36" fmla="*/ 3465 w 21600"/>
                    <a:gd name="connsiteY36" fmla="*/ 11719 h 18359"/>
                    <a:gd name="connsiteX37" fmla="*/ 3465 w 21600"/>
                    <a:gd name="connsiteY37" fmla="*/ 10968 h 18359"/>
                    <a:gd name="connsiteX38" fmla="*/ 3465 w 21600"/>
                    <a:gd name="connsiteY38" fmla="*/ 9051 h 18359"/>
                    <a:gd name="connsiteX39" fmla="*/ 18067 w 21600"/>
                    <a:gd name="connsiteY39" fmla="*/ 9051 h 18359"/>
                    <a:gd name="connsiteX40" fmla="*/ 18067 w 21600"/>
                    <a:gd name="connsiteY40" fmla="*/ 9802 h 18359"/>
                    <a:gd name="connsiteX41" fmla="*/ 3465 w 21600"/>
                    <a:gd name="connsiteY41" fmla="*/ 9802 h 18359"/>
                    <a:gd name="connsiteX42" fmla="*/ 3465 w 21600"/>
                    <a:gd name="connsiteY42" fmla="*/ 9051 h 18359"/>
                    <a:gd name="connsiteX43" fmla="*/ 3465 w 21600"/>
                    <a:gd name="connsiteY43" fmla="*/ 7154 h 18359"/>
                    <a:gd name="connsiteX44" fmla="*/ 18067 w 21600"/>
                    <a:gd name="connsiteY44" fmla="*/ 7154 h 18359"/>
                    <a:gd name="connsiteX45" fmla="*/ 18067 w 21600"/>
                    <a:gd name="connsiteY45" fmla="*/ 7885 h 18359"/>
                    <a:gd name="connsiteX46" fmla="*/ 3465 w 21600"/>
                    <a:gd name="connsiteY46" fmla="*/ 7885 h 18359"/>
                    <a:gd name="connsiteX47" fmla="*/ 3465 w 21600"/>
                    <a:gd name="connsiteY47" fmla="*/ 7154 h 18359"/>
                    <a:gd name="connsiteX0" fmla="*/ 21600 w 21600"/>
                    <a:gd name="connsiteY0" fmla="*/ 16482 h 17825"/>
                    <a:gd name="connsiteX1" fmla="*/ 21600 w 21600"/>
                    <a:gd name="connsiteY1" fmla="*/ 5197 h 17825"/>
                    <a:gd name="connsiteX2" fmla="*/ 12314 w 21600"/>
                    <a:gd name="connsiteY2" fmla="*/ 0 h 17825"/>
                    <a:gd name="connsiteX3" fmla="*/ 0 w 21600"/>
                    <a:gd name="connsiteY3" fmla="*/ 0 h 17825"/>
                    <a:gd name="connsiteX4" fmla="*/ 0 w 21600"/>
                    <a:gd name="connsiteY4" fmla="*/ 16482 h 17825"/>
                    <a:gd name="connsiteX5" fmla="*/ 10161 w 21600"/>
                    <a:gd name="connsiteY5" fmla="*/ 16482 h 17825"/>
                    <a:gd name="connsiteX6" fmla="*/ 6191 w 21600"/>
                    <a:gd name="connsiteY6" fmla="*/ 17825 h 17825"/>
                    <a:gd name="connsiteX7" fmla="*/ 15443 w 21600"/>
                    <a:gd name="connsiteY7" fmla="*/ 17825 h 17825"/>
                    <a:gd name="connsiteX8" fmla="*/ 11439 w 21600"/>
                    <a:gd name="connsiteY8" fmla="*/ 16482 h 17825"/>
                    <a:gd name="connsiteX9" fmla="*/ 21600 w 21600"/>
                    <a:gd name="connsiteY9" fmla="*/ 16482 h 17825"/>
                    <a:gd name="connsiteX10" fmla="*/ 19850 w 21600"/>
                    <a:gd name="connsiteY10" fmla="*/ 5237 h 17825"/>
                    <a:gd name="connsiteX11" fmla="*/ 12213 w 21600"/>
                    <a:gd name="connsiteY11" fmla="*/ 5237 h 17825"/>
                    <a:gd name="connsiteX12" fmla="*/ 12213 w 21600"/>
                    <a:gd name="connsiteY12" fmla="*/ 968 h 17825"/>
                    <a:gd name="connsiteX13" fmla="*/ 19850 w 21600"/>
                    <a:gd name="connsiteY13" fmla="*/ 5237 h 17825"/>
                    <a:gd name="connsiteX14" fmla="*/ 10935 w 21600"/>
                    <a:gd name="connsiteY14" fmla="*/ 731 h 17825"/>
                    <a:gd name="connsiteX15" fmla="*/ 10935 w 21600"/>
                    <a:gd name="connsiteY15" fmla="*/ 3340 h 17825"/>
                    <a:gd name="connsiteX16" fmla="*/ 3465 w 21600"/>
                    <a:gd name="connsiteY16" fmla="*/ 3340 h 17825"/>
                    <a:gd name="connsiteX17" fmla="*/ 3465 w 21600"/>
                    <a:gd name="connsiteY17" fmla="*/ 4071 h 17825"/>
                    <a:gd name="connsiteX18" fmla="*/ 10935 w 21600"/>
                    <a:gd name="connsiteY18" fmla="*/ 4071 h 17825"/>
                    <a:gd name="connsiteX19" fmla="*/ 10935 w 21600"/>
                    <a:gd name="connsiteY19" fmla="*/ 5237 h 17825"/>
                    <a:gd name="connsiteX20" fmla="*/ 3465 w 21600"/>
                    <a:gd name="connsiteY20" fmla="*/ 5237 h 17825"/>
                    <a:gd name="connsiteX21" fmla="*/ 3465 w 21600"/>
                    <a:gd name="connsiteY21" fmla="*/ 5988 h 17825"/>
                    <a:gd name="connsiteX22" fmla="*/ 20321 w 21600"/>
                    <a:gd name="connsiteY22" fmla="*/ 5988 h 17825"/>
                    <a:gd name="connsiteX23" fmla="*/ 20321 w 21600"/>
                    <a:gd name="connsiteY23" fmla="*/ 15731 h 17825"/>
                    <a:gd name="connsiteX24" fmla="*/ 1279 w 21600"/>
                    <a:gd name="connsiteY24" fmla="*/ 15731 h 17825"/>
                    <a:gd name="connsiteX25" fmla="*/ 1279 w 21600"/>
                    <a:gd name="connsiteY25" fmla="*/ 731 h 17825"/>
                    <a:gd name="connsiteX26" fmla="*/ 10935 w 21600"/>
                    <a:gd name="connsiteY26" fmla="*/ 731 h 17825"/>
                    <a:gd name="connsiteX27" fmla="*/ 3465 w 21600"/>
                    <a:gd name="connsiteY27" fmla="*/ 12865 h 17825"/>
                    <a:gd name="connsiteX28" fmla="*/ 15645 w 21600"/>
                    <a:gd name="connsiteY28" fmla="*/ 12865 h 17825"/>
                    <a:gd name="connsiteX29" fmla="*/ 15645 w 21600"/>
                    <a:gd name="connsiteY29" fmla="*/ 13616 h 17825"/>
                    <a:gd name="connsiteX30" fmla="*/ 3465 w 21600"/>
                    <a:gd name="connsiteY30" fmla="*/ 13616 h 17825"/>
                    <a:gd name="connsiteX31" fmla="*/ 3465 w 21600"/>
                    <a:gd name="connsiteY31" fmla="*/ 12865 h 17825"/>
                    <a:gd name="connsiteX32" fmla="*/ 3465 w 21600"/>
                    <a:gd name="connsiteY32" fmla="*/ 10968 h 17825"/>
                    <a:gd name="connsiteX33" fmla="*/ 18067 w 21600"/>
                    <a:gd name="connsiteY33" fmla="*/ 10968 h 17825"/>
                    <a:gd name="connsiteX34" fmla="*/ 18067 w 21600"/>
                    <a:gd name="connsiteY34" fmla="*/ 11719 h 17825"/>
                    <a:gd name="connsiteX35" fmla="*/ 3465 w 21600"/>
                    <a:gd name="connsiteY35" fmla="*/ 11719 h 17825"/>
                    <a:gd name="connsiteX36" fmla="*/ 3465 w 21600"/>
                    <a:gd name="connsiteY36" fmla="*/ 10968 h 17825"/>
                    <a:gd name="connsiteX37" fmla="*/ 3465 w 21600"/>
                    <a:gd name="connsiteY37" fmla="*/ 9051 h 17825"/>
                    <a:gd name="connsiteX38" fmla="*/ 18067 w 21600"/>
                    <a:gd name="connsiteY38" fmla="*/ 9051 h 17825"/>
                    <a:gd name="connsiteX39" fmla="*/ 18067 w 21600"/>
                    <a:gd name="connsiteY39" fmla="*/ 9802 h 17825"/>
                    <a:gd name="connsiteX40" fmla="*/ 3465 w 21600"/>
                    <a:gd name="connsiteY40" fmla="*/ 9802 h 17825"/>
                    <a:gd name="connsiteX41" fmla="*/ 3465 w 21600"/>
                    <a:gd name="connsiteY41" fmla="*/ 9051 h 17825"/>
                    <a:gd name="connsiteX42" fmla="*/ 3465 w 21600"/>
                    <a:gd name="connsiteY42" fmla="*/ 7154 h 17825"/>
                    <a:gd name="connsiteX43" fmla="*/ 18067 w 21600"/>
                    <a:gd name="connsiteY43" fmla="*/ 7154 h 17825"/>
                    <a:gd name="connsiteX44" fmla="*/ 18067 w 21600"/>
                    <a:gd name="connsiteY44" fmla="*/ 7885 h 17825"/>
                    <a:gd name="connsiteX45" fmla="*/ 3465 w 21600"/>
                    <a:gd name="connsiteY45" fmla="*/ 7885 h 17825"/>
                    <a:gd name="connsiteX46" fmla="*/ 3465 w 21600"/>
                    <a:gd name="connsiteY46" fmla="*/ 7154 h 17825"/>
                    <a:gd name="connsiteX0" fmla="*/ 21600 w 21600"/>
                    <a:gd name="connsiteY0" fmla="*/ 16482 h 17825"/>
                    <a:gd name="connsiteX1" fmla="*/ 21600 w 21600"/>
                    <a:gd name="connsiteY1" fmla="*/ 5197 h 17825"/>
                    <a:gd name="connsiteX2" fmla="*/ 12314 w 21600"/>
                    <a:gd name="connsiteY2" fmla="*/ 0 h 17825"/>
                    <a:gd name="connsiteX3" fmla="*/ 0 w 21600"/>
                    <a:gd name="connsiteY3" fmla="*/ 0 h 17825"/>
                    <a:gd name="connsiteX4" fmla="*/ 0 w 21600"/>
                    <a:gd name="connsiteY4" fmla="*/ 16482 h 17825"/>
                    <a:gd name="connsiteX5" fmla="*/ 10161 w 21600"/>
                    <a:gd name="connsiteY5" fmla="*/ 16482 h 17825"/>
                    <a:gd name="connsiteX6" fmla="*/ 6191 w 21600"/>
                    <a:gd name="connsiteY6" fmla="*/ 17825 h 17825"/>
                    <a:gd name="connsiteX7" fmla="*/ 11439 w 21600"/>
                    <a:gd name="connsiteY7" fmla="*/ 16482 h 17825"/>
                    <a:gd name="connsiteX8" fmla="*/ 21600 w 21600"/>
                    <a:gd name="connsiteY8" fmla="*/ 16482 h 17825"/>
                    <a:gd name="connsiteX9" fmla="*/ 19850 w 21600"/>
                    <a:gd name="connsiteY9" fmla="*/ 5237 h 17825"/>
                    <a:gd name="connsiteX10" fmla="*/ 12213 w 21600"/>
                    <a:gd name="connsiteY10" fmla="*/ 5237 h 17825"/>
                    <a:gd name="connsiteX11" fmla="*/ 12213 w 21600"/>
                    <a:gd name="connsiteY11" fmla="*/ 968 h 17825"/>
                    <a:gd name="connsiteX12" fmla="*/ 19850 w 21600"/>
                    <a:gd name="connsiteY12" fmla="*/ 5237 h 17825"/>
                    <a:gd name="connsiteX13" fmla="*/ 10935 w 21600"/>
                    <a:gd name="connsiteY13" fmla="*/ 731 h 17825"/>
                    <a:gd name="connsiteX14" fmla="*/ 10935 w 21600"/>
                    <a:gd name="connsiteY14" fmla="*/ 3340 h 17825"/>
                    <a:gd name="connsiteX15" fmla="*/ 3465 w 21600"/>
                    <a:gd name="connsiteY15" fmla="*/ 3340 h 17825"/>
                    <a:gd name="connsiteX16" fmla="*/ 3465 w 21600"/>
                    <a:gd name="connsiteY16" fmla="*/ 4071 h 17825"/>
                    <a:gd name="connsiteX17" fmla="*/ 10935 w 21600"/>
                    <a:gd name="connsiteY17" fmla="*/ 4071 h 17825"/>
                    <a:gd name="connsiteX18" fmla="*/ 10935 w 21600"/>
                    <a:gd name="connsiteY18" fmla="*/ 5237 h 17825"/>
                    <a:gd name="connsiteX19" fmla="*/ 3465 w 21600"/>
                    <a:gd name="connsiteY19" fmla="*/ 5237 h 17825"/>
                    <a:gd name="connsiteX20" fmla="*/ 3465 w 21600"/>
                    <a:gd name="connsiteY20" fmla="*/ 5988 h 17825"/>
                    <a:gd name="connsiteX21" fmla="*/ 20321 w 21600"/>
                    <a:gd name="connsiteY21" fmla="*/ 5988 h 17825"/>
                    <a:gd name="connsiteX22" fmla="*/ 20321 w 21600"/>
                    <a:gd name="connsiteY22" fmla="*/ 15731 h 17825"/>
                    <a:gd name="connsiteX23" fmla="*/ 1279 w 21600"/>
                    <a:gd name="connsiteY23" fmla="*/ 15731 h 17825"/>
                    <a:gd name="connsiteX24" fmla="*/ 1279 w 21600"/>
                    <a:gd name="connsiteY24" fmla="*/ 731 h 17825"/>
                    <a:gd name="connsiteX25" fmla="*/ 10935 w 21600"/>
                    <a:gd name="connsiteY25" fmla="*/ 731 h 17825"/>
                    <a:gd name="connsiteX26" fmla="*/ 3465 w 21600"/>
                    <a:gd name="connsiteY26" fmla="*/ 12865 h 17825"/>
                    <a:gd name="connsiteX27" fmla="*/ 15645 w 21600"/>
                    <a:gd name="connsiteY27" fmla="*/ 12865 h 17825"/>
                    <a:gd name="connsiteX28" fmla="*/ 15645 w 21600"/>
                    <a:gd name="connsiteY28" fmla="*/ 13616 h 17825"/>
                    <a:gd name="connsiteX29" fmla="*/ 3465 w 21600"/>
                    <a:gd name="connsiteY29" fmla="*/ 13616 h 17825"/>
                    <a:gd name="connsiteX30" fmla="*/ 3465 w 21600"/>
                    <a:gd name="connsiteY30" fmla="*/ 12865 h 17825"/>
                    <a:gd name="connsiteX31" fmla="*/ 3465 w 21600"/>
                    <a:gd name="connsiteY31" fmla="*/ 10968 h 17825"/>
                    <a:gd name="connsiteX32" fmla="*/ 18067 w 21600"/>
                    <a:gd name="connsiteY32" fmla="*/ 10968 h 17825"/>
                    <a:gd name="connsiteX33" fmla="*/ 18067 w 21600"/>
                    <a:gd name="connsiteY33" fmla="*/ 11719 h 17825"/>
                    <a:gd name="connsiteX34" fmla="*/ 3465 w 21600"/>
                    <a:gd name="connsiteY34" fmla="*/ 11719 h 17825"/>
                    <a:gd name="connsiteX35" fmla="*/ 3465 w 21600"/>
                    <a:gd name="connsiteY35" fmla="*/ 10968 h 17825"/>
                    <a:gd name="connsiteX36" fmla="*/ 3465 w 21600"/>
                    <a:gd name="connsiteY36" fmla="*/ 9051 h 17825"/>
                    <a:gd name="connsiteX37" fmla="*/ 18067 w 21600"/>
                    <a:gd name="connsiteY37" fmla="*/ 9051 h 17825"/>
                    <a:gd name="connsiteX38" fmla="*/ 18067 w 21600"/>
                    <a:gd name="connsiteY38" fmla="*/ 9802 h 17825"/>
                    <a:gd name="connsiteX39" fmla="*/ 3465 w 21600"/>
                    <a:gd name="connsiteY39" fmla="*/ 9802 h 17825"/>
                    <a:gd name="connsiteX40" fmla="*/ 3465 w 21600"/>
                    <a:gd name="connsiteY40" fmla="*/ 9051 h 17825"/>
                    <a:gd name="connsiteX41" fmla="*/ 3465 w 21600"/>
                    <a:gd name="connsiteY41" fmla="*/ 7154 h 17825"/>
                    <a:gd name="connsiteX42" fmla="*/ 18067 w 21600"/>
                    <a:gd name="connsiteY42" fmla="*/ 7154 h 17825"/>
                    <a:gd name="connsiteX43" fmla="*/ 18067 w 21600"/>
                    <a:gd name="connsiteY43" fmla="*/ 7885 h 17825"/>
                    <a:gd name="connsiteX44" fmla="*/ 3465 w 21600"/>
                    <a:gd name="connsiteY44" fmla="*/ 7885 h 17825"/>
                    <a:gd name="connsiteX45" fmla="*/ 3465 w 21600"/>
                    <a:gd name="connsiteY45" fmla="*/ 7154 h 17825"/>
                    <a:gd name="connsiteX0" fmla="*/ 21600 w 21600"/>
                    <a:gd name="connsiteY0" fmla="*/ 16482 h 16482"/>
                    <a:gd name="connsiteX1" fmla="*/ 21600 w 21600"/>
                    <a:gd name="connsiteY1" fmla="*/ 5197 h 16482"/>
                    <a:gd name="connsiteX2" fmla="*/ 12314 w 21600"/>
                    <a:gd name="connsiteY2" fmla="*/ 0 h 16482"/>
                    <a:gd name="connsiteX3" fmla="*/ 0 w 21600"/>
                    <a:gd name="connsiteY3" fmla="*/ 0 h 16482"/>
                    <a:gd name="connsiteX4" fmla="*/ 0 w 21600"/>
                    <a:gd name="connsiteY4" fmla="*/ 16482 h 16482"/>
                    <a:gd name="connsiteX5" fmla="*/ 10161 w 21600"/>
                    <a:gd name="connsiteY5" fmla="*/ 16482 h 16482"/>
                    <a:gd name="connsiteX6" fmla="*/ 11439 w 21600"/>
                    <a:gd name="connsiteY6" fmla="*/ 16482 h 16482"/>
                    <a:gd name="connsiteX7" fmla="*/ 21600 w 21600"/>
                    <a:gd name="connsiteY7" fmla="*/ 16482 h 16482"/>
                    <a:gd name="connsiteX8" fmla="*/ 19850 w 21600"/>
                    <a:gd name="connsiteY8" fmla="*/ 5237 h 16482"/>
                    <a:gd name="connsiteX9" fmla="*/ 12213 w 21600"/>
                    <a:gd name="connsiteY9" fmla="*/ 5237 h 16482"/>
                    <a:gd name="connsiteX10" fmla="*/ 12213 w 21600"/>
                    <a:gd name="connsiteY10" fmla="*/ 968 h 16482"/>
                    <a:gd name="connsiteX11" fmla="*/ 19850 w 21600"/>
                    <a:gd name="connsiteY11" fmla="*/ 5237 h 16482"/>
                    <a:gd name="connsiteX12" fmla="*/ 10935 w 21600"/>
                    <a:gd name="connsiteY12" fmla="*/ 731 h 16482"/>
                    <a:gd name="connsiteX13" fmla="*/ 10935 w 21600"/>
                    <a:gd name="connsiteY13" fmla="*/ 3340 h 16482"/>
                    <a:gd name="connsiteX14" fmla="*/ 3465 w 21600"/>
                    <a:gd name="connsiteY14" fmla="*/ 3340 h 16482"/>
                    <a:gd name="connsiteX15" fmla="*/ 3465 w 21600"/>
                    <a:gd name="connsiteY15" fmla="*/ 4071 h 16482"/>
                    <a:gd name="connsiteX16" fmla="*/ 10935 w 21600"/>
                    <a:gd name="connsiteY16" fmla="*/ 4071 h 16482"/>
                    <a:gd name="connsiteX17" fmla="*/ 10935 w 21600"/>
                    <a:gd name="connsiteY17" fmla="*/ 5237 h 16482"/>
                    <a:gd name="connsiteX18" fmla="*/ 3465 w 21600"/>
                    <a:gd name="connsiteY18" fmla="*/ 5237 h 16482"/>
                    <a:gd name="connsiteX19" fmla="*/ 3465 w 21600"/>
                    <a:gd name="connsiteY19" fmla="*/ 5988 h 16482"/>
                    <a:gd name="connsiteX20" fmla="*/ 20321 w 21600"/>
                    <a:gd name="connsiteY20" fmla="*/ 5988 h 16482"/>
                    <a:gd name="connsiteX21" fmla="*/ 20321 w 21600"/>
                    <a:gd name="connsiteY21" fmla="*/ 15731 h 16482"/>
                    <a:gd name="connsiteX22" fmla="*/ 1279 w 21600"/>
                    <a:gd name="connsiteY22" fmla="*/ 15731 h 16482"/>
                    <a:gd name="connsiteX23" fmla="*/ 1279 w 21600"/>
                    <a:gd name="connsiteY23" fmla="*/ 731 h 16482"/>
                    <a:gd name="connsiteX24" fmla="*/ 10935 w 21600"/>
                    <a:gd name="connsiteY24" fmla="*/ 731 h 16482"/>
                    <a:gd name="connsiteX25" fmla="*/ 3465 w 21600"/>
                    <a:gd name="connsiteY25" fmla="*/ 12865 h 16482"/>
                    <a:gd name="connsiteX26" fmla="*/ 15645 w 21600"/>
                    <a:gd name="connsiteY26" fmla="*/ 12865 h 16482"/>
                    <a:gd name="connsiteX27" fmla="*/ 15645 w 21600"/>
                    <a:gd name="connsiteY27" fmla="*/ 13616 h 16482"/>
                    <a:gd name="connsiteX28" fmla="*/ 3465 w 21600"/>
                    <a:gd name="connsiteY28" fmla="*/ 13616 h 16482"/>
                    <a:gd name="connsiteX29" fmla="*/ 3465 w 21600"/>
                    <a:gd name="connsiteY29" fmla="*/ 12865 h 16482"/>
                    <a:gd name="connsiteX30" fmla="*/ 3465 w 21600"/>
                    <a:gd name="connsiteY30" fmla="*/ 10968 h 16482"/>
                    <a:gd name="connsiteX31" fmla="*/ 18067 w 21600"/>
                    <a:gd name="connsiteY31" fmla="*/ 10968 h 16482"/>
                    <a:gd name="connsiteX32" fmla="*/ 18067 w 21600"/>
                    <a:gd name="connsiteY32" fmla="*/ 11719 h 16482"/>
                    <a:gd name="connsiteX33" fmla="*/ 3465 w 21600"/>
                    <a:gd name="connsiteY33" fmla="*/ 11719 h 16482"/>
                    <a:gd name="connsiteX34" fmla="*/ 3465 w 21600"/>
                    <a:gd name="connsiteY34" fmla="*/ 10968 h 16482"/>
                    <a:gd name="connsiteX35" fmla="*/ 3465 w 21600"/>
                    <a:gd name="connsiteY35" fmla="*/ 9051 h 16482"/>
                    <a:gd name="connsiteX36" fmla="*/ 18067 w 21600"/>
                    <a:gd name="connsiteY36" fmla="*/ 9051 h 16482"/>
                    <a:gd name="connsiteX37" fmla="*/ 18067 w 21600"/>
                    <a:gd name="connsiteY37" fmla="*/ 9802 h 16482"/>
                    <a:gd name="connsiteX38" fmla="*/ 3465 w 21600"/>
                    <a:gd name="connsiteY38" fmla="*/ 9802 h 16482"/>
                    <a:gd name="connsiteX39" fmla="*/ 3465 w 21600"/>
                    <a:gd name="connsiteY39" fmla="*/ 9051 h 16482"/>
                    <a:gd name="connsiteX40" fmla="*/ 3465 w 21600"/>
                    <a:gd name="connsiteY40" fmla="*/ 7154 h 16482"/>
                    <a:gd name="connsiteX41" fmla="*/ 18067 w 21600"/>
                    <a:gd name="connsiteY41" fmla="*/ 7154 h 16482"/>
                    <a:gd name="connsiteX42" fmla="*/ 18067 w 21600"/>
                    <a:gd name="connsiteY42" fmla="*/ 7885 h 16482"/>
                    <a:gd name="connsiteX43" fmla="*/ 3465 w 21600"/>
                    <a:gd name="connsiteY43" fmla="*/ 7885 h 16482"/>
                    <a:gd name="connsiteX44" fmla="*/ 3465 w 21600"/>
                    <a:gd name="connsiteY44" fmla="*/ 7154 h 1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600" h="16482" extrusionOk="0">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FF676B"/>
                </a:solidFill>
                <a:ln w="12700">
                  <a:miter lim="400000"/>
                </a:ln>
              </p:spPr>
              <p:txBody>
                <a:bodyPr tIns="182878" bIns="182878" anchor="ctr">
                  <a:normAutofit fontScale="25000" lnSpcReduction="20000"/>
                </a:bodyPr>
                <a:lstStyle/>
                <a:p>
                  <a:pPr defTabSz="1828800">
                    <a:spcBef>
                      <a:spcPts val="4400"/>
                    </a:spcBef>
                    <a:defRPr/>
                  </a:pPr>
                  <a:endParaRPr sz="6400">
                    <a:latin typeface="Arial"/>
                  </a:endParaRPr>
                </a:p>
              </p:txBody>
            </p:sp>
            <p:sp>
              <p:nvSpPr>
                <p:cNvPr id="24" name="TextBox 23">
                  <a:extLst>
                    <a:ext uri="{FF2B5EF4-FFF2-40B4-BE49-F238E27FC236}">
                      <a16:creationId xmlns:a16="http://schemas.microsoft.com/office/drawing/2014/main" id="{DEAE661A-D5C2-D47A-08AD-71C4679B930B}"/>
                    </a:ext>
                  </a:extLst>
                </p:cNvPr>
                <p:cNvSpPr txBox="1"/>
                <p:nvPr/>
              </p:nvSpPr>
              <p:spPr>
                <a:xfrm>
                  <a:off x="531469" y="2564371"/>
                  <a:ext cx="715310" cy="219766"/>
                </a:xfrm>
                <a:prstGeom prst="rect">
                  <a:avLst/>
                </a:prstGeom>
                <a:noFill/>
              </p:spPr>
              <p:txBody>
                <a:bodyPr wrap="square" rtlCol="0">
                  <a:spAutoFit/>
                </a:bodyPr>
                <a:lstStyle/>
                <a:p>
                  <a:pPr algn="ctr">
                    <a:defRPr/>
                  </a:pPr>
                  <a:r>
                    <a:rPr lang="en-GB" sz="1200">
                      <a:latin typeface="Arial"/>
                    </a:rPr>
                    <a:t>Assessment</a:t>
                  </a:r>
                </a:p>
                <a:p>
                  <a:pPr algn="ctr">
                    <a:defRPr/>
                  </a:pPr>
                  <a:r>
                    <a:rPr lang="en-GB" sz="1200">
                      <a:latin typeface="Arial"/>
                    </a:rPr>
                    <a:t>Workbook</a:t>
                  </a:r>
                </a:p>
              </p:txBody>
            </p:sp>
          </p:grpSp>
          <p:grpSp>
            <p:nvGrpSpPr>
              <p:cNvPr id="17" name="Group 16">
                <a:extLst>
                  <a:ext uri="{FF2B5EF4-FFF2-40B4-BE49-F238E27FC236}">
                    <a16:creationId xmlns:a16="http://schemas.microsoft.com/office/drawing/2014/main" id="{FB4DE576-FA1A-93A6-5A64-8E87B44DE2EB}"/>
                  </a:ext>
                </a:extLst>
              </p:cNvPr>
              <p:cNvGrpSpPr/>
              <p:nvPr/>
            </p:nvGrpSpPr>
            <p:grpSpPr>
              <a:xfrm>
                <a:off x="2331367" y="2309982"/>
                <a:ext cx="913916" cy="514992"/>
                <a:chOff x="2253566" y="3004257"/>
                <a:chExt cx="870103" cy="490303"/>
              </a:xfrm>
            </p:grpSpPr>
            <p:sp>
              <p:nvSpPr>
                <p:cNvPr id="21" name="Shape">
                  <a:extLst>
                    <a:ext uri="{FF2B5EF4-FFF2-40B4-BE49-F238E27FC236}">
                      <a16:creationId xmlns:a16="http://schemas.microsoft.com/office/drawing/2014/main" id="{DECE104E-3F75-9261-AA47-71FA8343DF13}"/>
                    </a:ext>
                  </a:extLst>
                </p:cNvPr>
                <p:cNvSpPr/>
                <p:nvPr/>
              </p:nvSpPr>
              <p:spPr>
                <a:xfrm>
                  <a:off x="2616673" y="3004257"/>
                  <a:ext cx="152003" cy="195834"/>
                </a:xfrm>
                <a:custGeom>
                  <a:avLst/>
                  <a:gdLst>
                    <a:gd name="connsiteX0" fmla="*/ 3186 w 21600"/>
                    <a:gd name="connsiteY0" fmla="*/ 12987 h 21600"/>
                    <a:gd name="connsiteX1" fmla="*/ 8911 w 21600"/>
                    <a:gd name="connsiteY1" fmla="*/ 12987 h 21600"/>
                    <a:gd name="connsiteX2" fmla="*/ 6063 w 21600"/>
                    <a:gd name="connsiteY2" fmla="*/ 8956 h 21600"/>
                    <a:gd name="connsiteX3" fmla="*/ 3186 w 21600"/>
                    <a:gd name="connsiteY3" fmla="*/ 12987 h 21600"/>
                    <a:gd name="connsiteX4" fmla="*/ 5019 w 21600"/>
                    <a:gd name="connsiteY4" fmla="*/ 12117 h 21600"/>
                    <a:gd name="connsiteX5" fmla="*/ 6063 w 21600"/>
                    <a:gd name="connsiteY5" fmla="*/ 10674 h 21600"/>
                    <a:gd name="connsiteX6" fmla="*/ 7078 w 21600"/>
                    <a:gd name="connsiteY6" fmla="*/ 12117 h 21600"/>
                    <a:gd name="connsiteX7" fmla="*/ 5019 w 21600"/>
                    <a:gd name="connsiteY7" fmla="*/ 12117 h 21600"/>
                    <a:gd name="connsiteX8" fmla="*/ 3722 w 21600"/>
                    <a:gd name="connsiteY8" fmla="*/ 18554 h 21600"/>
                    <a:gd name="connsiteX9" fmla="*/ 8544 w 21600"/>
                    <a:gd name="connsiteY9" fmla="*/ 18554 h 21600"/>
                    <a:gd name="connsiteX10" fmla="*/ 8544 w 21600"/>
                    <a:gd name="connsiteY10" fmla="*/ 14660 h 21600"/>
                    <a:gd name="connsiteX11" fmla="*/ 3722 w 21600"/>
                    <a:gd name="connsiteY11" fmla="*/ 14660 h 21600"/>
                    <a:gd name="connsiteX12" fmla="*/ 3722 w 21600"/>
                    <a:gd name="connsiteY12" fmla="*/ 18554 h 21600"/>
                    <a:gd name="connsiteX13" fmla="*/ 4794 w 21600"/>
                    <a:gd name="connsiteY13" fmla="*/ 15530 h 21600"/>
                    <a:gd name="connsiteX14" fmla="*/ 7473 w 21600"/>
                    <a:gd name="connsiteY14" fmla="*/ 15530 h 21600"/>
                    <a:gd name="connsiteX15" fmla="*/ 7473 w 21600"/>
                    <a:gd name="connsiteY15" fmla="*/ 17683 h 21600"/>
                    <a:gd name="connsiteX16" fmla="*/ 4794 w 21600"/>
                    <a:gd name="connsiteY16" fmla="*/ 17683 h 21600"/>
                    <a:gd name="connsiteX17" fmla="*/ 4794 w 21600"/>
                    <a:gd name="connsiteY17" fmla="*/ 15530 h 21600"/>
                    <a:gd name="connsiteX18" fmla="*/ 11731 w 21600"/>
                    <a:gd name="connsiteY18" fmla="*/ 12117 h 21600"/>
                    <a:gd name="connsiteX19" fmla="*/ 9334 w 21600"/>
                    <a:gd name="connsiteY19" fmla="*/ 14087 h 21600"/>
                    <a:gd name="connsiteX20" fmla="*/ 11731 w 21600"/>
                    <a:gd name="connsiteY20" fmla="*/ 16034 h 21600"/>
                    <a:gd name="connsiteX21" fmla="*/ 14127 w 21600"/>
                    <a:gd name="connsiteY21" fmla="*/ 14087 h 21600"/>
                    <a:gd name="connsiteX22" fmla="*/ 11731 w 21600"/>
                    <a:gd name="connsiteY22" fmla="*/ 12117 h 21600"/>
                    <a:gd name="connsiteX23" fmla="*/ 11731 w 21600"/>
                    <a:gd name="connsiteY23" fmla="*/ 15164 h 21600"/>
                    <a:gd name="connsiteX24" fmla="*/ 10405 w 21600"/>
                    <a:gd name="connsiteY24" fmla="*/ 14087 h 21600"/>
                    <a:gd name="connsiteX25" fmla="*/ 11731 w 21600"/>
                    <a:gd name="connsiteY25" fmla="*/ 12987 h 21600"/>
                    <a:gd name="connsiteX26" fmla="*/ 13084 w 21600"/>
                    <a:gd name="connsiteY26" fmla="*/ 14087 h 21600"/>
                    <a:gd name="connsiteX27" fmla="*/ 11731 w 21600"/>
                    <a:gd name="connsiteY27" fmla="*/ 15164 h 21600"/>
                    <a:gd name="connsiteX28" fmla="*/ 21600 w 21600"/>
                    <a:gd name="connsiteY28" fmla="*/ 5520 h 21600"/>
                    <a:gd name="connsiteX29" fmla="*/ 14466 w 21600"/>
                    <a:gd name="connsiteY29" fmla="*/ 0 h 21600"/>
                    <a:gd name="connsiteX30" fmla="*/ 4343 w 21600"/>
                    <a:gd name="connsiteY30" fmla="*/ 0 h 21600"/>
                    <a:gd name="connsiteX31" fmla="*/ 4343 w 21600"/>
                    <a:gd name="connsiteY31" fmla="*/ 3527 h 21600"/>
                    <a:gd name="connsiteX32" fmla="*/ 0 w 21600"/>
                    <a:gd name="connsiteY32" fmla="*/ 3527 h 21600"/>
                    <a:gd name="connsiteX33" fmla="*/ 0 w 21600"/>
                    <a:gd name="connsiteY33" fmla="*/ 21600 h 21600"/>
                    <a:gd name="connsiteX34" fmla="*/ 17257 w 21600"/>
                    <a:gd name="connsiteY34" fmla="*/ 21600 h 21600"/>
                    <a:gd name="connsiteX35" fmla="*/ 17257 w 21600"/>
                    <a:gd name="connsiteY35" fmla="*/ 18050 h 21600"/>
                    <a:gd name="connsiteX36" fmla="*/ 21600 w 21600"/>
                    <a:gd name="connsiteY36" fmla="*/ 18050 h 21600"/>
                    <a:gd name="connsiteX37" fmla="*/ 21600 w 21600"/>
                    <a:gd name="connsiteY37" fmla="*/ 5520 h 21600"/>
                    <a:gd name="connsiteX38" fmla="*/ 14409 w 21600"/>
                    <a:gd name="connsiteY38" fmla="*/ 1145 h 21600"/>
                    <a:gd name="connsiteX39" fmla="*/ 20105 w 21600"/>
                    <a:gd name="connsiteY39" fmla="*/ 5543 h 21600"/>
                    <a:gd name="connsiteX40" fmla="*/ 14409 w 21600"/>
                    <a:gd name="connsiteY40" fmla="*/ 5543 h 21600"/>
                    <a:gd name="connsiteX41" fmla="*/ 14409 w 21600"/>
                    <a:gd name="connsiteY41" fmla="*/ 1145 h 21600"/>
                    <a:gd name="connsiteX42" fmla="*/ 13366 w 21600"/>
                    <a:gd name="connsiteY42" fmla="*/ 848 h 21600"/>
                    <a:gd name="connsiteX43" fmla="*/ 13366 w 21600"/>
                    <a:gd name="connsiteY43" fmla="*/ 6047 h 21600"/>
                    <a:gd name="connsiteX44" fmla="*/ 10095 w 21600"/>
                    <a:gd name="connsiteY44" fmla="*/ 3527 h 21600"/>
                    <a:gd name="connsiteX45" fmla="*/ 5414 w 21600"/>
                    <a:gd name="connsiteY45" fmla="*/ 848 h 21600"/>
                    <a:gd name="connsiteX46" fmla="*/ 13366 w 21600"/>
                    <a:gd name="connsiteY46" fmla="*/ 848 h 21600"/>
                    <a:gd name="connsiteX47" fmla="*/ 10067 w 21600"/>
                    <a:gd name="connsiteY47" fmla="*/ 4696 h 21600"/>
                    <a:gd name="connsiteX48" fmla="*/ 15735 w 21600"/>
                    <a:gd name="connsiteY48" fmla="*/ 9094 h 21600"/>
                    <a:gd name="connsiteX49" fmla="*/ 10067 w 21600"/>
                    <a:gd name="connsiteY49" fmla="*/ 9094 h 21600"/>
                    <a:gd name="connsiteX50" fmla="*/ 10067 w 21600"/>
                    <a:gd name="connsiteY50" fmla="*/ 4696 h 21600"/>
                    <a:gd name="connsiteX51" fmla="*/ 1072 w 21600"/>
                    <a:gd name="connsiteY51" fmla="*/ 20730 h 21600"/>
                    <a:gd name="connsiteX52" fmla="*/ 1072 w 21600"/>
                    <a:gd name="connsiteY52" fmla="*/ 4398 h 21600"/>
                    <a:gd name="connsiteX53" fmla="*/ 8995 w 21600"/>
                    <a:gd name="connsiteY53" fmla="*/ 4398 h 21600"/>
                    <a:gd name="connsiteX54" fmla="*/ 8995 w 21600"/>
                    <a:gd name="connsiteY54" fmla="*/ 9964 h 21600"/>
                    <a:gd name="connsiteX55" fmla="*/ 16186 w 21600"/>
                    <a:gd name="connsiteY55" fmla="*/ 9964 h 21600"/>
                    <a:gd name="connsiteX56" fmla="*/ 16186 w 21600"/>
                    <a:gd name="connsiteY56" fmla="*/ 20730 h 21600"/>
                    <a:gd name="connsiteX57" fmla="*/ 1072 w 21600"/>
                    <a:gd name="connsiteY57" fmla="*/ 20730 h 21600"/>
                    <a:gd name="connsiteX58" fmla="*/ 17257 w 21600"/>
                    <a:gd name="connsiteY58" fmla="*/ 17179 h 21600"/>
                    <a:gd name="connsiteX59" fmla="*/ 17257 w 21600"/>
                    <a:gd name="connsiteY59" fmla="*/ 9071 h 21600"/>
                    <a:gd name="connsiteX60" fmla="*/ 13817 w 21600"/>
                    <a:gd name="connsiteY60" fmla="*/ 6414 h 21600"/>
                    <a:gd name="connsiteX61" fmla="*/ 20557 w 21600"/>
                    <a:gd name="connsiteY61" fmla="*/ 6414 h 21600"/>
                    <a:gd name="connsiteX62" fmla="*/ 20557 w 21600"/>
                    <a:gd name="connsiteY62" fmla="*/ 17179 h 21600"/>
                    <a:gd name="connsiteX63" fmla="*/ 17257 w 21600"/>
                    <a:gd name="connsiteY63" fmla="*/ 17179 h 21600"/>
                    <a:gd name="connsiteX0" fmla="*/ 3186 w 21600"/>
                    <a:gd name="connsiteY0" fmla="*/ 12987 h 21600"/>
                    <a:gd name="connsiteX1" fmla="*/ 8911 w 21600"/>
                    <a:gd name="connsiteY1" fmla="*/ 12987 h 21600"/>
                    <a:gd name="connsiteX2" fmla="*/ 6063 w 21600"/>
                    <a:gd name="connsiteY2" fmla="*/ 8956 h 21600"/>
                    <a:gd name="connsiteX3" fmla="*/ 3186 w 21600"/>
                    <a:gd name="connsiteY3" fmla="*/ 12987 h 21600"/>
                    <a:gd name="connsiteX4" fmla="*/ 5019 w 21600"/>
                    <a:gd name="connsiteY4" fmla="*/ 12117 h 21600"/>
                    <a:gd name="connsiteX5" fmla="*/ 6063 w 21600"/>
                    <a:gd name="connsiteY5" fmla="*/ 10674 h 21600"/>
                    <a:gd name="connsiteX6" fmla="*/ 7078 w 21600"/>
                    <a:gd name="connsiteY6" fmla="*/ 12117 h 21600"/>
                    <a:gd name="connsiteX7" fmla="*/ 5019 w 21600"/>
                    <a:gd name="connsiteY7" fmla="*/ 12117 h 21600"/>
                    <a:gd name="connsiteX8" fmla="*/ 3722 w 21600"/>
                    <a:gd name="connsiteY8" fmla="*/ 18554 h 21600"/>
                    <a:gd name="connsiteX9" fmla="*/ 8544 w 21600"/>
                    <a:gd name="connsiteY9" fmla="*/ 18554 h 21600"/>
                    <a:gd name="connsiteX10" fmla="*/ 8544 w 21600"/>
                    <a:gd name="connsiteY10" fmla="*/ 14660 h 21600"/>
                    <a:gd name="connsiteX11" fmla="*/ 3722 w 21600"/>
                    <a:gd name="connsiteY11" fmla="*/ 14660 h 21600"/>
                    <a:gd name="connsiteX12" fmla="*/ 3722 w 21600"/>
                    <a:gd name="connsiteY12" fmla="*/ 18554 h 21600"/>
                    <a:gd name="connsiteX13" fmla="*/ 4794 w 21600"/>
                    <a:gd name="connsiteY13" fmla="*/ 15530 h 21600"/>
                    <a:gd name="connsiteX14" fmla="*/ 7473 w 21600"/>
                    <a:gd name="connsiteY14" fmla="*/ 15530 h 21600"/>
                    <a:gd name="connsiteX15" fmla="*/ 7473 w 21600"/>
                    <a:gd name="connsiteY15" fmla="*/ 17683 h 21600"/>
                    <a:gd name="connsiteX16" fmla="*/ 4794 w 21600"/>
                    <a:gd name="connsiteY16" fmla="*/ 17683 h 21600"/>
                    <a:gd name="connsiteX17" fmla="*/ 4794 w 21600"/>
                    <a:gd name="connsiteY17" fmla="*/ 15530 h 21600"/>
                    <a:gd name="connsiteX18" fmla="*/ 11731 w 21600"/>
                    <a:gd name="connsiteY18" fmla="*/ 12117 h 21600"/>
                    <a:gd name="connsiteX19" fmla="*/ 9334 w 21600"/>
                    <a:gd name="connsiteY19" fmla="*/ 14087 h 21600"/>
                    <a:gd name="connsiteX20" fmla="*/ 11731 w 21600"/>
                    <a:gd name="connsiteY20" fmla="*/ 16034 h 21600"/>
                    <a:gd name="connsiteX21" fmla="*/ 14127 w 21600"/>
                    <a:gd name="connsiteY21" fmla="*/ 14087 h 21600"/>
                    <a:gd name="connsiteX22" fmla="*/ 11731 w 21600"/>
                    <a:gd name="connsiteY22" fmla="*/ 12117 h 21600"/>
                    <a:gd name="connsiteX23" fmla="*/ 11731 w 21600"/>
                    <a:gd name="connsiteY23" fmla="*/ 15164 h 21600"/>
                    <a:gd name="connsiteX24" fmla="*/ 10405 w 21600"/>
                    <a:gd name="connsiteY24" fmla="*/ 14087 h 21600"/>
                    <a:gd name="connsiteX25" fmla="*/ 11731 w 21600"/>
                    <a:gd name="connsiteY25" fmla="*/ 12987 h 21600"/>
                    <a:gd name="connsiteX26" fmla="*/ 13084 w 21600"/>
                    <a:gd name="connsiteY26" fmla="*/ 14087 h 21600"/>
                    <a:gd name="connsiteX27" fmla="*/ 11731 w 21600"/>
                    <a:gd name="connsiteY27" fmla="*/ 15164 h 21600"/>
                    <a:gd name="connsiteX28" fmla="*/ 21600 w 21600"/>
                    <a:gd name="connsiteY28" fmla="*/ 5520 h 21600"/>
                    <a:gd name="connsiteX29" fmla="*/ 14466 w 21600"/>
                    <a:gd name="connsiteY29" fmla="*/ 0 h 21600"/>
                    <a:gd name="connsiteX30" fmla="*/ 4343 w 21600"/>
                    <a:gd name="connsiteY30" fmla="*/ 0 h 21600"/>
                    <a:gd name="connsiteX31" fmla="*/ 4343 w 21600"/>
                    <a:gd name="connsiteY31" fmla="*/ 3527 h 21600"/>
                    <a:gd name="connsiteX32" fmla="*/ 0 w 21600"/>
                    <a:gd name="connsiteY32" fmla="*/ 3527 h 21600"/>
                    <a:gd name="connsiteX33" fmla="*/ 0 w 21600"/>
                    <a:gd name="connsiteY33" fmla="*/ 21600 h 21600"/>
                    <a:gd name="connsiteX34" fmla="*/ 17257 w 21600"/>
                    <a:gd name="connsiteY34" fmla="*/ 21600 h 21600"/>
                    <a:gd name="connsiteX35" fmla="*/ 17257 w 21600"/>
                    <a:gd name="connsiteY35" fmla="*/ 18050 h 21600"/>
                    <a:gd name="connsiteX36" fmla="*/ 21600 w 21600"/>
                    <a:gd name="connsiteY36" fmla="*/ 18050 h 21600"/>
                    <a:gd name="connsiteX37" fmla="*/ 21600 w 21600"/>
                    <a:gd name="connsiteY37" fmla="*/ 5520 h 21600"/>
                    <a:gd name="connsiteX38" fmla="*/ 14409 w 21600"/>
                    <a:gd name="connsiteY38" fmla="*/ 1145 h 21600"/>
                    <a:gd name="connsiteX39" fmla="*/ 20105 w 21600"/>
                    <a:gd name="connsiteY39" fmla="*/ 5543 h 21600"/>
                    <a:gd name="connsiteX40" fmla="*/ 14409 w 21600"/>
                    <a:gd name="connsiteY40" fmla="*/ 5543 h 21600"/>
                    <a:gd name="connsiteX41" fmla="*/ 14409 w 21600"/>
                    <a:gd name="connsiteY41" fmla="*/ 1145 h 21600"/>
                    <a:gd name="connsiteX42" fmla="*/ 13366 w 21600"/>
                    <a:gd name="connsiteY42" fmla="*/ 848 h 21600"/>
                    <a:gd name="connsiteX43" fmla="*/ 13366 w 21600"/>
                    <a:gd name="connsiteY43" fmla="*/ 6047 h 21600"/>
                    <a:gd name="connsiteX44" fmla="*/ 10095 w 21600"/>
                    <a:gd name="connsiteY44" fmla="*/ 3527 h 21600"/>
                    <a:gd name="connsiteX45" fmla="*/ 13366 w 21600"/>
                    <a:gd name="connsiteY45" fmla="*/ 848 h 21600"/>
                    <a:gd name="connsiteX46" fmla="*/ 10067 w 21600"/>
                    <a:gd name="connsiteY46" fmla="*/ 4696 h 21600"/>
                    <a:gd name="connsiteX47" fmla="*/ 15735 w 21600"/>
                    <a:gd name="connsiteY47" fmla="*/ 9094 h 21600"/>
                    <a:gd name="connsiteX48" fmla="*/ 10067 w 21600"/>
                    <a:gd name="connsiteY48" fmla="*/ 9094 h 21600"/>
                    <a:gd name="connsiteX49" fmla="*/ 10067 w 21600"/>
                    <a:gd name="connsiteY49" fmla="*/ 4696 h 21600"/>
                    <a:gd name="connsiteX50" fmla="*/ 1072 w 21600"/>
                    <a:gd name="connsiteY50" fmla="*/ 20730 h 21600"/>
                    <a:gd name="connsiteX51" fmla="*/ 1072 w 21600"/>
                    <a:gd name="connsiteY51" fmla="*/ 4398 h 21600"/>
                    <a:gd name="connsiteX52" fmla="*/ 8995 w 21600"/>
                    <a:gd name="connsiteY52" fmla="*/ 4398 h 21600"/>
                    <a:gd name="connsiteX53" fmla="*/ 8995 w 21600"/>
                    <a:gd name="connsiteY53" fmla="*/ 9964 h 21600"/>
                    <a:gd name="connsiteX54" fmla="*/ 16186 w 21600"/>
                    <a:gd name="connsiteY54" fmla="*/ 9964 h 21600"/>
                    <a:gd name="connsiteX55" fmla="*/ 16186 w 21600"/>
                    <a:gd name="connsiteY55" fmla="*/ 20730 h 21600"/>
                    <a:gd name="connsiteX56" fmla="*/ 1072 w 21600"/>
                    <a:gd name="connsiteY56" fmla="*/ 20730 h 21600"/>
                    <a:gd name="connsiteX57" fmla="*/ 17257 w 21600"/>
                    <a:gd name="connsiteY57" fmla="*/ 17179 h 21600"/>
                    <a:gd name="connsiteX58" fmla="*/ 17257 w 21600"/>
                    <a:gd name="connsiteY58" fmla="*/ 9071 h 21600"/>
                    <a:gd name="connsiteX59" fmla="*/ 13817 w 21600"/>
                    <a:gd name="connsiteY59" fmla="*/ 6414 h 21600"/>
                    <a:gd name="connsiteX60" fmla="*/ 20557 w 21600"/>
                    <a:gd name="connsiteY60" fmla="*/ 6414 h 21600"/>
                    <a:gd name="connsiteX61" fmla="*/ 20557 w 21600"/>
                    <a:gd name="connsiteY61" fmla="*/ 17179 h 21600"/>
                    <a:gd name="connsiteX62" fmla="*/ 17257 w 21600"/>
                    <a:gd name="connsiteY62" fmla="*/ 17179 h 21600"/>
                    <a:gd name="connsiteX0" fmla="*/ 3186 w 21600"/>
                    <a:gd name="connsiteY0" fmla="*/ 12987 h 21600"/>
                    <a:gd name="connsiteX1" fmla="*/ 8911 w 21600"/>
                    <a:gd name="connsiteY1" fmla="*/ 12987 h 21600"/>
                    <a:gd name="connsiteX2" fmla="*/ 6063 w 21600"/>
                    <a:gd name="connsiteY2" fmla="*/ 8956 h 21600"/>
                    <a:gd name="connsiteX3" fmla="*/ 3186 w 21600"/>
                    <a:gd name="connsiteY3" fmla="*/ 12987 h 21600"/>
                    <a:gd name="connsiteX4" fmla="*/ 5019 w 21600"/>
                    <a:gd name="connsiteY4" fmla="*/ 12117 h 21600"/>
                    <a:gd name="connsiteX5" fmla="*/ 6063 w 21600"/>
                    <a:gd name="connsiteY5" fmla="*/ 10674 h 21600"/>
                    <a:gd name="connsiteX6" fmla="*/ 7078 w 21600"/>
                    <a:gd name="connsiteY6" fmla="*/ 12117 h 21600"/>
                    <a:gd name="connsiteX7" fmla="*/ 5019 w 21600"/>
                    <a:gd name="connsiteY7" fmla="*/ 12117 h 21600"/>
                    <a:gd name="connsiteX8" fmla="*/ 3722 w 21600"/>
                    <a:gd name="connsiteY8" fmla="*/ 18554 h 21600"/>
                    <a:gd name="connsiteX9" fmla="*/ 8544 w 21600"/>
                    <a:gd name="connsiteY9" fmla="*/ 18554 h 21600"/>
                    <a:gd name="connsiteX10" fmla="*/ 8544 w 21600"/>
                    <a:gd name="connsiteY10" fmla="*/ 14660 h 21600"/>
                    <a:gd name="connsiteX11" fmla="*/ 3722 w 21600"/>
                    <a:gd name="connsiteY11" fmla="*/ 14660 h 21600"/>
                    <a:gd name="connsiteX12" fmla="*/ 3722 w 21600"/>
                    <a:gd name="connsiteY12" fmla="*/ 18554 h 21600"/>
                    <a:gd name="connsiteX13" fmla="*/ 4794 w 21600"/>
                    <a:gd name="connsiteY13" fmla="*/ 15530 h 21600"/>
                    <a:gd name="connsiteX14" fmla="*/ 7473 w 21600"/>
                    <a:gd name="connsiteY14" fmla="*/ 15530 h 21600"/>
                    <a:gd name="connsiteX15" fmla="*/ 7473 w 21600"/>
                    <a:gd name="connsiteY15" fmla="*/ 17683 h 21600"/>
                    <a:gd name="connsiteX16" fmla="*/ 4794 w 21600"/>
                    <a:gd name="connsiteY16" fmla="*/ 17683 h 21600"/>
                    <a:gd name="connsiteX17" fmla="*/ 4794 w 21600"/>
                    <a:gd name="connsiteY17" fmla="*/ 15530 h 21600"/>
                    <a:gd name="connsiteX18" fmla="*/ 11731 w 21600"/>
                    <a:gd name="connsiteY18" fmla="*/ 12117 h 21600"/>
                    <a:gd name="connsiteX19" fmla="*/ 9334 w 21600"/>
                    <a:gd name="connsiteY19" fmla="*/ 14087 h 21600"/>
                    <a:gd name="connsiteX20" fmla="*/ 11731 w 21600"/>
                    <a:gd name="connsiteY20" fmla="*/ 16034 h 21600"/>
                    <a:gd name="connsiteX21" fmla="*/ 14127 w 21600"/>
                    <a:gd name="connsiteY21" fmla="*/ 14087 h 21600"/>
                    <a:gd name="connsiteX22" fmla="*/ 11731 w 21600"/>
                    <a:gd name="connsiteY22" fmla="*/ 12117 h 21600"/>
                    <a:gd name="connsiteX23" fmla="*/ 11731 w 21600"/>
                    <a:gd name="connsiteY23" fmla="*/ 15164 h 21600"/>
                    <a:gd name="connsiteX24" fmla="*/ 10405 w 21600"/>
                    <a:gd name="connsiteY24" fmla="*/ 14087 h 21600"/>
                    <a:gd name="connsiteX25" fmla="*/ 11731 w 21600"/>
                    <a:gd name="connsiteY25" fmla="*/ 12987 h 21600"/>
                    <a:gd name="connsiteX26" fmla="*/ 13084 w 21600"/>
                    <a:gd name="connsiteY26" fmla="*/ 14087 h 21600"/>
                    <a:gd name="connsiteX27" fmla="*/ 11731 w 21600"/>
                    <a:gd name="connsiteY27" fmla="*/ 15164 h 21600"/>
                    <a:gd name="connsiteX28" fmla="*/ 21600 w 21600"/>
                    <a:gd name="connsiteY28" fmla="*/ 5520 h 21600"/>
                    <a:gd name="connsiteX29" fmla="*/ 14466 w 21600"/>
                    <a:gd name="connsiteY29" fmla="*/ 0 h 21600"/>
                    <a:gd name="connsiteX30" fmla="*/ 4343 w 21600"/>
                    <a:gd name="connsiteY30" fmla="*/ 0 h 21600"/>
                    <a:gd name="connsiteX31" fmla="*/ 4343 w 21600"/>
                    <a:gd name="connsiteY31" fmla="*/ 3527 h 21600"/>
                    <a:gd name="connsiteX32" fmla="*/ 0 w 21600"/>
                    <a:gd name="connsiteY32" fmla="*/ 3527 h 21600"/>
                    <a:gd name="connsiteX33" fmla="*/ 0 w 21600"/>
                    <a:gd name="connsiteY33" fmla="*/ 21600 h 21600"/>
                    <a:gd name="connsiteX34" fmla="*/ 17257 w 21600"/>
                    <a:gd name="connsiteY34" fmla="*/ 21600 h 21600"/>
                    <a:gd name="connsiteX35" fmla="*/ 17257 w 21600"/>
                    <a:gd name="connsiteY35" fmla="*/ 18050 h 21600"/>
                    <a:gd name="connsiteX36" fmla="*/ 21600 w 21600"/>
                    <a:gd name="connsiteY36" fmla="*/ 18050 h 21600"/>
                    <a:gd name="connsiteX37" fmla="*/ 21600 w 21600"/>
                    <a:gd name="connsiteY37" fmla="*/ 5520 h 21600"/>
                    <a:gd name="connsiteX38" fmla="*/ 14409 w 21600"/>
                    <a:gd name="connsiteY38" fmla="*/ 1145 h 21600"/>
                    <a:gd name="connsiteX39" fmla="*/ 20105 w 21600"/>
                    <a:gd name="connsiteY39" fmla="*/ 5543 h 21600"/>
                    <a:gd name="connsiteX40" fmla="*/ 14409 w 21600"/>
                    <a:gd name="connsiteY40" fmla="*/ 5543 h 21600"/>
                    <a:gd name="connsiteX41" fmla="*/ 14409 w 21600"/>
                    <a:gd name="connsiteY41" fmla="*/ 1145 h 21600"/>
                    <a:gd name="connsiteX42" fmla="*/ 10095 w 21600"/>
                    <a:gd name="connsiteY42" fmla="*/ 3527 h 21600"/>
                    <a:gd name="connsiteX43" fmla="*/ 13366 w 21600"/>
                    <a:gd name="connsiteY43" fmla="*/ 6047 h 21600"/>
                    <a:gd name="connsiteX44" fmla="*/ 10095 w 21600"/>
                    <a:gd name="connsiteY44" fmla="*/ 3527 h 21600"/>
                    <a:gd name="connsiteX45" fmla="*/ 10067 w 21600"/>
                    <a:gd name="connsiteY45" fmla="*/ 4696 h 21600"/>
                    <a:gd name="connsiteX46" fmla="*/ 15735 w 21600"/>
                    <a:gd name="connsiteY46" fmla="*/ 9094 h 21600"/>
                    <a:gd name="connsiteX47" fmla="*/ 10067 w 21600"/>
                    <a:gd name="connsiteY47" fmla="*/ 9094 h 21600"/>
                    <a:gd name="connsiteX48" fmla="*/ 10067 w 21600"/>
                    <a:gd name="connsiteY48" fmla="*/ 4696 h 21600"/>
                    <a:gd name="connsiteX49" fmla="*/ 1072 w 21600"/>
                    <a:gd name="connsiteY49" fmla="*/ 20730 h 21600"/>
                    <a:gd name="connsiteX50" fmla="*/ 1072 w 21600"/>
                    <a:gd name="connsiteY50" fmla="*/ 4398 h 21600"/>
                    <a:gd name="connsiteX51" fmla="*/ 8995 w 21600"/>
                    <a:gd name="connsiteY51" fmla="*/ 4398 h 21600"/>
                    <a:gd name="connsiteX52" fmla="*/ 8995 w 21600"/>
                    <a:gd name="connsiteY52" fmla="*/ 9964 h 21600"/>
                    <a:gd name="connsiteX53" fmla="*/ 16186 w 21600"/>
                    <a:gd name="connsiteY53" fmla="*/ 9964 h 21600"/>
                    <a:gd name="connsiteX54" fmla="*/ 16186 w 21600"/>
                    <a:gd name="connsiteY54" fmla="*/ 20730 h 21600"/>
                    <a:gd name="connsiteX55" fmla="*/ 1072 w 21600"/>
                    <a:gd name="connsiteY55" fmla="*/ 20730 h 21600"/>
                    <a:gd name="connsiteX56" fmla="*/ 17257 w 21600"/>
                    <a:gd name="connsiteY56" fmla="*/ 17179 h 21600"/>
                    <a:gd name="connsiteX57" fmla="*/ 17257 w 21600"/>
                    <a:gd name="connsiteY57" fmla="*/ 9071 h 21600"/>
                    <a:gd name="connsiteX58" fmla="*/ 13817 w 21600"/>
                    <a:gd name="connsiteY58" fmla="*/ 6414 h 21600"/>
                    <a:gd name="connsiteX59" fmla="*/ 20557 w 21600"/>
                    <a:gd name="connsiteY59" fmla="*/ 6414 h 21600"/>
                    <a:gd name="connsiteX60" fmla="*/ 20557 w 21600"/>
                    <a:gd name="connsiteY60" fmla="*/ 17179 h 21600"/>
                    <a:gd name="connsiteX61" fmla="*/ 17257 w 21600"/>
                    <a:gd name="connsiteY61" fmla="*/ 17179 h 21600"/>
                    <a:gd name="connsiteX0" fmla="*/ 3186 w 21600"/>
                    <a:gd name="connsiteY0" fmla="*/ 12987 h 21600"/>
                    <a:gd name="connsiteX1" fmla="*/ 8911 w 21600"/>
                    <a:gd name="connsiteY1" fmla="*/ 12987 h 21600"/>
                    <a:gd name="connsiteX2" fmla="*/ 6063 w 21600"/>
                    <a:gd name="connsiteY2" fmla="*/ 8956 h 21600"/>
                    <a:gd name="connsiteX3" fmla="*/ 3186 w 21600"/>
                    <a:gd name="connsiteY3" fmla="*/ 12987 h 21600"/>
                    <a:gd name="connsiteX4" fmla="*/ 5019 w 21600"/>
                    <a:gd name="connsiteY4" fmla="*/ 12117 h 21600"/>
                    <a:gd name="connsiteX5" fmla="*/ 6063 w 21600"/>
                    <a:gd name="connsiteY5" fmla="*/ 10674 h 21600"/>
                    <a:gd name="connsiteX6" fmla="*/ 7078 w 21600"/>
                    <a:gd name="connsiteY6" fmla="*/ 12117 h 21600"/>
                    <a:gd name="connsiteX7" fmla="*/ 5019 w 21600"/>
                    <a:gd name="connsiteY7" fmla="*/ 12117 h 21600"/>
                    <a:gd name="connsiteX8" fmla="*/ 3722 w 21600"/>
                    <a:gd name="connsiteY8" fmla="*/ 18554 h 21600"/>
                    <a:gd name="connsiteX9" fmla="*/ 8544 w 21600"/>
                    <a:gd name="connsiteY9" fmla="*/ 18554 h 21600"/>
                    <a:gd name="connsiteX10" fmla="*/ 8544 w 21600"/>
                    <a:gd name="connsiteY10" fmla="*/ 14660 h 21600"/>
                    <a:gd name="connsiteX11" fmla="*/ 3722 w 21600"/>
                    <a:gd name="connsiteY11" fmla="*/ 14660 h 21600"/>
                    <a:gd name="connsiteX12" fmla="*/ 3722 w 21600"/>
                    <a:gd name="connsiteY12" fmla="*/ 18554 h 21600"/>
                    <a:gd name="connsiteX13" fmla="*/ 4794 w 21600"/>
                    <a:gd name="connsiteY13" fmla="*/ 15530 h 21600"/>
                    <a:gd name="connsiteX14" fmla="*/ 7473 w 21600"/>
                    <a:gd name="connsiteY14" fmla="*/ 15530 h 21600"/>
                    <a:gd name="connsiteX15" fmla="*/ 7473 w 21600"/>
                    <a:gd name="connsiteY15" fmla="*/ 17683 h 21600"/>
                    <a:gd name="connsiteX16" fmla="*/ 4794 w 21600"/>
                    <a:gd name="connsiteY16" fmla="*/ 17683 h 21600"/>
                    <a:gd name="connsiteX17" fmla="*/ 4794 w 21600"/>
                    <a:gd name="connsiteY17" fmla="*/ 15530 h 21600"/>
                    <a:gd name="connsiteX18" fmla="*/ 11731 w 21600"/>
                    <a:gd name="connsiteY18" fmla="*/ 12117 h 21600"/>
                    <a:gd name="connsiteX19" fmla="*/ 9334 w 21600"/>
                    <a:gd name="connsiteY19" fmla="*/ 14087 h 21600"/>
                    <a:gd name="connsiteX20" fmla="*/ 11731 w 21600"/>
                    <a:gd name="connsiteY20" fmla="*/ 16034 h 21600"/>
                    <a:gd name="connsiteX21" fmla="*/ 14127 w 21600"/>
                    <a:gd name="connsiteY21" fmla="*/ 14087 h 21600"/>
                    <a:gd name="connsiteX22" fmla="*/ 11731 w 21600"/>
                    <a:gd name="connsiteY22" fmla="*/ 12117 h 21600"/>
                    <a:gd name="connsiteX23" fmla="*/ 11731 w 21600"/>
                    <a:gd name="connsiteY23" fmla="*/ 15164 h 21600"/>
                    <a:gd name="connsiteX24" fmla="*/ 10405 w 21600"/>
                    <a:gd name="connsiteY24" fmla="*/ 14087 h 21600"/>
                    <a:gd name="connsiteX25" fmla="*/ 11731 w 21600"/>
                    <a:gd name="connsiteY25" fmla="*/ 12987 h 21600"/>
                    <a:gd name="connsiteX26" fmla="*/ 13084 w 21600"/>
                    <a:gd name="connsiteY26" fmla="*/ 14087 h 21600"/>
                    <a:gd name="connsiteX27" fmla="*/ 11731 w 21600"/>
                    <a:gd name="connsiteY27" fmla="*/ 15164 h 21600"/>
                    <a:gd name="connsiteX28" fmla="*/ 21600 w 21600"/>
                    <a:gd name="connsiteY28" fmla="*/ 5520 h 21600"/>
                    <a:gd name="connsiteX29" fmla="*/ 14466 w 21600"/>
                    <a:gd name="connsiteY29" fmla="*/ 0 h 21600"/>
                    <a:gd name="connsiteX30" fmla="*/ 4343 w 21600"/>
                    <a:gd name="connsiteY30" fmla="*/ 3527 h 21600"/>
                    <a:gd name="connsiteX31" fmla="*/ 0 w 21600"/>
                    <a:gd name="connsiteY31" fmla="*/ 3527 h 21600"/>
                    <a:gd name="connsiteX32" fmla="*/ 0 w 21600"/>
                    <a:gd name="connsiteY32" fmla="*/ 21600 h 21600"/>
                    <a:gd name="connsiteX33" fmla="*/ 17257 w 21600"/>
                    <a:gd name="connsiteY33" fmla="*/ 21600 h 21600"/>
                    <a:gd name="connsiteX34" fmla="*/ 17257 w 21600"/>
                    <a:gd name="connsiteY34" fmla="*/ 18050 h 21600"/>
                    <a:gd name="connsiteX35" fmla="*/ 21600 w 21600"/>
                    <a:gd name="connsiteY35" fmla="*/ 18050 h 21600"/>
                    <a:gd name="connsiteX36" fmla="*/ 21600 w 21600"/>
                    <a:gd name="connsiteY36" fmla="*/ 5520 h 21600"/>
                    <a:gd name="connsiteX37" fmla="*/ 14409 w 21600"/>
                    <a:gd name="connsiteY37" fmla="*/ 1145 h 21600"/>
                    <a:gd name="connsiteX38" fmla="*/ 20105 w 21600"/>
                    <a:gd name="connsiteY38" fmla="*/ 5543 h 21600"/>
                    <a:gd name="connsiteX39" fmla="*/ 14409 w 21600"/>
                    <a:gd name="connsiteY39" fmla="*/ 5543 h 21600"/>
                    <a:gd name="connsiteX40" fmla="*/ 14409 w 21600"/>
                    <a:gd name="connsiteY40" fmla="*/ 1145 h 21600"/>
                    <a:gd name="connsiteX41" fmla="*/ 10095 w 21600"/>
                    <a:gd name="connsiteY41" fmla="*/ 3527 h 21600"/>
                    <a:gd name="connsiteX42" fmla="*/ 13366 w 21600"/>
                    <a:gd name="connsiteY42" fmla="*/ 6047 h 21600"/>
                    <a:gd name="connsiteX43" fmla="*/ 10095 w 21600"/>
                    <a:gd name="connsiteY43" fmla="*/ 3527 h 21600"/>
                    <a:gd name="connsiteX44" fmla="*/ 10067 w 21600"/>
                    <a:gd name="connsiteY44" fmla="*/ 4696 h 21600"/>
                    <a:gd name="connsiteX45" fmla="*/ 15735 w 21600"/>
                    <a:gd name="connsiteY45" fmla="*/ 9094 h 21600"/>
                    <a:gd name="connsiteX46" fmla="*/ 10067 w 21600"/>
                    <a:gd name="connsiteY46" fmla="*/ 9094 h 21600"/>
                    <a:gd name="connsiteX47" fmla="*/ 10067 w 21600"/>
                    <a:gd name="connsiteY47" fmla="*/ 4696 h 21600"/>
                    <a:gd name="connsiteX48" fmla="*/ 1072 w 21600"/>
                    <a:gd name="connsiteY48" fmla="*/ 20730 h 21600"/>
                    <a:gd name="connsiteX49" fmla="*/ 1072 w 21600"/>
                    <a:gd name="connsiteY49" fmla="*/ 4398 h 21600"/>
                    <a:gd name="connsiteX50" fmla="*/ 8995 w 21600"/>
                    <a:gd name="connsiteY50" fmla="*/ 4398 h 21600"/>
                    <a:gd name="connsiteX51" fmla="*/ 8995 w 21600"/>
                    <a:gd name="connsiteY51" fmla="*/ 9964 h 21600"/>
                    <a:gd name="connsiteX52" fmla="*/ 16186 w 21600"/>
                    <a:gd name="connsiteY52" fmla="*/ 9964 h 21600"/>
                    <a:gd name="connsiteX53" fmla="*/ 16186 w 21600"/>
                    <a:gd name="connsiteY53" fmla="*/ 20730 h 21600"/>
                    <a:gd name="connsiteX54" fmla="*/ 1072 w 21600"/>
                    <a:gd name="connsiteY54" fmla="*/ 20730 h 21600"/>
                    <a:gd name="connsiteX55" fmla="*/ 17257 w 21600"/>
                    <a:gd name="connsiteY55" fmla="*/ 17179 h 21600"/>
                    <a:gd name="connsiteX56" fmla="*/ 17257 w 21600"/>
                    <a:gd name="connsiteY56" fmla="*/ 9071 h 21600"/>
                    <a:gd name="connsiteX57" fmla="*/ 13817 w 21600"/>
                    <a:gd name="connsiteY57" fmla="*/ 6414 h 21600"/>
                    <a:gd name="connsiteX58" fmla="*/ 20557 w 21600"/>
                    <a:gd name="connsiteY58" fmla="*/ 6414 h 21600"/>
                    <a:gd name="connsiteX59" fmla="*/ 20557 w 21600"/>
                    <a:gd name="connsiteY59" fmla="*/ 17179 h 21600"/>
                    <a:gd name="connsiteX60" fmla="*/ 17257 w 21600"/>
                    <a:gd name="connsiteY60" fmla="*/ 17179 h 21600"/>
                    <a:gd name="connsiteX0" fmla="*/ 3186 w 21600"/>
                    <a:gd name="connsiteY0" fmla="*/ 11842 h 20455"/>
                    <a:gd name="connsiteX1" fmla="*/ 8911 w 21600"/>
                    <a:gd name="connsiteY1" fmla="*/ 11842 h 20455"/>
                    <a:gd name="connsiteX2" fmla="*/ 6063 w 21600"/>
                    <a:gd name="connsiteY2" fmla="*/ 7811 h 20455"/>
                    <a:gd name="connsiteX3" fmla="*/ 3186 w 21600"/>
                    <a:gd name="connsiteY3" fmla="*/ 11842 h 20455"/>
                    <a:gd name="connsiteX4" fmla="*/ 5019 w 21600"/>
                    <a:gd name="connsiteY4" fmla="*/ 10972 h 20455"/>
                    <a:gd name="connsiteX5" fmla="*/ 6063 w 21600"/>
                    <a:gd name="connsiteY5" fmla="*/ 9529 h 20455"/>
                    <a:gd name="connsiteX6" fmla="*/ 7078 w 21600"/>
                    <a:gd name="connsiteY6" fmla="*/ 10972 h 20455"/>
                    <a:gd name="connsiteX7" fmla="*/ 5019 w 21600"/>
                    <a:gd name="connsiteY7" fmla="*/ 10972 h 20455"/>
                    <a:gd name="connsiteX8" fmla="*/ 3722 w 21600"/>
                    <a:gd name="connsiteY8" fmla="*/ 17409 h 20455"/>
                    <a:gd name="connsiteX9" fmla="*/ 8544 w 21600"/>
                    <a:gd name="connsiteY9" fmla="*/ 17409 h 20455"/>
                    <a:gd name="connsiteX10" fmla="*/ 8544 w 21600"/>
                    <a:gd name="connsiteY10" fmla="*/ 13515 h 20455"/>
                    <a:gd name="connsiteX11" fmla="*/ 3722 w 21600"/>
                    <a:gd name="connsiteY11" fmla="*/ 13515 h 20455"/>
                    <a:gd name="connsiteX12" fmla="*/ 3722 w 21600"/>
                    <a:gd name="connsiteY12" fmla="*/ 17409 h 20455"/>
                    <a:gd name="connsiteX13" fmla="*/ 4794 w 21600"/>
                    <a:gd name="connsiteY13" fmla="*/ 14385 h 20455"/>
                    <a:gd name="connsiteX14" fmla="*/ 7473 w 21600"/>
                    <a:gd name="connsiteY14" fmla="*/ 14385 h 20455"/>
                    <a:gd name="connsiteX15" fmla="*/ 7473 w 21600"/>
                    <a:gd name="connsiteY15" fmla="*/ 16538 h 20455"/>
                    <a:gd name="connsiteX16" fmla="*/ 4794 w 21600"/>
                    <a:gd name="connsiteY16" fmla="*/ 16538 h 20455"/>
                    <a:gd name="connsiteX17" fmla="*/ 4794 w 21600"/>
                    <a:gd name="connsiteY17" fmla="*/ 14385 h 20455"/>
                    <a:gd name="connsiteX18" fmla="*/ 11731 w 21600"/>
                    <a:gd name="connsiteY18" fmla="*/ 10972 h 20455"/>
                    <a:gd name="connsiteX19" fmla="*/ 9334 w 21600"/>
                    <a:gd name="connsiteY19" fmla="*/ 12942 h 20455"/>
                    <a:gd name="connsiteX20" fmla="*/ 11731 w 21600"/>
                    <a:gd name="connsiteY20" fmla="*/ 14889 h 20455"/>
                    <a:gd name="connsiteX21" fmla="*/ 14127 w 21600"/>
                    <a:gd name="connsiteY21" fmla="*/ 12942 h 20455"/>
                    <a:gd name="connsiteX22" fmla="*/ 11731 w 21600"/>
                    <a:gd name="connsiteY22" fmla="*/ 10972 h 20455"/>
                    <a:gd name="connsiteX23" fmla="*/ 11731 w 21600"/>
                    <a:gd name="connsiteY23" fmla="*/ 14019 h 20455"/>
                    <a:gd name="connsiteX24" fmla="*/ 10405 w 21600"/>
                    <a:gd name="connsiteY24" fmla="*/ 12942 h 20455"/>
                    <a:gd name="connsiteX25" fmla="*/ 11731 w 21600"/>
                    <a:gd name="connsiteY25" fmla="*/ 11842 h 20455"/>
                    <a:gd name="connsiteX26" fmla="*/ 13084 w 21600"/>
                    <a:gd name="connsiteY26" fmla="*/ 12942 h 20455"/>
                    <a:gd name="connsiteX27" fmla="*/ 11731 w 21600"/>
                    <a:gd name="connsiteY27" fmla="*/ 14019 h 20455"/>
                    <a:gd name="connsiteX28" fmla="*/ 21600 w 21600"/>
                    <a:gd name="connsiteY28" fmla="*/ 4375 h 20455"/>
                    <a:gd name="connsiteX29" fmla="*/ 4343 w 21600"/>
                    <a:gd name="connsiteY29" fmla="*/ 2382 h 20455"/>
                    <a:gd name="connsiteX30" fmla="*/ 0 w 21600"/>
                    <a:gd name="connsiteY30" fmla="*/ 2382 h 20455"/>
                    <a:gd name="connsiteX31" fmla="*/ 0 w 21600"/>
                    <a:gd name="connsiteY31" fmla="*/ 20455 h 20455"/>
                    <a:gd name="connsiteX32" fmla="*/ 17257 w 21600"/>
                    <a:gd name="connsiteY32" fmla="*/ 20455 h 20455"/>
                    <a:gd name="connsiteX33" fmla="*/ 17257 w 21600"/>
                    <a:gd name="connsiteY33" fmla="*/ 16905 h 20455"/>
                    <a:gd name="connsiteX34" fmla="*/ 21600 w 21600"/>
                    <a:gd name="connsiteY34" fmla="*/ 16905 h 20455"/>
                    <a:gd name="connsiteX35" fmla="*/ 21600 w 21600"/>
                    <a:gd name="connsiteY35" fmla="*/ 4375 h 20455"/>
                    <a:gd name="connsiteX36" fmla="*/ 14409 w 21600"/>
                    <a:gd name="connsiteY36" fmla="*/ 0 h 20455"/>
                    <a:gd name="connsiteX37" fmla="*/ 20105 w 21600"/>
                    <a:gd name="connsiteY37" fmla="*/ 4398 h 20455"/>
                    <a:gd name="connsiteX38" fmla="*/ 14409 w 21600"/>
                    <a:gd name="connsiteY38" fmla="*/ 4398 h 20455"/>
                    <a:gd name="connsiteX39" fmla="*/ 14409 w 21600"/>
                    <a:gd name="connsiteY39" fmla="*/ 0 h 20455"/>
                    <a:gd name="connsiteX40" fmla="*/ 10095 w 21600"/>
                    <a:gd name="connsiteY40" fmla="*/ 2382 h 20455"/>
                    <a:gd name="connsiteX41" fmla="*/ 13366 w 21600"/>
                    <a:gd name="connsiteY41" fmla="*/ 4902 h 20455"/>
                    <a:gd name="connsiteX42" fmla="*/ 10095 w 21600"/>
                    <a:gd name="connsiteY42" fmla="*/ 2382 h 20455"/>
                    <a:gd name="connsiteX43" fmla="*/ 10067 w 21600"/>
                    <a:gd name="connsiteY43" fmla="*/ 3551 h 20455"/>
                    <a:gd name="connsiteX44" fmla="*/ 15735 w 21600"/>
                    <a:gd name="connsiteY44" fmla="*/ 7949 h 20455"/>
                    <a:gd name="connsiteX45" fmla="*/ 10067 w 21600"/>
                    <a:gd name="connsiteY45" fmla="*/ 7949 h 20455"/>
                    <a:gd name="connsiteX46" fmla="*/ 10067 w 21600"/>
                    <a:gd name="connsiteY46" fmla="*/ 3551 h 20455"/>
                    <a:gd name="connsiteX47" fmla="*/ 1072 w 21600"/>
                    <a:gd name="connsiteY47" fmla="*/ 19585 h 20455"/>
                    <a:gd name="connsiteX48" fmla="*/ 1072 w 21600"/>
                    <a:gd name="connsiteY48" fmla="*/ 3253 h 20455"/>
                    <a:gd name="connsiteX49" fmla="*/ 8995 w 21600"/>
                    <a:gd name="connsiteY49" fmla="*/ 3253 h 20455"/>
                    <a:gd name="connsiteX50" fmla="*/ 8995 w 21600"/>
                    <a:gd name="connsiteY50" fmla="*/ 8819 h 20455"/>
                    <a:gd name="connsiteX51" fmla="*/ 16186 w 21600"/>
                    <a:gd name="connsiteY51" fmla="*/ 8819 h 20455"/>
                    <a:gd name="connsiteX52" fmla="*/ 16186 w 21600"/>
                    <a:gd name="connsiteY52" fmla="*/ 19585 h 20455"/>
                    <a:gd name="connsiteX53" fmla="*/ 1072 w 21600"/>
                    <a:gd name="connsiteY53" fmla="*/ 19585 h 20455"/>
                    <a:gd name="connsiteX54" fmla="*/ 17257 w 21600"/>
                    <a:gd name="connsiteY54" fmla="*/ 16034 h 20455"/>
                    <a:gd name="connsiteX55" fmla="*/ 17257 w 21600"/>
                    <a:gd name="connsiteY55" fmla="*/ 7926 h 20455"/>
                    <a:gd name="connsiteX56" fmla="*/ 13817 w 21600"/>
                    <a:gd name="connsiteY56" fmla="*/ 5269 h 20455"/>
                    <a:gd name="connsiteX57" fmla="*/ 20557 w 21600"/>
                    <a:gd name="connsiteY57" fmla="*/ 5269 h 20455"/>
                    <a:gd name="connsiteX58" fmla="*/ 20557 w 21600"/>
                    <a:gd name="connsiteY58" fmla="*/ 16034 h 20455"/>
                    <a:gd name="connsiteX59" fmla="*/ 17257 w 21600"/>
                    <a:gd name="connsiteY59" fmla="*/ 16034 h 20455"/>
                    <a:gd name="connsiteX0" fmla="*/ 3186 w 21600"/>
                    <a:gd name="connsiteY0" fmla="*/ 9460 h 18073"/>
                    <a:gd name="connsiteX1" fmla="*/ 8911 w 21600"/>
                    <a:gd name="connsiteY1" fmla="*/ 9460 h 18073"/>
                    <a:gd name="connsiteX2" fmla="*/ 6063 w 21600"/>
                    <a:gd name="connsiteY2" fmla="*/ 5429 h 18073"/>
                    <a:gd name="connsiteX3" fmla="*/ 3186 w 21600"/>
                    <a:gd name="connsiteY3" fmla="*/ 9460 h 18073"/>
                    <a:gd name="connsiteX4" fmla="*/ 5019 w 21600"/>
                    <a:gd name="connsiteY4" fmla="*/ 8590 h 18073"/>
                    <a:gd name="connsiteX5" fmla="*/ 6063 w 21600"/>
                    <a:gd name="connsiteY5" fmla="*/ 7147 h 18073"/>
                    <a:gd name="connsiteX6" fmla="*/ 7078 w 21600"/>
                    <a:gd name="connsiteY6" fmla="*/ 8590 h 18073"/>
                    <a:gd name="connsiteX7" fmla="*/ 5019 w 21600"/>
                    <a:gd name="connsiteY7" fmla="*/ 8590 h 18073"/>
                    <a:gd name="connsiteX8" fmla="*/ 3722 w 21600"/>
                    <a:gd name="connsiteY8" fmla="*/ 15027 h 18073"/>
                    <a:gd name="connsiteX9" fmla="*/ 8544 w 21600"/>
                    <a:gd name="connsiteY9" fmla="*/ 15027 h 18073"/>
                    <a:gd name="connsiteX10" fmla="*/ 8544 w 21600"/>
                    <a:gd name="connsiteY10" fmla="*/ 11133 h 18073"/>
                    <a:gd name="connsiteX11" fmla="*/ 3722 w 21600"/>
                    <a:gd name="connsiteY11" fmla="*/ 11133 h 18073"/>
                    <a:gd name="connsiteX12" fmla="*/ 3722 w 21600"/>
                    <a:gd name="connsiteY12" fmla="*/ 15027 h 18073"/>
                    <a:gd name="connsiteX13" fmla="*/ 4794 w 21600"/>
                    <a:gd name="connsiteY13" fmla="*/ 12003 h 18073"/>
                    <a:gd name="connsiteX14" fmla="*/ 7473 w 21600"/>
                    <a:gd name="connsiteY14" fmla="*/ 12003 h 18073"/>
                    <a:gd name="connsiteX15" fmla="*/ 7473 w 21600"/>
                    <a:gd name="connsiteY15" fmla="*/ 14156 h 18073"/>
                    <a:gd name="connsiteX16" fmla="*/ 4794 w 21600"/>
                    <a:gd name="connsiteY16" fmla="*/ 14156 h 18073"/>
                    <a:gd name="connsiteX17" fmla="*/ 4794 w 21600"/>
                    <a:gd name="connsiteY17" fmla="*/ 12003 h 18073"/>
                    <a:gd name="connsiteX18" fmla="*/ 11731 w 21600"/>
                    <a:gd name="connsiteY18" fmla="*/ 8590 h 18073"/>
                    <a:gd name="connsiteX19" fmla="*/ 9334 w 21600"/>
                    <a:gd name="connsiteY19" fmla="*/ 10560 h 18073"/>
                    <a:gd name="connsiteX20" fmla="*/ 11731 w 21600"/>
                    <a:gd name="connsiteY20" fmla="*/ 12507 h 18073"/>
                    <a:gd name="connsiteX21" fmla="*/ 14127 w 21600"/>
                    <a:gd name="connsiteY21" fmla="*/ 10560 h 18073"/>
                    <a:gd name="connsiteX22" fmla="*/ 11731 w 21600"/>
                    <a:gd name="connsiteY22" fmla="*/ 8590 h 18073"/>
                    <a:gd name="connsiteX23" fmla="*/ 11731 w 21600"/>
                    <a:gd name="connsiteY23" fmla="*/ 11637 h 18073"/>
                    <a:gd name="connsiteX24" fmla="*/ 10405 w 21600"/>
                    <a:gd name="connsiteY24" fmla="*/ 10560 h 18073"/>
                    <a:gd name="connsiteX25" fmla="*/ 11731 w 21600"/>
                    <a:gd name="connsiteY25" fmla="*/ 9460 h 18073"/>
                    <a:gd name="connsiteX26" fmla="*/ 13084 w 21600"/>
                    <a:gd name="connsiteY26" fmla="*/ 10560 h 18073"/>
                    <a:gd name="connsiteX27" fmla="*/ 11731 w 21600"/>
                    <a:gd name="connsiteY27" fmla="*/ 11637 h 18073"/>
                    <a:gd name="connsiteX28" fmla="*/ 21600 w 21600"/>
                    <a:gd name="connsiteY28" fmla="*/ 1993 h 18073"/>
                    <a:gd name="connsiteX29" fmla="*/ 4343 w 21600"/>
                    <a:gd name="connsiteY29" fmla="*/ 0 h 18073"/>
                    <a:gd name="connsiteX30" fmla="*/ 0 w 21600"/>
                    <a:gd name="connsiteY30" fmla="*/ 0 h 18073"/>
                    <a:gd name="connsiteX31" fmla="*/ 0 w 21600"/>
                    <a:gd name="connsiteY31" fmla="*/ 18073 h 18073"/>
                    <a:gd name="connsiteX32" fmla="*/ 17257 w 21600"/>
                    <a:gd name="connsiteY32" fmla="*/ 18073 h 18073"/>
                    <a:gd name="connsiteX33" fmla="*/ 17257 w 21600"/>
                    <a:gd name="connsiteY33" fmla="*/ 14523 h 18073"/>
                    <a:gd name="connsiteX34" fmla="*/ 21600 w 21600"/>
                    <a:gd name="connsiteY34" fmla="*/ 14523 h 18073"/>
                    <a:gd name="connsiteX35" fmla="*/ 21600 w 21600"/>
                    <a:gd name="connsiteY35" fmla="*/ 1993 h 18073"/>
                    <a:gd name="connsiteX36" fmla="*/ 14409 w 21600"/>
                    <a:gd name="connsiteY36" fmla="*/ 2016 h 18073"/>
                    <a:gd name="connsiteX37" fmla="*/ 20105 w 21600"/>
                    <a:gd name="connsiteY37" fmla="*/ 2016 h 18073"/>
                    <a:gd name="connsiteX38" fmla="*/ 14409 w 21600"/>
                    <a:gd name="connsiteY38" fmla="*/ 2016 h 18073"/>
                    <a:gd name="connsiteX39" fmla="*/ 10095 w 21600"/>
                    <a:gd name="connsiteY39" fmla="*/ 0 h 18073"/>
                    <a:gd name="connsiteX40" fmla="*/ 13366 w 21600"/>
                    <a:gd name="connsiteY40" fmla="*/ 2520 h 18073"/>
                    <a:gd name="connsiteX41" fmla="*/ 10095 w 21600"/>
                    <a:gd name="connsiteY41" fmla="*/ 0 h 18073"/>
                    <a:gd name="connsiteX42" fmla="*/ 10067 w 21600"/>
                    <a:gd name="connsiteY42" fmla="*/ 1169 h 18073"/>
                    <a:gd name="connsiteX43" fmla="*/ 15735 w 21600"/>
                    <a:gd name="connsiteY43" fmla="*/ 5567 h 18073"/>
                    <a:gd name="connsiteX44" fmla="*/ 10067 w 21600"/>
                    <a:gd name="connsiteY44" fmla="*/ 5567 h 18073"/>
                    <a:gd name="connsiteX45" fmla="*/ 10067 w 21600"/>
                    <a:gd name="connsiteY45" fmla="*/ 1169 h 18073"/>
                    <a:gd name="connsiteX46" fmla="*/ 1072 w 21600"/>
                    <a:gd name="connsiteY46" fmla="*/ 17203 h 18073"/>
                    <a:gd name="connsiteX47" fmla="*/ 1072 w 21600"/>
                    <a:gd name="connsiteY47" fmla="*/ 871 h 18073"/>
                    <a:gd name="connsiteX48" fmla="*/ 8995 w 21600"/>
                    <a:gd name="connsiteY48" fmla="*/ 871 h 18073"/>
                    <a:gd name="connsiteX49" fmla="*/ 8995 w 21600"/>
                    <a:gd name="connsiteY49" fmla="*/ 6437 h 18073"/>
                    <a:gd name="connsiteX50" fmla="*/ 16186 w 21600"/>
                    <a:gd name="connsiteY50" fmla="*/ 6437 h 18073"/>
                    <a:gd name="connsiteX51" fmla="*/ 16186 w 21600"/>
                    <a:gd name="connsiteY51" fmla="*/ 17203 h 18073"/>
                    <a:gd name="connsiteX52" fmla="*/ 1072 w 21600"/>
                    <a:gd name="connsiteY52" fmla="*/ 17203 h 18073"/>
                    <a:gd name="connsiteX53" fmla="*/ 17257 w 21600"/>
                    <a:gd name="connsiteY53" fmla="*/ 13652 h 18073"/>
                    <a:gd name="connsiteX54" fmla="*/ 17257 w 21600"/>
                    <a:gd name="connsiteY54" fmla="*/ 5544 h 18073"/>
                    <a:gd name="connsiteX55" fmla="*/ 13817 w 21600"/>
                    <a:gd name="connsiteY55" fmla="*/ 2887 h 18073"/>
                    <a:gd name="connsiteX56" fmla="*/ 20557 w 21600"/>
                    <a:gd name="connsiteY56" fmla="*/ 2887 h 18073"/>
                    <a:gd name="connsiteX57" fmla="*/ 20557 w 21600"/>
                    <a:gd name="connsiteY57" fmla="*/ 13652 h 18073"/>
                    <a:gd name="connsiteX58" fmla="*/ 17257 w 21600"/>
                    <a:gd name="connsiteY58" fmla="*/ 13652 h 18073"/>
                    <a:gd name="connsiteX0" fmla="*/ 3186 w 21600"/>
                    <a:gd name="connsiteY0" fmla="*/ 9460 h 18073"/>
                    <a:gd name="connsiteX1" fmla="*/ 8911 w 21600"/>
                    <a:gd name="connsiteY1" fmla="*/ 9460 h 18073"/>
                    <a:gd name="connsiteX2" fmla="*/ 6063 w 21600"/>
                    <a:gd name="connsiteY2" fmla="*/ 5429 h 18073"/>
                    <a:gd name="connsiteX3" fmla="*/ 3186 w 21600"/>
                    <a:gd name="connsiteY3" fmla="*/ 9460 h 18073"/>
                    <a:gd name="connsiteX4" fmla="*/ 5019 w 21600"/>
                    <a:gd name="connsiteY4" fmla="*/ 8590 h 18073"/>
                    <a:gd name="connsiteX5" fmla="*/ 6063 w 21600"/>
                    <a:gd name="connsiteY5" fmla="*/ 7147 h 18073"/>
                    <a:gd name="connsiteX6" fmla="*/ 7078 w 21600"/>
                    <a:gd name="connsiteY6" fmla="*/ 8590 h 18073"/>
                    <a:gd name="connsiteX7" fmla="*/ 5019 w 21600"/>
                    <a:gd name="connsiteY7" fmla="*/ 8590 h 18073"/>
                    <a:gd name="connsiteX8" fmla="*/ 3722 w 21600"/>
                    <a:gd name="connsiteY8" fmla="*/ 15027 h 18073"/>
                    <a:gd name="connsiteX9" fmla="*/ 8544 w 21600"/>
                    <a:gd name="connsiteY9" fmla="*/ 15027 h 18073"/>
                    <a:gd name="connsiteX10" fmla="*/ 8544 w 21600"/>
                    <a:gd name="connsiteY10" fmla="*/ 11133 h 18073"/>
                    <a:gd name="connsiteX11" fmla="*/ 3722 w 21600"/>
                    <a:gd name="connsiteY11" fmla="*/ 11133 h 18073"/>
                    <a:gd name="connsiteX12" fmla="*/ 3722 w 21600"/>
                    <a:gd name="connsiteY12" fmla="*/ 15027 h 18073"/>
                    <a:gd name="connsiteX13" fmla="*/ 4794 w 21600"/>
                    <a:gd name="connsiteY13" fmla="*/ 12003 h 18073"/>
                    <a:gd name="connsiteX14" fmla="*/ 7473 w 21600"/>
                    <a:gd name="connsiteY14" fmla="*/ 12003 h 18073"/>
                    <a:gd name="connsiteX15" fmla="*/ 7473 w 21600"/>
                    <a:gd name="connsiteY15" fmla="*/ 14156 h 18073"/>
                    <a:gd name="connsiteX16" fmla="*/ 4794 w 21600"/>
                    <a:gd name="connsiteY16" fmla="*/ 14156 h 18073"/>
                    <a:gd name="connsiteX17" fmla="*/ 4794 w 21600"/>
                    <a:gd name="connsiteY17" fmla="*/ 12003 h 18073"/>
                    <a:gd name="connsiteX18" fmla="*/ 11731 w 21600"/>
                    <a:gd name="connsiteY18" fmla="*/ 8590 h 18073"/>
                    <a:gd name="connsiteX19" fmla="*/ 9334 w 21600"/>
                    <a:gd name="connsiteY19" fmla="*/ 10560 h 18073"/>
                    <a:gd name="connsiteX20" fmla="*/ 11731 w 21600"/>
                    <a:gd name="connsiteY20" fmla="*/ 12507 h 18073"/>
                    <a:gd name="connsiteX21" fmla="*/ 14127 w 21600"/>
                    <a:gd name="connsiteY21" fmla="*/ 10560 h 18073"/>
                    <a:gd name="connsiteX22" fmla="*/ 11731 w 21600"/>
                    <a:gd name="connsiteY22" fmla="*/ 8590 h 18073"/>
                    <a:gd name="connsiteX23" fmla="*/ 11731 w 21600"/>
                    <a:gd name="connsiteY23" fmla="*/ 11637 h 18073"/>
                    <a:gd name="connsiteX24" fmla="*/ 10405 w 21600"/>
                    <a:gd name="connsiteY24" fmla="*/ 10560 h 18073"/>
                    <a:gd name="connsiteX25" fmla="*/ 11731 w 21600"/>
                    <a:gd name="connsiteY25" fmla="*/ 9460 h 18073"/>
                    <a:gd name="connsiteX26" fmla="*/ 13084 w 21600"/>
                    <a:gd name="connsiteY26" fmla="*/ 10560 h 18073"/>
                    <a:gd name="connsiteX27" fmla="*/ 11731 w 21600"/>
                    <a:gd name="connsiteY27" fmla="*/ 11637 h 18073"/>
                    <a:gd name="connsiteX28" fmla="*/ 21600 w 21600"/>
                    <a:gd name="connsiteY28" fmla="*/ 14523 h 18073"/>
                    <a:gd name="connsiteX29" fmla="*/ 4343 w 21600"/>
                    <a:gd name="connsiteY29" fmla="*/ 0 h 18073"/>
                    <a:gd name="connsiteX30" fmla="*/ 0 w 21600"/>
                    <a:gd name="connsiteY30" fmla="*/ 0 h 18073"/>
                    <a:gd name="connsiteX31" fmla="*/ 0 w 21600"/>
                    <a:gd name="connsiteY31" fmla="*/ 18073 h 18073"/>
                    <a:gd name="connsiteX32" fmla="*/ 17257 w 21600"/>
                    <a:gd name="connsiteY32" fmla="*/ 18073 h 18073"/>
                    <a:gd name="connsiteX33" fmla="*/ 17257 w 21600"/>
                    <a:gd name="connsiteY33" fmla="*/ 14523 h 18073"/>
                    <a:gd name="connsiteX34" fmla="*/ 21600 w 21600"/>
                    <a:gd name="connsiteY34" fmla="*/ 14523 h 18073"/>
                    <a:gd name="connsiteX35" fmla="*/ 14409 w 21600"/>
                    <a:gd name="connsiteY35" fmla="*/ 2016 h 18073"/>
                    <a:gd name="connsiteX36" fmla="*/ 20105 w 21600"/>
                    <a:gd name="connsiteY36" fmla="*/ 2016 h 18073"/>
                    <a:gd name="connsiteX37" fmla="*/ 14409 w 21600"/>
                    <a:gd name="connsiteY37" fmla="*/ 2016 h 18073"/>
                    <a:gd name="connsiteX38" fmla="*/ 10095 w 21600"/>
                    <a:gd name="connsiteY38" fmla="*/ 0 h 18073"/>
                    <a:gd name="connsiteX39" fmla="*/ 13366 w 21600"/>
                    <a:gd name="connsiteY39" fmla="*/ 2520 h 18073"/>
                    <a:gd name="connsiteX40" fmla="*/ 10095 w 21600"/>
                    <a:gd name="connsiteY40" fmla="*/ 0 h 18073"/>
                    <a:gd name="connsiteX41" fmla="*/ 10067 w 21600"/>
                    <a:gd name="connsiteY41" fmla="*/ 1169 h 18073"/>
                    <a:gd name="connsiteX42" fmla="*/ 15735 w 21600"/>
                    <a:gd name="connsiteY42" fmla="*/ 5567 h 18073"/>
                    <a:gd name="connsiteX43" fmla="*/ 10067 w 21600"/>
                    <a:gd name="connsiteY43" fmla="*/ 5567 h 18073"/>
                    <a:gd name="connsiteX44" fmla="*/ 10067 w 21600"/>
                    <a:gd name="connsiteY44" fmla="*/ 1169 h 18073"/>
                    <a:gd name="connsiteX45" fmla="*/ 1072 w 21600"/>
                    <a:gd name="connsiteY45" fmla="*/ 17203 h 18073"/>
                    <a:gd name="connsiteX46" fmla="*/ 1072 w 21600"/>
                    <a:gd name="connsiteY46" fmla="*/ 871 h 18073"/>
                    <a:gd name="connsiteX47" fmla="*/ 8995 w 21600"/>
                    <a:gd name="connsiteY47" fmla="*/ 871 h 18073"/>
                    <a:gd name="connsiteX48" fmla="*/ 8995 w 21600"/>
                    <a:gd name="connsiteY48" fmla="*/ 6437 h 18073"/>
                    <a:gd name="connsiteX49" fmla="*/ 16186 w 21600"/>
                    <a:gd name="connsiteY49" fmla="*/ 6437 h 18073"/>
                    <a:gd name="connsiteX50" fmla="*/ 16186 w 21600"/>
                    <a:gd name="connsiteY50" fmla="*/ 17203 h 18073"/>
                    <a:gd name="connsiteX51" fmla="*/ 1072 w 21600"/>
                    <a:gd name="connsiteY51" fmla="*/ 17203 h 18073"/>
                    <a:gd name="connsiteX52" fmla="*/ 17257 w 21600"/>
                    <a:gd name="connsiteY52" fmla="*/ 13652 h 18073"/>
                    <a:gd name="connsiteX53" fmla="*/ 17257 w 21600"/>
                    <a:gd name="connsiteY53" fmla="*/ 5544 h 18073"/>
                    <a:gd name="connsiteX54" fmla="*/ 13817 w 21600"/>
                    <a:gd name="connsiteY54" fmla="*/ 2887 h 18073"/>
                    <a:gd name="connsiteX55" fmla="*/ 20557 w 21600"/>
                    <a:gd name="connsiteY55" fmla="*/ 2887 h 18073"/>
                    <a:gd name="connsiteX56" fmla="*/ 20557 w 21600"/>
                    <a:gd name="connsiteY56" fmla="*/ 13652 h 18073"/>
                    <a:gd name="connsiteX57" fmla="*/ 17257 w 21600"/>
                    <a:gd name="connsiteY57" fmla="*/ 13652 h 18073"/>
                    <a:gd name="connsiteX0" fmla="*/ 3186 w 20557"/>
                    <a:gd name="connsiteY0" fmla="*/ 9460 h 18073"/>
                    <a:gd name="connsiteX1" fmla="*/ 8911 w 20557"/>
                    <a:gd name="connsiteY1" fmla="*/ 9460 h 18073"/>
                    <a:gd name="connsiteX2" fmla="*/ 6063 w 20557"/>
                    <a:gd name="connsiteY2" fmla="*/ 5429 h 18073"/>
                    <a:gd name="connsiteX3" fmla="*/ 3186 w 20557"/>
                    <a:gd name="connsiteY3" fmla="*/ 9460 h 18073"/>
                    <a:gd name="connsiteX4" fmla="*/ 5019 w 20557"/>
                    <a:gd name="connsiteY4" fmla="*/ 8590 h 18073"/>
                    <a:gd name="connsiteX5" fmla="*/ 6063 w 20557"/>
                    <a:gd name="connsiteY5" fmla="*/ 7147 h 18073"/>
                    <a:gd name="connsiteX6" fmla="*/ 7078 w 20557"/>
                    <a:gd name="connsiteY6" fmla="*/ 8590 h 18073"/>
                    <a:gd name="connsiteX7" fmla="*/ 5019 w 20557"/>
                    <a:gd name="connsiteY7" fmla="*/ 8590 h 18073"/>
                    <a:gd name="connsiteX8" fmla="*/ 3722 w 20557"/>
                    <a:gd name="connsiteY8" fmla="*/ 15027 h 18073"/>
                    <a:gd name="connsiteX9" fmla="*/ 8544 w 20557"/>
                    <a:gd name="connsiteY9" fmla="*/ 15027 h 18073"/>
                    <a:gd name="connsiteX10" fmla="*/ 8544 w 20557"/>
                    <a:gd name="connsiteY10" fmla="*/ 11133 h 18073"/>
                    <a:gd name="connsiteX11" fmla="*/ 3722 w 20557"/>
                    <a:gd name="connsiteY11" fmla="*/ 11133 h 18073"/>
                    <a:gd name="connsiteX12" fmla="*/ 3722 w 20557"/>
                    <a:gd name="connsiteY12" fmla="*/ 15027 h 18073"/>
                    <a:gd name="connsiteX13" fmla="*/ 4794 w 20557"/>
                    <a:gd name="connsiteY13" fmla="*/ 12003 h 18073"/>
                    <a:gd name="connsiteX14" fmla="*/ 7473 w 20557"/>
                    <a:gd name="connsiteY14" fmla="*/ 12003 h 18073"/>
                    <a:gd name="connsiteX15" fmla="*/ 7473 w 20557"/>
                    <a:gd name="connsiteY15" fmla="*/ 14156 h 18073"/>
                    <a:gd name="connsiteX16" fmla="*/ 4794 w 20557"/>
                    <a:gd name="connsiteY16" fmla="*/ 14156 h 18073"/>
                    <a:gd name="connsiteX17" fmla="*/ 4794 w 20557"/>
                    <a:gd name="connsiteY17" fmla="*/ 12003 h 18073"/>
                    <a:gd name="connsiteX18" fmla="*/ 11731 w 20557"/>
                    <a:gd name="connsiteY18" fmla="*/ 8590 h 18073"/>
                    <a:gd name="connsiteX19" fmla="*/ 9334 w 20557"/>
                    <a:gd name="connsiteY19" fmla="*/ 10560 h 18073"/>
                    <a:gd name="connsiteX20" fmla="*/ 11731 w 20557"/>
                    <a:gd name="connsiteY20" fmla="*/ 12507 h 18073"/>
                    <a:gd name="connsiteX21" fmla="*/ 14127 w 20557"/>
                    <a:gd name="connsiteY21" fmla="*/ 10560 h 18073"/>
                    <a:gd name="connsiteX22" fmla="*/ 11731 w 20557"/>
                    <a:gd name="connsiteY22" fmla="*/ 8590 h 18073"/>
                    <a:gd name="connsiteX23" fmla="*/ 11731 w 20557"/>
                    <a:gd name="connsiteY23" fmla="*/ 11637 h 18073"/>
                    <a:gd name="connsiteX24" fmla="*/ 10405 w 20557"/>
                    <a:gd name="connsiteY24" fmla="*/ 10560 h 18073"/>
                    <a:gd name="connsiteX25" fmla="*/ 11731 w 20557"/>
                    <a:gd name="connsiteY25" fmla="*/ 9460 h 18073"/>
                    <a:gd name="connsiteX26" fmla="*/ 13084 w 20557"/>
                    <a:gd name="connsiteY26" fmla="*/ 10560 h 18073"/>
                    <a:gd name="connsiteX27" fmla="*/ 11731 w 20557"/>
                    <a:gd name="connsiteY27" fmla="*/ 11637 h 18073"/>
                    <a:gd name="connsiteX28" fmla="*/ 17257 w 20557"/>
                    <a:gd name="connsiteY28" fmla="*/ 14523 h 18073"/>
                    <a:gd name="connsiteX29" fmla="*/ 4343 w 20557"/>
                    <a:gd name="connsiteY29" fmla="*/ 0 h 18073"/>
                    <a:gd name="connsiteX30" fmla="*/ 0 w 20557"/>
                    <a:gd name="connsiteY30" fmla="*/ 0 h 18073"/>
                    <a:gd name="connsiteX31" fmla="*/ 0 w 20557"/>
                    <a:gd name="connsiteY31" fmla="*/ 18073 h 18073"/>
                    <a:gd name="connsiteX32" fmla="*/ 17257 w 20557"/>
                    <a:gd name="connsiteY32" fmla="*/ 18073 h 18073"/>
                    <a:gd name="connsiteX33" fmla="*/ 17257 w 20557"/>
                    <a:gd name="connsiteY33" fmla="*/ 14523 h 18073"/>
                    <a:gd name="connsiteX34" fmla="*/ 14409 w 20557"/>
                    <a:gd name="connsiteY34" fmla="*/ 2016 h 18073"/>
                    <a:gd name="connsiteX35" fmla="*/ 20105 w 20557"/>
                    <a:gd name="connsiteY35" fmla="*/ 2016 h 18073"/>
                    <a:gd name="connsiteX36" fmla="*/ 14409 w 20557"/>
                    <a:gd name="connsiteY36" fmla="*/ 2016 h 18073"/>
                    <a:gd name="connsiteX37" fmla="*/ 10095 w 20557"/>
                    <a:gd name="connsiteY37" fmla="*/ 0 h 18073"/>
                    <a:gd name="connsiteX38" fmla="*/ 13366 w 20557"/>
                    <a:gd name="connsiteY38" fmla="*/ 2520 h 18073"/>
                    <a:gd name="connsiteX39" fmla="*/ 10095 w 20557"/>
                    <a:gd name="connsiteY39" fmla="*/ 0 h 18073"/>
                    <a:gd name="connsiteX40" fmla="*/ 10067 w 20557"/>
                    <a:gd name="connsiteY40" fmla="*/ 1169 h 18073"/>
                    <a:gd name="connsiteX41" fmla="*/ 15735 w 20557"/>
                    <a:gd name="connsiteY41" fmla="*/ 5567 h 18073"/>
                    <a:gd name="connsiteX42" fmla="*/ 10067 w 20557"/>
                    <a:gd name="connsiteY42" fmla="*/ 5567 h 18073"/>
                    <a:gd name="connsiteX43" fmla="*/ 10067 w 20557"/>
                    <a:gd name="connsiteY43" fmla="*/ 1169 h 18073"/>
                    <a:gd name="connsiteX44" fmla="*/ 1072 w 20557"/>
                    <a:gd name="connsiteY44" fmla="*/ 17203 h 18073"/>
                    <a:gd name="connsiteX45" fmla="*/ 1072 w 20557"/>
                    <a:gd name="connsiteY45" fmla="*/ 871 h 18073"/>
                    <a:gd name="connsiteX46" fmla="*/ 8995 w 20557"/>
                    <a:gd name="connsiteY46" fmla="*/ 871 h 18073"/>
                    <a:gd name="connsiteX47" fmla="*/ 8995 w 20557"/>
                    <a:gd name="connsiteY47" fmla="*/ 6437 h 18073"/>
                    <a:gd name="connsiteX48" fmla="*/ 16186 w 20557"/>
                    <a:gd name="connsiteY48" fmla="*/ 6437 h 18073"/>
                    <a:gd name="connsiteX49" fmla="*/ 16186 w 20557"/>
                    <a:gd name="connsiteY49" fmla="*/ 17203 h 18073"/>
                    <a:gd name="connsiteX50" fmla="*/ 1072 w 20557"/>
                    <a:gd name="connsiteY50" fmla="*/ 17203 h 18073"/>
                    <a:gd name="connsiteX51" fmla="*/ 17257 w 20557"/>
                    <a:gd name="connsiteY51" fmla="*/ 13652 h 18073"/>
                    <a:gd name="connsiteX52" fmla="*/ 17257 w 20557"/>
                    <a:gd name="connsiteY52" fmla="*/ 5544 h 18073"/>
                    <a:gd name="connsiteX53" fmla="*/ 13817 w 20557"/>
                    <a:gd name="connsiteY53" fmla="*/ 2887 h 18073"/>
                    <a:gd name="connsiteX54" fmla="*/ 20557 w 20557"/>
                    <a:gd name="connsiteY54" fmla="*/ 2887 h 18073"/>
                    <a:gd name="connsiteX55" fmla="*/ 20557 w 20557"/>
                    <a:gd name="connsiteY55" fmla="*/ 13652 h 18073"/>
                    <a:gd name="connsiteX56" fmla="*/ 17257 w 20557"/>
                    <a:gd name="connsiteY56" fmla="*/ 13652 h 18073"/>
                    <a:gd name="connsiteX0" fmla="*/ 3186 w 20557"/>
                    <a:gd name="connsiteY0" fmla="*/ 9460 h 18073"/>
                    <a:gd name="connsiteX1" fmla="*/ 8911 w 20557"/>
                    <a:gd name="connsiteY1" fmla="*/ 9460 h 18073"/>
                    <a:gd name="connsiteX2" fmla="*/ 6063 w 20557"/>
                    <a:gd name="connsiteY2" fmla="*/ 5429 h 18073"/>
                    <a:gd name="connsiteX3" fmla="*/ 3186 w 20557"/>
                    <a:gd name="connsiteY3" fmla="*/ 9460 h 18073"/>
                    <a:gd name="connsiteX4" fmla="*/ 5019 w 20557"/>
                    <a:gd name="connsiteY4" fmla="*/ 8590 h 18073"/>
                    <a:gd name="connsiteX5" fmla="*/ 6063 w 20557"/>
                    <a:gd name="connsiteY5" fmla="*/ 7147 h 18073"/>
                    <a:gd name="connsiteX6" fmla="*/ 7078 w 20557"/>
                    <a:gd name="connsiteY6" fmla="*/ 8590 h 18073"/>
                    <a:gd name="connsiteX7" fmla="*/ 5019 w 20557"/>
                    <a:gd name="connsiteY7" fmla="*/ 8590 h 18073"/>
                    <a:gd name="connsiteX8" fmla="*/ 3722 w 20557"/>
                    <a:gd name="connsiteY8" fmla="*/ 15027 h 18073"/>
                    <a:gd name="connsiteX9" fmla="*/ 8544 w 20557"/>
                    <a:gd name="connsiteY9" fmla="*/ 15027 h 18073"/>
                    <a:gd name="connsiteX10" fmla="*/ 8544 w 20557"/>
                    <a:gd name="connsiteY10" fmla="*/ 11133 h 18073"/>
                    <a:gd name="connsiteX11" fmla="*/ 3722 w 20557"/>
                    <a:gd name="connsiteY11" fmla="*/ 11133 h 18073"/>
                    <a:gd name="connsiteX12" fmla="*/ 3722 w 20557"/>
                    <a:gd name="connsiteY12" fmla="*/ 15027 h 18073"/>
                    <a:gd name="connsiteX13" fmla="*/ 4794 w 20557"/>
                    <a:gd name="connsiteY13" fmla="*/ 12003 h 18073"/>
                    <a:gd name="connsiteX14" fmla="*/ 7473 w 20557"/>
                    <a:gd name="connsiteY14" fmla="*/ 12003 h 18073"/>
                    <a:gd name="connsiteX15" fmla="*/ 7473 w 20557"/>
                    <a:gd name="connsiteY15" fmla="*/ 14156 h 18073"/>
                    <a:gd name="connsiteX16" fmla="*/ 4794 w 20557"/>
                    <a:gd name="connsiteY16" fmla="*/ 14156 h 18073"/>
                    <a:gd name="connsiteX17" fmla="*/ 4794 w 20557"/>
                    <a:gd name="connsiteY17" fmla="*/ 12003 h 18073"/>
                    <a:gd name="connsiteX18" fmla="*/ 11731 w 20557"/>
                    <a:gd name="connsiteY18" fmla="*/ 8590 h 18073"/>
                    <a:gd name="connsiteX19" fmla="*/ 9334 w 20557"/>
                    <a:gd name="connsiteY19" fmla="*/ 10560 h 18073"/>
                    <a:gd name="connsiteX20" fmla="*/ 11731 w 20557"/>
                    <a:gd name="connsiteY20" fmla="*/ 12507 h 18073"/>
                    <a:gd name="connsiteX21" fmla="*/ 14127 w 20557"/>
                    <a:gd name="connsiteY21" fmla="*/ 10560 h 18073"/>
                    <a:gd name="connsiteX22" fmla="*/ 11731 w 20557"/>
                    <a:gd name="connsiteY22" fmla="*/ 8590 h 18073"/>
                    <a:gd name="connsiteX23" fmla="*/ 11731 w 20557"/>
                    <a:gd name="connsiteY23" fmla="*/ 11637 h 18073"/>
                    <a:gd name="connsiteX24" fmla="*/ 10405 w 20557"/>
                    <a:gd name="connsiteY24" fmla="*/ 10560 h 18073"/>
                    <a:gd name="connsiteX25" fmla="*/ 11731 w 20557"/>
                    <a:gd name="connsiteY25" fmla="*/ 9460 h 18073"/>
                    <a:gd name="connsiteX26" fmla="*/ 13084 w 20557"/>
                    <a:gd name="connsiteY26" fmla="*/ 10560 h 18073"/>
                    <a:gd name="connsiteX27" fmla="*/ 11731 w 20557"/>
                    <a:gd name="connsiteY27" fmla="*/ 11637 h 18073"/>
                    <a:gd name="connsiteX28" fmla="*/ 17257 w 20557"/>
                    <a:gd name="connsiteY28" fmla="*/ 14523 h 18073"/>
                    <a:gd name="connsiteX29" fmla="*/ 10831 w 20557"/>
                    <a:gd name="connsiteY29" fmla="*/ 7553 h 18073"/>
                    <a:gd name="connsiteX30" fmla="*/ 4343 w 20557"/>
                    <a:gd name="connsiteY30" fmla="*/ 0 h 18073"/>
                    <a:gd name="connsiteX31" fmla="*/ 0 w 20557"/>
                    <a:gd name="connsiteY31" fmla="*/ 0 h 18073"/>
                    <a:gd name="connsiteX32" fmla="*/ 0 w 20557"/>
                    <a:gd name="connsiteY32" fmla="*/ 18073 h 18073"/>
                    <a:gd name="connsiteX33" fmla="*/ 17257 w 20557"/>
                    <a:gd name="connsiteY33" fmla="*/ 18073 h 18073"/>
                    <a:gd name="connsiteX34" fmla="*/ 17257 w 20557"/>
                    <a:gd name="connsiteY34" fmla="*/ 14523 h 18073"/>
                    <a:gd name="connsiteX35" fmla="*/ 14409 w 20557"/>
                    <a:gd name="connsiteY35" fmla="*/ 2016 h 18073"/>
                    <a:gd name="connsiteX36" fmla="*/ 20105 w 20557"/>
                    <a:gd name="connsiteY36" fmla="*/ 2016 h 18073"/>
                    <a:gd name="connsiteX37" fmla="*/ 14409 w 20557"/>
                    <a:gd name="connsiteY37" fmla="*/ 2016 h 18073"/>
                    <a:gd name="connsiteX38" fmla="*/ 10095 w 20557"/>
                    <a:gd name="connsiteY38" fmla="*/ 0 h 18073"/>
                    <a:gd name="connsiteX39" fmla="*/ 13366 w 20557"/>
                    <a:gd name="connsiteY39" fmla="*/ 2520 h 18073"/>
                    <a:gd name="connsiteX40" fmla="*/ 10095 w 20557"/>
                    <a:gd name="connsiteY40" fmla="*/ 0 h 18073"/>
                    <a:gd name="connsiteX41" fmla="*/ 10067 w 20557"/>
                    <a:gd name="connsiteY41" fmla="*/ 1169 h 18073"/>
                    <a:gd name="connsiteX42" fmla="*/ 15735 w 20557"/>
                    <a:gd name="connsiteY42" fmla="*/ 5567 h 18073"/>
                    <a:gd name="connsiteX43" fmla="*/ 10067 w 20557"/>
                    <a:gd name="connsiteY43" fmla="*/ 5567 h 18073"/>
                    <a:gd name="connsiteX44" fmla="*/ 10067 w 20557"/>
                    <a:gd name="connsiteY44" fmla="*/ 1169 h 18073"/>
                    <a:gd name="connsiteX45" fmla="*/ 1072 w 20557"/>
                    <a:gd name="connsiteY45" fmla="*/ 17203 h 18073"/>
                    <a:gd name="connsiteX46" fmla="*/ 1072 w 20557"/>
                    <a:gd name="connsiteY46" fmla="*/ 871 h 18073"/>
                    <a:gd name="connsiteX47" fmla="*/ 8995 w 20557"/>
                    <a:gd name="connsiteY47" fmla="*/ 871 h 18073"/>
                    <a:gd name="connsiteX48" fmla="*/ 8995 w 20557"/>
                    <a:gd name="connsiteY48" fmla="*/ 6437 h 18073"/>
                    <a:gd name="connsiteX49" fmla="*/ 16186 w 20557"/>
                    <a:gd name="connsiteY49" fmla="*/ 6437 h 18073"/>
                    <a:gd name="connsiteX50" fmla="*/ 16186 w 20557"/>
                    <a:gd name="connsiteY50" fmla="*/ 17203 h 18073"/>
                    <a:gd name="connsiteX51" fmla="*/ 1072 w 20557"/>
                    <a:gd name="connsiteY51" fmla="*/ 17203 h 18073"/>
                    <a:gd name="connsiteX52" fmla="*/ 17257 w 20557"/>
                    <a:gd name="connsiteY52" fmla="*/ 13652 h 18073"/>
                    <a:gd name="connsiteX53" fmla="*/ 17257 w 20557"/>
                    <a:gd name="connsiteY53" fmla="*/ 5544 h 18073"/>
                    <a:gd name="connsiteX54" fmla="*/ 13817 w 20557"/>
                    <a:gd name="connsiteY54" fmla="*/ 2887 h 18073"/>
                    <a:gd name="connsiteX55" fmla="*/ 20557 w 20557"/>
                    <a:gd name="connsiteY55" fmla="*/ 2887 h 18073"/>
                    <a:gd name="connsiteX56" fmla="*/ 20557 w 20557"/>
                    <a:gd name="connsiteY56" fmla="*/ 13652 h 18073"/>
                    <a:gd name="connsiteX57" fmla="*/ 17257 w 20557"/>
                    <a:gd name="connsiteY57" fmla="*/ 13652 h 18073"/>
                    <a:gd name="connsiteX0" fmla="*/ 3186 w 20557"/>
                    <a:gd name="connsiteY0" fmla="*/ 9488 h 18101"/>
                    <a:gd name="connsiteX1" fmla="*/ 8911 w 20557"/>
                    <a:gd name="connsiteY1" fmla="*/ 9488 h 18101"/>
                    <a:gd name="connsiteX2" fmla="*/ 6063 w 20557"/>
                    <a:gd name="connsiteY2" fmla="*/ 5457 h 18101"/>
                    <a:gd name="connsiteX3" fmla="*/ 3186 w 20557"/>
                    <a:gd name="connsiteY3" fmla="*/ 9488 h 18101"/>
                    <a:gd name="connsiteX4" fmla="*/ 5019 w 20557"/>
                    <a:gd name="connsiteY4" fmla="*/ 8618 h 18101"/>
                    <a:gd name="connsiteX5" fmla="*/ 6063 w 20557"/>
                    <a:gd name="connsiteY5" fmla="*/ 7175 h 18101"/>
                    <a:gd name="connsiteX6" fmla="*/ 7078 w 20557"/>
                    <a:gd name="connsiteY6" fmla="*/ 8618 h 18101"/>
                    <a:gd name="connsiteX7" fmla="*/ 5019 w 20557"/>
                    <a:gd name="connsiteY7" fmla="*/ 8618 h 18101"/>
                    <a:gd name="connsiteX8" fmla="*/ 3722 w 20557"/>
                    <a:gd name="connsiteY8" fmla="*/ 15055 h 18101"/>
                    <a:gd name="connsiteX9" fmla="*/ 8544 w 20557"/>
                    <a:gd name="connsiteY9" fmla="*/ 15055 h 18101"/>
                    <a:gd name="connsiteX10" fmla="*/ 8544 w 20557"/>
                    <a:gd name="connsiteY10" fmla="*/ 11161 h 18101"/>
                    <a:gd name="connsiteX11" fmla="*/ 3722 w 20557"/>
                    <a:gd name="connsiteY11" fmla="*/ 11161 h 18101"/>
                    <a:gd name="connsiteX12" fmla="*/ 3722 w 20557"/>
                    <a:gd name="connsiteY12" fmla="*/ 15055 h 18101"/>
                    <a:gd name="connsiteX13" fmla="*/ 4794 w 20557"/>
                    <a:gd name="connsiteY13" fmla="*/ 12031 h 18101"/>
                    <a:gd name="connsiteX14" fmla="*/ 7473 w 20557"/>
                    <a:gd name="connsiteY14" fmla="*/ 12031 h 18101"/>
                    <a:gd name="connsiteX15" fmla="*/ 7473 w 20557"/>
                    <a:gd name="connsiteY15" fmla="*/ 14184 h 18101"/>
                    <a:gd name="connsiteX16" fmla="*/ 4794 w 20557"/>
                    <a:gd name="connsiteY16" fmla="*/ 14184 h 18101"/>
                    <a:gd name="connsiteX17" fmla="*/ 4794 w 20557"/>
                    <a:gd name="connsiteY17" fmla="*/ 12031 h 18101"/>
                    <a:gd name="connsiteX18" fmla="*/ 11731 w 20557"/>
                    <a:gd name="connsiteY18" fmla="*/ 8618 h 18101"/>
                    <a:gd name="connsiteX19" fmla="*/ 9334 w 20557"/>
                    <a:gd name="connsiteY19" fmla="*/ 10588 h 18101"/>
                    <a:gd name="connsiteX20" fmla="*/ 11731 w 20557"/>
                    <a:gd name="connsiteY20" fmla="*/ 12535 h 18101"/>
                    <a:gd name="connsiteX21" fmla="*/ 14127 w 20557"/>
                    <a:gd name="connsiteY21" fmla="*/ 10588 h 18101"/>
                    <a:gd name="connsiteX22" fmla="*/ 11731 w 20557"/>
                    <a:gd name="connsiteY22" fmla="*/ 8618 h 18101"/>
                    <a:gd name="connsiteX23" fmla="*/ 11731 w 20557"/>
                    <a:gd name="connsiteY23" fmla="*/ 11665 h 18101"/>
                    <a:gd name="connsiteX24" fmla="*/ 10405 w 20557"/>
                    <a:gd name="connsiteY24" fmla="*/ 10588 h 18101"/>
                    <a:gd name="connsiteX25" fmla="*/ 11731 w 20557"/>
                    <a:gd name="connsiteY25" fmla="*/ 9488 h 18101"/>
                    <a:gd name="connsiteX26" fmla="*/ 13084 w 20557"/>
                    <a:gd name="connsiteY26" fmla="*/ 10588 h 18101"/>
                    <a:gd name="connsiteX27" fmla="*/ 11731 w 20557"/>
                    <a:gd name="connsiteY27" fmla="*/ 11665 h 18101"/>
                    <a:gd name="connsiteX28" fmla="*/ 17257 w 20557"/>
                    <a:gd name="connsiteY28" fmla="*/ 14551 h 18101"/>
                    <a:gd name="connsiteX29" fmla="*/ 17306 w 20557"/>
                    <a:gd name="connsiteY29" fmla="*/ 0 h 18101"/>
                    <a:gd name="connsiteX30" fmla="*/ 4343 w 20557"/>
                    <a:gd name="connsiteY30" fmla="*/ 28 h 18101"/>
                    <a:gd name="connsiteX31" fmla="*/ 0 w 20557"/>
                    <a:gd name="connsiteY31" fmla="*/ 28 h 18101"/>
                    <a:gd name="connsiteX32" fmla="*/ 0 w 20557"/>
                    <a:gd name="connsiteY32" fmla="*/ 18101 h 18101"/>
                    <a:gd name="connsiteX33" fmla="*/ 17257 w 20557"/>
                    <a:gd name="connsiteY33" fmla="*/ 18101 h 18101"/>
                    <a:gd name="connsiteX34" fmla="*/ 17257 w 20557"/>
                    <a:gd name="connsiteY34" fmla="*/ 14551 h 18101"/>
                    <a:gd name="connsiteX35" fmla="*/ 14409 w 20557"/>
                    <a:gd name="connsiteY35" fmla="*/ 2044 h 18101"/>
                    <a:gd name="connsiteX36" fmla="*/ 20105 w 20557"/>
                    <a:gd name="connsiteY36" fmla="*/ 2044 h 18101"/>
                    <a:gd name="connsiteX37" fmla="*/ 14409 w 20557"/>
                    <a:gd name="connsiteY37" fmla="*/ 2044 h 18101"/>
                    <a:gd name="connsiteX38" fmla="*/ 10095 w 20557"/>
                    <a:gd name="connsiteY38" fmla="*/ 28 h 18101"/>
                    <a:gd name="connsiteX39" fmla="*/ 13366 w 20557"/>
                    <a:gd name="connsiteY39" fmla="*/ 2548 h 18101"/>
                    <a:gd name="connsiteX40" fmla="*/ 10095 w 20557"/>
                    <a:gd name="connsiteY40" fmla="*/ 28 h 18101"/>
                    <a:gd name="connsiteX41" fmla="*/ 10067 w 20557"/>
                    <a:gd name="connsiteY41" fmla="*/ 1197 h 18101"/>
                    <a:gd name="connsiteX42" fmla="*/ 15735 w 20557"/>
                    <a:gd name="connsiteY42" fmla="*/ 5595 h 18101"/>
                    <a:gd name="connsiteX43" fmla="*/ 10067 w 20557"/>
                    <a:gd name="connsiteY43" fmla="*/ 5595 h 18101"/>
                    <a:gd name="connsiteX44" fmla="*/ 10067 w 20557"/>
                    <a:gd name="connsiteY44" fmla="*/ 1197 h 18101"/>
                    <a:gd name="connsiteX45" fmla="*/ 1072 w 20557"/>
                    <a:gd name="connsiteY45" fmla="*/ 17231 h 18101"/>
                    <a:gd name="connsiteX46" fmla="*/ 1072 w 20557"/>
                    <a:gd name="connsiteY46" fmla="*/ 899 h 18101"/>
                    <a:gd name="connsiteX47" fmla="*/ 8995 w 20557"/>
                    <a:gd name="connsiteY47" fmla="*/ 899 h 18101"/>
                    <a:gd name="connsiteX48" fmla="*/ 8995 w 20557"/>
                    <a:gd name="connsiteY48" fmla="*/ 6465 h 18101"/>
                    <a:gd name="connsiteX49" fmla="*/ 16186 w 20557"/>
                    <a:gd name="connsiteY49" fmla="*/ 6465 h 18101"/>
                    <a:gd name="connsiteX50" fmla="*/ 16186 w 20557"/>
                    <a:gd name="connsiteY50" fmla="*/ 17231 h 18101"/>
                    <a:gd name="connsiteX51" fmla="*/ 1072 w 20557"/>
                    <a:gd name="connsiteY51" fmla="*/ 17231 h 18101"/>
                    <a:gd name="connsiteX52" fmla="*/ 17257 w 20557"/>
                    <a:gd name="connsiteY52" fmla="*/ 13680 h 18101"/>
                    <a:gd name="connsiteX53" fmla="*/ 17257 w 20557"/>
                    <a:gd name="connsiteY53" fmla="*/ 5572 h 18101"/>
                    <a:gd name="connsiteX54" fmla="*/ 13817 w 20557"/>
                    <a:gd name="connsiteY54" fmla="*/ 2915 h 18101"/>
                    <a:gd name="connsiteX55" fmla="*/ 20557 w 20557"/>
                    <a:gd name="connsiteY55" fmla="*/ 2915 h 18101"/>
                    <a:gd name="connsiteX56" fmla="*/ 20557 w 20557"/>
                    <a:gd name="connsiteY56" fmla="*/ 13680 h 18101"/>
                    <a:gd name="connsiteX57" fmla="*/ 17257 w 20557"/>
                    <a:gd name="connsiteY57" fmla="*/ 13680 h 18101"/>
                    <a:gd name="connsiteX0" fmla="*/ 3186 w 20557"/>
                    <a:gd name="connsiteY0" fmla="*/ 9488 h 18101"/>
                    <a:gd name="connsiteX1" fmla="*/ 8911 w 20557"/>
                    <a:gd name="connsiteY1" fmla="*/ 9488 h 18101"/>
                    <a:gd name="connsiteX2" fmla="*/ 6063 w 20557"/>
                    <a:gd name="connsiteY2" fmla="*/ 5457 h 18101"/>
                    <a:gd name="connsiteX3" fmla="*/ 3186 w 20557"/>
                    <a:gd name="connsiteY3" fmla="*/ 9488 h 18101"/>
                    <a:gd name="connsiteX4" fmla="*/ 5019 w 20557"/>
                    <a:gd name="connsiteY4" fmla="*/ 8618 h 18101"/>
                    <a:gd name="connsiteX5" fmla="*/ 6063 w 20557"/>
                    <a:gd name="connsiteY5" fmla="*/ 7175 h 18101"/>
                    <a:gd name="connsiteX6" fmla="*/ 7078 w 20557"/>
                    <a:gd name="connsiteY6" fmla="*/ 8618 h 18101"/>
                    <a:gd name="connsiteX7" fmla="*/ 5019 w 20557"/>
                    <a:gd name="connsiteY7" fmla="*/ 8618 h 18101"/>
                    <a:gd name="connsiteX8" fmla="*/ 3722 w 20557"/>
                    <a:gd name="connsiteY8" fmla="*/ 15055 h 18101"/>
                    <a:gd name="connsiteX9" fmla="*/ 8544 w 20557"/>
                    <a:gd name="connsiteY9" fmla="*/ 15055 h 18101"/>
                    <a:gd name="connsiteX10" fmla="*/ 8544 w 20557"/>
                    <a:gd name="connsiteY10" fmla="*/ 11161 h 18101"/>
                    <a:gd name="connsiteX11" fmla="*/ 3722 w 20557"/>
                    <a:gd name="connsiteY11" fmla="*/ 11161 h 18101"/>
                    <a:gd name="connsiteX12" fmla="*/ 3722 w 20557"/>
                    <a:gd name="connsiteY12" fmla="*/ 15055 h 18101"/>
                    <a:gd name="connsiteX13" fmla="*/ 4794 w 20557"/>
                    <a:gd name="connsiteY13" fmla="*/ 12031 h 18101"/>
                    <a:gd name="connsiteX14" fmla="*/ 7473 w 20557"/>
                    <a:gd name="connsiteY14" fmla="*/ 12031 h 18101"/>
                    <a:gd name="connsiteX15" fmla="*/ 7473 w 20557"/>
                    <a:gd name="connsiteY15" fmla="*/ 14184 h 18101"/>
                    <a:gd name="connsiteX16" fmla="*/ 4794 w 20557"/>
                    <a:gd name="connsiteY16" fmla="*/ 14184 h 18101"/>
                    <a:gd name="connsiteX17" fmla="*/ 4794 w 20557"/>
                    <a:gd name="connsiteY17" fmla="*/ 12031 h 18101"/>
                    <a:gd name="connsiteX18" fmla="*/ 11731 w 20557"/>
                    <a:gd name="connsiteY18" fmla="*/ 8618 h 18101"/>
                    <a:gd name="connsiteX19" fmla="*/ 9334 w 20557"/>
                    <a:gd name="connsiteY19" fmla="*/ 10588 h 18101"/>
                    <a:gd name="connsiteX20" fmla="*/ 11731 w 20557"/>
                    <a:gd name="connsiteY20" fmla="*/ 12535 h 18101"/>
                    <a:gd name="connsiteX21" fmla="*/ 14127 w 20557"/>
                    <a:gd name="connsiteY21" fmla="*/ 10588 h 18101"/>
                    <a:gd name="connsiteX22" fmla="*/ 11731 w 20557"/>
                    <a:gd name="connsiteY22" fmla="*/ 8618 h 18101"/>
                    <a:gd name="connsiteX23" fmla="*/ 11731 w 20557"/>
                    <a:gd name="connsiteY23" fmla="*/ 11665 h 18101"/>
                    <a:gd name="connsiteX24" fmla="*/ 10405 w 20557"/>
                    <a:gd name="connsiteY24" fmla="*/ 10588 h 18101"/>
                    <a:gd name="connsiteX25" fmla="*/ 11731 w 20557"/>
                    <a:gd name="connsiteY25" fmla="*/ 9488 h 18101"/>
                    <a:gd name="connsiteX26" fmla="*/ 13084 w 20557"/>
                    <a:gd name="connsiteY26" fmla="*/ 10588 h 18101"/>
                    <a:gd name="connsiteX27" fmla="*/ 11731 w 20557"/>
                    <a:gd name="connsiteY27" fmla="*/ 11665 h 18101"/>
                    <a:gd name="connsiteX28" fmla="*/ 17257 w 20557"/>
                    <a:gd name="connsiteY28" fmla="*/ 14551 h 18101"/>
                    <a:gd name="connsiteX29" fmla="*/ 17306 w 20557"/>
                    <a:gd name="connsiteY29" fmla="*/ 0 h 18101"/>
                    <a:gd name="connsiteX30" fmla="*/ 4343 w 20557"/>
                    <a:gd name="connsiteY30" fmla="*/ 28 h 18101"/>
                    <a:gd name="connsiteX31" fmla="*/ 0 w 20557"/>
                    <a:gd name="connsiteY31" fmla="*/ 28 h 18101"/>
                    <a:gd name="connsiteX32" fmla="*/ 0 w 20557"/>
                    <a:gd name="connsiteY32" fmla="*/ 18101 h 18101"/>
                    <a:gd name="connsiteX33" fmla="*/ 17257 w 20557"/>
                    <a:gd name="connsiteY33" fmla="*/ 18101 h 18101"/>
                    <a:gd name="connsiteX34" fmla="*/ 17257 w 20557"/>
                    <a:gd name="connsiteY34" fmla="*/ 14551 h 18101"/>
                    <a:gd name="connsiteX35" fmla="*/ 14409 w 20557"/>
                    <a:gd name="connsiteY35" fmla="*/ 2044 h 18101"/>
                    <a:gd name="connsiteX36" fmla="*/ 20105 w 20557"/>
                    <a:gd name="connsiteY36" fmla="*/ 2044 h 18101"/>
                    <a:gd name="connsiteX37" fmla="*/ 14409 w 20557"/>
                    <a:gd name="connsiteY37" fmla="*/ 2044 h 18101"/>
                    <a:gd name="connsiteX38" fmla="*/ 10095 w 20557"/>
                    <a:gd name="connsiteY38" fmla="*/ 28 h 18101"/>
                    <a:gd name="connsiteX39" fmla="*/ 13366 w 20557"/>
                    <a:gd name="connsiteY39" fmla="*/ 2548 h 18101"/>
                    <a:gd name="connsiteX40" fmla="*/ 10095 w 20557"/>
                    <a:gd name="connsiteY40" fmla="*/ 28 h 18101"/>
                    <a:gd name="connsiteX41" fmla="*/ 10067 w 20557"/>
                    <a:gd name="connsiteY41" fmla="*/ 1197 h 18101"/>
                    <a:gd name="connsiteX42" fmla="*/ 15735 w 20557"/>
                    <a:gd name="connsiteY42" fmla="*/ 5595 h 18101"/>
                    <a:gd name="connsiteX43" fmla="*/ 10067 w 20557"/>
                    <a:gd name="connsiteY43" fmla="*/ 5595 h 18101"/>
                    <a:gd name="connsiteX44" fmla="*/ 10067 w 20557"/>
                    <a:gd name="connsiteY44" fmla="*/ 1197 h 18101"/>
                    <a:gd name="connsiteX45" fmla="*/ 1072 w 20557"/>
                    <a:gd name="connsiteY45" fmla="*/ 17231 h 18101"/>
                    <a:gd name="connsiteX46" fmla="*/ 1072 w 20557"/>
                    <a:gd name="connsiteY46" fmla="*/ 899 h 18101"/>
                    <a:gd name="connsiteX47" fmla="*/ 8995 w 20557"/>
                    <a:gd name="connsiteY47" fmla="*/ 899 h 18101"/>
                    <a:gd name="connsiteX48" fmla="*/ 8995 w 20557"/>
                    <a:gd name="connsiteY48" fmla="*/ 6465 h 18101"/>
                    <a:gd name="connsiteX49" fmla="*/ 16186 w 20557"/>
                    <a:gd name="connsiteY49" fmla="*/ 6465 h 18101"/>
                    <a:gd name="connsiteX50" fmla="*/ 16186 w 20557"/>
                    <a:gd name="connsiteY50" fmla="*/ 17231 h 18101"/>
                    <a:gd name="connsiteX51" fmla="*/ 1072 w 20557"/>
                    <a:gd name="connsiteY51" fmla="*/ 17231 h 18101"/>
                    <a:gd name="connsiteX52" fmla="*/ 17257 w 20557"/>
                    <a:gd name="connsiteY52" fmla="*/ 13680 h 18101"/>
                    <a:gd name="connsiteX53" fmla="*/ 17257 w 20557"/>
                    <a:gd name="connsiteY53" fmla="*/ 5572 h 18101"/>
                    <a:gd name="connsiteX54" fmla="*/ 13817 w 20557"/>
                    <a:gd name="connsiteY54" fmla="*/ 2915 h 18101"/>
                    <a:gd name="connsiteX55" fmla="*/ 20557 w 20557"/>
                    <a:gd name="connsiteY55" fmla="*/ 13680 h 18101"/>
                    <a:gd name="connsiteX56" fmla="*/ 17257 w 20557"/>
                    <a:gd name="connsiteY56" fmla="*/ 13680 h 18101"/>
                    <a:gd name="connsiteX0" fmla="*/ 3186 w 20105"/>
                    <a:gd name="connsiteY0" fmla="*/ 9488 h 18101"/>
                    <a:gd name="connsiteX1" fmla="*/ 8911 w 20105"/>
                    <a:gd name="connsiteY1" fmla="*/ 9488 h 18101"/>
                    <a:gd name="connsiteX2" fmla="*/ 6063 w 20105"/>
                    <a:gd name="connsiteY2" fmla="*/ 5457 h 18101"/>
                    <a:gd name="connsiteX3" fmla="*/ 3186 w 20105"/>
                    <a:gd name="connsiteY3" fmla="*/ 9488 h 18101"/>
                    <a:gd name="connsiteX4" fmla="*/ 5019 w 20105"/>
                    <a:gd name="connsiteY4" fmla="*/ 8618 h 18101"/>
                    <a:gd name="connsiteX5" fmla="*/ 6063 w 20105"/>
                    <a:gd name="connsiteY5" fmla="*/ 7175 h 18101"/>
                    <a:gd name="connsiteX6" fmla="*/ 7078 w 20105"/>
                    <a:gd name="connsiteY6" fmla="*/ 8618 h 18101"/>
                    <a:gd name="connsiteX7" fmla="*/ 5019 w 20105"/>
                    <a:gd name="connsiteY7" fmla="*/ 8618 h 18101"/>
                    <a:gd name="connsiteX8" fmla="*/ 3722 w 20105"/>
                    <a:gd name="connsiteY8" fmla="*/ 15055 h 18101"/>
                    <a:gd name="connsiteX9" fmla="*/ 8544 w 20105"/>
                    <a:gd name="connsiteY9" fmla="*/ 15055 h 18101"/>
                    <a:gd name="connsiteX10" fmla="*/ 8544 w 20105"/>
                    <a:gd name="connsiteY10" fmla="*/ 11161 h 18101"/>
                    <a:gd name="connsiteX11" fmla="*/ 3722 w 20105"/>
                    <a:gd name="connsiteY11" fmla="*/ 11161 h 18101"/>
                    <a:gd name="connsiteX12" fmla="*/ 3722 w 20105"/>
                    <a:gd name="connsiteY12" fmla="*/ 15055 h 18101"/>
                    <a:gd name="connsiteX13" fmla="*/ 4794 w 20105"/>
                    <a:gd name="connsiteY13" fmla="*/ 12031 h 18101"/>
                    <a:gd name="connsiteX14" fmla="*/ 7473 w 20105"/>
                    <a:gd name="connsiteY14" fmla="*/ 12031 h 18101"/>
                    <a:gd name="connsiteX15" fmla="*/ 7473 w 20105"/>
                    <a:gd name="connsiteY15" fmla="*/ 14184 h 18101"/>
                    <a:gd name="connsiteX16" fmla="*/ 4794 w 20105"/>
                    <a:gd name="connsiteY16" fmla="*/ 14184 h 18101"/>
                    <a:gd name="connsiteX17" fmla="*/ 4794 w 20105"/>
                    <a:gd name="connsiteY17" fmla="*/ 12031 h 18101"/>
                    <a:gd name="connsiteX18" fmla="*/ 11731 w 20105"/>
                    <a:gd name="connsiteY18" fmla="*/ 8618 h 18101"/>
                    <a:gd name="connsiteX19" fmla="*/ 9334 w 20105"/>
                    <a:gd name="connsiteY19" fmla="*/ 10588 h 18101"/>
                    <a:gd name="connsiteX20" fmla="*/ 11731 w 20105"/>
                    <a:gd name="connsiteY20" fmla="*/ 12535 h 18101"/>
                    <a:gd name="connsiteX21" fmla="*/ 14127 w 20105"/>
                    <a:gd name="connsiteY21" fmla="*/ 10588 h 18101"/>
                    <a:gd name="connsiteX22" fmla="*/ 11731 w 20105"/>
                    <a:gd name="connsiteY22" fmla="*/ 8618 h 18101"/>
                    <a:gd name="connsiteX23" fmla="*/ 11731 w 20105"/>
                    <a:gd name="connsiteY23" fmla="*/ 11665 h 18101"/>
                    <a:gd name="connsiteX24" fmla="*/ 10405 w 20105"/>
                    <a:gd name="connsiteY24" fmla="*/ 10588 h 18101"/>
                    <a:gd name="connsiteX25" fmla="*/ 11731 w 20105"/>
                    <a:gd name="connsiteY25" fmla="*/ 9488 h 18101"/>
                    <a:gd name="connsiteX26" fmla="*/ 13084 w 20105"/>
                    <a:gd name="connsiteY26" fmla="*/ 10588 h 18101"/>
                    <a:gd name="connsiteX27" fmla="*/ 11731 w 20105"/>
                    <a:gd name="connsiteY27" fmla="*/ 11665 h 18101"/>
                    <a:gd name="connsiteX28" fmla="*/ 17257 w 20105"/>
                    <a:gd name="connsiteY28" fmla="*/ 14551 h 18101"/>
                    <a:gd name="connsiteX29" fmla="*/ 17306 w 20105"/>
                    <a:gd name="connsiteY29" fmla="*/ 0 h 18101"/>
                    <a:gd name="connsiteX30" fmla="*/ 4343 w 20105"/>
                    <a:gd name="connsiteY30" fmla="*/ 28 h 18101"/>
                    <a:gd name="connsiteX31" fmla="*/ 0 w 20105"/>
                    <a:gd name="connsiteY31" fmla="*/ 28 h 18101"/>
                    <a:gd name="connsiteX32" fmla="*/ 0 w 20105"/>
                    <a:gd name="connsiteY32" fmla="*/ 18101 h 18101"/>
                    <a:gd name="connsiteX33" fmla="*/ 17257 w 20105"/>
                    <a:gd name="connsiteY33" fmla="*/ 18101 h 18101"/>
                    <a:gd name="connsiteX34" fmla="*/ 17257 w 20105"/>
                    <a:gd name="connsiteY34" fmla="*/ 14551 h 18101"/>
                    <a:gd name="connsiteX35" fmla="*/ 14409 w 20105"/>
                    <a:gd name="connsiteY35" fmla="*/ 2044 h 18101"/>
                    <a:gd name="connsiteX36" fmla="*/ 20105 w 20105"/>
                    <a:gd name="connsiteY36" fmla="*/ 2044 h 18101"/>
                    <a:gd name="connsiteX37" fmla="*/ 14409 w 20105"/>
                    <a:gd name="connsiteY37" fmla="*/ 2044 h 18101"/>
                    <a:gd name="connsiteX38" fmla="*/ 10095 w 20105"/>
                    <a:gd name="connsiteY38" fmla="*/ 28 h 18101"/>
                    <a:gd name="connsiteX39" fmla="*/ 13366 w 20105"/>
                    <a:gd name="connsiteY39" fmla="*/ 2548 h 18101"/>
                    <a:gd name="connsiteX40" fmla="*/ 10095 w 20105"/>
                    <a:gd name="connsiteY40" fmla="*/ 28 h 18101"/>
                    <a:gd name="connsiteX41" fmla="*/ 10067 w 20105"/>
                    <a:gd name="connsiteY41" fmla="*/ 1197 h 18101"/>
                    <a:gd name="connsiteX42" fmla="*/ 15735 w 20105"/>
                    <a:gd name="connsiteY42" fmla="*/ 5595 h 18101"/>
                    <a:gd name="connsiteX43" fmla="*/ 10067 w 20105"/>
                    <a:gd name="connsiteY43" fmla="*/ 5595 h 18101"/>
                    <a:gd name="connsiteX44" fmla="*/ 10067 w 20105"/>
                    <a:gd name="connsiteY44" fmla="*/ 1197 h 18101"/>
                    <a:gd name="connsiteX45" fmla="*/ 1072 w 20105"/>
                    <a:gd name="connsiteY45" fmla="*/ 17231 h 18101"/>
                    <a:gd name="connsiteX46" fmla="*/ 1072 w 20105"/>
                    <a:gd name="connsiteY46" fmla="*/ 899 h 18101"/>
                    <a:gd name="connsiteX47" fmla="*/ 8995 w 20105"/>
                    <a:gd name="connsiteY47" fmla="*/ 899 h 18101"/>
                    <a:gd name="connsiteX48" fmla="*/ 8995 w 20105"/>
                    <a:gd name="connsiteY48" fmla="*/ 6465 h 18101"/>
                    <a:gd name="connsiteX49" fmla="*/ 16186 w 20105"/>
                    <a:gd name="connsiteY49" fmla="*/ 6465 h 18101"/>
                    <a:gd name="connsiteX50" fmla="*/ 16186 w 20105"/>
                    <a:gd name="connsiteY50" fmla="*/ 17231 h 18101"/>
                    <a:gd name="connsiteX51" fmla="*/ 1072 w 20105"/>
                    <a:gd name="connsiteY51" fmla="*/ 17231 h 18101"/>
                    <a:gd name="connsiteX52" fmla="*/ 17257 w 20105"/>
                    <a:gd name="connsiteY52" fmla="*/ 13680 h 18101"/>
                    <a:gd name="connsiteX53" fmla="*/ 17257 w 20105"/>
                    <a:gd name="connsiteY53" fmla="*/ 5572 h 18101"/>
                    <a:gd name="connsiteX54" fmla="*/ 13817 w 20105"/>
                    <a:gd name="connsiteY54" fmla="*/ 2915 h 18101"/>
                    <a:gd name="connsiteX55" fmla="*/ 17257 w 20105"/>
                    <a:gd name="connsiteY55" fmla="*/ 13680 h 18101"/>
                    <a:gd name="connsiteX0" fmla="*/ 3186 w 20105"/>
                    <a:gd name="connsiteY0" fmla="*/ 9488 h 18101"/>
                    <a:gd name="connsiteX1" fmla="*/ 8911 w 20105"/>
                    <a:gd name="connsiteY1" fmla="*/ 9488 h 18101"/>
                    <a:gd name="connsiteX2" fmla="*/ 6063 w 20105"/>
                    <a:gd name="connsiteY2" fmla="*/ 5457 h 18101"/>
                    <a:gd name="connsiteX3" fmla="*/ 3186 w 20105"/>
                    <a:gd name="connsiteY3" fmla="*/ 9488 h 18101"/>
                    <a:gd name="connsiteX4" fmla="*/ 5019 w 20105"/>
                    <a:gd name="connsiteY4" fmla="*/ 8618 h 18101"/>
                    <a:gd name="connsiteX5" fmla="*/ 6063 w 20105"/>
                    <a:gd name="connsiteY5" fmla="*/ 7175 h 18101"/>
                    <a:gd name="connsiteX6" fmla="*/ 7078 w 20105"/>
                    <a:gd name="connsiteY6" fmla="*/ 8618 h 18101"/>
                    <a:gd name="connsiteX7" fmla="*/ 5019 w 20105"/>
                    <a:gd name="connsiteY7" fmla="*/ 8618 h 18101"/>
                    <a:gd name="connsiteX8" fmla="*/ 3722 w 20105"/>
                    <a:gd name="connsiteY8" fmla="*/ 15055 h 18101"/>
                    <a:gd name="connsiteX9" fmla="*/ 8544 w 20105"/>
                    <a:gd name="connsiteY9" fmla="*/ 15055 h 18101"/>
                    <a:gd name="connsiteX10" fmla="*/ 8544 w 20105"/>
                    <a:gd name="connsiteY10" fmla="*/ 11161 h 18101"/>
                    <a:gd name="connsiteX11" fmla="*/ 3722 w 20105"/>
                    <a:gd name="connsiteY11" fmla="*/ 11161 h 18101"/>
                    <a:gd name="connsiteX12" fmla="*/ 3722 w 20105"/>
                    <a:gd name="connsiteY12" fmla="*/ 15055 h 18101"/>
                    <a:gd name="connsiteX13" fmla="*/ 4794 w 20105"/>
                    <a:gd name="connsiteY13" fmla="*/ 12031 h 18101"/>
                    <a:gd name="connsiteX14" fmla="*/ 7473 w 20105"/>
                    <a:gd name="connsiteY14" fmla="*/ 12031 h 18101"/>
                    <a:gd name="connsiteX15" fmla="*/ 7473 w 20105"/>
                    <a:gd name="connsiteY15" fmla="*/ 14184 h 18101"/>
                    <a:gd name="connsiteX16" fmla="*/ 4794 w 20105"/>
                    <a:gd name="connsiteY16" fmla="*/ 14184 h 18101"/>
                    <a:gd name="connsiteX17" fmla="*/ 4794 w 20105"/>
                    <a:gd name="connsiteY17" fmla="*/ 12031 h 18101"/>
                    <a:gd name="connsiteX18" fmla="*/ 11731 w 20105"/>
                    <a:gd name="connsiteY18" fmla="*/ 8618 h 18101"/>
                    <a:gd name="connsiteX19" fmla="*/ 9334 w 20105"/>
                    <a:gd name="connsiteY19" fmla="*/ 10588 h 18101"/>
                    <a:gd name="connsiteX20" fmla="*/ 11731 w 20105"/>
                    <a:gd name="connsiteY20" fmla="*/ 12535 h 18101"/>
                    <a:gd name="connsiteX21" fmla="*/ 14127 w 20105"/>
                    <a:gd name="connsiteY21" fmla="*/ 10588 h 18101"/>
                    <a:gd name="connsiteX22" fmla="*/ 11731 w 20105"/>
                    <a:gd name="connsiteY22" fmla="*/ 8618 h 18101"/>
                    <a:gd name="connsiteX23" fmla="*/ 11731 w 20105"/>
                    <a:gd name="connsiteY23" fmla="*/ 11665 h 18101"/>
                    <a:gd name="connsiteX24" fmla="*/ 10405 w 20105"/>
                    <a:gd name="connsiteY24" fmla="*/ 10588 h 18101"/>
                    <a:gd name="connsiteX25" fmla="*/ 11731 w 20105"/>
                    <a:gd name="connsiteY25" fmla="*/ 9488 h 18101"/>
                    <a:gd name="connsiteX26" fmla="*/ 13084 w 20105"/>
                    <a:gd name="connsiteY26" fmla="*/ 10588 h 18101"/>
                    <a:gd name="connsiteX27" fmla="*/ 11731 w 20105"/>
                    <a:gd name="connsiteY27" fmla="*/ 11665 h 18101"/>
                    <a:gd name="connsiteX28" fmla="*/ 17257 w 20105"/>
                    <a:gd name="connsiteY28" fmla="*/ 14551 h 18101"/>
                    <a:gd name="connsiteX29" fmla="*/ 17306 w 20105"/>
                    <a:gd name="connsiteY29" fmla="*/ 0 h 18101"/>
                    <a:gd name="connsiteX30" fmla="*/ 4343 w 20105"/>
                    <a:gd name="connsiteY30" fmla="*/ 28 h 18101"/>
                    <a:gd name="connsiteX31" fmla="*/ 0 w 20105"/>
                    <a:gd name="connsiteY31" fmla="*/ 28 h 18101"/>
                    <a:gd name="connsiteX32" fmla="*/ 0 w 20105"/>
                    <a:gd name="connsiteY32" fmla="*/ 18101 h 18101"/>
                    <a:gd name="connsiteX33" fmla="*/ 17257 w 20105"/>
                    <a:gd name="connsiteY33" fmla="*/ 18101 h 18101"/>
                    <a:gd name="connsiteX34" fmla="*/ 17257 w 20105"/>
                    <a:gd name="connsiteY34" fmla="*/ 14551 h 18101"/>
                    <a:gd name="connsiteX35" fmla="*/ 14409 w 20105"/>
                    <a:gd name="connsiteY35" fmla="*/ 2044 h 18101"/>
                    <a:gd name="connsiteX36" fmla="*/ 20105 w 20105"/>
                    <a:gd name="connsiteY36" fmla="*/ 2044 h 18101"/>
                    <a:gd name="connsiteX37" fmla="*/ 14409 w 20105"/>
                    <a:gd name="connsiteY37" fmla="*/ 2044 h 18101"/>
                    <a:gd name="connsiteX38" fmla="*/ 10095 w 20105"/>
                    <a:gd name="connsiteY38" fmla="*/ 28 h 18101"/>
                    <a:gd name="connsiteX39" fmla="*/ 13366 w 20105"/>
                    <a:gd name="connsiteY39" fmla="*/ 2548 h 18101"/>
                    <a:gd name="connsiteX40" fmla="*/ 10095 w 20105"/>
                    <a:gd name="connsiteY40" fmla="*/ 28 h 18101"/>
                    <a:gd name="connsiteX41" fmla="*/ 10067 w 20105"/>
                    <a:gd name="connsiteY41" fmla="*/ 1197 h 18101"/>
                    <a:gd name="connsiteX42" fmla="*/ 15735 w 20105"/>
                    <a:gd name="connsiteY42" fmla="*/ 5595 h 18101"/>
                    <a:gd name="connsiteX43" fmla="*/ 10067 w 20105"/>
                    <a:gd name="connsiteY43" fmla="*/ 5595 h 18101"/>
                    <a:gd name="connsiteX44" fmla="*/ 10067 w 20105"/>
                    <a:gd name="connsiteY44" fmla="*/ 1197 h 18101"/>
                    <a:gd name="connsiteX45" fmla="*/ 1072 w 20105"/>
                    <a:gd name="connsiteY45" fmla="*/ 17231 h 18101"/>
                    <a:gd name="connsiteX46" fmla="*/ 1072 w 20105"/>
                    <a:gd name="connsiteY46" fmla="*/ 899 h 18101"/>
                    <a:gd name="connsiteX47" fmla="*/ 8995 w 20105"/>
                    <a:gd name="connsiteY47" fmla="*/ 899 h 18101"/>
                    <a:gd name="connsiteX48" fmla="*/ 8995 w 20105"/>
                    <a:gd name="connsiteY48" fmla="*/ 6465 h 18101"/>
                    <a:gd name="connsiteX49" fmla="*/ 16186 w 20105"/>
                    <a:gd name="connsiteY49" fmla="*/ 6465 h 18101"/>
                    <a:gd name="connsiteX50" fmla="*/ 16186 w 20105"/>
                    <a:gd name="connsiteY50" fmla="*/ 17231 h 18101"/>
                    <a:gd name="connsiteX51" fmla="*/ 1072 w 20105"/>
                    <a:gd name="connsiteY51" fmla="*/ 17231 h 18101"/>
                    <a:gd name="connsiteX52" fmla="*/ 17257 w 20105"/>
                    <a:gd name="connsiteY52" fmla="*/ 13680 h 18101"/>
                    <a:gd name="connsiteX53" fmla="*/ 17257 w 20105"/>
                    <a:gd name="connsiteY53" fmla="*/ 5572 h 18101"/>
                    <a:gd name="connsiteX54" fmla="*/ 17286 w 20105"/>
                    <a:gd name="connsiteY54" fmla="*/ 5359 h 18101"/>
                    <a:gd name="connsiteX55" fmla="*/ 17257 w 20105"/>
                    <a:gd name="connsiteY55" fmla="*/ 13680 h 18101"/>
                    <a:gd name="connsiteX0" fmla="*/ 3186 w 22230"/>
                    <a:gd name="connsiteY0" fmla="*/ 13832 h 22445"/>
                    <a:gd name="connsiteX1" fmla="*/ 8911 w 22230"/>
                    <a:gd name="connsiteY1" fmla="*/ 13832 h 22445"/>
                    <a:gd name="connsiteX2" fmla="*/ 6063 w 22230"/>
                    <a:gd name="connsiteY2" fmla="*/ 9801 h 22445"/>
                    <a:gd name="connsiteX3" fmla="*/ 3186 w 22230"/>
                    <a:gd name="connsiteY3" fmla="*/ 13832 h 22445"/>
                    <a:gd name="connsiteX4" fmla="*/ 5019 w 22230"/>
                    <a:gd name="connsiteY4" fmla="*/ 12962 h 22445"/>
                    <a:gd name="connsiteX5" fmla="*/ 6063 w 22230"/>
                    <a:gd name="connsiteY5" fmla="*/ 11519 h 22445"/>
                    <a:gd name="connsiteX6" fmla="*/ 7078 w 22230"/>
                    <a:gd name="connsiteY6" fmla="*/ 12962 h 22445"/>
                    <a:gd name="connsiteX7" fmla="*/ 5019 w 22230"/>
                    <a:gd name="connsiteY7" fmla="*/ 12962 h 22445"/>
                    <a:gd name="connsiteX8" fmla="*/ 3722 w 22230"/>
                    <a:gd name="connsiteY8" fmla="*/ 19399 h 22445"/>
                    <a:gd name="connsiteX9" fmla="*/ 8544 w 22230"/>
                    <a:gd name="connsiteY9" fmla="*/ 19399 h 22445"/>
                    <a:gd name="connsiteX10" fmla="*/ 8544 w 22230"/>
                    <a:gd name="connsiteY10" fmla="*/ 15505 h 22445"/>
                    <a:gd name="connsiteX11" fmla="*/ 3722 w 22230"/>
                    <a:gd name="connsiteY11" fmla="*/ 15505 h 22445"/>
                    <a:gd name="connsiteX12" fmla="*/ 3722 w 22230"/>
                    <a:gd name="connsiteY12" fmla="*/ 19399 h 22445"/>
                    <a:gd name="connsiteX13" fmla="*/ 4794 w 22230"/>
                    <a:gd name="connsiteY13" fmla="*/ 16375 h 22445"/>
                    <a:gd name="connsiteX14" fmla="*/ 7473 w 22230"/>
                    <a:gd name="connsiteY14" fmla="*/ 16375 h 22445"/>
                    <a:gd name="connsiteX15" fmla="*/ 7473 w 22230"/>
                    <a:gd name="connsiteY15" fmla="*/ 18528 h 22445"/>
                    <a:gd name="connsiteX16" fmla="*/ 4794 w 22230"/>
                    <a:gd name="connsiteY16" fmla="*/ 18528 h 22445"/>
                    <a:gd name="connsiteX17" fmla="*/ 4794 w 22230"/>
                    <a:gd name="connsiteY17" fmla="*/ 16375 h 22445"/>
                    <a:gd name="connsiteX18" fmla="*/ 11731 w 22230"/>
                    <a:gd name="connsiteY18" fmla="*/ 12962 h 22445"/>
                    <a:gd name="connsiteX19" fmla="*/ 9334 w 22230"/>
                    <a:gd name="connsiteY19" fmla="*/ 14932 h 22445"/>
                    <a:gd name="connsiteX20" fmla="*/ 11731 w 22230"/>
                    <a:gd name="connsiteY20" fmla="*/ 16879 h 22445"/>
                    <a:gd name="connsiteX21" fmla="*/ 14127 w 22230"/>
                    <a:gd name="connsiteY21" fmla="*/ 14932 h 22445"/>
                    <a:gd name="connsiteX22" fmla="*/ 11731 w 22230"/>
                    <a:gd name="connsiteY22" fmla="*/ 12962 h 22445"/>
                    <a:gd name="connsiteX23" fmla="*/ 11731 w 22230"/>
                    <a:gd name="connsiteY23" fmla="*/ 16009 h 22445"/>
                    <a:gd name="connsiteX24" fmla="*/ 10405 w 22230"/>
                    <a:gd name="connsiteY24" fmla="*/ 14932 h 22445"/>
                    <a:gd name="connsiteX25" fmla="*/ 11731 w 22230"/>
                    <a:gd name="connsiteY25" fmla="*/ 13832 h 22445"/>
                    <a:gd name="connsiteX26" fmla="*/ 13084 w 22230"/>
                    <a:gd name="connsiteY26" fmla="*/ 14932 h 22445"/>
                    <a:gd name="connsiteX27" fmla="*/ 11731 w 22230"/>
                    <a:gd name="connsiteY27" fmla="*/ 16009 h 22445"/>
                    <a:gd name="connsiteX28" fmla="*/ 17257 w 22230"/>
                    <a:gd name="connsiteY28" fmla="*/ 18895 h 22445"/>
                    <a:gd name="connsiteX29" fmla="*/ 17306 w 22230"/>
                    <a:gd name="connsiteY29" fmla="*/ 4344 h 22445"/>
                    <a:gd name="connsiteX30" fmla="*/ 4343 w 22230"/>
                    <a:gd name="connsiteY30" fmla="*/ 4372 h 22445"/>
                    <a:gd name="connsiteX31" fmla="*/ 0 w 22230"/>
                    <a:gd name="connsiteY31" fmla="*/ 4372 h 22445"/>
                    <a:gd name="connsiteX32" fmla="*/ 0 w 22230"/>
                    <a:gd name="connsiteY32" fmla="*/ 22445 h 22445"/>
                    <a:gd name="connsiteX33" fmla="*/ 17257 w 22230"/>
                    <a:gd name="connsiteY33" fmla="*/ 22445 h 22445"/>
                    <a:gd name="connsiteX34" fmla="*/ 17257 w 22230"/>
                    <a:gd name="connsiteY34" fmla="*/ 18895 h 22445"/>
                    <a:gd name="connsiteX35" fmla="*/ 14409 w 22230"/>
                    <a:gd name="connsiteY35" fmla="*/ 6388 h 22445"/>
                    <a:gd name="connsiteX36" fmla="*/ 20105 w 22230"/>
                    <a:gd name="connsiteY36" fmla="*/ 6388 h 22445"/>
                    <a:gd name="connsiteX37" fmla="*/ 14409 w 22230"/>
                    <a:gd name="connsiteY37" fmla="*/ 6388 h 22445"/>
                    <a:gd name="connsiteX38" fmla="*/ 10095 w 22230"/>
                    <a:gd name="connsiteY38" fmla="*/ 4372 h 22445"/>
                    <a:gd name="connsiteX39" fmla="*/ 22230 w 22230"/>
                    <a:gd name="connsiteY39" fmla="*/ 0 h 22445"/>
                    <a:gd name="connsiteX40" fmla="*/ 10095 w 22230"/>
                    <a:gd name="connsiteY40" fmla="*/ 4372 h 22445"/>
                    <a:gd name="connsiteX41" fmla="*/ 10067 w 22230"/>
                    <a:gd name="connsiteY41" fmla="*/ 5541 h 22445"/>
                    <a:gd name="connsiteX42" fmla="*/ 15735 w 22230"/>
                    <a:gd name="connsiteY42" fmla="*/ 9939 h 22445"/>
                    <a:gd name="connsiteX43" fmla="*/ 10067 w 22230"/>
                    <a:gd name="connsiteY43" fmla="*/ 9939 h 22445"/>
                    <a:gd name="connsiteX44" fmla="*/ 10067 w 22230"/>
                    <a:gd name="connsiteY44" fmla="*/ 5541 h 22445"/>
                    <a:gd name="connsiteX45" fmla="*/ 1072 w 22230"/>
                    <a:gd name="connsiteY45" fmla="*/ 21575 h 22445"/>
                    <a:gd name="connsiteX46" fmla="*/ 1072 w 22230"/>
                    <a:gd name="connsiteY46" fmla="*/ 5243 h 22445"/>
                    <a:gd name="connsiteX47" fmla="*/ 8995 w 22230"/>
                    <a:gd name="connsiteY47" fmla="*/ 5243 h 22445"/>
                    <a:gd name="connsiteX48" fmla="*/ 8995 w 22230"/>
                    <a:gd name="connsiteY48" fmla="*/ 10809 h 22445"/>
                    <a:gd name="connsiteX49" fmla="*/ 16186 w 22230"/>
                    <a:gd name="connsiteY49" fmla="*/ 10809 h 22445"/>
                    <a:gd name="connsiteX50" fmla="*/ 16186 w 22230"/>
                    <a:gd name="connsiteY50" fmla="*/ 21575 h 22445"/>
                    <a:gd name="connsiteX51" fmla="*/ 1072 w 22230"/>
                    <a:gd name="connsiteY51" fmla="*/ 21575 h 22445"/>
                    <a:gd name="connsiteX52" fmla="*/ 17257 w 22230"/>
                    <a:gd name="connsiteY52" fmla="*/ 18024 h 22445"/>
                    <a:gd name="connsiteX53" fmla="*/ 17257 w 22230"/>
                    <a:gd name="connsiteY53" fmla="*/ 9916 h 22445"/>
                    <a:gd name="connsiteX54" fmla="*/ 17286 w 22230"/>
                    <a:gd name="connsiteY54" fmla="*/ 9703 h 22445"/>
                    <a:gd name="connsiteX55" fmla="*/ 17257 w 22230"/>
                    <a:gd name="connsiteY55" fmla="*/ 18024 h 22445"/>
                    <a:gd name="connsiteX0" fmla="*/ 3186 w 20105"/>
                    <a:gd name="connsiteY0" fmla="*/ 9488 h 18101"/>
                    <a:gd name="connsiteX1" fmla="*/ 8911 w 20105"/>
                    <a:gd name="connsiteY1" fmla="*/ 9488 h 18101"/>
                    <a:gd name="connsiteX2" fmla="*/ 6063 w 20105"/>
                    <a:gd name="connsiteY2" fmla="*/ 5457 h 18101"/>
                    <a:gd name="connsiteX3" fmla="*/ 3186 w 20105"/>
                    <a:gd name="connsiteY3" fmla="*/ 9488 h 18101"/>
                    <a:gd name="connsiteX4" fmla="*/ 5019 w 20105"/>
                    <a:gd name="connsiteY4" fmla="*/ 8618 h 18101"/>
                    <a:gd name="connsiteX5" fmla="*/ 6063 w 20105"/>
                    <a:gd name="connsiteY5" fmla="*/ 7175 h 18101"/>
                    <a:gd name="connsiteX6" fmla="*/ 7078 w 20105"/>
                    <a:gd name="connsiteY6" fmla="*/ 8618 h 18101"/>
                    <a:gd name="connsiteX7" fmla="*/ 5019 w 20105"/>
                    <a:gd name="connsiteY7" fmla="*/ 8618 h 18101"/>
                    <a:gd name="connsiteX8" fmla="*/ 3722 w 20105"/>
                    <a:gd name="connsiteY8" fmla="*/ 15055 h 18101"/>
                    <a:gd name="connsiteX9" fmla="*/ 8544 w 20105"/>
                    <a:gd name="connsiteY9" fmla="*/ 15055 h 18101"/>
                    <a:gd name="connsiteX10" fmla="*/ 8544 w 20105"/>
                    <a:gd name="connsiteY10" fmla="*/ 11161 h 18101"/>
                    <a:gd name="connsiteX11" fmla="*/ 3722 w 20105"/>
                    <a:gd name="connsiteY11" fmla="*/ 11161 h 18101"/>
                    <a:gd name="connsiteX12" fmla="*/ 3722 w 20105"/>
                    <a:gd name="connsiteY12" fmla="*/ 15055 h 18101"/>
                    <a:gd name="connsiteX13" fmla="*/ 4794 w 20105"/>
                    <a:gd name="connsiteY13" fmla="*/ 12031 h 18101"/>
                    <a:gd name="connsiteX14" fmla="*/ 7473 w 20105"/>
                    <a:gd name="connsiteY14" fmla="*/ 12031 h 18101"/>
                    <a:gd name="connsiteX15" fmla="*/ 7473 w 20105"/>
                    <a:gd name="connsiteY15" fmla="*/ 14184 h 18101"/>
                    <a:gd name="connsiteX16" fmla="*/ 4794 w 20105"/>
                    <a:gd name="connsiteY16" fmla="*/ 14184 h 18101"/>
                    <a:gd name="connsiteX17" fmla="*/ 4794 w 20105"/>
                    <a:gd name="connsiteY17" fmla="*/ 12031 h 18101"/>
                    <a:gd name="connsiteX18" fmla="*/ 11731 w 20105"/>
                    <a:gd name="connsiteY18" fmla="*/ 8618 h 18101"/>
                    <a:gd name="connsiteX19" fmla="*/ 9334 w 20105"/>
                    <a:gd name="connsiteY19" fmla="*/ 10588 h 18101"/>
                    <a:gd name="connsiteX20" fmla="*/ 11731 w 20105"/>
                    <a:gd name="connsiteY20" fmla="*/ 12535 h 18101"/>
                    <a:gd name="connsiteX21" fmla="*/ 14127 w 20105"/>
                    <a:gd name="connsiteY21" fmla="*/ 10588 h 18101"/>
                    <a:gd name="connsiteX22" fmla="*/ 11731 w 20105"/>
                    <a:gd name="connsiteY22" fmla="*/ 8618 h 18101"/>
                    <a:gd name="connsiteX23" fmla="*/ 11731 w 20105"/>
                    <a:gd name="connsiteY23" fmla="*/ 11665 h 18101"/>
                    <a:gd name="connsiteX24" fmla="*/ 10405 w 20105"/>
                    <a:gd name="connsiteY24" fmla="*/ 10588 h 18101"/>
                    <a:gd name="connsiteX25" fmla="*/ 11731 w 20105"/>
                    <a:gd name="connsiteY25" fmla="*/ 9488 h 18101"/>
                    <a:gd name="connsiteX26" fmla="*/ 13084 w 20105"/>
                    <a:gd name="connsiteY26" fmla="*/ 10588 h 18101"/>
                    <a:gd name="connsiteX27" fmla="*/ 11731 w 20105"/>
                    <a:gd name="connsiteY27" fmla="*/ 11665 h 18101"/>
                    <a:gd name="connsiteX28" fmla="*/ 17257 w 20105"/>
                    <a:gd name="connsiteY28" fmla="*/ 14551 h 18101"/>
                    <a:gd name="connsiteX29" fmla="*/ 17306 w 20105"/>
                    <a:gd name="connsiteY29" fmla="*/ 0 h 18101"/>
                    <a:gd name="connsiteX30" fmla="*/ 4343 w 20105"/>
                    <a:gd name="connsiteY30" fmla="*/ 28 h 18101"/>
                    <a:gd name="connsiteX31" fmla="*/ 0 w 20105"/>
                    <a:gd name="connsiteY31" fmla="*/ 28 h 18101"/>
                    <a:gd name="connsiteX32" fmla="*/ 0 w 20105"/>
                    <a:gd name="connsiteY32" fmla="*/ 18101 h 18101"/>
                    <a:gd name="connsiteX33" fmla="*/ 17257 w 20105"/>
                    <a:gd name="connsiteY33" fmla="*/ 18101 h 18101"/>
                    <a:gd name="connsiteX34" fmla="*/ 17257 w 20105"/>
                    <a:gd name="connsiteY34" fmla="*/ 14551 h 18101"/>
                    <a:gd name="connsiteX35" fmla="*/ 14409 w 20105"/>
                    <a:gd name="connsiteY35" fmla="*/ 2044 h 18101"/>
                    <a:gd name="connsiteX36" fmla="*/ 20105 w 20105"/>
                    <a:gd name="connsiteY36" fmla="*/ 2044 h 18101"/>
                    <a:gd name="connsiteX37" fmla="*/ 14409 w 20105"/>
                    <a:gd name="connsiteY37" fmla="*/ 2044 h 18101"/>
                    <a:gd name="connsiteX38" fmla="*/ 10067 w 20105"/>
                    <a:gd name="connsiteY38" fmla="*/ 1197 h 18101"/>
                    <a:gd name="connsiteX39" fmla="*/ 15735 w 20105"/>
                    <a:gd name="connsiteY39" fmla="*/ 5595 h 18101"/>
                    <a:gd name="connsiteX40" fmla="*/ 10067 w 20105"/>
                    <a:gd name="connsiteY40" fmla="*/ 5595 h 18101"/>
                    <a:gd name="connsiteX41" fmla="*/ 10067 w 20105"/>
                    <a:gd name="connsiteY41" fmla="*/ 1197 h 18101"/>
                    <a:gd name="connsiteX42" fmla="*/ 1072 w 20105"/>
                    <a:gd name="connsiteY42" fmla="*/ 17231 h 18101"/>
                    <a:gd name="connsiteX43" fmla="*/ 1072 w 20105"/>
                    <a:gd name="connsiteY43" fmla="*/ 899 h 18101"/>
                    <a:gd name="connsiteX44" fmla="*/ 8995 w 20105"/>
                    <a:gd name="connsiteY44" fmla="*/ 899 h 18101"/>
                    <a:gd name="connsiteX45" fmla="*/ 8995 w 20105"/>
                    <a:gd name="connsiteY45" fmla="*/ 6465 h 18101"/>
                    <a:gd name="connsiteX46" fmla="*/ 16186 w 20105"/>
                    <a:gd name="connsiteY46" fmla="*/ 6465 h 18101"/>
                    <a:gd name="connsiteX47" fmla="*/ 16186 w 20105"/>
                    <a:gd name="connsiteY47" fmla="*/ 17231 h 18101"/>
                    <a:gd name="connsiteX48" fmla="*/ 1072 w 20105"/>
                    <a:gd name="connsiteY48" fmla="*/ 17231 h 18101"/>
                    <a:gd name="connsiteX49" fmla="*/ 17257 w 20105"/>
                    <a:gd name="connsiteY49" fmla="*/ 13680 h 18101"/>
                    <a:gd name="connsiteX50" fmla="*/ 17257 w 20105"/>
                    <a:gd name="connsiteY50" fmla="*/ 5572 h 18101"/>
                    <a:gd name="connsiteX51" fmla="*/ 17286 w 20105"/>
                    <a:gd name="connsiteY51" fmla="*/ 5359 h 18101"/>
                    <a:gd name="connsiteX52" fmla="*/ 17257 w 20105"/>
                    <a:gd name="connsiteY52" fmla="*/ 13680 h 18101"/>
                    <a:gd name="connsiteX0" fmla="*/ 3186 w 17306"/>
                    <a:gd name="connsiteY0" fmla="*/ 9488 h 18101"/>
                    <a:gd name="connsiteX1" fmla="*/ 8911 w 17306"/>
                    <a:gd name="connsiteY1" fmla="*/ 9488 h 18101"/>
                    <a:gd name="connsiteX2" fmla="*/ 6063 w 17306"/>
                    <a:gd name="connsiteY2" fmla="*/ 5457 h 18101"/>
                    <a:gd name="connsiteX3" fmla="*/ 3186 w 17306"/>
                    <a:gd name="connsiteY3" fmla="*/ 9488 h 18101"/>
                    <a:gd name="connsiteX4" fmla="*/ 5019 w 17306"/>
                    <a:gd name="connsiteY4" fmla="*/ 8618 h 18101"/>
                    <a:gd name="connsiteX5" fmla="*/ 6063 w 17306"/>
                    <a:gd name="connsiteY5" fmla="*/ 7175 h 18101"/>
                    <a:gd name="connsiteX6" fmla="*/ 7078 w 17306"/>
                    <a:gd name="connsiteY6" fmla="*/ 8618 h 18101"/>
                    <a:gd name="connsiteX7" fmla="*/ 5019 w 17306"/>
                    <a:gd name="connsiteY7" fmla="*/ 8618 h 18101"/>
                    <a:gd name="connsiteX8" fmla="*/ 3722 w 17306"/>
                    <a:gd name="connsiteY8" fmla="*/ 15055 h 18101"/>
                    <a:gd name="connsiteX9" fmla="*/ 8544 w 17306"/>
                    <a:gd name="connsiteY9" fmla="*/ 15055 h 18101"/>
                    <a:gd name="connsiteX10" fmla="*/ 8544 w 17306"/>
                    <a:gd name="connsiteY10" fmla="*/ 11161 h 18101"/>
                    <a:gd name="connsiteX11" fmla="*/ 3722 w 17306"/>
                    <a:gd name="connsiteY11" fmla="*/ 11161 h 18101"/>
                    <a:gd name="connsiteX12" fmla="*/ 3722 w 17306"/>
                    <a:gd name="connsiteY12" fmla="*/ 15055 h 18101"/>
                    <a:gd name="connsiteX13" fmla="*/ 4794 w 17306"/>
                    <a:gd name="connsiteY13" fmla="*/ 12031 h 18101"/>
                    <a:gd name="connsiteX14" fmla="*/ 7473 w 17306"/>
                    <a:gd name="connsiteY14" fmla="*/ 12031 h 18101"/>
                    <a:gd name="connsiteX15" fmla="*/ 7473 w 17306"/>
                    <a:gd name="connsiteY15" fmla="*/ 14184 h 18101"/>
                    <a:gd name="connsiteX16" fmla="*/ 4794 w 17306"/>
                    <a:gd name="connsiteY16" fmla="*/ 14184 h 18101"/>
                    <a:gd name="connsiteX17" fmla="*/ 4794 w 17306"/>
                    <a:gd name="connsiteY17" fmla="*/ 12031 h 18101"/>
                    <a:gd name="connsiteX18" fmla="*/ 11731 w 17306"/>
                    <a:gd name="connsiteY18" fmla="*/ 8618 h 18101"/>
                    <a:gd name="connsiteX19" fmla="*/ 9334 w 17306"/>
                    <a:gd name="connsiteY19" fmla="*/ 10588 h 18101"/>
                    <a:gd name="connsiteX20" fmla="*/ 11731 w 17306"/>
                    <a:gd name="connsiteY20" fmla="*/ 12535 h 18101"/>
                    <a:gd name="connsiteX21" fmla="*/ 14127 w 17306"/>
                    <a:gd name="connsiteY21" fmla="*/ 10588 h 18101"/>
                    <a:gd name="connsiteX22" fmla="*/ 11731 w 17306"/>
                    <a:gd name="connsiteY22" fmla="*/ 8618 h 18101"/>
                    <a:gd name="connsiteX23" fmla="*/ 11731 w 17306"/>
                    <a:gd name="connsiteY23" fmla="*/ 11665 h 18101"/>
                    <a:gd name="connsiteX24" fmla="*/ 10405 w 17306"/>
                    <a:gd name="connsiteY24" fmla="*/ 10588 h 18101"/>
                    <a:gd name="connsiteX25" fmla="*/ 11731 w 17306"/>
                    <a:gd name="connsiteY25" fmla="*/ 9488 h 18101"/>
                    <a:gd name="connsiteX26" fmla="*/ 13084 w 17306"/>
                    <a:gd name="connsiteY26" fmla="*/ 10588 h 18101"/>
                    <a:gd name="connsiteX27" fmla="*/ 11731 w 17306"/>
                    <a:gd name="connsiteY27" fmla="*/ 11665 h 18101"/>
                    <a:gd name="connsiteX28" fmla="*/ 17257 w 17306"/>
                    <a:gd name="connsiteY28" fmla="*/ 14551 h 18101"/>
                    <a:gd name="connsiteX29" fmla="*/ 17306 w 17306"/>
                    <a:gd name="connsiteY29" fmla="*/ 0 h 18101"/>
                    <a:gd name="connsiteX30" fmla="*/ 4343 w 17306"/>
                    <a:gd name="connsiteY30" fmla="*/ 28 h 18101"/>
                    <a:gd name="connsiteX31" fmla="*/ 0 w 17306"/>
                    <a:gd name="connsiteY31" fmla="*/ 28 h 18101"/>
                    <a:gd name="connsiteX32" fmla="*/ 0 w 17306"/>
                    <a:gd name="connsiteY32" fmla="*/ 18101 h 18101"/>
                    <a:gd name="connsiteX33" fmla="*/ 17257 w 17306"/>
                    <a:gd name="connsiteY33" fmla="*/ 18101 h 18101"/>
                    <a:gd name="connsiteX34" fmla="*/ 17257 w 17306"/>
                    <a:gd name="connsiteY34" fmla="*/ 14551 h 18101"/>
                    <a:gd name="connsiteX35" fmla="*/ 10067 w 17306"/>
                    <a:gd name="connsiteY35" fmla="*/ 1197 h 18101"/>
                    <a:gd name="connsiteX36" fmla="*/ 15735 w 17306"/>
                    <a:gd name="connsiteY36" fmla="*/ 5595 h 18101"/>
                    <a:gd name="connsiteX37" fmla="*/ 10067 w 17306"/>
                    <a:gd name="connsiteY37" fmla="*/ 5595 h 18101"/>
                    <a:gd name="connsiteX38" fmla="*/ 10067 w 17306"/>
                    <a:gd name="connsiteY38" fmla="*/ 1197 h 18101"/>
                    <a:gd name="connsiteX39" fmla="*/ 1072 w 17306"/>
                    <a:gd name="connsiteY39" fmla="*/ 17231 h 18101"/>
                    <a:gd name="connsiteX40" fmla="*/ 1072 w 17306"/>
                    <a:gd name="connsiteY40" fmla="*/ 899 h 18101"/>
                    <a:gd name="connsiteX41" fmla="*/ 8995 w 17306"/>
                    <a:gd name="connsiteY41" fmla="*/ 899 h 18101"/>
                    <a:gd name="connsiteX42" fmla="*/ 8995 w 17306"/>
                    <a:gd name="connsiteY42" fmla="*/ 6465 h 18101"/>
                    <a:gd name="connsiteX43" fmla="*/ 16186 w 17306"/>
                    <a:gd name="connsiteY43" fmla="*/ 6465 h 18101"/>
                    <a:gd name="connsiteX44" fmla="*/ 16186 w 17306"/>
                    <a:gd name="connsiteY44" fmla="*/ 17231 h 18101"/>
                    <a:gd name="connsiteX45" fmla="*/ 1072 w 17306"/>
                    <a:gd name="connsiteY45" fmla="*/ 17231 h 18101"/>
                    <a:gd name="connsiteX46" fmla="*/ 17257 w 17306"/>
                    <a:gd name="connsiteY46" fmla="*/ 13680 h 18101"/>
                    <a:gd name="connsiteX47" fmla="*/ 17257 w 17306"/>
                    <a:gd name="connsiteY47" fmla="*/ 5572 h 18101"/>
                    <a:gd name="connsiteX48" fmla="*/ 17286 w 17306"/>
                    <a:gd name="connsiteY48" fmla="*/ 5359 h 18101"/>
                    <a:gd name="connsiteX49" fmla="*/ 17257 w 17306"/>
                    <a:gd name="connsiteY49" fmla="*/ 13680 h 18101"/>
                    <a:gd name="connsiteX0" fmla="*/ 3186 w 17306"/>
                    <a:gd name="connsiteY0" fmla="*/ 9551 h 18164"/>
                    <a:gd name="connsiteX1" fmla="*/ 8911 w 17306"/>
                    <a:gd name="connsiteY1" fmla="*/ 9551 h 18164"/>
                    <a:gd name="connsiteX2" fmla="*/ 6063 w 17306"/>
                    <a:gd name="connsiteY2" fmla="*/ 5520 h 18164"/>
                    <a:gd name="connsiteX3" fmla="*/ 3186 w 17306"/>
                    <a:gd name="connsiteY3" fmla="*/ 9551 h 18164"/>
                    <a:gd name="connsiteX4" fmla="*/ 5019 w 17306"/>
                    <a:gd name="connsiteY4" fmla="*/ 8681 h 18164"/>
                    <a:gd name="connsiteX5" fmla="*/ 6063 w 17306"/>
                    <a:gd name="connsiteY5" fmla="*/ 7238 h 18164"/>
                    <a:gd name="connsiteX6" fmla="*/ 7078 w 17306"/>
                    <a:gd name="connsiteY6" fmla="*/ 8681 h 18164"/>
                    <a:gd name="connsiteX7" fmla="*/ 5019 w 17306"/>
                    <a:gd name="connsiteY7" fmla="*/ 8681 h 18164"/>
                    <a:gd name="connsiteX8" fmla="*/ 3722 w 17306"/>
                    <a:gd name="connsiteY8" fmla="*/ 15118 h 18164"/>
                    <a:gd name="connsiteX9" fmla="*/ 8544 w 17306"/>
                    <a:gd name="connsiteY9" fmla="*/ 15118 h 18164"/>
                    <a:gd name="connsiteX10" fmla="*/ 8544 w 17306"/>
                    <a:gd name="connsiteY10" fmla="*/ 11224 h 18164"/>
                    <a:gd name="connsiteX11" fmla="*/ 3722 w 17306"/>
                    <a:gd name="connsiteY11" fmla="*/ 11224 h 18164"/>
                    <a:gd name="connsiteX12" fmla="*/ 3722 w 17306"/>
                    <a:gd name="connsiteY12" fmla="*/ 15118 h 18164"/>
                    <a:gd name="connsiteX13" fmla="*/ 4794 w 17306"/>
                    <a:gd name="connsiteY13" fmla="*/ 12094 h 18164"/>
                    <a:gd name="connsiteX14" fmla="*/ 7473 w 17306"/>
                    <a:gd name="connsiteY14" fmla="*/ 12094 h 18164"/>
                    <a:gd name="connsiteX15" fmla="*/ 7473 w 17306"/>
                    <a:gd name="connsiteY15" fmla="*/ 14247 h 18164"/>
                    <a:gd name="connsiteX16" fmla="*/ 4794 w 17306"/>
                    <a:gd name="connsiteY16" fmla="*/ 14247 h 18164"/>
                    <a:gd name="connsiteX17" fmla="*/ 4794 w 17306"/>
                    <a:gd name="connsiteY17" fmla="*/ 12094 h 18164"/>
                    <a:gd name="connsiteX18" fmla="*/ 11731 w 17306"/>
                    <a:gd name="connsiteY18" fmla="*/ 8681 h 18164"/>
                    <a:gd name="connsiteX19" fmla="*/ 9334 w 17306"/>
                    <a:gd name="connsiteY19" fmla="*/ 10651 h 18164"/>
                    <a:gd name="connsiteX20" fmla="*/ 11731 w 17306"/>
                    <a:gd name="connsiteY20" fmla="*/ 12598 h 18164"/>
                    <a:gd name="connsiteX21" fmla="*/ 14127 w 17306"/>
                    <a:gd name="connsiteY21" fmla="*/ 10651 h 18164"/>
                    <a:gd name="connsiteX22" fmla="*/ 11731 w 17306"/>
                    <a:gd name="connsiteY22" fmla="*/ 8681 h 18164"/>
                    <a:gd name="connsiteX23" fmla="*/ 11731 w 17306"/>
                    <a:gd name="connsiteY23" fmla="*/ 11728 h 18164"/>
                    <a:gd name="connsiteX24" fmla="*/ 10405 w 17306"/>
                    <a:gd name="connsiteY24" fmla="*/ 10651 h 18164"/>
                    <a:gd name="connsiteX25" fmla="*/ 11731 w 17306"/>
                    <a:gd name="connsiteY25" fmla="*/ 9551 h 18164"/>
                    <a:gd name="connsiteX26" fmla="*/ 13084 w 17306"/>
                    <a:gd name="connsiteY26" fmla="*/ 10651 h 18164"/>
                    <a:gd name="connsiteX27" fmla="*/ 11731 w 17306"/>
                    <a:gd name="connsiteY27" fmla="*/ 11728 h 18164"/>
                    <a:gd name="connsiteX28" fmla="*/ 17257 w 17306"/>
                    <a:gd name="connsiteY28" fmla="*/ 14614 h 18164"/>
                    <a:gd name="connsiteX29" fmla="*/ 17306 w 17306"/>
                    <a:gd name="connsiteY29" fmla="*/ 63 h 18164"/>
                    <a:gd name="connsiteX30" fmla="*/ 10060 w 17306"/>
                    <a:gd name="connsiteY30" fmla="*/ 0 h 18164"/>
                    <a:gd name="connsiteX31" fmla="*/ 4343 w 17306"/>
                    <a:gd name="connsiteY31" fmla="*/ 91 h 18164"/>
                    <a:gd name="connsiteX32" fmla="*/ 0 w 17306"/>
                    <a:gd name="connsiteY32" fmla="*/ 91 h 18164"/>
                    <a:gd name="connsiteX33" fmla="*/ 0 w 17306"/>
                    <a:gd name="connsiteY33" fmla="*/ 18164 h 18164"/>
                    <a:gd name="connsiteX34" fmla="*/ 17257 w 17306"/>
                    <a:gd name="connsiteY34" fmla="*/ 18164 h 18164"/>
                    <a:gd name="connsiteX35" fmla="*/ 17257 w 17306"/>
                    <a:gd name="connsiteY35" fmla="*/ 14614 h 18164"/>
                    <a:gd name="connsiteX36" fmla="*/ 10067 w 17306"/>
                    <a:gd name="connsiteY36" fmla="*/ 1260 h 18164"/>
                    <a:gd name="connsiteX37" fmla="*/ 15735 w 17306"/>
                    <a:gd name="connsiteY37" fmla="*/ 5658 h 18164"/>
                    <a:gd name="connsiteX38" fmla="*/ 10067 w 17306"/>
                    <a:gd name="connsiteY38" fmla="*/ 5658 h 18164"/>
                    <a:gd name="connsiteX39" fmla="*/ 10067 w 17306"/>
                    <a:gd name="connsiteY39" fmla="*/ 1260 h 18164"/>
                    <a:gd name="connsiteX40" fmla="*/ 1072 w 17306"/>
                    <a:gd name="connsiteY40" fmla="*/ 17294 h 18164"/>
                    <a:gd name="connsiteX41" fmla="*/ 1072 w 17306"/>
                    <a:gd name="connsiteY41" fmla="*/ 962 h 18164"/>
                    <a:gd name="connsiteX42" fmla="*/ 8995 w 17306"/>
                    <a:gd name="connsiteY42" fmla="*/ 962 h 18164"/>
                    <a:gd name="connsiteX43" fmla="*/ 8995 w 17306"/>
                    <a:gd name="connsiteY43" fmla="*/ 6528 h 18164"/>
                    <a:gd name="connsiteX44" fmla="*/ 16186 w 17306"/>
                    <a:gd name="connsiteY44" fmla="*/ 6528 h 18164"/>
                    <a:gd name="connsiteX45" fmla="*/ 16186 w 17306"/>
                    <a:gd name="connsiteY45" fmla="*/ 17294 h 18164"/>
                    <a:gd name="connsiteX46" fmla="*/ 1072 w 17306"/>
                    <a:gd name="connsiteY46" fmla="*/ 17294 h 18164"/>
                    <a:gd name="connsiteX47" fmla="*/ 17257 w 17306"/>
                    <a:gd name="connsiteY47" fmla="*/ 13743 h 18164"/>
                    <a:gd name="connsiteX48" fmla="*/ 17257 w 17306"/>
                    <a:gd name="connsiteY48" fmla="*/ 5635 h 18164"/>
                    <a:gd name="connsiteX49" fmla="*/ 17286 w 17306"/>
                    <a:gd name="connsiteY49" fmla="*/ 5422 h 18164"/>
                    <a:gd name="connsiteX50" fmla="*/ 17257 w 17306"/>
                    <a:gd name="connsiteY50" fmla="*/ 13743 h 18164"/>
                    <a:gd name="connsiteX0" fmla="*/ 3186 w 17306"/>
                    <a:gd name="connsiteY0" fmla="*/ 9551 h 18164"/>
                    <a:gd name="connsiteX1" fmla="*/ 8911 w 17306"/>
                    <a:gd name="connsiteY1" fmla="*/ 9551 h 18164"/>
                    <a:gd name="connsiteX2" fmla="*/ 6063 w 17306"/>
                    <a:gd name="connsiteY2" fmla="*/ 5520 h 18164"/>
                    <a:gd name="connsiteX3" fmla="*/ 3186 w 17306"/>
                    <a:gd name="connsiteY3" fmla="*/ 9551 h 18164"/>
                    <a:gd name="connsiteX4" fmla="*/ 5019 w 17306"/>
                    <a:gd name="connsiteY4" fmla="*/ 8681 h 18164"/>
                    <a:gd name="connsiteX5" fmla="*/ 6063 w 17306"/>
                    <a:gd name="connsiteY5" fmla="*/ 7238 h 18164"/>
                    <a:gd name="connsiteX6" fmla="*/ 7078 w 17306"/>
                    <a:gd name="connsiteY6" fmla="*/ 8681 h 18164"/>
                    <a:gd name="connsiteX7" fmla="*/ 5019 w 17306"/>
                    <a:gd name="connsiteY7" fmla="*/ 8681 h 18164"/>
                    <a:gd name="connsiteX8" fmla="*/ 3722 w 17306"/>
                    <a:gd name="connsiteY8" fmla="*/ 15118 h 18164"/>
                    <a:gd name="connsiteX9" fmla="*/ 8544 w 17306"/>
                    <a:gd name="connsiteY9" fmla="*/ 15118 h 18164"/>
                    <a:gd name="connsiteX10" fmla="*/ 8544 w 17306"/>
                    <a:gd name="connsiteY10" fmla="*/ 11224 h 18164"/>
                    <a:gd name="connsiteX11" fmla="*/ 3722 w 17306"/>
                    <a:gd name="connsiteY11" fmla="*/ 11224 h 18164"/>
                    <a:gd name="connsiteX12" fmla="*/ 3722 w 17306"/>
                    <a:gd name="connsiteY12" fmla="*/ 15118 h 18164"/>
                    <a:gd name="connsiteX13" fmla="*/ 4794 w 17306"/>
                    <a:gd name="connsiteY13" fmla="*/ 12094 h 18164"/>
                    <a:gd name="connsiteX14" fmla="*/ 7473 w 17306"/>
                    <a:gd name="connsiteY14" fmla="*/ 12094 h 18164"/>
                    <a:gd name="connsiteX15" fmla="*/ 7473 w 17306"/>
                    <a:gd name="connsiteY15" fmla="*/ 14247 h 18164"/>
                    <a:gd name="connsiteX16" fmla="*/ 4794 w 17306"/>
                    <a:gd name="connsiteY16" fmla="*/ 14247 h 18164"/>
                    <a:gd name="connsiteX17" fmla="*/ 4794 w 17306"/>
                    <a:gd name="connsiteY17" fmla="*/ 12094 h 18164"/>
                    <a:gd name="connsiteX18" fmla="*/ 11731 w 17306"/>
                    <a:gd name="connsiteY18" fmla="*/ 8681 h 18164"/>
                    <a:gd name="connsiteX19" fmla="*/ 9334 w 17306"/>
                    <a:gd name="connsiteY19" fmla="*/ 10651 h 18164"/>
                    <a:gd name="connsiteX20" fmla="*/ 11731 w 17306"/>
                    <a:gd name="connsiteY20" fmla="*/ 12598 h 18164"/>
                    <a:gd name="connsiteX21" fmla="*/ 14127 w 17306"/>
                    <a:gd name="connsiteY21" fmla="*/ 10651 h 18164"/>
                    <a:gd name="connsiteX22" fmla="*/ 11731 w 17306"/>
                    <a:gd name="connsiteY22" fmla="*/ 8681 h 18164"/>
                    <a:gd name="connsiteX23" fmla="*/ 11731 w 17306"/>
                    <a:gd name="connsiteY23" fmla="*/ 11728 h 18164"/>
                    <a:gd name="connsiteX24" fmla="*/ 10405 w 17306"/>
                    <a:gd name="connsiteY24" fmla="*/ 10651 h 18164"/>
                    <a:gd name="connsiteX25" fmla="*/ 11731 w 17306"/>
                    <a:gd name="connsiteY25" fmla="*/ 9551 h 18164"/>
                    <a:gd name="connsiteX26" fmla="*/ 13084 w 17306"/>
                    <a:gd name="connsiteY26" fmla="*/ 10651 h 18164"/>
                    <a:gd name="connsiteX27" fmla="*/ 11731 w 17306"/>
                    <a:gd name="connsiteY27" fmla="*/ 11728 h 18164"/>
                    <a:gd name="connsiteX28" fmla="*/ 17257 w 17306"/>
                    <a:gd name="connsiteY28" fmla="*/ 14614 h 18164"/>
                    <a:gd name="connsiteX29" fmla="*/ 17306 w 17306"/>
                    <a:gd name="connsiteY29" fmla="*/ 63 h 18164"/>
                    <a:gd name="connsiteX30" fmla="*/ 10060 w 17306"/>
                    <a:gd name="connsiteY30" fmla="*/ 0 h 18164"/>
                    <a:gd name="connsiteX31" fmla="*/ 4343 w 17306"/>
                    <a:gd name="connsiteY31" fmla="*/ 91 h 18164"/>
                    <a:gd name="connsiteX32" fmla="*/ 0 w 17306"/>
                    <a:gd name="connsiteY32" fmla="*/ 91 h 18164"/>
                    <a:gd name="connsiteX33" fmla="*/ 0 w 17306"/>
                    <a:gd name="connsiteY33" fmla="*/ 18164 h 18164"/>
                    <a:gd name="connsiteX34" fmla="*/ 17257 w 17306"/>
                    <a:gd name="connsiteY34" fmla="*/ 18164 h 18164"/>
                    <a:gd name="connsiteX35" fmla="*/ 17257 w 17306"/>
                    <a:gd name="connsiteY35" fmla="*/ 14614 h 18164"/>
                    <a:gd name="connsiteX36" fmla="*/ 10067 w 17306"/>
                    <a:gd name="connsiteY36" fmla="*/ 1260 h 18164"/>
                    <a:gd name="connsiteX37" fmla="*/ 15735 w 17306"/>
                    <a:gd name="connsiteY37" fmla="*/ 5658 h 18164"/>
                    <a:gd name="connsiteX38" fmla="*/ 10067 w 17306"/>
                    <a:gd name="connsiteY38" fmla="*/ 5658 h 18164"/>
                    <a:gd name="connsiteX39" fmla="*/ 10067 w 17306"/>
                    <a:gd name="connsiteY39" fmla="*/ 1260 h 18164"/>
                    <a:gd name="connsiteX40" fmla="*/ 1072 w 17306"/>
                    <a:gd name="connsiteY40" fmla="*/ 17294 h 18164"/>
                    <a:gd name="connsiteX41" fmla="*/ 1072 w 17306"/>
                    <a:gd name="connsiteY41" fmla="*/ 962 h 18164"/>
                    <a:gd name="connsiteX42" fmla="*/ 8995 w 17306"/>
                    <a:gd name="connsiteY42" fmla="*/ 962 h 18164"/>
                    <a:gd name="connsiteX43" fmla="*/ 8995 w 17306"/>
                    <a:gd name="connsiteY43" fmla="*/ 6528 h 18164"/>
                    <a:gd name="connsiteX44" fmla="*/ 16186 w 17306"/>
                    <a:gd name="connsiteY44" fmla="*/ 6528 h 18164"/>
                    <a:gd name="connsiteX45" fmla="*/ 16186 w 17306"/>
                    <a:gd name="connsiteY45" fmla="*/ 17294 h 18164"/>
                    <a:gd name="connsiteX46" fmla="*/ 1072 w 17306"/>
                    <a:gd name="connsiteY46" fmla="*/ 17294 h 18164"/>
                    <a:gd name="connsiteX47" fmla="*/ 17257 w 17306"/>
                    <a:gd name="connsiteY47" fmla="*/ 13743 h 18164"/>
                    <a:gd name="connsiteX48" fmla="*/ 17257 w 17306"/>
                    <a:gd name="connsiteY48" fmla="*/ 5635 h 18164"/>
                    <a:gd name="connsiteX49" fmla="*/ 17257 w 17306"/>
                    <a:gd name="connsiteY49" fmla="*/ 13743 h 18164"/>
                    <a:gd name="connsiteX0" fmla="*/ 3186 w 17306"/>
                    <a:gd name="connsiteY0" fmla="*/ 9551 h 18164"/>
                    <a:gd name="connsiteX1" fmla="*/ 8911 w 17306"/>
                    <a:gd name="connsiteY1" fmla="*/ 9551 h 18164"/>
                    <a:gd name="connsiteX2" fmla="*/ 6063 w 17306"/>
                    <a:gd name="connsiteY2" fmla="*/ 5520 h 18164"/>
                    <a:gd name="connsiteX3" fmla="*/ 3186 w 17306"/>
                    <a:gd name="connsiteY3" fmla="*/ 9551 h 18164"/>
                    <a:gd name="connsiteX4" fmla="*/ 5019 w 17306"/>
                    <a:gd name="connsiteY4" fmla="*/ 8681 h 18164"/>
                    <a:gd name="connsiteX5" fmla="*/ 6063 w 17306"/>
                    <a:gd name="connsiteY5" fmla="*/ 7238 h 18164"/>
                    <a:gd name="connsiteX6" fmla="*/ 7078 w 17306"/>
                    <a:gd name="connsiteY6" fmla="*/ 8681 h 18164"/>
                    <a:gd name="connsiteX7" fmla="*/ 5019 w 17306"/>
                    <a:gd name="connsiteY7" fmla="*/ 8681 h 18164"/>
                    <a:gd name="connsiteX8" fmla="*/ 3722 w 17306"/>
                    <a:gd name="connsiteY8" fmla="*/ 15118 h 18164"/>
                    <a:gd name="connsiteX9" fmla="*/ 8544 w 17306"/>
                    <a:gd name="connsiteY9" fmla="*/ 15118 h 18164"/>
                    <a:gd name="connsiteX10" fmla="*/ 8544 w 17306"/>
                    <a:gd name="connsiteY10" fmla="*/ 11224 h 18164"/>
                    <a:gd name="connsiteX11" fmla="*/ 3722 w 17306"/>
                    <a:gd name="connsiteY11" fmla="*/ 11224 h 18164"/>
                    <a:gd name="connsiteX12" fmla="*/ 3722 w 17306"/>
                    <a:gd name="connsiteY12" fmla="*/ 15118 h 18164"/>
                    <a:gd name="connsiteX13" fmla="*/ 4794 w 17306"/>
                    <a:gd name="connsiteY13" fmla="*/ 12094 h 18164"/>
                    <a:gd name="connsiteX14" fmla="*/ 7473 w 17306"/>
                    <a:gd name="connsiteY14" fmla="*/ 12094 h 18164"/>
                    <a:gd name="connsiteX15" fmla="*/ 7473 w 17306"/>
                    <a:gd name="connsiteY15" fmla="*/ 14247 h 18164"/>
                    <a:gd name="connsiteX16" fmla="*/ 4794 w 17306"/>
                    <a:gd name="connsiteY16" fmla="*/ 14247 h 18164"/>
                    <a:gd name="connsiteX17" fmla="*/ 4794 w 17306"/>
                    <a:gd name="connsiteY17" fmla="*/ 12094 h 18164"/>
                    <a:gd name="connsiteX18" fmla="*/ 11731 w 17306"/>
                    <a:gd name="connsiteY18" fmla="*/ 8681 h 18164"/>
                    <a:gd name="connsiteX19" fmla="*/ 9334 w 17306"/>
                    <a:gd name="connsiteY19" fmla="*/ 10651 h 18164"/>
                    <a:gd name="connsiteX20" fmla="*/ 11731 w 17306"/>
                    <a:gd name="connsiteY20" fmla="*/ 12598 h 18164"/>
                    <a:gd name="connsiteX21" fmla="*/ 14127 w 17306"/>
                    <a:gd name="connsiteY21" fmla="*/ 10651 h 18164"/>
                    <a:gd name="connsiteX22" fmla="*/ 11731 w 17306"/>
                    <a:gd name="connsiteY22" fmla="*/ 8681 h 18164"/>
                    <a:gd name="connsiteX23" fmla="*/ 11731 w 17306"/>
                    <a:gd name="connsiteY23" fmla="*/ 11728 h 18164"/>
                    <a:gd name="connsiteX24" fmla="*/ 10405 w 17306"/>
                    <a:gd name="connsiteY24" fmla="*/ 10651 h 18164"/>
                    <a:gd name="connsiteX25" fmla="*/ 11731 w 17306"/>
                    <a:gd name="connsiteY25" fmla="*/ 9551 h 18164"/>
                    <a:gd name="connsiteX26" fmla="*/ 13084 w 17306"/>
                    <a:gd name="connsiteY26" fmla="*/ 10651 h 18164"/>
                    <a:gd name="connsiteX27" fmla="*/ 11731 w 17306"/>
                    <a:gd name="connsiteY27" fmla="*/ 11728 h 18164"/>
                    <a:gd name="connsiteX28" fmla="*/ 17257 w 17306"/>
                    <a:gd name="connsiteY28" fmla="*/ 14614 h 18164"/>
                    <a:gd name="connsiteX29" fmla="*/ 17306 w 17306"/>
                    <a:gd name="connsiteY29" fmla="*/ 63 h 18164"/>
                    <a:gd name="connsiteX30" fmla="*/ 17306 w 17306"/>
                    <a:gd name="connsiteY30" fmla="*/ 4824 h 18164"/>
                    <a:gd name="connsiteX31" fmla="*/ 10060 w 17306"/>
                    <a:gd name="connsiteY31" fmla="*/ 0 h 18164"/>
                    <a:gd name="connsiteX32" fmla="*/ 4343 w 17306"/>
                    <a:gd name="connsiteY32" fmla="*/ 91 h 18164"/>
                    <a:gd name="connsiteX33" fmla="*/ 0 w 17306"/>
                    <a:gd name="connsiteY33" fmla="*/ 91 h 18164"/>
                    <a:gd name="connsiteX34" fmla="*/ 0 w 17306"/>
                    <a:gd name="connsiteY34" fmla="*/ 18164 h 18164"/>
                    <a:gd name="connsiteX35" fmla="*/ 17257 w 17306"/>
                    <a:gd name="connsiteY35" fmla="*/ 18164 h 18164"/>
                    <a:gd name="connsiteX36" fmla="*/ 17257 w 17306"/>
                    <a:gd name="connsiteY36" fmla="*/ 14614 h 18164"/>
                    <a:gd name="connsiteX37" fmla="*/ 10067 w 17306"/>
                    <a:gd name="connsiteY37" fmla="*/ 1260 h 18164"/>
                    <a:gd name="connsiteX38" fmla="*/ 15735 w 17306"/>
                    <a:gd name="connsiteY38" fmla="*/ 5658 h 18164"/>
                    <a:gd name="connsiteX39" fmla="*/ 10067 w 17306"/>
                    <a:gd name="connsiteY39" fmla="*/ 5658 h 18164"/>
                    <a:gd name="connsiteX40" fmla="*/ 10067 w 17306"/>
                    <a:gd name="connsiteY40" fmla="*/ 1260 h 18164"/>
                    <a:gd name="connsiteX41" fmla="*/ 1072 w 17306"/>
                    <a:gd name="connsiteY41" fmla="*/ 17294 h 18164"/>
                    <a:gd name="connsiteX42" fmla="*/ 1072 w 17306"/>
                    <a:gd name="connsiteY42" fmla="*/ 962 h 18164"/>
                    <a:gd name="connsiteX43" fmla="*/ 8995 w 17306"/>
                    <a:gd name="connsiteY43" fmla="*/ 962 h 18164"/>
                    <a:gd name="connsiteX44" fmla="*/ 8995 w 17306"/>
                    <a:gd name="connsiteY44" fmla="*/ 6528 h 18164"/>
                    <a:gd name="connsiteX45" fmla="*/ 16186 w 17306"/>
                    <a:gd name="connsiteY45" fmla="*/ 6528 h 18164"/>
                    <a:gd name="connsiteX46" fmla="*/ 16186 w 17306"/>
                    <a:gd name="connsiteY46" fmla="*/ 17294 h 18164"/>
                    <a:gd name="connsiteX47" fmla="*/ 1072 w 17306"/>
                    <a:gd name="connsiteY47" fmla="*/ 17294 h 18164"/>
                    <a:gd name="connsiteX48" fmla="*/ 17257 w 17306"/>
                    <a:gd name="connsiteY48" fmla="*/ 13743 h 18164"/>
                    <a:gd name="connsiteX49" fmla="*/ 17257 w 17306"/>
                    <a:gd name="connsiteY49" fmla="*/ 5635 h 18164"/>
                    <a:gd name="connsiteX50" fmla="*/ 17257 w 17306"/>
                    <a:gd name="connsiteY50" fmla="*/ 13743 h 18164"/>
                    <a:gd name="connsiteX0" fmla="*/ 3186 w 17828"/>
                    <a:gd name="connsiteY0" fmla="*/ 9551 h 18164"/>
                    <a:gd name="connsiteX1" fmla="*/ 8911 w 17828"/>
                    <a:gd name="connsiteY1" fmla="*/ 9551 h 18164"/>
                    <a:gd name="connsiteX2" fmla="*/ 6063 w 17828"/>
                    <a:gd name="connsiteY2" fmla="*/ 5520 h 18164"/>
                    <a:gd name="connsiteX3" fmla="*/ 3186 w 17828"/>
                    <a:gd name="connsiteY3" fmla="*/ 9551 h 18164"/>
                    <a:gd name="connsiteX4" fmla="*/ 5019 w 17828"/>
                    <a:gd name="connsiteY4" fmla="*/ 8681 h 18164"/>
                    <a:gd name="connsiteX5" fmla="*/ 6063 w 17828"/>
                    <a:gd name="connsiteY5" fmla="*/ 7238 h 18164"/>
                    <a:gd name="connsiteX6" fmla="*/ 7078 w 17828"/>
                    <a:gd name="connsiteY6" fmla="*/ 8681 h 18164"/>
                    <a:gd name="connsiteX7" fmla="*/ 5019 w 17828"/>
                    <a:gd name="connsiteY7" fmla="*/ 8681 h 18164"/>
                    <a:gd name="connsiteX8" fmla="*/ 3722 w 17828"/>
                    <a:gd name="connsiteY8" fmla="*/ 15118 h 18164"/>
                    <a:gd name="connsiteX9" fmla="*/ 8544 w 17828"/>
                    <a:gd name="connsiteY9" fmla="*/ 15118 h 18164"/>
                    <a:gd name="connsiteX10" fmla="*/ 8544 w 17828"/>
                    <a:gd name="connsiteY10" fmla="*/ 11224 h 18164"/>
                    <a:gd name="connsiteX11" fmla="*/ 3722 w 17828"/>
                    <a:gd name="connsiteY11" fmla="*/ 11224 h 18164"/>
                    <a:gd name="connsiteX12" fmla="*/ 3722 w 17828"/>
                    <a:gd name="connsiteY12" fmla="*/ 15118 h 18164"/>
                    <a:gd name="connsiteX13" fmla="*/ 4794 w 17828"/>
                    <a:gd name="connsiteY13" fmla="*/ 12094 h 18164"/>
                    <a:gd name="connsiteX14" fmla="*/ 7473 w 17828"/>
                    <a:gd name="connsiteY14" fmla="*/ 12094 h 18164"/>
                    <a:gd name="connsiteX15" fmla="*/ 7473 w 17828"/>
                    <a:gd name="connsiteY15" fmla="*/ 14247 h 18164"/>
                    <a:gd name="connsiteX16" fmla="*/ 4794 w 17828"/>
                    <a:gd name="connsiteY16" fmla="*/ 14247 h 18164"/>
                    <a:gd name="connsiteX17" fmla="*/ 4794 w 17828"/>
                    <a:gd name="connsiteY17" fmla="*/ 12094 h 18164"/>
                    <a:gd name="connsiteX18" fmla="*/ 11731 w 17828"/>
                    <a:gd name="connsiteY18" fmla="*/ 8681 h 18164"/>
                    <a:gd name="connsiteX19" fmla="*/ 9334 w 17828"/>
                    <a:gd name="connsiteY19" fmla="*/ 10651 h 18164"/>
                    <a:gd name="connsiteX20" fmla="*/ 11731 w 17828"/>
                    <a:gd name="connsiteY20" fmla="*/ 12598 h 18164"/>
                    <a:gd name="connsiteX21" fmla="*/ 14127 w 17828"/>
                    <a:gd name="connsiteY21" fmla="*/ 10651 h 18164"/>
                    <a:gd name="connsiteX22" fmla="*/ 11731 w 17828"/>
                    <a:gd name="connsiteY22" fmla="*/ 8681 h 18164"/>
                    <a:gd name="connsiteX23" fmla="*/ 11731 w 17828"/>
                    <a:gd name="connsiteY23" fmla="*/ 11728 h 18164"/>
                    <a:gd name="connsiteX24" fmla="*/ 10405 w 17828"/>
                    <a:gd name="connsiteY24" fmla="*/ 10651 h 18164"/>
                    <a:gd name="connsiteX25" fmla="*/ 11731 w 17828"/>
                    <a:gd name="connsiteY25" fmla="*/ 9551 h 18164"/>
                    <a:gd name="connsiteX26" fmla="*/ 13084 w 17828"/>
                    <a:gd name="connsiteY26" fmla="*/ 10651 h 18164"/>
                    <a:gd name="connsiteX27" fmla="*/ 11731 w 17828"/>
                    <a:gd name="connsiteY27" fmla="*/ 11728 h 18164"/>
                    <a:gd name="connsiteX28" fmla="*/ 17257 w 17828"/>
                    <a:gd name="connsiteY28" fmla="*/ 14614 h 18164"/>
                    <a:gd name="connsiteX29" fmla="*/ 17306 w 17828"/>
                    <a:gd name="connsiteY29" fmla="*/ 4824 h 18164"/>
                    <a:gd name="connsiteX30" fmla="*/ 10060 w 17828"/>
                    <a:gd name="connsiteY30" fmla="*/ 0 h 18164"/>
                    <a:gd name="connsiteX31" fmla="*/ 4343 w 17828"/>
                    <a:gd name="connsiteY31" fmla="*/ 91 h 18164"/>
                    <a:gd name="connsiteX32" fmla="*/ 0 w 17828"/>
                    <a:gd name="connsiteY32" fmla="*/ 91 h 18164"/>
                    <a:gd name="connsiteX33" fmla="*/ 0 w 17828"/>
                    <a:gd name="connsiteY33" fmla="*/ 18164 h 18164"/>
                    <a:gd name="connsiteX34" fmla="*/ 17257 w 17828"/>
                    <a:gd name="connsiteY34" fmla="*/ 18164 h 18164"/>
                    <a:gd name="connsiteX35" fmla="*/ 17257 w 17828"/>
                    <a:gd name="connsiteY35" fmla="*/ 14614 h 18164"/>
                    <a:gd name="connsiteX36" fmla="*/ 10067 w 17828"/>
                    <a:gd name="connsiteY36" fmla="*/ 1260 h 18164"/>
                    <a:gd name="connsiteX37" fmla="*/ 15735 w 17828"/>
                    <a:gd name="connsiteY37" fmla="*/ 5658 h 18164"/>
                    <a:gd name="connsiteX38" fmla="*/ 10067 w 17828"/>
                    <a:gd name="connsiteY38" fmla="*/ 5658 h 18164"/>
                    <a:gd name="connsiteX39" fmla="*/ 10067 w 17828"/>
                    <a:gd name="connsiteY39" fmla="*/ 1260 h 18164"/>
                    <a:gd name="connsiteX40" fmla="*/ 1072 w 17828"/>
                    <a:gd name="connsiteY40" fmla="*/ 17294 h 18164"/>
                    <a:gd name="connsiteX41" fmla="*/ 1072 w 17828"/>
                    <a:gd name="connsiteY41" fmla="*/ 962 h 18164"/>
                    <a:gd name="connsiteX42" fmla="*/ 8995 w 17828"/>
                    <a:gd name="connsiteY42" fmla="*/ 962 h 18164"/>
                    <a:gd name="connsiteX43" fmla="*/ 8995 w 17828"/>
                    <a:gd name="connsiteY43" fmla="*/ 6528 h 18164"/>
                    <a:gd name="connsiteX44" fmla="*/ 16186 w 17828"/>
                    <a:gd name="connsiteY44" fmla="*/ 6528 h 18164"/>
                    <a:gd name="connsiteX45" fmla="*/ 16186 w 17828"/>
                    <a:gd name="connsiteY45" fmla="*/ 17294 h 18164"/>
                    <a:gd name="connsiteX46" fmla="*/ 1072 w 17828"/>
                    <a:gd name="connsiteY46" fmla="*/ 17294 h 18164"/>
                    <a:gd name="connsiteX47" fmla="*/ 17257 w 17828"/>
                    <a:gd name="connsiteY47" fmla="*/ 13743 h 18164"/>
                    <a:gd name="connsiteX48" fmla="*/ 17257 w 17828"/>
                    <a:gd name="connsiteY48" fmla="*/ 5635 h 18164"/>
                    <a:gd name="connsiteX49" fmla="*/ 17257 w 17828"/>
                    <a:gd name="connsiteY49" fmla="*/ 13743 h 18164"/>
                    <a:gd name="connsiteX0" fmla="*/ 3186 w 17828"/>
                    <a:gd name="connsiteY0" fmla="*/ 9551 h 18164"/>
                    <a:gd name="connsiteX1" fmla="*/ 8911 w 17828"/>
                    <a:gd name="connsiteY1" fmla="*/ 9551 h 18164"/>
                    <a:gd name="connsiteX2" fmla="*/ 6063 w 17828"/>
                    <a:gd name="connsiteY2" fmla="*/ 5520 h 18164"/>
                    <a:gd name="connsiteX3" fmla="*/ 3186 w 17828"/>
                    <a:gd name="connsiteY3" fmla="*/ 9551 h 18164"/>
                    <a:gd name="connsiteX4" fmla="*/ 5019 w 17828"/>
                    <a:gd name="connsiteY4" fmla="*/ 8681 h 18164"/>
                    <a:gd name="connsiteX5" fmla="*/ 6063 w 17828"/>
                    <a:gd name="connsiteY5" fmla="*/ 7238 h 18164"/>
                    <a:gd name="connsiteX6" fmla="*/ 7078 w 17828"/>
                    <a:gd name="connsiteY6" fmla="*/ 8681 h 18164"/>
                    <a:gd name="connsiteX7" fmla="*/ 5019 w 17828"/>
                    <a:gd name="connsiteY7" fmla="*/ 8681 h 18164"/>
                    <a:gd name="connsiteX8" fmla="*/ 3722 w 17828"/>
                    <a:gd name="connsiteY8" fmla="*/ 15118 h 18164"/>
                    <a:gd name="connsiteX9" fmla="*/ 8544 w 17828"/>
                    <a:gd name="connsiteY9" fmla="*/ 15118 h 18164"/>
                    <a:gd name="connsiteX10" fmla="*/ 8544 w 17828"/>
                    <a:gd name="connsiteY10" fmla="*/ 11224 h 18164"/>
                    <a:gd name="connsiteX11" fmla="*/ 3722 w 17828"/>
                    <a:gd name="connsiteY11" fmla="*/ 11224 h 18164"/>
                    <a:gd name="connsiteX12" fmla="*/ 3722 w 17828"/>
                    <a:gd name="connsiteY12" fmla="*/ 15118 h 18164"/>
                    <a:gd name="connsiteX13" fmla="*/ 4794 w 17828"/>
                    <a:gd name="connsiteY13" fmla="*/ 12094 h 18164"/>
                    <a:gd name="connsiteX14" fmla="*/ 7473 w 17828"/>
                    <a:gd name="connsiteY14" fmla="*/ 12094 h 18164"/>
                    <a:gd name="connsiteX15" fmla="*/ 7473 w 17828"/>
                    <a:gd name="connsiteY15" fmla="*/ 14247 h 18164"/>
                    <a:gd name="connsiteX16" fmla="*/ 4794 w 17828"/>
                    <a:gd name="connsiteY16" fmla="*/ 14247 h 18164"/>
                    <a:gd name="connsiteX17" fmla="*/ 4794 w 17828"/>
                    <a:gd name="connsiteY17" fmla="*/ 12094 h 18164"/>
                    <a:gd name="connsiteX18" fmla="*/ 11731 w 17828"/>
                    <a:gd name="connsiteY18" fmla="*/ 8681 h 18164"/>
                    <a:gd name="connsiteX19" fmla="*/ 9334 w 17828"/>
                    <a:gd name="connsiteY19" fmla="*/ 10651 h 18164"/>
                    <a:gd name="connsiteX20" fmla="*/ 11731 w 17828"/>
                    <a:gd name="connsiteY20" fmla="*/ 12598 h 18164"/>
                    <a:gd name="connsiteX21" fmla="*/ 14127 w 17828"/>
                    <a:gd name="connsiteY21" fmla="*/ 10651 h 18164"/>
                    <a:gd name="connsiteX22" fmla="*/ 11731 w 17828"/>
                    <a:gd name="connsiteY22" fmla="*/ 8681 h 18164"/>
                    <a:gd name="connsiteX23" fmla="*/ 11731 w 17828"/>
                    <a:gd name="connsiteY23" fmla="*/ 11728 h 18164"/>
                    <a:gd name="connsiteX24" fmla="*/ 10405 w 17828"/>
                    <a:gd name="connsiteY24" fmla="*/ 10651 h 18164"/>
                    <a:gd name="connsiteX25" fmla="*/ 11731 w 17828"/>
                    <a:gd name="connsiteY25" fmla="*/ 9551 h 18164"/>
                    <a:gd name="connsiteX26" fmla="*/ 13084 w 17828"/>
                    <a:gd name="connsiteY26" fmla="*/ 10651 h 18164"/>
                    <a:gd name="connsiteX27" fmla="*/ 11731 w 17828"/>
                    <a:gd name="connsiteY27" fmla="*/ 11728 h 18164"/>
                    <a:gd name="connsiteX28" fmla="*/ 17257 w 17828"/>
                    <a:gd name="connsiteY28" fmla="*/ 14614 h 18164"/>
                    <a:gd name="connsiteX29" fmla="*/ 17306 w 17828"/>
                    <a:gd name="connsiteY29" fmla="*/ 4824 h 18164"/>
                    <a:gd name="connsiteX30" fmla="*/ 10060 w 17828"/>
                    <a:gd name="connsiteY30" fmla="*/ 0 h 18164"/>
                    <a:gd name="connsiteX31" fmla="*/ 4343 w 17828"/>
                    <a:gd name="connsiteY31" fmla="*/ 91 h 18164"/>
                    <a:gd name="connsiteX32" fmla="*/ 0 w 17828"/>
                    <a:gd name="connsiteY32" fmla="*/ 91 h 18164"/>
                    <a:gd name="connsiteX33" fmla="*/ 0 w 17828"/>
                    <a:gd name="connsiteY33" fmla="*/ 18164 h 18164"/>
                    <a:gd name="connsiteX34" fmla="*/ 17257 w 17828"/>
                    <a:gd name="connsiteY34" fmla="*/ 18164 h 18164"/>
                    <a:gd name="connsiteX35" fmla="*/ 17257 w 17828"/>
                    <a:gd name="connsiteY35" fmla="*/ 14614 h 18164"/>
                    <a:gd name="connsiteX36" fmla="*/ 10067 w 17828"/>
                    <a:gd name="connsiteY36" fmla="*/ 1260 h 18164"/>
                    <a:gd name="connsiteX37" fmla="*/ 15735 w 17828"/>
                    <a:gd name="connsiteY37" fmla="*/ 5658 h 18164"/>
                    <a:gd name="connsiteX38" fmla="*/ 10067 w 17828"/>
                    <a:gd name="connsiteY38" fmla="*/ 5658 h 18164"/>
                    <a:gd name="connsiteX39" fmla="*/ 10067 w 17828"/>
                    <a:gd name="connsiteY39" fmla="*/ 1260 h 18164"/>
                    <a:gd name="connsiteX40" fmla="*/ 1072 w 17828"/>
                    <a:gd name="connsiteY40" fmla="*/ 17294 h 18164"/>
                    <a:gd name="connsiteX41" fmla="*/ 1072 w 17828"/>
                    <a:gd name="connsiteY41" fmla="*/ 962 h 18164"/>
                    <a:gd name="connsiteX42" fmla="*/ 8995 w 17828"/>
                    <a:gd name="connsiteY42" fmla="*/ 962 h 18164"/>
                    <a:gd name="connsiteX43" fmla="*/ 8995 w 17828"/>
                    <a:gd name="connsiteY43" fmla="*/ 6528 h 18164"/>
                    <a:gd name="connsiteX44" fmla="*/ 16186 w 17828"/>
                    <a:gd name="connsiteY44" fmla="*/ 6528 h 18164"/>
                    <a:gd name="connsiteX45" fmla="*/ 16186 w 17828"/>
                    <a:gd name="connsiteY45" fmla="*/ 17294 h 18164"/>
                    <a:gd name="connsiteX46" fmla="*/ 1072 w 17828"/>
                    <a:gd name="connsiteY46" fmla="*/ 17294 h 18164"/>
                    <a:gd name="connsiteX0" fmla="*/ 3186 w 17318"/>
                    <a:gd name="connsiteY0" fmla="*/ 9551 h 18164"/>
                    <a:gd name="connsiteX1" fmla="*/ 8911 w 17318"/>
                    <a:gd name="connsiteY1" fmla="*/ 9551 h 18164"/>
                    <a:gd name="connsiteX2" fmla="*/ 6063 w 17318"/>
                    <a:gd name="connsiteY2" fmla="*/ 5520 h 18164"/>
                    <a:gd name="connsiteX3" fmla="*/ 3186 w 17318"/>
                    <a:gd name="connsiteY3" fmla="*/ 9551 h 18164"/>
                    <a:gd name="connsiteX4" fmla="*/ 5019 w 17318"/>
                    <a:gd name="connsiteY4" fmla="*/ 8681 h 18164"/>
                    <a:gd name="connsiteX5" fmla="*/ 6063 w 17318"/>
                    <a:gd name="connsiteY5" fmla="*/ 7238 h 18164"/>
                    <a:gd name="connsiteX6" fmla="*/ 7078 w 17318"/>
                    <a:gd name="connsiteY6" fmla="*/ 8681 h 18164"/>
                    <a:gd name="connsiteX7" fmla="*/ 5019 w 17318"/>
                    <a:gd name="connsiteY7" fmla="*/ 8681 h 18164"/>
                    <a:gd name="connsiteX8" fmla="*/ 3722 w 17318"/>
                    <a:gd name="connsiteY8" fmla="*/ 15118 h 18164"/>
                    <a:gd name="connsiteX9" fmla="*/ 8544 w 17318"/>
                    <a:gd name="connsiteY9" fmla="*/ 15118 h 18164"/>
                    <a:gd name="connsiteX10" fmla="*/ 8544 w 17318"/>
                    <a:gd name="connsiteY10" fmla="*/ 11224 h 18164"/>
                    <a:gd name="connsiteX11" fmla="*/ 3722 w 17318"/>
                    <a:gd name="connsiteY11" fmla="*/ 11224 h 18164"/>
                    <a:gd name="connsiteX12" fmla="*/ 3722 w 17318"/>
                    <a:gd name="connsiteY12" fmla="*/ 15118 h 18164"/>
                    <a:gd name="connsiteX13" fmla="*/ 4794 w 17318"/>
                    <a:gd name="connsiteY13" fmla="*/ 12094 h 18164"/>
                    <a:gd name="connsiteX14" fmla="*/ 7473 w 17318"/>
                    <a:gd name="connsiteY14" fmla="*/ 12094 h 18164"/>
                    <a:gd name="connsiteX15" fmla="*/ 7473 w 17318"/>
                    <a:gd name="connsiteY15" fmla="*/ 14247 h 18164"/>
                    <a:gd name="connsiteX16" fmla="*/ 4794 w 17318"/>
                    <a:gd name="connsiteY16" fmla="*/ 14247 h 18164"/>
                    <a:gd name="connsiteX17" fmla="*/ 4794 w 17318"/>
                    <a:gd name="connsiteY17" fmla="*/ 12094 h 18164"/>
                    <a:gd name="connsiteX18" fmla="*/ 11731 w 17318"/>
                    <a:gd name="connsiteY18" fmla="*/ 8681 h 18164"/>
                    <a:gd name="connsiteX19" fmla="*/ 9334 w 17318"/>
                    <a:gd name="connsiteY19" fmla="*/ 10651 h 18164"/>
                    <a:gd name="connsiteX20" fmla="*/ 11731 w 17318"/>
                    <a:gd name="connsiteY20" fmla="*/ 12598 h 18164"/>
                    <a:gd name="connsiteX21" fmla="*/ 14127 w 17318"/>
                    <a:gd name="connsiteY21" fmla="*/ 10651 h 18164"/>
                    <a:gd name="connsiteX22" fmla="*/ 11731 w 17318"/>
                    <a:gd name="connsiteY22" fmla="*/ 8681 h 18164"/>
                    <a:gd name="connsiteX23" fmla="*/ 11731 w 17318"/>
                    <a:gd name="connsiteY23" fmla="*/ 11728 h 18164"/>
                    <a:gd name="connsiteX24" fmla="*/ 10405 w 17318"/>
                    <a:gd name="connsiteY24" fmla="*/ 10651 h 18164"/>
                    <a:gd name="connsiteX25" fmla="*/ 11731 w 17318"/>
                    <a:gd name="connsiteY25" fmla="*/ 9551 h 18164"/>
                    <a:gd name="connsiteX26" fmla="*/ 13084 w 17318"/>
                    <a:gd name="connsiteY26" fmla="*/ 10651 h 18164"/>
                    <a:gd name="connsiteX27" fmla="*/ 11731 w 17318"/>
                    <a:gd name="connsiteY27" fmla="*/ 11728 h 18164"/>
                    <a:gd name="connsiteX28" fmla="*/ 17257 w 17318"/>
                    <a:gd name="connsiteY28" fmla="*/ 14614 h 18164"/>
                    <a:gd name="connsiteX29" fmla="*/ 17306 w 17318"/>
                    <a:gd name="connsiteY29" fmla="*/ 4824 h 18164"/>
                    <a:gd name="connsiteX30" fmla="*/ 10060 w 17318"/>
                    <a:gd name="connsiteY30" fmla="*/ 0 h 18164"/>
                    <a:gd name="connsiteX31" fmla="*/ 4343 w 17318"/>
                    <a:gd name="connsiteY31" fmla="*/ 91 h 18164"/>
                    <a:gd name="connsiteX32" fmla="*/ 0 w 17318"/>
                    <a:gd name="connsiteY32" fmla="*/ 91 h 18164"/>
                    <a:gd name="connsiteX33" fmla="*/ 0 w 17318"/>
                    <a:gd name="connsiteY33" fmla="*/ 18164 h 18164"/>
                    <a:gd name="connsiteX34" fmla="*/ 17257 w 17318"/>
                    <a:gd name="connsiteY34" fmla="*/ 18164 h 18164"/>
                    <a:gd name="connsiteX35" fmla="*/ 17257 w 17318"/>
                    <a:gd name="connsiteY35" fmla="*/ 14614 h 18164"/>
                    <a:gd name="connsiteX36" fmla="*/ 10067 w 17318"/>
                    <a:gd name="connsiteY36" fmla="*/ 1260 h 18164"/>
                    <a:gd name="connsiteX37" fmla="*/ 15735 w 17318"/>
                    <a:gd name="connsiteY37" fmla="*/ 5658 h 18164"/>
                    <a:gd name="connsiteX38" fmla="*/ 10067 w 17318"/>
                    <a:gd name="connsiteY38" fmla="*/ 5658 h 18164"/>
                    <a:gd name="connsiteX39" fmla="*/ 10067 w 17318"/>
                    <a:gd name="connsiteY39" fmla="*/ 1260 h 18164"/>
                    <a:gd name="connsiteX40" fmla="*/ 1072 w 17318"/>
                    <a:gd name="connsiteY40" fmla="*/ 17294 h 18164"/>
                    <a:gd name="connsiteX41" fmla="*/ 1072 w 17318"/>
                    <a:gd name="connsiteY41" fmla="*/ 962 h 18164"/>
                    <a:gd name="connsiteX42" fmla="*/ 8995 w 17318"/>
                    <a:gd name="connsiteY42" fmla="*/ 962 h 18164"/>
                    <a:gd name="connsiteX43" fmla="*/ 8995 w 17318"/>
                    <a:gd name="connsiteY43" fmla="*/ 6528 h 18164"/>
                    <a:gd name="connsiteX44" fmla="*/ 16186 w 17318"/>
                    <a:gd name="connsiteY44" fmla="*/ 6528 h 18164"/>
                    <a:gd name="connsiteX45" fmla="*/ 16186 w 17318"/>
                    <a:gd name="connsiteY45" fmla="*/ 17294 h 18164"/>
                    <a:gd name="connsiteX46" fmla="*/ 1072 w 17318"/>
                    <a:gd name="connsiteY46" fmla="*/ 17294 h 18164"/>
                    <a:gd name="connsiteX0" fmla="*/ 3186 w 17318"/>
                    <a:gd name="connsiteY0" fmla="*/ 9551 h 18164"/>
                    <a:gd name="connsiteX1" fmla="*/ 8911 w 17318"/>
                    <a:gd name="connsiteY1" fmla="*/ 9551 h 18164"/>
                    <a:gd name="connsiteX2" fmla="*/ 6063 w 17318"/>
                    <a:gd name="connsiteY2" fmla="*/ 5520 h 18164"/>
                    <a:gd name="connsiteX3" fmla="*/ 3186 w 17318"/>
                    <a:gd name="connsiteY3" fmla="*/ 9551 h 18164"/>
                    <a:gd name="connsiteX4" fmla="*/ 5019 w 17318"/>
                    <a:gd name="connsiteY4" fmla="*/ 8681 h 18164"/>
                    <a:gd name="connsiteX5" fmla="*/ 6063 w 17318"/>
                    <a:gd name="connsiteY5" fmla="*/ 7238 h 18164"/>
                    <a:gd name="connsiteX6" fmla="*/ 7078 w 17318"/>
                    <a:gd name="connsiteY6" fmla="*/ 8681 h 18164"/>
                    <a:gd name="connsiteX7" fmla="*/ 5019 w 17318"/>
                    <a:gd name="connsiteY7" fmla="*/ 8681 h 18164"/>
                    <a:gd name="connsiteX8" fmla="*/ 3722 w 17318"/>
                    <a:gd name="connsiteY8" fmla="*/ 15118 h 18164"/>
                    <a:gd name="connsiteX9" fmla="*/ 8544 w 17318"/>
                    <a:gd name="connsiteY9" fmla="*/ 15118 h 18164"/>
                    <a:gd name="connsiteX10" fmla="*/ 8544 w 17318"/>
                    <a:gd name="connsiteY10" fmla="*/ 11224 h 18164"/>
                    <a:gd name="connsiteX11" fmla="*/ 3722 w 17318"/>
                    <a:gd name="connsiteY11" fmla="*/ 11224 h 18164"/>
                    <a:gd name="connsiteX12" fmla="*/ 3722 w 17318"/>
                    <a:gd name="connsiteY12" fmla="*/ 15118 h 18164"/>
                    <a:gd name="connsiteX13" fmla="*/ 4794 w 17318"/>
                    <a:gd name="connsiteY13" fmla="*/ 12094 h 18164"/>
                    <a:gd name="connsiteX14" fmla="*/ 7473 w 17318"/>
                    <a:gd name="connsiteY14" fmla="*/ 12094 h 18164"/>
                    <a:gd name="connsiteX15" fmla="*/ 7473 w 17318"/>
                    <a:gd name="connsiteY15" fmla="*/ 14247 h 18164"/>
                    <a:gd name="connsiteX16" fmla="*/ 4794 w 17318"/>
                    <a:gd name="connsiteY16" fmla="*/ 14247 h 18164"/>
                    <a:gd name="connsiteX17" fmla="*/ 4794 w 17318"/>
                    <a:gd name="connsiteY17" fmla="*/ 12094 h 18164"/>
                    <a:gd name="connsiteX18" fmla="*/ 11731 w 17318"/>
                    <a:gd name="connsiteY18" fmla="*/ 8681 h 18164"/>
                    <a:gd name="connsiteX19" fmla="*/ 9334 w 17318"/>
                    <a:gd name="connsiteY19" fmla="*/ 10651 h 18164"/>
                    <a:gd name="connsiteX20" fmla="*/ 11731 w 17318"/>
                    <a:gd name="connsiteY20" fmla="*/ 12598 h 18164"/>
                    <a:gd name="connsiteX21" fmla="*/ 14127 w 17318"/>
                    <a:gd name="connsiteY21" fmla="*/ 10651 h 18164"/>
                    <a:gd name="connsiteX22" fmla="*/ 11731 w 17318"/>
                    <a:gd name="connsiteY22" fmla="*/ 8681 h 18164"/>
                    <a:gd name="connsiteX23" fmla="*/ 11731 w 17318"/>
                    <a:gd name="connsiteY23" fmla="*/ 11728 h 18164"/>
                    <a:gd name="connsiteX24" fmla="*/ 10405 w 17318"/>
                    <a:gd name="connsiteY24" fmla="*/ 10651 h 18164"/>
                    <a:gd name="connsiteX25" fmla="*/ 11731 w 17318"/>
                    <a:gd name="connsiteY25" fmla="*/ 9551 h 18164"/>
                    <a:gd name="connsiteX26" fmla="*/ 13084 w 17318"/>
                    <a:gd name="connsiteY26" fmla="*/ 10651 h 18164"/>
                    <a:gd name="connsiteX27" fmla="*/ 11731 w 17318"/>
                    <a:gd name="connsiteY27" fmla="*/ 11728 h 18164"/>
                    <a:gd name="connsiteX28" fmla="*/ 17257 w 17318"/>
                    <a:gd name="connsiteY28" fmla="*/ 14614 h 18164"/>
                    <a:gd name="connsiteX29" fmla="*/ 17306 w 17318"/>
                    <a:gd name="connsiteY29" fmla="*/ 4824 h 18164"/>
                    <a:gd name="connsiteX30" fmla="*/ 10060 w 17318"/>
                    <a:gd name="connsiteY30" fmla="*/ 0 h 18164"/>
                    <a:gd name="connsiteX31" fmla="*/ 4343 w 17318"/>
                    <a:gd name="connsiteY31" fmla="*/ 91 h 18164"/>
                    <a:gd name="connsiteX32" fmla="*/ 0 w 17318"/>
                    <a:gd name="connsiteY32" fmla="*/ 91 h 18164"/>
                    <a:gd name="connsiteX33" fmla="*/ 0 w 17318"/>
                    <a:gd name="connsiteY33" fmla="*/ 18164 h 18164"/>
                    <a:gd name="connsiteX34" fmla="*/ 17257 w 17318"/>
                    <a:gd name="connsiteY34" fmla="*/ 18164 h 18164"/>
                    <a:gd name="connsiteX35" fmla="*/ 17257 w 17318"/>
                    <a:gd name="connsiteY35" fmla="*/ 14614 h 18164"/>
                    <a:gd name="connsiteX36" fmla="*/ 10067 w 17318"/>
                    <a:gd name="connsiteY36" fmla="*/ 1260 h 18164"/>
                    <a:gd name="connsiteX37" fmla="*/ 15735 w 17318"/>
                    <a:gd name="connsiteY37" fmla="*/ 5658 h 18164"/>
                    <a:gd name="connsiteX38" fmla="*/ 10067 w 17318"/>
                    <a:gd name="connsiteY38" fmla="*/ 5658 h 18164"/>
                    <a:gd name="connsiteX39" fmla="*/ 10067 w 17318"/>
                    <a:gd name="connsiteY39" fmla="*/ 1260 h 18164"/>
                    <a:gd name="connsiteX40" fmla="*/ 1072 w 17318"/>
                    <a:gd name="connsiteY40" fmla="*/ 17294 h 18164"/>
                    <a:gd name="connsiteX41" fmla="*/ 1072 w 17318"/>
                    <a:gd name="connsiteY41" fmla="*/ 962 h 18164"/>
                    <a:gd name="connsiteX42" fmla="*/ 8995 w 17318"/>
                    <a:gd name="connsiteY42" fmla="*/ 962 h 18164"/>
                    <a:gd name="connsiteX43" fmla="*/ 8995 w 17318"/>
                    <a:gd name="connsiteY43" fmla="*/ 6528 h 18164"/>
                    <a:gd name="connsiteX44" fmla="*/ 16186 w 17318"/>
                    <a:gd name="connsiteY44" fmla="*/ 6528 h 18164"/>
                    <a:gd name="connsiteX45" fmla="*/ 16186 w 17318"/>
                    <a:gd name="connsiteY45" fmla="*/ 17294 h 18164"/>
                    <a:gd name="connsiteX46" fmla="*/ 1072 w 17318"/>
                    <a:gd name="connsiteY46" fmla="*/ 17294 h 18164"/>
                    <a:gd name="connsiteX0" fmla="*/ 3186 w 17306"/>
                    <a:gd name="connsiteY0" fmla="*/ 9551 h 18164"/>
                    <a:gd name="connsiteX1" fmla="*/ 8911 w 17306"/>
                    <a:gd name="connsiteY1" fmla="*/ 9551 h 18164"/>
                    <a:gd name="connsiteX2" fmla="*/ 6063 w 17306"/>
                    <a:gd name="connsiteY2" fmla="*/ 5520 h 18164"/>
                    <a:gd name="connsiteX3" fmla="*/ 3186 w 17306"/>
                    <a:gd name="connsiteY3" fmla="*/ 9551 h 18164"/>
                    <a:gd name="connsiteX4" fmla="*/ 5019 w 17306"/>
                    <a:gd name="connsiteY4" fmla="*/ 8681 h 18164"/>
                    <a:gd name="connsiteX5" fmla="*/ 6063 w 17306"/>
                    <a:gd name="connsiteY5" fmla="*/ 7238 h 18164"/>
                    <a:gd name="connsiteX6" fmla="*/ 7078 w 17306"/>
                    <a:gd name="connsiteY6" fmla="*/ 8681 h 18164"/>
                    <a:gd name="connsiteX7" fmla="*/ 5019 w 17306"/>
                    <a:gd name="connsiteY7" fmla="*/ 8681 h 18164"/>
                    <a:gd name="connsiteX8" fmla="*/ 3722 w 17306"/>
                    <a:gd name="connsiteY8" fmla="*/ 15118 h 18164"/>
                    <a:gd name="connsiteX9" fmla="*/ 8544 w 17306"/>
                    <a:gd name="connsiteY9" fmla="*/ 15118 h 18164"/>
                    <a:gd name="connsiteX10" fmla="*/ 8544 w 17306"/>
                    <a:gd name="connsiteY10" fmla="*/ 11224 h 18164"/>
                    <a:gd name="connsiteX11" fmla="*/ 3722 w 17306"/>
                    <a:gd name="connsiteY11" fmla="*/ 11224 h 18164"/>
                    <a:gd name="connsiteX12" fmla="*/ 3722 w 17306"/>
                    <a:gd name="connsiteY12" fmla="*/ 15118 h 18164"/>
                    <a:gd name="connsiteX13" fmla="*/ 4794 w 17306"/>
                    <a:gd name="connsiteY13" fmla="*/ 12094 h 18164"/>
                    <a:gd name="connsiteX14" fmla="*/ 7473 w 17306"/>
                    <a:gd name="connsiteY14" fmla="*/ 12094 h 18164"/>
                    <a:gd name="connsiteX15" fmla="*/ 7473 w 17306"/>
                    <a:gd name="connsiteY15" fmla="*/ 14247 h 18164"/>
                    <a:gd name="connsiteX16" fmla="*/ 4794 w 17306"/>
                    <a:gd name="connsiteY16" fmla="*/ 14247 h 18164"/>
                    <a:gd name="connsiteX17" fmla="*/ 4794 w 17306"/>
                    <a:gd name="connsiteY17" fmla="*/ 12094 h 18164"/>
                    <a:gd name="connsiteX18" fmla="*/ 11731 w 17306"/>
                    <a:gd name="connsiteY18" fmla="*/ 8681 h 18164"/>
                    <a:gd name="connsiteX19" fmla="*/ 9334 w 17306"/>
                    <a:gd name="connsiteY19" fmla="*/ 10651 h 18164"/>
                    <a:gd name="connsiteX20" fmla="*/ 11731 w 17306"/>
                    <a:gd name="connsiteY20" fmla="*/ 12598 h 18164"/>
                    <a:gd name="connsiteX21" fmla="*/ 14127 w 17306"/>
                    <a:gd name="connsiteY21" fmla="*/ 10651 h 18164"/>
                    <a:gd name="connsiteX22" fmla="*/ 11731 w 17306"/>
                    <a:gd name="connsiteY22" fmla="*/ 8681 h 18164"/>
                    <a:gd name="connsiteX23" fmla="*/ 11731 w 17306"/>
                    <a:gd name="connsiteY23" fmla="*/ 11728 h 18164"/>
                    <a:gd name="connsiteX24" fmla="*/ 10405 w 17306"/>
                    <a:gd name="connsiteY24" fmla="*/ 10651 h 18164"/>
                    <a:gd name="connsiteX25" fmla="*/ 11731 w 17306"/>
                    <a:gd name="connsiteY25" fmla="*/ 9551 h 18164"/>
                    <a:gd name="connsiteX26" fmla="*/ 13084 w 17306"/>
                    <a:gd name="connsiteY26" fmla="*/ 10651 h 18164"/>
                    <a:gd name="connsiteX27" fmla="*/ 11731 w 17306"/>
                    <a:gd name="connsiteY27" fmla="*/ 11728 h 18164"/>
                    <a:gd name="connsiteX28" fmla="*/ 17257 w 17306"/>
                    <a:gd name="connsiteY28" fmla="*/ 14614 h 18164"/>
                    <a:gd name="connsiteX29" fmla="*/ 17306 w 17306"/>
                    <a:gd name="connsiteY29" fmla="*/ 4824 h 18164"/>
                    <a:gd name="connsiteX30" fmla="*/ 10060 w 17306"/>
                    <a:gd name="connsiteY30" fmla="*/ 0 h 18164"/>
                    <a:gd name="connsiteX31" fmla="*/ 4343 w 17306"/>
                    <a:gd name="connsiteY31" fmla="*/ 91 h 18164"/>
                    <a:gd name="connsiteX32" fmla="*/ 0 w 17306"/>
                    <a:gd name="connsiteY32" fmla="*/ 91 h 18164"/>
                    <a:gd name="connsiteX33" fmla="*/ 0 w 17306"/>
                    <a:gd name="connsiteY33" fmla="*/ 18164 h 18164"/>
                    <a:gd name="connsiteX34" fmla="*/ 17257 w 17306"/>
                    <a:gd name="connsiteY34" fmla="*/ 18164 h 18164"/>
                    <a:gd name="connsiteX35" fmla="*/ 17257 w 17306"/>
                    <a:gd name="connsiteY35" fmla="*/ 14614 h 18164"/>
                    <a:gd name="connsiteX36" fmla="*/ 10067 w 17306"/>
                    <a:gd name="connsiteY36" fmla="*/ 1260 h 18164"/>
                    <a:gd name="connsiteX37" fmla="*/ 15735 w 17306"/>
                    <a:gd name="connsiteY37" fmla="*/ 5658 h 18164"/>
                    <a:gd name="connsiteX38" fmla="*/ 10067 w 17306"/>
                    <a:gd name="connsiteY38" fmla="*/ 5658 h 18164"/>
                    <a:gd name="connsiteX39" fmla="*/ 10067 w 17306"/>
                    <a:gd name="connsiteY39" fmla="*/ 1260 h 18164"/>
                    <a:gd name="connsiteX40" fmla="*/ 1072 w 17306"/>
                    <a:gd name="connsiteY40" fmla="*/ 17294 h 18164"/>
                    <a:gd name="connsiteX41" fmla="*/ 1072 w 17306"/>
                    <a:gd name="connsiteY41" fmla="*/ 962 h 18164"/>
                    <a:gd name="connsiteX42" fmla="*/ 8995 w 17306"/>
                    <a:gd name="connsiteY42" fmla="*/ 962 h 18164"/>
                    <a:gd name="connsiteX43" fmla="*/ 8995 w 17306"/>
                    <a:gd name="connsiteY43" fmla="*/ 6528 h 18164"/>
                    <a:gd name="connsiteX44" fmla="*/ 16186 w 17306"/>
                    <a:gd name="connsiteY44" fmla="*/ 6528 h 18164"/>
                    <a:gd name="connsiteX45" fmla="*/ 16186 w 17306"/>
                    <a:gd name="connsiteY45" fmla="*/ 17294 h 18164"/>
                    <a:gd name="connsiteX46" fmla="*/ 1072 w 17306"/>
                    <a:gd name="connsiteY46" fmla="*/ 17294 h 18164"/>
                    <a:gd name="connsiteX0" fmla="*/ 3186 w 17306"/>
                    <a:gd name="connsiteY0" fmla="*/ 9551 h 18164"/>
                    <a:gd name="connsiteX1" fmla="*/ 8911 w 17306"/>
                    <a:gd name="connsiteY1" fmla="*/ 9551 h 18164"/>
                    <a:gd name="connsiteX2" fmla="*/ 6063 w 17306"/>
                    <a:gd name="connsiteY2" fmla="*/ 5520 h 18164"/>
                    <a:gd name="connsiteX3" fmla="*/ 3186 w 17306"/>
                    <a:gd name="connsiteY3" fmla="*/ 9551 h 18164"/>
                    <a:gd name="connsiteX4" fmla="*/ 5019 w 17306"/>
                    <a:gd name="connsiteY4" fmla="*/ 8681 h 18164"/>
                    <a:gd name="connsiteX5" fmla="*/ 6063 w 17306"/>
                    <a:gd name="connsiteY5" fmla="*/ 7238 h 18164"/>
                    <a:gd name="connsiteX6" fmla="*/ 7078 w 17306"/>
                    <a:gd name="connsiteY6" fmla="*/ 8681 h 18164"/>
                    <a:gd name="connsiteX7" fmla="*/ 5019 w 17306"/>
                    <a:gd name="connsiteY7" fmla="*/ 8681 h 18164"/>
                    <a:gd name="connsiteX8" fmla="*/ 3722 w 17306"/>
                    <a:gd name="connsiteY8" fmla="*/ 15118 h 18164"/>
                    <a:gd name="connsiteX9" fmla="*/ 8544 w 17306"/>
                    <a:gd name="connsiteY9" fmla="*/ 15118 h 18164"/>
                    <a:gd name="connsiteX10" fmla="*/ 8544 w 17306"/>
                    <a:gd name="connsiteY10" fmla="*/ 11224 h 18164"/>
                    <a:gd name="connsiteX11" fmla="*/ 3722 w 17306"/>
                    <a:gd name="connsiteY11" fmla="*/ 11224 h 18164"/>
                    <a:gd name="connsiteX12" fmla="*/ 3722 w 17306"/>
                    <a:gd name="connsiteY12" fmla="*/ 15118 h 18164"/>
                    <a:gd name="connsiteX13" fmla="*/ 4794 w 17306"/>
                    <a:gd name="connsiteY13" fmla="*/ 12094 h 18164"/>
                    <a:gd name="connsiteX14" fmla="*/ 7473 w 17306"/>
                    <a:gd name="connsiteY14" fmla="*/ 12094 h 18164"/>
                    <a:gd name="connsiteX15" fmla="*/ 7473 w 17306"/>
                    <a:gd name="connsiteY15" fmla="*/ 14247 h 18164"/>
                    <a:gd name="connsiteX16" fmla="*/ 4794 w 17306"/>
                    <a:gd name="connsiteY16" fmla="*/ 14247 h 18164"/>
                    <a:gd name="connsiteX17" fmla="*/ 4794 w 17306"/>
                    <a:gd name="connsiteY17" fmla="*/ 12094 h 18164"/>
                    <a:gd name="connsiteX18" fmla="*/ 11731 w 17306"/>
                    <a:gd name="connsiteY18" fmla="*/ 8681 h 18164"/>
                    <a:gd name="connsiteX19" fmla="*/ 9334 w 17306"/>
                    <a:gd name="connsiteY19" fmla="*/ 10651 h 18164"/>
                    <a:gd name="connsiteX20" fmla="*/ 11731 w 17306"/>
                    <a:gd name="connsiteY20" fmla="*/ 12598 h 18164"/>
                    <a:gd name="connsiteX21" fmla="*/ 14127 w 17306"/>
                    <a:gd name="connsiteY21" fmla="*/ 10651 h 18164"/>
                    <a:gd name="connsiteX22" fmla="*/ 11731 w 17306"/>
                    <a:gd name="connsiteY22" fmla="*/ 8681 h 18164"/>
                    <a:gd name="connsiteX23" fmla="*/ 11731 w 17306"/>
                    <a:gd name="connsiteY23" fmla="*/ 11728 h 18164"/>
                    <a:gd name="connsiteX24" fmla="*/ 10405 w 17306"/>
                    <a:gd name="connsiteY24" fmla="*/ 10651 h 18164"/>
                    <a:gd name="connsiteX25" fmla="*/ 11731 w 17306"/>
                    <a:gd name="connsiteY25" fmla="*/ 9551 h 18164"/>
                    <a:gd name="connsiteX26" fmla="*/ 13084 w 17306"/>
                    <a:gd name="connsiteY26" fmla="*/ 10651 h 18164"/>
                    <a:gd name="connsiteX27" fmla="*/ 11731 w 17306"/>
                    <a:gd name="connsiteY27" fmla="*/ 11728 h 18164"/>
                    <a:gd name="connsiteX28" fmla="*/ 17257 w 17306"/>
                    <a:gd name="connsiteY28" fmla="*/ 14614 h 18164"/>
                    <a:gd name="connsiteX29" fmla="*/ 17306 w 17306"/>
                    <a:gd name="connsiteY29" fmla="*/ 5388 h 18164"/>
                    <a:gd name="connsiteX30" fmla="*/ 10060 w 17306"/>
                    <a:gd name="connsiteY30" fmla="*/ 0 h 18164"/>
                    <a:gd name="connsiteX31" fmla="*/ 4343 w 17306"/>
                    <a:gd name="connsiteY31" fmla="*/ 91 h 18164"/>
                    <a:gd name="connsiteX32" fmla="*/ 0 w 17306"/>
                    <a:gd name="connsiteY32" fmla="*/ 91 h 18164"/>
                    <a:gd name="connsiteX33" fmla="*/ 0 w 17306"/>
                    <a:gd name="connsiteY33" fmla="*/ 18164 h 18164"/>
                    <a:gd name="connsiteX34" fmla="*/ 17257 w 17306"/>
                    <a:gd name="connsiteY34" fmla="*/ 18164 h 18164"/>
                    <a:gd name="connsiteX35" fmla="*/ 17257 w 17306"/>
                    <a:gd name="connsiteY35" fmla="*/ 14614 h 18164"/>
                    <a:gd name="connsiteX36" fmla="*/ 10067 w 17306"/>
                    <a:gd name="connsiteY36" fmla="*/ 1260 h 18164"/>
                    <a:gd name="connsiteX37" fmla="*/ 15735 w 17306"/>
                    <a:gd name="connsiteY37" fmla="*/ 5658 h 18164"/>
                    <a:gd name="connsiteX38" fmla="*/ 10067 w 17306"/>
                    <a:gd name="connsiteY38" fmla="*/ 5658 h 18164"/>
                    <a:gd name="connsiteX39" fmla="*/ 10067 w 17306"/>
                    <a:gd name="connsiteY39" fmla="*/ 1260 h 18164"/>
                    <a:gd name="connsiteX40" fmla="*/ 1072 w 17306"/>
                    <a:gd name="connsiteY40" fmla="*/ 17294 h 18164"/>
                    <a:gd name="connsiteX41" fmla="*/ 1072 w 17306"/>
                    <a:gd name="connsiteY41" fmla="*/ 962 h 18164"/>
                    <a:gd name="connsiteX42" fmla="*/ 8995 w 17306"/>
                    <a:gd name="connsiteY42" fmla="*/ 962 h 18164"/>
                    <a:gd name="connsiteX43" fmla="*/ 8995 w 17306"/>
                    <a:gd name="connsiteY43" fmla="*/ 6528 h 18164"/>
                    <a:gd name="connsiteX44" fmla="*/ 16186 w 17306"/>
                    <a:gd name="connsiteY44" fmla="*/ 6528 h 18164"/>
                    <a:gd name="connsiteX45" fmla="*/ 16186 w 17306"/>
                    <a:gd name="connsiteY45" fmla="*/ 17294 h 18164"/>
                    <a:gd name="connsiteX46" fmla="*/ 1072 w 17306"/>
                    <a:gd name="connsiteY46" fmla="*/ 17294 h 18164"/>
                    <a:gd name="connsiteX0" fmla="*/ 3186 w 17306"/>
                    <a:gd name="connsiteY0" fmla="*/ 9460 h 18073"/>
                    <a:gd name="connsiteX1" fmla="*/ 8911 w 17306"/>
                    <a:gd name="connsiteY1" fmla="*/ 9460 h 18073"/>
                    <a:gd name="connsiteX2" fmla="*/ 6063 w 17306"/>
                    <a:gd name="connsiteY2" fmla="*/ 5429 h 18073"/>
                    <a:gd name="connsiteX3" fmla="*/ 3186 w 17306"/>
                    <a:gd name="connsiteY3" fmla="*/ 9460 h 18073"/>
                    <a:gd name="connsiteX4" fmla="*/ 5019 w 17306"/>
                    <a:gd name="connsiteY4" fmla="*/ 8590 h 18073"/>
                    <a:gd name="connsiteX5" fmla="*/ 6063 w 17306"/>
                    <a:gd name="connsiteY5" fmla="*/ 7147 h 18073"/>
                    <a:gd name="connsiteX6" fmla="*/ 7078 w 17306"/>
                    <a:gd name="connsiteY6" fmla="*/ 8590 h 18073"/>
                    <a:gd name="connsiteX7" fmla="*/ 5019 w 17306"/>
                    <a:gd name="connsiteY7" fmla="*/ 8590 h 18073"/>
                    <a:gd name="connsiteX8" fmla="*/ 3722 w 17306"/>
                    <a:gd name="connsiteY8" fmla="*/ 15027 h 18073"/>
                    <a:gd name="connsiteX9" fmla="*/ 8544 w 17306"/>
                    <a:gd name="connsiteY9" fmla="*/ 15027 h 18073"/>
                    <a:gd name="connsiteX10" fmla="*/ 8544 w 17306"/>
                    <a:gd name="connsiteY10" fmla="*/ 11133 h 18073"/>
                    <a:gd name="connsiteX11" fmla="*/ 3722 w 17306"/>
                    <a:gd name="connsiteY11" fmla="*/ 11133 h 18073"/>
                    <a:gd name="connsiteX12" fmla="*/ 3722 w 17306"/>
                    <a:gd name="connsiteY12" fmla="*/ 15027 h 18073"/>
                    <a:gd name="connsiteX13" fmla="*/ 4794 w 17306"/>
                    <a:gd name="connsiteY13" fmla="*/ 12003 h 18073"/>
                    <a:gd name="connsiteX14" fmla="*/ 7473 w 17306"/>
                    <a:gd name="connsiteY14" fmla="*/ 12003 h 18073"/>
                    <a:gd name="connsiteX15" fmla="*/ 7473 w 17306"/>
                    <a:gd name="connsiteY15" fmla="*/ 14156 h 18073"/>
                    <a:gd name="connsiteX16" fmla="*/ 4794 w 17306"/>
                    <a:gd name="connsiteY16" fmla="*/ 14156 h 18073"/>
                    <a:gd name="connsiteX17" fmla="*/ 4794 w 17306"/>
                    <a:gd name="connsiteY17" fmla="*/ 12003 h 18073"/>
                    <a:gd name="connsiteX18" fmla="*/ 11731 w 17306"/>
                    <a:gd name="connsiteY18" fmla="*/ 8590 h 18073"/>
                    <a:gd name="connsiteX19" fmla="*/ 9334 w 17306"/>
                    <a:gd name="connsiteY19" fmla="*/ 10560 h 18073"/>
                    <a:gd name="connsiteX20" fmla="*/ 11731 w 17306"/>
                    <a:gd name="connsiteY20" fmla="*/ 12507 h 18073"/>
                    <a:gd name="connsiteX21" fmla="*/ 14127 w 17306"/>
                    <a:gd name="connsiteY21" fmla="*/ 10560 h 18073"/>
                    <a:gd name="connsiteX22" fmla="*/ 11731 w 17306"/>
                    <a:gd name="connsiteY22" fmla="*/ 8590 h 18073"/>
                    <a:gd name="connsiteX23" fmla="*/ 11731 w 17306"/>
                    <a:gd name="connsiteY23" fmla="*/ 11637 h 18073"/>
                    <a:gd name="connsiteX24" fmla="*/ 10405 w 17306"/>
                    <a:gd name="connsiteY24" fmla="*/ 10560 h 18073"/>
                    <a:gd name="connsiteX25" fmla="*/ 11731 w 17306"/>
                    <a:gd name="connsiteY25" fmla="*/ 9460 h 18073"/>
                    <a:gd name="connsiteX26" fmla="*/ 13084 w 17306"/>
                    <a:gd name="connsiteY26" fmla="*/ 10560 h 18073"/>
                    <a:gd name="connsiteX27" fmla="*/ 11731 w 17306"/>
                    <a:gd name="connsiteY27" fmla="*/ 11637 h 18073"/>
                    <a:gd name="connsiteX28" fmla="*/ 17257 w 17306"/>
                    <a:gd name="connsiteY28" fmla="*/ 14523 h 18073"/>
                    <a:gd name="connsiteX29" fmla="*/ 17306 w 17306"/>
                    <a:gd name="connsiteY29" fmla="*/ 5297 h 18073"/>
                    <a:gd name="connsiteX30" fmla="*/ 10214 w 17306"/>
                    <a:gd name="connsiteY30" fmla="*/ 34 h 18073"/>
                    <a:gd name="connsiteX31" fmla="*/ 4343 w 17306"/>
                    <a:gd name="connsiteY31" fmla="*/ 0 h 18073"/>
                    <a:gd name="connsiteX32" fmla="*/ 0 w 17306"/>
                    <a:gd name="connsiteY32" fmla="*/ 0 h 18073"/>
                    <a:gd name="connsiteX33" fmla="*/ 0 w 17306"/>
                    <a:gd name="connsiteY33" fmla="*/ 18073 h 18073"/>
                    <a:gd name="connsiteX34" fmla="*/ 17257 w 17306"/>
                    <a:gd name="connsiteY34" fmla="*/ 18073 h 18073"/>
                    <a:gd name="connsiteX35" fmla="*/ 17257 w 17306"/>
                    <a:gd name="connsiteY35" fmla="*/ 14523 h 18073"/>
                    <a:gd name="connsiteX36" fmla="*/ 10067 w 17306"/>
                    <a:gd name="connsiteY36" fmla="*/ 1169 h 18073"/>
                    <a:gd name="connsiteX37" fmla="*/ 15735 w 17306"/>
                    <a:gd name="connsiteY37" fmla="*/ 5567 h 18073"/>
                    <a:gd name="connsiteX38" fmla="*/ 10067 w 17306"/>
                    <a:gd name="connsiteY38" fmla="*/ 5567 h 18073"/>
                    <a:gd name="connsiteX39" fmla="*/ 10067 w 17306"/>
                    <a:gd name="connsiteY39" fmla="*/ 1169 h 18073"/>
                    <a:gd name="connsiteX40" fmla="*/ 1072 w 17306"/>
                    <a:gd name="connsiteY40" fmla="*/ 17203 h 18073"/>
                    <a:gd name="connsiteX41" fmla="*/ 1072 w 17306"/>
                    <a:gd name="connsiteY41" fmla="*/ 871 h 18073"/>
                    <a:gd name="connsiteX42" fmla="*/ 8995 w 17306"/>
                    <a:gd name="connsiteY42" fmla="*/ 871 h 18073"/>
                    <a:gd name="connsiteX43" fmla="*/ 8995 w 17306"/>
                    <a:gd name="connsiteY43" fmla="*/ 6437 h 18073"/>
                    <a:gd name="connsiteX44" fmla="*/ 16186 w 17306"/>
                    <a:gd name="connsiteY44" fmla="*/ 6437 h 18073"/>
                    <a:gd name="connsiteX45" fmla="*/ 16186 w 17306"/>
                    <a:gd name="connsiteY45" fmla="*/ 17203 h 18073"/>
                    <a:gd name="connsiteX46" fmla="*/ 1072 w 17306"/>
                    <a:gd name="connsiteY46" fmla="*/ 17203 h 18073"/>
                    <a:gd name="connsiteX0" fmla="*/ 3186 w 17306"/>
                    <a:gd name="connsiteY0" fmla="*/ 9460 h 18073"/>
                    <a:gd name="connsiteX1" fmla="*/ 8911 w 17306"/>
                    <a:gd name="connsiteY1" fmla="*/ 9460 h 18073"/>
                    <a:gd name="connsiteX2" fmla="*/ 6063 w 17306"/>
                    <a:gd name="connsiteY2" fmla="*/ 5429 h 18073"/>
                    <a:gd name="connsiteX3" fmla="*/ 3186 w 17306"/>
                    <a:gd name="connsiteY3" fmla="*/ 9460 h 18073"/>
                    <a:gd name="connsiteX4" fmla="*/ 5019 w 17306"/>
                    <a:gd name="connsiteY4" fmla="*/ 8590 h 18073"/>
                    <a:gd name="connsiteX5" fmla="*/ 6063 w 17306"/>
                    <a:gd name="connsiteY5" fmla="*/ 7147 h 18073"/>
                    <a:gd name="connsiteX6" fmla="*/ 7078 w 17306"/>
                    <a:gd name="connsiteY6" fmla="*/ 8590 h 18073"/>
                    <a:gd name="connsiteX7" fmla="*/ 5019 w 17306"/>
                    <a:gd name="connsiteY7" fmla="*/ 8590 h 18073"/>
                    <a:gd name="connsiteX8" fmla="*/ 3722 w 17306"/>
                    <a:gd name="connsiteY8" fmla="*/ 15027 h 18073"/>
                    <a:gd name="connsiteX9" fmla="*/ 8544 w 17306"/>
                    <a:gd name="connsiteY9" fmla="*/ 15027 h 18073"/>
                    <a:gd name="connsiteX10" fmla="*/ 8544 w 17306"/>
                    <a:gd name="connsiteY10" fmla="*/ 11133 h 18073"/>
                    <a:gd name="connsiteX11" fmla="*/ 3722 w 17306"/>
                    <a:gd name="connsiteY11" fmla="*/ 11133 h 18073"/>
                    <a:gd name="connsiteX12" fmla="*/ 3722 w 17306"/>
                    <a:gd name="connsiteY12" fmla="*/ 15027 h 18073"/>
                    <a:gd name="connsiteX13" fmla="*/ 4794 w 17306"/>
                    <a:gd name="connsiteY13" fmla="*/ 12003 h 18073"/>
                    <a:gd name="connsiteX14" fmla="*/ 7473 w 17306"/>
                    <a:gd name="connsiteY14" fmla="*/ 12003 h 18073"/>
                    <a:gd name="connsiteX15" fmla="*/ 7473 w 17306"/>
                    <a:gd name="connsiteY15" fmla="*/ 14156 h 18073"/>
                    <a:gd name="connsiteX16" fmla="*/ 4794 w 17306"/>
                    <a:gd name="connsiteY16" fmla="*/ 14156 h 18073"/>
                    <a:gd name="connsiteX17" fmla="*/ 4794 w 17306"/>
                    <a:gd name="connsiteY17" fmla="*/ 12003 h 18073"/>
                    <a:gd name="connsiteX18" fmla="*/ 11731 w 17306"/>
                    <a:gd name="connsiteY18" fmla="*/ 8590 h 18073"/>
                    <a:gd name="connsiteX19" fmla="*/ 9334 w 17306"/>
                    <a:gd name="connsiteY19" fmla="*/ 10560 h 18073"/>
                    <a:gd name="connsiteX20" fmla="*/ 11731 w 17306"/>
                    <a:gd name="connsiteY20" fmla="*/ 12507 h 18073"/>
                    <a:gd name="connsiteX21" fmla="*/ 14127 w 17306"/>
                    <a:gd name="connsiteY21" fmla="*/ 10560 h 18073"/>
                    <a:gd name="connsiteX22" fmla="*/ 11731 w 17306"/>
                    <a:gd name="connsiteY22" fmla="*/ 8590 h 18073"/>
                    <a:gd name="connsiteX23" fmla="*/ 11731 w 17306"/>
                    <a:gd name="connsiteY23" fmla="*/ 11637 h 18073"/>
                    <a:gd name="connsiteX24" fmla="*/ 10405 w 17306"/>
                    <a:gd name="connsiteY24" fmla="*/ 10560 h 18073"/>
                    <a:gd name="connsiteX25" fmla="*/ 11731 w 17306"/>
                    <a:gd name="connsiteY25" fmla="*/ 9460 h 18073"/>
                    <a:gd name="connsiteX26" fmla="*/ 13084 w 17306"/>
                    <a:gd name="connsiteY26" fmla="*/ 10560 h 18073"/>
                    <a:gd name="connsiteX27" fmla="*/ 11731 w 17306"/>
                    <a:gd name="connsiteY27" fmla="*/ 11637 h 18073"/>
                    <a:gd name="connsiteX28" fmla="*/ 17257 w 17306"/>
                    <a:gd name="connsiteY28" fmla="*/ 14523 h 18073"/>
                    <a:gd name="connsiteX29" fmla="*/ 17306 w 17306"/>
                    <a:gd name="connsiteY29" fmla="*/ 5297 h 18073"/>
                    <a:gd name="connsiteX30" fmla="*/ 10214 w 17306"/>
                    <a:gd name="connsiteY30" fmla="*/ 34 h 18073"/>
                    <a:gd name="connsiteX31" fmla="*/ 4343 w 17306"/>
                    <a:gd name="connsiteY31" fmla="*/ 0 h 18073"/>
                    <a:gd name="connsiteX32" fmla="*/ 0 w 17306"/>
                    <a:gd name="connsiteY32" fmla="*/ 0 h 18073"/>
                    <a:gd name="connsiteX33" fmla="*/ 0 w 17306"/>
                    <a:gd name="connsiteY33" fmla="*/ 18073 h 18073"/>
                    <a:gd name="connsiteX34" fmla="*/ 17257 w 17306"/>
                    <a:gd name="connsiteY34" fmla="*/ 18073 h 18073"/>
                    <a:gd name="connsiteX35" fmla="*/ 17257 w 17306"/>
                    <a:gd name="connsiteY35" fmla="*/ 14523 h 18073"/>
                    <a:gd name="connsiteX36" fmla="*/ 10067 w 17306"/>
                    <a:gd name="connsiteY36" fmla="*/ 1169 h 18073"/>
                    <a:gd name="connsiteX37" fmla="*/ 15735 w 17306"/>
                    <a:gd name="connsiteY37" fmla="*/ 5567 h 18073"/>
                    <a:gd name="connsiteX38" fmla="*/ 10067 w 17306"/>
                    <a:gd name="connsiteY38" fmla="*/ 5567 h 18073"/>
                    <a:gd name="connsiteX39" fmla="*/ 10067 w 17306"/>
                    <a:gd name="connsiteY39" fmla="*/ 1169 h 18073"/>
                    <a:gd name="connsiteX40" fmla="*/ 1072 w 17306"/>
                    <a:gd name="connsiteY40" fmla="*/ 17203 h 18073"/>
                    <a:gd name="connsiteX41" fmla="*/ 1072 w 17306"/>
                    <a:gd name="connsiteY41" fmla="*/ 871 h 18073"/>
                    <a:gd name="connsiteX42" fmla="*/ 8995 w 17306"/>
                    <a:gd name="connsiteY42" fmla="*/ 871 h 18073"/>
                    <a:gd name="connsiteX43" fmla="*/ 8995 w 17306"/>
                    <a:gd name="connsiteY43" fmla="*/ 6437 h 18073"/>
                    <a:gd name="connsiteX44" fmla="*/ 16186 w 17306"/>
                    <a:gd name="connsiteY44" fmla="*/ 6437 h 18073"/>
                    <a:gd name="connsiteX45" fmla="*/ 16186 w 17306"/>
                    <a:gd name="connsiteY45" fmla="*/ 17203 h 18073"/>
                    <a:gd name="connsiteX46" fmla="*/ 1072 w 17306"/>
                    <a:gd name="connsiteY46" fmla="*/ 17203 h 18073"/>
                    <a:gd name="connsiteX0" fmla="*/ 3186 w 17306"/>
                    <a:gd name="connsiteY0" fmla="*/ 9460 h 18073"/>
                    <a:gd name="connsiteX1" fmla="*/ 8911 w 17306"/>
                    <a:gd name="connsiteY1" fmla="*/ 9460 h 18073"/>
                    <a:gd name="connsiteX2" fmla="*/ 6063 w 17306"/>
                    <a:gd name="connsiteY2" fmla="*/ 5429 h 18073"/>
                    <a:gd name="connsiteX3" fmla="*/ 3186 w 17306"/>
                    <a:gd name="connsiteY3" fmla="*/ 9460 h 18073"/>
                    <a:gd name="connsiteX4" fmla="*/ 5019 w 17306"/>
                    <a:gd name="connsiteY4" fmla="*/ 8590 h 18073"/>
                    <a:gd name="connsiteX5" fmla="*/ 6063 w 17306"/>
                    <a:gd name="connsiteY5" fmla="*/ 7147 h 18073"/>
                    <a:gd name="connsiteX6" fmla="*/ 7078 w 17306"/>
                    <a:gd name="connsiteY6" fmla="*/ 8590 h 18073"/>
                    <a:gd name="connsiteX7" fmla="*/ 5019 w 17306"/>
                    <a:gd name="connsiteY7" fmla="*/ 8590 h 18073"/>
                    <a:gd name="connsiteX8" fmla="*/ 3722 w 17306"/>
                    <a:gd name="connsiteY8" fmla="*/ 15027 h 18073"/>
                    <a:gd name="connsiteX9" fmla="*/ 8544 w 17306"/>
                    <a:gd name="connsiteY9" fmla="*/ 15027 h 18073"/>
                    <a:gd name="connsiteX10" fmla="*/ 8544 w 17306"/>
                    <a:gd name="connsiteY10" fmla="*/ 11133 h 18073"/>
                    <a:gd name="connsiteX11" fmla="*/ 3722 w 17306"/>
                    <a:gd name="connsiteY11" fmla="*/ 11133 h 18073"/>
                    <a:gd name="connsiteX12" fmla="*/ 3722 w 17306"/>
                    <a:gd name="connsiteY12" fmla="*/ 15027 h 18073"/>
                    <a:gd name="connsiteX13" fmla="*/ 4794 w 17306"/>
                    <a:gd name="connsiteY13" fmla="*/ 12003 h 18073"/>
                    <a:gd name="connsiteX14" fmla="*/ 7473 w 17306"/>
                    <a:gd name="connsiteY14" fmla="*/ 12003 h 18073"/>
                    <a:gd name="connsiteX15" fmla="*/ 7473 w 17306"/>
                    <a:gd name="connsiteY15" fmla="*/ 14156 h 18073"/>
                    <a:gd name="connsiteX16" fmla="*/ 4794 w 17306"/>
                    <a:gd name="connsiteY16" fmla="*/ 14156 h 18073"/>
                    <a:gd name="connsiteX17" fmla="*/ 4794 w 17306"/>
                    <a:gd name="connsiteY17" fmla="*/ 12003 h 18073"/>
                    <a:gd name="connsiteX18" fmla="*/ 11731 w 17306"/>
                    <a:gd name="connsiteY18" fmla="*/ 8590 h 18073"/>
                    <a:gd name="connsiteX19" fmla="*/ 9334 w 17306"/>
                    <a:gd name="connsiteY19" fmla="*/ 10560 h 18073"/>
                    <a:gd name="connsiteX20" fmla="*/ 11731 w 17306"/>
                    <a:gd name="connsiteY20" fmla="*/ 12507 h 18073"/>
                    <a:gd name="connsiteX21" fmla="*/ 14127 w 17306"/>
                    <a:gd name="connsiteY21" fmla="*/ 10560 h 18073"/>
                    <a:gd name="connsiteX22" fmla="*/ 11731 w 17306"/>
                    <a:gd name="connsiteY22" fmla="*/ 8590 h 18073"/>
                    <a:gd name="connsiteX23" fmla="*/ 11731 w 17306"/>
                    <a:gd name="connsiteY23" fmla="*/ 11637 h 18073"/>
                    <a:gd name="connsiteX24" fmla="*/ 10405 w 17306"/>
                    <a:gd name="connsiteY24" fmla="*/ 10560 h 18073"/>
                    <a:gd name="connsiteX25" fmla="*/ 11731 w 17306"/>
                    <a:gd name="connsiteY25" fmla="*/ 9460 h 18073"/>
                    <a:gd name="connsiteX26" fmla="*/ 13084 w 17306"/>
                    <a:gd name="connsiteY26" fmla="*/ 10560 h 18073"/>
                    <a:gd name="connsiteX27" fmla="*/ 11731 w 17306"/>
                    <a:gd name="connsiteY27" fmla="*/ 11637 h 18073"/>
                    <a:gd name="connsiteX28" fmla="*/ 17257 w 17306"/>
                    <a:gd name="connsiteY28" fmla="*/ 14523 h 18073"/>
                    <a:gd name="connsiteX29" fmla="*/ 17306 w 17306"/>
                    <a:gd name="connsiteY29" fmla="*/ 5416 h 18073"/>
                    <a:gd name="connsiteX30" fmla="*/ 10214 w 17306"/>
                    <a:gd name="connsiteY30" fmla="*/ 34 h 18073"/>
                    <a:gd name="connsiteX31" fmla="*/ 4343 w 17306"/>
                    <a:gd name="connsiteY31" fmla="*/ 0 h 18073"/>
                    <a:gd name="connsiteX32" fmla="*/ 0 w 17306"/>
                    <a:gd name="connsiteY32" fmla="*/ 0 h 18073"/>
                    <a:gd name="connsiteX33" fmla="*/ 0 w 17306"/>
                    <a:gd name="connsiteY33" fmla="*/ 18073 h 18073"/>
                    <a:gd name="connsiteX34" fmla="*/ 17257 w 17306"/>
                    <a:gd name="connsiteY34" fmla="*/ 18073 h 18073"/>
                    <a:gd name="connsiteX35" fmla="*/ 17257 w 17306"/>
                    <a:gd name="connsiteY35" fmla="*/ 14523 h 18073"/>
                    <a:gd name="connsiteX36" fmla="*/ 10067 w 17306"/>
                    <a:gd name="connsiteY36" fmla="*/ 1169 h 18073"/>
                    <a:gd name="connsiteX37" fmla="*/ 15735 w 17306"/>
                    <a:gd name="connsiteY37" fmla="*/ 5567 h 18073"/>
                    <a:gd name="connsiteX38" fmla="*/ 10067 w 17306"/>
                    <a:gd name="connsiteY38" fmla="*/ 5567 h 18073"/>
                    <a:gd name="connsiteX39" fmla="*/ 10067 w 17306"/>
                    <a:gd name="connsiteY39" fmla="*/ 1169 h 18073"/>
                    <a:gd name="connsiteX40" fmla="*/ 1072 w 17306"/>
                    <a:gd name="connsiteY40" fmla="*/ 17203 h 18073"/>
                    <a:gd name="connsiteX41" fmla="*/ 1072 w 17306"/>
                    <a:gd name="connsiteY41" fmla="*/ 871 h 18073"/>
                    <a:gd name="connsiteX42" fmla="*/ 8995 w 17306"/>
                    <a:gd name="connsiteY42" fmla="*/ 871 h 18073"/>
                    <a:gd name="connsiteX43" fmla="*/ 8995 w 17306"/>
                    <a:gd name="connsiteY43" fmla="*/ 6437 h 18073"/>
                    <a:gd name="connsiteX44" fmla="*/ 16186 w 17306"/>
                    <a:gd name="connsiteY44" fmla="*/ 6437 h 18073"/>
                    <a:gd name="connsiteX45" fmla="*/ 16186 w 17306"/>
                    <a:gd name="connsiteY45" fmla="*/ 17203 h 18073"/>
                    <a:gd name="connsiteX46" fmla="*/ 1072 w 17306"/>
                    <a:gd name="connsiteY46" fmla="*/ 17203 h 18073"/>
                    <a:gd name="connsiteX0" fmla="*/ 3186 w 17306"/>
                    <a:gd name="connsiteY0" fmla="*/ 9460 h 18073"/>
                    <a:gd name="connsiteX1" fmla="*/ 8911 w 17306"/>
                    <a:gd name="connsiteY1" fmla="*/ 9460 h 18073"/>
                    <a:gd name="connsiteX2" fmla="*/ 6063 w 17306"/>
                    <a:gd name="connsiteY2" fmla="*/ 5429 h 18073"/>
                    <a:gd name="connsiteX3" fmla="*/ 3186 w 17306"/>
                    <a:gd name="connsiteY3" fmla="*/ 9460 h 18073"/>
                    <a:gd name="connsiteX4" fmla="*/ 5019 w 17306"/>
                    <a:gd name="connsiteY4" fmla="*/ 8590 h 18073"/>
                    <a:gd name="connsiteX5" fmla="*/ 6063 w 17306"/>
                    <a:gd name="connsiteY5" fmla="*/ 7147 h 18073"/>
                    <a:gd name="connsiteX6" fmla="*/ 7078 w 17306"/>
                    <a:gd name="connsiteY6" fmla="*/ 8590 h 18073"/>
                    <a:gd name="connsiteX7" fmla="*/ 5019 w 17306"/>
                    <a:gd name="connsiteY7" fmla="*/ 8590 h 18073"/>
                    <a:gd name="connsiteX8" fmla="*/ 3722 w 17306"/>
                    <a:gd name="connsiteY8" fmla="*/ 15027 h 18073"/>
                    <a:gd name="connsiteX9" fmla="*/ 8544 w 17306"/>
                    <a:gd name="connsiteY9" fmla="*/ 15027 h 18073"/>
                    <a:gd name="connsiteX10" fmla="*/ 8544 w 17306"/>
                    <a:gd name="connsiteY10" fmla="*/ 11133 h 18073"/>
                    <a:gd name="connsiteX11" fmla="*/ 3722 w 17306"/>
                    <a:gd name="connsiteY11" fmla="*/ 11133 h 18073"/>
                    <a:gd name="connsiteX12" fmla="*/ 3722 w 17306"/>
                    <a:gd name="connsiteY12" fmla="*/ 15027 h 18073"/>
                    <a:gd name="connsiteX13" fmla="*/ 4794 w 17306"/>
                    <a:gd name="connsiteY13" fmla="*/ 12003 h 18073"/>
                    <a:gd name="connsiteX14" fmla="*/ 7473 w 17306"/>
                    <a:gd name="connsiteY14" fmla="*/ 12003 h 18073"/>
                    <a:gd name="connsiteX15" fmla="*/ 7473 w 17306"/>
                    <a:gd name="connsiteY15" fmla="*/ 14156 h 18073"/>
                    <a:gd name="connsiteX16" fmla="*/ 4794 w 17306"/>
                    <a:gd name="connsiteY16" fmla="*/ 14156 h 18073"/>
                    <a:gd name="connsiteX17" fmla="*/ 4794 w 17306"/>
                    <a:gd name="connsiteY17" fmla="*/ 12003 h 18073"/>
                    <a:gd name="connsiteX18" fmla="*/ 11731 w 17306"/>
                    <a:gd name="connsiteY18" fmla="*/ 8590 h 18073"/>
                    <a:gd name="connsiteX19" fmla="*/ 9334 w 17306"/>
                    <a:gd name="connsiteY19" fmla="*/ 10560 h 18073"/>
                    <a:gd name="connsiteX20" fmla="*/ 11731 w 17306"/>
                    <a:gd name="connsiteY20" fmla="*/ 12507 h 18073"/>
                    <a:gd name="connsiteX21" fmla="*/ 14127 w 17306"/>
                    <a:gd name="connsiteY21" fmla="*/ 10560 h 18073"/>
                    <a:gd name="connsiteX22" fmla="*/ 11731 w 17306"/>
                    <a:gd name="connsiteY22" fmla="*/ 8590 h 18073"/>
                    <a:gd name="connsiteX23" fmla="*/ 11731 w 17306"/>
                    <a:gd name="connsiteY23" fmla="*/ 11637 h 18073"/>
                    <a:gd name="connsiteX24" fmla="*/ 10405 w 17306"/>
                    <a:gd name="connsiteY24" fmla="*/ 10560 h 18073"/>
                    <a:gd name="connsiteX25" fmla="*/ 11731 w 17306"/>
                    <a:gd name="connsiteY25" fmla="*/ 9460 h 18073"/>
                    <a:gd name="connsiteX26" fmla="*/ 13084 w 17306"/>
                    <a:gd name="connsiteY26" fmla="*/ 10560 h 18073"/>
                    <a:gd name="connsiteX27" fmla="*/ 11731 w 17306"/>
                    <a:gd name="connsiteY27" fmla="*/ 11637 h 18073"/>
                    <a:gd name="connsiteX28" fmla="*/ 17257 w 17306"/>
                    <a:gd name="connsiteY28" fmla="*/ 14523 h 18073"/>
                    <a:gd name="connsiteX29" fmla="*/ 17306 w 17306"/>
                    <a:gd name="connsiteY29" fmla="*/ 5416 h 18073"/>
                    <a:gd name="connsiteX30" fmla="*/ 9995 w 17306"/>
                    <a:gd name="connsiteY30" fmla="*/ 34 h 18073"/>
                    <a:gd name="connsiteX31" fmla="*/ 4343 w 17306"/>
                    <a:gd name="connsiteY31" fmla="*/ 0 h 18073"/>
                    <a:gd name="connsiteX32" fmla="*/ 0 w 17306"/>
                    <a:gd name="connsiteY32" fmla="*/ 0 h 18073"/>
                    <a:gd name="connsiteX33" fmla="*/ 0 w 17306"/>
                    <a:gd name="connsiteY33" fmla="*/ 18073 h 18073"/>
                    <a:gd name="connsiteX34" fmla="*/ 17257 w 17306"/>
                    <a:gd name="connsiteY34" fmla="*/ 18073 h 18073"/>
                    <a:gd name="connsiteX35" fmla="*/ 17257 w 17306"/>
                    <a:gd name="connsiteY35" fmla="*/ 14523 h 18073"/>
                    <a:gd name="connsiteX36" fmla="*/ 10067 w 17306"/>
                    <a:gd name="connsiteY36" fmla="*/ 1169 h 18073"/>
                    <a:gd name="connsiteX37" fmla="*/ 15735 w 17306"/>
                    <a:gd name="connsiteY37" fmla="*/ 5567 h 18073"/>
                    <a:gd name="connsiteX38" fmla="*/ 10067 w 17306"/>
                    <a:gd name="connsiteY38" fmla="*/ 5567 h 18073"/>
                    <a:gd name="connsiteX39" fmla="*/ 10067 w 17306"/>
                    <a:gd name="connsiteY39" fmla="*/ 1169 h 18073"/>
                    <a:gd name="connsiteX40" fmla="*/ 1072 w 17306"/>
                    <a:gd name="connsiteY40" fmla="*/ 17203 h 18073"/>
                    <a:gd name="connsiteX41" fmla="*/ 1072 w 17306"/>
                    <a:gd name="connsiteY41" fmla="*/ 871 h 18073"/>
                    <a:gd name="connsiteX42" fmla="*/ 8995 w 17306"/>
                    <a:gd name="connsiteY42" fmla="*/ 871 h 18073"/>
                    <a:gd name="connsiteX43" fmla="*/ 8995 w 17306"/>
                    <a:gd name="connsiteY43" fmla="*/ 6437 h 18073"/>
                    <a:gd name="connsiteX44" fmla="*/ 16186 w 17306"/>
                    <a:gd name="connsiteY44" fmla="*/ 6437 h 18073"/>
                    <a:gd name="connsiteX45" fmla="*/ 16186 w 17306"/>
                    <a:gd name="connsiteY45" fmla="*/ 17203 h 18073"/>
                    <a:gd name="connsiteX46" fmla="*/ 1072 w 17306"/>
                    <a:gd name="connsiteY46" fmla="*/ 17203 h 18073"/>
                    <a:gd name="connsiteX0" fmla="*/ 3186 w 17257"/>
                    <a:gd name="connsiteY0" fmla="*/ 9460 h 18073"/>
                    <a:gd name="connsiteX1" fmla="*/ 8911 w 17257"/>
                    <a:gd name="connsiteY1" fmla="*/ 9460 h 18073"/>
                    <a:gd name="connsiteX2" fmla="*/ 6063 w 17257"/>
                    <a:gd name="connsiteY2" fmla="*/ 5429 h 18073"/>
                    <a:gd name="connsiteX3" fmla="*/ 3186 w 17257"/>
                    <a:gd name="connsiteY3" fmla="*/ 9460 h 18073"/>
                    <a:gd name="connsiteX4" fmla="*/ 5019 w 17257"/>
                    <a:gd name="connsiteY4" fmla="*/ 8590 h 18073"/>
                    <a:gd name="connsiteX5" fmla="*/ 6063 w 17257"/>
                    <a:gd name="connsiteY5" fmla="*/ 7147 h 18073"/>
                    <a:gd name="connsiteX6" fmla="*/ 7078 w 17257"/>
                    <a:gd name="connsiteY6" fmla="*/ 8590 h 18073"/>
                    <a:gd name="connsiteX7" fmla="*/ 5019 w 17257"/>
                    <a:gd name="connsiteY7" fmla="*/ 8590 h 18073"/>
                    <a:gd name="connsiteX8" fmla="*/ 3722 w 17257"/>
                    <a:gd name="connsiteY8" fmla="*/ 15027 h 18073"/>
                    <a:gd name="connsiteX9" fmla="*/ 8544 w 17257"/>
                    <a:gd name="connsiteY9" fmla="*/ 15027 h 18073"/>
                    <a:gd name="connsiteX10" fmla="*/ 8544 w 17257"/>
                    <a:gd name="connsiteY10" fmla="*/ 11133 h 18073"/>
                    <a:gd name="connsiteX11" fmla="*/ 3722 w 17257"/>
                    <a:gd name="connsiteY11" fmla="*/ 11133 h 18073"/>
                    <a:gd name="connsiteX12" fmla="*/ 3722 w 17257"/>
                    <a:gd name="connsiteY12" fmla="*/ 15027 h 18073"/>
                    <a:gd name="connsiteX13" fmla="*/ 4794 w 17257"/>
                    <a:gd name="connsiteY13" fmla="*/ 12003 h 18073"/>
                    <a:gd name="connsiteX14" fmla="*/ 7473 w 17257"/>
                    <a:gd name="connsiteY14" fmla="*/ 12003 h 18073"/>
                    <a:gd name="connsiteX15" fmla="*/ 7473 w 17257"/>
                    <a:gd name="connsiteY15" fmla="*/ 14156 h 18073"/>
                    <a:gd name="connsiteX16" fmla="*/ 4794 w 17257"/>
                    <a:gd name="connsiteY16" fmla="*/ 14156 h 18073"/>
                    <a:gd name="connsiteX17" fmla="*/ 4794 w 17257"/>
                    <a:gd name="connsiteY17" fmla="*/ 12003 h 18073"/>
                    <a:gd name="connsiteX18" fmla="*/ 11731 w 17257"/>
                    <a:gd name="connsiteY18" fmla="*/ 8590 h 18073"/>
                    <a:gd name="connsiteX19" fmla="*/ 9334 w 17257"/>
                    <a:gd name="connsiteY19" fmla="*/ 10560 h 18073"/>
                    <a:gd name="connsiteX20" fmla="*/ 11731 w 17257"/>
                    <a:gd name="connsiteY20" fmla="*/ 12507 h 18073"/>
                    <a:gd name="connsiteX21" fmla="*/ 14127 w 17257"/>
                    <a:gd name="connsiteY21" fmla="*/ 10560 h 18073"/>
                    <a:gd name="connsiteX22" fmla="*/ 11731 w 17257"/>
                    <a:gd name="connsiteY22" fmla="*/ 8590 h 18073"/>
                    <a:gd name="connsiteX23" fmla="*/ 11731 w 17257"/>
                    <a:gd name="connsiteY23" fmla="*/ 11637 h 18073"/>
                    <a:gd name="connsiteX24" fmla="*/ 10405 w 17257"/>
                    <a:gd name="connsiteY24" fmla="*/ 10560 h 18073"/>
                    <a:gd name="connsiteX25" fmla="*/ 11731 w 17257"/>
                    <a:gd name="connsiteY25" fmla="*/ 9460 h 18073"/>
                    <a:gd name="connsiteX26" fmla="*/ 13084 w 17257"/>
                    <a:gd name="connsiteY26" fmla="*/ 10560 h 18073"/>
                    <a:gd name="connsiteX27" fmla="*/ 11731 w 17257"/>
                    <a:gd name="connsiteY27" fmla="*/ 11637 h 18073"/>
                    <a:gd name="connsiteX28" fmla="*/ 17257 w 17257"/>
                    <a:gd name="connsiteY28" fmla="*/ 14523 h 18073"/>
                    <a:gd name="connsiteX29" fmla="*/ 17233 w 17257"/>
                    <a:gd name="connsiteY29" fmla="*/ 5594 h 18073"/>
                    <a:gd name="connsiteX30" fmla="*/ 9995 w 17257"/>
                    <a:gd name="connsiteY30" fmla="*/ 34 h 18073"/>
                    <a:gd name="connsiteX31" fmla="*/ 4343 w 17257"/>
                    <a:gd name="connsiteY31" fmla="*/ 0 h 18073"/>
                    <a:gd name="connsiteX32" fmla="*/ 0 w 17257"/>
                    <a:gd name="connsiteY32" fmla="*/ 0 h 18073"/>
                    <a:gd name="connsiteX33" fmla="*/ 0 w 17257"/>
                    <a:gd name="connsiteY33" fmla="*/ 18073 h 18073"/>
                    <a:gd name="connsiteX34" fmla="*/ 17257 w 17257"/>
                    <a:gd name="connsiteY34" fmla="*/ 18073 h 18073"/>
                    <a:gd name="connsiteX35" fmla="*/ 17257 w 17257"/>
                    <a:gd name="connsiteY35" fmla="*/ 14523 h 18073"/>
                    <a:gd name="connsiteX36" fmla="*/ 10067 w 17257"/>
                    <a:gd name="connsiteY36" fmla="*/ 1169 h 18073"/>
                    <a:gd name="connsiteX37" fmla="*/ 15735 w 17257"/>
                    <a:gd name="connsiteY37" fmla="*/ 5567 h 18073"/>
                    <a:gd name="connsiteX38" fmla="*/ 10067 w 17257"/>
                    <a:gd name="connsiteY38" fmla="*/ 5567 h 18073"/>
                    <a:gd name="connsiteX39" fmla="*/ 10067 w 17257"/>
                    <a:gd name="connsiteY39" fmla="*/ 1169 h 18073"/>
                    <a:gd name="connsiteX40" fmla="*/ 1072 w 17257"/>
                    <a:gd name="connsiteY40" fmla="*/ 17203 h 18073"/>
                    <a:gd name="connsiteX41" fmla="*/ 1072 w 17257"/>
                    <a:gd name="connsiteY41" fmla="*/ 871 h 18073"/>
                    <a:gd name="connsiteX42" fmla="*/ 8995 w 17257"/>
                    <a:gd name="connsiteY42" fmla="*/ 871 h 18073"/>
                    <a:gd name="connsiteX43" fmla="*/ 8995 w 17257"/>
                    <a:gd name="connsiteY43" fmla="*/ 6437 h 18073"/>
                    <a:gd name="connsiteX44" fmla="*/ 16186 w 17257"/>
                    <a:gd name="connsiteY44" fmla="*/ 6437 h 18073"/>
                    <a:gd name="connsiteX45" fmla="*/ 16186 w 17257"/>
                    <a:gd name="connsiteY45" fmla="*/ 17203 h 18073"/>
                    <a:gd name="connsiteX46" fmla="*/ 1072 w 17257"/>
                    <a:gd name="connsiteY46" fmla="*/ 17203 h 1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7257" h="18073" extrusionOk="0">
                      <a:moveTo>
                        <a:pt x="3186" y="9460"/>
                      </a:moveTo>
                      <a:lnTo>
                        <a:pt x="8911" y="9460"/>
                      </a:lnTo>
                      <a:lnTo>
                        <a:pt x="6063" y="5429"/>
                      </a:lnTo>
                      <a:lnTo>
                        <a:pt x="3186" y="9460"/>
                      </a:lnTo>
                      <a:close/>
                      <a:moveTo>
                        <a:pt x="5019" y="8590"/>
                      </a:moveTo>
                      <a:lnTo>
                        <a:pt x="6063" y="7147"/>
                      </a:lnTo>
                      <a:lnTo>
                        <a:pt x="7078" y="8590"/>
                      </a:lnTo>
                      <a:lnTo>
                        <a:pt x="5019" y="8590"/>
                      </a:lnTo>
                      <a:close/>
                      <a:moveTo>
                        <a:pt x="3722" y="15027"/>
                      </a:moveTo>
                      <a:lnTo>
                        <a:pt x="8544" y="15027"/>
                      </a:lnTo>
                      <a:lnTo>
                        <a:pt x="8544" y="11133"/>
                      </a:lnTo>
                      <a:lnTo>
                        <a:pt x="3722" y="11133"/>
                      </a:lnTo>
                      <a:lnTo>
                        <a:pt x="3722" y="15027"/>
                      </a:lnTo>
                      <a:close/>
                      <a:moveTo>
                        <a:pt x="4794" y="12003"/>
                      </a:moveTo>
                      <a:lnTo>
                        <a:pt x="7473" y="12003"/>
                      </a:lnTo>
                      <a:lnTo>
                        <a:pt x="7473" y="14156"/>
                      </a:lnTo>
                      <a:lnTo>
                        <a:pt x="4794" y="14156"/>
                      </a:lnTo>
                      <a:lnTo>
                        <a:pt x="4794" y="12003"/>
                      </a:lnTo>
                      <a:close/>
                      <a:moveTo>
                        <a:pt x="11731" y="8590"/>
                      </a:moveTo>
                      <a:cubicBezTo>
                        <a:pt x="10405" y="8590"/>
                        <a:pt x="9334" y="9483"/>
                        <a:pt x="9334" y="10560"/>
                      </a:cubicBezTo>
                      <a:cubicBezTo>
                        <a:pt x="9334" y="11637"/>
                        <a:pt x="10405" y="12507"/>
                        <a:pt x="11731" y="12507"/>
                      </a:cubicBezTo>
                      <a:cubicBezTo>
                        <a:pt x="13056" y="12507"/>
                        <a:pt x="14127" y="11637"/>
                        <a:pt x="14127" y="10560"/>
                      </a:cubicBezTo>
                      <a:cubicBezTo>
                        <a:pt x="14127" y="9483"/>
                        <a:pt x="13056" y="8590"/>
                        <a:pt x="11731" y="8590"/>
                      </a:cubicBezTo>
                      <a:close/>
                      <a:moveTo>
                        <a:pt x="11731" y="11637"/>
                      </a:moveTo>
                      <a:cubicBezTo>
                        <a:pt x="10997" y="11637"/>
                        <a:pt x="10405" y="11156"/>
                        <a:pt x="10405" y="10560"/>
                      </a:cubicBezTo>
                      <a:cubicBezTo>
                        <a:pt x="10405" y="9942"/>
                        <a:pt x="10997" y="9460"/>
                        <a:pt x="11731" y="9460"/>
                      </a:cubicBezTo>
                      <a:cubicBezTo>
                        <a:pt x="12464" y="9460"/>
                        <a:pt x="13084" y="9942"/>
                        <a:pt x="13084" y="10560"/>
                      </a:cubicBezTo>
                      <a:cubicBezTo>
                        <a:pt x="13084" y="11156"/>
                        <a:pt x="12464" y="11637"/>
                        <a:pt x="11731" y="11637"/>
                      </a:cubicBezTo>
                      <a:close/>
                      <a:moveTo>
                        <a:pt x="17257" y="14523"/>
                      </a:moveTo>
                      <a:cubicBezTo>
                        <a:pt x="17265" y="12300"/>
                        <a:pt x="17208" y="10489"/>
                        <a:pt x="17233" y="5594"/>
                      </a:cubicBezTo>
                      <a:cubicBezTo>
                        <a:pt x="17189" y="5539"/>
                        <a:pt x="12410" y="1642"/>
                        <a:pt x="9995" y="34"/>
                      </a:cubicBezTo>
                      <a:lnTo>
                        <a:pt x="4343" y="0"/>
                      </a:lnTo>
                      <a:lnTo>
                        <a:pt x="0" y="0"/>
                      </a:lnTo>
                      <a:lnTo>
                        <a:pt x="0" y="18073"/>
                      </a:lnTo>
                      <a:lnTo>
                        <a:pt x="17257" y="18073"/>
                      </a:lnTo>
                      <a:lnTo>
                        <a:pt x="17257" y="14523"/>
                      </a:lnTo>
                      <a:close/>
                      <a:moveTo>
                        <a:pt x="10067" y="1169"/>
                      </a:moveTo>
                      <a:lnTo>
                        <a:pt x="15735" y="5567"/>
                      </a:lnTo>
                      <a:lnTo>
                        <a:pt x="10067" y="5567"/>
                      </a:lnTo>
                      <a:lnTo>
                        <a:pt x="10067" y="1169"/>
                      </a:lnTo>
                      <a:close/>
                      <a:moveTo>
                        <a:pt x="1072" y="17203"/>
                      </a:moveTo>
                      <a:lnTo>
                        <a:pt x="1072" y="871"/>
                      </a:lnTo>
                      <a:lnTo>
                        <a:pt x="8995" y="871"/>
                      </a:lnTo>
                      <a:lnTo>
                        <a:pt x="8995" y="6437"/>
                      </a:lnTo>
                      <a:lnTo>
                        <a:pt x="16186" y="6437"/>
                      </a:lnTo>
                      <a:lnTo>
                        <a:pt x="16186" y="17203"/>
                      </a:lnTo>
                      <a:lnTo>
                        <a:pt x="1072" y="17203"/>
                      </a:lnTo>
                      <a:close/>
                    </a:path>
                  </a:pathLst>
                </a:custGeom>
                <a:solidFill>
                  <a:srgbClr val="FF676B"/>
                </a:solidFill>
                <a:ln w="12700">
                  <a:miter lim="400000"/>
                </a:ln>
              </p:spPr>
              <p:txBody>
                <a:bodyPr tIns="182878" bIns="182878" anchor="ctr">
                  <a:normAutofit fontScale="25000" lnSpcReduction="20000"/>
                </a:bodyPr>
                <a:lstStyle/>
                <a:p>
                  <a:pPr defTabSz="1828800">
                    <a:spcBef>
                      <a:spcPts val="4400"/>
                    </a:spcBef>
                    <a:defRPr sz="3200">
                      <a:solidFill>
                        <a:srgbClr val="FFFFFF"/>
                      </a:solidFill>
                    </a:defRPr>
                  </a:pPr>
                  <a:endParaRPr sz="6400">
                    <a:latin typeface="Arial"/>
                  </a:endParaRPr>
                </a:p>
              </p:txBody>
            </p:sp>
            <p:sp>
              <p:nvSpPr>
                <p:cNvPr id="22" name="TextBox 21">
                  <a:extLst>
                    <a:ext uri="{FF2B5EF4-FFF2-40B4-BE49-F238E27FC236}">
                      <a16:creationId xmlns:a16="http://schemas.microsoft.com/office/drawing/2014/main" id="{6176BD59-D62A-8118-5D7D-40E8A595D5F5}"/>
                    </a:ext>
                  </a:extLst>
                </p:cNvPr>
                <p:cNvSpPr txBox="1"/>
                <p:nvPr/>
              </p:nvSpPr>
              <p:spPr>
                <a:xfrm>
                  <a:off x="2253566" y="3186887"/>
                  <a:ext cx="870103" cy="307673"/>
                </a:xfrm>
                <a:prstGeom prst="rect">
                  <a:avLst/>
                </a:prstGeom>
                <a:noFill/>
              </p:spPr>
              <p:txBody>
                <a:bodyPr wrap="square" rtlCol="0">
                  <a:spAutoFit/>
                </a:bodyPr>
                <a:lstStyle/>
                <a:p>
                  <a:pPr algn="ctr">
                    <a:defRPr/>
                  </a:pPr>
                  <a:r>
                    <a:rPr lang="en-GB" sz="1200">
                      <a:latin typeface="Arial"/>
                    </a:rPr>
                    <a:t>Business </a:t>
                  </a:r>
                </a:p>
                <a:p>
                  <a:pPr algn="ctr">
                    <a:defRPr/>
                  </a:pPr>
                  <a:r>
                    <a:rPr lang="en-GB" sz="1200">
                      <a:latin typeface="Arial"/>
                    </a:rPr>
                    <a:t>Service &amp; </a:t>
                  </a:r>
                </a:p>
                <a:p>
                  <a:pPr algn="ctr">
                    <a:defRPr/>
                  </a:pPr>
                  <a:r>
                    <a:rPr lang="en-GB" sz="1200">
                      <a:latin typeface="Arial"/>
                    </a:rPr>
                    <a:t>Arch. Maps</a:t>
                  </a:r>
                </a:p>
              </p:txBody>
            </p:sp>
          </p:grpSp>
          <p:grpSp>
            <p:nvGrpSpPr>
              <p:cNvPr id="18" name="Group 17">
                <a:extLst>
                  <a:ext uri="{FF2B5EF4-FFF2-40B4-BE49-F238E27FC236}">
                    <a16:creationId xmlns:a16="http://schemas.microsoft.com/office/drawing/2014/main" id="{E4CD8256-D0ED-8F6C-22AA-D4F92C890F7A}"/>
                  </a:ext>
                </a:extLst>
              </p:cNvPr>
              <p:cNvGrpSpPr/>
              <p:nvPr/>
            </p:nvGrpSpPr>
            <p:grpSpPr>
              <a:xfrm>
                <a:off x="2125314" y="2950121"/>
                <a:ext cx="751328" cy="430348"/>
                <a:chOff x="531469" y="2374421"/>
                <a:chExt cx="715310" cy="409716"/>
              </a:xfrm>
            </p:grpSpPr>
            <p:sp>
              <p:nvSpPr>
                <p:cNvPr id="19" name="Shape">
                  <a:extLst>
                    <a:ext uri="{FF2B5EF4-FFF2-40B4-BE49-F238E27FC236}">
                      <a16:creationId xmlns:a16="http://schemas.microsoft.com/office/drawing/2014/main" id="{3543D202-32B7-9795-72FA-05F8B4795118}"/>
                    </a:ext>
                  </a:extLst>
                </p:cNvPr>
                <p:cNvSpPr/>
                <p:nvPr/>
              </p:nvSpPr>
              <p:spPr>
                <a:xfrm>
                  <a:off x="813210" y="2374421"/>
                  <a:ext cx="151828" cy="196917"/>
                </a:xfrm>
                <a:custGeom>
                  <a:avLst/>
                  <a:gdLst>
                    <a:gd name="connsiteX0" fmla="*/ 21600 w 21600"/>
                    <a:gd name="connsiteY0" fmla="*/ 16482 h 20177"/>
                    <a:gd name="connsiteX1" fmla="*/ 21600 w 21600"/>
                    <a:gd name="connsiteY1" fmla="*/ 5197 h 20177"/>
                    <a:gd name="connsiteX2" fmla="*/ 12314 w 21600"/>
                    <a:gd name="connsiteY2" fmla="*/ 0 h 20177"/>
                    <a:gd name="connsiteX3" fmla="*/ 0 w 21600"/>
                    <a:gd name="connsiteY3" fmla="*/ 0 h 20177"/>
                    <a:gd name="connsiteX4" fmla="*/ 0 w 21600"/>
                    <a:gd name="connsiteY4" fmla="*/ 16482 h 20177"/>
                    <a:gd name="connsiteX5" fmla="*/ 10161 w 21600"/>
                    <a:gd name="connsiteY5" fmla="*/ 16482 h 20177"/>
                    <a:gd name="connsiteX6" fmla="*/ 10161 w 21600"/>
                    <a:gd name="connsiteY6" fmla="*/ 20177 h 20177"/>
                    <a:gd name="connsiteX7" fmla="*/ 6191 w 21600"/>
                    <a:gd name="connsiteY7" fmla="*/ 17825 h 20177"/>
                    <a:gd name="connsiteX8" fmla="*/ 5282 w 21600"/>
                    <a:gd name="connsiteY8" fmla="*/ 18359 h 20177"/>
                    <a:gd name="connsiteX9" fmla="*/ 16318 w 21600"/>
                    <a:gd name="connsiteY9" fmla="*/ 18359 h 20177"/>
                    <a:gd name="connsiteX10" fmla="*/ 15443 w 21600"/>
                    <a:gd name="connsiteY10" fmla="*/ 17825 h 20177"/>
                    <a:gd name="connsiteX11" fmla="*/ 11439 w 21600"/>
                    <a:gd name="connsiteY11" fmla="*/ 20177 h 20177"/>
                    <a:gd name="connsiteX12" fmla="*/ 11439 w 21600"/>
                    <a:gd name="connsiteY12" fmla="*/ 16482 h 20177"/>
                    <a:gd name="connsiteX13" fmla="*/ 21600 w 21600"/>
                    <a:gd name="connsiteY13" fmla="*/ 16482 h 20177"/>
                    <a:gd name="connsiteX14" fmla="*/ 19850 w 21600"/>
                    <a:gd name="connsiteY14" fmla="*/ 5237 h 20177"/>
                    <a:gd name="connsiteX15" fmla="*/ 12213 w 21600"/>
                    <a:gd name="connsiteY15" fmla="*/ 5237 h 20177"/>
                    <a:gd name="connsiteX16" fmla="*/ 12213 w 21600"/>
                    <a:gd name="connsiteY16" fmla="*/ 968 h 20177"/>
                    <a:gd name="connsiteX17" fmla="*/ 19850 w 21600"/>
                    <a:gd name="connsiteY17" fmla="*/ 5237 h 20177"/>
                    <a:gd name="connsiteX18" fmla="*/ 10935 w 21600"/>
                    <a:gd name="connsiteY18" fmla="*/ 731 h 20177"/>
                    <a:gd name="connsiteX19" fmla="*/ 10935 w 21600"/>
                    <a:gd name="connsiteY19" fmla="*/ 3340 h 20177"/>
                    <a:gd name="connsiteX20" fmla="*/ 3465 w 21600"/>
                    <a:gd name="connsiteY20" fmla="*/ 3340 h 20177"/>
                    <a:gd name="connsiteX21" fmla="*/ 3465 w 21600"/>
                    <a:gd name="connsiteY21" fmla="*/ 4071 h 20177"/>
                    <a:gd name="connsiteX22" fmla="*/ 10935 w 21600"/>
                    <a:gd name="connsiteY22" fmla="*/ 4071 h 20177"/>
                    <a:gd name="connsiteX23" fmla="*/ 10935 w 21600"/>
                    <a:gd name="connsiteY23" fmla="*/ 5237 h 20177"/>
                    <a:gd name="connsiteX24" fmla="*/ 3465 w 21600"/>
                    <a:gd name="connsiteY24" fmla="*/ 5237 h 20177"/>
                    <a:gd name="connsiteX25" fmla="*/ 3465 w 21600"/>
                    <a:gd name="connsiteY25" fmla="*/ 5988 h 20177"/>
                    <a:gd name="connsiteX26" fmla="*/ 20321 w 21600"/>
                    <a:gd name="connsiteY26" fmla="*/ 5988 h 20177"/>
                    <a:gd name="connsiteX27" fmla="*/ 20321 w 21600"/>
                    <a:gd name="connsiteY27" fmla="*/ 15731 h 20177"/>
                    <a:gd name="connsiteX28" fmla="*/ 1279 w 21600"/>
                    <a:gd name="connsiteY28" fmla="*/ 15731 h 20177"/>
                    <a:gd name="connsiteX29" fmla="*/ 1279 w 21600"/>
                    <a:gd name="connsiteY29" fmla="*/ 731 h 20177"/>
                    <a:gd name="connsiteX30" fmla="*/ 10935 w 21600"/>
                    <a:gd name="connsiteY30" fmla="*/ 731 h 20177"/>
                    <a:gd name="connsiteX31" fmla="*/ 3465 w 21600"/>
                    <a:gd name="connsiteY31" fmla="*/ 12865 h 20177"/>
                    <a:gd name="connsiteX32" fmla="*/ 15645 w 21600"/>
                    <a:gd name="connsiteY32" fmla="*/ 12865 h 20177"/>
                    <a:gd name="connsiteX33" fmla="*/ 15645 w 21600"/>
                    <a:gd name="connsiteY33" fmla="*/ 13616 h 20177"/>
                    <a:gd name="connsiteX34" fmla="*/ 3465 w 21600"/>
                    <a:gd name="connsiteY34" fmla="*/ 13616 h 20177"/>
                    <a:gd name="connsiteX35" fmla="*/ 3465 w 21600"/>
                    <a:gd name="connsiteY35" fmla="*/ 12865 h 20177"/>
                    <a:gd name="connsiteX36" fmla="*/ 3465 w 21600"/>
                    <a:gd name="connsiteY36" fmla="*/ 10968 h 20177"/>
                    <a:gd name="connsiteX37" fmla="*/ 18067 w 21600"/>
                    <a:gd name="connsiteY37" fmla="*/ 10968 h 20177"/>
                    <a:gd name="connsiteX38" fmla="*/ 18067 w 21600"/>
                    <a:gd name="connsiteY38" fmla="*/ 11719 h 20177"/>
                    <a:gd name="connsiteX39" fmla="*/ 3465 w 21600"/>
                    <a:gd name="connsiteY39" fmla="*/ 11719 h 20177"/>
                    <a:gd name="connsiteX40" fmla="*/ 3465 w 21600"/>
                    <a:gd name="connsiteY40" fmla="*/ 10968 h 20177"/>
                    <a:gd name="connsiteX41" fmla="*/ 3465 w 21600"/>
                    <a:gd name="connsiteY41" fmla="*/ 9051 h 20177"/>
                    <a:gd name="connsiteX42" fmla="*/ 18067 w 21600"/>
                    <a:gd name="connsiteY42" fmla="*/ 9051 h 20177"/>
                    <a:gd name="connsiteX43" fmla="*/ 18067 w 21600"/>
                    <a:gd name="connsiteY43" fmla="*/ 9802 h 20177"/>
                    <a:gd name="connsiteX44" fmla="*/ 3465 w 21600"/>
                    <a:gd name="connsiteY44" fmla="*/ 9802 h 20177"/>
                    <a:gd name="connsiteX45" fmla="*/ 3465 w 21600"/>
                    <a:gd name="connsiteY45" fmla="*/ 9051 h 20177"/>
                    <a:gd name="connsiteX46" fmla="*/ 3465 w 21600"/>
                    <a:gd name="connsiteY46" fmla="*/ 7154 h 20177"/>
                    <a:gd name="connsiteX47" fmla="*/ 18067 w 21600"/>
                    <a:gd name="connsiteY47" fmla="*/ 7154 h 20177"/>
                    <a:gd name="connsiteX48" fmla="*/ 18067 w 21600"/>
                    <a:gd name="connsiteY48" fmla="*/ 7885 h 20177"/>
                    <a:gd name="connsiteX49" fmla="*/ 3465 w 21600"/>
                    <a:gd name="connsiteY49" fmla="*/ 7885 h 20177"/>
                    <a:gd name="connsiteX50" fmla="*/ 3465 w 21600"/>
                    <a:gd name="connsiteY50" fmla="*/ 7154 h 20177"/>
                    <a:gd name="connsiteX0" fmla="*/ 21600 w 21600"/>
                    <a:gd name="connsiteY0" fmla="*/ 16482 h 20177"/>
                    <a:gd name="connsiteX1" fmla="*/ 21600 w 21600"/>
                    <a:gd name="connsiteY1" fmla="*/ 5197 h 20177"/>
                    <a:gd name="connsiteX2" fmla="*/ 12314 w 21600"/>
                    <a:gd name="connsiteY2" fmla="*/ 0 h 20177"/>
                    <a:gd name="connsiteX3" fmla="*/ 0 w 21600"/>
                    <a:gd name="connsiteY3" fmla="*/ 0 h 20177"/>
                    <a:gd name="connsiteX4" fmla="*/ 0 w 21600"/>
                    <a:gd name="connsiteY4" fmla="*/ 16482 h 20177"/>
                    <a:gd name="connsiteX5" fmla="*/ 10161 w 21600"/>
                    <a:gd name="connsiteY5" fmla="*/ 16482 h 20177"/>
                    <a:gd name="connsiteX6" fmla="*/ 10161 w 21600"/>
                    <a:gd name="connsiteY6" fmla="*/ 20177 h 20177"/>
                    <a:gd name="connsiteX7" fmla="*/ 6191 w 21600"/>
                    <a:gd name="connsiteY7" fmla="*/ 17825 h 20177"/>
                    <a:gd name="connsiteX8" fmla="*/ 5282 w 21600"/>
                    <a:gd name="connsiteY8" fmla="*/ 18359 h 20177"/>
                    <a:gd name="connsiteX9" fmla="*/ 16318 w 21600"/>
                    <a:gd name="connsiteY9" fmla="*/ 18359 h 20177"/>
                    <a:gd name="connsiteX10" fmla="*/ 15443 w 21600"/>
                    <a:gd name="connsiteY10" fmla="*/ 17825 h 20177"/>
                    <a:gd name="connsiteX11" fmla="*/ 11439 w 21600"/>
                    <a:gd name="connsiteY11" fmla="*/ 16482 h 20177"/>
                    <a:gd name="connsiteX12" fmla="*/ 21600 w 21600"/>
                    <a:gd name="connsiteY12" fmla="*/ 16482 h 20177"/>
                    <a:gd name="connsiteX13" fmla="*/ 19850 w 21600"/>
                    <a:gd name="connsiteY13" fmla="*/ 5237 h 20177"/>
                    <a:gd name="connsiteX14" fmla="*/ 12213 w 21600"/>
                    <a:gd name="connsiteY14" fmla="*/ 5237 h 20177"/>
                    <a:gd name="connsiteX15" fmla="*/ 12213 w 21600"/>
                    <a:gd name="connsiteY15" fmla="*/ 968 h 20177"/>
                    <a:gd name="connsiteX16" fmla="*/ 19850 w 21600"/>
                    <a:gd name="connsiteY16" fmla="*/ 5237 h 20177"/>
                    <a:gd name="connsiteX17" fmla="*/ 10935 w 21600"/>
                    <a:gd name="connsiteY17" fmla="*/ 731 h 20177"/>
                    <a:gd name="connsiteX18" fmla="*/ 10935 w 21600"/>
                    <a:gd name="connsiteY18" fmla="*/ 3340 h 20177"/>
                    <a:gd name="connsiteX19" fmla="*/ 3465 w 21600"/>
                    <a:gd name="connsiteY19" fmla="*/ 3340 h 20177"/>
                    <a:gd name="connsiteX20" fmla="*/ 3465 w 21600"/>
                    <a:gd name="connsiteY20" fmla="*/ 4071 h 20177"/>
                    <a:gd name="connsiteX21" fmla="*/ 10935 w 21600"/>
                    <a:gd name="connsiteY21" fmla="*/ 4071 h 20177"/>
                    <a:gd name="connsiteX22" fmla="*/ 10935 w 21600"/>
                    <a:gd name="connsiteY22" fmla="*/ 5237 h 20177"/>
                    <a:gd name="connsiteX23" fmla="*/ 3465 w 21600"/>
                    <a:gd name="connsiteY23" fmla="*/ 5237 h 20177"/>
                    <a:gd name="connsiteX24" fmla="*/ 3465 w 21600"/>
                    <a:gd name="connsiteY24" fmla="*/ 5988 h 20177"/>
                    <a:gd name="connsiteX25" fmla="*/ 20321 w 21600"/>
                    <a:gd name="connsiteY25" fmla="*/ 5988 h 20177"/>
                    <a:gd name="connsiteX26" fmla="*/ 20321 w 21600"/>
                    <a:gd name="connsiteY26" fmla="*/ 15731 h 20177"/>
                    <a:gd name="connsiteX27" fmla="*/ 1279 w 21600"/>
                    <a:gd name="connsiteY27" fmla="*/ 15731 h 20177"/>
                    <a:gd name="connsiteX28" fmla="*/ 1279 w 21600"/>
                    <a:gd name="connsiteY28" fmla="*/ 731 h 20177"/>
                    <a:gd name="connsiteX29" fmla="*/ 10935 w 21600"/>
                    <a:gd name="connsiteY29" fmla="*/ 731 h 20177"/>
                    <a:gd name="connsiteX30" fmla="*/ 3465 w 21600"/>
                    <a:gd name="connsiteY30" fmla="*/ 12865 h 20177"/>
                    <a:gd name="connsiteX31" fmla="*/ 15645 w 21600"/>
                    <a:gd name="connsiteY31" fmla="*/ 12865 h 20177"/>
                    <a:gd name="connsiteX32" fmla="*/ 15645 w 21600"/>
                    <a:gd name="connsiteY32" fmla="*/ 13616 h 20177"/>
                    <a:gd name="connsiteX33" fmla="*/ 3465 w 21600"/>
                    <a:gd name="connsiteY33" fmla="*/ 13616 h 20177"/>
                    <a:gd name="connsiteX34" fmla="*/ 3465 w 21600"/>
                    <a:gd name="connsiteY34" fmla="*/ 12865 h 20177"/>
                    <a:gd name="connsiteX35" fmla="*/ 3465 w 21600"/>
                    <a:gd name="connsiteY35" fmla="*/ 10968 h 20177"/>
                    <a:gd name="connsiteX36" fmla="*/ 18067 w 21600"/>
                    <a:gd name="connsiteY36" fmla="*/ 10968 h 20177"/>
                    <a:gd name="connsiteX37" fmla="*/ 18067 w 21600"/>
                    <a:gd name="connsiteY37" fmla="*/ 11719 h 20177"/>
                    <a:gd name="connsiteX38" fmla="*/ 3465 w 21600"/>
                    <a:gd name="connsiteY38" fmla="*/ 11719 h 20177"/>
                    <a:gd name="connsiteX39" fmla="*/ 3465 w 21600"/>
                    <a:gd name="connsiteY39" fmla="*/ 10968 h 20177"/>
                    <a:gd name="connsiteX40" fmla="*/ 3465 w 21600"/>
                    <a:gd name="connsiteY40" fmla="*/ 9051 h 20177"/>
                    <a:gd name="connsiteX41" fmla="*/ 18067 w 21600"/>
                    <a:gd name="connsiteY41" fmla="*/ 9051 h 20177"/>
                    <a:gd name="connsiteX42" fmla="*/ 18067 w 21600"/>
                    <a:gd name="connsiteY42" fmla="*/ 9802 h 20177"/>
                    <a:gd name="connsiteX43" fmla="*/ 3465 w 21600"/>
                    <a:gd name="connsiteY43" fmla="*/ 9802 h 20177"/>
                    <a:gd name="connsiteX44" fmla="*/ 3465 w 21600"/>
                    <a:gd name="connsiteY44" fmla="*/ 9051 h 20177"/>
                    <a:gd name="connsiteX45" fmla="*/ 3465 w 21600"/>
                    <a:gd name="connsiteY45" fmla="*/ 7154 h 20177"/>
                    <a:gd name="connsiteX46" fmla="*/ 18067 w 21600"/>
                    <a:gd name="connsiteY46" fmla="*/ 7154 h 20177"/>
                    <a:gd name="connsiteX47" fmla="*/ 18067 w 21600"/>
                    <a:gd name="connsiteY47" fmla="*/ 7885 h 20177"/>
                    <a:gd name="connsiteX48" fmla="*/ 3465 w 21600"/>
                    <a:gd name="connsiteY48" fmla="*/ 7885 h 20177"/>
                    <a:gd name="connsiteX49" fmla="*/ 3465 w 21600"/>
                    <a:gd name="connsiteY49" fmla="*/ 7154 h 20177"/>
                    <a:gd name="connsiteX0" fmla="*/ 21600 w 21600"/>
                    <a:gd name="connsiteY0" fmla="*/ 16482 h 18359"/>
                    <a:gd name="connsiteX1" fmla="*/ 21600 w 21600"/>
                    <a:gd name="connsiteY1" fmla="*/ 5197 h 18359"/>
                    <a:gd name="connsiteX2" fmla="*/ 12314 w 21600"/>
                    <a:gd name="connsiteY2" fmla="*/ 0 h 18359"/>
                    <a:gd name="connsiteX3" fmla="*/ 0 w 21600"/>
                    <a:gd name="connsiteY3" fmla="*/ 0 h 18359"/>
                    <a:gd name="connsiteX4" fmla="*/ 0 w 21600"/>
                    <a:gd name="connsiteY4" fmla="*/ 16482 h 18359"/>
                    <a:gd name="connsiteX5" fmla="*/ 10161 w 21600"/>
                    <a:gd name="connsiteY5" fmla="*/ 16482 h 18359"/>
                    <a:gd name="connsiteX6" fmla="*/ 6191 w 21600"/>
                    <a:gd name="connsiteY6" fmla="*/ 17825 h 18359"/>
                    <a:gd name="connsiteX7" fmla="*/ 5282 w 21600"/>
                    <a:gd name="connsiteY7" fmla="*/ 18359 h 18359"/>
                    <a:gd name="connsiteX8" fmla="*/ 16318 w 21600"/>
                    <a:gd name="connsiteY8" fmla="*/ 18359 h 18359"/>
                    <a:gd name="connsiteX9" fmla="*/ 15443 w 21600"/>
                    <a:gd name="connsiteY9" fmla="*/ 17825 h 18359"/>
                    <a:gd name="connsiteX10" fmla="*/ 11439 w 21600"/>
                    <a:gd name="connsiteY10" fmla="*/ 16482 h 18359"/>
                    <a:gd name="connsiteX11" fmla="*/ 21600 w 21600"/>
                    <a:gd name="connsiteY11" fmla="*/ 16482 h 18359"/>
                    <a:gd name="connsiteX12" fmla="*/ 19850 w 21600"/>
                    <a:gd name="connsiteY12" fmla="*/ 5237 h 18359"/>
                    <a:gd name="connsiteX13" fmla="*/ 12213 w 21600"/>
                    <a:gd name="connsiteY13" fmla="*/ 5237 h 18359"/>
                    <a:gd name="connsiteX14" fmla="*/ 12213 w 21600"/>
                    <a:gd name="connsiteY14" fmla="*/ 968 h 18359"/>
                    <a:gd name="connsiteX15" fmla="*/ 19850 w 21600"/>
                    <a:gd name="connsiteY15" fmla="*/ 5237 h 18359"/>
                    <a:gd name="connsiteX16" fmla="*/ 10935 w 21600"/>
                    <a:gd name="connsiteY16" fmla="*/ 731 h 18359"/>
                    <a:gd name="connsiteX17" fmla="*/ 10935 w 21600"/>
                    <a:gd name="connsiteY17" fmla="*/ 3340 h 18359"/>
                    <a:gd name="connsiteX18" fmla="*/ 3465 w 21600"/>
                    <a:gd name="connsiteY18" fmla="*/ 3340 h 18359"/>
                    <a:gd name="connsiteX19" fmla="*/ 3465 w 21600"/>
                    <a:gd name="connsiteY19" fmla="*/ 4071 h 18359"/>
                    <a:gd name="connsiteX20" fmla="*/ 10935 w 21600"/>
                    <a:gd name="connsiteY20" fmla="*/ 4071 h 18359"/>
                    <a:gd name="connsiteX21" fmla="*/ 10935 w 21600"/>
                    <a:gd name="connsiteY21" fmla="*/ 5237 h 18359"/>
                    <a:gd name="connsiteX22" fmla="*/ 3465 w 21600"/>
                    <a:gd name="connsiteY22" fmla="*/ 5237 h 18359"/>
                    <a:gd name="connsiteX23" fmla="*/ 3465 w 21600"/>
                    <a:gd name="connsiteY23" fmla="*/ 5988 h 18359"/>
                    <a:gd name="connsiteX24" fmla="*/ 20321 w 21600"/>
                    <a:gd name="connsiteY24" fmla="*/ 5988 h 18359"/>
                    <a:gd name="connsiteX25" fmla="*/ 20321 w 21600"/>
                    <a:gd name="connsiteY25" fmla="*/ 15731 h 18359"/>
                    <a:gd name="connsiteX26" fmla="*/ 1279 w 21600"/>
                    <a:gd name="connsiteY26" fmla="*/ 15731 h 18359"/>
                    <a:gd name="connsiteX27" fmla="*/ 1279 w 21600"/>
                    <a:gd name="connsiteY27" fmla="*/ 731 h 18359"/>
                    <a:gd name="connsiteX28" fmla="*/ 10935 w 21600"/>
                    <a:gd name="connsiteY28" fmla="*/ 731 h 18359"/>
                    <a:gd name="connsiteX29" fmla="*/ 3465 w 21600"/>
                    <a:gd name="connsiteY29" fmla="*/ 12865 h 18359"/>
                    <a:gd name="connsiteX30" fmla="*/ 15645 w 21600"/>
                    <a:gd name="connsiteY30" fmla="*/ 12865 h 18359"/>
                    <a:gd name="connsiteX31" fmla="*/ 15645 w 21600"/>
                    <a:gd name="connsiteY31" fmla="*/ 13616 h 18359"/>
                    <a:gd name="connsiteX32" fmla="*/ 3465 w 21600"/>
                    <a:gd name="connsiteY32" fmla="*/ 13616 h 18359"/>
                    <a:gd name="connsiteX33" fmla="*/ 3465 w 21600"/>
                    <a:gd name="connsiteY33" fmla="*/ 12865 h 18359"/>
                    <a:gd name="connsiteX34" fmla="*/ 3465 w 21600"/>
                    <a:gd name="connsiteY34" fmla="*/ 10968 h 18359"/>
                    <a:gd name="connsiteX35" fmla="*/ 18067 w 21600"/>
                    <a:gd name="connsiteY35" fmla="*/ 10968 h 18359"/>
                    <a:gd name="connsiteX36" fmla="*/ 18067 w 21600"/>
                    <a:gd name="connsiteY36" fmla="*/ 11719 h 18359"/>
                    <a:gd name="connsiteX37" fmla="*/ 3465 w 21600"/>
                    <a:gd name="connsiteY37" fmla="*/ 11719 h 18359"/>
                    <a:gd name="connsiteX38" fmla="*/ 3465 w 21600"/>
                    <a:gd name="connsiteY38" fmla="*/ 10968 h 18359"/>
                    <a:gd name="connsiteX39" fmla="*/ 3465 w 21600"/>
                    <a:gd name="connsiteY39" fmla="*/ 9051 h 18359"/>
                    <a:gd name="connsiteX40" fmla="*/ 18067 w 21600"/>
                    <a:gd name="connsiteY40" fmla="*/ 9051 h 18359"/>
                    <a:gd name="connsiteX41" fmla="*/ 18067 w 21600"/>
                    <a:gd name="connsiteY41" fmla="*/ 9802 h 18359"/>
                    <a:gd name="connsiteX42" fmla="*/ 3465 w 21600"/>
                    <a:gd name="connsiteY42" fmla="*/ 9802 h 18359"/>
                    <a:gd name="connsiteX43" fmla="*/ 3465 w 21600"/>
                    <a:gd name="connsiteY43" fmla="*/ 9051 h 18359"/>
                    <a:gd name="connsiteX44" fmla="*/ 3465 w 21600"/>
                    <a:gd name="connsiteY44" fmla="*/ 7154 h 18359"/>
                    <a:gd name="connsiteX45" fmla="*/ 18067 w 21600"/>
                    <a:gd name="connsiteY45" fmla="*/ 7154 h 18359"/>
                    <a:gd name="connsiteX46" fmla="*/ 18067 w 21600"/>
                    <a:gd name="connsiteY46" fmla="*/ 7885 h 18359"/>
                    <a:gd name="connsiteX47" fmla="*/ 3465 w 21600"/>
                    <a:gd name="connsiteY47" fmla="*/ 7885 h 18359"/>
                    <a:gd name="connsiteX48" fmla="*/ 3465 w 21600"/>
                    <a:gd name="connsiteY48" fmla="*/ 7154 h 18359"/>
                    <a:gd name="connsiteX0" fmla="*/ 21600 w 21600"/>
                    <a:gd name="connsiteY0" fmla="*/ 16482 h 18359"/>
                    <a:gd name="connsiteX1" fmla="*/ 21600 w 21600"/>
                    <a:gd name="connsiteY1" fmla="*/ 5197 h 18359"/>
                    <a:gd name="connsiteX2" fmla="*/ 12314 w 21600"/>
                    <a:gd name="connsiteY2" fmla="*/ 0 h 18359"/>
                    <a:gd name="connsiteX3" fmla="*/ 0 w 21600"/>
                    <a:gd name="connsiteY3" fmla="*/ 0 h 18359"/>
                    <a:gd name="connsiteX4" fmla="*/ 0 w 21600"/>
                    <a:gd name="connsiteY4" fmla="*/ 16482 h 18359"/>
                    <a:gd name="connsiteX5" fmla="*/ 10161 w 21600"/>
                    <a:gd name="connsiteY5" fmla="*/ 16482 h 18359"/>
                    <a:gd name="connsiteX6" fmla="*/ 6191 w 21600"/>
                    <a:gd name="connsiteY6" fmla="*/ 17825 h 18359"/>
                    <a:gd name="connsiteX7" fmla="*/ 5282 w 21600"/>
                    <a:gd name="connsiteY7" fmla="*/ 18359 h 18359"/>
                    <a:gd name="connsiteX8" fmla="*/ 15443 w 21600"/>
                    <a:gd name="connsiteY8" fmla="*/ 17825 h 18359"/>
                    <a:gd name="connsiteX9" fmla="*/ 11439 w 21600"/>
                    <a:gd name="connsiteY9" fmla="*/ 16482 h 18359"/>
                    <a:gd name="connsiteX10" fmla="*/ 21600 w 21600"/>
                    <a:gd name="connsiteY10" fmla="*/ 16482 h 18359"/>
                    <a:gd name="connsiteX11" fmla="*/ 19850 w 21600"/>
                    <a:gd name="connsiteY11" fmla="*/ 5237 h 18359"/>
                    <a:gd name="connsiteX12" fmla="*/ 12213 w 21600"/>
                    <a:gd name="connsiteY12" fmla="*/ 5237 h 18359"/>
                    <a:gd name="connsiteX13" fmla="*/ 12213 w 21600"/>
                    <a:gd name="connsiteY13" fmla="*/ 968 h 18359"/>
                    <a:gd name="connsiteX14" fmla="*/ 19850 w 21600"/>
                    <a:gd name="connsiteY14" fmla="*/ 5237 h 18359"/>
                    <a:gd name="connsiteX15" fmla="*/ 10935 w 21600"/>
                    <a:gd name="connsiteY15" fmla="*/ 731 h 18359"/>
                    <a:gd name="connsiteX16" fmla="*/ 10935 w 21600"/>
                    <a:gd name="connsiteY16" fmla="*/ 3340 h 18359"/>
                    <a:gd name="connsiteX17" fmla="*/ 3465 w 21600"/>
                    <a:gd name="connsiteY17" fmla="*/ 3340 h 18359"/>
                    <a:gd name="connsiteX18" fmla="*/ 3465 w 21600"/>
                    <a:gd name="connsiteY18" fmla="*/ 4071 h 18359"/>
                    <a:gd name="connsiteX19" fmla="*/ 10935 w 21600"/>
                    <a:gd name="connsiteY19" fmla="*/ 4071 h 18359"/>
                    <a:gd name="connsiteX20" fmla="*/ 10935 w 21600"/>
                    <a:gd name="connsiteY20" fmla="*/ 5237 h 18359"/>
                    <a:gd name="connsiteX21" fmla="*/ 3465 w 21600"/>
                    <a:gd name="connsiteY21" fmla="*/ 5237 h 18359"/>
                    <a:gd name="connsiteX22" fmla="*/ 3465 w 21600"/>
                    <a:gd name="connsiteY22" fmla="*/ 5988 h 18359"/>
                    <a:gd name="connsiteX23" fmla="*/ 20321 w 21600"/>
                    <a:gd name="connsiteY23" fmla="*/ 5988 h 18359"/>
                    <a:gd name="connsiteX24" fmla="*/ 20321 w 21600"/>
                    <a:gd name="connsiteY24" fmla="*/ 15731 h 18359"/>
                    <a:gd name="connsiteX25" fmla="*/ 1279 w 21600"/>
                    <a:gd name="connsiteY25" fmla="*/ 15731 h 18359"/>
                    <a:gd name="connsiteX26" fmla="*/ 1279 w 21600"/>
                    <a:gd name="connsiteY26" fmla="*/ 731 h 18359"/>
                    <a:gd name="connsiteX27" fmla="*/ 10935 w 21600"/>
                    <a:gd name="connsiteY27" fmla="*/ 731 h 18359"/>
                    <a:gd name="connsiteX28" fmla="*/ 3465 w 21600"/>
                    <a:gd name="connsiteY28" fmla="*/ 12865 h 18359"/>
                    <a:gd name="connsiteX29" fmla="*/ 15645 w 21600"/>
                    <a:gd name="connsiteY29" fmla="*/ 12865 h 18359"/>
                    <a:gd name="connsiteX30" fmla="*/ 15645 w 21600"/>
                    <a:gd name="connsiteY30" fmla="*/ 13616 h 18359"/>
                    <a:gd name="connsiteX31" fmla="*/ 3465 w 21600"/>
                    <a:gd name="connsiteY31" fmla="*/ 13616 h 18359"/>
                    <a:gd name="connsiteX32" fmla="*/ 3465 w 21600"/>
                    <a:gd name="connsiteY32" fmla="*/ 12865 h 18359"/>
                    <a:gd name="connsiteX33" fmla="*/ 3465 w 21600"/>
                    <a:gd name="connsiteY33" fmla="*/ 10968 h 18359"/>
                    <a:gd name="connsiteX34" fmla="*/ 18067 w 21600"/>
                    <a:gd name="connsiteY34" fmla="*/ 10968 h 18359"/>
                    <a:gd name="connsiteX35" fmla="*/ 18067 w 21600"/>
                    <a:gd name="connsiteY35" fmla="*/ 11719 h 18359"/>
                    <a:gd name="connsiteX36" fmla="*/ 3465 w 21600"/>
                    <a:gd name="connsiteY36" fmla="*/ 11719 h 18359"/>
                    <a:gd name="connsiteX37" fmla="*/ 3465 w 21600"/>
                    <a:gd name="connsiteY37" fmla="*/ 10968 h 18359"/>
                    <a:gd name="connsiteX38" fmla="*/ 3465 w 21600"/>
                    <a:gd name="connsiteY38" fmla="*/ 9051 h 18359"/>
                    <a:gd name="connsiteX39" fmla="*/ 18067 w 21600"/>
                    <a:gd name="connsiteY39" fmla="*/ 9051 h 18359"/>
                    <a:gd name="connsiteX40" fmla="*/ 18067 w 21600"/>
                    <a:gd name="connsiteY40" fmla="*/ 9802 h 18359"/>
                    <a:gd name="connsiteX41" fmla="*/ 3465 w 21600"/>
                    <a:gd name="connsiteY41" fmla="*/ 9802 h 18359"/>
                    <a:gd name="connsiteX42" fmla="*/ 3465 w 21600"/>
                    <a:gd name="connsiteY42" fmla="*/ 9051 h 18359"/>
                    <a:gd name="connsiteX43" fmla="*/ 3465 w 21600"/>
                    <a:gd name="connsiteY43" fmla="*/ 7154 h 18359"/>
                    <a:gd name="connsiteX44" fmla="*/ 18067 w 21600"/>
                    <a:gd name="connsiteY44" fmla="*/ 7154 h 18359"/>
                    <a:gd name="connsiteX45" fmla="*/ 18067 w 21600"/>
                    <a:gd name="connsiteY45" fmla="*/ 7885 h 18359"/>
                    <a:gd name="connsiteX46" fmla="*/ 3465 w 21600"/>
                    <a:gd name="connsiteY46" fmla="*/ 7885 h 18359"/>
                    <a:gd name="connsiteX47" fmla="*/ 3465 w 21600"/>
                    <a:gd name="connsiteY47" fmla="*/ 7154 h 18359"/>
                    <a:gd name="connsiteX0" fmla="*/ 21600 w 21600"/>
                    <a:gd name="connsiteY0" fmla="*/ 16482 h 17825"/>
                    <a:gd name="connsiteX1" fmla="*/ 21600 w 21600"/>
                    <a:gd name="connsiteY1" fmla="*/ 5197 h 17825"/>
                    <a:gd name="connsiteX2" fmla="*/ 12314 w 21600"/>
                    <a:gd name="connsiteY2" fmla="*/ 0 h 17825"/>
                    <a:gd name="connsiteX3" fmla="*/ 0 w 21600"/>
                    <a:gd name="connsiteY3" fmla="*/ 0 h 17825"/>
                    <a:gd name="connsiteX4" fmla="*/ 0 w 21600"/>
                    <a:gd name="connsiteY4" fmla="*/ 16482 h 17825"/>
                    <a:gd name="connsiteX5" fmla="*/ 10161 w 21600"/>
                    <a:gd name="connsiteY5" fmla="*/ 16482 h 17825"/>
                    <a:gd name="connsiteX6" fmla="*/ 6191 w 21600"/>
                    <a:gd name="connsiteY6" fmla="*/ 17825 h 17825"/>
                    <a:gd name="connsiteX7" fmla="*/ 15443 w 21600"/>
                    <a:gd name="connsiteY7" fmla="*/ 17825 h 17825"/>
                    <a:gd name="connsiteX8" fmla="*/ 11439 w 21600"/>
                    <a:gd name="connsiteY8" fmla="*/ 16482 h 17825"/>
                    <a:gd name="connsiteX9" fmla="*/ 21600 w 21600"/>
                    <a:gd name="connsiteY9" fmla="*/ 16482 h 17825"/>
                    <a:gd name="connsiteX10" fmla="*/ 19850 w 21600"/>
                    <a:gd name="connsiteY10" fmla="*/ 5237 h 17825"/>
                    <a:gd name="connsiteX11" fmla="*/ 12213 w 21600"/>
                    <a:gd name="connsiteY11" fmla="*/ 5237 h 17825"/>
                    <a:gd name="connsiteX12" fmla="*/ 12213 w 21600"/>
                    <a:gd name="connsiteY12" fmla="*/ 968 h 17825"/>
                    <a:gd name="connsiteX13" fmla="*/ 19850 w 21600"/>
                    <a:gd name="connsiteY13" fmla="*/ 5237 h 17825"/>
                    <a:gd name="connsiteX14" fmla="*/ 10935 w 21600"/>
                    <a:gd name="connsiteY14" fmla="*/ 731 h 17825"/>
                    <a:gd name="connsiteX15" fmla="*/ 10935 w 21600"/>
                    <a:gd name="connsiteY15" fmla="*/ 3340 h 17825"/>
                    <a:gd name="connsiteX16" fmla="*/ 3465 w 21600"/>
                    <a:gd name="connsiteY16" fmla="*/ 3340 h 17825"/>
                    <a:gd name="connsiteX17" fmla="*/ 3465 w 21600"/>
                    <a:gd name="connsiteY17" fmla="*/ 4071 h 17825"/>
                    <a:gd name="connsiteX18" fmla="*/ 10935 w 21600"/>
                    <a:gd name="connsiteY18" fmla="*/ 4071 h 17825"/>
                    <a:gd name="connsiteX19" fmla="*/ 10935 w 21600"/>
                    <a:gd name="connsiteY19" fmla="*/ 5237 h 17825"/>
                    <a:gd name="connsiteX20" fmla="*/ 3465 w 21600"/>
                    <a:gd name="connsiteY20" fmla="*/ 5237 h 17825"/>
                    <a:gd name="connsiteX21" fmla="*/ 3465 w 21600"/>
                    <a:gd name="connsiteY21" fmla="*/ 5988 h 17825"/>
                    <a:gd name="connsiteX22" fmla="*/ 20321 w 21600"/>
                    <a:gd name="connsiteY22" fmla="*/ 5988 h 17825"/>
                    <a:gd name="connsiteX23" fmla="*/ 20321 w 21600"/>
                    <a:gd name="connsiteY23" fmla="*/ 15731 h 17825"/>
                    <a:gd name="connsiteX24" fmla="*/ 1279 w 21600"/>
                    <a:gd name="connsiteY24" fmla="*/ 15731 h 17825"/>
                    <a:gd name="connsiteX25" fmla="*/ 1279 w 21600"/>
                    <a:gd name="connsiteY25" fmla="*/ 731 h 17825"/>
                    <a:gd name="connsiteX26" fmla="*/ 10935 w 21600"/>
                    <a:gd name="connsiteY26" fmla="*/ 731 h 17825"/>
                    <a:gd name="connsiteX27" fmla="*/ 3465 w 21600"/>
                    <a:gd name="connsiteY27" fmla="*/ 12865 h 17825"/>
                    <a:gd name="connsiteX28" fmla="*/ 15645 w 21600"/>
                    <a:gd name="connsiteY28" fmla="*/ 12865 h 17825"/>
                    <a:gd name="connsiteX29" fmla="*/ 15645 w 21600"/>
                    <a:gd name="connsiteY29" fmla="*/ 13616 h 17825"/>
                    <a:gd name="connsiteX30" fmla="*/ 3465 w 21600"/>
                    <a:gd name="connsiteY30" fmla="*/ 13616 h 17825"/>
                    <a:gd name="connsiteX31" fmla="*/ 3465 w 21600"/>
                    <a:gd name="connsiteY31" fmla="*/ 12865 h 17825"/>
                    <a:gd name="connsiteX32" fmla="*/ 3465 w 21600"/>
                    <a:gd name="connsiteY32" fmla="*/ 10968 h 17825"/>
                    <a:gd name="connsiteX33" fmla="*/ 18067 w 21600"/>
                    <a:gd name="connsiteY33" fmla="*/ 10968 h 17825"/>
                    <a:gd name="connsiteX34" fmla="*/ 18067 w 21600"/>
                    <a:gd name="connsiteY34" fmla="*/ 11719 h 17825"/>
                    <a:gd name="connsiteX35" fmla="*/ 3465 w 21600"/>
                    <a:gd name="connsiteY35" fmla="*/ 11719 h 17825"/>
                    <a:gd name="connsiteX36" fmla="*/ 3465 w 21600"/>
                    <a:gd name="connsiteY36" fmla="*/ 10968 h 17825"/>
                    <a:gd name="connsiteX37" fmla="*/ 3465 w 21600"/>
                    <a:gd name="connsiteY37" fmla="*/ 9051 h 17825"/>
                    <a:gd name="connsiteX38" fmla="*/ 18067 w 21600"/>
                    <a:gd name="connsiteY38" fmla="*/ 9051 h 17825"/>
                    <a:gd name="connsiteX39" fmla="*/ 18067 w 21600"/>
                    <a:gd name="connsiteY39" fmla="*/ 9802 h 17825"/>
                    <a:gd name="connsiteX40" fmla="*/ 3465 w 21600"/>
                    <a:gd name="connsiteY40" fmla="*/ 9802 h 17825"/>
                    <a:gd name="connsiteX41" fmla="*/ 3465 w 21600"/>
                    <a:gd name="connsiteY41" fmla="*/ 9051 h 17825"/>
                    <a:gd name="connsiteX42" fmla="*/ 3465 w 21600"/>
                    <a:gd name="connsiteY42" fmla="*/ 7154 h 17825"/>
                    <a:gd name="connsiteX43" fmla="*/ 18067 w 21600"/>
                    <a:gd name="connsiteY43" fmla="*/ 7154 h 17825"/>
                    <a:gd name="connsiteX44" fmla="*/ 18067 w 21600"/>
                    <a:gd name="connsiteY44" fmla="*/ 7885 h 17825"/>
                    <a:gd name="connsiteX45" fmla="*/ 3465 w 21600"/>
                    <a:gd name="connsiteY45" fmla="*/ 7885 h 17825"/>
                    <a:gd name="connsiteX46" fmla="*/ 3465 w 21600"/>
                    <a:gd name="connsiteY46" fmla="*/ 7154 h 17825"/>
                    <a:gd name="connsiteX0" fmla="*/ 21600 w 21600"/>
                    <a:gd name="connsiteY0" fmla="*/ 16482 h 17825"/>
                    <a:gd name="connsiteX1" fmla="*/ 21600 w 21600"/>
                    <a:gd name="connsiteY1" fmla="*/ 5197 h 17825"/>
                    <a:gd name="connsiteX2" fmla="*/ 12314 w 21600"/>
                    <a:gd name="connsiteY2" fmla="*/ 0 h 17825"/>
                    <a:gd name="connsiteX3" fmla="*/ 0 w 21600"/>
                    <a:gd name="connsiteY3" fmla="*/ 0 h 17825"/>
                    <a:gd name="connsiteX4" fmla="*/ 0 w 21600"/>
                    <a:gd name="connsiteY4" fmla="*/ 16482 h 17825"/>
                    <a:gd name="connsiteX5" fmla="*/ 10161 w 21600"/>
                    <a:gd name="connsiteY5" fmla="*/ 16482 h 17825"/>
                    <a:gd name="connsiteX6" fmla="*/ 6191 w 21600"/>
                    <a:gd name="connsiteY6" fmla="*/ 17825 h 17825"/>
                    <a:gd name="connsiteX7" fmla="*/ 11439 w 21600"/>
                    <a:gd name="connsiteY7" fmla="*/ 16482 h 17825"/>
                    <a:gd name="connsiteX8" fmla="*/ 21600 w 21600"/>
                    <a:gd name="connsiteY8" fmla="*/ 16482 h 17825"/>
                    <a:gd name="connsiteX9" fmla="*/ 19850 w 21600"/>
                    <a:gd name="connsiteY9" fmla="*/ 5237 h 17825"/>
                    <a:gd name="connsiteX10" fmla="*/ 12213 w 21600"/>
                    <a:gd name="connsiteY10" fmla="*/ 5237 h 17825"/>
                    <a:gd name="connsiteX11" fmla="*/ 12213 w 21600"/>
                    <a:gd name="connsiteY11" fmla="*/ 968 h 17825"/>
                    <a:gd name="connsiteX12" fmla="*/ 19850 w 21600"/>
                    <a:gd name="connsiteY12" fmla="*/ 5237 h 17825"/>
                    <a:gd name="connsiteX13" fmla="*/ 10935 w 21600"/>
                    <a:gd name="connsiteY13" fmla="*/ 731 h 17825"/>
                    <a:gd name="connsiteX14" fmla="*/ 10935 w 21600"/>
                    <a:gd name="connsiteY14" fmla="*/ 3340 h 17825"/>
                    <a:gd name="connsiteX15" fmla="*/ 3465 w 21600"/>
                    <a:gd name="connsiteY15" fmla="*/ 3340 h 17825"/>
                    <a:gd name="connsiteX16" fmla="*/ 3465 w 21600"/>
                    <a:gd name="connsiteY16" fmla="*/ 4071 h 17825"/>
                    <a:gd name="connsiteX17" fmla="*/ 10935 w 21600"/>
                    <a:gd name="connsiteY17" fmla="*/ 4071 h 17825"/>
                    <a:gd name="connsiteX18" fmla="*/ 10935 w 21600"/>
                    <a:gd name="connsiteY18" fmla="*/ 5237 h 17825"/>
                    <a:gd name="connsiteX19" fmla="*/ 3465 w 21600"/>
                    <a:gd name="connsiteY19" fmla="*/ 5237 h 17825"/>
                    <a:gd name="connsiteX20" fmla="*/ 3465 w 21600"/>
                    <a:gd name="connsiteY20" fmla="*/ 5988 h 17825"/>
                    <a:gd name="connsiteX21" fmla="*/ 20321 w 21600"/>
                    <a:gd name="connsiteY21" fmla="*/ 5988 h 17825"/>
                    <a:gd name="connsiteX22" fmla="*/ 20321 w 21600"/>
                    <a:gd name="connsiteY22" fmla="*/ 15731 h 17825"/>
                    <a:gd name="connsiteX23" fmla="*/ 1279 w 21600"/>
                    <a:gd name="connsiteY23" fmla="*/ 15731 h 17825"/>
                    <a:gd name="connsiteX24" fmla="*/ 1279 w 21600"/>
                    <a:gd name="connsiteY24" fmla="*/ 731 h 17825"/>
                    <a:gd name="connsiteX25" fmla="*/ 10935 w 21600"/>
                    <a:gd name="connsiteY25" fmla="*/ 731 h 17825"/>
                    <a:gd name="connsiteX26" fmla="*/ 3465 w 21600"/>
                    <a:gd name="connsiteY26" fmla="*/ 12865 h 17825"/>
                    <a:gd name="connsiteX27" fmla="*/ 15645 w 21600"/>
                    <a:gd name="connsiteY27" fmla="*/ 12865 h 17825"/>
                    <a:gd name="connsiteX28" fmla="*/ 15645 w 21600"/>
                    <a:gd name="connsiteY28" fmla="*/ 13616 h 17825"/>
                    <a:gd name="connsiteX29" fmla="*/ 3465 w 21600"/>
                    <a:gd name="connsiteY29" fmla="*/ 13616 h 17825"/>
                    <a:gd name="connsiteX30" fmla="*/ 3465 w 21600"/>
                    <a:gd name="connsiteY30" fmla="*/ 12865 h 17825"/>
                    <a:gd name="connsiteX31" fmla="*/ 3465 w 21600"/>
                    <a:gd name="connsiteY31" fmla="*/ 10968 h 17825"/>
                    <a:gd name="connsiteX32" fmla="*/ 18067 w 21600"/>
                    <a:gd name="connsiteY32" fmla="*/ 10968 h 17825"/>
                    <a:gd name="connsiteX33" fmla="*/ 18067 w 21600"/>
                    <a:gd name="connsiteY33" fmla="*/ 11719 h 17825"/>
                    <a:gd name="connsiteX34" fmla="*/ 3465 w 21600"/>
                    <a:gd name="connsiteY34" fmla="*/ 11719 h 17825"/>
                    <a:gd name="connsiteX35" fmla="*/ 3465 w 21600"/>
                    <a:gd name="connsiteY35" fmla="*/ 10968 h 17825"/>
                    <a:gd name="connsiteX36" fmla="*/ 3465 w 21600"/>
                    <a:gd name="connsiteY36" fmla="*/ 9051 h 17825"/>
                    <a:gd name="connsiteX37" fmla="*/ 18067 w 21600"/>
                    <a:gd name="connsiteY37" fmla="*/ 9051 h 17825"/>
                    <a:gd name="connsiteX38" fmla="*/ 18067 w 21600"/>
                    <a:gd name="connsiteY38" fmla="*/ 9802 h 17825"/>
                    <a:gd name="connsiteX39" fmla="*/ 3465 w 21600"/>
                    <a:gd name="connsiteY39" fmla="*/ 9802 h 17825"/>
                    <a:gd name="connsiteX40" fmla="*/ 3465 w 21600"/>
                    <a:gd name="connsiteY40" fmla="*/ 9051 h 17825"/>
                    <a:gd name="connsiteX41" fmla="*/ 3465 w 21600"/>
                    <a:gd name="connsiteY41" fmla="*/ 7154 h 17825"/>
                    <a:gd name="connsiteX42" fmla="*/ 18067 w 21600"/>
                    <a:gd name="connsiteY42" fmla="*/ 7154 h 17825"/>
                    <a:gd name="connsiteX43" fmla="*/ 18067 w 21600"/>
                    <a:gd name="connsiteY43" fmla="*/ 7885 h 17825"/>
                    <a:gd name="connsiteX44" fmla="*/ 3465 w 21600"/>
                    <a:gd name="connsiteY44" fmla="*/ 7885 h 17825"/>
                    <a:gd name="connsiteX45" fmla="*/ 3465 w 21600"/>
                    <a:gd name="connsiteY45" fmla="*/ 7154 h 17825"/>
                    <a:gd name="connsiteX0" fmla="*/ 21600 w 21600"/>
                    <a:gd name="connsiteY0" fmla="*/ 16482 h 16482"/>
                    <a:gd name="connsiteX1" fmla="*/ 21600 w 21600"/>
                    <a:gd name="connsiteY1" fmla="*/ 5197 h 16482"/>
                    <a:gd name="connsiteX2" fmla="*/ 12314 w 21600"/>
                    <a:gd name="connsiteY2" fmla="*/ 0 h 16482"/>
                    <a:gd name="connsiteX3" fmla="*/ 0 w 21600"/>
                    <a:gd name="connsiteY3" fmla="*/ 0 h 16482"/>
                    <a:gd name="connsiteX4" fmla="*/ 0 w 21600"/>
                    <a:gd name="connsiteY4" fmla="*/ 16482 h 16482"/>
                    <a:gd name="connsiteX5" fmla="*/ 10161 w 21600"/>
                    <a:gd name="connsiteY5" fmla="*/ 16482 h 16482"/>
                    <a:gd name="connsiteX6" fmla="*/ 11439 w 21600"/>
                    <a:gd name="connsiteY6" fmla="*/ 16482 h 16482"/>
                    <a:gd name="connsiteX7" fmla="*/ 21600 w 21600"/>
                    <a:gd name="connsiteY7" fmla="*/ 16482 h 16482"/>
                    <a:gd name="connsiteX8" fmla="*/ 19850 w 21600"/>
                    <a:gd name="connsiteY8" fmla="*/ 5237 h 16482"/>
                    <a:gd name="connsiteX9" fmla="*/ 12213 w 21600"/>
                    <a:gd name="connsiteY9" fmla="*/ 5237 h 16482"/>
                    <a:gd name="connsiteX10" fmla="*/ 12213 w 21600"/>
                    <a:gd name="connsiteY10" fmla="*/ 968 h 16482"/>
                    <a:gd name="connsiteX11" fmla="*/ 19850 w 21600"/>
                    <a:gd name="connsiteY11" fmla="*/ 5237 h 16482"/>
                    <a:gd name="connsiteX12" fmla="*/ 10935 w 21600"/>
                    <a:gd name="connsiteY12" fmla="*/ 731 h 16482"/>
                    <a:gd name="connsiteX13" fmla="*/ 10935 w 21600"/>
                    <a:gd name="connsiteY13" fmla="*/ 3340 h 16482"/>
                    <a:gd name="connsiteX14" fmla="*/ 3465 w 21600"/>
                    <a:gd name="connsiteY14" fmla="*/ 3340 h 16482"/>
                    <a:gd name="connsiteX15" fmla="*/ 3465 w 21600"/>
                    <a:gd name="connsiteY15" fmla="*/ 4071 h 16482"/>
                    <a:gd name="connsiteX16" fmla="*/ 10935 w 21600"/>
                    <a:gd name="connsiteY16" fmla="*/ 4071 h 16482"/>
                    <a:gd name="connsiteX17" fmla="*/ 10935 w 21600"/>
                    <a:gd name="connsiteY17" fmla="*/ 5237 h 16482"/>
                    <a:gd name="connsiteX18" fmla="*/ 3465 w 21600"/>
                    <a:gd name="connsiteY18" fmla="*/ 5237 h 16482"/>
                    <a:gd name="connsiteX19" fmla="*/ 3465 w 21600"/>
                    <a:gd name="connsiteY19" fmla="*/ 5988 h 16482"/>
                    <a:gd name="connsiteX20" fmla="*/ 20321 w 21600"/>
                    <a:gd name="connsiteY20" fmla="*/ 5988 h 16482"/>
                    <a:gd name="connsiteX21" fmla="*/ 20321 w 21600"/>
                    <a:gd name="connsiteY21" fmla="*/ 15731 h 16482"/>
                    <a:gd name="connsiteX22" fmla="*/ 1279 w 21600"/>
                    <a:gd name="connsiteY22" fmla="*/ 15731 h 16482"/>
                    <a:gd name="connsiteX23" fmla="*/ 1279 w 21600"/>
                    <a:gd name="connsiteY23" fmla="*/ 731 h 16482"/>
                    <a:gd name="connsiteX24" fmla="*/ 10935 w 21600"/>
                    <a:gd name="connsiteY24" fmla="*/ 731 h 16482"/>
                    <a:gd name="connsiteX25" fmla="*/ 3465 w 21600"/>
                    <a:gd name="connsiteY25" fmla="*/ 12865 h 16482"/>
                    <a:gd name="connsiteX26" fmla="*/ 15645 w 21600"/>
                    <a:gd name="connsiteY26" fmla="*/ 12865 h 16482"/>
                    <a:gd name="connsiteX27" fmla="*/ 15645 w 21600"/>
                    <a:gd name="connsiteY27" fmla="*/ 13616 h 16482"/>
                    <a:gd name="connsiteX28" fmla="*/ 3465 w 21600"/>
                    <a:gd name="connsiteY28" fmla="*/ 13616 h 16482"/>
                    <a:gd name="connsiteX29" fmla="*/ 3465 w 21600"/>
                    <a:gd name="connsiteY29" fmla="*/ 12865 h 16482"/>
                    <a:gd name="connsiteX30" fmla="*/ 3465 w 21600"/>
                    <a:gd name="connsiteY30" fmla="*/ 10968 h 16482"/>
                    <a:gd name="connsiteX31" fmla="*/ 18067 w 21600"/>
                    <a:gd name="connsiteY31" fmla="*/ 10968 h 16482"/>
                    <a:gd name="connsiteX32" fmla="*/ 18067 w 21600"/>
                    <a:gd name="connsiteY32" fmla="*/ 11719 h 16482"/>
                    <a:gd name="connsiteX33" fmla="*/ 3465 w 21600"/>
                    <a:gd name="connsiteY33" fmla="*/ 11719 h 16482"/>
                    <a:gd name="connsiteX34" fmla="*/ 3465 w 21600"/>
                    <a:gd name="connsiteY34" fmla="*/ 10968 h 16482"/>
                    <a:gd name="connsiteX35" fmla="*/ 3465 w 21600"/>
                    <a:gd name="connsiteY35" fmla="*/ 9051 h 16482"/>
                    <a:gd name="connsiteX36" fmla="*/ 18067 w 21600"/>
                    <a:gd name="connsiteY36" fmla="*/ 9051 h 16482"/>
                    <a:gd name="connsiteX37" fmla="*/ 18067 w 21600"/>
                    <a:gd name="connsiteY37" fmla="*/ 9802 h 16482"/>
                    <a:gd name="connsiteX38" fmla="*/ 3465 w 21600"/>
                    <a:gd name="connsiteY38" fmla="*/ 9802 h 16482"/>
                    <a:gd name="connsiteX39" fmla="*/ 3465 w 21600"/>
                    <a:gd name="connsiteY39" fmla="*/ 9051 h 16482"/>
                    <a:gd name="connsiteX40" fmla="*/ 3465 w 21600"/>
                    <a:gd name="connsiteY40" fmla="*/ 7154 h 16482"/>
                    <a:gd name="connsiteX41" fmla="*/ 18067 w 21600"/>
                    <a:gd name="connsiteY41" fmla="*/ 7154 h 16482"/>
                    <a:gd name="connsiteX42" fmla="*/ 18067 w 21600"/>
                    <a:gd name="connsiteY42" fmla="*/ 7885 h 16482"/>
                    <a:gd name="connsiteX43" fmla="*/ 3465 w 21600"/>
                    <a:gd name="connsiteY43" fmla="*/ 7885 h 16482"/>
                    <a:gd name="connsiteX44" fmla="*/ 3465 w 21600"/>
                    <a:gd name="connsiteY44" fmla="*/ 7154 h 1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600" h="16482" extrusionOk="0">
                      <a:moveTo>
                        <a:pt x="21600" y="16482"/>
                      </a:moveTo>
                      <a:lnTo>
                        <a:pt x="21600" y="5197"/>
                      </a:lnTo>
                      <a:lnTo>
                        <a:pt x="12314" y="0"/>
                      </a:lnTo>
                      <a:lnTo>
                        <a:pt x="0" y="0"/>
                      </a:lnTo>
                      <a:lnTo>
                        <a:pt x="0" y="16482"/>
                      </a:lnTo>
                      <a:lnTo>
                        <a:pt x="10161" y="16482"/>
                      </a:lnTo>
                      <a:lnTo>
                        <a:pt x="11439" y="16482"/>
                      </a:lnTo>
                      <a:lnTo>
                        <a:pt x="21600" y="16482"/>
                      </a:lnTo>
                      <a:close/>
                      <a:moveTo>
                        <a:pt x="19850" y="5237"/>
                      </a:moveTo>
                      <a:lnTo>
                        <a:pt x="12213" y="5237"/>
                      </a:lnTo>
                      <a:lnTo>
                        <a:pt x="12213" y="968"/>
                      </a:lnTo>
                      <a:lnTo>
                        <a:pt x="19850" y="5237"/>
                      </a:lnTo>
                      <a:close/>
                      <a:moveTo>
                        <a:pt x="10935" y="731"/>
                      </a:moveTo>
                      <a:lnTo>
                        <a:pt x="10935" y="3340"/>
                      </a:lnTo>
                      <a:lnTo>
                        <a:pt x="3465" y="3340"/>
                      </a:lnTo>
                      <a:lnTo>
                        <a:pt x="3465" y="4071"/>
                      </a:lnTo>
                      <a:lnTo>
                        <a:pt x="10935" y="4071"/>
                      </a:lnTo>
                      <a:lnTo>
                        <a:pt x="10935" y="5237"/>
                      </a:lnTo>
                      <a:lnTo>
                        <a:pt x="3465" y="5237"/>
                      </a:lnTo>
                      <a:lnTo>
                        <a:pt x="3465" y="5988"/>
                      </a:lnTo>
                      <a:lnTo>
                        <a:pt x="20321" y="5988"/>
                      </a:lnTo>
                      <a:lnTo>
                        <a:pt x="20321" y="15731"/>
                      </a:lnTo>
                      <a:lnTo>
                        <a:pt x="1279" y="15731"/>
                      </a:lnTo>
                      <a:lnTo>
                        <a:pt x="1279" y="731"/>
                      </a:lnTo>
                      <a:lnTo>
                        <a:pt x="10935" y="731"/>
                      </a:lnTo>
                      <a:close/>
                      <a:moveTo>
                        <a:pt x="3465" y="12865"/>
                      </a:moveTo>
                      <a:lnTo>
                        <a:pt x="15645" y="12865"/>
                      </a:lnTo>
                      <a:lnTo>
                        <a:pt x="15645" y="13616"/>
                      </a:lnTo>
                      <a:lnTo>
                        <a:pt x="3465" y="13616"/>
                      </a:lnTo>
                      <a:lnTo>
                        <a:pt x="3465" y="12865"/>
                      </a:lnTo>
                      <a:close/>
                      <a:moveTo>
                        <a:pt x="3465" y="10968"/>
                      </a:moveTo>
                      <a:lnTo>
                        <a:pt x="18067" y="10968"/>
                      </a:lnTo>
                      <a:lnTo>
                        <a:pt x="18067" y="11719"/>
                      </a:lnTo>
                      <a:lnTo>
                        <a:pt x="3465" y="11719"/>
                      </a:lnTo>
                      <a:lnTo>
                        <a:pt x="3465" y="10968"/>
                      </a:lnTo>
                      <a:close/>
                      <a:moveTo>
                        <a:pt x="3465" y="9051"/>
                      </a:moveTo>
                      <a:lnTo>
                        <a:pt x="18067" y="9051"/>
                      </a:lnTo>
                      <a:lnTo>
                        <a:pt x="18067" y="9802"/>
                      </a:lnTo>
                      <a:lnTo>
                        <a:pt x="3465" y="9802"/>
                      </a:lnTo>
                      <a:lnTo>
                        <a:pt x="3465" y="9051"/>
                      </a:lnTo>
                      <a:close/>
                      <a:moveTo>
                        <a:pt x="3465" y="7154"/>
                      </a:moveTo>
                      <a:lnTo>
                        <a:pt x="18067" y="7154"/>
                      </a:lnTo>
                      <a:lnTo>
                        <a:pt x="18067" y="7885"/>
                      </a:lnTo>
                      <a:lnTo>
                        <a:pt x="3465" y="7885"/>
                      </a:lnTo>
                      <a:lnTo>
                        <a:pt x="3465" y="7154"/>
                      </a:lnTo>
                      <a:close/>
                    </a:path>
                  </a:pathLst>
                </a:custGeom>
                <a:solidFill>
                  <a:srgbClr val="FF676B"/>
                </a:solidFill>
                <a:ln w="12700">
                  <a:miter lim="400000"/>
                </a:ln>
              </p:spPr>
              <p:txBody>
                <a:bodyPr tIns="182878" bIns="182878" anchor="ctr">
                  <a:normAutofit fontScale="25000" lnSpcReduction="20000"/>
                </a:bodyPr>
                <a:lstStyle/>
                <a:p>
                  <a:pPr defTabSz="1828800">
                    <a:spcBef>
                      <a:spcPts val="4400"/>
                    </a:spcBef>
                    <a:defRPr/>
                  </a:pPr>
                  <a:endParaRPr sz="6400">
                    <a:latin typeface="Arial"/>
                  </a:endParaRPr>
                </a:p>
              </p:txBody>
            </p:sp>
            <p:sp>
              <p:nvSpPr>
                <p:cNvPr id="20" name="TextBox 19">
                  <a:extLst>
                    <a:ext uri="{FF2B5EF4-FFF2-40B4-BE49-F238E27FC236}">
                      <a16:creationId xmlns:a16="http://schemas.microsoft.com/office/drawing/2014/main" id="{4493AD7E-506E-68E9-8342-F056801A21B2}"/>
                    </a:ext>
                  </a:extLst>
                </p:cNvPr>
                <p:cNvSpPr txBox="1"/>
                <p:nvPr/>
              </p:nvSpPr>
              <p:spPr>
                <a:xfrm>
                  <a:off x="531469" y="2564371"/>
                  <a:ext cx="715310" cy="219766"/>
                </a:xfrm>
                <a:prstGeom prst="rect">
                  <a:avLst/>
                </a:prstGeom>
                <a:noFill/>
              </p:spPr>
              <p:txBody>
                <a:bodyPr wrap="square" rtlCol="0">
                  <a:spAutoFit/>
                </a:bodyPr>
                <a:lstStyle/>
                <a:p>
                  <a:pPr algn="ctr">
                    <a:defRPr/>
                  </a:pPr>
                  <a:r>
                    <a:rPr lang="en-GB" sz="1200">
                      <a:latin typeface="Arial"/>
                    </a:rPr>
                    <a:t>Automation</a:t>
                  </a:r>
                </a:p>
                <a:p>
                  <a:pPr algn="ctr">
                    <a:defRPr/>
                  </a:pPr>
                  <a:r>
                    <a:rPr lang="en-GB" sz="1200">
                      <a:latin typeface="Arial"/>
                    </a:rPr>
                    <a:t>Assessment</a:t>
                  </a:r>
                </a:p>
              </p:txBody>
            </p:sp>
          </p:grpSp>
        </p:grpSp>
      </p:grpSp>
      <p:sp>
        <p:nvSpPr>
          <p:cNvPr id="29" name="Rectangle 28">
            <a:extLst>
              <a:ext uri="{FF2B5EF4-FFF2-40B4-BE49-F238E27FC236}">
                <a16:creationId xmlns:a16="http://schemas.microsoft.com/office/drawing/2014/main" id="{D707FABB-63DC-13EF-3D85-1F1134730557}"/>
              </a:ext>
            </a:extLst>
          </p:cNvPr>
          <p:cNvSpPr/>
          <p:nvPr/>
        </p:nvSpPr>
        <p:spPr>
          <a:xfrm>
            <a:off x="12753848" y="7035790"/>
            <a:ext cx="400436" cy="420180"/>
          </a:xfrm>
          <a:prstGeom prst="rect">
            <a:avLst/>
          </a:prstGeom>
          <a:noFill/>
          <a:ln w="12700">
            <a:solidFill>
              <a:schemeClr val="tx1">
                <a:lumMod val="75000"/>
                <a:lumOff val="25000"/>
              </a:schemeClr>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sz="7200">
              <a:solidFill>
                <a:schemeClr val="tx1"/>
              </a:solidFill>
              <a:latin typeface="Arial"/>
            </a:endParaRPr>
          </a:p>
        </p:txBody>
      </p:sp>
      <p:sp>
        <p:nvSpPr>
          <p:cNvPr id="30" name="Double Brace 29">
            <a:extLst>
              <a:ext uri="{FF2B5EF4-FFF2-40B4-BE49-F238E27FC236}">
                <a16:creationId xmlns:a16="http://schemas.microsoft.com/office/drawing/2014/main" id="{4B791B72-D5FE-B1CF-5E51-E1A9BF138A78}"/>
              </a:ext>
            </a:extLst>
          </p:cNvPr>
          <p:cNvSpPr/>
          <p:nvPr/>
        </p:nvSpPr>
        <p:spPr>
          <a:xfrm>
            <a:off x="12673693" y="6275874"/>
            <a:ext cx="559434" cy="466344"/>
          </a:xfrm>
          <a:prstGeom prst="bracePair">
            <a:avLst/>
          </a:prstGeom>
          <a:noFill/>
          <a:ln w="952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defRPr/>
            </a:pPr>
            <a:endParaRPr lang="en-GB">
              <a:latin typeface="Arial"/>
            </a:endParaRPr>
          </a:p>
        </p:txBody>
      </p:sp>
      <p:sp>
        <p:nvSpPr>
          <p:cNvPr id="31" name="TextBox 30">
            <a:extLst>
              <a:ext uri="{FF2B5EF4-FFF2-40B4-BE49-F238E27FC236}">
                <a16:creationId xmlns:a16="http://schemas.microsoft.com/office/drawing/2014/main" id="{052387ED-FBEF-945C-548B-4622443646A6}"/>
              </a:ext>
            </a:extLst>
          </p:cNvPr>
          <p:cNvSpPr txBox="1"/>
          <p:nvPr/>
        </p:nvSpPr>
        <p:spPr>
          <a:xfrm>
            <a:off x="13334070" y="6324381"/>
            <a:ext cx="1316492" cy="276999"/>
          </a:xfrm>
          <a:prstGeom prst="rect">
            <a:avLst/>
          </a:prstGeom>
          <a:noFill/>
        </p:spPr>
        <p:txBody>
          <a:bodyPr wrap="square" rtlCol="0">
            <a:spAutoFit/>
          </a:bodyPr>
          <a:lstStyle/>
          <a:p>
            <a:pPr>
              <a:defRPr/>
            </a:pPr>
            <a:r>
              <a:rPr lang="en-GB" sz="1200">
                <a:latin typeface="Arial"/>
              </a:rPr>
              <a:t>If in scope</a:t>
            </a:r>
          </a:p>
        </p:txBody>
      </p:sp>
      <p:sp>
        <p:nvSpPr>
          <p:cNvPr id="32" name="TextBox 31">
            <a:extLst>
              <a:ext uri="{FF2B5EF4-FFF2-40B4-BE49-F238E27FC236}">
                <a16:creationId xmlns:a16="http://schemas.microsoft.com/office/drawing/2014/main" id="{C2EB31D0-6DC2-DFC5-0C9D-DB2BFA9DED01}"/>
              </a:ext>
            </a:extLst>
          </p:cNvPr>
          <p:cNvSpPr txBox="1"/>
          <p:nvPr/>
        </p:nvSpPr>
        <p:spPr>
          <a:xfrm>
            <a:off x="13334071" y="7061215"/>
            <a:ext cx="2050710" cy="276999"/>
          </a:xfrm>
          <a:prstGeom prst="rect">
            <a:avLst/>
          </a:prstGeom>
          <a:noFill/>
        </p:spPr>
        <p:txBody>
          <a:bodyPr wrap="square" rtlCol="0">
            <a:spAutoFit/>
          </a:bodyPr>
          <a:lstStyle/>
          <a:p>
            <a:pPr>
              <a:defRPr/>
            </a:pPr>
            <a:r>
              <a:rPr lang="en-GB" sz="1200">
                <a:latin typeface="Arial"/>
              </a:rPr>
              <a:t>Customer responsibility</a:t>
            </a:r>
          </a:p>
        </p:txBody>
      </p:sp>
      <p:sp>
        <p:nvSpPr>
          <p:cNvPr id="33" name="Rectangle 32">
            <a:extLst>
              <a:ext uri="{FF2B5EF4-FFF2-40B4-BE49-F238E27FC236}">
                <a16:creationId xmlns:a16="http://schemas.microsoft.com/office/drawing/2014/main" id="{A3E929DF-094D-6E4B-C2C4-73C470386C6D}"/>
              </a:ext>
            </a:extLst>
          </p:cNvPr>
          <p:cNvSpPr/>
          <p:nvPr/>
        </p:nvSpPr>
        <p:spPr>
          <a:xfrm>
            <a:off x="12764460" y="7807284"/>
            <a:ext cx="400436" cy="420180"/>
          </a:xfrm>
          <a:prstGeom prst="rect">
            <a:avLst/>
          </a:prstGeom>
          <a:noFill/>
          <a:ln w="12700">
            <a:solidFill>
              <a:schemeClr val="tx1">
                <a:lumMod val="75000"/>
                <a:lumOff val="2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GB" sz="7200">
              <a:solidFill>
                <a:schemeClr val="tx1"/>
              </a:solidFill>
              <a:latin typeface="Arial"/>
            </a:endParaRPr>
          </a:p>
        </p:txBody>
      </p:sp>
      <p:sp>
        <p:nvSpPr>
          <p:cNvPr id="34" name="TextBox 33">
            <a:extLst>
              <a:ext uri="{FF2B5EF4-FFF2-40B4-BE49-F238E27FC236}">
                <a16:creationId xmlns:a16="http://schemas.microsoft.com/office/drawing/2014/main" id="{2C2777AD-30A3-4F87-4025-FC8968865EDF}"/>
              </a:ext>
            </a:extLst>
          </p:cNvPr>
          <p:cNvSpPr txBox="1"/>
          <p:nvPr/>
        </p:nvSpPr>
        <p:spPr>
          <a:xfrm>
            <a:off x="13344683" y="7832709"/>
            <a:ext cx="2050710" cy="461665"/>
          </a:xfrm>
          <a:prstGeom prst="rect">
            <a:avLst/>
          </a:prstGeom>
          <a:noFill/>
        </p:spPr>
        <p:txBody>
          <a:bodyPr wrap="square" rtlCol="0">
            <a:spAutoFit/>
          </a:bodyPr>
          <a:lstStyle/>
          <a:p>
            <a:pPr>
              <a:defRPr/>
            </a:pPr>
            <a:r>
              <a:rPr lang="en-GB" sz="1200">
                <a:latin typeface="Arial"/>
              </a:rPr>
              <a:t>Deliverable dependent on classification</a:t>
            </a:r>
          </a:p>
        </p:txBody>
      </p:sp>
      <p:pic>
        <p:nvPicPr>
          <p:cNvPr id="36" name="Picture 35" descr="A screenshot of a computer&#10;&#10;Description automatically generated">
            <a:extLst>
              <a:ext uri="{FF2B5EF4-FFF2-40B4-BE49-F238E27FC236}">
                <a16:creationId xmlns:a16="http://schemas.microsoft.com/office/drawing/2014/main" id="{226A4C4B-9F30-209D-08EF-82330C28460E}"/>
              </a:ext>
            </a:extLst>
          </p:cNvPr>
          <p:cNvPicPr>
            <a:picLocks noChangeAspect="1"/>
          </p:cNvPicPr>
          <p:nvPr/>
        </p:nvPicPr>
        <p:blipFill>
          <a:blip r:embed="rId2"/>
          <a:srcRect b="16242"/>
          <a:stretch/>
        </p:blipFill>
        <p:spPr>
          <a:xfrm>
            <a:off x="756540" y="2757800"/>
            <a:ext cx="10932776" cy="5821604"/>
          </a:xfrm>
          <a:prstGeom prst="rect">
            <a:avLst/>
          </a:prstGeom>
        </p:spPr>
      </p:pic>
      <p:cxnSp>
        <p:nvCxnSpPr>
          <p:cNvPr id="38" name="Straight Connector 37">
            <a:extLst>
              <a:ext uri="{FF2B5EF4-FFF2-40B4-BE49-F238E27FC236}">
                <a16:creationId xmlns:a16="http://schemas.microsoft.com/office/drawing/2014/main" id="{00C89922-DE38-FCA5-8069-1095850B9165}"/>
              </a:ext>
            </a:extLst>
          </p:cNvPr>
          <p:cNvCxnSpPr>
            <a:cxnSpLocks/>
            <a:endCxn id="27" idx="43"/>
          </p:cNvCxnSpPr>
          <p:nvPr/>
        </p:nvCxnSpPr>
        <p:spPr>
          <a:xfrm flipV="1">
            <a:off x="11388569" y="3846140"/>
            <a:ext cx="1577470" cy="140"/>
          </a:xfrm>
          <a:prstGeom prst="line">
            <a:avLst/>
          </a:prstGeom>
          <a:ln w="31750">
            <a:solidFill>
              <a:schemeClr val="tx1"/>
            </a:solidFill>
            <a:headEnd type="none"/>
            <a:tailEnd type="triangle" w="sm" len="med"/>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0EBD61E6-BFDA-D0EC-C8EA-D2F29FFBAC39}"/>
              </a:ext>
            </a:extLst>
          </p:cNvPr>
          <p:cNvSpPr txBox="1"/>
          <p:nvPr/>
        </p:nvSpPr>
        <p:spPr>
          <a:xfrm>
            <a:off x="16385792" y="2567676"/>
            <a:ext cx="7742860" cy="6232475"/>
          </a:xfrm>
          <a:prstGeom prst="rect">
            <a:avLst/>
          </a:prstGeom>
          <a:noFill/>
        </p:spPr>
        <p:txBody>
          <a:bodyPr wrap="square" rtlCol="0">
            <a:spAutoFit/>
          </a:bodyPr>
          <a:lstStyle/>
          <a:p>
            <a:pPr algn="l"/>
            <a:r>
              <a:rPr lang="en-GB" sz="2100">
                <a:latin typeface="Fira Sans" panose="020B0503050000020004" pitchFamily="34" charset="0"/>
              </a:rPr>
              <a:t>The app charter is a vital deliverable to understand your applications as thorough as possible prior to migration. We utilise this deliverable to create the future state architecture and refine migration strategies for low-level items such as database, network, server, local data etc. </a:t>
            </a:r>
          </a:p>
          <a:p>
            <a:pPr algn="l"/>
            <a:endParaRPr lang="en-GB" sz="2100">
              <a:latin typeface="Fira Sans" panose="020B0503050000020004" pitchFamily="34" charset="0"/>
            </a:endParaRPr>
          </a:p>
          <a:p>
            <a:pPr algn="l"/>
            <a:r>
              <a:rPr lang="en-GB" sz="2100">
                <a:latin typeface="Fira Sans" panose="020B0503050000020004" pitchFamily="34" charset="0"/>
              </a:rPr>
              <a:t>The questionnaire on the left aids us with getting the initial information to hand before workshops for assessments begin. </a:t>
            </a:r>
          </a:p>
          <a:p>
            <a:pPr algn="l"/>
            <a:endParaRPr lang="en-GB" sz="2100">
              <a:latin typeface="Fira Sans" panose="020B0503050000020004" pitchFamily="34" charset="0"/>
            </a:endParaRPr>
          </a:p>
          <a:p>
            <a:pPr algn="l"/>
            <a:r>
              <a:rPr lang="en-GB" sz="2100">
                <a:latin typeface="Fira Sans" panose="020B0503050000020004" pitchFamily="34" charset="0"/>
              </a:rPr>
              <a:t>Though not a necessary pre–project requirement, it’s recommended to start filling out a questionnaire per application in scope during the transitional phase between projects, so we start with more data early on. Any questions that cannot be answered can be addressed in workshops once the migration project starts. </a:t>
            </a:r>
          </a:p>
          <a:p>
            <a:pPr algn="l"/>
            <a:endParaRPr lang="en-GB" sz="2100">
              <a:latin typeface="Fira Sans" panose="020B0503050000020004" pitchFamily="34" charset="0"/>
            </a:endParaRPr>
          </a:p>
          <a:p>
            <a:pPr algn="l"/>
            <a:r>
              <a:rPr lang="en-GB" sz="2100">
                <a:latin typeface="Fira Sans" panose="020B0503050000020004" pitchFamily="34" charset="0"/>
              </a:rPr>
              <a:t>Without the questionnaires we will rely purely on workshops to gather information which can be more time consuming if data isn’t readily available.</a:t>
            </a:r>
          </a:p>
        </p:txBody>
      </p:sp>
      <p:cxnSp>
        <p:nvCxnSpPr>
          <p:cNvPr id="44" name="Straight Connector 43">
            <a:extLst>
              <a:ext uri="{FF2B5EF4-FFF2-40B4-BE49-F238E27FC236}">
                <a16:creationId xmlns:a16="http://schemas.microsoft.com/office/drawing/2014/main" id="{D3948EB1-F288-386E-9210-0EDD3E40301E}"/>
              </a:ext>
            </a:extLst>
          </p:cNvPr>
          <p:cNvCxnSpPr>
            <a:cxnSpLocks/>
          </p:cNvCxnSpPr>
          <p:nvPr/>
        </p:nvCxnSpPr>
        <p:spPr>
          <a:xfrm>
            <a:off x="0" y="9215650"/>
            <a:ext cx="24384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1AC3AEC0-4C35-4229-09DB-CCD976721D0B}"/>
              </a:ext>
            </a:extLst>
          </p:cNvPr>
          <p:cNvSpPr txBox="1"/>
          <p:nvPr/>
        </p:nvSpPr>
        <p:spPr>
          <a:xfrm>
            <a:off x="668992" y="9341031"/>
            <a:ext cx="12564136" cy="1815882"/>
          </a:xfrm>
          <a:prstGeom prst="rect">
            <a:avLst/>
          </a:prstGeom>
          <a:noFill/>
        </p:spPr>
        <p:txBody>
          <a:bodyPr wrap="square" rtlCol="0">
            <a:spAutoFit/>
          </a:bodyPr>
          <a:lstStyle/>
          <a:p>
            <a:pPr algn="l"/>
            <a:r>
              <a:rPr lang="en-GB" sz="2800"/>
              <a:t>Fill out questionnaire per application e.g. 12 apps = 12 questionnaires. </a:t>
            </a:r>
          </a:p>
          <a:p>
            <a:pPr algn="l"/>
            <a:r>
              <a:rPr lang="en-GB" sz="2800"/>
              <a:t>Please find to the right the list of apps to fill out for.</a:t>
            </a:r>
          </a:p>
          <a:p>
            <a:pPr algn="l"/>
            <a:endParaRPr lang="en-GB" sz="2800"/>
          </a:p>
          <a:p>
            <a:pPr algn="l"/>
            <a:r>
              <a:rPr lang="en-GB" sz="2800">
                <a:hlinkClick r:id="rId3"/>
              </a:rPr>
              <a:t>Link to app charter questionnaire found here</a:t>
            </a:r>
            <a:endParaRPr lang="en-GB" sz="2800"/>
          </a:p>
        </p:txBody>
      </p:sp>
      <p:graphicFrame>
        <p:nvGraphicFramePr>
          <p:cNvPr id="47" name="Table 46">
            <a:extLst>
              <a:ext uri="{FF2B5EF4-FFF2-40B4-BE49-F238E27FC236}">
                <a16:creationId xmlns:a16="http://schemas.microsoft.com/office/drawing/2014/main" id="{158471E7-F942-594E-BBF8-1B904FFC7717}"/>
              </a:ext>
            </a:extLst>
          </p:cNvPr>
          <p:cNvGraphicFramePr>
            <a:graphicFrameLocks noGrp="1"/>
          </p:cNvGraphicFramePr>
          <p:nvPr/>
        </p:nvGraphicFramePr>
        <p:xfrm>
          <a:off x="16474600" y="9895516"/>
          <a:ext cx="3669420" cy="2323308"/>
        </p:xfrm>
        <a:graphic>
          <a:graphicData uri="http://schemas.openxmlformats.org/drawingml/2006/table">
            <a:tbl>
              <a:tblPr/>
              <a:tblGrid>
                <a:gridCol w="3669420">
                  <a:extLst>
                    <a:ext uri="{9D8B030D-6E8A-4147-A177-3AD203B41FA5}">
                      <a16:colId xmlns:a16="http://schemas.microsoft.com/office/drawing/2014/main" val="147038981"/>
                    </a:ext>
                  </a:extLst>
                </a:gridCol>
              </a:tblGrid>
              <a:tr h="387218">
                <a:tc>
                  <a:txBody>
                    <a:bodyPr/>
                    <a:lstStyle/>
                    <a:p>
                      <a:pPr algn="l" fontAlgn="b"/>
                      <a:r>
                        <a:rPr lang="en-GB" sz="2200" b="0" i="0" u="none" strike="noStrike">
                          <a:solidFill>
                            <a:srgbClr val="000000"/>
                          </a:solidFill>
                          <a:effectLst/>
                          <a:latin typeface="Fira Sans" panose="020B0503050000020004" pitchFamily="34" charset="0"/>
                        </a:rPr>
                        <a:t> </a:t>
                      </a:r>
                      <a:r>
                        <a:rPr lang="en-GB" sz="2200" b="0" i="0" u="none" strike="noStrike" err="1">
                          <a:solidFill>
                            <a:srgbClr val="000000"/>
                          </a:solidFill>
                          <a:effectLst/>
                          <a:latin typeface="Fira Sans" panose="020B0503050000020004" pitchFamily="34" charset="0"/>
                        </a:rPr>
                        <a:t>MyAchilles</a:t>
                      </a:r>
                      <a:endParaRPr lang="en-GB" sz="2200" b="0" i="0" u="none" strike="noStrike">
                        <a:solidFill>
                          <a:srgbClr val="000000"/>
                        </a:solidFill>
                        <a:effectLst/>
                        <a:latin typeface="Fira Sans" panose="020B05030500000200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5599405"/>
                  </a:ext>
                </a:extLst>
              </a:tr>
              <a:tr h="387218">
                <a:tc>
                  <a:txBody>
                    <a:bodyPr/>
                    <a:lstStyle/>
                    <a:p>
                      <a:pPr algn="l" fontAlgn="b"/>
                      <a:r>
                        <a:rPr lang="en-GB" sz="2200" b="0" i="0" u="none" strike="noStrike">
                          <a:solidFill>
                            <a:srgbClr val="000000"/>
                          </a:solidFill>
                          <a:effectLst/>
                          <a:latin typeface="Fira Sans" panose="020B0503050000020004" pitchFamily="34" charset="0"/>
                        </a:rPr>
                        <a:t> Thompson Reuters</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38880980"/>
                  </a:ext>
                </a:extLst>
              </a:tr>
              <a:tr h="387218">
                <a:tc>
                  <a:txBody>
                    <a:bodyPr/>
                    <a:lstStyle/>
                    <a:p>
                      <a:pPr algn="l" fontAlgn="b"/>
                      <a:r>
                        <a:rPr lang="en-GB" sz="2200" b="0" i="0" u="none" strike="noStrike">
                          <a:solidFill>
                            <a:srgbClr val="000000"/>
                          </a:solidFill>
                          <a:effectLst/>
                          <a:latin typeface="Fira Sans" panose="020B0503050000020004" pitchFamily="34" charset="0"/>
                        </a:rPr>
                        <a:t> Achilles.com</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52507944"/>
                  </a:ext>
                </a:extLst>
              </a:tr>
              <a:tr h="387218">
                <a:tc>
                  <a:txBody>
                    <a:bodyPr/>
                    <a:lstStyle/>
                    <a:p>
                      <a:pPr algn="l" fontAlgn="b"/>
                      <a:r>
                        <a:rPr lang="en-GB" sz="2200" b="0" i="0" u="none" strike="noStrike">
                          <a:solidFill>
                            <a:srgbClr val="000000"/>
                          </a:solidFill>
                          <a:effectLst/>
                          <a:latin typeface="Fira Sans" panose="020B0503050000020004" pitchFamily="34" charset="0"/>
                        </a:rPr>
                        <a:t> Central Reporting</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7345582"/>
                  </a:ext>
                </a:extLst>
              </a:tr>
              <a:tr h="387218">
                <a:tc>
                  <a:txBody>
                    <a:bodyPr/>
                    <a:lstStyle/>
                    <a:p>
                      <a:pPr algn="l" fontAlgn="b"/>
                      <a:r>
                        <a:rPr lang="en-GB" sz="2200" b="0" i="0" u="none" strike="noStrike">
                          <a:solidFill>
                            <a:srgbClr val="000000"/>
                          </a:solidFill>
                          <a:effectLst/>
                          <a:latin typeface="Fira Sans" panose="020B0503050000020004" pitchFamily="34" charset="0"/>
                        </a:rPr>
                        <a:t> Nagios Monitoring</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02441551"/>
                  </a:ext>
                </a:extLst>
              </a:tr>
              <a:tr h="387218">
                <a:tc>
                  <a:txBody>
                    <a:bodyPr/>
                    <a:lstStyle/>
                    <a:p>
                      <a:pPr algn="l" fontAlgn="b"/>
                      <a:r>
                        <a:rPr lang="en-GB" sz="2200" b="0" i="0" u="none" strike="noStrike">
                          <a:solidFill>
                            <a:srgbClr val="000000"/>
                          </a:solidFill>
                          <a:effectLst/>
                          <a:latin typeface="Fira Sans" panose="020B0503050000020004" pitchFamily="34" charset="0"/>
                        </a:rPr>
                        <a:t> </a:t>
                      </a:r>
                      <a:r>
                        <a:rPr lang="en-GB" sz="2200" b="0" i="0" u="none" strike="noStrike" err="1">
                          <a:solidFill>
                            <a:srgbClr val="000000"/>
                          </a:solidFill>
                          <a:effectLst/>
                          <a:latin typeface="Fira Sans" panose="020B0503050000020004" pitchFamily="34" charset="0"/>
                        </a:rPr>
                        <a:t>Netsuite</a:t>
                      </a:r>
                      <a:endParaRPr lang="en-GB" sz="2200" b="0" i="0" u="none" strike="noStrike">
                        <a:solidFill>
                          <a:srgbClr val="000000"/>
                        </a:solidFill>
                        <a:effectLst/>
                        <a:latin typeface="Fira Sans" panose="020B05030500000200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52214778"/>
                  </a:ext>
                </a:extLst>
              </a:tr>
            </a:tbl>
          </a:graphicData>
        </a:graphic>
      </p:graphicFrame>
      <p:graphicFrame>
        <p:nvGraphicFramePr>
          <p:cNvPr id="50" name="Table 49">
            <a:extLst>
              <a:ext uri="{FF2B5EF4-FFF2-40B4-BE49-F238E27FC236}">
                <a16:creationId xmlns:a16="http://schemas.microsoft.com/office/drawing/2014/main" id="{1D14B98B-85A5-552C-254E-602A04A6B9B7}"/>
              </a:ext>
            </a:extLst>
          </p:cNvPr>
          <p:cNvGraphicFramePr>
            <a:graphicFrameLocks noGrp="1"/>
          </p:cNvGraphicFramePr>
          <p:nvPr/>
        </p:nvGraphicFramePr>
        <p:xfrm>
          <a:off x="20144020" y="9895516"/>
          <a:ext cx="3402920" cy="2323308"/>
        </p:xfrm>
        <a:graphic>
          <a:graphicData uri="http://schemas.openxmlformats.org/drawingml/2006/table">
            <a:tbl>
              <a:tblPr/>
              <a:tblGrid>
                <a:gridCol w="3402920">
                  <a:extLst>
                    <a:ext uri="{9D8B030D-6E8A-4147-A177-3AD203B41FA5}">
                      <a16:colId xmlns:a16="http://schemas.microsoft.com/office/drawing/2014/main" val="3158822695"/>
                    </a:ext>
                  </a:extLst>
                </a:gridCol>
              </a:tblGrid>
              <a:tr h="387218">
                <a:tc>
                  <a:txBody>
                    <a:bodyPr/>
                    <a:lstStyle/>
                    <a:p>
                      <a:pPr algn="l" fontAlgn="ctr"/>
                      <a:r>
                        <a:rPr lang="en-GB" sz="2200" b="0" i="1" u="none" strike="noStrike">
                          <a:solidFill>
                            <a:srgbClr val="000000"/>
                          </a:solidFill>
                          <a:effectLst/>
                          <a:latin typeface="Fira Sans" panose="020B0503050000020004" pitchFamily="34" charset="0"/>
                        </a:rPr>
                        <a:t> Eclipse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84461019"/>
                  </a:ext>
                </a:extLst>
              </a:tr>
              <a:tr h="387218">
                <a:tc>
                  <a:txBody>
                    <a:bodyPr/>
                    <a:lstStyle/>
                    <a:p>
                      <a:pPr algn="l" fontAlgn="b"/>
                      <a:r>
                        <a:rPr lang="en-GB" sz="2200" b="0" i="0" u="none" strike="noStrike">
                          <a:solidFill>
                            <a:srgbClr val="000000"/>
                          </a:solidFill>
                          <a:effectLst/>
                          <a:latin typeface="Fira Sans" panose="020B0503050000020004" pitchFamily="34" charset="0"/>
                        </a:rPr>
                        <a:t> Service Desk</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0579957"/>
                  </a:ext>
                </a:extLst>
              </a:tr>
              <a:tr h="387218">
                <a:tc>
                  <a:txBody>
                    <a:bodyPr/>
                    <a:lstStyle/>
                    <a:p>
                      <a:pPr algn="l" fontAlgn="b"/>
                      <a:r>
                        <a:rPr lang="en-GB" sz="2200" b="0" i="0" u="none" strike="noStrike">
                          <a:solidFill>
                            <a:srgbClr val="000000"/>
                          </a:solidFill>
                          <a:effectLst/>
                          <a:latin typeface="Fira Sans" panose="020B0503050000020004" pitchFamily="34" charset="0"/>
                        </a:rPr>
                        <a:t> Telephone call log</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5396428"/>
                  </a:ext>
                </a:extLst>
              </a:tr>
              <a:tr h="387218">
                <a:tc>
                  <a:txBody>
                    <a:bodyPr/>
                    <a:lstStyle/>
                    <a:p>
                      <a:pPr algn="l" fontAlgn="ctr"/>
                      <a:r>
                        <a:rPr lang="en-GB" sz="2200" b="0" i="1" u="none" strike="noStrike">
                          <a:solidFill>
                            <a:srgbClr val="000000"/>
                          </a:solidFill>
                          <a:effectLst/>
                          <a:latin typeface="Fira Sans" panose="020B0503050000020004" pitchFamily="34" charset="0"/>
                        </a:rPr>
                        <a:t> My Insight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54844614"/>
                  </a:ext>
                </a:extLst>
              </a:tr>
              <a:tr h="387218">
                <a:tc>
                  <a:txBody>
                    <a:bodyPr/>
                    <a:lstStyle/>
                    <a:p>
                      <a:pPr algn="l" fontAlgn="ctr"/>
                      <a:r>
                        <a:rPr lang="en-GB" sz="2200" b="0" i="1" u="none" strike="noStrike">
                          <a:solidFill>
                            <a:srgbClr val="000000"/>
                          </a:solidFill>
                          <a:effectLst/>
                          <a:latin typeface="Fira Sans" panose="020B0503050000020004" pitchFamily="34" charset="0"/>
                        </a:rPr>
                        <a:t> </a:t>
                      </a:r>
                      <a:r>
                        <a:rPr lang="en-GB" sz="2200" b="0" i="1" u="none" strike="noStrike" err="1">
                          <a:solidFill>
                            <a:srgbClr val="000000"/>
                          </a:solidFill>
                          <a:effectLst/>
                          <a:latin typeface="Fira Sans" panose="020B0503050000020004" pitchFamily="34" charset="0"/>
                        </a:rPr>
                        <a:t>Hackolade</a:t>
                      </a:r>
                      <a:endParaRPr lang="en-GB" sz="2200" b="0" i="1" u="none" strike="noStrike">
                        <a:solidFill>
                          <a:srgbClr val="000000"/>
                        </a:solidFill>
                        <a:effectLst/>
                        <a:latin typeface="Fira Sans" panose="020B05030500000200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20216423"/>
                  </a:ext>
                </a:extLst>
              </a:tr>
              <a:tr h="387218">
                <a:tc>
                  <a:txBody>
                    <a:bodyPr/>
                    <a:lstStyle/>
                    <a:p>
                      <a:pPr algn="l" fontAlgn="ctr"/>
                      <a:r>
                        <a:rPr lang="en-GB" sz="2200" b="0" i="1" u="none" strike="noStrike">
                          <a:solidFill>
                            <a:srgbClr val="000000"/>
                          </a:solidFill>
                          <a:effectLst/>
                          <a:latin typeface="Fira Sans" panose="020B0503050000020004" pitchFamily="34" charset="0"/>
                        </a:rPr>
                        <a:t> </a:t>
                      </a:r>
                      <a:r>
                        <a:rPr lang="en-GB" sz="2200" b="0" i="1" u="none" strike="noStrike" err="1">
                          <a:solidFill>
                            <a:srgbClr val="000000"/>
                          </a:solidFill>
                          <a:effectLst/>
                          <a:latin typeface="Fira Sans" panose="020B0503050000020004" pitchFamily="34" charset="0"/>
                        </a:rPr>
                        <a:t>StartBank</a:t>
                      </a:r>
                      <a:r>
                        <a:rPr lang="en-GB" sz="2200" b="0" i="1" u="none" strike="noStrike">
                          <a:solidFill>
                            <a:srgbClr val="000000"/>
                          </a:solidFill>
                          <a:effectLst/>
                          <a:latin typeface="Fira Sans" panose="020B0503050000020004" pitchFamily="34" charset="0"/>
                        </a:rPr>
                        <a:t> (Archive)*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00311082"/>
                  </a:ext>
                </a:extLst>
              </a:tr>
            </a:tbl>
          </a:graphicData>
        </a:graphic>
      </p:graphicFrame>
      <p:graphicFrame>
        <p:nvGraphicFramePr>
          <p:cNvPr id="51" name="Table 50">
            <a:extLst>
              <a:ext uri="{FF2B5EF4-FFF2-40B4-BE49-F238E27FC236}">
                <a16:creationId xmlns:a16="http://schemas.microsoft.com/office/drawing/2014/main" id="{88CBFCB0-14F9-8499-6E1F-E5B2BF85E577}"/>
              </a:ext>
            </a:extLst>
          </p:cNvPr>
          <p:cNvGraphicFramePr>
            <a:graphicFrameLocks noGrp="1"/>
          </p:cNvGraphicFramePr>
          <p:nvPr/>
        </p:nvGraphicFramePr>
        <p:xfrm>
          <a:off x="7909402" y="10734605"/>
          <a:ext cx="4282600" cy="2480310"/>
        </p:xfrm>
        <a:graphic>
          <a:graphicData uri="http://schemas.openxmlformats.org/drawingml/2006/table">
            <a:tbl>
              <a:tblPr/>
              <a:tblGrid>
                <a:gridCol w="4282600">
                  <a:extLst>
                    <a:ext uri="{9D8B030D-6E8A-4147-A177-3AD203B41FA5}">
                      <a16:colId xmlns:a16="http://schemas.microsoft.com/office/drawing/2014/main" val="4067722454"/>
                    </a:ext>
                  </a:extLst>
                </a:gridCol>
              </a:tblGrid>
              <a:tr h="445770">
                <a:tc>
                  <a:txBody>
                    <a:bodyPr/>
                    <a:lstStyle/>
                    <a:p>
                      <a:pPr algn="l" fontAlgn="t"/>
                      <a:r>
                        <a:rPr lang="en-GB" sz="2200" b="1" i="0" u="none" strike="noStrike">
                          <a:solidFill>
                            <a:schemeClr val="bg1"/>
                          </a:solidFill>
                          <a:effectLst/>
                          <a:latin typeface="Arial" panose="020B0604020202020204" pitchFamily="34" charset="0"/>
                        </a:rPr>
                        <a:t>Level 1 Information</a:t>
                      </a:r>
                    </a:p>
                  </a:txBody>
                  <a:tcPr marL="19050" marR="19050" marT="19050" marB="91440">
                    <a:lnL>
                      <a:noFill/>
                    </a:lnL>
                    <a:lnR>
                      <a:noFill/>
                    </a:lnR>
                    <a:lnT>
                      <a:noFill/>
                    </a:lnT>
                    <a:lnB>
                      <a:noFill/>
                    </a:lnB>
                    <a:solidFill>
                      <a:srgbClr val="FF0000"/>
                    </a:solidFill>
                  </a:tcPr>
                </a:tc>
                <a:extLst>
                  <a:ext uri="{0D108BD9-81ED-4DB2-BD59-A6C34878D82A}">
                    <a16:rowId xmlns:a16="http://schemas.microsoft.com/office/drawing/2014/main" val="822451166"/>
                  </a:ext>
                </a:extLst>
              </a:tr>
              <a:tr h="445770">
                <a:tc>
                  <a:txBody>
                    <a:bodyPr/>
                    <a:lstStyle/>
                    <a:p>
                      <a:pPr algn="l" fontAlgn="t"/>
                      <a:r>
                        <a:rPr lang="en-GB" sz="2200" b="1" i="0" u="none" strike="noStrike">
                          <a:solidFill>
                            <a:schemeClr val="bg1"/>
                          </a:solidFill>
                          <a:effectLst/>
                          <a:latin typeface="Arial" panose="020B0604020202020204" pitchFamily="34" charset="0"/>
                        </a:rPr>
                        <a:t>Level 2 Information</a:t>
                      </a:r>
                    </a:p>
                  </a:txBody>
                  <a:tcPr marL="19050" marR="19050" marT="19050" marB="91440">
                    <a:lnL>
                      <a:noFill/>
                    </a:lnL>
                    <a:lnR>
                      <a:noFill/>
                    </a:lnR>
                    <a:lnT>
                      <a:noFill/>
                    </a:lnT>
                    <a:lnB>
                      <a:noFill/>
                    </a:lnB>
                    <a:solidFill>
                      <a:srgbClr val="E97132"/>
                    </a:solidFill>
                  </a:tcPr>
                </a:tc>
                <a:extLst>
                  <a:ext uri="{0D108BD9-81ED-4DB2-BD59-A6C34878D82A}">
                    <a16:rowId xmlns:a16="http://schemas.microsoft.com/office/drawing/2014/main" val="710980045"/>
                  </a:ext>
                </a:extLst>
              </a:tr>
              <a:tr h="445770">
                <a:tc>
                  <a:txBody>
                    <a:bodyPr/>
                    <a:lstStyle/>
                    <a:p>
                      <a:pPr algn="l" fontAlgn="t"/>
                      <a:r>
                        <a:rPr lang="en-GB" sz="2200" b="1" i="0" u="none" strike="noStrike">
                          <a:solidFill>
                            <a:schemeClr val="bg1"/>
                          </a:solidFill>
                          <a:effectLst/>
                          <a:latin typeface="Arial" panose="020B0604020202020204" pitchFamily="34" charset="0"/>
                        </a:rPr>
                        <a:t>Level 3 Information </a:t>
                      </a:r>
                    </a:p>
                  </a:txBody>
                  <a:tcPr marL="19050" marR="19050" marT="19050" marB="91440">
                    <a:lnL>
                      <a:noFill/>
                    </a:lnL>
                    <a:lnR>
                      <a:noFill/>
                    </a:lnR>
                    <a:lnT>
                      <a:noFill/>
                    </a:lnT>
                    <a:lnB>
                      <a:noFill/>
                    </a:lnB>
                    <a:solidFill>
                      <a:srgbClr val="00B050"/>
                    </a:solidFill>
                  </a:tcPr>
                </a:tc>
                <a:extLst>
                  <a:ext uri="{0D108BD9-81ED-4DB2-BD59-A6C34878D82A}">
                    <a16:rowId xmlns:a16="http://schemas.microsoft.com/office/drawing/2014/main" val="1252338829"/>
                  </a:ext>
                </a:extLst>
              </a:tr>
              <a:tr h="1143000">
                <a:tc>
                  <a:txBody>
                    <a:bodyPr/>
                    <a:lstStyle/>
                    <a:p>
                      <a:pPr algn="l" fontAlgn="t"/>
                      <a:r>
                        <a:rPr lang="en-GB" sz="2200" b="1" i="0" u="none" strike="noStrike">
                          <a:solidFill>
                            <a:srgbClr val="000000"/>
                          </a:solidFill>
                          <a:effectLst/>
                          <a:latin typeface="Arial" panose="020B0604020202020204" pitchFamily="34" charset="0"/>
                        </a:rPr>
                        <a:t>Goal is to aim for Level 2 and above for information (colour coding found in questionnaire)</a:t>
                      </a:r>
                    </a:p>
                  </a:txBody>
                  <a:tcPr marL="19050" marR="19050" marT="19050" marB="91440">
                    <a:lnL>
                      <a:noFill/>
                    </a:lnL>
                    <a:lnR>
                      <a:noFill/>
                    </a:lnR>
                    <a:lnT>
                      <a:noFill/>
                    </a:lnT>
                    <a:lnB>
                      <a:noFill/>
                    </a:lnB>
                    <a:noFill/>
                  </a:tcPr>
                </a:tc>
                <a:extLst>
                  <a:ext uri="{0D108BD9-81ED-4DB2-BD59-A6C34878D82A}">
                    <a16:rowId xmlns:a16="http://schemas.microsoft.com/office/drawing/2014/main" val="3479229192"/>
                  </a:ext>
                </a:extLst>
              </a:tr>
            </a:tbl>
          </a:graphicData>
        </a:graphic>
      </p:graphicFrame>
      <p:sp>
        <p:nvSpPr>
          <p:cNvPr id="53" name="TextBox 52">
            <a:extLst>
              <a:ext uri="{FF2B5EF4-FFF2-40B4-BE49-F238E27FC236}">
                <a16:creationId xmlns:a16="http://schemas.microsoft.com/office/drawing/2014/main" id="{7F76ED8F-6F3D-0B7D-99C0-389CB50BD434}"/>
              </a:ext>
            </a:extLst>
          </p:cNvPr>
          <p:cNvSpPr txBox="1"/>
          <p:nvPr/>
        </p:nvSpPr>
        <p:spPr>
          <a:xfrm>
            <a:off x="14740845" y="12349422"/>
            <a:ext cx="10215726" cy="1200329"/>
          </a:xfrm>
          <a:prstGeom prst="rect">
            <a:avLst/>
          </a:prstGeom>
          <a:noFill/>
        </p:spPr>
        <p:txBody>
          <a:bodyPr wrap="square">
            <a:spAutoFit/>
          </a:bodyPr>
          <a:lstStyle/>
          <a:p>
            <a:r>
              <a:rPr lang="en-GB" i="1">
                <a:solidFill>
                  <a:srgbClr val="000000"/>
                </a:solidFill>
                <a:latin typeface="Fira Sans" panose="020B0503050000020004" pitchFamily="34" charset="0"/>
              </a:rPr>
              <a:t>*</a:t>
            </a:r>
            <a:r>
              <a:rPr lang="en-GB" i="1" err="1">
                <a:solidFill>
                  <a:srgbClr val="000000"/>
                </a:solidFill>
                <a:latin typeface="Fira Sans" panose="020B0503050000020004" pitchFamily="34" charset="0"/>
              </a:rPr>
              <a:t>StartBank</a:t>
            </a:r>
            <a:r>
              <a:rPr lang="en-GB" i="1">
                <a:solidFill>
                  <a:srgbClr val="000000"/>
                </a:solidFill>
                <a:latin typeface="Fira Sans" panose="020B0503050000020004" pitchFamily="34" charset="0"/>
              </a:rPr>
              <a:t> </a:t>
            </a:r>
            <a:r>
              <a:rPr lang="en-GB" sz="3600" i="1">
                <a:solidFill>
                  <a:srgbClr val="000000"/>
                </a:solidFill>
                <a:latin typeface="Fira Sans" panose="020B0503050000020004" pitchFamily="34" charset="0"/>
              </a:rPr>
              <a:t>is archival data, if functionality of the app isn’t required then no need for questionnaire.</a:t>
            </a:r>
            <a:endParaRPr lang="en-GB" sz="3600"/>
          </a:p>
        </p:txBody>
      </p:sp>
    </p:spTree>
    <p:extLst>
      <p:ext uri="{BB962C8B-B14F-4D97-AF65-F5344CB8AC3E}">
        <p14:creationId xmlns:p14="http://schemas.microsoft.com/office/powerpoint/2010/main" val="42479191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C547B8-AEDF-BD66-F8AA-7C665C5D69B0}"/>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09B9F92C-94CC-E0E6-FF84-90A0296244F6}"/>
              </a:ext>
            </a:extLst>
          </p:cNvPr>
          <p:cNvSpPr>
            <a:spLocks noGrp="1"/>
          </p:cNvSpPr>
          <p:nvPr>
            <p:ph type="body" sz="quarter" idx="16"/>
          </p:nvPr>
        </p:nvSpPr>
        <p:spPr/>
        <p:txBody>
          <a:bodyPr/>
          <a:lstStyle/>
          <a:p>
            <a:r>
              <a:rPr lang="en-US"/>
              <a:t>Security </a:t>
            </a:r>
            <a:br>
              <a:rPr lang="en-US"/>
            </a:br>
            <a:r>
              <a:rPr lang="en-US"/>
              <a:t>Assessment</a:t>
            </a:r>
          </a:p>
        </p:txBody>
      </p:sp>
    </p:spTree>
    <p:extLst>
      <p:ext uri="{BB962C8B-B14F-4D97-AF65-F5344CB8AC3E}">
        <p14:creationId xmlns:p14="http://schemas.microsoft.com/office/powerpoint/2010/main" val="382589299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EAF41C-6390-FA42-A5E9-0A0B15BC7AD1}"/>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8CE72AEA-EA07-F414-A7DD-8A624340FE69}"/>
              </a:ext>
            </a:extLst>
          </p:cNvPr>
          <p:cNvSpPr>
            <a:spLocks noGrp="1"/>
          </p:cNvSpPr>
          <p:nvPr>
            <p:ph type="title"/>
          </p:nvPr>
        </p:nvSpPr>
        <p:spPr>
          <a:xfrm>
            <a:off x="668992" y="537179"/>
            <a:ext cx="22991108" cy="999313"/>
          </a:xfrm>
        </p:spPr>
        <p:txBody>
          <a:bodyPr/>
          <a:lstStyle/>
          <a:p>
            <a:r>
              <a:rPr lang="en-US" sz="6400"/>
              <a:t>Discovery Summary</a:t>
            </a:r>
            <a:endParaRPr lang="en-AE"/>
          </a:p>
        </p:txBody>
      </p:sp>
      <p:sp>
        <p:nvSpPr>
          <p:cNvPr id="9" name="Oval 8">
            <a:extLst>
              <a:ext uri="{FF2B5EF4-FFF2-40B4-BE49-F238E27FC236}">
                <a16:creationId xmlns:a16="http://schemas.microsoft.com/office/drawing/2014/main" id="{4D82CE0D-2AFD-9A89-A985-5EBBB1F5C1FD}"/>
              </a:ext>
            </a:extLst>
          </p:cNvPr>
          <p:cNvSpPr/>
          <p:nvPr/>
        </p:nvSpPr>
        <p:spPr>
          <a:xfrm>
            <a:off x="9943644" y="2328190"/>
            <a:ext cx="2434132" cy="2434132"/>
          </a:xfrm>
          <a:prstGeom prst="ellipse">
            <a:avLst/>
          </a:prstGeom>
          <a:solidFill>
            <a:schemeClr val="bg1">
              <a:alpha val="0"/>
            </a:schemeClr>
          </a:solidFill>
          <a:ln w="28575">
            <a:gradFill>
              <a:gsLst>
                <a:gs pos="51000">
                  <a:schemeClr val="accent2"/>
                </a:gs>
                <a:gs pos="0">
                  <a:schemeClr val="bg2"/>
                </a:gs>
                <a:gs pos="100000">
                  <a:schemeClr val="accent4"/>
                </a:gs>
              </a:gsLst>
              <a:lin ang="78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p>
        </p:txBody>
      </p:sp>
      <p:sp>
        <p:nvSpPr>
          <p:cNvPr id="10" name="Oval 9">
            <a:extLst>
              <a:ext uri="{FF2B5EF4-FFF2-40B4-BE49-F238E27FC236}">
                <a16:creationId xmlns:a16="http://schemas.microsoft.com/office/drawing/2014/main" id="{C0B06437-A36A-66CB-63C0-15C5FEE458CE}"/>
              </a:ext>
            </a:extLst>
          </p:cNvPr>
          <p:cNvSpPr/>
          <p:nvPr/>
        </p:nvSpPr>
        <p:spPr>
          <a:xfrm>
            <a:off x="10124393" y="2508939"/>
            <a:ext cx="2072634" cy="2072634"/>
          </a:xfrm>
          <a:prstGeom prst="ellipse">
            <a:avLst/>
          </a:prstGeom>
          <a:solidFill>
            <a:schemeClr val="tx1">
              <a:lumMod val="85000"/>
              <a:lumOff val="1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3600"/>
          </a:p>
        </p:txBody>
      </p:sp>
      <p:sp>
        <p:nvSpPr>
          <p:cNvPr id="15" name="Rectangle: Rounded Corners 14">
            <a:extLst>
              <a:ext uri="{FF2B5EF4-FFF2-40B4-BE49-F238E27FC236}">
                <a16:creationId xmlns:a16="http://schemas.microsoft.com/office/drawing/2014/main" id="{5BA36DAD-750E-2607-899D-DCED2026D55D}"/>
              </a:ext>
            </a:extLst>
          </p:cNvPr>
          <p:cNvSpPr/>
          <p:nvPr/>
        </p:nvSpPr>
        <p:spPr>
          <a:xfrm>
            <a:off x="6574093" y="5926793"/>
            <a:ext cx="9849270" cy="5874302"/>
          </a:xfrm>
          <a:prstGeom prst="roundRect">
            <a:avLst>
              <a:gd name="adj" fmla="val 3152"/>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a:endParaRPr lang="en-GB" sz="3600"/>
          </a:p>
        </p:txBody>
      </p:sp>
      <p:sp>
        <p:nvSpPr>
          <p:cNvPr id="19" name="Rectangle: Rounded Corners 3">
            <a:extLst>
              <a:ext uri="{FF2B5EF4-FFF2-40B4-BE49-F238E27FC236}">
                <a16:creationId xmlns:a16="http://schemas.microsoft.com/office/drawing/2014/main" id="{058BA9C7-30EC-D33A-AC43-0D5599666FED}"/>
              </a:ext>
            </a:extLst>
          </p:cNvPr>
          <p:cNvSpPr>
            <a:spLocks/>
          </p:cNvSpPr>
          <p:nvPr/>
        </p:nvSpPr>
        <p:spPr>
          <a:xfrm>
            <a:off x="8811245" y="4982477"/>
            <a:ext cx="4698930" cy="61293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82880" tIns="0" rIns="182880" bIns="0" rtlCol="0" anchor="ctr">
            <a:spAutoFit/>
          </a:bodyPr>
          <a:lstStyle/>
          <a:p>
            <a:pPr algn="ctr"/>
            <a:r>
              <a:rPr lang="en-US" sz="3600" b="1">
                <a:solidFill>
                  <a:schemeClr val="tx1"/>
                </a:solidFill>
              </a:rPr>
              <a:t>Security Practices</a:t>
            </a:r>
          </a:p>
        </p:txBody>
      </p:sp>
      <p:sp>
        <p:nvSpPr>
          <p:cNvPr id="27" name="TextBox 26">
            <a:extLst>
              <a:ext uri="{FF2B5EF4-FFF2-40B4-BE49-F238E27FC236}">
                <a16:creationId xmlns:a16="http://schemas.microsoft.com/office/drawing/2014/main" id="{D5F19030-C8EA-F8EB-26EC-FB89D88A76F0}"/>
              </a:ext>
            </a:extLst>
          </p:cNvPr>
          <p:cNvSpPr txBox="1">
            <a:spLocks/>
          </p:cNvSpPr>
          <p:nvPr/>
        </p:nvSpPr>
        <p:spPr>
          <a:xfrm>
            <a:off x="6880151" y="6365021"/>
            <a:ext cx="9319914" cy="1344954"/>
          </a:xfrm>
          <a:prstGeom prst="rect">
            <a:avLst/>
          </a:prstGeom>
          <a:solidFill>
            <a:schemeClr val="bg2"/>
          </a:solidFill>
        </p:spPr>
        <p:txBody>
          <a:bodyPr vert="horz" lIns="0" tIns="0" rIns="0" bIns="0" rtlCol="0" anchor="ctr">
            <a:noAutofit/>
          </a:bodyPr>
          <a:lstStyle>
            <a:lvl1pPr marL="142875" lvl="0" indent="-142875"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1pPr>
            <a:lvl2pPr marL="428625" lvl="1" indent="-145257"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2pPr>
            <a:lvl3pPr marL="714375" lvl="2" indent="-147638"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3pPr>
            <a:lvl4pPr marL="1000125" lvl="3" indent="-150019"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4pPr>
            <a:lvl5pPr marL="1285875" lvl="4" indent="-152400"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5pPr>
            <a:lvl6pPr marL="2514600" indent="-228600" defTabSz="914400">
              <a:lnSpc>
                <a:spcPct val="90000"/>
              </a:lnSpc>
              <a:spcBef>
                <a:spcPts val="500"/>
              </a:spcBef>
              <a:buFont typeface="Arial" panose="020B0604020202020204" pitchFamily="34" charset="0"/>
              <a:buChar char="•"/>
              <a:defRPr sz="1800"/>
            </a:lvl6pPr>
            <a:lvl7pPr marL="2971800" indent="-228600" defTabSz="914400">
              <a:lnSpc>
                <a:spcPct val="90000"/>
              </a:lnSpc>
              <a:spcBef>
                <a:spcPts val="500"/>
              </a:spcBef>
              <a:buFont typeface="Arial" panose="020B0604020202020204" pitchFamily="34" charset="0"/>
              <a:buChar char="•"/>
              <a:defRPr sz="1800"/>
            </a:lvl7pPr>
            <a:lvl8pPr marL="3429000" indent="-228600" defTabSz="914400">
              <a:lnSpc>
                <a:spcPct val="90000"/>
              </a:lnSpc>
              <a:spcBef>
                <a:spcPts val="500"/>
              </a:spcBef>
              <a:buFont typeface="Arial" panose="020B0604020202020204" pitchFamily="34" charset="0"/>
              <a:buChar char="•"/>
              <a:defRPr sz="1800"/>
            </a:lvl8pPr>
            <a:lvl9pPr marL="3886200" indent="-228600" defTabSz="914400">
              <a:lnSpc>
                <a:spcPct val="90000"/>
              </a:lnSpc>
              <a:spcBef>
                <a:spcPts val="500"/>
              </a:spcBef>
              <a:buFont typeface="Arial" panose="020B0604020202020204" pitchFamily="34" charset="0"/>
              <a:buChar char="•"/>
              <a:defRPr sz="1800"/>
            </a:lvl9pPr>
          </a:lstStyle>
          <a:p>
            <a:pPr marL="0" indent="0" algn="just">
              <a:spcBef>
                <a:spcPts val="1200"/>
              </a:spcBef>
              <a:spcAft>
                <a:spcPts val="1200"/>
              </a:spcAft>
              <a:buNone/>
            </a:pPr>
            <a:r>
              <a:rPr lang="en-US" sz="3000">
                <a:ea typeface="+mn-lt"/>
                <a:cs typeface="+mn-lt"/>
              </a:rPr>
              <a:t>Use on-prem security as foundation for new cloud platform</a:t>
            </a:r>
            <a:endParaRPr lang="en-US" sz="3600"/>
          </a:p>
        </p:txBody>
      </p:sp>
      <p:sp>
        <p:nvSpPr>
          <p:cNvPr id="28" name="TextBox 27">
            <a:extLst>
              <a:ext uri="{FF2B5EF4-FFF2-40B4-BE49-F238E27FC236}">
                <a16:creationId xmlns:a16="http://schemas.microsoft.com/office/drawing/2014/main" id="{CDBBF4FE-A738-972E-FF02-C3E101523519}"/>
              </a:ext>
            </a:extLst>
          </p:cNvPr>
          <p:cNvSpPr txBox="1">
            <a:spLocks/>
          </p:cNvSpPr>
          <p:nvPr/>
        </p:nvSpPr>
        <p:spPr>
          <a:xfrm>
            <a:off x="7056847" y="8822461"/>
            <a:ext cx="8900262" cy="1582650"/>
          </a:xfrm>
          <a:prstGeom prst="rect">
            <a:avLst/>
          </a:prstGeom>
          <a:solidFill>
            <a:schemeClr val="bg2"/>
          </a:solidFill>
        </p:spPr>
        <p:txBody>
          <a:bodyPr vert="horz" lIns="0" tIns="0" rIns="0" bIns="0" rtlCol="0" anchor="ctr">
            <a:noAutofit/>
          </a:bodyPr>
          <a:lstStyle>
            <a:lvl1pPr marL="142875" lvl="0" indent="-142875"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1pPr>
            <a:lvl2pPr marL="428625" lvl="1" indent="-145257"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2pPr>
            <a:lvl3pPr marL="714375" lvl="2" indent="-147638"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3pPr>
            <a:lvl4pPr marL="1000125" lvl="3" indent="-150019"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4pPr>
            <a:lvl5pPr marL="1285875" lvl="4" indent="-152400" defTabSz="914400">
              <a:lnSpc>
                <a:spcPct val="100000"/>
              </a:lnSpc>
              <a:spcBef>
                <a:spcPts val="0"/>
              </a:spcBef>
              <a:spcAft>
                <a:spcPts val="1500"/>
              </a:spcAft>
              <a:buClr>
                <a:schemeClr val="tx2"/>
              </a:buClr>
              <a:buFont typeface="Arial" panose="020B0604020202020204" pitchFamily="34" charset="0"/>
              <a:buChar char="•"/>
              <a:defRPr sz="1800">
                <a:ln>
                  <a:noFill/>
                </a:ln>
                <a:solidFill>
                  <a:schemeClr val="bg1"/>
                </a:solidFill>
              </a:defRPr>
            </a:lvl5pPr>
            <a:lvl6pPr marL="2514600" indent="-228600" defTabSz="914400">
              <a:lnSpc>
                <a:spcPct val="90000"/>
              </a:lnSpc>
              <a:spcBef>
                <a:spcPts val="500"/>
              </a:spcBef>
              <a:buFont typeface="Arial" panose="020B0604020202020204" pitchFamily="34" charset="0"/>
              <a:buChar char="•"/>
              <a:defRPr sz="1800"/>
            </a:lvl6pPr>
            <a:lvl7pPr marL="2971800" indent="-228600" defTabSz="914400">
              <a:lnSpc>
                <a:spcPct val="90000"/>
              </a:lnSpc>
              <a:spcBef>
                <a:spcPts val="500"/>
              </a:spcBef>
              <a:buFont typeface="Arial" panose="020B0604020202020204" pitchFamily="34" charset="0"/>
              <a:buChar char="•"/>
              <a:defRPr sz="1800"/>
            </a:lvl7pPr>
            <a:lvl8pPr marL="3429000" indent="-228600" defTabSz="914400">
              <a:lnSpc>
                <a:spcPct val="90000"/>
              </a:lnSpc>
              <a:spcBef>
                <a:spcPts val="500"/>
              </a:spcBef>
              <a:buFont typeface="Arial" panose="020B0604020202020204" pitchFamily="34" charset="0"/>
              <a:buChar char="•"/>
              <a:defRPr sz="1800"/>
            </a:lvl8pPr>
            <a:lvl9pPr marL="3886200" indent="-228600" defTabSz="914400">
              <a:lnSpc>
                <a:spcPct val="90000"/>
              </a:lnSpc>
              <a:spcBef>
                <a:spcPts val="500"/>
              </a:spcBef>
              <a:buFont typeface="Arial" panose="020B0604020202020204" pitchFamily="34" charset="0"/>
              <a:buChar char="•"/>
              <a:defRPr sz="1800"/>
            </a:lvl9pPr>
          </a:lstStyle>
          <a:p>
            <a:pPr marL="0" indent="0" algn="just">
              <a:spcBef>
                <a:spcPts val="1200"/>
              </a:spcBef>
              <a:spcAft>
                <a:spcPts val="1200"/>
              </a:spcAft>
              <a:buNone/>
            </a:pPr>
            <a:r>
              <a:rPr lang="en-US" sz="3000">
                <a:ea typeface="+mn-lt"/>
                <a:cs typeface="+mn-lt"/>
              </a:rPr>
              <a:t>Focus on continued improvement, evolution and stability building the landing zone using cloud native tooling and features, on the target cloud</a:t>
            </a:r>
            <a:endParaRPr lang="en-US" sz="3000">
              <a:cs typeface="Arial"/>
            </a:endParaRPr>
          </a:p>
        </p:txBody>
      </p:sp>
      <p:cxnSp>
        <p:nvCxnSpPr>
          <p:cNvPr id="29" name="Straight Connector 28">
            <a:extLst>
              <a:ext uri="{FF2B5EF4-FFF2-40B4-BE49-F238E27FC236}">
                <a16:creationId xmlns:a16="http://schemas.microsoft.com/office/drawing/2014/main" id="{E1234403-4CD1-9F14-3626-2A3BDA3DCBDF}"/>
              </a:ext>
            </a:extLst>
          </p:cNvPr>
          <p:cNvCxnSpPr>
            <a:cxnSpLocks/>
          </p:cNvCxnSpPr>
          <p:nvPr/>
        </p:nvCxnSpPr>
        <p:spPr>
          <a:xfrm flipV="1">
            <a:off x="6880150" y="8407539"/>
            <a:ext cx="9256492" cy="22086"/>
          </a:xfrm>
          <a:prstGeom prst="line">
            <a:avLst/>
          </a:prstGeom>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37CA7991-A56C-C0C5-AEB1-5407DBFB5A9B}"/>
              </a:ext>
            </a:extLst>
          </p:cNvPr>
          <p:cNvGrpSpPr/>
          <p:nvPr/>
        </p:nvGrpSpPr>
        <p:grpSpPr>
          <a:xfrm>
            <a:off x="2372574" y="3123675"/>
            <a:ext cx="820692" cy="843166"/>
            <a:chOff x="1426399" y="1488092"/>
            <a:chExt cx="410346" cy="421583"/>
          </a:xfrm>
        </p:grpSpPr>
        <p:sp>
          <p:nvSpPr>
            <p:cNvPr id="38" name="Freeform 191">
              <a:extLst>
                <a:ext uri="{FF2B5EF4-FFF2-40B4-BE49-F238E27FC236}">
                  <a16:creationId xmlns:a16="http://schemas.microsoft.com/office/drawing/2014/main" id="{60BF0CF8-5970-9EB7-EF35-83F803F56411}"/>
                </a:ext>
              </a:extLst>
            </p:cNvPr>
            <p:cNvSpPr/>
            <p:nvPr/>
          </p:nvSpPr>
          <p:spPr>
            <a:xfrm flipH="1">
              <a:off x="1615710" y="1852275"/>
              <a:ext cx="92689" cy="5"/>
            </a:xfrm>
            <a:prstGeom prst="line">
              <a:avLst/>
            </a:prstGeom>
            <a:noFill/>
            <a:ln w="19050" cap="rnd">
              <a:solidFill>
                <a:srgbClr val="FFFFFF"/>
              </a:solidFill>
              <a:prstDash val="solid"/>
              <a:miter lim="800000"/>
            </a:ln>
            <a:effectLst/>
          </p:spPr>
          <p:txBody>
            <a:bodyPr wrap="square" lIns="91436" tIns="91436" rIns="91436" bIns="91436" numCol="1" anchor="t">
              <a:noAutofit/>
            </a:bodyPr>
            <a:lstStyle/>
            <a:p>
              <a:pPr hangingPunct="0">
                <a:defRPr/>
              </a:pPr>
              <a:endParaRPr sz="2100" kern="0">
                <a:solidFill>
                  <a:srgbClr val="000000"/>
                </a:solidFill>
                <a:latin typeface="Arial"/>
                <a:cs typeface="Arial"/>
                <a:sym typeface="Arial"/>
              </a:endParaRPr>
            </a:p>
          </p:txBody>
        </p:sp>
        <p:sp>
          <p:nvSpPr>
            <p:cNvPr id="39" name="Freeform 192">
              <a:extLst>
                <a:ext uri="{FF2B5EF4-FFF2-40B4-BE49-F238E27FC236}">
                  <a16:creationId xmlns:a16="http://schemas.microsoft.com/office/drawing/2014/main" id="{B9CF8FD0-2798-98DE-181F-DDC55C205B6A}"/>
                </a:ext>
              </a:extLst>
            </p:cNvPr>
            <p:cNvSpPr/>
            <p:nvPr/>
          </p:nvSpPr>
          <p:spPr>
            <a:xfrm>
              <a:off x="1426399" y="1794522"/>
              <a:ext cx="410346" cy="115153"/>
            </a:xfrm>
            <a:custGeom>
              <a:avLst/>
              <a:gdLst/>
              <a:ahLst/>
              <a:cxnLst>
                <a:cxn ang="0">
                  <a:pos x="wd2" y="hd2"/>
                </a:cxn>
                <a:cxn ang="5400000">
                  <a:pos x="wd2" y="hd2"/>
                </a:cxn>
                <a:cxn ang="10800000">
                  <a:pos x="wd2" y="hd2"/>
                </a:cxn>
                <a:cxn ang="16200000">
                  <a:pos x="wd2" y="hd2"/>
                </a:cxn>
              </a:cxnLst>
              <a:rect l="0" t="0" r="r" b="b"/>
              <a:pathLst>
                <a:path w="21600" h="21600" extrusionOk="0">
                  <a:moveTo>
                    <a:pt x="0" y="16777"/>
                  </a:moveTo>
                  <a:cubicBezTo>
                    <a:pt x="0" y="19426"/>
                    <a:pt x="613" y="21600"/>
                    <a:pt x="1360" y="21600"/>
                  </a:cubicBezTo>
                  <a:cubicBezTo>
                    <a:pt x="7660" y="21600"/>
                    <a:pt x="13960" y="21600"/>
                    <a:pt x="20260" y="21600"/>
                  </a:cubicBezTo>
                  <a:cubicBezTo>
                    <a:pt x="21006" y="21600"/>
                    <a:pt x="21600" y="19426"/>
                    <a:pt x="21600" y="16777"/>
                  </a:cubicBezTo>
                  <a:cubicBezTo>
                    <a:pt x="21600" y="12770"/>
                    <a:pt x="21600" y="8762"/>
                    <a:pt x="21600" y="4823"/>
                  </a:cubicBezTo>
                  <a:cubicBezTo>
                    <a:pt x="21600" y="2174"/>
                    <a:pt x="21006" y="0"/>
                    <a:pt x="20260" y="0"/>
                  </a:cubicBezTo>
                  <a:cubicBezTo>
                    <a:pt x="13960" y="0"/>
                    <a:pt x="7660" y="0"/>
                    <a:pt x="1360" y="0"/>
                  </a:cubicBezTo>
                  <a:cubicBezTo>
                    <a:pt x="613" y="0"/>
                    <a:pt x="0" y="2174"/>
                    <a:pt x="0" y="4823"/>
                  </a:cubicBezTo>
                  <a:cubicBezTo>
                    <a:pt x="0" y="8762"/>
                    <a:pt x="0" y="12770"/>
                    <a:pt x="0" y="16777"/>
                  </a:cubicBezTo>
                </a:path>
              </a:pathLst>
            </a:custGeom>
            <a:noFill/>
            <a:ln w="19050" cap="flat">
              <a:solidFill>
                <a:srgbClr val="FFFFFF"/>
              </a:solidFill>
              <a:prstDash val="solid"/>
              <a:miter lim="800000"/>
            </a:ln>
            <a:effectLst/>
          </p:spPr>
          <p:txBody>
            <a:bodyPr wrap="square" lIns="91436" tIns="91436" rIns="91436" bIns="91436" numCol="1" anchor="ctr">
              <a:noAutofit/>
            </a:bodyPr>
            <a:lstStyle/>
            <a:p>
              <a:pPr hangingPunct="0">
                <a:defRPr/>
              </a:pPr>
              <a:endParaRPr sz="2100" kern="0">
                <a:solidFill>
                  <a:srgbClr val="000000"/>
                </a:solidFill>
                <a:latin typeface="Arial"/>
                <a:cs typeface="Arial"/>
                <a:sym typeface="Arial"/>
              </a:endParaRPr>
            </a:p>
          </p:txBody>
        </p:sp>
        <p:sp>
          <p:nvSpPr>
            <p:cNvPr id="40" name="Freeform 193">
              <a:extLst>
                <a:ext uri="{FF2B5EF4-FFF2-40B4-BE49-F238E27FC236}">
                  <a16:creationId xmlns:a16="http://schemas.microsoft.com/office/drawing/2014/main" id="{61620EDA-65B0-E5D7-EF2E-9D50C0B935F9}"/>
                </a:ext>
              </a:extLst>
            </p:cNvPr>
            <p:cNvSpPr/>
            <p:nvPr/>
          </p:nvSpPr>
          <p:spPr>
            <a:xfrm flipH="1">
              <a:off x="1615710" y="1698260"/>
              <a:ext cx="92689" cy="5"/>
            </a:xfrm>
            <a:prstGeom prst="line">
              <a:avLst/>
            </a:prstGeom>
            <a:noFill/>
            <a:ln w="19050" cap="rnd">
              <a:solidFill>
                <a:srgbClr val="FFFFFF"/>
              </a:solidFill>
              <a:prstDash val="solid"/>
              <a:miter lim="800000"/>
            </a:ln>
            <a:effectLst/>
          </p:spPr>
          <p:txBody>
            <a:bodyPr wrap="square" lIns="91436" tIns="91436" rIns="91436" bIns="91436" numCol="1" anchor="t">
              <a:noAutofit/>
            </a:bodyPr>
            <a:lstStyle/>
            <a:p>
              <a:pPr hangingPunct="0">
                <a:defRPr/>
              </a:pPr>
              <a:endParaRPr sz="2100" kern="0">
                <a:solidFill>
                  <a:srgbClr val="000000"/>
                </a:solidFill>
                <a:latin typeface="Arial"/>
                <a:cs typeface="Arial"/>
                <a:sym typeface="Arial"/>
              </a:endParaRPr>
            </a:p>
          </p:txBody>
        </p:sp>
        <p:sp>
          <p:nvSpPr>
            <p:cNvPr id="41" name="Freeform 194">
              <a:extLst>
                <a:ext uri="{FF2B5EF4-FFF2-40B4-BE49-F238E27FC236}">
                  <a16:creationId xmlns:a16="http://schemas.microsoft.com/office/drawing/2014/main" id="{2E99CAD4-6AF3-0F3F-7D2C-E5F87E9F8D50}"/>
                </a:ext>
              </a:extLst>
            </p:cNvPr>
            <p:cNvSpPr/>
            <p:nvPr/>
          </p:nvSpPr>
          <p:spPr>
            <a:xfrm>
              <a:off x="1426399" y="1642109"/>
              <a:ext cx="410346" cy="115153"/>
            </a:xfrm>
            <a:custGeom>
              <a:avLst/>
              <a:gdLst/>
              <a:ahLst/>
              <a:cxnLst>
                <a:cxn ang="0">
                  <a:pos x="wd2" y="hd2"/>
                </a:cxn>
                <a:cxn ang="5400000">
                  <a:pos x="wd2" y="hd2"/>
                </a:cxn>
                <a:cxn ang="10800000">
                  <a:pos x="wd2" y="hd2"/>
                </a:cxn>
                <a:cxn ang="16200000">
                  <a:pos x="wd2" y="hd2"/>
                </a:cxn>
              </a:cxnLst>
              <a:rect l="0" t="0" r="r" b="b"/>
              <a:pathLst>
                <a:path w="21600" h="21600" extrusionOk="0">
                  <a:moveTo>
                    <a:pt x="0" y="16762"/>
                  </a:moveTo>
                  <a:cubicBezTo>
                    <a:pt x="0" y="19420"/>
                    <a:pt x="613" y="21600"/>
                    <a:pt x="1360" y="21600"/>
                  </a:cubicBezTo>
                  <a:cubicBezTo>
                    <a:pt x="7660" y="21600"/>
                    <a:pt x="13960" y="21600"/>
                    <a:pt x="20260" y="21600"/>
                  </a:cubicBezTo>
                  <a:cubicBezTo>
                    <a:pt x="21006" y="21600"/>
                    <a:pt x="21600" y="19420"/>
                    <a:pt x="21600" y="16762"/>
                  </a:cubicBezTo>
                  <a:cubicBezTo>
                    <a:pt x="21600" y="12742"/>
                    <a:pt x="21600" y="8722"/>
                    <a:pt x="21600" y="4770"/>
                  </a:cubicBezTo>
                  <a:cubicBezTo>
                    <a:pt x="21600" y="2112"/>
                    <a:pt x="21006" y="0"/>
                    <a:pt x="20260" y="0"/>
                  </a:cubicBezTo>
                  <a:cubicBezTo>
                    <a:pt x="13960" y="0"/>
                    <a:pt x="7660" y="0"/>
                    <a:pt x="1360" y="0"/>
                  </a:cubicBezTo>
                  <a:cubicBezTo>
                    <a:pt x="613" y="0"/>
                    <a:pt x="0" y="2112"/>
                    <a:pt x="0" y="4770"/>
                  </a:cubicBezTo>
                  <a:cubicBezTo>
                    <a:pt x="0" y="8722"/>
                    <a:pt x="0" y="12742"/>
                    <a:pt x="0" y="16762"/>
                  </a:cubicBezTo>
                </a:path>
              </a:pathLst>
            </a:custGeom>
            <a:noFill/>
            <a:ln w="19050" cap="flat">
              <a:solidFill>
                <a:srgbClr val="FFFFFF"/>
              </a:solidFill>
              <a:prstDash val="solid"/>
              <a:miter lim="800000"/>
            </a:ln>
            <a:effectLst/>
          </p:spPr>
          <p:txBody>
            <a:bodyPr wrap="square" lIns="91436" tIns="91436" rIns="91436" bIns="91436" numCol="1" anchor="ctr">
              <a:noAutofit/>
            </a:bodyPr>
            <a:lstStyle/>
            <a:p>
              <a:pPr hangingPunct="0">
                <a:defRPr/>
              </a:pPr>
              <a:endParaRPr sz="2100" kern="0">
                <a:solidFill>
                  <a:srgbClr val="000000"/>
                </a:solidFill>
                <a:latin typeface="Arial"/>
                <a:cs typeface="Arial"/>
                <a:sym typeface="Arial"/>
              </a:endParaRPr>
            </a:p>
          </p:txBody>
        </p:sp>
        <p:sp>
          <p:nvSpPr>
            <p:cNvPr id="42" name="Freeform 195">
              <a:extLst>
                <a:ext uri="{FF2B5EF4-FFF2-40B4-BE49-F238E27FC236}">
                  <a16:creationId xmlns:a16="http://schemas.microsoft.com/office/drawing/2014/main" id="{A1B5D135-B1E7-7C9A-0521-FA7F09854C44}"/>
                </a:ext>
              </a:extLst>
            </p:cNvPr>
            <p:cNvSpPr/>
            <p:nvPr/>
          </p:nvSpPr>
          <p:spPr>
            <a:xfrm flipH="1" flipV="1">
              <a:off x="1615710" y="1544246"/>
              <a:ext cx="92689" cy="5"/>
            </a:xfrm>
            <a:prstGeom prst="line">
              <a:avLst/>
            </a:prstGeom>
            <a:noFill/>
            <a:ln w="19050" cap="rnd">
              <a:solidFill>
                <a:srgbClr val="FFFFFF"/>
              </a:solidFill>
              <a:prstDash val="solid"/>
              <a:miter lim="800000"/>
            </a:ln>
            <a:effectLst/>
          </p:spPr>
          <p:txBody>
            <a:bodyPr wrap="square" lIns="91436" tIns="91436" rIns="91436" bIns="91436" numCol="1" anchor="t">
              <a:noAutofit/>
            </a:bodyPr>
            <a:lstStyle/>
            <a:p>
              <a:pPr hangingPunct="0">
                <a:defRPr/>
              </a:pPr>
              <a:endParaRPr sz="2100" kern="0">
                <a:solidFill>
                  <a:srgbClr val="000000"/>
                </a:solidFill>
                <a:latin typeface="Arial"/>
                <a:cs typeface="Arial"/>
                <a:sym typeface="Arial"/>
              </a:endParaRPr>
            </a:p>
          </p:txBody>
        </p:sp>
        <p:sp>
          <p:nvSpPr>
            <p:cNvPr id="43" name="Freeform 196">
              <a:extLst>
                <a:ext uri="{FF2B5EF4-FFF2-40B4-BE49-F238E27FC236}">
                  <a16:creationId xmlns:a16="http://schemas.microsoft.com/office/drawing/2014/main" id="{458EFC3B-9B13-D25C-049F-79F762CE757D}"/>
                </a:ext>
              </a:extLst>
            </p:cNvPr>
            <p:cNvSpPr/>
            <p:nvPr/>
          </p:nvSpPr>
          <p:spPr>
            <a:xfrm flipH="1" flipV="1">
              <a:off x="1757855" y="1544246"/>
              <a:ext cx="29790" cy="5"/>
            </a:xfrm>
            <a:prstGeom prst="line">
              <a:avLst/>
            </a:prstGeom>
            <a:noFill/>
            <a:ln w="19050" cap="rnd">
              <a:solidFill>
                <a:srgbClr val="FFFFFF"/>
              </a:solidFill>
              <a:prstDash val="solid"/>
              <a:miter lim="800000"/>
            </a:ln>
            <a:effectLst/>
          </p:spPr>
          <p:txBody>
            <a:bodyPr wrap="square" lIns="91436" tIns="91436" rIns="91436" bIns="91436" numCol="1" anchor="t">
              <a:noAutofit/>
            </a:bodyPr>
            <a:lstStyle/>
            <a:p>
              <a:pPr hangingPunct="0">
                <a:defRPr/>
              </a:pPr>
              <a:endParaRPr sz="2100" kern="0">
                <a:solidFill>
                  <a:srgbClr val="000000"/>
                </a:solidFill>
                <a:latin typeface="Arial"/>
                <a:cs typeface="Arial"/>
                <a:sym typeface="Arial"/>
              </a:endParaRPr>
            </a:p>
          </p:txBody>
        </p:sp>
        <p:sp>
          <p:nvSpPr>
            <p:cNvPr id="44" name="Freeform 197">
              <a:extLst>
                <a:ext uri="{FF2B5EF4-FFF2-40B4-BE49-F238E27FC236}">
                  <a16:creationId xmlns:a16="http://schemas.microsoft.com/office/drawing/2014/main" id="{88E5B75F-929D-D7C2-8C52-C23F7D223D4F}"/>
                </a:ext>
              </a:extLst>
            </p:cNvPr>
            <p:cNvSpPr/>
            <p:nvPr/>
          </p:nvSpPr>
          <p:spPr>
            <a:xfrm flipH="1">
              <a:off x="1757855" y="1698260"/>
              <a:ext cx="29790" cy="5"/>
            </a:xfrm>
            <a:prstGeom prst="line">
              <a:avLst/>
            </a:prstGeom>
            <a:noFill/>
            <a:ln w="19050" cap="rnd">
              <a:solidFill>
                <a:srgbClr val="FFFFFF"/>
              </a:solidFill>
              <a:prstDash val="solid"/>
              <a:miter lim="800000"/>
            </a:ln>
            <a:effectLst/>
          </p:spPr>
          <p:txBody>
            <a:bodyPr wrap="square" lIns="91436" tIns="91436" rIns="91436" bIns="91436" numCol="1" anchor="t">
              <a:noAutofit/>
            </a:bodyPr>
            <a:lstStyle/>
            <a:p>
              <a:pPr hangingPunct="0">
                <a:defRPr/>
              </a:pPr>
              <a:endParaRPr sz="2100" kern="0">
                <a:solidFill>
                  <a:srgbClr val="000000"/>
                </a:solidFill>
                <a:latin typeface="Arial"/>
                <a:cs typeface="Arial"/>
                <a:sym typeface="Arial"/>
              </a:endParaRPr>
            </a:p>
          </p:txBody>
        </p:sp>
        <p:sp>
          <p:nvSpPr>
            <p:cNvPr id="45" name="Freeform 198">
              <a:extLst>
                <a:ext uri="{FF2B5EF4-FFF2-40B4-BE49-F238E27FC236}">
                  <a16:creationId xmlns:a16="http://schemas.microsoft.com/office/drawing/2014/main" id="{36899F66-CBDC-D655-4E98-5CD64A9595F3}"/>
                </a:ext>
              </a:extLst>
            </p:cNvPr>
            <p:cNvSpPr/>
            <p:nvPr/>
          </p:nvSpPr>
          <p:spPr>
            <a:xfrm flipH="1">
              <a:off x="1757855" y="1852275"/>
              <a:ext cx="29790" cy="5"/>
            </a:xfrm>
            <a:prstGeom prst="line">
              <a:avLst/>
            </a:prstGeom>
            <a:noFill/>
            <a:ln w="19050" cap="rnd">
              <a:solidFill>
                <a:srgbClr val="FFFFFF"/>
              </a:solidFill>
              <a:prstDash val="solid"/>
              <a:miter lim="800000"/>
            </a:ln>
            <a:effectLst/>
          </p:spPr>
          <p:txBody>
            <a:bodyPr wrap="square" lIns="91436" tIns="91436" rIns="91436" bIns="91436" numCol="1" anchor="t">
              <a:noAutofit/>
            </a:bodyPr>
            <a:lstStyle/>
            <a:p>
              <a:pPr hangingPunct="0">
                <a:defRPr/>
              </a:pPr>
              <a:endParaRPr sz="2100" kern="0">
                <a:solidFill>
                  <a:srgbClr val="000000"/>
                </a:solidFill>
                <a:latin typeface="Arial"/>
                <a:cs typeface="Arial"/>
                <a:sym typeface="Arial"/>
              </a:endParaRPr>
            </a:p>
          </p:txBody>
        </p:sp>
        <p:sp>
          <p:nvSpPr>
            <p:cNvPr id="46" name="Freeform 199">
              <a:extLst>
                <a:ext uri="{FF2B5EF4-FFF2-40B4-BE49-F238E27FC236}">
                  <a16:creationId xmlns:a16="http://schemas.microsoft.com/office/drawing/2014/main" id="{93C89166-5067-EC39-10CA-ACFC3705297B}"/>
                </a:ext>
              </a:extLst>
            </p:cNvPr>
            <p:cNvSpPr/>
            <p:nvPr/>
          </p:nvSpPr>
          <p:spPr>
            <a:xfrm>
              <a:off x="1426399" y="1488092"/>
              <a:ext cx="410346" cy="115153"/>
            </a:xfrm>
            <a:custGeom>
              <a:avLst/>
              <a:gdLst/>
              <a:ahLst/>
              <a:cxnLst>
                <a:cxn ang="0">
                  <a:pos x="wd2" y="hd2"/>
                </a:cxn>
                <a:cxn ang="5400000">
                  <a:pos x="wd2" y="hd2"/>
                </a:cxn>
                <a:cxn ang="10800000">
                  <a:pos x="wd2" y="hd2"/>
                </a:cxn>
                <a:cxn ang="16200000">
                  <a:pos x="wd2" y="hd2"/>
                </a:cxn>
              </a:cxnLst>
              <a:rect l="0" t="0" r="r" b="b"/>
              <a:pathLst>
                <a:path w="21600" h="21600" extrusionOk="0">
                  <a:moveTo>
                    <a:pt x="0" y="16762"/>
                  </a:moveTo>
                  <a:cubicBezTo>
                    <a:pt x="0" y="19420"/>
                    <a:pt x="613" y="21600"/>
                    <a:pt x="1360" y="21600"/>
                  </a:cubicBezTo>
                  <a:cubicBezTo>
                    <a:pt x="7660" y="21600"/>
                    <a:pt x="13960" y="21600"/>
                    <a:pt x="20260" y="21600"/>
                  </a:cubicBezTo>
                  <a:cubicBezTo>
                    <a:pt x="21006" y="21600"/>
                    <a:pt x="21600" y="19420"/>
                    <a:pt x="21600" y="16762"/>
                  </a:cubicBezTo>
                  <a:cubicBezTo>
                    <a:pt x="21600" y="12742"/>
                    <a:pt x="21600" y="8722"/>
                    <a:pt x="21600" y="4770"/>
                  </a:cubicBezTo>
                  <a:cubicBezTo>
                    <a:pt x="21600" y="2112"/>
                    <a:pt x="21006" y="0"/>
                    <a:pt x="20260" y="0"/>
                  </a:cubicBezTo>
                  <a:cubicBezTo>
                    <a:pt x="13960" y="0"/>
                    <a:pt x="7660" y="0"/>
                    <a:pt x="1360" y="0"/>
                  </a:cubicBezTo>
                  <a:cubicBezTo>
                    <a:pt x="613" y="0"/>
                    <a:pt x="0" y="2112"/>
                    <a:pt x="0" y="4770"/>
                  </a:cubicBezTo>
                  <a:cubicBezTo>
                    <a:pt x="0" y="8722"/>
                    <a:pt x="0" y="12742"/>
                    <a:pt x="0" y="16762"/>
                  </a:cubicBezTo>
                </a:path>
              </a:pathLst>
            </a:custGeom>
            <a:noFill/>
            <a:ln w="19050" cap="flat">
              <a:solidFill>
                <a:srgbClr val="FFFFFF"/>
              </a:solidFill>
              <a:prstDash val="solid"/>
              <a:miter lim="800000"/>
            </a:ln>
            <a:effectLst/>
          </p:spPr>
          <p:txBody>
            <a:bodyPr wrap="square" lIns="91436" tIns="91436" rIns="91436" bIns="91436" numCol="1" anchor="ctr">
              <a:noAutofit/>
            </a:bodyPr>
            <a:lstStyle/>
            <a:p>
              <a:pPr hangingPunct="0">
                <a:defRPr/>
              </a:pPr>
              <a:endParaRPr sz="2100" kern="0">
                <a:solidFill>
                  <a:srgbClr val="000000"/>
                </a:solidFill>
                <a:latin typeface="Arial"/>
                <a:cs typeface="Arial"/>
                <a:sym typeface="Arial"/>
              </a:endParaRPr>
            </a:p>
          </p:txBody>
        </p:sp>
      </p:grpSp>
      <p:pic>
        <p:nvPicPr>
          <p:cNvPr id="57" name="CustomIcon">
            <a:extLst>
              <a:ext uri="{FF2B5EF4-FFF2-40B4-BE49-F238E27FC236}">
                <a16:creationId xmlns:a16="http://schemas.microsoft.com/office/drawing/2014/main" id="{740717CB-D1CF-3E26-2CDB-21D5939EC7AA}"/>
              </a:ext>
            </a:extLst>
          </p:cNvPr>
          <p:cNvPicPr>
            <a:picLocks noChangeAspect="1"/>
          </p:cNvPicPr>
          <p:nvPr>
            <p:custDataLst>
              <p:tags r:id="rId1"/>
            </p:custDataLst>
          </p:nvPr>
        </p:nvPicPr>
        <p:blipFill>
          <a:blip r:embed="rId4">
            <a:extLst>
              <a:ext uri="{96DAC541-7B7A-43D3-8B79-37D633B846F1}">
                <asvg:svgBlip xmlns:asvg="http://schemas.microsoft.com/office/drawing/2016/SVG/main" r:embed="rId5"/>
              </a:ext>
            </a:extLst>
          </a:blip>
          <a:stretch>
            <a:fillRect/>
          </a:stretch>
        </p:blipFill>
        <p:spPr>
          <a:xfrm>
            <a:off x="10689048" y="3072350"/>
            <a:ext cx="943320" cy="943320"/>
          </a:xfrm>
          <a:prstGeom prst="rect">
            <a:avLst/>
          </a:prstGeom>
          <a:effectLst/>
        </p:spPr>
      </p:pic>
      <p:sp>
        <p:nvSpPr>
          <p:cNvPr id="2" name="Slide Number Placeholder 2">
            <a:extLst>
              <a:ext uri="{FF2B5EF4-FFF2-40B4-BE49-F238E27FC236}">
                <a16:creationId xmlns:a16="http://schemas.microsoft.com/office/drawing/2014/main" id="{FF174E72-A2E8-FDA3-69FF-5587119D9C5C}"/>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74</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257645281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CD0EBE-0C3C-465E-E106-58CBC08EC73C}"/>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90A02723-36D0-33EB-DBAC-E83997A34ABB}"/>
              </a:ext>
            </a:extLst>
          </p:cNvPr>
          <p:cNvSpPr>
            <a:spLocks noGrp="1"/>
          </p:cNvSpPr>
          <p:nvPr>
            <p:ph type="title"/>
          </p:nvPr>
        </p:nvSpPr>
        <p:spPr>
          <a:xfrm>
            <a:off x="668992" y="537178"/>
            <a:ext cx="22991108" cy="999313"/>
          </a:xfrm>
        </p:spPr>
        <p:txBody>
          <a:bodyPr/>
          <a:lstStyle/>
          <a:p>
            <a:pPr>
              <a:defRPr/>
            </a:pPr>
            <a:r>
              <a:rPr lang="en-US" sz="6400" b="1">
                <a:solidFill>
                  <a:prstClr val="white"/>
                </a:solidFill>
                <a:latin typeface="Arial"/>
                <a:sym typeface="Arial"/>
              </a:rPr>
              <a:t>Goals, Objectives and Findings</a:t>
            </a:r>
            <a:endParaRPr lang="en-US" sz="6400" baseline="30000">
              <a:solidFill>
                <a:prstClr val="white"/>
              </a:solidFill>
              <a:latin typeface="Arial"/>
              <a:sym typeface="Arial"/>
            </a:endParaRPr>
          </a:p>
        </p:txBody>
      </p:sp>
      <p:sp>
        <p:nvSpPr>
          <p:cNvPr id="9" name="TextBox 8">
            <a:extLst>
              <a:ext uri="{FF2B5EF4-FFF2-40B4-BE49-F238E27FC236}">
                <a16:creationId xmlns:a16="http://schemas.microsoft.com/office/drawing/2014/main" id="{AA9CFAE7-A7BC-B12E-C2F8-71A4F536A2EB}"/>
              </a:ext>
            </a:extLst>
          </p:cNvPr>
          <p:cNvSpPr txBox="1"/>
          <p:nvPr/>
        </p:nvSpPr>
        <p:spPr>
          <a:xfrm>
            <a:off x="317159" y="4519136"/>
            <a:ext cx="24066842" cy="8476167"/>
          </a:xfrm>
          <a:prstGeom prst="rect">
            <a:avLst/>
          </a:prstGeom>
          <a:noFill/>
        </p:spPr>
        <p:txBody>
          <a:bodyPr wrap="square" lIns="182880" tIns="91440" rIns="182880" bIns="91440" rtlCol="0" anchor="t">
            <a:spAutoFit/>
          </a:bodyPr>
          <a:lstStyle/>
          <a:p>
            <a:pPr defTabSz="1828800">
              <a:buClr>
                <a:srgbClr val="000000"/>
              </a:buClr>
              <a:defRPr/>
            </a:pPr>
            <a:r>
              <a:rPr lang="en-US" sz="3200" b="1" kern="0">
                <a:solidFill>
                  <a:srgbClr val="EB0000"/>
                </a:solidFill>
                <a:latin typeface="Arial"/>
                <a:cs typeface="Arial"/>
                <a:sym typeface="Arial"/>
              </a:rPr>
              <a:t>Findings</a:t>
            </a:r>
            <a:endParaRPr lang="en-US" sz="2800" b="1" kern="0">
              <a:solidFill>
                <a:srgbClr val="EB0000"/>
              </a:solidFill>
              <a:latin typeface="Arial"/>
              <a:cs typeface="Arial"/>
              <a:sym typeface="Arial"/>
            </a:endParaRPr>
          </a:p>
          <a:p>
            <a:pPr marL="571500" lvl="1" indent="-571500" defTabSz="1828800">
              <a:spcBef>
                <a:spcPct val="30000"/>
              </a:spcBef>
              <a:buClr>
                <a:srgbClr val="EB0000"/>
              </a:buClr>
              <a:buFont typeface="Arial" panose="020B0604020202020204" pitchFamily="34" charset="0"/>
              <a:buChar char="•"/>
            </a:pPr>
            <a:r>
              <a:rPr lang="en-US" sz="3200">
                <a:latin typeface="Arial"/>
              </a:rPr>
              <a:t>The Achilles team understands the criticality for layered security and is forward thinking.</a:t>
            </a:r>
            <a:endParaRPr lang="en-US" sz="32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3200">
                <a:latin typeface="Arial"/>
              </a:rPr>
              <a:t>Achilles have implemented various technology solutions and products, for their Corporate Applications, and </a:t>
            </a:r>
            <a:r>
              <a:rPr lang="en-US" sz="3200" err="1">
                <a:latin typeface="Arial"/>
              </a:rPr>
              <a:t>MyAchilles</a:t>
            </a:r>
            <a:r>
              <a:rPr lang="en-US" sz="3200">
                <a:latin typeface="Arial"/>
              </a:rPr>
              <a:t> platform running on Third Party Data Centre environment.</a:t>
            </a:r>
            <a:endParaRPr lang="en-US" sz="32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3200">
                <a:latin typeface="Arial"/>
              </a:rPr>
              <a:t>Achilles can use on-prem security as foundation for new cloud platform.</a:t>
            </a:r>
            <a:endParaRPr lang="en-US" sz="32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3200">
                <a:latin typeface="Arial"/>
              </a:rPr>
              <a:t>There is an existing small AWS, Azure footprint, secured by current security tooling.</a:t>
            </a:r>
            <a:endParaRPr lang="en-US" sz="32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3200" err="1">
                <a:latin typeface="Arial"/>
              </a:rPr>
              <a:t>MyAchilles</a:t>
            </a:r>
            <a:r>
              <a:rPr lang="en-US" sz="3200">
                <a:latin typeface="Arial"/>
              </a:rPr>
              <a:t> has about 20-30 secrets (credentials, certificates, serial number etc.).</a:t>
            </a:r>
            <a:endParaRPr lang="en-US" sz="32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3200" err="1">
                <a:latin typeface="Arial"/>
              </a:rPr>
              <a:t>GoSupply</a:t>
            </a:r>
            <a:r>
              <a:rPr lang="en-US" sz="3200">
                <a:latin typeface="Arial"/>
              </a:rPr>
              <a:t> uses Azure Key Vault is to Securely store and tightly control access to tokens, passwords, certificates, API keys, and other secrets - but there are open high and medium security recommendations flagged in Azure Advisor which should be addressed. </a:t>
            </a:r>
            <a:endParaRPr lang="en-US" sz="32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3200">
                <a:latin typeface="Arial"/>
              </a:rPr>
              <a:t>ISO2701 is followed and PCI/DSS and GDPR compliance adherence is desired in future state cloud provider.</a:t>
            </a:r>
            <a:endParaRPr lang="en-US" sz="32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3200">
                <a:latin typeface="Arial"/>
              </a:rPr>
              <a:t>Achilles has ISMS and required enterprise policies.</a:t>
            </a:r>
            <a:endParaRPr lang="en-US" sz="32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3200">
                <a:latin typeface="Arial"/>
              </a:rPr>
              <a:t>Current Infrastructure follows “closed build” private data center strategy. </a:t>
            </a:r>
            <a:endParaRPr lang="en-US" sz="3200">
              <a:latin typeface="Arial"/>
              <a:cs typeface="Arial"/>
            </a:endParaRPr>
          </a:p>
          <a:p>
            <a:pPr marL="571500" lvl="3" indent="-571500" defTabSz="1828800">
              <a:spcBef>
                <a:spcPct val="30000"/>
              </a:spcBef>
              <a:buClr>
                <a:srgbClr val="EB0000"/>
              </a:buClr>
              <a:buFont typeface="Arial" panose="020B0604020202020204" pitchFamily="34" charset="0"/>
              <a:buChar char="•"/>
            </a:pPr>
            <a:endParaRPr lang="en-US" sz="2800" kern="0">
              <a:solidFill>
                <a:prstClr val="white"/>
              </a:solidFill>
              <a:latin typeface="Arial"/>
              <a:cs typeface="Arial"/>
            </a:endParaRPr>
          </a:p>
        </p:txBody>
      </p:sp>
      <p:sp>
        <p:nvSpPr>
          <p:cNvPr id="10" name="TextBox 9">
            <a:extLst>
              <a:ext uri="{FF2B5EF4-FFF2-40B4-BE49-F238E27FC236}">
                <a16:creationId xmlns:a16="http://schemas.microsoft.com/office/drawing/2014/main" id="{412631D0-87FA-18F7-E195-4038E4432F8F}"/>
              </a:ext>
            </a:extLst>
          </p:cNvPr>
          <p:cNvSpPr txBox="1"/>
          <p:nvPr/>
        </p:nvSpPr>
        <p:spPr>
          <a:xfrm>
            <a:off x="317159" y="2322099"/>
            <a:ext cx="24066842" cy="2585323"/>
          </a:xfrm>
          <a:prstGeom prst="rect">
            <a:avLst/>
          </a:prstGeom>
          <a:noFill/>
        </p:spPr>
        <p:txBody>
          <a:bodyPr wrap="square" lIns="182880" tIns="91440" rIns="182880" bIns="91440" rtlCol="0" anchor="t">
            <a:spAutoFit/>
          </a:bodyPr>
          <a:lstStyle/>
          <a:p>
            <a:pPr defTabSz="1828800">
              <a:buClr>
                <a:srgbClr val="000000"/>
              </a:buClr>
              <a:defRPr/>
            </a:pPr>
            <a:r>
              <a:rPr lang="en-US" sz="3200" b="1" kern="0">
                <a:solidFill>
                  <a:srgbClr val="EB0000"/>
                </a:solidFill>
                <a:latin typeface="Arial"/>
                <a:cs typeface="Arial"/>
                <a:sym typeface="Arial"/>
              </a:rPr>
              <a:t>Goals &amp; Objectives</a:t>
            </a:r>
            <a:endParaRPr lang="en-US" sz="2800" b="1" kern="0">
              <a:solidFill>
                <a:srgbClr val="EB0000"/>
              </a:solidFill>
              <a:latin typeface="Arial"/>
              <a:cs typeface="Arial"/>
              <a:sym typeface="Arial"/>
            </a:endParaRPr>
          </a:p>
          <a:p>
            <a:pPr marL="571500" indent="-571500" defTabSz="1828800">
              <a:buClr>
                <a:srgbClr val="EB0000"/>
              </a:buClr>
              <a:buFont typeface="Arial" panose="020B0604020202020204" pitchFamily="34" charset="0"/>
              <a:buChar char="•"/>
            </a:pPr>
            <a:r>
              <a:rPr lang="en-US" sz="3200">
                <a:latin typeface="Arial"/>
              </a:rPr>
              <a:t>Cloud Readiness Assessment.</a:t>
            </a:r>
            <a:endParaRPr lang="en-US" sz="3200">
              <a:latin typeface="Arial"/>
              <a:cs typeface="Arial"/>
            </a:endParaRPr>
          </a:p>
          <a:p>
            <a:pPr marL="571500" indent="-571500" defTabSz="1828800">
              <a:buClr>
                <a:srgbClr val="EB0000"/>
              </a:buClr>
              <a:buFont typeface="Arial" panose="020B0604020202020204" pitchFamily="34" charset="0"/>
              <a:buChar char="•"/>
            </a:pPr>
            <a:r>
              <a:rPr lang="en-US" sz="3200">
                <a:latin typeface="Arial"/>
              </a:rPr>
              <a:t>Assess current security measures and align them with cloud-native solutions for improved protection.</a:t>
            </a:r>
            <a:endParaRPr lang="en-US" sz="3200">
              <a:latin typeface="Arial"/>
              <a:cs typeface="Arial"/>
            </a:endParaRPr>
          </a:p>
          <a:p>
            <a:pPr marL="571500" indent="-571500" defTabSz="1828800">
              <a:buClr>
                <a:srgbClr val="EB0000"/>
              </a:buClr>
              <a:buFont typeface="Arial" panose="020B0604020202020204" pitchFamily="34" charset="0"/>
              <a:buChar char="•"/>
            </a:pPr>
            <a:r>
              <a:rPr lang="en-US" sz="3200">
                <a:latin typeface="Arial"/>
              </a:rPr>
              <a:t>Pick a suitable cloud provider based on selection criteria to support, grow and enhance the security requirements</a:t>
            </a:r>
            <a:endParaRPr lang="en-US" sz="3200">
              <a:latin typeface="Arial"/>
              <a:cs typeface="Arial"/>
            </a:endParaRPr>
          </a:p>
          <a:p>
            <a:pPr marL="571500" indent="-571500" defTabSz="1828800">
              <a:buClr>
                <a:srgbClr val="EB0000"/>
              </a:buClr>
              <a:buFont typeface="Arial" panose="020B0604020202020204" pitchFamily="34" charset="0"/>
              <a:buChar char="•"/>
            </a:pPr>
            <a:endParaRPr lang="en-US" sz="2800" kern="0">
              <a:solidFill>
                <a:prstClr val="white"/>
              </a:solidFill>
              <a:latin typeface="Arial"/>
              <a:cs typeface="Arial"/>
              <a:sym typeface="Arial"/>
            </a:endParaRPr>
          </a:p>
        </p:txBody>
      </p:sp>
      <p:sp>
        <p:nvSpPr>
          <p:cNvPr id="2" name="Slide Number Placeholder 2">
            <a:extLst>
              <a:ext uri="{FF2B5EF4-FFF2-40B4-BE49-F238E27FC236}">
                <a16:creationId xmlns:a16="http://schemas.microsoft.com/office/drawing/2014/main" id="{113C7E68-96B6-3648-3B8C-F50BF859137D}"/>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75</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334907533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07F515-B95C-A8EB-8EDE-3FE44D8EFC78}"/>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6F361CB7-EE5C-8FD1-36A7-0DD526821C74}"/>
              </a:ext>
            </a:extLst>
          </p:cNvPr>
          <p:cNvSpPr>
            <a:spLocks noGrp="1"/>
          </p:cNvSpPr>
          <p:nvPr>
            <p:ph type="title"/>
          </p:nvPr>
        </p:nvSpPr>
        <p:spPr>
          <a:xfrm>
            <a:off x="668992" y="537179"/>
            <a:ext cx="22991108" cy="999313"/>
          </a:xfrm>
        </p:spPr>
        <p:txBody>
          <a:bodyPr/>
          <a:lstStyle/>
          <a:p>
            <a:r>
              <a:rPr lang="en-US" sz="6400"/>
              <a:t>Security Tooling - Current</a:t>
            </a:r>
            <a:endParaRPr lang="en-AE"/>
          </a:p>
        </p:txBody>
      </p:sp>
      <p:sp>
        <p:nvSpPr>
          <p:cNvPr id="3" name="Text Placeholder 2">
            <a:extLst>
              <a:ext uri="{FF2B5EF4-FFF2-40B4-BE49-F238E27FC236}">
                <a16:creationId xmlns:a16="http://schemas.microsoft.com/office/drawing/2014/main" id="{B0EC8FE8-D9CD-F693-56BF-1A499FFE833C}"/>
              </a:ext>
            </a:extLst>
          </p:cNvPr>
          <p:cNvSpPr>
            <a:spLocks noGrp="1"/>
          </p:cNvSpPr>
          <p:nvPr>
            <p:ph type="body" sz="quarter" idx="12"/>
          </p:nvPr>
        </p:nvSpPr>
        <p:spPr>
          <a:xfrm>
            <a:off x="723900" y="2781300"/>
            <a:ext cx="22936200" cy="2210862"/>
          </a:xfrm>
        </p:spPr>
        <p:txBody>
          <a:bodyPr vert="horz" lIns="0" tIns="0" rIns="0" bIns="0" rtlCol="0" anchor="t">
            <a:spAutoFit/>
          </a:bodyPr>
          <a:lstStyle/>
          <a:p>
            <a:r>
              <a:rPr lang="en-GB" sz="3200"/>
              <a:t>Achilles current security infrastructure is robust, leveraging multiple tools to address key cybersecurity areas such as authentication, endpoint security, vulnerability scanning, and threat detection. As part of the migration, cloud native features of the tools will be used as appropriate, such as threat detection, encryption. Here’s a summary of Achilles key technologies:</a:t>
            </a:r>
          </a:p>
          <a:p>
            <a:endParaRPr lang="en-GB"/>
          </a:p>
        </p:txBody>
      </p:sp>
      <p:graphicFrame>
        <p:nvGraphicFramePr>
          <p:cNvPr id="2" name="Table 1">
            <a:extLst>
              <a:ext uri="{FF2B5EF4-FFF2-40B4-BE49-F238E27FC236}">
                <a16:creationId xmlns:a16="http://schemas.microsoft.com/office/drawing/2014/main" id="{4CE0E262-41CD-EC66-9A4E-95F20A20739F}"/>
              </a:ext>
            </a:extLst>
          </p:cNvPr>
          <p:cNvGraphicFramePr>
            <a:graphicFrameLocks noGrp="1"/>
          </p:cNvGraphicFramePr>
          <p:nvPr/>
        </p:nvGraphicFramePr>
        <p:xfrm>
          <a:off x="723901" y="4577302"/>
          <a:ext cx="22968614" cy="8206444"/>
        </p:xfrm>
        <a:graphic>
          <a:graphicData uri="http://schemas.openxmlformats.org/drawingml/2006/table">
            <a:tbl>
              <a:tblPr firstRow="1">
                <a:tableStyleId>{5C22544A-7EE6-4342-B048-85BDC9FD1C3A}</a:tableStyleId>
              </a:tblPr>
              <a:tblGrid>
                <a:gridCol w="4838700">
                  <a:extLst>
                    <a:ext uri="{9D8B030D-6E8A-4147-A177-3AD203B41FA5}">
                      <a16:colId xmlns:a16="http://schemas.microsoft.com/office/drawing/2014/main" val="1525111598"/>
                    </a:ext>
                  </a:extLst>
                </a:gridCol>
                <a:gridCol w="18129914">
                  <a:extLst>
                    <a:ext uri="{9D8B030D-6E8A-4147-A177-3AD203B41FA5}">
                      <a16:colId xmlns:a16="http://schemas.microsoft.com/office/drawing/2014/main" val="1887819977"/>
                    </a:ext>
                  </a:extLst>
                </a:gridCol>
              </a:tblGrid>
              <a:tr h="638906">
                <a:tc>
                  <a:txBody>
                    <a:bodyPr/>
                    <a:lstStyle/>
                    <a:p>
                      <a:pPr algn="l"/>
                      <a:r>
                        <a:rPr lang="en-US" sz="2800" b="1" kern="100">
                          <a:solidFill>
                            <a:srgbClr val="FF0000"/>
                          </a:solidFill>
                          <a:effectLst/>
                          <a:latin typeface="+mn-lt"/>
                          <a:ea typeface="Calibri"/>
                          <a:cs typeface="Times New Roman"/>
                        </a:rPr>
                        <a:t>Key Tool</a:t>
                      </a:r>
                      <a:endParaRPr lang="en-US" sz="2800" b="1" kern="1200">
                        <a:solidFill>
                          <a:srgbClr val="FF0000"/>
                        </a:solidFill>
                        <a:latin typeface="+mn-lt"/>
                        <a:ea typeface="+mn-ea"/>
                        <a:cs typeface="+mn-cs"/>
                      </a:endParaRP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l"/>
                      <a:r>
                        <a:rPr lang="en-US" sz="2800" b="1" kern="100">
                          <a:solidFill>
                            <a:srgbClr val="FF0000"/>
                          </a:solidFill>
                          <a:effectLst/>
                          <a:latin typeface="+mn-lt"/>
                          <a:ea typeface="Calibri"/>
                          <a:cs typeface="Times New Roman"/>
                        </a:rPr>
                        <a:t>Functionality</a:t>
                      </a:r>
                      <a:endParaRPr lang="en-US" sz="2800" kern="100">
                        <a:solidFill>
                          <a:srgbClr val="FF0000"/>
                        </a:solidFill>
                        <a:effectLst/>
                        <a:latin typeface="+mn-lt"/>
                        <a:ea typeface="Calibri"/>
                        <a:cs typeface="Times New Roman"/>
                      </a:endParaRP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Duo (MFA)</a:t>
                      </a:r>
                      <a:endParaRPr lang="en-US" sz="2000" kern="100">
                        <a:solidFill>
                          <a:schemeClr val="tx1"/>
                        </a:solidFill>
                        <a:effectLst/>
                        <a:latin typeface="+mj-lt"/>
                        <a:ea typeface="Calibri"/>
                        <a:cs typeface="Arial"/>
                      </a:endParaRP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Multi-factor authentication for users.</a:t>
                      </a:r>
                      <a:endParaRPr lang="en-US" sz="2000" kern="100">
                        <a:solidFill>
                          <a:schemeClr val="tx1"/>
                        </a:solidFill>
                        <a:effectLst/>
                        <a:latin typeface="+mj-lt"/>
                        <a:ea typeface="Calibri"/>
                        <a:cs typeface="Arial"/>
                      </a:endParaRP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Sophos</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Antivirus, Laptop encryption management, web filtering, security awareness training and phishing testing.</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Mimecast</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Attachment scanning, URL scanning, impersonation protection, secure large file sending, and email archiving.</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687958">
                <a:tc>
                  <a:txBody>
                    <a:bodyPr/>
                    <a:lstStyle/>
                    <a:p>
                      <a:pPr marL="0" marR="0">
                        <a:lnSpc>
                          <a:spcPct val="115000"/>
                        </a:lnSpc>
                        <a:spcBef>
                          <a:spcPts val="300"/>
                        </a:spcBef>
                        <a:spcAft>
                          <a:spcPts val="1000"/>
                        </a:spcAft>
                      </a:pPr>
                      <a:r>
                        <a:rPr lang="en-GB" sz="2000" kern="100" err="1">
                          <a:solidFill>
                            <a:schemeClr val="tx1"/>
                          </a:solidFill>
                          <a:effectLst/>
                          <a:latin typeface="+mj-lt"/>
                          <a:ea typeface="Calibri"/>
                          <a:cs typeface="Arial"/>
                        </a:rPr>
                        <a:t>Taegis</a:t>
                      </a:r>
                      <a:r>
                        <a:rPr lang="en-GB" sz="2000" kern="100">
                          <a:solidFill>
                            <a:schemeClr val="tx1"/>
                          </a:solidFill>
                          <a:effectLst/>
                          <a:latin typeface="+mj-lt"/>
                          <a:ea typeface="Calibri"/>
                          <a:cs typeface="Arial"/>
                        </a:rPr>
                        <a:t> XDR</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Advanced threat detection, server and firewall monitoring.</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Qualys</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Endpoint, server, and web application vulnerability scanning.</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011691"/>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M365 Purview eDiscovery</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Electronic information search and subject access requests.</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46591851"/>
                  </a:ext>
                </a:extLst>
              </a:tr>
              <a:tr h="687958">
                <a:tc>
                  <a:txBody>
                    <a:bodyPr/>
                    <a:lstStyle/>
                    <a:p>
                      <a:pPr marL="0" marR="0">
                        <a:lnSpc>
                          <a:spcPct val="115000"/>
                        </a:lnSpc>
                        <a:spcBef>
                          <a:spcPts val="300"/>
                        </a:spcBef>
                        <a:spcAft>
                          <a:spcPts val="1000"/>
                        </a:spcAft>
                      </a:pPr>
                      <a:r>
                        <a:rPr lang="en-GB" sz="2000" kern="100" err="1">
                          <a:solidFill>
                            <a:schemeClr val="tx1"/>
                          </a:solidFill>
                          <a:effectLst/>
                          <a:latin typeface="+mj-lt"/>
                          <a:ea typeface="Calibri" panose="020F0502020204030204" pitchFamily="34" charset="0"/>
                          <a:cs typeface="Arial" panose="020B0604020202020204" pitchFamily="34" charset="0"/>
                        </a:rPr>
                        <a:t>Delinea</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Password management and privileged access.</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2706438"/>
                  </a:ext>
                </a:extLst>
              </a:tr>
              <a:tr h="687958">
                <a:tc>
                  <a:txBody>
                    <a:bodyPr/>
                    <a:lstStyle/>
                    <a:p>
                      <a:pPr marL="0" marR="0">
                        <a:lnSpc>
                          <a:spcPct val="115000"/>
                        </a:lnSpc>
                        <a:spcBef>
                          <a:spcPts val="300"/>
                        </a:spcBef>
                        <a:spcAft>
                          <a:spcPts val="1000"/>
                        </a:spcAft>
                      </a:pPr>
                      <a:r>
                        <a:rPr lang="en-GB" sz="2000" kern="100" err="1">
                          <a:solidFill>
                            <a:schemeClr val="tx1"/>
                          </a:solidFill>
                          <a:effectLst/>
                          <a:latin typeface="+mj-lt"/>
                          <a:ea typeface="Calibri" panose="020F0502020204030204" pitchFamily="34" charset="0"/>
                          <a:cs typeface="Arial" panose="020B0604020202020204" pitchFamily="34" charset="0"/>
                        </a:rPr>
                        <a:t>Evalian</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Penetration testing.</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Virtual DCS</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Backup and restore services (SharePoint, Exchange, OneDrive).</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14927745"/>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Citrix</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VPN for Corp End Point connections.</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9755113"/>
                  </a:ext>
                </a:extLst>
              </a:tr>
              <a:tr h="687958">
                <a:tc>
                  <a:txBody>
                    <a:bodyPr/>
                    <a:lstStyle/>
                    <a:p>
                      <a:pPr marL="0" marR="0">
                        <a:lnSpc>
                          <a:spcPct val="115000"/>
                        </a:lnSpc>
                        <a:spcBef>
                          <a:spcPts val="300"/>
                        </a:spcBef>
                        <a:spcAft>
                          <a:spcPts val="1000"/>
                        </a:spcAft>
                      </a:pPr>
                      <a:r>
                        <a:rPr lang="en-GB" sz="2000" kern="100" err="1">
                          <a:solidFill>
                            <a:schemeClr val="tx1"/>
                          </a:solidFill>
                          <a:effectLst/>
                          <a:latin typeface="+mj-lt"/>
                          <a:ea typeface="Calibri" panose="020F0502020204030204" pitchFamily="34" charset="0"/>
                          <a:cs typeface="Arial" panose="020B0604020202020204" pitchFamily="34" charset="0"/>
                        </a:rPr>
                        <a:t>Vinciworks</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a:cs typeface="Arial"/>
                        </a:rPr>
                        <a:t>Online security awareness training.</a:t>
                      </a:r>
                      <a:endParaRPr lang="en-US" sz="2000" kern="100">
                        <a:solidFill>
                          <a:schemeClr val="tx1"/>
                        </a:solidFill>
                        <a:effectLst/>
                        <a:latin typeface="+mj-lt"/>
                        <a:ea typeface="Calibri"/>
                        <a:cs typeface="Arial"/>
                      </a:endParaRPr>
                    </a:p>
                  </a:txBody>
                  <a:tcPr marL="182880" marR="182880" marT="91440" marB="91440">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2523732811"/>
                  </a:ext>
                </a:extLst>
              </a:tr>
            </a:tbl>
          </a:graphicData>
        </a:graphic>
      </p:graphicFrame>
      <p:sp>
        <p:nvSpPr>
          <p:cNvPr id="5" name="Slide Number Placeholder 2">
            <a:extLst>
              <a:ext uri="{FF2B5EF4-FFF2-40B4-BE49-F238E27FC236}">
                <a16:creationId xmlns:a16="http://schemas.microsoft.com/office/drawing/2014/main" id="{CEF11E11-9031-0B03-748C-FFCA2EC17A10}"/>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76</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206818464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083A62-DD2C-3E99-3273-374B325596CB}"/>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2004643E-DE26-6C9F-B418-EF6B79A0433C}"/>
              </a:ext>
            </a:extLst>
          </p:cNvPr>
          <p:cNvSpPr>
            <a:spLocks noGrp="1"/>
          </p:cNvSpPr>
          <p:nvPr>
            <p:ph type="title"/>
          </p:nvPr>
        </p:nvSpPr>
        <p:spPr>
          <a:xfrm>
            <a:off x="668992" y="537179"/>
            <a:ext cx="22991108" cy="999313"/>
          </a:xfrm>
        </p:spPr>
        <p:txBody>
          <a:bodyPr/>
          <a:lstStyle/>
          <a:p>
            <a:r>
              <a:rPr lang="en-US" sz="6400"/>
              <a:t>Cloud Native Tooling</a:t>
            </a:r>
            <a:endParaRPr lang="en-AE"/>
          </a:p>
        </p:txBody>
      </p:sp>
      <p:graphicFrame>
        <p:nvGraphicFramePr>
          <p:cNvPr id="2" name="Table 1">
            <a:extLst>
              <a:ext uri="{FF2B5EF4-FFF2-40B4-BE49-F238E27FC236}">
                <a16:creationId xmlns:a16="http://schemas.microsoft.com/office/drawing/2014/main" id="{53B1A00D-FDE7-730D-F88E-FE28DBF04799}"/>
              </a:ext>
            </a:extLst>
          </p:cNvPr>
          <p:cNvGraphicFramePr>
            <a:graphicFrameLocks noGrp="1"/>
          </p:cNvGraphicFramePr>
          <p:nvPr/>
        </p:nvGraphicFramePr>
        <p:xfrm>
          <a:off x="668992" y="2588660"/>
          <a:ext cx="22501904" cy="8538680"/>
        </p:xfrm>
        <a:graphic>
          <a:graphicData uri="http://schemas.openxmlformats.org/drawingml/2006/table">
            <a:tbl>
              <a:tblPr firstRow="1">
                <a:tableStyleId>{5C22544A-7EE6-4342-B048-85BDC9FD1C3A}</a:tableStyleId>
              </a:tblPr>
              <a:tblGrid>
                <a:gridCol w="6759120">
                  <a:extLst>
                    <a:ext uri="{9D8B030D-6E8A-4147-A177-3AD203B41FA5}">
                      <a16:colId xmlns:a16="http://schemas.microsoft.com/office/drawing/2014/main" val="1525111598"/>
                    </a:ext>
                  </a:extLst>
                </a:gridCol>
                <a:gridCol w="7726864">
                  <a:extLst>
                    <a:ext uri="{9D8B030D-6E8A-4147-A177-3AD203B41FA5}">
                      <a16:colId xmlns:a16="http://schemas.microsoft.com/office/drawing/2014/main" val="1887819977"/>
                    </a:ext>
                  </a:extLst>
                </a:gridCol>
                <a:gridCol w="8015920">
                  <a:extLst>
                    <a:ext uri="{9D8B030D-6E8A-4147-A177-3AD203B41FA5}">
                      <a16:colId xmlns:a16="http://schemas.microsoft.com/office/drawing/2014/main" val="1590687815"/>
                    </a:ext>
                  </a:extLst>
                </a:gridCol>
              </a:tblGrid>
              <a:tr h="638906">
                <a:tc>
                  <a:txBody>
                    <a:bodyPr/>
                    <a:lstStyle/>
                    <a:p>
                      <a:pPr algn="l"/>
                      <a:r>
                        <a:rPr lang="en-US" sz="2800" b="1" kern="100">
                          <a:solidFill>
                            <a:srgbClr val="FF0000"/>
                          </a:solidFill>
                          <a:effectLst/>
                          <a:latin typeface="+mn-lt"/>
                          <a:ea typeface="Calibri"/>
                          <a:cs typeface="Times New Roman"/>
                        </a:rPr>
                        <a:t>Current Tooling</a:t>
                      </a:r>
                      <a:endParaRPr lang="en-US" sz="2800" b="1" kern="1200">
                        <a:solidFill>
                          <a:srgbClr val="FF0000"/>
                        </a:solidFill>
                        <a:latin typeface="+mn-lt"/>
                        <a:ea typeface="+mn-ea"/>
                        <a:cs typeface="+mn-cs"/>
                      </a:endParaRP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2800" kern="100">
                          <a:solidFill>
                            <a:srgbClr val="FF0000"/>
                          </a:solidFill>
                          <a:effectLst/>
                          <a:latin typeface="+mn-lt"/>
                          <a:ea typeface="Calibri"/>
                          <a:cs typeface="Times New Roman"/>
                        </a:rPr>
                        <a:t>AWS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2800" kern="100">
                          <a:solidFill>
                            <a:srgbClr val="FF0000"/>
                          </a:solidFill>
                          <a:effectLst/>
                          <a:latin typeface="+mn-lt"/>
                          <a:ea typeface="Calibri"/>
                          <a:cs typeface="Times New Roman"/>
                        </a:rPr>
                        <a:t>Azure</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Duo (MFA)</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IAM Identity Center</a:t>
                      </a: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Azure AD Multi-Factor Authentication (MFA)</a:t>
                      </a: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Sophos</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Amazon GuardDuty</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Microsoft Defender for Endpoint</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Mimecast</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nn-NO" sz="2000" kern="100">
                          <a:solidFill>
                            <a:schemeClr val="tx1"/>
                          </a:solidFill>
                          <a:effectLst/>
                          <a:latin typeface="+mj-lt"/>
                          <a:ea typeface="Calibri" panose="020F0502020204030204" pitchFamily="34" charset="0"/>
                          <a:cs typeface="Times New Roman" panose="02020603050405020304" pitchFamily="18" charset="0"/>
                        </a:rPr>
                        <a:t>Microsoft Defender for Office 365</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687958">
                <a:tc>
                  <a:txBody>
                    <a:bodyPr/>
                    <a:lstStyle/>
                    <a:p>
                      <a:pPr marL="0" marR="0">
                        <a:lnSpc>
                          <a:spcPct val="115000"/>
                        </a:lnSpc>
                        <a:spcBef>
                          <a:spcPts val="300"/>
                        </a:spcBef>
                        <a:spcAft>
                          <a:spcPts val="1000"/>
                        </a:spcAft>
                      </a:pPr>
                      <a:r>
                        <a:rPr lang="en-GB" sz="2000" kern="100" err="1">
                          <a:solidFill>
                            <a:schemeClr val="tx1"/>
                          </a:solidFill>
                          <a:effectLst/>
                          <a:latin typeface="+mj-lt"/>
                          <a:ea typeface="Calibri" panose="020F0502020204030204" pitchFamily="34" charset="0"/>
                          <a:cs typeface="Arial" panose="020B0604020202020204" pitchFamily="34" charset="0"/>
                        </a:rPr>
                        <a:t>Taegis</a:t>
                      </a:r>
                      <a:r>
                        <a:rPr lang="en-GB" sz="2000" kern="100">
                          <a:solidFill>
                            <a:schemeClr val="tx1"/>
                          </a:solidFill>
                          <a:effectLst/>
                          <a:latin typeface="+mj-lt"/>
                          <a:ea typeface="Calibri" panose="020F0502020204030204" pitchFamily="34" charset="0"/>
                          <a:cs typeface="Arial" panose="020B0604020202020204" pitchFamily="34" charset="0"/>
                        </a:rPr>
                        <a:t> XDR</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AWS Security Hub / Amazon GuardDuty</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Azure Sentinel / Microsoft Defender</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854076">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Qualys</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Amazon Inspector / AWS Security Hub</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Microsoft Defender Vulnerability Management / Microsoft Defender for Cloud</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011691"/>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M365 Purview eDiscovery</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AWS Macie </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Microsoft Purview eDiscovery </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46591851"/>
                  </a:ext>
                </a:extLst>
              </a:tr>
              <a:tr h="687958">
                <a:tc>
                  <a:txBody>
                    <a:bodyPr/>
                    <a:lstStyle/>
                    <a:p>
                      <a:pPr marL="0" marR="0">
                        <a:lnSpc>
                          <a:spcPct val="115000"/>
                        </a:lnSpc>
                        <a:spcBef>
                          <a:spcPts val="300"/>
                        </a:spcBef>
                        <a:spcAft>
                          <a:spcPts val="1000"/>
                        </a:spcAft>
                      </a:pPr>
                      <a:r>
                        <a:rPr lang="en-GB" sz="2000" kern="100" err="1">
                          <a:solidFill>
                            <a:schemeClr val="tx1"/>
                          </a:solidFill>
                          <a:effectLst/>
                          <a:latin typeface="+mj-lt"/>
                          <a:ea typeface="Calibri" panose="020F0502020204030204" pitchFamily="34" charset="0"/>
                          <a:cs typeface="Arial" panose="020B0604020202020204" pitchFamily="34" charset="0"/>
                        </a:rPr>
                        <a:t>Delinea</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AWS Secrets Manager / AWS IAM</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Azure Key Vault / Azure AD / Just in Time Access</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2706438"/>
                  </a:ext>
                </a:extLst>
              </a:tr>
              <a:tr h="854076">
                <a:tc>
                  <a:txBody>
                    <a:bodyPr/>
                    <a:lstStyle/>
                    <a:p>
                      <a:pPr marL="0" marR="0">
                        <a:lnSpc>
                          <a:spcPct val="115000"/>
                        </a:lnSpc>
                        <a:spcBef>
                          <a:spcPts val="300"/>
                        </a:spcBef>
                        <a:spcAft>
                          <a:spcPts val="1000"/>
                        </a:spcAft>
                      </a:pPr>
                      <a:r>
                        <a:rPr lang="en-GB" sz="2000" kern="100" err="1">
                          <a:solidFill>
                            <a:schemeClr val="tx1"/>
                          </a:solidFill>
                          <a:effectLst/>
                          <a:latin typeface="+mj-lt"/>
                          <a:ea typeface="Calibri" panose="020F0502020204030204" pitchFamily="34" charset="0"/>
                          <a:cs typeface="Arial" panose="020B0604020202020204" pitchFamily="34" charset="0"/>
                        </a:rPr>
                        <a:t>Evalian</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Amazon Inspector / AWS Security Hub</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Microsoft Defender Vulnerability Management / Microsoft Defender for Cloud</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Virtual DCS</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AWS Backup</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Azure Backup</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14927745"/>
                  </a:ext>
                </a:extLst>
              </a:tr>
              <a:tr h="687958">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Citrix</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 Amazon WorkSpaces</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Azure VPN Gateway</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9755113"/>
                  </a:ext>
                </a:extLst>
              </a:tr>
              <a:tr h="687958">
                <a:tc>
                  <a:txBody>
                    <a:bodyPr/>
                    <a:lstStyle/>
                    <a:p>
                      <a:pPr marL="0" marR="0">
                        <a:lnSpc>
                          <a:spcPct val="115000"/>
                        </a:lnSpc>
                        <a:spcBef>
                          <a:spcPts val="300"/>
                        </a:spcBef>
                        <a:spcAft>
                          <a:spcPts val="1000"/>
                        </a:spcAft>
                      </a:pPr>
                      <a:r>
                        <a:rPr lang="en-GB" sz="2000" kern="100" err="1">
                          <a:solidFill>
                            <a:schemeClr val="tx1"/>
                          </a:solidFill>
                          <a:effectLst/>
                          <a:latin typeface="+mj-lt"/>
                          <a:ea typeface="Calibri" panose="020F0502020204030204" pitchFamily="34" charset="0"/>
                          <a:cs typeface="Arial" panose="020B0604020202020204" pitchFamily="34" charset="0"/>
                        </a:rPr>
                        <a:t>Vinciworks</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t>
                      </a:r>
                    </a:p>
                  </a:txBody>
                  <a:tcPr marL="182880" marR="182880" marT="91440" marB="91440">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t>
                      </a:r>
                    </a:p>
                  </a:txBody>
                  <a:tcPr marL="182880" marR="182880" marT="91440" marB="91440">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2523732811"/>
                  </a:ext>
                </a:extLst>
              </a:tr>
            </a:tbl>
          </a:graphicData>
        </a:graphic>
      </p:graphicFrame>
      <p:sp>
        <p:nvSpPr>
          <p:cNvPr id="3" name="Slide Number Placeholder 2">
            <a:extLst>
              <a:ext uri="{FF2B5EF4-FFF2-40B4-BE49-F238E27FC236}">
                <a16:creationId xmlns:a16="http://schemas.microsoft.com/office/drawing/2014/main" id="{802B0BB1-5797-82E1-74F5-B71D0AB38620}"/>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77</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377757734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6C0C7A-66F2-8B0A-A953-419C9B64B83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B55C83A-5A95-3351-00DA-3559950FFB03}"/>
              </a:ext>
            </a:extLst>
          </p:cNvPr>
          <p:cNvSpPr>
            <a:spLocks noGrp="1"/>
          </p:cNvSpPr>
          <p:nvPr>
            <p:ph type="title"/>
          </p:nvPr>
        </p:nvSpPr>
        <p:spPr>
          <a:xfrm>
            <a:off x="668992" y="537179"/>
            <a:ext cx="22991108" cy="999313"/>
          </a:xfrm>
        </p:spPr>
        <p:txBody>
          <a:bodyPr/>
          <a:lstStyle/>
          <a:p>
            <a:r>
              <a:rPr lang="en-US" sz="6400"/>
              <a:t>Managed Security</a:t>
            </a:r>
            <a:endParaRPr lang="en-AE"/>
          </a:p>
        </p:txBody>
      </p:sp>
      <p:graphicFrame>
        <p:nvGraphicFramePr>
          <p:cNvPr id="2" name="Table 1">
            <a:extLst>
              <a:ext uri="{FF2B5EF4-FFF2-40B4-BE49-F238E27FC236}">
                <a16:creationId xmlns:a16="http://schemas.microsoft.com/office/drawing/2014/main" id="{9CCD7C69-1BE3-AC96-8BEB-75115F35B93C}"/>
              </a:ext>
            </a:extLst>
          </p:cNvPr>
          <p:cNvGraphicFramePr>
            <a:graphicFrameLocks noGrp="1"/>
          </p:cNvGraphicFramePr>
          <p:nvPr/>
        </p:nvGraphicFramePr>
        <p:xfrm>
          <a:off x="473643" y="2888071"/>
          <a:ext cx="22968614" cy="9037034"/>
        </p:xfrm>
        <a:graphic>
          <a:graphicData uri="http://schemas.openxmlformats.org/drawingml/2006/table">
            <a:tbl>
              <a:tblPr firstRow="1">
                <a:tableStyleId>{5C22544A-7EE6-4342-B048-85BDC9FD1C3A}</a:tableStyleId>
              </a:tblPr>
              <a:tblGrid>
                <a:gridCol w="3665222">
                  <a:extLst>
                    <a:ext uri="{9D8B030D-6E8A-4147-A177-3AD203B41FA5}">
                      <a16:colId xmlns:a16="http://schemas.microsoft.com/office/drawing/2014/main" val="1525111598"/>
                    </a:ext>
                  </a:extLst>
                </a:gridCol>
                <a:gridCol w="5505650">
                  <a:extLst>
                    <a:ext uri="{9D8B030D-6E8A-4147-A177-3AD203B41FA5}">
                      <a16:colId xmlns:a16="http://schemas.microsoft.com/office/drawing/2014/main" val="1887819977"/>
                    </a:ext>
                  </a:extLst>
                </a:gridCol>
                <a:gridCol w="13797742">
                  <a:extLst>
                    <a:ext uri="{9D8B030D-6E8A-4147-A177-3AD203B41FA5}">
                      <a16:colId xmlns:a16="http://schemas.microsoft.com/office/drawing/2014/main" val="1590687815"/>
                    </a:ext>
                  </a:extLst>
                </a:gridCol>
              </a:tblGrid>
              <a:tr h="638906">
                <a:tc>
                  <a:txBody>
                    <a:bodyPr/>
                    <a:lstStyle/>
                    <a:p>
                      <a:pPr algn="l"/>
                      <a:r>
                        <a:rPr lang="en-US" sz="2800" b="1" kern="100">
                          <a:solidFill>
                            <a:srgbClr val="FF0000"/>
                          </a:solidFill>
                          <a:effectLst/>
                          <a:latin typeface="+mn-lt"/>
                          <a:ea typeface="Calibri"/>
                          <a:cs typeface="Times New Roman"/>
                        </a:rPr>
                        <a:t>Current Tool</a:t>
                      </a:r>
                      <a:endParaRPr lang="en-US" sz="2800" b="1" kern="1200">
                        <a:solidFill>
                          <a:srgbClr val="FF0000"/>
                        </a:solidFill>
                        <a:latin typeface="+mn-lt"/>
                        <a:ea typeface="+mn-ea"/>
                        <a:cs typeface="+mn-cs"/>
                      </a:endParaRP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l"/>
                      <a:r>
                        <a:rPr lang="en-US" sz="2800" b="1" kern="100">
                          <a:solidFill>
                            <a:srgbClr val="FF0000"/>
                          </a:solidFill>
                          <a:effectLst/>
                          <a:latin typeface="+mn-lt"/>
                          <a:ea typeface="Calibri"/>
                          <a:cs typeface="Times New Roman"/>
                        </a:rPr>
                        <a:t>Rackspace Managed Security</a:t>
                      </a:r>
                      <a:endParaRPr lang="en-US" sz="2800" kern="100">
                        <a:solidFill>
                          <a:srgbClr val="FF0000"/>
                        </a:solidFill>
                        <a:effectLst/>
                        <a:latin typeface="+mn-lt"/>
                        <a:ea typeface="Calibri"/>
                        <a:cs typeface="Times New Roman"/>
                      </a:endParaRP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l"/>
                      <a:r>
                        <a:rPr lang="en-US" sz="2800" kern="100">
                          <a:solidFill>
                            <a:srgbClr val="FF0000"/>
                          </a:solidFill>
                          <a:effectLst/>
                          <a:latin typeface="+mn-lt"/>
                          <a:ea typeface="Calibri"/>
                          <a:cs typeface="Times New Roman"/>
                        </a:rPr>
                        <a:t>Comments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854076">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Duo (MFA)</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Rackspace Identity Advisory Services</a:t>
                      </a: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Times New Roman" panose="02020603050405020304" pitchFamily="18" charset="0"/>
                        </a:rPr>
                        <a:t>Assessment and recommendation plan for improved identity management &amp; Optimised security and performance utilising best practices. </a:t>
                      </a: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854076">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Sophos</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Managed EDR powered by Crowdstrike</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Combines cloud-native threat protection and near real-time threat intelligence with AI-assisted Rackspace security experts to detect and respond to vulnerabilities that expose your business to risk.</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687958">
                <a:tc>
                  <a:txBody>
                    <a:bodyPr/>
                    <a:lstStyle/>
                    <a:p>
                      <a:pPr marL="0" marR="0">
                        <a:lnSpc>
                          <a:spcPct val="115000"/>
                        </a:lnSpc>
                        <a:spcBef>
                          <a:spcPts val="300"/>
                        </a:spcBef>
                        <a:spcAft>
                          <a:spcPts val="1000"/>
                        </a:spcAft>
                      </a:pPr>
                      <a:r>
                        <a:rPr lang="en-GB" sz="2000" b="1" kern="100">
                          <a:solidFill>
                            <a:schemeClr val="tx1"/>
                          </a:solidFill>
                          <a:effectLst/>
                          <a:latin typeface="+mj-lt"/>
                          <a:ea typeface="Calibri" panose="020F0502020204030204" pitchFamily="34" charset="0"/>
                          <a:cs typeface="Arial" panose="020B0604020202020204" pitchFamily="34" charset="0"/>
                        </a:rPr>
                        <a:t>Mimecast</a:t>
                      </a:r>
                      <a:endParaRPr lang="en-US" sz="2000" b="1"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marR="0">
                        <a:lnSpc>
                          <a:spcPct val="115000"/>
                        </a:lnSpc>
                        <a:spcBef>
                          <a:spcPts val="300"/>
                        </a:spcBef>
                        <a:spcAft>
                          <a:spcPts val="1000"/>
                        </a:spcAft>
                      </a:pPr>
                      <a:r>
                        <a:rPr lang="en-US" sz="2000" b="1" kern="100">
                          <a:solidFill>
                            <a:schemeClr val="tx1"/>
                          </a:solidFill>
                          <a:effectLst/>
                          <a:latin typeface="+mn-lt"/>
                          <a:ea typeface="Calibri" panose="020F0502020204030204" pitchFamily="34" charset="0"/>
                          <a:cs typeface="Times New Roman" panose="02020603050405020304" pitchFamily="18" charset="0"/>
                        </a:rPr>
                        <a:t>TBD: </a:t>
                      </a:r>
                      <a:r>
                        <a:rPr lang="en-US" sz="2000" b="1" kern="100">
                          <a:solidFill>
                            <a:schemeClr val="tx1"/>
                          </a:solidFill>
                          <a:effectLst/>
                          <a:latin typeface="+mj-lt"/>
                          <a:ea typeface="Calibri" panose="020F0502020204030204" pitchFamily="34" charset="0"/>
                          <a:cs typeface="Times New Roman" panose="02020603050405020304" pitchFamily="18" charset="0"/>
                        </a:rPr>
                        <a:t>To either continue with this tool or use cloud native tooling as suggested in Slide 65</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854076">
                <a:tc>
                  <a:txBody>
                    <a:bodyPr/>
                    <a:lstStyle/>
                    <a:p>
                      <a:pPr marL="0" marR="0">
                        <a:lnSpc>
                          <a:spcPct val="115000"/>
                        </a:lnSpc>
                        <a:spcBef>
                          <a:spcPts val="300"/>
                        </a:spcBef>
                        <a:spcAft>
                          <a:spcPts val="1000"/>
                        </a:spcAft>
                      </a:pPr>
                      <a:r>
                        <a:rPr lang="en-GB" sz="2000" kern="100" err="1">
                          <a:solidFill>
                            <a:schemeClr val="tx1"/>
                          </a:solidFill>
                          <a:effectLst/>
                          <a:latin typeface="+mj-lt"/>
                          <a:ea typeface="Calibri" panose="020F0502020204030204" pitchFamily="34" charset="0"/>
                          <a:cs typeface="Arial" panose="020B0604020202020204" pitchFamily="34" charset="0"/>
                        </a:rPr>
                        <a:t>Taegis</a:t>
                      </a:r>
                      <a:r>
                        <a:rPr lang="en-GB" sz="2000" kern="100">
                          <a:solidFill>
                            <a:schemeClr val="tx1"/>
                          </a:solidFill>
                          <a:effectLst/>
                          <a:latin typeface="+mj-lt"/>
                          <a:ea typeface="Calibri" panose="020F0502020204030204" pitchFamily="34" charset="0"/>
                          <a:cs typeface="Arial" panose="020B0604020202020204" pitchFamily="34" charset="0"/>
                        </a:rPr>
                        <a:t> XDR</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Managed XDR powered by Microsoft Sentinel</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A cloud-native managed security service that combines cloud-native SIEM technology, AI/ML and Rackspace Security Experts to deliver proactive detection and response capabilities - 24x7x365. Backed by a SOC.​</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854076">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Qualys</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Managed VMDR powered by Qualys</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Combines cloud-native vulnerability management technology with Rackspace Security Experts to deliver a risk-based, integrated, vulnerability detection and response capability across your multi-cloud environment 24x7x65. </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011691"/>
                  </a:ext>
                </a:extLst>
              </a:tr>
              <a:tr h="687958">
                <a:tc>
                  <a:txBody>
                    <a:bodyPr/>
                    <a:lstStyle/>
                    <a:p>
                      <a:pPr marL="0" marR="0">
                        <a:lnSpc>
                          <a:spcPct val="115000"/>
                        </a:lnSpc>
                        <a:spcBef>
                          <a:spcPts val="300"/>
                        </a:spcBef>
                        <a:spcAft>
                          <a:spcPts val="1000"/>
                        </a:spcAft>
                      </a:pPr>
                      <a:r>
                        <a:rPr lang="en-GB" sz="2000" b="1" kern="100">
                          <a:solidFill>
                            <a:schemeClr val="tx1"/>
                          </a:solidFill>
                          <a:effectLst/>
                          <a:latin typeface="+mj-lt"/>
                          <a:ea typeface="Calibri" panose="020F0502020204030204" pitchFamily="34" charset="0"/>
                          <a:cs typeface="Arial" panose="020B0604020202020204" pitchFamily="34" charset="0"/>
                        </a:rPr>
                        <a:t>M365 Purview eDiscovery</a:t>
                      </a:r>
                      <a:endParaRPr lang="en-US" sz="2000" b="1"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marR="0">
                        <a:lnSpc>
                          <a:spcPct val="115000"/>
                        </a:lnSpc>
                        <a:spcBef>
                          <a:spcPts val="300"/>
                        </a:spcBef>
                        <a:spcAft>
                          <a:spcPts val="1000"/>
                        </a:spcAft>
                      </a:pPr>
                      <a:r>
                        <a:rPr lang="en-GB" sz="2000" b="1" kern="100">
                          <a:solidFill>
                            <a:schemeClr val="tx1"/>
                          </a:solidFill>
                          <a:effectLst/>
                          <a:latin typeface="+mj-lt"/>
                          <a:ea typeface="Calibri" panose="020F0502020204030204" pitchFamily="34" charset="0"/>
                          <a:cs typeface="Times New Roman" panose="02020603050405020304" pitchFamily="18" charset="0"/>
                        </a:rPr>
                        <a:t>TBD: To either continue with this tool or use cloud native tooling as suggested in Slide 65</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a:lnSpc>
                          <a:spcPct val="115000"/>
                        </a:lnSpc>
                        <a:spcBef>
                          <a:spcPts val="300"/>
                        </a:spcBef>
                        <a:spcAft>
                          <a:spcPts val="1000"/>
                        </a:spcAft>
                      </a:pPr>
                      <a:endParaRPr lang="en-US" sz="1000" kern="100">
                        <a:solidFill>
                          <a:schemeClr val="tx1"/>
                        </a:solidFill>
                        <a:effectLst/>
                        <a:latin typeface="+mj-lt"/>
                        <a:ea typeface="Calibri" panose="020F0502020204030204" pitchFamily="34" charset="0"/>
                        <a:cs typeface="Times New Roman" panose="02020603050405020304" pitchFamily="18" charset="0"/>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46591851"/>
                  </a:ext>
                </a:extLst>
              </a:tr>
              <a:tr h="854076">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Arial" panose="020B0604020202020204" pitchFamily="34" charset="0"/>
                        </a:rPr>
                        <a:t>Delinea</a:t>
                      </a:r>
                      <a:endParaRPr lang="en-US" sz="2000"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US" sz="2000" kern="100">
                          <a:solidFill>
                            <a:schemeClr val="tx1"/>
                          </a:solidFill>
                          <a:effectLst/>
                          <a:latin typeface="+mj-lt"/>
                          <a:ea typeface="Calibri" panose="020F0502020204030204" pitchFamily="34" charset="0"/>
                          <a:cs typeface="Times New Roman" panose="02020603050405020304" pitchFamily="18" charset="0"/>
                        </a:rPr>
                        <a:t>Rackspace Identity Advisory Services</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nSpc>
                          <a:spcPct val="115000"/>
                        </a:lnSpc>
                        <a:spcBef>
                          <a:spcPts val="300"/>
                        </a:spcBef>
                        <a:spcAft>
                          <a:spcPts val="1000"/>
                        </a:spcAft>
                      </a:pPr>
                      <a:r>
                        <a:rPr lang="en-GB" sz="2000" kern="100">
                          <a:solidFill>
                            <a:schemeClr val="tx1"/>
                          </a:solidFill>
                          <a:effectLst/>
                          <a:latin typeface="+mj-lt"/>
                          <a:ea typeface="Calibri" panose="020F0502020204030204" pitchFamily="34" charset="0"/>
                          <a:cs typeface="Times New Roman" panose="02020603050405020304" pitchFamily="18" charset="0"/>
                        </a:rPr>
                        <a:t>Assessment and recommendation plan for improved identity management &amp; Optimised security and performance utilising best practices. </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2706438"/>
                  </a:ext>
                </a:extLst>
              </a:tr>
              <a:tr h="687958">
                <a:tc>
                  <a:txBody>
                    <a:bodyPr/>
                    <a:lstStyle/>
                    <a:p>
                      <a:pPr marL="0" marR="0">
                        <a:lnSpc>
                          <a:spcPct val="115000"/>
                        </a:lnSpc>
                        <a:spcBef>
                          <a:spcPts val="300"/>
                        </a:spcBef>
                        <a:spcAft>
                          <a:spcPts val="1000"/>
                        </a:spcAft>
                      </a:pPr>
                      <a:r>
                        <a:rPr lang="en-GB" sz="2000" b="1" kern="100" err="1">
                          <a:solidFill>
                            <a:schemeClr val="tx1"/>
                          </a:solidFill>
                          <a:effectLst/>
                          <a:latin typeface="+mj-lt"/>
                          <a:ea typeface="Calibri" panose="020F0502020204030204" pitchFamily="34" charset="0"/>
                          <a:cs typeface="Arial" panose="020B0604020202020204" pitchFamily="34" charset="0"/>
                        </a:rPr>
                        <a:t>Evalian</a:t>
                      </a:r>
                      <a:endParaRPr lang="en-US" sz="2000" b="1"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marR="0" lvl="0" indent="0" algn="l" defTabSz="914400" rtl="0" eaLnBrk="1" fontAlgn="auto" latinLnBrk="0" hangingPunct="1">
                        <a:lnSpc>
                          <a:spcPct val="115000"/>
                        </a:lnSpc>
                        <a:spcBef>
                          <a:spcPts val="300"/>
                        </a:spcBef>
                        <a:spcAft>
                          <a:spcPts val="1000"/>
                        </a:spcAft>
                        <a:buClrTx/>
                        <a:buSzTx/>
                        <a:buFontTx/>
                        <a:buNone/>
                        <a:tabLst/>
                        <a:defRPr/>
                      </a:pPr>
                      <a:r>
                        <a:rPr lang="en-US" sz="2000" b="1" kern="100">
                          <a:solidFill>
                            <a:schemeClr val="tx1"/>
                          </a:solidFill>
                          <a:effectLst/>
                          <a:latin typeface="+mn-lt"/>
                          <a:ea typeface="Calibri" panose="020F0502020204030204" pitchFamily="34" charset="0"/>
                          <a:cs typeface="Times New Roman" panose="02020603050405020304" pitchFamily="18" charset="0"/>
                        </a:rPr>
                        <a:t>TBD: To either continue with this tool or use cloud native tooling as suggested in Slide 65</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a:lnSpc>
                          <a:spcPct val="115000"/>
                        </a:lnSpc>
                        <a:spcBef>
                          <a:spcPts val="300"/>
                        </a:spcBef>
                        <a:spcAft>
                          <a:spcPts val="1000"/>
                        </a:spcAft>
                      </a:pPr>
                      <a:endParaRPr lang="en-US" sz="1000" kern="100">
                        <a:solidFill>
                          <a:schemeClr val="tx1"/>
                        </a:solidFill>
                        <a:effectLst/>
                        <a:latin typeface="+mj-lt"/>
                        <a:ea typeface="Calibri" panose="020F0502020204030204" pitchFamily="34" charset="0"/>
                        <a:cs typeface="Times New Roman" panose="02020603050405020304" pitchFamily="18" charset="0"/>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687958">
                <a:tc>
                  <a:txBody>
                    <a:bodyPr/>
                    <a:lstStyle/>
                    <a:p>
                      <a:pPr marL="0" marR="0">
                        <a:lnSpc>
                          <a:spcPct val="115000"/>
                        </a:lnSpc>
                        <a:spcBef>
                          <a:spcPts val="300"/>
                        </a:spcBef>
                        <a:spcAft>
                          <a:spcPts val="1000"/>
                        </a:spcAft>
                      </a:pPr>
                      <a:r>
                        <a:rPr lang="en-GB" sz="2000" b="1" kern="100">
                          <a:solidFill>
                            <a:schemeClr val="tx1"/>
                          </a:solidFill>
                          <a:effectLst/>
                          <a:latin typeface="+mj-lt"/>
                          <a:ea typeface="Calibri" panose="020F0502020204030204" pitchFamily="34" charset="0"/>
                          <a:cs typeface="Arial" panose="020B0604020202020204" pitchFamily="34" charset="0"/>
                        </a:rPr>
                        <a:t>Virtual DCS</a:t>
                      </a:r>
                      <a:endParaRPr lang="en-US" sz="2000" b="1"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marR="0" lvl="0" indent="0" algn="l" defTabSz="914400" rtl="0" eaLnBrk="1" fontAlgn="auto" latinLnBrk="0" hangingPunct="1">
                        <a:lnSpc>
                          <a:spcPct val="115000"/>
                        </a:lnSpc>
                        <a:spcBef>
                          <a:spcPts val="300"/>
                        </a:spcBef>
                        <a:spcAft>
                          <a:spcPts val="1000"/>
                        </a:spcAft>
                        <a:buClrTx/>
                        <a:buSzTx/>
                        <a:buFontTx/>
                        <a:buNone/>
                        <a:tabLst/>
                        <a:defRPr/>
                      </a:pPr>
                      <a:r>
                        <a:rPr lang="en-US" sz="2000" b="1" kern="100">
                          <a:solidFill>
                            <a:schemeClr val="tx1"/>
                          </a:solidFill>
                          <a:effectLst/>
                          <a:latin typeface="+mn-lt"/>
                          <a:ea typeface="Calibri" panose="020F0502020204030204" pitchFamily="34" charset="0"/>
                          <a:cs typeface="Times New Roman" panose="02020603050405020304" pitchFamily="18" charset="0"/>
                        </a:rPr>
                        <a:t>TBD: To either continue with this tool or use cloud native tooling as suggested in Slide 65</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a:lnSpc>
                          <a:spcPct val="115000"/>
                        </a:lnSpc>
                        <a:spcBef>
                          <a:spcPts val="300"/>
                        </a:spcBef>
                        <a:spcAft>
                          <a:spcPts val="1000"/>
                        </a:spcAft>
                      </a:pPr>
                      <a:endParaRPr lang="en-US" sz="1000" kern="100">
                        <a:solidFill>
                          <a:schemeClr val="tx1"/>
                        </a:solidFill>
                        <a:effectLst/>
                        <a:latin typeface="+mj-lt"/>
                        <a:ea typeface="Calibri" panose="020F0502020204030204" pitchFamily="34" charset="0"/>
                        <a:cs typeface="Times New Roman" panose="02020603050405020304" pitchFamily="18" charset="0"/>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14927745"/>
                  </a:ext>
                </a:extLst>
              </a:tr>
              <a:tr h="687958">
                <a:tc>
                  <a:txBody>
                    <a:bodyPr/>
                    <a:lstStyle/>
                    <a:p>
                      <a:pPr marL="0" marR="0">
                        <a:lnSpc>
                          <a:spcPct val="115000"/>
                        </a:lnSpc>
                        <a:spcBef>
                          <a:spcPts val="300"/>
                        </a:spcBef>
                        <a:spcAft>
                          <a:spcPts val="1000"/>
                        </a:spcAft>
                      </a:pPr>
                      <a:r>
                        <a:rPr lang="en-GB" sz="2000" b="1" kern="100">
                          <a:solidFill>
                            <a:schemeClr val="tx1"/>
                          </a:solidFill>
                          <a:effectLst/>
                          <a:latin typeface="+mj-lt"/>
                          <a:ea typeface="Calibri" panose="020F0502020204030204" pitchFamily="34" charset="0"/>
                          <a:cs typeface="Arial" panose="020B0604020202020204" pitchFamily="34" charset="0"/>
                        </a:rPr>
                        <a:t>Citrix</a:t>
                      </a:r>
                      <a:endParaRPr lang="en-US" sz="2000" b="1"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marR="0">
                        <a:lnSpc>
                          <a:spcPct val="115000"/>
                        </a:lnSpc>
                        <a:spcBef>
                          <a:spcPts val="300"/>
                        </a:spcBef>
                        <a:spcAft>
                          <a:spcPts val="1000"/>
                        </a:spcAft>
                      </a:pPr>
                      <a:r>
                        <a:rPr lang="en-GB" sz="2000" b="1" kern="100">
                          <a:solidFill>
                            <a:schemeClr val="tx1"/>
                          </a:solidFill>
                          <a:effectLst/>
                          <a:latin typeface="+mj-lt"/>
                          <a:ea typeface="Calibri" panose="020F0502020204030204" pitchFamily="34" charset="0"/>
                          <a:cs typeface="Times New Roman" panose="02020603050405020304" pitchFamily="18" charset="0"/>
                        </a:rPr>
                        <a:t>TBD: To either continue with this tool or use cloud native tooling as suggested in Slide 65</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a:lnSpc>
                          <a:spcPct val="115000"/>
                        </a:lnSpc>
                        <a:spcBef>
                          <a:spcPts val="300"/>
                        </a:spcBef>
                        <a:spcAft>
                          <a:spcPts val="1000"/>
                        </a:spcAft>
                      </a:pPr>
                      <a:endParaRPr lang="en-US" sz="1000" kern="100">
                        <a:solidFill>
                          <a:schemeClr val="tx1"/>
                        </a:solidFill>
                        <a:effectLst/>
                        <a:latin typeface="+mj-lt"/>
                        <a:ea typeface="Calibri" panose="020F0502020204030204" pitchFamily="34" charset="0"/>
                        <a:cs typeface="Times New Roman" panose="02020603050405020304" pitchFamily="18" charset="0"/>
                      </a:endParaRP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49755113"/>
                  </a:ext>
                </a:extLst>
              </a:tr>
              <a:tr h="687958">
                <a:tc>
                  <a:txBody>
                    <a:bodyPr/>
                    <a:lstStyle/>
                    <a:p>
                      <a:pPr marL="0" marR="0">
                        <a:lnSpc>
                          <a:spcPct val="115000"/>
                        </a:lnSpc>
                        <a:spcBef>
                          <a:spcPts val="300"/>
                        </a:spcBef>
                        <a:spcAft>
                          <a:spcPts val="1000"/>
                        </a:spcAft>
                      </a:pPr>
                      <a:r>
                        <a:rPr lang="en-GB" sz="2000" b="1" kern="100">
                          <a:solidFill>
                            <a:schemeClr val="tx1"/>
                          </a:solidFill>
                          <a:effectLst/>
                          <a:latin typeface="+mj-lt"/>
                          <a:ea typeface="Calibri" panose="020F0502020204030204" pitchFamily="34" charset="0"/>
                          <a:cs typeface="Arial" panose="020B0604020202020204" pitchFamily="34" charset="0"/>
                        </a:rPr>
                        <a:t>Vinciworks</a:t>
                      </a:r>
                      <a:endParaRPr lang="en-US" sz="2000" b="1" kern="100">
                        <a:solidFill>
                          <a:schemeClr val="tx1"/>
                        </a:solidFill>
                        <a:effectLst/>
                        <a:latin typeface="+mj-lt"/>
                        <a:ea typeface="Calibri" panose="020F0502020204030204" pitchFamily="34" charset="0"/>
                        <a:cs typeface="Times New Roman" panose="02020603050405020304" pitchFamily="18" charset="0"/>
                      </a:endParaRPr>
                    </a:p>
                  </a:txBody>
                  <a:tcPr marL="182880" marR="182880" marT="91440" marB="91440">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gridSpan="2">
                  <a:txBody>
                    <a:bodyPr/>
                    <a:lstStyle/>
                    <a:p>
                      <a:pPr marL="0" marR="0">
                        <a:lnSpc>
                          <a:spcPct val="115000"/>
                        </a:lnSpc>
                        <a:spcBef>
                          <a:spcPts val="300"/>
                        </a:spcBef>
                        <a:spcAft>
                          <a:spcPts val="1000"/>
                        </a:spcAft>
                      </a:pPr>
                      <a:r>
                        <a:rPr lang="en-GB" sz="2000" b="1" kern="100">
                          <a:solidFill>
                            <a:schemeClr val="tx1"/>
                          </a:solidFill>
                          <a:effectLst/>
                          <a:latin typeface="+mj-lt"/>
                          <a:ea typeface="Calibri" panose="020F0502020204030204" pitchFamily="34" charset="0"/>
                          <a:cs typeface="Times New Roman" panose="02020603050405020304" pitchFamily="18" charset="0"/>
                        </a:rPr>
                        <a:t>TBD: To either continue with this tool or use cloud native tooling as suggested in Slide 65</a:t>
                      </a:r>
                    </a:p>
                  </a:txBody>
                  <a:tcPr marL="182880" marR="182880" marT="91440" marB="91440">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tc hMerge="1">
                  <a:txBody>
                    <a:bodyPr/>
                    <a:lstStyle/>
                    <a:p>
                      <a:pPr marL="0" marR="0">
                        <a:lnSpc>
                          <a:spcPct val="115000"/>
                        </a:lnSpc>
                        <a:spcBef>
                          <a:spcPts val="300"/>
                        </a:spcBef>
                        <a:spcAft>
                          <a:spcPts val="1000"/>
                        </a:spcAft>
                      </a:pPr>
                      <a:endParaRPr lang="en-US" sz="1000" kern="100">
                        <a:solidFill>
                          <a:schemeClr val="tx1"/>
                        </a:solidFill>
                        <a:effectLst/>
                        <a:latin typeface="+mj-lt"/>
                        <a:ea typeface="Calibri" panose="020F0502020204030204" pitchFamily="34" charset="0"/>
                        <a:cs typeface="Times New Roman" panose="02020603050405020304" pitchFamily="18" charset="0"/>
                      </a:endParaRPr>
                    </a:p>
                  </a:txBody>
                  <a:tcP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2523732811"/>
                  </a:ext>
                </a:extLst>
              </a:tr>
            </a:tbl>
          </a:graphicData>
        </a:graphic>
      </p:graphicFrame>
      <p:sp>
        <p:nvSpPr>
          <p:cNvPr id="3" name="Slide Number Placeholder 2">
            <a:extLst>
              <a:ext uri="{FF2B5EF4-FFF2-40B4-BE49-F238E27FC236}">
                <a16:creationId xmlns:a16="http://schemas.microsoft.com/office/drawing/2014/main" id="{BB54747B-8AA7-8807-7ACC-96B121C7A9B1}"/>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78</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244358078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915D67-6405-A841-097A-4D1B43016430}"/>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BB578A96-114F-074C-6058-F8DD876DCC52}"/>
              </a:ext>
            </a:extLst>
          </p:cNvPr>
          <p:cNvSpPr>
            <a:spLocks noGrp="1"/>
          </p:cNvSpPr>
          <p:nvPr>
            <p:ph type="title"/>
          </p:nvPr>
        </p:nvSpPr>
        <p:spPr>
          <a:xfrm>
            <a:off x="668992" y="537178"/>
            <a:ext cx="22991108" cy="999313"/>
          </a:xfrm>
        </p:spPr>
        <p:txBody>
          <a:bodyPr/>
          <a:lstStyle/>
          <a:p>
            <a:pPr>
              <a:defRPr/>
            </a:pPr>
            <a:r>
              <a:rPr lang="en-US" sz="6400" b="1">
                <a:solidFill>
                  <a:prstClr val="white"/>
                </a:solidFill>
                <a:latin typeface="Arial"/>
                <a:sym typeface="Arial"/>
              </a:rPr>
              <a:t>AWS vs Azure comparative assessment</a:t>
            </a:r>
            <a:endParaRPr lang="en-US" sz="6400" baseline="30000">
              <a:solidFill>
                <a:prstClr val="white"/>
              </a:solidFill>
              <a:latin typeface="Arial"/>
              <a:sym typeface="Arial"/>
            </a:endParaRPr>
          </a:p>
        </p:txBody>
      </p:sp>
      <p:sp>
        <p:nvSpPr>
          <p:cNvPr id="2" name="TextBox 1">
            <a:extLst>
              <a:ext uri="{FF2B5EF4-FFF2-40B4-BE49-F238E27FC236}">
                <a16:creationId xmlns:a16="http://schemas.microsoft.com/office/drawing/2014/main" id="{12250E42-EC00-E22A-6CBD-6BD48E8BB70C}"/>
              </a:ext>
            </a:extLst>
          </p:cNvPr>
          <p:cNvSpPr txBox="1"/>
          <p:nvPr/>
        </p:nvSpPr>
        <p:spPr>
          <a:xfrm>
            <a:off x="668992" y="2250289"/>
            <a:ext cx="22144184" cy="10525958"/>
          </a:xfrm>
          <a:prstGeom prst="rect">
            <a:avLst/>
          </a:prstGeom>
          <a:noFill/>
        </p:spPr>
        <p:txBody>
          <a:bodyPr wrap="square" lIns="182880" tIns="91440" rIns="182880" bIns="91440" rtlCol="0" anchor="t">
            <a:spAutoFit/>
          </a:bodyPr>
          <a:lstStyle/>
          <a:p>
            <a:pPr defTabSz="1828800">
              <a:buClr>
                <a:srgbClr val="000000"/>
              </a:buClr>
              <a:defRPr/>
            </a:pPr>
            <a:r>
              <a:rPr lang="en-US" sz="2800" b="1" kern="0">
                <a:solidFill>
                  <a:srgbClr val="EB0000"/>
                </a:solidFill>
                <a:latin typeface="Arial"/>
                <a:cs typeface="Arial"/>
                <a:sym typeface="Arial"/>
              </a:rPr>
              <a:t>Security and Compliance </a:t>
            </a:r>
          </a:p>
          <a:p>
            <a:endParaRPr lang="en-US" sz="2800"/>
          </a:p>
          <a:p>
            <a:pPr marL="571500" indent="-571500" defTabSz="1828800">
              <a:buClr>
                <a:srgbClr val="EB0000"/>
              </a:buClr>
              <a:buFont typeface="Arial" panose="020B0604020202020204" pitchFamily="34" charset="0"/>
              <a:buChar char="•"/>
            </a:pPr>
            <a:r>
              <a:rPr lang="en-US" sz="2800">
                <a:latin typeface="Arial"/>
              </a:rPr>
              <a:t>Certification &amp; Standards</a:t>
            </a:r>
            <a:endParaRPr lang="en-US" sz="2800">
              <a:latin typeface="Arial"/>
              <a:cs typeface="Arial"/>
            </a:endParaRPr>
          </a:p>
          <a:p>
            <a:pPr marL="571500" indent="-571500" defTabSz="1828800">
              <a:buClr>
                <a:srgbClr val="EB0000"/>
              </a:buClr>
              <a:buFont typeface="Arial" panose="020B0604020202020204" pitchFamily="34" charset="0"/>
              <a:buChar char="•"/>
            </a:pPr>
            <a:r>
              <a:rPr lang="en-US" sz="2800">
                <a:latin typeface="Arial"/>
              </a:rPr>
              <a:t>Data Privacy (Sovereignty)</a:t>
            </a:r>
            <a:endParaRPr lang="en-US" sz="2800">
              <a:latin typeface="Arial"/>
              <a:cs typeface="Arial"/>
            </a:endParaRPr>
          </a:p>
          <a:p>
            <a:pPr marL="571500" indent="-571500" defTabSz="1828800">
              <a:buClr>
                <a:srgbClr val="EB0000"/>
              </a:buClr>
              <a:buFont typeface="Arial" panose="020B0604020202020204" pitchFamily="34" charset="0"/>
              <a:buChar char="•"/>
            </a:pPr>
            <a:r>
              <a:rPr lang="en-US" sz="2800">
                <a:latin typeface="Arial"/>
              </a:rPr>
              <a:t>Platform Capability</a:t>
            </a:r>
            <a:endParaRPr lang="en-US" sz="2800">
              <a:latin typeface="Arial"/>
              <a:cs typeface="Arial"/>
            </a:endParaRPr>
          </a:p>
          <a:p>
            <a:pPr marL="571500" indent="-571500" defTabSz="1828800">
              <a:buClr>
                <a:srgbClr val="EB0000"/>
              </a:buClr>
              <a:buFont typeface="Arial" panose="020B0604020202020204" pitchFamily="34" charset="0"/>
              <a:buChar char="•"/>
            </a:pPr>
            <a:r>
              <a:rPr lang="en-US" sz="2800">
                <a:latin typeface="Arial"/>
              </a:rPr>
              <a:t>Platform Maturity </a:t>
            </a:r>
            <a:endParaRPr lang="en-US" sz="2800">
              <a:latin typeface="Arial"/>
              <a:cs typeface="Arial"/>
            </a:endParaRPr>
          </a:p>
          <a:p>
            <a:pPr marL="571500" indent="-571500" defTabSz="1828800">
              <a:buClr>
                <a:srgbClr val="EB0000"/>
              </a:buClr>
              <a:buFont typeface="Arial" panose="020B0604020202020204" pitchFamily="34" charset="0"/>
              <a:buChar char="•"/>
            </a:pPr>
            <a:endParaRPr lang="en-US" sz="2800">
              <a:latin typeface="Arial"/>
            </a:endParaRPr>
          </a:p>
          <a:p>
            <a:pPr defTabSz="1828800">
              <a:buClr>
                <a:srgbClr val="EB0000"/>
              </a:buClr>
            </a:pPr>
            <a:r>
              <a:rPr lang="en-US" sz="2800">
                <a:latin typeface="Arial"/>
              </a:rPr>
              <a:t>Both AWS and Microsoft Azure </a:t>
            </a:r>
            <a:r>
              <a:rPr lang="en-US" sz="2800" i="1" u="sng">
                <a:latin typeface="Arial"/>
              </a:rPr>
              <a:t>meet the critical requirements for security and compliance</a:t>
            </a:r>
            <a:r>
              <a:rPr lang="en-US" sz="2800">
                <a:latin typeface="Arial"/>
              </a:rPr>
              <a:t>, making them reliable choices for cloud services. They </a:t>
            </a:r>
            <a:r>
              <a:rPr lang="en-US" sz="2800" i="1" u="sng">
                <a:latin typeface="Arial"/>
              </a:rPr>
              <a:t>provide robust certifications and standards</a:t>
            </a:r>
            <a:r>
              <a:rPr lang="en-US" sz="2800">
                <a:latin typeface="Arial"/>
              </a:rPr>
              <a:t>, ensuring adherence to global regulatory frameworks. Both platforms are </a:t>
            </a:r>
            <a:r>
              <a:rPr lang="en-US" sz="2800" i="1" u="sng">
                <a:latin typeface="Arial"/>
              </a:rPr>
              <a:t>equipped to handle data privacy and sovereignty needs</a:t>
            </a:r>
            <a:r>
              <a:rPr lang="en-US" sz="2800">
                <a:latin typeface="Arial"/>
              </a:rPr>
              <a:t>, supporting </a:t>
            </a:r>
            <a:r>
              <a:rPr lang="en-US" sz="2800" err="1">
                <a:latin typeface="Arial"/>
              </a:rPr>
              <a:t>Organisations</a:t>
            </a:r>
            <a:r>
              <a:rPr lang="en-US" sz="2800">
                <a:latin typeface="Arial"/>
              </a:rPr>
              <a:t> with jurisdiction-specific requirements. AWS excels in global infrastructure, encryption, and compliance support, while Azure shines with integrated governance tools, hybrid sovereignty capabilities, and specialized sovereign clouds, which makes data flow monitoring and auditing easier. </a:t>
            </a:r>
          </a:p>
          <a:p>
            <a:pPr defTabSz="1828800">
              <a:buClr>
                <a:srgbClr val="EB0000"/>
              </a:buClr>
            </a:pPr>
            <a:endParaRPr lang="en-US" sz="2800">
              <a:latin typeface="Arial"/>
              <a:cs typeface="Arial"/>
            </a:endParaRPr>
          </a:p>
          <a:p>
            <a:pPr defTabSz="1828800"/>
            <a:r>
              <a:rPr lang="en-US" sz="2800">
                <a:latin typeface="Arial"/>
                <a:cs typeface="Arial"/>
              </a:rPr>
              <a:t>Achilles regulatory compliance requirements can be met by both providers for: </a:t>
            </a:r>
            <a:endParaRPr lang="en-US" sz="2800">
              <a:latin typeface="Arial"/>
            </a:endParaRPr>
          </a:p>
          <a:p>
            <a:pPr marL="571500" indent="-571500" defTabSz="1828800">
              <a:buClr>
                <a:srgbClr val="EB0000"/>
              </a:buClr>
              <a:buFont typeface="Arial" panose="020B0604020202020204" pitchFamily="34" charset="0"/>
              <a:buChar char="•"/>
            </a:pPr>
            <a:endParaRPr lang="en-US" sz="2800">
              <a:latin typeface="Arial"/>
            </a:endParaRPr>
          </a:p>
          <a:p>
            <a:pPr marL="571500" indent="-571500" defTabSz="1828800">
              <a:buClr>
                <a:srgbClr val="EB0000"/>
              </a:buClr>
              <a:buFont typeface="Arial" panose="020B0604020202020204" pitchFamily="34" charset="0"/>
              <a:buChar char="•"/>
            </a:pPr>
            <a:r>
              <a:rPr lang="en-US" sz="2800">
                <a:latin typeface="Arial"/>
              </a:rPr>
              <a:t>PCI – DSS : Both AWS and Azure are PCI-DSS level 1 certified and has a list of preapproved services that customer can use</a:t>
            </a:r>
          </a:p>
          <a:p>
            <a:pPr marL="571500" indent="-571500" defTabSz="1828800">
              <a:buClr>
                <a:srgbClr val="EB0000"/>
              </a:buClr>
              <a:buFont typeface="Arial" panose="020B0604020202020204" pitchFamily="34" charset="0"/>
              <a:buChar char="•"/>
            </a:pPr>
            <a:r>
              <a:rPr lang="en-US" sz="2800">
                <a:latin typeface="Arial"/>
              </a:rPr>
              <a:t>ISO2701 : ISO2701 Certified and has way to implement controls to support in cloud environment </a:t>
            </a:r>
          </a:p>
          <a:p>
            <a:pPr marL="571500" indent="-571500" defTabSz="1828800">
              <a:buClr>
                <a:srgbClr val="EB0000"/>
              </a:buClr>
              <a:buFont typeface="Arial" panose="020B0604020202020204" pitchFamily="34" charset="0"/>
              <a:buChar char="•"/>
            </a:pPr>
            <a:r>
              <a:rPr lang="en-US" sz="2800">
                <a:latin typeface="Arial"/>
              </a:rPr>
              <a:t>GDPR : Both cloud providers have a mechanism in place to support data sovereignty requirements.</a:t>
            </a:r>
            <a:endParaRPr lang="en-US" sz="2800">
              <a:latin typeface="Arial"/>
              <a:cs typeface="Arial"/>
            </a:endParaRPr>
          </a:p>
          <a:p>
            <a:pPr defTabSz="1828800"/>
            <a:endParaRPr lang="en-US" sz="2800">
              <a:latin typeface="Arial"/>
            </a:endParaRPr>
          </a:p>
          <a:p>
            <a:pPr defTabSz="1828800"/>
            <a:r>
              <a:rPr lang="en-US" sz="2800">
                <a:latin typeface="Arial"/>
              </a:rPr>
              <a:t>Additionally, their advanced platform capabilities and maturity reflect their long-standing expertise and scalability, ensuring support for diverse workloads and enterprise needs.</a:t>
            </a:r>
          </a:p>
          <a:p>
            <a:pPr defTabSz="1828800"/>
            <a:endParaRPr lang="en-US" sz="2800">
              <a:latin typeface="Arial"/>
              <a:cs typeface="Arial"/>
            </a:endParaRPr>
          </a:p>
          <a:p>
            <a:pPr defTabSz="1828800"/>
            <a:endParaRPr lang="en-US" sz="2800">
              <a:latin typeface="Arial"/>
            </a:endParaRPr>
          </a:p>
          <a:p>
            <a:pPr marL="571500" indent="-571500" defTabSz="1828800">
              <a:buClr>
                <a:srgbClr val="EB0000"/>
              </a:buClr>
              <a:buFont typeface="Arial" panose="020B0604020202020204" pitchFamily="34" charset="0"/>
              <a:buChar char="•"/>
            </a:pPr>
            <a:endParaRPr lang="en-US" sz="2800" kern="0">
              <a:solidFill>
                <a:prstClr val="white"/>
              </a:solidFill>
              <a:latin typeface="Arial"/>
              <a:cs typeface="Arial"/>
              <a:sym typeface="Arial"/>
            </a:endParaRPr>
          </a:p>
        </p:txBody>
      </p:sp>
      <p:sp>
        <p:nvSpPr>
          <p:cNvPr id="3" name="Slide Number Placeholder 2">
            <a:extLst>
              <a:ext uri="{FF2B5EF4-FFF2-40B4-BE49-F238E27FC236}">
                <a16:creationId xmlns:a16="http://schemas.microsoft.com/office/drawing/2014/main" id="{E03FC701-5469-40BB-B15B-6AC6FACBB67F}"/>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79</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68137633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4807B7-ADF6-C791-309E-DA17885746D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6D7AFD51-C52C-B393-D582-EC2E4020F17C}"/>
              </a:ext>
            </a:extLst>
          </p:cNvPr>
          <p:cNvSpPr>
            <a:spLocks noGrp="1"/>
          </p:cNvSpPr>
          <p:nvPr>
            <p:ph type="title"/>
          </p:nvPr>
        </p:nvSpPr>
        <p:spPr>
          <a:xfrm>
            <a:off x="668992" y="537178"/>
            <a:ext cx="22991108" cy="999313"/>
          </a:xfrm>
        </p:spPr>
        <p:txBody>
          <a:bodyPr/>
          <a:lstStyle/>
          <a:p>
            <a:pPr>
              <a:defRPr/>
            </a:pPr>
            <a:r>
              <a:rPr lang="en-US" sz="6400" err="1"/>
              <a:t>GoSupply</a:t>
            </a:r>
            <a:r>
              <a:rPr lang="en-US" sz="6400"/>
              <a:t> – Azure Advisor Review</a:t>
            </a:r>
            <a:endParaRPr lang="en-US" sz="6400">
              <a:highlight>
                <a:srgbClr val="FFFF00"/>
              </a:highlight>
              <a:latin typeface="Arial"/>
              <a:cs typeface="Arial"/>
            </a:endParaRPr>
          </a:p>
        </p:txBody>
      </p:sp>
      <p:sp>
        <p:nvSpPr>
          <p:cNvPr id="3" name="Slide Number Placeholder 2">
            <a:extLst>
              <a:ext uri="{FF2B5EF4-FFF2-40B4-BE49-F238E27FC236}">
                <a16:creationId xmlns:a16="http://schemas.microsoft.com/office/drawing/2014/main" id="{C2D54014-43AF-393F-ED1C-F4282E80FF0A}"/>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80</a:t>
            </a:fld>
            <a:endParaRPr lang="en-US" sz="1400">
              <a:solidFill>
                <a:prstClr val="black"/>
              </a:solidFill>
              <a:latin typeface="Fira Sans" panose="020B0503050000020004" pitchFamily="34" charset="0"/>
            </a:endParaRPr>
          </a:p>
        </p:txBody>
      </p:sp>
      <p:sp>
        <p:nvSpPr>
          <p:cNvPr id="2" name="TextBox 1">
            <a:extLst>
              <a:ext uri="{FF2B5EF4-FFF2-40B4-BE49-F238E27FC236}">
                <a16:creationId xmlns:a16="http://schemas.microsoft.com/office/drawing/2014/main" id="{C3481C68-99E3-D15A-E291-5F7096A3CAE2}"/>
              </a:ext>
            </a:extLst>
          </p:cNvPr>
          <p:cNvSpPr txBox="1"/>
          <p:nvPr/>
        </p:nvSpPr>
        <p:spPr>
          <a:xfrm>
            <a:off x="702964" y="2419178"/>
            <a:ext cx="22305316" cy="7078861"/>
          </a:xfrm>
          <a:prstGeom prst="rect">
            <a:avLst/>
          </a:prstGeom>
          <a:noFill/>
        </p:spPr>
        <p:txBody>
          <a:bodyPr rot="0" spcFirstLastPara="0" vertOverflow="overflow" horzOverflow="overflow" vert="horz" wrap="square" lIns="182880" tIns="91440" rIns="182880" bIns="91440" numCol="1" spcCol="0" rtlCol="0" fromWordArt="0" anchor="t" anchorCtr="0" forceAA="0" compatLnSpc="1">
            <a:prstTxWarp prst="textNoShape">
              <a:avLst/>
            </a:prstTxWarp>
            <a:spAutoFit/>
          </a:bodyPr>
          <a:lstStyle/>
          <a:p>
            <a:r>
              <a:rPr lang="en-US" sz="3200">
                <a:cs typeface="Segoe UI"/>
              </a:rPr>
              <a:t>​</a:t>
            </a:r>
          </a:p>
          <a:p>
            <a:pPr marL="0" lvl="1"/>
            <a:r>
              <a:rPr lang="en-US" sz="3200" b="1" kern="0">
                <a:solidFill>
                  <a:srgbClr val="EB0000"/>
                </a:solidFill>
                <a:latin typeface="Arial"/>
                <a:cs typeface="Arial"/>
              </a:rPr>
              <a:t>Findings</a:t>
            </a:r>
          </a:p>
          <a:p>
            <a:pPr marL="571500" lvl="1" indent="-571500">
              <a:buFont typeface="Arial,Sans-Serif"/>
              <a:buChar char="•"/>
            </a:pPr>
            <a:r>
              <a:rPr lang="en-US" sz="3200">
                <a:cs typeface="Arial"/>
              </a:rPr>
              <a:t>Azure Advisor reports Several open security recommendations flagged which should be addressed. ​</a:t>
            </a:r>
          </a:p>
          <a:p>
            <a:pPr marL="571500" lvl="1" indent="-571500">
              <a:buFont typeface="Arial,Sans-Serif"/>
              <a:buChar char="•"/>
            </a:pPr>
            <a:r>
              <a:rPr lang="en-US" sz="3200">
                <a:cs typeface="Arial"/>
              </a:rPr>
              <a:t>There are total 59 findings across High, Medium and Low priority, reported across 642 resources.  ​</a:t>
            </a:r>
          </a:p>
          <a:p>
            <a:pPr marL="571500" lvl="1" indent="-571500">
              <a:buFont typeface="Arial,Sans-Serif"/>
              <a:buChar char="•"/>
            </a:pPr>
            <a:r>
              <a:rPr lang="en-US" sz="3200">
                <a:cs typeface="Arial"/>
              </a:rPr>
              <a:t>There are 19 High Priority and 27 Medium priority findings. ​</a:t>
            </a:r>
          </a:p>
          <a:p>
            <a:pPr marL="571500" lvl="1" indent="-571500">
              <a:buFont typeface="Arial,Sans-Serif"/>
              <a:buChar char="•"/>
            </a:pPr>
            <a:r>
              <a:rPr lang="en-US" sz="3200">
                <a:cs typeface="Arial"/>
              </a:rPr>
              <a:t>The detailed file with all findings can be found here - </a:t>
            </a:r>
            <a:r>
              <a:rPr lang="en-US" sz="3200" u="sng">
                <a:solidFill>
                  <a:srgbClr val="EB0000"/>
                </a:solidFill>
                <a:cs typeface="Arial"/>
                <a:hlinkClick r:id="rId3"/>
              </a:rPr>
              <a:t>GoSupply Azure Security Extract - 18 Dec 2024.xlsx</a:t>
            </a:r>
            <a:r>
              <a:rPr lang="en-US" sz="3200">
                <a:cs typeface="Arial"/>
              </a:rPr>
              <a:t>​</a:t>
            </a:r>
          </a:p>
          <a:p>
            <a:pPr marL="571500" lvl="1" indent="-571500">
              <a:buFont typeface="Arial,Sans-Serif"/>
              <a:buChar char="•"/>
            </a:pPr>
            <a:endParaRPr lang="en-US" sz="3200">
              <a:cs typeface="Arial"/>
            </a:endParaRPr>
          </a:p>
          <a:p>
            <a:pPr marL="0" lvl="1"/>
            <a:r>
              <a:rPr lang="en-US" sz="3200" b="1" kern="0">
                <a:solidFill>
                  <a:srgbClr val="EB0000"/>
                </a:solidFill>
                <a:latin typeface="Arial"/>
                <a:cs typeface="Arial"/>
              </a:rPr>
              <a:t>Recommendations</a:t>
            </a:r>
          </a:p>
          <a:p>
            <a:pPr marL="571500" lvl="1" indent="-571500">
              <a:buFont typeface="Arial,Sans-Serif"/>
              <a:buChar char="•"/>
            </a:pPr>
            <a:r>
              <a:rPr lang="en-US" sz="3200">
                <a:cs typeface="Arial"/>
              </a:rPr>
              <a:t>We recommend that these findings should be looked at and </a:t>
            </a:r>
            <a:r>
              <a:rPr lang="en-US" sz="3200" err="1">
                <a:cs typeface="Arial"/>
              </a:rPr>
              <a:t>analysed</a:t>
            </a:r>
            <a:r>
              <a:rPr lang="en-US" sz="3200">
                <a:cs typeface="Arial"/>
              </a:rPr>
              <a:t> for a potential business impact. </a:t>
            </a:r>
          </a:p>
          <a:p>
            <a:pPr marL="571500" lvl="1" indent="-571500">
              <a:buFont typeface="Arial,Sans-Serif"/>
              <a:buChar char="•"/>
            </a:pPr>
            <a:r>
              <a:rPr lang="en-US" sz="3200">
                <a:cs typeface="Arial"/>
              </a:rPr>
              <a:t>The team should remediate starting with high priority and working down. </a:t>
            </a:r>
          </a:p>
          <a:p>
            <a:pPr marL="571500" lvl="1" indent="-571500">
              <a:buFont typeface="Arial,Sans-Serif"/>
              <a:buChar char="•"/>
            </a:pPr>
            <a:r>
              <a:rPr lang="en-US" sz="3200">
                <a:cs typeface="Arial"/>
              </a:rPr>
              <a:t>Create a Risk Register and assign the findings to respective (platform/storage/webapp) owner and track the fix or remediations to completion. ​</a:t>
            </a:r>
          </a:p>
          <a:p>
            <a:pPr marL="571500" lvl="1" indent="-571500">
              <a:buFont typeface="Arial,Sans-Serif"/>
              <a:buChar char="•"/>
            </a:pPr>
            <a:r>
              <a:rPr lang="en-US" sz="3200">
                <a:cs typeface="Arial"/>
              </a:rPr>
              <a:t>Key issues in the high findings relate to webapp communication which is critical for secure communication and information transfer. </a:t>
            </a:r>
          </a:p>
        </p:txBody>
      </p:sp>
    </p:spTree>
    <p:extLst>
      <p:ext uri="{BB962C8B-B14F-4D97-AF65-F5344CB8AC3E}">
        <p14:creationId xmlns:p14="http://schemas.microsoft.com/office/powerpoint/2010/main" val="99808897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9F8B23-C3C5-2763-846A-2CC75D6717BA}"/>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BB792C43-21F2-867C-8332-62BF9DD69F76}"/>
              </a:ext>
            </a:extLst>
          </p:cNvPr>
          <p:cNvSpPr>
            <a:spLocks noGrp="1"/>
          </p:cNvSpPr>
          <p:nvPr>
            <p:ph type="title"/>
          </p:nvPr>
        </p:nvSpPr>
        <p:spPr>
          <a:xfrm>
            <a:off x="668992" y="537178"/>
            <a:ext cx="22991108" cy="999313"/>
          </a:xfrm>
        </p:spPr>
        <p:txBody>
          <a:bodyPr/>
          <a:lstStyle/>
          <a:p>
            <a:pPr>
              <a:defRPr/>
            </a:pPr>
            <a:r>
              <a:rPr lang="en-US" sz="6400" err="1"/>
              <a:t>GoSupply</a:t>
            </a:r>
            <a:r>
              <a:rPr lang="en-US" sz="6400"/>
              <a:t> – Azure Advisor Review – High Severity Issues</a:t>
            </a:r>
            <a:endParaRPr lang="en-US" sz="6400">
              <a:highlight>
                <a:srgbClr val="FFFF00"/>
              </a:highlight>
              <a:latin typeface="Arial"/>
              <a:cs typeface="Arial"/>
            </a:endParaRPr>
          </a:p>
        </p:txBody>
      </p:sp>
      <p:sp>
        <p:nvSpPr>
          <p:cNvPr id="3" name="Slide Number Placeholder 2">
            <a:extLst>
              <a:ext uri="{FF2B5EF4-FFF2-40B4-BE49-F238E27FC236}">
                <a16:creationId xmlns:a16="http://schemas.microsoft.com/office/drawing/2014/main" id="{CE65B4A7-D142-44A4-8AF9-E6CA716561B8}"/>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81</a:t>
            </a:fld>
            <a:endParaRPr lang="en-US" sz="1400">
              <a:solidFill>
                <a:prstClr val="black"/>
              </a:solidFill>
              <a:latin typeface="Fira Sans" panose="020B0503050000020004" pitchFamily="34" charset="0"/>
            </a:endParaRPr>
          </a:p>
        </p:txBody>
      </p:sp>
      <p:graphicFrame>
        <p:nvGraphicFramePr>
          <p:cNvPr id="2" name="Table 1">
            <a:extLst>
              <a:ext uri="{FF2B5EF4-FFF2-40B4-BE49-F238E27FC236}">
                <a16:creationId xmlns:a16="http://schemas.microsoft.com/office/drawing/2014/main" id="{105E1404-7FF7-CF28-8959-36A16AD03025}"/>
              </a:ext>
            </a:extLst>
          </p:cNvPr>
          <p:cNvGraphicFramePr>
            <a:graphicFrameLocks noGrp="1"/>
          </p:cNvGraphicFramePr>
          <p:nvPr/>
        </p:nvGraphicFramePr>
        <p:xfrm>
          <a:off x="496138" y="2421725"/>
          <a:ext cx="10819564" cy="6748862"/>
        </p:xfrm>
        <a:graphic>
          <a:graphicData uri="http://schemas.openxmlformats.org/drawingml/2006/table">
            <a:tbl>
              <a:tblPr firstRow="1">
                <a:tableStyleId>{5C22544A-7EE6-4342-B048-85BDC9FD1C3A}</a:tableStyleId>
              </a:tblPr>
              <a:tblGrid>
                <a:gridCol w="7708558">
                  <a:extLst>
                    <a:ext uri="{9D8B030D-6E8A-4147-A177-3AD203B41FA5}">
                      <a16:colId xmlns:a16="http://schemas.microsoft.com/office/drawing/2014/main" val="1525111598"/>
                    </a:ext>
                  </a:extLst>
                </a:gridCol>
                <a:gridCol w="3111006">
                  <a:extLst>
                    <a:ext uri="{9D8B030D-6E8A-4147-A177-3AD203B41FA5}">
                      <a16:colId xmlns:a16="http://schemas.microsoft.com/office/drawing/2014/main" val="1887819977"/>
                    </a:ext>
                  </a:extLst>
                </a:gridCol>
              </a:tblGrid>
              <a:tr h="963930">
                <a:tc>
                  <a:txBody>
                    <a:bodyPr/>
                    <a:lstStyle/>
                    <a:p>
                      <a:pPr algn="ctr" fontAlgn="b"/>
                      <a:r>
                        <a:rPr lang="en-GB" sz="2800" b="0" i="0" u="none" strike="noStrike">
                          <a:solidFill>
                            <a:schemeClr val="bg2"/>
                          </a:solidFill>
                          <a:effectLst/>
                          <a:latin typeface="+mn-lt"/>
                        </a:rPr>
                        <a:t>Issue</a:t>
                      </a:r>
                    </a:p>
                  </a:txBody>
                  <a:tcPr marL="19050" marR="19050" marT="19050" marB="91440" anchor="b">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fontAlgn="b"/>
                      <a:r>
                        <a:rPr lang="en-GB" sz="2800" b="0" i="0" u="none" strike="noStrike">
                          <a:solidFill>
                            <a:schemeClr val="bg2"/>
                          </a:solidFill>
                          <a:effectLst/>
                          <a:latin typeface="+mn-lt"/>
                        </a:rPr>
                        <a:t>Affected Resources</a:t>
                      </a:r>
                    </a:p>
                  </a:txBody>
                  <a:tcPr marL="19050" marR="19050" marT="19050" marB="9144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462564">
                <a:tc>
                  <a:txBody>
                    <a:bodyPr/>
                    <a:lstStyle/>
                    <a:p>
                      <a:pPr algn="l" fontAlgn="b"/>
                      <a:r>
                        <a:rPr lang="en-GB" sz="2200" b="0" i="0" u="none" strike="noStrike">
                          <a:solidFill>
                            <a:srgbClr val="000000"/>
                          </a:solidFill>
                          <a:effectLst/>
                          <a:latin typeface="Aptos Narrow" panose="020B0004020202020204" pitchFamily="34" charset="0"/>
                        </a:rPr>
                        <a:t>FTPS should be required in web apps</a:t>
                      </a:r>
                    </a:p>
                  </a:txBody>
                  <a:tcPr marL="19050" marR="19050" marT="19050" marB="91440" anchor="b">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59</a:t>
                      </a:r>
                    </a:p>
                  </a:txBody>
                  <a:tcPr marL="19050" marR="19050" marT="19050" marB="91440" anchor="b">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781050">
                <a:tc>
                  <a:txBody>
                    <a:bodyPr/>
                    <a:lstStyle/>
                    <a:p>
                      <a:pPr algn="l" fontAlgn="b"/>
                      <a:r>
                        <a:rPr lang="en-GB" sz="2200" b="0" i="0" u="none" strike="noStrike">
                          <a:solidFill>
                            <a:srgbClr val="000000"/>
                          </a:solidFill>
                          <a:effectLst/>
                          <a:latin typeface="Aptos Narrow" panose="020B0004020202020204" pitchFamily="34" charset="0"/>
                        </a:rPr>
                        <a:t>Windows virtual machines should enable Azure Disk Encryption or EncryptionAtHost.</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6</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781050">
                <a:tc>
                  <a:txBody>
                    <a:bodyPr/>
                    <a:lstStyle/>
                    <a:p>
                      <a:pPr algn="l" fontAlgn="b"/>
                      <a:r>
                        <a:rPr lang="en-GB" sz="2200" b="0" i="0" u="none" strike="noStrike">
                          <a:solidFill>
                            <a:srgbClr val="000000"/>
                          </a:solidFill>
                          <a:effectLst/>
                          <a:latin typeface="Aptos Narrow" panose="020B0004020202020204" pitchFamily="34" charset="0"/>
                        </a:rPr>
                        <a:t>Machines should be configured to periodically check for missing system updates</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6</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781050">
                <a:tc>
                  <a:txBody>
                    <a:bodyPr/>
                    <a:lstStyle/>
                    <a:p>
                      <a:pPr algn="l" fontAlgn="b"/>
                      <a:r>
                        <a:rPr lang="en-GB" sz="2200" b="0" i="0" u="none" strike="noStrike">
                          <a:solidFill>
                            <a:srgbClr val="000000"/>
                          </a:solidFill>
                          <a:effectLst/>
                          <a:latin typeface="Aptos Narrow" panose="020B0004020202020204" pitchFamily="34" charset="0"/>
                        </a:rPr>
                        <a:t>All network ports should be restricted on network security groups associated to your virtual machine</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3</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462564">
                <a:tc>
                  <a:txBody>
                    <a:bodyPr/>
                    <a:lstStyle/>
                    <a:p>
                      <a:pPr algn="l" fontAlgn="b"/>
                      <a:r>
                        <a:rPr lang="en-GB" sz="2200" b="0" i="0" u="none" strike="noStrike">
                          <a:solidFill>
                            <a:srgbClr val="000000"/>
                          </a:solidFill>
                          <a:effectLst/>
                          <a:latin typeface="Aptos Narrow" panose="020B0004020202020204" pitchFamily="34" charset="0"/>
                        </a:rPr>
                        <a:t>SQL databases should have vulnerability findings resolved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2</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011691"/>
                  </a:ext>
                </a:extLst>
              </a:tr>
              <a:tr h="462564">
                <a:tc>
                  <a:txBody>
                    <a:bodyPr/>
                    <a:lstStyle/>
                    <a:p>
                      <a:pPr algn="l" fontAlgn="b"/>
                      <a:r>
                        <a:rPr lang="en-GB" sz="2200" b="0" i="0" u="none" strike="noStrike">
                          <a:solidFill>
                            <a:srgbClr val="000000"/>
                          </a:solidFill>
                          <a:effectLst/>
                          <a:latin typeface="Aptos Narrow" panose="020B0004020202020204" pitchFamily="34" charset="0"/>
                        </a:rPr>
                        <a:t>TLS should be updated to the latest version for function apps</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2</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46591851"/>
                  </a:ext>
                </a:extLst>
              </a:tr>
              <a:tr h="462564">
                <a:tc>
                  <a:txBody>
                    <a:bodyPr/>
                    <a:lstStyle/>
                    <a:p>
                      <a:pPr algn="l" fontAlgn="b"/>
                      <a:r>
                        <a:rPr lang="en-GB" sz="2200" b="0" i="0" u="none" strike="noStrike">
                          <a:solidFill>
                            <a:srgbClr val="000000"/>
                          </a:solidFill>
                          <a:effectLst/>
                          <a:latin typeface="Aptos Narrow" panose="020B0004020202020204" pitchFamily="34" charset="0"/>
                        </a:rPr>
                        <a:t>Microsoft Defender for APIs should be enabled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2706438"/>
                  </a:ext>
                </a:extLst>
              </a:tr>
              <a:tr h="810476">
                <a:tc>
                  <a:txBody>
                    <a:bodyPr/>
                    <a:lstStyle/>
                    <a:p>
                      <a:pPr algn="l" fontAlgn="b"/>
                      <a:r>
                        <a:rPr lang="en-GB" sz="2200" b="0" i="0" u="none" strike="noStrike">
                          <a:solidFill>
                            <a:srgbClr val="000000"/>
                          </a:solidFill>
                          <a:effectLst/>
                          <a:latin typeface="Aptos Narrow" panose="020B0004020202020204" pitchFamily="34" charset="0"/>
                        </a:rPr>
                        <a:t>Microsoft Defender for Resource Manager should be enabled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781050">
                <a:tc>
                  <a:txBody>
                    <a:bodyPr/>
                    <a:lstStyle/>
                    <a:p>
                      <a:pPr algn="l" fontAlgn="b"/>
                      <a:r>
                        <a:rPr lang="en-GB" sz="2200" b="0" i="0" u="none" strike="noStrike">
                          <a:solidFill>
                            <a:srgbClr val="000000"/>
                          </a:solidFill>
                          <a:effectLst/>
                          <a:latin typeface="Aptos Narrow" panose="020B0004020202020204" pitchFamily="34" charset="0"/>
                        </a:rPr>
                        <a:t>Microsoft Defender for Storage plan should be enabled with Malware Scanning and Sensitive Data Threat Detection</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3862741"/>
                  </a:ext>
                </a:extLst>
              </a:tr>
            </a:tbl>
          </a:graphicData>
        </a:graphic>
      </p:graphicFrame>
      <p:graphicFrame>
        <p:nvGraphicFramePr>
          <p:cNvPr id="6" name="Table 5">
            <a:extLst>
              <a:ext uri="{FF2B5EF4-FFF2-40B4-BE49-F238E27FC236}">
                <a16:creationId xmlns:a16="http://schemas.microsoft.com/office/drawing/2014/main" id="{E4C3865C-DAD9-73B7-611E-7036CA2B22F1}"/>
              </a:ext>
            </a:extLst>
          </p:cNvPr>
          <p:cNvGraphicFramePr>
            <a:graphicFrameLocks noGrp="1"/>
          </p:cNvGraphicFramePr>
          <p:nvPr/>
        </p:nvGraphicFramePr>
        <p:xfrm>
          <a:off x="12164546" y="2421725"/>
          <a:ext cx="10819564" cy="6748862"/>
        </p:xfrm>
        <a:graphic>
          <a:graphicData uri="http://schemas.openxmlformats.org/drawingml/2006/table">
            <a:tbl>
              <a:tblPr firstRow="1">
                <a:tableStyleId>{5C22544A-7EE6-4342-B048-85BDC9FD1C3A}</a:tableStyleId>
              </a:tblPr>
              <a:tblGrid>
                <a:gridCol w="7708558">
                  <a:extLst>
                    <a:ext uri="{9D8B030D-6E8A-4147-A177-3AD203B41FA5}">
                      <a16:colId xmlns:a16="http://schemas.microsoft.com/office/drawing/2014/main" val="1525111598"/>
                    </a:ext>
                  </a:extLst>
                </a:gridCol>
                <a:gridCol w="3111006">
                  <a:extLst>
                    <a:ext uri="{9D8B030D-6E8A-4147-A177-3AD203B41FA5}">
                      <a16:colId xmlns:a16="http://schemas.microsoft.com/office/drawing/2014/main" val="1887819977"/>
                    </a:ext>
                  </a:extLst>
                </a:gridCol>
              </a:tblGrid>
              <a:tr h="963930">
                <a:tc>
                  <a:txBody>
                    <a:bodyPr/>
                    <a:lstStyle/>
                    <a:p>
                      <a:pPr algn="ctr" fontAlgn="b"/>
                      <a:r>
                        <a:rPr lang="en-GB" sz="2800" b="0" i="0" u="none" strike="noStrike">
                          <a:solidFill>
                            <a:schemeClr val="bg2"/>
                          </a:solidFill>
                          <a:effectLst/>
                          <a:latin typeface="+mn-lt"/>
                        </a:rPr>
                        <a:t>Issue</a:t>
                      </a:r>
                    </a:p>
                  </a:txBody>
                  <a:tcPr marL="19050" marR="19050" marT="19050" marB="91440" anchor="b">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fontAlgn="b"/>
                      <a:r>
                        <a:rPr lang="en-GB" sz="2800" b="0" i="0" u="none" strike="noStrike">
                          <a:solidFill>
                            <a:schemeClr val="bg2"/>
                          </a:solidFill>
                          <a:effectLst/>
                          <a:latin typeface="+mn-lt"/>
                        </a:rPr>
                        <a:t>Affected Resources</a:t>
                      </a:r>
                    </a:p>
                  </a:txBody>
                  <a:tcPr marL="19050" marR="19050" marT="19050" marB="9144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462564">
                <a:tc>
                  <a:txBody>
                    <a:bodyPr/>
                    <a:lstStyle/>
                    <a:p>
                      <a:pPr algn="l" fontAlgn="b"/>
                      <a:r>
                        <a:rPr lang="en-GB" sz="2200" b="0" i="0" u="none" strike="noStrike">
                          <a:solidFill>
                            <a:srgbClr val="000000"/>
                          </a:solidFill>
                          <a:effectLst/>
                          <a:latin typeface="Aptos Narrow" panose="020B0004020202020204" pitchFamily="34" charset="0"/>
                        </a:rPr>
                        <a:t>There should be more than one owner assigned to subscriptions</a:t>
                      </a:r>
                    </a:p>
                  </a:txBody>
                  <a:tcPr marL="19050" marR="19050" marT="19050" marB="91440" anchor="b">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462564">
                <a:tc>
                  <a:txBody>
                    <a:bodyPr/>
                    <a:lstStyle/>
                    <a:p>
                      <a:pPr algn="l" fontAlgn="b"/>
                      <a:r>
                        <a:rPr lang="en-GB" sz="2200" b="0" i="0" u="none" strike="noStrike">
                          <a:solidFill>
                            <a:srgbClr val="000000"/>
                          </a:solidFill>
                          <a:effectLst/>
                          <a:latin typeface="Aptos Narrow" panose="020B0004020202020204" pitchFamily="34" charset="0"/>
                        </a:rPr>
                        <a:t>FTPS should be required in function apps</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462564">
                <a:tc>
                  <a:txBody>
                    <a:bodyPr/>
                    <a:lstStyle/>
                    <a:p>
                      <a:pPr algn="l" fontAlgn="b"/>
                      <a:r>
                        <a:rPr lang="en-GB" sz="2200" b="0" i="0" u="none" strike="noStrike">
                          <a:solidFill>
                            <a:srgbClr val="000000"/>
                          </a:solidFill>
                          <a:effectLst/>
                          <a:latin typeface="Aptos Narrow" panose="020B0004020202020204" pitchFamily="34" charset="0"/>
                        </a:rPr>
                        <a:t>Secure transfer to storage accounts should be enabled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781050">
                <a:tc>
                  <a:txBody>
                    <a:bodyPr/>
                    <a:lstStyle/>
                    <a:p>
                      <a:pPr algn="l" fontAlgn="b"/>
                      <a:r>
                        <a:rPr lang="en-GB" sz="2200" b="0" i="0" u="none" strike="noStrike">
                          <a:solidFill>
                            <a:srgbClr val="000000"/>
                          </a:solidFill>
                          <a:effectLst/>
                          <a:latin typeface="Aptos Narrow" panose="020B0004020202020204" pitchFamily="34" charset="0"/>
                        </a:rPr>
                        <a:t>Disabled accounts with read and write permissions on Azure resources should be removed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781050">
                <a:tc>
                  <a:txBody>
                    <a:bodyPr/>
                    <a:lstStyle/>
                    <a:p>
                      <a:pPr algn="l" fontAlgn="b"/>
                      <a:r>
                        <a:rPr lang="en-GB" sz="2200" b="0" i="0" u="none" strike="noStrike">
                          <a:solidFill>
                            <a:srgbClr val="000000"/>
                          </a:solidFill>
                          <a:effectLst/>
                          <a:latin typeface="Aptos Narrow" panose="020B0004020202020204" pitchFamily="34" charset="0"/>
                        </a:rPr>
                        <a:t>Linux virtual machines should enable Azure Disk Encryption or EncryptionAtHost.</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011691"/>
                  </a:ext>
                </a:extLst>
              </a:tr>
              <a:tr h="781050">
                <a:tc>
                  <a:txBody>
                    <a:bodyPr/>
                    <a:lstStyle/>
                    <a:p>
                      <a:pPr algn="l" fontAlgn="b"/>
                      <a:r>
                        <a:rPr lang="en-GB" sz="2200" b="0" i="0" u="none" strike="noStrike">
                          <a:solidFill>
                            <a:srgbClr val="000000"/>
                          </a:solidFill>
                          <a:effectLst/>
                          <a:latin typeface="Aptos Narrow" panose="020B0004020202020204" pitchFamily="34" charset="0"/>
                        </a:rPr>
                        <a:t>Guest accounts with write permissions on Azure resources should be removed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46591851"/>
                  </a:ext>
                </a:extLst>
              </a:tr>
              <a:tr h="781050">
                <a:tc>
                  <a:txBody>
                    <a:bodyPr/>
                    <a:lstStyle/>
                    <a:p>
                      <a:pPr algn="l" fontAlgn="b"/>
                      <a:r>
                        <a:rPr lang="en-GB" sz="2200" b="0" i="0" u="none" strike="noStrike">
                          <a:solidFill>
                            <a:srgbClr val="000000"/>
                          </a:solidFill>
                          <a:effectLst/>
                          <a:latin typeface="Aptos Narrow" panose="020B0004020202020204" pitchFamily="34" charset="0"/>
                        </a:rPr>
                        <a:t>SQL servers should have an Azure Active Directory administrator provisioned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2706438"/>
                  </a:ext>
                </a:extLst>
              </a:tr>
              <a:tr h="810476">
                <a:tc>
                  <a:txBody>
                    <a:bodyPr/>
                    <a:lstStyle/>
                    <a:p>
                      <a:pPr algn="l" fontAlgn="b"/>
                      <a:r>
                        <a:rPr lang="en-GB" sz="2200" b="0" i="0" u="none" strike="noStrike">
                          <a:solidFill>
                            <a:srgbClr val="000000"/>
                          </a:solidFill>
                          <a:effectLst/>
                          <a:latin typeface="Aptos Narrow" panose="020B0004020202020204" pitchFamily="34" charset="0"/>
                        </a:rPr>
                        <a:t>Microsoft Defender CSPM should be enabled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462564">
                <a:tc>
                  <a:txBody>
                    <a:bodyPr/>
                    <a:lstStyle/>
                    <a:p>
                      <a:pPr algn="l" fontAlgn="b"/>
                      <a:r>
                        <a:rPr lang="en-GB" sz="2200" b="0" i="0" u="none" strike="noStrike">
                          <a:solidFill>
                            <a:srgbClr val="000000"/>
                          </a:solidFill>
                          <a:effectLst/>
                          <a:latin typeface="Aptos Narrow" panose="020B0004020202020204" pitchFamily="34" charset="0"/>
                        </a:rPr>
                        <a:t>Microsoft Defender for App Service should be enabled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3862741"/>
                  </a:ext>
                </a:extLst>
              </a:tr>
            </a:tbl>
          </a:graphicData>
        </a:graphic>
      </p:graphicFrame>
    </p:spTree>
    <p:extLst>
      <p:ext uri="{BB962C8B-B14F-4D97-AF65-F5344CB8AC3E}">
        <p14:creationId xmlns:p14="http://schemas.microsoft.com/office/powerpoint/2010/main" val="385882293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52D3AF-8104-AF12-173D-5FE25506C2D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131B30A2-21B3-9376-E237-229880649361}"/>
              </a:ext>
            </a:extLst>
          </p:cNvPr>
          <p:cNvSpPr>
            <a:spLocks noGrp="1"/>
          </p:cNvSpPr>
          <p:nvPr>
            <p:ph type="title"/>
          </p:nvPr>
        </p:nvSpPr>
        <p:spPr>
          <a:xfrm>
            <a:off x="668992" y="537178"/>
            <a:ext cx="22991108" cy="999313"/>
          </a:xfrm>
        </p:spPr>
        <p:txBody>
          <a:bodyPr/>
          <a:lstStyle/>
          <a:p>
            <a:pPr>
              <a:defRPr/>
            </a:pPr>
            <a:r>
              <a:rPr lang="en-US" sz="6400" err="1"/>
              <a:t>GoSupply</a:t>
            </a:r>
            <a:r>
              <a:rPr lang="en-US" sz="6400"/>
              <a:t> – Azure Advisor Review – Medium Severity Issues</a:t>
            </a:r>
            <a:endParaRPr lang="en-US" sz="6400">
              <a:highlight>
                <a:srgbClr val="FFFF00"/>
              </a:highlight>
              <a:latin typeface="Arial"/>
              <a:cs typeface="Arial"/>
            </a:endParaRPr>
          </a:p>
        </p:txBody>
      </p:sp>
      <p:sp>
        <p:nvSpPr>
          <p:cNvPr id="3" name="Slide Number Placeholder 2">
            <a:extLst>
              <a:ext uri="{FF2B5EF4-FFF2-40B4-BE49-F238E27FC236}">
                <a16:creationId xmlns:a16="http://schemas.microsoft.com/office/drawing/2014/main" id="{1248773E-339F-66ED-61E2-E9DB1C2897A2}"/>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82</a:t>
            </a:fld>
            <a:endParaRPr lang="en-US" sz="1400">
              <a:solidFill>
                <a:prstClr val="black"/>
              </a:solidFill>
              <a:latin typeface="Fira Sans" panose="020B0503050000020004" pitchFamily="34" charset="0"/>
            </a:endParaRPr>
          </a:p>
        </p:txBody>
      </p:sp>
      <p:graphicFrame>
        <p:nvGraphicFramePr>
          <p:cNvPr id="5" name="Table 4">
            <a:extLst>
              <a:ext uri="{FF2B5EF4-FFF2-40B4-BE49-F238E27FC236}">
                <a16:creationId xmlns:a16="http://schemas.microsoft.com/office/drawing/2014/main" id="{3E4FDD80-3002-2E45-3E88-673812FC6AED}"/>
              </a:ext>
            </a:extLst>
          </p:cNvPr>
          <p:cNvGraphicFramePr>
            <a:graphicFrameLocks noGrp="1"/>
          </p:cNvGraphicFramePr>
          <p:nvPr/>
        </p:nvGraphicFramePr>
        <p:xfrm>
          <a:off x="496138" y="2421724"/>
          <a:ext cx="10819564" cy="9485444"/>
        </p:xfrm>
        <a:graphic>
          <a:graphicData uri="http://schemas.openxmlformats.org/drawingml/2006/table">
            <a:tbl>
              <a:tblPr firstRow="1">
                <a:tableStyleId>{5C22544A-7EE6-4342-B048-85BDC9FD1C3A}</a:tableStyleId>
              </a:tblPr>
              <a:tblGrid>
                <a:gridCol w="7708558">
                  <a:extLst>
                    <a:ext uri="{9D8B030D-6E8A-4147-A177-3AD203B41FA5}">
                      <a16:colId xmlns:a16="http://schemas.microsoft.com/office/drawing/2014/main" val="1525111598"/>
                    </a:ext>
                  </a:extLst>
                </a:gridCol>
                <a:gridCol w="3111006">
                  <a:extLst>
                    <a:ext uri="{9D8B030D-6E8A-4147-A177-3AD203B41FA5}">
                      <a16:colId xmlns:a16="http://schemas.microsoft.com/office/drawing/2014/main" val="1887819977"/>
                    </a:ext>
                  </a:extLst>
                </a:gridCol>
              </a:tblGrid>
              <a:tr h="963930">
                <a:tc>
                  <a:txBody>
                    <a:bodyPr/>
                    <a:lstStyle/>
                    <a:p>
                      <a:pPr algn="ctr" fontAlgn="b"/>
                      <a:r>
                        <a:rPr lang="en-GB" sz="2800" b="0" i="0" u="none" strike="noStrike">
                          <a:solidFill>
                            <a:schemeClr val="bg2"/>
                          </a:solidFill>
                          <a:effectLst/>
                          <a:latin typeface="+mn-lt"/>
                        </a:rPr>
                        <a:t>Issue</a:t>
                      </a:r>
                    </a:p>
                  </a:txBody>
                  <a:tcPr marL="19050" marR="19050" marT="19050" marB="91440" anchor="b">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fontAlgn="b"/>
                      <a:r>
                        <a:rPr lang="en-GB" sz="2800" b="0" i="0" u="none" strike="noStrike">
                          <a:solidFill>
                            <a:schemeClr val="bg2"/>
                          </a:solidFill>
                          <a:effectLst/>
                          <a:latin typeface="+mn-lt"/>
                        </a:rPr>
                        <a:t>Affected Resources</a:t>
                      </a:r>
                    </a:p>
                  </a:txBody>
                  <a:tcPr marL="19050" marR="19050" marT="19050" marB="9144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462564">
                <a:tc>
                  <a:txBody>
                    <a:bodyPr/>
                    <a:lstStyle/>
                    <a:p>
                      <a:pPr algn="l" fontAlgn="b"/>
                      <a:r>
                        <a:rPr lang="en-GB" sz="2000" b="0" i="0" u="none" strike="noStrike">
                          <a:solidFill>
                            <a:srgbClr val="000000"/>
                          </a:solidFill>
                          <a:effectLst/>
                          <a:latin typeface="+mj-lt"/>
                        </a:rPr>
                        <a:t>Diagnostic logs in App Service should be enabled</a:t>
                      </a:r>
                    </a:p>
                  </a:txBody>
                  <a:tcPr marL="19050" marR="19050" marT="1905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109</a:t>
                      </a:r>
                    </a:p>
                  </a:txBody>
                  <a:tcPr marL="19050" marR="19050" marT="1905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462564">
                <a:tc>
                  <a:txBody>
                    <a:bodyPr/>
                    <a:lstStyle/>
                    <a:p>
                      <a:pPr algn="l" fontAlgn="b"/>
                      <a:r>
                        <a:rPr lang="en-GB" sz="2000" b="0" i="0" u="none" strike="noStrike">
                          <a:solidFill>
                            <a:srgbClr val="000000"/>
                          </a:solidFill>
                          <a:effectLst/>
                          <a:latin typeface="+mj-lt"/>
                        </a:rPr>
                        <a:t>Managed identity should be used in web apps</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103</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462564">
                <a:tc>
                  <a:txBody>
                    <a:bodyPr/>
                    <a:lstStyle/>
                    <a:p>
                      <a:pPr algn="l" fontAlgn="b"/>
                      <a:r>
                        <a:rPr lang="en-GB" sz="2000" b="0" i="0" u="none" strike="noStrike">
                          <a:solidFill>
                            <a:srgbClr val="000000"/>
                          </a:solidFill>
                          <a:effectLst/>
                          <a:latin typeface="+mj-lt"/>
                        </a:rPr>
                        <a:t>Web Application should only be accessible over HTTPS</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94</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720090">
                <a:tc>
                  <a:txBody>
                    <a:bodyPr/>
                    <a:lstStyle/>
                    <a:p>
                      <a:pPr algn="l" fontAlgn="b"/>
                      <a:r>
                        <a:rPr lang="en-GB" sz="2000" b="0" i="0" u="none" strike="noStrike">
                          <a:solidFill>
                            <a:srgbClr val="000000"/>
                          </a:solidFill>
                          <a:effectLst/>
                          <a:latin typeface="+mj-lt"/>
                        </a:rPr>
                        <a:t>Storage accounts should restrict network access using virtual network rules</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16</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462564">
                <a:tc>
                  <a:txBody>
                    <a:bodyPr/>
                    <a:lstStyle/>
                    <a:p>
                      <a:pPr algn="l" fontAlgn="b"/>
                      <a:r>
                        <a:rPr lang="en-GB" sz="2000" b="0" i="0" u="none" strike="noStrike">
                          <a:solidFill>
                            <a:srgbClr val="000000"/>
                          </a:solidFill>
                          <a:effectLst/>
                          <a:latin typeface="+mj-lt"/>
                        </a:rPr>
                        <a:t>Storage accounts should prevent shared key access</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16</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011691"/>
                  </a:ext>
                </a:extLst>
              </a:tr>
              <a:tr h="462564">
                <a:tc>
                  <a:txBody>
                    <a:bodyPr/>
                    <a:lstStyle/>
                    <a:p>
                      <a:pPr algn="l" fontAlgn="b"/>
                      <a:r>
                        <a:rPr lang="en-GB" sz="2000" b="0" i="0" u="none" strike="noStrike">
                          <a:solidFill>
                            <a:srgbClr val="000000"/>
                          </a:solidFill>
                          <a:effectLst/>
                          <a:latin typeface="+mj-lt"/>
                        </a:rPr>
                        <a:t>Storage account should use a private link connection</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16</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46591851"/>
                  </a:ext>
                </a:extLst>
              </a:tr>
              <a:tr h="462564">
                <a:tc>
                  <a:txBody>
                    <a:bodyPr/>
                    <a:lstStyle/>
                    <a:p>
                      <a:pPr algn="l" fontAlgn="b"/>
                      <a:r>
                        <a:rPr lang="en-GB" sz="2000" b="0" i="0" u="none" strike="noStrike">
                          <a:solidFill>
                            <a:srgbClr val="000000"/>
                          </a:solidFill>
                          <a:effectLst/>
                          <a:latin typeface="+mj-lt"/>
                        </a:rPr>
                        <a:t>Storage account public access should be disallowed</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14</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2706438"/>
                  </a:ext>
                </a:extLst>
              </a:tr>
              <a:tr h="810476">
                <a:tc>
                  <a:txBody>
                    <a:bodyPr/>
                    <a:lstStyle/>
                    <a:p>
                      <a:pPr algn="l" fontAlgn="b"/>
                      <a:r>
                        <a:rPr lang="en-GB" sz="2000" b="0" i="0" u="none" strike="noStrike">
                          <a:solidFill>
                            <a:srgbClr val="000000"/>
                          </a:solidFill>
                          <a:effectLst/>
                          <a:latin typeface="+mj-lt"/>
                        </a:rPr>
                        <a:t>Virtual machines and virtual machine scale sets should have encryption at host enabled</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7</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462564">
                <a:tc>
                  <a:txBody>
                    <a:bodyPr/>
                    <a:lstStyle/>
                    <a:p>
                      <a:pPr algn="l" fontAlgn="b"/>
                      <a:r>
                        <a:rPr lang="en-GB" sz="2000" b="0" i="0" u="none" strike="noStrike">
                          <a:solidFill>
                            <a:srgbClr val="000000"/>
                          </a:solidFill>
                          <a:effectLst/>
                          <a:latin typeface="+mj-lt"/>
                        </a:rPr>
                        <a:t>Guest Configuration extension should be installed on machines</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7</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3862741"/>
                  </a:ext>
                </a:extLst>
              </a:tr>
              <a:tr h="462564">
                <a:tc>
                  <a:txBody>
                    <a:bodyPr/>
                    <a:lstStyle/>
                    <a:p>
                      <a:pPr algn="l" fontAlgn="b"/>
                      <a:r>
                        <a:rPr lang="en-GB" sz="2000" b="0" i="0" u="none" strike="noStrike">
                          <a:solidFill>
                            <a:srgbClr val="000000"/>
                          </a:solidFill>
                          <a:effectLst/>
                          <a:latin typeface="+mj-lt"/>
                        </a:rPr>
                        <a:t>Public network access on Azure SQL Database should be disabled</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2</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87336140"/>
                  </a:ext>
                </a:extLst>
              </a:tr>
              <a:tr h="720090">
                <a:tc>
                  <a:txBody>
                    <a:bodyPr/>
                    <a:lstStyle/>
                    <a:p>
                      <a:pPr algn="l" fontAlgn="b"/>
                      <a:r>
                        <a:rPr lang="en-GB" sz="2000" b="0" i="0" u="none" strike="noStrike">
                          <a:solidFill>
                            <a:srgbClr val="000000"/>
                          </a:solidFill>
                          <a:effectLst/>
                          <a:latin typeface="+mj-lt"/>
                        </a:rPr>
                        <a:t>Function apps should have Client Certificates (Incoming client certificates) enabled</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2</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8471650"/>
                  </a:ext>
                </a:extLst>
              </a:tr>
              <a:tr h="462564">
                <a:tc>
                  <a:txBody>
                    <a:bodyPr/>
                    <a:lstStyle/>
                    <a:p>
                      <a:pPr algn="l" fontAlgn="b"/>
                      <a:r>
                        <a:rPr lang="en-GB" sz="2000" b="0" i="0" u="none" strike="noStrike">
                          <a:solidFill>
                            <a:srgbClr val="000000"/>
                          </a:solidFill>
                          <a:effectLst/>
                          <a:latin typeface="+mj-lt"/>
                        </a:rPr>
                        <a:t>Azure DDoS Protection Standard should be enabled</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2</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19872069"/>
                  </a:ext>
                </a:extLst>
              </a:tr>
              <a:tr h="462564">
                <a:tc>
                  <a:txBody>
                    <a:bodyPr/>
                    <a:lstStyle/>
                    <a:p>
                      <a:pPr algn="l" fontAlgn="b"/>
                      <a:r>
                        <a:rPr lang="en-GB" sz="2000" b="0" i="0" u="none" strike="noStrike">
                          <a:solidFill>
                            <a:srgbClr val="000000"/>
                          </a:solidFill>
                          <a:effectLst/>
                          <a:latin typeface="+mj-lt"/>
                        </a:rPr>
                        <a:t>Key vaults should have purge protection enabled</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2</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99296458"/>
                  </a:ext>
                </a:extLst>
              </a:tr>
              <a:tr h="462564">
                <a:tc>
                  <a:txBody>
                    <a:bodyPr/>
                    <a:lstStyle/>
                    <a:p>
                      <a:pPr algn="l" fontAlgn="b"/>
                      <a:r>
                        <a:rPr lang="en-GB" sz="2000" b="0" i="0" u="none" strike="noStrike">
                          <a:solidFill>
                            <a:srgbClr val="000000"/>
                          </a:solidFill>
                          <a:effectLst/>
                          <a:latin typeface="+mj-lt"/>
                        </a:rPr>
                        <a:t>Firewall should be enabled on Key Vault</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2</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3311626"/>
                  </a:ext>
                </a:extLst>
              </a:tr>
              <a:tr h="720090">
                <a:tc>
                  <a:txBody>
                    <a:bodyPr/>
                    <a:lstStyle/>
                    <a:p>
                      <a:pPr algn="l" fontAlgn="b"/>
                      <a:r>
                        <a:rPr lang="en-GB" sz="2000" b="0" i="0" u="none" strike="noStrike">
                          <a:solidFill>
                            <a:srgbClr val="000000"/>
                          </a:solidFill>
                          <a:effectLst/>
                          <a:latin typeface="+mj-lt"/>
                        </a:rPr>
                        <a:t>Azure SQL Database should have Azure Active Directory Only Authentication enabled</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2</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5142683"/>
                  </a:ext>
                </a:extLst>
              </a:tr>
              <a:tr h="462564">
                <a:tc>
                  <a:txBody>
                    <a:bodyPr/>
                    <a:lstStyle/>
                    <a:p>
                      <a:pPr algn="l" fontAlgn="b"/>
                      <a:r>
                        <a:rPr lang="en-GB" sz="2000" b="0" i="0" u="none" strike="noStrike">
                          <a:solidFill>
                            <a:srgbClr val="000000"/>
                          </a:solidFill>
                          <a:effectLst/>
                          <a:latin typeface="+mj-lt"/>
                        </a:rPr>
                        <a:t>Azure Key Vaults should use private link</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en-GB" sz="2000" b="0" i="0" u="none" strike="noStrike">
                          <a:solidFill>
                            <a:srgbClr val="000000"/>
                          </a:solidFill>
                          <a:effectLst/>
                          <a:latin typeface="+mj-lt"/>
                        </a:rPr>
                        <a:t>2</a:t>
                      </a:r>
                    </a:p>
                  </a:txBody>
                  <a:tcPr marL="19050" marR="19050" marT="1905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89138875"/>
                  </a:ext>
                </a:extLst>
              </a:tr>
            </a:tbl>
          </a:graphicData>
        </a:graphic>
      </p:graphicFrame>
      <p:graphicFrame>
        <p:nvGraphicFramePr>
          <p:cNvPr id="6" name="Table 5">
            <a:extLst>
              <a:ext uri="{FF2B5EF4-FFF2-40B4-BE49-F238E27FC236}">
                <a16:creationId xmlns:a16="http://schemas.microsoft.com/office/drawing/2014/main" id="{9CC22D95-A04E-45B0-EE36-3E08BFC220BC}"/>
              </a:ext>
            </a:extLst>
          </p:cNvPr>
          <p:cNvGraphicFramePr>
            <a:graphicFrameLocks noGrp="1"/>
          </p:cNvGraphicFramePr>
          <p:nvPr/>
        </p:nvGraphicFramePr>
        <p:xfrm>
          <a:off x="12164546" y="2421724"/>
          <a:ext cx="10819564" cy="7355504"/>
        </p:xfrm>
        <a:graphic>
          <a:graphicData uri="http://schemas.openxmlformats.org/drawingml/2006/table">
            <a:tbl>
              <a:tblPr firstRow="1">
                <a:tableStyleId>{5C22544A-7EE6-4342-B048-85BDC9FD1C3A}</a:tableStyleId>
              </a:tblPr>
              <a:tblGrid>
                <a:gridCol w="7708558">
                  <a:extLst>
                    <a:ext uri="{9D8B030D-6E8A-4147-A177-3AD203B41FA5}">
                      <a16:colId xmlns:a16="http://schemas.microsoft.com/office/drawing/2014/main" val="1525111598"/>
                    </a:ext>
                  </a:extLst>
                </a:gridCol>
                <a:gridCol w="3111006">
                  <a:extLst>
                    <a:ext uri="{9D8B030D-6E8A-4147-A177-3AD203B41FA5}">
                      <a16:colId xmlns:a16="http://schemas.microsoft.com/office/drawing/2014/main" val="1887819977"/>
                    </a:ext>
                  </a:extLst>
                </a:gridCol>
              </a:tblGrid>
              <a:tr h="963930">
                <a:tc>
                  <a:txBody>
                    <a:bodyPr/>
                    <a:lstStyle/>
                    <a:p>
                      <a:pPr algn="ctr" fontAlgn="b"/>
                      <a:r>
                        <a:rPr lang="en-GB" sz="2800" b="0" i="0" u="none" strike="noStrike">
                          <a:solidFill>
                            <a:schemeClr val="bg2"/>
                          </a:solidFill>
                          <a:effectLst/>
                          <a:latin typeface="+mn-lt"/>
                        </a:rPr>
                        <a:t>Issue</a:t>
                      </a:r>
                    </a:p>
                  </a:txBody>
                  <a:tcPr marL="19050" marR="19050" marT="19050" marB="91440" anchor="b">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fontAlgn="b"/>
                      <a:r>
                        <a:rPr lang="en-GB" sz="2800" b="0" i="0" u="none" strike="noStrike">
                          <a:solidFill>
                            <a:schemeClr val="bg2"/>
                          </a:solidFill>
                          <a:effectLst/>
                          <a:latin typeface="+mn-lt"/>
                        </a:rPr>
                        <a:t>Affected Resources</a:t>
                      </a:r>
                    </a:p>
                  </a:txBody>
                  <a:tcPr marL="19050" marR="19050" marT="19050" marB="9144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462564">
                <a:tc>
                  <a:txBody>
                    <a:bodyPr/>
                    <a:lstStyle/>
                    <a:p>
                      <a:pPr algn="l" fontAlgn="b"/>
                      <a:r>
                        <a:rPr lang="en-GB" sz="2200" b="0" i="0" u="none" strike="noStrike">
                          <a:solidFill>
                            <a:srgbClr val="000000"/>
                          </a:solidFill>
                          <a:effectLst/>
                          <a:latin typeface="Aptos Narrow" panose="020B0004020202020204" pitchFamily="34" charset="0"/>
                        </a:rPr>
                        <a:t>Managed identity should be used in function apps</a:t>
                      </a:r>
                    </a:p>
                  </a:txBody>
                  <a:tcPr marL="19050" marR="19050" marT="19050" marB="91440" anchor="b">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2</a:t>
                      </a:r>
                    </a:p>
                  </a:txBody>
                  <a:tcPr marL="19050" marR="19050" marT="19050" marB="91440" anchor="b">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462564">
                <a:tc>
                  <a:txBody>
                    <a:bodyPr/>
                    <a:lstStyle/>
                    <a:p>
                      <a:pPr algn="l" fontAlgn="b"/>
                      <a:r>
                        <a:rPr lang="en-GB" sz="2200" b="0" i="0" u="none" strike="noStrike">
                          <a:solidFill>
                            <a:srgbClr val="000000"/>
                          </a:solidFill>
                          <a:effectLst/>
                          <a:latin typeface="Aptos Narrow" panose="020B0004020202020204" pitchFamily="34" charset="0"/>
                        </a:rPr>
                        <a:t>Azure Cosmos DB accounts should have firewall rules</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462564">
                <a:tc>
                  <a:txBody>
                    <a:bodyPr/>
                    <a:lstStyle/>
                    <a:p>
                      <a:pPr algn="l" fontAlgn="b"/>
                      <a:r>
                        <a:rPr lang="en-GB" sz="2200" b="0" i="0" u="none" strike="noStrike">
                          <a:solidFill>
                            <a:srgbClr val="000000"/>
                          </a:solidFill>
                          <a:effectLst/>
                          <a:latin typeface="Aptos Narrow" panose="020B0004020202020204" pitchFamily="34" charset="0"/>
                        </a:rPr>
                        <a:t>CosmosDB accounts should use private link</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781050">
                <a:tc>
                  <a:txBody>
                    <a:bodyPr/>
                    <a:lstStyle/>
                    <a:p>
                      <a:pPr algn="l" fontAlgn="b"/>
                      <a:r>
                        <a:rPr lang="en-GB" sz="2200" b="0" i="0" u="none" strike="noStrike">
                          <a:solidFill>
                            <a:srgbClr val="000000"/>
                          </a:solidFill>
                          <a:effectLst/>
                          <a:latin typeface="Aptos Narrow" panose="020B0004020202020204" pitchFamily="34" charset="0"/>
                        </a:rPr>
                        <a:t>Azure AI Services resources should have key access disabled (disable local authentication)</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462564">
                <a:tc>
                  <a:txBody>
                    <a:bodyPr/>
                    <a:lstStyle/>
                    <a:p>
                      <a:pPr algn="l" fontAlgn="b"/>
                      <a:r>
                        <a:rPr lang="en-GB" sz="2200" b="0" i="0" u="none" strike="noStrike">
                          <a:solidFill>
                            <a:srgbClr val="000000"/>
                          </a:solidFill>
                          <a:effectLst/>
                          <a:latin typeface="Aptos Narrow" panose="020B0004020202020204" pitchFamily="34" charset="0"/>
                        </a:rPr>
                        <a:t>Machines should have a vulnerability assessment solution</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011691"/>
                  </a:ext>
                </a:extLst>
              </a:tr>
              <a:tr h="781050">
                <a:tc>
                  <a:txBody>
                    <a:bodyPr/>
                    <a:lstStyle/>
                    <a:p>
                      <a:pPr algn="l" fontAlgn="b"/>
                      <a:r>
                        <a:rPr lang="en-GB" sz="2200" b="0" i="0" u="none" strike="noStrike">
                          <a:solidFill>
                            <a:srgbClr val="000000"/>
                          </a:solidFill>
                          <a:effectLst/>
                          <a:latin typeface="Aptos Narrow" panose="020B0004020202020204" pitchFamily="34" charset="0"/>
                        </a:rPr>
                        <a:t>VPN gateways should use only Azure Active Directory (Azure AD) authentication for point-to-site users</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46591851"/>
                  </a:ext>
                </a:extLst>
              </a:tr>
              <a:tr h="462564">
                <a:tc>
                  <a:txBody>
                    <a:bodyPr/>
                    <a:lstStyle/>
                    <a:p>
                      <a:pPr algn="l" fontAlgn="b"/>
                      <a:r>
                        <a:rPr lang="en-GB" sz="2200" b="0" i="0" u="none" strike="noStrike">
                          <a:solidFill>
                            <a:srgbClr val="000000"/>
                          </a:solidFill>
                          <a:effectLst/>
                          <a:latin typeface="Aptos Narrow" panose="020B0004020202020204" pitchFamily="34" charset="0"/>
                        </a:rPr>
                        <a:t>Azure AI Services resources should use Azure Private Link</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2706438"/>
                  </a:ext>
                </a:extLst>
              </a:tr>
              <a:tr h="810476">
                <a:tc>
                  <a:txBody>
                    <a:bodyPr/>
                    <a:lstStyle/>
                    <a:p>
                      <a:pPr algn="l" fontAlgn="b"/>
                      <a:r>
                        <a:rPr lang="en-GB" sz="2200" b="0" i="0" u="none" strike="noStrike">
                          <a:solidFill>
                            <a:srgbClr val="000000"/>
                          </a:solidFill>
                          <a:effectLst/>
                          <a:latin typeface="Aptos Narrow" panose="020B0004020202020204" pitchFamily="34" charset="0"/>
                        </a:rPr>
                        <a:t>Azure AI Services resources should restrict network access</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940314"/>
                  </a:ext>
                </a:extLst>
              </a:tr>
              <a:tr h="462564">
                <a:tc>
                  <a:txBody>
                    <a:bodyPr/>
                    <a:lstStyle/>
                    <a:p>
                      <a:pPr algn="l" fontAlgn="b"/>
                      <a:r>
                        <a:rPr lang="en-GB" sz="2200" b="0" i="0" u="none" strike="noStrike">
                          <a:solidFill>
                            <a:srgbClr val="000000"/>
                          </a:solidFill>
                          <a:effectLst/>
                          <a:latin typeface="Aptos Narrow" panose="020B0004020202020204" pitchFamily="34" charset="0"/>
                        </a:rPr>
                        <a:t>Function App should only be accessible over HTTPS</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3862741"/>
                  </a:ext>
                </a:extLst>
              </a:tr>
              <a:tr h="781050">
                <a:tc>
                  <a:txBody>
                    <a:bodyPr/>
                    <a:lstStyle/>
                    <a:p>
                      <a:pPr algn="l" fontAlgn="b"/>
                      <a:r>
                        <a:rPr lang="en-GB" sz="2200" b="0" i="0" u="none" strike="noStrike">
                          <a:solidFill>
                            <a:srgbClr val="000000"/>
                          </a:solidFill>
                          <a:effectLst/>
                          <a:latin typeface="Aptos Narrow" panose="020B0004020202020204" pitchFamily="34" charset="0"/>
                        </a:rPr>
                        <a:t>Private endpoint connections on Azure SQL Database should be enabled</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87336140"/>
                  </a:ext>
                </a:extLst>
              </a:tr>
              <a:tr h="462564">
                <a:tc>
                  <a:txBody>
                    <a:bodyPr/>
                    <a:lstStyle/>
                    <a:p>
                      <a:pPr algn="l" fontAlgn="b"/>
                      <a:r>
                        <a:rPr lang="en-GB" sz="2200" b="0" i="0" u="none" strike="noStrike">
                          <a:solidFill>
                            <a:srgbClr val="000000"/>
                          </a:solidFill>
                          <a:effectLst/>
                          <a:latin typeface="Aptos Narrow" panose="020B0004020202020204" pitchFamily="34" charset="0"/>
                        </a:rPr>
                        <a:t>Azure Cosmos DB should disable public network access</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r>
                        <a:rPr lang="en-GB" sz="2200" b="0" i="0" u="none" strike="noStrike">
                          <a:solidFill>
                            <a:srgbClr val="000000"/>
                          </a:solidFill>
                          <a:effectLst/>
                          <a:latin typeface="Aptos Narrow" panose="020B0004020202020204" pitchFamily="34" charset="0"/>
                        </a:rPr>
                        <a:t>1</a:t>
                      </a:r>
                    </a:p>
                  </a:txBody>
                  <a:tcPr marL="19050" marR="19050" marT="19050" marB="91440" anchor="b">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08471650"/>
                  </a:ext>
                </a:extLst>
              </a:tr>
            </a:tbl>
          </a:graphicData>
        </a:graphic>
      </p:graphicFrame>
    </p:spTree>
    <p:extLst>
      <p:ext uri="{BB962C8B-B14F-4D97-AF65-F5344CB8AC3E}">
        <p14:creationId xmlns:p14="http://schemas.microsoft.com/office/powerpoint/2010/main" val="232802564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931FFE-CC3B-7A77-6A9B-58EB8405F808}"/>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6495ABD5-C784-4F03-F0F1-2F492B4BA812}"/>
              </a:ext>
            </a:extLst>
          </p:cNvPr>
          <p:cNvSpPr>
            <a:spLocks noGrp="1"/>
          </p:cNvSpPr>
          <p:nvPr>
            <p:ph type="title"/>
          </p:nvPr>
        </p:nvSpPr>
        <p:spPr>
          <a:xfrm>
            <a:off x="668992" y="537178"/>
            <a:ext cx="22991108" cy="999313"/>
          </a:xfrm>
        </p:spPr>
        <p:txBody>
          <a:bodyPr/>
          <a:lstStyle/>
          <a:p>
            <a:pPr>
              <a:defRPr/>
            </a:pPr>
            <a:r>
              <a:rPr lang="en-US" sz="6400"/>
              <a:t>Security assessment recommendations</a:t>
            </a:r>
            <a:endParaRPr lang="en-US" sz="6400">
              <a:highlight>
                <a:srgbClr val="FFFF00"/>
              </a:highlight>
              <a:latin typeface="Arial"/>
              <a:cs typeface="Arial"/>
            </a:endParaRPr>
          </a:p>
        </p:txBody>
      </p:sp>
      <p:sp>
        <p:nvSpPr>
          <p:cNvPr id="2" name="Rectangle 1">
            <a:extLst>
              <a:ext uri="{FF2B5EF4-FFF2-40B4-BE49-F238E27FC236}">
                <a16:creationId xmlns:a16="http://schemas.microsoft.com/office/drawing/2014/main" id="{637C058F-BAC5-02D8-7DCA-93DEC1960537}"/>
              </a:ext>
            </a:extLst>
          </p:cNvPr>
          <p:cNvSpPr/>
          <p:nvPr/>
        </p:nvSpPr>
        <p:spPr>
          <a:xfrm>
            <a:off x="668992" y="2587402"/>
            <a:ext cx="22740136" cy="9276386"/>
          </a:xfrm>
          <a:prstGeom prst="rect">
            <a:avLst/>
          </a:prstGeom>
        </p:spPr>
        <p:txBody>
          <a:bodyPr wrap="square" lIns="182880" tIns="91440" rIns="182880" bIns="91440" anchor="t">
            <a:spAutoFit/>
          </a:bodyPr>
          <a:lstStyle/>
          <a:p>
            <a:pPr marL="571500" lvl="1" indent="-571500" defTabSz="1828800">
              <a:spcBef>
                <a:spcPct val="30000"/>
              </a:spcBef>
              <a:buClr>
                <a:srgbClr val="EB0000"/>
              </a:buClr>
              <a:buFont typeface="Arial" panose="020B0604020202020204" pitchFamily="34" charset="0"/>
              <a:buChar char="•"/>
            </a:pPr>
            <a:r>
              <a:rPr lang="en-US" sz="2800">
                <a:latin typeface="Arial"/>
              </a:rPr>
              <a:t>Both AWS and Azure have the security native features and tooling to satisfy Achilles security needs. Cloud security baseline implementation should enable native tooling for infrastructure &amp; network protection, Data protection/encryption, credential and secret management, Threat detection and response, Logging and monitoring.   </a:t>
            </a:r>
            <a:endParaRPr lang="en-US" sz="28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2800">
                <a:latin typeface="Arial"/>
              </a:rPr>
              <a:t>Adopt cloud-first approach in security framework, regulation, compliance and governance enforcement. Use current policies to built and implement the cloud controls to satisfy compliance requirements. </a:t>
            </a:r>
            <a:endParaRPr lang="en-US" sz="28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2800">
                <a:latin typeface="Arial"/>
              </a:rPr>
              <a:t>Focus on continued improvement and evolution with same or similar security with cloud native tooling functionality. Use cloud provider features where possible such as encryption, secret management, network segmenting, backup/DR and extend rest of security capabilities via current tooling.  </a:t>
            </a:r>
            <a:endParaRPr lang="en-US" sz="28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2800">
                <a:latin typeface="Arial"/>
              </a:rPr>
              <a:t>Design environments around the idea of "Blast radius". The blast radius concept involves designing your cloud security model in such a way that it limits the damage any one issue could cause. This is mainly achieved by isolating workloads in subscriptions/accounts so that the variety of workloads. </a:t>
            </a:r>
            <a:r>
              <a:rPr lang="en-US" sz="2800">
                <a:solidFill>
                  <a:prstClr val="white"/>
                </a:solidFill>
                <a:latin typeface="Arial"/>
              </a:rPr>
              <a:t>allowed </a:t>
            </a:r>
          </a:p>
          <a:p>
            <a:pPr marL="571500" lvl="1" indent="-571500" defTabSz="1828800">
              <a:spcBef>
                <a:spcPct val="30000"/>
              </a:spcBef>
              <a:buClr>
                <a:srgbClr val="EB0000"/>
              </a:buClr>
              <a:buFont typeface="Arial" panose="020B0604020202020204" pitchFamily="34" charset="0"/>
              <a:buChar char="•"/>
            </a:pPr>
            <a:r>
              <a:rPr lang="en-US" sz="2800">
                <a:latin typeface="Arial"/>
              </a:rPr>
              <a:t>Adopt a policy as code approach that includes for each policy or approved use case. This code-based approach can simplify audit and provide a set of comprehensive guardrails that can in most cases stop an issue before it is deployed.</a:t>
            </a:r>
          </a:p>
          <a:p>
            <a:pPr marL="571500" lvl="1" indent="-571500" defTabSz="1828800">
              <a:spcBef>
                <a:spcPct val="30000"/>
              </a:spcBef>
              <a:buClr>
                <a:srgbClr val="EB0000"/>
              </a:buClr>
              <a:buFont typeface="Arial" panose="020B0604020202020204" pitchFamily="34" charset="0"/>
              <a:buChar char="•"/>
            </a:pPr>
            <a:r>
              <a:rPr lang="en-US" sz="2800">
                <a:latin typeface="Arial"/>
              </a:rPr>
              <a:t>Utilize required cloud foundational security services to protect infrastructure and platform layers and implement critical boundary defense cloud services (DDOS Protection, Firewall, IPS &amp; WAF).</a:t>
            </a:r>
            <a:endParaRPr lang="en-US" sz="28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2800">
                <a:latin typeface="Arial"/>
              </a:rPr>
              <a:t>Implement a full Data Protection and data lifecycle management in the cloud.  </a:t>
            </a:r>
            <a:endParaRPr lang="en-US" sz="2800">
              <a:latin typeface="Arial"/>
              <a:cs typeface="Arial"/>
            </a:endParaRPr>
          </a:p>
          <a:p>
            <a:pPr marL="571500" lvl="1" indent="-571500" defTabSz="1828800">
              <a:spcBef>
                <a:spcPct val="30000"/>
              </a:spcBef>
              <a:buClr>
                <a:srgbClr val="EB0000"/>
              </a:buClr>
              <a:buFont typeface="Arial" panose="020B0604020202020204" pitchFamily="34" charset="0"/>
              <a:buChar char="•"/>
            </a:pPr>
            <a:r>
              <a:rPr lang="en-US" sz="2800">
                <a:latin typeface="Arial"/>
              </a:rPr>
              <a:t>Review the current Policies &amp; Procedure and align them to the cloud environment. Create Cloud specific policies and implement the controls out of the policies. For example, Create the Data Protection cloud specific policy that covers, encryptions management, Key management, Data archival requirements. Implement specific controls/features in the cloud to help enforce it.   </a:t>
            </a:r>
            <a:endParaRPr lang="en-US" sz="1600"/>
          </a:p>
        </p:txBody>
      </p:sp>
      <p:sp>
        <p:nvSpPr>
          <p:cNvPr id="3" name="Slide Number Placeholder 2">
            <a:extLst>
              <a:ext uri="{FF2B5EF4-FFF2-40B4-BE49-F238E27FC236}">
                <a16:creationId xmlns:a16="http://schemas.microsoft.com/office/drawing/2014/main" id="{A3090864-1B11-CFC7-6BF7-3D6C3168DAC8}"/>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83</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116261039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931FFE-CC3B-7A77-6A9B-58EB8405F808}"/>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6495ABD5-C784-4F03-F0F1-2F492B4BA812}"/>
              </a:ext>
            </a:extLst>
          </p:cNvPr>
          <p:cNvSpPr>
            <a:spLocks noGrp="1"/>
          </p:cNvSpPr>
          <p:nvPr>
            <p:ph type="title"/>
          </p:nvPr>
        </p:nvSpPr>
        <p:spPr>
          <a:xfrm>
            <a:off x="668992" y="537178"/>
            <a:ext cx="22991108" cy="999313"/>
          </a:xfrm>
        </p:spPr>
        <p:txBody>
          <a:bodyPr/>
          <a:lstStyle/>
          <a:p>
            <a:pPr>
              <a:defRPr/>
            </a:pPr>
            <a:r>
              <a:rPr lang="en-US" sz="6400"/>
              <a:t>Cloud-native services available for Future State              </a:t>
            </a:r>
            <a:endParaRPr lang="en-US" sz="6400">
              <a:highlight>
                <a:srgbClr val="FFFF00"/>
              </a:highlight>
              <a:latin typeface="Arial"/>
              <a:cs typeface="Arial"/>
            </a:endParaRPr>
          </a:p>
        </p:txBody>
      </p:sp>
      <p:sp>
        <p:nvSpPr>
          <p:cNvPr id="2" name="Rectangle 1">
            <a:extLst>
              <a:ext uri="{FF2B5EF4-FFF2-40B4-BE49-F238E27FC236}">
                <a16:creationId xmlns:a16="http://schemas.microsoft.com/office/drawing/2014/main" id="{637C058F-BAC5-02D8-7DCA-93DEC1960537}"/>
              </a:ext>
            </a:extLst>
          </p:cNvPr>
          <p:cNvSpPr/>
          <p:nvPr/>
        </p:nvSpPr>
        <p:spPr>
          <a:xfrm>
            <a:off x="460252" y="2523959"/>
            <a:ext cx="22740136" cy="2154436"/>
          </a:xfrm>
          <a:prstGeom prst="rect">
            <a:avLst/>
          </a:prstGeom>
        </p:spPr>
        <p:txBody>
          <a:bodyPr wrap="square" lIns="182880" tIns="91440" rIns="182880" bIns="91440" anchor="t">
            <a:spAutoFit/>
          </a:bodyPr>
          <a:lstStyle/>
          <a:p>
            <a:pPr marL="0" lvl="1" defTabSz="1828800">
              <a:spcBef>
                <a:spcPct val="30000"/>
              </a:spcBef>
              <a:buClr>
                <a:srgbClr val="EB0000"/>
              </a:buClr>
            </a:pPr>
            <a:r>
              <a:rPr lang="en-US" sz="3200">
                <a:solidFill>
                  <a:srgbClr val="000000"/>
                </a:solidFill>
                <a:latin typeface="Arial"/>
              </a:rPr>
              <a:t>Here is the list of end-to-end security services and tooling available for AWS and Azure. These services will be utilized, as applicable and per use cases, as part of the landing zone implementation. Such as AWS </a:t>
            </a:r>
            <a:r>
              <a:rPr lang="en-US" sz="3200" err="1">
                <a:solidFill>
                  <a:srgbClr val="000000"/>
                </a:solidFill>
                <a:latin typeface="Arial"/>
              </a:rPr>
              <a:t>GuardDuty</a:t>
            </a:r>
            <a:r>
              <a:rPr lang="en-US" sz="3200">
                <a:solidFill>
                  <a:srgbClr val="000000"/>
                </a:solidFill>
                <a:latin typeface="Arial"/>
              </a:rPr>
              <a:t>, Shield, Security Hub, Inspector, Macie and Microsoft Defender products, Microsoft Sentinel, Purview, encryption. </a:t>
            </a:r>
            <a:r>
              <a:rPr lang="en-US" sz="3200">
                <a:solidFill>
                  <a:prstClr val="white"/>
                </a:solidFill>
                <a:latin typeface="Arial"/>
              </a:rPr>
              <a:t>requirements. Implement specific controls/features in the cloud to help enforce it.   </a:t>
            </a:r>
            <a:endParaRPr lang="en-US" sz="3600">
              <a:solidFill>
                <a:prstClr val="white"/>
              </a:solidFill>
              <a:cs typeface="Arial"/>
            </a:endParaRPr>
          </a:p>
        </p:txBody>
      </p:sp>
      <p:pic>
        <p:nvPicPr>
          <p:cNvPr id="3" name="Picture 2" descr="A screenshot of a computer&#10;&#10;Description automatically generated">
            <a:extLst>
              <a:ext uri="{FF2B5EF4-FFF2-40B4-BE49-F238E27FC236}">
                <a16:creationId xmlns:a16="http://schemas.microsoft.com/office/drawing/2014/main" id="{7183AAC6-C251-138F-6AD2-8498299B6B5F}"/>
              </a:ext>
            </a:extLst>
          </p:cNvPr>
          <p:cNvPicPr>
            <a:picLocks noChangeAspect="1"/>
          </p:cNvPicPr>
          <p:nvPr/>
        </p:nvPicPr>
        <p:blipFill>
          <a:blip r:embed="rId3"/>
          <a:stretch>
            <a:fillRect/>
          </a:stretch>
        </p:blipFill>
        <p:spPr>
          <a:xfrm>
            <a:off x="671886" y="4262712"/>
            <a:ext cx="12192000" cy="6909824"/>
          </a:xfrm>
          <a:prstGeom prst="rect">
            <a:avLst/>
          </a:prstGeom>
        </p:spPr>
      </p:pic>
      <p:pic>
        <p:nvPicPr>
          <p:cNvPr id="5" name="Picture 4" descr="A screenshot of a computer screen&#10;&#10;Description automatically generated">
            <a:extLst>
              <a:ext uri="{FF2B5EF4-FFF2-40B4-BE49-F238E27FC236}">
                <a16:creationId xmlns:a16="http://schemas.microsoft.com/office/drawing/2014/main" id="{1643CF55-0743-E837-E19C-E5D3D07EC34B}"/>
              </a:ext>
            </a:extLst>
          </p:cNvPr>
          <p:cNvPicPr>
            <a:picLocks noChangeAspect="1"/>
          </p:cNvPicPr>
          <p:nvPr/>
        </p:nvPicPr>
        <p:blipFill>
          <a:blip r:embed="rId4"/>
          <a:stretch>
            <a:fillRect/>
          </a:stretch>
        </p:blipFill>
        <p:spPr>
          <a:xfrm>
            <a:off x="13923872" y="4266204"/>
            <a:ext cx="9032624" cy="6920992"/>
          </a:xfrm>
          <a:prstGeom prst="rect">
            <a:avLst/>
          </a:prstGeom>
        </p:spPr>
      </p:pic>
      <p:sp>
        <p:nvSpPr>
          <p:cNvPr id="6" name="TextBox 5">
            <a:extLst>
              <a:ext uri="{FF2B5EF4-FFF2-40B4-BE49-F238E27FC236}">
                <a16:creationId xmlns:a16="http://schemas.microsoft.com/office/drawing/2014/main" id="{C21D7623-D62F-A24F-459E-D3B6A6F8382D}"/>
              </a:ext>
            </a:extLst>
          </p:cNvPr>
          <p:cNvSpPr txBox="1"/>
          <p:nvPr/>
        </p:nvSpPr>
        <p:spPr>
          <a:xfrm>
            <a:off x="668993" y="11621604"/>
            <a:ext cx="22769442" cy="677108"/>
          </a:xfrm>
          <a:prstGeom prst="rect">
            <a:avLst/>
          </a:prstGeom>
          <a:noFill/>
        </p:spPr>
        <p:txBody>
          <a:bodyPr rot="0" spcFirstLastPara="0" vertOverflow="overflow" horzOverflow="overflow" vert="horz" wrap="square" lIns="182880" tIns="91440" rIns="182880" bIns="91440" numCol="1" spcCol="0" rtlCol="0" fromWordArt="0" anchor="t" anchorCtr="0" forceAA="0" compatLnSpc="1">
            <a:prstTxWarp prst="textNoShape">
              <a:avLst/>
            </a:prstTxWarp>
            <a:spAutoFit/>
          </a:bodyPr>
          <a:lstStyle/>
          <a:p>
            <a:r>
              <a:rPr lang="en-US" sz="3200">
                <a:cs typeface="Arial"/>
              </a:rPr>
              <a:t>Additionally, compliance stack for ISO, PCI and the Cloud provider best practices can be enabled.</a:t>
            </a:r>
          </a:p>
        </p:txBody>
      </p:sp>
      <p:sp>
        <p:nvSpPr>
          <p:cNvPr id="7" name="Slide Number Placeholder 2">
            <a:extLst>
              <a:ext uri="{FF2B5EF4-FFF2-40B4-BE49-F238E27FC236}">
                <a16:creationId xmlns:a16="http://schemas.microsoft.com/office/drawing/2014/main" id="{C2A38DFC-8A8C-E856-4304-4109D1E59D62}"/>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84</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427204529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C547B8-AEDF-BD66-F8AA-7C665C5D69B0}"/>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09B9F92C-94CC-E0E6-FF84-90A0296244F6}"/>
              </a:ext>
            </a:extLst>
          </p:cNvPr>
          <p:cNvSpPr>
            <a:spLocks noGrp="1"/>
          </p:cNvSpPr>
          <p:nvPr>
            <p:ph type="body" sz="quarter" idx="16"/>
          </p:nvPr>
        </p:nvSpPr>
        <p:spPr/>
        <p:txBody>
          <a:bodyPr/>
          <a:lstStyle/>
          <a:p>
            <a:r>
              <a:rPr lang="en-US"/>
              <a:t>Cloud Economics</a:t>
            </a:r>
          </a:p>
        </p:txBody>
      </p:sp>
    </p:spTree>
    <p:extLst>
      <p:ext uri="{BB962C8B-B14F-4D97-AF65-F5344CB8AC3E}">
        <p14:creationId xmlns:p14="http://schemas.microsoft.com/office/powerpoint/2010/main" val="273939727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B555CA-1999-823B-9A5E-399F15081991}"/>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843DEFA2-3728-98DC-57F0-B88E2E2F8452}"/>
              </a:ext>
            </a:extLst>
          </p:cNvPr>
          <p:cNvSpPr>
            <a:spLocks noGrp="1"/>
          </p:cNvSpPr>
          <p:nvPr>
            <p:ph type="title"/>
          </p:nvPr>
        </p:nvSpPr>
        <p:spPr>
          <a:xfrm>
            <a:off x="668992" y="537178"/>
            <a:ext cx="22991108" cy="999313"/>
          </a:xfrm>
        </p:spPr>
        <p:txBody>
          <a:bodyPr/>
          <a:lstStyle/>
          <a:p>
            <a:pPr>
              <a:defRPr/>
            </a:pPr>
            <a:r>
              <a:rPr lang="en-US" sz="6400" b="1">
                <a:solidFill>
                  <a:prstClr val="white"/>
                </a:solidFill>
                <a:latin typeface="Arial"/>
                <a:sym typeface="Arial"/>
              </a:rPr>
              <a:t>Cloud Economics - Methodology</a:t>
            </a:r>
            <a:endParaRPr lang="en-US" sz="6400" baseline="30000">
              <a:solidFill>
                <a:prstClr val="white"/>
              </a:solidFill>
              <a:latin typeface="Arial"/>
              <a:sym typeface="Arial"/>
            </a:endParaRPr>
          </a:p>
        </p:txBody>
      </p:sp>
      <p:sp>
        <p:nvSpPr>
          <p:cNvPr id="5" name="Text Placeholder 4">
            <a:extLst>
              <a:ext uri="{FF2B5EF4-FFF2-40B4-BE49-F238E27FC236}">
                <a16:creationId xmlns:a16="http://schemas.microsoft.com/office/drawing/2014/main" id="{5D7677C8-C6EE-646E-68E3-0BFB2CA02A8B}"/>
              </a:ext>
            </a:extLst>
          </p:cNvPr>
          <p:cNvSpPr>
            <a:spLocks noGrp="1"/>
          </p:cNvSpPr>
          <p:nvPr>
            <p:ph type="body" sz="quarter" idx="12"/>
          </p:nvPr>
        </p:nvSpPr>
        <p:spPr>
          <a:xfrm>
            <a:off x="668992" y="2324100"/>
            <a:ext cx="22936200" cy="10018127"/>
          </a:xfrm>
        </p:spPr>
        <p:txBody>
          <a:bodyPr vert="horz" wrap="square" lIns="0" tIns="0" rIns="0" bIns="0" rtlCol="0" anchor="t">
            <a:spAutoFit/>
          </a:bodyPr>
          <a:lstStyle/>
          <a:p>
            <a:pPr marL="0" indent="0">
              <a:buNone/>
            </a:pPr>
            <a:r>
              <a:rPr lang="en-GB" sz="2800" b="1">
                <a:solidFill>
                  <a:srgbClr val="EB0000"/>
                </a:solidFill>
                <a:cs typeface="Arial"/>
              </a:rPr>
              <a:t>Objectives</a:t>
            </a:r>
            <a:endParaRPr lang="en-GB" sz="2800">
              <a:cs typeface="Arial"/>
            </a:endParaRPr>
          </a:p>
          <a:p>
            <a:r>
              <a:rPr lang="en-GB" sz="2800">
                <a:cs typeface="Arial"/>
              </a:rPr>
              <a:t>TCO Report comparing AWS and Azure costs from Compute, License, Storage, Backup, Network &amp; Cloud Support over 3-year timeline.</a:t>
            </a:r>
          </a:p>
          <a:p>
            <a:pPr marL="0" indent="0">
              <a:buNone/>
            </a:pPr>
            <a:r>
              <a:rPr lang="en-GB" sz="2800" b="1">
                <a:solidFill>
                  <a:srgbClr val="EB0000"/>
                </a:solidFill>
                <a:cs typeface="Arial"/>
              </a:rPr>
              <a:t>Methodology </a:t>
            </a:r>
          </a:p>
          <a:p>
            <a:r>
              <a:rPr lang="en-GB" sz="2800">
                <a:cs typeface="Arial"/>
              </a:rPr>
              <a:t>AWS MPA and Azure TCO Calculator was used to calculate Compute, License, Storage and Cloud Support.</a:t>
            </a:r>
          </a:p>
          <a:p>
            <a:r>
              <a:rPr lang="en-GB" sz="2800">
                <a:cs typeface="Arial"/>
              </a:rPr>
              <a:t>AWS Cost Calculator and Azure Cost Calculator was used for calculating Backup costs to have a common method of calculating backup costs as TCO engine on  both AWS and Azure side calculated Backup costs differently.</a:t>
            </a:r>
          </a:p>
          <a:p>
            <a:r>
              <a:rPr lang="en-GB" sz="2800">
                <a:cs typeface="Arial"/>
              </a:rPr>
              <a:t>TCO for both Azure and AWS will be on listed pricing with Hyperscaler funding credits applied – these credits are subject to final approvals.</a:t>
            </a:r>
          </a:p>
          <a:p>
            <a:pPr marL="0" indent="0">
              <a:buNone/>
            </a:pPr>
            <a:r>
              <a:rPr lang="en-GB" sz="2800" b="1">
                <a:solidFill>
                  <a:srgbClr val="EB0000"/>
                </a:solidFill>
                <a:cs typeface="Arial"/>
              </a:rPr>
              <a:t>Assumptions</a:t>
            </a:r>
          </a:p>
          <a:p>
            <a:r>
              <a:rPr lang="en-GB" sz="2800">
                <a:cs typeface="Arial"/>
              </a:rPr>
              <a:t>AWS &amp; Azure Network cost is 5% of the Compute, License and Storage costs calculated by AWS MPA and Azure Migrate respectively.</a:t>
            </a:r>
          </a:p>
          <a:p>
            <a:r>
              <a:rPr lang="en-GB" sz="2800">
                <a:cs typeface="Arial"/>
              </a:rPr>
              <a:t>Backup. </a:t>
            </a:r>
          </a:p>
          <a:p>
            <a:pPr lvl="1"/>
            <a:r>
              <a:rPr lang="en-GB" sz="2800">
                <a:cs typeface="Arial"/>
              </a:rPr>
              <a:t>10% yearly data growth with daily 0.5% data change rate. </a:t>
            </a:r>
          </a:p>
          <a:p>
            <a:pPr lvl="1"/>
            <a:r>
              <a:rPr lang="en-GB" sz="2800">
                <a:cs typeface="Arial"/>
              </a:rPr>
              <a:t>Backup retention 7 days for Daily, 4 weeks for Weekly, &amp; 12 Months for Monthly.</a:t>
            </a:r>
          </a:p>
          <a:p>
            <a:r>
              <a:rPr lang="en-GB" sz="2800">
                <a:cs typeface="Arial"/>
              </a:rPr>
              <a:t>OS and SQL License costs are included in the Compute costs.</a:t>
            </a:r>
          </a:p>
          <a:p>
            <a:r>
              <a:rPr lang="en-US" sz="2800">
                <a:solidFill>
                  <a:srgbClr val="000000"/>
                </a:solidFill>
              </a:rPr>
              <a:t>Enterprise Support plan was assumed for Azure, while AWS MPA recommended Business Support Plan. </a:t>
            </a:r>
          </a:p>
          <a:p>
            <a:r>
              <a:rPr lang="en-US" sz="2800">
                <a:solidFill>
                  <a:srgbClr val="000000"/>
                </a:solidFill>
              </a:rPr>
              <a:t>All the cost is based on IaaS approach.</a:t>
            </a:r>
          </a:p>
          <a:p>
            <a:pPr marL="0" indent="0">
              <a:buNone/>
            </a:pPr>
            <a:r>
              <a:rPr lang="en-GB" sz="2800" b="1">
                <a:solidFill>
                  <a:srgbClr val="EB0000"/>
                </a:solidFill>
                <a:cs typeface="Arial"/>
              </a:rPr>
              <a:t>Decisions</a:t>
            </a:r>
          </a:p>
          <a:p>
            <a:r>
              <a:rPr lang="en-GB" sz="2800">
                <a:cs typeface="Arial"/>
              </a:rPr>
              <a:t>Achilles requested Rackspace to price 7 regions for both </a:t>
            </a:r>
            <a:r>
              <a:rPr lang="en-GB" sz="2800" err="1">
                <a:cs typeface="Arial"/>
              </a:rPr>
              <a:t>Hyperscalers</a:t>
            </a:r>
            <a:r>
              <a:rPr lang="en-GB" sz="2800">
                <a:cs typeface="Arial"/>
              </a:rPr>
              <a:t> – Ireland, Germany, Spain, France, US – East, US – West and UAE. </a:t>
            </a:r>
            <a:endParaRPr lang="en-GB">
              <a:cs typeface="Arial"/>
            </a:endParaRPr>
          </a:p>
        </p:txBody>
      </p:sp>
      <p:sp>
        <p:nvSpPr>
          <p:cNvPr id="2" name="Slide Number Placeholder 2">
            <a:extLst>
              <a:ext uri="{FF2B5EF4-FFF2-40B4-BE49-F238E27FC236}">
                <a16:creationId xmlns:a16="http://schemas.microsoft.com/office/drawing/2014/main" id="{ED362FEB-7373-BD34-8824-16BDEE450B09}"/>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86</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193875993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ACC03471-8D09-8127-2063-50A31F652853}"/>
              </a:ext>
            </a:extLst>
          </p:cNvPr>
          <p:cNvGraphicFramePr>
            <a:graphicFrameLocks noGrp="1"/>
          </p:cNvGraphicFramePr>
          <p:nvPr>
            <p:extLst>
              <p:ext uri="{D42A27DB-BD31-4B8C-83A1-F6EECF244321}">
                <p14:modId xmlns:p14="http://schemas.microsoft.com/office/powerpoint/2010/main" val="2725331897"/>
              </p:ext>
            </p:extLst>
          </p:nvPr>
        </p:nvGraphicFramePr>
        <p:xfrm>
          <a:off x="1502227" y="2882643"/>
          <a:ext cx="17136492" cy="4722880"/>
        </p:xfrm>
        <a:graphic>
          <a:graphicData uri="http://schemas.openxmlformats.org/drawingml/2006/table">
            <a:tbl>
              <a:tblPr/>
              <a:tblGrid>
                <a:gridCol w="4754636">
                  <a:extLst>
                    <a:ext uri="{9D8B030D-6E8A-4147-A177-3AD203B41FA5}">
                      <a16:colId xmlns:a16="http://schemas.microsoft.com/office/drawing/2014/main" val="1419020890"/>
                    </a:ext>
                  </a:extLst>
                </a:gridCol>
                <a:gridCol w="4160306">
                  <a:extLst>
                    <a:ext uri="{9D8B030D-6E8A-4147-A177-3AD203B41FA5}">
                      <a16:colId xmlns:a16="http://schemas.microsoft.com/office/drawing/2014/main" val="3671563807"/>
                    </a:ext>
                  </a:extLst>
                </a:gridCol>
                <a:gridCol w="4457468">
                  <a:extLst>
                    <a:ext uri="{9D8B030D-6E8A-4147-A177-3AD203B41FA5}">
                      <a16:colId xmlns:a16="http://schemas.microsoft.com/office/drawing/2014/main" val="2301877610"/>
                    </a:ext>
                  </a:extLst>
                </a:gridCol>
                <a:gridCol w="3764082">
                  <a:extLst>
                    <a:ext uri="{9D8B030D-6E8A-4147-A177-3AD203B41FA5}">
                      <a16:colId xmlns:a16="http://schemas.microsoft.com/office/drawing/2014/main" val="728019693"/>
                    </a:ext>
                  </a:extLst>
                </a:gridCol>
              </a:tblGrid>
              <a:tr h="688976">
                <a:tc>
                  <a:txBody>
                    <a:bodyPr/>
                    <a:lstStyle/>
                    <a:p>
                      <a:pPr algn="ctr" fontAlgn="ctr"/>
                      <a:r>
                        <a:rPr lang="en-GB" sz="2800" b="1" i="0" u="none" strike="noStrike">
                          <a:solidFill>
                            <a:srgbClr val="000000"/>
                          </a:solidFill>
                          <a:effectLst/>
                          <a:latin typeface="Arial" panose="020B0604020202020204" pitchFamily="34" charset="0"/>
                        </a:rPr>
                        <a:t>Region</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a:txBody>
                    <a:bodyPr/>
                    <a:lstStyle/>
                    <a:p>
                      <a:pPr algn="ctr" fontAlgn="ctr"/>
                      <a:r>
                        <a:rPr lang="en-GB" sz="2800" b="1" i="0" u="none" strike="noStrike">
                          <a:solidFill>
                            <a:srgbClr val="FFFFFF"/>
                          </a:solidFill>
                          <a:effectLst/>
                          <a:latin typeface="Arial" panose="020B0604020202020204" pitchFamily="34" charset="0"/>
                        </a:rPr>
                        <a:t>AWS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GB" sz="2800" b="1" i="0" u="none" strike="noStrike">
                          <a:solidFill>
                            <a:srgbClr val="FFFFFF"/>
                          </a:solidFill>
                          <a:effectLst/>
                          <a:latin typeface="Arial" panose="020B0604020202020204" pitchFamily="34" charset="0"/>
                        </a:rPr>
                        <a:t>Azure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59C8"/>
                    </a:solidFill>
                  </a:tcPr>
                </a:tc>
                <a:tc>
                  <a:txBody>
                    <a:bodyPr/>
                    <a:lstStyle/>
                    <a:p>
                      <a:pPr algn="ctr" fontAlgn="ctr"/>
                      <a:r>
                        <a:rPr lang="en-GB" sz="2800" b="1" i="0" u="none" strike="noStrike">
                          <a:solidFill>
                            <a:srgbClr val="FFFFFF"/>
                          </a:solidFill>
                          <a:effectLst/>
                          <a:latin typeface="Arial" panose="020B0604020202020204" pitchFamily="34" charset="0"/>
                        </a:rPr>
                        <a:t>GCP</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5008A"/>
                    </a:solidFill>
                  </a:tcPr>
                </a:tc>
                <a:extLst>
                  <a:ext uri="{0D108BD9-81ED-4DB2-BD59-A6C34878D82A}">
                    <a16:rowId xmlns:a16="http://schemas.microsoft.com/office/drawing/2014/main" val="2988703255"/>
                  </a:ext>
                </a:extLst>
              </a:tr>
              <a:tr h="504238">
                <a:tc>
                  <a:txBody>
                    <a:bodyPr/>
                    <a:lstStyle/>
                    <a:p>
                      <a:pPr algn="ctr" fontAlgn="ctr"/>
                      <a:r>
                        <a:rPr lang="en-GB" sz="2800" b="1" i="0" u="none" strike="noStrike">
                          <a:solidFill>
                            <a:srgbClr val="000000"/>
                          </a:solidFill>
                          <a:effectLst/>
                          <a:latin typeface="Arial" panose="020B0604020202020204" pitchFamily="34" charset="0"/>
                        </a:rPr>
                        <a:t>London</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2,110,833.69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1" i="0" u="none" strike="noStrike">
                          <a:solidFill>
                            <a:srgbClr val="000000"/>
                          </a:solidFill>
                          <a:effectLst/>
                          <a:latin typeface="Arial" panose="020B0604020202020204" pitchFamily="34" charset="0"/>
                        </a:rPr>
                        <a:t> $     1,739,190.12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800" b="0" i="0" u="none" strike="noStrike">
                          <a:solidFill>
                            <a:srgbClr val="000000"/>
                          </a:solidFill>
                          <a:effectLst/>
                          <a:latin typeface="Arial" panose="020B0604020202020204" pitchFamily="34" charset="0"/>
                        </a:rPr>
                        <a:t> $     2,163,620.69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86403648"/>
                  </a:ext>
                </a:extLst>
              </a:tr>
              <a:tr h="504238">
                <a:tc>
                  <a:txBody>
                    <a:bodyPr/>
                    <a:lstStyle/>
                    <a:p>
                      <a:pPr algn="ctr" fontAlgn="ctr"/>
                      <a:r>
                        <a:rPr lang="en-GB" sz="2800" b="1"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eu-west-2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err="1">
                          <a:solidFill>
                            <a:srgbClr val="000000"/>
                          </a:solidFill>
                          <a:effectLst/>
                          <a:latin typeface="Arial" panose="020B0604020202020204" pitchFamily="34" charset="0"/>
                        </a:rPr>
                        <a:t>uk</a:t>
                      </a:r>
                      <a:r>
                        <a:rPr lang="en-GB" sz="2000" b="0" i="0" u="none" strike="noStrike">
                          <a:solidFill>
                            <a:srgbClr val="000000"/>
                          </a:solidFill>
                          <a:effectLst/>
                          <a:latin typeface="Arial" panose="020B0604020202020204" pitchFamily="34" charset="0"/>
                        </a:rPr>
                        <a:t>-south</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europe-west2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extLst>
                  <a:ext uri="{0D108BD9-81ED-4DB2-BD59-A6C34878D82A}">
                    <a16:rowId xmlns:a16="http://schemas.microsoft.com/office/drawing/2014/main" val="3990241288"/>
                  </a:ext>
                </a:extLst>
              </a:tr>
              <a:tr h="504238">
                <a:tc>
                  <a:txBody>
                    <a:bodyPr/>
                    <a:lstStyle/>
                    <a:p>
                      <a:pPr algn="ctr" fontAlgn="ctr"/>
                      <a:r>
                        <a:rPr lang="en-GB" sz="2800" b="1" i="0" u="none" strike="noStrike">
                          <a:solidFill>
                            <a:srgbClr val="000000"/>
                          </a:solidFill>
                          <a:effectLst/>
                          <a:latin typeface="Arial" panose="020B0604020202020204" pitchFamily="34" charset="0"/>
                        </a:rPr>
                        <a:t>Germany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1" i="0" u="none" strike="noStrike">
                          <a:solidFill>
                            <a:srgbClr val="000000"/>
                          </a:solidFill>
                          <a:effectLst/>
                          <a:latin typeface="Arial" panose="020B0604020202020204" pitchFamily="34" charset="0"/>
                        </a:rPr>
                        <a:t> $     1,995,324.63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2,163,620.69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800" b="0" i="0" u="none" strike="noStrike">
                          <a:solidFill>
                            <a:srgbClr val="000000"/>
                          </a:solidFill>
                          <a:effectLst/>
                          <a:latin typeface="Arial" panose="020B0604020202020204" pitchFamily="34" charset="0"/>
                        </a:rPr>
                        <a:t> $     2,163,620.69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07428927"/>
                  </a:ext>
                </a:extLst>
              </a:tr>
              <a:tr h="504238">
                <a:tc>
                  <a:txBody>
                    <a:bodyPr/>
                    <a:lstStyle/>
                    <a:p>
                      <a:pPr algn="ctr" fontAlgn="ctr"/>
                      <a:r>
                        <a:rPr lang="en-GB" sz="2800" b="1"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eu-central-1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err="1">
                          <a:solidFill>
                            <a:srgbClr val="000000"/>
                          </a:solidFill>
                          <a:effectLst/>
                          <a:latin typeface="Arial" panose="020B0604020202020204" pitchFamily="34" charset="0"/>
                        </a:rPr>
                        <a:t>germany</a:t>
                      </a:r>
                      <a:r>
                        <a:rPr lang="en-GB" sz="2000" b="0" i="0" u="none" strike="noStrike">
                          <a:solidFill>
                            <a:srgbClr val="000000"/>
                          </a:solidFill>
                          <a:effectLst/>
                          <a:latin typeface="Arial" panose="020B0604020202020204" pitchFamily="34" charset="0"/>
                        </a:rPr>
                        <a:t>-west-central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europe-west3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extLst>
                  <a:ext uri="{0D108BD9-81ED-4DB2-BD59-A6C34878D82A}">
                    <a16:rowId xmlns:a16="http://schemas.microsoft.com/office/drawing/2014/main" val="3120740269"/>
                  </a:ext>
                </a:extLst>
              </a:tr>
              <a:tr h="504238">
                <a:tc>
                  <a:txBody>
                    <a:bodyPr/>
                    <a:lstStyle/>
                    <a:p>
                      <a:pPr algn="ctr" fontAlgn="ctr"/>
                      <a:r>
                        <a:rPr lang="en-GB" sz="2800" b="1" i="0" u="none" strike="noStrike">
                          <a:solidFill>
                            <a:srgbClr val="000000"/>
                          </a:solidFill>
                          <a:effectLst/>
                          <a:latin typeface="Arial" panose="020B0604020202020204" pitchFamily="34" charset="0"/>
                        </a:rPr>
                        <a:t>Ireland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1,897,527.74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1" i="0" u="none" strike="noStrike">
                          <a:solidFill>
                            <a:srgbClr val="000000"/>
                          </a:solidFill>
                          <a:effectLst/>
                          <a:latin typeface="Arial" panose="020B0604020202020204" pitchFamily="34" charset="0"/>
                        </a:rPr>
                        <a:t> $     </a:t>
                      </a:r>
                      <a:r>
                        <a:rPr lang="en-GB" sz="2800" b="1" i="0" u="none" strike="noStrike" kern="1200">
                          <a:solidFill>
                            <a:srgbClr val="000000"/>
                          </a:solidFill>
                          <a:effectLst/>
                          <a:latin typeface="Arial" panose="020B0604020202020204" pitchFamily="34" charset="0"/>
                          <a:ea typeface="+mn-ea"/>
                          <a:cs typeface="+mn-cs"/>
                        </a:rPr>
                        <a:t>1,609,610.72</a:t>
                      </a:r>
                      <a:r>
                        <a:rPr lang="en-GB" sz="2800" b="1"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50"/>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40104148"/>
                  </a:ext>
                </a:extLst>
              </a:tr>
              <a:tr h="504238">
                <a:tc>
                  <a:txBody>
                    <a:bodyPr/>
                    <a:lstStyle/>
                    <a:p>
                      <a:pPr algn="ctr" fontAlgn="ctr"/>
                      <a:r>
                        <a:rPr lang="en-GB" sz="2800" b="1"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  eu-west-1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north-</a:t>
                      </a:r>
                      <a:r>
                        <a:rPr lang="en-GB" sz="2000" b="0" i="0" u="none" strike="noStrike" err="1">
                          <a:solidFill>
                            <a:srgbClr val="000000"/>
                          </a:solidFill>
                          <a:effectLst/>
                          <a:latin typeface="Arial" panose="020B0604020202020204" pitchFamily="34" charset="0"/>
                        </a:rPr>
                        <a:t>europe</a:t>
                      </a:r>
                      <a:r>
                        <a:rPr lang="en-GB" sz="2000" b="0"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extLst>
                  <a:ext uri="{0D108BD9-81ED-4DB2-BD59-A6C34878D82A}">
                    <a16:rowId xmlns:a16="http://schemas.microsoft.com/office/drawing/2014/main" val="968676886"/>
                  </a:ext>
                </a:extLst>
              </a:tr>
              <a:tr h="504238">
                <a:tc>
                  <a:txBody>
                    <a:bodyPr/>
                    <a:lstStyle/>
                    <a:p>
                      <a:pPr algn="ctr" fontAlgn="ctr"/>
                      <a:r>
                        <a:rPr lang="en-GB" sz="2800" b="1" i="0" u="none" strike="noStrike">
                          <a:solidFill>
                            <a:srgbClr val="000000"/>
                          </a:solidFill>
                          <a:effectLst/>
                          <a:latin typeface="Arial" panose="020B0604020202020204" pitchFamily="34" charset="0"/>
                        </a:rPr>
                        <a:t>Netherlands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GB" sz="2000" b="0" i="0" u="none" strike="noStrike">
                          <a:solidFill>
                            <a:srgbClr val="000000"/>
                          </a:solidFill>
                          <a:effectLst/>
                          <a:latin typeface="Arial" panose="020B060402020202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GB" sz="2000" b="0" i="0" u="none" strike="noStrike">
                          <a:solidFill>
                            <a:srgbClr val="000000"/>
                          </a:solidFill>
                          <a:effectLst/>
                          <a:latin typeface="Arial" panose="020B060402020202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800" b="0" i="0" u="none" strike="noStrike">
                          <a:solidFill>
                            <a:srgbClr val="000000"/>
                          </a:solidFill>
                          <a:effectLst/>
                          <a:latin typeface="Arial" panose="020B0604020202020204" pitchFamily="34" charset="0"/>
                        </a:rPr>
                        <a:t> $     2,163,620.69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83234522"/>
                  </a:ext>
                </a:extLst>
              </a:tr>
              <a:tr h="504238">
                <a:tc>
                  <a:txBody>
                    <a:bodyPr/>
                    <a:lstStyle/>
                    <a:p>
                      <a:pPr algn="ctr" fontAlgn="ctr"/>
                      <a:endParaRPr lang="en-GB" sz="2800" b="1" i="0" u="none" strike="noStrike">
                        <a:solidFill>
                          <a:srgbClr val="000000"/>
                        </a:solidFill>
                        <a:effectLst/>
                        <a:latin typeface="Arial" panose="020B060402020202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europe-west4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extLst>
                  <a:ext uri="{0D108BD9-81ED-4DB2-BD59-A6C34878D82A}">
                    <a16:rowId xmlns:a16="http://schemas.microsoft.com/office/drawing/2014/main" val="1786657817"/>
                  </a:ext>
                </a:extLst>
              </a:tr>
            </a:tbl>
          </a:graphicData>
        </a:graphic>
      </p:graphicFrame>
      <p:sp>
        <p:nvSpPr>
          <p:cNvPr id="5" name="Title 4">
            <a:extLst>
              <a:ext uri="{FF2B5EF4-FFF2-40B4-BE49-F238E27FC236}">
                <a16:creationId xmlns:a16="http://schemas.microsoft.com/office/drawing/2014/main" id="{4DD06E67-EECE-5A56-1989-419A5E44D4CB}"/>
              </a:ext>
            </a:extLst>
          </p:cNvPr>
          <p:cNvSpPr>
            <a:spLocks noGrp="1"/>
          </p:cNvSpPr>
          <p:nvPr>
            <p:ph type="title"/>
          </p:nvPr>
        </p:nvSpPr>
        <p:spPr>
          <a:xfrm>
            <a:off x="646498" y="537179"/>
            <a:ext cx="22991108" cy="968086"/>
          </a:xfrm>
        </p:spPr>
        <p:txBody>
          <a:bodyPr/>
          <a:lstStyle/>
          <a:p>
            <a:r>
              <a:rPr lang="en-GB"/>
              <a:t>Infrastructure Consumption - Economics Summary (USD) </a:t>
            </a:r>
            <a:endParaRPr lang="en-AE"/>
          </a:p>
        </p:txBody>
      </p:sp>
      <p:sp>
        <p:nvSpPr>
          <p:cNvPr id="2" name="Slide Number Placeholder 2">
            <a:extLst>
              <a:ext uri="{FF2B5EF4-FFF2-40B4-BE49-F238E27FC236}">
                <a16:creationId xmlns:a16="http://schemas.microsoft.com/office/drawing/2014/main" id="{F19A55B2-000D-6F6C-7944-D3C7E0735B72}"/>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87</a:t>
            </a:fld>
            <a:endParaRPr lang="en-US" sz="1400">
              <a:solidFill>
                <a:prstClr val="black"/>
              </a:solidFill>
              <a:latin typeface="Fira Sans" panose="020B0503050000020004" pitchFamily="34" charset="0"/>
            </a:endParaRPr>
          </a:p>
        </p:txBody>
      </p:sp>
      <p:sp>
        <p:nvSpPr>
          <p:cNvPr id="3" name="TextBox 2">
            <a:extLst>
              <a:ext uri="{FF2B5EF4-FFF2-40B4-BE49-F238E27FC236}">
                <a16:creationId xmlns:a16="http://schemas.microsoft.com/office/drawing/2014/main" id="{7460FFC6-C383-B085-9811-4B03022AB3B9}"/>
              </a:ext>
            </a:extLst>
          </p:cNvPr>
          <p:cNvSpPr txBox="1"/>
          <p:nvPr/>
        </p:nvSpPr>
        <p:spPr>
          <a:xfrm>
            <a:off x="1675039" y="9035850"/>
            <a:ext cx="20554950" cy="3231654"/>
          </a:xfrm>
          <a:prstGeom prst="rect">
            <a:avLst/>
          </a:prstGeom>
          <a:noFill/>
        </p:spPr>
        <p:txBody>
          <a:bodyPr wrap="square" rtlCol="0">
            <a:spAutoFit/>
          </a:bodyPr>
          <a:lstStyle/>
          <a:p>
            <a:pPr fontAlgn="ctr"/>
            <a:r>
              <a:rPr lang="en-GB" sz="2800"/>
              <a:t>Costing includes the following cloud service:</a:t>
            </a:r>
            <a:r>
              <a:rPr lang="en-GB" sz="2800">
                <a:solidFill>
                  <a:srgbClr val="000000"/>
                </a:solidFill>
                <a:latin typeface="Arial" panose="020B0604020202020204" pitchFamily="34" charset="0"/>
              </a:rPr>
              <a:t> </a:t>
            </a:r>
          </a:p>
          <a:p>
            <a:pPr marL="457200" indent="-457200" fontAlgn="ctr">
              <a:buFont typeface="Arial" panose="020B0604020202020204" pitchFamily="34" charset="0"/>
              <a:buChar char="•"/>
            </a:pPr>
            <a:r>
              <a:rPr lang="en-GB" sz="2800">
                <a:solidFill>
                  <a:srgbClr val="000000"/>
                </a:solidFill>
                <a:latin typeface="Arial" panose="020B0604020202020204" pitchFamily="34" charset="0"/>
              </a:rPr>
              <a:t>Compute/Licensing</a:t>
            </a:r>
          </a:p>
          <a:p>
            <a:pPr marL="457200" indent="-457200" fontAlgn="ctr">
              <a:buFont typeface="Arial" panose="020B0604020202020204" pitchFamily="34" charset="0"/>
              <a:buChar char="•"/>
            </a:pPr>
            <a:r>
              <a:rPr lang="en-GB" sz="2800">
                <a:solidFill>
                  <a:srgbClr val="000000"/>
                </a:solidFill>
                <a:latin typeface="Arial" panose="020B0604020202020204" pitchFamily="34" charset="0"/>
              </a:rPr>
              <a:t>Storage</a:t>
            </a:r>
          </a:p>
          <a:p>
            <a:pPr marL="457200" indent="-457200" fontAlgn="ctr">
              <a:buFont typeface="Arial" panose="020B0604020202020204" pitchFamily="34" charset="0"/>
              <a:buChar char="•"/>
            </a:pPr>
            <a:r>
              <a:rPr lang="en-GB" sz="2800">
                <a:solidFill>
                  <a:srgbClr val="000000"/>
                </a:solidFill>
                <a:latin typeface="Arial" panose="020B0604020202020204" pitchFamily="34" charset="0"/>
              </a:rPr>
              <a:t>Network</a:t>
            </a:r>
          </a:p>
          <a:p>
            <a:pPr marL="457200" indent="-457200" fontAlgn="ctr">
              <a:buFont typeface="Arial" panose="020B0604020202020204" pitchFamily="34" charset="0"/>
              <a:buChar char="•"/>
            </a:pPr>
            <a:r>
              <a:rPr lang="en-GB" sz="2800">
                <a:solidFill>
                  <a:srgbClr val="000000"/>
                </a:solidFill>
                <a:latin typeface="Arial" panose="020B0604020202020204" pitchFamily="34" charset="0"/>
              </a:rPr>
              <a:t>Backup</a:t>
            </a:r>
          </a:p>
          <a:p>
            <a:pPr marL="457200" indent="-457200" fontAlgn="ctr">
              <a:buFont typeface="Arial" panose="020B0604020202020204" pitchFamily="34" charset="0"/>
              <a:buChar char="•"/>
            </a:pPr>
            <a:r>
              <a:rPr lang="en-GB" sz="2800">
                <a:solidFill>
                  <a:srgbClr val="000000"/>
                </a:solidFill>
                <a:latin typeface="Arial" panose="020B0604020202020204" pitchFamily="34" charset="0"/>
              </a:rPr>
              <a:t>Support and Credits</a:t>
            </a:r>
            <a:endParaRPr lang="en-GB" sz="2800">
              <a:latin typeface="Arial" panose="020B0604020202020204" pitchFamily="34" charset="0"/>
            </a:endParaRPr>
          </a:p>
          <a:p>
            <a:pPr algn="l"/>
            <a:endParaRPr lang="en-GB" sz="3600"/>
          </a:p>
        </p:txBody>
      </p:sp>
    </p:spTree>
    <p:extLst>
      <p:ext uri="{BB962C8B-B14F-4D97-AF65-F5344CB8AC3E}">
        <p14:creationId xmlns:p14="http://schemas.microsoft.com/office/powerpoint/2010/main" val="142649630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C9C957-7E68-A547-B360-33298D1BA126}"/>
            </a:ext>
          </a:extLst>
        </p:cNvPr>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92223405-3942-4CDB-B506-A13383C4A4F3}"/>
              </a:ext>
            </a:extLst>
          </p:cNvPr>
          <p:cNvGraphicFramePr>
            <a:graphicFrameLocks noGrp="1"/>
          </p:cNvGraphicFramePr>
          <p:nvPr>
            <p:extLst>
              <p:ext uri="{D42A27DB-BD31-4B8C-83A1-F6EECF244321}">
                <p14:modId xmlns:p14="http://schemas.microsoft.com/office/powerpoint/2010/main" val="3011625137"/>
              </p:ext>
            </p:extLst>
          </p:nvPr>
        </p:nvGraphicFramePr>
        <p:xfrm>
          <a:off x="1502227" y="2882643"/>
          <a:ext cx="17136492" cy="4722880"/>
        </p:xfrm>
        <a:graphic>
          <a:graphicData uri="http://schemas.openxmlformats.org/drawingml/2006/table">
            <a:tbl>
              <a:tblPr/>
              <a:tblGrid>
                <a:gridCol w="4754636">
                  <a:extLst>
                    <a:ext uri="{9D8B030D-6E8A-4147-A177-3AD203B41FA5}">
                      <a16:colId xmlns:a16="http://schemas.microsoft.com/office/drawing/2014/main" val="1419020890"/>
                    </a:ext>
                  </a:extLst>
                </a:gridCol>
                <a:gridCol w="4160306">
                  <a:extLst>
                    <a:ext uri="{9D8B030D-6E8A-4147-A177-3AD203B41FA5}">
                      <a16:colId xmlns:a16="http://schemas.microsoft.com/office/drawing/2014/main" val="3671563807"/>
                    </a:ext>
                  </a:extLst>
                </a:gridCol>
                <a:gridCol w="4457468">
                  <a:extLst>
                    <a:ext uri="{9D8B030D-6E8A-4147-A177-3AD203B41FA5}">
                      <a16:colId xmlns:a16="http://schemas.microsoft.com/office/drawing/2014/main" val="2301877610"/>
                    </a:ext>
                  </a:extLst>
                </a:gridCol>
                <a:gridCol w="3764082">
                  <a:extLst>
                    <a:ext uri="{9D8B030D-6E8A-4147-A177-3AD203B41FA5}">
                      <a16:colId xmlns:a16="http://schemas.microsoft.com/office/drawing/2014/main" val="2918220166"/>
                    </a:ext>
                  </a:extLst>
                </a:gridCol>
              </a:tblGrid>
              <a:tr h="688976">
                <a:tc>
                  <a:txBody>
                    <a:bodyPr/>
                    <a:lstStyle/>
                    <a:p>
                      <a:pPr algn="ctr" fontAlgn="ctr"/>
                      <a:r>
                        <a:rPr lang="en-GB" sz="2800" b="1" i="0" u="none" strike="noStrike">
                          <a:solidFill>
                            <a:srgbClr val="000000"/>
                          </a:solidFill>
                          <a:effectLst/>
                          <a:latin typeface="Arial" panose="020B0604020202020204" pitchFamily="34" charset="0"/>
                        </a:rPr>
                        <a:t>Region</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a:txBody>
                    <a:bodyPr/>
                    <a:lstStyle/>
                    <a:p>
                      <a:pPr algn="ctr" fontAlgn="ctr"/>
                      <a:r>
                        <a:rPr lang="en-GB" sz="2800" b="1" i="0" u="none" strike="noStrike">
                          <a:solidFill>
                            <a:srgbClr val="FFFFFF"/>
                          </a:solidFill>
                          <a:effectLst/>
                          <a:latin typeface="Arial" panose="020B0604020202020204" pitchFamily="34" charset="0"/>
                        </a:rPr>
                        <a:t>AWS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GB" sz="2800" b="1" i="0" u="none" strike="noStrike">
                          <a:solidFill>
                            <a:srgbClr val="FFFFFF"/>
                          </a:solidFill>
                          <a:effectLst/>
                          <a:latin typeface="Arial" panose="020B0604020202020204" pitchFamily="34" charset="0"/>
                        </a:rPr>
                        <a:t>Azure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59C8"/>
                    </a:solidFill>
                  </a:tcPr>
                </a:tc>
                <a:tc>
                  <a:txBody>
                    <a:bodyPr/>
                    <a:lstStyle/>
                    <a:p>
                      <a:pPr algn="ctr" fontAlgn="ctr"/>
                      <a:r>
                        <a:rPr lang="en-GB" sz="2800" b="1" i="0" u="none" strike="noStrike">
                          <a:solidFill>
                            <a:srgbClr val="FFFFFF"/>
                          </a:solidFill>
                          <a:effectLst/>
                          <a:latin typeface="Arial" panose="020B0604020202020204" pitchFamily="34" charset="0"/>
                        </a:rPr>
                        <a:t>GCP</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5008A"/>
                    </a:solidFill>
                  </a:tcPr>
                </a:tc>
                <a:extLst>
                  <a:ext uri="{0D108BD9-81ED-4DB2-BD59-A6C34878D82A}">
                    <a16:rowId xmlns:a16="http://schemas.microsoft.com/office/drawing/2014/main" val="2988703255"/>
                  </a:ext>
                </a:extLst>
              </a:tr>
              <a:tr h="504238">
                <a:tc>
                  <a:txBody>
                    <a:bodyPr/>
                    <a:lstStyle/>
                    <a:p>
                      <a:pPr algn="ctr" fontAlgn="ctr"/>
                      <a:r>
                        <a:rPr lang="en-GB" sz="2800" b="1" i="0" u="none" strike="noStrike">
                          <a:solidFill>
                            <a:srgbClr val="000000"/>
                          </a:solidFill>
                          <a:effectLst/>
                          <a:latin typeface="Arial" panose="020B0604020202020204" pitchFamily="34" charset="0"/>
                        </a:rPr>
                        <a:t>London</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£1,667,431.97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1" i="0" u="none" strike="noStrike">
                          <a:solidFill>
                            <a:srgbClr val="000000"/>
                          </a:solidFill>
                          <a:effectLst/>
                          <a:latin typeface="Arial" panose="020B0604020202020204" pitchFamily="34" charset="0"/>
                        </a:rPr>
                        <a:t>£1,373,855.85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800" b="0" i="0" u="none" strike="noStrike">
                          <a:solidFill>
                            <a:srgbClr val="000000"/>
                          </a:solidFill>
                          <a:effectLst/>
                          <a:latin typeface="Arial" panose="020B0604020202020204" pitchFamily="34" charset="0"/>
                        </a:rPr>
                        <a:t>£1,709,130.53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86403648"/>
                  </a:ext>
                </a:extLst>
              </a:tr>
              <a:tr h="504238">
                <a:tc>
                  <a:txBody>
                    <a:bodyPr/>
                    <a:lstStyle/>
                    <a:p>
                      <a:pPr algn="ctr" fontAlgn="ctr"/>
                      <a:r>
                        <a:rPr lang="en-GB" sz="2800" b="1"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eu-west-2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err="1">
                          <a:solidFill>
                            <a:srgbClr val="000000"/>
                          </a:solidFill>
                          <a:effectLst/>
                          <a:latin typeface="Arial" panose="020B0604020202020204" pitchFamily="34" charset="0"/>
                        </a:rPr>
                        <a:t>uk</a:t>
                      </a:r>
                      <a:r>
                        <a:rPr lang="en-GB" sz="2000" b="0" i="0" u="none" strike="noStrike">
                          <a:solidFill>
                            <a:srgbClr val="000000"/>
                          </a:solidFill>
                          <a:effectLst/>
                          <a:latin typeface="Arial" panose="020B0604020202020204" pitchFamily="34" charset="0"/>
                        </a:rPr>
                        <a:t>-south</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err="1">
                          <a:solidFill>
                            <a:srgbClr val="000000"/>
                          </a:solidFill>
                          <a:effectLst/>
                          <a:latin typeface="Arial" panose="020B0604020202020204" pitchFamily="34" charset="0"/>
                        </a:rPr>
                        <a:t>europe</a:t>
                      </a:r>
                      <a:r>
                        <a:rPr lang="en-GB" sz="2000" b="0" i="0" u="none" strike="noStrike">
                          <a:solidFill>
                            <a:srgbClr val="000000"/>
                          </a:solidFill>
                          <a:effectLst/>
                          <a:latin typeface="Arial" panose="020B0604020202020204" pitchFamily="34" charset="0"/>
                        </a:rPr>
                        <a:t>-west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extLst>
                  <a:ext uri="{0D108BD9-81ED-4DB2-BD59-A6C34878D82A}">
                    <a16:rowId xmlns:a16="http://schemas.microsoft.com/office/drawing/2014/main" val="3990241288"/>
                  </a:ext>
                </a:extLst>
              </a:tr>
              <a:tr h="504238">
                <a:tc>
                  <a:txBody>
                    <a:bodyPr/>
                    <a:lstStyle/>
                    <a:p>
                      <a:pPr algn="ctr" fontAlgn="ctr"/>
                      <a:r>
                        <a:rPr lang="en-GB" sz="2800" b="1" i="0" u="none" strike="noStrike">
                          <a:solidFill>
                            <a:srgbClr val="000000"/>
                          </a:solidFill>
                          <a:effectLst/>
                          <a:latin typeface="Arial" panose="020B0604020202020204" pitchFamily="34" charset="0"/>
                        </a:rPr>
                        <a:t>Germany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1" i="0" u="none" strike="noStrike">
                          <a:solidFill>
                            <a:srgbClr val="000000"/>
                          </a:solidFill>
                          <a:effectLst/>
                          <a:latin typeface="Arial" panose="020B0604020202020204" pitchFamily="34" charset="0"/>
                        </a:rPr>
                        <a:t>£1,576,186.74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£1,709,130.53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800" b="0" i="0" u="none" strike="noStrike">
                          <a:solidFill>
                            <a:srgbClr val="000000"/>
                          </a:solidFill>
                          <a:effectLst/>
                          <a:latin typeface="Arial" panose="020B0604020202020204" pitchFamily="34" charset="0"/>
                        </a:rPr>
                        <a:t>£1,709,130.53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07428927"/>
                  </a:ext>
                </a:extLst>
              </a:tr>
              <a:tr h="504238">
                <a:tc>
                  <a:txBody>
                    <a:bodyPr/>
                    <a:lstStyle/>
                    <a:p>
                      <a:pPr algn="ctr" fontAlgn="ctr"/>
                      <a:r>
                        <a:rPr lang="en-GB" sz="2800" b="1"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eu-central-1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err="1">
                          <a:solidFill>
                            <a:srgbClr val="000000"/>
                          </a:solidFill>
                          <a:effectLst/>
                          <a:latin typeface="Arial" panose="020B0604020202020204" pitchFamily="34" charset="0"/>
                        </a:rPr>
                        <a:t>germany</a:t>
                      </a:r>
                      <a:r>
                        <a:rPr lang="en-GB" sz="2000" b="0" i="0" u="none" strike="noStrike">
                          <a:solidFill>
                            <a:srgbClr val="000000"/>
                          </a:solidFill>
                          <a:effectLst/>
                          <a:latin typeface="Arial" panose="020B0604020202020204" pitchFamily="34" charset="0"/>
                        </a:rPr>
                        <a:t>-west-central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europe-west3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extLst>
                  <a:ext uri="{0D108BD9-81ED-4DB2-BD59-A6C34878D82A}">
                    <a16:rowId xmlns:a16="http://schemas.microsoft.com/office/drawing/2014/main" val="3120740269"/>
                  </a:ext>
                </a:extLst>
              </a:tr>
              <a:tr h="504238">
                <a:tc>
                  <a:txBody>
                    <a:bodyPr/>
                    <a:lstStyle/>
                    <a:p>
                      <a:pPr algn="ctr" fontAlgn="ctr"/>
                      <a:r>
                        <a:rPr lang="en-GB" sz="2800" b="1" i="0" u="none" strike="noStrike">
                          <a:solidFill>
                            <a:srgbClr val="000000"/>
                          </a:solidFill>
                          <a:effectLst/>
                          <a:latin typeface="Arial" panose="020B0604020202020204" pitchFamily="34" charset="0"/>
                        </a:rPr>
                        <a:t>Ireland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£1,498,933.06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1" i="0" u="none" strike="noStrike">
                          <a:solidFill>
                            <a:srgbClr val="000000"/>
                          </a:solidFill>
                          <a:effectLst/>
                          <a:latin typeface="Arial" panose="020B0604020202020204" pitchFamily="34" charset="0"/>
                        </a:rPr>
                        <a:t>£1,271,495.89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50"/>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40104148"/>
                  </a:ext>
                </a:extLst>
              </a:tr>
              <a:tr h="504238">
                <a:tc>
                  <a:txBody>
                    <a:bodyPr/>
                    <a:lstStyle/>
                    <a:p>
                      <a:pPr algn="ctr" fontAlgn="ctr"/>
                      <a:r>
                        <a:rPr lang="en-GB" sz="2800" b="1"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  eu-west-1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north-</a:t>
                      </a:r>
                      <a:r>
                        <a:rPr lang="en-GB" sz="2000" b="0" i="0" u="none" strike="noStrike" err="1">
                          <a:solidFill>
                            <a:srgbClr val="000000"/>
                          </a:solidFill>
                          <a:effectLst/>
                          <a:latin typeface="Arial" panose="020B0604020202020204" pitchFamily="34" charset="0"/>
                        </a:rPr>
                        <a:t>europe</a:t>
                      </a:r>
                      <a:r>
                        <a:rPr lang="en-GB" sz="2000" b="0" i="0" u="none" strike="noStrike">
                          <a:solidFill>
                            <a:srgbClr val="000000"/>
                          </a:solidFill>
                          <a:effectLst/>
                          <a:latin typeface="Arial" panose="020B0604020202020204" pitchFamily="34" charset="0"/>
                        </a:rPr>
                        <a:t>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extLst>
                  <a:ext uri="{0D108BD9-81ED-4DB2-BD59-A6C34878D82A}">
                    <a16:rowId xmlns:a16="http://schemas.microsoft.com/office/drawing/2014/main" val="968676886"/>
                  </a:ext>
                </a:extLst>
              </a:tr>
              <a:tr h="504238">
                <a:tc>
                  <a:txBody>
                    <a:bodyPr/>
                    <a:lstStyle/>
                    <a:p>
                      <a:pPr marL="0" algn="ctr" defTabSz="1828800" rtl="0" eaLnBrk="1" fontAlgn="ctr" latinLnBrk="0" hangingPunct="1"/>
                      <a:r>
                        <a:rPr lang="en-GB" sz="2800" b="1" i="0" u="none" strike="noStrike" kern="1200">
                          <a:solidFill>
                            <a:srgbClr val="000000"/>
                          </a:solidFill>
                          <a:effectLst/>
                          <a:latin typeface="Arial" panose="020B0604020202020204" pitchFamily="34" charset="0"/>
                          <a:ea typeface="+mn-ea"/>
                          <a:cs typeface="+mn-cs"/>
                        </a:rPr>
                        <a:t>Netherlands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GB" sz="2000" b="0" i="0" u="none" strike="noStrike">
                          <a:solidFill>
                            <a:srgbClr val="000000"/>
                          </a:solidFill>
                          <a:effectLst/>
                          <a:latin typeface="Arial" panose="020B060402020202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GB" sz="2000" b="0" i="0" u="none" strike="noStrike">
                          <a:solidFill>
                            <a:srgbClr val="000000"/>
                          </a:solidFill>
                          <a:effectLst/>
                          <a:latin typeface="Arial" panose="020B060402020202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800" b="0" i="0" u="none" strike="noStrike">
                          <a:solidFill>
                            <a:srgbClr val="000000"/>
                          </a:solidFill>
                          <a:effectLst/>
                          <a:latin typeface="Arial" panose="020B0604020202020204" pitchFamily="34" charset="0"/>
                        </a:rPr>
                        <a:t>£1,709,130.53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155466291"/>
                  </a:ext>
                </a:extLst>
              </a:tr>
              <a:tr h="504238">
                <a:tc>
                  <a:txBody>
                    <a:bodyPr/>
                    <a:lstStyle/>
                    <a:p>
                      <a:pPr algn="ctr" fontAlgn="ctr"/>
                      <a:endParaRPr lang="en-GB" sz="2800" b="1" i="0" u="none" strike="noStrike">
                        <a:solidFill>
                          <a:srgbClr val="000000"/>
                        </a:solidFill>
                        <a:effectLst/>
                        <a:latin typeface="Arial" panose="020B0604020202020204" pitchFamily="34" charset="0"/>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algn="ctr" fontAlgn="ctr"/>
                      <a:r>
                        <a:rPr lang="en-GB" sz="2000" b="0" i="0" u="none" strike="noStrike">
                          <a:solidFill>
                            <a:srgbClr val="000000"/>
                          </a:solidFill>
                          <a:effectLst/>
                          <a:latin typeface="Arial" panose="020B0604020202020204" pitchFamily="34" charset="0"/>
                        </a:rPr>
                        <a: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tc>
                  <a:txBody>
                    <a:bodyPr/>
                    <a:lstStyle/>
                    <a:p>
                      <a:pPr marL="0" marR="0" lvl="0" indent="0" algn="ctr" defTabSz="1828800" rtl="0" eaLnBrk="1" fontAlgn="ctr" latinLnBrk="0" hangingPunct="1">
                        <a:lnSpc>
                          <a:spcPct val="100000"/>
                        </a:lnSpc>
                        <a:spcBef>
                          <a:spcPts val="0"/>
                        </a:spcBef>
                        <a:spcAft>
                          <a:spcPts val="0"/>
                        </a:spcAft>
                        <a:buClrTx/>
                        <a:buSzTx/>
                        <a:buFontTx/>
                        <a:buNone/>
                        <a:tabLst/>
                        <a:defRPr/>
                      </a:pPr>
                      <a:r>
                        <a:rPr lang="en-GB" sz="2000" b="0" i="0" u="none" strike="noStrike">
                          <a:solidFill>
                            <a:srgbClr val="000000"/>
                          </a:solidFill>
                          <a:effectLst/>
                          <a:latin typeface="Arial" panose="020B0604020202020204" pitchFamily="34" charset="0"/>
                        </a:rPr>
                        <a:t>europe-west4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solidFill>
                  </a:tcPr>
                </a:tc>
                <a:extLst>
                  <a:ext uri="{0D108BD9-81ED-4DB2-BD59-A6C34878D82A}">
                    <a16:rowId xmlns:a16="http://schemas.microsoft.com/office/drawing/2014/main" val="3810260914"/>
                  </a:ext>
                </a:extLst>
              </a:tr>
            </a:tbl>
          </a:graphicData>
        </a:graphic>
      </p:graphicFrame>
      <p:sp>
        <p:nvSpPr>
          <p:cNvPr id="5" name="Title 4">
            <a:extLst>
              <a:ext uri="{FF2B5EF4-FFF2-40B4-BE49-F238E27FC236}">
                <a16:creationId xmlns:a16="http://schemas.microsoft.com/office/drawing/2014/main" id="{FB51CB5A-CF13-3C7B-2737-14CCD2CCB4BF}"/>
              </a:ext>
            </a:extLst>
          </p:cNvPr>
          <p:cNvSpPr>
            <a:spLocks noGrp="1"/>
          </p:cNvSpPr>
          <p:nvPr>
            <p:ph type="title"/>
          </p:nvPr>
        </p:nvSpPr>
        <p:spPr>
          <a:xfrm>
            <a:off x="646498" y="537179"/>
            <a:ext cx="22991108" cy="968086"/>
          </a:xfrm>
        </p:spPr>
        <p:txBody>
          <a:bodyPr/>
          <a:lstStyle/>
          <a:p>
            <a:r>
              <a:rPr lang="en-GB"/>
              <a:t>Infrastructure Consumption - Economics Summary (GBP) </a:t>
            </a:r>
            <a:endParaRPr lang="en-AE"/>
          </a:p>
        </p:txBody>
      </p:sp>
      <p:sp>
        <p:nvSpPr>
          <p:cNvPr id="2" name="Slide Number Placeholder 2">
            <a:extLst>
              <a:ext uri="{FF2B5EF4-FFF2-40B4-BE49-F238E27FC236}">
                <a16:creationId xmlns:a16="http://schemas.microsoft.com/office/drawing/2014/main" id="{5F866EC4-7F09-F060-ABEB-FE84D2B138C8}"/>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88</a:t>
            </a:fld>
            <a:endParaRPr lang="en-US" sz="1400">
              <a:solidFill>
                <a:prstClr val="black"/>
              </a:solidFill>
              <a:latin typeface="Fira Sans" panose="020B0503050000020004" pitchFamily="34" charset="0"/>
            </a:endParaRPr>
          </a:p>
        </p:txBody>
      </p:sp>
      <p:sp>
        <p:nvSpPr>
          <p:cNvPr id="3" name="TextBox 2">
            <a:extLst>
              <a:ext uri="{FF2B5EF4-FFF2-40B4-BE49-F238E27FC236}">
                <a16:creationId xmlns:a16="http://schemas.microsoft.com/office/drawing/2014/main" id="{C6F729A0-30C1-6D2C-4CB7-D61CC47D70F3}"/>
              </a:ext>
            </a:extLst>
          </p:cNvPr>
          <p:cNvSpPr txBox="1"/>
          <p:nvPr/>
        </p:nvSpPr>
        <p:spPr>
          <a:xfrm>
            <a:off x="1502227" y="10580761"/>
            <a:ext cx="20554950" cy="2062103"/>
          </a:xfrm>
          <a:prstGeom prst="rect">
            <a:avLst/>
          </a:prstGeom>
          <a:noFill/>
        </p:spPr>
        <p:txBody>
          <a:bodyPr wrap="square" rtlCol="0">
            <a:spAutoFit/>
          </a:bodyPr>
          <a:lstStyle/>
          <a:p>
            <a:pPr fontAlgn="ctr"/>
            <a:r>
              <a:rPr lang="en-GB" sz="2800"/>
              <a:t>* Costing includes the following cloud service:</a:t>
            </a:r>
            <a:r>
              <a:rPr lang="en-GB" sz="2800">
                <a:solidFill>
                  <a:srgbClr val="000000"/>
                </a:solidFill>
                <a:latin typeface="Arial" panose="020B0604020202020204" pitchFamily="34" charset="0"/>
              </a:rPr>
              <a:t> Compute/Licensing, Storage, Network, Backup, Support and Credits</a:t>
            </a:r>
          </a:p>
          <a:p>
            <a:pPr fontAlgn="ctr"/>
            <a:r>
              <a:rPr lang="en-US" sz="2800"/>
              <a:t>** USD to GBP exchange rate used ($1 = £0.78994) </a:t>
            </a:r>
          </a:p>
          <a:p>
            <a:pPr fontAlgn="ctr"/>
            <a:endParaRPr lang="en-GB" sz="3600">
              <a:latin typeface="Arial" panose="020B0604020202020204" pitchFamily="34" charset="0"/>
            </a:endParaRPr>
          </a:p>
          <a:p>
            <a:pPr algn="l"/>
            <a:endParaRPr lang="en-GB" sz="3600"/>
          </a:p>
        </p:txBody>
      </p:sp>
    </p:spTree>
    <p:extLst>
      <p:ext uri="{BB962C8B-B14F-4D97-AF65-F5344CB8AC3E}">
        <p14:creationId xmlns:p14="http://schemas.microsoft.com/office/powerpoint/2010/main" val="302749168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06EFAE-16A7-1CBE-696A-37CA897D746B}"/>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DEB24969-CC14-64EC-719F-8B766355EB55}"/>
              </a:ext>
            </a:extLst>
          </p:cNvPr>
          <p:cNvSpPr>
            <a:spLocks noGrp="1"/>
          </p:cNvSpPr>
          <p:nvPr>
            <p:ph type="title"/>
          </p:nvPr>
        </p:nvSpPr>
        <p:spPr>
          <a:xfrm>
            <a:off x="668992" y="537178"/>
            <a:ext cx="22991108" cy="999313"/>
          </a:xfrm>
        </p:spPr>
        <p:txBody>
          <a:bodyPr/>
          <a:lstStyle/>
          <a:p>
            <a:pPr>
              <a:defRPr/>
            </a:pPr>
            <a:r>
              <a:rPr lang="en-US" sz="6400" b="1">
                <a:solidFill>
                  <a:prstClr val="white"/>
                </a:solidFill>
                <a:latin typeface="Arial"/>
                <a:sym typeface="Arial"/>
              </a:rPr>
              <a:t>Cloud Economics - Conclusion</a:t>
            </a:r>
            <a:endParaRPr lang="en-US" sz="6400" baseline="30000">
              <a:solidFill>
                <a:prstClr val="white"/>
              </a:solidFill>
              <a:latin typeface="Arial"/>
              <a:sym typeface="Arial"/>
            </a:endParaRPr>
          </a:p>
        </p:txBody>
      </p:sp>
      <p:sp>
        <p:nvSpPr>
          <p:cNvPr id="5" name="Text Placeholder 4">
            <a:extLst>
              <a:ext uri="{FF2B5EF4-FFF2-40B4-BE49-F238E27FC236}">
                <a16:creationId xmlns:a16="http://schemas.microsoft.com/office/drawing/2014/main" id="{93C9449F-9B0B-49C0-8CCF-E8CB14F6608A}"/>
              </a:ext>
            </a:extLst>
          </p:cNvPr>
          <p:cNvSpPr>
            <a:spLocks noGrp="1"/>
          </p:cNvSpPr>
          <p:nvPr>
            <p:ph type="body" sz="quarter" idx="12"/>
          </p:nvPr>
        </p:nvSpPr>
        <p:spPr>
          <a:xfrm>
            <a:off x="723900" y="2781300"/>
            <a:ext cx="22936200" cy="5868273"/>
          </a:xfrm>
        </p:spPr>
        <p:txBody>
          <a:bodyPr vert="horz" lIns="0" tIns="0" rIns="0" bIns="0" rtlCol="0" anchor="t">
            <a:spAutoFit/>
          </a:bodyPr>
          <a:lstStyle/>
          <a:p>
            <a:pPr marL="0" indent="0">
              <a:buNone/>
            </a:pPr>
            <a:r>
              <a:rPr lang="en-GB" sz="3200" b="1">
                <a:solidFill>
                  <a:srgbClr val="EB0000"/>
                </a:solidFill>
                <a:cs typeface="Arial"/>
              </a:rPr>
              <a:t>Notes</a:t>
            </a:r>
            <a:endParaRPr lang="en-GB" sz="3200">
              <a:cs typeface="Arial"/>
            </a:endParaRPr>
          </a:p>
          <a:p>
            <a:r>
              <a:rPr lang="en-GB" sz="3200" b="1">
                <a:solidFill>
                  <a:srgbClr val="000000"/>
                </a:solidFill>
                <a:cs typeface="Arial"/>
              </a:rPr>
              <a:t>United States – West </a:t>
            </a:r>
            <a:r>
              <a:rPr lang="en-GB" sz="3200">
                <a:solidFill>
                  <a:srgbClr val="000000"/>
                </a:solidFill>
                <a:cs typeface="Arial"/>
              </a:rPr>
              <a:t>is overall the most </a:t>
            </a:r>
            <a:r>
              <a:rPr lang="en-GB" sz="3200" u="sng">
                <a:solidFill>
                  <a:srgbClr val="000000"/>
                </a:solidFill>
                <a:cs typeface="Arial"/>
              </a:rPr>
              <a:t>cost-effective</a:t>
            </a:r>
            <a:r>
              <a:rPr lang="en-GB" sz="3200">
                <a:solidFill>
                  <a:srgbClr val="000000"/>
                </a:solidFill>
                <a:cs typeface="Arial"/>
              </a:rPr>
              <a:t> region, followed closely by </a:t>
            </a:r>
            <a:r>
              <a:rPr lang="en-GB" sz="3200" b="1">
                <a:solidFill>
                  <a:srgbClr val="000000"/>
                </a:solidFill>
                <a:cs typeface="Arial"/>
              </a:rPr>
              <a:t>United Sates - East</a:t>
            </a:r>
            <a:r>
              <a:rPr lang="en-GB" sz="3200">
                <a:solidFill>
                  <a:srgbClr val="000000"/>
                </a:solidFill>
                <a:cs typeface="Arial"/>
              </a:rPr>
              <a:t>. </a:t>
            </a:r>
          </a:p>
          <a:p>
            <a:r>
              <a:rPr lang="en-GB" sz="3200" b="1">
                <a:solidFill>
                  <a:srgbClr val="000000"/>
                </a:solidFill>
                <a:cs typeface="Arial"/>
              </a:rPr>
              <a:t>Ireland</a:t>
            </a:r>
            <a:r>
              <a:rPr lang="en-GB" sz="3200">
                <a:solidFill>
                  <a:srgbClr val="000000"/>
                </a:solidFill>
                <a:cs typeface="Arial"/>
              </a:rPr>
              <a:t> stands out as the most </a:t>
            </a:r>
            <a:r>
              <a:rPr lang="en-GB" sz="3200" u="sng">
                <a:solidFill>
                  <a:srgbClr val="000000"/>
                </a:solidFill>
                <a:cs typeface="Arial"/>
              </a:rPr>
              <a:t>cost-effective </a:t>
            </a:r>
            <a:r>
              <a:rPr lang="en-GB" sz="3200">
                <a:solidFill>
                  <a:srgbClr val="000000"/>
                </a:solidFill>
                <a:cs typeface="Arial"/>
              </a:rPr>
              <a:t>and </a:t>
            </a:r>
            <a:r>
              <a:rPr lang="en-GB" sz="3200" u="sng">
                <a:solidFill>
                  <a:srgbClr val="000000"/>
                </a:solidFill>
                <a:cs typeface="Arial"/>
              </a:rPr>
              <a:t>mature</a:t>
            </a:r>
            <a:r>
              <a:rPr lang="en-GB" sz="3200">
                <a:solidFill>
                  <a:srgbClr val="000000"/>
                </a:solidFill>
                <a:cs typeface="Arial"/>
              </a:rPr>
              <a:t> region for both AWS and Azure in Europe.</a:t>
            </a:r>
          </a:p>
          <a:p>
            <a:r>
              <a:rPr lang="en-GB" sz="3200" b="1">
                <a:solidFill>
                  <a:srgbClr val="000000"/>
                </a:solidFill>
                <a:cs typeface="Arial"/>
              </a:rPr>
              <a:t>UAE</a:t>
            </a:r>
            <a:r>
              <a:rPr lang="en-GB" sz="3200">
                <a:solidFill>
                  <a:srgbClr val="000000"/>
                </a:solidFill>
                <a:cs typeface="Arial"/>
              </a:rPr>
              <a:t> is the least </a:t>
            </a:r>
            <a:r>
              <a:rPr lang="en-GB" sz="3200" u="sng">
                <a:solidFill>
                  <a:srgbClr val="000000"/>
                </a:solidFill>
                <a:cs typeface="Arial"/>
              </a:rPr>
              <a:t>cost-effective</a:t>
            </a:r>
            <a:r>
              <a:rPr lang="en-GB" sz="3200">
                <a:solidFill>
                  <a:srgbClr val="000000"/>
                </a:solidFill>
                <a:cs typeface="Arial"/>
              </a:rPr>
              <a:t> region in AWS and second last region in front of </a:t>
            </a:r>
            <a:r>
              <a:rPr lang="en-GB" sz="3200" b="1">
                <a:solidFill>
                  <a:srgbClr val="000000"/>
                </a:solidFill>
                <a:cs typeface="Arial"/>
              </a:rPr>
              <a:t>Germany</a:t>
            </a:r>
            <a:r>
              <a:rPr lang="en-GB" sz="3200">
                <a:solidFill>
                  <a:srgbClr val="000000"/>
                </a:solidFill>
                <a:cs typeface="Arial"/>
              </a:rPr>
              <a:t> in Azure.  </a:t>
            </a:r>
          </a:p>
          <a:p>
            <a:r>
              <a:rPr lang="en-GB" sz="3200">
                <a:solidFill>
                  <a:srgbClr val="000000"/>
                </a:solidFill>
                <a:cs typeface="Arial"/>
              </a:rPr>
              <a:t>In </a:t>
            </a:r>
            <a:r>
              <a:rPr lang="en-GB" sz="3200" b="1">
                <a:solidFill>
                  <a:srgbClr val="000000"/>
                </a:solidFill>
                <a:cs typeface="Arial"/>
              </a:rPr>
              <a:t>Germany</a:t>
            </a:r>
            <a:r>
              <a:rPr lang="en-GB" sz="3200">
                <a:solidFill>
                  <a:srgbClr val="000000"/>
                </a:solidFill>
                <a:cs typeface="Arial"/>
              </a:rPr>
              <a:t>, AWS offers lower pricing compared to Azure.</a:t>
            </a:r>
          </a:p>
          <a:p>
            <a:r>
              <a:rPr lang="en-GB" sz="3200">
                <a:solidFill>
                  <a:srgbClr val="000000"/>
                </a:solidFill>
                <a:cs typeface="Arial"/>
              </a:rPr>
              <a:t>In </a:t>
            </a:r>
            <a:r>
              <a:rPr lang="en-GB" sz="3200" b="1">
                <a:solidFill>
                  <a:srgbClr val="000000"/>
                </a:solidFill>
                <a:cs typeface="Arial"/>
              </a:rPr>
              <a:t>Ireland, France, and Spain</a:t>
            </a:r>
            <a:r>
              <a:rPr lang="en-GB" sz="3200">
                <a:solidFill>
                  <a:srgbClr val="000000"/>
                </a:solidFill>
                <a:cs typeface="Arial"/>
              </a:rPr>
              <a:t> Azure provides more competitive pricing than AWS.</a:t>
            </a:r>
          </a:p>
          <a:p>
            <a:r>
              <a:rPr lang="en-GB" sz="3200" b="1">
                <a:solidFill>
                  <a:srgbClr val="000000"/>
                </a:solidFill>
                <a:cs typeface="Arial"/>
              </a:rPr>
              <a:t>AWS </a:t>
            </a:r>
            <a:r>
              <a:rPr lang="en-GB" sz="3200">
                <a:solidFill>
                  <a:srgbClr val="000000"/>
                </a:solidFill>
                <a:cs typeface="Arial"/>
              </a:rPr>
              <a:t>is notably more generous with its credits than </a:t>
            </a:r>
            <a:r>
              <a:rPr lang="en-GB" sz="3200" b="1">
                <a:solidFill>
                  <a:srgbClr val="000000"/>
                </a:solidFill>
                <a:cs typeface="Arial"/>
              </a:rPr>
              <a:t>Azure. </a:t>
            </a:r>
          </a:p>
          <a:p>
            <a:endParaRPr lang="en-GB" sz="3200">
              <a:solidFill>
                <a:srgbClr val="000000"/>
              </a:solidFill>
              <a:cs typeface="Arial"/>
            </a:endParaRPr>
          </a:p>
          <a:p>
            <a:r>
              <a:rPr lang="en-GB" sz="3200">
                <a:solidFill>
                  <a:srgbClr val="000000"/>
                </a:solidFill>
                <a:cs typeface="Arial"/>
              </a:rPr>
              <a:t>Currently, </a:t>
            </a:r>
            <a:r>
              <a:rPr lang="en-GB" sz="3200" b="1">
                <a:solidFill>
                  <a:srgbClr val="000000"/>
                </a:solidFill>
                <a:cs typeface="Arial"/>
              </a:rPr>
              <a:t>Azure </a:t>
            </a:r>
            <a:r>
              <a:rPr lang="en-GB" sz="3200">
                <a:solidFill>
                  <a:srgbClr val="000000"/>
                </a:solidFill>
                <a:cs typeface="Arial"/>
              </a:rPr>
              <a:t>operates in </a:t>
            </a:r>
            <a:r>
              <a:rPr lang="en-GB" sz="3200" b="1">
                <a:solidFill>
                  <a:srgbClr val="000000"/>
                </a:solidFill>
                <a:cs typeface="Arial"/>
              </a:rPr>
              <a:t>26 countries</a:t>
            </a:r>
            <a:r>
              <a:rPr lang="en-GB" sz="3200">
                <a:solidFill>
                  <a:srgbClr val="000000"/>
                </a:solidFill>
                <a:cs typeface="Arial"/>
              </a:rPr>
              <a:t> with </a:t>
            </a:r>
            <a:r>
              <a:rPr lang="en-GB" sz="3200" b="1">
                <a:solidFill>
                  <a:srgbClr val="000000"/>
                </a:solidFill>
                <a:cs typeface="Arial"/>
              </a:rPr>
              <a:t>56 regions</a:t>
            </a:r>
            <a:r>
              <a:rPr lang="en-GB" sz="3200">
                <a:solidFill>
                  <a:srgbClr val="000000"/>
                </a:solidFill>
                <a:cs typeface="Arial"/>
              </a:rPr>
              <a:t>, while </a:t>
            </a:r>
            <a:r>
              <a:rPr lang="en-GB" sz="3200" b="1">
                <a:solidFill>
                  <a:srgbClr val="000000"/>
                </a:solidFill>
                <a:cs typeface="Arial"/>
              </a:rPr>
              <a:t>AWS</a:t>
            </a:r>
            <a:r>
              <a:rPr lang="en-GB" sz="3200">
                <a:solidFill>
                  <a:srgbClr val="000000"/>
                </a:solidFill>
                <a:cs typeface="Arial"/>
              </a:rPr>
              <a:t> spans </a:t>
            </a:r>
            <a:r>
              <a:rPr lang="en-GB" sz="3200" b="1">
                <a:solidFill>
                  <a:srgbClr val="000000"/>
                </a:solidFill>
                <a:cs typeface="Arial"/>
              </a:rPr>
              <a:t>27 countries </a:t>
            </a:r>
            <a:r>
              <a:rPr lang="en-GB" sz="3200">
                <a:solidFill>
                  <a:srgbClr val="000000"/>
                </a:solidFill>
                <a:cs typeface="Arial"/>
              </a:rPr>
              <a:t>with </a:t>
            </a:r>
            <a:r>
              <a:rPr lang="en-GB" sz="3200" b="1">
                <a:solidFill>
                  <a:srgbClr val="000000"/>
                </a:solidFill>
                <a:cs typeface="Arial"/>
              </a:rPr>
              <a:t>35 regions</a:t>
            </a:r>
            <a:r>
              <a:rPr lang="en-GB" sz="3200">
                <a:solidFill>
                  <a:srgbClr val="000000"/>
                </a:solidFill>
                <a:cs typeface="Arial"/>
              </a:rPr>
              <a:t>.</a:t>
            </a:r>
            <a:endParaRPr lang="en-GB">
              <a:cs typeface="Arial"/>
            </a:endParaRPr>
          </a:p>
        </p:txBody>
      </p:sp>
      <p:sp>
        <p:nvSpPr>
          <p:cNvPr id="2" name="Slide Number Placeholder 2">
            <a:extLst>
              <a:ext uri="{FF2B5EF4-FFF2-40B4-BE49-F238E27FC236}">
                <a16:creationId xmlns:a16="http://schemas.microsoft.com/office/drawing/2014/main" id="{00D1BBCB-F774-4AF5-6DF0-0EEEDB408751}"/>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89</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319707989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63FF86-F349-4AC5-CC7D-35211C948486}"/>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4460F0FD-2CE0-5F55-907B-06B1A7420517}"/>
              </a:ext>
            </a:extLst>
          </p:cNvPr>
          <p:cNvSpPr>
            <a:spLocks noGrp="1"/>
          </p:cNvSpPr>
          <p:nvPr>
            <p:ph type="body" sz="quarter" idx="16"/>
          </p:nvPr>
        </p:nvSpPr>
        <p:spPr>
          <a:xfrm>
            <a:off x="10778439" y="2281161"/>
            <a:ext cx="11160126" cy="4200146"/>
          </a:xfrm>
        </p:spPr>
        <p:txBody>
          <a:bodyPr/>
          <a:lstStyle/>
          <a:p>
            <a:r>
              <a:rPr lang="en-US"/>
              <a:t>Appendix 2 – Cloud Economics – Detailed Analysis - USD</a:t>
            </a:r>
          </a:p>
        </p:txBody>
      </p:sp>
    </p:spTree>
    <p:extLst>
      <p:ext uri="{BB962C8B-B14F-4D97-AF65-F5344CB8AC3E}">
        <p14:creationId xmlns:p14="http://schemas.microsoft.com/office/powerpoint/2010/main" val="395773236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0BF3D4-D137-947A-858D-D7F278D6C00D}"/>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C1D36FF9-5E56-EDDC-F646-C8BF14764E1E}"/>
              </a:ext>
            </a:extLst>
          </p:cNvPr>
          <p:cNvSpPr>
            <a:spLocks noGrp="1"/>
          </p:cNvSpPr>
          <p:nvPr>
            <p:ph type="title"/>
          </p:nvPr>
        </p:nvSpPr>
        <p:spPr>
          <a:xfrm>
            <a:off x="668992" y="537179"/>
            <a:ext cx="22991108" cy="968086"/>
          </a:xfrm>
        </p:spPr>
        <p:txBody>
          <a:bodyPr/>
          <a:lstStyle/>
          <a:p>
            <a:r>
              <a:rPr lang="en-GB"/>
              <a:t>Infrastructure Consumption - London</a:t>
            </a:r>
            <a:endParaRPr lang="en-AE"/>
          </a:p>
        </p:txBody>
      </p:sp>
      <p:graphicFrame>
        <p:nvGraphicFramePr>
          <p:cNvPr id="8" name="Table 7">
            <a:extLst>
              <a:ext uri="{FF2B5EF4-FFF2-40B4-BE49-F238E27FC236}">
                <a16:creationId xmlns:a16="http://schemas.microsoft.com/office/drawing/2014/main" id="{AB56D64B-F98D-3B0A-0C9B-4F980BA18B8E}"/>
              </a:ext>
            </a:extLst>
          </p:cNvPr>
          <p:cNvGraphicFramePr>
            <a:graphicFrameLocks noGrp="1"/>
          </p:cNvGraphicFramePr>
          <p:nvPr>
            <p:extLst>
              <p:ext uri="{D42A27DB-BD31-4B8C-83A1-F6EECF244321}">
                <p14:modId xmlns:p14="http://schemas.microsoft.com/office/powerpoint/2010/main" val="4158636464"/>
              </p:ext>
            </p:extLst>
          </p:nvPr>
        </p:nvGraphicFramePr>
        <p:xfrm>
          <a:off x="1502226" y="3339842"/>
          <a:ext cx="19092740" cy="7888976"/>
        </p:xfrm>
        <a:graphic>
          <a:graphicData uri="http://schemas.openxmlformats.org/drawingml/2006/table">
            <a:tbl>
              <a:tblPr/>
              <a:tblGrid>
                <a:gridCol w="5297410">
                  <a:extLst>
                    <a:ext uri="{9D8B030D-6E8A-4147-A177-3AD203B41FA5}">
                      <a16:colId xmlns:a16="http://schemas.microsoft.com/office/drawing/2014/main" val="1419020890"/>
                    </a:ext>
                  </a:extLst>
                </a:gridCol>
                <a:gridCol w="4635234">
                  <a:extLst>
                    <a:ext uri="{9D8B030D-6E8A-4147-A177-3AD203B41FA5}">
                      <a16:colId xmlns:a16="http://schemas.microsoft.com/office/drawing/2014/main" val="3671563807"/>
                    </a:ext>
                  </a:extLst>
                </a:gridCol>
                <a:gridCol w="4966318">
                  <a:extLst>
                    <a:ext uri="{9D8B030D-6E8A-4147-A177-3AD203B41FA5}">
                      <a16:colId xmlns:a16="http://schemas.microsoft.com/office/drawing/2014/main" val="2301877610"/>
                    </a:ext>
                  </a:extLst>
                </a:gridCol>
                <a:gridCol w="4193778">
                  <a:extLst>
                    <a:ext uri="{9D8B030D-6E8A-4147-A177-3AD203B41FA5}">
                      <a16:colId xmlns:a16="http://schemas.microsoft.com/office/drawing/2014/main" val="3270816634"/>
                    </a:ext>
                  </a:extLst>
                </a:gridCol>
              </a:tblGrid>
              <a:tr h="688976">
                <a:tc>
                  <a:txBody>
                    <a:bodyPr/>
                    <a:lstStyle/>
                    <a:p>
                      <a:pPr algn="l" fontAlgn="ctr"/>
                      <a:r>
                        <a:rPr lang="en-GB" sz="3200" b="1" i="0" u="none" strike="noStrike">
                          <a:solidFill>
                            <a:srgbClr val="000000"/>
                          </a:solidFill>
                          <a:effectLst/>
                          <a:latin typeface="Arial" panose="020B0604020202020204" pitchFamily="34" charset="0"/>
                        </a:rPr>
                        <a:t> </a:t>
                      </a:r>
                    </a:p>
                  </a:txBody>
                  <a:tcPr marL="0" marR="0" marT="0" marB="0" anchor="ctr">
                    <a:lnL w="28575"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bg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GB" sz="3200" b="1" i="0" u="none" strike="noStrike">
                          <a:solidFill>
                            <a:srgbClr val="FFFFFF"/>
                          </a:solidFill>
                          <a:effectLst/>
                          <a:latin typeface="Arial" panose="020B0604020202020204" pitchFamily="34" charset="0"/>
                        </a:rPr>
                        <a:t>AWS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GB" sz="3200" b="1" i="0" u="none" strike="noStrike">
                          <a:solidFill>
                            <a:srgbClr val="FFFFFF"/>
                          </a:solidFill>
                          <a:effectLst/>
                          <a:latin typeface="Arial" panose="020B0604020202020204" pitchFamily="34" charset="0"/>
                        </a:rPr>
                        <a:t>Azure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59C8"/>
                    </a:solidFill>
                  </a:tcPr>
                </a:tc>
                <a:tc>
                  <a:txBody>
                    <a:bodyPr/>
                    <a:lstStyle/>
                    <a:p>
                      <a:pPr algn="ctr" fontAlgn="ctr"/>
                      <a:r>
                        <a:rPr lang="en-GB" sz="3200" b="1" i="0" u="none" strike="noStrike">
                          <a:solidFill>
                            <a:srgbClr val="FFFFFF"/>
                          </a:solidFill>
                          <a:effectLst/>
                          <a:latin typeface="Arial" panose="020B0604020202020204" pitchFamily="34" charset="0"/>
                        </a:rPr>
                        <a:t>GCP</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solidFill>
                  </a:tcPr>
                </a:tc>
                <a:extLst>
                  <a:ext uri="{0D108BD9-81ED-4DB2-BD59-A6C34878D82A}">
                    <a16:rowId xmlns:a16="http://schemas.microsoft.com/office/drawing/2014/main" val="2988703255"/>
                  </a:ext>
                </a:extLst>
              </a:tr>
              <a:tr h="720000">
                <a:tc>
                  <a:txBody>
                    <a:bodyPr/>
                    <a:lstStyle/>
                    <a:p>
                      <a:pPr algn="l" fontAlgn="b"/>
                      <a:r>
                        <a:rPr lang="en-GB" sz="3200" b="1" i="0" u="none" strike="noStrike">
                          <a:solidFill>
                            <a:srgbClr val="000000"/>
                          </a:solidFill>
                          <a:effectLst/>
                          <a:latin typeface="Arial" panose="020B0604020202020204" pitchFamily="34" charset="0"/>
                        </a:rPr>
                        <a:t> Compute + Licensing</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$ 1,184,734.92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943,380.00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(241,354.92)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61087061"/>
                  </a:ext>
                </a:extLst>
              </a:tr>
              <a:tr h="720000">
                <a:tc>
                  <a:txBody>
                    <a:bodyPr/>
                    <a:lstStyle/>
                    <a:p>
                      <a:pPr algn="l" fontAlgn="b"/>
                      <a:r>
                        <a:rPr lang="en-GB" sz="3200" b="1" i="0" u="none" strike="noStrike">
                          <a:solidFill>
                            <a:srgbClr val="000000"/>
                          </a:solidFill>
                          <a:effectLst/>
                          <a:latin typeface="Arial" panose="020B0604020202020204" pitchFamily="34" charset="0"/>
                        </a:rPr>
                        <a:t> Storage</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581,269.83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361,981.58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(219,288.25)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97594370"/>
                  </a:ext>
                </a:extLst>
              </a:tr>
              <a:tr h="720000">
                <a:tc>
                  <a:txBody>
                    <a:bodyPr/>
                    <a:lstStyle/>
                    <a:p>
                      <a:pPr algn="l" fontAlgn="b"/>
                      <a:r>
                        <a:rPr lang="en-GB" sz="3200" b="1" i="0" u="none" strike="noStrike">
                          <a:solidFill>
                            <a:srgbClr val="000000"/>
                          </a:solidFill>
                          <a:effectLst/>
                          <a:latin typeface="Arial" panose="020B0604020202020204" pitchFamily="34" charset="0"/>
                        </a:rPr>
                        <a:t> Network</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88,300.24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65,268.08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(23,032.16)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548075"/>
                  </a:ext>
                </a:extLst>
              </a:tr>
              <a:tr h="720000">
                <a:tc>
                  <a:txBody>
                    <a:bodyPr/>
                    <a:lstStyle/>
                    <a:p>
                      <a:pPr algn="l" fontAlgn="b"/>
                      <a:r>
                        <a:rPr lang="en-GB" sz="3200" b="1" i="0" u="none" strike="noStrike">
                          <a:solidFill>
                            <a:srgbClr val="000000"/>
                          </a:solidFill>
                          <a:effectLst/>
                          <a:latin typeface="Arial" panose="020B0604020202020204" pitchFamily="34" charset="0"/>
                        </a:rPr>
                        <a:t> Backup</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400,530.96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247,725.00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(152,805.96)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56511297"/>
                  </a:ext>
                </a:extLst>
              </a:tr>
              <a:tr h="720000">
                <a:tc>
                  <a:txBody>
                    <a:bodyPr/>
                    <a:lstStyle/>
                    <a:p>
                      <a:pPr algn="l" fontAlgn="b"/>
                      <a:r>
                        <a:rPr lang="en-GB" sz="3200" b="1" i="0" u="none" strike="noStrike">
                          <a:solidFill>
                            <a:srgbClr val="000000"/>
                          </a:solidFill>
                          <a:effectLst/>
                          <a:latin typeface="Arial" panose="020B0604020202020204" pitchFamily="34" charset="0"/>
                        </a:rPr>
                        <a:t> Support</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119,061.94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161,835.47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(42,773.53)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13471430"/>
                  </a:ext>
                </a:extLst>
              </a:tr>
              <a:tr h="720000">
                <a:tc>
                  <a:txBody>
                    <a:bodyPr/>
                    <a:lstStyle/>
                    <a:p>
                      <a:pPr algn="l" fontAlgn="b"/>
                      <a:r>
                        <a:rPr lang="en-GB" sz="3200" b="1" i="0" u="none" strike="noStrike">
                          <a:solidFill>
                            <a:srgbClr val="000000"/>
                          </a:solidFill>
                          <a:effectLst/>
                          <a:latin typeface="Arial" panose="020B0604020202020204" pitchFamily="34" charset="0"/>
                        </a:rPr>
                        <a:t> Credits</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(263,064.19)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(41,000.00)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(222,064.19)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92316188"/>
                  </a:ext>
                </a:extLst>
              </a:tr>
              <a:tr h="720000">
                <a:tc>
                  <a:txBody>
                    <a:bodyPr/>
                    <a:lstStyle/>
                    <a:p>
                      <a:pPr algn="l" fontAlgn="b"/>
                      <a:r>
                        <a:rPr lang="en-GB" sz="3200" b="1" i="0" u="none" strike="noStrike">
                          <a:solidFill>
                            <a:srgbClr val="000000"/>
                          </a:solidFill>
                          <a:effectLst/>
                          <a:latin typeface="Arial" panose="020B0604020202020204" pitchFamily="34" charset="0"/>
                        </a:rPr>
                        <a:t> Total (3 Years)</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$ 2,110,833.69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$ 1,739,190.12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(371,643.57)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21990567"/>
                  </a:ext>
                </a:extLst>
              </a:tr>
              <a:tr h="720000">
                <a:tc>
                  <a:txBody>
                    <a:bodyPr/>
                    <a:lstStyle/>
                    <a:p>
                      <a:pPr algn="l" fontAlgn="b"/>
                      <a:r>
                        <a:rPr lang="en-GB" sz="32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69848102"/>
                  </a:ext>
                </a:extLst>
              </a:tr>
              <a:tr h="720000">
                <a:tc>
                  <a:txBody>
                    <a:bodyPr/>
                    <a:lstStyle/>
                    <a:p>
                      <a:pPr algn="l" fontAlgn="b"/>
                      <a:r>
                        <a:rPr lang="en-GB" sz="3200" b="1" i="0" u="none" strike="noStrike">
                          <a:solidFill>
                            <a:srgbClr val="000000"/>
                          </a:solidFill>
                          <a:effectLst/>
                          <a:latin typeface="Arial" panose="020B0604020202020204" pitchFamily="34" charset="0"/>
                        </a:rPr>
                        <a:t> Total (Yearly)</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703,611.23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579,730.04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(123,881.19)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86538245"/>
                  </a:ext>
                </a:extLst>
              </a:tr>
              <a:tr h="720000">
                <a:tc>
                  <a:txBody>
                    <a:bodyPr/>
                    <a:lstStyle/>
                    <a:p>
                      <a:pPr algn="l" fontAlgn="b"/>
                      <a:r>
                        <a:rPr lang="en-GB" sz="3200" b="1" i="0" u="none" strike="noStrike">
                          <a:solidFill>
                            <a:srgbClr val="000000"/>
                          </a:solidFill>
                          <a:effectLst/>
                          <a:latin typeface="Arial" panose="020B0604020202020204" pitchFamily="34" charset="0"/>
                        </a:rPr>
                        <a:t> Total (Monthly)</a:t>
                      </a: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58,634.27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48,310.84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(10,323.43)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76671408"/>
                  </a:ext>
                </a:extLst>
              </a:tr>
            </a:tbl>
          </a:graphicData>
        </a:graphic>
      </p:graphicFrame>
      <p:sp>
        <p:nvSpPr>
          <p:cNvPr id="2" name="Slide Number Placeholder 2">
            <a:extLst>
              <a:ext uri="{FF2B5EF4-FFF2-40B4-BE49-F238E27FC236}">
                <a16:creationId xmlns:a16="http://schemas.microsoft.com/office/drawing/2014/main" id="{D5880913-5885-ABE5-2980-C422F516CE84}"/>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91</a:t>
            </a:fld>
            <a:endParaRPr lang="en-US" sz="1400">
              <a:solidFill>
                <a:prstClr val="black"/>
              </a:solidFill>
              <a:latin typeface="Fira Sans" panose="020B0503050000020004" pitchFamily="34" charset="0"/>
            </a:endParaRPr>
          </a:p>
        </p:txBody>
      </p:sp>
      <p:sp>
        <p:nvSpPr>
          <p:cNvPr id="3" name="TextBox 2">
            <a:extLst>
              <a:ext uri="{FF2B5EF4-FFF2-40B4-BE49-F238E27FC236}">
                <a16:creationId xmlns:a16="http://schemas.microsoft.com/office/drawing/2014/main" id="{3E38AEF4-BD91-6446-B7C3-242B414C958C}"/>
              </a:ext>
            </a:extLst>
          </p:cNvPr>
          <p:cNvSpPr txBox="1"/>
          <p:nvPr/>
        </p:nvSpPr>
        <p:spPr>
          <a:xfrm>
            <a:off x="8953151" y="12339419"/>
            <a:ext cx="2095445" cy="646331"/>
          </a:xfrm>
          <a:prstGeom prst="rect">
            <a:avLst/>
          </a:prstGeom>
          <a:noFill/>
        </p:spPr>
        <p:txBody>
          <a:bodyPr wrap="none" rtlCol="0">
            <a:spAutoFit/>
          </a:bodyPr>
          <a:lstStyle/>
          <a:p>
            <a:pPr algn="l"/>
            <a:r>
              <a:rPr lang="en-GB" sz="1800"/>
              <a:t>Operations Costs?</a:t>
            </a:r>
          </a:p>
          <a:p>
            <a:pPr algn="l"/>
            <a:r>
              <a:rPr lang="en-GB"/>
              <a:t>Migration Costs?</a:t>
            </a:r>
            <a:endParaRPr lang="en-GB" sz="1800"/>
          </a:p>
        </p:txBody>
      </p:sp>
    </p:spTree>
    <p:extLst>
      <p:ext uri="{BB962C8B-B14F-4D97-AF65-F5344CB8AC3E}">
        <p14:creationId xmlns:p14="http://schemas.microsoft.com/office/powerpoint/2010/main" val="104901990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961B34-9CCD-25E9-D2B8-19598942F6CA}"/>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22C9787C-82FF-7DE0-6D7F-4813BCE46688}"/>
              </a:ext>
            </a:extLst>
          </p:cNvPr>
          <p:cNvSpPr>
            <a:spLocks noGrp="1"/>
          </p:cNvSpPr>
          <p:nvPr>
            <p:ph type="title"/>
          </p:nvPr>
        </p:nvSpPr>
        <p:spPr>
          <a:xfrm>
            <a:off x="668992" y="537179"/>
            <a:ext cx="22991108" cy="968086"/>
          </a:xfrm>
        </p:spPr>
        <p:txBody>
          <a:bodyPr/>
          <a:lstStyle/>
          <a:p>
            <a:r>
              <a:rPr lang="en-GB"/>
              <a:t>Infrastructure Consumption - Europe (Germany)</a:t>
            </a:r>
            <a:endParaRPr lang="en-AE"/>
          </a:p>
        </p:txBody>
      </p:sp>
      <p:graphicFrame>
        <p:nvGraphicFramePr>
          <p:cNvPr id="8" name="Table 7">
            <a:extLst>
              <a:ext uri="{FF2B5EF4-FFF2-40B4-BE49-F238E27FC236}">
                <a16:creationId xmlns:a16="http://schemas.microsoft.com/office/drawing/2014/main" id="{92960195-165C-2E10-4C39-3B00C2ABAB7F}"/>
              </a:ext>
            </a:extLst>
          </p:cNvPr>
          <p:cNvGraphicFramePr>
            <a:graphicFrameLocks noGrp="1"/>
          </p:cNvGraphicFramePr>
          <p:nvPr>
            <p:extLst>
              <p:ext uri="{D42A27DB-BD31-4B8C-83A1-F6EECF244321}">
                <p14:modId xmlns:p14="http://schemas.microsoft.com/office/powerpoint/2010/main" val="1774660870"/>
              </p:ext>
            </p:extLst>
          </p:nvPr>
        </p:nvGraphicFramePr>
        <p:xfrm>
          <a:off x="1502226" y="3263642"/>
          <a:ext cx="19092740" cy="7888976"/>
        </p:xfrm>
        <a:graphic>
          <a:graphicData uri="http://schemas.openxmlformats.org/drawingml/2006/table">
            <a:tbl>
              <a:tblPr/>
              <a:tblGrid>
                <a:gridCol w="5297410">
                  <a:extLst>
                    <a:ext uri="{9D8B030D-6E8A-4147-A177-3AD203B41FA5}">
                      <a16:colId xmlns:a16="http://schemas.microsoft.com/office/drawing/2014/main" val="1419020890"/>
                    </a:ext>
                  </a:extLst>
                </a:gridCol>
                <a:gridCol w="4635234">
                  <a:extLst>
                    <a:ext uri="{9D8B030D-6E8A-4147-A177-3AD203B41FA5}">
                      <a16:colId xmlns:a16="http://schemas.microsoft.com/office/drawing/2014/main" val="3671563807"/>
                    </a:ext>
                  </a:extLst>
                </a:gridCol>
                <a:gridCol w="4966318">
                  <a:extLst>
                    <a:ext uri="{9D8B030D-6E8A-4147-A177-3AD203B41FA5}">
                      <a16:colId xmlns:a16="http://schemas.microsoft.com/office/drawing/2014/main" val="2301877610"/>
                    </a:ext>
                  </a:extLst>
                </a:gridCol>
                <a:gridCol w="4193778">
                  <a:extLst>
                    <a:ext uri="{9D8B030D-6E8A-4147-A177-3AD203B41FA5}">
                      <a16:colId xmlns:a16="http://schemas.microsoft.com/office/drawing/2014/main" val="3270816634"/>
                    </a:ext>
                  </a:extLst>
                </a:gridCol>
              </a:tblGrid>
              <a:tr h="688976">
                <a:tc>
                  <a:txBody>
                    <a:bodyPr/>
                    <a:lstStyle/>
                    <a:p>
                      <a:pPr algn="l" fontAlgn="ctr"/>
                      <a:r>
                        <a:rPr lang="en-GB" sz="3200" b="1" i="0" u="none" strike="noStrike">
                          <a:solidFill>
                            <a:srgbClr val="000000"/>
                          </a:solidFill>
                          <a:effectLst/>
                          <a:latin typeface="+mj-lt"/>
                        </a:rPr>
                        <a:t> </a:t>
                      </a:r>
                    </a:p>
                  </a:txBody>
                  <a:tcPr marL="0" marR="0" marT="0" marB="0" anchor="ctr">
                    <a:lnL w="28575"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bg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GB" sz="3200" b="1" i="0" u="none" strike="noStrike">
                          <a:solidFill>
                            <a:srgbClr val="FFFFFF"/>
                          </a:solidFill>
                          <a:effectLst/>
                          <a:latin typeface="Arial" panose="020B0604020202020204" pitchFamily="34" charset="0"/>
                        </a:rPr>
                        <a:t>AWS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GB" sz="3200" b="1" i="0" u="none" strike="noStrike">
                          <a:solidFill>
                            <a:srgbClr val="FFFFFF"/>
                          </a:solidFill>
                          <a:effectLst/>
                          <a:latin typeface="Arial" panose="020B0604020202020204" pitchFamily="34" charset="0"/>
                        </a:rPr>
                        <a:t>Azure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59C8"/>
                    </a:solidFill>
                  </a:tcPr>
                </a:tc>
                <a:tc>
                  <a:txBody>
                    <a:bodyPr/>
                    <a:lstStyle/>
                    <a:p>
                      <a:pPr algn="ctr" fontAlgn="ctr"/>
                      <a:r>
                        <a:rPr lang="en-GB" sz="3200" b="1" i="0" u="none" strike="noStrike">
                          <a:solidFill>
                            <a:srgbClr val="FFFFFF"/>
                          </a:solidFill>
                          <a:effectLst/>
                          <a:latin typeface="Arial" panose="020B0604020202020204" pitchFamily="34" charset="0"/>
                        </a:rPr>
                        <a:t>GCP</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solidFill>
                  </a:tcPr>
                </a:tc>
                <a:extLst>
                  <a:ext uri="{0D108BD9-81ED-4DB2-BD59-A6C34878D82A}">
                    <a16:rowId xmlns:a16="http://schemas.microsoft.com/office/drawing/2014/main" val="2988703255"/>
                  </a:ext>
                </a:extLst>
              </a:tr>
              <a:tr h="720000">
                <a:tc>
                  <a:txBody>
                    <a:bodyPr/>
                    <a:lstStyle/>
                    <a:p>
                      <a:pPr algn="l" fontAlgn="ctr"/>
                      <a:r>
                        <a:rPr lang="en-GB" sz="3200" b="0" i="0" u="none" strike="noStrike">
                          <a:solidFill>
                            <a:srgbClr val="000000"/>
                          </a:solidFill>
                          <a:effectLst/>
                          <a:latin typeface="+mj-lt"/>
                        </a:rPr>
                        <a:t> Compute/Licensing</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$ 1,044,418.84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$ 1,124,561.16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(80,142.32)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61087061"/>
                  </a:ext>
                </a:extLst>
              </a:tr>
              <a:tr h="720000">
                <a:tc>
                  <a:txBody>
                    <a:bodyPr/>
                    <a:lstStyle/>
                    <a:p>
                      <a:pPr algn="l" fontAlgn="ctr"/>
                      <a:r>
                        <a:rPr lang="en-GB" sz="3200" b="0" i="0" u="none" strike="noStrike">
                          <a:solidFill>
                            <a:srgbClr val="000000"/>
                          </a:solidFill>
                          <a:effectLst/>
                          <a:latin typeface="+mj-lt"/>
                        </a:rPr>
                        <a:t> Storage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596,392.28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463,549.57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(132,842.71)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97594370"/>
                  </a:ext>
                </a:extLst>
              </a:tr>
              <a:tr h="720000">
                <a:tc>
                  <a:txBody>
                    <a:bodyPr/>
                    <a:lstStyle/>
                    <a:p>
                      <a:pPr algn="l" fontAlgn="ctr"/>
                      <a:r>
                        <a:rPr lang="en-GB" sz="3200" b="0" i="0" u="none" strike="noStrike">
                          <a:solidFill>
                            <a:srgbClr val="000000"/>
                          </a:solidFill>
                          <a:effectLst/>
                          <a:latin typeface="+mj-lt"/>
                        </a:rPr>
                        <a:t> Network</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82,040.56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79,405.54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(2,635.02)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548075"/>
                  </a:ext>
                </a:extLst>
              </a:tr>
              <a:tr h="720000">
                <a:tc>
                  <a:txBody>
                    <a:bodyPr/>
                    <a:lstStyle/>
                    <a:p>
                      <a:pPr algn="l" fontAlgn="ctr"/>
                      <a:r>
                        <a:rPr lang="en-GB" sz="3200" b="0" i="0" u="none" strike="noStrike">
                          <a:solidFill>
                            <a:srgbClr val="000000"/>
                          </a:solidFill>
                          <a:effectLst/>
                          <a:latin typeface="+mj-lt"/>
                        </a:rPr>
                        <a:t> Backup</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408,088.08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345,048.00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(63,040.08)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56511297"/>
                  </a:ext>
                </a:extLst>
              </a:tr>
              <a:tr h="720000">
                <a:tc>
                  <a:txBody>
                    <a:bodyPr/>
                    <a:lstStyle/>
                    <a:p>
                      <a:pPr algn="l" fontAlgn="ctr"/>
                      <a:r>
                        <a:rPr lang="en-GB" sz="3200" b="0" i="0" u="none" strike="noStrike">
                          <a:solidFill>
                            <a:srgbClr val="000000"/>
                          </a:solidFill>
                          <a:effectLst/>
                          <a:latin typeface="+mj-lt"/>
                        </a:rPr>
                        <a:t> Support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112,994.51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201,256.43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(88,261.92)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75712822"/>
                  </a:ext>
                </a:extLst>
              </a:tr>
              <a:tr h="720000">
                <a:tc>
                  <a:txBody>
                    <a:bodyPr/>
                    <a:lstStyle/>
                    <a:p>
                      <a:pPr algn="l" fontAlgn="ctr"/>
                      <a:r>
                        <a:rPr lang="en-GB" sz="3200" b="0" i="0" u="none" strike="noStrike">
                          <a:solidFill>
                            <a:srgbClr val="000000"/>
                          </a:solidFill>
                          <a:effectLst/>
                          <a:latin typeface="+mj-lt"/>
                        </a:rPr>
                        <a:t> Credits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(248,609.64)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(50,200.00)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(198,409.64)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92316188"/>
                  </a:ext>
                </a:extLst>
              </a:tr>
              <a:tr h="720000">
                <a:tc>
                  <a:txBody>
                    <a:bodyPr/>
                    <a:lstStyle/>
                    <a:p>
                      <a:pPr algn="l" fontAlgn="ctr"/>
                      <a:r>
                        <a:rPr lang="en-GB" sz="3200" b="1" i="0" u="none" strike="noStrike">
                          <a:solidFill>
                            <a:srgbClr val="000000"/>
                          </a:solidFill>
                          <a:effectLst/>
                          <a:latin typeface="+mj-lt"/>
                        </a:rPr>
                        <a:t> Total (3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$ 1,995,324.63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$ 2,163,620.69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(168,296.07)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21990567"/>
                  </a:ext>
                </a:extLst>
              </a:tr>
              <a:tr h="720000">
                <a:tc>
                  <a:txBody>
                    <a:bodyPr/>
                    <a:lstStyle/>
                    <a:p>
                      <a:pPr algn="l" fontAlgn="b"/>
                      <a:endParaRPr lang="en-AE" sz="3200" b="0" i="0" u="none" strike="noStrike">
                        <a:solidFill>
                          <a:srgbClr val="000000"/>
                        </a:solidFill>
                        <a:effectLst/>
                        <a:latin typeface="+mj-lt"/>
                      </a:endParaRP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69848102"/>
                  </a:ext>
                </a:extLst>
              </a:tr>
              <a:tr h="720000">
                <a:tc>
                  <a:txBody>
                    <a:bodyPr/>
                    <a:lstStyle/>
                    <a:p>
                      <a:pPr algn="l" fontAlgn="ctr"/>
                      <a:r>
                        <a:rPr lang="en-GB" sz="3200" b="1" i="0" u="none" strike="noStrike">
                          <a:solidFill>
                            <a:srgbClr val="000000"/>
                          </a:solidFill>
                          <a:effectLst/>
                          <a:latin typeface="+mj-lt"/>
                        </a:rPr>
                        <a:t> </a:t>
                      </a:r>
                      <a:r>
                        <a:rPr lang="en-GB" sz="3200" b="1" i="0" u="none" strike="noStrike" kern="1200">
                          <a:solidFill>
                            <a:srgbClr val="000000"/>
                          </a:solidFill>
                          <a:effectLst/>
                          <a:latin typeface="+mn-lt"/>
                          <a:ea typeface="+mn-ea"/>
                          <a:cs typeface="+mn-cs"/>
                        </a:rPr>
                        <a:t>Total (Yearly)</a:t>
                      </a:r>
                      <a:endParaRPr lang="en-GB" sz="3200" b="1" i="0" u="none" strike="noStrike">
                        <a:solidFill>
                          <a:srgbClr val="000000"/>
                        </a:solidFill>
                        <a:effectLst/>
                        <a:latin typeface="+mj-lt"/>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665,108.21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721,206.90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(56,098.69)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86538245"/>
                  </a:ext>
                </a:extLst>
              </a:tr>
              <a:tr h="720000">
                <a:tc>
                  <a:txBody>
                    <a:bodyPr/>
                    <a:lstStyle/>
                    <a:p>
                      <a:pPr algn="l" fontAlgn="ctr"/>
                      <a:r>
                        <a:rPr lang="en-GB" sz="3200" b="1" i="0" u="none" strike="noStrike">
                          <a:solidFill>
                            <a:srgbClr val="000000"/>
                          </a:solidFill>
                          <a:effectLst/>
                          <a:latin typeface="+mj-lt"/>
                        </a:rPr>
                        <a:t> Total (Monthly)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55,425.68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60,100.57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(4,674.89)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76671408"/>
                  </a:ext>
                </a:extLst>
              </a:tr>
            </a:tbl>
          </a:graphicData>
        </a:graphic>
      </p:graphicFrame>
      <p:sp>
        <p:nvSpPr>
          <p:cNvPr id="3" name="Slide Number Placeholder 2">
            <a:extLst>
              <a:ext uri="{FF2B5EF4-FFF2-40B4-BE49-F238E27FC236}">
                <a16:creationId xmlns:a16="http://schemas.microsoft.com/office/drawing/2014/main" id="{8274B219-50AA-DAC1-7CE9-CF74FCF6C0CB}"/>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92</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149314196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788A87-232C-F176-83F7-15966D89B5F4}"/>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701C3FEF-D2B8-F784-D93D-626CF41812EC}"/>
              </a:ext>
            </a:extLst>
          </p:cNvPr>
          <p:cNvSpPr>
            <a:spLocks noGrp="1"/>
          </p:cNvSpPr>
          <p:nvPr>
            <p:ph type="title"/>
          </p:nvPr>
        </p:nvSpPr>
        <p:spPr>
          <a:xfrm>
            <a:off x="668992" y="537179"/>
            <a:ext cx="22991108" cy="968086"/>
          </a:xfrm>
        </p:spPr>
        <p:txBody>
          <a:bodyPr/>
          <a:lstStyle/>
          <a:p>
            <a:r>
              <a:rPr lang="en-GB"/>
              <a:t>Infrastructure Consumption - Europe (Ireland + Netherlands)</a:t>
            </a:r>
            <a:endParaRPr lang="en-AE"/>
          </a:p>
        </p:txBody>
      </p:sp>
      <p:graphicFrame>
        <p:nvGraphicFramePr>
          <p:cNvPr id="8" name="Table 7">
            <a:extLst>
              <a:ext uri="{FF2B5EF4-FFF2-40B4-BE49-F238E27FC236}">
                <a16:creationId xmlns:a16="http://schemas.microsoft.com/office/drawing/2014/main" id="{DE7612F9-F59F-4C8E-ABD3-D6C140236DD1}"/>
              </a:ext>
            </a:extLst>
          </p:cNvPr>
          <p:cNvGraphicFramePr>
            <a:graphicFrameLocks noGrp="1"/>
          </p:cNvGraphicFramePr>
          <p:nvPr>
            <p:extLst>
              <p:ext uri="{D42A27DB-BD31-4B8C-83A1-F6EECF244321}">
                <p14:modId xmlns:p14="http://schemas.microsoft.com/office/powerpoint/2010/main" val="474246613"/>
              </p:ext>
            </p:extLst>
          </p:nvPr>
        </p:nvGraphicFramePr>
        <p:xfrm>
          <a:off x="1793626" y="3212942"/>
          <a:ext cx="19092740" cy="8608976"/>
        </p:xfrm>
        <a:graphic>
          <a:graphicData uri="http://schemas.openxmlformats.org/drawingml/2006/table">
            <a:tbl>
              <a:tblPr/>
              <a:tblGrid>
                <a:gridCol w="5297410">
                  <a:extLst>
                    <a:ext uri="{9D8B030D-6E8A-4147-A177-3AD203B41FA5}">
                      <a16:colId xmlns:a16="http://schemas.microsoft.com/office/drawing/2014/main" val="1419020890"/>
                    </a:ext>
                  </a:extLst>
                </a:gridCol>
                <a:gridCol w="4635234">
                  <a:extLst>
                    <a:ext uri="{9D8B030D-6E8A-4147-A177-3AD203B41FA5}">
                      <a16:colId xmlns:a16="http://schemas.microsoft.com/office/drawing/2014/main" val="3671563807"/>
                    </a:ext>
                  </a:extLst>
                </a:gridCol>
                <a:gridCol w="4966318">
                  <a:extLst>
                    <a:ext uri="{9D8B030D-6E8A-4147-A177-3AD203B41FA5}">
                      <a16:colId xmlns:a16="http://schemas.microsoft.com/office/drawing/2014/main" val="2301877610"/>
                    </a:ext>
                  </a:extLst>
                </a:gridCol>
                <a:gridCol w="4193778">
                  <a:extLst>
                    <a:ext uri="{9D8B030D-6E8A-4147-A177-3AD203B41FA5}">
                      <a16:colId xmlns:a16="http://schemas.microsoft.com/office/drawing/2014/main" val="3270816634"/>
                    </a:ext>
                  </a:extLst>
                </a:gridCol>
              </a:tblGrid>
              <a:tr h="688976">
                <a:tc>
                  <a:txBody>
                    <a:bodyPr/>
                    <a:lstStyle/>
                    <a:p>
                      <a:pPr algn="l" fontAlgn="ctr"/>
                      <a:r>
                        <a:rPr lang="en-GB" sz="3200" b="1" i="0" u="none" strike="noStrike">
                          <a:solidFill>
                            <a:srgbClr val="000000"/>
                          </a:solidFill>
                          <a:effectLst/>
                          <a:latin typeface="+mj-lt"/>
                        </a:rPr>
                        <a:t> </a:t>
                      </a:r>
                    </a:p>
                  </a:txBody>
                  <a:tcPr marL="0" marR="0" marT="0" marB="0" anchor="ctr">
                    <a:lnL w="28575" cap="flat" cmpd="sng" algn="ctr">
                      <a:solidFill>
                        <a:schemeClr val="bg1"/>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bg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GB" sz="3200" b="1" i="0" u="none" strike="noStrike">
                          <a:solidFill>
                            <a:srgbClr val="FFFFFF"/>
                          </a:solidFill>
                          <a:effectLst/>
                          <a:latin typeface="Arial" panose="020B0604020202020204" pitchFamily="34" charset="0"/>
                        </a:rPr>
                        <a:t>AWS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GB" sz="3200" b="1" i="0" u="none" strike="noStrike">
                          <a:solidFill>
                            <a:srgbClr val="FFFFFF"/>
                          </a:solidFill>
                          <a:effectLst/>
                          <a:latin typeface="Arial" panose="020B0604020202020204" pitchFamily="34" charset="0"/>
                        </a:rPr>
                        <a:t>Azure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59C8"/>
                    </a:solidFill>
                  </a:tcPr>
                </a:tc>
                <a:tc>
                  <a:txBody>
                    <a:bodyPr/>
                    <a:lstStyle/>
                    <a:p>
                      <a:pPr algn="ctr" fontAlgn="ctr"/>
                      <a:r>
                        <a:rPr lang="en-GB" sz="3200" b="1" i="0" u="none" strike="noStrike">
                          <a:solidFill>
                            <a:srgbClr val="FFFFFF"/>
                          </a:solidFill>
                          <a:effectLst/>
                          <a:latin typeface="Arial" panose="020B0604020202020204" pitchFamily="34" charset="0"/>
                        </a:rPr>
                        <a:t>GCP</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solidFill>
                  </a:tcPr>
                </a:tc>
                <a:extLst>
                  <a:ext uri="{0D108BD9-81ED-4DB2-BD59-A6C34878D82A}">
                    <a16:rowId xmlns:a16="http://schemas.microsoft.com/office/drawing/2014/main" val="2988703255"/>
                  </a:ext>
                </a:extLst>
              </a:tr>
              <a:tr h="720000">
                <a:tc>
                  <a:txBody>
                    <a:bodyPr/>
                    <a:lstStyle/>
                    <a:p>
                      <a:pPr algn="l" fontAlgn="ctr"/>
                      <a:endParaRPr lang="en-GB" sz="3200" b="0" i="0" u="none" strike="noStrike">
                        <a:solidFill>
                          <a:srgbClr val="000000"/>
                        </a:solidFill>
                        <a:effectLst/>
                        <a:latin typeface="+mj-lt"/>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400" b="0" i="0" u="none" strike="noStrike">
                          <a:solidFill>
                            <a:srgbClr val="000000"/>
                          </a:solidFill>
                          <a:effectLst/>
                          <a:latin typeface="Arial" panose="020B0604020202020204" pitchFamily="34" charset="0"/>
                        </a:rPr>
                        <a:t>Ireland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400" b="0" i="0" u="none" strike="noStrike">
                          <a:solidFill>
                            <a:srgbClr val="000000"/>
                          </a:solidFill>
                          <a:effectLst/>
                          <a:latin typeface="Arial" panose="020B0604020202020204" pitchFamily="34" charset="0"/>
                        </a:rPr>
                        <a:t>Ireland</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400" b="0" i="0" u="none" strike="noStrike">
                          <a:solidFill>
                            <a:srgbClr val="000000"/>
                          </a:solidFill>
                          <a:effectLst/>
                          <a:latin typeface="Arial" panose="020B0604020202020204" pitchFamily="34" charset="0"/>
                        </a:rPr>
                        <a:t>Netherlands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2269618"/>
                  </a:ext>
                </a:extLst>
              </a:tr>
              <a:tr h="720000">
                <a:tc>
                  <a:txBody>
                    <a:bodyPr/>
                    <a:lstStyle/>
                    <a:p>
                      <a:pPr algn="l" fontAlgn="ctr"/>
                      <a:r>
                        <a:rPr lang="en-GB" sz="3200" b="0" i="0" u="none" strike="noStrike">
                          <a:solidFill>
                            <a:srgbClr val="000000"/>
                          </a:solidFill>
                          <a:effectLst/>
                          <a:latin typeface="+mj-lt"/>
                        </a:rPr>
                        <a:t> Compute/Licensing</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$ 1,018,259.06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891,925.56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(126,333.50)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61087061"/>
                  </a:ext>
                </a:extLst>
              </a:tr>
              <a:tr h="720000">
                <a:tc>
                  <a:txBody>
                    <a:bodyPr/>
                    <a:lstStyle/>
                    <a:p>
                      <a:pPr algn="l" fontAlgn="ctr"/>
                      <a:r>
                        <a:rPr lang="en-GB" sz="3200" b="0" i="0" u="none" strike="noStrike">
                          <a:solidFill>
                            <a:srgbClr val="000000"/>
                          </a:solidFill>
                          <a:effectLst/>
                          <a:latin typeface="+mj-lt"/>
                        </a:rPr>
                        <a:t> Storage</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550,488.48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347,133.07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(203,355.41)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97594370"/>
                  </a:ext>
                </a:extLst>
              </a:tr>
              <a:tr h="720000">
                <a:tc>
                  <a:txBody>
                    <a:bodyPr/>
                    <a:lstStyle/>
                    <a:p>
                      <a:pPr algn="l" fontAlgn="ctr"/>
                      <a:r>
                        <a:rPr lang="en-GB" sz="3200" b="0" i="0" u="none" strike="noStrike">
                          <a:solidFill>
                            <a:srgbClr val="000000"/>
                          </a:solidFill>
                          <a:effectLst/>
                          <a:latin typeface="+mj-lt"/>
                        </a:rPr>
                        <a:t> Network</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78,437.38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61,952.93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(16,484.45)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548075"/>
                  </a:ext>
                </a:extLst>
              </a:tr>
              <a:tr h="720000">
                <a:tc>
                  <a:txBody>
                    <a:bodyPr/>
                    <a:lstStyle/>
                    <a:p>
                      <a:pPr algn="l" fontAlgn="ctr"/>
                      <a:r>
                        <a:rPr lang="en-GB" sz="3200" b="0" i="0" u="none" strike="noStrike">
                          <a:solidFill>
                            <a:srgbClr val="000000"/>
                          </a:solidFill>
                          <a:effectLst/>
                          <a:latin typeface="+mj-lt"/>
                        </a:rPr>
                        <a:t> Backup</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377,858.88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198,180.00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(179,678.88)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56511297"/>
                  </a:ext>
                </a:extLst>
              </a:tr>
              <a:tr h="720000">
                <a:tc>
                  <a:txBody>
                    <a:bodyPr/>
                    <a:lstStyle/>
                    <a:p>
                      <a:pPr algn="l" fontAlgn="ctr"/>
                      <a:r>
                        <a:rPr lang="en-GB" sz="3200" b="0" i="0" u="none" strike="noStrike">
                          <a:solidFill>
                            <a:srgbClr val="000000"/>
                          </a:solidFill>
                          <a:effectLst/>
                          <a:latin typeface="+mj-lt"/>
                        </a:rPr>
                        <a:t> Support</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108,739.05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149,919.16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(41,180.11)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54521096"/>
                  </a:ext>
                </a:extLst>
              </a:tr>
              <a:tr h="720000">
                <a:tc>
                  <a:txBody>
                    <a:bodyPr/>
                    <a:lstStyle/>
                    <a:p>
                      <a:pPr algn="l" fontAlgn="ctr"/>
                      <a:r>
                        <a:rPr lang="en-GB" sz="3200" b="0" i="0" u="none" strike="noStrike">
                          <a:solidFill>
                            <a:srgbClr val="000000"/>
                          </a:solidFill>
                          <a:effectLst/>
                          <a:latin typeface="+mj-lt"/>
                        </a:rPr>
                        <a:t> Credits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3200" b="1" i="0" u="none" strike="noStrike">
                          <a:solidFill>
                            <a:srgbClr val="000000"/>
                          </a:solidFill>
                          <a:effectLst/>
                          <a:latin typeface="Arial" panose="020B0604020202020204" pitchFamily="34" charset="0"/>
                        </a:rPr>
                        <a:t> $   (236,255.11)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3200" b="0" i="0" u="none" strike="noStrike">
                          <a:solidFill>
                            <a:srgbClr val="000000"/>
                          </a:solidFill>
                          <a:effectLst/>
                          <a:latin typeface="Arial" panose="020B0604020202020204" pitchFamily="34" charset="0"/>
                        </a:rPr>
                        <a:t> $     (39,500.00)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fontAlgn="ctr"/>
                      <a:r>
                        <a:rPr lang="en-GB" sz="2800" b="0" i="0" u="none" strike="noStrike">
                          <a:solidFill>
                            <a:srgbClr val="000000"/>
                          </a:solidFill>
                          <a:effectLst/>
                          <a:latin typeface="Arial" panose="020B0604020202020204" pitchFamily="34" charset="0"/>
                        </a:rPr>
                        <a:t> $     (196,755.11)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92316188"/>
                  </a:ext>
                </a:extLst>
              </a:tr>
              <a:tr h="720000">
                <a:tc>
                  <a:txBody>
                    <a:bodyPr/>
                    <a:lstStyle/>
                    <a:p>
                      <a:pPr algn="l" fontAlgn="ctr"/>
                      <a:r>
                        <a:rPr lang="en-GB" sz="3200" b="1" i="0" u="none" strike="noStrike">
                          <a:solidFill>
                            <a:srgbClr val="000000"/>
                          </a:solidFill>
                          <a:effectLst/>
                          <a:latin typeface="+mj-lt"/>
                        </a:rPr>
                        <a:t> Total (3 Years)</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$ 1,897,527.74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$ 1,609,610.72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(287,917.02)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21990567"/>
                  </a:ext>
                </a:extLst>
              </a:tr>
              <a:tr h="720000">
                <a:tc>
                  <a:txBody>
                    <a:bodyPr/>
                    <a:lstStyle/>
                    <a:p>
                      <a:pPr algn="l" fontAlgn="b"/>
                      <a:endParaRPr lang="en-AE" sz="3200" b="0" i="0" u="none" strike="noStrike">
                        <a:solidFill>
                          <a:srgbClr val="000000"/>
                        </a:solidFill>
                        <a:effectLst/>
                        <a:latin typeface="+mj-lt"/>
                      </a:endParaRP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r>
                        <a:rPr lang="en-GB" sz="2800" b="0" i="0" u="none" strike="noStrike">
                          <a:solidFill>
                            <a:srgbClr val="000000"/>
                          </a:solidFill>
                          <a:effectLst/>
                          <a:latin typeface="Arial" panose="020B0604020202020204" pitchFamily="34"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69848102"/>
                  </a:ext>
                </a:extLst>
              </a:tr>
              <a:tr h="720000">
                <a:tc>
                  <a:txBody>
                    <a:bodyPr/>
                    <a:lstStyle/>
                    <a:p>
                      <a:pPr algn="l" fontAlgn="ctr"/>
                      <a:r>
                        <a:rPr lang="en-GB" sz="3200" b="1" i="0" u="none" strike="noStrike">
                          <a:solidFill>
                            <a:srgbClr val="000000"/>
                          </a:solidFill>
                          <a:effectLst/>
                          <a:latin typeface="+mj-lt"/>
                        </a:rPr>
                        <a:t> </a:t>
                      </a:r>
                      <a:r>
                        <a:rPr lang="en-GB" sz="3200" b="1" i="0" u="none" strike="noStrike" kern="1200">
                          <a:solidFill>
                            <a:srgbClr val="000000"/>
                          </a:solidFill>
                          <a:effectLst/>
                          <a:latin typeface="+mn-lt"/>
                          <a:ea typeface="+mn-ea"/>
                          <a:cs typeface="+mn-cs"/>
                        </a:rPr>
                        <a:t>Total (Yearly)</a:t>
                      </a:r>
                      <a:endParaRPr lang="en-GB" sz="3200" b="1" i="0" u="none" strike="noStrike">
                        <a:solidFill>
                          <a:srgbClr val="000000"/>
                        </a:solidFill>
                        <a:effectLst/>
                        <a:latin typeface="+mj-lt"/>
                      </a:endParaRP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632,509.25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536,536.91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(95,972.34)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86538245"/>
                  </a:ext>
                </a:extLst>
              </a:tr>
              <a:tr h="720000">
                <a:tc>
                  <a:txBody>
                    <a:bodyPr/>
                    <a:lstStyle/>
                    <a:p>
                      <a:pPr algn="l" fontAlgn="ctr"/>
                      <a:r>
                        <a:rPr lang="en-GB" sz="3200" b="1" i="0" u="none" strike="noStrike">
                          <a:solidFill>
                            <a:srgbClr val="000000"/>
                          </a:solidFill>
                          <a:effectLst/>
                          <a:latin typeface="+mj-lt"/>
                        </a:rPr>
                        <a:t> Total (Monthly)</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0" i="0" u="none" strike="noStrike">
                          <a:solidFill>
                            <a:srgbClr val="000000"/>
                          </a:solidFill>
                          <a:effectLst/>
                          <a:latin typeface="Arial" panose="020B0604020202020204" pitchFamily="34" charset="0"/>
                        </a:rPr>
                        <a:t> $      52,709.10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3200" b="1" i="0" u="none" strike="noStrike">
                          <a:solidFill>
                            <a:srgbClr val="000000"/>
                          </a:solidFill>
                          <a:effectLst/>
                          <a:latin typeface="Arial" panose="020B0604020202020204" pitchFamily="34" charset="0"/>
                        </a:rPr>
                        <a:t> $      44,711.41 </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GB" sz="2800" b="0" i="0" u="none" strike="noStrike">
                          <a:solidFill>
                            <a:srgbClr val="000000"/>
                          </a:solidFill>
                          <a:effectLst/>
                          <a:latin typeface="Arial" panose="020B0604020202020204" pitchFamily="34" charset="0"/>
                        </a:rPr>
                        <a:t> $         (7,997.69)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76671408"/>
                  </a:ext>
                </a:extLst>
              </a:tr>
            </a:tbl>
          </a:graphicData>
        </a:graphic>
      </p:graphicFrame>
      <p:sp>
        <p:nvSpPr>
          <p:cNvPr id="3" name="Slide Number Placeholder 2">
            <a:extLst>
              <a:ext uri="{FF2B5EF4-FFF2-40B4-BE49-F238E27FC236}">
                <a16:creationId xmlns:a16="http://schemas.microsoft.com/office/drawing/2014/main" id="{50C2E7C7-404B-DEA3-35D0-4670BD110271}"/>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93</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361878745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9F105B-5BDF-EEB9-D976-88D6D0794DCF}"/>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AD40D54E-DC35-7FE2-EE19-E029B0E3F932}"/>
              </a:ext>
            </a:extLst>
          </p:cNvPr>
          <p:cNvSpPr>
            <a:spLocks noGrp="1"/>
          </p:cNvSpPr>
          <p:nvPr>
            <p:ph type="body" sz="quarter" idx="16"/>
          </p:nvPr>
        </p:nvSpPr>
        <p:spPr>
          <a:xfrm>
            <a:off x="12862559" y="3777166"/>
            <a:ext cx="10200642" cy="4485136"/>
          </a:xfrm>
        </p:spPr>
        <p:txBody>
          <a:bodyPr/>
          <a:lstStyle/>
          <a:p>
            <a:pPr fontAlgn="b">
              <a:spcAft>
                <a:spcPts val="0"/>
              </a:spcAft>
              <a:buClrTx/>
              <a:defRPr/>
            </a:pPr>
            <a:r>
              <a:rPr lang="en-US" sz="8000"/>
              <a:t>Hyperscaler Selection Analysis &amp; Scoring</a:t>
            </a:r>
          </a:p>
        </p:txBody>
      </p:sp>
    </p:spTree>
    <p:extLst>
      <p:ext uri="{BB962C8B-B14F-4D97-AF65-F5344CB8AC3E}">
        <p14:creationId xmlns:p14="http://schemas.microsoft.com/office/powerpoint/2010/main" val="108670071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36D6073-3C14-0881-89B4-7CBC8BAF0F4E}"/>
              </a:ext>
            </a:extLst>
          </p:cNvPr>
          <p:cNvSpPr>
            <a:spLocks noGrp="1"/>
          </p:cNvSpPr>
          <p:nvPr>
            <p:ph type="title"/>
          </p:nvPr>
        </p:nvSpPr>
        <p:spPr>
          <a:xfrm>
            <a:off x="668992" y="537179"/>
            <a:ext cx="22991108" cy="968086"/>
          </a:xfrm>
        </p:spPr>
        <p:txBody>
          <a:bodyPr/>
          <a:lstStyle/>
          <a:p>
            <a:r>
              <a:rPr lang="en-GB"/>
              <a:t>Cloud Selection Criteria</a:t>
            </a:r>
            <a:endParaRPr lang="en-AE"/>
          </a:p>
        </p:txBody>
      </p:sp>
      <p:sp>
        <p:nvSpPr>
          <p:cNvPr id="5" name="Text Placeholder 4">
            <a:extLst>
              <a:ext uri="{FF2B5EF4-FFF2-40B4-BE49-F238E27FC236}">
                <a16:creationId xmlns:a16="http://schemas.microsoft.com/office/drawing/2014/main" id="{8C1BDD01-BDE5-42A0-C1C3-7489C3960E08}"/>
              </a:ext>
            </a:extLst>
          </p:cNvPr>
          <p:cNvSpPr txBox="1">
            <a:spLocks/>
          </p:cNvSpPr>
          <p:nvPr/>
        </p:nvSpPr>
        <p:spPr>
          <a:xfrm>
            <a:off x="1409357" y="2667002"/>
            <a:ext cx="20438258" cy="1333500"/>
          </a:xfrm>
          <a:prstGeom prst="rect">
            <a:avLst/>
          </a:prstGeom>
        </p:spPr>
        <p:txBody>
          <a:bodyPr/>
          <a:lstStyle>
            <a:lvl1pPr marL="142875" marR="0" indent="-142875"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1pPr>
            <a:lvl2pPr marL="428625" marR="0" indent="-145257"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2pPr>
            <a:lvl3pPr marL="714375" marR="0" indent="-147638"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3pPr>
            <a:lvl4pPr marL="1000125" marR="0" indent="-150019"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4pPr>
            <a:lvl5pPr marL="1285875" marR="0" indent="-152400" algn="l" defTabSz="914400" rtl="0" eaLnBrk="1" fontAlgn="t" latinLnBrk="0" hangingPunct="1">
              <a:lnSpc>
                <a:spcPct val="100000"/>
              </a:lnSpc>
              <a:spcBef>
                <a:spcPts val="0"/>
              </a:spcBef>
              <a:spcAft>
                <a:spcPts val="700"/>
              </a:spcAft>
              <a:buClr>
                <a:srgbClr val="EB0000"/>
              </a:buClr>
              <a:buSzTx/>
              <a:buFont typeface="Arial" panose="020B0604020202020204" pitchFamily="34" charset="0"/>
              <a:buChar char="•"/>
              <a:tabLst/>
              <a:defRPr sz="1800" kern="1200">
                <a:ln>
                  <a:noFill/>
                </a:ln>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1828800">
              <a:spcAft>
                <a:spcPts val="1400"/>
              </a:spcAft>
              <a:buNone/>
              <a:defRPr/>
            </a:pPr>
            <a:r>
              <a:rPr lang="en-GB" sz="3200">
                <a:solidFill>
                  <a:srgbClr val="000000"/>
                </a:solidFill>
                <a:latin typeface="Arial"/>
              </a:rPr>
              <a:t>Rackspace recommends focusing on the following criteria, prioritized based on insights and discussions from the previous workshop(s).</a:t>
            </a:r>
          </a:p>
        </p:txBody>
      </p:sp>
      <p:sp>
        <p:nvSpPr>
          <p:cNvPr id="19" name="Oval 18">
            <a:extLst>
              <a:ext uri="{FF2B5EF4-FFF2-40B4-BE49-F238E27FC236}">
                <a16:creationId xmlns:a16="http://schemas.microsoft.com/office/drawing/2014/main" id="{45D0737D-6550-8650-17C3-5607CC8BF760}"/>
              </a:ext>
            </a:extLst>
          </p:cNvPr>
          <p:cNvSpPr>
            <a:spLocks noChangeAspect="1"/>
          </p:cNvSpPr>
          <p:nvPr/>
        </p:nvSpPr>
        <p:spPr>
          <a:xfrm>
            <a:off x="1409358" y="4755364"/>
            <a:ext cx="1029600" cy="1029600"/>
          </a:xfrm>
          <a:prstGeom prst="ellipse">
            <a:avLst/>
          </a:prstGeom>
          <a:solidFill>
            <a:schemeClr val="tx1"/>
          </a:solidFill>
          <a:ln w="28575" cap="flat" cmpd="sng" algn="ctr">
            <a:solidFill>
              <a:srgbClr val="7030A0"/>
            </a:solidFill>
            <a:prstDash val="solid"/>
          </a:ln>
          <a:effectLst/>
        </p:spPr>
        <p:txBody>
          <a:bodyPr rtlCol="0" anchor="ctr"/>
          <a:lstStyle/>
          <a:p>
            <a:pPr algn="ctr" defTabSz="1219152">
              <a:defRPr/>
            </a:pPr>
            <a:r>
              <a:rPr lang="en-US" sz="4000" b="1" kern="0">
                <a:solidFill>
                  <a:srgbClr val="FFFFFF"/>
                </a:solidFill>
                <a:latin typeface="Arial"/>
              </a:rPr>
              <a:t>1</a:t>
            </a:r>
          </a:p>
        </p:txBody>
      </p:sp>
      <p:sp>
        <p:nvSpPr>
          <p:cNvPr id="20" name="Oval 19">
            <a:extLst>
              <a:ext uri="{FF2B5EF4-FFF2-40B4-BE49-F238E27FC236}">
                <a16:creationId xmlns:a16="http://schemas.microsoft.com/office/drawing/2014/main" id="{2D7773BA-A30E-D08C-E6A6-F6908862D933}"/>
              </a:ext>
            </a:extLst>
          </p:cNvPr>
          <p:cNvSpPr>
            <a:spLocks noChangeAspect="1"/>
          </p:cNvSpPr>
          <p:nvPr/>
        </p:nvSpPr>
        <p:spPr>
          <a:xfrm>
            <a:off x="1409358" y="7317960"/>
            <a:ext cx="1029600" cy="1029600"/>
          </a:xfrm>
          <a:prstGeom prst="ellipse">
            <a:avLst/>
          </a:prstGeom>
          <a:solidFill>
            <a:schemeClr val="tx1"/>
          </a:solidFill>
          <a:ln w="28575" cap="flat" cmpd="sng" algn="ctr">
            <a:solidFill>
              <a:srgbClr val="7030A0"/>
            </a:solidFill>
            <a:prstDash val="solid"/>
          </a:ln>
          <a:effectLst/>
        </p:spPr>
        <p:txBody>
          <a:bodyPr rtlCol="0" anchor="ctr"/>
          <a:lstStyle/>
          <a:p>
            <a:pPr algn="ctr" defTabSz="1219152">
              <a:defRPr/>
            </a:pPr>
            <a:r>
              <a:rPr lang="en-US" sz="4000" b="1" kern="0">
                <a:solidFill>
                  <a:srgbClr val="FFFFFF"/>
                </a:solidFill>
                <a:latin typeface="Arial"/>
              </a:rPr>
              <a:t>2</a:t>
            </a:r>
          </a:p>
        </p:txBody>
      </p:sp>
      <p:sp>
        <p:nvSpPr>
          <p:cNvPr id="21" name="Oval 20">
            <a:extLst>
              <a:ext uri="{FF2B5EF4-FFF2-40B4-BE49-F238E27FC236}">
                <a16:creationId xmlns:a16="http://schemas.microsoft.com/office/drawing/2014/main" id="{FEEEA453-9F6D-67B9-1411-D8092CB1D34D}"/>
              </a:ext>
            </a:extLst>
          </p:cNvPr>
          <p:cNvSpPr>
            <a:spLocks noChangeAspect="1"/>
          </p:cNvSpPr>
          <p:nvPr/>
        </p:nvSpPr>
        <p:spPr>
          <a:xfrm>
            <a:off x="1409358" y="10320472"/>
            <a:ext cx="1029600" cy="1029600"/>
          </a:xfrm>
          <a:prstGeom prst="ellipse">
            <a:avLst/>
          </a:prstGeom>
          <a:solidFill>
            <a:schemeClr val="tx1"/>
          </a:solidFill>
          <a:ln w="28575" cap="flat" cmpd="sng" algn="ctr">
            <a:solidFill>
              <a:srgbClr val="7030A0"/>
            </a:solidFill>
            <a:prstDash val="solid"/>
          </a:ln>
          <a:effectLst/>
        </p:spPr>
        <p:txBody>
          <a:bodyPr rtlCol="0" anchor="ctr"/>
          <a:lstStyle/>
          <a:p>
            <a:pPr algn="ctr" defTabSz="1219152">
              <a:defRPr/>
            </a:pPr>
            <a:r>
              <a:rPr lang="en-US" sz="4000" b="1" kern="0">
                <a:solidFill>
                  <a:srgbClr val="FFFFFF"/>
                </a:solidFill>
                <a:latin typeface="Arial"/>
              </a:rPr>
              <a:t>3</a:t>
            </a:r>
          </a:p>
        </p:txBody>
      </p:sp>
      <p:sp>
        <p:nvSpPr>
          <p:cNvPr id="25" name="Rectangle 24">
            <a:extLst>
              <a:ext uri="{FF2B5EF4-FFF2-40B4-BE49-F238E27FC236}">
                <a16:creationId xmlns:a16="http://schemas.microsoft.com/office/drawing/2014/main" id="{7804931F-E38C-71EB-5934-8A1976DD31C2}"/>
              </a:ext>
            </a:extLst>
          </p:cNvPr>
          <p:cNvSpPr/>
          <p:nvPr/>
        </p:nvSpPr>
        <p:spPr>
          <a:xfrm>
            <a:off x="2635602" y="6921743"/>
            <a:ext cx="8029320" cy="23206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304800" tIns="243840" rIns="304800" bIns="243840" numCol="1" rtlCol="0" anchor="t" anchorCtr="0" compatLnSpc="1">
            <a:prstTxWarp prst="textNoShape">
              <a:avLst/>
            </a:prstTxWarp>
            <a:spAutoFit/>
          </a:bodyPr>
          <a:lstStyle/>
          <a:p>
            <a:pPr defTabSz="1828800">
              <a:lnSpc>
                <a:spcPct val="90000"/>
              </a:lnSpc>
              <a:spcAft>
                <a:spcPts val="2000"/>
              </a:spcAft>
              <a:buSzPct val="90000"/>
              <a:defRPr/>
            </a:pPr>
            <a:r>
              <a:rPr lang="en-US" sz="3200" b="1">
                <a:solidFill>
                  <a:srgbClr val="7030A0"/>
                </a:solidFill>
                <a:latin typeface="Arial"/>
                <a:ea typeface="Amazon Ember" panose="020B0603020204020204" pitchFamily="34" charset="0"/>
                <a:cs typeface="Amazon Ember" panose="020B0603020204020204" pitchFamily="34" charset="0"/>
              </a:rPr>
              <a:t>Security &amp; Compliance</a:t>
            </a:r>
            <a:br>
              <a:rPr lang="en-US" sz="3200" b="1">
                <a:solidFill>
                  <a:srgbClr val="000000"/>
                </a:solidFill>
                <a:latin typeface="Arial"/>
                <a:ea typeface="Amazon Ember" panose="020B0603020204020204" pitchFamily="34" charset="0"/>
                <a:cs typeface="Amazon Ember" panose="020B0603020204020204" pitchFamily="34" charset="0"/>
              </a:rPr>
            </a:br>
            <a:br>
              <a:rPr lang="en-US" sz="400">
                <a:solidFill>
                  <a:srgbClr val="000000"/>
                </a:solidFill>
                <a:latin typeface="Arial"/>
                <a:ea typeface="Amazon Ember" panose="020B0603020204020204" pitchFamily="34" charset="0"/>
                <a:cs typeface="Amazon Ember" panose="020B0603020204020204" pitchFamily="34" charset="0"/>
              </a:rPr>
            </a:br>
            <a:r>
              <a:rPr lang="en-GB" sz="3200">
                <a:solidFill>
                  <a:srgbClr val="E6E6E6">
                    <a:lumMod val="75000"/>
                  </a:srgbClr>
                </a:solidFill>
                <a:latin typeface="Arial"/>
                <a:ea typeface="Amazon Ember" panose="020B0603020204020204" pitchFamily="34" charset="0"/>
                <a:cs typeface="Amazon Ember" panose="020B0603020204020204" pitchFamily="34" charset="0"/>
              </a:rPr>
              <a:t>Strengthen the security posture, leverage economies of scale, and enhance control over infrastructure and data sprawl.</a:t>
            </a:r>
            <a:endParaRPr lang="en-US" sz="3200">
              <a:solidFill>
                <a:srgbClr val="E6E6E6">
                  <a:lumMod val="75000"/>
                </a:srgbClr>
              </a:solidFill>
              <a:latin typeface="Arial"/>
              <a:ea typeface="Amazon Ember" panose="020B0603020204020204" pitchFamily="34" charset="0"/>
              <a:cs typeface="Amazon Ember" panose="020B0603020204020204" pitchFamily="34" charset="0"/>
            </a:endParaRPr>
          </a:p>
        </p:txBody>
      </p:sp>
      <p:sp>
        <p:nvSpPr>
          <p:cNvPr id="27" name="Rectangle 26">
            <a:extLst>
              <a:ext uri="{FF2B5EF4-FFF2-40B4-BE49-F238E27FC236}">
                <a16:creationId xmlns:a16="http://schemas.microsoft.com/office/drawing/2014/main" id="{7EBDF975-347E-8552-ADB6-22774D60D24F}"/>
              </a:ext>
            </a:extLst>
          </p:cNvPr>
          <p:cNvSpPr/>
          <p:nvPr/>
        </p:nvSpPr>
        <p:spPr>
          <a:xfrm>
            <a:off x="2635602" y="9896553"/>
            <a:ext cx="8029320" cy="23206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304800" tIns="243840" rIns="304800" bIns="243840" numCol="1" rtlCol="0" anchor="t" anchorCtr="0" compatLnSpc="1">
            <a:prstTxWarp prst="textNoShape">
              <a:avLst/>
            </a:prstTxWarp>
            <a:spAutoFit/>
          </a:bodyPr>
          <a:lstStyle/>
          <a:p>
            <a:pPr defTabSz="1828800">
              <a:lnSpc>
                <a:spcPct val="90000"/>
              </a:lnSpc>
              <a:spcAft>
                <a:spcPts val="2000"/>
              </a:spcAft>
              <a:buSzPct val="90000"/>
              <a:defRPr/>
            </a:pPr>
            <a:r>
              <a:rPr lang="en-US" sz="3200" b="1">
                <a:solidFill>
                  <a:srgbClr val="7030A0"/>
                </a:solidFill>
                <a:latin typeface="Arial"/>
                <a:ea typeface="Amazon Ember" panose="020B0603020204020204" pitchFamily="34" charset="0"/>
                <a:cs typeface="Amazon Ember" panose="020B0603020204020204" pitchFamily="34" charset="0"/>
              </a:rPr>
              <a:t>Scalability</a:t>
            </a:r>
            <a:br>
              <a:rPr lang="en-US" sz="3200" b="1">
                <a:solidFill>
                  <a:srgbClr val="000000"/>
                </a:solidFill>
                <a:latin typeface="Arial"/>
                <a:ea typeface="Amazon Ember" panose="020B0603020204020204" pitchFamily="34" charset="0"/>
                <a:cs typeface="Amazon Ember" panose="020B0603020204020204" pitchFamily="34" charset="0"/>
              </a:rPr>
            </a:br>
            <a:br>
              <a:rPr lang="en-US" sz="400">
                <a:solidFill>
                  <a:srgbClr val="000000"/>
                </a:solidFill>
                <a:latin typeface="Arial"/>
                <a:ea typeface="Amazon Ember" panose="020B0603020204020204" pitchFamily="34" charset="0"/>
                <a:cs typeface="Amazon Ember" panose="020B0603020204020204" pitchFamily="34" charset="0"/>
              </a:rPr>
            </a:br>
            <a:r>
              <a:rPr lang="en-GB" sz="3200">
                <a:solidFill>
                  <a:srgbClr val="E6E6E6">
                    <a:lumMod val="75000"/>
                  </a:srgbClr>
                </a:solidFill>
                <a:latin typeface="Arial"/>
                <a:ea typeface="Amazon Ember" panose="020B0603020204020204" pitchFamily="34" charset="0"/>
                <a:cs typeface="Amazon Ember" panose="020B0603020204020204" pitchFamily="34" charset="0"/>
              </a:rPr>
              <a:t>Enhance the performance and scalability of applications to provide an Optimised user experience.</a:t>
            </a:r>
            <a:endParaRPr lang="en-US" sz="3200">
              <a:solidFill>
                <a:srgbClr val="E6E6E6">
                  <a:lumMod val="75000"/>
                </a:srgbClr>
              </a:solidFill>
              <a:latin typeface="Arial"/>
              <a:ea typeface="Amazon Ember" panose="020B0603020204020204" pitchFamily="34" charset="0"/>
              <a:cs typeface="Amazon Ember" panose="020B0603020204020204" pitchFamily="34" charset="0"/>
            </a:endParaRPr>
          </a:p>
        </p:txBody>
      </p:sp>
      <p:sp>
        <p:nvSpPr>
          <p:cNvPr id="6" name="Rectangle 5">
            <a:extLst>
              <a:ext uri="{FF2B5EF4-FFF2-40B4-BE49-F238E27FC236}">
                <a16:creationId xmlns:a16="http://schemas.microsoft.com/office/drawing/2014/main" id="{3406DA88-0F97-DFBB-94F7-E2903241EE97}"/>
              </a:ext>
            </a:extLst>
          </p:cNvPr>
          <p:cNvSpPr/>
          <p:nvPr/>
        </p:nvSpPr>
        <p:spPr>
          <a:xfrm>
            <a:off x="2635602" y="4390130"/>
            <a:ext cx="8029320" cy="23206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304800" tIns="243840" rIns="304800" bIns="243840" numCol="1" rtlCol="0" anchor="t" anchorCtr="0" compatLnSpc="1">
            <a:prstTxWarp prst="textNoShape">
              <a:avLst/>
            </a:prstTxWarp>
            <a:spAutoFit/>
          </a:bodyPr>
          <a:lstStyle/>
          <a:p>
            <a:pPr defTabSz="1828800">
              <a:lnSpc>
                <a:spcPct val="90000"/>
              </a:lnSpc>
              <a:spcAft>
                <a:spcPts val="2000"/>
              </a:spcAft>
              <a:buSzPct val="90000"/>
              <a:defRPr/>
            </a:pPr>
            <a:r>
              <a:rPr lang="en-US" sz="3200" b="1">
                <a:solidFill>
                  <a:srgbClr val="7030A0"/>
                </a:solidFill>
                <a:latin typeface="Arial"/>
                <a:ea typeface="Amazon Ember" panose="020B0603020204020204" pitchFamily="34" charset="0"/>
                <a:cs typeface="Amazon Ember" panose="020B0603020204020204" pitchFamily="34" charset="0"/>
              </a:rPr>
              <a:t>Economics</a:t>
            </a:r>
            <a:br>
              <a:rPr lang="en-US" sz="3200" b="1">
                <a:solidFill>
                  <a:srgbClr val="000000"/>
                </a:solidFill>
                <a:latin typeface="Arial"/>
                <a:ea typeface="Amazon Ember" panose="020B0603020204020204" pitchFamily="34" charset="0"/>
                <a:cs typeface="Amazon Ember" panose="020B0603020204020204" pitchFamily="34" charset="0"/>
              </a:rPr>
            </a:br>
            <a:br>
              <a:rPr lang="en-US" sz="400">
                <a:solidFill>
                  <a:srgbClr val="000000"/>
                </a:solidFill>
                <a:latin typeface="Arial"/>
                <a:ea typeface="Amazon Ember" panose="020B0603020204020204" pitchFamily="34" charset="0"/>
                <a:cs typeface="Amazon Ember" panose="020B0603020204020204" pitchFamily="34" charset="0"/>
              </a:rPr>
            </a:br>
            <a:r>
              <a:rPr lang="en-GB" sz="3200">
                <a:solidFill>
                  <a:srgbClr val="E6E6E6">
                    <a:lumMod val="75000"/>
                  </a:srgbClr>
                </a:solidFill>
                <a:latin typeface="Arial"/>
                <a:ea typeface="Amazon Ember" panose="020B0603020204020204" pitchFamily="34" charset="0"/>
                <a:cs typeface="Amazon Ember" panose="020B0603020204020204" pitchFamily="34" charset="0"/>
              </a:rPr>
              <a:t>Achieve cost optimization across the entire technology ecosystem by reducing both capital and operational expenses.</a:t>
            </a:r>
          </a:p>
        </p:txBody>
      </p:sp>
      <p:sp>
        <p:nvSpPr>
          <p:cNvPr id="7" name="Oval 6">
            <a:extLst>
              <a:ext uri="{FF2B5EF4-FFF2-40B4-BE49-F238E27FC236}">
                <a16:creationId xmlns:a16="http://schemas.microsoft.com/office/drawing/2014/main" id="{FF87A64A-CEDB-4FBA-447E-26C81360BF40}"/>
              </a:ext>
            </a:extLst>
          </p:cNvPr>
          <p:cNvSpPr>
            <a:spLocks noChangeAspect="1"/>
          </p:cNvSpPr>
          <p:nvPr/>
        </p:nvSpPr>
        <p:spPr>
          <a:xfrm>
            <a:off x="12592050" y="4755364"/>
            <a:ext cx="1029600" cy="1029600"/>
          </a:xfrm>
          <a:prstGeom prst="ellipse">
            <a:avLst/>
          </a:prstGeom>
          <a:solidFill>
            <a:schemeClr val="tx1"/>
          </a:solidFill>
          <a:ln w="28575" cap="flat" cmpd="sng" algn="ctr">
            <a:solidFill>
              <a:srgbClr val="7030A0"/>
            </a:solidFill>
            <a:prstDash val="solid"/>
          </a:ln>
          <a:effectLst/>
        </p:spPr>
        <p:txBody>
          <a:bodyPr rtlCol="0" anchor="ctr"/>
          <a:lstStyle/>
          <a:p>
            <a:pPr algn="ctr" defTabSz="1219152">
              <a:defRPr/>
            </a:pPr>
            <a:r>
              <a:rPr lang="en-US" sz="4000" b="1" kern="0">
                <a:solidFill>
                  <a:srgbClr val="FFFFFF"/>
                </a:solidFill>
                <a:latin typeface="Arial"/>
              </a:rPr>
              <a:t>4</a:t>
            </a:r>
          </a:p>
        </p:txBody>
      </p:sp>
      <p:sp>
        <p:nvSpPr>
          <p:cNvPr id="8" name="Oval 7">
            <a:extLst>
              <a:ext uri="{FF2B5EF4-FFF2-40B4-BE49-F238E27FC236}">
                <a16:creationId xmlns:a16="http://schemas.microsoft.com/office/drawing/2014/main" id="{5A6580AA-8564-791C-090C-1E5E324CB2E6}"/>
              </a:ext>
            </a:extLst>
          </p:cNvPr>
          <p:cNvSpPr>
            <a:spLocks noChangeAspect="1"/>
          </p:cNvSpPr>
          <p:nvPr/>
        </p:nvSpPr>
        <p:spPr>
          <a:xfrm>
            <a:off x="12592050" y="7317960"/>
            <a:ext cx="1029600" cy="1029600"/>
          </a:xfrm>
          <a:prstGeom prst="ellipse">
            <a:avLst/>
          </a:prstGeom>
          <a:solidFill>
            <a:schemeClr val="tx1"/>
          </a:solidFill>
          <a:ln w="28575" cap="flat" cmpd="sng" algn="ctr">
            <a:solidFill>
              <a:srgbClr val="7030A0"/>
            </a:solidFill>
            <a:prstDash val="solid"/>
          </a:ln>
          <a:effectLst/>
        </p:spPr>
        <p:txBody>
          <a:bodyPr rtlCol="0" anchor="ctr"/>
          <a:lstStyle/>
          <a:p>
            <a:pPr algn="ctr" defTabSz="1219152">
              <a:defRPr/>
            </a:pPr>
            <a:r>
              <a:rPr lang="en-US" sz="4000" b="1" kern="0">
                <a:solidFill>
                  <a:srgbClr val="FFFFFF"/>
                </a:solidFill>
                <a:latin typeface="Arial"/>
              </a:rPr>
              <a:t>5</a:t>
            </a:r>
          </a:p>
        </p:txBody>
      </p:sp>
      <p:sp>
        <p:nvSpPr>
          <p:cNvPr id="10" name="Rectangle 9">
            <a:extLst>
              <a:ext uri="{FF2B5EF4-FFF2-40B4-BE49-F238E27FC236}">
                <a16:creationId xmlns:a16="http://schemas.microsoft.com/office/drawing/2014/main" id="{56ECBBAF-9C04-8E57-16CE-CADD2EAA6EC1}"/>
              </a:ext>
            </a:extLst>
          </p:cNvPr>
          <p:cNvSpPr/>
          <p:nvPr/>
        </p:nvSpPr>
        <p:spPr>
          <a:xfrm>
            <a:off x="13818294" y="6921743"/>
            <a:ext cx="8029320" cy="2763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304800" tIns="243840" rIns="304800" bIns="243840" numCol="1" rtlCol="0" anchor="t" anchorCtr="0" compatLnSpc="1">
            <a:prstTxWarp prst="textNoShape">
              <a:avLst/>
            </a:prstTxWarp>
            <a:spAutoFit/>
          </a:bodyPr>
          <a:lstStyle/>
          <a:p>
            <a:pPr defTabSz="1828800">
              <a:lnSpc>
                <a:spcPct val="90000"/>
              </a:lnSpc>
              <a:spcAft>
                <a:spcPts val="2000"/>
              </a:spcAft>
              <a:buSzPct val="90000"/>
              <a:defRPr/>
            </a:pPr>
            <a:r>
              <a:rPr lang="en-US" sz="3200" b="1">
                <a:solidFill>
                  <a:srgbClr val="7030A0"/>
                </a:solidFill>
                <a:latin typeface="Arial"/>
                <a:ea typeface="Amazon Ember" panose="020B0603020204020204" pitchFamily="34" charset="0"/>
                <a:cs typeface="Amazon Ember" panose="020B0603020204020204" pitchFamily="34" charset="0"/>
              </a:rPr>
              <a:t>Business Agility</a:t>
            </a:r>
            <a:br>
              <a:rPr lang="en-US" sz="3200" b="1">
                <a:solidFill>
                  <a:srgbClr val="000000"/>
                </a:solidFill>
                <a:latin typeface="Arial"/>
                <a:ea typeface="Amazon Ember" panose="020B0603020204020204" pitchFamily="34" charset="0"/>
                <a:cs typeface="Amazon Ember" panose="020B0603020204020204" pitchFamily="34" charset="0"/>
              </a:rPr>
            </a:br>
            <a:br>
              <a:rPr lang="en-US" sz="400">
                <a:solidFill>
                  <a:srgbClr val="000000"/>
                </a:solidFill>
                <a:latin typeface="Arial"/>
                <a:ea typeface="Amazon Ember" panose="020B0603020204020204" pitchFamily="34" charset="0"/>
                <a:cs typeface="Amazon Ember" panose="020B0603020204020204" pitchFamily="34" charset="0"/>
              </a:rPr>
            </a:br>
            <a:r>
              <a:rPr lang="en-GB" sz="3200">
                <a:solidFill>
                  <a:srgbClr val="E6E6E6">
                    <a:lumMod val="75000"/>
                  </a:srgbClr>
                </a:solidFill>
                <a:latin typeface="Arial"/>
                <a:ea typeface="Amazon Ember" panose="020B0603020204020204" pitchFamily="34" charset="0"/>
                <a:cs typeface="Amazon Ember" panose="020B0603020204020204" pitchFamily="34" charset="0"/>
              </a:rPr>
              <a:t>Achieve operational efficiency by delivering projects faster while leveraging current assets, internal tools, and in-house knowledge.</a:t>
            </a:r>
            <a:endParaRPr lang="en-US" sz="3200">
              <a:solidFill>
                <a:srgbClr val="E6E6E6">
                  <a:lumMod val="75000"/>
                </a:srgbClr>
              </a:solidFill>
              <a:latin typeface="Arial"/>
              <a:ea typeface="Amazon Ember" panose="020B0603020204020204" pitchFamily="34" charset="0"/>
              <a:cs typeface="Amazon Ember" panose="020B0603020204020204" pitchFamily="34" charset="0"/>
            </a:endParaRPr>
          </a:p>
        </p:txBody>
      </p:sp>
      <p:sp>
        <p:nvSpPr>
          <p:cNvPr id="12" name="Rectangle 11">
            <a:extLst>
              <a:ext uri="{FF2B5EF4-FFF2-40B4-BE49-F238E27FC236}">
                <a16:creationId xmlns:a16="http://schemas.microsoft.com/office/drawing/2014/main" id="{1B5F53D7-F666-15CC-574C-01F73AD5F5B7}"/>
              </a:ext>
            </a:extLst>
          </p:cNvPr>
          <p:cNvSpPr/>
          <p:nvPr/>
        </p:nvSpPr>
        <p:spPr>
          <a:xfrm>
            <a:off x="13818294" y="4390131"/>
            <a:ext cx="8029320" cy="23206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304800" tIns="243840" rIns="304800" bIns="243840" numCol="1" rtlCol="0" anchor="t" anchorCtr="0" compatLnSpc="1">
            <a:prstTxWarp prst="textNoShape">
              <a:avLst/>
            </a:prstTxWarp>
            <a:spAutoFit/>
          </a:bodyPr>
          <a:lstStyle/>
          <a:p>
            <a:pPr defTabSz="1828800">
              <a:lnSpc>
                <a:spcPct val="90000"/>
              </a:lnSpc>
              <a:spcAft>
                <a:spcPts val="2000"/>
              </a:spcAft>
              <a:buSzPct val="90000"/>
              <a:defRPr/>
            </a:pPr>
            <a:r>
              <a:rPr lang="en-US" sz="3200" b="1">
                <a:solidFill>
                  <a:srgbClr val="7030A0"/>
                </a:solidFill>
                <a:latin typeface="Arial"/>
                <a:ea typeface="Amazon Ember" panose="020B0603020204020204" pitchFamily="34" charset="0"/>
                <a:cs typeface="Amazon Ember" panose="020B0603020204020204" pitchFamily="34" charset="0"/>
              </a:rPr>
              <a:t>Reliability</a:t>
            </a:r>
            <a:br>
              <a:rPr lang="en-US" sz="3200" b="1">
                <a:solidFill>
                  <a:srgbClr val="000000"/>
                </a:solidFill>
                <a:latin typeface="Arial"/>
                <a:ea typeface="Amazon Ember" panose="020B0603020204020204" pitchFamily="34" charset="0"/>
                <a:cs typeface="Amazon Ember" panose="020B0603020204020204" pitchFamily="34" charset="0"/>
              </a:rPr>
            </a:br>
            <a:br>
              <a:rPr lang="en-US" sz="400">
                <a:solidFill>
                  <a:srgbClr val="000000"/>
                </a:solidFill>
                <a:latin typeface="Arial"/>
                <a:ea typeface="Amazon Ember" panose="020B0603020204020204" pitchFamily="34" charset="0"/>
                <a:cs typeface="Amazon Ember" panose="020B0603020204020204" pitchFamily="34" charset="0"/>
              </a:rPr>
            </a:br>
            <a:r>
              <a:rPr lang="en-GB" sz="3200">
                <a:solidFill>
                  <a:srgbClr val="E6E6E6">
                    <a:lumMod val="75000"/>
                  </a:srgbClr>
                </a:solidFill>
                <a:latin typeface="Arial"/>
                <a:ea typeface="Amazon Ember" panose="020B0603020204020204" pitchFamily="34" charset="0"/>
                <a:cs typeface="Amazon Ember" panose="020B0603020204020204" pitchFamily="34" charset="0"/>
              </a:rPr>
              <a:t>Minimize unplanned infrastructure outages and ensure the continuous availability of services for users.</a:t>
            </a:r>
            <a:endParaRPr lang="en-US" sz="3200">
              <a:solidFill>
                <a:srgbClr val="E6E6E6">
                  <a:lumMod val="75000"/>
                </a:srgbClr>
              </a:solidFill>
              <a:latin typeface="Arial"/>
              <a:ea typeface="Amazon Ember" panose="020B0603020204020204" pitchFamily="34" charset="0"/>
              <a:cs typeface="Amazon Ember" panose="020B0603020204020204" pitchFamily="34" charset="0"/>
            </a:endParaRPr>
          </a:p>
        </p:txBody>
      </p:sp>
      <p:sp>
        <p:nvSpPr>
          <p:cNvPr id="2" name="Slide Number Placeholder 2">
            <a:extLst>
              <a:ext uri="{FF2B5EF4-FFF2-40B4-BE49-F238E27FC236}">
                <a16:creationId xmlns:a16="http://schemas.microsoft.com/office/drawing/2014/main" id="{9C0FC188-22D1-521F-D3F8-09FD46BAEB15}"/>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defTabSz="457200">
              <a:defRPr/>
            </a:pPr>
            <a:fld id="{762E77F0-FB5B-4E8E-9BC9-34F14560A017}" type="slidenum">
              <a:rPr lang="en-US" sz="1400">
                <a:solidFill>
                  <a:prstClr val="black"/>
                </a:solidFill>
                <a:latin typeface="Fira Sans" panose="020B0503050000020004" pitchFamily="34" charset="0"/>
              </a:rPr>
              <a:pPr algn="r" defTabSz="457200">
                <a:defRPr/>
              </a:pPr>
              <a:t>95</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310081277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Group 89">
            <a:extLst>
              <a:ext uri="{FF2B5EF4-FFF2-40B4-BE49-F238E27FC236}">
                <a16:creationId xmlns:a16="http://schemas.microsoft.com/office/drawing/2014/main" id="{5E710784-E5D2-F0BE-16EA-FA074964EEB7}"/>
              </a:ext>
            </a:extLst>
          </p:cNvPr>
          <p:cNvGrpSpPr/>
          <p:nvPr/>
        </p:nvGrpSpPr>
        <p:grpSpPr>
          <a:xfrm>
            <a:off x="1038225" y="3055992"/>
            <a:ext cx="22307550" cy="6551092"/>
            <a:chOff x="119932" y="2582279"/>
            <a:chExt cx="9306643" cy="3046273"/>
          </a:xfrm>
        </p:grpSpPr>
        <p:sp>
          <p:nvSpPr>
            <p:cNvPr id="91" name="Rectangle 90">
              <a:extLst>
                <a:ext uri="{FF2B5EF4-FFF2-40B4-BE49-F238E27FC236}">
                  <a16:creationId xmlns:a16="http://schemas.microsoft.com/office/drawing/2014/main" id="{1DA7A73E-95C4-0197-2FA9-B268E65FD4A8}"/>
                </a:ext>
              </a:extLst>
            </p:cNvPr>
            <p:cNvSpPr/>
            <p:nvPr/>
          </p:nvSpPr>
          <p:spPr>
            <a:xfrm>
              <a:off x="119932" y="2582279"/>
              <a:ext cx="9306643" cy="3046273"/>
            </a:xfrm>
            <a:prstGeom prst="rect">
              <a:avLst/>
            </a:prstGeom>
            <a:solidFill>
              <a:srgbClr val="D8EBF9"/>
            </a:solidFill>
            <a:ln w="12700" cap="flat" cmpd="sng" algn="ctr">
              <a:noFill/>
              <a:prstDash val="solid"/>
              <a:miter lim="800000"/>
            </a:ln>
            <a:effectLst/>
          </p:spPr>
          <p:txBody>
            <a:bodyPr rtlCol="0" anchor="t"/>
            <a:lstStyle/>
            <a:p>
              <a:pPr algn="ctr" defTabSz="1828800">
                <a:buClr>
                  <a:srgbClr val="000000"/>
                </a:buClr>
                <a:defRPr/>
              </a:pPr>
              <a:br>
                <a:rPr lang="en-US" sz="600" b="1" kern="0">
                  <a:solidFill>
                    <a:srgbClr val="000000"/>
                  </a:solidFill>
                  <a:latin typeface="Arial"/>
                  <a:sym typeface="Arial"/>
                </a:rPr>
              </a:br>
              <a:r>
                <a:rPr lang="en-US" sz="2800" b="1" kern="0">
                  <a:solidFill>
                    <a:srgbClr val="000000"/>
                  </a:solidFill>
                  <a:latin typeface="Arial"/>
                  <a:sym typeface="Arial"/>
                </a:rPr>
                <a:t>Cloud Selection Criteria – Value Dials</a:t>
              </a:r>
            </a:p>
          </p:txBody>
        </p:sp>
        <p:grpSp>
          <p:nvGrpSpPr>
            <p:cNvPr id="93" name="Group 92">
              <a:extLst>
                <a:ext uri="{FF2B5EF4-FFF2-40B4-BE49-F238E27FC236}">
                  <a16:creationId xmlns:a16="http://schemas.microsoft.com/office/drawing/2014/main" id="{7FCE615E-F9BB-CD5C-D506-0E331695E3FB}"/>
                </a:ext>
              </a:extLst>
            </p:cNvPr>
            <p:cNvGrpSpPr/>
            <p:nvPr/>
          </p:nvGrpSpPr>
          <p:grpSpPr>
            <a:xfrm>
              <a:off x="234923" y="2980520"/>
              <a:ext cx="5330202" cy="2377025"/>
              <a:chOff x="71559" y="3223635"/>
              <a:chExt cx="5666837" cy="2377025"/>
            </a:xfrm>
          </p:grpSpPr>
          <p:sp>
            <p:nvSpPr>
              <p:cNvPr id="102" name="Rectangle 101">
                <a:extLst>
                  <a:ext uri="{FF2B5EF4-FFF2-40B4-BE49-F238E27FC236}">
                    <a16:creationId xmlns:a16="http://schemas.microsoft.com/office/drawing/2014/main" id="{2B132AAC-F996-1407-2210-C83681D613D1}"/>
                  </a:ext>
                </a:extLst>
              </p:cNvPr>
              <p:cNvSpPr/>
              <p:nvPr/>
            </p:nvSpPr>
            <p:spPr>
              <a:xfrm>
                <a:off x="71559" y="3233072"/>
                <a:ext cx="1768589"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Economics</a:t>
                </a:r>
              </a:p>
            </p:txBody>
          </p:sp>
          <p:sp>
            <p:nvSpPr>
              <p:cNvPr id="103" name="Rectangle 102">
                <a:extLst>
                  <a:ext uri="{FF2B5EF4-FFF2-40B4-BE49-F238E27FC236}">
                    <a16:creationId xmlns:a16="http://schemas.microsoft.com/office/drawing/2014/main" id="{FCE297FE-E541-E4D7-10F2-5400204FA3DC}"/>
                  </a:ext>
                </a:extLst>
              </p:cNvPr>
              <p:cNvSpPr/>
              <p:nvPr/>
            </p:nvSpPr>
            <p:spPr>
              <a:xfrm>
                <a:off x="2020683" y="3231660"/>
                <a:ext cx="1768589"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Security /</a:t>
                </a:r>
                <a:br>
                  <a:rPr lang="en-US" sz="2800" b="1" kern="0">
                    <a:solidFill>
                      <a:srgbClr val="FFFFFF"/>
                    </a:solidFill>
                    <a:latin typeface="Barlow Light" pitchFamily="2" charset="77"/>
                    <a:sym typeface="Arial"/>
                  </a:rPr>
                </a:br>
                <a:r>
                  <a:rPr lang="en-US" sz="2800" b="1" kern="0">
                    <a:solidFill>
                      <a:srgbClr val="FFFFFF"/>
                    </a:solidFill>
                    <a:latin typeface="Barlow Light" pitchFamily="2" charset="77"/>
                    <a:sym typeface="Arial"/>
                  </a:rPr>
                  <a:t>Compliance</a:t>
                </a:r>
              </a:p>
            </p:txBody>
          </p:sp>
          <p:sp>
            <p:nvSpPr>
              <p:cNvPr id="104" name="Rectangle 103">
                <a:extLst>
                  <a:ext uri="{FF2B5EF4-FFF2-40B4-BE49-F238E27FC236}">
                    <a16:creationId xmlns:a16="http://schemas.microsoft.com/office/drawing/2014/main" id="{6B23D0D3-043B-0CE6-5A8B-B6EF2FFE3245}"/>
                  </a:ext>
                </a:extLst>
              </p:cNvPr>
              <p:cNvSpPr/>
              <p:nvPr/>
            </p:nvSpPr>
            <p:spPr>
              <a:xfrm>
                <a:off x="3969807" y="3223635"/>
                <a:ext cx="1768589"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S</a:t>
                </a:r>
                <a:r>
                  <a:rPr lang="en-US" sz="2800" b="1" kern="0" err="1">
                    <a:solidFill>
                      <a:srgbClr val="FFFFFF"/>
                    </a:solidFill>
                    <a:latin typeface="Barlow Light" pitchFamily="2" charset="77"/>
                    <a:sym typeface="Arial"/>
                  </a:rPr>
                  <a:t>calability</a:t>
                </a:r>
                <a:endParaRPr lang="en-US" sz="2800" b="1" kern="0">
                  <a:solidFill>
                    <a:srgbClr val="FFFFFF"/>
                  </a:solidFill>
                  <a:latin typeface="Barlow Light" pitchFamily="2" charset="77"/>
                  <a:sym typeface="Arial"/>
                </a:endParaRPr>
              </a:p>
            </p:txBody>
          </p:sp>
          <p:sp>
            <p:nvSpPr>
              <p:cNvPr id="105" name="Rectangle 104">
                <a:extLst>
                  <a:ext uri="{FF2B5EF4-FFF2-40B4-BE49-F238E27FC236}">
                    <a16:creationId xmlns:a16="http://schemas.microsoft.com/office/drawing/2014/main" id="{317B32FB-0868-4556-4711-1EA666B12F8E}"/>
                  </a:ext>
                </a:extLst>
              </p:cNvPr>
              <p:cNvSpPr/>
              <p:nvPr/>
            </p:nvSpPr>
            <p:spPr>
              <a:xfrm>
                <a:off x="71559" y="3714647"/>
                <a:ext cx="1768589"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Total Cost of Ownership (TCO)</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Infrastructure Costs</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Migration Costs</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Software Licensing</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Credits/Discounts</a:t>
                </a:r>
              </a:p>
              <a:p>
                <a:pPr defTabSz="1828800">
                  <a:spcAft>
                    <a:spcPts val="1200"/>
                  </a:spcAft>
                  <a:buClr>
                    <a:srgbClr val="000000"/>
                  </a:buClr>
                  <a:defRPr/>
                </a:pPr>
                <a:endParaRPr lang="en-GB" sz="2000" kern="0">
                  <a:solidFill>
                    <a:srgbClr val="000000"/>
                  </a:solidFill>
                  <a:latin typeface="Arial"/>
                  <a:sym typeface="Arial"/>
                </a:endParaRPr>
              </a:p>
            </p:txBody>
          </p:sp>
          <p:sp>
            <p:nvSpPr>
              <p:cNvPr id="106" name="Rectangle 105">
                <a:extLst>
                  <a:ext uri="{FF2B5EF4-FFF2-40B4-BE49-F238E27FC236}">
                    <a16:creationId xmlns:a16="http://schemas.microsoft.com/office/drawing/2014/main" id="{69CF12AC-AEF5-2A85-C5EC-428D28372ADA}"/>
                  </a:ext>
                </a:extLst>
              </p:cNvPr>
              <p:cNvSpPr/>
              <p:nvPr/>
            </p:nvSpPr>
            <p:spPr>
              <a:xfrm>
                <a:off x="2020683" y="3742124"/>
                <a:ext cx="1768589"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Certifications &amp; Standards</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Data Privacy (Sovereignty)</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Platform Capability</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Platform Maturity</a:t>
                </a:r>
                <a:r>
                  <a:rPr lang="en-US" sz="2000" kern="0">
                    <a:solidFill>
                      <a:srgbClr val="000000"/>
                    </a:solidFill>
                    <a:latin typeface="Arial"/>
                    <a:sym typeface="Arial"/>
                  </a:rPr>
                  <a:t>  </a:t>
                </a:r>
              </a:p>
              <a:p>
                <a:pPr marL="355600" indent="-355600" defTabSz="1828800">
                  <a:spcAft>
                    <a:spcPts val="1200"/>
                  </a:spcAft>
                  <a:buClr>
                    <a:srgbClr val="000000"/>
                  </a:buClr>
                  <a:buFont typeface="Arial" panose="020B0604020202020204" pitchFamily="34" charset="0"/>
                  <a:buChar char="•"/>
                  <a:defRPr/>
                </a:pPr>
                <a:endParaRPr lang="en-US" sz="2000" kern="0">
                  <a:solidFill>
                    <a:srgbClr val="000000"/>
                  </a:solidFill>
                  <a:latin typeface="Arial"/>
                  <a:sym typeface="Arial"/>
                </a:endParaRPr>
              </a:p>
            </p:txBody>
          </p:sp>
          <p:sp>
            <p:nvSpPr>
              <p:cNvPr id="107" name="Rectangle 106">
                <a:extLst>
                  <a:ext uri="{FF2B5EF4-FFF2-40B4-BE49-F238E27FC236}">
                    <a16:creationId xmlns:a16="http://schemas.microsoft.com/office/drawing/2014/main" id="{25609954-FA10-1C45-2A13-A272A19559E3}"/>
                  </a:ext>
                </a:extLst>
              </p:cNvPr>
              <p:cNvSpPr/>
              <p:nvPr/>
            </p:nvSpPr>
            <p:spPr>
              <a:xfrm>
                <a:off x="3969807" y="3734099"/>
                <a:ext cx="1768589"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Global Reach</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Elasticity and Autoscaling</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Control and Manageability</a:t>
                </a:r>
              </a:p>
            </p:txBody>
          </p:sp>
        </p:grpSp>
        <p:grpSp>
          <p:nvGrpSpPr>
            <p:cNvPr id="94" name="Group 93">
              <a:extLst>
                <a:ext uri="{FF2B5EF4-FFF2-40B4-BE49-F238E27FC236}">
                  <a16:creationId xmlns:a16="http://schemas.microsoft.com/office/drawing/2014/main" id="{26636C44-35D6-DAB7-43BC-942BD44140B4}"/>
                </a:ext>
              </a:extLst>
            </p:cNvPr>
            <p:cNvGrpSpPr/>
            <p:nvPr/>
          </p:nvGrpSpPr>
          <p:grpSpPr>
            <a:xfrm>
              <a:off x="5734925" y="2969702"/>
              <a:ext cx="3445275" cy="2371184"/>
              <a:chOff x="5564057" y="3212817"/>
              <a:chExt cx="3662870" cy="2371184"/>
            </a:xfrm>
          </p:grpSpPr>
          <p:sp>
            <p:nvSpPr>
              <p:cNvPr id="96" name="Rectangle 95">
                <a:extLst>
                  <a:ext uri="{FF2B5EF4-FFF2-40B4-BE49-F238E27FC236}">
                    <a16:creationId xmlns:a16="http://schemas.microsoft.com/office/drawing/2014/main" id="{1248330B-50FD-43DD-6827-3497FA4537DE}"/>
                  </a:ext>
                </a:extLst>
              </p:cNvPr>
              <p:cNvSpPr/>
              <p:nvPr/>
            </p:nvSpPr>
            <p:spPr>
              <a:xfrm>
                <a:off x="7513166" y="3212817"/>
                <a:ext cx="1713761"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Business </a:t>
                </a:r>
                <a:br>
                  <a:rPr lang="en-US" sz="2800" b="1" kern="0">
                    <a:solidFill>
                      <a:srgbClr val="FFFFFF"/>
                    </a:solidFill>
                    <a:latin typeface="Barlow Light" pitchFamily="2" charset="77"/>
                    <a:sym typeface="Arial"/>
                  </a:rPr>
                </a:br>
                <a:r>
                  <a:rPr lang="en-US" sz="2800" b="1" kern="0">
                    <a:solidFill>
                      <a:srgbClr val="FFFFFF"/>
                    </a:solidFill>
                    <a:latin typeface="Barlow Light" pitchFamily="2" charset="77"/>
                    <a:sym typeface="Arial"/>
                  </a:rPr>
                  <a:t>Agility</a:t>
                </a:r>
              </a:p>
            </p:txBody>
          </p:sp>
          <p:sp>
            <p:nvSpPr>
              <p:cNvPr id="98" name="Rectangle 97">
                <a:extLst>
                  <a:ext uri="{FF2B5EF4-FFF2-40B4-BE49-F238E27FC236}">
                    <a16:creationId xmlns:a16="http://schemas.microsoft.com/office/drawing/2014/main" id="{C41BD312-2F89-BEC7-F2BC-C65147FA3355}"/>
                  </a:ext>
                </a:extLst>
              </p:cNvPr>
              <p:cNvSpPr/>
              <p:nvPr/>
            </p:nvSpPr>
            <p:spPr>
              <a:xfrm>
                <a:off x="7513169" y="3717410"/>
                <a:ext cx="1699875"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Business Fit and Alignment</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Effort to Achieve Readiness</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Time To Migrate (TTM)</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Training and Certification</a:t>
                </a:r>
              </a:p>
            </p:txBody>
          </p:sp>
          <p:sp>
            <p:nvSpPr>
              <p:cNvPr id="99" name="Rectangle 98">
                <a:extLst>
                  <a:ext uri="{FF2B5EF4-FFF2-40B4-BE49-F238E27FC236}">
                    <a16:creationId xmlns:a16="http://schemas.microsoft.com/office/drawing/2014/main" id="{49090B6A-5F53-2368-8B92-BDE5ED01357C}"/>
                  </a:ext>
                </a:extLst>
              </p:cNvPr>
              <p:cNvSpPr/>
              <p:nvPr/>
            </p:nvSpPr>
            <p:spPr>
              <a:xfrm>
                <a:off x="5564057" y="3223636"/>
                <a:ext cx="1768587"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Reliability</a:t>
                </a:r>
              </a:p>
            </p:txBody>
          </p:sp>
          <p:sp>
            <p:nvSpPr>
              <p:cNvPr id="100" name="Rectangle 99">
                <a:extLst>
                  <a:ext uri="{FF2B5EF4-FFF2-40B4-BE49-F238E27FC236}">
                    <a16:creationId xmlns:a16="http://schemas.microsoft.com/office/drawing/2014/main" id="{035697D9-F90F-F8F7-0AFF-B3243F961FDB}"/>
                  </a:ext>
                </a:extLst>
              </p:cNvPr>
              <p:cNvSpPr/>
              <p:nvPr/>
            </p:nvSpPr>
            <p:spPr>
              <a:xfrm>
                <a:off x="5564068" y="3725465"/>
                <a:ext cx="1768587"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Service Level </a:t>
                </a:r>
                <a:br>
                  <a:rPr lang="en-GB" sz="2000" kern="0">
                    <a:solidFill>
                      <a:srgbClr val="000000"/>
                    </a:solidFill>
                    <a:latin typeface="Arial"/>
                    <a:sym typeface="Arial"/>
                  </a:rPr>
                </a:br>
                <a:r>
                  <a:rPr lang="en-GB" sz="2000" kern="0">
                    <a:solidFill>
                      <a:srgbClr val="000000"/>
                    </a:solidFill>
                    <a:latin typeface="Arial"/>
                    <a:sym typeface="Arial"/>
                  </a:rPr>
                  <a:t>Agreements (SLA)</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Data Durability</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Backup and Recovery</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Disaster Recovery</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Track Record</a:t>
                </a:r>
              </a:p>
              <a:p>
                <a:pPr marL="355600" indent="-355600" defTabSz="1828800">
                  <a:spcAft>
                    <a:spcPts val="1200"/>
                  </a:spcAft>
                  <a:buClr>
                    <a:srgbClr val="000000"/>
                  </a:buClr>
                  <a:buFont typeface="Arial" panose="020B0604020202020204" pitchFamily="34" charset="0"/>
                  <a:buChar char="•"/>
                  <a:defRPr/>
                </a:pPr>
                <a:r>
                  <a:rPr lang="en-GB" sz="2000" kern="0">
                    <a:solidFill>
                      <a:srgbClr val="000000"/>
                    </a:solidFill>
                    <a:latin typeface="Arial"/>
                    <a:sym typeface="Arial"/>
                  </a:rPr>
                  <a:t>Control and Manageability</a:t>
                </a:r>
                <a:endParaRPr lang="en-US" sz="2000" kern="0">
                  <a:solidFill>
                    <a:srgbClr val="000000"/>
                  </a:solidFill>
                  <a:latin typeface="Arial"/>
                  <a:sym typeface="Arial"/>
                </a:endParaRPr>
              </a:p>
            </p:txBody>
          </p:sp>
        </p:grpSp>
      </p:grpSp>
      <p:sp>
        <p:nvSpPr>
          <p:cNvPr id="116" name="TextBox 115">
            <a:extLst>
              <a:ext uri="{FF2B5EF4-FFF2-40B4-BE49-F238E27FC236}">
                <a16:creationId xmlns:a16="http://schemas.microsoft.com/office/drawing/2014/main" id="{4109AB06-74C2-578A-1F48-A4CCA0DA59D2}"/>
              </a:ext>
            </a:extLst>
          </p:cNvPr>
          <p:cNvSpPr txBox="1"/>
          <p:nvPr/>
        </p:nvSpPr>
        <p:spPr>
          <a:xfrm>
            <a:off x="2601159" y="8703576"/>
            <a:ext cx="1412774" cy="430887"/>
          </a:xfrm>
          <a:prstGeom prst="rect">
            <a:avLst/>
          </a:prstGeom>
          <a:solidFill>
            <a:srgbClr val="000000"/>
          </a:solidFill>
        </p:spPr>
        <p:txBody>
          <a:bodyPr wrap="square" rtlCol="0">
            <a:spAutoFit/>
          </a:bodyPr>
          <a:lstStyle/>
          <a:p>
            <a:pPr algn="ctr" defTabSz="1828800">
              <a:defRPr/>
            </a:pPr>
            <a:r>
              <a:rPr lang="en-GB" sz="2200" kern="0">
                <a:solidFill>
                  <a:srgbClr val="FFFFFF"/>
                </a:solidFill>
                <a:latin typeface="Arial"/>
              </a:rPr>
              <a:t>20.00 %</a:t>
            </a:r>
          </a:p>
        </p:txBody>
      </p:sp>
      <p:sp>
        <p:nvSpPr>
          <p:cNvPr id="131" name="Title 130">
            <a:extLst>
              <a:ext uri="{FF2B5EF4-FFF2-40B4-BE49-F238E27FC236}">
                <a16:creationId xmlns:a16="http://schemas.microsoft.com/office/drawing/2014/main" id="{2D34B825-951A-DDDF-DEE2-70D0F4D6EBA7}"/>
              </a:ext>
            </a:extLst>
          </p:cNvPr>
          <p:cNvSpPr>
            <a:spLocks noGrp="1"/>
          </p:cNvSpPr>
          <p:nvPr>
            <p:ph type="title"/>
          </p:nvPr>
        </p:nvSpPr>
        <p:spPr/>
        <p:txBody>
          <a:bodyPr/>
          <a:lstStyle/>
          <a:p>
            <a:r>
              <a:rPr lang="en-GB"/>
              <a:t>Summary</a:t>
            </a:r>
            <a:endParaRPr lang="en-AE"/>
          </a:p>
        </p:txBody>
      </p:sp>
      <p:sp>
        <p:nvSpPr>
          <p:cNvPr id="2" name="TextBox 1">
            <a:extLst>
              <a:ext uri="{FF2B5EF4-FFF2-40B4-BE49-F238E27FC236}">
                <a16:creationId xmlns:a16="http://schemas.microsoft.com/office/drawing/2014/main" id="{7837CB04-509C-3072-57D8-953F4A480FEE}"/>
              </a:ext>
            </a:extLst>
          </p:cNvPr>
          <p:cNvSpPr txBox="1"/>
          <p:nvPr/>
        </p:nvSpPr>
        <p:spPr>
          <a:xfrm>
            <a:off x="15784411" y="8680626"/>
            <a:ext cx="1412774" cy="430887"/>
          </a:xfrm>
          <a:prstGeom prst="rect">
            <a:avLst/>
          </a:prstGeom>
          <a:solidFill>
            <a:srgbClr val="000000"/>
          </a:solidFill>
        </p:spPr>
        <p:txBody>
          <a:bodyPr wrap="square" rtlCol="0">
            <a:spAutoFit/>
          </a:bodyPr>
          <a:lstStyle/>
          <a:p>
            <a:pPr algn="ctr" defTabSz="1828800">
              <a:defRPr/>
            </a:pPr>
            <a:r>
              <a:rPr lang="en-GB" sz="2200" kern="0">
                <a:solidFill>
                  <a:srgbClr val="FFFFFF"/>
                </a:solidFill>
                <a:latin typeface="Arial"/>
              </a:rPr>
              <a:t>20.00 %</a:t>
            </a:r>
          </a:p>
        </p:txBody>
      </p:sp>
      <p:sp>
        <p:nvSpPr>
          <p:cNvPr id="3" name="TextBox 2">
            <a:extLst>
              <a:ext uri="{FF2B5EF4-FFF2-40B4-BE49-F238E27FC236}">
                <a16:creationId xmlns:a16="http://schemas.microsoft.com/office/drawing/2014/main" id="{F12C2104-EB2A-AB03-FDFD-818ADA28569E}"/>
              </a:ext>
            </a:extLst>
          </p:cNvPr>
          <p:cNvSpPr txBox="1"/>
          <p:nvPr/>
        </p:nvSpPr>
        <p:spPr>
          <a:xfrm>
            <a:off x="6995575" y="8680626"/>
            <a:ext cx="1412774" cy="430887"/>
          </a:xfrm>
          <a:prstGeom prst="rect">
            <a:avLst/>
          </a:prstGeom>
          <a:solidFill>
            <a:srgbClr val="000000"/>
          </a:solidFill>
        </p:spPr>
        <p:txBody>
          <a:bodyPr wrap="square" rtlCol="0">
            <a:spAutoFit/>
          </a:bodyPr>
          <a:lstStyle/>
          <a:p>
            <a:pPr algn="ctr" defTabSz="1828800">
              <a:defRPr/>
            </a:pPr>
            <a:r>
              <a:rPr lang="en-GB" sz="2200" kern="0">
                <a:solidFill>
                  <a:srgbClr val="FFFFFF"/>
                </a:solidFill>
                <a:latin typeface="Arial"/>
              </a:rPr>
              <a:t>20.00 %</a:t>
            </a:r>
          </a:p>
        </p:txBody>
      </p:sp>
      <p:sp>
        <p:nvSpPr>
          <p:cNvPr id="4" name="TextBox 3">
            <a:extLst>
              <a:ext uri="{FF2B5EF4-FFF2-40B4-BE49-F238E27FC236}">
                <a16:creationId xmlns:a16="http://schemas.microsoft.com/office/drawing/2014/main" id="{B7A17E9F-9FFA-5576-0BEF-2FF7CB41B05A}"/>
              </a:ext>
            </a:extLst>
          </p:cNvPr>
          <p:cNvSpPr txBox="1"/>
          <p:nvPr/>
        </p:nvSpPr>
        <p:spPr>
          <a:xfrm>
            <a:off x="11389993" y="8680626"/>
            <a:ext cx="1412774" cy="430887"/>
          </a:xfrm>
          <a:prstGeom prst="rect">
            <a:avLst/>
          </a:prstGeom>
          <a:solidFill>
            <a:srgbClr val="000000"/>
          </a:solidFill>
        </p:spPr>
        <p:txBody>
          <a:bodyPr wrap="square" rtlCol="0">
            <a:spAutoFit/>
          </a:bodyPr>
          <a:lstStyle/>
          <a:p>
            <a:pPr algn="ctr" defTabSz="1828800">
              <a:defRPr/>
            </a:pPr>
            <a:r>
              <a:rPr lang="en-GB" sz="2200" kern="0">
                <a:solidFill>
                  <a:srgbClr val="FFFFFF"/>
                </a:solidFill>
                <a:latin typeface="Arial"/>
              </a:rPr>
              <a:t>20.00 %</a:t>
            </a:r>
          </a:p>
        </p:txBody>
      </p:sp>
      <p:sp>
        <p:nvSpPr>
          <p:cNvPr id="5" name="TextBox 4">
            <a:extLst>
              <a:ext uri="{FF2B5EF4-FFF2-40B4-BE49-F238E27FC236}">
                <a16:creationId xmlns:a16="http://schemas.microsoft.com/office/drawing/2014/main" id="{C1A34874-655C-80B6-43FF-9DDF47185C24}"/>
              </a:ext>
            </a:extLst>
          </p:cNvPr>
          <p:cNvSpPr txBox="1"/>
          <p:nvPr/>
        </p:nvSpPr>
        <p:spPr>
          <a:xfrm>
            <a:off x="20101305" y="8680626"/>
            <a:ext cx="1412774" cy="430887"/>
          </a:xfrm>
          <a:prstGeom prst="rect">
            <a:avLst/>
          </a:prstGeom>
          <a:solidFill>
            <a:srgbClr val="000000"/>
          </a:solidFill>
        </p:spPr>
        <p:txBody>
          <a:bodyPr wrap="square" rtlCol="0">
            <a:spAutoFit/>
          </a:bodyPr>
          <a:lstStyle/>
          <a:p>
            <a:pPr algn="ctr" defTabSz="1828800">
              <a:defRPr/>
            </a:pPr>
            <a:r>
              <a:rPr lang="en-GB" sz="2200" kern="0">
                <a:solidFill>
                  <a:srgbClr val="FFFFFF"/>
                </a:solidFill>
                <a:latin typeface="Arial"/>
              </a:rPr>
              <a:t>20.00 %</a:t>
            </a:r>
          </a:p>
        </p:txBody>
      </p:sp>
      <p:sp>
        <p:nvSpPr>
          <p:cNvPr id="6" name="Slide Number Placeholder 2">
            <a:extLst>
              <a:ext uri="{FF2B5EF4-FFF2-40B4-BE49-F238E27FC236}">
                <a16:creationId xmlns:a16="http://schemas.microsoft.com/office/drawing/2014/main" id="{CFCF6FD7-CCC6-62A5-74E3-66A1A0F46C47}"/>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defTabSz="457200">
              <a:defRPr/>
            </a:pPr>
            <a:fld id="{762E77F0-FB5B-4E8E-9BC9-34F14560A017}" type="slidenum">
              <a:rPr lang="en-US" sz="1400">
                <a:solidFill>
                  <a:prstClr val="black"/>
                </a:solidFill>
                <a:latin typeface="Fira Sans" panose="020B0503050000020004" pitchFamily="34" charset="0"/>
              </a:rPr>
              <a:pPr algn="r" defTabSz="457200">
                <a:defRPr/>
              </a:pPr>
              <a:t>96</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244507160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E63FCB-6E35-1C8D-798B-0B485D41531D}"/>
            </a:ext>
          </a:extLst>
        </p:cNvPr>
        <p:cNvGrpSpPr/>
        <p:nvPr/>
      </p:nvGrpSpPr>
      <p:grpSpPr>
        <a:xfrm>
          <a:off x="0" y="0"/>
          <a:ext cx="0" cy="0"/>
          <a:chOff x="0" y="0"/>
          <a:chExt cx="0" cy="0"/>
        </a:xfrm>
      </p:grpSpPr>
      <p:sp>
        <p:nvSpPr>
          <p:cNvPr id="131" name="Title 130">
            <a:extLst>
              <a:ext uri="{FF2B5EF4-FFF2-40B4-BE49-F238E27FC236}">
                <a16:creationId xmlns:a16="http://schemas.microsoft.com/office/drawing/2014/main" id="{56A1D2C5-6D21-7771-6F44-93AA8F225F37}"/>
              </a:ext>
            </a:extLst>
          </p:cNvPr>
          <p:cNvSpPr>
            <a:spLocks noGrp="1"/>
          </p:cNvSpPr>
          <p:nvPr>
            <p:ph type="title"/>
          </p:nvPr>
        </p:nvSpPr>
        <p:spPr/>
        <p:txBody>
          <a:bodyPr/>
          <a:lstStyle/>
          <a:p>
            <a:r>
              <a:rPr lang="en-GB"/>
              <a:t>Scoring</a:t>
            </a:r>
            <a:endParaRPr lang="en-AE"/>
          </a:p>
        </p:txBody>
      </p:sp>
      <p:sp>
        <p:nvSpPr>
          <p:cNvPr id="6" name="Slide Number Placeholder 2">
            <a:extLst>
              <a:ext uri="{FF2B5EF4-FFF2-40B4-BE49-F238E27FC236}">
                <a16:creationId xmlns:a16="http://schemas.microsoft.com/office/drawing/2014/main" id="{0A65CCD3-EB47-EB6C-9637-D9187C75A59C}"/>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defTabSz="457200">
              <a:defRPr/>
            </a:pPr>
            <a:fld id="{762E77F0-FB5B-4E8E-9BC9-34F14560A017}" type="slidenum">
              <a:rPr lang="en-US" sz="1400">
                <a:solidFill>
                  <a:prstClr val="black"/>
                </a:solidFill>
                <a:latin typeface="Fira Sans" panose="020B0503050000020004" pitchFamily="34" charset="0"/>
              </a:rPr>
              <a:pPr algn="r" defTabSz="457200">
                <a:defRPr/>
              </a:pPr>
              <a:t>97</a:t>
            </a:fld>
            <a:endParaRPr lang="en-US" sz="1400">
              <a:solidFill>
                <a:prstClr val="black"/>
              </a:solidFill>
              <a:latin typeface="Fira Sans" panose="020B0503050000020004" pitchFamily="34" charset="0"/>
            </a:endParaRPr>
          </a:p>
        </p:txBody>
      </p:sp>
      <p:graphicFrame>
        <p:nvGraphicFramePr>
          <p:cNvPr id="8" name="Table 7">
            <a:extLst>
              <a:ext uri="{FF2B5EF4-FFF2-40B4-BE49-F238E27FC236}">
                <a16:creationId xmlns:a16="http://schemas.microsoft.com/office/drawing/2014/main" id="{00A20DF3-CF1D-FB9F-F27B-39EAC09BCD05}"/>
              </a:ext>
            </a:extLst>
          </p:cNvPr>
          <p:cNvGraphicFramePr>
            <a:graphicFrameLocks noGrp="1"/>
          </p:cNvGraphicFramePr>
          <p:nvPr/>
        </p:nvGraphicFramePr>
        <p:xfrm>
          <a:off x="7315651" y="8204220"/>
          <a:ext cx="10762798" cy="3187680"/>
        </p:xfrm>
        <a:graphic>
          <a:graphicData uri="http://schemas.openxmlformats.org/drawingml/2006/table">
            <a:tbl>
              <a:tblPr firstRow="1" bandRow="1"/>
              <a:tblGrid>
                <a:gridCol w="1605982">
                  <a:extLst>
                    <a:ext uri="{9D8B030D-6E8A-4147-A177-3AD203B41FA5}">
                      <a16:colId xmlns:a16="http://schemas.microsoft.com/office/drawing/2014/main" val="1200723372"/>
                    </a:ext>
                  </a:extLst>
                </a:gridCol>
                <a:gridCol w="1680030">
                  <a:extLst>
                    <a:ext uri="{9D8B030D-6E8A-4147-A177-3AD203B41FA5}">
                      <a16:colId xmlns:a16="http://schemas.microsoft.com/office/drawing/2014/main" val="838408282"/>
                    </a:ext>
                  </a:extLst>
                </a:gridCol>
                <a:gridCol w="7476786">
                  <a:extLst>
                    <a:ext uri="{9D8B030D-6E8A-4147-A177-3AD203B41FA5}">
                      <a16:colId xmlns:a16="http://schemas.microsoft.com/office/drawing/2014/main" val="1637524633"/>
                    </a:ext>
                  </a:extLst>
                </a:gridCol>
              </a:tblGrid>
              <a:tr h="518160">
                <a:tc>
                  <a:txBody>
                    <a:bodyPr/>
                    <a:lstStyle/>
                    <a:p>
                      <a:pPr algn="ctr" rtl="0" fontAlgn="ctr"/>
                      <a:r>
                        <a:rPr lang="en-GB" sz="2200" b="1" u="none" strike="noStrike">
                          <a:effectLst/>
                        </a:rPr>
                        <a:t>Score</a:t>
                      </a:r>
                      <a:endParaRPr lang="en-GB" sz="2200" b="1" i="0" u="none" strike="noStrike">
                        <a:effectLst/>
                        <a:latin typeface="Arial" panose="020B0604020202020204" pitchFamily="34" charset="0"/>
                      </a:endParaRPr>
                    </a:p>
                  </a:txBody>
                  <a:tcPr marL="182880" marR="182880" marT="91440" marB="91440" anchor="ctr">
                    <a:lnL w="12700"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p>
                      <a:pPr algn="l" rtl="0" fontAlgn="ctr"/>
                      <a:r>
                        <a:rPr lang="en-GB" sz="2200" b="1" u="none" strike="noStrike">
                          <a:effectLst/>
                        </a:rPr>
                        <a:t>Coverage</a:t>
                      </a:r>
                      <a:endParaRPr lang="en-GB" sz="2200" b="1"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p>
                      <a:pPr algn="l" rtl="0" fontAlgn="ctr"/>
                      <a:r>
                        <a:rPr lang="en-GB" sz="2200" b="1" u="none" strike="noStrike">
                          <a:effectLst/>
                        </a:rPr>
                        <a:t>Explanation</a:t>
                      </a:r>
                      <a:endParaRPr lang="en-GB" sz="2200" b="1"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extLst>
                  <a:ext uri="{0D108BD9-81ED-4DB2-BD59-A6C34878D82A}">
                    <a16:rowId xmlns:a16="http://schemas.microsoft.com/office/drawing/2014/main" val="4081470017"/>
                  </a:ext>
                </a:extLst>
              </a:tr>
              <a:tr h="544400">
                <a:tc>
                  <a:txBody>
                    <a:bodyPr/>
                    <a:lstStyle/>
                    <a:p>
                      <a:pPr algn="ctr" rtl="0" fontAlgn="ctr"/>
                      <a:r>
                        <a:rPr lang="en-GB" sz="2200" u="none" strike="noStrike">
                          <a:effectLst/>
                        </a:rPr>
                        <a:t>1</a:t>
                      </a:r>
                      <a:endParaRPr lang="en-GB" sz="2200" b="0" i="0" u="none" strike="noStrike">
                        <a:effectLst/>
                        <a:latin typeface="Arial" panose="020B0604020202020204" pitchFamily="34" charset="0"/>
                      </a:endParaRPr>
                    </a:p>
                  </a:txBody>
                  <a:tcPr marL="182880" marR="182880" marT="91440" marB="91440" anchor="ctr">
                    <a:lnL w="12700"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l" rtl="0" fontAlgn="ctr"/>
                      <a:r>
                        <a:rPr lang="en-GB" sz="2200" u="none" strike="noStrike">
                          <a:effectLst/>
                        </a:rPr>
                        <a:t>None</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rtl="0" fontAlgn="ctr"/>
                      <a:r>
                        <a:rPr lang="en-GB" sz="2200" u="none" strike="noStrike">
                          <a:effectLst/>
                        </a:rPr>
                        <a:t>Feature not present or does not meet the requirement.</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62571548"/>
                  </a:ext>
                </a:extLst>
              </a:tr>
              <a:tr h="544400">
                <a:tc>
                  <a:txBody>
                    <a:bodyPr/>
                    <a:lstStyle/>
                    <a:p>
                      <a:pPr algn="ctr" rtl="0" fontAlgn="ctr"/>
                      <a:r>
                        <a:rPr lang="en-GB" sz="2200" u="none" strike="noStrike">
                          <a:effectLst/>
                        </a:rPr>
                        <a:t>2</a:t>
                      </a:r>
                      <a:endParaRPr lang="en-GB" sz="2200" b="0" i="0" u="none" strike="noStrike">
                        <a:effectLst/>
                        <a:latin typeface="Arial" panose="020B0604020202020204" pitchFamily="34" charset="0"/>
                      </a:endParaRPr>
                    </a:p>
                  </a:txBody>
                  <a:tcPr marL="182880" marR="182880" marT="91440" marB="91440" anchor="ctr">
                    <a:lnL w="12700"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rtl="0" fontAlgn="ctr"/>
                      <a:r>
                        <a:rPr lang="en-GB" sz="2200" u="none" strike="noStrike">
                          <a:effectLst/>
                        </a:rPr>
                        <a:t>Low</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l" rtl="0" fontAlgn="ctr"/>
                      <a:r>
                        <a:rPr lang="en-GB" sz="2200" u="none" strike="noStrike">
                          <a:effectLst/>
                        </a:rPr>
                        <a:t>Minimal achievement or partial compliance.</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extLst>
                  <a:ext uri="{0D108BD9-81ED-4DB2-BD59-A6C34878D82A}">
                    <a16:rowId xmlns:a16="http://schemas.microsoft.com/office/drawing/2014/main" val="1639936732"/>
                  </a:ext>
                </a:extLst>
              </a:tr>
              <a:tr h="544400">
                <a:tc>
                  <a:txBody>
                    <a:bodyPr/>
                    <a:lstStyle/>
                    <a:p>
                      <a:pPr algn="ctr" rtl="0" fontAlgn="ctr"/>
                      <a:r>
                        <a:rPr lang="en-GB" sz="2200" u="none" strike="noStrike">
                          <a:effectLst/>
                        </a:rPr>
                        <a:t>3</a:t>
                      </a:r>
                      <a:endParaRPr lang="en-GB" sz="2200" b="0" i="0" u="none" strike="noStrike">
                        <a:effectLst/>
                        <a:latin typeface="Arial" panose="020B0604020202020204" pitchFamily="34" charset="0"/>
                      </a:endParaRPr>
                    </a:p>
                  </a:txBody>
                  <a:tcPr marL="182880" marR="182880" marT="91440" marB="91440" anchor="ctr">
                    <a:lnL w="12700"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a:txBody>
                    <a:bodyPr/>
                    <a:lstStyle/>
                    <a:p>
                      <a:pPr algn="l" rtl="0" fontAlgn="ctr"/>
                      <a:r>
                        <a:rPr lang="en-GB" sz="2200" u="none" strike="noStrike">
                          <a:effectLst/>
                        </a:rPr>
                        <a:t>Moderate</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rtl="0" fontAlgn="ctr"/>
                      <a:r>
                        <a:rPr lang="en-GB" sz="2200" u="none" strike="noStrike">
                          <a:effectLst/>
                        </a:rPr>
                        <a:t>Somewhat achieved; acceptable but not optimal.</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38624238"/>
                  </a:ext>
                </a:extLst>
              </a:tr>
              <a:tr h="518160">
                <a:tc>
                  <a:txBody>
                    <a:bodyPr/>
                    <a:lstStyle/>
                    <a:p>
                      <a:pPr algn="ctr" rtl="0" fontAlgn="ctr"/>
                      <a:r>
                        <a:rPr lang="en-GB" sz="2200" u="none" strike="noStrike">
                          <a:effectLst/>
                        </a:rPr>
                        <a:t>4</a:t>
                      </a:r>
                      <a:endParaRPr lang="en-GB" sz="2200" b="0" i="0" u="none" strike="noStrike">
                        <a:effectLst/>
                        <a:latin typeface="Arial" panose="020B0604020202020204" pitchFamily="34" charset="0"/>
                      </a:endParaRPr>
                    </a:p>
                  </a:txBody>
                  <a:tcPr marL="182880" marR="182880" marT="91440" marB="91440" anchor="ctr">
                    <a:lnL w="12700"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l" rtl="0" fontAlgn="ctr"/>
                      <a:r>
                        <a:rPr lang="en-GB" sz="2200" u="none" strike="noStrike">
                          <a:effectLst/>
                        </a:rPr>
                        <a:t>High</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l" rtl="0" fontAlgn="ctr"/>
                      <a:r>
                        <a:rPr lang="en-GB" sz="2200" u="none" strike="noStrike">
                          <a:effectLst/>
                        </a:rPr>
                        <a:t>Mostly achieved; meets most of the expectations.</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extLst>
                  <a:ext uri="{0D108BD9-81ED-4DB2-BD59-A6C34878D82A}">
                    <a16:rowId xmlns:a16="http://schemas.microsoft.com/office/drawing/2014/main" val="3495652796"/>
                  </a:ext>
                </a:extLst>
              </a:tr>
              <a:tr h="518160">
                <a:tc>
                  <a:txBody>
                    <a:bodyPr/>
                    <a:lstStyle/>
                    <a:p>
                      <a:pPr algn="ctr" rtl="0" fontAlgn="ctr"/>
                      <a:r>
                        <a:rPr lang="en-GB" sz="2200" u="none" strike="noStrike">
                          <a:effectLst/>
                        </a:rPr>
                        <a:t>5</a:t>
                      </a:r>
                      <a:endParaRPr lang="en-GB" sz="2200" b="0" i="0" u="none" strike="noStrike">
                        <a:effectLst/>
                        <a:latin typeface="Arial" panose="020B0604020202020204" pitchFamily="34" charset="0"/>
                      </a:endParaRPr>
                    </a:p>
                  </a:txBody>
                  <a:tcPr marL="182880" marR="182880" marT="91440" marB="91440" anchor="ctr">
                    <a:lnL w="12700"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l" rtl="0" fontAlgn="ctr"/>
                      <a:r>
                        <a:rPr lang="en-GB" sz="2200" u="none" strike="noStrike">
                          <a:effectLst/>
                        </a:rPr>
                        <a:t>Full</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rtl="0" fontAlgn="ctr"/>
                      <a:r>
                        <a:rPr lang="en-GB" sz="2200" u="none" strike="noStrike">
                          <a:effectLst/>
                        </a:rPr>
                        <a:t>Fully achieved or exceeds expectations.</a:t>
                      </a:r>
                      <a:endParaRPr lang="en-GB" sz="2200" b="0" i="0" u="none" strike="noStrike">
                        <a:effectLst/>
                        <a:latin typeface="Arial" panose="020B0604020202020204" pitchFamily="34" charset="0"/>
                      </a:endParaRPr>
                    </a:p>
                  </a:txBody>
                  <a:tcPr marL="182880" marR="182880" marT="91440" marB="91440" anchor="ctr">
                    <a:lnL w="9525"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68939110"/>
                  </a:ext>
                </a:extLst>
              </a:tr>
            </a:tbl>
          </a:graphicData>
        </a:graphic>
      </p:graphicFrame>
      <p:sp>
        <p:nvSpPr>
          <p:cNvPr id="9" name="Text Placeholder 4">
            <a:extLst>
              <a:ext uri="{FF2B5EF4-FFF2-40B4-BE49-F238E27FC236}">
                <a16:creationId xmlns:a16="http://schemas.microsoft.com/office/drawing/2014/main" id="{54C378F6-CFCF-A66F-0837-D0721F2B9AB2}"/>
              </a:ext>
            </a:extLst>
          </p:cNvPr>
          <p:cNvSpPr>
            <a:spLocks noGrp="1"/>
          </p:cNvSpPr>
          <p:nvPr>
            <p:ph type="body" sz="quarter" idx="12"/>
          </p:nvPr>
        </p:nvSpPr>
        <p:spPr>
          <a:xfrm>
            <a:off x="668992" y="2324101"/>
            <a:ext cx="22936200" cy="4955203"/>
          </a:xfrm>
        </p:spPr>
        <p:txBody>
          <a:bodyPr vert="horz" wrap="square" lIns="0" tIns="0" rIns="0" bIns="0" rtlCol="0" anchor="t">
            <a:spAutoFit/>
          </a:bodyPr>
          <a:lstStyle/>
          <a:p>
            <a:pPr marL="0" indent="0">
              <a:buNone/>
            </a:pPr>
            <a:r>
              <a:rPr lang="en-GB" sz="2800" b="1">
                <a:solidFill>
                  <a:srgbClr val="EB0000"/>
                </a:solidFill>
                <a:cs typeface="Arial"/>
              </a:rPr>
              <a:t>Objectives</a:t>
            </a:r>
            <a:endParaRPr lang="en-GB" sz="2800">
              <a:cs typeface="Arial"/>
            </a:endParaRPr>
          </a:p>
          <a:p>
            <a:r>
              <a:rPr lang="en-GB" sz="2800">
                <a:cs typeface="Arial"/>
              </a:rPr>
              <a:t>Score each Hyperscaler against the criteria objectively.</a:t>
            </a:r>
          </a:p>
          <a:p>
            <a:pPr marL="0" indent="0">
              <a:buNone/>
            </a:pPr>
            <a:r>
              <a:rPr lang="en-GB" sz="2800" b="1">
                <a:solidFill>
                  <a:srgbClr val="EB0000"/>
                </a:solidFill>
                <a:cs typeface="Arial"/>
              </a:rPr>
              <a:t>Methodology </a:t>
            </a:r>
          </a:p>
          <a:p>
            <a:r>
              <a:rPr lang="en-GB" sz="2800">
                <a:cs typeface="Arial"/>
              </a:rPr>
              <a:t>Each of the five criteria contains specific “value dials” which have been scored between 1 and 5 depending on the evidence assessed – scoring values explained in the table below.</a:t>
            </a:r>
          </a:p>
          <a:p>
            <a:r>
              <a:rPr lang="en-GB" sz="2800">
                <a:cs typeface="Arial"/>
              </a:rPr>
              <a:t>Scoring allows for each criteria and individual value dial to be weighted however Achilles’ decision was to treat each criteria equally.</a:t>
            </a:r>
          </a:p>
          <a:p>
            <a:r>
              <a:rPr lang="en-GB" sz="2800">
                <a:cs typeface="Arial"/>
              </a:rPr>
              <a:t>Because each criteria has a differing number of value dials, the average of the value dial scores is taken so that each criteria returns a single score between 0 and 5 – this means the maximum score is 25.</a:t>
            </a:r>
          </a:p>
          <a:p>
            <a:r>
              <a:rPr lang="en-GB" sz="2800">
                <a:cs typeface="Arial"/>
              </a:rPr>
              <a:t>Detailed analysis around scoring can be found in Appendix 1 – Hyperscaler Selection – Detailed Scoring.</a:t>
            </a:r>
          </a:p>
        </p:txBody>
      </p:sp>
    </p:spTree>
    <p:extLst>
      <p:ext uri="{BB962C8B-B14F-4D97-AF65-F5344CB8AC3E}">
        <p14:creationId xmlns:p14="http://schemas.microsoft.com/office/powerpoint/2010/main" val="245149848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B071E05-B572-4885-BCAB-A01E1C74D4D6}"/>
              </a:ext>
            </a:extLst>
          </p:cNvPr>
          <p:cNvSpPr>
            <a:spLocks noGrp="1"/>
          </p:cNvSpPr>
          <p:nvPr>
            <p:ph type="title"/>
          </p:nvPr>
        </p:nvSpPr>
        <p:spPr>
          <a:xfrm>
            <a:off x="668992" y="537179"/>
            <a:ext cx="22991108" cy="968086"/>
          </a:xfrm>
        </p:spPr>
        <p:txBody>
          <a:bodyPr/>
          <a:lstStyle/>
          <a:p>
            <a:r>
              <a:rPr lang="en-US"/>
              <a:t>Cloud Decision Matrix: </a:t>
            </a:r>
            <a:r>
              <a:rPr lang="en-GB" b="1"/>
              <a:t>Economics</a:t>
            </a:r>
            <a:endParaRPr lang="en-AE"/>
          </a:p>
        </p:txBody>
      </p:sp>
      <p:graphicFrame>
        <p:nvGraphicFramePr>
          <p:cNvPr id="9" name="Table 8">
            <a:extLst>
              <a:ext uri="{FF2B5EF4-FFF2-40B4-BE49-F238E27FC236}">
                <a16:creationId xmlns:a16="http://schemas.microsoft.com/office/drawing/2014/main" id="{4E08606B-0B4F-8F3D-0220-9973A1AA7B82}"/>
              </a:ext>
            </a:extLst>
          </p:cNvPr>
          <p:cNvGraphicFramePr>
            <a:graphicFrameLocks noGrp="1"/>
          </p:cNvGraphicFramePr>
          <p:nvPr/>
        </p:nvGraphicFramePr>
        <p:xfrm>
          <a:off x="1392000" y="2739011"/>
          <a:ext cx="21600000" cy="4494750"/>
        </p:xfrm>
        <a:graphic>
          <a:graphicData uri="http://schemas.openxmlformats.org/drawingml/2006/table">
            <a:tbl>
              <a:tblPr firstRow="1" bandRow="1"/>
              <a:tblGrid>
                <a:gridCol w="8256652">
                  <a:extLst>
                    <a:ext uri="{9D8B030D-6E8A-4147-A177-3AD203B41FA5}">
                      <a16:colId xmlns:a16="http://schemas.microsoft.com/office/drawing/2014/main" val="4161693241"/>
                    </a:ext>
                  </a:extLst>
                </a:gridCol>
                <a:gridCol w="9919180">
                  <a:extLst>
                    <a:ext uri="{9D8B030D-6E8A-4147-A177-3AD203B41FA5}">
                      <a16:colId xmlns:a16="http://schemas.microsoft.com/office/drawing/2014/main" val="2600346610"/>
                    </a:ext>
                  </a:extLst>
                </a:gridCol>
                <a:gridCol w="1712084">
                  <a:extLst>
                    <a:ext uri="{9D8B030D-6E8A-4147-A177-3AD203B41FA5}">
                      <a16:colId xmlns:a16="http://schemas.microsoft.com/office/drawing/2014/main" val="838408282"/>
                    </a:ext>
                  </a:extLst>
                </a:gridCol>
                <a:gridCol w="1712084">
                  <a:extLst>
                    <a:ext uri="{9D8B030D-6E8A-4147-A177-3AD203B41FA5}">
                      <a16:colId xmlns:a16="http://schemas.microsoft.com/office/drawing/2014/main" val="1637524633"/>
                    </a:ext>
                  </a:extLst>
                </a:gridCol>
              </a:tblGrid>
              <a:tr h="89408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Strategic Goals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Value Dials</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AWS Score</a:t>
                      </a: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Azure Score</a:t>
                      </a:r>
                    </a:p>
                  </a:txBody>
                  <a:tcPr marL="182880" marR="182880" marT="91440" marB="9144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extLst>
                  <a:ext uri="{0D108BD9-81ED-4DB2-BD59-A6C34878D82A}">
                    <a16:rowId xmlns:a16="http://schemas.microsoft.com/office/drawing/2014/main" val="4081470017"/>
                  </a:ext>
                </a:extLst>
              </a:tr>
              <a:tr h="720134">
                <a:tc rowSpan="4">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2" indent="0">
                        <a:spcAft>
                          <a:spcPts val="0"/>
                        </a:spcAft>
                        <a:buClr>
                          <a:srgbClr val="EB0000"/>
                        </a:buClr>
                        <a:buSzPct val="100000"/>
                        <a:buNone/>
                        <a:defRPr/>
                      </a:pPr>
                      <a:r>
                        <a:rPr lang="en-US" sz="2200" b="1" i="0" kern="1200" spc="-10">
                          <a:solidFill>
                            <a:schemeClr val="tx1"/>
                          </a:solidFill>
                          <a:latin typeface="Arial"/>
                          <a:ea typeface="+mn-ea"/>
                          <a:cs typeface="Arial"/>
                        </a:rPr>
                        <a:t>Attractive Economics</a:t>
                      </a:r>
                    </a:p>
                    <a:p>
                      <a:pPr marL="0" lvl="2" indent="0">
                        <a:spcAft>
                          <a:spcPts val="0"/>
                        </a:spcAft>
                        <a:buClr>
                          <a:srgbClr val="EB0000"/>
                        </a:buClr>
                        <a:buSzPct val="100000"/>
                        <a:buNone/>
                        <a:defRPr/>
                      </a:pPr>
                      <a:r>
                        <a:rPr lang="en-GB" sz="2200" b="0" i="0" kern="1200" spc="-10">
                          <a:solidFill>
                            <a:schemeClr val="tx1"/>
                          </a:solidFill>
                          <a:latin typeface="Arial"/>
                          <a:ea typeface="+mn-ea"/>
                          <a:cs typeface="Arial"/>
                        </a:rPr>
                        <a:t>How can we save costs in our technology ecosystem as a whole and reduce both capital and operational expenses?</a:t>
                      </a: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a:solidFill>
                            <a:schemeClr val="tx1"/>
                          </a:solidFill>
                        </a:rPr>
                        <a:t>Infrastructure Costs</a:t>
                      </a:r>
                      <a:endParaRPr kumimoji="0" lang="en-US" sz="2200" b="0" i="0" u="none" strike="noStrike" kern="1200" cap="none" spc="0" normalizeH="0" baseline="30000">
                        <a:ln>
                          <a:noFill/>
                        </a:ln>
                        <a:solidFill>
                          <a:schemeClr val="tx1"/>
                        </a:solidFill>
                        <a:effectLst/>
                        <a:uLnTx/>
                        <a:uFillTx/>
                        <a:latin typeface="+mn-lt"/>
                      </a:endParaRP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2562571548"/>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a:solidFill>
                            <a:schemeClr val="tx1"/>
                          </a:solidFill>
                        </a:rPr>
                        <a:t>Migration Costs</a:t>
                      </a:r>
                      <a:endParaRPr lang="en-US" sz="1600" b="0">
                        <a:solidFill>
                          <a:schemeClr val="tx1"/>
                        </a:solidFill>
                      </a:endParaRP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639936732"/>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2200" b="0">
                          <a:solidFill>
                            <a:schemeClr val="tx1"/>
                          </a:solidFill>
                        </a:rPr>
                        <a:t>Software Licensing</a:t>
                      </a:r>
                      <a:endParaRPr kumimoji="0" lang="en-US" sz="2200" b="0" i="0" u="none" strike="noStrike" kern="1200" cap="none" spc="0" normalizeH="0" baseline="30000">
                        <a:ln>
                          <a:noFill/>
                        </a:ln>
                        <a:solidFill>
                          <a:schemeClr val="tx1"/>
                        </a:solidFill>
                        <a:effectLst/>
                        <a:uLnTx/>
                        <a:uFillTx/>
                        <a:latin typeface="+mn-lt"/>
                      </a:endParaRP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3</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938624238"/>
                  </a:ext>
                </a:extLst>
              </a:tr>
              <a:tr h="720134">
                <a:tc vMerge="1">
                  <a:txBody>
                    <a:bodyPr/>
                    <a:lstStyle/>
                    <a:p>
                      <a:endParaRPr lang="en-US"/>
                    </a:p>
                  </a:txBody>
                  <a:tcPr>
                    <a:lnT w="28575" cap="flat" cmpd="sng" algn="ctr">
                      <a:solidFill>
                        <a:srgbClr val="202C39"/>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0">
                          <a:solidFill>
                            <a:schemeClr val="tx1"/>
                          </a:solidFill>
                        </a:rPr>
                        <a:t>Pricing Flexibility (Savings/Discounts)</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495652796"/>
                  </a:ext>
                </a:extLst>
              </a:tr>
              <a:tr h="720134">
                <a:tc>
                  <a:txBody>
                    <a:bodyPr/>
                    <a:lstStyle/>
                    <a:p>
                      <a:pPr marL="0" lvl="2" indent="0">
                        <a:spcAft>
                          <a:spcPts val="0"/>
                        </a:spcAft>
                        <a:buClr>
                          <a:srgbClr val="EB0000"/>
                        </a:buClr>
                        <a:buSzPct val="100000"/>
                        <a:buNone/>
                        <a:defRPr/>
                      </a:pP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1">
                          <a:solidFill>
                            <a:schemeClr val="tx1"/>
                          </a:solidFill>
                        </a:rPr>
                        <a:t>Weighted Average</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fontAlgn="b"/>
                      <a:r>
                        <a:rPr lang="en-GB" sz="2200" b="1" i="0" u="none" strike="noStrike" kern="1200">
                          <a:solidFill>
                            <a:schemeClr val="tx1"/>
                          </a:solidFill>
                          <a:effectLst/>
                          <a:latin typeface="Arial" panose="020B0604020202020204" pitchFamily="34" charset="0"/>
                          <a:ea typeface="+mn-ea"/>
                          <a:cs typeface="+mn-cs"/>
                        </a:rPr>
                        <a:t>4.00</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fontAlgn="b"/>
                      <a:r>
                        <a:rPr lang="en-GB" sz="2200" b="1" i="0" u="none" strike="noStrike" kern="1200">
                          <a:solidFill>
                            <a:schemeClr val="tx1"/>
                          </a:solidFill>
                          <a:effectLst/>
                          <a:latin typeface="Arial" panose="020B0604020202020204" pitchFamily="34" charset="0"/>
                          <a:ea typeface="+mn-ea"/>
                          <a:cs typeface="+mn-cs"/>
                        </a:rPr>
                        <a:t>5.00</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268939110"/>
                  </a:ext>
                </a:extLst>
              </a:tr>
            </a:tbl>
          </a:graphicData>
        </a:graphic>
      </p:graphicFrame>
    </p:spTree>
    <p:extLst>
      <p:ext uri="{BB962C8B-B14F-4D97-AF65-F5344CB8AC3E}">
        <p14:creationId xmlns:p14="http://schemas.microsoft.com/office/powerpoint/2010/main" val="54953946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D9A5D5-96A1-5AF4-6C4D-4C14990F96FD}"/>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F2C89DB0-A245-925E-38C4-CF69D6916F07}"/>
              </a:ext>
            </a:extLst>
          </p:cNvPr>
          <p:cNvSpPr>
            <a:spLocks noGrp="1"/>
          </p:cNvSpPr>
          <p:nvPr>
            <p:ph type="title"/>
          </p:nvPr>
        </p:nvSpPr>
        <p:spPr>
          <a:xfrm>
            <a:off x="668992" y="537179"/>
            <a:ext cx="22991108" cy="968086"/>
          </a:xfrm>
        </p:spPr>
        <p:txBody>
          <a:bodyPr/>
          <a:lstStyle/>
          <a:p>
            <a:r>
              <a:rPr lang="en-US"/>
              <a:t>Cloud Decision Matrix: </a:t>
            </a:r>
            <a:r>
              <a:rPr lang="en-GB" b="1"/>
              <a:t>Security/Compliance</a:t>
            </a:r>
            <a:endParaRPr lang="en-AE"/>
          </a:p>
        </p:txBody>
      </p:sp>
      <p:graphicFrame>
        <p:nvGraphicFramePr>
          <p:cNvPr id="9" name="Table 8">
            <a:extLst>
              <a:ext uri="{FF2B5EF4-FFF2-40B4-BE49-F238E27FC236}">
                <a16:creationId xmlns:a16="http://schemas.microsoft.com/office/drawing/2014/main" id="{95D4FFE4-CE01-4E84-5BFB-A8156BBFC103}"/>
              </a:ext>
            </a:extLst>
          </p:cNvPr>
          <p:cNvGraphicFramePr>
            <a:graphicFrameLocks noGrp="1"/>
          </p:cNvGraphicFramePr>
          <p:nvPr/>
        </p:nvGraphicFramePr>
        <p:xfrm>
          <a:off x="1392000" y="2739011"/>
          <a:ext cx="21600000" cy="4494750"/>
        </p:xfrm>
        <a:graphic>
          <a:graphicData uri="http://schemas.openxmlformats.org/drawingml/2006/table">
            <a:tbl>
              <a:tblPr firstRow="1" bandRow="1"/>
              <a:tblGrid>
                <a:gridCol w="8256652">
                  <a:extLst>
                    <a:ext uri="{9D8B030D-6E8A-4147-A177-3AD203B41FA5}">
                      <a16:colId xmlns:a16="http://schemas.microsoft.com/office/drawing/2014/main" val="4161693241"/>
                    </a:ext>
                  </a:extLst>
                </a:gridCol>
                <a:gridCol w="9919180">
                  <a:extLst>
                    <a:ext uri="{9D8B030D-6E8A-4147-A177-3AD203B41FA5}">
                      <a16:colId xmlns:a16="http://schemas.microsoft.com/office/drawing/2014/main" val="2600346610"/>
                    </a:ext>
                  </a:extLst>
                </a:gridCol>
                <a:gridCol w="1712084">
                  <a:extLst>
                    <a:ext uri="{9D8B030D-6E8A-4147-A177-3AD203B41FA5}">
                      <a16:colId xmlns:a16="http://schemas.microsoft.com/office/drawing/2014/main" val="838408282"/>
                    </a:ext>
                  </a:extLst>
                </a:gridCol>
                <a:gridCol w="1712084">
                  <a:extLst>
                    <a:ext uri="{9D8B030D-6E8A-4147-A177-3AD203B41FA5}">
                      <a16:colId xmlns:a16="http://schemas.microsoft.com/office/drawing/2014/main" val="1637524633"/>
                    </a:ext>
                  </a:extLst>
                </a:gridCol>
              </a:tblGrid>
              <a:tr h="89408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Strategic Goals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Value Dials</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AWS Score</a:t>
                      </a: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Azure Score</a:t>
                      </a:r>
                    </a:p>
                  </a:txBody>
                  <a:tcPr marL="182880" marR="182880" marT="91440" marB="9144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extLst>
                  <a:ext uri="{0D108BD9-81ED-4DB2-BD59-A6C34878D82A}">
                    <a16:rowId xmlns:a16="http://schemas.microsoft.com/office/drawing/2014/main" val="4081470017"/>
                  </a:ext>
                </a:extLst>
              </a:tr>
              <a:tr h="720134">
                <a:tc rowSpan="4">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2" indent="0">
                        <a:spcAft>
                          <a:spcPts val="0"/>
                        </a:spcAft>
                        <a:buClr>
                          <a:srgbClr val="EB0000"/>
                        </a:buClr>
                        <a:buSzPct val="100000"/>
                        <a:buNone/>
                        <a:defRPr/>
                      </a:pPr>
                      <a:r>
                        <a:rPr lang="en-US" sz="2200" b="1" i="0" kern="1200" spc="-10">
                          <a:solidFill>
                            <a:schemeClr val="tx1"/>
                          </a:solidFill>
                          <a:latin typeface="Arial"/>
                          <a:ea typeface="+mn-ea"/>
                          <a:cs typeface="Arial"/>
                        </a:rPr>
                        <a:t>Security, Risk and Compliance </a:t>
                      </a:r>
                    </a:p>
                    <a:p>
                      <a:pPr marL="0" lvl="2" indent="0">
                        <a:spcAft>
                          <a:spcPts val="0"/>
                        </a:spcAft>
                        <a:buClr>
                          <a:srgbClr val="EB0000"/>
                        </a:buClr>
                        <a:buSzPct val="100000"/>
                        <a:buNone/>
                        <a:defRPr/>
                      </a:pPr>
                      <a:r>
                        <a:rPr lang="en-GB" sz="2200" b="0" i="0" kern="1200" spc="-10">
                          <a:solidFill>
                            <a:schemeClr val="tx1"/>
                          </a:solidFill>
                          <a:latin typeface="Arial"/>
                          <a:ea typeface="+mn-ea"/>
                          <a:cs typeface="Arial"/>
                        </a:rPr>
                        <a:t>How can we increase our security posture, leverage economies of scale, and enhance our ability to standardize and control infrastructure sprawl?</a:t>
                      </a:r>
                      <a:endParaRPr lang="en-US" sz="2200" b="0"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a:solidFill>
                            <a:schemeClr val="tx1"/>
                          </a:solidFill>
                        </a:rPr>
                        <a:t>Certifications &amp; Standards</a:t>
                      </a:r>
                      <a:endParaRPr kumimoji="0" lang="en-US" sz="2200" b="0" i="0" u="none" strike="noStrike" kern="1200" cap="none" spc="0" normalizeH="0" baseline="30000">
                        <a:ln>
                          <a:noFill/>
                        </a:ln>
                        <a:solidFill>
                          <a:schemeClr val="tx1"/>
                        </a:solidFill>
                        <a:effectLst/>
                        <a:uLnTx/>
                        <a:uFillTx/>
                        <a:latin typeface="+mn-lt"/>
                      </a:endParaRP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2562571548"/>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a:solidFill>
                            <a:schemeClr val="tx1"/>
                          </a:solidFill>
                        </a:rPr>
                        <a:t>Data Privacy (Residency &amp; Sovereignty)</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639936732"/>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2200" b="0">
                          <a:solidFill>
                            <a:schemeClr val="tx1"/>
                          </a:solidFill>
                        </a:rPr>
                        <a:t>Platform Capability</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938624238"/>
                  </a:ext>
                </a:extLst>
              </a:tr>
              <a:tr h="720134">
                <a:tc vMerge="1">
                  <a:txBody>
                    <a:bodyPr/>
                    <a:lstStyle/>
                    <a:p>
                      <a:endParaRPr lang="en-US"/>
                    </a:p>
                  </a:txBody>
                  <a:tcPr>
                    <a:lnT w="28575" cap="flat" cmpd="sng" algn="ctr">
                      <a:solidFill>
                        <a:srgbClr val="202C39"/>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0">
                          <a:solidFill>
                            <a:schemeClr val="tx1"/>
                          </a:solidFill>
                        </a:rPr>
                        <a:t>Platform Maturity</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3495652796"/>
                  </a:ext>
                </a:extLst>
              </a:tr>
              <a:tr h="720134">
                <a:tc>
                  <a:txBody>
                    <a:bodyPr/>
                    <a:lstStyle/>
                    <a:p>
                      <a:pPr marL="0" lvl="2" indent="0">
                        <a:spcAft>
                          <a:spcPts val="0"/>
                        </a:spcAft>
                        <a:buClr>
                          <a:srgbClr val="EB0000"/>
                        </a:buClr>
                        <a:buSzPct val="100000"/>
                        <a:buNone/>
                        <a:defRPr/>
                      </a:pP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1">
                          <a:solidFill>
                            <a:schemeClr val="tx1"/>
                          </a:solidFill>
                        </a:rPr>
                        <a:t>Weighted Average</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rtl="0" fontAlgn="ctr"/>
                      <a:r>
                        <a:rPr lang="en-GB" sz="2200" b="1" i="0" u="none" strike="noStrike">
                          <a:effectLst/>
                          <a:latin typeface="Arial" panose="020B0604020202020204" pitchFamily="34" charset="0"/>
                        </a:rPr>
                        <a:t>4.50</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rtl="0" fontAlgn="ctr"/>
                      <a:r>
                        <a:rPr lang="en-GB" sz="2200" b="1" i="0" u="none" strike="noStrike">
                          <a:effectLst/>
                          <a:latin typeface="Arial" panose="020B0604020202020204" pitchFamily="34" charset="0"/>
                        </a:rPr>
                        <a:t>4.75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268939110"/>
                  </a:ext>
                </a:extLst>
              </a:tr>
            </a:tbl>
          </a:graphicData>
        </a:graphic>
      </p:graphicFrame>
    </p:spTree>
    <p:extLst>
      <p:ext uri="{BB962C8B-B14F-4D97-AF65-F5344CB8AC3E}">
        <p14:creationId xmlns:p14="http://schemas.microsoft.com/office/powerpoint/2010/main" val="1549595670"/>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13F22C-1908-9302-96E4-BCA336B749C8}"/>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0653452F-2F31-32F7-03C3-CC12A58E2215}"/>
              </a:ext>
            </a:extLst>
          </p:cNvPr>
          <p:cNvSpPr>
            <a:spLocks noGrp="1"/>
          </p:cNvSpPr>
          <p:nvPr>
            <p:ph type="title"/>
          </p:nvPr>
        </p:nvSpPr>
        <p:spPr>
          <a:xfrm>
            <a:off x="668992" y="537179"/>
            <a:ext cx="22991108" cy="968086"/>
          </a:xfrm>
        </p:spPr>
        <p:txBody>
          <a:bodyPr/>
          <a:lstStyle/>
          <a:p>
            <a:r>
              <a:rPr lang="en-US"/>
              <a:t>Cloud Decision Matrix: </a:t>
            </a:r>
            <a:r>
              <a:rPr lang="en-GB" b="1"/>
              <a:t>Scalability</a:t>
            </a:r>
            <a:endParaRPr lang="en-AE"/>
          </a:p>
        </p:txBody>
      </p:sp>
      <p:graphicFrame>
        <p:nvGraphicFramePr>
          <p:cNvPr id="9" name="Table 8">
            <a:extLst>
              <a:ext uri="{FF2B5EF4-FFF2-40B4-BE49-F238E27FC236}">
                <a16:creationId xmlns:a16="http://schemas.microsoft.com/office/drawing/2014/main" id="{F224C984-7EC4-F542-E3F1-DA7F23AE529C}"/>
              </a:ext>
            </a:extLst>
          </p:cNvPr>
          <p:cNvGraphicFramePr>
            <a:graphicFrameLocks noGrp="1"/>
          </p:cNvGraphicFramePr>
          <p:nvPr/>
        </p:nvGraphicFramePr>
        <p:xfrm>
          <a:off x="1392000" y="2739010"/>
          <a:ext cx="21600000" cy="3774616"/>
        </p:xfrm>
        <a:graphic>
          <a:graphicData uri="http://schemas.openxmlformats.org/drawingml/2006/table">
            <a:tbl>
              <a:tblPr firstRow="1" bandRow="1"/>
              <a:tblGrid>
                <a:gridCol w="8256652">
                  <a:extLst>
                    <a:ext uri="{9D8B030D-6E8A-4147-A177-3AD203B41FA5}">
                      <a16:colId xmlns:a16="http://schemas.microsoft.com/office/drawing/2014/main" val="4161693241"/>
                    </a:ext>
                  </a:extLst>
                </a:gridCol>
                <a:gridCol w="9919180">
                  <a:extLst>
                    <a:ext uri="{9D8B030D-6E8A-4147-A177-3AD203B41FA5}">
                      <a16:colId xmlns:a16="http://schemas.microsoft.com/office/drawing/2014/main" val="2600346610"/>
                    </a:ext>
                  </a:extLst>
                </a:gridCol>
                <a:gridCol w="1712084">
                  <a:extLst>
                    <a:ext uri="{9D8B030D-6E8A-4147-A177-3AD203B41FA5}">
                      <a16:colId xmlns:a16="http://schemas.microsoft.com/office/drawing/2014/main" val="838408282"/>
                    </a:ext>
                  </a:extLst>
                </a:gridCol>
                <a:gridCol w="1712084">
                  <a:extLst>
                    <a:ext uri="{9D8B030D-6E8A-4147-A177-3AD203B41FA5}">
                      <a16:colId xmlns:a16="http://schemas.microsoft.com/office/drawing/2014/main" val="1637524633"/>
                    </a:ext>
                  </a:extLst>
                </a:gridCol>
              </a:tblGrid>
              <a:tr h="89408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Strategic Goals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Value Dials</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AWS Score</a:t>
                      </a: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Azure Score</a:t>
                      </a:r>
                    </a:p>
                  </a:txBody>
                  <a:tcPr marL="182880" marR="182880" marT="91440" marB="9144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extLst>
                  <a:ext uri="{0D108BD9-81ED-4DB2-BD59-A6C34878D82A}">
                    <a16:rowId xmlns:a16="http://schemas.microsoft.com/office/drawing/2014/main" val="4081470017"/>
                  </a:ext>
                </a:extLst>
              </a:tr>
              <a:tr h="720134">
                <a:tc rowSpan="3">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2" indent="0">
                        <a:spcAft>
                          <a:spcPts val="0"/>
                        </a:spcAft>
                        <a:buClr>
                          <a:srgbClr val="EB0000"/>
                        </a:buClr>
                        <a:buSzPct val="100000"/>
                        <a:buNone/>
                        <a:defRPr/>
                      </a:pPr>
                      <a:r>
                        <a:rPr lang="en-US" sz="2200" b="1" i="0" kern="1200" spc="-10">
                          <a:solidFill>
                            <a:schemeClr val="tx1"/>
                          </a:solidFill>
                          <a:latin typeface="Arial"/>
                          <a:ea typeface="+mn-ea"/>
                          <a:cs typeface="Arial"/>
                        </a:rPr>
                        <a:t>Scalability </a:t>
                      </a:r>
                    </a:p>
                    <a:p>
                      <a:pPr marL="0" lvl="2" indent="0">
                        <a:spcAft>
                          <a:spcPts val="0"/>
                        </a:spcAft>
                        <a:buClr>
                          <a:srgbClr val="EB0000"/>
                        </a:buClr>
                        <a:buSzPct val="100000"/>
                        <a:buNone/>
                        <a:defRPr/>
                      </a:pPr>
                      <a:r>
                        <a:rPr lang="en-GB" sz="2200" b="0" i="0" kern="1200" spc="-10">
                          <a:solidFill>
                            <a:schemeClr val="tx1"/>
                          </a:solidFill>
                          <a:latin typeface="Arial"/>
                          <a:ea typeface="+mn-ea"/>
                          <a:cs typeface="Arial"/>
                        </a:rPr>
                        <a:t>How can we increase the performance of our applications and provide a better user experience?</a:t>
                      </a: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a:solidFill>
                            <a:schemeClr val="tx1"/>
                          </a:solidFill>
                        </a:rPr>
                        <a:t>Global Reach</a:t>
                      </a:r>
                      <a:endParaRPr kumimoji="0" lang="en-US" sz="2200" b="0" i="0" u="none" strike="noStrike" kern="1200" cap="none" spc="0" normalizeH="0" baseline="30000">
                        <a:ln>
                          <a:noFill/>
                        </a:ln>
                        <a:solidFill>
                          <a:schemeClr val="tx1"/>
                        </a:solidFill>
                        <a:effectLst/>
                        <a:uLnTx/>
                        <a:uFillTx/>
                        <a:latin typeface="+mn-lt"/>
                      </a:endParaRP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2562571548"/>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a:solidFill>
                            <a:schemeClr val="tx1"/>
                          </a:solidFill>
                        </a:rPr>
                        <a:t>Elasticity and Autoscaling</a:t>
                      </a:r>
                      <a:endParaRPr lang="en-US" sz="1600" b="0">
                        <a:solidFill>
                          <a:schemeClr val="tx1"/>
                        </a:solidFill>
                      </a:endParaRP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1639936732"/>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0">
                          <a:solidFill>
                            <a:schemeClr val="tx1"/>
                          </a:solidFill>
                        </a:rPr>
                        <a:t>Control and Manageability</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938624238"/>
                  </a:ext>
                </a:extLst>
              </a:tr>
              <a:tr h="720134">
                <a:tc>
                  <a:txBody>
                    <a:bodyPr/>
                    <a:lstStyle/>
                    <a:p>
                      <a:pPr marL="0" lvl="2" indent="0">
                        <a:spcAft>
                          <a:spcPts val="0"/>
                        </a:spcAft>
                        <a:buClr>
                          <a:srgbClr val="EB0000"/>
                        </a:buClr>
                        <a:buSzPct val="100000"/>
                        <a:buNone/>
                        <a:defRPr/>
                      </a:pP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1">
                          <a:solidFill>
                            <a:schemeClr val="tx1"/>
                          </a:solidFill>
                        </a:rPr>
                        <a:t>Weighted Average</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rtl="0" fontAlgn="ctr"/>
                      <a:r>
                        <a:rPr lang="en-GB" sz="2200" b="1" i="0" u="none" strike="noStrike">
                          <a:effectLst/>
                          <a:latin typeface="Arial" panose="020B0604020202020204" pitchFamily="34" charset="0"/>
                        </a:rPr>
                        <a:t>5.00</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rtl="0" fontAlgn="ctr"/>
                      <a:r>
                        <a:rPr lang="en-GB" sz="2200" b="1" i="0" u="none" strike="noStrike">
                          <a:solidFill>
                            <a:srgbClr val="000000"/>
                          </a:solidFill>
                          <a:effectLst/>
                          <a:latin typeface="Arial" panose="020B0604020202020204" pitchFamily="34" charset="0"/>
                        </a:rPr>
                        <a:t>4.33</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268939110"/>
                  </a:ext>
                </a:extLst>
              </a:tr>
            </a:tbl>
          </a:graphicData>
        </a:graphic>
      </p:graphicFrame>
    </p:spTree>
    <p:extLst>
      <p:ext uri="{BB962C8B-B14F-4D97-AF65-F5344CB8AC3E}">
        <p14:creationId xmlns:p14="http://schemas.microsoft.com/office/powerpoint/2010/main" val="1660382430"/>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9616FB-30DD-BA1C-1607-8D9AC972D875}"/>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FED70147-FC2C-2367-AB26-8A0CF5FDA03C}"/>
              </a:ext>
            </a:extLst>
          </p:cNvPr>
          <p:cNvSpPr>
            <a:spLocks noGrp="1"/>
          </p:cNvSpPr>
          <p:nvPr>
            <p:ph type="title"/>
          </p:nvPr>
        </p:nvSpPr>
        <p:spPr>
          <a:xfrm>
            <a:off x="668992" y="537179"/>
            <a:ext cx="22991108" cy="968086"/>
          </a:xfrm>
        </p:spPr>
        <p:txBody>
          <a:bodyPr/>
          <a:lstStyle/>
          <a:p>
            <a:r>
              <a:rPr lang="en-US"/>
              <a:t>Cloud Decision Matrix: </a:t>
            </a:r>
            <a:r>
              <a:rPr lang="en-GB" b="1"/>
              <a:t>Reliability</a:t>
            </a:r>
            <a:endParaRPr lang="en-AE"/>
          </a:p>
        </p:txBody>
      </p:sp>
      <p:graphicFrame>
        <p:nvGraphicFramePr>
          <p:cNvPr id="9" name="Table 8">
            <a:extLst>
              <a:ext uri="{FF2B5EF4-FFF2-40B4-BE49-F238E27FC236}">
                <a16:creationId xmlns:a16="http://schemas.microsoft.com/office/drawing/2014/main" id="{FD19B83D-A312-2F87-F43F-7DE0DD5E4A2A}"/>
              </a:ext>
            </a:extLst>
          </p:cNvPr>
          <p:cNvGraphicFramePr>
            <a:graphicFrameLocks noGrp="1"/>
          </p:cNvGraphicFramePr>
          <p:nvPr/>
        </p:nvGraphicFramePr>
        <p:xfrm>
          <a:off x="1392000" y="2739011"/>
          <a:ext cx="21600000" cy="5935018"/>
        </p:xfrm>
        <a:graphic>
          <a:graphicData uri="http://schemas.openxmlformats.org/drawingml/2006/table">
            <a:tbl>
              <a:tblPr firstRow="1" bandRow="1"/>
              <a:tblGrid>
                <a:gridCol w="8256652">
                  <a:extLst>
                    <a:ext uri="{9D8B030D-6E8A-4147-A177-3AD203B41FA5}">
                      <a16:colId xmlns:a16="http://schemas.microsoft.com/office/drawing/2014/main" val="4161693241"/>
                    </a:ext>
                  </a:extLst>
                </a:gridCol>
                <a:gridCol w="9919180">
                  <a:extLst>
                    <a:ext uri="{9D8B030D-6E8A-4147-A177-3AD203B41FA5}">
                      <a16:colId xmlns:a16="http://schemas.microsoft.com/office/drawing/2014/main" val="2600346610"/>
                    </a:ext>
                  </a:extLst>
                </a:gridCol>
                <a:gridCol w="1712084">
                  <a:extLst>
                    <a:ext uri="{9D8B030D-6E8A-4147-A177-3AD203B41FA5}">
                      <a16:colId xmlns:a16="http://schemas.microsoft.com/office/drawing/2014/main" val="838408282"/>
                    </a:ext>
                  </a:extLst>
                </a:gridCol>
                <a:gridCol w="1712084">
                  <a:extLst>
                    <a:ext uri="{9D8B030D-6E8A-4147-A177-3AD203B41FA5}">
                      <a16:colId xmlns:a16="http://schemas.microsoft.com/office/drawing/2014/main" val="1637524633"/>
                    </a:ext>
                  </a:extLst>
                </a:gridCol>
              </a:tblGrid>
              <a:tr h="89408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Strategic Goals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Value Dials</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AWS Score</a:t>
                      </a: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Azure Score</a:t>
                      </a:r>
                    </a:p>
                  </a:txBody>
                  <a:tcPr marL="182880" marR="182880" marT="91440" marB="9144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extLst>
                  <a:ext uri="{0D108BD9-81ED-4DB2-BD59-A6C34878D82A}">
                    <a16:rowId xmlns:a16="http://schemas.microsoft.com/office/drawing/2014/main" val="4081470017"/>
                  </a:ext>
                </a:extLst>
              </a:tr>
              <a:tr h="720134">
                <a:tc rowSpan="4">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2" indent="0">
                        <a:spcAft>
                          <a:spcPts val="0"/>
                        </a:spcAft>
                        <a:buClr>
                          <a:srgbClr val="EB0000"/>
                        </a:buClr>
                        <a:buSzPct val="100000"/>
                        <a:buNone/>
                        <a:defRPr/>
                      </a:pPr>
                      <a:r>
                        <a:rPr lang="en-US" sz="2200" b="1" i="0" kern="1200" spc="-10">
                          <a:solidFill>
                            <a:schemeClr val="tx1"/>
                          </a:solidFill>
                          <a:latin typeface="Arial"/>
                          <a:ea typeface="+mn-ea"/>
                          <a:cs typeface="Arial"/>
                        </a:rPr>
                        <a:t>Attractive Economics</a:t>
                      </a:r>
                    </a:p>
                    <a:p>
                      <a:pPr marL="0" lvl="2" indent="0">
                        <a:spcAft>
                          <a:spcPts val="0"/>
                        </a:spcAft>
                        <a:buClr>
                          <a:srgbClr val="EB0000"/>
                        </a:buClr>
                        <a:buSzPct val="100000"/>
                        <a:buNone/>
                        <a:defRPr/>
                      </a:pPr>
                      <a:r>
                        <a:rPr lang="en-GB" sz="2200" b="0" i="0" kern="1200" spc="-10">
                          <a:solidFill>
                            <a:schemeClr val="tx1"/>
                          </a:solidFill>
                          <a:latin typeface="Arial"/>
                          <a:ea typeface="+mn-ea"/>
                          <a:cs typeface="Arial"/>
                        </a:rPr>
                        <a:t>How can we save costs in our technology ecosystem as a whole and reduce both capital and operational expenses?</a:t>
                      </a: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a:solidFill>
                            <a:schemeClr val="tx1"/>
                          </a:solidFill>
                        </a:rPr>
                        <a:t>Service Level Agreements (SLA)</a:t>
                      </a:r>
                      <a:endParaRPr kumimoji="0" lang="en-US" sz="2200" b="0" i="0" u="none" strike="noStrike" kern="1200" cap="none" spc="0" normalizeH="0" baseline="30000">
                        <a:ln>
                          <a:noFill/>
                        </a:ln>
                        <a:solidFill>
                          <a:schemeClr val="tx1"/>
                        </a:solidFill>
                        <a:effectLst/>
                        <a:uLnTx/>
                        <a:uFillTx/>
                        <a:latin typeface="+mn-lt"/>
                      </a:endParaRP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2562571548"/>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a:solidFill>
                            <a:schemeClr val="tx1"/>
                          </a:solidFill>
                        </a:rPr>
                        <a:t>Data Durability</a:t>
                      </a:r>
                      <a:endParaRPr lang="en-US" sz="1600" b="0">
                        <a:solidFill>
                          <a:schemeClr val="tx1"/>
                        </a:solidFill>
                      </a:endParaRP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1639936732"/>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r>
                        <a:rPr lang="en-US" sz="2200" b="0">
                          <a:solidFill>
                            <a:schemeClr val="tx1"/>
                          </a:solidFill>
                        </a:rPr>
                        <a:t>Backup and Recovery</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938624238"/>
                  </a:ext>
                </a:extLst>
              </a:tr>
              <a:tr h="720134">
                <a:tc vMerge="1">
                  <a:txBody>
                    <a:bodyPr/>
                    <a:lstStyle/>
                    <a:p>
                      <a:endParaRPr lang="en-US"/>
                    </a:p>
                  </a:txBody>
                  <a:tcPr>
                    <a:lnT w="28575" cap="flat" cmpd="sng" algn="ctr">
                      <a:solidFill>
                        <a:srgbClr val="202C39"/>
                      </a:solidFill>
                      <a:prstDash val="solid"/>
                      <a:round/>
                      <a:headEnd type="none" w="med" len="med"/>
                      <a:tailEnd type="none" w="med" len="med"/>
                    </a:lnT>
                  </a:tcPr>
                </a:tc>
                <a:tc>
                  <a:txBody>
                    <a:bodyPr/>
                    <a:lstStyle/>
                    <a:p>
                      <a:pPr algn="l"/>
                      <a:r>
                        <a:rPr lang="en-US" sz="2200" b="0">
                          <a:solidFill>
                            <a:schemeClr val="tx1"/>
                          </a:solidFill>
                        </a:rPr>
                        <a:t>Disaster Recovery</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495652796"/>
                  </a:ext>
                </a:extLst>
              </a:tr>
              <a:tr h="720134">
                <a:tc>
                  <a:txBody>
                    <a:bodyPr/>
                    <a:lstStyle/>
                    <a:p>
                      <a:pPr marL="0" lvl="2" indent="0">
                        <a:spcAft>
                          <a:spcPts val="0"/>
                        </a:spcAft>
                        <a:buClr>
                          <a:srgbClr val="EB0000"/>
                        </a:buClr>
                        <a:buSzPct val="100000"/>
                        <a:buNone/>
                        <a:defRPr/>
                      </a:pP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2200" b="0">
                          <a:solidFill>
                            <a:schemeClr val="tx1"/>
                          </a:solidFill>
                        </a:rPr>
                        <a:t>Track Record</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3848258295"/>
                  </a:ext>
                </a:extLst>
              </a:tr>
              <a:tr h="720134">
                <a:tc>
                  <a:txBody>
                    <a:bodyPr/>
                    <a:lstStyle/>
                    <a:p>
                      <a:pPr marL="0" lvl="2" indent="0">
                        <a:spcAft>
                          <a:spcPts val="0"/>
                        </a:spcAft>
                        <a:buClr>
                          <a:srgbClr val="EB0000"/>
                        </a:buClr>
                        <a:buSzPct val="100000"/>
                        <a:buNone/>
                        <a:defRPr/>
                      </a:pP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0">
                          <a:solidFill>
                            <a:schemeClr val="tx1"/>
                          </a:solidFill>
                        </a:rPr>
                        <a:t>Control and Manageability</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343397907"/>
                  </a:ext>
                </a:extLst>
              </a:tr>
              <a:tr h="720134">
                <a:tc>
                  <a:txBody>
                    <a:bodyPr/>
                    <a:lstStyle/>
                    <a:p>
                      <a:pPr marL="0" lvl="2" indent="0">
                        <a:spcAft>
                          <a:spcPts val="0"/>
                        </a:spcAft>
                        <a:buClr>
                          <a:srgbClr val="EB0000"/>
                        </a:buClr>
                        <a:buSzPct val="100000"/>
                        <a:buNone/>
                        <a:defRPr/>
                      </a:pP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1">
                          <a:solidFill>
                            <a:schemeClr val="tx1"/>
                          </a:solidFill>
                        </a:rPr>
                        <a:t>Weighted Average</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fontAlgn="b"/>
                      <a:r>
                        <a:rPr lang="en-GB" sz="2200" b="1" i="0" u="none" strike="noStrike" kern="1200">
                          <a:solidFill>
                            <a:schemeClr val="tx1"/>
                          </a:solidFill>
                          <a:effectLst/>
                          <a:latin typeface="Arial" panose="020B0604020202020204" pitchFamily="34" charset="0"/>
                          <a:ea typeface="+mn-ea"/>
                          <a:cs typeface="+mn-cs"/>
                        </a:rPr>
                        <a:t>5.00</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rtl="0" fontAlgn="ctr"/>
                      <a:r>
                        <a:rPr lang="en-GB" sz="2200" b="1" i="0" u="none" strike="noStrike">
                          <a:solidFill>
                            <a:srgbClr val="000000"/>
                          </a:solidFill>
                          <a:effectLst/>
                          <a:latin typeface="Arial" panose="020B0604020202020204" pitchFamily="34" charset="0"/>
                        </a:rPr>
                        <a:t>4.50</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268939110"/>
                  </a:ext>
                </a:extLst>
              </a:tr>
            </a:tbl>
          </a:graphicData>
        </a:graphic>
      </p:graphicFrame>
    </p:spTree>
    <p:extLst>
      <p:ext uri="{BB962C8B-B14F-4D97-AF65-F5344CB8AC3E}">
        <p14:creationId xmlns:p14="http://schemas.microsoft.com/office/powerpoint/2010/main" val="421424649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01D2F7-ABC3-43C2-86F1-4D6408B3941B}"/>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5C045A59-775A-A099-5CCF-1C050581D5D5}"/>
              </a:ext>
            </a:extLst>
          </p:cNvPr>
          <p:cNvSpPr>
            <a:spLocks noGrp="1"/>
          </p:cNvSpPr>
          <p:nvPr>
            <p:ph type="title"/>
          </p:nvPr>
        </p:nvSpPr>
        <p:spPr>
          <a:xfrm>
            <a:off x="668992" y="537179"/>
            <a:ext cx="22991108" cy="968086"/>
          </a:xfrm>
        </p:spPr>
        <p:txBody>
          <a:bodyPr/>
          <a:lstStyle/>
          <a:p>
            <a:r>
              <a:rPr lang="en-US"/>
              <a:t>Cloud Decision Matrix: </a:t>
            </a:r>
            <a:r>
              <a:rPr lang="en-GB" b="1"/>
              <a:t>Business Agility</a:t>
            </a:r>
            <a:endParaRPr lang="en-AE"/>
          </a:p>
        </p:txBody>
      </p:sp>
      <p:graphicFrame>
        <p:nvGraphicFramePr>
          <p:cNvPr id="9" name="Table 8">
            <a:extLst>
              <a:ext uri="{FF2B5EF4-FFF2-40B4-BE49-F238E27FC236}">
                <a16:creationId xmlns:a16="http://schemas.microsoft.com/office/drawing/2014/main" id="{558DF9FC-1A1E-8CE1-08F1-B6A52F8A413D}"/>
              </a:ext>
            </a:extLst>
          </p:cNvPr>
          <p:cNvGraphicFramePr>
            <a:graphicFrameLocks noGrp="1"/>
          </p:cNvGraphicFramePr>
          <p:nvPr/>
        </p:nvGraphicFramePr>
        <p:xfrm>
          <a:off x="1392000" y="2739011"/>
          <a:ext cx="21600000" cy="4494750"/>
        </p:xfrm>
        <a:graphic>
          <a:graphicData uri="http://schemas.openxmlformats.org/drawingml/2006/table">
            <a:tbl>
              <a:tblPr firstRow="1" bandRow="1"/>
              <a:tblGrid>
                <a:gridCol w="8256652">
                  <a:extLst>
                    <a:ext uri="{9D8B030D-6E8A-4147-A177-3AD203B41FA5}">
                      <a16:colId xmlns:a16="http://schemas.microsoft.com/office/drawing/2014/main" val="4161693241"/>
                    </a:ext>
                  </a:extLst>
                </a:gridCol>
                <a:gridCol w="9919180">
                  <a:extLst>
                    <a:ext uri="{9D8B030D-6E8A-4147-A177-3AD203B41FA5}">
                      <a16:colId xmlns:a16="http://schemas.microsoft.com/office/drawing/2014/main" val="2600346610"/>
                    </a:ext>
                  </a:extLst>
                </a:gridCol>
                <a:gridCol w="1712084">
                  <a:extLst>
                    <a:ext uri="{9D8B030D-6E8A-4147-A177-3AD203B41FA5}">
                      <a16:colId xmlns:a16="http://schemas.microsoft.com/office/drawing/2014/main" val="838408282"/>
                    </a:ext>
                  </a:extLst>
                </a:gridCol>
                <a:gridCol w="1712084">
                  <a:extLst>
                    <a:ext uri="{9D8B030D-6E8A-4147-A177-3AD203B41FA5}">
                      <a16:colId xmlns:a16="http://schemas.microsoft.com/office/drawing/2014/main" val="1637524633"/>
                    </a:ext>
                  </a:extLst>
                </a:gridCol>
              </a:tblGrid>
              <a:tr h="89408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Strategic Goals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l"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Value Dials</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AWS Score</a:t>
                      </a:r>
                    </a:p>
                  </a:txBody>
                  <a:tcPr marL="182880" marR="182880" marT="91440" marB="9144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21590" indent="0" algn="ctr" defTabSz="914400" rtl="0" eaLnBrk="1" latinLnBrk="0" hangingPunct="1">
                        <a:lnSpc>
                          <a:spcPts val="1430"/>
                        </a:lnSpc>
                        <a:buFont typeface="Arial" panose="020B0604020202020204" pitchFamily="34" charset="0"/>
                        <a:buNone/>
                        <a:tabLst>
                          <a:tab pos="1972945" algn="l"/>
                        </a:tabLst>
                      </a:pPr>
                      <a:r>
                        <a:rPr lang="en-US" sz="2400" b="1" kern="1200">
                          <a:solidFill>
                            <a:schemeClr val="tx1"/>
                          </a:solidFill>
                          <a:latin typeface="+mn-lt"/>
                          <a:ea typeface="+mn-ea"/>
                          <a:cs typeface="+mn-cs"/>
                        </a:rPr>
                        <a:t>Azure Score</a:t>
                      </a:r>
                    </a:p>
                  </a:txBody>
                  <a:tcPr marL="182880" marR="182880" marT="91440" marB="9144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extLst>
                  <a:ext uri="{0D108BD9-81ED-4DB2-BD59-A6C34878D82A}">
                    <a16:rowId xmlns:a16="http://schemas.microsoft.com/office/drawing/2014/main" val="4081470017"/>
                  </a:ext>
                </a:extLst>
              </a:tr>
              <a:tr h="720134">
                <a:tc rowSpan="4">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2" indent="0">
                        <a:spcAft>
                          <a:spcPts val="0"/>
                        </a:spcAft>
                        <a:buClr>
                          <a:srgbClr val="EB0000"/>
                        </a:buClr>
                        <a:buSzPct val="100000"/>
                        <a:buNone/>
                        <a:defRPr/>
                      </a:pPr>
                      <a:r>
                        <a:rPr lang="en-US" sz="2200" b="1" i="0" kern="1200" spc="-10">
                          <a:solidFill>
                            <a:schemeClr val="tx1"/>
                          </a:solidFill>
                          <a:latin typeface="Arial"/>
                          <a:ea typeface="+mn-ea"/>
                          <a:cs typeface="Arial"/>
                        </a:rPr>
                        <a:t>Business Agility </a:t>
                      </a:r>
                    </a:p>
                    <a:p>
                      <a:pPr marL="0" lvl="2" indent="0">
                        <a:spcAft>
                          <a:spcPts val="0"/>
                        </a:spcAft>
                        <a:buClr>
                          <a:srgbClr val="EB0000"/>
                        </a:buClr>
                        <a:buSzPct val="100000"/>
                        <a:buNone/>
                        <a:defRPr/>
                      </a:pPr>
                      <a:r>
                        <a:rPr lang="en-GB" sz="2200" b="0" i="0" kern="1200" spc="-10">
                          <a:solidFill>
                            <a:schemeClr val="tx1"/>
                          </a:solidFill>
                          <a:latin typeface="Arial"/>
                          <a:ea typeface="+mn-ea"/>
                          <a:cs typeface="Arial"/>
                        </a:rPr>
                        <a:t>How can we become operationally efficient in delivering projects in a shorter period of time? How can I leverage my current assets and internal assets, tools, in-house knowledge, familiarity?</a:t>
                      </a: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kern="1200">
                          <a:solidFill>
                            <a:schemeClr val="tx1"/>
                          </a:solidFill>
                          <a:latin typeface="Arial"/>
                          <a:ea typeface="+mn-ea"/>
                          <a:cs typeface="+mn-cs"/>
                        </a:rPr>
                        <a:t>Business Fit and Alignment</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2562571548"/>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kern="1200" noProof="0">
                          <a:solidFill>
                            <a:schemeClr val="tx1"/>
                          </a:solidFill>
                          <a:latin typeface="Arial"/>
                          <a:ea typeface="+mn-ea"/>
                          <a:cs typeface="+mn-cs"/>
                        </a:rPr>
                        <a:t>Effort to Achieve Readiness</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639936732"/>
                  </a:ext>
                </a:extLst>
              </a:tr>
              <a:tr h="720134">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b="0" kern="1200" noProof="0">
                          <a:solidFill>
                            <a:schemeClr val="tx1"/>
                          </a:solidFill>
                          <a:latin typeface="Arial"/>
                          <a:ea typeface="+mn-ea"/>
                          <a:cs typeface="+mn-cs"/>
                        </a:rPr>
                        <a:t>Time To Migrate (TTM)</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GB" sz="2200" b="0" i="0" u="none" strike="noStrike">
                          <a:effectLst/>
                          <a:latin typeface="Arial" panose="020B0604020202020204" pitchFamily="34" charset="0"/>
                        </a:rPr>
                        <a:t>4</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938624238"/>
                  </a:ext>
                </a:extLst>
              </a:tr>
              <a:tr h="720134">
                <a:tc vMerge="1">
                  <a:txBody>
                    <a:bodyPr/>
                    <a:lstStyle/>
                    <a:p>
                      <a:endParaRPr lang="en-US"/>
                    </a:p>
                  </a:txBody>
                  <a:tcPr>
                    <a:lnT w="28575" cap="flat" cmpd="sng" algn="ctr">
                      <a:solidFill>
                        <a:srgbClr val="202C39"/>
                      </a:solidFill>
                      <a:prstDash val="solid"/>
                      <a:round/>
                      <a:headEnd type="none" w="med" len="med"/>
                      <a:tailEnd type="none" w="med" len="med"/>
                    </a:lnT>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0" kern="1200">
                          <a:solidFill>
                            <a:schemeClr val="tx1"/>
                          </a:solidFill>
                          <a:latin typeface="Arial"/>
                          <a:ea typeface="+mn-ea"/>
                          <a:cs typeface="+mn-cs"/>
                        </a:rPr>
                        <a:t>Training and Certification</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200" b="0"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495652796"/>
                  </a:ext>
                </a:extLst>
              </a:tr>
              <a:tr h="720134">
                <a:tc>
                  <a:txBody>
                    <a:bodyPr/>
                    <a:lstStyle/>
                    <a:p>
                      <a:pPr marL="0" lvl="2" indent="0">
                        <a:spcAft>
                          <a:spcPts val="0"/>
                        </a:spcAft>
                        <a:buClr>
                          <a:srgbClr val="EB0000"/>
                        </a:buClr>
                        <a:buSzPct val="100000"/>
                        <a:buNone/>
                        <a:defRPr/>
                      </a:pPr>
                      <a:endParaRPr lang="en-US" sz="2200" b="1" i="0" kern="1200" spc="-10">
                        <a:solidFill>
                          <a:schemeClr val="tx1"/>
                        </a:solidFill>
                        <a:latin typeface="Arial"/>
                        <a:ea typeface="+mn-ea"/>
                        <a:cs typeface="Arial"/>
                      </a:endParaRPr>
                    </a:p>
                  </a:txBody>
                  <a:tcPr marL="182880" marR="182880" marT="91440" marB="91440">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21590" lvl="0" indent="0" algn="l" defTabSz="914400" rtl="0" eaLnBrk="1" fontAlgn="auto" latinLnBrk="0" hangingPunct="1">
                        <a:lnSpc>
                          <a:spcPts val="1430"/>
                        </a:lnSpc>
                        <a:spcBef>
                          <a:spcPts val="0"/>
                        </a:spcBef>
                        <a:spcAft>
                          <a:spcPts val="0"/>
                        </a:spcAft>
                        <a:buClrTx/>
                        <a:buSzTx/>
                        <a:buFont typeface="+mj-lt"/>
                        <a:buNone/>
                        <a:tabLst>
                          <a:tab pos="1972945" algn="l"/>
                        </a:tabLst>
                        <a:defRPr/>
                      </a:pPr>
                      <a:r>
                        <a:rPr lang="en-US" sz="2200" b="1" kern="1200">
                          <a:solidFill>
                            <a:schemeClr val="tx1"/>
                          </a:solidFill>
                          <a:latin typeface="Arial"/>
                          <a:ea typeface="+mn-ea"/>
                          <a:cs typeface="+mn-cs"/>
                        </a:rPr>
                        <a:t>Weighted average</a:t>
                      </a:r>
                    </a:p>
                  </a:txBody>
                  <a:tcPr marL="182880" marR="182880" marT="91440" marB="9144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fontAlgn="b"/>
                      <a:r>
                        <a:rPr lang="en-GB" sz="2200" b="1" i="0" u="none" strike="noStrike">
                          <a:effectLst/>
                          <a:latin typeface="Arial" panose="020B0604020202020204" pitchFamily="34" charset="0"/>
                        </a:rPr>
                        <a:t>4.5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fontAlgn="b"/>
                      <a:r>
                        <a:rPr lang="en-GB" sz="2200" b="1" i="0" u="none" strike="noStrike">
                          <a:effectLst/>
                          <a:latin typeface="Arial" panose="020B0604020202020204" pitchFamily="34" charset="0"/>
                        </a:rPr>
                        <a:t>5</a:t>
                      </a:r>
                    </a:p>
                  </a:txBody>
                  <a:tcPr marL="19050" marR="19050" marT="1905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268939110"/>
                  </a:ext>
                </a:extLst>
              </a:tr>
            </a:tbl>
          </a:graphicData>
        </a:graphic>
      </p:graphicFrame>
    </p:spTree>
    <p:extLst>
      <p:ext uri="{BB962C8B-B14F-4D97-AF65-F5344CB8AC3E}">
        <p14:creationId xmlns:p14="http://schemas.microsoft.com/office/powerpoint/2010/main" val="136674962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0DCF1A5A-D709-59F2-BF86-A81082952EFF}"/>
              </a:ext>
            </a:extLst>
          </p:cNvPr>
          <p:cNvSpPr>
            <a:spLocks noGrp="1"/>
          </p:cNvSpPr>
          <p:nvPr>
            <p:ph type="title"/>
          </p:nvPr>
        </p:nvSpPr>
        <p:spPr>
          <a:xfrm>
            <a:off x="668995" y="537179"/>
            <a:ext cx="22968246" cy="968086"/>
          </a:xfrm>
        </p:spPr>
        <p:txBody>
          <a:bodyPr/>
          <a:lstStyle/>
          <a:p>
            <a:r>
              <a:rPr lang="en-GB"/>
              <a:t>C</a:t>
            </a:r>
            <a:r>
              <a:rPr lang="en-US"/>
              <a:t>loud Decision Matrix: </a:t>
            </a:r>
            <a:r>
              <a:rPr lang="en-GB" b="1"/>
              <a:t>Summary</a:t>
            </a:r>
            <a:endParaRPr lang="en-AE"/>
          </a:p>
        </p:txBody>
      </p:sp>
      <p:sp>
        <p:nvSpPr>
          <p:cNvPr id="7" name="Text Placeholder 6">
            <a:extLst>
              <a:ext uri="{FF2B5EF4-FFF2-40B4-BE49-F238E27FC236}">
                <a16:creationId xmlns:a16="http://schemas.microsoft.com/office/drawing/2014/main" id="{393D84EA-7512-5C26-D635-869A3EB816CB}"/>
              </a:ext>
            </a:extLst>
          </p:cNvPr>
          <p:cNvSpPr>
            <a:spLocks noGrp="1"/>
          </p:cNvSpPr>
          <p:nvPr>
            <p:ph type="body" sz="quarter" idx="13"/>
          </p:nvPr>
        </p:nvSpPr>
        <p:spPr>
          <a:xfrm>
            <a:off x="721714" y="2553868"/>
            <a:ext cx="5468112" cy="9433352"/>
          </a:xfrm>
        </p:spPr>
        <p:txBody>
          <a:bodyPr/>
          <a:lstStyle/>
          <a:p>
            <a:r>
              <a:rPr lang="en-GB" sz="2800"/>
              <a:t>The weighted scoring shows that both AWS and Azure score highly, with only a negligible margin separating them. This outcome confirms that either provider can ably support your infrastructure, application, security, and business needs.</a:t>
            </a:r>
          </a:p>
          <a:p>
            <a:r>
              <a:rPr lang="en-GB" sz="2800"/>
              <a:t>Given how closely both platforms scored, we recommend refining the decision by reviewing additional strategic priorities - such as product roadmaps (e.g., AI, Marketplace offerings) - and adjusting the criteria weighting to emphasise your key requirements. This will help finalise the best fit for your organisation.</a:t>
            </a:r>
          </a:p>
          <a:p>
            <a:endParaRPr lang="en-GB" sz="3600"/>
          </a:p>
          <a:p>
            <a:endParaRPr lang="en-AE"/>
          </a:p>
        </p:txBody>
      </p:sp>
      <p:graphicFrame>
        <p:nvGraphicFramePr>
          <p:cNvPr id="2" name="Table 1">
            <a:extLst>
              <a:ext uri="{FF2B5EF4-FFF2-40B4-BE49-F238E27FC236}">
                <a16:creationId xmlns:a16="http://schemas.microsoft.com/office/drawing/2014/main" id="{721E578B-0B1E-ED26-F4B9-AB9D93CB5996}"/>
              </a:ext>
            </a:extLst>
          </p:cNvPr>
          <p:cNvGraphicFramePr>
            <a:graphicFrameLocks noGrp="1"/>
          </p:cNvGraphicFramePr>
          <p:nvPr/>
        </p:nvGraphicFramePr>
        <p:xfrm>
          <a:off x="6925022" y="2271573"/>
          <a:ext cx="16737264" cy="11299886"/>
        </p:xfrm>
        <a:graphic>
          <a:graphicData uri="http://schemas.openxmlformats.org/drawingml/2006/table">
            <a:tbl>
              <a:tblPr firstRow="1" bandRow="1"/>
              <a:tblGrid>
                <a:gridCol w="4365862">
                  <a:extLst>
                    <a:ext uri="{9D8B030D-6E8A-4147-A177-3AD203B41FA5}">
                      <a16:colId xmlns:a16="http://schemas.microsoft.com/office/drawing/2014/main" val="2729614782"/>
                    </a:ext>
                  </a:extLst>
                </a:gridCol>
                <a:gridCol w="7422842">
                  <a:extLst>
                    <a:ext uri="{9D8B030D-6E8A-4147-A177-3AD203B41FA5}">
                      <a16:colId xmlns:a16="http://schemas.microsoft.com/office/drawing/2014/main" val="2600346610"/>
                    </a:ext>
                  </a:extLst>
                </a:gridCol>
                <a:gridCol w="1237140">
                  <a:extLst>
                    <a:ext uri="{9D8B030D-6E8A-4147-A177-3AD203B41FA5}">
                      <a16:colId xmlns:a16="http://schemas.microsoft.com/office/drawing/2014/main" val="838408282"/>
                    </a:ext>
                  </a:extLst>
                </a:gridCol>
                <a:gridCol w="1237140">
                  <a:extLst>
                    <a:ext uri="{9D8B030D-6E8A-4147-A177-3AD203B41FA5}">
                      <a16:colId xmlns:a16="http://schemas.microsoft.com/office/drawing/2014/main" val="3212960172"/>
                    </a:ext>
                  </a:extLst>
                </a:gridCol>
                <a:gridCol w="1237140">
                  <a:extLst>
                    <a:ext uri="{9D8B030D-6E8A-4147-A177-3AD203B41FA5}">
                      <a16:colId xmlns:a16="http://schemas.microsoft.com/office/drawing/2014/main" val="1637524633"/>
                    </a:ext>
                  </a:extLst>
                </a:gridCol>
                <a:gridCol w="1237140">
                  <a:extLst>
                    <a:ext uri="{9D8B030D-6E8A-4147-A177-3AD203B41FA5}">
                      <a16:colId xmlns:a16="http://schemas.microsoft.com/office/drawing/2014/main" val="1073279348"/>
                    </a:ext>
                  </a:extLst>
                </a:gridCol>
              </a:tblGrid>
              <a:tr h="323850">
                <a:tc rowSpan="2">
                  <a:txBody>
                    <a:bodyPr/>
                    <a:lstStyle/>
                    <a:p>
                      <a:pPr algn="ctr" rtl="0" fontAlgn="ctr"/>
                      <a:r>
                        <a:rPr lang="en-GB" sz="2000" b="1" i="0" u="none" strike="noStrike">
                          <a:effectLst/>
                          <a:latin typeface="Arial" panose="020B0604020202020204" pitchFamily="34" charset="0"/>
                        </a:rPr>
                        <a:t>Criteria</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rowSpan="2">
                  <a:txBody>
                    <a:bodyPr/>
                    <a:lstStyle/>
                    <a:p>
                      <a:pPr algn="ctr" rtl="0" fontAlgn="ctr"/>
                      <a:r>
                        <a:rPr lang="en-GB" sz="2000" b="1" i="0" u="none" strike="noStrike">
                          <a:effectLst/>
                          <a:latin typeface="Arial" panose="020B0604020202020204" pitchFamily="34" charset="0"/>
                        </a:rPr>
                        <a:t>Value Dials</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gridSpan="2">
                  <a:txBody>
                    <a:bodyPr/>
                    <a:lstStyle/>
                    <a:p>
                      <a:pPr algn="ctr" rtl="0" fontAlgn="ctr"/>
                      <a:r>
                        <a:rPr lang="en-GB" sz="2000" b="1" i="0" u="none" strike="noStrike">
                          <a:effectLst/>
                          <a:latin typeface="Arial" panose="020B0604020202020204" pitchFamily="34" charset="0"/>
                        </a:rPr>
                        <a:t>AWS</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hMerge="1">
                  <a:txBody>
                    <a:bodyPr/>
                    <a:lstStyle/>
                    <a:p>
                      <a:endParaRPr/>
                    </a:p>
                  </a:txBody>
                  <a:tcPr marL="9525" marR="9525" marT="9525"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gridSpan="2">
                  <a:txBody>
                    <a:bodyPr/>
                    <a:lstStyle/>
                    <a:p>
                      <a:pPr algn="ctr" rtl="0" fontAlgn="ctr"/>
                      <a:r>
                        <a:rPr lang="en-GB" sz="2000" b="1" i="0" u="none" strike="noStrike">
                          <a:effectLst/>
                          <a:latin typeface="Arial" panose="020B0604020202020204" pitchFamily="34" charset="0"/>
                        </a:rPr>
                        <a:t>Azure</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hMerge="1">
                  <a:txBody>
                    <a:bodyPr/>
                    <a:lstStyle/>
                    <a:p>
                      <a:endParaRPr/>
                    </a:p>
                  </a:txBody>
                  <a:tcPr marL="9525" marR="9525" marT="9525"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extLst>
                  <a:ext uri="{0D108BD9-81ED-4DB2-BD59-A6C34878D82A}">
                    <a16:rowId xmlns:a16="http://schemas.microsoft.com/office/drawing/2014/main" val="4081470017"/>
                  </a:ext>
                </a:extLst>
              </a:tr>
              <a:tr h="323850">
                <a:tc vMerge="1">
                  <a:txBody>
                    <a:bodyPr/>
                    <a:lstStyle/>
                    <a:p>
                      <a:endParaRPr lang="en-GB"/>
                    </a:p>
                  </a:txBody>
                  <a:tcPr/>
                </a:tc>
                <a:tc vMerge="1">
                  <a:txBody>
                    <a:bodyPr/>
                    <a:lstStyle/>
                    <a:p>
                      <a:endParaRPr lang="en-GB"/>
                    </a:p>
                  </a:txBody>
                  <a:tcPr/>
                </a:tc>
                <a:tc>
                  <a:txBody>
                    <a:bodyPr/>
                    <a:lstStyle/>
                    <a:p>
                      <a:pPr algn="ctr" rtl="0" fontAlgn="ctr"/>
                      <a:r>
                        <a:rPr lang="en-GB" sz="2000" b="1" i="0" u="none" strike="noStrike">
                          <a:effectLst/>
                          <a:latin typeface="Arial" panose="020B0604020202020204" pitchFamily="34" charset="0"/>
                        </a:rPr>
                        <a:t>Score</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p>
                      <a:pPr algn="ctr" rtl="0" fontAlgn="ctr"/>
                      <a:r>
                        <a:rPr lang="en-GB" sz="2000" b="1" i="0" u="none" strike="noStrike">
                          <a:effectLst/>
                          <a:latin typeface="Arial" panose="020B0604020202020204" pitchFamily="34" charset="0"/>
                        </a:rPr>
                        <a:t>Average</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p>
                      <a:pPr algn="ctr" rtl="0" fontAlgn="ctr"/>
                      <a:r>
                        <a:rPr lang="en-GB" sz="2000" b="1" i="0" u="none" strike="noStrike">
                          <a:effectLst/>
                          <a:latin typeface="Arial" panose="020B0604020202020204" pitchFamily="34" charset="0"/>
                        </a:rPr>
                        <a:t>Score</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tc>
                  <a:txBody>
                    <a:bodyPr/>
                    <a:lstStyle/>
                    <a:p>
                      <a:pPr algn="ctr" rtl="0" fontAlgn="ctr"/>
                      <a:r>
                        <a:rPr lang="en-GB" sz="2000" b="1" i="0" u="none" strike="noStrike">
                          <a:effectLst/>
                          <a:latin typeface="Arial" panose="020B0604020202020204" pitchFamily="34" charset="0"/>
                        </a:rPr>
                        <a:t>Average</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4E1F4"/>
                    </a:solidFill>
                  </a:tcPr>
                </a:tc>
                <a:extLst>
                  <a:ext uri="{0D108BD9-81ED-4DB2-BD59-A6C34878D82A}">
                    <a16:rowId xmlns:a16="http://schemas.microsoft.com/office/drawing/2014/main" val="3171335261"/>
                  </a:ext>
                </a:extLst>
              </a:tr>
              <a:tr h="592142">
                <a:tc rowSpan="4">
                  <a:txBody>
                    <a:bodyPr/>
                    <a:lstStyle/>
                    <a:p>
                      <a:pPr algn="ctr" rtl="0" fontAlgn="ctr"/>
                      <a:r>
                        <a:rPr lang="en-GB" sz="2000" b="1" i="0" u="none" strike="noStrike">
                          <a:effectLst/>
                          <a:latin typeface="Arial" panose="020B0604020202020204" pitchFamily="34" charset="0"/>
                        </a:rPr>
                        <a:t>Attractive Economics</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l" rtl="0" fontAlgn="t"/>
                      <a:r>
                        <a:rPr lang="en-GB" sz="2000" b="0" i="0" u="none" strike="noStrike">
                          <a:effectLst/>
                          <a:latin typeface="Arial" panose="020B0604020202020204" pitchFamily="34" charset="0"/>
                        </a:rPr>
                        <a:t>Total Cost of Ownership (TCO) Infrastructure Costs</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rowSpan="4">
                  <a:txBody>
                    <a:bodyPr/>
                    <a:lstStyle/>
                    <a:p>
                      <a:pPr algn="ctr" rtl="0" fontAlgn="ctr"/>
                      <a:r>
                        <a:rPr lang="en-GB" sz="2000" b="1" i="0" u="none" strike="noStrike">
                          <a:solidFill>
                            <a:srgbClr val="000000"/>
                          </a:solidFill>
                          <a:effectLst/>
                          <a:latin typeface="Arial" panose="020B0604020202020204" pitchFamily="34" charset="0"/>
                        </a:rPr>
                        <a:t>4.00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rowSpan="4">
                  <a:txBody>
                    <a:bodyPr/>
                    <a:lstStyle/>
                    <a:p>
                      <a:pPr algn="ctr" rtl="0" fontAlgn="ctr"/>
                      <a:r>
                        <a:rPr lang="en-GB" sz="2000" b="1" i="0" u="none" strike="noStrike">
                          <a:solidFill>
                            <a:srgbClr val="000000"/>
                          </a:solidFill>
                          <a:effectLst/>
                          <a:latin typeface="Arial" panose="020B0604020202020204" pitchFamily="34" charset="0"/>
                        </a:rPr>
                        <a:t>5.00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62571548"/>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Migration Costs</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1562369019"/>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Software Licensing</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3</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2789920958"/>
                  </a:ext>
                </a:extLst>
              </a:tr>
              <a:tr h="483288">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Pricing Flexibility (Credits/Discounts)</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2228147659"/>
                  </a:ext>
                </a:extLst>
              </a:tr>
              <a:tr h="456036">
                <a:tc rowSpan="4">
                  <a:txBody>
                    <a:bodyPr/>
                    <a:lstStyle/>
                    <a:p>
                      <a:pPr algn="ctr" rtl="0" fontAlgn="ctr"/>
                      <a:r>
                        <a:rPr lang="en-GB" sz="2000" b="1" i="0" u="none" strike="noStrike">
                          <a:effectLst/>
                          <a:latin typeface="Arial" panose="020B0604020202020204" pitchFamily="34" charset="0"/>
                        </a:rPr>
                        <a:t>Security, Risk and Compliance</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rtl="0" fontAlgn="t"/>
                      <a:r>
                        <a:rPr lang="en-GB" sz="2000" b="0" i="0" u="none" strike="noStrike">
                          <a:effectLst/>
                          <a:latin typeface="Arial" panose="020B0604020202020204" pitchFamily="34" charset="0"/>
                        </a:rPr>
                        <a:t>Certifications &amp; Standards</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rowSpan="4">
                  <a:txBody>
                    <a:bodyPr/>
                    <a:lstStyle/>
                    <a:p>
                      <a:pPr algn="ctr" rtl="0" fontAlgn="ctr"/>
                      <a:r>
                        <a:rPr lang="en-GB" sz="2000" b="1" i="0" u="none" strike="noStrike">
                          <a:solidFill>
                            <a:srgbClr val="000000"/>
                          </a:solidFill>
                          <a:effectLst/>
                          <a:latin typeface="Arial" panose="020B0604020202020204" pitchFamily="34" charset="0"/>
                        </a:rPr>
                        <a:t>4.50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rowSpan="4">
                  <a:txBody>
                    <a:bodyPr/>
                    <a:lstStyle/>
                    <a:p>
                      <a:pPr algn="ctr" rtl="0" fontAlgn="ctr"/>
                      <a:r>
                        <a:rPr lang="en-GB" sz="2000" b="1" i="0" u="none" strike="noStrike">
                          <a:solidFill>
                            <a:srgbClr val="000000"/>
                          </a:solidFill>
                          <a:effectLst/>
                          <a:latin typeface="Arial" panose="020B0604020202020204" pitchFamily="34" charset="0"/>
                        </a:rPr>
                        <a:t>4.75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24446184"/>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Data Privacy (Residency &amp; Sovereignty)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885733376"/>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Platform Capability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2108914948"/>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Platform Maturity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869852156"/>
                  </a:ext>
                </a:extLst>
              </a:tr>
              <a:tr h="456036">
                <a:tc rowSpan="3">
                  <a:txBody>
                    <a:bodyPr/>
                    <a:lstStyle/>
                    <a:p>
                      <a:pPr algn="ctr" rtl="0" fontAlgn="ctr"/>
                      <a:r>
                        <a:rPr lang="en-GB" sz="2000" b="1" i="0" u="none" strike="noStrike">
                          <a:effectLst/>
                          <a:latin typeface="Arial" panose="020B0604020202020204" pitchFamily="34" charset="0"/>
                        </a:rPr>
                        <a:t>Scalability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l" rtl="0" fontAlgn="t"/>
                      <a:r>
                        <a:rPr lang="en-GB" sz="2000" b="0" i="0" u="none" strike="noStrike">
                          <a:effectLst/>
                          <a:latin typeface="Arial" panose="020B0604020202020204" pitchFamily="34" charset="0"/>
                        </a:rPr>
                        <a:t>Global Reach</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rowSpan="3">
                  <a:txBody>
                    <a:bodyPr/>
                    <a:lstStyle/>
                    <a:p>
                      <a:pPr algn="ctr" rtl="0" fontAlgn="ctr"/>
                      <a:r>
                        <a:rPr lang="en-GB" sz="2000" b="1" i="0" u="none" strike="noStrike">
                          <a:solidFill>
                            <a:srgbClr val="000000"/>
                          </a:solidFill>
                          <a:effectLst/>
                          <a:latin typeface="Arial" panose="020B0604020202020204" pitchFamily="34" charset="0"/>
                        </a:rPr>
                        <a:t>5.00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rowSpan="3">
                  <a:txBody>
                    <a:bodyPr/>
                    <a:lstStyle/>
                    <a:p>
                      <a:pPr algn="ctr" rtl="0" fontAlgn="ctr"/>
                      <a:r>
                        <a:rPr lang="en-GB" sz="2000" b="1" i="0" u="none" strike="noStrike">
                          <a:solidFill>
                            <a:srgbClr val="000000"/>
                          </a:solidFill>
                          <a:effectLst/>
                          <a:latin typeface="Arial" panose="020B0604020202020204" pitchFamily="34" charset="0"/>
                        </a:rPr>
                        <a:t>4.33</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2810348"/>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Elasticity and Autoscaling</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1391746403"/>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Control and Manageability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356666757"/>
                  </a:ext>
                </a:extLst>
              </a:tr>
              <a:tr h="456036">
                <a:tc rowSpan="6">
                  <a:txBody>
                    <a:bodyPr/>
                    <a:lstStyle/>
                    <a:p>
                      <a:pPr algn="ctr" rtl="0" fontAlgn="ctr"/>
                      <a:r>
                        <a:rPr lang="en-GB" sz="2000" b="1" i="0" u="none" strike="noStrike">
                          <a:effectLst/>
                          <a:latin typeface="Arial" panose="020B0604020202020204" pitchFamily="34" charset="0"/>
                        </a:rPr>
                        <a:t>Reliability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rtl="0" fontAlgn="t"/>
                      <a:r>
                        <a:rPr lang="en-GB" sz="2000" b="0" i="0" u="none" strike="noStrike">
                          <a:effectLst/>
                          <a:latin typeface="Arial" panose="020B0604020202020204" pitchFamily="34" charset="0"/>
                        </a:rPr>
                        <a:t>Service Level Agreements (SLA)</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rowSpan="6">
                  <a:txBody>
                    <a:bodyPr/>
                    <a:lstStyle/>
                    <a:p>
                      <a:pPr algn="ctr" rtl="0" fontAlgn="ctr"/>
                      <a:r>
                        <a:rPr lang="en-GB" sz="2000" b="1" i="0" u="none" strike="noStrike">
                          <a:solidFill>
                            <a:srgbClr val="000000"/>
                          </a:solidFill>
                          <a:effectLst/>
                          <a:latin typeface="Arial" panose="020B0604020202020204" pitchFamily="34" charset="0"/>
                        </a:rPr>
                        <a:t>5.00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rowSpan="6">
                  <a:txBody>
                    <a:bodyPr/>
                    <a:lstStyle/>
                    <a:p>
                      <a:pPr algn="ctr" rtl="0" fontAlgn="ctr"/>
                      <a:r>
                        <a:rPr lang="en-GB" sz="2000" b="1" i="0" u="none" strike="noStrike">
                          <a:solidFill>
                            <a:srgbClr val="000000"/>
                          </a:solidFill>
                          <a:effectLst/>
                          <a:latin typeface="Arial" panose="020B0604020202020204" pitchFamily="34" charset="0"/>
                        </a:rPr>
                        <a:t>4.50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39208283"/>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Data Durability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2801741344"/>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Backup and Recovery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90673502"/>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Disaster Recovery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510868169"/>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a:effectLst/>
                          <a:latin typeface="Arial" panose="020B0604020202020204" pitchFamily="34" charset="0"/>
                        </a:rPr>
                        <a:t>Track Record</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rtl="0" fontAlgn="ctr"/>
                      <a:r>
                        <a:rPr lang="en-GB" sz="2000" b="0" i="0" u="none" strike="noStrike">
                          <a:effectLst/>
                          <a:latin typeface="Arial" panose="020B0604020202020204" pitchFamily="34" charset="0"/>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3350323597"/>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l" rtl="0" fontAlgn="t"/>
                      <a:r>
                        <a:rPr lang="en-GB" sz="2000" b="0" i="0" u="none" strike="noStrike">
                          <a:effectLst/>
                          <a:latin typeface="Arial" panose="020B0604020202020204" pitchFamily="34" charset="0"/>
                        </a:rPr>
                        <a:t>Control and Manageability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639936732"/>
                  </a:ext>
                </a:extLst>
              </a:tr>
              <a:tr h="456036">
                <a:tc rowSpan="4">
                  <a:txBody>
                    <a:bodyPr/>
                    <a:lstStyle/>
                    <a:p>
                      <a:pPr algn="ctr" rtl="0" fontAlgn="ctr"/>
                      <a:r>
                        <a:rPr lang="en-GB" sz="2000" b="1" i="0" u="none" strike="noStrike">
                          <a:effectLst/>
                          <a:latin typeface="Arial" panose="020B0604020202020204" pitchFamily="34" charset="0"/>
                        </a:rPr>
                        <a:t>Business Agility</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l" rtl="0" fontAlgn="t"/>
                      <a:r>
                        <a:rPr lang="en-GB" sz="2000" b="0" i="0" u="none" strike="noStrike">
                          <a:effectLst/>
                          <a:latin typeface="Arial" panose="020B0604020202020204" pitchFamily="34" charset="0"/>
                        </a:rPr>
                        <a:t>Business Fit and Alignment</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rowSpan="4">
                  <a:txBody>
                    <a:bodyPr/>
                    <a:lstStyle/>
                    <a:p>
                      <a:pPr algn="ctr" rtl="0" fontAlgn="ctr"/>
                      <a:r>
                        <a:rPr lang="en-GB" sz="2000" b="1" i="0" u="none" strike="noStrike">
                          <a:solidFill>
                            <a:srgbClr val="000000"/>
                          </a:solidFill>
                          <a:effectLst/>
                          <a:latin typeface="Arial" panose="020B0604020202020204" pitchFamily="34" charset="0"/>
                        </a:rPr>
                        <a:t>4.50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a:effectLst/>
                          <a:latin typeface="Arial" panose="020B0604020202020204" pitchFamily="34" charset="0"/>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rowSpan="4">
                  <a:txBody>
                    <a:bodyPr/>
                    <a:lstStyle/>
                    <a:p>
                      <a:pPr algn="ctr" rtl="0" fontAlgn="ctr"/>
                      <a:r>
                        <a:rPr lang="en-GB" sz="2000" b="1" i="0" u="none" strike="noStrike">
                          <a:solidFill>
                            <a:srgbClr val="000000"/>
                          </a:solidFill>
                          <a:effectLst/>
                          <a:latin typeface="Arial" panose="020B0604020202020204" pitchFamily="34" charset="0"/>
                        </a:rPr>
                        <a:t>5.00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38624238"/>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l" rtl="0" fontAlgn="t"/>
                      <a:r>
                        <a:rPr lang="en-GB" sz="2000" b="0" i="0" u="none" strike="noStrike" kern="1200">
                          <a:solidFill>
                            <a:schemeClr val="tx1"/>
                          </a:solidFill>
                          <a:effectLst/>
                          <a:latin typeface="Arial" panose="020B0604020202020204" pitchFamily="34" charset="0"/>
                          <a:ea typeface="+mn-ea"/>
                          <a:cs typeface="+mn-cs"/>
                        </a:rPr>
                        <a:t>Effort to Achieve Readiness</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kern="1200">
                          <a:solidFill>
                            <a:schemeClr val="tx1"/>
                          </a:solidFill>
                          <a:effectLst/>
                          <a:latin typeface="Arial" panose="020B0604020202020204" pitchFamily="34" charset="0"/>
                          <a:ea typeface="+mn-ea"/>
                          <a:cs typeface="+mn-cs"/>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kern="1200">
                          <a:solidFill>
                            <a:schemeClr val="tx1"/>
                          </a:solidFill>
                          <a:effectLst/>
                          <a:latin typeface="Arial" panose="020B0604020202020204" pitchFamily="34" charset="0"/>
                          <a:ea typeface="+mn-ea"/>
                          <a:cs typeface="+mn-cs"/>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793658972"/>
                  </a:ext>
                </a:extLst>
              </a:tr>
              <a:tr h="456036">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kern="1200">
                          <a:solidFill>
                            <a:schemeClr val="tx1"/>
                          </a:solidFill>
                          <a:effectLst/>
                          <a:latin typeface="Arial" panose="020B0604020202020204" pitchFamily="34" charset="0"/>
                          <a:ea typeface="+mn-ea"/>
                          <a:cs typeface="+mn-cs"/>
                        </a:rPr>
                        <a:t>Time To Migrate (TTM)</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rtl="0" fontAlgn="ctr"/>
                      <a:r>
                        <a:rPr lang="en-GB" sz="2000" b="0" i="0" u="none" strike="noStrike" kern="1200">
                          <a:solidFill>
                            <a:schemeClr val="tx1"/>
                          </a:solidFill>
                          <a:effectLst/>
                          <a:latin typeface="Arial" panose="020B0604020202020204" pitchFamily="34" charset="0"/>
                          <a:ea typeface="+mn-ea"/>
                          <a:cs typeface="+mn-cs"/>
                        </a:rPr>
                        <a:t>4</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kern="1200">
                          <a:solidFill>
                            <a:schemeClr val="tx1"/>
                          </a:solidFill>
                          <a:effectLst/>
                          <a:latin typeface="Arial" panose="020B0604020202020204" pitchFamily="34" charset="0"/>
                          <a:ea typeface="+mn-ea"/>
                          <a:cs typeface="+mn-cs"/>
                        </a:rPr>
                        <a:t>5</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609967788"/>
                  </a:ext>
                </a:extLst>
              </a:tr>
              <a:tr h="456036">
                <a:tc vMerge="1">
                  <a:txBody>
                    <a:bodyPr/>
                    <a:lstStyle/>
                    <a:p>
                      <a:endParaRPr lang="en-GB"/>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rtl="0" fontAlgn="t"/>
                      <a:r>
                        <a:rPr lang="en-GB" sz="2000" b="0" i="0" u="none" strike="noStrike" kern="1200">
                          <a:solidFill>
                            <a:schemeClr val="tx1"/>
                          </a:solidFill>
                          <a:effectLst/>
                          <a:latin typeface="Arial" panose="020B0604020202020204" pitchFamily="34" charset="0"/>
                          <a:ea typeface="+mn-ea"/>
                          <a:cs typeface="+mn-cs"/>
                        </a:rPr>
                        <a:t>Training and Certification</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rtl="0" fontAlgn="ctr"/>
                      <a:r>
                        <a:rPr lang="en-GB" sz="2000" b="0" i="0" u="none" strike="noStrike" kern="1200">
                          <a:solidFill>
                            <a:schemeClr val="tx1"/>
                          </a:solidFill>
                          <a:effectLst/>
                          <a:latin typeface="Arial" panose="020B0604020202020204" pitchFamily="34" charset="0"/>
                          <a:ea typeface="+mn-ea"/>
                          <a:cs typeface="+mn-cs"/>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rtl="0" fontAlgn="ctr"/>
                      <a:r>
                        <a:rPr lang="en-GB" sz="2000" b="0" i="0" u="none" strike="noStrike" kern="1200">
                          <a:solidFill>
                            <a:schemeClr val="tx1"/>
                          </a:solidFill>
                          <a:effectLst/>
                          <a:latin typeface="Arial" panose="020B0604020202020204" pitchFamily="34" charset="0"/>
                          <a:ea typeface="+mn-ea"/>
                          <a:cs typeface="+mn-cs"/>
                        </a:rPr>
                        <a:t>5</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lang="en-GB"/>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506827695"/>
                  </a:ext>
                </a:extLst>
              </a:tr>
              <a:tr h="456036">
                <a:tc>
                  <a:txBody>
                    <a:bodyPr/>
                    <a:lstStyle/>
                    <a:p>
                      <a:pPr algn="ctr" rtl="0" fontAlgn="ctr"/>
                      <a:endParaRPr lang="en-GB" sz="2000" b="0" i="0" u="none" strike="noStrike">
                        <a:effectLst/>
                        <a:latin typeface="Arial" panose="020B0604020202020204" pitchFamily="34" charset="0"/>
                      </a:endParaRP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rtl="0" fontAlgn="t"/>
                      <a:r>
                        <a:rPr lang="en-GB" sz="2000" b="1" i="0" u="none" strike="noStrike" kern="1200">
                          <a:solidFill>
                            <a:schemeClr val="tx1"/>
                          </a:solidFill>
                          <a:effectLst/>
                          <a:latin typeface="Arial" panose="020B0604020202020204" pitchFamily="34" charset="0"/>
                          <a:ea typeface="+mn-ea"/>
                          <a:cs typeface="+mn-cs"/>
                        </a:rPr>
                        <a:t>Total Weighted Averages:</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fontAlgn="ctr"/>
                      <a:endParaRPr lang="en-GB" sz="2000" b="1" i="0" u="none" strike="noStrike">
                        <a:effectLst/>
                        <a:latin typeface="Arial" panose="020B0604020202020204" pitchFamily="34" charset="0"/>
                      </a:endParaRPr>
                    </a:p>
                  </a:txBody>
                  <a:tcPr marL="19050" marR="19050" marT="19050" marB="0" anchor="ctr">
                    <a:lnL w="9525" cap="flat" cmpd="sng" algn="ctr">
                      <a:no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fontAlgn="ctr"/>
                      <a:r>
                        <a:rPr lang="en-GB" sz="2000" b="1" i="0" u="none" strike="noStrike">
                          <a:effectLst/>
                          <a:latin typeface="Arial" panose="020B0604020202020204" pitchFamily="34" charset="0"/>
                        </a:rPr>
                        <a:t>23.00 </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fontAlgn="ctr"/>
                      <a:endParaRPr lang="en-GB" sz="2000" b="1" i="0" u="none" strike="noStrike">
                        <a:effectLst/>
                        <a:latin typeface="Arial" panose="020B0604020202020204" pitchFamily="34" charset="0"/>
                      </a:endParaRP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GB" sz="2000" b="1" i="0" u="none" strike="noStrike">
                          <a:effectLst/>
                          <a:latin typeface="Arial" panose="020B0604020202020204" pitchFamily="34" charset="0"/>
                        </a:rPr>
                        <a:t>23.58</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extLst>
                  <a:ext uri="{0D108BD9-81ED-4DB2-BD59-A6C34878D82A}">
                    <a16:rowId xmlns:a16="http://schemas.microsoft.com/office/drawing/2014/main" val="584069470"/>
                  </a:ext>
                </a:extLst>
              </a:tr>
              <a:tr h="456036">
                <a:tc>
                  <a:txBody>
                    <a:bodyPr/>
                    <a:lstStyle/>
                    <a:p>
                      <a:pPr algn="ctr" rtl="0" fontAlgn="ctr"/>
                      <a:endParaRPr lang="en-GB" sz="2000" b="0" i="0" u="none" strike="noStrike">
                        <a:effectLst/>
                        <a:latin typeface="Arial" panose="020B0604020202020204" pitchFamily="34" charset="0"/>
                      </a:endParaRP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rtl="0" fontAlgn="t"/>
                      <a:r>
                        <a:rPr lang="en-GB" sz="2000" b="1" i="0" u="none" strike="noStrike" kern="1200">
                          <a:solidFill>
                            <a:schemeClr val="tx1"/>
                          </a:solidFill>
                          <a:effectLst/>
                          <a:latin typeface="Arial" panose="020B0604020202020204" pitchFamily="34" charset="0"/>
                          <a:ea typeface="+mn-ea"/>
                          <a:cs typeface="+mn-cs"/>
                        </a:rPr>
                        <a:t>Coverage Score:</a:t>
                      </a:r>
                    </a:p>
                  </a:txBody>
                  <a:tcPr marL="19050" marR="19050" marT="1905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fontAlgn="ctr"/>
                      <a:endParaRPr lang="en-GB" sz="2000" b="1" i="0" u="none" strike="noStrike">
                        <a:effectLst/>
                        <a:latin typeface="Arial" panose="020B0604020202020204" pitchFamily="34" charset="0"/>
                      </a:endParaRPr>
                    </a:p>
                  </a:txBody>
                  <a:tcPr marL="19050" marR="19050" marT="19050" marB="0" anchor="ctr">
                    <a:lnL w="9525" cap="flat" cmpd="sng" algn="ctr">
                      <a:no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fontAlgn="ctr"/>
                      <a:r>
                        <a:rPr lang="en-GB" sz="2000" b="1" i="0" u="none" strike="noStrike">
                          <a:effectLst/>
                          <a:latin typeface="Arial" panose="020B0604020202020204" pitchFamily="34" charset="0"/>
                        </a:rPr>
                        <a:t>92.00%</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algn="ctr" fontAlgn="ctr"/>
                      <a:endParaRPr lang="en-GB" sz="2000" b="1" i="0" u="none" strike="noStrike">
                        <a:effectLst/>
                        <a:latin typeface="Arial" panose="020B0604020202020204" pitchFamily="34" charset="0"/>
                      </a:endParaRP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GB" sz="2000" b="1" i="0" u="none" strike="noStrike">
                          <a:effectLst/>
                          <a:latin typeface="Arial" panose="020B0604020202020204" pitchFamily="34" charset="0"/>
                        </a:rPr>
                        <a:t>94.33%</a:t>
                      </a:r>
                    </a:p>
                  </a:txBody>
                  <a:tcPr marL="19050" marR="19050" marT="19050" marB="0" anchor="ctr">
                    <a:lnL w="9525" cap="flat" cmpd="sng" algn="ctr">
                      <a:solidFill>
                        <a:sysClr val="window" lastClr="FFFFFF">
                          <a:lumMod val="85000"/>
                        </a:sysClr>
                      </a:solidFill>
                      <a:prstDash val="solid"/>
                      <a:round/>
                      <a:headEnd type="none" w="med" len="med"/>
                      <a:tailEnd type="none" w="med" len="med"/>
                    </a:lnL>
                    <a:lnR w="9525" cap="flat" cmpd="sng" algn="ctr">
                      <a:solidFill>
                        <a:sysClr val="window" lastClr="FFFFFF">
                          <a:lumMod val="85000"/>
                        </a:sys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4F7F9"/>
                    </a:solidFill>
                  </a:tcPr>
                </a:tc>
                <a:extLst>
                  <a:ext uri="{0D108BD9-81ED-4DB2-BD59-A6C34878D82A}">
                    <a16:rowId xmlns:a16="http://schemas.microsoft.com/office/drawing/2014/main" val="2495339547"/>
                  </a:ext>
                </a:extLst>
              </a:tr>
            </a:tbl>
          </a:graphicData>
        </a:graphic>
      </p:graphicFrame>
    </p:spTree>
    <p:extLst>
      <p:ext uri="{BB962C8B-B14F-4D97-AF65-F5344CB8AC3E}">
        <p14:creationId xmlns:p14="http://schemas.microsoft.com/office/powerpoint/2010/main" val="4110807281"/>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57F7AB-B448-6BF2-92D5-B0700E7E9AB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C35B83B-FF13-33BD-87F5-062F3310C306}"/>
              </a:ext>
            </a:extLst>
          </p:cNvPr>
          <p:cNvSpPr>
            <a:spLocks noGrp="1"/>
          </p:cNvSpPr>
          <p:nvPr>
            <p:ph type="title"/>
          </p:nvPr>
        </p:nvSpPr>
        <p:spPr/>
        <p:txBody>
          <a:bodyPr/>
          <a:lstStyle/>
          <a:p>
            <a:r>
              <a:rPr lang="en-GB"/>
              <a:t>Cloud Marketplace Capabilities</a:t>
            </a:r>
            <a:endParaRPr lang="en-AE"/>
          </a:p>
        </p:txBody>
      </p:sp>
      <p:sp>
        <p:nvSpPr>
          <p:cNvPr id="4" name="Slide Number Placeholder 3">
            <a:extLst>
              <a:ext uri="{FF2B5EF4-FFF2-40B4-BE49-F238E27FC236}">
                <a16:creationId xmlns:a16="http://schemas.microsoft.com/office/drawing/2014/main" id="{FDDAA75F-A7A2-53C5-7907-836F5EDFFCF1}"/>
              </a:ext>
            </a:extLst>
          </p:cNvPr>
          <p:cNvSpPr>
            <a:spLocks noGrp="1"/>
          </p:cNvSpPr>
          <p:nvPr>
            <p:ph type="sldNum" sz="quarter" idx="4"/>
          </p:nvPr>
        </p:nvSpPr>
        <p:spPr/>
        <p:txBody>
          <a:bodyPr/>
          <a:lstStyle/>
          <a:p>
            <a:pPr>
              <a:defRPr/>
            </a:pPr>
            <a:fld id="{762E77F0-FB5B-4E8E-9BC9-34F14560A017}" type="slidenum">
              <a:rPr lang="en-US">
                <a:solidFill>
                  <a:srgbClr val="000000"/>
                </a:solidFill>
                <a:latin typeface="Arial"/>
              </a:rPr>
              <a:pPr>
                <a:defRPr/>
              </a:pPr>
              <a:t>104</a:t>
            </a:fld>
            <a:endParaRPr lang="en-US">
              <a:solidFill>
                <a:srgbClr val="000000"/>
              </a:solidFill>
              <a:latin typeface="Arial"/>
            </a:endParaRPr>
          </a:p>
        </p:txBody>
      </p:sp>
      <p:graphicFrame>
        <p:nvGraphicFramePr>
          <p:cNvPr id="5" name="Table 4">
            <a:extLst>
              <a:ext uri="{FF2B5EF4-FFF2-40B4-BE49-F238E27FC236}">
                <a16:creationId xmlns:a16="http://schemas.microsoft.com/office/drawing/2014/main" id="{84C75F2B-A706-84B2-042C-2E3B0ABD0940}"/>
              </a:ext>
            </a:extLst>
          </p:cNvPr>
          <p:cNvGraphicFramePr>
            <a:graphicFrameLocks noGrp="1"/>
          </p:cNvGraphicFramePr>
          <p:nvPr/>
        </p:nvGraphicFramePr>
        <p:xfrm>
          <a:off x="746395" y="2378203"/>
          <a:ext cx="11468102" cy="10184754"/>
        </p:xfrm>
        <a:graphic>
          <a:graphicData uri="http://schemas.openxmlformats.org/drawingml/2006/table">
            <a:tbl>
              <a:tblPr firstRow="1">
                <a:tableStyleId>{5C22544A-7EE6-4342-B048-85BDC9FD1C3A}</a:tableStyleId>
              </a:tblPr>
              <a:tblGrid>
                <a:gridCol w="11468102">
                  <a:extLst>
                    <a:ext uri="{9D8B030D-6E8A-4147-A177-3AD203B41FA5}">
                      <a16:colId xmlns:a16="http://schemas.microsoft.com/office/drawing/2014/main" val="413326514"/>
                    </a:ext>
                  </a:extLst>
                </a:gridCol>
              </a:tblGrid>
              <a:tr h="7916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800" b="1" kern="1200">
                          <a:solidFill>
                            <a:schemeClr val="bg1"/>
                          </a:solidFill>
                          <a:latin typeface="+mn-lt"/>
                          <a:ea typeface="+mn-ea"/>
                          <a:cs typeface="+mn-cs"/>
                        </a:rPr>
                        <a:t>Marketplace | Key Similarities</a:t>
                      </a:r>
                      <a:endParaRPr lang="en-US" sz="2800" b="1" kern="1200">
                        <a:solidFill>
                          <a:schemeClr val="bg1"/>
                        </a:solidFill>
                        <a:latin typeface="+mn-lt"/>
                        <a:ea typeface="+mn-ea"/>
                        <a:cs typeface="+mn-cs"/>
                      </a:endParaRPr>
                    </a:p>
                  </a:txBody>
                  <a:tcPr marL="329184" marR="329184" marT="0" marB="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2"/>
                    </a:solidFill>
                  </a:tcPr>
                </a:tc>
                <a:extLst>
                  <a:ext uri="{0D108BD9-81ED-4DB2-BD59-A6C34878D82A}">
                    <a16:rowId xmlns:a16="http://schemas.microsoft.com/office/drawing/2014/main" val="3866110780"/>
                  </a:ext>
                </a:extLst>
              </a:tr>
              <a:tr h="9393120">
                <a:tc>
                  <a:txBody>
                    <a:bodyPr/>
                    <a:lstStyle/>
                    <a:p>
                      <a:pPr marL="285750" indent="-285750">
                        <a:buFont typeface="Wingdings" panose="05000000000000000000" pitchFamily="2" charset="2"/>
                        <a:buChar char="§"/>
                      </a:pPr>
                      <a:r>
                        <a:rPr lang="en-GB" sz="2800" b="0" u="sng"/>
                        <a:t>Maturity &amp; Availability</a:t>
                      </a:r>
                      <a:r>
                        <a:rPr lang="en-GB" sz="2800" b="0"/>
                        <a:t>: Global presence with support for multiple regions, countries, and local currencies, backed by a large ecosystem of partners, products, and subscriptions.</a:t>
                      </a:r>
                    </a:p>
                    <a:p>
                      <a:pPr marL="0" indent="0">
                        <a:buFont typeface="Wingdings" panose="05000000000000000000" pitchFamily="2" charset="2"/>
                        <a:buNone/>
                      </a:pPr>
                      <a:endParaRPr lang="en-GB" sz="2800" b="0"/>
                    </a:p>
                    <a:p>
                      <a:pPr marL="285750" indent="-285750">
                        <a:buFont typeface="Wingdings" panose="05000000000000000000" pitchFamily="2" charset="2"/>
                        <a:buChar char="§"/>
                      </a:pPr>
                      <a:r>
                        <a:rPr lang="en-GB" sz="2800" b="0" u="sng"/>
                        <a:t>Product Offering</a:t>
                      </a:r>
                      <a:r>
                        <a:rPr lang="en-GB" sz="2800" b="0"/>
                        <a:t>: Public (Self-Service) and private marketplaces, freemium models, free trials, and private offerings with customizable standard or custom agreement terms.</a:t>
                      </a:r>
                    </a:p>
                    <a:p>
                      <a:pPr marL="285750" indent="-285750">
                        <a:buFont typeface="Wingdings" panose="05000000000000000000" pitchFamily="2" charset="2"/>
                        <a:buChar char="§"/>
                      </a:pPr>
                      <a:endParaRPr lang="en-GB" sz="2800" b="0"/>
                    </a:p>
                    <a:p>
                      <a:pPr marL="285750" indent="-285750">
                        <a:buFont typeface="Wingdings" panose="05000000000000000000" pitchFamily="2" charset="2"/>
                        <a:buChar char="§"/>
                      </a:pPr>
                      <a:r>
                        <a:rPr lang="en-GB" sz="2800" b="0" u="sng"/>
                        <a:t>Product Category</a:t>
                      </a:r>
                      <a:r>
                        <a:rPr lang="en-GB" sz="2800" b="0"/>
                        <a:t>: Granular classification with multiple categories and subcategories for easy search and visibility, plus bundling into solution packages.</a:t>
                      </a:r>
                    </a:p>
                    <a:p>
                      <a:pPr marL="285750" indent="-285750">
                        <a:buFont typeface="Wingdings" panose="05000000000000000000" pitchFamily="2" charset="2"/>
                        <a:buChar char="§"/>
                      </a:pPr>
                      <a:endParaRPr lang="en-GB" sz="2800" b="0"/>
                    </a:p>
                    <a:p>
                      <a:pPr marL="285750" indent="-285750">
                        <a:buFont typeface="Wingdings" panose="05000000000000000000" pitchFamily="2" charset="2"/>
                        <a:buChar char="§"/>
                      </a:pPr>
                      <a:r>
                        <a:rPr lang="en-GB" sz="2800" b="0" u="sng"/>
                        <a:t>Product Delivery Models</a:t>
                      </a:r>
                      <a:r>
                        <a:rPr lang="en-GB" sz="2800" b="0"/>
                        <a:t>: Offers IaaS (VM/AMI), SaaS, CaaS (Container), DaaS, managed services, professional services, and training &amp; support w/ BYOL.</a:t>
                      </a:r>
                    </a:p>
                    <a:p>
                      <a:pPr marL="285750" indent="-285750">
                        <a:buFont typeface="Wingdings" panose="05000000000000000000" pitchFamily="2" charset="2"/>
                        <a:buChar char="§"/>
                      </a:pPr>
                      <a:endParaRPr lang="en-GB" sz="2800" b="0"/>
                    </a:p>
                    <a:p>
                      <a:pPr marL="285750" indent="-285750">
                        <a:buFont typeface="Wingdings" panose="05000000000000000000" pitchFamily="2" charset="2"/>
                        <a:buChar char="§"/>
                      </a:pPr>
                      <a:r>
                        <a:rPr lang="en-GB" sz="2800" b="0" u="sng"/>
                        <a:t>Pricing Models</a:t>
                      </a:r>
                      <a:r>
                        <a:rPr lang="en-GB" sz="2800" b="0"/>
                        <a:t>: Flexible subscription, metered, and usage-based pricing to accommodate various customer needs.</a:t>
                      </a:r>
                    </a:p>
                    <a:p>
                      <a:pPr marL="285750" indent="-285750">
                        <a:buFont typeface="Wingdings" panose="05000000000000000000" pitchFamily="2" charset="2"/>
                        <a:buChar char="§"/>
                      </a:pPr>
                      <a:endParaRPr lang="en-GB" sz="2800" b="0" u="none"/>
                    </a:p>
                    <a:p>
                      <a:pPr marL="285750" indent="-285750">
                        <a:buFont typeface="Wingdings" panose="05000000000000000000" pitchFamily="2" charset="2"/>
                        <a:buChar char="§"/>
                      </a:pPr>
                      <a:r>
                        <a:rPr lang="en-GB" sz="2800" b="0" u="sng"/>
                        <a:t>Partnership</a:t>
                      </a:r>
                      <a:r>
                        <a:rPr lang="en-GB" sz="2800" b="0" u="none"/>
                        <a:t>: Strong partner ecosystems, co-selling opportunities, marketing support/guidance, incentives/programs.</a:t>
                      </a:r>
                    </a:p>
                  </a:txBody>
                  <a:tcPr marL="329184" marR="329184" marT="216000" marB="216000">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17834442"/>
                  </a:ext>
                </a:extLst>
              </a:tr>
            </a:tbl>
          </a:graphicData>
        </a:graphic>
      </p:graphicFrame>
      <p:graphicFrame>
        <p:nvGraphicFramePr>
          <p:cNvPr id="2" name="Table 1">
            <a:extLst>
              <a:ext uri="{FF2B5EF4-FFF2-40B4-BE49-F238E27FC236}">
                <a16:creationId xmlns:a16="http://schemas.microsoft.com/office/drawing/2014/main" id="{4C272E18-B209-0239-BF1A-7EB8919D8204}"/>
              </a:ext>
            </a:extLst>
          </p:cNvPr>
          <p:cNvGraphicFramePr>
            <a:graphicFrameLocks noGrp="1"/>
          </p:cNvGraphicFramePr>
          <p:nvPr/>
        </p:nvGraphicFramePr>
        <p:xfrm>
          <a:off x="12214496" y="2378203"/>
          <a:ext cx="11468104" cy="10611474"/>
        </p:xfrm>
        <a:graphic>
          <a:graphicData uri="http://schemas.openxmlformats.org/drawingml/2006/table">
            <a:tbl>
              <a:tblPr firstRow="1">
                <a:tableStyleId>{5C22544A-7EE6-4342-B048-85BDC9FD1C3A}</a:tableStyleId>
              </a:tblPr>
              <a:tblGrid>
                <a:gridCol w="11468104">
                  <a:extLst>
                    <a:ext uri="{9D8B030D-6E8A-4147-A177-3AD203B41FA5}">
                      <a16:colId xmlns:a16="http://schemas.microsoft.com/office/drawing/2014/main" val="1932898473"/>
                    </a:ext>
                  </a:extLst>
                </a:gridCol>
              </a:tblGrid>
              <a:tr h="791634">
                <a:tc>
                  <a:txBody>
                    <a:bodyPr/>
                    <a:lstStyle/>
                    <a:p>
                      <a:r>
                        <a:rPr lang="en-US" sz="2800" b="1" kern="1200">
                          <a:solidFill>
                            <a:schemeClr val="bg1"/>
                          </a:solidFill>
                          <a:latin typeface="+mn-lt"/>
                          <a:ea typeface="+mn-ea"/>
                          <a:cs typeface="+mn-cs"/>
                        </a:rPr>
                        <a:t>Marketplace | Key Differences</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66110780"/>
                  </a:ext>
                </a:extLst>
              </a:tr>
              <a:tr h="9819840">
                <a:tc>
                  <a:txBody>
                    <a:bodyPr/>
                    <a:lstStyle/>
                    <a:p>
                      <a:pPr marL="285750" indent="-285750" algn="l" defTabSz="914400" rtl="0" eaLnBrk="1" latinLnBrk="0" hangingPunct="1">
                        <a:buFont typeface="Wingdings" panose="05000000000000000000" pitchFamily="2" charset="2"/>
                        <a:buChar char="§"/>
                      </a:pPr>
                      <a:r>
                        <a:rPr lang="en-GB" sz="2800" b="0" u="sng" kern="1200" noProof="0">
                          <a:solidFill>
                            <a:schemeClr val="dk1"/>
                          </a:solidFill>
                          <a:latin typeface="+mn-lt"/>
                          <a:ea typeface="+mn-ea"/>
                          <a:cs typeface="+mn-cs"/>
                        </a:rPr>
                        <a:t>Maturity &amp; Market Position</a:t>
                      </a:r>
                      <a:r>
                        <a:rPr lang="en-GB" sz="2800" b="0" u="none" kern="1200" noProof="0">
                          <a:solidFill>
                            <a:schemeClr val="dk1"/>
                          </a:solidFill>
                          <a:latin typeface="+mn-lt"/>
                          <a:ea typeface="+mn-ea"/>
                          <a:cs typeface="+mn-cs"/>
                        </a:rPr>
                        <a:t>: AWS marketplace has a larger market share with more transparent data and has been operating since 2012 (13 years). Azure Marketplace, launched in 2014 (11 years), is rapidly growing.</a:t>
                      </a:r>
                    </a:p>
                    <a:p>
                      <a:pPr marL="0" indent="0" algn="l" defTabSz="914400" rtl="0" eaLnBrk="1" latinLnBrk="0" hangingPunct="1">
                        <a:buFont typeface="Wingdings" panose="05000000000000000000" pitchFamily="2" charset="2"/>
                        <a:buNone/>
                      </a:pPr>
                      <a:endParaRPr lang="en-GB" sz="2800" b="0" u="none" kern="1200" noProof="0">
                        <a:solidFill>
                          <a:schemeClr val="dk1"/>
                        </a:solidFill>
                        <a:latin typeface="+mn-lt"/>
                        <a:ea typeface="+mn-ea"/>
                        <a:cs typeface="+mn-cs"/>
                      </a:endParaRPr>
                    </a:p>
                    <a:p>
                      <a:pPr marL="285750" indent="-285750" algn="l" defTabSz="914400" rtl="0" eaLnBrk="1" latinLnBrk="0" hangingPunct="1">
                        <a:buFont typeface="Wingdings" panose="05000000000000000000" pitchFamily="2" charset="2"/>
                        <a:buChar char="§"/>
                      </a:pPr>
                      <a:r>
                        <a:rPr lang="en-GB" sz="2800" b="0" u="sng" kern="1200" noProof="0">
                          <a:solidFill>
                            <a:schemeClr val="dk1"/>
                          </a:solidFill>
                          <a:latin typeface="+mn-lt"/>
                          <a:ea typeface="+mn-ea"/>
                          <a:cs typeface="+mn-cs"/>
                        </a:rPr>
                        <a:t>Seller Transaction Fees</a:t>
                      </a:r>
                      <a:r>
                        <a:rPr lang="en-GB" sz="2800" b="0" kern="1200" noProof="0">
                          <a:solidFill>
                            <a:schemeClr val="dk1"/>
                          </a:solidFill>
                          <a:latin typeface="+mn-lt"/>
                          <a:ea typeface="+mn-ea"/>
                          <a:cs typeface="+mn-cs"/>
                        </a:rPr>
                        <a:t>: Both AWS and Azure charge percentage-based transaction fees. AWS ranges between 1.5% and 3%, while Microsoft recently simplified to a flat 3% fee.</a:t>
                      </a:r>
                    </a:p>
                    <a:p>
                      <a:pPr marL="285750" indent="-285750" algn="l" defTabSz="914400" rtl="0" eaLnBrk="1" latinLnBrk="0" hangingPunct="1">
                        <a:buFont typeface="Wingdings" panose="05000000000000000000" pitchFamily="2" charset="2"/>
                        <a:buChar char="§"/>
                      </a:pPr>
                      <a:endParaRPr lang="en-GB" sz="2800" b="0" u="sng" kern="1200" noProof="0">
                        <a:solidFill>
                          <a:schemeClr val="dk1"/>
                        </a:solidFill>
                        <a:latin typeface="+mn-lt"/>
                        <a:ea typeface="+mn-ea"/>
                        <a:cs typeface="+mn-cs"/>
                      </a:endParaRPr>
                    </a:p>
                    <a:p>
                      <a:pPr marL="285750" indent="-285750" algn="l" defTabSz="914400" rtl="0" eaLnBrk="1" latinLnBrk="0" hangingPunct="1">
                        <a:buFont typeface="Wingdings" panose="05000000000000000000" pitchFamily="2" charset="2"/>
                        <a:buChar char="§"/>
                      </a:pPr>
                      <a:r>
                        <a:rPr lang="en-GB" sz="2800" u="sng"/>
                        <a:t>Purchasing Commitment</a:t>
                      </a:r>
                      <a:r>
                        <a:rPr lang="en-GB" sz="2800"/>
                        <a:t>: Microsoft Commercial Marketplace allows 100% of eligible purchases to count toward MACC commitments, while AWS Marketplace typically credits up to 25% of eligible purchases toward EDP commitments, providing greater flexibility and value alignment for Azure customers.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2800" b="0" kern="1200" noProof="0">
                        <a:solidFill>
                          <a:schemeClr val="dk1"/>
                        </a:solidFill>
                        <a:latin typeface="+mn-lt"/>
                        <a:ea typeface="+mn-ea"/>
                        <a:cs typeface="+mn-cs"/>
                      </a:endParaRPr>
                    </a:p>
                    <a:p>
                      <a:endParaRPr lang="en-US" sz="2800" kern="1200" noProof="0">
                        <a:solidFill>
                          <a:schemeClr val="dk1"/>
                        </a:solidFill>
                        <a:highlight>
                          <a:srgbClr val="FFFF00"/>
                        </a:highlight>
                        <a:latin typeface="+mn-lt"/>
                        <a:ea typeface="+mn-ea"/>
                        <a:cs typeface="+mn-cs"/>
                      </a:endParaRPr>
                    </a:p>
                    <a:p>
                      <a:endParaRPr lang="en-US" sz="2800" kern="1200" noProof="0">
                        <a:solidFill>
                          <a:schemeClr val="dk1"/>
                        </a:solidFill>
                        <a:highlight>
                          <a:srgbClr val="FFFF00"/>
                        </a:highlight>
                        <a:latin typeface="+mn-lt"/>
                        <a:ea typeface="+mn-ea"/>
                        <a:cs typeface="+mn-cs"/>
                      </a:endParaRPr>
                    </a:p>
                    <a:p>
                      <a:endParaRPr lang="en-US" sz="2800" kern="1200" noProof="0">
                        <a:solidFill>
                          <a:schemeClr val="dk1"/>
                        </a:solidFill>
                        <a:highlight>
                          <a:srgbClr val="FFFF00"/>
                        </a:highlight>
                        <a:latin typeface="+mn-lt"/>
                        <a:ea typeface="+mn-ea"/>
                        <a:cs typeface="+mn-cs"/>
                      </a:endParaRPr>
                    </a:p>
                    <a:p>
                      <a:endParaRPr lang="en-US" sz="2800" kern="1200" noProof="0">
                        <a:solidFill>
                          <a:schemeClr val="dk1"/>
                        </a:solidFill>
                        <a:highlight>
                          <a:srgbClr val="FFFF00"/>
                        </a:highlight>
                        <a:latin typeface="+mn-lt"/>
                        <a:ea typeface="+mn-ea"/>
                        <a:cs typeface="+mn-cs"/>
                      </a:endParaRPr>
                    </a:p>
                    <a:p>
                      <a:endParaRPr lang="en-US" sz="2800" kern="1200" noProof="0">
                        <a:solidFill>
                          <a:schemeClr val="dk1"/>
                        </a:solidFill>
                        <a:highlight>
                          <a:srgbClr val="FFFF00"/>
                        </a:highlight>
                        <a:latin typeface="+mn-lt"/>
                        <a:ea typeface="+mn-ea"/>
                        <a:cs typeface="+mn-cs"/>
                      </a:endParaRPr>
                    </a:p>
                    <a:p>
                      <a:endParaRPr lang="en-US" sz="2800" kern="1200" noProof="0">
                        <a:solidFill>
                          <a:schemeClr val="dk1"/>
                        </a:solidFill>
                        <a:highlight>
                          <a:srgbClr val="FFFF00"/>
                        </a:highlight>
                        <a:latin typeface="+mn-lt"/>
                        <a:ea typeface="+mn-ea"/>
                        <a:cs typeface="+mn-cs"/>
                      </a:endParaRPr>
                    </a:p>
                    <a:p>
                      <a:endParaRPr lang="en-US" sz="2800" kern="1200" noProof="0">
                        <a:solidFill>
                          <a:schemeClr val="dk1"/>
                        </a:solidFill>
                        <a:highlight>
                          <a:srgbClr val="FFFF00"/>
                        </a:highlight>
                        <a:latin typeface="+mn-lt"/>
                        <a:ea typeface="+mn-ea"/>
                        <a:cs typeface="+mn-cs"/>
                      </a:endParaRPr>
                    </a:p>
                  </a:txBody>
                  <a:tcPr marL="329184" marR="329184" marT="216000" marB="216000">
                    <a:lnL w="12700" cmpd="sng">
                      <a:noFill/>
                    </a:lnL>
                    <a:lnR w="12700" cmpd="sng">
                      <a:noFill/>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7834442"/>
                  </a:ext>
                </a:extLst>
              </a:tr>
            </a:tbl>
          </a:graphicData>
        </a:graphic>
      </p:graphicFrame>
    </p:spTree>
    <p:extLst>
      <p:ext uri="{BB962C8B-B14F-4D97-AF65-F5344CB8AC3E}">
        <p14:creationId xmlns:p14="http://schemas.microsoft.com/office/powerpoint/2010/main" val="1554963755"/>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A85E13-171B-D5A4-EF1D-301B8D32E93A}"/>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7F3E15D7-B39F-0BDB-79A2-1F85EED46950}"/>
              </a:ext>
            </a:extLst>
          </p:cNvPr>
          <p:cNvSpPr>
            <a:spLocks noGrp="1"/>
          </p:cNvSpPr>
          <p:nvPr>
            <p:ph type="title"/>
          </p:nvPr>
        </p:nvSpPr>
        <p:spPr>
          <a:xfrm>
            <a:off x="668992" y="537179"/>
            <a:ext cx="22991108" cy="968086"/>
          </a:xfrm>
        </p:spPr>
        <p:txBody>
          <a:bodyPr/>
          <a:lstStyle/>
          <a:p>
            <a:r>
              <a:rPr lang="en-GB"/>
              <a:t>AI Capabilities – AWS and Azure</a:t>
            </a:r>
            <a:endParaRPr lang="en-AE"/>
          </a:p>
        </p:txBody>
      </p:sp>
      <p:graphicFrame>
        <p:nvGraphicFramePr>
          <p:cNvPr id="4" name="Table 3">
            <a:extLst>
              <a:ext uri="{FF2B5EF4-FFF2-40B4-BE49-F238E27FC236}">
                <a16:creationId xmlns:a16="http://schemas.microsoft.com/office/drawing/2014/main" id="{9DD09EBA-8E01-DE66-2D70-D24D9416C597}"/>
              </a:ext>
            </a:extLst>
          </p:cNvPr>
          <p:cNvGraphicFramePr>
            <a:graphicFrameLocks noGrp="1"/>
          </p:cNvGraphicFramePr>
          <p:nvPr/>
        </p:nvGraphicFramePr>
        <p:xfrm>
          <a:off x="416492" y="2678520"/>
          <a:ext cx="23611908" cy="11033760"/>
        </p:xfrm>
        <a:graphic>
          <a:graphicData uri="http://schemas.openxmlformats.org/drawingml/2006/table">
            <a:tbl>
              <a:tblPr firstRow="1">
                <a:tableStyleId>{5C22544A-7EE6-4342-B048-85BDC9FD1C3A}</a:tableStyleId>
              </a:tblPr>
              <a:tblGrid>
                <a:gridCol w="3088708">
                  <a:extLst>
                    <a:ext uri="{9D8B030D-6E8A-4147-A177-3AD203B41FA5}">
                      <a16:colId xmlns:a16="http://schemas.microsoft.com/office/drawing/2014/main" val="1525111598"/>
                    </a:ext>
                  </a:extLst>
                </a:gridCol>
                <a:gridCol w="4794804">
                  <a:extLst>
                    <a:ext uri="{9D8B030D-6E8A-4147-A177-3AD203B41FA5}">
                      <a16:colId xmlns:a16="http://schemas.microsoft.com/office/drawing/2014/main" val="1887819977"/>
                    </a:ext>
                  </a:extLst>
                </a:gridCol>
                <a:gridCol w="7778196">
                  <a:extLst>
                    <a:ext uri="{9D8B030D-6E8A-4147-A177-3AD203B41FA5}">
                      <a16:colId xmlns:a16="http://schemas.microsoft.com/office/drawing/2014/main" val="1590687815"/>
                    </a:ext>
                  </a:extLst>
                </a:gridCol>
                <a:gridCol w="7950200">
                  <a:extLst>
                    <a:ext uri="{9D8B030D-6E8A-4147-A177-3AD203B41FA5}">
                      <a16:colId xmlns:a16="http://schemas.microsoft.com/office/drawing/2014/main" val="1267586326"/>
                    </a:ext>
                  </a:extLst>
                </a:gridCol>
              </a:tblGrid>
              <a:tr h="2377440">
                <a:tc>
                  <a:txBody>
                    <a:bodyPr/>
                    <a:lstStyle/>
                    <a:p>
                      <a:r>
                        <a:rPr lang="en-GB" sz="7200">
                          <a:solidFill>
                            <a:schemeClr val="tx1"/>
                          </a:solidFill>
                        </a:rPr>
                        <a:t>Aspect</a:t>
                      </a:r>
                    </a:p>
                  </a:txBody>
                  <a:tcPr marL="182880" marR="182880" marT="91440" marB="91440" anchor="ctr">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r>
                        <a:rPr lang="en-GB" sz="7200">
                          <a:solidFill>
                            <a:schemeClr val="tx1"/>
                          </a:solidFill>
                        </a:rPr>
                        <a:t>Explanation</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r>
                        <a:rPr lang="en-GB" sz="7200">
                          <a:solidFill>
                            <a:schemeClr val="tx1"/>
                          </a:solidFill>
                        </a:rPr>
                        <a:t>AWS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r>
                        <a:rPr lang="en-GB" sz="7200">
                          <a:solidFill>
                            <a:schemeClr val="tx1"/>
                          </a:solidFill>
                        </a:rPr>
                        <a:t>Azure</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1188720">
                <a:tc>
                  <a:txBody>
                    <a:bodyPr/>
                    <a:lstStyle/>
                    <a:p>
                      <a:pPr algn="l"/>
                      <a:r>
                        <a:rPr lang="en-GB" sz="2200"/>
                        <a:t>Breadth of Services</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The variety and scope of AI/ML services offered by the platform.</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Amazon </a:t>
                      </a:r>
                      <a:r>
                        <a:rPr lang="en-GB" sz="2200" err="1"/>
                        <a:t>SageMaker</a:t>
                      </a:r>
                      <a:r>
                        <a:rPr lang="en-GB" sz="2200"/>
                        <a:t>, Amazon Comprehend, Amazon </a:t>
                      </a:r>
                      <a:r>
                        <a:rPr lang="en-GB" sz="2200" err="1"/>
                        <a:t>Rekognition</a:t>
                      </a:r>
                      <a:r>
                        <a:rPr lang="en-GB" sz="2200"/>
                        <a:t>, Amazon Lex, Amazon Forecast</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Azure Machine Learning, Azure AI Services-(Speech,Vision,Search,Document Intelligence), Azure Bot Service, Azure Open AI</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1188720">
                <a:tc>
                  <a:txBody>
                    <a:bodyPr/>
                    <a:lstStyle/>
                    <a:p>
                      <a:pPr algn="l"/>
                      <a:r>
                        <a:rPr lang="en-GB" sz="2200"/>
                        <a:t>Flexibility and Customization</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The degree of control users have over model building, training, and deployment.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Fine-grained control over infrastructure and algorithms; support for various ML frameworks; ability to build custom models and workflows.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Focus on ease of use and quick deployment; pre-built models and APIs for common tasks; options for customization through AutoML and custom training.</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1188720">
                <a:tc>
                  <a:txBody>
                    <a:bodyPr/>
                    <a:lstStyle/>
                    <a:p>
                      <a:pPr algn="l"/>
                      <a:r>
                        <a:rPr lang="en-GB" sz="2200"/>
                        <a:t>Machine Learning Infrastructure</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The underlying computing resources and storage used for ML workloads.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Amazon EC2, Amazon S3, Amazon EMR</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Azure Virtual Machines, Azure Blob Storage, Azure Databricks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1188720">
                <a:tc>
                  <a:txBody>
                    <a:bodyPr/>
                    <a:lstStyle/>
                    <a:p>
                      <a:pPr algn="l"/>
                      <a:r>
                        <a:rPr lang="en-GB" sz="2200"/>
                        <a:t>Open-Source Integration</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The platform's compatibility and support for open-source tools and frameworks.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Strong support for open-source frameworks (TensorFlow, </a:t>
                      </a:r>
                      <a:r>
                        <a:rPr lang="en-GB" sz="2200" err="1"/>
                        <a:t>PyTorch</a:t>
                      </a:r>
                      <a:r>
                        <a:rPr lang="en-GB" sz="2200"/>
                        <a:t>, scikit-learn); integration with popular tools like </a:t>
                      </a:r>
                      <a:r>
                        <a:rPr lang="en-GB" sz="2200" err="1"/>
                        <a:t>Jupyter</a:t>
                      </a:r>
                      <a:r>
                        <a:rPr lang="en-GB" sz="2200"/>
                        <a:t> Notebooks and Git.</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Support for open-source technologies like ONNX and Kubernetes; integration with popular IDEs like Visual Studio Code.</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r h="1524000">
                <a:tc>
                  <a:txBody>
                    <a:bodyPr/>
                    <a:lstStyle/>
                    <a:p>
                      <a:pPr algn="l"/>
                      <a:r>
                        <a:rPr lang="en-GB" sz="2200"/>
                        <a:t>Enterprise-Grade AI Solutions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Features and capabilities that meet the needs of large organizations, such as security, compliance, and scalability.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Security features like encryption and access control; compliance certifications (e.g., HIPAA, GDPR); scalability and reliability for production workloads.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Enterprise-grade security and compliance; integration with Azure Active Directory for identity management; solutions for specific industries like healthcare and finance.</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1263401"/>
                  </a:ext>
                </a:extLst>
              </a:tr>
              <a:tr h="1188720">
                <a:tc>
                  <a:txBody>
                    <a:bodyPr/>
                    <a:lstStyle/>
                    <a:p>
                      <a:pPr algn="l"/>
                      <a:r>
                        <a:rPr lang="en-GB" sz="2200"/>
                        <a:t>Hybrid Cloud Capabilities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The ability to integrate cloud services with on-premises infrastructure.</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AWS Outposts, AWS Snow Family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Azure Arc, Azure Stack</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95919774"/>
                  </a:ext>
                </a:extLst>
              </a:tr>
              <a:tr h="1188720">
                <a:tc>
                  <a:txBody>
                    <a:bodyPr/>
                    <a:lstStyle/>
                    <a:p>
                      <a:pPr algn="l"/>
                      <a:r>
                        <a:rPr lang="en-GB" sz="2200"/>
                        <a:t>Focus/Emphasis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The platform's core strengths and target use cases.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Broad set of tools and services for diverse AI/ML use cases, with a strong emphasis on flexibility and customization.</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GB" sz="2200"/>
                        <a:t>Strong emphasis on pre-built models, ease of use, and integration with the Microsoft ecosystem, with a focus on enterprise-grade solutions.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22426471"/>
                  </a:ext>
                </a:extLst>
              </a:tr>
            </a:tbl>
          </a:graphicData>
        </a:graphic>
      </p:graphicFrame>
    </p:spTree>
    <p:extLst>
      <p:ext uri="{BB962C8B-B14F-4D97-AF65-F5344CB8AC3E}">
        <p14:creationId xmlns:p14="http://schemas.microsoft.com/office/powerpoint/2010/main" val="151711319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a:extLst>
              <a:ext uri="{FF2B5EF4-FFF2-40B4-BE49-F238E27FC236}">
                <a16:creationId xmlns:a16="http://schemas.microsoft.com/office/drawing/2014/main" id="{9217F46F-6B76-4993-BA71-29EE5002726D}"/>
              </a:ext>
            </a:extLst>
          </p:cNvPr>
          <p:cNvSpPr>
            <a:spLocks noGrp="1"/>
          </p:cNvSpPr>
          <p:nvPr>
            <p:ph type="body" sz="quarter" idx="16"/>
          </p:nvPr>
        </p:nvSpPr>
        <p:spPr/>
        <p:txBody>
          <a:bodyPr/>
          <a:lstStyle/>
          <a:p>
            <a:r>
              <a:rPr lang="en-US"/>
              <a:t>Next Steps</a:t>
            </a:r>
          </a:p>
        </p:txBody>
      </p:sp>
    </p:spTree>
    <p:extLst>
      <p:ext uri="{BB962C8B-B14F-4D97-AF65-F5344CB8AC3E}">
        <p14:creationId xmlns:p14="http://schemas.microsoft.com/office/powerpoint/2010/main" val="425030014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03C40-C18B-1E2F-722E-674E10D1A01D}"/>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58A75AC7-40B9-8B15-9D89-BF7CDE8C11EA}"/>
              </a:ext>
            </a:extLst>
          </p:cNvPr>
          <p:cNvSpPr>
            <a:spLocks noGrp="1"/>
          </p:cNvSpPr>
          <p:nvPr>
            <p:ph type="title"/>
          </p:nvPr>
        </p:nvSpPr>
        <p:spPr/>
        <p:txBody>
          <a:bodyPr/>
          <a:lstStyle/>
          <a:p>
            <a:r>
              <a:rPr lang="en-US"/>
              <a:t>Next Steps</a:t>
            </a:r>
          </a:p>
        </p:txBody>
      </p:sp>
      <p:graphicFrame>
        <p:nvGraphicFramePr>
          <p:cNvPr id="6" name="Table 5">
            <a:extLst>
              <a:ext uri="{FF2B5EF4-FFF2-40B4-BE49-F238E27FC236}">
                <a16:creationId xmlns:a16="http://schemas.microsoft.com/office/drawing/2014/main" id="{E9606DB0-A90F-7028-B5BF-524B5A9D115D}"/>
              </a:ext>
            </a:extLst>
          </p:cNvPr>
          <p:cNvGraphicFramePr>
            <a:graphicFrameLocks noGrp="1"/>
          </p:cNvGraphicFramePr>
          <p:nvPr/>
        </p:nvGraphicFramePr>
        <p:xfrm>
          <a:off x="723898" y="3143251"/>
          <a:ext cx="21016492" cy="5847084"/>
        </p:xfrm>
        <a:graphic>
          <a:graphicData uri="http://schemas.openxmlformats.org/drawingml/2006/table">
            <a:tbl>
              <a:tblPr firstRow="1">
                <a:tableStyleId>{5C22544A-7EE6-4342-B048-85BDC9FD1C3A}</a:tableStyleId>
              </a:tblPr>
              <a:tblGrid>
                <a:gridCol w="21016492">
                  <a:extLst>
                    <a:ext uri="{9D8B030D-6E8A-4147-A177-3AD203B41FA5}">
                      <a16:colId xmlns:a16="http://schemas.microsoft.com/office/drawing/2014/main" val="413326514"/>
                    </a:ext>
                  </a:extLst>
                </a:gridCol>
              </a:tblGrid>
              <a:tr h="1097280">
                <a:tc>
                  <a:txBody>
                    <a:bodyPr/>
                    <a:lstStyle/>
                    <a:p>
                      <a:r>
                        <a:rPr lang="en-GB" sz="7200">
                          <a:solidFill>
                            <a:schemeClr val="tx1"/>
                          </a:solidFill>
                        </a:rPr>
                        <a:t>Actions</a:t>
                      </a:r>
                    </a:p>
                  </a:txBody>
                  <a:tcPr marL="329184" marR="32918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791634">
                <a:tc>
                  <a:txBody>
                    <a:bodyPr/>
                    <a:lstStyle/>
                    <a:p>
                      <a:r>
                        <a:rPr lang="en-GB" sz="2800"/>
                        <a:t>Achilles’ confirm final Hyperscaler decision – adding additional selection criteria or re-allocating weighting to existing criteria.</a:t>
                      </a:r>
                    </a:p>
                  </a:txBody>
                  <a:tcPr marL="329184" marR="329184" marT="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791634">
                <a:tc>
                  <a:txBody>
                    <a:bodyPr/>
                    <a:lstStyle/>
                    <a:p>
                      <a:r>
                        <a:rPr lang="en-GB" sz="2800"/>
                        <a:t>Rackspace to present migration effort estimates and commercials. </a:t>
                      </a:r>
                      <a:endParaRPr lang="en-US" sz="2800"/>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17834442"/>
                  </a:ext>
                </a:extLst>
              </a:tr>
              <a:tr h="7916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800"/>
                        <a:t>Rackspace to present managed services offerings and commercials.</a:t>
                      </a:r>
                      <a:endParaRPr lang="en-US" sz="2800"/>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791634">
                <a:tc>
                  <a:txBody>
                    <a:bodyPr/>
                    <a:lstStyle/>
                    <a:p>
                      <a:r>
                        <a:rPr lang="en-GB" sz="2800"/>
                        <a:t>Achilles’ Review Migration Readiness Assessment recommendations and consider cloud maturity action plan.</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791634">
                <a:tc>
                  <a:txBody>
                    <a:bodyPr/>
                    <a:lstStyle/>
                    <a:p>
                      <a:r>
                        <a:rPr lang="en-GB" sz="2800"/>
                        <a:t>Move forward with Achilles’ migration to chosen Hyperscaler.</a:t>
                      </a:r>
                    </a:p>
                  </a:txBody>
                  <a:tcPr marL="329184" marR="329184"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23732811"/>
                  </a:ext>
                </a:extLst>
              </a:tr>
              <a:tr h="791634">
                <a:tc>
                  <a:txBody>
                    <a:bodyPr/>
                    <a:lstStyle/>
                    <a:p>
                      <a:r>
                        <a:rPr lang="en-GB" sz="2800"/>
                        <a:t>Achilles to fill in the Application Charter Questionnaire for applications listed ‘Preparing for Migration’ slide – optional.</a:t>
                      </a:r>
                    </a:p>
                  </a:txBody>
                  <a:tcPr marL="329184" marR="329184" marT="0" marB="0" anchor="ct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3599403273"/>
                  </a:ext>
                </a:extLst>
              </a:tr>
            </a:tbl>
          </a:graphicData>
        </a:graphic>
      </p:graphicFrame>
      <p:sp>
        <p:nvSpPr>
          <p:cNvPr id="2" name="Slide Number Placeholder 2">
            <a:extLst>
              <a:ext uri="{FF2B5EF4-FFF2-40B4-BE49-F238E27FC236}">
                <a16:creationId xmlns:a16="http://schemas.microsoft.com/office/drawing/2014/main" id="{297EE04B-D600-05CA-06CF-6997074E43F2}"/>
              </a:ext>
            </a:extLst>
          </p:cNvPr>
          <p:cNvSpPr txBox="1">
            <a:spLocks/>
          </p:cNvSpPr>
          <p:nvPr/>
        </p:nvSpPr>
        <p:spPr>
          <a:xfrm>
            <a:off x="22402802" y="12985750"/>
            <a:ext cx="1234804" cy="466344"/>
          </a:xfrm>
          <a:prstGeom prst="rect">
            <a:avLst/>
          </a:prstGeom>
        </p:spPr>
        <p:txBody>
          <a:bodyPr/>
          <a:lst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a:lstStyle>
          <a:p>
            <a:pPr algn="r">
              <a:defRPr/>
            </a:pPr>
            <a:fld id="{762E77F0-FB5B-4E8E-9BC9-34F14560A017}" type="slidenum">
              <a:rPr lang="en-US" sz="1400">
                <a:solidFill>
                  <a:prstClr val="black"/>
                </a:solidFill>
                <a:latin typeface="Fira Sans" panose="020B0503050000020004" pitchFamily="34" charset="0"/>
              </a:rPr>
              <a:pPr algn="r">
                <a:defRPr/>
              </a:pPr>
              <a:t>107</a:t>
            </a:fld>
            <a:endParaRPr lang="en-US" sz="1400">
              <a:solidFill>
                <a:prstClr val="black"/>
              </a:solidFill>
              <a:latin typeface="Fira Sans" panose="020B0503050000020004" pitchFamily="34" charset="0"/>
            </a:endParaRPr>
          </a:p>
        </p:txBody>
      </p:sp>
    </p:spTree>
    <p:extLst>
      <p:ext uri="{BB962C8B-B14F-4D97-AF65-F5344CB8AC3E}">
        <p14:creationId xmlns:p14="http://schemas.microsoft.com/office/powerpoint/2010/main" val="349849857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8591325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C547B8-AEDF-BD66-F8AA-7C665C5D69B0}"/>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09B9F92C-94CC-E0E6-FF84-90A0296244F6}"/>
              </a:ext>
            </a:extLst>
          </p:cNvPr>
          <p:cNvSpPr>
            <a:spLocks noGrp="1"/>
          </p:cNvSpPr>
          <p:nvPr>
            <p:ph type="body" sz="quarter" idx="16"/>
          </p:nvPr>
        </p:nvSpPr>
        <p:spPr/>
        <p:txBody>
          <a:bodyPr/>
          <a:lstStyle/>
          <a:p>
            <a:r>
              <a:rPr lang="en-US"/>
              <a:t>Appendices</a:t>
            </a:r>
          </a:p>
        </p:txBody>
      </p:sp>
      <p:sp>
        <p:nvSpPr>
          <p:cNvPr id="22" name="Text Placeholder 21">
            <a:extLst>
              <a:ext uri="{FF2B5EF4-FFF2-40B4-BE49-F238E27FC236}">
                <a16:creationId xmlns:a16="http://schemas.microsoft.com/office/drawing/2014/main" id="{33EC3FDD-379A-76D7-BBE1-5536DD219A9E}"/>
              </a:ext>
            </a:extLst>
          </p:cNvPr>
          <p:cNvSpPr>
            <a:spLocks noGrp="1"/>
          </p:cNvSpPr>
          <p:nvPr>
            <p:ph type="body" sz="quarter" idx="18"/>
          </p:nvPr>
        </p:nvSpPr>
        <p:spPr>
          <a:xfrm>
            <a:off x="14218285" y="6858001"/>
            <a:ext cx="10168718" cy="615554"/>
          </a:xfrm>
        </p:spPr>
        <p:txBody>
          <a:bodyPr/>
          <a:lstStyle/>
          <a:p>
            <a:pPr lvl="0"/>
            <a:r>
              <a:rPr lang="en-US"/>
              <a:t>Cloud Business Case</a:t>
            </a:r>
          </a:p>
        </p:txBody>
      </p:sp>
    </p:spTree>
    <p:extLst>
      <p:ext uri="{BB962C8B-B14F-4D97-AF65-F5344CB8AC3E}">
        <p14:creationId xmlns:p14="http://schemas.microsoft.com/office/powerpoint/2010/main" val="3433404175"/>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9686E4-FB44-2F57-8324-A6AD0E52604F}"/>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670AE898-1A59-3205-DFD8-A01A0958130A}"/>
              </a:ext>
            </a:extLst>
          </p:cNvPr>
          <p:cNvSpPr>
            <a:spLocks noGrp="1"/>
          </p:cNvSpPr>
          <p:nvPr>
            <p:ph type="body" sz="quarter" idx="16"/>
          </p:nvPr>
        </p:nvSpPr>
        <p:spPr>
          <a:xfrm>
            <a:off x="10778439" y="2281161"/>
            <a:ext cx="11160126" cy="4200146"/>
          </a:xfrm>
        </p:spPr>
        <p:txBody>
          <a:bodyPr/>
          <a:lstStyle/>
          <a:p>
            <a:r>
              <a:rPr lang="en-US"/>
              <a:t>Appendix 1 – Hyperscaler Selection – Detailed Scoring</a:t>
            </a:r>
          </a:p>
        </p:txBody>
      </p:sp>
    </p:spTree>
    <p:extLst>
      <p:ext uri="{BB962C8B-B14F-4D97-AF65-F5344CB8AC3E}">
        <p14:creationId xmlns:p14="http://schemas.microsoft.com/office/powerpoint/2010/main" val="239153405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9A002F-2380-DE81-E12F-8DA741967E88}"/>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ACA6B9CB-D338-2556-8736-6BB39EEAB66E}"/>
              </a:ext>
            </a:extLst>
          </p:cNvPr>
          <p:cNvSpPr>
            <a:spLocks noGrp="1"/>
          </p:cNvSpPr>
          <p:nvPr>
            <p:ph type="title"/>
          </p:nvPr>
        </p:nvSpPr>
        <p:spPr>
          <a:xfrm>
            <a:off x="668992" y="537179"/>
            <a:ext cx="22991108" cy="968086"/>
          </a:xfrm>
        </p:spPr>
        <p:txBody>
          <a:bodyPr/>
          <a:lstStyle/>
          <a:p>
            <a:r>
              <a:rPr lang="en-US"/>
              <a:t>Cloud Decision Matrix: </a:t>
            </a:r>
            <a:r>
              <a:rPr lang="en-GB" b="1"/>
              <a:t>Economics</a:t>
            </a:r>
            <a:endParaRPr lang="en-AE"/>
          </a:p>
        </p:txBody>
      </p:sp>
      <p:graphicFrame>
        <p:nvGraphicFramePr>
          <p:cNvPr id="3" name="Table 2">
            <a:extLst>
              <a:ext uri="{FF2B5EF4-FFF2-40B4-BE49-F238E27FC236}">
                <a16:creationId xmlns:a16="http://schemas.microsoft.com/office/drawing/2014/main" id="{01179BD5-5C01-D792-F948-6D8C7FBEFDE9}"/>
              </a:ext>
            </a:extLst>
          </p:cNvPr>
          <p:cNvGraphicFramePr>
            <a:graphicFrameLocks noGrp="1"/>
          </p:cNvGraphicFramePr>
          <p:nvPr/>
        </p:nvGraphicFramePr>
        <p:xfrm>
          <a:off x="504401" y="2350916"/>
          <a:ext cx="23040002" cy="10728960"/>
        </p:xfrm>
        <a:graphic>
          <a:graphicData uri="http://schemas.openxmlformats.org/drawingml/2006/table">
            <a:tbl>
              <a:tblPr firstRow="1">
                <a:tableStyleId>{5C22544A-7EE6-4342-B048-85BDC9FD1C3A}</a:tableStyleId>
              </a:tblPr>
              <a:tblGrid>
                <a:gridCol w="2019344">
                  <a:extLst>
                    <a:ext uri="{9D8B030D-6E8A-4147-A177-3AD203B41FA5}">
                      <a16:colId xmlns:a16="http://schemas.microsoft.com/office/drawing/2014/main" val="705894732"/>
                    </a:ext>
                  </a:extLst>
                </a:gridCol>
                <a:gridCol w="3698320">
                  <a:extLst>
                    <a:ext uri="{9D8B030D-6E8A-4147-A177-3AD203B41FA5}">
                      <a16:colId xmlns:a16="http://schemas.microsoft.com/office/drawing/2014/main" val="1274403685"/>
                    </a:ext>
                  </a:extLst>
                </a:gridCol>
                <a:gridCol w="1342968">
                  <a:extLst>
                    <a:ext uri="{9D8B030D-6E8A-4147-A177-3AD203B41FA5}">
                      <a16:colId xmlns:a16="http://schemas.microsoft.com/office/drawing/2014/main" val="659719172"/>
                    </a:ext>
                  </a:extLst>
                </a:gridCol>
                <a:gridCol w="1128872">
                  <a:extLst>
                    <a:ext uri="{9D8B030D-6E8A-4147-A177-3AD203B41FA5}">
                      <a16:colId xmlns:a16="http://schemas.microsoft.com/office/drawing/2014/main" val="1525111598"/>
                    </a:ext>
                  </a:extLst>
                </a:gridCol>
                <a:gridCol w="8826000">
                  <a:extLst>
                    <a:ext uri="{9D8B030D-6E8A-4147-A177-3AD203B41FA5}">
                      <a16:colId xmlns:a16="http://schemas.microsoft.com/office/drawing/2014/main" val="1887819977"/>
                    </a:ext>
                  </a:extLst>
                </a:gridCol>
                <a:gridCol w="6024498">
                  <a:extLst>
                    <a:ext uri="{9D8B030D-6E8A-4147-A177-3AD203B41FA5}">
                      <a16:colId xmlns:a16="http://schemas.microsoft.com/office/drawing/2014/main" val="1590687815"/>
                    </a:ext>
                  </a:extLst>
                </a:gridCol>
              </a:tblGrid>
              <a:tr h="731520">
                <a:tc>
                  <a:txBody>
                    <a:bodyPr/>
                    <a:lstStyle/>
                    <a:p>
                      <a:pPr algn="ctr" rtl="0" fontAlgn="ctr"/>
                      <a:r>
                        <a:rPr lang="en-GB" sz="1800" b="1" i="0" u="none" strike="noStrike">
                          <a:solidFill>
                            <a:schemeClr val="tx1"/>
                          </a:solidFill>
                          <a:effectLst/>
                          <a:latin typeface="Arial" panose="020B0604020202020204" pitchFamily="34" charset="0"/>
                        </a:rPr>
                        <a:t>Criteria</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Measurement</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AWS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Azure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Assessment</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1800" kern="100">
                          <a:solidFill>
                            <a:schemeClr val="tx1"/>
                          </a:solidFill>
                          <a:effectLst/>
                          <a:latin typeface="+mn-lt"/>
                          <a:ea typeface="Calibri"/>
                          <a:cs typeface="Times New Roman"/>
                        </a:rPr>
                        <a:t>Conclusions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1889760">
                <a:tc>
                  <a:txBody>
                    <a:bodyPr/>
                    <a:lstStyle/>
                    <a:p>
                      <a:pPr algn="ctr" rtl="0" fontAlgn="t"/>
                      <a:r>
                        <a:rPr lang="en-GB" sz="1600" b="0" i="0" u="none" strike="noStrike">
                          <a:effectLst/>
                          <a:latin typeface="Arial" panose="020B0604020202020204" pitchFamily="34" charset="0"/>
                        </a:rPr>
                        <a:t>Total Cost of Ownership (TCO)</a:t>
                      </a:r>
                      <a:br>
                        <a:rPr lang="en-GB" sz="1600" b="0" i="0" u="none" strike="noStrike">
                          <a:effectLst/>
                          <a:latin typeface="Arial" panose="020B0604020202020204" pitchFamily="34" charset="0"/>
                        </a:rPr>
                      </a:br>
                      <a:r>
                        <a:rPr lang="en-GB" sz="1600" b="0" i="0" u="none" strike="noStrike">
                          <a:effectLst/>
                          <a:latin typeface="Arial" panose="020B0604020202020204" pitchFamily="34" charset="0"/>
                        </a:rPr>
                        <a:t>Infrastructure Costs</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Evaluate overall expenses, including migration, licensing, networking, operational, and scaling costs, over a 3–5-year period.</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4</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ctr" rtl="0" fontAlgn="ctr"/>
                      <a:r>
                        <a:rPr lang="en-GB" sz="1600" b="1" i="0" u="none" strike="noStrike">
                          <a:effectLst/>
                          <a:latin typeface="Arial" panose="020B0604020202020204" pitchFamily="34" charset="0"/>
                        </a:rPr>
                        <a:t>5</a:t>
                      </a:r>
                    </a:p>
                  </a:txBody>
                  <a:tcPr marL="182880" marR="182880" marT="91440" marB="9144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Over a 3–5-year period, Azure demonstrates a lower Total Cost of Ownership (TCO) compared to AWS, particularly due to cost-effective options for licensing (via Azure Hybrid Benefit), egress networking costs, and competitive operational costs. While AWS provides robust scaling capabilities, the associated expenses often result in a higher TCO in long-term comparisons.</a:t>
                      </a:r>
                    </a:p>
                    <a:p>
                      <a:pPr algn="l" rtl="0" fontAlgn="t"/>
                      <a:endParaRPr lang="en-GB" sz="1600" b="0" i="0" u="none" strike="noStrike">
                        <a:effectLst/>
                        <a:latin typeface="Arial" panose="020B0604020202020204" pitchFamily="34" charset="0"/>
                      </a:endParaRP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By choosing Microsoft Azure, Achilles can achieve significant long-term cost savings. While AWS offers cheaper options for certain compute instances, it falls short in key areas such as storage costs, Microsoft licensing benefits, and networking expenses, which could increase costs if Achilles requires additional resources.</a:t>
                      </a:r>
                    </a:p>
                  </a:txBody>
                  <a:tcPr marL="182880" marR="182880" marT="91440" marB="91440">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3352800">
                <a:tc>
                  <a:txBody>
                    <a:bodyPr/>
                    <a:lstStyle/>
                    <a:p>
                      <a:pPr algn="ctr" rtl="0" fontAlgn="t"/>
                      <a:r>
                        <a:rPr lang="en-GB" sz="1600" b="0" i="0" u="none" strike="noStrike">
                          <a:effectLst/>
                          <a:latin typeface="Arial" panose="020B0604020202020204" pitchFamily="34" charset="0"/>
                        </a:rPr>
                        <a:t>Migration Costs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Assess one-time costs for migration, including tools, labor, re-architecting, and incentives offered by providers. Programs fundings, Data Center Exit incentives, funding programs.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4</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ctr" rtl="0" fontAlgn="ctr"/>
                      <a:r>
                        <a:rPr lang="en-GB" sz="1600" b="1" i="0" u="none" strike="noStrike">
                          <a:effectLst/>
                          <a:latin typeface="Arial" panose="020B0604020202020204" pitchFamily="34" charset="0"/>
                        </a:rPr>
                        <a:t>5</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Both AWS and Azure offer strong migration programs that help reduce costs. They provide funding, tools, and support to make the migration process easier. For example, Azure offers the Azure Migration and Modernization Program (AMMP), which provides credits and resources for moving workloads to the cloud. AWS has a similar program called the AWS Migration Acceleration Program (MAP), which offers funding, technical support, and best practices to speed up migrations. </a:t>
                      </a:r>
                    </a:p>
                    <a:p>
                      <a:pPr algn="l" rtl="0" fontAlgn="t"/>
                      <a:br>
                        <a:rPr lang="en-GB" sz="1600" b="0" i="0" u="none" strike="noStrike">
                          <a:effectLst/>
                          <a:latin typeface="Arial" panose="020B0604020202020204" pitchFamily="34" charset="0"/>
                        </a:rPr>
                      </a:br>
                      <a:r>
                        <a:rPr lang="en-GB" sz="1600" b="0" i="0" u="none" strike="noStrike">
                          <a:effectLst/>
                          <a:latin typeface="Arial" panose="020B0604020202020204" pitchFamily="34" charset="0"/>
                        </a:rPr>
                        <a:t>While both programs help minimize upfront costs and ensure a smoother transition, AWS's funding options, particularly in terms of credits, provide a more robust financial incentive compared to Azure.</a:t>
                      </a:r>
                    </a:p>
                    <a:p>
                      <a:pPr algn="l" rtl="0" fontAlgn="t"/>
                      <a:endParaRPr lang="en-GB" sz="1600" b="0" i="0" u="none" strike="noStrike">
                        <a:effectLst/>
                        <a:latin typeface="Arial" panose="020B0604020202020204" pitchFamily="34"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can decide to engage with a Cloud Partner such as Rackspace to take full advantage of available migration funding programs and other benefits. This approach will reduce both Total Cost of Ownership (TCO), migration costs, and credits, making the transition more cost-effective.</a:t>
                      </a:r>
                    </a:p>
                    <a:p>
                      <a:pPr algn="l" rtl="0" fontAlgn="t"/>
                      <a:endParaRPr lang="en-GB" sz="1600" b="0" i="0" u="none" strike="noStrike">
                        <a:solidFill>
                          <a:srgbClr val="C00000"/>
                        </a:solidFill>
                        <a:effectLst/>
                        <a:latin typeface="Arial" panose="020B0604020202020204" pitchFamily="34" charset="0"/>
                      </a:endParaRPr>
                    </a:p>
                    <a:p>
                      <a:pPr algn="l" rtl="0" fontAlgn="t"/>
                      <a:r>
                        <a:rPr lang="en-GB" sz="1600" b="0" i="0" u="none" strike="noStrike">
                          <a:solidFill>
                            <a:srgbClr val="C00000"/>
                          </a:solidFill>
                          <a:effectLst/>
                          <a:latin typeface="Arial" panose="020B0604020202020204" pitchFamily="34" charset="0"/>
                        </a:rPr>
                        <a:t>Note due to </a:t>
                      </a:r>
                      <a:r>
                        <a:rPr lang="en-GB" sz="1600" b="0" i="0" u="none" strike="noStrike" err="1">
                          <a:solidFill>
                            <a:srgbClr val="C00000"/>
                          </a:solidFill>
                          <a:effectLst/>
                          <a:latin typeface="Arial" panose="020B0604020202020204" pitchFamily="34" charset="0"/>
                        </a:rPr>
                        <a:t>GoSupply</a:t>
                      </a:r>
                      <a:r>
                        <a:rPr lang="en-GB" sz="1600" b="0" i="0" u="none" strike="noStrike">
                          <a:solidFill>
                            <a:srgbClr val="C00000"/>
                          </a:solidFill>
                          <a:effectLst/>
                          <a:latin typeface="Arial" panose="020B0604020202020204" pitchFamily="34" charset="0"/>
                        </a:rPr>
                        <a:t> already in Azure, a migration will be simpler and therefore cheaper to Azure than AWS, simply because movement to AWS involves re-platforming. </a:t>
                      </a:r>
                    </a:p>
                    <a:p>
                      <a:pPr algn="l" rtl="0" fontAlgn="t"/>
                      <a:endParaRPr lang="en-GB" sz="1600" b="0" i="0" u="none" strike="noStrike">
                        <a:solidFill>
                          <a:srgbClr val="C00000"/>
                        </a:solidFill>
                        <a:effectLst/>
                        <a:latin typeface="Arial" panose="020B0604020202020204" pitchFamily="34" charset="0"/>
                      </a:endParaRPr>
                    </a:p>
                    <a:p>
                      <a:pPr algn="l" rtl="0" fontAlgn="t"/>
                      <a:r>
                        <a:rPr lang="en-GB" sz="1600" b="0" i="0" u="sng" strike="noStrike">
                          <a:solidFill>
                            <a:srgbClr val="C00000"/>
                          </a:solidFill>
                          <a:effectLst/>
                          <a:latin typeface="Arial" panose="020B0604020202020204" pitchFamily="34" charset="0"/>
                        </a:rPr>
                        <a:t>Important</a:t>
                      </a:r>
                      <a:r>
                        <a:rPr lang="en-GB" sz="1600" b="0" i="0" u="none" strike="noStrike">
                          <a:solidFill>
                            <a:srgbClr val="C00000"/>
                          </a:solidFill>
                          <a:effectLst/>
                          <a:latin typeface="Arial" panose="020B0604020202020204" pitchFamily="34" charset="0"/>
                        </a:rPr>
                        <a:t>: This criterion requires careful consideration, as it may indicate that the </a:t>
                      </a:r>
                      <a:r>
                        <a:rPr lang="en-GB" sz="1600" b="0" i="0" u="none" strike="noStrike" err="1">
                          <a:solidFill>
                            <a:srgbClr val="C00000"/>
                          </a:solidFill>
                          <a:effectLst/>
                          <a:latin typeface="Arial" panose="020B0604020202020204" pitchFamily="34" charset="0"/>
                        </a:rPr>
                        <a:t>hyperscaler</a:t>
                      </a:r>
                      <a:r>
                        <a:rPr lang="en-GB" sz="1600" b="0" i="0" u="none" strike="noStrike">
                          <a:solidFill>
                            <a:srgbClr val="C00000"/>
                          </a:solidFill>
                          <a:effectLst/>
                          <a:latin typeface="Arial" panose="020B0604020202020204" pitchFamily="34" charset="0"/>
                        </a:rPr>
                        <a:t> offers larger discounts, customized deals, leading to more favourable incentives.</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2865120">
                <a:tc>
                  <a:txBody>
                    <a:bodyPr/>
                    <a:lstStyle/>
                    <a:p>
                      <a:pPr algn="ctr" rtl="0" fontAlgn="t"/>
                      <a:r>
                        <a:rPr lang="en-GB" sz="1600" b="0" i="0" u="none" strike="noStrike">
                          <a:effectLst/>
                          <a:latin typeface="Arial" panose="020B0604020202020204" pitchFamily="34" charset="0"/>
                        </a:rPr>
                        <a:t>Software Licensing</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Measure the ability to reuse or optimize existing software licenses, minimizing additional licensing costs. Optimization, BYOL flexibility, portability.</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3</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solidFill>
                  </a:tcPr>
                </a:tc>
                <a:tc>
                  <a:txBody>
                    <a:bodyPr/>
                    <a:lstStyle/>
                    <a:p>
                      <a:pPr algn="ctr" rtl="0" fontAlgn="ctr"/>
                      <a:r>
                        <a:rPr lang="en-GB" sz="1600" b="1" i="0" u="none" strike="noStrike">
                          <a:effectLst/>
                          <a:latin typeface="Arial" panose="020B0604020202020204" pitchFamily="34" charset="0"/>
                        </a:rPr>
                        <a:t>5</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AWS supports a variety of licenses but often requires separate purchase or customization, to comply with licensing agreements (e.g. Oracle, Microsoft licenses). For instance, hosting SQL Server workloads on AWS may involve higher costs compared to Azure. Many enterprises prefer Azure for Microsoft products due to integrated licensing models (e.g., bring-your-own-license). AWS offers a Dedicated Host for license compliance, but this can be costly. Azure’s licensing benefits are a major draw for Microsoft environments. Organizations can apply Azure Hybrid Benefit to significantly reduce the cost of existing licenses. Reports show enterprises save up to 80% on licensing when migrating on-premises Microsoft workloads to Azure.</a:t>
                      </a:r>
                    </a:p>
                    <a:p>
                      <a:pPr algn="l" rtl="0" fontAlgn="t"/>
                      <a:endParaRPr lang="en-GB" sz="1600" b="0" i="0" u="none" strike="noStrike">
                        <a:effectLst/>
                        <a:latin typeface="Arial" panose="020B0604020202020204" pitchFamily="34"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will be able to easily bring its existing software licenses to Microsoft Azure (particularly for Microsoft Windows Server, SQL Server licenses, and Red Hat Enterprise Linux licenses) using Azure Hybrid Benefit. While AWS offers a similar capability, it requires provisioning Dedicated Hosts instead of using shared, on-demand virtual machines, which introduces additional constraints.</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1889760">
                <a:tc>
                  <a:txBody>
                    <a:bodyPr/>
                    <a:lstStyle/>
                    <a:p>
                      <a:pPr algn="ctr" rtl="0" fontAlgn="t"/>
                      <a:r>
                        <a:rPr lang="en-GB" sz="1600" b="0" i="0" u="none" strike="noStrike">
                          <a:effectLst/>
                          <a:latin typeface="Arial" panose="020B0604020202020204" pitchFamily="34" charset="0"/>
                        </a:rPr>
                        <a:t>Pricing Flexibility </a:t>
                      </a:r>
                      <a:br>
                        <a:rPr lang="en-GB" sz="1600" b="0" i="0" u="none" strike="noStrike">
                          <a:effectLst/>
                          <a:latin typeface="Arial" panose="020B0604020202020204" pitchFamily="34" charset="0"/>
                        </a:rPr>
                      </a:br>
                      <a:r>
                        <a:rPr lang="en-GB" sz="1600" b="0" i="0" u="none" strike="noStrike">
                          <a:effectLst/>
                          <a:latin typeface="Arial" panose="020B0604020202020204" pitchFamily="34" charset="0"/>
                        </a:rPr>
                        <a:t>(Credits / Discounts)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Evaluate elasticity options, on-demand and reserved pricing, and discount programs (e.g., AWS EDP, Azure MACC).  Purchasing models, Discounts, payments options.</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5</a:t>
                      </a:r>
                    </a:p>
                  </a:txBody>
                  <a:tcPr marL="182880" marR="182880" marT="91440" marB="9144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Both </a:t>
                      </a:r>
                      <a:r>
                        <a:rPr lang="en-GB" sz="1600" b="0" i="0" u="none" strike="noStrike" err="1">
                          <a:effectLst/>
                          <a:latin typeface="Arial" panose="020B0604020202020204" pitchFamily="34" charset="0"/>
                        </a:rPr>
                        <a:t>hyperscalers</a:t>
                      </a:r>
                      <a:r>
                        <a:rPr lang="en-GB" sz="1600" b="0" i="0" u="none" strike="noStrike">
                          <a:effectLst/>
                          <a:latin typeface="Arial" panose="020B0604020202020204" pitchFamily="34" charset="0"/>
                        </a:rPr>
                        <a:t> offer flexible pricing models that help manage costs effectively, providing significant savings of up to 72% or more. Both clouds provide usage-based discounts, long-term commitment discounts, and volume-based discounts to optimize cost savings across various pricing models.</a:t>
                      </a:r>
                      <a:br>
                        <a:rPr lang="en-GB" sz="1600" b="0" i="0" u="none" strike="noStrike">
                          <a:effectLst/>
                          <a:latin typeface="Arial" panose="020B0604020202020204" pitchFamily="34" charset="0"/>
                        </a:rPr>
                      </a:br>
                      <a:br>
                        <a:rPr lang="en-GB" sz="1600" b="0" i="0" u="none" strike="noStrike">
                          <a:effectLst/>
                          <a:latin typeface="Arial" panose="020B0604020202020204" pitchFamily="34" charset="0"/>
                        </a:rPr>
                      </a:br>
                      <a:r>
                        <a:rPr lang="en-GB" sz="1600" b="0" i="1" u="sng" strike="noStrike">
                          <a:effectLst/>
                          <a:latin typeface="Arial" panose="020B0604020202020204" pitchFamily="34" charset="0"/>
                        </a:rPr>
                        <a:t>Example</a:t>
                      </a:r>
                      <a:r>
                        <a:rPr lang="en-GB" sz="1600" b="0" i="1" u="none" strike="noStrike">
                          <a:effectLst/>
                          <a:latin typeface="Arial" panose="020B0604020202020204" pitchFamily="34" charset="0"/>
                        </a:rPr>
                        <a:t>: On-Demand (Pay-as-you-go), Spot Instances, Reserved Instances, Savings Plans.</a:t>
                      </a:r>
                      <a:endParaRPr lang="en-GB" sz="1600" b="0" i="0" u="none" strike="noStrike">
                        <a:effectLst/>
                        <a:latin typeface="Arial" panose="020B0604020202020204" pitchFamily="34" charset="0"/>
                      </a:endParaRP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can benefit from pricing flexibility and significant discounts offered by both </a:t>
                      </a:r>
                      <a:r>
                        <a:rPr lang="en-GB" sz="1600" b="0" i="0" u="none" strike="noStrike" err="1">
                          <a:solidFill>
                            <a:srgbClr val="C00000"/>
                          </a:solidFill>
                          <a:effectLst/>
                          <a:latin typeface="Arial" panose="020B0604020202020204" pitchFamily="34" charset="0"/>
                        </a:rPr>
                        <a:t>hyperscalers</a:t>
                      </a:r>
                      <a:r>
                        <a:rPr lang="en-GB" sz="1600" b="0" i="0" u="none" strike="noStrike">
                          <a:solidFill>
                            <a:srgbClr val="C00000"/>
                          </a:solidFill>
                          <a:effectLst/>
                          <a:latin typeface="Arial" panose="020B0604020202020204" pitchFamily="34" charset="0"/>
                        </a:rPr>
                        <a:t>. By consolidating its IT landscape, including recent acquisitions like </a:t>
                      </a:r>
                      <a:r>
                        <a:rPr lang="en-GB" sz="1600" b="0" i="0" u="none" strike="noStrike" err="1">
                          <a:solidFill>
                            <a:srgbClr val="C00000"/>
                          </a:solidFill>
                          <a:effectLst/>
                          <a:latin typeface="Arial" panose="020B0604020202020204" pitchFamily="34" charset="0"/>
                        </a:rPr>
                        <a:t>GoSupply</a:t>
                      </a:r>
                      <a:r>
                        <a:rPr lang="en-GB" sz="1600" b="0" i="0" u="none" strike="noStrike">
                          <a:solidFill>
                            <a:srgbClr val="C00000"/>
                          </a:solidFill>
                          <a:effectLst/>
                          <a:latin typeface="Arial" panose="020B0604020202020204" pitchFamily="34" charset="0"/>
                        </a:rPr>
                        <a:t>, under one umbrella, Achilles can unlock additional savings through an enterprise agreement (e.g. Azure Enterprise Agreement).</a:t>
                      </a:r>
                    </a:p>
                  </a:txBody>
                  <a:tcPr marL="182880" marR="182880" marT="91440" marB="9144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bl>
          </a:graphicData>
        </a:graphic>
      </p:graphicFrame>
    </p:spTree>
    <p:extLst>
      <p:ext uri="{BB962C8B-B14F-4D97-AF65-F5344CB8AC3E}">
        <p14:creationId xmlns:p14="http://schemas.microsoft.com/office/powerpoint/2010/main" val="3216070146"/>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78CF76-206A-B357-C0D6-0A038337A7C1}"/>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2FF85DF5-3BA8-A710-7C74-D10D8EFB2B9B}"/>
              </a:ext>
            </a:extLst>
          </p:cNvPr>
          <p:cNvSpPr>
            <a:spLocks noGrp="1"/>
          </p:cNvSpPr>
          <p:nvPr>
            <p:ph type="title"/>
          </p:nvPr>
        </p:nvSpPr>
        <p:spPr>
          <a:xfrm>
            <a:off x="668992" y="537179"/>
            <a:ext cx="22991108" cy="968086"/>
          </a:xfrm>
        </p:spPr>
        <p:txBody>
          <a:bodyPr/>
          <a:lstStyle/>
          <a:p>
            <a:r>
              <a:rPr lang="en-US"/>
              <a:t>Cloud Decision Matrix: </a:t>
            </a:r>
            <a:r>
              <a:rPr lang="en-GB" b="1"/>
              <a:t>Security/Compliance</a:t>
            </a:r>
            <a:endParaRPr lang="en-AE"/>
          </a:p>
        </p:txBody>
      </p:sp>
      <p:graphicFrame>
        <p:nvGraphicFramePr>
          <p:cNvPr id="3" name="Table 2">
            <a:extLst>
              <a:ext uri="{FF2B5EF4-FFF2-40B4-BE49-F238E27FC236}">
                <a16:creationId xmlns:a16="http://schemas.microsoft.com/office/drawing/2014/main" id="{F9328354-1337-0619-2483-148F992E1AAA}"/>
              </a:ext>
            </a:extLst>
          </p:cNvPr>
          <p:cNvGraphicFramePr>
            <a:graphicFrameLocks noGrp="1"/>
          </p:cNvGraphicFramePr>
          <p:nvPr/>
        </p:nvGraphicFramePr>
        <p:xfrm>
          <a:off x="504400" y="2350916"/>
          <a:ext cx="23040000" cy="10317480"/>
        </p:xfrm>
        <a:graphic>
          <a:graphicData uri="http://schemas.openxmlformats.org/drawingml/2006/table">
            <a:tbl>
              <a:tblPr firstRow="1">
                <a:tableStyleId>{5C22544A-7EE6-4342-B048-85BDC9FD1C3A}</a:tableStyleId>
              </a:tblPr>
              <a:tblGrid>
                <a:gridCol w="1997338">
                  <a:extLst>
                    <a:ext uri="{9D8B030D-6E8A-4147-A177-3AD203B41FA5}">
                      <a16:colId xmlns:a16="http://schemas.microsoft.com/office/drawing/2014/main" val="705894732"/>
                    </a:ext>
                  </a:extLst>
                </a:gridCol>
                <a:gridCol w="3720324">
                  <a:extLst>
                    <a:ext uri="{9D8B030D-6E8A-4147-A177-3AD203B41FA5}">
                      <a16:colId xmlns:a16="http://schemas.microsoft.com/office/drawing/2014/main" val="1274403685"/>
                    </a:ext>
                  </a:extLst>
                </a:gridCol>
                <a:gridCol w="1342968">
                  <a:extLst>
                    <a:ext uri="{9D8B030D-6E8A-4147-A177-3AD203B41FA5}">
                      <a16:colId xmlns:a16="http://schemas.microsoft.com/office/drawing/2014/main" val="659719172"/>
                    </a:ext>
                  </a:extLst>
                </a:gridCol>
                <a:gridCol w="1128872">
                  <a:extLst>
                    <a:ext uri="{9D8B030D-6E8A-4147-A177-3AD203B41FA5}">
                      <a16:colId xmlns:a16="http://schemas.microsoft.com/office/drawing/2014/main" val="1525111598"/>
                    </a:ext>
                  </a:extLst>
                </a:gridCol>
                <a:gridCol w="8116196">
                  <a:extLst>
                    <a:ext uri="{9D8B030D-6E8A-4147-A177-3AD203B41FA5}">
                      <a16:colId xmlns:a16="http://schemas.microsoft.com/office/drawing/2014/main" val="1887819977"/>
                    </a:ext>
                  </a:extLst>
                </a:gridCol>
                <a:gridCol w="6734302">
                  <a:extLst>
                    <a:ext uri="{9D8B030D-6E8A-4147-A177-3AD203B41FA5}">
                      <a16:colId xmlns:a16="http://schemas.microsoft.com/office/drawing/2014/main" val="1590687815"/>
                    </a:ext>
                  </a:extLst>
                </a:gridCol>
              </a:tblGrid>
              <a:tr h="731520">
                <a:tc>
                  <a:txBody>
                    <a:bodyPr/>
                    <a:lstStyle/>
                    <a:p>
                      <a:pPr algn="ctr" rtl="0" fontAlgn="ctr"/>
                      <a:r>
                        <a:rPr lang="en-GB" sz="1800" b="1" i="0" u="none" strike="noStrike">
                          <a:solidFill>
                            <a:schemeClr val="tx1"/>
                          </a:solidFill>
                          <a:effectLst/>
                          <a:latin typeface="Arial" panose="020B0604020202020204" pitchFamily="34" charset="0"/>
                        </a:rPr>
                        <a:t>Criteria</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Measurement</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AWS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Azure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Assessment</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1800" kern="100">
                          <a:solidFill>
                            <a:schemeClr val="tx1"/>
                          </a:solidFill>
                          <a:effectLst/>
                          <a:latin typeface="+mn-lt"/>
                          <a:ea typeface="Calibri"/>
                          <a:cs typeface="Times New Roman"/>
                        </a:rPr>
                        <a:t>Conclusions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2457450">
                <a:tc>
                  <a:txBody>
                    <a:bodyPr/>
                    <a:lstStyle/>
                    <a:p>
                      <a:pPr algn="ctr" rtl="0" fontAlgn="t"/>
                      <a:r>
                        <a:rPr lang="en-GB" sz="1600" b="0" i="0" u="none" strike="noStrike">
                          <a:effectLst/>
                          <a:latin typeface="Arial" panose="020B0604020202020204" pitchFamily="34" charset="0"/>
                        </a:rPr>
                        <a:t>Certifications &amp; Standards</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Evaluate the provider’s certifications (ISO 27001, SOC 2, PCI DSS) and regulatory compliance (e.g., GDPR, HIPAA, CCPA) with industry and regional requirements.</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AWS complies with over 100 certifications globally, including ISO 27001, PCI DSS, and GDPR. This broad compliance ensures suitability for regulated industries like healthcare and finance. AWS Artifact provides access to security and compliance reports. Reports highlight AWS as the leader in certifications for financial services. Azure matches AWS with certifications such as ISO 27001, HIPAA, SOC 2, and GDPR. Additionally, Azure offers unique solutions for government agencies (e.g., Azure Government). Reports show Azure's compliance offerings are particularly strong for public sector customers in the US and Europe.</a:t>
                      </a:r>
                    </a:p>
                    <a:p>
                      <a:pPr algn="l" rtl="0" fontAlgn="t"/>
                      <a:endParaRPr lang="en-GB" sz="1600" b="0" i="0" u="none" strike="noStrike">
                        <a:effectLst/>
                        <a:latin typeface="Arial" panose="020B0604020202020204" pitchFamily="34" charset="0"/>
                      </a:endParaRP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is required to comply with ISO 27001 and SOC 2, and both hyperscalers offer robust solutions to facilitate seamless compliance, ensuring that these requirements can be easily met.</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2213610">
                <a:tc>
                  <a:txBody>
                    <a:bodyPr/>
                    <a:lstStyle/>
                    <a:p>
                      <a:pPr algn="ctr" rtl="0" fontAlgn="t"/>
                      <a:r>
                        <a:rPr lang="en-GB" sz="1600" b="0" i="0" u="none" strike="noStrike">
                          <a:effectLst/>
                          <a:latin typeface="Arial" panose="020B0604020202020204" pitchFamily="34" charset="0"/>
                        </a:rPr>
                        <a:t>Data Privacy</a:t>
                      </a:r>
                      <a:br>
                        <a:rPr lang="en-GB" sz="1600" b="0" i="0" u="none" strike="noStrike">
                          <a:effectLst/>
                          <a:latin typeface="Arial" panose="020B0604020202020204" pitchFamily="34" charset="0"/>
                        </a:rPr>
                      </a:br>
                      <a:r>
                        <a:rPr lang="en-GB" sz="1600" b="0" i="0" u="none" strike="noStrike">
                          <a:effectLst/>
                          <a:latin typeface="Arial" panose="020B0604020202020204" pitchFamily="34" charset="0"/>
                        </a:rPr>
                        <a:t>(Residency &amp; Sovereignty)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Assess the provider’s ability to ensure data residency and adherence to data sovereignty laws, including the geographic locations where data is stored and processed.</a:t>
                      </a:r>
                      <a:br>
                        <a:rPr lang="en-GB" sz="1600" b="0" i="0" u="none" strike="noStrike">
                          <a:effectLst/>
                          <a:latin typeface="Arial" panose="020B0604020202020204" pitchFamily="34" charset="0"/>
                        </a:rPr>
                      </a:br>
                      <a:endParaRPr lang="en-GB" sz="1600" b="0" i="0" u="none" strike="noStrike">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AWS enables data residency through its regions and availability zones but lacks specific sovereignty programs compared to Azure. AWS's data residency guarantees comply with GDPR, but sovereignty programs (like AWS Outposts) require additional configurations. Azure emphasizes sovereignty with initiatives like EU Data Boundary for Azure. Microsoft’s compliance offerings are tailored for regions with strict sovereignty laws. Microsoft's Sovereign Cloud programs for EU countries offer guarantees about data processing locations.</a:t>
                      </a:r>
                      <a:br>
                        <a:rPr lang="en-GB" sz="1600" b="0" i="0" u="none" strike="noStrike">
                          <a:effectLst/>
                          <a:latin typeface="Arial" panose="020B0604020202020204" pitchFamily="34" charset="0"/>
                        </a:rPr>
                      </a:br>
                      <a:endParaRPr lang="en-GB" sz="1600" b="0" i="0" u="none" strike="noStrike">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requires hosting its data in one of the following European regions: Spain, France, Germany, or Ireland. Both AWS and Azure offer these regions. Microsoft has a more established presence in Germany with its sovereign cloud region, which could be advantageous if Achilles decides to leverage this region for specific compliance requirements or engagements with EU government entities.</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2945130">
                <a:tc>
                  <a:txBody>
                    <a:bodyPr/>
                    <a:lstStyle/>
                    <a:p>
                      <a:pPr algn="ctr" rtl="0" fontAlgn="t"/>
                      <a:r>
                        <a:rPr lang="en-GB" sz="1600" b="0" i="0" u="none" strike="noStrike">
                          <a:effectLst/>
                          <a:latin typeface="Arial" panose="020B0604020202020204" pitchFamily="34" charset="0"/>
                        </a:rPr>
                        <a:t>Platform Capability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Evaluate the built-in security features (e.g., encryption, IAM, threat detection, DDoS protection) that help ensure the security and compliance of workloads. Measure the strength of the ecosystem, including third-party integrations and tools (e.g., SIEMs, backup solutions, threat intelligence) for added security and compliance support. [Continuous compliance monitoring]</a:t>
                      </a:r>
                    </a:p>
                    <a:p>
                      <a:pPr algn="l" rtl="0" fontAlgn="t"/>
                      <a:endParaRPr lang="en-GB" sz="1600" b="0" i="0" u="none" strike="noStrike">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AWS provides a broad range of security features and services, including IAM, encryption, network security (VPC, firewalls), and advanced monitoring (GuardDuty, Macie). However, it requires expertise to configure optimally and manage effectively, which might be a challenge for some organizations. Azure offers strong security capabilities like Azure AD (Entra), Security Center, Key Vault, and Sentinel. It is particularly effective in environments already using Microsoft products, though non-Microsoft integrations may require additional customization.</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existing operational security tools (e.g., Qualys, Taegis) are easily portable to the cloud. Microsoft offers a strong, compatible platform that integrates seamlessly with Achilles' current identity provider (Active Directory).</a:t>
                      </a:r>
                      <a:br>
                        <a:rPr lang="en-GB" sz="1600" b="0" i="0" u="none" strike="noStrike">
                          <a:solidFill>
                            <a:srgbClr val="C00000"/>
                          </a:solidFill>
                          <a:effectLst/>
                          <a:latin typeface="Arial" panose="020B0604020202020204" pitchFamily="34" charset="0"/>
                        </a:rPr>
                      </a:br>
                      <a:r>
                        <a:rPr lang="en-GB" sz="1600" b="0" i="0" u="sng" strike="noStrike">
                          <a:solidFill>
                            <a:srgbClr val="C00000"/>
                          </a:solidFill>
                          <a:effectLst/>
                          <a:latin typeface="Arial" panose="020B0604020202020204" pitchFamily="34" charset="0"/>
                        </a:rPr>
                        <a:t>For more details, please refer to the security recommendations report.</a:t>
                      </a:r>
                      <a:endParaRPr lang="en-GB" sz="1600" b="0" i="0" u="none" strike="noStrike">
                        <a:solidFill>
                          <a:srgbClr val="C00000"/>
                        </a:solidFill>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1969770">
                <a:tc>
                  <a:txBody>
                    <a:bodyPr/>
                    <a:lstStyle/>
                    <a:p>
                      <a:pPr algn="ctr" rtl="0" fontAlgn="t"/>
                      <a:r>
                        <a:rPr lang="en-GB" sz="1600" b="0" i="0" u="none" strike="noStrike">
                          <a:effectLst/>
                          <a:latin typeface="Arial" panose="020B0604020202020204" pitchFamily="34" charset="0"/>
                        </a:rPr>
                        <a:t>Platform Maturity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Assess the maturity of the cloud platform (years of operation, stability, regions maturity) and region-specific reliability (service availability, historical performance) to ensure stability and operational reliability.</a:t>
                      </a:r>
                    </a:p>
                    <a:p>
                      <a:pPr algn="l" rtl="0" fontAlgn="t"/>
                      <a:endParaRPr lang="en-GB" sz="1600" b="0" i="0" u="none" strike="noStrike">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rtl="0" fontAlgn="t"/>
                      <a:r>
                        <a:rPr lang="en-GB" sz="1600" b="0" i="0" u="none" strike="noStrike">
                          <a:effectLst/>
                          <a:latin typeface="Arial" panose="020B0604020202020204" pitchFamily="34" charset="0"/>
                        </a:rPr>
                        <a:t>As the first major cloud provider, AWS has unmatched operational experience and feature depth. AWS's uptime history and service portfolio are the most extensive in the industry. Azure is mature but less established than AWS for non-Microsoft-centric workloads. Industry reports highlight Azure’s strength in hybrid environments but note occasional service disruptions.</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Please refer to the security recommendations report.</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1907309"/>
                  </a:ext>
                </a:extLst>
              </a:tr>
            </a:tbl>
          </a:graphicData>
        </a:graphic>
      </p:graphicFrame>
    </p:spTree>
    <p:extLst>
      <p:ext uri="{BB962C8B-B14F-4D97-AF65-F5344CB8AC3E}">
        <p14:creationId xmlns:p14="http://schemas.microsoft.com/office/powerpoint/2010/main" val="241121373"/>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641EB0-722E-5AD2-B481-ADDD89F2512D}"/>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D34F9246-9390-2E71-8E54-C05C6E3A521D}"/>
              </a:ext>
            </a:extLst>
          </p:cNvPr>
          <p:cNvSpPr>
            <a:spLocks noGrp="1"/>
          </p:cNvSpPr>
          <p:nvPr>
            <p:ph type="title"/>
          </p:nvPr>
        </p:nvSpPr>
        <p:spPr>
          <a:xfrm>
            <a:off x="668992" y="537179"/>
            <a:ext cx="22991108" cy="968086"/>
          </a:xfrm>
        </p:spPr>
        <p:txBody>
          <a:bodyPr/>
          <a:lstStyle/>
          <a:p>
            <a:r>
              <a:rPr lang="en-US"/>
              <a:t>Cloud Decision Matrix: </a:t>
            </a:r>
            <a:r>
              <a:rPr lang="en-GB" b="1"/>
              <a:t>Scalability</a:t>
            </a:r>
            <a:endParaRPr lang="en-AE"/>
          </a:p>
        </p:txBody>
      </p:sp>
      <p:graphicFrame>
        <p:nvGraphicFramePr>
          <p:cNvPr id="3" name="Table 2">
            <a:extLst>
              <a:ext uri="{FF2B5EF4-FFF2-40B4-BE49-F238E27FC236}">
                <a16:creationId xmlns:a16="http://schemas.microsoft.com/office/drawing/2014/main" id="{C9CCFE5D-FD25-D0F7-12FE-B69772572D61}"/>
              </a:ext>
            </a:extLst>
          </p:cNvPr>
          <p:cNvGraphicFramePr>
            <a:graphicFrameLocks noGrp="1"/>
          </p:cNvGraphicFramePr>
          <p:nvPr/>
        </p:nvGraphicFramePr>
        <p:xfrm>
          <a:off x="504400" y="2350917"/>
          <a:ext cx="23040000" cy="7725770"/>
        </p:xfrm>
        <a:graphic>
          <a:graphicData uri="http://schemas.openxmlformats.org/drawingml/2006/table">
            <a:tbl>
              <a:tblPr firstRow="1">
                <a:tableStyleId>{5C22544A-7EE6-4342-B048-85BDC9FD1C3A}</a:tableStyleId>
              </a:tblPr>
              <a:tblGrid>
                <a:gridCol w="1997338">
                  <a:extLst>
                    <a:ext uri="{9D8B030D-6E8A-4147-A177-3AD203B41FA5}">
                      <a16:colId xmlns:a16="http://schemas.microsoft.com/office/drawing/2014/main" val="705894732"/>
                    </a:ext>
                  </a:extLst>
                </a:gridCol>
                <a:gridCol w="3720324">
                  <a:extLst>
                    <a:ext uri="{9D8B030D-6E8A-4147-A177-3AD203B41FA5}">
                      <a16:colId xmlns:a16="http://schemas.microsoft.com/office/drawing/2014/main" val="1274403685"/>
                    </a:ext>
                  </a:extLst>
                </a:gridCol>
                <a:gridCol w="1342968">
                  <a:extLst>
                    <a:ext uri="{9D8B030D-6E8A-4147-A177-3AD203B41FA5}">
                      <a16:colId xmlns:a16="http://schemas.microsoft.com/office/drawing/2014/main" val="659719172"/>
                    </a:ext>
                  </a:extLst>
                </a:gridCol>
                <a:gridCol w="1128872">
                  <a:extLst>
                    <a:ext uri="{9D8B030D-6E8A-4147-A177-3AD203B41FA5}">
                      <a16:colId xmlns:a16="http://schemas.microsoft.com/office/drawing/2014/main" val="1525111598"/>
                    </a:ext>
                  </a:extLst>
                </a:gridCol>
                <a:gridCol w="8116196">
                  <a:extLst>
                    <a:ext uri="{9D8B030D-6E8A-4147-A177-3AD203B41FA5}">
                      <a16:colId xmlns:a16="http://schemas.microsoft.com/office/drawing/2014/main" val="1887819977"/>
                    </a:ext>
                  </a:extLst>
                </a:gridCol>
                <a:gridCol w="6734302">
                  <a:extLst>
                    <a:ext uri="{9D8B030D-6E8A-4147-A177-3AD203B41FA5}">
                      <a16:colId xmlns:a16="http://schemas.microsoft.com/office/drawing/2014/main" val="1590687815"/>
                    </a:ext>
                  </a:extLst>
                </a:gridCol>
              </a:tblGrid>
              <a:tr h="792810">
                <a:tc>
                  <a:txBody>
                    <a:bodyPr/>
                    <a:lstStyle/>
                    <a:p>
                      <a:pPr algn="ctr" rtl="0" fontAlgn="ctr"/>
                      <a:r>
                        <a:rPr lang="en-GB" sz="1800" b="1" i="0" u="none" strike="noStrike">
                          <a:solidFill>
                            <a:schemeClr val="tx1"/>
                          </a:solidFill>
                          <a:effectLst/>
                          <a:latin typeface="Arial" panose="020B0604020202020204" pitchFamily="34" charset="0"/>
                        </a:rPr>
                        <a:t>Criteria</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Measurement</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AWS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Azure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Assessment</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1800" kern="100">
                          <a:solidFill>
                            <a:schemeClr val="tx1"/>
                          </a:solidFill>
                          <a:effectLst/>
                          <a:latin typeface="+mn-lt"/>
                          <a:ea typeface="Calibri"/>
                          <a:cs typeface="Times New Roman"/>
                        </a:rPr>
                        <a:t>Conclusions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1606266">
                <a:tc>
                  <a:txBody>
                    <a:bodyPr/>
                    <a:lstStyle/>
                    <a:p>
                      <a:pPr algn="ctr" rtl="0" fontAlgn="t"/>
                      <a:r>
                        <a:rPr lang="en-GB" sz="1600" b="0" i="0" u="none" strike="noStrike">
                          <a:effectLst/>
                          <a:latin typeface="Arial" panose="020B0604020202020204" pitchFamily="34" charset="0"/>
                        </a:rPr>
                        <a:t>Global Reach</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Measure the provider’s geographic footprint and ability to maintain high performance and availability globally, including disaster recovery.</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rtl="0" fontAlgn="t"/>
                      <a:r>
                        <a:rPr lang="en-GB" sz="1600" b="0" i="0" u="none" strike="noStrike">
                          <a:effectLst/>
                          <a:latin typeface="Arial" panose="020B0604020202020204" pitchFamily="34" charset="0"/>
                        </a:rPr>
                        <a:t>AWS has 32 regions and 102 availability zones globally (as of 2024), offering unparalleled global coverage. AWS is the go-to for multinational organizations requiring global presence. Azure operates in 60+ regions but has fewer availability zones than AWS, slightly limiting redundancy options. Microsoft's expansion strategy has focused more on localized sovereignty than redundancy.</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has a wide range of cloud region options globally. Its main platform, myAchilles, can be deployed across multiple regions, benefiting from low latency and faster time-to-market to meet business needs and respond to customer demands.</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3456158">
                <a:tc>
                  <a:txBody>
                    <a:bodyPr/>
                    <a:lstStyle/>
                    <a:p>
                      <a:pPr algn="ctr" rtl="0" fontAlgn="t"/>
                      <a:r>
                        <a:rPr lang="en-GB" sz="1600" b="0" i="0" u="none" strike="noStrike">
                          <a:effectLst/>
                          <a:latin typeface="Arial" panose="020B0604020202020204" pitchFamily="34" charset="0"/>
                        </a:rPr>
                        <a:t>Elasticity and Autoscaling</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Assess the provider’s ability to dynamically scale resources based on demand, optimizing performance and cost.</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rtl="0" fontAlgn="t"/>
                      <a:r>
                        <a:rPr lang="en-GB" sz="1600" b="0" i="0" u="none" strike="noStrike">
                          <a:effectLst/>
                          <a:latin typeface="Arial" panose="020B0604020202020204" pitchFamily="34" charset="0"/>
                        </a:rPr>
                        <a:t>AWS offers advanced scaling options, including predictive scaling powered by AI. AWS Auto Scaling supports granular, real-time adjustments based on demand. Azure’s scaling features are robust but require more manual configurations in some scenarios. Azure Autoscale is less intuitive compared to AWS predictive scaling. </a:t>
                      </a:r>
                      <a:br>
                        <a:rPr lang="en-GB" sz="1600" b="0" i="0" u="none" strike="noStrike">
                          <a:effectLst/>
                          <a:latin typeface="Arial" panose="020B0604020202020204" pitchFamily="34" charset="0"/>
                        </a:rPr>
                      </a:br>
                      <a:br>
                        <a:rPr lang="en-GB" sz="1600" b="0" i="0" u="none" strike="noStrike">
                          <a:effectLst/>
                          <a:latin typeface="Arial" panose="020B0604020202020204" pitchFamily="34" charset="0"/>
                        </a:rPr>
                      </a:br>
                      <a:r>
                        <a:rPr lang="en-GB" sz="1600" b="0" i="1" u="none" strike="noStrike">
                          <a:effectLst/>
                          <a:latin typeface="Arial" panose="020B0604020202020204" pitchFamily="34" charset="0"/>
                        </a:rPr>
                        <a:t>(Gartner) Capacity shortages in multiple Azure regions in the U.S. and Europe. Capacity shortfalls have led to offering restrictions in the West Europe (Amsterdam) and South Central U.S. (Texas) regions. Uneven availability of Azure capacity can make it more difficult for customers to deploy new workloads or implement failover strategies for existing workloads. </a:t>
                      </a:r>
                      <a:br>
                        <a:rPr lang="en-GB" sz="1600" b="0" i="1" u="none" strike="noStrike">
                          <a:effectLst/>
                          <a:latin typeface="Arial" panose="020B0604020202020204" pitchFamily="34" charset="0"/>
                        </a:rPr>
                      </a:br>
                      <a:r>
                        <a:rPr lang="en-GB" sz="1600" b="0" i="1" u="none" strike="noStrike">
                          <a:effectLst/>
                          <a:latin typeface="Arial" panose="020B0604020202020204" pitchFamily="34" charset="0"/>
                        </a:rPr>
                        <a:t>https://www.maginative.com/article/microsoft-taps-oracle-cloud-infrastructure-to-support-explosive-growth-of-ai-services/</a:t>
                      </a:r>
                      <a:endParaRPr lang="en-GB" sz="1600" b="0" i="0" u="none" strike="noStrike">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Although both AWS and Azure offer robust auto-scaling capabilities, Achilles is less likely to face capacity shortages or issues on AWS. This helps ensure that its core platform remains available during peak demand.</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1870536">
                <a:tc>
                  <a:txBody>
                    <a:bodyPr/>
                    <a:lstStyle/>
                    <a:p>
                      <a:pPr algn="ctr" rtl="0" fontAlgn="t"/>
                      <a:r>
                        <a:rPr lang="en-GB" sz="1600" b="0" i="0" u="none" strike="noStrike">
                          <a:effectLst/>
                          <a:latin typeface="Arial" panose="020B0604020202020204" pitchFamily="34" charset="0"/>
                        </a:rPr>
                        <a:t>Control and Manageability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Evaluate tools for managing and controlling resource scaling, including automation and governance features to prevent unplanned scaling.</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Both AWS and Azure offer comprehensive autoscaling and cost management mechanisms to control resource sprawl and optimize associated costs. </a:t>
                      </a:r>
                      <a:br>
                        <a:rPr lang="en-GB" sz="1600" b="0" i="0" u="none" strike="noStrike">
                          <a:effectLst/>
                          <a:latin typeface="Arial" panose="020B0604020202020204" pitchFamily="34" charset="0"/>
                        </a:rPr>
                      </a:br>
                      <a:r>
                        <a:rPr lang="en-GB" sz="1600" b="0" i="0" u="sng" strike="noStrike">
                          <a:effectLst/>
                          <a:latin typeface="Arial" panose="020B0604020202020204" pitchFamily="34" charset="0"/>
                        </a:rPr>
                        <a:t>AWS services</a:t>
                      </a:r>
                      <a:r>
                        <a:rPr lang="en-GB" sz="1600" b="0" i="0" u="none" strike="noStrike">
                          <a:effectLst/>
                          <a:latin typeface="Arial" panose="020B0604020202020204" pitchFamily="34" charset="0"/>
                        </a:rPr>
                        <a:t> : AWS Auto Scaling, AWS Cost Explorer, AWS Budgets, AWS Config.</a:t>
                      </a:r>
                      <a:br>
                        <a:rPr lang="en-GB" sz="1600" b="0" i="0" u="none" strike="noStrike">
                          <a:effectLst/>
                          <a:latin typeface="Arial" panose="020B0604020202020204" pitchFamily="34" charset="0"/>
                        </a:rPr>
                      </a:br>
                      <a:r>
                        <a:rPr lang="en-GB" sz="1600" b="0" i="0" u="sng" strike="noStrike">
                          <a:effectLst/>
                          <a:latin typeface="Arial" panose="020B0604020202020204" pitchFamily="34" charset="0"/>
                        </a:rPr>
                        <a:t>Azure services</a:t>
                      </a:r>
                      <a:r>
                        <a:rPr lang="en-GB" sz="1600" b="0" i="0" u="none" strike="noStrike">
                          <a:effectLst/>
                          <a:latin typeface="Arial" panose="020B0604020202020204" pitchFamily="34" charset="0"/>
                        </a:rPr>
                        <a:t>: Azure VM ScaleSet, Azure Cost Management and Budgets, Azure Policy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team has emphasized the need for effective scaling mechanisms while maintaining tight control over resource provisioning to ensure cost efficiency.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bl>
          </a:graphicData>
        </a:graphic>
      </p:graphicFrame>
    </p:spTree>
    <p:extLst>
      <p:ext uri="{BB962C8B-B14F-4D97-AF65-F5344CB8AC3E}">
        <p14:creationId xmlns:p14="http://schemas.microsoft.com/office/powerpoint/2010/main" val="2767129247"/>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CB5EA0-9C13-F919-C04F-B4B53C555846}"/>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5B669AA1-DAF8-3E6F-9A3E-CE74DBB1DA39}"/>
              </a:ext>
            </a:extLst>
          </p:cNvPr>
          <p:cNvSpPr>
            <a:spLocks noGrp="1"/>
          </p:cNvSpPr>
          <p:nvPr>
            <p:ph type="title"/>
          </p:nvPr>
        </p:nvSpPr>
        <p:spPr>
          <a:xfrm>
            <a:off x="668992" y="537179"/>
            <a:ext cx="22991108" cy="968086"/>
          </a:xfrm>
        </p:spPr>
        <p:txBody>
          <a:bodyPr/>
          <a:lstStyle/>
          <a:p>
            <a:r>
              <a:rPr lang="en-US"/>
              <a:t>Cloud Decision Matrix: </a:t>
            </a:r>
            <a:r>
              <a:rPr lang="en-GB" b="1"/>
              <a:t>Reliability (1)</a:t>
            </a:r>
            <a:endParaRPr lang="en-AE"/>
          </a:p>
        </p:txBody>
      </p:sp>
      <p:graphicFrame>
        <p:nvGraphicFramePr>
          <p:cNvPr id="3" name="Table 2">
            <a:extLst>
              <a:ext uri="{FF2B5EF4-FFF2-40B4-BE49-F238E27FC236}">
                <a16:creationId xmlns:a16="http://schemas.microsoft.com/office/drawing/2014/main" id="{CB030377-11C2-2717-2156-6CAC78B67492}"/>
              </a:ext>
            </a:extLst>
          </p:cNvPr>
          <p:cNvGraphicFramePr>
            <a:graphicFrameLocks noGrp="1"/>
          </p:cNvGraphicFramePr>
          <p:nvPr/>
        </p:nvGraphicFramePr>
        <p:xfrm>
          <a:off x="504400" y="2350916"/>
          <a:ext cx="23040000" cy="7967472"/>
        </p:xfrm>
        <a:graphic>
          <a:graphicData uri="http://schemas.openxmlformats.org/drawingml/2006/table">
            <a:tbl>
              <a:tblPr firstRow="1">
                <a:tableStyleId>{5C22544A-7EE6-4342-B048-85BDC9FD1C3A}</a:tableStyleId>
              </a:tblPr>
              <a:tblGrid>
                <a:gridCol w="1997338">
                  <a:extLst>
                    <a:ext uri="{9D8B030D-6E8A-4147-A177-3AD203B41FA5}">
                      <a16:colId xmlns:a16="http://schemas.microsoft.com/office/drawing/2014/main" val="705894732"/>
                    </a:ext>
                  </a:extLst>
                </a:gridCol>
                <a:gridCol w="3720324">
                  <a:extLst>
                    <a:ext uri="{9D8B030D-6E8A-4147-A177-3AD203B41FA5}">
                      <a16:colId xmlns:a16="http://schemas.microsoft.com/office/drawing/2014/main" val="1274403685"/>
                    </a:ext>
                  </a:extLst>
                </a:gridCol>
                <a:gridCol w="1342968">
                  <a:extLst>
                    <a:ext uri="{9D8B030D-6E8A-4147-A177-3AD203B41FA5}">
                      <a16:colId xmlns:a16="http://schemas.microsoft.com/office/drawing/2014/main" val="659719172"/>
                    </a:ext>
                  </a:extLst>
                </a:gridCol>
                <a:gridCol w="1128872">
                  <a:extLst>
                    <a:ext uri="{9D8B030D-6E8A-4147-A177-3AD203B41FA5}">
                      <a16:colId xmlns:a16="http://schemas.microsoft.com/office/drawing/2014/main" val="1525111598"/>
                    </a:ext>
                  </a:extLst>
                </a:gridCol>
                <a:gridCol w="8116196">
                  <a:extLst>
                    <a:ext uri="{9D8B030D-6E8A-4147-A177-3AD203B41FA5}">
                      <a16:colId xmlns:a16="http://schemas.microsoft.com/office/drawing/2014/main" val="1887819977"/>
                    </a:ext>
                  </a:extLst>
                </a:gridCol>
                <a:gridCol w="6734302">
                  <a:extLst>
                    <a:ext uri="{9D8B030D-6E8A-4147-A177-3AD203B41FA5}">
                      <a16:colId xmlns:a16="http://schemas.microsoft.com/office/drawing/2014/main" val="1590687815"/>
                    </a:ext>
                  </a:extLst>
                </a:gridCol>
              </a:tblGrid>
              <a:tr h="792810">
                <a:tc>
                  <a:txBody>
                    <a:bodyPr/>
                    <a:lstStyle/>
                    <a:p>
                      <a:pPr algn="ctr" rtl="0" fontAlgn="ctr"/>
                      <a:r>
                        <a:rPr lang="en-GB" sz="1800" b="1" i="0" u="none" strike="noStrike">
                          <a:solidFill>
                            <a:schemeClr val="tx1"/>
                          </a:solidFill>
                          <a:effectLst/>
                          <a:latin typeface="Arial" panose="020B0604020202020204" pitchFamily="34" charset="0"/>
                        </a:rPr>
                        <a:t>Criteria</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Measurement</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AWS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Azure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Assessment</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1800" kern="100">
                          <a:solidFill>
                            <a:schemeClr val="tx1"/>
                          </a:solidFill>
                          <a:effectLst/>
                          <a:latin typeface="+mn-lt"/>
                          <a:ea typeface="Calibri"/>
                          <a:cs typeface="Times New Roman"/>
                        </a:rPr>
                        <a:t>Conclusions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2213610">
                <a:tc>
                  <a:txBody>
                    <a:bodyPr/>
                    <a:lstStyle/>
                    <a:p>
                      <a:pPr algn="ctr" rtl="0" fontAlgn="t"/>
                      <a:r>
                        <a:rPr lang="en-GB" sz="1600" b="0" i="0" u="none" strike="noStrike">
                          <a:effectLst/>
                          <a:latin typeface="Arial" panose="020B0604020202020204" pitchFamily="34" charset="0"/>
                        </a:rPr>
                        <a:t>Service Level Agreements (SLA)</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Measure the provider's SLAs for uptime, including availability guarantees, performance benchmarks, and the provider’s commitments in case of downtime.</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AWS provides high SLAs (e.g., 99.99% uptime for critical services like EC2 and RDS). However, meeting these SLAs often requires deploying services across multiple regions, which increases cost and complexity. AWS provides detailed SLA guarantees but notes that most services only achieve full SLA compliance when designed with redundancy. Azure offers comparable SLAs to AWS for core services, but customers report service outages more frequently in certain regions. Reports from independent reviews highlight Azure’s SLA commitments but note variability in actual uptime across some regions.</a:t>
                      </a:r>
                      <a:br>
                        <a:rPr lang="en-GB" sz="1600" b="0" i="0" u="none" strike="noStrike">
                          <a:effectLst/>
                          <a:latin typeface="Arial" panose="020B0604020202020204" pitchFamily="34" charset="0"/>
                        </a:rPr>
                      </a:br>
                      <a:endParaRPr lang="en-GB" sz="1600" b="0" i="0" u="none" strike="noStrike">
                        <a:effectLst/>
                        <a:latin typeface="Arial" panose="020B0604020202020204" pitchFamily="34" charset="0"/>
                      </a:endParaRP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is guaranteed favorable SLAs and consistent performance on AWS, particularly if the application architecture is well-designed to be zone-redundant or multi-region. Additionally, Achilles will be eligible for compensation credits if the hyperscaler fails to meet its SLAs.</a:t>
                      </a:r>
                      <a:br>
                        <a:rPr lang="en-GB" sz="1600" b="0" i="0" u="none" strike="noStrike">
                          <a:solidFill>
                            <a:srgbClr val="C00000"/>
                          </a:solidFill>
                          <a:effectLst/>
                          <a:latin typeface="Arial" panose="020B0604020202020204" pitchFamily="34" charset="0"/>
                        </a:rPr>
                      </a:br>
                      <a:br>
                        <a:rPr lang="en-GB" sz="1600" b="0" i="0" u="none" strike="noStrike">
                          <a:solidFill>
                            <a:srgbClr val="C00000"/>
                          </a:solidFill>
                          <a:effectLst/>
                          <a:latin typeface="Arial" panose="020B0604020202020204" pitchFamily="34" charset="0"/>
                        </a:rPr>
                      </a:br>
                      <a:r>
                        <a:rPr lang="en-GB" sz="1600" b="0" i="0" u="none" strike="noStrike">
                          <a:solidFill>
                            <a:srgbClr val="C00000"/>
                          </a:solidFill>
                          <a:effectLst/>
                          <a:latin typeface="Arial" panose="020B0604020202020204" pitchFamily="34" charset="0"/>
                        </a:rPr>
                        <a:t>Achilles can rely on SLAs for availability and durability that match or surpass those of their current third party suppliers.</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2259762">
                <a:tc>
                  <a:txBody>
                    <a:bodyPr/>
                    <a:lstStyle/>
                    <a:p>
                      <a:pPr algn="ctr" rtl="0" fontAlgn="t"/>
                      <a:r>
                        <a:rPr lang="en-GB" sz="1600" b="0" i="0" u="none" strike="noStrike">
                          <a:effectLst/>
                          <a:latin typeface="Arial" panose="020B0604020202020204" pitchFamily="34" charset="0"/>
                        </a:rPr>
                        <a:t>Data Durability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Evaluate the provider’s data durability features, such as number of copies, replication across regions or availability zones to ensure the integrity of data over time.</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rtl="0" fontAlgn="t"/>
                      <a:r>
                        <a:rPr lang="en-GB" sz="1600" b="0" i="0" u="none" strike="noStrike">
                          <a:effectLst/>
                          <a:latin typeface="Arial" panose="020B0604020202020204" pitchFamily="34" charset="0"/>
                        </a:rPr>
                        <a:t>AWS storage services like S3 and Glacier offer eleven 9s (99.999999999%) of durability, which is unmatched in the industry. AWS’s replication options (e.g., S3 Cross-Region Replication) provide extremely robust durability guarantees for long-term storage. Azure Storage offers durability options similar to AWS but with fewer guarantees for certain configurations. Azure's Locally Redundant Storage (LRS) is strong but lacks the multi-region durability guarantees that AWS’s standard configurations provide.</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can rely on SLAs for availability and durability that match or surpass those of their current third party suppliers.</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2701290">
                <a:tc>
                  <a:txBody>
                    <a:bodyPr/>
                    <a:lstStyle/>
                    <a:p>
                      <a:pPr algn="ctr" rtl="0" fontAlgn="t"/>
                      <a:r>
                        <a:rPr lang="en-GB" sz="1600" b="0" i="0" u="none" strike="noStrike">
                          <a:effectLst/>
                          <a:latin typeface="Arial" panose="020B0604020202020204" pitchFamily="34" charset="0"/>
                        </a:rPr>
                        <a:t>Backup and Recovery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Measure the provider’s backup solutions, including frequency, data retention policies, and geographical replication to ensure data integrity and availability in case of failure. [User Capabilities, Tooling, Monitoring]</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AWS Backup provides automated solutions that integrate with a wide range of services, offering policy-driven management. Its ecosystem supports granular recovery options. Enterprises highlight AWS’s consistency and ease of backup automation, especially for compliance-heavy workloads. Azure Backup is strong but focuses more on Microsoft-centric workloads. It requires additional configurations for non-Microsoft environments. Azure Site Recovery is a popular feature, but limited cross-service integration has been noted as a drawback.</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requires database backups to be retained for up to 7 years. Currently, backups are synced internally, and Lumen uses Veritas Backup Exec to store them on tapes, which are then sent to Iron Mountain for offsite storage and management, providing secure tape management and data restoration services.</a:t>
                      </a:r>
                      <a:br>
                        <a:rPr lang="en-GB" sz="1600" b="0" i="0" u="none" strike="noStrike">
                          <a:solidFill>
                            <a:srgbClr val="C00000"/>
                          </a:solidFill>
                          <a:effectLst/>
                          <a:latin typeface="Arial" panose="020B0604020202020204" pitchFamily="34" charset="0"/>
                        </a:rPr>
                      </a:br>
                      <a:br>
                        <a:rPr lang="en-GB" sz="1600" b="0" i="0" u="none" strike="noStrike">
                          <a:solidFill>
                            <a:srgbClr val="C00000"/>
                          </a:solidFill>
                          <a:effectLst/>
                          <a:latin typeface="Arial" panose="020B0604020202020204" pitchFamily="34" charset="0"/>
                        </a:rPr>
                      </a:br>
                      <a:r>
                        <a:rPr lang="en-GB" sz="1600" b="0" i="0" u="none" strike="noStrike">
                          <a:solidFill>
                            <a:srgbClr val="C00000"/>
                          </a:solidFill>
                          <a:effectLst/>
                          <a:latin typeface="Arial" panose="020B0604020202020204" pitchFamily="34" charset="0"/>
                        </a:rPr>
                        <a:t>Achilles can transition to using native cloud backups, eliminating the need for third-party services. This approach offers lower storage costs, built-in redundancy across multiple locations, enhanced durability, and support for various backup methods (file, block, etc.), along with archive mechanisms for long-term retention.</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bl>
          </a:graphicData>
        </a:graphic>
      </p:graphicFrame>
    </p:spTree>
    <p:extLst>
      <p:ext uri="{BB962C8B-B14F-4D97-AF65-F5344CB8AC3E}">
        <p14:creationId xmlns:p14="http://schemas.microsoft.com/office/powerpoint/2010/main" val="34574956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8FA8DB-E46A-5AB2-6CF7-524780A2DE31}"/>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AE3FE38A-4291-669E-ABF3-381EDD8D0FF5}"/>
              </a:ext>
            </a:extLst>
          </p:cNvPr>
          <p:cNvSpPr>
            <a:spLocks noGrp="1"/>
          </p:cNvSpPr>
          <p:nvPr>
            <p:ph type="title"/>
          </p:nvPr>
        </p:nvSpPr>
        <p:spPr>
          <a:xfrm>
            <a:off x="668992" y="537179"/>
            <a:ext cx="22991108" cy="968086"/>
          </a:xfrm>
        </p:spPr>
        <p:txBody>
          <a:bodyPr/>
          <a:lstStyle/>
          <a:p>
            <a:r>
              <a:rPr lang="en-US"/>
              <a:t>Cloud Decision Matrix: </a:t>
            </a:r>
            <a:r>
              <a:rPr lang="en-GB" b="1"/>
              <a:t>Reliability (2)</a:t>
            </a:r>
            <a:endParaRPr lang="en-AE"/>
          </a:p>
        </p:txBody>
      </p:sp>
      <p:graphicFrame>
        <p:nvGraphicFramePr>
          <p:cNvPr id="3" name="Table 2">
            <a:extLst>
              <a:ext uri="{FF2B5EF4-FFF2-40B4-BE49-F238E27FC236}">
                <a16:creationId xmlns:a16="http://schemas.microsoft.com/office/drawing/2014/main" id="{7198E832-EA6D-2709-817F-866DF3BB263A}"/>
              </a:ext>
            </a:extLst>
          </p:cNvPr>
          <p:cNvGraphicFramePr>
            <a:graphicFrameLocks noGrp="1"/>
          </p:cNvGraphicFramePr>
          <p:nvPr/>
        </p:nvGraphicFramePr>
        <p:xfrm>
          <a:off x="504400" y="2350916"/>
          <a:ext cx="23040000" cy="9872040"/>
        </p:xfrm>
        <a:graphic>
          <a:graphicData uri="http://schemas.openxmlformats.org/drawingml/2006/table">
            <a:tbl>
              <a:tblPr firstRow="1">
                <a:tableStyleId>{5C22544A-7EE6-4342-B048-85BDC9FD1C3A}</a:tableStyleId>
              </a:tblPr>
              <a:tblGrid>
                <a:gridCol w="1997338">
                  <a:extLst>
                    <a:ext uri="{9D8B030D-6E8A-4147-A177-3AD203B41FA5}">
                      <a16:colId xmlns:a16="http://schemas.microsoft.com/office/drawing/2014/main" val="705894732"/>
                    </a:ext>
                  </a:extLst>
                </a:gridCol>
                <a:gridCol w="3720324">
                  <a:extLst>
                    <a:ext uri="{9D8B030D-6E8A-4147-A177-3AD203B41FA5}">
                      <a16:colId xmlns:a16="http://schemas.microsoft.com/office/drawing/2014/main" val="1274403685"/>
                    </a:ext>
                  </a:extLst>
                </a:gridCol>
                <a:gridCol w="1342968">
                  <a:extLst>
                    <a:ext uri="{9D8B030D-6E8A-4147-A177-3AD203B41FA5}">
                      <a16:colId xmlns:a16="http://schemas.microsoft.com/office/drawing/2014/main" val="659719172"/>
                    </a:ext>
                  </a:extLst>
                </a:gridCol>
                <a:gridCol w="1128872">
                  <a:extLst>
                    <a:ext uri="{9D8B030D-6E8A-4147-A177-3AD203B41FA5}">
                      <a16:colId xmlns:a16="http://schemas.microsoft.com/office/drawing/2014/main" val="1525111598"/>
                    </a:ext>
                  </a:extLst>
                </a:gridCol>
                <a:gridCol w="8116196">
                  <a:extLst>
                    <a:ext uri="{9D8B030D-6E8A-4147-A177-3AD203B41FA5}">
                      <a16:colId xmlns:a16="http://schemas.microsoft.com/office/drawing/2014/main" val="1887819977"/>
                    </a:ext>
                  </a:extLst>
                </a:gridCol>
                <a:gridCol w="6734302">
                  <a:extLst>
                    <a:ext uri="{9D8B030D-6E8A-4147-A177-3AD203B41FA5}">
                      <a16:colId xmlns:a16="http://schemas.microsoft.com/office/drawing/2014/main" val="1590687815"/>
                    </a:ext>
                  </a:extLst>
                </a:gridCol>
              </a:tblGrid>
              <a:tr h="792810">
                <a:tc>
                  <a:txBody>
                    <a:bodyPr/>
                    <a:lstStyle/>
                    <a:p>
                      <a:pPr algn="ctr" rtl="0" fontAlgn="ctr"/>
                      <a:r>
                        <a:rPr lang="en-GB" sz="1800" b="1" i="0" u="none" strike="noStrike">
                          <a:solidFill>
                            <a:schemeClr val="tx1"/>
                          </a:solidFill>
                          <a:effectLst/>
                          <a:latin typeface="Arial" panose="020B0604020202020204" pitchFamily="34" charset="0"/>
                        </a:rPr>
                        <a:t>Criteria</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Measurement</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AWS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Azure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Assessment</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1800" kern="100">
                          <a:solidFill>
                            <a:schemeClr val="tx1"/>
                          </a:solidFill>
                          <a:effectLst/>
                          <a:latin typeface="+mn-lt"/>
                          <a:ea typeface="Calibri"/>
                          <a:cs typeface="Times New Roman"/>
                        </a:rPr>
                        <a:t>Conclusions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2213610">
                <a:tc>
                  <a:txBody>
                    <a:bodyPr/>
                    <a:lstStyle/>
                    <a:p>
                      <a:pPr algn="ctr" rtl="0" fontAlgn="t"/>
                      <a:r>
                        <a:rPr lang="en-GB" sz="1600" b="0" i="0" u="none" strike="noStrike">
                          <a:effectLst/>
                          <a:latin typeface="Arial" panose="020B0604020202020204" pitchFamily="34" charset="0"/>
                        </a:rPr>
                        <a:t>Disaster Recovery</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Assess the provider’s disaster recovery capabilities, including recovery time objectives (RTO), recovery point objectives (RPO), and the strategies in place for business continuity. [User Capabilities, Tooling, Monitoring]</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AWS provides comprehensive disaster recovery (DR) options, including cross-region replication and DR as a service (e.g., CloudEndure DR). Gartner praises AWS’s advanced DR offerings for their global reach and flexibility. Azure offers strong DR capabilities, particularly for hybrid deployments. However, Azure's multi-region setups are not as seamless as AWS. Reports highlight Azure's hybrid disaster recovery strengths but note higher complexity for global setups.</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endParaRPr lang="en-GB" sz="1600" b="0" i="0" u="none" strike="noStrike">
                        <a:solidFill>
                          <a:srgbClr val="C00000"/>
                        </a:solidFill>
                        <a:effectLst/>
                        <a:latin typeface="Arial" panose="020B0604020202020204" pitchFamily="34" charset="0"/>
                      </a:endParaRPr>
                    </a:p>
                    <a:p>
                      <a:pPr algn="l" rtl="0" fontAlgn="t"/>
                      <a:r>
                        <a:rPr lang="en-GB" sz="1600" b="0" i="0" u="none" strike="noStrike">
                          <a:solidFill>
                            <a:srgbClr val="C00000"/>
                          </a:solidFill>
                          <a:effectLst/>
                          <a:latin typeface="Arial" panose="020B0604020202020204" pitchFamily="34" charset="0"/>
                        </a:rPr>
                        <a:t>Best practice is to conduct DR testing at least once a year per security and organizational policies. Achilles currently uses SQL, Neo4j, and DFSR native replications to replicate data to AWS.</a:t>
                      </a:r>
                      <a:br>
                        <a:rPr lang="en-GB" sz="1600" b="0" i="0" u="none" strike="noStrike">
                          <a:solidFill>
                            <a:srgbClr val="C00000"/>
                          </a:solidFill>
                          <a:effectLst/>
                          <a:latin typeface="Arial" panose="020B0604020202020204" pitchFamily="34" charset="0"/>
                        </a:rPr>
                      </a:br>
                      <a:br>
                        <a:rPr lang="en-GB" sz="1600" b="0" i="0" u="none" strike="noStrike">
                          <a:solidFill>
                            <a:srgbClr val="C00000"/>
                          </a:solidFill>
                          <a:effectLst/>
                          <a:latin typeface="Arial" panose="020B0604020202020204" pitchFamily="34" charset="0"/>
                        </a:rPr>
                      </a:br>
                      <a:r>
                        <a:rPr lang="en-GB" sz="1600" b="0" i="0" u="none" strike="noStrike">
                          <a:solidFill>
                            <a:srgbClr val="C00000"/>
                          </a:solidFill>
                          <a:effectLst/>
                          <a:latin typeface="Arial" panose="020B0604020202020204" pitchFamily="34" charset="0"/>
                        </a:rPr>
                        <a:t>Achilles can leverage advanced disaster recovery (DR) capabilities, including drills and testing, from both hyperscalers, ensuring no disruption to their business operations.</a:t>
                      </a:r>
                    </a:p>
                    <a:p>
                      <a:pPr algn="l" rtl="0" fontAlgn="t"/>
                      <a:endParaRPr lang="en-GB" sz="1600" b="0" i="0" u="none" strike="noStrike">
                        <a:solidFill>
                          <a:srgbClr val="C00000"/>
                        </a:solidFill>
                        <a:effectLst/>
                        <a:latin typeface="Arial" panose="020B0604020202020204" pitchFamily="34" charset="0"/>
                      </a:endParaRP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49986960"/>
                  </a:ext>
                </a:extLst>
              </a:tr>
              <a:tr h="2457450">
                <a:tc>
                  <a:txBody>
                    <a:bodyPr/>
                    <a:lstStyle/>
                    <a:p>
                      <a:pPr algn="ctr" rtl="0" fontAlgn="t"/>
                      <a:r>
                        <a:rPr lang="en-GB" sz="1600" b="0" i="0" u="none" strike="noStrike">
                          <a:effectLst/>
                          <a:latin typeface="Arial" panose="020B0604020202020204" pitchFamily="34" charset="0"/>
                        </a:rPr>
                        <a:t>Track Record</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Review the provider’s historical reliability, including past incidents, downtime frequency, and response time to service disruptions to gauge long-term stability.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AWS has consistently demonstrated reliable uptime and service stability over its 15+ years of operation. Numerous benchmarks place AWS at the top for reliability. Azure has improved significantly over the years but has faced notable outages in some regions. Reviews show that Azure's incident response times are slower in specific geographies compared to AWS. Azure appears to have had more outages than AWS.</a:t>
                      </a:r>
                      <a:br>
                        <a:rPr lang="en-GB" sz="1600" b="0" i="0" u="none" strike="noStrike">
                          <a:effectLst/>
                          <a:latin typeface="Arial" panose="020B0604020202020204" pitchFamily="34" charset="0"/>
                        </a:rPr>
                      </a:br>
                      <a:br>
                        <a:rPr lang="en-GB" sz="1600" b="0" i="0" u="none" strike="noStrike">
                          <a:effectLst/>
                          <a:latin typeface="Arial" panose="020B0604020202020204" pitchFamily="34" charset="0"/>
                        </a:rPr>
                      </a:br>
                      <a:r>
                        <a:rPr lang="en-GB" sz="1600" b="0" i="0" u="none" strike="noStrike">
                          <a:effectLst/>
                          <a:latin typeface="Arial" panose="020B0604020202020204" pitchFamily="34" charset="0"/>
                          <a:hlinkClick r:id="rId2"/>
                        </a:rPr>
                        <a:t>https://aws.amazon.com/premiumsupport/technology/pes/</a:t>
                      </a:r>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hlinkClick r:id="rId3"/>
                        </a:rPr>
                        <a:t>https://azure.status.microsoft/en-us/status/history/</a:t>
                      </a:r>
                      <a:endParaRPr lang="en-GB" sz="1600" b="0" i="0" u="none" strike="noStrike">
                        <a:effectLst/>
                        <a:latin typeface="Arial" panose="020B0604020202020204" pitchFamily="34" charset="0"/>
                      </a:endParaRPr>
                    </a:p>
                    <a:p>
                      <a:pPr algn="l" rtl="0" fontAlgn="t"/>
                      <a:endParaRPr lang="en-GB" sz="1600" b="0" i="0" u="none" strike="noStrike">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In the past year, Achilles has experienced muliple outages, particularly impacting their myAchilles application, with core platform downtime occurring three times in the last nine months. To ensure better service availability and operational reliability, Achilles can leverage AWS’s robust global infrastructure, which has consistently demonstrated higher resiliency and lower downtime compared to other cloud providers.</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1424089"/>
                  </a:ext>
                </a:extLst>
              </a:tr>
              <a:tr h="4408170">
                <a:tc>
                  <a:txBody>
                    <a:bodyPr/>
                    <a:lstStyle/>
                    <a:p>
                      <a:pPr algn="ctr" rtl="0" fontAlgn="t"/>
                      <a:r>
                        <a:rPr lang="en-GB" sz="1600" b="0" i="0" u="none" strike="noStrike">
                          <a:effectLst/>
                          <a:latin typeface="Arial" panose="020B0604020202020204" pitchFamily="34" charset="0"/>
                        </a:rPr>
                        <a:t>Control and Manageability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Evaluate the platform health, security monitoring and compliance features provided by the cloud platform, including tools for continuous monitoring of security threats and compliance with regulatory standards. Ensuring that the platform can proactively address security risks while maintaining operational reliability.</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AWS provides mature management tools, such as AWS Management Console, AWS CloudFormation, Health, and Service Catalog, to ensure fine-grained control. Organizations appreciate the depth of AWS’s monitoring and logging options (e.g., CloudWatch). Azure provides comparable management tools like Azure Monitor and Azure Resource Manager (ARM). However, customers report that certain features lack the same depth as AWS’s equivalents. Feedback highlights Azure's easier integration with Microsoft environments but notes limitations in multi-cloud monitoring.</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endParaRPr lang="en-GB" sz="1600" b="0" i="0" u="none" strike="noStrike">
                        <a:solidFill>
                          <a:srgbClr val="C00000"/>
                        </a:solidFill>
                        <a:effectLst/>
                        <a:latin typeface="Arial" panose="020B0604020202020204" pitchFamily="34" charset="0"/>
                      </a:endParaRPr>
                    </a:p>
                    <a:p>
                      <a:pPr algn="l" rtl="0" fontAlgn="t"/>
                      <a:r>
                        <a:rPr lang="en-GB" sz="1600" b="0" i="0" u="none" strike="noStrike">
                          <a:solidFill>
                            <a:srgbClr val="C00000"/>
                          </a:solidFill>
                          <a:effectLst/>
                          <a:latin typeface="Arial" panose="020B0604020202020204" pitchFamily="34" charset="0"/>
                        </a:rPr>
                        <a:t>Achilles currently uses </a:t>
                      </a:r>
                      <a:r>
                        <a:rPr lang="en-GB" sz="1600" b="0" i="0" u="sng" strike="noStrike">
                          <a:solidFill>
                            <a:srgbClr val="C00000"/>
                          </a:solidFill>
                          <a:effectLst/>
                          <a:latin typeface="Arial" panose="020B0604020202020204" pitchFamily="34" charset="0"/>
                        </a:rPr>
                        <a:t>Nagios</a:t>
                      </a:r>
                      <a:r>
                        <a:rPr lang="en-GB" sz="1600" b="0" i="0" u="none" strike="noStrike">
                          <a:solidFill>
                            <a:srgbClr val="C00000"/>
                          </a:solidFill>
                          <a:effectLst/>
                          <a:latin typeface="Arial" panose="020B0604020202020204" pitchFamily="34" charset="0"/>
                        </a:rPr>
                        <a:t> for monitoring, which is deployed on their internal Virtual Servers and managed entirely by their infrastructure team, with licensing renewed annually. Additionally, they use </a:t>
                      </a:r>
                      <a:r>
                        <a:rPr lang="en-GB" sz="1600" b="0" i="0" u="sng" strike="noStrike">
                          <a:solidFill>
                            <a:srgbClr val="C00000"/>
                          </a:solidFill>
                          <a:effectLst/>
                          <a:latin typeface="Arial" panose="020B0604020202020204" pitchFamily="34" charset="0"/>
                        </a:rPr>
                        <a:t>Dynatrace</a:t>
                      </a:r>
                      <a:r>
                        <a:rPr lang="en-GB" sz="1600" b="0" i="0" u="none" strike="noStrike">
                          <a:solidFill>
                            <a:srgbClr val="C00000"/>
                          </a:solidFill>
                          <a:effectLst/>
                          <a:latin typeface="Arial" panose="020B0604020202020204" pitchFamily="34" charset="0"/>
                        </a:rPr>
                        <a:t>, which is managed and licensed through Colt, but due to the high annual fees, there is an intention to phase it out. Achilles is actively working on replacing Dynatrace with an ELK stack. The migration to ELK is expected to be completed in the next few months, potentially before this migration project. Achilles relies on Lumen's proprietary monitoring tool, </a:t>
                      </a:r>
                      <a:r>
                        <a:rPr lang="en-GB" sz="1600" b="0" i="0" u="sng" strike="noStrike">
                          <a:solidFill>
                            <a:srgbClr val="C00000"/>
                          </a:solidFill>
                          <a:effectLst/>
                          <a:latin typeface="Arial" panose="020B0604020202020204" pitchFamily="34" charset="0"/>
                        </a:rPr>
                        <a:t>SIA </a:t>
                      </a:r>
                      <a:r>
                        <a:rPr lang="en-GB" sz="1600" b="0" i="0" u="none" strike="noStrike">
                          <a:solidFill>
                            <a:srgbClr val="C00000"/>
                          </a:solidFill>
                          <a:effectLst/>
                          <a:latin typeface="Arial" panose="020B0604020202020204" pitchFamily="34" charset="0"/>
                        </a:rPr>
                        <a:t>(Service Intelligence for Applications), to oversee their production and staging environments.</a:t>
                      </a:r>
                      <a:br>
                        <a:rPr lang="en-GB" sz="1600" b="0" i="0" u="none" strike="noStrike">
                          <a:solidFill>
                            <a:srgbClr val="C00000"/>
                          </a:solidFill>
                          <a:effectLst/>
                          <a:latin typeface="Arial" panose="020B0604020202020204" pitchFamily="34" charset="0"/>
                        </a:rPr>
                      </a:br>
                      <a:br>
                        <a:rPr lang="en-GB" sz="1600" b="0" i="0" u="none" strike="noStrike">
                          <a:solidFill>
                            <a:srgbClr val="C00000"/>
                          </a:solidFill>
                          <a:effectLst/>
                          <a:latin typeface="Arial" panose="020B0604020202020204" pitchFamily="34" charset="0"/>
                        </a:rPr>
                      </a:br>
                      <a:r>
                        <a:rPr lang="en-GB" sz="1600" b="0" i="0" u="none" strike="noStrike">
                          <a:solidFill>
                            <a:srgbClr val="C00000"/>
                          </a:solidFill>
                          <a:effectLst/>
                          <a:latin typeface="Arial" panose="020B0604020202020204" pitchFamily="34" charset="0"/>
                        </a:rPr>
                        <a:t>Achilles can seamlessly integrate their existing monitoring tools into either cloud while also having the option to utilize the cloud's robust and extensive native services. By adopting the IaaS model, they can retain their current tools and/or easily integrate open-source solutions like the Elasticsearch stack.</a:t>
                      </a:r>
                    </a:p>
                    <a:p>
                      <a:pPr algn="l" rtl="0" fontAlgn="t"/>
                      <a:endParaRPr lang="en-GB" sz="1600" b="0" i="0" u="none" strike="noStrike">
                        <a:solidFill>
                          <a:srgbClr val="C00000"/>
                        </a:solidFill>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61648517"/>
                  </a:ext>
                </a:extLst>
              </a:tr>
            </a:tbl>
          </a:graphicData>
        </a:graphic>
      </p:graphicFrame>
    </p:spTree>
    <p:extLst>
      <p:ext uri="{BB962C8B-B14F-4D97-AF65-F5344CB8AC3E}">
        <p14:creationId xmlns:p14="http://schemas.microsoft.com/office/powerpoint/2010/main" val="338052436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99D97B-B496-3DD7-25D8-231EA5585227}"/>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97491A83-8731-D4A5-D0B1-2356D2E5CCC2}"/>
              </a:ext>
            </a:extLst>
          </p:cNvPr>
          <p:cNvSpPr>
            <a:spLocks noGrp="1"/>
          </p:cNvSpPr>
          <p:nvPr>
            <p:ph type="title"/>
          </p:nvPr>
        </p:nvSpPr>
        <p:spPr>
          <a:xfrm>
            <a:off x="668992" y="537179"/>
            <a:ext cx="22991108" cy="968086"/>
          </a:xfrm>
        </p:spPr>
        <p:txBody>
          <a:bodyPr/>
          <a:lstStyle/>
          <a:p>
            <a:r>
              <a:rPr lang="en-US"/>
              <a:t>Cloud Decision Matrix: </a:t>
            </a:r>
            <a:r>
              <a:rPr lang="en-GB" b="1"/>
              <a:t>Security/Compliance</a:t>
            </a:r>
            <a:endParaRPr lang="en-AE"/>
          </a:p>
        </p:txBody>
      </p:sp>
      <p:graphicFrame>
        <p:nvGraphicFramePr>
          <p:cNvPr id="3" name="Table 2">
            <a:extLst>
              <a:ext uri="{FF2B5EF4-FFF2-40B4-BE49-F238E27FC236}">
                <a16:creationId xmlns:a16="http://schemas.microsoft.com/office/drawing/2014/main" id="{5B40697F-FF39-9CFC-D7CF-4C36654BC59F}"/>
              </a:ext>
            </a:extLst>
          </p:cNvPr>
          <p:cNvGraphicFramePr>
            <a:graphicFrameLocks noGrp="1"/>
          </p:cNvGraphicFramePr>
          <p:nvPr/>
        </p:nvGraphicFramePr>
        <p:xfrm>
          <a:off x="504400" y="2350917"/>
          <a:ext cx="23040000" cy="10457974"/>
        </p:xfrm>
        <a:graphic>
          <a:graphicData uri="http://schemas.openxmlformats.org/drawingml/2006/table">
            <a:tbl>
              <a:tblPr firstRow="1">
                <a:tableStyleId>{5C22544A-7EE6-4342-B048-85BDC9FD1C3A}</a:tableStyleId>
              </a:tblPr>
              <a:tblGrid>
                <a:gridCol w="1997338">
                  <a:extLst>
                    <a:ext uri="{9D8B030D-6E8A-4147-A177-3AD203B41FA5}">
                      <a16:colId xmlns:a16="http://schemas.microsoft.com/office/drawing/2014/main" val="705894732"/>
                    </a:ext>
                  </a:extLst>
                </a:gridCol>
                <a:gridCol w="3720324">
                  <a:extLst>
                    <a:ext uri="{9D8B030D-6E8A-4147-A177-3AD203B41FA5}">
                      <a16:colId xmlns:a16="http://schemas.microsoft.com/office/drawing/2014/main" val="1274403685"/>
                    </a:ext>
                  </a:extLst>
                </a:gridCol>
                <a:gridCol w="1342968">
                  <a:extLst>
                    <a:ext uri="{9D8B030D-6E8A-4147-A177-3AD203B41FA5}">
                      <a16:colId xmlns:a16="http://schemas.microsoft.com/office/drawing/2014/main" val="659719172"/>
                    </a:ext>
                  </a:extLst>
                </a:gridCol>
                <a:gridCol w="1128872">
                  <a:extLst>
                    <a:ext uri="{9D8B030D-6E8A-4147-A177-3AD203B41FA5}">
                      <a16:colId xmlns:a16="http://schemas.microsoft.com/office/drawing/2014/main" val="1525111598"/>
                    </a:ext>
                  </a:extLst>
                </a:gridCol>
                <a:gridCol w="8116196">
                  <a:extLst>
                    <a:ext uri="{9D8B030D-6E8A-4147-A177-3AD203B41FA5}">
                      <a16:colId xmlns:a16="http://schemas.microsoft.com/office/drawing/2014/main" val="1887819977"/>
                    </a:ext>
                  </a:extLst>
                </a:gridCol>
                <a:gridCol w="6734302">
                  <a:extLst>
                    <a:ext uri="{9D8B030D-6E8A-4147-A177-3AD203B41FA5}">
                      <a16:colId xmlns:a16="http://schemas.microsoft.com/office/drawing/2014/main" val="1590687815"/>
                    </a:ext>
                  </a:extLst>
                </a:gridCol>
              </a:tblGrid>
              <a:tr h="731520">
                <a:tc>
                  <a:txBody>
                    <a:bodyPr/>
                    <a:lstStyle/>
                    <a:p>
                      <a:pPr algn="ctr" rtl="0" fontAlgn="ctr"/>
                      <a:r>
                        <a:rPr lang="en-GB" sz="1800" b="1" i="0" u="none" strike="noStrike">
                          <a:solidFill>
                            <a:schemeClr val="tx1"/>
                          </a:solidFill>
                          <a:effectLst/>
                          <a:latin typeface="Arial" panose="020B0604020202020204" pitchFamily="34" charset="0"/>
                        </a:rPr>
                        <a:t>Criteria</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Measurement</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AWS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Azure Score</a:t>
                      </a:r>
                    </a:p>
                  </a:txBody>
                  <a:tcPr marL="182880" marR="182880" marT="91440" marB="91440" anchor="ctr">
                    <a:lnL w="12700" cmpd="sng">
                      <a:noFill/>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rtl="0" fontAlgn="ctr"/>
                      <a:r>
                        <a:rPr lang="en-GB" sz="1800" b="1" i="0" u="none" strike="noStrike">
                          <a:solidFill>
                            <a:schemeClr val="tx1"/>
                          </a:solidFill>
                          <a:effectLst/>
                          <a:latin typeface="Arial" panose="020B0604020202020204" pitchFamily="34" charset="0"/>
                        </a:rPr>
                        <a:t>Assessment</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1800" kern="100">
                          <a:solidFill>
                            <a:schemeClr val="tx1"/>
                          </a:solidFill>
                          <a:effectLst/>
                          <a:latin typeface="+mn-lt"/>
                          <a:ea typeface="Calibri"/>
                          <a:cs typeface="Times New Roman"/>
                        </a:rPr>
                        <a:t>Conclusions</a:t>
                      </a:r>
                    </a:p>
                  </a:txBody>
                  <a:tcPr marL="182880" marR="182880" marT="91440" marB="9144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866110780"/>
                  </a:ext>
                </a:extLst>
              </a:tr>
              <a:tr h="2701290">
                <a:tc>
                  <a:txBody>
                    <a:bodyPr/>
                    <a:lstStyle/>
                    <a:p>
                      <a:pPr algn="ctr" rtl="0" fontAlgn="t"/>
                      <a:r>
                        <a:rPr lang="en-GB" sz="1600" b="0" i="0" u="none" strike="noStrike">
                          <a:effectLst/>
                          <a:latin typeface="Arial" panose="020B0604020202020204" pitchFamily="34" charset="0"/>
                        </a:rPr>
                        <a:t>Business Fit and Alignment</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Assess how well the cloud platform aligns with the customer’s strategic goals, including its ability to support business growth, scalability, and future optimizations. The closer the alignment, the more the cloud can drive business efficiency and innovation.</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AWS is flexible and integrates well with a wide variety of business models and industries. Its vendor-neutral approach appeals to customers across domains. AWS's service catalogue supports businesses from startups to enterprises. Its AI/ML services are especially attractive to innovative organizations. Azure’s tight integration with Microsoft ecosystems makes it the ideal choice for enterprises reliant on Windows Server, SQL, and Microsoft 365. Gartner notes Azure’s exceptional alignment for businesses in traditional IT and hybrid cloud environments.</a:t>
                      </a: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endParaRPr lang="en-GB" sz="1600" b="0" i="0" u="none" strike="noStrike">
                        <a:solidFill>
                          <a:srgbClr val="C00000"/>
                        </a:solidFill>
                        <a:effectLst/>
                        <a:latin typeface="Arial" panose="020B0604020202020204" pitchFamily="34" charset="0"/>
                      </a:endParaRPr>
                    </a:p>
                    <a:p>
                      <a:pPr algn="l" rtl="0" fontAlgn="t"/>
                      <a:r>
                        <a:rPr lang="en-GB" sz="1600" b="0" i="0" u="none" strike="noStrike">
                          <a:solidFill>
                            <a:srgbClr val="C00000"/>
                          </a:solidFill>
                          <a:effectLst/>
                          <a:latin typeface="Arial" panose="020B0604020202020204" pitchFamily="34" charset="0"/>
                        </a:rPr>
                        <a:t>Achilles’ strategy for Phase 1 is a lift-and-shift approach, targeting the existing DCC/LPC </a:t>
                      </a:r>
                      <a:r>
                        <a:rPr lang="en-GB" sz="1600" b="0" i="0" u="none" strike="noStrike" err="1">
                          <a:solidFill>
                            <a:srgbClr val="C00000"/>
                          </a:solidFill>
                          <a:effectLst/>
                          <a:latin typeface="Arial" panose="020B0604020202020204" pitchFamily="34" charset="0"/>
                        </a:rPr>
                        <a:t>datacenters</a:t>
                      </a:r>
                      <a:r>
                        <a:rPr lang="en-GB" sz="1600" b="0" i="0" u="none" strike="noStrike">
                          <a:solidFill>
                            <a:srgbClr val="C00000"/>
                          </a:solidFill>
                          <a:effectLst/>
                          <a:latin typeface="Arial" panose="020B0604020202020204" pitchFamily="34" charset="0"/>
                        </a:rPr>
                        <a:t>. The primary objective is to preserve the current platform setup while enhancing performance, customer service quality, and service availability of their globally distributed core platform, </a:t>
                      </a:r>
                      <a:r>
                        <a:rPr lang="en-GB" sz="1600" b="0" i="0" u="sng" strike="noStrike" err="1">
                          <a:solidFill>
                            <a:srgbClr val="C00000"/>
                          </a:solidFill>
                          <a:effectLst/>
                          <a:latin typeface="Arial" panose="020B0604020202020204" pitchFamily="34" charset="0"/>
                        </a:rPr>
                        <a:t>MyAchilles</a:t>
                      </a:r>
                      <a:r>
                        <a:rPr lang="en-GB" sz="1600" b="0" i="0" u="none" strike="noStrike">
                          <a:solidFill>
                            <a:srgbClr val="C00000"/>
                          </a:solidFill>
                          <a:effectLst/>
                          <a:latin typeface="Arial" panose="020B0604020202020204" pitchFamily="34" charset="0"/>
                        </a:rPr>
                        <a:t>.</a:t>
                      </a:r>
                      <a:br>
                        <a:rPr lang="en-GB" sz="1600" b="0" i="0" u="none" strike="noStrike">
                          <a:solidFill>
                            <a:srgbClr val="C00000"/>
                          </a:solidFill>
                          <a:effectLst/>
                          <a:latin typeface="Arial" panose="020B0604020202020204" pitchFamily="34" charset="0"/>
                        </a:rPr>
                      </a:br>
                      <a:br>
                        <a:rPr lang="en-GB" sz="1600" b="0" i="0" u="none" strike="noStrike">
                          <a:solidFill>
                            <a:srgbClr val="C00000"/>
                          </a:solidFill>
                          <a:effectLst/>
                          <a:latin typeface="Arial" panose="020B0604020202020204" pitchFamily="34" charset="0"/>
                        </a:rPr>
                      </a:br>
                      <a:r>
                        <a:rPr lang="en-GB" sz="1600" b="0" i="0" u="none" strike="noStrike">
                          <a:solidFill>
                            <a:srgbClr val="C00000"/>
                          </a:solidFill>
                          <a:effectLst/>
                          <a:latin typeface="Arial" panose="020B0604020202020204" pitchFamily="34" charset="0"/>
                        </a:rPr>
                        <a:t>The goal is to maintain the platform as it is while improving performance, customer service quality, and service availability. This approach avoids disrupting the platform, which is globally distributed.</a:t>
                      </a:r>
                    </a:p>
                    <a:p>
                      <a:pPr algn="l" rtl="0" fontAlgn="t"/>
                      <a:endParaRPr lang="en-GB" sz="1600" b="0" i="0" u="none" strike="noStrike">
                        <a:solidFill>
                          <a:srgbClr val="C00000"/>
                        </a:solidFill>
                        <a:effectLst/>
                        <a:latin typeface="Arial" panose="020B0604020202020204" pitchFamily="34" charset="0"/>
                      </a:endParaRPr>
                    </a:p>
                  </a:txBody>
                  <a:tcPr marL="19050" marR="19050" marT="19050" marB="0" anchor="ct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67227886"/>
                  </a:ext>
                </a:extLst>
              </a:tr>
              <a:tr h="2354104">
                <a:tc>
                  <a:txBody>
                    <a:bodyPr/>
                    <a:lstStyle/>
                    <a:p>
                      <a:pPr algn="ctr" rtl="0" fontAlgn="t"/>
                      <a:r>
                        <a:rPr lang="en-GB" sz="1600" b="0" i="0" u="none" strike="noStrike">
                          <a:effectLst/>
                          <a:latin typeface="Arial" panose="020B0604020202020204" pitchFamily="34" charset="0"/>
                        </a:rPr>
                        <a:t>Effort to Achieve Readiness</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effectLst/>
                          <a:latin typeface="Arial" panose="020B0604020202020204" pitchFamily="34" charset="0"/>
                        </a:rPr>
                        <a:t>Assess the effort required to achieve cloud readiness, focusing on the preparation needed for security, tooling, governance, and developing in-house expertise. Minimizing this effort accelerates the overall cloud adoption process. [e.g. MRA, leverage cloud native features to build faster]</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AWS provides extensive documentation, tools, and training, but it may require steep learning curves for enterprises unfamiliar with cloud-native architectures. AWS’s Well-Architected Framework accelerates readiness but is more suited for experienced cloud teams. Azure offers a gentler learning curve for Microsoft-heavy organizations due to familiar interfaces and services. Enterprises transitioning from on-premises Microsoft workloads report shorter ramp-up times with Azure.</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infrastructure team has expertise in both cloud platforms and is well-versed in the Microsoft ecosystem, including SCOM, Microsoft SQL Server, and Azure DevOps.</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56160793"/>
                  </a:ext>
                </a:extLst>
              </a:tr>
              <a:tr h="2213610">
                <a:tc>
                  <a:txBody>
                    <a:bodyPr/>
                    <a:lstStyle/>
                    <a:p>
                      <a:pPr algn="ctr" rtl="0" fontAlgn="t"/>
                      <a:r>
                        <a:rPr lang="en-GB" sz="1600" b="0" i="0" u="none" strike="noStrike">
                          <a:effectLst/>
                          <a:latin typeface="Arial" panose="020B0604020202020204" pitchFamily="34" charset="0"/>
                        </a:rPr>
                        <a:t>Time To Migrate (TTM)</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Evaluate how quickly the cloud provider can support migration, considering the customer’s current technology landscape and skill sets. Faster migration paths are critical for operational efficiency and a shorter time-to-market.</a:t>
                      </a:r>
                    </a:p>
                    <a:p>
                      <a:pPr algn="l" rtl="0" fontAlgn="t"/>
                      <a:endParaRPr lang="en-GB" sz="1600" b="0" i="0" u="none" strike="noStrike">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4</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AWS supports fast migrations with tools like AWS Migration Hub, but readiness for non-cloud-native applications may take longer due to re-architecting needs. Case studies highlight AWS's success in rapid migrations but stress the complexity for legacy applications. Azure simplifies migration for Microsoft workloads, which dominate enterprise IT. Its integrated tools often reduce migration timelines. Azure’s Hybrid Benefit and pre-integrated migration tools significantly cut down migration time.</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aims to exit the LPC/DCC </a:t>
                      </a:r>
                      <a:r>
                        <a:rPr lang="en-GB" sz="1600" b="0" i="0" u="none" strike="noStrike" err="1">
                          <a:solidFill>
                            <a:srgbClr val="C00000"/>
                          </a:solidFill>
                          <a:effectLst/>
                          <a:latin typeface="Arial" panose="020B0604020202020204" pitchFamily="34" charset="0"/>
                        </a:rPr>
                        <a:t>datacenters</a:t>
                      </a:r>
                      <a:r>
                        <a:rPr lang="en-GB" sz="1600" b="0" i="0" u="none" strike="noStrike">
                          <a:solidFill>
                            <a:srgbClr val="C00000"/>
                          </a:solidFill>
                          <a:effectLst/>
                          <a:latin typeface="Arial" panose="020B0604020202020204" pitchFamily="34" charset="0"/>
                        </a:rPr>
                        <a:t> by early 2025, ahead of the contract expiration with Colt. They can confidently plan for a swift migration of their workloads to Azure, ensuring the data </a:t>
                      </a:r>
                      <a:r>
                        <a:rPr lang="en-GB" sz="1600" b="0" i="0" u="none" strike="noStrike" err="1">
                          <a:solidFill>
                            <a:srgbClr val="C00000"/>
                          </a:solidFill>
                          <a:effectLst/>
                          <a:latin typeface="Arial" panose="020B0604020202020204" pitchFamily="34" charset="0"/>
                        </a:rPr>
                        <a:t>centers</a:t>
                      </a:r>
                      <a:r>
                        <a:rPr lang="en-GB" sz="1600" b="0" i="0" u="none" strike="noStrike">
                          <a:solidFill>
                            <a:srgbClr val="C00000"/>
                          </a:solidFill>
                          <a:effectLst/>
                          <a:latin typeface="Arial" panose="020B0604020202020204" pitchFamily="34" charset="0"/>
                        </a:rPr>
                        <a:t> are decommissioned on schedule.</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238782"/>
                  </a:ext>
                </a:extLst>
              </a:tr>
              <a:tr h="2457450">
                <a:tc>
                  <a:txBody>
                    <a:bodyPr/>
                    <a:lstStyle/>
                    <a:p>
                      <a:pPr algn="ctr" rtl="0" fontAlgn="t"/>
                      <a:r>
                        <a:rPr lang="en-GB" sz="1600" b="0" i="0" u="none" strike="noStrike">
                          <a:effectLst/>
                          <a:latin typeface="Arial" panose="020B0604020202020204" pitchFamily="34" charset="0"/>
                        </a:rPr>
                        <a:t>Training and Certification</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endParaRPr lang="en-GB" sz="1600" b="0" i="0" u="none" strike="noStrike">
                        <a:effectLst/>
                        <a:latin typeface="Arial" panose="020B0604020202020204" pitchFamily="34" charset="0"/>
                      </a:endParaRPr>
                    </a:p>
                    <a:p>
                      <a:pPr algn="l" rtl="0" fontAlgn="t"/>
                      <a:r>
                        <a:rPr lang="en-GB" sz="1600" b="0" i="0" u="none" strike="noStrike">
                          <a:effectLst/>
                          <a:latin typeface="Arial" panose="020B0604020202020204" pitchFamily="34" charset="0"/>
                        </a:rPr>
                        <a:t>Evaluate the availability and quality of training materials, certification programs, and learning resources for cloud technologies. Access to comprehensive training programs and funding for certification ensures a skilled workforce capable of efficiently implementing and managing the cloud environment.</a:t>
                      </a:r>
                    </a:p>
                    <a:p>
                      <a:pPr algn="l" rtl="0" fontAlgn="t"/>
                      <a:endParaRPr lang="en-GB" sz="1600" b="0" i="0" u="none" strike="noStrike">
                        <a:effectLst/>
                        <a:latin typeface="Arial" panose="020B0604020202020204" pitchFamily="34" charset="0"/>
                      </a:endParaRP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rtl="0" fontAlgn="ctr"/>
                      <a:r>
                        <a:rPr lang="en-GB" sz="1600" b="1" i="0" u="none" strike="noStrike">
                          <a:effectLst/>
                          <a:latin typeface="Arial" panose="020B0604020202020204" pitchFamily="34" charset="0"/>
                        </a:rPr>
                        <a:t>5</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l" rtl="0" fontAlgn="t"/>
                      <a:r>
                        <a:rPr lang="en-GB" sz="1600" b="0" i="0" u="none" strike="noStrike">
                          <a:effectLst/>
                          <a:latin typeface="Arial" panose="020B0604020202020204" pitchFamily="34" charset="0"/>
                        </a:rPr>
                        <a:t>AWS’s extensive certification programs and training materials are globally recognized, making it easier to build in-house expertise. AWS certifications are consistently ranked among the most valuable IT certifications in the industry. Azure also offers a strong certification ecosystem, particularly for professionals already skilled in Microsoft tools. Enterprises report that Azure’s training programs align well with existing IT teams.</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rtl="0" fontAlgn="t"/>
                      <a:r>
                        <a:rPr lang="en-GB" sz="1600" b="0" i="0" u="none" strike="noStrike">
                          <a:solidFill>
                            <a:srgbClr val="C00000"/>
                          </a:solidFill>
                          <a:effectLst/>
                          <a:latin typeface="Arial" panose="020B0604020202020204" pitchFamily="34" charset="0"/>
                        </a:rPr>
                        <a:t>Achilles can effectively upskill its staff through extensive training resources and funding opportunities provided by both </a:t>
                      </a:r>
                      <a:r>
                        <a:rPr lang="en-GB" sz="1600" b="0" i="0" u="none" strike="noStrike" err="1">
                          <a:solidFill>
                            <a:srgbClr val="C00000"/>
                          </a:solidFill>
                          <a:effectLst/>
                          <a:latin typeface="Arial" panose="020B0604020202020204" pitchFamily="34" charset="0"/>
                        </a:rPr>
                        <a:t>hyperscalers</a:t>
                      </a:r>
                      <a:r>
                        <a:rPr lang="en-GB" sz="1600" b="0" i="0" u="none" strike="noStrike">
                          <a:solidFill>
                            <a:srgbClr val="C00000"/>
                          </a:solidFill>
                          <a:effectLst/>
                          <a:latin typeface="Arial" panose="020B0604020202020204" pitchFamily="34" charset="0"/>
                        </a:rPr>
                        <a:t>, including industry-recognized certifications, vouchers, and potential funding programs. With proper promotion, this initiative can also help Achilles attract top talent.</a:t>
                      </a:r>
                    </a:p>
                  </a:txBody>
                  <a:tcPr marL="19050" marR="19050" marT="1905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61319333"/>
                  </a:ext>
                </a:extLst>
              </a:tr>
            </a:tbl>
          </a:graphicData>
        </a:graphic>
      </p:graphicFrame>
    </p:spTree>
    <p:extLst>
      <p:ext uri="{BB962C8B-B14F-4D97-AF65-F5344CB8AC3E}">
        <p14:creationId xmlns:p14="http://schemas.microsoft.com/office/powerpoint/2010/main" val="403009695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48D53E-7AEB-C8F9-68DD-11B4A8BCED85}"/>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19FFAF11-C17B-237B-56EE-993ABAF1DF11}"/>
              </a:ext>
            </a:extLst>
          </p:cNvPr>
          <p:cNvSpPr>
            <a:spLocks noGrp="1"/>
          </p:cNvSpPr>
          <p:nvPr>
            <p:ph type="body" sz="quarter" idx="16"/>
          </p:nvPr>
        </p:nvSpPr>
        <p:spPr>
          <a:xfrm>
            <a:off x="10778439" y="2281161"/>
            <a:ext cx="11160126" cy="4200146"/>
          </a:xfrm>
        </p:spPr>
        <p:txBody>
          <a:bodyPr/>
          <a:lstStyle/>
          <a:p>
            <a:r>
              <a:rPr lang="en-US"/>
              <a:t>Appendix 4 – Cloud Centre of Excellence</a:t>
            </a:r>
          </a:p>
        </p:txBody>
      </p:sp>
    </p:spTree>
    <p:extLst>
      <p:ext uri="{BB962C8B-B14F-4D97-AF65-F5344CB8AC3E}">
        <p14:creationId xmlns:p14="http://schemas.microsoft.com/office/powerpoint/2010/main" val="375954852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Rectangle 87">
            <a:extLst>
              <a:ext uri="{FF2B5EF4-FFF2-40B4-BE49-F238E27FC236}">
                <a16:creationId xmlns:a16="http://schemas.microsoft.com/office/drawing/2014/main" id="{853143BF-80EA-CE7E-7A7E-687486567610}"/>
              </a:ext>
            </a:extLst>
          </p:cNvPr>
          <p:cNvSpPr/>
          <p:nvPr/>
        </p:nvSpPr>
        <p:spPr>
          <a:xfrm>
            <a:off x="723900" y="3772571"/>
            <a:ext cx="22991108" cy="956122"/>
          </a:xfrm>
          <a:prstGeom prst="rect">
            <a:avLst/>
          </a:prstGeom>
          <a:solidFill>
            <a:srgbClr val="000000"/>
          </a:solidFill>
          <a:ln w="12700" cap="flat" cmpd="sng" algn="ctr">
            <a:noFill/>
            <a:prstDash val="solid"/>
            <a:miter lim="800000"/>
          </a:ln>
          <a:effectLst/>
        </p:spPr>
        <p:txBody>
          <a:bodyPr rtlCol="0" anchor="ctr"/>
          <a:lstStyle/>
          <a:p>
            <a:pPr algn="ctr" defTabSz="1828800">
              <a:buClr>
                <a:srgbClr val="000000"/>
              </a:buClr>
              <a:defRPr/>
            </a:pPr>
            <a:r>
              <a:rPr lang="en-US" sz="3200" b="1" kern="0">
                <a:solidFill>
                  <a:srgbClr val="FFFFFF"/>
                </a:solidFill>
                <a:latin typeface="Arial"/>
                <a:sym typeface="Arial"/>
              </a:rPr>
              <a:t>Cloud Leadership Board</a:t>
            </a:r>
          </a:p>
        </p:txBody>
      </p:sp>
      <p:sp>
        <p:nvSpPr>
          <p:cNvPr id="89" name="TextBox 88">
            <a:extLst>
              <a:ext uri="{FF2B5EF4-FFF2-40B4-BE49-F238E27FC236}">
                <a16:creationId xmlns:a16="http://schemas.microsoft.com/office/drawing/2014/main" id="{AAB0670D-21D9-B299-FC64-E05C2CC8B718}"/>
              </a:ext>
            </a:extLst>
          </p:cNvPr>
          <p:cNvSpPr txBox="1"/>
          <p:nvPr/>
        </p:nvSpPr>
        <p:spPr>
          <a:xfrm>
            <a:off x="22246962" y="2482448"/>
            <a:ext cx="1546108" cy="769441"/>
          </a:xfrm>
          <a:prstGeom prst="rect">
            <a:avLst/>
          </a:prstGeom>
          <a:noFill/>
        </p:spPr>
        <p:txBody>
          <a:bodyPr wrap="square" rtlCol="0">
            <a:spAutoFit/>
          </a:bodyPr>
          <a:lstStyle/>
          <a:p>
            <a:pPr defTabSz="1828800">
              <a:buClr>
                <a:srgbClr val="000000"/>
              </a:buClr>
              <a:defRPr/>
            </a:pPr>
            <a:r>
              <a:rPr lang="en-US" sz="2200" kern="0">
                <a:solidFill>
                  <a:srgbClr val="000000"/>
                </a:solidFill>
                <a:latin typeface="Arial"/>
                <a:cs typeface="Arial"/>
                <a:sym typeface="Arial"/>
              </a:rPr>
              <a:t>Business </a:t>
            </a:r>
          </a:p>
          <a:p>
            <a:pPr defTabSz="1828800">
              <a:buClr>
                <a:srgbClr val="000000"/>
              </a:buClr>
              <a:defRPr/>
            </a:pPr>
            <a:r>
              <a:rPr lang="en-US" sz="2200" kern="0">
                <a:solidFill>
                  <a:srgbClr val="000000"/>
                </a:solidFill>
                <a:latin typeface="Arial"/>
                <a:cs typeface="Arial"/>
                <a:sym typeface="Arial"/>
              </a:rPr>
              <a:t>Units</a:t>
            </a:r>
          </a:p>
        </p:txBody>
      </p:sp>
      <p:grpSp>
        <p:nvGrpSpPr>
          <p:cNvPr id="90" name="Group 89">
            <a:extLst>
              <a:ext uri="{FF2B5EF4-FFF2-40B4-BE49-F238E27FC236}">
                <a16:creationId xmlns:a16="http://schemas.microsoft.com/office/drawing/2014/main" id="{5E710784-E5D2-F0BE-16EA-FA074964EEB7}"/>
              </a:ext>
            </a:extLst>
          </p:cNvPr>
          <p:cNvGrpSpPr/>
          <p:nvPr/>
        </p:nvGrpSpPr>
        <p:grpSpPr>
          <a:xfrm>
            <a:off x="723900" y="4916247"/>
            <a:ext cx="22913708" cy="6092546"/>
            <a:chOff x="119933" y="2582279"/>
            <a:chExt cx="11952134" cy="3046273"/>
          </a:xfrm>
        </p:grpSpPr>
        <p:sp>
          <p:nvSpPr>
            <p:cNvPr id="91" name="Rectangle 90">
              <a:extLst>
                <a:ext uri="{FF2B5EF4-FFF2-40B4-BE49-F238E27FC236}">
                  <a16:creationId xmlns:a16="http://schemas.microsoft.com/office/drawing/2014/main" id="{1DA7A73E-95C4-0197-2FA9-B268E65FD4A8}"/>
                </a:ext>
              </a:extLst>
            </p:cNvPr>
            <p:cNvSpPr/>
            <p:nvPr/>
          </p:nvSpPr>
          <p:spPr>
            <a:xfrm>
              <a:off x="119933" y="2582279"/>
              <a:ext cx="5560180" cy="3046273"/>
            </a:xfrm>
            <a:prstGeom prst="rect">
              <a:avLst/>
            </a:prstGeom>
            <a:solidFill>
              <a:srgbClr val="D8EBF9"/>
            </a:solidFill>
            <a:ln w="12700" cap="flat" cmpd="sng" algn="ctr">
              <a:noFill/>
              <a:prstDash val="solid"/>
              <a:miter lim="800000"/>
            </a:ln>
            <a:effectLst/>
          </p:spPr>
          <p:txBody>
            <a:bodyPr rtlCol="0" anchor="t"/>
            <a:lstStyle/>
            <a:p>
              <a:pPr algn="ctr" defTabSz="1828800">
                <a:buClr>
                  <a:srgbClr val="000000"/>
                </a:buClr>
                <a:defRPr/>
              </a:pPr>
              <a:r>
                <a:rPr lang="en-US" sz="2800" b="1" kern="0">
                  <a:solidFill>
                    <a:srgbClr val="000000"/>
                  </a:solidFill>
                  <a:latin typeface="Arial"/>
                  <a:sym typeface="Arial"/>
                </a:rPr>
                <a:t>Cloud Business Office</a:t>
              </a:r>
            </a:p>
          </p:txBody>
        </p:sp>
        <p:sp>
          <p:nvSpPr>
            <p:cNvPr id="92" name="Rectangle 91">
              <a:extLst>
                <a:ext uri="{FF2B5EF4-FFF2-40B4-BE49-F238E27FC236}">
                  <a16:creationId xmlns:a16="http://schemas.microsoft.com/office/drawing/2014/main" id="{D2DE5C2B-7554-3677-DB13-AAA0E6731847}"/>
                </a:ext>
              </a:extLst>
            </p:cNvPr>
            <p:cNvSpPr/>
            <p:nvPr/>
          </p:nvSpPr>
          <p:spPr>
            <a:xfrm>
              <a:off x="5762336" y="2582279"/>
              <a:ext cx="6309731" cy="3046273"/>
            </a:xfrm>
            <a:prstGeom prst="rect">
              <a:avLst/>
            </a:prstGeom>
            <a:solidFill>
              <a:srgbClr val="D8EBF9"/>
            </a:solidFill>
            <a:ln w="12700" cap="flat" cmpd="sng" algn="ctr">
              <a:noFill/>
              <a:prstDash val="solid"/>
              <a:miter lim="800000"/>
            </a:ln>
            <a:effectLst/>
          </p:spPr>
          <p:txBody>
            <a:bodyPr rtlCol="0" anchor="t"/>
            <a:lstStyle/>
            <a:p>
              <a:pPr algn="ctr" defTabSz="1828800">
                <a:buClr>
                  <a:srgbClr val="000000"/>
                </a:buClr>
                <a:defRPr/>
              </a:pPr>
              <a:r>
                <a:rPr lang="en-US" sz="2800" b="1" kern="0">
                  <a:solidFill>
                    <a:srgbClr val="000000"/>
                  </a:solidFill>
                  <a:latin typeface="Arial"/>
                  <a:sym typeface="Arial"/>
                </a:rPr>
                <a:t>Cloud Engineering</a:t>
              </a:r>
            </a:p>
          </p:txBody>
        </p:sp>
        <p:grpSp>
          <p:nvGrpSpPr>
            <p:cNvPr id="93" name="Group 92">
              <a:extLst>
                <a:ext uri="{FF2B5EF4-FFF2-40B4-BE49-F238E27FC236}">
                  <a16:creationId xmlns:a16="http://schemas.microsoft.com/office/drawing/2014/main" id="{7FCE615E-F9BB-CD5C-D506-0E331695E3FB}"/>
                </a:ext>
              </a:extLst>
            </p:cNvPr>
            <p:cNvGrpSpPr/>
            <p:nvPr/>
          </p:nvGrpSpPr>
          <p:grpSpPr>
            <a:xfrm>
              <a:off x="289743" y="2968320"/>
              <a:ext cx="5220562" cy="2369000"/>
              <a:chOff x="129841" y="3211435"/>
              <a:chExt cx="5550272" cy="2369000"/>
            </a:xfrm>
          </p:grpSpPr>
          <p:sp>
            <p:nvSpPr>
              <p:cNvPr id="102" name="Rectangle 101">
                <a:extLst>
                  <a:ext uri="{FF2B5EF4-FFF2-40B4-BE49-F238E27FC236}">
                    <a16:creationId xmlns:a16="http://schemas.microsoft.com/office/drawing/2014/main" id="{2B132AAC-F996-1407-2210-C83681D613D1}"/>
                  </a:ext>
                </a:extLst>
              </p:cNvPr>
              <p:cNvSpPr/>
              <p:nvPr/>
            </p:nvSpPr>
            <p:spPr>
              <a:xfrm>
                <a:off x="129841" y="3211435"/>
                <a:ext cx="1768589"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Governance</a:t>
                </a:r>
              </a:p>
            </p:txBody>
          </p:sp>
          <p:sp>
            <p:nvSpPr>
              <p:cNvPr id="103" name="Rectangle 102">
                <a:extLst>
                  <a:ext uri="{FF2B5EF4-FFF2-40B4-BE49-F238E27FC236}">
                    <a16:creationId xmlns:a16="http://schemas.microsoft.com/office/drawing/2014/main" id="{FCE297FE-E541-E4D7-10F2-5400204FA3DC}"/>
                  </a:ext>
                </a:extLst>
              </p:cNvPr>
              <p:cNvSpPr/>
              <p:nvPr/>
            </p:nvSpPr>
            <p:spPr>
              <a:xfrm>
                <a:off x="2020683" y="3211435"/>
                <a:ext cx="1768589"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Business </a:t>
                </a:r>
              </a:p>
            </p:txBody>
          </p:sp>
          <p:sp>
            <p:nvSpPr>
              <p:cNvPr id="104" name="Rectangle 103">
                <a:extLst>
                  <a:ext uri="{FF2B5EF4-FFF2-40B4-BE49-F238E27FC236}">
                    <a16:creationId xmlns:a16="http://schemas.microsoft.com/office/drawing/2014/main" id="{6B23D0D3-043B-0CE6-5A8B-B6EF2FFE3245}"/>
                  </a:ext>
                </a:extLst>
              </p:cNvPr>
              <p:cNvSpPr/>
              <p:nvPr/>
            </p:nvSpPr>
            <p:spPr>
              <a:xfrm>
                <a:off x="3911524" y="3211435"/>
                <a:ext cx="1768589"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People</a:t>
                </a:r>
              </a:p>
            </p:txBody>
          </p:sp>
          <p:sp>
            <p:nvSpPr>
              <p:cNvPr id="105" name="Rectangle 104">
                <a:extLst>
                  <a:ext uri="{FF2B5EF4-FFF2-40B4-BE49-F238E27FC236}">
                    <a16:creationId xmlns:a16="http://schemas.microsoft.com/office/drawing/2014/main" id="{317B32FB-0868-4556-4711-1EA666B12F8E}"/>
                  </a:ext>
                </a:extLst>
              </p:cNvPr>
              <p:cNvSpPr/>
              <p:nvPr/>
            </p:nvSpPr>
            <p:spPr>
              <a:xfrm>
                <a:off x="129841" y="3693010"/>
                <a:ext cx="1768589"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Reference Architectures</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Service Management Reporting</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Vendor Management</a:t>
                </a:r>
              </a:p>
              <a:p>
                <a:pPr marL="355600" indent="-355600" defTabSz="1828800">
                  <a:spcAft>
                    <a:spcPts val="1200"/>
                  </a:spcAft>
                  <a:buClr>
                    <a:srgbClr val="000000"/>
                  </a:buClr>
                  <a:buFont typeface="Arial" panose="020B0604020202020204" pitchFamily="34" charset="0"/>
                  <a:buChar char="•"/>
                  <a:defRPr/>
                </a:pPr>
                <a:endParaRPr lang="en-US" sz="2000" kern="0">
                  <a:solidFill>
                    <a:srgbClr val="000000"/>
                  </a:solidFill>
                  <a:latin typeface="Arial"/>
                  <a:sym typeface="Arial"/>
                </a:endParaRPr>
              </a:p>
              <a:p>
                <a:pPr defTabSz="1828800">
                  <a:spcAft>
                    <a:spcPts val="1200"/>
                  </a:spcAft>
                  <a:buClr>
                    <a:srgbClr val="000000"/>
                  </a:buClr>
                  <a:defRPr/>
                </a:pPr>
                <a:endParaRPr lang="en-US" sz="2000" kern="0">
                  <a:solidFill>
                    <a:srgbClr val="FFFFFF"/>
                  </a:solidFill>
                  <a:latin typeface="Arial"/>
                  <a:sym typeface="Arial"/>
                </a:endParaRPr>
              </a:p>
            </p:txBody>
          </p:sp>
          <p:sp>
            <p:nvSpPr>
              <p:cNvPr id="106" name="Rectangle 105">
                <a:extLst>
                  <a:ext uri="{FF2B5EF4-FFF2-40B4-BE49-F238E27FC236}">
                    <a16:creationId xmlns:a16="http://schemas.microsoft.com/office/drawing/2014/main" id="{69CF12AC-AEF5-2A85-C5EC-428D28372ADA}"/>
                  </a:ext>
                </a:extLst>
              </p:cNvPr>
              <p:cNvSpPr/>
              <p:nvPr/>
            </p:nvSpPr>
            <p:spPr>
              <a:xfrm>
                <a:off x="2020683" y="3721899"/>
                <a:ext cx="1768589"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Demand Management</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Product Management</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FinOps &amp; Cost Optimization  </a:t>
                </a:r>
              </a:p>
              <a:p>
                <a:pPr marL="355600" indent="-355600" defTabSz="1828800">
                  <a:spcAft>
                    <a:spcPts val="1200"/>
                  </a:spcAft>
                  <a:buClr>
                    <a:srgbClr val="000000"/>
                  </a:buClr>
                  <a:buFont typeface="Arial" panose="020B0604020202020204" pitchFamily="34" charset="0"/>
                  <a:buChar char="•"/>
                  <a:defRPr/>
                </a:pPr>
                <a:endParaRPr lang="en-US" sz="2000" kern="0">
                  <a:solidFill>
                    <a:srgbClr val="000000"/>
                  </a:solidFill>
                  <a:latin typeface="Arial"/>
                  <a:sym typeface="Arial"/>
                </a:endParaRPr>
              </a:p>
            </p:txBody>
          </p:sp>
          <p:sp>
            <p:nvSpPr>
              <p:cNvPr id="107" name="Rectangle 106">
                <a:extLst>
                  <a:ext uri="{FF2B5EF4-FFF2-40B4-BE49-F238E27FC236}">
                    <a16:creationId xmlns:a16="http://schemas.microsoft.com/office/drawing/2014/main" id="{25609954-FA10-1C45-2A13-A272A19559E3}"/>
                  </a:ext>
                </a:extLst>
              </p:cNvPr>
              <p:cNvSpPr/>
              <p:nvPr/>
            </p:nvSpPr>
            <p:spPr>
              <a:xfrm>
                <a:off x="3911523" y="3721899"/>
                <a:ext cx="1768589"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US" sz="2000" kern="0" err="1">
                    <a:solidFill>
                      <a:srgbClr val="000000"/>
                    </a:solidFill>
                    <a:latin typeface="Arial"/>
                    <a:sym typeface="Arial"/>
                  </a:rPr>
                  <a:t>Organisational</a:t>
                </a:r>
                <a:r>
                  <a:rPr lang="en-US" sz="2000" kern="0">
                    <a:solidFill>
                      <a:srgbClr val="000000"/>
                    </a:solidFill>
                    <a:latin typeface="Arial"/>
                    <a:sym typeface="Arial"/>
                  </a:rPr>
                  <a:t> Change Management</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People Skills &amp; training</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Cloud Knowledge Hub </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Customer Onboarding </a:t>
                </a:r>
              </a:p>
            </p:txBody>
          </p:sp>
        </p:grpSp>
        <p:grpSp>
          <p:nvGrpSpPr>
            <p:cNvPr id="94" name="Group 93">
              <a:extLst>
                <a:ext uri="{FF2B5EF4-FFF2-40B4-BE49-F238E27FC236}">
                  <a16:creationId xmlns:a16="http://schemas.microsoft.com/office/drawing/2014/main" id="{26636C44-35D6-DAB7-43BC-942BD44140B4}"/>
                </a:ext>
              </a:extLst>
            </p:cNvPr>
            <p:cNvGrpSpPr/>
            <p:nvPr/>
          </p:nvGrpSpPr>
          <p:grpSpPr>
            <a:xfrm>
              <a:off x="5974322" y="2973966"/>
              <a:ext cx="5885762" cy="2374228"/>
              <a:chOff x="5818559" y="3217081"/>
              <a:chExt cx="6257484" cy="2374228"/>
            </a:xfrm>
          </p:grpSpPr>
          <p:sp>
            <p:nvSpPr>
              <p:cNvPr id="95" name="Rectangle 94">
                <a:extLst>
                  <a:ext uri="{FF2B5EF4-FFF2-40B4-BE49-F238E27FC236}">
                    <a16:creationId xmlns:a16="http://schemas.microsoft.com/office/drawing/2014/main" id="{EB226D60-9FC2-C738-A5CA-C10F473A904B}"/>
                  </a:ext>
                </a:extLst>
              </p:cNvPr>
              <p:cNvSpPr/>
              <p:nvPr/>
            </p:nvSpPr>
            <p:spPr>
              <a:xfrm>
                <a:off x="5818560" y="3217081"/>
                <a:ext cx="2652884"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Platform &amp; Application </a:t>
                </a:r>
              </a:p>
            </p:txBody>
          </p:sp>
          <p:sp>
            <p:nvSpPr>
              <p:cNvPr id="96" name="Rectangle 95">
                <a:extLst>
                  <a:ext uri="{FF2B5EF4-FFF2-40B4-BE49-F238E27FC236}">
                    <a16:creationId xmlns:a16="http://schemas.microsoft.com/office/drawing/2014/main" id="{1248330B-50FD-43DD-6827-3497FA4537DE}"/>
                  </a:ext>
                </a:extLst>
              </p:cNvPr>
              <p:cNvSpPr/>
              <p:nvPr/>
            </p:nvSpPr>
            <p:spPr>
              <a:xfrm>
                <a:off x="10362281" y="3223509"/>
                <a:ext cx="1713762"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Operations</a:t>
                </a:r>
              </a:p>
            </p:txBody>
          </p:sp>
          <p:sp>
            <p:nvSpPr>
              <p:cNvPr id="97" name="Rectangle 96">
                <a:extLst>
                  <a:ext uri="{FF2B5EF4-FFF2-40B4-BE49-F238E27FC236}">
                    <a16:creationId xmlns:a16="http://schemas.microsoft.com/office/drawing/2014/main" id="{29F91CF6-F290-20B2-1D3C-89E00B1F078F}"/>
                  </a:ext>
                </a:extLst>
              </p:cNvPr>
              <p:cNvSpPr/>
              <p:nvPr/>
            </p:nvSpPr>
            <p:spPr>
              <a:xfrm>
                <a:off x="5818559" y="3721899"/>
                <a:ext cx="1324893"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Architecture &amp; Engineering</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Provisioning &amp; Orchestration</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Tagging</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CI/CD</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Data Management</a:t>
                </a:r>
              </a:p>
              <a:p>
                <a:pPr marL="355600" indent="-355600" defTabSz="1828800">
                  <a:spcAft>
                    <a:spcPts val="1200"/>
                  </a:spcAft>
                  <a:buClr>
                    <a:srgbClr val="000000"/>
                  </a:buClr>
                  <a:buFont typeface="+mj-lt"/>
                  <a:buAutoNum type="arabicParenR"/>
                  <a:defRPr/>
                </a:pPr>
                <a:endParaRPr lang="en-US" sz="2000" kern="0">
                  <a:solidFill>
                    <a:srgbClr val="FFFFFF"/>
                  </a:solidFill>
                  <a:latin typeface="Arial"/>
                  <a:sym typeface="Arial"/>
                </a:endParaRPr>
              </a:p>
            </p:txBody>
          </p:sp>
          <p:sp>
            <p:nvSpPr>
              <p:cNvPr id="98" name="Rectangle 97">
                <a:extLst>
                  <a:ext uri="{FF2B5EF4-FFF2-40B4-BE49-F238E27FC236}">
                    <a16:creationId xmlns:a16="http://schemas.microsoft.com/office/drawing/2014/main" id="{C41BD312-2F89-BEC7-F2BC-C65147FA3355}"/>
                  </a:ext>
                </a:extLst>
              </p:cNvPr>
              <p:cNvSpPr/>
              <p:nvPr/>
            </p:nvSpPr>
            <p:spPr>
              <a:xfrm>
                <a:off x="10362282" y="3728102"/>
                <a:ext cx="1699877"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Performance &amp; Availability</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Lifecycle Management</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Service  Management</a:t>
                </a:r>
              </a:p>
            </p:txBody>
          </p:sp>
          <p:sp>
            <p:nvSpPr>
              <p:cNvPr id="99" name="Rectangle 98">
                <a:extLst>
                  <a:ext uri="{FF2B5EF4-FFF2-40B4-BE49-F238E27FC236}">
                    <a16:creationId xmlns:a16="http://schemas.microsoft.com/office/drawing/2014/main" id="{49090B6A-5F53-2368-8B92-BDE5ED01357C}"/>
                  </a:ext>
                </a:extLst>
              </p:cNvPr>
              <p:cNvSpPr/>
              <p:nvPr/>
            </p:nvSpPr>
            <p:spPr>
              <a:xfrm>
                <a:off x="8532568" y="3230944"/>
                <a:ext cx="1768589" cy="501830"/>
              </a:xfrm>
              <a:prstGeom prst="rect">
                <a:avLst/>
              </a:prstGeom>
              <a:solidFill>
                <a:srgbClr val="EB0000"/>
              </a:solidFill>
              <a:ln w="12700" cap="flat" cmpd="sng" algn="ctr">
                <a:solidFill>
                  <a:srgbClr val="EB0000"/>
                </a:solidFill>
                <a:prstDash val="solid"/>
                <a:miter lim="800000"/>
              </a:ln>
              <a:effectLst/>
            </p:spPr>
            <p:txBody>
              <a:bodyPr rtlCol="0" anchor="ctr"/>
              <a:lstStyle/>
              <a:p>
                <a:pPr algn="ctr" defTabSz="1828800">
                  <a:buClr>
                    <a:srgbClr val="000000"/>
                  </a:buClr>
                  <a:defRPr/>
                </a:pPr>
                <a:r>
                  <a:rPr lang="en-US" sz="2800" b="1" kern="0">
                    <a:solidFill>
                      <a:srgbClr val="FFFFFF"/>
                    </a:solidFill>
                    <a:latin typeface="Barlow Light" pitchFamily="2" charset="77"/>
                    <a:sym typeface="Arial"/>
                  </a:rPr>
                  <a:t>Security</a:t>
                </a:r>
              </a:p>
            </p:txBody>
          </p:sp>
          <p:sp>
            <p:nvSpPr>
              <p:cNvPr id="100" name="Rectangle 99">
                <a:extLst>
                  <a:ext uri="{FF2B5EF4-FFF2-40B4-BE49-F238E27FC236}">
                    <a16:creationId xmlns:a16="http://schemas.microsoft.com/office/drawing/2014/main" id="{035697D9-F90F-F8F7-0AFF-B3243F961FDB}"/>
                  </a:ext>
                </a:extLst>
              </p:cNvPr>
              <p:cNvSpPr/>
              <p:nvPr/>
            </p:nvSpPr>
            <p:spPr>
              <a:xfrm>
                <a:off x="8532568" y="3732773"/>
                <a:ext cx="1768589"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IAM</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Threat Detection</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Vulnerability Mgmt</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Incident Response</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Eco-system Security</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Data Protection</a:t>
                </a:r>
              </a:p>
            </p:txBody>
          </p:sp>
          <p:sp>
            <p:nvSpPr>
              <p:cNvPr id="101" name="Rectangle 100">
                <a:extLst>
                  <a:ext uri="{FF2B5EF4-FFF2-40B4-BE49-F238E27FC236}">
                    <a16:creationId xmlns:a16="http://schemas.microsoft.com/office/drawing/2014/main" id="{68FFE43C-C840-219B-D28C-42ED0DD31D12}"/>
                  </a:ext>
                </a:extLst>
              </p:cNvPr>
              <p:cNvSpPr/>
              <p:nvPr/>
            </p:nvSpPr>
            <p:spPr>
              <a:xfrm>
                <a:off x="7143453" y="3721900"/>
                <a:ext cx="1322889" cy="1858536"/>
              </a:xfrm>
              <a:prstGeom prst="rect">
                <a:avLst/>
              </a:prstGeom>
              <a:solidFill>
                <a:srgbClr val="FFFFFF"/>
              </a:solidFill>
              <a:ln w="12700" cap="flat" cmpd="sng" algn="ctr">
                <a:solidFill>
                  <a:srgbClr val="EB0000"/>
                </a:solidFill>
                <a:prstDash val="solid"/>
                <a:miter lim="800000"/>
              </a:ln>
              <a:effectLst/>
            </p:spPr>
            <p:txBody>
              <a:bodyPr tIns="216000" rtlCol="0" anchor="t" anchorCtr="0"/>
              <a:lstStyle/>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Solution Architecture</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Product Development</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Enterprise Integrations</a:t>
                </a:r>
              </a:p>
              <a:p>
                <a:pPr marL="355600" indent="-355600" defTabSz="1828800">
                  <a:spcAft>
                    <a:spcPts val="1200"/>
                  </a:spcAft>
                  <a:buClr>
                    <a:srgbClr val="000000"/>
                  </a:buClr>
                  <a:buFont typeface="Arial" panose="020B0604020202020204" pitchFamily="34" charset="0"/>
                  <a:buChar char="•"/>
                  <a:defRPr/>
                </a:pPr>
                <a:r>
                  <a:rPr lang="en-US" sz="2000" kern="0">
                    <a:solidFill>
                      <a:srgbClr val="000000"/>
                    </a:solidFill>
                    <a:latin typeface="Arial"/>
                    <a:sym typeface="Arial"/>
                  </a:rPr>
                  <a:t>CI/CD</a:t>
                </a:r>
              </a:p>
            </p:txBody>
          </p:sp>
        </p:grpSp>
      </p:grpSp>
      <p:grpSp>
        <p:nvGrpSpPr>
          <p:cNvPr id="108" name="Group 107">
            <a:extLst>
              <a:ext uri="{FF2B5EF4-FFF2-40B4-BE49-F238E27FC236}">
                <a16:creationId xmlns:a16="http://schemas.microsoft.com/office/drawing/2014/main" id="{0FF60DD6-E8B3-19A3-CFDB-DE5DBDB694CB}"/>
              </a:ext>
            </a:extLst>
          </p:cNvPr>
          <p:cNvGrpSpPr/>
          <p:nvPr/>
        </p:nvGrpSpPr>
        <p:grpSpPr>
          <a:xfrm>
            <a:off x="11637120" y="11535898"/>
            <a:ext cx="12000488" cy="1380388"/>
            <a:chOff x="5818559" y="5020420"/>
            <a:chExt cx="6253509" cy="690194"/>
          </a:xfrm>
        </p:grpSpPr>
        <p:sp>
          <p:nvSpPr>
            <p:cNvPr id="109" name="Rectangle 108">
              <a:extLst>
                <a:ext uri="{FF2B5EF4-FFF2-40B4-BE49-F238E27FC236}">
                  <a16:creationId xmlns:a16="http://schemas.microsoft.com/office/drawing/2014/main" id="{75B1D4A2-BABB-A2DC-F20D-38FFCB75417E}"/>
                </a:ext>
              </a:extLst>
            </p:cNvPr>
            <p:cNvSpPr/>
            <p:nvPr/>
          </p:nvSpPr>
          <p:spPr>
            <a:xfrm>
              <a:off x="5818560" y="5020420"/>
              <a:ext cx="6253507" cy="228387"/>
            </a:xfrm>
            <a:prstGeom prst="rect">
              <a:avLst/>
            </a:prstGeom>
            <a:solidFill>
              <a:srgbClr val="000000"/>
            </a:solidFill>
            <a:ln w="12700" cap="flat" cmpd="sng" algn="ctr">
              <a:noFill/>
              <a:prstDash val="solid"/>
              <a:miter lim="800000"/>
            </a:ln>
            <a:effectLst/>
          </p:spPr>
          <p:txBody>
            <a:bodyPr rtlCol="0" anchor="ctr"/>
            <a:lstStyle/>
            <a:p>
              <a:pPr algn="ctr" defTabSz="1828800">
                <a:buClr>
                  <a:srgbClr val="000000"/>
                </a:buClr>
                <a:defRPr/>
              </a:pPr>
              <a:r>
                <a:rPr lang="en-US" sz="2400" b="1" kern="0">
                  <a:solidFill>
                    <a:srgbClr val="FFFFFF"/>
                  </a:solidFill>
                  <a:latin typeface="Arial"/>
                  <a:sym typeface="Arial"/>
                </a:rPr>
                <a:t>Communities of Practices (CoP)</a:t>
              </a:r>
            </a:p>
          </p:txBody>
        </p:sp>
        <p:sp>
          <p:nvSpPr>
            <p:cNvPr id="110" name="Rectangle 109">
              <a:extLst>
                <a:ext uri="{FF2B5EF4-FFF2-40B4-BE49-F238E27FC236}">
                  <a16:creationId xmlns:a16="http://schemas.microsoft.com/office/drawing/2014/main" id="{D3149400-A2C6-D6A0-D897-E39C9D11D51B}"/>
                </a:ext>
              </a:extLst>
            </p:cNvPr>
            <p:cNvSpPr/>
            <p:nvPr/>
          </p:nvSpPr>
          <p:spPr>
            <a:xfrm>
              <a:off x="5818559" y="5294841"/>
              <a:ext cx="1324893" cy="415773"/>
            </a:xfrm>
            <a:prstGeom prst="rect">
              <a:avLst/>
            </a:prstGeom>
            <a:solidFill>
              <a:srgbClr val="D8EBF9"/>
            </a:solidFill>
            <a:ln w="12700" cap="flat" cmpd="sng" algn="ctr">
              <a:solidFill>
                <a:srgbClr val="EB0000"/>
              </a:solidFill>
              <a:prstDash val="solid"/>
              <a:miter lim="800000"/>
            </a:ln>
            <a:effectLst/>
          </p:spPr>
          <p:txBody>
            <a:bodyPr rtlCol="0" anchor="ctr"/>
            <a:lstStyle/>
            <a:p>
              <a:pPr defTabSz="1828800">
                <a:buClr>
                  <a:srgbClr val="000000"/>
                </a:buClr>
                <a:defRPr/>
              </a:pPr>
              <a:r>
                <a:rPr lang="en-US" sz="2100" kern="0">
                  <a:solidFill>
                    <a:srgbClr val="000000"/>
                  </a:solidFill>
                  <a:latin typeface="Arial"/>
                  <a:sym typeface="Arial"/>
                </a:rPr>
                <a:t>DevOps CoP</a:t>
              </a:r>
            </a:p>
          </p:txBody>
        </p:sp>
        <p:sp>
          <p:nvSpPr>
            <p:cNvPr id="111" name="Rectangle 110">
              <a:extLst>
                <a:ext uri="{FF2B5EF4-FFF2-40B4-BE49-F238E27FC236}">
                  <a16:creationId xmlns:a16="http://schemas.microsoft.com/office/drawing/2014/main" id="{9DB05BB9-46C2-2D4B-CA69-98F2C5CB6AA5}"/>
                </a:ext>
              </a:extLst>
            </p:cNvPr>
            <p:cNvSpPr/>
            <p:nvPr/>
          </p:nvSpPr>
          <p:spPr>
            <a:xfrm>
              <a:off x="7143452" y="5294840"/>
              <a:ext cx="1324893" cy="415773"/>
            </a:xfrm>
            <a:prstGeom prst="rect">
              <a:avLst/>
            </a:prstGeom>
            <a:solidFill>
              <a:srgbClr val="D8EBF9"/>
            </a:solidFill>
            <a:ln w="12700" cap="flat" cmpd="sng" algn="ctr">
              <a:solidFill>
                <a:srgbClr val="EB0000"/>
              </a:solidFill>
              <a:prstDash val="solid"/>
              <a:miter lim="800000"/>
            </a:ln>
            <a:effectLst/>
          </p:spPr>
          <p:txBody>
            <a:bodyPr rtlCol="0" anchor="ctr"/>
            <a:lstStyle/>
            <a:p>
              <a:pPr defTabSz="1828800">
                <a:buClr>
                  <a:srgbClr val="000000"/>
                </a:buClr>
                <a:defRPr/>
              </a:pPr>
              <a:r>
                <a:rPr lang="en-US" sz="2100" kern="0">
                  <a:solidFill>
                    <a:srgbClr val="000000"/>
                  </a:solidFill>
                  <a:latin typeface="Arial"/>
                  <a:sym typeface="Arial"/>
                </a:rPr>
                <a:t>Cloud Native CoP</a:t>
              </a:r>
            </a:p>
          </p:txBody>
        </p:sp>
        <p:sp>
          <p:nvSpPr>
            <p:cNvPr id="112" name="Rectangle 111">
              <a:extLst>
                <a:ext uri="{FF2B5EF4-FFF2-40B4-BE49-F238E27FC236}">
                  <a16:creationId xmlns:a16="http://schemas.microsoft.com/office/drawing/2014/main" id="{3F2335EE-E580-B2C1-DC09-73D8FBD4CCC7}"/>
                </a:ext>
              </a:extLst>
            </p:cNvPr>
            <p:cNvSpPr/>
            <p:nvPr/>
          </p:nvSpPr>
          <p:spPr>
            <a:xfrm>
              <a:off x="8468344" y="5294839"/>
              <a:ext cx="1324893" cy="415773"/>
            </a:xfrm>
            <a:prstGeom prst="rect">
              <a:avLst/>
            </a:prstGeom>
            <a:solidFill>
              <a:srgbClr val="D8EBF9"/>
            </a:solidFill>
            <a:ln w="12700" cap="flat" cmpd="sng" algn="ctr">
              <a:solidFill>
                <a:srgbClr val="EB0000"/>
              </a:solidFill>
              <a:prstDash val="solid"/>
              <a:miter lim="800000"/>
            </a:ln>
            <a:effectLst/>
          </p:spPr>
          <p:txBody>
            <a:bodyPr lIns="182880" tIns="91440" rIns="182880" bIns="91440" rtlCol="0" anchor="ctr"/>
            <a:lstStyle/>
            <a:p>
              <a:pPr defTabSz="1828800">
                <a:buClr>
                  <a:srgbClr val="000000"/>
                </a:buClr>
                <a:defRPr/>
              </a:pPr>
              <a:r>
                <a:rPr lang="en-US" sz="2100" kern="0">
                  <a:solidFill>
                    <a:srgbClr val="000000"/>
                  </a:solidFill>
                  <a:latin typeface="Arial"/>
                  <a:sym typeface="Arial"/>
                </a:rPr>
                <a:t>Security CoP</a:t>
              </a:r>
            </a:p>
          </p:txBody>
        </p:sp>
        <p:sp>
          <p:nvSpPr>
            <p:cNvPr id="113" name="Rectangle 112">
              <a:extLst>
                <a:ext uri="{FF2B5EF4-FFF2-40B4-BE49-F238E27FC236}">
                  <a16:creationId xmlns:a16="http://schemas.microsoft.com/office/drawing/2014/main" id="{7D6F297D-CBCC-6352-3B5D-F50C51E00739}"/>
                </a:ext>
              </a:extLst>
            </p:cNvPr>
            <p:cNvSpPr/>
            <p:nvPr/>
          </p:nvSpPr>
          <p:spPr>
            <a:xfrm>
              <a:off x="9793236" y="5294838"/>
              <a:ext cx="1324893" cy="415773"/>
            </a:xfrm>
            <a:prstGeom prst="rect">
              <a:avLst/>
            </a:prstGeom>
            <a:solidFill>
              <a:srgbClr val="D8EBF9"/>
            </a:solidFill>
            <a:ln w="12700" cap="flat" cmpd="sng" algn="ctr">
              <a:solidFill>
                <a:srgbClr val="EB0000"/>
              </a:solidFill>
              <a:prstDash val="solid"/>
              <a:miter lim="800000"/>
            </a:ln>
            <a:effectLst/>
          </p:spPr>
          <p:txBody>
            <a:bodyPr rtlCol="0" anchor="ctr"/>
            <a:lstStyle/>
            <a:p>
              <a:pPr defTabSz="1828800">
                <a:buClr>
                  <a:srgbClr val="000000"/>
                </a:buClr>
                <a:defRPr/>
              </a:pPr>
              <a:r>
                <a:rPr lang="en-US" sz="2100" kern="0">
                  <a:solidFill>
                    <a:srgbClr val="000000"/>
                  </a:solidFill>
                  <a:latin typeface="Arial"/>
                  <a:sym typeface="Arial"/>
                </a:rPr>
                <a:t>Data CoP</a:t>
              </a:r>
            </a:p>
          </p:txBody>
        </p:sp>
        <p:sp>
          <p:nvSpPr>
            <p:cNvPr id="114" name="Rectangle 113">
              <a:extLst>
                <a:ext uri="{FF2B5EF4-FFF2-40B4-BE49-F238E27FC236}">
                  <a16:creationId xmlns:a16="http://schemas.microsoft.com/office/drawing/2014/main" id="{24DB2EDB-09CE-94C8-52BD-E265C8FACDF5}"/>
                </a:ext>
              </a:extLst>
            </p:cNvPr>
            <p:cNvSpPr/>
            <p:nvPr/>
          </p:nvSpPr>
          <p:spPr>
            <a:xfrm>
              <a:off x="11118128" y="5289311"/>
              <a:ext cx="953940" cy="415773"/>
            </a:xfrm>
            <a:prstGeom prst="rect">
              <a:avLst/>
            </a:prstGeom>
            <a:solidFill>
              <a:srgbClr val="D8EBF9"/>
            </a:solidFill>
            <a:ln w="12700" cap="flat" cmpd="sng" algn="ctr">
              <a:solidFill>
                <a:srgbClr val="EB0000"/>
              </a:solidFill>
              <a:prstDash val="solid"/>
              <a:miter lim="800000"/>
            </a:ln>
            <a:effectLst/>
          </p:spPr>
          <p:txBody>
            <a:bodyPr rtlCol="0" anchor="ctr"/>
            <a:lstStyle/>
            <a:p>
              <a:pPr defTabSz="1828800">
                <a:buClr>
                  <a:srgbClr val="000000"/>
                </a:buClr>
                <a:defRPr/>
              </a:pPr>
              <a:r>
                <a:rPr lang="en-US" sz="2100" kern="0" err="1">
                  <a:solidFill>
                    <a:srgbClr val="000000"/>
                  </a:solidFill>
                  <a:latin typeface="Arial"/>
                  <a:sym typeface="Arial"/>
                </a:rPr>
                <a:t>Etc</a:t>
              </a:r>
              <a:endParaRPr lang="en-US" sz="2100" kern="0">
                <a:solidFill>
                  <a:srgbClr val="000000"/>
                </a:solidFill>
                <a:latin typeface="Arial"/>
                <a:sym typeface="Arial"/>
              </a:endParaRPr>
            </a:p>
          </p:txBody>
        </p:sp>
      </p:grpSp>
      <p:cxnSp>
        <p:nvCxnSpPr>
          <p:cNvPr id="115" name="Connector: Elbow 114">
            <a:extLst>
              <a:ext uri="{FF2B5EF4-FFF2-40B4-BE49-F238E27FC236}">
                <a16:creationId xmlns:a16="http://schemas.microsoft.com/office/drawing/2014/main" id="{F180BA4E-6E2C-A8E6-F744-083F5124A29E}"/>
              </a:ext>
            </a:extLst>
          </p:cNvPr>
          <p:cNvCxnSpPr>
            <a:cxnSpLocks/>
            <a:endCxn id="105" idx="2"/>
          </p:cNvCxnSpPr>
          <p:nvPr/>
        </p:nvCxnSpPr>
        <p:spPr>
          <a:xfrm rot="10800000">
            <a:off x="2644043" y="10368550"/>
            <a:ext cx="8993086" cy="1395736"/>
          </a:xfrm>
          <a:prstGeom prst="bentConnector2">
            <a:avLst/>
          </a:prstGeom>
          <a:noFill/>
          <a:ln w="15875" cap="flat" cmpd="sng" algn="ctr">
            <a:solidFill>
              <a:srgbClr val="000000"/>
            </a:solidFill>
            <a:prstDash val="solid"/>
            <a:miter lim="800000"/>
            <a:tailEnd type="arrow" w="lg" len="sm"/>
          </a:ln>
          <a:effectLst/>
        </p:spPr>
      </p:cxnSp>
      <p:sp>
        <p:nvSpPr>
          <p:cNvPr id="116" name="TextBox 115">
            <a:extLst>
              <a:ext uri="{FF2B5EF4-FFF2-40B4-BE49-F238E27FC236}">
                <a16:creationId xmlns:a16="http://schemas.microsoft.com/office/drawing/2014/main" id="{4109AB06-74C2-578A-1F48-A4CCA0DA59D2}"/>
              </a:ext>
            </a:extLst>
          </p:cNvPr>
          <p:cNvSpPr txBox="1"/>
          <p:nvPr/>
        </p:nvSpPr>
        <p:spPr>
          <a:xfrm>
            <a:off x="4797526" y="11535899"/>
            <a:ext cx="3240000" cy="415498"/>
          </a:xfrm>
          <a:prstGeom prst="rect">
            <a:avLst/>
          </a:prstGeom>
          <a:solidFill>
            <a:srgbClr val="000000"/>
          </a:solidFill>
        </p:spPr>
        <p:txBody>
          <a:bodyPr wrap="square" rtlCol="0">
            <a:spAutoFit/>
          </a:bodyPr>
          <a:lstStyle/>
          <a:p>
            <a:pPr defTabSz="1828800">
              <a:defRPr/>
            </a:pPr>
            <a:r>
              <a:rPr lang="en-GB" sz="2100" kern="0">
                <a:solidFill>
                  <a:srgbClr val="FFFFFF"/>
                </a:solidFill>
                <a:latin typeface="Arial"/>
              </a:rPr>
              <a:t>Reference Architectures</a:t>
            </a:r>
          </a:p>
        </p:txBody>
      </p:sp>
      <p:grpSp>
        <p:nvGrpSpPr>
          <p:cNvPr id="117" name="Group 116">
            <a:extLst>
              <a:ext uri="{FF2B5EF4-FFF2-40B4-BE49-F238E27FC236}">
                <a16:creationId xmlns:a16="http://schemas.microsoft.com/office/drawing/2014/main" id="{663A644A-9439-4DBC-5E23-140E22971E10}"/>
              </a:ext>
            </a:extLst>
          </p:cNvPr>
          <p:cNvGrpSpPr>
            <a:grpSpLocks noChangeAspect="1"/>
          </p:cNvGrpSpPr>
          <p:nvPr/>
        </p:nvGrpSpPr>
        <p:grpSpPr>
          <a:xfrm>
            <a:off x="21345172" y="2500130"/>
            <a:ext cx="856800" cy="856800"/>
            <a:chOff x="10655081" y="5459713"/>
            <a:chExt cx="788067" cy="788067"/>
          </a:xfrm>
        </p:grpSpPr>
        <p:sp>
          <p:nvSpPr>
            <p:cNvPr id="118" name="Freeform 292">
              <a:extLst>
                <a:ext uri="{FF2B5EF4-FFF2-40B4-BE49-F238E27FC236}">
                  <a16:creationId xmlns:a16="http://schemas.microsoft.com/office/drawing/2014/main" id="{32783DF8-9D44-B169-65CA-2CAB9B037246}"/>
                </a:ext>
              </a:extLst>
            </p:cNvPr>
            <p:cNvSpPr>
              <a:spLocks noChangeArrowheads="1"/>
            </p:cNvSpPr>
            <p:nvPr/>
          </p:nvSpPr>
          <p:spPr bwMode="auto">
            <a:xfrm>
              <a:off x="10655081" y="5459713"/>
              <a:ext cx="788067" cy="788067"/>
            </a:xfrm>
            <a:custGeom>
              <a:avLst/>
              <a:gdLst>
                <a:gd name="T0" fmla="*/ 1468 w 1751"/>
                <a:gd name="T1" fmla="*/ 1750 h 1751"/>
                <a:gd name="T2" fmla="*/ 1750 w 1751"/>
                <a:gd name="T3" fmla="*/ 1468 h 1751"/>
                <a:gd name="T4" fmla="*/ 1750 w 1751"/>
                <a:gd name="T5" fmla="*/ 283 h 1751"/>
                <a:gd name="T6" fmla="*/ 1468 w 1751"/>
                <a:gd name="T7" fmla="*/ 0 h 1751"/>
                <a:gd name="T8" fmla="*/ 282 w 1751"/>
                <a:gd name="T9" fmla="*/ 0 h 1751"/>
                <a:gd name="T10" fmla="*/ 0 w 1751"/>
                <a:gd name="T11" fmla="*/ 283 h 1751"/>
                <a:gd name="T12" fmla="*/ 0 w 1751"/>
                <a:gd name="T13" fmla="*/ 1468 h 1751"/>
                <a:gd name="T14" fmla="*/ 282 w 1751"/>
                <a:gd name="T15" fmla="*/ 1750 h 1751"/>
                <a:gd name="T16" fmla="*/ 1468 w 1751"/>
                <a:gd name="T17" fmla="*/ 1750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1" h="1751">
                  <a:moveTo>
                    <a:pt x="1468" y="1750"/>
                  </a:moveTo>
                  <a:cubicBezTo>
                    <a:pt x="1623" y="1750"/>
                    <a:pt x="1750" y="1623"/>
                    <a:pt x="1750" y="1468"/>
                  </a:cubicBezTo>
                  <a:cubicBezTo>
                    <a:pt x="1750" y="1073"/>
                    <a:pt x="1750" y="678"/>
                    <a:pt x="1750" y="283"/>
                  </a:cubicBezTo>
                  <a:cubicBezTo>
                    <a:pt x="1750" y="127"/>
                    <a:pt x="1623" y="0"/>
                    <a:pt x="1468" y="0"/>
                  </a:cubicBezTo>
                  <a:cubicBezTo>
                    <a:pt x="1073" y="0"/>
                    <a:pt x="677" y="0"/>
                    <a:pt x="282" y="0"/>
                  </a:cubicBezTo>
                  <a:cubicBezTo>
                    <a:pt x="127" y="0"/>
                    <a:pt x="0" y="127"/>
                    <a:pt x="0" y="283"/>
                  </a:cubicBezTo>
                  <a:cubicBezTo>
                    <a:pt x="0" y="678"/>
                    <a:pt x="0" y="1073"/>
                    <a:pt x="0" y="1468"/>
                  </a:cubicBezTo>
                  <a:cubicBezTo>
                    <a:pt x="0" y="1623"/>
                    <a:pt x="127" y="1750"/>
                    <a:pt x="282" y="1750"/>
                  </a:cubicBezTo>
                  <a:cubicBezTo>
                    <a:pt x="677" y="1750"/>
                    <a:pt x="1073" y="1750"/>
                    <a:pt x="1468" y="1750"/>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kern="0">
                <a:solidFill>
                  <a:srgbClr val="000000"/>
                </a:solidFill>
                <a:latin typeface="Arial"/>
              </a:endParaRPr>
            </a:p>
          </p:txBody>
        </p:sp>
        <p:grpSp>
          <p:nvGrpSpPr>
            <p:cNvPr id="119" name="Group 118">
              <a:extLst>
                <a:ext uri="{FF2B5EF4-FFF2-40B4-BE49-F238E27FC236}">
                  <a16:creationId xmlns:a16="http://schemas.microsoft.com/office/drawing/2014/main" id="{B4C2E11A-B654-630B-A98A-DE7BC58B6397}"/>
                </a:ext>
              </a:extLst>
            </p:cNvPr>
            <p:cNvGrpSpPr/>
            <p:nvPr/>
          </p:nvGrpSpPr>
          <p:grpSpPr>
            <a:xfrm>
              <a:off x="10823810" y="5630428"/>
              <a:ext cx="452594" cy="408922"/>
              <a:chOff x="10823810" y="5630428"/>
              <a:chExt cx="452594" cy="408922"/>
            </a:xfrm>
          </p:grpSpPr>
          <p:sp>
            <p:nvSpPr>
              <p:cNvPr id="120" name="Freeform 293">
                <a:extLst>
                  <a:ext uri="{FF2B5EF4-FFF2-40B4-BE49-F238E27FC236}">
                    <a16:creationId xmlns:a16="http://schemas.microsoft.com/office/drawing/2014/main" id="{BE2F5282-CA6D-E93B-D2F5-40D0B3CF2CC9}"/>
                  </a:ext>
                </a:extLst>
              </p:cNvPr>
              <p:cNvSpPr>
                <a:spLocks noChangeArrowheads="1"/>
              </p:cNvSpPr>
              <p:nvPr/>
            </p:nvSpPr>
            <p:spPr bwMode="auto">
              <a:xfrm>
                <a:off x="10998495" y="5630428"/>
                <a:ext cx="101239" cy="101237"/>
              </a:xfrm>
              <a:custGeom>
                <a:avLst/>
                <a:gdLst>
                  <a:gd name="T0" fmla="*/ 226 w 227"/>
                  <a:gd name="T1" fmla="*/ 113 h 227"/>
                  <a:gd name="T2" fmla="*/ 211 w 227"/>
                  <a:gd name="T3" fmla="*/ 170 h 227"/>
                  <a:gd name="T4" fmla="*/ 169 w 227"/>
                  <a:gd name="T5" fmla="*/ 211 h 227"/>
                  <a:gd name="T6" fmla="*/ 113 w 227"/>
                  <a:gd name="T7" fmla="*/ 226 h 227"/>
                  <a:gd name="T8" fmla="*/ 56 w 227"/>
                  <a:gd name="T9" fmla="*/ 211 h 227"/>
                  <a:gd name="T10" fmla="*/ 15 w 227"/>
                  <a:gd name="T11" fmla="*/ 170 h 227"/>
                  <a:gd name="T12" fmla="*/ 0 w 227"/>
                  <a:gd name="T13" fmla="*/ 113 h 227"/>
                  <a:gd name="T14" fmla="*/ 15 w 227"/>
                  <a:gd name="T15" fmla="*/ 57 h 227"/>
                  <a:gd name="T16" fmla="*/ 56 w 227"/>
                  <a:gd name="T17" fmla="*/ 16 h 227"/>
                  <a:gd name="T18" fmla="*/ 113 w 227"/>
                  <a:gd name="T19" fmla="*/ 0 h 227"/>
                  <a:gd name="T20" fmla="*/ 169 w 227"/>
                  <a:gd name="T21" fmla="*/ 16 h 227"/>
                  <a:gd name="T22" fmla="*/ 211 w 227"/>
                  <a:gd name="T23" fmla="*/ 57 h 227"/>
                  <a:gd name="T24" fmla="*/ 226 w 227"/>
                  <a:gd name="T25" fmla="*/ 11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227">
                    <a:moveTo>
                      <a:pt x="226" y="113"/>
                    </a:moveTo>
                    <a:cubicBezTo>
                      <a:pt x="226" y="134"/>
                      <a:pt x="222" y="152"/>
                      <a:pt x="211" y="170"/>
                    </a:cubicBezTo>
                    <a:cubicBezTo>
                      <a:pt x="201" y="188"/>
                      <a:pt x="187" y="201"/>
                      <a:pt x="169" y="211"/>
                    </a:cubicBezTo>
                    <a:cubicBezTo>
                      <a:pt x="151" y="221"/>
                      <a:pt x="134" y="226"/>
                      <a:pt x="113" y="226"/>
                    </a:cubicBezTo>
                    <a:cubicBezTo>
                      <a:pt x="92" y="226"/>
                      <a:pt x="74" y="221"/>
                      <a:pt x="56" y="211"/>
                    </a:cubicBezTo>
                    <a:cubicBezTo>
                      <a:pt x="39" y="201"/>
                      <a:pt x="26" y="188"/>
                      <a:pt x="15" y="170"/>
                    </a:cubicBezTo>
                    <a:cubicBezTo>
                      <a:pt x="5" y="152"/>
                      <a:pt x="0" y="134"/>
                      <a:pt x="0" y="113"/>
                    </a:cubicBezTo>
                    <a:cubicBezTo>
                      <a:pt x="0" y="93"/>
                      <a:pt x="5" y="75"/>
                      <a:pt x="15" y="57"/>
                    </a:cubicBezTo>
                    <a:cubicBezTo>
                      <a:pt x="26" y="39"/>
                      <a:pt x="39" y="27"/>
                      <a:pt x="56" y="16"/>
                    </a:cubicBezTo>
                    <a:cubicBezTo>
                      <a:pt x="74" y="6"/>
                      <a:pt x="92" y="0"/>
                      <a:pt x="113" y="0"/>
                    </a:cubicBezTo>
                    <a:cubicBezTo>
                      <a:pt x="134" y="0"/>
                      <a:pt x="151" y="6"/>
                      <a:pt x="169" y="16"/>
                    </a:cubicBezTo>
                    <a:cubicBezTo>
                      <a:pt x="187" y="27"/>
                      <a:pt x="201" y="39"/>
                      <a:pt x="211" y="57"/>
                    </a:cubicBezTo>
                    <a:cubicBezTo>
                      <a:pt x="222" y="75"/>
                      <a:pt x="226" y="93"/>
                      <a:pt x="226" y="113"/>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kern="0">
                  <a:solidFill>
                    <a:srgbClr val="000000"/>
                  </a:solidFill>
                  <a:latin typeface="Arial"/>
                </a:endParaRPr>
              </a:p>
            </p:txBody>
          </p:sp>
          <p:sp>
            <p:nvSpPr>
              <p:cNvPr id="121" name="Freeform 294">
                <a:extLst>
                  <a:ext uri="{FF2B5EF4-FFF2-40B4-BE49-F238E27FC236}">
                    <a16:creationId xmlns:a16="http://schemas.microsoft.com/office/drawing/2014/main" id="{B4EBDFBE-C402-6B26-DC58-12B695342674}"/>
                  </a:ext>
                </a:extLst>
              </p:cNvPr>
              <p:cNvSpPr>
                <a:spLocks noChangeArrowheads="1"/>
              </p:cNvSpPr>
              <p:nvPr/>
            </p:nvSpPr>
            <p:spPr bwMode="auto">
              <a:xfrm>
                <a:off x="10950854" y="5731666"/>
                <a:ext cx="198506" cy="77418"/>
              </a:xfrm>
              <a:custGeom>
                <a:avLst/>
                <a:gdLst>
                  <a:gd name="T0" fmla="*/ 438 w 439"/>
                  <a:gd name="T1" fmla="*/ 170 h 171"/>
                  <a:gd name="T2" fmla="*/ 219 w 439"/>
                  <a:gd name="T3" fmla="*/ 0 h 171"/>
                  <a:gd name="T4" fmla="*/ 0 w 439"/>
                  <a:gd name="T5" fmla="*/ 170 h 171"/>
                </a:gdLst>
                <a:ahLst/>
                <a:cxnLst>
                  <a:cxn ang="0">
                    <a:pos x="T0" y="T1"/>
                  </a:cxn>
                  <a:cxn ang="0">
                    <a:pos x="T2" y="T3"/>
                  </a:cxn>
                  <a:cxn ang="0">
                    <a:pos x="T4" y="T5"/>
                  </a:cxn>
                </a:cxnLst>
                <a:rect l="0" t="0" r="r" b="b"/>
                <a:pathLst>
                  <a:path w="439" h="171">
                    <a:moveTo>
                      <a:pt x="438" y="170"/>
                    </a:moveTo>
                    <a:cubicBezTo>
                      <a:pt x="413" y="72"/>
                      <a:pt x="324" y="0"/>
                      <a:pt x="219" y="0"/>
                    </a:cubicBezTo>
                    <a:cubicBezTo>
                      <a:pt x="114" y="0"/>
                      <a:pt x="25" y="72"/>
                      <a:pt x="0" y="170"/>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kern="0">
                  <a:solidFill>
                    <a:srgbClr val="000000"/>
                  </a:solidFill>
                  <a:latin typeface="Arial"/>
                </a:endParaRPr>
              </a:p>
            </p:txBody>
          </p:sp>
          <p:sp>
            <p:nvSpPr>
              <p:cNvPr id="122" name="Freeform 295">
                <a:extLst>
                  <a:ext uri="{FF2B5EF4-FFF2-40B4-BE49-F238E27FC236}">
                    <a16:creationId xmlns:a16="http://schemas.microsoft.com/office/drawing/2014/main" id="{101B2559-E0DC-65E5-528D-BEFE73F4DD28}"/>
                  </a:ext>
                </a:extLst>
              </p:cNvPr>
              <p:cNvSpPr>
                <a:spLocks noChangeArrowheads="1"/>
              </p:cNvSpPr>
              <p:nvPr/>
            </p:nvSpPr>
            <p:spPr bwMode="auto">
              <a:xfrm>
                <a:off x="11125539" y="5858709"/>
                <a:ext cx="101239" cy="101239"/>
              </a:xfrm>
              <a:custGeom>
                <a:avLst/>
                <a:gdLst>
                  <a:gd name="T0" fmla="*/ 226 w 227"/>
                  <a:gd name="T1" fmla="*/ 113 h 227"/>
                  <a:gd name="T2" fmla="*/ 211 w 227"/>
                  <a:gd name="T3" fmla="*/ 170 h 227"/>
                  <a:gd name="T4" fmla="*/ 170 w 227"/>
                  <a:gd name="T5" fmla="*/ 211 h 227"/>
                  <a:gd name="T6" fmla="*/ 113 w 227"/>
                  <a:gd name="T7" fmla="*/ 226 h 227"/>
                  <a:gd name="T8" fmla="*/ 57 w 227"/>
                  <a:gd name="T9" fmla="*/ 211 h 227"/>
                  <a:gd name="T10" fmla="*/ 15 w 227"/>
                  <a:gd name="T11" fmla="*/ 170 h 227"/>
                  <a:gd name="T12" fmla="*/ 0 w 227"/>
                  <a:gd name="T13" fmla="*/ 113 h 227"/>
                  <a:gd name="T14" fmla="*/ 15 w 227"/>
                  <a:gd name="T15" fmla="*/ 57 h 227"/>
                  <a:gd name="T16" fmla="*/ 57 w 227"/>
                  <a:gd name="T17" fmla="*/ 16 h 227"/>
                  <a:gd name="T18" fmla="*/ 113 w 227"/>
                  <a:gd name="T19" fmla="*/ 0 h 227"/>
                  <a:gd name="T20" fmla="*/ 170 w 227"/>
                  <a:gd name="T21" fmla="*/ 16 h 227"/>
                  <a:gd name="T22" fmla="*/ 211 w 227"/>
                  <a:gd name="T23" fmla="*/ 57 h 227"/>
                  <a:gd name="T24" fmla="*/ 226 w 227"/>
                  <a:gd name="T25" fmla="*/ 11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227">
                    <a:moveTo>
                      <a:pt x="226" y="113"/>
                    </a:moveTo>
                    <a:cubicBezTo>
                      <a:pt x="226" y="134"/>
                      <a:pt x="221" y="152"/>
                      <a:pt x="211" y="170"/>
                    </a:cubicBezTo>
                    <a:cubicBezTo>
                      <a:pt x="201" y="188"/>
                      <a:pt x="188" y="201"/>
                      <a:pt x="170" y="211"/>
                    </a:cubicBezTo>
                    <a:cubicBezTo>
                      <a:pt x="152" y="221"/>
                      <a:pt x="134" y="226"/>
                      <a:pt x="113" y="226"/>
                    </a:cubicBezTo>
                    <a:cubicBezTo>
                      <a:pt x="92" y="226"/>
                      <a:pt x="75" y="221"/>
                      <a:pt x="57" y="211"/>
                    </a:cubicBezTo>
                    <a:cubicBezTo>
                      <a:pt x="39" y="201"/>
                      <a:pt x="26" y="188"/>
                      <a:pt x="15" y="170"/>
                    </a:cubicBezTo>
                    <a:cubicBezTo>
                      <a:pt x="5" y="152"/>
                      <a:pt x="0" y="134"/>
                      <a:pt x="0" y="113"/>
                    </a:cubicBezTo>
                    <a:cubicBezTo>
                      <a:pt x="0" y="92"/>
                      <a:pt x="5" y="75"/>
                      <a:pt x="15" y="57"/>
                    </a:cubicBezTo>
                    <a:cubicBezTo>
                      <a:pt x="26" y="39"/>
                      <a:pt x="39" y="27"/>
                      <a:pt x="57" y="16"/>
                    </a:cubicBezTo>
                    <a:cubicBezTo>
                      <a:pt x="75" y="6"/>
                      <a:pt x="92" y="0"/>
                      <a:pt x="113" y="0"/>
                    </a:cubicBezTo>
                    <a:cubicBezTo>
                      <a:pt x="134" y="0"/>
                      <a:pt x="152" y="6"/>
                      <a:pt x="170" y="16"/>
                    </a:cubicBezTo>
                    <a:cubicBezTo>
                      <a:pt x="188" y="27"/>
                      <a:pt x="201" y="39"/>
                      <a:pt x="211" y="57"/>
                    </a:cubicBezTo>
                    <a:cubicBezTo>
                      <a:pt x="221" y="75"/>
                      <a:pt x="226" y="92"/>
                      <a:pt x="226" y="113"/>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kern="0">
                  <a:solidFill>
                    <a:srgbClr val="000000"/>
                  </a:solidFill>
                  <a:latin typeface="Arial"/>
                </a:endParaRPr>
              </a:p>
            </p:txBody>
          </p:sp>
          <p:sp>
            <p:nvSpPr>
              <p:cNvPr id="123" name="Freeform 296">
                <a:extLst>
                  <a:ext uri="{FF2B5EF4-FFF2-40B4-BE49-F238E27FC236}">
                    <a16:creationId xmlns:a16="http://schemas.microsoft.com/office/drawing/2014/main" id="{3E3206F8-797C-9251-1096-C4923745244B}"/>
                  </a:ext>
                </a:extLst>
              </p:cNvPr>
              <p:cNvSpPr>
                <a:spLocks noChangeArrowheads="1"/>
              </p:cNvSpPr>
              <p:nvPr/>
            </p:nvSpPr>
            <p:spPr bwMode="auto">
              <a:xfrm>
                <a:off x="11077898" y="5961932"/>
                <a:ext cx="198506" cy="77418"/>
              </a:xfrm>
              <a:custGeom>
                <a:avLst/>
                <a:gdLst>
                  <a:gd name="T0" fmla="*/ 438 w 439"/>
                  <a:gd name="T1" fmla="*/ 169 h 170"/>
                  <a:gd name="T2" fmla="*/ 219 w 439"/>
                  <a:gd name="T3" fmla="*/ 0 h 170"/>
                  <a:gd name="T4" fmla="*/ 0 w 439"/>
                  <a:gd name="T5" fmla="*/ 169 h 170"/>
                </a:gdLst>
                <a:ahLst/>
                <a:cxnLst>
                  <a:cxn ang="0">
                    <a:pos x="T0" y="T1"/>
                  </a:cxn>
                  <a:cxn ang="0">
                    <a:pos x="T2" y="T3"/>
                  </a:cxn>
                  <a:cxn ang="0">
                    <a:pos x="T4" y="T5"/>
                  </a:cxn>
                </a:cxnLst>
                <a:rect l="0" t="0" r="r" b="b"/>
                <a:pathLst>
                  <a:path w="439" h="170">
                    <a:moveTo>
                      <a:pt x="438" y="169"/>
                    </a:moveTo>
                    <a:cubicBezTo>
                      <a:pt x="413" y="72"/>
                      <a:pt x="324" y="0"/>
                      <a:pt x="219" y="0"/>
                    </a:cubicBezTo>
                    <a:cubicBezTo>
                      <a:pt x="114" y="0"/>
                      <a:pt x="26" y="72"/>
                      <a:pt x="0" y="169"/>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kern="0">
                  <a:solidFill>
                    <a:srgbClr val="000000"/>
                  </a:solidFill>
                  <a:latin typeface="Arial"/>
                </a:endParaRPr>
              </a:p>
            </p:txBody>
          </p:sp>
          <p:sp>
            <p:nvSpPr>
              <p:cNvPr id="124" name="Freeform 297">
                <a:extLst>
                  <a:ext uri="{FF2B5EF4-FFF2-40B4-BE49-F238E27FC236}">
                    <a16:creationId xmlns:a16="http://schemas.microsoft.com/office/drawing/2014/main" id="{96A02C94-5D25-8F9A-62F8-0611341FA466}"/>
                  </a:ext>
                </a:extLst>
              </p:cNvPr>
              <p:cNvSpPr>
                <a:spLocks noChangeArrowheads="1"/>
              </p:cNvSpPr>
              <p:nvPr/>
            </p:nvSpPr>
            <p:spPr bwMode="auto">
              <a:xfrm>
                <a:off x="10871452" y="5858709"/>
                <a:ext cx="101239" cy="101239"/>
              </a:xfrm>
              <a:custGeom>
                <a:avLst/>
                <a:gdLst>
                  <a:gd name="T0" fmla="*/ 226 w 227"/>
                  <a:gd name="T1" fmla="*/ 113 h 227"/>
                  <a:gd name="T2" fmla="*/ 210 w 227"/>
                  <a:gd name="T3" fmla="*/ 170 h 227"/>
                  <a:gd name="T4" fmla="*/ 169 w 227"/>
                  <a:gd name="T5" fmla="*/ 211 h 227"/>
                  <a:gd name="T6" fmla="*/ 113 w 227"/>
                  <a:gd name="T7" fmla="*/ 226 h 227"/>
                  <a:gd name="T8" fmla="*/ 56 w 227"/>
                  <a:gd name="T9" fmla="*/ 211 h 227"/>
                  <a:gd name="T10" fmla="*/ 15 w 227"/>
                  <a:gd name="T11" fmla="*/ 170 h 227"/>
                  <a:gd name="T12" fmla="*/ 0 w 227"/>
                  <a:gd name="T13" fmla="*/ 113 h 227"/>
                  <a:gd name="T14" fmla="*/ 15 w 227"/>
                  <a:gd name="T15" fmla="*/ 57 h 227"/>
                  <a:gd name="T16" fmla="*/ 56 w 227"/>
                  <a:gd name="T17" fmla="*/ 16 h 227"/>
                  <a:gd name="T18" fmla="*/ 113 w 227"/>
                  <a:gd name="T19" fmla="*/ 0 h 227"/>
                  <a:gd name="T20" fmla="*/ 169 w 227"/>
                  <a:gd name="T21" fmla="*/ 16 h 227"/>
                  <a:gd name="T22" fmla="*/ 210 w 227"/>
                  <a:gd name="T23" fmla="*/ 57 h 227"/>
                  <a:gd name="T24" fmla="*/ 226 w 227"/>
                  <a:gd name="T25" fmla="*/ 11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227">
                    <a:moveTo>
                      <a:pt x="226" y="113"/>
                    </a:moveTo>
                    <a:cubicBezTo>
                      <a:pt x="226" y="134"/>
                      <a:pt x="221" y="152"/>
                      <a:pt x="210" y="170"/>
                    </a:cubicBezTo>
                    <a:cubicBezTo>
                      <a:pt x="200" y="188"/>
                      <a:pt x="187" y="201"/>
                      <a:pt x="169" y="211"/>
                    </a:cubicBezTo>
                    <a:cubicBezTo>
                      <a:pt x="151" y="221"/>
                      <a:pt x="134" y="226"/>
                      <a:pt x="113" y="226"/>
                    </a:cubicBezTo>
                    <a:cubicBezTo>
                      <a:pt x="92" y="226"/>
                      <a:pt x="74" y="221"/>
                      <a:pt x="56" y="211"/>
                    </a:cubicBezTo>
                    <a:cubicBezTo>
                      <a:pt x="38" y="201"/>
                      <a:pt x="25" y="188"/>
                      <a:pt x="15" y="170"/>
                    </a:cubicBezTo>
                    <a:cubicBezTo>
                      <a:pt x="5" y="152"/>
                      <a:pt x="0" y="134"/>
                      <a:pt x="0" y="113"/>
                    </a:cubicBezTo>
                    <a:cubicBezTo>
                      <a:pt x="0" y="92"/>
                      <a:pt x="5" y="75"/>
                      <a:pt x="15" y="57"/>
                    </a:cubicBezTo>
                    <a:cubicBezTo>
                      <a:pt x="25" y="39"/>
                      <a:pt x="38" y="27"/>
                      <a:pt x="56" y="16"/>
                    </a:cubicBezTo>
                    <a:cubicBezTo>
                      <a:pt x="74" y="6"/>
                      <a:pt x="92" y="0"/>
                      <a:pt x="113" y="0"/>
                    </a:cubicBezTo>
                    <a:cubicBezTo>
                      <a:pt x="134" y="0"/>
                      <a:pt x="151" y="6"/>
                      <a:pt x="169" y="16"/>
                    </a:cubicBezTo>
                    <a:cubicBezTo>
                      <a:pt x="187" y="27"/>
                      <a:pt x="200" y="39"/>
                      <a:pt x="210" y="57"/>
                    </a:cubicBezTo>
                    <a:cubicBezTo>
                      <a:pt x="221" y="75"/>
                      <a:pt x="226" y="92"/>
                      <a:pt x="226" y="113"/>
                    </a:cubicBezTo>
                  </a:path>
                </a:pathLst>
              </a:custGeom>
              <a:noFill/>
              <a:ln w="15875" cap="flat">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defTabSz="1828800">
                  <a:defRPr/>
                </a:pPr>
                <a:endParaRPr lang="en-US" sz="3600" kern="0">
                  <a:solidFill>
                    <a:srgbClr val="000000"/>
                  </a:solidFill>
                  <a:latin typeface="Arial"/>
                </a:endParaRPr>
              </a:p>
            </p:txBody>
          </p:sp>
          <p:sp>
            <p:nvSpPr>
              <p:cNvPr id="125" name="Freeform 298">
                <a:extLst>
                  <a:ext uri="{FF2B5EF4-FFF2-40B4-BE49-F238E27FC236}">
                    <a16:creationId xmlns:a16="http://schemas.microsoft.com/office/drawing/2014/main" id="{C15765C6-EBE7-E5E5-1A9C-22E39F8724FD}"/>
                  </a:ext>
                </a:extLst>
              </p:cNvPr>
              <p:cNvSpPr>
                <a:spLocks noChangeArrowheads="1"/>
              </p:cNvSpPr>
              <p:nvPr/>
            </p:nvSpPr>
            <p:spPr bwMode="auto">
              <a:xfrm>
                <a:off x="10823810" y="5961932"/>
                <a:ext cx="196521" cy="77418"/>
              </a:xfrm>
              <a:custGeom>
                <a:avLst/>
                <a:gdLst>
                  <a:gd name="T0" fmla="*/ 437 w 438"/>
                  <a:gd name="T1" fmla="*/ 169 h 170"/>
                  <a:gd name="T2" fmla="*/ 219 w 438"/>
                  <a:gd name="T3" fmla="*/ 0 h 170"/>
                  <a:gd name="T4" fmla="*/ 0 w 438"/>
                  <a:gd name="T5" fmla="*/ 169 h 170"/>
                </a:gdLst>
                <a:ahLst/>
                <a:cxnLst>
                  <a:cxn ang="0">
                    <a:pos x="T0" y="T1"/>
                  </a:cxn>
                  <a:cxn ang="0">
                    <a:pos x="T2" y="T3"/>
                  </a:cxn>
                  <a:cxn ang="0">
                    <a:pos x="T4" y="T5"/>
                  </a:cxn>
                </a:cxnLst>
                <a:rect l="0" t="0" r="r" b="b"/>
                <a:pathLst>
                  <a:path w="438" h="170">
                    <a:moveTo>
                      <a:pt x="437" y="169"/>
                    </a:moveTo>
                    <a:cubicBezTo>
                      <a:pt x="412" y="72"/>
                      <a:pt x="324" y="0"/>
                      <a:pt x="219" y="0"/>
                    </a:cubicBezTo>
                    <a:cubicBezTo>
                      <a:pt x="114" y="0"/>
                      <a:pt x="25" y="72"/>
                      <a:pt x="0" y="169"/>
                    </a:cubicBezTo>
                  </a:path>
                </a:pathLst>
              </a:custGeom>
              <a:noFill/>
              <a:ln w="15875" cap="rnd">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defTabSz="1828800">
                  <a:defRPr/>
                </a:pPr>
                <a:endParaRPr lang="en-US" sz="3600" kern="0">
                  <a:solidFill>
                    <a:srgbClr val="000000"/>
                  </a:solidFill>
                  <a:latin typeface="Arial"/>
                </a:endParaRPr>
              </a:p>
            </p:txBody>
          </p:sp>
        </p:grpSp>
      </p:grpSp>
      <p:cxnSp>
        <p:nvCxnSpPr>
          <p:cNvPr id="126" name="Elbow Connector 38">
            <a:extLst>
              <a:ext uri="{FF2B5EF4-FFF2-40B4-BE49-F238E27FC236}">
                <a16:creationId xmlns:a16="http://schemas.microsoft.com/office/drawing/2014/main" id="{FD6FA656-E05D-AA88-1F22-ECC9E1F2236E}"/>
              </a:ext>
            </a:extLst>
          </p:cNvPr>
          <p:cNvCxnSpPr>
            <a:cxnSpLocks/>
          </p:cNvCxnSpPr>
          <p:nvPr/>
        </p:nvCxnSpPr>
        <p:spPr>
          <a:xfrm flipV="1">
            <a:off x="11473011" y="2928313"/>
            <a:ext cx="9889430" cy="844258"/>
          </a:xfrm>
          <a:prstGeom prst="bentConnector3">
            <a:avLst>
              <a:gd name="adj1" fmla="val -5"/>
            </a:avLst>
          </a:prstGeom>
          <a:noFill/>
          <a:ln w="15875" cap="flat" cmpd="sng" algn="ctr">
            <a:solidFill>
              <a:srgbClr val="000000"/>
            </a:solidFill>
            <a:prstDash val="solid"/>
            <a:miter lim="800000"/>
            <a:headEnd type="arrow" w="lg" len="lg"/>
            <a:tailEnd type="arrow" w="lg" len="lg"/>
          </a:ln>
          <a:effectLst/>
        </p:spPr>
      </p:cxnSp>
      <p:sp>
        <p:nvSpPr>
          <p:cNvPr id="127" name="TextBox 126">
            <a:extLst>
              <a:ext uri="{FF2B5EF4-FFF2-40B4-BE49-F238E27FC236}">
                <a16:creationId xmlns:a16="http://schemas.microsoft.com/office/drawing/2014/main" id="{4F08B664-C90D-03BC-E15B-94E99BCD8ED8}"/>
              </a:ext>
            </a:extLst>
          </p:cNvPr>
          <p:cNvSpPr txBox="1"/>
          <p:nvPr/>
        </p:nvSpPr>
        <p:spPr>
          <a:xfrm>
            <a:off x="15529319" y="2702444"/>
            <a:ext cx="2951998" cy="415498"/>
          </a:xfrm>
          <a:prstGeom prst="rect">
            <a:avLst/>
          </a:prstGeom>
          <a:solidFill>
            <a:srgbClr val="000000"/>
          </a:solidFill>
        </p:spPr>
        <p:txBody>
          <a:bodyPr wrap="square" rtlCol="0">
            <a:spAutoFit/>
          </a:bodyPr>
          <a:lstStyle/>
          <a:p>
            <a:pPr defTabSz="1828800">
              <a:buClr>
                <a:srgbClr val="000000"/>
              </a:buClr>
              <a:defRPr/>
            </a:pPr>
            <a:r>
              <a:rPr lang="en-US" sz="2100" kern="0">
                <a:solidFill>
                  <a:srgbClr val="FFFFFF"/>
                </a:solidFill>
                <a:latin typeface="Arial"/>
                <a:cs typeface="Arial"/>
                <a:sym typeface="Arial"/>
              </a:rPr>
              <a:t>Consume / Feedback</a:t>
            </a:r>
          </a:p>
        </p:txBody>
      </p:sp>
      <p:sp>
        <p:nvSpPr>
          <p:cNvPr id="131" name="Title 130">
            <a:extLst>
              <a:ext uri="{FF2B5EF4-FFF2-40B4-BE49-F238E27FC236}">
                <a16:creationId xmlns:a16="http://schemas.microsoft.com/office/drawing/2014/main" id="{2D34B825-951A-DDDF-DEE2-70D0F4D6EBA7}"/>
              </a:ext>
            </a:extLst>
          </p:cNvPr>
          <p:cNvSpPr>
            <a:spLocks noGrp="1"/>
          </p:cNvSpPr>
          <p:nvPr>
            <p:ph type="title"/>
          </p:nvPr>
        </p:nvSpPr>
        <p:spPr/>
        <p:txBody>
          <a:bodyPr/>
          <a:lstStyle/>
          <a:p>
            <a:r>
              <a:rPr lang="en-GB"/>
              <a:t>Cloud Center of Excellence (CCoE)</a:t>
            </a:r>
            <a:endParaRPr lang="en-AE"/>
          </a:p>
        </p:txBody>
      </p:sp>
    </p:spTree>
    <p:extLst>
      <p:ext uri="{BB962C8B-B14F-4D97-AF65-F5344CB8AC3E}">
        <p14:creationId xmlns:p14="http://schemas.microsoft.com/office/powerpoint/2010/main" val="177665835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216C3647-CB47-D817-80BD-0F02CF3E5941}"/>
              </a:ext>
            </a:extLst>
          </p:cNvPr>
          <p:cNvSpPr>
            <a:spLocks noGrp="1"/>
          </p:cNvSpPr>
          <p:nvPr>
            <p:ph type="title"/>
          </p:nvPr>
        </p:nvSpPr>
        <p:spPr/>
        <p:txBody>
          <a:bodyPr/>
          <a:lstStyle/>
          <a:p>
            <a:r>
              <a:rPr lang="en-GB"/>
              <a:t>Cloud Foundation Capabilities &amp; Products</a:t>
            </a:r>
            <a:endParaRPr lang="en-AE"/>
          </a:p>
        </p:txBody>
      </p:sp>
      <p:sp>
        <p:nvSpPr>
          <p:cNvPr id="961" name="object 2">
            <a:extLst>
              <a:ext uri="{FF2B5EF4-FFF2-40B4-BE49-F238E27FC236}">
                <a16:creationId xmlns:a16="http://schemas.microsoft.com/office/drawing/2014/main" id="{F9EE45DC-C444-BE85-0281-2DBD0EC8E999}"/>
              </a:ext>
            </a:extLst>
          </p:cNvPr>
          <p:cNvSpPr/>
          <p:nvPr/>
        </p:nvSpPr>
        <p:spPr>
          <a:xfrm>
            <a:off x="350953" y="2489199"/>
            <a:ext cx="13654194" cy="11068050"/>
          </a:xfrm>
          <a:custGeom>
            <a:avLst/>
            <a:gdLst/>
            <a:ahLst/>
            <a:cxnLst/>
            <a:rect l="l" t="t" r="r" b="b"/>
            <a:pathLst>
              <a:path w="10240645" h="7582534">
                <a:moveTo>
                  <a:pt x="10240444" y="0"/>
                </a:moveTo>
                <a:lnTo>
                  <a:pt x="0" y="0"/>
                </a:lnTo>
                <a:lnTo>
                  <a:pt x="0" y="7582085"/>
                </a:lnTo>
                <a:lnTo>
                  <a:pt x="10240444" y="7582085"/>
                </a:lnTo>
                <a:lnTo>
                  <a:pt x="10240444" y="0"/>
                </a:lnTo>
                <a:close/>
              </a:path>
            </a:pathLst>
          </a:custGeom>
          <a:solidFill>
            <a:schemeClr val="bg1">
              <a:lumMod val="95000"/>
            </a:schemeClr>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962" name="object 3">
            <a:extLst>
              <a:ext uri="{FF2B5EF4-FFF2-40B4-BE49-F238E27FC236}">
                <a16:creationId xmlns:a16="http://schemas.microsoft.com/office/drawing/2014/main" id="{762E7775-C460-907C-44CC-F057258F5095}"/>
              </a:ext>
            </a:extLst>
          </p:cNvPr>
          <p:cNvSpPr txBox="1"/>
          <p:nvPr/>
        </p:nvSpPr>
        <p:spPr>
          <a:xfrm>
            <a:off x="350953" y="2742356"/>
            <a:ext cx="13654194" cy="452988"/>
          </a:xfrm>
          <a:prstGeom prst="rect">
            <a:avLst/>
          </a:prstGeom>
        </p:spPr>
        <p:txBody>
          <a:bodyPr vert="horz" wrap="square" lIns="0" tIns="42334" rIns="0" bIns="0" rtlCol="0">
            <a:spAutoFit/>
          </a:bodyPr>
          <a:lstStyle/>
          <a:p>
            <a:pPr algn="ctr" defTabSz="1219260">
              <a:spcBef>
                <a:spcPts val="334"/>
              </a:spcBef>
              <a:defRPr/>
            </a:pPr>
            <a:r>
              <a:rPr lang="en-US" sz="2666" b="1" kern="0">
                <a:solidFill>
                  <a:sysClr val="windowText" lastClr="000000"/>
                </a:solidFill>
                <a:latin typeface="Arial"/>
                <a:cs typeface="Arial"/>
              </a:rPr>
              <a:t>Cloud</a:t>
            </a:r>
            <a:r>
              <a:rPr lang="en-US" sz="2666" b="1" kern="0" spc="-86">
                <a:solidFill>
                  <a:sysClr val="windowText" lastClr="000000"/>
                </a:solidFill>
                <a:latin typeface="Arial"/>
                <a:cs typeface="Arial"/>
              </a:rPr>
              <a:t> </a:t>
            </a:r>
            <a:r>
              <a:rPr lang="en-US" sz="2666" b="1" kern="0">
                <a:solidFill>
                  <a:sysClr val="windowText" lastClr="000000"/>
                </a:solidFill>
                <a:latin typeface="Arial"/>
                <a:cs typeface="Arial"/>
              </a:rPr>
              <a:t>Business</a:t>
            </a:r>
            <a:r>
              <a:rPr lang="en-US" sz="2666" b="1" kern="0" spc="-86">
                <a:solidFill>
                  <a:sysClr val="windowText" lastClr="000000"/>
                </a:solidFill>
                <a:latin typeface="Arial"/>
                <a:cs typeface="Arial"/>
              </a:rPr>
              <a:t> </a:t>
            </a:r>
            <a:r>
              <a:rPr lang="en-US" sz="2666" b="1" kern="0">
                <a:solidFill>
                  <a:sysClr val="windowText" lastClr="000000"/>
                </a:solidFill>
                <a:latin typeface="Arial"/>
                <a:cs typeface="Arial"/>
              </a:rPr>
              <a:t>Office</a:t>
            </a:r>
            <a:r>
              <a:rPr lang="en-US" sz="2666" b="1" kern="0" spc="-86">
                <a:solidFill>
                  <a:sysClr val="windowText" lastClr="000000"/>
                </a:solidFill>
                <a:latin typeface="Arial"/>
                <a:cs typeface="Arial"/>
              </a:rPr>
              <a:t> </a:t>
            </a:r>
            <a:r>
              <a:rPr lang="en-US" sz="2666" b="1" kern="0">
                <a:solidFill>
                  <a:sysClr val="windowText" lastClr="000000"/>
                </a:solidFill>
                <a:latin typeface="Arial"/>
                <a:cs typeface="Arial"/>
              </a:rPr>
              <a:t>(CBO)</a:t>
            </a:r>
            <a:r>
              <a:rPr lang="en-US" sz="2666" b="1" kern="0" spc="-86">
                <a:solidFill>
                  <a:sysClr val="windowText" lastClr="000000"/>
                </a:solidFill>
                <a:latin typeface="Arial"/>
                <a:cs typeface="Arial"/>
              </a:rPr>
              <a:t> </a:t>
            </a:r>
            <a:r>
              <a:rPr lang="en-US" sz="2666" b="1" kern="0" spc="-14">
                <a:solidFill>
                  <a:sysClr val="windowText" lastClr="000000"/>
                </a:solidFill>
                <a:latin typeface="Arial"/>
                <a:cs typeface="Arial"/>
              </a:rPr>
              <a:t>Capabilities</a:t>
            </a:r>
            <a:endParaRPr lang="en-US" sz="2666" kern="0">
              <a:solidFill>
                <a:sysClr val="windowText" lastClr="000000"/>
              </a:solidFill>
              <a:latin typeface="Arial"/>
              <a:cs typeface="Arial"/>
            </a:endParaRPr>
          </a:p>
        </p:txBody>
      </p:sp>
      <p:sp>
        <p:nvSpPr>
          <p:cNvPr id="963" name="object 4">
            <a:extLst>
              <a:ext uri="{FF2B5EF4-FFF2-40B4-BE49-F238E27FC236}">
                <a16:creationId xmlns:a16="http://schemas.microsoft.com/office/drawing/2014/main" id="{05A08AEC-20D1-12AE-B88A-46E0C4CB2E2A}"/>
              </a:ext>
            </a:extLst>
          </p:cNvPr>
          <p:cNvSpPr/>
          <p:nvPr/>
        </p:nvSpPr>
        <p:spPr>
          <a:xfrm>
            <a:off x="14138783" y="2489200"/>
            <a:ext cx="9930418" cy="11068048"/>
          </a:xfrm>
          <a:custGeom>
            <a:avLst/>
            <a:gdLst/>
            <a:ahLst/>
            <a:cxnLst/>
            <a:rect l="l" t="t" r="r" b="b"/>
            <a:pathLst>
              <a:path w="7347584" h="7582534">
                <a:moveTo>
                  <a:pt x="7347309" y="0"/>
                </a:moveTo>
                <a:lnTo>
                  <a:pt x="0" y="0"/>
                </a:lnTo>
                <a:lnTo>
                  <a:pt x="0" y="7582085"/>
                </a:lnTo>
                <a:lnTo>
                  <a:pt x="7347309" y="7582085"/>
                </a:lnTo>
                <a:lnTo>
                  <a:pt x="7347309" y="0"/>
                </a:lnTo>
                <a:close/>
              </a:path>
            </a:pathLst>
          </a:custGeom>
          <a:solidFill>
            <a:schemeClr val="bg1">
              <a:lumMod val="95000"/>
            </a:schemeClr>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964" name="object 5">
            <a:extLst>
              <a:ext uri="{FF2B5EF4-FFF2-40B4-BE49-F238E27FC236}">
                <a16:creationId xmlns:a16="http://schemas.microsoft.com/office/drawing/2014/main" id="{A540DF33-EC34-F1EE-AD5A-BB86E1A35080}"/>
              </a:ext>
            </a:extLst>
          </p:cNvPr>
          <p:cNvSpPr txBox="1"/>
          <p:nvPr/>
        </p:nvSpPr>
        <p:spPr>
          <a:xfrm>
            <a:off x="14138785" y="2742354"/>
            <a:ext cx="9796778" cy="456407"/>
          </a:xfrm>
          <a:prstGeom prst="rect">
            <a:avLst/>
          </a:prstGeom>
        </p:spPr>
        <p:txBody>
          <a:bodyPr vert="horz" wrap="square" lIns="0" tIns="45720" rIns="0" bIns="0" rtlCol="0">
            <a:spAutoFit/>
          </a:bodyPr>
          <a:lstStyle/>
          <a:p>
            <a:pPr algn="ctr" defTabSz="1219260">
              <a:spcBef>
                <a:spcPts val="360"/>
              </a:spcBef>
              <a:defRPr/>
            </a:pPr>
            <a:r>
              <a:rPr lang="en-US" sz="2666" b="1" kern="0">
                <a:solidFill>
                  <a:sysClr val="windowText" lastClr="000000"/>
                </a:solidFill>
                <a:latin typeface="Arial"/>
                <a:cs typeface="Arial"/>
              </a:rPr>
              <a:t>Cloud</a:t>
            </a:r>
            <a:r>
              <a:rPr lang="en-US" sz="2666" b="1" kern="0" spc="-86">
                <a:solidFill>
                  <a:sysClr val="windowText" lastClr="000000"/>
                </a:solidFill>
                <a:latin typeface="Arial"/>
                <a:cs typeface="Arial"/>
              </a:rPr>
              <a:t> </a:t>
            </a:r>
            <a:r>
              <a:rPr lang="en-US" sz="2666" b="1" kern="0">
                <a:solidFill>
                  <a:sysClr val="windowText" lastClr="000000"/>
                </a:solidFill>
                <a:latin typeface="Arial"/>
                <a:cs typeface="Arial"/>
              </a:rPr>
              <a:t>Platform</a:t>
            </a:r>
            <a:r>
              <a:rPr lang="en-US" sz="2666" b="1" kern="0" spc="-94">
                <a:solidFill>
                  <a:sysClr val="windowText" lastClr="000000"/>
                </a:solidFill>
                <a:latin typeface="Arial"/>
                <a:cs typeface="Arial"/>
              </a:rPr>
              <a:t> </a:t>
            </a:r>
            <a:r>
              <a:rPr lang="en-US" sz="2666" b="1" kern="0">
                <a:solidFill>
                  <a:sysClr val="windowText" lastClr="000000"/>
                </a:solidFill>
                <a:latin typeface="Arial"/>
                <a:cs typeface="Arial"/>
              </a:rPr>
              <a:t>Engineering</a:t>
            </a:r>
            <a:r>
              <a:rPr lang="en-US" sz="2666" b="1" kern="0" spc="-86">
                <a:solidFill>
                  <a:sysClr val="windowText" lastClr="000000"/>
                </a:solidFill>
                <a:latin typeface="Arial"/>
                <a:cs typeface="Arial"/>
              </a:rPr>
              <a:t> </a:t>
            </a:r>
            <a:r>
              <a:rPr lang="en-US" sz="2666" b="1" kern="0">
                <a:solidFill>
                  <a:sysClr val="windowText" lastClr="000000"/>
                </a:solidFill>
                <a:latin typeface="Arial"/>
                <a:cs typeface="Arial"/>
              </a:rPr>
              <a:t>(CPE)</a:t>
            </a:r>
            <a:r>
              <a:rPr lang="en-US" sz="2666" b="1" kern="0" spc="-94">
                <a:solidFill>
                  <a:sysClr val="windowText" lastClr="000000"/>
                </a:solidFill>
                <a:latin typeface="Arial"/>
                <a:cs typeface="Arial"/>
              </a:rPr>
              <a:t> </a:t>
            </a:r>
            <a:r>
              <a:rPr lang="en-US" sz="2666" b="1" kern="0" spc="-14">
                <a:solidFill>
                  <a:sysClr val="windowText" lastClr="000000"/>
                </a:solidFill>
                <a:latin typeface="Arial"/>
                <a:cs typeface="Arial"/>
              </a:rPr>
              <a:t>Products</a:t>
            </a:r>
            <a:endParaRPr lang="en-US" sz="2666" kern="0">
              <a:solidFill>
                <a:sysClr val="windowText" lastClr="000000"/>
              </a:solidFill>
              <a:latin typeface="Arial"/>
              <a:cs typeface="Arial"/>
            </a:endParaRPr>
          </a:p>
        </p:txBody>
      </p:sp>
      <p:grpSp>
        <p:nvGrpSpPr>
          <p:cNvPr id="965" name="object 7">
            <a:extLst>
              <a:ext uri="{FF2B5EF4-FFF2-40B4-BE49-F238E27FC236}">
                <a16:creationId xmlns:a16="http://schemas.microsoft.com/office/drawing/2014/main" id="{7453EB87-B9CB-54EF-DA82-CC20D324950F}"/>
              </a:ext>
            </a:extLst>
          </p:cNvPr>
          <p:cNvGrpSpPr/>
          <p:nvPr/>
        </p:nvGrpSpPr>
        <p:grpSpPr>
          <a:xfrm>
            <a:off x="14230536" y="3689183"/>
            <a:ext cx="9574952" cy="3097106"/>
            <a:chOff x="10672902" y="2409699"/>
            <a:chExt cx="7181215" cy="2322830"/>
          </a:xfrm>
          <a:solidFill>
            <a:srgbClr val="005AC8"/>
          </a:solidFill>
        </p:grpSpPr>
        <p:sp>
          <p:nvSpPr>
            <p:cNvPr id="966" name="object 8">
              <a:extLst>
                <a:ext uri="{FF2B5EF4-FFF2-40B4-BE49-F238E27FC236}">
                  <a16:creationId xmlns:a16="http://schemas.microsoft.com/office/drawing/2014/main" id="{E7F96DFF-B353-576D-7CCC-5A262E52A3D0}"/>
                </a:ext>
              </a:extLst>
            </p:cNvPr>
            <p:cNvSpPr/>
            <p:nvPr/>
          </p:nvSpPr>
          <p:spPr>
            <a:xfrm>
              <a:off x="10672902" y="2409699"/>
              <a:ext cx="7181215" cy="2322830"/>
            </a:xfrm>
            <a:custGeom>
              <a:avLst/>
              <a:gdLst/>
              <a:ahLst/>
              <a:cxnLst/>
              <a:rect l="l" t="t" r="r" b="b"/>
              <a:pathLst>
                <a:path w="7181215" h="2322829">
                  <a:moveTo>
                    <a:pt x="7180999" y="0"/>
                  </a:moveTo>
                  <a:lnTo>
                    <a:pt x="0" y="0"/>
                  </a:lnTo>
                  <a:lnTo>
                    <a:pt x="0" y="2322576"/>
                  </a:lnTo>
                  <a:lnTo>
                    <a:pt x="7180999" y="2322576"/>
                  </a:lnTo>
                  <a:lnTo>
                    <a:pt x="7180999" y="0"/>
                  </a:lnTo>
                  <a:close/>
                </a:path>
              </a:pathLst>
            </a:custGeom>
            <a:grpFill/>
          </p:spPr>
          <p:txBody>
            <a:bodyPr wrap="square" lIns="0" tIns="0" rIns="0" bIns="0" rtlCol="0"/>
            <a:lstStyle/>
            <a:p>
              <a:pPr defTabSz="1219260">
                <a:defRPr/>
              </a:pPr>
              <a:endParaRPr sz="2400" kern="0">
                <a:solidFill>
                  <a:sysClr val="windowText" lastClr="000000"/>
                </a:solidFill>
                <a:latin typeface="Arial"/>
              </a:endParaRPr>
            </a:p>
          </p:txBody>
        </p:sp>
        <p:sp>
          <p:nvSpPr>
            <p:cNvPr id="967" name="object 9">
              <a:extLst>
                <a:ext uri="{FF2B5EF4-FFF2-40B4-BE49-F238E27FC236}">
                  <a16:creationId xmlns:a16="http://schemas.microsoft.com/office/drawing/2014/main" id="{94945FBA-8BF3-45A2-BE79-0C0AD79F2827}"/>
                </a:ext>
              </a:extLst>
            </p:cNvPr>
            <p:cNvSpPr/>
            <p:nvPr/>
          </p:nvSpPr>
          <p:spPr>
            <a:xfrm>
              <a:off x="10672902" y="2409699"/>
              <a:ext cx="7181215" cy="2322830"/>
            </a:xfrm>
            <a:custGeom>
              <a:avLst/>
              <a:gdLst/>
              <a:ahLst/>
              <a:cxnLst/>
              <a:rect l="l" t="t" r="r" b="b"/>
              <a:pathLst>
                <a:path w="7181215" h="2322829">
                  <a:moveTo>
                    <a:pt x="7180999" y="0"/>
                  </a:moveTo>
                  <a:lnTo>
                    <a:pt x="7180999" y="2322576"/>
                  </a:lnTo>
                  <a:lnTo>
                    <a:pt x="0" y="2322576"/>
                  </a:lnTo>
                  <a:lnTo>
                    <a:pt x="0" y="0"/>
                  </a:lnTo>
                  <a:lnTo>
                    <a:pt x="7180999" y="0"/>
                  </a:lnTo>
                  <a:close/>
                </a:path>
              </a:pathLst>
            </a:custGeom>
            <a:grpFill/>
            <a:ln w="12700">
              <a:solidFill>
                <a:srgbClr val="007BC7"/>
              </a:solidFill>
            </a:ln>
          </p:spPr>
          <p:txBody>
            <a:bodyPr wrap="square" lIns="0" tIns="0" rIns="0" bIns="0" rtlCol="0"/>
            <a:lstStyle/>
            <a:p>
              <a:pPr defTabSz="1219260">
                <a:defRPr/>
              </a:pPr>
              <a:endParaRPr sz="2400" kern="0">
                <a:solidFill>
                  <a:sysClr val="windowText" lastClr="000000"/>
                </a:solidFill>
                <a:latin typeface="Arial"/>
              </a:endParaRPr>
            </a:p>
          </p:txBody>
        </p:sp>
      </p:grpSp>
      <p:sp>
        <p:nvSpPr>
          <p:cNvPr id="968" name="object 10">
            <a:extLst>
              <a:ext uri="{FF2B5EF4-FFF2-40B4-BE49-F238E27FC236}">
                <a16:creationId xmlns:a16="http://schemas.microsoft.com/office/drawing/2014/main" id="{2EEDB33C-68F3-011D-BED2-7CFC1E7FE7A6}"/>
              </a:ext>
            </a:extLst>
          </p:cNvPr>
          <p:cNvSpPr txBox="1"/>
          <p:nvPr/>
        </p:nvSpPr>
        <p:spPr>
          <a:xfrm>
            <a:off x="23287629" y="4535511"/>
            <a:ext cx="397545" cy="1406314"/>
          </a:xfrm>
          <a:prstGeom prst="rect">
            <a:avLst/>
          </a:prstGeom>
        </p:spPr>
        <p:txBody>
          <a:bodyPr vert="vert" wrap="square" lIns="0" tIns="0" rIns="0" bIns="0" rtlCol="0">
            <a:spAutoFit/>
          </a:bodyPr>
          <a:lstStyle/>
          <a:p>
            <a:pPr marL="16934" defTabSz="1219260">
              <a:lnSpc>
                <a:spcPts val="3080"/>
              </a:lnSpc>
              <a:defRPr/>
            </a:pPr>
            <a:r>
              <a:rPr lang="en-US" sz="2666" b="1" kern="0" spc="-14">
                <a:solidFill>
                  <a:srgbClr val="FFFFFF"/>
                </a:solidFill>
                <a:latin typeface="Arial"/>
                <a:cs typeface="Arial"/>
              </a:rPr>
              <a:t>Platform</a:t>
            </a:r>
            <a:endParaRPr lang="en-US" sz="2666" kern="0">
              <a:solidFill>
                <a:sysClr val="windowText" lastClr="000000"/>
              </a:solidFill>
              <a:latin typeface="Arial"/>
              <a:cs typeface="Arial"/>
            </a:endParaRPr>
          </a:p>
        </p:txBody>
      </p:sp>
      <p:sp>
        <p:nvSpPr>
          <p:cNvPr id="969" name="object 11">
            <a:extLst>
              <a:ext uri="{FF2B5EF4-FFF2-40B4-BE49-F238E27FC236}">
                <a16:creationId xmlns:a16="http://schemas.microsoft.com/office/drawing/2014/main" id="{288612DD-94E6-C8C2-43F0-EF6C0BC51B47}"/>
              </a:ext>
            </a:extLst>
          </p:cNvPr>
          <p:cNvSpPr/>
          <p:nvPr/>
        </p:nvSpPr>
        <p:spPr>
          <a:xfrm>
            <a:off x="14230209" y="6869667"/>
            <a:ext cx="9574954" cy="3097106"/>
          </a:xfrm>
          <a:custGeom>
            <a:avLst/>
            <a:gdLst/>
            <a:ahLst/>
            <a:cxnLst/>
            <a:rect l="l" t="t" r="r" b="b"/>
            <a:pathLst>
              <a:path w="7194550" h="2322829">
                <a:moveTo>
                  <a:pt x="7194312" y="0"/>
                </a:moveTo>
                <a:lnTo>
                  <a:pt x="0" y="0"/>
                </a:lnTo>
                <a:lnTo>
                  <a:pt x="0" y="2322576"/>
                </a:lnTo>
                <a:lnTo>
                  <a:pt x="7194312" y="2322576"/>
                </a:lnTo>
                <a:lnTo>
                  <a:pt x="7194312" y="0"/>
                </a:lnTo>
                <a:close/>
              </a:path>
            </a:pathLst>
          </a:custGeom>
          <a:solidFill>
            <a:srgbClr val="F7A028"/>
          </a:solidFill>
          <a:ln>
            <a:solidFill>
              <a:srgbClr val="FFC000"/>
            </a:solidFill>
          </a:ln>
        </p:spPr>
        <p:txBody>
          <a:bodyPr wrap="square" lIns="0" tIns="0" rIns="0" bIns="0" rtlCol="0"/>
          <a:lstStyle/>
          <a:p>
            <a:pPr defTabSz="1219260">
              <a:defRPr/>
            </a:pPr>
            <a:endParaRPr lang="en-US" sz="2400" kern="0">
              <a:solidFill>
                <a:sysClr val="windowText" lastClr="000000"/>
              </a:solidFill>
              <a:latin typeface="Arial"/>
            </a:endParaRPr>
          </a:p>
        </p:txBody>
      </p:sp>
      <p:sp>
        <p:nvSpPr>
          <p:cNvPr id="970" name="object 12">
            <a:extLst>
              <a:ext uri="{FF2B5EF4-FFF2-40B4-BE49-F238E27FC236}">
                <a16:creationId xmlns:a16="http://schemas.microsoft.com/office/drawing/2014/main" id="{B9FB1794-ACF5-4B7D-0161-768D9DB505CE}"/>
              </a:ext>
            </a:extLst>
          </p:cNvPr>
          <p:cNvSpPr txBox="1"/>
          <p:nvPr/>
        </p:nvSpPr>
        <p:spPr>
          <a:xfrm>
            <a:off x="23287280" y="7506293"/>
            <a:ext cx="397545" cy="2164758"/>
          </a:xfrm>
          <a:prstGeom prst="rect">
            <a:avLst/>
          </a:prstGeom>
        </p:spPr>
        <p:txBody>
          <a:bodyPr vert="vert" wrap="square" lIns="0" tIns="0" rIns="0" bIns="0" rtlCol="0">
            <a:spAutoFit/>
          </a:bodyPr>
          <a:lstStyle/>
          <a:p>
            <a:pPr marL="16934" algn="ctr" defTabSz="1219260">
              <a:lnSpc>
                <a:spcPts val="3080"/>
              </a:lnSpc>
              <a:defRPr/>
            </a:pPr>
            <a:r>
              <a:rPr lang="en-US" sz="2666" b="1" kern="0" spc="-14">
                <a:solidFill>
                  <a:srgbClr val="FFFFFF"/>
                </a:solidFill>
                <a:latin typeface="Arial"/>
                <a:cs typeface="Arial"/>
              </a:rPr>
              <a:t>Operations</a:t>
            </a:r>
            <a:endParaRPr lang="en-US" sz="2666" kern="0">
              <a:solidFill>
                <a:sysClr val="windowText" lastClr="000000"/>
              </a:solidFill>
              <a:latin typeface="Arial"/>
              <a:cs typeface="Arial"/>
            </a:endParaRPr>
          </a:p>
        </p:txBody>
      </p:sp>
      <p:grpSp>
        <p:nvGrpSpPr>
          <p:cNvPr id="971" name="object 13">
            <a:extLst>
              <a:ext uri="{FF2B5EF4-FFF2-40B4-BE49-F238E27FC236}">
                <a16:creationId xmlns:a16="http://schemas.microsoft.com/office/drawing/2014/main" id="{F2DF90D5-AC71-5E91-598C-52B899A7CC52}"/>
              </a:ext>
            </a:extLst>
          </p:cNvPr>
          <p:cNvGrpSpPr/>
          <p:nvPr/>
        </p:nvGrpSpPr>
        <p:grpSpPr>
          <a:xfrm>
            <a:off x="14230950" y="10035971"/>
            <a:ext cx="9586812" cy="3097106"/>
            <a:chOff x="10673212" y="7169792"/>
            <a:chExt cx="7190110" cy="2322830"/>
          </a:xfrm>
          <a:solidFill>
            <a:srgbClr val="EB0000"/>
          </a:solidFill>
        </p:grpSpPr>
        <p:sp>
          <p:nvSpPr>
            <p:cNvPr id="972" name="object 14">
              <a:extLst>
                <a:ext uri="{FF2B5EF4-FFF2-40B4-BE49-F238E27FC236}">
                  <a16:creationId xmlns:a16="http://schemas.microsoft.com/office/drawing/2014/main" id="{509425F4-3715-B6CD-5E29-42EA18B95A50}"/>
                </a:ext>
              </a:extLst>
            </p:cNvPr>
            <p:cNvSpPr/>
            <p:nvPr/>
          </p:nvSpPr>
          <p:spPr>
            <a:xfrm>
              <a:off x="10673212" y="7169792"/>
              <a:ext cx="7190105" cy="2322830"/>
            </a:xfrm>
            <a:custGeom>
              <a:avLst/>
              <a:gdLst/>
              <a:ahLst/>
              <a:cxnLst/>
              <a:rect l="l" t="t" r="r" b="b"/>
              <a:pathLst>
                <a:path w="7190105" h="2322829">
                  <a:moveTo>
                    <a:pt x="7189485" y="0"/>
                  </a:moveTo>
                  <a:lnTo>
                    <a:pt x="0" y="0"/>
                  </a:lnTo>
                  <a:lnTo>
                    <a:pt x="0" y="2322575"/>
                  </a:lnTo>
                  <a:lnTo>
                    <a:pt x="7189485" y="2322575"/>
                  </a:lnTo>
                  <a:lnTo>
                    <a:pt x="7189485" y="0"/>
                  </a:lnTo>
                  <a:close/>
                </a:path>
              </a:pathLst>
            </a:custGeom>
            <a:grpFill/>
            <a:ln>
              <a:solidFill>
                <a:srgbClr val="C00000"/>
              </a:solidFill>
            </a:ln>
          </p:spPr>
          <p:txBody>
            <a:bodyPr wrap="square" lIns="0" tIns="0" rIns="0" bIns="0" rtlCol="0"/>
            <a:lstStyle/>
            <a:p>
              <a:pPr defTabSz="1219260">
                <a:defRPr/>
              </a:pPr>
              <a:endParaRPr sz="2400" kern="0">
                <a:solidFill>
                  <a:sysClr val="windowText" lastClr="000000"/>
                </a:solidFill>
                <a:latin typeface="Arial"/>
              </a:endParaRPr>
            </a:p>
          </p:txBody>
        </p:sp>
        <p:sp>
          <p:nvSpPr>
            <p:cNvPr id="973" name="object 15">
              <a:extLst>
                <a:ext uri="{FF2B5EF4-FFF2-40B4-BE49-F238E27FC236}">
                  <a16:creationId xmlns:a16="http://schemas.microsoft.com/office/drawing/2014/main" id="{BEBF9B70-BB79-1300-7CB4-51FF220FAF4B}"/>
                </a:ext>
              </a:extLst>
            </p:cNvPr>
            <p:cNvSpPr/>
            <p:nvPr/>
          </p:nvSpPr>
          <p:spPr>
            <a:xfrm>
              <a:off x="10673217" y="7169792"/>
              <a:ext cx="7190105" cy="2322830"/>
            </a:xfrm>
            <a:custGeom>
              <a:avLst/>
              <a:gdLst/>
              <a:ahLst/>
              <a:cxnLst/>
              <a:rect l="l" t="t" r="r" b="b"/>
              <a:pathLst>
                <a:path w="7190105" h="2322829">
                  <a:moveTo>
                    <a:pt x="7189485" y="0"/>
                  </a:moveTo>
                  <a:lnTo>
                    <a:pt x="7189485" y="2322576"/>
                  </a:lnTo>
                  <a:lnTo>
                    <a:pt x="0" y="2322576"/>
                  </a:lnTo>
                  <a:lnTo>
                    <a:pt x="0" y="0"/>
                  </a:lnTo>
                  <a:lnTo>
                    <a:pt x="7189485" y="0"/>
                  </a:lnTo>
                  <a:close/>
                </a:path>
              </a:pathLst>
            </a:custGeom>
            <a:grpFill/>
            <a:ln w="12700">
              <a:solidFill>
                <a:srgbClr val="C00000"/>
              </a:solidFill>
            </a:ln>
          </p:spPr>
          <p:txBody>
            <a:bodyPr wrap="square" lIns="0" tIns="0" rIns="0" bIns="0" rtlCol="0"/>
            <a:lstStyle/>
            <a:p>
              <a:pPr defTabSz="1219260">
                <a:defRPr/>
              </a:pPr>
              <a:endParaRPr sz="2400" kern="0">
                <a:solidFill>
                  <a:sysClr val="windowText" lastClr="000000"/>
                </a:solidFill>
                <a:latin typeface="Arial"/>
              </a:endParaRPr>
            </a:p>
          </p:txBody>
        </p:sp>
      </p:grpSp>
      <p:sp>
        <p:nvSpPr>
          <p:cNvPr id="974" name="object 16">
            <a:extLst>
              <a:ext uri="{FF2B5EF4-FFF2-40B4-BE49-F238E27FC236}">
                <a16:creationId xmlns:a16="http://schemas.microsoft.com/office/drawing/2014/main" id="{F46480E0-B0CD-FB91-4C18-5D28AD3D43CC}"/>
              </a:ext>
            </a:extLst>
          </p:cNvPr>
          <p:cNvSpPr txBox="1"/>
          <p:nvPr/>
        </p:nvSpPr>
        <p:spPr>
          <a:xfrm>
            <a:off x="23299357" y="10899733"/>
            <a:ext cx="397545" cy="1369058"/>
          </a:xfrm>
          <a:prstGeom prst="rect">
            <a:avLst/>
          </a:prstGeom>
        </p:spPr>
        <p:txBody>
          <a:bodyPr vert="vert" wrap="square" lIns="0" tIns="0" rIns="0" bIns="0" rtlCol="0">
            <a:spAutoFit/>
          </a:bodyPr>
          <a:lstStyle/>
          <a:p>
            <a:pPr marL="16934" defTabSz="1219260">
              <a:lnSpc>
                <a:spcPts val="3080"/>
              </a:lnSpc>
              <a:defRPr/>
            </a:pPr>
            <a:r>
              <a:rPr lang="en-US" sz="2666" b="1" kern="0" spc="-14">
                <a:solidFill>
                  <a:srgbClr val="FFFFFF"/>
                </a:solidFill>
                <a:latin typeface="Arial"/>
                <a:cs typeface="Arial"/>
              </a:rPr>
              <a:t>Security</a:t>
            </a:r>
            <a:endParaRPr lang="en-US" sz="2666" kern="0">
              <a:solidFill>
                <a:sysClr val="windowText" lastClr="000000"/>
              </a:solidFill>
              <a:latin typeface="Arial"/>
              <a:cs typeface="Arial"/>
            </a:endParaRPr>
          </a:p>
        </p:txBody>
      </p:sp>
      <p:grpSp>
        <p:nvGrpSpPr>
          <p:cNvPr id="975" name="object 17">
            <a:extLst>
              <a:ext uri="{FF2B5EF4-FFF2-40B4-BE49-F238E27FC236}">
                <a16:creationId xmlns:a16="http://schemas.microsoft.com/office/drawing/2014/main" id="{02F31836-6A40-1249-96AB-DE6B79EE0DD6}"/>
              </a:ext>
            </a:extLst>
          </p:cNvPr>
          <p:cNvGrpSpPr/>
          <p:nvPr/>
        </p:nvGrpSpPr>
        <p:grpSpPr>
          <a:xfrm>
            <a:off x="14353075" y="3874711"/>
            <a:ext cx="8746974" cy="9150622"/>
            <a:chOff x="10764804" y="2548845"/>
            <a:chExt cx="6560230" cy="6862967"/>
          </a:xfrm>
        </p:grpSpPr>
        <p:sp>
          <p:nvSpPr>
            <p:cNvPr id="976" name="object 18">
              <a:extLst>
                <a:ext uri="{FF2B5EF4-FFF2-40B4-BE49-F238E27FC236}">
                  <a16:creationId xmlns:a16="http://schemas.microsoft.com/office/drawing/2014/main" id="{F4C9B720-C122-9BB6-D543-4B008DAB3F56}"/>
                </a:ext>
              </a:extLst>
            </p:cNvPr>
            <p:cNvSpPr/>
            <p:nvPr/>
          </p:nvSpPr>
          <p:spPr>
            <a:xfrm>
              <a:off x="14124634" y="2548845"/>
              <a:ext cx="3200400" cy="2103120"/>
            </a:xfrm>
            <a:custGeom>
              <a:avLst/>
              <a:gdLst/>
              <a:ahLst/>
              <a:cxnLst/>
              <a:rect l="l" t="t" r="r" b="b"/>
              <a:pathLst>
                <a:path w="3200400" h="2103120">
                  <a:moveTo>
                    <a:pt x="3200400" y="0"/>
                  </a:moveTo>
                  <a:lnTo>
                    <a:pt x="0" y="0"/>
                  </a:lnTo>
                  <a:lnTo>
                    <a:pt x="0" y="2103119"/>
                  </a:lnTo>
                  <a:lnTo>
                    <a:pt x="3200400" y="2103119"/>
                  </a:lnTo>
                  <a:lnTo>
                    <a:pt x="32004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sp>
          <p:nvSpPr>
            <p:cNvPr id="977" name="object 19">
              <a:extLst>
                <a:ext uri="{FF2B5EF4-FFF2-40B4-BE49-F238E27FC236}">
                  <a16:creationId xmlns:a16="http://schemas.microsoft.com/office/drawing/2014/main" id="{A2DF5111-04ED-BC9F-01D0-0F10A707CD01}"/>
                </a:ext>
              </a:extLst>
            </p:cNvPr>
            <p:cNvSpPr/>
            <p:nvPr/>
          </p:nvSpPr>
          <p:spPr>
            <a:xfrm>
              <a:off x="14124634" y="2548845"/>
              <a:ext cx="3200400" cy="2103120"/>
            </a:xfrm>
            <a:custGeom>
              <a:avLst/>
              <a:gdLst/>
              <a:ahLst/>
              <a:cxnLst/>
              <a:rect l="l" t="t" r="r" b="b"/>
              <a:pathLst>
                <a:path w="3200400" h="2103120">
                  <a:moveTo>
                    <a:pt x="0" y="0"/>
                  </a:moveTo>
                  <a:lnTo>
                    <a:pt x="3200400" y="0"/>
                  </a:lnTo>
                  <a:lnTo>
                    <a:pt x="3200400" y="2103120"/>
                  </a:lnTo>
                  <a:lnTo>
                    <a:pt x="0" y="2103120"/>
                  </a:lnTo>
                  <a:lnTo>
                    <a:pt x="0" y="0"/>
                  </a:lnTo>
                  <a:close/>
                </a:path>
              </a:pathLst>
            </a:custGeom>
            <a:ln w="12700">
              <a:solidFill>
                <a:srgbClr val="007BC7"/>
              </a:solidFill>
            </a:ln>
          </p:spPr>
          <p:txBody>
            <a:bodyPr wrap="square" lIns="0" tIns="0" rIns="0" bIns="0" rtlCol="0"/>
            <a:lstStyle/>
            <a:p>
              <a:pPr defTabSz="1219260">
                <a:defRPr/>
              </a:pPr>
              <a:endParaRPr sz="2400" kern="0">
                <a:solidFill>
                  <a:sysClr val="windowText" lastClr="000000"/>
                </a:solidFill>
                <a:latin typeface="Arial"/>
              </a:endParaRPr>
            </a:p>
          </p:txBody>
        </p:sp>
        <p:sp>
          <p:nvSpPr>
            <p:cNvPr id="978" name="object 20">
              <a:extLst>
                <a:ext uri="{FF2B5EF4-FFF2-40B4-BE49-F238E27FC236}">
                  <a16:creationId xmlns:a16="http://schemas.microsoft.com/office/drawing/2014/main" id="{0FA0AC2D-C593-960C-9591-4342C3815C8C}"/>
                </a:ext>
              </a:extLst>
            </p:cNvPr>
            <p:cNvSpPr/>
            <p:nvPr/>
          </p:nvSpPr>
          <p:spPr>
            <a:xfrm>
              <a:off x="10775437" y="2548845"/>
              <a:ext cx="3200400" cy="2103120"/>
            </a:xfrm>
            <a:custGeom>
              <a:avLst/>
              <a:gdLst/>
              <a:ahLst/>
              <a:cxnLst/>
              <a:rect l="l" t="t" r="r" b="b"/>
              <a:pathLst>
                <a:path w="3200400" h="2103120">
                  <a:moveTo>
                    <a:pt x="3200399" y="0"/>
                  </a:moveTo>
                  <a:lnTo>
                    <a:pt x="0" y="0"/>
                  </a:lnTo>
                  <a:lnTo>
                    <a:pt x="0" y="2103119"/>
                  </a:lnTo>
                  <a:lnTo>
                    <a:pt x="3200399" y="2103119"/>
                  </a:lnTo>
                  <a:lnTo>
                    <a:pt x="3200399"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sp>
          <p:nvSpPr>
            <p:cNvPr id="979" name="object 21">
              <a:extLst>
                <a:ext uri="{FF2B5EF4-FFF2-40B4-BE49-F238E27FC236}">
                  <a16:creationId xmlns:a16="http://schemas.microsoft.com/office/drawing/2014/main" id="{81BA8299-63B9-7A81-BB99-4DEAFE782000}"/>
                </a:ext>
              </a:extLst>
            </p:cNvPr>
            <p:cNvSpPr/>
            <p:nvPr/>
          </p:nvSpPr>
          <p:spPr>
            <a:xfrm>
              <a:off x="10775437" y="2548845"/>
              <a:ext cx="3200400" cy="2103120"/>
            </a:xfrm>
            <a:custGeom>
              <a:avLst/>
              <a:gdLst/>
              <a:ahLst/>
              <a:cxnLst/>
              <a:rect l="l" t="t" r="r" b="b"/>
              <a:pathLst>
                <a:path w="3200400" h="2103120">
                  <a:moveTo>
                    <a:pt x="0" y="0"/>
                  </a:moveTo>
                  <a:lnTo>
                    <a:pt x="3200400" y="0"/>
                  </a:lnTo>
                  <a:lnTo>
                    <a:pt x="3200400" y="2103120"/>
                  </a:lnTo>
                  <a:lnTo>
                    <a:pt x="0" y="2103120"/>
                  </a:lnTo>
                  <a:lnTo>
                    <a:pt x="0" y="0"/>
                  </a:lnTo>
                  <a:close/>
                </a:path>
              </a:pathLst>
            </a:custGeom>
            <a:ln w="12700">
              <a:solidFill>
                <a:srgbClr val="007BC7"/>
              </a:solidFill>
            </a:ln>
          </p:spPr>
          <p:txBody>
            <a:bodyPr wrap="square" lIns="0" tIns="0" rIns="0" bIns="0" rtlCol="0"/>
            <a:lstStyle/>
            <a:p>
              <a:pPr defTabSz="1219260">
                <a:defRPr/>
              </a:pPr>
              <a:endParaRPr sz="2400" kern="0">
                <a:solidFill>
                  <a:sysClr val="windowText" lastClr="000000"/>
                </a:solidFill>
                <a:latin typeface="Arial"/>
              </a:endParaRPr>
            </a:p>
          </p:txBody>
        </p:sp>
        <p:sp>
          <p:nvSpPr>
            <p:cNvPr id="980" name="object 22">
              <a:extLst>
                <a:ext uri="{FF2B5EF4-FFF2-40B4-BE49-F238E27FC236}">
                  <a16:creationId xmlns:a16="http://schemas.microsoft.com/office/drawing/2014/main" id="{C5D97E64-F940-8CE5-A436-2DB923FA7F72}"/>
                </a:ext>
              </a:extLst>
            </p:cNvPr>
            <p:cNvSpPr/>
            <p:nvPr/>
          </p:nvSpPr>
          <p:spPr>
            <a:xfrm>
              <a:off x="14124634" y="4911815"/>
              <a:ext cx="3200400" cy="2103120"/>
            </a:xfrm>
            <a:custGeom>
              <a:avLst/>
              <a:gdLst/>
              <a:ahLst/>
              <a:cxnLst/>
              <a:rect l="l" t="t" r="r" b="b"/>
              <a:pathLst>
                <a:path w="3200400" h="2103120">
                  <a:moveTo>
                    <a:pt x="3200400" y="0"/>
                  </a:moveTo>
                  <a:lnTo>
                    <a:pt x="0" y="0"/>
                  </a:lnTo>
                  <a:lnTo>
                    <a:pt x="0" y="2103119"/>
                  </a:lnTo>
                  <a:lnTo>
                    <a:pt x="3200400" y="2103119"/>
                  </a:lnTo>
                  <a:lnTo>
                    <a:pt x="32004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sp>
          <p:nvSpPr>
            <p:cNvPr id="981" name="object 23">
              <a:extLst>
                <a:ext uri="{FF2B5EF4-FFF2-40B4-BE49-F238E27FC236}">
                  <a16:creationId xmlns:a16="http://schemas.microsoft.com/office/drawing/2014/main" id="{D4591FBD-FD6D-0D17-C4A5-AB3267177D00}"/>
                </a:ext>
              </a:extLst>
            </p:cNvPr>
            <p:cNvSpPr/>
            <p:nvPr/>
          </p:nvSpPr>
          <p:spPr>
            <a:xfrm>
              <a:off x="14124634" y="4911815"/>
              <a:ext cx="3200400" cy="2103120"/>
            </a:xfrm>
            <a:custGeom>
              <a:avLst/>
              <a:gdLst/>
              <a:ahLst/>
              <a:cxnLst/>
              <a:rect l="l" t="t" r="r" b="b"/>
              <a:pathLst>
                <a:path w="3200400" h="2103120">
                  <a:moveTo>
                    <a:pt x="0" y="0"/>
                  </a:moveTo>
                  <a:lnTo>
                    <a:pt x="3200400" y="0"/>
                  </a:lnTo>
                  <a:lnTo>
                    <a:pt x="3200400" y="2103120"/>
                  </a:lnTo>
                  <a:lnTo>
                    <a:pt x="0" y="2103120"/>
                  </a:lnTo>
                  <a:lnTo>
                    <a:pt x="0" y="0"/>
                  </a:lnTo>
                  <a:close/>
                </a:path>
              </a:pathLst>
            </a:custGeom>
            <a:ln w="12700">
              <a:solidFill>
                <a:srgbClr val="F7A028"/>
              </a:solidFill>
            </a:ln>
          </p:spPr>
          <p:txBody>
            <a:bodyPr wrap="square" lIns="0" tIns="0" rIns="0" bIns="0" rtlCol="0"/>
            <a:lstStyle/>
            <a:p>
              <a:pPr defTabSz="1219260">
                <a:defRPr/>
              </a:pPr>
              <a:endParaRPr sz="2400" kern="0">
                <a:solidFill>
                  <a:sysClr val="windowText" lastClr="000000"/>
                </a:solidFill>
                <a:latin typeface="Arial"/>
              </a:endParaRPr>
            </a:p>
          </p:txBody>
        </p:sp>
        <p:sp>
          <p:nvSpPr>
            <p:cNvPr id="982" name="object 24">
              <a:extLst>
                <a:ext uri="{FF2B5EF4-FFF2-40B4-BE49-F238E27FC236}">
                  <a16:creationId xmlns:a16="http://schemas.microsoft.com/office/drawing/2014/main" id="{A9158B2C-F05F-22BA-0913-15BE0816147E}"/>
                </a:ext>
              </a:extLst>
            </p:cNvPr>
            <p:cNvSpPr/>
            <p:nvPr/>
          </p:nvSpPr>
          <p:spPr>
            <a:xfrm>
              <a:off x="10775437" y="4911815"/>
              <a:ext cx="3200400" cy="2103120"/>
            </a:xfrm>
            <a:custGeom>
              <a:avLst/>
              <a:gdLst/>
              <a:ahLst/>
              <a:cxnLst/>
              <a:rect l="l" t="t" r="r" b="b"/>
              <a:pathLst>
                <a:path w="3200400" h="2103120">
                  <a:moveTo>
                    <a:pt x="3200399" y="0"/>
                  </a:moveTo>
                  <a:lnTo>
                    <a:pt x="0" y="0"/>
                  </a:lnTo>
                  <a:lnTo>
                    <a:pt x="0" y="2103119"/>
                  </a:lnTo>
                  <a:lnTo>
                    <a:pt x="3200399" y="2103119"/>
                  </a:lnTo>
                  <a:lnTo>
                    <a:pt x="3200399"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sp>
          <p:nvSpPr>
            <p:cNvPr id="983" name="object 25">
              <a:extLst>
                <a:ext uri="{FF2B5EF4-FFF2-40B4-BE49-F238E27FC236}">
                  <a16:creationId xmlns:a16="http://schemas.microsoft.com/office/drawing/2014/main" id="{149E9253-D9E5-8691-C31F-F9F4387F198E}"/>
                </a:ext>
              </a:extLst>
            </p:cNvPr>
            <p:cNvSpPr/>
            <p:nvPr/>
          </p:nvSpPr>
          <p:spPr>
            <a:xfrm>
              <a:off x="10775437" y="4911815"/>
              <a:ext cx="3200400" cy="2103120"/>
            </a:xfrm>
            <a:custGeom>
              <a:avLst/>
              <a:gdLst/>
              <a:ahLst/>
              <a:cxnLst/>
              <a:rect l="l" t="t" r="r" b="b"/>
              <a:pathLst>
                <a:path w="3200400" h="2103120">
                  <a:moveTo>
                    <a:pt x="0" y="0"/>
                  </a:moveTo>
                  <a:lnTo>
                    <a:pt x="3200400" y="0"/>
                  </a:lnTo>
                  <a:lnTo>
                    <a:pt x="3200400" y="2103120"/>
                  </a:lnTo>
                  <a:lnTo>
                    <a:pt x="0" y="2103120"/>
                  </a:lnTo>
                  <a:lnTo>
                    <a:pt x="0" y="0"/>
                  </a:lnTo>
                  <a:close/>
                </a:path>
              </a:pathLst>
            </a:custGeom>
            <a:ln w="12700">
              <a:solidFill>
                <a:srgbClr val="F7A028"/>
              </a:solidFill>
            </a:ln>
          </p:spPr>
          <p:txBody>
            <a:bodyPr wrap="square" lIns="0" tIns="0" rIns="0" bIns="0" rtlCol="0"/>
            <a:lstStyle/>
            <a:p>
              <a:pPr defTabSz="1219260">
                <a:defRPr/>
              </a:pPr>
              <a:endParaRPr sz="2400" kern="0">
                <a:solidFill>
                  <a:sysClr val="windowText" lastClr="000000"/>
                </a:solidFill>
                <a:latin typeface="Arial"/>
              </a:endParaRPr>
            </a:p>
          </p:txBody>
        </p:sp>
        <p:sp>
          <p:nvSpPr>
            <p:cNvPr id="984" name="object 26">
              <a:extLst>
                <a:ext uri="{FF2B5EF4-FFF2-40B4-BE49-F238E27FC236}">
                  <a16:creationId xmlns:a16="http://schemas.microsoft.com/office/drawing/2014/main" id="{DC52A009-D51B-5024-A67E-910195EDE9F6}"/>
                </a:ext>
              </a:extLst>
            </p:cNvPr>
            <p:cNvSpPr/>
            <p:nvPr/>
          </p:nvSpPr>
          <p:spPr>
            <a:xfrm>
              <a:off x="14113992" y="7308692"/>
              <a:ext cx="3200400" cy="2103120"/>
            </a:xfrm>
            <a:custGeom>
              <a:avLst/>
              <a:gdLst/>
              <a:ahLst/>
              <a:cxnLst/>
              <a:rect l="l" t="t" r="r" b="b"/>
              <a:pathLst>
                <a:path w="3200400" h="2103120">
                  <a:moveTo>
                    <a:pt x="3200400" y="0"/>
                  </a:moveTo>
                  <a:lnTo>
                    <a:pt x="0" y="0"/>
                  </a:lnTo>
                  <a:lnTo>
                    <a:pt x="0" y="2103120"/>
                  </a:lnTo>
                  <a:lnTo>
                    <a:pt x="3200400" y="2103120"/>
                  </a:lnTo>
                  <a:lnTo>
                    <a:pt x="32004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sp>
          <p:nvSpPr>
            <p:cNvPr id="985" name="object 27">
              <a:extLst>
                <a:ext uri="{FF2B5EF4-FFF2-40B4-BE49-F238E27FC236}">
                  <a16:creationId xmlns:a16="http://schemas.microsoft.com/office/drawing/2014/main" id="{7CE9CF33-87D8-B1E8-D861-21BD333CE51B}"/>
                </a:ext>
              </a:extLst>
            </p:cNvPr>
            <p:cNvSpPr/>
            <p:nvPr/>
          </p:nvSpPr>
          <p:spPr>
            <a:xfrm>
              <a:off x="14113992" y="7308692"/>
              <a:ext cx="3200400" cy="2103120"/>
            </a:xfrm>
            <a:custGeom>
              <a:avLst/>
              <a:gdLst/>
              <a:ahLst/>
              <a:cxnLst/>
              <a:rect l="l" t="t" r="r" b="b"/>
              <a:pathLst>
                <a:path w="3200400" h="2103120">
                  <a:moveTo>
                    <a:pt x="0" y="0"/>
                  </a:moveTo>
                  <a:lnTo>
                    <a:pt x="3200400" y="0"/>
                  </a:lnTo>
                  <a:lnTo>
                    <a:pt x="3200400" y="2103120"/>
                  </a:lnTo>
                  <a:lnTo>
                    <a:pt x="0" y="2103120"/>
                  </a:lnTo>
                  <a:lnTo>
                    <a:pt x="0" y="0"/>
                  </a:lnTo>
                  <a:close/>
                </a:path>
              </a:pathLst>
            </a:custGeom>
            <a:ln w="12700">
              <a:solidFill>
                <a:srgbClr val="C00000"/>
              </a:solidFill>
            </a:ln>
          </p:spPr>
          <p:txBody>
            <a:bodyPr wrap="square" lIns="0" tIns="0" rIns="0" bIns="0" rtlCol="0"/>
            <a:lstStyle/>
            <a:p>
              <a:pPr defTabSz="1219260">
                <a:defRPr/>
              </a:pPr>
              <a:endParaRPr sz="2400" kern="0">
                <a:solidFill>
                  <a:sysClr val="windowText" lastClr="000000"/>
                </a:solidFill>
                <a:latin typeface="Arial"/>
              </a:endParaRPr>
            </a:p>
          </p:txBody>
        </p:sp>
        <p:sp>
          <p:nvSpPr>
            <p:cNvPr id="986" name="object 28">
              <a:extLst>
                <a:ext uri="{FF2B5EF4-FFF2-40B4-BE49-F238E27FC236}">
                  <a16:creationId xmlns:a16="http://schemas.microsoft.com/office/drawing/2014/main" id="{A628DAD6-1F3C-4794-F6BB-8E69AA0A271C}"/>
                </a:ext>
              </a:extLst>
            </p:cNvPr>
            <p:cNvSpPr/>
            <p:nvPr/>
          </p:nvSpPr>
          <p:spPr>
            <a:xfrm>
              <a:off x="10764804" y="7308692"/>
              <a:ext cx="3200400" cy="2103120"/>
            </a:xfrm>
            <a:custGeom>
              <a:avLst/>
              <a:gdLst/>
              <a:ahLst/>
              <a:cxnLst/>
              <a:rect l="l" t="t" r="r" b="b"/>
              <a:pathLst>
                <a:path w="3200400" h="2103120">
                  <a:moveTo>
                    <a:pt x="3200400" y="0"/>
                  </a:moveTo>
                  <a:lnTo>
                    <a:pt x="0" y="0"/>
                  </a:lnTo>
                  <a:lnTo>
                    <a:pt x="0" y="2103120"/>
                  </a:lnTo>
                  <a:lnTo>
                    <a:pt x="3200400" y="2103120"/>
                  </a:lnTo>
                  <a:lnTo>
                    <a:pt x="32004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sp>
          <p:nvSpPr>
            <p:cNvPr id="987" name="object 29">
              <a:extLst>
                <a:ext uri="{FF2B5EF4-FFF2-40B4-BE49-F238E27FC236}">
                  <a16:creationId xmlns:a16="http://schemas.microsoft.com/office/drawing/2014/main" id="{8E9D0933-07D0-F86F-8127-7AEF1C8CD593}"/>
                </a:ext>
              </a:extLst>
            </p:cNvPr>
            <p:cNvSpPr/>
            <p:nvPr/>
          </p:nvSpPr>
          <p:spPr>
            <a:xfrm>
              <a:off x="10866869" y="3000031"/>
              <a:ext cx="3018155" cy="1585595"/>
            </a:xfrm>
            <a:custGeom>
              <a:avLst/>
              <a:gdLst/>
              <a:ahLst/>
              <a:cxnLst/>
              <a:rect l="l" t="t" r="r" b="b"/>
              <a:pathLst>
                <a:path w="3018155" h="1585595">
                  <a:moveTo>
                    <a:pt x="3017532" y="1166342"/>
                  </a:moveTo>
                  <a:lnTo>
                    <a:pt x="3010941" y="1133716"/>
                  </a:lnTo>
                  <a:lnTo>
                    <a:pt x="2992971" y="1107071"/>
                  </a:lnTo>
                  <a:lnTo>
                    <a:pt x="2966326" y="1089113"/>
                  </a:lnTo>
                  <a:lnTo>
                    <a:pt x="2933700" y="1082522"/>
                  </a:lnTo>
                  <a:lnTo>
                    <a:pt x="83820" y="1082522"/>
                  </a:lnTo>
                  <a:lnTo>
                    <a:pt x="51193" y="1089113"/>
                  </a:lnTo>
                  <a:lnTo>
                    <a:pt x="24549" y="1107071"/>
                  </a:lnTo>
                  <a:lnTo>
                    <a:pt x="6591" y="1133716"/>
                  </a:lnTo>
                  <a:lnTo>
                    <a:pt x="0" y="1166342"/>
                  </a:lnTo>
                  <a:lnTo>
                    <a:pt x="0" y="1501622"/>
                  </a:lnTo>
                  <a:lnTo>
                    <a:pt x="6591" y="1534248"/>
                  </a:lnTo>
                  <a:lnTo>
                    <a:pt x="24549" y="1560893"/>
                  </a:lnTo>
                  <a:lnTo>
                    <a:pt x="51193" y="1578864"/>
                  </a:lnTo>
                  <a:lnTo>
                    <a:pt x="83820" y="1585442"/>
                  </a:lnTo>
                  <a:lnTo>
                    <a:pt x="2933700" y="1585442"/>
                  </a:lnTo>
                  <a:lnTo>
                    <a:pt x="2966326" y="1578864"/>
                  </a:lnTo>
                  <a:lnTo>
                    <a:pt x="2992971" y="1560893"/>
                  </a:lnTo>
                  <a:lnTo>
                    <a:pt x="3010941" y="1534248"/>
                  </a:lnTo>
                  <a:lnTo>
                    <a:pt x="3017532" y="1501622"/>
                  </a:lnTo>
                  <a:lnTo>
                    <a:pt x="3017532" y="1166342"/>
                  </a:lnTo>
                  <a:close/>
                </a:path>
                <a:path w="3018155" h="1585595">
                  <a:moveTo>
                    <a:pt x="3017532" y="625081"/>
                  </a:moveTo>
                  <a:lnTo>
                    <a:pt x="3010941" y="592455"/>
                  </a:lnTo>
                  <a:lnTo>
                    <a:pt x="2992971" y="565810"/>
                  </a:lnTo>
                  <a:lnTo>
                    <a:pt x="2966326" y="547852"/>
                  </a:lnTo>
                  <a:lnTo>
                    <a:pt x="2933700" y="541261"/>
                  </a:lnTo>
                  <a:lnTo>
                    <a:pt x="83820" y="541261"/>
                  </a:lnTo>
                  <a:lnTo>
                    <a:pt x="51193" y="547852"/>
                  </a:lnTo>
                  <a:lnTo>
                    <a:pt x="24549" y="565810"/>
                  </a:lnTo>
                  <a:lnTo>
                    <a:pt x="6591" y="592455"/>
                  </a:lnTo>
                  <a:lnTo>
                    <a:pt x="0" y="625081"/>
                  </a:lnTo>
                  <a:lnTo>
                    <a:pt x="0" y="960361"/>
                  </a:lnTo>
                  <a:lnTo>
                    <a:pt x="6591" y="992987"/>
                  </a:lnTo>
                  <a:lnTo>
                    <a:pt x="24549" y="1019632"/>
                  </a:lnTo>
                  <a:lnTo>
                    <a:pt x="51193" y="1037590"/>
                  </a:lnTo>
                  <a:lnTo>
                    <a:pt x="83820" y="1044181"/>
                  </a:lnTo>
                  <a:lnTo>
                    <a:pt x="2933700" y="1044181"/>
                  </a:lnTo>
                  <a:lnTo>
                    <a:pt x="2966326" y="1037590"/>
                  </a:lnTo>
                  <a:lnTo>
                    <a:pt x="2992971" y="1019632"/>
                  </a:lnTo>
                  <a:lnTo>
                    <a:pt x="3010941" y="992987"/>
                  </a:lnTo>
                  <a:lnTo>
                    <a:pt x="3017532" y="960361"/>
                  </a:lnTo>
                  <a:lnTo>
                    <a:pt x="3017532" y="625081"/>
                  </a:lnTo>
                  <a:close/>
                </a:path>
                <a:path w="3018155" h="1585595">
                  <a:moveTo>
                    <a:pt x="3017532" y="83820"/>
                  </a:moveTo>
                  <a:lnTo>
                    <a:pt x="3010941" y="51193"/>
                  </a:lnTo>
                  <a:lnTo>
                    <a:pt x="2992971" y="24549"/>
                  </a:lnTo>
                  <a:lnTo>
                    <a:pt x="2966326" y="6591"/>
                  </a:lnTo>
                  <a:lnTo>
                    <a:pt x="2933700" y="0"/>
                  </a:lnTo>
                  <a:lnTo>
                    <a:pt x="83820" y="0"/>
                  </a:lnTo>
                  <a:lnTo>
                    <a:pt x="51193" y="6591"/>
                  </a:lnTo>
                  <a:lnTo>
                    <a:pt x="24549" y="24549"/>
                  </a:lnTo>
                  <a:lnTo>
                    <a:pt x="6591" y="51193"/>
                  </a:lnTo>
                  <a:lnTo>
                    <a:pt x="0" y="83820"/>
                  </a:lnTo>
                  <a:lnTo>
                    <a:pt x="0" y="419100"/>
                  </a:lnTo>
                  <a:lnTo>
                    <a:pt x="6591" y="451726"/>
                  </a:lnTo>
                  <a:lnTo>
                    <a:pt x="24549" y="478370"/>
                  </a:lnTo>
                  <a:lnTo>
                    <a:pt x="51193" y="496328"/>
                  </a:lnTo>
                  <a:lnTo>
                    <a:pt x="83820" y="502920"/>
                  </a:lnTo>
                  <a:lnTo>
                    <a:pt x="2933700" y="502920"/>
                  </a:lnTo>
                  <a:lnTo>
                    <a:pt x="2966326" y="496328"/>
                  </a:lnTo>
                  <a:lnTo>
                    <a:pt x="2992971" y="478370"/>
                  </a:lnTo>
                  <a:lnTo>
                    <a:pt x="3010941" y="451726"/>
                  </a:lnTo>
                  <a:lnTo>
                    <a:pt x="3017532" y="419100"/>
                  </a:lnTo>
                  <a:lnTo>
                    <a:pt x="3017532" y="83820"/>
                  </a:lnTo>
                  <a:close/>
                </a:path>
              </a:pathLst>
            </a:custGeom>
            <a:solidFill>
              <a:srgbClr val="304CB2"/>
            </a:solidFill>
          </p:spPr>
          <p:txBody>
            <a:bodyPr wrap="square" lIns="0" tIns="0" rIns="0" bIns="0" rtlCol="0"/>
            <a:lstStyle/>
            <a:p>
              <a:pPr defTabSz="1219260">
                <a:defRPr/>
              </a:pPr>
              <a:endParaRPr sz="2400" kern="0">
                <a:solidFill>
                  <a:sysClr val="windowText" lastClr="000000"/>
                </a:solidFill>
                <a:latin typeface="Arial"/>
              </a:endParaRPr>
            </a:p>
          </p:txBody>
        </p:sp>
      </p:grpSp>
      <p:sp>
        <p:nvSpPr>
          <p:cNvPr id="988" name="object 30">
            <a:extLst>
              <a:ext uri="{FF2B5EF4-FFF2-40B4-BE49-F238E27FC236}">
                <a16:creationId xmlns:a16="http://schemas.microsoft.com/office/drawing/2014/main" id="{60958F36-F48B-E304-4B16-B4928CA69555}"/>
              </a:ext>
            </a:extLst>
          </p:cNvPr>
          <p:cNvSpPr txBox="1"/>
          <p:nvPr/>
        </p:nvSpPr>
        <p:spPr>
          <a:xfrm>
            <a:off x="14367250" y="3874710"/>
            <a:ext cx="4267200" cy="2626420"/>
          </a:xfrm>
          <a:prstGeom prst="rect">
            <a:avLst/>
          </a:prstGeom>
        </p:spPr>
        <p:txBody>
          <a:bodyPr vert="horz" wrap="square" lIns="0" tIns="121074" rIns="0" bIns="0" rtlCol="0">
            <a:noAutofit/>
          </a:bodyPr>
          <a:lstStyle/>
          <a:p>
            <a:pPr algn="ctr" defTabSz="1219260">
              <a:spcBef>
                <a:spcPts val="954"/>
              </a:spcBef>
              <a:defRPr/>
            </a:pPr>
            <a:r>
              <a:rPr lang="en-US" sz="2400" b="1" kern="0">
                <a:solidFill>
                  <a:sysClr val="windowText" lastClr="000000"/>
                </a:solidFill>
                <a:latin typeface="Arial"/>
                <a:cs typeface="Arial"/>
              </a:rPr>
              <a:t>Codified</a:t>
            </a:r>
            <a:r>
              <a:rPr lang="en-US" sz="2400" b="1" kern="0" spc="-106">
                <a:solidFill>
                  <a:sysClr val="windowText" lastClr="000000"/>
                </a:solidFill>
                <a:latin typeface="Arial"/>
                <a:cs typeface="Arial"/>
              </a:rPr>
              <a:t> </a:t>
            </a:r>
            <a:r>
              <a:rPr lang="en-US" sz="2400" b="1" kern="0" spc="-14">
                <a:solidFill>
                  <a:sysClr val="windowText" lastClr="000000"/>
                </a:solidFill>
                <a:latin typeface="Arial"/>
                <a:cs typeface="Arial"/>
              </a:rPr>
              <a:t>Patterns</a:t>
            </a:r>
            <a:endParaRPr lang="en-US" sz="2400" kern="0">
              <a:solidFill>
                <a:sysClr val="windowText" lastClr="000000"/>
              </a:solidFill>
              <a:latin typeface="Arial"/>
              <a:cs typeface="Arial"/>
            </a:endParaRPr>
          </a:p>
          <a:p>
            <a:pPr algn="ctr" defTabSz="1219260">
              <a:spcBef>
                <a:spcPts val="2418"/>
              </a:spcBef>
              <a:defRPr/>
            </a:pPr>
            <a:r>
              <a:rPr lang="en-US" sz="1866" b="1" kern="0">
                <a:solidFill>
                  <a:srgbClr val="FFFFFF"/>
                </a:solidFill>
                <a:latin typeface="Arial"/>
                <a:cs typeface="Arial"/>
              </a:rPr>
              <a:t>Enterprise</a:t>
            </a:r>
            <a:r>
              <a:rPr lang="en-US" sz="1866" b="1" kern="0" spc="-80">
                <a:solidFill>
                  <a:srgbClr val="FFFFFF"/>
                </a:solidFill>
                <a:latin typeface="Arial"/>
                <a:cs typeface="Arial"/>
              </a:rPr>
              <a:t> </a:t>
            </a:r>
            <a:r>
              <a:rPr lang="en-US" sz="1866" b="1" kern="0" spc="-14">
                <a:solidFill>
                  <a:srgbClr val="FFFFFF"/>
                </a:solidFill>
                <a:latin typeface="Arial"/>
                <a:cs typeface="Arial"/>
              </a:rPr>
              <a:t>“Stacks”</a:t>
            </a:r>
            <a:endParaRPr lang="en-US" sz="1866" kern="0">
              <a:solidFill>
                <a:sysClr val="windowText" lastClr="000000"/>
              </a:solidFill>
              <a:latin typeface="Arial"/>
              <a:cs typeface="Arial"/>
            </a:endParaRPr>
          </a:p>
          <a:p>
            <a:pPr marL="604550" marR="594390" algn="ctr" defTabSz="1219260">
              <a:lnSpc>
                <a:spcPct val="252900"/>
              </a:lnSpc>
              <a:spcBef>
                <a:spcPts val="26"/>
              </a:spcBef>
              <a:defRPr/>
            </a:pPr>
            <a:r>
              <a:rPr lang="en-US" sz="1866" b="1" kern="0">
                <a:solidFill>
                  <a:srgbClr val="FFFFFF"/>
                </a:solidFill>
                <a:latin typeface="Arial"/>
                <a:cs typeface="Arial"/>
              </a:rPr>
              <a:t>Configuration</a:t>
            </a:r>
            <a:r>
              <a:rPr lang="en-US" sz="1866" b="1" kern="0" spc="-120">
                <a:solidFill>
                  <a:srgbClr val="FFFFFF"/>
                </a:solidFill>
                <a:latin typeface="Arial"/>
                <a:cs typeface="Arial"/>
              </a:rPr>
              <a:t> </a:t>
            </a:r>
            <a:r>
              <a:rPr lang="en-US" sz="1866" b="1" kern="0" spc="-14">
                <a:solidFill>
                  <a:srgbClr val="FFFFFF"/>
                </a:solidFill>
                <a:latin typeface="Arial"/>
                <a:cs typeface="Arial"/>
              </a:rPr>
              <a:t>Management Primitives</a:t>
            </a:r>
            <a:endParaRPr lang="en-US" sz="1866" kern="0">
              <a:solidFill>
                <a:sysClr val="windowText" lastClr="000000"/>
              </a:solidFill>
              <a:latin typeface="Arial"/>
              <a:cs typeface="Arial"/>
            </a:endParaRPr>
          </a:p>
        </p:txBody>
      </p:sp>
      <p:sp>
        <p:nvSpPr>
          <p:cNvPr id="989" name="object 31">
            <a:extLst>
              <a:ext uri="{FF2B5EF4-FFF2-40B4-BE49-F238E27FC236}">
                <a16:creationId xmlns:a16="http://schemas.microsoft.com/office/drawing/2014/main" id="{7221A3A6-7B83-86D6-846D-95D5988645C5}"/>
              </a:ext>
            </a:extLst>
          </p:cNvPr>
          <p:cNvSpPr/>
          <p:nvPr/>
        </p:nvSpPr>
        <p:spPr>
          <a:xfrm>
            <a:off x="18954768" y="4476293"/>
            <a:ext cx="4023360" cy="2114126"/>
          </a:xfrm>
          <a:custGeom>
            <a:avLst/>
            <a:gdLst/>
            <a:ahLst/>
            <a:cxnLst/>
            <a:rect l="l" t="t" r="r" b="b"/>
            <a:pathLst>
              <a:path w="3017519" h="1585595">
                <a:moveTo>
                  <a:pt x="3017520" y="1166342"/>
                </a:moveTo>
                <a:lnTo>
                  <a:pt x="3010928" y="1133716"/>
                </a:lnTo>
                <a:lnTo>
                  <a:pt x="2992958" y="1107071"/>
                </a:lnTo>
                <a:lnTo>
                  <a:pt x="2966313" y="1089113"/>
                </a:lnTo>
                <a:lnTo>
                  <a:pt x="2933687" y="1082522"/>
                </a:lnTo>
                <a:lnTo>
                  <a:pt x="83820" y="1082522"/>
                </a:lnTo>
                <a:lnTo>
                  <a:pt x="51193" y="1089113"/>
                </a:lnTo>
                <a:lnTo>
                  <a:pt x="24549" y="1107071"/>
                </a:lnTo>
                <a:lnTo>
                  <a:pt x="6578" y="1133716"/>
                </a:lnTo>
                <a:lnTo>
                  <a:pt x="0" y="1166342"/>
                </a:lnTo>
                <a:lnTo>
                  <a:pt x="0" y="1501622"/>
                </a:lnTo>
                <a:lnTo>
                  <a:pt x="6578" y="1534248"/>
                </a:lnTo>
                <a:lnTo>
                  <a:pt x="24549" y="1560893"/>
                </a:lnTo>
                <a:lnTo>
                  <a:pt x="51193" y="1578864"/>
                </a:lnTo>
                <a:lnTo>
                  <a:pt x="83820" y="1585442"/>
                </a:lnTo>
                <a:lnTo>
                  <a:pt x="2933687" y="1585442"/>
                </a:lnTo>
                <a:lnTo>
                  <a:pt x="2966313" y="1578864"/>
                </a:lnTo>
                <a:lnTo>
                  <a:pt x="2992958" y="1560893"/>
                </a:lnTo>
                <a:lnTo>
                  <a:pt x="3010928" y="1534248"/>
                </a:lnTo>
                <a:lnTo>
                  <a:pt x="3017520" y="1501622"/>
                </a:lnTo>
                <a:lnTo>
                  <a:pt x="3017520" y="1166342"/>
                </a:lnTo>
                <a:close/>
              </a:path>
              <a:path w="3017519" h="1585595">
                <a:moveTo>
                  <a:pt x="3017520" y="625081"/>
                </a:moveTo>
                <a:lnTo>
                  <a:pt x="3010928" y="592455"/>
                </a:lnTo>
                <a:lnTo>
                  <a:pt x="2992958" y="565810"/>
                </a:lnTo>
                <a:lnTo>
                  <a:pt x="2966313" y="547852"/>
                </a:lnTo>
                <a:lnTo>
                  <a:pt x="2933687" y="541261"/>
                </a:lnTo>
                <a:lnTo>
                  <a:pt x="83820" y="541261"/>
                </a:lnTo>
                <a:lnTo>
                  <a:pt x="51193" y="547852"/>
                </a:lnTo>
                <a:lnTo>
                  <a:pt x="24549" y="565810"/>
                </a:lnTo>
                <a:lnTo>
                  <a:pt x="6578" y="592455"/>
                </a:lnTo>
                <a:lnTo>
                  <a:pt x="0" y="625081"/>
                </a:lnTo>
                <a:lnTo>
                  <a:pt x="0" y="960361"/>
                </a:lnTo>
                <a:lnTo>
                  <a:pt x="6578" y="992987"/>
                </a:lnTo>
                <a:lnTo>
                  <a:pt x="24549" y="1019632"/>
                </a:lnTo>
                <a:lnTo>
                  <a:pt x="51193" y="1037590"/>
                </a:lnTo>
                <a:lnTo>
                  <a:pt x="83820" y="1044181"/>
                </a:lnTo>
                <a:lnTo>
                  <a:pt x="2933687" y="1044181"/>
                </a:lnTo>
                <a:lnTo>
                  <a:pt x="2966313" y="1037590"/>
                </a:lnTo>
                <a:lnTo>
                  <a:pt x="2992958" y="1019632"/>
                </a:lnTo>
                <a:lnTo>
                  <a:pt x="3010928" y="992987"/>
                </a:lnTo>
                <a:lnTo>
                  <a:pt x="3017520" y="960361"/>
                </a:lnTo>
                <a:lnTo>
                  <a:pt x="3017520" y="625081"/>
                </a:lnTo>
                <a:close/>
              </a:path>
              <a:path w="3017519" h="1585595">
                <a:moveTo>
                  <a:pt x="3017520" y="83820"/>
                </a:moveTo>
                <a:lnTo>
                  <a:pt x="3010928" y="51193"/>
                </a:lnTo>
                <a:lnTo>
                  <a:pt x="2992958" y="24549"/>
                </a:lnTo>
                <a:lnTo>
                  <a:pt x="2966313" y="6591"/>
                </a:lnTo>
                <a:lnTo>
                  <a:pt x="2933687" y="0"/>
                </a:lnTo>
                <a:lnTo>
                  <a:pt x="83820" y="0"/>
                </a:lnTo>
                <a:lnTo>
                  <a:pt x="51193" y="6591"/>
                </a:lnTo>
                <a:lnTo>
                  <a:pt x="24549" y="24549"/>
                </a:lnTo>
                <a:lnTo>
                  <a:pt x="6578" y="51193"/>
                </a:lnTo>
                <a:lnTo>
                  <a:pt x="0" y="83820"/>
                </a:lnTo>
                <a:lnTo>
                  <a:pt x="0" y="419100"/>
                </a:lnTo>
                <a:lnTo>
                  <a:pt x="6578" y="451726"/>
                </a:lnTo>
                <a:lnTo>
                  <a:pt x="24549" y="478370"/>
                </a:lnTo>
                <a:lnTo>
                  <a:pt x="51193" y="496328"/>
                </a:lnTo>
                <a:lnTo>
                  <a:pt x="83820" y="502920"/>
                </a:lnTo>
                <a:lnTo>
                  <a:pt x="2933687" y="502920"/>
                </a:lnTo>
                <a:lnTo>
                  <a:pt x="2966313" y="496328"/>
                </a:lnTo>
                <a:lnTo>
                  <a:pt x="2992958" y="478370"/>
                </a:lnTo>
                <a:lnTo>
                  <a:pt x="3010928" y="451726"/>
                </a:lnTo>
                <a:lnTo>
                  <a:pt x="3017520" y="419100"/>
                </a:lnTo>
                <a:lnTo>
                  <a:pt x="3017520" y="8382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990" name="object 32">
            <a:extLst>
              <a:ext uri="{FF2B5EF4-FFF2-40B4-BE49-F238E27FC236}">
                <a16:creationId xmlns:a16="http://schemas.microsoft.com/office/drawing/2014/main" id="{BF4A5528-EF37-9BDA-C17D-A52A19E78326}"/>
              </a:ext>
            </a:extLst>
          </p:cNvPr>
          <p:cNvSpPr txBox="1"/>
          <p:nvPr/>
        </p:nvSpPr>
        <p:spPr>
          <a:xfrm>
            <a:off x="18832846" y="3874710"/>
            <a:ext cx="4267200" cy="2412179"/>
          </a:xfrm>
          <a:prstGeom prst="rect">
            <a:avLst/>
          </a:prstGeom>
        </p:spPr>
        <p:txBody>
          <a:bodyPr vert="horz" wrap="square" lIns="0" tIns="121074" rIns="0" bIns="0" rtlCol="0">
            <a:spAutoFit/>
          </a:bodyPr>
          <a:lstStyle/>
          <a:p>
            <a:pPr algn="ctr" defTabSz="1219260">
              <a:spcBef>
                <a:spcPts val="954"/>
              </a:spcBef>
              <a:defRPr/>
            </a:pPr>
            <a:r>
              <a:rPr lang="en-US" sz="2400" b="1" kern="0">
                <a:solidFill>
                  <a:sysClr val="windowText" lastClr="000000"/>
                </a:solidFill>
                <a:latin typeface="Arial"/>
                <a:cs typeface="Arial"/>
              </a:rPr>
              <a:t>Core</a:t>
            </a:r>
            <a:r>
              <a:rPr lang="en-US" sz="2400" b="1" kern="0" spc="-6">
                <a:solidFill>
                  <a:sysClr val="windowText" lastClr="000000"/>
                </a:solidFill>
                <a:latin typeface="Arial"/>
                <a:cs typeface="Arial"/>
              </a:rPr>
              <a:t> </a:t>
            </a:r>
            <a:r>
              <a:rPr lang="en-US" sz="2400" b="1" kern="0" spc="-14">
                <a:solidFill>
                  <a:sysClr val="windowText" lastClr="000000"/>
                </a:solidFill>
                <a:latin typeface="Arial"/>
                <a:cs typeface="Arial"/>
              </a:rPr>
              <a:t>Platform</a:t>
            </a:r>
            <a:endParaRPr lang="en-US" sz="2400" kern="0">
              <a:solidFill>
                <a:sysClr val="windowText" lastClr="000000"/>
              </a:solidFill>
              <a:latin typeface="Arial"/>
              <a:cs typeface="Arial"/>
            </a:endParaRPr>
          </a:p>
          <a:p>
            <a:pPr algn="ctr" defTabSz="1219260">
              <a:spcBef>
                <a:spcPts val="2418"/>
              </a:spcBef>
              <a:defRPr/>
            </a:pPr>
            <a:r>
              <a:rPr lang="en-US" sz="1866" b="1" kern="0">
                <a:solidFill>
                  <a:srgbClr val="FFFFFF"/>
                </a:solidFill>
                <a:latin typeface="Arial"/>
                <a:cs typeface="Arial"/>
              </a:rPr>
              <a:t>CaaS</a:t>
            </a:r>
            <a:r>
              <a:rPr lang="en-US" sz="1866" b="1" kern="0" spc="-14">
                <a:solidFill>
                  <a:srgbClr val="FFFFFF"/>
                </a:solidFill>
                <a:latin typeface="Arial"/>
                <a:cs typeface="Arial"/>
              </a:rPr>
              <a:t> </a:t>
            </a:r>
            <a:r>
              <a:rPr lang="en-US" sz="1866" b="1" kern="0">
                <a:solidFill>
                  <a:srgbClr val="FFFFFF"/>
                </a:solidFill>
                <a:latin typeface="Arial"/>
                <a:cs typeface="Arial"/>
              </a:rPr>
              <a:t>/</a:t>
            </a:r>
            <a:r>
              <a:rPr lang="en-US" sz="1866" b="1" kern="0" spc="-20">
                <a:solidFill>
                  <a:srgbClr val="FFFFFF"/>
                </a:solidFill>
                <a:latin typeface="Arial"/>
                <a:cs typeface="Arial"/>
              </a:rPr>
              <a:t> </a:t>
            </a:r>
            <a:r>
              <a:rPr lang="en-US" sz="1866" b="1" kern="0" spc="-26">
                <a:solidFill>
                  <a:srgbClr val="FFFFFF"/>
                </a:solidFill>
                <a:latin typeface="Arial"/>
                <a:cs typeface="Arial"/>
              </a:rPr>
              <a:t>FaaS</a:t>
            </a:r>
            <a:endParaRPr lang="en-US" sz="1866" kern="0">
              <a:solidFill>
                <a:sysClr val="windowText" lastClr="000000"/>
              </a:solidFill>
              <a:latin typeface="Arial"/>
              <a:cs typeface="Arial"/>
            </a:endParaRPr>
          </a:p>
          <a:p>
            <a:pPr marL="878038" marR="867876" indent="846" algn="ctr" defTabSz="1219260">
              <a:lnSpc>
                <a:spcPct val="252900"/>
              </a:lnSpc>
              <a:spcBef>
                <a:spcPts val="26"/>
              </a:spcBef>
              <a:defRPr/>
            </a:pPr>
            <a:r>
              <a:rPr lang="en-US" sz="1866" b="1" kern="0">
                <a:solidFill>
                  <a:srgbClr val="FFFFFF"/>
                </a:solidFill>
                <a:latin typeface="Arial"/>
                <a:cs typeface="Arial"/>
              </a:rPr>
              <a:t>Core</a:t>
            </a:r>
            <a:r>
              <a:rPr lang="en-US" sz="1866" b="1" kern="0" spc="-26">
                <a:solidFill>
                  <a:srgbClr val="FFFFFF"/>
                </a:solidFill>
                <a:latin typeface="Arial"/>
                <a:cs typeface="Arial"/>
              </a:rPr>
              <a:t> </a:t>
            </a:r>
            <a:r>
              <a:rPr lang="en-US" sz="1866" b="1" kern="0" spc="-14">
                <a:solidFill>
                  <a:srgbClr val="FFFFFF"/>
                </a:solidFill>
                <a:latin typeface="Arial"/>
                <a:cs typeface="Arial"/>
              </a:rPr>
              <a:t>Networking </a:t>
            </a:r>
            <a:r>
              <a:rPr lang="en-US" sz="1866" b="1" kern="0">
                <a:solidFill>
                  <a:srgbClr val="FFFFFF"/>
                </a:solidFill>
                <a:latin typeface="Arial"/>
                <a:cs typeface="Arial"/>
              </a:rPr>
              <a:t>Accounts,</a:t>
            </a:r>
            <a:r>
              <a:rPr lang="en-US" sz="1866" b="1" kern="0" spc="-40">
                <a:solidFill>
                  <a:srgbClr val="FFFFFF"/>
                </a:solidFill>
                <a:latin typeface="Arial"/>
                <a:cs typeface="Arial"/>
              </a:rPr>
              <a:t> </a:t>
            </a:r>
            <a:r>
              <a:rPr lang="en-US" sz="1866" b="1" kern="0">
                <a:solidFill>
                  <a:srgbClr val="FFFFFF"/>
                </a:solidFill>
                <a:latin typeface="Arial"/>
                <a:cs typeface="Arial"/>
              </a:rPr>
              <a:t>IAM,</a:t>
            </a:r>
            <a:r>
              <a:rPr lang="en-US" sz="1866" b="1" kern="0" spc="-40">
                <a:solidFill>
                  <a:srgbClr val="FFFFFF"/>
                </a:solidFill>
                <a:latin typeface="Arial"/>
                <a:cs typeface="Arial"/>
              </a:rPr>
              <a:t> </a:t>
            </a:r>
            <a:r>
              <a:rPr lang="en-US" sz="1866" b="1" kern="0">
                <a:solidFill>
                  <a:srgbClr val="FFFFFF"/>
                </a:solidFill>
                <a:latin typeface="Arial"/>
                <a:cs typeface="Arial"/>
              </a:rPr>
              <a:t>&amp;</a:t>
            </a:r>
            <a:r>
              <a:rPr lang="en-US" sz="1866" b="1" kern="0" spc="-34">
                <a:solidFill>
                  <a:srgbClr val="FFFFFF"/>
                </a:solidFill>
                <a:latin typeface="Arial"/>
                <a:cs typeface="Arial"/>
              </a:rPr>
              <a:t> SSO</a:t>
            </a:r>
            <a:endParaRPr lang="en-US" sz="1866" kern="0">
              <a:solidFill>
                <a:sysClr val="windowText" lastClr="000000"/>
              </a:solidFill>
              <a:latin typeface="Arial"/>
              <a:cs typeface="Arial"/>
            </a:endParaRPr>
          </a:p>
        </p:txBody>
      </p:sp>
      <p:sp>
        <p:nvSpPr>
          <p:cNvPr id="991" name="object 33">
            <a:extLst>
              <a:ext uri="{FF2B5EF4-FFF2-40B4-BE49-F238E27FC236}">
                <a16:creationId xmlns:a16="http://schemas.microsoft.com/office/drawing/2014/main" id="{D788806D-8697-EAE3-BCBC-E635E668A949}"/>
              </a:ext>
            </a:extLst>
          </p:cNvPr>
          <p:cNvSpPr/>
          <p:nvPr/>
        </p:nvSpPr>
        <p:spPr>
          <a:xfrm>
            <a:off x="14489163" y="7690139"/>
            <a:ext cx="4024206" cy="2066714"/>
          </a:xfrm>
          <a:custGeom>
            <a:avLst/>
            <a:gdLst/>
            <a:ahLst/>
            <a:cxnLst/>
            <a:rect l="l" t="t" r="r" b="b"/>
            <a:pathLst>
              <a:path w="3018155" h="1550034">
                <a:moveTo>
                  <a:pt x="3017532" y="1130719"/>
                </a:moveTo>
                <a:lnTo>
                  <a:pt x="3010941" y="1098092"/>
                </a:lnTo>
                <a:lnTo>
                  <a:pt x="2992971" y="1071448"/>
                </a:lnTo>
                <a:lnTo>
                  <a:pt x="2966326" y="1053490"/>
                </a:lnTo>
                <a:lnTo>
                  <a:pt x="2933700" y="1046899"/>
                </a:lnTo>
                <a:lnTo>
                  <a:pt x="83820" y="1046899"/>
                </a:lnTo>
                <a:lnTo>
                  <a:pt x="51193" y="1053490"/>
                </a:lnTo>
                <a:lnTo>
                  <a:pt x="24549" y="1071448"/>
                </a:lnTo>
                <a:lnTo>
                  <a:pt x="6591" y="1098092"/>
                </a:lnTo>
                <a:lnTo>
                  <a:pt x="0" y="1130719"/>
                </a:lnTo>
                <a:lnTo>
                  <a:pt x="0" y="1465999"/>
                </a:lnTo>
                <a:lnTo>
                  <a:pt x="6591" y="1498625"/>
                </a:lnTo>
                <a:lnTo>
                  <a:pt x="24549" y="1525270"/>
                </a:lnTo>
                <a:lnTo>
                  <a:pt x="51193" y="1543227"/>
                </a:lnTo>
                <a:lnTo>
                  <a:pt x="83820" y="1549819"/>
                </a:lnTo>
                <a:lnTo>
                  <a:pt x="2933700" y="1549819"/>
                </a:lnTo>
                <a:lnTo>
                  <a:pt x="2966326" y="1543227"/>
                </a:lnTo>
                <a:lnTo>
                  <a:pt x="2992971" y="1525270"/>
                </a:lnTo>
                <a:lnTo>
                  <a:pt x="3010941" y="1498625"/>
                </a:lnTo>
                <a:lnTo>
                  <a:pt x="3017532" y="1465999"/>
                </a:lnTo>
                <a:lnTo>
                  <a:pt x="3017532" y="1130719"/>
                </a:lnTo>
                <a:close/>
              </a:path>
              <a:path w="3018155" h="1550034">
                <a:moveTo>
                  <a:pt x="3017532" y="612152"/>
                </a:moveTo>
                <a:lnTo>
                  <a:pt x="3010941" y="579526"/>
                </a:lnTo>
                <a:lnTo>
                  <a:pt x="2992971" y="552881"/>
                </a:lnTo>
                <a:lnTo>
                  <a:pt x="2966326" y="534924"/>
                </a:lnTo>
                <a:lnTo>
                  <a:pt x="2933700" y="528332"/>
                </a:lnTo>
                <a:lnTo>
                  <a:pt x="83820" y="528332"/>
                </a:lnTo>
                <a:lnTo>
                  <a:pt x="51193" y="534924"/>
                </a:lnTo>
                <a:lnTo>
                  <a:pt x="24549" y="552881"/>
                </a:lnTo>
                <a:lnTo>
                  <a:pt x="6591" y="579526"/>
                </a:lnTo>
                <a:lnTo>
                  <a:pt x="0" y="612152"/>
                </a:lnTo>
                <a:lnTo>
                  <a:pt x="0" y="947432"/>
                </a:lnTo>
                <a:lnTo>
                  <a:pt x="6591" y="980059"/>
                </a:lnTo>
                <a:lnTo>
                  <a:pt x="24549" y="1006703"/>
                </a:lnTo>
                <a:lnTo>
                  <a:pt x="51193" y="1024661"/>
                </a:lnTo>
                <a:lnTo>
                  <a:pt x="83820" y="1031252"/>
                </a:lnTo>
                <a:lnTo>
                  <a:pt x="2933700" y="1031252"/>
                </a:lnTo>
                <a:lnTo>
                  <a:pt x="2966326" y="1024661"/>
                </a:lnTo>
                <a:lnTo>
                  <a:pt x="2992971" y="1006703"/>
                </a:lnTo>
                <a:lnTo>
                  <a:pt x="3010941" y="980059"/>
                </a:lnTo>
                <a:lnTo>
                  <a:pt x="3017532" y="947432"/>
                </a:lnTo>
                <a:lnTo>
                  <a:pt x="3017532" y="612152"/>
                </a:lnTo>
                <a:close/>
              </a:path>
              <a:path w="3018155" h="1550034">
                <a:moveTo>
                  <a:pt x="3017532" y="83820"/>
                </a:moveTo>
                <a:lnTo>
                  <a:pt x="3010941" y="51193"/>
                </a:lnTo>
                <a:lnTo>
                  <a:pt x="2992971" y="24549"/>
                </a:lnTo>
                <a:lnTo>
                  <a:pt x="2966326" y="6591"/>
                </a:lnTo>
                <a:lnTo>
                  <a:pt x="2933700" y="0"/>
                </a:lnTo>
                <a:lnTo>
                  <a:pt x="83820" y="0"/>
                </a:lnTo>
                <a:lnTo>
                  <a:pt x="51193" y="6591"/>
                </a:lnTo>
                <a:lnTo>
                  <a:pt x="24549" y="24549"/>
                </a:lnTo>
                <a:lnTo>
                  <a:pt x="6591" y="51193"/>
                </a:lnTo>
                <a:lnTo>
                  <a:pt x="0" y="83820"/>
                </a:lnTo>
                <a:lnTo>
                  <a:pt x="0" y="419100"/>
                </a:lnTo>
                <a:lnTo>
                  <a:pt x="6591" y="451726"/>
                </a:lnTo>
                <a:lnTo>
                  <a:pt x="24549" y="478370"/>
                </a:lnTo>
                <a:lnTo>
                  <a:pt x="51193" y="496341"/>
                </a:lnTo>
                <a:lnTo>
                  <a:pt x="83820" y="502920"/>
                </a:lnTo>
                <a:lnTo>
                  <a:pt x="2933700" y="502920"/>
                </a:lnTo>
                <a:lnTo>
                  <a:pt x="2966326" y="496341"/>
                </a:lnTo>
                <a:lnTo>
                  <a:pt x="2992971" y="478370"/>
                </a:lnTo>
                <a:lnTo>
                  <a:pt x="3010941" y="451726"/>
                </a:lnTo>
                <a:lnTo>
                  <a:pt x="3017532" y="419100"/>
                </a:lnTo>
                <a:lnTo>
                  <a:pt x="3017532" y="8382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992" name="object 34">
            <a:extLst>
              <a:ext uri="{FF2B5EF4-FFF2-40B4-BE49-F238E27FC236}">
                <a16:creationId xmlns:a16="http://schemas.microsoft.com/office/drawing/2014/main" id="{4C738EBF-5A27-937B-CE89-55E45FC7C438}"/>
              </a:ext>
            </a:extLst>
          </p:cNvPr>
          <p:cNvSpPr txBox="1"/>
          <p:nvPr/>
        </p:nvSpPr>
        <p:spPr>
          <a:xfrm>
            <a:off x="14367250" y="7025339"/>
            <a:ext cx="4267200" cy="2738698"/>
          </a:xfrm>
          <a:prstGeom prst="rect">
            <a:avLst/>
          </a:prstGeom>
        </p:spPr>
        <p:txBody>
          <a:bodyPr vert="horz" wrap="square" lIns="0" tIns="119380" rIns="0" bIns="0" rtlCol="0">
            <a:spAutoFit/>
          </a:bodyPr>
          <a:lstStyle/>
          <a:p>
            <a:pPr algn="ctr" defTabSz="1219260">
              <a:spcBef>
                <a:spcPts val="940"/>
              </a:spcBef>
              <a:defRPr/>
            </a:pPr>
            <a:r>
              <a:rPr lang="en-US" sz="2400" b="1" kern="0">
                <a:solidFill>
                  <a:sysClr val="windowText" lastClr="000000"/>
                </a:solidFill>
                <a:latin typeface="Arial"/>
                <a:cs typeface="Arial"/>
              </a:rPr>
              <a:t>Build,</a:t>
            </a:r>
            <a:r>
              <a:rPr lang="en-US" sz="2400" b="1" kern="0" spc="-34">
                <a:solidFill>
                  <a:sysClr val="windowText" lastClr="000000"/>
                </a:solidFill>
                <a:latin typeface="Arial"/>
                <a:cs typeface="Arial"/>
              </a:rPr>
              <a:t> </a:t>
            </a:r>
            <a:r>
              <a:rPr lang="en-US" sz="2400" b="1" kern="0">
                <a:solidFill>
                  <a:sysClr val="windowText" lastClr="000000"/>
                </a:solidFill>
                <a:latin typeface="Arial"/>
                <a:cs typeface="Arial"/>
              </a:rPr>
              <a:t>Test,</a:t>
            </a:r>
            <a:r>
              <a:rPr lang="en-US" sz="2400" b="1" kern="0" spc="-34">
                <a:solidFill>
                  <a:sysClr val="windowText" lastClr="000000"/>
                </a:solidFill>
                <a:latin typeface="Arial"/>
                <a:cs typeface="Arial"/>
              </a:rPr>
              <a:t> </a:t>
            </a:r>
            <a:r>
              <a:rPr lang="en-US" sz="2400" b="1" kern="0">
                <a:solidFill>
                  <a:sysClr val="windowText" lastClr="000000"/>
                </a:solidFill>
                <a:latin typeface="Arial"/>
                <a:cs typeface="Arial"/>
              </a:rPr>
              <a:t>&amp;</a:t>
            </a:r>
            <a:r>
              <a:rPr lang="en-US" sz="2400" b="1" kern="0" spc="-34">
                <a:solidFill>
                  <a:sysClr val="windowText" lastClr="000000"/>
                </a:solidFill>
                <a:latin typeface="Arial"/>
                <a:cs typeface="Arial"/>
              </a:rPr>
              <a:t> </a:t>
            </a:r>
            <a:r>
              <a:rPr lang="en-US" sz="2400" b="1" kern="0" spc="-14">
                <a:solidFill>
                  <a:sysClr val="windowText" lastClr="000000"/>
                </a:solidFill>
                <a:latin typeface="Arial"/>
                <a:cs typeface="Arial"/>
              </a:rPr>
              <a:t>Deploy</a:t>
            </a:r>
            <a:endParaRPr lang="en-US" sz="2400" kern="0">
              <a:solidFill>
                <a:sysClr val="windowText" lastClr="000000"/>
              </a:solidFill>
              <a:latin typeface="Arial"/>
              <a:cs typeface="Arial"/>
            </a:endParaRPr>
          </a:p>
          <a:p>
            <a:pPr defTabSz="1219260">
              <a:spcBef>
                <a:spcPts val="174"/>
              </a:spcBef>
              <a:defRPr/>
            </a:pPr>
            <a:endParaRPr lang="en-US" sz="2400" kern="0">
              <a:solidFill>
                <a:sysClr val="windowText" lastClr="000000"/>
              </a:solidFill>
              <a:latin typeface="Arial"/>
              <a:cs typeface="Arial"/>
            </a:endParaRPr>
          </a:p>
          <a:p>
            <a:pPr algn="ctr" defTabSz="1219260">
              <a:defRPr/>
            </a:pPr>
            <a:r>
              <a:rPr lang="en-US" sz="1866" b="1" kern="0">
                <a:solidFill>
                  <a:srgbClr val="FFFFFF"/>
                </a:solidFill>
                <a:latin typeface="Arial"/>
                <a:cs typeface="Arial"/>
              </a:rPr>
              <a:t>CI/CD</a:t>
            </a:r>
            <a:r>
              <a:rPr lang="en-US" sz="1866" b="1" kern="0" spc="-34">
                <a:solidFill>
                  <a:srgbClr val="FFFFFF"/>
                </a:solidFill>
                <a:latin typeface="Arial"/>
                <a:cs typeface="Arial"/>
              </a:rPr>
              <a:t> </a:t>
            </a:r>
            <a:r>
              <a:rPr lang="en-US" sz="1866" b="1" kern="0">
                <a:solidFill>
                  <a:srgbClr val="FFFFFF"/>
                </a:solidFill>
                <a:latin typeface="Arial"/>
                <a:cs typeface="Arial"/>
              </a:rPr>
              <a:t>&amp;</a:t>
            </a:r>
            <a:r>
              <a:rPr lang="en-US" sz="1866" b="1" kern="0" spc="-26">
                <a:solidFill>
                  <a:srgbClr val="FFFFFF"/>
                </a:solidFill>
                <a:latin typeface="Arial"/>
                <a:cs typeface="Arial"/>
              </a:rPr>
              <a:t> </a:t>
            </a:r>
            <a:r>
              <a:rPr lang="en-US" sz="1866" b="1" kern="0">
                <a:solidFill>
                  <a:srgbClr val="FFFFFF"/>
                </a:solidFill>
                <a:latin typeface="Arial"/>
                <a:cs typeface="Arial"/>
              </a:rPr>
              <a:t>Release</a:t>
            </a:r>
            <a:r>
              <a:rPr lang="en-US" sz="1866" b="1" kern="0" spc="-40">
                <a:solidFill>
                  <a:srgbClr val="FFFFFF"/>
                </a:solidFill>
                <a:latin typeface="Arial"/>
                <a:cs typeface="Arial"/>
              </a:rPr>
              <a:t> </a:t>
            </a:r>
            <a:r>
              <a:rPr lang="en-US" sz="1866" b="1" kern="0" spc="-14">
                <a:solidFill>
                  <a:srgbClr val="FFFFFF"/>
                </a:solidFill>
                <a:latin typeface="Arial"/>
                <a:cs typeface="Arial"/>
              </a:rPr>
              <a:t>Management</a:t>
            </a:r>
            <a:endParaRPr lang="en-US" sz="1866" kern="0">
              <a:solidFill>
                <a:sysClr val="windowText" lastClr="000000"/>
              </a:solidFill>
              <a:latin typeface="Arial"/>
              <a:cs typeface="Arial"/>
            </a:endParaRPr>
          </a:p>
          <a:p>
            <a:pPr defTabSz="1219260">
              <a:spcBef>
                <a:spcPts val="1154"/>
              </a:spcBef>
              <a:defRPr/>
            </a:pPr>
            <a:endParaRPr lang="en-US" sz="1866" kern="0">
              <a:solidFill>
                <a:sysClr val="windowText" lastClr="000000"/>
              </a:solidFill>
              <a:latin typeface="Arial"/>
              <a:cs typeface="Arial"/>
            </a:endParaRPr>
          </a:p>
          <a:p>
            <a:pPr algn="ctr" defTabSz="1219260">
              <a:defRPr/>
            </a:pPr>
            <a:r>
              <a:rPr lang="en-US" sz="1866" b="1" kern="0">
                <a:solidFill>
                  <a:srgbClr val="FFFFFF"/>
                </a:solidFill>
                <a:latin typeface="Arial"/>
                <a:cs typeface="Arial"/>
              </a:rPr>
              <a:t>Configuration</a:t>
            </a:r>
            <a:r>
              <a:rPr lang="en-US" sz="1866" b="1" kern="0" spc="-120">
                <a:solidFill>
                  <a:srgbClr val="FFFFFF"/>
                </a:solidFill>
                <a:latin typeface="Arial"/>
                <a:cs typeface="Arial"/>
              </a:rPr>
              <a:t> </a:t>
            </a:r>
            <a:r>
              <a:rPr lang="en-US" sz="1866" b="1" kern="0" spc="-14">
                <a:solidFill>
                  <a:srgbClr val="FFFFFF"/>
                </a:solidFill>
                <a:latin typeface="Arial"/>
                <a:cs typeface="Arial"/>
              </a:rPr>
              <a:t>Management</a:t>
            </a:r>
            <a:endParaRPr lang="en-US" sz="1866" kern="0">
              <a:solidFill>
                <a:sysClr val="windowText" lastClr="000000"/>
              </a:solidFill>
              <a:latin typeface="Arial"/>
              <a:cs typeface="Arial"/>
            </a:endParaRPr>
          </a:p>
          <a:p>
            <a:pPr defTabSz="1219260">
              <a:spcBef>
                <a:spcPts val="80"/>
              </a:spcBef>
              <a:defRPr/>
            </a:pPr>
            <a:endParaRPr lang="en-US" sz="1866" kern="0">
              <a:solidFill>
                <a:sysClr val="windowText" lastClr="000000"/>
              </a:solidFill>
              <a:latin typeface="Arial"/>
              <a:cs typeface="Arial"/>
            </a:endParaRPr>
          </a:p>
          <a:p>
            <a:pPr marL="839088" marR="828082" algn="ctr" defTabSz="1219260">
              <a:lnSpc>
                <a:spcPts val="2146"/>
              </a:lnSpc>
              <a:defRPr/>
            </a:pPr>
            <a:r>
              <a:rPr lang="en-US" sz="1866" b="1" kern="0">
                <a:solidFill>
                  <a:srgbClr val="FFFFFF"/>
                </a:solidFill>
                <a:latin typeface="Arial"/>
                <a:cs typeface="Arial"/>
              </a:rPr>
              <a:t>Source</a:t>
            </a:r>
            <a:r>
              <a:rPr lang="en-US" sz="1866" b="1" kern="0" spc="-46">
                <a:solidFill>
                  <a:srgbClr val="FFFFFF"/>
                </a:solidFill>
                <a:latin typeface="Arial"/>
                <a:cs typeface="Arial"/>
              </a:rPr>
              <a:t> </a:t>
            </a:r>
            <a:r>
              <a:rPr lang="en-US" sz="1866" b="1" kern="0">
                <a:solidFill>
                  <a:srgbClr val="FFFFFF"/>
                </a:solidFill>
                <a:latin typeface="Arial"/>
                <a:cs typeface="Arial"/>
              </a:rPr>
              <a:t>Code</a:t>
            </a:r>
            <a:r>
              <a:rPr lang="en-US" sz="1866" b="1" kern="0" spc="-46">
                <a:solidFill>
                  <a:srgbClr val="FFFFFF"/>
                </a:solidFill>
                <a:latin typeface="Arial"/>
                <a:cs typeface="Arial"/>
              </a:rPr>
              <a:t> </a:t>
            </a:r>
            <a:r>
              <a:rPr lang="en-US" sz="1866" b="1" kern="0">
                <a:solidFill>
                  <a:srgbClr val="FFFFFF"/>
                </a:solidFill>
                <a:latin typeface="Arial"/>
                <a:cs typeface="Arial"/>
              </a:rPr>
              <a:t>&amp;</a:t>
            </a:r>
            <a:r>
              <a:rPr lang="en-US" sz="1866" b="1" kern="0" spc="-34">
                <a:solidFill>
                  <a:srgbClr val="FFFFFF"/>
                </a:solidFill>
                <a:latin typeface="Arial"/>
                <a:cs typeface="Arial"/>
              </a:rPr>
              <a:t> </a:t>
            </a:r>
            <a:r>
              <a:rPr lang="en-US" sz="1866" b="1" kern="0" spc="-14">
                <a:solidFill>
                  <a:srgbClr val="FFFFFF"/>
                </a:solidFill>
                <a:latin typeface="Arial"/>
                <a:cs typeface="Arial"/>
              </a:rPr>
              <a:t>Artifact Repositories</a:t>
            </a:r>
            <a:endParaRPr lang="en-US" sz="1866" kern="0">
              <a:solidFill>
                <a:sysClr val="windowText" lastClr="000000"/>
              </a:solidFill>
              <a:latin typeface="Arial"/>
              <a:cs typeface="Arial"/>
            </a:endParaRPr>
          </a:p>
        </p:txBody>
      </p:sp>
      <p:sp>
        <p:nvSpPr>
          <p:cNvPr id="993" name="object 35">
            <a:extLst>
              <a:ext uri="{FF2B5EF4-FFF2-40B4-BE49-F238E27FC236}">
                <a16:creationId xmlns:a16="http://schemas.microsoft.com/office/drawing/2014/main" id="{9E001106-669B-207D-B224-C94B182770F5}"/>
              </a:ext>
            </a:extLst>
          </p:cNvPr>
          <p:cNvSpPr/>
          <p:nvPr/>
        </p:nvSpPr>
        <p:spPr>
          <a:xfrm>
            <a:off x="18954768" y="7690138"/>
            <a:ext cx="4023360" cy="2080260"/>
          </a:xfrm>
          <a:custGeom>
            <a:avLst/>
            <a:gdLst/>
            <a:ahLst/>
            <a:cxnLst/>
            <a:rect l="l" t="t" r="r" b="b"/>
            <a:pathLst>
              <a:path w="3017519" h="1560195">
                <a:moveTo>
                  <a:pt x="3017520" y="1140485"/>
                </a:moveTo>
                <a:lnTo>
                  <a:pt x="3010928" y="1107859"/>
                </a:lnTo>
                <a:lnTo>
                  <a:pt x="2992958" y="1081214"/>
                </a:lnTo>
                <a:lnTo>
                  <a:pt x="2966313" y="1063244"/>
                </a:lnTo>
                <a:lnTo>
                  <a:pt x="2933687" y="1056665"/>
                </a:lnTo>
                <a:lnTo>
                  <a:pt x="83820" y="1056665"/>
                </a:lnTo>
                <a:lnTo>
                  <a:pt x="51193" y="1063244"/>
                </a:lnTo>
                <a:lnTo>
                  <a:pt x="24549" y="1081214"/>
                </a:lnTo>
                <a:lnTo>
                  <a:pt x="6578" y="1107859"/>
                </a:lnTo>
                <a:lnTo>
                  <a:pt x="0" y="1140485"/>
                </a:lnTo>
                <a:lnTo>
                  <a:pt x="0" y="1475752"/>
                </a:lnTo>
                <a:lnTo>
                  <a:pt x="6578" y="1508379"/>
                </a:lnTo>
                <a:lnTo>
                  <a:pt x="24549" y="1535023"/>
                </a:lnTo>
                <a:lnTo>
                  <a:pt x="51193" y="1552994"/>
                </a:lnTo>
                <a:lnTo>
                  <a:pt x="83820" y="1559585"/>
                </a:lnTo>
                <a:lnTo>
                  <a:pt x="2933687" y="1559585"/>
                </a:lnTo>
                <a:lnTo>
                  <a:pt x="2966313" y="1552994"/>
                </a:lnTo>
                <a:lnTo>
                  <a:pt x="2992958" y="1535023"/>
                </a:lnTo>
                <a:lnTo>
                  <a:pt x="3010928" y="1508379"/>
                </a:lnTo>
                <a:lnTo>
                  <a:pt x="3017520" y="1475752"/>
                </a:lnTo>
                <a:lnTo>
                  <a:pt x="3017520" y="1140485"/>
                </a:lnTo>
                <a:close/>
              </a:path>
              <a:path w="3017519" h="1560195">
                <a:moveTo>
                  <a:pt x="3017520" y="612152"/>
                </a:moveTo>
                <a:lnTo>
                  <a:pt x="3010928" y="579526"/>
                </a:lnTo>
                <a:lnTo>
                  <a:pt x="2992958" y="552881"/>
                </a:lnTo>
                <a:lnTo>
                  <a:pt x="2966313" y="534924"/>
                </a:lnTo>
                <a:lnTo>
                  <a:pt x="2933687" y="528332"/>
                </a:lnTo>
                <a:lnTo>
                  <a:pt x="83820" y="528332"/>
                </a:lnTo>
                <a:lnTo>
                  <a:pt x="51193" y="534924"/>
                </a:lnTo>
                <a:lnTo>
                  <a:pt x="24549" y="552881"/>
                </a:lnTo>
                <a:lnTo>
                  <a:pt x="6578" y="579526"/>
                </a:lnTo>
                <a:lnTo>
                  <a:pt x="0" y="612152"/>
                </a:lnTo>
                <a:lnTo>
                  <a:pt x="0" y="947432"/>
                </a:lnTo>
                <a:lnTo>
                  <a:pt x="6578" y="980059"/>
                </a:lnTo>
                <a:lnTo>
                  <a:pt x="24549" y="1006703"/>
                </a:lnTo>
                <a:lnTo>
                  <a:pt x="51193" y="1024661"/>
                </a:lnTo>
                <a:lnTo>
                  <a:pt x="83820" y="1031252"/>
                </a:lnTo>
                <a:lnTo>
                  <a:pt x="2933687" y="1031252"/>
                </a:lnTo>
                <a:lnTo>
                  <a:pt x="2966313" y="1024661"/>
                </a:lnTo>
                <a:lnTo>
                  <a:pt x="2992958" y="1006703"/>
                </a:lnTo>
                <a:lnTo>
                  <a:pt x="3010928" y="980059"/>
                </a:lnTo>
                <a:lnTo>
                  <a:pt x="3017520" y="947432"/>
                </a:lnTo>
                <a:lnTo>
                  <a:pt x="3017520" y="612152"/>
                </a:lnTo>
                <a:close/>
              </a:path>
              <a:path w="3017519" h="1560195">
                <a:moveTo>
                  <a:pt x="3017520" y="83820"/>
                </a:moveTo>
                <a:lnTo>
                  <a:pt x="3010928" y="51193"/>
                </a:lnTo>
                <a:lnTo>
                  <a:pt x="2992958" y="24549"/>
                </a:lnTo>
                <a:lnTo>
                  <a:pt x="2966313" y="6591"/>
                </a:lnTo>
                <a:lnTo>
                  <a:pt x="2933687" y="0"/>
                </a:lnTo>
                <a:lnTo>
                  <a:pt x="83820" y="0"/>
                </a:lnTo>
                <a:lnTo>
                  <a:pt x="51193" y="6591"/>
                </a:lnTo>
                <a:lnTo>
                  <a:pt x="24549" y="24549"/>
                </a:lnTo>
                <a:lnTo>
                  <a:pt x="6578" y="51193"/>
                </a:lnTo>
                <a:lnTo>
                  <a:pt x="0" y="83820"/>
                </a:lnTo>
                <a:lnTo>
                  <a:pt x="0" y="419100"/>
                </a:lnTo>
                <a:lnTo>
                  <a:pt x="6578" y="451726"/>
                </a:lnTo>
                <a:lnTo>
                  <a:pt x="24549" y="478370"/>
                </a:lnTo>
                <a:lnTo>
                  <a:pt x="51193" y="496341"/>
                </a:lnTo>
                <a:lnTo>
                  <a:pt x="83820" y="502920"/>
                </a:lnTo>
                <a:lnTo>
                  <a:pt x="2933687" y="502920"/>
                </a:lnTo>
                <a:lnTo>
                  <a:pt x="2966313" y="496341"/>
                </a:lnTo>
                <a:lnTo>
                  <a:pt x="2992958" y="478370"/>
                </a:lnTo>
                <a:lnTo>
                  <a:pt x="3010928" y="451726"/>
                </a:lnTo>
                <a:lnTo>
                  <a:pt x="3017520" y="419100"/>
                </a:lnTo>
                <a:lnTo>
                  <a:pt x="3017520" y="8382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994" name="object 36">
            <a:extLst>
              <a:ext uri="{FF2B5EF4-FFF2-40B4-BE49-F238E27FC236}">
                <a16:creationId xmlns:a16="http://schemas.microsoft.com/office/drawing/2014/main" id="{DAB60949-651E-CC73-64D2-87DEF497AF29}"/>
              </a:ext>
            </a:extLst>
          </p:cNvPr>
          <p:cNvSpPr txBox="1"/>
          <p:nvPr/>
        </p:nvSpPr>
        <p:spPr>
          <a:xfrm>
            <a:off x="18832846" y="7025339"/>
            <a:ext cx="4267200" cy="2590196"/>
          </a:xfrm>
          <a:prstGeom prst="rect">
            <a:avLst/>
          </a:prstGeom>
        </p:spPr>
        <p:txBody>
          <a:bodyPr vert="horz" wrap="square" lIns="0" tIns="119380" rIns="0" bIns="0" rtlCol="0">
            <a:spAutoFit/>
          </a:bodyPr>
          <a:lstStyle/>
          <a:p>
            <a:pPr algn="ctr" defTabSz="1219260">
              <a:spcBef>
                <a:spcPts val="940"/>
              </a:spcBef>
              <a:defRPr/>
            </a:pPr>
            <a:r>
              <a:rPr lang="en-US" sz="2400" b="1" kern="0">
                <a:solidFill>
                  <a:sysClr val="windowText" lastClr="000000"/>
                </a:solidFill>
                <a:latin typeface="Arial"/>
                <a:cs typeface="Arial"/>
              </a:rPr>
              <a:t>Operate</a:t>
            </a:r>
            <a:r>
              <a:rPr lang="en-US" sz="2400" b="1" kern="0" spc="-26">
                <a:solidFill>
                  <a:sysClr val="windowText" lastClr="000000"/>
                </a:solidFill>
                <a:latin typeface="Arial"/>
                <a:cs typeface="Arial"/>
              </a:rPr>
              <a:t> </a:t>
            </a:r>
            <a:r>
              <a:rPr lang="en-US" sz="2400" b="1" kern="0">
                <a:solidFill>
                  <a:sysClr val="windowText" lastClr="000000"/>
                </a:solidFill>
                <a:latin typeface="Arial"/>
                <a:cs typeface="Arial"/>
              </a:rPr>
              <a:t>&amp;</a:t>
            </a:r>
            <a:r>
              <a:rPr lang="en-US" sz="2400" b="1" kern="0" spc="-20">
                <a:solidFill>
                  <a:sysClr val="windowText" lastClr="000000"/>
                </a:solidFill>
                <a:latin typeface="Arial"/>
                <a:cs typeface="Arial"/>
              </a:rPr>
              <a:t> </a:t>
            </a:r>
            <a:r>
              <a:rPr lang="en-US" sz="2400" b="1" kern="0" spc="-14">
                <a:solidFill>
                  <a:sysClr val="windowText" lastClr="000000"/>
                </a:solidFill>
                <a:latin typeface="Arial"/>
                <a:cs typeface="Arial"/>
              </a:rPr>
              <a:t>Manage</a:t>
            </a:r>
            <a:endParaRPr lang="en-US" sz="2400" kern="0">
              <a:solidFill>
                <a:sysClr val="windowText" lastClr="000000"/>
              </a:solidFill>
              <a:latin typeface="Arial"/>
              <a:cs typeface="Arial"/>
            </a:endParaRPr>
          </a:p>
          <a:p>
            <a:pPr marL="537660" marR="526652" algn="ctr" defTabSz="1219260">
              <a:lnSpc>
                <a:spcPts val="5534"/>
              </a:lnSpc>
              <a:spcBef>
                <a:spcPts val="374"/>
              </a:spcBef>
              <a:defRPr/>
            </a:pPr>
            <a:r>
              <a:rPr lang="en-US" sz="1866" b="1" kern="0">
                <a:solidFill>
                  <a:srgbClr val="FFFFFF"/>
                </a:solidFill>
                <a:latin typeface="Arial"/>
                <a:cs typeface="Arial"/>
              </a:rPr>
              <a:t>Telemetry,</a:t>
            </a:r>
            <a:r>
              <a:rPr lang="en-US" sz="1866" b="1" kern="0" spc="-54">
                <a:solidFill>
                  <a:srgbClr val="FFFFFF"/>
                </a:solidFill>
                <a:latin typeface="Arial"/>
                <a:cs typeface="Arial"/>
              </a:rPr>
              <a:t> </a:t>
            </a:r>
            <a:r>
              <a:rPr lang="en-US" sz="1866" b="1" kern="0">
                <a:solidFill>
                  <a:srgbClr val="FFFFFF"/>
                </a:solidFill>
                <a:latin typeface="Arial"/>
                <a:cs typeface="Arial"/>
              </a:rPr>
              <a:t>Alerts,</a:t>
            </a:r>
            <a:r>
              <a:rPr lang="en-US" sz="1866" b="1" kern="0" spc="-46">
                <a:solidFill>
                  <a:srgbClr val="FFFFFF"/>
                </a:solidFill>
                <a:latin typeface="Arial"/>
                <a:cs typeface="Arial"/>
              </a:rPr>
              <a:t> </a:t>
            </a:r>
            <a:r>
              <a:rPr lang="en-US" sz="1866" b="1" kern="0">
                <a:solidFill>
                  <a:srgbClr val="FFFFFF"/>
                </a:solidFill>
                <a:latin typeface="Arial"/>
                <a:cs typeface="Arial"/>
              </a:rPr>
              <a:t>&amp;</a:t>
            </a:r>
            <a:r>
              <a:rPr lang="en-US" sz="1866" b="1" kern="0" spc="-46">
                <a:solidFill>
                  <a:srgbClr val="FFFFFF"/>
                </a:solidFill>
                <a:latin typeface="Arial"/>
                <a:cs typeface="Arial"/>
              </a:rPr>
              <a:t> </a:t>
            </a:r>
            <a:r>
              <a:rPr lang="en-US" sz="1866" b="1" kern="0" spc="-14">
                <a:solidFill>
                  <a:srgbClr val="FFFFFF"/>
                </a:solidFill>
                <a:latin typeface="Arial"/>
                <a:cs typeface="Arial"/>
              </a:rPr>
              <a:t>Insights </a:t>
            </a:r>
            <a:r>
              <a:rPr lang="en-US" sz="1866" b="1" kern="0">
                <a:solidFill>
                  <a:srgbClr val="FFFFFF"/>
                </a:solidFill>
                <a:latin typeface="Arial"/>
                <a:cs typeface="Arial"/>
              </a:rPr>
              <a:t>Patch,</a:t>
            </a:r>
            <a:r>
              <a:rPr lang="en-US" sz="1866" b="1" kern="0" spc="-54">
                <a:solidFill>
                  <a:srgbClr val="FFFFFF"/>
                </a:solidFill>
                <a:latin typeface="Arial"/>
                <a:cs typeface="Arial"/>
              </a:rPr>
              <a:t> </a:t>
            </a:r>
            <a:r>
              <a:rPr lang="en-US" sz="1866" b="1" kern="0">
                <a:solidFill>
                  <a:srgbClr val="FFFFFF"/>
                </a:solidFill>
                <a:latin typeface="Arial"/>
                <a:cs typeface="Arial"/>
              </a:rPr>
              <a:t>Backup,</a:t>
            </a:r>
            <a:r>
              <a:rPr lang="en-US" sz="1866" b="1" kern="0" spc="-46">
                <a:solidFill>
                  <a:srgbClr val="FFFFFF"/>
                </a:solidFill>
                <a:latin typeface="Arial"/>
                <a:cs typeface="Arial"/>
              </a:rPr>
              <a:t> </a:t>
            </a:r>
            <a:r>
              <a:rPr lang="en-US" sz="1866" b="1" kern="0">
                <a:solidFill>
                  <a:srgbClr val="FFFFFF"/>
                </a:solidFill>
                <a:latin typeface="Arial"/>
                <a:cs typeface="Arial"/>
              </a:rPr>
              <a:t>&amp;</a:t>
            </a:r>
            <a:r>
              <a:rPr lang="en-US" sz="1866" b="1" kern="0" spc="-46">
                <a:solidFill>
                  <a:srgbClr val="FFFFFF"/>
                </a:solidFill>
                <a:latin typeface="Arial"/>
                <a:cs typeface="Arial"/>
              </a:rPr>
              <a:t> </a:t>
            </a:r>
            <a:r>
              <a:rPr lang="en-US" sz="1866" b="1" kern="0" spc="-14">
                <a:solidFill>
                  <a:srgbClr val="FFFFFF"/>
                </a:solidFill>
                <a:latin typeface="Arial"/>
                <a:cs typeface="Arial"/>
              </a:rPr>
              <a:t>Restore</a:t>
            </a:r>
            <a:endParaRPr lang="en-US" sz="1866" kern="0">
              <a:solidFill>
                <a:sysClr val="windowText" lastClr="000000"/>
              </a:solidFill>
              <a:latin typeface="Arial"/>
              <a:cs typeface="Arial"/>
            </a:endParaRPr>
          </a:p>
          <a:p>
            <a:pPr defTabSz="1219260">
              <a:spcBef>
                <a:spcPts val="454"/>
              </a:spcBef>
              <a:defRPr/>
            </a:pPr>
            <a:endParaRPr lang="en-US" sz="1866" kern="0">
              <a:solidFill>
                <a:sysClr val="windowText" lastClr="000000"/>
              </a:solidFill>
              <a:latin typeface="Arial"/>
              <a:cs typeface="Arial"/>
            </a:endParaRPr>
          </a:p>
          <a:p>
            <a:pPr marL="846" algn="ctr" defTabSz="1219260">
              <a:defRPr/>
            </a:pPr>
            <a:r>
              <a:rPr lang="en-US" sz="1866" b="1" kern="0">
                <a:solidFill>
                  <a:srgbClr val="FFFFFF"/>
                </a:solidFill>
                <a:latin typeface="Arial"/>
                <a:cs typeface="Arial"/>
              </a:rPr>
              <a:t>ITSM</a:t>
            </a:r>
            <a:r>
              <a:rPr lang="en-US" sz="1866" b="1" kern="0" spc="-34">
                <a:solidFill>
                  <a:srgbClr val="FFFFFF"/>
                </a:solidFill>
                <a:latin typeface="Arial"/>
                <a:cs typeface="Arial"/>
              </a:rPr>
              <a:t> </a:t>
            </a:r>
            <a:r>
              <a:rPr lang="en-US" sz="1866" b="1" kern="0">
                <a:solidFill>
                  <a:srgbClr val="FFFFFF"/>
                </a:solidFill>
                <a:latin typeface="Arial"/>
                <a:cs typeface="Arial"/>
              </a:rPr>
              <a:t>&amp;</a:t>
            </a:r>
            <a:r>
              <a:rPr lang="en-US" sz="1866" b="1" kern="0" spc="-34">
                <a:solidFill>
                  <a:srgbClr val="FFFFFF"/>
                </a:solidFill>
                <a:latin typeface="Arial"/>
                <a:cs typeface="Arial"/>
              </a:rPr>
              <a:t> </a:t>
            </a:r>
            <a:r>
              <a:rPr lang="en-US" sz="1866" b="1" kern="0">
                <a:solidFill>
                  <a:srgbClr val="FFFFFF"/>
                </a:solidFill>
                <a:latin typeface="Arial"/>
                <a:cs typeface="Arial"/>
              </a:rPr>
              <a:t>Self</a:t>
            </a:r>
            <a:r>
              <a:rPr lang="en-US" sz="1866" b="1" kern="0" spc="-26">
                <a:solidFill>
                  <a:srgbClr val="FFFFFF"/>
                </a:solidFill>
                <a:latin typeface="Arial"/>
                <a:cs typeface="Arial"/>
              </a:rPr>
              <a:t> </a:t>
            </a:r>
            <a:r>
              <a:rPr lang="en-US" sz="1866" b="1" kern="0" spc="-14">
                <a:solidFill>
                  <a:srgbClr val="FFFFFF"/>
                </a:solidFill>
                <a:latin typeface="Arial"/>
                <a:cs typeface="Arial"/>
              </a:rPr>
              <a:t>Service</a:t>
            </a:r>
            <a:endParaRPr lang="en-US" sz="1866" kern="0">
              <a:solidFill>
                <a:sysClr val="windowText" lastClr="000000"/>
              </a:solidFill>
              <a:latin typeface="Arial"/>
              <a:cs typeface="Arial"/>
            </a:endParaRPr>
          </a:p>
        </p:txBody>
      </p:sp>
      <p:sp>
        <p:nvSpPr>
          <p:cNvPr id="995" name="object 37">
            <a:extLst>
              <a:ext uri="{FF2B5EF4-FFF2-40B4-BE49-F238E27FC236}">
                <a16:creationId xmlns:a16="http://schemas.microsoft.com/office/drawing/2014/main" id="{AFF5C587-055F-58D7-2268-8CF416B73EE6}"/>
              </a:ext>
            </a:extLst>
          </p:cNvPr>
          <p:cNvSpPr/>
          <p:nvPr/>
        </p:nvSpPr>
        <p:spPr>
          <a:xfrm>
            <a:off x="14474986" y="10859939"/>
            <a:ext cx="4023360" cy="2132754"/>
          </a:xfrm>
          <a:custGeom>
            <a:avLst/>
            <a:gdLst/>
            <a:ahLst/>
            <a:cxnLst/>
            <a:rect l="l" t="t" r="r" b="b"/>
            <a:pathLst>
              <a:path w="3017519" h="1599565">
                <a:moveTo>
                  <a:pt x="3017520" y="1180020"/>
                </a:moveTo>
                <a:lnTo>
                  <a:pt x="3010928" y="1147394"/>
                </a:lnTo>
                <a:lnTo>
                  <a:pt x="2992958" y="1120749"/>
                </a:lnTo>
                <a:lnTo>
                  <a:pt x="2966313" y="1102779"/>
                </a:lnTo>
                <a:lnTo>
                  <a:pt x="2933700" y="1096200"/>
                </a:lnTo>
                <a:lnTo>
                  <a:pt x="83820" y="1096200"/>
                </a:lnTo>
                <a:lnTo>
                  <a:pt x="51193" y="1102779"/>
                </a:lnTo>
                <a:lnTo>
                  <a:pt x="24549" y="1120749"/>
                </a:lnTo>
                <a:lnTo>
                  <a:pt x="6591" y="1147394"/>
                </a:lnTo>
                <a:lnTo>
                  <a:pt x="0" y="1180020"/>
                </a:lnTo>
                <a:lnTo>
                  <a:pt x="0" y="1515287"/>
                </a:lnTo>
                <a:lnTo>
                  <a:pt x="6591" y="1547914"/>
                </a:lnTo>
                <a:lnTo>
                  <a:pt x="24549" y="1574558"/>
                </a:lnTo>
                <a:lnTo>
                  <a:pt x="51193" y="1592529"/>
                </a:lnTo>
                <a:lnTo>
                  <a:pt x="83820" y="1599120"/>
                </a:lnTo>
                <a:lnTo>
                  <a:pt x="2933700" y="1599120"/>
                </a:lnTo>
                <a:lnTo>
                  <a:pt x="2966313" y="1592529"/>
                </a:lnTo>
                <a:lnTo>
                  <a:pt x="2992958" y="1574558"/>
                </a:lnTo>
                <a:lnTo>
                  <a:pt x="3010928" y="1547914"/>
                </a:lnTo>
                <a:lnTo>
                  <a:pt x="3017520" y="1515287"/>
                </a:lnTo>
                <a:lnTo>
                  <a:pt x="3017520" y="1180020"/>
                </a:lnTo>
                <a:close/>
              </a:path>
              <a:path w="3017519" h="1599565">
                <a:moveTo>
                  <a:pt x="3017520" y="615594"/>
                </a:moveTo>
                <a:lnTo>
                  <a:pt x="3010928" y="582968"/>
                </a:lnTo>
                <a:lnTo>
                  <a:pt x="2992958" y="556323"/>
                </a:lnTo>
                <a:lnTo>
                  <a:pt x="2966313" y="538353"/>
                </a:lnTo>
                <a:lnTo>
                  <a:pt x="2933700" y="531761"/>
                </a:lnTo>
                <a:lnTo>
                  <a:pt x="83820" y="531761"/>
                </a:lnTo>
                <a:lnTo>
                  <a:pt x="51193" y="538353"/>
                </a:lnTo>
                <a:lnTo>
                  <a:pt x="24549" y="556323"/>
                </a:lnTo>
                <a:lnTo>
                  <a:pt x="6591" y="582968"/>
                </a:lnTo>
                <a:lnTo>
                  <a:pt x="0" y="615594"/>
                </a:lnTo>
                <a:lnTo>
                  <a:pt x="0" y="950861"/>
                </a:lnTo>
                <a:lnTo>
                  <a:pt x="6591" y="983488"/>
                </a:lnTo>
                <a:lnTo>
                  <a:pt x="24549" y="1010132"/>
                </a:lnTo>
                <a:lnTo>
                  <a:pt x="51193" y="1028103"/>
                </a:lnTo>
                <a:lnTo>
                  <a:pt x="83820" y="1034681"/>
                </a:lnTo>
                <a:lnTo>
                  <a:pt x="2933700" y="1034681"/>
                </a:lnTo>
                <a:lnTo>
                  <a:pt x="2966313" y="1028103"/>
                </a:lnTo>
                <a:lnTo>
                  <a:pt x="2992958" y="1010132"/>
                </a:lnTo>
                <a:lnTo>
                  <a:pt x="3010928" y="983488"/>
                </a:lnTo>
                <a:lnTo>
                  <a:pt x="3017520" y="950861"/>
                </a:lnTo>
                <a:lnTo>
                  <a:pt x="3017520" y="615594"/>
                </a:lnTo>
                <a:close/>
              </a:path>
              <a:path w="3017519" h="1599565">
                <a:moveTo>
                  <a:pt x="3017520" y="83820"/>
                </a:moveTo>
                <a:lnTo>
                  <a:pt x="3010928" y="51193"/>
                </a:lnTo>
                <a:lnTo>
                  <a:pt x="2992958" y="24549"/>
                </a:lnTo>
                <a:lnTo>
                  <a:pt x="2966313" y="6591"/>
                </a:lnTo>
                <a:lnTo>
                  <a:pt x="2933700" y="0"/>
                </a:lnTo>
                <a:lnTo>
                  <a:pt x="83820" y="0"/>
                </a:lnTo>
                <a:lnTo>
                  <a:pt x="51193" y="6591"/>
                </a:lnTo>
                <a:lnTo>
                  <a:pt x="24549" y="24549"/>
                </a:lnTo>
                <a:lnTo>
                  <a:pt x="6591" y="51193"/>
                </a:lnTo>
                <a:lnTo>
                  <a:pt x="0" y="83820"/>
                </a:lnTo>
                <a:lnTo>
                  <a:pt x="0" y="419100"/>
                </a:lnTo>
                <a:lnTo>
                  <a:pt x="6591" y="451726"/>
                </a:lnTo>
                <a:lnTo>
                  <a:pt x="24549" y="478370"/>
                </a:lnTo>
                <a:lnTo>
                  <a:pt x="51193" y="496328"/>
                </a:lnTo>
                <a:lnTo>
                  <a:pt x="83820" y="502920"/>
                </a:lnTo>
                <a:lnTo>
                  <a:pt x="2933700" y="502920"/>
                </a:lnTo>
                <a:lnTo>
                  <a:pt x="2966313" y="496328"/>
                </a:lnTo>
                <a:lnTo>
                  <a:pt x="2992958" y="478370"/>
                </a:lnTo>
                <a:lnTo>
                  <a:pt x="3010928" y="451726"/>
                </a:lnTo>
                <a:lnTo>
                  <a:pt x="3017520" y="419100"/>
                </a:lnTo>
                <a:lnTo>
                  <a:pt x="3017520" y="8382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996" name="object 38">
            <a:extLst>
              <a:ext uri="{FF2B5EF4-FFF2-40B4-BE49-F238E27FC236}">
                <a16:creationId xmlns:a16="http://schemas.microsoft.com/office/drawing/2014/main" id="{B9460392-2C58-CB8C-14E3-A7D950209C26}"/>
              </a:ext>
            </a:extLst>
          </p:cNvPr>
          <p:cNvSpPr txBox="1"/>
          <p:nvPr/>
        </p:nvSpPr>
        <p:spPr>
          <a:xfrm>
            <a:off x="14353072" y="10221173"/>
            <a:ext cx="4267200" cy="2617683"/>
          </a:xfrm>
          <a:prstGeom prst="rect">
            <a:avLst/>
          </a:prstGeom>
        </p:spPr>
        <p:txBody>
          <a:bodyPr vert="horz" wrap="square" lIns="0" tIns="123614" rIns="0" bIns="0" rtlCol="0">
            <a:spAutoFit/>
          </a:bodyPr>
          <a:lstStyle/>
          <a:p>
            <a:pPr marL="846" algn="ctr" defTabSz="1219260">
              <a:spcBef>
                <a:spcPts val="974"/>
              </a:spcBef>
              <a:defRPr/>
            </a:pPr>
            <a:r>
              <a:rPr lang="en-US" sz="2134" b="1" kern="0">
                <a:solidFill>
                  <a:sysClr val="windowText" lastClr="000000"/>
                </a:solidFill>
                <a:latin typeface="Arial"/>
                <a:cs typeface="Arial"/>
              </a:rPr>
              <a:t>Define</a:t>
            </a:r>
            <a:r>
              <a:rPr lang="en-US" sz="2134" b="1" kern="0" spc="-20">
                <a:solidFill>
                  <a:sysClr val="windowText" lastClr="000000"/>
                </a:solidFill>
                <a:latin typeface="Arial"/>
                <a:cs typeface="Arial"/>
              </a:rPr>
              <a:t> </a:t>
            </a:r>
            <a:r>
              <a:rPr lang="en-US" sz="2134" b="1" kern="0">
                <a:solidFill>
                  <a:sysClr val="windowText" lastClr="000000"/>
                </a:solidFill>
                <a:latin typeface="Arial"/>
                <a:cs typeface="Arial"/>
              </a:rPr>
              <a:t>&amp;</a:t>
            </a:r>
            <a:r>
              <a:rPr lang="en-US" sz="2134" b="1" kern="0" spc="-20">
                <a:solidFill>
                  <a:sysClr val="windowText" lastClr="000000"/>
                </a:solidFill>
                <a:latin typeface="Arial"/>
                <a:cs typeface="Arial"/>
              </a:rPr>
              <a:t> </a:t>
            </a:r>
            <a:r>
              <a:rPr lang="en-US" sz="2134" b="1" kern="0" spc="-14">
                <a:solidFill>
                  <a:sysClr val="windowText" lastClr="000000"/>
                </a:solidFill>
                <a:latin typeface="Arial"/>
                <a:cs typeface="Arial"/>
              </a:rPr>
              <a:t>Enforce</a:t>
            </a:r>
            <a:endParaRPr lang="en-US" sz="2134" kern="0">
              <a:solidFill>
                <a:sysClr val="windowText" lastClr="000000"/>
              </a:solidFill>
              <a:latin typeface="Arial"/>
              <a:cs typeface="Arial"/>
            </a:endParaRPr>
          </a:p>
          <a:p>
            <a:pPr marL="662126" marR="651120" algn="ctr" defTabSz="1219260">
              <a:lnSpc>
                <a:spcPts val="5574"/>
              </a:lnSpc>
              <a:spcBef>
                <a:spcPts val="426"/>
              </a:spcBef>
              <a:defRPr/>
            </a:pPr>
            <a:r>
              <a:rPr lang="en-US" sz="1866" b="1" kern="0">
                <a:solidFill>
                  <a:srgbClr val="FFFFFF"/>
                </a:solidFill>
                <a:latin typeface="Arial"/>
                <a:cs typeface="Arial"/>
              </a:rPr>
              <a:t>IAM</a:t>
            </a:r>
            <a:r>
              <a:rPr lang="en-US" sz="1866" b="1" kern="0" spc="-34">
                <a:solidFill>
                  <a:srgbClr val="FFFFFF"/>
                </a:solidFill>
                <a:latin typeface="Arial"/>
                <a:cs typeface="Arial"/>
              </a:rPr>
              <a:t> </a:t>
            </a:r>
            <a:r>
              <a:rPr lang="en-US" sz="1866" b="1" kern="0">
                <a:solidFill>
                  <a:srgbClr val="FFFFFF"/>
                </a:solidFill>
                <a:latin typeface="Arial"/>
                <a:cs typeface="Arial"/>
              </a:rPr>
              <a:t>&amp;</a:t>
            </a:r>
            <a:r>
              <a:rPr lang="en-US" sz="1866" b="1" kern="0" spc="-26">
                <a:solidFill>
                  <a:srgbClr val="FFFFFF"/>
                </a:solidFill>
                <a:latin typeface="Arial"/>
                <a:cs typeface="Arial"/>
              </a:rPr>
              <a:t> </a:t>
            </a:r>
            <a:r>
              <a:rPr lang="en-US" sz="1866" b="1" kern="0">
                <a:solidFill>
                  <a:srgbClr val="FFFFFF"/>
                </a:solidFill>
                <a:latin typeface="Arial"/>
                <a:cs typeface="Arial"/>
              </a:rPr>
              <a:t>Policy</a:t>
            </a:r>
            <a:r>
              <a:rPr lang="en-US" sz="1866" b="1" kern="0" spc="-26">
                <a:solidFill>
                  <a:srgbClr val="FFFFFF"/>
                </a:solidFill>
                <a:latin typeface="Arial"/>
                <a:cs typeface="Arial"/>
              </a:rPr>
              <a:t> </a:t>
            </a:r>
            <a:r>
              <a:rPr lang="en-US" sz="1866" b="1" kern="0" spc="-14">
                <a:solidFill>
                  <a:srgbClr val="FFFFFF"/>
                </a:solidFill>
                <a:latin typeface="Arial"/>
                <a:cs typeface="Arial"/>
              </a:rPr>
              <a:t>Management </a:t>
            </a:r>
            <a:r>
              <a:rPr lang="en-US" sz="1866" b="1" kern="0">
                <a:solidFill>
                  <a:srgbClr val="FFFFFF"/>
                </a:solidFill>
                <a:latin typeface="Arial"/>
                <a:cs typeface="Arial"/>
              </a:rPr>
              <a:t>Network</a:t>
            </a:r>
            <a:r>
              <a:rPr lang="en-US" sz="1866" b="1" kern="0" spc="-46">
                <a:solidFill>
                  <a:srgbClr val="FFFFFF"/>
                </a:solidFill>
                <a:latin typeface="Arial"/>
                <a:cs typeface="Arial"/>
              </a:rPr>
              <a:t> </a:t>
            </a:r>
            <a:r>
              <a:rPr lang="en-US" sz="1866" b="1" kern="0" spc="-14">
                <a:solidFill>
                  <a:srgbClr val="FFFFFF"/>
                </a:solidFill>
                <a:latin typeface="Arial"/>
                <a:cs typeface="Arial"/>
              </a:rPr>
              <a:t>Security</a:t>
            </a:r>
            <a:endParaRPr lang="en-US" sz="1866" kern="0">
              <a:solidFill>
                <a:sysClr val="windowText" lastClr="000000"/>
              </a:solidFill>
              <a:latin typeface="Arial"/>
              <a:cs typeface="Arial"/>
            </a:endParaRPr>
          </a:p>
          <a:p>
            <a:pPr defTabSz="1219260">
              <a:spcBef>
                <a:spcPts val="820"/>
              </a:spcBef>
              <a:defRPr/>
            </a:pPr>
            <a:endParaRPr lang="en-US" sz="1866" kern="0">
              <a:solidFill>
                <a:sysClr val="windowText" lastClr="000000"/>
              </a:solidFill>
              <a:latin typeface="Arial"/>
              <a:cs typeface="Arial"/>
            </a:endParaRPr>
          </a:p>
          <a:p>
            <a:pPr marL="937306" defTabSz="1219260">
              <a:defRPr/>
            </a:pPr>
            <a:r>
              <a:rPr lang="en-US" sz="1866" b="1" kern="0">
                <a:solidFill>
                  <a:srgbClr val="FFFFFF"/>
                </a:solidFill>
                <a:latin typeface="Arial"/>
                <a:cs typeface="Arial"/>
              </a:rPr>
              <a:t>Secrets</a:t>
            </a:r>
            <a:r>
              <a:rPr lang="en-US" sz="1866" b="1" kern="0" spc="-54">
                <a:solidFill>
                  <a:srgbClr val="FFFFFF"/>
                </a:solidFill>
                <a:latin typeface="Arial"/>
                <a:cs typeface="Arial"/>
              </a:rPr>
              <a:t> </a:t>
            </a:r>
            <a:r>
              <a:rPr lang="en-US" sz="1866" b="1" kern="0">
                <a:solidFill>
                  <a:srgbClr val="FFFFFF"/>
                </a:solidFill>
                <a:latin typeface="Arial"/>
                <a:cs typeface="Arial"/>
              </a:rPr>
              <a:t>&amp;</a:t>
            </a:r>
            <a:r>
              <a:rPr lang="en-US" sz="1866" b="1" kern="0" spc="-34">
                <a:solidFill>
                  <a:srgbClr val="FFFFFF"/>
                </a:solidFill>
                <a:latin typeface="Arial"/>
                <a:cs typeface="Arial"/>
              </a:rPr>
              <a:t> </a:t>
            </a:r>
            <a:r>
              <a:rPr lang="en-US" sz="1866" b="1" kern="0" spc="-14">
                <a:solidFill>
                  <a:srgbClr val="FFFFFF"/>
                </a:solidFill>
                <a:latin typeface="Arial"/>
                <a:cs typeface="Arial"/>
              </a:rPr>
              <a:t>Encryption</a:t>
            </a:r>
            <a:endParaRPr lang="en-US" sz="1866" kern="0">
              <a:solidFill>
                <a:sysClr val="windowText" lastClr="000000"/>
              </a:solidFill>
              <a:latin typeface="Arial"/>
              <a:cs typeface="Arial"/>
            </a:endParaRPr>
          </a:p>
        </p:txBody>
      </p:sp>
      <p:sp>
        <p:nvSpPr>
          <p:cNvPr id="997" name="object 39">
            <a:extLst>
              <a:ext uri="{FF2B5EF4-FFF2-40B4-BE49-F238E27FC236}">
                <a16:creationId xmlns:a16="http://schemas.microsoft.com/office/drawing/2014/main" id="{F7FD0E03-78D4-8234-C52C-F4BDC19A180C}"/>
              </a:ext>
            </a:extLst>
          </p:cNvPr>
          <p:cNvSpPr/>
          <p:nvPr/>
        </p:nvSpPr>
        <p:spPr>
          <a:xfrm>
            <a:off x="18940578" y="10859939"/>
            <a:ext cx="4023360" cy="2122594"/>
          </a:xfrm>
          <a:custGeom>
            <a:avLst/>
            <a:gdLst/>
            <a:ahLst/>
            <a:cxnLst/>
            <a:rect l="l" t="t" r="r" b="b"/>
            <a:pathLst>
              <a:path w="3017519" h="1591945">
                <a:moveTo>
                  <a:pt x="3017520" y="1172756"/>
                </a:moveTo>
                <a:lnTo>
                  <a:pt x="3010928" y="1140129"/>
                </a:lnTo>
                <a:lnTo>
                  <a:pt x="2992958" y="1113485"/>
                </a:lnTo>
                <a:lnTo>
                  <a:pt x="2966313" y="1095514"/>
                </a:lnTo>
                <a:lnTo>
                  <a:pt x="2933700" y="1088936"/>
                </a:lnTo>
                <a:lnTo>
                  <a:pt x="83832" y="1088936"/>
                </a:lnTo>
                <a:lnTo>
                  <a:pt x="51193" y="1095514"/>
                </a:lnTo>
                <a:lnTo>
                  <a:pt x="24549" y="1113485"/>
                </a:lnTo>
                <a:lnTo>
                  <a:pt x="6578" y="1140129"/>
                </a:lnTo>
                <a:lnTo>
                  <a:pt x="0" y="1172756"/>
                </a:lnTo>
                <a:lnTo>
                  <a:pt x="0" y="1508023"/>
                </a:lnTo>
                <a:lnTo>
                  <a:pt x="6578" y="1540649"/>
                </a:lnTo>
                <a:lnTo>
                  <a:pt x="24549" y="1567294"/>
                </a:lnTo>
                <a:lnTo>
                  <a:pt x="51193" y="1585264"/>
                </a:lnTo>
                <a:lnTo>
                  <a:pt x="83832" y="1591856"/>
                </a:lnTo>
                <a:lnTo>
                  <a:pt x="2933700" y="1591856"/>
                </a:lnTo>
                <a:lnTo>
                  <a:pt x="2966313" y="1585264"/>
                </a:lnTo>
                <a:lnTo>
                  <a:pt x="2992958" y="1567294"/>
                </a:lnTo>
                <a:lnTo>
                  <a:pt x="3010928" y="1540649"/>
                </a:lnTo>
                <a:lnTo>
                  <a:pt x="3017520" y="1508023"/>
                </a:lnTo>
                <a:lnTo>
                  <a:pt x="3017520" y="1172756"/>
                </a:lnTo>
                <a:close/>
              </a:path>
              <a:path w="3017519" h="1591945">
                <a:moveTo>
                  <a:pt x="3017520" y="615594"/>
                </a:moveTo>
                <a:lnTo>
                  <a:pt x="3010928" y="582968"/>
                </a:lnTo>
                <a:lnTo>
                  <a:pt x="2992958" y="556323"/>
                </a:lnTo>
                <a:lnTo>
                  <a:pt x="2966313" y="538353"/>
                </a:lnTo>
                <a:lnTo>
                  <a:pt x="2933700" y="531761"/>
                </a:lnTo>
                <a:lnTo>
                  <a:pt x="83832" y="531761"/>
                </a:lnTo>
                <a:lnTo>
                  <a:pt x="51193" y="538353"/>
                </a:lnTo>
                <a:lnTo>
                  <a:pt x="24549" y="556323"/>
                </a:lnTo>
                <a:lnTo>
                  <a:pt x="6578" y="582968"/>
                </a:lnTo>
                <a:lnTo>
                  <a:pt x="0" y="615594"/>
                </a:lnTo>
                <a:lnTo>
                  <a:pt x="0" y="950861"/>
                </a:lnTo>
                <a:lnTo>
                  <a:pt x="6578" y="983488"/>
                </a:lnTo>
                <a:lnTo>
                  <a:pt x="24549" y="1010132"/>
                </a:lnTo>
                <a:lnTo>
                  <a:pt x="51193" y="1028103"/>
                </a:lnTo>
                <a:lnTo>
                  <a:pt x="83832" y="1034681"/>
                </a:lnTo>
                <a:lnTo>
                  <a:pt x="2933700" y="1034681"/>
                </a:lnTo>
                <a:lnTo>
                  <a:pt x="2966313" y="1028103"/>
                </a:lnTo>
                <a:lnTo>
                  <a:pt x="2992958" y="1010132"/>
                </a:lnTo>
                <a:lnTo>
                  <a:pt x="3010928" y="983488"/>
                </a:lnTo>
                <a:lnTo>
                  <a:pt x="3017520" y="950861"/>
                </a:lnTo>
                <a:lnTo>
                  <a:pt x="3017520" y="615594"/>
                </a:lnTo>
                <a:close/>
              </a:path>
              <a:path w="3017519" h="1591945">
                <a:moveTo>
                  <a:pt x="3017520" y="83820"/>
                </a:moveTo>
                <a:lnTo>
                  <a:pt x="3010928" y="51193"/>
                </a:lnTo>
                <a:lnTo>
                  <a:pt x="2992958" y="24549"/>
                </a:lnTo>
                <a:lnTo>
                  <a:pt x="2966313" y="6591"/>
                </a:lnTo>
                <a:lnTo>
                  <a:pt x="2933700" y="0"/>
                </a:lnTo>
                <a:lnTo>
                  <a:pt x="83832" y="0"/>
                </a:lnTo>
                <a:lnTo>
                  <a:pt x="51193" y="6591"/>
                </a:lnTo>
                <a:lnTo>
                  <a:pt x="24549" y="24549"/>
                </a:lnTo>
                <a:lnTo>
                  <a:pt x="6578" y="51193"/>
                </a:lnTo>
                <a:lnTo>
                  <a:pt x="0" y="83820"/>
                </a:lnTo>
                <a:lnTo>
                  <a:pt x="0" y="419100"/>
                </a:lnTo>
                <a:lnTo>
                  <a:pt x="6578" y="451726"/>
                </a:lnTo>
                <a:lnTo>
                  <a:pt x="24549" y="478370"/>
                </a:lnTo>
                <a:lnTo>
                  <a:pt x="51193" y="496328"/>
                </a:lnTo>
                <a:lnTo>
                  <a:pt x="83832" y="502920"/>
                </a:lnTo>
                <a:lnTo>
                  <a:pt x="2933700" y="502920"/>
                </a:lnTo>
                <a:lnTo>
                  <a:pt x="2966313" y="496328"/>
                </a:lnTo>
                <a:lnTo>
                  <a:pt x="2992958" y="478370"/>
                </a:lnTo>
                <a:lnTo>
                  <a:pt x="3010928" y="451726"/>
                </a:lnTo>
                <a:lnTo>
                  <a:pt x="3017520" y="419100"/>
                </a:lnTo>
                <a:lnTo>
                  <a:pt x="3017520" y="8382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998" name="object 40">
            <a:extLst>
              <a:ext uri="{FF2B5EF4-FFF2-40B4-BE49-F238E27FC236}">
                <a16:creationId xmlns:a16="http://schemas.microsoft.com/office/drawing/2014/main" id="{759BBB6E-236E-7B95-9BB5-8A3B09397140}"/>
              </a:ext>
            </a:extLst>
          </p:cNvPr>
          <p:cNvSpPr txBox="1"/>
          <p:nvPr/>
        </p:nvSpPr>
        <p:spPr>
          <a:xfrm>
            <a:off x="18818656" y="10221172"/>
            <a:ext cx="4267200" cy="2579937"/>
          </a:xfrm>
          <a:prstGeom prst="rect">
            <a:avLst/>
          </a:prstGeom>
        </p:spPr>
        <p:txBody>
          <a:bodyPr vert="horz" wrap="square" lIns="0" tIns="121920" rIns="0" bIns="0" rtlCol="0">
            <a:spAutoFit/>
          </a:bodyPr>
          <a:lstStyle/>
          <a:p>
            <a:pPr algn="ctr" defTabSz="1219260">
              <a:spcBef>
                <a:spcPts val="960"/>
              </a:spcBef>
              <a:defRPr/>
            </a:pPr>
            <a:r>
              <a:rPr lang="en-US" sz="2400" b="1" kern="0">
                <a:solidFill>
                  <a:sysClr val="windowText" lastClr="000000"/>
                </a:solidFill>
                <a:latin typeface="Arial"/>
                <a:cs typeface="Arial"/>
              </a:rPr>
              <a:t>Detect</a:t>
            </a:r>
            <a:r>
              <a:rPr lang="en-US" sz="2400" b="1" kern="0" spc="-20">
                <a:solidFill>
                  <a:sysClr val="windowText" lastClr="000000"/>
                </a:solidFill>
                <a:latin typeface="Arial"/>
                <a:cs typeface="Arial"/>
              </a:rPr>
              <a:t> </a:t>
            </a:r>
            <a:r>
              <a:rPr lang="en-US" sz="2400" b="1" kern="0">
                <a:solidFill>
                  <a:sysClr val="windowText" lastClr="000000"/>
                </a:solidFill>
                <a:latin typeface="Arial"/>
                <a:cs typeface="Arial"/>
              </a:rPr>
              <a:t>&amp;</a:t>
            </a:r>
            <a:r>
              <a:rPr lang="en-US" sz="2400" b="1" kern="0" spc="-14">
                <a:solidFill>
                  <a:sysClr val="windowText" lastClr="000000"/>
                </a:solidFill>
                <a:latin typeface="Arial"/>
                <a:cs typeface="Arial"/>
              </a:rPr>
              <a:t> Respond</a:t>
            </a:r>
            <a:endParaRPr lang="en-US" sz="2400" kern="0">
              <a:solidFill>
                <a:sysClr val="windowText" lastClr="000000"/>
              </a:solidFill>
              <a:latin typeface="Arial"/>
              <a:cs typeface="Arial"/>
            </a:endParaRPr>
          </a:p>
          <a:p>
            <a:pPr marL="911906" marR="900052" algn="ctr" defTabSz="1219260">
              <a:lnSpc>
                <a:spcPts val="2146"/>
              </a:lnSpc>
              <a:spcBef>
                <a:spcPts val="1740"/>
              </a:spcBef>
              <a:defRPr/>
            </a:pPr>
            <a:r>
              <a:rPr lang="en-US" sz="1866" b="1" kern="0">
                <a:solidFill>
                  <a:srgbClr val="FFFFFF"/>
                </a:solidFill>
                <a:latin typeface="Arial"/>
                <a:cs typeface="Arial"/>
              </a:rPr>
              <a:t>Threat</a:t>
            </a:r>
            <a:r>
              <a:rPr lang="en-US" sz="1866" b="1" kern="0" spc="-40">
                <a:solidFill>
                  <a:srgbClr val="FFFFFF"/>
                </a:solidFill>
                <a:latin typeface="Arial"/>
                <a:cs typeface="Arial"/>
              </a:rPr>
              <a:t> </a:t>
            </a:r>
            <a:r>
              <a:rPr lang="en-US" sz="1866" b="1" kern="0">
                <a:solidFill>
                  <a:srgbClr val="FFFFFF"/>
                </a:solidFill>
                <a:latin typeface="Arial"/>
                <a:cs typeface="Arial"/>
              </a:rPr>
              <a:t>&amp;</a:t>
            </a:r>
            <a:r>
              <a:rPr lang="en-US" sz="1866" b="1" kern="0" spc="-26">
                <a:solidFill>
                  <a:srgbClr val="FFFFFF"/>
                </a:solidFill>
                <a:latin typeface="Arial"/>
                <a:cs typeface="Arial"/>
              </a:rPr>
              <a:t> </a:t>
            </a:r>
            <a:r>
              <a:rPr lang="en-US" sz="1866" b="1" kern="0" spc="-14">
                <a:solidFill>
                  <a:srgbClr val="FFFFFF"/>
                </a:solidFill>
                <a:latin typeface="Arial"/>
                <a:cs typeface="Arial"/>
              </a:rPr>
              <a:t>Vulnerability Management</a:t>
            </a:r>
            <a:endParaRPr lang="en-US" sz="1866" kern="0">
              <a:solidFill>
                <a:sysClr val="windowText" lastClr="000000"/>
              </a:solidFill>
              <a:latin typeface="Arial"/>
              <a:cs typeface="Arial"/>
            </a:endParaRPr>
          </a:p>
          <a:p>
            <a:pPr marL="510566" marR="501252" algn="ctr" defTabSz="1219260">
              <a:lnSpc>
                <a:spcPts val="2146"/>
              </a:lnSpc>
              <a:spcBef>
                <a:spcPts val="1274"/>
              </a:spcBef>
              <a:defRPr/>
            </a:pPr>
            <a:r>
              <a:rPr lang="en-US" sz="1866" b="1" kern="0">
                <a:solidFill>
                  <a:srgbClr val="FFFFFF"/>
                </a:solidFill>
                <a:latin typeface="Arial"/>
                <a:cs typeface="Arial"/>
              </a:rPr>
              <a:t>Security</a:t>
            </a:r>
            <a:r>
              <a:rPr lang="en-US" sz="1866" b="1" kern="0" spc="-74">
                <a:solidFill>
                  <a:srgbClr val="FFFFFF"/>
                </a:solidFill>
                <a:latin typeface="Arial"/>
                <a:cs typeface="Arial"/>
              </a:rPr>
              <a:t> </a:t>
            </a:r>
            <a:r>
              <a:rPr lang="en-US" sz="1866" b="1" kern="0">
                <a:solidFill>
                  <a:srgbClr val="FFFFFF"/>
                </a:solidFill>
                <a:latin typeface="Arial"/>
                <a:cs typeface="Arial"/>
              </a:rPr>
              <a:t>Information</a:t>
            </a:r>
            <a:r>
              <a:rPr lang="en-US" sz="1866" b="1" kern="0" spc="-74">
                <a:solidFill>
                  <a:srgbClr val="FFFFFF"/>
                </a:solidFill>
                <a:latin typeface="Arial"/>
                <a:cs typeface="Arial"/>
              </a:rPr>
              <a:t> </a:t>
            </a:r>
            <a:r>
              <a:rPr lang="en-US" sz="1866" b="1" kern="0">
                <a:solidFill>
                  <a:srgbClr val="FFFFFF"/>
                </a:solidFill>
                <a:latin typeface="Arial"/>
                <a:cs typeface="Arial"/>
              </a:rPr>
              <a:t>&amp;</a:t>
            </a:r>
            <a:r>
              <a:rPr lang="en-US" sz="1866" b="1" kern="0" spc="-66">
                <a:solidFill>
                  <a:srgbClr val="FFFFFF"/>
                </a:solidFill>
                <a:latin typeface="Arial"/>
                <a:cs typeface="Arial"/>
              </a:rPr>
              <a:t> </a:t>
            </a:r>
            <a:r>
              <a:rPr lang="en-US" sz="1866" b="1" kern="0" spc="-26">
                <a:solidFill>
                  <a:srgbClr val="FFFFFF"/>
                </a:solidFill>
                <a:latin typeface="Arial"/>
                <a:cs typeface="Arial"/>
              </a:rPr>
              <a:t>Event </a:t>
            </a:r>
            <a:r>
              <a:rPr lang="en-US" sz="1866" b="1" kern="0" spc="-14">
                <a:solidFill>
                  <a:srgbClr val="FFFFFF"/>
                </a:solidFill>
                <a:latin typeface="Arial"/>
                <a:cs typeface="Arial"/>
              </a:rPr>
              <a:t>Mgmt.</a:t>
            </a:r>
            <a:endParaRPr lang="en-US" sz="1866" kern="0">
              <a:solidFill>
                <a:sysClr val="windowText" lastClr="000000"/>
              </a:solidFill>
              <a:latin typeface="Arial"/>
              <a:cs typeface="Arial"/>
            </a:endParaRPr>
          </a:p>
          <a:p>
            <a:pPr defTabSz="1219260">
              <a:spcBef>
                <a:spcPts val="386"/>
              </a:spcBef>
              <a:defRPr/>
            </a:pPr>
            <a:endParaRPr lang="en-US" sz="1866" kern="0">
              <a:solidFill>
                <a:sysClr val="windowText" lastClr="000000"/>
              </a:solidFill>
              <a:latin typeface="Arial"/>
              <a:cs typeface="Arial"/>
            </a:endParaRPr>
          </a:p>
          <a:p>
            <a:pPr marL="375092" defTabSz="1219260">
              <a:defRPr/>
            </a:pPr>
            <a:r>
              <a:rPr lang="en-US" sz="1866" b="1" kern="0">
                <a:solidFill>
                  <a:srgbClr val="FFFFFF"/>
                </a:solidFill>
                <a:latin typeface="Arial"/>
                <a:cs typeface="Arial"/>
              </a:rPr>
              <a:t>Incident</a:t>
            </a:r>
            <a:r>
              <a:rPr lang="en-US" sz="1866" b="1" kern="0" spc="-60">
                <a:solidFill>
                  <a:srgbClr val="FFFFFF"/>
                </a:solidFill>
                <a:latin typeface="Arial"/>
                <a:cs typeface="Arial"/>
              </a:rPr>
              <a:t> </a:t>
            </a:r>
            <a:r>
              <a:rPr lang="en-US" sz="1866" b="1" kern="0">
                <a:solidFill>
                  <a:srgbClr val="FFFFFF"/>
                </a:solidFill>
                <a:latin typeface="Arial"/>
                <a:cs typeface="Arial"/>
              </a:rPr>
              <a:t>Response</a:t>
            </a:r>
            <a:r>
              <a:rPr lang="en-US" sz="1866" b="1" kern="0" spc="-60">
                <a:solidFill>
                  <a:srgbClr val="FFFFFF"/>
                </a:solidFill>
                <a:latin typeface="Arial"/>
                <a:cs typeface="Arial"/>
              </a:rPr>
              <a:t> </a:t>
            </a:r>
            <a:r>
              <a:rPr lang="en-US" sz="1866" b="1" kern="0">
                <a:solidFill>
                  <a:srgbClr val="FFFFFF"/>
                </a:solidFill>
                <a:latin typeface="Arial"/>
                <a:cs typeface="Arial"/>
              </a:rPr>
              <a:t>&amp;</a:t>
            </a:r>
            <a:r>
              <a:rPr lang="en-US" sz="1866" b="1" kern="0" spc="-60">
                <a:solidFill>
                  <a:srgbClr val="FFFFFF"/>
                </a:solidFill>
                <a:latin typeface="Arial"/>
                <a:cs typeface="Arial"/>
              </a:rPr>
              <a:t> </a:t>
            </a:r>
            <a:r>
              <a:rPr lang="en-US" sz="1866" b="1" kern="0" spc="-14">
                <a:solidFill>
                  <a:srgbClr val="FFFFFF"/>
                </a:solidFill>
                <a:latin typeface="Arial"/>
                <a:cs typeface="Arial"/>
              </a:rPr>
              <a:t>Forensics</a:t>
            </a:r>
            <a:endParaRPr lang="en-US" sz="1866" kern="0">
              <a:solidFill>
                <a:sysClr val="windowText" lastClr="000000"/>
              </a:solidFill>
              <a:latin typeface="Arial"/>
              <a:cs typeface="Arial"/>
            </a:endParaRPr>
          </a:p>
        </p:txBody>
      </p:sp>
      <p:sp>
        <p:nvSpPr>
          <p:cNvPr id="999" name="object 49">
            <a:extLst>
              <a:ext uri="{FF2B5EF4-FFF2-40B4-BE49-F238E27FC236}">
                <a16:creationId xmlns:a16="http://schemas.microsoft.com/office/drawing/2014/main" id="{E5D61064-7FD6-CB2D-6B83-B026AB8C8559}"/>
              </a:ext>
            </a:extLst>
          </p:cNvPr>
          <p:cNvSpPr/>
          <p:nvPr/>
        </p:nvSpPr>
        <p:spPr>
          <a:xfrm>
            <a:off x="567073" y="8417089"/>
            <a:ext cx="13336694" cy="4707466"/>
          </a:xfrm>
          <a:custGeom>
            <a:avLst/>
            <a:gdLst/>
            <a:ahLst/>
            <a:cxnLst/>
            <a:rect l="l" t="t" r="r" b="b"/>
            <a:pathLst>
              <a:path w="10002520" h="3530600">
                <a:moveTo>
                  <a:pt x="10002393" y="0"/>
                </a:moveTo>
                <a:lnTo>
                  <a:pt x="0" y="0"/>
                </a:lnTo>
                <a:lnTo>
                  <a:pt x="0" y="3530055"/>
                </a:lnTo>
                <a:lnTo>
                  <a:pt x="10002393" y="3530055"/>
                </a:lnTo>
                <a:lnTo>
                  <a:pt x="10002393" y="0"/>
                </a:lnTo>
                <a:close/>
              </a:path>
            </a:pathLst>
          </a:custGeom>
          <a:solidFill>
            <a:srgbClr val="00BEBC"/>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00" name="object 50">
            <a:extLst>
              <a:ext uri="{FF2B5EF4-FFF2-40B4-BE49-F238E27FC236}">
                <a16:creationId xmlns:a16="http://schemas.microsoft.com/office/drawing/2014/main" id="{1C7FDFD8-4DE7-91C4-44B7-3F4AB8CDB280}"/>
              </a:ext>
            </a:extLst>
          </p:cNvPr>
          <p:cNvSpPr txBox="1"/>
          <p:nvPr/>
        </p:nvSpPr>
        <p:spPr>
          <a:xfrm>
            <a:off x="638438" y="10199030"/>
            <a:ext cx="397545" cy="1145540"/>
          </a:xfrm>
          <a:prstGeom prst="rect">
            <a:avLst/>
          </a:prstGeom>
        </p:spPr>
        <p:txBody>
          <a:bodyPr vert="vert270" wrap="square" lIns="0" tIns="0" rIns="0" bIns="0" rtlCol="0">
            <a:spAutoFit/>
          </a:bodyPr>
          <a:lstStyle/>
          <a:p>
            <a:pPr marL="16934" defTabSz="1219260">
              <a:lnSpc>
                <a:spcPts val="3080"/>
              </a:lnSpc>
              <a:defRPr/>
            </a:pPr>
            <a:r>
              <a:rPr lang="en-US" sz="2666" b="1" kern="0" spc="-14">
                <a:solidFill>
                  <a:srgbClr val="FFFFFF"/>
                </a:solidFill>
                <a:latin typeface="Arial"/>
                <a:cs typeface="Arial"/>
              </a:rPr>
              <a:t>People</a:t>
            </a:r>
            <a:endParaRPr lang="en-US" sz="2666" kern="0">
              <a:solidFill>
                <a:sysClr val="windowText" lastClr="000000"/>
              </a:solidFill>
              <a:latin typeface="Arial"/>
              <a:cs typeface="Arial"/>
            </a:endParaRPr>
          </a:p>
        </p:txBody>
      </p:sp>
      <p:sp>
        <p:nvSpPr>
          <p:cNvPr id="1001" name="object 51">
            <a:extLst>
              <a:ext uri="{FF2B5EF4-FFF2-40B4-BE49-F238E27FC236}">
                <a16:creationId xmlns:a16="http://schemas.microsoft.com/office/drawing/2014/main" id="{53211F14-FDA8-0F56-AA8A-FCD229DE7CEE}"/>
              </a:ext>
            </a:extLst>
          </p:cNvPr>
          <p:cNvSpPr/>
          <p:nvPr/>
        </p:nvSpPr>
        <p:spPr>
          <a:xfrm>
            <a:off x="567071" y="3707853"/>
            <a:ext cx="13336694" cy="4590626"/>
          </a:xfrm>
          <a:custGeom>
            <a:avLst/>
            <a:gdLst/>
            <a:ahLst/>
            <a:cxnLst/>
            <a:rect l="l" t="t" r="r" b="b"/>
            <a:pathLst>
              <a:path w="10002520" h="3442970">
                <a:moveTo>
                  <a:pt x="10002391" y="0"/>
                </a:moveTo>
                <a:lnTo>
                  <a:pt x="0" y="0"/>
                </a:lnTo>
                <a:lnTo>
                  <a:pt x="0" y="3442975"/>
                </a:lnTo>
                <a:lnTo>
                  <a:pt x="10002391" y="3442975"/>
                </a:lnTo>
                <a:lnTo>
                  <a:pt x="10002391" y="0"/>
                </a:lnTo>
                <a:close/>
              </a:path>
            </a:pathLst>
          </a:custGeom>
          <a:solidFill>
            <a:srgbClr val="95008A"/>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02" name="object 52">
            <a:extLst>
              <a:ext uri="{FF2B5EF4-FFF2-40B4-BE49-F238E27FC236}">
                <a16:creationId xmlns:a16="http://schemas.microsoft.com/office/drawing/2014/main" id="{9F3BFD7A-AE97-7419-463F-F36E94FD7622}"/>
              </a:ext>
            </a:extLst>
          </p:cNvPr>
          <p:cNvSpPr txBox="1"/>
          <p:nvPr/>
        </p:nvSpPr>
        <p:spPr>
          <a:xfrm>
            <a:off x="638439" y="5007511"/>
            <a:ext cx="397545" cy="1992206"/>
          </a:xfrm>
          <a:prstGeom prst="rect">
            <a:avLst/>
          </a:prstGeom>
        </p:spPr>
        <p:txBody>
          <a:bodyPr vert="vert270" wrap="square" lIns="0" tIns="0" rIns="0" bIns="0" rtlCol="0">
            <a:spAutoFit/>
          </a:bodyPr>
          <a:lstStyle/>
          <a:p>
            <a:pPr marL="16934" defTabSz="1219260">
              <a:lnSpc>
                <a:spcPts val="3080"/>
              </a:lnSpc>
              <a:defRPr/>
            </a:pPr>
            <a:r>
              <a:rPr lang="en-US" sz="2666" b="1" kern="0" spc="-14">
                <a:solidFill>
                  <a:srgbClr val="FFFFFF"/>
                </a:solidFill>
                <a:latin typeface="Arial"/>
                <a:cs typeface="Arial"/>
              </a:rPr>
              <a:t>Governance</a:t>
            </a:r>
            <a:endParaRPr lang="en-US" sz="2666" kern="0">
              <a:solidFill>
                <a:sysClr val="windowText" lastClr="000000"/>
              </a:solidFill>
              <a:latin typeface="Arial"/>
              <a:cs typeface="Arial"/>
            </a:endParaRPr>
          </a:p>
        </p:txBody>
      </p:sp>
      <p:grpSp>
        <p:nvGrpSpPr>
          <p:cNvPr id="1003" name="object 53">
            <a:extLst>
              <a:ext uri="{FF2B5EF4-FFF2-40B4-BE49-F238E27FC236}">
                <a16:creationId xmlns:a16="http://schemas.microsoft.com/office/drawing/2014/main" id="{D5B8BD4A-14C0-1709-F75F-FDA960363331}"/>
              </a:ext>
            </a:extLst>
          </p:cNvPr>
          <p:cNvGrpSpPr/>
          <p:nvPr/>
        </p:nvGrpSpPr>
        <p:grpSpPr>
          <a:xfrm>
            <a:off x="1190217" y="3804664"/>
            <a:ext cx="12579906" cy="9160656"/>
            <a:chOff x="892661" y="2496311"/>
            <a:chExt cx="9434930" cy="6870491"/>
          </a:xfrm>
        </p:grpSpPr>
        <p:sp>
          <p:nvSpPr>
            <p:cNvPr id="1004" name="object 54">
              <a:extLst>
                <a:ext uri="{FF2B5EF4-FFF2-40B4-BE49-F238E27FC236}">
                  <a16:creationId xmlns:a16="http://schemas.microsoft.com/office/drawing/2014/main" id="{1F04C2CA-FD50-F78F-093B-9C52E609C2CA}"/>
                </a:ext>
              </a:extLst>
            </p:cNvPr>
            <p:cNvSpPr/>
            <p:nvPr/>
          </p:nvSpPr>
          <p:spPr>
            <a:xfrm>
              <a:off x="907531" y="2510411"/>
              <a:ext cx="2286000" cy="3298825"/>
            </a:xfrm>
            <a:custGeom>
              <a:avLst/>
              <a:gdLst/>
              <a:ahLst/>
              <a:cxnLst/>
              <a:rect l="l" t="t" r="r" b="b"/>
              <a:pathLst>
                <a:path w="2286000" h="3298825">
                  <a:moveTo>
                    <a:pt x="2286000" y="0"/>
                  </a:moveTo>
                  <a:lnTo>
                    <a:pt x="0" y="0"/>
                  </a:lnTo>
                  <a:lnTo>
                    <a:pt x="0" y="3298682"/>
                  </a:lnTo>
                  <a:lnTo>
                    <a:pt x="2286000" y="3298682"/>
                  </a:lnTo>
                  <a:lnTo>
                    <a:pt x="22860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pic>
          <p:nvPicPr>
            <p:cNvPr id="1005" name="object 55">
              <a:extLst>
                <a:ext uri="{FF2B5EF4-FFF2-40B4-BE49-F238E27FC236}">
                  <a16:creationId xmlns:a16="http://schemas.microsoft.com/office/drawing/2014/main" id="{147CF974-7025-F696-B78C-F48A38B7E50C}"/>
                </a:ext>
              </a:extLst>
            </p:cNvPr>
            <p:cNvPicPr/>
            <p:nvPr/>
          </p:nvPicPr>
          <p:blipFill>
            <a:blip r:embed="rId3" cstate="print"/>
            <a:stretch>
              <a:fillRect/>
            </a:stretch>
          </p:blipFill>
          <p:spPr>
            <a:xfrm>
              <a:off x="1783079" y="2499359"/>
              <a:ext cx="533400" cy="533400"/>
            </a:xfrm>
            <a:prstGeom prst="rect">
              <a:avLst/>
            </a:prstGeom>
          </p:spPr>
        </p:pic>
        <p:sp>
          <p:nvSpPr>
            <p:cNvPr id="1006" name="object 56">
              <a:extLst>
                <a:ext uri="{FF2B5EF4-FFF2-40B4-BE49-F238E27FC236}">
                  <a16:creationId xmlns:a16="http://schemas.microsoft.com/office/drawing/2014/main" id="{6AE7F844-342B-1CD5-9440-F2F94DE7908F}"/>
                </a:ext>
              </a:extLst>
            </p:cNvPr>
            <p:cNvSpPr/>
            <p:nvPr/>
          </p:nvSpPr>
          <p:spPr>
            <a:xfrm>
              <a:off x="3271822" y="2510411"/>
              <a:ext cx="2286000" cy="3298825"/>
            </a:xfrm>
            <a:custGeom>
              <a:avLst/>
              <a:gdLst/>
              <a:ahLst/>
              <a:cxnLst/>
              <a:rect l="l" t="t" r="r" b="b"/>
              <a:pathLst>
                <a:path w="2286000" h="3298825">
                  <a:moveTo>
                    <a:pt x="2286000" y="0"/>
                  </a:moveTo>
                  <a:lnTo>
                    <a:pt x="0" y="0"/>
                  </a:lnTo>
                  <a:lnTo>
                    <a:pt x="0" y="3298682"/>
                  </a:lnTo>
                  <a:lnTo>
                    <a:pt x="2286000" y="3298682"/>
                  </a:lnTo>
                  <a:lnTo>
                    <a:pt x="22860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pic>
          <p:nvPicPr>
            <p:cNvPr id="1007" name="object 57">
              <a:extLst>
                <a:ext uri="{FF2B5EF4-FFF2-40B4-BE49-F238E27FC236}">
                  <a16:creationId xmlns:a16="http://schemas.microsoft.com/office/drawing/2014/main" id="{26172E3F-2C31-00B2-8745-4CF0AD5EDB5E}"/>
                </a:ext>
              </a:extLst>
            </p:cNvPr>
            <p:cNvPicPr/>
            <p:nvPr/>
          </p:nvPicPr>
          <p:blipFill>
            <a:blip r:embed="rId4" cstate="print"/>
            <a:stretch>
              <a:fillRect/>
            </a:stretch>
          </p:blipFill>
          <p:spPr>
            <a:xfrm>
              <a:off x="4157471" y="2499359"/>
              <a:ext cx="533400" cy="533400"/>
            </a:xfrm>
            <a:prstGeom prst="rect">
              <a:avLst/>
            </a:prstGeom>
          </p:spPr>
        </p:pic>
        <p:sp>
          <p:nvSpPr>
            <p:cNvPr id="1008" name="object 58">
              <a:extLst>
                <a:ext uri="{FF2B5EF4-FFF2-40B4-BE49-F238E27FC236}">
                  <a16:creationId xmlns:a16="http://schemas.microsoft.com/office/drawing/2014/main" id="{77F8802B-0228-4EE3-3208-4C1ED629D669}"/>
                </a:ext>
              </a:extLst>
            </p:cNvPr>
            <p:cNvSpPr/>
            <p:nvPr/>
          </p:nvSpPr>
          <p:spPr>
            <a:xfrm>
              <a:off x="5646347" y="2510411"/>
              <a:ext cx="2286000" cy="3298825"/>
            </a:xfrm>
            <a:custGeom>
              <a:avLst/>
              <a:gdLst/>
              <a:ahLst/>
              <a:cxnLst/>
              <a:rect l="l" t="t" r="r" b="b"/>
              <a:pathLst>
                <a:path w="2286000" h="3298825">
                  <a:moveTo>
                    <a:pt x="2286000" y="0"/>
                  </a:moveTo>
                  <a:lnTo>
                    <a:pt x="0" y="0"/>
                  </a:lnTo>
                  <a:lnTo>
                    <a:pt x="0" y="3298682"/>
                  </a:lnTo>
                  <a:lnTo>
                    <a:pt x="2286000" y="3298682"/>
                  </a:lnTo>
                  <a:lnTo>
                    <a:pt x="22860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pic>
          <p:nvPicPr>
            <p:cNvPr id="1009" name="object 59">
              <a:extLst>
                <a:ext uri="{FF2B5EF4-FFF2-40B4-BE49-F238E27FC236}">
                  <a16:creationId xmlns:a16="http://schemas.microsoft.com/office/drawing/2014/main" id="{55B97C79-13DA-3D3D-FED0-59E619D7067F}"/>
                </a:ext>
              </a:extLst>
            </p:cNvPr>
            <p:cNvPicPr/>
            <p:nvPr/>
          </p:nvPicPr>
          <p:blipFill>
            <a:blip r:embed="rId5" cstate="print"/>
            <a:stretch>
              <a:fillRect/>
            </a:stretch>
          </p:blipFill>
          <p:spPr>
            <a:xfrm>
              <a:off x="6510527" y="2499359"/>
              <a:ext cx="533400" cy="533400"/>
            </a:xfrm>
            <a:prstGeom prst="rect">
              <a:avLst/>
            </a:prstGeom>
          </p:spPr>
        </p:pic>
        <p:sp>
          <p:nvSpPr>
            <p:cNvPr id="1010" name="object 60">
              <a:extLst>
                <a:ext uri="{FF2B5EF4-FFF2-40B4-BE49-F238E27FC236}">
                  <a16:creationId xmlns:a16="http://schemas.microsoft.com/office/drawing/2014/main" id="{35964400-A9A5-DA38-5CBB-C4D914147F3D}"/>
                </a:ext>
              </a:extLst>
            </p:cNvPr>
            <p:cNvSpPr/>
            <p:nvPr/>
          </p:nvSpPr>
          <p:spPr>
            <a:xfrm>
              <a:off x="892661" y="6032515"/>
              <a:ext cx="2286000" cy="3333115"/>
            </a:xfrm>
            <a:custGeom>
              <a:avLst/>
              <a:gdLst/>
              <a:ahLst/>
              <a:cxnLst/>
              <a:rect l="l" t="t" r="r" b="b"/>
              <a:pathLst>
                <a:path w="2286000" h="3333115">
                  <a:moveTo>
                    <a:pt x="2286000" y="0"/>
                  </a:moveTo>
                  <a:lnTo>
                    <a:pt x="0" y="0"/>
                  </a:lnTo>
                  <a:lnTo>
                    <a:pt x="0" y="3332924"/>
                  </a:lnTo>
                  <a:lnTo>
                    <a:pt x="2286000" y="3332924"/>
                  </a:lnTo>
                  <a:lnTo>
                    <a:pt x="22860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pic>
          <p:nvPicPr>
            <p:cNvPr id="1011" name="object 61">
              <a:extLst>
                <a:ext uri="{FF2B5EF4-FFF2-40B4-BE49-F238E27FC236}">
                  <a16:creationId xmlns:a16="http://schemas.microsoft.com/office/drawing/2014/main" id="{5F3AF72C-536D-DF2D-5485-82057D32AD0D}"/>
                </a:ext>
              </a:extLst>
            </p:cNvPr>
            <p:cNvPicPr/>
            <p:nvPr/>
          </p:nvPicPr>
          <p:blipFill>
            <a:blip r:embed="rId6" cstate="print"/>
            <a:stretch>
              <a:fillRect/>
            </a:stretch>
          </p:blipFill>
          <p:spPr>
            <a:xfrm>
              <a:off x="1716023" y="6035040"/>
              <a:ext cx="533400" cy="533400"/>
            </a:xfrm>
            <a:prstGeom prst="rect">
              <a:avLst/>
            </a:prstGeom>
          </p:spPr>
        </p:pic>
        <p:sp>
          <p:nvSpPr>
            <p:cNvPr id="1012" name="object 62">
              <a:extLst>
                <a:ext uri="{FF2B5EF4-FFF2-40B4-BE49-F238E27FC236}">
                  <a16:creationId xmlns:a16="http://schemas.microsoft.com/office/drawing/2014/main" id="{3AC71967-E4A4-6A41-ADCA-DCA16500D00D}"/>
                </a:ext>
              </a:extLst>
            </p:cNvPr>
            <p:cNvSpPr/>
            <p:nvPr/>
          </p:nvSpPr>
          <p:spPr>
            <a:xfrm>
              <a:off x="8041591" y="2510411"/>
              <a:ext cx="2286000" cy="3298825"/>
            </a:xfrm>
            <a:custGeom>
              <a:avLst/>
              <a:gdLst/>
              <a:ahLst/>
              <a:cxnLst/>
              <a:rect l="l" t="t" r="r" b="b"/>
              <a:pathLst>
                <a:path w="2286000" h="3298825">
                  <a:moveTo>
                    <a:pt x="2286000" y="0"/>
                  </a:moveTo>
                  <a:lnTo>
                    <a:pt x="0" y="0"/>
                  </a:lnTo>
                  <a:lnTo>
                    <a:pt x="0" y="3298682"/>
                  </a:lnTo>
                  <a:lnTo>
                    <a:pt x="2286000" y="3298682"/>
                  </a:lnTo>
                  <a:lnTo>
                    <a:pt x="22860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pic>
          <p:nvPicPr>
            <p:cNvPr id="1013" name="object 63">
              <a:extLst>
                <a:ext uri="{FF2B5EF4-FFF2-40B4-BE49-F238E27FC236}">
                  <a16:creationId xmlns:a16="http://schemas.microsoft.com/office/drawing/2014/main" id="{6BF6AF22-8DEE-2713-16CF-8942F4837DE5}"/>
                </a:ext>
              </a:extLst>
            </p:cNvPr>
            <p:cNvPicPr/>
            <p:nvPr/>
          </p:nvPicPr>
          <p:blipFill>
            <a:blip r:embed="rId7" cstate="print"/>
            <a:stretch>
              <a:fillRect/>
            </a:stretch>
          </p:blipFill>
          <p:spPr>
            <a:xfrm>
              <a:off x="8945879" y="2496311"/>
              <a:ext cx="539496" cy="542544"/>
            </a:xfrm>
            <a:prstGeom prst="rect">
              <a:avLst/>
            </a:prstGeom>
          </p:spPr>
        </p:pic>
        <p:sp>
          <p:nvSpPr>
            <p:cNvPr id="1014" name="object 64">
              <a:extLst>
                <a:ext uri="{FF2B5EF4-FFF2-40B4-BE49-F238E27FC236}">
                  <a16:creationId xmlns:a16="http://schemas.microsoft.com/office/drawing/2014/main" id="{79F769D9-79C9-7E26-52FA-449F4A50B913}"/>
                </a:ext>
              </a:extLst>
            </p:cNvPr>
            <p:cNvSpPr/>
            <p:nvPr/>
          </p:nvSpPr>
          <p:spPr>
            <a:xfrm>
              <a:off x="5650340" y="6031782"/>
              <a:ext cx="2286000" cy="3335020"/>
            </a:xfrm>
            <a:custGeom>
              <a:avLst/>
              <a:gdLst/>
              <a:ahLst/>
              <a:cxnLst/>
              <a:rect l="l" t="t" r="r" b="b"/>
              <a:pathLst>
                <a:path w="2286000" h="3335020">
                  <a:moveTo>
                    <a:pt x="2285999" y="0"/>
                  </a:moveTo>
                  <a:lnTo>
                    <a:pt x="0" y="0"/>
                  </a:lnTo>
                  <a:lnTo>
                    <a:pt x="0" y="3334937"/>
                  </a:lnTo>
                  <a:lnTo>
                    <a:pt x="2285999" y="3334937"/>
                  </a:lnTo>
                  <a:lnTo>
                    <a:pt x="2285999"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pic>
          <p:nvPicPr>
            <p:cNvPr id="1015" name="object 65">
              <a:extLst>
                <a:ext uri="{FF2B5EF4-FFF2-40B4-BE49-F238E27FC236}">
                  <a16:creationId xmlns:a16="http://schemas.microsoft.com/office/drawing/2014/main" id="{A80FE4D2-01F7-3FD2-A66B-AFF1A313E57C}"/>
                </a:ext>
              </a:extLst>
            </p:cNvPr>
            <p:cNvPicPr/>
            <p:nvPr/>
          </p:nvPicPr>
          <p:blipFill>
            <a:blip r:embed="rId8" cstate="print"/>
            <a:stretch>
              <a:fillRect/>
            </a:stretch>
          </p:blipFill>
          <p:spPr>
            <a:xfrm>
              <a:off x="6388607" y="5891783"/>
              <a:ext cx="841247" cy="844296"/>
            </a:xfrm>
            <a:prstGeom prst="rect">
              <a:avLst/>
            </a:prstGeom>
          </p:spPr>
        </p:pic>
        <p:sp>
          <p:nvSpPr>
            <p:cNvPr id="1016" name="object 66">
              <a:extLst>
                <a:ext uri="{FF2B5EF4-FFF2-40B4-BE49-F238E27FC236}">
                  <a16:creationId xmlns:a16="http://schemas.microsoft.com/office/drawing/2014/main" id="{B2CC451A-2235-E028-7029-4A02364DFB0A}"/>
                </a:ext>
              </a:extLst>
            </p:cNvPr>
            <p:cNvSpPr/>
            <p:nvPr/>
          </p:nvSpPr>
          <p:spPr>
            <a:xfrm>
              <a:off x="3273427" y="6031782"/>
              <a:ext cx="2286000" cy="3335020"/>
            </a:xfrm>
            <a:custGeom>
              <a:avLst/>
              <a:gdLst/>
              <a:ahLst/>
              <a:cxnLst/>
              <a:rect l="l" t="t" r="r" b="b"/>
              <a:pathLst>
                <a:path w="2286000" h="3335020">
                  <a:moveTo>
                    <a:pt x="2286000" y="0"/>
                  </a:moveTo>
                  <a:lnTo>
                    <a:pt x="0" y="0"/>
                  </a:lnTo>
                  <a:lnTo>
                    <a:pt x="0" y="3334937"/>
                  </a:lnTo>
                  <a:lnTo>
                    <a:pt x="2286000" y="3334937"/>
                  </a:lnTo>
                  <a:lnTo>
                    <a:pt x="2286000" y="0"/>
                  </a:lnTo>
                  <a:close/>
                </a:path>
              </a:pathLst>
            </a:custGeom>
            <a:solidFill>
              <a:srgbClr val="FFFFFF"/>
            </a:solidFill>
          </p:spPr>
          <p:txBody>
            <a:bodyPr wrap="square" lIns="0" tIns="0" rIns="0" bIns="0" rtlCol="0"/>
            <a:lstStyle/>
            <a:p>
              <a:pPr defTabSz="1219260">
                <a:defRPr/>
              </a:pPr>
              <a:endParaRPr sz="2400" kern="0">
                <a:solidFill>
                  <a:sysClr val="windowText" lastClr="000000"/>
                </a:solidFill>
                <a:latin typeface="Arial"/>
              </a:endParaRPr>
            </a:p>
          </p:txBody>
        </p:sp>
      </p:grpSp>
      <p:sp>
        <p:nvSpPr>
          <p:cNvPr id="1017" name="object 67">
            <a:extLst>
              <a:ext uri="{FF2B5EF4-FFF2-40B4-BE49-F238E27FC236}">
                <a16:creationId xmlns:a16="http://schemas.microsoft.com/office/drawing/2014/main" id="{FC021285-D52F-0DC4-BFFB-47E74F7918F9}"/>
              </a:ext>
            </a:extLst>
          </p:cNvPr>
          <p:cNvSpPr txBox="1"/>
          <p:nvPr/>
        </p:nvSpPr>
        <p:spPr>
          <a:xfrm>
            <a:off x="1782882" y="9172532"/>
            <a:ext cx="4724400" cy="754053"/>
          </a:xfrm>
          <a:prstGeom prst="rect">
            <a:avLst/>
          </a:prstGeom>
        </p:spPr>
        <p:txBody>
          <a:bodyPr vert="horz" wrap="square" lIns="0" tIns="35560" rIns="0" bIns="0" rtlCol="0">
            <a:spAutoFit/>
          </a:bodyPr>
          <a:lstStyle/>
          <a:p>
            <a:pPr marR="6774" indent="220144" defTabSz="1219260">
              <a:lnSpc>
                <a:spcPts val="2814"/>
              </a:lnSpc>
              <a:spcBef>
                <a:spcPts val="280"/>
              </a:spcBef>
              <a:tabLst>
                <a:tab pos="3504528" algn="l"/>
              </a:tabLst>
              <a:defRPr/>
            </a:pPr>
            <a:r>
              <a:rPr lang="en-US" sz="2400" b="1" kern="0" spc="-14">
                <a:solidFill>
                  <a:sysClr val="windowText" lastClr="000000"/>
                </a:solidFill>
                <a:latin typeface="Arial"/>
                <a:cs typeface="Arial"/>
              </a:rPr>
              <a:t>Customer</a:t>
            </a:r>
            <a:r>
              <a:rPr lang="en-US" sz="2400" b="1" kern="0">
                <a:solidFill>
                  <a:sysClr val="windowText" lastClr="000000"/>
                </a:solidFill>
                <a:latin typeface="Arial"/>
                <a:cs typeface="Arial"/>
              </a:rPr>
              <a:t>	</a:t>
            </a:r>
            <a:r>
              <a:rPr lang="en-US" sz="2400" b="1" kern="0" spc="-14">
                <a:solidFill>
                  <a:sysClr val="windowText" lastClr="000000"/>
                </a:solidFill>
                <a:latin typeface="Arial"/>
                <a:cs typeface="Arial"/>
              </a:rPr>
              <a:t>Training </a:t>
            </a:r>
            <a:r>
              <a:rPr lang="en-US" sz="2400" b="1" kern="0" spc="-26">
                <a:solidFill>
                  <a:sysClr val="windowText" lastClr="000000"/>
                </a:solidFill>
                <a:latin typeface="Arial"/>
                <a:cs typeface="Arial"/>
              </a:rPr>
              <a:t>On-</a:t>
            </a:r>
            <a:r>
              <a:rPr lang="en-US" sz="2400" b="1" kern="0" spc="-14">
                <a:solidFill>
                  <a:sysClr val="windowText" lastClr="000000"/>
                </a:solidFill>
                <a:latin typeface="Arial"/>
                <a:cs typeface="Arial"/>
              </a:rPr>
              <a:t>Boarding</a:t>
            </a:r>
            <a:endParaRPr lang="en-US" sz="2400" kern="0">
              <a:solidFill>
                <a:sysClr val="windowText" lastClr="000000"/>
              </a:solidFill>
              <a:latin typeface="Arial"/>
              <a:cs typeface="Arial"/>
            </a:endParaRPr>
          </a:p>
        </p:txBody>
      </p:sp>
      <p:grpSp>
        <p:nvGrpSpPr>
          <p:cNvPr id="1018" name="object 68">
            <a:extLst>
              <a:ext uri="{FF2B5EF4-FFF2-40B4-BE49-F238E27FC236}">
                <a16:creationId xmlns:a16="http://schemas.microsoft.com/office/drawing/2014/main" id="{0BFF2F91-8269-E845-61E2-FCBBF922146E}"/>
              </a:ext>
            </a:extLst>
          </p:cNvPr>
          <p:cNvGrpSpPr/>
          <p:nvPr/>
        </p:nvGrpSpPr>
        <p:grpSpPr>
          <a:xfrm>
            <a:off x="5356352" y="5318999"/>
            <a:ext cx="5109276" cy="4159010"/>
            <a:chOff x="4017264" y="3632062"/>
            <a:chExt cx="3831957" cy="3119258"/>
          </a:xfrm>
        </p:grpSpPr>
        <p:pic>
          <p:nvPicPr>
            <p:cNvPr id="1019" name="object 69">
              <a:extLst>
                <a:ext uri="{FF2B5EF4-FFF2-40B4-BE49-F238E27FC236}">
                  <a16:creationId xmlns:a16="http://schemas.microsoft.com/office/drawing/2014/main" id="{BA59E392-5935-4394-C8B2-A7CE041CE56F}"/>
                </a:ext>
              </a:extLst>
            </p:cNvPr>
            <p:cNvPicPr/>
            <p:nvPr/>
          </p:nvPicPr>
          <p:blipFill>
            <a:blip r:embed="rId9" cstate="print"/>
            <a:stretch>
              <a:fillRect/>
            </a:stretch>
          </p:blipFill>
          <p:spPr>
            <a:xfrm>
              <a:off x="4017264" y="5952744"/>
              <a:ext cx="798576" cy="798576"/>
            </a:xfrm>
            <a:prstGeom prst="rect">
              <a:avLst/>
            </a:prstGeom>
          </p:spPr>
        </p:pic>
        <p:sp>
          <p:nvSpPr>
            <p:cNvPr id="1020" name="object 70">
              <a:extLst>
                <a:ext uri="{FF2B5EF4-FFF2-40B4-BE49-F238E27FC236}">
                  <a16:creationId xmlns:a16="http://schemas.microsoft.com/office/drawing/2014/main" id="{CB1EA4E5-3ADA-DC8B-E589-5A700AA37E92}"/>
                </a:ext>
              </a:extLst>
            </p:cNvPr>
            <p:cNvSpPr/>
            <p:nvPr/>
          </p:nvSpPr>
          <p:spPr>
            <a:xfrm>
              <a:off x="5700381" y="3632062"/>
              <a:ext cx="2148840" cy="640080"/>
            </a:xfrm>
            <a:custGeom>
              <a:avLst/>
              <a:gdLst/>
              <a:ahLst/>
              <a:cxnLst/>
              <a:rect l="l" t="t" r="r" b="b"/>
              <a:pathLst>
                <a:path w="2148840" h="640079">
                  <a:moveTo>
                    <a:pt x="2042156" y="0"/>
                  </a:moveTo>
                  <a:lnTo>
                    <a:pt x="106682" y="0"/>
                  </a:lnTo>
                  <a:lnTo>
                    <a:pt x="65156" y="8383"/>
                  </a:lnTo>
                  <a:lnTo>
                    <a:pt x="31246" y="31246"/>
                  </a:lnTo>
                  <a:lnTo>
                    <a:pt x="8383" y="65156"/>
                  </a:lnTo>
                  <a:lnTo>
                    <a:pt x="0" y="106682"/>
                  </a:lnTo>
                  <a:lnTo>
                    <a:pt x="0" y="533397"/>
                  </a:lnTo>
                  <a:lnTo>
                    <a:pt x="8383" y="574923"/>
                  </a:lnTo>
                  <a:lnTo>
                    <a:pt x="31246" y="608833"/>
                  </a:lnTo>
                  <a:lnTo>
                    <a:pt x="65156" y="631696"/>
                  </a:lnTo>
                  <a:lnTo>
                    <a:pt x="106682" y="640080"/>
                  </a:lnTo>
                  <a:lnTo>
                    <a:pt x="2042156" y="640080"/>
                  </a:lnTo>
                  <a:lnTo>
                    <a:pt x="2083682" y="631696"/>
                  </a:lnTo>
                  <a:lnTo>
                    <a:pt x="2117593" y="608833"/>
                  </a:lnTo>
                  <a:lnTo>
                    <a:pt x="2140456" y="574923"/>
                  </a:lnTo>
                  <a:lnTo>
                    <a:pt x="2148840" y="533397"/>
                  </a:lnTo>
                  <a:lnTo>
                    <a:pt x="2148840" y="106682"/>
                  </a:lnTo>
                  <a:lnTo>
                    <a:pt x="2140456" y="65156"/>
                  </a:lnTo>
                  <a:lnTo>
                    <a:pt x="2117593" y="31246"/>
                  </a:lnTo>
                  <a:lnTo>
                    <a:pt x="2083682" y="8383"/>
                  </a:lnTo>
                  <a:lnTo>
                    <a:pt x="2042156" y="0"/>
                  </a:lnTo>
                  <a:close/>
                </a:path>
              </a:pathLst>
            </a:custGeom>
            <a:solidFill>
              <a:srgbClr val="304CB2"/>
            </a:solidFill>
          </p:spPr>
          <p:txBody>
            <a:bodyPr wrap="square" lIns="0" tIns="0" rIns="0" bIns="0" rtlCol="0"/>
            <a:lstStyle/>
            <a:p>
              <a:pPr defTabSz="1219260">
                <a:defRPr/>
              </a:pPr>
              <a:endParaRPr sz="2400" kern="0">
                <a:solidFill>
                  <a:sysClr val="windowText" lastClr="000000"/>
                </a:solidFill>
                <a:latin typeface="Arial"/>
              </a:endParaRPr>
            </a:p>
          </p:txBody>
        </p:sp>
      </p:grpSp>
      <p:sp>
        <p:nvSpPr>
          <p:cNvPr id="1021" name="object 71">
            <a:extLst>
              <a:ext uri="{FF2B5EF4-FFF2-40B4-BE49-F238E27FC236}">
                <a16:creationId xmlns:a16="http://schemas.microsoft.com/office/drawing/2014/main" id="{036B8C26-3018-06D0-85C3-94716D136295}"/>
              </a:ext>
            </a:extLst>
          </p:cNvPr>
          <p:cNvSpPr txBox="1"/>
          <p:nvPr/>
        </p:nvSpPr>
        <p:spPr>
          <a:xfrm>
            <a:off x="8121130" y="4478612"/>
            <a:ext cx="1879600" cy="1551707"/>
          </a:xfrm>
          <a:prstGeom prst="rect">
            <a:avLst/>
          </a:prstGeom>
        </p:spPr>
        <p:txBody>
          <a:bodyPr vert="horz" wrap="square" lIns="0" tIns="38100" rIns="0" bIns="0" rtlCol="0">
            <a:spAutoFit/>
          </a:bodyPr>
          <a:lstStyle/>
          <a:p>
            <a:pPr marR="6774" algn="ctr" defTabSz="1219260">
              <a:lnSpc>
                <a:spcPts val="2786"/>
              </a:lnSpc>
              <a:spcBef>
                <a:spcPts val="300"/>
              </a:spcBef>
              <a:defRPr/>
            </a:pPr>
            <a:r>
              <a:rPr lang="en-US" sz="2400" b="1" kern="0" spc="-14">
                <a:solidFill>
                  <a:sysClr val="windowText" lastClr="000000"/>
                </a:solidFill>
                <a:latin typeface="Arial"/>
                <a:cs typeface="Arial"/>
              </a:rPr>
              <a:t>Delivery Management</a:t>
            </a:r>
            <a:endParaRPr lang="en-US" sz="2400" kern="0">
              <a:solidFill>
                <a:sysClr val="windowText" lastClr="000000"/>
              </a:solidFill>
              <a:latin typeface="Arial"/>
              <a:cs typeface="Arial"/>
            </a:endParaRPr>
          </a:p>
          <a:p>
            <a:pPr marL="25402" marR="70276" algn="ctr" defTabSz="1219260">
              <a:lnSpc>
                <a:spcPts val="2146"/>
              </a:lnSpc>
              <a:spcBef>
                <a:spcPts val="2014"/>
              </a:spcBef>
              <a:defRPr/>
            </a:pPr>
            <a:r>
              <a:rPr lang="en-US" sz="1866" b="1" kern="0">
                <a:solidFill>
                  <a:srgbClr val="FFFFFF"/>
                </a:solidFill>
                <a:latin typeface="Arial"/>
                <a:cs typeface="Arial"/>
              </a:rPr>
              <a:t>Agile</a:t>
            </a:r>
            <a:r>
              <a:rPr lang="en-US" sz="1866" b="1" kern="0" spc="-34">
                <a:solidFill>
                  <a:srgbClr val="FFFFFF"/>
                </a:solidFill>
                <a:latin typeface="Arial"/>
                <a:cs typeface="Arial"/>
              </a:rPr>
              <a:t> </a:t>
            </a:r>
            <a:r>
              <a:rPr lang="en-US" sz="1866" b="1" kern="0" spc="-14">
                <a:solidFill>
                  <a:srgbClr val="FFFFFF"/>
                </a:solidFill>
                <a:latin typeface="Arial"/>
                <a:cs typeface="Arial"/>
              </a:rPr>
              <a:t>Execution Support</a:t>
            </a:r>
            <a:endParaRPr lang="en-US" sz="1866" kern="0">
              <a:solidFill>
                <a:sysClr val="windowText" lastClr="000000"/>
              </a:solidFill>
              <a:latin typeface="Arial"/>
              <a:cs typeface="Arial"/>
            </a:endParaRPr>
          </a:p>
        </p:txBody>
      </p:sp>
      <p:sp>
        <p:nvSpPr>
          <p:cNvPr id="1022" name="object 72">
            <a:extLst>
              <a:ext uri="{FF2B5EF4-FFF2-40B4-BE49-F238E27FC236}">
                <a16:creationId xmlns:a16="http://schemas.microsoft.com/office/drawing/2014/main" id="{504CF352-0058-9A16-88EB-4C51D05AD38E}"/>
              </a:ext>
            </a:extLst>
          </p:cNvPr>
          <p:cNvSpPr/>
          <p:nvPr/>
        </p:nvSpPr>
        <p:spPr>
          <a:xfrm>
            <a:off x="7583556" y="6231796"/>
            <a:ext cx="2865120" cy="853440"/>
          </a:xfrm>
          <a:custGeom>
            <a:avLst/>
            <a:gdLst/>
            <a:ahLst/>
            <a:cxnLst/>
            <a:rect l="l" t="t" r="r" b="b"/>
            <a:pathLst>
              <a:path w="2148840" h="640079">
                <a:moveTo>
                  <a:pt x="2042156" y="0"/>
                </a:moveTo>
                <a:lnTo>
                  <a:pt x="106682" y="0"/>
                </a:lnTo>
                <a:lnTo>
                  <a:pt x="65156" y="8383"/>
                </a:lnTo>
                <a:lnTo>
                  <a:pt x="31246" y="31246"/>
                </a:lnTo>
                <a:lnTo>
                  <a:pt x="8383" y="65156"/>
                </a:lnTo>
                <a:lnTo>
                  <a:pt x="0" y="106682"/>
                </a:lnTo>
                <a:lnTo>
                  <a:pt x="0" y="533396"/>
                </a:lnTo>
                <a:lnTo>
                  <a:pt x="8383" y="574922"/>
                </a:lnTo>
                <a:lnTo>
                  <a:pt x="31246" y="608833"/>
                </a:lnTo>
                <a:lnTo>
                  <a:pt x="65156" y="631696"/>
                </a:lnTo>
                <a:lnTo>
                  <a:pt x="106682" y="640080"/>
                </a:lnTo>
                <a:lnTo>
                  <a:pt x="2042156" y="640080"/>
                </a:lnTo>
                <a:lnTo>
                  <a:pt x="2083682" y="631696"/>
                </a:lnTo>
                <a:lnTo>
                  <a:pt x="2117593" y="608833"/>
                </a:lnTo>
                <a:lnTo>
                  <a:pt x="2140456" y="574922"/>
                </a:lnTo>
                <a:lnTo>
                  <a:pt x="2148840" y="533396"/>
                </a:lnTo>
                <a:lnTo>
                  <a:pt x="2148840" y="106682"/>
                </a:lnTo>
                <a:lnTo>
                  <a:pt x="2140456" y="65156"/>
                </a:lnTo>
                <a:lnTo>
                  <a:pt x="2117593" y="31246"/>
                </a:lnTo>
                <a:lnTo>
                  <a:pt x="2083682" y="8383"/>
                </a:lnTo>
                <a:lnTo>
                  <a:pt x="2042156"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23" name="object 73">
            <a:extLst>
              <a:ext uri="{FF2B5EF4-FFF2-40B4-BE49-F238E27FC236}">
                <a16:creationId xmlns:a16="http://schemas.microsoft.com/office/drawing/2014/main" id="{45AB4DAD-39EE-7697-66D7-52BEBEDDCD2D}"/>
              </a:ext>
            </a:extLst>
          </p:cNvPr>
          <p:cNvSpPr txBox="1"/>
          <p:nvPr/>
        </p:nvSpPr>
        <p:spPr>
          <a:xfrm>
            <a:off x="8064675" y="6501131"/>
            <a:ext cx="1921086" cy="304229"/>
          </a:xfrm>
          <a:prstGeom prst="rect">
            <a:avLst/>
          </a:prstGeom>
        </p:spPr>
        <p:txBody>
          <a:bodyPr vert="horz" wrap="square" lIns="0" tIns="16934" rIns="0" bIns="0" rtlCol="0">
            <a:spAutoFit/>
          </a:bodyPr>
          <a:lstStyle/>
          <a:p>
            <a:pPr defTabSz="1219260">
              <a:spcBef>
                <a:spcPts val="134"/>
              </a:spcBef>
              <a:defRPr/>
            </a:pPr>
            <a:r>
              <a:rPr lang="en-US" sz="1866" b="1" kern="0">
                <a:solidFill>
                  <a:srgbClr val="FFFFFF"/>
                </a:solidFill>
                <a:latin typeface="Arial"/>
                <a:cs typeface="Arial"/>
              </a:rPr>
              <a:t>Status</a:t>
            </a:r>
            <a:r>
              <a:rPr lang="en-US" sz="1866" b="1" kern="0" spc="-46">
                <a:solidFill>
                  <a:srgbClr val="FFFFFF"/>
                </a:solidFill>
                <a:latin typeface="Arial"/>
                <a:cs typeface="Arial"/>
              </a:rPr>
              <a:t> </a:t>
            </a:r>
            <a:r>
              <a:rPr lang="en-US" sz="1866" b="1" kern="0" spc="-14">
                <a:solidFill>
                  <a:srgbClr val="FFFFFF"/>
                </a:solidFill>
                <a:latin typeface="Arial"/>
                <a:cs typeface="Arial"/>
              </a:rPr>
              <a:t>Reporting</a:t>
            </a:r>
            <a:endParaRPr lang="en-US" sz="1866" kern="0">
              <a:solidFill>
                <a:sysClr val="windowText" lastClr="000000"/>
              </a:solidFill>
              <a:latin typeface="Arial"/>
              <a:cs typeface="Arial"/>
            </a:endParaRPr>
          </a:p>
        </p:txBody>
      </p:sp>
      <p:sp>
        <p:nvSpPr>
          <p:cNvPr id="1024" name="object 74">
            <a:extLst>
              <a:ext uri="{FF2B5EF4-FFF2-40B4-BE49-F238E27FC236}">
                <a16:creationId xmlns:a16="http://schemas.microsoft.com/office/drawing/2014/main" id="{DBBCEA2C-30D7-502F-9534-B1DD3516E77E}"/>
              </a:ext>
            </a:extLst>
          </p:cNvPr>
          <p:cNvSpPr/>
          <p:nvPr/>
        </p:nvSpPr>
        <p:spPr>
          <a:xfrm>
            <a:off x="10810358" y="5319000"/>
            <a:ext cx="2865120" cy="853440"/>
          </a:xfrm>
          <a:custGeom>
            <a:avLst/>
            <a:gdLst/>
            <a:ahLst/>
            <a:cxnLst/>
            <a:rect l="l" t="t" r="r" b="b"/>
            <a:pathLst>
              <a:path w="2148840" h="640079">
                <a:moveTo>
                  <a:pt x="2042157" y="0"/>
                </a:moveTo>
                <a:lnTo>
                  <a:pt x="106682" y="0"/>
                </a:lnTo>
                <a:lnTo>
                  <a:pt x="65156" y="8383"/>
                </a:lnTo>
                <a:lnTo>
                  <a:pt x="31246" y="31246"/>
                </a:lnTo>
                <a:lnTo>
                  <a:pt x="8383" y="65156"/>
                </a:lnTo>
                <a:lnTo>
                  <a:pt x="0" y="106682"/>
                </a:lnTo>
                <a:lnTo>
                  <a:pt x="0" y="533397"/>
                </a:lnTo>
                <a:lnTo>
                  <a:pt x="8383" y="574923"/>
                </a:lnTo>
                <a:lnTo>
                  <a:pt x="31246" y="608833"/>
                </a:lnTo>
                <a:lnTo>
                  <a:pt x="65156" y="631696"/>
                </a:lnTo>
                <a:lnTo>
                  <a:pt x="106682" y="640080"/>
                </a:lnTo>
                <a:lnTo>
                  <a:pt x="2042157" y="640080"/>
                </a:lnTo>
                <a:lnTo>
                  <a:pt x="2083683" y="631696"/>
                </a:lnTo>
                <a:lnTo>
                  <a:pt x="2117593" y="608833"/>
                </a:lnTo>
                <a:lnTo>
                  <a:pt x="2140456" y="574923"/>
                </a:lnTo>
                <a:lnTo>
                  <a:pt x="2148839" y="533397"/>
                </a:lnTo>
                <a:lnTo>
                  <a:pt x="2148839" y="106682"/>
                </a:lnTo>
                <a:lnTo>
                  <a:pt x="2140456" y="65156"/>
                </a:lnTo>
                <a:lnTo>
                  <a:pt x="2117593" y="31246"/>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25" name="object 75">
            <a:extLst>
              <a:ext uri="{FF2B5EF4-FFF2-40B4-BE49-F238E27FC236}">
                <a16:creationId xmlns:a16="http://schemas.microsoft.com/office/drawing/2014/main" id="{4858864C-2278-F103-76CE-0CF5932F2989}"/>
              </a:ext>
            </a:extLst>
          </p:cNvPr>
          <p:cNvSpPr txBox="1"/>
          <p:nvPr/>
        </p:nvSpPr>
        <p:spPr>
          <a:xfrm>
            <a:off x="11314790" y="4478613"/>
            <a:ext cx="1879600" cy="1551707"/>
          </a:xfrm>
          <a:prstGeom prst="rect">
            <a:avLst/>
          </a:prstGeom>
        </p:spPr>
        <p:txBody>
          <a:bodyPr vert="horz" wrap="square" lIns="0" tIns="38100" rIns="0" bIns="0" rtlCol="0">
            <a:spAutoFit/>
          </a:bodyPr>
          <a:lstStyle/>
          <a:p>
            <a:pPr marR="6774" indent="-846" algn="ctr" defTabSz="1219260">
              <a:lnSpc>
                <a:spcPts val="2786"/>
              </a:lnSpc>
              <a:spcBef>
                <a:spcPts val="300"/>
              </a:spcBef>
              <a:defRPr/>
            </a:pPr>
            <a:r>
              <a:rPr lang="en-US" sz="2400" b="1" kern="0" spc="-14">
                <a:solidFill>
                  <a:sysClr val="windowText" lastClr="000000"/>
                </a:solidFill>
                <a:latin typeface="Arial"/>
                <a:cs typeface="Arial"/>
              </a:rPr>
              <a:t>Financial Management</a:t>
            </a:r>
            <a:endParaRPr lang="en-US" sz="2400" kern="0">
              <a:solidFill>
                <a:sysClr val="windowText" lastClr="000000"/>
              </a:solidFill>
              <a:latin typeface="Arial"/>
              <a:cs typeface="Arial"/>
            </a:endParaRPr>
          </a:p>
          <a:p>
            <a:pPr marL="212524" marR="224378" indent="-846" algn="ctr" defTabSz="1219260">
              <a:lnSpc>
                <a:spcPts val="2146"/>
              </a:lnSpc>
              <a:spcBef>
                <a:spcPts val="2014"/>
              </a:spcBef>
              <a:defRPr/>
            </a:pPr>
            <a:r>
              <a:rPr lang="en-US" sz="1866" b="1" kern="0" spc="-26">
                <a:solidFill>
                  <a:srgbClr val="FFFFFF"/>
                </a:solidFill>
                <a:latin typeface="Arial"/>
                <a:cs typeface="Arial"/>
              </a:rPr>
              <a:t>Cost </a:t>
            </a:r>
            <a:r>
              <a:rPr lang="en-US" sz="1866" b="1" kern="0" spc="-14">
                <a:solidFill>
                  <a:srgbClr val="FFFFFF"/>
                </a:solidFill>
                <a:latin typeface="Arial"/>
                <a:cs typeface="Arial"/>
              </a:rPr>
              <a:t>Optimization</a:t>
            </a:r>
            <a:endParaRPr lang="en-US" sz="1866" kern="0">
              <a:solidFill>
                <a:sysClr val="windowText" lastClr="000000"/>
              </a:solidFill>
              <a:latin typeface="Arial"/>
              <a:cs typeface="Arial"/>
            </a:endParaRPr>
          </a:p>
        </p:txBody>
      </p:sp>
      <p:sp>
        <p:nvSpPr>
          <p:cNvPr id="1026" name="object 76">
            <a:extLst>
              <a:ext uri="{FF2B5EF4-FFF2-40B4-BE49-F238E27FC236}">
                <a16:creationId xmlns:a16="http://schemas.microsoft.com/office/drawing/2014/main" id="{B65E41E7-7BFF-14A5-BF02-70D2704D5117}"/>
              </a:ext>
            </a:extLst>
          </p:cNvPr>
          <p:cNvSpPr/>
          <p:nvPr/>
        </p:nvSpPr>
        <p:spPr>
          <a:xfrm>
            <a:off x="10810358" y="6231796"/>
            <a:ext cx="2865120" cy="853440"/>
          </a:xfrm>
          <a:custGeom>
            <a:avLst/>
            <a:gdLst/>
            <a:ahLst/>
            <a:cxnLst/>
            <a:rect l="l" t="t" r="r" b="b"/>
            <a:pathLst>
              <a:path w="2148840" h="640079">
                <a:moveTo>
                  <a:pt x="2042157" y="0"/>
                </a:moveTo>
                <a:lnTo>
                  <a:pt x="106682" y="0"/>
                </a:lnTo>
                <a:lnTo>
                  <a:pt x="65156" y="8383"/>
                </a:lnTo>
                <a:lnTo>
                  <a:pt x="31246" y="31246"/>
                </a:lnTo>
                <a:lnTo>
                  <a:pt x="8383" y="65156"/>
                </a:lnTo>
                <a:lnTo>
                  <a:pt x="0" y="106682"/>
                </a:lnTo>
                <a:lnTo>
                  <a:pt x="0" y="533396"/>
                </a:lnTo>
                <a:lnTo>
                  <a:pt x="8383" y="574922"/>
                </a:lnTo>
                <a:lnTo>
                  <a:pt x="31246" y="608833"/>
                </a:lnTo>
                <a:lnTo>
                  <a:pt x="65156" y="631696"/>
                </a:lnTo>
                <a:lnTo>
                  <a:pt x="106682" y="640080"/>
                </a:lnTo>
                <a:lnTo>
                  <a:pt x="2042157" y="640080"/>
                </a:lnTo>
                <a:lnTo>
                  <a:pt x="2083683" y="631696"/>
                </a:lnTo>
                <a:lnTo>
                  <a:pt x="2117593" y="608833"/>
                </a:lnTo>
                <a:lnTo>
                  <a:pt x="2140456" y="574922"/>
                </a:lnTo>
                <a:lnTo>
                  <a:pt x="2148839" y="533396"/>
                </a:lnTo>
                <a:lnTo>
                  <a:pt x="2148839" y="106682"/>
                </a:lnTo>
                <a:lnTo>
                  <a:pt x="2140456" y="65156"/>
                </a:lnTo>
                <a:lnTo>
                  <a:pt x="2117593" y="31246"/>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27" name="object 77">
            <a:extLst>
              <a:ext uri="{FF2B5EF4-FFF2-40B4-BE49-F238E27FC236}">
                <a16:creationId xmlns:a16="http://schemas.microsoft.com/office/drawing/2014/main" id="{33D2A1CB-4C1D-3159-793A-41DDDAF3A40F}"/>
              </a:ext>
            </a:extLst>
          </p:cNvPr>
          <p:cNvSpPr txBox="1"/>
          <p:nvPr/>
        </p:nvSpPr>
        <p:spPr>
          <a:xfrm>
            <a:off x="11566645" y="6358890"/>
            <a:ext cx="1369906" cy="578792"/>
          </a:xfrm>
          <a:prstGeom prst="rect">
            <a:avLst/>
          </a:prstGeom>
        </p:spPr>
        <p:txBody>
          <a:bodyPr vert="horz" wrap="square" lIns="0" tIns="39794" rIns="0" bIns="0" rtlCol="0">
            <a:spAutoFit/>
          </a:bodyPr>
          <a:lstStyle/>
          <a:p>
            <a:pPr marL="6774" marR="6774" indent="-7620" defTabSz="1219260">
              <a:lnSpc>
                <a:spcPts val="2106"/>
              </a:lnSpc>
              <a:spcBef>
                <a:spcPts val="314"/>
              </a:spcBef>
              <a:defRPr/>
            </a:pPr>
            <a:r>
              <a:rPr lang="en-US" sz="1866" b="1" kern="0">
                <a:solidFill>
                  <a:srgbClr val="FFFFFF"/>
                </a:solidFill>
                <a:latin typeface="Arial"/>
                <a:cs typeface="Arial"/>
              </a:rPr>
              <a:t>Reporting</a:t>
            </a:r>
            <a:r>
              <a:rPr lang="en-US" sz="1866" b="1" kern="0" spc="-80">
                <a:solidFill>
                  <a:srgbClr val="FFFFFF"/>
                </a:solidFill>
                <a:latin typeface="Arial"/>
                <a:cs typeface="Arial"/>
              </a:rPr>
              <a:t> </a:t>
            </a:r>
            <a:r>
              <a:rPr lang="en-US" sz="1866" b="1" kern="0" spc="-66">
                <a:solidFill>
                  <a:srgbClr val="FFFFFF"/>
                </a:solidFill>
                <a:latin typeface="Arial"/>
                <a:cs typeface="Arial"/>
              </a:rPr>
              <a:t>&amp; </a:t>
            </a:r>
            <a:r>
              <a:rPr lang="en-US" sz="1866" b="1" kern="0" spc="-14">
                <a:solidFill>
                  <a:srgbClr val="FFFFFF"/>
                </a:solidFill>
                <a:latin typeface="Arial"/>
                <a:cs typeface="Arial"/>
              </a:rPr>
              <a:t>Forecasting</a:t>
            </a:r>
            <a:endParaRPr lang="en-US" sz="1866" kern="0">
              <a:solidFill>
                <a:sysClr val="windowText" lastClr="000000"/>
              </a:solidFill>
              <a:latin typeface="Arial"/>
              <a:cs typeface="Arial"/>
            </a:endParaRPr>
          </a:p>
        </p:txBody>
      </p:sp>
      <p:sp>
        <p:nvSpPr>
          <p:cNvPr id="1028" name="object 78">
            <a:extLst>
              <a:ext uri="{FF2B5EF4-FFF2-40B4-BE49-F238E27FC236}">
                <a16:creationId xmlns:a16="http://schemas.microsoft.com/office/drawing/2014/main" id="{77F87B6E-9D52-19EE-248E-F50E91B972DD}"/>
              </a:ext>
            </a:extLst>
          </p:cNvPr>
          <p:cNvSpPr/>
          <p:nvPr/>
        </p:nvSpPr>
        <p:spPr>
          <a:xfrm>
            <a:off x="10810358" y="7154252"/>
            <a:ext cx="2865120" cy="853440"/>
          </a:xfrm>
          <a:custGeom>
            <a:avLst/>
            <a:gdLst/>
            <a:ahLst/>
            <a:cxnLst/>
            <a:rect l="l" t="t" r="r" b="b"/>
            <a:pathLst>
              <a:path w="2148840" h="640079">
                <a:moveTo>
                  <a:pt x="2042157" y="0"/>
                </a:moveTo>
                <a:lnTo>
                  <a:pt x="106682" y="0"/>
                </a:lnTo>
                <a:lnTo>
                  <a:pt x="65156" y="8383"/>
                </a:lnTo>
                <a:lnTo>
                  <a:pt x="31246" y="31247"/>
                </a:lnTo>
                <a:lnTo>
                  <a:pt x="8383" y="65157"/>
                </a:lnTo>
                <a:lnTo>
                  <a:pt x="0" y="106683"/>
                </a:lnTo>
                <a:lnTo>
                  <a:pt x="0" y="533397"/>
                </a:lnTo>
                <a:lnTo>
                  <a:pt x="8383" y="574923"/>
                </a:lnTo>
                <a:lnTo>
                  <a:pt x="31246" y="608833"/>
                </a:lnTo>
                <a:lnTo>
                  <a:pt x="65156" y="631696"/>
                </a:lnTo>
                <a:lnTo>
                  <a:pt x="106682" y="640079"/>
                </a:lnTo>
                <a:lnTo>
                  <a:pt x="2042157" y="640079"/>
                </a:lnTo>
                <a:lnTo>
                  <a:pt x="2083683" y="631696"/>
                </a:lnTo>
                <a:lnTo>
                  <a:pt x="2117593" y="608833"/>
                </a:lnTo>
                <a:lnTo>
                  <a:pt x="2140456" y="574923"/>
                </a:lnTo>
                <a:lnTo>
                  <a:pt x="2148839" y="533397"/>
                </a:lnTo>
                <a:lnTo>
                  <a:pt x="2148839" y="106683"/>
                </a:lnTo>
                <a:lnTo>
                  <a:pt x="2140456" y="65157"/>
                </a:lnTo>
                <a:lnTo>
                  <a:pt x="2117593" y="31247"/>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29" name="object 79">
            <a:extLst>
              <a:ext uri="{FF2B5EF4-FFF2-40B4-BE49-F238E27FC236}">
                <a16:creationId xmlns:a16="http://schemas.microsoft.com/office/drawing/2014/main" id="{80A43B94-5D34-6272-F9E1-3306900D8B55}"/>
              </a:ext>
            </a:extLst>
          </p:cNvPr>
          <p:cNvSpPr txBox="1"/>
          <p:nvPr/>
        </p:nvSpPr>
        <p:spPr>
          <a:xfrm>
            <a:off x="11521137" y="7281418"/>
            <a:ext cx="1462194" cy="578792"/>
          </a:xfrm>
          <a:prstGeom prst="rect">
            <a:avLst/>
          </a:prstGeom>
        </p:spPr>
        <p:txBody>
          <a:bodyPr vert="horz" wrap="square" lIns="0" tIns="39794" rIns="0" bIns="0" rtlCol="0">
            <a:spAutoFit/>
          </a:bodyPr>
          <a:lstStyle/>
          <a:p>
            <a:pPr marR="6774" indent="314976" defTabSz="1219260">
              <a:lnSpc>
                <a:spcPts val="2106"/>
              </a:lnSpc>
              <a:spcBef>
                <a:spcPts val="314"/>
              </a:spcBef>
              <a:defRPr/>
            </a:pPr>
            <a:r>
              <a:rPr lang="en-US" sz="1866" b="1" kern="0" spc="-14">
                <a:solidFill>
                  <a:srgbClr val="FFFFFF"/>
                </a:solidFill>
                <a:latin typeface="Arial"/>
                <a:cs typeface="Arial"/>
              </a:rPr>
              <a:t>Invoice Management</a:t>
            </a:r>
            <a:endParaRPr lang="en-US" sz="1866" kern="0">
              <a:solidFill>
                <a:sysClr val="windowText" lastClr="000000"/>
              </a:solidFill>
              <a:latin typeface="Arial"/>
              <a:cs typeface="Arial"/>
            </a:endParaRPr>
          </a:p>
        </p:txBody>
      </p:sp>
      <p:sp>
        <p:nvSpPr>
          <p:cNvPr id="1030" name="object 80">
            <a:extLst>
              <a:ext uri="{FF2B5EF4-FFF2-40B4-BE49-F238E27FC236}">
                <a16:creationId xmlns:a16="http://schemas.microsoft.com/office/drawing/2014/main" id="{70925F4D-C120-F192-08F8-5001F88C86DD}"/>
              </a:ext>
            </a:extLst>
          </p:cNvPr>
          <p:cNvSpPr/>
          <p:nvPr/>
        </p:nvSpPr>
        <p:spPr>
          <a:xfrm>
            <a:off x="1302138" y="10052680"/>
            <a:ext cx="2865120" cy="853440"/>
          </a:xfrm>
          <a:custGeom>
            <a:avLst/>
            <a:gdLst/>
            <a:ahLst/>
            <a:cxnLst/>
            <a:rect l="l" t="t" r="r" b="b"/>
            <a:pathLst>
              <a:path w="2148840" h="640079">
                <a:moveTo>
                  <a:pt x="2042156" y="0"/>
                </a:moveTo>
                <a:lnTo>
                  <a:pt x="106682" y="0"/>
                </a:lnTo>
                <a:lnTo>
                  <a:pt x="65157" y="8383"/>
                </a:lnTo>
                <a:lnTo>
                  <a:pt x="31246" y="31246"/>
                </a:lnTo>
                <a:lnTo>
                  <a:pt x="8383" y="65156"/>
                </a:lnTo>
                <a:lnTo>
                  <a:pt x="0" y="106682"/>
                </a:lnTo>
                <a:lnTo>
                  <a:pt x="0" y="533396"/>
                </a:lnTo>
                <a:lnTo>
                  <a:pt x="8383" y="574921"/>
                </a:lnTo>
                <a:lnTo>
                  <a:pt x="31246" y="608832"/>
                </a:lnTo>
                <a:lnTo>
                  <a:pt x="65157" y="631695"/>
                </a:lnTo>
                <a:lnTo>
                  <a:pt x="106682" y="640078"/>
                </a:lnTo>
                <a:lnTo>
                  <a:pt x="2042156" y="640078"/>
                </a:lnTo>
                <a:lnTo>
                  <a:pt x="2083682" y="631695"/>
                </a:lnTo>
                <a:lnTo>
                  <a:pt x="2117592" y="608832"/>
                </a:lnTo>
                <a:lnTo>
                  <a:pt x="2140455" y="574921"/>
                </a:lnTo>
                <a:lnTo>
                  <a:pt x="2148839" y="533396"/>
                </a:lnTo>
                <a:lnTo>
                  <a:pt x="2148839" y="106682"/>
                </a:lnTo>
                <a:lnTo>
                  <a:pt x="2140455" y="65156"/>
                </a:lnTo>
                <a:lnTo>
                  <a:pt x="2117592" y="31246"/>
                </a:lnTo>
                <a:lnTo>
                  <a:pt x="2083682" y="8383"/>
                </a:lnTo>
                <a:lnTo>
                  <a:pt x="2042156"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31" name="object 81">
            <a:extLst>
              <a:ext uri="{FF2B5EF4-FFF2-40B4-BE49-F238E27FC236}">
                <a16:creationId xmlns:a16="http://schemas.microsoft.com/office/drawing/2014/main" id="{13765912-E909-CE1B-1956-E69E514B540E}"/>
              </a:ext>
            </a:extLst>
          </p:cNvPr>
          <p:cNvSpPr txBox="1"/>
          <p:nvPr/>
        </p:nvSpPr>
        <p:spPr>
          <a:xfrm>
            <a:off x="2217173" y="10179050"/>
            <a:ext cx="1053254" cy="578792"/>
          </a:xfrm>
          <a:prstGeom prst="rect">
            <a:avLst/>
          </a:prstGeom>
        </p:spPr>
        <p:txBody>
          <a:bodyPr vert="horz" wrap="square" lIns="0" tIns="39794" rIns="0" bIns="0" rtlCol="0">
            <a:spAutoFit/>
          </a:bodyPr>
          <a:lstStyle/>
          <a:p>
            <a:pPr marL="64350" marR="6774" indent="-65196" defTabSz="1219260">
              <a:lnSpc>
                <a:spcPts val="2106"/>
              </a:lnSpc>
              <a:spcBef>
                <a:spcPts val="314"/>
              </a:spcBef>
              <a:defRPr/>
            </a:pPr>
            <a:r>
              <a:rPr lang="en-US" sz="1866" b="1" kern="0" spc="-14">
                <a:solidFill>
                  <a:srgbClr val="FFFFFF"/>
                </a:solidFill>
                <a:latin typeface="Arial"/>
                <a:cs typeface="Arial"/>
              </a:rPr>
              <a:t>Adoption Support</a:t>
            </a:r>
            <a:endParaRPr lang="en-US" sz="1866" kern="0">
              <a:solidFill>
                <a:sysClr val="windowText" lastClr="000000"/>
              </a:solidFill>
              <a:latin typeface="Arial"/>
              <a:cs typeface="Arial"/>
            </a:endParaRPr>
          </a:p>
        </p:txBody>
      </p:sp>
      <p:sp>
        <p:nvSpPr>
          <p:cNvPr id="1032" name="object 82">
            <a:extLst>
              <a:ext uri="{FF2B5EF4-FFF2-40B4-BE49-F238E27FC236}">
                <a16:creationId xmlns:a16="http://schemas.microsoft.com/office/drawing/2014/main" id="{4B7176EF-C357-7B2C-A75B-DDB1139BC340}"/>
              </a:ext>
            </a:extLst>
          </p:cNvPr>
          <p:cNvSpPr/>
          <p:nvPr/>
        </p:nvSpPr>
        <p:spPr>
          <a:xfrm>
            <a:off x="4475812" y="10049982"/>
            <a:ext cx="2865120" cy="853440"/>
          </a:xfrm>
          <a:custGeom>
            <a:avLst/>
            <a:gdLst/>
            <a:ahLst/>
            <a:cxnLst/>
            <a:rect l="l" t="t" r="r" b="b"/>
            <a:pathLst>
              <a:path w="2148840" h="640079">
                <a:moveTo>
                  <a:pt x="2042157" y="0"/>
                </a:moveTo>
                <a:lnTo>
                  <a:pt x="106682" y="0"/>
                </a:lnTo>
                <a:lnTo>
                  <a:pt x="65156" y="8383"/>
                </a:lnTo>
                <a:lnTo>
                  <a:pt x="31246" y="31246"/>
                </a:lnTo>
                <a:lnTo>
                  <a:pt x="8383" y="65156"/>
                </a:lnTo>
                <a:lnTo>
                  <a:pt x="0" y="106682"/>
                </a:lnTo>
                <a:lnTo>
                  <a:pt x="0" y="533396"/>
                </a:lnTo>
                <a:lnTo>
                  <a:pt x="8383" y="574922"/>
                </a:lnTo>
                <a:lnTo>
                  <a:pt x="31246" y="608833"/>
                </a:lnTo>
                <a:lnTo>
                  <a:pt x="65156" y="631696"/>
                </a:lnTo>
                <a:lnTo>
                  <a:pt x="106682" y="640080"/>
                </a:lnTo>
                <a:lnTo>
                  <a:pt x="2042157" y="640080"/>
                </a:lnTo>
                <a:lnTo>
                  <a:pt x="2083683" y="631696"/>
                </a:lnTo>
                <a:lnTo>
                  <a:pt x="2117593" y="608833"/>
                </a:lnTo>
                <a:lnTo>
                  <a:pt x="2140456" y="574922"/>
                </a:lnTo>
                <a:lnTo>
                  <a:pt x="2148840" y="533396"/>
                </a:lnTo>
                <a:lnTo>
                  <a:pt x="2148840" y="106682"/>
                </a:lnTo>
                <a:lnTo>
                  <a:pt x="2140456" y="65156"/>
                </a:lnTo>
                <a:lnTo>
                  <a:pt x="2117593" y="31246"/>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33" name="object 83">
            <a:extLst>
              <a:ext uri="{FF2B5EF4-FFF2-40B4-BE49-F238E27FC236}">
                <a16:creationId xmlns:a16="http://schemas.microsoft.com/office/drawing/2014/main" id="{9F388818-3DAD-A8C1-494F-1E5112928371}"/>
              </a:ext>
            </a:extLst>
          </p:cNvPr>
          <p:cNvSpPr txBox="1"/>
          <p:nvPr/>
        </p:nvSpPr>
        <p:spPr>
          <a:xfrm>
            <a:off x="5276547" y="10174989"/>
            <a:ext cx="1280158" cy="574516"/>
          </a:xfrm>
          <a:prstGeom prst="rect">
            <a:avLst/>
          </a:prstGeom>
        </p:spPr>
        <p:txBody>
          <a:bodyPr vert="horz" wrap="square" lIns="0" tIns="35560" rIns="0" bIns="0" rtlCol="0">
            <a:spAutoFit/>
          </a:bodyPr>
          <a:lstStyle/>
          <a:p>
            <a:pPr marL="158334" marR="6774" indent="-159182" defTabSz="1219260">
              <a:lnSpc>
                <a:spcPts val="2146"/>
              </a:lnSpc>
              <a:spcBef>
                <a:spcPts val="280"/>
              </a:spcBef>
              <a:defRPr/>
            </a:pPr>
            <a:r>
              <a:rPr lang="en-US" sz="1866" b="1" kern="0" spc="-14">
                <a:solidFill>
                  <a:srgbClr val="FFFFFF"/>
                </a:solidFill>
                <a:latin typeface="Arial"/>
                <a:cs typeface="Arial"/>
              </a:rPr>
              <a:t>Curriculum Strategy</a:t>
            </a:r>
            <a:endParaRPr lang="en-US" sz="1866" kern="0">
              <a:solidFill>
                <a:sysClr val="windowText" lastClr="000000"/>
              </a:solidFill>
              <a:latin typeface="Arial"/>
              <a:cs typeface="Arial"/>
            </a:endParaRPr>
          </a:p>
        </p:txBody>
      </p:sp>
      <p:sp>
        <p:nvSpPr>
          <p:cNvPr id="1034" name="object 84">
            <a:extLst>
              <a:ext uri="{FF2B5EF4-FFF2-40B4-BE49-F238E27FC236}">
                <a16:creationId xmlns:a16="http://schemas.microsoft.com/office/drawing/2014/main" id="{FAD480C7-B2AE-A43E-A4E0-F3B5AC69B868}"/>
              </a:ext>
            </a:extLst>
          </p:cNvPr>
          <p:cNvSpPr/>
          <p:nvPr/>
        </p:nvSpPr>
        <p:spPr>
          <a:xfrm>
            <a:off x="4475812" y="10983330"/>
            <a:ext cx="2865120" cy="853440"/>
          </a:xfrm>
          <a:custGeom>
            <a:avLst/>
            <a:gdLst/>
            <a:ahLst/>
            <a:cxnLst/>
            <a:rect l="l" t="t" r="r" b="b"/>
            <a:pathLst>
              <a:path w="2148840" h="640079">
                <a:moveTo>
                  <a:pt x="2042157" y="0"/>
                </a:moveTo>
                <a:lnTo>
                  <a:pt x="106682" y="0"/>
                </a:lnTo>
                <a:lnTo>
                  <a:pt x="65156" y="8383"/>
                </a:lnTo>
                <a:lnTo>
                  <a:pt x="31246" y="31246"/>
                </a:lnTo>
                <a:lnTo>
                  <a:pt x="8383" y="65156"/>
                </a:lnTo>
                <a:lnTo>
                  <a:pt x="0" y="106682"/>
                </a:lnTo>
                <a:lnTo>
                  <a:pt x="0" y="533397"/>
                </a:lnTo>
                <a:lnTo>
                  <a:pt x="8383" y="574923"/>
                </a:lnTo>
                <a:lnTo>
                  <a:pt x="31246" y="608833"/>
                </a:lnTo>
                <a:lnTo>
                  <a:pt x="65156" y="631696"/>
                </a:lnTo>
                <a:lnTo>
                  <a:pt x="106682" y="640080"/>
                </a:lnTo>
                <a:lnTo>
                  <a:pt x="2042157" y="640080"/>
                </a:lnTo>
                <a:lnTo>
                  <a:pt x="2083683" y="631696"/>
                </a:lnTo>
                <a:lnTo>
                  <a:pt x="2117593" y="608833"/>
                </a:lnTo>
                <a:lnTo>
                  <a:pt x="2140456" y="574923"/>
                </a:lnTo>
                <a:lnTo>
                  <a:pt x="2148840" y="533397"/>
                </a:lnTo>
                <a:lnTo>
                  <a:pt x="2148840" y="106682"/>
                </a:lnTo>
                <a:lnTo>
                  <a:pt x="2140456" y="65156"/>
                </a:lnTo>
                <a:lnTo>
                  <a:pt x="2117593" y="31246"/>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35" name="object 85">
            <a:extLst>
              <a:ext uri="{FF2B5EF4-FFF2-40B4-BE49-F238E27FC236}">
                <a16:creationId xmlns:a16="http://schemas.microsoft.com/office/drawing/2014/main" id="{8FB2AA63-1A40-A080-3CEA-7D55B496277A}"/>
              </a:ext>
            </a:extLst>
          </p:cNvPr>
          <p:cNvSpPr txBox="1"/>
          <p:nvPr/>
        </p:nvSpPr>
        <p:spPr>
          <a:xfrm>
            <a:off x="5186589" y="11109706"/>
            <a:ext cx="1462194" cy="578792"/>
          </a:xfrm>
          <a:prstGeom prst="rect">
            <a:avLst/>
          </a:prstGeom>
        </p:spPr>
        <p:txBody>
          <a:bodyPr vert="horz" wrap="square" lIns="0" tIns="39794" rIns="0" bIns="0" rtlCol="0">
            <a:spAutoFit/>
          </a:bodyPr>
          <a:lstStyle/>
          <a:p>
            <a:pPr marR="6774" indent="90598" defTabSz="1219260">
              <a:lnSpc>
                <a:spcPts val="2106"/>
              </a:lnSpc>
              <a:spcBef>
                <a:spcPts val="314"/>
              </a:spcBef>
              <a:defRPr/>
            </a:pPr>
            <a:r>
              <a:rPr lang="en-US" sz="1866" b="1" kern="0">
                <a:solidFill>
                  <a:srgbClr val="FFFFFF"/>
                </a:solidFill>
                <a:latin typeface="Arial"/>
                <a:cs typeface="Arial"/>
              </a:rPr>
              <a:t>Sourcing</a:t>
            </a:r>
            <a:r>
              <a:rPr lang="en-US" sz="1866" b="1" kern="0" spc="-80">
                <a:solidFill>
                  <a:srgbClr val="FFFFFF"/>
                </a:solidFill>
                <a:latin typeface="Arial"/>
                <a:cs typeface="Arial"/>
              </a:rPr>
              <a:t> </a:t>
            </a:r>
            <a:r>
              <a:rPr lang="en-US" sz="1866" b="1" kern="0" spc="-66">
                <a:solidFill>
                  <a:srgbClr val="FFFFFF"/>
                </a:solidFill>
                <a:latin typeface="Arial"/>
                <a:cs typeface="Arial"/>
              </a:rPr>
              <a:t>&amp; </a:t>
            </a:r>
            <a:r>
              <a:rPr lang="en-US" sz="1866" b="1" kern="0" spc="-14">
                <a:solidFill>
                  <a:srgbClr val="FFFFFF"/>
                </a:solidFill>
                <a:latin typeface="Arial"/>
                <a:cs typeface="Arial"/>
              </a:rPr>
              <a:t>Management</a:t>
            </a:r>
            <a:endParaRPr lang="en-US" sz="1866" kern="0">
              <a:solidFill>
                <a:sysClr val="windowText" lastClr="000000"/>
              </a:solidFill>
              <a:latin typeface="Arial"/>
              <a:cs typeface="Arial"/>
            </a:endParaRPr>
          </a:p>
        </p:txBody>
      </p:sp>
      <p:sp>
        <p:nvSpPr>
          <p:cNvPr id="1036" name="object 86">
            <a:extLst>
              <a:ext uri="{FF2B5EF4-FFF2-40B4-BE49-F238E27FC236}">
                <a16:creationId xmlns:a16="http://schemas.microsoft.com/office/drawing/2014/main" id="{D64F3911-23B2-8A58-3C0D-F4C68F4C202F}"/>
              </a:ext>
            </a:extLst>
          </p:cNvPr>
          <p:cNvSpPr/>
          <p:nvPr/>
        </p:nvSpPr>
        <p:spPr>
          <a:xfrm>
            <a:off x="7631404" y="10030446"/>
            <a:ext cx="2865120" cy="853440"/>
          </a:xfrm>
          <a:custGeom>
            <a:avLst/>
            <a:gdLst/>
            <a:ahLst/>
            <a:cxnLst/>
            <a:rect l="l" t="t" r="r" b="b"/>
            <a:pathLst>
              <a:path w="2148840" h="640079">
                <a:moveTo>
                  <a:pt x="2042156" y="0"/>
                </a:moveTo>
                <a:lnTo>
                  <a:pt x="106682" y="0"/>
                </a:lnTo>
                <a:lnTo>
                  <a:pt x="65156" y="8383"/>
                </a:lnTo>
                <a:lnTo>
                  <a:pt x="31246" y="31246"/>
                </a:lnTo>
                <a:lnTo>
                  <a:pt x="8383" y="65157"/>
                </a:lnTo>
                <a:lnTo>
                  <a:pt x="0" y="106683"/>
                </a:lnTo>
                <a:lnTo>
                  <a:pt x="0" y="533397"/>
                </a:lnTo>
                <a:lnTo>
                  <a:pt x="8383" y="574923"/>
                </a:lnTo>
                <a:lnTo>
                  <a:pt x="31246" y="608833"/>
                </a:lnTo>
                <a:lnTo>
                  <a:pt x="65156" y="631696"/>
                </a:lnTo>
                <a:lnTo>
                  <a:pt x="106682" y="640080"/>
                </a:lnTo>
                <a:lnTo>
                  <a:pt x="2042156" y="640080"/>
                </a:lnTo>
                <a:lnTo>
                  <a:pt x="2083682" y="631696"/>
                </a:lnTo>
                <a:lnTo>
                  <a:pt x="2117592" y="608833"/>
                </a:lnTo>
                <a:lnTo>
                  <a:pt x="2140456" y="574923"/>
                </a:lnTo>
                <a:lnTo>
                  <a:pt x="2148840" y="533397"/>
                </a:lnTo>
                <a:lnTo>
                  <a:pt x="2148840" y="106683"/>
                </a:lnTo>
                <a:lnTo>
                  <a:pt x="2140456" y="65157"/>
                </a:lnTo>
                <a:lnTo>
                  <a:pt x="2117592" y="31246"/>
                </a:lnTo>
                <a:lnTo>
                  <a:pt x="2083682" y="8383"/>
                </a:lnTo>
                <a:lnTo>
                  <a:pt x="2042156"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37" name="object 87">
            <a:extLst>
              <a:ext uri="{FF2B5EF4-FFF2-40B4-BE49-F238E27FC236}">
                <a16:creationId xmlns:a16="http://schemas.microsoft.com/office/drawing/2014/main" id="{608F628C-2B69-58BF-3E84-6CD25DCB4114}"/>
              </a:ext>
            </a:extLst>
          </p:cNvPr>
          <p:cNvSpPr txBox="1"/>
          <p:nvPr/>
        </p:nvSpPr>
        <p:spPr>
          <a:xfrm>
            <a:off x="8244987" y="9172532"/>
            <a:ext cx="1642534" cy="1564531"/>
          </a:xfrm>
          <a:prstGeom prst="rect">
            <a:avLst/>
          </a:prstGeom>
        </p:spPr>
        <p:txBody>
          <a:bodyPr vert="horz" wrap="square" lIns="0" tIns="38100" rIns="0" bIns="0" rtlCol="0">
            <a:spAutoFit/>
          </a:bodyPr>
          <a:lstStyle/>
          <a:p>
            <a:pPr marR="6774" algn="ctr" defTabSz="1219260">
              <a:lnSpc>
                <a:spcPts val="2786"/>
              </a:lnSpc>
              <a:spcBef>
                <a:spcPts val="300"/>
              </a:spcBef>
              <a:defRPr/>
            </a:pPr>
            <a:r>
              <a:rPr lang="en-US" sz="2400" b="1" kern="0" spc="-14">
                <a:solidFill>
                  <a:sysClr val="windowText" lastClr="000000"/>
                </a:solidFill>
                <a:latin typeface="Arial"/>
                <a:cs typeface="Arial"/>
              </a:rPr>
              <a:t>Change Leadership</a:t>
            </a:r>
            <a:endParaRPr lang="en-US" sz="2400" kern="0">
              <a:solidFill>
                <a:sysClr val="windowText" lastClr="000000"/>
              </a:solidFill>
              <a:latin typeface="Arial"/>
              <a:cs typeface="Arial"/>
            </a:endParaRPr>
          </a:p>
          <a:p>
            <a:pPr marL="226918" marR="220992" algn="ctr" defTabSz="1219260">
              <a:lnSpc>
                <a:spcPts val="2146"/>
              </a:lnSpc>
              <a:spcBef>
                <a:spcPts val="2140"/>
              </a:spcBef>
              <a:defRPr/>
            </a:pPr>
            <a:r>
              <a:rPr lang="en-US" sz="1866" b="1" kern="0">
                <a:solidFill>
                  <a:srgbClr val="FFFFFF"/>
                </a:solidFill>
                <a:latin typeface="Arial"/>
                <a:cs typeface="Arial"/>
              </a:rPr>
              <a:t>Strategy</a:t>
            </a:r>
            <a:r>
              <a:rPr lang="en-US" sz="1866" b="1" kern="0" spc="-66">
                <a:solidFill>
                  <a:srgbClr val="FFFFFF"/>
                </a:solidFill>
                <a:latin typeface="Arial"/>
                <a:cs typeface="Arial"/>
              </a:rPr>
              <a:t> &amp; </a:t>
            </a:r>
            <a:r>
              <a:rPr lang="en-US" sz="1866" b="1" kern="0" spc="-14">
                <a:solidFill>
                  <a:srgbClr val="FFFFFF"/>
                </a:solidFill>
                <a:latin typeface="Arial"/>
                <a:cs typeface="Arial"/>
              </a:rPr>
              <a:t>Execution</a:t>
            </a:r>
            <a:endParaRPr lang="en-US" sz="1866" kern="0">
              <a:solidFill>
                <a:sysClr val="windowText" lastClr="000000"/>
              </a:solidFill>
              <a:latin typeface="Arial"/>
              <a:cs typeface="Arial"/>
            </a:endParaRPr>
          </a:p>
        </p:txBody>
      </p:sp>
      <p:sp>
        <p:nvSpPr>
          <p:cNvPr id="1038" name="object 88">
            <a:extLst>
              <a:ext uri="{FF2B5EF4-FFF2-40B4-BE49-F238E27FC236}">
                <a16:creationId xmlns:a16="http://schemas.microsoft.com/office/drawing/2014/main" id="{5634D746-D310-5DC7-B586-8070BDCDBC87}"/>
              </a:ext>
            </a:extLst>
          </p:cNvPr>
          <p:cNvSpPr/>
          <p:nvPr/>
        </p:nvSpPr>
        <p:spPr>
          <a:xfrm>
            <a:off x="7631404" y="11905774"/>
            <a:ext cx="2865120" cy="853440"/>
          </a:xfrm>
          <a:custGeom>
            <a:avLst/>
            <a:gdLst/>
            <a:ahLst/>
            <a:cxnLst/>
            <a:rect l="l" t="t" r="r" b="b"/>
            <a:pathLst>
              <a:path w="2148840" h="640079">
                <a:moveTo>
                  <a:pt x="2042156" y="0"/>
                </a:moveTo>
                <a:lnTo>
                  <a:pt x="106682" y="0"/>
                </a:lnTo>
                <a:lnTo>
                  <a:pt x="65156" y="8383"/>
                </a:lnTo>
                <a:lnTo>
                  <a:pt x="31246" y="31246"/>
                </a:lnTo>
                <a:lnTo>
                  <a:pt x="8383" y="65156"/>
                </a:lnTo>
                <a:lnTo>
                  <a:pt x="0" y="106682"/>
                </a:lnTo>
                <a:lnTo>
                  <a:pt x="0" y="533396"/>
                </a:lnTo>
                <a:lnTo>
                  <a:pt x="8383" y="574922"/>
                </a:lnTo>
                <a:lnTo>
                  <a:pt x="31246" y="608832"/>
                </a:lnTo>
                <a:lnTo>
                  <a:pt x="65156" y="631696"/>
                </a:lnTo>
                <a:lnTo>
                  <a:pt x="106682" y="640079"/>
                </a:lnTo>
                <a:lnTo>
                  <a:pt x="2042156" y="640079"/>
                </a:lnTo>
                <a:lnTo>
                  <a:pt x="2083682" y="631696"/>
                </a:lnTo>
                <a:lnTo>
                  <a:pt x="2117592" y="608832"/>
                </a:lnTo>
                <a:lnTo>
                  <a:pt x="2140456" y="574922"/>
                </a:lnTo>
                <a:lnTo>
                  <a:pt x="2148840" y="533396"/>
                </a:lnTo>
                <a:lnTo>
                  <a:pt x="2148840" y="106682"/>
                </a:lnTo>
                <a:lnTo>
                  <a:pt x="2140456" y="65156"/>
                </a:lnTo>
                <a:lnTo>
                  <a:pt x="2117592" y="31246"/>
                </a:lnTo>
                <a:lnTo>
                  <a:pt x="2083682" y="8383"/>
                </a:lnTo>
                <a:lnTo>
                  <a:pt x="2042156"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39" name="object 89">
            <a:extLst>
              <a:ext uri="{FF2B5EF4-FFF2-40B4-BE49-F238E27FC236}">
                <a16:creationId xmlns:a16="http://schemas.microsoft.com/office/drawing/2014/main" id="{DFC7A594-4AC8-8D9F-4A2D-5BFB816792AD}"/>
              </a:ext>
            </a:extLst>
          </p:cNvPr>
          <p:cNvSpPr txBox="1"/>
          <p:nvPr/>
        </p:nvSpPr>
        <p:spPr>
          <a:xfrm>
            <a:off x="8105114" y="12174477"/>
            <a:ext cx="1935480" cy="304229"/>
          </a:xfrm>
          <a:prstGeom prst="rect">
            <a:avLst/>
          </a:prstGeom>
        </p:spPr>
        <p:txBody>
          <a:bodyPr vert="horz" wrap="square" lIns="0" tIns="16934" rIns="0" bIns="0" rtlCol="0">
            <a:spAutoFit/>
          </a:bodyPr>
          <a:lstStyle/>
          <a:p>
            <a:pPr defTabSz="1219260">
              <a:spcBef>
                <a:spcPts val="134"/>
              </a:spcBef>
              <a:defRPr/>
            </a:pPr>
            <a:r>
              <a:rPr lang="en-US" sz="1866" b="1" kern="0" spc="-14">
                <a:solidFill>
                  <a:srgbClr val="FFFFFF"/>
                </a:solidFill>
                <a:latin typeface="Arial"/>
                <a:cs typeface="Arial"/>
              </a:rPr>
              <a:t>Communications</a:t>
            </a:r>
            <a:endParaRPr lang="en-US" sz="1866" kern="0">
              <a:solidFill>
                <a:sysClr val="windowText" lastClr="000000"/>
              </a:solidFill>
              <a:latin typeface="Arial"/>
              <a:cs typeface="Arial"/>
            </a:endParaRPr>
          </a:p>
        </p:txBody>
      </p:sp>
      <p:sp>
        <p:nvSpPr>
          <p:cNvPr id="1040" name="object 90">
            <a:extLst>
              <a:ext uri="{FF2B5EF4-FFF2-40B4-BE49-F238E27FC236}">
                <a16:creationId xmlns:a16="http://schemas.microsoft.com/office/drawing/2014/main" id="{A0A7CF9E-E8AF-3530-F696-AFB495BDE5FD}"/>
              </a:ext>
            </a:extLst>
          </p:cNvPr>
          <p:cNvSpPr/>
          <p:nvPr/>
        </p:nvSpPr>
        <p:spPr>
          <a:xfrm>
            <a:off x="1299752" y="11911056"/>
            <a:ext cx="2865120" cy="853440"/>
          </a:xfrm>
          <a:custGeom>
            <a:avLst/>
            <a:gdLst/>
            <a:ahLst/>
            <a:cxnLst/>
            <a:rect l="l" t="t" r="r" b="b"/>
            <a:pathLst>
              <a:path w="2148840" h="640079">
                <a:moveTo>
                  <a:pt x="2042157" y="0"/>
                </a:moveTo>
                <a:lnTo>
                  <a:pt x="106682" y="0"/>
                </a:lnTo>
                <a:lnTo>
                  <a:pt x="65157" y="8383"/>
                </a:lnTo>
                <a:lnTo>
                  <a:pt x="31246" y="31246"/>
                </a:lnTo>
                <a:lnTo>
                  <a:pt x="8383" y="65156"/>
                </a:lnTo>
                <a:lnTo>
                  <a:pt x="0" y="106682"/>
                </a:lnTo>
                <a:lnTo>
                  <a:pt x="0" y="533396"/>
                </a:lnTo>
                <a:lnTo>
                  <a:pt x="8383" y="574922"/>
                </a:lnTo>
                <a:lnTo>
                  <a:pt x="31246" y="608832"/>
                </a:lnTo>
                <a:lnTo>
                  <a:pt x="65157" y="631696"/>
                </a:lnTo>
                <a:lnTo>
                  <a:pt x="106682" y="640079"/>
                </a:lnTo>
                <a:lnTo>
                  <a:pt x="2042157" y="640079"/>
                </a:lnTo>
                <a:lnTo>
                  <a:pt x="2083682" y="631696"/>
                </a:lnTo>
                <a:lnTo>
                  <a:pt x="2117593" y="608832"/>
                </a:lnTo>
                <a:lnTo>
                  <a:pt x="2140456" y="574922"/>
                </a:lnTo>
                <a:lnTo>
                  <a:pt x="2148839" y="533396"/>
                </a:lnTo>
                <a:lnTo>
                  <a:pt x="2148839" y="106682"/>
                </a:lnTo>
                <a:lnTo>
                  <a:pt x="2140456" y="65156"/>
                </a:lnTo>
                <a:lnTo>
                  <a:pt x="2117593" y="31246"/>
                </a:lnTo>
                <a:lnTo>
                  <a:pt x="2083682"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41" name="object 91">
            <a:extLst>
              <a:ext uri="{FF2B5EF4-FFF2-40B4-BE49-F238E27FC236}">
                <a16:creationId xmlns:a16="http://schemas.microsoft.com/office/drawing/2014/main" id="{41DA6073-AD97-1E24-D132-EA281F16B228}"/>
              </a:ext>
            </a:extLst>
          </p:cNvPr>
          <p:cNvSpPr txBox="1"/>
          <p:nvPr/>
        </p:nvSpPr>
        <p:spPr>
          <a:xfrm>
            <a:off x="2016879" y="12178541"/>
            <a:ext cx="1448646" cy="304229"/>
          </a:xfrm>
          <a:prstGeom prst="rect">
            <a:avLst/>
          </a:prstGeom>
        </p:spPr>
        <p:txBody>
          <a:bodyPr vert="horz" wrap="square" lIns="0" tIns="16934" rIns="0" bIns="0" rtlCol="0">
            <a:spAutoFit/>
          </a:bodyPr>
          <a:lstStyle/>
          <a:p>
            <a:pPr defTabSz="1219260">
              <a:spcBef>
                <a:spcPts val="134"/>
              </a:spcBef>
              <a:defRPr/>
            </a:pPr>
            <a:r>
              <a:rPr lang="en-US" sz="1866" b="1" kern="0" spc="-14">
                <a:solidFill>
                  <a:srgbClr val="FFFFFF"/>
                </a:solidFill>
                <a:latin typeface="Arial"/>
                <a:cs typeface="Arial"/>
              </a:rPr>
              <a:t>Provisioning</a:t>
            </a:r>
            <a:endParaRPr lang="en-US" sz="1866" kern="0">
              <a:solidFill>
                <a:sysClr val="windowText" lastClr="000000"/>
              </a:solidFill>
              <a:latin typeface="Arial"/>
              <a:cs typeface="Arial"/>
            </a:endParaRPr>
          </a:p>
        </p:txBody>
      </p:sp>
      <p:sp>
        <p:nvSpPr>
          <p:cNvPr id="1042" name="object 92">
            <a:extLst>
              <a:ext uri="{FF2B5EF4-FFF2-40B4-BE49-F238E27FC236}">
                <a16:creationId xmlns:a16="http://schemas.microsoft.com/office/drawing/2014/main" id="{3EABBD51-09C3-7A01-9005-0849DF9124BE}"/>
              </a:ext>
            </a:extLst>
          </p:cNvPr>
          <p:cNvSpPr/>
          <p:nvPr/>
        </p:nvSpPr>
        <p:spPr>
          <a:xfrm>
            <a:off x="1302138" y="10980596"/>
            <a:ext cx="2865120" cy="853440"/>
          </a:xfrm>
          <a:custGeom>
            <a:avLst/>
            <a:gdLst/>
            <a:ahLst/>
            <a:cxnLst/>
            <a:rect l="l" t="t" r="r" b="b"/>
            <a:pathLst>
              <a:path w="2148840" h="640079">
                <a:moveTo>
                  <a:pt x="2042156" y="0"/>
                </a:moveTo>
                <a:lnTo>
                  <a:pt x="106682" y="0"/>
                </a:lnTo>
                <a:lnTo>
                  <a:pt x="65157" y="8383"/>
                </a:lnTo>
                <a:lnTo>
                  <a:pt x="31246" y="31246"/>
                </a:lnTo>
                <a:lnTo>
                  <a:pt x="8383" y="65156"/>
                </a:lnTo>
                <a:lnTo>
                  <a:pt x="0" y="106682"/>
                </a:lnTo>
                <a:lnTo>
                  <a:pt x="0" y="533396"/>
                </a:lnTo>
                <a:lnTo>
                  <a:pt x="8383" y="574922"/>
                </a:lnTo>
                <a:lnTo>
                  <a:pt x="31246" y="608833"/>
                </a:lnTo>
                <a:lnTo>
                  <a:pt x="65157" y="631696"/>
                </a:lnTo>
                <a:lnTo>
                  <a:pt x="106682" y="640079"/>
                </a:lnTo>
                <a:lnTo>
                  <a:pt x="2042156" y="640079"/>
                </a:lnTo>
                <a:lnTo>
                  <a:pt x="2083682" y="631696"/>
                </a:lnTo>
                <a:lnTo>
                  <a:pt x="2117592" y="608833"/>
                </a:lnTo>
                <a:lnTo>
                  <a:pt x="2140455" y="574922"/>
                </a:lnTo>
                <a:lnTo>
                  <a:pt x="2148839" y="533396"/>
                </a:lnTo>
                <a:lnTo>
                  <a:pt x="2148839" y="106682"/>
                </a:lnTo>
                <a:lnTo>
                  <a:pt x="2140455" y="65156"/>
                </a:lnTo>
                <a:lnTo>
                  <a:pt x="2117592" y="31246"/>
                </a:lnTo>
                <a:lnTo>
                  <a:pt x="2083682" y="8383"/>
                </a:lnTo>
                <a:lnTo>
                  <a:pt x="2042156"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43" name="object 93">
            <a:extLst>
              <a:ext uri="{FF2B5EF4-FFF2-40B4-BE49-F238E27FC236}">
                <a16:creationId xmlns:a16="http://schemas.microsoft.com/office/drawing/2014/main" id="{22D254C3-C4BD-F961-10EF-DC15148A38B1}"/>
              </a:ext>
            </a:extLst>
          </p:cNvPr>
          <p:cNvSpPr txBox="1"/>
          <p:nvPr/>
        </p:nvSpPr>
        <p:spPr>
          <a:xfrm>
            <a:off x="1593817" y="11105642"/>
            <a:ext cx="2299546" cy="574516"/>
          </a:xfrm>
          <a:prstGeom prst="rect">
            <a:avLst/>
          </a:prstGeom>
        </p:spPr>
        <p:txBody>
          <a:bodyPr vert="horz" wrap="square" lIns="0" tIns="35560" rIns="0" bIns="0" rtlCol="0">
            <a:spAutoFit/>
          </a:bodyPr>
          <a:lstStyle/>
          <a:p>
            <a:pPr marL="911058" marR="6774" indent="-911906" defTabSz="1219260">
              <a:lnSpc>
                <a:spcPts val="2146"/>
              </a:lnSpc>
              <a:spcBef>
                <a:spcPts val="280"/>
              </a:spcBef>
              <a:defRPr/>
            </a:pPr>
            <a:r>
              <a:rPr lang="en-US" sz="1866" b="1" kern="0">
                <a:solidFill>
                  <a:srgbClr val="FFFFFF"/>
                </a:solidFill>
                <a:latin typeface="Arial"/>
                <a:cs typeface="Arial"/>
              </a:rPr>
              <a:t>Maintain</a:t>
            </a:r>
            <a:r>
              <a:rPr lang="en-US" sz="1866" b="1" kern="0" spc="-60">
                <a:solidFill>
                  <a:srgbClr val="FFFFFF"/>
                </a:solidFill>
                <a:latin typeface="Arial"/>
                <a:cs typeface="Arial"/>
              </a:rPr>
              <a:t> </a:t>
            </a:r>
            <a:r>
              <a:rPr lang="en-US" sz="1866" b="1" kern="0" spc="-14">
                <a:solidFill>
                  <a:srgbClr val="FFFFFF"/>
                </a:solidFill>
                <a:latin typeface="Arial"/>
                <a:cs typeface="Arial"/>
              </a:rPr>
              <a:t>Knowledge </a:t>
            </a:r>
            <a:r>
              <a:rPr lang="en-US" sz="1866" b="1" kern="0" spc="-34">
                <a:solidFill>
                  <a:srgbClr val="FFFFFF"/>
                </a:solidFill>
                <a:latin typeface="Arial"/>
                <a:cs typeface="Arial"/>
              </a:rPr>
              <a:t>Hub</a:t>
            </a:r>
            <a:endParaRPr lang="en-US" sz="1866" kern="0">
              <a:solidFill>
                <a:sysClr val="windowText" lastClr="000000"/>
              </a:solidFill>
              <a:latin typeface="Arial"/>
              <a:cs typeface="Arial"/>
            </a:endParaRPr>
          </a:p>
        </p:txBody>
      </p:sp>
      <p:sp>
        <p:nvSpPr>
          <p:cNvPr id="1044" name="object 94">
            <a:extLst>
              <a:ext uri="{FF2B5EF4-FFF2-40B4-BE49-F238E27FC236}">
                <a16:creationId xmlns:a16="http://schemas.microsoft.com/office/drawing/2014/main" id="{E115931F-536D-AEC4-4F01-B30354AEBF75}"/>
              </a:ext>
            </a:extLst>
          </p:cNvPr>
          <p:cNvSpPr/>
          <p:nvPr/>
        </p:nvSpPr>
        <p:spPr>
          <a:xfrm>
            <a:off x="4479598" y="5319000"/>
            <a:ext cx="2865120" cy="853440"/>
          </a:xfrm>
          <a:custGeom>
            <a:avLst/>
            <a:gdLst/>
            <a:ahLst/>
            <a:cxnLst/>
            <a:rect l="l" t="t" r="r" b="b"/>
            <a:pathLst>
              <a:path w="2148840" h="640079">
                <a:moveTo>
                  <a:pt x="2042157" y="0"/>
                </a:moveTo>
                <a:lnTo>
                  <a:pt x="106682" y="0"/>
                </a:lnTo>
                <a:lnTo>
                  <a:pt x="65156" y="8383"/>
                </a:lnTo>
                <a:lnTo>
                  <a:pt x="31246" y="31246"/>
                </a:lnTo>
                <a:lnTo>
                  <a:pt x="8383" y="65156"/>
                </a:lnTo>
                <a:lnTo>
                  <a:pt x="0" y="106682"/>
                </a:lnTo>
                <a:lnTo>
                  <a:pt x="0" y="533397"/>
                </a:lnTo>
                <a:lnTo>
                  <a:pt x="8383" y="574923"/>
                </a:lnTo>
                <a:lnTo>
                  <a:pt x="31246" y="608833"/>
                </a:lnTo>
                <a:lnTo>
                  <a:pt x="65156" y="631696"/>
                </a:lnTo>
                <a:lnTo>
                  <a:pt x="106682" y="640080"/>
                </a:lnTo>
                <a:lnTo>
                  <a:pt x="2042157" y="640080"/>
                </a:lnTo>
                <a:lnTo>
                  <a:pt x="2083683" y="631696"/>
                </a:lnTo>
                <a:lnTo>
                  <a:pt x="2117593" y="608833"/>
                </a:lnTo>
                <a:lnTo>
                  <a:pt x="2140456" y="574923"/>
                </a:lnTo>
                <a:lnTo>
                  <a:pt x="2148840" y="533397"/>
                </a:lnTo>
                <a:lnTo>
                  <a:pt x="2148840" y="106682"/>
                </a:lnTo>
                <a:lnTo>
                  <a:pt x="2140456" y="65156"/>
                </a:lnTo>
                <a:lnTo>
                  <a:pt x="2117593" y="31246"/>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45" name="object 95">
            <a:extLst>
              <a:ext uri="{FF2B5EF4-FFF2-40B4-BE49-F238E27FC236}">
                <a16:creationId xmlns:a16="http://schemas.microsoft.com/office/drawing/2014/main" id="{3120E1F9-870D-47C4-B0B9-F13B54019343}"/>
              </a:ext>
            </a:extLst>
          </p:cNvPr>
          <p:cNvSpPr txBox="1"/>
          <p:nvPr/>
        </p:nvSpPr>
        <p:spPr>
          <a:xfrm>
            <a:off x="4955096" y="4478613"/>
            <a:ext cx="1879600" cy="1551707"/>
          </a:xfrm>
          <a:prstGeom prst="rect">
            <a:avLst/>
          </a:prstGeom>
        </p:spPr>
        <p:txBody>
          <a:bodyPr vert="horz" wrap="square" lIns="0" tIns="38100" rIns="0" bIns="0" rtlCol="0">
            <a:spAutoFit/>
          </a:bodyPr>
          <a:lstStyle/>
          <a:p>
            <a:pPr marR="6774" indent="-846" algn="ctr" defTabSz="1219260">
              <a:lnSpc>
                <a:spcPts val="2786"/>
              </a:lnSpc>
              <a:spcBef>
                <a:spcPts val="300"/>
              </a:spcBef>
              <a:defRPr/>
            </a:pPr>
            <a:r>
              <a:rPr lang="en-US" sz="2400" b="1" kern="0" spc="-14">
                <a:solidFill>
                  <a:sysClr val="windowText" lastClr="000000"/>
                </a:solidFill>
                <a:latin typeface="Arial"/>
                <a:cs typeface="Arial"/>
              </a:rPr>
              <a:t>Product Management</a:t>
            </a:r>
            <a:endParaRPr lang="en-US" sz="2400" kern="0">
              <a:solidFill>
                <a:sysClr val="windowText" lastClr="000000"/>
              </a:solidFill>
              <a:latin typeface="Arial"/>
              <a:cs typeface="Arial"/>
            </a:endParaRPr>
          </a:p>
          <a:p>
            <a:pPr marL="234538" marR="188816" indent="-846" algn="ctr" defTabSz="1219260">
              <a:lnSpc>
                <a:spcPts val="2146"/>
              </a:lnSpc>
              <a:spcBef>
                <a:spcPts val="2014"/>
              </a:spcBef>
              <a:defRPr/>
            </a:pPr>
            <a:r>
              <a:rPr lang="en-US" sz="1866" b="1" kern="0" spc="-14">
                <a:solidFill>
                  <a:srgbClr val="FFFFFF"/>
                </a:solidFill>
                <a:latin typeface="Arial"/>
                <a:cs typeface="Arial"/>
              </a:rPr>
              <a:t>Demand Management</a:t>
            </a:r>
            <a:endParaRPr lang="en-US" sz="1866" kern="0">
              <a:solidFill>
                <a:sysClr val="windowText" lastClr="000000"/>
              </a:solidFill>
              <a:latin typeface="Arial"/>
              <a:cs typeface="Arial"/>
            </a:endParaRPr>
          </a:p>
        </p:txBody>
      </p:sp>
      <p:sp>
        <p:nvSpPr>
          <p:cNvPr id="1046" name="object 96">
            <a:extLst>
              <a:ext uri="{FF2B5EF4-FFF2-40B4-BE49-F238E27FC236}">
                <a16:creationId xmlns:a16="http://schemas.microsoft.com/office/drawing/2014/main" id="{5A37A836-51AD-D201-2C4F-30B0970844F7}"/>
              </a:ext>
            </a:extLst>
          </p:cNvPr>
          <p:cNvSpPr/>
          <p:nvPr/>
        </p:nvSpPr>
        <p:spPr>
          <a:xfrm>
            <a:off x="4479598" y="6231796"/>
            <a:ext cx="2865120" cy="853440"/>
          </a:xfrm>
          <a:custGeom>
            <a:avLst/>
            <a:gdLst/>
            <a:ahLst/>
            <a:cxnLst/>
            <a:rect l="l" t="t" r="r" b="b"/>
            <a:pathLst>
              <a:path w="2148840" h="640079">
                <a:moveTo>
                  <a:pt x="2042157" y="0"/>
                </a:moveTo>
                <a:lnTo>
                  <a:pt x="106682" y="0"/>
                </a:lnTo>
                <a:lnTo>
                  <a:pt x="65156" y="8383"/>
                </a:lnTo>
                <a:lnTo>
                  <a:pt x="31246" y="31246"/>
                </a:lnTo>
                <a:lnTo>
                  <a:pt x="8383" y="65156"/>
                </a:lnTo>
                <a:lnTo>
                  <a:pt x="0" y="106682"/>
                </a:lnTo>
                <a:lnTo>
                  <a:pt x="0" y="533396"/>
                </a:lnTo>
                <a:lnTo>
                  <a:pt x="8383" y="574922"/>
                </a:lnTo>
                <a:lnTo>
                  <a:pt x="31246" y="608833"/>
                </a:lnTo>
                <a:lnTo>
                  <a:pt x="65156" y="631696"/>
                </a:lnTo>
                <a:lnTo>
                  <a:pt x="106682" y="640080"/>
                </a:lnTo>
                <a:lnTo>
                  <a:pt x="2042157" y="640080"/>
                </a:lnTo>
                <a:lnTo>
                  <a:pt x="2083683" y="631696"/>
                </a:lnTo>
                <a:lnTo>
                  <a:pt x="2117593" y="608833"/>
                </a:lnTo>
                <a:lnTo>
                  <a:pt x="2140456" y="574922"/>
                </a:lnTo>
                <a:lnTo>
                  <a:pt x="2148840" y="533396"/>
                </a:lnTo>
                <a:lnTo>
                  <a:pt x="2148840" y="106682"/>
                </a:lnTo>
                <a:lnTo>
                  <a:pt x="2140456" y="65156"/>
                </a:lnTo>
                <a:lnTo>
                  <a:pt x="2117593" y="31246"/>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47" name="object 97">
            <a:extLst>
              <a:ext uri="{FF2B5EF4-FFF2-40B4-BE49-F238E27FC236}">
                <a16:creationId xmlns:a16="http://schemas.microsoft.com/office/drawing/2014/main" id="{F82EA63E-AF05-19E4-8B93-56BD8B606257}"/>
              </a:ext>
            </a:extLst>
          </p:cNvPr>
          <p:cNvSpPr txBox="1"/>
          <p:nvPr/>
        </p:nvSpPr>
        <p:spPr>
          <a:xfrm>
            <a:off x="4946959" y="6358891"/>
            <a:ext cx="1949026" cy="578792"/>
          </a:xfrm>
          <a:prstGeom prst="rect">
            <a:avLst/>
          </a:prstGeom>
        </p:spPr>
        <p:txBody>
          <a:bodyPr vert="horz" wrap="square" lIns="0" tIns="39794" rIns="0" bIns="0" rtlCol="0">
            <a:spAutoFit/>
          </a:bodyPr>
          <a:lstStyle/>
          <a:p>
            <a:pPr marL="425894" marR="6774" indent="-426742" defTabSz="1219260">
              <a:lnSpc>
                <a:spcPts val="2106"/>
              </a:lnSpc>
              <a:spcBef>
                <a:spcPts val="314"/>
              </a:spcBef>
              <a:defRPr/>
            </a:pPr>
            <a:r>
              <a:rPr lang="en-US" sz="1866" b="1" kern="0">
                <a:solidFill>
                  <a:srgbClr val="FFFFFF"/>
                </a:solidFill>
                <a:latin typeface="Arial"/>
                <a:cs typeface="Arial"/>
              </a:rPr>
              <a:t>Prioritization</a:t>
            </a:r>
            <a:r>
              <a:rPr lang="en-US" sz="1866" b="1" kern="0" spc="-114">
                <a:solidFill>
                  <a:srgbClr val="FFFFFF"/>
                </a:solidFill>
                <a:latin typeface="Arial"/>
                <a:cs typeface="Arial"/>
              </a:rPr>
              <a:t> </a:t>
            </a:r>
            <a:r>
              <a:rPr lang="en-US" sz="1866" b="1" kern="0" spc="-34">
                <a:solidFill>
                  <a:srgbClr val="FFFFFF"/>
                </a:solidFill>
                <a:latin typeface="Arial"/>
                <a:cs typeface="Arial"/>
              </a:rPr>
              <a:t>and </a:t>
            </a:r>
            <a:r>
              <a:rPr lang="en-US" sz="1866" b="1" kern="0" spc="-14">
                <a:solidFill>
                  <a:srgbClr val="FFFFFF"/>
                </a:solidFill>
                <a:latin typeface="Arial"/>
                <a:cs typeface="Arial"/>
              </a:rPr>
              <a:t>Roadmap</a:t>
            </a:r>
            <a:endParaRPr lang="en-US" sz="1866" kern="0">
              <a:solidFill>
                <a:sysClr val="windowText" lastClr="000000"/>
              </a:solidFill>
              <a:latin typeface="Arial"/>
              <a:cs typeface="Arial"/>
            </a:endParaRPr>
          </a:p>
        </p:txBody>
      </p:sp>
      <p:sp>
        <p:nvSpPr>
          <p:cNvPr id="1048" name="object 98">
            <a:extLst>
              <a:ext uri="{FF2B5EF4-FFF2-40B4-BE49-F238E27FC236}">
                <a16:creationId xmlns:a16="http://schemas.microsoft.com/office/drawing/2014/main" id="{54AB3FE7-A1D1-10BD-CD3E-8098225DCB2D}"/>
              </a:ext>
            </a:extLst>
          </p:cNvPr>
          <p:cNvSpPr/>
          <p:nvPr/>
        </p:nvSpPr>
        <p:spPr>
          <a:xfrm>
            <a:off x="4479598" y="7154252"/>
            <a:ext cx="2865120" cy="853440"/>
          </a:xfrm>
          <a:custGeom>
            <a:avLst/>
            <a:gdLst/>
            <a:ahLst/>
            <a:cxnLst/>
            <a:rect l="l" t="t" r="r" b="b"/>
            <a:pathLst>
              <a:path w="2148840" h="640079">
                <a:moveTo>
                  <a:pt x="2042157" y="0"/>
                </a:moveTo>
                <a:lnTo>
                  <a:pt x="106682" y="0"/>
                </a:lnTo>
                <a:lnTo>
                  <a:pt x="65156" y="8383"/>
                </a:lnTo>
                <a:lnTo>
                  <a:pt x="31246" y="31247"/>
                </a:lnTo>
                <a:lnTo>
                  <a:pt x="8383" y="65157"/>
                </a:lnTo>
                <a:lnTo>
                  <a:pt x="0" y="106683"/>
                </a:lnTo>
                <a:lnTo>
                  <a:pt x="0" y="533397"/>
                </a:lnTo>
                <a:lnTo>
                  <a:pt x="8383" y="574923"/>
                </a:lnTo>
                <a:lnTo>
                  <a:pt x="31246" y="608833"/>
                </a:lnTo>
                <a:lnTo>
                  <a:pt x="65156" y="631696"/>
                </a:lnTo>
                <a:lnTo>
                  <a:pt x="106682" y="640079"/>
                </a:lnTo>
                <a:lnTo>
                  <a:pt x="2042157" y="640079"/>
                </a:lnTo>
                <a:lnTo>
                  <a:pt x="2083683" y="631696"/>
                </a:lnTo>
                <a:lnTo>
                  <a:pt x="2117593" y="608833"/>
                </a:lnTo>
                <a:lnTo>
                  <a:pt x="2140456" y="574923"/>
                </a:lnTo>
                <a:lnTo>
                  <a:pt x="2148840" y="533397"/>
                </a:lnTo>
                <a:lnTo>
                  <a:pt x="2148840" y="106683"/>
                </a:lnTo>
                <a:lnTo>
                  <a:pt x="2140456" y="65157"/>
                </a:lnTo>
                <a:lnTo>
                  <a:pt x="2117593" y="31247"/>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49" name="object 99">
            <a:extLst>
              <a:ext uri="{FF2B5EF4-FFF2-40B4-BE49-F238E27FC236}">
                <a16:creationId xmlns:a16="http://schemas.microsoft.com/office/drawing/2014/main" id="{5F212136-68EE-8013-4C6F-D5CE014F85B1}"/>
              </a:ext>
            </a:extLst>
          </p:cNvPr>
          <p:cNvSpPr txBox="1"/>
          <p:nvPr/>
        </p:nvSpPr>
        <p:spPr>
          <a:xfrm>
            <a:off x="4989335" y="7281418"/>
            <a:ext cx="1863514" cy="578792"/>
          </a:xfrm>
          <a:prstGeom prst="rect">
            <a:avLst/>
          </a:prstGeom>
        </p:spPr>
        <p:txBody>
          <a:bodyPr vert="horz" wrap="square" lIns="0" tIns="39794" rIns="0" bIns="0" rtlCol="0">
            <a:spAutoFit/>
          </a:bodyPr>
          <a:lstStyle/>
          <a:p>
            <a:pPr marL="69428" marR="6774" indent="-70276" defTabSz="1219260">
              <a:lnSpc>
                <a:spcPts val="2106"/>
              </a:lnSpc>
              <a:spcBef>
                <a:spcPts val="314"/>
              </a:spcBef>
              <a:defRPr/>
            </a:pPr>
            <a:r>
              <a:rPr lang="en-US" sz="1866" b="1" kern="0">
                <a:solidFill>
                  <a:srgbClr val="FFFFFF"/>
                </a:solidFill>
                <a:latin typeface="Arial"/>
                <a:cs typeface="Arial"/>
              </a:rPr>
              <a:t>Functional</a:t>
            </a:r>
            <a:r>
              <a:rPr lang="en-US" sz="1866" b="1" kern="0" spc="-100">
                <a:solidFill>
                  <a:srgbClr val="FFFFFF"/>
                </a:solidFill>
                <a:latin typeface="Arial"/>
                <a:cs typeface="Arial"/>
              </a:rPr>
              <a:t> </a:t>
            </a:r>
            <a:r>
              <a:rPr lang="en-US" sz="1866" b="1" kern="0" spc="-26">
                <a:solidFill>
                  <a:srgbClr val="FFFFFF"/>
                </a:solidFill>
                <a:latin typeface="Arial"/>
                <a:cs typeface="Arial"/>
              </a:rPr>
              <a:t>Work </a:t>
            </a:r>
            <a:r>
              <a:rPr lang="en-US" sz="1866" b="1" kern="0" spc="-14">
                <a:solidFill>
                  <a:srgbClr val="FFFFFF"/>
                </a:solidFill>
                <a:latin typeface="Arial"/>
                <a:cs typeface="Arial"/>
              </a:rPr>
              <a:t>Decomposition</a:t>
            </a:r>
            <a:endParaRPr lang="en-US" sz="1866" kern="0">
              <a:solidFill>
                <a:sysClr val="windowText" lastClr="000000"/>
              </a:solidFill>
              <a:latin typeface="Arial"/>
              <a:cs typeface="Arial"/>
            </a:endParaRPr>
          </a:p>
        </p:txBody>
      </p:sp>
      <p:sp>
        <p:nvSpPr>
          <p:cNvPr id="1050" name="object 100">
            <a:extLst>
              <a:ext uri="{FF2B5EF4-FFF2-40B4-BE49-F238E27FC236}">
                <a16:creationId xmlns:a16="http://schemas.microsoft.com/office/drawing/2014/main" id="{3ADB673A-1478-756C-31C9-1F60DE8E841B}"/>
              </a:ext>
            </a:extLst>
          </p:cNvPr>
          <p:cNvSpPr/>
          <p:nvPr/>
        </p:nvSpPr>
        <p:spPr>
          <a:xfrm>
            <a:off x="1299752" y="5319000"/>
            <a:ext cx="2865120" cy="853440"/>
          </a:xfrm>
          <a:custGeom>
            <a:avLst/>
            <a:gdLst/>
            <a:ahLst/>
            <a:cxnLst/>
            <a:rect l="l" t="t" r="r" b="b"/>
            <a:pathLst>
              <a:path w="2148840" h="640079">
                <a:moveTo>
                  <a:pt x="2042157" y="0"/>
                </a:moveTo>
                <a:lnTo>
                  <a:pt x="106682" y="0"/>
                </a:lnTo>
                <a:lnTo>
                  <a:pt x="65157" y="8383"/>
                </a:lnTo>
                <a:lnTo>
                  <a:pt x="31246" y="31246"/>
                </a:lnTo>
                <a:lnTo>
                  <a:pt x="8383" y="65156"/>
                </a:lnTo>
                <a:lnTo>
                  <a:pt x="0" y="106682"/>
                </a:lnTo>
                <a:lnTo>
                  <a:pt x="0" y="533397"/>
                </a:lnTo>
                <a:lnTo>
                  <a:pt x="8383" y="574923"/>
                </a:lnTo>
                <a:lnTo>
                  <a:pt x="31246" y="608833"/>
                </a:lnTo>
                <a:lnTo>
                  <a:pt x="65157" y="631696"/>
                </a:lnTo>
                <a:lnTo>
                  <a:pt x="106682" y="640080"/>
                </a:lnTo>
                <a:lnTo>
                  <a:pt x="2042157" y="640080"/>
                </a:lnTo>
                <a:lnTo>
                  <a:pt x="2083682" y="631696"/>
                </a:lnTo>
                <a:lnTo>
                  <a:pt x="2117593" y="608833"/>
                </a:lnTo>
                <a:lnTo>
                  <a:pt x="2140456" y="574923"/>
                </a:lnTo>
                <a:lnTo>
                  <a:pt x="2148839" y="533397"/>
                </a:lnTo>
                <a:lnTo>
                  <a:pt x="2148839" y="106682"/>
                </a:lnTo>
                <a:lnTo>
                  <a:pt x="2140456" y="65156"/>
                </a:lnTo>
                <a:lnTo>
                  <a:pt x="2117593" y="31246"/>
                </a:lnTo>
                <a:lnTo>
                  <a:pt x="2083682"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51" name="object 101">
            <a:extLst>
              <a:ext uri="{FF2B5EF4-FFF2-40B4-BE49-F238E27FC236}">
                <a16:creationId xmlns:a16="http://schemas.microsoft.com/office/drawing/2014/main" id="{D7BD4CB1-7D12-E384-3CF3-E49766D1241C}"/>
              </a:ext>
            </a:extLst>
          </p:cNvPr>
          <p:cNvSpPr txBox="1"/>
          <p:nvPr/>
        </p:nvSpPr>
        <p:spPr>
          <a:xfrm>
            <a:off x="1436023" y="4478612"/>
            <a:ext cx="2610274" cy="1551707"/>
          </a:xfrm>
          <a:prstGeom prst="rect">
            <a:avLst/>
          </a:prstGeom>
        </p:spPr>
        <p:txBody>
          <a:bodyPr vert="horz" wrap="square" lIns="0" tIns="38100" rIns="0" bIns="0" rtlCol="0">
            <a:spAutoFit/>
          </a:bodyPr>
          <a:lstStyle/>
          <a:p>
            <a:pPr marL="400494" marR="403880" algn="ctr" defTabSz="1219260">
              <a:lnSpc>
                <a:spcPts val="2786"/>
              </a:lnSpc>
              <a:spcBef>
                <a:spcPts val="300"/>
              </a:spcBef>
              <a:defRPr/>
            </a:pPr>
            <a:r>
              <a:rPr lang="en-US" sz="2400" b="1" kern="0" spc="-14">
                <a:solidFill>
                  <a:sysClr val="windowText" lastClr="000000"/>
                </a:solidFill>
                <a:latin typeface="Arial"/>
                <a:cs typeface="Arial"/>
              </a:rPr>
              <a:t>Architecture Alignment</a:t>
            </a:r>
            <a:endParaRPr lang="en-US" sz="2400" kern="0">
              <a:solidFill>
                <a:sysClr val="windowText" lastClr="000000"/>
              </a:solidFill>
              <a:latin typeface="Arial"/>
              <a:cs typeface="Arial"/>
            </a:endParaRPr>
          </a:p>
          <a:p>
            <a:pPr marR="6774" algn="ctr" defTabSz="1219260">
              <a:lnSpc>
                <a:spcPts val="2146"/>
              </a:lnSpc>
              <a:spcBef>
                <a:spcPts val="2014"/>
              </a:spcBef>
              <a:defRPr/>
            </a:pPr>
            <a:r>
              <a:rPr lang="en-US" sz="1866" b="1" kern="0">
                <a:solidFill>
                  <a:srgbClr val="FFFFFF"/>
                </a:solidFill>
                <a:latin typeface="Arial"/>
                <a:cs typeface="Arial"/>
              </a:rPr>
              <a:t>Reference</a:t>
            </a:r>
            <a:r>
              <a:rPr lang="en-US" sz="1866" b="1" kern="0" spc="-134">
                <a:solidFill>
                  <a:srgbClr val="FFFFFF"/>
                </a:solidFill>
                <a:latin typeface="Arial"/>
                <a:cs typeface="Arial"/>
              </a:rPr>
              <a:t> </a:t>
            </a:r>
            <a:r>
              <a:rPr lang="en-US" sz="1866" b="1" kern="0" spc="-14">
                <a:solidFill>
                  <a:srgbClr val="FFFFFF"/>
                </a:solidFill>
                <a:latin typeface="Arial"/>
                <a:cs typeface="Arial"/>
              </a:rPr>
              <a:t>Architecture Alignment</a:t>
            </a:r>
            <a:endParaRPr lang="en-US" sz="1866" kern="0">
              <a:solidFill>
                <a:sysClr val="windowText" lastClr="000000"/>
              </a:solidFill>
              <a:latin typeface="Arial"/>
              <a:cs typeface="Arial"/>
            </a:endParaRPr>
          </a:p>
        </p:txBody>
      </p:sp>
      <p:sp>
        <p:nvSpPr>
          <p:cNvPr id="1052" name="object 102">
            <a:extLst>
              <a:ext uri="{FF2B5EF4-FFF2-40B4-BE49-F238E27FC236}">
                <a16:creationId xmlns:a16="http://schemas.microsoft.com/office/drawing/2014/main" id="{29E38EAF-B42D-C50A-5A95-E626F89C4EA4}"/>
              </a:ext>
            </a:extLst>
          </p:cNvPr>
          <p:cNvSpPr/>
          <p:nvPr/>
        </p:nvSpPr>
        <p:spPr>
          <a:xfrm>
            <a:off x="1299752" y="6231796"/>
            <a:ext cx="2865120" cy="853440"/>
          </a:xfrm>
          <a:custGeom>
            <a:avLst/>
            <a:gdLst/>
            <a:ahLst/>
            <a:cxnLst/>
            <a:rect l="l" t="t" r="r" b="b"/>
            <a:pathLst>
              <a:path w="2148840" h="640079">
                <a:moveTo>
                  <a:pt x="2042157" y="0"/>
                </a:moveTo>
                <a:lnTo>
                  <a:pt x="106682" y="0"/>
                </a:lnTo>
                <a:lnTo>
                  <a:pt x="65157" y="8383"/>
                </a:lnTo>
                <a:lnTo>
                  <a:pt x="31246" y="31246"/>
                </a:lnTo>
                <a:lnTo>
                  <a:pt x="8383" y="65156"/>
                </a:lnTo>
                <a:lnTo>
                  <a:pt x="0" y="106682"/>
                </a:lnTo>
                <a:lnTo>
                  <a:pt x="0" y="533396"/>
                </a:lnTo>
                <a:lnTo>
                  <a:pt x="8383" y="574922"/>
                </a:lnTo>
                <a:lnTo>
                  <a:pt x="31246" y="608833"/>
                </a:lnTo>
                <a:lnTo>
                  <a:pt x="65157" y="631696"/>
                </a:lnTo>
                <a:lnTo>
                  <a:pt x="106682" y="640080"/>
                </a:lnTo>
                <a:lnTo>
                  <a:pt x="2042157" y="640080"/>
                </a:lnTo>
                <a:lnTo>
                  <a:pt x="2083682" y="631696"/>
                </a:lnTo>
                <a:lnTo>
                  <a:pt x="2117593" y="608833"/>
                </a:lnTo>
                <a:lnTo>
                  <a:pt x="2140456" y="574922"/>
                </a:lnTo>
                <a:lnTo>
                  <a:pt x="2148839" y="533396"/>
                </a:lnTo>
                <a:lnTo>
                  <a:pt x="2148839" y="106682"/>
                </a:lnTo>
                <a:lnTo>
                  <a:pt x="2140456" y="65156"/>
                </a:lnTo>
                <a:lnTo>
                  <a:pt x="2117593" y="31246"/>
                </a:lnTo>
                <a:lnTo>
                  <a:pt x="2083682"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53" name="object 103">
            <a:extLst>
              <a:ext uri="{FF2B5EF4-FFF2-40B4-BE49-F238E27FC236}">
                <a16:creationId xmlns:a16="http://schemas.microsoft.com/office/drawing/2014/main" id="{59F7B96A-2947-891E-015B-C9EEBDF35A6D}"/>
              </a:ext>
            </a:extLst>
          </p:cNvPr>
          <p:cNvSpPr txBox="1"/>
          <p:nvPr/>
        </p:nvSpPr>
        <p:spPr>
          <a:xfrm>
            <a:off x="1870150" y="6358890"/>
            <a:ext cx="1742440" cy="578792"/>
          </a:xfrm>
          <a:prstGeom prst="rect">
            <a:avLst/>
          </a:prstGeom>
        </p:spPr>
        <p:txBody>
          <a:bodyPr vert="horz" wrap="square" lIns="0" tIns="39794" rIns="0" bIns="0" rtlCol="0">
            <a:spAutoFit/>
          </a:bodyPr>
          <a:lstStyle/>
          <a:p>
            <a:pPr marL="8468" marR="6774" indent="-9314" defTabSz="1219260">
              <a:lnSpc>
                <a:spcPts val="2106"/>
              </a:lnSpc>
              <a:spcBef>
                <a:spcPts val="314"/>
              </a:spcBef>
              <a:defRPr/>
            </a:pPr>
            <a:r>
              <a:rPr lang="en-US" sz="1866" b="1" kern="0" spc="-14">
                <a:solidFill>
                  <a:srgbClr val="FFFFFF"/>
                </a:solidFill>
                <a:latin typeface="Arial"/>
                <a:cs typeface="Arial"/>
              </a:rPr>
              <a:t>Technical</a:t>
            </a:r>
            <a:r>
              <a:rPr lang="en-US" sz="1866" b="1" kern="0" spc="-106">
                <a:solidFill>
                  <a:srgbClr val="FFFFFF"/>
                </a:solidFill>
                <a:latin typeface="Arial"/>
                <a:cs typeface="Arial"/>
              </a:rPr>
              <a:t> </a:t>
            </a:r>
            <a:r>
              <a:rPr lang="en-US" sz="1866" b="1" kern="0" spc="-26">
                <a:solidFill>
                  <a:srgbClr val="FFFFFF"/>
                </a:solidFill>
                <a:latin typeface="Arial"/>
                <a:cs typeface="Arial"/>
              </a:rPr>
              <a:t>Work </a:t>
            </a:r>
            <a:r>
              <a:rPr lang="en-US" sz="1866" b="1" kern="0" spc="-14">
                <a:solidFill>
                  <a:srgbClr val="FFFFFF"/>
                </a:solidFill>
                <a:latin typeface="Arial"/>
                <a:cs typeface="Arial"/>
              </a:rPr>
              <a:t>Decomposition</a:t>
            </a:r>
            <a:endParaRPr lang="en-US" sz="1866" kern="0">
              <a:solidFill>
                <a:sysClr val="windowText" lastClr="000000"/>
              </a:solidFill>
              <a:latin typeface="Arial"/>
              <a:cs typeface="Arial"/>
            </a:endParaRPr>
          </a:p>
        </p:txBody>
      </p:sp>
      <p:sp>
        <p:nvSpPr>
          <p:cNvPr id="1054" name="object 104">
            <a:extLst>
              <a:ext uri="{FF2B5EF4-FFF2-40B4-BE49-F238E27FC236}">
                <a16:creationId xmlns:a16="http://schemas.microsoft.com/office/drawing/2014/main" id="{77A3A827-ACC3-E452-98EB-7C234611AB92}"/>
              </a:ext>
            </a:extLst>
          </p:cNvPr>
          <p:cNvSpPr/>
          <p:nvPr/>
        </p:nvSpPr>
        <p:spPr>
          <a:xfrm>
            <a:off x="1299752" y="7154252"/>
            <a:ext cx="2865120" cy="853440"/>
          </a:xfrm>
          <a:custGeom>
            <a:avLst/>
            <a:gdLst/>
            <a:ahLst/>
            <a:cxnLst/>
            <a:rect l="l" t="t" r="r" b="b"/>
            <a:pathLst>
              <a:path w="2148840" h="640079">
                <a:moveTo>
                  <a:pt x="2042157" y="0"/>
                </a:moveTo>
                <a:lnTo>
                  <a:pt x="106682" y="0"/>
                </a:lnTo>
                <a:lnTo>
                  <a:pt x="65157" y="8383"/>
                </a:lnTo>
                <a:lnTo>
                  <a:pt x="31246" y="31247"/>
                </a:lnTo>
                <a:lnTo>
                  <a:pt x="8383" y="65157"/>
                </a:lnTo>
                <a:lnTo>
                  <a:pt x="0" y="106683"/>
                </a:lnTo>
                <a:lnTo>
                  <a:pt x="0" y="533397"/>
                </a:lnTo>
                <a:lnTo>
                  <a:pt x="8383" y="574923"/>
                </a:lnTo>
                <a:lnTo>
                  <a:pt x="31246" y="608833"/>
                </a:lnTo>
                <a:lnTo>
                  <a:pt x="65157" y="631696"/>
                </a:lnTo>
                <a:lnTo>
                  <a:pt x="106682" y="640079"/>
                </a:lnTo>
                <a:lnTo>
                  <a:pt x="2042157" y="640079"/>
                </a:lnTo>
                <a:lnTo>
                  <a:pt x="2083682" y="631696"/>
                </a:lnTo>
                <a:lnTo>
                  <a:pt x="2117593" y="608833"/>
                </a:lnTo>
                <a:lnTo>
                  <a:pt x="2140456" y="574923"/>
                </a:lnTo>
                <a:lnTo>
                  <a:pt x="2148839" y="533397"/>
                </a:lnTo>
                <a:lnTo>
                  <a:pt x="2148839" y="106683"/>
                </a:lnTo>
                <a:lnTo>
                  <a:pt x="2140456" y="65157"/>
                </a:lnTo>
                <a:lnTo>
                  <a:pt x="2117593" y="31247"/>
                </a:lnTo>
                <a:lnTo>
                  <a:pt x="2083682"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55" name="object 105">
            <a:extLst>
              <a:ext uri="{FF2B5EF4-FFF2-40B4-BE49-F238E27FC236}">
                <a16:creationId xmlns:a16="http://schemas.microsoft.com/office/drawing/2014/main" id="{CE225C5F-C2C4-7072-612E-05E9A7C6119D}"/>
              </a:ext>
            </a:extLst>
          </p:cNvPr>
          <p:cNvSpPr txBox="1"/>
          <p:nvPr/>
        </p:nvSpPr>
        <p:spPr>
          <a:xfrm>
            <a:off x="2049689" y="7281418"/>
            <a:ext cx="1382606" cy="578792"/>
          </a:xfrm>
          <a:prstGeom prst="rect">
            <a:avLst/>
          </a:prstGeom>
        </p:spPr>
        <p:txBody>
          <a:bodyPr vert="horz" wrap="square" lIns="0" tIns="39794" rIns="0" bIns="0" rtlCol="0">
            <a:spAutoFit/>
          </a:bodyPr>
          <a:lstStyle/>
          <a:p>
            <a:pPr marL="229458" marR="6774" indent="-230304" defTabSz="1219260">
              <a:lnSpc>
                <a:spcPts val="2106"/>
              </a:lnSpc>
              <a:spcBef>
                <a:spcPts val="314"/>
              </a:spcBef>
              <a:defRPr/>
            </a:pPr>
            <a:r>
              <a:rPr lang="en-US" sz="1866" b="1" kern="0" spc="-14">
                <a:solidFill>
                  <a:srgbClr val="FFFFFF"/>
                </a:solidFill>
                <a:latin typeface="Arial"/>
                <a:cs typeface="Arial"/>
              </a:rPr>
              <a:t>Engineering Support</a:t>
            </a:r>
            <a:endParaRPr lang="en-US" sz="1866" kern="0">
              <a:solidFill>
                <a:sysClr val="windowText" lastClr="000000"/>
              </a:solidFill>
              <a:latin typeface="Arial"/>
              <a:cs typeface="Arial"/>
            </a:endParaRPr>
          </a:p>
        </p:txBody>
      </p:sp>
      <p:sp>
        <p:nvSpPr>
          <p:cNvPr id="1056" name="object 110">
            <a:extLst>
              <a:ext uri="{FF2B5EF4-FFF2-40B4-BE49-F238E27FC236}">
                <a16:creationId xmlns:a16="http://schemas.microsoft.com/office/drawing/2014/main" id="{B8C735B5-001D-0E08-E012-1769F1A21F1D}"/>
              </a:ext>
            </a:extLst>
          </p:cNvPr>
          <p:cNvSpPr/>
          <p:nvPr/>
        </p:nvSpPr>
        <p:spPr>
          <a:xfrm>
            <a:off x="4475812" y="11911056"/>
            <a:ext cx="2865120" cy="853440"/>
          </a:xfrm>
          <a:custGeom>
            <a:avLst/>
            <a:gdLst/>
            <a:ahLst/>
            <a:cxnLst/>
            <a:rect l="l" t="t" r="r" b="b"/>
            <a:pathLst>
              <a:path w="2148840" h="640079">
                <a:moveTo>
                  <a:pt x="2042157" y="0"/>
                </a:moveTo>
                <a:lnTo>
                  <a:pt x="106682" y="0"/>
                </a:lnTo>
                <a:lnTo>
                  <a:pt x="65156" y="8383"/>
                </a:lnTo>
                <a:lnTo>
                  <a:pt x="31246" y="31246"/>
                </a:lnTo>
                <a:lnTo>
                  <a:pt x="8383" y="65156"/>
                </a:lnTo>
                <a:lnTo>
                  <a:pt x="0" y="106682"/>
                </a:lnTo>
                <a:lnTo>
                  <a:pt x="0" y="533396"/>
                </a:lnTo>
                <a:lnTo>
                  <a:pt x="8383" y="574922"/>
                </a:lnTo>
                <a:lnTo>
                  <a:pt x="31246" y="608832"/>
                </a:lnTo>
                <a:lnTo>
                  <a:pt x="65156" y="631696"/>
                </a:lnTo>
                <a:lnTo>
                  <a:pt x="106682" y="640079"/>
                </a:lnTo>
                <a:lnTo>
                  <a:pt x="2042157" y="640079"/>
                </a:lnTo>
                <a:lnTo>
                  <a:pt x="2083683" y="631696"/>
                </a:lnTo>
                <a:lnTo>
                  <a:pt x="2117593" y="608832"/>
                </a:lnTo>
                <a:lnTo>
                  <a:pt x="2140456" y="574922"/>
                </a:lnTo>
                <a:lnTo>
                  <a:pt x="2148840" y="533396"/>
                </a:lnTo>
                <a:lnTo>
                  <a:pt x="2148840" y="106682"/>
                </a:lnTo>
                <a:lnTo>
                  <a:pt x="2140456" y="65156"/>
                </a:lnTo>
                <a:lnTo>
                  <a:pt x="2117593" y="31246"/>
                </a:lnTo>
                <a:lnTo>
                  <a:pt x="2083683" y="8383"/>
                </a:lnTo>
                <a:lnTo>
                  <a:pt x="2042157"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57" name="object 111">
            <a:extLst>
              <a:ext uri="{FF2B5EF4-FFF2-40B4-BE49-F238E27FC236}">
                <a16:creationId xmlns:a16="http://schemas.microsoft.com/office/drawing/2014/main" id="{F8C40F53-962C-58DA-F3B8-699699AE6171}"/>
              </a:ext>
            </a:extLst>
          </p:cNvPr>
          <p:cNvSpPr txBox="1"/>
          <p:nvPr/>
        </p:nvSpPr>
        <p:spPr>
          <a:xfrm>
            <a:off x="5298773" y="12036298"/>
            <a:ext cx="1237826" cy="574516"/>
          </a:xfrm>
          <a:prstGeom prst="rect">
            <a:avLst/>
          </a:prstGeom>
        </p:spPr>
        <p:txBody>
          <a:bodyPr vert="horz" wrap="square" lIns="0" tIns="35560" rIns="0" bIns="0" rtlCol="0">
            <a:spAutoFit/>
          </a:bodyPr>
          <a:lstStyle/>
          <a:p>
            <a:pPr marR="6774" indent="149868" defTabSz="1219260">
              <a:lnSpc>
                <a:spcPts val="2146"/>
              </a:lnSpc>
              <a:spcBef>
                <a:spcPts val="280"/>
              </a:spcBef>
              <a:defRPr/>
            </a:pPr>
            <a:r>
              <a:rPr lang="en-US" sz="1866" b="1" kern="0" spc="-14">
                <a:solidFill>
                  <a:srgbClr val="FFFFFF"/>
                </a:solidFill>
                <a:latin typeface="Arial"/>
                <a:cs typeface="Arial"/>
              </a:rPr>
              <a:t>Training Integration</a:t>
            </a:r>
            <a:endParaRPr lang="en-US" sz="1866" kern="0">
              <a:solidFill>
                <a:sysClr val="windowText" lastClr="000000"/>
              </a:solidFill>
              <a:latin typeface="Arial"/>
              <a:cs typeface="Arial"/>
            </a:endParaRPr>
          </a:p>
        </p:txBody>
      </p:sp>
      <p:sp>
        <p:nvSpPr>
          <p:cNvPr id="1058" name="object 112">
            <a:extLst>
              <a:ext uri="{FF2B5EF4-FFF2-40B4-BE49-F238E27FC236}">
                <a16:creationId xmlns:a16="http://schemas.microsoft.com/office/drawing/2014/main" id="{48ADE3F0-9176-5EFB-6F0E-2352BF04F350}"/>
              </a:ext>
            </a:extLst>
          </p:cNvPr>
          <p:cNvSpPr/>
          <p:nvPr/>
        </p:nvSpPr>
        <p:spPr>
          <a:xfrm>
            <a:off x="7646430" y="10980596"/>
            <a:ext cx="2865120" cy="853440"/>
          </a:xfrm>
          <a:custGeom>
            <a:avLst/>
            <a:gdLst/>
            <a:ahLst/>
            <a:cxnLst/>
            <a:rect l="l" t="t" r="r" b="b"/>
            <a:pathLst>
              <a:path w="2148840" h="640079">
                <a:moveTo>
                  <a:pt x="2042156" y="0"/>
                </a:moveTo>
                <a:lnTo>
                  <a:pt x="106682" y="0"/>
                </a:lnTo>
                <a:lnTo>
                  <a:pt x="65156" y="8383"/>
                </a:lnTo>
                <a:lnTo>
                  <a:pt x="31246" y="31246"/>
                </a:lnTo>
                <a:lnTo>
                  <a:pt x="8383" y="65156"/>
                </a:lnTo>
                <a:lnTo>
                  <a:pt x="0" y="106682"/>
                </a:lnTo>
                <a:lnTo>
                  <a:pt x="0" y="533396"/>
                </a:lnTo>
                <a:lnTo>
                  <a:pt x="8383" y="574922"/>
                </a:lnTo>
                <a:lnTo>
                  <a:pt x="31246" y="608833"/>
                </a:lnTo>
                <a:lnTo>
                  <a:pt x="65156" y="631696"/>
                </a:lnTo>
                <a:lnTo>
                  <a:pt x="106682" y="640079"/>
                </a:lnTo>
                <a:lnTo>
                  <a:pt x="2042156" y="640079"/>
                </a:lnTo>
                <a:lnTo>
                  <a:pt x="2083682" y="631696"/>
                </a:lnTo>
                <a:lnTo>
                  <a:pt x="2117593" y="608833"/>
                </a:lnTo>
                <a:lnTo>
                  <a:pt x="2140456" y="574922"/>
                </a:lnTo>
                <a:lnTo>
                  <a:pt x="2148840" y="533396"/>
                </a:lnTo>
                <a:lnTo>
                  <a:pt x="2148840" y="106682"/>
                </a:lnTo>
                <a:lnTo>
                  <a:pt x="2140456" y="65156"/>
                </a:lnTo>
                <a:lnTo>
                  <a:pt x="2117593" y="31246"/>
                </a:lnTo>
                <a:lnTo>
                  <a:pt x="2083682" y="8383"/>
                </a:lnTo>
                <a:lnTo>
                  <a:pt x="2042156" y="0"/>
                </a:lnTo>
                <a:close/>
              </a:path>
            </a:pathLst>
          </a:custGeom>
          <a:solidFill>
            <a:srgbClr val="304CB2"/>
          </a:solidFill>
        </p:spPr>
        <p:txBody>
          <a:bodyPr wrap="square" lIns="0" tIns="0" rIns="0" bIns="0" rtlCol="0"/>
          <a:lstStyle/>
          <a:p>
            <a:pPr defTabSz="1219260">
              <a:defRPr/>
            </a:pPr>
            <a:endParaRPr lang="en-US" sz="2400" kern="0">
              <a:solidFill>
                <a:sysClr val="windowText" lastClr="000000"/>
              </a:solidFill>
              <a:latin typeface="Arial"/>
            </a:endParaRPr>
          </a:p>
        </p:txBody>
      </p:sp>
      <p:sp>
        <p:nvSpPr>
          <p:cNvPr id="1059" name="object 113">
            <a:extLst>
              <a:ext uri="{FF2B5EF4-FFF2-40B4-BE49-F238E27FC236}">
                <a16:creationId xmlns:a16="http://schemas.microsoft.com/office/drawing/2014/main" id="{8CF3EA42-82DB-0911-8CE0-00ADCAFD63F3}"/>
              </a:ext>
            </a:extLst>
          </p:cNvPr>
          <p:cNvSpPr txBox="1"/>
          <p:nvPr/>
        </p:nvSpPr>
        <p:spPr>
          <a:xfrm>
            <a:off x="8258781" y="11105645"/>
            <a:ext cx="1657774" cy="574516"/>
          </a:xfrm>
          <a:prstGeom prst="rect">
            <a:avLst/>
          </a:prstGeom>
        </p:spPr>
        <p:txBody>
          <a:bodyPr vert="horz" wrap="square" lIns="0" tIns="35560" rIns="0" bIns="0" rtlCol="0">
            <a:spAutoFit/>
          </a:bodyPr>
          <a:lstStyle/>
          <a:p>
            <a:pPr marL="242158" marR="6774" indent="-243006" defTabSz="1219260">
              <a:lnSpc>
                <a:spcPts val="2146"/>
              </a:lnSpc>
              <a:spcBef>
                <a:spcPts val="280"/>
              </a:spcBef>
              <a:defRPr/>
            </a:pPr>
            <a:r>
              <a:rPr lang="en-US" sz="1866" b="1" kern="0" spc="-14" err="1">
                <a:solidFill>
                  <a:srgbClr val="FFFFFF"/>
                </a:solidFill>
                <a:latin typeface="Arial"/>
                <a:cs typeface="Arial"/>
              </a:rPr>
              <a:t>Organisational</a:t>
            </a:r>
            <a:r>
              <a:rPr lang="en-US" sz="1866" b="1" kern="0" spc="-14">
                <a:solidFill>
                  <a:srgbClr val="FFFFFF"/>
                </a:solidFill>
                <a:latin typeface="Arial"/>
                <a:cs typeface="Arial"/>
              </a:rPr>
              <a:t> Alignment</a:t>
            </a:r>
            <a:endParaRPr lang="en-US" sz="1866" kern="0">
              <a:solidFill>
                <a:sysClr val="windowText" lastClr="000000"/>
              </a:solidFill>
              <a:latin typeface="Arial"/>
              <a:cs typeface="Arial"/>
            </a:endParaRPr>
          </a:p>
        </p:txBody>
      </p:sp>
      <p:sp>
        <p:nvSpPr>
          <p:cNvPr id="1060" name="Oval 1059">
            <a:extLst>
              <a:ext uri="{FF2B5EF4-FFF2-40B4-BE49-F238E27FC236}">
                <a16:creationId xmlns:a16="http://schemas.microsoft.com/office/drawing/2014/main" id="{911D8927-3807-A99A-BCDE-4D44F7D97701}"/>
              </a:ext>
            </a:extLst>
          </p:cNvPr>
          <p:cNvSpPr/>
          <p:nvPr/>
        </p:nvSpPr>
        <p:spPr>
          <a:xfrm>
            <a:off x="974988" y="3624204"/>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61" name="TextBox 1060">
            <a:extLst>
              <a:ext uri="{FF2B5EF4-FFF2-40B4-BE49-F238E27FC236}">
                <a16:creationId xmlns:a16="http://schemas.microsoft.com/office/drawing/2014/main" id="{F9FD152B-0BE3-8F8B-5C42-0E036A452DBE}"/>
              </a:ext>
            </a:extLst>
          </p:cNvPr>
          <p:cNvSpPr txBox="1"/>
          <p:nvPr/>
        </p:nvSpPr>
        <p:spPr>
          <a:xfrm>
            <a:off x="945955" y="3622947"/>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1</a:t>
            </a:r>
          </a:p>
        </p:txBody>
      </p:sp>
      <p:sp>
        <p:nvSpPr>
          <p:cNvPr id="1062" name="Oval 1061">
            <a:extLst>
              <a:ext uri="{FF2B5EF4-FFF2-40B4-BE49-F238E27FC236}">
                <a16:creationId xmlns:a16="http://schemas.microsoft.com/office/drawing/2014/main" id="{BEFEB5B4-6C97-8727-23FC-463F128FD78F}"/>
              </a:ext>
            </a:extLst>
          </p:cNvPr>
          <p:cNvSpPr/>
          <p:nvPr/>
        </p:nvSpPr>
        <p:spPr>
          <a:xfrm>
            <a:off x="4181302" y="3624202"/>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63" name="Oval 1062">
            <a:extLst>
              <a:ext uri="{FF2B5EF4-FFF2-40B4-BE49-F238E27FC236}">
                <a16:creationId xmlns:a16="http://schemas.microsoft.com/office/drawing/2014/main" id="{F802008C-6AA2-5831-6C50-387041FEB373}"/>
              </a:ext>
            </a:extLst>
          </p:cNvPr>
          <p:cNvSpPr/>
          <p:nvPr/>
        </p:nvSpPr>
        <p:spPr>
          <a:xfrm>
            <a:off x="7256052" y="3617598"/>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64" name="Oval 1063">
            <a:extLst>
              <a:ext uri="{FF2B5EF4-FFF2-40B4-BE49-F238E27FC236}">
                <a16:creationId xmlns:a16="http://schemas.microsoft.com/office/drawing/2014/main" id="{E9B7E1B2-94EC-7689-6181-DF17C804200A}"/>
              </a:ext>
            </a:extLst>
          </p:cNvPr>
          <p:cNvSpPr/>
          <p:nvPr/>
        </p:nvSpPr>
        <p:spPr>
          <a:xfrm>
            <a:off x="10537568" y="3617598"/>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65" name="Oval 1064">
            <a:extLst>
              <a:ext uri="{FF2B5EF4-FFF2-40B4-BE49-F238E27FC236}">
                <a16:creationId xmlns:a16="http://schemas.microsoft.com/office/drawing/2014/main" id="{8E6D965C-9037-DF51-035D-1BFE58215870}"/>
              </a:ext>
            </a:extLst>
          </p:cNvPr>
          <p:cNvSpPr/>
          <p:nvPr/>
        </p:nvSpPr>
        <p:spPr>
          <a:xfrm>
            <a:off x="961076" y="8382126"/>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66" name="Oval 1065">
            <a:extLst>
              <a:ext uri="{FF2B5EF4-FFF2-40B4-BE49-F238E27FC236}">
                <a16:creationId xmlns:a16="http://schemas.microsoft.com/office/drawing/2014/main" id="{A3F85A3D-4017-CB30-D7E4-F4DF8AD75030}"/>
              </a:ext>
            </a:extLst>
          </p:cNvPr>
          <p:cNvSpPr/>
          <p:nvPr/>
        </p:nvSpPr>
        <p:spPr>
          <a:xfrm>
            <a:off x="4176072" y="8388732"/>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67" name="Oval 1066">
            <a:extLst>
              <a:ext uri="{FF2B5EF4-FFF2-40B4-BE49-F238E27FC236}">
                <a16:creationId xmlns:a16="http://schemas.microsoft.com/office/drawing/2014/main" id="{A7DC19F7-CE85-70D1-29A6-4C542633003B}"/>
              </a:ext>
            </a:extLst>
          </p:cNvPr>
          <p:cNvSpPr/>
          <p:nvPr/>
        </p:nvSpPr>
        <p:spPr>
          <a:xfrm>
            <a:off x="7362622" y="8382126"/>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68" name="TextBox 1067">
            <a:extLst>
              <a:ext uri="{FF2B5EF4-FFF2-40B4-BE49-F238E27FC236}">
                <a16:creationId xmlns:a16="http://schemas.microsoft.com/office/drawing/2014/main" id="{8C282224-F125-6864-15BF-60CFC239B36E}"/>
              </a:ext>
            </a:extLst>
          </p:cNvPr>
          <p:cNvSpPr txBox="1"/>
          <p:nvPr/>
        </p:nvSpPr>
        <p:spPr>
          <a:xfrm>
            <a:off x="4132287" y="3622947"/>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2</a:t>
            </a:r>
          </a:p>
        </p:txBody>
      </p:sp>
      <p:sp>
        <p:nvSpPr>
          <p:cNvPr id="1069" name="TextBox 1068">
            <a:extLst>
              <a:ext uri="{FF2B5EF4-FFF2-40B4-BE49-F238E27FC236}">
                <a16:creationId xmlns:a16="http://schemas.microsoft.com/office/drawing/2014/main" id="{8C757864-4ECE-00E0-FE61-6FF15E00E2C9}"/>
              </a:ext>
            </a:extLst>
          </p:cNvPr>
          <p:cNvSpPr txBox="1"/>
          <p:nvPr/>
        </p:nvSpPr>
        <p:spPr>
          <a:xfrm>
            <a:off x="7206349" y="3610915"/>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3</a:t>
            </a:r>
          </a:p>
        </p:txBody>
      </p:sp>
      <p:sp>
        <p:nvSpPr>
          <p:cNvPr id="1070" name="TextBox 1069">
            <a:extLst>
              <a:ext uri="{FF2B5EF4-FFF2-40B4-BE49-F238E27FC236}">
                <a16:creationId xmlns:a16="http://schemas.microsoft.com/office/drawing/2014/main" id="{A2302B04-22C3-0231-ECA8-54B99BB79004}"/>
              </a:ext>
            </a:extLst>
          </p:cNvPr>
          <p:cNvSpPr txBox="1"/>
          <p:nvPr/>
        </p:nvSpPr>
        <p:spPr>
          <a:xfrm>
            <a:off x="10483851" y="3598215"/>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4</a:t>
            </a:r>
          </a:p>
        </p:txBody>
      </p:sp>
      <p:sp>
        <p:nvSpPr>
          <p:cNvPr id="1071" name="TextBox 1070">
            <a:extLst>
              <a:ext uri="{FF2B5EF4-FFF2-40B4-BE49-F238E27FC236}">
                <a16:creationId xmlns:a16="http://schemas.microsoft.com/office/drawing/2014/main" id="{0850F8F3-8EE0-5F5E-DEAE-165A82C56A5C}"/>
              </a:ext>
            </a:extLst>
          </p:cNvPr>
          <p:cNvSpPr txBox="1"/>
          <p:nvPr/>
        </p:nvSpPr>
        <p:spPr>
          <a:xfrm>
            <a:off x="922797" y="8390303"/>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5</a:t>
            </a:r>
          </a:p>
        </p:txBody>
      </p:sp>
      <p:sp>
        <p:nvSpPr>
          <p:cNvPr id="1072" name="TextBox 1071">
            <a:extLst>
              <a:ext uri="{FF2B5EF4-FFF2-40B4-BE49-F238E27FC236}">
                <a16:creationId xmlns:a16="http://schemas.microsoft.com/office/drawing/2014/main" id="{FBB74E39-FDBD-B51A-4B11-1EF8E0275D81}"/>
              </a:ext>
            </a:extLst>
          </p:cNvPr>
          <p:cNvSpPr txBox="1"/>
          <p:nvPr/>
        </p:nvSpPr>
        <p:spPr>
          <a:xfrm>
            <a:off x="4132287" y="8368551"/>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6</a:t>
            </a:r>
          </a:p>
        </p:txBody>
      </p:sp>
      <p:sp>
        <p:nvSpPr>
          <p:cNvPr id="1073" name="Oval 1072">
            <a:extLst>
              <a:ext uri="{FF2B5EF4-FFF2-40B4-BE49-F238E27FC236}">
                <a16:creationId xmlns:a16="http://schemas.microsoft.com/office/drawing/2014/main" id="{D599E4E3-A405-569C-1DA3-D49F8295731B}"/>
              </a:ext>
            </a:extLst>
          </p:cNvPr>
          <p:cNvSpPr/>
          <p:nvPr/>
        </p:nvSpPr>
        <p:spPr>
          <a:xfrm>
            <a:off x="23240028" y="10227406"/>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74" name="Oval 1073">
            <a:extLst>
              <a:ext uri="{FF2B5EF4-FFF2-40B4-BE49-F238E27FC236}">
                <a16:creationId xmlns:a16="http://schemas.microsoft.com/office/drawing/2014/main" id="{5D804821-5453-2C6C-A6D7-1A921BE81B6E}"/>
              </a:ext>
            </a:extLst>
          </p:cNvPr>
          <p:cNvSpPr/>
          <p:nvPr/>
        </p:nvSpPr>
        <p:spPr>
          <a:xfrm>
            <a:off x="23224194" y="7025338"/>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75" name="Oval 1074">
            <a:extLst>
              <a:ext uri="{FF2B5EF4-FFF2-40B4-BE49-F238E27FC236}">
                <a16:creationId xmlns:a16="http://schemas.microsoft.com/office/drawing/2014/main" id="{242E892D-C5C6-5808-B38F-F28B78DCEE9A}"/>
              </a:ext>
            </a:extLst>
          </p:cNvPr>
          <p:cNvSpPr/>
          <p:nvPr/>
        </p:nvSpPr>
        <p:spPr>
          <a:xfrm>
            <a:off x="23240846" y="3839996"/>
            <a:ext cx="444796" cy="444796"/>
          </a:xfrm>
          <a:prstGeom prst="ellipse">
            <a:avLst/>
          </a:prstGeom>
          <a:solidFill>
            <a:schemeClr val="tx1"/>
          </a:solidFill>
          <a:ln w="12700" cap="flat" cmpd="sng" algn="ctr">
            <a:noFill/>
            <a:prstDash val="solid"/>
            <a:miter lim="800000"/>
          </a:ln>
          <a:effectLst/>
        </p:spPr>
        <p:txBody>
          <a:bodyPr rot="0" spcFirstLastPara="0" vertOverflow="overflow" horzOverflow="overflow" vert="horz" wrap="square" lIns="121920" tIns="121920" rIns="121920" bIns="60960" numCol="1" spcCol="0" rtlCol="0" fromWordArt="0" anchor="t" anchorCtr="0" forceAA="0" compatLnSpc="1">
            <a:prstTxWarp prst="textNoShape">
              <a:avLst/>
            </a:prstTxWarp>
            <a:noAutofit/>
          </a:bodyPr>
          <a:lstStyle/>
          <a:p>
            <a:pPr algn="ctr" defTabSz="304816">
              <a:defRPr/>
            </a:pPr>
            <a:endParaRPr lang="en-US" sz="1600">
              <a:solidFill>
                <a:prstClr val="white"/>
              </a:solidFill>
              <a:latin typeface="Arial"/>
            </a:endParaRPr>
          </a:p>
        </p:txBody>
      </p:sp>
      <p:sp>
        <p:nvSpPr>
          <p:cNvPr id="1076" name="TextBox 1075">
            <a:extLst>
              <a:ext uri="{FF2B5EF4-FFF2-40B4-BE49-F238E27FC236}">
                <a16:creationId xmlns:a16="http://schemas.microsoft.com/office/drawing/2014/main" id="{96A900C3-C91D-DE84-1287-C36C6AD64C3C}"/>
              </a:ext>
            </a:extLst>
          </p:cNvPr>
          <p:cNvSpPr txBox="1"/>
          <p:nvPr/>
        </p:nvSpPr>
        <p:spPr>
          <a:xfrm>
            <a:off x="7324343" y="8360957"/>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7</a:t>
            </a:r>
          </a:p>
        </p:txBody>
      </p:sp>
      <p:sp>
        <p:nvSpPr>
          <p:cNvPr id="1077" name="TextBox 1076">
            <a:extLst>
              <a:ext uri="{FF2B5EF4-FFF2-40B4-BE49-F238E27FC236}">
                <a16:creationId xmlns:a16="http://schemas.microsoft.com/office/drawing/2014/main" id="{8CE49B0C-239C-F69E-FB1A-7FCAF6629341}"/>
              </a:ext>
            </a:extLst>
          </p:cNvPr>
          <p:cNvSpPr txBox="1"/>
          <p:nvPr/>
        </p:nvSpPr>
        <p:spPr>
          <a:xfrm>
            <a:off x="23191473" y="7017955"/>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9</a:t>
            </a:r>
          </a:p>
        </p:txBody>
      </p:sp>
      <p:sp>
        <p:nvSpPr>
          <p:cNvPr id="1078" name="TextBox 1077">
            <a:extLst>
              <a:ext uri="{FF2B5EF4-FFF2-40B4-BE49-F238E27FC236}">
                <a16:creationId xmlns:a16="http://schemas.microsoft.com/office/drawing/2014/main" id="{BA8D4A8C-B2AF-44A2-AECA-8759EE68CA1F}"/>
              </a:ext>
            </a:extLst>
          </p:cNvPr>
          <p:cNvSpPr txBox="1"/>
          <p:nvPr/>
        </p:nvSpPr>
        <p:spPr>
          <a:xfrm>
            <a:off x="23201749" y="3819105"/>
            <a:ext cx="521354" cy="379463"/>
          </a:xfrm>
          <a:prstGeom prst="rect">
            <a:avLst/>
          </a:prstGeom>
          <a:noFill/>
        </p:spPr>
        <p:txBody>
          <a:bodyPr wrap="square" rtlCol="0">
            <a:spAutoFit/>
          </a:bodyPr>
          <a:lstStyle/>
          <a:p>
            <a:pPr algn="ctr" defTabSz="304816">
              <a:defRPr/>
            </a:pPr>
            <a:r>
              <a:rPr lang="en-US" sz="1866" b="1">
                <a:solidFill>
                  <a:prstClr val="white"/>
                </a:solidFill>
                <a:latin typeface="Arial"/>
              </a:rPr>
              <a:t>8</a:t>
            </a:r>
          </a:p>
        </p:txBody>
      </p:sp>
      <p:sp>
        <p:nvSpPr>
          <p:cNvPr id="1079" name="TextBox 1078">
            <a:extLst>
              <a:ext uri="{FF2B5EF4-FFF2-40B4-BE49-F238E27FC236}">
                <a16:creationId xmlns:a16="http://schemas.microsoft.com/office/drawing/2014/main" id="{62524832-C2D1-1F7E-1063-AD6165AAC22C}"/>
              </a:ext>
            </a:extLst>
          </p:cNvPr>
          <p:cNvSpPr txBox="1"/>
          <p:nvPr/>
        </p:nvSpPr>
        <p:spPr>
          <a:xfrm>
            <a:off x="23133764" y="10221173"/>
            <a:ext cx="636084" cy="378565"/>
          </a:xfrm>
          <a:prstGeom prst="rect">
            <a:avLst/>
          </a:prstGeom>
          <a:noFill/>
        </p:spPr>
        <p:txBody>
          <a:bodyPr wrap="square" rtlCol="0">
            <a:spAutoFit/>
          </a:bodyPr>
          <a:lstStyle/>
          <a:p>
            <a:pPr algn="ctr" defTabSz="304816">
              <a:defRPr/>
            </a:pPr>
            <a:r>
              <a:rPr lang="en-US" sz="1860" b="1">
                <a:solidFill>
                  <a:prstClr val="white"/>
                </a:solidFill>
                <a:latin typeface="Arial"/>
              </a:rPr>
              <a:t>10</a:t>
            </a:r>
          </a:p>
        </p:txBody>
      </p:sp>
    </p:spTree>
    <p:extLst>
      <p:ext uri="{BB962C8B-B14F-4D97-AF65-F5344CB8AC3E}">
        <p14:creationId xmlns:p14="http://schemas.microsoft.com/office/powerpoint/2010/main" val="26025249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7C3CEA-C463-6FAE-3CBE-3A4361D3D539}"/>
            </a:ext>
          </a:extLst>
        </p:cNvPr>
        <p:cNvGrpSpPr/>
        <p:nvPr/>
      </p:nvGrpSpPr>
      <p:grpSpPr>
        <a:xfrm>
          <a:off x="0" y="0"/>
          <a:ext cx="0" cy="0"/>
          <a:chOff x="0" y="0"/>
          <a:chExt cx="0" cy="0"/>
        </a:xfrm>
      </p:grpSpPr>
      <p:sp>
        <p:nvSpPr>
          <p:cNvPr id="18" name="Text Placeholder 17">
            <a:extLst>
              <a:ext uri="{FF2B5EF4-FFF2-40B4-BE49-F238E27FC236}">
                <a16:creationId xmlns:a16="http://schemas.microsoft.com/office/drawing/2014/main" id="{1D54BE64-7034-0C38-129C-82CD0223CB3D}"/>
              </a:ext>
            </a:extLst>
          </p:cNvPr>
          <p:cNvSpPr>
            <a:spLocks noGrp="1"/>
          </p:cNvSpPr>
          <p:nvPr>
            <p:ph type="body" sz="quarter" idx="16"/>
          </p:nvPr>
        </p:nvSpPr>
        <p:spPr>
          <a:xfrm>
            <a:off x="10778439" y="2281161"/>
            <a:ext cx="11160126" cy="4200146"/>
          </a:xfrm>
        </p:spPr>
        <p:txBody>
          <a:bodyPr/>
          <a:lstStyle/>
          <a:p>
            <a:r>
              <a:rPr lang="en-US"/>
              <a:t>Appendix 5 - Migration Funding Programs</a:t>
            </a:r>
          </a:p>
        </p:txBody>
      </p:sp>
    </p:spTree>
    <p:extLst>
      <p:ext uri="{BB962C8B-B14F-4D97-AF65-F5344CB8AC3E}">
        <p14:creationId xmlns:p14="http://schemas.microsoft.com/office/powerpoint/2010/main" val="61601272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D69293-BBA6-902A-904E-B37648635FC1}"/>
            </a:ext>
          </a:extLst>
        </p:cNvPr>
        <p:cNvGrpSpPr/>
        <p:nvPr/>
      </p:nvGrpSpPr>
      <p:grpSpPr>
        <a:xfrm>
          <a:off x="0" y="0"/>
          <a:ext cx="0" cy="0"/>
          <a:chOff x="0" y="0"/>
          <a:chExt cx="0" cy="0"/>
        </a:xfrm>
      </p:grpSpPr>
      <p:sp>
        <p:nvSpPr>
          <p:cNvPr id="48" name="Rectangle 47">
            <a:extLst>
              <a:ext uri="{FF2B5EF4-FFF2-40B4-BE49-F238E27FC236}">
                <a16:creationId xmlns:a16="http://schemas.microsoft.com/office/drawing/2014/main" id="{486FD531-DBDD-B0D0-09BE-32B6BCADECA9}"/>
              </a:ext>
            </a:extLst>
          </p:cNvPr>
          <p:cNvSpPr/>
          <p:nvPr/>
        </p:nvSpPr>
        <p:spPr>
          <a:xfrm>
            <a:off x="-1" y="3659966"/>
            <a:ext cx="24384002" cy="2980320"/>
          </a:xfrm>
          <a:prstGeom prst="rect">
            <a:avLst/>
          </a:prstGeom>
          <a:solidFill>
            <a:sysClr val="window" lastClr="FFFFFF">
              <a:lumMod val="95000"/>
            </a:sysClr>
          </a:solidFill>
          <a:ln w="12700" cap="flat" cmpd="sng" algn="ctr">
            <a:noFill/>
            <a:prstDash val="solid"/>
            <a:miter lim="800000"/>
          </a:ln>
          <a:effectLst/>
        </p:spPr>
        <p:txBody>
          <a:bodyPr rtlCol="0" anchor="ctr"/>
          <a:lstStyle/>
          <a:p>
            <a:pPr algn="ctr" defTabSz="1828800">
              <a:defRPr/>
            </a:pPr>
            <a:endParaRPr lang="en-US" sz="3600" kern="0">
              <a:solidFill>
                <a:srgbClr val="FFFFFF"/>
              </a:solidFill>
              <a:latin typeface="Arial"/>
            </a:endParaRPr>
          </a:p>
        </p:txBody>
      </p:sp>
      <p:sp>
        <p:nvSpPr>
          <p:cNvPr id="5" name="Title 4">
            <a:extLst>
              <a:ext uri="{FF2B5EF4-FFF2-40B4-BE49-F238E27FC236}">
                <a16:creationId xmlns:a16="http://schemas.microsoft.com/office/drawing/2014/main" id="{2BE57F01-2B7E-CC5B-7F38-6AEAD0FE43C9}"/>
              </a:ext>
            </a:extLst>
          </p:cNvPr>
          <p:cNvSpPr>
            <a:spLocks noGrp="1"/>
          </p:cNvSpPr>
          <p:nvPr>
            <p:ph type="title"/>
          </p:nvPr>
        </p:nvSpPr>
        <p:spPr/>
        <p:txBody>
          <a:bodyPr/>
          <a:lstStyle/>
          <a:p>
            <a:r>
              <a:rPr lang="en-US"/>
              <a:t>Cloud Migration Programs</a:t>
            </a:r>
          </a:p>
        </p:txBody>
      </p:sp>
      <p:sp>
        <p:nvSpPr>
          <p:cNvPr id="216090" name="Text Placeholder 1">
            <a:extLst>
              <a:ext uri="{FF2B5EF4-FFF2-40B4-BE49-F238E27FC236}">
                <a16:creationId xmlns:a16="http://schemas.microsoft.com/office/drawing/2014/main" id="{B920BBDC-5D9E-4972-7C13-6C011CC80843}"/>
              </a:ext>
            </a:extLst>
          </p:cNvPr>
          <p:cNvSpPr txBox="1">
            <a:spLocks/>
          </p:cNvSpPr>
          <p:nvPr/>
        </p:nvSpPr>
        <p:spPr bwMode="auto">
          <a:xfrm>
            <a:off x="4490514" y="7105688"/>
            <a:ext cx="6908044" cy="4693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rtlCol="0" anchor="t" anchorCtr="0" compatLnSpc="1">
            <a:prstTxWarp prst="textNoShape">
              <a:avLst/>
            </a:prstTxWarp>
            <a:noAutofit/>
          </a:bodyPr>
          <a:lstStyle>
            <a:lvl1pPr marL="142875" indent="-142875"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1pPr>
            <a:lvl2pPr marL="428625" indent="-144463"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2pPr>
            <a:lvl3pPr marL="714375" indent="-147638"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3pPr>
            <a:lvl4pPr marL="1000125" indent="-149225"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4pPr>
            <a:lvl5pPr marL="1285875" indent="-152400"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Bef>
                <a:spcPts val="1200"/>
              </a:spcBef>
              <a:spcAft>
                <a:spcPts val="3000"/>
              </a:spcAft>
              <a:buClr>
                <a:srgbClr val="EB0000"/>
              </a:buClr>
              <a:buNone/>
              <a:defRPr/>
            </a:pPr>
            <a:r>
              <a:rPr lang="en-US" sz="3600">
                <a:solidFill>
                  <a:srgbClr val="000000"/>
                </a:solidFill>
                <a:latin typeface="Arial" panose="020B0604020202020204" pitchFamily="34" charset="0"/>
                <a:ea typeface="MS PGothic" panose="020B0600070205080204" pitchFamily="34" charset="-128"/>
              </a:rPr>
              <a:t>AWS Migration Acceleration Program (</a:t>
            </a:r>
            <a:r>
              <a:rPr lang="en-US" sz="3600" b="1">
                <a:solidFill>
                  <a:srgbClr val="000000"/>
                </a:solidFill>
                <a:latin typeface="Arial" panose="020B0604020202020204" pitchFamily="34" charset="0"/>
                <a:ea typeface="MS PGothic" panose="020B0600070205080204" pitchFamily="34" charset="-128"/>
              </a:rPr>
              <a:t>MAP</a:t>
            </a:r>
            <a:r>
              <a:rPr lang="en-US" sz="3600">
                <a:solidFill>
                  <a:srgbClr val="000000"/>
                </a:solidFill>
                <a:latin typeface="Arial" panose="020B0604020202020204" pitchFamily="34" charset="0"/>
                <a:ea typeface="MS PGothic" panose="020B0600070205080204" pitchFamily="34" charset="-128"/>
              </a:rPr>
              <a:t>)</a:t>
            </a:r>
          </a:p>
          <a:p>
            <a:pPr marL="0" indent="0" algn="ctr" defTabSz="1828800">
              <a:spcBef>
                <a:spcPts val="1200"/>
              </a:spcBef>
              <a:spcAft>
                <a:spcPts val="3000"/>
              </a:spcAft>
              <a:buClr>
                <a:srgbClr val="EB0000"/>
              </a:buClr>
              <a:buNone/>
              <a:defRPr/>
            </a:pPr>
            <a:r>
              <a:rPr lang="en-US" sz="3200" u="sng">
                <a:solidFill>
                  <a:srgbClr val="EB0000"/>
                </a:solidFill>
                <a:latin typeface="Arial" panose="020B0604020202020204" pitchFamily="34" charset="0"/>
                <a:ea typeface="MS PGothic" panose="020B0600070205080204" pitchFamily="34" charset="-128"/>
                <a:hlinkClick r:id="rId2"/>
              </a:rPr>
              <a:t>External Link</a:t>
            </a:r>
            <a:endParaRPr lang="en-US" sz="3200" u="sng">
              <a:solidFill>
                <a:sysClr val="windowText" lastClr="000000"/>
              </a:solidFill>
              <a:latin typeface="Arial" panose="020B0604020202020204" pitchFamily="34" charset="0"/>
              <a:ea typeface="MS PGothic" panose="020B0600070205080204" pitchFamily="34" charset="-128"/>
            </a:endParaRPr>
          </a:p>
        </p:txBody>
      </p:sp>
      <p:grpSp>
        <p:nvGrpSpPr>
          <p:cNvPr id="216091" name="Group">
            <a:extLst>
              <a:ext uri="{FF2B5EF4-FFF2-40B4-BE49-F238E27FC236}">
                <a16:creationId xmlns:a16="http://schemas.microsoft.com/office/drawing/2014/main" id="{1CF2F46A-037F-2ADC-9A0E-E0C46BE92F61}"/>
              </a:ext>
            </a:extLst>
          </p:cNvPr>
          <p:cNvGrpSpPr/>
          <p:nvPr/>
        </p:nvGrpSpPr>
        <p:grpSpPr>
          <a:xfrm>
            <a:off x="7042133" y="4664560"/>
            <a:ext cx="1711518" cy="1023348"/>
            <a:chOff x="0" y="0"/>
            <a:chExt cx="3917038" cy="2342069"/>
          </a:xfrm>
        </p:grpSpPr>
        <p:sp>
          <p:nvSpPr>
            <p:cNvPr id="216092" name="Shape">
              <a:extLst>
                <a:ext uri="{FF2B5EF4-FFF2-40B4-BE49-F238E27FC236}">
                  <a16:creationId xmlns:a16="http://schemas.microsoft.com/office/drawing/2014/main" id="{9BCB03C4-D793-3049-DCC6-B1F5B0E60D71}"/>
                </a:ext>
              </a:extLst>
            </p:cNvPr>
            <p:cNvSpPr/>
            <p:nvPr/>
          </p:nvSpPr>
          <p:spPr>
            <a:xfrm>
              <a:off x="164751" y="0"/>
              <a:ext cx="3587471" cy="1223708"/>
            </a:xfrm>
            <a:custGeom>
              <a:avLst/>
              <a:gdLst/>
              <a:ahLst/>
              <a:cxnLst>
                <a:cxn ang="0">
                  <a:pos x="wd2" y="hd2"/>
                </a:cxn>
                <a:cxn ang="5400000">
                  <a:pos x="wd2" y="hd2"/>
                </a:cxn>
                <a:cxn ang="10800000">
                  <a:pos x="wd2" y="hd2"/>
                </a:cxn>
                <a:cxn ang="16200000">
                  <a:pos x="wd2" y="hd2"/>
                </a:cxn>
              </a:cxnLst>
              <a:rect l="0" t="0" r="r" b="b"/>
              <a:pathLst>
                <a:path w="21600" h="21600" extrusionOk="0">
                  <a:moveTo>
                    <a:pt x="5744" y="17055"/>
                  </a:moveTo>
                  <a:cubicBezTo>
                    <a:pt x="5803" y="17565"/>
                    <a:pt x="5888" y="18116"/>
                    <a:pt x="5997" y="18705"/>
                  </a:cubicBezTo>
                  <a:cubicBezTo>
                    <a:pt x="6034" y="18893"/>
                    <a:pt x="6052" y="19066"/>
                    <a:pt x="6052" y="19227"/>
                  </a:cubicBezTo>
                  <a:cubicBezTo>
                    <a:pt x="6052" y="19470"/>
                    <a:pt x="6002" y="19697"/>
                    <a:pt x="5901" y="19912"/>
                  </a:cubicBezTo>
                  <a:lnTo>
                    <a:pt x="5407" y="20875"/>
                  </a:lnTo>
                  <a:cubicBezTo>
                    <a:pt x="5334" y="21009"/>
                    <a:pt x="5265" y="21076"/>
                    <a:pt x="5201" y="21076"/>
                  </a:cubicBezTo>
                  <a:cubicBezTo>
                    <a:pt x="5119" y="21076"/>
                    <a:pt x="5041" y="20970"/>
                    <a:pt x="4968" y="20754"/>
                  </a:cubicBezTo>
                  <a:cubicBezTo>
                    <a:pt x="4858" y="20434"/>
                    <a:pt x="4765" y="20080"/>
                    <a:pt x="4687" y="19690"/>
                  </a:cubicBezTo>
                  <a:cubicBezTo>
                    <a:pt x="4609" y="19302"/>
                    <a:pt x="4529" y="18853"/>
                    <a:pt x="4447" y="18343"/>
                  </a:cubicBezTo>
                  <a:cubicBezTo>
                    <a:pt x="3834" y="20461"/>
                    <a:pt x="3065" y="21519"/>
                    <a:pt x="2141" y="21519"/>
                  </a:cubicBezTo>
                  <a:cubicBezTo>
                    <a:pt x="1482" y="21519"/>
                    <a:pt x="961" y="20970"/>
                    <a:pt x="576" y="19871"/>
                  </a:cubicBezTo>
                  <a:cubicBezTo>
                    <a:pt x="193" y="18771"/>
                    <a:pt x="0" y="17297"/>
                    <a:pt x="0" y="15446"/>
                  </a:cubicBezTo>
                  <a:cubicBezTo>
                    <a:pt x="0" y="13489"/>
                    <a:pt x="238" y="11914"/>
                    <a:pt x="714" y="10719"/>
                  </a:cubicBezTo>
                  <a:cubicBezTo>
                    <a:pt x="1189" y="9526"/>
                    <a:pt x="1830" y="8930"/>
                    <a:pt x="2635" y="8930"/>
                  </a:cubicBezTo>
                  <a:cubicBezTo>
                    <a:pt x="2901" y="8930"/>
                    <a:pt x="3177" y="8991"/>
                    <a:pt x="3466" y="9111"/>
                  </a:cubicBezTo>
                  <a:cubicBezTo>
                    <a:pt x="3754" y="9231"/>
                    <a:pt x="4053" y="9399"/>
                    <a:pt x="4364" y="9615"/>
                  </a:cubicBezTo>
                  <a:lnTo>
                    <a:pt x="4364" y="7925"/>
                  </a:lnTo>
                  <a:cubicBezTo>
                    <a:pt x="4364" y="6181"/>
                    <a:pt x="4241" y="4954"/>
                    <a:pt x="3994" y="4244"/>
                  </a:cubicBezTo>
                  <a:cubicBezTo>
                    <a:pt x="3747" y="3534"/>
                    <a:pt x="3322" y="3178"/>
                    <a:pt x="2717" y="3178"/>
                  </a:cubicBezTo>
                  <a:cubicBezTo>
                    <a:pt x="2443" y="3178"/>
                    <a:pt x="2162" y="3278"/>
                    <a:pt x="1873" y="3479"/>
                  </a:cubicBezTo>
                  <a:cubicBezTo>
                    <a:pt x="1585" y="3681"/>
                    <a:pt x="1304" y="3942"/>
                    <a:pt x="1030" y="4264"/>
                  </a:cubicBezTo>
                  <a:cubicBezTo>
                    <a:pt x="901" y="4425"/>
                    <a:pt x="810" y="4525"/>
                    <a:pt x="755" y="4566"/>
                  </a:cubicBezTo>
                  <a:cubicBezTo>
                    <a:pt x="700" y="4606"/>
                    <a:pt x="659" y="4625"/>
                    <a:pt x="631" y="4625"/>
                  </a:cubicBezTo>
                  <a:cubicBezTo>
                    <a:pt x="522" y="4625"/>
                    <a:pt x="467" y="4384"/>
                    <a:pt x="467" y="3901"/>
                  </a:cubicBezTo>
                  <a:lnTo>
                    <a:pt x="467" y="2776"/>
                  </a:lnTo>
                  <a:cubicBezTo>
                    <a:pt x="467" y="2400"/>
                    <a:pt x="485" y="2132"/>
                    <a:pt x="522" y="1971"/>
                  </a:cubicBezTo>
                  <a:cubicBezTo>
                    <a:pt x="559" y="1810"/>
                    <a:pt x="631" y="1649"/>
                    <a:pt x="741" y="1488"/>
                  </a:cubicBezTo>
                  <a:cubicBezTo>
                    <a:pt x="1016" y="1086"/>
                    <a:pt x="1345" y="737"/>
                    <a:pt x="1729" y="442"/>
                  </a:cubicBezTo>
                  <a:cubicBezTo>
                    <a:pt x="2114" y="147"/>
                    <a:pt x="2521" y="0"/>
                    <a:pt x="2951" y="0"/>
                  </a:cubicBezTo>
                  <a:cubicBezTo>
                    <a:pt x="3884" y="0"/>
                    <a:pt x="4568" y="624"/>
                    <a:pt x="5002" y="1871"/>
                  </a:cubicBezTo>
                  <a:cubicBezTo>
                    <a:pt x="5437" y="3117"/>
                    <a:pt x="5655" y="5001"/>
                    <a:pt x="5655" y="7521"/>
                  </a:cubicBezTo>
                  <a:lnTo>
                    <a:pt x="5655" y="15004"/>
                  </a:lnTo>
                  <a:cubicBezTo>
                    <a:pt x="5655" y="15863"/>
                    <a:pt x="5684" y="16546"/>
                    <a:pt x="5744" y="17055"/>
                  </a:cubicBezTo>
                  <a:close/>
                  <a:moveTo>
                    <a:pt x="2471" y="18504"/>
                  </a:moveTo>
                  <a:cubicBezTo>
                    <a:pt x="2727" y="18504"/>
                    <a:pt x="2997" y="18363"/>
                    <a:pt x="3280" y="18082"/>
                  </a:cubicBezTo>
                  <a:cubicBezTo>
                    <a:pt x="3564" y="17800"/>
                    <a:pt x="3811" y="17311"/>
                    <a:pt x="4021" y="16612"/>
                  </a:cubicBezTo>
                  <a:cubicBezTo>
                    <a:pt x="4150" y="16185"/>
                    <a:pt x="4239" y="15695"/>
                    <a:pt x="4289" y="15145"/>
                  </a:cubicBezTo>
                  <a:cubicBezTo>
                    <a:pt x="4339" y="14595"/>
                    <a:pt x="4364" y="13931"/>
                    <a:pt x="4364" y="13153"/>
                  </a:cubicBezTo>
                  <a:lnTo>
                    <a:pt x="4364" y="12189"/>
                  </a:lnTo>
                  <a:cubicBezTo>
                    <a:pt x="4136" y="12028"/>
                    <a:pt x="3895" y="11901"/>
                    <a:pt x="3644" y="11806"/>
                  </a:cubicBezTo>
                  <a:cubicBezTo>
                    <a:pt x="3392" y="11713"/>
                    <a:pt x="3148" y="11665"/>
                    <a:pt x="2910" y="11665"/>
                  </a:cubicBezTo>
                  <a:cubicBezTo>
                    <a:pt x="2388" y="11665"/>
                    <a:pt x="1999" y="11974"/>
                    <a:pt x="1743" y="12591"/>
                  </a:cubicBezTo>
                  <a:cubicBezTo>
                    <a:pt x="1487" y="13207"/>
                    <a:pt x="1359" y="14092"/>
                    <a:pt x="1359" y="15245"/>
                  </a:cubicBezTo>
                  <a:cubicBezTo>
                    <a:pt x="1359" y="16319"/>
                    <a:pt x="1455" y="17129"/>
                    <a:pt x="1647" y="17678"/>
                  </a:cubicBezTo>
                  <a:cubicBezTo>
                    <a:pt x="1839" y="18229"/>
                    <a:pt x="2114" y="18504"/>
                    <a:pt x="2471" y="18504"/>
                  </a:cubicBezTo>
                  <a:close/>
                  <a:moveTo>
                    <a:pt x="8770" y="20997"/>
                  </a:moveTo>
                  <a:cubicBezTo>
                    <a:pt x="8632" y="20997"/>
                    <a:pt x="8532" y="20922"/>
                    <a:pt x="8467" y="20775"/>
                  </a:cubicBezTo>
                  <a:cubicBezTo>
                    <a:pt x="8404" y="20629"/>
                    <a:pt x="8349" y="20327"/>
                    <a:pt x="8303" y="19871"/>
                  </a:cubicBezTo>
                  <a:lnTo>
                    <a:pt x="6464" y="2091"/>
                  </a:lnTo>
                  <a:cubicBezTo>
                    <a:pt x="6418" y="1635"/>
                    <a:pt x="6395" y="1327"/>
                    <a:pt x="6395" y="1166"/>
                  </a:cubicBezTo>
                  <a:cubicBezTo>
                    <a:pt x="6395" y="791"/>
                    <a:pt x="6459" y="603"/>
                    <a:pt x="6588" y="603"/>
                  </a:cubicBezTo>
                  <a:lnTo>
                    <a:pt x="7356" y="603"/>
                  </a:lnTo>
                  <a:cubicBezTo>
                    <a:pt x="7502" y="603"/>
                    <a:pt x="7605" y="678"/>
                    <a:pt x="7665" y="824"/>
                  </a:cubicBezTo>
                  <a:cubicBezTo>
                    <a:pt x="7724" y="973"/>
                    <a:pt x="7776" y="1274"/>
                    <a:pt x="7823" y="1729"/>
                  </a:cubicBezTo>
                  <a:lnTo>
                    <a:pt x="9140" y="16934"/>
                  </a:lnTo>
                  <a:lnTo>
                    <a:pt x="10361" y="1729"/>
                  </a:lnTo>
                  <a:cubicBezTo>
                    <a:pt x="10398" y="1274"/>
                    <a:pt x="10448" y="973"/>
                    <a:pt x="10512" y="824"/>
                  </a:cubicBezTo>
                  <a:cubicBezTo>
                    <a:pt x="10577" y="678"/>
                    <a:pt x="10682" y="603"/>
                    <a:pt x="10827" y="603"/>
                  </a:cubicBezTo>
                  <a:lnTo>
                    <a:pt x="11459" y="603"/>
                  </a:lnTo>
                  <a:cubicBezTo>
                    <a:pt x="11605" y="603"/>
                    <a:pt x="11710" y="678"/>
                    <a:pt x="11775" y="824"/>
                  </a:cubicBezTo>
                  <a:cubicBezTo>
                    <a:pt x="11838" y="973"/>
                    <a:pt x="11888" y="1274"/>
                    <a:pt x="11925" y="1729"/>
                  </a:cubicBezTo>
                  <a:lnTo>
                    <a:pt x="13160" y="17136"/>
                  </a:lnTo>
                  <a:lnTo>
                    <a:pt x="14519" y="1729"/>
                  </a:lnTo>
                  <a:cubicBezTo>
                    <a:pt x="14565" y="1274"/>
                    <a:pt x="14617" y="973"/>
                    <a:pt x="14677" y="824"/>
                  </a:cubicBezTo>
                  <a:cubicBezTo>
                    <a:pt x="14736" y="678"/>
                    <a:pt x="14839" y="603"/>
                    <a:pt x="14986" y="603"/>
                  </a:cubicBezTo>
                  <a:lnTo>
                    <a:pt x="15713" y="603"/>
                  </a:lnTo>
                  <a:cubicBezTo>
                    <a:pt x="15841" y="603"/>
                    <a:pt x="15905" y="791"/>
                    <a:pt x="15905" y="1166"/>
                  </a:cubicBezTo>
                  <a:cubicBezTo>
                    <a:pt x="15905" y="1274"/>
                    <a:pt x="15900" y="1395"/>
                    <a:pt x="15891" y="1529"/>
                  </a:cubicBezTo>
                  <a:cubicBezTo>
                    <a:pt x="15882" y="1663"/>
                    <a:pt x="15864" y="1851"/>
                    <a:pt x="15836" y="2091"/>
                  </a:cubicBezTo>
                  <a:lnTo>
                    <a:pt x="13943" y="19871"/>
                  </a:lnTo>
                  <a:cubicBezTo>
                    <a:pt x="13897" y="20327"/>
                    <a:pt x="13842" y="20629"/>
                    <a:pt x="13778" y="20775"/>
                  </a:cubicBezTo>
                  <a:cubicBezTo>
                    <a:pt x="13714" y="20922"/>
                    <a:pt x="13613" y="20997"/>
                    <a:pt x="13476" y="20997"/>
                  </a:cubicBezTo>
                  <a:lnTo>
                    <a:pt x="12804" y="20997"/>
                  </a:lnTo>
                  <a:cubicBezTo>
                    <a:pt x="12657" y="20997"/>
                    <a:pt x="12552" y="20915"/>
                    <a:pt x="12488" y="20754"/>
                  </a:cubicBezTo>
                  <a:cubicBezTo>
                    <a:pt x="12424" y="20595"/>
                    <a:pt x="12374" y="20288"/>
                    <a:pt x="12337" y="19831"/>
                  </a:cubicBezTo>
                  <a:lnTo>
                    <a:pt x="11115" y="5028"/>
                  </a:lnTo>
                  <a:lnTo>
                    <a:pt x="9909" y="19831"/>
                  </a:lnTo>
                  <a:cubicBezTo>
                    <a:pt x="9872" y="20288"/>
                    <a:pt x="9821" y="20595"/>
                    <a:pt x="9758" y="20754"/>
                  </a:cubicBezTo>
                  <a:cubicBezTo>
                    <a:pt x="9694" y="20915"/>
                    <a:pt x="9588" y="20997"/>
                    <a:pt x="9442" y="20997"/>
                  </a:cubicBezTo>
                  <a:lnTo>
                    <a:pt x="8770" y="20997"/>
                  </a:lnTo>
                  <a:close/>
                  <a:moveTo>
                    <a:pt x="18842" y="21600"/>
                  </a:moveTo>
                  <a:cubicBezTo>
                    <a:pt x="18430" y="21600"/>
                    <a:pt x="18027" y="21464"/>
                    <a:pt x="17634" y="21197"/>
                  </a:cubicBezTo>
                  <a:cubicBezTo>
                    <a:pt x="17241" y="20929"/>
                    <a:pt x="16939" y="20622"/>
                    <a:pt x="16728" y="20273"/>
                  </a:cubicBezTo>
                  <a:cubicBezTo>
                    <a:pt x="16601" y="20059"/>
                    <a:pt x="16520" y="19844"/>
                    <a:pt x="16488" y="19631"/>
                  </a:cubicBezTo>
                  <a:cubicBezTo>
                    <a:pt x="16456" y="19415"/>
                    <a:pt x="16440" y="19202"/>
                    <a:pt x="16440" y="18987"/>
                  </a:cubicBezTo>
                  <a:lnTo>
                    <a:pt x="16440" y="17819"/>
                  </a:lnTo>
                  <a:cubicBezTo>
                    <a:pt x="16440" y="17338"/>
                    <a:pt x="16500" y="17095"/>
                    <a:pt x="16618" y="17095"/>
                  </a:cubicBezTo>
                  <a:cubicBezTo>
                    <a:pt x="16664" y="17095"/>
                    <a:pt x="16712" y="17122"/>
                    <a:pt x="16763" y="17177"/>
                  </a:cubicBezTo>
                  <a:cubicBezTo>
                    <a:pt x="16813" y="17231"/>
                    <a:pt x="16879" y="17311"/>
                    <a:pt x="16962" y="17417"/>
                  </a:cubicBezTo>
                  <a:cubicBezTo>
                    <a:pt x="17227" y="17766"/>
                    <a:pt x="17515" y="18034"/>
                    <a:pt x="17826" y="18222"/>
                  </a:cubicBezTo>
                  <a:cubicBezTo>
                    <a:pt x="18137" y="18410"/>
                    <a:pt x="18448" y="18504"/>
                    <a:pt x="18759" y="18504"/>
                  </a:cubicBezTo>
                  <a:cubicBezTo>
                    <a:pt x="19254" y="18504"/>
                    <a:pt x="19635" y="18249"/>
                    <a:pt x="19905" y="17739"/>
                  </a:cubicBezTo>
                  <a:cubicBezTo>
                    <a:pt x="20175" y="17231"/>
                    <a:pt x="20310" y="16505"/>
                    <a:pt x="20310" y="15567"/>
                  </a:cubicBezTo>
                  <a:cubicBezTo>
                    <a:pt x="20310" y="14924"/>
                    <a:pt x="20240" y="14387"/>
                    <a:pt x="20097" y="13958"/>
                  </a:cubicBezTo>
                  <a:cubicBezTo>
                    <a:pt x="19956" y="13529"/>
                    <a:pt x="19693" y="13128"/>
                    <a:pt x="19309" y="12752"/>
                  </a:cubicBezTo>
                  <a:lnTo>
                    <a:pt x="18170" y="11706"/>
                  </a:lnTo>
                  <a:cubicBezTo>
                    <a:pt x="17593" y="11169"/>
                    <a:pt x="17175" y="10392"/>
                    <a:pt x="16914" y="9372"/>
                  </a:cubicBezTo>
                  <a:cubicBezTo>
                    <a:pt x="16653" y="8354"/>
                    <a:pt x="16522" y="7240"/>
                    <a:pt x="16522" y="6033"/>
                  </a:cubicBezTo>
                  <a:cubicBezTo>
                    <a:pt x="16522" y="5069"/>
                    <a:pt x="16594" y="4217"/>
                    <a:pt x="16735" y="3479"/>
                  </a:cubicBezTo>
                  <a:cubicBezTo>
                    <a:pt x="16877" y="2742"/>
                    <a:pt x="17065" y="2112"/>
                    <a:pt x="17298" y="1588"/>
                  </a:cubicBezTo>
                  <a:cubicBezTo>
                    <a:pt x="17531" y="1066"/>
                    <a:pt x="17804" y="671"/>
                    <a:pt x="18115" y="402"/>
                  </a:cubicBezTo>
                  <a:cubicBezTo>
                    <a:pt x="18425" y="134"/>
                    <a:pt x="18755" y="0"/>
                    <a:pt x="19103" y="0"/>
                  </a:cubicBezTo>
                  <a:cubicBezTo>
                    <a:pt x="19276" y="0"/>
                    <a:pt x="19453" y="34"/>
                    <a:pt x="19631" y="100"/>
                  </a:cubicBezTo>
                  <a:cubicBezTo>
                    <a:pt x="19809" y="168"/>
                    <a:pt x="19979" y="254"/>
                    <a:pt x="20139" y="361"/>
                  </a:cubicBezTo>
                  <a:cubicBezTo>
                    <a:pt x="20299" y="469"/>
                    <a:pt x="20448" y="590"/>
                    <a:pt x="20585" y="724"/>
                  </a:cubicBezTo>
                  <a:cubicBezTo>
                    <a:pt x="20722" y="858"/>
                    <a:pt x="20832" y="991"/>
                    <a:pt x="20914" y="1125"/>
                  </a:cubicBezTo>
                  <a:cubicBezTo>
                    <a:pt x="21024" y="1313"/>
                    <a:pt x="21102" y="1502"/>
                    <a:pt x="21147" y="1690"/>
                  </a:cubicBezTo>
                  <a:cubicBezTo>
                    <a:pt x="21193" y="1878"/>
                    <a:pt x="21216" y="2132"/>
                    <a:pt x="21216" y="2454"/>
                  </a:cubicBezTo>
                  <a:lnTo>
                    <a:pt x="21216" y="3540"/>
                  </a:lnTo>
                  <a:cubicBezTo>
                    <a:pt x="21216" y="4022"/>
                    <a:pt x="21157" y="4264"/>
                    <a:pt x="21037" y="4264"/>
                  </a:cubicBezTo>
                  <a:cubicBezTo>
                    <a:pt x="20973" y="4264"/>
                    <a:pt x="20873" y="4171"/>
                    <a:pt x="20736" y="3983"/>
                  </a:cubicBezTo>
                  <a:cubicBezTo>
                    <a:pt x="20288" y="3393"/>
                    <a:pt x="19784" y="3096"/>
                    <a:pt x="19226" y="3096"/>
                  </a:cubicBezTo>
                  <a:cubicBezTo>
                    <a:pt x="18778" y="3096"/>
                    <a:pt x="18430" y="3312"/>
                    <a:pt x="18183" y="3740"/>
                  </a:cubicBezTo>
                  <a:cubicBezTo>
                    <a:pt x="17936" y="4171"/>
                    <a:pt x="17812" y="4854"/>
                    <a:pt x="17812" y="5793"/>
                  </a:cubicBezTo>
                  <a:cubicBezTo>
                    <a:pt x="17812" y="6435"/>
                    <a:pt x="17890" y="6979"/>
                    <a:pt x="18046" y="7421"/>
                  </a:cubicBezTo>
                  <a:cubicBezTo>
                    <a:pt x="18201" y="7864"/>
                    <a:pt x="18489" y="8286"/>
                    <a:pt x="18910" y="8689"/>
                  </a:cubicBezTo>
                  <a:lnTo>
                    <a:pt x="20022" y="9735"/>
                  </a:lnTo>
                  <a:cubicBezTo>
                    <a:pt x="20589" y="10270"/>
                    <a:pt x="20994" y="11009"/>
                    <a:pt x="21236" y="11947"/>
                  </a:cubicBezTo>
                  <a:cubicBezTo>
                    <a:pt x="21479" y="12885"/>
                    <a:pt x="21600" y="13958"/>
                    <a:pt x="21600" y="15165"/>
                  </a:cubicBezTo>
                  <a:cubicBezTo>
                    <a:pt x="21600" y="16158"/>
                    <a:pt x="21532" y="17050"/>
                    <a:pt x="21394" y="17839"/>
                  </a:cubicBezTo>
                  <a:cubicBezTo>
                    <a:pt x="21257" y="18631"/>
                    <a:pt x="21067" y="19309"/>
                    <a:pt x="20825" y="19871"/>
                  </a:cubicBezTo>
                  <a:cubicBezTo>
                    <a:pt x="20582" y="20434"/>
                    <a:pt x="20292" y="20863"/>
                    <a:pt x="19953" y="21158"/>
                  </a:cubicBezTo>
                  <a:cubicBezTo>
                    <a:pt x="19615" y="21451"/>
                    <a:pt x="19245" y="21600"/>
                    <a:pt x="18842" y="21600"/>
                  </a:cubicBezTo>
                  <a:close/>
                </a:path>
              </a:pathLst>
            </a:custGeom>
            <a:solidFill>
              <a:srgbClr val="252F3E"/>
            </a:solidFill>
            <a:ln w="12700" cap="flat">
              <a:noFill/>
              <a:miter lim="400000"/>
            </a:ln>
            <a:effectLst/>
          </p:spPr>
          <p:txBody>
            <a:bodyPr wrap="square" lIns="45720" tIns="45720" rIns="45720" bIns="45720" numCol="1" anchor="ctr">
              <a:noAutofit/>
            </a:bodyPr>
            <a:lstStyle/>
            <a:p>
              <a:pPr defTabSz="1828800">
                <a:lnSpc>
                  <a:spcPct val="93000"/>
                </a:lnSpc>
                <a:defRPr sz="1800">
                  <a:solidFill>
                    <a:srgbClr val="000000"/>
                  </a:solidFill>
                </a:defRPr>
              </a:pPr>
              <a:endParaRPr sz="3600" kern="0">
                <a:solidFill>
                  <a:srgbClr val="000000"/>
                </a:solidFill>
                <a:latin typeface="Arial"/>
              </a:endParaRPr>
            </a:p>
          </p:txBody>
        </p:sp>
        <p:sp>
          <p:nvSpPr>
            <p:cNvPr id="216093" name="Shape">
              <a:extLst>
                <a:ext uri="{FF2B5EF4-FFF2-40B4-BE49-F238E27FC236}">
                  <a16:creationId xmlns:a16="http://schemas.microsoft.com/office/drawing/2014/main" id="{65F30E6F-1910-082C-1478-8EAAA6B8EC35}"/>
                </a:ext>
              </a:extLst>
            </p:cNvPr>
            <p:cNvSpPr/>
            <p:nvPr/>
          </p:nvSpPr>
          <p:spPr>
            <a:xfrm>
              <a:off x="-1" y="1459861"/>
              <a:ext cx="3917040" cy="882209"/>
            </a:xfrm>
            <a:custGeom>
              <a:avLst/>
              <a:gdLst/>
              <a:ahLst/>
              <a:cxnLst>
                <a:cxn ang="0">
                  <a:pos x="wd2" y="hd2"/>
                </a:cxn>
                <a:cxn ang="5400000">
                  <a:pos x="wd2" y="hd2"/>
                </a:cxn>
                <a:cxn ang="10800000">
                  <a:pos x="wd2" y="hd2"/>
                </a:cxn>
                <a:cxn ang="16200000">
                  <a:pos x="wd2" y="hd2"/>
                </a:cxn>
              </a:cxnLst>
              <a:rect l="0" t="0" r="r" b="b"/>
              <a:pathLst>
                <a:path w="21301" h="20364" extrusionOk="0">
                  <a:moveTo>
                    <a:pt x="19254" y="9173"/>
                  </a:moveTo>
                  <a:cubicBezTo>
                    <a:pt x="16922" y="16480"/>
                    <a:pt x="13541" y="20364"/>
                    <a:pt x="10630" y="20364"/>
                  </a:cubicBezTo>
                  <a:cubicBezTo>
                    <a:pt x="6550" y="20364"/>
                    <a:pt x="2875" y="13961"/>
                    <a:pt x="95" y="3304"/>
                  </a:cubicBezTo>
                  <a:cubicBezTo>
                    <a:pt x="-124" y="2466"/>
                    <a:pt x="71" y="1325"/>
                    <a:pt x="333" y="1972"/>
                  </a:cubicBezTo>
                  <a:cubicBezTo>
                    <a:pt x="3333" y="9381"/>
                    <a:pt x="7043" y="13846"/>
                    <a:pt x="10874" y="13846"/>
                  </a:cubicBezTo>
                  <a:cubicBezTo>
                    <a:pt x="13460" y="13846"/>
                    <a:pt x="16301" y="11567"/>
                    <a:pt x="18915" y="6860"/>
                  </a:cubicBezTo>
                  <a:cubicBezTo>
                    <a:pt x="19310" y="6151"/>
                    <a:pt x="19640" y="7962"/>
                    <a:pt x="19254" y="9173"/>
                  </a:cubicBezTo>
                  <a:close/>
                  <a:moveTo>
                    <a:pt x="19612" y="15757"/>
                  </a:moveTo>
                  <a:cubicBezTo>
                    <a:pt x="19526" y="16659"/>
                    <a:pt x="19709" y="17025"/>
                    <a:pt x="19902" y="16342"/>
                  </a:cubicBezTo>
                  <a:cubicBezTo>
                    <a:pt x="21153" y="11900"/>
                    <a:pt x="21476" y="2588"/>
                    <a:pt x="21220" y="1245"/>
                  </a:cubicBezTo>
                  <a:cubicBezTo>
                    <a:pt x="20966" y="-88"/>
                    <a:pt x="18779" y="-1236"/>
                    <a:pt x="17443" y="2743"/>
                  </a:cubicBezTo>
                  <a:cubicBezTo>
                    <a:pt x="17238" y="3355"/>
                    <a:pt x="17274" y="4200"/>
                    <a:pt x="17501" y="4085"/>
                  </a:cubicBezTo>
                  <a:cubicBezTo>
                    <a:pt x="18253" y="3701"/>
                    <a:pt x="19927" y="2850"/>
                    <a:pt x="20225" y="4470"/>
                  </a:cubicBezTo>
                  <a:cubicBezTo>
                    <a:pt x="20523" y="6091"/>
                    <a:pt x="19893" y="12773"/>
                    <a:pt x="19612" y="15757"/>
                  </a:cubicBezTo>
                  <a:close/>
                </a:path>
              </a:pathLst>
            </a:custGeom>
            <a:solidFill>
              <a:srgbClr val="FF9900"/>
            </a:solidFill>
            <a:ln w="12700" cap="flat">
              <a:noFill/>
              <a:miter lim="400000"/>
            </a:ln>
            <a:effectLst/>
          </p:spPr>
          <p:txBody>
            <a:bodyPr wrap="square" lIns="45720" tIns="45720" rIns="45720" bIns="45720" numCol="1" anchor="ctr">
              <a:noAutofit/>
            </a:bodyPr>
            <a:lstStyle/>
            <a:p>
              <a:pPr defTabSz="1828800">
                <a:lnSpc>
                  <a:spcPct val="93000"/>
                </a:lnSpc>
                <a:defRPr sz="1800">
                  <a:solidFill>
                    <a:srgbClr val="000000"/>
                  </a:solidFill>
                </a:defRPr>
              </a:pPr>
              <a:endParaRPr sz="3600" kern="0">
                <a:solidFill>
                  <a:srgbClr val="000000"/>
                </a:solidFill>
                <a:latin typeface="Arial"/>
              </a:endParaRPr>
            </a:p>
          </p:txBody>
        </p:sp>
      </p:grpSp>
      <p:grpSp>
        <p:nvGrpSpPr>
          <p:cNvPr id="216094" name="Group">
            <a:extLst>
              <a:ext uri="{FF2B5EF4-FFF2-40B4-BE49-F238E27FC236}">
                <a16:creationId xmlns:a16="http://schemas.microsoft.com/office/drawing/2014/main" id="{C3BDBF65-6813-D5B6-6C0C-25A39C074543}"/>
              </a:ext>
            </a:extLst>
          </p:cNvPr>
          <p:cNvGrpSpPr/>
          <p:nvPr/>
        </p:nvGrpSpPr>
        <p:grpSpPr>
          <a:xfrm>
            <a:off x="14406550" y="4806252"/>
            <a:ext cx="3755228" cy="778028"/>
            <a:chOff x="0" y="0"/>
            <a:chExt cx="7826985" cy="1670561"/>
          </a:xfrm>
        </p:grpSpPr>
        <p:sp>
          <p:nvSpPr>
            <p:cNvPr id="216095" name="Shape">
              <a:extLst>
                <a:ext uri="{FF2B5EF4-FFF2-40B4-BE49-F238E27FC236}">
                  <a16:creationId xmlns:a16="http://schemas.microsoft.com/office/drawing/2014/main" id="{BD12A617-2809-CBF2-90E4-7D73DB2E62DF}"/>
                </a:ext>
              </a:extLst>
            </p:cNvPr>
            <p:cNvSpPr/>
            <p:nvPr/>
          </p:nvSpPr>
          <p:spPr>
            <a:xfrm>
              <a:off x="2171840" y="261608"/>
              <a:ext cx="5655145" cy="1091813"/>
            </a:xfrm>
            <a:custGeom>
              <a:avLst/>
              <a:gdLst/>
              <a:ahLst/>
              <a:cxnLst>
                <a:cxn ang="0">
                  <a:pos x="wd2" y="hd2"/>
                </a:cxn>
                <a:cxn ang="5400000">
                  <a:pos x="wd2" y="hd2"/>
                </a:cxn>
                <a:cxn ang="10800000">
                  <a:pos x="wd2" y="hd2"/>
                </a:cxn>
                <a:cxn ang="16200000">
                  <a:pos x="wd2" y="hd2"/>
                </a:cxn>
              </a:cxnLst>
              <a:rect l="0" t="0" r="r" b="b"/>
              <a:pathLst>
                <a:path w="21600" h="21600" extrusionOk="0">
                  <a:moveTo>
                    <a:pt x="21600" y="7065"/>
                  </a:moveTo>
                  <a:lnTo>
                    <a:pt x="20948" y="7065"/>
                  </a:lnTo>
                  <a:lnTo>
                    <a:pt x="20948" y="2829"/>
                  </a:lnTo>
                  <a:lnTo>
                    <a:pt x="20926" y="2863"/>
                  </a:lnTo>
                  <a:lnTo>
                    <a:pt x="20312" y="3837"/>
                  </a:lnTo>
                  <a:lnTo>
                    <a:pt x="20300" y="3854"/>
                  </a:lnTo>
                  <a:lnTo>
                    <a:pt x="20300" y="7065"/>
                  </a:lnTo>
                  <a:lnTo>
                    <a:pt x="19332" y="7065"/>
                  </a:lnTo>
                  <a:lnTo>
                    <a:pt x="19332" y="5277"/>
                  </a:lnTo>
                  <a:cubicBezTo>
                    <a:pt x="19332" y="4446"/>
                    <a:pt x="19368" y="3809"/>
                    <a:pt x="19439" y="3383"/>
                  </a:cubicBezTo>
                  <a:cubicBezTo>
                    <a:pt x="19509" y="2962"/>
                    <a:pt x="19610" y="2752"/>
                    <a:pt x="19738" y="2752"/>
                  </a:cubicBezTo>
                  <a:cubicBezTo>
                    <a:pt x="19830" y="2752"/>
                    <a:pt x="19926" y="2863"/>
                    <a:pt x="20021" y="3084"/>
                  </a:cubicBezTo>
                  <a:lnTo>
                    <a:pt x="20046" y="3140"/>
                  </a:lnTo>
                  <a:lnTo>
                    <a:pt x="20046" y="271"/>
                  </a:lnTo>
                  <a:lnTo>
                    <a:pt x="20034" y="249"/>
                  </a:lnTo>
                  <a:cubicBezTo>
                    <a:pt x="19946" y="83"/>
                    <a:pt x="19824" y="0"/>
                    <a:pt x="19672" y="0"/>
                  </a:cubicBezTo>
                  <a:cubicBezTo>
                    <a:pt x="19482" y="0"/>
                    <a:pt x="19309" y="216"/>
                    <a:pt x="19158" y="642"/>
                  </a:cubicBezTo>
                  <a:cubicBezTo>
                    <a:pt x="19007" y="1069"/>
                    <a:pt x="18887" y="1672"/>
                    <a:pt x="18805" y="2447"/>
                  </a:cubicBezTo>
                  <a:cubicBezTo>
                    <a:pt x="18722" y="3223"/>
                    <a:pt x="18680" y="4114"/>
                    <a:pt x="18680" y="5100"/>
                  </a:cubicBezTo>
                  <a:lnTo>
                    <a:pt x="18680" y="7065"/>
                  </a:lnTo>
                  <a:lnTo>
                    <a:pt x="18225" y="7065"/>
                  </a:lnTo>
                  <a:lnTo>
                    <a:pt x="18225" y="9789"/>
                  </a:lnTo>
                  <a:lnTo>
                    <a:pt x="18680" y="9789"/>
                  </a:lnTo>
                  <a:lnTo>
                    <a:pt x="18680" y="21257"/>
                  </a:lnTo>
                  <a:lnTo>
                    <a:pt x="19332" y="21257"/>
                  </a:lnTo>
                  <a:lnTo>
                    <a:pt x="19332" y="9789"/>
                  </a:lnTo>
                  <a:lnTo>
                    <a:pt x="20300" y="9789"/>
                  </a:lnTo>
                  <a:lnTo>
                    <a:pt x="20300" y="17071"/>
                  </a:lnTo>
                  <a:cubicBezTo>
                    <a:pt x="20300" y="20077"/>
                    <a:pt x="20574" y="21600"/>
                    <a:pt x="21113" y="21600"/>
                  </a:cubicBezTo>
                  <a:cubicBezTo>
                    <a:pt x="21201" y="21600"/>
                    <a:pt x="21294" y="21545"/>
                    <a:pt x="21391" y="21439"/>
                  </a:cubicBezTo>
                  <a:cubicBezTo>
                    <a:pt x="21487" y="21329"/>
                    <a:pt x="21553" y="21223"/>
                    <a:pt x="21591" y="21107"/>
                  </a:cubicBezTo>
                  <a:lnTo>
                    <a:pt x="21600" y="21080"/>
                  </a:lnTo>
                  <a:lnTo>
                    <a:pt x="21600" y="18333"/>
                  </a:lnTo>
                  <a:lnTo>
                    <a:pt x="21574" y="18422"/>
                  </a:lnTo>
                  <a:cubicBezTo>
                    <a:pt x="21538" y="18544"/>
                    <a:pt x="21494" y="18643"/>
                    <a:pt x="21443" y="18721"/>
                  </a:cubicBezTo>
                  <a:cubicBezTo>
                    <a:pt x="21391" y="18793"/>
                    <a:pt x="21348" y="18831"/>
                    <a:pt x="21314" y="18831"/>
                  </a:cubicBezTo>
                  <a:cubicBezTo>
                    <a:pt x="21187" y="18831"/>
                    <a:pt x="21094" y="18654"/>
                    <a:pt x="21036" y="18311"/>
                  </a:cubicBezTo>
                  <a:cubicBezTo>
                    <a:pt x="20977" y="17957"/>
                    <a:pt x="20948" y="17342"/>
                    <a:pt x="20948" y="16484"/>
                  </a:cubicBezTo>
                  <a:lnTo>
                    <a:pt x="20948" y="9789"/>
                  </a:lnTo>
                  <a:lnTo>
                    <a:pt x="21600" y="9789"/>
                  </a:lnTo>
                  <a:lnTo>
                    <a:pt x="21600" y="7065"/>
                  </a:lnTo>
                  <a:close/>
                  <a:moveTo>
                    <a:pt x="16212" y="17624"/>
                  </a:moveTo>
                  <a:cubicBezTo>
                    <a:pt x="16080" y="16822"/>
                    <a:pt x="16012" y="15670"/>
                    <a:pt x="16012" y="14214"/>
                  </a:cubicBezTo>
                  <a:cubicBezTo>
                    <a:pt x="16012" y="12708"/>
                    <a:pt x="16080" y="11528"/>
                    <a:pt x="16212" y="10714"/>
                  </a:cubicBezTo>
                  <a:cubicBezTo>
                    <a:pt x="16344" y="9900"/>
                    <a:pt x="16529" y="9485"/>
                    <a:pt x="16763" y="9485"/>
                  </a:cubicBezTo>
                  <a:cubicBezTo>
                    <a:pt x="16988" y="9485"/>
                    <a:pt x="17169" y="9884"/>
                    <a:pt x="17298" y="10659"/>
                  </a:cubicBezTo>
                  <a:cubicBezTo>
                    <a:pt x="17427" y="11440"/>
                    <a:pt x="17494" y="12608"/>
                    <a:pt x="17494" y="14131"/>
                  </a:cubicBezTo>
                  <a:cubicBezTo>
                    <a:pt x="17494" y="15670"/>
                    <a:pt x="17432" y="16855"/>
                    <a:pt x="17309" y="17647"/>
                  </a:cubicBezTo>
                  <a:cubicBezTo>
                    <a:pt x="17188" y="18433"/>
                    <a:pt x="17006" y="18831"/>
                    <a:pt x="16768" y="18831"/>
                  </a:cubicBezTo>
                  <a:cubicBezTo>
                    <a:pt x="16531" y="18831"/>
                    <a:pt x="16344" y="18427"/>
                    <a:pt x="16212" y="17624"/>
                  </a:cubicBezTo>
                  <a:close/>
                  <a:moveTo>
                    <a:pt x="15730" y="8760"/>
                  </a:moveTo>
                  <a:cubicBezTo>
                    <a:pt x="15474" y="10116"/>
                    <a:pt x="15344" y="11982"/>
                    <a:pt x="15344" y="14319"/>
                  </a:cubicBezTo>
                  <a:cubicBezTo>
                    <a:pt x="15344" y="16545"/>
                    <a:pt x="15471" y="18333"/>
                    <a:pt x="15721" y="19634"/>
                  </a:cubicBezTo>
                  <a:cubicBezTo>
                    <a:pt x="15971" y="20936"/>
                    <a:pt x="16311" y="21600"/>
                    <a:pt x="16731" y="21600"/>
                  </a:cubicBezTo>
                  <a:cubicBezTo>
                    <a:pt x="17169" y="21600"/>
                    <a:pt x="17520" y="20902"/>
                    <a:pt x="17776" y="19529"/>
                  </a:cubicBezTo>
                  <a:cubicBezTo>
                    <a:pt x="18032" y="18161"/>
                    <a:pt x="18162" y="16307"/>
                    <a:pt x="18162" y="14020"/>
                  </a:cubicBezTo>
                  <a:cubicBezTo>
                    <a:pt x="18162" y="11761"/>
                    <a:pt x="18040" y="9967"/>
                    <a:pt x="17800" y="8671"/>
                  </a:cubicBezTo>
                  <a:cubicBezTo>
                    <a:pt x="17560" y="7381"/>
                    <a:pt x="17222" y="6722"/>
                    <a:pt x="16797" y="6722"/>
                  </a:cubicBezTo>
                  <a:cubicBezTo>
                    <a:pt x="16345" y="6722"/>
                    <a:pt x="15986" y="7409"/>
                    <a:pt x="15730" y="8760"/>
                  </a:cubicBezTo>
                  <a:close/>
                  <a:moveTo>
                    <a:pt x="13536" y="7935"/>
                  </a:moveTo>
                  <a:cubicBezTo>
                    <a:pt x="13340" y="8743"/>
                    <a:pt x="13242" y="9801"/>
                    <a:pt x="13242" y="11080"/>
                  </a:cubicBezTo>
                  <a:cubicBezTo>
                    <a:pt x="13242" y="11744"/>
                    <a:pt x="13264" y="12337"/>
                    <a:pt x="13305" y="12835"/>
                  </a:cubicBezTo>
                  <a:cubicBezTo>
                    <a:pt x="13348" y="13339"/>
                    <a:pt x="13413" y="13787"/>
                    <a:pt x="13500" y="14158"/>
                  </a:cubicBezTo>
                  <a:cubicBezTo>
                    <a:pt x="13586" y="14524"/>
                    <a:pt x="13720" y="14911"/>
                    <a:pt x="13897" y="15304"/>
                  </a:cubicBezTo>
                  <a:cubicBezTo>
                    <a:pt x="14046" y="15626"/>
                    <a:pt x="14156" y="15891"/>
                    <a:pt x="14227" y="16102"/>
                  </a:cubicBezTo>
                  <a:cubicBezTo>
                    <a:pt x="14296" y="16312"/>
                    <a:pt x="14344" y="16517"/>
                    <a:pt x="14372" y="16722"/>
                  </a:cubicBezTo>
                  <a:cubicBezTo>
                    <a:pt x="14399" y="16921"/>
                    <a:pt x="14412" y="17193"/>
                    <a:pt x="14412" y="17525"/>
                  </a:cubicBezTo>
                  <a:cubicBezTo>
                    <a:pt x="14412" y="18477"/>
                    <a:pt x="14275" y="18942"/>
                    <a:pt x="13991" y="18942"/>
                  </a:cubicBezTo>
                  <a:cubicBezTo>
                    <a:pt x="13886" y="18942"/>
                    <a:pt x="13766" y="18831"/>
                    <a:pt x="13634" y="18604"/>
                  </a:cubicBezTo>
                  <a:cubicBezTo>
                    <a:pt x="13503" y="18383"/>
                    <a:pt x="13380" y="18056"/>
                    <a:pt x="13269" y="17647"/>
                  </a:cubicBezTo>
                  <a:lnTo>
                    <a:pt x="13242" y="17547"/>
                  </a:lnTo>
                  <a:lnTo>
                    <a:pt x="13242" y="20797"/>
                  </a:lnTo>
                  <a:lnTo>
                    <a:pt x="13252" y="20825"/>
                  </a:lnTo>
                  <a:cubicBezTo>
                    <a:pt x="13344" y="21046"/>
                    <a:pt x="13460" y="21229"/>
                    <a:pt x="13598" y="21379"/>
                  </a:cubicBezTo>
                  <a:cubicBezTo>
                    <a:pt x="13735" y="21522"/>
                    <a:pt x="13859" y="21600"/>
                    <a:pt x="13967" y="21600"/>
                  </a:cubicBezTo>
                  <a:cubicBezTo>
                    <a:pt x="14300" y="21600"/>
                    <a:pt x="14570" y="21190"/>
                    <a:pt x="14765" y="20382"/>
                  </a:cubicBezTo>
                  <a:cubicBezTo>
                    <a:pt x="14963" y="19568"/>
                    <a:pt x="15062" y="18483"/>
                    <a:pt x="15062" y="17154"/>
                  </a:cubicBezTo>
                  <a:cubicBezTo>
                    <a:pt x="15062" y="16201"/>
                    <a:pt x="15009" y="15376"/>
                    <a:pt x="14903" y="14717"/>
                  </a:cubicBezTo>
                  <a:cubicBezTo>
                    <a:pt x="14797" y="14059"/>
                    <a:pt x="14614" y="13455"/>
                    <a:pt x="14359" y="12923"/>
                  </a:cubicBezTo>
                  <a:cubicBezTo>
                    <a:pt x="14156" y="12503"/>
                    <a:pt x="14026" y="12154"/>
                    <a:pt x="13972" y="11882"/>
                  </a:cubicBezTo>
                  <a:cubicBezTo>
                    <a:pt x="13921" y="11622"/>
                    <a:pt x="13894" y="11262"/>
                    <a:pt x="13894" y="10797"/>
                  </a:cubicBezTo>
                  <a:cubicBezTo>
                    <a:pt x="13894" y="10382"/>
                    <a:pt x="13927" y="10050"/>
                    <a:pt x="13994" y="9784"/>
                  </a:cubicBezTo>
                  <a:cubicBezTo>
                    <a:pt x="14061" y="9513"/>
                    <a:pt x="14154" y="9374"/>
                    <a:pt x="14271" y="9374"/>
                  </a:cubicBezTo>
                  <a:cubicBezTo>
                    <a:pt x="14379" y="9374"/>
                    <a:pt x="14492" y="9468"/>
                    <a:pt x="14602" y="9640"/>
                  </a:cubicBezTo>
                  <a:cubicBezTo>
                    <a:pt x="14713" y="9817"/>
                    <a:pt x="14809" y="10050"/>
                    <a:pt x="14890" y="10332"/>
                  </a:cubicBezTo>
                  <a:lnTo>
                    <a:pt x="14917" y="10426"/>
                  </a:lnTo>
                  <a:lnTo>
                    <a:pt x="14917" y="7342"/>
                  </a:lnTo>
                  <a:lnTo>
                    <a:pt x="14907" y="7320"/>
                  </a:lnTo>
                  <a:cubicBezTo>
                    <a:pt x="14832" y="7154"/>
                    <a:pt x="14733" y="7010"/>
                    <a:pt x="14613" y="6894"/>
                  </a:cubicBezTo>
                  <a:cubicBezTo>
                    <a:pt x="14495" y="6777"/>
                    <a:pt x="14386" y="6722"/>
                    <a:pt x="14292" y="6722"/>
                  </a:cubicBezTo>
                  <a:cubicBezTo>
                    <a:pt x="13985" y="6722"/>
                    <a:pt x="13731" y="7132"/>
                    <a:pt x="13536" y="7935"/>
                  </a:cubicBezTo>
                  <a:close/>
                  <a:moveTo>
                    <a:pt x="10985" y="17624"/>
                  </a:moveTo>
                  <a:cubicBezTo>
                    <a:pt x="10852" y="16822"/>
                    <a:pt x="10785" y="15670"/>
                    <a:pt x="10785" y="14214"/>
                  </a:cubicBezTo>
                  <a:cubicBezTo>
                    <a:pt x="10785" y="12708"/>
                    <a:pt x="10852" y="11528"/>
                    <a:pt x="10985" y="10714"/>
                  </a:cubicBezTo>
                  <a:cubicBezTo>
                    <a:pt x="11116" y="9900"/>
                    <a:pt x="11301" y="9485"/>
                    <a:pt x="11535" y="9485"/>
                  </a:cubicBezTo>
                  <a:cubicBezTo>
                    <a:pt x="11761" y="9485"/>
                    <a:pt x="11941" y="9884"/>
                    <a:pt x="12071" y="10659"/>
                  </a:cubicBezTo>
                  <a:cubicBezTo>
                    <a:pt x="12200" y="11440"/>
                    <a:pt x="12266" y="12608"/>
                    <a:pt x="12266" y="14131"/>
                  </a:cubicBezTo>
                  <a:cubicBezTo>
                    <a:pt x="12266" y="15670"/>
                    <a:pt x="12204" y="16855"/>
                    <a:pt x="12081" y="17647"/>
                  </a:cubicBezTo>
                  <a:cubicBezTo>
                    <a:pt x="11961" y="18433"/>
                    <a:pt x="11779" y="18831"/>
                    <a:pt x="11541" y="18831"/>
                  </a:cubicBezTo>
                  <a:cubicBezTo>
                    <a:pt x="11303" y="18831"/>
                    <a:pt x="11116" y="18427"/>
                    <a:pt x="10985" y="17624"/>
                  </a:cubicBezTo>
                  <a:close/>
                  <a:moveTo>
                    <a:pt x="10503" y="8760"/>
                  </a:moveTo>
                  <a:cubicBezTo>
                    <a:pt x="10246" y="10116"/>
                    <a:pt x="10117" y="11982"/>
                    <a:pt x="10117" y="14319"/>
                  </a:cubicBezTo>
                  <a:cubicBezTo>
                    <a:pt x="10117" y="16545"/>
                    <a:pt x="10243" y="18333"/>
                    <a:pt x="10493" y="19634"/>
                  </a:cubicBezTo>
                  <a:cubicBezTo>
                    <a:pt x="10743" y="20936"/>
                    <a:pt x="11083" y="21600"/>
                    <a:pt x="11503" y="21600"/>
                  </a:cubicBezTo>
                  <a:cubicBezTo>
                    <a:pt x="11941" y="21600"/>
                    <a:pt x="12293" y="20902"/>
                    <a:pt x="12549" y="19529"/>
                  </a:cubicBezTo>
                  <a:cubicBezTo>
                    <a:pt x="12805" y="18161"/>
                    <a:pt x="12934" y="16307"/>
                    <a:pt x="12934" y="14020"/>
                  </a:cubicBezTo>
                  <a:cubicBezTo>
                    <a:pt x="12934" y="11761"/>
                    <a:pt x="12813" y="9967"/>
                    <a:pt x="12573" y="8671"/>
                  </a:cubicBezTo>
                  <a:cubicBezTo>
                    <a:pt x="12333" y="7381"/>
                    <a:pt x="11995" y="6722"/>
                    <a:pt x="11570" y="6722"/>
                  </a:cubicBezTo>
                  <a:cubicBezTo>
                    <a:pt x="11117" y="6722"/>
                    <a:pt x="10758" y="7409"/>
                    <a:pt x="10503" y="8760"/>
                  </a:cubicBezTo>
                  <a:close/>
                  <a:moveTo>
                    <a:pt x="9126" y="7065"/>
                  </a:moveTo>
                  <a:lnTo>
                    <a:pt x="8482" y="7065"/>
                  </a:lnTo>
                  <a:lnTo>
                    <a:pt x="8482" y="21257"/>
                  </a:lnTo>
                  <a:lnTo>
                    <a:pt x="9126" y="21257"/>
                  </a:lnTo>
                  <a:lnTo>
                    <a:pt x="9126" y="13992"/>
                  </a:lnTo>
                  <a:cubicBezTo>
                    <a:pt x="9126" y="12757"/>
                    <a:pt x="9181" y="11744"/>
                    <a:pt x="9287" y="10985"/>
                  </a:cubicBezTo>
                  <a:cubicBezTo>
                    <a:pt x="9392" y="10227"/>
                    <a:pt x="9532" y="9845"/>
                    <a:pt x="9703" y="9845"/>
                  </a:cubicBezTo>
                  <a:cubicBezTo>
                    <a:pt x="9762" y="9845"/>
                    <a:pt x="9827" y="9895"/>
                    <a:pt x="9898" y="9989"/>
                  </a:cubicBezTo>
                  <a:cubicBezTo>
                    <a:pt x="9967" y="10088"/>
                    <a:pt x="10019" y="10194"/>
                    <a:pt x="10049" y="10304"/>
                  </a:cubicBezTo>
                  <a:lnTo>
                    <a:pt x="10075" y="10404"/>
                  </a:lnTo>
                  <a:lnTo>
                    <a:pt x="10075" y="7038"/>
                  </a:lnTo>
                  <a:lnTo>
                    <a:pt x="10065" y="7015"/>
                  </a:lnTo>
                  <a:cubicBezTo>
                    <a:pt x="10005" y="6883"/>
                    <a:pt x="9919" y="6816"/>
                    <a:pt x="9812" y="6816"/>
                  </a:cubicBezTo>
                  <a:cubicBezTo>
                    <a:pt x="9650" y="6816"/>
                    <a:pt x="9506" y="7087"/>
                    <a:pt x="9381" y="7619"/>
                  </a:cubicBezTo>
                  <a:cubicBezTo>
                    <a:pt x="9272" y="8084"/>
                    <a:pt x="9194" y="8726"/>
                    <a:pt x="9133" y="9524"/>
                  </a:cubicBezTo>
                  <a:lnTo>
                    <a:pt x="9126" y="9524"/>
                  </a:lnTo>
                  <a:lnTo>
                    <a:pt x="9126" y="7065"/>
                  </a:lnTo>
                  <a:close/>
                  <a:moveTo>
                    <a:pt x="6544" y="7696"/>
                  </a:moveTo>
                  <a:cubicBezTo>
                    <a:pt x="6320" y="8350"/>
                    <a:pt x="6145" y="9275"/>
                    <a:pt x="6027" y="10454"/>
                  </a:cubicBezTo>
                  <a:cubicBezTo>
                    <a:pt x="5909" y="11622"/>
                    <a:pt x="5849" y="12995"/>
                    <a:pt x="5849" y="14529"/>
                  </a:cubicBezTo>
                  <a:cubicBezTo>
                    <a:pt x="5849" y="15869"/>
                    <a:pt x="5907" y="17098"/>
                    <a:pt x="6023" y="18184"/>
                  </a:cubicBezTo>
                  <a:cubicBezTo>
                    <a:pt x="6137" y="19269"/>
                    <a:pt x="6299" y="20122"/>
                    <a:pt x="6505" y="20709"/>
                  </a:cubicBezTo>
                  <a:cubicBezTo>
                    <a:pt x="6709" y="21301"/>
                    <a:pt x="6946" y="21600"/>
                    <a:pt x="7208" y="21600"/>
                  </a:cubicBezTo>
                  <a:cubicBezTo>
                    <a:pt x="7515" y="21600"/>
                    <a:pt x="7776" y="21279"/>
                    <a:pt x="7986" y="20653"/>
                  </a:cubicBezTo>
                  <a:lnTo>
                    <a:pt x="7994" y="20631"/>
                  </a:lnTo>
                  <a:lnTo>
                    <a:pt x="7994" y="17569"/>
                  </a:lnTo>
                  <a:lnTo>
                    <a:pt x="7968" y="17674"/>
                  </a:lnTo>
                  <a:cubicBezTo>
                    <a:pt x="7873" y="18029"/>
                    <a:pt x="7766" y="18317"/>
                    <a:pt x="7652" y="18521"/>
                  </a:cubicBezTo>
                  <a:cubicBezTo>
                    <a:pt x="7538" y="18732"/>
                    <a:pt x="7434" y="18831"/>
                    <a:pt x="7344" y="18831"/>
                  </a:cubicBezTo>
                  <a:cubicBezTo>
                    <a:pt x="7090" y="18831"/>
                    <a:pt x="6887" y="18422"/>
                    <a:pt x="6740" y="17613"/>
                  </a:cubicBezTo>
                  <a:cubicBezTo>
                    <a:pt x="6593" y="16805"/>
                    <a:pt x="6518" y="15670"/>
                    <a:pt x="6518" y="14241"/>
                  </a:cubicBezTo>
                  <a:cubicBezTo>
                    <a:pt x="6518" y="12802"/>
                    <a:pt x="6596" y="11633"/>
                    <a:pt x="6749" y="10781"/>
                  </a:cubicBezTo>
                  <a:cubicBezTo>
                    <a:pt x="6902" y="9922"/>
                    <a:pt x="7106" y="9485"/>
                    <a:pt x="7353" y="9485"/>
                  </a:cubicBezTo>
                  <a:cubicBezTo>
                    <a:pt x="7566" y="9485"/>
                    <a:pt x="7772" y="9856"/>
                    <a:pt x="7968" y="10592"/>
                  </a:cubicBezTo>
                  <a:lnTo>
                    <a:pt x="7994" y="10692"/>
                  </a:lnTo>
                  <a:lnTo>
                    <a:pt x="7994" y="7469"/>
                  </a:lnTo>
                  <a:lnTo>
                    <a:pt x="7986" y="7447"/>
                  </a:lnTo>
                  <a:cubicBezTo>
                    <a:pt x="7912" y="7231"/>
                    <a:pt x="7812" y="7054"/>
                    <a:pt x="7688" y="6921"/>
                  </a:cubicBezTo>
                  <a:cubicBezTo>
                    <a:pt x="7564" y="6788"/>
                    <a:pt x="7442" y="6722"/>
                    <a:pt x="7328" y="6722"/>
                  </a:cubicBezTo>
                  <a:cubicBezTo>
                    <a:pt x="7031" y="6722"/>
                    <a:pt x="6768" y="7049"/>
                    <a:pt x="6544" y="7696"/>
                  </a:cubicBezTo>
                  <a:close/>
                  <a:moveTo>
                    <a:pt x="5406" y="7065"/>
                  </a:moveTo>
                  <a:lnTo>
                    <a:pt x="4760" y="7065"/>
                  </a:lnTo>
                  <a:lnTo>
                    <a:pt x="4760" y="21257"/>
                  </a:lnTo>
                  <a:lnTo>
                    <a:pt x="5406" y="21257"/>
                  </a:lnTo>
                  <a:lnTo>
                    <a:pt x="5406" y="7065"/>
                  </a:lnTo>
                  <a:close/>
                  <a:moveTo>
                    <a:pt x="4815" y="1573"/>
                  </a:moveTo>
                  <a:cubicBezTo>
                    <a:pt x="4739" y="1944"/>
                    <a:pt x="4700" y="2414"/>
                    <a:pt x="4700" y="2968"/>
                  </a:cubicBezTo>
                  <a:cubicBezTo>
                    <a:pt x="4700" y="3510"/>
                    <a:pt x="4738" y="3970"/>
                    <a:pt x="4814" y="4330"/>
                  </a:cubicBezTo>
                  <a:cubicBezTo>
                    <a:pt x="4889" y="4695"/>
                    <a:pt x="4982" y="4878"/>
                    <a:pt x="5090" y="4878"/>
                  </a:cubicBezTo>
                  <a:cubicBezTo>
                    <a:pt x="5197" y="4878"/>
                    <a:pt x="5290" y="4695"/>
                    <a:pt x="5367" y="4330"/>
                  </a:cubicBezTo>
                  <a:cubicBezTo>
                    <a:pt x="5443" y="3970"/>
                    <a:pt x="5482" y="3510"/>
                    <a:pt x="5482" y="2968"/>
                  </a:cubicBezTo>
                  <a:cubicBezTo>
                    <a:pt x="5482" y="2436"/>
                    <a:pt x="5444" y="1971"/>
                    <a:pt x="5370" y="1589"/>
                  </a:cubicBezTo>
                  <a:cubicBezTo>
                    <a:pt x="5296" y="1207"/>
                    <a:pt x="5202" y="1019"/>
                    <a:pt x="5090" y="1019"/>
                  </a:cubicBezTo>
                  <a:cubicBezTo>
                    <a:pt x="4984" y="1019"/>
                    <a:pt x="4891" y="1202"/>
                    <a:pt x="4815" y="1573"/>
                  </a:cubicBezTo>
                  <a:close/>
                  <a:moveTo>
                    <a:pt x="3481" y="21257"/>
                  </a:moveTo>
                  <a:lnTo>
                    <a:pt x="4139" y="21257"/>
                  </a:lnTo>
                  <a:lnTo>
                    <a:pt x="4139" y="1451"/>
                  </a:lnTo>
                  <a:lnTo>
                    <a:pt x="3229" y="1451"/>
                  </a:lnTo>
                  <a:lnTo>
                    <a:pt x="2071" y="16157"/>
                  </a:lnTo>
                  <a:lnTo>
                    <a:pt x="948" y="1451"/>
                  </a:lnTo>
                  <a:lnTo>
                    <a:pt x="0" y="1451"/>
                  </a:lnTo>
                  <a:lnTo>
                    <a:pt x="0" y="21257"/>
                  </a:lnTo>
                  <a:lnTo>
                    <a:pt x="619" y="21257"/>
                  </a:lnTo>
                  <a:lnTo>
                    <a:pt x="619" y="6013"/>
                  </a:lnTo>
                  <a:lnTo>
                    <a:pt x="640" y="6013"/>
                  </a:lnTo>
                  <a:lnTo>
                    <a:pt x="1825" y="21257"/>
                  </a:lnTo>
                  <a:lnTo>
                    <a:pt x="2293" y="21257"/>
                  </a:lnTo>
                  <a:lnTo>
                    <a:pt x="3460" y="6019"/>
                  </a:lnTo>
                  <a:lnTo>
                    <a:pt x="3481" y="6019"/>
                  </a:lnTo>
                  <a:lnTo>
                    <a:pt x="3481" y="21257"/>
                  </a:lnTo>
                  <a:close/>
                </a:path>
              </a:pathLst>
            </a:custGeom>
            <a:solidFill>
              <a:srgbClr val="706D6E"/>
            </a:solidFill>
            <a:ln w="12700" cap="flat">
              <a:noFill/>
              <a:miter lim="400000"/>
            </a:ln>
            <a:effectLst/>
          </p:spPr>
          <p:txBody>
            <a:bodyPr wrap="square" lIns="91440" tIns="91440" rIns="91440" bIns="91440" numCol="1" anchor="ctr">
              <a:normAutofit fontScale="7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sp>
          <p:nvSpPr>
            <p:cNvPr id="216096" name="Square">
              <a:extLst>
                <a:ext uri="{FF2B5EF4-FFF2-40B4-BE49-F238E27FC236}">
                  <a16:creationId xmlns:a16="http://schemas.microsoft.com/office/drawing/2014/main" id="{D10170A8-68AF-B6D6-719E-D6CDCCFB688C}"/>
                </a:ext>
              </a:extLst>
            </p:cNvPr>
            <p:cNvSpPr/>
            <p:nvPr/>
          </p:nvSpPr>
          <p:spPr>
            <a:xfrm>
              <a:off x="0" y="0"/>
              <a:ext cx="794417" cy="794417"/>
            </a:xfrm>
            <a:prstGeom prst="rect">
              <a:avLst/>
            </a:prstGeom>
            <a:solidFill>
              <a:srgbClr val="F1511B"/>
            </a:solidFill>
            <a:ln w="12700" cap="flat">
              <a:noFill/>
              <a:miter lim="400000"/>
            </a:ln>
            <a:effectLst/>
          </p:spPr>
          <p:txBody>
            <a:bodyPr wrap="square" lIns="91440" tIns="91440" rIns="91440" bIns="91440" numCol="1" anchor="ctr">
              <a:normAutofit fontScale="4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sp>
          <p:nvSpPr>
            <p:cNvPr id="216097" name="Square">
              <a:extLst>
                <a:ext uri="{FF2B5EF4-FFF2-40B4-BE49-F238E27FC236}">
                  <a16:creationId xmlns:a16="http://schemas.microsoft.com/office/drawing/2014/main" id="{07C5E1C7-0CE9-5C8F-990E-7C3D729E44F3}"/>
                </a:ext>
              </a:extLst>
            </p:cNvPr>
            <p:cNvSpPr/>
            <p:nvPr/>
          </p:nvSpPr>
          <p:spPr>
            <a:xfrm>
              <a:off x="877373" y="0"/>
              <a:ext cx="794418" cy="794417"/>
            </a:xfrm>
            <a:prstGeom prst="rect">
              <a:avLst/>
            </a:prstGeom>
            <a:solidFill>
              <a:srgbClr val="80CC28"/>
            </a:solidFill>
            <a:ln w="12700" cap="flat">
              <a:noFill/>
              <a:miter lim="400000"/>
            </a:ln>
            <a:effectLst/>
          </p:spPr>
          <p:txBody>
            <a:bodyPr wrap="square" lIns="91440" tIns="91440" rIns="91440" bIns="91440" numCol="1" anchor="ctr">
              <a:normAutofit fontScale="4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sp>
          <p:nvSpPr>
            <p:cNvPr id="216098" name="Square">
              <a:extLst>
                <a:ext uri="{FF2B5EF4-FFF2-40B4-BE49-F238E27FC236}">
                  <a16:creationId xmlns:a16="http://schemas.microsoft.com/office/drawing/2014/main" id="{8A917394-7739-AB44-E0A1-36CFD0D87D1E}"/>
                </a:ext>
              </a:extLst>
            </p:cNvPr>
            <p:cNvSpPr/>
            <p:nvPr/>
          </p:nvSpPr>
          <p:spPr>
            <a:xfrm>
              <a:off x="0" y="876140"/>
              <a:ext cx="794417" cy="794418"/>
            </a:xfrm>
            <a:prstGeom prst="rect">
              <a:avLst/>
            </a:prstGeom>
            <a:solidFill>
              <a:srgbClr val="00ADEF"/>
            </a:solidFill>
            <a:ln w="12700" cap="flat">
              <a:noFill/>
              <a:miter lim="400000"/>
            </a:ln>
            <a:effectLst/>
          </p:spPr>
          <p:txBody>
            <a:bodyPr wrap="square" lIns="91440" tIns="91440" rIns="91440" bIns="91440" numCol="1" anchor="ctr">
              <a:normAutofit fontScale="4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sp>
          <p:nvSpPr>
            <p:cNvPr id="216099" name="Square">
              <a:extLst>
                <a:ext uri="{FF2B5EF4-FFF2-40B4-BE49-F238E27FC236}">
                  <a16:creationId xmlns:a16="http://schemas.microsoft.com/office/drawing/2014/main" id="{DB12A325-AAE7-CD2A-8017-AA5FB6ADBD60}"/>
                </a:ext>
              </a:extLst>
            </p:cNvPr>
            <p:cNvSpPr/>
            <p:nvPr/>
          </p:nvSpPr>
          <p:spPr>
            <a:xfrm>
              <a:off x="877372" y="876141"/>
              <a:ext cx="794419" cy="794420"/>
            </a:xfrm>
            <a:prstGeom prst="rect">
              <a:avLst/>
            </a:prstGeom>
            <a:solidFill>
              <a:srgbClr val="FBBC09"/>
            </a:solidFill>
            <a:ln w="12700" cap="flat">
              <a:noFill/>
              <a:miter lim="400000"/>
            </a:ln>
            <a:effectLst/>
          </p:spPr>
          <p:txBody>
            <a:bodyPr wrap="square" lIns="91440" tIns="91440" rIns="91440" bIns="91440" numCol="1" anchor="ctr">
              <a:normAutofit fontScale="4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grpSp>
      <p:cxnSp>
        <p:nvCxnSpPr>
          <p:cNvPr id="216104" name="Straight Connector 216103">
            <a:extLst>
              <a:ext uri="{FF2B5EF4-FFF2-40B4-BE49-F238E27FC236}">
                <a16:creationId xmlns:a16="http://schemas.microsoft.com/office/drawing/2014/main" id="{6BF89CBD-30BD-1289-35A0-E92E0C50DA54}"/>
              </a:ext>
            </a:extLst>
          </p:cNvPr>
          <p:cNvCxnSpPr/>
          <p:nvPr/>
        </p:nvCxnSpPr>
        <p:spPr>
          <a:xfrm>
            <a:off x="11904042" y="3796854"/>
            <a:ext cx="0" cy="6617668"/>
          </a:xfrm>
          <a:prstGeom prst="line">
            <a:avLst/>
          </a:prstGeom>
          <a:noFill/>
          <a:ln w="6350" cap="flat" cmpd="sng" algn="ctr">
            <a:solidFill>
              <a:srgbClr val="E6E6E6">
                <a:lumMod val="75000"/>
              </a:srgbClr>
            </a:solidFill>
            <a:prstDash val="solid"/>
            <a:miter lim="800000"/>
          </a:ln>
          <a:effectLst/>
        </p:spPr>
      </p:cxnSp>
      <p:sp>
        <p:nvSpPr>
          <p:cNvPr id="216106" name="Text Placeholder 1">
            <a:extLst>
              <a:ext uri="{FF2B5EF4-FFF2-40B4-BE49-F238E27FC236}">
                <a16:creationId xmlns:a16="http://schemas.microsoft.com/office/drawing/2014/main" id="{61F56509-C35C-05DF-6521-4CBA1ABFB38C}"/>
              </a:ext>
            </a:extLst>
          </p:cNvPr>
          <p:cNvSpPr txBox="1">
            <a:spLocks/>
          </p:cNvSpPr>
          <p:nvPr/>
        </p:nvSpPr>
        <p:spPr bwMode="auto">
          <a:xfrm>
            <a:off x="12830142" y="7112080"/>
            <a:ext cx="6908044" cy="4693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rtlCol="0" anchor="t" anchorCtr="0" compatLnSpc="1">
            <a:prstTxWarp prst="textNoShape">
              <a:avLst/>
            </a:prstTxWarp>
            <a:noAutofit/>
          </a:bodyPr>
          <a:lstStyle>
            <a:lvl1pPr marL="142875" indent="-142875"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1pPr>
            <a:lvl2pPr marL="428625" indent="-144463"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2pPr>
            <a:lvl3pPr marL="714375" indent="-147638"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3pPr>
            <a:lvl4pPr marL="1000125" indent="-149225"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4pPr>
            <a:lvl5pPr marL="1285875" indent="-152400" algn="l" rtl="0" eaLnBrk="1" fontAlgn="base" hangingPunct="1">
              <a:spcBef>
                <a:spcPct val="0"/>
              </a:spcBef>
              <a:spcAft>
                <a:spcPts val="1500"/>
              </a:spcAft>
              <a:buClr>
                <a:schemeClr val="tx2"/>
              </a:buClr>
              <a:buFont typeface="Arial" panose="020B0604020202020204" pitchFamily="34" charset="0"/>
              <a:buChar char="•"/>
              <a:defRPr lang="en-US" kern="1200" dirty="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828800">
              <a:spcBef>
                <a:spcPts val="1200"/>
              </a:spcBef>
              <a:spcAft>
                <a:spcPts val="3000"/>
              </a:spcAft>
              <a:buClr>
                <a:srgbClr val="EB0000"/>
              </a:buClr>
              <a:buNone/>
              <a:defRPr/>
            </a:pPr>
            <a:r>
              <a:rPr lang="en-GB" sz="3600">
                <a:solidFill>
                  <a:srgbClr val="000000"/>
                </a:solidFill>
                <a:latin typeface="Arial" panose="020B0604020202020204" pitchFamily="34" charset="0"/>
                <a:ea typeface="MS PGothic" panose="020B0600070205080204" pitchFamily="34" charset="-128"/>
              </a:rPr>
              <a:t>Azure Migration and Modernization Program (</a:t>
            </a:r>
            <a:r>
              <a:rPr lang="en-GB" sz="3600" b="1">
                <a:solidFill>
                  <a:srgbClr val="000000"/>
                </a:solidFill>
                <a:latin typeface="Arial" panose="020B0604020202020204" pitchFamily="34" charset="0"/>
                <a:ea typeface="MS PGothic" panose="020B0600070205080204" pitchFamily="34" charset="-128"/>
              </a:rPr>
              <a:t>AMMP</a:t>
            </a:r>
            <a:r>
              <a:rPr lang="en-GB" sz="3600">
                <a:solidFill>
                  <a:srgbClr val="000000"/>
                </a:solidFill>
                <a:latin typeface="Arial" panose="020B0604020202020204" pitchFamily="34" charset="0"/>
                <a:ea typeface="MS PGothic" panose="020B0600070205080204" pitchFamily="34" charset="-128"/>
              </a:rPr>
              <a:t>)</a:t>
            </a:r>
          </a:p>
          <a:p>
            <a:pPr marL="0" indent="0" algn="ctr" defTabSz="1828800">
              <a:spcBef>
                <a:spcPts val="1200"/>
              </a:spcBef>
              <a:spcAft>
                <a:spcPts val="3000"/>
              </a:spcAft>
              <a:buClr>
                <a:srgbClr val="EB0000"/>
              </a:buClr>
              <a:buNone/>
              <a:defRPr/>
            </a:pPr>
            <a:r>
              <a:rPr lang="en-US" sz="3200" u="sng">
                <a:solidFill>
                  <a:srgbClr val="EB0000"/>
                </a:solidFill>
                <a:latin typeface="Arial" panose="020B0604020202020204" pitchFamily="34" charset="0"/>
                <a:ea typeface="MS PGothic" panose="020B0600070205080204" pitchFamily="34" charset="-128"/>
                <a:hlinkClick r:id="rId3"/>
              </a:rPr>
              <a:t>External Link</a:t>
            </a:r>
            <a:endParaRPr lang="en-US" sz="3200">
              <a:solidFill>
                <a:sysClr val="windowText" lastClr="000000"/>
              </a:solidFill>
              <a:latin typeface="Arial" panose="020B0604020202020204" pitchFamily="34" charset="0"/>
              <a:ea typeface="MS PGothic" panose="020B0600070205080204" pitchFamily="34" charset="-128"/>
            </a:endParaRPr>
          </a:p>
          <a:p>
            <a:pPr marL="0" indent="0" algn="ctr" defTabSz="1828800">
              <a:spcBef>
                <a:spcPts val="1200"/>
              </a:spcBef>
              <a:spcAft>
                <a:spcPts val="3000"/>
              </a:spcAft>
              <a:buClr>
                <a:srgbClr val="EB0000"/>
              </a:buClr>
              <a:buNone/>
              <a:defRPr/>
            </a:pPr>
            <a:endParaRPr lang="en-GB" sz="3600">
              <a:solidFill>
                <a:sysClr val="windowText" lastClr="000000"/>
              </a:solidFill>
              <a:latin typeface="Arial"/>
            </a:endParaRPr>
          </a:p>
        </p:txBody>
      </p:sp>
    </p:spTree>
    <p:extLst>
      <p:ext uri="{BB962C8B-B14F-4D97-AF65-F5344CB8AC3E}">
        <p14:creationId xmlns:p14="http://schemas.microsoft.com/office/powerpoint/2010/main" val="193126330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951975-E4E1-A14F-51B7-9F6CC2EB7D6B}"/>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D2135A7D-5702-2722-1348-63BA722B8A70}"/>
              </a:ext>
            </a:extLst>
          </p:cNvPr>
          <p:cNvSpPr>
            <a:spLocks noGrp="1"/>
          </p:cNvSpPr>
          <p:nvPr>
            <p:ph type="title"/>
          </p:nvPr>
        </p:nvSpPr>
        <p:spPr/>
        <p:txBody>
          <a:bodyPr/>
          <a:lstStyle/>
          <a:p>
            <a:r>
              <a:rPr lang="en-US"/>
              <a:t>Migration Program</a:t>
            </a:r>
          </a:p>
        </p:txBody>
      </p:sp>
      <p:sp>
        <p:nvSpPr>
          <p:cNvPr id="11" name="object 6">
            <a:extLst>
              <a:ext uri="{FF2B5EF4-FFF2-40B4-BE49-F238E27FC236}">
                <a16:creationId xmlns:a16="http://schemas.microsoft.com/office/drawing/2014/main" id="{182D07E8-52DC-A8AA-201E-22F2DCE7DACD}"/>
              </a:ext>
            </a:extLst>
          </p:cNvPr>
          <p:cNvSpPr/>
          <p:nvPr/>
        </p:nvSpPr>
        <p:spPr>
          <a:xfrm>
            <a:off x="1270958" y="2977204"/>
            <a:ext cx="6233160" cy="731520"/>
          </a:xfrm>
          <a:custGeom>
            <a:avLst/>
            <a:gdLst/>
            <a:ahLst/>
            <a:cxnLst/>
            <a:rect l="l" t="t" r="r" b="b"/>
            <a:pathLst>
              <a:path w="3116579" h="365760">
                <a:moveTo>
                  <a:pt x="2933700" y="0"/>
                </a:moveTo>
                <a:lnTo>
                  <a:pt x="0" y="0"/>
                </a:lnTo>
                <a:lnTo>
                  <a:pt x="0" y="365760"/>
                </a:lnTo>
                <a:lnTo>
                  <a:pt x="2933700" y="365760"/>
                </a:lnTo>
                <a:lnTo>
                  <a:pt x="3116579" y="182880"/>
                </a:lnTo>
                <a:lnTo>
                  <a:pt x="2933700" y="0"/>
                </a:lnTo>
                <a:close/>
              </a:path>
            </a:pathLst>
          </a:custGeom>
          <a:solidFill>
            <a:srgbClr val="1F74D4"/>
          </a:solidFill>
        </p:spPr>
        <p:txBody>
          <a:bodyPr wrap="square" lIns="0" tIns="0" rIns="0" bIns="0" rtlCol="0"/>
          <a:lstStyle/>
          <a:p>
            <a:pPr defTabSz="1828800">
              <a:defRPr/>
            </a:pPr>
            <a:endParaRPr sz="3600" kern="0">
              <a:solidFill>
                <a:sysClr val="windowText" lastClr="000000"/>
              </a:solidFill>
              <a:latin typeface="Arial"/>
            </a:endParaRPr>
          </a:p>
        </p:txBody>
      </p:sp>
      <p:grpSp>
        <p:nvGrpSpPr>
          <p:cNvPr id="175" name="object 7">
            <a:extLst>
              <a:ext uri="{FF2B5EF4-FFF2-40B4-BE49-F238E27FC236}">
                <a16:creationId xmlns:a16="http://schemas.microsoft.com/office/drawing/2014/main" id="{CB0261F9-E68E-18AE-497A-CCA9EC395171}"/>
              </a:ext>
            </a:extLst>
          </p:cNvPr>
          <p:cNvGrpSpPr/>
          <p:nvPr/>
        </p:nvGrpSpPr>
        <p:grpSpPr>
          <a:xfrm>
            <a:off x="7619940" y="2977204"/>
            <a:ext cx="15596868" cy="731520"/>
            <a:chOff x="3784091" y="1635251"/>
            <a:chExt cx="7798434" cy="365760"/>
          </a:xfrm>
        </p:grpSpPr>
        <p:sp>
          <p:nvSpPr>
            <p:cNvPr id="176" name="object 8">
              <a:extLst>
                <a:ext uri="{FF2B5EF4-FFF2-40B4-BE49-F238E27FC236}">
                  <a16:creationId xmlns:a16="http://schemas.microsoft.com/office/drawing/2014/main" id="{38A802FD-3658-78B6-EE4B-D407534117EA}"/>
                </a:ext>
              </a:extLst>
            </p:cNvPr>
            <p:cNvSpPr/>
            <p:nvPr/>
          </p:nvSpPr>
          <p:spPr>
            <a:xfrm>
              <a:off x="8737091" y="1635251"/>
              <a:ext cx="2845435" cy="365760"/>
            </a:xfrm>
            <a:custGeom>
              <a:avLst/>
              <a:gdLst/>
              <a:ahLst/>
              <a:cxnLst/>
              <a:rect l="l" t="t" r="r" b="b"/>
              <a:pathLst>
                <a:path w="2845434" h="365760">
                  <a:moveTo>
                    <a:pt x="2662428" y="0"/>
                  </a:moveTo>
                  <a:lnTo>
                    <a:pt x="0" y="0"/>
                  </a:lnTo>
                  <a:lnTo>
                    <a:pt x="182879" y="182880"/>
                  </a:lnTo>
                  <a:lnTo>
                    <a:pt x="0" y="365760"/>
                  </a:lnTo>
                  <a:lnTo>
                    <a:pt x="2662428" y="365760"/>
                  </a:lnTo>
                  <a:lnTo>
                    <a:pt x="2845307" y="182880"/>
                  </a:lnTo>
                  <a:lnTo>
                    <a:pt x="2662428" y="0"/>
                  </a:lnTo>
                  <a:close/>
                </a:path>
              </a:pathLst>
            </a:custGeom>
            <a:solidFill>
              <a:srgbClr val="7B58EC"/>
            </a:solidFill>
          </p:spPr>
          <p:txBody>
            <a:bodyPr wrap="square" lIns="0" tIns="0" rIns="0" bIns="0" rtlCol="0"/>
            <a:lstStyle/>
            <a:p>
              <a:pPr defTabSz="1828800">
                <a:defRPr/>
              </a:pPr>
              <a:endParaRPr sz="3600" kern="0">
                <a:solidFill>
                  <a:sysClr val="windowText" lastClr="000000"/>
                </a:solidFill>
                <a:latin typeface="Arial"/>
              </a:endParaRPr>
            </a:p>
          </p:txBody>
        </p:sp>
        <p:sp>
          <p:nvSpPr>
            <p:cNvPr id="177" name="object 9">
              <a:extLst>
                <a:ext uri="{FF2B5EF4-FFF2-40B4-BE49-F238E27FC236}">
                  <a16:creationId xmlns:a16="http://schemas.microsoft.com/office/drawing/2014/main" id="{16CC23FE-5C91-5B67-7908-A199A3ED99AE}"/>
                </a:ext>
              </a:extLst>
            </p:cNvPr>
            <p:cNvSpPr/>
            <p:nvPr/>
          </p:nvSpPr>
          <p:spPr>
            <a:xfrm>
              <a:off x="3784091" y="1635251"/>
              <a:ext cx="4940935" cy="365760"/>
            </a:xfrm>
            <a:custGeom>
              <a:avLst/>
              <a:gdLst/>
              <a:ahLst/>
              <a:cxnLst/>
              <a:rect l="l" t="t" r="r" b="b"/>
              <a:pathLst>
                <a:path w="4940934" h="365760">
                  <a:moveTo>
                    <a:pt x="4757928" y="0"/>
                  </a:moveTo>
                  <a:lnTo>
                    <a:pt x="0" y="0"/>
                  </a:lnTo>
                  <a:lnTo>
                    <a:pt x="182880" y="182880"/>
                  </a:lnTo>
                  <a:lnTo>
                    <a:pt x="0" y="365760"/>
                  </a:lnTo>
                  <a:lnTo>
                    <a:pt x="4757928" y="365760"/>
                  </a:lnTo>
                  <a:lnTo>
                    <a:pt x="4940808" y="182880"/>
                  </a:lnTo>
                  <a:lnTo>
                    <a:pt x="4757928" y="0"/>
                  </a:lnTo>
                  <a:close/>
                </a:path>
              </a:pathLst>
            </a:custGeom>
            <a:solidFill>
              <a:srgbClr val="38EE7C"/>
            </a:solidFill>
          </p:spPr>
          <p:txBody>
            <a:bodyPr wrap="square" lIns="0" tIns="0" rIns="0" bIns="0" rtlCol="0"/>
            <a:lstStyle/>
            <a:p>
              <a:pPr defTabSz="1828800">
                <a:defRPr/>
              </a:pPr>
              <a:endParaRPr sz="3600" kern="0">
                <a:solidFill>
                  <a:sysClr val="windowText" lastClr="000000"/>
                </a:solidFill>
                <a:latin typeface="Arial"/>
              </a:endParaRPr>
            </a:p>
          </p:txBody>
        </p:sp>
      </p:grpSp>
      <p:sp>
        <p:nvSpPr>
          <p:cNvPr id="178" name="object 10">
            <a:extLst>
              <a:ext uri="{FF2B5EF4-FFF2-40B4-BE49-F238E27FC236}">
                <a16:creationId xmlns:a16="http://schemas.microsoft.com/office/drawing/2014/main" id="{7CE749D5-EE73-7821-542F-271ED3B817F1}"/>
              </a:ext>
            </a:extLst>
          </p:cNvPr>
          <p:cNvSpPr txBox="1"/>
          <p:nvPr/>
        </p:nvSpPr>
        <p:spPr>
          <a:xfrm>
            <a:off x="18435516" y="3062408"/>
            <a:ext cx="4483608" cy="523220"/>
          </a:xfrm>
          <a:prstGeom prst="rect">
            <a:avLst/>
          </a:prstGeom>
        </p:spPr>
        <p:txBody>
          <a:bodyPr vert="horz" wrap="square" lIns="0" tIns="30480" rIns="0" bIns="0" rtlCol="0">
            <a:spAutoFit/>
          </a:bodyPr>
          <a:lstStyle/>
          <a:p>
            <a:pPr marL="25400" defTabSz="1828800">
              <a:spcBef>
                <a:spcPts val="240"/>
              </a:spcBef>
              <a:tabLst>
                <a:tab pos="8072120" algn="l"/>
                <a:tab pos="14635480" algn="l"/>
              </a:tabLst>
              <a:defRPr/>
            </a:pPr>
            <a:r>
              <a:rPr sz="3200" b="1" kern="0" spc="90">
                <a:solidFill>
                  <a:srgbClr val="FFFFFF"/>
                </a:solidFill>
                <a:latin typeface="Arial"/>
                <a:cs typeface="Trebuchet MS"/>
              </a:rPr>
              <a:t>Migrate</a:t>
            </a:r>
            <a:r>
              <a:rPr sz="3200" b="1" kern="0" spc="-130">
                <a:solidFill>
                  <a:srgbClr val="FFFFFF"/>
                </a:solidFill>
                <a:latin typeface="Arial"/>
                <a:cs typeface="Trebuchet MS"/>
              </a:rPr>
              <a:t> </a:t>
            </a:r>
            <a:r>
              <a:rPr sz="3200" b="1" kern="0" spc="130">
                <a:solidFill>
                  <a:srgbClr val="FFFFFF"/>
                </a:solidFill>
                <a:latin typeface="Arial"/>
                <a:cs typeface="Trebuchet MS"/>
              </a:rPr>
              <a:t>&amp;</a:t>
            </a:r>
            <a:r>
              <a:rPr sz="3200" b="1" kern="0" spc="-140">
                <a:solidFill>
                  <a:srgbClr val="FFFFFF"/>
                </a:solidFill>
                <a:latin typeface="Arial"/>
                <a:cs typeface="Trebuchet MS"/>
              </a:rPr>
              <a:t> </a:t>
            </a:r>
            <a:r>
              <a:rPr lang="en-US" sz="3200" b="1" kern="0" spc="-20">
                <a:solidFill>
                  <a:srgbClr val="FFFFFF"/>
                </a:solidFill>
                <a:latin typeface="Arial"/>
                <a:cs typeface="Trebuchet MS"/>
              </a:rPr>
              <a:t>M</a:t>
            </a:r>
            <a:r>
              <a:rPr sz="3200" b="1" kern="0" spc="-20">
                <a:solidFill>
                  <a:srgbClr val="FFFFFF"/>
                </a:solidFill>
                <a:latin typeface="Arial"/>
                <a:cs typeface="Trebuchet MS"/>
              </a:rPr>
              <a:t>odernize</a:t>
            </a:r>
            <a:endParaRPr sz="3200" kern="0">
              <a:solidFill>
                <a:sysClr val="windowText" lastClr="000000"/>
              </a:solidFill>
              <a:latin typeface="Arial"/>
              <a:cs typeface="Trebuchet MS"/>
            </a:endParaRPr>
          </a:p>
        </p:txBody>
      </p:sp>
      <p:sp>
        <p:nvSpPr>
          <p:cNvPr id="179" name="object 12">
            <a:extLst>
              <a:ext uri="{FF2B5EF4-FFF2-40B4-BE49-F238E27FC236}">
                <a16:creationId xmlns:a16="http://schemas.microsoft.com/office/drawing/2014/main" id="{7ACFA5D7-AA51-711F-A581-3AF2C401BF03}"/>
              </a:ext>
            </a:extLst>
          </p:cNvPr>
          <p:cNvSpPr txBox="1"/>
          <p:nvPr/>
        </p:nvSpPr>
        <p:spPr>
          <a:xfrm>
            <a:off x="17943134" y="11334277"/>
            <a:ext cx="4856480" cy="951542"/>
          </a:xfrm>
          <a:prstGeom prst="rect">
            <a:avLst/>
          </a:prstGeom>
        </p:spPr>
        <p:txBody>
          <a:bodyPr vert="horz" wrap="none" lIns="0" tIns="78740" rIns="0" bIns="0" rtlCol="0">
            <a:noAutofit/>
          </a:bodyPr>
          <a:lstStyle/>
          <a:p>
            <a:pPr marL="1738630" marR="10160" indent="-1714500" algn="ctr" defTabSz="1828800">
              <a:lnSpc>
                <a:spcPts val="3460"/>
              </a:lnSpc>
              <a:spcBef>
                <a:spcPts val="620"/>
              </a:spcBef>
              <a:defRPr/>
            </a:pPr>
            <a:r>
              <a:rPr sz="3200" kern="0" spc="-50">
                <a:solidFill>
                  <a:srgbClr val="000000"/>
                </a:solidFill>
                <a:latin typeface="Arial"/>
                <a:cs typeface="Trebuchet MS"/>
              </a:rPr>
              <a:t>Accelerate</a:t>
            </a:r>
            <a:r>
              <a:rPr lang="en-AE" sz="3200" kern="0" spc="-60">
                <a:solidFill>
                  <a:srgbClr val="000000"/>
                </a:solidFill>
                <a:latin typeface="Arial"/>
                <a:cs typeface="Trebuchet MS"/>
              </a:rPr>
              <a:t> </a:t>
            </a:r>
          </a:p>
          <a:p>
            <a:pPr marL="1738630" marR="10160" indent="-1714500" algn="ctr" defTabSz="1828800">
              <a:lnSpc>
                <a:spcPts val="3460"/>
              </a:lnSpc>
              <a:spcBef>
                <a:spcPts val="620"/>
              </a:spcBef>
              <a:defRPr/>
            </a:pPr>
            <a:r>
              <a:rPr lang="en-GB" sz="3200" kern="0" spc="-20">
                <a:solidFill>
                  <a:srgbClr val="000000"/>
                </a:solidFill>
                <a:latin typeface="Arial"/>
                <a:cs typeface="Trebuchet MS"/>
              </a:rPr>
              <a:t>t</a:t>
            </a:r>
            <a:r>
              <a:rPr sz="3200" kern="0" spc="-20">
                <a:solidFill>
                  <a:srgbClr val="000000"/>
                </a:solidFill>
                <a:latin typeface="Arial"/>
                <a:cs typeface="Trebuchet MS"/>
              </a:rPr>
              <a:t>ransformation</a:t>
            </a:r>
            <a:r>
              <a:rPr lang="en-US" sz="3200" kern="0" spc="-20">
                <a:solidFill>
                  <a:srgbClr val="000000"/>
                </a:solidFill>
                <a:latin typeface="Arial"/>
                <a:cs typeface="Trebuchet MS"/>
              </a:rPr>
              <a:t> </a:t>
            </a:r>
            <a:r>
              <a:rPr sz="3200" kern="0">
                <a:solidFill>
                  <a:srgbClr val="000000"/>
                </a:solidFill>
                <a:latin typeface="Arial"/>
                <a:cs typeface="Trebuchet MS"/>
              </a:rPr>
              <a:t>at</a:t>
            </a:r>
            <a:r>
              <a:rPr sz="3200" kern="0" spc="-190">
                <a:solidFill>
                  <a:srgbClr val="000000"/>
                </a:solidFill>
                <a:latin typeface="Arial"/>
                <a:cs typeface="Trebuchet MS"/>
              </a:rPr>
              <a:t> </a:t>
            </a:r>
            <a:r>
              <a:rPr sz="3200" kern="0" spc="-40">
                <a:solidFill>
                  <a:srgbClr val="000000"/>
                </a:solidFill>
                <a:latin typeface="Arial"/>
                <a:cs typeface="Trebuchet MS"/>
              </a:rPr>
              <a:t>scale</a:t>
            </a:r>
            <a:endParaRPr sz="3200" kern="0">
              <a:solidFill>
                <a:srgbClr val="000000"/>
              </a:solidFill>
              <a:latin typeface="Arial"/>
              <a:cs typeface="Trebuchet MS"/>
            </a:endParaRPr>
          </a:p>
        </p:txBody>
      </p:sp>
      <p:grpSp>
        <p:nvGrpSpPr>
          <p:cNvPr id="180" name="object 13">
            <a:extLst>
              <a:ext uri="{FF2B5EF4-FFF2-40B4-BE49-F238E27FC236}">
                <a16:creationId xmlns:a16="http://schemas.microsoft.com/office/drawing/2014/main" id="{5F63F5FA-C655-845D-E52A-45E2CC79ED9F}"/>
              </a:ext>
            </a:extLst>
          </p:cNvPr>
          <p:cNvGrpSpPr/>
          <p:nvPr/>
        </p:nvGrpSpPr>
        <p:grpSpPr>
          <a:xfrm>
            <a:off x="1272482" y="10516740"/>
            <a:ext cx="21945600" cy="731520"/>
            <a:chOff x="610362" y="5318759"/>
            <a:chExt cx="10972800" cy="365760"/>
          </a:xfrm>
        </p:grpSpPr>
        <p:sp>
          <p:nvSpPr>
            <p:cNvPr id="181" name="object 14">
              <a:extLst>
                <a:ext uri="{FF2B5EF4-FFF2-40B4-BE49-F238E27FC236}">
                  <a16:creationId xmlns:a16="http://schemas.microsoft.com/office/drawing/2014/main" id="{6AE9C63F-C269-D533-0799-4834588FE6EC}"/>
                </a:ext>
              </a:extLst>
            </p:cNvPr>
            <p:cNvSpPr/>
            <p:nvPr/>
          </p:nvSpPr>
          <p:spPr>
            <a:xfrm>
              <a:off x="6153150" y="5331713"/>
              <a:ext cx="158750" cy="353060"/>
            </a:xfrm>
            <a:custGeom>
              <a:avLst/>
              <a:gdLst/>
              <a:ahLst/>
              <a:cxnLst/>
              <a:rect l="l" t="t" r="r" b="b"/>
              <a:pathLst>
                <a:path w="158750" h="353060">
                  <a:moveTo>
                    <a:pt x="11684" y="240284"/>
                  </a:moveTo>
                  <a:lnTo>
                    <a:pt x="6223" y="244856"/>
                  </a:lnTo>
                  <a:lnTo>
                    <a:pt x="635" y="249428"/>
                  </a:lnTo>
                  <a:lnTo>
                    <a:pt x="0" y="257581"/>
                  </a:lnTo>
                  <a:lnTo>
                    <a:pt x="79248" y="352742"/>
                  </a:lnTo>
                  <a:lnTo>
                    <a:pt x="96095" y="332511"/>
                  </a:lnTo>
                  <a:lnTo>
                    <a:pt x="66294" y="332511"/>
                  </a:lnTo>
                  <a:lnTo>
                    <a:pt x="66294" y="296790"/>
                  </a:lnTo>
                  <a:lnTo>
                    <a:pt x="19812" y="241046"/>
                  </a:lnTo>
                  <a:lnTo>
                    <a:pt x="11684" y="240284"/>
                  </a:lnTo>
                  <a:close/>
                </a:path>
                <a:path w="158750" h="353060">
                  <a:moveTo>
                    <a:pt x="66294" y="296790"/>
                  </a:moveTo>
                  <a:lnTo>
                    <a:pt x="66294" y="332511"/>
                  </a:lnTo>
                  <a:lnTo>
                    <a:pt x="92201" y="332511"/>
                  </a:lnTo>
                  <a:lnTo>
                    <a:pt x="92201" y="324218"/>
                  </a:lnTo>
                  <a:lnTo>
                    <a:pt x="69341" y="324218"/>
                  </a:lnTo>
                  <a:lnTo>
                    <a:pt x="79248" y="312333"/>
                  </a:lnTo>
                  <a:lnTo>
                    <a:pt x="66294" y="296790"/>
                  </a:lnTo>
                  <a:close/>
                </a:path>
                <a:path w="158750" h="353060">
                  <a:moveTo>
                    <a:pt x="146812" y="240284"/>
                  </a:moveTo>
                  <a:lnTo>
                    <a:pt x="138684" y="241046"/>
                  </a:lnTo>
                  <a:lnTo>
                    <a:pt x="92201" y="296790"/>
                  </a:lnTo>
                  <a:lnTo>
                    <a:pt x="92201" y="332511"/>
                  </a:lnTo>
                  <a:lnTo>
                    <a:pt x="96095" y="332511"/>
                  </a:lnTo>
                  <a:lnTo>
                    <a:pt x="158496" y="257581"/>
                  </a:lnTo>
                  <a:lnTo>
                    <a:pt x="157861" y="249428"/>
                  </a:lnTo>
                  <a:lnTo>
                    <a:pt x="152273" y="244856"/>
                  </a:lnTo>
                  <a:lnTo>
                    <a:pt x="146812" y="240284"/>
                  </a:lnTo>
                  <a:close/>
                </a:path>
                <a:path w="158750" h="353060">
                  <a:moveTo>
                    <a:pt x="79248" y="312333"/>
                  </a:moveTo>
                  <a:lnTo>
                    <a:pt x="69341" y="324218"/>
                  </a:lnTo>
                  <a:lnTo>
                    <a:pt x="89153" y="324218"/>
                  </a:lnTo>
                  <a:lnTo>
                    <a:pt x="79248" y="312333"/>
                  </a:lnTo>
                  <a:close/>
                </a:path>
                <a:path w="158750" h="353060">
                  <a:moveTo>
                    <a:pt x="92201" y="296790"/>
                  </a:moveTo>
                  <a:lnTo>
                    <a:pt x="79248" y="312333"/>
                  </a:lnTo>
                  <a:lnTo>
                    <a:pt x="89153" y="324218"/>
                  </a:lnTo>
                  <a:lnTo>
                    <a:pt x="92201" y="324218"/>
                  </a:lnTo>
                  <a:lnTo>
                    <a:pt x="92201" y="296790"/>
                  </a:lnTo>
                  <a:close/>
                </a:path>
                <a:path w="158750" h="353060">
                  <a:moveTo>
                    <a:pt x="92201" y="0"/>
                  </a:moveTo>
                  <a:lnTo>
                    <a:pt x="66294" y="0"/>
                  </a:lnTo>
                  <a:lnTo>
                    <a:pt x="66294" y="296790"/>
                  </a:lnTo>
                  <a:lnTo>
                    <a:pt x="79248" y="312333"/>
                  </a:lnTo>
                  <a:lnTo>
                    <a:pt x="92201" y="296790"/>
                  </a:lnTo>
                  <a:lnTo>
                    <a:pt x="92201" y="0"/>
                  </a:lnTo>
                  <a:close/>
                </a:path>
              </a:pathLst>
            </a:custGeom>
            <a:solidFill>
              <a:srgbClr val="38EE7C"/>
            </a:solidFill>
          </p:spPr>
          <p:txBody>
            <a:bodyPr wrap="square" lIns="0" tIns="0" rIns="0" bIns="0" rtlCol="0"/>
            <a:lstStyle/>
            <a:p>
              <a:pPr defTabSz="1828800">
                <a:defRPr/>
              </a:pPr>
              <a:endParaRPr sz="3600" kern="0">
                <a:solidFill>
                  <a:sysClr val="windowText" lastClr="000000"/>
                </a:solidFill>
                <a:latin typeface="Arial"/>
              </a:endParaRPr>
            </a:p>
          </p:txBody>
        </p:sp>
        <p:sp>
          <p:nvSpPr>
            <p:cNvPr id="182" name="object 15">
              <a:extLst>
                <a:ext uri="{FF2B5EF4-FFF2-40B4-BE49-F238E27FC236}">
                  <a16:creationId xmlns:a16="http://schemas.microsoft.com/office/drawing/2014/main" id="{EFA7CD5B-D7A6-2D45-5151-F797F9EA83C3}"/>
                </a:ext>
              </a:extLst>
            </p:cNvPr>
            <p:cNvSpPr/>
            <p:nvPr/>
          </p:nvSpPr>
          <p:spPr>
            <a:xfrm>
              <a:off x="3726941" y="5331713"/>
              <a:ext cx="5011420" cy="0"/>
            </a:xfrm>
            <a:custGeom>
              <a:avLst/>
              <a:gdLst/>
              <a:ahLst/>
              <a:cxnLst/>
              <a:rect l="l" t="t" r="r" b="b"/>
              <a:pathLst>
                <a:path w="5011420">
                  <a:moveTo>
                    <a:pt x="0" y="0"/>
                  </a:moveTo>
                  <a:lnTo>
                    <a:pt x="5011293" y="0"/>
                  </a:lnTo>
                </a:path>
              </a:pathLst>
            </a:custGeom>
            <a:ln w="25908">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83" name="object 16">
              <a:extLst>
                <a:ext uri="{FF2B5EF4-FFF2-40B4-BE49-F238E27FC236}">
                  <a16:creationId xmlns:a16="http://schemas.microsoft.com/office/drawing/2014/main" id="{A4346D90-5E0D-EE3F-F624-41DCA2FB10B9}"/>
                </a:ext>
              </a:extLst>
            </p:cNvPr>
            <p:cNvSpPr/>
            <p:nvPr/>
          </p:nvSpPr>
          <p:spPr>
            <a:xfrm>
              <a:off x="610362" y="5331713"/>
              <a:ext cx="3115945" cy="0"/>
            </a:xfrm>
            <a:custGeom>
              <a:avLst/>
              <a:gdLst/>
              <a:ahLst/>
              <a:cxnLst/>
              <a:rect l="l" t="t" r="r" b="b"/>
              <a:pathLst>
                <a:path w="3115945">
                  <a:moveTo>
                    <a:pt x="0" y="0"/>
                  </a:moveTo>
                  <a:lnTo>
                    <a:pt x="3115817" y="0"/>
                  </a:lnTo>
                </a:path>
              </a:pathLst>
            </a:custGeom>
            <a:ln w="25908">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84" name="object 17">
              <a:extLst>
                <a:ext uri="{FF2B5EF4-FFF2-40B4-BE49-F238E27FC236}">
                  <a16:creationId xmlns:a16="http://schemas.microsoft.com/office/drawing/2014/main" id="{063BDA25-5A1D-17AF-4E86-37BEE47E52D0}"/>
                </a:ext>
              </a:extLst>
            </p:cNvPr>
            <p:cNvSpPr/>
            <p:nvPr/>
          </p:nvSpPr>
          <p:spPr>
            <a:xfrm>
              <a:off x="2088642" y="5331713"/>
              <a:ext cx="158750" cy="353060"/>
            </a:xfrm>
            <a:custGeom>
              <a:avLst/>
              <a:gdLst/>
              <a:ahLst/>
              <a:cxnLst/>
              <a:rect l="l" t="t" r="r" b="b"/>
              <a:pathLst>
                <a:path w="158750" h="353060">
                  <a:moveTo>
                    <a:pt x="11683" y="240284"/>
                  </a:moveTo>
                  <a:lnTo>
                    <a:pt x="6222" y="244856"/>
                  </a:lnTo>
                  <a:lnTo>
                    <a:pt x="634" y="249428"/>
                  </a:lnTo>
                  <a:lnTo>
                    <a:pt x="0" y="257581"/>
                  </a:lnTo>
                  <a:lnTo>
                    <a:pt x="79247" y="352742"/>
                  </a:lnTo>
                  <a:lnTo>
                    <a:pt x="96095" y="332511"/>
                  </a:lnTo>
                  <a:lnTo>
                    <a:pt x="66293" y="332511"/>
                  </a:lnTo>
                  <a:lnTo>
                    <a:pt x="66293" y="296790"/>
                  </a:lnTo>
                  <a:lnTo>
                    <a:pt x="19812" y="241046"/>
                  </a:lnTo>
                  <a:lnTo>
                    <a:pt x="11683" y="240284"/>
                  </a:lnTo>
                  <a:close/>
                </a:path>
                <a:path w="158750" h="353060">
                  <a:moveTo>
                    <a:pt x="66293" y="296790"/>
                  </a:moveTo>
                  <a:lnTo>
                    <a:pt x="66293" y="332511"/>
                  </a:lnTo>
                  <a:lnTo>
                    <a:pt x="92201" y="332511"/>
                  </a:lnTo>
                  <a:lnTo>
                    <a:pt x="92201" y="324218"/>
                  </a:lnTo>
                  <a:lnTo>
                    <a:pt x="69341" y="324218"/>
                  </a:lnTo>
                  <a:lnTo>
                    <a:pt x="79247" y="312333"/>
                  </a:lnTo>
                  <a:lnTo>
                    <a:pt x="66293" y="296790"/>
                  </a:lnTo>
                  <a:close/>
                </a:path>
                <a:path w="158750" h="353060">
                  <a:moveTo>
                    <a:pt x="146812" y="240284"/>
                  </a:moveTo>
                  <a:lnTo>
                    <a:pt x="138683" y="241046"/>
                  </a:lnTo>
                  <a:lnTo>
                    <a:pt x="92201" y="296790"/>
                  </a:lnTo>
                  <a:lnTo>
                    <a:pt x="92201" y="332511"/>
                  </a:lnTo>
                  <a:lnTo>
                    <a:pt x="96095" y="332511"/>
                  </a:lnTo>
                  <a:lnTo>
                    <a:pt x="158495" y="257581"/>
                  </a:lnTo>
                  <a:lnTo>
                    <a:pt x="157860" y="249428"/>
                  </a:lnTo>
                  <a:lnTo>
                    <a:pt x="152272" y="244856"/>
                  </a:lnTo>
                  <a:lnTo>
                    <a:pt x="146812" y="240284"/>
                  </a:lnTo>
                  <a:close/>
                </a:path>
                <a:path w="158750" h="353060">
                  <a:moveTo>
                    <a:pt x="79247" y="312333"/>
                  </a:moveTo>
                  <a:lnTo>
                    <a:pt x="69341" y="324218"/>
                  </a:lnTo>
                  <a:lnTo>
                    <a:pt x="89153" y="324218"/>
                  </a:lnTo>
                  <a:lnTo>
                    <a:pt x="79247" y="312333"/>
                  </a:lnTo>
                  <a:close/>
                </a:path>
                <a:path w="158750" h="353060">
                  <a:moveTo>
                    <a:pt x="92201" y="296790"/>
                  </a:moveTo>
                  <a:lnTo>
                    <a:pt x="79247" y="312333"/>
                  </a:lnTo>
                  <a:lnTo>
                    <a:pt x="89153" y="324218"/>
                  </a:lnTo>
                  <a:lnTo>
                    <a:pt x="92201" y="324218"/>
                  </a:lnTo>
                  <a:lnTo>
                    <a:pt x="92201" y="296790"/>
                  </a:lnTo>
                  <a:close/>
                </a:path>
                <a:path w="158750" h="353060">
                  <a:moveTo>
                    <a:pt x="92201" y="0"/>
                  </a:moveTo>
                  <a:lnTo>
                    <a:pt x="66293" y="0"/>
                  </a:lnTo>
                  <a:lnTo>
                    <a:pt x="66293" y="296790"/>
                  </a:lnTo>
                  <a:lnTo>
                    <a:pt x="79247" y="312333"/>
                  </a:lnTo>
                  <a:lnTo>
                    <a:pt x="92201" y="296790"/>
                  </a:lnTo>
                  <a:lnTo>
                    <a:pt x="92201" y="0"/>
                  </a:lnTo>
                  <a:close/>
                </a:path>
              </a:pathLst>
            </a:custGeom>
            <a:solidFill>
              <a:srgbClr val="1F74D4"/>
            </a:solidFill>
          </p:spPr>
          <p:txBody>
            <a:bodyPr wrap="square" lIns="0" tIns="0" rIns="0" bIns="0" rtlCol="0"/>
            <a:lstStyle/>
            <a:p>
              <a:pPr defTabSz="1828800">
                <a:defRPr/>
              </a:pPr>
              <a:endParaRPr sz="3600" kern="0">
                <a:solidFill>
                  <a:sysClr val="windowText" lastClr="000000"/>
                </a:solidFill>
                <a:latin typeface="Arial"/>
              </a:endParaRPr>
            </a:p>
          </p:txBody>
        </p:sp>
        <p:sp>
          <p:nvSpPr>
            <p:cNvPr id="185" name="object 18">
              <a:extLst>
                <a:ext uri="{FF2B5EF4-FFF2-40B4-BE49-F238E27FC236}">
                  <a16:creationId xmlns:a16="http://schemas.microsoft.com/office/drawing/2014/main" id="{E03EAE2B-EE69-6F0A-2BAD-7D85180CF03B}"/>
                </a:ext>
              </a:extLst>
            </p:cNvPr>
            <p:cNvSpPr/>
            <p:nvPr/>
          </p:nvSpPr>
          <p:spPr>
            <a:xfrm>
              <a:off x="8739378" y="5331713"/>
              <a:ext cx="2844165" cy="0"/>
            </a:xfrm>
            <a:custGeom>
              <a:avLst/>
              <a:gdLst/>
              <a:ahLst/>
              <a:cxnLst/>
              <a:rect l="l" t="t" r="r" b="b"/>
              <a:pathLst>
                <a:path w="2844165">
                  <a:moveTo>
                    <a:pt x="0" y="0"/>
                  </a:moveTo>
                  <a:lnTo>
                    <a:pt x="2843783" y="0"/>
                  </a:lnTo>
                </a:path>
              </a:pathLst>
            </a:custGeom>
            <a:ln w="25908">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86" name="object 19">
              <a:extLst>
                <a:ext uri="{FF2B5EF4-FFF2-40B4-BE49-F238E27FC236}">
                  <a16:creationId xmlns:a16="http://schemas.microsoft.com/office/drawing/2014/main" id="{2E640C30-1FAF-C1AA-4E6A-17C38A9E6349}"/>
                </a:ext>
              </a:extLst>
            </p:cNvPr>
            <p:cNvSpPr/>
            <p:nvPr/>
          </p:nvSpPr>
          <p:spPr>
            <a:xfrm>
              <a:off x="10082021" y="5331713"/>
              <a:ext cx="158750" cy="353060"/>
            </a:xfrm>
            <a:custGeom>
              <a:avLst/>
              <a:gdLst/>
              <a:ahLst/>
              <a:cxnLst/>
              <a:rect l="l" t="t" r="r" b="b"/>
              <a:pathLst>
                <a:path w="158750" h="353060">
                  <a:moveTo>
                    <a:pt x="11683" y="240284"/>
                  </a:moveTo>
                  <a:lnTo>
                    <a:pt x="6223" y="244856"/>
                  </a:lnTo>
                  <a:lnTo>
                    <a:pt x="634" y="249428"/>
                  </a:lnTo>
                  <a:lnTo>
                    <a:pt x="0" y="257581"/>
                  </a:lnTo>
                  <a:lnTo>
                    <a:pt x="79248" y="352742"/>
                  </a:lnTo>
                  <a:lnTo>
                    <a:pt x="96095" y="332511"/>
                  </a:lnTo>
                  <a:lnTo>
                    <a:pt x="66294" y="332511"/>
                  </a:lnTo>
                  <a:lnTo>
                    <a:pt x="66294" y="296790"/>
                  </a:lnTo>
                  <a:lnTo>
                    <a:pt x="19811" y="241046"/>
                  </a:lnTo>
                  <a:lnTo>
                    <a:pt x="11683" y="240284"/>
                  </a:lnTo>
                  <a:close/>
                </a:path>
                <a:path w="158750" h="353060">
                  <a:moveTo>
                    <a:pt x="66294" y="296790"/>
                  </a:moveTo>
                  <a:lnTo>
                    <a:pt x="66294" y="332511"/>
                  </a:lnTo>
                  <a:lnTo>
                    <a:pt x="92201" y="332511"/>
                  </a:lnTo>
                  <a:lnTo>
                    <a:pt x="92201" y="324218"/>
                  </a:lnTo>
                  <a:lnTo>
                    <a:pt x="69342" y="324218"/>
                  </a:lnTo>
                  <a:lnTo>
                    <a:pt x="79248" y="312333"/>
                  </a:lnTo>
                  <a:lnTo>
                    <a:pt x="66294" y="296790"/>
                  </a:lnTo>
                  <a:close/>
                </a:path>
                <a:path w="158750" h="353060">
                  <a:moveTo>
                    <a:pt x="146811" y="240284"/>
                  </a:moveTo>
                  <a:lnTo>
                    <a:pt x="138683" y="241046"/>
                  </a:lnTo>
                  <a:lnTo>
                    <a:pt x="92201" y="296790"/>
                  </a:lnTo>
                  <a:lnTo>
                    <a:pt x="92201" y="332511"/>
                  </a:lnTo>
                  <a:lnTo>
                    <a:pt x="96095" y="332511"/>
                  </a:lnTo>
                  <a:lnTo>
                    <a:pt x="158496" y="257581"/>
                  </a:lnTo>
                  <a:lnTo>
                    <a:pt x="157860" y="249428"/>
                  </a:lnTo>
                  <a:lnTo>
                    <a:pt x="152273" y="244856"/>
                  </a:lnTo>
                  <a:lnTo>
                    <a:pt x="146811" y="240284"/>
                  </a:lnTo>
                  <a:close/>
                </a:path>
                <a:path w="158750" h="353060">
                  <a:moveTo>
                    <a:pt x="79248" y="312333"/>
                  </a:moveTo>
                  <a:lnTo>
                    <a:pt x="69342" y="324218"/>
                  </a:lnTo>
                  <a:lnTo>
                    <a:pt x="89153" y="324218"/>
                  </a:lnTo>
                  <a:lnTo>
                    <a:pt x="79248" y="312333"/>
                  </a:lnTo>
                  <a:close/>
                </a:path>
                <a:path w="158750" h="353060">
                  <a:moveTo>
                    <a:pt x="92201" y="296790"/>
                  </a:moveTo>
                  <a:lnTo>
                    <a:pt x="79248" y="312333"/>
                  </a:lnTo>
                  <a:lnTo>
                    <a:pt x="89153" y="324218"/>
                  </a:lnTo>
                  <a:lnTo>
                    <a:pt x="92201" y="324218"/>
                  </a:lnTo>
                  <a:lnTo>
                    <a:pt x="92201" y="296790"/>
                  </a:lnTo>
                  <a:close/>
                </a:path>
                <a:path w="158750" h="353060">
                  <a:moveTo>
                    <a:pt x="92201" y="0"/>
                  </a:moveTo>
                  <a:lnTo>
                    <a:pt x="66294" y="0"/>
                  </a:lnTo>
                  <a:lnTo>
                    <a:pt x="66294" y="296790"/>
                  </a:lnTo>
                  <a:lnTo>
                    <a:pt x="79248" y="312333"/>
                  </a:lnTo>
                  <a:lnTo>
                    <a:pt x="92201" y="296790"/>
                  </a:lnTo>
                  <a:lnTo>
                    <a:pt x="92201" y="0"/>
                  </a:lnTo>
                  <a:close/>
                </a:path>
              </a:pathLst>
            </a:custGeom>
            <a:solidFill>
              <a:srgbClr val="7B58EC"/>
            </a:solidFill>
          </p:spPr>
          <p:txBody>
            <a:bodyPr wrap="square" lIns="0" tIns="0" rIns="0" bIns="0" rtlCol="0"/>
            <a:lstStyle/>
            <a:p>
              <a:pPr defTabSz="1828800">
                <a:defRPr/>
              </a:pPr>
              <a:endParaRPr sz="3600" kern="0">
                <a:solidFill>
                  <a:sysClr val="windowText" lastClr="000000"/>
                </a:solidFill>
                <a:latin typeface="Arial"/>
              </a:endParaRPr>
            </a:p>
          </p:txBody>
        </p:sp>
      </p:grpSp>
      <p:grpSp>
        <p:nvGrpSpPr>
          <p:cNvPr id="188" name="object 21">
            <a:extLst>
              <a:ext uri="{FF2B5EF4-FFF2-40B4-BE49-F238E27FC236}">
                <a16:creationId xmlns:a16="http://schemas.microsoft.com/office/drawing/2014/main" id="{B0760730-8FB0-B61E-2AD0-4057CDFD0484}"/>
              </a:ext>
            </a:extLst>
          </p:cNvPr>
          <p:cNvGrpSpPr/>
          <p:nvPr/>
        </p:nvGrpSpPr>
        <p:grpSpPr>
          <a:xfrm>
            <a:off x="10811199" y="7159061"/>
            <a:ext cx="6711950" cy="3125526"/>
            <a:chOff x="5379720" y="3726179"/>
            <a:chExt cx="3355975" cy="1449705"/>
          </a:xfrm>
        </p:grpSpPr>
        <p:sp>
          <p:nvSpPr>
            <p:cNvPr id="189" name="object 22">
              <a:extLst>
                <a:ext uri="{FF2B5EF4-FFF2-40B4-BE49-F238E27FC236}">
                  <a16:creationId xmlns:a16="http://schemas.microsoft.com/office/drawing/2014/main" id="{C80444EE-3729-0F04-07E4-52A98627EAAB}"/>
                </a:ext>
              </a:extLst>
            </p:cNvPr>
            <p:cNvSpPr/>
            <p:nvPr/>
          </p:nvSpPr>
          <p:spPr>
            <a:xfrm>
              <a:off x="6676949" y="4047487"/>
              <a:ext cx="481330" cy="464820"/>
            </a:xfrm>
            <a:custGeom>
              <a:avLst/>
              <a:gdLst/>
              <a:ahLst/>
              <a:cxnLst/>
              <a:rect l="l" t="t" r="r" b="b"/>
              <a:pathLst>
                <a:path w="481329" h="464820">
                  <a:moveTo>
                    <a:pt x="4520" y="314454"/>
                  </a:moveTo>
                  <a:lnTo>
                    <a:pt x="13719" y="351786"/>
                  </a:lnTo>
                  <a:lnTo>
                    <a:pt x="29825" y="390987"/>
                  </a:lnTo>
                  <a:lnTo>
                    <a:pt x="54740" y="429451"/>
                  </a:lnTo>
                  <a:lnTo>
                    <a:pt x="90372" y="464568"/>
                  </a:lnTo>
                </a:path>
                <a:path w="481329" h="464820">
                  <a:moveTo>
                    <a:pt x="143966" y="29466"/>
                  </a:moveTo>
                  <a:lnTo>
                    <a:pt x="97403" y="60537"/>
                  </a:lnTo>
                  <a:lnTo>
                    <a:pt x="64332" y="93379"/>
                  </a:lnTo>
                  <a:lnTo>
                    <a:pt x="35162" y="134382"/>
                  </a:lnTo>
                  <a:lnTo>
                    <a:pt x="13004" y="182829"/>
                  </a:lnTo>
                  <a:lnTo>
                    <a:pt x="964" y="238000"/>
                  </a:lnTo>
                  <a:lnTo>
                    <a:pt x="0" y="263075"/>
                  </a:lnTo>
                  <a:lnTo>
                    <a:pt x="710" y="280418"/>
                  </a:lnTo>
                </a:path>
                <a:path w="481329" h="464820">
                  <a:moveTo>
                    <a:pt x="481151" y="112524"/>
                  </a:moveTo>
                  <a:lnTo>
                    <a:pt x="457212" y="82337"/>
                  </a:lnTo>
                  <a:lnTo>
                    <a:pt x="424796" y="53581"/>
                  </a:lnTo>
                  <a:lnTo>
                    <a:pt x="385036" y="28665"/>
                  </a:lnTo>
                  <a:lnTo>
                    <a:pt x="339063" y="10001"/>
                  </a:lnTo>
                  <a:lnTo>
                    <a:pt x="288013" y="0"/>
                  </a:lnTo>
                  <a:lnTo>
                    <a:pt x="233017" y="1070"/>
                  </a:lnTo>
                  <a:lnTo>
                    <a:pt x="175208" y="15623"/>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90" name="object 23">
              <a:extLst>
                <a:ext uri="{FF2B5EF4-FFF2-40B4-BE49-F238E27FC236}">
                  <a16:creationId xmlns:a16="http://schemas.microsoft.com/office/drawing/2014/main" id="{75E1DCFD-7055-455C-6CE3-7E0E294A1133}"/>
                </a:ext>
              </a:extLst>
            </p:cNvPr>
            <p:cNvSpPr/>
            <p:nvPr/>
          </p:nvSpPr>
          <p:spPr>
            <a:xfrm>
              <a:off x="7121271" y="4123562"/>
              <a:ext cx="46990" cy="43180"/>
            </a:xfrm>
            <a:custGeom>
              <a:avLst/>
              <a:gdLst/>
              <a:ahLst/>
              <a:cxnLst/>
              <a:rect l="l" t="t" r="r" b="b"/>
              <a:pathLst>
                <a:path w="46990" h="43179">
                  <a:moveTo>
                    <a:pt x="39624" y="0"/>
                  </a:moveTo>
                  <a:lnTo>
                    <a:pt x="34798" y="34417"/>
                  </a:lnTo>
                  <a:lnTo>
                    <a:pt x="1397" y="27050"/>
                  </a:lnTo>
                  <a:lnTo>
                    <a:pt x="0" y="33781"/>
                  </a:lnTo>
                  <a:lnTo>
                    <a:pt x="40639" y="42925"/>
                  </a:lnTo>
                  <a:lnTo>
                    <a:pt x="46608" y="1016"/>
                  </a:lnTo>
                  <a:lnTo>
                    <a:pt x="39624" y="0"/>
                  </a:lnTo>
                  <a:close/>
                </a:path>
              </a:pathLst>
            </a:custGeom>
            <a:solidFill>
              <a:srgbClr val="222E3D"/>
            </a:solidFill>
          </p:spPr>
          <p:txBody>
            <a:bodyPr wrap="square" lIns="0" tIns="0" rIns="0" bIns="0" rtlCol="0"/>
            <a:lstStyle/>
            <a:p>
              <a:pPr defTabSz="1828800">
                <a:defRPr/>
              </a:pPr>
              <a:endParaRPr sz="3600" kern="0">
                <a:solidFill>
                  <a:sysClr val="windowText" lastClr="000000"/>
                </a:solidFill>
                <a:latin typeface="Arial"/>
              </a:endParaRPr>
            </a:p>
          </p:txBody>
        </p:sp>
        <p:sp>
          <p:nvSpPr>
            <p:cNvPr id="191" name="object 24">
              <a:extLst>
                <a:ext uri="{FF2B5EF4-FFF2-40B4-BE49-F238E27FC236}">
                  <a16:creationId xmlns:a16="http://schemas.microsoft.com/office/drawing/2014/main" id="{D110765E-7D0B-9C82-F7C6-F14E2DFF3894}"/>
                </a:ext>
              </a:extLst>
            </p:cNvPr>
            <p:cNvSpPr/>
            <p:nvPr/>
          </p:nvSpPr>
          <p:spPr>
            <a:xfrm>
              <a:off x="7121271" y="4123562"/>
              <a:ext cx="46990" cy="43180"/>
            </a:xfrm>
            <a:custGeom>
              <a:avLst/>
              <a:gdLst/>
              <a:ahLst/>
              <a:cxnLst/>
              <a:rect l="l" t="t" r="r" b="b"/>
              <a:pathLst>
                <a:path w="46990" h="43179">
                  <a:moveTo>
                    <a:pt x="46608" y="1016"/>
                  </a:moveTo>
                  <a:lnTo>
                    <a:pt x="39624" y="0"/>
                  </a:lnTo>
                  <a:lnTo>
                    <a:pt x="34798" y="34417"/>
                  </a:lnTo>
                  <a:lnTo>
                    <a:pt x="1397" y="27050"/>
                  </a:lnTo>
                  <a:lnTo>
                    <a:pt x="0" y="33781"/>
                  </a:lnTo>
                  <a:lnTo>
                    <a:pt x="40639" y="42925"/>
                  </a:lnTo>
                  <a:lnTo>
                    <a:pt x="46608" y="1016"/>
                  </a:lnTo>
                  <a:close/>
                </a:path>
              </a:pathLst>
            </a:custGeom>
            <a:ln w="6096">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92" name="object 25">
              <a:extLst>
                <a:ext uri="{FF2B5EF4-FFF2-40B4-BE49-F238E27FC236}">
                  <a16:creationId xmlns:a16="http://schemas.microsoft.com/office/drawing/2014/main" id="{8F26BA6A-5040-FA89-BFE7-5CF539B9081B}"/>
                </a:ext>
              </a:extLst>
            </p:cNvPr>
            <p:cNvSpPr/>
            <p:nvPr/>
          </p:nvSpPr>
          <p:spPr>
            <a:xfrm>
              <a:off x="6830822" y="4233925"/>
              <a:ext cx="374650" cy="342900"/>
            </a:xfrm>
            <a:custGeom>
              <a:avLst/>
              <a:gdLst/>
              <a:ahLst/>
              <a:cxnLst/>
              <a:rect l="l" t="t" r="r" b="b"/>
              <a:pathLst>
                <a:path w="374650" h="342900">
                  <a:moveTo>
                    <a:pt x="374014" y="93853"/>
                  </a:moveTo>
                  <a:lnTo>
                    <a:pt x="374284" y="71562"/>
                  </a:lnTo>
                  <a:lnTo>
                    <a:pt x="372554" y="48402"/>
                  </a:lnTo>
                  <a:lnTo>
                    <a:pt x="368728" y="24505"/>
                  </a:lnTo>
                  <a:lnTo>
                    <a:pt x="362711" y="0"/>
                  </a:lnTo>
                </a:path>
                <a:path w="374650" h="342900">
                  <a:moveTo>
                    <a:pt x="353568" y="178562"/>
                  </a:moveTo>
                  <a:lnTo>
                    <a:pt x="359554" y="163395"/>
                  </a:lnTo>
                  <a:lnTo>
                    <a:pt x="364696" y="147621"/>
                  </a:lnTo>
                  <a:lnTo>
                    <a:pt x="368909" y="131252"/>
                  </a:lnTo>
                  <a:lnTo>
                    <a:pt x="372109" y="114300"/>
                  </a:lnTo>
                </a:path>
                <a:path w="374650" h="342900">
                  <a:moveTo>
                    <a:pt x="0" y="318262"/>
                  </a:moveTo>
                  <a:lnTo>
                    <a:pt x="42477" y="334060"/>
                  </a:lnTo>
                  <a:lnTo>
                    <a:pt x="88912" y="342483"/>
                  </a:lnTo>
                  <a:lnTo>
                    <a:pt x="138504" y="341762"/>
                  </a:lnTo>
                  <a:lnTo>
                    <a:pt x="190455" y="330128"/>
                  </a:lnTo>
                  <a:lnTo>
                    <a:pt x="243967" y="305816"/>
                  </a:lnTo>
                  <a:lnTo>
                    <a:pt x="296560" y="264493"/>
                  </a:lnTo>
                  <a:lnTo>
                    <a:pt x="321315" y="236003"/>
                  </a:lnTo>
                  <a:lnTo>
                    <a:pt x="343153" y="202692"/>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93" name="object 26">
              <a:extLst>
                <a:ext uri="{FF2B5EF4-FFF2-40B4-BE49-F238E27FC236}">
                  <a16:creationId xmlns:a16="http://schemas.microsoft.com/office/drawing/2014/main" id="{11A08B8F-2756-9C8B-F83A-42DBC854ABAA}"/>
                </a:ext>
              </a:extLst>
            </p:cNvPr>
            <p:cNvSpPr/>
            <p:nvPr/>
          </p:nvSpPr>
          <p:spPr>
            <a:xfrm>
              <a:off x="6822567" y="4535042"/>
              <a:ext cx="42545" cy="53340"/>
            </a:xfrm>
            <a:custGeom>
              <a:avLst/>
              <a:gdLst/>
              <a:ahLst/>
              <a:cxnLst/>
              <a:rect l="l" t="t" r="r" b="b"/>
              <a:pathLst>
                <a:path w="42545" h="53339">
                  <a:moveTo>
                    <a:pt x="40004" y="0"/>
                  </a:moveTo>
                  <a:lnTo>
                    <a:pt x="0" y="13715"/>
                  </a:lnTo>
                  <a:lnTo>
                    <a:pt x="16509" y="52831"/>
                  </a:lnTo>
                  <a:lnTo>
                    <a:pt x="23240" y="50037"/>
                  </a:lnTo>
                  <a:lnTo>
                    <a:pt x="9525" y="17906"/>
                  </a:lnTo>
                  <a:lnTo>
                    <a:pt x="42163" y="6730"/>
                  </a:lnTo>
                  <a:lnTo>
                    <a:pt x="40004" y="0"/>
                  </a:lnTo>
                  <a:close/>
                </a:path>
              </a:pathLst>
            </a:custGeom>
            <a:solidFill>
              <a:srgbClr val="222E3D"/>
            </a:solidFill>
          </p:spPr>
          <p:txBody>
            <a:bodyPr wrap="square" lIns="0" tIns="0" rIns="0" bIns="0" rtlCol="0"/>
            <a:lstStyle/>
            <a:p>
              <a:pPr defTabSz="1828800">
                <a:defRPr/>
              </a:pPr>
              <a:endParaRPr sz="3600" kern="0">
                <a:solidFill>
                  <a:sysClr val="windowText" lastClr="000000"/>
                </a:solidFill>
                <a:latin typeface="Arial"/>
              </a:endParaRPr>
            </a:p>
          </p:txBody>
        </p:sp>
        <p:sp>
          <p:nvSpPr>
            <p:cNvPr id="194" name="object 27">
              <a:extLst>
                <a:ext uri="{FF2B5EF4-FFF2-40B4-BE49-F238E27FC236}">
                  <a16:creationId xmlns:a16="http://schemas.microsoft.com/office/drawing/2014/main" id="{2413C571-36ED-13F0-48CC-59A350299C1D}"/>
                </a:ext>
              </a:extLst>
            </p:cNvPr>
            <p:cNvSpPr/>
            <p:nvPr/>
          </p:nvSpPr>
          <p:spPr>
            <a:xfrm>
              <a:off x="6822567" y="4535042"/>
              <a:ext cx="42545" cy="53340"/>
            </a:xfrm>
            <a:custGeom>
              <a:avLst/>
              <a:gdLst/>
              <a:ahLst/>
              <a:cxnLst/>
              <a:rect l="l" t="t" r="r" b="b"/>
              <a:pathLst>
                <a:path w="42545" h="53339">
                  <a:moveTo>
                    <a:pt x="16509" y="52831"/>
                  </a:moveTo>
                  <a:lnTo>
                    <a:pt x="23240" y="50037"/>
                  </a:lnTo>
                  <a:lnTo>
                    <a:pt x="9525" y="17906"/>
                  </a:lnTo>
                  <a:lnTo>
                    <a:pt x="42163" y="6730"/>
                  </a:lnTo>
                  <a:lnTo>
                    <a:pt x="40004" y="0"/>
                  </a:lnTo>
                  <a:lnTo>
                    <a:pt x="0" y="13715"/>
                  </a:lnTo>
                  <a:lnTo>
                    <a:pt x="16509" y="52831"/>
                  </a:lnTo>
                  <a:close/>
                </a:path>
              </a:pathLst>
            </a:custGeom>
            <a:ln w="6096">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95" name="object 28">
              <a:extLst>
                <a:ext uri="{FF2B5EF4-FFF2-40B4-BE49-F238E27FC236}">
                  <a16:creationId xmlns:a16="http://schemas.microsoft.com/office/drawing/2014/main" id="{C774CA24-4C2B-BB9E-26DD-567D82E12833}"/>
                </a:ext>
              </a:extLst>
            </p:cNvPr>
            <p:cNvSpPr/>
            <p:nvPr/>
          </p:nvSpPr>
          <p:spPr>
            <a:xfrm>
              <a:off x="6804406" y="4169409"/>
              <a:ext cx="284480" cy="285750"/>
            </a:xfrm>
            <a:custGeom>
              <a:avLst/>
              <a:gdLst/>
              <a:ahLst/>
              <a:cxnLst/>
              <a:rect l="l" t="t" r="r" b="b"/>
              <a:pathLst>
                <a:path w="284479" h="285750">
                  <a:moveTo>
                    <a:pt x="26416" y="226567"/>
                  </a:moveTo>
                  <a:lnTo>
                    <a:pt x="32258" y="233044"/>
                  </a:lnTo>
                  <a:lnTo>
                    <a:pt x="38226" y="239648"/>
                  </a:lnTo>
                  <a:lnTo>
                    <a:pt x="44069" y="246125"/>
                  </a:lnTo>
                  <a:lnTo>
                    <a:pt x="83566" y="226059"/>
                  </a:lnTo>
                  <a:lnTo>
                    <a:pt x="90257" y="230227"/>
                  </a:lnTo>
                  <a:lnTo>
                    <a:pt x="97186" y="233965"/>
                  </a:lnTo>
                  <a:lnTo>
                    <a:pt x="104354" y="237275"/>
                  </a:lnTo>
                  <a:lnTo>
                    <a:pt x="111760" y="240156"/>
                  </a:lnTo>
                  <a:lnTo>
                    <a:pt x="119379" y="283971"/>
                  </a:lnTo>
                  <a:lnTo>
                    <a:pt x="128270" y="284606"/>
                  </a:lnTo>
                  <a:lnTo>
                    <a:pt x="137160" y="285114"/>
                  </a:lnTo>
                  <a:lnTo>
                    <a:pt x="145923" y="285750"/>
                  </a:lnTo>
                  <a:lnTo>
                    <a:pt x="159512" y="243204"/>
                  </a:lnTo>
                  <a:lnTo>
                    <a:pt x="167006" y="241546"/>
                  </a:lnTo>
                  <a:lnTo>
                    <a:pt x="174418" y="239268"/>
                  </a:lnTo>
                  <a:lnTo>
                    <a:pt x="181711" y="236418"/>
                  </a:lnTo>
                  <a:lnTo>
                    <a:pt x="188849" y="233044"/>
                  </a:lnTo>
                  <a:lnTo>
                    <a:pt x="225425" y="258571"/>
                  </a:lnTo>
                  <a:lnTo>
                    <a:pt x="231901" y="252602"/>
                  </a:lnTo>
                  <a:lnTo>
                    <a:pt x="238378" y="246760"/>
                  </a:lnTo>
                  <a:lnTo>
                    <a:pt x="244855" y="240791"/>
                  </a:lnTo>
                  <a:lnTo>
                    <a:pt x="224790" y="201167"/>
                  </a:lnTo>
                  <a:lnTo>
                    <a:pt x="229028" y="194393"/>
                  </a:lnTo>
                  <a:lnTo>
                    <a:pt x="232791" y="187451"/>
                  </a:lnTo>
                  <a:lnTo>
                    <a:pt x="236077" y="180415"/>
                  </a:lnTo>
                  <a:lnTo>
                    <a:pt x="238887" y="173354"/>
                  </a:lnTo>
                  <a:lnTo>
                    <a:pt x="282448" y="165607"/>
                  </a:lnTo>
                  <a:lnTo>
                    <a:pt x="283083" y="156717"/>
                  </a:lnTo>
                  <a:lnTo>
                    <a:pt x="283718" y="147954"/>
                  </a:lnTo>
                  <a:lnTo>
                    <a:pt x="284225" y="139064"/>
                  </a:lnTo>
                  <a:lnTo>
                    <a:pt x="241935" y="125475"/>
                  </a:lnTo>
                  <a:lnTo>
                    <a:pt x="240278" y="117887"/>
                  </a:lnTo>
                  <a:lnTo>
                    <a:pt x="238013" y="110394"/>
                  </a:lnTo>
                  <a:lnTo>
                    <a:pt x="235202" y="103044"/>
                  </a:lnTo>
                  <a:lnTo>
                    <a:pt x="231901" y="95884"/>
                  </a:lnTo>
                  <a:lnTo>
                    <a:pt x="257175" y="59181"/>
                  </a:lnTo>
                  <a:lnTo>
                    <a:pt x="251333" y="52704"/>
                  </a:lnTo>
                  <a:lnTo>
                    <a:pt x="245364" y="46100"/>
                  </a:lnTo>
                  <a:lnTo>
                    <a:pt x="239522" y="39623"/>
                  </a:lnTo>
                  <a:lnTo>
                    <a:pt x="200151" y="59689"/>
                  </a:lnTo>
                  <a:lnTo>
                    <a:pt x="193387" y="55254"/>
                  </a:lnTo>
                  <a:lnTo>
                    <a:pt x="186420" y="51546"/>
                  </a:lnTo>
                  <a:lnTo>
                    <a:pt x="179238" y="48385"/>
                  </a:lnTo>
                  <a:lnTo>
                    <a:pt x="171830" y="45592"/>
                  </a:lnTo>
                  <a:lnTo>
                    <a:pt x="164211" y="1777"/>
                  </a:lnTo>
                  <a:lnTo>
                    <a:pt x="155321" y="1142"/>
                  </a:lnTo>
                  <a:lnTo>
                    <a:pt x="146558" y="634"/>
                  </a:lnTo>
                  <a:lnTo>
                    <a:pt x="137668" y="0"/>
                  </a:lnTo>
                  <a:lnTo>
                    <a:pt x="124205" y="42037"/>
                  </a:lnTo>
                  <a:lnTo>
                    <a:pt x="116324" y="43693"/>
                  </a:lnTo>
                  <a:lnTo>
                    <a:pt x="108680" y="45958"/>
                  </a:lnTo>
                  <a:lnTo>
                    <a:pt x="101274" y="48769"/>
                  </a:lnTo>
                  <a:lnTo>
                    <a:pt x="94107" y="52069"/>
                  </a:lnTo>
                  <a:lnTo>
                    <a:pt x="58166" y="26669"/>
                  </a:lnTo>
                  <a:lnTo>
                    <a:pt x="51689" y="32512"/>
                  </a:lnTo>
                  <a:lnTo>
                    <a:pt x="45212" y="38481"/>
                  </a:lnTo>
                  <a:lnTo>
                    <a:pt x="38735" y="44322"/>
                  </a:lnTo>
                  <a:lnTo>
                    <a:pt x="58800" y="83438"/>
                  </a:lnTo>
                  <a:lnTo>
                    <a:pt x="54276" y="90203"/>
                  </a:lnTo>
                  <a:lnTo>
                    <a:pt x="50418" y="97170"/>
                  </a:lnTo>
                  <a:lnTo>
                    <a:pt x="47228" y="104352"/>
                  </a:lnTo>
                  <a:lnTo>
                    <a:pt x="44703" y="111759"/>
                  </a:lnTo>
                  <a:lnTo>
                    <a:pt x="1650" y="119506"/>
                  </a:lnTo>
                  <a:lnTo>
                    <a:pt x="1143" y="128396"/>
                  </a:lnTo>
                  <a:lnTo>
                    <a:pt x="508" y="137287"/>
                  </a:lnTo>
                  <a:lnTo>
                    <a:pt x="0" y="146176"/>
                  </a:lnTo>
                  <a:lnTo>
                    <a:pt x="41783" y="159765"/>
                  </a:lnTo>
                  <a:lnTo>
                    <a:pt x="43420" y="167380"/>
                  </a:lnTo>
                  <a:lnTo>
                    <a:pt x="45640" y="175053"/>
                  </a:lnTo>
                  <a:lnTo>
                    <a:pt x="48408" y="182608"/>
                  </a:lnTo>
                  <a:lnTo>
                    <a:pt x="51689" y="189864"/>
                  </a:lnTo>
                  <a:lnTo>
                    <a:pt x="26416" y="226567"/>
                  </a:lnTo>
                  <a:close/>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196" name="object 29">
              <a:extLst>
                <a:ext uri="{FF2B5EF4-FFF2-40B4-BE49-F238E27FC236}">
                  <a16:creationId xmlns:a16="http://schemas.microsoft.com/office/drawing/2014/main" id="{1569137B-9990-FE09-BF02-2DBDBEDDFE25}"/>
                </a:ext>
              </a:extLst>
            </p:cNvPr>
            <p:cNvPicPr/>
            <p:nvPr/>
          </p:nvPicPr>
          <p:blipFill>
            <a:blip r:embed="rId2" cstate="print"/>
            <a:stretch>
              <a:fillRect/>
            </a:stretch>
          </p:blipFill>
          <p:spPr>
            <a:xfrm>
              <a:off x="6882130" y="4247133"/>
              <a:ext cx="128270" cy="129666"/>
            </a:xfrm>
            <a:prstGeom prst="rect">
              <a:avLst/>
            </a:prstGeom>
          </p:spPr>
        </p:pic>
        <p:sp>
          <p:nvSpPr>
            <p:cNvPr id="197" name="object 30">
              <a:extLst>
                <a:ext uri="{FF2B5EF4-FFF2-40B4-BE49-F238E27FC236}">
                  <a16:creationId xmlns:a16="http://schemas.microsoft.com/office/drawing/2014/main" id="{193FC665-AC8D-A205-F471-8ABDCC0F6091}"/>
                </a:ext>
              </a:extLst>
            </p:cNvPr>
            <p:cNvSpPr/>
            <p:nvPr/>
          </p:nvSpPr>
          <p:spPr>
            <a:xfrm>
              <a:off x="7830566" y="4058792"/>
              <a:ext cx="384810" cy="527050"/>
            </a:xfrm>
            <a:custGeom>
              <a:avLst/>
              <a:gdLst/>
              <a:ahLst/>
              <a:cxnLst/>
              <a:rect l="l" t="t" r="r" b="b"/>
              <a:pathLst>
                <a:path w="384809" h="527050">
                  <a:moveTo>
                    <a:pt x="384048" y="90550"/>
                  </a:moveTo>
                  <a:lnTo>
                    <a:pt x="384048" y="62229"/>
                  </a:lnTo>
                  <a:lnTo>
                    <a:pt x="384048" y="54228"/>
                  </a:lnTo>
                  <a:lnTo>
                    <a:pt x="376808" y="48386"/>
                  </a:lnTo>
                  <a:lnTo>
                    <a:pt x="368807" y="50037"/>
                  </a:lnTo>
                  <a:lnTo>
                    <a:pt x="336446" y="54645"/>
                  </a:lnTo>
                  <a:lnTo>
                    <a:pt x="293274" y="53181"/>
                  </a:lnTo>
                  <a:lnTo>
                    <a:pt x="246149" y="39000"/>
                  </a:lnTo>
                  <a:lnTo>
                    <a:pt x="201929" y="5460"/>
                  </a:lnTo>
                  <a:lnTo>
                    <a:pt x="196850" y="0"/>
                  </a:lnTo>
                  <a:lnTo>
                    <a:pt x="187959" y="0"/>
                  </a:lnTo>
                  <a:lnTo>
                    <a:pt x="182879" y="5841"/>
                  </a:lnTo>
                  <a:lnTo>
                    <a:pt x="162506" y="24451"/>
                  </a:lnTo>
                  <a:lnTo>
                    <a:pt x="128762" y="42989"/>
                  </a:lnTo>
                  <a:lnTo>
                    <a:pt x="80135" y="53812"/>
                  </a:lnTo>
                  <a:lnTo>
                    <a:pt x="15112" y="49275"/>
                  </a:lnTo>
                  <a:lnTo>
                    <a:pt x="7111" y="47497"/>
                  </a:lnTo>
                  <a:lnTo>
                    <a:pt x="0" y="53466"/>
                  </a:lnTo>
                  <a:lnTo>
                    <a:pt x="0" y="61467"/>
                  </a:lnTo>
                  <a:lnTo>
                    <a:pt x="0" y="412749"/>
                  </a:lnTo>
                  <a:lnTo>
                    <a:pt x="0" y="417321"/>
                  </a:lnTo>
                  <a:lnTo>
                    <a:pt x="2539" y="421512"/>
                  </a:lnTo>
                  <a:lnTo>
                    <a:pt x="6350" y="423671"/>
                  </a:lnTo>
                  <a:lnTo>
                    <a:pt x="185927" y="524763"/>
                  </a:lnTo>
                  <a:lnTo>
                    <a:pt x="189610" y="526922"/>
                  </a:lnTo>
                  <a:lnTo>
                    <a:pt x="194309" y="526922"/>
                  </a:lnTo>
                  <a:lnTo>
                    <a:pt x="198119" y="524763"/>
                  </a:lnTo>
                  <a:lnTo>
                    <a:pt x="377698" y="424052"/>
                  </a:lnTo>
                  <a:lnTo>
                    <a:pt x="381507" y="422020"/>
                  </a:lnTo>
                  <a:lnTo>
                    <a:pt x="384048" y="417829"/>
                  </a:lnTo>
                  <a:lnTo>
                    <a:pt x="384048" y="413511"/>
                  </a:lnTo>
                  <a:lnTo>
                    <a:pt x="384428" y="385317"/>
                  </a:lnTo>
                </a:path>
                <a:path w="384809" h="527050">
                  <a:moveTo>
                    <a:pt x="4572" y="268096"/>
                  </a:moveTo>
                  <a:lnTo>
                    <a:pt x="246125" y="346328"/>
                  </a:lnTo>
                </a:path>
                <a:path w="384809" h="527050">
                  <a:moveTo>
                    <a:pt x="3048" y="124840"/>
                  </a:moveTo>
                  <a:lnTo>
                    <a:pt x="234568" y="197484"/>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98" name="object 31">
              <a:extLst>
                <a:ext uri="{FF2B5EF4-FFF2-40B4-BE49-F238E27FC236}">
                  <a16:creationId xmlns:a16="http://schemas.microsoft.com/office/drawing/2014/main" id="{BE2C0F30-C053-3674-D5FE-B69F6A375BD2}"/>
                </a:ext>
              </a:extLst>
            </p:cNvPr>
            <p:cNvSpPr/>
            <p:nvPr/>
          </p:nvSpPr>
          <p:spPr>
            <a:xfrm>
              <a:off x="8095742" y="4171441"/>
              <a:ext cx="240665" cy="240665"/>
            </a:xfrm>
            <a:custGeom>
              <a:avLst/>
              <a:gdLst/>
              <a:ahLst/>
              <a:cxnLst/>
              <a:rect l="l" t="t" r="r" b="b"/>
              <a:pathLst>
                <a:path w="240665" h="240664">
                  <a:moveTo>
                    <a:pt x="240283" y="120141"/>
                  </a:moveTo>
                  <a:lnTo>
                    <a:pt x="230852" y="166935"/>
                  </a:lnTo>
                  <a:lnTo>
                    <a:pt x="205120" y="205120"/>
                  </a:lnTo>
                  <a:lnTo>
                    <a:pt x="166935" y="230852"/>
                  </a:lnTo>
                  <a:lnTo>
                    <a:pt x="120141" y="240283"/>
                  </a:lnTo>
                  <a:lnTo>
                    <a:pt x="73348" y="230852"/>
                  </a:lnTo>
                  <a:lnTo>
                    <a:pt x="35163" y="205120"/>
                  </a:lnTo>
                  <a:lnTo>
                    <a:pt x="9431" y="166935"/>
                  </a:lnTo>
                  <a:lnTo>
                    <a:pt x="0" y="120141"/>
                  </a:lnTo>
                  <a:lnTo>
                    <a:pt x="9431" y="73348"/>
                  </a:lnTo>
                  <a:lnTo>
                    <a:pt x="35163" y="35163"/>
                  </a:lnTo>
                  <a:lnTo>
                    <a:pt x="73348" y="9431"/>
                  </a:lnTo>
                  <a:lnTo>
                    <a:pt x="120141" y="0"/>
                  </a:lnTo>
                  <a:lnTo>
                    <a:pt x="166935" y="9431"/>
                  </a:lnTo>
                  <a:lnTo>
                    <a:pt x="205120" y="35163"/>
                  </a:lnTo>
                  <a:lnTo>
                    <a:pt x="230852" y="73348"/>
                  </a:lnTo>
                  <a:lnTo>
                    <a:pt x="240283" y="120141"/>
                  </a:lnTo>
                  <a:close/>
                </a:path>
                <a:path w="240665" h="240664">
                  <a:moveTo>
                    <a:pt x="56387" y="131317"/>
                  </a:moveTo>
                  <a:lnTo>
                    <a:pt x="92328" y="167893"/>
                  </a:lnTo>
                  <a:lnTo>
                    <a:pt x="181228" y="77723"/>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199" name="object 32">
              <a:extLst>
                <a:ext uri="{FF2B5EF4-FFF2-40B4-BE49-F238E27FC236}">
                  <a16:creationId xmlns:a16="http://schemas.microsoft.com/office/drawing/2014/main" id="{4E563D77-F17C-ED20-561F-D5A541E69F84}"/>
                </a:ext>
              </a:extLst>
            </p:cNvPr>
            <p:cNvSpPr/>
            <p:nvPr/>
          </p:nvSpPr>
          <p:spPr>
            <a:xfrm>
              <a:off x="5682996" y="4468367"/>
              <a:ext cx="323215" cy="120650"/>
            </a:xfrm>
            <a:custGeom>
              <a:avLst/>
              <a:gdLst/>
              <a:ahLst/>
              <a:cxnLst/>
              <a:rect l="l" t="t" r="r" b="b"/>
              <a:pathLst>
                <a:path w="323214" h="120650">
                  <a:moveTo>
                    <a:pt x="0" y="60197"/>
                  </a:moveTo>
                  <a:lnTo>
                    <a:pt x="12686" y="36754"/>
                  </a:lnTo>
                  <a:lnTo>
                    <a:pt x="47291" y="17621"/>
                  </a:lnTo>
                  <a:lnTo>
                    <a:pt x="98637" y="4726"/>
                  </a:lnTo>
                  <a:lnTo>
                    <a:pt x="161543" y="0"/>
                  </a:lnTo>
                  <a:lnTo>
                    <a:pt x="224450" y="4726"/>
                  </a:lnTo>
                  <a:lnTo>
                    <a:pt x="275796" y="17621"/>
                  </a:lnTo>
                  <a:lnTo>
                    <a:pt x="310401" y="36754"/>
                  </a:lnTo>
                  <a:lnTo>
                    <a:pt x="323088" y="60197"/>
                  </a:lnTo>
                  <a:lnTo>
                    <a:pt x="310401" y="83641"/>
                  </a:lnTo>
                  <a:lnTo>
                    <a:pt x="275796" y="102774"/>
                  </a:lnTo>
                  <a:lnTo>
                    <a:pt x="224450" y="115669"/>
                  </a:lnTo>
                  <a:lnTo>
                    <a:pt x="161543" y="120395"/>
                  </a:lnTo>
                  <a:lnTo>
                    <a:pt x="98637" y="115669"/>
                  </a:lnTo>
                  <a:lnTo>
                    <a:pt x="47291" y="102774"/>
                  </a:lnTo>
                  <a:lnTo>
                    <a:pt x="12686" y="83641"/>
                  </a:lnTo>
                  <a:lnTo>
                    <a:pt x="0" y="60197"/>
                  </a:lnTo>
                  <a:close/>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00" name="object 33">
              <a:extLst>
                <a:ext uri="{FF2B5EF4-FFF2-40B4-BE49-F238E27FC236}">
                  <a16:creationId xmlns:a16="http://schemas.microsoft.com/office/drawing/2014/main" id="{E9477100-BF99-32D5-CF93-EB7224A9FD2A}"/>
                </a:ext>
              </a:extLst>
            </p:cNvPr>
            <p:cNvSpPr/>
            <p:nvPr/>
          </p:nvSpPr>
          <p:spPr>
            <a:xfrm>
              <a:off x="5782056" y="4390643"/>
              <a:ext cx="125095" cy="137160"/>
            </a:xfrm>
            <a:custGeom>
              <a:avLst/>
              <a:gdLst/>
              <a:ahLst/>
              <a:cxnLst/>
              <a:rect l="l" t="t" r="r" b="b"/>
              <a:pathLst>
                <a:path w="125095" h="137160">
                  <a:moveTo>
                    <a:pt x="124967" y="0"/>
                  </a:moveTo>
                  <a:lnTo>
                    <a:pt x="0" y="0"/>
                  </a:lnTo>
                  <a:lnTo>
                    <a:pt x="0" y="137159"/>
                  </a:lnTo>
                  <a:lnTo>
                    <a:pt x="124967" y="137159"/>
                  </a:lnTo>
                  <a:lnTo>
                    <a:pt x="124967" y="0"/>
                  </a:lnTo>
                  <a:close/>
                </a:path>
              </a:pathLst>
            </a:custGeom>
            <a:solidFill>
              <a:srgbClr val="F0F3F3"/>
            </a:solidFill>
          </p:spPr>
          <p:txBody>
            <a:bodyPr wrap="square" lIns="0" tIns="0" rIns="0" bIns="0" rtlCol="0"/>
            <a:lstStyle/>
            <a:p>
              <a:pPr defTabSz="1828800">
                <a:defRPr/>
              </a:pPr>
              <a:endParaRPr sz="3600" kern="0">
                <a:solidFill>
                  <a:sysClr val="windowText" lastClr="000000"/>
                </a:solidFill>
                <a:latin typeface="Arial"/>
              </a:endParaRPr>
            </a:p>
          </p:txBody>
        </p:sp>
        <p:sp>
          <p:nvSpPr>
            <p:cNvPr id="201" name="object 34">
              <a:extLst>
                <a:ext uri="{FF2B5EF4-FFF2-40B4-BE49-F238E27FC236}">
                  <a16:creationId xmlns:a16="http://schemas.microsoft.com/office/drawing/2014/main" id="{D40D1542-1808-5A27-C894-08E41F4A4C12}"/>
                </a:ext>
              </a:extLst>
            </p:cNvPr>
            <p:cNvSpPr/>
            <p:nvPr/>
          </p:nvSpPr>
          <p:spPr>
            <a:xfrm>
              <a:off x="5764403" y="4038853"/>
              <a:ext cx="161290" cy="319405"/>
            </a:xfrm>
            <a:custGeom>
              <a:avLst/>
              <a:gdLst/>
              <a:ahLst/>
              <a:cxnLst/>
              <a:rect l="l" t="t" r="r" b="b"/>
              <a:pathLst>
                <a:path w="161289" h="319404">
                  <a:moveTo>
                    <a:pt x="133350" y="319278"/>
                  </a:moveTo>
                  <a:lnTo>
                    <a:pt x="147460" y="281644"/>
                  </a:lnTo>
                  <a:lnTo>
                    <a:pt x="155844" y="244046"/>
                  </a:lnTo>
                  <a:lnTo>
                    <a:pt x="159871" y="215139"/>
                  </a:lnTo>
                  <a:lnTo>
                    <a:pt x="160909" y="203581"/>
                  </a:lnTo>
                  <a:lnTo>
                    <a:pt x="149661" y="113424"/>
                  </a:lnTo>
                  <a:lnTo>
                    <a:pt x="122936" y="49926"/>
                  </a:lnTo>
                  <a:lnTo>
                    <a:pt x="95829" y="12360"/>
                  </a:lnTo>
                  <a:lnTo>
                    <a:pt x="83438" y="0"/>
                  </a:lnTo>
                  <a:lnTo>
                    <a:pt x="70687" y="11983"/>
                  </a:lnTo>
                  <a:lnTo>
                    <a:pt x="42481" y="48720"/>
                  </a:lnTo>
                  <a:lnTo>
                    <a:pt x="13894" y="111388"/>
                  </a:lnTo>
                  <a:lnTo>
                    <a:pt x="0" y="201168"/>
                  </a:lnTo>
                  <a:lnTo>
                    <a:pt x="716" y="212721"/>
                  </a:lnTo>
                  <a:lnTo>
                    <a:pt x="3921" y="241681"/>
                  </a:lnTo>
                  <a:lnTo>
                    <a:pt x="11197" y="279499"/>
                  </a:lnTo>
                  <a:lnTo>
                    <a:pt x="24130" y="317627"/>
                  </a:lnTo>
                  <a:lnTo>
                    <a:pt x="133350" y="319278"/>
                  </a:lnTo>
                  <a:close/>
                </a:path>
              </a:pathLst>
            </a:custGeom>
            <a:ln w="15875">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02" name="object 35">
              <a:extLst>
                <a:ext uri="{FF2B5EF4-FFF2-40B4-BE49-F238E27FC236}">
                  <a16:creationId xmlns:a16="http://schemas.microsoft.com/office/drawing/2014/main" id="{0528962F-AF68-B039-DE33-E63C19015CD9}"/>
                </a:ext>
              </a:extLst>
            </p:cNvPr>
            <p:cNvPicPr/>
            <p:nvPr/>
          </p:nvPicPr>
          <p:blipFill>
            <a:blip r:embed="rId3" cstate="print"/>
            <a:stretch>
              <a:fillRect/>
            </a:stretch>
          </p:blipFill>
          <p:spPr>
            <a:xfrm>
              <a:off x="5712396" y="4237672"/>
              <a:ext cx="262381" cy="285495"/>
            </a:xfrm>
            <a:prstGeom prst="rect">
              <a:avLst/>
            </a:prstGeom>
          </p:spPr>
        </p:pic>
        <p:pic>
          <p:nvPicPr>
            <p:cNvPr id="203" name="object 36">
              <a:extLst>
                <a:ext uri="{FF2B5EF4-FFF2-40B4-BE49-F238E27FC236}">
                  <a16:creationId xmlns:a16="http://schemas.microsoft.com/office/drawing/2014/main" id="{676ABC9A-B80B-0987-6B43-16B19175DC8E}"/>
                </a:ext>
              </a:extLst>
            </p:cNvPr>
            <p:cNvPicPr/>
            <p:nvPr/>
          </p:nvPicPr>
          <p:blipFill>
            <a:blip r:embed="rId4" cstate="print"/>
            <a:stretch>
              <a:fillRect/>
            </a:stretch>
          </p:blipFill>
          <p:spPr>
            <a:xfrm>
              <a:off x="5790882" y="4124642"/>
              <a:ext cx="110616" cy="76200"/>
            </a:xfrm>
            <a:prstGeom prst="rect">
              <a:avLst/>
            </a:prstGeom>
          </p:spPr>
        </p:pic>
        <p:sp>
          <p:nvSpPr>
            <p:cNvPr id="204" name="object 37">
              <a:extLst>
                <a:ext uri="{FF2B5EF4-FFF2-40B4-BE49-F238E27FC236}">
                  <a16:creationId xmlns:a16="http://schemas.microsoft.com/office/drawing/2014/main" id="{857FF82B-6308-3522-09CF-F78C57A67569}"/>
                </a:ext>
              </a:extLst>
            </p:cNvPr>
            <p:cNvSpPr/>
            <p:nvPr/>
          </p:nvSpPr>
          <p:spPr>
            <a:xfrm>
              <a:off x="5389626" y="3736085"/>
              <a:ext cx="3336290" cy="1430020"/>
            </a:xfrm>
            <a:custGeom>
              <a:avLst/>
              <a:gdLst/>
              <a:ahLst/>
              <a:cxnLst/>
              <a:rect l="l" t="t" r="r" b="b"/>
              <a:pathLst>
                <a:path w="3336290" h="1430020">
                  <a:moveTo>
                    <a:pt x="0" y="1429512"/>
                  </a:moveTo>
                  <a:lnTo>
                    <a:pt x="3336035" y="1429512"/>
                  </a:lnTo>
                  <a:lnTo>
                    <a:pt x="3336035" y="0"/>
                  </a:lnTo>
                  <a:lnTo>
                    <a:pt x="0" y="0"/>
                  </a:lnTo>
                  <a:lnTo>
                    <a:pt x="0" y="1429512"/>
                  </a:lnTo>
                  <a:close/>
                </a:path>
              </a:pathLst>
            </a:custGeom>
            <a:ln w="19812">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grpSp>
      <p:grpSp>
        <p:nvGrpSpPr>
          <p:cNvPr id="205" name="object 38">
            <a:extLst>
              <a:ext uri="{FF2B5EF4-FFF2-40B4-BE49-F238E27FC236}">
                <a16:creationId xmlns:a16="http://schemas.microsoft.com/office/drawing/2014/main" id="{74E2B850-930E-4808-CBE8-09A410F17545}"/>
              </a:ext>
            </a:extLst>
          </p:cNvPr>
          <p:cNvGrpSpPr/>
          <p:nvPr/>
        </p:nvGrpSpPr>
        <p:grpSpPr>
          <a:xfrm>
            <a:off x="8357558" y="3943422"/>
            <a:ext cx="6809740" cy="3063240"/>
            <a:chOff x="4152900" y="2118360"/>
            <a:chExt cx="3404870" cy="1531620"/>
          </a:xfrm>
        </p:grpSpPr>
        <p:sp>
          <p:nvSpPr>
            <p:cNvPr id="206" name="object 39">
              <a:extLst>
                <a:ext uri="{FF2B5EF4-FFF2-40B4-BE49-F238E27FC236}">
                  <a16:creationId xmlns:a16="http://schemas.microsoft.com/office/drawing/2014/main" id="{588F53A8-9B3B-7C27-EE49-27BD36667F18}"/>
                </a:ext>
              </a:extLst>
            </p:cNvPr>
            <p:cNvSpPr/>
            <p:nvPr/>
          </p:nvSpPr>
          <p:spPr>
            <a:xfrm>
              <a:off x="4574540" y="2515743"/>
              <a:ext cx="41275" cy="50800"/>
            </a:xfrm>
            <a:custGeom>
              <a:avLst/>
              <a:gdLst/>
              <a:ahLst/>
              <a:cxnLst/>
              <a:rect l="l" t="t" r="r" b="b"/>
              <a:pathLst>
                <a:path w="41275" h="50800">
                  <a:moveTo>
                    <a:pt x="40894" y="0"/>
                  </a:moveTo>
                  <a:lnTo>
                    <a:pt x="29021" y="11346"/>
                  </a:lnTo>
                  <a:lnTo>
                    <a:pt x="18208" y="23622"/>
                  </a:lnTo>
                  <a:lnTo>
                    <a:pt x="8514" y="36754"/>
                  </a:lnTo>
                  <a:lnTo>
                    <a:pt x="0" y="50673"/>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07" name="object 40">
              <a:extLst>
                <a:ext uri="{FF2B5EF4-FFF2-40B4-BE49-F238E27FC236}">
                  <a16:creationId xmlns:a16="http://schemas.microsoft.com/office/drawing/2014/main" id="{1A0434D2-44BE-F57A-7571-3702A5F9B7E6}"/>
                </a:ext>
              </a:extLst>
            </p:cNvPr>
            <p:cNvPicPr/>
            <p:nvPr/>
          </p:nvPicPr>
          <p:blipFill>
            <a:blip r:embed="rId5" cstate="print"/>
            <a:stretch>
              <a:fillRect/>
            </a:stretch>
          </p:blipFill>
          <p:spPr>
            <a:xfrm>
              <a:off x="4827651" y="2738120"/>
              <a:ext cx="238918" cy="239887"/>
            </a:xfrm>
            <a:prstGeom prst="rect">
              <a:avLst/>
            </a:prstGeom>
          </p:spPr>
        </p:pic>
        <p:sp>
          <p:nvSpPr>
            <p:cNvPr id="208" name="object 41">
              <a:extLst>
                <a:ext uri="{FF2B5EF4-FFF2-40B4-BE49-F238E27FC236}">
                  <a16:creationId xmlns:a16="http://schemas.microsoft.com/office/drawing/2014/main" id="{E5973311-24B9-A3E4-DE5F-12B6DE9E3CAB}"/>
                </a:ext>
              </a:extLst>
            </p:cNvPr>
            <p:cNvSpPr/>
            <p:nvPr/>
          </p:nvSpPr>
          <p:spPr>
            <a:xfrm>
              <a:off x="4550156" y="2470023"/>
              <a:ext cx="375285" cy="376555"/>
            </a:xfrm>
            <a:custGeom>
              <a:avLst/>
              <a:gdLst/>
              <a:ahLst/>
              <a:cxnLst/>
              <a:rect l="l" t="t" r="r" b="b"/>
              <a:pathLst>
                <a:path w="375285" h="376555">
                  <a:moveTo>
                    <a:pt x="313055" y="275463"/>
                  </a:moveTo>
                  <a:lnTo>
                    <a:pt x="290849" y="300525"/>
                  </a:lnTo>
                  <a:lnTo>
                    <a:pt x="263525" y="320325"/>
                  </a:lnTo>
                  <a:lnTo>
                    <a:pt x="232009" y="333791"/>
                  </a:lnTo>
                  <a:lnTo>
                    <a:pt x="197231" y="339851"/>
                  </a:lnTo>
                  <a:lnTo>
                    <a:pt x="148521" y="335064"/>
                  </a:lnTo>
                  <a:lnTo>
                    <a:pt x="105348" y="316030"/>
                  </a:lnTo>
                  <a:lnTo>
                    <a:pt x="70348" y="285116"/>
                  </a:lnTo>
                  <a:lnTo>
                    <a:pt x="46163" y="244685"/>
                  </a:lnTo>
                  <a:lnTo>
                    <a:pt x="35433" y="197103"/>
                  </a:lnTo>
                  <a:lnTo>
                    <a:pt x="40335" y="148809"/>
                  </a:lnTo>
                  <a:lnTo>
                    <a:pt x="59441" y="105976"/>
                  </a:lnTo>
                  <a:lnTo>
                    <a:pt x="90434" y="71264"/>
                  </a:lnTo>
                  <a:lnTo>
                    <a:pt x="130997" y="47329"/>
                  </a:lnTo>
                  <a:lnTo>
                    <a:pt x="178816" y="36829"/>
                  </a:lnTo>
                  <a:lnTo>
                    <a:pt x="227525" y="41555"/>
                  </a:lnTo>
                  <a:lnTo>
                    <a:pt x="270698" y="60551"/>
                  </a:lnTo>
                  <a:lnTo>
                    <a:pt x="305698" y="91447"/>
                  </a:lnTo>
                  <a:lnTo>
                    <a:pt x="329883" y="131870"/>
                  </a:lnTo>
                  <a:lnTo>
                    <a:pt x="340614" y="179450"/>
                  </a:lnTo>
                  <a:lnTo>
                    <a:pt x="340699" y="195048"/>
                  </a:lnTo>
                  <a:lnTo>
                    <a:pt x="339296" y="210216"/>
                  </a:lnTo>
                  <a:lnTo>
                    <a:pt x="336488" y="224956"/>
                  </a:lnTo>
                  <a:lnTo>
                    <a:pt x="332359" y="239267"/>
                  </a:lnTo>
                </a:path>
                <a:path w="375285" h="376555">
                  <a:moveTo>
                    <a:pt x="13970" y="117093"/>
                  </a:moveTo>
                  <a:lnTo>
                    <a:pt x="7983" y="133957"/>
                  </a:lnTo>
                  <a:lnTo>
                    <a:pt x="3603" y="151510"/>
                  </a:lnTo>
                  <a:lnTo>
                    <a:pt x="914" y="169636"/>
                  </a:lnTo>
                  <a:lnTo>
                    <a:pt x="0" y="188213"/>
                  </a:lnTo>
                  <a:lnTo>
                    <a:pt x="6706" y="238227"/>
                  </a:lnTo>
                  <a:lnTo>
                    <a:pt x="25630" y="283181"/>
                  </a:lnTo>
                  <a:lnTo>
                    <a:pt x="54975" y="321278"/>
                  </a:lnTo>
                  <a:lnTo>
                    <a:pt x="92945" y="350717"/>
                  </a:lnTo>
                  <a:lnTo>
                    <a:pt x="137745" y="369700"/>
                  </a:lnTo>
                  <a:lnTo>
                    <a:pt x="187579" y="376427"/>
                  </a:lnTo>
                  <a:lnTo>
                    <a:pt x="237403" y="369700"/>
                  </a:lnTo>
                  <a:lnTo>
                    <a:pt x="282179" y="350717"/>
                  </a:lnTo>
                  <a:lnTo>
                    <a:pt x="320119" y="321278"/>
                  </a:lnTo>
                  <a:lnTo>
                    <a:pt x="349433" y="283181"/>
                  </a:lnTo>
                  <a:lnTo>
                    <a:pt x="368333" y="238227"/>
                  </a:lnTo>
                  <a:lnTo>
                    <a:pt x="375031" y="188213"/>
                  </a:lnTo>
                  <a:lnTo>
                    <a:pt x="368359" y="138156"/>
                  </a:lnTo>
                  <a:lnTo>
                    <a:pt x="349518" y="93189"/>
                  </a:lnTo>
                  <a:lnTo>
                    <a:pt x="320262" y="55102"/>
                  </a:lnTo>
                  <a:lnTo>
                    <a:pt x="282349" y="25682"/>
                  </a:lnTo>
                  <a:lnTo>
                    <a:pt x="237535" y="6718"/>
                  </a:lnTo>
                  <a:lnTo>
                    <a:pt x="187579" y="0"/>
                  </a:lnTo>
                  <a:lnTo>
                    <a:pt x="159855" y="2008"/>
                  </a:lnTo>
                  <a:lnTo>
                    <a:pt x="133429" y="7874"/>
                  </a:lnTo>
                  <a:lnTo>
                    <a:pt x="108551" y="17359"/>
                  </a:lnTo>
                  <a:lnTo>
                    <a:pt x="85471" y="30225"/>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09" name="object 42">
              <a:extLst>
                <a:ext uri="{FF2B5EF4-FFF2-40B4-BE49-F238E27FC236}">
                  <a16:creationId xmlns:a16="http://schemas.microsoft.com/office/drawing/2014/main" id="{3215C590-827E-52D0-7A54-74729970ED49}"/>
                </a:ext>
              </a:extLst>
            </p:cNvPr>
            <p:cNvPicPr/>
            <p:nvPr/>
          </p:nvPicPr>
          <p:blipFill>
            <a:blip r:embed="rId6" cstate="print"/>
            <a:stretch>
              <a:fillRect/>
            </a:stretch>
          </p:blipFill>
          <p:spPr>
            <a:xfrm>
              <a:off x="4650866" y="2564511"/>
              <a:ext cx="177673" cy="178054"/>
            </a:xfrm>
            <a:prstGeom prst="rect">
              <a:avLst/>
            </a:prstGeom>
          </p:spPr>
        </p:pic>
        <p:pic>
          <p:nvPicPr>
            <p:cNvPr id="210" name="object 43">
              <a:extLst>
                <a:ext uri="{FF2B5EF4-FFF2-40B4-BE49-F238E27FC236}">
                  <a16:creationId xmlns:a16="http://schemas.microsoft.com/office/drawing/2014/main" id="{5527A2DA-F3AE-E7A5-D3CC-031C9D7F33D5}"/>
                </a:ext>
              </a:extLst>
            </p:cNvPr>
            <p:cNvPicPr/>
            <p:nvPr/>
          </p:nvPicPr>
          <p:blipFill>
            <a:blip r:embed="rId7" cstate="print"/>
            <a:stretch>
              <a:fillRect/>
            </a:stretch>
          </p:blipFill>
          <p:spPr>
            <a:xfrm>
              <a:off x="4353179" y="2614295"/>
              <a:ext cx="273431" cy="404876"/>
            </a:xfrm>
            <a:prstGeom prst="rect">
              <a:avLst/>
            </a:prstGeom>
          </p:spPr>
        </p:pic>
        <p:sp>
          <p:nvSpPr>
            <p:cNvPr id="211" name="object 44">
              <a:extLst>
                <a:ext uri="{FF2B5EF4-FFF2-40B4-BE49-F238E27FC236}">
                  <a16:creationId xmlns:a16="http://schemas.microsoft.com/office/drawing/2014/main" id="{794578CB-C1CA-6B48-70E8-2C78685B835A}"/>
                </a:ext>
              </a:extLst>
            </p:cNvPr>
            <p:cNvSpPr/>
            <p:nvPr/>
          </p:nvSpPr>
          <p:spPr>
            <a:xfrm>
              <a:off x="6775450" y="2662174"/>
              <a:ext cx="538480" cy="357505"/>
            </a:xfrm>
            <a:custGeom>
              <a:avLst/>
              <a:gdLst/>
              <a:ahLst/>
              <a:cxnLst/>
              <a:rect l="l" t="t" r="r" b="b"/>
              <a:pathLst>
                <a:path w="538479" h="357505">
                  <a:moveTo>
                    <a:pt x="528574" y="357504"/>
                  </a:moveTo>
                  <a:lnTo>
                    <a:pt x="9905" y="357504"/>
                  </a:lnTo>
                  <a:lnTo>
                    <a:pt x="4318" y="357504"/>
                  </a:lnTo>
                  <a:lnTo>
                    <a:pt x="0" y="353187"/>
                  </a:lnTo>
                  <a:lnTo>
                    <a:pt x="0" y="347725"/>
                  </a:lnTo>
                  <a:lnTo>
                    <a:pt x="0" y="9905"/>
                  </a:lnTo>
                  <a:lnTo>
                    <a:pt x="0" y="4445"/>
                  </a:lnTo>
                  <a:lnTo>
                    <a:pt x="4318" y="0"/>
                  </a:lnTo>
                  <a:lnTo>
                    <a:pt x="9905" y="0"/>
                  </a:lnTo>
                  <a:lnTo>
                    <a:pt x="528574" y="0"/>
                  </a:lnTo>
                  <a:lnTo>
                    <a:pt x="534161" y="0"/>
                  </a:lnTo>
                  <a:lnTo>
                    <a:pt x="538479" y="4445"/>
                  </a:lnTo>
                  <a:lnTo>
                    <a:pt x="538479" y="9905"/>
                  </a:lnTo>
                  <a:lnTo>
                    <a:pt x="538479" y="347725"/>
                  </a:lnTo>
                  <a:lnTo>
                    <a:pt x="538479" y="353187"/>
                  </a:lnTo>
                  <a:lnTo>
                    <a:pt x="533653" y="357504"/>
                  </a:lnTo>
                  <a:lnTo>
                    <a:pt x="528574" y="357504"/>
                  </a:lnTo>
                  <a:close/>
                </a:path>
              </a:pathLst>
            </a:custGeom>
            <a:ln w="15239">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12" name="object 45">
              <a:extLst>
                <a:ext uri="{FF2B5EF4-FFF2-40B4-BE49-F238E27FC236}">
                  <a16:creationId xmlns:a16="http://schemas.microsoft.com/office/drawing/2014/main" id="{EB3E32D6-F605-2E79-FB4B-B381CE5F4FF3}"/>
                </a:ext>
              </a:extLst>
            </p:cNvPr>
            <p:cNvSpPr/>
            <p:nvPr/>
          </p:nvSpPr>
          <p:spPr>
            <a:xfrm>
              <a:off x="6941820" y="2570734"/>
              <a:ext cx="325120" cy="421640"/>
            </a:xfrm>
            <a:custGeom>
              <a:avLst/>
              <a:gdLst/>
              <a:ahLst/>
              <a:cxnLst/>
              <a:rect l="l" t="t" r="r" b="b"/>
              <a:pathLst>
                <a:path w="325120" h="421639">
                  <a:moveTo>
                    <a:pt x="210565" y="70612"/>
                  </a:moveTo>
                  <a:lnTo>
                    <a:pt x="210565" y="7492"/>
                  </a:lnTo>
                  <a:lnTo>
                    <a:pt x="210565" y="3175"/>
                  </a:lnTo>
                  <a:lnTo>
                    <a:pt x="207136" y="0"/>
                  </a:lnTo>
                  <a:lnTo>
                    <a:pt x="203200" y="0"/>
                  </a:lnTo>
                  <a:lnTo>
                    <a:pt x="22478" y="0"/>
                  </a:lnTo>
                  <a:lnTo>
                    <a:pt x="18160" y="0"/>
                  </a:lnTo>
                  <a:lnTo>
                    <a:pt x="14985" y="3555"/>
                  </a:lnTo>
                  <a:lnTo>
                    <a:pt x="14985" y="7492"/>
                  </a:lnTo>
                  <a:lnTo>
                    <a:pt x="14985" y="70612"/>
                  </a:lnTo>
                </a:path>
                <a:path w="325120" h="421639">
                  <a:moveTo>
                    <a:pt x="101853" y="71754"/>
                  </a:moveTo>
                  <a:lnTo>
                    <a:pt x="101853" y="33654"/>
                  </a:lnTo>
                  <a:lnTo>
                    <a:pt x="227329" y="33654"/>
                  </a:lnTo>
                  <a:lnTo>
                    <a:pt x="227329" y="71754"/>
                  </a:lnTo>
                </a:path>
                <a:path w="325120" h="421639">
                  <a:moveTo>
                    <a:pt x="0" y="117348"/>
                  </a:moveTo>
                  <a:lnTo>
                    <a:pt x="0" y="421131"/>
                  </a:lnTo>
                </a:path>
                <a:path w="325120" h="421639">
                  <a:moveTo>
                    <a:pt x="324611" y="117348"/>
                  </a:moveTo>
                  <a:lnTo>
                    <a:pt x="324611" y="421131"/>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13" name="object 46">
              <a:extLst>
                <a:ext uri="{FF2B5EF4-FFF2-40B4-BE49-F238E27FC236}">
                  <a16:creationId xmlns:a16="http://schemas.microsoft.com/office/drawing/2014/main" id="{E6BE9D2B-6159-B1A3-C9A4-DEC18E807572}"/>
                </a:ext>
              </a:extLst>
            </p:cNvPr>
            <p:cNvPicPr/>
            <p:nvPr/>
          </p:nvPicPr>
          <p:blipFill>
            <a:blip r:embed="rId8" cstate="print"/>
            <a:stretch>
              <a:fillRect/>
            </a:stretch>
          </p:blipFill>
          <p:spPr>
            <a:xfrm>
              <a:off x="6668952" y="2519918"/>
              <a:ext cx="204325" cy="242712"/>
            </a:xfrm>
            <a:prstGeom prst="rect">
              <a:avLst/>
            </a:prstGeom>
          </p:spPr>
        </p:pic>
        <p:sp>
          <p:nvSpPr>
            <p:cNvPr id="214" name="object 47">
              <a:extLst>
                <a:ext uri="{FF2B5EF4-FFF2-40B4-BE49-F238E27FC236}">
                  <a16:creationId xmlns:a16="http://schemas.microsoft.com/office/drawing/2014/main" id="{CAB026D0-31AC-7C11-E8F8-5B47826E2EA9}"/>
                </a:ext>
              </a:extLst>
            </p:cNvPr>
            <p:cNvSpPr/>
            <p:nvPr/>
          </p:nvSpPr>
          <p:spPr>
            <a:xfrm>
              <a:off x="6668952" y="2519918"/>
              <a:ext cx="204470" cy="243204"/>
            </a:xfrm>
            <a:custGeom>
              <a:avLst/>
              <a:gdLst/>
              <a:ahLst/>
              <a:cxnLst/>
              <a:rect l="l" t="t" r="r" b="b"/>
              <a:pathLst>
                <a:path w="204470" h="243205">
                  <a:moveTo>
                    <a:pt x="197683" y="65293"/>
                  </a:moveTo>
                  <a:lnTo>
                    <a:pt x="175718" y="31003"/>
                  </a:lnTo>
                  <a:lnTo>
                    <a:pt x="143502" y="8620"/>
                  </a:lnTo>
                  <a:lnTo>
                    <a:pt x="105261" y="0"/>
                  </a:lnTo>
                  <a:lnTo>
                    <a:pt x="65222" y="7000"/>
                  </a:lnTo>
                  <a:lnTo>
                    <a:pt x="31003" y="28965"/>
                  </a:lnTo>
                  <a:lnTo>
                    <a:pt x="8643" y="61182"/>
                  </a:lnTo>
                  <a:lnTo>
                    <a:pt x="0" y="99423"/>
                  </a:lnTo>
                  <a:lnTo>
                    <a:pt x="6929" y="139461"/>
                  </a:lnTo>
                  <a:lnTo>
                    <a:pt x="21550" y="165211"/>
                  </a:lnTo>
                  <a:lnTo>
                    <a:pt x="42076" y="185054"/>
                  </a:lnTo>
                  <a:lnTo>
                    <a:pt x="66936" y="198326"/>
                  </a:lnTo>
                  <a:lnTo>
                    <a:pt x="94559" y="204358"/>
                  </a:lnTo>
                  <a:lnTo>
                    <a:pt x="109545" y="242712"/>
                  </a:lnTo>
                  <a:lnTo>
                    <a:pt x="191968" y="210581"/>
                  </a:lnTo>
                  <a:lnTo>
                    <a:pt x="176982" y="172227"/>
                  </a:lnTo>
                  <a:lnTo>
                    <a:pt x="193272" y="149161"/>
                  </a:lnTo>
                  <a:lnTo>
                    <a:pt x="202620" y="122570"/>
                  </a:lnTo>
                  <a:lnTo>
                    <a:pt x="204325" y="94075"/>
                  </a:lnTo>
                  <a:lnTo>
                    <a:pt x="197683" y="65293"/>
                  </a:lnTo>
                  <a:close/>
                </a:path>
              </a:pathLst>
            </a:custGeom>
            <a:ln w="15875">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15" name="object 48">
              <a:extLst>
                <a:ext uri="{FF2B5EF4-FFF2-40B4-BE49-F238E27FC236}">
                  <a16:creationId xmlns:a16="http://schemas.microsoft.com/office/drawing/2014/main" id="{3B3A300B-C0A9-0DFF-7F44-315C9642CE7F}"/>
                </a:ext>
              </a:extLst>
            </p:cNvPr>
            <p:cNvSpPr/>
            <p:nvPr/>
          </p:nvSpPr>
          <p:spPr>
            <a:xfrm>
              <a:off x="6597014" y="2447671"/>
              <a:ext cx="347980" cy="299085"/>
            </a:xfrm>
            <a:custGeom>
              <a:avLst/>
              <a:gdLst/>
              <a:ahLst/>
              <a:cxnLst/>
              <a:rect l="l" t="t" r="r" b="b"/>
              <a:pathLst>
                <a:path w="347979" h="299085">
                  <a:moveTo>
                    <a:pt x="222630" y="298957"/>
                  </a:moveTo>
                  <a:lnTo>
                    <a:pt x="189610" y="213867"/>
                  </a:lnTo>
                </a:path>
                <a:path w="347979" h="299085">
                  <a:moveTo>
                    <a:pt x="168148" y="221487"/>
                  </a:moveTo>
                  <a:lnTo>
                    <a:pt x="210438" y="204977"/>
                  </a:lnTo>
                </a:path>
                <a:path w="347979" h="299085">
                  <a:moveTo>
                    <a:pt x="84835" y="80644"/>
                  </a:moveTo>
                  <a:lnTo>
                    <a:pt x="53720" y="48259"/>
                  </a:lnTo>
                </a:path>
                <a:path w="347979" h="299085">
                  <a:moveTo>
                    <a:pt x="48386" y="294131"/>
                  </a:moveTo>
                  <a:lnTo>
                    <a:pt x="80899" y="262763"/>
                  </a:lnTo>
                </a:path>
                <a:path w="347979" h="299085">
                  <a:moveTo>
                    <a:pt x="266953" y="84581"/>
                  </a:moveTo>
                  <a:lnTo>
                    <a:pt x="299465" y="53466"/>
                  </a:lnTo>
                </a:path>
                <a:path w="347979" h="299085">
                  <a:moveTo>
                    <a:pt x="0" y="170052"/>
                  </a:moveTo>
                  <a:lnTo>
                    <a:pt x="45211" y="171195"/>
                  </a:lnTo>
                </a:path>
                <a:path w="347979" h="299085">
                  <a:moveTo>
                    <a:pt x="302767" y="176656"/>
                  </a:moveTo>
                  <a:lnTo>
                    <a:pt x="347852" y="177545"/>
                  </a:lnTo>
                </a:path>
                <a:path w="347979" h="299085">
                  <a:moveTo>
                    <a:pt x="176656" y="44957"/>
                  </a:moveTo>
                  <a:lnTo>
                    <a:pt x="177673" y="0"/>
                  </a:lnTo>
                </a:path>
              </a:pathLst>
            </a:custGeom>
            <a:ln w="15875">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16" name="object 49">
              <a:extLst>
                <a:ext uri="{FF2B5EF4-FFF2-40B4-BE49-F238E27FC236}">
                  <a16:creationId xmlns:a16="http://schemas.microsoft.com/office/drawing/2014/main" id="{CEBBCE20-D852-1CCD-C337-8316F2AE6348}"/>
                </a:ext>
              </a:extLst>
            </p:cNvPr>
            <p:cNvSpPr/>
            <p:nvPr/>
          </p:nvSpPr>
          <p:spPr>
            <a:xfrm>
              <a:off x="6783070" y="2741295"/>
              <a:ext cx="94615" cy="76835"/>
            </a:xfrm>
            <a:custGeom>
              <a:avLst/>
              <a:gdLst/>
              <a:ahLst/>
              <a:cxnLst/>
              <a:rect l="l" t="t" r="r" b="b"/>
              <a:pathLst>
                <a:path w="94615" h="76835">
                  <a:moveTo>
                    <a:pt x="81914" y="13080"/>
                  </a:moveTo>
                  <a:lnTo>
                    <a:pt x="8508" y="41655"/>
                  </a:lnTo>
                  <a:lnTo>
                    <a:pt x="5841" y="42671"/>
                  </a:lnTo>
                  <a:lnTo>
                    <a:pt x="3175" y="41401"/>
                  </a:lnTo>
                  <a:lnTo>
                    <a:pt x="2285" y="38988"/>
                  </a:lnTo>
                  <a:lnTo>
                    <a:pt x="1015" y="35687"/>
                  </a:lnTo>
                  <a:lnTo>
                    <a:pt x="0" y="33146"/>
                  </a:lnTo>
                  <a:lnTo>
                    <a:pt x="1397" y="30352"/>
                  </a:lnTo>
                  <a:lnTo>
                    <a:pt x="3682" y="29463"/>
                  </a:lnTo>
                  <a:lnTo>
                    <a:pt x="76961" y="1015"/>
                  </a:lnTo>
                  <a:lnTo>
                    <a:pt x="79501" y="0"/>
                  </a:lnTo>
                  <a:lnTo>
                    <a:pt x="82296" y="1396"/>
                  </a:lnTo>
                  <a:lnTo>
                    <a:pt x="83184" y="3682"/>
                  </a:lnTo>
                  <a:lnTo>
                    <a:pt x="84454" y="6984"/>
                  </a:lnTo>
                  <a:lnTo>
                    <a:pt x="85598" y="9270"/>
                  </a:lnTo>
                  <a:lnTo>
                    <a:pt x="84327" y="12191"/>
                  </a:lnTo>
                  <a:lnTo>
                    <a:pt x="81914" y="13080"/>
                  </a:lnTo>
                  <a:close/>
                </a:path>
                <a:path w="94615" h="76835">
                  <a:moveTo>
                    <a:pt x="90550" y="35305"/>
                  </a:moveTo>
                  <a:lnTo>
                    <a:pt x="17145" y="63880"/>
                  </a:lnTo>
                  <a:lnTo>
                    <a:pt x="14477" y="64896"/>
                  </a:lnTo>
                  <a:lnTo>
                    <a:pt x="11810" y="63500"/>
                  </a:lnTo>
                  <a:lnTo>
                    <a:pt x="10922" y="61087"/>
                  </a:lnTo>
                  <a:lnTo>
                    <a:pt x="9651" y="57784"/>
                  </a:lnTo>
                  <a:lnTo>
                    <a:pt x="8635" y="55244"/>
                  </a:lnTo>
                  <a:lnTo>
                    <a:pt x="10032" y="52577"/>
                  </a:lnTo>
                  <a:lnTo>
                    <a:pt x="12319" y="51562"/>
                  </a:lnTo>
                  <a:lnTo>
                    <a:pt x="85598" y="23113"/>
                  </a:lnTo>
                  <a:lnTo>
                    <a:pt x="88137" y="22097"/>
                  </a:lnTo>
                  <a:lnTo>
                    <a:pt x="90804" y="23494"/>
                  </a:lnTo>
                  <a:lnTo>
                    <a:pt x="91821" y="25780"/>
                  </a:lnTo>
                  <a:lnTo>
                    <a:pt x="93090" y="29082"/>
                  </a:lnTo>
                  <a:lnTo>
                    <a:pt x="94233" y="31368"/>
                  </a:lnTo>
                  <a:lnTo>
                    <a:pt x="92963" y="34289"/>
                  </a:lnTo>
                  <a:lnTo>
                    <a:pt x="90550" y="35305"/>
                  </a:lnTo>
                  <a:close/>
                </a:path>
                <a:path w="94615" h="76835">
                  <a:moveTo>
                    <a:pt x="75437" y="66675"/>
                  </a:moveTo>
                  <a:lnTo>
                    <a:pt x="49529" y="76707"/>
                  </a:lnTo>
                  <a:lnTo>
                    <a:pt x="38100" y="66801"/>
                  </a:lnTo>
                  <a:lnTo>
                    <a:pt x="77088" y="51562"/>
                  </a:lnTo>
                  <a:lnTo>
                    <a:pt x="75437" y="66675"/>
                  </a:lnTo>
                  <a:close/>
                </a:path>
              </a:pathLst>
            </a:custGeom>
            <a:ln w="15875">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17" name="object 50">
              <a:extLst>
                <a:ext uri="{FF2B5EF4-FFF2-40B4-BE49-F238E27FC236}">
                  <a16:creationId xmlns:a16="http://schemas.microsoft.com/office/drawing/2014/main" id="{388A2B3D-9402-3CEA-71D3-B7A189B07908}"/>
                </a:ext>
              </a:extLst>
            </p:cNvPr>
            <p:cNvSpPr/>
            <p:nvPr/>
          </p:nvSpPr>
          <p:spPr>
            <a:xfrm>
              <a:off x="5649849" y="2509266"/>
              <a:ext cx="409575" cy="501015"/>
            </a:xfrm>
            <a:custGeom>
              <a:avLst/>
              <a:gdLst/>
              <a:ahLst/>
              <a:cxnLst/>
              <a:rect l="l" t="t" r="r" b="b"/>
              <a:pathLst>
                <a:path w="409575" h="501014">
                  <a:moveTo>
                    <a:pt x="409193" y="484250"/>
                  </a:moveTo>
                  <a:lnTo>
                    <a:pt x="409193" y="493649"/>
                  </a:lnTo>
                  <a:lnTo>
                    <a:pt x="404875" y="500888"/>
                  </a:lnTo>
                  <a:lnTo>
                    <a:pt x="399161" y="500888"/>
                  </a:lnTo>
                  <a:lnTo>
                    <a:pt x="10033" y="500888"/>
                  </a:lnTo>
                  <a:lnTo>
                    <a:pt x="4317" y="500888"/>
                  </a:lnTo>
                  <a:lnTo>
                    <a:pt x="0" y="493649"/>
                  </a:lnTo>
                  <a:lnTo>
                    <a:pt x="0" y="484250"/>
                  </a:lnTo>
                  <a:lnTo>
                    <a:pt x="0" y="16637"/>
                  </a:lnTo>
                  <a:lnTo>
                    <a:pt x="0" y="7238"/>
                  </a:lnTo>
                  <a:lnTo>
                    <a:pt x="4317" y="0"/>
                  </a:lnTo>
                  <a:lnTo>
                    <a:pt x="10033" y="0"/>
                  </a:lnTo>
                  <a:lnTo>
                    <a:pt x="399161" y="0"/>
                  </a:lnTo>
                  <a:lnTo>
                    <a:pt x="404875" y="0"/>
                  </a:lnTo>
                  <a:lnTo>
                    <a:pt x="409193" y="7238"/>
                  </a:lnTo>
                  <a:lnTo>
                    <a:pt x="409193" y="16637"/>
                  </a:lnTo>
                  <a:lnTo>
                    <a:pt x="409193" y="484250"/>
                  </a:lnTo>
                  <a:close/>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18" name="object 51">
              <a:extLst>
                <a:ext uri="{FF2B5EF4-FFF2-40B4-BE49-F238E27FC236}">
                  <a16:creationId xmlns:a16="http://schemas.microsoft.com/office/drawing/2014/main" id="{CDDC2DE9-0F04-D635-8383-A4F94DE2A0CF}"/>
                </a:ext>
              </a:extLst>
            </p:cNvPr>
            <p:cNvPicPr/>
            <p:nvPr/>
          </p:nvPicPr>
          <p:blipFill>
            <a:blip r:embed="rId9" cstate="print"/>
            <a:stretch>
              <a:fillRect/>
            </a:stretch>
          </p:blipFill>
          <p:spPr>
            <a:xfrm>
              <a:off x="5766053" y="2459609"/>
              <a:ext cx="177292" cy="81407"/>
            </a:xfrm>
            <a:prstGeom prst="rect">
              <a:avLst/>
            </a:prstGeom>
          </p:spPr>
        </p:pic>
        <p:sp>
          <p:nvSpPr>
            <p:cNvPr id="219" name="object 52">
              <a:extLst>
                <a:ext uri="{FF2B5EF4-FFF2-40B4-BE49-F238E27FC236}">
                  <a16:creationId xmlns:a16="http://schemas.microsoft.com/office/drawing/2014/main" id="{D75513FF-4BAF-63E6-E422-767AC736AAFF}"/>
                </a:ext>
              </a:extLst>
            </p:cNvPr>
            <p:cNvSpPr/>
            <p:nvPr/>
          </p:nvSpPr>
          <p:spPr>
            <a:xfrm>
              <a:off x="5720969" y="2637917"/>
              <a:ext cx="301625" cy="169545"/>
            </a:xfrm>
            <a:custGeom>
              <a:avLst/>
              <a:gdLst/>
              <a:ahLst/>
              <a:cxnLst/>
              <a:rect l="l" t="t" r="r" b="b"/>
              <a:pathLst>
                <a:path w="301625" h="169544">
                  <a:moveTo>
                    <a:pt x="216407" y="88392"/>
                  </a:moveTo>
                  <a:lnTo>
                    <a:pt x="270382" y="88392"/>
                  </a:lnTo>
                  <a:lnTo>
                    <a:pt x="282384" y="91578"/>
                  </a:lnTo>
                  <a:lnTo>
                    <a:pt x="292195" y="100266"/>
                  </a:lnTo>
                  <a:lnTo>
                    <a:pt x="298815" y="113145"/>
                  </a:lnTo>
                  <a:lnTo>
                    <a:pt x="301243" y="128905"/>
                  </a:lnTo>
                  <a:lnTo>
                    <a:pt x="298815" y="144664"/>
                  </a:lnTo>
                  <a:lnTo>
                    <a:pt x="292195" y="157543"/>
                  </a:lnTo>
                  <a:lnTo>
                    <a:pt x="282384" y="166231"/>
                  </a:lnTo>
                  <a:lnTo>
                    <a:pt x="270382" y="169418"/>
                  </a:lnTo>
                  <a:lnTo>
                    <a:pt x="259079" y="169418"/>
                  </a:lnTo>
                </a:path>
                <a:path w="301625" h="169544">
                  <a:moveTo>
                    <a:pt x="67309" y="0"/>
                  </a:moveTo>
                  <a:lnTo>
                    <a:pt x="34670" y="0"/>
                  </a:lnTo>
                  <a:lnTo>
                    <a:pt x="21163" y="3520"/>
                  </a:lnTo>
                  <a:lnTo>
                    <a:pt x="10144" y="13112"/>
                  </a:lnTo>
                  <a:lnTo>
                    <a:pt x="2720" y="27324"/>
                  </a:lnTo>
                  <a:lnTo>
                    <a:pt x="0" y="44704"/>
                  </a:lnTo>
                  <a:lnTo>
                    <a:pt x="2720" y="62136"/>
                  </a:lnTo>
                  <a:lnTo>
                    <a:pt x="10144" y="76342"/>
                  </a:lnTo>
                  <a:lnTo>
                    <a:pt x="21163" y="85905"/>
                  </a:lnTo>
                  <a:lnTo>
                    <a:pt x="34670" y="89408"/>
                  </a:lnTo>
                  <a:lnTo>
                    <a:pt x="56387" y="89408"/>
                  </a:lnTo>
                </a:path>
              </a:pathLst>
            </a:custGeom>
            <a:ln w="15240">
              <a:solidFill>
                <a:srgbClr val="38EE7C"/>
              </a:solidFill>
              <a:prstDash val="sysDash"/>
            </a:ln>
          </p:spPr>
          <p:txBody>
            <a:bodyPr wrap="square" lIns="0" tIns="0" rIns="0" bIns="0" rtlCol="0"/>
            <a:lstStyle/>
            <a:p>
              <a:pPr defTabSz="1828800">
                <a:defRPr/>
              </a:pPr>
              <a:endParaRPr sz="3600" kern="0">
                <a:solidFill>
                  <a:sysClr val="windowText" lastClr="000000"/>
                </a:solidFill>
                <a:latin typeface="Arial"/>
              </a:endParaRPr>
            </a:p>
          </p:txBody>
        </p:sp>
        <p:sp>
          <p:nvSpPr>
            <p:cNvPr id="220" name="object 53">
              <a:extLst>
                <a:ext uri="{FF2B5EF4-FFF2-40B4-BE49-F238E27FC236}">
                  <a16:creationId xmlns:a16="http://schemas.microsoft.com/office/drawing/2014/main" id="{C5B294DF-02A7-66CF-410F-7DF4518BBB67}"/>
                </a:ext>
              </a:extLst>
            </p:cNvPr>
            <p:cNvSpPr/>
            <p:nvPr/>
          </p:nvSpPr>
          <p:spPr>
            <a:xfrm>
              <a:off x="5687441" y="2624074"/>
              <a:ext cx="295910" cy="231140"/>
            </a:xfrm>
            <a:custGeom>
              <a:avLst/>
              <a:gdLst/>
              <a:ahLst/>
              <a:cxnLst/>
              <a:rect l="l" t="t" r="r" b="b"/>
              <a:pathLst>
                <a:path w="295910" h="231139">
                  <a:moveTo>
                    <a:pt x="295529" y="180721"/>
                  </a:moveTo>
                  <a:lnTo>
                    <a:pt x="295529" y="190246"/>
                  </a:lnTo>
                  <a:lnTo>
                    <a:pt x="287655" y="198120"/>
                  </a:lnTo>
                  <a:lnTo>
                    <a:pt x="278130" y="198120"/>
                  </a:lnTo>
                  <a:lnTo>
                    <a:pt x="268478" y="198120"/>
                  </a:lnTo>
                  <a:lnTo>
                    <a:pt x="260604" y="190246"/>
                  </a:lnTo>
                  <a:lnTo>
                    <a:pt x="260604" y="180721"/>
                  </a:lnTo>
                  <a:lnTo>
                    <a:pt x="260604" y="171068"/>
                  </a:lnTo>
                  <a:lnTo>
                    <a:pt x="268478" y="163195"/>
                  </a:lnTo>
                  <a:lnTo>
                    <a:pt x="278130" y="163195"/>
                  </a:lnTo>
                  <a:lnTo>
                    <a:pt x="287655" y="163195"/>
                  </a:lnTo>
                  <a:lnTo>
                    <a:pt x="295529" y="171068"/>
                  </a:lnTo>
                  <a:lnTo>
                    <a:pt x="295529" y="180721"/>
                  </a:lnTo>
                  <a:close/>
                </a:path>
                <a:path w="295910" h="231139">
                  <a:moveTo>
                    <a:pt x="129794" y="13208"/>
                  </a:moveTo>
                  <a:lnTo>
                    <a:pt x="129794" y="20447"/>
                  </a:lnTo>
                  <a:lnTo>
                    <a:pt x="123571" y="26415"/>
                  </a:lnTo>
                  <a:lnTo>
                    <a:pt x="115950" y="26415"/>
                  </a:lnTo>
                  <a:lnTo>
                    <a:pt x="108331" y="26415"/>
                  </a:lnTo>
                  <a:lnTo>
                    <a:pt x="102235" y="20447"/>
                  </a:lnTo>
                  <a:lnTo>
                    <a:pt x="102235" y="13208"/>
                  </a:lnTo>
                  <a:lnTo>
                    <a:pt x="102235" y="5968"/>
                  </a:lnTo>
                  <a:lnTo>
                    <a:pt x="108331" y="0"/>
                  </a:lnTo>
                  <a:lnTo>
                    <a:pt x="115950" y="0"/>
                  </a:lnTo>
                  <a:lnTo>
                    <a:pt x="123571" y="0"/>
                  </a:lnTo>
                  <a:lnTo>
                    <a:pt x="129794" y="5968"/>
                  </a:lnTo>
                  <a:lnTo>
                    <a:pt x="129794" y="13208"/>
                  </a:lnTo>
                  <a:close/>
                </a:path>
                <a:path w="295910" h="231139">
                  <a:moveTo>
                    <a:pt x="54991" y="125222"/>
                  </a:moveTo>
                  <a:lnTo>
                    <a:pt x="35179" y="125222"/>
                  </a:lnTo>
                </a:path>
                <a:path w="295910" h="231139">
                  <a:moveTo>
                    <a:pt x="28956" y="125095"/>
                  </a:moveTo>
                  <a:lnTo>
                    <a:pt x="8889" y="125095"/>
                  </a:lnTo>
                  <a:lnTo>
                    <a:pt x="3937" y="125095"/>
                  </a:lnTo>
                  <a:lnTo>
                    <a:pt x="0" y="129159"/>
                  </a:lnTo>
                  <a:lnTo>
                    <a:pt x="0" y="134112"/>
                  </a:lnTo>
                  <a:lnTo>
                    <a:pt x="0" y="139064"/>
                  </a:lnTo>
                  <a:lnTo>
                    <a:pt x="3937" y="143001"/>
                  </a:lnTo>
                  <a:lnTo>
                    <a:pt x="8889" y="143001"/>
                  </a:lnTo>
                  <a:lnTo>
                    <a:pt x="102743" y="143001"/>
                  </a:lnTo>
                  <a:lnTo>
                    <a:pt x="141732" y="185292"/>
                  </a:lnTo>
                  <a:lnTo>
                    <a:pt x="144399" y="188340"/>
                  </a:lnTo>
                  <a:lnTo>
                    <a:pt x="148336" y="190118"/>
                  </a:lnTo>
                  <a:lnTo>
                    <a:pt x="152400" y="190118"/>
                  </a:lnTo>
                  <a:lnTo>
                    <a:pt x="215011" y="190373"/>
                  </a:lnTo>
                  <a:lnTo>
                    <a:pt x="193801" y="215900"/>
                  </a:lnTo>
                  <a:lnTo>
                    <a:pt x="190626" y="219710"/>
                  </a:lnTo>
                  <a:lnTo>
                    <a:pt x="191008" y="225425"/>
                  </a:lnTo>
                  <a:lnTo>
                    <a:pt x="194945" y="228600"/>
                  </a:lnTo>
                  <a:lnTo>
                    <a:pt x="196596" y="229997"/>
                  </a:lnTo>
                  <a:lnTo>
                    <a:pt x="198755" y="230886"/>
                  </a:lnTo>
                  <a:lnTo>
                    <a:pt x="200660" y="230886"/>
                  </a:lnTo>
                  <a:lnTo>
                    <a:pt x="203200" y="230886"/>
                  </a:lnTo>
                  <a:lnTo>
                    <a:pt x="205739" y="229615"/>
                  </a:lnTo>
                  <a:lnTo>
                    <a:pt x="207518" y="227711"/>
                  </a:lnTo>
                  <a:lnTo>
                    <a:pt x="240792" y="187325"/>
                  </a:lnTo>
                  <a:lnTo>
                    <a:pt x="241046" y="187198"/>
                  </a:lnTo>
                  <a:lnTo>
                    <a:pt x="241046" y="186943"/>
                  </a:lnTo>
                  <a:lnTo>
                    <a:pt x="241173" y="186689"/>
                  </a:lnTo>
                  <a:lnTo>
                    <a:pt x="241426" y="186562"/>
                  </a:lnTo>
                  <a:lnTo>
                    <a:pt x="241426" y="186309"/>
                  </a:lnTo>
                  <a:lnTo>
                    <a:pt x="241554" y="185927"/>
                  </a:lnTo>
                  <a:lnTo>
                    <a:pt x="242062" y="185547"/>
                  </a:lnTo>
                  <a:lnTo>
                    <a:pt x="242188" y="184912"/>
                  </a:lnTo>
                  <a:lnTo>
                    <a:pt x="242443" y="184785"/>
                  </a:lnTo>
                  <a:lnTo>
                    <a:pt x="242570" y="184403"/>
                  </a:lnTo>
                  <a:lnTo>
                    <a:pt x="242570" y="183896"/>
                  </a:lnTo>
                  <a:lnTo>
                    <a:pt x="242824" y="183514"/>
                  </a:lnTo>
                  <a:lnTo>
                    <a:pt x="242824" y="183134"/>
                  </a:lnTo>
                  <a:lnTo>
                    <a:pt x="242824" y="182752"/>
                  </a:lnTo>
                  <a:lnTo>
                    <a:pt x="242950" y="182372"/>
                  </a:lnTo>
                  <a:lnTo>
                    <a:pt x="242950" y="180593"/>
                  </a:lnTo>
                  <a:lnTo>
                    <a:pt x="242824" y="179959"/>
                  </a:lnTo>
                  <a:lnTo>
                    <a:pt x="242824" y="179831"/>
                  </a:lnTo>
                  <a:lnTo>
                    <a:pt x="242824" y="179577"/>
                  </a:lnTo>
                  <a:lnTo>
                    <a:pt x="242824" y="179197"/>
                  </a:lnTo>
                  <a:lnTo>
                    <a:pt x="242570" y="178815"/>
                  </a:lnTo>
                  <a:lnTo>
                    <a:pt x="242443" y="178435"/>
                  </a:lnTo>
                  <a:lnTo>
                    <a:pt x="242443" y="178180"/>
                  </a:lnTo>
                  <a:lnTo>
                    <a:pt x="242188" y="178053"/>
                  </a:lnTo>
                  <a:lnTo>
                    <a:pt x="242188" y="177800"/>
                  </a:lnTo>
                  <a:lnTo>
                    <a:pt x="242062" y="177546"/>
                  </a:lnTo>
                  <a:lnTo>
                    <a:pt x="241808" y="177164"/>
                  </a:lnTo>
                  <a:lnTo>
                    <a:pt x="241554" y="177037"/>
                  </a:lnTo>
                  <a:lnTo>
                    <a:pt x="241554" y="176784"/>
                  </a:lnTo>
                  <a:lnTo>
                    <a:pt x="241554" y="176656"/>
                  </a:lnTo>
                  <a:lnTo>
                    <a:pt x="241426" y="176656"/>
                  </a:lnTo>
                  <a:lnTo>
                    <a:pt x="241173" y="176149"/>
                  </a:lnTo>
                  <a:lnTo>
                    <a:pt x="240792" y="175767"/>
                  </a:lnTo>
                  <a:lnTo>
                    <a:pt x="240411" y="175387"/>
                  </a:lnTo>
                  <a:lnTo>
                    <a:pt x="204978" y="138684"/>
                  </a:lnTo>
                  <a:lnTo>
                    <a:pt x="201675" y="135127"/>
                  </a:lnTo>
                  <a:lnTo>
                    <a:pt x="195961" y="135127"/>
                  </a:lnTo>
                  <a:lnTo>
                    <a:pt x="192405" y="138429"/>
                  </a:lnTo>
                  <a:lnTo>
                    <a:pt x="188849" y="141859"/>
                  </a:lnTo>
                  <a:lnTo>
                    <a:pt x="188849" y="147574"/>
                  </a:lnTo>
                  <a:lnTo>
                    <a:pt x="192278" y="151129"/>
                  </a:lnTo>
                  <a:lnTo>
                    <a:pt x="212598" y="172465"/>
                  </a:lnTo>
                  <a:lnTo>
                    <a:pt x="153416" y="172212"/>
                  </a:lnTo>
                  <a:lnTo>
                    <a:pt x="114426" y="129921"/>
                  </a:lnTo>
                  <a:lnTo>
                    <a:pt x="111760" y="127000"/>
                  </a:lnTo>
                  <a:lnTo>
                    <a:pt x="107823" y="125095"/>
                  </a:lnTo>
                  <a:lnTo>
                    <a:pt x="103632" y="125095"/>
                  </a:lnTo>
                  <a:lnTo>
                    <a:pt x="65912" y="125095"/>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21" name="object 54">
              <a:extLst>
                <a:ext uri="{FF2B5EF4-FFF2-40B4-BE49-F238E27FC236}">
                  <a16:creationId xmlns:a16="http://schemas.microsoft.com/office/drawing/2014/main" id="{A1651FB9-E1A2-3345-6D97-4C2F2D1E29E4}"/>
                </a:ext>
              </a:extLst>
            </p:cNvPr>
            <p:cNvPicPr/>
            <p:nvPr/>
          </p:nvPicPr>
          <p:blipFill>
            <a:blip r:embed="rId10" cstate="print"/>
            <a:stretch>
              <a:fillRect/>
            </a:stretch>
          </p:blipFill>
          <p:spPr>
            <a:xfrm>
              <a:off x="5780404" y="2575560"/>
              <a:ext cx="208661" cy="176530"/>
            </a:xfrm>
            <a:prstGeom prst="rect">
              <a:avLst/>
            </a:prstGeom>
          </p:spPr>
        </p:pic>
        <p:sp>
          <p:nvSpPr>
            <p:cNvPr id="222" name="object 55">
              <a:extLst>
                <a:ext uri="{FF2B5EF4-FFF2-40B4-BE49-F238E27FC236}">
                  <a16:creationId xmlns:a16="http://schemas.microsoft.com/office/drawing/2014/main" id="{BAC8DE29-B33C-EC93-C1F9-3A030CF48791}"/>
                </a:ext>
              </a:extLst>
            </p:cNvPr>
            <p:cNvSpPr/>
            <p:nvPr/>
          </p:nvSpPr>
          <p:spPr>
            <a:xfrm>
              <a:off x="5748527" y="2878836"/>
              <a:ext cx="222250" cy="74930"/>
            </a:xfrm>
            <a:custGeom>
              <a:avLst/>
              <a:gdLst/>
              <a:ahLst/>
              <a:cxnLst/>
              <a:rect l="l" t="t" r="r" b="b"/>
              <a:pathLst>
                <a:path w="222250" h="74930">
                  <a:moveTo>
                    <a:pt x="0" y="0"/>
                  </a:moveTo>
                  <a:lnTo>
                    <a:pt x="36322" y="36322"/>
                  </a:lnTo>
                </a:path>
                <a:path w="222250" h="74930">
                  <a:moveTo>
                    <a:pt x="36322" y="0"/>
                  </a:moveTo>
                  <a:lnTo>
                    <a:pt x="0" y="36322"/>
                  </a:lnTo>
                </a:path>
                <a:path w="222250" h="74930">
                  <a:moveTo>
                    <a:pt x="185927" y="38100"/>
                  </a:moveTo>
                  <a:lnTo>
                    <a:pt x="222250" y="74422"/>
                  </a:lnTo>
                </a:path>
                <a:path w="222250" h="74930">
                  <a:moveTo>
                    <a:pt x="222250" y="38100"/>
                  </a:moveTo>
                  <a:lnTo>
                    <a:pt x="185927" y="74422"/>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23" name="object 56">
              <a:extLst>
                <a:ext uri="{FF2B5EF4-FFF2-40B4-BE49-F238E27FC236}">
                  <a16:creationId xmlns:a16="http://schemas.microsoft.com/office/drawing/2014/main" id="{16D6EC7B-9762-4D74-0E78-DA9EFB0E150E}"/>
                </a:ext>
              </a:extLst>
            </p:cNvPr>
            <p:cNvSpPr/>
            <p:nvPr/>
          </p:nvSpPr>
          <p:spPr>
            <a:xfrm>
              <a:off x="4162805" y="2128266"/>
              <a:ext cx="3385185" cy="1511935"/>
            </a:xfrm>
            <a:custGeom>
              <a:avLst/>
              <a:gdLst/>
              <a:ahLst/>
              <a:cxnLst/>
              <a:rect l="l" t="t" r="r" b="b"/>
              <a:pathLst>
                <a:path w="3385184" h="1511935">
                  <a:moveTo>
                    <a:pt x="0" y="1511808"/>
                  </a:moveTo>
                  <a:lnTo>
                    <a:pt x="3384804" y="1511808"/>
                  </a:lnTo>
                  <a:lnTo>
                    <a:pt x="3384804" y="0"/>
                  </a:lnTo>
                  <a:lnTo>
                    <a:pt x="0" y="0"/>
                  </a:lnTo>
                  <a:lnTo>
                    <a:pt x="0" y="1511808"/>
                  </a:lnTo>
                  <a:close/>
                </a:path>
              </a:pathLst>
            </a:custGeom>
            <a:ln w="19812">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grpSp>
      <p:sp>
        <p:nvSpPr>
          <p:cNvPr id="224" name="object 57">
            <a:extLst>
              <a:ext uri="{FF2B5EF4-FFF2-40B4-BE49-F238E27FC236}">
                <a16:creationId xmlns:a16="http://schemas.microsoft.com/office/drawing/2014/main" id="{F4BCC47C-223E-73DA-4B61-7AA7727173D1}"/>
              </a:ext>
            </a:extLst>
          </p:cNvPr>
          <p:cNvSpPr txBox="1"/>
          <p:nvPr/>
        </p:nvSpPr>
        <p:spPr>
          <a:xfrm>
            <a:off x="13525695" y="7278186"/>
            <a:ext cx="1304290" cy="394980"/>
          </a:xfrm>
          <a:prstGeom prst="rect">
            <a:avLst/>
          </a:prstGeom>
        </p:spPr>
        <p:txBody>
          <a:bodyPr vert="horz" wrap="square" lIns="0" tIns="25400" rIns="0" bIns="0" rtlCol="0">
            <a:spAutoFit/>
          </a:bodyPr>
          <a:lstStyle/>
          <a:p>
            <a:pPr defTabSz="1828800">
              <a:spcBef>
                <a:spcPts val="200"/>
              </a:spcBef>
              <a:defRPr/>
            </a:pPr>
            <a:r>
              <a:rPr sz="2400" b="1" kern="0" spc="-20">
                <a:solidFill>
                  <a:srgbClr val="222E3D"/>
                </a:solidFill>
                <a:latin typeface="Arial"/>
                <a:cs typeface="Trebuchet MS"/>
              </a:rPr>
              <a:t>Platform</a:t>
            </a:r>
            <a:endParaRPr sz="2400" kern="0">
              <a:solidFill>
                <a:sysClr val="windowText" lastClr="000000"/>
              </a:solidFill>
              <a:latin typeface="Arial"/>
              <a:cs typeface="Trebuchet MS"/>
            </a:endParaRPr>
          </a:p>
        </p:txBody>
      </p:sp>
      <p:sp>
        <p:nvSpPr>
          <p:cNvPr id="225" name="object 58">
            <a:extLst>
              <a:ext uri="{FF2B5EF4-FFF2-40B4-BE49-F238E27FC236}">
                <a16:creationId xmlns:a16="http://schemas.microsoft.com/office/drawing/2014/main" id="{090F90DB-7AD0-538D-0DDD-8840197932F9}"/>
              </a:ext>
            </a:extLst>
          </p:cNvPr>
          <p:cNvSpPr txBox="1"/>
          <p:nvPr/>
        </p:nvSpPr>
        <p:spPr>
          <a:xfrm>
            <a:off x="11120315" y="4062546"/>
            <a:ext cx="1306830" cy="394980"/>
          </a:xfrm>
          <a:prstGeom prst="rect">
            <a:avLst/>
          </a:prstGeom>
        </p:spPr>
        <p:txBody>
          <a:bodyPr vert="horz" wrap="square" lIns="0" tIns="25400" rIns="0" bIns="0" rtlCol="0">
            <a:spAutoFit/>
          </a:bodyPr>
          <a:lstStyle/>
          <a:p>
            <a:pPr defTabSz="1828800">
              <a:spcBef>
                <a:spcPts val="200"/>
              </a:spcBef>
              <a:defRPr/>
            </a:pPr>
            <a:r>
              <a:rPr sz="2400" b="1" kern="0" spc="-20">
                <a:solidFill>
                  <a:srgbClr val="222E3D"/>
                </a:solidFill>
                <a:latin typeface="Arial"/>
                <a:cs typeface="Trebuchet MS"/>
              </a:rPr>
              <a:t>Portfolio</a:t>
            </a:r>
            <a:endParaRPr sz="2400" kern="0">
              <a:solidFill>
                <a:sysClr val="windowText" lastClr="000000"/>
              </a:solidFill>
              <a:latin typeface="Arial"/>
              <a:cs typeface="Trebuchet MS"/>
            </a:endParaRPr>
          </a:p>
        </p:txBody>
      </p:sp>
      <p:sp>
        <p:nvSpPr>
          <p:cNvPr id="226" name="object 59">
            <a:extLst>
              <a:ext uri="{FF2B5EF4-FFF2-40B4-BE49-F238E27FC236}">
                <a16:creationId xmlns:a16="http://schemas.microsoft.com/office/drawing/2014/main" id="{4AB9D637-45D5-A42A-21EF-6ACEA1E621DA}"/>
              </a:ext>
            </a:extLst>
          </p:cNvPr>
          <p:cNvSpPr txBox="1"/>
          <p:nvPr/>
        </p:nvSpPr>
        <p:spPr>
          <a:xfrm>
            <a:off x="6690554" y="7170236"/>
            <a:ext cx="1617980" cy="987450"/>
          </a:xfrm>
          <a:prstGeom prst="rect">
            <a:avLst/>
          </a:prstGeom>
        </p:spPr>
        <p:txBody>
          <a:bodyPr vert="horz" wrap="square" lIns="0" tIns="63500" rIns="0" bIns="0" rtlCol="0">
            <a:spAutoFit/>
          </a:bodyPr>
          <a:lstStyle/>
          <a:p>
            <a:pPr marL="25400" marR="10160" indent="-1270" algn="ctr" defTabSz="1828800">
              <a:lnSpc>
                <a:spcPts val="2380"/>
              </a:lnSpc>
              <a:spcBef>
                <a:spcPts val="500"/>
              </a:spcBef>
              <a:defRPr/>
            </a:pPr>
            <a:r>
              <a:rPr sz="2200" kern="0" spc="-20">
                <a:solidFill>
                  <a:srgbClr val="222E3D"/>
                </a:solidFill>
                <a:latin typeface="Arial"/>
                <a:cs typeface="Trebuchet MS"/>
              </a:rPr>
              <a:t>Experience- Based Acceleration</a:t>
            </a:r>
            <a:endParaRPr sz="2200" kern="0">
              <a:solidFill>
                <a:sysClr val="windowText" lastClr="000000"/>
              </a:solidFill>
              <a:latin typeface="Arial"/>
              <a:cs typeface="Trebuchet MS"/>
            </a:endParaRPr>
          </a:p>
        </p:txBody>
      </p:sp>
      <p:sp>
        <p:nvSpPr>
          <p:cNvPr id="227" name="object 60">
            <a:extLst>
              <a:ext uri="{FF2B5EF4-FFF2-40B4-BE49-F238E27FC236}">
                <a16:creationId xmlns:a16="http://schemas.microsoft.com/office/drawing/2014/main" id="{AC66E27F-7B9F-E07C-7209-4DE273EFC78B}"/>
              </a:ext>
            </a:extLst>
          </p:cNvPr>
          <p:cNvSpPr/>
          <p:nvPr/>
        </p:nvSpPr>
        <p:spPr>
          <a:xfrm>
            <a:off x="6847274" y="8245673"/>
            <a:ext cx="269240" cy="1793238"/>
          </a:xfrm>
          <a:custGeom>
            <a:avLst/>
            <a:gdLst/>
            <a:ahLst/>
            <a:cxnLst/>
            <a:rect l="l" t="t" r="r" b="b"/>
            <a:pathLst>
              <a:path w="134620" h="896620">
                <a:moveTo>
                  <a:pt x="67055" y="0"/>
                </a:moveTo>
                <a:lnTo>
                  <a:pt x="67055" y="896112"/>
                </a:lnTo>
              </a:path>
              <a:path w="134620" h="896620">
                <a:moveTo>
                  <a:pt x="0" y="896619"/>
                </a:moveTo>
                <a:lnTo>
                  <a:pt x="134238" y="896112"/>
                </a:lnTo>
              </a:path>
            </a:pathLst>
          </a:custGeom>
          <a:ln w="19812">
            <a:solidFill>
              <a:srgbClr val="1F74D4"/>
            </a:solidFill>
            <a:prstDash val="sysDash"/>
          </a:ln>
        </p:spPr>
        <p:txBody>
          <a:bodyPr wrap="square" lIns="0" tIns="0" rIns="0" bIns="0" rtlCol="0"/>
          <a:lstStyle/>
          <a:p>
            <a:pPr defTabSz="1828800">
              <a:defRPr/>
            </a:pPr>
            <a:endParaRPr sz="3600" kern="0">
              <a:solidFill>
                <a:sysClr val="windowText" lastClr="000000"/>
              </a:solidFill>
              <a:latin typeface="Arial"/>
            </a:endParaRPr>
          </a:p>
        </p:txBody>
      </p:sp>
      <p:sp>
        <p:nvSpPr>
          <p:cNvPr id="228" name="object 61">
            <a:extLst>
              <a:ext uri="{FF2B5EF4-FFF2-40B4-BE49-F238E27FC236}">
                <a16:creationId xmlns:a16="http://schemas.microsoft.com/office/drawing/2014/main" id="{0D16468E-D0A0-4DDE-EBA3-3D1AC5987F73}"/>
              </a:ext>
            </a:extLst>
          </p:cNvPr>
          <p:cNvSpPr/>
          <p:nvPr/>
        </p:nvSpPr>
        <p:spPr>
          <a:xfrm>
            <a:off x="7886640" y="8251770"/>
            <a:ext cx="279400" cy="1786888"/>
          </a:xfrm>
          <a:custGeom>
            <a:avLst/>
            <a:gdLst/>
            <a:ahLst/>
            <a:cxnLst/>
            <a:rect l="l" t="t" r="r" b="b"/>
            <a:pathLst>
              <a:path w="139700" h="893445">
                <a:moveTo>
                  <a:pt x="70104" y="0"/>
                </a:moveTo>
                <a:lnTo>
                  <a:pt x="70104" y="892937"/>
                </a:lnTo>
              </a:path>
              <a:path w="139700" h="893445">
                <a:moveTo>
                  <a:pt x="0" y="893318"/>
                </a:moveTo>
                <a:lnTo>
                  <a:pt x="139192" y="893064"/>
                </a:lnTo>
              </a:path>
            </a:pathLst>
          </a:custGeom>
          <a:ln w="19812">
            <a:solidFill>
              <a:srgbClr val="38EE7C"/>
            </a:solidFill>
            <a:prstDash val="sysDash"/>
          </a:ln>
        </p:spPr>
        <p:txBody>
          <a:bodyPr wrap="square" lIns="0" tIns="0" rIns="0" bIns="0" rtlCol="0"/>
          <a:lstStyle/>
          <a:p>
            <a:pPr defTabSz="1828800">
              <a:defRPr/>
            </a:pPr>
            <a:endParaRPr sz="3600" kern="0">
              <a:solidFill>
                <a:sysClr val="windowText" lastClr="000000"/>
              </a:solidFill>
              <a:latin typeface="Arial"/>
            </a:endParaRPr>
          </a:p>
        </p:txBody>
      </p:sp>
      <p:sp>
        <p:nvSpPr>
          <p:cNvPr id="229" name="object 62">
            <a:extLst>
              <a:ext uri="{FF2B5EF4-FFF2-40B4-BE49-F238E27FC236}">
                <a16:creationId xmlns:a16="http://schemas.microsoft.com/office/drawing/2014/main" id="{FAB6BF10-5DB5-312F-B8D6-0258924D8182}"/>
              </a:ext>
            </a:extLst>
          </p:cNvPr>
          <p:cNvSpPr/>
          <p:nvPr/>
        </p:nvSpPr>
        <p:spPr>
          <a:xfrm>
            <a:off x="7886640" y="4359473"/>
            <a:ext cx="281940" cy="1375410"/>
          </a:xfrm>
          <a:custGeom>
            <a:avLst/>
            <a:gdLst/>
            <a:ahLst/>
            <a:cxnLst/>
            <a:rect l="l" t="t" r="r" b="b"/>
            <a:pathLst>
              <a:path w="140970" h="687705">
                <a:moveTo>
                  <a:pt x="70104" y="0"/>
                </a:moveTo>
                <a:lnTo>
                  <a:pt x="70104" y="687577"/>
                </a:lnTo>
              </a:path>
              <a:path w="140970" h="687705">
                <a:moveTo>
                  <a:pt x="0" y="253"/>
                </a:moveTo>
                <a:lnTo>
                  <a:pt x="140588" y="0"/>
                </a:lnTo>
              </a:path>
            </a:pathLst>
          </a:custGeom>
          <a:ln w="19812">
            <a:solidFill>
              <a:srgbClr val="38EE7C"/>
            </a:solidFill>
            <a:prstDash val="sysDash"/>
          </a:ln>
        </p:spPr>
        <p:txBody>
          <a:bodyPr wrap="square" lIns="0" tIns="0" rIns="0" bIns="0" rtlCol="0"/>
          <a:lstStyle/>
          <a:p>
            <a:pPr defTabSz="1828800">
              <a:defRPr/>
            </a:pPr>
            <a:endParaRPr sz="3600" kern="0">
              <a:solidFill>
                <a:sysClr val="windowText" lastClr="000000"/>
              </a:solidFill>
              <a:latin typeface="Arial"/>
            </a:endParaRPr>
          </a:p>
        </p:txBody>
      </p:sp>
      <p:pic>
        <p:nvPicPr>
          <p:cNvPr id="230" name="object 63">
            <a:extLst>
              <a:ext uri="{FF2B5EF4-FFF2-40B4-BE49-F238E27FC236}">
                <a16:creationId xmlns:a16="http://schemas.microsoft.com/office/drawing/2014/main" id="{3D6743E4-0A68-097E-38FD-D8F0E396D237}"/>
              </a:ext>
            </a:extLst>
          </p:cNvPr>
          <p:cNvPicPr/>
          <p:nvPr/>
        </p:nvPicPr>
        <p:blipFill>
          <a:blip r:embed="rId11" cstate="print"/>
          <a:stretch>
            <a:fillRect/>
          </a:stretch>
        </p:blipFill>
        <p:spPr>
          <a:xfrm>
            <a:off x="7080447" y="3961711"/>
            <a:ext cx="850390" cy="262126"/>
          </a:xfrm>
          <a:prstGeom prst="rect">
            <a:avLst/>
          </a:prstGeom>
        </p:spPr>
      </p:pic>
      <p:sp>
        <p:nvSpPr>
          <p:cNvPr id="231" name="object 64">
            <a:extLst>
              <a:ext uri="{FF2B5EF4-FFF2-40B4-BE49-F238E27FC236}">
                <a16:creationId xmlns:a16="http://schemas.microsoft.com/office/drawing/2014/main" id="{1CABC436-E929-612E-2F59-64077DB4B217}"/>
              </a:ext>
            </a:extLst>
          </p:cNvPr>
          <p:cNvSpPr txBox="1"/>
          <p:nvPr/>
        </p:nvSpPr>
        <p:spPr>
          <a:xfrm>
            <a:off x="8867843" y="5926553"/>
            <a:ext cx="1238250" cy="668132"/>
          </a:xfrm>
          <a:prstGeom prst="rect">
            <a:avLst/>
          </a:prstGeom>
        </p:spPr>
        <p:txBody>
          <a:bodyPr vert="horz" wrap="square" lIns="0" tIns="26670" rIns="0" bIns="0" rtlCol="0">
            <a:spAutoFit/>
          </a:bodyPr>
          <a:lstStyle/>
          <a:p>
            <a:pPr marL="76200" defTabSz="1828800">
              <a:lnSpc>
                <a:spcPts val="2510"/>
              </a:lnSpc>
              <a:spcBef>
                <a:spcPts val="210"/>
              </a:spcBef>
              <a:defRPr/>
            </a:pPr>
            <a:r>
              <a:rPr sz="2200" kern="0" spc="-20">
                <a:solidFill>
                  <a:srgbClr val="222E3D"/>
                </a:solidFill>
                <a:latin typeface="Arial"/>
                <a:cs typeface="Trebuchet MS"/>
              </a:rPr>
              <a:t>Detailed</a:t>
            </a:r>
            <a:endParaRPr sz="2200" kern="0">
              <a:solidFill>
                <a:sysClr val="windowText" lastClr="000000"/>
              </a:solidFill>
              <a:latin typeface="Arial"/>
              <a:cs typeface="Trebuchet MS"/>
            </a:endParaRPr>
          </a:p>
          <a:p>
            <a:pPr defTabSz="1828800">
              <a:lnSpc>
                <a:spcPts val="2510"/>
              </a:lnSpc>
              <a:defRPr/>
            </a:pPr>
            <a:r>
              <a:rPr sz="2200" kern="0" spc="-20">
                <a:solidFill>
                  <a:srgbClr val="222E3D"/>
                </a:solidFill>
                <a:latin typeface="Arial"/>
                <a:cs typeface="Trebuchet MS"/>
              </a:rPr>
              <a:t>Discovery</a:t>
            </a:r>
            <a:endParaRPr sz="2200" kern="0">
              <a:solidFill>
                <a:sysClr val="windowText" lastClr="000000"/>
              </a:solidFill>
              <a:latin typeface="Arial"/>
              <a:cs typeface="Trebuchet MS"/>
            </a:endParaRPr>
          </a:p>
        </p:txBody>
      </p:sp>
      <p:sp>
        <p:nvSpPr>
          <p:cNvPr id="232" name="object 65">
            <a:extLst>
              <a:ext uri="{FF2B5EF4-FFF2-40B4-BE49-F238E27FC236}">
                <a16:creationId xmlns:a16="http://schemas.microsoft.com/office/drawing/2014/main" id="{6F96C76E-39E2-E38D-23DB-E9FDF25D436C}"/>
              </a:ext>
            </a:extLst>
          </p:cNvPr>
          <p:cNvSpPr txBox="1"/>
          <p:nvPr/>
        </p:nvSpPr>
        <p:spPr>
          <a:xfrm>
            <a:off x="11009317" y="5926552"/>
            <a:ext cx="1530350" cy="668132"/>
          </a:xfrm>
          <a:prstGeom prst="rect">
            <a:avLst/>
          </a:prstGeom>
        </p:spPr>
        <p:txBody>
          <a:bodyPr vert="horz" wrap="square" lIns="0" tIns="26670" rIns="0" bIns="0" rtlCol="0">
            <a:spAutoFit/>
          </a:bodyPr>
          <a:lstStyle/>
          <a:p>
            <a:pPr marL="50800" defTabSz="1828800">
              <a:lnSpc>
                <a:spcPts val="2510"/>
              </a:lnSpc>
              <a:spcBef>
                <a:spcPts val="210"/>
              </a:spcBef>
              <a:defRPr/>
            </a:pPr>
            <a:r>
              <a:rPr sz="2200" kern="0">
                <a:solidFill>
                  <a:srgbClr val="222E3D"/>
                </a:solidFill>
                <a:latin typeface="Arial"/>
                <a:cs typeface="Trebuchet MS"/>
              </a:rPr>
              <a:t>Planning</a:t>
            </a:r>
            <a:r>
              <a:rPr sz="2200" kern="0" spc="320">
                <a:solidFill>
                  <a:srgbClr val="222E3D"/>
                </a:solidFill>
                <a:latin typeface="Arial"/>
                <a:cs typeface="Trebuchet MS"/>
              </a:rPr>
              <a:t> </a:t>
            </a:r>
            <a:r>
              <a:rPr sz="2200" kern="0" spc="-100">
                <a:solidFill>
                  <a:srgbClr val="222E3D"/>
                </a:solidFill>
                <a:latin typeface="Arial"/>
                <a:cs typeface="Trebuchet MS"/>
              </a:rPr>
              <a:t>&amp;</a:t>
            </a:r>
            <a:endParaRPr sz="2200" kern="0">
              <a:solidFill>
                <a:sysClr val="windowText" lastClr="000000"/>
              </a:solidFill>
              <a:latin typeface="Arial"/>
              <a:cs typeface="Trebuchet MS"/>
            </a:endParaRPr>
          </a:p>
          <a:p>
            <a:pPr defTabSz="1828800">
              <a:lnSpc>
                <a:spcPts val="2510"/>
              </a:lnSpc>
              <a:defRPr/>
            </a:pPr>
            <a:r>
              <a:rPr sz="2200" kern="0" spc="-20">
                <a:solidFill>
                  <a:srgbClr val="222E3D"/>
                </a:solidFill>
                <a:latin typeface="Arial"/>
                <a:cs typeface="Trebuchet MS"/>
              </a:rPr>
              <a:t>Governance</a:t>
            </a:r>
            <a:endParaRPr sz="2200" kern="0">
              <a:solidFill>
                <a:sysClr val="windowText" lastClr="000000"/>
              </a:solidFill>
              <a:latin typeface="Arial"/>
              <a:cs typeface="Trebuchet MS"/>
            </a:endParaRPr>
          </a:p>
        </p:txBody>
      </p:sp>
      <p:sp>
        <p:nvSpPr>
          <p:cNvPr id="233" name="object 66">
            <a:extLst>
              <a:ext uri="{FF2B5EF4-FFF2-40B4-BE49-F238E27FC236}">
                <a16:creationId xmlns:a16="http://schemas.microsoft.com/office/drawing/2014/main" id="{7AF241FD-083C-05D0-03E0-C8DC80223102}"/>
              </a:ext>
            </a:extLst>
          </p:cNvPr>
          <p:cNvSpPr txBox="1"/>
          <p:nvPr/>
        </p:nvSpPr>
        <p:spPr>
          <a:xfrm>
            <a:off x="13178987" y="5926553"/>
            <a:ext cx="1764030" cy="668132"/>
          </a:xfrm>
          <a:prstGeom prst="rect">
            <a:avLst/>
          </a:prstGeom>
        </p:spPr>
        <p:txBody>
          <a:bodyPr vert="horz" wrap="square" lIns="0" tIns="26670" rIns="0" bIns="0" rtlCol="0">
            <a:spAutoFit/>
          </a:bodyPr>
          <a:lstStyle/>
          <a:p>
            <a:pPr marR="6350" algn="ctr" defTabSz="1828800">
              <a:lnSpc>
                <a:spcPts val="2510"/>
              </a:lnSpc>
              <a:spcBef>
                <a:spcPts val="210"/>
              </a:spcBef>
              <a:defRPr/>
            </a:pPr>
            <a:r>
              <a:rPr sz="2200" kern="0">
                <a:solidFill>
                  <a:srgbClr val="222E3D"/>
                </a:solidFill>
                <a:latin typeface="Arial"/>
                <a:cs typeface="Trebuchet MS"/>
              </a:rPr>
              <a:t>Business</a:t>
            </a:r>
            <a:r>
              <a:rPr lang="en-US" sz="2200" kern="0" spc="140">
                <a:solidFill>
                  <a:srgbClr val="222E3D"/>
                </a:solidFill>
                <a:latin typeface="Arial"/>
                <a:cs typeface="Trebuchet MS"/>
              </a:rPr>
              <a:t> </a:t>
            </a:r>
            <a:r>
              <a:rPr sz="2200" kern="0" spc="-40">
                <a:solidFill>
                  <a:srgbClr val="222E3D"/>
                </a:solidFill>
                <a:latin typeface="Arial"/>
                <a:cs typeface="Trebuchet MS"/>
              </a:rPr>
              <a:t>Case</a:t>
            </a:r>
            <a:endParaRPr sz="2200" kern="0">
              <a:solidFill>
                <a:sysClr val="windowText" lastClr="000000"/>
              </a:solidFill>
              <a:latin typeface="Arial"/>
              <a:cs typeface="Trebuchet MS"/>
            </a:endParaRPr>
          </a:p>
        </p:txBody>
      </p:sp>
      <p:grpSp>
        <p:nvGrpSpPr>
          <p:cNvPr id="234" name="object 67">
            <a:extLst>
              <a:ext uri="{FF2B5EF4-FFF2-40B4-BE49-F238E27FC236}">
                <a16:creationId xmlns:a16="http://schemas.microsoft.com/office/drawing/2014/main" id="{8CDAEF51-B010-AFB6-D186-9087C5BB464B}"/>
              </a:ext>
            </a:extLst>
          </p:cNvPr>
          <p:cNvGrpSpPr/>
          <p:nvPr/>
        </p:nvGrpSpPr>
        <p:grpSpPr>
          <a:xfrm>
            <a:off x="15733970" y="4684340"/>
            <a:ext cx="1460500" cy="1074420"/>
            <a:chOff x="7841106" y="2488819"/>
            <a:chExt cx="730250" cy="537210"/>
          </a:xfrm>
        </p:grpSpPr>
        <p:sp>
          <p:nvSpPr>
            <p:cNvPr id="235" name="object 68">
              <a:extLst>
                <a:ext uri="{FF2B5EF4-FFF2-40B4-BE49-F238E27FC236}">
                  <a16:creationId xmlns:a16="http://schemas.microsoft.com/office/drawing/2014/main" id="{F1C82570-7E7A-4863-9123-7C05BEF47971}"/>
                </a:ext>
              </a:extLst>
            </p:cNvPr>
            <p:cNvSpPr/>
            <p:nvPr/>
          </p:nvSpPr>
          <p:spPr>
            <a:xfrm>
              <a:off x="7848726" y="2505456"/>
              <a:ext cx="466090" cy="443865"/>
            </a:xfrm>
            <a:custGeom>
              <a:avLst/>
              <a:gdLst/>
              <a:ahLst/>
              <a:cxnLst/>
              <a:rect l="l" t="t" r="r" b="b"/>
              <a:pathLst>
                <a:path w="466090" h="443864">
                  <a:moveTo>
                    <a:pt x="426466" y="443103"/>
                  </a:moveTo>
                  <a:lnTo>
                    <a:pt x="465708" y="443484"/>
                  </a:lnTo>
                  <a:lnTo>
                    <a:pt x="433958" y="335915"/>
                  </a:lnTo>
                  <a:lnTo>
                    <a:pt x="315214" y="335534"/>
                  </a:lnTo>
                  <a:lnTo>
                    <a:pt x="306197" y="280543"/>
                  </a:lnTo>
                  <a:lnTo>
                    <a:pt x="13970" y="280543"/>
                  </a:lnTo>
                  <a:lnTo>
                    <a:pt x="0" y="443103"/>
                  </a:lnTo>
                  <a:lnTo>
                    <a:pt x="17652" y="443103"/>
                  </a:lnTo>
                </a:path>
                <a:path w="466090" h="443864">
                  <a:moveTo>
                    <a:pt x="178307" y="443484"/>
                  </a:moveTo>
                  <a:lnTo>
                    <a:pt x="266953" y="443484"/>
                  </a:lnTo>
                </a:path>
                <a:path w="466090" h="443864">
                  <a:moveTo>
                    <a:pt x="347472" y="76327"/>
                  </a:moveTo>
                  <a:lnTo>
                    <a:pt x="379983" y="321564"/>
                  </a:lnTo>
                </a:path>
                <a:path w="466090" h="443864">
                  <a:moveTo>
                    <a:pt x="62611" y="264160"/>
                  </a:moveTo>
                  <a:lnTo>
                    <a:pt x="72898" y="76327"/>
                  </a:lnTo>
                </a:path>
                <a:path w="466090" h="443864">
                  <a:moveTo>
                    <a:pt x="356743" y="54991"/>
                  </a:moveTo>
                  <a:lnTo>
                    <a:pt x="67055" y="54991"/>
                  </a:lnTo>
                  <a:lnTo>
                    <a:pt x="70357" y="0"/>
                  </a:lnTo>
                  <a:lnTo>
                    <a:pt x="344804" y="0"/>
                  </a:lnTo>
                  <a:lnTo>
                    <a:pt x="356743" y="54991"/>
                  </a:lnTo>
                  <a:close/>
                </a:path>
                <a:path w="466090" h="443864">
                  <a:moveTo>
                    <a:pt x="272033" y="362458"/>
                  </a:moveTo>
                  <a:lnTo>
                    <a:pt x="47244" y="362458"/>
                  </a:lnTo>
                  <a:lnTo>
                    <a:pt x="51689" y="318516"/>
                  </a:lnTo>
                  <a:lnTo>
                    <a:pt x="264541" y="318516"/>
                  </a:lnTo>
                  <a:lnTo>
                    <a:pt x="272033" y="362458"/>
                  </a:lnTo>
                  <a:close/>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36" name="object 69">
              <a:extLst>
                <a:ext uri="{FF2B5EF4-FFF2-40B4-BE49-F238E27FC236}">
                  <a16:creationId xmlns:a16="http://schemas.microsoft.com/office/drawing/2014/main" id="{EAF3C14A-B7C4-CE93-EE41-35F54F0B7813}"/>
                </a:ext>
              </a:extLst>
            </p:cNvPr>
            <p:cNvPicPr/>
            <p:nvPr/>
          </p:nvPicPr>
          <p:blipFill>
            <a:blip r:embed="rId12" cstate="print"/>
            <a:stretch>
              <a:fillRect/>
            </a:stretch>
          </p:blipFill>
          <p:spPr>
            <a:xfrm>
              <a:off x="7956930" y="2604643"/>
              <a:ext cx="172466" cy="172212"/>
            </a:xfrm>
            <a:prstGeom prst="rect">
              <a:avLst/>
            </a:prstGeom>
          </p:spPr>
        </p:pic>
        <p:sp>
          <p:nvSpPr>
            <p:cNvPr id="237" name="object 70">
              <a:extLst>
                <a:ext uri="{FF2B5EF4-FFF2-40B4-BE49-F238E27FC236}">
                  <a16:creationId xmlns:a16="http://schemas.microsoft.com/office/drawing/2014/main" id="{51E0362F-C988-E489-9D6D-7155B5F93EAF}"/>
                </a:ext>
              </a:extLst>
            </p:cNvPr>
            <p:cNvSpPr/>
            <p:nvPr/>
          </p:nvSpPr>
          <p:spPr>
            <a:xfrm>
              <a:off x="8022335" y="2898648"/>
              <a:ext cx="95250" cy="15875"/>
            </a:xfrm>
            <a:custGeom>
              <a:avLst/>
              <a:gdLst/>
              <a:ahLst/>
              <a:cxnLst/>
              <a:rect l="l" t="t" r="r" b="b"/>
              <a:pathLst>
                <a:path w="95250" h="15875">
                  <a:moveTo>
                    <a:pt x="0" y="0"/>
                  </a:moveTo>
                  <a:lnTo>
                    <a:pt x="0" y="15875"/>
                  </a:lnTo>
                  <a:lnTo>
                    <a:pt x="94869" y="15875"/>
                  </a:lnTo>
                  <a:lnTo>
                    <a:pt x="94869" y="1269"/>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38" name="object 71">
              <a:extLst>
                <a:ext uri="{FF2B5EF4-FFF2-40B4-BE49-F238E27FC236}">
                  <a16:creationId xmlns:a16="http://schemas.microsoft.com/office/drawing/2014/main" id="{284FD0C7-101B-946A-A835-6A365DAAC7CA}"/>
                </a:ext>
              </a:extLst>
            </p:cNvPr>
            <p:cNvSpPr/>
            <p:nvPr/>
          </p:nvSpPr>
          <p:spPr>
            <a:xfrm>
              <a:off x="8353043" y="2496439"/>
              <a:ext cx="210820" cy="491490"/>
            </a:xfrm>
            <a:custGeom>
              <a:avLst/>
              <a:gdLst/>
              <a:ahLst/>
              <a:cxnLst/>
              <a:rect l="l" t="t" r="r" b="b"/>
              <a:pathLst>
                <a:path w="210820" h="491489">
                  <a:moveTo>
                    <a:pt x="175640" y="490982"/>
                  </a:moveTo>
                  <a:lnTo>
                    <a:pt x="210692" y="490982"/>
                  </a:lnTo>
                  <a:lnTo>
                    <a:pt x="210692" y="458724"/>
                  </a:lnTo>
                  <a:lnTo>
                    <a:pt x="35051" y="458724"/>
                  </a:lnTo>
                  <a:lnTo>
                    <a:pt x="35051" y="0"/>
                  </a:lnTo>
                  <a:lnTo>
                    <a:pt x="126" y="0"/>
                  </a:lnTo>
                  <a:lnTo>
                    <a:pt x="126" y="64262"/>
                  </a:lnTo>
                </a:path>
                <a:path w="210820" h="491489">
                  <a:moveTo>
                    <a:pt x="0" y="169163"/>
                  </a:moveTo>
                  <a:lnTo>
                    <a:pt x="0" y="491109"/>
                  </a:lnTo>
                  <a:lnTo>
                    <a:pt x="148971" y="491109"/>
                  </a:lnTo>
                </a:path>
                <a:path w="210820" h="491489">
                  <a:moveTo>
                    <a:pt x="0" y="85344"/>
                  </a:moveTo>
                  <a:lnTo>
                    <a:pt x="0" y="146303"/>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39" name="object 72">
              <a:extLst>
                <a:ext uri="{FF2B5EF4-FFF2-40B4-BE49-F238E27FC236}">
                  <a16:creationId xmlns:a16="http://schemas.microsoft.com/office/drawing/2014/main" id="{0B20ACB4-FE02-8168-0B84-335AF65A18D6}"/>
                </a:ext>
              </a:extLst>
            </p:cNvPr>
            <p:cNvPicPr/>
            <p:nvPr/>
          </p:nvPicPr>
          <p:blipFill>
            <a:blip r:embed="rId13" cstate="print"/>
            <a:stretch>
              <a:fillRect/>
            </a:stretch>
          </p:blipFill>
          <p:spPr>
            <a:xfrm>
              <a:off x="8129142" y="2892679"/>
              <a:ext cx="133350" cy="133350"/>
            </a:xfrm>
            <a:prstGeom prst="rect">
              <a:avLst/>
            </a:prstGeom>
          </p:spPr>
        </p:pic>
        <p:pic>
          <p:nvPicPr>
            <p:cNvPr id="240" name="object 73">
              <a:extLst>
                <a:ext uri="{FF2B5EF4-FFF2-40B4-BE49-F238E27FC236}">
                  <a16:creationId xmlns:a16="http://schemas.microsoft.com/office/drawing/2014/main" id="{D9EF66AF-3365-FCA5-51A4-5E996147F73B}"/>
                </a:ext>
              </a:extLst>
            </p:cNvPr>
            <p:cNvPicPr/>
            <p:nvPr/>
          </p:nvPicPr>
          <p:blipFill>
            <a:blip r:embed="rId14" cstate="print"/>
            <a:stretch>
              <a:fillRect/>
            </a:stretch>
          </p:blipFill>
          <p:spPr>
            <a:xfrm>
              <a:off x="7882127" y="2892679"/>
              <a:ext cx="131952" cy="133350"/>
            </a:xfrm>
            <a:prstGeom prst="rect">
              <a:avLst/>
            </a:prstGeom>
          </p:spPr>
        </p:pic>
        <p:sp>
          <p:nvSpPr>
            <p:cNvPr id="241" name="object 74">
              <a:extLst>
                <a:ext uri="{FF2B5EF4-FFF2-40B4-BE49-F238E27FC236}">
                  <a16:creationId xmlns:a16="http://schemas.microsoft.com/office/drawing/2014/main" id="{E3C3ED5C-FC60-975A-3585-116D724923DA}"/>
                </a:ext>
              </a:extLst>
            </p:cNvPr>
            <p:cNvSpPr/>
            <p:nvPr/>
          </p:nvSpPr>
          <p:spPr>
            <a:xfrm>
              <a:off x="8305926" y="2858262"/>
              <a:ext cx="34925" cy="25400"/>
            </a:xfrm>
            <a:custGeom>
              <a:avLst/>
              <a:gdLst/>
              <a:ahLst/>
              <a:cxnLst/>
              <a:rect l="l" t="t" r="r" b="b"/>
              <a:pathLst>
                <a:path w="34925" h="25400">
                  <a:moveTo>
                    <a:pt x="0" y="0"/>
                  </a:moveTo>
                  <a:lnTo>
                    <a:pt x="34544" y="0"/>
                  </a:lnTo>
                </a:path>
                <a:path w="34925" h="25400">
                  <a:moveTo>
                    <a:pt x="8890" y="25146"/>
                  </a:moveTo>
                  <a:lnTo>
                    <a:pt x="30479" y="25146"/>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sp>
        <p:nvSpPr>
          <p:cNvPr id="242" name="object 75">
            <a:extLst>
              <a:ext uri="{FF2B5EF4-FFF2-40B4-BE49-F238E27FC236}">
                <a16:creationId xmlns:a16="http://schemas.microsoft.com/office/drawing/2014/main" id="{ACB00B00-E392-018E-A71E-92A8F7C1D6B0}"/>
              </a:ext>
            </a:extLst>
          </p:cNvPr>
          <p:cNvSpPr txBox="1"/>
          <p:nvPr/>
        </p:nvSpPr>
        <p:spPr>
          <a:xfrm>
            <a:off x="15284535" y="3963235"/>
            <a:ext cx="2219310" cy="3001847"/>
          </a:xfrm>
          <a:prstGeom prst="rect">
            <a:avLst/>
          </a:prstGeom>
          <a:ln w="19811">
            <a:solidFill>
              <a:srgbClr val="38EE7C"/>
            </a:solidFill>
          </a:ln>
        </p:spPr>
        <p:txBody>
          <a:bodyPr vert="horz" wrap="square" lIns="0" tIns="124460" rIns="0" bIns="0" rtlCol="0">
            <a:spAutoFit/>
          </a:bodyPr>
          <a:lstStyle/>
          <a:p>
            <a:pPr algn="ctr" defTabSz="1828800">
              <a:spcBef>
                <a:spcPts val="980"/>
              </a:spcBef>
              <a:defRPr/>
            </a:pPr>
            <a:r>
              <a:rPr sz="2400" b="1" kern="0" spc="-20">
                <a:solidFill>
                  <a:srgbClr val="222E3D"/>
                </a:solidFill>
                <a:latin typeface="Arial"/>
                <a:cs typeface="Trebuchet MS"/>
              </a:rPr>
              <a:t>Migrate</a:t>
            </a:r>
            <a:endParaRPr sz="2400" kern="0">
              <a:solidFill>
                <a:sysClr val="windowText" lastClr="000000"/>
              </a:solidFill>
              <a:latin typeface="Arial"/>
              <a:cs typeface="Trebuchet MS"/>
            </a:endParaRPr>
          </a:p>
          <a:p>
            <a:pPr defTabSz="1828800">
              <a:defRPr/>
            </a:pPr>
            <a:endParaRPr sz="2400" kern="0">
              <a:solidFill>
                <a:sysClr val="windowText" lastClr="000000"/>
              </a:solidFill>
              <a:latin typeface="Arial"/>
              <a:cs typeface="Trebuchet MS"/>
            </a:endParaRPr>
          </a:p>
          <a:p>
            <a:pPr defTabSz="1828800">
              <a:defRPr/>
            </a:pPr>
            <a:endParaRPr sz="2400" kern="0">
              <a:solidFill>
                <a:sysClr val="windowText" lastClr="000000"/>
              </a:solidFill>
              <a:latin typeface="Arial"/>
              <a:cs typeface="Trebuchet MS"/>
            </a:endParaRPr>
          </a:p>
          <a:p>
            <a:pPr defTabSz="1828800">
              <a:defRPr/>
            </a:pPr>
            <a:endParaRPr sz="2400" kern="0">
              <a:solidFill>
                <a:sysClr val="windowText" lastClr="000000"/>
              </a:solidFill>
              <a:latin typeface="Arial"/>
              <a:cs typeface="Trebuchet MS"/>
            </a:endParaRPr>
          </a:p>
          <a:p>
            <a:pPr defTabSz="1828800">
              <a:spcBef>
                <a:spcPts val="918"/>
              </a:spcBef>
              <a:defRPr/>
            </a:pPr>
            <a:endParaRPr lang="en-AE" sz="2400" kern="0">
              <a:solidFill>
                <a:sysClr val="windowText" lastClr="000000"/>
              </a:solidFill>
              <a:latin typeface="Arial"/>
              <a:cs typeface="Trebuchet MS"/>
            </a:endParaRPr>
          </a:p>
          <a:p>
            <a:pPr marL="110488" marR="101600" indent="1270" algn="ctr" defTabSz="1828800">
              <a:lnSpc>
                <a:spcPct val="90100"/>
              </a:lnSpc>
              <a:defRPr/>
            </a:pPr>
            <a:r>
              <a:rPr sz="2200" kern="0">
                <a:solidFill>
                  <a:srgbClr val="222E3D"/>
                </a:solidFill>
                <a:latin typeface="Arial"/>
                <a:cs typeface="Trebuchet MS"/>
              </a:rPr>
              <a:t>Migration</a:t>
            </a:r>
            <a:r>
              <a:rPr sz="2200" kern="0" spc="280">
                <a:solidFill>
                  <a:srgbClr val="222E3D"/>
                </a:solidFill>
                <a:latin typeface="Arial"/>
                <a:cs typeface="Trebuchet MS"/>
              </a:rPr>
              <a:t> </a:t>
            </a:r>
            <a:r>
              <a:rPr sz="2200" kern="0" spc="-100">
                <a:solidFill>
                  <a:srgbClr val="222E3D"/>
                </a:solidFill>
                <a:latin typeface="Arial"/>
                <a:cs typeface="Trebuchet MS"/>
              </a:rPr>
              <a:t>&amp; </a:t>
            </a:r>
            <a:r>
              <a:rPr sz="2200" kern="0" spc="-20">
                <a:solidFill>
                  <a:srgbClr val="222E3D"/>
                </a:solidFill>
                <a:latin typeface="Arial"/>
                <a:cs typeface="Trebuchet MS"/>
              </a:rPr>
              <a:t>modernization experience</a:t>
            </a:r>
            <a:endParaRPr sz="2200" kern="0">
              <a:solidFill>
                <a:sysClr val="windowText" lastClr="000000"/>
              </a:solidFill>
              <a:latin typeface="Arial"/>
              <a:cs typeface="Trebuchet MS"/>
            </a:endParaRPr>
          </a:p>
        </p:txBody>
      </p:sp>
      <p:grpSp>
        <p:nvGrpSpPr>
          <p:cNvPr id="243" name="object 76">
            <a:extLst>
              <a:ext uri="{FF2B5EF4-FFF2-40B4-BE49-F238E27FC236}">
                <a16:creationId xmlns:a16="http://schemas.microsoft.com/office/drawing/2014/main" id="{6A363DEB-E6D8-F2A1-D94A-2A0BB8EA9422}"/>
              </a:ext>
            </a:extLst>
          </p:cNvPr>
          <p:cNvGrpSpPr/>
          <p:nvPr/>
        </p:nvGrpSpPr>
        <p:grpSpPr>
          <a:xfrm>
            <a:off x="8930580" y="7850958"/>
            <a:ext cx="1049020" cy="1049020"/>
            <a:chOff x="4439411" y="4072128"/>
            <a:chExt cx="524510" cy="524510"/>
          </a:xfrm>
        </p:grpSpPr>
        <p:pic>
          <p:nvPicPr>
            <p:cNvPr id="244" name="object 77">
              <a:extLst>
                <a:ext uri="{FF2B5EF4-FFF2-40B4-BE49-F238E27FC236}">
                  <a16:creationId xmlns:a16="http://schemas.microsoft.com/office/drawing/2014/main" id="{7EFFE737-0647-6555-050A-C9DB4043D330}"/>
                </a:ext>
              </a:extLst>
            </p:cNvPr>
            <p:cNvPicPr/>
            <p:nvPr/>
          </p:nvPicPr>
          <p:blipFill>
            <a:blip r:embed="rId15" cstate="print"/>
            <a:stretch>
              <a:fillRect/>
            </a:stretch>
          </p:blipFill>
          <p:spPr>
            <a:xfrm>
              <a:off x="4596256" y="4248785"/>
              <a:ext cx="209296" cy="228218"/>
            </a:xfrm>
            <a:prstGeom prst="rect">
              <a:avLst/>
            </a:prstGeom>
          </p:spPr>
        </p:pic>
        <p:sp>
          <p:nvSpPr>
            <p:cNvPr id="245" name="object 78">
              <a:extLst>
                <a:ext uri="{FF2B5EF4-FFF2-40B4-BE49-F238E27FC236}">
                  <a16:creationId xmlns:a16="http://schemas.microsoft.com/office/drawing/2014/main" id="{B4994B3B-76CA-C486-06B8-36A40C61A407}"/>
                </a:ext>
              </a:extLst>
            </p:cNvPr>
            <p:cNvSpPr/>
            <p:nvPr/>
          </p:nvSpPr>
          <p:spPr>
            <a:xfrm>
              <a:off x="4447031" y="4079748"/>
              <a:ext cx="509270" cy="509270"/>
            </a:xfrm>
            <a:custGeom>
              <a:avLst/>
              <a:gdLst/>
              <a:ahLst/>
              <a:cxnLst/>
              <a:rect l="l" t="t" r="r" b="b"/>
              <a:pathLst>
                <a:path w="509270" h="509270">
                  <a:moveTo>
                    <a:pt x="425070" y="402589"/>
                  </a:moveTo>
                  <a:lnTo>
                    <a:pt x="149605" y="402589"/>
                  </a:lnTo>
                  <a:lnTo>
                    <a:pt x="161702" y="410092"/>
                  </a:lnTo>
                  <a:lnTo>
                    <a:pt x="174180" y="416798"/>
                  </a:lnTo>
                  <a:lnTo>
                    <a:pt x="187039" y="422717"/>
                  </a:lnTo>
                  <a:lnTo>
                    <a:pt x="200278" y="427863"/>
                  </a:lnTo>
                  <a:lnTo>
                    <a:pt x="213994" y="505840"/>
                  </a:lnTo>
                  <a:lnTo>
                    <a:pt x="261365" y="509015"/>
                  </a:lnTo>
                  <a:lnTo>
                    <a:pt x="285622" y="433196"/>
                  </a:lnTo>
                  <a:lnTo>
                    <a:pt x="299037" y="430236"/>
                  </a:lnTo>
                  <a:lnTo>
                    <a:pt x="312356" y="426180"/>
                  </a:lnTo>
                  <a:lnTo>
                    <a:pt x="325485" y="421124"/>
                  </a:lnTo>
                  <a:lnTo>
                    <a:pt x="338327" y="415163"/>
                  </a:lnTo>
                  <a:lnTo>
                    <a:pt x="431447" y="415163"/>
                  </a:lnTo>
                  <a:lnTo>
                    <a:pt x="425070" y="402589"/>
                  </a:lnTo>
                  <a:close/>
                </a:path>
                <a:path w="509270" h="509270">
                  <a:moveTo>
                    <a:pt x="431447" y="415163"/>
                  </a:moveTo>
                  <a:lnTo>
                    <a:pt x="338327" y="415163"/>
                  </a:lnTo>
                  <a:lnTo>
                    <a:pt x="403605" y="460501"/>
                  </a:lnTo>
                  <a:lnTo>
                    <a:pt x="438403" y="428878"/>
                  </a:lnTo>
                  <a:lnTo>
                    <a:pt x="431447" y="415163"/>
                  </a:lnTo>
                  <a:close/>
                </a:path>
                <a:path w="509270" h="509270">
                  <a:moveTo>
                    <a:pt x="104266" y="47370"/>
                  </a:moveTo>
                  <a:lnTo>
                    <a:pt x="69595" y="78993"/>
                  </a:lnTo>
                  <a:lnTo>
                    <a:pt x="105409" y="148589"/>
                  </a:lnTo>
                  <a:lnTo>
                    <a:pt x="97317" y="160613"/>
                  </a:lnTo>
                  <a:lnTo>
                    <a:pt x="90392" y="173053"/>
                  </a:lnTo>
                  <a:lnTo>
                    <a:pt x="84657" y="185898"/>
                  </a:lnTo>
                  <a:lnTo>
                    <a:pt x="80137" y="199135"/>
                  </a:lnTo>
                  <a:lnTo>
                    <a:pt x="3175" y="212851"/>
                  </a:lnTo>
                  <a:lnTo>
                    <a:pt x="2158" y="228726"/>
                  </a:lnTo>
                  <a:lnTo>
                    <a:pt x="1015" y="244475"/>
                  </a:lnTo>
                  <a:lnTo>
                    <a:pt x="0" y="260350"/>
                  </a:lnTo>
                  <a:lnTo>
                    <a:pt x="74802" y="284479"/>
                  </a:lnTo>
                  <a:lnTo>
                    <a:pt x="77761" y="298126"/>
                  </a:lnTo>
                  <a:lnTo>
                    <a:pt x="81803" y="311832"/>
                  </a:lnTo>
                  <a:lnTo>
                    <a:pt x="86822" y="325324"/>
                  </a:lnTo>
                  <a:lnTo>
                    <a:pt x="92709" y="338327"/>
                  </a:lnTo>
                  <a:lnTo>
                    <a:pt x="47370" y="403606"/>
                  </a:lnTo>
                  <a:lnTo>
                    <a:pt x="57912" y="415163"/>
                  </a:lnTo>
                  <a:lnTo>
                    <a:pt x="68452" y="426846"/>
                  </a:lnTo>
                  <a:lnTo>
                    <a:pt x="78993" y="438403"/>
                  </a:lnTo>
                  <a:lnTo>
                    <a:pt x="149605" y="402589"/>
                  </a:lnTo>
                  <a:lnTo>
                    <a:pt x="425070" y="402589"/>
                  </a:lnTo>
                  <a:lnTo>
                    <a:pt x="419337" y="391287"/>
                  </a:lnTo>
                  <a:lnTo>
                    <a:pt x="254380" y="391287"/>
                  </a:lnTo>
                  <a:lnTo>
                    <a:pt x="211077" y="384303"/>
                  </a:lnTo>
                  <a:lnTo>
                    <a:pt x="173491" y="364858"/>
                  </a:lnTo>
                  <a:lnTo>
                    <a:pt x="143866" y="335215"/>
                  </a:lnTo>
                  <a:lnTo>
                    <a:pt x="124446" y="297636"/>
                  </a:lnTo>
                  <a:lnTo>
                    <a:pt x="117475" y="254381"/>
                  </a:lnTo>
                  <a:lnTo>
                    <a:pt x="124446" y="211063"/>
                  </a:lnTo>
                  <a:lnTo>
                    <a:pt x="143866" y="173446"/>
                  </a:lnTo>
                  <a:lnTo>
                    <a:pt x="173491" y="143784"/>
                  </a:lnTo>
                  <a:lnTo>
                    <a:pt x="211077" y="124332"/>
                  </a:lnTo>
                  <a:lnTo>
                    <a:pt x="254380" y="117347"/>
                  </a:lnTo>
                  <a:lnTo>
                    <a:pt x="452210" y="117347"/>
                  </a:lnTo>
                  <a:lnTo>
                    <a:pt x="459796" y="106425"/>
                  </a:lnTo>
                  <a:lnTo>
                    <a:pt x="358266" y="106425"/>
                  </a:lnTo>
                  <a:lnTo>
                    <a:pt x="346243" y="98494"/>
                  </a:lnTo>
                  <a:lnTo>
                    <a:pt x="335435" y="92709"/>
                  </a:lnTo>
                  <a:lnTo>
                    <a:pt x="168655" y="92709"/>
                  </a:lnTo>
                  <a:lnTo>
                    <a:pt x="104266" y="47370"/>
                  </a:lnTo>
                  <a:close/>
                </a:path>
                <a:path w="509270" h="509270">
                  <a:moveTo>
                    <a:pt x="452210" y="117347"/>
                  </a:moveTo>
                  <a:lnTo>
                    <a:pt x="254380" y="117347"/>
                  </a:lnTo>
                  <a:lnTo>
                    <a:pt x="297636" y="124332"/>
                  </a:lnTo>
                  <a:lnTo>
                    <a:pt x="335215" y="143784"/>
                  </a:lnTo>
                  <a:lnTo>
                    <a:pt x="364858" y="173446"/>
                  </a:lnTo>
                  <a:lnTo>
                    <a:pt x="384303" y="211063"/>
                  </a:lnTo>
                  <a:lnTo>
                    <a:pt x="391287" y="254381"/>
                  </a:lnTo>
                  <a:lnTo>
                    <a:pt x="384303" y="297636"/>
                  </a:lnTo>
                  <a:lnTo>
                    <a:pt x="364858" y="335215"/>
                  </a:lnTo>
                  <a:lnTo>
                    <a:pt x="335215" y="364858"/>
                  </a:lnTo>
                  <a:lnTo>
                    <a:pt x="297636" y="384303"/>
                  </a:lnTo>
                  <a:lnTo>
                    <a:pt x="254380" y="391287"/>
                  </a:lnTo>
                  <a:lnTo>
                    <a:pt x="419337" y="391287"/>
                  </a:lnTo>
                  <a:lnTo>
                    <a:pt x="402589" y="358266"/>
                  </a:lnTo>
                  <a:lnTo>
                    <a:pt x="410092" y="346259"/>
                  </a:lnTo>
                  <a:lnTo>
                    <a:pt x="416798" y="333930"/>
                  </a:lnTo>
                  <a:lnTo>
                    <a:pt x="422717" y="321387"/>
                  </a:lnTo>
                  <a:lnTo>
                    <a:pt x="427863" y="308737"/>
                  </a:lnTo>
                  <a:lnTo>
                    <a:pt x="505840" y="295020"/>
                  </a:lnTo>
                  <a:lnTo>
                    <a:pt x="506856" y="279272"/>
                  </a:lnTo>
                  <a:lnTo>
                    <a:pt x="508000" y="263525"/>
                  </a:lnTo>
                  <a:lnTo>
                    <a:pt x="509015" y="247650"/>
                  </a:lnTo>
                  <a:lnTo>
                    <a:pt x="433196" y="223393"/>
                  </a:lnTo>
                  <a:lnTo>
                    <a:pt x="430236" y="209978"/>
                  </a:lnTo>
                  <a:lnTo>
                    <a:pt x="426180" y="196659"/>
                  </a:lnTo>
                  <a:lnTo>
                    <a:pt x="421124" y="183530"/>
                  </a:lnTo>
                  <a:lnTo>
                    <a:pt x="415163" y="170687"/>
                  </a:lnTo>
                  <a:lnTo>
                    <a:pt x="452210" y="117347"/>
                  </a:lnTo>
                  <a:close/>
                </a:path>
                <a:path w="509270" h="509270">
                  <a:moveTo>
                    <a:pt x="428878" y="70612"/>
                  </a:moveTo>
                  <a:lnTo>
                    <a:pt x="358266" y="106425"/>
                  </a:lnTo>
                  <a:lnTo>
                    <a:pt x="459796" y="106425"/>
                  </a:lnTo>
                  <a:lnTo>
                    <a:pt x="460501" y="105409"/>
                  </a:lnTo>
                  <a:lnTo>
                    <a:pt x="449960" y="93852"/>
                  </a:lnTo>
                  <a:lnTo>
                    <a:pt x="439419" y="82168"/>
                  </a:lnTo>
                  <a:lnTo>
                    <a:pt x="428878" y="70612"/>
                  </a:lnTo>
                  <a:close/>
                </a:path>
                <a:path w="509270" h="509270">
                  <a:moveTo>
                    <a:pt x="246633" y="0"/>
                  </a:moveTo>
                  <a:lnTo>
                    <a:pt x="222376" y="74802"/>
                  </a:lnTo>
                  <a:lnTo>
                    <a:pt x="208357" y="77761"/>
                  </a:lnTo>
                  <a:lnTo>
                    <a:pt x="194706" y="81803"/>
                  </a:lnTo>
                  <a:lnTo>
                    <a:pt x="181461" y="86822"/>
                  </a:lnTo>
                  <a:lnTo>
                    <a:pt x="168655" y="92709"/>
                  </a:lnTo>
                  <a:lnTo>
                    <a:pt x="335435" y="92709"/>
                  </a:lnTo>
                  <a:lnTo>
                    <a:pt x="333803" y="91836"/>
                  </a:lnTo>
                  <a:lnTo>
                    <a:pt x="320958" y="86155"/>
                  </a:lnTo>
                  <a:lnTo>
                    <a:pt x="307720" y="81152"/>
                  </a:lnTo>
                  <a:lnTo>
                    <a:pt x="294004" y="3175"/>
                  </a:lnTo>
                  <a:lnTo>
                    <a:pt x="246633" y="0"/>
                  </a:lnTo>
                  <a:close/>
                </a:path>
              </a:pathLst>
            </a:custGeom>
            <a:solidFill>
              <a:srgbClr val="F0F3F3"/>
            </a:solidFill>
          </p:spPr>
          <p:txBody>
            <a:bodyPr wrap="square" lIns="0" tIns="0" rIns="0" bIns="0" rtlCol="0"/>
            <a:lstStyle/>
            <a:p>
              <a:pPr defTabSz="1828800">
                <a:defRPr/>
              </a:pPr>
              <a:endParaRPr sz="3600" kern="0">
                <a:solidFill>
                  <a:sysClr val="windowText" lastClr="000000"/>
                </a:solidFill>
                <a:latin typeface="Arial"/>
              </a:endParaRPr>
            </a:p>
          </p:txBody>
        </p:sp>
        <p:sp>
          <p:nvSpPr>
            <p:cNvPr id="246" name="object 79">
              <a:extLst>
                <a:ext uri="{FF2B5EF4-FFF2-40B4-BE49-F238E27FC236}">
                  <a16:creationId xmlns:a16="http://schemas.microsoft.com/office/drawing/2014/main" id="{4B06DEDC-41DD-A842-922A-06F75CA05AF6}"/>
                </a:ext>
              </a:extLst>
            </p:cNvPr>
            <p:cNvSpPr/>
            <p:nvPr/>
          </p:nvSpPr>
          <p:spPr>
            <a:xfrm>
              <a:off x="4447031" y="4079748"/>
              <a:ext cx="509270" cy="509270"/>
            </a:xfrm>
            <a:custGeom>
              <a:avLst/>
              <a:gdLst/>
              <a:ahLst/>
              <a:cxnLst/>
              <a:rect l="l" t="t" r="r" b="b"/>
              <a:pathLst>
                <a:path w="509270" h="509270">
                  <a:moveTo>
                    <a:pt x="254380" y="117347"/>
                  </a:moveTo>
                  <a:lnTo>
                    <a:pt x="211077" y="124332"/>
                  </a:lnTo>
                  <a:lnTo>
                    <a:pt x="173491" y="143784"/>
                  </a:lnTo>
                  <a:lnTo>
                    <a:pt x="143866" y="173446"/>
                  </a:lnTo>
                  <a:lnTo>
                    <a:pt x="124446" y="211063"/>
                  </a:lnTo>
                  <a:lnTo>
                    <a:pt x="117475" y="254381"/>
                  </a:lnTo>
                  <a:lnTo>
                    <a:pt x="124446" y="297636"/>
                  </a:lnTo>
                  <a:lnTo>
                    <a:pt x="143866" y="335215"/>
                  </a:lnTo>
                  <a:lnTo>
                    <a:pt x="173491" y="364858"/>
                  </a:lnTo>
                  <a:lnTo>
                    <a:pt x="211077" y="384303"/>
                  </a:lnTo>
                  <a:lnTo>
                    <a:pt x="254380" y="391287"/>
                  </a:lnTo>
                  <a:lnTo>
                    <a:pt x="297636" y="384303"/>
                  </a:lnTo>
                  <a:lnTo>
                    <a:pt x="335215" y="364858"/>
                  </a:lnTo>
                  <a:lnTo>
                    <a:pt x="364858" y="335215"/>
                  </a:lnTo>
                  <a:lnTo>
                    <a:pt x="384303" y="297636"/>
                  </a:lnTo>
                  <a:lnTo>
                    <a:pt x="391287" y="254381"/>
                  </a:lnTo>
                  <a:lnTo>
                    <a:pt x="384303" y="211063"/>
                  </a:lnTo>
                  <a:lnTo>
                    <a:pt x="364858" y="173446"/>
                  </a:lnTo>
                  <a:lnTo>
                    <a:pt x="335215" y="143784"/>
                  </a:lnTo>
                  <a:lnTo>
                    <a:pt x="297636" y="124332"/>
                  </a:lnTo>
                  <a:lnTo>
                    <a:pt x="254380" y="117347"/>
                  </a:lnTo>
                  <a:close/>
                </a:path>
                <a:path w="509270" h="509270">
                  <a:moveTo>
                    <a:pt x="246633" y="0"/>
                  </a:moveTo>
                  <a:lnTo>
                    <a:pt x="262381" y="1015"/>
                  </a:lnTo>
                  <a:lnTo>
                    <a:pt x="278256" y="2158"/>
                  </a:lnTo>
                  <a:lnTo>
                    <a:pt x="294004" y="3175"/>
                  </a:lnTo>
                  <a:lnTo>
                    <a:pt x="307720" y="81152"/>
                  </a:lnTo>
                  <a:lnTo>
                    <a:pt x="320958" y="86155"/>
                  </a:lnTo>
                  <a:lnTo>
                    <a:pt x="333803" y="91836"/>
                  </a:lnTo>
                  <a:lnTo>
                    <a:pt x="346243" y="98494"/>
                  </a:lnTo>
                  <a:lnTo>
                    <a:pt x="358266" y="106425"/>
                  </a:lnTo>
                  <a:lnTo>
                    <a:pt x="428878" y="70612"/>
                  </a:lnTo>
                  <a:lnTo>
                    <a:pt x="439419" y="82168"/>
                  </a:lnTo>
                  <a:lnTo>
                    <a:pt x="449960" y="93852"/>
                  </a:lnTo>
                  <a:lnTo>
                    <a:pt x="460501" y="105409"/>
                  </a:lnTo>
                  <a:lnTo>
                    <a:pt x="415163" y="170687"/>
                  </a:lnTo>
                  <a:lnTo>
                    <a:pt x="421124" y="183530"/>
                  </a:lnTo>
                  <a:lnTo>
                    <a:pt x="426180" y="196659"/>
                  </a:lnTo>
                  <a:lnTo>
                    <a:pt x="430236" y="209978"/>
                  </a:lnTo>
                  <a:lnTo>
                    <a:pt x="433196" y="223393"/>
                  </a:lnTo>
                  <a:lnTo>
                    <a:pt x="509015" y="247650"/>
                  </a:lnTo>
                  <a:lnTo>
                    <a:pt x="508000" y="263525"/>
                  </a:lnTo>
                  <a:lnTo>
                    <a:pt x="506856" y="279272"/>
                  </a:lnTo>
                  <a:lnTo>
                    <a:pt x="505840" y="295020"/>
                  </a:lnTo>
                  <a:lnTo>
                    <a:pt x="427863" y="308737"/>
                  </a:lnTo>
                  <a:lnTo>
                    <a:pt x="422717" y="321387"/>
                  </a:lnTo>
                  <a:lnTo>
                    <a:pt x="416798" y="333930"/>
                  </a:lnTo>
                  <a:lnTo>
                    <a:pt x="410092" y="346259"/>
                  </a:lnTo>
                  <a:lnTo>
                    <a:pt x="402589" y="358266"/>
                  </a:lnTo>
                  <a:lnTo>
                    <a:pt x="438403" y="428878"/>
                  </a:lnTo>
                  <a:lnTo>
                    <a:pt x="426846" y="439419"/>
                  </a:lnTo>
                  <a:lnTo>
                    <a:pt x="415163" y="449960"/>
                  </a:lnTo>
                  <a:lnTo>
                    <a:pt x="403605" y="460501"/>
                  </a:lnTo>
                  <a:lnTo>
                    <a:pt x="338327" y="415163"/>
                  </a:lnTo>
                  <a:lnTo>
                    <a:pt x="325485" y="421124"/>
                  </a:lnTo>
                  <a:lnTo>
                    <a:pt x="312356" y="426180"/>
                  </a:lnTo>
                  <a:lnTo>
                    <a:pt x="299037" y="430236"/>
                  </a:lnTo>
                  <a:lnTo>
                    <a:pt x="285622" y="433196"/>
                  </a:lnTo>
                  <a:lnTo>
                    <a:pt x="261365" y="509015"/>
                  </a:lnTo>
                  <a:lnTo>
                    <a:pt x="245490" y="508000"/>
                  </a:lnTo>
                  <a:lnTo>
                    <a:pt x="229742" y="506856"/>
                  </a:lnTo>
                  <a:lnTo>
                    <a:pt x="213994" y="505840"/>
                  </a:lnTo>
                  <a:lnTo>
                    <a:pt x="200278" y="427863"/>
                  </a:lnTo>
                  <a:lnTo>
                    <a:pt x="187039" y="422717"/>
                  </a:lnTo>
                  <a:lnTo>
                    <a:pt x="174180" y="416798"/>
                  </a:lnTo>
                  <a:lnTo>
                    <a:pt x="161702" y="410092"/>
                  </a:lnTo>
                  <a:lnTo>
                    <a:pt x="149605" y="402589"/>
                  </a:lnTo>
                  <a:lnTo>
                    <a:pt x="78993" y="438403"/>
                  </a:lnTo>
                  <a:lnTo>
                    <a:pt x="68452" y="426846"/>
                  </a:lnTo>
                  <a:lnTo>
                    <a:pt x="57912" y="415163"/>
                  </a:lnTo>
                  <a:lnTo>
                    <a:pt x="47370" y="403606"/>
                  </a:lnTo>
                  <a:lnTo>
                    <a:pt x="92709" y="338327"/>
                  </a:lnTo>
                  <a:lnTo>
                    <a:pt x="86822" y="325324"/>
                  </a:lnTo>
                  <a:lnTo>
                    <a:pt x="81803" y="311832"/>
                  </a:lnTo>
                  <a:lnTo>
                    <a:pt x="77761" y="298126"/>
                  </a:lnTo>
                  <a:lnTo>
                    <a:pt x="74802" y="284479"/>
                  </a:lnTo>
                  <a:lnTo>
                    <a:pt x="0" y="260350"/>
                  </a:lnTo>
                  <a:lnTo>
                    <a:pt x="1015" y="244475"/>
                  </a:lnTo>
                  <a:lnTo>
                    <a:pt x="2158" y="228726"/>
                  </a:lnTo>
                  <a:lnTo>
                    <a:pt x="3175" y="212851"/>
                  </a:lnTo>
                  <a:lnTo>
                    <a:pt x="80137" y="199135"/>
                  </a:lnTo>
                  <a:lnTo>
                    <a:pt x="84657" y="185898"/>
                  </a:lnTo>
                  <a:lnTo>
                    <a:pt x="90392" y="173053"/>
                  </a:lnTo>
                  <a:lnTo>
                    <a:pt x="97317" y="160613"/>
                  </a:lnTo>
                  <a:lnTo>
                    <a:pt x="105409" y="148589"/>
                  </a:lnTo>
                  <a:lnTo>
                    <a:pt x="69595" y="78993"/>
                  </a:lnTo>
                  <a:lnTo>
                    <a:pt x="81152" y="68452"/>
                  </a:lnTo>
                  <a:lnTo>
                    <a:pt x="92709" y="57912"/>
                  </a:lnTo>
                  <a:lnTo>
                    <a:pt x="104266" y="47370"/>
                  </a:lnTo>
                  <a:lnTo>
                    <a:pt x="168655" y="92709"/>
                  </a:lnTo>
                  <a:lnTo>
                    <a:pt x="181461" y="86822"/>
                  </a:lnTo>
                  <a:lnTo>
                    <a:pt x="194706" y="81803"/>
                  </a:lnTo>
                  <a:lnTo>
                    <a:pt x="208357" y="77761"/>
                  </a:lnTo>
                  <a:lnTo>
                    <a:pt x="222376" y="74802"/>
                  </a:lnTo>
                  <a:lnTo>
                    <a:pt x="246633" y="0"/>
                  </a:lnTo>
                  <a:close/>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sp>
        <p:nvSpPr>
          <p:cNvPr id="247" name="object 80">
            <a:extLst>
              <a:ext uri="{FF2B5EF4-FFF2-40B4-BE49-F238E27FC236}">
                <a16:creationId xmlns:a16="http://schemas.microsoft.com/office/drawing/2014/main" id="{64251EA6-08D2-CBAA-C552-11F26ECBE78E}"/>
              </a:ext>
            </a:extLst>
          </p:cNvPr>
          <p:cNvSpPr txBox="1"/>
          <p:nvPr/>
        </p:nvSpPr>
        <p:spPr>
          <a:xfrm>
            <a:off x="8377368" y="7178871"/>
            <a:ext cx="2286256" cy="3094606"/>
          </a:xfrm>
          <a:prstGeom prst="rect">
            <a:avLst/>
          </a:prstGeom>
          <a:ln w="19811">
            <a:solidFill>
              <a:srgbClr val="38EE7C"/>
            </a:solidFill>
          </a:ln>
        </p:spPr>
        <p:txBody>
          <a:bodyPr vert="horz" wrap="square" lIns="0" tIns="124460" rIns="0" bIns="0" rtlCol="0">
            <a:noAutofit/>
          </a:bodyPr>
          <a:lstStyle/>
          <a:p>
            <a:pPr algn="ctr" defTabSz="1828800">
              <a:spcBef>
                <a:spcPts val="980"/>
              </a:spcBef>
              <a:defRPr/>
            </a:pPr>
            <a:r>
              <a:rPr sz="2400" b="1" kern="0" spc="-20">
                <a:solidFill>
                  <a:srgbClr val="222E3D"/>
                </a:solidFill>
                <a:latin typeface="Arial"/>
                <a:cs typeface="Trebuchet MS"/>
              </a:rPr>
              <a:t>People</a:t>
            </a:r>
            <a:endParaRPr sz="2400" kern="0">
              <a:solidFill>
                <a:sysClr val="windowText" lastClr="000000"/>
              </a:solidFill>
              <a:latin typeface="Arial"/>
              <a:cs typeface="Trebuchet MS"/>
            </a:endParaRPr>
          </a:p>
          <a:p>
            <a:pPr defTabSz="1828800">
              <a:defRPr/>
            </a:pPr>
            <a:endParaRPr sz="2400" kern="0">
              <a:solidFill>
                <a:sysClr val="windowText" lastClr="000000"/>
              </a:solidFill>
              <a:latin typeface="Arial"/>
              <a:cs typeface="Trebuchet MS"/>
            </a:endParaRPr>
          </a:p>
          <a:p>
            <a:pPr defTabSz="1828800">
              <a:defRPr/>
            </a:pPr>
            <a:endParaRPr sz="2400" kern="0">
              <a:solidFill>
                <a:sysClr val="windowText" lastClr="000000"/>
              </a:solidFill>
              <a:latin typeface="Arial"/>
              <a:cs typeface="Trebuchet MS"/>
            </a:endParaRPr>
          </a:p>
          <a:p>
            <a:pPr defTabSz="1828800">
              <a:defRPr/>
            </a:pPr>
            <a:endParaRPr sz="2400" kern="0">
              <a:solidFill>
                <a:sysClr val="windowText" lastClr="000000"/>
              </a:solidFill>
              <a:latin typeface="Arial"/>
              <a:cs typeface="Trebuchet MS"/>
            </a:endParaRPr>
          </a:p>
          <a:p>
            <a:pPr defTabSz="1828800">
              <a:spcBef>
                <a:spcPts val="170"/>
              </a:spcBef>
              <a:defRPr/>
            </a:pPr>
            <a:endParaRPr sz="2400" kern="0">
              <a:solidFill>
                <a:sysClr val="windowText" lastClr="000000"/>
              </a:solidFill>
              <a:latin typeface="Arial"/>
              <a:cs typeface="Trebuchet MS"/>
            </a:endParaRPr>
          </a:p>
          <a:p>
            <a:pPr marL="176530" marR="167640" algn="ctr" defTabSz="1828800">
              <a:lnSpc>
                <a:spcPts val="2380"/>
              </a:lnSpc>
              <a:spcBef>
                <a:spcPts val="10"/>
              </a:spcBef>
              <a:defRPr/>
            </a:pPr>
            <a:r>
              <a:rPr sz="2200" kern="0" spc="-20">
                <a:solidFill>
                  <a:srgbClr val="222E3D"/>
                </a:solidFill>
                <a:latin typeface="Arial"/>
                <a:cs typeface="Trebuchet MS"/>
              </a:rPr>
              <a:t>Skills</a:t>
            </a:r>
            <a:r>
              <a:rPr lang="en-US" sz="2200" kern="0" spc="-20">
                <a:solidFill>
                  <a:srgbClr val="222E3D"/>
                </a:solidFill>
                <a:latin typeface="Arial"/>
                <a:cs typeface="Trebuchet MS"/>
              </a:rPr>
              <a:t> &amp; </a:t>
            </a:r>
            <a:r>
              <a:rPr lang="en-GB" sz="2200" kern="0" spc="-40">
                <a:solidFill>
                  <a:srgbClr val="222E3D"/>
                </a:solidFill>
                <a:latin typeface="Arial"/>
                <a:cs typeface="Trebuchet MS"/>
              </a:rPr>
              <a:t>C</a:t>
            </a:r>
            <a:r>
              <a:rPr lang="en-US" sz="2200" kern="0" spc="-40">
                <a:solidFill>
                  <a:srgbClr val="222E3D"/>
                </a:solidFill>
                <a:latin typeface="Arial"/>
                <a:cs typeface="Trebuchet MS"/>
              </a:rPr>
              <a:t>enter of Excellence (CoE)</a:t>
            </a:r>
            <a:endParaRPr sz="2200" kern="0">
              <a:solidFill>
                <a:sysClr val="windowText" lastClr="000000"/>
              </a:solidFill>
              <a:latin typeface="Arial"/>
              <a:cs typeface="Trebuchet MS"/>
            </a:endParaRPr>
          </a:p>
        </p:txBody>
      </p:sp>
      <p:sp>
        <p:nvSpPr>
          <p:cNvPr id="248" name="object 81">
            <a:extLst>
              <a:ext uri="{FF2B5EF4-FFF2-40B4-BE49-F238E27FC236}">
                <a16:creationId xmlns:a16="http://schemas.microsoft.com/office/drawing/2014/main" id="{15D9B113-5875-0CBB-56B9-4B2DE962F524}"/>
              </a:ext>
            </a:extLst>
          </p:cNvPr>
          <p:cNvSpPr txBox="1"/>
          <p:nvPr/>
        </p:nvSpPr>
        <p:spPr>
          <a:xfrm>
            <a:off x="11229223" y="9219333"/>
            <a:ext cx="1045210" cy="679673"/>
          </a:xfrm>
          <a:prstGeom prst="rect">
            <a:avLst/>
          </a:prstGeom>
        </p:spPr>
        <p:txBody>
          <a:bodyPr vert="horz" wrap="square" lIns="0" tIns="63500" rIns="0" bIns="0" rtlCol="0">
            <a:spAutoFit/>
          </a:bodyPr>
          <a:lstStyle/>
          <a:p>
            <a:pPr marL="203200" marR="10160" indent="-204470" defTabSz="1828800">
              <a:lnSpc>
                <a:spcPts val="2380"/>
              </a:lnSpc>
              <a:spcBef>
                <a:spcPts val="500"/>
              </a:spcBef>
              <a:defRPr/>
            </a:pPr>
            <a:r>
              <a:rPr sz="2200" kern="0" spc="-20">
                <a:solidFill>
                  <a:srgbClr val="222E3D"/>
                </a:solidFill>
                <a:latin typeface="Arial"/>
                <a:cs typeface="Trebuchet MS"/>
              </a:rPr>
              <a:t>Landing </a:t>
            </a:r>
            <a:r>
              <a:rPr sz="2200" kern="0" spc="-40">
                <a:solidFill>
                  <a:srgbClr val="222E3D"/>
                </a:solidFill>
                <a:latin typeface="Arial"/>
                <a:cs typeface="Trebuchet MS"/>
              </a:rPr>
              <a:t>zone</a:t>
            </a:r>
            <a:endParaRPr sz="2200" kern="0">
              <a:solidFill>
                <a:sysClr val="windowText" lastClr="000000"/>
              </a:solidFill>
              <a:latin typeface="Arial"/>
              <a:cs typeface="Trebuchet MS"/>
            </a:endParaRPr>
          </a:p>
        </p:txBody>
      </p:sp>
      <p:sp>
        <p:nvSpPr>
          <p:cNvPr id="249" name="object 82">
            <a:extLst>
              <a:ext uri="{FF2B5EF4-FFF2-40B4-BE49-F238E27FC236}">
                <a16:creationId xmlns:a16="http://schemas.microsoft.com/office/drawing/2014/main" id="{B1DF0615-4B0C-0B35-369C-9F44D1B6C29F}"/>
              </a:ext>
            </a:extLst>
          </p:cNvPr>
          <p:cNvSpPr txBox="1"/>
          <p:nvPr/>
        </p:nvSpPr>
        <p:spPr>
          <a:xfrm>
            <a:off x="13287892" y="9219333"/>
            <a:ext cx="1310640" cy="679673"/>
          </a:xfrm>
          <a:prstGeom prst="rect">
            <a:avLst/>
          </a:prstGeom>
        </p:spPr>
        <p:txBody>
          <a:bodyPr vert="horz" wrap="square" lIns="0" tIns="63500" rIns="0" bIns="0" rtlCol="0">
            <a:spAutoFit/>
          </a:bodyPr>
          <a:lstStyle/>
          <a:p>
            <a:pPr marL="240028" marR="10160" indent="-241300" defTabSz="1828800">
              <a:lnSpc>
                <a:spcPts val="2380"/>
              </a:lnSpc>
              <a:spcBef>
                <a:spcPts val="500"/>
              </a:spcBef>
              <a:defRPr/>
            </a:pPr>
            <a:r>
              <a:rPr sz="2200" kern="0" spc="-20">
                <a:solidFill>
                  <a:srgbClr val="222E3D"/>
                </a:solidFill>
                <a:latin typeface="Arial"/>
                <a:cs typeface="Trebuchet MS"/>
              </a:rPr>
              <a:t>Operating model</a:t>
            </a:r>
            <a:endParaRPr sz="2200" kern="0">
              <a:solidFill>
                <a:sysClr val="windowText" lastClr="000000"/>
              </a:solidFill>
              <a:latin typeface="Arial"/>
              <a:cs typeface="Trebuchet MS"/>
            </a:endParaRPr>
          </a:p>
        </p:txBody>
      </p:sp>
      <p:sp>
        <p:nvSpPr>
          <p:cNvPr id="250" name="object 83">
            <a:extLst>
              <a:ext uri="{FF2B5EF4-FFF2-40B4-BE49-F238E27FC236}">
                <a16:creationId xmlns:a16="http://schemas.microsoft.com/office/drawing/2014/main" id="{73FD132D-E851-DA1E-332F-D23C983CCA9E}"/>
              </a:ext>
            </a:extLst>
          </p:cNvPr>
          <p:cNvSpPr txBox="1"/>
          <p:nvPr/>
        </p:nvSpPr>
        <p:spPr>
          <a:xfrm>
            <a:off x="15494645" y="9219332"/>
            <a:ext cx="1466850" cy="679673"/>
          </a:xfrm>
          <a:prstGeom prst="rect">
            <a:avLst/>
          </a:prstGeom>
        </p:spPr>
        <p:txBody>
          <a:bodyPr vert="horz" wrap="square" lIns="0" tIns="63500" rIns="0" bIns="0" rtlCol="0">
            <a:spAutoFit/>
          </a:bodyPr>
          <a:lstStyle/>
          <a:p>
            <a:pPr marR="10160" indent="69850" defTabSz="1828800">
              <a:lnSpc>
                <a:spcPts val="2380"/>
              </a:lnSpc>
              <a:spcBef>
                <a:spcPts val="500"/>
              </a:spcBef>
              <a:defRPr/>
            </a:pPr>
            <a:r>
              <a:rPr sz="2200" kern="0">
                <a:solidFill>
                  <a:srgbClr val="222E3D"/>
                </a:solidFill>
                <a:latin typeface="Arial"/>
                <a:cs typeface="Trebuchet MS"/>
              </a:rPr>
              <a:t>Security</a:t>
            </a:r>
            <a:r>
              <a:rPr sz="2200" kern="0" spc="-60">
                <a:solidFill>
                  <a:srgbClr val="222E3D"/>
                </a:solidFill>
                <a:latin typeface="Arial"/>
                <a:cs typeface="Trebuchet MS"/>
              </a:rPr>
              <a:t> </a:t>
            </a:r>
            <a:r>
              <a:rPr sz="2200" kern="0" spc="-100">
                <a:solidFill>
                  <a:srgbClr val="222E3D"/>
                </a:solidFill>
                <a:latin typeface="Arial"/>
                <a:cs typeface="Trebuchet MS"/>
              </a:rPr>
              <a:t>&amp; </a:t>
            </a:r>
            <a:r>
              <a:rPr sz="2200" kern="0" spc="-20">
                <a:solidFill>
                  <a:srgbClr val="222E3D"/>
                </a:solidFill>
                <a:latin typeface="Arial"/>
                <a:cs typeface="Trebuchet MS"/>
              </a:rPr>
              <a:t>compliance</a:t>
            </a:r>
            <a:endParaRPr sz="2200" kern="0">
              <a:solidFill>
                <a:sysClr val="windowText" lastClr="000000"/>
              </a:solidFill>
              <a:latin typeface="Arial"/>
              <a:cs typeface="Trebuchet MS"/>
            </a:endParaRPr>
          </a:p>
        </p:txBody>
      </p:sp>
      <p:sp>
        <p:nvSpPr>
          <p:cNvPr id="251" name="object 84">
            <a:extLst>
              <a:ext uri="{FF2B5EF4-FFF2-40B4-BE49-F238E27FC236}">
                <a16:creationId xmlns:a16="http://schemas.microsoft.com/office/drawing/2014/main" id="{8C3A480E-1CFB-95D0-3A68-EEA8F385E89F}"/>
              </a:ext>
            </a:extLst>
          </p:cNvPr>
          <p:cNvSpPr/>
          <p:nvPr/>
        </p:nvSpPr>
        <p:spPr>
          <a:xfrm>
            <a:off x="7918647" y="5967292"/>
            <a:ext cx="82550" cy="88900"/>
          </a:xfrm>
          <a:custGeom>
            <a:avLst/>
            <a:gdLst/>
            <a:ahLst/>
            <a:cxnLst/>
            <a:rect l="l" t="t" r="r" b="b"/>
            <a:pathLst>
              <a:path w="41275" h="44450">
                <a:moveTo>
                  <a:pt x="0" y="0"/>
                </a:moveTo>
                <a:lnTo>
                  <a:pt x="41147" y="0"/>
                </a:lnTo>
                <a:lnTo>
                  <a:pt x="41147" y="44195"/>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52" name="object 85">
            <a:extLst>
              <a:ext uri="{FF2B5EF4-FFF2-40B4-BE49-F238E27FC236}">
                <a16:creationId xmlns:a16="http://schemas.microsoft.com/office/drawing/2014/main" id="{936C3656-B29D-FE2F-6198-57E581B27111}"/>
              </a:ext>
            </a:extLst>
          </p:cNvPr>
          <p:cNvSpPr/>
          <p:nvPr/>
        </p:nvSpPr>
        <p:spPr>
          <a:xfrm>
            <a:off x="6976815" y="5967293"/>
            <a:ext cx="80010" cy="80010"/>
          </a:xfrm>
          <a:custGeom>
            <a:avLst/>
            <a:gdLst/>
            <a:ahLst/>
            <a:cxnLst/>
            <a:rect l="l" t="t" r="r" b="b"/>
            <a:pathLst>
              <a:path w="40004" h="40005">
                <a:moveTo>
                  <a:pt x="0" y="39624"/>
                </a:moveTo>
                <a:lnTo>
                  <a:pt x="0" y="0"/>
                </a:lnTo>
                <a:lnTo>
                  <a:pt x="39624" y="0"/>
                </a:lnTo>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grpSp>
        <p:nvGrpSpPr>
          <p:cNvPr id="253" name="object 86">
            <a:extLst>
              <a:ext uri="{FF2B5EF4-FFF2-40B4-BE49-F238E27FC236}">
                <a16:creationId xmlns:a16="http://schemas.microsoft.com/office/drawing/2014/main" id="{3640B012-B409-6B2F-C79B-9D050C8E9A08}"/>
              </a:ext>
            </a:extLst>
          </p:cNvPr>
          <p:cNvGrpSpPr/>
          <p:nvPr/>
        </p:nvGrpSpPr>
        <p:grpSpPr>
          <a:xfrm>
            <a:off x="6854892" y="5824037"/>
            <a:ext cx="1259840" cy="1283970"/>
            <a:chOff x="3401567" y="3058667"/>
            <a:chExt cx="629920" cy="641985"/>
          </a:xfrm>
        </p:grpSpPr>
        <p:sp>
          <p:nvSpPr>
            <p:cNvPr id="254" name="object 87">
              <a:extLst>
                <a:ext uri="{FF2B5EF4-FFF2-40B4-BE49-F238E27FC236}">
                  <a16:creationId xmlns:a16="http://schemas.microsoft.com/office/drawing/2014/main" id="{B568B422-E00F-D31D-B811-6F9F74E287D8}"/>
                </a:ext>
              </a:extLst>
            </p:cNvPr>
            <p:cNvSpPr/>
            <p:nvPr/>
          </p:nvSpPr>
          <p:spPr>
            <a:xfrm>
              <a:off x="3409187" y="3066287"/>
              <a:ext cx="614680" cy="626745"/>
            </a:xfrm>
            <a:custGeom>
              <a:avLst/>
              <a:gdLst/>
              <a:ahLst/>
              <a:cxnLst/>
              <a:rect l="l" t="t" r="r" b="b"/>
              <a:pathLst>
                <a:path w="614679" h="626745">
                  <a:moveTo>
                    <a:pt x="22860" y="193548"/>
                  </a:moveTo>
                  <a:lnTo>
                    <a:pt x="26163" y="186564"/>
                  </a:lnTo>
                  <a:lnTo>
                    <a:pt x="29575" y="179689"/>
                  </a:lnTo>
                  <a:lnTo>
                    <a:pt x="33057" y="172884"/>
                  </a:lnTo>
                  <a:lnTo>
                    <a:pt x="36575" y="166115"/>
                  </a:lnTo>
                </a:path>
                <a:path w="614679" h="626745">
                  <a:moveTo>
                    <a:pt x="7874" y="382524"/>
                  </a:moveTo>
                  <a:lnTo>
                    <a:pt x="4500" y="365619"/>
                  </a:lnTo>
                  <a:lnTo>
                    <a:pt x="2032" y="348440"/>
                  </a:lnTo>
                  <a:lnTo>
                    <a:pt x="515" y="330999"/>
                  </a:lnTo>
                  <a:lnTo>
                    <a:pt x="0" y="313309"/>
                  </a:lnTo>
                  <a:lnTo>
                    <a:pt x="1023" y="288619"/>
                  </a:lnTo>
                  <a:lnTo>
                    <a:pt x="4000" y="264477"/>
                  </a:lnTo>
                  <a:lnTo>
                    <a:pt x="8786" y="240907"/>
                  </a:lnTo>
                  <a:lnTo>
                    <a:pt x="15239" y="217932"/>
                  </a:lnTo>
                </a:path>
                <a:path w="614679" h="626745">
                  <a:moveTo>
                    <a:pt x="556260" y="497077"/>
                  </a:moveTo>
                  <a:lnTo>
                    <a:pt x="525572" y="533950"/>
                  </a:lnTo>
                  <a:lnTo>
                    <a:pt x="489702" y="565535"/>
                  </a:lnTo>
                  <a:lnTo>
                    <a:pt x="449310" y="591200"/>
                  </a:lnTo>
                  <a:lnTo>
                    <a:pt x="405054" y="610314"/>
                  </a:lnTo>
                  <a:lnTo>
                    <a:pt x="357596" y="622246"/>
                  </a:lnTo>
                  <a:lnTo>
                    <a:pt x="307594" y="626363"/>
                  </a:lnTo>
                  <a:lnTo>
                    <a:pt x="257993" y="622314"/>
                  </a:lnTo>
                  <a:lnTo>
                    <a:pt x="210948" y="610588"/>
                  </a:lnTo>
                  <a:lnTo>
                    <a:pt x="167074" y="591819"/>
                  </a:lnTo>
                  <a:lnTo>
                    <a:pt x="126984" y="566642"/>
                  </a:lnTo>
                  <a:lnTo>
                    <a:pt x="91293" y="535690"/>
                  </a:lnTo>
                  <a:lnTo>
                    <a:pt x="60616" y="499598"/>
                  </a:lnTo>
                  <a:lnTo>
                    <a:pt x="35568" y="458999"/>
                  </a:lnTo>
                  <a:lnTo>
                    <a:pt x="16763" y="414527"/>
                  </a:lnTo>
                </a:path>
                <a:path w="614679" h="626745">
                  <a:moveTo>
                    <a:pt x="598932" y="411479"/>
                  </a:moveTo>
                  <a:lnTo>
                    <a:pt x="593871" y="425821"/>
                  </a:lnTo>
                  <a:lnTo>
                    <a:pt x="588073" y="439721"/>
                  </a:lnTo>
                  <a:lnTo>
                    <a:pt x="581608" y="453217"/>
                  </a:lnTo>
                  <a:lnTo>
                    <a:pt x="574548" y="466344"/>
                  </a:lnTo>
                </a:path>
                <a:path w="614679" h="626745">
                  <a:moveTo>
                    <a:pt x="47244" y="147447"/>
                  </a:moveTo>
                  <a:lnTo>
                    <a:pt x="77801" y="105745"/>
                  </a:lnTo>
                  <a:lnTo>
                    <a:pt x="114577" y="69821"/>
                  </a:lnTo>
                  <a:lnTo>
                    <a:pt x="156765" y="40481"/>
                  </a:lnTo>
                  <a:lnTo>
                    <a:pt x="203557" y="18527"/>
                  </a:lnTo>
                  <a:lnTo>
                    <a:pt x="254145" y="4766"/>
                  </a:lnTo>
                  <a:lnTo>
                    <a:pt x="307721" y="0"/>
                  </a:lnTo>
                  <a:lnTo>
                    <a:pt x="352987" y="3401"/>
                  </a:lnTo>
                  <a:lnTo>
                    <a:pt x="396197" y="13280"/>
                  </a:lnTo>
                  <a:lnTo>
                    <a:pt x="436876" y="29150"/>
                  </a:lnTo>
                  <a:lnTo>
                    <a:pt x="474549" y="50523"/>
                  </a:lnTo>
                  <a:lnTo>
                    <a:pt x="508741" y="76913"/>
                  </a:lnTo>
                  <a:lnTo>
                    <a:pt x="538976" y="107831"/>
                  </a:lnTo>
                  <a:lnTo>
                    <a:pt x="564779" y="142792"/>
                  </a:lnTo>
                  <a:lnTo>
                    <a:pt x="585676" y="181307"/>
                  </a:lnTo>
                  <a:lnTo>
                    <a:pt x="601190" y="222890"/>
                  </a:lnTo>
                  <a:lnTo>
                    <a:pt x="610847" y="267053"/>
                  </a:lnTo>
                  <a:lnTo>
                    <a:pt x="614172" y="313309"/>
                  </a:lnTo>
                  <a:lnTo>
                    <a:pt x="613846" y="327773"/>
                  </a:lnTo>
                  <a:lnTo>
                    <a:pt x="612902" y="342153"/>
                  </a:lnTo>
                  <a:lnTo>
                    <a:pt x="611385" y="356367"/>
                  </a:lnTo>
                  <a:lnTo>
                    <a:pt x="609346" y="370332"/>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55" name="object 88">
              <a:extLst>
                <a:ext uri="{FF2B5EF4-FFF2-40B4-BE49-F238E27FC236}">
                  <a16:creationId xmlns:a16="http://schemas.microsoft.com/office/drawing/2014/main" id="{8E0BDCDC-B30C-2995-4280-FDF913DFEF5B}"/>
                </a:ext>
              </a:extLst>
            </p:cNvPr>
            <p:cNvSpPr/>
            <p:nvPr/>
          </p:nvSpPr>
          <p:spPr>
            <a:xfrm>
              <a:off x="3462527" y="3598163"/>
              <a:ext cx="123825" cy="94615"/>
            </a:xfrm>
            <a:custGeom>
              <a:avLst/>
              <a:gdLst/>
              <a:ahLst/>
              <a:cxnLst/>
              <a:rect l="l" t="t" r="r" b="b"/>
              <a:pathLst>
                <a:path w="123825" h="94614">
                  <a:moveTo>
                    <a:pt x="123444" y="94487"/>
                  </a:moveTo>
                  <a:lnTo>
                    <a:pt x="0" y="94487"/>
                  </a:lnTo>
                  <a:lnTo>
                    <a:pt x="0" y="0"/>
                  </a:lnTo>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56" name="object 89">
              <a:extLst>
                <a:ext uri="{FF2B5EF4-FFF2-40B4-BE49-F238E27FC236}">
                  <a16:creationId xmlns:a16="http://schemas.microsoft.com/office/drawing/2014/main" id="{FE602081-B95F-498B-1592-F91424E1D1D8}"/>
                </a:ext>
              </a:extLst>
            </p:cNvPr>
            <p:cNvSpPr/>
            <p:nvPr/>
          </p:nvSpPr>
          <p:spPr>
            <a:xfrm>
              <a:off x="3843527" y="3259835"/>
              <a:ext cx="131445" cy="433070"/>
            </a:xfrm>
            <a:custGeom>
              <a:avLst/>
              <a:gdLst/>
              <a:ahLst/>
              <a:cxnLst/>
              <a:rect l="l" t="t" r="r" b="b"/>
              <a:pathLst>
                <a:path w="131445" h="433070">
                  <a:moveTo>
                    <a:pt x="131063" y="339851"/>
                  </a:moveTo>
                  <a:lnTo>
                    <a:pt x="131063" y="432815"/>
                  </a:lnTo>
                  <a:lnTo>
                    <a:pt x="0" y="432815"/>
                  </a:lnTo>
                </a:path>
                <a:path w="131445" h="433070">
                  <a:moveTo>
                    <a:pt x="131063" y="0"/>
                  </a:moveTo>
                  <a:lnTo>
                    <a:pt x="131063" y="228600"/>
                  </a:lnTo>
                </a:path>
              </a:pathLst>
            </a:custGeom>
            <a:ln w="15240">
              <a:solidFill>
                <a:srgbClr val="38EE7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57" name="object 90">
              <a:extLst>
                <a:ext uri="{FF2B5EF4-FFF2-40B4-BE49-F238E27FC236}">
                  <a16:creationId xmlns:a16="http://schemas.microsoft.com/office/drawing/2014/main" id="{5CACA646-B9E3-DCB2-18BC-679555AECE5C}"/>
                </a:ext>
              </a:extLst>
            </p:cNvPr>
            <p:cNvPicPr/>
            <p:nvPr/>
          </p:nvPicPr>
          <p:blipFill>
            <a:blip r:embed="rId16" cstate="print"/>
            <a:stretch>
              <a:fillRect/>
            </a:stretch>
          </p:blipFill>
          <p:spPr>
            <a:xfrm>
              <a:off x="3575303" y="3122675"/>
              <a:ext cx="274320" cy="15239"/>
            </a:xfrm>
            <a:prstGeom prst="rect">
              <a:avLst/>
            </a:prstGeom>
          </p:spPr>
        </p:pic>
        <p:sp>
          <p:nvSpPr>
            <p:cNvPr id="258" name="object 91">
              <a:extLst>
                <a:ext uri="{FF2B5EF4-FFF2-40B4-BE49-F238E27FC236}">
                  <a16:creationId xmlns:a16="http://schemas.microsoft.com/office/drawing/2014/main" id="{1F061CEB-9C1E-FE1C-BD36-C1DB9F0385AB}"/>
                </a:ext>
              </a:extLst>
            </p:cNvPr>
            <p:cNvSpPr/>
            <p:nvPr/>
          </p:nvSpPr>
          <p:spPr>
            <a:xfrm>
              <a:off x="3462527" y="3259835"/>
              <a:ext cx="0" cy="230504"/>
            </a:xfrm>
            <a:custGeom>
              <a:avLst/>
              <a:gdLst/>
              <a:ahLst/>
              <a:cxnLst/>
              <a:rect l="l" t="t" r="r" b="b"/>
              <a:pathLst>
                <a:path h="230504">
                  <a:moveTo>
                    <a:pt x="0" y="230124"/>
                  </a:moveTo>
                  <a:lnTo>
                    <a:pt x="0" y="0"/>
                  </a:lnTo>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59" name="object 92">
              <a:extLst>
                <a:ext uri="{FF2B5EF4-FFF2-40B4-BE49-F238E27FC236}">
                  <a16:creationId xmlns:a16="http://schemas.microsoft.com/office/drawing/2014/main" id="{CFA631ED-7AEA-0F44-B882-17AE7194C43D}"/>
                </a:ext>
              </a:extLst>
            </p:cNvPr>
            <p:cNvSpPr/>
            <p:nvPr/>
          </p:nvSpPr>
          <p:spPr>
            <a:xfrm>
              <a:off x="3485387" y="3179063"/>
              <a:ext cx="467995" cy="489584"/>
            </a:xfrm>
            <a:custGeom>
              <a:avLst/>
              <a:gdLst/>
              <a:ahLst/>
              <a:cxnLst/>
              <a:rect l="l" t="t" r="r" b="b"/>
              <a:pathLst>
                <a:path w="467995" h="489585">
                  <a:moveTo>
                    <a:pt x="281939" y="45720"/>
                  </a:moveTo>
                  <a:lnTo>
                    <a:pt x="278284" y="63525"/>
                  </a:lnTo>
                  <a:lnTo>
                    <a:pt x="268319" y="78057"/>
                  </a:lnTo>
                  <a:lnTo>
                    <a:pt x="253543" y="87850"/>
                  </a:lnTo>
                  <a:lnTo>
                    <a:pt x="235458" y="91439"/>
                  </a:lnTo>
                  <a:lnTo>
                    <a:pt x="217372" y="87850"/>
                  </a:lnTo>
                  <a:lnTo>
                    <a:pt x="202596" y="78057"/>
                  </a:lnTo>
                  <a:lnTo>
                    <a:pt x="192631" y="63525"/>
                  </a:lnTo>
                  <a:lnTo>
                    <a:pt x="188975" y="45720"/>
                  </a:lnTo>
                  <a:lnTo>
                    <a:pt x="192631" y="27914"/>
                  </a:lnTo>
                  <a:lnTo>
                    <a:pt x="202596" y="13382"/>
                  </a:lnTo>
                  <a:lnTo>
                    <a:pt x="217372" y="3589"/>
                  </a:lnTo>
                  <a:lnTo>
                    <a:pt x="235458" y="0"/>
                  </a:lnTo>
                  <a:lnTo>
                    <a:pt x="253543" y="3589"/>
                  </a:lnTo>
                  <a:lnTo>
                    <a:pt x="268319" y="13382"/>
                  </a:lnTo>
                  <a:lnTo>
                    <a:pt x="278284" y="27914"/>
                  </a:lnTo>
                  <a:lnTo>
                    <a:pt x="281939" y="45720"/>
                  </a:lnTo>
                  <a:close/>
                </a:path>
                <a:path w="467995" h="489585">
                  <a:moveTo>
                    <a:pt x="167639" y="146303"/>
                  </a:moveTo>
                  <a:lnTo>
                    <a:pt x="171418" y="133141"/>
                  </a:lnTo>
                  <a:lnTo>
                    <a:pt x="181101" y="121396"/>
                  </a:lnTo>
                  <a:lnTo>
                    <a:pt x="194214" y="112960"/>
                  </a:lnTo>
                  <a:lnTo>
                    <a:pt x="208279" y="109727"/>
                  </a:lnTo>
                  <a:lnTo>
                    <a:pt x="258699" y="109727"/>
                  </a:lnTo>
                  <a:lnTo>
                    <a:pt x="274403" y="112281"/>
                  </a:lnTo>
                  <a:lnTo>
                    <a:pt x="287654" y="119586"/>
                  </a:lnTo>
                  <a:lnTo>
                    <a:pt x="296810" y="131105"/>
                  </a:lnTo>
                  <a:lnTo>
                    <a:pt x="300227" y="146303"/>
                  </a:lnTo>
                </a:path>
                <a:path w="467995" h="489585">
                  <a:moveTo>
                    <a:pt x="166115" y="213360"/>
                  </a:moveTo>
                  <a:lnTo>
                    <a:pt x="166115" y="178308"/>
                  </a:lnTo>
                </a:path>
                <a:path w="467995" h="489585">
                  <a:moveTo>
                    <a:pt x="166115" y="265175"/>
                  </a:moveTo>
                  <a:lnTo>
                    <a:pt x="166115" y="234696"/>
                  </a:lnTo>
                </a:path>
                <a:path w="467995" h="489585">
                  <a:moveTo>
                    <a:pt x="167639" y="336803"/>
                  </a:moveTo>
                  <a:lnTo>
                    <a:pt x="166115" y="278891"/>
                  </a:lnTo>
                </a:path>
                <a:path w="467995" h="489585">
                  <a:moveTo>
                    <a:pt x="298703" y="336803"/>
                  </a:moveTo>
                  <a:lnTo>
                    <a:pt x="298703" y="178308"/>
                  </a:lnTo>
                </a:path>
                <a:path w="467995" h="489585">
                  <a:moveTo>
                    <a:pt x="166115" y="333501"/>
                  </a:moveTo>
                  <a:lnTo>
                    <a:pt x="166115" y="466344"/>
                  </a:lnTo>
                  <a:lnTo>
                    <a:pt x="168122" y="475112"/>
                  </a:lnTo>
                  <a:lnTo>
                    <a:pt x="173593" y="482393"/>
                  </a:lnTo>
                  <a:lnTo>
                    <a:pt x="181707" y="487364"/>
                  </a:lnTo>
                  <a:lnTo>
                    <a:pt x="191642" y="489204"/>
                  </a:lnTo>
                  <a:lnTo>
                    <a:pt x="201505" y="487435"/>
                  </a:lnTo>
                  <a:lnTo>
                    <a:pt x="209581" y="482584"/>
                  </a:lnTo>
                  <a:lnTo>
                    <a:pt x="215038" y="475327"/>
                  </a:lnTo>
                  <a:lnTo>
                    <a:pt x="217042" y="466344"/>
                  </a:lnTo>
                  <a:lnTo>
                    <a:pt x="217042" y="315468"/>
                  </a:lnTo>
                  <a:lnTo>
                    <a:pt x="247776" y="315468"/>
                  </a:lnTo>
                  <a:lnTo>
                    <a:pt x="247776" y="466344"/>
                  </a:lnTo>
                  <a:lnTo>
                    <a:pt x="249783" y="475112"/>
                  </a:lnTo>
                  <a:lnTo>
                    <a:pt x="255254" y="482393"/>
                  </a:lnTo>
                  <a:lnTo>
                    <a:pt x="263368" y="487364"/>
                  </a:lnTo>
                  <a:lnTo>
                    <a:pt x="273303" y="489204"/>
                  </a:lnTo>
                  <a:lnTo>
                    <a:pt x="283166" y="487435"/>
                  </a:lnTo>
                  <a:lnTo>
                    <a:pt x="291242" y="482584"/>
                  </a:lnTo>
                  <a:lnTo>
                    <a:pt x="296699" y="475327"/>
                  </a:lnTo>
                  <a:lnTo>
                    <a:pt x="298703" y="466344"/>
                  </a:lnTo>
                  <a:lnTo>
                    <a:pt x="298703" y="333501"/>
                  </a:lnTo>
                </a:path>
                <a:path w="467995" h="489585">
                  <a:moveTo>
                    <a:pt x="301751" y="140208"/>
                  </a:moveTo>
                  <a:lnTo>
                    <a:pt x="445515" y="140208"/>
                  </a:lnTo>
                  <a:lnTo>
                    <a:pt x="454205" y="141946"/>
                  </a:lnTo>
                  <a:lnTo>
                    <a:pt x="461311" y="146685"/>
                  </a:lnTo>
                  <a:lnTo>
                    <a:pt x="466107" y="153709"/>
                  </a:lnTo>
                  <a:lnTo>
                    <a:pt x="467867" y="162306"/>
                  </a:lnTo>
                  <a:lnTo>
                    <a:pt x="466107" y="170902"/>
                  </a:lnTo>
                  <a:lnTo>
                    <a:pt x="461311" y="177926"/>
                  </a:lnTo>
                  <a:lnTo>
                    <a:pt x="454205" y="182665"/>
                  </a:lnTo>
                  <a:lnTo>
                    <a:pt x="445515" y="184403"/>
                  </a:lnTo>
                  <a:lnTo>
                    <a:pt x="301751" y="184403"/>
                  </a:lnTo>
                </a:path>
                <a:path w="467995" h="489585">
                  <a:moveTo>
                    <a:pt x="313944" y="119507"/>
                  </a:moveTo>
                  <a:lnTo>
                    <a:pt x="436372" y="74549"/>
                  </a:lnTo>
                  <a:lnTo>
                    <a:pt x="445105" y="73132"/>
                  </a:lnTo>
                  <a:lnTo>
                    <a:pt x="453469" y="75215"/>
                  </a:lnTo>
                  <a:lnTo>
                    <a:pt x="460428" y="80299"/>
                  </a:lnTo>
                  <a:lnTo>
                    <a:pt x="464947" y="87884"/>
                  </a:lnTo>
                  <a:lnTo>
                    <a:pt x="466312" y="96712"/>
                  </a:lnTo>
                  <a:lnTo>
                    <a:pt x="464248" y="105171"/>
                  </a:lnTo>
                  <a:lnTo>
                    <a:pt x="459232" y="112226"/>
                  </a:lnTo>
                  <a:lnTo>
                    <a:pt x="451738" y="116839"/>
                  </a:lnTo>
                  <a:lnTo>
                    <a:pt x="434594" y="123444"/>
                  </a:lnTo>
                </a:path>
                <a:path w="467995" h="489585">
                  <a:moveTo>
                    <a:pt x="315467" y="411861"/>
                  </a:moveTo>
                  <a:lnTo>
                    <a:pt x="347345" y="449325"/>
                  </a:lnTo>
                  <a:lnTo>
                    <a:pt x="353665" y="454048"/>
                  </a:lnTo>
                  <a:lnTo>
                    <a:pt x="361330" y="455676"/>
                  </a:lnTo>
                  <a:lnTo>
                    <a:pt x="369401" y="454255"/>
                  </a:lnTo>
                  <a:lnTo>
                    <a:pt x="376936" y="449834"/>
                  </a:lnTo>
                  <a:lnTo>
                    <a:pt x="382541" y="443013"/>
                  </a:lnTo>
                  <a:lnTo>
                    <a:pt x="385302" y="435181"/>
                  </a:lnTo>
                  <a:lnTo>
                    <a:pt x="384990" y="427277"/>
                  </a:lnTo>
                  <a:lnTo>
                    <a:pt x="381381" y="420243"/>
                  </a:lnTo>
                  <a:lnTo>
                    <a:pt x="345948" y="377316"/>
                  </a:lnTo>
                  <a:lnTo>
                    <a:pt x="315467" y="339851"/>
                  </a:lnTo>
                </a:path>
                <a:path w="467995" h="489585">
                  <a:moveTo>
                    <a:pt x="147827" y="412623"/>
                  </a:moveTo>
                  <a:lnTo>
                    <a:pt x="115697" y="449325"/>
                  </a:lnTo>
                  <a:lnTo>
                    <a:pt x="109450" y="454048"/>
                  </a:lnTo>
                  <a:lnTo>
                    <a:pt x="101822" y="455676"/>
                  </a:lnTo>
                  <a:lnTo>
                    <a:pt x="93765" y="454255"/>
                  </a:lnTo>
                  <a:lnTo>
                    <a:pt x="86233" y="449834"/>
                  </a:lnTo>
                  <a:lnTo>
                    <a:pt x="80700" y="443089"/>
                  </a:lnTo>
                  <a:lnTo>
                    <a:pt x="77977" y="435308"/>
                  </a:lnTo>
                  <a:lnTo>
                    <a:pt x="78303" y="427456"/>
                  </a:lnTo>
                  <a:lnTo>
                    <a:pt x="81914" y="420497"/>
                  </a:lnTo>
                  <a:lnTo>
                    <a:pt x="116586" y="377951"/>
                  </a:lnTo>
                  <a:lnTo>
                    <a:pt x="147827" y="339851"/>
                  </a:lnTo>
                </a:path>
                <a:path w="467995" h="489585">
                  <a:moveTo>
                    <a:pt x="166115" y="140208"/>
                  </a:moveTo>
                  <a:lnTo>
                    <a:pt x="22351" y="140208"/>
                  </a:lnTo>
                  <a:lnTo>
                    <a:pt x="13662" y="141946"/>
                  </a:lnTo>
                  <a:lnTo>
                    <a:pt x="6556" y="146685"/>
                  </a:lnTo>
                  <a:lnTo>
                    <a:pt x="1760" y="153709"/>
                  </a:lnTo>
                  <a:lnTo>
                    <a:pt x="0" y="162306"/>
                  </a:lnTo>
                  <a:lnTo>
                    <a:pt x="1760" y="170902"/>
                  </a:lnTo>
                  <a:lnTo>
                    <a:pt x="6556" y="177926"/>
                  </a:lnTo>
                  <a:lnTo>
                    <a:pt x="13662" y="182665"/>
                  </a:lnTo>
                  <a:lnTo>
                    <a:pt x="22351" y="184403"/>
                  </a:lnTo>
                  <a:lnTo>
                    <a:pt x="166115" y="184403"/>
                  </a:lnTo>
                </a:path>
                <a:path w="467995" h="489585">
                  <a:moveTo>
                    <a:pt x="149351" y="117728"/>
                  </a:moveTo>
                  <a:lnTo>
                    <a:pt x="31496" y="74549"/>
                  </a:lnTo>
                  <a:lnTo>
                    <a:pt x="22762" y="73132"/>
                  </a:lnTo>
                  <a:lnTo>
                    <a:pt x="14398" y="75215"/>
                  </a:lnTo>
                  <a:lnTo>
                    <a:pt x="7439" y="80299"/>
                  </a:lnTo>
                  <a:lnTo>
                    <a:pt x="2921" y="87884"/>
                  </a:lnTo>
                  <a:lnTo>
                    <a:pt x="1555" y="96712"/>
                  </a:lnTo>
                  <a:lnTo>
                    <a:pt x="3619" y="105171"/>
                  </a:lnTo>
                  <a:lnTo>
                    <a:pt x="8636" y="112226"/>
                  </a:lnTo>
                  <a:lnTo>
                    <a:pt x="16128" y="116839"/>
                  </a:lnTo>
                  <a:lnTo>
                    <a:pt x="33147" y="123444"/>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sp>
        <p:nvSpPr>
          <p:cNvPr id="260" name="object 93">
            <a:extLst>
              <a:ext uri="{FF2B5EF4-FFF2-40B4-BE49-F238E27FC236}">
                <a16:creationId xmlns:a16="http://schemas.microsoft.com/office/drawing/2014/main" id="{F5EA2CE8-D1B1-D78B-6CC7-4C3C47F24DCB}"/>
              </a:ext>
            </a:extLst>
          </p:cNvPr>
          <p:cNvSpPr/>
          <p:nvPr/>
        </p:nvSpPr>
        <p:spPr>
          <a:xfrm>
            <a:off x="6847274" y="4359473"/>
            <a:ext cx="281940" cy="1375410"/>
          </a:xfrm>
          <a:custGeom>
            <a:avLst/>
            <a:gdLst/>
            <a:ahLst/>
            <a:cxnLst/>
            <a:rect l="l" t="t" r="r" b="b"/>
            <a:pathLst>
              <a:path w="140970" h="687705">
                <a:moveTo>
                  <a:pt x="70103" y="0"/>
                </a:moveTo>
                <a:lnTo>
                  <a:pt x="70103" y="687577"/>
                </a:lnTo>
              </a:path>
              <a:path w="140970" h="687705">
                <a:moveTo>
                  <a:pt x="0" y="253"/>
                </a:moveTo>
                <a:lnTo>
                  <a:pt x="140588" y="0"/>
                </a:lnTo>
              </a:path>
            </a:pathLst>
          </a:custGeom>
          <a:ln w="19812">
            <a:solidFill>
              <a:srgbClr val="1F74D4"/>
            </a:solidFill>
            <a:prstDash val="sysDash"/>
          </a:ln>
        </p:spPr>
        <p:txBody>
          <a:bodyPr wrap="square" lIns="0" tIns="0" rIns="0" bIns="0" rtlCol="0"/>
          <a:lstStyle/>
          <a:p>
            <a:pPr defTabSz="1828800">
              <a:defRPr/>
            </a:pPr>
            <a:endParaRPr sz="3600" kern="0">
              <a:solidFill>
                <a:sysClr val="windowText" lastClr="000000"/>
              </a:solidFill>
              <a:latin typeface="Arial"/>
            </a:endParaRPr>
          </a:p>
        </p:txBody>
      </p:sp>
      <p:grpSp>
        <p:nvGrpSpPr>
          <p:cNvPr id="261" name="object 94">
            <a:extLst>
              <a:ext uri="{FF2B5EF4-FFF2-40B4-BE49-F238E27FC236}">
                <a16:creationId xmlns:a16="http://schemas.microsoft.com/office/drawing/2014/main" id="{1C049C11-ED46-AFC7-EC06-3FB9DE4F9211}"/>
              </a:ext>
            </a:extLst>
          </p:cNvPr>
          <p:cNvGrpSpPr/>
          <p:nvPr/>
        </p:nvGrpSpPr>
        <p:grpSpPr>
          <a:xfrm>
            <a:off x="2180651" y="8329559"/>
            <a:ext cx="918210" cy="1108710"/>
            <a:chOff x="1067130" y="4224909"/>
            <a:chExt cx="459105" cy="554355"/>
          </a:xfrm>
        </p:grpSpPr>
        <p:sp>
          <p:nvSpPr>
            <p:cNvPr id="262" name="object 95">
              <a:extLst>
                <a:ext uri="{FF2B5EF4-FFF2-40B4-BE49-F238E27FC236}">
                  <a16:creationId xmlns:a16="http://schemas.microsoft.com/office/drawing/2014/main" id="{ACC4A68E-CC73-74A9-B87A-28719C2C60FF}"/>
                </a:ext>
              </a:extLst>
            </p:cNvPr>
            <p:cNvSpPr/>
            <p:nvPr/>
          </p:nvSpPr>
          <p:spPr>
            <a:xfrm>
              <a:off x="1074750" y="4232529"/>
              <a:ext cx="443865" cy="491490"/>
            </a:xfrm>
            <a:custGeom>
              <a:avLst/>
              <a:gdLst/>
              <a:ahLst/>
              <a:cxnLst/>
              <a:rect l="l" t="t" r="r" b="b"/>
              <a:pathLst>
                <a:path w="443865" h="491489">
                  <a:moveTo>
                    <a:pt x="50279" y="66421"/>
                  </a:moveTo>
                  <a:lnTo>
                    <a:pt x="55537" y="40505"/>
                  </a:lnTo>
                  <a:lnTo>
                    <a:pt x="69843" y="19399"/>
                  </a:lnTo>
                  <a:lnTo>
                    <a:pt x="90998" y="5199"/>
                  </a:lnTo>
                  <a:lnTo>
                    <a:pt x="116801" y="0"/>
                  </a:lnTo>
                  <a:lnTo>
                    <a:pt x="142737" y="5252"/>
                  </a:lnTo>
                  <a:lnTo>
                    <a:pt x="163872" y="19542"/>
                  </a:lnTo>
                  <a:lnTo>
                    <a:pt x="178100" y="40665"/>
                  </a:lnTo>
                  <a:lnTo>
                    <a:pt x="183311" y="66421"/>
                  </a:lnTo>
                  <a:lnTo>
                    <a:pt x="178054" y="92356"/>
                  </a:lnTo>
                  <a:lnTo>
                    <a:pt x="163749" y="113506"/>
                  </a:lnTo>
                  <a:lnTo>
                    <a:pt x="142597" y="127750"/>
                  </a:lnTo>
                  <a:lnTo>
                    <a:pt x="116801" y="132969"/>
                  </a:lnTo>
                  <a:lnTo>
                    <a:pt x="90864" y="127910"/>
                  </a:lnTo>
                  <a:lnTo>
                    <a:pt x="69724" y="113649"/>
                  </a:lnTo>
                  <a:lnTo>
                    <a:pt x="55492" y="92410"/>
                  </a:lnTo>
                  <a:lnTo>
                    <a:pt x="50279" y="66421"/>
                  </a:lnTo>
                </a:path>
                <a:path w="443865" h="491489">
                  <a:moveTo>
                    <a:pt x="193535" y="166243"/>
                  </a:moveTo>
                  <a:lnTo>
                    <a:pt x="149037" y="141747"/>
                  </a:lnTo>
                  <a:lnTo>
                    <a:pt x="117373" y="137160"/>
                  </a:lnTo>
                  <a:lnTo>
                    <a:pt x="71725" y="146766"/>
                  </a:lnTo>
                  <a:lnTo>
                    <a:pt x="34412" y="172958"/>
                  </a:lnTo>
                  <a:lnTo>
                    <a:pt x="9236" y="211794"/>
                  </a:lnTo>
                  <a:lnTo>
                    <a:pt x="0" y="259334"/>
                  </a:lnTo>
                  <a:lnTo>
                    <a:pt x="64731" y="259334"/>
                  </a:lnTo>
                </a:path>
                <a:path w="443865" h="491489">
                  <a:moveTo>
                    <a:pt x="415467" y="249301"/>
                  </a:moveTo>
                  <a:lnTo>
                    <a:pt x="415467" y="251968"/>
                  </a:lnTo>
                  <a:lnTo>
                    <a:pt x="413181" y="254254"/>
                  </a:lnTo>
                  <a:lnTo>
                    <a:pt x="410641" y="254254"/>
                  </a:lnTo>
                  <a:lnTo>
                    <a:pt x="245668" y="254254"/>
                  </a:lnTo>
                  <a:lnTo>
                    <a:pt x="243128" y="254254"/>
                  </a:lnTo>
                  <a:lnTo>
                    <a:pt x="240842" y="251968"/>
                  </a:lnTo>
                  <a:lnTo>
                    <a:pt x="240842" y="249301"/>
                  </a:lnTo>
                  <a:lnTo>
                    <a:pt x="240842" y="139065"/>
                  </a:lnTo>
                  <a:lnTo>
                    <a:pt x="240842" y="136398"/>
                  </a:lnTo>
                  <a:lnTo>
                    <a:pt x="243128" y="134112"/>
                  </a:lnTo>
                  <a:lnTo>
                    <a:pt x="245668" y="134112"/>
                  </a:lnTo>
                  <a:lnTo>
                    <a:pt x="410006" y="134112"/>
                  </a:lnTo>
                  <a:lnTo>
                    <a:pt x="412546" y="134112"/>
                  </a:lnTo>
                  <a:lnTo>
                    <a:pt x="414832" y="136398"/>
                  </a:lnTo>
                  <a:lnTo>
                    <a:pt x="414832" y="139065"/>
                  </a:lnTo>
                  <a:lnTo>
                    <a:pt x="415467" y="249301"/>
                  </a:lnTo>
                  <a:close/>
                </a:path>
                <a:path w="443865" h="491489">
                  <a:moveTo>
                    <a:pt x="213283" y="236982"/>
                  </a:moveTo>
                  <a:lnTo>
                    <a:pt x="213283" y="115189"/>
                  </a:lnTo>
                  <a:lnTo>
                    <a:pt x="213283" y="112268"/>
                  </a:lnTo>
                  <a:lnTo>
                    <a:pt x="215950" y="109728"/>
                  </a:lnTo>
                  <a:lnTo>
                    <a:pt x="218871" y="109728"/>
                  </a:lnTo>
                  <a:lnTo>
                    <a:pt x="438073" y="109728"/>
                  </a:lnTo>
                  <a:lnTo>
                    <a:pt x="440994" y="109728"/>
                  </a:lnTo>
                  <a:lnTo>
                    <a:pt x="443534" y="112268"/>
                  </a:lnTo>
                  <a:lnTo>
                    <a:pt x="443534" y="115189"/>
                  </a:lnTo>
                  <a:lnTo>
                    <a:pt x="443534" y="273431"/>
                  </a:lnTo>
                  <a:lnTo>
                    <a:pt x="443534" y="276352"/>
                  </a:lnTo>
                  <a:lnTo>
                    <a:pt x="440994" y="278892"/>
                  </a:lnTo>
                  <a:lnTo>
                    <a:pt x="438073" y="278892"/>
                  </a:lnTo>
                  <a:lnTo>
                    <a:pt x="235127" y="278892"/>
                  </a:lnTo>
                </a:path>
                <a:path w="443865" h="491489">
                  <a:moveTo>
                    <a:pt x="79235" y="298069"/>
                  </a:moveTo>
                  <a:lnTo>
                    <a:pt x="84493" y="272153"/>
                  </a:lnTo>
                  <a:lnTo>
                    <a:pt x="98799" y="251047"/>
                  </a:lnTo>
                  <a:lnTo>
                    <a:pt x="119954" y="236847"/>
                  </a:lnTo>
                  <a:lnTo>
                    <a:pt x="145757" y="231648"/>
                  </a:lnTo>
                  <a:lnTo>
                    <a:pt x="171693" y="236900"/>
                  </a:lnTo>
                  <a:lnTo>
                    <a:pt x="192828" y="251190"/>
                  </a:lnTo>
                  <a:lnTo>
                    <a:pt x="207056" y="272313"/>
                  </a:lnTo>
                  <a:lnTo>
                    <a:pt x="212267" y="298069"/>
                  </a:lnTo>
                  <a:lnTo>
                    <a:pt x="207010" y="324004"/>
                  </a:lnTo>
                  <a:lnTo>
                    <a:pt x="192705" y="345154"/>
                  </a:lnTo>
                  <a:lnTo>
                    <a:pt x="171553" y="359398"/>
                  </a:lnTo>
                  <a:lnTo>
                    <a:pt x="145757" y="364617"/>
                  </a:lnTo>
                  <a:lnTo>
                    <a:pt x="119954" y="359558"/>
                  </a:lnTo>
                  <a:lnTo>
                    <a:pt x="98799" y="345297"/>
                  </a:lnTo>
                  <a:lnTo>
                    <a:pt x="84493" y="324058"/>
                  </a:lnTo>
                  <a:lnTo>
                    <a:pt x="79235" y="298069"/>
                  </a:lnTo>
                </a:path>
                <a:path w="443865" h="491489">
                  <a:moveTo>
                    <a:pt x="189458" y="377317"/>
                  </a:moveTo>
                  <a:lnTo>
                    <a:pt x="179186" y="373630"/>
                  </a:lnTo>
                  <a:lnTo>
                    <a:pt x="168489" y="370967"/>
                  </a:lnTo>
                  <a:lnTo>
                    <a:pt x="157427" y="369351"/>
                  </a:lnTo>
                  <a:lnTo>
                    <a:pt x="146062" y="368808"/>
                  </a:lnTo>
                  <a:lnTo>
                    <a:pt x="100512" y="378414"/>
                  </a:lnTo>
                  <a:lnTo>
                    <a:pt x="63280" y="404606"/>
                  </a:lnTo>
                  <a:lnTo>
                    <a:pt x="38159" y="443442"/>
                  </a:lnTo>
                  <a:lnTo>
                    <a:pt x="28943" y="490982"/>
                  </a:lnTo>
                  <a:lnTo>
                    <a:pt x="229539" y="490982"/>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63" name="object 96">
              <a:extLst>
                <a:ext uri="{FF2B5EF4-FFF2-40B4-BE49-F238E27FC236}">
                  <a16:creationId xmlns:a16="http://schemas.microsoft.com/office/drawing/2014/main" id="{EBCAC7ED-29FA-E703-DC31-BA037D788B4E}"/>
                </a:ext>
              </a:extLst>
            </p:cNvPr>
            <p:cNvSpPr/>
            <p:nvPr/>
          </p:nvSpPr>
          <p:spPr>
            <a:xfrm>
              <a:off x="1286637" y="4576953"/>
              <a:ext cx="194945" cy="194945"/>
            </a:xfrm>
            <a:custGeom>
              <a:avLst/>
              <a:gdLst/>
              <a:ahLst/>
              <a:cxnLst/>
              <a:rect l="l" t="t" r="r" b="b"/>
              <a:pathLst>
                <a:path w="194944" h="194945">
                  <a:moveTo>
                    <a:pt x="96647" y="48260"/>
                  </a:moveTo>
                  <a:lnTo>
                    <a:pt x="92837" y="67071"/>
                  </a:lnTo>
                  <a:lnTo>
                    <a:pt x="82454" y="82454"/>
                  </a:lnTo>
                  <a:lnTo>
                    <a:pt x="67071" y="92837"/>
                  </a:lnTo>
                  <a:lnTo>
                    <a:pt x="48259" y="96647"/>
                  </a:lnTo>
                  <a:lnTo>
                    <a:pt x="29467" y="92837"/>
                  </a:lnTo>
                  <a:lnTo>
                    <a:pt x="14128" y="82454"/>
                  </a:lnTo>
                  <a:lnTo>
                    <a:pt x="3790" y="67071"/>
                  </a:lnTo>
                  <a:lnTo>
                    <a:pt x="0" y="48260"/>
                  </a:lnTo>
                  <a:lnTo>
                    <a:pt x="3790" y="29467"/>
                  </a:lnTo>
                  <a:lnTo>
                    <a:pt x="14128" y="14128"/>
                  </a:lnTo>
                  <a:lnTo>
                    <a:pt x="29467" y="3790"/>
                  </a:lnTo>
                  <a:lnTo>
                    <a:pt x="48259" y="0"/>
                  </a:lnTo>
                  <a:lnTo>
                    <a:pt x="67071" y="3790"/>
                  </a:lnTo>
                  <a:lnTo>
                    <a:pt x="82454" y="14128"/>
                  </a:lnTo>
                  <a:lnTo>
                    <a:pt x="92837" y="29467"/>
                  </a:lnTo>
                  <a:lnTo>
                    <a:pt x="96647" y="48260"/>
                  </a:lnTo>
                  <a:close/>
                </a:path>
                <a:path w="194944" h="194945">
                  <a:moveTo>
                    <a:pt x="97535" y="46863"/>
                  </a:moveTo>
                  <a:lnTo>
                    <a:pt x="149987" y="46863"/>
                  </a:lnTo>
                </a:path>
                <a:path w="194944" h="194945">
                  <a:moveTo>
                    <a:pt x="48387" y="95885"/>
                  </a:moveTo>
                  <a:lnTo>
                    <a:pt x="48387" y="147066"/>
                  </a:lnTo>
                </a:path>
                <a:path w="194944" h="194945">
                  <a:moveTo>
                    <a:pt x="74040" y="170307"/>
                  </a:moveTo>
                  <a:lnTo>
                    <a:pt x="72145" y="179703"/>
                  </a:lnTo>
                  <a:lnTo>
                    <a:pt x="66976" y="187372"/>
                  </a:lnTo>
                  <a:lnTo>
                    <a:pt x="59307" y="192541"/>
                  </a:lnTo>
                  <a:lnTo>
                    <a:pt x="49910" y="194437"/>
                  </a:lnTo>
                  <a:lnTo>
                    <a:pt x="40514" y="192541"/>
                  </a:lnTo>
                  <a:lnTo>
                    <a:pt x="32845" y="187372"/>
                  </a:lnTo>
                  <a:lnTo>
                    <a:pt x="27676" y="179703"/>
                  </a:lnTo>
                  <a:lnTo>
                    <a:pt x="25781" y="170307"/>
                  </a:lnTo>
                  <a:lnTo>
                    <a:pt x="27676" y="160910"/>
                  </a:lnTo>
                  <a:lnTo>
                    <a:pt x="32845" y="153241"/>
                  </a:lnTo>
                  <a:lnTo>
                    <a:pt x="40514" y="148072"/>
                  </a:lnTo>
                  <a:lnTo>
                    <a:pt x="49910" y="146177"/>
                  </a:lnTo>
                  <a:lnTo>
                    <a:pt x="59307" y="148072"/>
                  </a:lnTo>
                  <a:lnTo>
                    <a:pt x="66976" y="153241"/>
                  </a:lnTo>
                  <a:lnTo>
                    <a:pt x="72145" y="160910"/>
                  </a:lnTo>
                  <a:lnTo>
                    <a:pt x="74040" y="170307"/>
                  </a:lnTo>
                  <a:close/>
                </a:path>
                <a:path w="194944" h="194945">
                  <a:moveTo>
                    <a:pt x="194437" y="45339"/>
                  </a:moveTo>
                  <a:lnTo>
                    <a:pt x="192541" y="54735"/>
                  </a:lnTo>
                  <a:lnTo>
                    <a:pt x="187372" y="62404"/>
                  </a:lnTo>
                  <a:lnTo>
                    <a:pt x="179703" y="67573"/>
                  </a:lnTo>
                  <a:lnTo>
                    <a:pt x="170306" y="69469"/>
                  </a:lnTo>
                  <a:lnTo>
                    <a:pt x="160910" y="67573"/>
                  </a:lnTo>
                  <a:lnTo>
                    <a:pt x="153241" y="62404"/>
                  </a:lnTo>
                  <a:lnTo>
                    <a:pt x="148072" y="54735"/>
                  </a:lnTo>
                  <a:lnTo>
                    <a:pt x="146176" y="45339"/>
                  </a:lnTo>
                  <a:lnTo>
                    <a:pt x="148072" y="35942"/>
                  </a:lnTo>
                  <a:lnTo>
                    <a:pt x="153241" y="28273"/>
                  </a:lnTo>
                  <a:lnTo>
                    <a:pt x="160910" y="23104"/>
                  </a:lnTo>
                  <a:lnTo>
                    <a:pt x="170306" y="21209"/>
                  </a:lnTo>
                  <a:lnTo>
                    <a:pt x="179703" y="23104"/>
                  </a:lnTo>
                  <a:lnTo>
                    <a:pt x="187372" y="28273"/>
                  </a:lnTo>
                  <a:lnTo>
                    <a:pt x="192541" y="35942"/>
                  </a:lnTo>
                  <a:lnTo>
                    <a:pt x="194437" y="45339"/>
                  </a:lnTo>
                  <a:close/>
                </a:path>
                <a:path w="194944" h="194945">
                  <a:moveTo>
                    <a:pt x="83819" y="77724"/>
                  </a:moveTo>
                  <a:lnTo>
                    <a:pt x="120650" y="114554"/>
                  </a:lnTo>
                </a:path>
                <a:path w="194944" h="194945">
                  <a:moveTo>
                    <a:pt x="160781" y="128397"/>
                  </a:moveTo>
                  <a:lnTo>
                    <a:pt x="158841" y="138052"/>
                  </a:lnTo>
                  <a:lnTo>
                    <a:pt x="153543" y="145923"/>
                  </a:lnTo>
                  <a:lnTo>
                    <a:pt x="145672" y="151221"/>
                  </a:lnTo>
                  <a:lnTo>
                    <a:pt x="136016" y="153162"/>
                  </a:lnTo>
                  <a:lnTo>
                    <a:pt x="126361" y="151221"/>
                  </a:lnTo>
                  <a:lnTo>
                    <a:pt x="118490" y="145923"/>
                  </a:lnTo>
                  <a:lnTo>
                    <a:pt x="113192" y="138052"/>
                  </a:lnTo>
                  <a:lnTo>
                    <a:pt x="111251" y="128397"/>
                  </a:lnTo>
                  <a:lnTo>
                    <a:pt x="113192" y="118741"/>
                  </a:lnTo>
                  <a:lnTo>
                    <a:pt x="118490" y="110871"/>
                  </a:lnTo>
                  <a:lnTo>
                    <a:pt x="126361" y="105572"/>
                  </a:lnTo>
                  <a:lnTo>
                    <a:pt x="136016" y="103632"/>
                  </a:lnTo>
                  <a:lnTo>
                    <a:pt x="145672" y="105572"/>
                  </a:lnTo>
                  <a:lnTo>
                    <a:pt x="153542" y="110871"/>
                  </a:lnTo>
                  <a:lnTo>
                    <a:pt x="158841" y="118741"/>
                  </a:lnTo>
                  <a:lnTo>
                    <a:pt x="160781" y="128397"/>
                  </a:lnTo>
                  <a:close/>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grpSp>
      <p:sp>
        <p:nvSpPr>
          <p:cNvPr id="264" name="object 97">
            <a:extLst>
              <a:ext uri="{FF2B5EF4-FFF2-40B4-BE49-F238E27FC236}">
                <a16:creationId xmlns:a16="http://schemas.microsoft.com/office/drawing/2014/main" id="{28909C69-D47E-8898-15ED-DADD5BB3C180}"/>
              </a:ext>
            </a:extLst>
          </p:cNvPr>
          <p:cNvSpPr txBox="1"/>
          <p:nvPr/>
        </p:nvSpPr>
        <p:spPr>
          <a:xfrm>
            <a:off x="4388868" y="5326852"/>
            <a:ext cx="2026920" cy="704039"/>
          </a:xfrm>
          <a:prstGeom prst="rect">
            <a:avLst/>
          </a:prstGeom>
        </p:spPr>
        <p:txBody>
          <a:bodyPr vert="horz" wrap="square" lIns="0" tIns="26670" rIns="0" bIns="0" rtlCol="0">
            <a:spAutoFit/>
          </a:bodyPr>
          <a:lstStyle/>
          <a:p>
            <a:pPr marL="25400" algn="ctr" defTabSz="1828800">
              <a:spcBef>
                <a:spcPts val="210"/>
              </a:spcBef>
              <a:defRPr/>
            </a:pPr>
            <a:r>
              <a:rPr sz="2200" kern="0">
                <a:solidFill>
                  <a:srgbClr val="000000"/>
                </a:solidFill>
                <a:latin typeface="Arial"/>
                <a:cs typeface="Trebuchet MS"/>
              </a:rPr>
              <a:t>Rapid</a:t>
            </a:r>
            <a:r>
              <a:rPr lang="en-US" sz="2200" kern="0">
                <a:solidFill>
                  <a:srgbClr val="000000"/>
                </a:solidFill>
                <a:latin typeface="Arial"/>
                <a:cs typeface="Trebuchet MS"/>
              </a:rPr>
              <a:t> D</a:t>
            </a:r>
            <a:r>
              <a:rPr sz="2200" kern="0" spc="-20">
                <a:solidFill>
                  <a:srgbClr val="000000"/>
                </a:solidFill>
                <a:latin typeface="Arial"/>
                <a:cs typeface="Trebuchet MS"/>
              </a:rPr>
              <a:t>iscovery</a:t>
            </a:r>
            <a:endParaRPr sz="2200" kern="0">
              <a:solidFill>
                <a:srgbClr val="000000"/>
              </a:solidFill>
              <a:latin typeface="Arial"/>
              <a:cs typeface="Trebuchet MS"/>
            </a:endParaRPr>
          </a:p>
        </p:txBody>
      </p:sp>
      <p:sp>
        <p:nvSpPr>
          <p:cNvPr id="265" name="object 98">
            <a:extLst>
              <a:ext uri="{FF2B5EF4-FFF2-40B4-BE49-F238E27FC236}">
                <a16:creationId xmlns:a16="http://schemas.microsoft.com/office/drawing/2014/main" id="{29B08E20-56F9-3A86-F26F-5D3BE870E061}"/>
              </a:ext>
            </a:extLst>
          </p:cNvPr>
          <p:cNvSpPr txBox="1"/>
          <p:nvPr/>
        </p:nvSpPr>
        <p:spPr>
          <a:xfrm>
            <a:off x="1402710" y="5364146"/>
            <a:ext cx="2230120" cy="679673"/>
          </a:xfrm>
          <a:prstGeom prst="rect">
            <a:avLst/>
          </a:prstGeom>
        </p:spPr>
        <p:txBody>
          <a:bodyPr vert="horz" wrap="square" lIns="0" tIns="63500" rIns="0" bIns="0" rtlCol="0">
            <a:spAutoFit/>
          </a:bodyPr>
          <a:lstStyle/>
          <a:p>
            <a:pPr marL="25400" marR="10160" indent="91440" defTabSz="1828800">
              <a:lnSpc>
                <a:spcPts val="2380"/>
              </a:lnSpc>
              <a:spcBef>
                <a:spcPts val="500"/>
              </a:spcBef>
              <a:defRPr/>
            </a:pPr>
            <a:r>
              <a:rPr sz="2200" kern="0" spc="-20">
                <a:solidFill>
                  <a:srgbClr val="000000"/>
                </a:solidFill>
                <a:latin typeface="Arial"/>
                <a:cs typeface="Trebuchet MS"/>
              </a:rPr>
              <a:t>Financial</a:t>
            </a:r>
            <a:r>
              <a:rPr sz="2200" kern="0" spc="-60">
                <a:solidFill>
                  <a:srgbClr val="000000"/>
                </a:solidFill>
                <a:latin typeface="Arial"/>
                <a:cs typeface="Trebuchet MS"/>
              </a:rPr>
              <a:t> </a:t>
            </a:r>
            <a:r>
              <a:rPr lang="en-US" sz="2200" kern="0" spc="-20">
                <a:solidFill>
                  <a:srgbClr val="000000"/>
                </a:solidFill>
                <a:latin typeface="Arial"/>
                <a:cs typeface="Trebuchet MS"/>
              </a:rPr>
              <a:t>m</a:t>
            </a:r>
            <a:r>
              <a:rPr sz="2200" kern="0" spc="-20" err="1">
                <a:solidFill>
                  <a:srgbClr val="000000"/>
                </a:solidFill>
                <a:latin typeface="Arial"/>
                <a:cs typeface="Trebuchet MS"/>
              </a:rPr>
              <a:t>odel</a:t>
            </a:r>
            <a:r>
              <a:rPr sz="2200" kern="0" spc="-20">
                <a:solidFill>
                  <a:srgbClr val="000000"/>
                </a:solidFill>
                <a:latin typeface="Arial"/>
                <a:cs typeface="Trebuchet MS"/>
              </a:rPr>
              <a:t> </a:t>
            </a:r>
            <a:r>
              <a:rPr sz="2200" kern="0">
                <a:solidFill>
                  <a:srgbClr val="000000"/>
                </a:solidFill>
                <a:latin typeface="Arial"/>
                <a:cs typeface="Trebuchet MS"/>
              </a:rPr>
              <a:t>Strategy</a:t>
            </a:r>
            <a:r>
              <a:rPr sz="2200" kern="0" spc="130">
                <a:solidFill>
                  <a:srgbClr val="000000"/>
                </a:solidFill>
                <a:latin typeface="Arial"/>
                <a:cs typeface="Trebuchet MS"/>
              </a:rPr>
              <a:t> </a:t>
            </a:r>
            <a:r>
              <a:rPr sz="2200" kern="0" spc="-20">
                <a:solidFill>
                  <a:srgbClr val="000000"/>
                </a:solidFill>
                <a:latin typeface="Arial"/>
                <a:cs typeface="Trebuchet MS"/>
              </a:rPr>
              <a:t>Analysis</a:t>
            </a:r>
            <a:endParaRPr sz="2200" kern="0">
              <a:solidFill>
                <a:srgbClr val="000000"/>
              </a:solidFill>
              <a:latin typeface="Arial"/>
              <a:cs typeface="Trebuchet MS"/>
            </a:endParaRPr>
          </a:p>
        </p:txBody>
      </p:sp>
      <p:sp>
        <p:nvSpPr>
          <p:cNvPr id="266" name="object 99">
            <a:extLst>
              <a:ext uri="{FF2B5EF4-FFF2-40B4-BE49-F238E27FC236}">
                <a16:creationId xmlns:a16="http://schemas.microsoft.com/office/drawing/2014/main" id="{DC03147B-A02E-CF8D-ECA7-116F57F6B9C8}"/>
              </a:ext>
            </a:extLst>
          </p:cNvPr>
          <p:cNvSpPr txBox="1"/>
          <p:nvPr/>
        </p:nvSpPr>
        <p:spPr>
          <a:xfrm>
            <a:off x="1584300" y="9583871"/>
            <a:ext cx="2077720" cy="679673"/>
          </a:xfrm>
          <a:prstGeom prst="rect">
            <a:avLst/>
          </a:prstGeom>
        </p:spPr>
        <p:txBody>
          <a:bodyPr vert="horz" wrap="square" lIns="0" tIns="63500" rIns="0" bIns="0" rtlCol="0">
            <a:spAutoFit/>
          </a:bodyPr>
          <a:lstStyle/>
          <a:p>
            <a:pPr marL="217170" marR="10160" indent="-193040" defTabSz="1828800">
              <a:lnSpc>
                <a:spcPts val="2380"/>
              </a:lnSpc>
              <a:spcBef>
                <a:spcPts val="500"/>
              </a:spcBef>
              <a:defRPr/>
            </a:pPr>
            <a:r>
              <a:rPr sz="2200" kern="0">
                <a:solidFill>
                  <a:srgbClr val="000000"/>
                </a:solidFill>
                <a:latin typeface="Arial"/>
                <a:cs typeface="Trebuchet MS"/>
              </a:rPr>
              <a:t>Immersion</a:t>
            </a:r>
            <a:r>
              <a:rPr sz="2200" kern="0" spc="280">
                <a:solidFill>
                  <a:srgbClr val="000000"/>
                </a:solidFill>
                <a:latin typeface="Arial"/>
                <a:cs typeface="Trebuchet MS"/>
              </a:rPr>
              <a:t> </a:t>
            </a:r>
            <a:r>
              <a:rPr sz="2200" kern="0" spc="-40">
                <a:solidFill>
                  <a:srgbClr val="000000"/>
                </a:solidFill>
                <a:latin typeface="Arial"/>
                <a:cs typeface="Trebuchet MS"/>
              </a:rPr>
              <a:t>Days </a:t>
            </a:r>
            <a:r>
              <a:rPr sz="2200" kern="0">
                <a:solidFill>
                  <a:srgbClr val="000000"/>
                </a:solidFill>
                <a:latin typeface="Arial"/>
                <a:cs typeface="Trebuchet MS"/>
              </a:rPr>
              <a:t>&amp;</a:t>
            </a:r>
            <a:r>
              <a:rPr sz="2200" kern="0" spc="-20">
                <a:solidFill>
                  <a:srgbClr val="000000"/>
                </a:solidFill>
                <a:latin typeface="Arial"/>
                <a:cs typeface="Trebuchet MS"/>
              </a:rPr>
              <a:t> workshops</a:t>
            </a:r>
            <a:endParaRPr sz="2200" kern="0">
              <a:solidFill>
                <a:srgbClr val="000000"/>
              </a:solidFill>
              <a:latin typeface="Arial"/>
              <a:cs typeface="Trebuchet MS"/>
            </a:endParaRPr>
          </a:p>
        </p:txBody>
      </p:sp>
      <p:sp>
        <p:nvSpPr>
          <p:cNvPr id="267" name="object 100">
            <a:extLst>
              <a:ext uri="{FF2B5EF4-FFF2-40B4-BE49-F238E27FC236}">
                <a16:creationId xmlns:a16="http://schemas.microsoft.com/office/drawing/2014/main" id="{F90F93BC-7C34-4B04-25B1-8E47A0B1A97D}"/>
              </a:ext>
            </a:extLst>
          </p:cNvPr>
          <p:cNvSpPr txBox="1"/>
          <p:nvPr/>
        </p:nvSpPr>
        <p:spPr>
          <a:xfrm>
            <a:off x="2680965" y="7460005"/>
            <a:ext cx="2664638" cy="702756"/>
          </a:xfrm>
          <a:prstGeom prst="rect">
            <a:avLst/>
          </a:prstGeom>
        </p:spPr>
        <p:txBody>
          <a:bodyPr vert="horz" wrap="square" lIns="0" tIns="25400" rIns="0" bIns="0" rtlCol="0">
            <a:spAutoFit/>
          </a:bodyPr>
          <a:lstStyle/>
          <a:p>
            <a:pPr marL="25400" algn="ctr" defTabSz="1828800">
              <a:spcBef>
                <a:spcPts val="200"/>
              </a:spcBef>
              <a:defRPr/>
            </a:pPr>
            <a:r>
              <a:rPr sz="2200" kern="0">
                <a:solidFill>
                  <a:srgbClr val="000000"/>
                </a:solidFill>
                <a:latin typeface="Arial"/>
                <a:cs typeface="Trebuchet MS"/>
              </a:rPr>
              <a:t>Migration</a:t>
            </a:r>
            <a:r>
              <a:rPr lang="en-US" sz="2200" kern="0" spc="190">
                <a:solidFill>
                  <a:srgbClr val="000000"/>
                </a:solidFill>
                <a:latin typeface="Arial"/>
                <a:cs typeface="Trebuchet MS"/>
              </a:rPr>
              <a:t> </a:t>
            </a:r>
            <a:r>
              <a:rPr sz="2200" kern="0">
                <a:solidFill>
                  <a:srgbClr val="000000"/>
                </a:solidFill>
                <a:latin typeface="Arial"/>
                <a:cs typeface="Trebuchet MS"/>
              </a:rPr>
              <a:t>Readiness</a:t>
            </a:r>
            <a:r>
              <a:rPr lang="en-US" sz="2200" kern="0" spc="140">
                <a:solidFill>
                  <a:srgbClr val="000000"/>
                </a:solidFill>
                <a:latin typeface="Arial"/>
                <a:cs typeface="Trebuchet MS"/>
              </a:rPr>
              <a:t> </a:t>
            </a:r>
            <a:r>
              <a:rPr sz="2200" kern="0" spc="-20">
                <a:solidFill>
                  <a:srgbClr val="000000"/>
                </a:solidFill>
                <a:latin typeface="Arial"/>
                <a:cs typeface="Trebuchet MS"/>
              </a:rPr>
              <a:t>Assessment</a:t>
            </a:r>
            <a:endParaRPr sz="2200" kern="0">
              <a:solidFill>
                <a:srgbClr val="000000"/>
              </a:solidFill>
              <a:latin typeface="Arial"/>
              <a:cs typeface="Trebuchet MS"/>
            </a:endParaRPr>
          </a:p>
        </p:txBody>
      </p:sp>
      <p:grpSp>
        <p:nvGrpSpPr>
          <p:cNvPr id="268" name="object 101">
            <a:extLst>
              <a:ext uri="{FF2B5EF4-FFF2-40B4-BE49-F238E27FC236}">
                <a16:creationId xmlns:a16="http://schemas.microsoft.com/office/drawing/2014/main" id="{319D005E-B03F-942D-C025-A7D699B37391}"/>
              </a:ext>
            </a:extLst>
          </p:cNvPr>
          <p:cNvGrpSpPr/>
          <p:nvPr/>
        </p:nvGrpSpPr>
        <p:grpSpPr>
          <a:xfrm>
            <a:off x="4805874" y="8158045"/>
            <a:ext cx="977900" cy="1108710"/>
            <a:chOff x="2377058" y="4225671"/>
            <a:chExt cx="488950" cy="554355"/>
          </a:xfrm>
        </p:grpSpPr>
        <p:sp>
          <p:nvSpPr>
            <p:cNvPr id="269" name="object 102">
              <a:extLst>
                <a:ext uri="{FF2B5EF4-FFF2-40B4-BE49-F238E27FC236}">
                  <a16:creationId xmlns:a16="http://schemas.microsoft.com/office/drawing/2014/main" id="{E83E8BAE-C44B-B8E0-9BFB-1F74621AF6F2}"/>
                </a:ext>
              </a:extLst>
            </p:cNvPr>
            <p:cNvSpPr/>
            <p:nvPr/>
          </p:nvSpPr>
          <p:spPr>
            <a:xfrm>
              <a:off x="2471419" y="4320032"/>
              <a:ext cx="301625" cy="346710"/>
            </a:xfrm>
            <a:custGeom>
              <a:avLst/>
              <a:gdLst/>
              <a:ahLst/>
              <a:cxnLst/>
              <a:rect l="l" t="t" r="r" b="b"/>
              <a:pathLst>
                <a:path w="301625" h="346710">
                  <a:moveTo>
                    <a:pt x="301244" y="150495"/>
                  </a:moveTo>
                  <a:lnTo>
                    <a:pt x="293577" y="102851"/>
                  </a:lnTo>
                  <a:lnTo>
                    <a:pt x="272218" y="61529"/>
                  </a:lnTo>
                  <a:lnTo>
                    <a:pt x="239631" y="28980"/>
                  </a:lnTo>
                  <a:lnTo>
                    <a:pt x="198278" y="7653"/>
                  </a:lnTo>
                  <a:lnTo>
                    <a:pt x="150622" y="0"/>
                  </a:lnTo>
                  <a:lnTo>
                    <a:pt x="102965" y="7653"/>
                  </a:lnTo>
                  <a:lnTo>
                    <a:pt x="61612" y="28980"/>
                  </a:lnTo>
                  <a:lnTo>
                    <a:pt x="29025" y="61529"/>
                  </a:lnTo>
                  <a:lnTo>
                    <a:pt x="7666" y="102851"/>
                  </a:lnTo>
                  <a:lnTo>
                    <a:pt x="0" y="150495"/>
                  </a:lnTo>
                  <a:lnTo>
                    <a:pt x="6248" y="193456"/>
                  </a:lnTo>
                  <a:lnTo>
                    <a:pt x="23796" y="231584"/>
                  </a:lnTo>
                  <a:lnTo>
                    <a:pt x="50845" y="263044"/>
                  </a:lnTo>
                  <a:lnTo>
                    <a:pt x="85598" y="286004"/>
                  </a:lnTo>
                  <a:lnTo>
                    <a:pt x="85598" y="346583"/>
                  </a:lnTo>
                  <a:lnTo>
                    <a:pt x="215646" y="346583"/>
                  </a:lnTo>
                  <a:lnTo>
                    <a:pt x="215646" y="286004"/>
                  </a:lnTo>
                  <a:lnTo>
                    <a:pt x="250398" y="263044"/>
                  </a:lnTo>
                  <a:lnTo>
                    <a:pt x="277447" y="231584"/>
                  </a:lnTo>
                  <a:lnTo>
                    <a:pt x="294995" y="193456"/>
                  </a:lnTo>
                  <a:lnTo>
                    <a:pt x="301244" y="150495"/>
                  </a:lnTo>
                  <a:close/>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70" name="object 103">
              <a:extLst>
                <a:ext uri="{FF2B5EF4-FFF2-40B4-BE49-F238E27FC236}">
                  <a16:creationId xmlns:a16="http://schemas.microsoft.com/office/drawing/2014/main" id="{43A1AE6A-B8B8-E649-AE0F-A947E46EBD7A}"/>
                </a:ext>
              </a:extLst>
            </p:cNvPr>
            <p:cNvSpPr/>
            <p:nvPr/>
          </p:nvSpPr>
          <p:spPr>
            <a:xfrm>
              <a:off x="2384678" y="4233291"/>
              <a:ext cx="473709" cy="434340"/>
            </a:xfrm>
            <a:custGeom>
              <a:avLst/>
              <a:gdLst/>
              <a:ahLst/>
              <a:cxnLst/>
              <a:rect l="l" t="t" r="r" b="b"/>
              <a:pathLst>
                <a:path w="473710" h="434339">
                  <a:moveTo>
                    <a:pt x="236600" y="434085"/>
                  </a:moveTo>
                  <a:lnTo>
                    <a:pt x="236600" y="300100"/>
                  </a:lnTo>
                </a:path>
                <a:path w="473710" h="434339">
                  <a:moveTo>
                    <a:pt x="204088" y="298322"/>
                  </a:moveTo>
                  <a:lnTo>
                    <a:pt x="270637" y="298322"/>
                  </a:lnTo>
                </a:path>
                <a:path w="473710" h="434339">
                  <a:moveTo>
                    <a:pt x="163829" y="61721"/>
                  </a:moveTo>
                  <a:lnTo>
                    <a:pt x="138556" y="0"/>
                  </a:lnTo>
                </a:path>
                <a:path w="473710" h="434339">
                  <a:moveTo>
                    <a:pt x="0" y="334898"/>
                  </a:moveTo>
                  <a:lnTo>
                    <a:pt x="62102" y="309244"/>
                  </a:lnTo>
                </a:path>
                <a:path w="473710" h="434339">
                  <a:moveTo>
                    <a:pt x="411479" y="163829"/>
                  </a:moveTo>
                  <a:lnTo>
                    <a:pt x="473582" y="138556"/>
                  </a:lnTo>
                </a:path>
                <a:path w="473710" h="434339">
                  <a:moveTo>
                    <a:pt x="0" y="138556"/>
                  </a:moveTo>
                  <a:lnTo>
                    <a:pt x="62102" y="164210"/>
                  </a:lnTo>
                </a:path>
                <a:path w="473710" h="434339">
                  <a:moveTo>
                    <a:pt x="411479" y="309244"/>
                  </a:moveTo>
                  <a:lnTo>
                    <a:pt x="473582" y="334517"/>
                  </a:lnTo>
                </a:path>
                <a:path w="473710" h="434339">
                  <a:moveTo>
                    <a:pt x="309244" y="61721"/>
                  </a:moveTo>
                  <a:lnTo>
                    <a:pt x="334518" y="0"/>
                  </a:lnTo>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71" name="object 104">
              <a:extLst>
                <a:ext uri="{FF2B5EF4-FFF2-40B4-BE49-F238E27FC236}">
                  <a16:creationId xmlns:a16="http://schemas.microsoft.com/office/drawing/2014/main" id="{81382F76-F8C0-AD90-B8F2-40282270127F}"/>
                </a:ext>
              </a:extLst>
            </p:cNvPr>
            <p:cNvSpPr/>
            <p:nvPr/>
          </p:nvSpPr>
          <p:spPr>
            <a:xfrm>
              <a:off x="2556763" y="4682871"/>
              <a:ext cx="130175" cy="89535"/>
            </a:xfrm>
            <a:custGeom>
              <a:avLst/>
              <a:gdLst/>
              <a:ahLst/>
              <a:cxnLst/>
              <a:rect l="l" t="t" r="r" b="b"/>
              <a:pathLst>
                <a:path w="130175" h="89535">
                  <a:moveTo>
                    <a:pt x="122681" y="19811"/>
                  </a:moveTo>
                  <a:lnTo>
                    <a:pt x="6985" y="19811"/>
                  </a:lnTo>
                  <a:lnTo>
                    <a:pt x="2921" y="19811"/>
                  </a:lnTo>
                  <a:lnTo>
                    <a:pt x="0" y="16382"/>
                  </a:lnTo>
                  <a:lnTo>
                    <a:pt x="0" y="12572"/>
                  </a:lnTo>
                  <a:lnTo>
                    <a:pt x="0" y="7238"/>
                  </a:lnTo>
                  <a:lnTo>
                    <a:pt x="0" y="3047"/>
                  </a:lnTo>
                  <a:lnTo>
                    <a:pt x="3302" y="0"/>
                  </a:lnTo>
                  <a:lnTo>
                    <a:pt x="6985" y="0"/>
                  </a:lnTo>
                  <a:lnTo>
                    <a:pt x="122300" y="0"/>
                  </a:lnTo>
                  <a:lnTo>
                    <a:pt x="126365" y="0"/>
                  </a:lnTo>
                  <a:lnTo>
                    <a:pt x="129286" y="3428"/>
                  </a:lnTo>
                  <a:lnTo>
                    <a:pt x="129286" y="7238"/>
                  </a:lnTo>
                  <a:lnTo>
                    <a:pt x="129286" y="12572"/>
                  </a:lnTo>
                  <a:lnTo>
                    <a:pt x="129667" y="16382"/>
                  </a:lnTo>
                  <a:lnTo>
                    <a:pt x="126365" y="19811"/>
                  </a:lnTo>
                  <a:lnTo>
                    <a:pt x="122681" y="19811"/>
                  </a:lnTo>
                  <a:close/>
                </a:path>
                <a:path w="130175" h="89535">
                  <a:moveTo>
                    <a:pt x="122681" y="53593"/>
                  </a:moveTo>
                  <a:lnTo>
                    <a:pt x="6985" y="53593"/>
                  </a:lnTo>
                  <a:lnTo>
                    <a:pt x="2921" y="53593"/>
                  </a:lnTo>
                  <a:lnTo>
                    <a:pt x="0" y="50291"/>
                  </a:lnTo>
                  <a:lnTo>
                    <a:pt x="0" y="46735"/>
                  </a:lnTo>
                  <a:lnTo>
                    <a:pt x="0" y="41655"/>
                  </a:lnTo>
                  <a:lnTo>
                    <a:pt x="0" y="37718"/>
                  </a:lnTo>
                  <a:lnTo>
                    <a:pt x="3302" y="34797"/>
                  </a:lnTo>
                  <a:lnTo>
                    <a:pt x="6985" y="34797"/>
                  </a:lnTo>
                  <a:lnTo>
                    <a:pt x="122300" y="34797"/>
                  </a:lnTo>
                  <a:lnTo>
                    <a:pt x="126365" y="34797"/>
                  </a:lnTo>
                  <a:lnTo>
                    <a:pt x="129286" y="37972"/>
                  </a:lnTo>
                  <a:lnTo>
                    <a:pt x="129286" y="41655"/>
                  </a:lnTo>
                  <a:lnTo>
                    <a:pt x="129286" y="46735"/>
                  </a:lnTo>
                  <a:lnTo>
                    <a:pt x="129667" y="50291"/>
                  </a:lnTo>
                  <a:lnTo>
                    <a:pt x="126365" y="53593"/>
                  </a:lnTo>
                  <a:lnTo>
                    <a:pt x="122681" y="53593"/>
                  </a:lnTo>
                  <a:close/>
                </a:path>
                <a:path w="130175" h="89535">
                  <a:moveTo>
                    <a:pt x="85598" y="89026"/>
                  </a:moveTo>
                  <a:lnTo>
                    <a:pt x="44196" y="89026"/>
                  </a:lnTo>
                  <a:lnTo>
                    <a:pt x="33655" y="69849"/>
                  </a:lnTo>
                  <a:lnTo>
                    <a:pt x="96138" y="69849"/>
                  </a:lnTo>
                  <a:lnTo>
                    <a:pt x="85598" y="89026"/>
                  </a:lnTo>
                  <a:close/>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sp>
        <p:nvSpPr>
          <p:cNvPr id="273" name="object 106">
            <a:extLst>
              <a:ext uri="{FF2B5EF4-FFF2-40B4-BE49-F238E27FC236}">
                <a16:creationId xmlns:a16="http://schemas.microsoft.com/office/drawing/2014/main" id="{734C62DA-58F3-3DE1-5195-90765B80472D}"/>
              </a:ext>
            </a:extLst>
          </p:cNvPr>
          <p:cNvSpPr txBox="1"/>
          <p:nvPr/>
        </p:nvSpPr>
        <p:spPr>
          <a:xfrm>
            <a:off x="4230564" y="9372425"/>
            <a:ext cx="2207260" cy="987450"/>
          </a:xfrm>
          <a:prstGeom prst="rect">
            <a:avLst/>
          </a:prstGeom>
        </p:spPr>
        <p:txBody>
          <a:bodyPr vert="horz" wrap="square" lIns="0" tIns="63500" rIns="0" bIns="0" rtlCol="0">
            <a:spAutoFit/>
          </a:bodyPr>
          <a:lstStyle/>
          <a:p>
            <a:pPr marL="24130" marR="10160" algn="ctr" defTabSz="1828800">
              <a:lnSpc>
                <a:spcPts val="2380"/>
              </a:lnSpc>
              <a:spcBef>
                <a:spcPts val="500"/>
              </a:spcBef>
              <a:defRPr/>
            </a:pPr>
            <a:r>
              <a:rPr sz="2200" kern="0">
                <a:solidFill>
                  <a:srgbClr val="000000"/>
                </a:solidFill>
                <a:latin typeface="Arial"/>
                <a:cs typeface="Trebuchet MS"/>
              </a:rPr>
              <a:t>Assess+</a:t>
            </a:r>
            <a:r>
              <a:rPr lang="en-US" sz="2200" kern="0" spc="270">
                <a:solidFill>
                  <a:srgbClr val="000000"/>
                </a:solidFill>
                <a:latin typeface="Arial"/>
                <a:cs typeface="Trebuchet MS"/>
              </a:rPr>
              <a:t> </a:t>
            </a:r>
            <a:r>
              <a:rPr sz="2200" kern="0" spc="-20">
                <a:solidFill>
                  <a:srgbClr val="000000"/>
                </a:solidFill>
                <a:latin typeface="Arial"/>
                <a:cs typeface="Trebuchet MS"/>
              </a:rPr>
              <a:t>(L</a:t>
            </a:r>
            <a:r>
              <a:rPr lang="en-GB" sz="2200" kern="0" spc="-20">
                <a:solidFill>
                  <a:srgbClr val="000000"/>
                </a:solidFill>
                <a:latin typeface="Arial"/>
                <a:cs typeface="Trebuchet MS"/>
              </a:rPr>
              <a:t>anding </a:t>
            </a:r>
            <a:r>
              <a:rPr lang="en-GB" sz="2200" kern="0">
                <a:solidFill>
                  <a:srgbClr val="000000"/>
                </a:solidFill>
                <a:latin typeface="Arial"/>
                <a:cs typeface="Trebuchet MS"/>
              </a:rPr>
              <a:t>Zone</a:t>
            </a:r>
            <a:r>
              <a:rPr sz="2200" kern="0">
                <a:solidFill>
                  <a:srgbClr val="000000"/>
                </a:solidFill>
                <a:latin typeface="Arial"/>
                <a:cs typeface="Trebuchet MS"/>
              </a:rPr>
              <a:t>,</a:t>
            </a:r>
            <a:r>
              <a:rPr lang="en-US" sz="2200" kern="0" spc="-130">
                <a:solidFill>
                  <a:srgbClr val="000000"/>
                </a:solidFill>
                <a:latin typeface="Arial"/>
                <a:cs typeface="Trebuchet MS"/>
              </a:rPr>
              <a:t> </a:t>
            </a:r>
            <a:r>
              <a:rPr lang="en-GB" sz="2200" kern="0" spc="-20">
                <a:solidFill>
                  <a:srgbClr val="000000"/>
                </a:solidFill>
                <a:latin typeface="Arial"/>
                <a:cs typeface="Trebuchet MS"/>
              </a:rPr>
              <a:t>D</a:t>
            </a:r>
            <a:r>
              <a:rPr lang="en-US" sz="2200" kern="0" spc="-20">
                <a:solidFill>
                  <a:srgbClr val="000000"/>
                </a:solidFill>
                <a:latin typeface="Arial"/>
                <a:cs typeface="Trebuchet MS"/>
              </a:rPr>
              <a:t>R</a:t>
            </a:r>
            <a:r>
              <a:rPr lang="en-GB" sz="2200" kern="0" spc="-20">
                <a:solidFill>
                  <a:srgbClr val="000000"/>
                </a:solidFill>
                <a:latin typeface="Arial"/>
                <a:cs typeface="Trebuchet MS"/>
              </a:rPr>
              <a:t>,</a:t>
            </a:r>
            <a:r>
              <a:rPr lang="en-GB" sz="2200" kern="0" spc="-120">
                <a:solidFill>
                  <a:srgbClr val="000000"/>
                </a:solidFill>
                <a:latin typeface="Arial"/>
                <a:cs typeface="Trebuchet MS"/>
              </a:rPr>
              <a:t> </a:t>
            </a:r>
            <a:r>
              <a:rPr lang="en-GB" sz="2200" kern="0" spc="-20">
                <a:solidFill>
                  <a:srgbClr val="000000"/>
                </a:solidFill>
                <a:latin typeface="Arial"/>
                <a:cs typeface="Trebuchet MS"/>
              </a:rPr>
              <a:t>POCs</a:t>
            </a:r>
            <a:r>
              <a:rPr sz="2200" kern="0" spc="-20">
                <a:solidFill>
                  <a:srgbClr val="000000"/>
                </a:solidFill>
                <a:latin typeface="Arial"/>
                <a:cs typeface="Trebuchet MS"/>
              </a:rPr>
              <a:t>)</a:t>
            </a:r>
            <a:endParaRPr sz="2200" kern="0">
              <a:solidFill>
                <a:srgbClr val="000000"/>
              </a:solidFill>
              <a:latin typeface="Arial"/>
              <a:cs typeface="Trebuchet MS"/>
            </a:endParaRPr>
          </a:p>
        </p:txBody>
      </p:sp>
      <p:grpSp>
        <p:nvGrpSpPr>
          <p:cNvPr id="274" name="object 107">
            <a:extLst>
              <a:ext uri="{FF2B5EF4-FFF2-40B4-BE49-F238E27FC236}">
                <a16:creationId xmlns:a16="http://schemas.microsoft.com/office/drawing/2014/main" id="{D10825C5-258B-1EE9-5B88-A02854F3E230}"/>
              </a:ext>
            </a:extLst>
          </p:cNvPr>
          <p:cNvGrpSpPr/>
          <p:nvPr/>
        </p:nvGrpSpPr>
        <p:grpSpPr>
          <a:xfrm>
            <a:off x="4958320" y="4180148"/>
            <a:ext cx="979168" cy="1109980"/>
            <a:chOff x="1051153" y="2281047"/>
            <a:chExt cx="489584" cy="554990"/>
          </a:xfrm>
        </p:grpSpPr>
        <p:sp>
          <p:nvSpPr>
            <p:cNvPr id="275" name="object 108">
              <a:extLst>
                <a:ext uri="{FF2B5EF4-FFF2-40B4-BE49-F238E27FC236}">
                  <a16:creationId xmlns:a16="http://schemas.microsoft.com/office/drawing/2014/main" id="{7F541443-97AD-9B45-9204-2907EE153AB8}"/>
                </a:ext>
              </a:extLst>
            </p:cNvPr>
            <p:cNvSpPr/>
            <p:nvPr/>
          </p:nvSpPr>
          <p:spPr>
            <a:xfrm>
              <a:off x="1258442" y="2598420"/>
              <a:ext cx="141605" cy="71755"/>
            </a:xfrm>
            <a:custGeom>
              <a:avLst/>
              <a:gdLst/>
              <a:ahLst/>
              <a:cxnLst/>
              <a:rect l="l" t="t" r="r" b="b"/>
              <a:pathLst>
                <a:path w="141605" h="71755">
                  <a:moveTo>
                    <a:pt x="19812" y="71627"/>
                  </a:moveTo>
                  <a:lnTo>
                    <a:pt x="123062" y="71627"/>
                  </a:lnTo>
                </a:path>
                <a:path w="141605" h="71755">
                  <a:moveTo>
                    <a:pt x="0" y="35813"/>
                  </a:moveTo>
                  <a:lnTo>
                    <a:pt x="67818" y="35813"/>
                  </a:lnTo>
                </a:path>
                <a:path w="141605" h="71755">
                  <a:moveTo>
                    <a:pt x="83819" y="35813"/>
                  </a:moveTo>
                  <a:lnTo>
                    <a:pt x="112775" y="35813"/>
                  </a:lnTo>
                </a:path>
                <a:path w="141605" h="71755">
                  <a:moveTo>
                    <a:pt x="44195" y="0"/>
                  </a:moveTo>
                  <a:lnTo>
                    <a:pt x="141350" y="0"/>
                  </a:lnTo>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76" name="object 109">
              <a:extLst>
                <a:ext uri="{FF2B5EF4-FFF2-40B4-BE49-F238E27FC236}">
                  <a16:creationId xmlns:a16="http://schemas.microsoft.com/office/drawing/2014/main" id="{3912A747-E6A0-6CAF-0B86-A4F0F0A88360}"/>
                </a:ext>
              </a:extLst>
            </p:cNvPr>
            <p:cNvSpPr/>
            <p:nvPr/>
          </p:nvSpPr>
          <p:spPr>
            <a:xfrm>
              <a:off x="1058773" y="2288667"/>
              <a:ext cx="290195" cy="416559"/>
            </a:xfrm>
            <a:custGeom>
              <a:avLst/>
              <a:gdLst/>
              <a:ahLst/>
              <a:cxnLst/>
              <a:rect l="l" t="t" r="r" b="b"/>
              <a:pathLst>
                <a:path w="290194" h="416560">
                  <a:moveTo>
                    <a:pt x="192062" y="0"/>
                  </a:moveTo>
                  <a:lnTo>
                    <a:pt x="11391" y="0"/>
                  </a:lnTo>
                  <a:lnTo>
                    <a:pt x="5321" y="0"/>
                  </a:lnTo>
                  <a:lnTo>
                    <a:pt x="0" y="4953"/>
                  </a:lnTo>
                  <a:lnTo>
                    <a:pt x="0" y="11430"/>
                  </a:lnTo>
                  <a:lnTo>
                    <a:pt x="0" y="404622"/>
                  </a:lnTo>
                  <a:lnTo>
                    <a:pt x="0" y="410718"/>
                  </a:lnTo>
                  <a:lnTo>
                    <a:pt x="4940" y="416052"/>
                  </a:lnTo>
                  <a:lnTo>
                    <a:pt x="11391" y="416052"/>
                  </a:lnTo>
                  <a:lnTo>
                    <a:pt x="149936" y="416052"/>
                  </a:lnTo>
                </a:path>
                <a:path w="290194" h="416560">
                  <a:moveTo>
                    <a:pt x="192125" y="96774"/>
                  </a:moveTo>
                  <a:lnTo>
                    <a:pt x="289839" y="96774"/>
                  </a:lnTo>
                  <a:lnTo>
                    <a:pt x="192125" y="0"/>
                  </a:lnTo>
                  <a:lnTo>
                    <a:pt x="192125" y="96774"/>
                  </a:lnTo>
                  <a:close/>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77" name="object 110">
              <a:extLst>
                <a:ext uri="{FF2B5EF4-FFF2-40B4-BE49-F238E27FC236}">
                  <a16:creationId xmlns:a16="http://schemas.microsoft.com/office/drawing/2014/main" id="{EB11F49A-F06B-6AC3-1F8E-19C8501B1368}"/>
                </a:ext>
              </a:extLst>
            </p:cNvPr>
            <p:cNvSpPr/>
            <p:nvPr/>
          </p:nvSpPr>
          <p:spPr>
            <a:xfrm>
              <a:off x="1099985" y="2401062"/>
              <a:ext cx="205740" cy="227329"/>
            </a:xfrm>
            <a:custGeom>
              <a:avLst/>
              <a:gdLst/>
              <a:ahLst/>
              <a:cxnLst/>
              <a:rect l="l" t="t" r="r" b="b"/>
              <a:pathLst>
                <a:path w="205740" h="227330">
                  <a:moveTo>
                    <a:pt x="0" y="56387"/>
                  </a:moveTo>
                  <a:lnTo>
                    <a:pt x="205701" y="56387"/>
                  </a:lnTo>
                </a:path>
                <a:path w="205740" h="227330">
                  <a:moveTo>
                    <a:pt x="25" y="112775"/>
                  </a:moveTo>
                  <a:lnTo>
                    <a:pt x="127152" y="112775"/>
                  </a:lnTo>
                </a:path>
                <a:path w="205740" h="227330">
                  <a:moveTo>
                    <a:pt x="12" y="169925"/>
                  </a:moveTo>
                  <a:lnTo>
                    <a:pt x="85648" y="169925"/>
                  </a:lnTo>
                </a:path>
                <a:path w="205740" h="227330">
                  <a:moveTo>
                    <a:pt x="50" y="227075"/>
                  </a:moveTo>
                  <a:lnTo>
                    <a:pt x="89801" y="227075"/>
                  </a:lnTo>
                </a:path>
                <a:path w="205740" h="227330">
                  <a:moveTo>
                    <a:pt x="0" y="0"/>
                  </a:moveTo>
                  <a:lnTo>
                    <a:pt x="116141" y="0"/>
                  </a:lnTo>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78" name="object 111">
              <a:extLst>
                <a:ext uri="{FF2B5EF4-FFF2-40B4-BE49-F238E27FC236}">
                  <a16:creationId xmlns:a16="http://schemas.microsoft.com/office/drawing/2014/main" id="{C88D0728-B433-9624-E2BC-252765330014}"/>
                </a:ext>
              </a:extLst>
            </p:cNvPr>
            <p:cNvSpPr/>
            <p:nvPr/>
          </p:nvSpPr>
          <p:spPr>
            <a:xfrm>
              <a:off x="1215770" y="2384679"/>
              <a:ext cx="317500" cy="443865"/>
            </a:xfrm>
            <a:custGeom>
              <a:avLst/>
              <a:gdLst/>
              <a:ahLst/>
              <a:cxnLst/>
              <a:rect l="l" t="t" r="r" b="b"/>
              <a:pathLst>
                <a:path w="317500" h="443864">
                  <a:moveTo>
                    <a:pt x="132206" y="103632"/>
                  </a:moveTo>
                  <a:lnTo>
                    <a:pt x="132206" y="0"/>
                  </a:lnTo>
                </a:path>
                <a:path w="317500" h="443864">
                  <a:moveTo>
                    <a:pt x="232409" y="249174"/>
                  </a:moveTo>
                  <a:lnTo>
                    <a:pt x="223271" y="294554"/>
                  </a:lnTo>
                  <a:lnTo>
                    <a:pt x="198358" y="331612"/>
                  </a:lnTo>
                  <a:lnTo>
                    <a:pt x="161418" y="356598"/>
                  </a:lnTo>
                  <a:lnTo>
                    <a:pt x="116204" y="365760"/>
                  </a:lnTo>
                  <a:lnTo>
                    <a:pt x="70974" y="356598"/>
                  </a:lnTo>
                  <a:lnTo>
                    <a:pt x="34037" y="331612"/>
                  </a:lnTo>
                  <a:lnTo>
                    <a:pt x="9132" y="294554"/>
                  </a:lnTo>
                  <a:lnTo>
                    <a:pt x="0" y="249174"/>
                  </a:lnTo>
                  <a:lnTo>
                    <a:pt x="9132" y="203793"/>
                  </a:lnTo>
                  <a:lnTo>
                    <a:pt x="34037" y="166735"/>
                  </a:lnTo>
                  <a:lnTo>
                    <a:pt x="70974" y="141749"/>
                  </a:lnTo>
                  <a:lnTo>
                    <a:pt x="116204" y="132587"/>
                  </a:lnTo>
                  <a:lnTo>
                    <a:pt x="161418" y="141749"/>
                  </a:lnTo>
                  <a:lnTo>
                    <a:pt x="198358" y="166735"/>
                  </a:lnTo>
                  <a:lnTo>
                    <a:pt x="223271" y="203793"/>
                  </a:lnTo>
                  <a:lnTo>
                    <a:pt x="232409" y="249174"/>
                  </a:lnTo>
                  <a:close/>
                </a:path>
                <a:path w="317500" h="443864">
                  <a:moveTo>
                    <a:pt x="221106" y="303275"/>
                  </a:moveTo>
                  <a:lnTo>
                    <a:pt x="308737" y="392175"/>
                  </a:lnTo>
                  <a:lnTo>
                    <a:pt x="315029" y="401905"/>
                  </a:lnTo>
                  <a:lnTo>
                    <a:pt x="316976" y="413051"/>
                  </a:lnTo>
                  <a:lnTo>
                    <a:pt x="314612" y="424269"/>
                  </a:lnTo>
                  <a:lnTo>
                    <a:pt x="307975" y="434213"/>
                  </a:lnTo>
                  <a:lnTo>
                    <a:pt x="298070" y="440995"/>
                  </a:lnTo>
                  <a:lnTo>
                    <a:pt x="286940" y="443420"/>
                  </a:lnTo>
                  <a:lnTo>
                    <a:pt x="275881" y="441463"/>
                  </a:lnTo>
                  <a:lnTo>
                    <a:pt x="266191" y="435101"/>
                  </a:lnTo>
                  <a:lnTo>
                    <a:pt x="179831" y="347725"/>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grpSp>
        <p:nvGrpSpPr>
          <p:cNvPr id="279" name="object 112">
            <a:extLst>
              <a:ext uri="{FF2B5EF4-FFF2-40B4-BE49-F238E27FC236}">
                <a16:creationId xmlns:a16="http://schemas.microsoft.com/office/drawing/2014/main" id="{781CDC49-2A7A-F7D4-13B0-6FF62DFF1495}"/>
              </a:ext>
            </a:extLst>
          </p:cNvPr>
          <p:cNvGrpSpPr/>
          <p:nvPr/>
        </p:nvGrpSpPr>
        <p:grpSpPr>
          <a:xfrm>
            <a:off x="1751709" y="4174108"/>
            <a:ext cx="1469390" cy="1076960"/>
            <a:chOff x="2237232" y="2293620"/>
            <a:chExt cx="734695" cy="538480"/>
          </a:xfrm>
        </p:grpSpPr>
        <p:sp>
          <p:nvSpPr>
            <p:cNvPr id="280" name="object 113">
              <a:extLst>
                <a:ext uri="{FF2B5EF4-FFF2-40B4-BE49-F238E27FC236}">
                  <a16:creationId xmlns:a16="http://schemas.microsoft.com/office/drawing/2014/main" id="{DE26D7F6-BCDB-1605-9A7F-BC5859193F0C}"/>
                </a:ext>
              </a:extLst>
            </p:cNvPr>
            <p:cNvSpPr/>
            <p:nvPr/>
          </p:nvSpPr>
          <p:spPr>
            <a:xfrm>
              <a:off x="2244852" y="2301240"/>
              <a:ext cx="719455" cy="523240"/>
            </a:xfrm>
            <a:custGeom>
              <a:avLst/>
              <a:gdLst/>
              <a:ahLst/>
              <a:cxnLst/>
              <a:rect l="l" t="t" r="r" b="b"/>
              <a:pathLst>
                <a:path w="719455" h="523239">
                  <a:moveTo>
                    <a:pt x="696849" y="522732"/>
                  </a:moveTo>
                  <a:lnTo>
                    <a:pt x="21590" y="522732"/>
                  </a:lnTo>
                  <a:lnTo>
                    <a:pt x="13126" y="521055"/>
                  </a:lnTo>
                  <a:lnTo>
                    <a:pt x="6270" y="516461"/>
                  </a:lnTo>
                  <a:lnTo>
                    <a:pt x="1676" y="509605"/>
                  </a:lnTo>
                  <a:lnTo>
                    <a:pt x="0" y="501142"/>
                  </a:lnTo>
                  <a:lnTo>
                    <a:pt x="0" y="99568"/>
                  </a:lnTo>
                  <a:lnTo>
                    <a:pt x="0" y="21589"/>
                  </a:lnTo>
                  <a:lnTo>
                    <a:pt x="1676" y="13126"/>
                  </a:lnTo>
                  <a:lnTo>
                    <a:pt x="6270" y="6270"/>
                  </a:lnTo>
                  <a:lnTo>
                    <a:pt x="13126" y="1676"/>
                  </a:lnTo>
                  <a:lnTo>
                    <a:pt x="21590" y="0"/>
                  </a:lnTo>
                  <a:lnTo>
                    <a:pt x="697738" y="0"/>
                  </a:lnTo>
                  <a:lnTo>
                    <a:pt x="706201" y="1676"/>
                  </a:lnTo>
                  <a:lnTo>
                    <a:pt x="713057" y="6270"/>
                  </a:lnTo>
                  <a:lnTo>
                    <a:pt x="717651" y="13126"/>
                  </a:lnTo>
                  <a:lnTo>
                    <a:pt x="719328" y="21589"/>
                  </a:lnTo>
                  <a:lnTo>
                    <a:pt x="719328" y="501904"/>
                  </a:lnTo>
                  <a:lnTo>
                    <a:pt x="717137" y="509926"/>
                  </a:lnTo>
                  <a:lnTo>
                    <a:pt x="712279" y="516556"/>
                  </a:lnTo>
                  <a:lnTo>
                    <a:pt x="705326" y="521067"/>
                  </a:lnTo>
                  <a:lnTo>
                    <a:pt x="696849" y="522732"/>
                  </a:lnTo>
                  <a:close/>
                </a:path>
                <a:path w="719455" h="523239">
                  <a:moveTo>
                    <a:pt x="124968" y="100584"/>
                  </a:moveTo>
                  <a:lnTo>
                    <a:pt x="124968" y="522732"/>
                  </a:lnTo>
                </a:path>
                <a:path w="719455" h="523239">
                  <a:moveTo>
                    <a:pt x="0" y="100584"/>
                  </a:moveTo>
                  <a:lnTo>
                    <a:pt x="717804" y="100584"/>
                  </a:lnTo>
                </a:path>
                <a:path w="719455" h="523239">
                  <a:moveTo>
                    <a:pt x="393192" y="269748"/>
                  </a:moveTo>
                  <a:lnTo>
                    <a:pt x="542544" y="269748"/>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81" name="object 114">
              <a:extLst>
                <a:ext uri="{FF2B5EF4-FFF2-40B4-BE49-F238E27FC236}">
                  <a16:creationId xmlns:a16="http://schemas.microsoft.com/office/drawing/2014/main" id="{F5400854-5679-3C4A-14AA-EF290CA336E3}"/>
                </a:ext>
              </a:extLst>
            </p:cNvPr>
            <p:cNvSpPr/>
            <p:nvPr/>
          </p:nvSpPr>
          <p:spPr>
            <a:xfrm>
              <a:off x="2417064" y="2447544"/>
              <a:ext cx="338455" cy="276225"/>
            </a:xfrm>
            <a:custGeom>
              <a:avLst/>
              <a:gdLst/>
              <a:ahLst/>
              <a:cxnLst/>
              <a:rect l="l" t="t" r="r" b="b"/>
              <a:pathLst>
                <a:path w="338455" h="276225">
                  <a:moveTo>
                    <a:pt x="0" y="185927"/>
                  </a:moveTo>
                  <a:lnTo>
                    <a:pt x="170687" y="185927"/>
                  </a:lnTo>
                </a:path>
                <a:path w="338455" h="276225">
                  <a:moveTo>
                    <a:pt x="0" y="219455"/>
                  </a:moveTo>
                  <a:lnTo>
                    <a:pt x="111252" y="219455"/>
                  </a:lnTo>
                </a:path>
                <a:path w="338455" h="276225">
                  <a:moveTo>
                    <a:pt x="134112" y="219455"/>
                  </a:moveTo>
                  <a:lnTo>
                    <a:pt x="170687" y="219455"/>
                  </a:lnTo>
                </a:path>
                <a:path w="338455" h="276225">
                  <a:moveTo>
                    <a:pt x="0" y="245363"/>
                  </a:moveTo>
                  <a:lnTo>
                    <a:pt x="170687" y="245363"/>
                  </a:lnTo>
                </a:path>
                <a:path w="338455" h="276225">
                  <a:moveTo>
                    <a:pt x="0" y="275843"/>
                  </a:moveTo>
                  <a:lnTo>
                    <a:pt x="28956" y="275843"/>
                  </a:lnTo>
                </a:path>
                <a:path w="338455" h="276225">
                  <a:moveTo>
                    <a:pt x="38100" y="275843"/>
                  </a:moveTo>
                  <a:lnTo>
                    <a:pt x="170687" y="275843"/>
                  </a:lnTo>
                </a:path>
                <a:path w="338455" h="276225">
                  <a:moveTo>
                    <a:pt x="15240" y="123443"/>
                  </a:moveTo>
                  <a:lnTo>
                    <a:pt x="48133" y="54863"/>
                  </a:lnTo>
                  <a:lnTo>
                    <a:pt x="76581" y="54863"/>
                  </a:lnTo>
                  <a:lnTo>
                    <a:pt x="99060" y="83184"/>
                  </a:lnTo>
                  <a:lnTo>
                    <a:pt x="122428" y="0"/>
                  </a:lnTo>
                  <a:lnTo>
                    <a:pt x="156972" y="123443"/>
                  </a:lnTo>
                </a:path>
                <a:path w="338455" h="276225">
                  <a:moveTo>
                    <a:pt x="251460" y="102107"/>
                  </a:moveTo>
                  <a:lnTo>
                    <a:pt x="251460" y="39623"/>
                  </a:lnTo>
                </a:path>
                <a:path w="338455" h="276225">
                  <a:moveTo>
                    <a:pt x="277368" y="102107"/>
                  </a:moveTo>
                  <a:lnTo>
                    <a:pt x="277368" y="7619"/>
                  </a:lnTo>
                </a:path>
                <a:path w="338455" h="276225">
                  <a:moveTo>
                    <a:pt x="307848" y="102107"/>
                  </a:moveTo>
                  <a:lnTo>
                    <a:pt x="307848" y="39623"/>
                  </a:lnTo>
                </a:path>
                <a:path w="338455" h="276225">
                  <a:moveTo>
                    <a:pt x="338328" y="102107"/>
                  </a:moveTo>
                  <a:lnTo>
                    <a:pt x="338328" y="7619"/>
                  </a:lnTo>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82" name="object 115">
              <a:extLst>
                <a:ext uri="{FF2B5EF4-FFF2-40B4-BE49-F238E27FC236}">
                  <a16:creationId xmlns:a16="http://schemas.microsoft.com/office/drawing/2014/main" id="{862F255D-1E6F-0B8A-8CE9-164C0A544AE8}"/>
                </a:ext>
              </a:extLst>
            </p:cNvPr>
            <p:cNvPicPr/>
            <p:nvPr/>
          </p:nvPicPr>
          <p:blipFill>
            <a:blip r:embed="rId17" cstate="print"/>
            <a:stretch>
              <a:fillRect/>
            </a:stretch>
          </p:blipFill>
          <p:spPr>
            <a:xfrm>
              <a:off x="2638044" y="2622804"/>
              <a:ext cx="149351" cy="121920"/>
            </a:xfrm>
            <a:prstGeom prst="rect">
              <a:avLst/>
            </a:prstGeom>
          </p:spPr>
        </p:pic>
        <p:sp>
          <p:nvSpPr>
            <p:cNvPr id="283" name="object 116">
              <a:extLst>
                <a:ext uri="{FF2B5EF4-FFF2-40B4-BE49-F238E27FC236}">
                  <a16:creationId xmlns:a16="http://schemas.microsoft.com/office/drawing/2014/main" id="{D2AF1502-3E75-8468-503F-7DB49B59C7AF}"/>
                </a:ext>
              </a:extLst>
            </p:cNvPr>
            <p:cNvSpPr/>
            <p:nvPr/>
          </p:nvSpPr>
          <p:spPr>
            <a:xfrm>
              <a:off x="2279904" y="2353056"/>
              <a:ext cx="315595" cy="218440"/>
            </a:xfrm>
            <a:custGeom>
              <a:avLst/>
              <a:gdLst/>
              <a:ahLst/>
              <a:cxnLst/>
              <a:rect l="l" t="t" r="r" b="b"/>
              <a:pathLst>
                <a:path w="315594" h="218439">
                  <a:moveTo>
                    <a:pt x="0" y="0"/>
                  </a:moveTo>
                  <a:lnTo>
                    <a:pt x="32003" y="0"/>
                  </a:lnTo>
                </a:path>
                <a:path w="315594" h="218439">
                  <a:moveTo>
                    <a:pt x="51815" y="0"/>
                  </a:moveTo>
                  <a:lnTo>
                    <a:pt x="83819" y="0"/>
                  </a:lnTo>
                </a:path>
                <a:path w="315594" h="218439">
                  <a:moveTo>
                    <a:pt x="105156" y="0"/>
                  </a:moveTo>
                  <a:lnTo>
                    <a:pt x="137159" y="0"/>
                  </a:lnTo>
                </a:path>
                <a:path w="315594" h="218439">
                  <a:moveTo>
                    <a:pt x="137159" y="217932"/>
                  </a:moveTo>
                  <a:lnTo>
                    <a:pt x="151891" y="217932"/>
                  </a:lnTo>
                  <a:lnTo>
                    <a:pt x="315468" y="217932"/>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grpSp>
        <p:nvGrpSpPr>
          <p:cNvPr id="284" name="object 117">
            <a:extLst>
              <a:ext uri="{FF2B5EF4-FFF2-40B4-BE49-F238E27FC236}">
                <a16:creationId xmlns:a16="http://schemas.microsoft.com/office/drawing/2014/main" id="{41919F36-ED6C-4AC7-0FAC-BCE0FBA6669B}"/>
              </a:ext>
            </a:extLst>
          </p:cNvPr>
          <p:cNvGrpSpPr/>
          <p:nvPr/>
        </p:nvGrpSpPr>
        <p:grpSpPr>
          <a:xfrm>
            <a:off x="3486322" y="6304556"/>
            <a:ext cx="1000760" cy="1107440"/>
            <a:chOff x="1708404" y="3281171"/>
            <a:chExt cx="500380" cy="553720"/>
          </a:xfrm>
        </p:grpSpPr>
        <p:sp>
          <p:nvSpPr>
            <p:cNvPr id="285" name="object 118">
              <a:extLst>
                <a:ext uri="{FF2B5EF4-FFF2-40B4-BE49-F238E27FC236}">
                  <a16:creationId xmlns:a16="http://schemas.microsoft.com/office/drawing/2014/main" id="{16AAE574-538E-5345-C13E-4B30AFB10DDD}"/>
                </a:ext>
              </a:extLst>
            </p:cNvPr>
            <p:cNvSpPr/>
            <p:nvPr/>
          </p:nvSpPr>
          <p:spPr>
            <a:xfrm>
              <a:off x="1716024" y="3380231"/>
              <a:ext cx="485140" cy="447040"/>
            </a:xfrm>
            <a:custGeom>
              <a:avLst/>
              <a:gdLst/>
              <a:ahLst/>
              <a:cxnLst/>
              <a:rect l="l" t="t" r="r" b="b"/>
              <a:pathLst>
                <a:path w="485139" h="447039">
                  <a:moveTo>
                    <a:pt x="484631" y="281939"/>
                  </a:moveTo>
                  <a:lnTo>
                    <a:pt x="478754" y="325705"/>
                  </a:lnTo>
                  <a:lnTo>
                    <a:pt x="462167" y="365026"/>
                  </a:lnTo>
                  <a:lnTo>
                    <a:pt x="436435" y="398335"/>
                  </a:lnTo>
                  <a:lnTo>
                    <a:pt x="403126" y="424067"/>
                  </a:lnTo>
                  <a:lnTo>
                    <a:pt x="363805" y="440654"/>
                  </a:lnTo>
                  <a:lnTo>
                    <a:pt x="320039" y="446531"/>
                  </a:lnTo>
                  <a:lnTo>
                    <a:pt x="276274" y="440654"/>
                  </a:lnTo>
                  <a:lnTo>
                    <a:pt x="236953" y="424067"/>
                  </a:lnTo>
                  <a:lnTo>
                    <a:pt x="203644" y="398335"/>
                  </a:lnTo>
                  <a:lnTo>
                    <a:pt x="177912" y="365026"/>
                  </a:lnTo>
                  <a:lnTo>
                    <a:pt x="161325" y="325705"/>
                  </a:lnTo>
                  <a:lnTo>
                    <a:pt x="155448" y="281939"/>
                  </a:lnTo>
                  <a:lnTo>
                    <a:pt x="161325" y="238174"/>
                  </a:lnTo>
                  <a:lnTo>
                    <a:pt x="177912" y="198853"/>
                  </a:lnTo>
                  <a:lnTo>
                    <a:pt x="203644" y="165544"/>
                  </a:lnTo>
                  <a:lnTo>
                    <a:pt x="236953" y="139812"/>
                  </a:lnTo>
                  <a:lnTo>
                    <a:pt x="276274" y="123225"/>
                  </a:lnTo>
                  <a:lnTo>
                    <a:pt x="320039" y="117347"/>
                  </a:lnTo>
                  <a:lnTo>
                    <a:pt x="363805" y="123225"/>
                  </a:lnTo>
                  <a:lnTo>
                    <a:pt x="403126" y="139812"/>
                  </a:lnTo>
                  <a:lnTo>
                    <a:pt x="436435" y="165544"/>
                  </a:lnTo>
                  <a:lnTo>
                    <a:pt x="462167" y="198853"/>
                  </a:lnTo>
                  <a:lnTo>
                    <a:pt x="478754" y="238174"/>
                  </a:lnTo>
                  <a:lnTo>
                    <a:pt x="484631" y="281939"/>
                  </a:lnTo>
                  <a:close/>
                </a:path>
                <a:path w="485139" h="447039">
                  <a:moveTo>
                    <a:pt x="266700" y="46735"/>
                  </a:moveTo>
                  <a:lnTo>
                    <a:pt x="256722" y="62942"/>
                  </a:lnTo>
                  <a:lnTo>
                    <a:pt x="228980" y="76184"/>
                  </a:lnTo>
                  <a:lnTo>
                    <a:pt x="186761" y="85115"/>
                  </a:lnTo>
                  <a:lnTo>
                    <a:pt x="133350" y="88391"/>
                  </a:lnTo>
                  <a:lnTo>
                    <a:pt x="79938" y="85115"/>
                  </a:lnTo>
                  <a:lnTo>
                    <a:pt x="37718" y="76184"/>
                  </a:lnTo>
                  <a:lnTo>
                    <a:pt x="9977" y="62942"/>
                  </a:lnTo>
                  <a:lnTo>
                    <a:pt x="0" y="46735"/>
                  </a:lnTo>
                  <a:lnTo>
                    <a:pt x="9977" y="29735"/>
                  </a:lnTo>
                  <a:lnTo>
                    <a:pt x="37718" y="14747"/>
                  </a:lnTo>
                  <a:lnTo>
                    <a:pt x="79938" y="4069"/>
                  </a:lnTo>
                  <a:lnTo>
                    <a:pt x="133350" y="0"/>
                  </a:lnTo>
                  <a:lnTo>
                    <a:pt x="186761" y="4069"/>
                  </a:lnTo>
                  <a:lnTo>
                    <a:pt x="228981" y="14747"/>
                  </a:lnTo>
                  <a:lnTo>
                    <a:pt x="256722" y="29735"/>
                  </a:lnTo>
                  <a:lnTo>
                    <a:pt x="266700" y="46735"/>
                  </a:lnTo>
                  <a:close/>
                </a:path>
                <a:path w="485139" h="447039">
                  <a:moveTo>
                    <a:pt x="0" y="129539"/>
                  </a:moveTo>
                  <a:lnTo>
                    <a:pt x="9951" y="145559"/>
                  </a:lnTo>
                  <a:lnTo>
                    <a:pt x="37607" y="158638"/>
                  </a:lnTo>
                  <a:lnTo>
                    <a:pt x="79670" y="167455"/>
                  </a:lnTo>
                  <a:lnTo>
                    <a:pt x="132842" y="170687"/>
                  </a:lnTo>
                  <a:lnTo>
                    <a:pt x="170687" y="170687"/>
                  </a:lnTo>
                </a:path>
                <a:path w="485139" h="447039">
                  <a:moveTo>
                    <a:pt x="132587" y="252983"/>
                  </a:moveTo>
                  <a:lnTo>
                    <a:pt x="79509" y="249638"/>
                  </a:lnTo>
                  <a:lnTo>
                    <a:pt x="37528" y="240506"/>
                  </a:lnTo>
                  <a:lnTo>
                    <a:pt x="9929" y="226945"/>
                  </a:lnTo>
                  <a:lnTo>
                    <a:pt x="0" y="210312"/>
                  </a:lnTo>
                </a:path>
                <a:path w="485139" h="447039">
                  <a:moveTo>
                    <a:pt x="0" y="44195"/>
                  </a:moveTo>
                  <a:lnTo>
                    <a:pt x="0" y="288035"/>
                  </a:lnTo>
                </a:path>
                <a:path w="485139" h="447039">
                  <a:moveTo>
                    <a:pt x="266700" y="45719"/>
                  </a:moveTo>
                  <a:lnTo>
                    <a:pt x="266700" y="103631"/>
                  </a:lnTo>
                </a:path>
                <a:path w="485139" h="447039">
                  <a:moveTo>
                    <a:pt x="138683" y="329183"/>
                  </a:moveTo>
                  <a:lnTo>
                    <a:pt x="84599" y="325838"/>
                  </a:lnTo>
                  <a:lnTo>
                    <a:pt x="40528" y="316706"/>
                  </a:lnTo>
                  <a:lnTo>
                    <a:pt x="10864" y="303145"/>
                  </a:lnTo>
                  <a:lnTo>
                    <a:pt x="0" y="286511"/>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86" name="object 119">
              <a:extLst>
                <a:ext uri="{FF2B5EF4-FFF2-40B4-BE49-F238E27FC236}">
                  <a16:creationId xmlns:a16="http://schemas.microsoft.com/office/drawing/2014/main" id="{563C0EEF-DB66-D05F-98F5-FAA4BDE576F7}"/>
                </a:ext>
              </a:extLst>
            </p:cNvPr>
            <p:cNvSpPr/>
            <p:nvPr/>
          </p:nvSpPr>
          <p:spPr>
            <a:xfrm>
              <a:off x="1946148" y="3281171"/>
              <a:ext cx="238125" cy="445134"/>
            </a:xfrm>
            <a:custGeom>
              <a:avLst/>
              <a:gdLst/>
              <a:ahLst/>
              <a:cxnLst/>
              <a:rect l="l" t="t" r="r" b="b"/>
              <a:pathLst>
                <a:path w="238125" h="445135">
                  <a:moveTo>
                    <a:pt x="204215" y="50291"/>
                  </a:moveTo>
                  <a:lnTo>
                    <a:pt x="204215" y="91820"/>
                  </a:lnTo>
                  <a:lnTo>
                    <a:pt x="237744" y="125222"/>
                  </a:lnTo>
                  <a:lnTo>
                    <a:pt x="237744" y="248412"/>
                  </a:lnTo>
                </a:path>
                <a:path w="238125" h="445135">
                  <a:moveTo>
                    <a:pt x="187451" y="192024"/>
                  </a:moveTo>
                  <a:lnTo>
                    <a:pt x="187451" y="214883"/>
                  </a:lnTo>
                </a:path>
                <a:path w="238125" h="445135">
                  <a:moveTo>
                    <a:pt x="137159" y="195072"/>
                  </a:moveTo>
                  <a:lnTo>
                    <a:pt x="137159" y="25907"/>
                  </a:lnTo>
                </a:path>
                <a:path w="238125" h="445135">
                  <a:moveTo>
                    <a:pt x="68579" y="195072"/>
                  </a:moveTo>
                  <a:lnTo>
                    <a:pt x="68579" y="108203"/>
                  </a:lnTo>
                </a:path>
                <a:path w="238125" h="445135">
                  <a:moveTo>
                    <a:pt x="103631" y="192024"/>
                  </a:moveTo>
                  <a:lnTo>
                    <a:pt x="103631" y="158495"/>
                  </a:lnTo>
                </a:path>
                <a:path w="238125" h="445135">
                  <a:moveTo>
                    <a:pt x="187451" y="175260"/>
                  </a:moveTo>
                  <a:lnTo>
                    <a:pt x="187451" y="158495"/>
                  </a:lnTo>
                </a:path>
                <a:path w="238125" h="445135">
                  <a:moveTo>
                    <a:pt x="187451" y="141731"/>
                  </a:moveTo>
                  <a:lnTo>
                    <a:pt x="187451" y="124967"/>
                  </a:lnTo>
                </a:path>
                <a:path w="238125" h="445135">
                  <a:moveTo>
                    <a:pt x="103631" y="124967"/>
                  </a:moveTo>
                  <a:lnTo>
                    <a:pt x="103631" y="0"/>
                  </a:lnTo>
                </a:path>
                <a:path w="238125" h="445135">
                  <a:moveTo>
                    <a:pt x="68579" y="33527"/>
                  </a:moveTo>
                  <a:lnTo>
                    <a:pt x="68579" y="50291"/>
                  </a:lnTo>
                </a:path>
                <a:path w="238125" h="445135">
                  <a:moveTo>
                    <a:pt x="0" y="393572"/>
                  </a:moveTo>
                  <a:lnTo>
                    <a:pt x="51434" y="445007"/>
                  </a:lnTo>
                  <a:lnTo>
                    <a:pt x="178307" y="318515"/>
                  </a:lnTo>
                </a:path>
              </a:pathLst>
            </a:custGeom>
            <a:ln w="15240">
              <a:solidFill>
                <a:srgbClr val="1F74D4"/>
              </a:solidFill>
            </a:ln>
          </p:spPr>
          <p:txBody>
            <a:bodyPr wrap="square" lIns="0" tIns="0" rIns="0" bIns="0" rtlCol="0"/>
            <a:lstStyle/>
            <a:p>
              <a:pPr defTabSz="1828800">
                <a:defRPr/>
              </a:pPr>
              <a:endParaRPr sz="3600" kern="0">
                <a:solidFill>
                  <a:sysClr val="windowText" lastClr="000000"/>
                </a:solidFill>
                <a:latin typeface="Arial"/>
              </a:endParaRPr>
            </a:p>
          </p:txBody>
        </p:sp>
      </p:grpSp>
      <p:sp>
        <p:nvSpPr>
          <p:cNvPr id="287" name="object 120">
            <a:extLst>
              <a:ext uri="{FF2B5EF4-FFF2-40B4-BE49-F238E27FC236}">
                <a16:creationId xmlns:a16="http://schemas.microsoft.com/office/drawing/2014/main" id="{5500AB73-84D5-5027-4B33-BF67421D2049}"/>
              </a:ext>
            </a:extLst>
          </p:cNvPr>
          <p:cNvSpPr txBox="1"/>
          <p:nvPr/>
        </p:nvSpPr>
        <p:spPr>
          <a:xfrm>
            <a:off x="17970442" y="7149408"/>
            <a:ext cx="1369060" cy="679673"/>
          </a:xfrm>
          <a:prstGeom prst="rect">
            <a:avLst/>
          </a:prstGeom>
        </p:spPr>
        <p:txBody>
          <a:bodyPr vert="horz" wrap="square" lIns="0" tIns="63500" rIns="0" bIns="0" rtlCol="0">
            <a:spAutoFit/>
          </a:bodyPr>
          <a:lstStyle/>
          <a:p>
            <a:pPr marL="25400" marR="10160" defTabSz="1828800">
              <a:lnSpc>
                <a:spcPts val="2380"/>
              </a:lnSpc>
              <a:spcBef>
                <a:spcPts val="500"/>
              </a:spcBef>
              <a:defRPr/>
            </a:pPr>
            <a:r>
              <a:rPr sz="2200" kern="0">
                <a:solidFill>
                  <a:srgbClr val="222E3D"/>
                </a:solidFill>
                <a:latin typeface="Arial"/>
                <a:cs typeface="Trebuchet MS"/>
              </a:rPr>
              <a:t>Operate</a:t>
            </a:r>
            <a:r>
              <a:rPr sz="2200" kern="0" spc="40">
                <a:solidFill>
                  <a:srgbClr val="222E3D"/>
                </a:solidFill>
                <a:latin typeface="Arial"/>
                <a:cs typeface="Trebuchet MS"/>
              </a:rPr>
              <a:t> </a:t>
            </a:r>
            <a:r>
              <a:rPr sz="2200" kern="0" spc="-100">
                <a:solidFill>
                  <a:srgbClr val="222E3D"/>
                </a:solidFill>
                <a:latin typeface="Arial"/>
                <a:cs typeface="Trebuchet MS"/>
              </a:rPr>
              <a:t>&amp; </a:t>
            </a:r>
            <a:r>
              <a:rPr lang="en-GB" sz="2200" kern="0" spc="-20">
                <a:solidFill>
                  <a:srgbClr val="222E3D"/>
                </a:solidFill>
                <a:latin typeface="Arial"/>
                <a:cs typeface="Trebuchet MS"/>
              </a:rPr>
              <a:t>Optimise</a:t>
            </a:r>
            <a:endParaRPr sz="2200" kern="0">
              <a:solidFill>
                <a:sysClr val="windowText" lastClr="000000"/>
              </a:solidFill>
              <a:latin typeface="Arial"/>
              <a:cs typeface="Trebuchet MS"/>
            </a:endParaRPr>
          </a:p>
        </p:txBody>
      </p:sp>
      <p:sp>
        <p:nvSpPr>
          <p:cNvPr id="288" name="object 121">
            <a:extLst>
              <a:ext uri="{FF2B5EF4-FFF2-40B4-BE49-F238E27FC236}">
                <a16:creationId xmlns:a16="http://schemas.microsoft.com/office/drawing/2014/main" id="{84CC36F9-EEA1-6087-9353-E551FC28885C}"/>
              </a:ext>
            </a:extLst>
          </p:cNvPr>
          <p:cNvSpPr txBox="1"/>
          <p:nvPr/>
        </p:nvSpPr>
        <p:spPr>
          <a:xfrm>
            <a:off x="17970443" y="4936714"/>
            <a:ext cx="1023618" cy="365485"/>
          </a:xfrm>
          <a:prstGeom prst="rect">
            <a:avLst/>
          </a:prstGeom>
        </p:spPr>
        <p:txBody>
          <a:bodyPr vert="horz" wrap="square" lIns="0" tIns="26670" rIns="0" bIns="0" rtlCol="0">
            <a:spAutoFit/>
          </a:bodyPr>
          <a:lstStyle/>
          <a:p>
            <a:pPr marL="25400" defTabSz="1828800">
              <a:spcBef>
                <a:spcPts val="210"/>
              </a:spcBef>
              <a:defRPr/>
            </a:pPr>
            <a:r>
              <a:rPr sz="2200" kern="0" spc="-20">
                <a:solidFill>
                  <a:srgbClr val="222E3D"/>
                </a:solidFill>
                <a:latin typeface="Arial"/>
                <a:cs typeface="Trebuchet MS"/>
              </a:rPr>
              <a:t>Migrate</a:t>
            </a:r>
            <a:endParaRPr sz="2200" kern="0">
              <a:solidFill>
                <a:sysClr val="windowText" lastClr="000000"/>
              </a:solidFill>
              <a:latin typeface="Arial"/>
              <a:cs typeface="Trebuchet MS"/>
            </a:endParaRPr>
          </a:p>
        </p:txBody>
      </p:sp>
      <p:sp>
        <p:nvSpPr>
          <p:cNvPr id="289" name="object 122">
            <a:extLst>
              <a:ext uri="{FF2B5EF4-FFF2-40B4-BE49-F238E27FC236}">
                <a16:creationId xmlns:a16="http://schemas.microsoft.com/office/drawing/2014/main" id="{E4F876C7-A202-4E25-44E0-F0A9FC3D7168}"/>
              </a:ext>
            </a:extLst>
          </p:cNvPr>
          <p:cNvSpPr txBox="1"/>
          <p:nvPr/>
        </p:nvSpPr>
        <p:spPr>
          <a:xfrm>
            <a:off x="17970442" y="9075745"/>
            <a:ext cx="1381760" cy="364202"/>
          </a:xfrm>
          <a:prstGeom prst="rect">
            <a:avLst/>
          </a:prstGeom>
        </p:spPr>
        <p:txBody>
          <a:bodyPr vert="horz" wrap="square" lIns="0" tIns="25400" rIns="0" bIns="0" rtlCol="0">
            <a:spAutoFit/>
          </a:bodyPr>
          <a:lstStyle/>
          <a:p>
            <a:pPr marL="25400" defTabSz="1828800">
              <a:spcBef>
                <a:spcPts val="200"/>
              </a:spcBef>
              <a:defRPr/>
            </a:pPr>
            <a:r>
              <a:rPr sz="2200" kern="0" spc="-20">
                <a:solidFill>
                  <a:srgbClr val="222E3D"/>
                </a:solidFill>
                <a:latin typeface="Arial"/>
                <a:cs typeface="Trebuchet MS"/>
              </a:rPr>
              <a:t>Modernize</a:t>
            </a:r>
            <a:endParaRPr sz="2200" kern="0">
              <a:solidFill>
                <a:sysClr val="windowText" lastClr="000000"/>
              </a:solidFill>
              <a:latin typeface="Arial"/>
              <a:cs typeface="Trebuchet MS"/>
            </a:endParaRPr>
          </a:p>
        </p:txBody>
      </p:sp>
      <p:grpSp>
        <p:nvGrpSpPr>
          <p:cNvPr id="290" name="object 123">
            <a:extLst>
              <a:ext uri="{FF2B5EF4-FFF2-40B4-BE49-F238E27FC236}">
                <a16:creationId xmlns:a16="http://schemas.microsoft.com/office/drawing/2014/main" id="{913191E6-F7DF-145E-BBB6-D534D90603CA}"/>
              </a:ext>
            </a:extLst>
          </p:cNvPr>
          <p:cNvGrpSpPr/>
          <p:nvPr/>
        </p:nvGrpSpPr>
        <p:grpSpPr>
          <a:xfrm>
            <a:off x="19834220" y="6901342"/>
            <a:ext cx="1226820" cy="1249680"/>
            <a:chOff x="9891231" y="3597320"/>
            <a:chExt cx="613410" cy="624840"/>
          </a:xfrm>
        </p:grpSpPr>
        <p:sp>
          <p:nvSpPr>
            <p:cNvPr id="291" name="object 124">
              <a:extLst>
                <a:ext uri="{FF2B5EF4-FFF2-40B4-BE49-F238E27FC236}">
                  <a16:creationId xmlns:a16="http://schemas.microsoft.com/office/drawing/2014/main" id="{74EE2030-09D0-C269-6AF5-FD4C987EC63C}"/>
                </a:ext>
              </a:extLst>
            </p:cNvPr>
            <p:cNvSpPr/>
            <p:nvPr/>
          </p:nvSpPr>
          <p:spPr>
            <a:xfrm>
              <a:off x="9898851" y="3604940"/>
              <a:ext cx="545465" cy="529590"/>
            </a:xfrm>
            <a:custGeom>
              <a:avLst/>
              <a:gdLst/>
              <a:ahLst/>
              <a:cxnLst/>
              <a:rect l="l" t="t" r="r" b="b"/>
              <a:pathLst>
                <a:path w="545465" h="529589">
                  <a:moveTo>
                    <a:pt x="4607" y="357967"/>
                  </a:moveTo>
                  <a:lnTo>
                    <a:pt x="15065" y="400597"/>
                  </a:lnTo>
                  <a:lnTo>
                    <a:pt x="33404" y="445359"/>
                  </a:lnTo>
                  <a:lnTo>
                    <a:pt x="61793" y="489287"/>
                  </a:lnTo>
                  <a:lnTo>
                    <a:pt x="102397" y="529417"/>
                  </a:lnTo>
                </a:path>
                <a:path w="545465" h="529589">
                  <a:moveTo>
                    <a:pt x="162214" y="34879"/>
                  </a:moveTo>
                  <a:lnTo>
                    <a:pt x="116196" y="64740"/>
                  </a:lnTo>
                  <a:lnTo>
                    <a:pt x="84641" y="93685"/>
                  </a:lnTo>
                  <a:lnTo>
                    <a:pt x="55344" y="129240"/>
                  </a:lnTo>
                  <a:lnTo>
                    <a:pt x="30322" y="170933"/>
                  </a:lnTo>
                  <a:lnTo>
                    <a:pt x="11595" y="218293"/>
                  </a:lnTo>
                  <a:lnTo>
                    <a:pt x="1178" y="270845"/>
                  </a:lnTo>
                  <a:lnTo>
                    <a:pt x="0" y="299241"/>
                  </a:lnTo>
                  <a:lnTo>
                    <a:pt x="797" y="318851"/>
                  </a:lnTo>
                </a:path>
                <a:path w="545465" h="529589">
                  <a:moveTo>
                    <a:pt x="545246" y="129748"/>
                  </a:moveTo>
                  <a:lnTo>
                    <a:pt x="522024" y="99517"/>
                  </a:lnTo>
                  <a:lnTo>
                    <a:pt x="491317" y="70258"/>
                  </a:lnTo>
                  <a:lnTo>
                    <a:pt x="453987" y="43824"/>
                  </a:lnTo>
                  <a:lnTo>
                    <a:pt x="410896" y="22068"/>
                  </a:lnTo>
                  <a:lnTo>
                    <a:pt x="362906" y="6842"/>
                  </a:lnTo>
                  <a:lnTo>
                    <a:pt x="310878" y="0"/>
                  </a:lnTo>
                  <a:lnTo>
                    <a:pt x="255674" y="3394"/>
                  </a:lnTo>
                  <a:lnTo>
                    <a:pt x="198155" y="18877"/>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92" name="object 125">
              <a:extLst>
                <a:ext uri="{FF2B5EF4-FFF2-40B4-BE49-F238E27FC236}">
                  <a16:creationId xmlns:a16="http://schemas.microsoft.com/office/drawing/2014/main" id="{263DD044-1A93-B8AB-3486-6846B4E2A972}"/>
                </a:ext>
              </a:extLst>
            </p:cNvPr>
            <p:cNvSpPr/>
            <p:nvPr/>
          </p:nvSpPr>
          <p:spPr>
            <a:xfrm>
              <a:off x="10401299" y="3692652"/>
              <a:ext cx="53975" cy="48895"/>
            </a:xfrm>
            <a:custGeom>
              <a:avLst/>
              <a:gdLst/>
              <a:ahLst/>
              <a:cxnLst/>
              <a:rect l="l" t="t" r="r" b="b"/>
              <a:pathLst>
                <a:path w="53975" h="48895">
                  <a:moveTo>
                    <a:pt x="45847" y="0"/>
                  </a:moveTo>
                  <a:lnTo>
                    <a:pt x="40258" y="38989"/>
                  </a:lnTo>
                  <a:lnTo>
                    <a:pt x="1524" y="30606"/>
                  </a:lnTo>
                  <a:lnTo>
                    <a:pt x="0" y="38227"/>
                  </a:lnTo>
                  <a:lnTo>
                    <a:pt x="47117" y="48514"/>
                  </a:lnTo>
                  <a:lnTo>
                    <a:pt x="53975" y="1143"/>
                  </a:lnTo>
                  <a:lnTo>
                    <a:pt x="45847" y="0"/>
                  </a:lnTo>
                  <a:close/>
                </a:path>
              </a:pathLst>
            </a:custGeom>
            <a:solidFill>
              <a:srgbClr val="000000"/>
            </a:solidFill>
          </p:spPr>
          <p:txBody>
            <a:bodyPr wrap="square" lIns="0" tIns="0" rIns="0" bIns="0" rtlCol="0"/>
            <a:lstStyle/>
            <a:p>
              <a:pPr defTabSz="1828800">
                <a:defRPr/>
              </a:pPr>
              <a:endParaRPr sz="3600" kern="0">
                <a:solidFill>
                  <a:sysClr val="windowText" lastClr="000000"/>
                </a:solidFill>
                <a:latin typeface="Arial"/>
              </a:endParaRPr>
            </a:p>
          </p:txBody>
        </p:sp>
        <p:sp>
          <p:nvSpPr>
            <p:cNvPr id="293" name="object 126">
              <a:extLst>
                <a:ext uri="{FF2B5EF4-FFF2-40B4-BE49-F238E27FC236}">
                  <a16:creationId xmlns:a16="http://schemas.microsoft.com/office/drawing/2014/main" id="{925E177A-BA3F-8311-5885-ABDE3AF4075F}"/>
                </a:ext>
              </a:extLst>
            </p:cNvPr>
            <p:cNvSpPr/>
            <p:nvPr/>
          </p:nvSpPr>
          <p:spPr>
            <a:xfrm>
              <a:off x="10401299" y="3692652"/>
              <a:ext cx="53975" cy="48895"/>
            </a:xfrm>
            <a:custGeom>
              <a:avLst/>
              <a:gdLst/>
              <a:ahLst/>
              <a:cxnLst/>
              <a:rect l="l" t="t" r="r" b="b"/>
              <a:pathLst>
                <a:path w="53975" h="48895">
                  <a:moveTo>
                    <a:pt x="53975" y="1143"/>
                  </a:moveTo>
                  <a:lnTo>
                    <a:pt x="45847" y="0"/>
                  </a:lnTo>
                  <a:lnTo>
                    <a:pt x="40258" y="38989"/>
                  </a:lnTo>
                  <a:lnTo>
                    <a:pt x="1524" y="30606"/>
                  </a:lnTo>
                  <a:lnTo>
                    <a:pt x="0" y="38227"/>
                  </a:lnTo>
                  <a:lnTo>
                    <a:pt x="47117" y="48514"/>
                  </a:lnTo>
                  <a:lnTo>
                    <a:pt x="53975" y="1143"/>
                  </a:lnTo>
                  <a:close/>
                </a:path>
              </a:pathLst>
            </a:custGeom>
            <a:ln w="6095">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94" name="object 127">
              <a:extLst>
                <a:ext uri="{FF2B5EF4-FFF2-40B4-BE49-F238E27FC236}">
                  <a16:creationId xmlns:a16="http://schemas.microsoft.com/office/drawing/2014/main" id="{3BB652BC-BEEE-A20F-8D13-24A0BD2BCC7D}"/>
                </a:ext>
              </a:extLst>
            </p:cNvPr>
            <p:cNvSpPr/>
            <p:nvPr/>
          </p:nvSpPr>
          <p:spPr>
            <a:xfrm>
              <a:off x="10072623" y="3818128"/>
              <a:ext cx="424815" cy="389255"/>
            </a:xfrm>
            <a:custGeom>
              <a:avLst/>
              <a:gdLst/>
              <a:ahLst/>
              <a:cxnLst/>
              <a:rect l="l" t="t" r="r" b="b"/>
              <a:pathLst>
                <a:path w="424815" h="389254">
                  <a:moveTo>
                    <a:pt x="423925" y="105791"/>
                  </a:moveTo>
                  <a:lnTo>
                    <a:pt x="424265" y="80617"/>
                  </a:lnTo>
                  <a:lnTo>
                    <a:pt x="422354" y="54514"/>
                  </a:lnTo>
                  <a:lnTo>
                    <a:pt x="418085" y="27602"/>
                  </a:lnTo>
                  <a:lnTo>
                    <a:pt x="411352" y="0"/>
                  </a:lnTo>
                </a:path>
                <a:path w="424815" h="389254">
                  <a:moveTo>
                    <a:pt x="402208" y="202565"/>
                  </a:moveTo>
                  <a:lnTo>
                    <a:pt x="408626" y="185332"/>
                  </a:lnTo>
                  <a:lnTo>
                    <a:pt x="414115" y="167386"/>
                  </a:lnTo>
                  <a:lnTo>
                    <a:pt x="418603" y="148772"/>
                  </a:lnTo>
                  <a:lnTo>
                    <a:pt x="422021" y="129540"/>
                  </a:lnTo>
                </a:path>
                <a:path w="424815" h="389254">
                  <a:moveTo>
                    <a:pt x="0" y="360553"/>
                  </a:moveTo>
                  <a:lnTo>
                    <a:pt x="39748" y="375948"/>
                  </a:lnTo>
                  <a:lnTo>
                    <a:pt x="82700" y="385797"/>
                  </a:lnTo>
                  <a:lnTo>
                    <a:pt x="128333" y="388937"/>
                  </a:lnTo>
                  <a:lnTo>
                    <a:pt x="176125" y="384203"/>
                  </a:lnTo>
                  <a:lnTo>
                    <a:pt x="225554" y="370430"/>
                  </a:lnTo>
                  <a:lnTo>
                    <a:pt x="276098" y="346456"/>
                  </a:lnTo>
                  <a:lnTo>
                    <a:pt x="335772" y="299862"/>
                  </a:lnTo>
                  <a:lnTo>
                    <a:pt x="363805" y="267714"/>
                  </a:lnTo>
                  <a:lnTo>
                    <a:pt x="388493" y="230124"/>
                  </a:lnTo>
                </a:path>
              </a:pathLst>
            </a:custGeom>
            <a:ln w="15240">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95" name="object 128">
              <a:extLst>
                <a:ext uri="{FF2B5EF4-FFF2-40B4-BE49-F238E27FC236}">
                  <a16:creationId xmlns:a16="http://schemas.microsoft.com/office/drawing/2014/main" id="{96F1164F-263C-F8CB-69B9-3FFBE432C228}"/>
                </a:ext>
              </a:extLst>
            </p:cNvPr>
            <p:cNvSpPr/>
            <p:nvPr/>
          </p:nvSpPr>
          <p:spPr>
            <a:xfrm>
              <a:off x="10064495" y="4158996"/>
              <a:ext cx="48260" cy="60325"/>
            </a:xfrm>
            <a:custGeom>
              <a:avLst/>
              <a:gdLst/>
              <a:ahLst/>
              <a:cxnLst/>
              <a:rect l="l" t="t" r="r" b="b"/>
              <a:pathLst>
                <a:path w="48259" h="60325">
                  <a:moveTo>
                    <a:pt x="45338" y="0"/>
                  </a:moveTo>
                  <a:lnTo>
                    <a:pt x="0" y="15493"/>
                  </a:lnTo>
                  <a:lnTo>
                    <a:pt x="18669" y="59943"/>
                  </a:lnTo>
                  <a:lnTo>
                    <a:pt x="26288" y="56768"/>
                  </a:lnTo>
                  <a:lnTo>
                    <a:pt x="10668" y="20319"/>
                  </a:lnTo>
                  <a:lnTo>
                    <a:pt x="47751" y="7492"/>
                  </a:lnTo>
                  <a:lnTo>
                    <a:pt x="45338" y="0"/>
                  </a:lnTo>
                  <a:close/>
                </a:path>
              </a:pathLst>
            </a:custGeom>
            <a:solidFill>
              <a:srgbClr val="000000"/>
            </a:solidFill>
          </p:spPr>
          <p:txBody>
            <a:bodyPr wrap="square" lIns="0" tIns="0" rIns="0" bIns="0" rtlCol="0"/>
            <a:lstStyle/>
            <a:p>
              <a:pPr defTabSz="1828800">
                <a:defRPr/>
              </a:pPr>
              <a:endParaRPr sz="3600" kern="0">
                <a:solidFill>
                  <a:sysClr val="windowText" lastClr="000000"/>
                </a:solidFill>
                <a:latin typeface="Arial"/>
              </a:endParaRPr>
            </a:p>
          </p:txBody>
        </p:sp>
        <p:sp>
          <p:nvSpPr>
            <p:cNvPr id="296" name="object 129">
              <a:extLst>
                <a:ext uri="{FF2B5EF4-FFF2-40B4-BE49-F238E27FC236}">
                  <a16:creationId xmlns:a16="http://schemas.microsoft.com/office/drawing/2014/main" id="{72BB74E6-EF3A-C170-CBD6-0AA72E142D3C}"/>
                </a:ext>
              </a:extLst>
            </p:cNvPr>
            <p:cNvSpPr/>
            <p:nvPr/>
          </p:nvSpPr>
          <p:spPr>
            <a:xfrm>
              <a:off x="10064495" y="4158996"/>
              <a:ext cx="48260" cy="60325"/>
            </a:xfrm>
            <a:custGeom>
              <a:avLst/>
              <a:gdLst/>
              <a:ahLst/>
              <a:cxnLst/>
              <a:rect l="l" t="t" r="r" b="b"/>
              <a:pathLst>
                <a:path w="48259" h="60325">
                  <a:moveTo>
                    <a:pt x="18669" y="59943"/>
                  </a:moveTo>
                  <a:lnTo>
                    <a:pt x="26288" y="56768"/>
                  </a:lnTo>
                  <a:lnTo>
                    <a:pt x="10668" y="20319"/>
                  </a:lnTo>
                  <a:lnTo>
                    <a:pt x="47751" y="7492"/>
                  </a:lnTo>
                  <a:lnTo>
                    <a:pt x="45338" y="0"/>
                  </a:lnTo>
                  <a:lnTo>
                    <a:pt x="0" y="15493"/>
                  </a:lnTo>
                  <a:lnTo>
                    <a:pt x="18669" y="59943"/>
                  </a:lnTo>
                  <a:close/>
                </a:path>
              </a:pathLst>
            </a:custGeom>
            <a:ln w="6095">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297" name="object 130">
              <a:extLst>
                <a:ext uri="{FF2B5EF4-FFF2-40B4-BE49-F238E27FC236}">
                  <a16:creationId xmlns:a16="http://schemas.microsoft.com/office/drawing/2014/main" id="{D37CC468-C960-A8FE-57FE-D8D8517059F3}"/>
                </a:ext>
              </a:extLst>
            </p:cNvPr>
            <p:cNvSpPr/>
            <p:nvPr/>
          </p:nvSpPr>
          <p:spPr>
            <a:xfrm>
              <a:off x="10042524" y="3745357"/>
              <a:ext cx="323850" cy="323850"/>
            </a:xfrm>
            <a:custGeom>
              <a:avLst/>
              <a:gdLst/>
              <a:ahLst/>
              <a:cxnLst/>
              <a:rect l="l" t="t" r="r" b="b"/>
              <a:pathLst>
                <a:path w="323850" h="323850">
                  <a:moveTo>
                    <a:pt x="30099" y="256413"/>
                  </a:moveTo>
                  <a:lnTo>
                    <a:pt x="36829" y="263779"/>
                  </a:lnTo>
                  <a:lnTo>
                    <a:pt x="43560" y="271145"/>
                  </a:lnTo>
                  <a:lnTo>
                    <a:pt x="50165" y="278511"/>
                  </a:lnTo>
                  <a:lnTo>
                    <a:pt x="94996" y="255651"/>
                  </a:lnTo>
                  <a:lnTo>
                    <a:pt x="102713" y="260439"/>
                  </a:lnTo>
                  <a:lnTo>
                    <a:pt x="110632" y="264715"/>
                  </a:lnTo>
                  <a:lnTo>
                    <a:pt x="118766" y="268491"/>
                  </a:lnTo>
                  <a:lnTo>
                    <a:pt x="127126" y="271780"/>
                  </a:lnTo>
                  <a:lnTo>
                    <a:pt x="135890" y="321310"/>
                  </a:lnTo>
                  <a:lnTo>
                    <a:pt x="145923" y="321945"/>
                  </a:lnTo>
                  <a:lnTo>
                    <a:pt x="155955" y="322580"/>
                  </a:lnTo>
                  <a:lnTo>
                    <a:pt x="165989" y="323342"/>
                  </a:lnTo>
                  <a:lnTo>
                    <a:pt x="181355" y="275082"/>
                  </a:lnTo>
                  <a:lnTo>
                    <a:pt x="189916" y="273208"/>
                  </a:lnTo>
                  <a:lnTo>
                    <a:pt x="198405" y="270668"/>
                  </a:lnTo>
                  <a:lnTo>
                    <a:pt x="206752" y="267509"/>
                  </a:lnTo>
                  <a:lnTo>
                    <a:pt x="214883" y="263779"/>
                  </a:lnTo>
                  <a:lnTo>
                    <a:pt x="256413" y="292481"/>
                  </a:lnTo>
                  <a:lnTo>
                    <a:pt x="263778" y="285877"/>
                  </a:lnTo>
                  <a:lnTo>
                    <a:pt x="271145" y="279146"/>
                  </a:lnTo>
                  <a:lnTo>
                    <a:pt x="278510" y="272415"/>
                  </a:lnTo>
                  <a:lnTo>
                    <a:pt x="255650" y="227584"/>
                  </a:lnTo>
                  <a:lnTo>
                    <a:pt x="260439" y="219948"/>
                  </a:lnTo>
                  <a:lnTo>
                    <a:pt x="264715" y="212121"/>
                  </a:lnTo>
                  <a:lnTo>
                    <a:pt x="268491" y="204152"/>
                  </a:lnTo>
                  <a:lnTo>
                    <a:pt x="271779" y="196088"/>
                  </a:lnTo>
                  <a:lnTo>
                    <a:pt x="321309" y="187452"/>
                  </a:lnTo>
                  <a:lnTo>
                    <a:pt x="321945" y="177419"/>
                  </a:lnTo>
                  <a:lnTo>
                    <a:pt x="322579" y="167386"/>
                  </a:lnTo>
                  <a:lnTo>
                    <a:pt x="323342" y="157353"/>
                  </a:lnTo>
                  <a:lnTo>
                    <a:pt x="275081" y="141859"/>
                  </a:lnTo>
                  <a:lnTo>
                    <a:pt x="273208" y="133371"/>
                  </a:lnTo>
                  <a:lnTo>
                    <a:pt x="270668" y="124920"/>
                  </a:lnTo>
                  <a:lnTo>
                    <a:pt x="267509" y="116587"/>
                  </a:lnTo>
                  <a:lnTo>
                    <a:pt x="263778" y="108458"/>
                  </a:lnTo>
                  <a:lnTo>
                    <a:pt x="292480" y="66929"/>
                  </a:lnTo>
                  <a:lnTo>
                    <a:pt x="285876" y="59563"/>
                  </a:lnTo>
                  <a:lnTo>
                    <a:pt x="279146" y="52197"/>
                  </a:lnTo>
                  <a:lnTo>
                    <a:pt x="272415" y="44831"/>
                  </a:lnTo>
                  <a:lnTo>
                    <a:pt x="227583" y="67564"/>
                  </a:lnTo>
                  <a:lnTo>
                    <a:pt x="219938" y="62527"/>
                  </a:lnTo>
                  <a:lnTo>
                    <a:pt x="212042" y="58324"/>
                  </a:lnTo>
                  <a:lnTo>
                    <a:pt x="203884" y="54740"/>
                  </a:lnTo>
                  <a:lnTo>
                    <a:pt x="195452" y="51562"/>
                  </a:lnTo>
                  <a:lnTo>
                    <a:pt x="186817" y="2032"/>
                  </a:lnTo>
                  <a:lnTo>
                    <a:pt x="176783" y="1397"/>
                  </a:lnTo>
                  <a:lnTo>
                    <a:pt x="166624" y="635"/>
                  </a:lnTo>
                  <a:lnTo>
                    <a:pt x="156591" y="0"/>
                  </a:lnTo>
                  <a:lnTo>
                    <a:pt x="141224" y="47498"/>
                  </a:lnTo>
                  <a:lnTo>
                    <a:pt x="132314" y="49391"/>
                  </a:lnTo>
                  <a:lnTo>
                    <a:pt x="123666" y="51974"/>
                  </a:lnTo>
                  <a:lnTo>
                    <a:pt x="115256" y="55177"/>
                  </a:lnTo>
                  <a:lnTo>
                    <a:pt x="107060" y="58928"/>
                  </a:lnTo>
                  <a:lnTo>
                    <a:pt x="66294" y="30099"/>
                  </a:lnTo>
                  <a:lnTo>
                    <a:pt x="58927" y="36830"/>
                  </a:lnTo>
                  <a:lnTo>
                    <a:pt x="51561" y="43561"/>
                  </a:lnTo>
                  <a:lnTo>
                    <a:pt x="44196" y="50165"/>
                  </a:lnTo>
                  <a:lnTo>
                    <a:pt x="66928" y="94361"/>
                  </a:lnTo>
                  <a:lnTo>
                    <a:pt x="61785" y="102024"/>
                  </a:lnTo>
                  <a:lnTo>
                    <a:pt x="57403" y="109950"/>
                  </a:lnTo>
                  <a:lnTo>
                    <a:pt x="53784" y="118113"/>
                  </a:lnTo>
                  <a:lnTo>
                    <a:pt x="50926" y="126492"/>
                  </a:lnTo>
                  <a:lnTo>
                    <a:pt x="2031" y="135255"/>
                  </a:lnTo>
                  <a:lnTo>
                    <a:pt x="1397" y="145288"/>
                  </a:lnTo>
                  <a:lnTo>
                    <a:pt x="634" y="155321"/>
                  </a:lnTo>
                  <a:lnTo>
                    <a:pt x="0" y="165354"/>
                  </a:lnTo>
                  <a:lnTo>
                    <a:pt x="47498" y="180721"/>
                  </a:lnTo>
                  <a:lnTo>
                    <a:pt x="49391" y="189380"/>
                  </a:lnTo>
                  <a:lnTo>
                    <a:pt x="51974" y="198088"/>
                  </a:lnTo>
                  <a:lnTo>
                    <a:pt x="55177" y="206652"/>
                  </a:lnTo>
                  <a:lnTo>
                    <a:pt x="58927" y="214884"/>
                  </a:lnTo>
                  <a:lnTo>
                    <a:pt x="30099" y="256413"/>
                  </a:lnTo>
                  <a:close/>
                </a:path>
              </a:pathLst>
            </a:custGeom>
            <a:ln w="15240">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298" name="object 131">
              <a:extLst>
                <a:ext uri="{FF2B5EF4-FFF2-40B4-BE49-F238E27FC236}">
                  <a16:creationId xmlns:a16="http://schemas.microsoft.com/office/drawing/2014/main" id="{4E4E74C5-F6DF-CEEA-97EC-9176E72E6B86}"/>
                </a:ext>
              </a:extLst>
            </p:cNvPr>
            <p:cNvPicPr/>
            <p:nvPr/>
          </p:nvPicPr>
          <p:blipFill>
            <a:blip r:embed="rId18" cstate="print"/>
            <a:stretch>
              <a:fillRect/>
            </a:stretch>
          </p:blipFill>
          <p:spPr>
            <a:xfrm>
              <a:off x="10132440" y="3835273"/>
              <a:ext cx="142875" cy="142874"/>
            </a:xfrm>
            <a:prstGeom prst="rect">
              <a:avLst/>
            </a:prstGeom>
          </p:spPr>
        </p:pic>
      </p:grpSp>
      <p:grpSp>
        <p:nvGrpSpPr>
          <p:cNvPr id="299" name="object 132">
            <a:extLst>
              <a:ext uri="{FF2B5EF4-FFF2-40B4-BE49-F238E27FC236}">
                <a16:creationId xmlns:a16="http://schemas.microsoft.com/office/drawing/2014/main" id="{5B3716FC-7FD6-A247-657D-02612D7B7588}"/>
              </a:ext>
            </a:extLst>
          </p:cNvPr>
          <p:cNvGrpSpPr/>
          <p:nvPr/>
        </p:nvGrpSpPr>
        <p:grpSpPr>
          <a:xfrm>
            <a:off x="19598072" y="8670463"/>
            <a:ext cx="1706880" cy="1278890"/>
            <a:chOff x="9773157" y="4481880"/>
            <a:chExt cx="853440" cy="639445"/>
          </a:xfrm>
        </p:grpSpPr>
        <p:sp>
          <p:nvSpPr>
            <p:cNvPr id="300" name="object 133">
              <a:extLst>
                <a:ext uri="{FF2B5EF4-FFF2-40B4-BE49-F238E27FC236}">
                  <a16:creationId xmlns:a16="http://schemas.microsoft.com/office/drawing/2014/main" id="{B025D2D4-5C06-CD6B-21F0-87AC4F1731BE}"/>
                </a:ext>
              </a:extLst>
            </p:cNvPr>
            <p:cNvSpPr/>
            <p:nvPr/>
          </p:nvSpPr>
          <p:spPr>
            <a:xfrm>
              <a:off x="10331576" y="4828412"/>
              <a:ext cx="285115" cy="282575"/>
            </a:xfrm>
            <a:custGeom>
              <a:avLst/>
              <a:gdLst/>
              <a:ahLst/>
              <a:cxnLst/>
              <a:rect l="l" t="t" r="r" b="b"/>
              <a:pathLst>
                <a:path w="285115" h="282575">
                  <a:moveTo>
                    <a:pt x="27686" y="223774"/>
                  </a:moveTo>
                  <a:lnTo>
                    <a:pt x="33527" y="230505"/>
                  </a:lnTo>
                  <a:lnTo>
                    <a:pt x="39243" y="237236"/>
                  </a:lnTo>
                  <a:lnTo>
                    <a:pt x="45084" y="243967"/>
                  </a:lnTo>
                  <a:lnTo>
                    <a:pt x="84327" y="223774"/>
                  </a:lnTo>
                  <a:lnTo>
                    <a:pt x="91055" y="228099"/>
                  </a:lnTo>
                  <a:lnTo>
                    <a:pt x="98044" y="231806"/>
                  </a:lnTo>
                  <a:lnTo>
                    <a:pt x="105223" y="234989"/>
                  </a:lnTo>
                  <a:lnTo>
                    <a:pt x="112522" y="237744"/>
                  </a:lnTo>
                  <a:lnTo>
                    <a:pt x="120269" y="281050"/>
                  </a:lnTo>
                  <a:lnTo>
                    <a:pt x="128904" y="281559"/>
                  </a:lnTo>
                  <a:lnTo>
                    <a:pt x="137668" y="282067"/>
                  </a:lnTo>
                  <a:lnTo>
                    <a:pt x="146430" y="282575"/>
                  </a:lnTo>
                  <a:lnTo>
                    <a:pt x="160020" y="240664"/>
                  </a:lnTo>
                  <a:lnTo>
                    <a:pt x="167624" y="238898"/>
                  </a:lnTo>
                  <a:lnTo>
                    <a:pt x="175132" y="236632"/>
                  </a:lnTo>
                  <a:lnTo>
                    <a:pt x="182451" y="233842"/>
                  </a:lnTo>
                  <a:lnTo>
                    <a:pt x="189483" y="230505"/>
                  </a:lnTo>
                  <a:lnTo>
                    <a:pt x="225932" y="255524"/>
                  </a:lnTo>
                  <a:lnTo>
                    <a:pt x="232664" y="249809"/>
                  </a:lnTo>
                  <a:lnTo>
                    <a:pt x="239522" y="243967"/>
                  </a:lnTo>
                  <a:lnTo>
                    <a:pt x="246252" y="238251"/>
                  </a:lnTo>
                  <a:lnTo>
                    <a:pt x="225932" y="199136"/>
                  </a:lnTo>
                  <a:lnTo>
                    <a:pt x="230276" y="192555"/>
                  </a:lnTo>
                  <a:lnTo>
                    <a:pt x="234013" y="185737"/>
                  </a:lnTo>
                  <a:lnTo>
                    <a:pt x="237202" y="178633"/>
                  </a:lnTo>
                  <a:lnTo>
                    <a:pt x="239902" y="171195"/>
                  </a:lnTo>
                  <a:lnTo>
                    <a:pt x="283591" y="163449"/>
                  </a:lnTo>
                  <a:lnTo>
                    <a:pt x="284099" y="154812"/>
                  </a:lnTo>
                  <a:lnTo>
                    <a:pt x="284479" y="146050"/>
                  </a:lnTo>
                  <a:lnTo>
                    <a:pt x="284988" y="137413"/>
                  </a:lnTo>
                  <a:lnTo>
                    <a:pt x="242824" y="123951"/>
                  </a:lnTo>
                  <a:lnTo>
                    <a:pt x="241182" y="116347"/>
                  </a:lnTo>
                  <a:lnTo>
                    <a:pt x="239029" y="108838"/>
                  </a:lnTo>
                  <a:lnTo>
                    <a:pt x="236233" y="101520"/>
                  </a:lnTo>
                  <a:lnTo>
                    <a:pt x="232664" y="94487"/>
                  </a:lnTo>
                  <a:lnTo>
                    <a:pt x="257937" y="58293"/>
                  </a:lnTo>
                  <a:lnTo>
                    <a:pt x="252095" y="51562"/>
                  </a:lnTo>
                  <a:lnTo>
                    <a:pt x="246252" y="44831"/>
                  </a:lnTo>
                  <a:lnTo>
                    <a:pt x="240411" y="38100"/>
                  </a:lnTo>
                  <a:lnTo>
                    <a:pt x="201168" y="58293"/>
                  </a:lnTo>
                  <a:lnTo>
                    <a:pt x="194442" y="53967"/>
                  </a:lnTo>
                  <a:lnTo>
                    <a:pt x="187467" y="50260"/>
                  </a:lnTo>
                  <a:lnTo>
                    <a:pt x="180326" y="47077"/>
                  </a:lnTo>
                  <a:lnTo>
                    <a:pt x="173100" y="44323"/>
                  </a:lnTo>
                  <a:lnTo>
                    <a:pt x="165353" y="1397"/>
                  </a:lnTo>
                  <a:lnTo>
                    <a:pt x="156591" y="1016"/>
                  </a:lnTo>
                  <a:lnTo>
                    <a:pt x="147827" y="507"/>
                  </a:lnTo>
                  <a:lnTo>
                    <a:pt x="139192" y="0"/>
                  </a:lnTo>
                  <a:lnTo>
                    <a:pt x="125602" y="41401"/>
                  </a:lnTo>
                  <a:lnTo>
                    <a:pt x="117971" y="43168"/>
                  </a:lnTo>
                  <a:lnTo>
                    <a:pt x="110362" y="45434"/>
                  </a:lnTo>
                  <a:lnTo>
                    <a:pt x="102850" y="48224"/>
                  </a:lnTo>
                  <a:lnTo>
                    <a:pt x="95503" y="51562"/>
                  </a:lnTo>
                  <a:lnTo>
                    <a:pt x="59181" y="26543"/>
                  </a:lnTo>
                  <a:lnTo>
                    <a:pt x="52324" y="32257"/>
                  </a:lnTo>
                  <a:lnTo>
                    <a:pt x="45593" y="38100"/>
                  </a:lnTo>
                  <a:lnTo>
                    <a:pt x="38862" y="43814"/>
                  </a:lnTo>
                  <a:lnTo>
                    <a:pt x="58674" y="82931"/>
                  </a:lnTo>
                  <a:lnTo>
                    <a:pt x="54274" y="89590"/>
                  </a:lnTo>
                  <a:lnTo>
                    <a:pt x="50530" y="96583"/>
                  </a:lnTo>
                  <a:lnTo>
                    <a:pt x="47333" y="103862"/>
                  </a:lnTo>
                  <a:lnTo>
                    <a:pt x="44576" y="111379"/>
                  </a:lnTo>
                  <a:lnTo>
                    <a:pt x="1524" y="119125"/>
                  </a:lnTo>
                  <a:lnTo>
                    <a:pt x="1016" y="127762"/>
                  </a:lnTo>
                  <a:lnTo>
                    <a:pt x="507" y="136398"/>
                  </a:lnTo>
                  <a:lnTo>
                    <a:pt x="0" y="145161"/>
                  </a:lnTo>
                  <a:lnTo>
                    <a:pt x="42164" y="158623"/>
                  </a:lnTo>
                  <a:lnTo>
                    <a:pt x="43930" y="166233"/>
                  </a:lnTo>
                  <a:lnTo>
                    <a:pt x="46196" y="173783"/>
                  </a:lnTo>
                  <a:lnTo>
                    <a:pt x="48986" y="181215"/>
                  </a:lnTo>
                  <a:lnTo>
                    <a:pt x="52324" y="188468"/>
                  </a:lnTo>
                  <a:lnTo>
                    <a:pt x="27686" y="223774"/>
                  </a:lnTo>
                  <a:close/>
                </a:path>
              </a:pathLst>
            </a:custGeom>
            <a:ln w="19812">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pic>
          <p:nvPicPr>
            <p:cNvPr id="301" name="object 134">
              <a:extLst>
                <a:ext uri="{FF2B5EF4-FFF2-40B4-BE49-F238E27FC236}">
                  <a16:creationId xmlns:a16="http://schemas.microsoft.com/office/drawing/2014/main" id="{5F0E0D05-0250-8C3E-F69B-4D728F3EB7E5}"/>
                </a:ext>
              </a:extLst>
            </p:cNvPr>
            <p:cNvPicPr/>
            <p:nvPr/>
          </p:nvPicPr>
          <p:blipFill>
            <a:blip r:embed="rId19" cstate="print"/>
            <a:stretch>
              <a:fillRect/>
            </a:stretch>
          </p:blipFill>
          <p:spPr>
            <a:xfrm>
              <a:off x="10408538" y="4902326"/>
              <a:ext cx="132206" cy="132206"/>
            </a:xfrm>
            <a:prstGeom prst="rect">
              <a:avLst/>
            </a:prstGeom>
          </p:spPr>
        </p:pic>
        <p:sp>
          <p:nvSpPr>
            <p:cNvPr id="302" name="object 135">
              <a:extLst>
                <a:ext uri="{FF2B5EF4-FFF2-40B4-BE49-F238E27FC236}">
                  <a16:creationId xmlns:a16="http://schemas.microsoft.com/office/drawing/2014/main" id="{90BBEC7A-369B-D494-57F5-8A47A51A591A}"/>
                </a:ext>
              </a:extLst>
            </p:cNvPr>
            <p:cNvSpPr/>
            <p:nvPr/>
          </p:nvSpPr>
          <p:spPr>
            <a:xfrm>
              <a:off x="9914000" y="4679060"/>
              <a:ext cx="535940" cy="395605"/>
            </a:xfrm>
            <a:custGeom>
              <a:avLst/>
              <a:gdLst/>
              <a:ahLst/>
              <a:cxnLst/>
              <a:rect l="l" t="t" r="r" b="b"/>
              <a:pathLst>
                <a:path w="535940" h="395604">
                  <a:moveTo>
                    <a:pt x="506983" y="161036"/>
                  </a:moveTo>
                  <a:lnTo>
                    <a:pt x="506983" y="39115"/>
                  </a:lnTo>
                  <a:lnTo>
                    <a:pt x="506983" y="32257"/>
                  </a:lnTo>
                  <a:lnTo>
                    <a:pt x="501650" y="27431"/>
                  </a:lnTo>
                  <a:lnTo>
                    <a:pt x="495426" y="27431"/>
                  </a:lnTo>
                  <a:lnTo>
                    <a:pt x="93852" y="27431"/>
                  </a:lnTo>
                  <a:lnTo>
                    <a:pt x="87122" y="27431"/>
                  </a:lnTo>
                  <a:lnTo>
                    <a:pt x="82296" y="32765"/>
                  </a:lnTo>
                  <a:lnTo>
                    <a:pt x="82296" y="39115"/>
                  </a:lnTo>
                  <a:lnTo>
                    <a:pt x="82296" y="307086"/>
                  </a:lnTo>
                  <a:lnTo>
                    <a:pt x="82296" y="313816"/>
                  </a:lnTo>
                  <a:lnTo>
                    <a:pt x="87629" y="318643"/>
                  </a:lnTo>
                  <a:lnTo>
                    <a:pt x="93852" y="318643"/>
                  </a:lnTo>
                  <a:lnTo>
                    <a:pt x="413384" y="318643"/>
                  </a:lnTo>
                </a:path>
                <a:path w="535940" h="395604">
                  <a:moveTo>
                    <a:pt x="430022" y="395224"/>
                  </a:moveTo>
                  <a:lnTo>
                    <a:pt x="34671" y="395224"/>
                  </a:lnTo>
                  <a:lnTo>
                    <a:pt x="30610" y="394989"/>
                  </a:lnTo>
                  <a:lnTo>
                    <a:pt x="20954" y="393350"/>
                  </a:lnTo>
                  <a:lnTo>
                    <a:pt x="9489" y="388901"/>
                  </a:lnTo>
                  <a:lnTo>
                    <a:pt x="0" y="380238"/>
                  </a:lnTo>
                  <a:lnTo>
                    <a:pt x="0" y="352044"/>
                  </a:lnTo>
                  <a:lnTo>
                    <a:pt x="56388" y="352044"/>
                  </a:lnTo>
                </a:path>
                <a:path w="535940" h="395604">
                  <a:moveTo>
                    <a:pt x="535558" y="132461"/>
                  </a:moveTo>
                  <a:lnTo>
                    <a:pt x="535558" y="11556"/>
                  </a:lnTo>
                  <a:lnTo>
                    <a:pt x="535558" y="4825"/>
                  </a:lnTo>
                  <a:lnTo>
                    <a:pt x="530351" y="0"/>
                  </a:lnTo>
                  <a:lnTo>
                    <a:pt x="524001" y="0"/>
                  </a:lnTo>
                  <a:lnTo>
                    <a:pt x="63373" y="0"/>
                  </a:lnTo>
                  <a:lnTo>
                    <a:pt x="56642" y="0"/>
                  </a:lnTo>
                  <a:lnTo>
                    <a:pt x="51816" y="5333"/>
                  </a:lnTo>
                  <a:lnTo>
                    <a:pt x="51816" y="11556"/>
                  </a:lnTo>
                  <a:lnTo>
                    <a:pt x="51816" y="339978"/>
                  </a:lnTo>
                  <a:lnTo>
                    <a:pt x="51816" y="346709"/>
                  </a:lnTo>
                  <a:lnTo>
                    <a:pt x="57150" y="351536"/>
                  </a:lnTo>
                  <a:lnTo>
                    <a:pt x="63373" y="351536"/>
                  </a:lnTo>
                  <a:lnTo>
                    <a:pt x="427100" y="351536"/>
                  </a:lnTo>
                </a:path>
              </a:pathLst>
            </a:custGeom>
            <a:ln w="1981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03" name="object 136">
              <a:extLst>
                <a:ext uri="{FF2B5EF4-FFF2-40B4-BE49-F238E27FC236}">
                  <a16:creationId xmlns:a16="http://schemas.microsoft.com/office/drawing/2014/main" id="{0072678C-FBDB-5BBC-06B6-6595009A114B}"/>
                </a:ext>
              </a:extLst>
            </p:cNvPr>
            <p:cNvSpPr/>
            <p:nvPr/>
          </p:nvSpPr>
          <p:spPr>
            <a:xfrm>
              <a:off x="9783063" y="4491786"/>
              <a:ext cx="302895" cy="290195"/>
            </a:xfrm>
            <a:custGeom>
              <a:avLst/>
              <a:gdLst/>
              <a:ahLst/>
              <a:cxnLst/>
              <a:rect l="l" t="t" r="r" b="b"/>
              <a:pathLst>
                <a:path w="302895" h="290195">
                  <a:moveTo>
                    <a:pt x="208533" y="184861"/>
                  </a:moveTo>
                  <a:lnTo>
                    <a:pt x="238403" y="184861"/>
                  </a:lnTo>
                  <a:lnTo>
                    <a:pt x="238403" y="153924"/>
                  </a:lnTo>
                  <a:lnTo>
                    <a:pt x="208533" y="153924"/>
                  </a:lnTo>
                  <a:lnTo>
                    <a:pt x="208533" y="184861"/>
                  </a:lnTo>
                  <a:close/>
                </a:path>
                <a:path w="302895" h="290195">
                  <a:moveTo>
                    <a:pt x="165861" y="125425"/>
                  </a:moveTo>
                  <a:lnTo>
                    <a:pt x="195731" y="125425"/>
                  </a:lnTo>
                  <a:lnTo>
                    <a:pt x="195731" y="94488"/>
                  </a:lnTo>
                  <a:lnTo>
                    <a:pt x="165861" y="94488"/>
                  </a:lnTo>
                  <a:lnTo>
                    <a:pt x="165861" y="125425"/>
                  </a:lnTo>
                  <a:close/>
                </a:path>
                <a:path w="302895" h="290195">
                  <a:moveTo>
                    <a:pt x="225297" y="60020"/>
                  </a:moveTo>
                  <a:lnTo>
                    <a:pt x="255167" y="60020"/>
                  </a:lnTo>
                  <a:lnTo>
                    <a:pt x="255167" y="30149"/>
                  </a:lnTo>
                  <a:lnTo>
                    <a:pt x="225297" y="30149"/>
                  </a:lnTo>
                  <a:lnTo>
                    <a:pt x="225297" y="60020"/>
                  </a:lnTo>
                  <a:close/>
                </a:path>
                <a:path w="302895" h="290195">
                  <a:moveTo>
                    <a:pt x="0" y="30937"/>
                  </a:moveTo>
                  <a:lnTo>
                    <a:pt x="30937" y="30937"/>
                  </a:lnTo>
                  <a:lnTo>
                    <a:pt x="30937" y="0"/>
                  </a:lnTo>
                  <a:lnTo>
                    <a:pt x="0" y="0"/>
                  </a:lnTo>
                  <a:lnTo>
                    <a:pt x="0" y="30937"/>
                  </a:lnTo>
                  <a:close/>
                </a:path>
                <a:path w="302895" h="290195">
                  <a:moveTo>
                    <a:pt x="272541" y="159080"/>
                  </a:moveTo>
                  <a:lnTo>
                    <a:pt x="302411" y="159080"/>
                  </a:lnTo>
                  <a:lnTo>
                    <a:pt x="302411" y="129209"/>
                  </a:lnTo>
                  <a:lnTo>
                    <a:pt x="272541" y="129209"/>
                  </a:lnTo>
                  <a:lnTo>
                    <a:pt x="272541" y="159080"/>
                  </a:lnTo>
                  <a:close/>
                </a:path>
                <a:path w="302895" h="290195">
                  <a:moveTo>
                    <a:pt x="124967" y="190957"/>
                  </a:moveTo>
                  <a:lnTo>
                    <a:pt x="155905" y="190957"/>
                  </a:lnTo>
                  <a:lnTo>
                    <a:pt x="155905" y="160020"/>
                  </a:lnTo>
                  <a:lnTo>
                    <a:pt x="124967" y="160020"/>
                  </a:lnTo>
                  <a:lnTo>
                    <a:pt x="124967" y="190957"/>
                  </a:lnTo>
                  <a:close/>
                </a:path>
                <a:path w="302895" h="290195">
                  <a:moveTo>
                    <a:pt x="115824" y="290017"/>
                  </a:moveTo>
                  <a:lnTo>
                    <a:pt x="146761" y="290017"/>
                  </a:lnTo>
                  <a:lnTo>
                    <a:pt x="146761" y="259080"/>
                  </a:lnTo>
                  <a:lnTo>
                    <a:pt x="115824" y="259080"/>
                  </a:lnTo>
                  <a:lnTo>
                    <a:pt x="115824" y="290017"/>
                  </a:lnTo>
                  <a:close/>
                </a:path>
                <a:path w="302895" h="290195">
                  <a:moveTo>
                    <a:pt x="50291" y="230581"/>
                  </a:moveTo>
                  <a:lnTo>
                    <a:pt x="81229" y="230581"/>
                  </a:lnTo>
                  <a:lnTo>
                    <a:pt x="81229" y="199644"/>
                  </a:lnTo>
                  <a:lnTo>
                    <a:pt x="50291" y="199644"/>
                  </a:lnTo>
                  <a:lnTo>
                    <a:pt x="50291" y="230581"/>
                  </a:lnTo>
                  <a:close/>
                </a:path>
                <a:path w="302895" h="290195">
                  <a:moveTo>
                    <a:pt x="85089" y="119329"/>
                  </a:moveTo>
                  <a:lnTo>
                    <a:pt x="114959" y="119329"/>
                  </a:lnTo>
                  <a:lnTo>
                    <a:pt x="114959" y="88392"/>
                  </a:lnTo>
                  <a:lnTo>
                    <a:pt x="85089" y="88392"/>
                  </a:lnTo>
                  <a:lnTo>
                    <a:pt x="85089" y="119329"/>
                  </a:lnTo>
                  <a:close/>
                </a:path>
              </a:pathLst>
            </a:custGeom>
            <a:ln w="19812">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04" name="object 137">
              <a:extLst>
                <a:ext uri="{FF2B5EF4-FFF2-40B4-BE49-F238E27FC236}">
                  <a16:creationId xmlns:a16="http://schemas.microsoft.com/office/drawing/2014/main" id="{140CB661-CDB9-8E9E-BA13-91AA259AB1AD}"/>
                </a:ext>
              </a:extLst>
            </p:cNvPr>
            <p:cNvSpPr/>
            <p:nvPr/>
          </p:nvSpPr>
          <p:spPr>
            <a:xfrm>
              <a:off x="10081768" y="4767833"/>
              <a:ext cx="294640" cy="158750"/>
            </a:xfrm>
            <a:custGeom>
              <a:avLst/>
              <a:gdLst/>
              <a:ahLst/>
              <a:cxnLst/>
              <a:rect l="l" t="t" r="r" b="b"/>
              <a:pathLst>
                <a:path w="294640" h="158750">
                  <a:moveTo>
                    <a:pt x="71970" y="79248"/>
                  </a:moveTo>
                  <a:lnTo>
                    <a:pt x="44196" y="79248"/>
                  </a:lnTo>
                  <a:lnTo>
                    <a:pt x="44196" y="88392"/>
                  </a:lnTo>
                  <a:lnTo>
                    <a:pt x="71970" y="88392"/>
                  </a:lnTo>
                  <a:lnTo>
                    <a:pt x="71970" y="79248"/>
                  </a:lnTo>
                  <a:close/>
                </a:path>
                <a:path w="294640" h="158750">
                  <a:moveTo>
                    <a:pt x="77114" y="149352"/>
                  </a:moveTo>
                  <a:lnTo>
                    <a:pt x="30480" y="149352"/>
                  </a:lnTo>
                  <a:lnTo>
                    <a:pt x="30480" y="158496"/>
                  </a:lnTo>
                  <a:lnTo>
                    <a:pt x="77114" y="158496"/>
                  </a:lnTo>
                  <a:lnTo>
                    <a:pt x="77114" y="149352"/>
                  </a:lnTo>
                  <a:close/>
                </a:path>
                <a:path w="294640" h="158750">
                  <a:moveTo>
                    <a:pt x="91211" y="109728"/>
                  </a:moveTo>
                  <a:lnTo>
                    <a:pt x="0" y="109728"/>
                  </a:lnTo>
                  <a:lnTo>
                    <a:pt x="0" y="118872"/>
                  </a:lnTo>
                  <a:lnTo>
                    <a:pt x="91211" y="118872"/>
                  </a:lnTo>
                  <a:lnTo>
                    <a:pt x="91211" y="109728"/>
                  </a:lnTo>
                  <a:close/>
                </a:path>
                <a:path w="294640" h="158750">
                  <a:moveTo>
                    <a:pt x="114134" y="1168"/>
                  </a:moveTo>
                  <a:lnTo>
                    <a:pt x="0" y="1168"/>
                  </a:lnTo>
                  <a:lnTo>
                    <a:pt x="0" y="9398"/>
                  </a:lnTo>
                  <a:lnTo>
                    <a:pt x="114134" y="9398"/>
                  </a:lnTo>
                  <a:lnTo>
                    <a:pt x="114134" y="1168"/>
                  </a:lnTo>
                  <a:close/>
                </a:path>
                <a:path w="294640" h="158750">
                  <a:moveTo>
                    <a:pt x="130009" y="109728"/>
                  </a:moveTo>
                  <a:lnTo>
                    <a:pt x="99060" y="109728"/>
                  </a:lnTo>
                  <a:lnTo>
                    <a:pt x="99060" y="118872"/>
                  </a:lnTo>
                  <a:lnTo>
                    <a:pt x="130009" y="118872"/>
                  </a:lnTo>
                  <a:lnTo>
                    <a:pt x="130009" y="109728"/>
                  </a:lnTo>
                  <a:close/>
                </a:path>
                <a:path w="294640" h="158750">
                  <a:moveTo>
                    <a:pt x="183210" y="39624"/>
                  </a:moveTo>
                  <a:lnTo>
                    <a:pt x="30480" y="39624"/>
                  </a:lnTo>
                  <a:lnTo>
                    <a:pt x="30480" y="48768"/>
                  </a:lnTo>
                  <a:lnTo>
                    <a:pt x="183210" y="48768"/>
                  </a:lnTo>
                  <a:lnTo>
                    <a:pt x="183210" y="39624"/>
                  </a:lnTo>
                  <a:close/>
                </a:path>
                <a:path w="294640" h="158750">
                  <a:moveTo>
                    <a:pt x="204368" y="149352"/>
                  </a:moveTo>
                  <a:lnTo>
                    <a:pt x="91440" y="149352"/>
                  </a:lnTo>
                  <a:lnTo>
                    <a:pt x="91440" y="158496"/>
                  </a:lnTo>
                  <a:lnTo>
                    <a:pt x="204368" y="158496"/>
                  </a:lnTo>
                  <a:lnTo>
                    <a:pt x="204368" y="149352"/>
                  </a:lnTo>
                  <a:close/>
                </a:path>
                <a:path w="294640" h="158750">
                  <a:moveTo>
                    <a:pt x="209486" y="0"/>
                  </a:moveTo>
                  <a:lnTo>
                    <a:pt x="126492" y="0"/>
                  </a:lnTo>
                  <a:lnTo>
                    <a:pt x="126492" y="9144"/>
                  </a:lnTo>
                  <a:lnTo>
                    <a:pt x="209486" y="9144"/>
                  </a:lnTo>
                  <a:lnTo>
                    <a:pt x="209486" y="0"/>
                  </a:lnTo>
                  <a:close/>
                </a:path>
                <a:path w="294640" h="158750">
                  <a:moveTo>
                    <a:pt x="215785" y="79248"/>
                  </a:moveTo>
                  <a:lnTo>
                    <a:pt x="80899" y="79248"/>
                  </a:lnTo>
                  <a:lnTo>
                    <a:pt x="80899" y="88392"/>
                  </a:lnTo>
                  <a:lnTo>
                    <a:pt x="215785" y="88392"/>
                  </a:lnTo>
                  <a:lnTo>
                    <a:pt x="215785" y="79248"/>
                  </a:lnTo>
                  <a:close/>
                </a:path>
                <a:path w="294640" h="158750">
                  <a:moveTo>
                    <a:pt x="239115" y="39624"/>
                  </a:moveTo>
                  <a:lnTo>
                    <a:pt x="190627" y="39624"/>
                  </a:lnTo>
                  <a:lnTo>
                    <a:pt x="190627" y="48768"/>
                  </a:lnTo>
                  <a:lnTo>
                    <a:pt x="239115" y="48768"/>
                  </a:lnTo>
                  <a:lnTo>
                    <a:pt x="239115" y="39624"/>
                  </a:lnTo>
                  <a:close/>
                </a:path>
                <a:path w="294640" h="158750">
                  <a:moveTo>
                    <a:pt x="265010" y="109728"/>
                  </a:moveTo>
                  <a:lnTo>
                    <a:pt x="138811" y="109728"/>
                  </a:lnTo>
                  <a:lnTo>
                    <a:pt x="138811" y="118872"/>
                  </a:lnTo>
                  <a:lnTo>
                    <a:pt x="265010" y="118872"/>
                  </a:lnTo>
                  <a:lnTo>
                    <a:pt x="265010" y="109728"/>
                  </a:lnTo>
                  <a:close/>
                </a:path>
                <a:path w="294640" h="158750">
                  <a:moveTo>
                    <a:pt x="294525" y="39624"/>
                  </a:moveTo>
                  <a:lnTo>
                    <a:pt x="247015" y="39624"/>
                  </a:lnTo>
                  <a:lnTo>
                    <a:pt x="247015" y="48768"/>
                  </a:lnTo>
                  <a:lnTo>
                    <a:pt x="294525" y="48768"/>
                  </a:lnTo>
                  <a:lnTo>
                    <a:pt x="294525" y="39624"/>
                  </a:lnTo>
                  <a:close/>
                </a:path>
              </a:pathLst>
            </a:custGeom>
            <a:solidFill>
              <a:srgbClr val="222E3D"/>
            </a:solidFill>
          </p:spPr>
          <p:txBody>
            <a:bodyPr wrap="square" lIns="0" tIns="0" rIns="0" bIns="0" rtlCol="0"/>
            <a:lstStyle/>
            <a:p>
              <a:pPr defTabSz="1828800">
                <a:defRPr/>
              </a:pPr>
              <a:endParaRPr sz="3600" kern="0">
                <a:solidFill>
                  <a:sysClr val="windowText" lastClr="000000"/>
                </a:solidFill>
                <a:latin typeface="Arial"/>
              </a:endParaRPr>
            </a:p>
          </p:txBody>
        </p:sp>
        <p:sp>
          <p:nvSpPr>
            <p:cNvPr id="305" name="object 138">
              <a:extLst>
                <a:ext uri="{FF2B5EF4-FFF2-40B4-BE49-F238E27FC236}">
                  <a16:creationId xmlns:a16="http://schemas.microsoft.com/office/drawing/2014/main" id="{91E870D2-A807-BA54-4BE8-C6AFCF06F51A}"/>
                </a:ext>
              </a:extLst>
            </p:cNvPr>
            <p:cNvSpPr/>
            <p:nvPr/>
          </p:nvSpPr>
          <p:spPr>
            <a:xfrm>
              <a:off x="10047223" y="4741544"/>
              <a:ext cx="0" cy="213360"/>
            </a:xfrm>
            <a:custGeom>
              <a:avLst/>
              <a:gdLst/>
              <a:ahLst/>
              <a:cxnLst/>
              <a:rect l="l" t="t" r="r" b="b"/>
              <a:pathLst>
                <a:path h="213360">
                  <a:moveTo>
                    <a:pt x="0" y="0"/>
                  </a:moveTo>
                  <a:lnTo>
                    <a:pt x="0" y="212851"/>
                  </a:lnTo>
                </a:path>
              </a:pathLst>
            </a:custGeom>
            <a:ln w="12953">
              <a:solidFill>
                <a:srgbClr val="222E3D"/>
              </a:solidFill>
              <a:prstDash val="sysDot"/>
            </a:ln>
          </p:spPr>
          <p:txBody>
            <a:bodyPr wrap="square" lIns="0" tIns="0" rIns="0" bIns="0" rtlCol="0"/>
            <a:lstStyle/>
            <a:p>
              <a:pPr defTabSz="1828800">
                <a:defRPr/>
              </a:pPr>
              <a:endParaRPr sz="3600" kern="0">
                <a:solidFill>
                  <a:sysClr val="windowText" lastClr="000000"/>
                </a:solidFill>
                <a:latin typeface="Arial"/>
              </a:endParaRPr>
            </a:p>
          </p:txBody>
        </p:sp>
      </p:grpSp>
      <p:pic>
        <p:nvPicPr>
          <p:cNvPr id="306" name="object 139">
            <a:extLst>
              <a:ext uri="{FF2B5EF4-FFF2-40B4-BE49-F238E27FC236}">
                <a16:creationId xmlns:a16="http://schemas.microsoft.com/office/drawing/2014/main" id="{6C1192BD-7EA6-A007-DB05-F650B59846F3}"/>
              </a:ext>
            </a:extLst>
          </p:cNvPr>
          <p:cNvPicPr/>
          <p:nvPr/>
        </p:nvPicPr>
        <p:blipFill>
          <a:blip r:embed="rId20" cstate="print"/>
          <a:stretch>
            <a:fillRect/>
          </a:stretch>
        </p:blipFill>
        <p:spPr>
          <a:xfrm>
            <a:off x="18336711" y="5971867"/>
            <a:ext cx="500126" cy="426210"/>
          </a:xfrm>
          <a:prstGeom prst="rect">
            <a:avLst/>
          </a:prstGeom>
        </p:spPr>
      </p:pic>
      <p:grpSp>
        <p:nvGrpSpPr>
          <p:cNvPr id="307" name="object 140">
            <a:extLst>
              <a:ext uri="{FF2B5EF4-FFF2-40B4-BE49-F238E27FC236}">
                <a16:creationId xmlns:a16="http://schemas.microsoft.com/office/drawing/2014/main" id="{C51C47CA-A077-7432-6374-3B0F8145B802}"/>
              </a:ext>
            </a:extLst>
          </p:cNvPr>
          <p:cNvGrpSpPr/>
          <p:nvPr/>
        </p:nvGrpSpPr>
        <p:grpSpPr>
          <a:xfrm>
            <a:off x="19032162" y="5903792"/>
            <a:ext cx="579120" cy="482600"/>
            <a:chOff x="9490202" y="3098545"/>
            <a:chExt cx="289560" cy="241300"/>
          </a:xfrm>
        </p:grpSpPr>
        <p:sp>
          <p:nvSpPr>
            <p:cNvPr id="308" name="object 141">
              <a:extLst>
                <a:ext uri="{FF2B5EF4-FFF2-40B4-BE49-F238E27FC236}">
                  <a16:creationId xmlns:a16="http://schemas.microsoft.com/office/drawing/2014/main" id="{0132C449-6A1E-46EB-EC28-5318EC3C203F}"/>
                </a:ext>
              </a:extLst>
            </p:cNvPr>
            <p:cNvSpPr/>
            <p:nvPr/>
          </p:nvSpPr>
          <p:spPr>
            <a:xfrm>
              <a:off x="9496298" y="3098545"/>
              <a:ext cx="276860" cy="235585"/>
            </a:xfrm>
            <a:custGeom>
              <a:avLst/>
              <a:gdLst/>
              <a:ahLst/>
              <a:cxnLst/>
              <a:rect l="l" t="t" r="r" b="b"/>
              <a:pathLst>
                <a:path w="276859" h="235585">
                  <a:moveTo>
                    <a:pt x="74422" y="111759"/>
                  </a:moveTo>
                  <a:lnTo>
                    <a:pt x="30479" y="111759"/>
                  </a:lnTo>
                </a:path>
                <a:path w="276859" h="235585">
                  <a:moveTo>
                    <a:pt x="132587" y="111759"/>
                  </a:moveTo>
                  <a:lnTo>
                    <a:pt x="88392" y="111759"/>
                  </a:lnTo>
                </a:path>
                <a:path w="276859" h="235585">
                  <a:moveTo>
                    <a:pt x="188975" y="111759"/>
                  </a:moveTo>
                  <a:lnTo>
                    <a:pt x="144779" y="111759"/>
                  </a:lnTo>
                </a:path>
                <a:path w="276859" h="235585">
                  <a:moveTo>
                    <a:pt x="246633" y="111759"/>
                  </a:moveTo>
                  <a:lnTo>
                    <a:pt x="202692" y="111759"/>
                  </a:lnTo>
                </a:path>
                <a:path w="276859" h="235585">
                  <a:moveTo>
                    <a:pt x="246379" y="18033"/>
                  </a:moveTo>
                  <a:lnTo>
                    <a:pt x="185927" y="18033"/>
                  </a:lnTo>
                </a:path>
                <a:path w="276859" h="235585">
                  <a:moveTo>
                    <a:pt x="172211" y="18033"/>
                  </a:moveTo>
                  <a:lnTo>
                    <a:pt x="111251" y="18287"/>
                  </a:lnTo>
                </a:path>
                <a:path w="276859" h="235585">
                  <a:moveTo>
                    <a:pt x="261238" y="18161"/>
                  </a:moveTo>
                  <a:lnTo>
                    <a:pt x="270891" y="18161"/>
                  </a:lnTo>
                  <a:lnTo>
                    <a:pt x="274066" y="18161"/>
                  </a:lnTo>
                  <a:lnTo>
                    <a:pt x="276732" y="20827"/>
                  </a:lnTo>
                  <a:lnTo>
                    <a:pt x="276732" y="24002"/>
                  </a:lnTo>
                  <a:lnTo>
                    <a:pt x="276732" y="48767"/>
                  </a:lnTo>
                  <a:lnTo>
                    <a:pt x="0" y="49021"/>
                  </a:lnTo>
                  <a:lnTo>
                    <a:pt x="0" y="24256"/>
                  </a:lnTo>
                  <a:lnTo>
                    <a:pt x="0" y="20954"/>
                  </a:lnTo>
                  <a:lnTo>
                    <a:pt x="2540" y="18414"/>
                  </a:lnTo>
                  <a:lnTo>
                    <a:pt x="5842" y="18414"/>
                  </a:lnTo>
                  <a:lnTo>
                    <a:pt x="20827" y="18414"/>
                  </a:lnTo>
                </a:path>
                <a:path w="276859" h="235585">
                  <a:moveTo>
                    <a:pt x="95757" y="18033"/>
                  </a:moveTo>
                  <a:lnTo>
                    <a:pt x="35051" y="18033"/>
                  </a:lnTo>
                </a:path>
                <a:path w="276859" h="235585">
                  <a:moveTo>
                    <a:pt x="21081" y="34798"/>
                  </a:moveTo>
                  <a:lnTo>
                    <a:pt x="21081" y="0"/>
                  </a:lnTo>
                </a:path>
                <a:path w="276859" h="235585">
                  <a:moveTo>
                    <a:pt x="95757" y="34798"/>
                  </a:moveTo>
                  <a:lnTo>
                    <a:pt x="95757" y="0"/>
                  </a:lnTo>
                </a:path>
                <a:path w="276859" h="235585">
                  <a:moveTo>
                    <a:pt x="246633" y="34798"/>
                  </a:moveTo>
                  <a:lnTo>
                    <a:pt x="246633" y="0"/>
                  </a:lnTo>
                </a:path>
                <a:path w="276859" h="235585">
                  <a:moveTo>
                    <a:pt x="171957" y="34798"/>
                  </a:moveTo>
                  <a:lnTo>
                    <a:pt x="171957" y="0"/>
                  </a:lnTo>
                </a:path>
                <a:path w="276859" h="235585">
                  <a:moveTo>
                    <a:pt x="74422" y="155955"/>
                  </a:moveTo>
                  <a:lnTo>
                    <a:pt x="30479" y="155955"/>
                  </a:lnTo>
                </a:path>
                <a:path w="276859" h="235585">
                  <a:moveTo>
                    <a:pt x="132587" y="155955"/>
                  </a:moveTo>
                  <a:lnTo>
                    <a:pt x="88392" y="155955"/>
                  </a:lnTo>
                </a:path>
                <a:path w="276859" h="235585">
                  <a:moveTo>
                    <a:pt x="188975" y="155955"/>
                  </a:moveTo>
                  <a:lnTo>
                    <a:pt x="144779" y="155955"/>
                  </a:lnTo>
                </a:path>
                <a:path w="276859" h="235585">
                  <a:moveTo>
                    <a:pt x="246633" y="155955"/>
                  </a:moveTo>
                  <a:lnTo>
                    <a:pt x="202692" y="155955"/>
                  </a:lnTo>
                </a:path>
                <a:path w="276859" h="235585">
                  <a:moveTo>
                    <a:pt x="74422" y="197865"/>
                  </a:moveTo>
                  <a:lnTo>
                    <a:pt x="30479" y="197865"/>
                  </a:lnTo>
                </a:path>
                <a:path w="276859" h="235585">
                  <a:moveTo>
                    <a:pt x="132587" y="197865"/>
                  </a:moveTo>
                  <a:lnTo>
                    <a:pt x="88392" y="197865"/>
                  </a:lnTo>
                </a:path>
                <a:path w="276859" h="235585">
                  <a:moveTo>
                    <a:pt x="188975" y="197865"/>
                  </a:moveTo>
                  <a:lnTo>
                    <a:pt x="144779" y="197865"/>
                  </a:lnTo>
                </a:path>
                <a:path w="276859" h="235585">
                  <a:moveTo>
                    <a:pt x="126" y="48894"/>
                  </a:moveTo>
                  <a:lnTo>
                    <a:pt x="276859" y="48767"/>
                  </a:lnTo>
                  <a:lnTo>
                    <a:pt x="276859" y="228980"/>
                  </a:lnTo>
                  <a:lnTo>
                    <a:pt x="276859" y="232282"/>
                  </a:lnTo>
                  <a:lnTo>
                    <a:pt x="274320" y="234823"/>
                  </a:lnTo>
                  <a:lnTo>
                    <a:pt x="271018" y="234823"/>
                  </a:lnTo>
                  <a:lnTo>
                    <a:pt x="5842" y="235076"/>
                  </a:lnTo>
                  <a:lnTo>
                    <a:pt x="2540" y="235076"/>
                  </a:lnTo>
                  <a:lnTo>
                    <a:pt x="0" y="232409"/>
                  </a:lnTo>
                  <a:lnTo>
                    <a:pt x="0" y="229234"/>
                  </a:lnTo>
                  <a:lnTo>
                    <a:pt x="0" y="78231"/>
                  </a:lnTo>
                  <a:lnTo>
                    <a:pt x="20827" y="78231"/>
                  </a:lnTo>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09" name="object 142">
              <a:extLst>
                <a:ext uri="{FF2B5EF4-FFF2-40B4-BE49-F238E27FC236}">
                  <a16:creationId xmlns:a16="http://schemas.microsoft.com/office/drawing/2014/main" id="{F334D532-A34E-E36C-812B-F46B85032121}"/>
                </a:ext>
              </a:extLst>
            </p:cNvPr>
            <p:cNvSpPr/>
            <p:nvPr/>
          </p:nvSpPr>
          <p:spPr>
            <a:xfrm>
              <a:off x="9705086" y="3279901"/>
              <a:ext cx="33655" cy="34290"/>
            </a:xfrm>
            <a:custGeom>
              <a:avLst/>
              <a:gdLst/>
              <a:ahLst/>
              <a:cxnLst/>
              <a:rect l="l" t="t" r="r" b="b"/>
              <a:pathLst>
                <a:path w="33654" h="34289">
                  <a:moveTo>
                    <a:pt x="0" y="0"/>
                  </a:moveTo>
                  <a:lnTo>
                    <a:pt x="33655" y="33655"/>
                  </a:lnTo>
                </a:path>
                <a:path w="33654" h="34289">
                  <a:moveTo>
                    <a:pt x="33655" y="0"/>
                  </a:moveTo>
                  <a:lnTo>
                    <a:pt x="0" y="33909"/>
                  </a:lnTo>
                </a:path>
              </a:pathLst>
            </a:custGeom>
            <a:ln w="12192">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grpSp>
      <p:pic>
        <p:nvPicPr>
          <p:cNvPr id="310" name="object 143">
            <a:extLst>
              <a:ext uri="{FF2B5EF4-FFF2-40B4-BE49-F238E27FC236}">
                <a16:creationId xmlns:a16="http://schemas.microsoft.com/office/drawing/2014/main" id="{201E2F16-A200-E8DE-2BB4-11E82DCB0D94}"/>
              </a:ext>
            </a:extLst>
          </p:cNvPr>
          <p:cNvPicPr/>
          <p:nvPr/>
        </p:nvPicPr>
        <p:blipFill>
          <a:blip r:embed="rId21" cstate="print"/>
          <a:stretch>
            <a:fillRect/>
          </a:stretch>
        </p:blipFill>
        <p:spPr>
          <a:xfrm>
            <a:off x="19933608" y="5822261"/>
            <a:ext cx="555244" cy="559562"/>
          </a:xfrm>
          <a:prstGeom prst="rect">
            <a:avLst/>
          </a:prstGeom>
        </p:spPr>
      </p:pic>
      <p:pic>
        <p:nvPicPr>
          <p:cNvPr id="311" name="object 144">
            <a:extLst>
              <a:ext uri="{FF2B5EF4-FFF2-40B4-BE49-F238E27FC236}">
                <a16:creationId xmlns:a16="http://schemas.microsoft.com/office/drawing/2014/main" id="{BD08E0CA-A25F-FAD1-9EF4-B42A1CED33A8}"/>
              </a:ext>
            </a:extLst>
          </p:cNvPr>
          <p:cNvPicPr/>
          <p:nvPr/>
        </p:nvPicPr>
        <p:blipFill>
          <a:blip r:embed="rId22" cstate="print"/>
          <a:stretch>
            <a:fillRect/>
          </a:stretch>
        </p:blipFill>
        <p:spPr>
          <a:xfrm>
            <a:off x="20817273" y="5884998"/>
            <a:ext cx="603250" cy="488188"/>
          </a:xfrm>
          <a:prstGeom prst="rect">
            <a:avLst/>
          </a:prstGeom>
        </p:spPr>
      </p:pic>
      <p:grpSp>
        <p:nvGrpSpPr>
          <p:cNvPr id="312" name="object 145">
            <a:extLst>
              <a:ext uri="{FF2B5EF4-FFF2-40B4-BE49-F238E27FC236}">
                <a16:creationId xmlns:a16="http://schemas.microsoft.com/office/drawing/2014/main" id="{0BB72AEC-E88C-092A-8484-452F768174D8}"/>
              </a:ext>
            </a:extLst>
          </p:cNvPr>
          <p:cNvGrpSpPr/>
          <p:nvPr/>
        </p:nvGrpSpPr>
        <p:grpSpPr>
          <a:xfrm>
            <a:off x="21740819" y="5829525"/>
            <a:ext cx="745490" cy="580390"/>
            <a:chOff x="10844530" y="3061411"/>
            <a:chExt cx="372745" cy="290195"/>
          </a:xfrm>
        </p:grpSpPr>
        <p:sp>
          <p:nvSpPr>
            <p:cNvPr id="313" name="object 146">
              <a:extLst>
                <a:ext uri="{FF2B5EF4-FFF2-40B4-BE49-F238E27FC236}">
                  <a16:creationId xmlns:a16="http://schemas.microsoft.com/office/drawing/2014/main" id="{2634ED1C-7A59-934A-7EE9-AC0F19FD990D}"/>
                </a:ext>
              </a:extLst>
            </p:cNvPr>
            <p:cNvSpPr/>
            <p:nvPr/>
          </p:nvSpPr>
          <p:spPr>
            <a:xfrm>
              <a:off x="10850626" y="3067507"/>
              <a:ext cx="259079" cy="226695"/>
            </a:xfrm>
            <a:custGeom>
              <a:avLst/>
              <a:gdLst/>
              <a:ahLst/>
              <a:cxnLst/>
              <a:rect l="l" t="t" r="r" b="b"/>
              <a:pathLst>
                <a:path w="259079" h="226695">
                  <a:moveTo>
                    <a:pt x="217297" y="226237"/>
                  </a:moveTo>
                  <a:lnTo>
                    <a:pt x="63753" y="226237"/>
                  </a:lnTo>
                  <a:lnTo>
                    <a:pt x="54101" y="226237"/>
                  </a:lnTo>
                  <a:lnTo>
                    <a:pt x="50292" y="220141"/>
                  </a:lnTo>
                  <a:lnTo>
                    <a:pt x="50292" y="208965"/>
                  </a:lnTo>
                  <a:lnTo>
                    <a:pt x="72263" y="208965"/>
                  </a:lnTo>
                </a:path>
                <a:path w="259079" h="226695">
                  <a:moveTo>
                    <a:pt x="258572" y="124637"/>
                  </a:moveTo>
                  <a:lnTo>
                    <a:pt x="258572" y="77647"/>
                  </a:lnTo>
                  <a:lnTo>
                    <a:pt x="258572" y="75107"/>
                  </a:lnTo>
                  <a:lnTo>
                    <a:pt x="256540" y="73202"/>
                  </a:lnTo>
                  <a:lnTo>
                    <a:pt x="254126" y="73202"/>
                  </a:lnTo>
                  <a:lnTo>
                    <a:pt x="74675" y="73202"/>
                  </a:lnTo>
                  <a:lnTo>
                    <a:pt x="72008" y="73202"/>
                  </a:lnTo>
                  <a:lnTo>
                    <a:pt x="70103" y="75234"/>
                  </a:lnTo>
                  <a:lnTo>
                    <a:pt x="70103" y="77647"/>
                  </a:lnTo>
                  <a:lnTo>
                    <a:pt x="70103" y="205155"/>
                  </a:lnTo>
                  <a:lnTo>
                    <a:pt x="70103" y="207822"/>
                  </a:lnTo>
                  <a:lnTo>
                    <a:pt x="72135" y="209727"/>
                  </a:lnTo>
                  <a:lnTo>
                    <a:pt x="74675" y="209727"/>
                  </a:lnTo>
                  <a:lnTo>
                    <a:pt x="216280" y="209727"/>
                  </a:lnTo>
                </a:path>
                <a:path w="259079" h="226695">
                  <a:moveTo>
                    <a:pt x="80772" y="71170"/>
                  </a:moveTo>
                  <a:lnTo>
                    <a:pt x="92506" y="71170"/>
                  </a:lnTo>
                  <a:lnTo>
                    <a:pt x="92506" y="59436"/>
                  </a:lnTo>
                  <a:lnTo>
                    <a:pt x="80772" y="59436"/>
                  </a:lnTo>
                  <a:lnTo>
                    <a:pt x="80772" y="71170"/>
                  </a:lnTo>
                  <a:close/>
                </a:path>
                <a:path w="259079" h="226695">
                  <a:moveTo>
                    <a:pt x="64007" y="48310"/>
                  </a:moveTo>
                  <a:lnTo>
                    <a:pt x="75742" y="48310"/>
                  </a:lnTo>
                  <a:lnTo>
                    <a:pt x="75742" y="36575"/>
                  </a:lnTo>
                  <a:lnTo>
                    <a:pt x="64007" y="36575"/>
                  </a:lnTo>
                  <a:lnTo>
                    <a:pt x="64007" y="48310"/>
                  </a:lnTo>
                  <a:close/>
                </a:path>
                <a:path w="259079" h="226695">
                  <a:moveTo>
                    <a:pt x="86868" y="23926"/>
                  </a:moveTo>
                  <a:lnTo>
                    <a:pt x="98602" y="23926"/>
                  </a:lnTo>
                  <a:lnTo>
                    <a:pt x="98602" y="12192"/>
                  </a:lnTo>
                  <a:lnTo>
                    <a:pt x="86868" y="12192"/>
                  </a:lnTo>
                  <a:lnTo>
                    <a:pt x="86868" y="23926"/>
                  </a:lnTo>
                  <a:close/>
                </a:path>
                <a:path w="259079" h="226695">
                  <a:moveTo>
                    <a:pt x="0" y="11734"/>
                  </a:moveTo>
                  <a:lnTo>
                    <a:pt x="11734" y="11734"/>
                  </a:lnTo>
                  <a:lnTo>
                    <a:pt x="11734" y="0"/>
                  </a:lnTo>
                  <a:lnTo>
                    <a:pt x="0" y="0"/>
                  </a:lnTo>
                  <a:lnTo>
                    <a:pt x="0" y="11734"/>
                  </a:lnTo>
                  <a:close/>
                </a:path>
                <a:path w="259079" h="226695">
                  <a:moveTo>
                    <a:pt x="105155" y="62026"/>
                  </a:moveTo>
                  <a:lnTo>
                    <a:pt x="116890" y="62026"/>
                  </a:lnTo>
                  <a:lnTo>
                    <a:pt x="116890" y="50292"/>
                  </a:lnTo>
                  <a:lnTo>
                    <a:pt x="105155" y="50292"/>
                  </a:lnTo>
                  <a:lnTo>
                    <a:pt x="105155" y="62026"/>
                  </a:lnTo>
                  <a:close/>
                </a:path>
                <a:path w="259079" h="226695">
                  <a:moveTo>
                    <a:pt x="48768" y="74218"/>
                  </a:moveTo>
                  <a:lnTo>
                    <a:pt x="60502" y="74218"/>
                  </a:lnTo>
                  <a:lnTo>
                    <a:pt x="60502" y="62484"/>
                  </a:lnTo>
                  <a:lnTo>
                    <a:pt x="48768" y="62484"/>
                  </a:lnTo>
                  <a:lnTo>
                    <a:pt x="48768" y="74218"/>
                  </a:lnTo>
                  <a:close/>
                </a:path>
                <a:path w="259079" h="226695">
                  <a:moveTo>
                    <a:pt x="44196" y="112318"/>
                  </a:moveTo>
                  <a:lnTo>
                    <a:pt x="55930" y="112318"/>
                  </a:lnTo>
                  <a:lnTo>
                    <a:pt x="55930" y="100584"/>
                  </a:lnTo>
                  <a:lnTo>
                    <a:pt x="44196" y="100584"/>
                  </a:lnTo>
                  <a:lnTo>
                    <a:pt x="44196" y="112318"/>
                  </a:lnTo>
                  <a:close/>
                </a:path>
                <a:path w="259079" h="226695">
                  <a:moveTo>
                    <a:pt x="19812" y="89458"/>
                  </a:moveTo>
                  <a:lnTo>
                    <a:pt x="31546" y="89458"/>
                  </a:lnTo>
                  <a:lnTo>
                    <a:pt x="31546" y="77724"/>
                  </a:lnTo>
                  <a:lnTo>
                    <a:pt x="19812" y="77724"/>
                  </a:lnTo>
                  <a:lnTo>
                    <a:pt x="19812" y="89458"/>
                  </a:lnTo>
                  <a:close/>
                </a:path>
                <a:path w="259079" h="226695">
                  <a:moveTo>
                    <a:pt x="33527" y="46786"/>
                  </a:moveTo>
                  <a:lnTo>
                    <a:pt x="45262" y="46786"/>
                  </a:lnTo>
                  <a:lnTo>
                    <a:pt x="45262" y="35052"/>
                  </a:lnTo>
                  <a:lnTo>
                    <a:pt x="33527" y="35052"/>
                  </a:lnTo>
                  <a:lnTo>
                    <a:pt x="33527" y="46786"/>
                  </a:lnTo>
                  <a:close/>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14" name="object 147">
              <a:extLst>
                <a:ext uri="{FF2B5EF4-FFF2-40B4-BE49-F238E27FC236}">
                  <a16:creationId xmlns:a16="http://schemas.microsoft.com/office/drawing/2014/main" id="{69E765A2-1F56-95A1-A930-99F78F098105}"/>
                </a:ext>
              </a:extLst>
            </p:cNvPr>
            <p:cNvSpPr/>
            <p:nvPr/>
          </p:nvSpPr>
          <p:spPr>
            <a:xfrm>
              <a:off x="10966577" y="3174517"/>
              <a:ext cx="113664" cy="61594"/>
            </a:xfrm>
            <a:custGeom>
              <a:avLst/>
              <a:gdLst/>
              <a:ahLst/>
              <a:cxnLst/>
              <a:rect l="l" t="t" r="r" b="b"/>
              <a:pathLst>
                <a:path w="113665" h="61594">
                  <a:moveTo>
                    <a:pt x="28244" y="31648"/>
                  </a:moveTo>
                  <a:lnTo>
                    <a:pt x="16891" y="31648"/>
                  </a:lnTo>
                  <a:lnTo>
                    <a:pt x="16891" y="34391"/>
                  </a:lnTo>
                  <a:lnTo>
                    <a:pt x="28244" y="34391"/>
                  </a:lnTo>
                  <a:lnTo>
                    <a:pt x="28244" y="31648"/>
                  </a:lnTo>
                  <a:close/>
                </a:path>
                <a:path w="113665" h="61594">
                  <a:moveTo>
                    <a:pt x="30022" y="57912"/>
                  </a:moveTo>
                  <a:lnTo>
                    <a:pt x="12192" y="57912"/>
                  </a:lnTo>
                  <a:lnTo>
                    <a:pt x="12192" y="61569"/>
                  </a:lnTo>
                  <a:lnTo>
                    <a:pt x="30022" y="61569"/>
                  </a:lnTo>
                  <a:lnTo>
                    <a:pt x="30022" y="57912"/>
                  </a:lnTo>
                  <a:close/>
                </a:path>
                <a:path w="113665" h="61594">
                  <a:moveTo>
                    <a:pt x="36195" y="42672"/>
                  </a:moveTo>
                  <a:lnTo>
                    <a:pt x="0" y="42672"/>
                  </a:lnTo>
                  <a:lnTo>
                    <a:pt x="0" y="46329"/>
                  </a:lnTo>
                  <a:lnTo>
                    <a:pt x="36195" y="46329"/>
                  </a:lnTo>
                  <a:lnTo>
                    <a:pt x="36195" y="42672"/>
                  </a:lnTo>
                  <a:close/>
                </a:path>
                <a:path w="113665" h="61594">
                  <a:moveTo>
                    <a:pt x="44780" y="0"/>
                  </a:moveTo>
                  <a:lnTo>
                    <a:pt x="0" y="0"/>
                  </a:lnTo>
                  <a:lnTo>
                    <a:pt x="0" y="3657"/>
                  </a:lnTo>
                  <a:lnTo>
                    <a:pt x="44780" y="3657"/>
                  </a:lnTo>
                  <a:lnTo>
                    <a:pt x="44780" y="0"/>
                  </a:lnTo>
                  <a:close/>
                </a:path>
                <a:path w="113665" h="61594">
                  <a:moveTo>
                    <a:pt x="50482" y="42672"/>
                  </a:moveTo>
                  <a:lnTo>
                    <a:pt x="38100" y="42672"/>
                  </a:lnTo>
                  <a:lnTo>
                    <a:pt x="38100" y="46329"/>
                  </a:lnTo>
                  <a:lnTo>
                    <a:pt x="50482" y="46329"/>
                  </a:lnTo>
                  <a:lnTo>
                    <a:pt x="50482" y="42672"/>
                  </a:lnTo>
                  <a:close/>
                </a:path>
                <a:path w="113665" h="61594">
                  <a:moveTo>
                    <a:pt x="70929" y="15240"/>
                  </a:moveTo>
                  <a:lnTo>
                    <a:pt x="12192" y="15240"/>
                  </a:lnTo>
                  <a:lnTo>
                    <a:pt x="12192" y="18897"/>
                  </a:lnTo>
                  <a:lnTo>
                    <a:pt x="70929" y="18897"/>
                  </a:lnTo>
                  <a:lnTo>
                    <a:pt x="70929" y="15240"/>
                  </a:lnTo>
                  <a:close/>
                </a:path>
                <a:path w="113665" h="61594">
                  <a:moveTo>
                    <a:pt x="79629" y="57912"/>
                  </a:moveTo>
                  <a:lnTo>
                    <a:pt x="35052" y="57912"/>
                  </a:lnTo>
                  <a:lnTo>
                    <a:pt x="35052" y="61569"/>
                  </a:lnTo>
                  <a:lnTo>
                    <a:pt x="79629" y="61569"/>
                  </a:lnTo>
                  <a:lnTo>
                    <a:pt x="79629" y="57912"/>
                  </a:lnTo>
                  <a:close/>
                </a:path>
                <a:path w="113665" h="61594">
                  <a:moveTo>
                    <a:pt x="80797" y="0"/>
                  </a:moveTo>
                  <a:lnTo>
                    <a:pt x="48768" y="0"/>
                  </a:lnTo>
                  <a:lnTo>
                    <a:pt x="48768" y="3657"/>
                  </a:lnTo>
                  <a:lnTo>
                    <a:pt x="80797" y="3657"/>
                  </a:lnTo>
                  <a:lnTo>
                    <a:pt x="80797" y="0"/>
                  </a:lnTo>
                  <a:close/>
                </a:path>
                <a:path w="113665" h="61594">
                  <a:moveTo>
                    <a:pt x="83312" y="31648"/>
                  </a:moveTo>
                  <a:lnTo>
                    <a:pt x="32004" y="31648"/>
                  </a:lnTo>
                  <a:lnTo>
                    <a:pt x="32004" y="34391"/>
                  </a:lnTo>
                  <a:lnTo>
                    <a:pt x="83312" y="34391"/>
                  </a:lnTo>
                  <a:lnTo>
                    <a:pt x="83312" y="31648"/>
                  </a:lnTo>
                  <a:close/>
                </a:path>
                <a:path w="113665" h="61594">
                  <a:moveTo>
                    <a:pt x="92684" y="15240"/>
                  </a:moveTo>
                  <a:lnTo>
                    <a:pt x="74676" y="15240"/>
                  </a:lnTo>
                  <a:lnTo>
                    <a:pt x="74676" y="18897"/>
                  </a:lnTo>
                  <a:lnTo>
                    <a:pt x="92684" y="18897"/>
                  </a:lnTo>
                  <a:lnTo>
                    <a:pt x="92684" y="15240"/>
                  </a:lnTo>
                  <a:close/>
                </a:path>
                <a:path w="113665" h="61594">
                  <a:moveTo>
                    <a:pt x="103289" y="42672"/>
                  </a:moveTo>
                  <a:lnTo>
                    <a:pt x="54864" y="42672"/>
                  </a:lnTo>
                  <a:lnTo>
                    <a:pt x="54864" y="46329"/>
                  </a:lnTo>
                  <a:lnTo>
                    <a:pt x="103289" y="46329"/>
                  </a:lnTo>
                  <a:lnTo>
                    <a:pt x="103289" y="42672"/>
                  </a:lnTo>
                  <a:close/>
                </a:path>
                <a:path w="113665" h="61594">
                  <a:moveTo>
                    <a:pt x="113652" y="16408"/>
                  </a:moveTo>
                  <a:lnTo>
                    <a:pt x="96012" y="16408"/>
                  </a:lnTo>
                  <a:lnTo>
                    <a:pt x="96012" y="19151"/>
                  </a:lnTo>
                  <a:lnTo>
                    <a:pt x="113652" y="19151"/>
                  </a:lnTo>
                  <a:lnTo>
                    <a:pt x="113652" y="16408"/>
                  </a:lnTo>
                  <a:close/>
                </a:path>
              </a:pathLst>
            </a:custGeom>
            <a:solidFill>
              <a:srgbClr val="000000"/>
            </a:solidFill>
          </p:spPr>
          <p:txBody>
            <a:bodyPr wrap="square" lIns="0" tIns="0" rIns="0" bIns="0" rtlCol="0"/>
            <a:lstStyle/>
            <a:p>
              <a:pPr defTabSz="1828800">
                <a:defRPr/>
              </a:pPr>
              <a:endParaRPr sz="3600" kern="0">
                <a:solidFill>
                  <a:sysClr val="windowText" lastClr="000000"/>
                </a:solidFill>
                <a:latin typeface="Arial"/>
              </a:endParaRPr>
            </a:p>
          </p:txBody>
        </p:sp>
        <p:sp>
          <p:nvSpPr>
            <p:cNvPr id="315" name="object 148">
              <a:extLst>
                <a:ext uri="{FF2B5EF4-FFF2-40B4-BE49-F238E27FC236}">
                  <a16:creationId xmlns:a16="http://schemas.microsoft.com/office/drawing/2014/main" id="{EB569B8E-2FC3-98AA-8C0C-6A3B568C501A}"/>
                </a:ext>
              </a:extLst>
            </p:cNvPr>
            <p:cNvSpPr/>
            <p:nvPr/>
          </p:nvSpPr>
          <p:spPr>
            <a:xfrm>
              <a:off x="10951337" y="3165220"/>
              <a:ext cx="5080" cy="83185"/>
            </a:xfrm>
            <a:custGeom>
              <a:avLst/>
              <a:gdLst/>
              <a:ahLst/>
              <a:cxnLst/>
              <a:rect l="l" t="t" r="r" b="b"/>
              <a:pathLst>
                <a:path w="5079" h="83185">
                  <a:moveTo>
                    <a:pt x="4953" y="78486"/>
                  </a:moveTo>
                  <a:lnTo>
                    <a:pt x="4191" y="77724"/>
                  </a:lnTo>
                  <a:lnTo>
                    <a:pt x="762" y="77724"/>
                  </a:lnTo>
                  <a:lnTo>
                    <a:pt x="0" y="78486"/>
                  </a:lnTo>
                  <a:lnTo>
                    <a:pt x="0" y="81915"/>
                  </a:lnTo>
                  <a:lnTo>
                    <a:pt x="762" y="82677"/>
                  </a:lnTo>
                  <a:lnTo>
                    <a:pt x="3048" y="82677"/>
                  </a:lnTo>
                  <a:lnTo>
                    <a:pt x="4064" y="82677"/>
                  </a:lnTo>
                  <a:lnTo>
                    <a:pt x="4953" y="81915"/>
                  </a:lnTo>
                  <a:lnTo>
                    <a:pt x="4953" y="78486"/>
                  </a:lnTo>
                  <a:close/>
                </a:path>
                <a:path w="5079" h="83185">
                  <a:moveTo>
                    <a:pt x="4953" y="64770"/>
                  </a:moveTo>
                  <a:lnTo>
                    <a:pt x="4191" y="64008"/>
                  </a:lnTo>
                  <a:lnTo>
                    <a:pt x="762" y="64008"/>
                  </a:lnTo>
                  <a:lnTo>
                    <a:pt x="0" y="64770"/>
                  </a:lnTo>
                  <a:lnTo>
                    <a:pt x="0" y="68199"/>
                  </a:lnTo>
                  <a:lnTo>
                    <a:pt x="762" y="68961"/>
                  </a:lnTo>
                  <a:lnTo>
                    <a:pt x="3048" y="68961"/>
                  </a:lnTo>
                  <a:lnTo>
                    <a:pt x="4064" y="68961"/>
                  </a:lnTo>
                  <a:lnTo>
                    <a:pt x="4953" y="68199"/>
                  </a:lnTo>
                  <a:lnTo>
                    <a:pt x="4953" y="64770"/>
                  </a:lnTo>
                  <a:close/>
                </a:path>
                <a:path w="5079" h="83185">
                  <a:moveTo>
                    <a:pt x="4953" y="52578"/>
                  </a:moveTo>
                  <a:lnTo>
                    <a:pt x="4191" y="51816"/>
                  </a:lnTo>
                  <a:lnTo>
                    <a:pt x="762" y="51816"/>
                  </a:lnTo>
                  <a:lnTo>
                    <a:pt x="0" y="52578"/>
                  </a:lnTo>
                  <a:lnTo>
                    <a:pt x="0" y="56007"/>
                  </a:lnTo>
                  <a:lnTo>
                    <a:pt x="762" y="56769"/>
                  </a:lnTo>
                  <a:lnTo>
                    <a:pt x="3048" y="56769"/>
                  </a:lnTo>
                  <a:lnTo>
                    <a:pt x="4064" y="56769"/>
                  </a:lnTo>
                  <a:lnTo>
                    <a:pt x="4953" y="55880"/>
                  </a:lnTo>
                  <a:lnTo>
                    <a:pt x="4953" y="52578"/>
                  </a:lnTo>
                  <a:close/>
                </a:path>
                <a:path w="5079" h="83185">
                  <a:moveTo>
                    <a:pt x="4953" y="38862"/>
                  </a:moveTo>
                  <a:lnTo>
                    <a:pt x="4191" y="38100"/>
                  </a:lnTo>
                  <a:lnTo>
                    <a:pt x="762" y="38100"/>
                  </a:lnTo>
                  <a:lnTo>
                    <a:pt x="0" y="38862"/>
                  </a:lnTo>
                  <a:lnTo>
                    <a:pt x="0" y="42291"/>
                  </a:lnTo>
                  <a:lnTo>
                    <a:pt x="762" y="43053"/>
                  </a:lnTo>
                  <a:lnTo>
                    <a:pt x="3048" y="43053"/>
                  </a:lnTo>
                  <a:lnTo>
                    <a:pt x="4064" y="43053"/>
                  </a:lnTo>
                  <a:lnTo>
                    <a:pt x="4953" y="42164"/>
                  </a:lnTo>
                  <a:lnTo>
                    <a:pt x="4953" y="38862"/>
                  </a:lnTo>
                  <a:close/>
                </a:path>
                <a:path w="5079" h="83185">
                  <a:moveTo>
                    <a:pt x="4953" y="26289"/>
                  </a:moveTo>
                  <a:lnTo>
                    <a:pt x="4191" y="25654"/>
                  </a:lnTo>
                  <a:lnTo>
                    <a:pt x="762" y="25654"/>
                  </a:lnTo>
                  <a:lnTo>
                    <a:pt x="0" y="26289"/>
                  </a:lnTo>
                  <a:lnTo>
                    <a:pt x="0" y="28956"/>
                  </a:lnTo>
                  <a:lnTo>
                    <a:pt x="762" y="29591"/>
                  </a:lnTo>
                  <a:lnTo>
                    <a:pt x="3048" y="29591"/>
                  </a:lnTo>
                  <a:lnTo>
                    <a:pt x="4064" y="29591"/>
                  </a:lnTo>
                  <a:lnTo>
                    <a:pt x="4953" y="28956"/>
                  </a:lnTo>
                  <a:lnTo>
                    <a:pt x="4953" y="26289"/>
                  </a:lnTo>
                  <a:close/>
                </a:path>
                <a:path w="5079" h="83185">
                  <a:moveTo>
                    <a:pt x="4953" y="12954"/>
                  </a:moveTo>
                  <a:lnTo>
                    <a:pt x="4191" y="12192"/>
                  </a:lnTo>
                  <a:lnTo>
                    <a:pt x="762" y="12192"/>
                  </a:lnTo>
                  <a:lnTo>
                    <a:pt x="0" y="12954"/>
                  </a:lnTo>
                  <a:lnTo>
                    <a:pt x="0" y="16383"/>
                  </a:lnTo>
                  <a:lnTo>
                    <a:pt x="762" y="17145"/>
                  </a:lnTo>
                  <a:lnTo>
                    <a:pt x="3048" y="17145"/>
                  </a:lnTo>
                  <a:lnTo>
                    <a:pt x="4064" y="17145"/>
                  </a:lnTo>
                  <a:lnTo>
                    <a:pt x="4953" y="16383"/>
                  </a:lnTo>
                  <a:lnTo>
                    <a:pt x="4953" y="12954"/>
                  </a:lnTo>
                  <a:close/>
                </a:path>
                <a:path w="5079" h="83185">
                  <a:moveTo>
                    <a:pt x="4953" y="762"/>
                  </a:moveTo>
                  <a:lnTo>
                    <a:pt x="4191" y="0"/>
                  </a:lnTo>
                  <a:lnTo>
                    <a:pt x="762" y="0"/>
                  </a:lnTo>
                  <a:lnTo>
                    <a:pt x="0" y="762"/>
                  </a:lnTo>
                  <a:lnTo>
                    <a:pt x="0" y="4191"/>
                  </a:lnTo>
                  <a:lnTo>
                    <a:pt x="762" y="4953"/>
                  </a:lnTo>
                  <a:lnTo>
                    <a:pt x="3048" y="4953"/>
                  </a:lnTo>
                  <a:lnTo>
                    <a:pt x="4064" y="4953"/>
                  </a:lnTo>
                  <a:lnTo>
                    <a:pt x="4953" y="4064"/>
                  </a:lnTo>
                  <a:lnTo>
                    <a:pt x="4953" y="762"/>
                  </a:lnTo>
                  <a:close/>
                </a:path>
              </a:pathLst>
            </a:custGeom>
            <a:solidFill>
              <a:srgbClr val="222E3D"/>
            </a:solidFill>
          </p:spPr>
          <p:txBody>
            <a:bodyPr wrap="square" lIns="0" tIns="0" rIns="0" bIns="0" rtlCol="0"/>
            <a:lstStyle/>
            <a:p>
              <a:pPr defTabSz="1828800">
                <a:defRPr/>
              </a:pPr>
              <a:endParaRPr sz="3600" kern="0">
                <a:solidFill>
                  <a:sysClr val="windowText" lastClr="000000"/>
                </a:solidFill>
                <a:latin typeface="Arial"/>
              </a:endParaRPr>
            </a:p>
          </p:txBody>
        </p:sp>
        <p:sp>
          <p:nvSpPr>
            <p:cNvPr id="316" name="object 149">
              <a:extLst>
                <a:ext uri="{FF2B5EF4-FFF2-40B4-BE49-F238E27FC236}">
                  <a16:creationId xmlns:a16="http://schemas.microsoft.com/office/drawing/2014/main" id="{779A20B7-FABF-EC78-854B-469811AE79B2}"/>
                </a:ext>
              </a:extLst>
            </p:cNvPr>
            <p:cNvSpPr/>
            <p:nvPr/>
          </p:nvSpPr>
          <p:spPr>
            <a:xfrm>
              <a:off x="11082274" y="3236976"/>
              <a:ext cx="66040" cy="33655"/>
            </a:xfrm>
            <a:custGeom>
              <a:avLst/>
              <a:gdLst/>
              <a:ahLst/>
              <a:cxnLst/>
              <a:rect l="l" t="t" r="r" b="b"/>
              <a:pathLst>
                <a:path w="66040" h="33654">
                  <a:moveTo>
                    <a:pt x="9017" y="33527"/>
                  </a:moveTo>
                  <a:lnTo>
                    <a:pt x="57150" y="33527"/>
                  </a:lnTo>
                </a:path>
                <a:path w="66040" h="33654">
                  <a:moveTo>
                    <a:pt x="0" y="16763"/>
                  </a:moveTo>
                  <a:lnTo>
                    <a:pt x="32511" y="16763"/>
                  </a:lnTo>
                </a:path>
                <a:path w="66040" h="33654">
                  <a:moveTo>
                    <a:pt x="39370" y="16763"/>
                  </a:moveTo>
                  <a:lnTo>
                    <a:pt x="52070" y="16763"/>
                  </a:lnTo>
                </a:path>
                <a:path w="66040" h="33654">
                  <a:moveTo>
                    <a:pt x="21208" y="0"/>
                  </a:moveTo>
                  <a:lnTo>
                    <a:pt x="65531" y="0"/>
                  </a:lnTo>
                </a:path>
              </a:pathLst>
            </a:custGeom>
            <a:ln w="12192">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17" name="object 150">
              <a:extLst>
                <a:ext uri="{FF2B5EF4-FFF2-40B4-BE49-F238E27FC236}">
                  <a16:creationId xmlns:a16="http://schemas.microsoft.com/office/drawing/2014/main" id="{BCD97EE1-7DCA-7D16-3A4F-62CFB0BD7E41}"/>
                </a:ext>
              </a:extLst>
            </p:cNvPr>
            <p:cNvSpPr/>
            <p:nvPr/>
          </p:nvSpPr>
          <p:spPr>
            <a:xfrm>
              <a:off x="11062335" y="3200018"/>
              <a:ext cx="149225" cy="145415"/>
            </a:xfrm>
            <a:custGeom>
              <a:avLst/>
              <a:gdLst/>
              <a:ahLst/>
              <a:cxnLst/>
              <a:rect l="l" t="t" r="r" b="b"/>
              <a:pathLst>
                <a:path w="149225" h="145414">
                  <a:moveTo>
                    <a:pt x="108966" y="53847"/>
                  </a:moveTo>
                  <a:lnTo>
                    <a:pt x="104685" y="74799"/>
                  </a:lnTo>
                  <a:lnTo>
                    <a:pt x="93011" y="91916"/>
                  </a:lnTo>
                  <a:lnTo>
                    <a:pt x="75693" y="103461"/>
                  </a:lnTo>
                  <a:lnTo>
                    <a:pt x="54483" y="107695"/>
                  </a:lnTo>
                  <a:lnTo>
                    <a:pt x="33272" y="103461"/>
                  </a:lnTo>
                  <a:lnTo>
                    <a:pt x="15954" y="91916"/>
                  </a:lnTo>
                  <a:lnTo>
                    <a:pt x="4280" y="74799"/>
                  </a:lnTo>
                  <a:lnTo>
                    <a:pt x="0" y="53847"/>
                  </a:lnTo>
                  <a:lnTo>
                    <a:pt x="4280" y="32896"/>
                  </a:lnTo>
                  <a:lnTo>
                    <a:pt x="15954" y="15779"/>
                  </a:lnTo>
                  <a:lnTo>
                    <a:pt x="33272" y="4234"/>
                  </a:lnTo>
                  <a:lnTo>
                    <a:pt x="54483" y="0"/>
                  </a:lnTo>
                  <a:lnTo>
                    <a:pt x="75693" y="4234"/>
                  </a:lnTo>
                  <a:lnTo>
                    <a:pt x="93011" y="15779"/>
                  </a:lnTo>
                  <a:lnTo>
                    <a:pt x="104685" y="32896"/>
                  </a:lnTo>
                  <a:lnTo>
                    <a:pt x="108966" y="53847"/>
                  </a:lnTo>
                  <a:close/>
                </a:path>
                <a:path w="149225" h="145414">
                  <a:moveTo>
                    <a:pt x="102997" y="79247"/>
                  </a:moveTo>
                  <a:lnTo>
                    <a:pt x="143637" y="120014"/>
                  </a:lnTo>
                  <a:lnTo>
                    <a:pt x="148844" y="125348"/>
                  </a:lnTo>
                  <a:lnTo>
                    <a:pt x="148717" y="133857"/>
                  </a:lnTo>
                  <a:lnTo>
                    <a:pt x="143256" y="139318"/>
                  </a:lnTo>
                  <a:lnTo>
                    <a:pt x="137795" y="144779"/>
                  </a:lnTo>
                  <a:lnTo>
                    <a:pt x="129159" y="145033"/>
                  </a:lnTo>
                  <a:lnTo>
                    <a:pt x="123825" y="139700"/>
                  </a:lnTo>
                  <a:lnTo>
                    <a:pt x="83820" y="99567"/>
                  </a:lnTo>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pic>
        <p:nvPicPr>
          <p:cNvPr id="318" name="object 151">
            <a:extLst>
              <a:ext uri="{FF2B5EF4-FFF2-40B4-BE49-F238E27FC236}">
                <a16:creationId xmlns:a16="http://schemas.microsoft.com/office/drawing/2014/main" id="{EEDECDF1-0D7B-D99F-CB1C-CA489C8FFEC5}"/>
              </a:ext>
            </a:extLst>
          </p:cNvPr>
          <p:cNvPicPr/>
          <p:nvPr/>
        </p:nvPicPr>
        <p:blipFill>
          <a:blip r:embed="rId23" cstate="print"/>
          <a:stretch>
            <a:fillRect/>
          </a:stretch>
        </p:blipFill>
        <p:spPr>
          <a:xfrm>
            <a:off x="18711615" y="5271080"/>
            <a:ext cx="500126" cy="425956"/>
          </a:xfrm>
          <a:prstGeom prst="rect">
            <a:avLst/>
          </a:prstGeom>
        </p:spPr>
      </p:pic>
      <p:grpSp>
        <p:nvGrpSpPr>
          <p:cNvPr id="319" name="object 152">
            <a:extLst>
              <a:ext uri="{FF2B5EF4-FFF2-40B4-BE49-F238E27FC236}">
                <a16:creationId xmlns:a16="http://schemas.microsoft.com/office/drawing/2014/main" id="{B43DC73A-2D9C-BB51-0710-D77355E5E091}"/>
              </a:ext>
            </a:extLst>
          </p:cNvPr>
          <p:cNvGrpSpPr/>
          <p:nvPr/>
        </p:nvGrpSpPr>
        <p:grpSpPr>
          <a:xfrm>
            <a:off x="19407066" y="5205803"/>
            <a:ext cx="579120" cy="480058"/>
            <a:chOff x="9677654" y="2749550"/>
            <a:chExt cx="289560" cy="240029"/>
          </a:xfrm>
        </p:grpSpPr>
        <p:sp>
          <p:nvSpPr>
            <p:cNvPr id="320" name="object 153">
              <a:extLst>
                <a:ext uri="{FF2B5EF4-FFF2-40B4-BE49-F238E27FC236}">
                  <a16:creationId xmlns:a16="http://schemas.microsoft.com/office/drawing/2014/main" id="{400259F2-8EFF-5281-1492-1CEED302A790}"/>
                </a:ext>
              </a:extLst>
            </p:cNvPr>
            <p:cNvSpPr/>
            <p:nvPr/>
          </p:nvSpPr>
          <p:spPr>
            <a:xfrm>
              <a:off x="9683750" y="2749550"/>
              <a:ext cx="276860" cy="233679"/>
            </a:xfrm>
            <a:custGeom>
              <a:avLst/>
              <a:gdLst/>
              <a:ahLst/>
              <a:cxnLst/>
              <a:rect l="l" t="t" r="r" b="b"/>
              <a:pathLst>
                <a:path w="276859" h="233680">
                  <a:moveTo>
                    <a:pt x="74422" y="110998"/>
                  </a:moveTo>
                  <a:lnTo>
                    <a:pt x="30479" y="110998"/>
                  </a:lnTo>
                </a:path>
                <a:path w="276859" h="233680">
                  <a:moveTo>
                    <a:pt x="132588" y="110998"/>
                  </a:moveTo>
                  <a:lnTo>
                    <a:pt x="88392" y="110998"/>
                  </a:lnTo>
                </a:path>
                <a:path w="276859" h="233680">
                  <a:moveTo>
                    <a:pt x="188975" y="110998"/>
                  </a:moveTo>
                  <a:lnTo>
                    <a:pt x="144779" y="110998"/>
                  </a:lnTo>
                </a:path>
                <a:path w="276859" h="233680">
                  <a:moveTo>
                    <a:pt x="246633" y="110998"/>
                  </a:moveTo>
                  <a:lnTo>
                    <a:pt x="202692" y="110998"/>
                  </a:lnTo>
                </a:path>
                <a:path w="276859" h="233680">
                  <a:moveTo>
                    <a:pt x="246379" y="18034"/>
                  </a:moveTo>
                  <a:lnTo>
                    <a:pt x="185927" y="18034"/>
                  </a:lnTo>
                </a:path>
                <a:path w="276859" h="233680">
                  <a:moveTo>
                    <a:pt x="172211" y="18034"/>
                  </a:moveTo>
                  <a:lnTo>
                    <a:pt x="111251" y="18287"/>
                  </a:lnTo>
                </a:path>
                <a:path w="276859" h="233680">
                  <a:moveTo>
                    <a:pt x="261239" y="18161"/>
                  </a:moveTo>
                  <a:lnTo>
                    <a:pt x="270891" y="18161"/>
                  </a:lnTo>
                  <a:lnTo>
                    <a:pt x="274066" y="18161"/>
                  </a:lnTo>
                  <a:lnTo>
                    <a:pt x="276732" y="20827"/>
                  </a:lnTo>
                  <a:lnTo>
                    <a:pt x="276732" y="24002"/>
                  </a:lnTo>
                  <a:lnTo>
                    <a:pt x="276732" y="48767"/>
                  </a:lnTo>
                  <a:lnTo>
                    <a:pt x="0" y="49022"/>
                  </a:lnTo>
                  <a:lnTo>
                    <a:pt x="0" y="24257"/>
                  </a:lnTo>
                  <a:lnTo>
                    <a:pt x="0" y="20954"/>
                  </a:lnTo>
                  <a:lnTo>
                    <a:pt x="2540" y="18414"/>
                  </a:lnTo>
                  <a:lnTo>
                    <a:pt x="5842" y="18414"/>
                  </a:lnTo>
                  <a:lnTo>
                    <a:pt x="20827" y="18414"/>
                  </a:lnTo>
                </a:path>
                <a:path w="276859" h="233680">
                  <a:moveTo>
                    <a:pt x="95757" y="18034"/>
                  </a:moveTo>
                  <a:lnTo>
                    <a:pt x="35051" y="18034"/>
                  </a:lnTo>
                </a:path>
                <a:path w="276859" h="233680">
                  <a:moveTo>
                    <a:pt x="21081" y="34798"/>
                  </a:moveTo>
                  <a:lnTo>
                    <a:pt x="21081" y="0"/>
                  </a:lnTo>
                </a:path>
                <a:path w="276859" h="233680">
                  <a:moveTo>
                    <a:pt x="95757" y="34798"/>
                  </a:moveTo>
                  <a:lnTo>
                    <a:pt x="95757" y="0"/>
                  </a:lnTo>
                </a:path>
                <a:path w="276859" h="233680">
                  <a:moveTo>
                    <a:pt x="246633" y="34798"/>
                  </a:moveTo>
                  <a:lnTo>
                    <a:pt x="246633" y="0"/>
                  </a:lnTo>
                </a:path>
                <a:path w="276859" h="233680">
                  <a:moveTo>
                    <a:pt x="171957" y="34798"/>
                  </a:moveTo>
                  <a:lnTo>
                    <a:pt x="171957" y="0"/>
                  </a:lnTo>
                </a:path>
                <a:path w="276859" h="233680">
                  <a:moveTo>
                    <a:pt x="74422" y="155194"/>
                  </a:moveTo>
                  <a:lnTo>
                    <a:pt x="30479" y="155194"/>
                  </a:lnTo>
                </a:path>
                <a:path w="276859" h="233680">
                  <a:moveTo>
                    <a:pt x="132588" y="155194"/>
                  </a:moveTo>
                  <a:lnTo>
                    <a:pt x="88392" y="155194"/>
                  </a:lnTo>
                </a:path>
                <a:path w="276859" h="233680">
                  <a:moveTo>
                    <a:pt x="188975" y="155194"/>
                  </a:moveTo>
                  <a:lnTo>
                    <a:pt x="144779" y="155194"/>
                  </a:lnTo>
                </a:path>
                <a:path w="276859" h="233680">
                  <a:moveTo>
                    <a:pt x="246633" y="155194"/>
                  </a:moveTo>
                  <a:lnTo>
                    <a:pt x="202692" y="155194"/>
                  </a:lnTo>
                </a:path>
                <a:path w="276859" h="233680">
                  <a:moveTo>
                    <a:pt x="74422" y="197103"/>
                  </a:moveTo>
                  <a:lnTo>
                    <a:pt x="30479" y="197103"/>
                  </a:lnTo>
                </a:path>
                <a:path w="276859" h="233680">
                  <a:moveTo>
                    <a:pt x="132588" y="197103"/>
                  </a:moveTo>
                  <a:lnTo>
                    <a:pt x="88392" y="197103"/>
                  </a:lnTo>
                </a:path>
                <a:path w="276859" h="233680">
                  <a:moveTo>
                    <a:pt x="188975" y="197103"/>
                  </a:moveTo>
                  <a:lnTo>
                    <a:pt x="144779" y="197103"/>
                  </a:lnTo>
                </a:path>
                <a:path w="276859" h="233680">
                  <a:moveTo>
                    <a:pt x="126" y="48895"/>
                  </a:moveTo>
                  <a:lnTo>
                    <a:pt x="276859" y="48767"/>
                  </a:lnTo>
                  <a:lnTo>
                    <a:pt x="276859" y="227584"/>
                  </a:lnTo>
                  <a:lnTo>
                    <a:pt x="276859" y="230759"/>
                  </a:lnTo>
                  <a:lnTo>
                    <a:pt x="274320" y="233425"/>
                  </a:lnTo>
                  <a:lnTo>
                    <a:pt x="271018" y="233425"/>
                  </a:lnTo>
                  <a:lnTo>
                    <a:pt x="5842" y="233552"/>
                  </a:lnTo>
                  <a:lnTo>
                    <a:pt x="2540" y="233552"/>
                  </a:lnTo>
                  <a:lnTo>
                    <a:pt x="0" y="231012"/>
                  </a:lnTo>
                  <a:lnTo>
                    <a:pt x="0" y="227711"/>
                  </a:lnTo>
                  <a:lnTo>
                    <a:pt x="0" y="77977"/>
                  </a:lnTo>
                  <a:lnTo>
                    <a:pt x="20827" y="77977"/>
                  </a:lnTo>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21" name="object 154">
              <a:extLst>
                <a:ext uri="{FF2B5EF4-FFF2-40B4-BE49-F238E27FC236}">
                  <a16:creationId xmlns:a16="http://schemas.microsoft.com/office/drawing/2014/main" id="{2F7FAB0D-35C9-6B11-528C-848C3BF53F5A}"/>
                </a:ext>
              </a:extLst>
            </p:cNvPr>
            <p:cNvSpPr/>
            <p:nvPr/>
          </p:nvSpPr>
          <p:spPr>
            <a:xfrm>
              <a:off x="9892538" y="2930905"/>
              <a:ext cx="33655" cy="34290"/>
            </a:xfrm>
            <a:custGeom>
              <a:avLst/>
              <a:gdLst/>
              <a:ahLst/>
              <a:cxnLst/>
              <a:rect l="l" t="t" r="r" b="b"/>
              <a:pathLst>
                <a:path w="33654" h="34289">
                  <a:moveTo>
                    <a:pt x="0" y="0"/>
                  </a:moveTo>
                  <a:lnTo>
                    <a:pt x="33654" y="33655"/>
                  </a:lnTo>
                </a:path>
                <a:path w="33654" h="34289">
                  <a:moveTo>
                    <a:pt x="33654" y="0"/>
                  </a:moveTo>
                  <a:lnTo>
                    <a:pt x="0" y="33909"/>
                  </a:lnTo>
                </a:path>
              </a:pathLst>
            </a:custGeom>
            <a:ln w="12192">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grpSp>
      <p:pic>
        <p:nvPicPr>
          <p:cNvPr id="322" name="object 155">
            <a:extLst>
              <a:ext uri="{FF2B5EF4-FFF2-40B4-BE49-F238E27FC236}">
                <a16:creationId xmlns:a16="http://schemas.microsoft.com/office/drawing/2014/main" id="{DF46B2EC-C616-A7D0-BE8E-889393084241}"/>
              </a:ext>
            </a:extLst>
          </p:cNvPr>
          <p:cNvPicPr/>
          <p:nvPr/>
        </p:nvPicPr>
        <p:blipFill>
          <a:blip r:embed="rId24" cstate="print"/>
          <a:stretch>
            <a:fillRect/>
          </a:stretch>
        </p:blipFill>
        <p:spPr>
          <a:xfrm>
            <a:off x="20308512" y="5124267"/>
            <a:ext cx="555244" cy="559562"/>
          </a:xfrm>
          <a:prstGeom prst="rect">
            <a:avLst/>
          </a:prstGeom>
        </p:spPr>
      </p:pic>
      <p:pic>
        <p:nvPicPr>
          <p:cNvPr id="323" name="object 156">
            <a:extLst>
              <a:ext uri="{FF2B5EF4-FFF2-40B4-BE49-F238E27FC236}">
                <a16:creationId xmlns:a16="http://schemas.microsoft.com/office/drawing/2014/main" id="{F4AC52AA-0D9E-73AF-5799-795043DAA748}"/>
              </a:ext>
            </a:extLst>
          </p:cNvPr>
          <p:cNvPicPr/>
          <p:nvPr/>
        </p:nvPicPr>
        <p:blipFill>
          <a:blip r:embed="rId25" cstate="print"/>
          <a:stretch>
            <a:fillRect/>
          </a:stretch>
        </p:blipFill>
        <p:spPr>
          <a:xfrm>
            <a:off x="21192177" y="5187004"/>
            <a:ext cx="603250" cy="488188"/>
          </a:xfrm>
          <a:prstGeom prst="rect">
            <a:avLst/>
          </a:prstGeom>
        </p:spPr>
      </p:pic>
      <p:grpSp>
        <p:nvGrpSpPr>
          <p:cNvPr id="324" name="object 157">
            <a:extLst>
              <a:ext uri="{FF2B5EF4-FFF2-40B4-BE49-F238E27FC236}">
                <a16:creationId xmlns:a16="http://schemas.microsoft.com/office/drawing/2014/main" id="{FEE824C9-F650-0ECA-3DC9-F7CDF12E8453}"/>
              </a:ext>
            </a:extLst>
          </p:cNvPr>
          <p:cNvGrpSpPr/>
          <p:nvPr/>
        </p:nvGrpSpPr>
        <p:grpSpPr>
          <a:xfrm>
            <a:off x="22115721" y="5131533"/>
            <a:ext cx="745490" cy="580390"/>
            <a:chOff x="11031981" y="2712415"/>
            <a:chExt cx="372745" cy="290195"/>
          </a:xfrm>
        </p:grpSpPr>
        <p:sp>
          <p:nvSpPr>
            <p:cNvPr id="325" name="object 158">
              <a:extLst>
                <a:ext uri="{FF2B5EF4-FFF2-40B4-BE49-F238E27FC236}">
                  <a16:creationId xmlns:a16="http://schemas.microsoft.com/office/drawing/2014/main" id="{91C7944D-61EA-5518-C464-B1EDA52F5786}"/>
                </a:ext>
              </a:extLst>
            </p:cNvPr>
            <p:cNvSpPr/>
            <p:nvPr/>
          </p:nvSpPr>
          <p:spPr>
            <a:xfrm>
              <a:off x="11038077" y="2718511"/>
              <a:ext cx="259079" cy="226695"/>
            </a:xfrm>
            <a:custGeom>
              <a:avLst/>
              <a:gdLst/>
              <a:ahLst/>
              <a:cxnLst/>
              <a:rect l="l" t="t" r="r" b="b"/>
              <a:pathLst>
                <a:path w="259079" h="226694">
                  <a:moveTo>
                    <a:pt x="217297" y="226237"/>
                  </a:moveTo>
                  <a:lnTo>
                    <a:pt x="63753" y="226237"/>
                  </a:lnTo>
                  <a:lnTo>
                    <a:pt x="54101" y="226237"/>
                  </a:lnTo>
                  <a:lnTo>
                    <a:pt x="50292" y="220141"/>
                  </a:lnTo>
                  <a:lnTo>
                    <a:pt x="50292" y="208965"/>
                  </a:lnTo>
                  <a:lnTo>
                    <a:pt x="72263" y="208965"/>
                  </a:lnTo>
                </a:path>
                <a:path w="259079" h="226694">
                  <a:moveTo>
                    <a:pt x="258572" y="123748"/>
                  </a:moveTo>
                  <a:lnTo>
                    <a:pt x="258572" y="76250"/>
                  </a:lnTo>
                  <a:lnTo>
                    <a:pt x="258572" y="73583"/>
                  </a:lnTo>
                  <a:lnTo>
                    <a:pt x="256540" y="71678"/>
                  </a:lnTo>
                  <a:lnTo>
                    <a:pt x="254126" y="71678"/>
                  </a:lnTo>
                  <a:lnTo>
                    <a:pt x="74675" y="71678"/>
                  </a:lnTo>
                  <a:lnTo>
                    <a:pt x="72008" y="71678"/>
                  </a:lnTo>
                  <a:lnTo>
                    <a:pt x="70103" y="73837"/>
                  </a:lnTo>
                  <a:lnTo>
                    <a:pt x="70103" y="76250"/>
                  </a:lnTo>
                  <a:lnTo>
                    <a:pt x="70103" y="205155"/>
                  </a:lnTo>
                  <a:lnTo>
                    <a:pt x="70103" y="207822"/>
                  </a:lnTo>
                  <a:lnTo>
                    <a:pt x="72136" y="209727"/>
                  </a:lnTo>
                  <a:lnTo>
                    <a:pt x="74675" y="209727"/>
                  </a:lnTo>
                  <a:lnTo>
                    <a:pt x="216280" y="209727"/>
                  </a:lnTo>
                </a:path>
                <a:path w="259079" h="226694">
                  <a:moveTo>
                    <a:pt x="80772" y="71170"/>
                  </a:moveTo>
                  <a:lnTo>
                    <a:pt x="92506" y="71170"/>
                  </a:lnTo>
                  <a:lnTo>
                    <a:pt x="92506" y="59436"/>
                  </a:lnTo>
                  <a:lnTo>
                    <a:pt x="80772" y="59436"/>
                  </a:lnTo>
                  <a:lnTo>
                    <a:pt x="80772" y="71170"/>
                  </a:lnTo>
                  <a:close/>
                </a:path>
                <a:path w="259079" h="226694">
                  <a:moveTo>
                    <a:pt x="64007" y="48310"/>
                  </a:moveTo>
                  <a:lnTo>
                    <a:pt x="75742" y="48310"/>
                  </a:lnTo>
                  <a:lnTo>
                    <a:pt x="75742" y="36575"/>
                  </a:lnTo>
                  <a:lnTo>
                    <a:pt x="64007" y="36575"/>
                  </a:lnTo>
                  <a:lnTo>
                    <a:pt x="64007" y="48310"/>
                  </a:lnTo>
                  <a:close/>
                </a:path>
                <a:path w="259079" h="226694">
                  <a:moveTo>
                    <a:pt x="86868" y="22402"/>
                  </a:moveTo>
                  <a:lnTo>
                    <a:pt x="98602" y="22402"/>
                  </a:lnTo>
                  <a:lnTo>
                    <a:pt x="98602" y="10667"/>
                  </a:lnTo>
                  <a:lnTo>
                    <a:pt x="86868" y="10667"/>
                  </a:lnTo>
                  <a:lnTo>
                    <a:pt x="86868" y="22402"/>
                  </a:lnTo>
                  <a:close/>
                </a:path>
                <a:path w="259079" h="226694">
                  <a:moveTo>
                    <a:pt x="0" y="11734"/>
                  </a:moveTo>
                  <a:lnTo>
                    <a:pt x="11734" y="11734"/>
                  </a:lnTo>
                  <a:lnTo>
                    <a:pt x="11734" y="0"/>
                  </a:lnTo>
                  <a:lnTo>
                    <a:pt x="0" y="0"/>
                  </a:lnTo>
                  <a:lnTo>
                    <a:pt x="0" y="11734"/>
                  </a:lnTo>
                  <a:close/>
                </a:path>
                <a:path w="259079" h="226694">
                  <a:moveTo>
                    <a:pt x="105155" y="61899"/>
                  </a:moveTo>
                  <a:lnTo>
                    <a:pt x="116890" y="61899"/>
                  </a:lnTo>
                  <a:lnTo>
                    <a:pt x="116890" y="49098"/>
                  </a:lnTo>
                  <a:lnTo>
                    <a:pt x="105155" y="49098"/>
                  </a:lnTo>
                  <a:lnTo>
                    <a:pt x="105155" y="61899"/>
                  </a:lnTo>
                  <a:close/>
                </a:path>
                <a:path w="259079" h="226694">
                  <a:moveTo>
                    <a:pt x="48768" y="74218"/>
                  </a:moveTo>
                  <a:lnTo>
                    <a:pt x="60502" y="74218"/>
                  </a:lnTo>
                  <a:lnTo>
                    <a:pt x="60502" y="62483"/>
                  </a:lnTo>
                  <a:lnTo>
                    <a:pt x="48768" y="62483"/>
                  </a:lnTo>
                  <a:lnTo>
                    <a:pt x="48768" y="74218"/>
                  </a:lnTo>
                  <a:close/>
                </a:path>
                <a:path w="259079" h="226694">
                  <a:moveTo>
                    <a:pt x="44196" y="112318"/>
                  </a:moveTo>
                  <a:lnTo>
                    <a:pt x="55930" y="112318"/>
                  </a:lnTo>
                  <a:lnTo>
                    <a:pt x="55930" y="100583"/>
                  </a:lnTo>
                  <a:lnTo>
                    <a:pt x="44196" y="100583"/>
                  </a:lnTo>
                  <a:lnTo>
                    <a:pt x="44196" y="112318"/>
                  </a:lnTo>
                  <a:close/>
                </a:path>
                <a:path w="259079" h="226694">
                  <a:moveTo>
                    <a:pt x="19812" y="89458"/>
                  </a:moveTo>
                  <a:lnTo>
                    <a:pt x="31546" y="89458"/>
                  </a:lnTo>
                  <a:lnTo>
                    <a:pt x="31546" y="77724"/>
                  </a:lnTo>
                  <a:lnTo>
                    <a:pt x="19812" y="77724"/>
                  </a:lnTo>
                  <a:lnTo>
                    <a:pt x="19812" y="89458"/>
                  </a:lnTo>
                  <a:close/>
                </a:path>
                <a:path w="259079" h="226694">
                  <a:moveTo>
                    <a:pt x="33527" y="45262"/>
                  </a:moveTo>
                  <a:lnTo>
                    <a:pt x="45262" y="45262"/>
                  </a:lnTo>
                  <a:lnTo>
                    <a:pt x="45262" y="33527"/>
                  </a:lnTo>
                  <a:lnTo>
                    <a:pt x="33527" y="33527"/>
                  </a:lnTo>
                  <a:lnTo>
                    <a:pt x="33527" y="45262"/>
                  </a:lnTo>
                  <a:close/>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26" name="object 159">
              <a:extLst>
                <a:ext uri="{FF2B5EF4-FFF2-40B4-BE49-F238E27FC236}">
                  <a16:creationId xmlns:a16="http://schemas.microsoft.com/office/drawing/2014/main" id="{004B2A20-E3C6-9530-BE8D-5A502AB70601}"/>
                </a:ext>
              </a:extLst>
            </p:cNvPr>
            <p:cNvSpPr/>
            <p:nvPr/>
          </p:nvSpPr>
          <p:spPr>
            <a:xfrm>
              <a:off x="11154029" y="2825521"/>
              <a:ext cx="113664" cy="61594"/>
            </a:xfrm>
            <a:custGeom>
              <a:avLst/>
              <a:gdLst/>
              <a:ahLst/>
              <a:cxnLst/>
              <a:rect l="l" t="t" r="r" b="b"/>
              <a:pathLst>
                <a:path w="113665" h="61594">
                  <a:moveTo>
                    <a:pt x="28244" y="30480"/>
                  </a:moveTo>
                  <a:lnTo>
                    <a:pt x="16891" y="30480"/>
                  </a:lnTo>
                  <a:lnTo>
                    <a:pt x="16891" y="34137"/>
                  </a:lnTo>
                  <a:lnTo>
                    <a:pt x="28244" y="34137"/>
                  </a:lnTo>
                  <a:lnTo>
                    <a:pt x="28244" y="30480"/>
                  </a:lnTo>
                  <a:close/>
                </a:path>
                <a:path w="113665" h="61594">
                  <a:moveTo>
                    <a:pt x="30022" y="57912"/>
                  </a:moveTo>
                  <a:lnTo>
                    <a:pt x="12192" y="57912"/>
                  </a:lnTo>
                  <a:lnTo>
                    <a:pt x="12192" y="61569"/>
                  </a:lnTo>
                  <a:lnTo>
                    <a:pt x="30022" y="61569"/>
                  </a:lnTo>
                  <a:lnTo>
                    <a:pt x="30022" y="57912"/>
                  </a:lnTo>
                  <a:close/>
                </a:path>
                <a:path w="113665" h="61594">
                  <a:moveTo>
                    <a:pt x="36195" y="42672"/>
                  </a:moveTo>
                  <a:lnTo>
                    <a:pt x="0" y="42672"/>
                  </a:lnTo>
                  <a:lnTo>
                    <a:pt x="0" y="46329"/>
                  </a:lnTo>
                  <a:lnTo>
                    <a:pt x="36195" y="46329"/>
                  </a:lnTo>
                  <a:lnTo>
                    <a:pt x="36195" y="42672"/>
                  </a:lnTo>
                  <a:close/>
                </a:path>
                <a:path w="113665" h="61594">
                  <a:moveTo>
                    <a:pt x="44780" y="0"/>
                  </a:moveTo>
                  <a:lnTo>
                    <a:pt x="0" y="0"/>
                  </a:lnTo>
                  <a:lnTo>
                    <a:pt x="0" y="3657"/>
                  </a:lnTo>
                  <a:lnTo>
                    <a:pt x="44780" y="3657"/>
                  </a:lnTo>
                  <a:lnTo>
                    <a:pt x="44780" y="0"/>
                  </a:lnTo>
                  <a:close/>
                </a:path>
                <a:path w="113665" h="61594">
                  <a:moveTo>
                    <a:pt x="50482" y="42672"/>
                  </a:moveTo>
                  <a:lnTo>
                    <a:pt x="38100" y="42672"/>
                  </a:lnTo>
                  <a:lnTo>
                    <a:pt x="38100" y="46329"/>
                  </a:lnTo>
                  <a:lnTo>
                    <a:pt x="50482" y="46329"/>
                  </a:lnTo>
                  <a:lnTo>
                    <a:pt x="50482" y="42672"/>
                  </a:lnTo>
                  <a:close/>
                </a:path>
                <a:path w="113665" h="61594">
                  <a:moveTo>
                    <a:pt x="70929" y="15240"/>
                  </a:moveTo>
                  <a:lnTo>
                    <a:pt x="12192" y="15240"/>
                  </a:lnTo>
                  <a:lnTo>
                    <a:pt x="12192" y="18897"/>
                  </a:lnTo>
                  <a:lnTo>
                    <a:pt x="70929" y="18897"/>
                  </a:lnTo>
                  <a:lnTo>
                    <a:pt x="70929" y="15240"/>
                  </a:lnTo>
                  <a:close/>
                </a:path>
                <a:path w="113665" h="61594">
                  <a:moveTo>
                    <a:pt x="79629" y="57912"/>
                  </a:moveTo>
                  <a:lnTo>
                    <a:pt x="35052" y="57912"/>
                  </a:lnTo>
                  <a:lnTo>
                    <a:pt x="35052" y="61569"/>
                  </a:lnTo>
                  <a:lnTo>
                    <a:pt x="79629" y="61569"/>
                  </a:lnTo>
                  <a:lnTo>
                    <a:pt x="79629" y="57912"/>
                  </a:lnTo>
                  <a:close/>
                </a:path>
                <a:path w="113665" h="61594">
                  <a:moveTo>
                    <a:pt x="80797" y="0"/>
                  </a:moveTo>
                  <a:lnTo>
                    <a:pt x="48768" y="0"/>
                  </a:lnTo>
                  <a:lnTo>
                    <a:pt x="48768" y="3657"/>
                  </a:lnTo>
                  <a:lnTo>
                    <a:pt x="80797" y="3657"/>
                  </a:lnTo>
                  <a:lnTo>
                    <a:pt x="80797" y="0"/>
                  </a:lnTo>
                  <a:close/>
                </a:path>
                <a:path w="113665" h="61594">
                  <a:moveTo>
                    <a:pt x="83312" y="30480"/>
                  </a:moveTo>
                  <a:lnTo>
                    <a:pt x="32004" y="30480"/>
                  </a:lnTo>
                  <a:lnTo>
                    <a:pt x="32004" y="34137"/>
                  </a:lnTo>
                  <a:lnTo>
                    <a:pt x="83312" y="34137"/>
                  </a:lnTo>
                  <a:lnTo>
                    <a:pt x="83312" y="30480"/>
                  </a:lnTo>
                  <a:close/>
                </a:path>
                <a:path w="113665" h="61594">
                  <a:moveTo>
                    <a:pt x="92684" y="15240"/>
                  </a:moveTo>
                  <a:lnTo>
                    <a:pt x="74676" y="15240"/>
                  </a:lnTo>
                  <a:lnTo>
                    <a:pt x="74676" y="18897"/>
                  </a:lnTo>
                  <a:lnTo>
                    <a:pt x="92684" y="18897"/>
                  </a:lnTo>
                  <a:lnTo>
                    <a:pt x="92684" y="15240"/>
                  </a:lnTo>
                  <a:close/>
                </a:path>
                <a:path w="113665" h="61594">
                  <a:moveTo>
                    <a:pt x="103289" y="42672"/>
                  </a:moveTo>
                  <a:lnTo>
                    <a:pt x="54864" y="42672"/>
                  </a:lnTo>
                  <a:lnTo>
                    <a:pt x="54864" y="46329"/>
                  </a:lnTo>
                  <a:lnTo>
                    <a:pt x="103289" y="46329"/>
                  </a:lnTo>
                  <a:lnTo>
                    <a:pt x="103289" y="42672"/>
                  </a:lnTo>
                  <a:close/>
                </a:path>
                <a:path w="113665" h="61594">
                  <a:moveTo>
                    <a:pt x="113652" y="15240"/>
                  </a:moveTo>
                  <a:lnTo>
                    <a:pt x="96012" y="15240"/>
                  </a:lnTo>
                  <a:lnTo>
                    <a:pt x="96012" y="18897"/>
                  </a:lnTo>
                  <a:lnTo>
                    <a:pt x="113652" y="18897"/>
                  </a:lnTo>
                  <a:lnTo>
                    <a:pt x="113652" y="15240"/>
                  </a:lnTo>
                  <a:close/>
                </a:path>
              </a:pathLst>
            </a:custGeom>
            <a:solidFill>
              <a:srgbClr val="000000"/>
            </a:solidFill>
          </p:spPr>
          <p:txBody>
            <a:bodyPr wrap="square" lIns="0" tIns="0" rIns="0" bIns="0" rtlCol="0"/>
            <a:lstStyle/>
            <a:p>
              <a:pPr defTabSz="1828800">
                <a:defRPr/>
              </a:pPr>
              <a:endParaRPr sz="3600" kern="0">
                <a:solidFill>
                  <a:sysClr val="windowText" lastClr="000000"/>
                </a:solidFill>
                <a:latin typeface="Arial"/>
              </a:endParaRPr>
            </a:p>
          </p:txBody>
        </p:sp>
        <p:sp>
          <p:nvSpPr>
            <p:cNvPr id="327" name="object 160">
              <a:extLst>
                <a:ext uri="{FF2B5EF4-FFF2-40B4-BE49-F238E27FC236}">
                  <a16:creationId xmlns:a16="http://schemas.microsoft.com/office/drawing/2014/main" id="{6FCF392A-4821-4286-4824-12C9EF2EA1ED}"/>
                </a:ext>
              </a:extLst>
            </p:cNvPr>
            <p:cNvSpPr/>
            <p:nvPr/>
          </p:nvSpPr>
          <p:spPr>
            <a:xfrm>
              <a:off x="11138789" y="2814700"/>
              <a:ext cx="5080" cy="83185"/>
            </a:xfrm>
            <a:custGeom>
              <a:avLst/>
              <a:gdLst/>
              <a:ahLst/>
              <a:cxnLst/>
              <a:rect l="l" t="t" r="r" b="b"/>
              <a:pathLst>
                <a:path w="5079" h="83185">
                  <a:moveTo>
                    <a:pt x="4953" y="78486"/>
                  </a:moveTo>
                  <a:lnTo>
                    <a:pt x="4191" y="77724"/>
                  </a:lnTo>
                  <a:lnTo>
                    <a:pt x="762" y="77724"/>
                  </a:lnTo>
                  <a:lnTo>
                    <a:pt x="0" y="78486"/>
                  </a:lnTo>
                  <a:lnTo>
                    <a:pt x="0" y="81915"/>
                  </a:lnTo>
                  <a:lnTo>
                    <a:pt x="762" y="82677"/>
                  </a:lnTo>
                  <a:lnTo>
                    <a:pt x="3048" y="82677"/>
                  </a:lnTo>
                  <a:lnTo>
                    <a:pt x="4064" y="82677"/>
                  </a:lnTo>
                  <a:lnTo>
                    <a:pt x="4953" y="81915"/>
                  </a:lnTo>
                  <a:lnTo>
                    <a:pt x="4953" y="78486"/>
                  </a:lnTo>
                  <a:close/>
                </a:path>
                <a:path w="5079" h="83185">
                  <a:moveTo>
                    <a:pt x="4953" y="66294"/>
                  </a:moveTo>
                  <a:lnTo>
                    <a:pt x="4191" y="65532"/>
                  </a:lnTo>
                  <a:lnTo>
                    <a:pt x="762" y="65532"/>
                  </a:lnTo>
                  <a:lnTo>
                    <a:pt x="0" y="66294"/>
                  </a:lnTo>
                  <a:lnTo>
                    <a:pt x="0" y="69723"/>
                  </a:lnTo>
                  <a:lnTo>
                    <a:pt x="762" y="70485"/>
                  </a:lnTo>
                  <a:lnTo>
                    <a:pt x="3048" y="70485"/>
                  </a:lnTo>
                  <a:lnTo>
                    <a:pt x="4064" y="70485"/>
                  </a:lnTo>
                  <a:lnTo>
                    <a:pt x="4953" y="69723"/>
                  </a:lnTo>
                  <a:lnTo>
                    <a:pt x="4953" y="66294"/>
                  </a:lnTo>
                  <a:close/>
                </a:path>
                <a:path w="5079" h="83185">
                  <a:moveTo>
                    <a:pt x="4953" y="52578"/>
                  </a:moveTo>
                  <a:lnTo>
                    <a:pt x="4191" y="51816"/>
                  </a:lnTo>
                  <a:lnTo>
                    <a:pt x="762" y="51816"/>
                  </a:lnTo>
                  <a:lnTo>
                    <a:pt x="0" y="52578"/>
                  </a:lnTo>
                  <a:lnTo>
                    <a:pt x="0" y="56007"/>
                  </a:lnTo>
                  <a:lnTo>
                    <a:pt x="762" y="56769"/>
                  </a:lnTo>
                  <a:lnTo>
                    <a:pt x="3048" y="56769"/>
                  </a:lnTo>
                  <a:lnTo>
                    <a:pt x="4064" y="56769"/>
                  </a:lnTo>
                  <a:lnTo>
                    <a:pt x="4953" y="55880"/>
                  </a:lnTo>
                  <a:lnTo>
                    <a:pt x="4953" y="52578"/>
                  </a:lnTo>
                  <a:close/>
                </a:path>
                <a:path w="5079" h="83185">
                  <a:moveTo>
                    <a:pt x="4953" y="40386"/>
                  </a:moveTo>
                  <a:lnTo>
                    <a:pt x="4191" y="39624"/>
                  </a:lnTo>
                  <a:lnTo>
                    <a:pt x="762" y="39624"/>
                  </a:lnTo>
                  <a:lnTo>
                    <a:pt x="0" y="40386"/>
                  </a:lnTo>
                  <a:lnTo>
                    <a:pt x="0" y="43815"/>
                  </a:lnTo>
                  <a:lnTo>
                    <a:pt x="762" y="44577"/>
                  </a:lnTo>
                  <a:lnTo>
                    <a:pt x="3048" y="44577"/>
                  </a:lnTo>
                  <a:lnTo>
                    <a:pt x="4064" y="44577"/>
                  </a:lnTo>
                  <a:lnTo>
                    <a:pt x="4953" y="43688"/>
                  </a:lnTo>
                  <a:lnTo>
                    <a:pt x="4953" y="40386"/>
                  </a:lnTo>
                  <a:close/>
                </a:path>
                <a:path w="5079" h="83185">
                  <a:moveTo>
                    <a:pt x="4953" y="26670"/>
                  </a:moveTo>
                  <a:lnTo>
                    <a:pt x="4191" y="25908"/>
                  </a:lnTo>
                  <a:lnTo>
                    <a:pt x="762" y="25908"/>
                  </a:lnTo>
                  <a:lnTo>
                    <a:pt x="0" y="26670"/>
                  </a:lnTo>
                  <a:lnTo>
                    <a:pt x="0" y="30099"/>
                  </a:lnTo>
                  <a:lnTo>
                    <a:pt x="762" y="30861"/>
                  </a:lnTo>
                  <a:lnTo>
                    <a:pt x="3048" y="30861"/>
                  </a:lnTo>
                  <a:lnTo>
                    <a:pt x="4064" y="30861"/>
                  </a:lnTo>
                  <a:lnTo>
                    <a:pt x="4953" y="30099"/>
                  </a:lnTo>
                  <a:lnTo>
                    <a:pt x="4953" y="26670"/>
                  </a:lnTo>
                  <a:close/>
                </a:path>
                <a:path w="5079" h="83185">
                  <a:moveTo>
                    <a:pt x="4953" y="14478"/>
                  </a:moveTo>
                  <a:lnTo>
                    <a:pt x="4191" y="13716"/>
                  </a:lnTo>
                  <a:lnTo>
                    <a:pt x="762" y="13716"/>
                  </a:lnTo>
                  <a:lnTo>
                    <a:pt x="0" y="14478"/>
                  </a:lnTo>
                  <a:lnTo>
                    <a:pt x="0" y="17907"/>
                  </a:lnTo>
                  <a:lnTo>
                    <a:pt x="762" y="18669"/>
                  </a:lnTo>
                  <a:lnTo>
                    <a:pt x="3048" y="18669"/>
                  </a:lnTo>
                  <a:lnTo>
                    <a:pt x="4064" y="18669"/>
                  </a:lnTo>
                  <a:lnTo>
                    <a:pt x="4953" y="17907"/>
                  </a:lnTo>
                  <a:lnTo>
                    <a:pt x="4953" y="14478"/>
                  </a:lnTo>
                  <a:close/>
                </a:path>
                <a:path w="5079" h="83185">
                  <a:moveTo>
                    <a:pt x="4953" y="762"/>
                  </a:moveTo>
                  <a:lnTo>
                    <a:pt x="4191" y="0"/>
                  </a:lnTo>
                  <a:lnTo>
                    <a:pt x="762" y="0"/>
                  </a:lnTo>
                  <a:lnTo>
                    <a:pt x="0" y="762"/>
                  </a:lnTo>
                  <a:lnTo>
                    <a:pt x="0" y="4191"/>
                  </a:lnTo>
                  <a:lnTo>
                    <a:pt x="762" y="4953"/>
                  </a:lnTo>
                  <a:lnTo>
                    <a:pt x="3048" y="4953"/>
                  </a:lnTo>
                  <a:lnTo>
                    <a:pt x="4064" y="4953"/>
                  </a:lnTo>
                  <a:lnTo>
                    <a:pt x="4953" y="4064"/>
                  </a:lnTo>
                  <a:lnTo>
                    <a:pt x="4953" y="762"/>
                  </a:lnTo>
                  <a:close/>
                </a:path>
              </a:pathLst>
            </a:custGeom>
            <a:solidFill>
              <a:srgbClr val="222E3D"/>
            </a:solidFill>
          </p:spPr>
          <p:txBody>
            <a:bodyPr wrap="square" lIns="0" tIns="0" rIns="0" bIns="0" rtlCol="0"/>
            <a:lstStyle/>
            <a:p>
              <a:pPr defTabSz="1828800">
                <a:defRPr/>
              </a:pPr>
              <a:endParaRPr sz="3600" kern="0">
                <a:solidFill>
                  <a:sysClr val="windowText" lastClr="000000"/>
                </a:solidFill>
                <a:latin typeface="Arial"/>
              </a:endParaRPr>
            </a:p>
          </p:txBody>
        </p:sp>
        <p:sp>
          <p:nvSpPr>
            <p:cNvPr id="328" name="object 161">
              <a:extLst>
                <a:ext uri="{FF2B5EF4-FFF2-40B4-BE49-F238E27FC236}">
                  <a16:creationId xmlns:a16="http://schemas.microsoft.com/office/drawing/2014/main" id="{32C5E4F9-923B-6734-F105-76CD4E4BAB77}"/>
                </a:ext>
              </a:extLst>
            </p:cNvPr>
            <p:cNvSpPr/>
            <p:nvPr/>
          </p:nvSpPr>
          <p:spPr>
            <a:xfrm>
              <a:off x="11269725" y="2887980"/>
              <a:ext cx="66040" cy="33655"/>
            </a:xfrm>
            <a:custGeom>
              <a:avLst/>
              <a:gdLst/>
              <a:ahLst/>
              <a:cxnLst/>
              <a:rect l="l" t="t" r="r" b="b"/>
              <a:pathLst>
                <a:path w="66040" h="33655">
                  <a:moveTo>
                    <a:pt x="9017" y="33528"/>
                  </a:moveTo>
                  <a:lnTo>
                    <a:pt x="57150" y="33528"/>
                  </a:lnTo>
                </a:path>
                <a:path w="66040" h="33655">
                  <a:moveTo>
                    <a:pt x="0" y="16764"/>
                  </a:moveTo>
                  <a:lnTo>
                    <a:pt x="32512" y="16764"/>
                  </a:lnTo>
                </a:path>
                <a:path w="66040" h="33655">
                  <a:moveTo>
                    <a:pt x="39370" y="16764"/>
                  </a:moveTo>
                  <a:lnTo>
                    <a:pt x="52070" y="16764"/>
                  </a:lnTo>
                </a:path>
                <a:path w="66040" h="33655">
                  <a:moveTo>
                    <a:pt x="21208" y="0"/>
                  </a:moveTo>
                  <a:lnTo>
                    <a:pt x="65531" y="0"/>
                  </a:lnTo>
                </a:path>
              </a:pathLst>
            </a:custGeom>
            <a:ln w="12192">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29" name="object 162">
              <a:extLst>
                <a:ext uri="{FF2B5EF4-FFF2-40B4-BE49-F238E27FC236}">
                  <a16:creationId xmlns:a16="http://schemas.microsoft.com/office/drawing/2014/main" id="{83D45ADD-1BEF-02E5-FE5C-6287D3D1B447}"/>
                </a:ext>
              </a:extLst>
            </p:cNvPr>
            <p:cNvSpPr/>
            <p:nvPr/>
          </p:nvSpPr>
          <p:spPr>
            <a:xfrm>
              <a:off x="11249786" y="2851023"/>
              <a:ext cx="149225" cy="145415"/>
            </a:xfrm>
            <a:custGeom>
              <a:avLst/>
              <a:gdLst/>
              <a:ahLst/>
              <a:cxnLst/>
              <a:rect l="l" t="t" r="r" b="b"/>
              <a:pathLst>
                <a:path w="149225" h="145414">
                  <a:moveTo>
                    <a:pt x="108966" y="53848"/>
                  </a:moveTo>
                  <a:lnTo>
                    <a:pt x="104685" y="74799"/>
                  </a:lnTo>
                  <a:lnTo>
                    <a:pt x="93011" y="91916"/>
                  </a:lnTo>
                  <a:lnTo>
                    <a:pt x="75693" y="103461"/>
                  </a:lnTo>
                  <a:lnTo>
                    <a:pt x="54483" y="107696"/>
                  </a:lnTo>
                  <a:lnTo>
                    <a:pt x="33272" y="103461"/>
                  </a:lnTo>
                  <a:lnTo>
                    <a:pt x="15954" y="91916"/>
                  </a:lnTo>
                  <a:lnTo>
                    <a:pt x="4280" y="74799"/>
                  </a:lnTo>
                  <a:lnTo>
                    <a:pt x="0" y="53848"/>
                  </a:lnTo>
                  <a:lnTo>
                    <a:pt x="4280" y="32896"/>
                  </a:lnTo>
                  <a:lnTo>
                    <a:pt x="15954" y="15779"/>
                  </a:lnTo>
                  <a:lnTo>
                    <a:pt x="33272" y="4234"/>
                  </a:lnTo>
                  <a:lnTo>
                    <a:pt x="54483" y="0"/>
                  </a:lnTo>
                  <a:lnTo>
                    <a:pt x="75693" y="4234"/>
                  </a:lnTo>
                  <a:lnTo>
                    <a:pt x="93011" y="15779"/>
                  </a:lnTo>
                  <a:lnTo>
                    <a:pt x="104685" y="32896"/>
                  </a:lnTo>
                  <a:lnTo>
                    <a:pt x="108966" y="53848"/>
                  </a:lnTo>
                  <a:close/>
                </a:path>
                <a:path w="149225" h="145414">
                  <a:moveTo>
                    <a:pt x="102997" y="79248"/>
                  </a:moveTo>
                  <a:lnTo>
                    <a:pt x="143637" y="120014"/>
                  </a:lnTo>
                  <a:lnTo>
                    <a:pt x="148844" y="125349"/>
                  </a:lnTo>
                  <a:lnTo>
                    <a:pt x="148717" y="133857"/>
                  </a:lnTo>
                  <a:lnTo>
                    <a:pt x="143256" y="139318"/>
                  </a:lnTo>
                  <a:lnTo>
                    <a:pt x="137795" y="144779"/>
                  </a:lnTo>
                  <a:lnTo>
                    <a:pt x="129159" y="145034"/>
                  </a:lnTo>
                  <a:lnTo>
                    <a:pt x="123825" y="139700"/>
                  </a:lnTo>
                  <a:lnTo>
                    <a:pt x="83820" y="99567"/>
                  </a:lnTo>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pic>
        <p:nvPicPr>
          <p:cNvPr id="330" name="object 163">
            <a:extLst>
              <a:ext uri="{FF2B5EF4-FFF2-40B4-BE49-F238E27FC236}">
                <a16:creationId xmlns:a16="http://schemas.microsoft.com/office/drawing/2014/main" id="{F3FDEE56-5ACD-BD11-263F-15ECA4EE77A6}"/>
              </a:ext>
            </a:extLst>
          </p:cNvPr>
          <p:cNvPicPr/>
          <p:nvPr/>
        </p:nvPicPr>
        <p:blipFill>
          <a:blip r:embed="rId26" cstate="print"/>
          <a:stretch>
            <a:fillRect/>
          </a:stretch>
        </p:blipFill>
        <p:spPr>
          <a:xfrm>
            <a:off x="19080421" y="4600518"/>
            <a:ext cx="500126" cy="425956"/>
          </a:xfrm>
          <a:prstGeom prst="rect">
            <a:avLst/>
          </a:prstGeom>
        </p:spPr>
      </p:pic>
      <p:grpSp>
        <p:nvGrpSpPr>
          <p:cNvPr id="331" name="object 164">
            <a:extLst>
              <a:ext uri="{FF2B5EF4-FFF2-40B4-BE49-F238E27FC236}">
                <a16:creationId xmlns:a16="http://schemas.microsoft.com/office/drawing/2014/main" id="{EE4B9410-D367-7DA0-B715-68DA4CCD3302}"/>
              </a:ext>
            </a:extLst>
          </p:cNvPr>
          <p:cNvGrpSpPr/>
          <p:nvPr/>
        </p:nvGrpSpPr>
        <p:grpSpPr>
          <a:xfrm>
            <a:off x="19775872" y="4532192"/>
            <a:ext cx="579120" cy="482600"/>
            <a:chOff x="9862057" y="2412745"/>
            <a:chExt cx="289560" cy="241300"/>
          </a:xfrm>
        </p:grpSpPr>
        <p:sp>
          <p:nvSpPr>
            <p:cNvPr id="332" name="object 165">
              <a:extLst>
                <a:ext uri="{FF2B5EF4-FFF2-40B4-BE49-F238E27FC236}">
                  <a16:creationId xmlns:a16="http://schemas.microsoft.com/office/drawing/2014/main" id="{B2430F4B-CD36-46DF-E5D0-F45E4996638A}"/>
                </a:ext>
              </a:extLst>
            </p:cNvPr>
            <p:cNvSpPr/>
            <p:nvPr/>
          </p:nvSpPr>
          <p:spPr>
            <a:xfrm>
              <a:off x="9868153" y="2412745"/>
              <a:ext cx="276860" cy="235585"/>
            </a:xfrm>
            <a:custGeom>
              <a:avLst/>
              <a:gdLst/>
              <a:ahLst/>
              <a:cxnLst/>
              <a:rect l="l" t="t" r="r" b="b"/>
              <a:pathLst>
                <a:path w="276859" h="235585">
                  <a:moveTo>
                    <a:pt x="74422" y="110998"/>
                  </a:moveTo>
                  <a:lnTo>
                    <a:pt x="30479" y="110998"/>
                  </a:lnTo>
                </a:path>
                <a:path w="276859" h="235585">
                  <a:moveTo>
                    <a:pt x="132588" y="110998"/>
                  </a:moveTo>
                  <a:lnTo>
                    <a:pt x="88392" y="110998"/>
                  </a:lnTo>
                </a:path>
                <a:path w="276859" h="235585">
                  <a:moveTo>
                    <a:pt x="188975" y="110998"/>
                  </a:moveTo>
                  <a:lnTo>
                    <a:pt x="146176" y="110998"/>
                  </a:lnTo>
                </a:path>
                <a:path w="276859" h="235585">
                  <a:moveTo>
                    <a:pt x="246634" y="110998"/>
                  </a:moveTo>
                  <a:lnTo>
                    <a:pt x="202692" y="110998"/>
                  </a:lnTo>
                </a:path>
                <a:path w="276859" h="235585">
                  <a:moveTo>
                    <a:pt x="247903" y="18033"/>
                  </a:moveTo>
                  <a:lnTo>
                    <a:pt x="185927" y="18033"/>
                  </a:lnTo>
                </a:path>
                <a:path w="276859" h="235585">
                  <a:moveTo>
                    <a:pt x="172212" y="18033"/>
                  </a:moveTo>
                  <a:lnTo>
                    <a:pt x="111251" y="18287"/>
                  </a:lnTo>
                </a:path>
                <a:path w="276859" h="235585">
                  <a:moveTo>
                    <a:pt x="261239" y="18161"/>
                  </a:moveTo>
                  <a:lnTo>
                    <a:pt x="270891" y="18161"/>
                  </a:lnTo>
                  <a:lnTo>
                    <a:pt x="274066" y="18161"/>
                  </a:lnTo>
                  <a:lnTo>
                    <a:pt x="276732" y="20827"/>
                  </a:lnTo>
                  <a:lnTo>
                    <a:pt x="276732" y="24002"/>
                  </a:lnTo>
                  <a:lnTo>
                    <a:pt x="276732" y="48767"/>
                  </a:lnTo>
                  <a:lnTo>
                    <a:pt x="0" y="49021"/>
                  </a:lnTo>
                  <a:lnTo>
                    <a:pt x="0" y="24256"/>
                  </a:lnTo>
                  <a:lnTo>
                    <a:pt x="0" y="20954"/>
                  </a:lnTo>
                  <a:lnTo>
                    <a:pt x="2540" y="18414"/>
                  </a:lnTo>
                  <a:lnTo>
                    <a:pt x="5842" y="18414"/>
                  </a:lnTo>
                  <a:lnTo>
                    <a:pt x="20827" y="18414"/>
                  </a:lnTo>
                </a:path>
                <a:path w="276859" h="235585">
                  <a:moveTo>
                    <a:pt x="95757" y="18033"/>
                  </a:moveTo>
                  <a:lnTo>
                    <a:pt x="35051" y="18033"/>
                  </a:lnTo>
                </a:path>
                <a:path w="276859" h="235585">
                  <a:moveTo>
                    <a:pt x="21081" y="34798"/>
                  </a:moveTo>
                  <a:lnTo>
                    <a:pt x="21081" y="0"/>
                  </a:lnTo>
                </a:path>
                <a:path w="276859" h="235585">
                  <a:moveTo>
                    <a:pt x="96520" y="34798"/>
                  </a:moveTo>
                  <a:lnTo>
                    <a:pt x="96520" y="0"/>
                  </a:lnTo>
                </a:path>
                <a:path w="276859" h="235585">
                  <a:moveTo>
                    <a:pt x="247396" y="34798"/>
                  </a:moveTo>
                  <a:lnTo>
                    <a:pt x="247396" y="0"/>
                  </a:lnTo>
                </a:path>
                <a:path w="276859" h="235585">
                  <a:moveTo>
                    <a:pt x="171957" y="34798"/>
                  </a:moveTo>
                  <a:lnTo>
                    <a:pt x="171957" y="0"/>
                  </a:lnTo>
                </a:path>
                <a:path w="276859" h="235585">
                  <a:moveTo>
                    <a:pt x="74422" y="155193"/>
                  </a:moveTo>
                  <a:lnTo>
                    <a:pt x="30479" y="155193"/>
                  </a:lnTo>
                </a:path>
                <a:path w="276859" h="235585">
                  <a:moveTo>
                    <a:pt x="132588" y="155193"/>
                  </a:moveTo>
                  <a:lnTo>
                    <a:pt x="88392" y="155193"/>
                  </a:lnTo>
                </a:path>
                <a:path w="276859" h="235585">
                  <a:moveTo>
                    <a:pt x="188975" y="155193"/>
                  </a:moveTo>
                  <a:lnTo>
                    <a:pt x="146176" y="155193"/>
                  </a:lnTo>
                </a:path>
                <a:path w="276859" h="235585">
                  <a:moveTo>
                    <a:pt x="246634" y="155193"/>
                  </a:moveTo>
                  <a:lnTo>
                    <a:pt x="202692" y="155193"/>
                  </a:lnTo>
                </a:path>
                <a:path w="276859" h="235585">
                  <a:moveTo>
                    <a:pt x="74422" y="197865"/>
                  </a:moveTo>
                  <a:lnTo>
                    <a:pt x="30479" y="197865"/>
                  </a:lnTo>
                </a:path>
                <a:path w="276859" h="235585">
                  <a:moveTo>
                    <a:pt x="132588" y="197865"/>
                  </a:moveTo>
                  <a:lnTo>
                    <a:pt x="88392" y="197865"/>
                  </a:lnTo>
                </a:path>
                <a:path w="276859" h="235585">
                  <a:moveTo>
                    <a:pt x="188975" y="197865"/>
                  </a:moveTo>
                  <a:lnTo>
                    <a:pt x="146176" y="197865"/>
                  </a:lnTo>
                </a:path>
                <a:path w="276859" h="235585">
                  <a:moveTo>
                    <a:pt x="126" y="48894"/>
                  </a:moveTo>
                  <a:lnTo>
                    <a:pt x="276860" y="48767"/>
                  </a:lnTo>
                  <a:lnTo>
                    <a:pt x="276860" y="228980"/>
                  </a:lnTo>
                  <a:lnTo>
                    <a:pt x="276860" y="232282"/>
                  </a:lnTo>
                  <a:lnTo>
                    <a:pt x="274320" y="234823"/>
                  </a:lnTo>
                  <a:lnTo>
                    <a:pt x="271018" y="234823"/>
                  </a:lnTo>
                  <a:lnTo>
                    <a:pt x="5842" y="235076"/>
                  </a:lnTo>
                  <a:lnTo>
                    <a:pt x="2540" y="235076"/>
                  </a:lnTo>
                  <a:lnTo>
                    <a:pt x="0" y="232409"/>
                  </a:lnTo>
                  <a:lnTo>
                    <a:pt x="0" y="229234"/>
                  </a:lnTo>
                  <a:lnTo>
                    <a:pt x="0" y="78231"/>
                  </a:lnTo>
                  <a:lnTo>
                    <a:pt x="20827" y="78231"/>
                  </a:lnTo>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33" name="object 166">
              <a:extLst>
                <a:ext uri="{FF2B5EF4-FFF2-40B4-BE49-F238E27FC236}">
                  <a16:creationId xmlns:a16="http://schemas.microsoft.com/office/drawing/2014/main" id="{08F7DEE6-BEBD-1B89-DB6F-4C872C8077FB}"/>
                </a:ext>
              </a:extLst>
            </p:cNvPr>
            <p:cNvSpPr/>
            <p:nvPr/>
          </p:nvSpPr>
          <p:spPr>
            <a:xfrm>
              <a:off x="10076941" y="2594101"/>
              <a:ext cx="33655" cy="34290"/>
            </a:xfrm>
            <a:custGeom>
              <a:avLst/>
              <a:gdLst/>
              <a:ahLst/>
              <a:cxnLst/>
              <a:rect l="l" t="t" r="r" b="b"/>
              <a:pathLst>
                <a:path w="33654" h="34289">
                  <a:moveTo>
                    <a:pt x="0" y="0"/>
                  </a:moveTo>
                  <a:lnTo>
                    <a:pt x="33654" y="33655"/>
                  </a:lnTo>
                </a:path>
                <a:path w="33654" h="34289">
                  <a:moveTo>
                    <a:pt x="33654" y="0"/>
                  </a:moveTo>
                  <a:lnTo>
                    <a:pt x="0" y="33909"/>
                  </a:lnTo>
                </a:path>
              </a:pathLst>
            </a:custGeom>
            <a:ln w="12192">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grpSp>
      <p:pic>
        <p:nvPicPr>
          <p:cNvPr id="334" name="object 167">
            <a:extLst>
              <a:ext uri="{FF2B5EF4-FFF2-40B4-BE49-F238E27FC236}">
                <a16:creationId xmlns:a16="http://schemas.microsoft.com/office/drawing/2014/main" id="{F6864A0D-7DEA-9823-707A-E64FD537137B}"/>
              </a:ext>
            </a:extLst>
          </p:cNvPr>
          <p:cNvPicPr/>
          <p:nvPr/>
        </p:nvPicPr>
        <p:blipFill>
          <a:blip r:embed="rId27" cstate="print"/>
          <a:stretch>
            <a:fillRect/>
          </a:stretch>
        </p:blipFill>
        <p:spPr>
          <a:xfrm>
            <a:off x="20677321" y="4450661"/>
            <a:ext cx="558038" cy="559562"/>
          </a:xfrm>
          <a:prstGeom prst="rect">
            <a:avLst/>
          </a:prstGeom>
        </p:spPr>
      </p:pic>
      <p:pic>
        <p:nvPicPr>
          <p:cNvPr id="335" name="object 168">
            <a:extLst>
              <a:ext uri="{FF2B5EF4-FFF2-40B4-BE49-F238E27FC236}">
                <a16:creationId xmlns:a16="http://schemas.microsoft.com/office/drawing/2014/main" id="{CBCA96D2-2C8C-53DC-C08B-DE726FD673DA}"/>
              </a:ext>
            </a:extLst>
          </p:cNvPr>
          <p:cNvPicPr/>
          <p:nvPr/>
        </p:nvPicPr>
        <p:blipFill>
          <a:blip r:embed="rId28" cstate="print"/>
          <a:stretch>
            <a:fillRect/>
          </a:stretch>
        </p:blipFill>
        <p:spPr>
          <a:xfrm>
            <a:off x="21560987" y="4513398"/>
            <a:ext cx="603250" cy="488188"/>
          </a:xfrm>
          <a:prstGeom prst="rect">
            <a:avLst/>
          </a:prstGeom>
        </p:spPr>
      </p:pic>
      <p:grpSp>
        <p:nvGrpSpPr>
          <p:cNvPr id="336" name="object 169">
            <a:extLst>
              <a:ext uri="{FF2B5EF4-FFF2-40B4-BE49-F238E27FC236}">
                <a16:creationId xmlns:a16="http://schemas.microsoft.com/office/drawing/2014/main" id="{D8EEAA2A-789A-21A6-8F58-3A88AA44C0A9}"/>
              </a:ext>
            </a:extLst>
          </p:cNvPr>
          <p:cNvGrpSpPr/>
          <p:nvPr/>
        </p:nvGrpSpPr>
        <p:grpSpPr>
          <a:xfrm>
            <a:off x="22484529" y="4457925"/>
            <a:ext cx="745490" cy="580390"/>
            <a:chOff x="11216385" y="2375611"/>
            <a:chExt cx="372745" cy="290195"/>
          </a:xfrm>
        </p:grpSpPr>
        <p:sp>
          <p:nvSpPr>
            <p:cNvPr id="337" name="object 170">
              <a:extLst>
                <a:ext uri="{FF2B5EF4-FFF2-40B4-BE49-F238E27FC236}">
                  <a16:creationId xmlns:a16="http://schemas.microsoft.com/office/drawing/2014/main" id="{E2401007-4E25-5B2B-661E-166E2ABBA3BD}"/>
                </a:ext>
              </a:extLst>
            </p:cNvPr>
            <p:cNvSpPr/>
            <p:nvPr/>
          </p:nvSpPr>
          <p:spPr>
            <a:xfrm>
              <a:off x="11222481" y="2381707"/>
              <a:ext cx="259079" cy="226695"/>
            </a:xfrm>
            <a:custGeom>
              <a:avLst/>
              <a:gdLst/>
              <a:ahLst/>
              <a:cxnLst/>
              <a:rect l="l" t="t" r="r" b="b"/>
              <a:pathLst>
                <a:path w="259079" h="226694">
                  <a:moveTo>
                    <a:pt x="218821" y="226237"/>
                  </a:moveTo>
                  <a:lnTo>
                    <a:pt x="63881" y="226237"/>
                  </a:lnTo>
                  <a:lnTo>
                    <a:pt x="54101" y="226237"/>
                  </a:lnTo>
                  <a:lnTo>
                    <a:pt x="50292" y="220141"/>
                  </a:lnTo>
                  <a:lnTo>
                    <a:pt x="50292" y="208965"/>
                  </a:lnTo>
                  <a:lnTo>
                    <a:pt x="72390" y="208965"/>
                  </a:lnTo>
                </a:path>
                <a:path w="259079" h="226694">
                  <a:moveTo>
                    <a:pt x="258572" y="123748"/>
                  </a:moveTo>
                  <a:lnTo>
                    <a:pt x="258572" y="76250"/>
                  </a:lnTo>
                  <a:lnTo>
                    <a:pt x="258572" y="73583"/>
                  </a:lnTo>
                  <a:lnTo>
                    <a:pt x="256540" y="71678"/>
                  </a:lnTo>
                  <a:lnTo>
                    <a:pt x="254126" y="71678"/>
                  </a:lnTo>
                  <a:lnTo>
                    <a:pt x="74675" y="71678"/>
                  </a:lnTo>
                  <a:lnTo>
                    <a:pt x="72009" y="71678"/>
                  </a:lnTo>
                  <a:lnTo>
                    <a:pt x="70103" y="73837"/>
                  </a:lnTo>
                  <a:lnTo>
                    <a:pt x="70103" y="76250"/>
                  </a:lnTo>
                  <a:lnTo>
                    <a:pt x="70103" y="205155"/>
                  </a:lnTo>
                  <a:lnTo>
                    <a:pt x="70103" y="207822"/>
                  </a:lnTo>
                  <a:lnTo>
                    <a:pt x="72136" y="209727"/>
                  </a:lnTo>
                  <a:lnTo>
                    <a:pt x="74675" y="209727"/>
                  </a:lnTo>
                  <a:lnTo>
                    <a:pt x="216281" y="209727"/>
                  </a:lnTo>
                </a:path>
                <a:path w="259079" h="226694">
                  <a:moveTo>
                    <a:pt x="80772" y="71170"/>
                  </a:moveTo>
                  <a:lnTo>
                    <a:pt x="92506" y="71170"/>
                  </a:lnTo>
                  <a:lnTo>
                    <a:pt x="92506" y="59436"/>
                  </a:lnTo>
                  <a:lnTo>
                    <a:pt x="80772" y="59436"/>
                  </a:lnTo>
                  <a:lnTo>
                    <a:pt x="80772" y="71170"/>
                  </a:lnTo>
                  <a:close/>
                </a:path>
                <a:path w="259079" h="226694">
                  <a:moveTo>
                    <a:pt x="64008" y="48310"/>
                  </a:moveTo>
                  <a:lnTo>
                    <a:pt x="75742" y="48310"/>
                  </a:lnTo>
                  <a:lnTo>
                    <a:pt x="75742" y="36575"/>
                  </a:lnTo>
                  <a:lnTo>
                    <a:pt x="64008" y="36575"/>
                  </a:lnTo>
                  <a:lnTo>
                    <a:pt x="64008" y="48310"/>
                  </a:lnTo>
                  <a:close/>
                </a:path>
                <a:path w="259079" h="226694">
                  <a:moveTo>
                    <a:pt x="86868" y="22402"/>
                  </a:moveTo>
                  <a:lnTo>
                    <a:pt x="98602" y="22402"/>
                  </a:lnTo>
                  <a:lnTo>
                    <a:pt x="98602" y="10668"/>
                  </a:lnTo>
                  <a:lnTo>
                    <a:pt x="86868" y="10668"/>
                  </a:lnTo>
                  <a:lnTo>
                    <a:pt x="86868" y="22402"/>
                  </a:lnTo>
                  <a:close/>
                </a:path>
                <a:path w="259079" h="226694">
                  <a:moveTo>
                    <a:pt x="0" y="11734"/>
                  </a:moveTo>
                  <a:lnTo>
                    <a:pt x="11734" y="11734"/>
                  </a:lnTo>
                  <a:lnTo>
                    <a:pt x="11734" y="0"/>
                  </a:lnTo>
                  <a:lnTo>
                    <a:pt x="0" y="0"/>
                  </a:lnTo>
                  <a:lnTo>
                    <a:pt x="0" y="11734"/>
                  </a:lnTo>
                  <a:close/>
                </a:path>
                <a:path w="259079" h="226694">
                  <a:moveTo>
                    <a:pt x="106679" y="62026"/>
                  </a:moveTo>
                  <a:lnTo>
                    <a:pt x="118414" y="62026"/>
                  </a:lnTo>
                  <a:lnTo>
                    <a:pt x="118414" y="50292"/>
                  </a:lnTo>
                  <a:lnTo>
                    <a:pt x="106679" y="50292"/>
                  </a:lnTo>
                  <a:lnTo>
                    <a:pt x="106679" y="62026"/>
                  </a:lnTo>
                  <a:close/>
                </a:path>
                <a:path w="259079" h="226694">
                  <a:moveTo>
                    <a:pt x="48768" y="74218"/>
                  </a:moveTo>
                  <a:lnTo>
                    <a:pt x="60502" y="74218"/>
                  </a:lnTo>
                  <a:lnTo>
                    <a:pt x="60502" y="62484"/>
                  </a:lnTo>
                  <a:lnTo>
                    <a:pt x="48768" y="62484"/>
                  </a:lnTo>
                  <a:lnTo>
                    <a:pt x="48768" y="74218"/>
                  </a:lnTo>
                  <a:close/>
                </a:path>
                <a:path w="259079" h="226694">
                  <a:moveTo>
                    <a:pt x="45720" y="112318"/>
                  </a:moveTo>
                  <a:lnTo>
                    <a:pt x="57454" y="112318"/>
                  </a:lnTo>
                  <a:lnTo>
                    <a:pt x="57454" y="100584"/>
                  </a:lnTo>
                  <a:lnTo>
                    <a:pt x="45720" y="100584"/>
                  </a:lnTo>
                  <a:lnTo>
                    <a:pt x="45720" y="112318"/>
                  </a:lnTo>
                  <a:close/>
                </a:path>
                <a:path w="259079" h="226694">
                  <a:moveTo>
                    <a:pt x="19812" y="89458"/>
                  </a:moveTo>
                  <a:lnTo>
                    <a:pt x="31546" y="89458"/>
                  </a:lnTo>
                  <a:lnTo>
                    <a:pt x="31546" y="77724"/>
                  </a:lnTo>
                  <a:lnTo>
                    <a:pt x="19812" y="77724"/>
                  </a:lnTo>
                  <a:lnTo>
                    <a:pt x="19812" y="89458"/>
                  </a:lnTo>
                  <a:close/>
                </a:path>
                <a:path w="259079" h="226694">
                  <a:moveTo>
                    <a:pt x="33527" y="45262"/>
                  </a:moveTo>
                  <a:lnTo>
                    <a:pt x="45262" y="45262"/>
                  </a:lnTo>
                  <a:lnTo>
                    <a:pt x="45262" y="33528"/>
                  </a:lnTo>
                  <a:lnTo>
                    <a:pt x="33527" y="33528"/>
                  </a:lnTo>
                  <a:lnTo>
                    <a:pt x="33527" y="45262"/>
                  </a:lnTo>
                  <a:close/>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38" name="object 171">
              <a:extLst>
                <a:ext uri="{FF2B5EF4-FFF2-40B4-BE49-F238E27FC236}">
                  <a16:creationId xmlns:a16="http://schemas.microsoft.com/office/drawing/2014/main" id="{FE5DBE94-55EC-7E15-F2B5-79BABEF3D260}"/>
                </a:ext>
              </a:extLst>
            </p:cNvPr>
            <p:cNvSpPr/>
            <p:nvPr/>
          </p:nvSpPr>
          <p:spPr>
            <a:xfrm>
              <a:off x="11338433" y="2488717"/>
              <a:ext cx="115570" cy="61594"/>
            </a:xfrm>
            <a:custGeom>
              <a:avLst/>
              <a:gdLst/>
              <a:ahLst/>
              <a:cxnLst/>
              <a:rect l="l" t="t" r="r" b="b"/>
              <a:pathLst>
                <a:path w="115570" h="61594">
                  <a:moveTo>
                    <a:pt x="28257" y="30480"/>
                  </a:moveTo>
                  <a:lnTo>
                    <a:pt x="18161" y="30480"/>
                  </a:lnTo>
                  <a:lnTo>
                    <a:pt x="18161" y="34137"/>
                  </a:lnTo>
                  <a:lnTo>
                    <a:pt x="28257" y="34137"/>
                  </a:lnTo>
                  <a:lnTo>
                    <a:pt x="28257" y="30480"/>
                  </a:lnTo>
                  <a:close/>
                </a:path>
                <a:path w="115570" h="61594">
                  <a:moveTo>
                    <a:pt x="30022" y="57912"/>
                  </a:moveTo>
                  <a:lnTo>
                    <a:pt x="12192" y="57912"/>
                  </a:lnTo>
                  <a:lnTo>
                    <a:pt x="12192" y="61569"/>
                  </a:lnTo>
                  <a:lnTo>
                    <a:pt x="30022" y="61569"/>
                  </a:lnTo>
                  <a:lnTo>
                    <a:pt x="30022" y="57912"/>
                  </a:lnTo>
                  <a:close/>
                </a:path>
                <a:path w="115570" h="61594">
                  <a:moveTo>
                    <a:pt x="36195" y="42672"/>
                  </a:moveTo>
                  <a:lnTo>
                    <a:pt x="0" y="42672"/>
                  </a:lnTo>
                  <a:lnTo>
                    <a:pt x="0" y="46329"/>
                  </a:lnTo>
                  <a:lnTo>
                    <a:pt x="36195" y="46329"/>
                  </a:lnTo>
                  <a:lnTo>
                    <a:pt x="36195" y="42672"/>
                  </a:lnTo>
                  <a:close/>
                </a:path>
                <a:path w="115570" h="61594">
                  <a:moveTo>
                    <a:pt x="44780" y="0"/>
                  </a:moveTo>
                  <a:lnTo>
                    <a:pt x="0" y="0"/>
                  </a:lnTo>
                  <a:lnTo>
                    <a:pt x="0" y="3657"/>
                  </a:lnTo>
                  <a:lnTo>
                    <a:pt x="44780" y="3657"/>
                  </a:lnTo>
                  <a:lnTo>
                    <a:pt x="44780" y="0"/>
                  </a:lnTo>
                  <a:close/>
                </a:path>
                <a:path w="115570" h="61594">
                  <a:moveTo>
                    <a:pt x="50482" y="42672"/>
                  </a:moveTo>
                  <a:lnTo>
                    <a:pt x="38100" y="42672"/>
                  </a:lnTo>
                  <a:lnTo>
                    <a:pt x="38100" y="46329"/>
                  </a:lnTo>
                  <a:lnTo>
                    <a:pt x="50482" y="46329"/>
                  </a:lnTo>
                  <a:lnTo>
                    <a:pt x="50482" y="42672"/>
                  </a:lnTo>
                  <a:close/>
                </a:path>
                <a:path w="115570" h="61594">
                  <a:moveTo>
                    <a:pt x="70929" y="15240"/>
                  </a:moveTo>
                  <a:lnTo>
                    <a:pt x="12192" y="15240"/>
                  </a:lnTo>
                  <a:lnTo>
                    <a:pt x="12192" y="18897"/>
                  </a:lnTo>
                  <a:lnTo>
                    <a:pt x="70929" y="18897"/>
                  </a:lnTo>
                  <a:lnTo>
                    <a:pt x="70929" y="15240"/>
                  </a:lnTo>
                  <a:close/>
                </a:path>
                <a:path w="115570" h="61594">
                  <a:moveTo>
                    <a:pt x="79667" y="57912"/>
                  </a:moveTo>
                  <a:lnTo>
                    <a:pt x="36576" y="57912"/>
                  </a:lnTo>
                  <a:lnTo>
                    <a:pt x="36576" y="61569"/>
                  </a:lnTo>
                  <a:lnTo>
                    <a:pt x="79667" y="61569"/>
                  </a:lnTo>
                  <a:lnTo>
                    <a:pt x="79667" y="57912"/>
                  </a:lnTo>
                  <a:close/>
                </a:path>
                <a:path w="115570" h="61594">
                  <a:moveTo>
                    <a:pt x="82321" y="0"/>
                  </a:moveTo>
                  <a:lnTo>
                    <a:pt x="50292" y="0"/>
                  </a:lnTo>
                  <a:lnTo>
                    <a:pt x="50292" y="3657"/>
                  </a:lnTo>
                  <a:lnTo>
                    <a:pt x="82321" y="3657"/>
                  </a:lnTo>
                  <a:lnTo>
                    <a:pt x="82321" y="0"/>
                  </a:lnTo>
                  <a:close/>
                </a:path>
                <a:path w="115570" h="61594">
                  <a:moveTo>
                    <a:pt x="84785" y="30480"/>
                  </a:moveTo>
                  <a:lnTo>
                    <a:pt x="32004" y="30480"/>
                  </a:lnTo>
                  <a:lnTo>
                    <a:pt x="32004" y="34137"/>
                  </a:lnTo>
                  <a:lnTo>
                    <a:pt x="84785" y="34137"/>
                  </a:lnTo>
                  <a:lnTo>
                    <a:pt x="84785" y="30480"/>
                  </a:lnTo>
                  <a:close/>
                </a:path>
                <a:path w="115570" h="61594">
                  <a:moveTo>
                    <a:pt x="92684" y="15240"/>
                  </a:moveTo>
                  <a:lnTo>
                    <a:pt x="74676" y="15240"/>
                  </a:lnTo>
                  <a:lnTo>
                    <a:pt x="74676" y="18897"/>
                  </a:lnTo>
                  <a:lnTo>
                    <a:pt x="92684" y="18897"/>
                  </a:lnTo>
                  <a:lnTo>
                    <a:pt x="92684" y="15240"/>
                  </a:lnTo>
                  <a:close/>
                </a:path>
                <a:path w="115570" h="61594">
                  <a:moveTo>
                    <a:pt x="103289" y="42672"/>
                  </a:moveTo>
                  <a:lnTo>
                    <a:pt x="54864" y="42672"/>
                  </a:lnTo>
                  <a:lnTo>
                    <a:pt x="54864" y="46329"/>
                  </a:lnTo>
                  <a:lnTo>
                    <a:pt x="103289" y="46329"/>
                  </a:lnTo>
                  <a:lnTo>
                    <a:pt x="103289" y="42672"/>
                  </a:lnTo>
                  <a:close/>
                </a:path>
                <a:path w="115570" h="61594">
                  <a:moveTo>
                    <a:pt x="115011" y="15240"/>
                  </a:moveTo>
                  <a:lnTo>
                    <a:pt x="96012" y="15240"/>
                  </a:lnTo>
                  <a:lnTo>
                    <a:pt x="96012" y="18897"/>
                  </a:lnTo>
                  <a:lnTo>
                    <a:pt x="115011" y="18897"/>
                  </a:lnTo>
                  <a:lnTo>
                    <a:pt x="115011" y="15240"/>
                  </a:lnTo>
                  <a:close/>
                </a:path>
              </a:pathLst>
            </a:custGeom>
            <a:solidFill>
              <a:srgbClr val="000000"/>
            </a:solidFill>
          </p:spPr>
          <p:txBody>
            <a:bodyPr wrap="square" lIns="0" tIns="0" rIns="0" bIns="0" rtlCol="0"/>
            <a:lstStyle/>
            <a:p>
              <a:pPr defTabSz="1828800">
                <a:defRPr/>
              </a:pPr>
              <a:endParaRPr sz="3600" kern="0">
                <a:solidFill>
                  <a:sysClr val="windowText" lastClr="000000"/>
                </a:solidFill>
                <a:latin typeface="Arial"/>
              </a:endParaRPr>
            </a:p>
          </p:txBody>
        </p:sp>
        <p:sp>
          <p:nvSpPr>
            <p:cNvPr id="339" name="object 172">
              <a:extLst>
                <a:ext uri="{FF2B5EF4-FFF2-40B4-BE49-F238E27FC236}">
                  <a16:creationId xmlns:a16="http://schemas.microsoft.com/office/drawing/2014/main" id="{1203146B-2AF6-19E1-B92B-8CAE19C1C211}"/>
                </a:ext>
              </a:extLst>
            </p:cNvPr>
            <p:cNvSpPr/>
            <p:nvPr/>
          </p:nvSpPr>
          <p:spPr>
            <a:xfrm>
              <a:off x="11323193" y="2477896"/>
              <a:ext cx="5080" cy="83185"/>
            </a:xfrm>
            <a:custGeom>
              <a:avLst/>
              <a:gdLst/>
              <a:ahLst/>
              <a:cxnLst/>
              <a:rect l="l" t="t" r="r" b="b"/>
              <a:pathLst>
                <a:path w="5079" h="83185">
                  <a:moveTo>
                    <a:pt x="4953" y="78486"/>
                  </a:moveTo>
                  <a:lnTo>
                    <a:pt x="4191" y="77724"/>
                  </a:lnTo>
                  <a:lnTo>
                    <a:pt x="762" y="77724"/>
                  </a:lnTo>
                  <a:lnTo>
                    <a:pt x="0" y="78486"/>
                  </a:lnTo>
                  <a:lnTo>
                    <a:pt x="0" y="81915"/>
                  </a:lnTo>
                  <a:lnTo>
                    <a:pt x="762" y="82677"/>
                  </a:lnTo>
                  <a:lnTo>
                    <a:pt x="3048" y="82677"/>
                  </a:lnTo>
                  <a:lnTo>
                    <a:pt x="4064" y="82677"/>
                  </a:lnTo>
                  <a:lnTo>
                    <a:pt x="4953" y="81915"/>
                  </a:lnTo>
                  <a:lnTo>
                    <a:pt x="4953" y="78486"/>
                  </a:lnTo>
                  <a:close/>
                </a:path>
                <a:path w="5079" h="83185">
                  <a:moveTo>
                    <a:pt x="4953" y="66294"/>
                  </a:moveTo>
                  <a:lnTo>
                    <a:pt x="4191" y="65532"/>
                  </a:lnTo>
                  <a:lnTo>
                    <a:pt x="762" y="65532"/>
                  </a:lnTo>
                  <a:lnTo>
                    <a:pt x="0" y="66294"/>
                  </a:lnTo>
                  <a:lnTo>
                    <a:pt x="0" y="69723"/>
                  </a:lnTo>
                  <a:lnTo>
                    <a:pt x="762" y="70485"/>
                  </a:lnTo>
                  <a:lnTo>
                    <a:pt x="3048" y="70485"/>
                  </a:lnTo>
                  <a:lnTo>
                    <a:pt x="4064" y="70485"/>
                  </a:lnTo>
                  <a:lnTo>
                    <a:pt x="4953" y="69723"/>
                  </a:lnTo>
                  <a:lnTo>
                    <a:pt x="4953" y="66294"/>
                  </a:lnTo>
                  <a:close/>
                </a:path>
                <a:path w="5079" h="83185">
                  <a:moveTo>
                    <a:pt x="4953" y="52578"/>
                  </a:moveTo>
                  <a:lnTo>
                    <a:pt x="4191" y="51816"/>
                  </a:lnTo>
                  <a:lnTo>
                    <a:pt x="762" y="51816"/>
                  </a:lnTo>
                  <a:lnTo>
                    <a:pt x="0" y="52578"/>
                  </a:lnTo>
                  <a:lnTo>
                    <a:pt x="0" y="56007"/>
                  </a:lnTo>
                  <a:lnTo>
                    <a:pt x="762" y="56769"/>
                  </a:lnTo>
                  <a:lnTo>
                    <a:pt x="3048" y="56769"/>
                  </a:lnTo>
                  <a:lnTo>
                    <a:pt x="4064" y="56769"/>
                  </a:lnTo>
                  <a:lnTo>
                    <a:pt x="4953" y="55880"/>
                  </a:lnTo>
                  <a:lnTo>
                    <a:pt x="4953" y="52578"/>
                  </a:lnTo>
                  <a:close/>
                </a:path>
                <a:path w="5079" h="83185">
                  <a:moveTo>
                    <a:pt x="4953" y="40386"/>
                  </a:moveTo>
                  <a:lnTo>
                    <a:pt x="4191" y="39624"/>
                  </a:lnTo>
                  <a:lnTo>
                    <a:pt x="762" y="39624"/>
                  </a:lnTo>
                  <a:lnTo>
                    <a:pt x="0" y="40386"/>
                  </a:lnTo>
                  <a:lnTo>
                    <a:pt x="0" y="43815"/>
                  </a:lnTo>
                  <a:lnTo>
                    <a:pt x="762" y="44577"/>
                  </a:lnTo>
                  <a:lnTo>
                    <a:pt x="3048" y="44577"/>
                  </a:lnTo>
                  <a:lnTo>
                    <a:pt x="4064" y="44577"/>
                  </a:lnTo>
                  <a:lnTo>
                    <a:pt x="4953" y="43688"/>
                  </a:lnTo>
                  <a:lnTo>
                    <a:pt x="4953" y="40386"/>
                  </a:lnTo>
                  <a:close/>
                </a:path>
                <a:path w="5079" h="83185">
                  <a:moveTo>
                    <a:pt x="4953" y="26670"/>
                  </a:moveTo>
                  <a:lnTo>
                    <a:pt x="4191" y="25908"/>
                  </a:lnTo>
                  <a:lnTo>
                    <a:pt x="762" y="25908"/>
                  </a:lnTo>
                  <a:lnTo>
                    <a:pt x="0" y="26670"/>
                  </a:lnTo>
                  <a:lnTo>
                    <a:pt x="0" y="30099"/>
                  </a:lnTo>
                  <a:lnTo>
                    <a:pt x="762" y="30861"/>
                  </a:lnTo>
                  <a:lnTo>
                    <a:pt x="3048" y="30861"/>
                  </a:lnTo>
                  <a:lnTo>
                    <a:pt x="4064" y="30861"/>
                  </a:lnTo>
                  <a:lnTo>
                    <a:pt x="4953" y="30099"/>
                  </a:lnTo>
                  <a:lnTo>
                    <a:pt x="4953" y="26670"/>
                  </a:lnTo>
                  <a:close/>
                </a:path>
                <a:path w="5079" h="83185">
                  <a:moveTo>
                    <a:pt x="4953" y="14478"/>
                  </a:moveTo>
                  <a:lnTo>
                    <a:pt x="4191" y="13716"/>
                  </a:lnTo>
                  <a:lnTo>
                    <a:pt x="762" y="13716"/>
                  </a:lnTo>
                  <a:lnTo>
                    <a:pt x="0" y="14478"/>
                  </a:lnTo>
                  <a:lnTo>
                    <a:pt x="0" y="17907"/>
                  </a:lnTo>
                  <a:lnTo>
                    <a:pt x="762" y="18669"/>
                  </a:lnTo>
                  <a:lnTo>
                    <a:pt x="3048" y="18669"/>
                  </a:lnTo>
                  <a:lnTo>
                    <a:pt x="4064" y="18669"/>
                  </a:lnTo>
                  <a:lnTo>
                    <a:pt x="4953" y="17907"/>
                  </a:lnTo>
                  <a:lnTo>
                    <a:pt x="4953" y="14478"/>
                  </a:lnTo>
                  <a:close/>
                </a:path>
                <a:path w="5079" h="83185">
                  <a:moveTo>
                    <a:pt x="4953" y="762"/>
                  </a:moveTo>
                  <a:lnTo>
                    <a:pt x="4191" y="0"/>
                  </a:lnTo>
                  <a:lnTo>
                    <a:pt x="762" y="0"/>
                  </a:lnTo>
                  <a:lnTo>
                    <a:pt x="0" y="762"/>
                  </a:lnTo>
                  <a:lnTo>
                    <a:pt x="0" y="4191"/>
                  </a:lnTo>
                  <a:lnTo>
                    <a:pt x="762" y="4953"/>
                  </a:lnTo>
                  <a:lnTo>
                    <a:pt x="3048" y="4953"/>
                  </a:lnTo>
                  <a:lnTo>
                    <a:pt x="4064" y="4953"/>
                  </a:lnTo>
                  <a:lnTo>
                    <a:pt x="4953" y="4064"/>
                  </a:lnTo>
                  <a:lnTo>
                    <a:pt x="4953" y="762"/>
                  </a:lnTo>
                  <a:close/>
                </a:path>
              </a:pathLst>
            </a:custGeom>
            <a:solidFill>
              <a:srgbClr val="222E3D"/>
            </a:solidFill>
          </p:spPr>
          <p:txBody>
            <a:bodyPr wrap="square" lIns="0" tIns="0" rIns="0" bIns="0" rtlCol="0"/>
            <a:lstStyle/>
            <a:p>
              <a:pPr defTabSz="1828800">
                <a:defRPr/>
              </a:pPr>
              <a:endParaRPr sz="3600" kern="0">
                <a:solidFill>
                  <a:sysClr val="windowText" lastClr="000000"/>
                </a:solidFill>
                <a:latin typeface="Arial"/>
              </a:endParaRPr>
            </a:p>
          </p:txBody>
        </p:sp>
        <p:sp>
          <p:nvSpPr>
            <p:cNvPr id="340" name="object 173">
              <a:extLst>
                <a:ext uri="{FF2B5EF4-FFF2-40B4-BE49-F238E27FC236}">
                  <a16:creationId xmlns:a16="http://schemas.microsoft.com/office/drawing/2014/main" id="{F9A1C69A-2096-9711-8F3B-67C4B67E0BA5}"/>
                </a:ext>
              </a:extLst>
            </p:cNvPr>
            <p:cNvSpPr/>
            <p:nvPr/>
          </p:nvSpPr>
          <p:spPr>
            <a:xfrm>
              <a:off x="11455526" y="2551176"/>
              <a:ext cx="64135" cy="33655"/>
            </a:xfrm>
            <a:custGeom>
              <a:avLst/>
              <a:gdLst/>
              <a:ahLst/>
              <a:cxnLst/>
              <a:rect l="l" t="t" r="r" b="b"/>
              <a:pathLst>
                <a:path w="64134" h="33655">
                  <a:moveTo>
                    <a:pt x="7620" y="33527"/>
                  </a:moveTo>
                  <a:lnTo>
                    <a:pt x="55752" y="33527"/>
                  </a:lnTo>
                </a:path>
                <a:path w="64134" h="33655">
                  <a:moveTo>
                    <a:pt x="0" y="16763"/>
                  </a:moveTo>
                  <a:lnTo>
                    <a:pt x="31115" y="16763"/>
                  </a:lnTo>
                </a:path>
                <a:path w="64134" h="33655">
                  <a:moveTo>
                    <a:pt x="37973" y="16763"/>
                  </a:moveTo>
                  <a:lnTo>
                    <a:pt x="50673" y="16763"/>
                  </a:lnTo>
                </a:path>
                <a:path w="64134" h="33655">
                  <a:moveTo>
                    <a:pt x="19812" y="0"/>
                  </a:moveTo>
                  <a:lnTo>
                    <a:pt x="64134" y="0"/>
                  </a:lnTo>
                </a:path>
              </a:pathLst>
            </a:custGeom>
            <a:ln w="12192">
              <a:solidFill>
                <a:srgbClr val="7B58EC"/>
              </a:solidFill>
            </a:ln>
          </p:spPr>
          <p:txBody>
            <a:bodyPr wrap="square" lIns="0" tIns="0" rIns="0" bIns="0" rtlCol="0"/>
            <a:lstStyle/>
            <a:p>
              <a:pPr defTabSz="1828800">
                <a:defRPr/>
              </a:pPr>
              <a:endParaRPr sz="3600" kern="0">
                <a:solidFill>
                  <a:sysClr val="windowText" lastClr="000000"/>
                </a:solidFill>
                <a:latin typeface="Arial"/>
              </a:endParaRPr>
            </a:p>
          </p:txBody>
        </p:sp>
        <p:sp>
          <p:nvSpPr>
            <p:cNvPr id="341" name="object 174">
              <a:extLst>
                <a:ext uri="{FF2B5EF4-FFF2-40B4-BE49-F238E27FC236}">
                  <a16:creationId xmlns:a16="http://schemas.microsoft.com/office/drawing/2014/main" id="{C759A697-C9C7-7C8D-A66B-1C11AC0B8C9D}"/>
                </a:ext>
              </a:extLst>
            </p:cNvPr>
            <p:cNvSpPr/>
            <p:nvPr/>
          </p:nvSpPr>
          <p:spPr>
            <a:xfrm>
              <a:off x="11435714" y="2514218"/>
              <a:ext cx="147320" cy="145415"/>
            </a:xfrm>
            <a:custGeom>
              <a:avLst/>
              <a:gdLst/>
              <a:ahLst/>
              <a:cxnLst/>
              <a:rect l="l" t="t" r="r" b="b"/>
              <a:pathLst>
                <a:path w="147320" h="145414">
                  <a:moveTo>
                    <a:pt x="107441" y="53847"/>
                  </a:moveTo>
                  <a:lnTo>
                    <a:pt x="103227" y="74799"/>
                  </a:lnTo>
                  <a:lnTo>
                    <a:pt x="91725" y="91916"/>
                  </a:lnTo>
                  <a:lnTo>
                    <a:pt x="74652" y="103461"/>
                  </a:lnTo>
                  <a:lnTo>
                    <a:pt x="53720" y="107695"/>
                  </a:lnTo>
                  <a:lnTo>
                    <a:pt x="32789" y="103461"/>
                  </a:lnTo>
                  <a:lnTo>
                    <a:pt x="15716" y="91916"/>
                  </a:lnTo>
                  <a:lnTo>
                    <a:pt x="4214" y="74799"/>
                  </a:lnTo>
                  <a:lnTo>
                    <a:pt x="0" y="53847"/>
                  </a:lnTo>
                  <a:lnTo>
                    <a:pt x="4214" y="32896"/>
                  </a:lnTo>
                  <a:lnTo>
                    <a:pt x="15716" y="15779"/>
                  </a:lnTo>
                  <a:lnTo>
                    <a:pt x="32789" y="4234"/>
                  </a:lnTo>
                  <a:lnTo>
                    <a:pt x="53720" y="0"/>
                  </a:lnTo>
                  <a:lnTo>
                    <a:pt x="74652" y="4234"/>
                  </a:lnTo>
                  <a:lnTo>
                    <a:pt x="91725" y="15779"/>
                  </a:lnTo>
                  <a:lnTo>
                    <a:pt x="103227" y="32896"/>
                  </a:lnTo>
                  <a:lnTo>
                    <a:pt x="107441" y="53847"/>
                  </a:lnTo>
                  <a:close/>
                </a:path>
                <a:path w="147320" h="145414">
                  <a:moveTo>
                    <a:pt x="101473" y="79247"/>
                  </a:moveTo>
                  <a:lnTo>
                    <a:pt x="142112" y="120014"/>
                  </a:lnTo>
                  <a:lnTo>
                    <a:pt x="147319" y="125348"/>
                  </a:lnTo>
                  <a:lnTo>
                    <a:pt x="147192" y="133857"/>
                  </a:lnTo>
                  <a:lnTo>
                    <a:pt x="141731" y="139318"/>
                  </a:lnTo>
                  <a:lnTo>
                    <a:pt x="136270" y="144779"/>
                  </a:lnTo>
                  <a:lnTo>
                    <a:pt x="127634" y="145033"/>
                  </a:lnTo>
                  <a:lnTo>
                    <a:pt x="122300" y="139700"/>
                  </a:lnTo>
                  <a:lnTo>
                    <a:pt x="82295" y="99567"/>
                  </a:lnTo>
                </a:path>
              </a:pathLst>
            </a:custGeom>
            <a:ln w="12192">
              <a:solidFill>
                <a:srgbClr val="222E3D"/>
              </a:solidFill>
            </a:ln>
          </p:spPr>
          <p:txBody>
            <a:bodyPr wrap="square" lIns="0" tIns="0" rIns="0" bIns="0" rtlCol="0"/>
            <a:lstStyle/>
            <a:p>
              <a:pPr defTabSz="1828800">
                <a:defRPr/>
              </a:pPr>
              <a:endParaRPr sz="3600" kern="0">
                <a:solidFill>
                  <a:sysClr val="windowText" lastClr="000000"/>
                </a:solidFill>
                <a:latin typeface="Arial"/>
              </a:endParaRPr>
            </a:p>
          </p:txBody>
        </p:sp>
      </p:grpSp>
      <p:sp>
        <p:nvSpPr>
          <p:cNvPr id="342" name="object 12">
            <a:extLst>
              <a:ext uri="{FF2B5EF4-FFF2-40B4-BE49-F238E27FC236}">
                <a16:creationId xmlns:a16="http://schemas.microsoft.com/office/drawing/2014/main" id="{F022F93D-D216-5505-D3D3-CC6CE7D6473A}"/>
              </a:ext>
            </a:extLst>
          </p:cNvPr>
          <p:cNvSpPr txBox="1"/>
          <p:nvPr/>
        </p:nvSpPr>
        <p:spPr>
          <a:xfrm>
            <a:off x="10106092" y="11364951"/>
            <a:ext cx="4856480" cy="951542"/>
          </a:xfrm>
          <a:prstGeom prst="rect">
            <a:avLst/>
          </a:prstGeom>
        </p:spPr>
        <p:txBody>
          <a:bodyPr vert="horz" wrap="none" lIns="0" tIns="78740" rIns="0" bIns="0" rtlCol="0">
            <a:noAutofit/>
          </a:bodyPr>
          <a:lstStyle/>
          <a:p>
            <a:pPr marL="1738630" marR="10160" indent="-1714500" algn="ctr" defTabSz="1828800">
              <a:lnSpc>
                <a:spcPts val="3460"/>
              </a:lnSpc>
              <a:spcBef>
                <a:spcPts val="620"/>
              </a:spcBef>
              <a:defRPr/>
            </a:pPr>
            <a:r>
              <a:rPr lang="en-GB" sz="3200" kern="0" spc="-50">
                <a:solidFill>
                  <a:srgbClr val="000000"/>
                </a:solidFill>
                <a:latin typeface="Arial"/>
                <a:cs typeface="Trebuchet MS"/>
              </a:rPr>
              <a:t>Build readiness </a:t>
            </a:r>
          </a:p>
          <a:p>
            <a:pPr marL="1738630" marR="10160" indent="-1714500" algn="ctr" defTabSz="1828800">
              <a:lnSpc>
                <a:spcPts val="3460"/>
              </a:lnSpc>
              <a:spcBef>
                <a:spcPts val="620"/>
              </a:spcBef>
              <a:defRPr/>
            </a:pPr>
            <a:r>
              <a:rPr lang="en-GB" sz="3200" kern="0" spc="-50">
                <a:solidFill>
                  <a:srgbClr val="000000"/>
                </a:solidFill>
                <a:latin typeface="Arial"/>
                <a:cs typeface="Trebuchet MS"/>
              </a:rPr>
              <a:t>through experiences</a:t>
            </a:r>
          </a:p>
        </p:txBody>
      </p:sp>
      <p:sp>
        <p:nvSpPr>
          <p:cNvPr id="343" name="object 10">
            <a:extLst>
              <a:ext uri="{FF2B5EF4-FFF2-40B4-BE49-F238E27FC236}">
                <a16:creationId xmlns:a16="http://schemas.microsoft.com/office/drawing/2014/main" id="{E3860FBF-642E-D2E7-CD7C-E1ED568800D2}"/>
              </a:ext>
            </a:extLst>
          </p:cNvPr>
          <p:cNvSpPr txBox="1"/>
          <p:nvPr/>
        </p:nvSpPr>
        <p:spPr>
          <a:xfrm>
            <a:off x="11638351" y="3067826"/>
            <a:ext cx="2101086" cy="523220"/>
          </a:xfrm>
          <a:prstGeom prst="rect">
            <a:avLst/>
          </a:prstGeom>
        </p:spPr>
        <p:txBody>
          <a:bodyPr vert="horz" wrap="square" lIns="0" tIns="30480" rIns="0" bIns="0" rtlCol="0">
            <a:spAutoFit/>
          </a:bodyPr>
          <a:lstStyle/>
          <a:p>
            <a:pPr marL="25400" defTabSz="1828800">
              <a:spcBef>
                <a:spcPts val="240"/>
              </a:spcBef>
              <a:tabLst>
                <a:tab pos="8072120" algn="l"/>
                <a:tab pos="14635480" algn="l"/>
              </a:tabLst>
              <a:defRPr/>
            </a:pPr>
            <a:r>
              <a:rPr sz="3200" b="1" kern="0" spc="-20">
                <a:solidFill>
                  <a:srgbClr val="222E3D"/>
                </a:solidFill>
                <a:latin typeface="Arial"/>
                <a:cs typeface="Trebuchet MS"/>
              </a:rPr>
              <a:t>Mobilize</a:t>
            </a:r>
            <a:endParaRPr sz="3200" kern="0">
              <a:solidFill>
                <a:sysClr val="windowText" lastClr="000000"/>
              </a:solidFill>
              <a:latin typeface="Arial"/>
              <a:cs typeface="Trebuchet MS"/>
            </a:endParaRPr>
          </a:p>
        </p:txBody>
      </p:sp>
      <p:sp>
        <p:nvSpPr>
          <p:cNvPr id="344" name="object 10">
            <a:extLst>
              <a:ext uri="{FF2B5EF4-FFF2-40B4-BE49-F238E27FC236}">
                <a16:creationId xmlns:a16="http://schemas.microsoft.com/office/drawing/2014/main" id="{1E2A059A-B8B1-52F2-32BF-F4AEDD69E1FF}"/>
              </a:ext>
            </a:extLst>
          </p:cNvPr>
          <p:cNvSpPr txBox="1"/>
          <p:nvPr/>
        </p:nvSpPr>
        <p:spPr>
          <a:xfrm>
            <a:off x="3294553" y="3026606"/>
            <a:ext cx="1775250" cy="523220"/>
          </a:xfrm>
          <a:prstGeom prst="rect">
            <a:avLst/>
          </a:prstGeom>
        </p:spPr>
        <p:txBody>
          <a:bodyPr vert="horz" wrap="square" lIns="0" tIns="30480" rIns="0" bIns="0" rtlCol="0">
            <a:spAutoFit/>
          </a:bodyPr>
          <a:lstStyle/>
          <a:p>
            <a:pPr marL="25400" defTabSz="1828800">
              <a:spcBef>
                <a:spcPts val="240"/>
              </a:spcBef>
              <a:tabLst>
                <a:tab pos="8072120" algn="l"/>
                <a:tab pos="14635480" algn="l"/>
              </a:tabLst>
              <a:defRPr/>
            </a:pPr>
            <a:r>
              <a:rPr sz="3200" b="1" kern="0" spc="-20">
                <a:solidFill>
                  <a:srgbClr val="FFFFFF"/>
                </a:solidFill>
                <a:latin typeface="Arial"/>
                <a:cs typeface="Trebuchet MS"/>
              </a:rPr>
              <a:t>Assess</a:t>
            </a:r>
            <a:endParaRPr sz="3200" kern="0">
              <a:solidFill>
                <a:sysClr val="windowText" lastClr="000000"/>
              </a:solidFill>
              <a:latin typeface="Arial"/>
              <a:cs typeface="Trebuchet MS"/>
            </a:endParaRPr>
          </a:p>
        </p:txBody>
      </p:sp>
      <p:sp>
        <p:nvSpPr>
          <p:cNvPr id="345" name="object 12">
            <a:extLst>
              <a:ext uri="{FF2B5EF4-FFF2-40B4-BE49-F238E27FC236}">
                <a16:creationId xmlns:a16="http://schemas.microsoft.com/office/drawing/2014/main" id="{792241B3-4A97-74DE-AC5B-2D3E41826DC3}"/>
              </a:ext>
            </a:extLst>
          </p:cNvPr>
          <p:cNvSpPr txBox="1"/>
          <p:nvPr/>
        </p:nvSpPr>
        <p:spPr>
          <a:xfrm>
            <a:off x="1959298" y="11334275"/>
            <a:ext cx="4856480" cy="951542"/>
          </a:xfrm>
          <a:prstGeom prst="rect">
            <a:avLst/>
          </a:prstGeom>
        </p:spPr>
        <p:txBody>
          <a:bodyPr vert="horz" wrap="none" lIns="0" tIns="78740" rIns="0" bIns="0" rtlCol="0">
            <a:noAutofit/>
          </a:bodyPr>
          <a:lstStyle/>
          <a:p>
            <a:pPr marL="25400" algn="ctr" defTabSz="1828800">
              <a:spcBef>
                <a:spcPts val="190"/>
              </a:spcBef>
              <a:defRPr/>
            </a:pPr>
            <a:r>
              <a:rPr lang="en-GB" sz="3200" kern="0" spc="-20">
                <a:solidFill>
                  <a:srgbClr val="000000"/>
                </a:solidFill>
                <a:latin typeface="Arial"/>
                <a:cs typeface="Trebuchet MS"/>
              </a:rPr>
              <a:t>Create</a:t>
            </a:r>
            <a:r>
              <a:rPr lang="en-GB" sz="3200" kern="0" spc="-150">
                <a:solidFill>
                  <a:srgbClr val="000000"/>
                </a:solidFill>
                <a:latin typeface="Arial"/>
                <a:cs typeface="Trebuchet MS"/>
              </a:rPr>
              <a:t> </a:t>
            </a:r>
            <a:r>
              <a:rPr lang="en-GB" sz="3200" kern="0">
                <a:solidFill>
                  <a:srgbClr val="000000"/>
                </a:solidFill>
                <a:latin typeface="Arial"/>
                <a:cs typeface="Trebuchet MS"/>
              </a:rPr>
              <a:t>a</a:t>
            </a:r>
            <a:r>
              <a:rPr lang="en-GB" sz="3200" kern="0" spc="-190">
                <a:solidFill>
                  <a:srgbClr val="000000"/>
                </a:solidFill>
                <a:latin typeface="Arial"/>
                <a:cs typeface="Trebuchet MS"/>
              </a:rPr>
              <a:t> </a:t>
            </a:r>
            <a:r>
              <a:rPr lang="en-GB" sz="3200" kern="0">
                <a:solidFill>
                  <a:srgbClr val="000000"/>
                </a:solidFill>
                <a:latin typeface="Arial"/>
                <a:cs typeface="Trebuchet MS"/>
              </a:rPr>
              <a:t>case</a:t>
            </a:r>
            <a:r>
              <a:rPr lang="en-GB" sz="3200" kern="0" spc="-140">
                <a:solidFill>
                  <a:srgbClr val="000000"/>
                </a:solidFill>
                <a:latin typeface="Arial"/>
                <a:cs typeface="Trebuchet MS"/>
              </a:rPr>
              <a:t> </a:t>
            </a:r>
          </a:p>
          <a:p>
            <a:pPr marL="25400" algn="ctr" defTabSz="1828800">
              <a:spcBef>
                <a:spcPts val="190"/>
              </a:spcBef>
              <a:defRPr/>
            </a:pPr>
            <a:r>
              <a:rPr lang="en-GB" sz="3200" kern="0">
                <a:solidFill>
                  <a:srgbClr val="000000"/>
                </a:solidFill>
                <a:latin typeface="Arial"/>
                <a:cs typeface="Trebuchet MS"/>
              </a:rPr>
              <a:t>for</a:t>
            </a:r>
            <a:r>
              <a:rPr lang="en-GB" sz="3200" kern="0" spc="-150">
                <a:solidFill>
                  <a:srgbClr val="000000"/>
                </a:solidFill>
                <a:latin typeface="Arial"/>
                <a:cs typeface="Trebuchet MS"/>
              </a:rPr>
              <a:t> </a:t>
            </a:r>
            <a:r>
              <a:rPr lang="en-GB" sz="3200" kern="0" spc="-20">
                <a:solidFill>
                  <a:srgbClr val="000000"/>
                </a:solidFill>
                <a:latin typeface="Arial"/>
                <a:cs typeface="Trebuchet MS"/>
              </a:rPr>
              <a:t>change</a:t>
            </a:r>
            <a:endParaRPr lang="en-GB" sz="3200" kern="0">
              <a:solidFill>
                <a:srgbClr val="000000"/>
              </a:solidFill>
              <a:latin typeface="Arial"/>
              <a:cs typeface="Trebuchet MS"/>
            </a:endParaRPr>
          </a:p>
        </p:txBody>
      </p:sp>
      <p:sp>
        <p:nvSpPr>
          <p:cNvPr id="346" name="Heart 345">
            <a:extLst>
              <a:ext uri="{FF2B5EF4-FFF2-40B4-BE49-F238E27FC236}">
                <a16:creationId xmlns:a16="http://schemas.microsoft.com/office/drawing/2014/main" id="{5F170B5E-7DB5-08FE-81C7-E296B4D45614}"/>
              </a:ext>
            </a:extLst>
          </p:cNvPr>
          <p:cNvSpPr>
            <a:spLocks noChangeAspect="1"/>
          </p:cNvSpPr>
          <p:nvPr/>
        </p:nvSpPr>
        <p:spPr>
          <a:xfrm>
            <a:off x="3118348" y="6285555"/>
            <a:ext cx="432000" cy="367374"/>
          </a:xfrm>
          <a:prstGeom prst="hear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AE" sz="3600">
              <a:solidFill>
                <a:srgbClr val="FFFFFF"/>
              </a:solidFill>
              <a:latin typeface="Arial"/>
            </a:endParaRPr>
          </a:p>
        </p:txBody>
      </p:sp>
      <p:grpSp>
        <p:nvGrpSpPr>
          <p:cNvPr id="2" name="Group">
            <a:extLst>
              <a:ext uri="{FF2B5EF4-FFF2-40B4-BE49-F238E27FC236}">
                <a16:creationId xmlns:a16="http://schemas.microsoft.com/office/drawing/2014/main" id="{B5305B2C-AA2D-6C6F-9457-5C81760A47C8}"/>
              </a:ext>
            </a:extLst>
          </p:cNvPr>
          <p:cNvGrpSpPr/>
          <p:nvPr/>
        </p:nvGrpSpPr>
        <p:grpSpPr>
          <a:xfrm>
            <a:off x="21308477" y="745854"/>
            <a:ext cx="1711518" cy="1023348"/>
            <a:chOff x="0" y="0"/>
            <a:chExt cx="3917038" cy="2342069"/>
          </a:xfrm>
        </p:grpSpPr>
        <p:sp>
          <p:nvSpPr>
            <p:cNvPr id="3" name="Shape">
              <a:extLst>
                <a:ext uri="{FF2B5EF4-FFF2-40B4-BE49-F238E27FC236}">
                  <a16:creationId xmlns:a16="http://schemas.microsoft.com/office/drawing/2014/main" id="{9DA3896E-2FB4-36B4-0529-981B891B82F7}"/>
                </a:ext>
              </a:extLst>
            </p:cNvPr>
            <p:cNvSpPr/>
            <p:nvPr/>
          </p:nvSpPr>
          <p:spPr>
            <a:xfrm>
              <a:off x="164751" y="0"/>
              <a:ext cx="3587471" cy="1223708"/>
            </a:xfrm>
            <a:custGeom>
              <a:avLst/>
              <a:gdLst/>
              <a:ahLst/>
              <a:cxnLst>
                <a:cxn ang="0">
                  <a:pos x="wd2" y="hd2"/>
                </a:cxn>
                <a:cxn ang="5400000">
                  <a:pos x="wd2" y="hd2"/>
                </a:cxn>
                <a:cxn ang="10800000">
                  <a:pos x="wd2" y="hd2"/>
                </a:cxn>
                <a:cxn ang="16200000">
                  <a:pos x="wd2" y="hd2"/>
                </a:cxn>
              </a:cxnLst>
              <a:rect l="0" t="0" r="r" b="b"/>
              <a:pathLst>
                <a:path w="21600" h="21600" extrusionOk="0">
                  <a:moveTo>
                    <a:pt x="5744" y="17055"/>
                  </a:moveTo>
                  <a:cubicBezTo>
                    <a:pt x="5803" y="17565"/>
                    <a:pt x="5888" y="18116"/>
                    <a:pt x="5997" y="18705"/>
                  </a:cubicBezTo>
                  <a:cubicBezTo>
                    <a:pt x="6034" y="18893"/>
                    <a:pt x="6052" y="19066"/>
                    <a:pt x="6052" y="19227"/>
                  </a:cubicBezTo>
                  <a:cubicBezTo>
                    <a:pt x="6052" y="19470"/>
                    <a:pt x="6002" y="19697"/>
                    <a:pt x="5901" y="19912"/>
                  </a:cubicBezTo>
                  <a:lnTo>
                    <a:pt x="5407" y="20875"/>
                  </a:lnTo>
                  <a:cubicBezTo>
                    <a:pt x="5334" y="21009"/>
                    <a:pt x="5265" y="21076"/>
                    <a:pt x="5201" y="21076"/>
                  </a:cubicBezTo>
                  <a:cubicBezTo>
                    <a:pt x="5119" y="21076"/>
                    <a:pt x="5041" y="20970"/>
                    <a:pt x="4968" y="20754"/>
                  </a:cubicBezTo>
                  <a:cubicBezTo>
                    <a:pt x="4858" y="20434"/>
                    <a:pt x="4765" y="20080"/>
                    <a:pt x="4687" y="19690"/>
                  </a:cubicBezTo>
                  <a:cubicBezTo>
                    <a:pt x="4609" y="19302"/>
                    <a:pt x="4529" y="18853"/>
                    <a:pt x="4447" y="18343"/>
                  </a:cubicBezTo>
                  <a:cubicBezTo>
                    <a:pt x="3834" y="20461"/>
                    <a:pt x="3065" y="21519"/>
                    <a:pt x="2141" y="21519"/>
                  </a:cubicBezTo>
                  <a:cubicBezTo>
                    <a:pt x="1482" y="21519"/>
                    <a:pt x="961" y="20970"/>
                    <a:pt x="576" y="19871"/>
                  </a:cubicBezTo>
                  <a:cubicBezTo>
                    <a:pt x="193" y="18771"/>
                    <a:pt x="0" y="17297"/>
                    <a:pt x="0" y="15446"/>
                  </a:cubicBezTo>
                  <a:cubicBezTo>
                    <a:pt x="0" y="13489"/>
                    <a:pt x="238" y="11914"/>
                    <a:pt x="714" y="10719"/>
                  </a:cubicBezTo>
                  <a:cubicBezTo>
                    <a:pt x="1189" y="9526"/>
                    <a:pt x="1830" y="8930"/>
                    <a:pt x="2635" y="8930"/>
                  </a:cubicBezTo>
                  <a:cubicBezTo>
                    <a:pt x="2901" y="8930"/>
                    <a:pt x="3177" y="8991"/>
                    <a:pt x="3466" y="9111"/>
                  </a:cubicBezTo>
                  <a:cubicBezTo>
                    <a:pt x="3754" y="9231"/>
                    <a:pt x="4053" y="9399"/>
                    <a:pt x="4364" y="9615"/>
                  </a:cubicBezTo>
                  <a:lnTo>
                    <a:pt x="4364" y="7925"/>
                  </a:lnTo>
                  <a:cubicBezTo>
                    <a:pt x="4364" y="6181"/>
                    <a:pt x="4241" y="4954"/>
                    <a:pt x="3994" y="4244"/>
                  </a:cubicBezTo>
                  <a:cubicBezTo>
                    <a:pt x="3747" y="3534"/>
                    <a:pt x="3322" y="3178"/>
                    <a:pt x="2717" y="3178"/>
                  </a:cubicBezTo>
                  <a:cubicBezTo>
                    <a:pt x="2443" y="3178"/>
                    <a:pt x="2162" y="3278"/>
                    <a:pt x="1873" y="3479"/>
                  </a:cubicBezTo>
                  <a:cubicBezTo>
                    <a:pt x="1585" y="3681"/>
                    <a:pt x="1304" y="3942"/>
                    <a:pt x="1030" y="4264"/>
                  </a:cubicBezTo>
                  <a:cubicBezTo>
                    <a:pt x="901" y="4425"/>
                    <a:pt x="810" y="4525"/>
                    <a:pt x="755" y="4566"/>
                  </a:cubicBezTo>
                  <a:cubicBezTo>
                    <a:pt x="700" y="4606"/>
                    <a:pt x="659" y="4625"/>
                    <a:pt x="631" y="4625"/>
                  </a:cubicBezTo>
                  <a:cubicBezTo>
                    <a:pt x="522" y="4625"/>
                    <a:pt x="467" y="4384"/>
                    <a:pt x="467" y="3901"/>
                  </a:cubicBezTo>
                  <a:lnTo>
                    <a:pt x="467" y="2776"/>
                  </a:lnTo>
                  <a:cubicBezTo>
                    <a:pt x="467" y="2400"/>
                    <a:pt x="485" y="2132"/>
                    <a:pt x="522" y="1971"/>
                  </a:cubicBezTo>
                  <a:cubicBezTo>
                    <a:pt x="559" y="1810"/>
                    <a:pt x="631" y="1649"/>
                    <a:pt x="741" y="1488"/>
                  </a:cubicBezTo>
                  <a:cubicBezTo>
                    <a:pt x="1016" y="1086"/>
                    <a:pt x="1345" y="737"/>
                    <a:pt x="1729" y="442"/>
                  </a:cubicBezTo>
                  <a:cubicBezTo>
                    <a:pt x="2114" y="147"/>
                    <a:pt x="2521" y="0"/>
                    <a:pt x="2951" y="0"/>
                  </a:cubicBezTo>
                  <a:cubicBezTo>
                    <a:pt x="3884" y="0"/>
                    <a:pt x="4568" y="624"/>
                    <a:pt x="5002" y="1871"/>
                  </a:cubicBezTo>
                  <a:cubicBezTo>
                    <a:pt x="5437" y="3117"/>
                    <a:pt x="5655" y="5001"/>
                    <a:pt x="5655" y="7521"/>
                  </a:cubicBezTo>
                  <a:lnTo>
                    <a:pt x="5655" y="15004"/>
                  </a:lnTo>
                  <a:cubicBezTo>
                    <a:pt x="5655" y="15863"/>
                    <a:pt x="5684" y="16546"/>
                    <a:pt x="5744" y="17055"/>
                  </a:cubicBezTo>
                  <a:close/>
                  <a:moveTo>
                    <a:pt x="2471" y="18504"/>
                  </a:moveTo>
                  <a:cubicBezTo>
                    <a:pt x="2727" y="18504"/>
                    <a:pt x="2997" y="18363"/>
                    <a:pt x="3280" y="18082"/>
                  </a:cubicBezTo>
                  <a:cubicBezTo>
                    <a:pt x="3564" y="17800"/>
                    <a:pt x="3811" y="17311"/>
                    <a:pt x="4021" y="16612"/>
                  </a:cubicBezTo>
                  <a:cubicBezTo>
                    <a:pt x="4150" y="16185"/>
                    <a:pt x="4239" y="15695"/>
                    <a:pt x="4289" y="15145"/>
                  </a:cubicBezTo>
                  <a:cubicBezTo>
                    <a:pt x="4339" y="14595"/>
                    <a:pt x="4364" y="13931"/>
                    <a:pt x="4364" y="13153"/>
                  </a:cubicBezTo>
                  <a:lnTo>
                    <a:pt x="4364" y="12189"/>
                  </a:lnTo>
                  <a:cubicBezTo>
                    <a:pt x="4136" y="12028"/>
                    <a:pt x="3895" y="11901"/>
                    <a:pt x="3644" y="11806"/>
                  </a:cubicBezTo>
                  <a:cubicBezTo>
                    <a:pt x="3392" y="11713"/>
                    <a:pt x="3148" y="11665"/>
                    <a:pt x="2910" y="11665"/>
                  </a:cubicBezTo>
                  <a:cubicBezTo>
                    <a:pt x="2388" y="11665"/>
                    <a:pt x="1999" y="11974"/>
                    <a:pt x="1743" y="12591"/>
                  </a:cubicBezTo>
                  <a:cubicBezTo>
                    <a:pt x="1487" y="13207"/>
                    <a:pt x="1359" y="14092"/>
                    <a:pt x="1359" y="15245"/>
                  </a:cubicBezTo>
                  <a:cubicBezTo>
                    <a:pt x="1359" y="16319"/>
                    <a:pt x="1455" y="17129"/>
                    <a:pt x="1647" y="17678"/>
                  </a:cubicBezTo>
                  <a:cubicBezTo>
                    <a:pt x="1839" y="18229"/>
                    <a:pt x="2114" y="18504"/>
                    <a:pt x="2471" y="18504"/>
                  </a:cubicBezTo>
                  <a:close/>
                  <a:moveTo>
                    <a:pt x="8770" y="20997"/>
                  </a:moveTo>
                  <a:cubicBezTo>
                    <a:pt x="8632" y="20997"/>
                    <a:pt x="8532" y="20922"/>
                    <a:pt x="8467" y="20775"/>
                  </a:cubicBezTo>
                  <a:cubicBezTo>
                    <a:pt x="8404" y="20629"/>
                    <a:pt x="8349" y="20327"/>
                    <a:pt x="8303" y="19871"/>
                  </a:cubicBezTo>
                  <a:lnTo>
                    <a:pt x="6464" y="2091"/>
                  </a:lnTo>
                  <a:cubicBezTo>
                    <a:pt x="6418" y="1635"/>
                    <a:pt x="6395" y="1327"/>
                    <a:pt x="6395" y="1166"/>
                  </a:cubicBezTo>
                  <a:cubicBezTo>
                    <a:pt x="6395" y="791"/>
                    <a:pt x="6459" y="603"/>
                    <a:pt x="6588" y="603"/>
                  </a:cubicBezTo>
                  <a:lnTo>
                    <a:pt x="7356" y="603"/>
                  </a:lnTo>
                  <a:cubicBezTo>
                    <a:pt x="7502" y="603"/>
                    <a:pt x="7605" y="678"/>
                    <a:pt x="7665" y="824"/>
                  </a:cubicBezTo>
                  <a:cubicBezTo>
                    <a:pt x="7724" y="973"/>
                    <a:pt x="7776" y="1274"/>
                    <a:pt x="7823" y="1729"/>
                  </a:cubicBezTo>
                  <a:lnTo>
                    <a:pt x="9140" y="16934"/>
                  </a:lnTo>
                  <a:lnTo>
                    <a:pt x="10361" y="1729"/>
                  </a:lnTo>
                  <a:cubicBezTo>
                    <a:pt x="10398" y="1274"/>
                    <a:pt x="10448" y="973"/>
                    <a:pt x="10512" y="824"/>
                  </a:cubicBezTo>
                  <a:cubicBezTo>
                    <a:pt x="10577" y="678"/>
                    <a:pt x="10682" y="603"/>
                    <a:pt x="10827" y="603"/>
                  </a:cubicBezTo>
                  <a:lnTo>
                    <a:pt x="11459" y="603"/>
                  </a:lnTo>
                  <a:cubicBezTo>
                    <a:pt x="11605" y="603"/>
                    <a:pt x="11710" y="678"/>
                    <a:pt x="11775" y="824"/>
                  </a:cubicBezTo>
                  <a:cubicBezTo>
                    <a:pt x="11838" y="973"/>
                    <a:pt x="11888" y="1274"/>
                    <a:pt x="11925" y="1729"/>
                  </a:cubicBezTo>
                  <a:lnTo>
                    <a:pt x="13160" y="17136"/>
                  </a:lnTo>
                  <a:lnTo>
                    <a:pt x="14519" y="1729"/>
                  </a:lnTo>
                  <a:cubicBezTo>
                    <a:pt x="14565" y="1274"/>
                    <a:pt x="14617" y="973"/>
                    <a:pt x="14677" y="824"/>
                  </a:cubicBezTo>
                  <a:cubicBezTo>
                    <a:pt x="14736" y="678"/>
                    <a:pt x="14839" y="603"/>
                    <a:pt x="14986" y="603"/>
                  </a:cubicBezTo>
                  <a:lnTo>
                    <a:pt x="15713" y="603"/>
                  </a:lnTo>
                  <a:cubicBezTo>
                    <a:pt x="15841" y="603"/>
                    <a:pt x="15905" y="791"/>
                    <a:pt x="15905" y="1166"/>
                  </a:cubicBezTo>
                  <a:cubicBezTo>
                    <a:pt x="15905" y="1274"/>
                    <a:pt x="15900" y="1395"/>
                    <a:pt x="15891" y="1529"/>
                  </a:cubicBezTo>
                  <a:cubicBezTo>
                    <a:pt x="15882" y="1663"/>
                    <a:pt x="15864" y="1851"/>
                    <a:pt x="15836" y="2091"/>
                  </a:cubicBezTo>
                  <a:lnTo>
                    <a:pt x="13943" y="19871"/>
                  </a:lnTo>
                  <a:cubicBezTo>
                    <a:pt x="13897" y="20327"/>
                    <a:pt x="13842" y="20629"/>
                    <a:pt x="13778" y="20775"/>
                  </a:cubicBezTo>
                  <a:cubicBezTo>
                    <a:pt x="13714" y="20922"/>
                    <a:pt x="13613" y="20997"/>
                    <a:pt x="13476" y="20997"/>
                  </a:cubicBezTo>
                  <a:lnTo>
                    <a:pt x="12804" y="20997"/>
                  </a:lnTo>
                  <a:cubicBezTo>
                    <a:pt x="12657" y="20997"/>
                    <a:pt x="12552" y="20915"/>
                    <a:pt x="12488" y="20754"/>
                  </a:cubicBezTo>
                  <a:cubicBezTo>
                    <a:pt x="12424" y="20595"/>
                    <a:pt x="12374" y="20288"/>
                    <a:pt x="12337" y="19831"/>
                  </a:cubicBezTo>
                  <a:lnTo>
                    <a:pt x="11115" y="5028"/>
                  </a:lnTo>
                  <a:lnTo>
                    <a:pt x="9909" y="19831"/>
                  </a:lnTo>
                  <a:cubicBezTo>
                    <a:pt x="9872" y="20288"/>
                    <a:pt x="9821" y="20595"/>
                    <a:pt x="9758" y="20754"/>
                  </a:cubicBezTo>
                  <a:cubicBezTo>
                    <a:pt x="9694" y="20915"/>
                    <a:pt x="9588" y="20997"/>
                    <a:pt x="9442" y="20997"/>
                  </a:cubicBezTo>
                  <a:lnTo>
                    <a:pt x="8770" y="20997"/>
                  </a:lnTo>
                  <a:close/>
                  <a:moveTo>
                    <a:pt x="18842" y="21600"/>
                  </a:moveTo>
                  <a:cubicBezTo>
                    <a:pt x="18430" y="21600"/>
                    <a:pt x="18027" y="21464"/>
                    <a:pt x="17634" y="21197"/>
                  </a:cubicBezTo>
                  <a:cubicBezTo>
                    <a:pt x="17241" y="20929"/>
                    <a:pt x="16939" y="20622"/>
                    <a:pt x="16728" y="20273"/>
                  </a:cubicBezTo>
                  <a:cubicBezTo>
                    <a:pt x="16601" y="20059"/>
                    <a:pt x="16520" y="19844"/>
                    <a:pt x="16488" y="19631"/>
                  </a:cubicBezTo>
                  <a:cubicBezTo>
                    <a:pt x="16456" y="19415"/>
                    <a:pt x="16440" y="19202"/>
                    <a:pt x="16440" y="18987"/>
                  </a:cubicBezTo>
                  <a:lnTo>
                    <a:pt x="16440" y="17819"/>
                  </a:lnTo>
                  <a:cubicBezTo>
                    <a:pt x="16440" y="17338"/>
                    <a:pt x="16500" y="17095"/>
                    <a:pt x="16618" y="17095"/>
                  </a:cubicBezTo>
                  <a:cubicBezTo>
                    <a:pt x="16664" y="17095"/>
                    <a:pt x="16712" y="17122"/>
                    <a:pt x="16763" y="17177"/>
                  </a:cubicBezTo>
                  <a:cubicBezTo>
                    <a:pt x="16813" y="17231"/>
                    <a:pt x="16879" y="17311"/>
                    <a:pt x="16962" y="17417"/>
                  </a:cubicBezTo>
                  <a:cubicBezTo>
                    <a:pt x="17227" y="17766"/>
                    <a:pt x="17515" y="18034"/>
                    <a:pt x="17826" y="18222"/>
                  </a:cubicBezTo>
                  <a:cubicBezTo>
                    <a:pt x="18137" y="18410"/>
                    <a:pt x="18448" y="18504"/>
                    <a:pt x="18759" y="18504"/>
                  </a:cubicBezTo>
                  <a:cubicBezTo>
                    <a:pt x="19254" y="18504"/>
                    <a:pt x="19635" y="18249"/>
                    <a:pt x="19905" y="17739"/>
                  </a:cubicBezTo>
                  <a:cubicBezTo>
                    <a:pt x="20175" y="17231"/>
                    <a:pt x="20310" y="16505"/>
                    <a:pt x="20310" y="15567"/>
                  </a:cubicBezTo>
                  <a:cubicBezTo>
                    <a:pt x="20310" y="14924"/>
                    <a:pt x="20240" y="14387"/>
                    <a:pt x="20097" y="13958"/>
                  </a:cubicBezTo>
                  <a:cubicBezTo>
                    <a:pt x="19956" y="13529"/>
                    <a:pt x="19693" y="13128"/>
                    <a:pt x="19309" y="12752"/>
                  </a:cubicBezTo>
                  <a:lnTo>
                    <a:pt x="18170" y="11706"/>
                  </a:lnTo>
                  <a:cubicBezTo>
                    <a:pt x="17593" y="11169"/>
                    <a:pt x="17175" y="10392"/>
                    <a:pt x="16914" y="9372"/>
                  </a:cubicBezTo>
                  <a:cubicBezTo>
                    <a:pt x="16653" y="8354"/>
                    <a:pt x="16522" y="7240"/>
                    <a:pt x="16522" y="6033"/>
                  </a:cubicBezTo>
                  <a:cubicBezTo>
                    <a:pt x="16522" y="5069"/>
                    <a:pt x="16594" y="4217"/>
                    <a:pt x="16735" y="3479"/>
                  </a:cubicBezTo>
                  <a:cubicBezTo>
                    <a:pt x="16877" y="2742"/>
                    <a:pt x="17065" y="2112"/>
                    <a:pt x="17298" y="1588"/>
                  </a:cubicBezTo>
                  <a:cubicBezTo>
                    <a:pt x="17531" y="1066"/>
                    <a:pt x="17804" y="671"/>
                    <a:pt x="18115" y="402"/>
                  </a:cubicBezTo>
                  <a:cubicBezTo>
                    <a:pt x="18425" y="134"/>
                    <a:pt x="18755" y="0"/>
                    <a:pt x="19103" y="0"/>
                  </a:cubicBezTo>
                  <a:cubicBezTo>
                    <a:pt x="19276" y="0"/>
                    <a:pt x="19453" y="34"/>
                    <a:pt x="19631" y="100"/>
                  </a:cubicBezTo>
                  <a:cubicBezTo>
                    <a:pt x="19809" y="168"/>
                    <a:pt x="19979" y="254"/>
                    <a:pt x="20139" y="361"/>
                  </a:cubicBezTo>
                  <a:cubicBezTo>
                    <a:pt x="20299" y="469"/>
                    <a:pt x="20448" y="590"/>
                    <a:pt x="20585" y="724"/>
                  </a:cubicBezTo>
                  <a:cubicBezTo>
                    <a:pt x="20722" y="858"/>
                    <a:pt x="20832" y="991"/>
                    <a:pt x="20914" y="1125"/>
                  </a:cubicBezTo>
                  <a:cubicBezTo>
                    <a:pt x="21024" y="1313"/>
                    <a:pt x="21102" y="1502"/>
                    <a:pt x="21147" y="1690"/>
                  </a:cubicBezTo>
                  <a:cubicBezTo>
                    <a:pt x="21193" y="1878"/>
                    <a:pt x="21216" y="2132"/>
                    <a:pt x="21216" y="2454"/>
                  </a:cubicBezTo>
                  <a:lnTo>
                    <a:pt x="21216" y="3540"/>
                  </a:lnTo>
                  <a:cubicBezTo>
                    <a:pt x="21216" y="4022"/>
                    <a:pt x="21157" y="4264"/>
                    <a:pt x="21037" y="4264"/>
                  </a:cubicBezTo>
                  <a:cubicBezTo>
                    <a:pt x="20973" y="4264"/>
                    <a:pt x="20873" y="4171"/>
                    <a:pt x="20736" y="3983"/>
                  </a:cubicBezTo>
                  <a:cubicBezTo>
                    <a:pt x="20288" y="3393"/>
                    <a:pt x="19784" y="3096"/>
                    <a:pt x="19226" y="3096"/>
                  </a:cubicBezTo>
                  <a:cubicBezTo>
                    <a:pt x="18778" y="3096"/>
                    <a:pt x="18430" y="3312"/>
                    <a:pt x="18183" y="3740"/>
                  </a:cubicBezTo>
                  <a:cubicBezTo>
                    <a:pt x="17936" y="4171"/>
                    <a:pt x="17812" y="4854"/>
                    <a:pt x="17812" y="5793"/>
                  </a:cubicBezTo>
                  <a:cubicBezTo>
                    <a:pt x="17812" y="6435"/>
                    <a:pt x="17890" y="6979"/>
                    <a:pt x="18046" y="7421"/>
                  </a:cubicBezTo>
                  <a:cubicBezTo>
                    <a:pt x="18201" y="7864"/>
                    <a:pt x="18489" y="8286"/>
                    <a:pt x="18910" y="8689"/>
                  </a:cubicBezTo>
                  <a:lnTo>
                    <a:pt x="20022" y="9735"/>
                  </a:lnTo>
                  <a:cubicBezTo>
                    <a:pt x="20589" y="10270"/>
                    <a:pt x="20994" y="11009"/>
                    <a:pt x="21236" y="11947"/>
                  </a:cubicBezTo>
                  <a:cubicBezTo>
                    <a:pt x="21479" y="12885"/>
                    <a:pt x="21600" y="13958"/>
                    <a:pt x="21600" y="15165"/>
                  </a:cubicBezTo>
                  <a:cubicBezTo>
                    <a:pt x="21600" y="16158"/>
                    <a:pt x="21532" y="17050"/>
                    <a:pt x="21394" y="17839"/>
                  </a:cubicBezTo>
                  <a:cubicBezTo>
                    <a:pt x="21257" y="18631"/>
                    <a:pt x="21067" y="19309"/>
                    <a:pt x="20825" y="19871"/>
                  </a:cubicBezTo>
                  <a:cubicBezTo>
                    <a:pt x="20582" y="20434"/>
                    <a:pt x="20292" y="20863"/>
                    <a:pt x="19953" y="21158"/>
                  </a:cubicBezTo>
                  <a:cubicBezTo>
                    <a:pt x="19615" y="21451"/>
                    <a:pt x="19245" y="21600"/>
                    <a:pt x="18842" y="21600"/>
                  </a:cubicBezTo>
                  <a:close/>
                </a:path>
              </a:pathLst>
            </a:custGeom>
            <a:solidFill>
              <a:schemeClr val="bg1"/>
            </a:solidFill>
            <a:ln w="12700" cap="flat">
              <a:noFill/>
              <a:miter lim="400000"/>
            </a:ln>
            <a:effectLst/>
          </p:spPr>
          <p:txBody>
            <a:bodyPr wrap="square" lIns="45720" tIns="45720" rIns="45720" bIns="45720" numCol="1" anchor="ctr">
              <a:noAutofit/>
            </a:bodyPr>
            <a:lstStyle/>
            <a:p>
              <a:pPr defTabSz="1828800">
                <a:lnSpc>
                  <a:spcPct val="93000"/>
                </a:lnSpc>
                <a:defRPr sz="1800">
                  <a:solidFill>
                    <a:srgbClr val="000000"/>
                  </a:solidFill>
                </a:defRPr>
              </a:pPr>
              <a:endParaRPr sz="3600" kern="0">
                <a:solidFill>
                  <a:srgbClr val="FFFFFF"/>
                </a:solidFill>
                <a:latin typeface="Arial"/>
              </a:endParaRPr>
            </a:p>
          </p:txBody>
        </p:sp>
        <p:sp>
          <p:nvSpPr>
            <p:cNvPr id="4" name="Shape">
              <a:extLst>
                <a:ext uri="{FF2B5EF4-FFF2-40B4-BE49-F238E27FC236}">
                  <a16:creationId xmlns:a16="http://schemas.microsoft.com/office/drawing/2014/main" id="{796E6D9C-B3BA-7504-E38D-49AAB1CB39AB}"/>
                </a:ext>
              </a:extLst>
            </p:cNvPr>
            <p:cNvSpPr/>
            <p:nvPr/>
          </p:nvSpPr>
          <p:spPr>
            <a:xfrm>
              <a:off x="-1" y="1459861"/>
              <a:ext cx="3917040" cy="882209"/>
            </a:xfrm>
            <a:custGeom>
              <a:avLst/>
              <a:gdLst/>
              <a:ahLst/>
              <a:cxnLst>
                <a:cxn ang="0">
                  <a:pos x="wd2" y="hd2"/>
                </a:cxn>
                <a:cxn ang="5400000">
                  <a:pos x="wd2" y="hd2"/>
                </a:cxn>
                <a:cxn ang="10800000">
                  <a:pos x="wd2" y="hd2"/>
                </a:cxn>
                <a:cxn ang="16200000">
                  <a:pos x="wd2" y="hd2"/>
                </a:cxn>
              </a:cxnLst>
              <a:rect l="0" t="0" r="r" b="b"/>
              <a:pathLst>
                <a:path w="21301" h="20364" extrusionOk="0">
                  <a:moveTo>
                    <a:pt x="19254" y="9173"/>
                  </a:moveTo>
                  <a:cubicBezTo>
                    <a:pt x="16922" y="16480"/>
                    <a:pt x="13541" y="20364"/>
                    <a:pt x="10630" y="20364"/>
                  </a:cubicBezTo>
                  <a:cubicBezTo>
                    <a:pt x="6550" y="20364"/>
                    <a:pt x="2875" y="13961"/>
                    <a:pt x="95" y="3304"/>
                  </a:cubicBezTo>
                  <a:cubicBezTo>
                    <a:pt x="-124" y="2466"/>
                    <a:pt x="71" y="1325"/>
                    <a:pt x="333" y="1972"/>
                  </a:cubicBezTo>
                  <a:cubicBezTo>
                    <a:pt x="3333" y="9381"/>
                    <a:pt x="7043" y="13846"/>
                    <a:pt x="10874" y="13846"/>
                  </a:cubicBezTo>
                  <a:cubicBezTo>
                    <a:pt x="13460" y="13846"/>
                    <a:pt x="16301" y="11567"/>
                    <a:pt x="18915" y="6860"/>
                  </a:cubicBezTo>
                  <a:cubicBezTo>
                    <a:pt x="19310" y="6151"/>
                    <a:pt x="19640" y="7962"/>
                    <a:pt x="19254" y="9173"/>
                  </a:cubicBezTo>
                  <a:close/>
                  <a:moveTo>
                    <a:pt x="19612" y="15757"/>
                  </a:moveTo>
                  <a:cubicBezTo>
                    <a:pt x="19526" y="16659"/>
                    <a:pt x="19709" y="17025"/>
                    <a:pt x="19902" y="16342"/>
                  </a:cubicBezTo>
                  <a:cubicBezTo>
                    <a:pt x="21153" y="11900"/>
                    <a:pt x="21476" y="2588"/>
                    <a:pt x="21220" y="1245"/>
                  </a:cubicBezTo>
                  <a:cubicBezTo>
                    <a:pt x="20966" y="-88"/>
                    <a:pt x="18779" y="-1236"/>
                    <a:pt x="17443" y="2743"/>
                  </a:cubicBezTo>
                  <a:cubicBezTo>
                    <a:pt x="17238" y="3355"/>
                    <a:pt x="17274" y="4200"/>
                    <a:pt x="17501" y="4085"/>
                  </a:cubicBezTo>
                  <a:cubicBezTo>
                    <a:pt x="18253" y="3701"/>
                    <a:pt x="19927" y="2850"/>
                    <a:pt x="20225" y="4470"/>
                  </a:cubicBezTo>
                  <a:cubicBezTo>
                    <a:pt x="20523" y="6091"/>
                    <a:pt x="19893" y="12773"/>
                    <a:pt x="19612" y="15757"/>
                  </a:cubicBezTo>
                  <a:close/>
                </a:path>
              </a:pathLst>
            </a:custGeom>
            <a:solidFill>
              <a:srgbClr val="FF9900"/>
            </a:solidFill>
            <a:ln w="12700" cap="flat">
              <a:noFill/>
              <a:miter lim="400000"/>
            </a:ln>
            <a:effectLst/>
          </p:spPr>
          <p:txBody>
            <a:bodyPr wrap="square" lIns="45720" tIns="45720" rIns="45720" bIns="45720" numCol="1" anchor="ctr">
              <a:noAutofit/>
            </a:bodyPr>
            <a:lstStyle/>
            <a:p>
              <a:pPr defTabSz="1828800">
                <a:lnSpc>
                  <a:spcPct val="93000"/>
                </a:lnSpc>
                <a:defRPr sz="1800">
                  <a:solidFill>
                    <a:srgbClr val="000000"/>
                  </a:solidFill>
                </a:defRPr>
              </a:pPr>
              <a:endParaRPr sz="3600" kern="0">
                <a:solidFill>
                  <a:srgbClr val="000000"/>
                </a:solidFill>
                <a:latin typeface="Arial"/>
              </a:endParaRPr>
            </a:p>
          </p:txBody>
        </p:sp>
      </p:grpSp>
    </p:spTree>
    <p:extLst>
      <p:ext uri="{BB962C8B-B14F-4D97-AF65-F5344CB8AC3E}">
        <p14:creationId xmlns:p14="http://schemas.microsoft.com/office/powerpoint/2010/main" val="164804988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12CE3F-AAC1-45FF-5A4C-4402EDD9A7FF}"/>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4E2E9933-6D84-22AC-2054-D8184CA5B7D4}"/>
              </a:ext>
            </a:extLst>
          </p:cNvPr>
          <p:cNvSpPr>
            <a:spLocks noGrp="1"/>
          </p:cNvSpPr>
          <p:nvPr>
            <p:ph type="title"/>
          </p:nvPr>
        </p:nvSpPr>
        <p:spPr/>
        <p:txBody>
          <a:bodyPr/>
          <a:lstStyle/>
          <a:p>
            <a:r>
              <a:rPr lang="en-US"/>
              <a:t>Migration Program</a:t>
            </a:r>
          </a:p>
        </p:txBody>
      </p:sp>
      <p:sp>
        <p:nvSpPr>
          <p:cNvPr id="390" name="Rectangle: Rounded Corners 389">
            <a:extLst>
              <a:ext uri="{FF2B5EF4-FFF2-40B4-BE49-F238E27FC236}">
                <a16:creationId xmlns:a16="http://schemas.microsoft.com/office/drawing/2014/main" id="{D6C0B07F-A277-F443-4E59-A7A5D3754CAB}"/>
              </a:ext>
              <a:ext uri="{C183D7F6-B498-43B3-948B-1728B52AA6E4}">
                <adec:decorative xmlns:adec="http://schemas.microsoft.com/office/drawing/2017/decorative" val="1"/>
              </a:ext>
            </a:extLst>
          </p:cNvPr>
          <p:cNvSpPr/>
          <p:nvPr/>
        </p:nvSpPr>
        <p:spPr>
          <a:xfrm>
            <a:off x="1176526" y="3533098"/>
            <a:ext cx="5649724" cy="6710300"/>
          </a:xfrm>
          <a:prstGeom prst="roundRect">
            <a:avLst>
              <a:gd name="adj" fmla="val 3336"/>
            </a:avLst>
          </a:prstGeom>
          <a:solidFill>
            <a:srgbClr val="FFFFFF"/>
          </a:solidFill>
          <a:ln w="10795" cap="flat" cmpd="sng" algn="ctr">
            <a:noFill/>
            <a:prstDash val="solid"/>
          </a:ln>
          <a:effectLst>
            <a:outerShdw blurRad="88900" dist="38100" dir="2700000" algn="tl" rotWithShape="0">
              <a:prstClr val="black">
                <a:alpha val="30000"/>
              </a:prstClr>
            </a:outerShdw>
          </a:effectLst>
        </p:spPr>
        <p:txBody>
          <a:bodyPr rtlCol="0" anchor="ctr"/>
          <a:lstStyle/>
          <a:p>
            <a:pPr algn="ctr" defTabSz="1828800">
              <a:defRPr/>
            </a:pPr>
            <a:endParaRPr lang="en-US" sz="3600" kern="0">
              <a:solidFill>
                <a:prstClr val="white"/>
              </a:solidFill>
              <a:latin typeface="Segoe UI"/>
            </a:endParaRPr>
          </a:p>
        </p:txBody>
      </p:sp>
      <p:sp>
        <p:nvSpPr>
          <p:cNvPr id="391" name="Left Brace 390">
            <a:extLst>
              <a:ext uri="{FF2B5EF4-FFF2-40B4-BE49-F238E27FC236}">
                <a16:creationId xmlns:a16="http://schemas.microsoft.com/office/drawing/2014/main" id="{7C83811B-DFE8-D4A5-0CC2-09F0CD039DC4}"/>
              </a:ext>
              <a:ext uri="{C183D7F6-B498-43B3-948B-1728B52AA6E4}">
                <adec:decorative xmlns:adec="http://schemas.microsoft.com/office/drawing/2017/decorative" val="1"/>
              </a:ext>
            </a:extLst>
          </p:cNvPr>
          <p:cNvSpPr/>
          <p:nvPr/>
        </p:nvSpPr>
        <p:spPr>
          <a:xfrm rot="16200000">
            <a:off x="11898315" y="2270746"/>
            <a:ext cx="587374" cy="16670692"/>
          </a:xfrm>
          <a:prstGeom prst="leftBrace">
            <a:avLst>
              <a:gd name="adj1" fmla="val 0"/>
              <a:gd name="adj2" fmla="val 50000"/>
            </a:avLst>
          </a:prstGeom>
          <a:noFill/>
          <a:ln w="12700" cap="flat" cmpd="sng" algn="ctr">
            <a:solidFill>
              <a:srgbClr val="0078D4"/>
            </a:solidFill>
            <a:prstDash val="solid"/>
          </a:ln>
          <a:effectLst/>
        </p:spPr>
        <p:txBody>
          <a:bodyPr rtlCol="0" anchor="ctr"/>
          <a:lstStyle/>
          <a:p>
            <a:pPr algn="ctr" defTabSz="1828800">
              <a:defRPr/>
            </a:pPr>
            <a:endParaRPr lang="en-US" sz="3600" kern="0">
              <a:solidFill>
                <a:prstClr val="black"/>
              </a:solidFill>
              <a:latin typeface="Segoe UI"/>
            </a:endParaRPr>
          </a:p>
        </p:txBody>
      </p:sp>
      <p:sp>
        <p:nvSpPr>
          <p:cNvPr id="392" name="Rectangle: Rounded Corners 391">
            <a:extLst>
              <a:ext uri="{FF2B5EF4-FFF2-40B4-BE49-F238E27FC236}">
                <a16:creationId xmlns:a16="http://schemas.microsoft.com/office/drawing/2014/main" id="{94A8080F-45C9-2FA3-58FF-09652B832533}"/>
              </a:ext>
              <a:ext uri="{C183D7F6-B498-43B3-948B-1728B52AA6E4}">
                <adec:decorative xmlns:adec="http://schemas.microsoft.com/office/drawing/2017/decorative" val="1"/>
              </a:ext>
            </a:extLst>
          </p:cNvPr>
          <p:cNvSpPr/>
          <p:nvPr/>
        </p:nvSpPr>
        <p:spPr>
          <a:xfrm>
            <a:off x="1176525" y="10949124"/>
            <a:ext cx="22037038" cy="1490632"/>
          </a:xfrm>
          <a:prstGeom prst="roundRect">
            <a:avLst>
              <a:gd name="adj" fmla="val 11357"/>
            </a:avLst>
          </a:prstGeom>
          <a:solidFill>
            <a:srgbClr val="FFFFFF"/>
          </a:solidFill>
          <a:ln w="10795" cap="flat" cmpd="sng" algn="ctr">
            <a:noFill/>
            <a:prstDash val="solid"/>
          </a:ln>
          <a:effectLst>
            <a:outerShdw blurRad="88900" dist="38100" dir="2700000" algn="tl" rotWithShape="0">
              <a:prstClr val="black">
                <a:alpha val="30000"/>
              </a:prstClr>
            </a:outerShdw>
          </a:effectLst>
        </p:spPr>
        <p:txBody>
          <a:bodyPr rtlCol="0" anchor="ctr"/>
          <a:lstStyle/>
          <a:p>
            <a:pPr algn="ctr" defTabSz="1828800">
              <a:defRPr/>
            </a:pPr>
            <a:endParaRPr lang="en-US" sz="3600" kern="0">
              <a:solidFill>
                <a:prstClr val="white"/>
              </a:solidFill>
              <a:latin typeface="Segoe UI"/>
            </a:endParaRPr>
          </a:p>
        </p:txBody>
      </p:sp>
      <p:sp>
        <p:nvSpPr>
          <p:cNvPr id="393" name="Rectangle: Rounded Corners 392">
            <a:extLst>
              <a:ext uri="{FF2B5EF4-FFF2-40B4-BE49-F238E27FC236}">
                <a16:creationId xmlns:a16="http://schemas.microsoft.com/office/drawing/2014/main" id="{DC03081A-8349-7CD0-B56A-D599B9D833C1}"/>
              </a:ext>
              <a:ext uri="{C183D7F6-B498-43B3-948B-1728B52AA6E4}">
                <adec:decorative xmlns:adec="http://schemas.microsoft.com/office/drawing/2017/decorative" val="1"/>
              </a:ext>
            </a:extLst>
          </p:cNvPr>
          <p:cNvSpPr/>
          <p:nvPr/>
        </p:nvSpPr>
        <p:spPr>
          <a:xfrm>
            <a:off x="17563838" y="3533098"/>
            <a:ext cx="5649724" cy="6710300"/>
          </a:xfrm>
          <a:prstGeom prst="roundRect">
            <a:avLst>
              <a:gd name="adj" fmla="val 3336"/>
            </a:avLst>
          </a:prstGeom>
          <a:solidFill>
            <a:srgbClr val="FFFFFF"/>
          </a:solidFill>
          <a:ln w="10795" cap="flat" cmpd="sng" algn="ctr">
            <a:noFill/>
            <a:prstDash val="solid"/>
          </a:ln>
          <a:effectLst>
            <a:outerShdw blurRad="88900" dist="38100" dir="2700000" algn="tl" rotWithShape="0">
              <a:prstClr val="black">
                <a:alpha val="30000"/>
              </a:prstClr>
            </a:outerShdw>
          </a:effectLst>
        </p:spPr>
        <p:txBody>
          <a:bodyPr rtlCol="0" anchor="ctr"/>
          <a:lstStyle/>
          <a:p>
            <a:pPr algn="ctr" defTabSz="1828800">
              <a:defRPr/>
            </a:pPr>
            <a:endParaRPr lang="en-US" sz="3600" kern="0">
              <a:solidFill>
                <a:prstClr val="white"/>
              </a:solidFill>
              <a:latin typeface="Segoe UI"/>
            </a:endParaRPr>
          </a:p>
        </p:txBody>
      </p:sp>
      <p:sp>
        <p:nvSpPr>
          <p:cNvPr id="394" name="Rectangle: Rounded Corners 393">
            <a:extLst>
              <a:ext uri="{FF2B5EF4-FFF2-40B4-BE49-F238E27FC236}">
                <a16:creationId xmlns:a16="http://schemas.microsoft.com/office/drawing/2014/main" id="{D1563599-A160-D734-3DB4-F461844E5140}"/>
              </a:ext>
              <a:ext uri="{C183D7F6-B498-43B3-948B-1728B52AA6E4}">
                <adec:decorative xmlns:adec="http://schemas.microsoft.com/office/drawing/2017/decorative" val="1"/>
              </a:ext>
            </a:extLst>
          </p:cNvPr>
          <p:cNvSpPr/>
          <p:nvPr/>
        </p:nvSpPr>
        <p:spPr>
          <a:xfrm>
            <a:off x="7162800" y="3533098"/>
            <a:ext cx="10058400" cy="6710300"/>
          </a:xfrm>
          <a:prstGeom prst="roundRect">
            <a:avLst>
              <a:gd name="adj" fmla="val 3336"/>
            </a:avLst>
          </a:prstGeom>
          <a:solidFill>
            <a:srgbClr val="FFFFFF"/>
          </a:solidFill>
          <a:ln w="10795" cap="flat" cmpd="sng" algn="ctr">
            <a:noFill/>
            <a:prstDash val="solid"/>
          </a:ln>
          <a:effectLst>
            <a:outerShdw blurRad="88900" dist="38100" dir="2700000" algn="tl" rotWithShape="0">
              <a:prstClr val="black">
                <a:alpha val="30000"/>
              </a:prstClr>
            </a:outerShdw>
          </a:effectLst>
        </p:spPr>
        <p:txBody>
          <a:bodyPr rtlCol="0" anchor="ctr"/>
          <a:lstStyle/>
          <a:p>
            <a:pPr algn="ctr" defTabSz="1828800">
              <a:defRPr/>
            </a:pPr>
            <a:endParaRPr lang="en-US" sz="3600" kern="0">
              <a:solidFill>
                <a:prstClr val="white"/>
              </a:solidFill>
              <a:latin typeface="Segoe UI"/>
            </a:endParaRPr>
          </a:p>
        </p:txBody>
      </p:sp>
      <p:sp>
        <p:nvSpPr>
          <p:cNvPr id="395" name="object 30">
            <a:extLst>
              <a:ext uri="{FF2B5EF4-FFF2-40B4-BE49-F238E27FC236}">
                <a16:creationId xmlns:a16="http://schemas.microsoft.com/office/drawing/2014/main" id="{2BD6E8EB-51A6-B07B-E060-765DDA2AFBA7}"/>
              </a:ext>
              <a:ext uri="{C183D7F6-B498-43B3-948B-1728B52AA6E4}">
                <adec:decorative xmlns:adec="http://schemas.microsoft.com/office/drawing/2017/decorative" val="1"/>
              </a:ext>
            </a:extLst>
          </p:cNvPr>
          <p:cNvSpPr/>
          <p:nvPr/>
        </p:nvSpPr>
        <p:spPr>
          <a:xfrm>
            <a:off x="18346608" y="3129189"/>
            <a:ext cx="4084184" cy="793750"/>
          </a:xfrm>
          <a:prstGeom prst="roundRect">
            <a:avLst>
              <a:gd name="adj" fmla="val 50000"/>
            </a:avLst>
          </a:prstGeom>
          <a:gradFill flip="none" rotWithShape="1">
            <a:gsLst>
              <a:gs pos="100000">
                <a:srgbClr val="0078D4"/>
              </a:gs>
              <a:gs pos="0">
                <a:srgbClr val="50E6FF"/>
              </a:gs>
            </a:gsLst>
            <a:lin ang="2700000" scaled="1"/>
            <a:tileRect/>
          </a:gradFill>
          <a:ln w="0">
            <a:noFill/>
            <a:prstDash val="solid"/>
            <a:round/>
            <a:headEnd/>
            <a:tailEnd/>
          </a:ln>
          <a:effectLst>
            <a:outerShdw blurRad="88900" dist="38100" dir="2700000" algn="tl" rotWithShape="0">
              <a:prstClr val="black">
                <a:alpha val="30000"/>
              </a:prstClr>
            </a:outerShdw>
          </a:effectLst>
        </p:spPr>
        <p:txBody>
          <a:bodyPr vert="horz" wrap="square" lIns="182880" tIns="0" rIns="0" bIns="0" numCol="1" anchor="ctr" anchorCtr="0" compatLnSpc="1">
            <a:prstTxWarp prst="textNoShape">
              <a:avLst/>
            </a:prstTxWarp>
          </a:bodyPr>
          <a:lstStyle/>
          <a:p>
            <a:pPr algn="ctr" defTabSz="1828800">
              <a:lnSpc>
                <a:spcPct val="90000"/>
              </a:lnSpc>
              <a:spcAft>
                <a:spcPts val="1200"/>
              </a:spcAft>
              <a:defRPr/>
            </a:pPr>
            <a:r>
              <a:rPr lang="en-US" sz="2800" kern="0">
                <a:solidFill>
                  <a:srgbClr val="000000"/>
                </a:solidFill>
                <a:latin typeface="Segoe UI Semibold"/>
              </a:rPr>
              <a:t>Post move</a:t>
            </a:r>
          </a:p>
        </p:txBody>
      </p:sp>
      <p:sp>
        <p:nvSpPr>
          <p:cNvPr id="396" name="object 30">
            <a:extLst>
              <a:ext uri="{FF2B5EF4-FFF2-40B4-BE49-F238E27FC236}">
                <a16:creationId xmlns:a16="http://schemas.microsoft.com/office/drawing/2014/main" id="{31280B9E-C2DC-7472-67ED-B1532BD7DAE5}"/>
              </a:ext>
              <a:ext uri="{C183D7F6-B498-43B3-948B-1728B52AA6E4}">
                <adec:decorative xmlns:adec="http://schemas.microsoft.com/office/drawing/2017/decorative" val="1"/>
              </a:ext>
            </a:extLst>
          </p:cNvPr>
          <p:cNvSpPr/>
          <p:nvPr/>
        </p:nvSpPr>
        <p:spPr>
          <a:xfrm>
            <a:off x="10149908" y="3129189"/>
            <a:ext cx="4084184" cy="793750"/>
          </a:xfrm>
          <a:prstGeom prst="roundRect">
            <a:avLst>
              <a:gd name="adj" fmla="val 50000"/>
            </a:avLst>
          </a:prstGeom>
          <a:gradFill flip="none" rotWithShape="1">
            <a:gsLst>
              <a:gs pos="100000">
                <a:srgbClr val="0078D4"/>
              </a:gs>
              <a:gs pos="0">
                <a:srgbClr val="50E6FF"/>
              </a:gs>
            </a:gsLst>
            <a:lin ang="2700000" scaled="1"/>
            <a:tileRect/>
          </a:gradFill>
          <a:ln w="0">
            <a:noFill/>
            <a:prstDash val="solid"/>
            <a:round/>
            <a:headEnd/>
            <a:tailEnd/>
          </a:ln>
          <a:effectLst>
            <a:outerShdw blurRad="88900" dist="38100" dir="2700000" algn="tl" rotWithShape="0">
              <a:prstClr val="black">
                <a:alpha val="30000"/>
              </a:prstClr>
            </a:outerShdw>
          </a:effectLst>
        </p:spPr>
        <p:txBody>
          <a:bodyPr vert="horz" wrap="square" lIns="182880" tIns="0" rIns="0" bIns="0" numCol="1" anchor="ctr" anchorCtr="0" compatLnSpc="1">
            <a:prstTxWarp prst="textNoShape">
              <a:avLst/>
            </a:prstTxWarp>
          </a:bodyPr>
          <a:lstStyle/>
          <a:p>
            <a:pPr algn="ctr" defTabSz="1828800">
              <a:lnSpc>
                <a:spcPct val="90000"/>
              </a:lnSpc>
              <a:spcAft>
                <a:spcPts val="1200"/>
              </a:spcAft>
              <a:defRPr/>
            </a:pPr>
            <a:r>
              <a:rPr lang="en-US" sz="2800" kern="0">
                <a:solidFill>
                  <a:srgbClr val="000000"/>
                </a:solidFill>
                <a:latin typeface="Segoe UI Semibold"/>
              </a:rPr>
              <a:t>During move</a:t>
            </a:r>
          </a:p>
        </p:txBody>
      </p:sp>
      <p:sp>
        <p:nvSpPr>
          <p:cNvPr id="397" name="object 30">
            <a:extLst>
              <a:ext uri="{FF2B5EF4-FFF2-40B4-BE49-F238E27FC236}">
                <a16:creationId xmlns:a16="http://schemas.microsoft.com/office/drawing/2014/main" id="{CD0983B0-70B3-4D37-4A7E-ED86ACD7CFCB}"/>
              </a:ext>
              <a:ext uri="{C183D7F6-B498-43B3-948B-1728B52AA6E4}">
                <adec:decorative xmlns:adec="http://schemas.microsoft.com/office/drawing/2017/decorative" val="1"/>
              </a:ext>
            </a:extLst>
          </p:cNvPr>
          <p:cNvSpPr/>
          <p:nvPr/>
        </p:nvSpPr>
        <p:spPr>
          <a:xfrm>
            <a:off x="1959296" y="3129189"/>
            <a:ext cx="4084184" cy="793750"/>
          </a:xfrm>
          <a:prstGeom prst="roundRect">
            <a:avLst>
              <a:gd name="adj" fmla="val 50000"/>
            </a:avLst>
          </a:prstGeom>
          <a:gradFill flip="none" rotWithShape="1">
            <a:gsLst>
              <a:gs pos="100000">
                <a:srgbClr val="0078D4"/>
              </a:gs>
              <a:gs pos="0">
                <a:srgbClr val="50E6FF"/>
              </a:gs>
            </a:gsLst>
            <a:lin ang="2700000" scaled="1"/>
            <a:tileRect/>
          </a:gradFill>
          <a:ln w="0">
            <a:noFill/>
            <a:prstDash val="solid"/>
            <a:round/>
            <a:headEnd/>
            <a:tailEnd/>
          </a:ln>
          <a:effectLst>
            <a:outerShdw blurRad="88900" dist="38100" dir="2700000" algn="tl" rotWithShape="0">
              <a:prstClr val="black">
                <a:alpha val="30000"/>
              </a:prstClr>
            </a:outerShdw>
          </a:effectLst>
        </p:spPr>
        <p:txBody>
          <a:bodyPr vert="horz" wrap="square" lIns="182880" tIns="0" rIns="0" bIns="0" numCol="1" anchor="ctr" anchorCtr="0" compatLnSpc="1">
            <a:prstTxWarp prst="textNoShape">
              <a:avLst/>
            </a:prstTxWarp>
          </a:bodyPr>
          <a:lstStyle/>
          <a:p>
            <a:pPr algn="ctr" defTabSz="1828800">
              <a:lnSpc>
                <a:spcPct val="90000"/>
              </a:lnSpc>
              <a:spcAft>
                <a:spcPts val="1200"/>
              </a:spcAft>
              <a:defRPr/>
            </a:pPr>
            <a:r>
              <a:rPr lang="en-US" sz="2800" kern="0">
                <a:solidFill>
                  <a:srgbClr val="000000"/>
                </a:solidFill>
                <a:latin typeface="Segoe UI Semibold"/>
              </a:rPr>
              <a:t>Pre-move</a:t>
            </a:r>
          </a:p>
        </p:txBody>
      </p:sp>
      <p:sp>
        <p:nvSpPr>
          <p:cNvPr id="398" name="Text Placeholder 6">
            <a:extLst>
              <a:ext uri="{FF2B5EF4-FFF2-40B4-BE49-F238E27FC236}">
                <a16:creationId xmlns:a16="http://schemas.microsoft.com/office/drawing/2014/main" id="{A3751E33-F718-48F4-0F4E-2CFA83F945E2}"/>
              </a:ext>
            </a:extLst>
          </p:cNvPr>
          <p:cNvSpPr txBox="1">
            <a:spLocks/>
          </p:cNvSpPr>
          <p:nvPr/>
        </p:nvSpPr>
        <p:spPr>
          <a:xfrm>
            <a:off x="1839467" y="5517446"/>
            <a:ext cx="4323846" cy="1169551"/>
          </a:xfrm>
          <a:prstGeom prst="rect">
            <a:avLst/>
          </a:prstGeom>
        </p:spPr>
        <p:txBody>
          <a:bodyPr vert="horz" wrap="square" lIns="0" tIns="0" rIns="0" bIns="0" rtlCol="0">
            <a:sp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828800">
              <a:spcBef>
                <a:spcPts val="0"/>
              </a:spcBef>
              <a:buNone/>
              <a:defRPr/>
            </a:pPr>
            <a:r>
              <a:rPr lang="en-US" spc="-10">
                <a:solidFill>
                  <a:srgbClr val="000000"/>
                </a:solidFill>
                <a:latin typeface="Segoe UI Semibold"/>
                <a:cs typeface="Segoe UI Semibold"/>
              </a:rPr>
              <a:t>Define strategy</a:t>
            </a:r>
          </a:p>
          <a:p>
            <a:pPr marL="0" indent="0" algn="ctr" defTabSz="1828800">
              <a:spcBef>
                <a:spcPts val="0"/>
              </a:spcBef>
              <a:buNone/>
              <a:defRPr/>
            </a:pPr>
            <a:r>
              <a:rPr lang="en-US" sz="2400" spc="-10">
                <a:solidFill>
                  <a:srgbClr val="000000"/>
                </a:solidFill>
                <a:latin typeface="Segoe UI"/>
                <a:cs typeface="Segoe UI Semibold"/>
              </a:rPr>
              <a:t>Align stakeholders, define strategy, and engage a partner</a:t>
            </a:r>
            <a:endParaRPr lang="en-US" sz="2400" spc="-30">
              <a:solidFill>
                <a:srgbClr val="000000"/>
              </a:solidFill>
              <a:latin typeface="Segoe UI"/>
              <a:cs typeface="Segoe UI Semibold"/>
            </a:endParaRPr>
          </a:p>
        </p:txBody>
      </p:sp>
      <p:sp>
        <p:nvSpPr>
          <p:cNvPr id="399" name="Text Placeholder 7">
            <a:extLst>
              <a:ext uri="{FF2B5EF4-FFF2-40B4-BE49-F238E27FC236}">
                <a16:creationId xmlns:a16="http://schemas.microsoft.com/office/drawing/2014/main" id="{0D6A3288-CD43-BC7F-D5D0-3D1FF9028AAE}"/>
              </a:ext>
            </a:extLst>
          </p:cNvPr>
          <p:cNvSpPr txBox="1">
            <a:spLocks/>
          </p:cNvSpPr>
          <p:nvPr/>
        </p:nvSpPr>
        <p:spPr>
          <a:xfrm>
            <a:off x="1839467" y="8260226"/>
            <a:ext cx="4323846" cy="1538883"/>
          </a:xfrm>
          <a:prstGeom prst="rect">
            <a:avLst/>
          </a:prstGeom>
        </p:spPr>
        <p:txBody>
          <a:bodyPr vert="horz" wrap="square" lIns="0" tIns="0" rIns="0" bIns="0" rtlCol="0">
            <a:sp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828800">
              <a:spcBef>
                <a:spcPts val="0"/>
              </a:spcBef>
              <a:buNone/>
              <a:defRPr/>
            </a:pPr>
            <a:r>
              <a:rPr lang="en-US" spc="-10">
                <a:solidFill>
                  <a:srgbClr val="000000"/>
                </a:solidFill>
                <a:latin typeface="Segoe UI Semibold"/>
                <a:cs typeface="Segoe UI Semibold"/>
              </a:rPr>
              <a:t>Plan</a:t>
            </a:r>
          </a:p>
          <a:p>
            <a:pPr marL="0" indent="0" algn="ctr" defTabSz="1828800">
              <a:spcBef>
                <a:spcPts val="0"/>
              </a:spcBef>
              <a:buNone/>
              <a:defRPr/>
            </a:pPr>
            <a:r>
              <a:rPr lang="en-US" sz="2400" spc="-10">
                <a:solidFill>
                  <a:srgbClr val="000000"/>
                </a:solidFill>
                <a:latin typeface="Segoe UI"/>
                <a:cs typeface="Segoe UI Semibold"/>
              </a:rPr>
              <a:t>Discover and assess your environment, build a business case and a holistic plan </a:t>
            </a:r>
            <a:endParaRPr lang="en-US" sz="2400" spc="-30">
              <a:solidFill>
                <a:srgbClr val="000000"/>
              </a:solidFill>
              <a:latin typeface="Segoe UI"/>
              <a:cs typeface="Segoe UI Semibold"/>
            </a:endParaRPr>
          </a:p>
        </p:txBody>
      </p:sp>
      <p:sp>
        <p:nvSpPr>
          <p:cNvPr id="400" name="Text Placeholder 9">
            <a:extLst>
              <a:ext uri="{FF2B5EF4-FFF2-40B4-BE49-F238E27FC236}">
                <a16:creationId xmlns:a16="http://schemas.microsoft.com/office/drawing/2014/main" id="{E163CC73-7018-1A4A-BA45-EE2CB79781A6}"/>
              </a:ext>
            </a:extLst>
          </p:cNvPr>
          <p:cNvSpPr txBox="1">
            <a:spLocks/>
          </p:cNvSpPr>
          <p:nvPr/>
        </p:nvSpPr>
        <p:spPr>
          <a:xfrm>
            <a:off x="8897901" y="4210059"/>
            <a:ext cx="6588202" cy="1169551"/>
          </a:xfrm>
          <a:prstGeom prst="rect">
            <a:avLst/>
          </a:prstGeom>
        </p:spPr>
        <p:txBody>
          <a:bodyPr vert="horz" wrap="square" lIns="0" tIns="0" rIns="0" bIns="0" rtlCol="0">
            <a:sp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828800">
              <a:spcBef>
                <a:spcPts val="0"/>
              </a:spcBef>
              <a:buNone/>
              <a:defRPr/>
            </a:pPr>
            <a:r>
              <a:rPr lang="en-US" spc="-10">
                <a:solidFill>
                  <a:srgbClr val="000000"/>
                </a:solidFill>
                <a:latin typeface="Segoe UI Semibold"/>
                <a:cs typeface="Segoe UI Semibold"/>
              </a:rPr>
              <a:t>Migration and modernization waves</a:t>
            </a:r>
          </a:p>
          <a:p>
            <a:pPr marL="0" indent="0" algn="ctr" defTabSz="1828800">
              <a:spcBef>
                <a:spcPts val="0"/>
              </a:spcBef>
              <a:buNone/>
              <a:defRPr/>
            </a:pPr>
            <a:r>
              <a:rPr lang="en-US" sz="2400" spc="-10">
                <a:solidFill>
                  <a:srgbClr val="000000"/>
                </a:solidFill>
                <a:latin typeface="Segoe UI"/>
                <a:cs typeface="Segoe UI Semibold"/>
              </a:rPr>
              <a:t>Take an iterative approach with each wave </a:t>
            </a:r>
            <a:br>
              <a:rPr lang="en-US" sz="2400" spc="-10">
                <a:solidFill>
                  <a:srgbClr val="000000"/>
                </a:solidFill>
                <a:latin typeface="Segoe UI"/>
                <a:cs typeface="Segoe UI Semibold"/>
              </a:rPr>
            </a:br>
            <a:r>
              <a:rPr lang="en-US" sz="2400" spc="-10">
                <a:solidFill>
                  <a:srgbClr val="000000"/>
                </a:solidFill>
                <a:latin typeface="Segoe UI"/>
                <a:cs typeface="Segoe UI Semibold"/>
              </a:rPr>
              <a:t>comprising a defined set of workloads</a:t>
            </a:r>
          </a:p>
        </p:txBody>
      </p:sp>
      <p:sp>
        <p:nvSpPr>
          <p:cNvPr id="401" name="Text Placeholder 14">
            <a:extLst>
              <a:ext uri="{FF2B5EF4-FFF2-40B4-BE49-F238E27FC236}">
                <a16:creationId xmlns:a16="http://schemas.microsoft.com/office/drawing/2014/main" id="{8D3AD02C-E48E-D7E8-91B6-E5BED39FD9D2}"/>
              </a:ext>
            </a:extLst>
          </p:cNvPr>
          <p:cNvSpPr txBox="1">
            <a:spLocks/>
          </p:cNvSpPr>
          <p:nvPr/>
        </p:nvSpPr>
        <p:spPr>
          <a:xfrm>
            <a:off x="8094703" y="7663436"/>
            <a:ext cx="3524698" cy="1538883"/>
          </a:xfrm>
          <a:prstGeom prst="rect">
            <a:avLst/>
          </a:prstGeom>
        </p:spPr>
        <p:txBody>
          <a:bodyPr vert="horz" wrap="square" lIns="0" tIns="0" rIns="0" bIns="0" rtlCol="0">
            <a:sp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5400" marR="10160" indent="0" algn="ctr" defTabSz="1828800">
              <a:spcBef>
                <a:spcPts val="0"/>
              </a:spcBef>
              <a:buNone/>
              <a:defRPr/>
            </a:pPr>
            <a:r>
              <a:rPr lang="en-US" spc="-10">
                <a:solidFill>
                  <a:srgbClr val="000000"/>
                </a:solidFill>
                <a:latin typeface="Segoe UI Semibold"/>
                <a:cs typeface="Segoe UI Semibold"/>
              </a:rPr>
              <a:t>Ready</a:t>
            </a:r>
          </a:p>
          <a:p>
            <a:pPr marL="25400" marR="10160" indent="0" algn="ctr" defTabSz="1828800">
              <a:spcBef>
                <a:spcPts val="0"/>
              </a:spcBef>
              <a:buNone/>
              <a:defRPr/>
            </a:pPr>
            <a:r>
              <a:rPr lang="en-US" sz="2400" kern="1000" spc="-40">
                <a:solidFill>
                  <a:srgbClr val="000000"/>
                </a:solidFill>
                <a:latin typeface="Segoe UI"/>
                <a:cs typeface="Segoe UI"/>
              </a:rPr>
              <a:t>Build out landing zone, skill up your staff </a:t>
            </a:r>
            <a:r>
              <a:rPr lang="en-US" sz="2400" spc="-40">
                <a:solidFill>
                  <a:srgbClr val="000000"/>
                </a:solidFill>
                <a:latin typeface="Segoe UI"/>
                <a:cs typeface="Segoe UI"/>
              </a:rPr>
              <a:t>an</a:t>
            </a:r>
            <a:r>
              <a:rPr lang="en-US" sz="2400">
                <a:solidFill>
                  <a:srgbClr val="000000"/>
                </a:solidFill>
                <a:latin typeface="Segoe UI"/>
                <a:cs typeface="Segoe UI"/>
              </a:rPr>
              <a:t>d</a:t>
            </a:r>
            <a:r>
              <a:rPr lang="en-US" sz="2400" spc="-80">
                <a:solidFill>
                  <a:srgbClr val="000000"/>
                </a:solidFill>
                <a:latin typeface="Segoe UI"/>
                <a:cs typeface="Segoe UI"/>
              </a:rPr>
              <a:t> </a:t>
            </a:r>
            <a:r>
              <a:rPr lang="en-US" sz="2400" spc="-40">
                <a:solidFill>
                  <a:srgbClr val="000000"/>
                </a:solidFill>
                <a:latin typeface="Segoe UI"/>
                <a:cs typeface="Segoe UI"/>
              </a:rPr>
              <a:t>review </a:t>
            </a:r>
            <a:r>
              <a:rPr lang="en-US" sz="2400" spc="-30">
                <a:solidFill>
                  <a:srgbClr val="000000"/>
                </a:solidFill>
                <a:latin typeface="Segoe UI"/>
                <a:cs typeface="Segoe UI"/>
              </a:rPr>
              <a:t>best</a:t>
            </a:r>
            <a:r>
              <a:rPr lang="en-US" sz="2400" spc="-90">
                <a:solidFill>
                  <a:srgbClr val="000000"/>
                </a:solidFill>
                <a:latin typeface="Segoe UI"/>
                <a:cs typeface="Segoe UI"/>
              </a:rPr>
              <a:t> </a:t>
            </a:r>
            <a:r>
              <a:rPr lang="en-US" sz="2400" spc="-40">
                <a:solidFill>
                  <a:srgbClr val="000000"/>
                </a:solidFill>
                <a:latin typeface="Segoe UI"/>
                <a:cs typeface="Segoe UI"/>
              </a:rPr>
              <a:t>practices</a:t>
            </a:r>
            <a:endParaRPr lang="en-US" sz="2400" kern="1000">
              <a:solidFill>
                <a:srgbClr val="000000"/>
              </a:solidFill>
              <a:latin typeface="Segoe UI"/>
              <a:cs typeface="Segoe UI"/>
            </a:endParaRPr>
          </a:p>
        </p:txBody>
      </p:sp>
      <p:sp>
        <p:nvSpPr>
          <p:cNvPr id="402" name="Text Placeholder 18">
            <a:extLst>
              <a:ext uri="{FF2B5EF4-FFF2-40B4-BE49-F238E27FC236}">
                <a16:creationId xmlns:a16="http://schemas.microsoft.com/office/drawing/2014/main" id="{E727C537-D665-55EA-C2A8-88053A1ADF8C}"/>
              </a:ext>
            </a:extLst>
          </p:cNvPr>
          <p:cNvSpPr txBox="1">
            <a:spLocks/>
          </p:cNvSpPr>
          <p:nvPr/>
        </p:nvSpPr>
        <p:spPr>
          <a:xfrm>
            <a:off x="12764603" y="7663436"/>
            <a:ext cx="3524698" cy="1538883"/>
          </a:xfrm>
          <a:prstGeom prst="rect">
            <a:avLst/>
          </a:prstGeom>
        </p:spPr>
        <p:txBody>
          <a:bodyPr vert="horz" wrap="square" lIns="0" tIns="0" rIns="0" bIns="0" rtlCol="0">
            <a:sp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828800">
              <a:spcBef>
                <a:spcPts val="0"/>
              </a:spcBef>
              <a:buNone/>
              <a:defRPr/>
            </a:pPr>
            <a:r>
              <a:rPr lang="en-US" spc="-10">
                <a:solidFill>
                  <a:srgbClr val="000000"/>
                </a:solidFill>
                <a:latin typeface="Segoe UI Semibold"/>
                <a:cs typeface="Segoe UI Semibold"/>
              </a:rPr>
              <a:t>Adopt</a:t>
            </a:r>
          </a:p>
          <a:p>
            <a:pPr marL="0" indent="0" algn="ctr" defTabSz="1828800">
              <a:spcBef>
                <a:spcPts val="0"/>
              </a:spcBef>
              <a:buNone/>
              <a:defRPr/>
            </a:pPr>
            <a:r>
              <a:rPr lang="en-US" sz="2400" spc="-40">
                <a:solidFill>
                  <a:srgbClr val="000000"/>
                </a:solidFill>
                <a:latin typeface="Segoe UI"/>
                <a:cs typeface="Segoe UI"/>
              </a:rPr>
              <a:t>Migrate and modernize iteratively using built-in tools and automation</a:t>
            </a:r>
            <a:endParaRPr lang="en-US" sz="2400">
              <a:solidFill>
                <a:srgbClr val="000000"/>
              </a:solidFill>
              <a:latin typeface="Segoe UI"/>
              <a:cs typeface="Segoe UI"/>
            </a:endParaRPr>
          </a:p>
        </p:txBody>
      </p:sp>
      <p:sp>
        <p:nvSpPr>
          <p:cNvPr id="403" name="Text Placeholder 22">
            <a:extLst>
              <a:ext uri="{FF2B5EF4-FFF2-40B4-BE49-F238E27FC236}">
                <a16:creationId xmlns:a16="http://schemas.microsoft.com/office/drawing/2014/main" id="{1618F692-1C91-9E07-110A-3CC7341F8B93}"/>
              </a:ext>
            </a:extLst>
          </p:cNvPr>
          <p:cNvSpPr txBox="1">
            <a:spLocks/>
          </p:cNvSpPr>
          <p:nvPr/>
        </p:nvSpPr>
        <p:spPr>
          <a:xfrm>
            <a:off x="18228249" y="5246506"/>
            <a:ext cx="4320906" cy="1538883"/>
          </a:xfrm>
          <a:prstGeom prst="rect">
            <a:avLst/>
          </a:prstGeom>
        </p:spPr>
        <p:txBody>
          <a:bodyPr vert="horz" wrap="square" lIns="0" tIns="0" rIns="0" bIns="0" rtlCol="0">
            <a:sp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828800">
              <a:spcBef>
                <a:spcPts val="0"/>
              </a:spcBef>
              <a:buNone/>
              <a:defRPr/>
            </a:pPr>
            <a:r>
              <a:rPr lang="en-US" spc="-10">
                <a:solidFill>
                  <a:srgbClr val="000000"/>
                </a:solidFill>
                <a:latin typeface="Segoe UI Semibold"/>
                <a:cs typeface="Segoe UI Semibold"/>
              </a:rPr>
              <a:t>Govern</a:t>
            </a:r>
          </a:p>
          <a:p>
            <a:pPr marL="0" indent="0" algn="ctr" defTabSz="1828800">
              <a:spcBef>
                <a:spcPts val="0"/>
              </a:spcBef>
              <a:buNone/>
              <a:defRPr/>
            </a:pPr>
            <a:r>
              <a:rPr lang="en-US" sz="2400" spc="-10">
                <a:solidFill>
                  <a:srgbClr val="000000"/>
                </a:solidFill>
                <a:latin typeface="Segoe UI"/>
                <a:cs typeface="Segoe UI Semibold"/>
              </a:rPr>
              <a:t>Establish cloud usage standards and guard-rails and enable cloud budget tracking</a:t>
            </a:r>
          </a:p>
        </p:txBody>
      </p:sp>
      <p:sp>
        <p:nvSpPr>
          <p:cNvPr id="404" name="Text Placeholder 25">
            <a:extLst>
              <a:ext uri="{FF2B5EF4-FFF2-40B4-BE49-F238E27FC236}">
                <a16:creationId xmlns:a16="http://schemas.microsoft.com/office/drawing/2014/main" id="{3F41B345-4833-03FF-5AE5-7F068D5CAA0E}"/>
              </a:ext>
            </a:extLst>
          </p:cNvPr>
          <p:cNvSpPr txBox="1">
            <a:spLocks/>
          </p:cNvSpPr>
          <p:nvPr/>
        </p:nvSpPr>
        <p:spPr>
          <a:xfrm>
            <a:off x="17774526" y="8260227"/>
            <a:ext cx="5228352" cy="1538883"/>
          </a:xfrm>
          <a:prstGeom prst="rect">
            <a:avLst/>
          </a:prstGeom>
        </p:spPr>
        <p:txBody>
          <a:bodyPr vert="horz" wrap="square" lIns="0" tIns="0" rIns="0" bIns="0" rtlCol="0">
            <a:sp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828800">
              <a:spcBef>
                <a:spcPts val="0"/>
              </a:spcBef>
              <a:buNone/>
              <a:defRPr/>
            </a:pPr>
            <a:r>
              <a:rPr lang="en-US" spc="-10">
                <a:solidFill>
                  <a:srgbClr val="000000"/>
                </a:solidFill>
                <a:latin typeface="Segoe UI Semibold"/>
                <a:cs typeface="Segoe UI Semibold"/>
              </a:rPr>
              <a:t>Manage</a:t>
            </a:r>
          </a:p>
          <a:p>
            <a:pPr marL="0" indent="0" algn="ctr" defTabSz="1828800" fontAlgn="base">
              <a:spcBef>
                <a:spcPts val="0"/>
              </a:spcBef>
              <a:buNone/>
              <a:defRPr/>
            </a:pPr>
            <a:r>
              <a:rPr lang="en-US" sz="2400">
                <a:solidFill>
                  <a:srgbClr val="000000"/>
                </a:solidFill>
                <a:latin typeface="Segoe UI"/>
              </a:rPr>
              <a:t>Ensure your workloads </a:t>
            </a:r>
            <a:br>
              <a:rPr lang="en-US" sz="2400">
                <a:solidFill>
                  <a:srgbClr val="000000"/>
                </a:solidFill>
                <a:latin typeface="Segoe UI"/>
              </a:rPr>
            </a:br>
            <a:r>
              <a:rPr lang="en-US" sz="2400">
                <a:solidFill>
                  <a:srgbClr val="000000"/>
                </a:solidFill>
                <a:latin typeface="Segoe UI"/>
              </a:rPr>
              <a:t>are well managed </a:t>
            </a:r>
            <a:br>
              <a:rPr lang="en-US" sz="2400">
                <a:solidFill>
                  <a:srgbClr val="000000"/>
                </a:solidFill>
                <a:latin typeface="Segoe UI"/>
              </a:rPr>
            </a:br>
            <a:r>
              <a:rPr lang="en-US" sz="2400">
                <a:solidFill>
                  <a:srgbClr val="000000"/>
                </a:solidFill>
                <a:latin typeface="Segoe UI"/>
              </a:rPr>
              <a:t>(e.g., backup, monitoring, DR)</a:t>
            </a:r>
          </a:p>
        </p:txBody>
      </p:sp>
      <p:sp>
        <p:nvSpPr>
          <p:cNvPr id="405" name="Text Placeholder 25">
            <a:extLst>
              <a:ext uri="{FF2B5EF4-FFF2-40B4-BE49-F238E27FC236}">
                <a16:creationId xmlns:a16="http://schemas.microsoft.com/office/drawing/2014/main" id="{132C7B68-CD81-DFAF-89D0-413488183126}"/>
              </a:ext>
            </a:extLst>
          </p:cNvPr>
          <p:cNvSpPr txBox="1">
            <a:spLocks/>
          </p:cNvSpPr>
          <p:nvPr/>
        </p:nvSpPr>
        <p:spPr>
          <a:xfrm>
            <a:off x="9262647" y="11294331"/>
            <a:ext cx="7699474" cy="800219"/>
          </a:xfrm>
          <a:prstGeom prst="rect">
            <a:avLst/>
          </a:prstGeom>
        </p:spPr>
        <p:txBody>
          <a:bodyPr vert="horz" wrap="square" lIns="0" tIns="0" rIns="0" bIns="0" rtlCol="0">
            <a:spAutoFit/>
          </a:bodyPr>
          <a:lstStyle>
            <a:lvl1pPr marL="228029" indent="-228029" algn="l" defTabSz="912114" rtl="0" eaLnBrk="1" latinLnBrk="0" hangingPunct="1">
              <a:lnSpc>
                <a:spcPct val="90000"/>
              </a:lnSpc>
              <a:spcBef>
                <a:spcPts val="998"/>
              </a:spcBef>
              <a:buFont typeface="Arial" panose="020B0604020202020204" pitchFamily="34" charset="0"/>
              <a:buChar char="•"/>
              <a:defRPr sz="2800" kern="1200">
                <a:solidFill>
                  <a:schemeClr val="bg1"/>
                </a:solidFill>
                <a:latin typeface="+mn-lt"/>
                <a:ea typeface="+mn-ea"/>
                <a:cs typeface="+mn-cs"/>
              </a:defRPr>
            </a:lvl1pPr>
            <a:lvl2pPr marL="684086" indent="-228029" algn="l" defTabSz="912114" rtl="0" eaLnBrk="1" latinLnBrk="0" hangingPunct="1">
              <a:lnSpc>
                <a:spcPct val="90000"/>
              </a:lnSpc>
              <a:spcBef>
                <a:spcPts val="499"/>
              </a:spcBef>
              <a:buFont typeface="Arial" panose="020B0604020202020204" pitchFamily="34" charset="0"/>
              <a:buChar char="•"/>
              <a:defRPr sz="2400" kern="1200">
                <a:solidFill>
                  <a:schemeClr val="bg1"/>
                </a:solidFill>
                <a:latin typeface="+mn-lt"/>
                <a:ea typeface="+mn-ea"/>
                <a:cs typeface="+mn-cs"/>
              </a:defRPr>
            </a:lvl2pPr>
            <a:lvl3pPr marL="1140143" indent="-228029" algn="l" defTabSz="912114" rtl="0" eaLnBrk="1" latinLnBrk="0" hangingPunct="1">
              <a:lnSpc>
                <a:spcPct val="90000"/>
              </a:lnSpc>
              <a:spcBef>
                <a:spcPts val="499"/>
              </a:spcBef>
              <a:buFont typeface="Arial" panose="020B0604020202020204" pitchFamily="34" charset="0"/>
              <a:buChar char="•"/>
              <a:defRPr sz="2000" kern="1200">
                <a:solidFill>
                  <a:schemeClr val="bg1"/>
                </a:solidFill>
                <a:latin typeface="+mn-lt"/>
                <a:ea typeface="+mn-ea"/>
                <a:cs typeface="+mn-cs"/>
              </a:defRPr>
            </a:lvl3pPr>
            <a:lvl4pPr marL="1596200" indent="-228029" algn="l" defTabSz="912114" rtl="0" eaLnBrk="1" latinLnBrk="0" hangingPunct="1">
              <a:lnSpc>
                <a:spcPct val="90000"/>
              </a:lnSpc>
              <a:spcBef>
                <a:spcPts val="499"/>
              </a:spcBef>
              <a:buFont typeface="Arial" panose="020B0604020202020204" pitchFamily="34" charset="0"/>
              <a:buChar char="•"/>
              <a:defRPr sz="1800" kern="1200">
                <a:solidFill>
                  <a:schemeClr val="bg1"/>
                </a:solidFill>
                <a:latin typeface="+mn-lt"/>
                <a:ea typeface="+mn-ea"/>
                <a:cs typeface="+mn-cs"/>
              </a:defRPr>
            </a:lvl4pPr>
            <a:lvl5pPr marL="2052257" indent="-228029" algn="l" defTabSz="912114" rtl="0" eaLnBrk="1" latinLnBrk="0" hangingPunct="1">
              <a:lnSpc>
                <a:spcPct val="90000"/>
              </a:lnSpc>
              <a:spcBef>
                <a:spcPts val="499"/>
              </a:spcBef>
              <a:buFont typeface="Arial" panose="020B0604020202020204" pitchFamily="34" charset="0"/>
              <a:buChar char="•"/>
              <a:defRPr sz="1800" kern="1200">
                <a:solidFill>
                  <a:schemeClr val="bg1"/>
                </a:solidFill>
                <a:latin typeface="+mn-lt"/>
                <a:ea typeface="+mn-ea"/>
                <a:cs typeface="+mn-cs"/>
              </a:defRPr>
            </a:lvl5pPr>
            <a:lvl6pPr marL="2508314" indent="-228029" algn="l" defTabSz="912114" rtl="0" eaLnBrk="1" latinLnBrk="0" hangingPunct="1">
              <a:lnSpc>
                <a:spcPct val="90000"/>
              </a:lnSpc>
              <a:spcBef>
                <a:spcPts val="499"/>
              </a:spcBef>
              <a:buFont typeface="Arial" panose="020B0604020202020204" pitchFamily="34" charset="0"/>
              <a:buChar char="•"/>
              <a:defRPr sz="1795" kern="1200">
                <a:solidFill>
                  <a:schemeClr val="tx1"/>
                </a:solidFill>
                <a:latin typeface="+mn-lt"/>
                <a:ea typeface="+mn-ea"/>
                <a:cs typeface="+mn-cs"/>
              </a:defRPr>
            </a:lvl6pPr>
            <a:lvl7pPr marL="2964371" indent="-228029" algn="l" defTabSz="912114" rtl="0" eaLnBrk="1" latinLnBrk="0" hangingPunct="1">
              <a:lnSpc>
                <a:spcPct val="90000"/>
              </a:lnSpc>
              <a:spcBef>
                <a:spcPts val="499"/>
              </a:spcBef>
              <a:buFont typeface="Arial" panose="020B0604020202020204" pitchFamily="34" charset="0"/>
              <a:buChar char="•"/>
              <a:defRPr sz="1795" kern="1200">
                <a:solidFill>
                  <a:schemeClr val="tx1"/>
                </a:solidFill>
                <a:latin typeface="+mn-lt"/>
                <a:ea typeface="+mn-ea"/>
                <a:cs typeface="+mn-cs"/>
              </a:defRPr>
            </a:lvl7pPr>
            <a:lvl8pPr marL="3420428" indent="-228029" algn="l" defTabSz="912114" rtl="0" eaLnBrk="1" latinLnBrk="0" hangingPunct="1">
              <a:lnSpc>
                <a:spcPct val="90000"/>
              </a:lnSpc>
              <a:spcBef>
                <a:spcPts val="499"/>
              </a:spcBef>
              <a:buFont typeface="Arial" panose="020B0604020202020204" pitchFamily="34" charset="0"/>
              <a:buChar char="•"/>
              <a:defRPr sz="1795" kern="1200">
                <a:solidFill>
                  <a:schemeClr val="tx1"/>
                </a:solidFill>
                <a:latin typeface="+mn-lt"/>
                <a:ea typeface="+mn-ea"/>
                <a:cs typeface="+mn-cs"/>
              </a:defRPr>
            </a:lvl8pPr>
            <a:lvl9pPr marL="3876485" indent="-228029" algn="l" defTabSz="912114" rtl="0" eaLnBrk="1" latinLnBrk="0" hangingPunct="1">
              <a:lnSpc>
                <a:spcPct val="90000"/>
              </a:lnSpc>
              <a:spcBef>
                <a:spcPts val="499"/>
              </a:spcBef>
              <a:buFont typeface="Arial" panose="020B0604020202020204" pitchFamily="34" charset="0"/>
              <a:buChar char="•"/>
              <a:defRPr sz="1795" kern="1200">
                <a:solidFill>
                  <a:schemeClr val="tx1"/>
                </a:solidFill>
                <a:latin typeface="+mn-lt"/>
                <a:ea typeface="+mn-ea"/>
                <a:cs typeface="+mn-cs"/>
              </a:defRPr>
            </a:lvl9pPr>
          </a:lstStyle>
          <a:p>
            <a:pPr marL="0" indent="0" defTabSz="1828800">
              <a:lnSpc>
                <a:spcPct val="100000"/>
              </a:lnSpc>
              <a:spcBef>
                <a:spcPts val="0"/>
              </a:spcBef>
              <a:buNone/>
              <a:defRPr/>
            </a:pPr>
            <a:r>
              <a:rPr lang="en-US" spc="-10">
                <a:solidFill>
                  <a:srgbClr val="000000"/>
                </a:solidFill>
                <a:latin typeface="Segoe UI Semibold"/>
                <a:cs typeface="Segoe UI Semibold"/>
              </a:rPr>
              <a:t>Secure</a:t>
            </a:r>
          </a:p>
          <a:p>
            <a:pPr marL="0" indent="0" defTabSz="1828800">
              <a:lnSpc>
                <a:spcPct val="100000"/>
              </a:lnSpc>
              <a:spcBef>
                <a:spcPts val="0"/>
              </a:spcBef>
              <a:buNone/>
              <a:defRPr/>
            </a:pPr>
            <a:r>
              <a:rPr lang="en-US" sz="2400">
                <a:solidFill>
                  <a:srgbClr val="000000"/>
                </a:solidFill>
                <a:latin typeface="Segoe UI"/>
                <a:ea typeface="+mn-lt"/>
                <a:cs typeface="Calibri" panose="020F0502020204030204"/>
              </a:rPr>
              <a:t>Establish security baseline and manage security posture</a:t>
            </a:r>
            <a:endParaRPr lang="en-US" sz="2400">
              <a:solidFill>
                <a:srgbClr val="000000"/>
              </a:solidFill>
              <a:latin typeface="Segoe UI"/>
            </a:endParaRPr>
          </a:p>
        </p:txBody>
      </p:sp>
      <p:grpSp>
        <p:nvGrpSpPr>
          <p:cNvPr id="406" name="Group 405">
            <a:extLst>
              <a:ext uri="{FF2B5EF4-FFF2-40B4-BE49-F238E27FC236}">
                <a16:creationId xmlns:a16="http://schemas.microsoft.com/office/drawing/2014/main" id="{B4DDFBE5-D0CA-D706-1219-3A48E272B3A2}"/>
              </a:ext>
              <a:ext uri="{C183D7F6-B498-43B3-948B-1728B52AA6E4}">
                <adec:decorative xmlns:adec="http://schemas.microsoft.com/office/drawing/2017/decorative" val="1"/>
              </a:ext>
            </a:extLst>
          </p:cNvPr>
          <p:cNvGrpSpPr/>
          <p:nvPr/>
        </p:nvGrpSpPr>
        <p:grpSpPr>
          <a:xfrm>
            <a:off x="7433935" y="5930564"/>
            <a:ext cx="9255578" cy="3884492"/>
            <a:chOff x="3716967" y="2965282"/>
            <a:chExt cx="4627789" cy="1942246"/>
          </a:xfrm>
        </p:grpSpPr>
        <p:sp>
          <p:nvSpPr>
            <p:cNvPr id="407" name="Flowchart: Alternate Process 406">
              <a:extLst>
                <a:ext uri="{FF2B5EF4-FFF2-40B4-BE49-F238E27FC236}">
                  <a16:creationId xmlns:a16="http://schemas.microsoft.com/office/drawing/2014/main" id="{E5063BEF-58D6-6E23-8EC6-9E944A2A417E}"/>
                </a:ext>
                <a:ext uri="{C183D7F6-B498-43B3-948B-1728B52AA6E4}">
                  <adec:decorative xmlns:adec="http://schemas.microsoft.com/office/drawing/2017/decorative" val="1"/>
                </a:ext>
              </a:extLst>
            </p:cNvPr>
            <p:cNvSpPr/>
            <p:nvPr/>
          </p:nvSpPr>
          <p:spPr>
            <a:xfrm>
              <a:off x="3812592" y="2965282"/>
              <a:ext cx="4438721" cy="1942246"/>
            </a:xfrm>
            <a:prstGeom prst="flowChartAlternateProcess">
              <a:avLst/>
            </a:prstGeom>
            <a:noFill/>
            <a:ln w="22225" cap="flat" cmpd="sng" algn="ctr">
              <a:solidFill>
                <a:srgbClr val="0078D4"/>
              </a:solidFill>
              <a:prstDash val="dash"/>
              <a:round/>
              <a:extLst>
                <a:ext uri="{C807C97D-BFC1-408E-A445-0C87EB9F89A2}">
                  <ask:lineSketchStyleProps xmlns:ask="http://schemas.microsoft.com/office/drawing/2018/sketchyshapes" sd="1219033472">
                    <a:custGeom>
                      <a:avLst/>
                      <a:gdLst>
                        <a:gd name="connsiteX0" fmla="*/ 0 w 4438721"/>
                        <a:gd name="connsiteY0" fmla="*/ 343374 h 2060246"/>
                        <a:gd name="connsiteX1" fmla="*/ 343374 w 4438721"/>
                        <a:gd name="connsiteY1" fmla="*/ 0 h 2060246"/>
                        <a:gd name="connsiteX2" fmla="*/ 4095347 w 4438721"/>
                        <a:gd name="connsiteY2" fmla="*/ 0 h 2060246"/>
                        <a:gd name="connsiteX3" fmla="*/ 4438721 w 4438721"/>
                        <a:gd name="connsiteY3" fmla="*/ 343374 h 2060246"/>
                        <a:gd name="connsiteX4" fmla="*/ 4438721 w 4438721"/>
                        <a:gd name="connsiteY4" fmla="*/ 1716872 h 2060246"/>
                        <a:gd name="connsiteX5" fmla="*/ 4095347 w 4438721"/>
                        <a:gd name="connsiteY5" fmla="*/ 2060246 h 2060246"/>
                        <a:gd name="connsiteX6" fmla="*/ 343374 w 4438721"/>
                        <a:gd name="connsiteY6" fmla="*/ 2060246 h 2060246"/>
                        <a:gd name="connsiteX7" fmla="*/ 0 w 4438721"/>
                        <a:gd name="connsiteY7" fmla="*/ 1716872 h 2060246"/>
                        <a:gd name="connsiteX8" fmla="*/ 0 w 4438721"/>
                        <a:gd name="connsiteY8" fmla="*/ 343374 h 20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38721" h="2060246" extrusionOk="0">
                          <a:moveTo>
                            <a:pt x="0" y="343374"/>
                          </a:moveTo>
                          <a:cubicBezTo>
                            <a:pt x="-23320" y="139350"/>
                            <a:pt x="144474" y="3476"/>
                            <a:pt x="343374" y="0"/>
                          </a:cubicBezTo>
                          <a:cubicBezTo>
                            <a:pt x="2188683" y="132882"/>
                            <a:pt x="3398197" y="-84951"/>
                            <a:pt x="4095347" y="0"/>
                          </a:cubicBezTo>
                          <a:cubicBezTo>
                            <a:pt x="4279308" y="5546"/>
                            <a:pt x="4434515" y="176983"/>
                            <a:pt x="4438721" y="343374"/>
                          </a:cubicBezTo>
                          <a:cubicBezTo>
                            <a:pt x="4503397" y="581002"/>
                            <a:pt x="4490459" y="1229194"/>
                            <a:pt x="4438721" y="1716872"/>
                          </a:cubicBezTo>
                          <a:cubicBezTo>
                            <a:pt x="4444176" y="1907159"/>
                            <a:pt x="4289066" y="2051851"/>
                            <a:pt x="4095347" y="2060246"/>
                          </a:cubicBezTo>
                          <a:cubicBezTo>
                            <a:pt x="2927912" y="2147885"/>
                            <a:pt x="1322372" y="1987567"/>
                            <a:pt x="343374" y="2060246"/>
                          </a:cubicBezTo>
                          <a:cubicBezTo>
                            <a:pt x="152172" y="2045346"/>
                            <a:pt x="-12903" y="1924443"/>
                            <a:pt x="0" y="1716872"/>
                          </a:cubicBezTo>
                          <a:cubicBezTo>
                            <a:pt x="-41310" y="1262809"/>
                            <a:pt x="-9379" y="725535"/>
                            <a:pt x="0" y="343374"/>
                          </a:cubicBezTo>
                          <a:close/>
                        </a:path>
                      </a:pathLst>
                    </a:custGeom>
                    <ask:type>
                      <ask:lineSketchNone/>
                    </ask:type>
                  </ask:lineSketchStyleProps>
                </a:ext>
              </a:extLst>
            </a:ln>
            <a:effectLst/>
          </p:spPr>
          <p:txBody>
            <a:bodyPr rtlCol="0" anchor="ctr"/>
            <a:lstStyle/>
            <a:p>
              <a:pPr algn="ctr" defTabSz="1828800">
                <a:defRPr/>
              </a:pPr>
              <a:endParaRPr lang="en-US" sz="3600" kern="0">
                <a:solidFill>
                  <a:prstClr val="white"/>
                </a:solidFill>
                <a:latin typeface="Segoe UI"/>
              </a:endParaRPr>
            </a:p>
          </p:txBody>
        </p:sp>
        <p:grpSp>
          <p:nvGrpSpPr>
            <p:cNvPr id="408" name="Group 407">
              <a:extLst>
                <a:ext uri="{FF2B5EF4-FFF2-40B4-BE49-F238E27FC236}">
                  <a16:creationId xmlns:a16="http://schemas.microsoft.com/office/drawing/2014/main" id="{90B1DF33-7A1D-7E4A-BC62-F3F2262B2448}"/>
                </a:ext>
              </a:extLst>
            </p:cNvPr>
            <p:cNvGrpSpPr/>
            <p:nvPr/>
          </p:nvGrpSpPr>
          <p:grpSpPr>
            <a:xfrm>
              <a:off x="8151582" y="3839652"/>
              <a:ext cx="193174" cy="193506"/>
              <a:chOff x="8138820" y="3906307"/>
              <a:chExt cx="193174" cy="193506"/>
            </a:xfrm>
          </p:grpSpPr>
          <p:sp>
            <p:nvSpPr>
              <p:cNvPr id="412" name="bg object 20">
                <a:extLst>
                  <a:ext uri="{FF2B5EF4-FFF2-40B4-BE49-F238E27FC236}">
                    <a16:creationId xmlns:a16="http://schemas.microsoft.com/office/drawing/2014/main" id="{D7042EEE-47A7-17BF-144C-3804C314ACFD}"/>
                  </a:ext>
                  <a:ext uri="{C183D7F6-B498-43B3-948B-1728B52AA6E4}">
                    <adec:decorative xmlns:adec="http://schemas.microsoft.com/office/drawing/2017/decorative" val="1"/>
                  </a:ext>
                </a:extLst>
              </p:cNvPr>
              <p:cNvSpPr/>
              <p:nvPr/>
            </p:nvSpPr>
            <p:spPr>
              <a:xfrm rot="16200000">
                <a:off x="8138654" y="3906473"/>
                <a:ext cx="193506" cy="193174"/>
              </a:xfrm>
              <a:custGeom>
                <a:avLst/>
                <a:gdLst/>
                <a:ahLst/>
                <a:cxnLst/>
                <a:rect l="l" t="t" r="r" b="b"/>
                <a:pathLst>
                  <a:path w="5775959" h="2983229">
                    <a:moveTo>
                      <a:pt x="5775528" y="0"/>
                    </a:moveTo>
                    <a:lnTo>
                      <a:pt x="0" y="0"/>
                    </a:lnTo>
                    <a:lnTo>
                      <a:pt x="0" y="2983230"/>
                    </a:lnTo>
                    <a:lnTo>
                      <a:pt x="5775528" y="2983230"/>
                    </a:lnTo>
                    <a:lnTo>
                      <a:pt x="5775528" y="0"/>
                    </a:lnTo>
                    <a:close/>
                  </a:path>
                </a:pathLst>
              </a:custGeom>
              <a:solidFill>
                <a:srgbClr val="FFFFFF"/>
              </a:solidFill>
            </p:spPr>
            <p:txBody>
              <a:bodyPr wrap="square" lIns="0" tIns="0" rIns="0" bIns="0" rtlCol="0"/>
              <a:lstStyle/>
              <a:p>
                <a:pPr defTabSz="1828800">
                  <a:defRPr/>
                </a:pPr>
                <a:endParaRPr sz="3600" kern="0">
                  <a:solidFill>
                    <a:prstClr val="black"/>
                  </a:solidFill>
                  <a:latin typeface="Segoe UI"/>
                </a:endParaRPr>
              </a:p>
            </p:txBody>
          </p:sp>
          <p:sp>
            <p:nvSpPr>
              <p:cNvPr id="413" name="object 80">
                <a:extLst>
                  <a:ext uri="{FF2B5EF4-FFF2-40B4-BE49-F238E27FC236}">
                    <a16:creationId xmlns:a16="http://schemas.microsoft.com/office/drawing/2014/main" id="{4B109EC2-7155-D456-A306-3E1F702ADF46}"/>
                  </a:ext>
                  <a:ext uri="{C183D7F6-B498-43B3-948B-1728B52AA6E4}">
                    <adec:decorative xmlns:adec="http://schemas.microsoft.com/office/drawing/2017/decorative" val="1"/>
                  </a:ext>
                </a:extLst>
              </p:cNvPr>
              <p:cNvSpPr>
                <a:spLocks noChangeAspect="1"/>
              </p:cNvSpPr>
              <p:nvPr/>
            </p:nvSpPr>
            <p:spPr>
              <a:xfrm rot="5400000">
                <a:off x="8192139" y="3931140"/>
                <a:ext cx="86534" cy="143840"/>
              </a:xfrm>
              <a:custGeom>
                <a:avLst/>
                <a:gdLst/>
                <a:ahLst/>
                <a:cxnLst/>
                <a:rect l="l" t="t" r="r" b="b"/>
                <a:pathLst>
                  <a:path w="369570" h="579120">
                    <a:moveTo>
                      <a:pt x="80124" y="0"/>
                    </a:moveTo>
                    <a:lnTo>
                      <a:pt x="25" y="80098"/>
                    </a:lnTo>
                    <a:lnTo>
                      <a:pt x="209194" y="289255"/>
                    </a:lnTo>
                    <a:lnTo>
                      <a:pt x="0" y="498449"/>
                    </a:lnTo>
                    <a:lnTo>
                      <a:pt x="80098" y="578548"/>
                    </a:lnTo>
                    <a:lnTo>
                      <a:pt x="369392" y="289255"/>
                    </a:lnTo>
                    <a:lnTo>
                      <a:pt x="80124" y="0"/>
                    </a:lnTo>
                    <a:close/>
                  </a:path>
                </a:pathLst>
              </a:custGeom>
              <a:solidFill>
                <a:srgbClr val="0078D4"/>
              </a:solidFill>
            </p:spPr>
            <p:txBody>
              <a:bodyPr wrap="square" lIns="0" tIns="0" rIns="0" bIns="0" rtlCol="0"/>
              <a:lstStyle/>
              <a:p>
                <a:pPr defTabSz="1828800">
                  <a:defRPr/>
                </a:pPr>
                <a:endParaRPr sz="3600" kern="0">
                  <a:solidFill>
                    <a:prstClr val="black"/>
                  </a:solidFill>
                  <a:latin typeface="Segoe UI"/>
                </a:endParaRPr>
              </a:p>
            </p:txBody>
          </p:sp>
        </p:grpSp>
        <p:grpSp>
          <p:nvGrpSpPr>
            <p:cNvPr id="409" name="Group 408">
              <a:extLst>
                <a:ext uri="{FF2B5EF4-FFF2-40B4-BE49-F238E27FC236}">
                  <a16:creationId xmlns:a16="http://schemas.microsoft.com/office/drawing/2014/main" id="{785AF907-1BC4-DD95-25F4-FBFC9532E79E}"/>
                </a:ext>
              </a:extLst>
            </p:cNvPr>
            <p:cNvGrpSpPr/>
            <p:nvPr/>
          </p:nvGrpSpPr>
          <p:grpSpPr>
            <a:xfrm flipV="1">
              <a:off x="3716967" y="3839652"/>
              <a:ext cx="193174" cy="193506"/>
              <a:chOff x="8138820" y="3906307"/>
              <a:chExt cx="193174" cy="193506"/>
            </a:xfrm>
          </p:grpSpPr>
          <p:sp>
            <p:nvSpPr>
              <p:cNvPr id="410" name="bg object 20">
                <a:extLst>
                  <a:ext uri="{FF2B5EF4-FFF2-40B4-BE49-F238E27FC236}">
                    <a16:creationId xmlns:a16="http://schemas.microsoft.com/office/drawing/2014/main" id="{A8271FBC-D132-E5B1-A8CD-B23EE16FDA0B}"/>
                  </a:ext>
                  <a:ext uri="{C183D7F6-B498-43B3-948B-1728B52AA6E4}">
                    <adec:decorative xmlns:adec="http://schemas.microsoft.com/office/drawing/2017/decorative" val="1"/>
                  </a:ext>
                </a:extLst>
              </p:cNvPr>
              <p:cNvSpPr/>
              <p:nvPr/>
            </p:nvSpPr>
            <p:spPr>
              <a:xfrm rot="16200000">
                <a:off x="8138654" y="3906473"/>
                <a:ext cx="193506" cy="193174"/>
              </a:xfrm>
              <a:custGeom>
                <a:avLst/>
                <a:gdLst/>
                <a:ahLst/>
                <a:cxnLst/>
                <a:rect l="l" t="t" r="r" b="b"/>
                <a:pathLst>
                  <a:path w="5775959" h="2983229">
                    <a:moveTo>
                      <a:pt x="5775528" y="0"/>
                    </a:moveTo>
                    <a:lnTo>
                      <a:pt x="0" y="0"/>
                    </a:lnTo>
                    <a:lnTo>
                      <a:pt x="0" y="2983230"/>
                    </a:lnTo>
                    <a:lnTo>
                      <a:pt x="5775528" y="2983230"/>
                    </a:lnTo>
                    <a:lnTo>
                      <a:pt x="5775528" y="0"/>
                    </a:lnTo>
                    <a:close/>
                  </a:path>
                </a:pathLst>
              </a:custGeom>
              <a:solidFill>
                <a:srgbClr val="FFFFFF"/>
              </a:solidFill>
            </p:spPr>
            <p:txBody>
              <a:bodyPr wrap="square" lIns="0" tIns="0" rIns="0" bIns="0" rtlCol="0"/>
              <a:lstStyle/>
              <a:p>
                <a:pPr defTabSz="1828800">
                  <a:defRPr/>
                </a:pPr>
                <a:endParaRPr sz="3600" kern="0">
                  <a:solidFill>
                    <a:prstClr val="black"/>
                  </a:solidFill>
                  <a:latin typeface="Segoe UI"/>
                </a:endParaRPr>
              </a:p>
            </p:txBody>
          </p:sp>
          <p:sp>
            <p:nvSpPr>
              <p:cNvPr id="411" name="object 80">
                <a:extLst>
                  <a:ext uri="{FF2B5EF4-FFF2-40B4-BE49-F238E27FC236}">
                    <a16:creationId xmlns:a16="http://schemas.microsoft.com/office/drawing/2014/main" id="{0D068EA0-440C-57A5-90A0-0C06BA4BB88E}"/>
                  </a:ext>
                  <a:ext uri="{C183D7F6-B498-43B3-948B-1728B52AA6E4}">
                    <adec:decorative xmlns:adec="http://schemas.microsoft.com/office/drawing/2017/decorative" val="1"/>
                  </a:ext>
                </a:extLst>
              </p:cNvPr>
              <p:cNvSpPr>
                <a:spLocks noChangeAspect="1"/>
              </p:cNvSpPr>
              <p:nvPr/>
            </p:nvSpPr>
            <p:spPr>
              <a:xfrm rot="5400000">
                <a:off x="8192139" y="3931140"/>
                <a:ext cx="86534" cy="143840"/>
              </a:xfrm>
              <a:custGeom>
                <a:avLst/>
                <a:gdLst/>
                <a:ahLst/>
                <a:cxnLst/>
                <a:rect l="l" t="t" r="r" b="b"/>
                <a:pathLst>
                  <a:path w="369570" h="579120">
                    <a:moveTo>
                      <a:pt x="80124" y="0"/>
                    </a:moveTo>
                    <a:lnTo>
                      <a:pt x="25" y="80098"/>
                    </a:lnTo>
                    <a:lnTo>
                      <a:pt x="209194" y="289255"/>
                    </a:lnTo>
                    <a:lnTo>
                      <a:pt x="0" y="498449"/>
                    </a:lnTo>
                    <a:lnTo>
                      <a:pt x="80098" y="578548"/>
                    </a:lnTo>
                    <a:lnTo>
                      <a:pt x="369392" y="289255"/>
                    </a:lnTo>
                    <a:lnTo>
                      <a:pt x="80124" y="0"/>
                    </a:lnTo>
                    <a:close/>
                  </a:path>
                </a:pathLst>
              </a:custGeom>
              <a:solidFill>
                <a:srgbClr val="0078D4"/>
              </a:solidFill>
            </p:spPr>
            <p:txBody>
              <a:bodyPr wrap="square" lIns="0" tIns="0" rIns="0" bIns="0" rtlCol="0"/>
              <a:lstStyle/>
              <a:p>
                <a:pPr defTabSz="1828800">
                  <a:defRPr/>
                </a:pPr>
                <a:endParaRPr sz="3600" kern="0">
                  <a:solidFill>
                    <a:prstClr val="black"/>
                  </a:solidFill>
                  <a:latin typeface="Segoe UI"/>
                </a:endParaRPr>
              </a:p>
            </p:txBody>
          </p:sp>
        </p:grpSp>
      </p:grpSp>
      <p:sp>
        <p:nvSpPr>
          <p:cNvPr id="414" name="object 10">
            <a:extLst>
              <a:ext uri="{FF2B5EF4-FFF2-40B4-BE49-F238E27FC236}">
                <a16:creationId xmlns:a16="http://schemas.microsoft.com/office/drawing/2014/main" id="{27B38D3E-D556-5075-8A2C-54398C5EE239}"/>
              </a:ext>
              <a:ext uri="{C183D7F6-B498-43B3-948B-1728B52AA6E4}">
                <adec:decorative xmlns:adec="http://schemas.microsoft.com/office/drawing/2017/decorative" val="1"/>
              </a:ext>
            </a:extLst>
          </p:cNvPr>
          <p:cNvSpPr txBox="1"/>
          <p:nvPr/>
        </p:nvSpPr>
        <p:spPr>
          <a:xfrm>
            <a:off x="11147322" y="5565704"/>
            <a:ext cx="1828800" cy="677108"/>
          </a:xfrm>
          <a:prstGeom prst="rect">
            <a:avLst/>
          </a:prstGeom>
          <a:solidFill>
            <a:srgbClr val="FFFFFF"/>
          </a:solidFill>
        </p:spPr>
        <p:txBody>
          <a:bodyPr vert="horz" wrap="square" lIns="182880" tIns="91440" rIns="182880" bIns="91440" rtlCol="0" anchor="ctr">
            <a:spAutoFit/>
          </a:bodyPr>
          <a:lstStyle/>
          <a:p>
            <a:pPr algn="ctr" defTabSz="1828800">
              <a:spcBef>
                <a:spcPts val="610"/>
              </a:spcBef>
              <a:defRPr/>
            </a:pPr>
            <a:r>
              <a:rPr lang="en-US" sz="3200" kern="0" spc="-30">
                <a:solidFill>
                  <a:srgbClr val="0078D4"/>
                </a:solidFill>
                <a:latin typeface="Segoe UI Semibold"/>
                <a:cs typeface="Segoe UI Semibold"/>
              </a:rPr>
              <a:t>Migrate</a:t>
            </a:r>
            <a:endParaRPr lang="en-US" sz="2400" kern="0">
              <a:solidFill>
                <a:srgbClr val="0078D4"/>
              </a:solidFill>
              <a:latin typeface="Segoe UI Semibold"/>
              <a:cs typeface="Segoe UI Semibold"/>
            </a:endParaRPr>
          </a:p>
        </p:txBody>
      </p:sp>
      <p:sp>
        <p:nvSpPr>
          <p:cNvPr id="415" name="object 10">
            <a:extLst>
              <a:ext uri="{FF2B5EF4-FFF2-40B4-BE49-F238E27FC236}">
                <a16:creationId xmlns:a16="http://schemas.microsoft.com/office/drawing/2014/main" id="{61FCB1FD-5B92-2E8A-C075-6B06DEBA30EF}"/>
              </a:ext>
              <a:ext uri="{C183D7F6-B498-43B3-948B-1728B52AA6E4}">
                <adec:decorative xmlns:adec="http://schemas.microsoft.com/office/drawing/2017/decorative" val="1"/>
              </a:ext>
            </a:extLst>
          </p:cNvPr>
          <p:cNvSpPr txBox="1"/>
          <p:nvPr/>
        </p:nvSpPr>
        <p:spPr>
          <a:xfrm>
            <a:off x="10895317" y="9418790"/>
            <a:ext cx="2332814" cy="677108"/>
          </a:xfrm>
          <a:prstGeom prst="rect">
            <a:avLst/>
          </a:prstGeom>
          <a:solidFill>
            <a:srgbClr val="FFFFFF"/>
          </a:solidFill>
        </p:spPr>
        <p:txBody>
          <a:bodyPr vert="horz" wrap="square" lIns="182880" tIns="91440" rIns="182880" bIns="91440" rtlCol="0" anchor="ctr">
            <a:spAutoFit/>
          </a:bodyPr>
          <a:lstStyle>
            <a:defPPr>
              <a:defRPr lang="en-US"/>
            </a:defPPr>
            <a:lvl1pPr algn="ctr">
              <a:lnSpc>
                <a:spcPct val="100000"/>
              </a:lnSpc>
              <a:spcBef>
                <a:spcPts val="305"/>
              </a:spcBef>
              <a:defRPr sz="1600" b="1" spc="-15">
                <a:solidFill>
                  <a:srgbClr val="49C7EB"/>
                </a:solidFill>
                <a:latin typeface="Segoe UI Semibold"/>
                <a:cs typeface="Segoe UI Semibold"/>
              </a:defRPr>
            </a:lvl1pPr>
          </a:lstStyle>
          <a:p>
            <a:pPr defTabSz="1828800">
              <a:spcBef>
                <a:spcPts val="610"/>
              </a:spcBef>
              <a:defRPr/>
            </a:pPr>
            <a:r>
              <a:rPr lang="en-US" sz="3200" b="0" kern="0" spc="-30">
                <a:solidFill>
                  <a:srgbClr val="0078D4"/>
                </a:solidFill>
              </a:rPr>
              <a:t>Modernize</a:t>
            </a:r>
          </a:p>
        </p:txBody>
      </p:sp>
      <p:grpSp>
        <p:nvGrpSpPr>
          <p:cNvPr id="416" name="check 2">
            <a:extLst>
              <a:ext uri="{FF2B5EF4-FFF2-40B4-BE49-F238E27FC236}">
                <a16:creationId xmlns:a16="http://schemas.microsoft.com/office/drawing/2014/main" id="{8A65B254-18CC-A0C8-F4D3-A9170DBDFA9C}"/>
              </a:ext>
              <a:ext uri="{C183D7F6-B498-43B3-948B-1728B52AA6E4}">
                <adec:decorative xmlns:adec="http://schemas.microsoft.com/office/drawing/2017/decorative" val="1"/>
              </a:ext>
            </a:extLst>
          </p:cNvPr>
          <p:cNvGrpSpPr/>
          <p:nvPr/>
        </p:nvGrpSpPr>
        <p:grpSpPr>
          <a:xfrm>
            <a:off x="9396192" y="6511328"/>
            <a:ext cx="921716" cy="921716"/>
            <a:chOff x="-1365251" y="1747838"/>
            <a:chExt cx="452438" cy="449263"/>
          </a:xfrm>
        </p:grpSpPr>
        <p:sp>
          <p:nvSpPr>
            <p:cNvPr id="417" name="Oval 600">
              <a:extLst>
                <a:ext uri="{FF2B5EF4-FFF2-40B4-BE49-F238E27FC236}">
                  <a16:creationId xmlns:a16="http://schemas.microsoft.com/office/drawing/2014/main" id="{2938C974-722E-E54E-4801-328D41BEC389}"/>
                </a:ext>
              </a:extLst>
            </p:cNvPr>
            <p:cNvSpPr>
              <a:spLocks noChangeArrowheads="1"/>
            </p:cNvSpPr>
            <p:nvPr/>
          </p:nvSpPr>
          <p:spPr bwMode="auto">
            <a:xfrm>
              <a:off x="-1365251" y="1747838"/>
              <a:ext cx="452438" cy="449263"/>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18" name="Freeform 601">
              <a:extLst>
                <a:ext uri="{FF2B5EF4-FFF2-40B4-BE49-F238E27FC236}">
                  <a16:creationId xmlns:a16="http://schemas.microsoft.com/office/drawing/2014/main" id="{2513CC97-51DB-EFD6-4FA3-A7D1085AF10A}"/>
                </a:ext>
              </a:extLst>
            </p:cNvPr>
            <p:cNvSpPr>
              <a:spLocks/>
            </p:cNvSpPr>
            <p:nvPr/>
          </p:nvSpPr>
          <p:spPr bwMode="auto">
            <a:xfrm>
              <a:off x="-1284288" y="1863726"/>
              <a:ext cx="285750" cy="234950"/>
            </a:xfrm>
            <a:custGeom>
              <a:avLst/>
              <a:gdLst>
                <a:gd name="T0" fmla="*/ 159 w 180"/>
                <a:gd name="T1" fmla="*/ 0 h 148"/>
                <a:gd name="T2" fmla="*/ 53 w 180"/>
                <a:gd name="T3" fmla="*/ 106 h 148"/>
                <a:gd name="T4" fmla="*/ 21 w 180"/>
                <a:gd name="T5" fmla="*/ 74 h 148"/>
                <a:gd name="T6" fmla="*/ 0 w 180"/>
                <a:gd name="T7" fmla="*/ 95 h 148"/>
                <a:gd name="T8" fmla="*/ 53 w 180"/>
                <a:gd name="T9" fmla="*/ 148 h 148"/>
                <a:gd name="T10" fmla="*/ 180 w 180"/>
                <a:gd name="T11" fmla="*/ 21 h 148"/>
                <a:gd name="T12" fmla="*/ 159 w 180"/>
                <a:gd name="T13" fmla="*/ 0 h 148"/>
              </a:gdLst>
              <a:ahLst/>
              <a:cxnLst>
                <a:cxn ang="0">
                  <a:pos x="T0" y="T1"/>
                </a:cxn>
                <a:cxn ang="0">
                  <a:pos x="T2" y="T3"/>
                </a:cxn>
                <a:cxn ang="0">
                  <a:pos x="T4" y="T5"/>
                </a:cxn>
                <a:cxn ang="0">
                  <a:pos x="T6" y="T7"/>
                </a:cxn>
                <a:cxn ang="0">
                  <a:pos x="T8" y="T9"/>
                </a:cxn>
                <a:cxn ang="0">
                  <a:pos x="T10" y="T11"/>
                </a:cxn>
                <a:cxn ang="0">
                  <a:pos x="T12" y="T13"/>
                </a:cxn>
              </a:cxnLst>
              <a:rect l="0" t="0" r="r" b="b"/>
              <a:pathLst>
                <a:path w="180" h="148">
                  <a:moveTo>
                    <a:pt x="159" y="0"/>
                  </a:moveTo>
                  <a:lnTo>
                    <a:pt x="53" y="106"/>
                  </a:lnTo>
                  <a:lnTo>
                    <a:pt x="21" y="74"/>
                  </a:lnTo>
                  <a:lnTo>
                    <a:pt x="0" y="95"/>
                  </a:lnTo>
                  <a:lnTo>
                    <a:pt x="53" y="148"/>
                  </a:lnTo>
                  <a:lnTo>
                    <a:pt x="180" y="21"/>
                  </a:lnTo>
                  <a:lnTo>
                    <a:pt x="159" y="0"/>
                  </a:lnTo>
                  <a:close/>
                </a:path>
              </a:pathLst>
            </a:custGeom>
            <a:solidFill>
              <a:srgbClr val="50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grpSp>
      <p:grpSp>
        <p:nvGrpSpPr>
          <p:cNvPr id="419" name="whitepapers">
            <a:extLst>
              <a:ext uri="{FF2B5EF4-FFF2-40B4-BE49-F238E27FC236}">
                <a16:creationId xmlns:a16="http://schemas.microsoft.com/office/drawing/2014/main" id="{A3E16FE4-4C18-D6A2-35E8-F55EC0F5E71A}"/>
              </a:ext>
              <a:ext uri="{C183D7F6-B498-43B3-948B-1728B52AA6E4}">
                <adec:decorative xmlns:adec="http://schemas.microsoft.com/office/drawing/2017/decorative" val="1"/>
              </a:ext>
            </a:extLst>
          </p:cNvPr>
          <p:cNvGrpSpPr/>
          <p:nvPr/>
        </p:nvGrpSpPr>
        <p:grpSpPr>
          <a:xfrm>
            <a:off x="3571562" y="7191944"/>
            <a:ext cx="859652" cy="859652"/>
            <a:chOff x="692742" y="5791200"/>
            <a:chExt cx="358188" cy="358188"/>
          </a:xfrm>
        </p:grpSpPr>
        <p:sp>
          <p:nvSpPr>
            <p:cNvPr id="420" name="Freeform: Shape 419">
              <a:extLst>
                <a:ext uri="{FF2B5EF4-FFF2-40B4-BE49-F238E27FC236}">
                  <a16:creationId xmlns:a16="http://schemas.microsoft.com/office/drawing/2014/main" id="{1211CA95-EDF9-E7CC-F171-FD8F16FB5A72}"/>
                </a:ext>
              </a:extLst>
            </p:cNvPr>
            <p:cNvSpPr/>
            <p:nvPr/>
          </p:nvSpPr>
          <p:spPr>
            <a:xfrm>
              <a:off x="750047" y="5793375"/>
              <a:ext cx="243716" cy="354495"/>
            </a:xfrm>
            <a:custGeom>
              <a:avLst/>
              <a:gdLst>
                <a:gd name="connsiteX0" fmla="*/ 1056 w 243715"/>
                <a:gd name="connsiteY0" fmla="*/ 355552 h 354495"/>
                <a:gd name="connsiteX1" fmla="*/ 244745 w 243715"/>
                <a:gd name="connsiteY1" fmla="*/ 355552 h 354495"/>
                <a:gd name="connsiteX2" fmla="*/ 244745 w 243715"/>
                <a:gd name="connsiteY2" fmla="*/ 1056 h 354495"/>
                <a:gd name="connsiteX3" fmla="*/ 1056 w 243715"/>
                <a:gd name="connsiteY3" fmla="*/ 1056 h 354495"/>
                <a:gd name="connsiteX4" fmla="*/ 1056 w 243715"/>
                <a:gd name="connsiteY4" fmla="*/ 355552 h 35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15" h="354495">
                  <a:moveTo>
                    <a:pt x="1056" y="355552"/>
                  </a:moveTo>
                  <a:lnTo>
                    <a:pt x="244745" y="355552"/>
                  </a:lnTo>
                  <a:lnTo>
                    <a:pt x="244745" y="1056"/>
                  </a:lnTo>
                  <a:lnTo>
                    <a:pt x="1056" y="1056"/>
                  </a:lnTo>
                  <a:lnTo>
                    <a:pt x="1056" y="355552"/>
                  </a:lnTo>
                  <a:close/>
                </a:path>
              </a:pathLst>
            </a:custGeom>
            <a:solidFill>
              <a:srgbClr val="0078D4"/>
            </a:solidFill>
            <a:ln w="3633" cap="flat">
              <a:noFill/>
              <a:prstDash val="solid"/>
              <a:miter/>
            </a:ln>
          </p:spPr>
          <p:txBody>
            <a:bodyPr rtlCol="0" anchor="ctr"/>
            <a:lstStyle/>
            <a:p>
              <a:pPr defTabSz="1828734">
                <a:defRPr/>
              </a:pPr>
              <a:endParaRPr lang="en-US" sz="5184">
                <a:solidFill>
                  <a:srgbClr val="000000"/>
                </a:solidFill>
                <a:latin typeface="Segoe UI"/>
              </a:endParaRPr>
            </a:p>
          </p:txBody>
        </p:sp>
        <p:sp>
          <p:nvSpPr>
            <p:cNvPr id="421" name="Freeform: Shape 420">
              <a:extLst>
                <a:ext uri="{FF2B5EF4-FFF2-40B4-BE49-F238E27FC236}">
                  <a16:creationId xmlns:a16="http://schemas.microsoft.com/office/drawing/2014/main" id="{5E5DD66B-15E0-3953-3DC6-7FBC6C67AECC}"/>
                </a:ext>
              </a:extLst>
            </p:cNvPr>
            <p:cNvSpPr/>
            <p:nvPr/>
          </p:nvSpPr>
          <p:spPr>
            <a:xfrm>
              <a:off x="787727" y="5830244"/>
              <a:ext cx="169862" cy="36927"/>
            </a:xfrm>
            <a:custGeom>
              <a:avLst/>
              <a:gdLst>
                <a:gd name="connsiteX0" fmla="*/ 1056 w 169862"/>
                <a:gd name="connsiteY0" fmla="*/ 38800 h 36926"/>
                <a:gd name="connsiteX1" fmla="*/ 169008 w 169862"/>
                <a:gd name="connsiteY1" fmla="*/ 38800 h 36926"/>
                <a:gd name="connsiteX2" fmla="*/ 169008 w 169862"/>
                <a:gd name="connsiteY2" fmla="*/ 1056 h 36926"/>
                <a:gd name="connsiteX3" fmla="*/ 1056 w 169862"/>
                <a:gd name="connsiteY3" fmla="*/ 1056 h 36926"/>
                <a:gd name="connsiteX4" fmla="*/ 1056 w 169862"/>
                <a:gd name="connsiteY4" fmla="*/ 38800 h 3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62" h="36926">
                  <a:moveTo>
                    <a:pt x="1056" y="38800"/>
                  </a:moveTo>
                  <a:lnTo>
                    <a:pt x="169008" y="38800"/>
                  </a:lnTo>
                  <a:lnTo>
                    <a:pt x="169008" y="1056"/>
                  </a:lnTo>
                  <a:lnTo>
                    <a:pt x="1056" y="1056"/>
                  </a:lnTo>
                  <a:lnTo>
                    <a:pt x="1056" y="38800"/>
                  </a:lnTo>
                  <a:close/>
                </a:path>
              </a:pathLst>
            </a:custGeom>
            <a:solidFill>
              <a:srgbClr val="FFFFFF"/>
            </a:solidFill>
            <a:ln w="3633" cap="flat">
              <a:noFill/>
              <a:prstDash val="solid"/>
              <a:miter/>
            </a:ln>
          </p:spPr>
          <p:txBody>
            <a:bodyPr rtlCol="0" anchor="ctr"/>
            <a:lstStyle/>
            <a:p>
              <a:pPr defTabSz="1828734">
                <a:defRPr/>
              </a:pPr>
              <a:endParaRPr lang="en-US" sz="5184">
                <a:solidFill>
                  <a:srgbClr val="000000"/>
                </a:solidFill>
                <a:latin typeface="Segoe UI"/>
              </a:endParaRPr>
            </a:p>
          </p:txBody>
        </p:sp>
        <p:sp>
          <p:nvSpPr>
            <p:cNvPr id="422" name="Freeform: Shape 421">
              <a:extLst>
                <a:ext uri="{FF2B5EF4-FFF2-40B4-BE49-F238E27FC236}">
                  <a16:creationId xmlns:a16="http://schemas.microsoft.com/office/drawing/2014/main" id="{0CD01D7D-E42A-60FE-9380-DB80FCC424A8}"/>
                </a:ext>
              </a:extLst>
            </p:cNvPr>
            <p:cNvSpPr/>
            <p:nvPr/>
          </p:nvSpPr>
          <p:spPr>
            <a:xfrm>
              <a:off x="787727" y="5886831"/>
              <a:ext cx="169862" cy="36927"/>
            </a:xfrm>
            <a:custGeom>
              <a:avLst/>
              <a:gdLst>
                <a:gd name="connsiteX0" fmla="*/ 1056 w 169862"/>
                <a:gd name="connsiteY0" fmla="*/ 38801 h 36926"/>
                <a:gd name="connsiteX1" fmla="*/ 169008 w 169862"/>
                <a:gd name="connsiteY1" fmla="*/ 38801 h 36926"/>
                <a:gd name="connsiteX2" fmla="*/ 169008 w 169862"/>
                <a:gd name="connsiteY2" fmla="*/ 1056 h 36926"/>
                <a:gd name="connsiteX3" fmla="*/ 1056 w 169862"/>
                <a:gd name="connsiteY3" fmla="*/ 1056 h 36926"/>
                <a:gd name="connsiteX4" fmla="*/ 1056 w 169862"/>
                <a:gd name="connsiteY4" fmla="*/ 38801 h 3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62" h="36926">
                  <a:moveTo>
                    <a:pt x="1056" y="38801"/>
                  </a:moveTo>
                  <a:lnTo>
                    <a:pt x="169008" y="38801"/>
                  </a:lnTo>
                  <a:lnTo>
                    <a:pt x="169008" y="1056"/>
                  </a:lnTo>
                  <a:lnTo>
                    <a:pt x="1056" y="1056"/>
                  </a:lnTo>
                  <a:lnTo>
                    <a:pt x="1056" y="38801"/>
                  </a:lnTo>
                  <a:close/>
                </a:path>
              </a:pathLst>
            </a:custGeom>
            <a:solidFill>
              <a:srgbClr val="50E6FF"/>
            </a:solidFill>
            <a:ln w="3633" cap="flat">
              <a:noFill/>
              <a:prstDash val="solid"/>
              <a:miter/>
            </a:ln>
          </p:spPr>
          <p:txBody>
            <a:bodyPr rtlCol="0" anchor="ctr"/>
            <a:lstStyle/>
            <a:p>
              <a:pPr defTabSz="1828734">
                <a:defRPr/>
              </a:pPr>
              <a:endParaRPr lang="en-US" sz="5184">
                <a:solidFill>
                  <a:srgbClr val="000000"/>
                </a:solidFill>
                <a:latin typeface="Segoe UI"/>
              </a:endParaRPr>
            </a:p>
          </p:txBody>
        </p:sp>
        <p:sp>
          <p:nvSpPr>
            <p:cNvPr id="423" name="Freeform: Shape 422">
              <a:extLst>
                <a:ext uri="{FF2B5EF4-FFF2-40B4-BE49-F238E27FC236}">
                  <a16:creationId xmlns:a16="http://schemas.microsoft.com/office/drawing/2014/main" id="{A77B8C43-6C03-5B01-7592-1A2A3FC27394}"/>
                </a:ext>
              </a:extLst>
            </p:cNvPr>
            <p:cNvSpPr/>
            <p:nvPr/>
          </p:nvSpPr>
          <p:spPr>
            <a:xfrm>
              <a:off x="787727" y="5941615"/>
              <a:ext cx="169862" cy="36927"/>
            </a:xfrm>
            <a:custGeom>
              <a:avLst/>
              <a:gdLst>
                <a:gd name="connsiteX0" fmla="*/ 1056 w 169862"/>
                <a:gd name="connsiteY0" fmla="*/ 38801 h 36926"/>
                <a:gd name="connsiteX1" fmla="*/ 169008 w 169862"/>
                <a:gd name="connsiteY1" fmla="*/ 38801 h 36926"/>
                <a:gd name="connsiteX2" fmla="*/ 169008 w 169862"/>
                <a:gd name="connsiteY2" fmla="*/ 1056 h 36926"/>
                <a:gd name="connsiteX3" fmla="*/ 1056 w 169862"/>
                <a:gd name="connsiteY3" fmla="*/ 1056 h 36926"/>
                <a:gd name="connsiteX4" fmla="*/ 1056 w 169862"/>
                <a:gd name="connsiteY4" fmla="*/ 38801 h 3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62" h="36926">
                  <a:moveTo>
                    <a:pt x="1056" y="38801"/>
                  </a:moveTo>
                  <a:lnTo>
                    <a:pt x="169008" y="38801"/>
                  </a:lnTo>
                  <a:lnTo>
                    <a:pt x="169008" y="1056"/>
                  </a:lnTo>
                  <a:lnTo>
                    <a:pt x="1056" y="1056"/>
                  </a:lnTo>
                  <a:lnTo>
                    <a:pt x="1056" y="38801"/>
                  </a:lnTo>
                  <a:close/>
                </a:path>
              </a:pathLst>
            </a:custGeom>
            <a:solidFill>
              <a:srgbClr val="50E6FF"/>
            </a:solidFill>
            <a:ln w="3633" cap="flat">
              <a:noFill/>
              <a:prstDash val="solid"/>
              <a:miter/>
            </a:ln>
          </p:spPr>
          <p:txBody>
            <a:bodyPr rtlCol="0" anchor="ctr"/>
            <a:lstStyle/>
            <a:p>
              <a:pPr defTabSz="1828734">
                <a:defRPr/>
              </a:pPr>
              <a:endParaRPr lang="en-US" sz="5184">
                <a:solidFill>
                  <a:srgbClr val="000000"/>
                </a:solidFill>
                <a:latin typeface="Segoe UI"/>
              </a:endParaRPr>
            </a:p>
          </p:txBody>
        </p:sp>
        <p:sp>
          <p:nvSpPr>
            <p:cNvPr id="424" name="Freeform: Shape 423">
              <a:extLst>
                <a:ext uri="{FF2B5EF4-FFF2-40B4-BE49-F238E27FC236}">
                  <a16:creationId xmlns:a16="http://schemas.microsoft.com/office/drawing/2014/main" id="{BFBA93EC-90FA-472C-F1A7-B951AEF077BC}"/>
                </a:ext>
              </a:extLst>
            </p:cNvPr>
            <p:cNvSpPr/>
            <p:nvPr/>
          </p:nvSpPr>
          <p:spPr>
            <a:xfrm>
              <a:off x="787727" y="5997509"/>
              <a:ext cx="169862" cy="36927"/>
            </a:xfrm>
            <a:custGeom>
              <a:avLst/>
              <a:gdLst>
                <a:gd name="connsiteX0" fmla="*/ 1056 w 169862"/>
                <a:gd name="connsiteY0" fmla="*/ 38801 h 36926"/>
                <a:gd name="connsiteX1" fmla="*/ 169008 w 169862"/>
                <a:gd name="connsiteY1" fmla="*/ 38801 h 36926"/>
                <a:gd name="connsiteX2" fmla="*/ 169008 w 169862"/>
                <a:gd name="connsiteY2" fmla="*/ 1056 h 36926"/>
                <a:gd name="connsiteX3" fmla="*/ 1056 w 169862"/>
                <a:gd name="connsiteY3" fmla="*/ 1056 h 36926"/>
                <a:gd name="connsiteX4" fmla="*/ 1056 w 169862"/>
                <a:gd name="connsiteY4" fmla="*/ 38801 h 3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62" h="36926">
                  <a:moveTo>
                    <a:pt x="1056" y="38801"/>
                  </a:moveTo>
                  <a:lnTo>
                    <a:pt x="169008" y="38801"/>
                  </a:lnTo>
                  <a:lnTo>
                    <a:pt x="169008" y="1056"/>
                  </a:lnTo>
                  <a:lnTo>
                    <a:pt x="1056" y="1056"/>
                  </a:lnTo>
                  <a:lnTo>
                    <a:pt x="1056" y="38801"/>
                  </a:lnTo>
                  <a:close/>
                </a:path>
              </a:pathLst>
            </a:custGeom>
            <a:solidFill>
              <a:srgbClr val="50E6FF"/>
            </a:solidFill>
            <a:ln w="3633" cap="flat">
              <a:noFill/>
              <a:prstDash val="solid"/>
              <a:miter/>
            </a:ln>
          </p:spPr>
          <p:txBody>
            <a:bodyPr rtlCol="0" anchor="ctr"/>
            <a:lstStyle/>
            <a:p>
              <a:pPr defTabSz="1828734">
                <a:defRPr/>
              </a:pPr>
              <a:endParaRPr lang="en-US" sz="5184">
                <a:solidFill>
                  <a:srgbClr val="000000"/>
                </a:solidFill>
                <a:latin typeface="Segoe UI"/>
              </a:endParaRPr>
            </a:p>
          </p:txBody>
        </p:sp>
        <p:sp>
          <p:nvSpPr>
            <p:cNvPr id="425" name="Freeform: Shape 424">
              <a:extLst>
                <a:ext uri="{FF2B5EF4-FFF2-40B4-BE49-F238E27FC236}">
                  <a16:creationId xmlns:a16="http://schemas.microsoft.com/office/drawing/2014/main" id="{52CA5805-0889-E1DF-C667-375AC83B0A2B}"/>
                </a:ext>
              </a:extLst>
            </p:cNvPr>
            <p:cNvSpPr/>
            <p:nvPr/>
          </p:nvSpPr>
          <p:spPr>
            <a:xfrm>
              <a:off x="787727" y="6055280"/>
              <a:ext cx="92316" cy="36927"/>
            </a:xfrm>
            <a:custGeom>
              <a:avLst/>
              <a:gdLst>
                <a:gd name="connsiteX0" fmla="*/ 1056 w 92316"/>
                <a:gd name="connsiteY0" fmla="*/ 38800 h 36926"/>
                <a:gd name="connsiteX1" fmla="*/ 94328 w 92316"/>
                <a:gd name="connsiteY1" fmla="*/ 38800 h 36926"/>
                <a:gd name="connsiteX2" fmla="*/ 94328 w 92316"/>
                <a:gd name="connsiteY2" fmla="*/ 1056 h 36926"/>
                <a:gd name="connsiteX3" fmla="*/ 1056 w 92316"/>
                <a:gd name="connsiteY3" fmla="*/ 1056 h 36926"/>
                <a:gd name="connsiteX4" fmla="*/ 1056 w 92316"/>
                <a:gd name="connsiteY4" fmla="*/ 38800 h 3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6" h="36926">
                  <a:moveTo>
                    <a:pt x="1056" y="38800"/>
                  </a:moveTo>
                  <a:lnTo>
                    <a:pt x="94328" y="38800"/>
                  </a:lnTo>
                  <a:lnTo>
                    <a:pt x="94328" y="1056"/>
                  </a:lnTo>
                  <a:lnTo>
                    <a:pt x="1056" y="1056"/>
                  </a:lnTo>
                  <a:lnTo>
                    <a:pt x="1056" y="38800"/>
                  </a:lnTo>
                  <a:close/>
                </a:path>
              </a:pathLst>
            </a:custGeom>
            <a:solidFill>
              <a:srgbClr val="50E6FF"/>
            </a:solidFill>
            <a:ln w="3633" cap="flat">
              <a:noFill/>
              <a:prstDash val="solid"/>
              <a:miter/>
            </a:ln>
          </p:spPr>
          <p:txBody>
            <a:bodyPr rtlCol="0" anchor="ctr"/>
            <a:lstStyle/>
            <a:p>
              <a:pPr defTabSz="1828734">
                <a:defRPr/>
              </a:pPr>
              <a:endParaRPr lang="en-US" sz="5184">
                <a:solidFill>
                  <a:srgbClr val="000000"/>
                </a:solidFill>
                <a:latin typeface="Segoe UI"/>
              </a:endParaRPr>
            </a:p>
          </p:txBody>
        </p:sp>
      </p:grpSp>
      <p:grpSp>
        <p:nvGrpSpPr>
          <p:cNvPr id="426" name="resources">
            <a:extLst>
              <a:ext uri="{FF2B5EF4-FFF2-40B4-BE49-F238E27FC236}">
                <a16:creationId xmlns:a16="http://schemas.microsoft.com/office/drawing/2014/main" id="{A6A0546E-D831-A4F0-FA13-926AB735DA23}"/>
              </a:ext>
              <a:ext uri="{C183D7F6-B498-43B3-948B-1728B52AA6E4}">
                <adec:decorative xmlns:adec="http://schemas.microsoft.com/office/drawing/2017/decorative" val="1"/>
              </a:ext>
            </a:extLst>
          </p:cNvPr>
          <p:cNvGrpSpPr/>
          <p:nvPr/>
        </p:nvGrpSpPr>
        <p:grpSpPr>
          <a:xfrm>
            <a:off x="19959772" y="7192842"/>
            <a:ext cx="857856" cy="857856"/>
            <a:chOff x="3561905" y="3975100"/>
            <a:chExt cx="357440" cy="357440"/>
          </a:xfrm>
        </p:grpSpPr>
        <p:sp>
          <p:nvSpPr>
            <p:cNvPr id="427" name="Freeform: Shape 426">
              <a:extLst>
                <a:ext uri="{FF2B5EF4-FFF2-40B4-BE49-F238E27FC236}">
                  <a16:creationId xmlns:a16="http://schemas.microsoft.com/office/drawing/2014/main" id="{A404FA25-603E-E069-9BD8-0ED55BEA9BEB}"/>
                </a:ext>
              </a:extLst>
            </p:cNvPr>
            <p:cNvSpPr/>
            <p:nvPr/>
          </p:nvSpPr>
          <p:spPr>
            <a:xfrm>
              <a:off x="3580236" y="3995263"/>
              <a:ext cx="316906" cy="239522"/>
            </a:xfrm>
            <a:custGeom>
              <a:avLst/>
              <a:gdLst>
                <a:gd name="connsiteX0" fmla="*/ 317902 w 316905"/>
                <a:gd name="connsiteY0" fmla="*/ 19973 h 239521"/>
                <a:gd name="connsiteX1" fmla="*/ 114072 w 316905"/>
                <a:gd name="connsiteY1" fmla="*/ 19973 h 239521"/>
                <a:gd name="connsiteX2" fmla="*/ 96332 w 316905"/>
                <a:gd name="connsiteY2" fmla="*/ 1054 h 239521"/>
                <a:gd name="connsiteX3" fmla="*/ 1054 w 316905"/>
                <a:gd name="connsiteY3" fmla="*/ 1054 h 239521"/>
                <a:gd name="connsiteX4" fmla="*/ 1054 w 316905"/>
                <a:gd name="connsiteY4" fmla="*/ 241109 h 239521"/>
                <a:gd name="connsiteX5" fmla="*/ 317902 w 316905"/>
                <a:gd name="connsiteY5" fmla="*/ 241109 h 239521"/>
                <a:gd name="connsiteX6" fmla="*/ 317902 w 316905"/>
                <a:gd name="connsiteY6" fmla="*/ 19973 h 239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905" h="239521">
                  <a:moveTo>
                    <a:pt x="317902" y="19973"/>
                  </a:moveTo>
                  <a:lnTo>
                    <a:pt x="114072" y="19973"/>
                  </a:lnTo>
                  <a:lnTo>
                    <a:pt x="96332" y="1054"/>
                  </a:lnTo>
                  <a:lnTo>
                    <a:pt x="1054" y="1054"/>
                  </a:lnTo>
                  <a:lnTo>
                    <a:pt x="1054" y="241109"/>
                  </a:lnTo>
                  <a:lnTo>
                    <a:pt x="317902" y="241109"/>
                  </a:lnTo>
                  <a:lnTo>
                    <a:pt x="317902" y="19973"/>
                  </a:lnTo>
                  <a:close/>
                </a:path>
              </a:pathLst>
            </a:custGeom>
            <a:solidFill>
              <a:srgbClr val="50E6FF"/>
            </a:solidFill>
            <a:ln w="3633" cap="flat">
              <a:noFill/>
              <a:prstDash val="solid"/>
              <a:miter/>
            </a:ln>
          </p:spPr>
          <p:txBody>
            <a:bodyPr rtlCol="0" anchor="ctr"/>
            <a:lstStyle/>
            <a:p>
              <a:pPr defTabSz="1828734">
                <a:defRPr/>
              </a:pPr>
              <a:endParaRPr lang="en-US" sz="5184">
                <a:solidFill>
                  <a:srgbClr val="000000"/>
                </a:solidFill>
                <a:latin typeface="Segoe UI"/>
              </a:endParaRPr>
            </a:p>
          </p:txBody>
        </p:sp>
        <p:sp>
          <p:nvSpPr>
            <p:cNvPr id="428" name="Freeform: Shape 427">
              <a:extLst>
                <a:ext uri="{FF2B5EF4-FFF2-40B4-BE49-F238E27FC236}">
                  <a16:creationId xmlns:a16="http://schemas.microsoft.com/office/drawing/2014/main" id="{FD405528-8EA1-CE9F-1974-6DC393C2E844}"/>
                </a:ext>
              </a:extLst>
            </p:cNvPr>
            <p:cNvSpPr/>
            <p:nvPr/>
          </p:nvSpPr>
          <p:spPr>
            <a:xfrm>
              <a:off x="3561319" y="4051775"/>
              <a:ext cx="353755" cy="261631"/>
            </a:xfrm>
            <a:custGeom>
              <a:avLst/>
              <a:gdLst>
                <a:gd name="connsiteX0" fmla="*/ 354809 w 353755"/>
                <a:gd name="connsiteY0" fmla="*/ 1054 h 261631"/>
                <a:gd name="connsiteX1" fmla="*/ 1054 w 353755"/>
                <a:gd name="connsiteY1" fmla="*/ 1054 h 261631"/>
                <a:gd name="connsiteX2" fmla="*/ 1054 w 353755"/>
                <a:gd name="connsiteY2" fmla="*/ 260648 h 261631"/>
                <a:gd name="connsiteX3" fmla="*/ 354809 w 353755"/>
                <a:gd name="connsiteY3" fmla="*/ 260648 h 261631"/>
                <a:gd name="connsiteX4" fmla="*/ 354809 w 353755"/>
                <a:gd name="connsiteY4" fmla="*/ 1054 h 261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755" h="261631">
                  <a:moveTo>
                    <a:pt x="354809" y="1054"/>
                  </a:moveTo>
                  <a:lnTo>
                    <a:pt x="1054" y="1054"/>
                  </a:lnTo>
                  <a:lnTo>
                    <a:pt x="1054" y="260648"/>
                  </a:lnTo>
                  <a:lnTo>
                    <a:pt x="354809" y="260648"/>
                  </a:lnTo>
                  <a:lnTo>
                    <a:pt x="354809" y="1054"/>
                  </a:lnTo>
                  <a:close/>
                </a:path>
              </a:pathLst>
            </a:custGeom>
            <a:solidFill>
              <a:srgbClr val="0078D7"/>
            </a:solidFill>
            <a:ln w="3633" cap="flat">
              <a:noFill/>
              <a:prstDash val="solid"/>
              <a:miter/>
            </a:ln>
          </p:spPr>
          <p:txBody>
            <a:bodyPr rtlCol="0" anchor="ctr"/>
            <a:lstStyle/>
            <a:p>
              <a:pPr defTabSz="1828734">
                <a:defRPr/>
              </a:pPr>
              <a:endParaRPr lang="en-US" sz="5184">
                <a:solidFill>
                  <a:srgbClr val="000000"/>
                </a:solidFill>
                <a:latin typeface="Segoe UI"/>
              </a:endParaRPr>
            </a:p>
          </p:txBody>
        </p:sp>
      </p:grpSp>
      <p:grpSp>
        <p:nvGrpSpPr>
          <p:cNvPr id="429" name="laptop">
            <a:extLst>
              <a:ext uri="{FF2B5EF4-FFF2-40B4-BE49-F238E27FC236}">
                <a16:creationId xmlns:a16="http://schemas.microsoft.com/office/drawing/2014/main" id="{DA654BB6-F203-D2B0-EC49-6A5821C6C00A}"/>
              </a:ext>
              <a:ext uri="{C183D7F6-B498-43B3-948B-1728B52AA6E4}">
                <adec:decorative xmlns:adec="http://schemas.microsoft.com/office/drawing/2017/decorative" val="1"/>
              </a:ext>
            </a:extLst>
          </p:cNvPr>
          <p:cNvGrpSpPr/>
          <p:nvPr/>
        </p:nvGrpSpPr>
        <p:grpSpPr>
          <a:xfrm>
            <a:off x="19731361" y="4239234"/>
            <a:ext cx="1314682" cy="802060"/>
            <a:chOff x="615531" y="1287780"/>
            <a:chExt cx="547784" cy="334192"/>
          </a:xfrm>
        </p:grpSpPr>
        <p:sp>
          <p:nvSpPr>
            <p:cNvPr id="430" name="Rectangle 5">
              <a:extLst>
                <a:ext uri="{FF2B5EF4-FFF2-40B4-BE49-F238E27FC236}">
                  <a16:creationId xmlns:a16="http://schemas.microsoft.com/office/drawing/2014/main" id="{94271EB9-F2EE-2210-F870-3E32C526D3E6}"/>
                </a:ext>
              </a:extLst>
            </p:cNvPr>
            <p:cNvSpPr>
              <a:spLocks noChangeArrowheads="1"/>
            </p:cNvSpPr>
            <p:nvPr/>
          </p:nvSpPr>
          <p:spPr bwMode="auto">
            <a:xfrm>
              <a:off x="669292" y="1303763"/>
              <a:ext cx="441714" cy="283337"/>
            </a:xfrm>
            <a:prstGeom prst="rect">
              <a:avLst/>
            </a:prstGeom>
            <a:solidFill>
              <a:srgbClr val="0078D4"/>
            </a:solidFill>
            <a:ln w="9525">
              <a:noFill/>
              <a:miter lim="800000"/>
              <a:headEnd/>
              <a:tailEnd/>
            </a:ln>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1" name="Rectangle 6">
              <a:extLst>
                <a:ext uri="{FF2B5EF4-FFF2-40B4-BE49-F238E27FC236}">
                  <a16:creationId xmlns:a16="http://schemas.microsoft.com/office/drawing/2014/main" id="{1C1A89B8-9A5E-A1AF-0AE6-1008A8D11CB3}"/>
                </a:ext>
              </a:extLst>
            </p:cNvPr>
            <p:cNvSpPr>
              <a:spLocks noChangeArrowheads="1"/>
            </p:cNvSpPr>
            <p:nvPr/>
          </p:nvSpPr>
          <p:spPr bwMode="auto">
            <a:xfrm>
              <a:off x="974424" y="1370601"/>
              <a:ext cx="91540" cy="10171"/>
            </a:xfrm>
            <a:prstGeom prst="rect">
              <a:avLst/>
            </a:prstGeom>
            <a:solidFill>
              <a:srgbClr val="4FE4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2" name="Rectangle 7">
              <a:extLst>
                <a:ext uri="{FF2B5EF4-FFF2-40B4-BE49-F238E27FC236}">
                  <a16:creationId xmlns:a16="http://schemas.microsoft.com/office/drawing/2014/main" id="{753B872D-D21C-FDFF-8435-1A09E4371387}"/>
                </a:ext>
              </a:extLst>
            </p:cNvPr>
            <p:cNvSpPr>
              <a:spLocks noChangeArrowheads="1"/>
            </p:cNvSpPr>
            <p:nvPr/>
          </p:nvSpPr>
          <p:spPr bwMode="auto">
            <a:xfrm>
              <a:off x="974424" y="1438893"/>
              <a:ext cx="91540" cy="10171"/>
            </a:xfrm>
            <a:prstGeom prst="rect">
              <a:avLst/>
            </a:prstGeom>
            <a:solidFill>
              <a:srgbClr val="4FE4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3" name="Rectangle 8">
              <a:extLst>
                <a:ext uri="{FF2B5EF4-FFF2-40B4-BE49-F238E27FC236}">
                  <a16:creationId xmlns:a16="http://schemas.microsoft.com/office/drawing/2014/main" id="{341EE844-DC61-05DE-9094-1A9688A57E5E}"/>
                </a:ext>
              </a:extLst>
            </p:cNvPr>
            <p:cNvSpPr>
              <a:spLocks noChangeArrowheads="1"/>
            </p:cNvSpPr>
            <p:nvPr/>
          </p:nvSpPr>
          <p:spPr bwMode="auto">
            <a:xfrm>
              <a:off x="974424" y="1510090"/>
              <a:ext cx="91540" cy="10171"/>
            </a:xfrm>
            <a:prstGeom prst="rect">
              <a:avLst/>
            </a:prstGeom>
            <a:solidFill>
              <a:srgbClr val="4FE4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4" name="Freeform 9">
              <a:extLst>
                <a:ext uri="{FF2B5EF4-FFF2-40B4-BE49-F238E27FC236}">
                  <a16:creationId xmlns:a16="http://schemas.microsoft.com/office/drawing/2014/main" id="{324F49D7-A5CC-349F-0D84-081536F1ABFD}"/>
                </a:ext>
              </a:extLst>
            </p:cNvPr>
            <p:cNvSpPr>
              <a:spLocks/>
            </p:cNvSpPr>
            <p:nvPr/>
          </p:nvSpPr>
          <p:spPr bwMode="auto">
            <a:xfrm>
              <a:off x="887243" y="1357524"/>
              <a:ext cx="59573" cy="46496"/>
            </a:xfrm>
            <a:custGeom>
              <a:avLst/>
              <a:gdLst>
                <a:gd name="T0" fmla="*/ 13 w 41"/>
                <a:gd name="T1" fmla="*/ 32 h 32"/>
                <a:gd name="T2" fmla="*/ 0 w 41"/>
                <a:gd name="T3" fmla="*/ 19 h 32"/>
                <a:gd name="T4" fmla="*/ 4 w 41"/>
                <a:gd name="T5" fmla="*/ 14 h 32"/>
                <a:gd name="T6" fmla="*/ 13 w 41"/>
                <a:gd name="T7" fmla="*/ 23 h 32"/>
                <a:gd name="T8" fmla="*/ 36 w 41"/>
                <a:gd name="T9" fmla="*/ 0 h 32"/>
                <a:gd name="T10" fmla="*/ 41 w 41"/>
                <a:gd name="T11" fmla="*/ 4 h 32"/>
                <a:gd name="T12" fmla="*/ 13 w 41"/>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13" y="32"/>
                  </a:moveTo>
                  <a:lnTo>
                    <a:pt x="0" y="19"/>
                  </a:lnTo>
                  <a:lnTo>
                    <a:pt x="4" y="14"/>
                  </a:lnTo>
                  <a:lnTo>
                    <a:pt x="13" y="23"/>
                  </a:lnTo>
                  <a:lnTo>
                    <a:pt x="36" y="0"/>
                  </a:lnTo>
                  <a:lnTo>
                    <a:pt x="41" y="4"/>
                  </a:lnTo>
                  <a:lnTo>
                    <a:pt x="13"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5" name="Freeform 10">
              <a:extLst>
                <a:ext uri="{FF2B5EF4-FFF2-40B4-BE49-F238E27FC236}">
                  <a16:creationId xmlns:a16="http://schemas.microsoft.com/office/drawing/2014/main" id="{B897C367-F948-393F-80B1-2D4B8342F05A}"/>
                </a:ext>
              </a:extLst>
            </p:cNvPr>
            <p:cNvSpPr>
              <a:spLocks/>
            </p:cNvSpPr>
            <p:nvPr/>
          </p:nvSpPr>
          <p:spPr bwMode="auto">
            <a:xfrm>
              <a:off x="887243" y="1422910"/>
              <a:ext cx="59573" cy="46496"/>
            </a:xfrm>
            <a:custGeom>
              <a:avLst/>
              <a:gdLst>
                <a:gd name="T0" fmla="*/ 13 w 41"/>
                <a:gd name="T1" fmla="*/ 32 h 32"/>
                <a:gd name="T2" fmla="*/ 0 w 41"/>
                <a:gd name="T3" fmla="*/ 18 h 32"/>
                <a:gd name="T4" fmla="*/ 4 w 41"/>
                <a:gd name="T5" fmla="*/ 14 h 32"/>
                <a:gd name="T6" fmla="*/ 13 w 41"/>
                <a:gd name="T7" fmla="*/ 23 h 32"/>
                <a:gd name="T8" fmla="*/ 36 w 41"/>
                <a:gd name="T9" fmla="*/ 0 h 32"/>
                <a:gd name="T10" fmla="*/ 41 w 41"/>
                <a:gd name="T11" fmla="*/ 4 h 32"/>
                <a:gd name="T12" fmla="*/ 13 w 41"/>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13" y="32"/>
                  </a:moveTo>
                  <a:lnTo>
                    <a:pt x="0" y="18"/>
                  </a:lnTo>
                  <a:lnTo>
                    <a:pt x="4" y="14"/>
                  </a:lnTo>
                  <a:lnTo>
                    <a:pt x="13" y="23"/>
                  </a:lnTo>
                  <a:lnTo>
                    <a:pt x="36" y="0"/>
                  </a:lnTo>
                  <a:lnTo>
                    <a:pt x="41" y="4"/>
                  </a:lnTo>
                  <a:lnTo>
                    <a:pt x="13"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6" name="Freeform 11">
              <a:extLst>
                <a:ext uri="{FF2B5EF4-FFF2-40B4-BE49-F238E27FC236}">
                  <a16:creationId xmlns:a16="http://schemas.microsoft.com/office/drawing/2014/main" id="{A1EE8B2C-0ED0-CDC5-0E74-11B363B89C9F}"/>
                </a:ext>
              </a:extLst>
            </p:cNvPr>
            <p:cNvSpPr>
              <a:spLocks/>
            </p:cNvSpPr>
            <p:nvPr/>
          </p:nvSpPr>
          <p:spPr bwMode="auto">
            <a:xfrm>
              <a:off x="887243" y="1488295"/>
              <a:ext cx="59573" cy="45043"/>
            </a:xfrm>
            <a:custGeom>
              <a:avLst/>
              <a:gdLst>
                <a:gd name="T0" fmla="*/ 13 w 41"/>
                <a:gd name="T1" fmla="*/ 31 h 31"/>
                <a:gd name="T2" fmla="*/ 0 w 41"/>
                <a:gd name="T3" fmla="*/ 18 h 31"/>
                <a:gd name="T4" fmla="*/ 4 w 41"/>
                <a:gd name="T5" fmla="*/ 14 h 31"/>
                <a:gd name="T6" fmla="*/ 13 w 41"/>
                <a:gd name="T7" fmla="*/ 23 h 31"/>
                <a:gd name="T8" fmla="*/ 36 w 41"/>
                <a:gd name="T9" fmla="*/ 0 h 31"/>
                <a:gd name="T10" fmla="*/ 41 w 41"/>
                <a:gd name="T11" fmla="*/ 4 h 31"/>
                <a:gd name="T12" fmla="*/ 13 w 41"/>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41" h="31">
                  <a:moveTo>
                    <a:pt x="13" y="31"/>
                  </a:moveTo>
                  <a:lnTo>
                    <a:pt x="0" y="18"/>
                  </a:lnTo>
                  <a:lnTo>
                    <a:pt x="4" y="14"/>
                  </a:lnTo>
                  <a:lnTo>
                    <a:pt x="13" y="23"/>
                  </a:lnTo>
                  <a:lnTo>
                    <a:pt x="36" y="0"/>
                  </a:lnTo>
                  <a:lnTo>
                    <a:pt x="41" y="4"/>
                  </a:lnTo>
                  <a:lnTo>
                    <a:pt x="13" y="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7" name="Freeform 12">
              <a:extLst>
                <a:ext uri="{FF2B5EF4-FFF2-40B4-BE49-F238E27FC236}">
                  <a16:creationId xmlns:a16="http://schemas.microsoft.com/office/drawing/2014/main" id="{327FD6A6-801C-0713-D69E-6FC59AFE0DC2}"/>
                </a:ext>
              </a:extLst>
            </p:cNvPr>
            <p:cNvSpPr>
              <a:spLocks noEditPoints="1"/>
            </p:cNvSpPr>
            <p:nvPr/>
          </p:nvSpPr>
          <p:spPr bwMode="auto">
            <a:xfrm>
              <a:off x="657668" y="1287780"/>
              <a:ext cx="466416" cy="316756"/>
            </a:xfrm>
            <a:custGeom>
              <a:avLst/>
              <a:gdLst>
                <a:gd name="T0" fmla="*/ 521 w 542"/>
                <a:gd name="T1" fmla="*/ 0 h 368"/>
                <a:gd name="T2" fmla="*/ 21 w 542"/>
                <a:gd name="T3" fmla="*/ 0 h 368"/>
                <a:gd name="T4" fmla="*/ 0 w 542"/>
                <a:gd name="T5" fmla="*/ 21 h 368"/>
                <a:gd name="T6" fmla="*/ 0 w 542"/>
                <a:gd name="T7" fmla="*/ 368 h 368"/>
                <a:gd name="T8" fmla="*/ 542 w 542"/>
                <a:gd name="T9" fmla="*/ 368 h 368"/>
                <a:gd name="T10" fmla="*/ 542 w 542"/>
                <a:gd name="T11" fmla="*/ 21 h 368"/>
                <a:gd name="T12" fmla="*/ 521 w 542"/>
                <a:gd name="T13" fmla="*/ 0 h 368"/>
                <a:gd name="T14" fmla="*/ 521 w 542"/>
                <a:gd name="T15" fmla="*/ 339 h 368"/>
                <a:gd name="T16" fmla="*/ 21 w 542"/>
                <a:gd name="T17" fmla="*/ 339 h 368"/>
                <a:gd name="T18" fmla="*/ 21 w 542"/>
                <a:gd name="T19" fmla="*/ 27 h 368"/>
                <a:gd name="T20" fmla="*/ 520 w 542"/>
                <a:gd name="T21" fmla="*/ 27 h 368"/>
                <a:gd name="T22" fmla="*/ 520 w 542"/>
                <a:gd name="T23" fmla="*/ 339 h 368"/>
                <a:gd name="T24" fmla="*/ 521 w 542"/>
                <a:gd name="T25" fmla="*/ 339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2" h="368">
                  <a:moveTo>
                    <a:pt x="521" y="0"/>
                  </a:moveTo>
                  <a:cubicBezTo>
                    <a:pt x="21" y="0"/>
                    <a:pt x="21" y="0"/>
                    <a:pt x="21" y="0"/>
                  </a:cubicBezTo>
                  <a:cubicBezTo>
                    <a:pt x="10" y="0"/>
                    <a:pt x="0" y="10"/>
                    <a:pt x="0" y="21"/>
                  </a:cubicBezTo>
                  <a:cubicBezTo>
                    <a:pt x="0" y="368"/>
                    <a:pt x="0" y="368"/>
                    <a:pt x="0" y="368"/>
                  </a:cubicBezTo>
                  <a:cubicBezTo>
                    <a:pt x="542" y="368"/>
                    <a:pt x="542" y="368"/>
                    <a:pt x="542" y="368"/>
                  </a:cubicBezTo>
                  <a:cubicBezTo>
                    <a:pt x="542" y="21"/>
                    <a:pt x="542" y="21"/>
                    <a:pt x="542" y="21"/>
                  </a:cubicBezTo>
                  <a:cubicBezTo>
                    <a:pt x="542" y="10"/>
                    <a:pt x="533" y="0"/>
                    <a:pt x="521" y="0"/>
                  </a:cubicBezTo>
                  <a:close/>
                  <a:moveTo>
                    <a:pt x="521" y="339"/>
                  </a:moveTo>
                  <a:cubicBezTo>
                    <a:pt x="21" y="339"/>
                    <a:pt x="21" y="339"/>
                    <a:pt x="21" y="339"/>
                  </a:cubicBezTo>
                  <a:cubicBezTo>
                    <a:pt x="21" y="27"/>
                    <a:pt x="21" y="27"/>
                    <a:pt x="21" y="27"/>
                  </a:cubicBezTo>
                  <a:cubicBezTo>
                    <a:pt x="520" y="27"/>
                    <a:pt x="520" y="27"/>
                    <a:pt x="520" y="27"/>
                  </a:cubicBezTo>
                  <a:cubicBezTo>
                    <a:pt x="520" y="339"/>
                    <a:pt x="520" y="339"/>
                    <a:pt x="520" y="339"/>
                  </a:cubicBezTo>
                  <a:lnTo>
                    <a:pt x="521" y="339"/>
                  </a:lnTo>
                  <a:close/>
                </a:path>
              </a:pathLst>
            </a:custGeom>
            <a:solidFill>
              <a:srgbClr val="4FE4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8" name="Freeform 15">
              <a:extLst>
                <a:ext uri="{FF2B5EF4-FFF2-40B4-BE49-F238E27FC236}">
                  <a16:creationId xmlns:a16="http://schemas.microsoft.com/office/drawing/2014/main" id="{20164641-5DC6-BD65-2E79-BB4966D12BE8}"/>
                </a:ext>
              </a:extLst>
            </p:cNvPr>
            <p:cNvSpPr>
              <a:spLocks/>
            </p:cNvSpPr>
            <p:nvPr/>
          </p:nvSpPr>
          <p:spPr bwMode="auto">
            <a:xfrm>
              <a:off x="615531" y="1610348"/>
              <a:ext cx="547784" cy="11624"/>
            </a:xfrm>
            <a:custGeom>
              <a:avLst/>
              <a:gdLst>
                <a:gd name="T0" fmla="*/ 633 w 637"/>
                <a:gd name="T1" fmla="*/ 0 h 13"/>
                <a:gd name="T2" fmla="*/ 593 w 637"/>
                <a:gd name="T3" fmla="*/ 0 h 13"/>
                <a:gd name="T4" fmla="*/ 593 w 637"/>
                <a:gd name="T5" fmla="*/ 4 h 13"/>
                <a:gd name="T6" fmla="*/ 589 w 637"/>
                <a:gd name="T7" fmla="*/ 4 h 13"/>
                <a:gd name="T8" fmla="*/ 47 w 637"/>
                <a:gd name="T9" fmla="*/ 4 h 13"/>
                <a:gd name="T10" fmla="*/ 43 w 637"/>
                <a:gd name="T11" fmla="*/ 4 h 13"/>
                <a:gd name="T12" fmla="*/ 43 w 637"/>
                <a:gd name="T13" fmla="*/ 0 h 13"/>
                <a:gd name="T14" fmla="*/ 4 w 637"/>
                <a:gd name="T15" fmla="*/ 0 h 13"/>
                <a:gd name="T16" fmla="*/ 2 w 637"/>
                <a:gd name="T17" fmla="*/ 6 h 13"/>
                <a:gd name="T18" fmla="*/ 9 w 637"/>
                <a:gd name="T19" fmla="*/ 10 h 13"/>
                <a:gd name="T20" fmla="*/ 19 w 637"/>
                <a:gd name="T21" fmla="*/ 13 h 13"/>
                <a:gd name="T22" fmla="*/ 617 w 637"/>
                <a:gd name="T23" fmla="*/ 13 h 13"/>
                <a:gd name="T24" fmla="*/ 627 w 637"/>
                <a:gd name="T25" fmla="*/ 10 h 13"/>
                <a:gd name="T26" fmla="*/ 634 w 637"/>
                <a:gd name="T27" fmla="*/ 6 h 13"/>
                <a:gd name="T28" fmla="*/ 633 w 637"/>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7" h="13">
                  <a:moveTo>
                    <a:pt x="633" y="0"/>
                  </a:moveTo>
                  <a:cubicBezTo>
                    <a:pt x="593" y="0"/>
                    <a:pt x="593" y="0"/>
                    <a:pt x="593" y="0"/>
                  </a:cubicBezTo>
                  <a:cubicBezTo>
                    <a:pt x="593" y="4"/>
                    <a:pt x="593" y="4"/>
                    <a:pt x="593" y="4"/>
                  </a:cubicBezTo>
                  <a:cubicBezTo>
                    <a:pt x="589" y="4"/>
                    <a:pt x="589" y="4"/>
                    <a:pt x="589" y="4"/>
                  </a:cubicBezTo>
                  <a:cubicBezTo>
                    <a:pt x="47" y="4"/>
                    <a:pt x="47" y="4"/>
                    <a:pt x="47" y="4"/>
                  </a:cubicBezTo>
                  <a:cubicBezTo>
                    <a:pt x="43" y="4"/>
                    <a:pt x="43" y="4"/>
                    <a:pt x="43" y="4"/>
                  </a:cubicBezTo>
                  <a:cubicBezTo>
                    <a:pt x="43" y="0"/>
                    <a:pt x="43" y="0"/>
                    <a:pt x="43" y="0"/>
                  </a:cubicBezTo>
                  <a:cubicBezTo>
                    <a:pt x="4" y="0"/>
                    <a:pt x="4" y="0"/>
                    <a:pt x="4" y="0"/>
                  </a:cubicBezTo>
                  <a:cubicBezTo>
                    <a:pt x="1" y="0"/>
                    <a:pt x="0" y="4"/>
                    <a:pt x="2" y="6"/>
                  </a:cubicBezTo>
                  <a:cubicBezTo>
                    <a:pt x="9" y="10"/>
                    <a:pt x="9" y="10"/>
                    <a:pt x="9" y="10"/>
                  </a:cubicBezTo>
                  <a:cubicBezTo>
                    <a:pt x="12" y="12"/>
                    <a:pt x="15" y="13"/>
                    <a:pt x="19" y="13"/>
                  </a:cubicBezTo>
                  <a:cubicBezTo>
                    <a:pt x="617" y="13"/>
                    <a:pt x="617" y="13"/>
                    <a:pt x="617" y="13"/>
                  </a:cubicBezTo>
                  <a:cubicBezTo>
                    <a:pt x="621" y="13"/>
                    <a:pt x="624" y="12"/>
                    <a:pt x="627" y="10"/>
                  </a:cubicBezTo>
                  <a:cubicBezTo>
                    <a:pt x="634" y="6"/>
                    <a:pt x="634" y="6"/>
                    <a:pt x="634" y="6"/>
                  </a:cubicBezTo>
                  <a:cubicBezTo>
                    <a:pt x="637" y="4"/>
                    <a:pt x="635" y="0"/>
                    <a:pt x="633" y="0"/>
                  </a:cubicBezTo>
                  <a:close/>
                </a:path>
              </a:pathLst>
            </a:custGeom>
            <a:solidFill>
              <a:srgbClr val="4FE4FF"/>
            </a:solidFill>
            <a:ln w="9525">
              <a:solidFill>
                <a:srgbClr val="4FE4FF"/>
              </a:solidFill>
              <a:round/>
              <a:headEnd/>
              <a:tailEnd/>
            </a:ln>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39" name="Rectangle 18">
              <a:extLst>
                <a:ext uri="{FF2B5EF4-FFF2-40B4-BE49-F238E27FC236}">
                  <a16:creationId xmlns:a16="http://schemas.microsoft.com/office/drawing/2014/main" id="{1A750D5F-DC75-A5F7-7B85-8739158C60A5}"/>
                </a:ext>
              </a:extLst>
            </p:cNvPr>
            <p:cNvSpPr>
              <a:spLocks noChangeArrowheads="1"/>
            </p:cNvSpPr>
            <p:nvPr/>
          </p:nvSpPr>
          <p:spPr bwMode="auto">
            <a:xfrm>
              <a:off x="705617" y="1486842"/>
              <a:ext cx="21795" cy="5230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0" name="Rectangle 19">
              <a:extLst>
                <a:ext uri="{FF2B5EF4-FFF2-40B4-BE49-F238E27FC236}">
                  <a16:creationId xmlns:a16="http://schemas.microsoft.com/office/drawing/2014/main" id="{06D32206-9D94-3178-2864-AD36256D38D5}"/>
                </a:ext>
              </a:extLst>
            </p:cNvPr>
            <p:cNvSpPr>
              <a:spLocks noChangeArrowheads="1"/>
            </p:cNvSpPr>
            <p:nvPr/>
          </p:nvSpPr>
          <p:spPr bwMode="auto">
            <a:xfrm>
              <a:off x="705617" y="1504278"/>
              <a:ext cx="21795" cy="34872"/>
            </a:xfrm>
            <a:prstGeom prst="rect">
              <a:avLst/>
            </a:prstGeom>
            <a:solidFill>
              <a:srgbClr val="50E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1" name="Rectangle 20">
              <a:extLst>
                <a:ext uri="{FF2B5EF4-FFF2-40B4-BE49-F238E27FC236}">
                  <a16:creationId xmlns:a16="http://schemas.microsoft.com/office/drawing/2014/main" id="{89A147DD-83AD-1BFD-1631-219F13C84C64}"/>
                </a:ext>
              </a:extLst>
            </p:cNvPr>
            <p:cNvSpPr>
              <a:spLocks noChangeArrowheads="1"/>
            </p:cNvSpPr>
            <p:nvPr/>
          </p:nvSpPr>
          <p:spPr bwMode="auto">
            <a:xfrm>
              <a:off x="736131" y="1462141"/>
              <a:ext cx="20342" cy="7700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2" name="Rectangle 21">
              <a:extLst>
                <a:ext uri="{FF2B5EF4-FFF2-40B4-BE49-F238E27FC236}">
                  <a16:creationId xmlns:a16="http://schemas.microsoft.com/office/drawing/2014/main" id="{A02DEDAF-FB94-C977-F293-5E8072179DED}"/>
                </a:ext>
              </a:extLst>
            </p:cNvPr>
            <p:cNvSpPr>
              <a:spLocks noChangeArrowheads="1"/>
            </p:cNvSpPr>
            <p:nvPr/>
          </p:nvSpPr>
          <p:spPr bwMode="auto">
            <a:xfrm>
              <a:off x="736131" y="1491201"/>
              <a:ext cx="20342" cy="47949"/>
            </a:xfrm>
            <a:prstGeom prst="rect">
              <a:avLst/>
            </a:prstGeom>
            <a:solidFill>
              <a:srgbClr val="50E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3" name="Rectangle 22">
              <a:extLst>
                <a:ext uri="{FF2B5EF4-FFF2-40B4-BE49-F238E27FC236}">
                  <a16:creationId xmlns:a16="http://schemas.microsoft.com/office/drawing/2014/main" id="{4AFB0C9E-6716-9699-E131-FF4525216D11}"/>
                </a:ext>
              </a:extLst>
            </p:cNvPr>
            <p:cNvSpPr>
              <a:spLocks noChangeArrowheads="1"/>
            </p:cNvSpPr>
            <p:nvPr/>
          </p:nvSpPr>
          <p:spPr bwMode="auto">
            <a:xfrm>
              <a:off x="826217" y="1374961"/>
              <a:ext cx="20342" cy="1641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4" name="Rectangle 23">
              <a:extLst>
                <a:ext uri="{FF2B5EF4-FFF2-40B4-BE49-F238E27FC236}">
                  <a16:creationId xmlns:a16="http://schemas.microsoft.com/office/drawing/2014/main" id="{C34FC820-13DE-AE1F-B3D5-F1AEB3BDF34F}"/>
                </a:ext>
              </a:extLst>
            </p:cNvPr>
            <p:cNvSpPr>
              <a:spLocks noChangeArrowheads="1"/>
            </p:cNvSpPr>
            <p:nvPr/>
          </p:nvSpPr>
          <p:spPr bwMode="auto">
            <a:xfrm>
              <a:off x="826217" y="1402568"/>
              <a:ext cx="20342" cy="136583"/>
            </a:xfrm>
            <a:prstGeom prst="rect">
              <a:avLst/>
            </a:prstGeom>
            <a:solidFill>
              <a:srgbClr val="50E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5" name="Rectangle 24">
              <a:extLst>
                <a:ext uri="{FF2B5EF4-FFF2-40B4-BE49-F238E27FC236}">
                  <a16:creationId xmlns:a16="http://schemas.microsoft.com/office/drawing/2014/main" id="{880E0D76-3DE5-99B8-04E8-75D306ADEE21}"/>
                </a:ext>
              </a:extLst>
            </p:cNvPr>
            <p:cNvSpPr>
              <a:spLocks noChangeArrowheads="1"/>
            </p:cNvSpPr>
            <p:nvPr/>
          </p:nvSpPr>
          <p:spPr bwMode="auto">
            <a:xfrm>
              <a:off x="795704" y="1414192"/>
              <a:ext cx="21795" cy="12495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6" name="Rectangle 25">
              <a:extLst>
                <a:ext uri="{FF2B5EF4-FFF2-40B4-BE49-F238E27FC236}">
                  <a16:creationId xmlns:a16="http://schemas.microsoft.com/office/drawing/2014/main" id="{4F00A0E9-EF7B-E87B-11D3-03C4CEF3140F}"/>
                </a:ext>
              </a:extLst>
            </p:cNvPr>
            <p:cNvSpPr>
              <a:spLocks noChangeArrowheads="1"/>
            </p:cNvSpPr>
            <p:nvPr/>
          </p:nvSpPr>
          <p:spPr bwMode="auto">
            <a:xfrm>
              <a:off x="765191" y="1454876"/>
              <a:ext cx="21795" cy="84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7" name="Rectangle 26">
              <a:extLst>
                <a:ext uri="{FF2B5EF4-FFF2-40B4-BE49-F238E27FC236}">
                  <a16:creationId xmlns:a16="http://schemas.microsoft.com/office/drawing/2014/main" id="{21A155AD-9293-DA25-A6FF-9C197EBBC2ED}"/>
                </a:ext>
              </a:extLst>
            </p:cNvPr>
            <p:cNvSpPr>
              <a:spLocks noChangeArrowheads="1"/>
            </p:cNvSpPr>
            <p:nvPr/>
          </p:nvSpPr>
          <p:spPr bwMode="auto">
            <a:xfrm>
              <a:off x="765191" y="1472312"/>
              <a:ext cx="21795" cy="66838"/>
            </a:xfrm>
            <a:prstGeom prst="rect">
              <a:avLst/>
            </a:prstGeom>
            <a:solidFill>
              <a:srgbClr val="50E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sp>
          <p:nvSpPr>
            <p:cNvPr id="448" name="Rectangle 27">
              <a:extLst>
                <a:ext uri="{FF2B5EF4-FFF2-40B4-BE49-F238E27FC236}">
                  <a16:creationId xmlns:a16="http://schemas.microsoft.com/office/drawing/2014/main" id="{D29E926D-2C29-1B6E-97A7-56FCEC1B98A1}"/>
                </a:ext>
              </a:extLst>
            </p:cNvPr>
            <p:cNvSpPr>
              <a:spLocks noChangeArrowheads="1"/>
            </p:cNvSpPr>
            <p:nvPr/>
          </p:nvSpPr>
          <p:spPr bwMode="auto">
            <a:xfrm>
              <a:off x="795704" y="1428722"/>
              <a:ext cx="21795" cy="110429"/>
            </a:xfrm>
            <a:prstGeom prst="rect">
              <a:avLst/>
            </a:prstGeom>
            <a:solidFill>
              <a:srgbClr val="50E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215140" tIns="107570" rIns="215140" bIns="107570" numCol="1" anchor="t" anchorCtr="0" compatLnSpc="1">
              <a:prstTxWarp prst="textNoShape">
                <a:avLst/>
              </a:prstTxWarp>
            </a:bodyPr>
            <a:lstStyle/>
            <a:p>
              <a:pPr algn="ctr" defTabSz="2151326" fontAlgn="base">
                <a:defRPr/>
              </a:pPr>
              <a:endParaRPr lang="en-US" sz="4000">
                <a:solidFill>
                  <a:srgbClr val="505050"/>
                </a:solidFill>
                <a:latin typeface="Segoe UI"/>
              </a:endParaRPr>
            </a:p>
          </p:txBody>
        </p:sp>
      </p:grpSp>
      <p:grpSp>
        <p:nvGrpSpPr>
          <p:cNvPr id="449" name="list">
            <a:extLst>
              <a:ext uri="{FF2B5EF4-FFF2-40B4-BE49-F238E27FC236}">
                <a16:creationId xmlns:a16="http://schemas.microsoft.com/office/drawing/2014/main" id="{7B4323D4-D4F8-4604-899D-BEF89F67429F}"/>
              </a:ext>
              <a:ext uri="{C183D7F6-B498-43B3-948B-1728B52AA6E4}">
                <adec:decorative xmlns:adec="http://schemas.microsoft.com/office/drawing/2017/decorative" val="1"/>
              </a:ext>
            </a:extLst>
          </p:cNvPr>
          <p:cNvGrpSpPr/>
          <p:nvPr/>
        </p:nvGrpSpPr>
        <p:grpSpPr>
          <a:xfrm>
            <a:off x="14082782" y="6528018"/>
            <a:ext cx="888336" cy="888336"/>
            <a:chOff x="4473209" y="3968750"/>
            <a:chExt cx="370140" cy="370140"/>
          </a:xfrm>
        </p:grpSpPr>
        <p:sp>
          <p:nvSpPr>
            <p:cNvPr id="450" name="Freeform: Shape 449">
              <a:extLst>
                <a:ext uri="{FF2B5EF4-FFF2-40B4-BE49-F238E27FC236}">
                  <a16:creationId xmlns:a16="http://schemas.microsoft.com/office/drawing/2014/main" id="{2C697D67-4A51-5867-4566-3A161C876043}"/>
                </a:ext>
              </a:extLst>
            </p:cNvPr>
            <p:cNvSpPr/>
            <p:nvPr/>
          </p:nvSpPr>
          <p:spPr>
            <a:xfrm>
              <a:off x="4510839" y="3969537"/>
              <a:ext cx="290007" cy="366324"/>
            </a:xfrm>
            <a:custGeom>
              <a:avLst/>
              <a:gdLst>
                <a:gd name="connsiteX0" fmla="*/ 1121 w 290006"/>
                <a:gd name="connsiteY0" fmla="*/ 367064 h 366324"/>
                <a:gd name="connsiteX1" fmla="*/ 290746 w 290006"/>
                <a:gd name="connsiteY1" fmla="*/ 367064 h 366324"/>
                <a:gd name="connsiteX2" fmla="*/ 290746 w 290006"/>
                <a:gd name="connsiteY2" fmla="*/ 1121 h 366324"/>
                <a:gd name="connsiteX3" fmla="*/ 1121 w 290006"/>
                <a:gd name="connsiteY3" fmla="*/ 1121 h 366324"/>
                <a:gd name="connsiteX4" fmla="*/ 1121 w 290006"/>
                <a:gd name="connsiteY4" fmla="*/ 367064 h 36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006" h="366324">
                  <a:moveTo>
                    <a:pt x="1121" y="367064"/>
                  </a:moveTo>
                  <a:lnTo>
                    <a:pt x="290746" y="367064"/>
                  </a:lnTo>
                  <a:lnTo>
                    <a:pt x="290746" y="1121"/>
                  </a:lnTo>
                  <a:lnTo>
                    <a:pt x="1121" y="1121"/>
                  </a:lnTo>
                  <a:lnTo>
                    <a:pt x="1121" y="367064"/>
                  </a:lnTo>
                  <a:close/>
                </a:path>
              </a:pathLst>
            </a:custGeom>
            <a:solidFill>
              <a:srgbClr val="0078D4"/>
            </a:solidFill>
            <a:ln w="3731" cap="flat">
              <a:noFill/>
              <a:prstDash val="solid"/>
              <a:miter/>
            </a:ln>
          </p:spPr>
          <p:txBody>
            <a:bodyPr rtlCol="0" anchor="ctr"/>
            <a:lstStyle/>
            <a:p>
              <a:pPr defTabSz="1828734">
                <a:defRPr/>
              </a:pPr>
              <a:endParaRPr lang="en-US" sz="5184">
                <a:solidFill>
                  <a:srgbClr val="000000"/>
                </a:solidFill>
                <a:latin typeface="Segoe UI"/>
              </a:endParaRPr>
            </a:p>
          </p:txBody>
        </p:sp>
        <p:sp>
          <p:nvSpPr>
            <p:cNvPr id="451" name="Freeform: Shape 450">
              <a:extLst>
                <a:ext uri="{FF2B5EF4-FFF2-40B4-BE49-F238E27FC236}">
                  <a16:creationId xmlns:a16="http://schemas.microsoft.com/office/drawing/2014/main" id="{8867DDCC-92F0-E1E5-3C5A-69C824210B8F}"/>
                </a:ext>
              </a:extLst>
            </p:cNvPr>
            <p:cNvSpPr/>
            <p:nvPr/>
          </p:nvSpPr>
          <p:spPr>
            <a:xfrm>
              <a:off x="4569221" y="4240076"/>
              <a:ext cx="175530" cy="38159"/>
            </a:xfrm>
            <a:custGeom>
              <a:avLst/>
              <a:gdLst>
                <a:gd name="connsiteX0" fmla="*/ 1121 w 175530"/>
                <a:gd name="connsiteY0" fmla="*/ 39280 h 38158"/>
                <a:gd name="connsiteX1" fmla="*/ 174744 w 175530"/>
                <a:gd name="connsiteY1" fmla="*/ 39280 h 38158"/>
                <a:gd name="connsiteX2" fmla="*/ 174744 w 175530"/>
                <a:gd name="connsiteY2" fmla="*/ 1121 h 38158"/>
                <a:gd name="connsiteX3" fmla="*/ 1121 w 175530"/>
                <a:gd name="connsiteY3" fmla="*/ 1121 h 38158"/>
                <a:gd name="connsiteX4" fmla="*/ 1121 w 175530"/>
                <a:gd name="connsiteY4" fmla="*/ 39280 h 38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0" h="38158">
                  <a:moveTo>
                    <a:pt x="1121" y="39280"/>
                  </a:moveTo>
                  <a:lnTo>
                    <a:pt x="174744" y="39280"/>
                  </a:lnTo>
                  <a:lnTo>
                    <a:pt x="174744" y="1121"/>
                  </a:lnTo>
                  <a:lnTo>
                    <a:pt x="1121" y="1121"/>
                  </a:lnTo>
                  <a:lnTo>
                    <a:pt x="1121" y="39280"/>
                  </a:lnTo>
                  <a:close/>
                </a:path>
              </a:pathLst>
            </a:custGeom>
            <a:solidFill>
              <a:srgbClr val="50E6FF"/>
            </a:solidFill>
            <a:ln w="3731" cap="flat">
              <a:noFill/>
              <a:prstDash val="solid"/>
              <a:miter/>
            </a:ln>
          </p:spPr>
          <p:txBody>
            <a:bodyPr rtlCol="0" anchor="ctr"/>
            <a:lstStyle/>
            <a:p>
              <a:pPr defTabSz="1828734">
                <a:defRPr/>
              </a:pPr>
              <a:endParaRPr lang="en-US" sz="5184">
                <a:solidFill>
                  <a:srgbClr val="000000"/>
                </a:solidFill>
                <a:latin typeface="Segoe UI"/>
              </a:endParaRPr>
            </a:p>
          </p:txBody>
        </p:sp>
        <p:sp>
          <p:nvSpPr>
            <p:cNvPr id="452" name="Freeform: Shape 451">
              <a:extLst>
                <a:ext uri="{FF2B5EF4-FFF2-40B4-BE49-F238E27FC236}">
                  <a16:creationId xmlns:a16="http://schemas.microsoft.com/office/drawing/2014/main" id="{CEC1B236-D904-E62B-7D9A-BB54AAA10C37}"/>
                </a:ext>
              </a:extLst>
            </p:cNvPr>
            <p:cNvSpPr/>
            <p:nvPr/>
          </p:nvSpPr>
          <p:spPr>
            <a:xfrm>
              <a:off x="4569221" y="4182078"/>
              <a:ext cx="175530" cy="38159"/>
            </a:xfrm>
            <a:custGeom>
              <a:avLst/>
              <a:gdLst>
                <a:gd name="connsiteX0" fmla="*/ 1121 w 175530"/>
                <a:gd name="connsiteY0" fmla="*/ 39662 h 38158"/>
                <a:gd name="connsiteX1" fmla="*/ 174744 w 175530"/>
                <a:gd name="connsiteY1" fmla="*/ 39662 h 38158"/>
                <a:gd name="connsiteX2" fmla="*/ 174744 w 175530"/>
                <a:gd name="connsiteY2" fmla="*/ 1121 h 38158"/>
                <a:gd name="connsiteX3" fmla="*/ 1121 w 175530"/>
                <a:gd name="connsiteY3" fmla="*/ 1121 h 38158"/>
                <a:gd name="connsiteX4" fmla="*/ 1121 w 175530"/>
                <a:gd name="connsiteY4" fmla="*/ 39662 h 38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0" h="38158">
                  <a:moveTo>
                    <a:pt x="1121" y="39662"/>
                  </a:moveTo>
                  <a:lnTo>
                    <a:pt x="174744" y="39662"/>
                  </a:lnTo>
                  <a:lnTo>
                    <a:pt x="174744" y="1121"/>
                  </a:lnTo>
                  <a:lnTo>
                    <a:pt x="1121" y="1121"/>
                  </a:lnTo>
                  <a:lnTo>
                    <a:pt x="1121" y="39662"/>
                  </a:lnTo>
                  <a:close/>
                </a:path>
              </a:pathLst>
            </a:custGeom>
            <a:solidFill>
              <a:srgbClr val="50E6FF"/>
            </a:solidFill>
            <a:ln w="3731" cap="flat">
              <a:noFill/>
              <a:prstDash val="solid"/>
              <a:miter/>
            </a:ln>
          </p:spPr>
          <p:txBody>
            <a:bodyPr rtlCol="0" anchor="ctr"/>
            <a:lstStyle/>
            <a:p>
              <a:pPr defTabSz="1828734">
                <a:defRPr/>
              </a:pPr>
              <a:endParaRPr lang="en-US" sz="5184">
                <a:solidFill>
                  <a:srgbClr val="000000"/>
                </a:solidFill>
                <a:latin typeface="Segoe UI"/>
              </a:endParaRPr>
            </a:p>
          </p:txBody>
        </p:sp>
        <p:sp>
          <p:nvSpPr>
            <p:cNvPr id="453" name="Freeform: Shape 452">
              <a:extLst>
                <a:ext uri="{FF2B5EF4-FFF2-40B4-BE49-F238E27FC236}">
                  <a16:creationId xmlns:a16="http://schemas.microsoft.com/office/drawing/2014/main" id="{0A564D3E-1512-A312-0308-E1CDF527FA4A}"/>
                </a:ext>
              </a:extLst>
            </p:cNvPr>
            <p:cNvSpPr/>
            <p:nvPr/>
          </p:nvSpPr>
          <p:spPr>
            <a:xfrm>
              <a:off x="4569221" y="4123692"/>
              <a:ext cx="175530" cy="38159"/>
            </a:xfrm>
            <a:custGeom>
              <a:avLst/>
              <a:gdLst>
                <a:gd name="connsiteX0" fmla="*/ 1121 w 175530"/>
                <a:gd name="connsiteY0" fmla="*/ 39662 h 38158"/>
                <a:gd name="connsiteX1" fmla="*/ 174744 w 175530"/>
                <a:gd name="connsiteY1" fmla="*/ 39662 h 38158"/>
                <a:gd name="connsiteX2" fmla="*/ 174744 w 175530"/>
                <a:gd name="connsiteY2" fmla="*/ 1121 h 38158"/>
                <a:gd name="connsiteX3" fmla="*/ 1121 w 175530"/>
                <a:gd name="connsiteY3" fmla="*/ 1121 h 38158"/>
                <a:gd name="connsiteX4" fmla="*/ 1121 w 175530"/>
                <a:gd name="connsiteY4" fmla="*/ 39662 h 38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0" h="38158">
                  <a:moveTo>
                    <a:pt x="1121" y="39662"/>
                  </a:moveTo>
                  <a:lnTo>
                    <a:pt x="174744" y="39662"/>
                  </a:lnTo>
                  <a:lnTo>
                    <a:pt x="174744" y="1121"/>
                  </a:lnTo>
                  <a:lnTo>
                    <a:pt x="1121" y="1121"/>
                  </a:lnTo>
                  <a:lnTo>
                    <a:pt x="1121" y="39662"/>
                  </a:lnTo>
                  <a:close/>
                </a:path>
              </a:pathLst>
            </a:custGeom>
            <a:solidFill>
              <a:srgbClr val="50E6FF"/>
            </a:solidFill>
            <a:ln w="3731" cap="flat">
              <a:noFill/>
              <a:prstDash val="solid"/>
              <a:miter/>
            </a:ln>
          </p:spPr>
          <p:txBody>
            <a:bodyPr rtlCol="0" anchor="ctr"/>
            <a:lstStyle/>
            <a:p>
              <a:pPr defTabSz="1828734">
                <a:defRPr/>
              </a:pPr>
              <a:endParaRPr lang="en-US" sz="5184">
                <a:solidFill>
                  <a:srgbClr val="000000"/>
                </a:solidFill>
                <a:latin typeface="Segoe UI"/>
              </a:endParaRPr>
            </a:p>
          </p:txBody>
        </p:sp>
        <p:sp>
          <p:nvSpPr>
            <p:cNvPr id="454" name="Freeform: Shape 453">
              <a:extLst>
                <a:ext uri="{FF2B5EF4-FFF2-40B4-BE49-F238E27FC236}">
                  <a16:creationId xmlns:a16="http://schemas.microsoft.com/office/drawing/2014/main" id="{35F75D3D-9EBD-1DA6-17A1-165ADF9FE0D8}"/>
                </a:ext>
              </a:extLst>
            </p:cNvPr>
            <p:cNvSpPr/>
            <p:nvPr/>
          </p:nvSpPr>
          <p:spPr>
            <a:xfrm>
              <a:off x="4684082" y="4065321"/>
              <a:ext cx="57238" cy="38159"/>
            </a:xfrm>
            <a:custGeom>
              <a:avLst/>
              <a:gdLst>
                <a:gd name="connsiteX0" fmla="*/ 1121 w 57238"/>
                <a:gd name="connsiteY0" fmla="*/ 39662 h 38158"/>
                <a:gd name="connsiteX1" fmla="*/ 59886 w 57238"/>
                <a:gd name="connsiteY1" fmla="*/ 39662 h 38158"/>
                <a:gd name="connsiteX2" fmla="*/ 59886 w 57238"/>
                <a:gd name="connsiteY2" fmla="*/ 1121 h 38158"/>
                <a:gd name="connsiteX3" fmla="*/ 1121 w 57238"/>
                <a:gd name="connsiteY3" fmla="*/ 1121 h 38158"/>
                <a:gd name="connsiteX4" fmla="*/ 1121 w 57238"/>
                <a:gd name="connsiteY4" fmla="*/ 39662 h 38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38" h="38158">
                  <a:moveTo>
                    <a:pt x="1121" y="39662"/>
                  </a:moveTo>
                  <a:lnTo>
                    <a:pt x="59886" y="39662"/>
                  </a:lnTo>
                  <a:lnTo>
                    <a:pt x="59886" y="1121"/>
                  </a:lnTo>
                  <a:lnTo>
                    <a:pt x="1121" y="1121"/>
                  </a:lnTo>
                  <a:lnTo>
                    <a:pt x="1121" y="39662"/>
                  </a:lnTo>
                  <a:close/>
                </a:path>
              </a:pathLst>
            </a:custGeom>
            <a:solidFill>
              <a:srgbClr val="50E6FF"/>
            </a:solidFill>
            <a:ln w="3731" cap="flat">
              <a:noFill/>
              <a:prstDash val="solid"/>
              <a:miter/>
            </a:ln>
          </p:spPr>
          <p:txBody>
            <a:bodyPr rtlCol="0" anchor="ctr"/>
            <a:lstStyle/>
            <a:p>
              <a:pPr defTabSz="1828734">
                <a:defRPr/>
              </a:pPr>
              <a:endParaRPr lang="en-US" sz="5184">
                <a:solidFill>
                  <a:srgbClr val="000000"/>
                </a:solidFill>
                <a:latin typeface="Segoe UI"/>
              </a:endParaRPr>
            </a:p>
          </p:txBody>
        </p:sp>
        <p:sp>
          <p:nvSpPr>
            <p:cNvPr id="455" name="Freeform: Shape 454">
              <a:extLst>
                <a:ext uri="{FF2B5EF4-FFF2-40B4-BE49-F238E27FC236}">
                  <a16:creationId xmlns:a16="http://schemas.microsoft.com/office/drawing/2014/main" id="{FB2EB642-319D-4A57-D423-05FB43FE8AA5}"/>
                </a:ext>
              </a:extLst>
            </p:cNvPr>
            <p:cNvSpPr/>
            <p:nvPr/>
          </p:nvSpPr>
          <p:spPr>
            <a:xfrm>
              <a:off x="4684082" y="4008083"/>
              <a:ext cx="57238" cy="38159"/>
            </a:xfrm>
            <a:custGeom>
              <a:avLst/>
              <a:gdLst>
                <a:gd name="connsiteX0" fmla="*/ 1121 w 57238"/>
                <a:gd name="connsiteY0" fmla="*/ 39280 h 38158"/>
                <a:gd name="connsiteX1" fmla="*/ 59886 w 57238"/>
                <a:gd name="connsiteY1" fmla="*/ 39280 h 38158"/>
                <a:gd name="connsiteX2" fmla="*/ 59886 w 57238"/>
                <a:gd name="connsiteY2" fmla="*/ 1121 h 38158"/>
                <a:gd name="connsiteX3" fmla="*/ 1121 w 57238"/>
                <a:gd name="connsiteY3" fmla="*/ 1121 h 38158"/>
                <a:gd name="connsiteX4" fmla="*/ 1121 w 57238"/>
                <a:gd name="connsiteY4" fmla="*/ 39280 h 38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38" h="38158">
                  <a:moveTo>
                    <a:pt x="1121" y="39280"/>
                  </a:moveTo>
                  <a:lnTo>
                    <a:pt x="59886" y="39280"/>
                  </a:lnTo>
                  <a:lnTo>
                    <a:pt x="59886" y="1121"/>
                  </a:lnTo>
                  <a:lnTo>
                    <a:pt x="1121" y="1121"/>
                  </a:lnTo>
                  <a:lnTo>
                    <a:pt x="1121" y="39280"/>
                  </a:lnTo>
                  <a:close/>
                </a:path>
              </a:pathLst>
            </a:custGeom>
            <a:solidFill>
              <a:srgbClr val="50E6FF"/>
            </a:solidFill>
            <a:ln w="3731" cap="flat">
              <a:noFill/>
              <a:prstDash val="solid"/>
              <a:miter/>
            </a:ln>
          </p:spPr>
          <p:txBody>
            <a:bodyPr rtlCol="0" anchor="ctr"/>
            <a:lstStyle/>
            <a:p>
              <a:pPr defTabSz="1828734">
                <a:defRPr/>
              </a:pPr>
              <a:endParaRPr lang="en-US" sz="5184">
                <a:solidFill>
                  <a:srgbClr val="000000"/>
                </a:solidFill>
                <a:latin typeface="Segoe UI"/>
              </a:endParaRPr>
            </a:p>
          </p:txBody>
        </p:sp>
        <p:sp>
          <p:nvSpPr>
            <p:cNvPr id="456" name="Freeform: Shape 455">
              <a:extLst>
                <a:ext uri="{FF2B5EF4-FFF2-40B4-BE49-F238E27FC236}">
                  <a16:creationId xmlns:a16="http://schemas.microsoft.com/office/drawing/2014/main" id="{04F302A8-0366-ED1B-6A20-EC17197BCADF}"/>
                </a:ext>
              </a:extLst>
            </p:cNvPr>
            <p:cNvSpPr/>
            <p:nvPr/>
          </p:nvSpPr>
          <p:spPr>
            <a:xfrm>
              <a:off x="4589829" y="4022571"/>
              <a:ext cx="76318" cy="76318"/>
            </a:xfrm>
            <a:custGeom>
              <a:avLst/>
              <a:gdLst>
                <a:gd name="connsiteX0" fmla="*/ 1121 w 76317"/>
                <a:gd name="connsiteY0" fmla="*/ 66373 h 76317"/>
                <a:gd name="connsiteX1" fmla="*/ 12950 w 76317"/>
                <a:gd name="connsiteY1" fmla="*/ 78202 h 76317"/>
                <a:gd name="connsiteX2" fmla="*/ 78202 w 76317"/>
                <a:gd name="connsiteY2" fmla="*/ 12950 h 76317"/>
                <a:gd name="connsiteX3" fmla="*/ 66373 w 76317"/>
                <a:gd name="connsiteY3" fmla="*/ 1121 h 76317"/>
                <a:gd name="connsiteX4" fmla="*/ 1121 w 76317"/>
                <a:gd name="connsiteY4" fmla="*/ 66373 h 76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317" h="76317">
                  <a:moveTo>
                    <a:pt x="1121" y="66373"/>
                  </a:moveTo>
                  <a:lnTo>
                    <a:pt x="12950" y="78202"/>
                  </a:lnTo>
                  <a:lnTo>
                    <a:pt x="78202" y="12950"/>
                  </a:lnTo>
                  <a:lnTo>
                    <a:pt x="66373" y="1121"/>
                  </a:lnTo>
                  <a:lnTo>
                    <a:pt x="1121" y="66373"/>
                  </a:lnTo>
                  <a:close/>
                </a:path>
              </a:pathLst>
            </a:custGeom>
            <a:solidFill>
              <a:srgbClr val="FFFFFF"/>
            </a:solidFill>
            <a:ln w="3731" cap="flat">
              <a:noFill/>
              <a:prstDash val="solid"/>
              <a:miter/>
            </a:ln>
          </p:spPr>
          <p:txBody>
            <a:bodyPr rtlCol="0" anchor="ctr"/>
            <a:lstStyle/>
            <a:p>
              <a:pPr defTabSz="1828734">
                <a:defRPr/>
              </a:pPr>
              <a:endParaRPr lang="en-US" sz="5184">
                <a:solidFill>
                  <a:srgbClr val="000000"/>
                </a:solidFill>
                <a:latin typeface="Segoe UI"/>
              </a:endParaRPr>
            </a:p>
          </p:txBody>
        </p:sp>
        <p:sp>
          <p:nvSpPr>
            <p:cNvPr id="457" name="Freeform: Shape 456">
              <a:extLst>
                <a:ext uri="{FF2B5EF4-FFF2-40B4-BE49-F238E27FC236}">
                  <a16:creationId xmlns:a16="http://schemas.microsoft.com/office/drawing/2014/main" id="{0C1E3D3E-B6AD-E2BE-0E76-965542663366}"/>
                </a:ext>
              </a:extLst>
            </p:cNvPr>
            <p:cNvSpPr/>
            <p:nvPr/>
          </p:nvSpPr>
          <p:spPr>
            <a:xfrm>
              <a:off x="4563878" y="4050430"/>
              <a:ext cx="49606" cy="49606"/>
            </a:xfrm>
            <a:custGeom>
              <a:avLst/>
              <a:gdLst>
                <a:gd name="connsiteX0" fmla="*/ 38517 w 49606"/>
                <a:gd name="connsiteY0" fmla="*/ 49964 h 49606"/>
                <a:gd name="connsiteX1" fmla="*/ 50346 w 49606"/>
                <a:gd name="connsiteY1" fmla="*/ 38135 h 49606"/>
                <a:gd name="connsiteX2" fmla="*/ 12950 w 49606"/>
                <a:gd name="connsiteY2" fmla="*/ 1121 h 49606"/>
                <a:gd name="connsiteX3" fmla="*/ 1121 w 49606"/>
                <a:gd name="connsiteY3" fmla="*/ 12950 h 49606"/>
                <a:gd name="connsiteX4" fmla="*/ 38517 w 49606"/>
                <a:gd name="connsiteY4" fmla="*/ 49964 h 49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06" h="49606">
                  <a:moveTo>
                    <a:pt x="38517" y="49964"/>
                  </a:moveTo>
                  <a:lnTo>
                    <a:pt x="50346" y="38135"/>
                  </a:lnTo>
                  <a:lnTo>
                    <a:pt x="12950" y="1121"/>
                  </a:lnTo>
                  <a:lnTo>
                    <a:pt x="1121" y="12950"/>
                  </a:lnTo>
                  <a:lnTo>
                    <a:pt x="38517" y="49964"/>
                  </a:lnTo>
                  <a:close/>
                </a:path>
              </a:pathLst>
            </a:custGeom>
            <a:solidFill>
              <a:srgbClr val="FFFFFF"/>
            </a:solidFill>
            <a:ln w="3731" cap="flat">
              <a:noFill/>
              <a:prstDash val="solid"/>
              <a:miter/>
            </a:ln>
          </p:spPr>
          <p:txBody>
            <a:bodyPr rtlCol="0" anchor="ctr"/>
            <a:lstStyle/>
            <a:p>
              <a:pPr defTabSz="1828734">
                <a:defRPr/>
              </a:pPr>
              <a:endParaRPr lang="en-US" sz="5184">
                <a:solidFill>
                  <a:srgbClr val="000000"/>
                </a:solidFill>
                <a:latin typeface="Segoe UI"/>
              </a:endParaRPr>
            </a:p>
          </p:txBody>
        </p:sp>
      </p:grpSp>
      <p:grpSp>
        <p:nvGrpSpPr>
          <p:cNvPr id="458" name="direction 2">
            <a:extLst>
              <a:ext uri="{FF2B5EF4-FFF2-40B4-BE49-F238E27FC236}">
                <a16:creationId xmlns:a16="http://schemas.microsoft.com/office/drawing/2014/main" id="{005C9791-7124-769F-D01C-18C513873DF8}"/>
              </a:ext>
              <a:ext uri="{C183D7F6-B498-43B3-948B-1728B52AA6E4}">
                <adec:decorative xmlns:adec="http://schemas.microsoft.com/office/drawing/2017/decorative" val="1"/>
              </a:ext>
            </a:extLst>
          </p:cNvPr>
          <p:cNvGrpSpPr/>
          <p:nvPr/>
        </p:nvGrpSpPr>
        <p:grpSpPr>
          <a:xfrm>
            <a:off x="3549720" y="4459543"/>
            <a:ext cx="903336" cy="903326"/>
            <a:chOff x="10133424" y="2126294"/>
            <a:chExt cx="419935" cy="419933"/>
          </a:xfrm>
        </p:grpSpPr>
        <p:sp>
          <p:nvSpPr>
            <p:cNvPr id="459" name="Freeform: Shape 458">
              <a:extLst>
                <a:ext uri="{FF2B5EF4-FFF2-40B4-BE49-F238E27FC236}">
                  <a16:creationId xmlns:a16="http://schemas.microsoft.com/office/drawing/2014/main" id="{3405C488-84FA-D2B4-2FB0-D2EA40EE92AD}"/>
                </a:ext>
              </a:extLst>
            </p:cNvPr>
            <p:cNvSpPr/>
            <p:nvPr/>
          </p:nvSpPr>
          <p:spPr>
            <a:xfrm>
              <a:off x="10360804" y="2336699"/>
              <a:ext cx="190486" cy="155851"/>
            </a:xfrm>
            <a:custGeom>
              <a:avLst/>
              <a:gdLst>
                <a:gd name="connsiteX0" fmla="*/ 112491 w 190485"/>
                <a:gd name="connsiteY0" fmla="*/ 1473 h 155851"/>
                <a:gd name="connsiteX1" fmla="*/ 82054 w 190485"/>
                <a:gd name="connsiteY1" fmla="*/ 31931 h 155851"/>
                <a:gd name="connsiteX2" fmla="*/ 107454 w 190485"/>
                <a:gd name="connsiteY2" fmla="*/ 57349 h 155851"/>
                <a:gd name="connsiteX3" fmla="*/ 1473 w 190485"/>
                <a:gd name="connsiteY3" fmla="*/ 57349 h 155851"/>
                <a:gd name="connsiteX4" fmla="*/ 1473 w 190485"/>
                <a:gd name="connsiteY4" fmla="*/ 100736 h 155851"/>
                <a:gd name="connsiteX5" fmla="*/ 106286 w 190485"/>
                <a:gd name="connsiteY5" fmla="*/ 100736 h 155851"/>
                <a:gd name="connsiteX6" fmla="*/ 81470 w 190485"/>
                <a:gd name="connsiteY6" fmla="*/ 125570 h 155851"/>
                <a:gd name="connsiteX7" fmla="*/ 112564 w 190485"/>
                <a:gd name="connsiteY7" fmla="*/ 156612 h 155851"/>
                <a:gd name="connsiteX8" fmla="*/ 190006 w 190485"/>
                <a:gd name="connsiteY8" fmla="*/ 78970 h 155851"/>
                <a:gd name="connsiteX9" fmla="*/ 112491 w 190485"/>
                <a:gd name="connsiteY9" fmla="*/ 1473 h 15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485" h="155851">
                  <a:moveTo>
                    <a:pt x="112491" y="1473"/>
                  </a:moveTo>
                  <a:lnTo>
                    <a:pt x="82054" y="31931"/>
                  </a:lnTo>
                  <a:lnTo>
                    <a:pt x="107454" y="57349"/>
                  </a:lnTo>
                  <a:lnTo>
                    <a:pt x="1473" y="57349"/>
                  </a:lnTo>
                  <a:lnTo>
                    <a:pt x="1473" y="100736"/>
                  </a:lnTo>
                  <a:lnTo>
                    <a:pt x="106286" y="100736"/>
                  </a:lnTo>
                  <a:lnTo>
                    <a:pt x="81470" y="125570"/>
                  </a:lnTo>
                  <a:lnTo>
                    <a:pt x="112564" y="156612"/>
                  </a:lnTo>
                  <a:lnTo>
                    <a:pt x="190006" y="78970"/>
                  </a:lnTo>
                  <a:lnTo>
                    <a:pt x="112491" y="1473"/>
                  </a:lnTo>
                  <a:close/>
                </a:path>
              </a:pathLst>
            </a:custGeom>
            <a:solidFill>
              <a:srgbClr val="50E6FF"/>
            </a:solidFill>
            <a:ln w="4321" cap="flat">
              <a:noFill/>
              <a:prstDash val="solid"/>
              <a:miter/>
            </a:ln>
          </p:spPr>
          <p:txBody>
            <a:bodyPr rtlCol="0" anchor="ctr"/>
            <a:lstStyle/>
            <a:p>
              <a:pPr defTabSz="1828734">
                <a:defRPr/>
              </a:pPr>
              <a:endParaRPr lang="en-US" sz="5184">
                <a:solidFill>
                  <a:srgbClr val="000000"/>
                </a:solidFill>
                <a:latin typeface="Segoe UI"/>
              </a:endParaRPr>
            </a:p>
          </p:txBody>
        </p:sp>
        <p:sp>
          <p:nvSpPr>
            <p:cNvPr id="460" name="Freeform: Shape 459">
              <a:extLst>
                <a:ext uri="{FF2B5EF4-FFF2-40B4-BE49-F238E27FC236}">
                  <a16:creationId xmlns:a16="http://schemas.microsoft.com/office/drawing/2014/main" id="{AE0FBD75-885B-0242-8B93-0722288C502C}"/>
                </a:ext>
              </a:extLst>
            </p:cNvPr>
            <p:cNvSpPr/>
            <p:nvPr/>
          </p:nvSpPr>
          <p:spPr>
            <a:xfrm>
              <a:off x="10134534" y="2131095"/>
              <a:ext cx="285729" cy="411275"/>
            </a:xfrm>
            <a:custGeom>
              <a:avLst/>
              <a:gdLst>
                <a:gd name="connsiteX0" fmla="*/ 256646 w 285728"/>
                <a:gd name="connsiteY0" fmla="*/ 110085 h 411274"/>
                <a:gd name="connsiteX1" fmla="*/ 287667 w 285728"/>
                <a:gd name="connsiteY1" fmla="*/ 78969 h 411274"/>
                <a:gd name="connsiteX2" fmla="*/ 210078 w 285728"/>
                <a:gd name="connsiteY2" fmla="*/ 1473 h 411274"/>
                <a:gd name="connsiteX3" fmla="*/ 132636 w 285728"/>
                <a:gd name="connsiteY3" fmla="*/ 79043 h 411274"/>
                <a:gd name="connsiteX4" fmla="*/ 163073 w 285728"/>
                <a:gd name="connsiteY4" fmla="*/ 109501 h 411274"/>
                <a:gd name="connsiteX5" fmla="*/ 188473 w 285728"/>
                <a:gd name="connsiteY5" fmla="*/ 84082 h 411274"/>
                <a:gd name="connsiteX6" fmla="*/ 188473 w 285728"/>
                <a:gd name="connsiteY6" fmla="*/ 185683 h 411274"/>
                <a:gd name="connsiteX7" fmla="*/ 85120 w 285728"/>
                <a:gd name="connsiteY7" fmla="*/ 185683 h 411274"/>
                <a:gd name="connsiteX8" fmla="*/ 109936 w 285728"/>
                <a:gd name="connsiteY8" fmla="*/ 160849 h 411274"/>
                <a:gd name="connsiteX9" fmla="*/ 78842 w 285728"/>
                <a:gd name="connsiteY9" fmla="*/ 129806 h 411274"/>
                <a:gd name="connsiteX10" fmla="*/ 1473 w 285728"/>
                <a:gd name="connsiteY10" fmla="*/ 207449 h 411274"/>
                <a:gd name="connsiteX11" fmla="*/ 78988 w 285728"/>
                <a:gd name="connsiteY11" fmla="*/ 284872 h 411274"/>
                <a:gd name="connsiteX12" fmla="*/ 109352 w 285728"/>
                <a:gd name="connsiteY12" fmla="*/ 254414 h 411274"/>
                <a:gd name="connsiteX13" fmla="*/ 84025 w 285728"/>
                <a:gd name="connsiteY13" fmla="*/ 228996 h 411274"/>
                <a:gd name="connsiteX14" fmla="*/ 188619 w 285728"/>
                <a:gd name="connsiteY14" fmla="*/ 228996 h 411274"/>
                <a:gd name="connsiteX15" fmla="*/ 188619 w 285728"/>
                <a:gd name="connsiteY15" fmla="*/ 414009 h 411274"/>
                <a:gd name="connsiteX16" fmla="*/ 231903 w 285728"/>
                <a:gd name="connsiteY16" fmla="*/ 414009 h 411274"/>
                <a:gd name="connsiteX17" fmla="*/ 231903 w 285728"/>
                <a:gd name="connsiteY17" fmla="*/ 105410 h 411274"/>
                <a:gd name="connsiteX18" fmla="*/ 231829 w 285728"/>
                <a:gd name="connsiteY18" fmla="*/ 105410 h 411274"/>
                <a:gd name="connsiteX19" fmla="*/ 231829 w 285728"/>
                <a:gd name="connsiteY19" fmla="*/ 85251 h 411274"/>
                <a:gd name="connsiteX20" fmla="*/ 256646 w 285728"/>
                <a:gd name="connsiteY20" fmla="*/ 110085 h 41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5728" h="411274">
                  <a:moveTo>
                    <a:pt x="256646" y="110085"/>
                  </a:moveTo>
                  <a:lnTo>
                    <a:pt x="287667" y="78969"/>
                  </a:lnTo>
                  <a:lnTo>
                    <a:pt x="210078" y="1473"/>
                  </a:lnTo>
                  <a:lnTo>
                    <a:pt x="132636" y="79043"/>
                  </a:lnTo>
                  <a:lnTo>
                    <a:pt x="163073" y="109501"/>
                  </a:lnTo>
                  <a:lnTo>
                    <a:pt x="188473" y="84082"/>
                  </a:lnTo>
                  <a:lnTo>
                    <a:pt x="188473" y="185683"/>
                  </a:lnTo>
                  <a:lnTo>
                    <a:pt x="85120" y="185683"/>
                  </a:lnTo>
                  <a:lnTo>
                    <a:pt x="109936" y="160849"/>
                  </a:lnTo>
                  <a:lnTo>
                    <a:pt x="78842" y="129806"/>
                  </a:lnTo>
                  <a:lnTo>
                    <a:pt x="1473" y="207449"/>
                  </a:lnTo>
                  <a:lnTo>
                    <a:pt x="78988" y="284872"/>
                  </a:lnTo>
                  <a:lnTo>
                    <a:pt x="109352" y="254414"/>
                  </a:lnTo>
                  <a:lnTo>
                    <a:pt x="84025" y="228996"/>
                  </a:lnTo>
                  <a:lnTo>
                    <a:pt x="188619" y="228996"/>
                  </a:lnTo>
                  <a:lnTo>
                    <a:pt x="188619" y="414009"/>
                  </a:lnTo>
                  <a:lnTo>
                    <a:pt x="231903" y="414009"/>
                  </a:lnTo>
                  <a:lnTo>
                    <a:pt x="231903" y="105410"/>
                  </a:lnTo>
                  <a:lnTo>
                    <a:pt x="231829" y="105410"/>
                  </a:lnTo>
                  <a:lnTo>
                    <a:pt x="231829" y="85251"/>
                  </a:lnTo>
                  <a:lnTo>
                    <a:pt x="256646" y="110085"/>
                  </a:lnTo>
                  <a:close/>
                </a:path>
              </a:pathLst>
            </a:custGeom>
            <a:solidFill>
              <a:srgbClr val="0078D4"/>
            </a:solidFill>
            <a:ln w="4321" cap="flat">
              <a:noFill/>
              <a:prstDash val="solid"/>
              <a:miter/>
            </a:ln>
          </p:spPr>
          <p:txBody>
            <a:bodyPr rtlCol="0" anchor="ctr"/>
            <a:lstStyle/>
            <a:p>
              <a:pPr defTabSz="1828734">
                <a:defRPr/>
              </a:pPr>
              <a:endParaRPr lang="en-US" sz="5184">
                <a:solidFill>
                  <a:srgbClr val="000000"/>
                </a:solidFill>
                <a:latin typeface="Segoe UI"/>
              </a:endParaRPr>
            </a:p>
          </p:txBody>
        </p:sp>
      </p:grpSp>
      <p:pic>
        <p:nvPicPr>
          <p:cNvPr id="461" name="lock 2">
            <a:extLst>
              <a:ext uri="{FF2B5EF4-FFF2-40B4-BE49-F238E27FC236}">
                <a16:creationId xmlns:a16="http://schemas.microsoft.com/office/drawing/2014/main" id="{464E9148-DBBC-5E01-15DA-D8DA284A4EB6}"/>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74928" y="11312294"/>
            <a:ext cx="764300" cy="764296"/>
          </a:xfrm>
          <a:prstGeom prst="rect">
            <a:avLst/>
          </a:prstGeom>
        </p:spPr>
      </p:pic>
      <p:grpSp>
        <p:nvGrpSpPr>
          <p:cNvPr id="474" name="Group">
            <a:extLst>
              <a:ext uri="{FF2B5EF4-FFF2-40B4-BE49-F238E27FC236}">
                <a16:creationId xmlns:a16="http://schemas.microsoft.com/office/drawing/2014/main" id="{2C046918-F818-4EC3-2244-93EC58D763A9}"/>
              </a:ext>
            </a:extLst>
          </p:cNvPr>
          <p:cNvGrpSpPr/>
          <p:nvPr/>
        </p:nvGrpSpPr>
        <p:grpSpPr>
          <a:xfrm>
            <a:off x="19458334" y="632206"/>
            <a:ext cx="3755228" cy="778028"/>
            <a:chOff x="0" y="0"/>
            <a:chExt cx="7826985" cy="1670561"/>
          </a:xfrm>
        </p:grpSpPr>
        <p:sp>
          <p:nvSpPr>
            <p:cNvPr id="475" name="Shape">
              <a:extLst>
                <a:ext uri="{FF2B5EF4-FFF2-40B4-BE49-F238E27FC236}">
                  <a16:creationId xmlns:a16="http://schemas.microsoft.com/office/drawing/2014/main" id="{06FD7B44-D462-C354-28E3-3822D5DA413C}"/>
                </a:ext>
              </a:extLst>
            </p:cNvPr>
            <p:cNvSpPr/>
            <p:nvPr/>
          </p:nvSpPr>
          <p:spPr>
            <a:xfrm>
              <a:off x="2171840" y="261608"/>
              <a:ext cx="5655145" cy="1091813"/>
            </a:xfrm>
            <a:custGeom>
              <a:avLst/>
              <a:gdLst/>
              <a:ahLst/>
              <a:cxnLst>
                <a:cxn ang="0">
                  <a:pos x="wd2" y="hd2"/>
                </a:cxn>
                <a:cxn ang="5400000">
                  <a:pos x="wd2" y="hd2"/>
                </a:cxn>
                <a:cxn ang="10800000">
                  <a:pos x="wd2" y="hd2"/>
                </a:cxn>
                <a:cxn ang="16200000">
                  <a:pos x="wd2" y="hd2"/>
                </a:cxn>
              </a:cxnLst>
              <a:rect l="0" t="0" r="r" b="b"/>
              <a:pathLst>
                <a:path w="21600" h="21600" extrusionOk="0">
                  <a:moveTo>
                    <a:pt x="21600" y="7065"/>
                  </a:moveTo>
                  <a:lnTo>
                    <a:pt x="20948" y="7065"/>
                  </a:lnTo>
                  <a:lnTo>
                    <a:pt x="20948" y="2829"/>
                  </a:lnTo>
                  <a:lnTo>
                    <a:pt x="20926" y="2863"/>
                  </a:lnTo>
                  <a:lnTo>
                    <a:pt x="20312" y="3837"/>
                  </a:lnTo>
                  <a:lnTo>
                    <a:pt x="20300" y="3854"/>
                  </a:lnTo>
                  <a:lnTo>
                    <a:pt x="20300" y="7065"/>
                  </a:lnTo>
                  <a:lnTo>
                    <a:pt x="19332" y="7065"/>
                  </a:lnTo>
                  <a:lnTo>
                    <a:pt x="19332" y="5277"/>
                  </a:lnTo>
                  <a:cubicBezTo>
                    <a:pt x="19332" y="4446"/>
                    <a:pt x="19368" y="3809"/>
                    <a:pt x="19439" y="3383"/>
                  </a:cubicBezTo>
                  <a:cubicBezTo>
                    <a:pt x="19509" y="2962"/>
                    <a:pt x="19610" y="2752"/>
                    <a:pt x="19738" y="2752"/>
                  </a:cubicBezTo>
                  <a:cubicBezTo>
                    <a:pt x="19830" y="2752"/>
                    <a:pt x="19926" y="2863"/>
                    <a:pt x="20021" y="3084"/>
                  </a:cubicBezTo>
                  <a:lnTo>
                    <a:pt x="20046" y="3140"/>
                  </a:lnTo>
                  <a:lnTo>
                    <a:pt x="20046" y="271"/>
                  </a:lnTo>
                  <a:lnTo>
                    <a:pt x="20034" y="249"/>
                  </a:lnTo>
                  <a:cubicBezTo>
                    <a:pt x="19946" y="83"/>
                    <a:pt x="19824" y="0"/>
                    <a:pt x="19672" y="0"/>
                  </a:cubicBezTo>
                  <a:cubicBezTo>
                    <a:pt x="19482" y="0"/>
                    <a:pt x="19309" y="216"/>
                    <a:pt x="19158" y="642"/>
                  </a:cubicBezTo>
                  <a:cubicBezTo>
                    <a:pt x="19007" y="1069"/>
                    <a:pt x="18887" y="1672"/>
                    <a:pt x="18805" y="2447"/>
                  </a:cubicBezTo>
                  <a:cubicBezTo>
                    <a:pt x="18722" y="3223"/>
                    <a:pt x="18680" y="4114"/>
                    <a:pt x="18680" y="5100"/>
                  </a:cubicBezTo>
                  <a:lnTo>
                    <a:pt x="18680" y="7065"/>
                  </a:lnTo>
                  <a:lnTo>
                    <a:pt x="18225" y="7065"/>
                  </a:lnTo>
                  <a:lnTo>
                    <a:pt x="18225" y="9789"/>
                  </a:lnTo>
                  <a:lnTo>
                    <a:pt x="18680" y="9789"/>
                  </a:lnTo>
                  <a:lnTo>
                    <a:pt x="18680" y="21257"/>
                  </a:lnTo>
                  <a:lnTo>
                    <a:pt x="19332" y="21257"/>
                  </a:lnTo>
                  <a:lnTo>
                    <a:pt x="19332" y="9789"/>
                  </a:lnTo>
                  <a:lnTo>
                    <a:pt x="20300" y="9789"/>
                  </a:lnTo>
                  <a:lnTo>
                    <a:pt x="20300" y="17071"/>
                  </a:lnTo>
                  <a:cubicBezTo>
                    <a:pt x="20300" y="20077"/>
                    <a:pt x="20574" y="21600"/>
                    <a:pt x="21113" y="21600"/>
                  </a:cubicBezTo>
                  <a:cubicBezTo>
                    <a:pt x="21201" y="21600"/>
                    <a:pt x="21294" y="21545"/>
                    <a:pt x="21391" y="21439"/>
                  </a:cubicBezTo>
                  <a:cubicBezTo>
                    <a:pt x="21487" y="21329"/>
                    <a:pt x="21553" y="21223"/>
                    <a:pt x="21591" y="21107"/>
                  </a:cubicBezTo>
                  <a:lnTo>
                    <a:pt x="21600" y="21080"/>
                  </a:lnTo>
                  <a:lnTo>
                    <a:pt x="21600" y="18333"/>
                  </a:lnTo>
                  <a:lnTo>
                    <a:pt x="21574" y="18422"/>
                  </a:lnTo>
                  <a:cubicBezTo>
                    <a:pt x="21538" y="18544"/>
                    <a:pt x="21494" y="18643"/>
                    <a:pt x="21443" y="18721"/>
                  </a:cubicBezTo>
                  <a:cubicBezTo>
                    <a:pt x="21391" y="18793"/>
                    <a:pt x="21348" y="18831"/>
                    <a:pt x="21314" y="18831"/>
                  </a:cubicBezTo>
                  <a:cubicBezTo>
                    <a:pt x="21187" y="18831"/>
                    <a:pt x="21094" y="18654"/>
                    <a:pt x="21036" y="18311"/>
                  </a:cubicBezTo>
                  <a:cubicBezTo>
                    <a:pt x="20977" y="17957"/>
                    <a:pt x="20948" y="17342"/>
                    <a:pt x="20948" y="16484"/>
                  </a:cubicBezTo>
                  <a:lnTo>
                    <a:pt x="20948" y="9789"/>
                  </a:lnTo>
                  <a:lnTo>
                    <a:pt x="21600" y="9789"/>
                  </a:lnTo>
                  <a:lnTo>
                    <a:pt x="21600" y="7065"/>
                  </a:lnTo>
                  <a:close/>
                  <a:moveTo>
                    <a:pt x="16212" y="17624"/>
                  </a:moveTo>
                  <a:cubicBezTo>
                    <a:pt x="16080" y="16822"/>
                    <a:pt x="16012" y="15670"/>
                    <a:pt x="16012" y="14214"/>
                  </a:cubicBezTo>
                  <a:cubicBezTo>
                    <a:pt x="16012" y="12708"/>
                    <a:pt x="16080" y="11528"/>
                    <a:pt x="16212" y="10714"/>
                  </a:cubicBezTo>
                  <a:cubicBezTo>
                    <a:pt x="16344" y="9900"/>
                    <a:pt x="16529" y="9485"/>
                    <a:pt x="16763" y="9485"/>
                  </a:cubicBezTo>
                  <a:cubicBezTo>
                    <a:pt x="16988" y="9485"/>
                    <a:pt x="17169" y="9884"/>
                    <a:pt x="17298" y="10659"/>
                  </a:cubicBezTo>
                  <a:cubicBezTo>
                    <a:pt x="17427" y="11440"/>
                    <a:pt x="17494" y="12608"/>
                    <a:pt x="17494" y="14131"/>
                  </a:cubicBezTo>
                  <a:cubicBezTo>
                    <a:pt x="17494" y="15670"/>
                    <a:pt x="17432" y="16855"/>
                    <a:pt x="17309" y="17647"/>
                  </a:cubicBezTo>
                  <a:cubicBezTo>
                    <a:pt x="17188" y="18433"/>
                    <a:pt x="17006" y="18831"/>
                    <a:pt x="16768" y="18831"/>
                  </a:cubicBezTo>
                  <a:cubicBezTo>
                    <a:pt x="16531" y="18831"/>
                    <a:pt x="16344" y="18427"/>
                    <a:pt x="16212" y="17624"/>
                  </a:cubicBezTo>
                  <a:close/>
                  <a:moveTo>
                    <a:pt x="15730" y="8760"/>
                  </a:moveTo>
                  <a:cubicBezTo>
                    <a:pt x="15474" y="10116"/>
                    <a:pt x="15344" y="11982"/>
                    <a:pt x="15344" y="14319"/>
                  </a:cubicBezTo>
                  <a:cubicBezTo>
                    <a:pt x="15344" y="16545"/>
                    <a:pt x="15471" y="18333"/>
                    <a:pt x="15721" y="19634"/>
                  </a:cubicBezTo>
                  <a:cubicBezTo>
                    <a:pt x="15971" y="20936"/>
                    <a:pt x="16311" y="21600"/>
                    <a:pt x="16731" y="21600"/>
                  </a:cubicBezTo>
                  <a:cubicBezTo>
                    <a:pt x="17169" y="21600"/>
                    <a:pt x="17520" y="20902"/>
                    <a:pt x="17776" y="19529"/>
                  </a:cubicBezTo>
                  <a:cubicBezTo>
                    <a:pt x="18032" y="18161"/>
                    <a:pt x="18162" y="16307"/>
                    <a:pt x="18162" y="14020"/>
                  </a:cubicBezTo>
                  <a:cubicBezTo>
                    <a:pt x="18162" y="11761"/>
                    <a:pt x="18040" y="9967"/>
                    <a:pt x="17800" y="8671"/>
                  </a:cubicBezTo>
                  <a:cubicBezTo>
                    <a:pt x="17560" y="7381"/>
                    <a:pt x="17222" y="6722"/>
                    <a:pt x="16797" y="6722"/>
                  </a:cubicBezTo>
                  <a:cubicBezTo>
                    <a:pt x="16345" y="6722"/>
                    <a:pt x="15986" y="7409"/>
                    <a:pt x="15730" y="8760"/>
                  </a:cubicBezTo>
                  <a:close/>
                  <a:moveTo>
                    <a:pt x="13536" y="7935"/>
                  </a:moveTo>
                  <a:cubicBezTo>
                    <a:pt x="13340" y="8743"/>
                    <a:pt x="13242" y="9801"/>
                    <a:pt x="13242" y="11080"/>
                  </a:cubicBezTo>
                  <a:cubicBezTo>
                    <a:pt x="13242" y="11744"/>
                    <a:pt x="13264" y="12337"/>
                    <a:pt x="13305" y="12835"/>
                  </a:cubicBezTo>
                  <a:cubicBezTo>
                    <a:pt x="13348" y="13339"/>
                    <a:pt x="13413" y="13787"/>
                    <a:pt x="13500" y="14158"/>
                  </a:cubicBezTo>
                  <a:cubicBezTo>
                    <a:pt x="13586" y="14524"/>
                    <a:pt x="13720" y="14911"/>
                    <a:pt x="13897" y="15304"/>
                  </a:cubicBezTo>
                  <a:cubicBezTo>
                    <a:pt x="14046" y="15626"/>
                    <a:pt x="14156" y="15891"/>
                    <a:pt x="14227" y="16102"/>
                  </a:cubicBezTo>
                  <a:cubicBezTo>
                    <a:pt x="14296" y="16312"/>
                    <a:pt x="14344" y="16517"/>
                    <a:pt x="14372" y="16722"/>
                  </a:cubicBezTo>
                  <a:cubicBezTo>
                    <a:pt x="14399" y="16921"/>
                    <a:pt x="14412" y="17193"/>
                    <a:pt x="14412" y="17525"/>
                  </a:cubicBezTo>
                  <a:cubicBezTo>
                    <a:pt x="14412" y="18477"/>
                    <a:pt x="14275" y="18942"/>
                    <a:pt x="13991" y="18942"/>
                  </a:cubicBezTo>
                  <a:cubicBezTo>
                    <a:pt x="13886" y="18942"/>
                    <a:pt x="13766" y="18831"/>
                    <a:pt x="13634" y="18604"/>
                  </a:cubicBezTo>
                  <a:cubicBezTo>
                    <a:pt x="13503" y="18383"/>
                    <a:pt x="13380" y="18056"/>
                    <a:pt x="13269" y="17647"/>
                  </a:cubicBezTo>
                  <a:lnTo>
                    <a:pt x="13242" y="17547"/>
                  </a:lnTo>
                  <a:lnTo>
                    <a:pt x="13242" y="20797"/>
                  </a:lnTo>
                  <a:lnTo>
                    <a:pt x="13252" y="20825"/>
                  </a:lnTo>
                  <a:cubicBezTo>
                    <a:pt x="13344" y="21046"/>
                    <a:pt x="13460" y="21229"/>
                    <a:pt x="13598" y="21379"/>
                  </a:cubicBezTo>
                  <a:cubicBezTo>
                    <a:pt x="13735" y="21522"/>
                    <a:pt x="13859" y="21600"/>
                    <a:pt x="13967" y="21600"/>
                  </a:cubicBezTo>
                  <a:cubicBezTo>
                    <a:pt x="14300" y="21600"/>
                    <a:pt x="14570" y="21190"/>
                    <a:pt x="14765" y="20382"/>
                  </a:cubicBezTo>
                  <a:cubicBezTo>
                    <a:pt x="14963" y="19568"/>
                    <a:pt x="15062" y="18483"/>
                    <a:pt x="15062" y="17154"/>
                  </a:cubicBezTo>
                  <a:cubicBezTo>
                    <a:pt x="15062" y="16201"/>
                    <a:pt x="15009" y="15376"/>
                    <a:pt x="14903" y="14717"/>
                  </a:cubicBezTo>
                  <a:cubicBezTo>
                    <a:pt x="14797" y="14059"/>
                    <a:pt x="14614" y="13455"/>
                    <a:pt x="14359" y="12923"/>
                  </a:cubicBezTo>
                  <a:cubicBezTo>
                    <a:pt x="14156" y="12503"/>
                    <a:pt x="14026" y="12154"/>
                    <a:pt x="13972" y="11882"/>
                  </a:cubicBezTo>
                  <a:cubicBezTo>
                    <a:pt x="13921" y="11622"/>
                    <a:pt x="13894" y="11262"/>
                    <a:pt x="13894" y="10797"/>
                  </a:cubicBezTo>
                  <a:cubicBezTo>
                    <a:pt x="13894" y="10382"/>
                    <a:pt x="13927" y="10050"/>
                    <a:pt x="13994" y="9784"/>
                  </a:cubicBezTo>
                  <a:cubicBezTo>
                    <a:pt x="14061" y="9513"/>
                    <a:pt x="14154" y="9374"/>
                    <a:pt x="14271" y="9374"/>
                  </a:cubicBezTo>
                  <a:cubicBezTo>
                    <a:pt x="14379" y="9374"/>
                    <a:pt x="14492" y="9468"/>
                    <a:pt x="14602" y="9640"/>
                  </a:cubicBezTo>
                  <a:cubicBezTo>
                    <a:pt x="14713" y="9817"/>
                    <a:pt x="14809" y="10050"/>
                    <a:pt x="14890" y="10332"/>
                  </a:cubicBezTo>
                  <a:lnTo>
                    <a:pt x="14917" y="10426"/>
                  </a:lnTo>
                  <a:lnTo>
                    <a:pt x="14917" y="7342"/>
                  </a:lnTo>
                  <a:lnTo>
                    <a:pt x="14907" y="7320"/>
                  </a:lnTo>
                  <a:cubicBezTo>
                    <a:pt x="14832" y="7154"/>
                    <a:pt x="14733" y="7010"/>
                    <a:pt x="14613" y="6894"/>
                  </a:cubicBezTo>
                  <a:cubicBezTo>
                    <a:pt x="14495" y="6777"/>
                    <a:pt x="14386" y="6722"/>
                    <a:pt x="14292" y="6722"/>
                  </a:cubicBezTo>
                  <a:cubicBezTo>
                    <a:pt x="13985" y="6722"/>
                    <a:pt x="13731" y="7132"/>
                    <a:pt x="13536" y="7935"/>
                  </a:cubicBezTo>
                  <a:close/>
                  <a:moveTo>
                    <a:pt x="10985" y="17624"/>
                  </a:moveTo>
                  <a:cubicBezTo>
                    <a:pt x="10852" y="16822"/>
                    <a:pt x="10785" y="15670"/>
                    <a:pt x="10785" y="14214"/>
                  </a:cubicBezTo>
                  <a:cubicBezTo>
                    <a:pt x="10785" y="12708"/>
                    <a:pt x="10852" y="11528"/>
                    <a:pt x="10985" y="10714"/>
                  </a:cubicBezTo>
                  <a:cubicBezTo>
                    <a:pt x="11116" y="9900"/>
                    <a:pt x="11301" y="9485"/>
                    <a:pt x="11535" y="9485"/>
                  </a:cubicBezTo>
                  <a:cubicBezTo>
                    <a:pt x="11761" y="9485"/>
                    <a:pt x="11941" y="9884"/>
                    <a:pt x="12071" y="10659"/>
                  </a:cubicBezTo>
                  <a:cubicBezTo>
                    <a:pt x="12200" y="11440"/>
                    <a:pt x="12266" y="12608"/>
                    <a:pt x="12266" y="14131"/>
                  </a:cubicBezTo>
                  <a:cubicBezTo>
                    <a:pt x="12266" y="15670"/>
                    <a:pt x="12204" y="16855"/>
                    <a:pt x="12081" y="17647"/>
                  </a:cubicBezTo>
                  <a:cubicBezTo>
                    <a:pt x="11961" y="18433"/>
                    <a:pt x="11779" y="18831"/>
                    <a:pt x="11541" y="18831"/>
                  </a:cubicBezTo>
                  <a:cubicBezTo>
                    <a:pt x="11303" y="18831"/>
                    <a:pt x="11116" y="18427"/>
                    <a:pt x="10985" y="17624"/>
                  </a:cubicBezTo>
                  <a:close/>
                  <a:moveTo>
                    <a:pt x="10503" y="8760"/>
                  </a:moveTo>
                  <a:cubicBezTo>
                    <a:pt x="10246" y="10116"/>
                    <a:pt x="10117" y="11982"/>
                    <a:pt x="10117" y="14319"/>
                  </a:cubicBezTo>
                  <a:cubicBezTo>
                    <a:pt x="10117" y="16545"/>
                    <a:pt x="10243" y="18333"/>
                    <a:pt x="10493" y="19634"/>
                  </a:cubicBezTo>
                  <a:cubicBezTo>
                    <a:pt x="10743" y="20936"/>
                    <a:pt x="11083" y="21600"/>
                    <a:pt x="11503" y="21600"/>
                  </a:cubicBezTo>
                  <a:cubicBezTo>
                    <a:pt x="11941" y="21600"/>
                    <a:pt x="12293" y="20902"/>
                    <a:pt x="12549" y="19529"/>
                  </a:cubicBezTo>
                  <a:cubicBezTo>
                    <a:pt x="12805" y="18161"/>
                    <a:pt x="12934" y="16307"/>
                    <a:pt x="12934" y="14020"/>
                  </a:cubicBezTo>
                  <a:cubicBezTo>
                    <a:pt x="12934" y="11761"/>
                    <a:pt x="12813" y="9967"/>
                    <a:pt x="12573" y="8671"/>
                  </a:cubicBezTo>
                  <a:cubicBezTo>
                    <a:pt x="12333" y="7381"/>
                    <a:pt x="11995" y="6722"/>
                    <a:pt x="11570" y="6722"/>
                  </a:cubicBezTo>
                  <a:cubicBezTo>
                    <a:pt x="11117" y="6722"/>
                    <a:pt x="10758" y="7409"/>
                    <a:pt x="10503" y="8760"/>
                  </a:cubicBezTo>
                  <a:close/>
                  <a:moveTo>
                    <a:pt x="9126" y="7065"/>
                  </a:moveTo>
                  <a:lnTo>
                    <a:pt x="8482" y="7065"/>
                  </a:lnTo>
                  <a:lnTo>
                    <a:pt x="8482" y="21257"/>
                  </a:lnTo>
                  <a:lnTo>
                    <a:pt x="9126" y="21257"/>
                  </a:lnTo>
                  <a:lnTo>
                    <a:pt x="9126" y="13992"/>
                  </a:lnTo>
                  <a:cubicBezTo>
                    <a:pt x="9126" y="12757"/>
                    <a:pt x="9181" y="11744"/>
                    <a:pt x="9287" y="10985"/>
                  </a:cubicBezTo>
                  <a:cubicBezTo>
                    <a:pt x="9392" y="10227"/>
                    <a:pt x="9532" y="9845"/>
                    <a:pt x="9703" y="9845"/>
                  </a:cubicBezTo>
                  <a:cubicBezTo>
                    <a:pt x="9762" y="9845"/>
                    <a:pt x="9827" y="9895"/>
                    <a:pt x="9898" y="9989"/>
                  </a:cubicBezTo>
                  <a:cubicBezTo>
                    <a:pt x="9967" y="10088"/>
                    <a:pt x="10019" y="10194"/>
                    <a:pt x="10049" y="10304"/>
                  </a:cubicBezTo>
                  <a:lnTo>
                    <a:pt x="10075" y="10404"/>
                  </a:lnTo>
                  <a:lnTo>
                    <a:pt x="10075" y="7038"/>
                  </a:lnTo>
                  <a:lnTo>
                    <a:pt x="10065" y="7015"/>
                  </a:lnTo>
                  <a:cubicBezTo>
                    <a:pt x="10005" y="6883"/>
                    <a:pt x="9919" y="6816"/>
                    <a:pt x="9812" y="6816"/>
                  </a:cubicBezTo>
                  <a:cubicBezTo>
                    <a:pt x="9650" y="6816"/>
                    <a:pt x="9506" y="7087"/>
                    <a:pt x="9381" y="7619"/>
                  </a:cubicBezTo>
                  <a:cubicBezTo>
                    <a:pt x="9272" y="8084"/>
                    <a:pt x="9194" y="8726"/>
                    <a:pt x="9133" y="9524"/>
                  </a:cubicBezTo>
                  <a:lnTo>
                    <a:pt x="9126" y="9524"/>
                  </a:lnTo>
                  <a:lnTo>
                    <a:pt x="9126" y="7065"/>
                  </a:lnTo>
                  <a:close/>
                  <a:moveTo>
                    <a:pt x="6544" y="7696"/>
                  </a:moveTo>
                  <a:cubicBezTo>
                    <a:pt x="6320" y="8350"/>
                    <a:pt x="6145" y="9275"/>
                    <a:pt x="6027" y="10454"/>
                  </a:cubicBezTo>
                  <a:cubicBezTo>
                    <a:pt x="5909" y="11622"/>
                    <a:pt x="5849" y="12995"/>
                    <a:pt x="5849" y="14529"/>
                  </a:cubicBezTo>
                  <a:cubicBezTo>
                    <a:pt x="5849" y="15869"/>
                    <a:pt x="5907" y="17098"/>
                    <a:pt x="6023" y="18184"/>
                  </a:cubicBezTo>
                  <a:cubicBezTo>
                    <a:pt x="6137" y="19269"/>
                    <a:pt x="6299" y="20122"/>
                    <a:pt x="6505" y="20709"/>
                  </a:cubicBezTo>
                  <a:cubicBezTo>
                    <a:pt x="6709" y="21301"/>
                    <a:pt x="6946" y="21600"/>
                    <a:pt x="7208" y="21600"/>
                  </a:cubicBezTo>
                  <a:cubicBezTo>
                    <a:pt x="7515" y="21600"/>
                    <a:pt x="7776" y="21279"/>
                    <a:pt x="7986" y="20653"/>
                  </a:cubicBezTo>
                  <a:lnTo>
                    <a:pt x="7994" y="20631"/>
                  </a:lnTo>
                  <a:lnTo>
                    <a:pt x="7994" y="17569"/>
                  </a:lnTo>
                  <a:lnTo>
                    <a:pt x="7968" y="17674"/>
                  </a:lnTo>
                  <a:cubicBezTo>
                    <a:pt x="7873" y="18029"/>
                    <a:pt x="7766" y="18317"/>
                    <a:pt x="7652" y="18521"/>
                  </a:cubicBezTo>
                  <a:cubicBezTo>
                    <a:pt x="7538" y="18732"/>
                    <a:pt x="7434" y="18831"/>
                    <a:pt x="7344" y="18831"/>
                  </a:cubicBezTo>
                  <a:cubicBezTo>
                    <a:pt x="7090" y="18831"/>
                    <a:pt x="6887" y="18422"/>
                    <a:pt x="6740" y="17613"/>
                  </a:cubicBezTo>
                  <a:cubicBezTo>
                    <a:pt x="6593" y="16805"/>
                    <a:pt x="6518" y="15670"/>
                    <a:pt x="6518" y="14241"/>
                  </a:cubicBezTo>
                  <a:cubicBezTo>
                    <a:pt x="6518" y="12802"/>
                    <a:pt x="6596" y="11633"/>
                    <a:pt x="6749" y="10781"/>
                  </a:cubicBezTo>
                  <a:cubicBezTo>
                    <a:pt x="6902" y="9922"/>
                    <a:pt x="7106" y="9485"/>
                    <a:pt x="7353" y="9485"/>
                  </a:cubicBezTo>
                  <a:cubicBezTo>
                    <a:pt x="7566" y="9485"/>
                    <a:pt x="7772" y="9856"/>
                    <a:pt x="7968" y="10592"/>
                  </a:cubicBezTo>
                  <a:lnTo>
                    <a:pt x="7994" y="10692"/>
                  </a:lnTo>
                  <a:lnTo>
                    <a:pt x="7994" y="7469"/>
                  </a:lnTo>
                  <a:lnTo>
                    <a:pt x="7986" y="7447"/>
                  </a:lnTo>
                  <a:cubicBezTo>
                    <a:pt x="7912" y="7231"/>
                    <a:pt x="7812" y="7054"/>
                    <a:pt x="7688" y="6921"/>
                  </a:cubicBezTo>
                  <a:cubicBezTo>
                    <a:pt x="7564" y="6788"/>
                    <a:pt x="7442" y="6722"/>
                    <a:pt x="7328" y="6722"/>
                  </a:cubicBezTo>
                  <a:cubicBezTo>
                    <a:pt x="7031" y="6722"/>
                    <a:pt x="6768" y="7049"/>
                    <a:pt x="6544" y="7696"/>
                  </a:cubicBezTo>
                  <a:close/>
                  <a:moveTo>
                    <a:pt x="5406" y="7065"/>
                  </a:moveTo>
                  <a:lnTo>
                    <a:pt x="4760" y="7065"/>
                  </a:lnTo>
                  <a:lnTo>
                    <a:pt x="4760" y="21257"/>
                  </a:lnTo>
                  <a:lnTo>
                    <a:pt x="5406" y="21257"/>
                  </a:lnTo>
                  <a:lnTo>
                    <a:pt x="5406" y="7065"/>
                  </a:lnTo>
                  <a:close/>
                  <a:moveTo>
                    <a:pt x="4815" y="1573"/>
                  </a:moveTo>
                  <a:cubicBezTo>
                    <a:pt x="4739" y="1944"/>
                    <a:pt x="4700" y="2414"/>
                    <a:pt x="4700" y="2968"/>
                  </a:cubicBezTo>
                  <a:cubicBezTo>
                    <a:pt x="4700" y="3510"/>
                    <a:pt x="4738" y="3970"/>
                    <a:pt x="4814" y="4330"/>
                  </a:cubicBezTo>
                  <a:cubicBezTo>
                    <a:pt x="4889" y="4695"/>
                    <a:pt x="4982" y="4878"/>
                    <a:pt x="5090" y="4878"/>
                  </a:cubicBezTo>
                  <a:cubicBezTo>
                    <a:pt x="5197" y="4878"/>
                    <a:pt x="5290" y="4695"/>
                    <a:pt x="5367" y="4330"/>
                  </a:cubicBezTo>
                  <a:cubicBezTo>
                    <a:pt x="5443" y="3970"/>
                    <a:pt x="5482" y="3510"/>
                    <a:pt x="5482" y="2968"/>
                  </a:cubicBezTo>
                  <a:cubicBezTo>
                    <a:pt x="5482" y="2436"/>
                    <a:pt x="5444" y="1971"/>
                    <a:pt x="5370" y="1589"/>
                  </a:cubicBezTo>
                  <a:cubicBezTo>
                    <a:pt x="5296" y="1207"/>
                    <a:pt x="5202" y="1019"/>
                    <a:pt x="5090" y="1019"/>
                  </a:cubicBezTo>
                  <a:cubicBezTo>
                    <a:pt x="4984" y="1019"/>
                    <a:pt x="4891" y="1202"/>
                    <a:pt x="4815" y="1573"/>
                  </a:cubicBezTo>
                  <a:close/>
                  <a:moveTo>
                    <a:pt x="3481" y="21257"/>
                  </a:moveTo>
                  <a:lnTo>
                    <a:pt x="4139" y="21257"/>
                  </a:lnTo>
                  <a:lnTo>
                    <a:pt x="4139" y="1451"/>
                  </a:lnTo>
                  <a:lnTo>
                    <a:pt x="3229" y="1451"/>
                  </a:lnTo>
                  <a:lnTo>
                    <a:pt x="2071" y="16157"/>
                  </a:lnTo>
                  <a:lnTo>
                    <a:pt x="948" y="1451"/>
                  </a:lnTo>
                  <a:lnTo>
                    <a:pt x="0" y="1451"/>
                  </a:lnTo>
                  <a:lnTo>
                    <a:pt x="0" y="21257"/>
                  </a:lnTo>
                  <a:lnTo>
                    <a:pt x="619" y="21257"/>
                  </a:lnTo>
                  <a:lnTo>
                    <a:pt x="619" y="6013"/>
                  </a:lnTo>
                  <a:lnTo>
                    <a:pt x="640" y="6013"/>
                  </a:lnTo>
                  <a:lnTo>
                    <a:pt x="1825" y="21257"/>
                  </a:lnTo>
                  <a:lnTo>
                    <a:pt x="2293" y="21257"/>
                  </a:lnTo>
                  <a:lnTo>
                    <a:pt x="3460" y="6019"/>
                  </a:lnTo>
                  <a:lnTo>
                    <a:pt x="3481" y="6019"/>
                  </a:lnTo>
                  <a:lnTo>
                    <a:pt x="3481" y="21257"/>
                  </a:lnTo>
                  <a:close/>
                </a:path>
              </a:pathLst>
            </a:custGeom>
            <a:solidFill>
              <a:schemeClr val="bg1"/>
            </a:solidFill>
            <a:ln w="12700" cap="flat">
              <a:noFill/>
              <a:miter lim="400000"/>
            </a:ln>
            <a:effectLst/>
          </p:spPr>
          <p:txBody>
            <a:bodyPr wrap="square" lIns="91440" tIns="91440" rIns="91440" bIns="91440" numCol="1" anchor="ctr">
              <a:normAutofit fontScale="7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sp>
          <p:nvSpPr>
            <p:cNvPr id="476" name="Square">
              <a:extLst>
                <a:ext uri="{FF2B5EF4-FFF2-40B4-BE49-F238E27FC236}">
                  <a16:creationId xmlns:a16="http://schemas.microsoft.com/office/drawing/2014/main" id="{7C035E67-49FE-A0A0-C340-39AE53D513FF}"/>
                </a:ext>
              </a:extLst>
            </p:cNvPr>
            <p:cNvSpPr/>
            <p:nvPr/>
          </p:nvSpPr>
          <p:spPr>
            <a:xfrm>
              <a:off x="0" y="0"/>
              <a:ext cx="794417" cy="794417"/>
            </a:xfrm>
            <a:prstGeom prst="rect">
              <a:avLst/>
            </a:prstGeom>
            <a:solidFill>
              <a:srgbClr val="F1511B"/>
            </a:solidFill>
            <a:ln w="12700" cap="flat">
              <a:noFill/>
              <a:miter lim="400000"/>
            </a:ln>
            <a:effectLst/>
          </p:spPr>
          <p:txBody>
            <a:bodyPr wrap="square" lIns="91440" tIns="91440" rIns="91440" bIns="91440" numCol="1" anchor="ctr">
              <a:normAutofit fontScale="4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sp>
          <p:nvSpPr>
            <p:cNvPr id="477" name="Square">
              <a:extLst>
                <a:ext uri="{FF2B5EF4-FFF2-40B4-BE49-F238E27FC236}">
                  <a16:creationId xmlns:a16="http://schemas.microsoft.com/office/drawing/2014/main" id="{3FB95B31-9FEA-4BDC-D6BE-CB57C8040ED6}"/>
                </a:ext>
              </a:extLst>
            </p:cNvPr>
            <p:cNvSpPr/>
            <p:nvPr/>
          </p:nvSpPr>
          <p:spPr>
            <a:xfrm>
              <a:off x="877373" y="0"/>
              <a:ext cx="794418" cy="794417"/>
            </a:xfrm>
            <a:prstGeom prst="rect">
              <a:avLst/>
            </a:prstGeom>
            <a:solidFill>
              <a:srgbClr val="80CC28"/>
            </a:solidFill>
            <a:ln w="12700" cap="flat">
              <a:noFill/>
              <a:miter lim="400000"/>
            </a:ln>
            <a:effectLst/>
          </p:spPr>
          <p:txBody>
            <a:bodyPr wrap="square" lIns="91440" tIns="91440" rIns="91440" bIns="91440" numCol="1" anchor="ctr">
              <a:normAutofit fontScale="4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sp>
          <p:nvSpPr>
            <p:cNvPr id="478" name="Square">
              <a:extLst>
                <a:ext uri="{FF2B5EF4-FFF2-40B4-BE49-F238E27FC236}">
                  <a16:creationId xmlns:a16="http://schemas.microsoft.com/office/drawing/2014/main" id="{02C75AD1-ACDE-DD9A-3EEB-A8103362093F}"/>
                </a:ext>
              </a:extLst>
            </p:cNvPr>
            <p:cNvSpPr/>
            <p:nvPr/>
          </p:nvSpPr>
          <p:spPr>
            <a:xfrm>
              <a:off x="0" y="876140"/>
              <a:ext cx="794417" cy="794418"/>
            </a:xfrm>
            <a:prstGeom prst="rect">
              <a:avLst/>
            </a:prstGeom>
            <a:solidFill>
              <a:srgbClr val="00ADEF"/>
            </a:solidFill>
            <a:ln w="12700" cap="flat">
              <a:noFill/>
              <a:miter lim="400000"/>
            </a:ln>
            <a:effectLst/>
          </p:spPr>
          <p:txBody>
            <a:bodyPr wrap="square" lIns="91440" tIns="91440" rIns="91440" bIns="91440" numCol="1" anchor="ctr">
              <a:normAutofit fontScale="4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sp>
          <p:nvSpPr>
            <p:cNvPr id="479" name="Square">
              <a:extLst>
                <a:ext uri="{FF2B5EF4-FFF2-40B4-BE49-F238E27FC236}">
                  <a16:creationId xmlns:a16="http://schemas.microsoft.com/office/drawing/2014/main" id="{91845119-B191-D44F-64B7-6F99B07F4722}"/>
                </a:ext>
              </a:extLst>
            </p:cNvPr>
            <p:cNvSpPr/>
            <p:nvPr/>
          </p:nvSpPr>
          <p:spPr>
            <a:xfrm>
              <a:off x="877372" y="876141"/>
              <a:ext cx="794419" cy="794420"/>
            </a:xfrm>
            <a:prstGeom prst="rect">
              <a:avLst/>
            </a:prstGeom>
            <a:solidFill>
              <a:srgbClr val="FBBC09"/>
            </a:solidFill>
            <a:ln w="12700" cap="flat">
              <a:noFill/>
              <a:miter lim="400000"/>
            </a:ln>
            <a:effectLst/>
          </p:spPr>
          <p:txBody>
            <a:bodyPr wrap="square" lIns="91440" tIns="91440" rIns="91440" bIns="91440" numCol="1" anchor="ctr">
              <a:normAutofit fontScale="47500" lnSpcReduction="20000"/>
            </a:bodyPr>
            <a:lstStyle/>
            <a:p>
              <a:pPr defTabSz="914400">
                <a:spcBef>
                  <a:spcPts val="2200"/>
                </a:spcBef>
                <a:defRPr sz="3200">
                  <a:solidFill>
                    <a:srgbClr val="FFFFFF"/>
                  </a:solidFill>
                </a:defRPr>
              </a:pPr>
              <a:endParaRPr sz="3200" kern="0">
                <a:solidFill>
                  <a:srgbClr val="FFFFFF"/>
                </a:solidFill>
                <a:latin typeface="Arial"/>
              </a:endParaRPr>
            </a:p>
          </p:txBody>
        </p:sp>
      </p:grpSp>
    </p:spTree>
    <p:extLst>
      <p:ext uri="{BB962C8B-B14F-4D97-AF65-F5344CB8AC3E}">
        <p14:creationId xmlns:p14="http://schemas.microsoft.com/office/powerpoint/2010/main" val="417283834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2257667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6789051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MM_SLIDE_TYPE" val="6"/>
</p:tagLst>
</file>

<file path=ppt/tags/tag2.xml><?xml version="1.0" encoding="utf-8"?>
<p:tagLst xmlns:a="http://schemas.openxmlformats.org/drawingml/2006/main" xmlns:r="http://schemas.openxmlformats.org/officeDocument/2006/relationships" xmlns:p="http://schemas.openxmlformats.org/presentationml/2006/main">
  <p:tag name="MM_SLIDE_TYPE" val="6"/>
</p:tagLst>
</file>

<file path=ppt/tags/tag3.xml><?xml version="1.0" encoding="utf-8"?>
<p:tagLst xmlns:a="http://schemas.openxmlformats.org/drawingml/2006/main" xmlns:r="http://schemas.openxmlformats.org/officeDocument/2006/relationships" xmlns:p="http://schemas.openxmlformats.org/presentationml/2006/main">
  <p:tag name="MM_SLIDE_TYPE" val="6"/>
</p:tagLst>
</file>

<file path=ppt/tags/tag4.xml><?xml version="1.0" encoding="utf-8"?>
<p:tagLst xmlns:a="http://schemas.openxmlformats.org/drawingml/2006/main" xmlns:r="http://schemas.openxmlformats.org/officeDocument/2006/relationships" xmlns:p="http://schemas.openxmlformats.org/presentationml/2006/main">
  <p:tag name="MM_SLIDE_TYPE" val="6"/>
</p:tagLst>
</file>

<file path=ppt/tags/tag5.xml><?xml version="1.0" encoding="utf-8"?>
<p:tagLst xmlns:a="http://schemas.openxmlformats.org/drawingml/2006/main" xmlns:r="http://schemas.openxmlformats.org/officeDocument/2006/relationships" xmlns:p="http://schemas.openxmlformats.org/presentationml/2006/main">
  <p:tag name="MM_SLIDE_TYPE" val="6"/>
</p:tagLst>
</file>

<file path=ppt/tags/tag6.xml><?xml version="1.0" encoding="utf-8"?>
<p:tagLst xmlns:a="http://schemas.openxmlformats.org/drawingml/2006/main" xmlns:r="http://schemas.openxmlformats.org/officeDocument/2006/relationships" xmlns:p="http://schemas.openxmlformats.org/presentationml/2006/main">
  <p:tag name="MM_SLIDE_TYPE" val="6"/>
</p:tagLst>
</file>

<file path=ppt/tags/tag7.xml><?xml version="1.0" encoding="utf-8"?>
<p:tagLst xmlns:a="http://schemas.openxmlformats.org/drawingml/2006/main" xmlns:r="http://schemas.openxmlformats.org/officeDocument/2006/relationships" xmlns:p="http://schemas.openxmlformats.org/presentationml/2006/main">
  <p:tag name="NAME" val="CustomIcon"/>
</p:tagLst>
</file>

<file path=ppt/tags/tag8.xml><?xml version="1.0" encoding="utf-8"?>
<p:tagLst xmlns:a="http://schemas.openxmlformats.org/drawingml/2006/main" xmlns:r="http://schemas.openxmlformats.org/officeDocument/2006/relationships" xmlns:p="http://schemas.openxmlformats.org/presentationml/2006/main">
  <p:tag name="NAME" val="CustomIcon"/>
</p:tagLst>
</file>

<file path=ppt/tags/tag9.xml><?xml version="1.0" encoding="utf-8"?>
<p:tagLst xmlns:a="http://schemas.openxmlformats.org/drawingml/2006/main" xmlns:r="http://schemas.openxmlformats.org/officeDocument/2006/relationships" xmlns:p="http://schemas.openxmlformats.org/presentationml/2006/main">
  <p:tag name="NAME" val="CustomIcon"/>
</p:tagLst>
</file>

<file path=ppt/tags/tag10.xml><?xml version="1.0" encoding="utf-8"?>
<p:tagLst xmlns:a="http://schemas.openxmlformats.org/drawingml/2006/main" xmlns:r="http://schemas.openxmlformats.org/officeDocument/2006/relationships" xmlns:p="http://schemas.openxmlformats.org/presentationml/2006/main">
  <p:tag name="NAME" val="CustomIcon"/>
</p:tagLst>
</file>

<file path=ppt/tags/tag11.xml><?xml version="1.0" encoding="utf-8"?>
<p:tagLst xmlns:a="http://schemas.openxmlformats.org/drawingml/2006/main" xmlns:r="http://schemas.openxmlformats.org/officeDocument/2006/relationships" xmlns:p="http://schemas.openxmlformats.org/presentationml/2006/main">
  <p:tag name="NAME" val="CustomIcon"/>
</p:tagLst>
</file>

<file path=ppt/tags/tag12.xml><?xml version="1.0" encoding="utf-8"?>
<p:tagLst xmlns:a="http://schemas.openxmlformats.org/drawingml/2006/main" xmlns:r="http://schemas.openxmlformats.org/officeDocument/2006/relationships" xmlns:p="http://schemas.openxmlformats.org/presentationml/2006/main">
  <p:tag name="NAME" val="CustomIcon"/>
</p:tagLst>
</file>

<file path=ppt/tags/tag13.xml><?xml version="1.0" encoding="utf-8"?>
<p:tagLst xmlns:a="http://schemas.openxmlformats.org/drawingml/2006/main" xmlns:r="http://schemas.openxmlformats.org/officeDocument/2006/relationships" xmlns:p="http://schemas.openxmlformats.org/presentationml/2006/main">
  <p:tag name="NAME" val="CustomIcon"/>
</p:tagLst>
</file>

<file path=ppt/tags/tag14.xml><?xml version="1.0" encoding="utf-8"?>
<p:tagLst xmlns:a="http://schemas.openxmlformats.org/drawingml/2006/main" xmlns:r="http://schemas.openxmlformats.org/officeDocument/2006/relationships" xmlns:p="http://schemas.openxmlformats.org/presentationml/2006/main">
  <p:tag name="NAME" val="CustomIcon"/>
</p:tagLst>
</file>

<file path=ppt/tags/tag15.xml><?xml version="1.0" encoding="utf-8"?>
<p:tagLst xmlns:a="http://schemas.openxmlformats.org/drawingml/2006/main" xmlns:r="http://schemas.openxmlformats.org/officeDocument/2006/relationships" xmlns:p="http://schemas.openxmlformats.org/presentationml/2006/main">
  <p:tag name="NAME" val="CustomIcon"/>
</p:tagLst>
</file>

<file path=ppt/tags/tag16.xml><?xml version="1.0" encoding="utf-8"?>
<p:tagLst xmlns:a="http://schemas.openxmlformats.org/drawingml/2006/main" xmlns:r="http://schemas.openxmlformats.org/officeDocument/2006/relationships" xmlns:p="http://schemas.openxmlformats.org/presentationml/2006/main">
  <p:tag name="NAME" val="CustomIcon"/>
</p:tagLst>
</file>

<file path=ppt/tags/tag17.xml><?xml version="1.0" encoding="utf-8"?>
<p:tagLst xmlns:a="http://schemas.openxmlformats.org/drawingml/2006/main" xmlns:r="http://schemas.openxmlformats.org/officeDocument/2006/relationships" xmlns:p="http://schemas.openxmlformats.org/presentationml/2006/main">
  <p:tag name="NAME" val="CustomIcon"/>
</p:tagLst>
</file>

<file path=ppt/tags/tag18.xml><?xml version="1.0" encoding="utf-8"?>
<p:tagLst xmlns:a="http://schemas.openxmlformats.org/drawingml/2006/main" xmlns:r="http://schemas.openxmlformats.org/officeDocument/2006/relationships" xmlns:p="http://schemas.openxmlformats.org/presentationml/2006/main">
  <p:tag name="NAME" val="CustomIcon"/>
</p:tagLst>
</file>

<file path=ppt/tags/tag19.xml><?xml version="1.0" encoding="utf-8"?>
<p:tagLst xmlns:a="http://schemas.openxmlformats.org/drawingml/2006/main" xmlns:r="http://schemas.openxmlformats.org/officeDocument/2006/relationships" xmlns:p="http://schemas.openxmlformats.org/presentationml/2006/main">
  <p:tag name="NAME" val="CustomIcon"/>
</p:tagLst>
</file>

<file path=ppt/tags/tag20.xml><?xml version="1.0" encoding="utf-8"?>
<p:tagLst xmlns:a="http://schemas.openxmlformats.org/drawingml/2006/main" xmlns:r="http://schemas.openxmlformats.org/officeDocument/2006/relationships" xmlns:p="http://schemas.openxmlformats.org/presentationml/2006/main">
  <p:tag name="NAME" val="CustomIcon"/>
</p:tagLst>
</file>

<file path=ppt/tags/tag21.xml><?xml version="1.0" encoding="utf-8"?>
<p:tagLst xmlns:a="http://schemas.openxmlformats.org/drawingml/2006/main" xmlns:r="http://schemas.openxmlformats.org/officeDocument/2006/relationships" xmlns:p="http://schemas.openxmlformats.org/presentationml/2006/main">
  <p:tag name="NAME" val="CustomIcon"/>
</p:tagLst>
</file>

<file path=ppt/tags/tag22.xml><?xml version="1.0" encoding="utf-8"?>
<p:tagLst xmlns:a="http://schemas.openxmlformats.org/drawingml/2006/main" xmlns:r="http://schemas.openxmlformats.org/officeDocument/2006/relationships" xmlns:p="http://schemas.openxmlformats.org/presentationml/2006/main">
  <p:tag name="NAME" val="CustomIcon"/>
</p:tagLst>
</file>

<file path=ppt/tags/tag23.xml><?xml version="1.0" encoding="utf-8"?>
<p:tagLst xmlns:a="http://schemas.openxmlformats.org/drawingml/2006/main" xmlns:r="http://schemas.openxmlformats.org/officeDocument/2006/relationships" xmlns:p="http://schemas.openxmlformats.org/presentationml/2006/main">
  <p:tag name="NAME" val="CustomIcon"/>
</p:tagLst>
</file>

<file path=ppt/tags/tag24.xml><?xml version="1.0" encoding="utf-8"?>
<p:tagLst xmlns:a="http://schemas.openxmlformats.org/drawingml/2006/main" xmlns:r="http://schemas.openxmlformats.org/officeDocument/2006/relationships" xmlns:p="http://schemas.openxmlformats.org/presentationml/2006/main">
  <p:tag name="NAME" val="CustomIcon"/>
</p:tagLst>
</file>

<file path=ppt/tags/tag25.xml><?xml version="1.0" encoding="utf-8"?>
<p:tagLst xmlns:a="http://schemas.openxmlformats.org/drawingml/2006/main" xmlns:r="http://schemas.openxmlformats.org/officeDocument/2006/relationships" xmlns:p="http://schemas.openxmlformats.org/presentationml/2006/main">
  <p:tag name="NAME" val="CustomIcon"/>
</p:tagLst>
</file>

<file path=ppt/tags/tag26.xml><?xml version="1.0" encoding="utf-8"?>
<p:tagLst xmlns:a="http://schemas.openxmlformats.org/drawingml/2006/main" xmlns:r="http://schemas.openxmlformats.org/officeDocument/2006/relationships" xmlns:p="http://schemas.openxmlformats.org/presentationml/2006/main">
  <p:tag name="NAME" val="CustomIcon"/>
</p:tagLst>
</file>

<file path=ppt/tags/tag27.xml><?xml version="1.0" encoding="utf-8"?>
<p:tagLst xmlns:a="http://schemas.openxmlformats.org/drawingml/2006/main" xmlns:r="http://schemas.openxmlformats.org/officeDocument/2006/relationships" xmlns:p="http://schemas.openxmlformats.org/presentationml/2006/main">
  <p:tag name="NAME" val="CustomIcon"/>
</p:tagLst>
</file>

<file path=ppt/tags/tag28.xml><?xml version="1.0" encoding="utf-8"?>
<p:tagLst xmlns:a="http://schemas.openxmlformats.org/drawingml/2006/main" xmlns:r="http://schemas.openxmlformats.org/officeDocument/2006/relationships" xmlns:p="http://schemas.openxmlformats.org/presentationml/2006/main">
  <p:tag name="NAME" val="CustomIcon"/>
</p:tagLst>
</file>

<file path=ppt/tags/tag29.xml><?xml version="1.0" encoding="utf-8"?>
<p:tagLst xmlns:a="http://schemas.openxmlformats.org/drawingml/2006/main" xmlns:r="http://schemas.openxmlformats.org/officeDocument/2006/relationships" xmlns:p="http://schemas.openxmlformats.org/presentationml/2006/main">
  <p:tag name="NAME" val="CustomIcon"/>
</p:tagLst>
</file>

<file path=ppt/tags/tag30.xml><?xml version="1.0" encoding="utf-8"?>
<p:tagLst xmlns:a="http://schemas.openxmlformats.org/drawingml/2006/main" xmlns:r="http://schemas.openxmlformats.org/officeDocument/2006/relationships" xmlns:p="http://schemas.openxmlformats.org/presentationml/2006/main">
  <p:tag name="NAME" val="CustomIcon"/>
</p:tagLst>
</file>

<file path=ppt/tags/tag31.xml><?xml version="1.0" encoding="utf-8"?>
<p:tagLst xmlns:a="http://schemas.openxmlformats.org/drawingml/2006/main" xmlns:r="http://schemas.openxmlformats.org/officeDocument/2006/relationships" xmlns:p="http://schemas.openxmlformats.org/presentationml/2006/main">
  <p:tag name="NAME" val="CustomIcon"/>
</p:tagLst>
</file>

<file path=ppt/tags/tag32.xml><?xml version="1.0" encoding="utf-8"?>
<p:tagLst xmlns:a="http://schemas.openxmlformats.org/drawingml/2006/main" xmlns:r="http://schemas.openxmlformats.org/officeDocument/2006/relationships" xmlns:p="http://schemas.openxmlformats.org/presentationml/2006/main">
  <p:tag name="NAME" val="CustomIcon"/>
</p:tagLst>
</file>

<file path=ppt/theme/theme1.xml><?xml version="1.0" encoding="utf-8"?>
<a:theme xmlns:a="http://schemas.openxmlformats.org/drawingml/2006/main" name="4_Content Slides">
  <a:themeElements>
    <a:clrScheme name="RXT2020">
      <a:dk1>
        <a:srgbClr val="000000"/>
      </a:dk1>
      <a:lt1>
        <a:srgbClr val="FFFFFF"/>
      </a:lt1>
      <a:dk2>
        <a:srgbClr val="EB0000"/>
      </a:dk2>
      <a:lt2>
        <a:srgbClr val="EB0000"/>
      </a:lt2>
      <a:accent1>
        <a:srgbClr val="E6E6E6"/>
      </a:accent1>
      <a:accent2>
        <a:srgbClr val="95008A"/>
      </a:accent2>
      <a:accent3>
        <a:srgbClr val="F6D7F4"/>
      </a:accent3>
      <a:accent4>
        <a:srgbClr val="0059C8"/>
      </a:accent4>
      <a:accent5>
        <a:srgbClr val="D8EBF9"/>
      </a:accent5>
      <a:accent6>
        <a:srgbClr val="00BEBC"/>
      </a:accent6>
      <a:hlink>
        <a:srgbClr val="EB0000"/>
      </a:hlink>
      <a:folHlink>
        <a:srgbClr val="EB0000"/>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Rackspace Presentation Template-Updated_July 2021" id="{9DC0DFF7-4B98-4262-B9B0-4787C784AF89}" vid="{0BAECED5-D2FA-4AB6-BDCE-7A4DC20C2143}"/>
    </a:ext>
  </a:extLst>
</a:theme>
</file>

<file path=ppt/theme/theme2.xml><?xml version="1.0" encoding="utf-8"?>
<a:theme xmlns:a="http://schemas.openxmlformats.org/drawingml/2006/main" name="2_Titles and Breakers">
  <a:themeElements>
    <a:clrScheme name="RACKSPACE COLORS">
      <a:dk1>
        <a:sysClr val="windowText" lastClr="000000"/>
      </a:dk1>
      <a:lt1>
        <a:sysClr val="window" lastClr="FFFFFF"/>
      </a:lt1>
      <a:dk2>
        <a:srgbClr val="EB0000"/>
      </a:dk2>
      <a:lt2>
        <a:srgbClr val="EB0000"/>
      </a:lt2>
      <a:accent1>
        <a:srgbClr val="E6E6E6"/>
      </a:accent1>
      <a:accent2>
        <a:srgbClr val="95008A"/>
      </a:accent2>
      <a:accent3>
        <a:srgbClr val="F6D7F4"/>
      </a:accent3>
      <a:accent4>
        <a:srgbClr val="3300FC"/>
      </a:accent4>
      <a:accent5>
        <a:srgbClr val="E8F2FD"/>
      </a:accent5>
      <a:accent6>
        <a:srgbClr val="00C8BC"/>
      </a:accent6>
      <a:hlink>
        <a:srgbClr val="EB0000"/>
      </a:hlink>
      <a:folHlink>
        <a:srgbClr val="4472C4"/>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36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3600" dirty="0" err="1" smtClean="0"/>
        </a:defPPr>
      </a:lstStyle>
    </a:txDef>
  </a:objectDefaults>
  <a:extraClrSchemeLst/>
  <a:extLst>
    <a:ext uri="{05A4C25C-085E-4340-85A3-A5531E510DB2}">
      <thm15:themeFamily xmlns:thm15="http://schemas.microsoft.com/office/thememl/2012/main" name="Rackspace Presentation Template-Updated_July 2021" id="{9DC0DFF7-4B98-4262-B9B0-4787C784AF89}" vid="{6BC1B7C2-A54B-4E6B-BC00-FBFF31B13FE3}"/>
    </a:ext>
  </a:extLst>
</a:theme>
</file>

<file path=ppt/theme/theme3.xml><?xml version="1.0" encoding="utf-8"?>
<a:theme xmlns:a="http://schemas.openxmlformats.org/drawingml/2006/main" name="6_Content Slides">
  <a:themeElements>
    <a:clrScheme name="RXT2020">
      <a:dk1>
        <a:srgbClr val="000000"/>
      </a:dk1>
      <a:lt1>
        <a:srgbClr val="FFFFFF"/>
      </a:lt1>
      <a:dk2>
        <a:srgbClr val="EB0000"/>
      </a:dk2>
      <a:lt2>
        <a:srgbClr val="EB0000"/>
      </a:lt2>
      <a:accent1>
        <a:srgbClr val="E6E6E6"/>
      </a:accent1>
      <a:accent2>
        <a:srgbClr val="95008A"/>
      </a:accent2>
      <a:accent3>
        <a:srgbClr val="F6D7F4"/>
      </a:accent3>
      <a:accent4>
        <a:srgbClr val="0059C8"/>
      </a:accent4>
      <a:accent5>
        <a:srgbClr val="D8EBF9"/>
      </a:accent5>
      <a:accent6>
        <a:srgbClr val="00BEBC"/>
      </a:accent6>
      <a:hlink>
        <a:srgbClr val="EB0000"/>
      </a:hlink>
      <a:folHlink>
        <a:srgbClr val="EB0000"/>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Rackspace Presentation Template-Updated_July 2021" id="{9DC0DFF7-4B98-4262-B9B0-4787C784AF89}" vid="{5E6EA557-0305-46A3-ADF1-D52C877C392A}"/>
    </a:ext>
  </a:extLst>
</a:theme>
</file>

<file path=ppt/theme/theme4.xml><?xml version="1.0" encoding="utf-8"?>
<a:theme xmlns:a="http://schemas.openxmlformats.org/drawingml/2006/main" name="Rackspace 2023">
  <a:themeElements>
    <a:clrScheme name="RXT2020">
      <a:dk1>
        <a:srgbClr val="000000"/>
      </a:dk1>
      <a:lt1>
        <a:srgbClr val="FFFFFF"/>
      </a:lt1>
      <a:dk2>
        <a:srgbClr val="EB0000"/>
      </a:dk2>
      <a:lt2>
        <a:srgbClr val="EB0000"/>
      </a:lt2>
      <a:accent1>
        <a:srgbClr val="E6E6E6"/>
      </a:accent1>
      <a:accent2>
        <a:srgbClr val="95008A"/>
      </a:accent2>
      <a:accent3>
        <a:srgbClr val="F6D7F4"/>
      </a:accent3>
      <a:accent4>
        <a:srgbClr val="0059C8"/>
      </a:accent4>
      <a:accent5>
        <a:srgbClr val="D8EBF9"/>
      </a:accent5>
      <a:accent6>
        <a:srgbClr val="00BEBC"/>
      </a:accent6>
      <a:hlink>
        <a:srgbClr val="EB0000"/>
      </a:hlink>
      <a:folHlink>
        <a:srgbClr val="EB0000"/>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Rackspace 2023" id="{9BB2CC51-9438-4C35-8B2C-7A7A8B4F8208}" vid="{CC9A9EA2-656E-478E-A2A9-7E1377856A26}"/>
    </a:ext>
  </a:extLst>
</a:theme>
</file>

<file path=ppt/theme/theme5.xml><?xml version="1.0" encoding="utf-8"?>
<a:theme xmlns:a="http://schemas.openxmlformats.org/drawingml/2006/main" name="18_Content Slides">
  <a:themeElements>
    <a:clrScheme name="RXT2020">
      <a:dk1>
        <a:srgbClr val="000000"/>
      </a:dk1>
      <a:lt1>
        <a:srgbClr val="FFFFFF"/>
      </a:lt1>
      <a:dk2>
        <a:srgbClr val="EB0000"/>
      </a:dk2>
      <a:lt2>
        <a:srgbClr val="EB0000"/>
      </a:lt2>
      <a:accent1>
        <a:srgbClr val="E6E6E6"/>
      </a:accent1>
      <a:accent2>
        <a:srgbClr val="95008A"/>
      </a:accent2>
      <a:accent3>
        <a:srgbClr val="F6D7F4"/>
      </a:accent3>
      <a:accent4>
        <a:srgbClr val="0059C8"/>
      </a:accent4>
      <a:accent5>
        <a:srgbClr val="D8EBF9"/>
      </a:accent5>
      <a:accent6>
        <a:srgbClr val="00BEBC"/>
      </a:accent6>
      <a:hlink>
        <a:srgbClr val="EB0000"/>
      </a:hlink>
      <a:folHlink>
        <a:srgbClr val="EB0000"/>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2023-02-08 Rackspace Presentation Template" id="{790D1522-6AE7-0541-82FD-6183D1CAFA67}" vid="{0C21EC38-3C6D-A346-BDA6-917BABB8ED51}"/>
    </a:ext>
  </a:extLst>
</a:theme>
</file>

<file path=ppt/theme/theme6.xml><?xml version="1.0" encoding="utf-8"?>
<a:theme xmlns:a="http://schemas.openxmlformats.org/drawingml/2006/main" name="4_Titles and Breakers">
  <a:themeElements>
    <a:clrScheme name="RACKSPACE COLORS">
      <a:dk1>
        <a:sysClr val="windowText" lastClr="000000"/>
      </a:dk1>
      <a:lt1>
        <a:sysClr val="window" lastClr="FFFFFF"/>
      </a:lt1>
      <a:dk2>
        <a:srgbClr val="EB0000"/>
      </a:dk2>
      <a:lt2>
        <a:srgbClr val="EB0000"/>
      </a:lt2>
      <a:accent1>
        <a:srgbClr val="E6E6E6"/>
      </a:accent1>
      <a:accent2>
        <a:srgbClr val="95008A"/>
      </a:accent2>
      <a:accent3>
        <a:srgbClr val="F6D7F4"/>
      </a:accent3>
      <a:accent4>
        <a:srgbClr val="3300FC"/>
      </a:accent4>
      <a:accent5>
        <a:srgbClr val="E8F2FD"/>
      </a:accent5>
      <a:accent6>
        <a:srgbClr val="00C8BC"/>
      </a:accent6>
      <a:hlink>
        <a:srgbClr val="EB0000"/>
      </a:hlink>
      <a:folHlink>
        <a:srgbClr val="4472C4"/>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36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3600" dirty="0" err="1" smtClean="0"/>
        </a:defPPr>
      </a:lstStyle>
    </a:txDef>
  </a:objectDefaults>
  <a:extraClrSchemeLst/>
  <a:extLst>
    <a:ext uri="{05A4C25C-085E-4340-85A3-A5531E510DB2}">
      <thm15:themeFamily xmlns:thm15="http://schemas.microsoft.com/office/thememl/2012/main" name="Rackspace Presentation Template-Updated_July 2021" id="{9DC0DFF7-4B98-4262-B9B0-4787C784AF89}" vid="{6BC1B7C2-A54B-4E6B-BC00-FBFF31B13FE3}"/>
    </a:ext>
  </a:extLst>
</a:theme>
</file>

<file path=ppt/theme/theme7.xml><?xml version="1.0" encoding="utf-8"?>
<a:theme xmlns:a="http://schemas.openxmlformats.org/drawingml/2006/main" name="2_Content Slides">
  <a:themeElements>
    <a:clrScheme name="RXT2020">
      <a:dk1>
        <a:srgbClr val="000000"/>
      </a:dk1>
      <a:lt1>
        <a:srgbClr val="FFFFFF"/>
      </a:lt1>
      <a:dk2>
        <a:srgbClr val="EB0000"/>
      </a:dk2>
      <a:lt2>
        <a:srgbClr val="EB0000"/>
      </a:lt2>
      <a:accent1>
        <a:srgbClr val="E6E6E6"/>
      </a:accent1>
      <a:accent2>
        <a:srgbClr val="95008A"/>
      </a:accent2>
      <a:accent3>
        <a:srgbClr val="F6D7F4"/>
      </a:accent3>
      <a:accent4>
        <a:srgbClr val="0059C8"/>
      </a:accent4>
      <a:accent5>
        <a:srgbClr val="D8EBF9"/>
      </a:accent5>
      <a:accent6>
        <a:srgbClr val="00BEBC"/>
      </a:accent6>
      <a:hlink>
        <a:srgbClr val="EB0000"/>
      </a:hlink>
      <a:folHlink>
        <a:srgbClr val="EB0000"/>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Rackspace Presentation Template-Updated_July 2021" id="{9DC0DFF7-4B98-4262-B9B0-4787C784AF89}" vid="{0BAECED5-D2FA-4AB6-BDCE-7A4DC20C2143}"/>
    </a:ext>
  </a:extLst>
</a:theme>
</file>

<file path=ppt/theme/theme8.xml><?xml version="1.0" encoding="utf-8"?>
<a:theme xmlns:a="http://schemas.openxmlformats.org/drawingml/2006/main" name="6_Titles and Breakers">
  <a:themeElements>
    <a:clrScheme name="RACKSPACE COLORS">
      <a:dk1>
        <a:sysClr val="windowText" lastClr="000000"/>
      </a:dk1>
      <a:lt1>
        <a:sysClr val="window" lastClr="FFFFFF"/>
      </a:lt1>
      <a:dk2>
        <a:srgbClr val="EB0000"/>
      </a:dk2>
      <a:lt2>
        <a:srgbClr val="EB0000"/>
      </a:lt2>
      <a:accent1>
        <a:srgbClr val="E6E6E6"/>
      </a:accent1>
      <a:accent2>
        <a:srgbClr val="95008A"/>
      </a:accent2>
      <a:accent3>
        <a:srgbClr val="F6D7F4"/>
      </a:accent3>
      <a:accent4>
        <a:srgbClr val="3300FC"/>
      </a:accent4>
      <a:accent5>
        <a:srgbClr val="E8F2FD"/>
      </a:accent5>
      <a:accent6>
        <a:srgbClr val="00C8BC"/>
      </a:accent6>
      <a:hlink>
        <a:srgbClr val="EB0000"/>
      </a:hlink>
      <a:folHlink>
        <a:srgbClr val="4472C4"/>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36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3600" dirty="0" err="1" smtClean="0"/>
        </a:defPPr>
      </a:lstStyle>
    </a:txDef>
  </a:objectDefaults>
  <a:extraClrSchemeLst/>
  <a:extLst>
    <a:ext uri="{05A4C25C-085E-4340-85A3-A5531E510DB2}">
      <thm15:themeFamily xmlns:thm15="http://schemas.microsoft.com/office/thememl/2012/main" name="Rackspace Presentation Template-Updated_July 2021" id="{9DC0DFF7-4B98-4262-B9B0-4787C784AF89}" vid="{6BC1B7C2-A54B-4E6B-BC00-FBFF31B13FE3}"/>
    </a:ext>
  </a:extLst>
</a:theme>
</file>

<file path=ppt/theme/theme9.xml><?xml version="1.0" encoding="utf-8"?>
<a:theme xmlns:a="http://schemas.openxmlformats.org/drawingml/2006/main" name="3_Content Slides">
  <a:themeElements>
    <a:clrScheme name="Rackspace Colors">
      <a:dk1>
        <a:sysClr val="windowText" lastClr="000000"/>
      </a:dk1>
      <a:lt1>
        <a:sysClr val="window" lastClr="FFFFFF"/>
      </a:lt1>
      <a:dk2>
        <a:srgbClr val="EB0000"/>
      </a:dk2>
      <a:lt2>
        <a:srgbClr val="C40023"/>
      </a:lt2>
      <a:accent1>
        <a:srgbClr val="FFDEDF"/>
      </a:accent1>
      <a:accent2>
        <a:srgbClr val="95008A"/>
      </a:accent2>
      <a:accent3>
        <a:srgbClr val="F6D7F4"/>
      </a:accent3>
      <a:accent4>
        <a:srgbClr val="3300FC"/>
      </a:accent4>
      <a:accent5>
        <a:srgbClr val="E8F2FD"/>
      </a:accent5>
      <a:accent6>
        <a:srgbClr val="00C8BC"/>
      </a:accent6>
      <a:hlink>
        <a:srgbClr val="EB0000"/>
      </a:hlink>
      <a:folHlink>
        <a:srgbClr val="4472C4"/>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2019_Rackspace_Corporate Template_Final" id="{BD243B5E-A660-4A2D-A86C-E9A7143720F4}" vid="{989F1BD3-4AB3-423D-BADD-16CC6349B145}"/>
    </a:ext>
  </a:extLst>
</a:theme>
</file>

<file path=ppt/theme/theme10.xml><?xml version="1.0" encoding="utf-8"?>
<a:theme xmlns:a="http://schemas.openxmlformats.org/drawingml/2006/main" name="7_Content Slides">
  <a:themeElements>
    <a:clrScheme name="Rackspace 2022">
      <a:dk1>
        <a:srgbClr val="000000"/>
      </a:dk1>
      <a:lt1>
        <a:srgbClr val="FFFFFF"/>
      </a:lt1>
      <a:dk2>
        <a:srgbClr val="EB0000"/>
      </a:dk2>
      <a:lt2>
        <a:srgbClr val="EB0000"/>
      </a:lt2>
      <a:accent1>
        <a:srgbClr val="E6E6E6"/>
      </a:accent1>
      <a:accent2>
        <a:srgbClr val="95008A"/>
      </a:accent2>
      <a:accent3>
        <a:srgbClr val="F6D7F4"/>
      </a:accent3>
      <a:accent4>
        <a:srgbClr val="0059C8"/>
      </a:accent4>
      <a:accent5>
        <a:srgbClr val="D8EBF9"/>
      </a:accent5>
      <a:accent6>
        <a:srgbClr val="00BEBC"/>
      </a:accent6>
      <a:hlink>
        <a:srgbClr val="EB0000"/>
      </a:hlink>
      <a:folHlink>
        <a:srgbClr val="EB0000"/>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Presentation1" id="{06D57514-C1CE-4861-9236-3782C3B29C1A}" vid="{A31391CC-A32B-4E69-9218-0CD0190CABA3}"/>
    </a:ext>
  </a:extLst>
</a:theme>
</file>

<file path=ppt/theme/theme11.xml><?xml version="1.0" encoding="utf-8"?>
<a:theme xmlns:a="http://schemas.openxmlformats.org/drawingml/2006/main" name="8_Content Slides">
  <a:themeElements>
    <a:clrScheme name="Rackspace Colors">
      <a:dk1>
        <a:sysClr val="windowText" lastClr="000000"/>
      </a:dk1>
      <a:lt1>
        <a:sysClr val="window" lastClr="FFFFFF"/>
      </a:lt1>
      <a:dk2>
        <a:srgbClr val="EB0000"/>
      </a:dk2>
      <a:lt2>
        <a:srgbClr val="C40023"/>
      </a:lt2>
      <a:accent1>
        <a:srgbClr val="FFDEDF"/>
      </a:accent1>
      <a:accent2>
        <a:srgbClr val="95008A"/>
      </a:accent2>
      <a:accent3>
        <a:srgbClr val="F6D7F4"/>
      </a:accent3>
      <a:accent4>
        <a:srgbClr val="3300FC"/>
      </a:accent4>
      <a:accent5>
        <a:srgbClr val="E8F2FD"/>
      </a:accent5>
      <a:accent6>
        <a:srgbClr val="00C8BC"/>
      </a:accent6>
      <a:hlink>
        <a:srgbClr val="EB0000"/>
      </a:hlink>
      <a:folHlink>
        <a:srgbClr val="4472C4"/>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2019_Rackspace_Corporate Template_Final" id="{BD243B5E-A660-4A2D-A86C-E9A7143720F4}" vid="{989F1BD3-4AB3-423D-BADD-16CC6349B145}"/>
    </a:ext>
  </a:extLst>
</a:theme>
</file>

<file path=ppt/theme/theme12.xml><?xml version="1.0" encoding="utf-8"?>
<a:theme xmlns:a="http://schemas.openxmlformats.org/drawingml/2006/main" name="Content Slides">
  <a:themeElements>
    <a:clrScheme name="RXT2020">
      <a:dk1>
        <a:srgbClr val="000000"/>
      </a:dk1>
      <a:lt1>
        <a:srgbClr val="FFFFFF"/>
      </a:lt1>
      <a:dk2>
        <a:srgbClr val="EB0000"/>
      </a:dk2>
      <a:lt2>
        <a:srgbClr val="EB0000"/>
      </a:lt2>
      <a:accent1>
        <a:srgbClr val="E6E6E6"/>
      </a:accent1>
      <a:accent2>
        <a:srgbClr val="95008A"/>
      </a:accent2>
      <a:accent3>
        <a:srgbClr val="F6D7F4"/>
      </a:accent3>
      <a:accent4>
        <a:srgbClr val="0059C8"/>
      </a:accent4>
      <a:accent5>
        <a:srgbClr val="D8EBF9"/>
      </a:accent5>
      <a:accent6>
        <a:srgbClr val="00BEBC"/>
      </a:accent6>
      <a:hlink>
        <a:srgbClr val="EB0000"/>
      </a:hlink>
      <a:folHlink>
        <a:srgbClr val="EB0000"/>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Rackspace Presentation Template-Updated_July 2021" id="{9DC0DFF7-4B98-4262-B9B0-4787C784AF89}" vid="{0BAECED5-D2FA-4AB6-BDCE-7A4DC20C2143}"/>
    </a:ext>
  </a:extLst>
</a:theme>
</file>

<file path=ppt/theme/theme13.xml><?xml version="1.0" encoding="utf-8"?>
<a:theme xmlns:a="http://schemas.openxmlformats.org/drawingml/2006/main" name="1_Content Slides">
  <a:themeElements>
    <a:clrScheme name="RXT2020">
      <a:dk1>
        <a:srgbClr val="000000"/>
      </a:dk1>
      <a:lt1>
        <a:srgbClr val="FFFFFF"/>
      </a:lt1>
      <a:dk2>
        <a:srgbClr val="EB0000"/>
      </a:dk2>
      <a:lt2>
        <a:srgbClr val="EB0000"/>
      </a:lt2>
      <a:accent1>
        <a:srgbClr val="E6E6E6"/>
      </a:accent1>
      <a:accent2>
        <a:srgbClr val="95008A"/>
      </a:accent2>
      <a:accent3>
        <a:srgbClr val="F6D7F4"/>
      </a:accent3>
      <a:accent4>
        <a:srgbClr val="0059C8"/>
      </a:accent4>
      <a:accent5>
        <a:srgbClr val="D8EBF9"/>
      </a:accent5>
      <a:accent6>
        <a:srgbClr val="00BEBC"/>
      </a:accent6>
      <a:hlink>
        <a:srgbClr val="EB0000"/>
      </a:hlink>
      <a:folHlink>
        <a:srgbClr val="EB0000"/>
      </a:folHlink>
    </a:clrScheme>
    <a:fontScheme name="Custom 17">
      <a:majorFont>
        <a:latin typeface="Arial"/>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sz="1800" dirty="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defRPr sz="1800" dirty="0" err="1" smtClean="0"/>
        </a:defPPr>
      </a:lstStyle>
    </a:txDef>
  </a:objectDefaults>
  <a:extraClrSchemeLst/>
  <a:extLst>
    <a:ext uri="{05A4C25C-085E-4340-85A3-A5531E510DB2}">
      <thm15:themeFamily xmlns:thm15="http://schemas.microsoft.com/office/thememl/2012/main" name="Rackspace Presentation Template-Updated_July 2021" id="{9DC0DFF7-4B98-4262-B9B0-4787C784AF89}" vid="{0BAECED5-D2FA-4AB6-BDCE-7A4DC20C2143}"/>
    </a:ext>
  </a:extLst>
</a:theme>
</file>

<file path=ppt/theme/theme1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0">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C88EDB08-C564-D545-8C74-F0B6A2375E3B}">
  <we:reference id="wa104379997" version="2.0.0.0" store="en-US" storeType="OMEX"/>
  <we:alternateReferences>
    <we:reference id="wa104379997" version="2.0.0.0" store="WA104379997"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4544b03d-ed08-46e1-a5f8-632fc735be33" xsi:nil="true"/>
    <lcf76f155ced4ddcb4097134ff3c332f xmlns="236d467e-fe90-4ae0-9fe2-011d77897820">
      <Terms xmlns="http://schemas.microsoft.com/office/infopath/2007/PartnerControls"/>
    </lcf76f155ced4ddcb4097134ff3c332f>
    <Tag xmlns="236d467e-fe90-4ae0-9fe2-011d77897820" xsi:nil="true"/>
    <DateandTime xmlns="236d467e-fe90-4ae0-9fe2-011d77897820" xsi:nil="true"/>
    <AssignedTo xmlns="236d467e-fe90-4ae0-9fe2-011d77897820">
      <UserInfo>
        <DisplayName/>
        <AccountId xsi:nil="true"/>
        <AccountType/>
      </UserInfo>
    </AssignedTo>
    <_Flow_SignoffStatus xmlns="236d467e-fe90-4ae0-9fe2-011d77897820" xsi:nil="true"/>
    <_ip_UnifiedCompliancePolicyUIAction xmlns="http://schemas.microsoft.com/sharepoint/v3" xsi:nil="true"/>
    <_ip_UnifiedCompliancePolicyProperties xmlns="http://schemas.microsoft.com/sharepoint/v3"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B104D1C152C32946844AA72ED5B510AE" ma:contentTypeVersion="26" ma:contentTypeDescription="Create a new document." ma:contentTypeScope="" ma:versionID="bce43857724608d39763b478dc4c9a1d">
  <xsd:schema xmlns:xsd="http://www.w3.org/2001/XMLSchema" xmlns:xs="http://www.w3.org/2001/XMLSchema" xmlns:p="http://schemas.microsoft.com/office/2006/metadata/properties" xmlns:ns1="http://schemas.microsoft.com/sharepoint/v3" xmlns:ns2="236d467e-fe90-4ae0-9fe2-011d77897820" xmlns:ns3="4544b03d-ed08-46e1-a5f8-632fc735be33" targetNamespace="http://schemas.microsoft.com/office/2006/metadata/properties" ma:root="true" ma:fieldsID="1b16391487ab9acfbea2741ef6c7ba04" ns1:_="" ns2:_="" ns3:_="">
    <xsd:import namespace="http://schemas.microsoft.com/sharepoint/v3"/>
    <xsd:import namespace="236d467e-fe90-4ae0-9fe2-011d77897820"/>
    <xsd:import namespace="4544b03d-ed08-46e1-a5f8-632fc735be33"/>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DateTaken" minOccurs="0"/>
                <xsd:element ref="ns2:MediaServiceLocation" minOccurs="0"/>
                <xsd:element ref="ns3:SharedWithUsers" minOccurs="0"/>
                <xsd:element ref="ns3:SharedWithDetails" minOccurs="0"/>
                <xsd:element ref="ns2:MediaServiceGenerationTime" minOccurs="0"/>
                <xsd:element ref="ns2:MediaServiceEventHashCode" minOccurs="0"/>
                <xsd:element ref="ns2:_Flow_SignoffStatus" minOccurs="0"/>
                <xsd:element ref="ns2:MediaServiceAutoKeyPoints" minOccurs="0"/>
                <xsd:element ref="ns2:MediaServiceKeyPoints" minOccurs="0"/>
                <xsd:element ref="ns2:MediaLengthInSeconds" minOccurs="0"/>
                <xsd:element ref="ns2:lcf76f155ced4ddcb4097134ff3c332f" minOccurs="0"/>
                <xsd:element ref="ns3:TaxCatchAll" minOccurs="0"/>
                <xsd:element ref="ns2:DateandTime" minOccurs="0"/>
                <xsd:element ref="ns2:MediaServiceObjectDetectorVersions" minOccurs="0"/>
                <xsd:element ref="ns2:AssignedTo" minOccurs="0"/>
                <xsd:element ref="ns2:MediaServiceSearchProperties" minOccurs="0"/>
                <xsd:element ref="ns2:Tag" minOccurs="0"/>
                <xsd:element ref="ns2:MediaServiceBillingMetadata" minOccurs="0"/>
                <xsd:element ref="ns1:_ip_UnifiedCompliancePolicyProperties" minOccurs="0"/>
                <xsd:element ref="ns1:_ip_UnifiedCompliancePolicyUIAc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31" nillable="true" ma:displayName="Unified Compliance Policy Properties" ma:hidden="true" ma:internalName="_ip_UnifiedCompliancePolicyProperties">
      <xsd:simpleType>
        <xsd:restriction base="dms:Note"/>
      </xsd:simpleType>
    </xsd:element>
    <xsd:element name="_ip_UnifiedCompliancePolicyUIAction" ma:index="32"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236d467e-fe90-4ae0-9fe2-011d77897820"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DateTaken" ma:index="12" nillable="true" ma:displayName="MediaServiceDateTaken" ma:hidden="true" ma:internalName="MediaServiceDateTaken" ma:readOnly="true">
      <xsd:simpleType>
        <xsd:restriction base="dms:Text"/>
      </xsd:simpleType>
    </xsd:element>
    <xsd:element name="MediaServiceLocation" ma:index="13" nillable="true" ma:displayName="Location" ma:internalName="MediaServiceLocation"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_Flow_SignoffStatus" ma:index="18" nillable="true" ma:displayName="Sign-off status" ma:internalName="Sign_x002d_off_x0020_status">
      <xsd:simpleType>
        <xsd:restriction base="dms:Text"/>
      </xsd:simpleType>
    </xsd:element>
    <xsd:element name="MediaServiceAutoKeyPoints" ma:index="19" nillable="true" ma:displayName="MediaServiceAutoKeyPoints" ma:hidden="true" ma:internalName="MediaServiceAutoKeyPoints" ma:readOnly="true">
      <xsd:simpleType>
        <xsd:restriction base="dms:Note"/>
      </xsd:simpleType>
    </xsd:element>
    <xsd:element name="MediaServiceKeyPoints" ma:index="20" nillable="true" ma:displayName="KeyPoints" ma:internalName="MediaServiceKeyPoints" ma:readOnly="true">
      <xsd:simpleType>
        <xsd:restriction base="dms:Note">
          <xsd:maxLength value="255"/>
        </xsd:restriction>
      </xsd:simpleType>
    </xsd:element>
    <xsd:element name="MediaLengthInSeconds" ma:index="21" nillable="true" ma:displayName="Length (seconds)" ma:internalName="MediaLengthInSeconds" ma:readOnly="true">
      <xsd:simpleType>
        <xsd:restriction base="dms:Unknown"/>
      </xsd:simpleType>
    </xsd:element>
    <xsd:element name="lcf76f155ced4ddcb4097134ff3c332f" ma:index="23" nillable="true" ma:taxonomy="true" ma:internalName="lcf76f155ced4ddcb4097134ff3c332f" ma:taxonomyFieldName="MediaServiceImageTags" ma:displayName="Image Tags" ma:readOnly="false" ma:fieldId="{5cf76f15-5ced-4ddc-b409-7134ff3c332f}" ma:taxonomyMulti="true" ma:sspId="2de1bf74-4a37-48ce-b614-74b37de43851" ma:termSetId="09814cd3-568e-fe90-9814-8d621ff8fb84" ma:anchorId="fba54fb3-c3e1-fe81-a776-ca4b69148c4d" ma:open="true" ma:isKeyword="false">
      <xsd:complexType>
        <xsd:sequence>
          <xsd:element ref="pc:Terms" minOccurs="0" maxOccurs="1"/>
        </xsd:sequence>
      </xsd:complexType>
    </xsd:element>
    <xsd:element name="DateandTime" ma:index="25" nillable="true" ma:displayName="Date and Time" ma:format="DateOnly" ma:internalName="DateandTime">
      <xsd:simpleType>
        <xsd:restriction base="dms:DateTime"/>
      </xsd:simpleType>
    </xsd:element>
    <xsd:element name="MediaServiceObjectDetectorVersions" ma:index="26" nillable="true" ma:displayName="MediaServiceObjectDetectorVersions" ma:description="" ma:hidden="true" ma:indexed="true" ma:internalName="MediaServiceObjectDetectorVersions" ma:readOnly="true">
      <xsd:simpleType>
        <xsd:restriction base="dms:Text"/>
      </xsd:simpleType>
    </xsd:element>
    <xsd:element name="AssignedTo" ma:index="27" nillable="true" ma:displayName="Assigned To" ma:format="Dropdown" ma:list="UserInfo" ma:SharePointGroup="0" ma:internalName="AssignedTo">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MediaServiceSearchProperties" ma:index="28" nillable="true" ma:displayName="MediaServiceSearchProperties" ma:hidden="true" ma:internalName="MediaServiceSearchProperties" ma:readOnly="true">
      <xsd:simpleType>
        <xsd:restriction base="dms:Note"/>
      </xsd:simpleType>
    </xsd:element>
    <xsd:element name="Tag" ma:index="29" nillable="true" ma:displayName="Tag" ma:description="Description of document" ma:format="Dropdown" ma:internalName="Tag">
      <xsd:simpleType>
        <xsd:restriction base="dms:Text">
          <xsd:maxLength value="255"/>
        </xsd:restriction>
      </xsd:simpleType>
    </xsd:element>
    <xsd:element name="MediaServiceBillingMetadata" ma:index="30"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4544b03d-ed08-46e1-a5f8-632fc735be33"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element name="TaxCatchAll" ma:index="24" nillable="true" ma:displayName="Taxonomy Catch All Column" ma:hidden="true" ma:list="{a735703f-a276-49e5-accf-32bfcce930c1}" ma:internalName="TaxCatchAll" ma:showField="CatchAllData" ma:web="4544b03d-ed08-46e1-a5f8-632fc735be33">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545E54FE-1271-4B25-A017-622AE12E6FD6}">
  <ds:schemaRefs>
    <ds:schemaRef ds:uri="http://purl.org/dc/terms/"/>
    <ds:schemaRef ds:uri="236d467e-fe90-4ae0-9fe2-011d77897820"/>
    <ds:schemaRef ds:uri="http://schemas.microsoft.com/office/2006/documentManagement/types"/>
    <ds:schemaRef ds:uri="http://schemas.microsoft.com/office/infopath/2007/PartnerControls"/>
    <ds:schemaRef ds:uri="http://purl.org/dc/elements/1.1/"/>
    <ds:schemaRef ds:uri="http://schemas.microsoft.com/office/2006/metadata/properties"/>
    <ds:schemaRef ds:uri="http://schemas.openxmlformats.org/package/2006/metadata/core-properties"/>
    <ds:schemaRef ds:uri="4544b03d-ed08-46e1-a5f8-632fc735be33"/>
    <ds:schemaRef ds:uri="http://www.w3.org/XML/1998/namespace"/>
    <ds:schemaRef ds:uri="http://purl.org/dc/dcmitype/"/>
  </ds:schemaRefs>
</ds:datastoreItem>
</file>

<file path=customXml/itemProps2.xml><?xml version="1.0" encoding="utf-8"?>
<ds:datastoreItem xmlns:ds="http://schemas.openxmlformats.org/officeDocument/2006/customXml" ds:itemID="{958B7680-6727-4522-AF77-5FF1D9742C1A}"/>
</file>

<file path=customXml/itemProps3.xml><?xml version="1.0" encoding="utf-8"?>
<ds:datastoreItem xmlns:ds="http://schemas.openxmlformats.org/officeDocument/2006/customXml" ds:itemID="{9DC8F994-8845-446E-8C57-4F2A064E13ED}">
  <ds:schemaRefs>
    <ds:schemaRef ds:uri="http://schemas.microsoft.com/sharepoint/v3/contenttype/forms"/>
  </ds:schemaRefs>
</ds:datastoreItem>
</file>

<file path=docMetadata/LabelInfo.xml><?xml version="1.0" encoding="utf-8"?>
<clbl:labelList xmlns:clbl="http://schemas.microsoft.com/office/2020/mipLabelMetadata">
  <clbl:label id="{e7f09a8f-df31-4464-b100-d09a5dbff5c8}" enabled="1" method="Privileged" siteId="{570057f4-73ef-41c8-bcbb-08db2fc15c2b}" removed="0"/>
</clbl:labelList>
</file>

<file path=docProps/app.xml><?xml version="1.0" encoding="utf-8"?>
<Properties xmlns="http://schemas.openxmlformats.org/officeDocument/2006/extended-properties" xmlns:vt="http://schemas.openxmlformats.org/officeDocument/2006/docPropsVTypes">
  <Template/>
  <TotalTime>0</TotalTime>
  <Words>18225</Words>
  <Application>Microsoft Macintosh PowerPoint</Application>
  <PresentationFormat>Custom</PresentationFormat>
  <Paragraphs>3495</Paragraphs>
  <Slides>125</Slides>
  <Notes>70</Notes>
  <HiddenSlides>6</HiddenSlides>
  <MMClips>0</MMClips>
  <ScaleCrop>false</ScaleCrop>
  <HeadingPairs>
    <vt:vector size="6" baseType="variant">
      <vt:variant>
        <vt:lpstr>Fonts Used</vt:lpstr>
      </vt:variant>
      <vt:variant>
        <vt:i4>14</vt:i4>
      </vt:variant>
      <vt:variant>
        <vt:lpstr>Theme</vt:lpstr>
      </vt:variant>
      <vt:variant>
        <vt:i4>13</vt:i4>
      </vt:variant>
      <vt:variant>
        <vt:lpstr>Slide Titles</vt:lpstr>
      </vt:variant>
      <vt:variant>
        <vt:i4>125</vt:i4>
      </vt:variant>
    </vt:vector>
  </HeadingPairs>
  <TitlesOfParts>
    <vt:vector size="152" baseType="lpstr">
      <vt:lpstr>Amazon Ember</vt:lpstr>
      <vt:lpstr>Aptos Narrow</vt:lpstr>
      <vt:lpstr>Arial</vt:lpstr>
      <vt:lpstr>Arial,Sans-Serif</vt:lpstr>
      <vt:lpstr>Barlow Light</vt:lpstr>
      <vt:lpstr>Calibri</vt:lpstr>
      <vt:lpstr>Fira Sans</vt:lpstr>
      <vt:lpstr>Fira Sans Light</vt:lpstr>
      <vt:lpstr>Fira Sans Medium</vt:lpstr>
      <vt:lpstr>Fira Sans SemiBold</vt:lpstr>
      <vt:lpstr>Fira Sans UltraLight</vt:lpstr>
      <vt:lpstr>Segoe UI</vt:lpstr>
      <vt:lpstr>Segoe UI Semibold</vt:lpstr>
      <vt:lpstr>Wingdings</vt:lpstr>
      <vt:lpstr>4_Content Slides</vt:lpstr>
      <vt:lpstr>2_Titles and Breakers</vt:lpstr>
      <vt:lpstr>6_Content Slides</vt:lpstr>
      <vt:lpstr>Rackspace 2023</vt:lpstr>
      <vt:lpstr>18_Content Slides</vt:lpstr>
      <vt:lpstr>4_Titles and Breakers</vt:lpstr>
      <vt:lpstr>2_Content Slides</vt:lpstr>
      <vt:lpstr>6_Titles and Breakers</vt:lpstr>
      <vt:lpstr>3_Content Slides</vt:lpstr>
      <vt:lpstr>7_Content Slides</vt:lpstr>
      <vt:lpstr>8_Content Slides</vt:lpstr>
      <vt:lpstr>Content Slides</vt:lpstr>
      <vt:lpstr>1_Content Slides</vt:lpstr>
      <vt:lpstr>PowerPoint Presentation</vt:lpstr>
      <vt:lpstr>PowerPoint Presentation</vt:lpstr>
      <vt:lpstr>Objectives</vt:lpstr>
      <vt:lpstr>Executive Summary – Cloud Recommendation</vt:lpstr>
      <vt:lpstr>PowerPoint Presentation</vt:lpstr>
      <vt:lpstr>PowerPoint Presentation</vt:lpstr>
      <vt:lpstr>PowerPoint Presentation</vt:lpstr>
      <vt:lpstr>PowerPoint Presentation</vt:lpstr>
      <vt:lpstr>PowerPoint Presentation</vt:lpstr>
      <vt:lpstr>PowerPoint Presentation</vt:lpstr>
      <vt:lpstr>Standardisation +  Simplification</vt:lpstr>
      <vt:lpstr>Productivity + Cost Optimisation</vt:lpstr>
      <vt:lpstr>Automation + Workflow Optimisation</vt:lpstr>
      <vt:lpstr>Driver 1: Standardization</vt:lpstr>
      <vt:lpstr>Driver 2:  Cost and productivity</vt:lpstr>
      <vt:lpstr>Driver 3:  Automation</vt:lpstr>
      <vt:lpstr>PowerPoint Presentation</vt:lpstr>
      <vt:lpstr>PowerPoint Presentation</vt:lpstr>
      <vt:lpstr>PowerPoint Presentation</vt:lpstr>
      <vt:lpstr>PowerPoint Presentation</vt:lpstr>
      <vt:lpstr>Organisation Profile</vt:lpstr>
      <vt:lpstr>Organisation Global Presence</vt:lpstr>
      <vt:lpstr>Organisation Global Presence</vt:lpstr>
      <vt:lpstr>PowerPoint Presentation</vt:lpstr>
      <vt:lpstr>Project Methodology – Part 1</vt:lpstr>
      <vt:lpstr>Cloud Readiness Assessment - Part 1 - Plan on a Page</vt:lpstr>
      <vt:lpstr>Key Assumptions – Achilles Datacentres</vt:lpstr>
      <vt:lpstr>Key Assumptions - GoSupply</vt:lpstr>
      <vt:lpstr>Key Constraints and Decisions</vt:lpstr>
      <vt:lpstr>PowerPoint Presentation</vt:lpstr>
      <vt:lpstr>Infrastructure Discovery</vt:lpstr>
      <vt:lpstr>Discovery / Virtual Servers</vt:lpstr>
      <vt:lpstr>Discovery / Databases</vt:lpstr>
      <vt:lpstr>Discovery / Applications</vt:lpstr>
      <vt:lpstr>PowerPoint Presentation</vt:lpstr>
      <vt:lpstr>Datacentre Infrastructure Insights (excluding GoSupply)</vt:lpstr>
      <vt:lpstr>AWS Infrastructure Insights</vt:lpstr>
      <vt:lpstr>AWS Infrastructure Insights / Recommendations</vt:lpstr>
      <vt:lpstr>Azure Infrastructure Insights (GoSupply &amp; Achilles)</vt:lpstr>
      <vt:lpstr>Azure Infrastructure Insights / Recommendations</vt:lpstr>
      <vt:lpstr>Disaster Recovery Insights</vt:lpstr>
      <vt:lpstr>PowerPoint Presentation</vt:lpstr>
      <vt:lpstr>Insights / Licensing  Operating Systems (Microsoft)</vt:lpstr>
      <vt:lpstr>Insights / Licensing  Operating Systems (Linux)</vt:lpstr>
      <vt:lpstr>Insights / Licensing  Databases (Microsoft)</vt:lpstr>
      <vt:lpstr>Insights / Licensing  Databases (Neo4j)</vt:lpstr>
      <vt:lpstr>PowerPoint Presentation</vt:lpstr>
      <vt:lpstr>Landing Zones – Concept, Objectives &amp; Importance</vt:lpstr>
      <vt:lpstr>Landing Zones – Key considerations</vt:lpstr>
      <vt:lpstr>Cloud Landing Zone (Azure)</vt:lpstr>
      <vt:lpstr>Cloud Landing Zone (AWS)</vt:lpstr>
      <vt:lpstr>PowerPoint Presentation</vt:lpstr>
      <vt:lpstr>MRA Summary</vt:lpstr>
      <vt:lpstr>MRA Readiness Radar Chart</vt:lpstr>
      <vt:lpstr>MRA Workstream Summary – Migration focus areas</vt:lpstr>
      <vt:lpstr>Recommended Actions</vt:lpstr>
      <vt:lpstr>PowerPoint Presentation</vt:lpstr>
      <vt:lpstr>PowerPoint Presentation</vt:lpstr>
      <vt:lpstr>PowerPoint Presentation</vt:lpstr>
      <vt:lpstr>PowerPoint Presentation</vt:lpstr>
      <vt:lpstr>MPA Deliverables</vt:lpstr>
      <vt:lpstr>Migration Strategy Selection</vt:lpstr>
      <vt:lpstr>Applications and Services In Scope for Migration</vt:lpstr>
      <vt:lpstr>Workload Summary</vt:lpstr>
      <vt:lpstr>PowerPoint Presentation</vt:lpstr>
      <vt:lpstr>High-Level Release Plan – Azure</vt:lpstr>
      <vt:lpstr>High-Level Release Plan – AWS</vt:lpstr>
      <vt:lpstr>Migration Scope and Detailed Waves.</vt:lpstr>
      <vt:lpstr>PowerPoint Presentation</vt:lpstr>
      <vt:lpstr>8 Step Pipeline Methodology</vt:lpstr>
      <vt:lpstr>Reference Documentation</vt:lpstr>
      <vt:lpstr>Preparing for the Migration </vt:lpstr>
      <vt:lpstr>PowerPoint Presentation</vt:lpstr>
      <vt:lpstr>Discovery Summary</vt:lpstr>
      <vt:lpstr>Goals, Objectives and Findings</vt:lpstr>
      <vt:lpstr>Security Tooling - Current</vt:lpstr>
      <vt:lpstr>Cloud Native Tooling</vt:lpstr>
      <vt:lpstr>Managed Security</vt:lpstr>
      <vt:lpstr>AWS vs Azure comparative assessment</vt:lpstr>
      <vt:lpstr>GoSupply – Azure Advisor Review</vt:lpstr>
      <vt:lpstr>GoSupply – Azure Advisor Review – High Severity Issues</vt:lpstr>
      <vt:lpstr>GoSupply – Azure Advisor Review – Medium Severity Issues</vt:lpstr>
      <vt:lpstr>Security assessment recommendations</vt:lpstr>
      <vt:lpstr>Cloud-native services available for Future State              </vt:lpstr>
      <vt:lpstr>PowerPoint Presentation</vt:lpstr>
      <vt:lpstr>Cloud Economics - Methodology</vt:lpstr>
      <vt:lpstr>Infrastructure Consumption - Economics Summary (USD) </vt:lpstr>
      <vt:lpstr>Infrastructure Consumption - Economics Summary (GBP) </vt:lpstr>
      <vt:lpstr>Cloud Economics - Conclusion</vt:lpstr>
      <vt:lpstr>PowerPoint Presentation</vt:lpstr>
      <vt:lpstr>Infrastructure Consumption - London</vt:lpstr>
      <vt:lpstr>Infrastructure Consumption - Europe (Germany)</vt:lpstr>
      <vt:lpstr>Infrastructure Consumption - Europe (Ireland + Netherlands)</vt:lpstr>
      <vt:lpstr>PowerPoint Presentation</vt:lpstr>
      <vt:lpstr>Cloud Selection Criteria</vt:lpstr>
      <vt:lpstr>Summary</vt:lpstr>
      <vt:lpstr>Scoring</vt:lpstr>
      <vt:lpstr>Cloud Decision Matrix: Economics</vt:lpstr>
      <vt:lpstr>Cloud Decision Matrix: Security/Compliance</vt:lpstr>
      <vt:lpstr>Cloud Decision Matrix: Scalability</vt:lpstr>
      <vt:lpstr>Cloud Decision Matrix: Reliability</vt:lpstr>
      <vt:lpstr>Cloud Decision Matrix: Business Agility</vt:lpstr>
      <vt:lpstr>Cloud Decision Matrix: Summary</vt:lpstr>
      <vt:lpstr>Cloud Marketplace Capabilities</vt:lpstr>
      <vt:lpstr>AI Capabilities – AWS and Azure</vt:lpstr>
      <vt:lpstr>PowerPoint Presentation</vt:lpstr>
      <vt:lpstr>Next Steps</vt:lpstr>
      <vt:lpstr>PowerPoint Presentation</vt:lpstr>
      <vt:lpstr>PowerPoint Presentation</vt:lpstr>
      <vt:lpstr>PowerPoint Presentation</vt:lpstr>
      <vt:lpstr>Cloud Decision Matrix: Economics</vt:lpstr>
      <vt:lpstr>Cloud Decision Matrix: Security/Compliance</vt:lpstr>
      <vt:lpstr>Cloud Decision Matrix: Scalability</vt:lpstr>
      <vt:lpstr>Cloud Decision Matrix: Reliability (1)</vt:lpstr>
      <vt:lpstr>Cloud Decision Matrix: Reliability (2)</vt:lpstr>
      <vt:lpstr>Cloud Decision Matrix: Security/Compliance</vt:lpstr>
      <vt:lpstr>PowerPoint Presentation</vt:lpstr>
      <vt:lpstr>Cloud Center of Excellence (CCoE)</vt:lpstr>
      <vt:lpstr>Cloud Foundation Capabilities &amp; Products</vt:lpstr>
      <vt:lpstr>PowerPoint Presentation</vt:lpstr>
      <vt:lpstr>Cloud Migration Programs</vt:lpstr>
      <vt:lpstr>Migration Program</vt:lpstr>
      <vt:lpstr>Migration Program</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Stephanie</dc:creator>
  <cp:lastModifiedBy>Scott Beckford</cp:lastModifiedBy>
  <cp:revision>1</cp:revision>
  <dcterms:created xsi:type="dcterms:W3CDTF">2018-11-07T18:59:03Z</dcterms:created>
  <dcterms:modified xsi:type="dcterms:W3CDTF">2026-04-21T09:50:36Z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0x010100B104D1C152C32946844AA72ED5B510AE</vt:lpwstr>
  </property>
  <property fmtid="{D5CDD505-2E9C-101B-9397-08002B2CF9AE}" pid="3" name="MediaServiceImageTags">
    <vt:lpwstr/>
  </property>
</Properties>
</file>