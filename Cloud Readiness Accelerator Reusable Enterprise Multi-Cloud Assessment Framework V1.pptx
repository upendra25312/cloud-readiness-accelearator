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944" r:id="rId5"/>
    <p:sldMasterId id="2147483830" r:id="rId6"/>
  </p:sldMasterIdLst>
  <p:notesMasterIdLst>
    <p:notesMasterId r:id="rId23"/>
  </p:notesMasterIdLst>
  <p:handoutMasterIdLst>
    <p:handoutMasterId r:id="rId24"/>
  </p:handoutMasterIdLst>
  <p:sldIdLst>
    <p:sldId id="2719" r:id="rId7"/>
    <p:sldId id="256" r:id="rId8"/>
    <p:sldId id="257" r:id="rId9"/>
    <p:sldId id="258" r:id="rId10"/>
    <p:sldId id="261" r:id="rId11"/>
    <p:sldId id="262" r:id="rId12"/>
    <p:sldId id="263" r:id="rId13"/>
    <p:sldId id="265" r:id="rId14"/>
    <p:sldId id="266" r:id="rId15"/>
    <p:sldId id="267" r:id="rId16"/>
    <p:sldId id="2113417368" r:id="rId17"/>
    <p:sldId id="270" r:id="rId18"/>
    <p:sldId id="268" r:id="rId19"/>
    <p:sldId id="264" r:id="rId20"/>
    <p:sldId id="2113417363" r:id="rId21"/>
    <p:sldId id="2113417364" r:id="rId22"/>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Breaker Layouts" id="{4AE7326D-D6F2-440D-9A41-85E2343213A5}">
          <p14:sldIdLst>
            <p14:sldId id="2719"/>
            <p14:sldId id="256"/>
          </p14:sldIdLst>
        </p14:section>
        <p14:section name="Content Slides" id="{846C7ABD-83F7-4BA2-BD1F-579980DED47E}">
          <p14:sldIdLst>
            <p14:sldId id="257"/>
            <p14:sldId id="258"/>
            <p14:sldId id="261"/>
            <p14:sldId id="262"/>
            <p14:sldId id="263"/>
            <p14:sldId id="265"/>
            <p14:sldId id="266"/>
            <p14:sldId id="267"/>
            <p14:sldId id="2113417368"/>
            <p14:sldId id="270"/>
            <p14:sldId id="268"/>
            <p14:sldId id="264"/>
            <p14:sldId id="2113417363"/>
            <p14:sldId id="211341736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111111"/>
    <a:srgbClr val="D1FFFB"/>
    <a:srgbClr val="003482"/>
    <a:srgbClr val="D8EBF9"/>
    <a:srgbClr val="005AC8"/>
    <a:srgbClr val="64005A"/>
    <a:srgbClr val="9E0000"/>
    <a:srgbClr val="BB5CB4"/>
    <a:srgbClr val="F6D7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41F728-FECE-4A73-9667-C68B7F45D204}" v="4" dt="2026-04-29T18:09:39.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91" autoAdjust="0"/>
    <p:restoredTop sz="95646" autoAdjust="0"/>
  </p:normalViewPr>
  <p:slideViewPr>
    <p:cSldViewPr snapToGrid="0" showGuides="1">
      <p:cViewPr varScale="1">
        <p:scale>
          <a:sx n="46" d="100"/>
          <a:sy n="46" d="100"/>
        </p:scale>
        <p:origin x="924" y="264"/>
      </p:cViewPr>
      <p:guideLst/>
    </p:cSldViewPr>
  </p:slideViewPr>
  <p:outlineViewPr>
    <p:cViewPr>
      <p:scale>
        <a:sx n="33" d="100"/>
        <a:sy n="33" d="100"/>
      </p:scale>
      <p:origin x="0" y="-3248"/>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0" d="100"/>
          <a:sy n="80" d="100"/>
        </p:scale>
        <p:origin x="391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endra Kumar" userId="6c07c951-56e6-444d-b54c-43a261dacbee" providerId="ADAL" clId="{06A93499-00C3-468F-BFAF-ED895873DCA0}"/>
    <pc:docChg chg="undo custSel addSld delSld modSld">
      <pc:chgData name="Upendra Kumar" userId="6c07c951-56e6-444d-b54c-43a261dacbee" providerId="ADAL" clId="{06A93499-00C3-468F-BFAF-ED895873DCA0}" dt="2026-04-29T18:09:39.374" v="5"/>
      <pc:docMkLst>
        <pc:docMk/>
      </pc:docMkLst>
      <pc:sldChg chg="modSp add del mod setBg">
        <pc:chgData name="Upendra Kumar" userId="6c07c951-56e6-444d-b54c-43a261dacbee" providerId="ADAL" clId="{06A93499-00C3-468F-BFAF-ED895873DCA0}" dt="2026-04-29T18:09:39.374" v="5"/>
        <pc:sldMkLst>
          <pc:docMk/>
          <pc:sldMk cId="3366902459" sldId="2113417369"/>
        </pc:sldMkLst>
        <pc:picChg chg="mod">
          <ac:chgData name="Upendra Kumar" userId="6c07c951-56e6-444d-b54c-43a261dacbee" providerId="ADAL" clId="{06A93499-00C3-468F-BFAF-ED895873DCA0}" dt="2026-04-29T18:09:38.282" v="4" actId="14100"/>
          <ac:picMkLst>
            <pc:docMk/>
            <pc:sldMk cId="3366902459" sldId="2113417369"/>
            <ac:picMk id="2" creationId="{00000000-0000-0000-0000-000000000000}"/>
          </ac:picMkLst>
        </pc:picChg>
      </pc:sldChg>
      <pc:sldChg chg="add del setBg">
        <pc:chgData name="Upendra Kumar" userId="6c07c951-56e6-444d-b54c-43a261dacbee" providerId="ADAL" clId="{06A93499-00C3-468F-BFAF-ED895873DCA0}" dt="2026-04-29T18:09:37.231" v="3"/>
        <pc:sldMkLst>
          <pc:docMk/>
          <pc:sldMk cId="3387932044" sldId="2113417370"/>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r>
              <a:rPr lang="en-US" sz="1200" b="1">
                <a:solidFill>
                  <a:srgbClr val="7B3F94"/>
                </a:solidFill>
                <a:latin typeface="Segoe UI"/>
              </a:rPr>
              <a:t>DevOps Maturity Assessment by Capability</a:t>
            </a:r>
          </a:p>
        </c:rich>
      </c:tx>
      <c:overlay val="0"/>
    </c:title>
    <c:autoTitleDeleted val="0"/>
    <c:plotArea>
      <c:layout/>
      <c:radarChart>
        <c:radarStyle val="marker"/>
        <c:varyColors val="0"/>
        <c:ser>
          <c:idx val="0"/>
          <c:order val="0"/>
          <c:tx>
            <c:strRef>
              <c:f>Sheet1!$B$1</c:f>
              <c:strCache>
                <c:ptCount val="1"/>
                <c:pt idx="0">
                  <c:v>Current Maturity Level</c:v>
                </c:pt>
              </c:strCache>
            </c:strRef>
          </c:tx>
          <c:spPr>
            <a:ln w="25400">
              <a:solidFill>
                <a:srgbClr val="6B2D8F"/>
              </a:solidFill>
            </a:ln>
          </c:spPr>
          <c:marker>
            <c:symbol val="circle"/>
            <c:size val="8"/>
            <c:spPr>
              <a:solidFill>
                <a:srgbClr val="6B2D8F"/>
              </a:solidFill>
              <a:ln w="12700">
                <a:solidFill>
                  <a:srgbClr val="FFFFFF"/>
                </a:solidFill>
              </a:ln>
            </c:spPr>
          </c:marker>
          <c:cat>
            <c:strRef>
              <c:f>Sheet1!$A$2:$A$6</c:f>
              <c:strCache>
                <c:ptCount val="5"/>
                <c:pt idx="0">
                  <c:v>IaC Adoption</c:v>
                </c:pt>
                <c:pt idx="1">
                  <c:v>CI/CD Pipelines</c:v>
                </c:pt>
                <c:pt idx="2">
                  <c:v>Automated Testing</c:v>
                </c:pt>
                <c:pt idx="3">
                  <c:v>Deployment Standards</c:v>
                </c:pt>
                <c:pt idx="4">
                  <c:v>Version Control</c:v>
                </c:pt>
              </c:strCache>
            </c:strRef>
          </c:cat>
          <c:val>
            <c:numRef>
              <c:f>Sheet1!$B$2:$B$6</c:f>
              <c:numCache>
                <c:formatCode>General</c:formatCode>
                <c:ptCount val="5"/>
                <c:pt idx="0">
                  <c:v>2</c:v>
                </c:pt>
                <c:pt idx="1">
                  <c:v>2</c:v>
                </c:pt>
                <c:pt idx="2">
                  <c:v>1</c:v>
                </c:pt>
                <c:pt idx="3">
                  <c:v>1</c:v>
                </c:pt>
                <c:pt idx="4">
                  <c:v>3</c:v>
                </c:pt>
              </c:numCache>
            </c:numRef>
          </c:val>
          <c:extLst>
            <c:ext xmlns:c16="http://schemas.microsoft.com/office/drawing/2014/chart" uri="{C3380CC4-5D6E-409C-BE32-E72D297353CC}">
              <c16:uniqueId val="{00000000-E09D-4A66-8B05-D75865EAB52F}"/>
            </c:ext>
          </c:extLst>
        </c:ser>
        <c:dLbls>
          <c:showLegendKey val="0"/>
          <c:showVal val="0"/>
          <c:showCatName val="0"/>
          <c:showSerName val="0"/>
          <c:showPercent val="0"/>
          <c:showBubbleSize val="0"/>
        </c:dLbls>
        <c:axId val="2073612648"/>
        <c:axId val="-2112772216"/>
      </c:radarChart>
      <c:catAx>
        <c:axId val="2073612648"/>
        <c:scaling>
          <c:orientation val="minMax"/>
        </c:scaling>
        <c:delete val="0"/>
        <c:axPos val="b"/>
        <c:majorGridlines/>
        <c:numFmt formatCode="General" sourceLinked="1"/>
        <c:majorTickMark val="out"/>
        <c:minorTickMark val="none"/>
        <c:tickLblPos val="nextTo"/>
        <c:txPr>
          <a:bodyPr/>
          <a:lstStyle/>
          <a:p>
            <a:pPr>
              <a:defRPr sz="900">
                <a:solidFill>
                  <a:srgbClr val="7B3F94"/>
                </a:solidFill>
                <a:latin typeface="Segoe UI"/>
              </a:defRPr>
            </a:pPr>
            <a:endParaRPr lang="en-US"/>
          </a:p>
        </c:txPr>
        <c:crossAx val="-2112772216"/>
        <c:crosses val="autoZero"/>
        <c:auto val="1"/>
        <c:lblAlgn val="ctr"/>
        <c:lblOffset val="100"/>
        <c:noMultiLvlLbl val="0"/>
      </c:catAx>
      <c:valAx>
        <c:axId val="-2112772216"/>
        <c:scaling>
          <c:orientation val="minMax"/>
          <c:max val="5"/>
          <c:min val="0"/>
        </c:scaling>
        <c:delete val="0"/>
        <c:axPos val="l"/>
        <c:majorGridlines>
          <c:spPr>
            <a:ln>
              <a:solidFill>
                <a:srgbClr val="F1EBF4"/>
              </a:solidFill>
            </a:ln>
          </c:spPr>
        </c:majorGridlines>
        <c:numFmt formatCode="General" sourceLinked="1"/>
        <c:majorTickMark val="cross"/>
        <c:minorTickMark val="none"/>
        <c:tickLblPos val="nextTo"/>
        <c:txPr>
          <a:bodyPr/>
          <a:lstStyle/>
          <a:p>
            <a:pPr>
              <a:defRPr sz="825">
                <a:solidFill>
                  <a:srgbClr val="666666"/>
                </a:solidFill>
                <a:latin typeface="Segoe UI"/>
              </a:defRPr>
            </a:pPr>
            <a:endParaRPr lang="en-US"/>
          </a:p>
        </c:txPr>
        <c:crossAx val="2073612648"/>
        <c:crosses val="autoZero"/>
        <c:crossBetween val="between"/>
        <c:majorUnit val="1"/>
      </c:valAx>
    </c:plotArea>
    <c:legend>
      <c:legendPos val="b"/>
      <c:overlay val="0"/>
      <c:txPr>
        <a:bodyPr/>
        <a:lstStyle/>
        <a:p>
          <a:pPr>
            <a:defRPr sz="900">
              <a:solidFill>
                <a:srgbClr val="333333"/>
              </a:solidFill>
              <a:latin typeface="Segoe UI"/>
            </a:defRPr>
          </a:pPr>
          <a:endParaRPr lang="en-US"/>
        </a:p>
      </c:txPr>
    </c:legend>
    <c:plotVisOnly val="1"/>
    <c:dispBlanksAs val="gap"/>
    <c:showDLblsOverMax val="0"/>
  </c:chart>
  <c:txPr>
    <a:bodyPr/>
    <a:lstStyle/>
    <a:p>
      <a:pPr>
        <a:defRPr sz="1800"/>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50" b="1">
                <a:solidFill>
                  <a:srgbClr val="7B3F94"/>
                </a:solidFill>
                <a:latin typeface="Segoe UI"/>
              </a:rPr>
              <a:t>Logging Implementation by Scope</a:t>
            </a:r>
          </a:p>
        </c:rich>
      </c:tx>
      <c:overlay val="0"/>
    </c:title>
    <c:autoTitleDeleted val="0"/>
    <c:plotArea>
      <c:layout/>
      <c:barChart>
        <c:barDir val="col"/>
        <c:grouping val="clustered"/>
        <c:varyColors val="1"/>
        <c:ser>
          <c:idx val="0"/>
          <c:order val="0"/>
          <c:tx>
            <c:strRef>
              <c:f>Sheet1!$B$1</c:f>
              <c:strCache>
                <c:ptCount val="1"/>
                <c:pt idx="0">
                  <c:v>Implementation Coverage (%)</c:v>
                </c:pt>
              </c:strCache>
            </c:strRef>
          </c:tx>
          <c:invertIfNegative val="1"/>
          <c:dPt>
            <c:idx val="0"/>
            <c:invertIfNegative val="1"/>
            <c:bubble3D val="0"/>
            <c:spPr>
              <a:solidFill>
                <a:srgbClr val="6B2D8F"/>
              </a:solidFill>
            </c:spPr>
            <c:extLst>
              <c:ext xmlns:c16="http://schemas.microsoft.com/office/drawing/2014/chart" uri="{C3380CC4-5D6E-409C-BE32-E72D297353CC}">
                <c16:uniqueId val="{00000001-7E00-4513-BC40-BEDCF8806416}"/>
              </c:ext>
            </c:extLst>
          </c:dPt>
          <c:dPt>
            <c:idx val="1"/>
            <c:invertIfNegative val="1"/>
            <c:bubble3D val="0"/>
            <c:spPr>
              <a:solidFill>
                <a:srgbClr val="4A90A4"/>
              </a:solidFill>
            </c:spPr>
            <c:extLst>
              <c:ext xmlns:c16="http://schemas.microsoft.com/office/drawing/2014/chart" uri="{C3380CC4-5D6E-409C-BE32-E72D297353CC}">
                <c16:uniqueId val="{00000003-7E00-4513-BC40-BEDCF8806416}"/>
              </c:ext>
            </c:extLst>
          </c:dPt>
          <c:dPt>
            <c:idx val="2"/>
            <c:invertIfNegative val="1"/>
            <c:bubble3D val="0"/>
            <c:spPr>
              <a:solidFill>
                <a:srgbClr val="C490D1"/>
              </a:solidFill>
            </c:spPr>
            <c:extLst>
              <c:ext xmlns:c16="http://schemas.microsoft.com/office/drawing/2014/chart" uri="{C3380CC4-5D6E-409C-BE32-E72D297353CC}">
                <c16:uniqueId val="{00000005-7E00-4513-BC40-BEDCF8806416}"/>
              </c:ext>
            </c:extLst>
          </c:dPt>
          <c:dPt>
            <c:idx val="3"/>
            <c:invertIfNegative val="1"/>
            <c:bubble3D val="0"/>
            <c:spPr>
              <a:solidFill>
                <a:srgbClr val="8048AD"/>
              </a:solidFill>
            </c:spPr>
            <c:extLst>
              <c:ext xmlns:c16="http://schemas.microsoft.com/office/drawing/2014/chart" uri="{C3380CC4-5D6E-409C-BE32-E72D297353CC}">
                <c16:uniqueId val="{00000007-7E00-4513-BC40-BEDCF8806416}"/>
              </c:ext>
            </c:extLst>
          </c:dPt>
          <c:cat>
            <c:strRef>
              <c:f>Sheet1!$A$2:$A$5</c:f>
              <c:strCache>
                <c:ptCount val="4"/>
                <c:pt idx="0">
                  <c:v>Subscription Level</c:v>
                </c:pt>
                <c:pt idx="1">
                  <c:v>Application Level</c:v>
                </c:pt>
                <c:pt idx="2">
                  <c:v>Identity Logs</c:v>
                </c:pt>
                <c:pt idx="3">
                  <c:v>Centralized SIEM</c:v>
                </c:pt>
              </c:strCache>
            </c:strRef>
          </c:cat>
          <c:val>
            <c:numRef>
              <c:f>Sheet1!$B$2:$B$5</c:f>
              <c:numCache>
                <c:formatCode>General</c:formatCode>
                <c:ptCount val="4"/>
                <c:pt idx="0">
                  <c:v>60</c:v>
                </c:pt>
                <c:pt idx="1">
                  <c:v>70</c:v>
                </c:pt>
                <c:pt idx="2">
                  <c:v>0</c:v>
                </c:pt>
                <c:pt idx="3">
                  <c:v>0</c:v>
                </c:pt>
              </c:numCache>
            </c:numRef>
          </c:val>
          <c:extLst>
            <c:ext xmlns:c16="http://schemas.microsoft.com/office/drawing/2014/chart" uri="{C3380CC4-5D6E-409C-BE32-E72D297353CC}">
              <c16:uniqueId val="{00000008-7E00-4513-BC40-BEDCF880641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title>
          <c:tx>
            <c:rich>
              <a:bodyPr/>
              <a:lstStyle/>
              <a:p>
                <a:r>
                  <a:rPr lang="en-IN" sz="1050">
                    <a:solidFill>
                      <a:srgbClr val="7B3F94"/>
                    </a:solidFill>
                    <a:latin typeface="Segoe UI"/>
                  </a:rPr>
                  <a:t>Logging Scope</a:t>
                </a:r>
              </a:p>
            </c:rich>
          </c:tx>
          <c:overlay val="0"/>
        </c:title>
        <c:numFmt formatCode="General" sourceLinked="0"/>
        <c:majorTickMark val="out"/>
        <c:minorTickMark val="none"/>
        <c:tickLblPos val="nextTo"/>
        <c:spPr>
          <a:ln>
            <a:solidFill>
              <a:srgbClr val="000000">
                <a:alpha val="10000"/>
              </a:srgbClr>
            </a:solidFill>
          </a:ln>
        </c:spPr>
        <c:txPr>
          <a:bodyPr/>
          <a:lstStyle/>
          <a:p>
            <a:pPr>
              <a:defRPr sz="825">
                <a:solidFill>
                  <a:srgbClr val="333333"/>
                </a:solidFill>
                <a:latin typeface="Segoe UI"/>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w="9525">
              <a:solidFill>
                <a:srgbClr val="E8EAF4"/>
              </a:solidFill>
            </a:ln>
          </c:spPr>
        </c:majorGridlines>
        <c:title>
          <c:tx>
            <c:rich>
              <a:bodyPr/>
              <a:lstStyle/>
              <a:p>
                <a:r>
                  <a:rPr lang="en-IN" sz="1050">
                    <a:solidFill>
                      <a:srgbClr val="7B3F94"/>
                    </a:solidFill>
                    <a:latin typeface="Segoe UI"/>
                  </a:rPr>
                  <a:t>Implementation Coverage (%)</a:t>
                </a:r>
              </a:p>
            </c:rich>
          </c:tx>
          <c:overlay val="0"/>
        </c:title>
        <c:numFmt formatCode="0" sourceLinked="0"/>
        <c:majorTickMark val="out"/>
        <c:minorTickMark val="none"/>
        <c:tickLblPos val="nextTo"/>
        <c:spPr>
          <a:ln>
            <a:solidFill>
              <a:srgbClr val="000000">
                <a:alpha val="10000"/>
              </a:srgbClr>
            </a:solidFill>
          </a:ln>
        </c:spPr>
        <c:txPr>
          <a:bodyPr/>
          <a:lstStyle/>
          <a:p>
            <a:pPr>
              <a:defRPr sz="900">
                <a:solidFill>
                  <a:srgbClr val="333333"/>
                </a:solidFill>
                <a:latin typeface="Segoe U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4/29/2026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4/29/2026</a:t>
            </a:fld>
            <a:endParaRPr lang="en-US" dirty="0"/>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3F7EE4-7D84-4D77-B4B2-0C966043B366}" type="slidenum">
              <a:rPr lang="en-US" smtClean="0"/>
              <a:pPr/>
              <a:t>2</a:t>
            </a:fld>
            <a:endParaRPr lang="en-US"/>
          </a:p>
        </p:txBody>
      </p:sp>
    </p:spTree>
    <p:extLst>
      <p:ext uri="{BB962C8B-B14F-4D97-AF65-F5344CB8AC3E}">
        <p14:creationId xmlns:p14="http://schemas.microsoft.com/office/powerpoint/2010/main" val="945487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54405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dirty="0"/>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0946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984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4319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dirty="0"/>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6695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795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623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6802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86151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66880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8234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dirty="0"/>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36024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dirty="0"/>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45441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07184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0928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8723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95953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01544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77255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398798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52102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794090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473670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21977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dirty="0"/>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94708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dirty="0"/>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781027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468700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91908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00501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98878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46911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784315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83579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2339044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9551165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28311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Unit 2, 6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0800 988 0100  </a:t>
            </a:r>
            <a:br>
              <a:rPr lang="en-US" sz="1500" dirty="0">
                <a:solidFill>
                  <a:schemeClr val="tx1"/>
                </a:solidFill>
              </a:rPr>
            </a:br>
            <a:r>
              <a:rPr lang="en-US" sz="1500" dirty="0">
                <a:solidFill>
                  <a:schemeClr val="tx1"/>
                </a:solidFill>
              </a:rPr>
              <a:t>U.K. support: 0800 988 0300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790271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2146199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485997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5708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98611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6.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4.sv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2.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image" Target="../media/image12.svg"/><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dirty="0"/>
              <a:t>Click to edit Master title style</a:t>
            </a:r>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03" r:id="rId5"/>
    <p:sldLayoutId id="2147483989" r:id="rId6"/>
    <p:sldLayoutId id="2147483817" r:id="rId7"/>
    <p:sldLayoutId id="2147483818" r:id="rId8"/>
    <p:sldLayoutId id="2147483819" r:id="rId9"/>
    <p:sldLayoutId id="2147483820" r:id="rId10"/>
    <p:sldLayoutId id="2147483829" r:id="rId11"/>
    <p:sldLayoutId id="2147483821" r:id="rId12"/>
    <p:sldLayoutId id="2147483822" r:id="rId13"/>
    <p:sldLayoutId id="2147483874" r:id="rId14"/>
    <p:sldLayoutId id="2147483823" r:id="rId15"/>
    <p:sldLayoutId id="2147483866" r:id="rId16"/>
    <p:sldLayoutId id="2147483844" r:id="rId17"/>
    <p:sldLayoutId id="2147483990" r:id="rId18"/>
    <p:sldLayoutId id="2147483991" r:id="rId19"/>
    <p:sldLayoutId id="2147483853" r:id="rId20"/>
    <p:sldLayoutId id="2147483849" r:id="rId21"/>
    <p:sldLayoutId id="2147483996" r:id="rId22"/>
    <p:sldLayoutId id="2147483851" r:id="rId23"/>
    <p:sldLayoutId id="2147483995" r:id="rId24"/>
    <p:sldLayoutId id="2147483854" r:id="rId25"/>
    <p:sldLayoutId id="2147483997" r:id="rId26"/>
    <p:sldLayoutId id="2147483855" r:id="rId27"/>
    <p:sldLayoutId id="2147483856" r:id="rId28"/>
    <p:sldLayoutId id="2147483999" r:id="rId2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dirty="0"/>
              <a:t>Click to edit Master title style</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101594CF-9E60-FEE9-725B-28644E2BEFC6}"/>
              </a:ext>
            </a:extLst>
          </p:cNvPr>
          <p:cNvPicPr>
            <a:picLocks noChangeAspect="1"/>
          </p:cNvPicPr>
          <p:nvPr userDrawn="1"/>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305847445"/>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993" r:id="rId3"/>
    <p:sldLayoutId id="2147483994" r:id="rId4"/>
    <p:sldLayoutId id="2147483992" r:id="rId5"/>
    <p:sldLayoutId id="2147483836" r:id="rId6"/>
    <p:sldLayoutId id="2147483940" r:id="rId7"/>
    <p:sldLayoutId id="2147483838" r:id="rId8"/>
    <p:sldLayoutId id="2147483839" r:id="rId9"/>
    <p:sldLayoutId id="2147483840" r:id="rId10"/>
    <p:sldLayoutId id="2147483841" r:id="rId11"/>
    <p:sldLayoutId id="2147483985" r:id="rId12"/>
    <p:sldLayoutId id="21474840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raxglobal-my.sharepoint.com/personal/upendra_kumar_rackspace_com1/_layouts/15/Doc.aspx?sourcedoc=%7BCC6F2090-8354-4E2B-9334-14FCCA88B714%7D&amp;file=Rackspace%20Presentation%20Template.pptx&amp;action=edit&amp;mobileredirect=true" TargetMode="External"/><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raxglobal-my.sharepoint.com/personal/upendra_kumar_rackspace_com1/_layouts/15/Doc.aspx?sourcedoc=%7BCC6F2090-8354-4E2B-9334-14FCCA88B714%7D&amp;file=Rackspace%20Presentation%20Template.pptx&amp;action=edit&amp;mobileredirect=true" TargetMode="External"/><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938EA58-6E9D-4AE6-8978-7E176BA746E0}"/>
              </a:ext>
            </a:extLst>
          </p:cNvPr>
          <p:cNvSpPr>
            <a:spLocks noGrp="1"/>
          </p:cNvSpPr>
          <p:nvPr>
            <p:ph type="body" sz="quarter" idx="12"/>
          </p:nvPr>
        </p:nvSpPr>
        <p:spPr>
          <a:xfrm>
            <a:off x="361949" y="1321297"/>
            <a:ext cx="10520539" cy="4715650"/>
          </a:xfrm>
        </p:spPr>
        <p:txBody>
          <a:bodyPr/>
          <a:lstStyle/>
          <a:p>
            <a:pPr marL="0" lvl="0" indent="0">
              <a:lnSpc>
                <a:spcPct val="120000"/>
              </a:lnSpc>
              <a:buNone/>
            </a:pPr>
            <a:r>
              <a:rPr lang="en-US" sz="2400" dirty="0"/>
              <a:t>When copying slides into this template you may need to reapply the masters. If your content drastically changes when doing this, undo applying the master and choose the master that is the same but has “CLEAN” at the end of its name. Another option is to choose the “Title Only” master.  </a:t>
            </a:r>
            <a:br>
              <a:rPr lang="en-US" sz="2400" dirty="0"/>
            </a:br>
            <a:endParaRPr lang="en-US" sz="1050" dirty="0"/>
          </a:p>
          <a:p>
            <a:pPr marL="0" lvl="0" indent="0">
              <a:lnSpc>
                <a:spcPct val="120000"/>
              </a:lnSpc>
              <a:buNone/>
            </a:pPr>
            <a:r>
              <a:rPr lang="en-US" sz="2400" dirty="0"/>
              <a:t>This may or may not give better results, it all </a:t>
            </a:r>
            <a:br>
              <a:rPr lang="en-US" sz="2400" dirty="0"/>
            </a:br>
            <a:r>
              <a:rPr lang="en-US" sz="2400" dirty="0"/>
              <a:t>depends on how the original was created. </a:t>
            </a:r>
            <a:br>
              <a:rPr lang="en-US" sz="2400" dirty="0"/>
            </a:br>
            <a:r>
              <a:rPr lang="en-US" sz="2400" dirty="0"/>
              <a:t>It does work well with slides using </a:t>
            </a:r>
            <a:br>
              <a:rPr lang="en-US" sz="2400" dirty="0"/>
            </a:br>
            <a:r>
              <a:rPr lang="en-US" sz="2400" dirty="0"/>
              <a:t>the masters shown here. After applying the </a:t>
            </a:r>
            <a:br>
              <a:rPr lang="en-US" sz="2400" dirty="0"/>
            </a:br>
            <a:r>
              <a:rPr lang="en-US" sz="2400" dirty="0"/>
              <a:t>new master you will need to remove any </a:t>
            </a:r>
            <a:br>
              <a:rPr lang="en-US" sz="2400" dirty="0"/>
            </a:br>
            <a:r>
              <a:rPr lang="en-US" sz="2400" dirty="0"/>
              <a:t>photo that is still in the top right corner.</a:t>
            </a:r>
          </a:p>
        </p:txBody>
      </p:sp>
      <p:sp>
        <p:nvSpPr>
          <p:cNvPr id="5" name="Title 4">
            <a:extLst>
              <a:ext uri="{FF2B5EF4-FFF2-40B4-BE49-F238E27FC236}">
                <a16:creationId xmlns:a16="http://schemas.microsoft.com/office/drawing/2014/main" id="{4F0C1B8A-A9CE-42EF-887F-8C3CFDFBBCB7}"/>
              </a:ext>
            </a:extLst>
          </p:cNvPr>
          <p:cNvSpPr>
            <a:spLocks noGrp="1"/>
          </p:cNvSpPr>
          <p:nvPr>
            <p:ph type="title"/>
          </p:nvPr>
        </p:nvSpPr>
        <p:spPr>
          <a:xfrm>
            <a:off x="334496" y="268589"/>
            <a:ext cx="11495554" cy="484043"/>
          </a:xfrm>
        </p:spPr>
        <p:txBody>
          <a:bodyPr/>
          <a:lstStyle/>
          <a:p>
            <a:r>
              <a:rPr lang="en-US" dirty="0"/>
              <a:t>Welcome to the Rackspace Customer First – Cloud First template</a:t>
            </a:r>
          </a:p>
        </p:txBody>
      </p:sp>
      <p:sp>
        <p:nvSpPr>
          <p:cNvPr id="9" name="Slide Number Placeholder 8">
            <a:extLst>
              <a:ext uri="{FF2B5EF4-FFF2-40B4-BE49-F238E27FC236}">
                <a16:creationId xmlns:a16="http://schemas.microsoft.com/office/drawing/2014/main" id="{3D3C7B17-5228-4C8D-90BF-9C29F6F5E782}"/>
              </a:ext>
            </a:extLst>
          </p:cNvPr>
          <p:cNvSpPr>
            <a:spLocks noGrp="1"/>
          </p:cNvSpPr>
          <p:nvPr>
            <p:ph type="sldNum" sz="quarter" idx="4"/>
          </p:nvPr>
        </p:nvSpPr>
        <p:spPr>
          <a:xfrm>
            <a:off x="11201401" y="6635750"/>
            <a:ext cx="617402" cy="107722"/>
          </a:xfrm>
        </p:spPr>
        <p:txBody>
          <a:bodyPr/>
          <a:lstStyle/>
          <a:p>
            <a:fld id="{762E77F0-FB5B-4E8E-9BC9-34F14560A017}" type="slidenum">
              <a:rPr lang="en-US" smtClean="0"/>
              <a:pPr/>
              <a:t>1</a:t>
            </a:fld>
            <a:endParaRPr lang="en-US" dirty="0"/>
          </a:p>
        </p:txBody>
      </p:sp>
      <p:pic>
        <p:nvPicPr>
          <p:cNvPr id="2" name="Picture 1">
            <a:extLst>
              <a:ext uri="{FF2B5EF4-FFF2-40B4-BE49-F238E27FC236}">
                <a16:creationId xmlns:a16="http://schemas.microsoft.com/office/drawing/2014/main" id="{F9F7550D-09AE-81C3-D293-C34581E9D8F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254916" y="3328184"/>
            <a:ext cx="2368404" cy="2864838"/>
          </a:xfrm>
          <a:prstGeom prst="rect">
            <a:avLst/>
          </a:prstGeom>
        </p:spPr>
      </p:pic>
      <p:pic>
        <p:nvPicPr>
          <p:cNvPr id="3" name="Picture 2">
            <a:extLst>
              <a:ext uri="{FF2B5EF4-FFF2-40B4-BE49-F238E27FC236}">
                <a16:creationId xmlns:a16="http://schemas.microsoft.com/office/drawing/2014/main" id="{14DAEED7-EE78-296D-5DB2-1E202F05E0B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84624" y="3328184"/>
            <a:ext cx="2413001" cy="2864838"/>
          </a:xfrm>
          <a:prstGeom prst="rect">
            <a:avLst/>
          </a:prstGeom>
        </p:spPr>
      </p:pic>
    </p:spTree>
    <p:extLst>
      <p:ext uri="{BB962C8B-B14F-4D97-AF65-F5344CB8AC3E}">
        <p14:creationId xmlns:p14="http://schemas.microsoft.com/office/powerpoint/2010/main" val="152857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238F7-4F08-DAC3-DC77-8635975C76A0}"/>
              </a:ext>
            </a:extLst>
          </p:cNvPr>
          <p:cNvSpPr>
            <a:spLocks noGrp="1"/>
          </p:cNvSpPr>
          <p:nvPr>
            <p:ph type="body" sz="quarter" idx="10"/>
          </p:nvPr>
        </p:nvSpPr>
        <p:spPr>
          <a:xfrm>
            <a:off x="348870" y="5306537"/>
            <a:ext cx="5686425" cy="551433"/>
          </a:xfrm>
        </p:spPr>
        <p:txBody>
          <a:bodyPr/>
          <a:lstStyle/>
          <a:p>
            <a:r>
              <a:rPr lang="en-US" dirty="0"/>
              <a:t>Upendra Kumar</a:t>
            </a:r>
          </a:p>
          <a:p>
            <a:r>
              <a:rPr lang="en-US" i="1" dirty="0"/>
              <a:t>Delivery Architect</a:t>
            </a:r>
          </a:p>
        </p:txBody>
      </p:sp>
      <p:sp>
        <p:nvSpPr>
          <p:cNvPr id="3" name="Subtitle 2">
            <a:extLst>
              <a:ext uri="{FF2B5EF4-FFF2-40B4-BE49-F238E27FC236}">
                <a16:creationId xmlns:a16="http://schemas.microsoft.com/office/drawing/2014/main" id="{A3036711-FF5D-928B-22FE-EEFFCAA15893}"/>
              </a:ext>
            </a:extLst>
          </p:cNvPr>
          <p:cNvSpPr>
            <a:spLocks noGrp="1"/>
          </p:cNvSpPr>
          <p:nvPr>
            <p:ph type="subTitle" idx="1"/>
          </p:nvPr>
        </p:nvSpPr>
        <p:spPr>
          <a:xfrm>
            <a:off x="338659" y="4788749"/>
            <a:ext cx="2417794" cy="369332"/>
          </a:xfrm>
        </p:spPr>
        <p:txBody>
          <a:bodyPr/>
          <a:lstStyle/>
          <a:p>
            <a:r>
              <a:rPr lang="en-US" dirty="0"/>
              <a:t>March 27, 2026</a:t>
            </a:r>
          </a:p>
        </p:txBody>
      </p:sp>
      <p:sp>
        <p:nvSpPr>
          <p:cNvPr id="5" name="TextBox 4">
            <a:extLst>
              <a:ext uri="{FF2B5EF4-FFF2-40B4-BE49-F238E27FC236}">
                <a16:creationId xmlns:a16="http://schemas.microsoft.com/office/drawing/2014/main" id="{E4F2CD4B-E567-0B3D-E845-BF4CDEF15AF5}"/>
              </a:ext>
            </a:extLst>
          </p:cNvPr>
          <p:cNvSpPr txBox="1"/>
          <p:nvPr/>
        </p:nvSpPr>
        <p:spPr>
          <a:xfrm>
            <a:off x="-239578" y="1193050"/>
            <a:ext cx="10924702" cy="615553"/>
          </a:xfrm>
          <a:prstGeom prst="rect">
            <a:avLst/>
          </a:prstGeom>
          <a:noFill/>
        </p:spPr>
        <p:txBody>
          <a:bodyPr wrap="square" lIns="0" tIns="0" rIns="0" bIns="0">
            <a:spAutoFit/>
          </a:bodyPr>
          <a:lstStyle/>
          <a:p>
            <a:pPr algn="ctr"/>
            <a:r>
              <a:rPr sz="4000" dirty="0">
                <a:ln w="9525">
                  <a:noFill/>
                </a:ln>
                <a:solidFill>
                  <a:schemeClr val="bg1"/>
                </a:solidFill>
                <a:latin typeface="+mj-lt"/>
                <a:ea typeface="+mj-ea"/>
                <a:cs typeface="+mj-cs"/>
              </a:rPr>
              <a:t>Azure Landing Zone Maturity </a:t>
            </a:r>
            <a:r>
              <a:rPr lang="en-US" sz="4000" dirty="0">
                <a:ln w="9525">
                  <a:noFill/>
                </a:ln>
                <a:solidFill>
                  <a:schemeClr val="bg1"/>
                </a:solidFill>
                <a:latin typeface="+mj-lt"/>
                <a:ea typeface="+mj-ea"/>
                <a:cs typeface="+mj-cs"/>
              </a:rPr>
              <a:t>Assessment</a:t>
            </a:r>
          </a:p>
        </p:txBody>
      </p:sp>
    </p:spTree>
    <p:extLst>
      <p:ext uri="{BB962C8B-B14F-4D97-AF65-F5344CB8AC3E}">
        <p14:creationId xmlns:p14="http://schemas.microsoft.com/office/powerpoint/2010/main" val="1785161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0" y="0"/>
            <a:ext cx="6096000" cy="6858000"/>
          </a:xfrm>
          <a:prstGeom prst="rect">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0" y="957411"/>
            <a:ext cx="5486400" cy="1045368"/>
          </a:xfrm>
          <a:prstGeom prst="roundRect">
            <a:avLst>
              <a:gd name="adj" fmla="val 1457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0" y="2185541"/>
            <a:ext cx="5486400" cy="1258639"/>
          </a:xfrm>
          <a:prstGeom prst="roundRect">
            <a:avLst>
              <a:gd name="adj" fmla="val 1210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0" y="3626941"/>
            <a:ext cx="5486400" cy="1045368"/>
          </a:xfrm>
          <a:prstGeom prst="roundRect">
            <a:avLst>
              <a:gd name="adj" fmla="val 1457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0" y="4855071"/>
            <a:ext cx="5486400" cy="1045368"/>
          </a:xfrm>
          <a:prstGeom prst="roundRect">
            <a:avLst>
              <a:gd name="adj" fmla="val 1457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4792" y="1019298"/>
            <a:ext cx="5416910" cy="1101002"/>
          </a:xfrm>
          <a:prstGeom prst="rect">
            <a:avLst/>
          </a:prstGeom>
          <a:noFill/>
        </p:spPr>
        <p:txBody>
          <a:bodyPr wrap="square" lIns="0" tIns="0" rIns="0" bIns="0">
            <a:spAutoFit/>
          </a:bodyPr>
          <a:lstStyle/>
          <a:p>
            <a:pPr algn="l"/>
            <a:r>
              <a:rPr sz="3167" b="1" i="0">
                <a:solidFill>
                  <a:srgbClr val="7B3F94"/>
                </a:solidFill>
                <a:latin typeface="Montserrat"/>
              </a:rPr>
              <a:t>Clear Objectives Guided Our Evaluation</a:t>
            </a:r>
          </a:p>
        </p:txBody>
      </p:sp>
      <p:sp>
        <p:nvSpPr>
          <p:cNvPr id="8" name="TextBox 7"/>
          <p:cNvSpPr txBox="1"/>
          <p:nvPr/>
        </p:nvSpPr>
        <p:spPr>
          <a:xfrm>
            <a:off x="6629234" y="1195506"/>
            <a:ext cx="953815" cy="266693"/>
          </a:xfrm>
          <a:prstGeom prst="rect">
            <a:avLst/>
          </a:prstGeom>
          <a:noFill/>
        </p:spPr>
        <p:txBody>
          <a:bodyPr wrap="none" lIns="0" tIns="0" rIns="0" bIns="0">
            <a:spAutoFit/>
          </a:bodyPr>
          <a:lstStyle/>
          <a:p>
            <a:pPr algn="l"/>
            <a:r>
              <a:rPr sz="1477" b="1" i="0">
                <a:solidFill>
                  <a:srgbClr val="7B3F94"/>
                </a:solidFill>
                <a:latin typeface="Montserrat"/>
              </a:rPr>
              <a:t>Baseline</a:t>
            </a:r>
          </a:p>
        </p:txBody>
      </p:sp>
      <p:sp>
        <p:nvSpPr>
          <p:cNvPr id="9" name="TextBox 8"/>
          <p:cNvSpPr txBox="1"/>
          <p:nvPr/>
        </p:nvSpPr>
        <p:spPr>
          <a:xfrm>
            <a:off x="6629234" y="1570395"/>
            <a:ext cx="4924748" cy="180970"/>
          </a:xfrm>
          <a:prstGeom prst="rect">
            <a:avLst/>
          </a:prstGeom>
          <a:noFill/>
        </p:spPr>
        <p:txBody>
          <a:bodyPr wrap="none" lIns="0" tIns="0" rIns="0" bIns="0">
            <a:spAutoFit/>
          </a:bodyPr>
          <a:lstStyle/>
          <a:p>
            <a:pPr algn="l"/>
            <a:r>
              <a:rPr sz="1103" b="0" i="0">
                <a:solidFill>
                  <a:srgbClr val="7B3F94"/>
                </a:solidFill>
                <a:latin typeface="Montserrat"/>
              </a:rPr>
              <a:t>Establish fact-based view of current Azure Landing Zone posture</a:t>
            </a:r>
          </a:p>
        </p:txBody>
      </p:sp>
      <p:sp>
        <p:nvSpPr>
          <p:cNvPr id="10" name="TextBox 9"/>
          <p:cNvSpPr txBox="1"/>
          <p:nvPr/>
        </p:nvSpPr>
        <p:spPr>
          <a:xfrm>
            <a:off x="6629234" y="2423605"/>
            <a:ext cx="1666386" cy="266693"/>
          </a:xfrm>
          <a:prstGeom prst="rect">
            <a:avLst/>
          </a:prstGeom>
          <a:noFill/>
        </p:spPr>
        <p:txBody>
          <a:bodyPr wrap="none" lIns="0" tIns="0" rIns="0" bIns="0">
            <a:spAutoFit/>
          </a:bodyPr>
          <a:lstStyle/>
          <a:p>
            <a:pPr algn="l"/>
            <a:r>
              <a:rPr sz="1477" b="1" i="0">
                <a:solidFill>
                  <a:srgbClr val="7B3F94"/>
                </a:solidFill>
                <a:latin typeface="Montserrat"/>
              </a:rPr>
              <a:t>Benchmarking</a:t>
            </a:r>
          </a:p>
        </p:txBody>
      </p:sp>
      <p:sp>
        <p:nvSpPr>
          <p:cNvPr id="11" name="TextBox 10"/>
          <p:cNvSpPr txBox="1"/>
          <p:nvPr/>
        </p:nvSpPr>
        <p:spPr>
          <a:xfrm>
            <a:off x="6629234" y="2798494"/>
            <a:ext cx="4871022" cy="394235"/>
          </a:xfrm>
          <a:prstGeom prst="rect">
            <a:avLst/>
          </a:prstGeom>
          <a:noFill/>
        </p:spPr>
        <p:txBody>
          <a:bodyPr wrap="square" lIns="0" tIns="0" rIns="0" bIns="0">
            <a:spAutoFit/>
          </a:bodyPr>
          <a:lstStyle/>
          <a:p>
            <a:pPr algn="l"/>
            <a:r>
              <a:rPr sz="1103" b="0" i="0">
                <a:solidFill>
                  <a:srgbClr val="7B3F94"/>
                </a:solidFill>
                <a:latin typeface="Montserrat"/>
              </a:rPr>
              <a:t>Identify gaps against Microsoft Cloud Adoption Framework best practices</a:t>
            </a:r>
          </a:p>
        </p:txBody>
      </p:sp>
      <p:sp>
        <p:nvSpPr>
          <p:cNvPr id="12" name="TextBox 11"/>
          <p:cNvSpPr txBox="1"/>
          <p:nvPr/>
        </p:nvSpPr>
        <p:spPr>
          <a:xfrm>
            <a:off x="6629234" y="3864969"/>
            <a:ext cx="853061" cy="266693"/>
          </a:xfrm>
          <a:prstGeom prst="rect">
            <a:avLst/>
          </a:prstGeom>
          <a:noFill/>
        </p:spPr>
        <p:txBody>
          <a:bodyPr wrap="none" lIns="0" tIns="0" rIns="0" bIns="0">
            <a:spAutoFit/>
          </a:bodyPr>
          <a:lstStyle/>
          <a:p>
            <a:pPr algn="l"/>
            <a:r>
              <a:rPr sz="1477" b="1" i="0">
                <a:solidFill>
                  <a:srgbClr val="7B3F94"/>
                </a:solidFill>
                <a:latin typeface="Montserrat"/>
              </a:rPr>
              <a:t>Scoring</a:t>
            </a:r>
          </a:p>
        </p:txBody>
      </p:sp>
      <p:sp>
        <p:nvSpPr>
          <p:cNvPr id="13" name="TextBox 12"/>
          <p:cNvSpPr txBox="1"/>
          <p:nvPr/>
        </p:nvSpPr>
        <p:spPr>
          <a:xfrm>
            <a:off x="6629234" y="4239858"/>
            <a:ext cx="4375139" cy="180970"/>
          </a:xfrm>
          <a:prstGeom prst="rect">
            <a:avLst/>
          </a:prstGeom>
          <a:noFill/>
        </p:spPr>
        <p:txBody>
          <a:bodyPr wrap="none" lIns="0" tIns="0" rIns="0" bIns="0">
            <a:spAutoFit/>
          </a:bodyPr>
          <a:lstStyle/>
          <a:p>
            <a:pPr algn="l"/>
            <a:r>
              <a:rPr sz="1103" b="0" i="0">
                <a:solidFill>
                  <a:srgbClr val="7B3F94"/>
                </a:solidFill>
                <a:latin typeface="Montserrat"/>
              </a:rPr>
              <a:t>Provide maturity score to guide future roadmap planning</a:t>
            </a:r>
          </a:p>
        </p:txBody>
      </p:sp>
      <p:sp>
        <p:nvSpPr>
          <p:cNvPr id="14" name="TextBox 13"/>
          <p:cNvSpPr txBox="1"/>
          <p:nvPr/>
        </p:nvSpPr>
        <p:spPr>
          <a:xfrm>
            <a:off x="6629234" y="5093068"/>
            <a:ext cx="1367249" cy="266693"/>
          </a:xfrm>
          <a:prstGeom prst="rect">
            <a:avLst/>
          </a:prstGeom>
          <a:noFill/>
        </p:spPr>
        <p:txBody>
          <a:bodyPr wrap="none" lIns="0" tIns="0" rIns="0" bIns="0">
            <a:spAutoFit/>
          </a:bodyPr>
          <a:lstStyle/>
          <a:p>
            <a:pPr algn="l"/>
            <a:r>
              <a:rPr sz="1477" b="1" i="0">
                <a:solidFill>
                  <a:srgbClr val="7B3F94"/>
                </a:solidFill>
                <a:latin typeface="Montserrat"/>
              </a:rPr>
              <a:t>Enablement</a:t>
            </a:r>
          </a:p>
        </p:txBody>
      </p:sp>
      <p:sp>
        <p:nvSpPr>
          <p:cNvPr id="15" name="TextBox 14"/>
          <p:cNvSpPr txBox="1"/>
          <p:nvPr/>
        </p:nvSpPr>
        <p:spPr>
          <a:xfrm>
            <a:off x="6629234" y="5467957"/>
            <a:ext cx="4718328" cy="180970"/>
          </a:xfrm>
          <a:prstGeom prst="rect">
            <a:avLst/>
          </a:prstGeom>
          <a:noFill/>
        </p:spPr>
        <p:txBody>
          <a:bodyPr wrap="none" lIns="0" tIns="0" rIns="0" bIns="0">
            <a:spAutoFit/>
          </a:bodyPr>
          <a:lstStyle/>
          <a:p>
            <a:pPr algn="l"/>
            <a:r>
              <a:rPr sz="1103" b="0" i="0">
                <a:solidFill>
                  <a:srgbClr val="7B3F94"/>
                </a:solidFill>
                <a:latin typeface="Montserrat"/>
              </a:rPr>
              <a:t>Enable informed decision-making for platform modernization</a:t>
            </a:r>
          </a:p>
        </p:txBody>
      </p:sp>
      <p:sp>
        <p:nvSpPr>
          <p:cNvPr id="16" name="TextBox 15"/>
          <p:cNvSpPr txBox="1"/>
          <p:nvPr/>
        </p:nvSpPr>
        <p:spPr>
          <a:xfrm>
            <a:off x="304792" y="2354550"/>
            <a:ext cx="5486262" cy="3474305"/>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Establish comprehensive fact-based view of current Azure Landing Zone posture across identity, networking, governance, security, operations, and DevOps capabilities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Identify gaps against Microsoft Cloud Adoption Framework best practices to highlight areas requiring immediate investment</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Provide baseline maturity score for objective tracking of improvements and strategic roadmap planning initiatives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Enable informed decision-making by articulating limitations, requirements, and business impact of addressing gaps</a:t>
            </a:r>
          </a:p>
        </p:txBody>
      </p:sp>
    </p:spTree>
    <p:extLst>
      <p:ext uri="{BB962C8B-B14F-4D97-AF65-F5344CB8AC3E}">
        <p14:creationId xmlns:p14="http://schemas.microsoft.com/office/powerpoint/2010/main" val="1029958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990599"/>
            <a:ext cx="5638800" cy="1331862"/>
          </a:xfrm>
          <a:prstGeom prst="roundRect">
            <a:avLst>
              <a:gd name="adj" fmla="val 11442"/>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990599"/>
            <a:ext cx="5638800" cy="1331862"/>
          </a:xfrm>
          <a:prstGeom prst="roundRect">
            <a:avLst>
              <a:gd name="adj" fmla="val 11442"/>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792" y="295267"/>
            <a:ext cx="9984629" cy="466713"/>
          </a:xfrm>
          <a:prstGeom prst="rect">
            <a:avLst/>
          </a:prstGeom>
          <a:noFill/>
        </p:spPr>
        <p:txBody>
          <a:bodyPr wrap="none" lIns="0" tIns="0" rIns="0" bIns="0">
            <a:spAutoFit/>
          </a:bodyPr>
          <a:lstStyle/>
          <a:p>
            <a:pPr algn="l"/>
            <a:r>
              <a:rPr sz="2639" b="1" i="0">
                <a:solidFill>
                  <a:srgbClr val="7B3F94"/>
                </a:solidFill>
                <a:latin typeface="Montserrat"/>
              </a:rPr>
              <a:t>Comprehensive Scope and Rigorous Methodology</a:t>
            </a:r>
          </a:p>
        </p:txBody>
      </p:sp>
      <p:sp>
        <p:nvSpPr>
          <p:cNvPr id="5" name="TextBox 4"/>
          <p:cNvSpPr txBox="1"/>
          <p:nvPr/>
        </p:nvSpPr>
        <p:spPr>
          <a:xfrm>
            <a:off x="2972916" y="1209644"/>
            <a:ext cx="302411" cy="600059"/>
          </a:xfrm>
          <a:prstGeom prst="rect">
            <a:avLst/>
          </a:prstGeom>
          <a:noFill/>
        </p:spPr>
        <p:txBody>
          <a:bodyPr wrap="none" lIns="0" tIns="0" rIns="0" bIns="0">
            <a:spAutoFit/>
          </a:bodyPr>
          <a:lstStyle/>
          <a:p>
            <a:pPr algn="l"/>
            <a:r>
              <a:rPr sz="3378" b="1" i="0">
                <a:solidFill>
                  <a:srgbClr val="7B3F94"/>
                </a:solidFill>
                <a:latin typeface="Montserrat"/>
              </a:rPr>
              <a:t>7</a:t>
            </a:r>
          </a:p>
        </p:txBody>
      </p:sp>
      <p:sp>
        <p:nvSpPr>
          <p:cNvPr id="6" name="TextBox 5"/>
          <p:cNvSpPr txBox="1"/>
          <p:nvPr/>
        </p:nvSpPr>
        <p:spPr>
          <a:xfrm>
            <a:off x="2318535" y="1890069"/>
            <a:ext cx="1611024" cy="180970"/>
          </a:xfrm>
          <a:prstGeom prst="rect">
            <a:avLst/>
          </a:prstGeom>
          <a:noFill/>
        </p:spPr>
        <p:txBody>
          <a:bodyPr wrap="none" lIns="0" tIns="0" rIns="0" bIns="0">
            <a:spAutoFit/>
          </a:bodyPr>
          <a:lstStyle/>
          <a:p>
            <a:pPr algn="l"/>
            <a:r>
              <a:rPr sz="1055" b="1" i="0">
                <a:solidFill>
                  <a:srgbClr val="333333"/>
                </a:solidFill>
                <a:latin typeface="Montserrat"/>
              </a:rPr>
              <a:t>Core Areas Evaluated</a:t>
            </a:r>
          </a:p>
        </p:txBody>
      </p:sp>
      <p:sp>
        <p:nvSpPr>
          <p:cNvPr id="7" name="TextBox 6"/>
          <p:cNvSpPr txBox="1"/>
          <p:nvPr/>
        </p:nvSpPr>
        <p:spPr>
          <a:xfrm>
            <a:off x="304792" y="2505161"/>
            <a:ext cx="1716243" cy="266693"/>
          </a:xfrm>
          <a:prstGeom prst="rect">
            <a:avLst/>
          </a:prstGeom>
          <a:noFill/>
        </p:spPr>
        <p:txBody>
          <a:bodyPr wrap="none" lIns="0" tIns="0" rIns="0" bIns="0">
            <a:spAutoFit/>
          </a:bodyPr>
          <a:lstStyle/>
          <a:p>
            <a:pPr algn="l"/>
            <a:r>
              <a:rPr sz="1477" b="1" i="0">
                <a:solidFill>
                  <a:srgbClr val="7B3F94"/>
                </a:solidFill>
                <a:latin typeface="Montserrat"/>
              </a:rPr>
              <a:t>Scope Covered:</a:t>
            </a:r>
          </a:p>
        </p:txBody>
      </p:sp>
      <p:sp>
        <p:nvSpPr>
          <p:cNvPr id="8" name="TextBox 7"/>
          <p:cNvSpPr txBox="1"/>
          <p:nvPr/>
        </p:nvSpPr>
        <p:spPr>
          <a:xfrm>
            <a:off x="8551896" y="1209644"/>
            <a:ext cx="1031204" cy="600059"/>
          </a:xfrm>
          <a:prstGeom prst="rect">
            <a:avLst/>
          </a:prstGeom>
          <a:noFill/>
        </p:spPr>
        <p:txBody>
          <a:bodyPr wrap="none" lIns="0" tIns="0" rIns="0" bIns="0">
            <a:spAutoFit/>
          </a:bodyPr>
          <a:lstStyle/>
          <a:p>
            <a:pPr algn="l"/>
            <a:r>
              <a:rPr sz="3378" b="1" i="0">
                <a:solidFill>
                  <a:srgbClr val="7B3F94"/>
                </a:solidFill>
                <a:latin typeface="Montserrat"/>
              </a:rPr>
              <a:t>CAF</a:t>
            </a:r>
          </a:p>
        </p:txBody>
      </p:sp>
      <p:sp>
        <p:nvSpPr>
          <p:cNvPr id="9" name="TextBox 8"/>
          <p:cNvSpPr txBox="1"/>
          <p:nvPr/>
        </p:nvSpPr>
        <p:spPr>
          <a:xfrm>
            <a:off x="7765061" y="1890069"/>
            <a:ext cx="2604873" cy="180970"/>
          </a:xfrm>
          <a:prstGeom prst="rect">
            <a:avLst/>
          </a:prstGeom>
          <a:noFill/>
        </p:spPr>
        <p:txBody>
          <a:bodyPr wrap="none" lIns="0" tIns="0" rIns="0" bIns="0">
            <a:spAutoFit/>
          </a:bodyPr>
          <a:lstStyle/>
          <a:p>
            <a:pPr algn="l"/>
            <a:r>
              <a:rPr sz="1055" b="1" i="0">
                <a:solidFill>
                  <a:srgbClr val="333333"/>
                </a:solidFill>
                <a:latin typeface="Montserrat"/>
              </a:rPr>
              <a:t>Microsoft CAF Framework Applied</a:t>
            </a:r>
          </a:p>
        </p:txBody>
      </p:sp>
      <p:sp>
        <p:nvSpPr>
          <p:cNvPr id="10" name="TextBox 9"/>
          <p:cNvSpPr txBox="1"/>
          <p:nvPr/>
        </p:nvSpPr>
        <p:spPr>
          <a:xfrm>
            <a:off x="6248243" y="2505161"/>
            <a:ext cx="2471378" cy="266693"/>
          </a:xfrm>
          <a:prstGeom prst="rect">
            <a:avLst/>
          </a:prstGeom>
          <a:noFill/>
        </p:spPr>
        <p:txBody>
          <a:bodyPr wrap="none" lIns="0" tIns="0" rIns="0" bIns="0">
            <a:spAutoFit/>
          </a:bodyPr>
          <a:lstStyle/>
          <a:p>
            <a:pPr algn="l"/>
            <a:r>
              <a:rPr sz="1477" b="1" i="0">
                <a:solidFill>
                  <a:srgbClr val="7B3F94"/>
                </a:solidFill>
                <a:latin typeface="Montserrat"/>
              </a:rPr>
              <a:t>Methodology Applied:</a:t>
            </a:r>
          </a:p>
        </p:txBody>
      </p:sp>
      <p:sp>
        <p:nvSpPr>
          <p:cNvPr id="11" name="TextBox 10"/>
          <p:cNvSpPr txBox="1"/>
          <p:nvPr/>
        </p:nvSpPr>
        <p:spPr>
          <a:xfrm>
            <a:off x="304792" y="3087213"/>
            <a:ext cx="5638658" cy="2559928"/>
          </a:xfrm>
          <a:prstGeom prst="rect">
            <a:avLst/>
          </a:prstGeom>
          <a:noFill/>
        </p:spPr>
        <p:txBody>
          <a:bodyPr wrap="square" lIns="0" tIns="0" rIns="0" bIns="0">
            <a:spAutoFit/>
          </a:bodyPr>
          <a:lstStyle/>
          <a:p>
            <a:pPr marL="152247" indent="-15224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Azure Billing and Active Directory foundation providing enterprise identity and cost management baseline</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Identity and Access Management controls governing user authentication, authorization, and privilege elevation</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Network Topology and Connectivity architecture including hybrid connectivity and security enforcement</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Resource Organization, Governance policies, Security posture, and Platform Automation maturity</a:t>
            </a:r>
          </a:p>
        </p:txBody>
      </p:sp>
      <p:sp>
        <p:nvSpPr>
          <p:cNvPr id="12" name="TextBox 11"/>
          <p:cNvSpPr txBox="1"/>
          <p:nvPr/>
        </p:nvSpPr>
        <p:spPr>
          <a:xfrm>
            <a:off x="6248243" y="3087213"/>
            <a:ext cx="5638658" cy="2163757"/>
          </a:xfrm>
          <a:prstGeom prst="rect">
            <a:avLst/>
          </a:prstGeom>
          <a:noFill/>
        </p:spPr>
        <p:txBody>
          <a:bodyPr wrap="square" lIns="0" tIns="0" rIns="0" bIns="0">
            <a:spAutoFit/>
          </a:bodyPr>
          <a:lstStyle/>
          <a:p>
            <a:pPr marL="152247" indent="-15224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Microsoft Azure Landing Zone Review standardized questionnaire administered through collaborative workshop sessions</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Real-time validation using Azure Portal to confirm current state configurations and verify responses</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Automated scoring engine with pillar-wise maturity evaluation generating objective assessment results</a:t>
            </a:r>
          </a:p>
        </p:txBody>
      </p:sp>
    </p:spTree>
    <p:extLst>
      <p:ext uri="{BB962C8B-B14F-4D97-AF65-F5344CB8AC3E}">
        <p14:creationId xmlns:p14="http://schemas.microsoft.com/office/powerpoint/2010/main" val="1871072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008757"/>
            <a:ext cx="5638800" cy="1557337"/>
          </a:xfrm>
          <a:prstGeom prst="roundRect">
            <a:avLst>
              <a:gd name="adj" fmla="val 9785"/>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008757"/>
            <a:ext cx="5638800" cy="1045368"/>
          </a:xfrm>
          <a:prstGeom prst="roundRect">
            <a:avLst>
              <a:gd name="adj" fmla="val 1457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792" y="295267"/>
            <a:ext cx="8793885" cy="476238"/>
          </a:xfrm>
          <a:prstGeom prst="rect">
            <a:avLst/>
          </a:prstGeom>
          <a:noFill/>
        </p:spPr>
        <p:txBody>
          <a:bodyPr wrap="none" lIns="0" tIns="0" rIns="0" bIns="0">
            <a:spAutoFit/>
          </a:bodyPr>
          <a:lstStyle/>
          <a:p>
            <a:pPr algn="l"/>
            <a:r>
              <a:rPr sz="2744" b="1" i="0">
                <a:solidFill>
                  <a:srgbClr val="7B3F94"/>
                </a:solidFill>
                <a:latin typeface="Montserrat"/>
              </a:rPr>
              <a:t>Centralized Operating Model Limits Agility</a:t>
            </a:r>
          </a:p>
        </p:txBody>
      </p:sp>
      <p:sp>
        <p:nvSpPr>
          <p:cNvPr id="5" name="TextBox 4"/>
          <p:cNvSpPr txBox="1"/>
          <p:nvPr/>
        </p:nvSpPr>
        <p:spPr>
          <a:xfrm>
            <a:off x="973758" y="1227801"/>
            <a:ext cx="4300578" cy="1026293"/>
          </a:xfrm>
          <a:prstGeom prst="rect">
            <a:avLst/>
          </a:prstGeom>
          <a:noFill/>
        </p:spPr>
        <p:txBody>
          <a:bodyPr wrap="square" lIns="0" tIns="0" rIns="0" bIns="0">
            <a:spAutoFit/>
          </a:bodyPr>
          <a:lstStyle/>
          <a:p>
            <a:pPr algn="l"/>
            <a:r>
              <a:rPr sz="2955" b="1" i="0">
                <a:solidFill>
                  <a:srgbClr val="7B3F94"/>
                </a:solidFill>
                <a:latin typeface="Montserrat"/>
              </a:rPr>
              <a:t>Centralized Control Model</a:t>
            </a:r>
          </a:p>
        </p:txBody>
      </p:sp>
      <p:sp>
        <p:nvSpPr>
          <p:cNvPr id="6" name="TextBox 5"/>
          <p:cNvSpPr txBox="1"/>
          <p:nvPr/>
        </p:nvSpPr>
        <p:spPr>
          <a:xfrm>
            <a:off x="304792" y="2748786"/>
            <a:ext cx="1494345" cy="266693"/>
          </a:xfrm>
          <a:prstGeom prst="rect">
            <a:avLst/>
          </a:prstGeom>
          <a:noFill/>
        </p:spPr>
        <p:txBody>
          <a:bodyPr wrap="none" lIns="0" tIns="0" rIns="0" bIns="0">
            <a:spAutoFit/>
          </a:bodyPr>
          <a:lstStyle/>
          <a:p>
            <a:pPr algn="l"/>
            <a:r>
              <a:rPr sz="1477" b="1" i="0">
                <a:solidFill>
                  <a:srgbClr val="7B3F94"/>
                </a:solidFill>
                <a:latin typeface="Montserrat"/>
              </a:rPr>
              <a:t>Current State</a:t>
            </a:r>
          </a:p>
        </p:txBody>
      </p:sp>
      <p:sp>
        <p:nvSpPr>
          <p:cNvPr id="7" name="TextBox 6"/>
          <p:cNvSpPr txBox="1"/>
          <p:nvPr/>
        </p:nvSpPr>
        <p:spPr>
          <a:xfrm>
            <a:off x="6842945" y="1227801"/>
            <a:ext cx="4449105" cy="514337"/>
          </a:xfrm>
          <a:prstGeom prst="rect">
            <a:avLst/>
          </a:prstGeom>
          <a:noFill/>
        </p:spPr>
        <p:txBody>
          <a:bodyPr wrap="none" lIns="0" tIns="0" rIns="0" bIns="0">
            <a:spAutoFit/>
          </a:bodyPr>
          <a:lstStyle/>
          <a:p>
            <a:pPr algn="l"/>
            <a:r>
              <a:rPr sz="2955" b="1" i="0">
                <a:solidFill>
                  <a:srgbClr val="7B3F94"/>
                </a:solidFill>
                <a:latin typeface="Montserrat"/>
              </a:rPr>
              <a:t>Limited Self-Service</a:t>
            </a:r>
          </a:p>
        </p:txBody>
      </p:sp>
      <p:sp>
        <p:nvSpPr>
          <p:cNvPr id="8" name="TextBox 7"/>
          <p:cNvSpPr txBox="1"/>
          <p:nvPr/>
        </p:nvSpPr>
        <p:spPr>
          <a:xfrm>
            <a:off x="6248243" y="2236830"/>
            <a:ext cx="1559828" cy="266693"/>
          </a:xfrm>
          <a:prstGeom prst="rect">
            <a:avLst/>
          </a:prstGeom>
          <a:noFill/>
        </p:spPr>
        <p:txBody>
          <a:bodyPr wrap="none" lIns="0" tIns="0" rIns="0" bIns="0">
            <a:spAutoFit/>
          </a:bodyPr>
          <a:lstStyle/>
          <a:p>
            <a:pPr algn="l"/>
            <a:r>
              <a:rPr sz="1477" b="1" i="0">
                <a:solidFill>
                  <a:srgbClr val="7B3F94"/>
                </a:solidFill>
                <a:latin typeface="Montserrat"/>
              </a:rPr>
              <a:t>Maturity View</a:t>
            </a:r>
          </a:p>
        </p:txBody>
      </p:sp>
      <p:sp>
        <p:nvSpPr>
          <p:cNvPr id="9" name="TextBox 8"/>
          <p:cNvSpPr txBox="1"/>
          <p:nvPr/>
        </p:nvSpPr>
        <p:spPr>
          <a:xfrm>
            <a:off x="304792" y="3330838"/>
            <a:ext cx="5638658" cy="1767587"/>
          </a:xfrm>
          <a:prstGeom prst="rect">
            <a:avLst/>
          </a:prstGeom>
          <a:noFill/>
        </p:spPr>
        <p:txBody>
          <a:bodyPr wrap="square" lIns="0" tIns="0" rIns="0" bIns="0">
            <a:spAutoFit/>
          </a:bodyPr>
          <a:lstStyle/>
          <a:p>
            <a:pPr marL="137067" indent="-13706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Centralized teams manage all core networking, security controls, and shared platform services for the entire organization</a:t>
            </a:r>
          </a:p>
          <a:p>
            <a:pPr marL="137067" indent="-13706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Application teams depend on central approval workflows and manual provisioning for infrastructure changes and deployments</a:t>
            </a:r>
          </a:p>
        </p:txBody>
      </p:sp>
      <p:sp>
        <p:nvSpPr>
          <p:cNvPr id="10" name="TextBox 9"/>
          <p:cNvSpPr txBox="1"/>
          <p:nvPr/>
        </p:nvSpPr>
        <p:spPr>
          <a:xfrm>
            <a:off x="6248243" y="2818882"/>
            <a:ext cx="5638658" cy="1493304"/>
          </a:xfrm>
          <a:prstGeom prst="rect">
            <a:avLst/>
          </a:prstGeom>
          <a:noFill/>
        </p:spPr>
        <p:txBody>
          <a:bodyPr wrap="square" lIns="0" tIns="0" rIns="0" bIns="0">
            <a:spAutoFit/>
          </a:bodyPr>
          <a:lstStyle/>
          <a:p>
            <a:pPr marL="137067" indent="-13706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Operating model aligns with early cloud adoption but creates bottlenecks limiting organizational agility</a:t>
            </a:r>
          </a:p>
          <a:p>
            <a:pPr marL="137067" indent="-13706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As workload diversity increases, this model will constrain business responsiveness and create unsustainable operational overhead</a:t>
            </a:r>
          </a:p>
        </p:txBody>
      </p:sp>
    </p:spTree>
    <p:extLst>
      <p:ext uri="{BB962C8B-B14F-4D97-AF65-F5344CB8AC3E}">
        <p14:creationId xmlns:p14="http://schemas.microsoft.com/office/powerpoint/2010/main" val="1172947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04792" y="1912988"/>
            <a:ext cx="3962300" cy="3031701"/>
          </a:xfrm>
          <a:prstGeom prst="rect">
            <a:avLst/>
          </a:prstGeom>
        </p:spPr>
      </p:pic>
      <p:sp>
        <p:nvSpPr>
          <p:cNvPr id="3" name="Rounded Rectangle 2"/>
          <p:cNvSpPr/>
          <p:nvPr/>
        </p:nvSpPr>
        <p:spPr>
          <a:xfrm>
            <a:off x="4876800" y="2015876"/>
            <a:ext cx="2235249" cy="1176932"/>
          </a:xfrm>
          <a:prstGeom prst="roundRect">
            <a:avLst>
              <a:gd name="adj" fmla="val 1294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264449" y="2015876"/>
            <a:ext cx="2235249" cy="1176932"/>
          </a:xfrm>
          <a:prstGeom prst="roundRect">
            <a:avLst>
              <a:gd name="adj" fmla="val 1294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52099" y="2015876"/>
            <a:ext cx="2235249" cy="1176932"/>
          </a:xfrm>
          <a:prstGeom prst="roundRect">
            <a:avLst>
              <a:gd name="adj" fmla="val 12948"/>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76678" y="863330"/>
            <a:ext cx="5812783" cy="923901"/>
          </a:xfrm>
          <a:prstGeom prst="rect">
            <a:avLst/>
          </a:prstGeom>
          <a:noFill/>
        </p:spPr>
        <p:txBody>
          <a:bodyPr wrap="square" lIns="0" tIns="0" rIns="0" bIns="0">
            <a:spAutoFit/>
          </a:bodyPr>
          <a:lstStyle/>
          <a:p>
            <a:pPr algn="l"/>
            <a:r>
              <a:rPr sz="2639" b="1" i="0">
                <a:solidFill>
                  <a:srgbClr val="7B3F94"/>
                </a:solidFill>
                <a:latin typeface="Montserrat"/>
              </a:rPr>
              <a:t>Identity Security Gaps Create Elevated Risk</a:t>
            </a:r>
          </a:p>
        </p:txBody>
      </p:sp>
      <p:sp>
        <p:nvSpPr>
          <p:cNvPr id="7" name="TextBox 6"/>
          <p:cNvSpPr txBox="1"/>
          <p:nvPr/>
        </p:nvSpPr>
        <p:spPr>
          <a:xfrm>
            <a:off x="5405451" y="2158697"/>
            <a:ext cx="1177647" cy="662417"/>
          </a:xfrm>
          <a:prstGeom prst="rect">
            <a:avLst/>
          </a:prstGeom>
          <a:noFill/>
        </p:spPr>
        <p:txBody>
          <a:bodyPr wrap="square" lIns="0" tIns="0" rIns="0" bIns="0">
            <a:spAutoFit/>
          </a:bodyPr>
          <a:lstStyle/>
          <a:p>
            <a:pPr algn="ctr"/>
            <a:r>
              <a:rPr sz="1899" b="1" i="0">
                <a:solidFill>
                  <a:srgbClr val="7B3F94"/>
                </a:solidFill>
                <a:latin typeface="Montserrat"/>
              </a:rPr>
              <a:t>MFA Enabled</a:t>
            </a:r>
          </a:p>
        </p:txBody>
      </p:sp>
      <p:sp>
        <p:nvSpPr>
          <p:cNvPr id="8" name="TextBox 7"/>
          <p:cNvSpPr txBox="1"/>
          <p:nvPr/>
        </p:nvSpPr>
        <p:spPr>
          <a:xfrm>
            <a:off x="5611721" y="2872013"/>
            <a:ext cx="764957" cy="152396"/>
          </a:xfrm>
          <a:prstGeom prst="rect">
            <a:avLst/>
          </a:prstGeom>
          <a:noFill/>
        </p:spPr>
        <p:txBody>
          <a:bodyPr wrap="none" lIns="0" tIns="0" rIns="0" bIns="0">
            <a:spAutoFit/>
          </a:bodyPr>
          <a:lstStyle/>
          <a:p>
            <a:pPr algn="ctr"/>
            <a:r>
              <a:rPr sz="937" b="0" i="0">
                <a:solidFill>
                  <a:srgbClr val="333333"/>
                </a:solidFill>
                <a:latin typeface="Montserrat"/>
              </a:rPr>
              <a:t>for All Users</a:t>
            </a:r>
          </a:p>
        </p:txBody>
      </p:sp>
      <p:sp>
        <p:nvSpPr>
          <p:cNvPr id="9" name="TextBox 8"/>
          <p:cNvSpPr txBox="1"/>
          <p:nvPr/>
        </p:nvSpPr>
        <p:spPr>
          <a:xfrm>
            <a:off x="8056460" y="2323148"/>
            <a:ext cx="650660" cy="333366"/>
          </a:xfrm>
          <a:prstGeom prst="rect">
            <a:avLst/>
          </a:prstGeom>
          <a:noFill/>
        </p:spPr>
        <p:txBody>
          <a:bodyPr wrap="none" lIns="0" tIns="0" rIns="0" bIns="0">
            <a:spAutoFit/>
          </a:bodyPr>
          <a:lstStyle/>
          <a:p>
            <a:pPr algn="ctr"/>
            <a:r>
              <a:rPr sz="1899" b="1" i="0">
                <a:solidFill>
                  <a:srgbClr val="7B3F94"/>
                </a:solidFill>
                <a:latin typeface="Montserrat"/>
              </a:rPr>
              <a:t>Zero</a:t>
            </a:r>
          </a:p>
        </p:txBody>
      </p:sp>
      <p:sp>
        <p:nvSpPr>
          <p:cNvPr id="10" name="TextBox 9"/>
          <p:cNvSpPr txBox="1"/>
          <p:nvPr/>
        </p:nvSpPr>
        <p:spPr>
          <a:xfrm>
            <a:off x="7509530" y="2707413"/>
            <a:ext cx="1744668" cy="152396"/>
          </a:xfrm>
          <a:prstGeom prst="rect">
            <a:avLst/>
          </a:prstGeom>
          <a:noFill/>
        </p:spPr>
        <p:txBody>
          <a:bodyPr wrap="none" lIns="0" tIns="0" rIns="0" bIns="0">
            <a:spAutoFit/>
          </a:bodyPr>
          <a:lstStyle/>
          <a:p>
            <a:pPr algn="ctr"/>
            <a:r>
              <a:rPr sz="937" b="0" i="0">
                <a:solidFill>
                  <a:srgbClr val="333333"/>
                </a:solidFill>
                <a:latin typeface="Montserrat"/>
              </a:rPr>
              <a:t>Conditional Access Policies</a:t>
            </a:r>
          </a:p>
        </p:txBody>
      </p:sp>
      <p:sp>
        <p:nvSpPr>
          <p:cNvPr id="11" name="TextBox 10"/>
          <p:cNvSpPr txBox="1"/>
          <p:nvPr/>
        </p:nvSpPr>
        <p:spPr>
          <a:xfrm>
            <a:off x="10254894" y="2323148"/>
            <a:ext cx="1028971" cy="333366"/>
          </a:xfrm>
          <a:prstGeom prst="rect">
            <a:avLst/>
          </a:prstGeom>
          <a:noFill/>
        </p:spPr>
        <p:txBody>
          <a:bodyPr wrap="none" lIns="0" tIns="0" rIns="0" bIns="0">
            <a:spAutoFit/>
          </a:bodyPr>
          <a:lstStyle/>
          <a:p>
            <a:pPr algn="ctr"/>
            <a:r>
              <a:rPr sz="1899" b="1" i="0">
                <a:solidFill>
                  <a:srgbClr val="7B3F94"/>
                </a:solidFill>
                <a:latin typeface="Montserrat"/>
              </a:rPr>
              <a:t>No PIM</a:t>
            </a:r>
          </a:p>
        </p:txBody>
      </p:sp>
      <p:sp>
        <p:nvSpPr>
          <p:cNvPr id="12" name="TextBox 11"/>
          <p:cNvSpPr txBox="1"/>
          <p:nvPr/>
        </p:nvSpPr>
        <p:spPr>
          <a:xfrm>
            <a:off x="10237928" y="2707413"/>
            <a:ext cx="1062903" cy="152396"/>
          </a:xfrm>
          <a:prstGeom prst="rect">
            <a:avLst/>
          </a:prstGeom>
          <a:noFill/>
        </p:spPr>
        <p:txBody>
          <a:bodyPr wrap="none" lIns="0" tIns="0" rIns="0" bIns="0">
            <a:spAutoFit/>
          </a:bodyPr>
          <a:lstStyle/>
          <a:p>
            <a:pPr algn="ctr"/>
            <a:r>
              <a:rPr sz="937" b="0" i="0">
                <a:solidFill>
                  <a:srgbClr val="333333"/>
                </a:solidFill>
                <a:latin typeface="Montserrat"/>
              </a:rPr>
              <a:t>Implementation</a:t>
            </a:r>
          </a:p>
        </p:txBody>
      </p:sp>
      <p:sp>
        <p:nvSpPr>
          <p:cNvPr id="13" name="TextBox 12"/>
          <p:cNvSpPr txBox="1"/>
          <p:nvPr/>
        </p:nvSpPr>
        <p:spPr>
          <a:xfrm>
            <a:off x="4876678" y="3421324"/>
            <a:ext cx="7010224" cy="2879752"/>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Entra ID synchronized with on-premises AD provides unified identity with MFA enabled, establishing baseline authentication security</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Critical gaps: no Conditional Access policies, no Privileged Identity Management, and no emergency break-glass accounts configured</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RBAC assignments mix individual users with security groups without consistent governance, limiting granular permission controls</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Identity gaps create elevated risk through over-privileged access and insufficient privilege governance, enabling potential unauthorized access</a:t>
            </a:r>
            <a:r>
              <a:rPr sz="937" b="0" i="0">
                <a:solidFill>
                  <a:srgbClr val="670E8C"/>
                </a:solidFill>
                <a:latin typeface="Montserrat"/>
              </a:rPr>
              <a:t> </a:t>
            </a:r>
            <a:r>
              <a:rPr sz="937" b="0" i="0">
                <a:solidFill>
                  <a:srgbClr val="670E8C"/>
                </a:solidFill>
                <a:latin typeface="Montserrat"/>
                <a:hlinkClick r:id="rId3" tooltip="Rackspace Presentation Template.pptx"/>
              </a:rPr>
              <a:t>[1]</a:t>
            </a:r>
          </a:p>
        </p:txBody>
      </p:sp>
    </p:spTree>
    <p:extLst>
      <p:ext uri="{BB962C8B-B14F-4D97-AF65-F5344CB8AC3E}">
        <p14:creationId xmlns:p14="http://schemas.microsoft.com/office/powerpoint/2010/main" val="1936171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72400" y="0"/>
            <a:ext cx="4419600" cy="6858000"/>
          </a:xfrm>
          <a:prstGeom prst="rect">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077200" y="32444"/>
            <a:ext cx="3810000" cy="1066651"/>
          </a:xfrm>
          <a:prstGeom prst="roundRect">
            <a:avLst>
              <a:gd name="adj" fmla="val 14287"/>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96193" y="1341949"/>
            <a:ext cx="171513" cy="200008"/>
          </a:xfrm>
          <a:prstGeom prst="rect">
            <a:avLst/>
          </a:prstGeom>
        </p:spPr>
      </p:pic>
      <p:sp>
        <p:nvSpPr>
          <p:cNvPr id="5" name="Rounded Rectangle 4"/>
          <p:cNvSpPr/>
          <p:nvPr/>
        </p:nvSpPr>
        <p:spPr>
          <a:xfrm>
            <a:off x="8077200" y="1784895"/>
            <a:ext cx="3810000" cy="1301204"/>
          </a:xfrm>
          <a:prstGeom prst="roundRect">
            <a:avLst>
              <a:gd name="adj" fmla="val 11712"/>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96193" y="3328904"/>
            <a:ext cx="171513" cy="200008"/>
          </a:xfrm>
          <a:prstGeom prst="rect">
            <a:avLst/>
          </a:prstGeom>
        </p:spPr>
      </p:pic>
      <p:sp>
        <p:nvSpPr>
          <p:cNvPr id="7" name="Rounded Rectangle 6"/>
          <p:cNvSpPr/>
          <p:nvPr/>
        </p:nvSpPr>
        <p:spPr>
          <a:xfrm>
            <a:off x="8077200" y="3771900"/>
            <a:ext cx="3810000" cy="1301204"/>
          </a:xfrm>
          <a:prstGeom prst="roundRect">
            <a:avLst>
              <a:gd name="adj" fmla="val 11712"/>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96193" y="5315858"/>
            <a:ext cx="171513" cy="200008"/>
          </a:xfrm>
          <a:prstGeom prst="rect">
            <a:avLst/>
          </a:prstGeom>
        </p:spPr>
      </p:pic>
      <p:sp>
        <p:nvSpPr>
          <p:cNvPr id="9" name="Rounded Rectangle 8"/>
          <p:cNvSpPr/>
          <p:nvPr/>
        </p:nvSpPr>
        <p:spPr>
          <a:xfrm>
            <a:off x="8077200" y="5758904"/>
            <a:ext cx="3810000" cy="1066651"/>
          </a:xfrm>
          <a:prstGeom prst="roundRect">
            <a:avLst>
              <a:gd name="adj" fmla="val 14287"/>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4792" y="1110676"/>
            <a:ext cx="6604082" cy="923901"/>
          </a:xfrm>
          <a:prstGeom prst="rect">
            <a:avLst/>
          </a:prstGeom>
          <a:noFill/>
        </p:spPr>
        <p:txBody>
          <a:bodyPr wrap="square" lIns="0" tIns="0" rIns="0" bIns="0">
            <a:spAutoFit/>
          </a:bodyPr>
          <a:lstStyle/>
          <a:p>
            <a:pPr algn="l"/>
            <a:r>
              <a:rPr sz="2639" b="1" i="0">
                <a:solidFill>
                  <a:srgbClr val="7B3F94"/>
                </a:solidFill>
                <a:latin typeface="Montserrat"/>
              </a:rPr>
              <a:t>Strong Network Foundation with Optimization Opportunities</a:t>
            </a:r>
          </a:p>
        </p:txBody>
      </p:sp>
      <p:sp>
        <p:nvSpPr>
          <p:cNvPr id="11" name="TextBox 10"/>
          <p:cNvSpPr txBox="1"/>
          <p:nvPr/>
        </p:nvSpPr>
        <p:spPr>
          <a:xfrm>
            <a:off x="8305592" y="270562"/>
            <a:ext cx="1027334" cy="266693"/>
          </a:xfrm>
          <a:prstGeom prst="rect">
            <a:avLst/>
          </a:prstGeom>
          <a:noFill/>
        </p:spPr>
        <p:txBody>
          <a:bodyPr wrap="none" lIns="0" tIns="0" rIns="0" bIns="0">
            <a:spAutoFit/>
          </a:bodyPr>
          <a:lstStyle/>
          <a:p>
            <a:pPr algn="l"/>
            <a:r>
              <a:rPr sz="1477" b="1" i="0">
                <a:solidFill>
                  <a:srgbClr val="7B3F94"/>
                </a:solidFill>
                <a:latin typeface="Montserrat"/>
              </a:rPr>
              <a:t>Topology</a:t>
            </a:r>
          </a:p>
        </p:txBody>
      </p:sp>
      <p:sp>
        <p:nvSpPr>
          <p:cNvPr id="12" name="TextBox 11"/>
          <p:cNvSpPr txBox="1"/>
          <p:nvPr/>
        </p:nvSpPr>
        <p:spPr>
          <a:xfrm>
            <a:off x="8305592" y="645451"/>
            <a:ext cx="2828407" cy="200019"/>
          </a:xfrm>
          <a:prstGeom prst="rect">
            <a:avLst/>
          </a:prstGeom>
          <a:noFill/>
        </p:spPr>
        <p:txBody>
          <a:bodyPr wrap="none" lIns="0" tIns="0" rIns="0" bIns="0">
            <a:spAutoFit/>
          </a:bodyPr>
          <a:lstStyle/>
          <a:p>
            <a:pPr algn="l"/>
            <a:r>
              <a:rPr sz="1213" b="0" i="0">
                <a:solidFill>
                  <a:srgbClr val="333333"/>
                </a:solidFill>
                <a:latin typeface="Montserrat"/>
              </a:rPr>
              <a:t>Hub-and-Spoke with Virtual WAN</a:t>
            </a:r>
          </a:p>
        </p:txBody>
      </p:sp>
      <p:sp>
        <p:nvSpPr>
          <p:cNvPr id="13" name="TextBox 12"/>
          <p:cNvSpPr txBox="1"/>
          <p:nvPr/>
        </p:nvSpPr>
        <p:spPr>
          <a:xfrm>
            <a:off x="8305592" y="2022970"/>
            <a:ext cx="1411897" cy="266693"/>
          </a:xfrm>
          <a:prstGeom prst="rect">
            <a:avLst/>
          </a:prstGeom>
          <a:noFill/>
        </p:spPr>
        <p:txBody>
          <a:bodyPr wrap="none" lIns="0" tIns="0" rIns="0" bIns="0">
            <a:spAutoFit/>
          </a:bodyPr>
          <a:lstStyle/>
          <a:p>
            <a:pPr algn="l"/>
            <a:r>
              <a:rPr sz="1477" b="1" i="0">
                <a:solidFill>
                  <a:srgbClr val="7B3F94"/>
                </a:solidFill>
                <a:latin typeface="Montserrat"/>
              </a:rPr>
              <a:t>Connectivity</a:t>
            </a:r>
          </a:p>
        </p:txBody>
      </p:sp>
      <p:sp>
        <p:nvSpPr>
          <p:cNvPr id="14" name="TextBox 13"/>
          <p:cNvSpPr txBox="1"/>
          <p:nvPr/>
        </p:nvSpPr>
        <p:spPr>
          <a:xfrm>
            <a:off x="8305592" y="2397858"/>
            <a:ext cx="2994793" cy="434567"/>
          </a:xfrm>
          <a:prstGeom prst="rect">
            <a:avLst/>
          </a:prstGeom>
          <a:noFill/>
        </p:spPr>
        <p:txBody>
          <a:bodyPr wrap="square" lIns="0" tIns="0" rIns="0" bIns="0">
            <a:spAutoFit/>
          </a:bodyPr>
          <a:lstStyle/>
          <a:p>
            <a:pPr algn="l"/>
            <a:r>
              <a:rPr sz="1213" b="0" i="0">
                <a:solidFill>
                  <a:srgbClr val="333333"/>
                </a:solidFill>
                <a:latin typeface="Montserrat"/>
              </a:rPr>
              <a:t>Cisco Meraki SD-WAN and Palo Alto NVAs</a:t>
            </a:r>
          </a:p>
        </p:txBody>
      </p:sp>
      <p:sp>
        <p:nvSpPr>
          <p:cNvPr id="15" name="TextBox 14"/>
          <p:cNvSpPr txBox="1"/>
          <p:nvPr/>
        </p:nvSpPr>
        <p:spPr>
          <a:xfrm>
            <a:off x="8305592" y="4009924"/>
            <a:ext cx="913633" cy="266693"/>
          </a:xfrm>
          <a:prstGeom prst="rect">
            <a:avLst/>
          </a:prstGeom>
          <a:noFill/>
        </p:spPr>
        <p:txBody>
          <a:bodyPr wrap="none" lIns="0" tIns="0" rIns="0" bIns="0">
            <a:spAutoFit/>
          </a:bodyPr>
          <a:lstStyle/>
          <a:p>
            <a:pPr algn="l"/>
            <a:r>
              <a:rPr sz="1477" b="1" i="0">
                <a:solidFill>
                  <a:srgbClr val="7B3F94"/>
                </a:solidFill>
                <a:latin typeface="Montserrat"/>
              </a:rPr>
              <a:t>Security</a:t>
            </a:r>
          </a:p>
        </p:txBody>
      </p:sp>
      <p:sp>
        <p:nvSpPr>
          <p:cNvPr id="16" name="TextBox 15"/>
          <p:cNvSpPr txBox="1"/>
          <p:nvPr/>
        </p:nvSpPr>
        <p:spPr>
          <a:xfrm>
            <a:off x="8305592" y="4384813"/>
            <a:ext cx="2776021" cy="434567"/>
          </a:xfrm>
          <a:prstGeom prst="rect">
            <a:avLst/>
          </a:prstGeom>
          <a:noFill/>
        </p:spPr>
        <p:txBody>
          <a:bodyPr wrap="square" lIns="0" tIns="0" rIns="0" bIns="0">
            <a:spAutoFit/>
          </a:bodyPr>
          <a:lstStyle/>
          <a:p>
            <a:pPr algn="l"/>
            <a:r>
              <a:rPr sz="1213" b="0" i="0">
                <a:solidFill>
                  <a:srgbClr val="333333"/>
                </a:solidFill>
                <a:latin typeface="Montserrat"/>
              </a:rPr>
              <a:t>Azure Firewall Premium centrally managed</a:t>
            </a:r>
          </a:p>
        </p:txBody>
      </p:sp>
      <p:sp>
        <p:nvSpPr>
          <p:cNvPr id="17" name="TextBox 16"/>
          <p:cNvSpPr txBox="1"/>
          <p:nvPr/>
        </p:nvSpPr>
        <p:spPr>
          <a:xfrm>
            <a:off x="8305592" y="5996879"/>
            <a:ext cx="787429" cy="266693"/>
          </a:xfrm>
          <a:prstGeom prst="rect">
            <a:avLst/>
          </a:prstGeom>
          <a:noFill/>
        </p:spPr>
        <p:txBody>
          <a:bodyPr wrap="none" lIns="0" tIns="0" rIns="0" bIns="0">
            <a:spAutoFit/>
          </a:bodyPr>
          <a:lstStyle/>
          <a:p>
            <a:pPr algn="l"/>
            <a:r>
              <a:rPr sz="1477" b="1" i="0">
                <a:solidFill>
                  <a:srgbClr val="7B3F94"/>
                </a:solidFill>
                <a:latin typeface="Montserrat"/>
              </a:rPr>
              <a:t>Private</a:t>
            </a:r>
          </a:p>
        </p:txBody>
      </p:sp>
      <p:sp>
        <p:nvSpPr>
          <p:cNvPr id="18" name="TextBox 17"/>
          <p:cNvSpPr txBox="1"/>
          <p:nvPr/>
        </p:nvSpPr>
        <p:spPr>
          <a:xfrm>
            <a:off x="8305592" y="6371767"/>
            <a:ext cx="2835253" cy="200019"/>
          </a:xfrm>
          <a:prstGeom prst="rect">
            <a:avLst/>
          </a:prstGeom>
          <a:noFill/>
        </p:spPr>
        <p:txBody>
          <a:bodyPr wrap="none" lIns="0" tIns="0" rIns="0" bIns="0">
            <a:spAutoFit/>
          </a:bodyPr>
          <a:lstStyle/>
          <a:p>
            <a:pPr algn="l"/>
            <a:r>
              <a:rPr sz="1213" b="0" i="0">
                <a:solidFill>
                  <a:srgbClr val="333333"/>
                </a:solidFill>
                <a:latin typeface="Montserrat"/>
              </a:rPr>
              <a:t>Selective Private Endpoints usage</a:t>
            </a:r>
          </a:p>
        </p:txBody>
      </p:sp>
      <p:sp>
        <p:nvSpPr>
          <p:cNvPr id="19" name="TextBox 18"/>
          <p:cNvSpPr txBox="1"/>
          <p:nvPr/>
        </p:nvSpPr>
        <p:spPr>
          <a:xfrm>
            <a:off x="304792" y="2263172"/>
            <a:ext cx="7162620" cy="3474305"/>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Hub-and-Spoke architecture using Azure Virtual WAN provides scalable foundation for multiple virtual networks and branch connectivity with centralized routing and security policy enforcement</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Cisco Meraki SD-WAN and Palo Alto NVAs deliver connectivity with Azure Firewall Premium centrally managed, providing comprehensive network security inspection and threat protection</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Design lacks Azure ExpressRoute private connectivity and Azure-native VPN gateways, relying on third-party network virtual appliances for hybrid connectivity instead</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Private Endpoints deployed selectively rather than consistently across all Azure services, limiting full isolation from public internet exposure</a:t>
            </a:r>
          </a:p>
        </p:txBody>
      </p:sp>
    </p:spTree>
    <p:extLst>
      <p:ext uri="{BB962C8B-B14F-4D97-AF65-F5344CB8AC3E}">
        <p14:creationId xmlns:p14="http://schemas.microsoft.com/office/powerpoint/2010/main" val="3498801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630560"/>
            <a:ext cx="3759249" cy="1219200"/>
          </a:xfrm>
          <a:prstGeom prst="roundRect">
            <a:avLst>
              <a:gd name="adj" fmla="val 12500"/>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216449" y="1630560"/>
            <a:ext cx="3759249" cy="1219200"/>
          </a:xfrm>
          <a:prstGeom prst="roundRect">
            <a:avLst>
              <a:gd name="adj" fmla="val 12500"/>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28099" y="1630560"/>
            <a:ext cx="3759249" cy="1219200"/>
          </a:xfrm>
          <a:prstGeom prst="roundRect">
            <a:avLst>
              <a:gd name="adj" fmla="val 12500"/>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4792" y="295267"/>
            <a:ext cx="8942263" cy="1101002"/>
          </a:xfrm>
          <a:prstGeom prst="rect">
            <a:avLst/>
          </a:prstGeom>
          <a:noFill/>
        </p:spPr>
        <p:txBody>
          <a:bodyPr wrap="square" lIns="0" tIns="0" rIns="0" bIns="0">
            <a:spAutoFit/>
          </a:bodyPr>
          <a:lstStyle/>
          <a:p>
            <a:pPr algn="l"/>
            <a:r>
              <a:rPr sz="3167" b="1" i="0">
                <a:solidFill>
                  <a:srgbClr val="7B3F94"/>
                </a:solidFill>
                <a:latin typeface="Montserrat"/>
              </a:rPr>
              <a:t>Manual Governance Creates Cost and Compliance Risks</a:t>
            </a:r>
          </a:p>
        </p:txBody>
      </p:sp>
      <p:sp>
        <p:nvSpPr>
          <p:cNvPr id="6" name="TextBox 5"/>
          <p:cNvSpPr txBox="1"/>
          <p:nvPr/>
        </p:nvSpPr>
        <p:spPr>
          <a:xfrm>
            <a:off x="611817" y="1993651"/>
            <a:ext cx="3144957" cy="484572"/>
          </a:xfrm>
          <a:prstGeom prst="rect">
            <a:avLst/>
          </a:prstGeom>
          <a:noFill/>
        </p:spPr>
        <p:txBody>
          <a:bodyPr wrap="square" lIns="0" tIns="0" rIns="0" bIns="0">
            <a:spAutoFit/>
          </a:bodyPr>
          <a:lstStyle/>
          <a:p>
            <a:pPr algn="ctr"/>
            <a:r>
              <a:rPr sz="1266" b="1" i="0">
                <a:solidFill>
                  <a:srgbClr val="7B3F94"/>
                </a:solidFill>
                <a:latin typeface="Montserrat"/>
              </a:rPr>
              <a:t>Subscription-Level Cost Tracking Only</a:t>
            </a:r>
          </a:p>
        </p:txBody>
      </p:sp>
      <p:sp>
        <p:nvSpPr>
          <p:cNvPr id="7" name="TextBox 6"/>
          <p:cNvSpPr txBox="1"/>
          <p:nvPr/>
        </p:nvSpPr>
        <p:spPr>
          <a:xfrm>
            <a:off x="4997969" y="2121640"/>
            <a:ext cx="2195904" cy="228594"/>
          </a:xfrm>
          <a:prstGeom prst="rect">
            <a:avLst/>
          </a:prstGeom>
          <a:noFill/>
        </p:spPr>
        <p:txBody>
          <a:bodyPr wrap="none" lIns="0" tIns="0" rIns="0" bIns="0">
            <a:spAutoFit/>
          </a:bodyPr>
          <a:lstStyle/>
          <a:p>
            <a:pPr algn="ctr"/>
            <a:r>
              <a:rPr sz="1266" b="1" i="0">
                <a:solidFill>
                  <a:srgbClr val="7B3F94"/>
                </a:solidFill>
                <a:latin typeface="Montserrat"/>
              </a:rPr>
              <a:t>No Mandatory Tagging</a:t>
            </a:r>
          </a:p>
        </p:txBody>
      </p:sp>
      <p:sp>
        <p:nvSpPr>
          <p:cNvPr id="8" name="TextBox 7"/>
          <p:cNvSpPr txBox="1"/>
          <p:nvPr/>
        </p:nvSpPr>
        <p:spPr>
          <a:xfrm>
            <a:off x="8396523" y="2121640"/>
            <a:ext cx="3221750" cy="228594"/>
          </a:xfrm>
          <a:prstGeom prst="rect">
            <a:avLst/>
          </a:prstGeom>
          <a:noFill/>
        </p:spPr>
        <p:txBody>
          <a:bodyPr wrap="none" lIns="0" tIns="0" rIns="0" bIns="0">
            <a:spAutoFit/>
          </a:bodyPr>
          <a:lstStyle/>
          <a:p>
            <a:pPr algn="ctr"/>
            <a:r>
              <a:rPr sz="1266" b="1" i="0">
                <a:solidFill>
                  <a:srgbClr val="7B3F94"/>
                </a:solidFill>
                <a:latin typeface="Montserrat"/>
              </a:rPr>
              <a:t>Manual Subscription Provisioning</a:t>
            </a:r>
          </a:p>
        </p:txBody>
      </p:sp>
      <p:sp>
        <p:nvSpPr>
          <p:cNvPr id="9" name="TextBox 8"/>
          <p:cNvSpPr txBox="1"/>
          <p:nvPr/>
        </p:nvSpPr>
        <p:spPr>
          <a:xfrm>
            <a:off x="304792" y="3154482"/>
            <a:ext cx="11582110" cy="2559928"/>
          </a:xfrm>
          <a:prstGeom prst="rect">
            <a:avLst/>
          </a:prstGeom>
          <a:noFill/>
        </p:spPr>
        <p:txBody>
          <a:bodyPr wrap="square" lIns="0" tIns="0" rIns="0" bIns="0">
            <a:spAutoFit/>
          </a:bodyPr>
          <a:lstStyle/>
          <a:p>
            <a:pPr marL="152247" indent="-15224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Cost tracking implemented only at subscription level without granular resource visibility or tags, limiting chargeback capability</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No mandatory tagging or Azure Policy enforcement for consistent metadata, reducing efficiency and making compliance reporting difficult</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Azure Advisor recommendations not proactively reviewed, resulting in missed cost optimization and efficiency improvement opportunities</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Manual subscription provisioning without Infrastructure-as-Code creates configuration inconsistencies and increases deployment time and error risk</a:t>
            </a:r>
          </a:p>
        </p:txBody>
      </p:sp>
    </p:spTree>
    <p:extLst>
      <p:ext uri="{BB962C8B-B14F-4D97-AF65-F5344CB8AC3E}">
        <p14:creationId xmlns:p14="http://schemas.microsoft.com/office/powerpoint/2010/main" val="827731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819423"/>
            <a:ext cx="5638800" cy="642788"/>
          </a:xfrm>
          <a:prstGeom prst="roundRect">
            <a:avLst>
              <a:gd name="adj" fmla="val 23709"/>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04800" y="2614612"/>
            <a:ext cx="5638800" cy="642788"/>
          </a:xfrm>
          <a:prstGeom prst="roundRect">
            <a:avLst>
              <a:gd name="adj" fmla="val 23709"/>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792" y="295267"/>
            <a:ext cx="11021191" cy="514337"/>
          </a:xfrm>
          <a:prstGeom prst="rect">
            <a:avLst/>
          </a:prstGeom>
          <a:noFill/>
        </p:spPr>
        <p:txBody>
          <a:bodyPr wrap="none" lIns="0" tIns="0" rIns="0" bIns="0">
            <a:spAutoFit/>
          </a:bodyPr>
          <a:lstStyle/>
          <a:p>
            <a:pPr algn="l"/>
            <a:r>
              <a:rPr sz="2955" b="1" i="0">
                <a:solidFill>
                  <a:srgbClr val="7B3F94"/>
                </a:solidFill>
                <a:latin typeface="Montserrat"/>
              </a:rPr>
              <a:t>Reactive Security Posture Limits Scale Protection</a:t>
            </a:r>
          </a:p>
        </p:txBody>
      </p:sp>
      <p:sp>
        <p:nvSpPr>
          <p:cNvPr id="5" name="TextBox 4"/>
          <p:cNvSpPr txBox="1"/>
          <p:nvPr/>
        </p:nvSpPr>
        <p:spPr>
          <a:xfrm>
            <a:off x="304792" y="1131065"/>
            <a:ext cx="1708206" cy="295267"/>
          </a:xfrm>
          <a:prstGeom prst="rect">
            <a:avLst/>
          </a:prstGeom>
          <a:noFill/>
        </p:spPr>
        <p:txBody>
          <a:bodyPr wrap="none" lIns="0" tIns="0" rIns="0" bIns="0">
            <a:spAutoFit/>
          </a:bodyPr>
          <a:lstStyle/>
          <a:p>
            <a:pPr algn="l"/>
            <a:r>
              <a:rPr sz="1688" b="1" i="0">
                <a:solidFill>
                  <a:srgbClr val="7B3F94"/>
                </a:solidFill>
                <a:latin typeface="Montserrat"/>
              </a:rPr>
              <a:t>Current State</a:t>
            </a:r>
          </a:p>
        </p:txBody>
      </p:sp>
      <p:sp>
        <p:nvSpPr>
          <p:cNvPr id="6" name="TextBox 5"/>
          <p:cNvSpPr txBox="1"/>
          <p:nvPr/>
        </p:nvSpPr>
        <p:spPr>
          <a:xfrm>
            <a:off x="1546583" y="2021184"/>
            <a:ext cx="3154928" cy="238119"/>
          </a:xfrm>
          <a:prstGeom prst="rect">
            <a:avLst/>
          </a:prstGeom>
          <a:noFill/>
        </p:spPr>
        <p:txBody>
          <a:bodyPr wrap="none" lIns="0" tIns="0" rIns="0" bIns="0">
            <a:spAutoFit/>
          </a:bodyPr>
          <a:lstStyle/>
          <a:p>
            <a:pPr algn="ctr"/>
            <a:r>
              <a:rPr sz="1371" b="1" i="0">
                <a:solidFill>
                  <a:srgbClr val="7B3F94"/>
                </a:solidFill>
                <a:latin typeface="Montserrat"/>
              </a:rPr>
              <a:t>Trend Micro Monitoring Active</a:t>
            </a:r>
          </a:p>
        </p:txBody>
      </p:sp>
      <p:sp>
        <p:nvSpPr>
          <p:cNvPr id="7" name="TextBox 6"/>
          <p:cNvSpPr txBox="1"/>
          <p:nvPr/>
        </p:nvSpPr>
        <p:spPr>
          <a:xfrm>
            <a:off x="1776070" y="2816352"/>
            <a:ext cx="2695954" cy="238119"/>
          </a:xfrm>
          <a:prstGeom prst="rect">
            <a:avLst/>
          </a:prstGeom>
          <a:noFill/>
        </p:spPr>
        <p:txBody>
          <a:bodyPr wrap="none" lIns="0" tIns="0" rIns="0" bIns="0">
            <a:spAutoFit/>
          </a:bodyPr>
          <a:lstStyle/>
          <a:p>
            <a:pPr algn="ctr"/>
            <a:r>
              <a:rPr sz="1371" b="1" i="0">
                <a:solidFill>
                  <a:srgbClr val="7B3F94"/>
                </a:solidFill>
                <a:latin typeface="Montserrat"/>
              </a:rPr>
              <a:t>Manual Remediation Only</a:t>
            </a:r>
          </a:p>
        </p:txBody>
      </p:sp>
      <p:sp>
        <p:nvSpPr>
          <p:cNvPr id="8" name="TextBox 7"/>
          <p:cNvSpPr txBox="1"/>
          <p:nvPr/>
        </p:nvSpPr>
        <p:spPr>
          <a:xfrm>
            <a:off x="304792" y="3733557"/>
            <a:ext cx="5478970" cy="2422861"/>
          </a:xfrm>
          <a:prstGeom prst="rect">
            <a:avLst/>
          </a:prstGeom>
          <a:noFill/>
        </p:spPr>
        <p:txBody>
          <a:bodyPr wrap="square" lIns="0" tIns="0" rIns="0" bIns="0">
            <a:spAutoFit/>
          </a:bodyPr>
          <a:lstStyle/>
          <a:p>
            <a:pPr algn="l"/>
            <a:r>
              <a:rPr sz="1323" b="0" i="0">
                <a:solidFill>
                  <a:srgbClr val="333333"/>
                </a:solidFill>
                <a:latin typeface="Montserrat"/>
              </a:rPr>
              <a:t>Trend Micro deployed for continuous security posture monitoring and compliance checking across AGI's Azure environment. Security findings and policy violations monitored through Trend Micro console but not automatically enforced or remediated through Azure-native controls. Remediation actions performed manually by InfoSec team through Azure Portal on case-by-case basis without automated workflows or policy-driven enforcement capabilities.</a:t>
            </a:r>
          </a:p>
        </p:txBody>
      </p:sp>
      <p:sp>
        <p:nvSpPr>
          <p:cNvPr id="9" name="TextBox 8"/>
          <p:cNvSpPr txBox="1"/>
          <p:nvPr/>
        </p:nvSpPr>
        <p:spPr>
          <a:xfrm>
            <a:off x="6248243" y="1131065"/>
            <a:ext cx="1515925" cy="295267"/>
          </a:xfrm>
          <a:prstGeom prst="rect">
            <a:avLst/>
          </a:prstGeom>
          <a:noFill/>
        </p:spPr>
        <p:txBody>
          <a:bodyPr wrap="none" lIns="0" tIns="0" rIns="0" bIns="0">
            <a:spAutoFit/>
          </a:bodyPr>
          <a:lstStyle/>
          <a:p>
            <a:pPr algn="l"/>
            <a:r>
              <a:rPr sz="1688" b="1" i="0">
                <a:solidFill>
                  <a:srgbClr val="7B3F94"/>
                </a:solidFill>
                <a:latin typeface="Montserrat"/>
              </a:rPr>
              <a:t>Risk Impact</a:t>
            </a:r>
          </a:p>
        </p:txBody>
      </p:sp>
      <p:sp>
        <p:nvSpPr>
          <p:cNvPr id="10" name="TextBox 9"/>
          <p:cNvSpPr txBox="1"/>
          <p:nvPr/>
        </p:nvSpPr>
        <p:spPr>
          <a:xfrm>
            <a:off x="6248243" y="1838427"/>
            <a:ext cx="5604875" cy="2422861"/>
          </a:xfrm>
          <a:prstGeom prst="rect">
            <a:avLst/>
          </a:prstGeom>
          <a:noFill/>
        </p:spPr>
        <p:txBody>
          <a:bodyPr wrap="square" lIns="0" tIns="0" rIns="0" bIns="0">
            <a:spAutoFit/>
          </a:bodyPr>
          <a:lstStyle/>
          <a:p>
            <a:pPr algn="l"/>
            <a:r>
              <a:rPr sz="1323" b="0" i="0">
                <a:solidFill>
                  <a:srgbClr val="333333"/>
                </a:solidFill>
                <a:latin typeface="Montserrat"/>
              </a:rPr>
              <a:t>Reactive security approach creates inconsistent security posture across resources due to time lag between detection and manual remediation. Limited Azure-native security enforcement through deny policies or auto-remediation prevents proactive threat prevention and increases window of vulnerability exposure. Manual remediation model cannot scale effectively as Azure resource count and workload complexity grows, creating unsustainable operational burden and elevated security risk.</a:t>
            </a:r>
          </a:p>
        </p:txBody>
      </p:sp>
    </p:spTree>
    <p:extLst>
      <p:ext uri="{BB962C8B-B14F-4D97-AF65-F5344CB8AC3E}">
        <p14:creationId xmlns:p14="http://schemas.microsoft.com/office/powerpoint/2010/main" val="24716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095847" cy="6857828"/>
          </a:xfrm>
          <a:prstGeom prst="rect">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639" y="1028525"/>
            <a:ext cx="5291451" cy="811837"/>
          </a:xfrm>
          <a:prstGeom prst="rect">
            <a:avLst/>
          </a:prstGeom>
          <a:noFill/>
        </p:spPr>
        <p:txBody>
          <a:bodyPr wrap="square" lIns="0" tIns="0" rIns="0" bIns="0">
            <a:spAutoFit/>
          </a:bodyPr>
          <a:lstStyle/>
          <a:p>
            <a:pPr algn="l"/>
            <a:r>
              <a:rPr sz="2322" b="1" i="0">
                <a:solidFill>
                  <a:srgbClr val="7B3F94"/>
                </a:solidFill>
                <a:latin typeface="Montserrat"/>
              </a:rPr>
              <a:t>Limited Automation Increases Operational Overhead</a:t>
            </a:r>
          </a:p>
        </p:txBody>
      </p:sp>
      <p:sp>
        <p:nvSpPr>
          <p:cNvPr id="5" name="TextBox 4"/>
          <p:cNvSpPr txBox="1"/>
          <p:nvPr/>
        </p:nvSpPr>
        <p:spPr>
          <a:xfrm>
            <a:off x="6400639" y="2071189"/>
            <a:ext cx="5486262" cy="3748589"/>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No centralized DevOps framework established, resulting in inconsistent deployment practices and limited infrastructure standardization</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Infrastructure changes performed manually through Azure Portal rather than automated Infrastructure-as-Code approaches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CI/CD pipelines not standardized across teams, limiting deployment velocity and preventing modern software delivery practices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High operational overhead from manual processes reduces team productivity and creates compliance challenges</a:t>
            </a:r>
          </a:p>
        </p:txBody>
      </p:sp>
      <p:graphicFrame>
        <p:nvGraphicFramePr>
          <p:cNvPr id="3" name="Chart 2"/>
          <p:cNvGraphicFramePr>
            <a:graphicFrameLocks noGrp="1"/>
          </p:cNvGraphicFramePr>
          <p:nvPr/>
        </p:nvGraphicFramePr>
        <p:xfrm>
          <a:off x="304792" y="1714457"/>
          <a:ext cx="5486262" cy="34289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36982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184523"/>
            <a:ext cx="3429000" cy="1075729"/>
          </a:xfrm>
          <a:prstGeom prst="roundRect">
            <a:avLst>
              <a:gd name="adj" fmla="val 14167"/>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886200" y="1184523"/>
            <a:ext cx="3429000" cy="1075729"/>
          </a:xfrm>
          <a:prstGeom prst="roundRect">
            <a:avLst>
              <a:gd name="adj" fmla="val 14167"/>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7924601" y="1912095"/>
            <a:ext cx="3962300" cy="3033636"/>
          </a:xfrm>
          <a:prstGeom prst="rect">
            <a:avLst/>
          </a:prstGeom>
        </p:spPr>
      </p:pic>
      <p:sp>
        <p:nvSpPr>
          <p:cNvPr id="5" name="TextBox 4"/>
          <p:cNvSpPr txBox="1"/>
          <p:nvPr/>
        </p:nvSpPr>
        <p:spPr>
          <a:xfrm>
            <a:off x="304792" y="31997"/>
            <a:ext cx="6086322" cy="923901"/>
          </a:xfrm>
          <a:prstGeom prst="rect">
            <a:avLst/>
          </a:prstGeom>
          <a:noFill/>
        </p:spPr>
        <p:txBody>
          <a:bodyPr wrap="square" lIns="0" tIns="0" rIns="0" bIns="0">
            <a:spAutoFit/>
          </a:bodyPr>
          <a:lstStyle/>
          <a:p>
            <a:pPr algn="l"/>
            <a:r>
              <a:rPr sz="2639" b="1" i="0">
                <a:solidFill>
                  <a:srgbClr val="7B3F94"/>
                </a:solidFill>
                <a:latin typeface="Montserrat"/>
              </a:rPr>
              <a:t>Critical Gaps Require Strategic Investment</a:t>
            </a:r>
          </a:p>
        </p:txBody>
      </p:sp>
      <p:sp>
        <p:nvSpPr>
          <p:cNvPr id="6" name="TextBox 5"/>
          <p:cNvSpPr txBox="1"/>
          <p:nvPr/>
        </p:nvSpPr>
        <p:spPr>
          <a:xfrm>
            <a:off x="1892302" y="1327364"/>
            <a:ext cx="253894" cy="514337"/>
          </a:xfrm>
          <a:prstGeom prst="rect">
            <a:avLst/>
          </a:prstGeom>
          <a:noFill/>
        </p:spPr>
        <p:txBody>
          <a:bodyPr wrap="none" lIns="0" tIns="0" rIns="0" bIns="0">
            <a:spAutoFit/>
          </a:bodyPr>
          <a:lstStyle/>
          <a:p>
            <a:pPr algn="l"/>
            <a:r>
              <a:rPr sz="2955" b="1" i="0">
                <a:solidFill>
                  <a:srgbClr val="7B3F94"/>
                </a:solidFill>
                <a:latin typeface="Montserrat"/>
              </a:rPr>
              <a:t>5</a:t>
            </a:r>
          </a:p>
        </p:txBody>
      </p:sp>
      <p:sp>
        <p:nvSpPr>
          <p:cNvPr id="7" name="TextBox 6"/>
          <p:cNvSpPr txBox="1"/>
          <p:nvPr/>
        </p:nvSpPr>
        <p:spPr>
          <a:xfrm>
            <a:off x="1126749" y="1909714"/>
            <a:ext cx="1784851" cy="180970"/>
          </a:xfrm>
          <a:prstGeom prst="rect">
            <a:avLst/>
          </a:prstGeom>
          <a:noFill/>
        </p:spPr>
        <p:txBody>
          <a:bodyPr wrap="none" lIns="0" tIns="0" rIns="0" bIns="0">
            <a:spAutoFit/>
          </a:bodyPr>
          <a:lstStyle/>
          <a:p>
            <a:pPr algn="l"/>
            <a:r>
              <a:rPr sz="1055" b="1" i="0">
                <a:solidFill>
                  <a:srgbClr val="7B3F94"/>
                </a:solidFill>
                <a:latin typeface="Montserrat"/>
              </a:rPr>
              <a:t>High-Priority Gap Areas</a:t>
            </a:r>
          </a:p>
        </p:txBody>
      </p:sp>
      <p:sp>
        <p:nvSpPr>
          <p:cNvPr id="8" name="TextBox 7"/>
          <p:cNvSpPr txBox="1"/>
          <p:nvPr/>
        </p:nvSpPr>
        <p:spPr>
          <a:xfrm>
            <a:off x="4380199" y="1327364"/>
            <a:ext cx="2440720" cy="514337"/>
          </a:xfrm>
          <a:prstGeom prst="rect">
            <a:avLst/>
          </a:prstGeom>
          <a:noFill/>
        </p:spPr>
        <p:txBody>
          <a:bodyPr wrap="none" lIns="0" tIns="0" rIns="0" bIns="0">
            <a:spAutoFit/>
          </a:bodyPr>
          <a:lstStyle/>
          <a:p>
            <a:pPr algn="l"/>
            <a:r>
              <a:rPr sz="2955" b="1" i="0">
                <a:solidFill>
                  <a:srgbClr val="7B3F94"/>
                </a:solidFill>
                <a:latin typeface="Montserrat"/>
              </a:rPr>
              <a:t>Immediate</a:t>
            </a:r>
          </a:p>
        </p:txBody>
      </p:sp>
      <p:sp>
        <p:nvSpPr>
          <p:cNvPr id="9" name="TextBox 8"/>
          <p:cNvSpPr txBox="1"/>
          <p:nvPr/>
        </p:nvSpPr>
        <p:spPr>
          <a:xfrm>
            <a:off x="4791401" y="1909714"/>
            <a:ext cx="1618167" cy="180970"/>
          </a:xfrm>
          <a:prstGeom prst="rect">
            <a:avLst/>
          </a:prstGeom>
          <a:noFill/>
        </p:spPr>
        <p:txBody>
          <a:bodyPr wrap="none" lIns="0" tIns="0" rIns="0" bIns="0">
            <a:spAutoFit/>
          </a:bodyPr>
          <a:lstStyle/>
          <a:p>
            <a:pPr algn="l"/>
            <a:r>
              <a:rPr sz="1055" b="1" i="0">
                <a:solidFill>
                  <a:srgbClr val="7B3F94"/>
                </a:solidFill>
                <a:latin typeface="Montserrat"/>
              </a:rPr>
              <a:t>Investment Required</a:t>
            </a:r>
          </a:p>
        </p:txBody>
      </p:sp>
      <p:sp>
        <p:nvSpPr>
          <p:cNvPr id="10" name="TextBox 9"/>
          <p:cNvSpPr txBox="1"/>
          <p:nvPr/>
        </p:nvSpPr>
        <p:spPr>
          <a:xfrm>
            <a:off x="304792" y="2488790"/>
            <a:ext cx="7010224" cy="4327515"/>
          </a:xfrm>
          <a:prstGeom prst="rect">
            <a:avLst/>
          </a:prstGeom>
          <a:noFill/>
        </p:spPr>
        <p:txBody>
          <a:bodyPr wrap="square" lIns="0" tIns="0" rIns="0" bIns="0">
            <a:spAutoFit/>
          </a:bodyPr>
          <a:lstStyle/>
          <a:p>
            <a:pPr marL="152247" indent="-152247"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Lack of </a:t>
            </a:r>
            <a:r>
              <a:rPr sz="1266" b="1" i="0">
                <a:solidFill>
                  <a:srgbClr val="670E8C"/>
                </a:solidFill>
                <a:latin typeface="Montserrat"/>
              </a:rPr>
              <a:t>centralized logging infrastructure and SIEM</a:t>
            </a:r>
            <a:r>
              <a:rPr sz="1323" b="0" i="0">
                <a:solidFill>
                  <a:srgbClr val="333333"/>
                </a:solidFill>
                <a:latin typeface="Montserrat"/>
              </a:rPr>
              <a:t> creates security blind spots preventing effective threat detection and incident investigation</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No </a:t>
            </a:r>
            <a:r>
              <a:rPr sz="1266" b="1" i="0">
                <a:solidFill>
                  <a:srgbClr val="670E8C"/>
                </a:solidFill>
                <a:latin typeface="Montserrat"/>
              </a:rPr>
              <a:t>identity privilege elevation controls</a:t>
            </a:r>
            <a:r>
              <a:rPr sz="1323" b="0" i="0">
                <a:solidFill>
                  <a:srgbClr val="333333"/>
                </a:solidFill>
                <a:latin typeface="Montserrat"/>
              </a:rPr>
              <a:t> through PIM allows persistent standing admin access, violating least privilege and increasing credential theft risk</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52247" indent="-152247" algn="l">
              <a:lnSpc>
                <a:spcPts val="1987"/>
              </a:lnSpc>
              <a:spcBef>
                <a:spcPts val="959"/>
              </a:spcBef>
              <a:spcAft>
                <a:spcPts val="0"/>
              </a:spcAft>
              <a:buClr>
                <a:srgbClr val="7B3F94"/>
              </a:buClr>
              <a:buSzPct val="100000"/>
              <a:buFont typeface="Montserrat" charset="0"/>
              <a:buChar char="●"/>
            </a:pPr>
            <a:r>
              <a:rPr sz="1266" b="1" i="0">
                <a:solidFill>
                  <a:srgbClr val="670E8C"/>
                </a:solidFill>
                <a:latin typeface="Montserrat"/>
              </a:rPr>
              <a:t>Manual governance and subscription provisioning</a:t>
            </a:r>
            <a:r>
              <a:rPr sz="1323" b="0" i="0">
                <a:solidFill>
                  <a:srgbClr val="333333"/>
                </a:solidFill>
                <a:latin typeface="Montserrat"/>
              </a:rPr>
              <a:t> without Azure Policy or IaC creates inconsistencies, slows deployment, and prevents scalable platform management</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Inconsistent </a:t>
            </a:r>
            <a:r>
              <a:rPr sz="1266" b="1" i="0">
                <a:solidFill>
                  <a:srgbClr val="670E8C"/>
                </a:solidFill>
                <a:latin typeface="Montserrat"/>
              </a:rPr>
              <a:t>resource tagging and subscription-level cost tracking</a:t>
            </a:r>
            <a:r>
              <a:rPr sz="1323" b="0" i="0">
                <a:solidFill>
                  <a:srgbClr val="333333"/>
                </a:solidFill>
                <a:latin typeface="Montserrat"/>
              </a:rPr>
              <a:t> eliminates ability to accurately allocate spending, causing cost leakage and missed optimization</a:t>
            </a:r>
            <a:r>
              <a:rPr sz="937" b="0" i="0">
                <a:solidFill>
                  <a:srgbClr val="670E8C"/>
                </a:solidFill>
                <a:latin typeface="Montserrat"/>
              </a:rPr>
              <a:t> </a:t>
            </a:r>
            <a:r>
              <a:rPr sz="937" b="0" i="0">
                <a:solidFill>
                  <a:srgbClr val="670E8C"/>
                </a:solidFill>
                <a:latin typeface="Montserrat"/>
                <a:hlinkClick r:id="rId3" tooltip="Rackspace Presentation Template.pptx"/>
              </a:rPr>
              <a:t>[1]</a:t>
            </a:r>
          </a:p>
          <a:p>
            <a:pPr marL="152247" indent="-152247" algn="l">
              <a:lnSpc>
                <a:spcPts val="1987"/>
              </a:lnSpc>
              <a:spcBef>
                <a:spcPts val="959"/>
              </a:spcBef>
              <a:spcAft>
                <a:spcPts val="0"/>
              </a:spcAft>
              <a:buClr>
                <a:srgbClr val="7B3F94"/>
              </a:buClr>
              <a:buSzPct val="100000"/>
              <a:buFont typeface="Montserrat" charset="0"/>
              <a:buChar char="●"/>
            </a:pPr>
            <a:r>
              <a:rPr sz="1323" b="0" i="0">
                <a:solidFill>
                  <a:srgbClr val="333333"/>
                </a:solidFill>
                <a:latin typeface="Montserrat"/>
              </a:rPr>
              <a:t>Limited </a:t>
            </a:r>
            <a:r>
              <a:rPr sz="1266" b="1" i="0">
                <a:solidFill>
                  <a:srgbClr val="670E8C"/>
                </a:solidFill>
                <a:latin typeface="Montserrat"/>
              </a:rPr>
              <a:t>platform automation and DevOps maturity</a:t>
            </a:r>
            <a:r>
              <a:rPr sz="1323" b="0" i="0">
                <a:solidFill>
                  <a:srgbClr val="333333"/>
                </a:solidFill>
                <a:latin typeface="Montserrat"/>
              </a:rPr>
              <a:t> with manual infrastructure changes reduces repeatability and prevents modern cloud-native deployment practices</a:t>
            </a:r>
            <a:r>
              <a:rPr sz="937" b="0" i="0">
                <a:solidFill>
                  <a:srgbClr val="670E8C"/>
                </a:solidFill>
                <a:latin typeface="Montserrat"/>
              </a:rPr>
              <a:t> </a:t>
            </a:r>
            <a:r>
              <a:rPr sz="937" b="0" i="0">
                <a:solidFill>
                  <a:srgbClr val="670E8C"/>
                </a:solidFill>
                <a:latin typeface="Montserrat"/>
                <a:hlinkClick r:id="rId3" tooltip="Rackspace Presentation Template.pptx"/>
              </a:rPr>
              <a:t>[1]</a:t>
            </a:r>
          </a:p>
        </p:txBody>
      </p:sp>
    </p:spTree>
    <p:extLst>
      <p:ext uri="{BB962C8B-B14F-4D97-AF65-F5344CB8AC3E}">
        <p14:creationId xmlns:p14="http://schemas.microsoft.com/office/powerpoint/2010/main" val="171480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800" y="1081980"/>
            <a:ext cx="11387191" cy="5123611"/>
          </a:xfrm>
          <a:prstGeom prst="roundRect">
            <a:avLst>
              <a:gd name="adj" fmla="val 2773"/>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792" y="295267"/>
            <a:ext cx="5925294" cy="552436"/>
          </a:xfrm>
          <a:prstGeom prst="rect">
            <a:avLst/>
          </a:prstGeom>
          <a:noFill/>
        </p:spPr>
        <p:txBody>
          <a:bodyPr wrap="none" lIns="0" tIns="0" rIns="0" bIns="0">
            <a:spAutoFit/>
          </a:bodyPr>
          <a:lstStyle/>
          <a:p>
            <a:pPr algn="l"/>
            <a:r>
              <a:rPr sz="3167" b="1" i="0">
                <a:solidFill>
                  <a:srgbClr val="7B3F94"/>
                </a:solidFill>
                <a:latin typeface="Montserrat"/>
              </a:rPr>
              <a:t>Executive Risk Summary</a:t>
            </a:r>
          </a:p>
        </p:txBody>
      </p:sp>
      <p:graphicFrame>
        <p:nvGraphicFramePr>
          <p:cNvPr id="4" name="Table 3"/>
          <p:cNvGraphicFramePr>
            <a:graphicFrameLocks noGrp="1"/>
          </p:cNvGraphicFramePr>
          <p:nvPr>
            <p:extLst>
              <p:ext uri="{D42A27DB-BD31-4B8C-83A1-F6EECF244321}">
                <p14:modId xmlns:p14="http://schemas.microsoft.com/office/powerpoint/2010/main" val="3652377455"/>
              </p:ext>
            </p:extLst>
          </p:nvPr>
        </p:nvGraphicFramePr>
        <p:xfrm>
          <a:off x="609737" y="986643"/>
          <a:ext cx="10972525" cy="4884714"/>
        </p:xfrm>
        <a:graphic>
          <a:graphicData uri="http://schemas.openxmlformats.org/drawingml/2006/table">
            <a:tbl>
              <a:tblPr>
                <a:tableStyleId>{2D5ABB26-0587-4C30-8999-92F81FD0307C}</a:tableStyleId>
              </a:tblPr>
              <a:tblGrid>
                <a:gridCol w="5486262">
                  <a:extLst>
                    <a:ext uri="{9D8B030D-6E8A-4147-A177-3AD203B41FA5}">
                      <a16:colId xmlns:a16="http://schemas.microsoft.com/office/drawing/2014/main" val="20000"/>
                    </a:ext>
                  </a:extLst>
                </a:gridCol>
                <a:gridCol w="5486263">
                  <a:extLst>
                    <a:ext uri="{9D8B030D-6E8A-4147-A177-3AD203B41FA5}">
                      <a16:colId xmlns:a16="http://schemas.microsoft.com/office/drawing/2014/main" val="20001"/>
                    </a:ext>
                  </a:extLst>
                </a:gridCol>
              </a:tblGrid>
              <a:tr h="814119">
                <a:tc>
                  <a:txBody>
                    <a:bodyPr/>
                    <a:lstStyle/>
                    <a:p>
                      <a:pPr algn="l">
                        <a:lnSpc>
                          <a:spcPct val="100000"/>
                        </a:lnSpc>
                        <a:spcBef>
                          <a:spcPts val="0"/>
                        </a:spcBef>
                        <a:spcAft>
                          <a:spcPts val="200"/>
                        </a:spcAft>
                      </a:pPr>
                      <a:r>
                        <a:rPr sz="1266" b="1" i="0">
                          <a:solidFill>
                            <a:srgbClr val="7B3F94"/>
                          </a:solidFill>
                          <a:latin typeface="Montserrat"/>
                        </a:rPr>
                        <a:t>Area</a:t>
                      </a:r>
                    </a:p>
                  </a:txBody>
                  <a:tcPr anchor="ctr">
                    <a:lnB w="19050" cmpd="sng">
                      <a:solidFill>
                        <a:srgbClr val="7B3F94"/>
                      </a:solidFill>
                    </a:lnB>
                  </a:tcPr>
                </a:tc>
                <a:tc>
                  <a:txBody>
                    <a:bodyPr/>
                    <a:lstStyle/>
                    <a:p>
                      <a:pPr algn="l">
                        <a:lnSpc>
                          <a:spcPct val="100000"/>
                        </a:lnSpc>
                        <a:spcBef>
                          <a:spcPts val="0"/>
                        </a:spcBef>
                        <a:spcAft>
                          <a:spcPts val="200"/>
                        </a:spcAft>
                      </a:pPr>
                      <a:r>
                        <a:rPr sz="1266" b="1" i="0">
                          <a:solidFill>
                            <a:srgbClr val="7B3F94"/>
                          </a:solidFill>
                          <a:latin typeface="Montserrat"/>
                        </a:rPr>
                        <a:t>Risk</a:t>
                      </a:r>
                    </a:p>
                  </a:txBody>
                  <a:tcPr anchor="ctr">
                    <a:lnB w="19050" cmpd="sng">
                      <a:solidFill>
                        <a:srgbClr val="7B3F94"/>
                      </a:solidFill>
                    </a:lnB>
                  </a:tcPr>
                </a:tc>
                <a:extLst>
                  <a:ext uri="{0D108BD9-81ED-4DB2-BD59-A6C34878D82A}">
                    <a16:rowId xmlns:a16="http://schemas.microsoft.com/office/drawing/2014/main" val="10000"/>
                  </a:ext>
                </a:extLst>
              </a:tr>
              <a:tr h="814119">
                <a:tc>
                  <a:txBody>
                    <a:bodyPr/>
                    <a:lstStyle/>
                    <a:p>
                      <a:pPr algn="l">
                        <a:lnSpc>
                          <a:spcPct val="100000"/>
                        </a:lnSpc>
                        <a:spcBef>
                          <a:spcPts val="0"/>
                        </a:spcBef>
                        <a:spcAft>
                          <a:spcPts val="200"/>
                        </a:spcAft>
                      </a:pPr>
                      <a:r>
                        <a:rPr sz="1266" b="1" i="0">
                          <a:solidFill>
                            <a:srgbClr val="7B3F94"/>
                          </a:solidFill>
                          <a:latin typeface="Montserrat"/>
                        </a:rPr>
                        <a:t>Identity</a:t>
                      </a:r>
                    </a:p>
                  </a:txBody>
                  <a:tcPr>
                    <a:lnT w="19050" cap="flat" cmpd="sng" algn="ctr">
                      <a:solidFill>
                        <a:srgbClr val="7B3F94"/>
                      </a:solidFill>
                      <a:prstDash val="solid"/>
                      <a:round/>
                      <a:headEnd type="none" w="med" len="med"/>
                      <a:tailEnd type="none" w="med" len="med"/>
                    </a:lnT>
                    <a:lnB w="9525" cmpd="sng">
                      <a:solidFill>
                        <a:srgbClr val="C9E4F5"/>
                      </a:solidFill>
                    </a:lnB>
                  </a:tcPr>
                </a:tc>
                <a:tc>
                  <a:txBody>
                    <a:bodyPr/>
                    <a:lstStyle/>
                    <a:p>
                      <a:pPr algn="l">
                        <a:lnSpc>
                          <a:spcPct val="100000"/>
                        </a:lnSpc>
                        <a:spcBef>
                          <a:spcPts val="0"/>
                        </a:spcBef>
                        <a:spcAft>
                          <a:spcPts val="200"/>
                        </a:spcAft>
                      </a:pPr>
                      <a:r>
                        <a:rPr sz="1323" b="0" i="0">
                          <a:solidFill>
                            <a:srgbClr val="333333"/>
                          </a:solidFill>
                          <a:latin typeface="Montserrat"/>
                        </a:rPr>
                        <a:t>Over-privileged standing access without just-in-time controls increases credential theft risk and delays detection of unauthorized privilege escalation attempts</a:t>
                      </a:r>
                    </a:p>
                  </a:txBody>
                  <a:tcPr>
                    <a:lnT w="19050" cap="flat" cmpd="sng" algn="ctr">
                      <a:solidFill>
                        <a:srgbClr val="7B3F94"/>
                      </a:solidFill>
                      <a:prstDash val="solid"/>
                      <a:round/>
                      <a:headEnd type="none" w="med" len="med"/>
                      <a:tailEnd type="none" w="med" len="med"/>
                    </a:lnT>
                    <a:lnB w="9525" cmpd="sng">
                      <a:solidFill>
                        <a:srgbClr val="C9E4F5"/>
                      </a:solidFill>
                    </a:lnB>
                  </a:tcPr>
                </a:tc>
                <a:extLst>
                  <a:ext uri="{0D108BD9-81ED-4DB2-BD59-A6C34878D82A}">
                    <a16:rowId xmlns:a16="http://schemas.microsoft.com/office/drawing/2014/main" val="10001"/>
                  </a:ext>
                </a:extLst>
              </a:tr>
              <a:tr h="814119">
                <a:tc>
                  <a:txBody>
                    <a:bodyPr/>
                    <a:lstStyle/>
                    <a:p>
                      <a:pPr algn="l">
                        <a:lnSpc>
                          <a:spcPct val="100000"/>
                        </a:lnSpc>
                        <a:spcBef>
                          <a:spcPts val="0"/>
                        </a:spcBef>
                        <a:spcAft>
                          <a:spcPts val="200"/>
                        </a:spcAft>
                      </a:pPr>
                      <a:r>
                        <a:rPr sz="1266" b="1" i="0" dirty="0">
                          <a:solidFill>
                            <a:srgbClr val="7B3F94"/>
                          </a:solidFill>
                          <a:latin typeface="Montserrat"/>
                        </a:rPr>
                        <a:t>Governance</a:t>
                      </a:r>
                    </a:p>
                  </a:txBody>
                  <a:tcPr>
                    <a:lnT w="9525" cap="flat" cmpd="sng" algn="ctr">
                      <a:solidFill>
                        <a:srgbClr val="C9E4F5"/>
                      </a:solidFill>
                      <a:prstDash val="solid"/>
                      <a:round/>
                      <a:headEnd type="none" w="med" len="med"/>
                      <a:tailEnd type="none" w="med" len="med"/>
                    </a:lnT>
                    <a:lnB w="9525" cmpd="sng">
                      <a:solidFill>
                        <a:srgbClr val="C9E4F5"/>
                      </a:solidFill>
                    </a:lnB>
                  </a:tcPr>
                </a:tc>
                <a:tc>
                  <a:txBody>
                    <a:bodyPr/>
                    <a:lstStyle/>
                    <a:p>
                      <a:pPr algn="l">
                        <a:lnSpc>
                          <a:spcPct val="100000"/>
                        </a:lnSpc>
                        <a:spcBef>
                          <a:spcPts val="0"/>
                        </a:spcBef>
                        <a:spcAft>
                          <a:spcPts val="200"/>
                        </a:spcAft>
                      </a:pPr>
                      <a:r>
                        <a:rPr sz="1323" b="0" i="0">
                          <a:solidFill>
                            <a:srgbClr val="333333"/>
                          </a:solidFill>
                          <a:latin typeface="Montserrat"/>
                        </a:rPr>
                        <a:t>Lack of policy-driven enforcement and automated standards enables configuration drift, resource sprawl, and cost leakage without visibility or control mechanisms</a:t>
                      </a:r>
                    </a:p>
                  </a:txBody>
                  <a:tcPr>
                    <a:lnT w="9525" cap="flat" cmpd="sng" algn="ctr">
                      <a:solidFill>
                        <a:srgbClr val="C9E4F5"/>
                      </a:solidFill>
                      <a:prstDash val="solid"/>
                      <a:round/>
                      <a:headEnd type="none" w="med" len="med"/>
                      <a:tailEnd type="none" w="med" len="med"/>
                    </a:lnT>
                    <a:lnB w="9525" cmpd="sng">
                      <a:solidFill>
                        <a:srgbClr val="C9E4F5"/>
                      </a:solidFill>
                    </a:lnB>
                  </a:tcPr>
                </a:tc>
                <a:extLst>
                  <a:ext uri="{0D108BD9-81ED-4DB2-BD59-A6C34878D82A}">
                    <a16:rowId xmlns:a16="http://schemas.microsoft.com/office/drawing/2014/main" val="10002"/>
                  </a:ext>
                </a:extLst>
              </a:tr>
              <a:tr h="814119">
                <a:tc>
                  <a:txBody>
                    <a:bodyPr/>
                    <a:lstStyle/>
                    <a:p>
                      <a:pPr algn="l">
                        <a:lnSpc>
                          <a:spcPct val="100000"/>
                        </a:lnSpc>
                        <a:spcBef>
                          <a:spcPts val="0"/>
                        </a:spcBef>
                        <a:spcAft>
                          <a:spcPts val="200"/>
                        </a:spcAft>
                      </a:pPr>
                      <a:r>
                        <a:rPr sz="1266" b="1" i="0">
                          <a:solidFill>
                            <a:srgbClr val="7B3F94"/>
                          </a:solidFill>
                          <a:latin typeface="Montserrat"/>
                        </a:rPr>
                        <a:t>Security</a:t>
                      </a:r>
                    </a:p>
                  </a:txBody>
                  <a:tcPr>
                    <a:lnT w="9525" cap="flat" cmpd="sng" algn="ctr">
                      <a:solidFill>
                        <a:srgbClr val="C9E4F5"/>
                      </a:solidFill>
                      <a:prstDash val="solid"/>
                      <a:round/>
                      <a:headEnd type="none" w="med" len="med"/>
                      <a:tailEnd type="none" w="med" len="med"/>
                    </a:lnT>
                    <a:lnB w="9525" cmpd="sng">
                      <a:solidFill>
                        <a:srgbClr val="C9E4F5"/>
                      </a:solidFill>
                    </a:lnB>
                  </a:tcPr>
                </a:tc>
                <a:tc>
                  <a:txBody>
                    <a:bodyPr/>
                    <a:lstStyle/>
                    <a:p>
                      <a:pPr algn="l">
                        <a:lnSpc>
                          <a:spcPct val="100000"/>
                        </a:lnSpc>
                        <a:spcBef>
                          <a:spcPts val="0"/>
                        </a:spcBef>
                        <a:spcAft>
                          <a:spcPts val="200"/>
                        </a:spcAft>
                      </a:pPr>
                      <a:r>
                        <a:rPr sz="1323" b="0" i="0">
                          <a:solidFill>
                            <a:srgbClr val="333333"/>
                          </a:solidFill>
                          <a:latin typeface="Montserrat"/>
                        </a:rPr>
                        <a:t>Reactive manual remediation approach cannot scale with growing attack surface, increasing mean-time-to-respond and creating inconsistent security posture across resources</a:t>
                      </a:r>
                    </a:p>
                  </a:txBody>
                  <a:tcPr>
                    <a:lnT w="9525" cap="flat" cmpd="sng" algn="ctr">
                      <a:solidFill>
                        <a:srgbClr val="C9E4F5"/>
                      </a:solidFill>
                      <a:prstDash val="solid"/>
                      <a:round/>
                      <a:headEnd type="none" w="med" len="med"/>
                      <a:tailEnd type="none" w="med" len="med"/>
                    </a:lnT>
                    <a:lnB w="9525" cmpd="sng">
                      <a:solidFill>
                        <a:srgbClr val="C9E4F5"/>
                      </a:solidFill>
                    </a:lnB>
                  </a:tcPr>
                </a:tc>
                <a:extLst>
                  <a:ext uri="{0D108BD9-81ED-4DB2-BD59-A6C34878D82A}">
                    <a16:rowId xmlns:a16="http://schemas.microsoft.com/office/drawing/2014/main" val="10003"/>
                  </a:ext>
                </a:extLst>
              </a:tr>
              <a:tr h="814119">
                <a:tc>
                  <a:txBody>
                    <a:bodyPr/>
                    <a:lstStyle/>
                    <a:p>
                      <a:pPr algn="l">
                        <a:lnSpc>
                          <a:spcPct val="100000"/>
                        </a:lnSpc>
                        <a:spcBef>
                          <a:spcPts val="0"/>
                        </a:spcBef>
                        <a:spcAft>
                          <a:spcPts val="200"/>
                        </a:spcAft>
                      </a:pPr>
                      <a:r>
                        <a:rPr sz="1266" b="1" i="0">
                          <a:solidFill>
                            <a:srgbClr val="7B3F94"/>
                          </a:solidFill>
                          <a:latin typeface="Montserrat"/>
                        </a:rPr>
                        <a:t>Operations</a:t>
                      </a:r>
                    </a:p>
                  </a:txBody>
                  <a:tcPr>
                    <a:lnT w="9525" cap="flat" cmpd="sng" algn="ctr">
                      <a:solidFill>
                        <a:srgbClr val="C9E4F5"/>
                      </a:solidFill>
                      <a:prstDash val="solid"/>
                      <a:round/>
                      <a:headEnd type="none" w="med" len="med"/>
                      <a:tailEnd type="none" w="med" len="med"/>
                    </a:lnT>
                    <a:lnB w="9525" cmpd="sng">
                      <a:solidFill>
                        <a:srgbClr val="C9E4F5"/>
                      </a:solidFill>
                    </a:lnB>
                  </a:tcPr>
                </a:tc>
                <a:tc>
                  <a:txBody>
                    <a:bodyPr/>
                    <a:lstStyle/>
                    <a:p>
                      <a:pPr algn="l">
                        <a:lnSpc>
                          <a:spcPct val="100000"/>
                        </a:lnSpc>
                        <a:spcBef>
                          <a:spcPts val="0"/>
                        </a:spcBef>
                        <a:spcAft>
                          <a:spcPts val="200"/>
                        </a:spcAft>
                      </a:pPr>
                      <a:r>
                        <a:rPr sz="1323" b="0" i="0">
                          <a:solidFill>
                            <a:srgbClr val="333333"/>
                          </a:solidFill>
                          <a:latin typeface="Montserrat"/>
                        </a:rPr>
                        <a:t>Manual provisioning and fragmented monitoring creates unsustainable operational burden, limiting platform team scalability and reducing service reliability</a:t>
                      </a:r>
                    </a:p>
                  </a:txBody>
                  <a:tcPr>
                    <a:lnT w="9525" cap="flat" cmpd="sng" algn="ctr">
                      <a:solidFill>
                        <a:srgbClr val="C9E4F5"/>
                      </a:solidFill>
                      <a:prstDash val="solid"/>
                      <a:round/>
                      <a:headEnd type="none" w="med" len="med"/>
                      <a:tailEnd type="none" w="med" len="med"/>
                    </a:lnT>
                    <a:lnB w="9525" cmpd="sng">
                      <a:solidFill>
                        <a:srgbClr val="C9E4F5"/>
                      </a:solidFill>
                    </a:lnB>
                  </a:tcPr>
                </a:tc>
                <a:extLst>
                  <a:ext uri="{0D108BD9-81ED-4DB2-BD59-A6C34878D82A}">
                    <a16:rowId xmlns:a16="http://schemas.microsoft.com/office/drawing/2014/main" val="10004"/>
                  </a:ext>
                </a:extLst>
              </a:tr>
              <a:tr h="814119">
                <a:tc>
                  <a:txBody>
                    <a:bodyPr/>
                    <a:lstStyle/>
                    <a:p>
                      <a:pPr algn="l">
                        <a:lnSpc>
                          <a:spcPct val="100000"/>
                        </a:lnSpc>
                        <a:spcBef>
                          <a:spcPts val="0"/>
                        </a:spcBef>
                        <a:spcAft>
                          <a:spcPts val="200"/>
                        </a:spcAft>
                      </a:pPr>
                      <a:r>
                        <a:rPr sz="1266" b="1" i="0">
                          <a:solidFill>
                            <a:srgbClr val="7B3F94"/>
                          </a:solidFill>
                          <a:latin typeface="Montserrat"/>
                        </a:rPr>
                        <a:t>DevOps</a:t>
                      </a:r>
                    </a:p>
                  </a:txBody>
                  <a:tcPr>
                    <a:lnT w="9525" cap="flat" cmpd="sng" algn="ctr">
                      <a:solidFill>
                        <a:srgbClr val="C9E4F5"/>
                      </a:solidFill>
                      <a:prstDash val="solid"/>
                      <a:round/>
                      <a:headEnd type="none" w="med" len="med"/>
                      <a:tailEnd type="none" w="med" len="med"/>
                    </a:lnT>
                  </a:tcPr>
                </a:tc>
                <a:tc>
                  <a:txBody>
                    <a:bodyPr/>
                    <a:lstStyle/>
                    <a:p>
                      <a:pPr algn="l">
                        <a:lnSpc>
                          <a:spcPct val="100000"/>
                        </a:lnSpc>
                        <a:spcBef>
                          <a:spcPts val="0"/>
                        </a:spcBef>
                        <a:spcAft>
                          <a:spcPts val="200"/>
                        </a:spcAft>
                      </a:pPr>
                      <a:r>
                        <a:rPr sz="1323" b="0" i="0" dirty="0">
                          <a:solidFill>
                            <a:srgbClr val="333333"/>
                          </a:solidFill>
                          <a:latin typeface="Montserrat"/>
                        </a:rPr>
                        <a:t>Slow portal-based deployment model without Infrastructure-as-Code reduces business agility, increases human error risk, and prevents modern software delivery practices</a:t>
                      </a:r>
                    </a:p>
                  </a:txBody>
                  <a:tcPr>
                    <a:lnT w="9525" cap="flat" cmpd="sng" algn="ctr">
                      <a:solidFill>
                        <a:srgbClr val="C9E4F5"/>
                      </a:solidFill>
                      <a:prstDash val="solid"/>
                      <a:round/>
                      <a:headEnd type="none" w="med" len="med"/>
                      <a:tailEnd type="none" w="med" len="med"/>
                    </a:lnT>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1246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09653" cy="6858000"/>
          </a:xfrm>
          <a:prstGeom prst="rect">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04800" y="1223664"/>
            <a:ext cx="4000053" cy="760214"/>
          </a:xfrm>
          <a:prstGeom prst="roundRect">
            <a:avLst>
              <a:gd name="adj" fmla="val 20046"/>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04800" y="2136278"/>
            <a:ext cx="4000053" cy="760214"/>
          </a:xfrm>
          <a:prstGeom prst="roundRect">
            <a:avLst>
              <a:gd name="adj" fmla="val 20046"/>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04800" y="3048892"/>
            <a:ext cx="4000053" cy="760214"/>
          </a:xfrm>
          <a:prstGeom prst="roundRect">
            <a:avLst>
              <a:gd name="adj" fmla="val 20046"/>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04800" y="3961507"/>
            <a:ext cx="4000053" cy="760214"/>
          </a:xfrm>
          <a:prstGeom prst="roundRect">
            <a:avLst>
              <a:gd name="adj" fmla="val 20046"/>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04800" y="4874121"/>
            <a:ext cx="4000053" cy="760214"/>
          </a:xfrm>
          <a:prstGeom prst="roundRect">
            <a:avLst>
              <a:gd name="adj" fmla="val 20046"/>
            </a:avLst>
          </a:prstGeom>
          <a:solidFill>
            <a:srgbClr val="E6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3386" y="1376030"/>
            <a:ext cx="1014387" cy="200019"/>
          </a:xfrm>
          <a:prstGeom prst="rect">
            <a:avLst/>
          </a:prstGeom>
          <a:noFill/>
        </p:spPr>
        <p:txBody>
          <a:bodyPr wrap="none" lIns="0" tIns="0" rIns="0" bIns="0">
            <a:spAutoFit/>
          </a:bodyPr>
          <a:lstStyle/>
          <a:p>
            <a:pPr algn="l"/>
            <a:r>
              <a:rPr sz="1160" b="1" i="0">
                <a:solidFill>
                  <a:srgbClr val="7B3F94"/>
                </a:solidFill>
                <a:latin typeface="Montserrat"/>
              </a:rPr>
              <a:t>Foundation</a:t>
            </a:r>
          </a:p>
        </p:txBody>
      </p:sp>
      <p:sp>
        <p:nvSpPr>
          <p:cNvPr id="9" name="TextBox 8"/>
          <p:cNvSpPr txBox="1"/>
          <p:nvPr/>
        </p:nvSpPr>
        <p:spPr>
          <a:xfrm>
            <a:off x="533386" y="1648974"/>
            <a:ext cx="2832574" cy="171445"/>
          </a:xfrm>
          <a:prstGeom prst="rect">
            <a:avLst/>
          </a:prstGeom>
          <a:noFill/>
        </p:spPr>
        <p:txBody>
          <a:bodyPr wrap="none" lIns="0" tIns="0" rIns="0" bIns="0">
            <a:spAutoFit/>
          </a:bodyPr>
          <a:lstStyle/>
          <a:p>
            <a:pPr algn="l"/>
            <a:r>
              <a:rPr sz="992" b="0" i="0">
                <a:solidFill>
                  <a:srgbClr val="333333"/>
                </a:solidFill>
                <a:latin typeface="Montserrat"/>
              </a:rPr>
              <a:t>Functional Azure Landing Zone deployed</a:t>
            </a:r>
          </a:p>
        </p:txBody>
      </p:sp>
      <p:sp>
        <p:nvSpPr>
          <p:cNvPr id="10" name="TextBox 9"/>
          <p:cNvSpPr txBox="1"/>
          <p:nvPr/>
        </p:nvSpPr>
        <p:spPr>
          <a:xfrm>
            <a:off x="533386" y="2288621"/>
            <a:ext cx="717928" cy="200019"/>
          </a:xfrm>
          <a:prstGeom prst="rect">
            <a:avLst/>
          </a:prstGeom>
          <a:noFill/>
        </p:spPr>
        <p:txBody>
          <a:bodyPr wrap="none" lIns="0" tIns="0" rIns="0" bIns="0">
            <a:spAutoFit/>
          </a:bodyPr>
          <a:lstStyle/>
          <a:p>
            <a:pPr algn="l"/>
            <a:r>
              <a:rPr sz="1160" b="1" i="0">
                <a:solidFill>
                  <a:srgbClr val="7B3F94"/>
                </a:solidFill>
                <a:latin typeface="Montserrat"/>
              </a:rPr>
              <a:t>Security</a:t>
            </a:r>
          </a:p>
        </p:txBody>
      </p:sp>
      <p:sp>
        <p:nvSpPr>
          <p:cNvPr id="11" name="TextBox 10"/>
          <p:cNvSpPr txBox="1"/>
          <p:nvPr/>
        </p:nvSpPr>
        <p:spPr>
          <a:xfrm>
            <a:off x="533386" y="2561565"/>
            <a:ext cx="3542764" cy="171445"/>
          </a:xfrm>
          <a:prstGeom prst="rect">
            <a:avLst/>
          </a:prstGeom>
          <a:noFill/>
        </p:spPr>
        <p:txBody>
          <a:bodyPr wrap="none" lIns="0" tIns="0" rIns="0" bIns="0">
            <a:spAutoFit/>
          </a:bodyPr>
          <a:lstStyle/>
          <a:p>
            <a:pPr algn="l"/>
            <a:r>
              <a:rPr sz="992" b="0" i="0">
                <a:solidFill>
                  <a:srgbClr val="333333"/>
                </a:solidFill>
                <a:latin typeface="Montserrat"/>
              </a:rPr>
              <a:t>Centralized network security with Firewall Premium</a:t>
            </a:r>
          </a:p>
        </p:txBody>
      </p:sp>
      <p:sp>
        <p:nvSpPr>
          <p:cNvPr id="12" name="TextBox 11"/>
          <p:cNvSpPr txBox="1"/>
          <p:nvPr/>
        </p:nvSpPr>
        <p:spPr>
          <a:xfrm>
            <a:off x="533386" y="3201212"/>
            <a:ext cx="1109485" cy="200019"/>
          </a:xfrm>
          <a:prstGeom prst="rect">
            <a:avLst/>
          </a:prstGeom>
          <a:noFill/>
        </p:spPr>
        <p:txBody>
          <a:bodyPr wrap="none" lIns="0" tIns="0" rIns="0" bIns="0">
            <a:spAutoFit/>
          </a:bodyPr>
          <a:lstStyle/>
          <a:p>
            <a:pPr algn="l"/>
            <a:r>
              <a:rPr sz="1160" b="1" i="0">
                <a:solidFill>
                  <a:srgbClr val="7B3F94"/>
                </a:solidFill>
                <a:latin typeface="Montserrat"/>
              </a:rPr>
              <a:t>Connectivity</a:t>
            </a:r>
          </a:p>
        </p:txBody>
      </p:sp>
      <p:sp>
        <p:nvSpPr>
          <p:cNvPr id="13" name="TextBox 12"/>
          <p:cNvSpPr txBox="1"/>
          <p:nvPr/>
        </p:nvSpPr>
        <p:spPr>
          <a:xfrm>
            <a:off x="533386" y="3474156"/>
            <a:ext cx="2530758" cy="171445"/>
          </a:xfrm>
          <a:prstGeom prst="rect">
            <a:avLst/>
          </a:prstGeom>
          <a:noFill/>
        </p:spPr>
        <p:txBody>
          <a:bodyPr wrap="none" lIns="0" tIns="0" rIns="0" bIns="0">
            <a:spAutoFit/>
          </a:bodyPr>
          <a:lstStyle/>
          <a:p>
            <a:pPr algn="l"/>
            <a:r>
              <a:rPr sz="992" b="0" i="0">
                <a:solidFill>
                  <a:srgbClr val="333333"/>
                </a:solidFill>
                <a:latin typeface="Montserrat"/>
              </a:rPr>
              <a:t>Virtual WAN for scalable architecture</a:t>
            </a:r>
          </a:p>
        </p:txBody>
      </p:sp>
      <p:sp>
        <p:nvSpPr>
          <p:cNvPr id="14" name="TextBox 13"/>
          <p:cNvSpPr txBox="1"/>
          <p:nvPr/>
        </p:nvSpPr>
        <p:spPr>
          <a:xfrm>
            <a:off x="533386" y="4113804"/>
            <a:ext cx="684889" cy="200019"/>
          </a:xfrm>
          <a:prstGeom prst="rect">
            <a:avLst/>
          </a:prstGeom>
          <a:noFill/>
        </p:spPr>
        <p:txBody>
          <a:bodyPr wrap="none" lIns="0" tIns="0" rIns="0" bIns="0">
            <a:spAutoFit/>
          </a:bodyPr>
          <a:lstStyle/>
          <a:p>
            <a:pPr algn="l"/>
            <a:r>
              <a:rPr sz="1160" b="1" i="0">
                <a:solidFill>
                  <a:srgbClr val="7B3F94"/>
                </a:solidFill>
                <a:latin typeface="Montserrat"/>
              </a:rPr>
              <a:t>Identity</a:t>
            </a:r>
          </a:p>
        </p:txBody>
      </p:sp>
      <p:sp>
        <p:nvSpPr>
          <p:cNvPr id="15" name="TextBox 14"/>
          <p:cNvSpPr txBox="1"/>
          <p:nvPr/>
        </p:nvSpPr>
        <p:spPr>
          <a:xfrm>
            <a:off x="533386" y="4386748"/>
            <a:ext cx="2015528" cy="171445"/>
          </a:xfrm>
          <a:prstGeom prst="rect">
            <a:avLst/>
          </a:prstGeom>
          <a:noFill/>
        </p:spPr>
        <p:txBody>
          <a:bodyPr wrap="none" lIns="0" tIns="0" rIns="0" bIns="0">
            <a:spAutoFit/>
          </a:bodyPr>
          <a:lstStyle/>
          <a:p>
            <a:pPr algn="l"/>
            <a:r>
              <a:rPr sz="992" b="0" i="0">
                <a:solidFill>
                  <a:srgbClr val="333333"/>
                </a:solidFill>
                <a:latin typeface="Montserrat"/>
              </a:rPr>
              <a:t>MFA enforced across all users</a:t>
            </a:r>
          </a:p>
        </p:txBody>
      </p:sp>
      <p:sp>
        <p:nvSpPr>
          <p:cNvPr id="16" name="TextBox 15"/>
          <p:cNvSpPr txBox="1"/>
          <p:nvPr/>
        </p:nvSpPr>
        <p:spPr>
          <a:xfrm>
            <a:off x="533386" y="5026395"/>
            <a:ext cx="971674" cy="200019"/>
          </a:xfrm>
          <a:prstGeom prst="rect">
            <a:avLst/>
          </a:prstGeom>
          <a:noFill/>
        </p:spPr>
        <p:txBody>
          <a:bodyPr wrap="none" lIns="0" tIns="0" rIns="0" bIns="0">
            <a:spAutoFit/>
          </a:bodyPr>
          <a:lstStyle/>
          <a:p>
            <a:pPr algn="l"/>
            <a:r>
              <a:rPr sz="1160" b="1" i="0">
                <a:solidFill>
                  <a:srgbClr val="7B3F94"/>
                </a:solidFill>
                <a:latin typeface="Montserrat"/>
              </a:rPr>
              <a:t>Monitoring</a:t>
            </a:r>
          </a:p>
        </p:txBody>
      </p:sp>
      <p:sp>
        <p:nvSpPr>
          <p:cNvPr id="17" name="TextBox 16"/>
          <p:cNvSpPr txBox="1"/>
          <p:nvPr/>
        </p:nvSpPr>
        <p:spPr>
          <a:xfrm>
            <a:off x="533386" y="5299339"/>
            <a:ext cx="3065038" cy="171445"/>
          </a:xfrm>
          <a:prstGeom prst="rect">
            <a:avLst/>
          </a:prstGeom>
          <a:noFill/>
        </p:spPr>
        <p:txBody>
          <a:bodyPr wrap="none" lIns="0" tIns="0" rIns="0" bIns="0">
            <a:spAutoFit/>
          </a:bodyPr>
          <a:lstStyle/>
          <a:p>
            <a:pPr algn="l"/>
            <a:r>
              <a:rPr sz="992" b="0" i="0">
                <a:solidFill>
                  <a:srgbClr val="333333"/>
                </a:solidFill>
                <a:latin typeface="Montserrat"/>
              </a:rPr>
              <a:t>Security posture integrated with Trend Micro</a:t>
            </a:r>
          </a:p>
        </p:txBody>
      </p:sp>
      <p:sp>
        <p:nvSpPr>
          <p:cNvPr id="18" name="TextBox 17"/>
          <p:cNvSpPr txBox="1"/>
          <p:nvPr/>
        </p:nvSpPr>
        <p:spPr>
          <a:xfrm>
            <a:off x="4914330" y="721351"/>
            <a:ext cx="6659891" cy="1101002"/>
          </a:xfrm>
          <a:prstGeom prst="rect">
            <a:avLst/>
          </a:prstGeom>
          <a:noFill/>
        </p:spPr>
        <p:txBody>
          <a:bodyPr wrap="square" lIns="0" tIns="0" rIns="0" bIns="0">
            <a:spAutoFit/>
          </a:bodyPr>
          <a:lstStyle/>
          <a:p>
            <a:pPr algn="l"/>
            <a:r>
              <a:rPr sz="3167" b="1" i="0">
                <a:solidFill>
                  <a:srgbClr val="7B3F94"/>
                </a:solidFill>
                <a:latin typeface="Montserrat"/>
              </a:rPr>
              <a:t>Key Strengths Provide Solid Foundation</a:t>
            </a:r>
          </a:p>
        </p:txBody>
      </p:sp>
      <p:sp>
        <p:nvSpPr>
          <p:cNvPr id="19" name="TextBox 18"/>
          <p:cNvSpPr txBox="1"/>
          <p:nvPr/>
        </p:nvSpPr>
        <p:spPr>
          <a:xfrm>
            <a:off x="4914330" y="2056604"/>
            <a:ext cx="6972572" cy="4449551"/>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Functional Azure Landing Zone successfully deployed and operational with multiple subscriptions supporting production workloads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Centralized network security architecture implemented using Azure Firewall Premium provides advanced threat protection and consistent policy enforcement</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Azure Virtual WAN deployment enables scalable hub-and-spoke connectivity architecture that can efficiently support additional networks and connections</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Multi-factor authentication enforced across all user accounts establishes critical baseline identity security control reducing credential compromise risk</a:t>
            </a:r>
          </a:p>
          <a:p>
            <a:pPr marL="182756" indent="-182756" algn="l">
              <a:lnSpc>
                <a:spcPts val="1987"/>
              </a:lnSpc>
              <a:spcBef>
                <a:spcPts val="1199"/>
              </a:spcBef>
              <a:spcAft>
                <a:spcPts val="0"/>
              </a:spcAft>
              <a:buClr>
                <a:srgbClr val="7B3F94"/>
              </a:buClr>
              <a:buSzPct val="100000"/>
              <a:buFont typeface="Montserrat" charset="0"/>
              <a:buChar char="●"/>
            </a:pPr>
            <a:r>
              <a:rPr sz="1323" b="0" i="0">
                <a:solidFill>
                  <a:srgbClr val="333333"/>
                </a:solidFill>
                <a:latin typeface="Montserrat"/>
              </a:rPr>
              <a:t>Security posture monitoring successfully integrated with Trend Micro platform provides continuous visibility into security findings and compliance status</a:t>
            </a:r>
          </a:p>
        </p:txBody>
      </p:sp>
    </p:spTree>
    <p:extLst>
      <p:ext uri="{BB962C8B-B14F-4D97-AF65-F5344CB8AC3E}">
        <p14:creationId xmlns:p14="http://schemas.microsoft.com/office/powerpoint/2010/main" val="2849972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5847" y="0"/>
            <a:ext cx="6095847" cy="6857828"/>
          </a:xfrm>
          <a:prstGeom prst="rect">
            <a:avLst/>
          </a:prstGeom>
          <a:solidFill>
            <a:srgbClr val="F5F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792" y="1016321"/>
            <a:ext cx="5418845" cy="951583"/>
          </a:xfrm>
          <a:prstGeom prst="rect">
            <a:avLst/>
          </a:prstGeom>
          <a:noFill/>
        </p:spPr>
        <p:txBody>
          <a:bodyPr wrap="square" lIns="0" tIns="0" rIns="0" bIns="0">
            <a:spAutoFit/>
          </a:bodyPr>
          <a:lstStyle/>
          <a:p>
            <a:pPr algn="l"/>
            <a:r>
              <a:rPr sz="2744" b="1" i="0">
                <a:solidFill>
                  <a:srgbClr val="7B3F94"/>
                </a:solidFill>
                <a:latin typeface="Montserrat"/>
              </a:rPr>
              <a:t>Fragmented Observability Reduces Visibility</a:t>
            </a:r>
          </a:p>
        </p:txBody>
      </p:sp>
      <p:sp>
        <p:nvSpPr>
          <p:cNvPr id="5" name="TextBox 4"/>
          <p:cNvSpPr txBox="1"/>
          <p:nvPr/>
        </p:nvSpPr>
        <p:spPr>
          <a:xfrm>
            <a:off x="304792" y="2205131"/>
            <a:ext cx="5486262" cy="3626701"/>
          </a:xfrm>
          <a:prstGeom prst="rect">
            <a:avLst/>
          </a:prstGeom>
          <a:noFill/>
        </p:spPr>
        <p:txBody>
          <a:bodyPr wrap="square" lIns="0" tIns="0" rIns="0" bIns="0">
            <a:spAutoFit/>
          </a:bodyPr>
          <a:lstStyle/>
          <a:p>
            <a:pPr marL="182756" indent="-182756" algn="l">
              <a:lnSpc>
                <a:spcPts val="1987"/>
              </a:lnSpc>
              <a:spcBef>
                <a:spcPts val="0"/>
              </a:spcBef>
              <a:spcAft>
                <a:spcPts val="0"/>
              </a:spcAft>
              <a:buClr>
                <a:srgbClr val="7B3F94"/>
              </a:buClr>
              <a:buSzPct val="100000"/>
              <a:buFont typeface="Montserrat" charset="0"/>
              <a:buChar char="●"/>
            </a:pPr>
            <a:r>
              <a:rPr sz="1323" b="0" i="0">
                <a:solidFill>
                  <a:srgbClr val="333333"/>
                </a:solidFill>
                <a:latin typeface="Montserrat"/>
              </a:rPr>
              <a:t>No centralized Log Analytics workspace deployed, resulting in siloed logging at subscription levels without unified visibility</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Identity audit logs and sign-in activity not centrally monitored, creating security blind spots and limiting threat detection</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Microsoft Sentinel SIEM platform not deployed, eliminating advanced threat detection and automated security response capabilities</a:t>
            </a:r>
          </a:p>
          <a:p>
            <a:pPr marL="182756" indent="-182756" algn="l">
              <a:lnSpc>
                <a:spcPts val="1987"/>
              </a:lnSpc>
              <a:spcBef>
                <a:spcPts val="1200"/>
              </a:spcBef>
              <a:spcAft>
                <a:spcPts val="0"/>
              </a:spcAft>
              <a:buClr>
                <a:srgbClr val="7B3F94"/>
              </a:buClr>
              <a:buSzPct val="100000"/>
              <a:buFont typeface="Montserrat" charset="0"/>
              <a:buChar char="●"/>
            </a:pPr>
            <a:r>
              <a:rPr sz="1323" b="0" i="0">
                <a:solidFill>
                  <a:srgbClr val="333333"/>
                </a:solidFill>
                <a:latin typeface="Montserrat"/>
              </a:rPr>
              <a:t>Alerts configured only for selected workloads, resulting in inconsistent monitoring and delayed incident detection</a:t>
            </a:r>
          </a:p>
        </p:txBody>
      </p:sp>
      <p:graphicFrame>
        <p:nvGraphicFramePr>
          <p:cNvPr id="3" name="Chart 2"/>
          <p:cNvGraphicFramePr>
            <a:graphicFrameLocks noGrp="1"/>
          </p:cNvGraphicFramePr>
          <p:nvPr/>
        </p:nvGraphicFramePr>
        <p:xfrm>
          <a:off x="6400639" y="1371565"/>
          <a:ext cx="5486262" cy="411469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2692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0329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1900907"/>
      </p:ext>
    </p:extLst>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E635C2F985974BBE3352C31BC8AA9A" ma:contentTypeVersion="25" ma:contentTypeDescription="Create a new document." ma:contentTypeScope="" ma:versionID="26b046c95ade1aec96e195209e90c433">
  <xsd:schema xmlns:xsd="http://www.w3.org/2001/XMLSchema" xmlns:xs="http://www.w3.org/2001/XMLSchema" xmlns:p="http://schemas.microsoft.com/office/2006/metadata/properties" xmlns:ns2="f109a73b-17cb-4832-a9a9-365d35444d2b" xmlns:ns3="8837f82f-b140-48ff-8dc8-b79a3284d887" targetNamespace="http://schemas.microsoft.com/office/2006/metadata/properties" ma:root="true" ma:fieldsID="e0a05359a7c614a2dac603ba76419e8d" ns2:_="" ns3:_="">
    <xsd:import namespace="f109a73b-17cb-4832-a9a9-365d35444d2b"/>
    <xsd:import namespace="8837f82f-b140-48ff-8dc8-b79a3284d887"/>
    <xsd:element name="properties">
      <xsd:complexType>
        <xsd:sequence>
          <xsd:element name="documentManagement">
            <xsd:complexType>
              <xsd:all>
                <xsd:element ref="ns2:Notes0"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9a73b-17cb-4832-a9a9-365d35444d2b" elementFormDefault="qualified">
    <xsd:import namespace="http://schemas.microsoft.com/office/2006/documentManagement/types"/>
    <xsd:import namespace="http://schemas.microsoft.com/office/infopath/2007/PartnerControls"/>
    <xsd:element name="Notes0" ma:index="2" nillable="true" ma:displayName="Notes" ma:internalName="Notes0" ma:readOnly="false">
      <xsd:simpleType>
        <xsd:restriction base="dms:Note">
          <xsd:maxLength value="255"/>
        </xsd:restriction>
      </xsd:simpleType>
    </xsd:element>
    <xsd:element name="MediaServiceMetadata" ma:index="6" nillable="true" ma:displayName="MediaServiceMetadata" ma:hidden="true" ma:internalName="MediaServiceMetadata" ma:readOnly="true">
      <xsd:simpleType>
        <xsd:restriction base="dms:Note"/>
      </xsd:simpleType>
    </xsd:element>
    <xsd:element name="MediaServiceFastMetadata" ma:index="7"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hidden="true" ma:internalName="MediaServiceAutoTags" ma:readOnly="true">
      <xsd:simpleType>
        <xsd:restriction base="dms:Text"/>
      </xsd:simpleType>
    </xsd:element>
    <xsd:element name="MediaServiceOCR" ma:index="11" nillable="true" ma:displayName="MediaServiceOCR" ma:hidden="true" ma:internalName="MediaServiceOCR"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hidden="true"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hidden="true" ma:internalName="MediaServiceKeyPoints" ma:readOnly="true">
      <xsd:simpleType>
        <xsd:restriction base="dms:Note"/>
      </xsd:simpleType>
    </xsd:element>
    <xsd:element name="MediaLengthInSeconds" ma:index="19" nillable="true" ma:displayName="Length (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37f82f-b140-48ff-8dc8-b79a3284d887"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24" nillable="true" ma:displayName="Taxonomy Catch All Column" ma:hidden="true" ma:list="{1056ef75-36ba-45c4-a822-6a4ed75eddf7}" ma:internalName="TaxCatchAll" ma:showField="CatchAllData" ma:web="8837f82f-b140-48ff-8dc8-b79a3284d8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f109a73b-17cb-4832-a9a9-365d35444d2b" xsi:nil="true"/>
    <TaxCatchAll xmlns="8837f82f-b140-48ff-8dc8-b79a3284d887" xsi:nil="true"/>
    <lcf76f155ced4ddcb4097134ff3c332f xmlns="f109a73b-17cb-4832-a9a9-365d35444d2b">
      <Terms xmlns="http://schemas.microsoft.com/office/infopath/2007/PartnerControls"/>
    </lcf76f155ced4ddcb4097134ff3c332f>
    <_Flow_SignoffStatus xmlns="f109a73b-17cb-4832-a9a9-365d35444d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FFCF9C-521E-42CE-B805-C010EDCD66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09a73b-17cb-4832-a9a9-365d35444d2b"/>
    <ds:schemaRef ds:uri="8837f82f-b140-48ff-8dc8-b79a3284d8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9F961D-86E7-463C-B09D-E3314B2C6EB5}">
  <ds:schemaRefs>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f109a73b-17cb-4832-a9a9-365d35444d2b"/>
    <ds:schemaRef ds:uri="http://purl.org/dc/terms/"/>
    <ds:schemaRef ds:uri="http://schemas.microsoft.com/office/infopath/2007/PartnerControls"/>
    <ds:schemaRef ds:uri="http://www.w3.org/XML/1998/namespace"/>
    <ds:schemaRef ds:uri="8837f82f-b140-48ff-8dc8-b79a3284d887"/>
    <ds:schemaRef ds:uri="http://purl.org/dc/dcmitype/"/>
  </ds:schemaRefs>
</ds:datastoreItem>
</file>

<file path=customXml/itemProps3.xml><?xml version="1.0" encoding="utf-8"?>
<ds:datastoreItem xmlns:ds="http://schemas.openxmlformats.org/officeDocument/2006/customXml" ds:itemID="{8FAAEEFA-AAF2-4C9B-A431-2549B0747BF4}">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475</TotalTime>
  <Words>1371</Words>
  <Application>Microsoft Office PowerPoint</Application>
  <PresentationFormat>Widescreen</PresentationFormat>
  <Paragraphs>137</Paragraphs>
  <Slides>16</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Arial</vt:lpstr>
      <vt:lpstr>Calibri</vt:lpstr>
      <vt:lpstr>Montserrat</vt:lpstr>
      <vt:lpstr>Segoe UI</vt:lpstr>
      <vt:lpstr>Content Slides</vt:lpstr>
      <vt:lpstr>1_Content Slides</vt:lpstr>
      <vt:lpstr>1_Titles and Breakers</vt:lpstr>
      <vt:lpstr>Welcome to the Rackspace Customer First – Cloud First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Upendra Kumar</dc:creator>
  <cp:keywords/>
  <dc:description/>
  <cp:lastModifiedBy>Upendra Kumar</cp:lastModifiedBy>
  <cp:revision>34</cp:revision>
  <dcterms:created xsi:type="dcterms:W3CDTF">2022-08-11T21:20:29Z</dcterms:created>
  <dcterms:modified xsi:type="dcterms:W3CDTF">2026-04-29T18:09:45Z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0x010100DFE635C2F985974BBE3352C31BC8AA9A</vt:lpwstr>
  </property>
</Properties>
</file>