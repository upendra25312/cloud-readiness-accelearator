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theme/theme2.xml" ContentType="application/vnd.openxmlformats-officedocument.theme+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4"/>
    <p:sldMasterId id="2147483944" r:id="rId5"/>
    <p:sldMasterId id="2147483830" r:id="rId6"/>
  </p:sldMasterIdLst>
  <p:notesMasterIdLst>
    <p:notesMasterId r:id="rId21"/>
  </p:notesMasterIdLst>
  <p:handoutMasterIdLst>
    <p:handoutMasterId r:id="rId22"/>
  </p:handout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2000" cy="6858000"/>
  <p:notesSz cx="6858000" cy="9144000"/>
  <p:defaultTextStyle>
    <a:defPPr>
      <a:defRPr lang="en-US"/>
    </a:defPPr>
    <a:lvl1pPr marL="0" algn="l" defTabSz="228600" rtl="0" eaLnBrk="1" latinLnBrk="0" hangingPunct="1">
      <a:defRPr sz="900" kern="1200">
        <a:solidFill>
          <a:schemeClr val="tx1"/>
        </a:solidFill>
        <a:latin typeface="+mn-lt"/>
        <a:ea typeface="+mn-ea"/>
        <a:cs typeface="+mn-cs"/>
      </a:defRPr>
    </a:lvl1pPr>
    <a:lvl2pPr marL="228600" algn="l" defTabSz="228600" rtl="0" eaLnBrk="1" latinLnBrk="0" hangingPunct="1">
      <a:defRPr sz="900" kern="1200">
        <a:solidFill>
          <a:schemeClr val="tx1"/>
        </a:solidFill>
        <a:latin typeface="+mn-lt"/>
        <a:ea typeface="+mn-ea"/>
        <a:cs typeface="+mn-cs"/>
      </a:defRPr>
    </a:lvl2pPr>
    <a:lvl3pPr marL="457200" algn="l" defTabSz="228600" rtl="0" eaLnBrk="1" latinLnBrk="0" hangingPunct="1">
      <a:defRPr sz="900" kern="1200">
        <a:solidFill>
          <a:schemeClr val="tx1"/>
        </a:solidFill>
        <a:latin typeface="+mn-lt"/>
        <a:ea typeface="+mn-ea"/>
        <a:cs typeface="+mn-cs"/>
      </a:defRPr>
    </a:lvl3pPr>
    <a:lvl4pPr marL="685800" algn="l" defTabSz="228600" rtl="0" eaLnBrk="1" latinLnBrk="0" hangingPunct="1">
      <a:defRPr sz="900" kern="1200">
        <a:solidFill>
          <a:schemeClr val="tx1"/>
        </a:solidFill>
        <a:latin typeface="+mn-lt"/>
        <a:ea typeface="+mn-ea"/>
        <a:cs typeface="+mn-cs"/>
      </a:defRPr>
    </a:lvl4pPr>
    <a:lvl5pPr marL="914400" algn="l" defTabSz="228600" rtl="0" eaLnBrk="1" latinLnBrk="0" hangingPunct="1">
      <a:defRPr sz="900" kern="1200">
        <a:solidFill>
          <a:schemeClr val="tx1"/>
        </a:solidFill>
        <a:latin typeface="+mn-lt"/>
        <a:ea typeface="+mn-ea"/>
        <a:cs typeface="+mn-cs"/>
      </a:defRPr>
    </a:lvl5pPr>
    <a:lvl6pPr marL="1143000" algn="l" defTabSz="228600" rtl="0" eaLnBrk="1" latinLnBrk="0" hangingPunct="1">
      <a:defRPr sz="900" kern="1200">
        <a:solidFill>
          <a:schemeClr val="tx1"/>
        </a:solidFill>
        <a:latin typeface="+mn-lt"/>
        <a:ea typeface="+mn-ea"/>
        <a:cs typeface="+mn-cs"/>
      </a:defRPr>
    </a:lvl6pPr>
    <a:lvl7pPr marL="1371600" algn="l" defTabSz="228600" rtl="0" eaLnBrk="1" latinLnBrk="0" hangingPunct="1">
      <a:defRPr sz="900" kern="1200">
        <a:solidFill>
          <a:schemeClr val="tx1"/>
        </a:solidFill>
        <a:latin typeface="+mn-lt"/>
        <a:ea typeface="+mn-ea"/>
        <a:cs typeface="+mn-cs"/>
      </a:defRPr>
    </a:lvl7pPr>
    <a:lvl8pPr marL="1600200" algn="l" defTabSz="228600" rtl="0" eaLnBrk="1" latinLnBrk="0" hangingPunct="1">
      <a:defRPr sz="900" kern="1200">
        <a:solidFill>
          <a:schemeClr val="tx1"/>
        </a:solidFill>
        <a:latin typeface="+mn-lt"/>
        <a:ea typeface="+mn-ea"/>
        <a:cs typeface="+mn-cs"/>
      </a:defRPr>
    </a:lvl8pPr>
    <a:lvl9pPr marL="1828800" algn="l" defTabSz="228600" rtl="0" eaLnBrk="1" latinLnBrk="0" hangingPunct="1">
      <a:defRPr sz="9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and Breaker Layouts" id="{4AE7326D-D6F2-440D-9A41-85E2343213A5}">
          <p14:sldIdLst>
            <p14:sldId id="256"/>
          </p14:sldIdLst>
        </p14:section>
        <p14:section name="Content Slides" id="{846C7ABD-83F7-4BA2-BD1F-579980DED47E}">
          <p14:sldIdLst>
            <p14:sldId id="257"/>
            <p14:sldId id="258"/>
            <p14:sldId id="259"/>
            <p14:sldId id="260"/>
            <p14:sldId id="261"/>
            <p14:sldId id="262"/>
            <p14:sldId id="263"/>
            <p14:sldId id="264"/>
            <p14:sldId id="265"/>
            <p14:sldId id="266"/>
            <p14:sldId id="267"/>
            <p14:sldId id="268"/>
            <p14:sldId id="269"/>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shley Miesner" initials="AM" lastIdx="5" clrIdx="0">
    <p:extLst>
      <p:ext uri="{19B8F6BF-5375-455C-9EA6-DF929625EA0E}">
        <p15:presenceInfo xmlns:p15="http://schemas.microsoft.com/office/powerpoint/2012/main" userId="ad8e07fa54b49bda" providerId="Windows Live"/>
      </p:ext>
    </p:extLst>
  </p:cmAuthor>
  <p:cmAuthor id="2" name="Kim Wright" initials="KW" lastIdx="3" clrIdx="1">
    <p:extLst>
      <p:ext uri="{19B8F6BF-5375-455C-9EA6-DF929625EA0E}">
        <p15:presenceInfo xmlns:p15="http://schemas.microsoft.com/office/powerpoint/2012/main" userId="S::kim.wright@rackspace.com::c351f5f5-0fc6-4393-8dd9-32c85309048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1C1C"/>
    <a:srgbClr val="111111"/>
    <a:srgbClr val="D1FFFB"/>
    <a:srgbClr val="003482"/>
    <a:srgbClr val="D8EBF9"/>
    <a:srgbClr val="005AC8"/>
    <a:srgbClr val="64005A"/>
    <a:srgbClr val="9E0000"/>
    <a:srgbClr val="BB5CB4"/>
    <a:srgbClr val="F6D7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991" autoAdjust="0"/>
    <p:restoredTop sz="58986" autoAdjust="0"/>
  </p:normalViewPr>
  <p:slideViewPr>
    <p:cSldViewPr snapToGrid="0" showGuides="1">
      <p:cViewPr varScale="1">
        <p:scale>
          <a:sx n="26" d="100"/>
          <a:sy n="26" d="100"/>
        </p:scale>
        <p:origin x="1384" y="252"/>
      </p:cViewPr>
      <p:guideLst/>
    </p:cSldViewPr>
  </p:slideViewPr>
  <p:outlineViewPr>
    <p:cViewPr>
      <p:scale>
        <a:sx n="33" d="100"/>
        <a:sy n="33" d="100"/>
      </p:scale>
      <p:origin x="0" y="-3248"/>
    </p:cViewPr>
  </p:outlineViewPr>
  <p:notesTextViewPr>
    <p:cViewPr>
      <p:scale>
        <a:sx n="3" d="2"/>
        <a:sy n="3" d="2"/>
      </p:scale>
      <p:origin x="0" y="0"/>
    </p:cViewPr>
  </p:notesTextViewPr>
  <p:sorterViewPr>
    <p:cViewPr varScale="1">
      <p:scale>
        <a:sx n="1" d="1"/>
        <a:sy n="1" d="1"/>
      </p:scale>
      <p:origin x="0" y="0"/>
    </p:cViewPr>
  </p:sorterViewPr>
  <p:notesViewPr>
    <p:cSldViewPr snapToGrid="0" showGuides="1">
      <p:cViewPr varScale="1">
        <p:scale>
          <a:sx n="80" d="100"/>
          <a:sy n="80" d="100"/>
        </p:scale>
        <p:origin x="3918" y="10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commentAuthors" Target="commentAuthors.xml"/><Relationship Id="rId28" Type="http://schemas.microsoft.com/office/2016/11/relationships/changesInfo" Target="changesInfos/changesInfo1.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handoutMaster" Target="handoutMasters/handoutMaster1.xml"/><Relationship Id="rId27"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Upendra Kumar" userId="6c07c951-56e6-444d-b54c-43a261dacbee" providerId="ADAL" clId="{06A93499-00C3-468F-BFAF-ED895873DCA0}"/>
    <pc:docChg chg="custSel modSld">
      <pc:chgData name="Upendra Kumar" userId="6c07c951-56e6-444d-b54c-43a261dacbee" providerId="ADAL" clId="{06A93499-00C3-468F-BFAF-ED895873DCA0}" dt="2026-04-30T06:22:48.061" v="0" actId="26606"/>
      <pc:docMkLst>
        <pc:docMk/>
      </pc:docMkLst>
      <pc:sldChg chg="modNotes">
        <pc:chgData name="Upendra Kumar" userId="6c07c951-56e6-444d-b54c-43a261dacbee" providerId="ADAL" clId="{06A93499-00C3-468F-BFAF-ED895873DCA0}" dt="2026-04-30T06:22:48.061" v="0" actId="26606"/>
        <pc:sldMkLst>
          <pc:docMk/>
          <pc:sldMk cId="0" sldId="256"/>
        </pc:sldMkLst>
      </pc:sldChg>
      <pc:sldChg chg="modSp mod modNotes">
        <pc:chgData name="Upendra Kumar" userId="6c07c951-56e6-444d-b54c-43a261dacbee" providerId="ADAL" clId="{06A93499-00C3-468F-BFAF-ED895873DCA0}" dt="2026-04-30T06:22:48.061" v="0" actId="26606"/>
        <pc:sldMkLst>
          <pc:docMk/>
          <pc:sldMk cId="0" sldId="257"/>
        </pc:sldMkLst>
        <pc:spChg chg="mod">
          <ac:chgData name="Upendra Kumar" userId="6c07c951-56e6-444d-b54c-43a261dacbee" providerId="ADAL" clId="{06A93499-00C3-468F-BFAF-ED895873DCA0}" dt="2026-04-30T06:22:48.061" v="0" actId="26606"/>
          <ac:spMkLst>
            <pc:docMk/>
            <pc:sldMk cId="0" sldId="257"/>
            <ac:spMk id="13" creationId="{00000000-0000-0000-0000-000000000000}"/>
          </ac:spMkLst>
        </pc:spChg>
      </pc:sldChg>
      <pc:sldChg chg="modNotes">
        <pc:chgData name="Upendra Kumar" userId="6c07c951-56e6-444d-b54c-43a261dacbee" providerId="ADAL" clId="{06A93499-00C3-468F-BFAF-ED895873DCA0}" dt="2026-04-30T06:22:48.061" v="0" actId="26606"/>
        <pc:sldMkLst>
          <pc:docMk/>
          <pc:sldMk cId="0" sldId="258"/>
        </pc:sldMkLst>
      </pc:sldChg>
      <pc:sldChg chg="modNotes">
        <pc:chgData name="Upendra Kumar" userId="6c07c951-56e6-444d-b54c-43a261dacbee" providerId="ADAL" clId="{06A93499-00C3-468F-BFAF-ED895873DCA0}" dt="2026-04-30T06:22:48.061" v="0" actId="26606"/>
        <pc:sldMkLst>
          <pc:docMk/>
          <pc:sldMk cId="0" sldId="259"/>
        </pc:sldMkLst>
      </pc:sldChg>
      <pc:sldChg chg="modNotes">
        <pc:chgData name="Upendra Kumar" userId="6c07c951-56e6-444d-b54c-43a261dacbee" providerId="ADAL" clId="{06A93499-00C3-468F-BFAF-ED895873DCA0}" dt="2026-04-30T06:22:48.061" v="0" actId="26606"/>
        <pc:sldMkLst>
          <pc:docMk/>
          <pc:sldMk cId="0" sldId="260"/>
        </pc:sldMkLst>
      </pc:sldChg>
      <pc:sldChg chg="modNotes">
        <pc:chgData name="Upendra Kumar" userId="6c07c951-56e6-444d-b54c-43a261dacbee" providerId="ADAL" clId="{06A93499-00C3-468F-BFAF-ED895873DCA0}" dt="2026-04-30T06:22:48.061" v="0" actId="26606"/>
        <pc:sldMkLst>
          <pc:docMk/>
          <pc:sldMk cId="0" sldId="261"/>
        </pc:sldMkLst>
      </pc:sldChg>
      <pc:sldChg chg="modNotes">
        <pc:chgData name="Upendra Kumar" userId="6c07c951-56e6-444d-b54c-43a261dacbee" providerId="ADAL" clId="{06A93499-00C3-468F-BFAF-ED895873DCA0}" dt="2026-04-30T06:22:48.061" v="0" actId="26606"/>
        <pc:sldMkLst>
          <pc:docMk/>
          <pc:sldMk cId="0" sldId="262"/>
        </pc:sldMkLst>
      </pc:sldChg>
      <pc:sldChg chg="modNotes">
        <pc:chgData name="Upendra Kumar" userId="6c07c951-56e6-444d-b54c-43a261dacbee" providerId="ADAL" clId="{06A93499-00C3-468F-BFAF-ED895873DCA0}" dt="2026-04-30T06:22:48.061" v="0" actId="26606"/>
        <pc:sldMkLst>
          <pc:docMk/>
          <pc:sldMk cId="0" sldId="263"/>
        </pc:sldMkLst>
      </pc:sldChg>
      <pc:sldChg chg="modNotes">
        <pc:chgData name="Upendra Kumar" userId="6c07c951-56e6-444d-b54c-43a261dacbee" providerId="ADAL" clId="{06A93499-00C3-468F-BFAF-ED895873DCA0}" dt="2026-04-30T06:22:48.061" v="0" actId="26606"/>
        <pc:sldMkLst>
          <pc:docMk/>
          <pc:sldMk cId="0" sldId="264"/>
        </pc:sldMkLst>
      </pc:sldChg>
      <pc:sldChg chg="modNotes">
        <pc:chgData name="Upendra Kumar" userId="6c07c951-56e6-444d-b54c-43a261dacbee" providerId="ADAL" clId="{06A93499-00C3-468F-BFAF-ED895873DCA0}" dt="2026-04-30T06:22:48.061" v="0" actId="26606"/>
        <pc:sldMkLst>
          <pc:docMk/>
          <pc:sldMk cId="0" sldId="265"/>
        </pc:sldMkLst>
      </pc:sldChg>
      <pc:sldChg chg="modNotes">
        <pc:chgData name="Upendra Kumar" userId="6c07c951-56e6-444d-b54c-43a261dacbee" providerId="ADAL" clId="{06A93499-00C3-468F-BFAF-ED895873DCA0}" dt="2026-04-30T06:22:48.061" v="0" actId="26606"/>
        <pc:sldMkLst>
          <pc:docMk/>
          <pc:sldMk cId="0" sldId="266"/>
        </pc:sldMkLst>
      </pc:sldChg>
      <pc:sldChg chg="modNotes">
        <pc:chgData name="Upendra Kumar" userId="6c07c951-56e6-444d-b54c-43a261dacbee" providerId="ADAL" clId="{06A93499-00C3-468F-BFAF-ED895873DCA0}" dt="2026-04-30T06:22:48.061" v="0" actId="26606"/>
        <pc:sldMkLst>
          <pc:docMk/>
          <pc:sldMk cId="0" sldId="267"/>
        </pc:sldMkLst>
      </pc:sldChg>
      <pc:sldChg chg="modNotes">
        <pc:chgData name="Upendra Kumar" userId="6c07c951-56e6-444d-b54c-43a261dacbee" providerId="ADAL" clId="{06A93499-00C3-468F-BFAF-ED895873DCA0}" dt="2026-04-30T06:22:48.061" v="0" actId="26606"/>
        <pc:sldMkLst>
          <pc:docMk/>
          <pc:sldMk cId="0" sldId="268"/>
        </pc:sldMkLst>
      </pc:sldChg>
      <pc:sldChg chg="modSp mod modNotes">
        <pc:chgData name="Upendra Kumar" userId="6c07c951-56e6-444d-b54c-43a261dacbee" providerId="ADAL" clId="{06A93499-00C3-468F-BFAF-ED895873DCA0}" dt="2026-04-30T06:22:48.061" v="0" actId="26606"/>
        <pc:sldMkLst>
          <pc:docMk/>
          <pc:sldMk cId="0" sldId="269"/>
        </pc:sldMkLst>
        <pc:picChg chg="mod">
          <ac:chgData name="Upendra Kumar" userId="6c07c951-56e6-444d-b54c-43a261dacbee" providerId="ADAL" clId="{06A93499-00C3-468F-BFAF-ED895873DCA0}" dt="2026-04-30T06:22:48.061" v="0" actId="26606"/>
          <ac:picMkLst>
            <pc:docMk/>
            <pc:sldMk cId="0" sldId="269"/>
            <ac:picMk id="3"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DA0C39B-B38C-4AAA-B27A-B351D17E993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97458503-EC51-4570-9EFC-84D0DE753D3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A8552C3-53A9-4EAE-98D2-96F7E807C082}" type="datetimeFigureOut">
              <a:rPr lang="en-US" smtClean="0"/>
              <a:t>4/30/2026</a:t>
            </a:fld>
            <a:endParaRPr lang="en-US"/>
          </a:p>
        </p:txBody>
      </p:sp>
      <p:sp>
        <p:nvSpPr>
          <p:cNvPr id="4" name="Footer Placeholder 3">
            <a:extLst>
              <a:ext uri="{FF2B5EF4-FFF2-40B4-BE49-F238E27FC236}">
                <a16:creationId xmlns:a16="http://schemas.microsoft.com/office/drawing/2014/main" id="{CF9542E6-4148-41C6-8765-7774913CF98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30941AB6-8DCA-40B8-B06C-2834861451B0}"/>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5F0DA6C-0510-45D0-8510-74AF9D91696C}" type="slidenum">
              <a:rPr lang="en-US" smtClean="0"/>
              <a:t>‹#›</a:t>
            </a:fld>
            <a:endParaRPr lang="en-US"/>
          </a:p>
        </p:txBody>
      </p:sp>
    </p:spTree>
    <p:extLst>
      <p:ext uri="{BB962C8B-B14F-4D97-AF65-F5344CB8AC3E}">
        <p14:creationId xmlns:p14="http://schemas.microsoft.com/office/powerpoint/2010/main" val="358277107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p:cNvSpPr>
            <a:spLocks noGrp="1"/>
          </p:cNvSpPr>
          <p:nvPr>
            <p:ph type="dt" idx="1"/>
          </p:nvPr>
        </p:nvSpPr>
        <p:spPr>
          <a:xfrm>
            <a:off x="0" y="8793270"/>
            <a:ext cx="2971800" cy="350730"/>
          </a:xfrm>
          <a:prstGeom prst="rect">
            <a:avLst/>
          </a:prstGeom>
        </p:spPr>
        <p:txBody>
          <a:bodyPr vert="horz" lIns="91440" tIns="45720" rIns="91440" bIns="45720" rtlCol="0" anchor="t" anchorCtr="0"/>
          <a:lstStyle>
            <a:lvl1pPr algn="l">
              <a:defRPr sz="1000"/>
            </a:lvl1pPr>
          </a:lstStyle>
          <a:p>
            <a:fld id="{94C1FFEF-7AA5-49AA-AC58-7D6786C64E8F}" type="datetimeFigureOut">
              <a:rPr lang="en-US" smtClean="0"/>
              <a:pPr/>
              <a:t>4/30/2026</a:t>
            </a:fld>
            <a:endParaRPr lang="en-US" dirty="0"/>
          </a:p>
        </p:txBody>
      </p:sp>
      <p:sp>
        <p:nvSpPr>
          <p:cNvPr id="4" name="Slide Image Placeholder 3"/>
          <p:cNvSpPr>
            <a:spLocks noGrp="1" noRot="1" noChangeAspect="1"/>
          </p:cNvSpPr>
          <p:nvPr>
            <p:ph type="sldImg" idx="2"/>
          </p:nvPr>
        </p:nvSpPr>
        <p:spPr>
          <a:xfrm>
            <a:off x="990600" y="349946"/>
            <a:ext cx="4876800" cy="27432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304800" y="3344449"/>
            <a:ext cx="6248400" cy="5273457"/>
          </a:xfrm>
          <a:prstGeom prst="rect">
            <a:avLst/>
          </a:prstGeom>
        </p:spPr>
        <p:txBody>
          <a:bodyPr vert="horz" lIns="91440" tIns="45720" rIns="91440" bIns="45720" rtlCol="0"/>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Slide Number Placeholder 6"/>
          <p:cNvSpPr>
            <a:spLocks noGrp="1"/>
          </p:cNvSpPr>
          <p:nvPr>
            <p:ph type="sldNum" sz="quarter" idx="5"/>
          </p:nvPr>
        </p:nvSpPr>
        <p:spPr>
          <a:xfrm>
            <a:off x="3884613" y="8793271"/>
            <a:ext cx="2971800" cy="350729"/>
          </a:xfrm>
          <a:prstGeom prst="rect">
            <a:avLst/>
          </a:prstGeom>
        </p:spPr>
        <p:txBody>
          <a:bodyPr vert="horz" lIns="91440" tIns="45720" rIns="91440" bIns="45720" rtlCol="0" anchor="t" anchorCtr="0"/>
          <a:lstStyle>
            <a:lvl1pPr algn="r">
              <a:defRPr sz="1000"/>
            </a:lvl1pPr>
          </a:lstStyle>
          <a:p>
            <a:fld id="{743F7EE4-7D84-4D77-B4B2-0C966043B366}" type="slidenum">
              <a:rPr lang="en-US" smtClean="0"/>
              <a:pPr/>
              <a:t>‹#›</a:t>
            </a:fld>
            <a:endParaRPr lang="en-US"/>
          </a:p>
        </p:txBody>
      </p:sp>
    </p:spTree>
    <p:extLst>
      <p:ext uri="{BB962C8B-B14F-4D97-AF65-F5344CB8AC3E}">
        <p14:creationId xmlns:p14="http://schemas.microsoft.com/office/powerpoint/2010/main" val="7309664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[OPENING – Delivery Architect Introduction]</a:t>
            </a:r>
          </a:p>
          <a:p>
            <a:endParaRPr lang="en-US" dirty="0"/>
          </a:p>
          <a:p>
            <a:r>
              <a:rPr lang="en-US" dirty="0"/>
              <a:t>Good morning/afternoon everyone. Thank you for joining us today.</a:t>
            </a:r>
          </a:p>
          <a:p>
            <a:endParaRPr lang="en-US" dirty="0"/>
          </a:p>
          <a:p>
            <a:r>
              <a:rPr lang="en-US" dirty="0"/>
              <a:t>My name is Upendra Kumar, and I serve as a Delivery Architect within Professional Services. Today I am presenting the Cloud Readiness Accelerator – a reusable, enterprise-grade, multi-cloud assessment framework that we have built, tested, and proven in production.</a:t>
            </a:r>
          </a:p>
          <a:p>
            <a:endParaRPr lang="en-US" dirty="0"/>
          </a:p>
          <a:p>
            <a:r>
              <a:rPr lang="en-US" dirty="0"/>
              <a:t>From an Azure Cloud Architecture perspective: This framework was born out of the reality that every major enterprise migration – whether targeting Azure, AWS, or GCP – begins with the same fundamental question: “Where do we start, and how do we make defensible decisions?” This accelerator answers that question with structure, evidence, and repeatability.</a:t>
            </a:r>
          </a:p>
          <a:p>
            <a:endParaRPr lang="en-US" dirty="0"/>
          </a:p>
          <a:p>
            <a:r>
              <a:rPr lang="en-US" dirty="0"/>
              <a:t>From a Senior Project Management standpoint: We have seen too many assessment engagements burn 8 to 12 weeks just standing up templates and methodology before any real analysis begins. This framework eliminates that waste.</a:t>
            </a:r>
          </a:p>
          <a:p>
            <a:endParaRPr lang="en-US" dirty="0"/>
          </a:p>
          <a:p>
            <a:r>
              <a:rPr lang="en-US" dirty="0"/>
              <a:t>From an AI Architecture lens across Microsoft, Google, and AWS: The framework is designed to be provider-neutral, which means it can objectively evaluate AI and ML workload placement across all three hyperscalers without bias.</a:t>
            </a:r>
          </a:p>
          <a:p>
            <a:endParaRPr lang="en-US" dirty="0"/>
          </a:p>
          <a:p>
            <a:r>
              <a:rPr lang="en-US" dirty="0"/>
              <a:t>Key message: This is not a slide deck. This is a delivery capability that has been proven at enterprise scale.</a:t>
            </a:r>
          </a:p>
        </p:txBody>
      </p:sp>
      <p:sp>
        <p:nvSpPr>
          <p:cNvPr id="4" name="Slide Number Placeholder 3"/>
          <p:cNvSpPr>
            <a:spLocks noGrp="1"/>
          </p:cNvSpPr>
          <p:nvPr>
            <p:ph type="sldNum" sz="quarter" idx="5"/>
          </p:nvPr>
        </p:nvSpPr>
        <p:spPr/>
        <p:txBody>
          <a:bodyPr/>
          <a:lstStyle/>
          <a:p>
            <a:fld id="{B6F15528-F159-4107-8E1A-4A3D0002E9E0}"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[EXECUTIVE SUMMARY – Why This Matters to Leadership]</a:t>
            </a:r>
          </a:p>
          <a:p>
            <a:endParaRPr lang="en-US" dirty="0"/>
          </a:p>
          <a:p>
            <a:r>
              <a:rPr lang="en-US" dirty="0"/>
              <a:t>Let me walk you through the executive summary of what this framework delivers.</a:t>
            </a:r>
          </a:p>
          <a:p>
            <a:endParaRPr lang="en-US" dirty="0"/>
          </a:p>
          <a:p>
            <a:r>
              <a:rPr lang="en-US" dirty="0"/>
              <a:t>From a Pre-Sales Architecture perspective at Microsoft, AWS, and Google: When we engage with enterprise clients, the first thing they ask is “How quickly can you assess our estate and give us actionable recommendations?” With this framework, we cut delivery time by 60 percent because we are not starting from scratch.</a:t>
            </a:r>
          </a:p>
          <a:p>
            <a:endParaRPr lang="en-US" dirty="0"/>
          </a:p>
          <a:p>
            <a:r>
              <a:rPr lang="en-US" dirty="0"/>
              <a:t>The numbers tell the story: 24-plus reusable assets, 3 cloud platforms evaluated objectively, 4 structured assessment phases, and 100 percent provider neutrality.</a:t>
            </a:r>
          </a:p>
          <a:p>
            <a:endParaRPr lang="en-US" dirty="0"/>
          </a:p>
          <a:p>
            <a:r>
              <a:rPr lang="en-US" dirty="0"/>
              <a:t>From a Senior Director, Cloud Solutions Architecture viewpoint: There are three strategic outcomes here. First, delivery advantage – standardized methodology means every engagement starts strong. Second, commercial clarity – multi-cloud TCO modeling and readiness scoring give clients the evidence they need for board-level decisions. Third, practice scalability – any team can pick this up and deliver consistent quality.</a:t>
            </a:r>
          </a:p>
          <a:p>
            <a:endParaRPr lang="en-US" dirty="0"/>
          </a:p>
          <a:p>
            <a:r>
              <a:rPr lang="en-US" dirty="0"/>
              <a:t>Alliance Partner perspective: For our partnerships with Microsoft, AWS, and Google, this framework demonstrates that we are not a single-cloud shop. We evaluate objectively and recommend based on client business drivers, not vendor preference. That builds trust with both the client and the hyperscaler.</a:t>
            </a:r>
          </a:p>
          <a:p>
            <a:endParaRPr lang="en-US" dirty="0"/>
          </a:p>
          <a:p>
            <a:r>
              <a:rPr lang="en-US" dirty="0"/>
              <a:t>The DMG Media proof point validates this at meaningful enterprise scale – we will cover that in detail shortly.</a:t>
            </a:r>
          </a:p>
        </p:txBody>
      </p:sp>
      <p:sp>
        <p:nvSpPr>
          <p:cNvPr id="4" name="Slide Number Placeholder 3"/>
          <p:cNvSpPr>
            <a:spLocks noGrp="1"/>
          </p:cNvSpPr>
          <p:nvPr>
            <p:ph type="sldNum" sz="quarter" idx="5"/>
          </p:nvPr>
        </p:nvSpPr>
        <p:spPr/>
        <p:txBody>
          <a:bodyPr/>
          <a:lstStyle/>
          <a:p>
            <a:fld id="{B6F15528-F159-4107-8E1A-4A3D0002E9E1}" type="slidenum">
              <a:rPr lang="en-US" smtClean="0"/>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[PROBLEM STATEMENT – The Pain Points We Solve]</a:t>
            </a:r>
          </a:p>
          <a:p>
            <a:endParaRPr lang="en-US" dirty="0"/>
          </a:p>
          <a:p>
            <a:r>
              <a:rPr lang="en-US" dirty="0"/>
              <a:t>Let us be honest about why this framework exists.</a:t>
            </a:r>
          </a:p>
          <a:p>
            <a:endParaRPr lang="en-US" dirty="0"/>
          </a:p>
          <a:p>
            <a:r>
              <a:rPr lang="en-US" dirty="0"/>
              <a:t>From a Senior Project Manager perspective: I have managed dozens of cloud assessment engagements, and the pattern is always the same. Teams spend 8 to 12 weeks just building the assessment methodology, templates, and scoring before they even start analyzing the client estate. That is unacceptable when clients expect rapid time-to-value.</a:t>
            </a:r>
          </a:p>
          <a:p>
            <a:endParaRPr lang="en-US" dirty="0"/>
          </a:p>
          <a:p>
            <a:r>
              <a:rPr lang="en-US" dirty="0"/>
              <a:t>Azure Cloud Architect insight: The traditional approach has four critical pain points, and the impact scores on this chart tell the story. Long timelines score a 9 out of 10 in severity. Provider bias scores an 8 – when you use a single vendor’s discovery tool, the recommendation inevitably tilts toward that vendor. Lack of templates and manual analysis both score high because they introduce inconsistency and human error.</a:t>
            </a:r>
          </a:p>
          <a:p>
            <a:endParaRPr lang="en-US" dirty="0"/>
          </a:p>
          <a:p>
            <a:r>
              <a:rPr lang="en-US" dirty="0"/>
              <a:t>From an AI Architecture perspective: In the era of AI-driven workloads, assessment complexity has increased dramatically. You cannot just evaluate compute and storage anymore. You need to assess AI/ML readiness, data pipeline maturity, GPU requirements, and model serving infrastructure across clouds. A manual approach simply cannot keep up.</a:t>
            </a:r>
          </a:p>
          <a:p>
            <a:endParaRPr lang="en-US" dirty="0"/>
          </a:p>
          <a:p>
            <a:r>
              <a:rPr lang="en-US" dirty="0"/>
              <a:t>Google Cloud Alliance Partner view: Google often sees engagements where the assessment was done using Azure Migrate or AWS Migration Hub exclusively. The result is a biased recommendation that the client later questions. Our provider-neutral approach eliminates that credibility risk.</a:t>
            </a:r>
          </a:p>
          <a:p>
            <a:endParaRPr lang="en-US" dirty="0"/>
          </a:p>
          <a:p>
            <a:r>
              <a:rPr lang="en-US" dirty="0"/>
              <a:t>The core insight: Assessment quality improves dramatically when you standardize methodology, scoring, templates, and reporting before the engagement begins.</a:t>
            </a:r>
          </a:p>
        </p:txBody>
      </p:sp>
      <p:sp>
        <p:nvSpPr>
          <p:cNvPr id="4" name="Slide Number Placeholder 3"/>
          <p:cNvSpPr>
            <a:spLocks noGrp="1"/>
          </p:cNvSpPr>
          <p:nvPr>
            <p:ph type="sldNum" sz="quarter" idx="5"/>
          </p:nvPr>
        </p:nvSpPr>
        <p:spPr/>
        <p:txBody>
          <a:bodyPr/>
          <a:lstStyle/>
          <a:p>
            <a:fld id="{B6F15528-F159-4107-8E1A-4A3D0002E9E2}" type="slidenum">
              <a:rPr lang="en-US" smtClean="0"/>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[FRAMEWORK CAPABILITIES – What We Actually Deliver]</a:t>
            </a:r>
          </a:p>
          <a:p>
            <a:endParaRPr lang="en-US" dirty="0"/>
          </a:p>
          <a:p>
            <a:r>
              <a:rPr lang="en-US" dirty="0"/>
              <a:t>Now let me show you what the Cloud Readiness Accelerator actually provides.</a:t>
            </a:r>
          </a:p>
          <a:p>
            <a:endParaRPr lang="en-US" dirty="0"/>
          </a:p>
          <a:p>
            <a:r>
              <a:rPr lang="en-US" dirty="0"/>
              <a:t>From a Microsoft Azure Cloud Architect perspective: This is not just a set of templates. It is a complete delivery model with four key pillars. First, standardized methodology – every engagement follows the same proven approach. Second, multi-cloud scoring – objective, weighted comparison across Azure, AWS, and GCP. Third, reusable templates – 24-plus pre-built deliverables that reduce time-to-value immediately. Fourth, production-ready assets – these were built from real enterprise delivery, not theoretical frameworks.</a:t>
            </a:r>
          </a:p>
          <a:p>
            <a:endParaRPr lang="en-US" dirty="0"/>
          </a:p>
          <a:p>
            <a:r>
              <a:rPr lang="en-US" dirty="0"/>
              <a:t>Pre-Sales Architect insight for AWS and Google: When positioning this to clients, emphasize the five readiness dimensions. We do not just assess technical fit. We evaluate Technical, Operations, Security, Business, and People readiness. That holistic view is what differentiates us from competitors who only run a discovery tool and hand over a spreadsheet.</a:t>
            </a:r>
          </a:p>
          <a:p>
            <a:endParaRPr lang="en-US" dirty="0"/>
          </a:p>
          <a:p>
            <a:r>
              <a:rPr lang="en-US" dirty="0"/>
              <a:t>Senior Director, Cloud Solutions Architecture: The framework covers the entire assessment lifecycle – discovery questionnaires, application profiling, dependency mapping, TCO modeling, and executive reporting. Each of these has pre-built templates and scoring models.</a:t>
            </a:r>
          </a:p>
          <a:p>
            <a:endParaRPr lang="en-US" dirty="0"/>
          </a:p>
          <a:p>
            <a:r>
              <a:rPr lang="en-US" dirty="0"/>
              <a:t>AI Architecture perspective: For clients with AI and machine learning workloads, the framework evaluates platform-specific AI services, GPU availability, model training costs, and inference pricing across all three clouds. This is increasingly the deciding factor for cloud selection.</a:t>
            </a:r>
          </a:p>
          <a:p>
            <a:endParaRPr lang="en-US" dirty="0"/>
          </a:p>
          <a:p>
            <a:r>
              <a:rPr lang="en-US" dirty="0"/>
              <a:t>Key numbers to remember: 24-plus templates, 3 platforms, 4 phases, 5 readiness dimensions.</a:t>
            </a:r>
          </a:p>
        </p:txBody>
      </p:sp>
      <p:sp>
        <p:nvSpPr>
          <p:cNvPr id="4" name="Slide Number Placeholder 3"/>
          <p:cNvSpPr>
            <a:spLocks noGrp="1"/>
          </p:cNvSpPr>
          <p:nvPr>
            <p:ph type="sldNum" sz="quarter" idx="5"/>
          </p:nvPr>
        </p:nvSpPr>
        <p:spPr/>
        <p:txBody>
          <a:bodyPr/>
          <a:lstStyle/>
          <a:p>
            <a:fld id="{B6F15528-F159-4107-8E1A-4A3D0002E9E3}" type="slidenum">
              <a:rPr lang="en-US" smtClean="0"/>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[METHODOLOGY – The Four-Phase Delivery Model]</a:t>
            </a:r>
          </a:p>
          <a:p>
            <a:endParaRPr lang="en-US" dirty="0"/>
          </a:p>
          <a:p>
            <a:r>
              <a:rPr lang="en-US" dirty="0"/>
              <a:t>This is the backbone of the framework – a four-phase assessment model that moves from discovery to actionable planning without losing delivery discipline.</a:t>
            </a:r>
          </a:p>
          <a:p>
            <a:endParaRPr lang="en-US" dirty="0"/>
          </a:p>
          <a:p>
            <a:r>
              <a:rPr lang="en-US" dirty="0"/>
              <a:t>Senior Project Manager perspective: Each phase has defined entry and exit criteria, clear deliverables, and assigned responsibilities. Phase 1, Discovery, covers tooling deployment, server profiling, dependency mapping, and application workshops. Phase 2, Analysis, is where the heavy lifting happens – TCO modeling, technical assessment, readiness scoring, and gap identification. Phase 3, Evaluation, brings it all together with multi-cloud comparison, weighted scoring, and business-fit analysis. Phase 4, Planning, produces the actionable outputs – migration runbooks, wave plans, governance design, and next steps.</a:t>
            </a:r>
          </a:p>
          <a:p>
            <a:endParaRPr lang="en-US" dirty="0"/>
          </a:p>
          <a:p>
            <a:r>
              <a:rPr lang="en-US" dirty="0"/>
              <a:t>Azure Cloud Architect detail: In Phase 1, we deploy Azure Migrate alongside AWS Migration Hub and Google Cloud’s discovery tools simultaneously. This gives us a provider-neutral data set from day one. The dependency mapping captures application-to-infrastructure relationships that are critical for wave planning.</a:t>
            </a:r>
          </a:p>
          <a:p>
            <a:endParaRPr lang="en-US" dirty="0"/>
          </a:p>
          <a:p>
            <a:r>
              <a:rPr lang="en-US" dirty="0"/>
              <a:t>AWS Pre-Sales Architect note: Clients appreciate that we run all three discovery toolsets. It shows objectivity and often reveals capabilities they did not know existed on certain platforms.</a:t>
            </a:r>
          </a:p>
          <a:p>
            <a:endParaRPr lang="en-US" dirty="0"/>
          </a:p>
          <a:p>
            <a:r>
              <a:rPr lang="en-US" dirty="0"/>
              <a:t>Google Cloud Alliance Partner perspective: Phase 3 is where Google often wins or loses deals. Our weighted scoring model ensures that Google’s strengths in data analytics, Kubernetes, and AI/ML are properly evaluated alongside Azure and AWS capabilities.</a:t>
            </a:r>
          </a:p>
          <a:p>
            <a:endParaRPr lang="en-US" dirty="0"/>
          </a:p>
          <a:p>
            <a:r>
              <a:rPr lang="en-US" dirty="0"/>
              <a:t>The three outcomes at the bottom are what the client and leadership care about: engagement control through standard phases, client confidence through evidence-based outputs, and delivery readiness with a complete roadmap.</a:t>
            </a:r>
          </a:p>
        </p:txBody>
      </p:sp>
      <p:sp>
        <p:nvSpPr>
          <p:cNvPr id="4" name="Slide Number Placeholder 3"/>
          <p:cNvSpPr>
            <a:spLocks noGrp="1"/>
          </p:cNvSpPr>
          <p:nvPr>
            <p:ph type="sldNum" sz="quarter" idx="5"/>
          </p:nvPr>
        </p:nvSpPr>
        <p:spPr/>
        <p:txBody>
          <a:bodyPr/>
          <a:lstStyle/>
          <a:p>
            <a:fld id="{B6F15528-F159-4107-8E1A-4A3D0002E9E4}" type="slidenum">
              <a:rPr lang="en-US" smtClean="0"/>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[SCORING MODEL – Making Recommendations Defensible]</a:t>
            </a:r>
          </a:p>
          <a:p>
            <a:endParaRPr lang="en-US" dirty="0"/>
          </a:p>
          <a:p>
            <a:r>
              <a:rPr lang="en-US" dirty="0"/>
              <a:t>This slide is critical because it addresses the single biggest challenge in cloud assessments: making recommendations that survive scrutiny from every stakeholder.</a:t>
            </a:r>
          </a:p>
          <a:p>
            <a:endParaRPr lang="en-US" dirty="0"/>
          </a:p>
          <a:p>
            <a:r>
              <a:rPr lang="en-US" dirty="0"/>
              <a:t>Senior Director, Cloud Solutions Architecture: We score across five dimensions – Technical, Operations, Security, Business, and People. Each dimension has specific evaluation criteria. Technical covers platform fit, application constraints, performance requirements, and dependencies. Operations evaluates run model, monitoring, automation, and ITSM integration. Security assesses identity, network controls, data protection, and risk posture. Business examines criticality, value, constraints, and timeline. People evaluates skills, adoption readiness, and change management needs.</a:t>
            </a:r>
          </a:p>
          <a:p>
            <a:endParaRPr lang="en-US" dirty="0"/>
          </a:p>
          <a:p>
            <a:r>
              <a:rPr lang="en-US" dirty="0"/>
              <a:t>Azure Cloud Architect insight: The weighting system is what makes this powerful. Client priorities drive the weights. If a financial services client says security and compliance are paramount, those dimensions get higher weighting. If a media company prioritizes speed and innovation, the weights shift accordingly. This means the same framework produces different, client-specific recommendations.</a:t>
            </a:r>
          </a:p>
          <a:p>
            <a:endParaRPr lang="en-US" dirty="0"/>
          </a:p>
          <a:p>
            <a:r>
              <a:rPr lang="en-US" dirty="0"/>
              <a:t>AI Architecture perspective across all three clouds: For AI workloads, the Technical dimension evaluates GPU availability and pricing, pre-trained model ecosystems, MLOps tooling maturity, and data pipeline integration. The Operations dimension assesses model monitoring, drift detection, and automated retraining capabilities. These are often the differentiators between clouds.</a:t>
            </a:r>
          </a:p>
          <a:p>
            <a:endParaRPr lang="en-US" dirty="0"/>
          </a:p>
          <a:p>
            <a:r>
              <a:rPr lang="en-US" dirty="0"/>
              <a:t>AWS and Google Pre-Sales insight: When a client asks “Why did you recommend Platform X over Platform Y?”, we can point to the specific scores across all five dimensions and show exactly where each platform won or lost points. That level of transparency builds trust and accelerates decision-making.</a:t>
            </a:r>
          </a:p>
          <a:p>
            <a:endParaRPr lang="en-US" dirty="0"/>
          </a:p>
          <a:p>
            <a:r>
              <a:rPr lang="en-US" dirty="0"/>
              <a:t>Key message: A good CRA recommendation is not a cloud preference. It is a defensible decision model that survives executive, technical, and commercial scrutiny.</a:t>
            </a:r>
          </a:p>
        </p:txBody>
      </p:sp>
      <p:sp>
        <p:nvSpPr>
          <p:cNvPr id="4" name="Slide Number Placeholder 3"/>
          <p:cNvSpPr>
            <a:spLocks noGrp="1"/>
          </p:cNvSpPr>
          <p:nvPr>
            <p:ph type="sldNum" sz="quarter" idx="5"/>
          </p:nvPr>
        </p:nvSpPr>
        <p:spPr/>
        <p:txBody>
          <a:bodyPr/>
          <a:lstStyle/>
          <a:p>
            <a:fld id="{B6F15528-F159-4107-8E1A-4A3D0002E9E5}" type="slidenum">
              <a:rPr lang="en-US" smtClean="0"/>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[ASSET LIBRARY – What Teams Actually Get to Use]</a:t>
            </a:r>
          </a:p>
          <a:p>
            <a:endParaRPr lang="en-US" dirty="0"/>
          </a:p>
          <a:p>
            <a:r>
              <a:rPr lang="en-US" dirty="0"/>
              <a:t>Let me walk through the reusable asset library, because this is where the 60 percent time reduction comes from.</a:t>
            </a:r>
          </a:p>
          <a:p>
            <a:endParaRPr lang="en-US" dirty="0"/>
          </a:p>
          <a:p>
            <a:r>
              <a:rPr lang="en-US" dirty="0"/>
              <a:t>Senior Project Manager perspective: The assets are organized across five categories. Discovery assets include inventory templates, profiling questionnaires, dependency mapping tools, and automation scripts. Assessment assets provide scoring models, readiness checklists, and cloud affinity calculators. TCO assets are particularly powerful – they include live API-driven pricing, BYOL modeling, regional cost comparison, and optimization scenario modeling.</a:t>
            </a:r>
          </a:p>
          <a:p>
            <a:endParaRPr lang="en-US" dirty="0"/>
          </a:p>
          <a:p>
            <a:r>
              <a:rPr lang="en-US" dirty="0"/>
              <a:t>Azure Cloud Architect detail: The TCO modeling assets connect to Azure Pricing Calculator APIs, AWS Pricing APIs, and Google Cloud Pricing APIs. This means cost comparisons are always current, not based on stale rate cards. We model BYOL scenarios for SQL Server, Windows Server, and other Microsoft workloads where Azure Hybrid Benefit can significantly change the economics.</a:t>
            </a:r>
          </a:p>
          <a:p>
            <a:endParaRPr lang="en-US" dirty="0"/>
          </a:p>
          <a:p>
            <a:r>
              <a:rPr lang="en-US" dirty="0"/>
              <a:t>AWS Alliance Partner insight: The Planning category includes migration wave templates, project plans, governance frameworks, and landing zone blueprints for all three clouds. These are not generic – they reflect real-world landing zone architectures that have been validated in production.</a:t>
            </a:r>
          </a:p>
          <a:p>
            <a:endParaRPr lang="en-US" dirty="0"/>
          </a:p>
          <a:p>
            <a:r>
              <a:rPr lang="en-US" dirty="0"/>
              <a:t>Google Cloud Pre-Sales perspective: The Engagement category includes workshop decks, interview guides, hyperscaler scorecards, and negotiation materials. The hyperscaler scorecards are particularly valuable because they provide a standardized comparison framework that clients can use internally.</a:t>
            </a:r>
          </a:p>
          <a:p>
            <a:endParaRPr lang="en-US" dirty="0"/>
          </a:p>
          <a:p>
            <a:r>
              <a:rPr lang="en-US" dirty="0"/>
              <a:t>AI Architecture note: For AI-specific assessments, we have added templates for ML workload profiling, GPU requirement calculators, and AI service comparison matrices across Azure AI, AWS SageMaker, and Google Vertex AI.</a:t>
            </a:r>
          </a:p>
          <a:p>
            <a:endParaRPr lang="en-US" dirty="0"/>
          </a:p>
          <a:p>
            <a:r>
              <a:rPr lang="en-US" dirty="0"/>
              <a:t>Important caveat: Reusable does not mean generic. The framework keeps client-specific inputs, assumptions, and decisions traceable while standardizing the delivery mechanics.</a:t>
            </a:r>
          </a:p>
        </p:txBody>
      </p:sp>
      <p:sp>
        <p:nvSpPr>
          <p:cNvPr id="4" name="Slide Number Placeholder 3"/>
          <p:cNvSpPr>
            <a:spLocks noGrp="1"/>
          </p:cNvSpPr>
          <p:nvPr>
            <p:ph type="sldNum" sz="quarter" idx="5"/>
          </p:nvPr>
        </p:nvSpPr>
        <p:spPr/>
        <p:txBody>
          <a:bodyPr/>
          <a:lstStyle/>
          <a:p>
            <a:fld id="{B6F15528-F159-4107-8E1A-4A3D0002E9E6}" type="slidenum">
              <a:rPr lang="en-US" smtClean="0"/>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[DIFFERENTIATORS – Why This Is Better Than Alternatives]</a:t>
            </a:r>
          </a:p>
          <a:p>
            <a:endParaRPr lang="en-US" dirty="0"/>
          </a:p>
          <a:p>
            <a:r>
              <a:rPr lang="en-US" dirty="0"/>
              <a:t>Let me be direct about what makes this framework different from what competitors and individual hyperscalers offer.</a:t>
            </a:r>
          </a:p>
          <a:p>
            <a:endParaRPr lang="en-US" dirty="0"/>
          </a:p>
          <a:p>
            <a:r>
              <a:rPr lang="en-US" dirty="0"/>
              <a:t>Senior Director, Cloud Solutions Architecture: Four key differentiators. First, 100 percent provider-neutral evaluation – our scoring is not funded or influenced by any single hyperscaler. Second, five readiness dimensions – we go beyond technical fit to evaluate the full picture. Third, 24-plus reusable assets – this is not a methodology document, it is a complete delivery toolkit. Fourth, 60 percent time reduction – proven across multiple engagements.</a:t>
            </a:r>
          </a:p>
          <a:p>
            <a:endParaRPr lang="en-US" dirty="0"/>
          </a:p>
          <a:p>
            <a:r>
              <a:rPr lang="en-US" dirty="0"/>
              <a:t>Azure Cloud Architect perspective: Provider-neutral evaluation is our strongest differentiator. When Azure is the right answer, our framework shows it clearly. When AWS or GCP is better suited, we say that too. Clients trust recommendations that come from an objective process, and Microsoft, AWS, and Google all respect partners who recommend based on evidence rather than commercial incentive.</a:t>
            </a:r>
          </a:p>
          <a:p>
            <a:endParaRPr lang="en-US" dirty="0"/>
          </a:p>
          <a:p>
            <a:r>
              <a:rPr lang="en-US" dirty="0"/>
              <a:t>AWS Pre-Sales Architect insight: The licensing-aware TCO modeling is a significant differentiator. Most assessment tools ignore BYOL implications, Software Assurance benefits, Enterprise Agreement discounts, and reserved instance optimization. Our models capture all of these, which can change the cost comparison by 30 to 40 percent.</a:t>
            </a:r>
          </a:p>
          <a:p>
            <a:endParaRPr lang="en-US" dirty="0"/>
          </a:p>
          <a:p>
            <a:r>
              <a:rPr lang="en-US" dirty="0"/>
              <a:t>Google Cloud Alliance Partner view: The governance-first design is what enterprise clients need. We do not bolt on security, FinOps, and operating model considerations at the end. They are built into the assessment from Phase 1. This means the recommendation comes with a governance-ready landing zone design.</a:t>
            </a:r>
          </a:p>
          <a:p>
            <a:endParaRPr lang="en-US" dirty="0"/>
          </a:p>
          <a:p>
            <a:r>
              <a:rPr lang="en-US" dirty="0"/>
              <a:t>AI Architecture across all platforms: For AI workloads, the framework evaluates not just current capabilities but platform roadmaps. Google’s TPU strategy, AWS’s Trainium and Inferentia chips, and Azure’s OpenAI partnership all factor into forward-looking recommendations.</a:t>
            </a:r>
          </a:p>
          <a:p>
            <a:endParaRPr lang="en-US" dirty="0"/>
          </a:p>
          <a:p>
            <a:r>
              <a:rPr lang="en-US" dirty="0"/>
              <a:t>The value is not just speed. It is a defensible, consistent recommendation that supports executive, technical, and commercial decision routing.</a:t>
            </a:r>
          </a:p>
        </p:txBody>
      </p:sp>
      <p:sp>
        <p:nvSpPr>
          <p:cNvPr id="4" name="Slide Number Placeholder 3"/>
          <p:cNvSpPr>
            <a:spLocks noGrp="1"/>
          </p:cNvSpPr>
          <p:nvPr>
            <p:ph type="sldNum" sz="quarter" idx="5"/>
          </p:nvPr>
        </p:nvSpPr>
        <p:spPr/>
        <p:txBody>
          <a:bodyPr/>
          <a:lstStyle/>
          <a:p>
            <a:fld id="{B6F15528-F159-4107-8E1A-4A3D0002E9E7}" type="slidenum">
              <a:rPr lang="en-US" smtClean="0"/>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[PROOF POINT – DMG Media Enterprise Case Study]</a:t>
            </a:r>
          </a:p>
          <a:p>
            <a:endParaRPr lang="en-US" dirty="0"/>
          </a:p>
          <a:p>
            <a:r>
              <a:rPr lang="en-US" dirty="0"/>
              <a:t>This is where theory meets reality. The DMG Media case study proves this framework works at genuine enterprise scale.</a:t>
            </a:r>
          </a:p>
          <a:p>
            <a:endParaRPr lang="en-US" dirty="0"/>
          </a:p>
          <a:p>
            <a:r>
              <a:rPr lang="en-US" dirty="0"/>
              <a:t>Senior Project Manager perspective: Let me give you the numbers. 3,038 servers assessed across three data centers – Reading, Slough, and Sydney. 39 applications profiled including Mail Online, Metro, and other major DMG brands. 88 databases evaluated. All delivered in 11 weeks. Without this framework, an assessment of this scale would typically take 20 to 24 weeks.</a:t>
            </a:r>
          </a:p>
          <a:p>
            <a:endParaRPr lang="en-US" dirty="0"/>
          </a:p>
          <a:p>
            <a:r>
              <a:rPr lang="en-US" dirty="0"/>
              <a:t>Azure Cloud Architect detail: The estate included a complex mix of Windows and Linux workloads, legacy applications, modern containerized services, and significant database diversity including SQL Server, Oracle, MySQL, and PostgreSQL. We ran Azure Migrate, AWS Application Discovery Service, and Google Cloud discovery tooling simultaneously across all three data centers.</a:t>
            </a:r>
          </a:p>
          <a:p>
            <a:endParaRPr lang="en-US" dirty="0"/>
          </a:p>
          <a:p>
            <a:r>
              <a:rPr lang="en-US" dirty="0"/>
              <a:t>AWS Alliance Partner insight: The application profiling workshops were critical for DMG. Mail Online alone had complex dependencies spanning content delivery, real-time analytics, advertising platforms, and reader engagement systems. Our structured workshop approach captured these dependencies systematically rather than relying solely on automated discovery.</a:t>
            </a:r>
          </a:p>
          <a:p>
            <a:endParaRPr lang="en-US" dirty="0"/>
          </a:p>
          <a:p>
            <a:r>
              <a:rPr lang="en-US" dirty="0"/>
              <a:t>Google Cloud Pre-Sales perspective: DMG’s data analytics requirements were substantial. The framework’s evaluation showed where Google BigQuery and Vertex AI had advantages for specific analytical workloads, while Azure and AWS were better suited for other parts of the estate.</a:t>
            </a:r>
          </a:p>
          <a:p>
            <a:endParaRPr lang="en-US" dirty="0"/>
          </a:p>
          <a:p>
            <a:r>
              <a:rPr lang="en-US" dirty="0"/>
              <a:t>AI Architecture note: DMG’s content recommendation engines and advertising optimization systems required specific AI/ML evaluation. The framework assessed these workloads against Azure OpenAI Service, AWS SageMaker, and Google Vertex AI based on model serving latency, training costs, and integration complexity.</a:t>
            </a:r>
          </a:p>
          <a:p>
            <a:endParaRPr lang="en-US" dirty="0"/>
          </a:p>
          <a:p>
            <a:r>
              <a:rPr lang="en-US" dirty="0"/>
              <a:t>Senior Director summary: The recommendation was based on application fit, existing skills, migration risk, and commercial position – exactly the multi-dimensional analysis that this framework enables. This is not a theoretical capability. It has been proven at enterprise scale.</a:t>
            </a:r>
          </a:p>
        </p:txBody>
      </p:sp>
      <p:sp>
        <p:nvSpPr>
          <p:cNvPr id="4" name="Slide Number Placeholder 3"/>
          <p:cNvSpPr>
            <a:spLocks noGrp="1"/>
          </p:cNvSpPr>
          <p:nvPr>
            <p:ph type="sldNum" sz="quarter" idx="5"/>
          </p:nvPr>
        </p:nvSpPr>
        <p:spPr/>
        <p:txBody>
          <a:bodyPr/>
          <a:lstStyle/>
          <a:p>
            <a:fld id="{B6F15528-F159-4107-8E1A-4A3D0002E9E8}" type="slidenum">
              <a:rPr lang="en-US" smtClean="0"/>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[STRATEGIC VALUE – What This Means for the Business]</a:t>
            </a:r>
          </a:p>
          <a:p>
            <a:endParaRPr lang="en-US" dirty="0"/>
          </a:p>
          <a:p>
            <a:r>
              <a:rPr lang="en-US" dirty="0"/>
              <a:t>Let me frame the strategic value this framework delivers to Rackspace and to our practice.</a:t>
            </a:r>
          </a:p>
          <a:p>
            <a:endParaRPr lang="en-US" dirty="0"/>
          </a:p>
          <a:p>
            <a:r>
              <a:rPr lang="en-US" dirty="0"/>
              <a:t>Senior Director, Cloud Solutions Architecture: Four measurable outcomes. 60 percent faster delivery – that directly impacts revenue recognition and client satisfaction. 100 percent consistency – every client gets the same quality regardless of which team delivers. 3x scalability – we can run three times as many concurrent assessments with the same team capacity. And one common delivery model that every team follows.</a:t>
            </a:r>
          </a:p>
          <a:p>
            <a:endParaRPr lang="en-US" dirty="0"/>
          </a:p>
          <a:p>
            <a:r>
              <a:rPr lang="en-US" dirty="0"/>
              <a:t>Senior Project Manager perspective: From a delivery economics standpoint, faster delivery means lower cost-to-serve per engagement. Consistency means fewer rework cycles and change requests. Scalability means we can say yes to more opportunities without proportionally increasing headcount.</a:t>
            </a:r>
          </a:p>
          <a:p>
            <a:endParaRPr lang="en-US" dirty="0"/>
          </a:p>
          <a:p>
            <a:r>
              <a:rPr lang="en-US" dirty="0"/>
              <a:t>Azure Cloud Architect insight: For our Microsoft partnership, having a structured, repeatable assessment capability strengthens our position as an Azure Expert MSP. Microsoft co-sell teams can confidently recommend us for assessment engagements knowing the quality and methodology are standardized.</a:t>
            </a:r>
          </a:p>
          <a:p>
            <a:endParaRPr lang="en-US" dirty="0"/>
          </a:p>
          <a:p>
            <a:r>
              <a:rPr lang="en-US" dirty="0"/>
              <a:t>AWS Alliance Partner view: Similarly, for our AWS partnership, demonstrating a mature assessment capability with standardized delivery accelerates our path through the AWS Partner Network tiers. Assessment-led engagements are how we build pipeline for managed services.</a:t>
            </a:r>
          </a:p>
          <a:p>
            <a:endParaRPr lang="en-US" dirty="0"/>
          </a:p>
          <a:p>
            <a:r>
              <a:rPr lang="en-US" dirty="0"/>
              <a:t>Google Cloud Pre-Sales perspective: Google values partners who can demonstrate methodology-led delivery. This framework positions us strongly for Google Cloud Partner Specializations and co-sell opportunities.</a:t>
            </a:r>
          </a:p>
          <a:p>
            <a:endParaRPr lang="en-US" dirty="0"/>
          </a:p>
          <a:p>
            <a:r>
              <a:rPr lang="en-US" dirty="0"/>
              <a:t>AI Architecture across platforms: As AI becomes a primary workload driver, having a framework that objectively evaluates AI readiness across all three clouds is a significant competitive advantage. Many competitors still assess AI workloads ad hoc.</a:t>
            </a:r>
          </a:p>
          <a:p>
            <a:endParaRPr lang="en-US" dirty="0"/>
          </a:p>
          <a:p>
            <a:r>
              <a:rPr lang="en-US" dirty="0"/>
              <a:t>Key message: This is both a delivery accelerator and a market-differentiating capability that strengthens our position with all three hyperscaler partnerships.</a:t>
            </a:r>
          </a:p>
        </p:txBody>
      </p:sp>
      <p:sp>
        <p:nvSpPr>
          <p:cNvPr id="4" name="Slide Number Placeholder 3"/>
          <p:cNvSpPr>
            <a:spLocks noGrp="1"/>
          </p:cNvSpPr>
          <p:nvPr>
            <p:ph type="sldNum" sz="quarter" idx="5"/>
          </p:nvPr>
        </p:nvSpPr>
        <p:spPr/>
        <p:txBody>
          <a:bodyPr/>
          <a:lstStyle/>
          <a:p>
            <a:fld id="{B6F15528-F159-4107-8E1A-4A3D0002E9E9}" type="slidenum">
              <a:rPr lang="en-US" smtClean="0"/>
              <a:t>10</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[REUSABILITY – How This Flexes Across Contexts]</a:t>
            </a:r>
          </a:p>
          <a:p>
            <a:endParaRPr lang="en-US" dirty="0"/>
          </a:p>
          <a:p>
            <a:r>
              <a:rPr lang="en-US" dirty="0"/>
              <a:t>This framework is not a one-time asset. Let me show you how it adapts across different engagement contexts.</a:t>
            </a:r>
          </a:p>
          <a:p>
            <a:endParaRPr lang="en-US" dirty="0"/>
          </a:p>
          <a:p>
            <a:r>
              <a:rPr lang="en-US" dirty="0"/>
              <a:t>Senior Director, Cloud Solutions Architecture: The framework flexes across four key dimensions. Any industry vertical – we have designed it to work for retail, media, financial services, healthcare, and manufacturing. Any estate size – the methodology scales from 100 servers to 10,000-plus. Any cloud maturity – whether the client is greenfield, hybrid, or already multi-cloud. And any geographic region – with support for regional pricing, compliance requirements, and country-specific constraints.</a:t>
            </a:r>
          </a:p>
          <a:p>
            <a:endParaRPr lang="en-US" dirty="0"/>
          </a:p>
          <a:p>
            <a:r>
              <a:rPr lang="en-US" dirty="0"/>
              <a:t>Azure Cloud Architect perspective: For financial services clients, the scoring weights shift toward security, compliance, and data sovereignty. For media clients like DMG, the weights favor performance, scalability, and innovation speed. The framework handles both without structural changes – only the weighting parameters adjust.</a:t>
            </a:r>
          </a:p>
          <a:p>
            <a:endParaRPr lang="en-US" dirty="0"/>
          </a:p>
          <a:p>
            <a:r>
              <a:rPr lang="en-US" dirty="0"/>
              <a:t>AWS Pre-Sales Architect insight: Estate size flexibility is crucial. For a 100-server SMB, we can run a streamlined 4-week assessment. For a 10,000-server enterprise, we scale to a full 12-week engagement with multiple workstreams. The methodology and templates remain the same; the scope and depth adjust.</a:t>
            </a:r>
          </a:p>
          <a:p>
            <a:endParaRPr lang="en-US" dirty="0"/>
          </a:p>
          <a:p>
            <a:r>
              <a:rPr lang="en-US" dirty="0"/>
              <a:t>Google Cloud Alliance Partner view: Geographic adaptability is increasingly important. GDPR in Europe, data localization in Southeast Asia, CCPA in California – each region has specific compliance requirements that affect cloud selection. Our framework incorporates regional compliance evaluation as a standard dimension.</a:t>
            </a:r>
          </a:p>
          <a:p>
            <a:endParaRPr lang="en-US" dirty="0"/>
          </a:p>
          <a:p>
            <a:r>
              <a:rPr lang="en-US" dirty="0"/>
              <a:t>AI Architecture note: Cloud maturity assessment is particularly relevant for AI workloads. A client with mature data engineering on AWS may be better served by keeping AI workloads on AWS SageMaker, while a client with strong Microsoft ecosystem investment might benefit from Azure OpenAI Service integration. The framework evaluates these contextual factors.</a:t>
            </a:r>
          </a:p>
          <a:p>
            <a:endParaRPr lang="en-US" dirty="0"/>
          </a:p>
          <a:p>
            <a:r>
              <a:rPr lang="en-US" dirty="0"/>
              <a:t>Key takeaway: Reusable does not mean one-size-fits-all. The model standardizes the process while adapting the decision criteria to each client’s unique context.</a:t>
            </a:r>
          </a:p>
        </p:txBody>
      </p:sp>
      <p:sp>
        <p:nvSpPr>
          <p:cNvPr id="4" name="Slide Number Placeholder 3"/>
          <p:cNvSpPr>
            <a:spLocks noGrp="1"/>
          </p:cNvSpPr>
          <p:nvPr>
            <p:ph type="sldNum" sz="quarter" idx="5"/>
          </p:nvPr>
        </p:nvSpPr>
        <p:spPr/>
        <p:txBody>
          <a:bodyPr/>
          <a:lstStyle/>
          <a:p>
            <a:fld id="{B6F15528-F159-4107-8E1A-4A3D0002E9EA}" type="slidenum">
              <a:rPr lang="en-US" smtClean="0"/>
              <a:t>11</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[PRACTICE ASSET – Leadership, Ownership, and Adoption]</a:t>
            </a:r>
          </a:p>
          <a:p>
            <a:endParaRPr lang="en-US" dirty="0"/>
          </a:p>
          <a:p>
            <a:r>
              <a:rPr lang="en-US" dirty="0"/>
              <a:t>Let me speak to the intellectual property and practice value this framework represents.</a:t>
            </a:r>
          </a:p>
          <a:p>
            <a:endParaRPr lang="en-US" dirty="0"/>
          </a:p>
          <a:p>
            <a:r>
              <a:rPr lang="en-US" dirty="0"/>
              <a:t>Senior Director, Cloud Solutions Architecture: What we have created here is reusable intellectual property – 24-plus deliverables, a complete methodology, and a scoring framework that has been validated in production. This has been published to GitHub for version control, knowledge sharing, and repeatable practice adoption.</a:t>
            </a:r>
          </a:p>
          <a:p>
            <a:endParaRPr lang="en-US" dirty="0"/>
          </a:p>
          <a:p>
            <a:r>
              <a:rPr lang="en-US" dirty="0"/>
              <a:t>Senior Project Manager perspective: The governance model matters. This is not a set of files on someone’s laptop. It is a versioned, documented practice asset with clear ownership. Teams can contribute improvements back, and every engagement benefits from accumulated learning.</a:t>
            </a:r>
          </a:p>
          <a:p>
            <a:endParaRPr lang="en-US" dirty="0"/>
          </a:p>
          <a:p>
            <a:r>
              <a:rPr lang="en-US" dirty="0"/>
              <a:t>Azure Cloud Architect insight: From a technical community perspective, publishing to GitHub demonstrates thought leadership. It shows that we invest in methodology and tooling, not just staff augmentation. This strengthens our credibility with Microsoft engineering teams and co-sell partners.</a:t>
            </a:r>
          </a:p>
          <a:p>
            <a:endParaRPr lang="en-US" dirty="0"/>
          </a:p>
          <a:p>
            <a:r>
              <a:rPr lang="en-US" dirty="0"/>
              <a:t>AWS Alliance Partner view: For AWS, having a documented, repeatable assessment methodology is a requirement for advanced partner competencies. This framework satisfies that requirement and positions us for higher-tier partnership benefits.</a:t>
            </a:r>
          </a:p>
          <a:p>
            <a:endParaRPr lang="en-US" dirty="0"/>
          </a:p>
          <a:p>
            <a:r>
              <a:rPr lang="en-US" dirty="0"/>
              <a:t>Google Cloud Pre-Sales perspective: Google values open, well-documented approaches. Our GitHub publication aligns with Google’s engineering culture and demonstrates the kind of methodological rigor they expect from premier partners.</a:t>
            </a:r>
          </a:p>
          <a:p>
            <a:endParaRPr lang="en-US" dirty="0"/>
          </a:p>
          <a:p>
            <a:r>
              <a:rPr lang="en-US" dirty="0"/>
              <a:t>AI Architecture across platforms: The framework establishes a provider-neutral assessment model in a market where most competitors rely on vendor-specific tooling. This is a strategic differentiator that becomes more valuable as multi-cloud and AI workload complexity increases.</a:t>
            </a:r>
          </a:p>
          <a:p>
            <a:endParaRPr lang="en-US" dirty="0"/>
          </a:p>
          <a:p>
            <a:r>
              <a:rPr lang="en-US" dirty="0"/>
              <a:t>Governance recommendation: Maintain the framework as a versioned practice asset with designated owners, release notes, regular review cadence, and approved client-facing templates. Treat it like a product, not a project.</a:t>
            </a:r>
          </a:p>
        </p:txBody>
      </p:sp>
      <p:sp>
        <p:nvSpPr>
          <p:cNvPr id="4" name="Slide Number Placeholder 3"/>
          <p:cNvSpPr>
            <a:spLocks noGrp="1"/>
          </p:cNvSpPr>
          <p:nvPr>
            <p:ph type="sldNum" sz="quarter" idx="5"/>
          </p:nvPr>
        </p:nvSpPr>
        <p:spPr/>
        <p:txBody>
          <a:bodyPr/>
          <a:lstStyle/>
          <a:p>
            <a:fld id="{B6F15528-F159-4107-8E1A-4A3D0002E9EB}" type="slidenum">
              <a:rPr lang="en-US" smtClean="0"/>
              <a:t>12</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[ADOPTION PATH – From Asset to Standard Operating Model]</a:t>
            </a:r>
          </a:p>
          <a:p>
            <a:endParaRPr lang="en-US" dirty="0"/>
          </a:p>
          <a:p>
            <a:r>
              <a:rPr lang="en-US" dirty="0"/>
              <a:t>This slide outlines the recommended path to move from a reusable asset to a standard operating model.</a:t>
            </a:r>
          </a:p>
          <a:p>
            <a:endParaRPr lang="en-US" dirty="0"/>
          </a:p>
          <a:p>
            <a:r>
              <a:rPr lang="en-US" dirty="0"/>
              <a:t>Senior Project Manager perspective: Five clear steps. Step 1, Approve the baseline – leadership agrees on framework scope, core templates, and quality standards. Step 2, Package the assets – centralize templates, scoring models, and guidance in an accessible repository. Step 3, Train the teams – enable architects and project managers through worked examples and playbooks. Step 4, Pilot engagements – apply to selected opportunities and systematically capture lessons learned. Step 5, Standardize – make the framework part of official CRA delivery governance.</a:t>
            </a:r>
          </a:p>
          <a:p>
            <a:endParaRPr lang="en-US" dirty="0"/>
          </a:p>
          <a:p>
            <a:r>
              <a:rPr lang="en-US" dirty="0"/>
              <a:t>Senior Director, Cloud Solutions Architecture: The three gates at the bottom are non-negotiable. Quality gate ensures every engagement has an evidence map, documented TCO assumptions, and clear recommendation logic. Commercial gate validates pricing assumptions, discount structures, licensing levers, and hyperscaler comparison accuracy. Delivery gate confirms that outputs are ready for execution – roadmap, runbooks, wave plans, owners, and defined next steps.</a:t>
            </a:r>
          </a:p>
          <a:p>
            <a:endParaRPr lang="en-US" dirty="0"/>
          </a:p>
          <a:p>
            <a:r>
              <a:rPr lang="en-US" dirty="0"/>
              <a:t>Azure Cloud Architect insight: During the pilot phase, I recommend running the framework on at least three engagements of different sizes and industries. This validates adaptability and surfaces any gaps in templates or methodology.</a:t>
            </a:r>
          </a:p>
          <a:p>
            <a:endParaRPr lang="en-US" dirty="0"/>
          </a:p>
          <a:p>
            <a:r>
              <a:rPr lang="en-US" dirty="0"/>
              <a:t>AWS and Google Alliance Partner perspective: Engage your hyperscaler partner teams during the pilot phase. Microsoft, AWS, and Google all have partner enablement programs that can support methodology validation and provide feedback.</a:t>
            </a:r>
          </a:p>
          <a:p>
            <a:endParaRPr lang="en-US" dirty="0"/>
          </a:p>
          <a:p>
            <a:r>
              <a:rPr lang="en-US" dirty="0"/>
              <a:t>AI Architecture recommendation: Include at least one pilot engagement with significant AI/ML workloads. This will validate the AI-specific assessment templates and scoring criteria, which are increasingly critical for cloud selection decisions.</a:t>
            </a:r>
          </a:p>
          <a:p>
            <a:endParaRPr lang="en-US" dirty="0"/>
          </a:p>
          <a:p>
            <a:r>
              <a:rPr lang="en-US" dirty="0"/>
              <a:t>Pre-Sales Architect note: Build a library of anonymized case studies from pilot engagements. These become powerful sales tools that demonstrate methodology maturity to prospective clients.</a:t>
            </a:r>
          </a:p>
          <a:p>
            <a:endParaRPr lang="en-US" dirty="0"/>
          </a:p>
          <a:p>
            <a:r>
              <a:rPr lang="en-US" dirty="0"/>
              <a:t>Action required: Identify the pilot engagement candidates and timeline for Steps 1 through 3.</a:t>
            </a:r>
          </a:p>
        </p:txBody>
      </p:sp>
      <p:sp>
        <p:nvSpPr>
          <p:cNvPr id="4" name="Slide Number Placeholder 3"/>
          <p:cNvSpPr>
            <a:spLocks noGrp="1"/>
          </p:cNvSpPr>
          <p:nvPr>
            <p:ph type="sldNum" sz="quarter" idx="5"/>
          </p:nvPr>
        </p:nvSpPr>
        <p:spPr/>
        <p:txBody>
          <a:bodyPr/>
          <a:lstStyle/>
          <a:p>
            <a:fld id="{B6F15528-F159-4107-8E1A-4A3D0002E9EC}" type="slidenum">
              <a:rPr lang="en-US" smtClean="0"/>
              <a:t>13</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990600" y="349250"/>
            <a:ext cx="4876800" cy="2743200"/>
          </a:xfrm>
        </p:spPr>
      </p:sp>
      <p:sp>
        <p:nvSpPr>
          <p:cNvPr id="3" name="Notes Placeholder 2"/>
          <p:cNvSpPr>
            <a:spLocks noGrp="1"/>
          </p:cNvSpPr>
          <p:nvPr>
            <p:ph type="body" idx="1"/>
          </p:nvPr>
        </p:nvSpPr>
        <p:spPr/>
        <p:txBody>
          <a:bodyPr/>
          <a:lstStyle/>
          <a:p>
            <a:r>
              <a:rPr lang="en-US" dirty="0"/>
              <a:t>[CLOSING – Call to Action and Next Steps]</a:t>
            </a:r>
          </a:p>
          <a:p>
            <a:endParaRPr lang="en-US" dirty="0"/>
          </a:p>
          <a:p>
            <a:r>
              <a:rPr lang="en-US" dirty="0"/>
              <a:t>Thank you for your time and attention today.</a:t>
            </a:r>
          </a:p>
          <a:p>
            <a:endParaRPr lang="en-US" dirty="0"/>
          </a:p>
          <a:p>
            <a:r>
              <a:rPr lang="en-US" dirty="0"/>
              <a:t>Senior Director, Cloud Solutions Architecture: To summarize, the Cloud Readiness Accelerator is a production-proven, provider-neutral assessment framework that delivers 60 percent faster delivery, consistent quality, and defensible recommendations across Azure, AWS, and GCP. It has been validated at enterprise scale with DMG Media and is ready for practice-wide adoption.</a:t>
            </a:r>
          </a:p>
          <a:p>
            <a:endParaRPr lang="en-US" dirty="0"/>
          </a:p>
          <a:p>
            <a:r>
              <a:rPr lang="en-US" dirty="0"/>
              <a:t>Azure Cloud Architect perspective: The framework repository is available on GitHub. I encourage every architect and delivery lead to review the templates, scoring models, and methodology documentation. The framework is designed to be forked, customized, and improved.</a:t>
            </a:r>
          </a:p>
          <a:p>
            <a:endParaRPr lang="en-US" dirty="0"/>
          </a:p>
          <a:p>
            <a:r>
              <a:rPr lang="en-US" dirty="0"/>
              <a:t>Senior Project Manager next steps: I propose we schedule three follow-up sessions. First, a deep-dive on the methodology and templates for delivery architects. Second, a commercial review of TCO modeling assumptions with the pre-sales team. Third, a governance discussion with practice leadership on adoption timeline and ownership.</a:t>
            </a:r>
          </a:p>
          <a:p>
            <a:endParaRPr lang="en-US" dirty="0"/>
          </a:p>
          <a:p>
            <a:r>
              <a:rPr lang="en-US" dirty="0"/>
              <a:t>AWS and Google Alliance Partner recommendation: Brief your hyperscaler partner managers on this capability. It strengthens our positioning for co-sell opportunities and partner program advancement across all three platforms.</a:t>
            </a:r>
          </a:p>
          <a:p>
            <a:endParaRPr lang="en-US" dirty="0"/>
          </a:p>
          <a:p>
            <a:r>
              <a:rPr lang="en-US" dirty="0"/>
              <a:t>AI Architecture final thought: As enterprises accelerate AI adoption, the ability to objectively assess AI workload placement across clouds will become a primary differentiator. This framework positions us ahead of that curve.</a:t>
            </a:r>
          </a:p>
          <a:p>
            <a:endParaRPr lang="en-US" dirty="0"/>
          </a:p>
          <a:p>
            <a:r>
              <a:rPr lang="en-US" dirty="0"/>
              <a:t>Pre-Sales closing: For any upcoming assessment opportunities in your pipeline, consider this framework as the delivery vehicle. The assets are ready, the methodology is proven, and the DMG case study provides credible reference.</a:t>
            </a:r>
          </a:p>
          <a:p>
            <a:endParaRPr lang="en-US" dirty="0"/>
          </a:p>
          <a:p>
            <a:r>
              <a:rPr lang="en-US" dirty="0"/>
              <a:t>Framework is ready for practice-wide adoption with reusable templates, documented methodology, and governance-ready delivery structure.</a:t>
            </a:r>
          </a:p>
          <a:p>
            <a:endParaRPr lang="en-US" dirty="0"/>
          </a:p>
          <a:p>
            <a:r>
              <a:rPr lang="en-US" dirty="0"/>
              <a:t>Contact: Upendra Kumar, Professional Services Delivery Architect</a:t>
            </a:r>
          </a:p>
          <a:p>
            <a:r>
              <a:rPr lang="en-US" dirty="0"/>
              <a:t>Repository: github.com/upendra-29003/Cloud-Readiness-Accelerator</a:t>
            </a:r>
          </a:p>
        </p:txBody>
      </p:sp>
      <p:sp>
        <p:nvSpPr>
          <p:cNvPr id="4" name="Slide Number Placeholder 3"/>
          <p:cNvSpPr>
            <a:spLocks noGrp="1"/>
          </p:cNvSpPr>
          <p:nvPr>
            <p:ph type="sldNum" sz="quarter" idx="5"/>
          </p:nvPr>
        </p:nvSpPr>
        <p:spPr/>
        <p:txBody>
          <a:bodyPr/>
          <a:lstStyle/>
          <a:p>
            <a:fld id="{B6F15528-F159-4107-8E1A-4A3D0002E9ED}" type="slidenum">
              <a:rPr lang="en-US" smtClean="0"/>
              <a:t>14</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sv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11.sv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0.png"/><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6.png"/><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7.pn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5.svg"/><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sv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13.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544050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ingle Column - Simpl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lvl1pPr>
              <a:defRPr>
                <a:solidFill>
                  <a:schemeClr val="tx1"/>
                </a:solidFill>
              </a:defRPr>
            </a:lvl1pPr>
          </a:lstStyle>
          <a:p>
            <a:r>
              <a:rPr lang="en-US" dirty="0"/>
              <a:t>Click to edit Master title style</a:t>
            </a:r>
          </a:p>
        </p:txBody>
      </p:sp>
      <p:sp>
        <p:nvSpPr>
          <p:cNvPr id="8" name="Footer Placeholder 4">
            <a:extLst>
              <a:ext uri="{FF2B5EF4-FFF2-40B4-BE49-F238E27FC236}">
                <a16:creationId xmlns:a16="http://schemas.microsoft.com/office/drawing/2014/main" id="{511B4943-9DA0-F14A-892A-9BC4A5B1D48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A91D94F9-4B13-7A48-9521-67EFFE4F91B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Graphic 2">
            <a:extLst>
              <a:ext uri="{FF2B5EF4-FFF2-40B4-BE49-F238E27FC236}">
                <a16:creationId xmlns:a16="http://schemas.microsoft.com/office/drawing/2014/main" id="{00D83E88-A286-BF1F-719B-20F1C44734C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cxnSp>
        <p:nvCxnSpPr>
          <p:cNvPr id="2" name="Straight Connector 1">
            <a:extLst>
              <a:ext uri="{FF2B5EF4-FFF2-40B4-BE49-F238E27FC236}">
                <a16:creationId xmlns:a16="http://schemas.microsoft.com/office/drawing/2014/main" id="{9720D620-A98D-8E56-CDB8-0DC6E5725E42}"/>
              </a:ext>
            </a:extLst>
          </p:cNvPr>
          <p:cNvCxnSpPr>
            <a:cxnSpLocks/>
          </p:cNvCxnSpPr>
          <p:nvPr userDrawn="1"/>
        </p:nvCxnSpPr>
        <p:spPr>
          <a:xfrm flipV="1">
            <a:off x="0" y="1075695"/>
            <a:ext cx="12192000" cy="739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447928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ingle column Simple - with subhead">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869781"/>
            <a:ext cx="11468100" cy="1744067"/>
          </a:xfr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8" name="Footer Placeholder 4">
            <a:extLst>
              <a:ext uri="{FF2B5EF4-FFF2-40B4-BE49-F238E27FC236}">
                <a16:creationId xmlns:a16="http://schemas.microsoft.com/office/drawing/2014/main" id="{674407F1-A2F8-A84F-8E52-03F123F4BEF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C88CD766-7446-9844-8381-BB1A5421A8C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
        <p:nvSpPr>
          <p:cNvPr id="3" name="Text Placeholder 2">
            <a:extLst>
              <a:ext uri="{FF2B5EF4-FFF2-40B4-BE49-F238E27FC236}">
                <a16:creationId xmlns:a16="http://schemas.microsoft.com/office/drawing/2014/main" id="{3D5AAC42-935B-0E18-6CAC-AB1A022B59F1}"/>
              </a:ext>
            </a:extLst>
          </p:cNvPr>
          <p:cNvSpPr>
            <a:spLocks noGrp="1"/>
          </p:cNvSpPr>
          <p:nvPr>
            <p:ph type="body" sz="quarter" idx="13" hasCustomPrompt="1"/>
          </p:nvPr>
        </p:nvSpPr>
        <p:spPr>
          <a:xfrm>
            <a:off x="170878" y="1390650"/>
            <a:ext cx="11468100" cy="292388"/>
          </a:xfrm>
        </p:spPr>
        <p:txBody>
          <a:bodyPr/>
          <a:lstStyle>
            <a:lvl1pPr marL="0" indent="0">
              <a:buNone/>
              <a:defRPr sz="1900" b="1"/>
            </a:lvl1pPr>
            <a:lvl2pPr marL="283368" indent="0">
              <a:buNone/>
              <a:defRPr/>
            </a:lvl2pPr>
          </a:lstStyle>
          <a:p>
            <a:r>
              <a:rPr lang="en-US" dirty="0"/>
              <a:t>Subtitle or callout if needed, all titles and subtitles are sentence case </a:t>
            </a:r>
          </a:p>
        </p:txBody>
      </p:sp>
    </p:spTree>
    <p:extLst>
      <p:ext uri="{BB962C8B-B14F-4D97-AF65-F5344CB8AC3E}">
        <p14:creationId xmlns:p14="http://schemas.microsoft.com/office/powerpoint/2010/main" val="305538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Only">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7F38F25E-FF38-834D-521D-D61E09DDD2AB}"/>
              </a:ext>
            </a:extLst>
          </p:cNvPr>
          <p:cNvGrpSpPr/>
          <p:nvPr userDrawn="1"/>
        </p:nvGrpSpPr>
        <p:grpSpPr>
          <a:xfrm>
            <a:off x="0" y="-2403"/>
            <a:ext cx="12667343" cy="1099683"/>
            <a:chOff x="0" y="-2403"/>
            <a:chExt cx="12667343" cy="1099683"/>
          </a:xfrm>
        </p:grpSpPr>
        <p:sp>
          <p:nvSpPr>
            <p:cNvPr id="7" name="Rectangle 6">
              <a:extLst>
                <a:ext uri="{FF2B5EF4-FFF2-40B4-BE49-F238E27FC236}">
                  <a16:creationId xmlns:a16="http://schemas.microsoft.com/office/drawing/2014/main" id="{7051444A-8DCA-DDB2-763E-349707F988F2}"/>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10" name="Picture 9">
              <a:extLst>
                <a:ext uri="{FF2B5EF4-FFF2-40B4-BE49-F238E27FC236}">
                  <a16:creationId xmlns:a16="http://schemas.microsoft.com/office/drawing/2014/main" id="{528A3E14-429A-2111-9034-26AFC851FE02}"/>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7094675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itle Only_2 lin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BF274A9-9392-1E6D-7D16-896285565278}"/>
              </a:ext>
            </a:extLst>
          </p:cNvPr>
          <p:cNvSpPr/>
          <p:nvPr userDrawn="1"/>
        </p:nvSpPr>
        <p:spPr>
          <a:xfrm>
            <a:off x="0" y="0"/>
            <a:ext cx="12192000" cy="1540042"/>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4" name="Picture 3">
            <a:extLst>
              <a:ext uri="{FF2B5EF4-FFF2-40B4-BE49-F238E27FC236}">
                <a16:creationId xmlns:a16="http://schemas.microsoft.com/office/drawing/2014/main" id="{4F67146D-3C58-F6B2-201A-B16919DBC4AF}"/>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4101556" y="-8229"/>
            <a:ext cx="8580301" cy="1548271"/>
          </a:xfrm>
          <a:prstGeom prst="rect">
            <a:avLst/>
          </a:prstGeom>
        </p:spPr>
      </p:pic>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607712"/>
          </a:xfrm>
        </p:spPr>
        <p:txBody>
          <a:bodyPr/>
          <a:lstStyle/>
          <a:p>
            <a:r>
              <a:rPr lang="en-US"/>
              <a:t>Click to edit Master title style</a:t>
            </a:r>
            <a:endParaRPr lang="en-US" dirty="0"/>
          </a:p>
        </p:txBody>
      </p:sp>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98403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id="{12884396-8B33-D54E-9D5C-8DF3AC225E8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D8E8B6FE-1EA1-4A45-8B59-C7565AB84AF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2E51BDC4-21D2-2742-B5B2-528B8B14F91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7431997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5364173" cy="484043"/>
          </a:xfrm>
        </p:spPr>
        <p:txBody>
          <a:bodyPr wrap="square">
            <a:spAutoFit/>
          </a:bodyPr>
          <a:lstStyle/>
          <a:p>
            <a:r>
              <a:rPr lang="en-US" dirty="0"/>
              <a:t>Click to edit Master title style</a:t>
            </a:r>
          </a:p>
        </p:txBody>
      </p:sp>
      <p:sp>
        <p:nvSpPr>
          <p:cNvPr id="8" name="Footer Placeholder 4">
            <a:extLst>
              <a:ext uri="{FF2B5EF4-FFF2-40B4-BE49-F238E27FC236}">
                <a16:creationId xmlns:a16="http://schemas.microsoft.com/office/drawing/2014/main" id="{7D4F1EC5-6BB8-4049-A825-325656113ED2}"/>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E7854F2A-2BBB-9446-B185-6215C140A16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86695878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1388582"/>
            <a:ext cx="3800474" cy="174406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3657600" cy="1744067"/>
          </a:xfr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388582"/>
            <a:ext cx="2734056" cy="1169551"/>
          </a:xfr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BD398495-5CA8-A54C-9A38-9431C227BC1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2" name="Slide Number Placeholder 5">
            <a:extLst>
              <a:ext uri="{FF2B5EF4-FFF2-40B4-BE49-F238E27FC236}">
                <a16:creationId xmlns:a16="http://schemas.microsoft.com/office/drawing/2014/main" id="{A111FE5C-B17D-C948-BFCC-6ED5E14CB169}"/>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0" name="Straight Connector 9">
            <a:extLst>
              <a:ext uri="{FF2B5EF4-FFF2-40B4-BE49-F238E27FC236}">
                <a16:creationId xmlns:a16="http://schemas.microsoft.com/office/drawing/2014/main" id="{A44C8227-D505-9341-8E5C-224832E8A51F}"/>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17482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3543377"/>
            <a:ext cx="8591550" cy="276999"/>
          </a:xfrm>
        </p:spPr>
        <p:txBody>
          <a:bodyPr>
            <a:spAutoFit/>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6">
            <a:extLst>
              <a:ext uri="{FF2B5EF4-FFF2-40B4-BE49-F238E27FC236}">
                <a16:creationId xmlns:a16="http://schemas.microsoft.com/office/drawing/2014/main" id="{0DE29CAF-37DB-469A-A4BC-F015B5D92449}"/>
              </a:ext>
            </a:extLst>
          </p:cNvPr>
          <p:cNvSpPr>
            <a:spLocks noGrp="1"/>
          </p:cNvSpPr>
          <p:nvPr>
            <p:ph type="body" sz="quarter" idx="15"/>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sp>
        <p:nvSpPr>
          <p:cNvPr id="8" name="Footer Placeholder 4">
            <a:extLst>
              <a:ext uri="{FF2B5EF4-FFF2-40B4-BE49-F238E27FC236}">
                <a16:creationId xmlns:a16="http://schemas.microsoft.com/office/drawing/2014/main" id="{6814554E-586D-8349-951F-737144ECEFF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AED0D651-E967-D846-AE30-12C061B6AD3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cxnSp>
        <p:nvCxnSpPr>
          <p:cNvPr id="11" name="Straight Connector 10">
            <a:extLst>
              <a:ext uri="{FF2B5EF4-FFF2-40B4-BE49-F238E27FC236}">
                <a16:creationId xmlns:a16="http://schemas.microsoft.com/office/drawing/2014/main" id="{675D0394-D778-4C4A-B92A-6E09A7B88B9A}"/>
              </a:ext>
            </a:extLst>
          </p:cNvPr>
          <p:cNvCxnSpPr>
            <a:cxnSpLocks/>
          </p:cNvCxnSpPr>
          <p:nvPr userDrawn="1"/>
        </p:nvCxnSpPr>
        <p:spPr>
          <a:xfrm>
            <a:off x="3238500" y="0"/>
            <a:ext cx="0" cy="6858000"/>
          </a:xfrm>
          <a:prstGeom prst="line">
            <a:avLst/>
          </a:prstGeom>
          <a:ln w="63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05253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1388582"/>
            <a:ext cx="8580120" cy="1744067"/>
          </a:xfrm>
        </p:spPr>
        <p:txBody>
          <a:bodyPr lIns="18288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388582"/>
            <a:ext cx="2734056"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8" name="Footer Placeholder 4">
            <a:extLst>
              <a:ext uri="{FF2B5EF4-FFF2-40B4-BE49-F238E27FC236}">
                <a16:creationId xmlns:a16="http://schemas.microsoft.com/office/drawing/2014/main" id="{D53B314B-9934-844F-8E14-6C502D2AE42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9" name="Slide Number Placeholder 5">
            <a:extLst>
              <a:ext uri="{FF2B5EF4-FFF2-40B4-BE49-F238E27FC236}">
                <a16:creationId xmlns:a16="http://schemas.microsoft.com/office/drawing/2014/main" id="{3CFD438D-CA4D-3A43-9B82-E14EC033B7C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79545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lvl1pPr>
              <a:defRPr>
                <a:solidFill>
                  <a:schemeClr val="tx1"/>
                </a:solidFill>
              </a:defRPr>
            </a:lvl1pPr>
          </a:lstStyle>
          <a:p>
            <a:r>
              <a:rPr lang="en-US" dirty="0"/>
              <a:t>Click to edit Master title style</a:t>
            </a:r>
          </a:p>
        </p:txBody>
      </p:sp>
      <p:cxnSp>
        <p:nvCxnSpPr>
          <p:cNvPr id="8" name="Straight Connector 7">
            <a:extLst>
              <a:ext uri="{FF2B5EF4-FFF2-40B4-BE49-F238E27FC236}">
                <a16:creationId xmlns:a16="http://schemas.microsoft.com/office/drawing/2014/main" id="{F957024A-18DC-E948-83FF-954BAEFA54C4}"/>
              </a:ext>
            </a:extLst>
          </p:cNvPr>
          <p:cNvCxnSpPr>
            <a:cxnSpLocks/>
          </p:cNvCxnSpPr>
          <p:nvPr userDrawn="1"/>
        </p:nvCxnSpPr>
        <p:spPr>
          <a:xfrm>
            <a:off x="4191000" y="0"/>
            <a:ext cx="0" cy="6858000"/>
          </a:xfrm>
          <a:prstGeom prst="line">
            <a:avLst/>
          </a:prstGeom>
          <a:ln w="3175">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2AD6F17-DC4F-CE4D-A30F-37972705D1EB}"/>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5F1A3402-461B-144B-A624-EADA6F4A5FE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256239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dirty="0"/>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A428A25E-B962-BD41-AC5A-2B7F8C365999}"/>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0" name="Slide Number Placeholder 5">
            <a:extLst>
              <a:ext uri="{FF2B5EF4-FFF2-40B4-BE49-F238E27FC236}">
                <a16:creationId xmlns:a16="http://schemas.microsoft.com/office/drawing/2014/main" id="{5A8BC5D7-A295-2344-8AAD-7A638D1246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680212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solidFill>
                  <a:schemeClr val="tx1"/>
                </a:solidFill>
              </a:defRPr>
            </a:lvl1pPr>
          </a:lstStyle>
          <a:p>
            <a:r>
              <a:rPr lang="en-US" dirty="0"/>
              <a:t>Click to edit Master title style</a:t>
            </a:r>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2D21F748-F78B-AA44-87E0-992F504FBC0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69668EDE-1295-9546-ABA0-27E4B7F5041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4" name="Slide Number Placeholder 5">
            <a:extLst>
              <a:ext uri="{FF2B5EF4-FFF2-40B4-BE49-F238E27FC236}">
                <a16:creationId xmlns:a16="http://schemas.microsoft.com/office/drawing/2014/main" id="{361D0353-9518-CE4F-AEC9-0A3AD47D4590}"/>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86151507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mage Slide 3 ">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lstStyle>
            <a:lvl1pPr>
              <a:defRPr>
                <a:solidFill>
                  <a:schemeClr val="tx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876302"/>
            <a:ext cx="5557799" cy="1744067"/>
          </a:xfrm>
        </p:spPr>
        <p:txBody>
          <a:bodyPr lIns="0">
            <a:spAutoFit/>
          </a:bodyPr>
          <a:lstStyle>
            <a:lvl1pPr>
              <a:defRPr/>
            </a:lvl1pPr>
            <a:lvl2pPr>
              <a:defRPr/>
            </a:lvl2pPr>
            <a:lvl3pPr>
              <a:defRPr/>
            </a:lvl3pPr>
            <a:lvl4pPr>
              <a:defRPr/>
            </a:lvl4pPr>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59F508EA-9B74-CF42-99A9-ABCDB2E9903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35545590-189E-BE41-BDD7-DCC3999A6E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1D0045EB-86A1-6D46-873D-E4EC1E9D359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56688011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Image Slide 3 with subhead">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solidFill>
                  <a:schemeClr val="tx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745E180F-3B5D-714C-85F9-F9DC513E6364}"/>
              </a:ext>
            </a:extLst>
          </p:cNvPr>
          <p:cNvSpPr>
            <a:spLocks noGrp="1"/>
          </p:cNvSpPr>
          <p:nvPr>
            <p:ph type="body" sz="quarter" idx="15"/>
          </p:nvPr>
        </p:nvSpPr>
        <p:spPr>
          <a:xfrm>
            <a:off x="347702" y="1584903"/>
            <a:ext cx="5557799" cy="1744067"/>
          </a:xfrm>
        </p:spPr>
        <p:txBody>
          <a:bodyPr lIns="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8">
            <a:extLst>
              <a:ext uri="{FF2B5EF4-FFF2-40B4-BE49-F238E27FC236}">
                <a16:creationId xmlns:a16="http://schemas.microsoft.com/office/drawing/2014/main" id="{7E2CAB91-DDF9-42DE-8B4B-CC01A9F5884C}"/>
              </a:ext>
            </a:extLst>
          </p:cNvPr>
          <p:cNvSpPr>
            <a:spLocks noGrp="1"/>
          </p:cNvSpPr>
          <p:nvPr>
            <p:ph type="body" sz="quarter" idx="13" hasCustomPrompt="1"/>
          </p:nvPr>
        </p:nvSpPr>
        <p:spPr>
          <a:xfrm>
            <a:off x="344489" y="876302"/>
            <a:ext cx="5561013" cy="584775"/>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9C7DEFAB-97E6-284D-BD67-FB08386B5E6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2DA1221E-A67C-744E-9C4B-331BEF727F33}"/>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D46CF78B-534F-E345-BE6A-BED63A26C73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682342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Full Screen w PostIts 01">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FC21AA0E-9E2E-CD48-B732-33823216CA71}"/>
              </a:ext>
            </a:extLst>
          </p:cNvPr>
          <p:cNvSpPr>
            <a:spLocks noGrp="1"/>
          </p:cNvSpPr>
          <p:nvPr>
            <p:ph type="pic" sz="quarter" idx="12" hasCustomPrompt="1"/>
          </p:nvPr>
        </p:nvSpPr>
        <p:spPr bwMode="white">
          <a:xfrm>
            <a:off x="0" y="0"/>
            <a:ext cx="12193524"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sz="1800" dirty="0">
                <a:solidFill>
                  <a:schemeClr val="tx1"/>
                </a:solidFill>
              </a:rPr>
              <a:t>Click icon in the center of the slide to add picture</a:t>
            </a:r>
            <a:endParaRPr lang="en-US" dirty="0"/>
          </a:p>
        </p:txBody>
      </p:sp>
      <p:sp>
        <p:nvSpPr>
          <p:cNvPr id="8" name="Text Placeholder 2">
            <a:extLst>
              <a:ext uri="{FF2B5EF4-FFF2-40B4-BE49-F238E27FC236}">
                <a16:creationId xmlns:a16="http://schemas.microsoft.com/office/drawing/2014/main" id="{DE3845FB-10F7-4C99-A1E5-CEB253E259A7}"/>
              </a:ext>
            </a:extLst>
          </p:cNvPr>
          <p:cNvSpPr>
            <a:spLocks noGrp="1"/>
          </p:cNvSpPr>
          <p:nvPr>
            <p:ph idx="1"/>
          </p:nvPr>
        </p:nvSpPr>
        <p:spPr>
          <a:xfrm>
            <a:off x="3238501" y="2400300"/>
            <a:ext cx="2857499" cy="2057400"/>
          </a:xfrm>
          <a:prstGeom prst="rect">
            <a:avLst/>
          </a:prstGeom>
          <a:solidFill>
            <a:schemeClr val="bg1"/>
          </a:solidFill>
        </p:spPr>
        <p:txBody>
          <a:bodyPr vert="horz" lIns="182880" tIns="137160" rIns="18288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itle 12">
            <a:extLst>
              <a:ext uri="{FF2B5EF4-FFF2-40B4-BE49-F238E27FC236}">
                <a16:creationId xmlns:a16="http://schemas.microsoft.com/office/drawing/2014/main" id="{58C4667B-36E6-384D-9236-5ED44E3130B6}"/>
              </a:ext>
            </a:extLst>
          </p:cNvPr>
          <p:cNvSpPr>
            <a:spLocks noGrp="1"/>
          </p:cNvSpPr>
          <p:nvPr>
            <p:ph type="title"/>
          </p:nvPr>
        </p:nvSpPr>
        <p:spPr>
          <a:xfrm>
            <a:off x="360426" y="365760"/>
            <a:ext cx="2878074" cy="2034540"/>
          </a:xfrm>
          <a:solidFill>
            <a:schemeClr val="bg1"/>
          </a:solidFill>
          <a:ln w="12700">
            <a:noFill/>
          </a:ln>
        </p:spPr>
        <p:txBody>
          <a:bodyPr vert="horz" lIns="182880" tIns="91440" rIns="182880" bIns="155448" rtlCol="0" anchor="t" anchorCtr="0">
            <a:noAutofit/>
          </a:bodyPr>
          <a:lstStyle>
            <a:lvl1pPr>
              <a:defRPr lang="en-US" dirty="0">
                <a:ln w="9525">
                  <a:noFill/>
                </a:ln>
                <a:solidFill>
                  <a:schemeClr val="tx1"/>
                </a:solidFill>
              </a:defRPr>
            </a:lvl1pPr>
          </a:lstStyle>
          <a:p>
            <a:pPr marL="0" lvl="0" indent="0">
              <a:spcAft>
                <a:spcPts val="1500"/>
              </a:spcAft>
              <a:buFont typeface="Arial" panose="020B0604020202020204" pitchFamily="34" charset="0"/>
            </a:pPr>
            <a:r>
              <a:rPr lang="en-US" dirty="0"/>
              <a:t>Click to edit Master title style</a:t>
            </a:r>
          </a:p>
        </p:txBody>
      </p:sp>
      <p:sp>
        <p:nvSpPr>
          <p:cNvPr id="5" name="AutoShape 3">
            <a:extLst>
              <a:ext uri="{FF2B5EF4-FFF2-40B4-BE49-F238E27FC236}">
                <a16:creationId xmlns:a16="http://schemas.microsoft.com/office/drawing/2014/main" id="{69C2AE59-6CA1-45A7-8D89-5A2A716D8833}"/>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0" name="Graphic 9">
            <a:extLst>
              <a:ext uri="{FF2B5EF4-FFF2-40B4-BE49-F238E27FC236}">
                <a16:creationId xmlns:a16="http://schemas.microsoft.com/office/drawing/2014/main" id="{D97CAA73-BE46-614E-9C41-8AF7FB50184C}"/>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A4D9BADF-324E-5B4F-A422-61F7145DA2D8}"/>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700835EC-3A47-8644-806F-A3840BA3472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6791769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pic>
        <p:nvPicPr>
          <p:cNvPr id="4" name="Picture 3">
            <a:extLst>
              <a:ext uri="{FF2B5EF4-FFF2-40B4-BE49-F238E27FC236}">
                <a16:creationId xmlns:a16="http://schemas.microsoft.com/office/drawing/2014/main" id="{DC3D7A00-2891-24B2-ED6C-5B28CC4847A3}"/>
              </a:ext>
            </a:extLst>
          </p:cNvPr>
          <p:cNvPicPr>
            <a:picLocks noChangeAspect="1"/>
          </p:cNvPicPr>
          <p:nvPr userDrawn="1"/>
        </p:nvPicPr>
        <p:blipFill>
          <a:blip r:embed="rId2"/>
          <a:stretch>
            <a:fillRect/>
          </a:stretch>
        </p:blipFill>
        <p:spPr>
          <a:xfrm>
            <a:off x="0" y="2209800"/>
            <a:ext cx="3238500" cy="4648200"/>
          </a:xfrm>
          <a:prstGeom prst="rect">
            <a:avLst/>
          </a:prstGeom>
        </p:spPr>
      </p:pic>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8360246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1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a:off x="0" y="0"/>
            <a:ext cx="3238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p:spPr>
        <p:txBody>
          <a:bodyPr vert="horz" lIns="182880" tIns="0" rIns="0" bIns="0" rtlCol="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lang="en-US"/>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4" name="Picture 3">
            <a:extLst>
              <a:ext uri="{FF2B5EF4-FFF2-40B4-BE49-F238E27FC236}">
                <a16:creationId xmlns:a16="http://schemas.microsoft.com/office/drawing/2014/main" id="{80CA3236-00EC-F44A-FE12-1CA61956F0E7}"/>
              </a:ext>
            </a:extLst>
          </p:cNvPr>
          <p:cNvPicPr>
            <a:picLocks noChangeAspect="1"/>
          </p:cNvPicPr>
          <p:nvPr userDrawn="1"/>
        </p:nvPicPr>
        <p:blipFill>
          <a:blip r:embed="rId3"/>
          <a:stretch>
            <a:fillRect/>
          </a:stretch>
        </p:blipFill>
        <p:spPr>
          <a:xfrm>
            <a:off x="0" y="4745736"/>
            <a:ext cx="3226194" cy="2112264"/>
          </a:xfrm>
          <a:prstGeom prst="rect">
            <a:avLst/>
          </a:prstGeom>
        </p:spPr>
      </p:pic>
    </p:spTree>
    <p:extLst>
      <p:ext uri="{BB962C8B-B14F-4D97-AF65-F5344CB8AC3E}">
        <p14:creationId xmlns:p14="http://schemas.microsoft.com/office/powerpoint/2010/main" val="419056427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2_Single Column - Cloud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55D1C46-DA5B-44B3-B594-6A390F5F6E6E}"/>
              </a:ext>
            </a:extLst>
          </p:cNvPr>
          <p:cNvSpPr/>
          <p:nvPr userDrawn="1"/>
        </p:nvSpPr>
        <p:spPr bwMode="white">
          <a:xfrm flipH="1">
            <a:off x="3238500" y="0"/>
            <a:ext cx="8953500" cy="6858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dirty="0"/>
          </a:p>
        </p:txBody>
      </p:sp>
      <p:pic>
        <p:nvPicPr>
          <p:cNvPr id="6" name="Picture 5">
            <a:extLst>
              <a:ext uri="{FF2B5EF4-FFF2-40B4-BE49-F238E27FC236}">
                <a16:creationId xmlns:a16="http://schemas.microsoft.com/office/drawing/2014/main" id="{33331F37-F452-DCB3-4411-C1A01ACA6086}"/>
              </a:ext>
            </a:extLst>
          </p:cNvPr>
          <p:cNvPicPr>
            <a:picLocks noChangeAspect="1"/>
          </p:cNvPicPr>
          <p:nvPr userDrawn="1"/>
        </p:nvPicPr>
        <p:blipFill>
          <a:blip r:embed="rId2"/>
          <a:stretch>
            <a:fillRect/>
          </a:stretch>
        </p:blipFill>
        <p:spPr>
          <a:xfrm>
            <a:off x="3238500" y="1752600"/>
            <a:ext cx="7797800" cy="510540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tx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lvl1pPr>
              <a:defRPr>
                <a:solidFill>
                  <a:schemeClr val="tx1"/>
                </a:solidFill>
              </a:defRPr>
            </a:lvl1pPr>
          </a:lstStyle>
          <a:p>
            <a:r>
              <a:rPr lang="en-US" dirty="0"/>
              <a:t>Click to edit Master title style</a:t>
            </a:r>
          </a:p>
        </p:txBody>
      </p:sp>
      <p:pic>
        <p:nvPicPr>
          <p:cNvPr id="10" name="Graphic 9">
            <a:extLst>
              <a:ext uri="{FF2B5EF4-FFF2-40B4-BE49-F238E27FC236}">
                <a16:creationId xmlns:a16="http://schemas.microsoft.com/office/drawing/2014/main" id="{560B9142-7D87-064B-BCED-0E0338E2CEB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51EF0F92-F9D8-774A-BEDF-4788A4D4BE1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A37D1E50-4538-8C42-905A-A71267A9B8E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64544153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Three Quarters Image Slide">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275A4A0-E19C-C4F8-98F8-140F87325D35}"/>
              </a:ext>
            </a:extLst>
          </p:cNvPr>
          <p:cNvPicPr>
            <a:picLocks noChangeAspect="1"/>
          </p:cNvPicPr>
          <p:nvPr userDrawn="1"/>
        </p:nvPicPr>
        <p:blipFill>
          <a:blip r:embed="rId2"/>
          <a:stretch>
            <a:fillRect/>
          </a:stretch>
        </p:blipFill>
        <p:spPr>
          <a:xfrm>
            <a:off x="914400" y="780779"/>
            <a:ext cx="2330793" cy="6077221"/>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0" name="Text Placeholder 8">
            <a:extLst>
              <a:ext uri="{FF2B5EF4-FFF2-40B4-BE49-F238E27FC236}">
                <a16:creationId xmlns:a16="http://schemas.microsoft.com/office/drawing/2014/main" id="{6ADF87FB-085E-4952-9CFB-477310A66959}"/>
              </a:ext>
            </a:extLst>
          </p:cNvPr>
          <p:cNvSpPr>
            <a:spLocks noGrp="1"/>
          </p:cNvSpPr>
          <p:nvPr>
            <p:ph type="body" sz="quarter" idx="13" hasCustomPrompt="1"/>
          </p:nvPr>
        </p:nvSpPr>
        <p:spPr>
          <a:xfrm>
            <a:off x="344488" y="1843749"/>
            <a:ext cx="1810884" cy="1461939"/>
          </a:xfrm>
        </p:spPr>
        <p:txBody>
          <a:bodyPr wrap="square"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35F2CBC9-A0AF-2443-B4F3-88F00DA34117}"/>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1" name="Footer Placeholder 4">
            <a:extLst>
              <a:ext uri="{FF2B5EF4-FFF2-40B4-BE49-F238E27FC236}">
                <a16:creationId xmlns:a16="http://schemas.microsoft.com/office/drawing/2014/main" id="{EA2D8B16-7E02-9445-B5E1-B56444A338A0}"/>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58296D2F-477C-6447-A70C-6F56CD3959A6}"/>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1071844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2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3564208"/>
            <a:ext cx="2608263" cy="292388"/>
          </a:xfrm>
          <a:ln>
            <a:noFill/>
          </a:ln>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41240" y="3563605"/>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9202" y="3563605"/>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6203" y="3563605"/>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17" name="Text Placeholder 6">
            <a:extLst>
              <a:ext uri="{FF2B5EF4-FFF2-40B4-BE49-F238E27FC236}">
                <a16:creationId xmlns:a16="http://schemas.microsoft.com/office/drawing/2014/main" id="{F1BE4CE4-FD45-443A-BF63-DD30D8352F18}"/>
              </a:ext>
            </a:extLst>
          </p:cNvPr>
          <p:cNvSpPr>
            <a:spLocks noGrp="1"/>
          </p:cNvSpPr>
          <p:nvPr>
            <p:ph type="body" sz="quarter" idx="21"/>
          </p:nvPr>
        </p:nvSpPr>
        <p:spPr>
          <a:xfrm>
            <a:off x="348146" y="3911077"/>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9" name="Text Placeholder 27">
            <a:extLst>
              <a:ext uri="{FF2B5EF4-FFF2-40B4-BE49-F238E27FC236}">
                <a16:creationId xmlns:a16="http://schemas.microsoft.com/office/drawing/2014/main" id="{9E9A9093-0FB5-474B-89ED-A35D3811588C}"/>
              </a:ext>
            </a:extLst>
          </p:cNvPr>
          <p:cNvSpPr>
            <a:spLocks noGrp="1"/>
          </p:cNvSpPr>
          <p:nvPr>
            <p:ph type="body" sz="quarter" idx="22"/>
          </p:nvPr>
        </p:nvSpPr>
        <p:spPr>
          <a:xfrm>
            <a:off x="3241239" y="3911078"/>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0" name="Text Placeholder 29">
            <a:extLst>
              <a:ext uri="{FF2B5EF4-FFF2-40B4-BE49-F238E27FC236}">
                <a16:creationId xmlns:a16="http://schemas.microsoft.com/office/drawing/2014/main" id="{FF042C6C-A711-46C7-BA08-D7D1DBA5B436}"/>
              </a:ext>
            </a:extLst>
          </p:cNvPr>
          <p:cNvSpPr>
            <a:spLocks noGrp="1"/>
          </p:cNvSpPr>
          <p:nvPr>
            <p:ph type="body" sz="quarter" idx="23"/>
          </p:nvPr>
        </p:nvSpPr>
        <p:spPr>
          <a:xfrm>
            <a:off x="6099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21" name="Text Placeholder 31">
            <a:extLst>
              <a:ext uri="{FF2B5EF4-FFF2-40B4-BE49-F238E27FC236}">
                <a16:creationId xmlns:a16="http://schemas.microsoft.com/office/drawing/2014/main" id="{E0D4AA41-1DA9-4674-8804-6E312BE2AEE4}"/>
              </a:ext>
            </a:extLst>
          </p:cNvPr>
          <p:cNvSpPr>
            <a:spLocks noGrp="1"/>
          </p:cNvSpPr>
          <p:nvPr>
            <p:ph type="body" sz="quarter" idx="24"/>
          </p:nvPr>
        </p:nvSpPr>
        <p:spPr>
          <a:xfrm>
            <a:off x="8976204" y="3911078"/>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1030708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1/2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0"/>
            <a:ext cx="12192000" cy="3429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8" y="269748"/>
            <a:ext cx="2907482"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pic>
        <p:nvPicPr>
          <p:cNvPr id="23" name="Graphic 22">
            <a:extLst>
              <a:ext uri="{FF2B5EF4-FFF2-40B4-BE49-F238E27FC236}">
                <a16:creationId xmlns:a16="http://schemas.microsoft.com/office/drawing/2014/main" id="{01F92179-1104-CC43-A3D0-81DE97CCA71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7" name="Footer Placeholder 4">
            <a:extLst>
              <a:ext uri="{FF2B5EF4-FFF2-40B4-BE49-F238E27FC236}">
                <a16:creationId xmlns:a16="http://schemas.microsoft.com/office/drawing/2014/main" id="{98AD107B-C2D7-D04F-9BED-9375FC6FECF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8" name="Slide Number Placeholder 5">
            <a:extLst>
              <a:ext uri="{FF2B5EF4-FFF2-40B4-BE49-F238E27FC236}">
                <a16:creationId xmlns:a16="http://schemas.microsoft.com/office/drawing/2014/main" id="{995587E1-B0B0-5141-BA1B-AF30B431A0D1}"/>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7" name="Picture 6">
            <a:extLst>
              <a:ext uri="{FF2B5EF4-FFF2-40B4-BE49-F238E27FC236}">
                <a16:creationId xmlns:a16="http://schemas.microsoft.com/office/drawing/2014/main" id="{8001B6C8-F508-BAAE-CBBF-1708CB85F33E}"/>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1757213" y="0"/>
            <a:ext cx="10434787" cy="3429000"/>
          </a:xfrm>
          <a:prstGeom prst="rect">
            <a:avLst/>
          </a:prstGeom>
        </p:spPr>
      </p:pic>
    </p:spTree>
    <p:extLst>
      <p:ext uri="{BB962C8B-B14F-4D97-AF65-F5344CB8AC3E}">
        <p14:creationId xmlns:p14="http://schemas.microsoft.com/office/powerpoint/2010/main" val="237395726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1/4 header / 4 colum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48146" y="2430924"/>
            <a:ext cx="2604228"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18" name="Text Placeholder 17">
            <a:extLst>
              <a:ext uri="{FF2B5EF4-FFF2-40B4-BE49-F238E27FC236}">
                <a16:creationId xmlns:a16="http://schemas.microsoft.com/office/drawing/2014/main" id="{7C815302-58BA-544A-A70E-11B5AE7C074B}"/>
              </a:ext>
            </a:extLst>
          </p:cNvPr>
          <p:cNvSpPr>
            <a:spLocks noGrp="1"/>
          </p:cNvSpPr>
          <p:nvPr>
            <p:ph type="body" sz="quarter" idx="14" hasCustomPrompt="1"/>
          </p:nvPr>
        </p:nvSpPr>
        <p:spPr>
          <a:xfrm>
            <a:off x="344487" y="2083532"/>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1</a:t>
            </a:r>
          </a:p>
        </p:txBody>
      </p:sp>
      <p:sp>
        <p:nvSpPr>
          <p:cNvPr id="22" name="Text Placeholder 21">
            <a:extLst>
              <a:ext uri="{FF2B5EF4-FFF2-40B4-BE49-F238E27FC236}">
                <a16:creationId xmlns:a16="http://schemas.microsoft.com/office/drawing/2014/main" id="{8E5A713F-3F9A-164E-8906-908A2E37AEDC}"/>
              </a:ext>
            </a:extLst>
          </p:cNvPr>
          <p:cNvSpPr>
            <a:spLocks noGrp="1"/>
          </p:cNvSpPr>
          <p:nvPr>
            <p:ph type="body" sz="quarter" idx="15" hasCustomPrompt="1"/>
          </p:nvPr>
        </p:nvSpPr>
        <p:spPr>
          <a:xfrm>
            <a:off x="3238501" y="2082928"/>
            <a:ext cx="2608263"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2</a:t>
            </a:r>
          </a:p>
        </p:txBody>
      </p:sp>
      <p:sp>
        <p:nvSpPr>
          <p:cNvPr id="24" name="Text Placeholder 23">
            <a:extLst>
              <a:ext uri="{FF2B5EF4-FFF2-40B4-BE49-F238E27FC236}">
                <a16:creationId xmlns:a16="http://schemas.microsoft.com/office/drawing/2014/main" id="{52B11054-EA62-C241-B60E-B5FC645F961F}"/>
              </a:ext>
            </a:extLst>
          </p:cNvPr>
          <p:cNvSpPr>
            <a:spLocks noGrp="1"/>
          </p:cNvSpPr>
          <p:nvPr>
            <p:ph type="body" sz="quarter" idx="16" hasCustomPrompt="1"/>
          </p:nvPr>
        </p:nvSpPr>
        <p:spPr>
          <a:xfrm>
            <a:off x="6096001" y="2082928"/>
            <a:ext cx="2608307"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3</a:t>
            </a:r>
          </a:p>
        </p:txBody>
      </p:sp>
      <p:sp>
        <p:nvSpPr>
          <p:cNvPr id="26" name="Text Placeholder 25">
            <a:extLst>
              <a:ext uri="{FF2B5EF4-FFF2-40B4-BE49-F238E27FC236}">
                <a16:creationId xmlns:a16="http://schemas.microsoft.com/office/drawing/2014/main" id="{5F174BBE-E3FD-3243-B5B9-46D5793B72E1}"/>
              </a:ext>
            </a:extLst>
          </p:cNvPr>
          <p:cNvSpPr>
            <a:spLocks noGrp="1"/>
          </p:cNvSpPr>
          <p:nvPr>
            <p:ph type="body" sz="quarter" idx="17" hasCustomPrompt="1"/>
          </p:nvPr>
        </p:nvSpPr>
        <p:spPr>
          <a:xfrm>
            <a:off x="8972550" y="2082928"/>
            <a:ext cx="2608322" cy="292388"/>
          </a:xfrm>
        </p:spPr>
        <p:txBody>
          <a:bodyPr vert="horz" lIns="0" tIns="0" rIns="0" bIns="0" rtlCol="0">
            <a:spAutoFit/>
          </a:bodyPr>
          <a:lstStyle>
            <a:lvl1pPr marL="0" indent="0">
              <a:buNone/>
              <a:defRPr lang="en-US" sz="1900">
                <a:ln w="3175">
                  <a:noFill/>
                </a:ln>
                <a:solidFill>
                  <a:schemeClr val="tx2"/>
                </a:solidFill>
              </a:defRPr>
            </a:lvl1pPr>
          </a:lstStyle>
          <a:p>
            <a:pPr lvl="0" fontAlgn="base"/>
            <a:r>
              <a:rPr lang="en-US" dirty="0"/>
              <a:t>Column Header 4</a:t>
            </a:r>
          </a:p>
        </p:txBody>
      </p:sp>
      <p:sp>
        <p:nvSpPr>
          <p:cNvPr id="28" name="Text Placeholder 27">
            <a:extLst>
              <a:ext uri="{FF2B5EF4-FFF2-40B4-BE49-F238E27FC236}">
                <a16:creationId xmlns:a16="http://schemas.microsoft.com/office/drawing/2014/main" id="{C0184701-AA4C-194F-A41C-3F1116AD556C}"/>
              </a:ext>
            </a:extLst>
          </p:cNvPr>
          <p:cNvSpPr>
            <a:spLocks noGrp="1"/>
          </p:cNvSpPr>
          <p:nvPr>
            <p:ph type="body" sz="quarter" idx="18"/>
          </p:nvPr>
        </p:nvSpPr>
        <p:spPr>
          <a:xfrm>
            <a:off x="3241239" y="2430401"/>
            <a:ext cx="2605524"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0" name="Text Placeholder 29">
            <a:extLst>
              <a:ext uri="{FF2B5EF4-FFF2-40B4-BE49-F238E27FC236}">
                <a16:creationId xmlns:a16="http://schemas.microsoft.com/office/drawing/2014/main" id="{34FDDF5D-3009-854F-8EE1-970F47DC067C}"/>
              </a:ext>
            </a:extLst>
          </p:cNvPr>
          <p:cNvSpPr>
            <a:spLocks noGrp="1"/>
          </p:cNvSpPr>
          <p:nvPr>
            <p:ph type="body" sz="quarter" idx="19"/>
          </p:nvPr>
        </p:nvSpPr>
        <p:spPr>
          <a:xfrm>
            <a:off x="6099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sp>
        <p:nvSpPr>
          <p:cNvPr id="32" name="Text Placeholder 31">
            <a:extLst>
              <a:ext uri="{FF2B5EF4-FFF2-40B4-BE49-F238E27FC236}">
                <a16:creationId xmlns:a16="http://schemas.microsoft.com/office/drawing/2014/main" id="{A7E979D6-BADA-DD44-B570-65D20DD14190}"/>
              </a:ext>
            </a:extLst>
          </p:cNvPr>
          <p:cNvSpPr>
            <a:spLocks noGrp="1"/>
          </p:cNvSpPr>
          <p:nvPr>
            <p:ph type="body" sz="quarter" idx="20"/>
          </p:nvPr>
        </p:nvSpPr>
        <p:spPr>
          <a:xfrm>
            <a:off x="8976204" y="2430401"/>
            <a:ext cx="2604669" cy="2021066"/>
          </a:xfrm>
        </p:spPr>
        <p:txBody>
          <a:bodyPr lIns="0">
            <a:spAutoFit/>
          </a:bodyPr>
          <a:lst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lvl5p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a:ln>
                  <a:noFill/>
                </a:ln>
                <a:solidFill>
                  <a:srgbClr val="000000"/>
                </a:solidFill>
                <a:effectLst/>
                <a:uLnTx/>
                <a:uFillTx/>
                <a:latin typeface="+mn-lt"/>
                <a:ea typeface="+mn-ea"/>
                <a:cs typeface="+mn-cs"/>
              </a:rPr>
              <a:t>Fifth level</a:t>
            </a:r>
            <a:endParaRPr kumimoji="0" lang="en-US" sz="1800" b="0" i="0" u="none" strike="noStrike" kern="1200" cap="none" spc="0" normalizeH="0" baseline="0" noProof="0" dirty="0">
              <a:ln>
                <a:noFill/>
              </a:ln>
              <a:solidFill>
                <a:srgbClr val="000000"/>
              </a:solidFill>
              <a:effectLst/>
              <a:uLnTx/>
              <a:uFillTx/>
              <a:latin typeface="+mn-lt"/>
              <a:ea typeface="+mn-ea"/>
              <a:cs typeface="+mn-cs"/>
            </a:endParaRP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9" name="Picture 8">
            <a:extLst>
              <a:ext uri="{FF2B5EF4-FFF2-40B4-BE49-F238E27FC236}">
                <a16:creationId xmlns:a16="http://schemas.microsoft.com/office/drawing/2014/main" id="{18F9BD06-D191-BDCC-0EAC-42370967C2B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373348415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1/4 header / CLEAN">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45A6104-2147-ED48-827D-CB214B123CF6}"/>
              </a:ext>
            </a:extLst>
          </p:cNvPr>
          <p:cNvSpPr/>
          <p:nvPr userDrawn="1"/>
        </p:nvSpPr>
        <p:spPr bwMode="white">
          <a:xfrm>
            <a:off x="0" y="1"/>
            <a:ext cx="12192000" cy="1905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2" name="Title 1">
            <a:extLst>
              <a:ext uri="{FF2B5EF4-FFF2-40B4-BE49-F238E27FC236}">
                <a16:creationId xmlns:a16="http://schemas.microsoft.com/office/drawing/2014/main" id="{4667B03D-3B0E-4A16-8455-9D5E13184485}"/>
              </a:ext>
            </a:extLst>
          </p:cNvPr>
          <p:cNvSpPr>
            <a:spLocks noGrp="1"/>
          </p:cNvSpPr>
          <p:nvPr>
            <p:ph type="title"/>
          </p:nvPr>
        </p:nvSpPr>
        <p:spPr>
          <a:xfrm>
            <a:off x="333756" y="269748"/>
            <a:ext cx="3242201" cy="1008802"/>
          </a:xfrm>
          <a:ln w="12700">
            <a:noFill/>
          </a:ln>
        </p:spPr>
        <p:txBody>
          <a:bodyPr vert="horz" wrap="square" lIns="0" tIns="0" rIns="0" bIns="0" rtlCol="0" anchor="t" anchorCtr="0">
            <a:spAutoFit/>
          </a:bodyPr>
          <a:lstStyle>
            <a:lvl1pPr>
              <a:defRPr lang="en-US" dirty="0">
                <a:ln w="9525">
                  <a:noFill/>
                </a:ln>
                <a:solidFill>
                  <a:schemeClr val="bg1"/>
                </a:solidFill>
              </a:defRPr>
            </a:lvl1pPr>
          </a:lstStyle>
          <a:p>
            <a:pPr marL="0" lvl="0"/>
            <a:r>
              <a:rPr lang="en-US" dirty="0"/>
              <a:t>Click to edit Master title style</a:t>
            </a:r>
          </a:p>
        </p:txBody>
      </p:sp>
      <p:pic>
        <p:nvPicPr>
          <p:cNvPr id="17" name="Graphic 16">
            <a:extLst>
              <a:ext uri="{FF2B5EF4-FFF2-40B4-BE49-F238E27FC236}">
                <a16:creationId xmlns:a16="http://schemas.microsoft.com/office/drawing/2014/main" id="{8E9FB75F-D2B2-AC4A-903F-467C4C27BB3E}"/>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0" name="Footer Placeholder 4">
            <a:extLst>
              <a:ext uri="{FF2B5EF4-FFF2-40B4-BE49-F238E27FC236}">
                <a16:creationId xmlns:a16="http://schemas.microsoft.com/office/drawing/2014/main" id="{09915CAC-37C5-D041-B16E-A68FC3F6AE6A}"/>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21" name="Slide Number Placeholder 5">
            <a:extLst>
              <a:ext uri="{FF2B5EF4-FFF2-40B4-BE49-F238E27FC236}">
                <a16:creationId xmlns:a16="http://schemas.microsoft.com/office/drawing/2014/main" id="{85DA5A3C-BCD0-6E4F-A118-246FF1A0F11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pic>
        <p:nvPicPr>
          <p:cNvPr id="3" name="Picture 2">
            <a:extLst>
              <a:ext uri="{FF2B5EF4-FFF2-40B4-BE49-F238E27FC236}">
                <a16:creationId xmlns:a16="http://schemas.microsoft.com/office/drawing/2014/main" id="{C7C982CA-A7CF-7C04-1CB1-C8824A257D5C}"/>
              </a:ext>
            </a:extLst>
          </p:cNvPr>
          <p:cNvPicPr>
            <a:picLocks noChangeAspect="1"/>
          </p:cNvPicPr>
          <p:nvPr userDrawn="1"/>
        </p:nvPicPr>
        <p:blipFill>
          <a:blip r:embed="rId3"/>
          <a:stretch>
            <a:fillRect/>
          </a:stretch>
        </p:blipFill>
        <p:spPr>
          <a:xfrm rot="10800000">
            <a:off x="3924300" y="0"/>
            <a:ext cx="8267700" cy="1905000"/>
          </a:xfrm>
          <a:prstGeom prst="rect">
            <a:avLst/>
          </a:prstGeom>
        </p:spPr>
      </p:pic>
    </p:spTree>
    <p:extLst>
      <p:ext uri="{BB962C8B-B14F-4D97-AF65-F5344CB8AC3E}">
        <p14:creationId xmlns:p14="http://schemas.microsoft.com/office/powerpoint/2010/main" val="215750418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Half Image Slide">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5AE153A-C27C-ED1B-A797-B1AF88EB49A5}"/>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6" y="1842516"/>
            <a:ext cx="5560464" cy="584775"/>
          </a:xfrm>
        </p:spPr>
        <p:txBody>
          <a:bodyPr vert="horz" lIns="0" tIns="0" rIns="0" bIns="0" rtlCol="0">
            <a:spAutoFit/>
          </a:bodyPr>
          <a:lstStyle>
            <a:lvl1pPr marL="11113" indent="-11113" algn="l">
              <a:buFontTx/>
              <a:buNone/>
              <a:tabLst/>
              <a:defRPr lang="en-US" sz="1900" dirty="0">
                <a:ln w="3175">
                  <a:noFill/>
                </a:ln>
                <a:solidFill>
                  <a:schemeClr val="bg1"/>
                </a:solidFill>
              </a:defRPr>
            </a:lvl1pPr>
          </a:lstStyle>
          <a:p>
            <a:pPr marL="142875" lvl="0" indent="-142875" fontAlgn="base"/>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34766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00928850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Half Image Slide - CLEAN">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6E9DF5-DA4D-AF41-F284-D6545E66BD73}"/>
              </a:ext>
            </a:extLst>
          </p:cNvPr>
          <p:cNvPicPr>
            <a:picLocks noChangeAspect="1"/>
          </p:cNvPicPr>
          <p:nvPr userDrawn="1"/>
        </p:nvPicPr>
        <p:blipFill>
          <a:blip r:embed="rId2"/>
          <a:stretch>
            <a:fillRect/>
          </a:stretch>
        </p:blipFill>
        <p:spPr>
          <a:xfrm flipH="1">
            <a:off x="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609600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dirty="0"/>
              <a:t>Click icon in the center of box to add picture</a:t>
            </a:r>
          </a:p>
          <a:p>
            <a:pPr marR="0" lvl="0" fontAlgn="auto">
              <a:buSzTx/>
              <a:tabLst/>
            </a:pPr>
            <a:endParaRPr lang="en-US" dirty="0"/>
          </a:p>
          <a:p>
            <a:pPr marR="0" lvl="0" fontAlgn="auto">
              <a:buSzTx/>
              <a:tabLst/>
            </a:pPr>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5571004" cy="484043"/>
          </a:xfrm>
        </p:spPr>
        <p:txBody>
          <a:bodyPr>
            <a:spAutoFit/>
          </a:bodyPr>
          <a:lstStyle>
            <a:lvl1pPr>
              <a:defRPr>
                <a:ln w="9525">
                  <a:noFill/>
                </a:ln>
                <a:solidFill>
                  <a:schemeClr val="bg1"/>
                </a:solidFill>
              </a:defRPr>
            </a:lvl1pPr>
          </a:lstStyle>
          <a:p>
            <a:r>
              <a:rPr lang="en-US"/>
              <a:t>Click to edit Master title style</a:t>
            </a:r>
            <a:endParaRPr lang="en-US" dirty="0"/>
          </a:p>
        </p:txBody>
      </p:sp>
      <p:sp>
        <p:nvSpPr>
          <p:cNvPr id="11" name="AutoShape 3">
            <a:extLst>
              <a:ext uri="{FF2B5EF4-FFF2-40B4-BE49-F238E27FC236}">
                <a16:creationId xmlns:a16="http://schemas.microsoft.com/office/drawing/2014/main" id="{D98D0E38-C70F-492A-89D3-C6748F1169D2}"/>
              </a:ext>
            </a:extLst>
          </p:cNvPr>
          <p:cNvSpPr>
            <a:spLocks noChangeAspect="1" noChangeArrowheads="1" noTextEdit="1"/>
          </p:cNvSpPr>
          <p:nvPr userDrawn="1"/>
        </p:nvSpPr>
        <p:spPr bwMode="auto">
          <a:xfrm>
            <a:off x="328613" y="6297613"/>
            <a:ext cx="148272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pic>
        <p:nvPicPr>
          <p:cNvPr id="12" name="Graphic 11">
            <a:extLst>
              <a:ext uri="{FF2B5EF4-FFF2-40B4-BE49-F238E27FC236}">
                <a16:creationId xmlns:a16="http://schemas.microsoft.com/office/drawing/2014/main" id="{5C9FC3AD-D3D1-F54B-B826-C460CDFA78C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3" name="Footer Placeholder 4">
            <a:extLst>
              <a:ext uri="{FF2B5EF4-FFF2-40B4-BE49-F238E27FC236}">
                <a16:creationId xmlns:a16="http://schemas.microsoft.com/office/drawing/2014/main" id="{97EFC10F-7E5E-EE44-BD96-5D17E0E85DC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078B89E7-6DD3-7A43-A83F-A343C8B19514}"/>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4872357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Half Imag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21FBB69-2B1F-1005-8EB3-A8CA021F7215}"/>
              </a:ext>
            </a:extLst>
          </p:cNvPr>
          <p:cNvPicPr>
            <a:picLocks noChangeAspect="1"/>
          </p:cNvPicPr>
          <p:nvPr userDrawn="1"/>
        </p:nvPicPr>
        <p:blipFill>
          <a:blip r:embed="rId2"/>
          <a:stretch>
            <a:fillRect/>
          </a:stretch>
        </p:blipFill>
        <p:spPr>
          <a:xfrm>
            <a:off x="10121900"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0" y="0"/>
            <a:ext cx="609600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pic>
        <p:nvPicPr>
          <p:cNvPr id="11" name="Graphic 10">
            <a:extLst>
              <a:ext uri="{FF2B5EF4-FFF2-40B4-BE49-F238E27FC236}">
                <a16:creationId xmlns:a16="http://schemas.microsoft.com/office/drawing/2014/main" id="{560D37C1-D211-7745-B68E-02001098F85F}"/>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6269586" y="1842516"/>
            <a:ext cx="5560464" cy="584775"/>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6259046" y="268589"/>
            <a:ext cx="5571004" cy="484043"/>
          </a:xfrm>
        </p:spPr>
        <p:txBody>
          <a:bodyPr>
            <a:spAutoFit/>
          </a:bodyPr>
          <a:lstStyle>
            <a:lvl1pPr>
              <a:defRPr>
                <a:ln w="9525">
                  <a:noFill/>
                </a:ln>
                <a:solidFill>
                  <a:schemeClr val="bg1"/>
                </a:solidFill>
              </a:defRPr>
            </a:lvl1pPr>
          </a:lstStyle>
          <a:p>
            <a:r>
              <a:rPr lang="en-US" dirty="0"/>
              <a:t>Click to edit Master title style</a:t>
            </a:r>
          </a:p>
        </p:txBody>
      </p:sp>
      <p:sp>
        <p:nvSpPr>
          <p:cNvPr id="7" name="Text Placeholder 6">
            <a:extLst>
              <a:ext uri="{FF2B5EF4-FFF2-40B4-BE49-F238E27FC236}">
                <a16:creationId xmlns:a16="http://schemas.microsoft.com/office/drawing/2014/main" id="{811D0CA3-B974-D04C-9182-9E93BC0CCFC9}"/>
              </a:ext>
            </a:extLst>
          </p:cNvPr>
          <p:cNvSpPr>
            <a:spLocks noGrp="1"/>
          </p:cNvSpPr>
          <p:nvPr>
            <p:ph type="body" sz="quarter" idx="15"/>
          </p:nvPr>
        </p:nvSpPr>
        <p:spPr>
          <a:xfrm>
            <a:off x="6272212" y="3379788"/>
            <a:ext cx="5557838" cy="1744067"/>
          </a:xfrm>
        </p:spPr>
        <p:txBody>
          <a:bodyPr lIns="0">
            <a:spAutoFit/>
          </a:bodyPr>
          <a:lstStyle>
            <a:lvl1pPr>
              <a:buClr>
                <a:schemeClr val="bg1"/>
              </a:buClr>
              <a:defRPr>
                <a:solidFill>
                  <a:schemeClr val="bg1"/>
                </a:solidFill>
              </a:defRPr>
            </a:lvl1pPr>
            <a:lvl2pPr>
              <a:buClr>
                <a:schemeClr val="bg1"/>
              </a:buClr>
              <a:defRPr>
                <a:solidFill>
                  <a:schemeClr val="bg1"/>
                </a:solidFill>
              </a:defRPr>
            </a:lvl2pPr>
            <a:lvl3pPr>
              <a:buClr>
                <a:schemeClr val="bg1"/>
              </a:buCl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Footer Placeholder 4">
            <a:extLst>
              <a:ext uri="{FF2B5EF4-FFF2-40B4-BE49-F238E27FC236}">
                <a16:creationId xmlns:a16="http://schemas.microsoft.com/office/drawing/2014/main" id="{030F3032-5515-C84F-A5D0-90898242F86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FEAC8327-2A21-3A42-BA7B-F64F4DEAA72D}"/>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49595331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Half Imag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7E79AC3-2DC9-96CB-4501-666928E88325}"/>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a:p>
            <a:pPr marR="0" lvl="0" fontAlgn="auto">
              <a:buSzTx/>
              <a:tabLst/>
            </a:pPr>
            <a:endParaRPr lang="en-US"/>
          </a:p>
          <a:p>
            <a:pPr marR="0" lvl="0" fontAlgn="auto">
              <a:buSzTx/>
              <a:tabLst/>
            </a:pPr>
            <a:endParaRPr lang="en-US"/>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5037" y="1842516"/>
            <a:ext cx="2607714" cy="1169551"/>
          </a:xfrm>
        </p:spPr>
        <p:txBody>
          <a:bodyPr vert="horz" lIns="0" tIns="0" rIns="0" bIns="0" rtlCol="0">
            <a:spAutoFit/>
          </a:bodyPr>
          <a:lstStyle>
            <a:lvl1pPr>
              <a:defRPr lang="en-US" sz="1900" dirty="0">
                <a:ln w="3175">
                  <a:noFill/>
                </a:ln>
                <a:solidFill>
                  <a:schemeClr val="bg1"/>
                </a:solidFill>
              </a:defRPr>
            </a:lvl1pPr>
          </a:lstStyle>
          <a:p>
            <a:pPr marL="0" lvl="0" indent="0" fontAlgn="base">
              <a:buNone/>
            </a:pPr>
            <a:r>
              <a:rPr lang="en-US" dirty="0"/>
              <a:t>Subtitle or callout if needed, all titles and subtitles are sentence case </a:t>
            </a:r>
          </a:p>
        </p:txBody>
      </p:sp>
      <p:sp>
        <p:nvSpPr>
          <p:cNvPr id="7" name="Text Placeholder 6">
            <a:extLst>
              <a:ext uri="{FF2B5EF4-FFF2-40B4-BE49-F238E27FC236}">
                <a16:creationId xmlns:a16="http://schemas.microsoft.com/office/drawing/2014/main" id="{2592A8BA-00F9-DD43-8481-FE14DFB0D4A3}"/>
              </a:ext>
            </a:extLst>
          </p:cNvPr>
          <p:cNvSpPr>
            <a:spLocks noGrp="1"/>
          </p:cNvSpPr>
          <p:nvPr>
            <p:ph type="body" sz="quarter" idx="15"/>
          </p:nvPr>
        </p:nvSpPr>
        <p:spPr>
          <a:xfrm>
            <a:off x="9226550" y="310896"/>
            <a:ext cx="2603500" cy="2021066"/>
          </a:xfrm>
        </p:spPr>
        <p:txBody>
          <a:bodyPr vert="horz" lIns="0" tIns="0" rIns="0" bIns="0" rtlCol="0">
            <a:spAutoFit/>
          </a:bodyPr>
          <a:lstStyle>
            <a:lvl1pPr marL="142875" marR="0" indent="-142875"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smtClean="0">
                <a:solidFill>
                  <a:schemeClr val="bg1"/>
                </a:solidFill>
              </a:defRPr>
            </a:lvl1pPr>
            <a:lvl2pPr marL="428625" marR="0" indent="-145257"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2pPr>
            <a:lvl3pPr marL="714375" marR="0" indent="-147638"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3pPr>
            <a:lvl4pPr marL="1000125" marR="0" indent="-150019"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smtClean="0">
                <a:solidFill>
                  <a:schemeClr val="bg1"/>
                </a:solidFill>
              </a:defRPr>
            </a:lvl4pPr>
            <a:lvl5pPr marL="1285875" marR="0" indent="-152400" algn="l" defTabSz="914400" rtl="0" eaLnBrk="1" fontAlgn="auto" latinLnBrk="0" hangingPunct="1">
              <a:lnSpc>
                <a:spcPct val="100000"/>
              </a:lnSpc>
              <a:spcBef>
                <a:spcPts val="0"/>
              </a:spcBef>
              <a:spcAft>
                <a:spcPts val="700"/>
              </a:spcAft>
              <a:buClr>
                <a:schemeClr val="bg1"/>
              </a:buClr>
              <a:buSzTx/>
              <a:buFont typeface="Arial" panose="020B0604020202020204" pitchFamily="34" charset="0"/>
              <a:buChar char="•"/>
              <a:tabLst/>
              <a:defRPr lang="en-US" dirty="0">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n w="9525">
                  <a:noFill/>
                </a:ln>
                <a:solidFill>
                  <a:schemeClr val="bg1"/>
                </a:solidFill>
              </a:defRPr>
            </a:lvl1pPr>
          </a:lstStyle>
          <a:p>
            <a:r>
              <a:rPr lang="en-US"/>
              <a:t>Click to edit Master title style</a:t>
            </a:r>
            <a:endParaRPr lang="en-US" dirty="0"/>
          </a:p>
        </p:txBody>
      </p:sp>
      <p:pic>
        <p:nvPicPr>
          <p:cNvPr id="10" name="Graphic 9">
            <a:extLst>
              <a:ext uri="{FF2B5EF4-FFF2-40B4-BE49-F238E27FC236}">
                <a16:creationId xmlns:a16="http://schemas.microsoft.com/office/drawing/2014/main" id="{38317098-BF10-BA42-A3E5-65C0634430A9}"/>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Footer Placeholder 4">
            <a:extLst>
              <a:ext uri="{FF2B5EF4-FFF2-40B4-BE49-F238E27FC236}">
                <a16:creationId xmlns:a16="http://schemas.microsoft.com/office/drawing/2014/main" id="{B4D4954A-7D78-384F-A44A-7BC1E849140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49BE3EAB-DEA7-184A-90BB-B4E1E574417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1015440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userDrawn="1">
  <p:cSld name="Breaker">
    <p:bg>
      <p:bgPr>
        <a:solidFill>
          <a:srgbClr val="EB0000"/>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361950" y="326645"/>
            <a:ext cx="5580063" cy="2100073"/>
          </a:xfr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379413" y="2499268"/>
            <a:ext cx="5562600" cy="813594"/>
          </a:xfrm>
        </p:spPr>
        <p:txBody>
          <a:bodyPr vert="horz" lIns="0" tIns="0" rIns="0" bIns="0" rtlCol="0" anchor="t">
            <a:noAutofit/>
          </a:bodyPr>
          <a:lstStyle>
            <a:lvl1pPr marL="0" indent="0">
              <a:buNone/>
              <a:defRPr lang="en-US" sz="2600" dirty="0">
                <a:ln>
                  <a:noFill/>
                </a:ln>
                <a:solidFill>
                  <a:schemeClr val="bg1"/>
                </a:solidFill>
              </a:defRPr>
            </a:lvl1pPr>
          </a:lstStyle>
          <a:p>
            <a:pPr lvl="0"/>
            <a:r>
              <a:rPr lang="en-US" dirty="0"/>
              <a:t>All titles/subtitles are sentence case</a:t>
            </a:r>
          </a:p>
        </p:txBody>
      </p:sp>
      <p:sp>
        <p:nvSpPr>
          <p:cNvPr id="6" name="Freeform 5">
            <a:extLst>
              <a:ext uri="{FF2B5EF4-FFF2-40B4-BE49-F238E27FC236}">
                <a16:creationId xmlns:a16="http://schemas.microsoft.com/office/drawing/2014/main" id="{B96AE158-57F3-42F7-BA5B-F9CAC8029C8B}"/>
              </a:ext>
            </a:extLst>
          </p:cNvPr>
          <p:cNvSpPr>
            <a:spLocks noEditPoints="1"/>
          </p:cNvSpPr>
          <p:nvPr userDrawn="1"/>
        </p:nvSpPr>
        <p:spPr bwMode="auto">
          <a:xfrm>
            <a:off x="328613" y="6297613"/>
            <a:ext cx="1484313" cy="461963"/>
          </a:xfrm>
          <a:custGeom>
            <a:avLst/>
            <a:gdLst>
              <a:gd name="T0" fmla="*/ 1241 w 1600"/>
              <a:gd name="T1" fmla="*/ 405 h 496"/>
              <a:gd name="T2" fmla="*/ 1179 w 1600"/>
              <a:gd name="T3" fmla="*/ 423 h 496"/>
              <a:gd name="T4" fmla="*/ 1379 w 1600"/>
              <a:gd name="T5" fmla="*/ 405 h 496"/>
              <a:gd name="T6" fmla="*/ 1317 w 1600"/>
              <a:gd name="T7" fmla="*/ 423 h 496"/>
              <a:gd name="T8" fmla="*/ 1272 w 1600"/>
              <a:gd name="T9" fmla="*/ 344 h 496"/>
              <a:gd name="T10" fmla="*/ 953 w 1600"/>
              <a:gd name="T11" fmla="*/ 436 h 496"/>
              <a:gd name="T12" fmla="*/ 963 w 1600"/>
              <a:gd name="T13" fmla="*/ 374 h 496"/>
              <a:gd name="T14" fmla="*/ 855 w 1600"/>
              <a:gd name="T15" fmla="*/ 370 h 496"/>
              <a:gd name="T16" fmla="*/ 846 w 1600"/>
              <a:gd name="T17" fmla="*/ 443 h 496"/>
              <a:gd name="T18" fmla="*/ 852 w 1600"/>
              <a:gd name="T19" fmla="*/ 385 h 496"/>
              <a:gd name="T20" fmla="*/ 1442 w 1600"/>
              <a:gd name="T21" fmla="*/ 451 h 496"/>
              <a:gd name="T22" fmla="*/ 1446 w 1600"/>
              <a:gd name="T23" fmla="*/ 484 h 496"/>
              <a:gd name="T24" fmla="*/ 1451 w 1600"/>
              <a:gd name="T25" fmla="*/ 407 h 496"/>
              <a:gd name="T26" fmla="*/ 1452 w 1600"/>
              <a:gd name="T27" fmla="*/ 397 h 496"/>
              <a:gd name="T28" fmla="*/ 1094 w 1600"/>
              <a:gd name="T29" fmla="*/ 372 h 496"/>
              <a:gd name="T30" fmla="*/ 1112 w 1600"/>
              <a:gd name="T31" fmla="*/ 387 h 496"/>
              <a:gd name="T32" fmla="*/ 1142 w 1600"/>
              <a:gd name="T33" fmla="*/ 408 h 496"/>
              <a:gd name="T34" fmla="*/ 985 w 1600"/>
              <a:gd name="T35" fmla="*/ 344 h 496"/>
              <a:gd name="T36" fmla="*/ 1016 w 1600"/>
              <a:gd name="T37" fmla="*/ 387 h 496"/>
              <a:gd name="T38" fmla="*/ 1046 w 1600"/>
              <a:gd name="T39" fmla="*/ 408 h 496"/>
              <a:gd name="T40" fmla="*/ 767 w 1600"/>
              <a:gd name="T41" fmla="*/ 372 h 496"/>
              <a:gd name="T42" fmla="*/ 755 w 1600"/>
              <a:gd name="T43" fmla="*/ 441 h 496"/>
              <a:gd name="T44" fmla="*/ 783 w 1600"/>
              <a:gd name="T45" fmla="*/ 442 h 496"/>
              <a:gd name="T46" fmla="*/ 806 w 1600"/>
              <a:gd name="T47" fmla="*/ 372 h 496"/>
              <a:gd name="T48" fmla="*/ 1551 w 1600"/>
              <a:gd name="T49" fmla="*/ 444 h 496"/>
              <a:gd name="T50" fmla="*/ 1544 w 1600"/>
              <a:gd name="T51" fmla="*/ 441 h 496"/>
              <a:gd name="T52" fmla="*/ 1572 w 1600"/>
              <a:gd name="T53" fmla="*/ 446 h 496"/>
              <a:gd name="T54" fmla="*/ 1556 w 1600"/>
              <a:gd name="T55" fmla="*/ 457 h 496"/>
              <a:gd name="T56" fmla="*/ 1576 w 1600"/>
              <a:gd name="T57" fmla="*/ 441 h 496"/>
              <a:gd name="T58" fmla="*/ 1549 w 1600"/>
              <a:gd name="T59" fmla="*/ 372 h 496"/>
              <a:gd name="T60" fmla="*/ 1497 w 1600"/>
              <a:gd name="T61" fmla="*/ 468 h 496"/>
              <a:gd name="T62" fmla="*/ 746 w 1600"/>
              <a:gd name="T63" fmla="*/ 269 h 496"/>
              <a:gd name="T64" fmla="*/ 752 w 1600"/>
              <a:gd name="T65" fmla="*/ 182 h 496"/>
              <a:gd name="T66" fmla="*/ 795 w 1600"/>
              <a:gd name="T67" fmla="*/ 104 h 496"/>
              <a:gd name="T68" fmla="*/ 342 w 1600"/>
              <a:gd name="T69" fmla="*/ 187 h 496"/>
              <a:gd name="T70" fmla="*/ 404 w 1600"/>
              <a:gd name="T71" fmla="*/ 181 h 496"/>
              <a:gd name="T72" fmla="*/ 1515 w 1600"/>
              <a:gd name="T73" fmla="*/ 223 h 496"/>
              <a:gd name="T74" fmla="*/ 1445 w 1600"/>
              <a:gd name="T75" fmla="*/ 100 h 496"/>
              <a:gd name="T76" fmla="*/ 1515 w 1600"/>
              <a:gd name="T77" fmla="*/ 223 h 496"/>
              <a:gd name="T78" fmla="*/ 1384 w 1600"/>
              <a:gd name="T79" fmla="*/ 61 h 496"/>
              <a:gd name="T80" fmla="*/ 1354 w 1600"/>
              <a:gd name="T81" fmla="*/ 221 h 496"/>
              <a:gd name="T82" fmla="*/ 1384 w 1600"/>
              <a:gd name="T83" fmla="*/ 61 h 496"/>
              <a:gd name="T84" fmla="*/ 1113 w 1600"/>
              <a:gd name="T85" fmla="*/ 269 h 496"/>
              <a:gd name="T86" fmla="*/ 1244 w 1600"/>
              <a:gd name="T87" fmla="*/ 153 h 496"/>
              <a:gd name="T88" fmla="*/ 1184 w 1600"/>
              <a:gd name="T89" fmla="*/ 165 h 496"/>
              <a:gd name="T90" fmla="*/ 261 w 1600"/>
              <a:gd name="T91" fmla="*/ 226 h 496"/>
              <a:gd name="T92" fmla="*/ 321 w 1600"/>
              <a:gd name="T93" fmla="*/ 81 h 496"/>
              <a:gd name="T94" fmla="*/ 226 w 1600"/>
              <a:gd name="T95" fmla="*/ 221 h 496"/>
              <a:gd name="T96" fmla="*/ 943 w 1600"/>
              <a:gd name="T97" fmla="*/ 269 h 496"/>
              <a:gd name="T98" fmla="*/ 932 w 1600"/>
              <a:gd name="T99" fmla="*/ 64 h 496"/>
              <a:gd name="T100" fmla="*/ 966 w 1600"/>
              <a:gd name="T101" fmla="*/ 109 h 496"/>
              <a:gd name="T102" fmla="*/ 91 w 1600"/>
              <a:gd name="T103" fmla="*/ 64 h 496"/>
              <a:gd name="T104" fmla="*/ 154 w 1600"/>
              <a:gd name="T105" fmla="*/ 121 h 496"/>
              <a:gd name="T106" fmla="*/ 621 w 1600"/>
              <a:gd name="T107" fmla="*/ 265 h 496"/>
              <a:gd name="T108" fmla="*/ 579 w 1600"/>
              <a:gd name="T109" fmla="*/ 156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600" h="496">
                <a:moveTo>
                  <a:pt x="1241" y="405"/>
                </a:moveTo>
                <a:cubicBezTo>
                  <a:pt x="1241" y="434"/>
                  <a:pt x="1221" y="459"/>
                  <a:pt x="1192" y="459"/>
                </a:cubicBezTo>
                <a:cubicBezTo>
                  <a:pt x="1171" y="459"/>
                  <a:pt x="1158" y="444"/>
                  <a:pt x="1158" y="424"/>
                </a:cubicBezTo>
                <a:cubicBezTo>
                  <a:pt x="1158" y="395"/>
                  <a:pt x="1178" y="370"/>
                  <a:pt x="1207" y="370"/>
                </a:cubicBezTo>
                <a:cubicBezTo>
                  <a:pt x="1229" y="370"/>
                  <a:pt x="1241" y="387"/>
                  <a:pt x="1241" y="405"/>
                </a:cubicBezTo>
                <a:close/>
                <a:moveTo>
                  <a:pt x="1179" y="423"/>
                </a:moveTo>
                <a:cubicBezTo>
                  <a:pt x="1179" y="435"/>
                  <a:pt x="1185" y="443"/>
                  <a:pt x="1195" y="443"/>
                </a:cubicBezTo>
                <a:cubicBezTo>
                  <a:pt x="1210" y="443"/>
                  <a:pt x="1220" y="422"/>
                  <a:pt x="1220" y="406"/>
                </a:cubicBezTo>
                <a:cubicBezTo>
                  <a:pt x="1220" y="397"/>
                  <a:pt x="1216" y="386"/>
                  <a:pt x="1204" y="386"/>
                </a:cubicBezTo>
                <a:cubicBezTo>
                  <a:pt x="1188" y="386"/>
                  <a:pt x="1179" y="408"/>
                  <a:pt x="1179" y="423"/>
                </a:cubicBezTo>
                <a:close/>
                <a:moveTo>
                  <a:pt x="1379" y="405"/>
                </a:moveTo>
                <a:cubicBezTo>
                  <a:pt x="1379" y="434"/>
                  <a:pt x="1359" y="459"/>
                  <a:pt x="1330" y="459"/>
                </a:cubicBezTo>
                <a:cubicBezTo>
                  <a:pt x="1309" y="459"/>
                  <a:pt x="1296" y="444"/>
                  <a:pt x="1296" y="424"/>
                </a:cubicBezTo>
                <a:cubicBezTo>
                  <a:pt x="1296" y="395"/>
                  <a:pt x="1316" y="370"/>
                  <a:pt x="1345" y="370"/>
                </a:cubicBezTo>
                <a:cubicBezTo>
                  <a:pt x="1367" y="370"/>
                  <a:pt x="1379" y="387"/>
                  <a:pt x="1379" y="405"/>
                </a:cubicBezTo>
                <a:close/>
                <a:moveTo>
                  <a:pt x="1317" y="423"/>
                </a:moveTo>
                <a:cubicBezTo>
                  <a:pt x="1317" y="435"/>
                  <a:pt x="1323" y="443"/>
                  <a:pt x="1333" y="443"/>
                </a:cubicBezTo>
                <a:cubicBezTo>
                  <a:pt x="1348" y="443"/>
                  <a:pt x="1358" y="422"/>
                  <a:pt x="1358" y="406"/>
                </a:cubicBezTo>
                <a:cubicBezTo>
                  <a:pt x="1358" y="397"/>
                  <a:pt x="1354" y="386"/>
                  <a:pt x="1342" y="386"/>
                </a:cubicBezTo>
                <a:cubicBezTo>
                  <a:pt x="1326" y="386"/>
                  <a:pt x="1317" y="408"/>
                  <a:pt x="1317" y="423"/>
                </a:cubicBezTo>
                <a:close/>
                <a:moveTo>
                  <a:pt x="1272" y="344"/>
                </a:moveTo>
                <a:cubicBezTo>
                  <a:pt x="1250" y="457"/>
                  <a:pt x="1250" y="457"/>
                  <a:pt x="1250" y="457"/>
                </a:cubicBezTo>
                <a:cubicBezTo>
                  <a:pt x="1270" y="457"/>
                  <a:pt x="1270" y="457"/>
                  <a:pt x="1270" y="457"/>
                </a:cubicBezTo>
                <a:cubicBezTo>
                  <a:pt x="1292" y="344"/>
                  <a:pt x="1292" y="344"/>
                  <a:pt x="1292" y="344"/>
                </a:cubicBezTo>
                <a:lnTo>
                  <a:pt x="1272" y="344"/>
                </a:lnTo>
                <a:close/>
                <a:moveTo>
                  <a:pt x="945" y="371"/>
                </a:moveTo>
                <a:cubicBezTo>
                  <a:pt x="913" y="371"/>
                  <a:pt x="891" y="395"/>
                  <a:pt x="891" y="425"/>
                </a:cubicBezTo>
                <a:cubicBezTo>
                  <a:pt x="891" y="445"/>
                  <a:pt x="904" y="459"/>
                  <a:pt x="925" y="459"/>
                </a:cubicBezTo>
                <a:cubicBezTo>
                  <a:pt x="936" y="459"/>
                  <a:pt x="945" y="456"/>
                  <a:pt x="950" y="454"/>
                </a:cubicBezTo>
                <a:cubicBezTo>
                  <a:pt x="953" y="436"/>
                  <a:pt x="953" y="436"/>
                  <a:pt x="953" y="436"/>
                </a:cubicBezTo>
                <a:cubicBezTo>
                  <a:pt x="950" y="438"/>
                  <a:pt x="942" y="442"/>
                  <a:pt x="931" y="442"/>
                </a:cubicBezTo>
                <a:cubicBezTo>
                  <a:pt x="919" y="442"/>
                  <a:pt x="912" y="435"/>
                  <a:pt x="912" y="423"/>
                </a:cubicBezTo>
                <a:cubicBezTo>
                  <a:pt x="912" y="405"/>
                  <a:pt x="924" y="387"/>
                  <a:pt x="944" y="387"/>
                </a:cubicBezTo>
                <a:cubicBezTo>
                  <a:pt x="951" y="387"/>
                  <a:pt x="956" y="389"/>
                  <a:pt x="959" y="391"/>
                </a:cubicBezTo>
                <a:cubicBezTo>
                  <a:pt x="963" y="374"/>
                  <a:pt x="963" y="374"/>
                  <a:pt x="963" y="374"/>
                </a:cubicBezTo>
                <a:cubicBezTo>
                  <a:pt x="960" y="373"/>
                  <a:pt x="953" y="371"/>
                  <a:pt x="945" y="371"/>
                </a:cubicBezTo>
                <a:close/>
                <a:moveTo>
                  <a:pt x="829" y="434"/>
                </a:moveTo>
                <a:cubicBezTo>
                  <a:pt x="827" y="431"/>
                  <a:pt x="826" y="425"/>
                  <a:pt x="826" y="422"/>
                </a:cubicBezTo>
                <a:cubicBezTo>
                  <a:pt x="859" y="423"/>
                  <a:pt x="882" y="416"/>
                  <a:pt x="882" y="394"/>
                </a:cubicBezTo>
                <a:cubicBezTo>
                  <a:pt x="882" y="380"/>
                  <a:pt x="871" y="370"/>
                  <a:pt x="855" y="370"/>
                </a:cubicBezTo>
                <a:cubicBezTo>
                  <a:pt x="825" y="370"/>
                  <a:pt x="807" y="398"/>
                  <a:pt x="807" y="424"/>
                </a:cubicBezTo>
                <a:cubicBezTo>
                  <a:pt x="807" y="445"/>
                  <a:pt x="818" y="459"/>
                  <a:pt x="841" y="459"/>
                </a:cubicBezTo>
                <a:cubicBezTo>
                  <a:pt x="853" y="459"/>
                  <a:pt x="865" y="456"/>
                  <a:pt x="873" y="451"/>
                </a:cubicBezTo>
                <a:cubicBezTo>
                  <a:pt x="877" y="433"/>
                  <a:pt x="877" y="433"/>
                  <a:pt x="877" y="433"/>
                </a:cubicBezTo>
                <a:cubicBezTo>
                  <a:pt x="870" y="438"/>
                  <a:pt x="860" y="443"/>
                  <a:pt x="846" y="443"/>
                </a:cubicBezTo>
                <a:cubicBezTo>
                  <a:pt x="838" y="443"/>
                  <a:pt x="832" y="440"/>
                  <a:pt x="829" y="434"/>
                </a:cubicBezTo>
                <a:close/>
                <a:moveTo>
                  <a:pt x="852" y="385"/>
                </a:moveTo>
                <a:cubicBezTo>
                  <a:pt x="858" y="385"/>
                  <a:pt x="863" y="389"/>
                  <a:pt x="863" y="394"/>
                </a:cubicBezTo>
                <a:cubicBezTo>
                  <a:pt x="863" y="404"/>
                  <a:pt x="849" y="407"/>
                  <a:pt x="828" y="407"/>
                </a:cubicBezTo>
                <a:cubicBezTo>
                  <a:pt x="831" y="397"/>
                  <a:pt x="839" y="385"/>
                  <a:pt x="852" y="385"/>
                </a:cubicBezTo>
                <a:close/>
                <a:moveTo>
                  <a:pt x="1445" y="370"/>
                </a:moveTo>
                <a:cubicBezTo>
                  <a:pt x="1409" y="370"/>
                  <a:pt x="1390" y="402"/>
                  <a:pt x="1390" y="429"/>
                </a:cubicBezTo>
                <a:cubicBezTo>
                  <a:pt x="1390" y="444"/>
                  <a:pt x="1398" y="459"/>
                  <a:pt x="1416" y="459"/>
                </a:cubicBezTo>
                <a:cubicBezTo>
                  <a:pt x="1427" y="459"/>
                  <a:pt x="1437" y="454"/>
                  <a:pt x="1444" y="444"/>
                </a:cubicBezTo>
                <a:cubicBezTo>
                  <a:pt x="1442" y="451"/>
                  <a:pt x="1442" y="451"/>
                  <a:pt x="1442" y="451"/>
                </a:cubicBezTo>
                <a:cubicBezTo>
                  <a:pt x="1438" y="471"/>
                  <a:pt x="1428" y="477"/>
                  <a:pt x="1415" y="477"/>
                </a:cubicBezTo>
                <a:cubicBezTo>
                  <a:pt x="1407" y="477"/>
                  <a:pt x="1397" y="475"/>
                  <a:pt x="1392" y="472"/>
                </a:cubicBezTo>
                <a:cubicBezTo>
                  <a:pt x="1389" y="489"/>
                  <a:pt x="1389" y="489"/>
                  <a:pt x="1389" y="489"/>
                </a:cubicBezTo>
                <a:cubicBezTo>
                  <a:pt x="1395" y="492"/>
                  <a:pt x="1404" y="494"/>
                  <a:pt x="1414" y="494"/>
                </a:cubicBezTo>
                <a:cubicBezTo>
                  <a:pt x="1425" y="494"/>
                  <a:pt x="1437" y="491"/>
                  <a:pt x="1446" y="484"/>
                </a:cubicBezTo>
                <a:cubicBezTo>
                  <a:pt x="1456" y="476"/>
                  <a:pt x="1460" y="463"/>
                  <a:pt x="1464" y="446"/>
                </a:cubicBezTo>
                <a:cubicBezTo>
                  <a:pt x="1471" y="408"/>
                  <a:pt x="1471" y="408"/>
                  <a:pt x="1471" y="408"/>
                </a:cubicBezTo>
                <a:cubicBezTo>
                  <a:pt x="1472" y="403"/>
                  <a:pt x="1473" y="398"/>
                  <a:pt x="1473" y="393"/>
                </a:cubicBezTo>
                <a:cubicBezTo>
                  <a:pt x="1473" y="378"/>
                  <a:pt x="1462" y="370"/>
                  <a:pt x="1445" y="370"/>
                </a:cubicBezTo>
                <a:close/>
                <a:moveTo>
                  <a:pt x="1451" y="407"/>
                </a:moveTo>
                <a:cubicBezTo>
                  <a:pt x="1449" y="415"/>
                  <a:pt x="1449" y="415"/>
                  <a:pt x="1449" y="415"/>
                </a:cubicBezTo>
                <a:cubicBezTo>
                  <a:pt x="1446" y="432"/>
                  <a:pt x="1435" y="443"/>
                  <a:pt x="1425" y="443"/>
                </a:cubicBezTo>
                <a:cubicBezTo>
                  <a:pt x="1415" y="443"/>
                  <a:pt x="1411" y="435"/>
                  <a:pt x="1411" y="425"/>
                </a:cubicBezTo>
                <a:cubicBezTo>
                  <a:pt x="1411" y="409"/>
                  <a:pt x="1423" y="386"/>
                  <a:pt x="1441" y="386"/>
                </a:cubicBezTo>
                <a:cubicBezTo>
                  <a:pt x="1448" y="386"/>
                  <a:pt x="1452" y="390"/>
                  <a:pt x="1452" y="397"/>
                </a:cubicBezTo>
                <a:cubicBezTo>
                  <a:pt x="1452" y="401"/>
                  <a:pt x="1452" y="404"/>
                  <a:pt x="1451" y="407"/>
                </a:cubicBezTo>
                <a:close/>
                <a:moveTo>
                  <a:pt x="1144" y="394"/>
                </a:moveTo>
                <a:cubicBezTo>
                  <a:pt x="1144" y="378"/>
                  <a:pt x="1134" y="370"/>
                  <a:pt x="1122" y="370"/>
                </a:cubicBezTo>
                <a:cubicBezTo>
                  <a:pt x="1110" y="370"/>
                  <a:pt x="1099" y="376"/>
                  <a:pt x="1091" y="388"/>
                </a:cubicBezTo>
                <a:cubicBezTo>
                  <a:pt x="1094" y="372"/>
                  <a:pt x="1094" y="372"/>
                  <a:pt x="1094" y="372"/>
                </a:cubicBezTo>
                <a:cubicBezTo>
                  <a:pt x="1076" y="372"/>
                  <a:pt x="1076" y="372"/>
                  <a:pt x="1076" y="372"/>
                </a:cubicBezTo>
                <a:cubicBezTo>
                  <a:pt x="1060" y="457"/>
                  <a:pt x="1060" y="457"/>
                  <a:pt x="1060" y="457"/>
                </a:cubicBezTo>
                <a:cubicBezTo>
                  <a:pt x="1080" y="457"/>
                  <a:pt x="1080" y="457"/>
                  <a:pt x="1080" y="457"/>
                </a:cubicBezTo>
                <a:cubicBezTo>
                  <a:pt x="1087" y="418"/>
                  <a:pt x="1087" y="418"/>
                  <a:pt x="1087" y="418"/>
                </a:cubicBezTo>
                <a:cubicBezTo>
                  <a:pt x="1091" y="398"/>
                  <a:pt x="1103" y="387"/>
                  <a:pt x="1112" y="387"/>
                </a:cubicBezTo>
                <a:cubicBezTo>
                  <a:pt x="1120" y="387"/>
                  <a:pt x="1123" y="392"/>
                  <a:pt x="1123" y="399"/>
                </a:cubicBezTo>
                <a:cubicBezTo>
                  <a:pt x="1123" y="402"/>
                  <a:pt x="1122" y="406"/>
                  <a:pt x="1122" y="409"/>
                </a:cubicBezTo>
                <a:cubicBezTo>
                  <a:pt x="1112" y="457"/>
                  <a:pt x="1112" y="457"/>
                  <a:pt x="1112" y="457"/>
                </a:cubicBezTo>
                <a:cubicBezTo>
                  <a:pt x="1133" y="457"/>
                  <a:pt x="1133" y="457"/>
                  <a:pt x="1133" y="457"/>
                </a:cubicBezTo>
                <a:cubicBezTo>
                  <a:pt x="1142" y="408"/>
                  <a:pt x="1142" y="408"/>
                  <a:pt x="1142" y="408"/>
                </a:cubicBezTo>
                <a:cubicBezTo>
                  <a:pt x="1143" y="403"/>
                  <a:pt x="1144" y="398"/>
                  <a:pt x="1144" y="394"/>
                </a:cubicBezTo>
                <a:close/>
                <a:moveTo>
                  <a:pt x="1026" y="370"/>
                </a:moveTo>
                <a:cubicBezTo>
                  <a:pt x="1015" y="370"/>
                  <a:pt x="1006" y="375"/>
                  <a:pt x="998" y="384"/>
                </a:cubicBezTo>
                <a:cubicBezTo>
                  <a:pt x="1006" y="344"/>
                  <a:pt x="1006" y="344"/>
                  <a:pt x="1006" y="344"/>
                </a:cubicBezTo>
                <a:cubicBezTo>
                  <a:pt x="985" y="344"/>
                  <a:pt x="985" y="344"/>
                  <a:pt x="985" y="344"/>
                </a:cubicBezTo>
                <a:cubicBezTo>
                  <a:pt x="964" y="457"/>
                  <a:pt x="964" y="457"/>
                  <a:pt x="964" y="457"/>
                </a:cubicBezTo>
                <a:cubicBezTo>
                  <a:pt x="984" y="457"/>
                  <a:pt x="984" y="457"/>
                  <a:pt x="984" y="457"/>
                </a:cubicBezTo>
                <a:cubicBezTo>
                  <a:pt x="991" y="418"/>
                  <a:pt x="991" y="418"/>
                  <a:pt x="991" y="418"/>
                </a:cubicBezTo>
                <a:cubicBezTo>
                  <a:pt x="991" y="418"/>
                  <a:pt x="991" y="418"/>
                  <a:pt x="991" y="418"/>
                </a:cubicBezTo>
                <a:cubicBezTo>
                  <a:pt x="995" y="398"/>
                  <a:pt x="1007" y="387"/>
                  <a:pt x="1016" y="387"/>
                </a:cubicBezTo>
                <a:cubicBezTo>
                  <a:pt x="1024" y="387"/>
                  <a:pt x="1027" y="392"/>
                  <a:pt x="1027" y="399"/>
                </a:cubicBezTo>
                <a:cubicBezTo>
                  <a:pt x="1027" y="402"/>
                  <a:pt x="1026" y="406"/>
                  <a:pt x="1026" y="409"/>
                </a:cubicBezTo>
                <a:cubicBezTo>
                  <a:pt x="1017" y="457"/>
                  <a:pt x="1017" y="457"/>
                  <a:pt x="1017" y="457"/>
                </a:cubicBezTo>
                <a:cubicBezTo>
                  <a:pt x="1037" y="457"/>
                  <a:pt x="1037" y="457"/>
                  <a:pt x="1037" y="457"/>
                </a:cubicBezTo>
                <a:cubicBezTo>
                  <a:pt x="1046" y="408"/>
                  <a:pt x="1046" y="408"/>
                  <a:pt x="1046" y="408"/>
                </a:cubicBezTo>
                <a:cubicBezTo>
                  <a:pt x="1047" y="403"/>
                  <a:pt x="1048" y="398"/>
                  <a:pt x="1048" y="394"/>
                </a:cubicBezTo>
                <a:cubicBezTo>
                  <a:pt x="1048" y="378"/>
                  <a:pt x="1038" y="370"/>
                  <a:pt x="1026" y="370"/>
                </a:cubicBezTo>
                <a:close/>
                <a:moveTo>
                  <a:pt x="791" y="350"/>
                </a:moveTo>
                <a:cubicBezTo>
                  <a:pt x="771" y="350"/>
                  <a:pt x="771" y="350"/>
                  <a:pt x="771" y="350"/>
                </a:cubicBezTo>
                <a:cubicBezTo>
                  <a:pt x="767" y="372"/>
                  <a:pt x="767" y="372"/>
                  <a:pt x="767" y="372"/>
                </a:cubicBezTo>
                <a:cubicBezTo>
                  <a:pt x="755" y="372"/>
                  <a:pt x="755" y="372"/>
                  <a:pt x="755" y="372"/>
                </a:cubicBezTo>
                <a:cubicBezTo>
                  <a:pt x="752" y="388"/>
                  <a:pt x="752" y="388"/>
                  <a:pt x="752" y="388"/>
                </a:cubicBezTo>
                <a:cubicBezTo>
                  <a:pt x="764" y="388"/>
                  <a:pt x="764" y="388"/>
                  <a:pt x="764" y="388"/>
                </a:cubicBezTo>
                <a:cubicBezTo>
                  <a:pt x="756" y="426"/>
                  <a:pt x="756" y="426"/>
                  <a:pt x="756" y="426"/>
                </a:cubicBezTo>
                <a:cubicBezTo>
                  <a:pt x="755" y="432"/>
                  <a:pt x="755" y="437"/>
                  <a:pt x="755" y="441"/>
                </a:cubicBezTo>
                <a:cubicBezTo>
                  <a:pt x="755" y="451"/>
                  <a:pt x="761" y="459"/>
                  <a:pt x="775" y="459"/>
                </a:cubicBezTo>
                <a:cubicBezTo>
                  <a:pt x="780" y="459"/>
                  <a:pt x="785" y="458"/>
                  <a:pt x="788" y="457"/>
                </a:cubicBezTo>
                <a:cubicBezTo>
                  <a:pt x="788" y="457"/>
                  <a:pt x="788" y="457"/>
                  <a:pt x="788" y="457"/>
                </a:cubicBezTo>
                <a:cubicBezTo>
                  <a:pt x="791" y="441"/>
                  <a:pt x="791" y="441"/>
                  <a:pt x="791" y="441"/>
                </a:cubicBezTo>
                <a:cubicBezTo>
                  <a:pt x="789" y="442"/>
                  <a:pt x="786" y="442"/>
                  <a:pt x="783" y="442"/>
                </a:cubicBezTo>
                <a:cubicBezTo>
                  <a:pt x="777" y="442"/>
                  <a:pt x="775" y="439"/>
                  <a:pt x="775" y="434"/>
                </a:cubicBezTo>
                <a:cubicBezTo>
                  <a:pt x="775" y="430"/>
                  <a:pt x="776" y="426"/>
                  <a:pt x="777" y="422"/>
                </a:cubicBezTo>
                <a:cubicBezTo>
                  <a:pt x="784" y="388"/>
                  <a:pt x="784" y="388"/>
                  <a:pt x="784" y="388"/>
                </a:cubicBezTo>
                <a:cubicBezTo>
                  <a:pt x="803" y="388"/>
                  <a:pt x="803" y="388"/>
                  <a:pt x="803" y="388"/>
                </a:cubicBezTo>
                <a:cubicBezTo>
                  <a:pt x="806" y="372"/>
                  <a:pt x="806" y="372"/>
                  <a:pt x="806" y="372"/>
                </a:cubicBezTo>
                <a:cubicBezTo>
                  <a:pt x="787" y="372"/>
                  <a:pt x="787" y="372"/>
                  <a:pt x="787" y="372"/>
                </a:cubicBezTo>
                <a:lnTo>
                  <a:pt x="791" y="350"/>
                </a:lnTo>
                <a:close/>
                <a:moveTo>
                  <a:pt x="1556" y="441"/>
                </a:moveTo>
                <a:cubicBezTo>
                  <a:pt x="1556" y="444"/>
                  <a:pt x="1556" y="444"/>
                  <a:pt x="1556" y="444"/>
                </a:cubicBezTo>
                <a:cubicBezTo>
                  <a:pt x="1551" y="444"/>
                  <a:pt x="1551" y="444"/>
                  <a:pt x="1551" y="444"/>
                </a:cubicBezTo>
                <a:cubicBezTo>
                  <a:pt x="1548" y="457"/>
                  <a:pt x="1548" y="457"/>
                  <a:pt x="1548" y="457"/>
                </a:cubicBezTo>
                <a:cubicBezTo>
                  <a:pt x="1546" y="457"/>
                  <a:pt x="1546" y="457"/>
                  <a:pt x="1546" y="457"/>
                </a:cubicBezTo>
                <a:cubicBezTo>
                  <a:pt x="1548" y="444"/>
                  <a:pt x="1548" y="444"/>
                  <a:pt x="1548" y="444"/>
                </a:cubicBezTo>
                <a:cubicBezTo>
                  <a:pt x="1543" y="444"/>
                  <a:pt x="1543" y="444"/>
                  <a:pt x="1543" y="444"/>
                </a:cubicBezTo>
                <a:cubicBezTo>
                  <a:pt x="1544" y="441"/>
                  <a:pt x="1544" y="441"/>
                  <a:pt x="1544" y="441"/>
                </a:cubicBezTo>
                <a:lnTo>
                  <a:pt x="1556" y="441"/>
                </a:lnTo>
                <a:close/>
                <a:moveTo>
                  <a:pt x="1576" y="441"/>
                </a:moveTo>
                <a:cubicBezTo>
                  <a:pt x="1573" y="457"/>
                  <a:pt x="1573" y="457"/>
                  <a:pt x="1573" y="457"/>
                </a:cubicBezTo>
                <a:cubicBezTo>
                  <a:pt x="1570" y="457"/>
                  <a:pt x="1570" y="457"/>
                  <a:pt x="1570" y="457"/>
                </a:cubicBezTo>
                <a:cubicBezTo>
                  <a:pt x="1572" y="446"/>
                  <a:pt x="1572" y="446"/>
                  <a:pt x="1572" y="446"/>
                </a:cubicBezTo>
                <a:cubicBezTo>
                  <a:pt x="1566" y="454"/>
                  <a:pt x="1566" y="454"/>
                  <a:pt x="1566" y="454"/>
                </a:cubicBezTo>
                <a:cubicBezTo>
                  <a:pt x="1564" y="454"/>
                  <a:pt x="1564" y="454"/>
                  <a:pt x="1564" y="454"/>
                </a:cubicBezTo>
                <a:cubicBezTo>
                  <a:pt x="1561" y="446"/>
                  <a:pt x="1561" y="446"/>
                  <a:pt x="1561" y="446"/>
                </a:cubicBezTo>
                <a:cubicBezTo>
                  <a:pt x="1559" y="457"/>
                  <a:pt x="1559" y="457"/>
                  <a:pt x="1559" y="457"/>
                </a:cubicBezTo>
                <a:cubicBezTo>
                  <a:pt x="1556" y="457"/>
                  <a:pt x="1556" y="457"/>
                  <a:pt x="1556" y="457"/>
                </a:cubicBezTo>
                <a:cubicBezTo>
                  <a:pt x="1559" y="441"/>
                  <a:pt x="1559" y="441"/>
                  <a:pt x="1559" y="441"/>
                </a:cubicBezTo>
                <a:cubicBezTo>
                  <a:pt x="1561" y="441"/>
                  <a:pt x="1561" y="441"/>
                  <a:pt x="1561" y="441"/>
                </a:cubicBezTo>
                <a:cubicBezTo>
                  <a:pt x="1566" y="450"/>
                  <a:pt x="1566" y="450"/>
                  <a:pt x="1566" y="450"/>
                </a:cubicBezTo>
                <a:cubicBezTo>
                  <a:pt x="1573" y="441"/>
                  <a:pt x="1573" y="441"/>
                  <a:pt x="1573" y="441"/>
                </a:cubicBezTo>
                <a:lnTo>
                  <a:pt x="1576" y="441"/>
                </a:lnTo>
                <a:close/>
                <a:moveTo>
                  <a:pt x="1472" y="489"/>
                </a:moveTo>
                <a:cubicBezTo>
                  <a:pt x="1488" y="496"/>
                  <a:pt x="1503" y="493"/>
                  <a:pt x="1514" y="473"/>
                </a:cubicBezTo>
                <a:cubicBezTo>
                  <a:pt x="1514" y="473"/>
                  <a:pt x="1514" y="473"/>
                  <a:pt x="1514" y="473"/>
                </a:cubicBezTo>
                <a:cubicBezTo>
                  <a:pt x="1571" y="372"/>
                  <a:pt x="1571" y="372"/>
                  <a:pt x="1571" y="372"/>
                </a:cubicBezTo>
                <a:cubicBezTo>
                  <a:pt x="1549" y="372"/>
                  <a:pt x="1549" y="372"/>
                  <a:pt x="1549" y="372"/>
                </a:cubicBezTo>
                <a:cubicBezTo>
                  <a:pt x="1517" y="435"/>
                  <a:pt x="1517" y="435"/>
                  <a:pt x="1517" y="435"/>
                </a:cubicBezTo>
                <a:cubicBezTo>
                  <a:pt x="1509" y="372"/>
                  <a:pt x="1509" y="372"/>
                  <a:pt x="1509" y="372"/>
                </a:cubicBezTo>
                <a:cubicBezTo>
                  <a:pt x="1488" y="372"/>
                  <a:pt x="1488" y="372"/>
                  <a:pt x="1488" y="372"/>
                </a:cubicBezTo>
                <a:cubicBezTo>
                  <a:pt x="1503" y="455"/>
                  <a:pt x="1503" y="455"/>
                  <a:pt x="1503" y="455"/>
                </a:cubicBezTo>
                <a:cubicBezTo>
                  <a:pt x="1497" y="468"/>
                  <a:pt x="1497" y="468"/>
                  <a:pt x="1497" y="468"/>
                </a:cubicBezTo>
                <a:cubicBezTo>
                  <a:pt x="1491" y="478"/>
                  <a:pt x="1480" y="475"/>
                  <a:pt x="1475" y="472"/>
                </a:cubicBezTo>
                <a:lnTo>
                  <a:pt x="1472" y="489"/>
                </a:lnTo>
                <a:close/>
                <a:moveTo>
                  <a:pt x="838" y="199"/>
                </a:moveTo>
                <a:cubicBezTo>
                  <a:pt x="838" y="217"/>
                  <a:pt x="832" y="232"/>
                  <a:pt x="820" y="244"/>
                </a:cubicBezTo>
                <a:cubicBezTo>
                  <a:pt x="804" y="260"/>
                  <a:pt x="778" y="269"/>
                  <a:pt x="746" y="269"/>
                </a:cubicBezTo>
                <a:cubicBezTo>
                  <a:pt x="724" y="269"/>
                  <a:pt x="701" y="263"/>
                  <a:pt x="688" y="255"/>
                </a:cubicBezTo>
                <a:cubicBezTo>
                  <a:pt x="696" y="210"/>
                  <a:pt x="696" y="210"/>
                  <a:pt x="696" y="210"/>
                </a:cubicBezTo>
                <a:cubicBezTo>
                  <a:pt x="710" y="218"/>
                  <a:pt x="734" y="226"/>
                  <a:pt x="752" y="226"/>
                </a:cubicBezTo>
                <a:cubicBezTo>
                  <a:pt x="767" y="226"/>
                  <a:pt x="776" y="219"/>
                  <a:pt x="776" y="208"/>
                </a:cubicBezTo>
                <a:cubicBezTo>
                  <a:pt x="776" y="198"/>
                  <a:pt x="769" y="191"/>
                  <a:pt x="752" y="182"/>
                </a:cubicBezTo>
                <a:cubicBezTo>
                  <a:pt x="724" y="168"/>
                  <a:pt x="710" y="151"/>
                  <a:pt x="710" y="130"/>
                </a:cubicBezTo>
                <a:cubicBezTo>
                  <a:pt x="710" y="88"/>
                  <a:pt x="745" y="60"/>
                  <a:pt x="798" y="60"/>
                </a:cubicBezTo>
                <a:cubicBezTo>
                  <a:pt x="825" y="60"/>
                  <a:pt x="844" y="67"/>
                  <a:pt x="854" y="73"/>
                </a:cubicBezTo>
                <a:cubicBezTo>
                  <a:pt x="845" y="119"/>
                  <a:pt x="845" y="119"/>
                  <a:pt x="845" y="119"/>
                </a:cubicBezTo>
                <a:cubicBezTo>
                  <a:pt x="837" y="113"/>
                  <a:pt x="817" y="104"/>
                  <a:pt x="795" y="104"/>
                </a:cubicBezTo>
                <a:cubicBezTo>
                  <a:pt x="779" y="104"/>
                  <a:pt x="769" y="111"/>
                  <a:pt x="769" y="121"/>
                </a:cubicBezTo>
                <a:cubicBezTo>
                  <a:pt x="769" y="129"/>
                  <a:pt x="777" y="136"/>
                  <a:pt x="793" y="144"/>
                </a:cubicBezTo>
                <a:cubicBezTo>
                  <a:pt x="814" y="155"/>
                  <a:pt x="838" y="170"/>
                  <a:pt x="838" y="199"/>
                </a:cubicBezTo>
                <a:close/>
                <a:moveTo>
                  <a:pt x="472" y="61"/>
                </a:moveTo>
                <a:cubicBezTo>
                  <a:pt x="398" y="61"/>
                  <a:pt x="342" y="115"/>
                  <a:pt x="342" y="187"/>
                </a:cubicBezTo>
                <a:cubicBezTo>
                  <a:pt x="342" y="237"/>
                  <a:pt x="375" y="269"/>
                  <a:pt x="426" y="269"/>
                </a:cubicBezTo>
                <a:cubicBezTo>
                  <a:pt x="448" y="269"/>
                  <a:pt x="469" y="265"/>
                  <a:pt x="483" y="258"/>
                </a:cubicBezTo>
                <a:cubicBezTo>
                  <a:pt x="493" y="209"/>
                  <a:pt x="493" y="209"/>
                  <a:pt x="493" y="209"/>
                </a:cubicBezTo>
                <a:cubicBezTo>
                  <a:pt x="474" y="218"/>
                  <a:pt x="460" y="221"/>
                  <a:pt x="443" y="221"/>
                </a:cubicBezTo>
                <a:cubicBezTo>
                  <a:pt x="424" y="221"/>
                  <a:pt x="404" y="211"/>
                  <a:pt x="404" y="181"/>
                </a:cubicBezTo>
                <a:cubicBezTo>
                  <a:pt x="404" y="145"/>
                  <a:pt x="429" y="108"/>
                  <a:pt x="472" y="108"/>
                </a:cubicBezTo>
                <a:cubicBezTo>
                  <a:pt x="484" y="108"/>
                  <a:pt x="495" y="111"/>
                  <a:pt x="504" y="116"/>
                </a:cubicBezTo>
                <a:cubicBezTo>
                  <a:pt x="513" y="68"/>
                  <a:pt x="513" y="68"/>
                  <a:pt x="513" y="68"/>
                </a:cubicBezTo>
                <a:cubicBezTo>
                  <a:pt x="503" y="63"/>
                  <a:pt x="487" y="61"/>
                  <a:pt x="472" y="61"/>
                </a:cubicBezTo>
                <a:close/>
                <a:moveTo>
                  <a:pt x="1515" y="223"/>
                </a:moveTo>
                <a:cubicBezTo>
                  <a:pt x="1540" y="223"/>
                  <a:pt x="1561" y="217"/>
                  <a:pt x="1585" y="203"/>
                </a:cubicBezTo>
                <a:cubicBezTo>
                  <a:pt x="1575" y="253"/>
                  <a:pt x="1575" y="253"/>
                  <a:pt x="1575" y="253"/>
                </a:cubicBezTo>
                <a:cubicBezTo>
                  <a:pt x="1547" y="267"/>
                  <a:pt x="1514" y="269"/>
                  <a:pt x="1501" y="269"/>
                </a:cubicBezTo>
                <a:cubicBezTo>
                  <a:pt x="1445" y="269"/>
                  <a:pt x="1414" y="238"/>
                  <a:pt x="1414" y="185"/>
                </a:cubicBezTo>
                <a:cubicBezTo>
                  <a:pt x="1414" y="154"/>
                  <a:pt x="1425" y="123"/>
                  <a:pt x="1445" y="100"/>
                </a:cubicBezTo>
                <a:cubicBezTo>
                  <a:pt x="1467" y="74"/>
                  <a:pt x="1497" y="60"/>
                  <a:pt x="1530" y="60"/>
                </a:cubicBezTo>
                <a:cubicBezTo>
                  <a:pt x="1572" y="60"/>
                  <a:pt x="1600" y="85"/>
                  <a:pt x="1600" y="121"/>
                </a:cubicBezTo>
                <a:cubicBezTo>
                  <a:pt x="1600" y="137"/>
                  <a:pt x="1595" y="151"/>
                  <a:pt x="1584" y="161"/>
                </a:cubicBezTo>
                <a:cubicBezTo>
                  <a:pt x="1564" y="181"/>
                  <a:pt x="1515" y="192"/>
                  <a:pt x="1470" y="183"/>
                </a:cubicBezTo>
                <a:cubicBezTo>
                  <a:pt x="1468" y="208"/>
                  <a:pt x="1487" y="223"/>
                  <a:pt x="1515" y="223"/>
                </a:cubicBezTo>
                <a:close/>
                <a:moveTo>
                  <a:pt x="1477" y="144"/>
                </a:moveTo>
                <a:cubicBezTo>
                  <a:pt x="1511" y="145"/>
                  <a:pt x="1531" y="141"/>
                  <a:pt x="1539" y="133"/>
                </a:cubicBezTo>
                <a:cubicBezTo>
                  <a:pt x="1549" y="124"/>
                  <a:pt x="1546" y="104"/>
                  <a:pt x="1523" y="104"/>
                </a:cubicBezTo>
                <a:cubicBezTo>
                  <a:pt x="1497" y="104"/>
                  <a:pt x="1481" y="125"/>
                  <a:pt x="1477" y="144"/>
                </a:cubicBezTo>
                <a:close/>
                <a:moveTo>
                  <a:pt x="1384" y="61"/>
                </a:moveTo>
                <a:cubicBezTo>
                  <a:pt x="1309" y="61"/>
                  <a:pt x="1253" y="115"/>
                  <a:pt x="1253" y="187"/>
                </a:cubicBezTo>
                <a:cubicBezTo>
                  <a:pt x="1253" y="237"/>
                  <a:pt x="1287" y="269"/>
                  <a:pt x="1338" y="269"/>
                </a:cubicBezTo>
                <a:cubicBezTo>
                  <a:pt x="1360" y="269"/>
                  <a:pt x="1381" y="265"/>
                  <a:pt x="1395" y="258"/>
                </a:cubicBezTo>
                <a:cubicBezTo>
                  <a:pt x="1404" y="209"/>
                  <a:pt x="1404" y="209"/>
                  <a:pt x="1404" y="209"/>
                </a:cubicBezTo>
                <a:cubicBezTo>
                  <a:pt x="1386" y="218"/>
                  <a:pt x="1371" y="221"/>
                  <a:pt x="1354" y="221"/>
                </a:cubicBezTo>
                <a:cubicBezTo>
                  <a:pt x="1336" y="221"/>
                  <a:pt x="1316" y="211"/>
                  <a:pt x="1316" y="181"/>
                </a:cubicBezTo>
                <a:cubicBezTo>
                  <a:pt x="1316" y="145"/>
                  <a:pt x="1341" y="108"/>
                  <a:pt x="1383" y="108"/>
                </a:cubicBezTo>
                <a:cubicBezTo>
                  <a:pt x="1396" y="108"/>
                  <a:pt x="1407" y="111"/>
                  <a:pt x="1416" y="116"/>
                </a:cubicBezTo>
                <a:cubicBezTo>
                  <a:pt x="1425" y="68"/>
                  <a:pt x="1425" y="68"/>
                  <a:pt x="1425" y="68"/>
                </a:cubicBezTo>
                <a:cubicBezTo>
                  <a:pt x="1414" y="63"/>
                  <a:pt x="1399" y="61"/>
                  <a:pt x="1384" y="61"/>
                </a:cubicBezTo>
                <a:close/>
                <a:moveTo>
                  <a:pt x="1244" y="153"/>
                </a:moveTo>
                <a:cubicBezTo>
                  <a:pt x="1222" y="265"/>
                  <a:pt x="1222" y="265"/>
                  <a:pt x="1222" y="265"/>
                </a:cubicBezTo>
                <a:cubicBezTo>
                  <a:pt x="1166" y="265"/>
                  <a:pt x="1166" y="265"/>
                  <a:pt x="1166" y="265"/>
                </a:cubicBezTo>
                <a:cubicBezTo>
                  <a:pt x="1173" y="226"/>
                  <a:pt x="1173" y="226"/>
                  <a:pt x="1173" y="226"/>
                </a:cubicBezTo>
                <a:cubicBezTo>
                  <a:pt x="1165" y="250"/>
                  <a:pt x="1146" y="269"/>
                  <a:pt x="1113" y="269"/>
                </a:cubicBezTo>
                <a:cubicBezTo>
                  <a:pt x="1074" y="269"/>
                  <a:pt x="1056" y="234"/>
                  <a:pt x="1056" y="199"/>
                </a:cubicBezTo>
                <a:cubicBezTo>
                  <a:pt x="1056" y="160"/>
                  <a:pt x="1072" y="120"/>
                  <a:pt x="1098" y="94"/>
                </a:cubicBezTo>
                <a:cubicBezTo>
                  <a:pt x="1120" y="72"/>
                  <a:pt x="1148" y="60"/>
                  <a:pt x="1180" y="60"/>
                </a:cubicBezTo>
                <a:cubicBezTo>
                  <a:pt x="1204" y="61"/>
                  <a:pt x="1222" y="67"/>
                  <a:pt x="1233" y="81"/>
                </a:cubicBezTo>
                <a:cubicBezTo>
                  <a:pt x="1249" y="101"/>
                  <a:pt x="1248" y="131"/>
                  <a:pt x="1244" y="153"/>
                </a:cubicBezTo>
                <a:close/>
                <a:moveTo>
                  <a:pt x="1189" y="127"/>
                </a:moveTo>
                <a:cubicBezTo>
                  <a:pt x="1188" y="113"/>
                  <a:pt x="1181" y="105"/>
                  <a:pt x="1168" y="105"/>
                </a:cubicBezTo>
                <a:cubicBezTo>
                  <a:pt x="1140" y="105"/>
                  <a:pt x="1116" y="154"/>
                  <a:pt x="1116" y="187"/>
                </a:cubicBezTo>
                <a:cubicBezTo>
                  <a:pt x="1116" y="208"/>
                  <a:pt x="1124" y="221"/>
                  <a:pt x="1137" y="221"/>
                </a:cubicBezTo>
                <a:cubicBezTo>
                  <a:pt x="1159" y="221"/>
                  <a:pt x="1177" y="198"/>
                  <a:pt x="1184" y="165"/>
                </a:cubicBezTo>
                <a:cubicBezTo>
                  <a:pt x="1186" y="154"/>
                  <a:pt x="1190" y="136"/>
                  <a:pt x="1189" y="127"/>
                </a:cubicBezTo>
                <a:close/>
                <a:moveTo>
                  <a:pt x="332" y="153"/>
                </a:moveTo>
                <a:cubicBezTo>
                  <a:pt x="311" y="265"/>
                  <a:pt x="311" y="265"/>
                  <a:pt x="311" y="265"/>
                </a:cubicBezTo>
                <a:cubicBezTo>
                  <a:pt x="254" y="265"/>
                  <a:pt x="254" y="265"/>
                  <a:pt x="254" y="265"/>
                </a:cubicBezTo>
                <a:cubicBezTo>
                  <a:pt x="261" y="226"/>
                  <a:pt x="261" y="226"/>
                  <a:pt x="261" y="226"/>
                </a:cubicBezTo>
                <a:cubicBezTo>
                  <a:pt x="254" y="250"/>
                  <a:pt x="234" y="269"/>
                  <a:pt x="202" y="269"/>
                </a:cubicBezTo>
                <a:cubicBezTo>
                  <a:pt x="162" y="269"/>
                  <a:pt x="144" y="234"/>
                  <a:pt x="144" y="199"/>
                </a:cubicBezTo>
                <a:cubicBezTo>
                  <a:pt x="144" y="160"/>
                  <a:pt x="160" y="120"/>
                  <a:pt x="186" y="94"/>
                </a:cubicBezTo>
                <a:cubicBezTo>
                  <a:pt x="208" y="72"/>
                  <a:pt x="236" y="60"/>
                  <a:pt x="268" y="60"/>
                </a:cubicBezTo>
                <a:cubicBezTo>
                  <a:pt x="292" y="61"/>
                  <a:pt x="310" y="67"/>
                  <a:pt x="321" y="81"/>
                </a:cubicBezTo>
                <a:cubicBezTo>
                  <a:pt x="338" y="101"/>
                  <a:pt x="336" y="131"/>
                  <a:pt x="332" y="153"/>
                </a:cubicBezTo>
                <a:close/>
                <a:moveTo>
                  <a:pt x="278" y="127"/>
                </a:moveTo>
                <a:cubicBezTo>
                  <a:pt x="277" y="113"/>
                  <a:pt x="270" y="105"/>
                  <a:pt x="256" y="105"/>
                </a:cubicBezTo>
                <a:cubicBezTo>
                  <a:pt x="229" y="105"/>
                  <a:pt x="204" y="154"/>
                  <a:pt x="204" y="187"/>
                </a:cubicBezTo>
                <a:cubicBezTo>
                  <a:pt x="204" y="208"/>
                  <a:pt x="212" y="221"/>
                  <a:pt x="226" y="221"/>
                </a:cubicBezTo>
                <a:cubicBezTo>
                  <a:pt x="247" y="221"/>
                  <a:pt x="266" y="198"/>
                  <a:pt x="272" y="165"/>
                </a:cubicBezTo>
                <a:cubicBezTo>
                  <a:pt x="274" y="154"/>
                  <a:pt x="278" y="136"/>
                  <a:pt x="278" y="127"/>
                </a:cubicBezTo>
                <a:close/>
                <a:moveTo>
                  <a:pt x="1052" y="137"/>
                </a:moveTo>
                <a:cubicBezTo>
                  <a:pt x="1052" y="185"/>
                  <a:pt x="1029" y="235"/>
                  <a:pt x="987" y="258"/>
                </a:cubicBezTo>
                <a:cubicBezTo>
                  <a:pt x="971" y="266"/>
                  <a:pt x="956" y="269"/>
                  <a:pt x="943" y="269"/>
                </a:cubicBezTo>
                <a:cubicBezTo>
                  <a:pt x="922" y="269"/>
                  <a:pt x="911" y="261"/>
                  <a:pt x="904" y="249"/>
                </a:cubicBezTo>
                <a:cubicBezTo>
                  <a:pt x="889" y="329"/>
                  <a:pt x="889" y="329"/>
                  <a:pt x="889" y="329"/>
                </a:cubicBezTo>
                <a:cubicBezTo>
                  <a:pt x="829" y="329"/>
                  <a:pt x="829" y="329"/>
                  <a:pt x="829" y="329"/>
                </a:cubicBezTo>
                <a:cubicBezTo>
                  <a:pt x="880" y="64"/>
                  <a:pt x="880" y="64"/>
                  <a:pt x="880" y="64"/>
                </a:cubicBezTo>
                <a:cubicBezTo>
                  <a:pt x="932" y="64"/>
                  <a:pt x="932" y="64"/>
                  <a:pt x="932" y="64"/>
                </a:cubicBezTo>
                <a:cubicBezTo>
                  <a:pt x="926" y="96"/>
                  <a:pt x="926" y="96"/>
                  <a:pt x="926" y="96"/>
                </a:cubicBezTo>
                <a:cubicBezTo>
                  <a:pt x="941" y="75"/>
                  <a:pt x="963" y="60"/>
                  <a:pt x="987" y="60"/>
                </a:cubicBezTo>
                <a:cubicBezTo>
                  <a:pt x="1027" y="60"/>
                  <a:pt x="1052" y="90"/>
                  <a:pt x="1052" y="137"/>
                </a:cubicBezTo>
                <a:close/>
                <a:moveTo>
                  <a:pt x="990" y="141"/>
                </a:moveTo>
                <a:cubicBezTo>
                  <a:pt x="990" y="132"/>
                  <a:pt x="988" y="109"/>
                  <a:pt x="966" y="109"/>
                </a:cubicBezTo>
                <a:cubicBezTo>
                  <a:pt x="944" y="109"/>
                  <a:pt x="926" y="134"/>
                  <a:pt x="918" y="172"/>
                </a:cubicBezTo>
                <a:cubicBezTo>
                  <a:pt x="916" y="185"/>
                  <a:pt x="909" y="224"/>
                  <a:pt x="936" y="224"/>
                </a:cubicBezTo>
                <a:cubicBezTo>
                  <a:pt x="967" y="224"/>
                  <a:pt x="990" y="180"/>
                  <a:pt x="990" y="141"/>
                </a:cubicBezTo>
                <a:close/>
                <a:moveTo>
                  <a:pt x="83" y="109"/>
                </a:moveTo>
                <a:cubicBezTo>
                  <a:pt x="91" y="64"/>
                  <a:pt x="91" y="64"/>
                  <a:pt x="91" y="64"/>
                </a:cubicBezTo>
                <a:cubicBezTo>
                  <a:pt x="39" y="64"/>
                  <a:pt x="39" y="64"/>
                  <a:pt x="39" y="64"/>
                </a:cubicBezTo>
                <a:cubicBezTo>
                  <a:pt x="0" y="268"/>
                  <a:pt x="0" y="268"/>
                  <a:pt x="0" y="268"/>
                </a:cubicBezTo>
                <a:cubicBezTo>
                  <a:pt x="59" y="268"/>
                  <a:pt x="59" y="268"/>
                  <a:pt x="59" y="268"/>
                </a:cubicBezTo>
                <a:cubicBezTo>
                  <a:pt x="75" y="184"/>
                  <a:pt x="75" y="184"/>
                  <a:pt x="75" y="184"/>
                </a:cubicBezTo>
                <a:cubicBezTo>
                  <a:pt x="85" y="135"/>
                  <a:pt x="113" y="115"/>
                  <a:pt x="154" y="121"/>
                </a:cubicBezTo>
                <a:cubicBezTo>
                  <a:pt x="165" y="60"/>
                  <a:pt x="165" y="60"/>
                  <a:pt x="165" y="60"/>
                </a:cubicBezTo>
                <a:cubicBezTo>
                  <a:pt x="129" y="56"/>
                  <a:pt x="96" y="77"/>
                  <a:pt x="83" y="109"/>
                </a:cubicBezTo>
                <a:close/>
                <a:moveTo>
                  <a:pt x="559" y="265"/>
                </a:moveTo>
                <a:cubicBezTo>
                  <a:pt x="579" y="157"/>
                  <a:pt x="579" y="157"/>
                  <a:pt x="579" y="157"/>
                </a:cubicBezTo>
                <a:cubicBezTo>
                  <a:pt x="621" y="265"/>
                  <a:pt x="621" y="265"/>
                  <a:pt x="621" y="265"/>
                </a:cubicBezTo>
                <a:cubicBezTo>
                  <a:pt x="685" y="265"/>
                  <a:pt x="685" y="265"/>
                  <a:pt x="685" y="265"/>
                </a:cubicBezTo>
                <a:cubicBezTo>
                  <a:pt x="641" y="157"/>
                  <a:pt x="641" y="157"/>
                  <a:pt x="641" y="157"/>
                </a:cubicBezTo>
                <a:cubicBezTo>
                  <a:pt x="721" y="64"/>
                  <a:pt x="721" y="64"/>
                  <a:pt x="721" y="64"/>
                </a:cubicBezTo>
                <a:cubicBezTo>
                  <a:pt x="656" y="64"/>
                  <a:pt x="656" y="64"/>
                  <a:pt x="656" y="64"/>
                </a:cubicBezTo>
                <a:cubicBezTo>
                  <a:pt x="579" y="156"/>
                  <a:pt x="579" y="156"/>
                  <a:pt x="579" y="156"/>
                </a:cubicBezTo>
                <a:cubicBezTo>
                  <a:pt x="609" y="0"/>
                  <a:pt x="609" y="0"/>
                  <a:pt x="609" y="0"/>
                </a:cubicBezTo>
                <a:cubicBezTo>
                  <a:pt x="550" y="0"/>
                  <a:pt x="550" y="0"/>
                  <a:pt x="550" y="0"/>
                </a:cubicBezTo>
                <a:cubicBezTo>
                  <a:pt x="500" y="265"/>
                  <a:pt x="500" y="265"/>
                  <a:pt x="500" y="265"/>
                </a:cubicBezTo>
                <a:lnTo>
                  <a:pt x="559" y="265"/>
                </a:ln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endParaRPr lang="en-US"/>
          </a:p>
        </p:txBody>
      </p:sp>
      <p:pic>
        <p:nvPicPr>
          <p:cNvPr id="11" name="Graphic 10">
            <a:extLst>
              <a:ext uri="{FF2B5EF4-FFF2-40B4-BE49-F238E27FC236}">
                <a16:creationId xmlns:a16="http://schemas.microsoft.com/office/drawing/2014/main" id="{E2097F27-DC5D-B0F0-CE35-0D1889844CE1}"/>
              </a:ext>
            </a:extLst>
          </p:cNvPr>
          <p:cNvPicPr>
            <a:picLocks noChangeAspect="1"/>
          </p:cNvPicPr>
          <p:nvPr/>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9579525" y="5693264"/>
            <a:ext cx="2283862" cy="1029241"/>
          </a:xfrm>
          <a:prstGeom prst="rect">
            <a:avLst/>
          </a:prstGeom>
        </p:spPr>
      </p:pic>
    </p:spTree>
    <p:extLst>
      <p:ext uri="{BB962C8B-B14F-4D97-AF65-F5344CB8AC3E}">
        <p14:creationId xmlns:p14="http://schemas.microsoft.com/office/powerpoint/2010/main" val="387571304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ingle Column - Simple">
    <p:bg>
      <p:bgPr>
        <a:solidFill>
          <a:schemeClr val="tx1"/>
        </a:solidFill>
        <a:effectLst/>
      </p:bgPr>
    </p:bg>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87630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A78695ED-2F1E-494A-BB48-9F1643AA5F5C}"/>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8F85B9C0-2FA3-C642-B0A2-F972FA128415}"/>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8772558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ingle Column - Simple with Sub">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61950" y="1390650"/>
            <a:ext cx="11468100" cy="1744067"/>
          </a:xfrm>
          <a:prstGeom prst="rect">
            <a:avLst/>
          </a:prstGeom>
        </p:spPr>
        <p:txBody>
          <a:bodyPr vert="horz" lIns="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876301"/>
            <a:ext cx="11485563" cy="292388"/>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6" y="268589"/>
            <a:ext cx="11495554" cy="48404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EF68921A-3D84-0C43-BCF7-2359425BBAFE}"/>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3C34AF9E-CC5A-D94B-A257-8357FE5D4D4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39879856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ingle Column">
    <p:spTree>
      <p:nvGrpSpPr>
        <p:cNvPr id="1" name=""/>
        <p:cNvGrpSpPr/>
        <p:nvPr/>
      </p:nvGrpSpPr>
      <p:grpSpPr>
        <a:xfrm>
          <a:off x="0" y="0"/>
          <a:ext cx="0" cy="0"/>
          <a:chOff x="0" y="0"/>
          <a:chExt cx="0" cy="0"/>
        </a:xfrm>
      </p:grpSpPr>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0896"/>
            <a:ext cx="858012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9"/>
            <a:ext cx="2620793" cy="1531053"/>
          </a:xfrm>
        </p:spPr>
        <p:txBody>
          <a:bodyPr>
            <a:spAutoFit/>
          </a:body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40A38931-98FA-BE47-B1AE-523C0961A6B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2" name="Slide Number Placeholder 5">
            <a:extLst>
              <a:ext uri="{FF2B5EF4-FFF2-40B4-BE49-F238E27FC236}">
                <a16:creationId xmlns:a16="http://schemas.microsoft.com/office/drawing/2014/main" id="{969D2E81-8C3B-0043-9477-955DB211D4C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52102264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ouble Column">
    <p:spTree>
      <p:nvGrpSpPr>
        <p:cNvPr id="1" name=""/>
        <p:cNvGrpSpPr/>
        <p:nvPr/>
      </p:nvGrpSpPr>
      <p:grpSpPr>
        <a:xfrm>
          <a:off x="0" y="0"/>
          <a:ext cx="0" cy="0"/>
          <a:chOff x="0" y="0"/>
          <a:chExt cx="0" cy="0"/>
        </a:xfrm>
      </p:grpSpPr>
      <p:sp>
        <p:nvSpPr>
          <p:cNvPr id="8" name="Text Placeholder 2">
            <a:extLst>
              <a:ext uri="{FF2B5EF4-FFF2-40B4-BE49-F238E27FC236}">
                <a16:creationId xmlns:a16="http://schemas.microsoft.com/office/drawing/2014/main" id="{A08EE2D0-C5F7-40AF-BD24-47EFB4DD9E34}"/>
              </a:ext>
            </a:extLst>
          </p:cNvPr>
          <p:cNvSpPr>
            <a:spLocks noGrp="1"/>
          </p:cNvSpPr>
          <p:nvPr>
            <p:ph idx="1"/>
          </p:nvPr>
        </p:nvSpPr>
        <p:spPr>
          <a:xfrm>
            <a:off x="8029577" y="312485"/>
            <a:ext cx="3800474" cy="1744067"/>
          </a:xfrm>
          <a:prstGeom prst="rect">
            <a:avLst/>
          </a:prstGeom>
        </p:spPr>
        <p:txBody>
          <a:bodyPr vert="horz" lIns="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ext Placeholder 6">
            <a:extLst>
              <a:ext uri="{FF2B5EF4-FFF2-40B4-BE49-F238E27FC236}">
                <a16:creationId xmlns:a16="http://schemas.microsoft.com/office/drawing/2014/main" id="{0C6E8562-C69B-42CE-9B97-C49901A78C63}"/>
              </a:ext>
            </a:extLst>
          </p:cNvPr>
          <p:cNvSpPr>
            <a:spLocks noGrp="1"/>
          </p:cNvSpPr>
          <p:nvPr>
            <p:ph type="body" sz="quarter" idx="12"/>
          </p:nvPr>
        </p:nvSpPr>
        <p:spPr>
          <a:xfrm>
            <a:off x="3238500" y="313148"/>
            <a:ext cx="3657600" cy="1744067"/>
          </a:xfrm>
          <a:prstGeom prst="rect">
            <a:avLst/>
          </a:prstGeom>
        </p:spPr>
        <p:txBody>
          <a:bodyPr vert="horz" lIns="182880" tIns="0" rIns="0" bIns="0" rtlCol="0">
            <a:sp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2900" y="1842516"/>
            <a:ext cx="2734056" cy="1169551"/>
          </a:xfrm>
          <a:prstGeom prst="rect">
            <a:avLst/>
          </a:prstGeom>
        </p:spPr>
        <p:txBody>
          <a:bodyPr vert="horz" lIns="0" tIns="0" rIns="0" bIns="0" rtlCol="0">
            <a:spAutoFit/>
          </a:bodyPr>
          <a:lstStyle>
            <a:lvl1pPr>
              <a:defRPr lang="en-US" sz="1900" dirty="0">
                <a:ln w="3175">
                  <a:noFill/>
                </a:ln>
              </a:defRPr>
            </a:lvl1pPr>
          </a:lstStyle>
          <a:p>
            <a:pPr marL="0" lvl="0" indent="0" fontAlgn="base">
              <a:buNone/>
            </a:pPr>
            <a:r>
              <a:rPr lang="en-US" dirty="0"/>
              <a:t>Subtitle or callout if needed, all titles and subtitles are sentence case </a:t>
            </a:r>
          </a:p>
        </p:txBody>
      </p:sp>
      <p:sp>
        <p:nvSpPr>
          <p:cNvPr id="5" name="Title 4">
            <a:extLst>
              <a:ext uri="{FF2B5EF4-FFF2-40B4-BE49-F238E27FC236}">
                <a16:creationId xmlns:a16="http://schemas.microsoft.com/office/drawing/2014/main" id="{9E8E5F5F-E11E-C44F-B488-CB35674682B5}"/>
              </a:ext>
            </a:extLst>
          </p:cNvPr>
          <p:cNvSpPr>
            <a:spLocks noGrp="1"/>
          </p:cNvSpPr>
          <p:nvPr>
            <p:ph type="title"/>
          </p:nvPr>
        </p:nvSpPr>
        <p:spPr/>
        <p:txBody>
          <a:bodyPr>
            <a:spAutoFit/>
          </a:bodyPr>
          <a:lstStyle>
            <a:lvl1pPr>
              <a:defRPr/>
            </a:lvl1pPr>
          </a:lstStyle>
          <a:p>
            <a:r>
              <a:rPr lang="en-US"/>
              <a:t>Click to edit Master title style</a:t>
            </a:r>
            <a:endParaRPr lang="en-US" dirty="0"/>
          </a:p>
        </p:txBody>
      </p:sp>
      <p:sp>
        <p:nvSpPr>
          <p:cNvPr id="10" name="Footer Placeholder 4">
            <a:extLst>
              <a:ext uri="{FF2B5EF4-FFF2-40B4-BE49-F238E27FC236}">
                <a16:creationId xmlns:a16="http://schemas.microsoft.com/office/drawing/2014/main" id="{156A0A62-087E-784B-9DD1-38534E1A4B07}"/>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8E27B880-B2E3-2C46-B7F9-CAD8D1E9265C}"/>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41794090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hart Slide">
    <p:spTree>
      <p:nvGrpSpPr>
        <p:cNvPr id="1" name=""/>
        <p:cNvGrpSpPr/>
        <p:nvPr/>
      </p:nvGrpSpPr>
      <p:grpSpPr>
        <a:xfrm>
          <a:off x="0" y="0"/>
          <a:ext cx="0" cy="0"/>
          <a:chOff x="0" y="0"/>
          <a:chExt cx="0" cy="0"/>
        </a:xfrm>
      </p:grpSpPr>
      <p:sp>
        <p:nvSpPr>
          <p:cNvPr id="6" name="Chart Placeholder 5">
            <a:extLst>
              <a:ext uri="{FF2B5EF4-FFF2-40B4-BE49-F238E27FC236}">
                <a16:creationId xmlns:a16="http://schemas.microsoft.com/office/drawing/2014/main" id="{D15CAE43-FFC5-5941-A364-DB8503717B41}"/>
              </a:ext>
            </a:extLst>
          </p:cNvPr>
          <p:cNvSpPr>
            <a:spLocks noGrp="1"/>
          </p:cNvSpPr>
          <p:nvPr>
            <p:ph type="chart" sz="quarter" idx="14"/>
          </p:nvPr>
        </p:nvSpPr>
        <p:spPr>
          <a:xfrm>
            <a:off x="3227070" y="2416705"/>
            <a:ext cx="8591550" cy="4079346"/>
          </a:xfrm>
          <a:prstGeom prst="rect">
            <a:avLst/>
          </a:prstGeom>
        </p:spPr>
        <p:txBody>
          <a:bodyPr/>
          <a:lstStyle/>
          <a:p>
            <a:r>
              <a:rPr lang="en-US"/>
              <a:t>Click icon to add chart</a:t>
            </a:r>
            <a:endParaRPr lang="en-US" dirty="0"/>
          </a:p>
        </p:txBody>
      </p:sp>
      <p:sp>
        <p:nvSpPr>
          <p:cNvPr id="5" name="Title 4">
            <a:extLst>
              <a:ext uri="{FF2B5EF4-FFF2-40B4-BE49-F238E27FC236}">
                <a16:creationId xmlns:a16="http://schemas.microsoft.com/office/drawing/2014/main" id="{1A166DE4-81E7-7D4A-A206-F89CC138B7CD}"/>
              </a:ext>
            </a:extLst>
          </p:cNvPr>
          <p:cNvSpPr>
            <a:spLocks noGrp="1"/>
          </p:cNvSpPr>
          <p:nvPr>
            <p:ph type="title" hasCustomPrompt="1"/>
          </p:nvPr>
        </p:nvSpPr>
        <p:spPr>
          <a:xfrm>
            <a:off x="334497" y="268589"/>
            <a:ext cx="2733169" cy="484043"/>
          </a:xfrm>
        </p:spPr>
        <p:txBody>
          <a:bodyPr>
            <a:spAutoFit/>
          </a:bodyPr>
          <a:lstStyle/>
          <a:p>
            <a:r>
              <a:rPr lang="en-US" dirty="0"/>
              <a:t>Chart Slide</a:t>
            </a:r>
          </a:p>
        </p:txBody>
      </p:sp>
      <p:sp>
        <p:nvSpPr>
          <p:cNvPr id="12" name="Text Placeholder 8">
            <a:extLst>
              <a:ext uri="{FF2B5EF4-FFF2-40B4-BE49-F238E27FC236}">
                <a16:creationId xmlns:a16="http://schemas.microsoft.com/office/drawing/2014/main" id="{02EECDEE-456F-4A15-A4FE-4CA2F60E0059}"/>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1" name="Text Placeholder 2">
            <a:extLst>
              <a:ext uri="{FF2B5EF4-FFF2-40B4-BE49-F238E27FC236}">
                <a16:creationId xmlns:a16="http://schemas.microsoft.com/office/drawing/2014/main" id="{A208867F-67F6-E940-A59D-2EEB7E6B95FA}"/>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Footer Placeholder 4">
            <a:extLst>
              <a:ext uri="{FF2B5EF4-FFF2-40B4-BE49-F238E27FC236}">
                <a16:creationId xmlns:a16="http://schemas.microsoft.com/office/drawing/2014/main" id="{11EF6F69-B713-564F-BAF2-3A8E767B5BD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991D8A6-7F67-9440-AF41-53A069C8F40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2047367060"/>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able Slid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D0602A0A-DA97-1949-83C0-5E92A6974F6F}"/>
              </a:ext>
            </a:extLst>
          </p:cNvPr>
          <p:cNvSpPr>
            <a:spLocks noGrp="1"/>
          </p:cNvSpPr>
          <p:nvPr>
            <p:ph type="title" hasCustomPrompt="1"/>
          </p:nvPr>
        </p:nvSpPr>
        <p:spPr>
          <a:xfrm>
            <a:off x="334497" y="268589"/>
            <a:ext cx="2733169" cy="484043"/>
          </a:xfrm>
        </p:spPr>
        <p:txBody>
          <a:bodyPr>
            <a:spAutoFit/>
          </a:bodyPr>
          <a:lstStyle/>
          <a:p>
            <a:r>
              <a:rPr lang="en-US" dirty="0"/>
              <a:t>Table Slide</a:t>
            </a:r>
          </a:p>
        </p:txBody>
      </p:sp>
      <p:sp>
        <p:nvSpPr>
          <p:cNvPr id="10" name="Text Placeholder 8">
            <a:extLst>
              <a:ext uri="{FF2B5EF4-FFF2-40B4-BE49-F238E27FC236}">
                <a16:creationId xmlns:a16="http://schemas.microsoft.com/office/drawing/2014/main" id="{FD34CAF5-D592-42FD-80B2-8B57E60C9A88}"/>
              </a:ext>
            </a:extLst>
          </p:cNvPr>
          <p:cNvSpPr>
            <a:spLocks noGrp="1"/>
          </p:cNvSpPr>
          <p:nvPr>
            <p:ph type="body" sz="quarter" idx="13" hasCustomPrompt="1"/>
          </p:nvPr>
        </p:nvSpPr>
        <p:spPr>
          <a:xfrm>
            <a:off x="344486" y="1843749"/>
            <a:ext cx="2734056"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12" name="Text Placeholder 2">
            <a:extLst>
              <a:ext uri="{FF2B5EF4-FFF2-40B4-BE49-F238E27FC236}">
                <a16:creationId xmlns:a16="http://schemas.microsoft.com/office/drawing/2014/main" id="{3CAAA4C2-3C05-F041-9337-D10DF6DF7FE4}"/>
              </a:ext>
            </a:extLst>
          </p:cNvPr>
          <p:cNvSpPr>
            <a:spLocks noGrp="1"/>
          </p:cNvSpPr>
          <p:nvPr>
            <p:ph idx="1" hasCustomPrompt="1"/>
          </p:nvPr>
        </p:nvSpPr>
        <p:spPr>
          <a:xfrm>
            <a:off x="3238501" y="312485"/>
            <a:ext cx="8580301" cy="1384995"/>
          </a:xfrm>
          <a:prstGeom prst="rect">
            <a:avLst/>
          </a:prstGeom>
        </p:spPr>
        <p:txBody>
          <a:bodyPr vert="horz" lIns="182880" tIns="0" rIns="0" bIns="0" rtlCol="0">
            <a:spAutoFit/>
          </a:bodyPr>
          <a:lstStyle>
            <a:lvl1pPr marL="285750" indent="-285750">
              <a:buClr>
                <a:schemeClr val="bg1"/>
              </a:buClr>
              <a:buFont typeface="Arial" panose="020B0604020202020204" pitchFamily="34" charset="0"/>
              <a:buChar char="•"/>
              <a:defRPr>
                <a:solidFill>
                  <a:schemeClr val="bg1"/>
                </a:solidFill>
              </a:defRPr>
            </a:lvl1pPr>
            <a:lvl2pPr marL="742950" indent="-285750">
              <a:buClr>
                <a:schemeClr val="bg1"/>
              </a:buClr>
              <a:buFont typeface="Arial" panose="020B0604020202020204" pitchFamily="34" charset="0"/>
              <a:buChar char="•"/>
              <a:defRPr>
                <a:solidFill>
                  <a:schemeClr val="bg1"/>
                </a:solidFill>
              </a:defRPr>
            </a:lvl2pPr>
            <a:lvl3pPr marL="1200150" indent="-285750">
              <a:buClr>
                <a:schemeClr val="bg1"/>
              </a:buClr>
              <a:buFont typeface="Arial" panose="020B0604020202020204" pitchFamily="34" charset="0"/>
              <a:buChar char="•"/>
              <a:defRPr>
                <a:solidFill>
                  <a:schemeClr val="bg1"/>
                </a:solidFill>
              </a:defRPr>
            </a:lvl3pPr>
            <a:lvl4pPr marL="1657350" indent="-285750">
              <a:buClr>
                <a:schemeClr val="bg1"/>
              </a:buClr>
              <a:buFont typeface="Arial" panose="020B0604020202020204" pitchFamily="34" charset="0"/>
              <a:buChar char="•"/>
              <a:defRPr>
                <a:solidFill>
                  <a:schemeClr val="bg1"/>
                </a:solidFill>
              </a:defRPr>
            </a:lvl4pPr>
            <a:lvl5pPr marL="2114550" indent="-285750">
              <a:buClr>
                <a:schemeClr val="bg1"/>
              </a:buClr>
              <a:buFont typeface="Arial" panose="020B0604020202020204" pitchFamily="34" charset="0"/>
              <a:buChar cha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Footer Placeholder 4">
            <a:extLst>
              <a:ext uri="{FF2B5EF4-FFF2-40B4-BE49-F238E27FC236}">
                <a16:creationId xmlns:a16="http://schemas.microsoft.com/office/drawing/2014/main" id="{74285A73-5F89-444B-B12F-B9E47CB2DFD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4" name="Slide Number Placeholder 5">
            <a:extLst>
              <a:ext uri="{FF2B5EF4-FFF2-40B4-BE49-F238E27FC236}">
                <a16:creationId xmlns:a16="http://schemas.microsoft.com/office/drawing/2014/main" id="{7D747C1E-E5F9-3847-87C2-C1E33BFF68C7}"/>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3219773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2F0610-AC55-8F44-A451-3A709DDC1998}"/>
              </a:ext>
            </a:extLst>
          </p:cNvPr>
          <p:cNvSpPr>
            <a:spLocks noGrp="1"/>
          </p:cNvSpPr>
          <p:nvPr>
            <p:ph type="title"/>
          </p:nvPr>
        </p:nvSpPr>
        <p:spPr>
          <a:xfrm>
            <a:off x="334496" y="268589"/>
            <a:ext cx="11495554" cy="484043"/>
          </a:xfrm>
        </p:spPr>
        <p:txBody>
          <a:bodyPr>
            <a:spAutoFit/>
          </a:bodyPr>
          <a:lstStyle/>
          <a:p>
            <a:r>
              <a:rPr lang="en-US" dirty="0"/>
              <a:t>Click to edit Master title style</a:t>
            </a:r>
          </a:p>
        </p:txBody>
      </p:sp>
      <p:pic>
        <p:nvPicPr>
          <p:cNvPr id="7" name="Graphic 6">
            <a:extLst>
              <a:ext uri="{FF2B5EF4-FFF2-40B4-BE49-F238E27FC236}">
                <a16:creationId xmlns:a16="http://schemas.microsoft.com/office/drawing/2014/main" id="{29CC8F76-A361-314D-B285-35441B7FF5E1}"/>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2B6F1109-EB65-C94A-AA12-2CF4DF38E7E5}"/>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EAFEC2A3-61A0-3C4C-A1C7-F1D9EA9DE3DA}"/>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694708906"/>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Wide Layout Single Column">
    <p:spTree>
      <p:nvGrpSpPr>
        <p:cNvPr id="1" name=""/>
        <p:cNvGrpSpPr/>
        <p:nvPr/>
      </p:nvGrpSpPr>
      <p:grpSpPr>
        <a:xfrm>
          <a:off x="0" y="0"/>
          <a:ext cx="0" cy="0"/>
          <a:chOff x="0" y="0"/>
          <a:chExt cx="0" cy="0"/>
        </a:xfrm>
      </p:grpSpPr>
      <p:sp>
        <p:nvSpPr>
          <p:cNvPr id="9" name="Text Placeholder 8">
            <a:extLst>
              <a:ext uri="{FF2B5EF4-FFF2-40B4-BE49-F238E27FC236}">
                <a16:creationId xmlns:a16="http://schemas.microsoft.com/office/drawing/2014/main" id="{CEE0D214-5EFB-4536-817F-2F16EEFF0DD4}"/>
              </a:ext>
            </a:extLst>
          </p:cNvPr>
          <p:cNvSpPr>
            <a:spLocks noGrp="1"/>
          </p:cNvSpPr>
          <p:nvPr>
            <p:ph type="body" sz="quarter" idx="13" hasCustomPrompt="1"/>
          </p:nvPr>
        </p:nvSpPr>
        <p:spPr>
          <a:xfrm>
            <a:off x="344489" y="3362279"/>
            <a:ext cx="3591599" cy="877163"/>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5" name="Title 4">
            <a:extLst>
              <a:ext uri="{FF2B5EF4-FFF2-40B4-BE49-F238E27FC236}">
                <a16:creationId xmlns:a16="http://schemas.microsoft.com/office/drawing/2014/main" id="{34064204-D3C0-994D-BBAC-5C11DF588005}"/>
              </a:ext>
            </a:extLst>
          </p:cNvPr>
          <p:cNvSpPr>
            <a:spLocks noGrp="1"/>
          </p:cNvSpPr>
          <p:nvPr>
            <p:ph type="title"/>
          </p:nvPr>
        </p:nvSpPr>
        <p:spPr>
          <a:xfrm>
            <a:off x="334497" y="268588"/>
            <a:ext cx="3608853" cy="1008802"/>
          </a:xfrm>
        </p:spPr>
        <p:txBody>
          <a:bodyPr>
            <a:spAutoFit/>
          </a:bodyPr>
          <a:lstStyle/>
          <a:p>
            <a:r>
              <a:rPr lang="en-US" dirty="0"/>
              <a:t>Click to edit Master title style</a:t>
            </a:r>
          </a:p>
        </p:txBody>
      </p:sp>
      <p:sp>
        <p:nvSpPr>
          <p:cNvPr id="11" name="Text Placeholder 2">
            <a:extLst>
              <a:ext uri="{FF2B5EF4-FFF2-40B4-BE49-F238E27FC236}">
                <a16:creationId xmlns:a16="http://schemas.microsoft.com/office/drawing/2014/main" id="{9F9C88D5-EA56-4ED2-8CB6-44F2BBA4023F}"/>
              </a:ext>
            </a:extLst>
          </p:cNvPr>
          <p:cNvSpPr>
            <a:spLocks noGrp="1"/>
          </p:cNvSpPr>
          <p:nvPr>
            <p:ph idx="1"/>
          </p:nvPr>
        </p:nvSpPr>
        <p:spPr>
          <a:xfrm>
            <a:off x="4191000" y="312485"/>
            <a:ext cx="7627802" cy="1744067"/>
          </a:xfrm>
          <a:prstGeom prst="rect">
            <a:avLst/>
          </a:prstGeom>
        </p:spPr>
        <p:txBody>
          <a:bodyPr vert="horz" lIns="18288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BD6CB0B8-ED09-5144-8406-07EDCA221F9D}"/>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06D1107E-377F-1C4D-825D-2D388EB1CC1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5" name="Slide Number Placeholder 5">
            <a:extLst>
              <a:ext uri="{FF2B5EF4-FFF2-40B4-BE49-F238E27FC236}">
                <a16:creationId xmlns:a16="http://schemas.microsoft.com/office/drawing/2014/main" id="{5EA424A9-9F99-5C4C-867C-130C2A181E23}"/>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078102786"/>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Image Slide 1">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91C7891-1362-8010-8830-780659EC8F66}"/>
              </a:ext>
            </a:extLst>
          </p:cNvPr>
          <p:cNvPicPr>
            <a:picLocks noChangeAspect="1"/>
          </p:cNvPicPr>
          <p:nvPr userDrawn="1"/>
        </p:nvPicPr>
        <p:blipFill>
          <a:blip r:embed="rId2"/>
          <a:stretch>
            <a:fillRect/>
          </a:stretch>
        </p:blipFill>
        <p:spPr>
          <a:xfrm>
            <a:off x="1175093" y="1460500"/>
            <a:ext cx="2070100" cy="53975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8953500" cy="6858000"/>
          </a:xfrm>
          <a:prstGeom prst="rect">
            <a:avLst/>
          </a:prstGeom>
          <a:solidFill>
            <a:schemeClr val="bg1">
              <a:lumMod val="75000"/>
            </a:schemeClr>
          </a:solidFill>
        </p:spPr>
        <p:txBody>
          <a:bodyPr vert="horz" lIns="365760" tIns="0" rIns="0" bIns="0" rtlCol="0">
            <a:noAutofit/>
          </a:bodyPr>
          <a:lstStyle>
            <a:lvl1pPr>
              <a:defRPr lang="en-US" dirty="0" smtClean="0"/>
            </a:lvl1pPr>
          </a:lstStyle>
          <a:p>
            <a:pPr marR="0" lvl="0" fontAlgn="auto">
              <a:buSzTx/>
              <a:tabLst/>
            </a:pPr>
            <a:r>
              <a:rPr lang="en-US"/>
              <a:t>Click icon in the center of box to add picture</a:t>
            </a:r>
          </a:p>
        </p:txBody>
      </p:sp>
      <p:sp>
        <p:nvSpPr>
          <p:cNvPr id="12" name="Footer Placeholder 4">
            <a:extLst>
              <a:ext uri="{FF2B5EF4-FFF2-40B4-BE49-F238E27FC236}">
                <a16:creationId xmlns:a16="http://schemas.microsoft.com/office/drawing/2014/main" id="{62696866-BC8C-9147-9465-61E5AEA4F581}"/>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3" name="Slide Number Placeholder 5">
            <a:extLst>
              <a:ext uri="{FF2B5EF4-FFF2-40B4-BE49-F238E27FC236}">
                <a16:creationId xmlns:a16="http://schemas.microsoft.com/office/drawing/2014/main" id="{EF17C66D-3409-BF41-8787-FD6B3224F20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5" name="Title 4">
            <a:extLst>
              <a:ext uri="{FF2B5EF4-FFF2-40B4-BE49-F238E27FC236}">
                <a16:creationId xmlns:a16="http://schemas.microsoft.com/office/drawing/2014/main" id="{F2ACCC36-2E9C-6D4C-BB6B-7A9BA138E936}"/>
              </a:ext>
            </a:extLst>
          </p:cNvPr>
          <p:cNvSpPr>
            <a:spLocks noGrp="1"/>
          </p:cNvSpPr>
          <p:nvPr>
            <p:ph type="title"/>
          </p:nvPr>
        </p:nvSpPr>
        <p:spPr>
          <a:xfrm>
            <a:off x="334496" y="268589"/>
            <a:ext cx="2618254" cy="1531053"/>
          </a:xfrm>
        </p:spPr>
        <p:txBody>
          <a:bodyPr>
            <a:spAutoFit/>
          </a:bodyPr>
          <a:lstStyle>
            <a:lvl1pPr>
              <a:defRPr/>
            </a:lvl1pPr>
          </a:lstStyle>
          <a:p>
            <a:r>
              <a:rPr lang="en-US" dirty="0"/>
              <a:t>Click to edit Master title style</a:t>
            </a:r>
          </a:p>
        </p:txBody>
      </p:sp>
      <p:sp>
        <p:nvSpPr>
          <p:cNvPr id="11" name="Text Placeholder 8">
            <a:extLst>
              <a:ext uri="{FF2B5EF4-FFF2-40B4-BE49-F238E27FC236}">
                <a16:creationId xmlns:a16="http://schemas.microsoft.com/office/drawing/2014/main" id="{08C770D2-29E4-4980-89B5-2CADCAA9838F}"/>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pic>
        <p:nvPicPr>
          <p:cNvPr id="9" name="Graphic 8">
            <a:extLst>
              <a:ext uri="{FF2B5EF4-FFF2-40B4-BE49-F238E27FC236}">
                <a16:creationId xmlns:a16="http://schemas.microsoft.com/office/drawing/2014/main" id="{1201D0FE-A135-6A46-ABB9-BBF42B08B05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Tree>
    <p:extLst>
      <p:ext uri="{BB962C8B-B14F-4D97-AF65-F5344CB8AC3E}">
        <p14:creationId xmlns:p14="http://schemas.microsoft.com/office/powerpoint/2010/main" val="424687008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Image Slid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C264690-A606-6B63-BC27-F4A5A5FBC7C4}"/>
              </a:ext>
            </a:extLst>
          </p:cNvPr>
          <p:cNvPicPr>
            <a:picLocks noChangeAspect="1"/>
          </p:cNvPicPr>
          <p:nvPr userDrawn="1"/>
        </p:nvPicPr>
        <p:blipFill>
          <a:blip r:embed="rId2"/>
          <a:stretch>
            <a:fillRect/>
          </a:stretch>
        </p:blipFill>
        <p:spPr>
          <a:xfrm>
            <a:off x="609600" y="0"/>
            <a:ext cx="11582400" cy="6858000"/>
          </a:xfrm>
          <a:prstGeom prst="rect">
            <a:avLst/>
          </a:prstGeom>
        </p:spPr>
      </p:pic>
      <p:sp>
        <p:nvSpPr>
          <p:cNvPr id="6" name="Picture Placeholder 5">
            <a:extLst>
              <a:ext uri="{FF2B5EF4-FFF2-40B4-BE49-F238E27FC236}">
                <a16:creationId xmlns:a16="http://schemas.microsoft.com/office/drawing/2014/main" id="{E30FBA71-49B8-5848-9C59-635D2786CAFC}"/>
              </a:ext>
            </a:extLst>
          </p:cNvPr>
          <p:cNvSpPr>
            <a:spLocks noGrp="1"/>
          </p:cNvSpPr>
          <p:nvPr>
            <p:ph type="pic" sz="quarter" idx="14" hasCustomPrompt="1"/>
          </p:nvPr>
        </p:nvSpPr>
        <p:spPr bwMode="white">
          <a:xfrm>
            <a:off x="3238500" y="0"/>
            <a:ext cx="5734050" cy="6858000"/>
          </a:xfrm>
          <a:prstGeom prst="rect">
            <a:avLst/>
          </a:prstGeom>
          <a:solidFill>
            <a:schemeClr val="bg1">
              <a:lumMod val="75000"/>
            </a:schemeClr>
          </a:solidFill>
        </p:spPr>
        <p:txBody>
          <a:bodyPr vert="horz" lIns="365760" tIns="0" rIns="0" bIns="0" rtlCol="0">
            <a:noAutofit/>
          </a:bodyPr>
          <a:lstStyle>
            <a:lvl1pPr>
              <a:defRPr lang="en-US" dirty="0"/>
            </a:lvl1pPr>
          </a:lstStyle>
          <a:p>
            <a:pPr marR="0" lvl="0" fontAlgn="auto">
              <a:buSzTx/>
              <a:tabLst/>
            </a:pPr>
            <a:r>
              <a:rPr lang="en-US"/>
              <a:t>Click icon in the center of box to add picture</a:t>
            </a:r>
          </a:p>
        </p:txBody>
      </p:sp>
      <p:sp>
        <p:nvSpPr>
          <p:cNvPr id="5" name="Title 4">
            <a:extLst>
              <a:ext uri="{FF2B5EF4-FFF2-40B4-BE49-F238E27FC236}">
                <a16:creationId xmlns:a16="http://schemas.microsoft.com/office/drawing/2014/main" id="{88F813D3-270D-1743-AC1F-38F52F4492FB}"/>
              </a:ext>
            </a:extLst>
          </p:cNvPr>
          <p:cNvSpPr>
            <a:spLocks noGrp="1"/>
          </p:cNvSpPr>
          <p:nvPr>
            <p:ph type="title"/>
          </p:nvPr>
        </p:nvSpPr>
        <p:spPr>
          <a:xfrm>
            <a:off x="334496" y="268589"/>
            <a:ext cx="2618254" cy="1531053"/>
          </a:xfrm>
        </p:spPr>
        <p:txBody>
          <a:bodyPr>
            <a:spAutoFit/>
          </a:bodyPr>
          <a:lstStyle>
            <a:lvl1pPr>
              <a:defRPr/>
            </a:lvl1pPr>
          </a:lstStyle>
          <a:p>
            <a:r>
              <a:rPr lang="en-US"/>
              <a:t>Click to edit Master title style</a:t>
            </a:r>
            <a:endParaRPr lang="en-US" dirty="0"/>
          </a:p>
        </p:txBody>
      </p:sp>
      <p:sp>
        <p:nvSpPr>
          <p:cNvPr id="11" name="Text Placeholder 8">
            <a:extLst>
              <a:ext uri="{FF2B5EF4-FFF2-40B4-BE49-F238E27FC236}">
                <a16:creationId xmlns:a16="http://schemas.microsoft.com/office/drawing/2014/main" id="{D6F74E0A-AB80-4D15-9EF8-AC6BAA371DF2}"/>
              </a:ext>
            </a:extLst>
          </p:cNvPr>
          <p:cNvSpPr>
            <a:spLocks noGrp="1"/>
          </p:cNvSpPr>
          <p:nvPr>
            <p:ph type="body" sz="quarter" idx="13" hasCustomPrompt="1"/>
          </p:nvPr>
        </p:nvSpPr>
        <p:spPr>
          <a:xfrm>
            <a:off x="344487" y="1843749"/>
            <a:ext cx="2608263" cy="1169551"/>
          </a:xfrm>
          <a:prstGeom prst="rect">
            <a:avLst/>
          </a:prstGeom>
        </p:spPr>
        <p:txBody>
          <a:bodyPr lIns="0" tIns="0" rIns="0">
            <a:spAutoFit/>
          </a:bodyPr>
          <a:lstStyle>
            <a:lvl1pPr marL="0" indent="0" algn="l" fontAlgn="base">
              <a:lnSpc>
                <a:spcPct val="100000"/>
              </a:lnSpc>
              <a:spcBef>
                <a:spcPts val="0"/>
              </a:spcBef>
              <a:buFont typeface="Arial" panose="020B0604020202020204" pitchFamily="34" charset="0"/>
              <a:buNone/>
              <a:defRPr lang="en-US" sz="1900" kern="1200" dirty="0">
                <a:ln w="3175">
                  <a:noFill/>
                </a:ln>
                <a:solidFill>
                  <a:schemeClr val="bg1"/>
                </a:solidFill>
                <a:latin typeface="+mn-lt"/>
                <a:ea typeface="+mn-ea"/>
                <a:cs typeface="+mn-cs"/>
              </a:defRPr>
            </a:lvl1pPr>
          </a:lstStyle>
          <a:p>
            <a:r>
              <a:rPr lang="en-US" dirty="0"/>
              <a:t>Subtitle or callout if needed, all titles and subtitles are sentence case </a:t>
            </a:r>
          </a:p>
        </p:txBody>
      </p:sp>
      <p:sp>
        <p:nvSpPr>
          <p:cNvPr id="9" name="Text Placeholder 2">
            <a:extLst>
              <a:ext uri="{FF2B5EF4-FFF2-40B4-BE49-F238E27FC236}">
                <a16:creationId xmlns:a16="http://schemas.microsoft.com/office/drawing/2014/main" id="{FD053F94-CE8F-4987-AA33-DA71ADDB4BC1}"/>
              </a:ext>
            </a:extLst>
          </p:cNvPr>
          <p:cNvSpPr>
            <a:spLocks noGrp="1"/>
          </p:cNvSpPr>
          <p:nvPr>
            <p:ph idx="1"/>
          </p:nvPr>
        </p:nvSpPr>
        <p:spPr>
          <a:xfrm>
            <a:off x="8972551" y="312485"/>
            <a:ext cx="2857500" cy="2021066"/>
          </a:xfrm>
          <a:prstGeom prst="rect">
            <a:avLst/>
          </a:prstGeom>
        </p:spPr>
        <p:txBody>
          <a:bodyPr vert="horz" lIns="18288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10" name="Graphic 9">
            <a:extLst>
              <a:ext uri="{FF2B5EF4-FFF2-40B4-BE49-F238E27FC236}">
                <a16:creationId xmlns:a16="http://schemas.microsoft.com/office/drawing/2014/main" id="{834B8D64-D2B5-B04A-8E1B-280A11CF824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5" name="Footer Placeholder 4">
            <a:extLst>
              <a:ext uri="{FF2B5EF4-FFF2-40B4-BE49-F238E27FC236}">
                <a16:creationId xmlns:a16="http://schemas.microsoft.com/office/drawing/2014/main" id="{D6781EC2-90CC-EA49-9C4F-F63A18DB9A4D}"/>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6" name="Slide Number Placeholder 5">
            <a:extLst>
              <a:ext uri="{FF2B5EF4-FFF2-40B4-BE49-F238E27FC236}">
                <a16:creationId xmlns:a16="http://schemas.microsoft.com/office/drawing/2014/main" id="{773A6A02-6A23-704D-B348-F117251E3C9B}"/>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29190856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852BA2-98D6-7533-BEC6-1C416BA117B0}"/>
              </a:ext>
            </a:extLst>
          </p:cNvPr>
          <p:cNvPicPr>
            <a:picLocks noChangeAspect="1"/>
          </p:cNvPicPr>
          <p:nvPr userDrawn="1"/>
        </p:nvPicPr>
        <p:blipFill>
          <a:blip r:embed="rId2"/>
          <a:stretch>
            <a:fillRect/>
          </a:stretch>
        </p:blipFill>
        <p:spPr>
          <a:xfrm>
            <a:off x="4737100" y="0"/>
            <a:ext cx="7454900" cy="62738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1011652"/>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9" name="Graphic 2">
            <a:extLst>
              <a:ext uri="{FF2B5EF4-FFF2-40B4-BE49-F238E27FC236}">
                <a16:creationId xmlns:a16="http://schemas.microsoft.com/office/drawing/2014/main" id="{0D088DC0-E273-1CE5-DFE6-10BBE1FC38A2}"/>
              </a:ext>
            </a:extLst>
          </p:cNvPr>
          <p:cNvSpPr/>
          <p:nvPr/>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005012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Title Slide 3">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4165BA7-6ECE-E932-9733-522489AB48D3}"/>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358406" y="0"/>
            <a:ext cx="10833593"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433148"/>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090531"/>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457CADE9-063A-C4C9-1176-8F57C2E7515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79887805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chemeClr val="tx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BDEC1B2-A9FA-0B77-AC13-22F8DA3B7D44}"/>
              </a:ext>
            </a:extLst>
          </p:cNvPr>
          <p:cNvPicPr>
            <a:picLocks noChangeAspect="1"/>
          </p:cNvPicPr>
          <p:nvPr userDrawn="1"/>
        </p:nvPicPr>
        <p:blipFill>
          <a:blip r:embed="rId2"/>
          <a:stretch>
            <a:fillRect/>
          </a:stretch>
        </p:blipFill>
        <p:spPr>
          <a:xfrm>
            <a:off x="4292600" y="0"/>
            <a:ext cx="7899400" cy="6858000"/>
          </a:xfrm>
          <a:prstGeom prst="rect">
            <a:avLst/>
          </a:prstGeom>
        </p:spPr>
      </p:pic>
      <p:pic>
        <p:nvPicPr>
          <p:cNvPr id="8" name="Graphic 7">
            <a:extLst>
              <a:ext uri="{FF2B5EF4-FFF2-40B4-BE49-F238E27FC236}">
                <a16:creationId xmlns:a16="http://schemas.microsoft.com/office/drawing/2014/main" id="{269A90C7-9D7B-A646-8F2F-D8E6C28659C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4" name="Text Placeholder 16">
            <a:extLst>
              <a:ext uri="{FF2B5EF4-FFF2-40B4-BE49-F238E27FC236}">
                <a16:creationId xmlns:a16="http://schemas.microsoft.com/office/drawing/2014/main" id="{2968C323-10BA-3F4F-90A6-9A79E5FF2F52}"/>
              </a:ext>
            </a:extLst>
          </p:cNvPr>
          <p:cNvSpPr>
            <a:spLocks noGrp="1"/>
          </p:cNvSpPr>
          <p:nvPr>
            <p:ph type="body" sz="quarter" idx="10" hasCustomPrompt="1"/>
          </p:nvPr>
        </p:nvSpPr>
        <p:spPr>
          <a:xfrm>
            <a:off x="348870" y="5317262"/>
            <a:ext cx="5686425" cy="461665"/>
          </a:xfrm>
          <a:prstGeom prst="rect">
            <a:avLst/>
          </a:prstGeom>
        </p:spPr>
        <p:txBody>
          <a:bodyPr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1C861E3C-8230-296F-72BF-BEB912769B1B}"/>
              </a:ext>
            </a:extLst>
          </p:cNvPr>
          <p:cNvSpPr>
            <a:spLocks noGrp="1"/>
          </p:cNvSpPr>
          <p:nvPr>
            <p:ph type="ctrTitle" hasCustomPrompt="1"/>
          </p:nvPr>
        </p:nvSpPr>
        <p:spPr>
          <a:xfrm>
            <a:off x="323545" y="344507"/>
            <a:ext cx="3519585" cy="195463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2863497-253D-0001-302A-BF7F6FB0FAE4}"/>
              </a:ext>
            </a:extLst>
          </p:cNvPr>
          <p:cNvSpPr>
            <a:spLocks noGrp="1"/>
          </p:cNvSpPr>
          <p:nvPr>
            <p:ph type="subTitle" idx="1" hasCustomPrompt="1"/>
          </p:nvPr>
        </p:nvSpPr>
        <p:spPr>
          <a:xfrm>
            <a:off x="338659" y="4363423"/>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2" name="Graphic 2">
            <a:extLst>
              <a:ext uri="{FF2B5EF4-FFF2-40B4-BE49-F238E27FC236}">
                <a16:creationId xmlns:a16="http://schemas.microsoft.com/office/drawing/2014/main" id="{B4239C57-54FA-A50C-6C7B-5EFD7193668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43469115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2_Title Slide 3">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DD463D2-A0CD-1A39-8F26-8419F763EB2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272806" y="0"/>
            <a:ext cx="9919194" cy="6858000"/>
          </a:xfrm>
          <a:prstGeom prst="rect">
            <a:avLst/>
          </a:prstGeom>
        </p:spPr>
      </p:pic>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937059"/>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594442"/>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sp>
        <p:nvSpPr>
          <p:cNvPr id="3" name="Graphic 2">
            <a:extLst>
              <a:ext uri="{FF2B5EF4-FFF2-40B4-BE49-F238E27FC236}">
                <a16:creationId xmlns:a16="http://schemas.microsoft.com/office/drawing/2014/main" id="{B077200D-89FC-938D-58D7-7538DC70F329}"/>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37843152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1_Title Slide 3">
    <p:bg>
      <p:bgPr>
        <a:solidFill>
          <a:schemeClr val="tx1"/>
        </a:solidFill>
        <a:effectLst/>
      </p:bgPr>
    </p:bg>
    <p:spTree>
      <p:nvGrpSpPr>
        <p:cNvPr id="1" name=""/>
        <p:cNvGrpSpPr/>
        <p:nvPr/>
      </p:nvGrpSpPr>
      <p:grpSpPr>
        <a:xfrm>
          <a:off x="0" y="0"/>
          <a:ext cx="0" cy="0"/>
          <a:chOff x="0" y="0"/>
          <a:chExt cx="0" cy="0"/>
        </a:xfrm>
      </p:grpSpPr>
      <p:pic>
        <p:nvPicPr>
          <p:cNvPr id="9" name="Graphic 8">
            <a:extLst>
              <a:ext uri="{FF2B5EF4-FFF2-40B4-BE49-F238E27FC236}">
                <a16:creationId xmlns:a16="http://schemas.microsoft.com/office/drawing/2014/main" id="{C3BBC34D-BFF3-2949-8EA5-E9FF8A3B72DA}"/>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10" name="Text Placeholder 16">
            <a:extLst>
              <a:ext uri="{FF2B5EF4-FFF2-40B4-BE49-F238E27FC236}">
                <a16:creationId xmlns:a16="http://schemas.microsoft.com/office/drawing/2014/main" id="{3D65B2ED-28C3-8242-9EA6-D9E2ADF4D649}"/>
              </a:ext>
            </a:extLst>
          </p:cNvPr>
          <p:cNvSpPr>
            <a:spLocks noGrp="1"/>
          </p:cNvSpPr>
          <p:nvPr>
            <p:ph type="body" sz="quarter" idx="10" hasCustomPrompt="1"/>
          </p:nvPr>
        </p:nvSpPr>
        <p:spPr>
          <a:xfrm>
            <a:off x="327905" y="5459276"/>
            <a:ext cx="1665281" cy="461665"/>
          </a:xfrm>
          <a:prstGeom prst="rect">
            <a:avLst/>
          </a:prstGeom>
        </p:spPr>
        <p:txBody>
          <a:bodyPr wrap="square" lIns="0" tIns="0" rIns="0" bIns="0">
            <a:spAutoFit/>
          </a:bodyPr>
          <a:lstStyle>
            <a:lvl1pPr marL="0" indent="0">
              <a:spcBef>
                <a:spcPts val="0"/>
              </a:spcBef>
              <a:buNone/>
              <a:defRPr>
                <a:solidFill>
                  <a:schemeClr val="bg1"/>
                </a:solidFill>
              </a:defRPr>
            </a:lvl1pPr>
          </a:lstStyle>
          <a:p>
            <a:pPr lvl="0"/>
            <a:r>
              <a:rPr lang="en-US" dirty="0"/>
              <a:t>Name goes here</a:t>
            </a:r>
            <a:br>
              <a:rPr lang="en-US" dirty="0"/>
            </a:br>
            <a:r>
              <a:rPr lang="en-US" dirty="0"/>
              <a:t>Position goes here</a:t>
            </a:r>
          </a:p>
        </p:txBody>
      </p:sp>
      <p:sp>
        <p:nvSpPr>
          <p:cNvPr id="5" name="Title 1">
            <a:extLst>
              <a:ext uri="{FF2B5EF4-FFF2-40B4-BE49-F238E27FC236}">
                <a16:creationId xmlns:a16="http://schemas.microsoft.com/office/drawing/2014/main" id="{DE1C0931-E2CB-21D0-1C02-A6BD93D29E23}"/>
              </a:ext>
            </a:extLst>
          </p:cNvPr>
          <p:cNvSpPr>
            <a:spLocks noGrp="1"/>
          </p:cNvSpPr>
          <p:nvPr>
            <p:ph type="ctrTitle" hasCustomPrompt="1"/>
          </p:nvPr>
        </p:nvSpPr>
        <p:spPr>
          <a:xfrm>
            <a:off x="327905" y="1032953"/>
            <a:ext cx="4765290" cy="1265218"/>
          </a:xfrm>
          <a:prstGeom prst="rect">
            <a:avLst/>
          </a:prstGeom>
        </p:spPr>
        <p:txBody>
          <a:bodyPr wrap="square" lIns="0" tIns="0" rIns="0" bIns="0" anchor="b" anchorCtr="0">
            <a:spAutoFit/>
          </a:bodyPr>
          <a:lstStyle>
            <a:lvl1pPr algn="l" fontAlgn="b">
              <a:lnSpc>
                <a:spcPct val="112000"/>
              </a:lnSpc>
              <a:defRPr sz="4000">
                <a:solidFill>
                  <a:schemeClr val="bg1"/>
                </a:solidFill>
              </a:defRPr>
            </a:lvl1pPr>
          </a:lstStyle>
          <a:p>
            <a:r>
              <a:rPr lang="en-US" dirty="0"/>
              <a:t>Title with multiple lines here</a:t>
            </a:r>
          </a:p>
        </p:txBody>
      </p:sp>
      <p:sp>
        <p:nvSpPr>
          <p:cNvPr id="6" name="Subtitle 2">
            <a:extLst>
              <a:ext uri="{FF2B5EF4-FFF2-40B4-BE49-F238E27FC236}">
                <a16:creationId xmlns:a16="http://schemas.microsoft.com/office/drawing/2014/main" id="{708ECC9D-EDA8-CF32-AEF0-561AA70FE070}"/>
              </a:ext>
            </a:extLst>
          </p:cNvPr>
          <p:cNvSpPr>
            <a:spLocks noGrp="1"/>
          </p:cNvSpPr>
          <p:nvPr>
            <p:ph type="subTitle" idx="1" hasCustomPrompt="1"/>
          </p:nvPr>
        </p:nvSpPr>
        <p:spPr>
          <a:xfrm>
            <a:off x="343019" y="2690336"/>
            <a:ext cx="2417794" cy="738664"/>
          </a:xfrm>
          <a:prstGeom prst="rect">
            <a:avLst/>
          </a:prstGeom>
        </p:spPr>
        <p:txBody>
          <a:bodyPr wrap="square" lIns="0" tIns="0" rIns="0" bIns="0" anchor="t">
            <a:spAutoFit/>
          </a:bodyPr>
          <a:lstStyle>
            <a:lvl1pPr marL="0" indent="0" algn="l">
              <a:buNone/>
              <a:defRPr sz="2400">
                <a:ln>
                  <a:noFill/>
                </a:ln>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Date/subtitle goes here</a:t>
            </a:r>
          </a:p>
        </p:txBody>
      </p:sp>
      <p:pic>
        <p:nvPicPr>
          <p:cNvPr id="3" name="Picture 2">
            <a:extLst>
              <a:ext uri="{FF2B5EF4-FFF2-40B4-BE49-F238E27FC236}">
                <a16:creationId xmlns:a16="http://schemas.microsoft.com/office/drawing/2014/main" id="{AE28AD9D-E530-B3D6-1DA4-6BDBE343733C}"/>
              </a:ext>
            </a:extLst>
          </p:cNvPr>
          <p:cNvPicPr>
            <a:picLocks noChangeAspect="1"/>
          </p:cNvPicPr>
          <p:nvPr userDrawn="1"/>
        </p:nvPicPr>
        <p:blipFill rotWithShape="1">
          <a:blip r:embed="rId3" cstate="screen">
            <a:extLst>
              <a:ext uri="{28A0092B-C50C-407E-A947-70E740481C1C}">
                <a14:useLocalDpi xmlns:a14="http://schemas.microsoft.com/office/drawing/2010/main"/>
              </a:ext>
            </a:extLst>
          </a:blip>
          <a:srcRect/>
          <a:stretch/>
        </p:blipFill>
        <p:spPr>
          <a:xfrm>
            <a:off x="5347523" y="0"/>
            <a:ext cx="6844477" cy="6858000"/>
          </a:xfrm>
          <a:prstGeom prst="rect">
            <a:avLst/>
          </a:prstGeom>
        </p:spPr>
      </p:pic>
      <p:sp>
        <p:nvSpPr>
          <p:cNvPr id="2" name="Graphic 2">
            <a:extLst>
              <a:ext uri="{FF2B5EF4-FFF2-40B4-BE49-F238E27FC236}">
                <a16:creationId xmlns:a16="http://schemas.microsoft.com/office/drawing/2014/main" id="{7E7E76DF-5156-C21D-C055-E4AEB1A5577E}"/>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683579682"/>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Breaker">
    <p:bg>
      <p:bgPr>
        <a:solidFill>
          <a:schemeClr val="tx1"/>
        </a:solidFill>
        <a:effectLst/>
      </p:bgPr>
    </p:bg>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5436844" y="311905"/>
            <a:ext cx="5580063" cy="2100073"/>
          </a:xfrm>
          <a:prstGeom prst="rect">
            <a:avLst/>
          </a:prstGeom>
          <a:noFill/>
          <a:ln>
            <a:noFill/>
          </a:ln>
        </p:spPr>
        <p:txBody>
          <a:bodyPr vert="horz" lIns="0" tIns="0" rIns="0" bIns="0" rtlCol="0" anchor="b">
            <a:noAutofit/>
          </a:bodyPr>
          <a:lstStyle>
            <a:lvl1pPr marL="0" indent="0" fontAlgn="base">
              <a:lnSpc>
                <a:spcPct val="112000"/>
              </a:lnSpc>
              <a:spcBef>
                <a:spcPts val="0"/>
              </a:spcBef>
              <a:buNone/>
              <a:defRPr lang="en-US" sz="45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5454307" y="2484528"/>
            <a:ext cx="4437855" cy="800219"/>
          </a:xfrm>
          <a:prstGeom prst="rect">
            <a:avLst/>
          </a:prstGeom>
        </p:spPr>
        <p:txBody>
          <a:bodyPr vert="horz" wrap="square" lIns="0" tIns="0" rIns="0" bIns="0" rtlCol="0" anchor="t">
            <a:spAutoFit/>
          </a:bodyPr>
          <a:lstStyle>
            <a:lvl1pPr marL="0" indent="0">
              <a:buNone/>
              <a:defRPr lang="en-US" sz="2600" dirty="0">
                <a:ln>
                  <a:noFill/>
                </a:ln>
                <a:solidFill>
                  <a:schemeClr val="bg1"/>
                </a:solidFill>
              </a:defRPr>
            </a:lvl1pPr>
          </a:lstStyle>
          <a:p>
            <a:pPr lvl="0"/>
            <a:r>
              <a:rPr lang="en-US" dirty="0"/>
              <a:t>All titles/subtitles are sentence case</a:t>
            </a:r>
          </a:p>
        </p:txBody>
      </p:sp>
      <p:pic>
        <p:nvPicPr>
          <p:cNvPr id="6" name="Graphic 5">
            <a:extLst>
              <a:ext uri="{FF2B5EF4-FFF2-40B4-BE49-F238E27FC236}">
                <a16:creationId xmlns:a16="http://schemas.microsoft.com/office/drawing/2014/main" id="{C0F6F2E4-2F4C-BB43-8EB6-24C72650C2EB}"/>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2"/>
              </a:ext>
            </a:extLst>
          </a:blip>
          <a:stretch>
            <a:fillRect/>
          </a:stretch>
        </p:blipFill>
        <p:spPr>
          <a:xfrm>
            <a:off x="327905" y="6404039"/>
            <a:ext cx="1143000" cy="354330"/>
          </a:xfrm>
          <a:prstGeom prst="rect">
            <a:avLst/>
          </a:prstGeom>
        </p:spPr>
      </p:pic>
      <p:sp>
        <p:nvSpPr>
          <p:cNvPr id="2" name="Graphic 2">
            <a:extLst>
              <a:ext uri="{FF2B5EF4-FFF2-40B4-BE49-F238E27FC236}">
                <a16:creationId xmlns:a16="http://schemas.microsoft.com/office/drawing/2014/main" id="{4765CAD0-7126-5B70-C779-9CC35C2AEB1D}"/>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pic>
        <p:nvPicPr>
          <p:cNvPr id="5" name="Picture 4">
            <a:extLst>
              <a:ext uri="{FF2B5EF4-FFF2-40B4-BE49-F238E27FC236}">
                <a16:creationId xmlns:a16="http://schemas.microsoft.com/office/drawing/2014/main" id="{0678CA17-1D97-0236-79E4-26F5DC7150C4}"/>
              </a:ext>
            </a:extLst>
          </p:cNvPr>
          <p:cNvPicPr>
            <a:picLocks noChangeAspect="1"/>
          </p:cNvPicPr>
          <p:nvPr userDrawn="1"/>
        </p:nvPicPr>
        <p:blipFill>
          <a:blip r:embed="rId3"/>
          <a:stretch>
            <a:fillRect/>
          </a:stretch>
        </p:blipFill>
        <p:spPr>
          <a:xfrm>
            <a:off x="1905000" y="0"/>
            <a:ext cx="10287000" cy="6858000"/>
          </a:xfrm>
          <a:prstGeom prst="rect">
            <a:avLst/>
          </a:prstGeom>
        </p:spPr>
      </p:pic>
    </p:spTree>
    <p:extLst>
      <p:ext uri="{BB962C8B-B14F-4D97-AF65-F5344CB8AC3E}">
        <p14:creationId xmlns:p14="http://schemas.microsoft.com/office/powerpoint/2010/main" val="233904446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1_Breaker">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CB8DA39-5EB3-C1BA-D804-706D71953C1A}"/>
              </a:ext>
            </a:extLst>
          </p:cNvPr>
          <p:cNvPicPr>
            <a:picLocks noChangeAspect="1"/>
          </p:cNvPicPr>
          <p:nvPr userDrawn="1"/>
        </p:nvPicPr>
        <p:blipFill>
          <a:blip r:embed="rId2"/>
          <a:stretch>
            <a:fillRect/>
          </a:stretch>
        </p:blipFill>
        <p:spPr>
          <a:xfrm flipH="1">
            <a:off x="0" y="0"/>
            <a:ext cx="7454900" cy="6273800"/>
          </a:xfrm>
          <a:prstGeom prst="rect">
            <a:avLst/>
          </a:prstGeom>
        </p:spPr>
      </p:pic>
      <p:pic>
        <p:nvPicPr>
          <p:cNvPr id="35" name="Graphic 34">
            <a:extLst>
              <a:ext uri="{FF2B5EF4-FFF2-40B4-BE49-F238E27FC236}">
                <a16:creationId xmlns:a16="http://schemas.microsoft.com/office/drawing/2014/main" id="{B740DB18-FB40-8A40-9C99-C82E37F311C5}"/>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27905" y="6404039"/>
            <a:ext cx="1143000" cy="354330"/>
          </a:xfrm>
          <a:prstGeom prst="rect">
            <a:avLst/>
          </a:prstGeom>
        </p:spPr>
      </p:pic>
      <p:sp>
        <p:nvSpPr>
          <p:cNvPr id="12" name="Text Placeholder 11">
            <a:extLst>
              <a:ext uri="{FF2B5EF4-FFF2-40B4-BE49-F238E27FC236}">
                <a16:creationId xmlns:a16="http://schemas.microsoft.com/office/drawing/2014/main" id="{B1C10B13-2F5A-4934-A945-9E34728E01DE}"/>
              </a:ext>
            </a:extLst>
          </p:cNvPr>
          <p:cNvSpPr>
            <a:spLocks noGrp="1"/>
          </p:cNvSpPr>
          <p:nvPr>
            <p:ph type="body" sz="quarter" idx="16" hasCustomPrompt="1"/>
          </p:nvPr>
        </p:nvSpPr>
        <p:spPr>
          <a:xfrm>
            <a:off x="7091679" y="1113883"/>
            <a:ext cx="5100321" cy="2242568"/>
          </a:xfrm>
          <a:prstGeom prst="rect">
            <a:avLst/>
          </a:prstGeom>
          <a:noFill/>
          <a:ln>
            <a:noFill/>
          </a:ln>
        </p:spPr>
        <p:txBody>
          <a:bodyPr vert="horz" lIns="0" tIns="0" rIns="0" bIns="0" rtlCol="0" anchor="b">
            <a:noAutofit/>
          </a:bodyPr>
          <a:lstStyle>
            <a:lvl1pPr marL="0" indent="0" fontAlgn="base">
              <a:lnSpc>
                <a:spcPct val="100000"/>
              </a:lnSpc>
              <a:spcBef>
                <a:spcPts val="0"/>
              </a:spcBef>
              <a:buNone/>
              <a:defRPr lang="en-US" sz="3800" kern="1200" dirty="0" smtClean="0">
                <a:ln w="3175">
                  <a:noFill/>
                </a:ln>
                <a:solidFill>
                  <a:schemeClr val="bg1"/>
                </a:solidFill>
                <a:latin typeface="+mj-lt"/>
                <a:ea typeface="+mj-ea"/>
                <a:cs typeface="+mj-cs"/>
              </a:defRPr>
            </a:lvl1pPr>
            <a:lvl2pPr marL="114300" indent="0">
              <a:buNone/>
              <a:defRPr lang="en-US" smtClean="0"/>
            </a:lvl2pPr>
            <a:lvl3pPr>
              <a:defRPr lang="en-US" smtClean="0"/>
            </a:lvl3pPr>
            <a:lvl4pPr>
              <a:defRPr lang="en-US" smtClean="0"/>
            </a:lvl4pPr>
            <a:lvl5pPr>
              <a:defRPr lang="en-US"/>
            </a:lvl5pPr>
          </a:lstStyle>
          <a:p>
            <a:r>
              <a:rPr lang="en-US" dirty="0"/>
              <a:t>Breaker slide</a:t>
            </a:r>
          </a:p>
        </p:txBody>
      </p:sp>
      <p:sp>
        <p:nvSpPr>
          <p:cNvPr id="9" name="Text Placeholder 8">
            <a:extLst>
              <a:ext uri="{FF2B5EF4-FFF2-40B4-BE49-F238E27FC236}">
                <a16:creationId xmlns:a16="http://schemas.microsoft.com/office/drawing/2014/main" id="{9330AC38-FC0C-4B0C-8B12-F0EACB4CE126}"/>
              </a:ext>
            </a:extLst>
          </p:cNvPr>
          <p:cNvSpPr>
            <a:spLocks noGrp="1"/>
          </p:cNvSpPr>
          <p:nvPr>
            <p:ph type="body" sz="quarter" idx="18" hasCustomPrompt="1"/>
          </p:nvPr>
        </p:nvSpPr>
        <p:spPr>
          <a:xfrm>
            <a:off x="7109142" y="3429000"/>
            <a:ext cx="5084359" cy="307777"/>
          </a:xfrm>
          <a:prstGeom prst="rect">
            <a:avLst/>
          </a:prstGeom>
        </p:spPr>
        <p:txBody>
          <a:bodyPr vert="horz" wrap="square" lIns="0" tIns="0" rIns="0" bIns="0" rtlCol="0" anchor="t">
            <a:spAutoFit/>
          </a:bodyPr>
          <a:lstStyle>
            <a:lvl1pPr marL="0" indent="0">
              <a:buNone/>
              <a:defRPr lang="en-US" sz="2000" dirty="0">
                <a:ln>
                  <a:noFill/>
                </a:ln>
                <a:solidFill>
                  <a:schemeClr val="bg1"/>
                </a:solidFill>
              </a:defRPr>
            </a:lvl1pPr>
          </a:lstStyle>
          <a:p>
            <a:pPr lvl="0"/>
            <a:r>
              <a:rPr lang="en-US" dirty="0"/>
              <a:t>All titles/subtitles are sentence case</a:t>
            </a:r>
          </a:p>
        </p:txBody>
      </p:sp>
      <p:sp>
        <p:nvSpPr>
          <p:cNvPr id="3" name="Graphic 2">
            <a:extLst>
              <a:ext uri="{FF2B5EF4-FFF2-40B4-BE49-F238E27FC236}">
                <a16:creationId xmlns:a16="http://schemas.microsoft.com/office/drawing/2014/main" id="{7EF60E61-AA73-8D8E-6D66-BA84E61610FC}"/>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95511656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hank you US">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8542DD0-7F78-EC7A-D5FC-D2A142724A8E}"/>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552" y="309191"/>
            <a:ext cx="259873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a:lnSpc>
                <a:spcPct val="110000"/>
              </a:lnSpc>
              <a:spcBef>
                <a:spcPts val="300"/>
              </a:spcBef>
              <a:spcAft>
                <a:spcPts val="300"/>
              </a:spcAft>
            </a:pPr>
            <a:r>
              <a:rPr lang="en-US" sz="1500" b="1" dirty="0">
                <a:solidFill>
                  <a:schemeClr val="tx1"/>
                </a:solidFill>
              </a:rPr>
              <a:t>Rackspace Technology</a:t>
            </a:r>
          </a:p>
          <a:p>
            <a:pPr>
              <a:lnSpc>
                <a:spcPct val="110000"/>
              </a:lnSpc>
              <a:spcBef>
                <a:spcPts val="300"/>
              </a:spcBef>
              <a:spcAft>
                <a:spcPts val="300"/>
              </a:spcAft>
            </a:pPr>
            <a:r>
              <a:rPr lang="en-US" sz="1500" dirty="0">
                <a:solidFill>
                  <a:schemeClr val="tx1"/>
                </a:solidFill>
              </a:rPr>
              <a:t>One Fanatical Place</a:t>
            </a:r>
            <a:br>
              <a:rPr lang="en-US" sz="1500" dirty="0">
                <a:solidFill>
                  <a:schemeClr val="tx1"/>
                </a:solidFill>
              </a:rPr>
            </a:br>
            <a:r>
              <a:rPr lang="en-US" sz="1500" dirty="0">
                <a:solidFill>
                  <a:schemeClr val="tx1"/>
                </a:solidFill>
              </a:rPr>
              <a:t>San Antonio, TX 78218</a:t>
            </a:r>
          </a:p>
          <a:p>
            <a:pPr>
              <a:lnSpc>
                <a:spcPct val="110000"/>
              </a:lnSpc>
              <a:spcBef>
                <a:spcPts val="300"/>
              </a:spcBef>
              <a:spcAft>
                <a:spcPts val="300"/>
              </a:spcAft>
            </a:pPr>
            <a:r>
              <a:rPr lang="en-US" sz="1500" dirty="0">
                <a:solidFill>
                  <a:schemeClr val="tx1"/>
                </a:solidFill>
              </a:rPr>
              <a:t>US sales: 1-800-961-2888 </a:t>
            </a:r>
            <a:br>
              <a:rPr lang="en-US" sz="1500" dirty="0">
                <a:solidFill>
                  <a:schemeClr val="tx1"/>
                </a:solidFill>
              </a:rPr>
            </a:br>
            <a:r>
              <a:rPr lang="en-US" sz="1500" dirty="0">
                <a:solidFill>
                  <a:schemeClr val="tx1"/>
                </a:solidFill>
              </a:rPr>
              <a:t>US support: 1-800-961-4454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p>
          <a:p>
            <a:pPr marL="0" marR="0" lvl="0" indent="0" algn="l" defTabSz="914400" rtl="0" eaLnBrk="1" fontAlgn="auto" latinLnBrk="0" hangingPunct="1">
              <a:lnSpc>
                <a:spcPct val="110000"/>
              </a:lnSpc>
              <a:spcBef>
                <a:spcPts val="300"/>
              </a:spcBef>
              <a:spcAft>
                <a:spcPts val="300"/>
              </a:spcAft>
              <a:buClrTx/>
              <a:buSzTx/>
              <a:buFont typeface="Arial" panose="020B0604020202020204" pitchFamily="34" charset="0"/>
              <a:buNone/>
              <a:tabLst/>
              <a:defRPr/>
            </a:pPr>
            <a:endParaRPr lang="en-US" sz="450" cap="none" baseline="0" dirty="0">
              <a:solidFill>
                <a:schemeClr val="tx1"/>
              </a:solidFill>
            </a:endParaRPr>
          </a:p>
          <a:p>
            <a:pPr>
              <a:spcBef>
                <a:spcPts val="300"/>
              </a:spcBef>
              <a:spcAft>
                <a:spcPts val="300"/>
              </a:spcAft>
            </a:pPr>
            <a:endParaRPr lang="en-US" sz="450" dirty="0">
              <a:solidFill>
                <a:schemeClr val="tx1"/>
              </a:solidFill>
            </a:endParaRPr>
          </a:p>
        </p:txBody>
      </p:sp>
      <p:sp>
        <p:nvSpPr>
          <p:cNvPr id="8" name="Title 1">
            <a:extLst>
              <a:ext uri="{FF2B5EF4-FFF2-40B4-BE49-F238E27FC236}">
                <a16:creationId xmlns:a16="http://schemas.microsoft.com/office/drawing/2014/main" id="{CA8D6980-0755-4BDF-90B7-CB35F8A5326B}"/>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pic>
        <p:nvPicPr>
          <p:cNvPr id="9" name="Graphic 8">
            <a:extLst>
              <a:ext uri="{FF2B5EF4-FFF2-40B4-BE49-F238E27FC236}">
                <a16:creationId xmlns:a16="http://schemas.microsoft.com/office/drawing/2014/main" id="{40B8DA9A-ED61-5E43-8362-4E63965DB80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5" name="Graphic 2">
            <a:extLst>
              <a:ext uri="{FF2B5EF4-FFF2-40B4-BE49-F238E27FC236}">
                <a16:creationId xmlns:a16="http://schemas.microsoft.com/office/drawing/2014/main" id="{F5C83CB2-275A-FBA6-BB3A-46CB8C63DAB1}"/>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35283118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Thank you UK">
    <p:bg>
      <p:bgPr>
        <a:solidFill>
          <a:schemeClr val="tx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FFCA8B3-607E-EB86-6B92-3EC70005FC99}"/>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Unit 2, 6 Millington Road</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Hayes, Middlesex </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UB3 4AZ</a:t>
            </a:r>
          </a:p>
          <a:p>
            <a:pPr>
              <a:lnSpc>
                <a:spcPct val="110000"/>
              </a:lnSpc>
              <a:spcBef>
                <a:spcPts val="300"/>
              </a:spcBef>
              <a:spcAft>
                <a:spcPts val="300"/>
              </a:spcAft>
            </a:pPr>
            <a:r>
              <a:rPr lang="en-US" sz="1500" dirty="0">
                <a:solidFill>
                  <a:schemeClr val="tx1"/>
                </a:solidFill>
              </a:rPr>
              <a:t>U.K. sales: 0800 988 0100  </a:t>
            </a:r>
            <a:br>
              <a:rPr lang="en-US" sz="1500" dirty="0">
                <a:solidFill>
                  <a:schemeClr val="tx1"/>
                </a:solidFill>
              </a:rPr>
            </a:br>
            <a:r>
              <a:rPr lang="en-US" sz="1500" dirty="0">
                <a:solidFill>
                  <a:schemeClr val="tx1"/>
                </a:solidFill>
              </a:rPr>
              <a:t>U.K. support: 0800 988 0300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www.rackspace.co.uk</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7C797846-2FE7-1F4B-A5B0-CC5DA49A249B}"/>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A5CD6002-EFB6-8A46-9A72-06D0A61799C8}"/>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9EFADF9F-D78A-35D2-A20F-2DD7BA53DB69}"/>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679027127"/>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Thank you AUS">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A56B11D-EA4E-5DD4-8089-D6B4F96745E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45842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algn="l" defTabSz="228600" rtl="0" eaLnBrk="1" latinLnBrk="0" hangingPunct="1">
              <a:lnSpc>
                <a:spcPct val="110000"/>
              </a:lnSpc>
              <a:spcBef>
                <a:spcPts val="300"/>
              </a:spcBef>
              <a:spcAft>
                <a:spcPts val="300"/>
              </a:spcAft>
            </a:pPr>
            <a:r>
              <a:rPr lang="en-US" sz="1500" kern="1200" dirty="0">
                <a:solidFill>
                  <a:schemeClr val="tx1"/>
                </a:solidFill>
                <a:latin typeface="+mn-lt"/>
                <a:ea typeface="+mn-ea"/>
                <a:cs typeface="+mn-cs"/>
              </a:rPr>
              <a:t>Level 1, 37 Pitt Street,</a:t>
            </a:r>
            <a:br>
              <a:rPr lang="en-US" sz="1500" kern="1200" dirty="0">
                <a:solidFill>
                  <a:schemeClr val="tx1"/>
                </a:solidFill>
                <a:latin typeface="+mn-lt"/>
                <a:ea typeface="+mn-ea"/>
                <a:cs typeface="+mn-cs"/>
              </a:rPr>
            </a:br>
            <a:r>
              <a:rPr lang="en-US" sz="1500" kern="1200" dirty="0">
                <a:solidFill>
                  <a:schemeClr val="tx1"/>
                </a:solidFill>
                <a:latin typeface="+mn-lt"/>
                <a:ea typeface="+mn-ea"/>
                <a:cs typeface="+mn-cs"/>
              </a:rPr>
              <a:t>Sydney NSW 2000, Australia</a:t>
            </a:r>
          </a:p>
          <a:p>
            <a:pPr>
              <a:lnSpc>
                <a:spcPct val="110000"/>
              </a:lnSpc>
              <a:spcBef>
                <a:spcPts val="300"/>
              </a:spcBef>
              <a:spcAft>
                <a:spcPts val="300"/>
              </a:spcAft>
            </a:pPr>
            <a:r>
              <a:rPr lang="en-US" sz="1500" dirty="0">
                <a:solidFill>
                  <a:schemeClr val="tx1"/>
                </a:solidFill>
              </a:rPr>
              <a:t>AUS sales: 1-800-722-577</a:t>
            </a:r>
            <a:br>
              <a:rPr lang="en-US" sz="1500" dirty="0">
                <a:solidFill>
                  <a:schemeClr val="tx1"/>
                </a:solidFill>
              </a:rPr>
            </a:br>
            <a:r>
              <a:rPr lang="en-US" sz="1500" dirty="0">
                <a:solidFill>
                  <a:schemeClr val="tx1"/>
                </a:solidFill>
              </a:rPr>
              <a:t>AUS support: 1-800-421-267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www.rackspace.co.au</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AC0FA533-2CE7-6E47-81C4-BFCDCCE0C1C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1D0A5DDB-735A-4943-B6C8-C8D38CE28960}"/>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5" name="Graphic 2">
            <a:extLst>
              <a:ext uri="{FF2B5EF4-FFF2-40B4-BE49-F238E27FC236}">
                <a16:creationId xmlns:a16="http://schemas.microsoft.com/office/drawing/2014/main" id="{624A405F-8B3B-B4AB-17B8-B5417AC9E53C}"/>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214619940"/>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Thank you ASIA">
    <p:bg>
      <p:bgPr>
        <a:solidFill>
          <a:schemeClr val="tx1"/>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497F4D2-160B-C97C-40D9-A804160E6AD4}"/>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297657" y="0"/>
            <a:ext cx="8674893" cy="6858000"/>
          </a:xfrm>
          <a:prstGeom prst="rect">
            <a:avLst/>
          </a:prstGeom>
        </p:spPr>
      </p:pic>
      <p:sp>
        <p:nvSpPr>
          <p:cNvPr id="2" name="Rectangle 1">
            <a:extLst>
              <a:ext uri="{FF2B5EF4-FFF2-40B4-BE49-F238E27FC236}">
                <a16:creationId xmlns:a16="http://schemas.microsoft.com/office/drawing/2014/main" id="{F73CEE62-06FB-4246-978E-3904D1D86A70}"/>
              </a:ext>
            </a:extLst>
          </p:cNvPr>
          <p:cNvSpPr/>
          <p:nvPr userDrawn="1"/>
        </p:nvSpPr>
        <p:spPr bwMode="white">
          <a:xfrm>
            <a:off x="8972550" y="0"/>
            <a:ext cx="321945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50"/>
          </a:p>
        </p:txBody>
      </p:sp>
      <p:sp>
        <p:nvSpPr>
          <p:cNvPr id="16" name="Rectangle 15">
            <a:extLst>
              <a:ext uri="{FF2B5EF4-FFF2-40B4-BE49-F238E27FC236}">
                <a16:creationId xmlns:a16="http://schemas.microsoft.com/office/drawing/2014/main" id="{5B635464-C3B1-44DD-82FD-C4B56469A642}"/>
              </a:ext>
            </a:extLst>
          </p:cNvPr>
          <p:cNvSpPr/>
          <p:nvPr userDrawn="1"/>
        </p:nvSpPr>
        <p:spPr>
          <a:xfrm>
            <a:off x="9226296" y="310896"/>
            <a:ext cx="2596896" cy="61851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rtlCol="0" anchor="t" anchorCtr="0"/>
          <a:lstStyle/>
          <a:p>
            <a:pPr marL="0" algn="l" defTabSz="228600" rtl="0" eaLnBrk="1" latinLnBrk="0" hangingPunct="1">
              <a:lnSpc>
                <a:spcPct val="110000"/>
              </a:lnSpc>
              <a:spcBef>
                <a:spcPts val="300"/>
              </a:spcBef>
              <a:spcAft>
                <a:spcPts val="300"/>
              </a:spcAft>
            </a:pPr>
            <a:r>
              <a:rPr lang="en-US" sz="1500" b="1" kern="1200" dirty="0">
                <a:solidFill>
                  <a:schemeClr val="tx1"/>
                </a:solidFill>
                <a:latin typeface="+mn-lt"/>
                <a:ea typeface="+mn-ea"/>
                <a:cs typeface="+mn-cs"/>
              </a:rPr>
              <a:t>Rackspace Technology</a:t>
            </a:r>
          </a:p>
          <a:p>
            <a:pPr marL="0" marR="0" lvl="0" indent="0" algn="l" defTabSz="228600" rtl="0" eaLnBrk="1" fontAlgn="auto" latinLnBrk="0" hangingPunct="1">
              <a:lnSpc>
                <a:spcPct val="110000"/>
              </a:lnSpc>
              <a:spcBef>
                <a:spcPts val="300"/>
              </a:spcBef>
              <a:spcAft>
                <a:spcPts val="600"/>
              </a:spcAft>
              <a:buClrTx/>
              <a:buSzTx/>
              <a:buFontTx/>
              <a:buNone/>
              <a:tabLst/>
              <a:defRPr/>
            </a:pPr>
            <a:r>
              <a:rPr lang="en-US" sz="1500" kern="1200" cap="none" dirty="0">
                <a:solidFill>
                  <a:schemeClr val="tx1"/>
                </a:solidFill>
                <a:latin typeface="+mn-lt"/>
                <a:ea typeface="+mn-ea"/>
                <a:cs typeface="+mn-cs"/>
              </a:rPr>
              <a:t>9/F., Cambridge House</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Taikoo Place, 979 King's Road</a:t>
            </a:r>
            <a:br>
              <a:rPr lang="en-US" sz="1500" kern="1200" cap="none" dirty="0">
                <a:solidFill>
                  <a:schemeClr val="tx1"/>
                </a:solidFill>
                <a:latin typeface="+mn-lt"/>
                <a:ea typeface="+mn-ea"/>
                <a:cs typeface="+mn-cs"/>
              </a:rPr>
            </a:br>
            <a:r>
              <a:rPr lang="en-US" sz="1500" kern="1200" cap="none" dirty="0">
                <a:solidFill>
                  <a:schemeClr val="tx1"/>
                </a:solidFill>
                <a:latin typeface="+mn-lt"/>
                <a:ea typeface="+mn-ea"/>
                <a:cs typeface="+mn-cs"/>
              </a:rPr>
              <a:t>Quarry Bay, Hong Kong</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China: +86 21 5058 8808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Hong Kong: +852 3752 6488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India: 000800 100 8796</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Philippines: 1 800 1110 1468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Singapore: +65 6428 6102 </a:t>
            </a:r>
          </a:p>
          <a:p>
            <a:pPr marL="0" algn="l" defTabSz="228600" rtl="0" eaLnBrk="1" latinLnBrk="0" hangingPunct="1">
              <a:lnSpc>
                <a:spcPct val="110000"/>
              </a:lnSpc>
              <a:spcBef>
                <a:spcPts val="300"/>
              </a:spcBef>
              <a:spcAft>
                <a:spcPts val="0"/>
              </a:spcAft>
            </a:pPr>
            <a:r>
              <a:rPr lang="en-US" sz="1500" kern="1200" cap="none" dirty="0">
                <a:solidFill>
                  <a:schemeClr val="tx1"/>
                </a:solidFill>
                <a:latin typeface="+mn-lt"/>
                <a:ea typeface="+mn-ea"/>
                <a:cs typeface="+mn-cs"/>
              </a:rPr>
              <a:t>Taiwan: +886 2 2650 7441</a:t>
            </a:r>
          </a:p>
          <a:p>
            <a:pPr marL="0" algn="l" defTabSz="228600" rtl="0" eaLnBrk="1" latinLnBrk="0" hangingPunct="1">
              <a:lnSpc>
                <a:spcPct val="110000"/>
              </a:lnSpc>
              <a:spcBef>
                <a:spcPts val="300"/>
              </a:spcBef>
              <a:spcAft>
                <a:spcPts val="600"/>
              </a:spcAft>
            </a:pPr>
            <a:r>
              <a:rPr lang="en-US" sz="1500" kern="1200" cap="none" dirty="0">
                <a:solidFill>
                  <a:schemeClr val="tx1"/>
                </a:solidFill>
                <a:latin typeface="+mn-lt"/>
                <a:ea typeface="+mn-ea"/>
                <a:cs typeface="+mn-cs"/>
              </a:rPr>
              <a:t>Thailand: +66 2105 5712 </a:t>
            </a:r>
          </a:p>
          <a:p>
            <a:pPr marL="0" algn="l" defTabSz="228600" rtl="0" eaLnBrk="1" latinLnBrk="0" hangingPunct="1">
              <a:lnSpc>
                <a:spcPct val="110000"/>
              </a:lnSpc>
              <a:spcBef>
                <a:spcPts val="300"/>
              </a:spcBef>
              <a:spcAft>
                <a:spcPts val="1800"/>
              </a:spcAft>
            </a:pPr>
            <a:r>
              <a:rPr lang="en-US" sz="1500" b="1" kern="1200" cap="none" dirty="0">
                <a:solidFill>
                  <a:schemeClr val="tx1"/>
                </a:solidFill>
                <a:latin typeface="+mn-lt"/>
                <a:ea typeface="+mn-ea"/>
                <a:cs typeface="+mn-cs"/>
              </a:rPr>
              <a:t>www.rackspace.com</a:t>
            </a:r>
          </a:p>
          <a:p>
            <a:pPr marL="0" marR="0" lvl="0" indent="0" algn="l" defTabSz="228600" rtl="0" eaLnBrk="1" fontAlgn="auto" latinLnBrk="0" hangingPunct="1">
              <a:lnSpc>
                <a:spcPct val="110000"/>
              </a:lnSpc>
              <a:spcBef>
                <a:spcPts val="300"/>
              </a:spcBef>
              <a:spcAft>
                <a:spcPts val="300"/>
              </a:spcAft>
              <a:buClrTx/>
              <a:buSzTx/>
              <a:buFontTx/>
              <a:buNone/>
              <a:tabLst/>
              <a:defRPr sz="1400" b="1">
                <a:solidFill>
                  <a:srgbClr val="2E3238"/>
                </a:solidFill>
              </a:defRPr>
            </a:pPr>
            <a:r>
              <a:rPr kumimoji="0" lang="en-US" sz="600" b="0" i="0" u="none" strike="noStrike" kern="1200" cap="none" spc="0" normalizeH="0" baseline="0" noProof="0" dirty="0">
                <a:ln>
                  <a:noFill/>
                </a:ln>
                <a:solidFill>
                  <a:schemeClr val="tx1"/>
                </a:solidFill>
                <a:effectLst/>
                <a:uLnTx/>
                <a:uFillTx/>
                <a:latin typeface="+mn-lt"/>
                <a:ea typeface="+mn-ea"/>
                <a:cs typeface="+mn-cs"/>
              </a:rPr>
              <a:t>Copyright © 2021 Rackspace | Rackspace</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Fanatical Support</a:t>
            </a:r>
            <a:r>
              <a:rPr kumimoji="0" lang="en-US" sz="600" b="0" i="0" u="none" strike="noStrike" kern="1200" cap="none" spc="0" normalizeH="0" baseline="30000" noProof="0" dirty="0">
                <a:ln>
                  <a:noFill/>
                </a:ln>
                <a:solidFill>
                  <a:schemeClr val="tx1"/>
                </a:solidFill>
                <a:effectLst/>
                <a:uLnTx/>
                <a:uFillTx/>
                <a:latin typeface="+mn-lt"/>
                <a:ea typeface="+mn-ea"/>
                <a:cs typeface="+mn-cs"/>
              </a:rPr>
              <a:t>®</a:t>
            </a:r>
            <a:r>
              <a:rPr kumimoji="0" lang="en-US" sz="600" b="0" i="0" u="none" strike="noStrike" kern="1200" cap="none" spc="0" normalizeH="0" baseline="0" noProof="0" dirty="0">
                <a:ln>
                  <a:noFill/>
                </a:ln>
                <a:solidFill>
                  <a:schemeClr val="tx1"/>
                </a:solidFill>
                <a:effectLst/>
                <a:uLnTx/>
                <a:uFillTx/>
                <a:latin typeface="+mn-lt"/>
                <a:ea typeface="+mn-ea"/>
                <a:cs typeface="+mn-cs"/>
              </a:rPr>
              <a:t> and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other Rackspace marks are either registered service marks or service marks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of Rackspace US, Inc. in the United States and other countries. Features, </a:t>
            </a:r>
            <a:br>
              <a:rPr kumimoji="0" lang="en-US" sz="600" b="0" i="0" u="none" strike="noStrike" kern="1200" cap="none" spc="0" normalizeH="0" baseline="0" noProof="0" dirty="0">
                <a:ln>
                  <a:noFill/>
                </a:ln>
                <a:solidFill>
                  <a:schemeClr val="tx1"/>
                </a:solidFill>
                <a:effectLst/>
                <a:uLnTx/>
                <a:uFillTx/>
                <a:latin typeface="+mn-lt"/>
                <a:ea typeface="+mn-ea"/>
                <a:cs typeface="+mn-cs"/>
              </a:rPr>
            </a:br>
            <a:r>
              <a:rPr kumimoji="0" lang="en-US" sz="600" b="0" i="0" u="none" strike="noStrike" kern="1200" cap="none" spc="0" normalizeH="0" baseline="0" noProof="0" dirty="0">
                <a:ln>
                  <a:noFill/>
                </a:ln>
                <a:solidFill>
                  <a:schemeClr val="tx1"/>
                </a:solidFill>
                <a:effectLst/>
                <a:uLnTx/>
                <a:uFillTx/>
                <a:latin typeface="+mn-lt"/>
                <a:ea typeface="+mn-ea"/>
                <a:cs typeface="+mn-cs"/>
              </a:rPr>
              <a:t>benefits and pricing presented depend on system configuration and are subject to change without notice. Rackspace disclaims any representation, warranty or other legal commitment regarding its services except for those expressly stated in a Rackspace services agreement. All other trademarks, service marks, images, products and brands remain the sole property of their respective holders and do not imply endorsement or sponsorship.</a:t>
            </a:r>
            <a:endParaRPr lang="en-US" sz="700" cap="none" baseline="0" dirty="0">
              <a:solidFill>
                <a:schemeClr val="tx1"/>
              </a:solidFill>
            </a:endParaRPr>
          </a:p>
          <a:p>
            <a:pPr>
              <a:spcBef>
                <a:spcPts val="300"/>
              </a:spcBef>
              <a:spcAft>
                <a:spcPts val="300"/>
              </a:spcAft>
            </a:pPr>
            <a:endParaRPr lang="en-US" sz="450" dirty="0">
              <a:solidFill>
                <a:schemeClr val="tx1"/>
              </a:solidFill>
            </a:endParaRPr>
          </a:p>
        </p:txBody>
      </p:sp>
      <p:pic>
        <p:nvPicPr>
          <p:cNvPr id="6" name="Graphic 5">
            <a:extLst>
              <a:ext uri="{FF2B5EF4-FFF2-40B4-BE49-F238E27FC236}">
                <a16:creationId xmlns:a16="http://schemas.microsoft.com/office/drawing/2014/main" id="{55E1009B-6DDE-3A4A-A67D-3789AA6DC5A4}"/>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27903" y="5837209"/>
            <a:ext cx="2441448" cy="756849"/>
          </a:xfrm>
          <a:prstGeom prst="rect">
            <a:avLst/>
          </a:prstGeom>
        </p:spPr>
      </p:pic>
      <p:sp>
        <p:nvSpPr>
          <p:cNvPr id="8" name="Title 1">
            <a:extLst>
              <a:ext uri="{FF2B5EF4-FFF2-40B4-BE49-F238E27FC236}">
                <a16:creationId xmlns:a16="http://schemas.microsoft.com/office/drawing/2014/main" id="{62B38B6C-0963-FC49-B60A-104F4423F171}"/>
              </a:ext>
            </a:extLst>
          </p:cNvPr>
          <p:cNvSpPr txBox="1">
            <a:spLocks/>
          </p:cNvSpPr>
          <p:nvPr userDrawn="1"/>
        </p:nvSpPr>
        <p:spPr>
          <a:xfrm>
            <a:off x="297657" y="140639"/>
            <a:ext cx="5693568" cy="1031051"/>
          </a:xfrm>
          <a:prstGeom prst="rect">
            <a:avLst/>
          </a:prstGeom>
          <a:ln w="12700">
            <a:noFill/>
          </a:ln>
        </p:spPr>
        <p:txBody>
          <a:bodyPr vert="horz" lIns="0" tIns="0" rIns="0" bIns="0" rtlCol="0" anchor="t" anchorCtr="0">
            <a:spAutoFit/>
          </a:bodyPr>
          <a:lstStyle>
            <a:lvl1pPr algn="l" defTabSz="1828800" rtl="0" eaLnBrk="1" latinLnBrk="0" hangingPunct="1">
              <a:lnSpc>
                <a:spcPct val="100000"/>
              </a:lnSpc>
              <a:spcBef>
                <a:spcPct val="0"/>
              </a:spcBef>
              <a:buNone/>
              <a:defRPr sz="8800" kern="1200">
                <a:ln w="9525">
                  <a:solidFill>
                    <a:schemeClr val="tx2"/>
                  </a:solidFill>
                </a:ln>
                <a:solidFill>
                  <a:schemeClr val="bg1"/>
                </a:solidFill>
                <a:latin typeface="+mj-lt"/>
                <a:ea typeface="+mj-ea"/>
                <a:cs typeface="+mj-cs"/>
              </a:defRPr>
            </a:lvl1pPr>
          </a:lstStyle>
          <a:p>
            <a:pPr marL="0" algn="l" defTabSz="914400" rtl="0" eaLnBrk="1" latinLnBrk="0" hangingPunct="1">
              <a:lnSpc>
                <a:spcPct val="100000"/>
              </a:lnSpc>
              <a:spcBef>
                <a:spcPct val="0"/>
              </a:spcBef>
              <a:buNone/>
            </a:pPr>
            <a:r>
              <a:rPr lang="en-US" sz="6700" kern="1200" dirty="0">
                <a:ln w="9525">
                  <a:noFill/>
                </a:ln>
                <a:solidFill>
                  <a:schemeClr val="bg1"/>
                </a:solidFill>
                <a:latin typeface="+mj-lt"/>
                <a:ea typeface="+mj-ea"/>
                <a:cs typeface="+mj-cs"/>
              </a:rPr>
              <a:t>Thank you</a:t>
            </a:r>
          </a:p>
        </p:txBody>
      </p:sp>
      <p:sp>
        <p:nvSpPr>
          <p:cNvPr id="4" name="Graphic 2">
            <a:extLst>
              <a:ext uri="{FF2B5EF4-FFF2-40B4-BE49-F238E27FC236}">
                <a16:creationId xmlns:a16="http://schemas.microsoft.com/office/drawing/2014/main" id="{3B656623-07C0-9359-8C07-651BB1DF88A2}"/>
              </a:ext>
            </a:extLst>
          </p:cNvPr>
          <p:cNvSpPr/>
          <p:nvPr userDrawn="1"/>
        </p:nvSpPr>
        <p:spPr>
          <a:xfrm>
            <a:off x="9226552"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tx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4148599746"/>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2_Logo">
    <p:bg>
      <p:bgPr>
        <a:solidFill>
          <a:schemeClr val="tx1"/>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F4F7020-A4CC-335A-1D32-F7778AF48C3F}"/>
              </a:ext>
            </a:extLst>
          </p:cNvPr>
          <p:cNvPicPr>
            <a:picLocks noChangeAspect="1"/>
          </p:cNvPicPr>
          <p:nvPr userDrawn="1"/>
        </p:nvPicPr>
        <p:blipFill>
          <a:blip r:embed="rId2"/>
          <a:stretch>
            <a:fillRect/>
          </a:stretch>
        </p:blipFill>
        <p:spPr>
          <a:xfrm>
            <a:off x="838200" y="0"/>
            <a:ext cx="10515600" cy="6858000"/>
          </a:xfrm>
          <a:prstGeom prst="rect">
            <a:avLst/>
          </a:prstGeom>
        </p:spPr>
      </p:pic>
      <p:sp>
        <p:nvSpPr>
          <p:cNvPr id="7" name="Graphic 5">
            <a:extLst>
              <a:ext uri="{FF2B5EF4-FFF2-40B4-BE49-F238E27FC236}">
                <a16:creationId xmlns:a16="http://schemas.microsoft.com/office/drawing/2014/main" id="{08DE7455-B783-AA7A-0958-9BF73F5F802D}"/>
              </a:ext>
            </a:extLst>
          </p:cNvPr>
          <p:cNvSpPr>
            <a:spLocks noChangeAspect="1"/>
          </p:cNvSpPr>
          <p:nvPr/>
        </p:nvSpPr>
        <p:spPr>
          <a:xfrm>
            <a:off x="2823505" y="2807208"/>
            <a:ext cx="6544990" cy="1243584"/>
          </a:xfrm>
          <a:custGeom>
            <a:avLst/>
            <a:gdLst>
              <a:gd name="connsiteX0" fmla="*/ 3216560 w 4875349"/>
              <a:gd name="connsiteY0" fmla="*/ 504882 h 926343"/>
              <a:gd name="connsiteX1" fmla="*/ 3216558 w 4875349"/>
              <a:gd name="connsiteY1" fmla="*/ 113422 h 926343"/>
              <a:gd name="connsiteX2" fmla="*/ 3240379 w 4875349"/>
              <a:gd name="connsiteY2" fmla="*/ 113422 h 926343"/>
              <a:gd name="connsiteX3" fmla="*/ 3240381 w 4875349"/>
              <a:gd name="connsiteY3" fmla="*/ 504882 h 926343"/>
              <a:gd name="connsiteX4" fmla="*/ 3216560 w 4875349"/>
              <a:gd name="connsiteY4" fmla="*/ 504882 h 926343"/>
              <a:gd name="connsiteX5" fmla="*/ 4045162 w 4875349"/>
              <a:gd name="connsiteY5" fmla="*/ 501503 h 926343"/>
              <a:gd name="connsiteX6" fmla="*/ 4065592 w 4875349"/>
              <a:gd name="connsiteY6" fmla="*/ 501503 h 926343"/>
              <a:gd name="connsiteX7" fmla="*/ 4065592 w 4875349"/>
              <a:gd name="connsiteY7" fmla="*/ 436819 h 926343"/>
              <a:gd name="connsiteX8" fmla="*/ 4113948 w 4875349"/>
              <a:gd name="connsiteY8" fmla="*/ 436819 h 926343"/>
              <a:gd name="connsiteX9" fmla="*/ 4113948 w 4875349"/>
              <a:gd name="connsiteY9" fmla="*/ 420806 h 926343"/>
              <a:gd name="connsiteX10" fmla="*/ 4065592 w 4875349"/>
              <a:gd name="connsiteY10" fmla="*/ 420806 h 926343"/>
              <a:gd name="connsiteX11" fmla="*/ 4065592 w 4875349"/>
              <a:gd name="connsiteY11" fmla="*/ 370635 h 926343"/>
              <a:gd name="connsiteX12" fmla="*/ 4121465 w 4875349"/>
              <a:gd name="connsiteY12" fmla="*/ 370635 h 926343"/>
              <a:gd name="connsiteX13" fmla="*/ 4123838 w 4875349"/>
              <a:gd name="connsiteY13" fmla="*/ 354398 h 926343"/>
              <a:gd name="connsiteX14" fmla="*/ 4045162 w 4875349"/>
              <a:gd name="connsiteY14" fmla="*/ 354398 h 926343"/>
              <a:gd name="connsiteX15" fmla="*/ 4045162 w 4875349"/>
              <a:gd name="connsiteY15" fmla="*/ 501503 h 926343"/>
              <a:gd name="connsiteX16" fmla="*/ 4173291 w 4875349"/>
              <a:gd name="connsiteY16" fmla="*/ 348426 h 926343"/>
              <a:gd name="connsiteX17" fmla="*/ 4159329 w 4875349"/>
              <a:gd name="connsiteY17" fmla="*/ 361661 h 926343"/>
              <a:gd name="connsiteX18" fmla="*/ 4145567 w 4875349"/>
              <a:gd name="connsiteY18" fmla="*/ 348426 h 926343"/>
              <a:gd name="connsiteX19" fmla="*/ 4159329 w 4875349"/>
              <a:gd name="connsiteY19" fmla="*/ 334968 h 926343"/>
              <a:gd name="connsiteX20" fmla="*/ 4173291 w 4875349"/>
              <a:gd name="connsiteY20" fmla="*/ 348426 h 926343"/>
              <a:gd name="connsiteX21" fmla="*/ 4169419 w 4875349"/>
              <a:gd name="connsiteY21" fmla="*/ 501497 h 926343"/>
              <a:gd name="connsiteX22" fmla="*/ 4149638 w 4875349"/>
              <a:gd name="connsiteY22" fmla="*/ 501497 h 926343"/>
              <a:gd name="connsiteX23" fmla="*/ 4149638 w 4875349"/>
              <a:gd name="connsiteY23" fmla="*/ 388985 h 926343"/>
              <a:gd name="connsiteX24" fmla="*/ 4169419 w 4875349"/>
              <a:gd name="connsiteY24" fmla="*/ 388985 h 926343"/>
              <a:gd name="connsiteX25" fmla="*/ 4169419 w 4875349"/>
              <a:gd name="connsiteY25" fmla="*/ 501497 h 926343"/>
              <a:gd name="connsiteX26" fmla="*/ 4270675 w 4875349"/>
              <a:gd name="connsiteY26" fmla="*/ 387709 h 926343"/>
              <a:gd name="connsiteX27" fmla="*/ 4267016 w 4875349"/>
              <a:gd name="connsiteY27" fmla="*/ 406922 h 926343"/>
              <a:gd name="connsiteX28" fmla="*/ 4257138 w 4875349"/>
              <a:gd name="connsiteY28" fmla="*/ 405632 h 926343"/>
              <a:gd name="connsiteX29" fmla="*/ 4230050 w 4875349"/>
              <a:gd name="connsiteY29" fmla="*/ 437236 h 926343"/>
              <a:gd name="connsiteX30" fmla="*/ 4230050 w 4875349"/>
              <a:gd name="connsiteY30" fmla="*/ 501498 h 926343"/>
              <a:gd name="connsiteX31" fmla="*/ 4210269 w 4875349"/>
              <a:gd name="connsiteY31" fmla="*/ 501498 h 926343"/>
              <a:gd name="connsiteX32" fmla="*/ 4210269 w 4875349"/>
              <a:gd name="connsiteY32" fmla="*/ 388999 h 926343"/>
              <a:gd name="connsiteX33" fmla="*/ 4227253 w 4875349"/>
              <a:gd name="connsiteY33" fmla="*/ 388999 h 926343"/>
              <a:gd name="connsiteX34" fmla="*/ 4229188 w 4875349"/>
              <a:gd name="connsiteY34" fmla="*/ 411834 h 926343"/>
              <a:gd name="connsiteX35" fmla="*/ 4259498 w 4875349"/>
              <a:gd name="connsiteY35" fmla="*/ 386419 h 926343"/>
              <a:gd name="connsiteX36" fmla="*/ 4270675 w 4875349"/>
              <a:gd name="connsiteY36" fmla="*/ 387709 h 926343"/>
              <a:gd name="connsiteX37" fmla="*/ 4362473 w 4875349"/>
              <a:gd name="connsiteY37" fmla="*/ 399240 h 926343"/>
              <a:gd name="connsiteX38" fmla="*/ 4354080 w 4875349"/>
              <a:gd name="connsiteY38" fmla="*/ 411619 h 926343"/>
              <a:gd name="connsiteX39" fmla="*/ 4324646 w 4875349"/>
              <a:gd name="connsiteY39" fmla="*/ 402019 h 926343"/>
              <a:gd name="connsiteX40" fmla="*/ 4303790 w 4875349"/>
              <a:gd name="connsiteY40" fmla="*/ 416742 h 926343"/>
              <a:gd name="connsiteX41" fmla="*/ 4328079 w 4875349"/>
              <a:gd name="connsiteY41" fmla="*/ 434888 h 926343"/>
              <a:gd name="connsiteX42" fmla="*/ 4365695 w 4875349"/>
              <a:gd name="connsiteY42" fmla="*/ 469903 h 926343"/>
              <a:gd name="connsiteX43" fmla="*/ 4320986 w 4875349"/>
              <a:gd name="connsiteY43" fmla="*/ 504062 h 926343"/>
              <a:gd name="connsiteX44" fmla="*/ 4278214 w 4875349"/>
              <a:gd name="connsiteY44" fmla="*/ 489327 h 926343"/>
              <a:gd name="connsiteX45" fmla="*/ 4288741 w 4875349"/>
              <a:gd name="connsiteY45" fmla="*/ 477370 h 926343"/>
              <a:gd name="connsiteX46" fmla="*/ 4320549 w 4875349"/>
              <a:gd name="connsiteY46" fmla="*/ 488260 h 926343"/>
              <a:gd name="connsiteX47" fmla="*/ 4344839 w 4875349"/>
              <a:gd name="connsiteY47" fmla="*/ 471180 h 926343"/>
              <a:gd name="connsiteX48" fmla="*/ 4317327 w 4875349"/>
              <a:gd name="connsiteY48" fmla="*/ 450045 h 926343"/>
              <a:gd name="connsiteX49" fmla="*/ 4283147 w 4875349"/>
              <a:gd name="connsiteY49" fmla="*/ 417387 h 926343"/>
              <a:gd name="connsiteX50" fmla="*/ 4323996 w 4875349"/>
              <a:gd name="connsiteY50" fmla="*/ 386428 h 926343"/>
              <a:gd name="connsiteX51" fmla="*/ 4362473 w 4875349"/>
              <a:gd name="connsiteY51" fmla="*/ 399240 h 926343"/>
              <a:gd name="connsiteX52" fmla="*/ 4450831 w 4875349"/>
              <a:gd name="connsiteY52" fmla="*/ 496374 h 926343"/>
              <a:gd name="connsiteX53" fmla="*/ 4425467 w 4875349"/>
              <a:gd name="connsiteY53" fmla="*/ 504064 h 926343"/>
              <a:gd name="connsiteX54" fmla="*/ 4394933 w 4875349"/>
              <a:gd name="connsiteY54" fmla="*/ 472039 h 926343"/>
              <a:gd name="connsiteX55" fmla="*/ 4394933 w 4875349"/>
              <a:gd name="connsiteY55" fmla="*/ 404142 h 926343"/>
              <a:gd name="connsiteX56" fmla="*/ 4375164 w 4875349"/>
              <a:gd name="connsiteY56" fmla="*/ 404142 h 926343"/>
              <a:gd name="connsiteX57" fmla="*/ 4375164 w 4875349"/>
              <a:gd name="connsiteY57" fmla="*/ 388998 h 926343"/>
              <a:gd name="connsiteX58" fmla="*/ 4394933 w 4875349"/>
              <a:gd name="connsiteY58" fmla="*/ 388998 h 926343"/>
              <a:gd name="connsiteX59" fmla="*/ 4394933 w 4875349"/>
              <a:gd name="connsiteY59" fmla="*/ 363583 h 926343"/>
              <a:gd name="connsiteX60" fmla="*/ 4414715 w 4875349"/>
              <a:gd name="connsiteY60" fmla="*/ 361226 h 926343"/>
              <a:gd name="connsiteX61" fmla="*/ 4414715 w 4875349"/>
              <a:gd name="connsiteY61" fmla="*/ 388998 h 926343"/>
              <a:gd name="connsiteX62" fmla="*/ 4441590 w 4875349"/>
              <a:gd name="connsiteY62" fmla="*/ 388998 h 926343"/>
              <a:gd name="connsiteX63" fmla="*/ 4439429 w 4875349"/>
              <a:gd name="connsiteY63" fmla="*/ 404142 h 926343"/>
              <a:gd name="connsiteX64" fmla="*/ 4414715 w 4875349"/>
              <a:gd name="connsiteY64" fmla="*/ 404142 h 926343"/>
              <a:gd name="connsiteX65" fmla="*/ 4414715 w 4875349"/>
              <a:gd name="connsiteY65" fmla="*/ 471183 h 926343"/>
              <a:gd name="connsiteX66" fmla="*/ 4428252 w 4875349"/>
              <a:gd name="connsiteY66" fmla="*/ 487841 h 926343"/>
              <a:gd name="connsiteX67" fmla="*/ 4443301 w 4875349"/>
              <a:gd name="connsiteY67" fmla="*/ 483351 h 926343"/>
              <a:gd name="connsiteX68" fmla="*/ 4450831 w 4875349"/>
              <a:gd name="connsiteY68" fmla="*/ 496374 h 926343"/>
              <a:gd name="connsiteX69" fmla="*/ 4491457 w 4875349"/>
              <a:gd name="connsiteY69" fmla="*/ 489118 h 926343"/>
              <a:gd name="connsiteX70" fmla="*/ 4476408 w 4875349"/>
              <a:gd name="connsiteY70" fmla="*/ 504064 h 926343"/>
              <a:gd name="connsiteX71" fmla="*/ 4461572 w 4875349"/>
              <a:gd name="connsiteY71" fmla="*/ 489118 h 926343"/>
              <a:gd name="connsiteX72" fmla="*/ 4476408 w 4875349"/>
              <a:gd name="connsiteY72" fmla="*/ 474383 h 926343"/>
              <a:gd name="connsiteX73" fmla="*/ 4491457 w 4875349"/>
              <a:gd name="connsiteY73" fmla="*/ 489118 h 926343"/>
              <a:gd name="connsiteX74" fmla="*/ 3521774 w 4875349"/>
              <a:gd name="connsiteY74" fmla="*/ 366146 h 926343"/>
              <a:gd name="connsiteX75" fmla="*/ 3505002 w 4875349"/>
              <a:gd name="connsiteY75" fmla="*/ 385996 h 926343"/>
              <a:gd name="connsiteX76" fmla="*/ 3478129 w 4875349"/>
              <a:gd name="connsiteY76" fmla="*/ 375748 h 926343"/>
              <a:gd name="connsiteX77" fmla="*/ 3445681 w 4875349"/>
              <a:gd name="connsiteY77" fmla="*/ 427204 h 926343"/>
              <a:gd name="connsiteX78" fmla="*/ 3478562 w 4875349"/>
              <a:gd name="connsiteY78" fmla="*/ 478013 h 926343"/>
              <a:gd name="connsiteX79" fmla="*/ 3507795 w 4875349"/>
              <a:gd name="connsiteY79" fmla="*/ 466055 h 926343"/>
              <a:gd name="connsiteX80" fmla="*/ 3523496 w 4875349"/>
              <a:gd name="connsiteY80" fmla="*/ 486133 h 926343"/>
              <a:gd name="connsiteX81" fmla="*/ 3476841 w 4875349"/>
              <a:gd name="connsiteY81" fmla="*/ 505135 h 926343"/>
              <a:gd name="connsiteX82" fmla="*/ 3408707 w 4875349"/>
              <a:gd name="connsiteY82" fmla="*/ 427204 h 926343"/>
              <a:gd name="connsiteX83" fmla="*/ 3476419 w 4875349"/>
              <a:gd name="connsiteY83" fmla="*/ 349918 h 926343"/>
              <a:gd name="connsiteX84" fmla="*/ 3521774 w 4875349"/>
              <a:gd name="connsiteY84" fmla="*/ 366145 h 926343"/>
              <a:gd name="connsiteX85" fmla="*/ 3537463 w 4875349"/>
              <a:gd name="connsiteY85" fmla="*/ 472680 h 926343"/>
              <a:gd name="connsiteX86" fmla="*/ 3537463 w 4875349"/>
              <a:gd name="connsiteY86" fmla="*/ 343090 h 926343"/>
              <a:gd name="connsiteX87" fmla="*/ 3571428 w 4875349"/>
              <a:gd name="connsiteY87" fmla="*/ 339455 h 926343"/>
              <a:gd name="connsiteX88" fmla="*/ 3571428 w 4875349"/>
              <a:gd name="connsiteY88" fmla="*/ 471401 h 926343"/>
              <a:gd name="connsiteX89" fmla="*/ 3577231 w 4875349"/>
              <a:gd name="connsiteY89" fmla="*/ 478444 h 926343"/>
              <a:gd name="connsiteX90" fmla="*/ 3582818 w 4875349"/>
              <a:gd name="connsiteY90" fmla="*/ 477380 h 926343"/>
              <a:gd name="connsiteX91" fmla="*/ 3589475 w 4875349"/>
              <a:gd name="connsiteY91" fmla="*/ 501284 h 926343"/>
              <a:gd name="connsiteX92" fmla="*/ 3568839 w 4875349"/>
              <a:gd name="connsiteY92" fmla="*/ 505135 h 926343"/>
              <a:gd name="connsiteX93" fmla="*/ 3537463 w 4875349"/>
              <a:gd name="connsiteY93" fmla="*/ 472680 h 926343"/>
              <a:gd name="connsiteX94" fmla="*/ 3708782 w 4875349"/>
              <a:gd name="connsiteY94" fmla="*/ 444927 h 926343"/>
              <a:gd name="connsiteX95" fmla="*/ 3652892 w 4875349"/>
              <a:gd name="connsiteY95" fmla="*/ 505123 h 926343"/>
              <a:gd name="connsiteX96" fmla="*/ 3597003 w 4875349"/>
              <a:gd name="connsiteY96" fmla="*/ 444712 h 926343"/>
              <a:gd name="connsiteX97" fmla="*/ 3652892 w 4875349"/>
              <a:gd name="connsiteY97" fmla="*/ 384502 h 926343"/>
              <a:gd name="connsiteX98" fmla="*/ 3708782 w 4875349"/>
              <a:gd name="connsiteY98" fmla="*/ 444927 h 926343"/>
              <a:gd name="connsiteX99" fmla="*/ 3632256 w 4875349"/>
              <a:gd name="connsiteY99" fmla="*/ 444712 h 926343"/>
              <a:gd name="connsiteX100" fmla="*/ 3652892 w 4875349"/>
              <a:gd name="connsiteY100" fmla="*/ 480371 h 926343"/>
              <a:gd name="connsiteX101" fmla="*/ 3673529 w 4875349"/>
              <a:gd name="connsiteY101" fmla="*/ 444927 h 926343"/>
              <a:gd name="connsiteX102" fmla="*/ 3652892 w 4875349"/>
              <a:gd name="connsiteY102" fmla="*/ 409267 h 926343"/>
              <a:gd name="connsiteX103" fmla="*/ 3632256 w 4875349"/>
              <a:gd name="connsiteY103" fmla="*/ 444712 h 926343"/>
              <a:gd name="connsiteX104" fmla="*/ 3827431 w 4875349"/>
              <a:gd name="connsiteY104" fmla="*/ 501502 h 926343"/>
              <a:gd name="connsiteX105" fmla="*/ 3797981 w 4875349"/>
              <a:gd name="connsiteY105" fmla="*/ 501502 h 926343"/>
              <a:gd name="connsiteX106" fmla="*/ 3796477 w 4875349"/>
              <a:gd name="connsiteY106" fmla="*/ 487200 h 926343"/>
              <a:gd name="connsiteX107" fmla="*/ 3761874 w 4875349"/>
              <a:gd name="connsiteY107" fmla="*/ 505125 h 926343"/>
              <a:gd name="connsiteX108" fmla="*/ 3730052 w 4875349"/>
              <a:gd name="connsiteY108" fmla="*/ 469478 h 926343"/>
              <a:gd name="connsiteX109" fmla="*/ 3730052 w 4875349"/>
              <a:gd name="connsiteY109" fmla="*/ 388139 h 926343"/>
              <a:gd name="connsiteX110" fmla="*/ 3764017 w 4875349"/>
              <a:gd name="connsiteY110" fmla="*/ 388139 h 926343"/>
              <a:gd name="connsiteX111" fmla="*/ 3764017 w 4875349"/>
              <a:gd name="connsiteY111" fmla="*/ 465209 h 926343"/>
              <a:gd name="connsiteX112" fmla="*/ 3774985 w 4875349"/>
              <a:gd name="connsiteY112" fmla="*/ 480157 h 926343"/>
              <a:gd name="connsiteX113" fmla="*/ 3793466 w 4875349"/>
              <a:gd name="connsiteY113" fmla="*/ 466919 h 926343"/>
              <a:gd name="connsiteX114" fmla="*/ 3793466 w 4875349"/>
              <a:gd name="connsiteY114" fmla="*/ 388139 h 926343"/>
              <a:gd name="connsiteX115" fmla="*/ 3827431 w 4875349"/>
              <a:gd name="connsiteY115" fmla="*/ 388139 h 926343"/>
              <a:gd name="connsiteX116" fmla="*/ 3827431 w 4875349"/>
              <a:gd name="connsiteY116" fmla="*/ 501502 h 926343"/>
              <a:gd name="connsiteX117" fmla="*/ 3956398 w 4875349"/>
              <a:gd name="connsiteY117" fmla="*/ 343082 h 926343"/>
              <a:gd name="connsiteX118" fmla="*/ 3956398 w 4875349"/>
              <a:gd name="connsiteY118" fmla="*/ 501503 h 926343"/>
              <a:gd name="connsiteX119" fmla="*/ 3926297 w 4875349"/>
              <a:gd name="connsiteY119" fmla="*/ 501503 h 926343"/>
              <a:gd name="connsiteX120" fmla="*/ 3924589 w 4875349"/>
              <a:gd name="connsiteY120" fmla="*/ 488265 h 926343"/>
              <a:gd name="connsiteX121" fmla="*/ 3892129 w 4875349"/>
              <a:gd name="connsiteY121" fmla="*/ 505126 h 926343"/>
              <a:gd name="connsiteX122" fmla="*/ 3848700 w 4875349"/>
              <a:gd name="connsiteY122" fmla="*/ 444499 h 926343"/>
              <a:gd name="connsiteX123" fmla="*/ 3895343 w 4875349"/>
              <a:gd name="connsiteY123" fmla="*/ 384505 h 926343"/>
              <a:gd name="connsiteX124" fmla="*/ 3922433 w 4875349"/>
              <a:gd name="connsiteY124" fmla="*/ 395184 h 926343"/>
              <a:gd name="connsiteX125" fmla="*/ 3922433 w 4875349"/>
              <a:gd name="connsiteY125" fmla="*/ 339459 h 926343"/>
              <a:gd name="connsiteX126" fmla="*/ 3956398 w 4875349"/>
              <a:gd name="connsiteY126" fmla="*/ 343082 h 926343"/>
              <a:gd name="connsiteX127" fmla="*/ 3922433 w 4875349"/>
              <a:gd name="connsiteY127" fmla="*/ 467554 h 926343"/>
              <a:gd name="connsiteX128" fmla="*/ 3922433 w 4875349"/>
              <a:gd name="connsiteY128" fmla="*/ 418669 h 926343"/>
              <a:gd name="connsiteX129" fmla="*/ 3904590 w 4875349"/>
              <a:gd name="connsiteY129" fmla="*/ 409055 h 926343"/>
              <a:gd name="connsiteX130" fmla="*/ 3883953 w 4875349"/>
              <a:gd name="connsiteY130" fmla="*/ 444714 h 926343"/>
              <a:gd name="connsiteX131" fmla="*/ 3902651 w 4875349"/>
              <a:gd name="connsiteY131" fmla="*/ 480361 h 926343"/>
              <a:gd name="connsiteX132" fmla="*/ 3922433 w 4875349"/>
              <a:gd name="connsiteY132" fmla="*/ 467554 h 926343"/>
              <a:gd name="connsiteX133" fmla="*/ 3476419 w 4875349"/>
              <a:gd name="connsiteY133" fmla="*/ 113000 h 926343"/>
              <a:gd name="connsiteX134" fmla="*/ 3408707 w 4875349"/>
              <a:gd name="connsiteY134" fmla="*/ 190285 h 926343"/>
              <a:gd name="connsiteX135" fmla="*/ 3476841 w 4875349"/>
              <a:gd name="connsiteY135" fmla="*/ 268216 h 926343"/>
              <a:gd name="connsiteX136" fmla="*/ 3523496 w 4875349"/>
              <a:gd name="connsiteY136" fmla="*/ 249215 h 926343"/>
              <a:gd name="connsiteX137" fmla="*/ 3507795 w 4875349"/>
              <a:gd name="connsiteY137" fmla="*/ 229136 h 926343"/>
              <a:gd name="connsiteX138" fmla="*/ 3478562 w 4875349"/>
              <a:gd name="connsiteY138" fmla="*/ 241095 h 926343"/>
              <a:gd name="connsiteX139" fmla="*/ 3445681 w 4875349"/>
              <a:gd name="connsiteY139" fmla="*/ 190285 h 926343"/>
              <a:gd name="connsiteX140" fmla="*/ 3478129 w 4875349"/>
              <a:gd name="connsiteY140" fmla="*/ 138829 h 926343"/>
              <a:gd name="connsiteX141" fmla="*/ 3505002 w 4875349"/>
              <a:gd name="connsiteY141" fmla="*/ 149077 h 926343"/>
              <a:gd name="connsiteX142" fmla="*/ 3521774 w 4875349"/>
              <a:gd name="connsiteY142" fmla="*/ 129227 h 926343"/>
              <a:gd name="connsiteX143" fmla="*/ 3476419 w 4875349"/>
              <a:gd name="connsiteY143" fmla="*/ 113000 h 926343"/>
              <a:gd name="connsiteX144" fmla="*/ 3633546 w 4875349"/>
              <a:gd name="connsiteY144" fmla="*/ 264584 h 926343"/>
              <a:gd name="connsiteX145" fmla="*/ 3604096 w 4875349"/>
              <a:gd name="connsiteY145" fmla="*/ 264584 h 926343"/>
              <a:gd name="connsiteX146" fmla="*/ 3602591 w 4875349"/>
              <a:gd name="connsiteY146" fmla="*/ 250282 h 926343"/>
              <a:gd name="connsiteX147" fmla="*/ 3567988 w 4875349"/>
              <a:gd name="connsiteY147" fmla="*/ 268220 h 926343"/>
              <a:gd name="connsiteX148" fmla="*/ 3536166 w 4875349"/>
              <a:gd name="connsiteY148" fmla="*/ 232560 h 926343"/>
              <a:gd name="connsiteX149" fmla="*/ 3536166 w 4875349"/>
              <a:gd name="connsiteY149" fmla="*/ 151221 h 926343"/>
              <a:gd name="connsiteX150" fmla="*/ 3570131 w 4875349"/>
              <a:gd name="connsiteY150" fmla="*/ 151221 h 926343"/>
              <a:gd name="connsiteX151" fmla="*/ 3570131 w 4875349"/>
              <a:gd name="connsiteY151" fmla="*/ 228291 h 926343"/>
              <a:gd name="connsiteX152" fmla="*/ 3581100 w 4875349"/>
              <a:gd name="connsiteY152" fmla="*/ 243239 h 926343"/>
              <a:gd name="connsiteX153" fmla="*/ 3599580 w 4875349"/>
              <a:gd name="connsiteY153" fmla="*/ 230001 h 926343"/>
              <a:gd name="connsiteX154" fmla="*/ 3599580 w 4875349"/>
              <a:gd name="connsiteY154" fmla="*/ 151221 h 926343"/>
              <a:gd name="connsiteX155" fmla="*/ 3633546 w 4875349"/>
              <a:gd name="connsiteY155" fmla="*/ 151221 h 926343"/>
              <a:gd name="connsiteX156" fmla="*/ 3633546 w 4875349"/>
              <a:gd name="connsiteY156" fmla="*/ 264584 h 926343"/>
              <a:gd name="connsiteX157" fmla="*/ 3744461 w 4875349"/>
              <a:gd name="connsiteY157" fmla="*/ 161465 h 926343"/>
              <a:gd name="connsiteX158" fmla="*/ 3732000 w 4875349"/>
              <a:gd name="connsiteY158" fmla="*/ 180466 h 926343"/>
              <a:gd name="connsiteX159" fmla="*/ 3703838 w 4875349"/>
              <a:gd name="connsiteY159" fmla="*/ 171713 h 926343"/>
              <a:gd name="connsiteX160" fmla="*/ 3690076 w 4875349"/>
              <a:gd name="connsiteY160" fmla="*/ 180251 h 926343"/>
              <a:gd name="connsiteX161" fmla="*/ 3713506 w 4875349"/>
              <a:gd name="connsiteY161" fmla="*/ 194768 h 926343"/>
              <a:gd name="connsiteX162" fmla="*/ 3748759 w 4875349"/>
              <a:gd name="connsiteY162" fmla="*/ 230845 h 926343"/>
              <a:gd name="connsiteX163" fmla="*/ 3698022 w 4875349"/>
              <a:gd name="connsiteY163" fmla="*/ 268215 h 926343"/>
              <a:gd name="connsiteX164" fmla="*/ 3650308 w 4875349"/>
              <a:gd name="connsiteY164" fmla="*/ 251342 h 926343"/>
              <a:gd name="connsiteX165" fmla="*/ 3666864 w 4875349"/>
              <a:gd name="connsiteY165" fmla="*/ 232986 h 926343"/>
              <a:gd name="connsiteX166" fmla="*/ 3697167 w 4875349"/>
              <a:gd name="connsiteY166" fmla="*/ 244083 h 926343"/>
              <a:gd name="connsiteX167" fmla="*/ 3713723 w 4875349"/>
              <a:gd name="connsiteY167" fmla="*/ 233417 h 926343"/>
              <a:gd name="connsiteX168" fmla="*/ 3689643 w 4875349"/>
              <a:gd name="connsiteY168" fmla="*/ 217608 h 926343"/>
              <a:gd name="connsiteX169" fmla="*/ 3655895 w 4875349"/>
              <a:gd name="connsiteY169" fmla="*/ 182176 h 926343"/>
              <a:gd name="connsiteX170" fmla="*/ 3702550 w 4875349"/>
              <a:gd name="connsiteY170" fmla="*/ 147594 h 926343"/>
              <a:gd name="connsiteX171" fmla="*/ 3744461 w 4875349"/>
              <a:gd name="connsiteY171" fmla="*/ 161465 h 926343"/>
              <a:gd name="connsiteX172" fmla="*/ 3839894 w 4875349"/>
              <a:gd name="connsiteY172" fmla="*/ 259246 h 926343"/>
              <a:gd name="connsiteX173" fmla="*/ 3808939 w 4875349"/>
              <a:gd name="connsiteY173" fmla="*/ 268215 h 926343"/>
              <a:gd name="connsiteX174" fmla="*/ 3771543 w 4875349"/>
              <a:gd name="connsiteY174" fmla="*/ 227222 h 926343"/>
              <a:gd name="connsiteX175" fmla="*/ 3771543 w 4875349"/>
              <a:gd name="connsiteY175" fmla="*/ 174702 h 926343"/>
              <a:gd name="connsiteX176" fmla="*/ 3755421 w 4875349"/>
              <a:gd name="connsiteY176" fmla="*/ 174702 h 926343"/>
              <a:gd name="connsiteX177" fmla="*/ 3755421 w 4875349"/>
              <a:gd name="connsiteY177" fmla="*/ 151216 h 926343"/>
              <a:gd name="connsiteX178" fmla="*/ 3771543 w 4875349"/>
              <a:gd name="connsiteY178" fmla="*/ 151216 h 926343"/>
              <a:gd name="connsiteX179" fmla="*/ 3771543 w 4875349"/>
              <a:gd name="connsiteY179" fmla="*/ 126667 h 926343"/>
              <a:gd name="connsiteX180" fmla="*/ 3805495 w 4875349"/>
              <a:gd name="connsiteY180" fmla="*/ 122828 h 926343"/>
              <a:gd name="connsiteX181" fmla="*/ 3805495 w 4875349"/>
              <a:gd name="connsiteY181" fmla="*/ 151216 h 926343"/>
              <a:gd name="connsiteX182" fmla="*/ 3831731 w 4875349"/>
              <a:gd name="connsiteY182" fmla="*/ 151216 h 926343"/>
              <a:gd name="connsiteX183" fmla="*/ 3828070 w 4875349"/>
              <a:gd name="connsiteY183" fmla="*/ 174702 h 926343"/>
              <a:gd name="connsiteX184" fmla="*/ 3805495 w 4875349"/>
              <a:gd name="connsiteY184" fmla="*/ 174702 h 926343"/>
              <a:gd name="connsiteX185" fmla="*/ 3805495 w 4875349"/>
              <a:gd name="connsiteY185" fmla="*/ 226792 h 926343"/>
              <a:gd name="connsiteX186" fmla="*/ 3816247 w 4875349"/>
              <a:gd name="connsiteY186" fmla="*/ 241524 h 926343"/>
              <a:gd name="connsiteX187" fmla="*/ 3828504 w 4875349"/>
              <a:gd name="connsiteY187" fmla="*/ 237901 h 926343"/>
              <a:gd name="connsiteX188" fmla="*/ 3839894 w 4875349"/>
              <a:gd name="connsiteY188" fmla="*/ 259246 h 926343"/>
              <a:gd name="connsiteX189" fmla="*/ 3954894 w 4875349"/>
              <a:gd name="connsiteY189" fmla="*/ 208009 h 926343"/>
              <a:gd name="connsiteX190" fmla="*/ 3899004 w 4875349"/>
              <a:gd name="connsiteY190" fmla="*/ 268219 h 926343"/>
              <a:gd name="connsiteX191" fmla="*/ 3843115 w 4875349"/>
              <a:gd name="connsiteY191" fmla="*/ 207794 h 926343"/>
              <a:gd name="connsiteX192" fmla="*/ 3899004 w 4875349"/>
              <a:gd name="connsiteY192" fmla="*/ 147585 h 926343"/>
              <a:gd name="connsiteX193" fmla="*/ 3954894 w 4875349"/>
              <a:gd name="connsiteY193" fmla="*/ 208009 h 926343"/>
              <a:gd name="connsiteX194" fmla="*/ 3878368 w 4875349"/>
              <a:gd name="connsiteY194" fmla="*/ 207794 h 926343"/>
              <a:gd name="connsiteX195" fmla="*/ 3899004 w 4875349"/>
              <a:gd name="connsiteY195" fmla="*/ 243453 h 926343"/>
              <a:gd name="connsiteX196" fmla="*/ 3919641 w 4875349"/>
              <a:gd name="connsiteY196" fmla="*/ 208009 h 926343"/>
              <a:gd name="connsiteX197" fmla="*/ 3899004 w 4875349"/>
              <a:gd name="connsiteY197" fmla="*/ 172350 h 926343"/>
              <a:gd name="connsiteX198" fmla="*/ 3878368 w 4875349"/>
              <a:gd name="connsiteY198" fmla="*/ 207794 h 926343"/>
              <a:gd name="connsiteX199" fmla="*/ 4132231 w 4875349"/>
              <a:gd name="connsiteY199" fmla="*/ 181748 h 926343"/>
              <a:gd name="connsiteX200" fmla="*/ 4132231 w 4875349"/>
              <a:gd name="connsiteY200" fmla="*/ 264582 h 926343"/>
              <a:gd name="connsiteX201" fmla="*/ 4098266 w 4875349"/>
              <a:gd name="connsiteY201" fmla="*/ 264582 h 926343"/>
              <a:gd name="connsiteX202" fmla="*/ 4098266 w 4875349"/>
              <a:gd name="connsiteY202" fmla="*/ 187512 h 926343"/>
              <a:gd name="connsiteX203" fmla="*/ 4088598 w 4875349"/>
              <a:gd name="connsiteY203" fmla="*/ 172349 h 926343"/>
              <a:gd name="connsiteX204" fmla="*/ 4071176 w 4875349"/>
              <a:gd name="connsiteY204" fmla="*/ 187081 h 926343"/>
              <a:gd name="connsiteX205" fmla="*/ 4071176 w 4875349"/>
              <a:gd name="connsiteY205" fmla="*/ 264582 h 926343"/>
              <a:gd name="connsiteX206" fmla="*/ 4037224 w 4875349"/>
              <a:gd name="connsiteY206" fmla="*/ 264582 h 926343"/>
              <a:gd name="connsiteX207" fmla="*/ 4037224 w 4875349"/>
              <a:gd name="connsiteY207" fmla="*/ 187512 h 926343"/>
              <a:gd name="connsiteX208" fmla="*/ 4027543 w 4875349"/>
              <a:gd name="connsiteY208" fmla="*/ 172349 h 926343"/>
              <a:gd name="connsiteX209" fmla="*/ 4010134 w 4875349"/>
              <a:gd name="connsiteY209" fmla="*/ 187081 h 926343"/>
              <a:gd name="connsiteX210" fmla="*/ 4010134 w 4875349"/>
              <a:gd name="connsiteY210" fmla="*/ 264582 h 926343"/>
              <a:gd name="connsiteX211" fmla="*/ 3976168 w 4875349"/>
              <a:gd name="connsiteY211" fmla="*/ 264582 h 926343"/>
              <a:gd name="connsiteX212" fmla="*/ 3976168 w 4875349"/>
              <a:gd name="connsiteY212" fmla="*/ 151219 h 926343"/>
              <a:gd name="connsiteX213" fmla="*/ 4005836 w 4875349"/>
              <a:gd name="connsiteY213" fmla="*/ 151219 h 926343"/>
              <a:gd name="connsiteX214" fmla="*/ 4008208 w 4875349"/>
              <a:gd name="connsiteY214" fmla="*/ 164457 h 926343"/>
              <a:gd name="connsiteX215" fmla="*/ 4041305 w 4875349"/>
              <a:gd name="connsiteY215" fmla="*/ 147583 h 926343"/>
              <a:gd name="connsiteX216" fmla="*/ 4068179 w 4875349"/>
              <a:gd name="connsiteY216" fmla="*/ 165521 h 926343"/>
              <a:gd name="connsiteX217" fmla="*/ 4102347 w 4875349"/>
              <a:gd name="connsiteY217" fmla="*/ 147583 h 926343"/>
              <a:gd name="connsiteX218" fmla="*/ 4132231 w 4875349"/>
              <a:gd name="connsiteY218" fmla="*/ 181748 h 926343"/>
              <a:gd name="connsiteX219" fmla="*/ 4258838 w 4875349"/>
              <a:gd name="connsiteY219" fmla="*/ 217827 h 926343"/>
              <a:gd name="connsiteX220" fmla="*/ 4188115 w 4875349"/>
              <a:gd name="connsiteY220" fmla="*/ 217827 h 926343"/>
              <a:gd name="connsiteX221" fmla="*/ 4214122 w 4875349"/>
              <a:gd name="connsiteY221" fmla="*/ 243656 h 926343"/>
              <a:gd name="connsiteX222" fmla="*/ 4241429 w 4875349"/>
              <a:gd name="connsiteY222" fmla="*/ 233623 h 926343"/>
              <a:gd name="connsiteX223" fmla="*/ 4255394 w 4875349"/>
              <a:gd name="connsiteY223" fmla="*/ 252409 h 926343"/>
              <a:gd name="connsiteX224" fmla="*/ 4210894 w 4875349"/>
              <a:gd name="connsiteY224" fmla="*/ 268219 h 926343"/>
              <a:gd name="connsiteX225" fmla="*/ 4153499 w 4875349"/>
              <a:gd name="connsiteY225" fmla="*/ 208440 h 926343"/>
              <a:gd name="connsiteX226" fmla="*/ 4206812 w 4875349"/>
              <a:gd name="connsiteY226" fmla="*/ 147585 h 926343"/>
              <a:gd name="connsiteX227" fmla="*/ 4259475 w 4875349"/>
              <a:gd name="connsiteY227" fmla="*/ 205666 h 926343"/>
              <a:gd name="connsiteX228" fmla="*/ 4258838 w 4875349"/>
              <a:gd name="connsiteY228" fmla="*/ 217827 h 926343"/>
              <a:gd name="connsiteX229" fmla="*/ 4226161 w 4875349"/>
              <a:gd name="connsiteY229" fmla="*/ 196051 h 926343"/>
              <a:gd name="connsiteX230" fmla="*/ 4207680 w 4875349"/>
              <a:gd name="connsiteY230" fmla="*/ 170006 h 926343"/>
              <a:gd name="connsiteX231" fmla="*/ 4188115 w 4875349"/>
              <a:gd name="connsiteY231" fmla="*/ 197546 h 926343"/>
              <a:gd name="connsiteX232" fmla="*/ 4226161 w 4875349"/>
              <a:gd name="connsiteY232" fmla="*/ 197546 h 926343"/>
              <a:gd name="connsiteX233" fmla="*/ 4226161 w 4875349"/>
              <a:gd name="connsiteY233" fmla="*/ 196051 h 926343"/>
              <a:gd name="connsiteX234" fmla="*/ 4429055 w 4875349"/>
              <a:gd name="connsiteY234" fmla="*/ 117480 h 926343"/>
              <a:gd name="connsiteX235" fmla="*/ 4507732 w 4875349"/>
              <a:gd name="connsiteY235" fmla="*/ 117480 h 926343"/>
              <a:gd name="connsiteX236" fmla="*/ 4505359 w 4875349"/>
              <a:gd name="connsiteY236" fmla="*/ 133716 h 926343"/>
              <a:gd name="connsiteX237" fmla="*/ 4449486 w 4875349"/>
              <a:gd name="connsiteY237" fmla="*/ 133716 h 926343"/>
              <a:gd name="connsiteX238" fmla="*/ 4449486 w 4875349"/>
              <a:gd name="connsiteY238" fmla="*/ 183887 h 926343"/>
              <a:gd name="connsiteX239" fmla="*/ 4497841 w 4875349"/>
              <a:gd name="connsiteY239" fmla="*/ 183887 h 926343"/>
              <a:gd name="connsiteX240" fmla="*/ 4497841 w 4875349"/>
              <a:gd name="connsiteY240" fmla="*/ 199900 h 926343"/>
              <a:gd name="connsiteX241" fmla="*/ 4449486 w 4875349"/>
              <a:gd name="connsiteY241" fmla="*/ 199900 h 926343"/>
              <a:gd name="connsiteX242" fmla="*/ 4449486 w 4875349"/>
              <a:gd name="connsiteY242" fmla="*/ 264584 h 926343"/>
              <a:gd name="connsiteX243" fmla="*/ 4429055 w 4875349"/>
              <a:gd name="connsiteY243" fmla="*/ 264584 h 926343"/>
              <a:gd name="connsiteX244" fmla="*/ 4429055 w 4875349"/>
              <a:gd name="connsiteY244" fmla="*/ 117479 h 926343"/>
              <a:gd name="connsiteX245" fmla="*/ 4557185 w 4875349"/>
              <a:gd name="connsiteY245" fmla="*/ 111507 h 926343"/>
              <a:gd name="connsiteX246" fmla="*/ 4543223 w 4875349"/>
              <a:gd name="connsiteY246" fmla="*/ 124742 h 926343"/>
              <a:gd name="connsiteX247" fmla="*/ 4529461 w 4875349"/>
              <a:gd name="connsiteY247" fmla="*/ 111507 h 926343"/>
              <a:gd name="connsiteX248" fmla="*/ 4543223 w 4875349"/>
              <a:gd name="connsiteY248" fmla="*/ 98050 h 926343"/>
              <a:gd name="connsiteX249" fmla="*/ 4557185 w 4875349"/>
              <a:gd name="connsiteY249" fmla="*/ 111507 h 926343"/>
              <a:gd name="connsiteX250" fmla="*/ 4553313 w 4875349"/>
              <a:gd name="connsiteY250" fmla="*/ 264578 h 926343"/>
              <a:gd name="connsiteX251" fmla="*/ 4533532 w 4875349"/>
              <a:gd name="connsiteY251" fmla="*/ 264578 h 926343"/>
              <a:gd name="connsiteX252" fmla="*/ 4533532 w 4875349"/>
              <a:gd name="connsiteY252" fmla="*/ 152066 h 926343"/>
              <a:gd name="connsiteX253" fmla="*/ 4553313 w 4875349"/>
              <a:gd name="connsiteY253" fmla="*/ 152066 h 926343"/>
              <a:gd name="connsiteX254" fmla="*/ 4553313 w 4875349"/>
              <a:gd name="connsiteY254" fmla="*/ 264578 h 926343"/>
              <a:gd name="connsiteX255" fmla="*/ 4654569 w 4875349"/>
              <a:gd name="connsiteY255" fmla="*/ 150790 h 926343"/>
              <a:gd name="connsiteX256" fmla="*/ 4650909 w 4875349"/>
              <a:gd name="connsiteY256" fmla="*/ 170003 h 926343"/>
              <a:gd name="connsiteX257" fmla="*/ 4641032 w 4875349"/>
              <a:gd name="connsiteY257" fmla="*/ 168713 h 926343"/>
              <a:gd name="connsiteX258" fmla="*/ 4613944 w 4875349"/>
              <a:gd name="connsiteY258" fmla="*/ 200317 h 926343"/>
              <a:gd name="connsiteX259" fmla="*/ 4613944 w 4875349"/>
              <a:gd name="connsiteY259" fmla="*/ 264579 h 926343"/>
              <a:gd name="connsiteX260" fmla="*/ 4594163 w 4875349"/>
              <a:gd name="connsiteY260" fmla="*/ 264579 h 926343"/>
              <a:gd name="connsiteX261" fmla="*/ 4594163 w 4875349"/>
              <a:gd name="connsiteY261" fmla="*/ 152080 h 926343"/>
              <a:gd name="connsiteX262" fmla="*/ 4611147 w 4875349"/>
              <a:gd name="connsiteY262" fmla="*/ 152080 h 926343"/>
              <a:gd name="connsiteX263" fmla="*/ 4613082 w 4875349"/>
              <a:gd name="connsiteY263" fmla="*/ 174915 h 926343"/>
              <a:gd name="connsiteX264" fmla="*/ 4643391 w 4875349"/>
              <a:gd name="connsiteY264" fmla="*/ 149500 h 926343"/>
              <a:gd name="connsiteX265" fmla="*/ 4654568 w 4875349"/>
              <a:gd name="connsiteY265" fmla="*/ 150790 h 926343"/>
              <a:gd name="connsiteX266" fmla="*/ 4746366 w 4875349"/>
              <a:gd name="connsiteY266" fmla="*/ 162322 h 926343"/>
              <a:gd name="connsiteX267" fmla="*/ 4737974 w 4875349"/>
              <a:gd name="connsiteY267" fmla="*/ 174700 h 926343"/>
              <a:gd name="connsiteX268" fmla="*/ 4708539 w 4875349"/>
              <a:gd name="connsiteY268" fmla="*/ 165100 h 926343"/>
              <a:gd name="connsiteX269" fmla="*/ 4687684 w 4875349"/>
              <a:gd name="connsiteY269" fmla="*/ 179823 h 926343"/>
              <a:gd name="connsiteX270" fmla="*/ 4711973 w 4875349"/>
              <a:gd name="connsiteY270" fmla="*/ 197969 h 926343"/>
              <a:gd name="connsiteX271" fmla="*/ 4749588 w 4875349"/>
              <a:gd name="connsiteY271" fmla="*/ 232984 h 926343"/>
              <a:gd name="connsiteX272" fmla="*/ 4704880 w 4875349"/>
              <a:gd name="connsiteY272" fmla="*/ 267143 h 926343"/>
              <a:gd name="connsiteX273" fmla="*/ 4662107 w 4875349"/>
              <a:gd name="connsiteY273" fmla="*/ 252408 h 926343"/>
              <a:gd name="connsiteX274" fmla="*/ 4672635 w 4875349"/>
              <a:gd name="connsiteY274" fmla="*/ 240451 h 926343"/>
              <a:gd name="connsiteX275" fmla="*/ 4704443 w 4875349"/>
              <a:gd name="connsiteY275" fmla="*/ 251341 h 926343"/>
              <a:gd name="connsiteX276" fmla="*/ 4728733 w 4875349"/>
              <a:gd name="connsiteY276" fmla="*/ 234261 h 926343"/>
              <a:gd name="connsiteX277" fmla="*/ 4701221 w 4875349"/>
              <a:gd name="connsiteY277" fmla="*/ 213126 h 926343"/>
              <a:gd name="connsiteX278" fmla="*/ 4667040 w 4875349"/>
              <a:gd name="connsiteY278" fmla="*/ 180468 h 926343"/>
              <a:gd name="connsiteX279" fmla="*/ 4707890 w 4875349"/>
              <a:gd name="connsiteY279" fmla="*/ 149509 h 926343"/>
              <a:gd name="connsiteX280" fmla="*/ 4746366 w 4875349"/>
              <a:gd name="connsiteY280" fmla="*/ 162322 h 926343"/>
              <a:gd name="connsiteX281" fmla="*/ 4834725 w 4875349"/>
              <a:gd name="connsiteY281" fmla="*/ 259455 h 926343"/>
              <a:gd name="connsiteX282" fmla="*/ 4809361 w 4875349"/>
              <a:gd name="connsiteY282" fmla="*/ 267145 h 926343"/>
              <a:gd name="connsiteX283" fmla="*/ 4778827 w 4875349"/>
              <a:gd name="connsiteY283" fmla="*/ 235120 h 926343"/>
              <a:gd name="connsiteX284" fmla="*/ 4778827 w 4875349"/>
              <a:gd name="connsiteY284" fmla="*/ 167223 h 926343"/>
              <a:gd name="connsiteX285" fmla="*/ 4759057 w 4875349"/>
              <a:gd name="connsiteY285" fmla="*/ 167223 h 926343"/>
              <a:gd name="connsiteX286" fmla="*/ 4759057 w 4875349"/>
              <a:gd name="connsiteY286" fmla="*/ 152079 h 926343"/>
              <a:gd name="connsiteX287" fmla="*/ 4778827 w 4875349"/>
              <a:gd name="connsiteY287" fmla="*/ 152079 h 926343"/>
              <a:gd name="connsiteX288" fmla="*/ 4778827 w 4875349"/>
              <a:gd name="connsiteY288" fmla="*/ 126664 h 926343"/>
              <a:gd name="connsiteX289" fmla="*/ 4798608 w 4875349"/>
              <a:gd name="connsiteY289" fmla="*/ 124308 h 926343"/>
              <a:gd name="connsiteX290" fmla="*/ 4798608 w 4875349"/>
              <a:gd name="connsiteY290" fmla="*/ 152079 h 926343"/>
              <a:gd name="connsiteX291" fmla="*/ 4825484 w 4875349"/>
              <a:gd name="connsiteY291" fmla="*/ 152079 h 926343"/>
              <a:gd name="connsiteX292" fmla="*/ 4823323 w 4875349"/>
              <a:gd name="connsiteY292" fmla="*/ 167223 h 926343"/>
              <a:gd name="connsiteX293" fmla="*/ 4798608 w 4875349"/>
              <a:gd name="connsiteY293" fmla="*/ 167223 h 926343"/>
              <a:gd name="connsiteX294" fmla="*/ 4798608 w 4875349"/>
              <a:gd name="connsiteY294" fmla="*/ 234264 h 926343"/>
              <a:gd name="connsiteX295" fmla="*/ 4812146 w 4875349"/>
              <a:gd name="connsiteY295" fmla="*/ 250922 h 926343"/>
              <a:gd name="connsiteX296" fmla="*/ 4827194 w 4875349"/>
              <a:gd name="connsiteY296" fmla="*/ 246432 h 926343"/>
              <a:gd name="connsiteX297" fmla="*/ 4834725 w 4875349"/>
              <a:gd name="connsiteY297" fmla="*/ 259455 h 926343"/>
              <a:gd name="connsiteX298" fmla="*/ 4875350 w 4875349"/>
              <a:gd name="connsiteY298" fmla="*/ 252199 h 926343"/>
              <a:gd name="connsiteX299" fmla="*/ 4860302 w 4875349"/>
              <a:gd name="connsiteY299" fmla="*/ 267145 h 926343"/>
              <a:gd name="connsiteX300" fmla="*/ 4845465 w 4875349"/>
              <a:gd name="connsiteY300" fmla="*/ 252199 h 926343"/>
              <a:gd name="connsiteX301" fmla="*/ 4860302 w 4875349"/>
              <a:gd name="connsiteY301" fmla="*/ 237464 h 926343"/>
              <a:gd name="connsiteX302" fmla="*/ 4875350 w 4875349"/>
              <a:gd name="connsiteY302" fmla="*/ 252199 h 926343"/>
              <a:gd name="connsiteX303" fmla="*/ 4354043 w 4875349"/>
              <a:gd name="connsiteY303" fmla="*/ 149509 h 926343"/>
              <a:gd name="connsiteX304" fmla="*/ 4348673 w 4875349"/>
              <a:gd name="connsiteY304" fmla="*/ 182179 h 926343"/>
              <a:gd name="connsiteX305" fmla="*/ 4338355 w 4875349"/>
              <a:gd name="connsiteY305" fmla="*/ 180684 h 926343"/>
              <a:gd name="connsiteX306" fmla="*/ 4314709 w 4875349"/>
              <a:gd name="connsiteY306" fmla="*/ 208439 h 926343"/>
              <a:gd name="connsiteX307" fmla="*/ 4314709 w 4875349"/>
              <a:gd name="connsiteY307" fmla="*/ 264582 h 926343"/>
              <a:gd name="connsiteX308" fmla="*/ 4280743 w 4875349"/>
              <a:gd name="connsiteY308" fmla="*/ 264582 h 926343"/>
              <a:gd name="connsiteX309" fmla="*/ 4280743 w 4875349"/>
              <a:gd name="connsiteY309" fmla="*/ 151219 h 926343"/>
              <a:gd name="connsiteX310" fmla="*/ 4310397 w 4875349"/>
              <a:gd name="connsiteY310" fmla="*/ 151219 h 926343"/>
              <a:gd name="connsiteX311" fmla="*/ 4313203 w 4875349"/>
              <a:gd name="connsiteY311" fmla="*/ 173210 h 926343"/>
              <a:gd name="connsiteX312" fmla="*/ 4342653 w 4875349"/>
              <a:gd name="connsiteY312" fmla="*/ 148014 h 926343"/>
              <a:gd name="connsiteX313" fmla="*/ 4354043 w 4875349"/>
              <a:gd name="connsiteY313" fmla="*/ 149509 h 926343"/>
              <a:gd name="connsiteX314" fmla="*/ 2977074 w 4875349"/>
              <a:gd name="connsiteY314" fmla="*/ 861572 h 926343"/>
              <a:gd name="connsiteX315" fmla="*/ 2938180 w 4875349"/>
              <a:gd name="connsiteY315" fmla="*/ 819204 h 926343"/>
              <a:gd name="connsiteX316" fmla="*/ 2984781 w 4875349"/>
              <a:gd name="connsiteY316" fmla="*/ 776658 h 926343"/>
              <a:gd name="connsiteX317" fmla="*/ 3023675 w 4875349"/>
              <a:gd name="connsiteY317" fmla="*/ 819204 h 926343"/>
              <a:gd name="connsiteX318" fmla="*/ 2977074 w 4875349"/>
              <a:gd name="connsiteY318" fmla="*/ 861572 h 926343"/>
              <a:gd name="connsiteX319" fmla="*/ 2984780 w 4875349"/>
              <a:gd name="connsiteY319" fmla="*/ 782889 h 926343"/>
              <a:gd name="connsiteX320" fmla="*/ 2944273 w 4875349"/>
              <a:gd name="connsiteY320" fmla="*/ 819738 h 926343"/>
              <a:gd name="connsiteX321" fmla="*/ 2977074 w 4875349"/>
              <a:gd name="connsiteY321" fmla="*/ 855519 h 926343"/>
              <a:gd name="connsiteX322" fmla="*/ 3017580 w 4875349"/>
              <a:gd name="connsiteY322" fmla="*/ 818670 h 926343"/>
              <a:gd name="connsiteX323" fmla="*/ 2984780 w 4875349"/>
              <a:gd name="connsiteY323" fmla="*/ 782889 h 926343"/>
              <a:gd name="connsiteX324" fmla="*/ 2988007 w 4875349"/>
              <a:gd name="connsiteY324" fmla="*/ 824366 h 926343"/>
              <a:gd name="connsiteX325" fmla="*/ 3001629 w 4875349"/>
              <a:gd name="connsiteY325" fmla="*/ 806743 h 926343"/>
              <a:gd name="connsiteX326" fmla="*/ 2988186 w 4875349"/>
              <a:gd name="connsiteY326" fmla="*/ 794104 h 926343"/>
              <a:gd name="connsiteX327" fmla="*/ 2971697 w 4875349"/>
              <a:gd name="connsiteY327" fmla="*/ 794104 h 926343"/>
              <a:gd name="connsiteX328" fmla="*/ 2962197 w 4875349"/>
              <a:gd name="connsiteY328" fmla="*/ 844126 h 926343"/>
              <a:gd name="connsiteX329" fmla="*/ 2968470 w 4875349"/>
              <a:gd name="connsiteY329" fmla="*/ 844126 h 926343"/>
              <a:gd name="connsiteX330" fmla="*/ 2972055 w 4875349"/>
              <a:gd name="connsiteY330" fmla="*/ 824900 h 926343"/>
              <a:gd name="connsiteX331" fmla="*/ 2981554 w 4875349"/>
              <a:gd name="connsiteY331" fmla="*/ 824900 h 926343"/>
              <a:gd name="connsiteX332" fmla="*/ 2988186 w 4875349"/>
              <a:gd name="connsiteY332" fmla="*/ 844126 h 926343"/>
              <a:gd name="connsiteX333" fmla="*/ 2994818 w 4875349"/>
              <a:gd name="connsiteY333" fmla="*/ 844126 h 926343"/>
              <a:gd name="connsiteX334" fmla="*/ 2988007 w 4875349"/>
              <a:gd name="connsiteY334" fmla="*/ 824366 h 926343"/>
              <a:gd name="connsiteX335" fmla="*/ 2988007 w 4875349"/>
              <a:gd name="connsiteY335" fmla="*/ 824366 h 926343"/>
              <a:gd name="connsiteX336" fmla="*/ 2995355 w 4875349"/>
              <a:gd name="connsiteY336" fmla="*/ 808879 h 926343"/>
              <a:gd name="connsiteX337" fmla="*/ 2983526 w 4875349"/>
              <a:gd name="connsiteY337" fmla="*/ 818848 h 926343"/>
              <a:gd name="connsiteX338" fmla="*/ 2973130 w 4875349"/>
              <a:gd name="connsiteY338" fmla="*/ 818848 h 926343"/>
              <a:gd name="connsiteX339" fmla="*/ 2976715 w 4875349"/>
              <a:gd name="connsiteY339" fmla="*/ 800156 h 926343"/>
              <a:gd name="connsiteX340" fmla="*/ 2988186 w 4875349"/>
              <a:gd name="connsiteY340" fmla="*/ 800156 h 926343"/>
              <a:gd name="connsiteX341" fmla="*/ 2995355 w 4875349"/>
              <a:gd name="connsiteY341" fmla="*/ 808879 h 926343"/>
              <a:gd name="connsiteX342" fmla="*/ 1498985 w 4875349"/>
              <a:gd name="connsiteY342" fmla="*/ 270374 h 926343"/>
              <a:gd name="connsiteX343" fmla="*/ 1453828 w 4875349"/>
              <a:gd name="connsiteY343" fmla="*/ 227989 h 926343"/>
              <a:gd name="connsiteX344" fmla="*/ 1501834 w 4875349"/>
              <a:gd name="connsiteY344" fmla="*/ 195649 h 926343"/>
              <a:gd name="connsiteX345" fmla="*/ 1597180 w 4875349"/>
              <a:gd name="connsiteY345" fmla="*/ 222644 h 926343"/>
              <a:gd name="connsiteX346" fmla="*/ 1613401 w 4875349"/>
              <a:gd name="connsiteY346" fmla="*/ 137908 h 926343"/>
              <a:gd name="connsiteX347" fmla="*/ 1507205 w 4875349"/>
              <a:gd name="connsiteY347" fmla="*/ 113411 h 926343"/>
              <a:gd name="connsiteX348" fmla="*/ 1340970 w 4875349"/>
              <a:gd name="connsiteY348" fmla="*/ 243327 h 926343"/>
              <a:gd name="connsiteX349" fmla="*/ 1420637 w 4875349"/>
              <a:gd name="connsiteY349" fmla="*/ 342530 h 926343"/>
              <a:gd name="connsiteX350" fmla="*/ 1467348 w 4875349"/>
              <a:gd name="connsiteY350" fmla="*/ 390260 h 926343"/>
              <a:gd name="connsiteX351" fmla="*/ 1420899 w 4875349"/>
              <a:gd name="connsiteY351" fmla="*/ 423380 h 926343"/>
              <a:gd name="connsiteX352" fmla="*/ 1316170 w 4875349"/>
              <a:gd name="connsiteY352" fmla="*/ 394058 h 926343"/>
              <a:gd name="connsiteX353" fmla="*/ 1299920 w 4875349"/>
              <a:gd name="connsiteY353" fmla="*/ 478961 h 926343"/>
              <a:gd name="connsiteX354" fmla="*/ 1410107 w 4875349"/>
              <a:gd name="connsiteY354" fmla="*/ 504852 h 926343"/>
              <a:gd name="connsiteX355" fmla="*/ 1549514 w 4875349"/>
              <a:gd name="connsiteY355" fmla="*/ 458861 h 926343"/>
              <a:gd name="connsiteX356" fmla="*/ 1584075 w 4875349"/>
              <a:gd name="connsiteY356" fmla="*/ 372652 h 926343"/>
              <a:gd name="connsiteX357" fmla="*/ 1498985 w 4875349"/>
              <a:gd name="connsiteY357" fmla="*/ 270374 h 926343"/>
              <a:gd name="connsiteX358" fmla="*/ 970363 w 4875349"/>
              <a:gd name="connsiteY358" fmla="*/ 127406 h 926343"/>
              <a:gd name="connsiteX359" fmla="*/ 952989 w 4875349"/>
              <a:gd name="connsiteY359" fmla="*/ 217938 h 926343"/>
              <a:gd name="connsiteX360" fmla="*/ 891107 w 4875349"/>
              <a:gd name="connsiteY360" fmla="*/ 203307 h 926343"/>
              <a:gd name="connsiteX361" fmla="*/ 763747 w 4875349"/>
              <a:gd name="connsiteY361" fmla="*/ 338997 h 926343"/>
              <a:gd name="connsiteX362" fmla="*/ 837167 w 4875349"/>
              <a:gd name="connsiteY362" fmla="*/ 415748 h 926343"/>
              <a:gd name="connsiteX363" fmla="*/ 930953 w 4875349"/>
              <a:gd name="connsiteY363" fmla="*/ 391664 h 926343"/>
              <a:gd name="connsiteX364" fmla="*/ 913201 w 4875349"/>
              <a:gd name="connsiteY364" fmla="*/ 484779 h 926343"/>
              <a:gd name="connsiteX365" fmla="*/ 805571 w 4875349"/>
              <a:gd name="connsiteY365" fmla="*/ 504852 h 926343"/>
              <a:gd name="connsiteX366" fmla="*/ 646266 w 4875349"/>
              <a:gd name="connsiteY366" fmla="*/ 351250 h 926343"/>
              <a:gd name="connsiteX367" fmla="*/ 892662 w 4875349"/>
              <a:gd name="connsiteY367" fmla="*/ 114188 h 926343"/>
              <a:gd name="connsiteX368" fmla="*/ 970363 w 4875349"/>
              <a:gd name="connsiteY368" fmla="*/ 127406 h 926343"/>
              <a:gd name="connsiteX369" fmla="*/ 2778278 w 4875349"/>
              <a:gd name="connsiteY369" fmla="*/ 343325 h 926343"/>
              <a:gd name="connsiteX370" fmla="*/ 2993476 w 4875349"/>
              <a:gd name="connsiteY370" fmla="*/ 302896 h 926343"/>
              <a:gd name="connsiteX371" fmla="*/ 3023855 w 4875349"/>
              <a:gd name="connsiteY371" fmla="*/ 226484 h 926343"/>
              <a:gd name="connsiteX372" fmla="*/ 2892289 w 4875349"/>
              <a:gd name="connsiteY372" fmla="*/ 113423 h 926343"/>
              <a:gd name="connsiteX373" fmla="*/ 2730905 w 4875349"/>
              <a:gd name="connsiteY373" fmla="*/ 187174 h 926343"/>
              <a:gd name="connsiteX374" fmla="*/ 2672078 w 4875349"/>
              <a:gd name="connsiteY374" fmla="*/ 346655 h 926343"/>
              <a:gd name="connsiteX375" fmla="*/ 2836038 w 4875349"/>
              <a:gd name="connsiteY375" fmla="*/ 504881 h 926343"/>
              <a:gd name="connsiteX376" fmla="*/ 2976777 w 4875349"/>
              <a:gd name="connsiteY376" fmla="*/ 474840 h 926343"/>
              <a:gd name="connsiteX377" fmla="*/ 2994734 w 4875349"/>
              <a:gd name="connsiteY377" fmla="*/ 381111 h 926343"/>
              <a:gd name="connsiteX378" fmla="*/ 2863005 w 4875349"/>
              <a:gd name="connsiteY378" fmla="*/ 418032 h 926343"/>
              <a:gd name="connsiteX379" fmla="*/ 2778278 w 4875349"/>
              <a:gd name="connsiteY379" fmla="*/ 343325 h 926343"/>
              <a:gd name="connsiteX380" fmla="*/ 2878412 w 4875349"/>
              <a:gd name="connsiteY380" fmla="*/ 194883 h 926343"/>
              <a:gd name="connsiteX381" fmla="*/ 2909510 w 4875349"/>
              <a:gd name="connsiteY381" fmla="*/ 249117 h 926343"/>
              <a:gd name="connsiteX382" fmla="*/ 2790539 w 4875349"/>
              <a:gd name="connsiteY382" fmla="*/ 271078 h 926343"/>
              <a:gd name="connsiteX383" fmla="*/ 2878412 w 4875349"/>
              <a:gd name="connsiteY383" fmla="*/ 194883 h 926343"/>
              <a:gd name="connsiteX384" fmla="*/ 2693048 w 4875349"/>
              <a:gd name="connsiteY384" fmla="*/ 127406 h 926343"/>
              <a:gd name="connsiteX385" fmla="*/ 2675674 w 4875349"/>
              <a:gd name="connsiteY385" fmla="*/ 217938 h 926343"/>
              <a:gd name="connsiteX386" fmla="*/ 2613791 w 4875349"/>
              <a:gd name="connsiteY386" fmla="*/ 203307 h 926343"/>
              <a:gd name="connsiteX387" fmla="*/ 2486431 w 4875349"/>
              <a:gd name="connsiteY387" fmla="*/ 338997 h 926343"/>
              <a:gd name="connsiteX388" fmla="*/ 2559852 w 4875349"/>
              <a:gd name="connsiteY388" fmla="*/ 415748 h 926343"/>
              <a:gd name="connsiteX389" fmla="*/ 2653638 w 4875349"/>
              <a:gd name="connsiteY389" fmla="*/ 391664 h 926343"/>
              <a:gd name="connsiteX390" fmla="*/ 2635886 w 4875349"/>
              <a:gd name="connsiteY390" fmla="*/ 484779 h 926343"/>
              <a:gd name="connsiteX391" fmla="*/ 2528256 w 4875349"/>
              <a:gd name="connsiteY391" fmla="*/ 504852 h 926343"/>
              <a:gd name="connsiteX392" fmla="*/ 2368950 w 4875349"/>
              <a:gd name="connsiteY392" fmla="*/ 351250 h 926343"/>
              <a:gd name="connsiteX393" fmla="*/ 2615346 w 4875349"/>
              <a:gd name="connsiteY393" fmla="*/ 114188 h 926343"/>
              <a:gd name="connsiteX394" fmla="*/ 2693048 w 4875349"/>
              <a:gd name="connsiteY394" fmla="*/ 127406 h 926343"/>
              <a:gd name="connsiteX395" fmla="*/ 2329634 w 4875349"/>
              <a:gd name="connsiteY395" fmla="*/ 152058 h 926343"/>
              <a:gd name="connsiteX396" fmla="*/ 2229388 w 4875349"/>
              <a:gd name="connsiteY396" fmla="*/ 113412 h 926343"/>
              <a:gd name="connsiteX397" fmla="*/ 2074640 w 4875349"/>
              <a:gd name="connsiteY397" fmla="*/ 176365 h 926343"/>
              <a:gd name="connsiteX398" fmla="*/ 1995666 w 4875349"/>
              <a:gd name="connsiteY398" fmla="*/ 374196 h 926343"/>
              <a:gd name="connsiteX399" fmla="*/ 2103884 w 4875349"/>
              <a:gd name="connsiteY399" fmla="*/ 505631 h 926343"/>
              <a:gd name="connsiteX400" fmla="*/ 2216888 w 4875349"/>
              <a:gd name="connsiteY400" fmla="*/ 424869 h 926343"/>
              <a:gd name="connsiteX401" fmla="*/ 2202971 w 4875349"/>
              <a:gd name="connsiteY401" fmla="*/ 497208 h 926343"/>
              <a:gd name="connsiteX402" fmla="*/ 2310065 w 4875349"/>
              <a:gd name="connsiteY402" fmla="*/ 497208 h 926343"/>
              <a:gd name="connsiteX403" fmla="*/ 2350499 w 4875349"/>
              <a:gd name="connsiteY403" fmla="*/ 287037 h 926343"/>
              <a:gd name="connsiteX404" fmla="*/ 2329634 w 4875349"/>
              <a:gd name="connsiteY404" fmla="*/ 152058 h 926343"/>
              <a:gd name="connsiteX405" fmla="*/ 2237095 w 4875349"/>
              <a:gd name="connsiteY405" fmla="*/ 310500 h 926343"/>
              <a:gd name="connsiteX406" fmla="*/ 2149081 w 4875349"/>
              <a:gd name="connsiteY406" fmla="*/ 414918 h 926343"/>
              <a:gd name="connsiteX407" fmla="*/ 2108903 w 4875349"/>
              <a:gd name="connsiteY407" fmla="*/ 351174 h 926343"/>
              <a:gd name="connsiteX408" fmla="*/ 2207291 w 4875349"/>
              <a:gd name="connsiteY408" fmla="*/ 197893 h 926343"/>
              <a:gd name="connsiteX409" fmla="*/ 2247393 w 4875349"/>
              <a:gd name="connsiteY409" fmla="*/ 238683 h 926343"/>
              <a:gd name="connsiteX410" fmla="*/ 2237095 w 4875349"/>
              <a:gd name="connsiteY410" fmla="*/ 310500 h 926343"/>
              <a:gd name="connsiteX411" fmla="*/ 606951 w 4875349"/>
              <a:gd name="connsiteY411" fmla="*/ 152058 h 926343"/>
              <a:gd name="connsiteX412" fmla="*/ 506706 w 4875349"/>
              <a:gd name="connsiteY412" fmla="*/ 113412 h 926343"/>
              <a:gd name="connsiteX413" fmla="*/ 351958 w 4875349"/>
              <a:gd name="connsiteY413" fmla="*/ 176365 h 926343"/>
              <a:gd name="connsiteX414" fmla="*/ 272985 w 4875349"/>
              <a:gd name="connsiteY414" fmla="*/ 374196 h 926343"/>
              <a:gd name="connsiteX415" fmla="*/ 381203 w 4875349"/>
              <a:gd name="connsiteY415" fmla="*/ 505631 h 926343"/>
              <a:gd name="connsiteX416" fmla="*/ 494206 w 4875349"/>
              <a:gd name="connsiteY416" fmla="*/ 424869 h 926343"/>
              <a:gd name="connsiteX417" fmla="*/ 480290 w 4875349"/>
              <a:gd name="connsiteY417" fmla="*/ 497208 h 926343"/>
              <a:gd name="connsiteX418" fmla="*/ 587383 w 4875349"/>
              <a:gd name="connsiteY418" fmla="*/ 497208 h 926343"/>
              <a:gd name="connsiteX419" fmla="*/ 627817 w 4875349"/>
              <a:gd name="connsiteY419" fmla="*/ 287037 h 926343"/>
              <a:gd name="connsiteX420" fmla="*/ 606951 w 4875349"/>
              <a:gd name="connsiteY420" fmla="*/ 152058 h 926343"/>
              <a:gd name="connsiteX421" fmla="*/ 514414 w 4875349"/>
              <a:gd name="connsiteY421" fmla="*/ 310500 h 926343"/>
              <a:gd name="connsiteX422" fmla="*/ 426399 w 4875349"/>
              <a:gd name="connsiteY422" fmla="*/ 414918 h 926343"/>
              <a:gd name="connsiteX423" fmla="*/ 386220 w 4875349"/>
              <a:gd name="connsiteY423" fmla="*/ 351174 h 926343"/>
              <a:gd name="connsiteX424" fmla="*/ 484610 w 4875349"/>
              <a:gd name="connsiteY424" fmla="*/ 197893 h 926343"/>
              <a:gd name="connsiteX425" fmla="*/ 524712 w 4875349"/>
              <a:gd name="connsiteY425" fmla="*/ 238683 h 926343"/>
              <a:gd name="connsiteX426" fmla="*/ 514414 w 4875349"/>
              <a:gd name="connsiteY426" fmla="*/ 310500 h 926343"/>
              <a:gd name="connsiteX427" fmla="*/ 1865864 w 4875349"/>
              <a:gd name="connsiteY427" fmla="*/ 113412 h 926343"/>
              <a:gd name="connsiteX428" fmla="*/ 1749875 w 4875349"/>
              <a:gd name="connsiteY428" fmla="*/ 180686 h 926343"/>
              <a:gd name="connsiteX429" fmla="*/ 1761420 w 4875349"/>
              <a:gd name="connsiteY429" fmla="*/ 120329 h 926343"/>
              <a:gd name="connsiteX430" fmla="*/ 1662666 w 4875349"/>
              <a:gd name="connsiteY430" fmla="*/ 120329 h 926343"/>
              <a:gd name="connsiteX431" fmla="*/ 1567483 w 4875349"/>
              <a:gd name="connsiteY431" fmla="*/ 617550 h 926343"/>
              <a:gd name="connsiteX432" fmla="*/ 1679604 w 4875349"/>
              <a:gd name="connsiteY432" fmla="*/ 617550 h 926343"/>
              <a:gd name="connsiteX433" fmla="*/ 1708085 w 4875349"/>
              <a:gd name="connsiteY433" fmla="*/ 468046 h 926343"/>
              <a:gd name="connsiteX434" fmla="*/ 1782974 w 4875349"/>
              <a:gd name="connsiteY434" fmla="*/ 505635 h 926343"/>
              <a:gd name="connsiteX435" fmla="*/ 1864479 w 4875349"/>
              <a:gd name="connsiteY435" fmla="*/ 483389 h 926343"/>
              <a:gd name="connsiteX436" fmla="*/ 1988181 w 4875349"/>
              <a:gd name="connsiteY436" fmla="*/ 256331 h 926343"/>
              <a:gd name="connsiteX437" fmla="*/ 1865864 w 4875349"/>
              <a:gd name="connsiteY437" fmla="*/ 113412 h 926343"/>
              <a:gd name="connsiteX438" fmla="*/ 1769434 w 4875349"/>
              <a:gd name="connsiteY438" fmla="*/ 421096 h 926343"/>
              <a:gd name="connsiteX439" fmla="*/ 1735618 w 4875349"/>
              <a:gd name="connsiteY439" fmla="*/ 323009 h 926343"/>
              <a:gd name="connsiteX440" fmla="*/ 1826299 w 4875349"/>
              <a:gd name="connsiteY440" fmla="*/ 204083 h 926343"/>
              <a:gd name="connsiteX441" fmla="*/ 1871576 w 4875349"/>
              <a:gd name="connsiteY441" fmla="*/ 264766 h 926343"/>
              <a:gd name="connsiteX442" fmla="*/ 1769434 w 4875349"/>
              <a:gd name="connsiteY442" fmla="*/ 421096 h 926343"/>
              <a:gd name="connsiteX443" fmla="*/ 312690 w 4875349"/>
              <a:gd name="connsiteY443" fmla="*/ 112292 h 926343"/>
              <a:gd name="connsiteX444" fmla="*/ 290790 w 4875349"/>
              <a:gd name="connsiteY444" fmla="*/ 226685 h 926343"/>
              <a:gd name="connsiteX445" fmla="*/ 142422 w 4875349"/>
              <a:gd name="connsiteY445" fmla="*/ 345714 h 926343"/>
              <a:gd name="connsiteX446" fmla="*/ 112141 w 4875349"/>
              <a:gd name="connsiteY446" fmla="*/ 503840 h 926343"/>
              <a:gd name="connsiteX447" fmla="*/ 0 w 4875349"/>
              <a:gd name="connsiteY447" fmla="*/ 503840 h 926343"/>
              <a:gd name="connsiteX448" fmla="*/ 73440 w 4875349"/>
              <a:gd name="connsiteY448" fmla="*/ 120329 h 926343"/>
              <a:gd name="connsiteX449" fmla="*/ 172185 w 4875349"/>
              <a:gd name="connsiteY449" fmla="*/ 120329 h 926343"/>
              <a:gd name="connsiteX450" fmla="*/ 156202 w 4875349"/>
              <a:gd name="connsiteY450" fmla="*/ 203879 h 926343"/>
              <a:gd name="connsiteX451" fmla="*/ 312690 w 4875349"/>
              <a:gd name="connsiteY451" fmla="*/ 112292 h 926343"/>
              <a:gd name="connsiteX452" fmla="*/ 944243 w 4875349"/>
              <a:gd name="connsiteY452" fmla="*/ 497208 h 926343"/>
              <a:gd name="connsiteX453" fmla="*/ 1039422 w 4875349"/>
              <a:gd name="connsiteY453" fmla="*/ 0 h 926343"/>
              <a:gd name="connsiteX454" fmla="*/ 1150777 w 4875349"/>
              <a:gd name="connsiteY454" fmla="*/ 0 h 926343"/>
              <a:gd name="connsiteX455" fmla="*/ 1094906 w 4875349"/>
              <a:gd name="connsiteY455" fmla="*/ 291909 h 926343"/>
              <a:gd name="connsiteX456" fmla="*/ 1239347 w 4875349"/>
              <a:gd name="connsiteY456" fmla="*/ 120329 h 926343"/>
              <a:gd name="connsiteX457" fmla="*/ 1361754 w 4875349"/>
              <a:gd name="connsiteY457" fmla="*/ 120329 h 926343"/>
              <a:gd name="connsiteX458" fmla="*/ 1212060 w 4875349"/>
              <a:gd name="connsiteY458" fmla="*/ 293812 h 926343"/>
              <a:gd name="connsiteX459" fmla="*/ 1294315 w 4875349"/>
              <a:gd name="connsiteY459" fmla="*/ 497208 h 926343"/>
              <a:gd name="connsiteX460" fmla="*/ 1173734 w 4875349"/>
              <a:gd name="connsiteY460" fmla="*/ 497208 h 926343"/>
              <a:gd name="connsiteX461" fmla="*/ 1094235 w 4875349"/>
              <a:gd name="connsiteY461" fmla="*/ 295415 h 926343"/>
              <a:gd name="connsiteX462" fmla="*/ 1055611 w 4875349"/>
              <a:gd name="connsiteY462" fmla="*/ 497208 h 926343"/>
              <a:gd name="connsiteX463" fmla="*/ 944243 w 4875349"/>
              <a:gd name="connsiteY463" fmla="*/ 497208 h 926343"/>
              <a:gd name="connsiteX464" fmla="*/ 2280316 w 4875349"/>
              <a:gd name="connsiteY464" fmla="*/ 695157 h 926343"/>
              <a:gd name="connsiteX465" fmla="*/ 2187788 w 4875349"/>
              <a:gd name="connsiteY465" fmla="*/ 795876 h 926343"/>
              <a:gd name="connsiteX466" fmla="*/ 2253291 w 4875349"/>
              <a:gd name="connsiteY466" fmla="*/ 861573 h 926343"/>
              <a:gd name="connsiteX467" fmla="*/ 2345820 w 4875349"/>
              <a:gd name="connsiteY467" fmla="*/ 760854 h 926343"/>
              <a:gd name="connsiteX468" fmla="*/ 2280316 w 4875349"/>
              <a:gd name="connsiteY468" fmla="*/ 695157 h 926343"/>
              <a:gd name="connsiteX469" fmla="*/ 2275683 w 4875349"/>
              <a:gd name="connsiteY469" fmla="*/ 724555 h 926343"/>
              <a:gd name="connsiteX470" fmla="*/ 2306312 w 4875349"/>
              <a:gd name="connsiteY470" fmla="*/ 761174 h 926343"/>
              <a:gd name="connsiteX471" fmla="*/ 2258568 w 4875349"/>
              <a:gd name="connsiteY471" fmla="*/ 832175 h 926343"/>
              <a:gd name="connsiteX472" fmla="*/ 2227296 w 4875349"/>
              <a:gd name="connsiteY472" fmla="*/ 794885 h 926343"/>
              <a:gd name="connsiteX473" fmla="*/ 2275683 w 4875349"/>
              <a:gd name="connsiteY473" fmla="*/ 724555 h 926343"/>
              <a:gd name="connsiteX474" fmla="*/ 2541237 w 4875349"/>
              <a:gd name="connsiteY474" fmla="*/ 695157 h 926343"/>
              <a:gd name="connsiteX475" fmla="*/ 2448709 w 4875349"/>
              <a:gd name="connsiteY475" fmla="*/ 795876 h 926343"/>
              <a:gd name="connsiteX476" fmla="*/ 2514212 w 4875349"/>
              <a:gd name="connsiteY476" fmla="*/ 861573 h 926343"/>
              <a:gd name="connsiteX477" fmla="*/ 2606741 w 4875349"/>
              <a:gd name="connsiteY477" fmla="*/ 760854 h 926343"/>
              <a:gd name="connsiteX478" fmla="*/ 2541237 w 4875349"/>
              <a:gd name="connsiteY478" fmla="*/ 695157 h 926343"/>
              <a:gd name="connsiteX479" fmla="*/ 2536604 w 4875349"/>
              <a:gd name="connsiteY479" fmla="*/ 724555 h 926343"/>
              <a:gd name="connsiteX480" fmla="*/ 2567233 w 4875349"/>
              <a:gd name="connsiteY480" fmla="*/ 761174 h 926343"/>
              <a:gd name="connsiteX481" fmla="*/ 2519488 w 4875349"/>
              <a:gd name="connsiteY481" fmla="*/ 832175 h 926343"/>
              <a:gd name="connsiteX482" fmla="*/ 2488217 w 4875349"/>
              <a:gd name="connsiteY482" fmla="*/ 794885 h 926343"/>
              <a:gd name="connsiteX483" fmla="*/ 2536604 w 4875349"/>
              <a:gd name="connsiteY483" fmla="*/ 724555 h 926343"/>
              <a:gd name="connsiteX484" fmla="*/ 2441704 w 4875349"/>
              <a:gd name="connsiteY484" fmla="*/ 646623 h 926343"/>
              <a:gd name="connsiteX485" fmla="*/ 2400932 w 4875349"/>
              <a:gd name="connsiteY485" fmla="*/ 857994 h 926343"/>
              <a:gd name="connsiteX486" fmla="*/ 2362712 w 4875349"/>
              <a:gd name="connsiteY486" fmla="*/ 857994 h 926343"/>
              <a:gd name="connsiteX487" fmla="*/ 2403190 w 4875349"/>
              <a:gd name="connsiteY487" fmla="*/ 646623 h 926343"/>
              <a:gd name="connsiteX488" fmla="*/ 2441704 w 4875349"/>
              <a:gd name="connsiteY488" fmla="*/ 646623 h 926343"/>
              <a:gd name="connsiteX489" fmla="*/ 1819430 w 4875349"/>
              <a:gd name="connsiteY489" fmla="*/ 701970 h 926343"/>
              <a:gd name="connsiteX490" fmla="*/ 1813367 w 4875349"/>
              <a:gd name="connsiteY490" fmla="*/ 733641 h 926343"/>
              <a:gd name="connsiteX491" fmla="*/ 1783826 w 4875349"/>
              <a:gd name="connsiteY491" fmla="*/ 726217 h 926343"/>
              <a:gd name="connsiteX492" fmla="*/ 1723567 w 4875349"/>
              <a:gd name="connsiteY492" fmla="*/ 793256 h 926343"/>
              <a:gd name="connsiteX493" fmla="*/ 1758796 w 4875349"/>
              <a:gd name="connsiteY493" fmla="*/ 830514 h 926343"/>
              <a:gd name="connsiteX494" fmla="*/ 1801876 w 4875349"/>
              <a:gd name="connsiteY494" fmla="*/ 818489 h 926343"/>
              <a:gd name="connsiteX495" fmla="*/ 1795551 w 4875349"/>
              <a:gd name="connsiteY495" fmla="*/ 851535 h 926343"/>
              <a:gd name="connsiteX496" fmla="*/ 1748275 w 4875349"/>
              <a:gd name="connsiteY496" fmla="*/ 861253 h 926343"/>
              <a:gd name="connsiteX497" fmla="*/ 1683415 w 4875349"/>
              <a:gd name="connsiteY497" fmla="*/ 797825 h 926343"/>
              <a:gd name="connsiteX498" fmla="*/ 1785145 w 4875349"/>
              <a:gd name="connsiteY498" fmla="*/ 695477 h 926343"/>
              <a:gd name="connsiteX499" fmla="*/ 1819430 w 4875349"/>
              <a:gd name="connsiteY499" fmla="*/ 701970 h 926343"/>
              <a:gd name="connsiteX500" fmla="*/ 1599026 w 4875349"/>
              <a:gd name="connsiteY500" fmla="*/ 831504 h 926343"/>
              <a:gd name="connsiteX501" fmla="*/ 1657309 w 4875349"/>
              <a:gd name="connsiteY501" fmla="*/ 812360 h 926343"/>
              <a:gd name="connsiteX502" fmla="*/ 1650747 w 4875349"/>
              <a:gd name="connsiteY502" fmla="*/ 846645 h 926343"/>
              <a:gd name="connsiteX503" fmla="*/ 1590147 w 4875349"/>
              <a:gd name="connsiteY503" fmla="*/ 861573 h 926343"/>
              <a:gd name="connsiteX504" fmla="*/ 1524289 w 4875349"/>
              <a:gd name="connsiteY504" fmla="*/ 795524 h 926343"/>
              <a:gd name="connsiteX505" fmla="*/ 1615145 w 4875349"/>
              <a:gd name="connsiteY505" fmla="*/ 695157 h 926343"/>
              <a:gd name="connsiteX506" fmla="*/ 1666846 w 4875349"/>
              <a:gd name="connsiteY506" fmla="*/ 739957 h 926343"/>
              <a:gd name="connsiteX507" fmla="*/ 1561835 w 4875349"/>
              <a:gd name="connsiteY507" fmla="*/ 792585 h 926343"/>
              <a:gd name="connsiteX508" fmla="*/ 1566114 w 4875349"/>
              <a:gd name="connsiteY508" fmla="*/ 815176 h 926343"/>
              <a:gd name="connsiteX509" fmla="*/ 1599026 w 4875349"/>
              <a:gd name="connsiteY509" fmla="*/ 831504 h 926343"/>
              <a:gd name="connsiteX510" fmla="*/ 1565760 w 4875349"/>
              <a:gd name="connsiteY510" fmla="*/ 764114 h 926343"/>
              <a:gd name="connsiteX511" fmla="*/ 1630620 w 4875349"/>
              <a:gd name="connsiteY511" fmla="*/ 739956 h 926343"/>
              <a:gd name="connsiteX512" fmla="*/ 1610222 w 4875349"/>
              <a:gd name="connsiteY512" fmla="*/ 723596 h 926343"/>
              <a:gd name="connsiteX513" fmla="*/ 1565760 w 4875349"/>
              <a:gd name="connsiteY513" fmla="*/ 764114 h 926343"/>
              <a:gd name="connsiteX514" fmla="*/ 2158533 w 4875349"/>
              <a:gd name="connsiteY514" fmla="*/ 765136 h 926343"/>
              <a:gd name="connsiteX515" fmla="*/ 2140621 w 4875349"/>
              <a:gd name="connsiteY515" fmla="*/ 857994 h 926343"/>
              <a:gd name="connsiteX516" fmla="*/ 2102401 w 4875349"/>
              <a:gd name="connsiteY516" fmla="*/ 857994 h 926343"/>
              <a:gd name="connsiteX517" fmla="*/ 2119621 w 4875349"/>
              <a:gd name="connsiteY517" fmla="*/ 768076 h 926343"/>
              <a:gd name="connsiteX518" fmla="*/ 2121512 w 4875349"/>
              <a:gd name="connsiteY518" fmla="*/ 749095 h 926343"/>
              <a:gd name="connsiteX519" fmla="*/ 2101404 w 4875349"/>
              <a:gd name="connsiteY519" fmla="*/ 726216 h 926343"/>
              <a:gd name="connsiteX520" fmla="*/ 2055042 w 4875349"/>
              <a:gd name="connsiteY520" fmla="*/ 784436 h 926343"/>
              <a:gd name="connsiteX521" fmla="*/ 2040853 w 4875349"/>
              <a:gd name="connsiteY521" fmla="*/ 857994 h 926343"/>
              <a:gd name="connsiteX522" fmla="*/ 2002633 w 4875349"/>
              <a:gd name="connsiteY522" fmla="*/ 857994 h 926343"/>
              <a:gd name="connsiteX523" fmla="*/ 2033316 w 4875349"/>
              <a:gd name="connsiteY523" fmla="*/ 697777 h 926343"/>
              <a:gd name="connsiteX524" fmla="*/ 2067888 w 4875349"/>
              <a:gd name="connsiteY524" fmla="*/ 697777 h 926343"/>
              <a:gd name="connsiteX525" fmla="*/ 2061951 w 4875349"/>
              <a:gd name="connsiteY525" fmla="*/ 728554 h 926343"/>
              <a:gd name="connsiteX526" fmla="*/ 2120514 w 4875349"/>
              <a:gd name="connsiteY526" fmla="*/ 695157 h 926343"/>
              <a:gd name="connsiteX527" fmla="*/ 2161341 w 4875349"/>
              <a:gd name="connsiteY527" fmla="*/ 738934 h 926343"/>
              <a:gd name="connsiteX528" fmla="*/ 2158533 w 4875349"/>
              <a:gd name="connsiteY528" fmla="*/ 765136 h 926343"/>
              <a:gd name="connsiteX529" fmla="*/ 1980144 w 4875349"/>
              <a:gd name="connsiteY529" fmla="*/ 738934 h 926343"/>
              <a:gd name="connsiteX530" fmla="*/ 1977335 w 4875349"/>
              <a:gd name="connsiteY530" fmla="*/ 765136 h 926343"/>
              <a:gd name="connsiteX531" fmla="*/ 1959424 w 4875349"/>
              <a:gd name="connsiteY531" fmla="*/ 857994 h 926343"/>
              <a:gd name="connsiteX532" fmla="*/ 1921204 w 4875349"/>
              <a:gd name="connsiteY532" fmla="*/ 857994 h 926343"/>
              <a:gd name="connsiteX533" fmla="*/ 1938424 w 4875349"/>
              <a:gd name="connsiteY533" fmla="*/ 768076 h 926343"/>
              <a:gd name="connsiteX534" fmla="*/ 1940315 w 4875349"/>
              <a:gd name="connsiteY534" fmla="*/ 749095 h 926343"/>
              <a:gd name="connsiteX535" fmla="*/ 1920206 w 4875349"/>
              <a:gd name="connsiteY535" fmla="*/ 726216 h 926343"/>
              <a:gd name="connsiteX536" fmla="*/ 1873845 w 4875349"/>
              <a:gd name="connsiteY536" fmla="*/ 784436 h 926343"/>
              <a:gd name="connsiteX537" fmla="*/ 1873845 w 4875349"/>
              <a:gd name="connsiteY537" fmla="*/ 784436 h 926343"/>
              <a:gd name="connsiteX538" fmla="*/ 1859656 w 4875349"/>
              <a:gd name="connsiteY538" fmla="*/ 857994 h 926343"/>
              <a:gd name="connsiteX539" fmla="*/ 1821436 w 4875349"/>
              <a:gd name="connsiteY539" fmla="*/ 857994 h 926343"/>
              <a:gd name="connsiteX540" fmla="*/ 1861915 w 4875349"/>
              <a:gd name="connsiteY540" fmla="*/ 646623 h 926343"/>
              <a:gd name="connsiteX541" fmla="*/ 1900428 w 4875349"/>
              <a:gd name="connsiteY541" fmla="*/ 646623 h 926343"/>
              <a:gd name="connsiteX542" fmla="*/ 1885984 w 4875349"/>
              <a:gd name="connsiteY542" fmla="*/ 721502 h 926343"/>
              <a:gd name="connsiteX543" fmla="*/ 1939317 w 4875349"/>
              <a:gd name="connsiteY543" fmla="*/ 695157 h 926343"/>
              <a:gd name="connsiteX544" fmla="*/ 1980144 w 4875349"/>
              <a:gd name="connsiteY544" fmla="*/ 738934 h 926343"/>
              <a:gd name="connsiteX545" fmla="*/ 1486679 w 4875349"/>
              <a:gd name="connsiteY545" fmla="*/ 698736 h 926343"/>
              <a:gd name="connsiteX546" fmla="*/ 1522584 w 4875349"/>
              <a:gd name="connsiteY546" fmla="*/ 698736 h 926343"/>
              <a:gd name="connsiteX547" fmla="*/ 1516664 w 4875349"/>
              <a:gd name="connsiteY547" fmla="*/ 728165 h 926343"/>
              <a:gd name="connsiteX548" fmla="*/ 1480760 w 4875349"/>
              <a:gd name="connsiteY548" fmla="*/ 728165 h 926343"/>
              <a:gd name="connsiteX549" fmla="*/ 1468243 w 4875349"/>
              <a:gd name="connsiteY549" fmla="*/ 792264 h 926343"/>
              <a:gd name="connsiteX550" fmla="*/ 1465285 w 4875349"/>
              <a:gd name="connsiteY550" fmla="*/ 814824 h 926343"/>
              <a:gd name="connsiteX551" fmla="*/ 1479440 w 4875349"/>
              <a:gd name="connsiteY551" fmla="*/ 829236 h 926343"/>
              <a:gd name="connsiteX552" fmla="*/ 1494778 w 4875349"/>
              <a:gd name="connsiteY552" fmla="*/ 827801 h 926343"/>
              <a:gd name="connsiteX553" fmla="*/ 1488997 w 4875349"/>
              <a:gd name="connsiteY553" fmla="*/ 857990 h 926343"/>
              <a:gd name="connsiteX554" fmla="*/ 1488996 w 4875349"/>
              <a:gd name="connsiteY554" fmla="*/ 857994 h 926343"/>
              <a:gd name="connsiteX555" fmla="*/ 1463965 w 4875349"/>
              <a:gd name="connsiteY555" fmla="*/ 861254 h 926343"/>
              <a:gd name="connsiteX556" fmla="*/ 1426097 w 4875349"/>
              <a:gd name="connsiteY556" fmla="*/ 828564 h 926343"/>
              <a:gd name="connsiteX557" fmla="*/ 1429411 w 4875349"/>
              <a:gd name="connsiteY557" fmla="*/ 799135 h 926343"/>
              <a:gd name="connsiteX558" fmla="*/ 1443247 w 4875349"/>
              <a:gd name="connsiteY558" fmla="*/ 728165 h 926343"/>
              <a:gd name="connsiteX559" fmla="*/ 1421818 w 4875349"/>
              <a:gd name="connsiteY559" fmla="*/ 728165 h 926343"/>
              <a:gd name="connsiteX560" fmla="*/ 1427416 w 4875349"/>
              <a:gd name="connsiteY560" fmla="*/ 698736 h 926343"/>
              <a:gd name="connsiteX561" fmla="*/ 1448813 w 4875349"/>
              <a:gd name="connsiteY561" fmla="*/ 698736 h 926343"/>
              <a:gd name="connsiteX562" fmla="*/ 1457003 w 4875349"/>
              <a:gd name="connsiteY562" fmla="*/ 657748 h 926343"/>
              <a:gd name="connsiteX563" fmla="*/ 1494288 w 4875349"/>
              <a:gd name="connsiteY563" fmla="*/ 657748 h 926343"/>
              <a:gd name="connsiteX564" fmla="*/ 1486679 w 4875349"/>
              <a:gd name="connsiteY564" fmla="*/ 698736 h 926343"/>
              <a:gd name="connsiteX565" fmla="*/ 2788298 w 4875349"/>
              <a:gd name="connsiteY565" fmla="*/ 886433 h 926343"/>
              <a:gd name="connsiteX566" fmla="*/ 2828271 w 4875349"/>
              <a:gd name="connsiteY566" fmla="*/ 878611 h 926343"/>
              <a:gd name="connsiteX567" fmla="*/ 2840780 w 4875349"/>
              <a:gd name="connsiteY567" fmla="*/ 853718 h 926343"/>
              <a:gd name="connsiteX568" fmla="*/ 2812203 w 4875349"/>
              <a:gd name="connsiteY568" fmla="*/ 697777 h 926343"/>
              <a:gd name="connsiteX569" fmla="*/ 2852387 w 4875349"/>
              <a:gd name="connsiteY569" fmla="*/ 697777 h 926343"/>
              <a:gd name="connsiteX570" fmla="*/ 2867179 w 4875349"/>
              <a:gd name="connsiteY570" fmla="*/ 816325 h 926343"/>
              <a:gd name="connsiteX571" fmla="*/ 2928097 w 4875349"/>
              <a:gd name="connsiteY571" fmla="*/ 697777 h 926343"/>
              <a:gd name="connsiteX572" fmla="*/ 2968924 w 4875349"/>
              <a:gd name="connsiteY572" fmla="*/ 697777 h 926343"/>
              <a:gd name="connsiteX573" fmla="*/ 2861660 w 4875349"/>
              <a:gd name="connsiteY573" fmla="*/ 887677 h 926343"/>
              <a:gd name="connsiteX574" fmla="*/ 2861660 w 4875349"/>
              <a:gd name="connsiteY574" fmla="*/ 887739 h 926343"/>
              <a:gd name="connsiteX575" fmla="*/ 2782349 w 4875349"/>
              <a:gd name="connsiteY575" fmla="*/ 917510 h 926343"/>
              <a:gd name="connsiteX576" fmla="*/ 2788298 w 4875349"/>
              <a:gd name="connsiteY576" fmla="*/ 886433 h 926343"/>
              <a:gd name="connsiteX577" fmla="*/ 2783865 w 4875349"/>
              <a:gd name="connsiteY577" fmla="*/ 738023 h 926343"/>
              <a:gd name="connsiteX578" fmla="*/ 2780573 w 4875349"/>
              <a:gd name="connsiteY578" fmla="*/ 765507 h 926343"/>
              <a:gd name="connsiteX579" fmla="*/ 2766056 w 4875349"/>
              <a:gd name="connsiteY579" fmla="*/ 837735 h 926343"/>
              <a:gd name="connsiteX580" fmla="*/ 2732771 w 4875349"/>
              <a:gd name="connsiteY580" fmla="*/ 908673 h 926343"/>
              <a:gd name="connsiteX581" fmla="*/ 2672895 w 4875349"/>
              <a:gd name="connsiteY581" fmla="*/ 926343 h 926343"/>
              <a:gd name="connsiteX582" fmla="*/ 2625597 w 4875349"/>
              <a:gd name="connsiteY582" fmla="*/ 917510 h 926343"/>
              <a:gd name="connsiteX583" fmla="*/ 2631546 w 4875349"/>
              <a:gd name="connsiteY583" fmla="*/ 886433 h 926343"/>
              <a:gd name="connsiteX584" fmla="*/ 2673692 w 4875349"/>
              <a:gd name="connsiteY584" fmla="*/ 895923 h 926343"/>
              <a:gd name="connsiteX585" fmla="*/ 2725716 w 4875349"/>
              <a:gd name="connsiteY585" fmla="*/ 847194 h 926343"/>
              <a:gd name="connsiteX586" fmla="*/ 2728786 w 4875349"/>
              <a:gd name="connsiteY586" fmla="*/ 833259 h 926343"/>
              <a:gd name="connsiteX587" fmla="*/ 2675487 w 4875349"/>
              <a:gd name="connsiteY587" fmla="*/ 861694 h 926343"/>
              <a:gd name="connsiteX588" fmla="*/ 2627062 w 4875349"/>
              <a:gd name="connsiteY588" fmla="*/ 805419 h 926343"/>
              <a:gd name="connsiteX589" fmla="*/ 2730167 w 4875349"/>
              <a:gd name="connsiteY589" fmla="*/ 695157 h 926343"/>
              <a:gd name="connsiteX590" fmla="*/ 2783865 w 4875349"/>
              <a:gd name="connsiteY590" fmla="*/ 738023 h 926343"/>
              <a:gd name="connsiteX591" fmla="*/ 2744332 w 4875349"/>
              <a:gd name="connsiteY591" fmla="*/ 744568 h 926343"/>
              <a:gd name="connsiteX592" fmla="*/ 2722919 w 4875349"/>
              <a:gd name="connsiteY592" fmla="*/ 724282 h 926343"/>
              <a:gd name="connsiteX593" fmla="*/ 2667246 w 4875349"/>
              <a:gd name="connsiteY593" fmla="*/ 798548 h 926343"/>
              <a:gd name="connsiteX594" fmla="*/ 2692615 w 4875349"/>
              <a:gd name="connsiteY594" fmla="*/ 830614 h 926343"/>
              <a:gd name="connsiteX595" fmla="*/ 2739395 w 4875349"/>
              <a:gd name="connsiteY595" fmla="*/ 778262 h 926343"/>
              <a:gd name="connsiteX596" fmla="*/ 2742357 w 4875349"/>
              <a:gd name="connsiteY596" fmla="*/ 763539 h 926343"/>
              <a:gd name="connsiteX597" fmla="*/ 2744331 w 4875349"/>
              <a:gd name="connsiteY597" fmla="*/ 744568 h 9263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Lst>
            <a:rect l="l" t="t" r="r" b="b"/>
            <a:pathLst>
              <a:path w="4875349" h="926343">
                <a:moveTo>
                  <a:pt x="3216560" y="504882"/>
                </a:moveTo>
                <a:lnTo>
                  <a:pt x="3216558" y="113422"/>
                </a:lnTo>
                <a:lnTo>
                  <a:pt x="3240379" y="113422"/>
                </a:lnTo>
                <a:lnTo>
                  <a:pt x="3240381" y="504882"/>
                </a:lnTo>
                <a:lnTo>
                  <a:pt x="3216560" y="504882"/>
                </a:lnTo>
                <a:close/>
                <a:moveTo>
                  <a:pt x="4045162" y="501503"/>
                </a:moveTo>
                <a:lnTo>
                  <a:pt x="4065592" y="501503"/>
                </a:lnTo>
                <a:lnTo>
                  <a:pt x="4065592" y="436819"/>
                </a:lnTo>
                <a:lnTo>
                  <a:pt x="4113948" y="436819"/>
                </a:lnTo>
                <a:lnTo>
                  <a:pt x="4113948" y="420806"/>
                </a:lnTo>
                <a:lnTo>
                  <a:pt x="4065592" y="420806"/>
                </a:lnTo>
                <a:lnTo>
                  <a:pt x="4065592" y="370635"/>
                </a:lnTo>
                <a:lnTo>
                  <a:pt x="4121465" y="370635"/>
                </a:lnTo>
                <a:lnTo>
                  <a:pt x="4123838" y="354398"/>
                </a:lnTo>
                <a:lnTo>
                  <a:pt x="4045162" y="354398"/>
                </a:lnTo>
                <a:lnTo>
                  <a:pt x="4045162" y="501503"/>
                </a:lnTo>
                <a:close/>
                <a:moveTo>
                  <a:pt x="4173291" y="348426"/>
                </a:moveTo>
                <a:cubicBezTo>
                  <a:pt x="4173291" y="355905"/>
                  <a:pt x="4167708" y="361661"/>
                  <a:pt x="4159329" y="361661"/>
                </a:cubicBezTo>
                <a:cubicBezTo>
                  <a:pt x="4151149" y="361661"/>
                  <a:pt x="4145567" y="355905"/>
                  <a:pt x="4145567" y="348426"/>
                </a:cubicBezTo>
                <a:cubicBezTo>
                  <a:pt x="4145567" y="340736"/>
                  <a:pt x="4151149" y="334968"/>
                  <a:pt x="4159329" y="334968"/>
                </a:cubicBezTo>
                <a:cubicBezTo>
                  <a:pt x="4167708" y="334968"/>
                  <a:pt x="4173291" y="340736"/>
                  <a:pt x="4173291" y="348426"/>
                </a:cubicBezTo>
                <a:close/>
                <a:moveTo>
                  <a:pt x="4169419" y="501497"/>
                </a:moveTo>
                <a:lnTo>
                  <a:pt x="4149638" y="501497"/>
                </a:lnTo>
                <a:lnTo>
                  <a:pt x="4149638" y="388985"/>
                </a:lnTo>
                <a:lnTo>
                  <a:pt x="4169419" y="388985"/>
                </a:lnTo>
                <a:lnTo>
                  <a:pt x="4169419" y="501497"/>
                </a:lnTo>
                <a:close/>
                <a:moveTo>
                  <a:pt x="4270675" y="387709"/>
                </a:moveTo>
                <a:lnTo>
                  <a:pt x="4267016" y="406922"/>
                </a:lnTo>
                <a:cubicBezTo>
                  <a:pt x="4263582" y="406066"/>
                  <a:pt x="4261209" y="405632"/>
                  <a:pt x="4257138" y="405632"/>
                </a:cubicBezTo>
                <a:cubicBezTo>
                  <a:pt x="4242938" y="405632"/>
                  <a:pt x="4234783" y="415679"/>
                  <a:pt x="4230050" y="437236"/>
                </a:cubicBezTo>
                <a:lnTo>
                  <a:pt x="4230050" y="501498"/>
                </a:lnTo>
                <a:lnTo>
                  <a:pt x="4210269" y="501498"/>
                </a:lnTo>
                <a:lnTo>
                  <a:pt x="4210269" y="388999"/>
                </a:lnTo>
                <a:lnTo>
                  <a:pt x="4227253" y="388999"/>
                </a:lnTo>
                <a:lnTo>
                  <a:pt x="4229188" y="411834"/>
                </a:lnTo>
                <a:cubicBezTo>
                  <a:pt x="4235208" y="394965"/>
                  <a:pt x="4245749" y="386419"/>
                  <a:pt x="4259498" y="386419"/>
                </a:cubicBezTo>
                <a:cubicBezTo>
                  <a:pt x="4263144" y="386419"/>
                  <a:pt x="4267240" y="386853"/>
                  <a:pt x="4270675" y="387709"/>
                </a:cubicBezTo>
                <a:close/>
                <a:moveTo>
                  <a:pt x="4362473" y="399240"/>
                </a:moveTo>
                <a:lnTo>
                  <a:pt x="4354080" y="411619"/>
                </a:lnTo>
                <a:cubicBezTo>
                  <a:pt x="4343990" y="405207"/>
                  <a:pt x="4335160" y="402019"/>
                  <a:pt x="4324646" y="402019"/>
                </a:cubicBezTo>
                <a:cubicBezTo>
                  <a:pt x="4311733" y="402019"/>
                  <a:pt x="4303790" y="407774"/>
                  <a:pt x="4303790" y="416742"/>
                </a:cubicBezTo>
                <a:cubicBezTo>
                  <a:pt x="4303790" y="425920"/>
                  <a:pt x="4309796" y="430187"/>
                  <a:pt x="4328079" y="434888"/>
                </a:cubicBezTo>
                <a:cubicBezTo>
                  <a:pt x="4351933" y="440866"/>
                  <a:pt x="4365695" y="450256"/>
                  <a:pt x="4365695" y="469903"/>
                </a:cubicBezTo>
                <a:cubicBezTo>
                  <a:pt x="4365695" y="493382"/>
                  <a:pt x="4343990" y="504062"/>
                  <a:pt x="4320986" y="504062"/>
                </a:cubicBezTo>
                <a:cubicBezTo>
                  <a:pt x="4301842" y="504062"/>
                  <a:pt x="4288092" y="497860"/>
                  <a:pt x="4278214" y="489327"/>
                </a:cubicBezTo>
                <a:lnTo>
                  <a:pt x="4288741" y="477370"/>
                </a:lnTo>
                <a:cubicBezTo>
                  <a:pt x="4297770" y="484204"/>
                  <a:pt x="4308298" y="488260"/>
                  <a:pt x="4320549" y="488260"/>
                </a:cubicBezTo>
                <a:cubicBezTo>
                  <a:pt x="4335385" y="488260"/>
                  <a:pt x="4344839" y="481847"/>
                  <a:pt x="4344839" y="471180"/>
                </a:cubicBezTo>
                <a:cubicBezTo>
                  <a:pt x="4344839" y="460079"/>
                  <a:pt x="4339257" y="455812"/>
                  <a:pt x="4317327" y="450045"/>
                </a:cubicBezTo>
                <a:cubicBezTo>
                  <a:pt x="4292825" y="443645"/>
                  <a:pt x="4283147" y="433176"/>
                  <a:pt x="4283147" y="417387"/>
                </a:cubicBezTo>
                <a:cubicBezTo>
                  <a:pt x="4283147" y="399451"/>
                  <a:pt x="4300568" y="386428"/>
                  <a:pt x="4323996" y="386428"/>
                </a:cubicBezTo>
                <a:cubicBezTo>
                  <a:pt x="4339894" y="386428"/>
                  <a:pt x="4351720" y="391129"/>
                  <a:pt x="4362473" y="399240"/>
                </a:cubicBezTo>
                <a:close/>
                <a:moveTo>
                  <a:pt x="4450831" y="496374"/>
                </a:moveTo>
                <a:cubicBezTo>
                  <a:pt x="4443300" y="501497"/>
                  <a:pt x="4435133" y="504064"/>
                  <a:pt x="4425467" y="504064"/>
                </a:cubicBezTo>
                <a:cubicBezTo>
                  <a:pt x="4406322" y="504064"/>
                  <a:pt x="4394933" y="492963"/>
                  <a:pt x="4394933" y="472039"/>
                </a:cubicBezTo>
                <a:lnTo>
                  <a:pt x="4394933" y="404142"/>
                </a:lnTo>
                <a:lnTo>
                  <a:pt x="4375164" y="404142"/>
                </a:lnTo>
                <a:lnTo>
                  <a:pt x="4375164" y="388998"/>
                </a:lnTo>
                <a:lnTo>
                  <a:pt x="4394933" y="388998"/>
                </a:lnTo>
                <a:lnTo>
                  <a:pt x="4394933" y="363583"/>
                </a:lnTo>
                <a:lnTo>
                  <a:pt x="4414715" y="361226"/>
                </a:lnTo>
                <a:lnTo>
                  <a:pt x="4414715" y="388998"/>
                </a:lnTo>
                <a:lnTo>
                  <a:pt x="4441590" y="388998"/>
                </a:lnTo>
                <a:lnTo>
                  <a:pt x="4439429" y="404142"/>
                </a:lnTo>
                <a:lnTo>
                  <a:pt x="4414715" y="404142"/>
                </a:lnTo>
                <a:lnTo>
                  <a:pt x="4414715" y="471183"/>
                </a:lnTo>
                <a:cubicBezTo>
                  <a:pt x="4414715" y="482495"/>
                  <a:pt x="4418362" y="487841"/>
                  <a:pt x="4428252" y="487841"/>
                </a:cubicBezTo>
                <a:cubicBezTo>
                  <a:pt x="4433198" y="487841"/>
                  <a:pt x="4437719" y="486340"/>
                  <a:pt x="4443301" y="483351"/>
                </a:cubicBezTo>
                <a:lnTo>
                  <a:pt x="4450831" y="496374"/>
                </a:lnTo>
                <a:close/>
                <a:moveTo>
                  <a:pt x="4491457" y="489118"/>
                </a:moveTo>
                <a:cubicBezTo>
                  <a:pt x="4491457" y="497441"/>
                  <a:pt x="4485000" y="504064"/>
                  <a:pt x="4476408" y="504064"/>
                </a:cubicBezTo>
                <a:cubicBezTo>
                  <a:pt x="4468029" y="504064"/>
                  <a:pt x="4461572" y="497441"/>
                  <a:pt x="4461572" y="489118"/>
                </a:cubicBezTo>
                <a:cubicBezTo>
                  <a:pt x="4461572" y="481006"/>
                  <a:pt x="4468029" y="474383"/>
                  <a:pt x="4476408" y="474383"/>
                </a:cubicBezTo>
                <a:cubicBezTo>
                  <a:pt x="4485000" y="474383"/>
                  <a:pt x="4491457" y="481006"/>
                  <a:pt x="4491457" y="489118"/>
                </a:cubicBezTo>
                <a:close/>
                <a:moveTo>
                  <a:pt x="3521774" y="366146"/>
                </a:moveTo>
                <a:lnTo>
                  <a:pt x="3505002" y="385996"/>
                </a:lnTo>
                <a:cubicBezTo>
                  <a:pt x="3496623" y="379599"/>
                  <a:pt x="3488242" y="375748"/>
                  <a:pt x="3478129" y="375748"/>
                </a:cubicBezTo>
                <a:cubicBezTo>
                  <a:pt x="3458997" y="375748"/>
                  <a:pt x="3445681" y="390911"/>
                  <a:pt x="3445681" y="427204"/>
                </a:cubicBezTo>
                <a:cubicBezTo>
                  <a:pt x="3445681" y="462863"/>
                  <a:pt x="3458793" y="478013"/>
                  <a:pt x="3478562" y="478013"/>
                </a:cubicBezTo>
                <a:cubicBezTo>
                  <a:pt x="3490386" y="478013"/>
                  <a:pt x="3498995" y="472680"/>
                  <a:pt x="3507795" y="466055"/>
                </a:cubicBezTo>
                <a:lnTo>
                  <a:pt x="3523496" y="486133"/>
                </a:lnTo>
                <a:cubicBezTo>
                  <a:pt x="3513599" y="495951"/>
                  <a:pt x="3497477" y="505135"/>
                  <a:pt x="3476841" y="505135"/>
                </a:cubicBezTo>
                <a:cubicBezTo>
                  <a:pt x="3436001" y="505135"/>
                  <a:pt x="3408707" y="477798"/>
                  <a:pt x="3408707" y="427204"/>
                </a:cubicBezTo>
                <a:cubicBezTo>
                  <a:pt x="3408707" y="377673"/>
                  <a:pt x="3437723" y="349918"/>
                  <a:pt x="3476419" y="349918"/>
                </a:cubicBezTo>
                <a:cubicBezTo>
                  <a:pt x="3495768" y="349918"/>
                  <a:pt x="3509313" y="355682"/>
                  <a:pt x="3521774" y="366145"/>
                </a:cubicBezTo>
                <a:close/>
                <a:moveTo>
                  <a:pt x="3537463" y="472680"/>
                </a:moveTo>
                <a:lnTo>
                  <a:pt x="3537463" y="343090"/>
                </a:lnTo>
                <a:lnTo>
                  <a:pt x="3571428" y="339455"/>
                </a:lnTo>
                <a:lnTo>
                  <a:pt x="3571428" y="471401"/>
                </a:lnTo>
                <a:cubicBezTo>
                  <a:pt x="3571428" y="476101"/>
                  <a:pt x="3573149" y="478444"/>
                  <a:pt x="3577231" y="478444"/>
                </a:cubicBezTo>
                <a:cubicBezTo>
                  <a:pt x="3579590" y="478444"/>
                  <a:pt x="3581312" y="478013"/>
                  <a:pt x="3582818" y="477380"/>
                </a:cubicBezTo>
                <a:lnTo>
                  <a:pt x="3589475" y="501284"/>
                </a:lnTo>
                <a:cubicBezTo>
                  <a:pt x="3584323" y="503425"/>
                  <a:pt x="3577014" y="505135"/>
                  <a:pt x="3568839" y="505135"/>
                </a:cubicBezTo>
                <a:cubicBezTo>
                  <a:pt x="3549069" y="505135"/>
                  <a:pt x="3537463" y="493392"/>
                  <a:pt x="3537463" y="472680"/>
                </a:cubicBezTo>
                <a:close/>
                <a:moveTo>
                  <a:pt x="3708782" y="444927"/>
                </a:moveTo>
                <a:cubicBezTo>
                  <a:pt x="3708782" y="481220"/>
                  <a:pt x="3687712" y="505123"/>
                  <a:pt x="3652892" y="505123"/>
                </a:cubicBezTo>
                <a:cubicBezTo>
                  <a:pt x="3618290" y="505123"/>
                  <a:pt x="3597003" y="482930"/>
                  <a:pt x="3597003" y="444712"/>
                </a:cubicBezTo>
                <a:cubicBezTo>
                  <a:pt x="3597003" y="408419"/>
                  <a:pt x="3618073" y="384502"/>
                  <a:pt x="3652892" y="384502"/>
                </a:cubicBezTo>
                <a:cubicBezTo>
                  <a:pt x="3687711" y="384502"/>
                  <a:pt x="3708782" y="406709"/>
                  <a:pt x="3708782" y="444927"/>
                </a:cubicBezTo>
                <a:close/>
                <a:moveTo>
                  <a:pt x="3632256" y="444712"/>
                </a:moveTo>
                <a:cubicBezTo>
                  <a:pt x="3632256" y="469907"/>
                  <a:pt x="3639131" y="480371"/>
                  <a:pt x="3652892" y="480371"/>
                </a:cubicBezTo>
                <a:cubicBezTo>
                  <a:pt x="3666655" y="480371"/>
                  <a:pt x="3673529" y="469477"/>
                  <a:pt x="3673529" y="444927"/>
                </a:cubicBezTo>
                <a:cubicBezTo>
                  <a:pt x="3673529" y="419731"/>
                  <a:pt x="3666655" y="409267"/>
                  <a:pt x="3652892" y="409267"/>
                </a:cubicBezTo>
                <a:cubicBezTo>
                  <a:pt x="3639131" y="409267"/>
                  <a:pt x="3632256" y="420162"/>
                  <a:pt x="3632256" y="444712"/>
                </a:cubicBezTo>
                <a:close/>
                <a:moveTo>
                  <a:pt x="3827431" y="501502"/>
                </a:moveTo>
                <a:lnTo>
                  <a:pt x="3797981" y="501502"/>
                </a:lnTo>
                <a:lnTo>
                  <a:pt x="3796477" y="487200"/>
                </a:lnTo>
                <a:cubicBezTo>
                  <a:pt x="3788097" y="499158"/>
                  <a:pt x="3776924" y="505125"/>
                  <a:pt x="3761874" y="505125"/>
                </a:cubicBezTo>
                <a:cubicBezTo>
                  <a:pt x="3740587" y="505125"/>
                  <a:pt x="3730052" y="491469"/>
                  <a:pt x="3730052" y="469478"/>
                </a:cubicBezTo>
                <a:lnTo>
                  <a:pt x="3730052" y="388139"/>
                </a:lnTo>
                <a:lnTo>
                  <a:pt x="3764017" y="388139"/>
                </a:lnTo>
                <a:lnTo>
                  <a:pt x="3764017" y="465209"/>
                </a:lnTo>
                <a:cubicBezTo>
                  <a:pt x="3764017" y="476737"/>
                  <a:pt x="3767893" y="480157"/>
                  <a:pt x="3774985" y="480157"/>
                </a:cubicBezTo>
                <a:cubicBezTo>
                  <a:pt x="3782077" y="480157"/>
                  <a:pt x="3788531" y="475457"/>
                  <a:pt x="3793466" y="466919"/>
                </a:cubicBezTo>
                <a:lnTo>
                  <a:pt x="3793466" y="388139"/>
                </a:lnTo>
                <a:lnTo>
                  <a:pt x="3827431" y="388139"/>
                </a:lnTo>
                <a:lnTo>
                  <a:pt x="3827431" y="501502"/>
                </a:lnTo>
                <a:close/>
                <a:moveTo>
                  <a:pt x="3956398" y="343082"/>
                </a:moveTo>
                <a:lnTo>
                  <a:pt x="3956398" y="501503"/>
                </a:lnTo>
                <a:lnTo>
                  <a:pt x="3926297" y="501503"/>
                </a:lnTo>
                <a:lnTo>
                  <a:pt x="3924589" y="488265"/>
                </a:lnTo>
                <a:cubicBezTo>
                  <a:pt x="3917918" y="497652"/>
                  <a:pt x="3907599" y="505126"/>
                  <a:pt x="3892129" y="505126"/>
                </a:cubicBezTo>
                <a:cubicBezTo>
                  <a:pt x="3863100" y="505126"/>
                  <a:pt x="3848700" y="481222"/>
                  <a:pt x="3848700" y="444499"/>
                </a:cubicBezTo>
                <a:cubicBezTo>
                  <a:pt x="3848700" y="409486"/>
                  <a:pt x="3867182" y="384505"/>
                  <a:pt x="3895343" y="384505"/>
                </a:cubicBezTo>
                <a:cubicBezTo>
                  <a:pt x="3906528" y="384505"/>
                  <a:pt x="3915763" y="388559"/>
                  <a:pt x="3922433" y="395184"/>
                </a:cubicBezTo>
                <a:lnTo>
                  <a:pt x="3922433" y="339459"/>
                </a:lnTo>
                <a:lnTo>
                  <a:pt x="3956398" y="343082"/>
                </a:lnTo>
                <a:close/>
                <a:moveTo>
                  <a:pt x="3922433" y="467554"/>
                </a:moveTo>
                <a:lnTo>
                  <a:pt x="3922433" y="418669"/>
                </a:lnTo>
                <a:cubicBezTo>
                  <a:pt x="3917267" y="412690"/>
                  <a:pt x="3912115" y="409055"/>
                  <a:pt x="3904590" y="409055"/>
                </a:cubicBezTo>
                <a:cubicBezTo>
                  <a:pt x="3892549" y="409055"/>
                  <a:pt x="3883953" y="419303"/>
                  <a:pt x="3883953" y="444714"/>
                </a:cubicBezTo>
                <a:cubicBezTo>
                  <a:pt x="3883953" y="472887"/>
                  <a:pt x="3891695" y="480361"/>
                  <a:pt x="3902651" y="480361"/>
                </a:cubicBezTo>
                <a:cubicBezTo>
                  <a:pt x="3910827" y="480361"/>
                  <a:pt x="3917063" y="476092"/>
                  <a:pt x="3922433" y="467554"/>
                </a:cubicBezTo>
                <a:close/>
                <a:moveTo>
                  <a:pt x="3476419" y="113000"/>
                </a:moveTo>
                <a:cubicBezTo>
                  <a:pt x="3437722" y="113000"/>
                  <a:pt x="3408707" y="140754"/>
                  <a:pt x="3408707" y="190285"/>
                </a:cubicBezTo>
                <a:cubicBezTo>
                  <a:pt x="3408707" y="240892"/>
                  <a:pt x="3436001" y="268216"/>
                  <a:pt x="3476841" y="268216"/>
                </a:cubicBezTo>
                <a:cubicBezTo>
                  <a:pt x="3497477" y="268216"/>
                  <a:pt x="3513599" y="259032"/>
                  <a:pt x="3523496" y="249215"/>
                </a:cubicBezTo>
                <a:lnTo>
                  <a:pt x="3507795" y="229136"/>
                </a:lnTo>
                <a:cubicBezTo>
                  <a:pt x="3498995" y="235762"/>
                  <a:pt x="3490386" y="241095"/>
                  <a:pt x="3478562" y="241095"/>
                </a:cubicBezTo>
                <a:cubicBezTo>
                  <a:pt x="3458793" y="241095"/>
                  <a:pt x="3445681" y="225944"/>
                  <a:pt x="3445681" y="190285"/>
                </a:cubicBezTo>
                <a:cubicBezTo>
                  <a:pt x="3445681" y="153992"/>
                  <a:pt x="3458997" y="138829"/>
                  <a:pt x="3478129" y="138829"/>
                </a:cubicBezTo>
                <a:cubicBezTo>
                  <a:pt x="3488242" y="138829"/>
                  <a:pt x="3496623" y="142680"/>
                  <a:pt x="3505002" y="149077"/>
                </a:cubicBezTo>
                <a:lnTo>
                  <a:pt x="3521774" y="129227"/>
                </a:lnTo>
                <a:cubicBezTo>
                  <a:pt x="3509314" y="118763"/>
                  <a:pt x="3495768" y="113000"/>
                  <a:pt x="3476419" y="113000"/>
                </a:cubicBezTo>
                <a:close/>
                <a:moveTo>
                  <a:pt x="3633546" y="264584"/>
                </a:moveTo>
                <a:lnTo>
                  <a:pt x="3604096" y="264584"/>
                </a:lnTo>
                <a:lnTo>
                  <a:pt x="3602591" y="250282"/>
                </a:lnTo>
                <a:cubicBezTo>
                  <a:pt x="3594211" y="262241"/>
                  <a:pt x="3583038" y="268220"/>
                  <a:pt x="3567988" y="268220"/>
                </a:cubicBezTo>
                <a:cubicBezTo>
                  <a:pt x="3546701" y="268220"/>
                  <a:pt x="3536166" y="254551"/>
                  <a:pt x="3536166" y="232560"/>
                </a:cubicBezTo>
                <a:lnTo>
                  <a:pt x="3536166" y="151221"/>
                </a:lnTo>
                <a:lnTo>
                  <a:pt x="3570131" y="151221"/>
                </a:lnTo>
                <a:lnTo>
                  <a:pt x="3570131" y="228291"/>
                </a:lnTo>
                <a:cubicBezTo>
                  <a:pt x="3570131" y="239819"/>
                  <a:pt x="3574008" y="243239"/>
                  <a:pt x="3581100" y="243239"/>
                </a:cubicBezTo>
                <a:cubicBezTo>
                  <a:pt x="3588191" y="243239"/>
                  <a:pt x="3594645" y="238539"/>
                  <a:pt x="3599580" y="230001"/>
                </a:cubicBezTo>
                <a:lnTo>
                  <a:pt x="3599580" y="151221"/>
                </a:lnTo>
                <a:lnTo>
                  <a:pt x="3633546" y="151221"/>
                </a:lnTo>
                <a:lnTo>
                  <a:pt x="3633546" y="264584"/>
                </a:lnTo>
                <a:close/>
                <a:moveTo>
                  <a:pt x="3744461" y="161465"/>
                </a:moveTo>
                <a:lnTo>
                  <a:pt x="3732000" y="180466"/>
                </a:lnTo>
                <a:cubicBezTo>
                  <a:pt x="3723174" y="174918"/>
                  <a:pt x="3713723" y="171713"/>
                  <a:pt x="3703838" y="171713"/>
                </a:cubicBezTo>
                <a:cubicBezTo>
                  <a:pt x="3694591" y="171713"/>
                  <a:pt x="3690076" y="175133"/>
                  <a:pt x="3690076" y="180251"/>
                </a:cubicBezTo>
                <a:cubicBezTo>
                  <a:pt x="3690076" y="186230"/>
                  <a:pt x="3693086" y="188789"/>
                  <a:pt x="3713506" y="194768"/>
                </a:cubicBezTo>
                <a:cubicBezTo>
                  <a:pt x="3736081" y="201178"/>
                  <a:pt x="3748759" y="210564"/>
                  <a:pt x="3748759" y="230845"/>
                </a:cubicBezTo>
                <a:cubicBezTo>
                  <a:pt x="3748759" y="254331"/>
                  <a:pt x="3726401" y="268215"/>
                  <a:pt x="3698022" y="268215"/>
                </a:cubicBezTo>
                <a:cubicBezTo>
                  <a:pt x="3678253" y="268215"/>
                  <a:pt x="3661481" y="261387"/>
                  <a:pt x="3650308" y="251342"/>
                </a:cubicBezTo>
                <a:lnTo>
                  <a:pt x="3666864" y="232986"/>
                </a:lnTo>
                <a:cubicBezTo>
                  <a:pt x="3675460" y="239611"/>
                  <a:pt x="3685995" y="244083"/>
                  <a:pt x="3697167" y="244083"/>
                </a:cubicBezTo>
                <a:cubicBezTo>
                  <a:pt x="3707486" y="244083"/>
                  <a:pt x="3713723" y="240245"/>
                  <a:pt x="3713723" y="233417"/>
                </a:cubicBezTo>
                <a:cubicBezTo>
                  <a:pt x="3713723" y="225728"/>
                  <a:pt x="3710279" y="223384"/>
                  <a:pt x="3689643" y="217608"/>
                </a:cubicBezTo>
                <a:cubicBezTo>
                  <a:pt x="3667067" y="211211"/>
                  <a:pt x="3655895" y="199683"/>
                  <a:pt x="3655895" y="182176"/>
                </a:cubicBezTo>
                <a:cubicBezTo>
                  <a:pt x="3655895" y="162744"/>
                  <a:pt x="3673738" y="147594"/>
                  <a:pt x="3702550" y="147594"/>
                </a:cubicBezTo>
                <a:cubicBezTo>
                  <a:pt x="3719092" y="147594"/>
                  <a:pt x="3733926" y="152927"/>
                  <a:pt x="3744461" y="161465"/>
                </a:cubicBezTo>
                <a:close/>
                <a:moveTo>
                  <a:pt x="3839894" y="259246"/>
                </a:moveTo>
                <a:cubicBezTo>
                  <a:pt x="3831297" y="265225"/>
                  <a:pt x="3819257" y="268215"/>
                  <a:pt x="3808939" y="268215"/>
                </a:cubicBezTo>
                <a:cubicBezTo>
                  <a:pt x="3783787" y="267999"/>
                  <a:pt x="3771543" y="253913"/>
                  <a:pt x="3771543" y="227222"/>
                </a:cubicBezTo>
                <a:lnTo>
                  <a:pt x="3771543" y="174702"/>
                </a:lnTo>
                <a:lnTo>
                  <a:pt x="3755421" y="174702"/>
                </a:lnTo>
                <a:lnTo>
                  <a:pt x="3755421" y="151216"/>
                </a:lnTo>
                <a:lnTo>
                  <a:pt x="3771543" y="151216"/>
                </a:lnTo>
                <a:lnTo>
                  <a:pt x="3771543" y="126667"/>
                </a:lnTo>
                <a:lnTo>
                  <a:pt x="3805495" y="122828"/>
                </a:lnTo>
                <a:lnTo>
                  <a:pt x="3805495" y="151216"/>
                </a:lnTo>
                <a:lnTo>
                  <a:pt x="3831731" y="151216"/>
                </a:lnTo>
                <a:lnTo>
                  <a:pt x="3828070" y="174702"/>
                </a:lnTo>
                <a:lnTo>
                  <a:pt x="3805495" y="174702"/>
                </a:lnTo>
                <a:lnTo>
                  <a:pt x="3805495" y="226792"/>
                </a:lnTo>
                <a:cubicBezTo>
                  <a:pt x="3805495" y="237686"/>
                  <a:pt x="3809156" y="241524"/>
                  <a:pt x="3816247" y="241524"/>
                </a:cubicBezTo>
                <a:cubicBezTo>
                  <a:pt x="3820125" y="241524"/>
                  <a:pt x="3823989" y="240460"/>
                  <a:pt x="3828504" y="237901"/>
                </a:cubicBezTo>
                <a:lnTo>
                  <a:pt x="3839894" y="259246"/>
                </a:lnTo>
                <a:close/>
                <a:moveTo>
                  <a:pt x="3954894" y="208009"/>
                </a:moveTo>
                <a:cubicBezTo>
                  <a:pt x="3954894" y="244302"/>
                  <a:pt x="3933824" y="268219"/>
                  <a:pt x="3899004" y="268219"/>
                </a:cubicBezTo>
                <a:cubicBezTo>
                  <a:pt x="3864402" y="268219"/>
                  <a:pt x="3843115" y="246012"/>
                  <a:pt x="3843115" y="207794"/>
                </a:cubicBezTo>
                <a:cubicBezTo>
                  <a:pt x="3843115" y="171501"/>
                  <a:pt x="3864185" y="147585"/>
                  <a:pt x="3899004" y="147585"/>
                </a:cubicBezTo>
                <a:cubicBezTo>
                  <a:pt x="3933823" y="147585"/>
                  <a:pt x="3954894" y="169791"/>
                  <a:pt x="3954894" y="208009"/>
                </a:cubicBezTo>
                <a:close/>
                <a:moveTo>
                  <a:pt x="3878368" y="207794"/>
                </a:moveTo>
                <a:cubicBezTo>
                  <a:pt x="3878368" y="232990"/>
                  <a:pt x="3885243" y="243453"/>
                  <a:pt x="3899004" y="243453"/>
                </a:cubicBezTo>
                <a:cubicBezTo>
                  <a:pt x="3912767" y="243453"/>
                  <a:pt x="3919641" y="232559"/>
                  <a:pt x="3919641" y="208009"/>
                </a:cubicBezTo>
                <a:cubicBezTo>
                  <a:pt x="3919641" y="182813"/>
                  <a:pt x="3912767" y="172350"/>
                  <a:pt x="3899004" y="172350"/>
                </a:cubicBezTo>
                <a:cubicBezTo>
                  <a:pt x="3885243" y="172350"/>
                  <a:pt x="3878368" y="183244"/>
                  <a:pt x="3878368" y="207794"/>
                </a:cubicBezTo>
                <a:close/>
                <a:moveTo>
                  <a:pt x="4132231" y="181748"/>
                </a:moveTo>
                <a:lnTo>
                  <a:pt x="4132231" y="264582"/>
                </a:lnTo>
                <a:lnTo>
                  <a:pt x="4098266" y="264582"/>
                </a:lnTo>
                <a:lnTo>
                  <a:pt x="4098266" y="187512"/>
                </a:lnTo>
                <a:cubicBezTo>
                  <a:pt x="4098266" y="175554"/>
                  <a:pt x="4093751" y="172349"/>
                  <a:pt x="4088598" y="172349"/>
                </a:cubicBezTo>
                <a:cubicBezTo>
                  <a:pt x="4081290" y="172349"/>
                  <a:pt x="4076125" y="177695"/>
                  <a:pt x="4071176" y="187081"/>
                </a:cubicBezTo>
                <a:lnTo>
                  <a:pt x="4071176" y="264582"/>
                </a:lnTo>
                <a:lnTo>
                  <a:pt x="4037224" y="264582"/>
                </a:lnTo>
                <a:lnTo>
                  <a:pt x="4037224" y="187512"/>
                </a:lnTo>
                <a:cubicBezTo>
                  <a:pt x="4037224" y="175554"/>
                  <a:pt x="4032709" y="172349"/>
                  <a:pt x="4027543" y="172349"/>
                </a:cubicBezTo>
                <a:cubicBezTo>
                  <a:pt x="4020452" y="172349"/>
                  <a:pt x="4015082" y="177695"/>
                  <a:pt x="4010134" y="187081"/>
                </a:cubicBezTo>
                <a:lnTo>
                  <a:pt x="4010134" y="264582"/>
                </a:lnTo>
                <a:lnTo>
                  <a:pt x="3976168" y="264582"/>
                </a:lnTo>
                <a:lnTo>
                  <a:pt x="3976168" y="151219"/>
                </a:lnTo>
                <a:lnTo>
                  <a:pt x="4005836" y="151219"/>
                </a:lnTo>
                <a:lnTo>
                  <a:pt x="4008208" y="164457"/>
                </a:lnTo>
                <a:cubicBezTo>
                  <a:pt x="4017021" y="153347"/>
                  <a:pt x="4027339" y="147583"/>
                  <a:pt x="4041305" y="147583"/>
                </a:cubicBezTo>
                <a:cubicBezTo>
                  <a:pt x="4053983" y="147583"/>
                  <a:pt x="4063880" y="153993"/>
                  <a:pt x="4068179" y="165521"/>
                </a:cubicBezTo>
                <a:cubicBezTo>
                  <a:pt x="4077196" y="153563"/>
                  <a:pt x="4087744" y="147583"/>
                  <a:pt x="4102347" y="147583"/>
                </a:cubicBezTo>
                <a:cubicBezTo>
                  <a:pt x="4119974" y="147583"/>
                  <a:pt x="4132231" y="160188"/>
                  <a:pt x="4132231" y="181748"/>
                </a:cubicBezTo>
                <a:close/>
                <a:moveTo>
                  <a:pt x="4258838" y="217827"/>
                </a:moveTo>
                <a:lnTo>
                  <a:pt x="4188115" y="217827"/>
                </a:lnTo>
                <a:cubicBezTo>
                  <a:pt x="4190475" y="238108"/>
                  <a:pt x="4200155" y="243656"/>
                  <a:pt x="4214122" y="243656"/>
                </a:cubicBezTo>
                <a:cubicBezTo>
                  <a:pt x="4223368" y="243656"/>
                  <a:pt x="4231531" y="240464"/>
                  <a:pt x="4241429" y="233623"/>
                </a:cubicBezTo>
                <a:lnTo>
                  <a:pt x="4255394" y="252409"/>
                </a:lnTo>
                <a:cubicBezTo>
                  <a:pt x="4244004" y="261378"/>
                  <a:pt x="4229388" y="268219"/>
                  <a:pt x="4210894" y="268219"/>
                </a:cubicBezTo>
                <a:cubicBezTo>
                  <a:pt x="4172848" y="268219"/>
                  <a:pt x="4153499" y="243871"/>
                  <a:pt x="4153499" y="208440"/>
                </a:cubicBezTo>
                <a:cubicBezTo>
                  <a:pt x="4153499" y="174491"/>
                  <a:pt x="4172210" y="147585"/>
                  <a:pt x="4206812" y="147585"/>
                </a:cubicBezTo>
                <a:cubicBezTo>
                  <a:pt x="4239489" y="147585"/>
                  <a:pt x="4259475" y="168942"/>
                  <a:pt x="4259475" y="205666"/>
                </a:cubicBezTo>
                <a:cubicBezTo>
                  <a:pt x="4259475" y="209289"/>
                  <a:pt x="4259258" y="214406"/>
                  <a:pt x="4258838" y="217827"/>
                </a:cubicBezTo>
                <a:close/>
                <a:moveTo>
                  <a:pt x="4226161" y="196051"/>
                </a:moveTo>
                <a:cubicBezTo>
                  <a:pt x="4225944" y="180685"/>
                  <a:pt x="4221212" y="170006"/>
                  <a:pt x="4207680" y="170006"/>
                </a:cubicBezTo>
                <a:cubicBezTo>
                  <a:pt x="4196278" y="170006"/>
                  <a:pt x="4189620" y="177265"/>
                  <a:pt x="4188115" y="197546"/>
                </a:cubicBezTo>
                <a:lnTo>
                  <a:pt x="4226161" y="197546"/>
                </a:lnTo>
                <a:lnTo>
                  <a:pt x="4226161" y="196051"/>
                </a:lnTo>
                <a:close/>
                <a:moveTo>
                  <a:pt x="4429055" y="117480"/>
                </a:moveTo>
                <a:lnTo>
                  <a:pt x="4507732" y="117480"/>
                </a:lnTo>
                <a:lnTo>
                  <a:pt x="4505359" y="133716"/>
                </a:lnTo>
                <a:lnTo>
                  <a:pt x="4449486" y="133716"/>
                </a:lnTo>
                <a:lnTo>
                  <a:pt x="4449486" y="183887"/>
                </a:lnTo>
                <a:lnTo>
                  <a:pt x="4497841" y="183887"/>
                </a:lnTo>
                <a:lnTo>
                  <a:pt x="4497841" y="199900"/>
                </a:lnTo>
                <a:lnTo>
                  <a:pt x="4449486" y="199900"/>
                </a:lnTo>
                <a:lnTo>
                  <a:pt x="4449486" y="264584"/>
                </a:lnTo>
                <a:lnTo>
                  <a:pt x="4429055" y="264584"/>
                </a:lnTo>
                <a:lnTo>
                  <a:pt x="4429055" y="117479"/>
                </a:lnTo>
                <a:close/>
                <a:moveTo>
                  <a:pt x="4557185" y="111507"/>
                </a:moveTo>
                <a:cubicBezTo>
                  <a:pt x="4557185" y="118986"/>
                  <a:pt x="4551602" y="124742"/>
                  <a:pt x="4543223" y="124742"/>
                </a:cubicBezTo>
                <a:cubicBezTo>
                  <a:pt x="4535043" y="124742"/>
                  <a:pt x="4529461" y="118986"/>
                  <a:pt x="4529461" y="111507"/>
                </a:cubicBezTo>
                <a:cubicBezTo>
                  <a:pt x="4529461" y="103817"/>
                  <a:pt x="4535043" y="98050"/>
                  <a:pt x="4543223" y="98050"/>
                </a:cubicBezTo>
                <a:cubicBezTo>
                  <a:pt x="4551602" y="98050"/>
                  <a:pt x="4557185" y="103817"/>
                  <a:pt x="4557185" y="111507"/>
                </a:cubicBezTo>
                <a:close/>
                <a:moveTo>
                  <a:pt x="4553313" y="264578"/>
                </a:moveTo>
                <a:lnTo>
                  <a:pt x="4533532" y="264578"/>
                </a:lnTo>
                <a:lnTo>
                  <a:pt x="4533532" y="152066"/>
                </a:lnTo>
                <a:lnTo>
                  <a:pt x="4553313" y="152066"/>
                </a:lnTo>
                <a:lnTo>
                  <a:pt x="4553313" y="264578"/>
                </a:lnTo>
                <a:close/>
                <a:moveTo>
                  <a:pt x="4654569" y="150790"/>
                </a:moveTo>
                <a:lnTo>
                  <a:pt x="4650909" y="170003"/>
                </a:lnTo>
                <a:cubicBezTo>
                  <a:pt x="4647475" y="169147"/>
                  <a:pt x="4645102" y="168713"/>
                  <a:pt x="4641032" y="168713"/>
                </a:cubicBezTo>
                <a:cubicBezTo>
                  <a:pt x="4626832" y="168713"/>
                  <a:pt x="4618677" y="178760"/>
                  <a:pt x="4613944" y="200317"/>
                </a:cubicBezTo>
                <a:lnTo>
                  <a:pt x="4613944" y="264579"/>
                </a:lnTo>
                <a:lnTo>
                  <a:pt x="4594163" y="264579"/>
                </a:lnTo>
                <a:lnTo>
                  <a:pt x="4594163" y="152080"/>
                </a:lnTo>
                <a:lnTo>
                  <a:pt x="4611147" y="152080"/>
                </a:lnTo>
                <a:lnTo>
                  <a:pt x="4613082" y="174915"/>
                </a:lnTo>
                <a:cubicBezTo>
                  <a:pt x="4619101" y="158046"/>
                  <a:pt x="4629642" y="149500"/>
                  <a:pt x="4643391" y="149500"/>
                </a:cubicBezTo>
                <a:cubicBezTo>
                  <a:pt x="4647038" y="149500"/>
                  <a:pt x="4651134" y="149934"/>
                  <a:pt x="4654568" y="150790"/>
                </a:cubicBezTo>
                <a:close/>
                <a:moveTo>
                  <a:pt x="4746366" y="162322"/>
                </a:moveTo>
                <a:lnTo>
                  <a:pt x="4737974" y="174700"/>
                </a:lnTo>
                <a:cubicBezTo>
                  <a:pt x="4727884" y="168288"/>
                  <a:pt x="4719054" y="165100"/>
                  <a:pt x="4708539" y="165100"/>
                </a:cubicBezTo>
                <a:cubicBezTo>
                  <a:pt x="4695626" y="165100"/>
                  <a:pt x="4687684" y="170855"/>
                  <a:pt x="4687684" y="179823"/>
                </a:cubicBezTo>
                <a:cubicBezTo>
                  <a:pt x="4687684" y="189001"/>
                  <a:pt x="4693690" y="193268"/>
                  <a:pt x="4711973" y="197969"/>
                </a:cubicBezTo>
                <a:cubicBezTo>
                  <a:pt x="4735826" y="203948"/>
                  <a:pt x="4749588" y="213337"/>
                  <a:pt x="4749588" y="232984"/>
                </a:cubicBezTo>
                <a:cubicBezTo>
                  <a:pt x="4749588" y="256464"/>
                  <a:pt x="4727884" y="267143"/>
                  <a:pt x="4704880" y="267143"/>
                </a:cubicBezTo>
                <a:cubicBezTo>
                  <a:pt x="4685735" y="267143"/>
                  <a:pt x="4671986" y="260941"/>
                  <a:pt x="4662107" y="252408"/>
                </a:cubicBezTo>
                <a:lnTo>
                  <a:pt x="4672635" y="240451"/>
                </a:lnTo>
                <a:cubicBezTo>
                  <a:pt x="4681664" y="247285"/>
                  <a:pt x="4692191" y="251341"/>
                  <a:pt x="4704443" y="251341"/>
                </a:cubicBezTo>
                <a:cubicBezTo>
                  <a:pt x="4719279" y="251341"/>
                  <a:pt x="4728733" y="244928"/>
                  <a:pt x="4728733" y="234261"/>
                </a:cubicBezTo>
                <a:cubicBezTo>
                  <a:pt x="4728733" y="223160"/>
                  <a:pt x="4723150" y="218894"/>
                  <a:pt x="4701221" y="213126"/>
                </a:cubicBezTo>
                <a:cubicBezTo>
                  <a:pt x="4676718" y="206726"/>
                  <a:pt x="4667040" y="196257"/>
                  <a:pt x="4667040" y="180468"/>
                </a:cubicBezTo>
                <a:cubicBezTo>
                  <a:pt x="4667040" y="162532"/>
                  <a:pt x="4684462" y="149509"/>
                  <a:pt x="4707890" y="149509"/>
                </a:cubicBezTo>
                <a:cubicBezTo>
                  <a:pt x="4723787" y="149509"/>
                  <a:pt x="4735614" y="154210"/>
                  <a:pt x="4746366" y="162322"/>
                </a:cubicBezTo>
                <a:close/>
                <a:moveTo>
                  <a:pt x="4834725" y="259455"/>
                </a:moveTo>
                <a:cubicBezTo>
                  <a:pt x="4827194" y="264578"/>
                  <a:pt x="4819027" y="267145"/>
                  <a:pt x="4809361" y="267145"/>
                </a:cubicBezTo>
                <a:cubicBezTo>
                  <a:pt x="4790216" y="267145"/>
                  <a:pt x="4778827" y="256044"/>
                  <a:pt x="4778827" y="235120"/>
                </a:cubicBezTo>
                <a:lnTo>
                  <a:pt x="4778827" y="167223"/>
                </a:lnTo>
                <a:lnTo>
                  <a:pt x="4759057" y="167223"/>
                </a:lnTo>
                <a:lnTo>
                  <a:pt x="4759057" y="152079"/>
                </a:lnTo>
                <a:lnTo>
                  <a:pt x="4778827" y="152079"/>
                </a:lnTo>
                <a:lnTo>
                  <a:pt x="4778827" y="126664"/>
                </a:lnTo>
                <a:lnTo>
                  <a:pt x="4798608" y="124308"/>
                </a:lnTo>
                <a:lnTo>
                  <a:pt x="4798608" y="152079"/>
                </a:lnTo>
                <a:lnTo>
                  <a:pt x="4825484" y="152079"/>
                </a:lnTo>
                <a:lnTo>
                  <a:pt x="4823323" y="167223"/>
                </a:lnTo>
                <a:lnTo>
                  <a:pt x="4798608" y="167223"/>
                </a:lnTo>
                <a:lnTo>
                  <a:pt x="4798608" y="234264"/>
                </a:lnTo>
                <a:cubicBezTo>
                  <a:pt x="4798608" y="245576"/>
                  <a:pt x="4802255" y="250922"/>
                  <a:pt x="4812146" y="250922"/>
                </a:cubicBezTo>
                <a:cubicBezTo>
                  <a:pt x="4817091" y="250922"/>
                  <a:pt x="4821612" y="249421"/>
                  <a:pt x="4827194" y="246432"/>
                </a:cubicBezTo>
                <a:lnTo>
                  <a:pt x="4834725" y="259455"/>
                </a:lnTo>
                <a:close/>
                <a:moveTo>
                  <a:pt x="4875350" y="252199"/>
                </a:moveTo>
                <a:cubicBezTo>
                  <a:pt x="4875350" y="260522"/>
                  <a:pt x="4868893" y="267145"/>
                  <a:pt x="4860302" y="267145"/>
                </a:cubicBezTo>
                <a:cubicBezTo>
                  <a:pt x="4851922" y="267145"/>
                  <a:pt x="4845465" y="260522"/>
                  <a:pt x="4845465" y="252199"/>
                </a:cubicBezTo>
                <a:cubicBezTo>
                  <a:pt x="4845465" y="244087"/>
                  <a:pt x="4851922" y="237464"/>
                  <a:pt x="4860302" y="237464"/>
                </a:cubicBezTo>
                <a:cubicBezTo>
                  <a:pt x="4868893" y="237464"/>
                  <a:pt x="4875350" y="244087"/>
                  <a:pt x="4875350" y="252199"/>
                </a:cubicBezTo>
                <a:close/>
                <a:moveTo>
                  <a:pt x="4354043" y="149509"/>
                </a:moveTo>
                <a:lnTo>
                  <a:pt x="4348673" y="182179"/>
                </a:lnTo>
                <a:cubicBezTo>
                  <a:pt x="4345013" y="181317"/>
                  <a:pt x="4342220" y="180684"/>
                  <a:pt x="4338355" y="180684"/>
                </a:cubicBezTo>
                <a:cubicBezTo>
                  <a:pt x="4324159" y="180684"/>
                  <a:pt x="4318356" y="191147"/>
                  <a:pt x="4314709" y="208439"/>
                </a:cubicBezTo>
                <a:lnTo>
                  <a:pt x="4314709" y="264582"/>
                </a:lnTo>
                <a:lnTo>
                  <a:pt x="4280743" y="264582"/>
                </a:lnTo>
                <a:lnTo>
                  <a:pt x="4280743" y="151219"/>
                </a:lnTo>
                <a:lnTo>
                  <a:pt x="4310397" y="151219"/>
                </a:lnTo>
                <a:lnTo>
                  <a:pt x="4313203" y="173210"/>
                </a:lnTo>
                <a:cubicBezTo>
                  <a:pt x="4318356" y="157413"/>
                  <a:pt x="4329542" y="148014"/>
                  <a:pt x="4342653" y="148014"/>
                </a:cubicBezTo>
                <a:cubicBezTo>
                  <a:pt x="4346951" y="148014"/>
                  <a:pt x="4350395" y="148445"/>
                  <a:pt x="4354043" y="149509"/>
                </a:cubicBezTo>
                <a:close/>
                <a:moveTo>
                  <a:pt x="2977074" y="861572"/>
                </a:moveTo>
                <a:cubicBezTo>
                  <a:pt x="2951801" y="861572"/>
                  <a:pt x="2935849" y="840744"/>
                  <a:pt x="2938180" y="819204"/>
                </a:cubicBezTo>
                <a:cubicBezTo>
                  <a:pt x="2940330" y="795706"/>
                  <a:pt x="2961122" y="776658"/>
                  <a:pt x="2984781" y="776658"/>
                </a:cubicBezTo>
                <a:cubicBezTo>
                  <a:pt x="3008440" y="776658"/>
                  <a:pt x="3025825" y="795706"/>
                  <a:pt x="3023675" y="819204"/>
                </a:cubicBezTo>
                <a:cubicBezTo>
                  <a:pt x="3021524" y="842702"/>
                  <a:pt x="3000732" y="861750"/>
                  <a:pt x="2977074" y="861572"/>
                </a:cubicBezTo>
                <a:close/>
                <a:moveTo>
                  <a:pt x="2984780" y="782889"/>
                </a:moveTo>
                <a:cubicBezTo>
                  <a:pt x="2964169" y="782889"/>
                  <a:pt x="2946066" y="799622"/>
                  <a:pt x="2944273" y="819738"/>
                </a:cubicBezTo>
                <a:cubicBezTo>
                  <a:pt x="2942481" y="839498"/>
                  <a:pt x="2956999" y="855519"/>
                  <a:pt x="2977074" y="855519"/>
                </a:cubicBezTo>
                <a:cubicBezTo>
                  <a:pt x="2997506" y="855519"/>
                  <a:pt x="3015788" y="838964"/>
                  <a:pt x="3017580" y="818670"/>
                </a:cubicBezTo>
                <a:cubicBezTo>
                  <a:pt x="3019373" y="798910"/>
                  <a:pt x="3004675" y="782889"/>
                  <a:pt x="2984780" y="782889"/>
                </a:cubicBezTo>
                <a:close/>
                <a:moveTo>
                  <a:pt x="2988007" y="824366"/>
                </a:moveTo>
                <a:cubicBezTo>
                  <a:pt x="2997148" y="821874"/>
                  <a:pt x="3001808" y="813329"/>
                  <a:pt x="3001629" y="806743"/>
                </a:cubicBezTo>
                <a:cubicBezTo>
                  <a:pt x="3001450" y="799622"/>
                  <a:pt x="2995714" y="794104"/>
                  <a:pt x="2988186" y="794104"/>
                </a:cubicBezTo>
                <a:lnTo>
                  <a:pt x="2971697" y="794104"/>
                </a:lnTo>
                <a:lnTo>
                  <a:pt x="2962197" y="844126"/>
                </a:lnTo>
                <a:lnTo>
                  <a:pt x="2968470" y="844126"/>
                </a:lnTo>
                <a:lnTo>
                  <a:pt x="2972055" y="824900"/>
                </a:lnTo>
                <a:lnTo>
                  <a:pt x="2981554" y="824900"/>
                </a:lnTo>
                <a:lnTo>
                  <a:pt x="2988186" y="844126"/>
                </a:lnTo>
                <a:lnTo>
                  <a:pt x="2994818" y="844126"/>
                </a:lnTo>
                <a:lnTo>
                  <a:pt x="2988007" y="824366"/>
                </a:lnTo>
                <a:lnTo>
                  <a:pt x="2988007" y="824366"/>
                </a:lnTo>
                <a:close/>
                <a:moveTo>
                  <a:pt x="2995355" y="808879"/>
                </a:moveTo>
                <a:cubicBezTo>
                  <a:pt x="2993922" y="814575"/>
                  <a:pt x="2989082" y="818848"/>
                  <a:pt x="2983526" y="818848"/>
                </a:cubicBezTo>
                <a:lnTo>
                  <a:pt x="2973130" y="818848"/>
                </a:lnTo>
                <a:lnTo>
                  <a:pt x="2976715" y="800156"/>
                </a:lnTo>
                <a:lnTo>
                  <a:pt x="2988186" y="800156"/>
                </a:lnTo>
                <a:cubicBezTo>
                  <a:pt x="2992846" y="800156"/>
                  <a:pt x="2996431" y="804428"/>
                  <a:pt x="2995355" y="808879"/>
                </a:cubicBezTo>
                <a:close/>
                <a:moveTo>
                  <a:pt x="1498985" y="270374"/>
                </a:moveTo>
                <a:cubicBezTo>
                  <a:pt x="1468316" y="255526"/>
                  <a:pt x="1453828" y="242512"/>
                  <a:pt x="1453828" y="227989"/>
                </a:cubicBezTo>
                <a:cubicBezTo>
                  <a:pt x="1453828" y="207743"/>
                  <a:pt x="1472761" y="195649"/>
                  <a:pt x="1501834" y="195649"/>
                </a:cubicBezTo>
                <a:cubicBezTo>
                  <a:pt x="1543697" y="195649"/>
                  <a:pt x="1582079" y="211373"/>
                  <a:pt x="1597180" y="222644"/>
                </a:cubicBezTo>
                <a:lnTo>
                  <a:pt x="1613401" y="137908"/>
                </a:lnTo>
                <a:cubicBezTo>
                  <a:pt x="1594348" y="125765"/>
                  <a:pt x="1559986" y="113411"/>
                  <a:pt x="1507205" y="113411"/>
                </a:cubicBezTo>
                <a:cubicBezTo>
                  <a:pt x="1407454" y="113411"/>
                  <a:pt x="1340970" y="165801"/>
                  <a:pt x="1340970" y="243327"/>
                </a:cubicBezTo>
                <a:cubicBezTo>
                  <a:pt x="1340970" y="282728"/>
                  <a:pt x="1367537" y="316159"/>
                  <a:pt x="1420637" y="342530"/>
                </a:cubicBezTo>
                <a:cubicBezTo>
                  <a:pt x="1454206" y="358843"/>
                  <a:pt x="1467348" y="371767"/>
                  <a:pt x="1467348" y="390260"/>
                </a:cubicBezTo>
                <a:cubicBezTo>
                  <a:pt x="1467348" y="410662"/>
                  <a:pt x="1448653" y="423380"/>
                  <a:pt x="1420899" y="423380"/>
                </a:cubicBezTo>
                <a:cubicBezTo>
                  <a:pt x="1387200" y="423380"/>
                  <a:pt x="1342028" y="408651"/>
                  <a:pt x="1316170" y="394058"/>
                </a:cubicBezTo>
                <a:lnTo>
                  <a:pt x="1299920" y="478961"/>
                </a:lnTo>
                <a:cubicBezTo>
                  <a:pt x="1324314" y="493849"/>
                  <a:pt x="1367431" y="504151"/>
                  <a:pt x="1410107" y="504852"/>
                </a:cubicBezTo>
                <a:cubicBezTo>
                  <a:pt x="1469572" y="505307"/>
                  <a:pt x="1519028" y="488918"/>
                  <a:pt x="1549514" y="458861"/>
                </a:cubicBezTo>
                <a:cubicBezTo>
                  <a:pt x="1572432" y="436279"/>
                  <a:pt x="1584075" y="407299"/>
                  <a:pt x="1584075" y="372652"/>
                </a:cubicBezTo>
                <a:cubicBezTo>
                  <a:pt x="1584075" y="319558"/>
                  <a:pt x="1538942" y="290202"/>
                  <a:pt x="1498985" y="270374"/>
                </a:cubicBezTo>
                <a:close/>
                <a:moveTo>
                  <a:pt x="970363" y="127406"/>
                </a:moveTo>
                <a:lnTo>
                  <a:pt x="952989" y="217938"/>
                </a:lnTo>
                <a:cubicBezTo>
                  <a:pt x="935533" y="208075"/>
                  <a:pt x="915292" y="203307"/>
                  <a:pt x="891107" y="203307"/>
                </a:cubicBezTo>
                <a:cubicBezTo>
                  <a:pt x="811295" y="203307"/>
                  <a:pt x="763747" y="272410"/>
                  <a:pt x="763747" y="338997"/>
                </a:cubicBezTo>
                <a:cubicBezTo>
                  <a:pt x="763747" y="395504"/>
                  <a:pt x="801745" y="415748"/>
                  <a:pt x="837167" y="415748"/>
                </a:cubicBezTo>
                <a:cubicBezTo>
                  <a:pt x="869148" y="415748"/>
                  <a:pt x="896280" y="408737"/>
                  <a:pt x="930953" y="391664"/>
                </a:cubicBezTo>
                <a:lnTo>
                  <a:pt x="913201" y="484779"/>
                </a:lnTo>
                <a:cubicBezTo>
                  <a:pt x="887273" y="497313"/>
                  <a:pt x="847002" y="504852"/>
                  <a:pt x="805571" y="504852"/>
                </a:cubicBezTo>
                <a:cubicBezTo>
                  <a:pt x="708709" y="504852"/>
                  <a:pt x="646266" y="444585"/>
                  <a:pt x="646266" y="351250"/>
                </a:cubicBezTo>
                <a:cubicBezTo>
                  <a:pt x="646266" y="216101"/>
                  <a:pt x="752144" y="114188"/>
                  <a:pt x="892662" y="114188"/>
                </a:cubicBezTo>
                <a:cubicBezTo>
                  <a:pt x="921178" y="114188"/>
                  <a:pt x="950277" y="119151"/>
                  <a:pt x="970363" y="127406"/>
                </a:cubicBezTo>
                <a:close/>
                <a:moveTo>
                  <a:pt x="2778278" y="343325"/>
                </a:moveTo>
                <a:cubicBezTo>
                  <a:pt x="2862884" y="359827"/>
                  <a:pt x="2955783" y="339380"/>
                  <a:pt x="2993476" y="302896"/>
                </a:cubicBezTo>
                <a:cubicBezTo>
                  <a:pt x="3013625" y="283392"/>
                  <a:pt x="3023855" y="257710"/>
                  <a:pt x="3023855" y="226484"/>
                </a:cubicBezTo>
                <a:cubicBezTo>
                  <a:pt x="3023855" y="158962"/>
                  <a:pt x="2971211" y="113423"/>
                  <a:pt x="2892289" y="113423"/>
                </a:cubicBezTo>
                <a:cubicBezTo>
                  <a:pt x="2829229" y="113423"/>
                  <a:pt x="2771906" y="139599"/>
                  <a:pt x="2730905" y="187174"/>
                </a:cubicBezTo>
                <a:cubicBezTo>
                  <a:pt x="2693535" y="230519"/>
                  <a:pt x="2672078" y="288647"/>
                  <a:pt x="2672078" y="346655"/>
                </a:cubicBezTo>
                <a:cubicBezTo>
                  <a:pt x="2672078" y="447258"/>
                  <a:pt x="2731715" y="504881"/>
                  <a:pt x="2836038" y="504881"/>
                </a:cubicBezTo>
                <a:cubicBezTo>
                  <a:pt x="2860557" y="504881"/>
                  <a:pt x="2923337" y="501938"/>
                  <a:pt x="2976777" y="474840"/>
                </a:cubicBezTo>
                <a:lnTo>
                  <a:pt x="2994734" y="381111"/>
                </a:lnTo>
                <a:cubicBezTo>
                  <a:pt x="2950484" y="406640"/>
                  <a:pt x="2909899" y="418032"/>
                  <a:pt x="2863005" y="418032"/>
                </a:cubicBezTo>
                <a:cubicBezTo>
                  <a:pt x="2810134" y="418032"/>
                  <a:pt x="2774248" y="390673"/>
                  <a:pt x="2778278" y="343325"/>
                </a:cubicBezTo>
                <a:close/>
                <a:moveTo>
                  <a:pt x="2878412" y="194883"/>
                </a:moveTo>
                <a:cubicBezTo>
                  <a:pt x="2921523" y="194883"/>
                  <a:pt x="2926998" y="231859"/>
                  <a:pt x="2909510" y="249117"/>
                </a:cubicBezTo>
                <a:cubicBezTo>
                  <a:pt x="2893357" y="265003"/>
                  <a:pt x="2856343" y="271614"/>
                  <a:pt x="2790539" y="271078"/>
                </a:cubicBezTo>
                <a:cubicBezTo>
                  <a:pt x="2799027" y="234378"/>
                  <a:pt x="2829908" y="194883"/>
                  <a:pt x="2878412" y="194883"/>
                </a:cubicBezTo>
                <a:close/>
                <a:moveTo>
                  <a:pt x="2693048" y="127406"/>
                </a:moveTo>
                <a:lnTo>
                  <a:pt x="2675674" y="217938"/>
                </a:lnTo>
                <a:cubicBezTo>
                  <a:pt x="2658218" y="208075"/>
                  <a:pt x="2637977" y="203307"/>
                  <a:pt x="2613791" y="203307"/>
                </a:cubicBezTo>
                <a:cubicBezTo>
                  <a:pt x="2533980" y="203307"/>
                  <a:pt x="2486431" y="272410"/>
                  <a:pt x="2486431" y="338997"/>
                </a:cubicBezTo>
                <a:cubicBezTo>
                  <a:pt x="2486431" y="395505"/>
                  <a:pt x="2524430" y="415748"/>
                  <a:pt x="2559852" y="415748"/>
                </a:cubicBezTo>
                <a:cubicBezTo>
                  <a:pt x="2591833" y="415748"/>
                  <a:pt x="2618964" y="408738"/>
                  <a:pt x="2653638" y="391664"/>
                </a:cubicBezTo>
                <a:lnTo>
                  <a:pt x="2635886" y="484779"/>
                </a:lnTo>
                <a:cubicBezTo>
                  <a:pt x="2609958" y="497313"/>
                  <a:pt x="2569687" y="504852"/>
                  <a:pt x="2528256" y="504852"/>
                </a:cubicBezTo>
                <a:cubicBezTo>
                  <a:pt x="2431394" y="504852"/>
                  <a:pt x="2368950" y="444585"/>
                  <a:pt x="2368950" y="351250"/>
                </a:cubicBezTo>
                <a:cubicBezTo>
                  <a:pt x="2368950" y="216101"/>
                  <a:pt x="2474828" y="114188"/>
                  <a:pt x="2615346" y="114188"/>
                </a:cubicBezTo>
                <a:cubicBezTo>
                  <a:pt x="2643863" y="114188"/>
                  <a:pt x="2672962" y="119152"/>
                  <a:pt x="2693048" y="127406"/>
                </a:cubicBezTo>
                <a:close/>
                <a:moveTo>
                  <a:pt x="2329634" y="152058"/>
                </a:moveTo>
                <a:cubicBezTo>
                  <a:pt x="2308543" y="126672"/>
                  <a:pt x="2274886" y="113592"/>
                  <a:pt x="2229388" y="113412"/>
                </a:cubicBezTo>
                <a:cubicBezTo>
                  <a:pt x="2169583" y="113412"/>
                  <a:pt x="2116089" y="135174"/>
                  <a:pt x="2074640" y="176365"/>
                </a:cubicBezTo>
                <a:cubicBezTo>
                  <a:pt x="2025158" y="225550"/>
                  <a:pt x="1995615" y="299510"/>
                  <a:pt x="1995666" y="374196"/>
                </a:cubicBezTo>
                <a:cubicBezTo>
                  <a:pt x="1995706" y="439939"/>
                  <a:pt x="2029377" y="505631"/>
                  <a:pt x="2103884" y="505631"/>
                </a:cubicBezTo>
                <a:cubicBezTo>
                  <a:pt x="2165274" y="505631"/>
                  <a:pt x="2201867" y="469953"/>
                  <a:pt x="2216888" y="424869"/>
                </a:cubicBezTo>
                <a:lnTo>
                  <a:pt x="2202971" y="497208"/>
                </a:lnTo>
                <a:lnTo>
                  <a:pt x="2310065" y="497208"/>
                </a:lnTo>
                <a:lnTo>
                  <a:pt x="2350499" y="287037"/>
                </a:lnTo>
                <a:cubicBezTo>
                  <a:pt x="2358289" y="246027"/>
                  <a:pt x="2360850" y="189628"/>
                  <a:pt x="2329634" y="152058"/>
                </a:cubicBezTo>
                <a:close/>
                <a:moveTo>
                  <a:pt x="2237095" y="310500"/>
                </a:moveTo>
                <a:cubicBezTo>
                  <a:pt x="2225009" y="372547"/>
                  <a:pt x="2189874" y="414918"/>
                  <a:pt x="2149081" y="414918"/>
                </a:cubicBezTo>
                <a:cubicBezTo>
                  <a:pt x="2123576" y="414918"/>
                  <a:pt x="2108917" y="390455"/>
                  <a:pt x="2108903" y="351174"/>
                </a:cubicBezTo>
                <a:cubicBezTo>
                  <a:pt x="2108862" y="288302"/>
                  <a:pt x="2154552" y="197893"/>
                  <a:pt x="2207291" y="197893"/>
                </a:cubicBezTo>
                <a:cubicBezTo>
                  <a:pt x="2232196" y="197893"/>
                  <a:pt x="2246086" y="212182"/>
                  <a:pt x="2247393" y="238683"/>
                </a:cubicBezTo>
                <a:cubicBezTo>
                  <a:pt x="2248144" y="255113"/>
                  <a:pt x="2241212" y="289532"/>
                  <a:pt x="2237095" y="310500"/>
                </a:cubicBezTo>
                <a:close/>
                <a:moveTo>
                  <a:pt x="606951" y="152058"/>
                </a:moveTo>
                <a:cubicBezTo>
                  <a:pt x="585861" y="126672"/>
                  <a:pt x="552204" y="113592"/>
                  <a:pt x="506706" y="113412"/>
                </a:cubicBezTo>
                <a:cubicBezTo>
                  <a:pt x="446901" y="113412"/>
                  <a:pt x="393408" y="135174"/>
                  <a:pt x="351958" y="176365"/>
                </a:cubicBezTo>
                <a:cubicBezTo>
                  <a:pt x="302476" y="225550"/>
                  <a:pt x="272933" y="299510"/>
                  <a:pt x="272985" y="374196"/>
                </a:cubicBezTo>
                <a:cubicBezTo>
                  <a:pt x="273024" y="439939"/>
                  <a:pt x="306695" y="505631"/>
                  <a:pt x="381203" y="505631"/>
                </a:cubicBezTo>
                <a:cubicBezTo>
                  <a:pt x="442592" y="505631"/>
                  <a:pt x="479185" y="469953"/>
                  <a:pt x="494206" y="424869"/>
                </a:cubicBezTo>
                <a:lnTo>
                  <a:pt x="480290" y="497208"/>
                </a:lnTo>
                <a:lnTo>
                  <a:pt x="587383" y="497208"/>
                </a:lnTo>
                <a:lnTo>
                  <a:pt x="627817" y="287037"/>
                </a:lnTo>
                <a:cubicBezTo>
                  <a:pt x="635608" y="246027"/>
                  <a:pt x="638169" y="189628"/>
                  <a:pt x="606951" y="152058"/>
                </a:cubicBezTo>
                <a:close/>
                <a:moveTo>
                  <a:pt x="514414" y="310500"/>
                </a:moveTo>
                <a:cubicBezTo>
                  <a:pt x="502328" y="372547"/>
                  <a:pt x="467193" y="414918"/>
                  <a:pt x="426399" y="414918"/>
                </a:cubicBezTo>
                <a:cubicBezTo>
                  <a:pt x="400893" y="414918"/>
                  <a:pt x="386235" y="390455"/>
                  <a:pt x="386220" y="351174"/>
                </a:cubicBezTo>
                <a:cubicBezTo>
                  <a:pt x="386180" y="288302"/>
                  <a:pt x="431870" y="197893"/>
                  <a:pt x="484610" y="197893"/>
                </a:cubicBezTo>
                <a:cubicBezTo>
                  <a:pt x="509515" y="197893"/>
                  <a:pt x="523404" y="212182"/>
                  <a:pt x="524712" y="238683"/>
                </a:cubicBezTo>
                <a:cubicBezTo>
                  <a:pt x="525462" y="255113"/>
                  <a:pt x="518530" y="289532"/>
                  <a:pt x="514414" y="310500"/>
                </a:cubicBezTo>
                <a:close/>
                <a:moveTo>
                  <a:pt x="1865864" y="113412"/>
                </a:moveTo>
                <a:cubicBezTo>
                  <a:pt x="1819094" y="113412"/>
                  <a:pt x="1777774" y="140376"/>
                  <a:pt x="1749875" y="180686"/>
                </a:cubicBezTo>
                <a:lnTo>
                  <a:pt x="1761420" y="120329"/>
                </a:lnTo>
                <a:lnTo>
                  <a:pt x="1662666" y="120329"/>
                </a:lnTo>
                <a:lnTo>
                  <a:pt x="1567483" y="617550"/>
                </a:lnTo>
                <a:lnTo>
                  <a:pt x="1679604" y="617550"/>
                </a:lnTo>
                <a:lnTo>
                  <a:pt x="1708085" y="468046"/>
                </a:lnTo>
                <a:cubicBezTo>
                  <a:pt x="1720816" y="490846"/>
                  <a:pt x="1743145" y="505632"/>
                  <a:pt x="1782974" y="505635"/>
                </a:cubicBezTo>
                <a:cubicBezTo>
                  <a:pt x="1807282" y="505361"/>
                  <a:pt x="1835253" y="498863"/>
                  <a:pt x="1864479" y="483389"/>
                </a:cubicBezTo>
                <a:cubicBezTo>
                  <a:pt x="1944040" y="441264"/>
                  <a:pt x="1988181" y="347642"/>
                  <a:pt x="1988181" y="256331"/>
                </a:cubicBezTo>
                <a:cubicBezTo>
                  <a:pt x="1988181" y="169267"/>
                  <a:pt x="1940069" y="113412"/>
                  <a:pt x="1865864" y="113412"/>
                </a:cubicBezTo>
                <a:close/>
                <a:moveTo>
                  <a:pt x="1769434" y="421096"/>
                </a:moveTo>
                <a:cubicBezTo>
                  <a:pt x="1717848" y="421096"/>
                  <a:pt x="1730940" y="347514"/>
                  <a:pt x="1735618" y="323009"/>
                </a:cubicBezTo>
                <a:cubicBezTo>
                  <a:pt x="1749285" y="251336"/>
                  <a:pt x="1784539" y="204083"/>
                  <a:pt x="1826299" y="204083"/>
                </a:cubicBezTo>
                <a:cubicBezTo>
                  <a:pt x="1867368" y="204083"/>
                  <a:pt x="1871576" y="247067"/>
                  <a:pt x="1871576" y="264766"/>
                </a:cubicBezTo>
                <a:cubicBezTo>
                  <a:pt x="1871576" y="338066"/>
                  <a:pt x="1828326" y="421096"/>
                  <a:pt x="1769434" y="421096"/>
                </a:cubicBezTo>
                <a:close/>
                <a:moveTo>
                  <a:pt x="312690" y="112292"/>
                </a:moveTo>
                <a:lnTo>
                  <a:pt x="290790" y="226685"/>
                </a:lnTo>
                <a:cubicBezTo>
                  <a:pt x="214138" y="215159"/>
                  <a:pt x="160276" y="252471"/>
                  <a:pt x="142422" y="345714"/>
                </a:cubicBezTo>
                <a:lnTo>
                  <a:pt x="112141" y="503840"/>
                </a:lnTo>
                <a:lnTo>
                  <a:pt x="0" y="503840"/>
                </a:lnTo>
                <a:lnTo>
                  <a:pt x="73440" y="120329"/>
                </a:lnTo>
                <a:lnTo>
                  <a:pt x="172185" y="120329"/>
                </a:lnTo>
                <a:lnTo>
                  <a:pt x="156202" y="203879"/>
                </a:lnTo>
                <a:cubicBezTo>
                  <a:pt x="182129" y="145253"/>
                  <a:pt x="243682" y="106042"/>
                  <a:pt x="312690" y="112292"/>
                </a:cubicBezTo>
                <a:close/>
                <a:moveTo>
                  <a:pt x="944243" y="497208"/>
                </a:moveTo>
                <a:lnTo>
                  <a:pt x="1039422" y="0"/>
                </a:lnTo>
                <a:lnTo>
                  <a:pt x="1150777" y="0"/>
                </a:lnTo>
                <a:lnTo>
                  <a:pt x="1094906" y="291909"/>
                </a:lnTo>
                <a:lnTo>
                  <a:pt x="1239347" y="120329"/>
                </a:lnTo>
                <a:lnTo>
                  <a:pt x="1361754" y="120329"/>
                </a:lnTo>
                <a:lnTo>
                  <a:pt x="1212060" y="293812"/>
                </a:lnTo>
                <a:lnTo>
                  <a:pt x="1294315" y="497208"/>
                </a:lnTo>
                <a:lnTo>
                  <a:pt x="1173734" y="497208"/>
                </a:lnTo>
                <a:lnTo>
                  <a:pt x="1094235" y="295415"/>
                </a:lnTo>
                <a:lnTo>
                  <a:pt x="1055611" y="497208"/>
                </a:lnTo>
                <a:lnTo>
                  <a:pt x="944243" y="497208"/>
                </a:lnTo>
                <a:close/>
                <a:moveTo>
                  <a:pt x="2280316" y="695157"/>
                </a:moveTo>
                <a:cubicBezTo>
                  <a:pt x="2225655" y="695157"/>
                  <a:pt x="2187788" y="741906"/>
                  <a:pt x="2187788" y="795876"/>
                </a:cubicBezTo>
                <a:cubicBezTo>
                  <a:pt x="2187788" y="833773"/>
                  <a:pt x="2212818" y="861573"/>
                  <a:pt x="2253291" y="861573"/>
                </a:cubicBezTo>
                <a:cubicBezTo>
                  <a:pt x="2307953" y="861573"/>
                  <a:pt x="2345820" y="815176"/>
                  <a:pt x="2345820" y="760854"/>
                </a:cubicBezTo>
                <a:cubicBezTo>
                  <a:pt x="2345820" y="725897"/>
                  <a:pt x="2323428" y="695157"/>
                  <a:pt x="2280316" y="695157"/>
                </a:cubicBezTo>
                <a:close/>
                <a:moveTo>
                  <a:pt x="2275683" y="724555"/>
                </a:moveTo>
                <a:cubicBezTo>
                  <a:pt x="2298751" y="724555"/>
                  <a:pt x="2306312" y="744845"/>
                  <a:pt x="2306312" y="761174"/>
                </a:cubicBezTo>
                <a:cubicBezTo>
                  <a:pt x="2306312" y="792936"/>
                  <a:pt x="2287233" y="832175"/>
                  <a:pt x="2258568" y="832175"/>
                </a:cubicBezTo>
                <a:cubicBezTo>
                  <a:pt x="2238814" y="832175"/>
                  <a:pt x="2227296" y="816774"/>
                  <a:pt x="2227296" y="794885"/>
                </a:cubicBezTo>
                <a:cubicBezTo>
                  <a:pt x="2227296" y="765136"/>
                  <a:pt x="2245087" y="724555"/>
                  <a:pt x="2275683" y="724555"/>
                </a:cubicBezTo>
                <a:close/>
                <a:moveTo>
                  <a:pt x="2541237" y="695157"/>
                </a:moveTo>
                <a:cubicBezTo>
                  <a:pt x="2486576" y="695157"/>
                  <a:pt x="2448709" y="741906"/>
                  <a:pt x="2448709" y="795876"/>
                </a:cubicBezTo>
                <a:cubicBezTo>
                  <a:pt x="2448709" y="833773"/>
                  <a:pt x="2473739" y="861573"/>
                  <a:pt x="2514212" y="861573"/>
                </a:cubicBezTo>
                <a:cubicBezTo>
                  <a:pt x="2568874" y="861573"/>
                  <a:pt x="2606741" y="815176"/>
                  <a:pt x="2606741" y="760854"/>
                </a:cubicBezTo>
                <a:cubicBezTo>
                  <a:pt x="2606741" y="725897"/>
                  <a:pt x="2584349" y="695157"/>
                  <a:pt x="2541237" y="695157"/>
                </a:cubicBezTo>
                <a:close/>
                <a:moveTo>
                  <a:pt x="2536604" y="724555"/>
                </a:moveTo>
                <a:cubicBezTo>
                  <a:pt x="2559672" y="724555"/>
                  <a:pt x="2567233" y="744845"/>
                  <a:pt x="2567233" y="761174"/>
                </a:cubicBezTo>
                <a:cubicBezTo>
                  <a:pt x="2567233" y="792936"/>
                  <a:pt x="2548154" y="832175"/>
                  <a:pt x="2519488" y="832175"/>
                </a:cubicBezTo>
                <a:cubicBezTo>
                  <a:pt x="2499734" y="832175"/>
                  <a:pt x="2488217" y="816774"/>
                  <a:pt x="2488217" y="794885"/>
                </a:cubicBezTo>
                <a:cubicBezTo>
                  <a:pt x="2488217" y="765136"/>
                  <a:pt x="2506008" y="724555"/>
                  <a:pt x="2536604" y="724555"/>
                </a:cubicBezTo>
                <a:close/>
                <a:moveTo>
                  <a:pt x="2441704" y="646623"/>
                </a:moveTo>
                <a:lnTo>
                  <a:pt x="2400932" y="857994"/>
                </a:lnTo>
                <a:lnTo>
                  <a:pt x="2362712" y="857994"/>
                </a:lnTo>
                <a:lnTo>
                  <a:pt x="2403190" y="646623"/>
                </a:lnTo>
                <a:lnTo>
                  <a:pt x="2441704" y="646623"/>
                </a:lnTo>
                <a:close/>
                <a:moveTo>
                  <a:pt x="1819430" y="701970"/>
                </a:moveTo>
                <a:lnTo>
                  <a:pt x="1813367" y="733641"/>
                </a:lnTo>
                <a:cubicBezTo>
                  <a:pt x="1806719" y="730152"/>
                  <a:pt x="1798148" y="726217"/>
                  <a:pt x="1783826" y="726217"/>
                </a:cubicBezTo>
                <a:cubicBezTo>
                  <a:pt x="1746957" y="726217"/>
                  <a:pt x="1723567" y="759896"/>
                  <a:pt x="1723567" y="793256"/>
                </a:cubicBezTo>
                <a:cubicBezTo>
                  <a:pt x="1723567" y="817093"/>
                  <a:pt x="1737401" y="830514"/>
                  <a:pt x="1758796" y="830514"/>
                </a:cubicBezTo>
                <a:cubicBezTo>
                  <a:pt x="1780522" y="830514"/>
                  <a:pt x="1796308" y="821596"/>
                  <a:pt x="1801876" y="818489"/>
                </a:cubicBezTo>
                <a:lnTo>
                  <a:pt x="1795551" y="851535"/>
                </a:lnTo>
                <a:cubicBezTo>
                  <a:pt x="1786178" y="856289"/>
                  <a:pt x="1769537" y="861253"/>
                  <a:pt x="1748275" y="861253"/>
                </a:cubicBezTo>
                <a:cubicBezTo>
                  <a:pt x="1708092" y="861253"/>
                  <a:pt x="1683415" y="835754"/>
                  <a:pt x="1683415" y="797825"/>
                </a:cubicBezTo>
                <a:cubicBezTo>
                  <a:pt x="1683415" y="742225"/>
                  <a:pt x="1725883" y="695477"/>
                  <a:pt x="1785145" y="695477"/>
                </a:cubicBezTo>
                <a:cubicBezTo>
                  <a:pt x="1800432" y="695477"/>
                  <a:pt x="1813804" y="699277"/>
                  <a:pt x="1819430" y="701970"/>
                </a:cubicBezTo>
                <a:close/>
                <a:moveTo>
                  <a:pt x="1599026" y="831504"/>
                </a:moveTo>
                <a:cubicBezTo>
                  <a:pt x="1625535" y="831504"/>
                  <a:pt x="1644256" y="821717"/>
                  <a:pt x="1657309" y="812360"/>
                </a:cubicBezTo>
                <a:lnTo>
                  <a:pt x="1650747" y="846645"/>
                </a:lnTo>
                <a:cubicBezTo>
                  <a:pt x="1634704" y="856213"/>
                  <a:pt x="1611229" y="861573"/>
                  <a:pt x="1590147" y="861573"/>
                </a:cubicBezTo>
                <a:cubicBezTo>
                  <a:pt x="1545684" y="861573"/>
                  <a:pt x="1524289" y="834444"/>
                  <a:pt x="1524289" y="795524"/>
                </a:cubicBezTo>
                <a:cubicBezTo>
                  <a:pt x="1524289" y="747466"/>
                  <a:pt x="1559840" y="695157"/>
                  <a:pt x="1615145" y="695157"/>
                </a:cubicBezTo>
                <a:cubicBezTo>
                  <a:pt x="1646771" y="695157"/>
                  <a:pt x="1666846" y="713115"/>
                  <a:pt x="1666846" y="739957"/>
                </a:cubicBezTo>
                <a:cubicBezTo>
                  <a:pt x="1666846" y="780794"/>
                  <a:pt x="1623735" y="793895"/>
                  <a:pt x="1561835" y="792585"/>
                </a:cubicBezTo>
                <a:cubicBezTo>
                  <a:pt x="1561159" y="798145"/>
                  <a:pt x="1562478" y="808945"/>
                  <a:pt x="1566114" y="815176"/>
                </a:cubicBezTo>
                <a:cubicBezTo>
                  <a:pt x="1572355" y="825944"/>
                  <a:pt x="1583873" y="831504"/>
                  <a:pt x="1599026" y="831504"/>
                </a:cubicBezTo>
                <a:close/>
                <a:moveTo>
                  <a:pt x="1565760" y="764114"/>
                </a:moveTo>
                <a:cubicBezTo>
                  <a:pt x="1605268" y="764465"/>
                  <a:pt x="1630620" y="759225"/>
                  <a:pt x="1630620" y="739956"/>
                </a:cubicBezTo>
                <a:cubicBezTo>
                  <a:pt x="1630620" y="729796"/>
                  <a:pt x="1622416" y="723596"/>
                  <a:pt x="1610222" y="723596"/>
                </a:cubicBezTo>
                <a:cubicBezTo>
                  <a:pt x="1586189" y="723596"/>
                  <a:pt x="1570393" y="744846"/>
                  <a:pt x="1565760" y="764114"/>
                </a:cubicBezTo>
                <a:close/>
                <a:moveTo>
                  <a:pt x="2158533" y="765136"/>
                </a:moveTo>
                <a:lnTo>
                  <a:pt x="2140621" y="857994"/>
                </a:lnTo>
                <a:lnTo>
                  <a:pt x="2102401" y="857994"/>
                </a:lnTo>
                <a:lnTo>
                  <a:pt x="2119621" y="768076"/>
                </a:lnTo>
                <a:cubicBezTo>
                  <a:pt x="2120746" y="762183"/>
                  <a:pt x="2121512" y="755294"/>
                  <a:pt x="2121512" y="749095"/>
                </a:cubicBezTo>
                <a:cubicBezTo>
                  <a:pt x="2121512" y="735675"/>
                  <a:pt x="2116557" y="726216"/>
                  <a:pt x="2101404" y="726216"/>
                </a:cubicBezTo>
                <a:cubicBezTo>
                  <a:pt x="2083966" y="726216"/>
                  <a:pt x="2061959" y="747114"/>
                  <a:pt x="2055042" y="784436"/>
                </a:cubicBezTo>
                <a:lnTo>
                  <a:pt x="2040853" y="857994"/>
                </a:lnTo>
                <a:lnTo>
                  <a:pt x="2002633" y="857994"/>
                </a:lnTo>
                <a:lnTo>
                  <a:pt x="2033316" y="697777"/>
                </a:lnTo>
                <a:lnTo>
                  <a:pt x="2067888" y="697777"/>
                </a:lnTo>
                <a:lnTo>
                  <a:pt x="2061951" y="728554"/>
                </a:lnTo>
                <a:cubicBezTo>
                  <a:pt x="2076820" y="706392"/>
                  <a:pt x="2097643" y="695157"/>
                  <a:pt x="2120514" y="695157"/>
                </a:cubicBezTo>
                <a:cubicBezTo>
                  <a:pt x="2143550" y="695157"/>
                  <a:pt x="2161341" y="708865"/>
                  <a:pt x="2161341" y="738934"/>
                </a:cubicBezTo>
                <a:cubicBezTo>
                  <a:pt x="2161341" y="746156"/>
                  <a:pt x="2160173" y="757276"/>
                  <a:pt x="2158533" y="765136"/>
                </a:cubicBezTo>
                <a:close/>
                <a:moveTo>
                  <a:pt x="1980144" y="738934"/>
                </a:moveTo>
                <a:cubicBezTo>
                  <a:pt x="1980144" y="746156"/>
                  <a:pt x="1978976" y="757276"/>
                  <a:pt x="1977335" y="765136"/>
                </a:cubicBezTo>
                <a:lnTo>
                  <a:pt x="1959424" y="857994"/>
                </a:lnTo>
                <a:lnTo>
                  <a:pt x="1921204" y="857994"/>
                </a:lnTo>
                <a:lnTo>
                  <a:pt x="1938424" y="768076"/>
                </a:lnTo>
                <a:cubicBezTo>
                  <a:pt x="1939549" y="762183"/>
                  <a:pt x="1940315" y="755294"/>
                  <a:pt x="1940315" y="749095"/>
                </a:cubicBezTo>
                <a:cubicBezTo>
                  <a:pt x="1940315" y="735675"/>
                  <a:pt x="1935360" y="726216"/>
                  <a:pt x="1920206" y="726216"/>
                </a:cubicBezTo>
                <a:cubicBezTo>
                  <a:pt x="1902769" y="726216"/>
                  <a:pt x="1880762" y="747114"/>
                  <a:pt x="1873845" y="784436"/>
                </a:cubicBezTo>
                <a:lnTo>
                  <a:pt x="1873845" y="784436"/>
                </a:lnTo>
                <a:lnTo>
                  <a:pt x="1859656" y="857994"/>
                </a:lnTo>
                <a:lnTo>
                  <a:pt x="1821436" y="857994"/>
                </a:lnTo>
                <a:lnTo>
                  <a:pt x="1861915" y="646623"/>
                </a:lnTo>
                <a:lnTo>
                  <a:pt x="1900428" y="646623"/>
                </a:lnTo>
                <a:lnTo>
                  <a:pt x="1885984" y="721502"/>
                </a:lnTo>
                <a:cubicBezTo>
                  <a:pt x="1900326" y="704012"/>
                  <a:pt x="1919014" y="695157"/>
                  <a:pt x="1939317" y="695157"/>
                </a:cubicBezTo>
                <a:cubicBezTo>
                  <a:pt x="1962353" y="695157"/>
                  <a:pt x="1980144" y="708865"/>
                  <a:pt x="1980144" y="738934"/>
                </a:cubicBezTo>
                <a:close/>
                <a:moveTo>
                  <a:pt x="1486679" y="698736"/>
                </a:moveTo>
                <a:lnTo>
                  <a:pt x="1522584" y="698736"/>
                </a:lnTo>
                <a:lnTo>
                  <a:pt x="1516664" y="728165"/>
                </a:lnTo>
                <a:lnTo>
                  <a:pt x="1480760" y="728165"/>
                </a:lnTo>
                <a:lnTo>
                  <a:pt x="1468243" y="792264"/>
                </a:lnTo>
                <a:cubicBezTo>
                  <a:pt x="1466603" y="799775"/>
                  <a:pt x="1465285" y="807955"/>
                  <a:pt x="1465285" y="814824"/>
                </a:cubicBezTo>
                <a:cubicBezTo>
                  <a:pt x="1465285" y="823675"/>
                  <a:pt x="1469241" y="829236"/>
                  <a:pt x="1479440" y="829236"/>
                </a:cubicBezTo>
                <a:cubicBezTo>
                  <a:pt x="1484941" y="829236"/>
                  <a:pt x="1490390" y="828740"/>
                  <a:pt x="1494778" y="827801"/>
                </a:cubicBezTo>
                <a:lnTo>
                  <a:pt x="1488997" y="857990"/>
                </a:lnTo>
                <a:lnTo>
                  <a:pt x="1488996" y="857994"/>
                </a:lnTo>
                <a:cubicBezTo>
                  <a:pt x="1483398" y="860295"/>
                  <a:pt x="1473198" y="861254"/>
                  <a:pt x="1463965" y="861254"/>
                </a:cubicBezTo>
                <a:cubicBezTo>
                  <a:pt x="1437648" y="861254"/>
                  <a:pt x="1426097" y="846874"/>
                  <a:pt x="1426097" y="828564"/>
                </a:cubicBezTo>
                <a:cubicBezTo>
                  <a:pt x="1426097" y="819713"/>
                  <a:pt x="1427096" y="810894"/>
                  <a:pt x="1429411" y="799135"/>
                </a:cubicBezTo>
                <a:lnTo>
                  <a:pt x="1443247" y="728165"/>
                </a:lnTo>
                <a:lnTo>
                  <a:pt x="1421818" y="728165"/>
                </a:lnTo>
                <a:lnTo>
                  <a:pt x="1427416" y="698736"/>
                </a:lnTo>
                <a:lnTo>
                  <a:pt x="1448813" y="698736"/>
                </a:lnTo>
                <a:lnTo>
                  <a:pt x="1457003" y="657748"/>
                </a:lnTo>
                <a:lnTo>
                  <a:pt x="1494288" y="657748"/>
                </a:lnTo>
                <a:lnTo>
                  <a:pt x="1486679" y="698736"/>
                </a:lnTo>
                <a:close/>
                <a:moveTo>
                  <a:pt x="2788298" y="886433"/>
                </a:moveTo>
                <a:cubicBezTo>
                  <a:pt x="2797421" y="891459"/>
                  <a:pt x="2817033" y="897683"/>
                  <a:pt x="2828271" y="878611"/>
                </a:cubicBezTo>
                <a:lnTo>
                  <a:pt x="2840780" y="853718"/>
                </a:lnTo>
                <a:lnTo>
                  <a:pt x="2812203" y="697777"/>
                </a:lnTo>
                <a:lnTo>
                  <a:pt x="2852387" y="697777"/>
                </a:lnTo>
                <a:lnTo>
                  <a:pt x="2867179" y="816325"/>
                </a:lnTo>
                <a:lnTo>
                  <a:pt x="2928097" y="697777"/>
                </a:lnTo>
                <a:lnTo>
                  <a:pt x="2968924" y="697777"/>
                </a:lnTo>
                <a:lnTo>
                  <a:pt x="2861660" y="887677"/>
                </a:lnTo>
                <a:lnTo>
                  <a:pt x="2861660" y="887739"/>
                </a:lnTo>
                <a:cubicBezTo>
                  <a:pt x="2840670" y="925032"/>
                  <a:pt x="2811722" y="931006"/>
                  <a:pt x="2782349" y="917510"/>
                </a:cubicBezTo>
                <a:lnTo>
                  <a:pt x="2788298" y="886433"/>
                </a:lnTo>
                <a:close/>
                <a:moveTo>
                  <a:pt x="2783865" y="738023"/>
                </a:moveTo>
                <a:cubicBezTo>
                  <a:pt x="2783865" y="746856"/>
                  <a:pt x="2782548" y="756668"/>
                  <a:pt x="2780573" y="765507"/>
                </a:cubicBezTo>
                <a:lnTo>
                  <a:pt x="2766056" y="837735"/>
                </a:lnTo>
                <a:cubicBezTo>
                  <a:pt x="2760075" y="868795"/>
                  <a:pt x="2751071" y="893655"/>
                  <a:pt x="2732771" y="908673"/>
                </a:cubicBezTo>
                <a:cubicBezTo>
                  <a:pt x="2715803" y="922413"/>
                  <a:pt x="2693178" y="926343"/>
                  <a:pt x="2672895" y="926343"/>
                </a:cubicBezTo>
                <a:cubicBezTo>
                  <a:pt x="2654111" y="926343"/>
                  <a:pt x="2636689" y="922930"/>
                  <a:pt x="2625597" y="917510"/>
                </a:cubicBezTo>
                <a:lnTo>
                  <a:pt x="2631546" y="886433"/>
                </a:lnTo>
                <a:cubicBezTo>
                  <a:pt x="2640780" y="891993"/>
                  <a:pt x="2658539" y="895923"/>
                  <a:pt x="2673692" y="895923"/>
                </a:cubicBezTo>
                <a:cubicBezTo>
                  <a:pt x="2698723" y="895923"/>
                  <a:pt x="2717833" y="884164"/>
                  <a:pt x="2725716" y="847194"/>
                </a:cubicBezTo>
                <a:lnTo>
                  <a:pt x="2728786" y="833259"/>
                </a:lnTo>
                <a:cubicBezTo>
                  <a:pt x="2715922" y="851397"/>
                  <a:pt x="2696745" y="861694"/>
                  <a:pt x="2675487" y="861694"/>
                </a:cubicBezTo>
                <a:cubicBezTo>
                  <a:pt x="2641227" y="861694"/>
                  <a:pt x="2627062" y="833883"/>
                  <a:pt x="2627062" y="805419"/>
                </a:cubicBezTo>
                <a:cubicBezTo>
                  <a:pt x="2627062" y="755034"/>
                  <a:pt x="2661981" y="695157"/>
                  <a:pt x="2730167" y="695157"/>
                </a:cubicBezTo>
                <a:cubicBezTo>
                  <a:pt x="2763769" y="695157"/>
                  <a:pt x="2783865" y="709232"/>
                  <a:pt x="2783865" y="738023"/>
                </a:cubicBezTo>
                <a:close/>
                <a:moveTo>
                  <a:pt x="2744332" y="744568"/>
                </a:moveTo>
                <a:cubicBezTo>
                  <a:pt x="2744002" y="731479"/>
                  <a:pt x="2736426" y="724282"/>
                  <a:pt x="2722919" y="724282"/>
                </a:cubicBezTo>
                <a:cubicBezTo>
                  <a:pt x="2689323" y="724282"/>
                  <a:pt x="2667246" y="767142"/>
                  <a:pt x="2667246" y="798548"/>
                </a:cubicBezTo>
                <a:cubicBezTo>
                  <a:pt x="2667246" y="815892"/>
                  <a:pt x="2674829" y="830614"/>
                  <a:pt x="2692615" y="830614"/>
                </a:cubicBezTo>
                <a:cubicBezTo>
                  <a:pt x="2712381" y="830614"/>
                  <a:pt x="2732806" y="810328"/>
                  <a:pt x="2739395" y="778262"/>
                </a:cubicBezTo>
                <a:lnTo>
                  <a:pt x="2742357" y="763539"/>
                </a:lnTo>
                <a:cubicBezTo>
                  <a:pt x="2743358" y="757739"/>
                  <a:pt x="2744661" y="752092"/>
                  <a:pt x="2744331" y="744568"/>
                </a:cubicBezTo>
                <a:close/>
              </a:path>
            </a:pathLst>
          </a:custGeom>
          <a:solidFill>
            <a:schemeClr val="bg1"/>
          </a:solidFill>
          <a:ln w="9525" cap="flat">
            <a:noFill/>
            <a:prstDash val="solid"/>
            <a:miter/>
          </a:ln>
        </p:spPr>
        <p:txBody>
          <a:bodyPr rtlCol="0" anchor="ctr"/>
          <a:lstStyle/>
          <a:p>
            <a:endParaRPr lang="en-US"/>
          </a:p>
        </p:txBody>
      </p:sp>
    </p:spTree>
    <p:extLst>
      <p:ext uri="{BB962C8B-B14F-4D97-AF65-F5344CB8AC3E}">
        <p14:creationId xmlns:p14="http://schemas.microsoft.com/office/powerpoint/2010/main" val="19570891"/>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3_Logo">
    <p:bg>
      <p:bgPr>
        <a:solidFill>
          <a:schemeClr val="tx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5FBFEA71-1AC6-4DFC-15E0-24BA7D731D78}"/>
              </a:ext>
            </a:extLst>
          </p:cNvPr>
          <p:cNvPicPr>
            <a:picLocks noChangeAspect="1"/>
          </p:cNvPicPr>
          <p:nvPr userDrawn="1"/>
        </p:nvPicPr>
        <p:blipFill>
          <a:blip r:embed="rId2"/>
          <a:stretch>
            <a:fillRect/>
          </a:stretch>
        </p:blipFill>
        <p:spPr>
          <a:xfrm>
            <a:off x="838200" y="0"/>
            <a:ext cx="10515600" cy="6858000"/>
          </a:xfrm>
          <a:prstGeom prst="rect">
            <a:avLst/>
          </a:prstGeom>
        </p:spPr>
      </p:pic>
      <p:pic>
        <p:nvPicPr>
          <p:cNvPr id="3" name="Graphic 2">
            <a:extLst>
              <a:ext uri="{FF2B5EF4-FFF2-40B4-BE49-F238E27FC236}">
                <a16:creationId xmlns:a16="http://schemas.microsoft.com/office/drawing/2014/main" id="{510642B9-F25A-374A-99F2-0224B52C46AD}"/>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4167607" y="2991749"/>
            <a:ext cx="4011558" cy="1243584"/>
          </a:xfrm>
          <a:prstGeom prst="rect">
            <a:avLst/>
          </a:prstGeom>
        </p:spPr>
      </p:pic>
      <p:sp>
        <p:nvSpPr>
          <p:cNvPr id="6" name="Graphic 2">
            <a:extLst>
              <a:ext uri="{FF2B5EF4-FFF2-40B4-BE49-F238E27FC236}">
                <a16:creationId xmlns:a16="http://schemas.microsoft.com/office/drawing/2014/main" id="{0D8656DC-2D22-C2DA-13A1-B73DAEC9EBA5}"/>
              </a:ext>
            </a:extLst>
          </p:cNvPr>
          <p:cNvSpPr/>
          <p:nvPr userDrawn="1"/>
        </p:nvSpPr>
        <p:spPr>
          <a:xfrm>
            <a:off x="10216919" y="6119540"/>
            <a:ext cx="1647176" cy="461664"/>
          </a:xfrm>
          <a:custGeom>
            <a:avLst/>
            <a:gdLst>
              <a:gd name="connsiteX0" fmla="*/ 473928 w 1092116"/>
              <a:gd name="connsiteY0" fmla="*/ 192753 h 306094"/>
              <a:gd name="connsiteX1" fmla="*/ 532513 w 1092116"/>
              <a:gd name="connsiteY1" fmla="*/ 192753 h 306094"/>
              <a:gd name="connsiteX2" fmla="*/ 530746 w 1092116"/>
              <a:gd name="connsiteY2" fmla="*/ 204961 h 306094"/>
              <a:gd name="connsiteX3" fmla="*/ 489141 w 1092116"/>
              <a:gd name="connsiteY3" fmla="*/ 204961 h 306094"/>
              <a:gd name="connsiteX4" fmla="*/ 489141 w 1092116"/>
              <a:gd name="connsiteY4" fmla="*/ 242686 h 306094"/>
              <a:gd name="connsiteX5" fmla="*/ 525148 w 1092116"/>
              <a:gd name="connsiteY5" fmla="*/ 242686 h 306094"/>
              <a:gd name="connsiteX6" fmla="*/ 525148 w 1092116"/>
              <a:gd name="connsiteY6" fmla="*/ 254726 h 306094"/>
              <a:gd name="connsiteX7" fmla="*/ 489141 w 1092116"/>
              <a:gd name="connsiteY7" fmla="*/ 254726 h 306094"/>
              <a:gd name="connsiteX8" fmla="*/ 489141 w 1092116"/>
              <a:gd name="connsiteY8" fmla="*/ 303363 h 306094"/>
              <a:gd name="connsiteX9" fmla="*/ 473928 w 1092116"/>
              <a:gd name="connsiteY9" fmla="*/ 303363 h 306094"/>
              <a:gd name="connsiteX10" fmla="*/ 473928 w 1092116"/>
              <a:gd name="connsiteY10" fmla="*/ 192753 h 306094"/>
              <a:gd name="connsiteX11" fmla="*/ 558941 w 1092116"/>
              <a:gd name="connsiteY11" fmla="*/ 178143 h 306094"/>
              <a:gd name="connsiteX12" fmla="*/ 548693 w 1092116"/>
              <a:gd name="connsiteY12" fmla="*/ 188262 h 306094"/>
              <a:gd name="connsiteX13" fmla="*/ 558941 w 1092116"/>
              <a:gd name="connsiteY13" fmla="*/ 198214 h 306094"/>
              <a:gd name="connsiteX14" fmla="*/ 569337 w 1092116"/>
              <a:gd name="connsiteY14" fmla="*/ 188262 h 306094"/>
              <a:gd name="connsiteX15" fmla="*/ 558941 w 1092116"/>
              <a:gd name="connsiteY15" fmla="*/ 178143 h 306094"/>
              <a:gd name="connsiteX16" fmla="*/ 566455 w 1092116"/>
              <a:gd name="connsiteY16" fmla="*/ 218759 h 306094"/>
              <a:gd name="connsiteX17" fmla="*/ 551725 w 1092116"/>
              <a:gd name="connsiteY17" fmla="*/ 218759 h 306094"/>
              <a:gd name="connsiteX18" fmla="*/ 551725 w 1092116"/>
              <a:gd name="connsiteY18" fmla="*/ 303359 h 306094"/>
              <a:gd name="connsiteX19" fmla="*/ 566455 w 1092116"/>
              <a:gd name="connsiteY19" fmla="*/ 303359 h 306094"/>
              <a:gd name="connsiteX20" fmla="*/ 566455 w 1092116"/>
              <a:gd name="connsiteY20" fmla="*/ 218759 h 306094"/>
              <a:gd name="connsiteX21" fmla="*/ 633530 w 1092116"/>
              <a:gd name="connsiteY21" fmla="*/ 216830 h 306094"/>
              <a:gd name="connsiteX22" fmla="*/ 610961 w 1092116"/>
              <a:gd name="connsiteY22" fmla="*/ 235939 h 306094"/>
              <a:gd name="connsiteX23" fmla="*/ 609520 w 1092116"/>
              <a:gd name="connsiteY23" fmla="*/ 218770 h 306094"/>
              <a:gd name="connsiteX24" fmla="*/ 596873 w 1092116"/>
              <a:gd name="connsiteY24" fmla="*/ 218770 h 306094"/>
              <a:gd name="connsiteX25" fmla="*/ 596873 w 1092116"/>
              <a:gd name="connsiteY25" fmla="*/ 303360 h 306094"/>
              <a:gd name="connsiteX26" fmla="*/ 611603 w 1092116"/>
              <a:gd name="connsiteY26" fmla="*/ 303360 h 306094"/>
              <a:gd name="connsiteX27" fmla="*/ 611603 w 1092116"/>
              <a:gd name="connsiteY27" fmla="*/ 255040 h 306094"/>
              <a:gd name="connsiteX28" fmla="*/ 631773 w 1092116"/>
              <a:gd name="connsiteY28" fmla="*/ 231276 h 306094"/>
              <a:gd name="connsiteX29" fmla="*/ 639128 w 1092116"/>
              <a:gd name="connsiteY29" fmla="*/ 232246 h 306094"/>
              <a:gd name="connsiteX30" fmla="*/ 641853 w 1092116"/>
              <a:gd name="connsiteY30" fmla="*/ 217800 h 306094"/>
              <a:gd name="connsiteX31" fmla="*/ 633530 w 1092116"/>
              <a:gd name="connsiteY31" fmla="*/ 216830 h 306094"/>
              <a:gd name="connsiteX32" fmla="*/ 681558 w 1092116"/>
              <a:gd name="connsiteY32" fmla="*/ 216836 h 306094"/>
              <a:gd name="connsiteX33" fmla="*/ 651140 w 1092116"/>
              <a:gd name="connsiteY33" fmla="*/ 240115 h 306094"/>
              <a:gd name="connsiteX34" fmla="*/ 676592 w 1092116"/>
              <a:gd name="connsiteY34" fmla="*/ 264671 h 306094"/>
              <a:gd name="connsiteX35" fmla="*/ 697079 w 1092116"/>
              <a:gd name="connsiteY35" fmla="*/ 280563 h 306094"/>
              <a:gd name="connsiteX36" fmla="*/ 678991 w 1092116"/>
              <a:gd name="connsiteY36" fmla="*/ 293406 h 306094"/>
              <a:gd name="connsiteX37" fmla="*/ 655306 w 1092116"/>
              <a:gd name="connsiteY37" fmla="*/ 285217 h 306094"/>
              <a:gd name="connsiteX38" fmla="*/ 647467 w 1092116"/>
              <a:gd name="connsiteY38" fmla="*/ 294208 h 306094"/>
              <a:gd name="connsiteX39" fmla="*/ 679317 w 1092116"/>
              <a:gd name="connsiteY39" fmla="*/ 305287 h 306094"/>
              <a:gd name="connsiteX40" fmla="*/ 712608 w 1092116"/>
              <a:gd name="connsiteY40" fmla="*/ 279602 h 306094"/>
              <a:gd name="connsiteX41" fmla="*/ 684599 w 1092116"/>
              <a:gd name="connsiteY41" fmla="*/ 253274 h 306094"/>
              <a:gd name="connsiteX42" fmla="*/ 666512 w 1092116"/>
              <a:gd name="connsiteY42" fmla="*/ 239630 h 306094"/>
              <a:gd name="connsiteX43" fmla="*/ 682042 w 1092116"/>
              <a:gd name="connsiteY43" fmla="*/ 228559 h 306094"/>
              <a:gd name="connsiteX44" fmla="*/ 703960 w 1092116"/>
              <a:gd name="connsiteY44" fmla="*/ 235778 h 306094"/>
              <a:gd name="connsiteX45" fmla="*/ 710209 w 1092116"/>
              <a:gd name="connsiteY45" fmla="*/ 226470 h 306094"/>
              <a:gd name="connsiteX46" fmla="*/ 681558 w 1092116"/>
              <a:gd name="connsiteY46" fmla="*/ 216836 h 306094"/>
              <a:gd name="connsiteX47" fmla="*/ 770396 w 1092116"/>
              <a:gd name="connsiteY47" fmla="*/ 289714 h 306094"/>
              <a:gd name="connsiteX48" fmla="*/ 759191 w 1092116"/>
              <a:gd name="connsiteY48" fmla="*/ 293090 h 306094"/>
              <a:gd name="connsiteX49" fmla="*/ 749110 w 1092116"/>
              <a:gd name="connsiteY49" fmla="*/ 280565 h 306094"/>
              <a:gd name="connsiteX50" fmla="*/ 749110 w 1092116"/>
              <a:gd name="connsiteY50" fmla="*/ 230156 h 306094"/>
              <a:gd name="connsiteX51" fmla="*/ 767514 w 1092116"/>
              <a:gd name="connsiteY51" fmla="*/ 230156 h 306094"/>
              <a:gd name="connsiteX52" fmla="*/ 769123 w 1092116"/>
              <a:gd name="connsiteY52" fmla="*/ 218769 h 306094"/>
              <a:gd name="connsiteX53" fmla="*/ 749110 w 1092116"/>
              <a:gd name="connsiteY53" fmla="*/ 218769 h 306094"/>
              <a:gd name="connsiteX54" fmla="*/ 749110 w 1092116"/>
              <a:gd name="connsiteY54" fmla="*/ 197887 h 306094"/>
              <a:gd name="connsiteX55" fmla="*/ 734380 w 1092116"/>
              <a:gd name="connsiteY55" fmla="*/ 199659 h 306094"/>
              <a:gd name="connsiteX56" fmla="*/ 734380 w 1092116"/>
              <a:gd name="connsiteY56" fmla="*/ 218769 h 306094"/>
              <a:gd name="connsiteX57" fmla="*/ 719660 w 1092116"/>
              <a:gd name="connsiteY57" fmla="*/ 218769 h 306094"/>
              <a:gd name="connsiteX58" fmla="*/ 719660 w 1092116"/>
              <a:gd name="connsiteY58" fmla="*/ 230156 h 306094"/>
              <a:gd name="connsiteX59" fmla="*/ 734380 w 1092116"/>
              <a:gd name="connsiteY59" fmla="*/ 230156 h 306094"/>
              <a:gd name="connsiteX60" fmla="*/ 734380 w 1092116"/>
              <a:gd name="connsiteY60" fmla="*/ 281209 h 306094"/>
              <a:gd name="connsiteX61" fmla="*/ 757117 w 1092116"/>
              <a:gd name="connsiteY61" fmla="*/ 305289 h 306094"/>
              <a:gd name="connsiteX62" fmla="*/ 776004 w 1092116"/>
              <a:gd name="connsiteY62" fmla="*/ 299507 h 306094"/>
              <a:gd name="connsiteX63" fmla="*/ 770396 w 1092116"/>
              <a:gd name="connsiteY63" fmla="*/ 289714 h 306094"/>
              <a:gd name="connsiteX64" fmla="*/ 795049 w 1092116"/>
              <a:gd name="connsiteY64" fmla="*/ 282971 h 306094"/>
              <a:gd name="connsiteX65" fmla="*/ 784002 w 1092116"/>
              <a:gd name="connsiteY65" fmla="*/ 294051 h 306094"/>
              <a:gd name="connsiteX66" fmla="*/ 795049 w 1092116"/>
              <a:gd name="connsiteY66" fmla="*/ 305289 h 306094"/>
              <a:gd name="connsiteX67" fmla="*/ 806255 w 1092116"/>
              <a:gd name="connsiteY67" fmla="*/ 294051 h 306094"/>
              <a:gd name="connsiteX68" fmla="*/ 795049 w 1092116"/>
              <a:gd name="connsiteY68" fmla="*/ 282971 h 306094"/>
              <a:gd name="connsiteX69" fmla="*/ 50421 w 1092116"/>
              <a:gd name="connsiteY69" fmla="*/ 189384 h 306094"/>
              <a:gd name="connsiteX70" fmla="*/ 0 w 1092116"/>
              <a:gd name="connsiteY70" fmla="*/ 247496 h 306094"/>
              <a:gd name="connsiteX71" fmla="*/ 50735 w 1092116"/>
              <a:gd name="connsiteY71" fmla="*/ 306094 h 306094"/>
              <a:gd name="connsiteX72" fmla="*/ 85477 w 1092116"/>
              <a:gd name="connsiteY72" fmla="*/ 291807 h 306094"/>
              <a:gd name="connsiteX73" fmla="*/ 73785 w 1092116"/>
              <a:gd name="connsiteY73" fmla="*/ 276710 h 306094"/>
              <a:gd name="connsiteX74" fmla="*/ 52017 w 1092116"/>
              <a:gd name="connsiteY74" fmla="*/ 285701 h 306094"/>
              <a:gd name="connsiteX75" fmla="*/ 27533 w 1092116"/>
              <a:gd name="connsiteY75" fmla="*/ 247496 h 306094"/>
              <a:gd name="connsiteX76" fmla="*/ 51694 w 1092116"/>
              <a:gd name="connsiteY76" fmla="*/ 208806 h 306094"/>
              <a:gd name="connsiteX77" fmla="*/ 71705 w 1092116"/>
              <a:gd name="connsiteY77" fmla="*/ 216512 h 306094"/>
              <a:gd name="connsiteX78" fmla="*/ 84194 w 1092116"/>
              <a:gd name="connsiteY78" fmla="*/ 201586 h 306094"/>
              <a:gd name="connsiteX79" fmla="*/ 50421 w 1092116"/>
              <a:gd name="connsiteY79" fmla="*/ 189384 h 306094"/>
              <a:gd name="connsiteX80" fmla="*/ 119240 w 1092116"/>
              <a:gd name="connsiteY80" fmla="*/ 306094 h 306094"/>
              <a:gd name="connsiteX81" fmla="*/ 134607 w 1092116"/>
              <a:gd name="connsiteY81" fmla="*/ 303199 h 306094"/>
              <a:gd name="connsiteX82" fmla="*/ 129649 w 1092116"/>
              <a:gd name="connsiteY82" fmla="*/ 285225 h 306094"/>
              <a:gd name="connsiteX83" fmla="*/ 125489 w 1092116"/>
              <a:gd name="connsiteY83" fmla="*/ 286025 h 306094"/>
              <a:gd name="connsiteX84" fmla="*/ 121168 w 1092116"/>
              <a:gd name="connsiteY84" fmla="*/ 280729 h 306094"/>
              <a:gd name="connsiteX85" fmla="*/ 121168 w 1092116"/>
              <a:gd name="connsiteY85" fmla="*/ 181517 h 306094"/>
              <a:gd name="connsiteX86" fmla="*/ 95876 w 1092116"/>
              <a:gd name="connsiteY86" fmla="*/ 184250 h 306094"/>
              <a:gd name="connsiteX87" fmla="*/ 95876 w 1092116"/>
              <a:gd name="connsiteY87" fmla="*/ 281691 h 306094"/>
              <a:gd name="connsiteX88" fmla="*/ 119240 w 1092116"/>
              <a:gd name="connsiteY88" fmla="*/ 306094 h 306094"/>
              <a:gd name="connsiteX89" fmla="*/ 181829 w 1092116"/>
              <a:gd name="connsiteY89" fmla="*/ 215389 h 306094"/>
              <a:gd name="connsiteX90" fmla="*/ 140212 w 1092116"/>
              <a:gd name="connsiteY90" fmla="*/ 260661 h 306094"/>
              <a:gd name="connsiteX91" fmla="*/ 181829 w 1092116"/>
              <a:gd name="connsiteY91" fmla="*/ 306086 h 306094"/>
              <a:gd name="connsiteX92" fmla="*/ 223447 w 1092116"/>
              <a:gd name="connsiteY92" fmla="*/ 260823 h 306094"/>
              <a:gd name="connsiteX93" fmla="*/ 181829 w 1092116"/>
              <a:gd name="connsiteY93" fmla="*/ 215389 h 306094"/>
              <a:gd name="connsiteX94" fmla="*/ 181829 w 1092116"/>
              <a:gd name="connsiteY94" fmla="*/ 234010 h 306094"/>
              <a:gd name="connsiteX95" fmla="*/ 197197 w 1092116"/>
              <a:gd name="connsiteY95" fmla="*/ 260823 h 306094"/>
              <a:gd name="connsiteX96" fmla="*/ 181829 w 1092116"/>
              <a:gd name="connsiteY96" fmla="*/ 287474 h 306094"/>
              <a:gd name="connsiteX97" fmla="*/ 166463 w 1092116"/>
              <a:gd name="connsiteY97" fmla="*/ 260661 h 306094"/>
              <a:gd name="connsiteX98" fmla="*/ 181829 w 1092116"/>
              <a:gd name="connsiteY98" fmla="*/ 234010 h 306094"/>
              <a:gd name="connsiteX99" fmla="*/ 311798 w 1092116"/>
              <a:gd name="connsiteY99" fmla="*/ 218123 h 306094"/>
              <a:gd name="connsiteX100" fmla="*/ 286506 w 1092116"/>
              <a:gd name="connsiteY100" fmla="*/ 218123 h 306094"/>
              <a:gd name="connsiteX101" fmla="*/ 286506 w 1092116"/>
              <a:gd name="connsiteY101" fmla="*/ 277359 h 306094"/>
              <a:gd name="connsiteX102" fmla="*/ 272745 w 1092116"/>
              <a:gd name="connsiteY102" fmla="*/ 287313 h 306094"/>
              <a:gd name="connsiteX103" fmla="*/ 264577 w 1092116"/>
              <a:gd name="connsiteY103" fmla="*/ 276073 h 306094"/>
              <a:gd name="connsiteX104" fmla="*/ 264577 w 1092116"/>
              <a:gd name="connsiteY104" fmla="*/ 218123 h 306094"/>
              <a:gd name="connsiteX105" fmla="*/ 239285 w 1092116"/>
              <a:gd name="connsiteY105" fmla="*/ 218123 h 306094"/>
              <a:gd name="connsiteX106" fmla="*/ 239285 w 1092116"/>
              <a:gd name="connsiteY106" fmla="*/ 279283 h 306094"/>
              <a:gd name="connsiteX107" fmla="*/ 262981 w 1092116"/>
              <a:gd name="connsiteY107" fmla="*/ 306087 h 306094"/>
              <a:gd name="connsiteX108" fmla="*/ 288748 w 1092116"/>
              <a:gd name="connsiteY108" fmla="*/ 292609 h 306094"/>
              <a:gd name="connsiteX109" fmla="*/ 289868 w 1092116"/>
              <a:gd name="connsiteY109" fmla="*/ 303362 h 306094"/>
              <a:gd name="connsiteX110" fmla="*/ 311798 w 1092116"/>
              <a:gd name="connsiteY110" fmla="*/ 303362 h 306094"/>
              <a:gd name="connsiteX111" fmla="*/ 311798 w 1092116"/>
              <a:gd name="connsiteY111" fmla="*/ 218123 h 306094"/>
              <a:gd name="connsiteX112" fmla="*/ 382540 w 1092116"/>
              <a:gd name="connsiteY112" fmla="*/ 181520 h 306094"/>
              <a:gd name="connsiteX113" fmla="*/ 382540 w 1092116"/>
              <a:gd name="connsiteY113" fmla="*/ 223420 h 306094"/>
              <a:gd name="connsiteX114" fmla="*/ 362367 w 1092116"/>
              <a:gd name="connsiteY114" fmla="*/ 215390 h 306094"/>
              <a:gd name="connsiteX115" fmla="*/ 327635 w 1092116"/>
              <a:gd name="connsiteY115" fmla="*/ 260501 h 306094"/>
              <a:gd name="connsiteX116" fmla="*/ 359974 w 1092116"/>
              <a:gd name="connsiteY116" fmla="*/ 306088 h 306094"/>
              <a:gd name="connsiteX117" fmla="*/ 384145 w 1092116"/>
              <a:gd name="connsiteY117" fmla="*/ 293410 h 306094"/>
              <a:gd name="connsiteX118" fmla="*/ 385417 w 1092116"/>
              <a:gd name="connsiteY118" fmla="*/ 303363 h 306094"/>
              <a:gd name="connsiteX119" fmla="*/ 407831 w 1092116"/>
              <a:gd name="connsiteY119" fmla="*/ 303363 h 306094"/>
              <a:gd name="connsiteX120" fmla="*/ 407831 w 1092116"/>
              <a:gd name="connsiteY120" fmla="*/ 184244 h 306094"/>
              <a:gd name="connsiteX121" fmla="*/ 382540 w 1092116"/>
              <a:gd name="connsiteY121" fmla="*/ 181520 h 306094"/>
              <a:gd name="connsiteX122" fmla="*/ 367809 w 1092116"/>
              <a:gd name="connsiteY122" fmla="*/ 287466 h 306094"/>
              <a:gd name="connsiteX123" fmla="*/ 353886 w 1092116"/>
              <a:gd name="connsiteY123" fmla="*/ 260663 h 306094"/>
              <a:gd name="connsiteX124" fmla="*/ 369253 w 1092116"/>
              <a:gd name="connsiteY124" fmla="*/ 233850 h 306094"/>
              <a:gd name="connsiteX125" fmla="*/ 382540 w 1092116"/>
              <a:gd name="connsiteY125" fmla="*/ 241079 h 306094"/>
              <a:gd name="connsiteX126" fmla="*/ 382540 w 1092116"/>
              <a:gd name="connsiteY126" fmla="*/ 277836 h 306094"/>
              <a:gd name="connsiteX127" fmla="*/ 367809 w 1092116"/>
              <a:gd name="connsiteY127" fmla="*/ 287466 h 306094"/>
              <a:gd name="connsiteX128" fmla="*/ 84194 w 1092116"/>
              <a:gd name="connsiteY128" fmla="*/ 23443 h 306094"/>
              <a:gd name="connsiteX129" fmla="*/ 71705 w 1092116"/>
              <a:gd name="connsiteY129" fmla="*/ 38368 h 306094"/>
              <a:gd name="connsiteX130" fmla="*/ 51694 w 1092116"/>
              <a:gd name="connsiteY130" fmla="*/ 30663 h 306094"/>
              <a:gd name="connsiteX131" fmla="*/ 27533 w 1092116"/>
              <a:gd name="connsiteY131" fmla="*/ 69353 h 306094"/>
              <a:gd name="connsiteX132" fmla="*/ 52017 w 1092116"/>
              <a:gd name="connsiteY132" fmla="*/ 107558 h 306094"/>
              <a:gd name="connsiteX133" fmla="*/ 73785 w 1092116"/>
              <a:gd name="connsiteY133" fmla="*/ 98566 h 306094"/>
              <a:gd name="connsiteX134" fmla="*/ 85477 w 1092116"/>
              <a:gd name="connsiteY134" fmla="*/ 113663 h 306094"/>
              <a:gd name="connsiteX135" fmla="*/ 50735 w 1092116"/>
              <a:gd name="connsiteY135" fmla="*/ 127951 h 306094"/>
              <a:gd name="connsiteX136" fmla="*/ 0 w 1092116"/>
              <a:gd name="connsiteY136" fmla="*/ 69353 h 306094"/>
              <a:gd name="connsiteX137" fmla="*/ 50421 w 1092116"/>
              <a:gd name="connsiteY137" fmla="*/ 11241 h 306094"/>
              <a:gd name="connsiteX138" fmla="*/ 84194 w 1092116"/>
              <a:gd name="connsiteY138" fmla="*/ 23443 h 306094"/>
              <a:gd name="connsiteX139" fmla="*/ 167423 w 1092116"/>
              <a:gd name="connsiteY139" fmla="*/ 39981 h 306094"/>
              <a:gd name="connsiteX140" fmla="*/ 142132 w 1092116"/>
              <a:gd name="connsiteY140" fmla="*/ 39981 h 306094"/>
              <a:gd name="connsiteX141" fmla="*/ 142132 w 1092116"/>
              <a:gd name="connsiteY141" fmla="*/ 99217 h 306094"/>
              <a:gd name="connsiteX142" fmla="*/ 128370 w 1092116"/>
              <a:gd name="connsiteY142" fmla="*/ 109171 h 306094"/>
              <a:gd name="connsiteX143" fmla="*/ 120203 w 1092116"/>
              <a:gd name="connsiteY143" fmla="*/ 97931 h 306094"/>
              <a:gd name="connsiteX144" fmla="*/ 120203 w 1092116"/>
              <a:gd name="connsiteY144" fmla="*/ 39981 h 306094"/>
              <a:gd name="connsiteX145" fmla="*/ 94911 w 1092116"/>
              <a:gd name="connsiteY145" fmla="*/ 39981 h 306094"/>
              <a:gd name="connsiteX146" fmla="*/ 94911 w 1092116"/>
              <a:gd name="connsiteY146" fmla="*/ 101141 h 306094"/>
              <a:gd name="connsiteX147" fmla="*/ 118607 w 1092116"/>
              <a:gd name="connsiteY147" fmla="*/ 127954 h 306094"/>
              <a:gd name="connsiteX148" fmla="*/ 144373 w 1092116"/>
              <a:gd name="connsiteY148" fmla="*/ 114466 h 306094"/>
              <a:gd name="connsiteX149" fmla="*/ 145494 w 1092116"/>
              <a:gd name="connsiteY149" fmla="*/ 125220 h 306094"/>
              <a:gd name="connsiteX150" fmla="*/ 167424 w 1092116"/>
              <a:gd name="connsiteY150" fmla="*/ 125220 h 306094"/>
              <a:gd name="connsiteX151" fmla="*/ 167424 w 1092116"/>
              <a:gd name="connsiteY151" fmla="*/ 39981 h 306094"/>
              <a:gd name="connsiteX152" fmla="*/ 218806 w 1092116"/>
              <a:gd name="connsiteY152" fmla="*/ 37253 h 306094"/>
              <a:gd name="connsiteX153" fmla="*/ 184065 w 1092116"/>
              <a:gd name="connsiteY153" fmla="*/ 63256 h 306094"/>
              <a:gd name="connsiteX154" fmla="*/ 209195 w 1092116"/>
              <a:gd name="connsiteY154" fmla="*/ 89898 h 306094"/>
              <a:gd name="connsiteX155" fmla="*/ 227127 w 1092116"/>
              <a:gd name="connsiteY155" fmla="*/ 101785 h 306094"/>
              <a:gd name="connsiteX156" fmla="*/ 214799 w 1092116"/>
              <a:gd name="connsiteY156" fmla="*/ 109805 h 306094"/>
              <a:gd name="connsiteX157" fmla="*/ 192233 w 1092116"/>
              <a:gd name="connsiteY157" fmla="*/ 101461 h 306094"/>
              <a:gd name="connsiteX158" fmla="*/ 179905 w 1092116"/>
              <a:gd name="connsiteY158" fmla="*/ 115263 h 306094"/>
              <a:gd name="connsiteX159" fmla="*/ 215435 w 1092116"/>
              <a:gd name="connsiteY159" fmla="*/ 127950 h 306094"/>
              <a:gd name="connsiteX160" fmla="*/ 253215 w 1092116"/>
              <a:gd name="connsiteY160" fmla="*/ 99851 h 306094"/>
              <a:gd name="connsiteX161" fmla="*/ 226965 w 1092116"/>
              <a:gd name="connsiteY161" fmla="*/ 72724 h 306094"/>
              <a:gd name="connsiteX162" fmla="*/ 209518 w 1092116"/>
              <a:gd name="connsiteY162" fmla="*/ 61808 h 306094"/>
              <a:gd name="connsiteX163" fmla="*/ 219766 w 1092116"/>
              <a:gd name="connsiteY163" fmla="*/ 55389 h 306094"/>
              <a:gd name="connsiteX164" fmla="*/ 240736 w 1092116"/>
              <a:gd name="connsiteY164" fmla="*/ 61970 h 306094"/>
              <a:gd name="connsiteX165" fmla="*/ 250015 w 1092116"/>
              <a:gd name="connsiteY165" fmla="*/ 47683 h 306094"/>
              <a:gd name="connsiteX166" fmla="*/ 218807 w 1092116"/>
              <a:gd name="connsiteY166" fmla="*/ 37253 h 306094"/>
              <a:gd name="connsiteX167" fmla="*/ 312597 w 1092116"/>
              <a:gd name="connsiteY167" fmla="*/ 105157 h 306094"/>
              <a:gd name="connsiteX168" fmla="*/ 303470 w 1092116"/>
              <a:gd name="connsiteY168" fmla="*/ 107881 h 306094"/>
              <a:gd name="connsiteX169" fmla="*/ 295463 w 1092116"/>
              <a:gd name="connsiteY169" fmla="*/ 96803 h 306094"/>
              <a:gd name="connsiteX170" fmla="*/ 295463 w 1092116"/>
              <a:gd name="connsiteY170" fmla="*/ 57636 h 306094"/>
              <a:gd name="connsiteX171" fmla="*/ 312274 w 1092116"/>
              <a:gd name="connsiteY171" fmla="*/ 57636 h 306094"/>
              <a:gd name="connsiteX172" fmla="*/ 314999 w 1092116"/>
              <a:gd name="connsiteY172" fmla="*/ 39977 h 306094"/>
              <a:gd name="connsiteX173" fmla="*/ 295463 w 1092116"/>
              <a:gd name="connsiteY173" fmla="*/ 39977 h 306094"/>
              <a:gd name="connsiteX174" fmla="*/ 295463 w 1092116"/>
              <a:gd name="connsiteY174" fmla="*/ 18632 h 306094"/>
              <a:gd name="connsiteX175" fmla="*/ 270181 w 1092116"/>
              <a:gd name="connsiteY175" fmla="*/ 21518 h 306094"/>
              <a:gd name="connsiteX176" fmla="*/ 270181 w 1092116"/>
              <a:gd name="connsiteY176" fmla="*/ 39977 h 306094"/>
              <a:gd name="connsiteX177" fmla="*/ 258177 w 1092116"/>
              <a:gd name="connsiteY177" fmla="*/ 39977 h 306094"/>
              <a:gd name="connsiteX178" fmla="*/ 258177 w 1092116"/>
              <a:gd name="connsiteY178" fmla="*/ 57636 h 306094"/>
              <a:gd name="connsiteX179" fmla="*/ 270181 w 1092116"/>
              <a:gd name="connsiteY179" fmla="*/ 57636 h 306094"/>
              <a:gd name="connsiteX180" fmla="*/ 270181 w 1092116"/>
              <a:gd name="connsiteY180" fmla="*/ 97127 h 306094"/>
              <a:gd name="connsiteX181" fmla="*/ 298028 w 1092116"/>
              <a:gd name="connsiteY181" fmla="*/ 127950 h 306094"/>
              <a:gd name="connsiteX182" fmla="*/ 321078 w 1092116"/>
              <a:gd name="connsiteY182" fmla="*/ 121206 h 306094"/>
              <a:gd name="connsiteX183" fmla="*/ 312597 w 1092116"/>
              <a:gd name="connsiteY183" fmla="*/ 105157 h 306094"/>
              <a:gd name="connsiteX184" fmla="*/ 365094 w 1092116"/>
              <a:gd name="connsiteY184" fmla="*/ 37246 h 306094"/>
              <a:gd name="connsiteX185" fmla="*/ 323477 w 1092116"/>
              <a:gd name="connsiteY185" fmla="*/ 82519 h 306094"/>
              <a:gd name="connsiteX186" fmla="*/ 365094 w 1092116"/>
              <a:gd name="connsiteY186" fmla="*/ 127953 h 306094"/>
              <a:gd name="connsiteX187" fmla="*/ 406712 w 1092116"/>
              <a:gd name="connsiteY187" fmla="*/ 82681 h 306094"/>
              <a:gd name="connsiteX188" fmla="*/ 365094 w 1092116"/>
              <a:gd name="connsiteY188" fmla="*/ 37246 h 306094"/>
              <a:gd name="connsiteX189" fmla="*/ 365094 w 1092116"/>
              <a:gd name="connsiteY189" fmla="*/ 55868 h 306094"/>
              <a:gd name="connsiteX190" fmla="*/ 380461 w 1092116"/>
              <a:gd name="connsiteY190" fmla="*/ 82681 h 306094"/>
              <a:gd name="connsiteX191" fmla="*/ 365094 w 1092116"/>
              <a:gd name="connsiteY191" fmla="*/ 109331 h 306094"/>
              <a:gd name="connsiteX192" fmla="*/ 349727 w 1092116"/>
              <a:gd name="connsiteY192" fmla="*/ 82519 h 306094"/>
              <a:gd name="connsiteX193" fmla="*/ 365094 w 1092116"/>
              <a:gd name="connsiteY193" fmla="*/ 55868 h 306094"/>
              <a:gd name="connsiteX194" fmla="*/ 516511 w 1092116"/>
              <a:gd name="connsiteY194" fmla="*/ 37245 h 306094"/>
              <a:gd name="connsiteX195" fmla="*/ 491067 w 1092116"/>
              <a:gd name="connsiteY195" fmla="*/ 50733 h 306094"/>
              <a:gd name="connsiteX196" fmla="*/ 471056 w 1092116"/>
              <a:gd name="connsiteY196" fmla="*/ 37245 h 306094"/>
              <a:gd name="connsiteX197" fmla="*/ 446410 w 1092116"/>
              <a:gd name="connsiteY197" fmla="*/ 49933 h 306094"/>
              <a:gd name="connsiteX198" fmla="*/ 444644 w 1092116"/>
              <a:gd name="connsiteY198" fmla="*/ 39979 h 306094"/>
              <a:gd name="connsiteX199" fmla="*/ 422553 w 1092116"/>
              <a:gd name="connsiteY199" fmla="*/ 39979 h 306094"/>
              <a:gd name="connsiteX200" fmla="*/ 422553 w 1092116"/>
              <a:gd name="connsiteY200" fmla="*/ 125218 h 306094"/>
              <a:gd name="connsiteX201" fmla="*/ 447845 w 1092116"/>
              <a:gd name="connsiteY201" fmla="*/ 125218 h 306094"/>
              <a:gd name="connsiteX202" fmla="*/ 447845 w 1092116"/>
              <a:gd name="connsiteY202" fmla="*/ 66944 h 306094"/>
              <a:gd name="connsiteX203" fmla="*/ 460808 w 1092116"/>
              <a:gd name="connsiteY203" fmla="*/ 55867 h 306094"/>
              <a:gd name="connsiteX204" fmla="*/ 468017 w 1092116"/>
              <a:gd name="connsiteY204" fmla="*/ 67268 h 306094"/>
              <a:gd name="connsiteX205" fmla="*/ 468017 w 1092116"/>
              <a:gd name="connsiteY205" fmla="*/ 125218 h 306094"/>
              <a:gd name="connsiteX206" fmla="*/ 493299 w 1092116"/>
              <a:gd name="connsiteY206" fmla="*/ 125218 h 306094"/>
              <a:gd name="connsiteX207" fmla="*/ 493299 w 1092116"/>
              <a:gd name="connsiteY207" fmla="*/ 66944 h 306094"/>
              <a:gd name="connsiteX208" fmla="*/ 506272 w 1092116"/>
              <a:gd name="connsiteY208" fmla="*/ 55867 h 306094"/>
              <a:gd name="connsiteX209" fmla="*/ 513471 w 1092116"/>
              <a:gd name="connsiteY209" fmla="*/ 67268 h 306094"/>
              <a:gd name="connsiteX210" fmla="*/ 513471 w 1092116"/>
              <a:gd name="connsiteY210" fmla="*/ 125218 h 306094"/>
              <a:gd name="connsiteX211" fmla="*/ 538763 w 1092116"/>
              <a:gd name="connsiteY211" fmla="*/ 125218 h 306094"/>
              <a:gd name="connsiteX212" fmla="*/ 538763 w 1092116"/>
              <a:gd name="connsiteY212" fmla="*/ 62934 h 306094"/>
              <a:gd name="connsiteX213" fmla="*/ 516511 w 1092116"/>
              <a:gd name="connsiteY213" fmla="*/ 37245 h 306094"/>
              <a:gd name="connsiteX214" fmla="*/ 633514 w 1092116"/>
              <a:gd name="connsiteY214" fmla="*/ 80918 h 306094"/>
              <a:gd name="connsiteX215" fmla="*/ 594299 w 1092116"/>
              <a:gd name="connsiteY215" fmla="*/ 37246 h 306094"/>
              <a:gd name="connsiteX216" fmla="*/ 554600 w 1092116"/>
              <a:gd name="connsiteY216" fmla="*/ 83004 h 306094"/>
              <a:gd name="connsiteX217" fmla="*/ 597338 w 1092116"/>
              <a:gd name="connsiteY217" fmla="*/ 127953 h 306094"/>
              <a:gd name="connsiteX218" fmla="*/ 630475 w 1092116"/>
              <a:gd name="connsiteY218" fmla="*/ 116066 h 306094"/>
              <a:gd name="connsiteX219" fmla="*/ 620075 w 1092116"/>
              <a:gd name="connsiteY219" fmla="*/ 101940 h 306094"/>
              <a:gd name="connsiteX220" fmla="*/ 599742 w 1092116"/>
              <a:gd name="connsiteY220" fmla="*/ 109484 h 306094"/>
              <a:gd name="connsiteX221" fmla="*/ 580376 w 1092116"/>
              <a:gd name="connsiteY221" fmla="*/ 90062 h 306094"/>
              <a:gd name="connsiteX222" fmla="*/ 633039 w 1092116"/>
              <a:gd name="connsiteY222" fmla="*/ 90062 h 306094"/>
              <a:gd name="connsiteX223" fmla="*/ 633514 w 1092116"/>
              <a:gd name="connsiteY223" fmla="*/ 80918 h 306094"/>
              <a:gd name="connsiteX224" fmla="*/ 608707 w 1092116"/>
              <a:gd name="connsiteY224" fmla="*/ 74813 h 306094"/>
              <a:gd name="connsiteX225" fmla="*/ 580376 w 1092116"/>
              <a:gd name="connsiteY225" fmla="*/ 74813 h 306094"/>
              <a:gd name="connsiteX226" fmla="*/ 594945 w 1092116"/>
              <a:gd name="connsiteY226" fmla="*/ 54106 h 306094"/>
              <a:gd name="connsiteX227" fmla="*/ 608707 w 1092116"/>
              <a:gd name="connsiteY227" fmla="*/ 73689 h 306094"/>
              <a:gd name="connsiteX228" fmla="*/ 608707 w 1092116"/>
              <a:gd name="connsiteY228" fmla="*/ 74813 h 306094"/>
              <a:gd name="connsiteX229" fmla="*/ 759789 w 1092116"/>
              <a:gd name="connsiteY229" fmla="*/ 125220 h 306094"/>
              <a:gd name="connsiteX230" fmla="*/ 775003 w 1092116"/>
              <a:gd name="connsiteY230" fmla="*/ 125220 h 306094"/>
              <a:gd name="connsiteX231" fmla="*/ 775003 w 1092116"/>
              <a:gd name="connsiteY231" fmla="*/ 76583 h 306094"/>
              <a:gd name="connsiteX232" fmla="*/ 811010 w 1092116"/>
              <a:gd name="connsiteY232" fmla="*/ 76583 h 306094"/>
              <a:gd name="connsiteX233" fmla="*/ 811010 w 1092116"/>
              <a:gd name="connsiteY233" fmla="*/ 64543 h 306094"/>
              <a:gd name="connsiteX234" fmla="*/ 775003 w 1092116"/>
              <a:gd name="connsiteY234" fmla="*/ 64543 h 306094"/>
              <a:gd name="connsiteX235" fmla="*/ 775003 w 1092116"/>
              <a:gd name="connsiteY235" fmla="*/ 26818 h 306094"/>
              <a:gd name="connsiteX236" fmla="*/ 816608 w 1092116"/>
              <a:gd name="connsiteY236" fmla="*/ 26818 h 306094"/>
              <a:gd name="connsiteX237" fmla="*/ 818375 w 1092116"/>
              <a:gd name="connsiteY237" fmla="*/ 14610 h 306094"/>
              <a:gd name="connsiteX238" fmla="*/ 759789 w 1092116"/>
              <a:gd name="connsiteY238" fmla="*/ 14610 h 306094"/>
              <a:gd name="connsiteX239" fmla="*/ 759789 w 1092116"/>
              <a:gd name="connsiteY239" fmla="*/ 125220 h 306094"/>
              <a:gd name="connsiteX240" fmla="*/ 844802 w 1092116"/>
              <a:gd name="connsiteY240" fmla="*/ 0 h 306094"/>
              <a:gd name="connsiteX241" fmla="*/ 834555 w 1092116"/>
              <a:gd name="connsiteY241" fmla="*/ 10119 h 306094"/>
              <a:gd name="connsiteX242" fmla="*/ 844802 w 1092116"/>
              <a:gd name="connsiteY242" fmla="*/ 20070 h 306094"/>
              <a:gd name="connsiteX243" fmla="*/ 855199 w 1092116"/>
              <a:gd name="connsiteY243" fmla="*/ 10119 h 306094"/>
              <a:gd name="connsiteX244" fmla="*/ 844802 w 1092116"/>
              <a:gd name="connsiteY244" fmla="*/ 0 h 306094"/>
              <a:gd name="connsiteX245" fmla="*/ 852316 w 1092116"/>
              <a:gd name="connsiteY245" fmla="*/ 40616 h 306094"/>
              <a:gd name="connsiteX246" fmla="*/ 837586 w 1092116"/>
              <a:gd name="connsiteY246" fmla="*/ 40616 h 306094"/>
              <a:gd name="connsiteX247" fmla="*/ 837586 w 1092116"/>
              <a:gd name="connsiteY247" fmla="*/ 125215 h 306094"/>
              <a:gd name="connsiteX248" fmla="*/ 852316 w 1092116"/>
              <a:gd name="connsiteY248" fmla="*/ 125215 h 306094"/>
              <a:gd name="connsiteX249" fmla="*/ 852316 w 1092116"/>
              <a:gd name="connsiteY249" fmla="*/ 40616 h 306094"/>
              <a:gd name="connsiteX250" fmla="*/ 919391 w 1092116"/>
              <a:gd name="connsiteY250" fmla="*/ 38687 h 306094"/>
              <a:gd name="connsiteX251" fmla="*/ 896822 w 1092116"/>
              <a:gd name="connsiteY251" fmla="*/ 57796 h 306094"/>
              <a:gd name="connsiteX252" fmla="*/ 895381 w 1092116"/>
              <a:gd name="connsiteY252" fmla="*/ 40627 h 306094"/>
              <a:gd name="connsiteX253" fmla="*/ 882734 w 1092116"/>
              <a:gd name="connsiteY253" fmla="*/ 40627 h 306094"/>
              <a:gd name="connsiteX254" fmla="*/ 882734 w 1092116"/>
              <a:gd name="connsiteY254" fmla="*/ 125216 h 306094"/>
              <a:gd name="connsiteX255" fmla="*/ 897464 w 1092116"/>
              <a:gd name="connsiteY255" fmla="*/ 125216 h 306094"/>
              <a:gd name="connsiteX256" fmla="*/ 897464 w 1092116"/>
              <a:gd name="connsiteY256" fmla="*/ 76897 h 306094"/>
              <a:gd name="connsiteX257" fmla="*/ 917634 w 1092116"/>
              <a:gd name="connsiteY257" fmla="*/ 53133 h 306094"/>
              <a:gd name="connsiteX258" fmla="*/ 924990 w 1092116"/>
              <a:gd name="connsiteY258" fmla="*/ 54103 h 306094"/>
              <a:gd name="connsiteX259" fmla="*/ 927715 w 1092116"/>
              <a:gd name="connsiteY259" fmla="*/ 39657 h 306094"/>
              <a:gd name="connsiteX260" fmla="*/ 919392 w 1092116"/>
              <a:gd name="connsiteY260" fmla="*/ 38687 h 306094"/>
              <a:gd name="connsiteX261" fmla="*/ 967419 w 1092116"/>
              <a:gd name="connsiteY261" fmla="*/ 38693 h 306094"/>
              <a:gd name="connsiteX262" fmla="*/ 937001 w 1092116"/>
              <a:gd name="connsiteY262" fmla="*/ 61972 h 306094"/>
              <a:gd name="connsiteX263" fmla="*/ 962454 w 1092116"/>
              <a:gd name="connsiteY263" fmla="*/ 86528 h 306094"/>
              <a:gd name="connsiteX264" fmla="*/ 982940 w 1092116"/>
              <a:gd name="connsiteY264" fmla="*/ 102420 h 306094"/>
              <a:gd name="connsiteX265" fmla="*/ 964853 w 1092116"/>
              <a:gd name="connsiteY265" fmla="*/ 115262 h 306094"/>
              <a:gd name="connsiteX266" fmla="*/ 941168 w 1092116"/>
              <a:gd name="connsiteY266" fmla="*/ 107074 h 306094"/>
              <a:gd name="connsiteX267" fmla="*/ 933328 w 1092116"/>
              <a:gd name="connsiteY267" fmla="*/ 116064 h 306094"/>
              <a:gd name="connsiteX268" fmla="*/ 965178 w 1092116"/>
              <a:gd name="connsiteY268" fmla="*/ 127144 h 306094"/>
              <a:gd name="connsiteX269" fmla="*/ 998470 w 1092116"/>
              <a:gd name="connsiteY269" fmla="*/ 101459 h 306094"/>
              <a:gd name="connsiteX270" fmla="*/ 970460 w 1092116"/>
              <a:gd name="connsiteY270" fmla="*/ 75131 h 306094"/>
              <a:gd name="connsiteX271" fmla="*/ 952373 w 1092116"/>
              <a:gd name="connsiteY271" fmla="*/ 61487 h 306094"/>
              <a:gd name="connsiteX272" fmla="*/ 967903 w 1092116"/>
              <a:gd name="connsiteY272" fmla="*/ 50416 h 306094"/>
              <a:gd name="connsiteX273" fmla="*/ 989821 w 1092116"/>
              <a:gd name="connsiteY273" fmla="*/ 57635 h 306094"/>
              <a:gd name="connsiteX274" fmla="*/ 996070 w 1092116"/>
              <a:gd name="connsiteY274" fmla="*/ 48327 h 306094"/>
              <a:gd name="connsiteX275" fmla="*/ 967419 w 1092116"/>
              <a:gd name="connsiteY275" fmla="*/ 38693 h 306094"/>
              <a:gd name="connsiteX276" fmla="*/ 1056258 w 1092116"/>
              <a:gd name="connsiteY276" fmla="*/ 111571 h 306094"/>
              <a:gd name="connsiteX277" fmla="*/ 1045053 w 1092116"/>
              <a:gd name="connsiteY277" fmla="*/ 114947 h 306094"/>
              <a:gd name="connsiteX278" fmla="*/ 1034972 w 1092116"/>
              <a:gd name="connsiteY278" fmla="*/ 102422 h 306094"/>
              <a:gd name="connsiteX279" fmla="*/ 1034972 w 1092116"/>
              <a:gd name="connsiteY279" fmla="*/ 52013 h 306094"/>
              <a:gd name="connsiteX280" fmla="*/ 1053375 w 1092116"/>
              <a:gd name="connsiteY280" fmla="*/ 52013 h 306094"/>
              <a:gd name="connsiteX281" fmla="*/ 1054984 w 1092116"/>
              <a:gd name="connsiteY281" fmla="*/ 40626 h 306094"/>
              <a:gd name="connsiteX282" fmla="*/ 1034972 w 1092116"/>
              <a:gd name="connsiteY282" fmla="*/ 40626 h 306094"/>
              <a:gd name="connsiteX283" fmla="*/ 1034972 w 1092116"/>
              <a:gd name="connsiteY283" fmla="*/ 19744 h 306094"/>
              <a:gd name="connsiteX284" fmla="*/ 1020242 w 1092116"/>
              <a:gd name="connsiteY284" fmla="*/ 21516 h 306094"/>
              <a:gd name="connsiteX285" fmla="*/ 1020242 w 1092116"/>
              <a:gd name="connsiteY285" fmla="*/ 40626 h 306094"/>
              <a:gd name="connsiteX286" fmla="*/ 1005521 w 1092116"/>
              <a:gd name="connsiteY286" fmla="*/ 40626 h 306094"/>
              <a:gd name="connsiteX287" fmla="*/ 1005521 w 1092116"/>
              <a:gd name="connsiteY287" fmla="*/ 52013 h 306094"/>
              <a:gd name="connsiteX288" fmla="*/ 1020242 w 1092116"/>
              <a:gd name="connsiteY288" fmla="*/ 52013 h 306094"/>
              <a:gd name="connsiteX289" fmla="*/ 1020242 w 1092116"/>
              <a:gd name="connsiteY289" fmla="*/ 103065 h 306094"/>
              <a:gd name="connsiteX290" fmla="*/ 1042979 w 1092116"/>
              <a:gd name="connsiteY290" fmla="*/ 127146 h 306094"/>
              <a:gd name="connsiteX291" fmla="*/ 1061866 w 1092116"/>
              <a:gd name="connsiteY291" fmla="*/ 121364 h 306094"/>
              <a:gd name="connsiteX292" fmla="*/ 1056258 w 1092116"/>
              <a:gd name="connsiteY292" fmla="*/ 111571 h 306094"/>
              <a:gd name="connsiteX293" fmla="*/ 1080911 w 1092116"/>
              <a:gd name="connsiteY293" fmla="*/ 104828 h 306094"/>
              <a:gd name="connsiteX294" fmla="*/ 1069863 w 1092116"/>
              <a:gd name="connsiteY294" fmla="*/ 115908 h 306094"/>
              <a:gd name="connsiteX295" fmla="*/ 1080911 w 1092116"/>
              <a:gd name="connsiteY295" fmla="*/ 127146 h 306094"/>
              <a:gd name="connsiteX296" fmla="*/ 1092117 w 1092116"/>
              <a:gd name="connsiteY296" fmla="*/ 115908 h 306094"/>
              <a:gd name="connsiteX297" fmla="*/ 1080911 w 1092116"/>
              <a:gd name="connsiteY297" fmla="*/ 104828 h 306094"/>
              <a:gd name="connsiteX298" fmla="*/ 695451 w 1092116"/>
              <a:gd name="connsiteY298" fmla="*/ 37569 h 306094"/>
              <a:gd name="connsiteX299" fmla="*/ 673521 w 1092116"/>
              <a:gd name="connsiteY299" fmla="*/ 56514 h 306094"/>
              <a:gd name="connsiteX300" fmla="*/ 671432 w 1092116"/>
              <a:gd name="connsiteY300" fmla="*/ 39979 h 306094"/>
              <a:gd name="connsiteX301" fmla="*/ 649351 w 1092116"/>
              <a:gd name="connsiteY301" fmla="*/ 39979 h 306094"/>
              <a:gd name="connsiteX302" fmla="*/ 649351 w 1092116"/>
              <a:gd name="connsiteY302" fmla="*/ 125218 h 306094"/>
              <a:gd name="connsiteX303" fmla="*/ 674642 w 1092116"/>
              <a:gd name="connsiteY303" fmla="*/ 125218 h 306094"/>
              <a:gd name="connsiteX304" fmla="*/ 674642 w 1092116"/>
              <a:gd name="connsiteY304" fmla="*/ 83003 h 306094"/>
              <a:gd name="connsiteX305" fmla="*/ 692250 w 1092116"/>
              <a:gd name="connsiteY305" fmla="*/ 62134 h 306094"/>
              <a:gd name="connsiteX306" fmla="*/ 699933 w 1092116"/>
              <a:gd name="connsiteY306" fmla="*/ 63258 h 306094"/>
              <a:gd name="connsiteX307" fmla="*/ 703932 w 1092116"/>
              <a:gd name="connsiteY307" fmla="*/ 38693 h 306094"/>
              <a:gd name="connsiteX308" fmla="*/ 695451 w 1092116"/>
              <a:gd name="connsiteY308" fmla="*/ 37569 h 306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Lst>
            <a:rect l="l" t="t" r="r" b="b"/>
            <a:pathLst>
              <a:path w="1092116" h="306094">
                <a:moveTo>
                  <a:pt x="473928" y="192753"/>
                </a:moveTo>
                <a:lnTo>
                  <a:pt x="532513" y="192753"/>
                </a:lnTo>
                <a:lnTo>
                  <a:pt x="530746" y="204961"/>
                </a:lnTo>
                <a:lnTo>
                  <a:pt x="489141" y="204961"/>
                </a:lnTo>
                <a:lnTo>
                  <a:pt x="489141" y="242686"/>
                </a:lnTo>
                <a:lnTo>
                  <a:pt x="525148" y="242686"/>
                </a:lnTo>
                <a:lnTo>
                  <a:pt x="525148" y="254726"/>
                </a:lnTo>
                <a:lnTo>
                  <a:pt x="489141" y="254726"/>
                </a:lnTo>
                <a:lnTo>
                  <a:pt x="489141" y="303363"/>
                </a:lnTo>
                <a:lnTo>
                  <a:pt x="473928" y="303363"/>
                </a:lnTo>
                <a:lnTo>
                  <a:pt x="473928" y="192753"/>
                </a:lnTo>
                <a:close/>
                <a:moveTo>
                  <a:pt x="558941" y="178143"/>
                </a:moveTo>
                <a:cubicBezTo>
                  <a:pt x="552850" y="178143"/>
                  <a:pt x="548693" y="182480"/>
                  <a:pt x="548693" y="188262"/>
                </a:cubicBezTo>
                <a:cubicBezTo>
                  <a:pt x="548693" y="193886"/>
                  <a:pt x="552850" y="198214"/>
                  <a:pt x="558941" y="198214"/>
                </a:cubicBezTo>
                <a:cubicBezTo>
                  <a:pt x="565181" y="198214"/>
                  <a:pt x="569337" y="193886"/>
                  <a:pt x="569337" y="188262"/>
                </a:cubicBezTo>
                <a:cubicBezTo>
                  <a:pt x="569337" y="182480"/>
                  <a:pt x="565180" y="178143"/>
                  <a:pt x="558941" y="178143"/>
                </a:cubicBezTo>
                <a:close/>
                <a:moveTo>
                  <a:pt x="566455" y="218759"/>
                </a:moveTo>
                <a:lnTo>
                  <a:pt x="551725" y="218759"/>
                </a:lnTo>
                <a:lnTo>
                  <a:pt x="551725" y="303359"/>
                </a:lnTo>
                <a:lnTo>
                  <a:pt x="566455" y="303359"/>
                </a:lnTo>
                <a:lnTo>
                  <a:pt x="566455" y="218759"/>
                </a:lnTo>
                <a:close/>
                <a:moveTo>
                  <a:pt x="633530" y="216830"/>
                </a:moveTo>
                <a:cubicBezTo>
                  <a:pt x="623292" y="216830"/>
                  <a:pt x="615443" y="223256"/>
                  <a:pt x="610961" y="235939"/>
                </a:cubicBezTo>
                <a:lnTo>
                  <a:pt x="609520" y="218770"/>
                </a:lnTo>
                <a:lnTo>
                  <a:pt x="596873" y="218770"/>
                </a:lnTo>
                <a:lnTo>
                  <a:pt x="596873" y="303360"/>
                </a:lnTo>
                <a:lnTo>
                  <a:pt x="611603" y="303360"/>
                </a:lnTo>
                <a:lnTo>
                  <a:pt x="611603" y="255040"/>
                </a:lnTo>
                <a:cubicBezTo>
                  <a:pt x="615127" y="238831"/>
                  <a:pt x="621199" y="231276"/>
                  <a:pt x="631773" y="231276"/>
                </a:cubicBezTo>
                <a:cubicBezTo>
                  <a:pt x="634804" y="231276"/>
                  <a:pt x="636571" y="231603"/>
                  <a:pt x="639128" y="232246"/>
                </a:cubicBezTo>
                <a:lnTo>
                  <a:pt x="641853" y="217800"/>
                </a:lnTo>
                <a:cubicBezTo>
                  <a:pt x="639296" y="217156"/>
                  <a:pt x="636246" y="216830"/>
                  <a:pt x="633530" y="216830"/>
                </a:cubicBezTo>
                <a:close/>
                <a:moveTo>
                  <a:pt x="681558" y="216836"/>
                </a:moveTo>
                <a:cubicBezTo>
                  <a:pt x="664113" y="216836"/>
                  <a:pt x="651140" y="226629"/>
                  <a:pt x="651140" y="240115"/>
                </a:cubicBezTo>
                <a:cubicBezTo>
                  <a:pt x="651140" y="251987"/>
                  <a:pt x="658347" y="259859"/>
                  <a:pt x="676592" y="264671"/>
                </a:cubicBezTo>
                <a:cubicBezTo>
                  <a:pt x="692922" y="269008"/>
                  <a:pt x="697079" y="272216"/>
                  <a:pt x="697079" y="280563"/>
                </a:cubicBezTo>
                <a:cubicBezTo>
                  <a:pt x="697079" y="288584"/>
                  <a:pt x="690039" y="293406"/>
                  <a:pt x="678991" y="293406"/>
                </a:cubicBezTo>
                <a:cubicBezTo>
                  <a:pt x="669869" y="293406"/>
                  <a:pt x="662029" y="290356"/>
                  <a:pt x="655306" y="285217"/>
                </a:cubicBezTo>
                <a:lnTo>
                  <a:pt x="647467" y="294208"/>
                </a:lnTo>
                <a:cubicBezTo>
                  <a:pt x="654823" y="300624"/>
                  <a:pt x="665061" y="305287"/>
                  <a:pt x="679317" y="305287"/>
                </a:cubicBezTo>
                <a:cubicBezTo>
                  <a:pt x="696446" y="305287"/>
                  <a:pt x="712608" y="297257"/>
                  <a:pt x="712608" y="279602"/>
                </a:cubicBezTo>
                <a:cubicBezTo>
                  <a:pt x="712608" y="264830"/>
                  <a:pt x="702360" y="257770"/>
                  <a:pt x="684599" y="253274"/>
                </a:cubicBezTo>
                <a:cubicBezTo>
                  <a:pt x="670984" y="249740"/>
                  <a:pt x="666512" y="246531"/>
                  <a:pt x="666512" y="239630"/>
                </a:cubicBezTo>
                <a:cubicBezTo>
                  <a:pt x="666512" y="232887"/>
                  <a:pt x="672426" y="228559"/>
                  <a:pt x="682042" y="228559"/>
                </a:cubicBezTo>
                <a:cubicBezTo>
                  <a:pt x="689871" y="228559"/>
                  <a:pt x="696446" y="230956"/>
                  <a:pt x="703960" y="235778"/>
                </a:cubicBezTo>
                <a:lnTo>
                  <a:pt x="710209" y="226470"/>
                </a:lnTo>
                <a:cubicBezTo>
                  <a:pt x="702202" y="220371"/>
                  <a:pt x="693396" y="216836"/>
                  <a:pt x="681558" y="216836"/>
                </a:cubicBezTo>
                <a:close/>
                <a:moveTo>
                  <a:pt x="770396" y="289714"/>
                </a:moveTo>
                <a:cubicBezTo>
                  <a:pt x="766240" y="291962"/>
                  <a:pt x="762874" y="293090"/>
                  <a:pt x="759191" y="293090"/>
                </a:cubicBezTo>
                <a:cubicBezTo>
                  <a:pt x="751826" y="293090"/>
                  <a:pt x="749110" y="289071"/>
                  <a:pt x="749110" y="280565"/>
                </a:cubicBezTo>
                <a:lnTo>
                  <a:pt x="749110" y="230156"/>
                </a:lnTo>
                <a:lnTo>
                  <a:pt x="767514" y="230156"/>
                </a:lnTo>
                <a:lnTo>
                  <a:pt x="769123" y="218769"/>
                </a:lnTo>
                <a:lnTo>
                  <a:pt x="749110" y="218769"/>
                </a:lnTo>
                <a:lnTo>
                  <a:pt x="749110" y="197887"/>
                </a:lnTo>
                <a:lnTo>
                  <a:pt x="734380" y="199659"/>
                </a:lnTo>
                <a:lnTo>
                  <a:pt x="734380" y="218769"/>
                </a:lnTo>
                <a:lnTo>
                  <a:pt x="719660" y="218769"/>
                </a:lnTo>
                <a:lnTo>
                  <a:pt x="719660" y="230156"/>
                </a:lnTo>
                <a:lnTo>
                  <a:pt x="734380" y="230156"/>
                </a:lnTo>
                <a:lnTo>
                  <a:pt x="734380" y="281209"/>
                </a:lnTo>
                <a:cubicBezTo>
                  <a:pt x="734380" y="296942"/>
                  <a:pt x="742861" y="305289"/>
                  <a:pt x="757117" y="305289"/>
                </a:cubicBezTo>
                <a:cubicBezTo>
                  <a:pt x="764315" y="305289"/>
                  <a:pt x="770396" y="303359"/>
                  <a:pt x="776004" y="299507"/>
                </a:cubicBezTo>
                <a:lnTo>
                  <a:pt x="770396" y="289714"/>
                </a:lnTo>
                <a:close/>
                <a:moveTo>
                  <a:pt x="795049" y="282971"/>
                </a:moveTo>
                <a:cubicBezTo>
                  <a:pt x="788810" y="282971"/>
                  <a:pt x="784002" y="287952"/>
                  <a:pt x="784002" y="294051"/>
                </a:cubicBezTo>
                <a:cubicBezTo>
                  <a:pt x="784002" y="300309"/>
                  <a:pt x="788810" y="305289"/>
                  <a:pt x="795049" y="305289"/>
                </a:cubicBezTo>
                <a:cubicBezTo>
                  <a:pt x="801447" y="305289"/>
                  <a:pt x="806255" y="300309"/>
                  <a:pt x="806255" y="294051"/>
                </a:cubicBezTo>
                <a:cubicBezTo>
                  <a:pt x="806255" y="287952"/>
                  <a:pt x="801447" y="282971"/>
                  <a:pt x="795049" y="282971"/>
                </a:cubicBezTo>
                <a:close/>
                <a:moveTo>
                  <a:pt x="50421" y="189384"/>
                </a:moveTo>
                <a:cubicBezTo>
                  <a:pt x="21606" y="189384"/>
                  <a:pt x="0" y="210254"/>
                  <a:pt x="0" y="247496"/>
                </a:cubicBezTo>
                <a:cubicBezTo>
                  <a:pt x="0" y="285539"/>
                  <a:pt x="20325" y="306094"/>
                  <a:pt x="50735" y="306094"/>
                </a:cubicBezTo>
                <a:cubicBezTo>
                  <a:pt x="66101" y="306094"/>
                  <a:pt x="78107" y="299189"/>
                  <a:pt x="85477" y="291807"/>
                </a:cubicBezTo>
                <a:lnTo>
                  <a:pt x="73785" y="276710"/>
                </a:lnTo>
                <a:cubicBezTo>
                  <a:pt x="67232" y="281691"/>
                  <a:pt x="60821" y="285701"/>
                  <a:pt x="52017" y="285701"/>
                </a:cubicBezTo>
                <a:cubicBezTo>
                  <a:pt x="37296" y="285701"/>
                  <a:pt x="27533" y="274309"/>
                  <a:pt x="27533" y="247496"/>
                </a:cubicBezTo>
                <a:cubicBezTo>
                  <a:pt x="27533" y="220207"/>
                  <a:pt x="37448" y="208806"/>
                  <a:pt x="51694" y="208806"/>
                </a:cubicBezTo>
                <a:cubicBezTo>
                  <a:pt x="59225" y="208806"/>
                  <a:pt x="65466" y="211701"/>
                  <a:pt x="71705" y="216512"/>
                </a:cubicBezTo>
                <a:lnTo>
                  <a:pt x="84194" y="201586"/>
                </a:lnTo>
                <a:cubicBezTo>
                  <a:pt x="74915" y="193718"/>
                  <a:pt x="64829" y="189384"/>
                  <a:pt x="50421" y="189384"/>
                </a:cubicBezTo>
                <a:close/>
                <a:moveTo>
                  <a:pt x="119240" y="306094"/>
                </a:moveTo>
                <a:cubicBezTo>
                  <a:pt x="125328" y="306094"/>
                  <a:pt x="130770" y="304808"/>
                  <a:pt x="134607" y="303199"/>
                </a:cubicBezTo>
                <a:lnTo>
                  <a:pt x="129649" y="285225"/>
                </a:lnTo>
                <a:cubicBezTo>
                  <a:pt x="128528" y="285701"/>
                  <a:pt x="127246" y="286025"/>
                  <a:pt x="125489" y="286025"/>
                </a:cubicBezTo>
                <a:cubicBezTo>
                  <a:pt x="122450" y="286025"/>
                  <a:pt x="121168" y="284263"/>
                  <a:pt x="121168" y="280729"/>
                </a:cubicBezTo>
                <a:lnTo>
                  <a:pt x="121168" y="181517"/>
                </a:lnTo>
                <a:lnTo>
                  <a:pt x="95876" y="184250"/>
                </a:lnTo>
                <a:lnTo>
                  <a:pt x="95876" y="281691"/>
                </a:lnTo>
                <a:cubicBezTo>
                  <a:pt x="95876" y="297265"/>
                  <a:pt x="104519" y="306094"/>
                  <a:pt x="119240" y="306094"/>
                </a:cubicBezTo>
                <a:close/>
                <a:moveTo>
                  <a:pt x="181829" y="215389"/>
                </a:moveTo>
                <a:cubicBezTo>
                  <a:pt x="155902" y="215389"/>
                  <a:pt x="140212" y="233372"/>
                  <a:pt x="140212" y="260661"/>
                </a:cubicBezTo>
                <a:cubicBezTo>
                  <a:pt x="140212" y="289398"/>
                  <a:pt x="156064" y="306086"/>
                  <a:pt x="181829" y="306086"/>
                </a:cubicBezTo>
                <a:cubicBezTo>
                  <a:pt x="207758" y="306086"/>
                  <a:pt x="223447" y="288112"/>
                  <a:pt x="223447" y="260823"/>
                </a:cubicBezTo>
                <a:cubicBezTo>
                  <a:pt x="223447" y="232086"/>
                  <a:pt x="207758" y="215389"/>
                  <a:pt x="181829" y="215389"/>
                </a:cubicBezTo>
                <a:close/>
                <a:moveTo>
                  <a:pt x="181829" y="234010"/>
                </a:moveTo>
                <a:cubicBezTo>
                  <a:pt x="192078" y="234010"/>
                  <a:pt x="197197" y="241878"/>
                  <a:pt x="197197" y="260823"/>
                </a:cubicBezTo>
                <a:cubicBezTo>
                  <a:pt x="197197" y="279282"/>
                  <a:pt x="192078" y="287474"/>
                  <a:pt x="181829" y="287474"/>
                </a:cubicBezTo>
                <a:cubicBezTo>
                  <a:pt x="171582" y="287474"/>
                  <a:pt x="166463" y="279606"/>
                  <a:pt x="166463" y="260661"/>
                </a:cubicBezTo>
                <a:cubicBezTo>
                  <a:pt x="166463" y="242201"/>
                  <a:pt x="171582" y="234010"/>
                  <a:pt x="181829" y="234010"/>
                </a:cubicBezTo>
                <a:close/>
                <a:moveTo>
                  <a:pt x="311798" y="218123"/>
                </a:moveTo>
                <a:lnTo>
                  <a:pt x="286506" y="218123"/>
                </a:lnTo>
                <a:lnTo>
                  <a:pt x="286506" y="277359"/>
                </a:lnTo>
                <a:cubicBezTo>
                  <a:pt x="282831" y="283779"/>
                  <a:pt x="278025" y="287313"/>
                  <a:pt x="272745" y="287313"/>
                </a:cubicBezTo>
                <a:cubicBezTo>
                  <a:pt x="267464" y="287313"/>
                  <a:pt x="264577" y="284741"/>
                  <a:pt x="264577" y="276073"/>
                </a:cubicBezTo>
                <a:lnTo>
                  <a:pt x="264577" y="218123"/>
                </a:lnTo>
                <a:lnTo>
                  <a:pt x="239285" y="218123"/>
                </a:lnTo>
                <a:lnTo>
                  <a:pt x="239285" y="279283"/>
                </a:lnTo>
                <a:cubicBezTo>
                  <a:pt x="239285" y="295819"/>
                  <a:pt x="247130" y="306087"/>
                  <a:pt x="262981" y="306087"/>
                </a:cubicBezTo>
                <a:cubicBezTo>
                  <a:pt x="274188" y="306087"/>
                  <a:pt x="282508" y="301600"/>
                  <a:pt x="288748" y="292609"/>
                </a:cubicBezTo>
                <a:lnTo>
                  <a:pt x="289868" y="303362"/>
                </a:lnTo>
                <a:lnTo>
                  <a:pt x="311798" y="303362"/>
                </a:lnTo>
                <a:lnTo>
                  <a:pt x="311798" y="218123"/>
                </a:lnTo>
                <a:close/>
                <a:moveTo>
                  <a:pt x="382540" y="181520"/>
                </a:moveTo>
                <a:lnTo>
                  <a:pt x="382540" y="223420"/>
                </a:lnTo>
                <a:cubicBezTo>
                  <a:pt x="377572" y="218438"/>
                  <a:pt x="370696" y="215390"/>
                  <a:pt x="362367" y="215390"/>
                </a:cubicBezTo>
                <a:cubicBezTo>
                  <a:pt x="341397" y="215390"/>
                  <a:pt x="327635" y="234174"/>
                  <a:pt x="327635" y="260501"/>
                </a:cubicBezTo>
                <a:cubicBezTo>
                  <a:pt x="327635" y="288114"/>
                  <a:pt x="338358" y="306088"/>
                  <a:pt x="359974" y="306088"/>
                </a:cubicBezTo>
                <a:cubicBezTo>
                  <a:pt x="371494" y="306088"/>
                  <a:pt x="379177" y="300468"/>
                  <a:pt x="384145" y="293410"/>
                </a:cubicBezTo>
                <a:lnTo>
                  <a:pt x="385417" y="303363"/>
                </a:lnTo>
                <a:lnTo>
                  <a:pt x="407831" y="303363"/>
                </a:lnTo>
                <a:lnTo>
                  <a:pt x="407831" y="184244"/>
                </a:lnTo>
                <a:lnTo>
                  <a:pt x="382540" y="181520"/>
                </a:lnTo>
                <a:close/>
                <a:moveTo>
                  <a:pt x="367809" y="287466"/>
                </a:moveTo>
                <a:cubicBezTo>
                  <a:pt x="359651" y="287466"/>
                  <a:pt x="353886" y="281846"/>
                  <a:pt x="353886" y="260663"/>
                </a:cubicBezTo>
                <a:cubicBezTo>
                  <a:pt x="353886" y="241556"/>
                  <a:pt x="360287" y="233850"/>
                  <a:pt x="369253" y="233850"/>
                </a:cubicBezTo>
                <a:cubicBezTo>
                  <a:pt x="374856" y="233850"/>
                  <a:pt x="378693" y="236584"/>
                  <a:pt x="382540" y="241079"/>
                </a:cubicBezTo>
                <a:lnTo>
                  <a:pt x="382540" y="277836"/>
                </a:lnTo>
                <a:cubicBezTo>
                  <a:pt x="378541" y="284256"/>
                  <a:pt x="373897" y="287466"/>
                  <a:pt x="367809" y="287466"/>
                </a:cubicBezTo>
                <a:close/>
                <a:moveTo>
                  <a:pt x="84194" y="23443"/>
                </a:moveTo>
                <a:lnTo>
                  <a:pt x="71705" y="38368"/>
                </a:lnTo>
                <a:cubicBezTo>
                  <a:pt x="65466" y="33558"/>
                  <a:pt x="59225" y="30663"/>
                  <a:pt x="51694" y="30663"/>
                </a:cubicBezTo>
                <a:cubicBezTo>
                  <a:pt x="37448" y="30663"/>
                  <a:pt x="27533" y="42064"/>
                  <a:pt x="27533" y="69353"/>
                </a:cubicBezTo>
                <a:cubicBezTo>
                  <a:pt x="27533" y="96166"/>
                  <a:pt x="37296" y="107558"/>
                  <a:pt x="52017" y="107558"/>
                </a:cubicBezTo>
                <a:cubicBezTo>
                  <a:pt x="60821" y="107558"/>
                  <a:pt x="67232" y="103548"/>
                  <a:pt x="73785" y="98566"/>
                </a:cubicBezTo>
                <a:lnTo>
                  <a:pt x="85477" y="113663"/>
                </a:lnTo>
                <a:cubicBezTo>
                  <a:pt x="78107" y="121045"/>
                  <a:pt x="66101" y="127951"/>
                  <a:pt x="50735" y="127951"/>
                </a:cubicBezTo>
                <a:cubicBezTo>
                  <a:pt x="20325" y="127951"/>
                  <a:pt x="0" y="107406"/>
                  <a:pt x="0" y="69353"/>
                </a:cubicBezTo>
                <a:cubicBezTo>
                  <a:pt x="0" y="32110"/>
                  <a:pt x="21606" y="11241"/>
                  <a:pt x="50421" y="11241"/>
                </a:cubicBezTo>
                <a:cubicBezTo>
                  <a:pt x="64829" y="11241"/>
                  <a:pt x="74915" y="15575"/>
                  <a:pt x="84194" y="23443"/>
                </a:cubicBezTo>
                <a:close/>
                <a:moveTo>
                  <a:pt x="167423" y="39981"/>
                </a:moveTo>
                <a:lnTo>
                  <a:pt x="142132" y="39981"/>
                </a:lnTo>
                <a:lnTo>
                  <a:pt x="142132" y="99217"/>
                </a:lnTo>
                <a:cubicBezTo>
                  <a:pt x="138457" y="105637"/>
                  <a:pt x="133650" y="109171"/>
                  <a:pt x="128370" y="109171"/>
                </a:cubicBezTo>
                <a:cubicBezTo>
                  <a:pt x="123089" y="109171"/>
                  <a:pt x="120203" y="106599"/>
                  <a:pt x="120203" y="97931"/>
                </a:cubicBezTo>
                <a:lnTo>
                  <a:pt x="120203" y="39981"/>
                </a:lnTo>
                <a:lnTo>
                  <a:pt x="94911" y="39981"/>
                </a:lnTo>
                <a:lnTo>
                  <a:pt x="94911" y="101141"/>
                </a:lnTo>
                <a:cubicBezTo>
                  <a:pt x="94911" y="117676"/>
                  <a:pt x="102756" y="127954"/>
                  <a:pt x="118607" y="127954"/>
                </a:cubicBezTo>
                <a:cubicBezTo>
                  <a:pt x="129814" y="127954"/>
                  <a:pt x="138134" y="123458"/>
                  <a:pt x="144373" y="114466"/>
                </a:cubicBezTo>
                <a:lnTo>
                  <a:pt x="145494" y="125220"/>
                </a:lnTo>
                <a:lnTo>
                  <a:pt x="167424" y="125220"/>
                </a:lnTo>
                <a:lnTo>
                  <a:pt x="167424" y="39981"/>
                </a:lnTo>
                <a:close/>
                <a:moveTo>
                  <a:pt x="218806" y="37253"/>
                </a:moveTo>
                <a:cubicBezTo>
                  <a:pt x="197352" y="37253"/>
                  <a:pt x="184065" y="48645"/>
                  <a:pt x="184065" y="63256"/>
                </a:cubicBezTo>
                <a:cubicBezTo>
                  <a:pt x="184065" y="76420"/>
                  <a:pt x="192385" y="85087"/>
                  <a:pt x="209195" y="89898"/>
                </a:cubicBezTo>
                <a:cubicBezTo>
                  <a:pt x="224562" y="94241"/>
                  <a:pt x="227127" y="96003"/>
                  <a:pt x="227127" y="101785"/>
                </a:cubicBezTo>
                <a:cubicBezTo>
                  <a:pt x="227127" y="106919"/>
                  <a:pt x="222482" y="109805"/>
                  <a:pt x="214799" y="109805"/>
                </a:cubicBezTo>
                <a:cubicBezTo>
                  <a:pt x="206479" y="109805"/>
                  <a:pt x="198634" y="106443"/>
                  <a:pt x="192233" y="101461"/>
                </a:cubicBezTo>
                <a:lnTo>
                  <a:pt x="179905" y="115263"/>
                </a:lnTo>
                <a:cubicBezTo>
                  <a:pt x="188225" y="122816"/>
                  <a:pt x="200714" y="127950"/>
                  <a:pt x="215435" y="127950"/>
                </a:cubicBezTo>
                <a:cubicBezTo>
                  <a:pt x="236567" y="127950"/>
                  <a:pt x="253215" y="117511"/>
                  <a:pt x="253215" y="99851"/>
                </a:cubicBezTo>
                <a:cubicBezTo>
                  <a:pt x="253215" y="84602"/>
                  <a:pt x="243775" y="77544"/>
                  <a:pt x="226965" y="72724"/>
                </a:cubicBezTo>
                <a:cubicBezTo>
                  <a:pt x="211759" y="68228"/>
                  <a:pt x="209518" y="66304"/>
                  <a:pt x="209518" y="61808"/>
                </a:cubicBezTo>
                <a:cubicBezTo>
                  <a:pt x="209518" y="57960"/>
                  <a:pt x="212880" y="55389"/>
                  <a:pt x="219766" y="55389"/>
                </a:cubicBezTo>
                <a:cubicBezTo>
                  <a:pt x="227127" y="55389"/>
                  <a:pt x="234164" y="57798"/>
                  <a:pt x="240736" y="61970"/>
                </a:cubicBezTo>
                <a:lnTo>
                  <a:pt x="250015" y="47683"/>
                </a:lnTo>
                <a:cubicBezTo>
                  <a:pt x="242170" y="41263"/>
                  <a:pt x="231125" y="37253"/>
                  <a:pt x="218807" y="37253"/>
                </a:cubicBezTo>
                <a:close/>
                <a:moveTo>
                  <a:pt x="312597" y="105157"/>
                </a:moveTo>
                <a:cubicBezTo>
                  <a:pt x="309235" y="107081"/>
                  <a:pt x="306357" y="107881"/>
                  <a:pt x="303470" y="107881"/>
                </a:cubicBezTo>
                <a:cubicBezTo>
                  <a:pt x="298189" y="107881"/>
                  <a:pt x="295463" y="104995"/>
                  <a:pt x="295463" y="96803"/>
                </a:cubicBezTo>
                <a:lnTo>
                  <a:pt x="295463" y="57636"/>
                </a:lnTo>
                <a:lnTo>
                  <a:pt x="312274" y="57636"/>
                </a:lnTo>
                <a:lnTo>
                  <a:pt x="314999" y="39977"/>
                </a:lnTo>
                <a:lnTo>
                  <a:pt x="295463" y="39977"/>
                </a:lnTo>
                <a:lnTo>
                  <a:pt x="295463" y="18632"/>
                </a:lnTo>
                <a:lnTo>
                  <a:pt x="270181" y="21518"/>
                </a:lnTo>
                <a:lnTo>
                  <a:pt x="270181" y="39977"/>
                </a:lnTo>
                <a:lnTo>
                  <a:pt x="258177" y="39977"/>
                </a:lnTo>
                <a:lnTo>
                  <a:pt x="258177" y="57636"/>
                </a:lnTo>
                <a:lnTo>
                  <a:pt x="270181" y="57636"/>
                </a:lnTo>
                <a:lnTo>
                  <a:pt x="270181" y="97127"/>
                </a:lnTo>
                <a:cubicBezTo>
                  <a:pt x="270181" y="117196"/>
                  <a:pt x="279299" y="127788"/>
                  <a:pt x="298028" y="127950"/>
                </a:cubicBezTo>
                <a:cubicBezTo>
                  <a:pt x="305711" y="127950"/>
                  <a:pt x="314676" y="125702"/>
                  <a:pt x="321078" y="121206"/>
                </a:cubicBezTo>
                <a:lnTo>
                  <a:pt x="312597" y="105157"/>
                </a:lnTo>
                <a:close/>
                <a:moveTo>
                  <a:pt x="365094" y="37246"/>
                </a:moveTo>
                <a:cubicBezTo>
                  <a:pt x="339166" y="37246"/>
                  <a:pt x="323477" y="55229"/>
                  <a:pt x="323477" y="82519"/>
                </a:cubicBezTo>
                <a:cubicBezTo>
                  <a:pt x="323477" y="111256"/>
                  <a:pt x="339328" y="127953"/>
                  <a:pt x="365094" y="127953"/>
                </a:cubicBezTo>
                <a:cubicBezTo>
                  <a:pt x="391022" y="127953"/>
                  <a:pt x="406712" y="109970"/>
                  <a:pt x="406712" y="82681"/>
                </a:cubicBezTo>
                <a:cubicBezTo>
                  <a:pt x="406712" y="53944"/>
                  <a:pt x="391022" y="37246"/>
                  <a:pt x="365094" y="37246"/>
                </a:cubicBezTo>
                <a:close/>
                <a:moveTo>
                  <a:pt x="365094" y="55868"/>
                </a:moveTo>
                <a:cubicBezTo>
                  <a:pt x="375342" y="55868"/>
                  <a:pt x="380461" y="63735"/>
                  <a:pt x="380461" y="82681"/>
                </a:cubicBezTo>
                <a:cubicBezTo>
                  <a:pt x="380461" y="101140"/>
                  <a:pt x="375342" y="109331"/>
                  <a:pt x="365094" y="109331"/>
                </a:cubicBezTo>
                <a:cubicBezTo>
                  <a:pt x="354846" y="109331"/>
                  <a:pt x="349727" y="101464"/>
                  <a:pt x="349727" y="82519"/>
                </a:cubicBezTo>
                <a:cubicBezTo>
                  <a:pt x="349727" y="64059"/>
                  <a:pt x="354846" y="55868"/>
                  <a:pt x="365094" y="55868"/>
                </a:cubicBezTo>
                <a:close/>
                <a:moveTo>
                  <a:pt x="516511" y="37245"/>
                </a:moveTo>
                <a:cubicBezTo>
                  <a:pt x="505636" y="37245"/>
                  <a:pt x="497782" y="41741"/>
                  <a:pt x="491067" y="50733"/>
                </a:cubicBezTo>
                <a:cubicBezTo>
                  <a:pt x="487866" y="42065"/>
                  <a:pt x="480496" y="37245"/>
                  <a:pt x="471056" y="37245"/>
                </a:cubicBezTo>
                <a:cubicBezTo>
                  <a:pt x="460657" y="37245"/>
                  <a:pt x="452973" y="41579"/>
                  <a:pt x="446410" y="49933"/>
                </a:cubicBezTo>
                <a:lnTo>
                  <a:pt x="444644" y="39979"/>
                </a:lnTo>
                <a:lnTo>
                  <a:pt x="422553" y="39979"/>
                </a:lnTo>
                <a:lnTo>
                  <a:pt x="422553" y="125218"/>
                </a:lnTo>
                <a:lnTo>
                  <a:pt x="447845" y="125218"/>
                </a:lnTo>
                <a:lnTo>
                  <a:pt x="447845" y="66944"/>
                </a:lnTo>
                <a:cubicBezTo>
                  <a:pt x="451530" y="59886"/>
                  <a:pt x="455528" y="55867"/>
                  <a:pt x="460808" y="55867"/>
                </a:cubicBezTo>
                <a:cubicBezTo>
                  <a:pt x="464655" y="55867"/>
                  <a:pt x="468017" y="58277"/>
                  <a:pt x="468017" y="67268"/>
                </a:cubicBezTo>
                <a:lnTo>
                  <a:pt x="468017" y="125218"/>
                </a:lnTo>
                <a:lnTo>
                  <a:pt x="493299" y="125218"/>
                </a:lnTo>
                <a:lnTo>
                  <a:pt x="493299" y="66944"/>
                </a:lnTo>
                <a:cubicBezTo>
                  <a:pt x="496984" y="59886"/>
                  <a:pt x="500830" y="55867"/>
                  <a:pt x="506272" y="55867"/>
                </a:cubicBezTo>
                <a:cubicBezTo>
                  <a:pt x="510109" y="55867"/>
                  <a:pt x="513471" y="58277"/>
                  <a:pt x="513471" y="67268"/>
                </a:cubicBezTo>
                <a:lnTo>
                  <a:pt x="513471" y="125218"/>
                </a:lnTo>
                <a:lnTo>
                  <a:pt x="538763" y="125218"/>
                </a:lnTo>
                <a:lnTo>
                  <a:pt x="538763" y="62934"/>
                </a:lnTo>
                <a:cubicBezTo>
                  <a:pt x="538763" y="46723"/>
                  <a:pt x="529636" y="37245"/>
                  <a:pt x="516511" y="37245"/>
                </a:cubicBezTo>
                <a:close/>
                <a:moveTo>
                  <a:pt x="633514" y="80918"/>
                </a:moveTo>
                <a:cubicBezTo>
                  <a:pt x="633514" y="53305"/>
                  <a:pt x="618631" y="37246"/>
                  <a:pt x="594299" y="37246"/>
                </a:cubicBezTo>
                <a:cubicBezTo>
                  <a:pt x="568533" y="37246"/>
                  <a:pt x="554600" y="57477"/>
                  <a:pt x="554600" y="83004"/>
                </a:cubicBezTo>
                <a:cubicBezTo>
                  <a:pt x="554600" y="109646"/>
                  <a:pt x="569008" y="127953"/>
                  <a:pt x="597338" y="127953"/>
                </a:cubicBezTo>
                <a:cubicBezTo>
                  <a:pt x="611109" y="127953"/>
                  <a:pt x="621994" y="122809"/>
                  <a:pt x="630475" y="116066"/>
                </a:cubicBezTo>
                <a:lnTo>
                  <a:pt x="620075" y="101940"/>
                </a:lnTo>
                <a:cubicBezTo>
                  <a:pt x="612705" y="107084"/>
                  <a:pt x="606627" y="109484"/>
                  <a:pt x="599742" y="109484"/>
                </a:cubicBezTo>
                <a:cubicBezTo>
                  <a:pt x="589342" y="109484"/>
                  <a:pt x="582133" y="105312"/>
                  <a:pt x="580376" y="90062"/>
                </a:cubicBezTo>
                <a:lnTo>
                  <a:pt x="633039" y="90062"/>
                </a:lnTo>
                <a:cubicBezTo>
                  <a:pt x="633352" y="87491"/>
                  <a:pt x="633514" y="83643"/>
                  <a:pt x="633514" y="80918"/>
                </a:cubicBezTo>
                <a:close/>
                <a:moveTo>
                  <a:pt x="608707" y="74813"/>
                </a:moveTo>
                <a:lnTo>
                  <a:pt x="580376" y="74813"/>
                </a:lnTo>
                <a:cubicBezTo>
                  <a:pt x="581497" y="59563"/>
                  <a:pt x="586454" y="54106"/>
                  <a:pt x="594945" y="54106"/>
                </a:cubicBezTo>
                <a:cubicBezTo>
                  <a:pt x="605022" y="54106"/>
                  <a:pt x="608545" y="62135"/>
                  <a:pt x="608707" y="73689"/>
                </a:cubicBezTo>
                <a:lnTo>
                  <a:pt x="608707" y="74813"/>
                </a:lnTo>
                <a:close/>
                <a:moveTo>
                  <a:pt x="759789" y="125220"/>
                </a:moveTo>
                <a:lnTo>
                  <a:pt x="775003" y="125220"/>
                </a:lnTo>
                <a:lnTo>
                  <a:pt x="775003" y="76583"/>
                </a:lnTo>
                <a:lnTo>
                  <a:pt x="811010" y="76583"/>
                </a:lnTo>
                <a:lnTo>
                  <a:pt x="811010" y="64543"/>
                </a:lnTo>
                <a:lnTo>
                  <a:pt x="775003" y="64543"/>
                </a:lnTo>
                <a:lnTo>
                  <a:pt x="775003" y="26818"/>
                </a:lnTo>
                <a:lnTo>
                  <a:pt x="816608" y="26818"/>
                </a:lnTo>
                <a:lnTo>
                  <a:pt x="818375" y="14610"/>
                </a:lnTo>
                <a:lnTo>
                  <a:pt x="759789" y="14610"/>
                </a:lnTo>
                <a:lnTo>
                  <a:pt x="759789" y="125220"/>
                </a:lnTo>
                <a:close/>
                <a:moveTo>
                  <a:pt x="844802" y="0"/>
                </a:moveTo>
                <a:cubicBezTo>
                  <a:pt x="838711" y="0"/>
                  <a:pt x="834555" y="4337"/>
                  <a:pt x="834555" y="10119"/>
                </a:cubicBezTo>
                <a:cubicBezTo>
                  <a:pt x="834555" y="15743"/>
                  <a:pt x="838711" y="20070"/>
                  <a:pt x="844802" y="20070"/>
                </a:cubicBezTo>
                <a:cubicBezTo>
                  <a:pt x="851042" y="20070"/>
                  <a:pt x="855199" y="15743"/>
                  <a:pt x="855199" y="10119"/>
                </a:cubicBezTo>
                <a:cubicBezTo>
                  <a:pt x="855199" y="4337"/>
                  <a:pt x="851042" y="0"/>
                  <a:pt x="844802" y="0"/>
                </a:cubicBezTo>
                <a:close/>
                <a:moveTo>
                  <a:pt x="852316" y="40616"/>
                </a:moveTo>
                <a:lnTo>
                  <a:pt x="837586" y="40616"/>
                </a:lnTo>
                <a:lnTo>
                  <a:pt x="837586" y="125215"/>
                </a:lnTo>
                <a:lnTo>
                  <a:pt x="852316" y="125215"/>
                </a:lnTo>
                <a:lnTo>
                  <a:pt x="852316" y="40616"/>
                </a:lnTo>
                <a:close/>
                <a:moveTo>
                  <a:pt x="919391" y="38687"/>
                </a:moveTo>
                <a:cubicBezTo>
                  <a:pt x="909153" y="38687"/>
                  <a:pt x="901304" y="45112"/>
                  <a:pt x="896822" y="57796"/>
                </a:cubicBezTo>
                <a:lnTo>
                  <a:pt x="895381" y="40627"/>
                </a:lnTo>
                <a:lnTo>
                  <a:pt x="882734" y="40627"/>
                </a:lnTo>
                <a:lnTo>
                  <a:pt x="882734" y="125216"/>
                </a:lnTo>
                <a:lnTo>
                  <a:pt x="897464" y="125216"/>
                </a:lnTo>
                <a:lnTo>
                  <a:pt x="897464" y="76897"/>
                </a:lnTo>
                <a:cubicBezTo>
                  <a:pt x="900988" y="60687"/>
                  <a:pt x="907061" y="53133"/>
                  <a:pt x="917634" y="53133"/>
                </a:cubicBezTo>
                <a:cubicBezTo>
                  <a:pt x="920666" y="53133"/>
                  <a:pt x="922433" y="53460"/>
                  <a:pt x="924990" y="54103"/>
                </a:cubicBezTo>
                <a:lnTo>
                  <a:pt x="927715" y="39657"/>
                </a:lnTo>
                <a:cubicBezTo>
                  <a:pt x="925157" y="39013"/>
                  <a:pt x="922107" y="38687"/>
                  <a:pt x="919392" y="38687"/>
                </a:cubicBezTo>
                <a:close/>
                <a:moveTo>
                  <a:pt x="967419" y="38693"/>
                </a:moveTo>
                <a:cubicBezTo>
                  <a:pt x="949974" y="38693"/>
                  <a:pt x="937001" y="48486"/>
                  <a:pt x="937001" y="61972"/>
                </a:cubicBezTo>
                <a:cubicBezTo>
                  <a:pt x="937001" y="73844"/>
                  <a:pt x="944208" y="81716"/>
                  <a:pt x="962454" y="86528"/>
                </a:cubicBezTo>
                <a:cubicBezTo>
                  <a:pt x="978783" y="90865"/>
                  <a:pt x="982940" y="94073"/>
                  <a:pt x="982940" y="102420"/>
                </a:cubicBezTo>
                <a:cubicBezTo>
                  <a:pt x="982940" y="110441"/>
                  <a:pt x="975900" y="115262"/>
                  <a:pt x="964853" y="115262"/>
                </a:cubicBezTo>
                <a:cubicBezTo>
                  <a:pt x="955730" y="115262"/>
                  <a:pt x="947891" y="112213"/>
                  <a:pt x="941168" y="107074"/>
                </a:cubicBezTo>
                <a:lnTo>
                  <a:pt x="933328" y="116064"/>
                </a:lnTo>
                <a:cubicBezTo>
                  <a:pt x="940684" y="122481"/>
                  <a:pt x="950923" y="127144"/>
                  <a:pt x="965178" y="127144"/>
                </a:cubicBezTo>
                <a:cubicBezTo>
                  <a:pt x="982308" y="127144"/>
                  <a:pt x="998470" y="119114"/>
                  <a:pt x="998470" y="101459"/>
                </a:cubicBezTo>
                <a:cubicBezTo>
                  <a:pt x="998470" y="86686"/>
                  <a:pt x="988222" y="79626"/>
                  <a:pt x="970460" y="75131"/>
                </a:cubicBezTo>
                <a:cubicBezTo>
                  <a:pt x="956846" y="71596"/>
                  <a:pt x="952373" y="68388"/>
                  <a:pt x="952373" y="61487"/>
                </a:cubicBezTo>
                <a:cubicBezTo>
                  <a:pt x="952373" y="54744"/>
                  <a:pt x="958287" y="50416"/>
                  <a:pt x="967903" y="50416"/>
                </a:cubicBezTo>
                <a:cubicBezTo>
                  <a:pt x="975733" y="50416"/>
                  <a:pt x="982308" y="52813"/>
                  <a:pt x="989821" y="57635"/>
                </a:cubicBezTo>
                <a:lnTo>
                  <a:pt x="996070" y="48327"/>
                </a:lnTo>
                <a:cubicBezTo>
                  <a:pt x="988064" y="42228"/>
                  <a:pt x="979258" y="38693"/>
                  <a:pt x="967419" y="38693"/>
                </a:cubicBezTo>
                <a:close/>
                <a:moveTo>
                  <a:pt x="1056258" y="111571"/>
                </a:moveTo>
                <a:cubicBezTo>
                  <a:pt x="1052101" y="113819"/>
                  <a:pt x="1048735" y="114947"/>
                  <a:pt x="1045053" y="114947"/>
                </a:cubicBezTo>
                <a:cubicBezTo>
                  <a:pt x="1037688" y="114947"/>
                  <a:pt x="1034972" y="110927"/>
                  <a:pt x="1034972" y="102422"/>
                </a:cubicBezTo>
                <a:lnTo>
                  <a:pt x="1034972" y="52013"/>
                </a:lnTo>
                <a:lnTo>
                  <a:pt x="1053375" y="52013"/>
                </a:lnTo>
                <a:lnTo>
                  <a:pt x="1054984" y="40626"/>
                </a:lnTo>
                <a:lnTo>
                  <a:pt x="1034972" y="40626"/>
                </a:lnTo>
                <a:lnTo>
                  <a:pt x="1034972" y="19744"/>
                </a:lnTo>
                <a:lnTo>
                  <a:pt x="1020242" y="21516"/>
                </a:lnTo>
                <a:lnTo>
                  <a:pt x="1020242" y="40626"/>
                </a:lnTo>
                <a:lnTo>
                  <a:pt x="1005521" y="40626"/>
                </a:lnTo>
                <a:lnTo>
                  <a:pt x="1005521" y="52013"/>
                </a:lnTo>
                <a:lnTo>
                  <a:pt x="1020242" y="52013"/>
                </a:lnTo>
                <a:lnTo>
                  <a:pt x="1020242" y="103065"/>
                </a:lnTo>
                <a:cubicBezTo>
                  <a:pt x="1020242" y="118799"/>
                  <a:pt x="1028723" y="127146"/>
                  <a:pt x="1042979" y="127146"/>
                </a:cubicBezTo>
                <a:cubicBezTo>
                  <a:pt x="1050176" y="127146"/>
                  <a:pt x="1056258" y="125216"/>
                  <a:pt x="1061866" y="121364"/>
                </a:cubicBezTo>
                <a:lnTo>
                  <a:pt x="1056258" y="111571"/>
                </a:lnTo>
                <a:close/>
                <a:moveTo>
                  <a:pt x="1080911" y="104828"/>
                </a:moveTo>
                <a:cubicBezTo>
                  <a:pt x="1074671" y="104828"/>
                  <a:pt x="1069863" y="109808"/>
                  <a:pt x="1069863" y="115908"/>
                </a:cubicBezTo>
                <a:cubicBezTo>
                  <a:pt x="1069863" y="122166"/>
                  <a:pt x="1074671" y="127146"/>
                  <a:pt x="1080911" y="127146"/>
                </a:cubicBezTo>
                <a:cubicBezTo>
                  <a:pt x="1087309" y="127146"/>
                  <a:pt x="1092117" y="122166"/>
                  <a:pt x="1092117" y="115908"/>
                </a:cubicBezTo>
                <a:cubicBezTo>
                  <a:pt x="1092117" y="109808"/>
                  <a:pt x="1087309" y="104828"/>
                  <a:pt x="1080911" y="104828"/>
                </a:cubicBezTo>
                <a:close/>
                <a:moveTo>
                  <a:pt x="695451" y="37569"/>
                </a:moveTo>
                <a:cubicBezTo>
                  <a:pt x="685687" y="37569"/>
                  <a:pt x="677359" y="44637"/>
                  <a:pt x="673521" y="56514"/>
                </a:cubicBezTo>
                <a:lnTo>
                  <a:pt x="671432" y="39979"/>
                </a:lnTo>
                <a:lnTo>
                  <a:pt x="649351" y="39979"/>
                </a:lnTo>
                <a:lnTo>
                  <a:pt x="649351" y="125218"/>
                </a:lnTo>
                <a:lnTo>
                  <a:pt x="674642" y="125218"/>
                </a:lnTo>
                <a:lnTo>
                  <a:pt x="674642" y="83003"/>
                </a:lnTo>
                <a:cubicBezTo>
                  <a:pt x="677359" y="70002"/>
                  <a:pt x="681680" y="62134"/>
                  <a:pt x="692250" y="62134"/>
                </a:cubicBezTo>
                <a:cubicBezTo>
                  <a:pt x="695128" y="62134"/>
                  <a:pt x="697208" y="62610"/>
                  <a:pt x="699933" y="63258"/>
                </a:cubicBezTo>
                <a:lnTo>
                  <a:pt x="703932" y="38693"/>
                </a:lnTo>
                <a:cubicBezTo>
                  <a:pt x="701216" y="37893"/>
                  <a:pt x="698651" y="37569"/>
                  <a:pt x="695451" y="37569"/>
                </a:cubicBezTo>
                <a:close/>
              </a:path>
            </a:pathLst>
          </a:custGeom>
          <a:solidFill>
            <a:schemeClr val="bg1"/>
          </a:solidFill>
          <a:ln w="9442" cap="flat">
            <a:noFill/>
            <a:prstDash val="solid"/>
            <a:miter/>
          </a:ln>
        </p:spPr>
        <p:txBody>
          <a:bodyPr rtlCol="0" anchor="ctr"/>
          <a:lstStyle/>
          <a:p>
            <a:endParaRPr lang="en-US"/>
          </a:p>
        </p:txBody>
      </p:sp>
    </p:spTree>
    <p:extLst>
      <p:ext uri="{BB962C8B-B14F-4D97-AF65-F5344CB8AC3E}">
        <p14:creationId xmlns:p14="http://schemas.microsoft.com/office/powerpoint/2010/main" val="27986111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sv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7.xml"/><Relationship Id="rId13" Type="http://schemas.openxmlformats.org/officeDocument/2006/relationships/image" Target="../media/image6.png"/><Relationship Id="rId3" Type="http://schemas.openxmlformats.org/officeDocument/2006/relationships/slideLayout" Target="../slideLayouts/slideLayout32.xml"/><Relationship Id="rId7" Type="http://schemas.openxmlformats.org/officeDocument/2006/relationships/slideLayout" Target="../slideLayouts/slideLayout36.xml"/><Relationship Id="rId12" Type="http://schemas.openxmlformats.org/officeDocument/2006/relationships/image" Target="../media/image4.svg"/><Relationship Id="rId2" Type="http://schemas.openxmlformats.org/officeDocument/2006/relationships/slideLayout" Target="../slideLayouts/slideLayout31.xml"/><Relationship Id="rId1" Type="http://schemas.openxmlformats.org/officeDocument/2006/relationships/slideLayout" Target="../slideLayouts/slideLayout30.xml"/><Relationship Id="rId6" Type="http://schemas.openxmlformats.org/officeDocument/2006/relationships/slideLayout" Target="../slideLayouts/slideLayout35.xml"/><Relationship Id="rId11" Type="http://schemas.openxmlformats.org/officeDocument/2006/relationships/theme" Target="../theme/theme2.xml"/><Relationship Id="rId5" Type="http://schemas.openxmlformats.org/officeDocument/2006/relationships/slideLayout" Target="../slideLayouts/slideLayout34.xml"/><Relationship Id="rId10" Type="http://schemas.openxmlformats.org/officeDocument/2006/relationships/slideLayout" Target="../slideLayouts/slideLayout39.xml"/><Relationship Id="rId4" Type="http://schemas.openxmlformats.org/officeDocument/2006/relationships/slideLayout" Target="../slideLayouts/slideLayout33.xml"/><Relationship Id="rId9" Type="http://schemas.openxmlformats.org/officeDocument/2006/relationships/slideLayout" Target="../slideLayouts/slideLayout38.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7.xml"/><Relationship Id="rId13" Type="http://schemas.openxmlformats.org/officeDocument/2006/relationships/slideLayout" Target="../slideLayouts/slideLayout52.xml"/><Relationship Id="rId3" Type="http://schemas.openxmlformats.org/officeDocument/2006/relationships/slideLayout" Target="../slideLayouts/slideLayout42.xml"/><Relationship Id="rId7" Type="http://schemas.openxmlformats.org/officeDocument/2006/relationships/slideLayout" Target="../slideLayouts/slideLayout46.xml"/><Relationship Id="rId12" Type="http://schemas.openxmlformats.org/officeDocument/2006/relationships/slideLayout" Target="../slideLayouts/slideLayout51.xml"/><Relationship Id="rId2" Type="http://schemas.openxmlformats.org/officeDocument/2006/relationships/slideLayout" Target="../slideLayouts/slideLayout41.xml"/><Relationship Id="rId1" Type="http://schemas.openxmlformats.org/officeDocument/2006/relationships/slideLayout" Target="../slideLayouts/slideLayout40.xml"/><Relationship Id="rId6" Type="http://schemas.openxmlformats.org/officeDocument/2006/relationships/slideLayout" Target="../slideLayouts/slideLayout45.xml"/><Relationship Id="rId11" Type="http://schemas.openxmlformats.org/officeDocument/2006/relationships/slideLayout" Target="../slideLayouts/slideLayout50.xml"/><Relationship Id="rId5" Type="http://schemas.openxmlformats.org/officeDocument/2006/relationships/slideLayout" Target="../slideLayouts/slideLayout44.xml"/><Relationship Id="rId15" Type="http://schemas.openxmlformats.org/officeDocument/2006/relationships/image" Target="../media/image12.svg"/><Relationship Id="rId10" Type="http://schemas.openxmlformats.org/officeDocument/2006/relationships/slideLayout" Target="../slideLayouts/slideLayout49.xml"/><Relationship Id="rId4" Type="http://schemas.openxmlformats.org/officeDocument/2006/relationships/slideLayout" Target="../slideLayouts/slideLayout43.xml"/><Relationship Id="rId9" Type="http://schemas.openxmlformats.org/officeDocument/2006/relationships/slideLayout" Target="../slideLayouts/slideLayout48.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238501" y="1388582"/>
            <a:ext cx="8580301" cy="1744067"/>
          </a:xfrm>
          <a:prstGeom prst="rect">
            <a:avLst/>
          </a:prstGeom>
        </p:spPr>
        <p:txBody>
          <a:bodyPr vert="horz" lIns="182880" tIns="0" rIns="0" bIns="0" rtlCol="0">
            <a:spAutoFit/>
          </a:bodyPr>
          <a:lstStyle/>
          <a:p>
            <a:pPr marL="142875" marR="0" lvl="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Click to edit Master text styles</a:t>
            </a:r>
          </a:p>
          <a:p>
            <a:pPr marL="142875" marR="0" lvl="1"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Second level</a:t>
            </a:r>
          </a:p>
          <a:p>
            <a:pPr marL="142875" marR="0" lvl="2"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Third level</a:t>
            </a:r>
          </a:p>
          <a:p>
            <a:pPr marL="142875" marR="0" lvl="3"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Fourth level</a:t>
            </a:r>
          </a:p>
          <a:p>
            <a:pPr marL="142875" marR="0" lvl="4"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a:pPr>
            <a:r>
              <a:rPr kumimoji="0" lang="en-US" sz="1800" b="0" i="0" u="none" strike="noStrike" kern="1200" cap="none" spc="0" normalizeH="0" baseline="0" noProof="0" dirty="0">
                <a:ln>
                  <a:noFill/>
                </a:ln>
                <a:solidFill>
                  <a:srgbClr val="000000"/>
                </a:solidFill>
                <a:effectLst/>
                <a:uLnTx/>
                <a:uFillTx/>
                <a:latin typeface="+mn-lt"/>
                <a:ea typeface="+mn-ea"/>
                <a:cs typeface="+mn-cs"/>
              </a:rPr>
              <a:t>Fifth level</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31"/>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grpSp>
        <p:nvGrpSpPr>
          <p:cNvPr id="6" name="Group 5">
            <a:extLst>
              <a:ext uri="{FF2B5EF4-FFF2-40B4-BE49-F238E27FC236}">
                <a16:creationId xmlns:a16="http://schemas.microsoft.com/office/drawing/2014/main" id="{7826DB11-539A-2D54-6832-3A322D0E5C56}"/>
              </a:ext>
            </a:extLst>
          </p:cNvPr>
          <p:cNvGrpSpPr/>
          <p:nvPr userDrawn="1"/>
        </p:nvGrpSpPr>
        <p:grpSpPr>
          <a:xfrm>
            <a:off x="0" y="-2403"/>
            <a:ext cx="12667343" cy="1099683"/>
            <a:chOff x="0" y="-2403"/>
            <a:chExt cx="12667343" cy="1099683"/>
          </a:xfrm>
        </p:grpSpPr>
        <p:sp>
          <p:nvSpPr>
            <p:cNvPr id="4" name="Rectangle 3">
              <a:extLst>
                <a:ext uri="{FF2B5EF4-FFF2-40B4-BE49-F238E27FC236}">
                  <a16:creationId xmlns:a16="http://schemas.microsoft.com/office/drawing/2014/main" id="{12682853-E800-7A37-5627-1599E2474ACF}"/>
                </a:ext>
              </a:extLst>
            </p:cNvPr>
            <p:cNvSpPr/>
            <p:nvPr userDrawn="1"/>
          </p:nvSpPr>
          <p:spPr>
            <a:xfrm>
              <a:off x="0" y="0"/>
              <a:ext cx="12192000" cy="109728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dirty="0"/>
            </a:p>
          </p:txBody>
        </p:sp>
        <p:pic>
          <p:nvPicPr>
            <p:cNvPr id="5" name="Picture 4">
              <a:extLst>
                <a:ext uri="{FF2B5EF4-FFF2-40B4-BE49-F238E27FC236}">
                  <a16:creationId xmlns:a16="http://schemas.microsoft.com/office/drawing/2014/main" id="{8010F62B-25DD-FC98-E2C3-00B9BDF5989B}"/>
                </a:ext>
              </a:extLst>
            </p:cNvPr>
            <p:cNvPicPr>
              <a:picLocks noChangeAspect="1"/>
            </p:cNvPicPr>
            <p:nvPr userDrawn="1"/>
          </p:nvPicPr>
          <p:blipFill rotWithShape="1">
            <a:blip r:embed="rId32" cstate="screen">
              <a:extLst>
                <a:ext uri="{28A0092B-C50C-407E-A947-70E740481C1C}">
                  <a14:useLocalDpi xmlns:a14="http://schemas.microsoft.com/office/drawing/2010/main"/>
                </a:ext>
              </a:extLst>
            </a:blip>
            <a:srcRect/>
            <a:stretch/>
          </p:blipFill>
          <p:spPr>
            <a:xfrm>
              <a:off x="4087042" y="-2403"/>
              <a:ext cx="8580301" cy="1097280"/>
            </a:xfrm>
            <a:prstGeom prst="rect">
              <a:avLst/>
            </a:prstGeom>
          </p:spPr>
        </p:pic>
      </p:grpSp>
      <p:sp>
        <p:nvSpPr>
          <p:cNvPr id="2" name="Title Placeholder 1"/>
          <p:cNvSpPr>
            <a:spLocks noGrp="1"/>
          </p:cNvSpPr>
          <p:nvPr>
            <p:ph type="title"/>
          </p:nvPr>
        </p:nvSpPr>
        <p:spPr>
          <a:xfrm>
            <a:off x="334497" y="268589"/>
            <a:ext cx="6147946" cy="484043"/>
          </a:xfrm>
          <a:prstGeom prst="rect">
            <a:avLst/>
          </a:prstGeom>
          <a:ln w="12700">
            <a:noFill/>
          </a:ln>
        </p:spPr>
        <p:txBody>
          <a:bodyPr vert="horz" wrap="square" lIns="0" tIns="0" rIns="0" bIns="0" rtlCol="0" anchor="t" anchorCtr="0">
            <a:spAutoFit/>
          </a:bodyPr>
          <a:lstStyle/>
          <a:p>
            <a:r>
              <a:rPr lang="en-US" dirty="0"/>
              <a:t>Click to edit Master title style</a:t>
            </a:r>
          </a:p>
        </p:txBody>
      </p:sp>
    </p:spTree>
    <p:extLst>
      <p:ext uri="{BB962C8B-B14F-4D97-AF65-F5344CB8AC3E}">
        <p14:creationId xmlns:p14="http://schemas.microsoft.com/office/powerpoint/2010/main" val="605910522"/>
      </p:ext>
    </p:extLst>
  </p:cSld>
  <p:clrMap bg1="lt1" tx1="dk1" bg2="lt2" tx2="dk2" accent1="accent1" accent2="accent2" accent3="accent3" accent4="accent4" accent5="accent5" accent6="accent6" hlink="hlink" folHlink="folHlink"/>
  <p:sldLayoutIdLst>
    <p:sldLayoutId id="2147484004" r:id="rId1"/>
    <p:sldLayoutId id="2147483873" r:id="rId2"/>
    <p:sldLayoutId id="2147483843" r:id="rId3"/>
    <p:sldLayoutId id="2147483828" r:id="rId4"/>
    <p:sldLayoutId id="2147484003" r:id="rId5"/>
    <p:sldLayoutId id="2147483989" r:id="rId6"/>
    <p:sldLayoutId id="2147483817" r:id="rId7"/>
    <p:sldLayoutId id="2147483818" r:id="rId8"/>
    <p:sldLayoutId id="2147483819" r:id="rId9"/>
    <p:sldLayoutId id="2147483820" r:id="rId10"/>
    <p:sldLayoutId id="2147483829" r:id="rId11"/>
    <p:sldLayoutId id="2147483821" r:id="rId12"/>
    <p:sldLayoutId id="2147483822" r:id="rId13"/>
    <p:sldLayoutId id="2147483874" r:id="rId14"/>
    <p:sldLayoutId id="2147483823" r:id="rId15"/>
    <p:sldLayoutId id="2147483866" r:id="rId16"/>
    <p:sldLayoutId id="2147483844" r:id="rId17"/>
    <p:sldLayoutId id="2147483990" r:id="rId18"/>
    <p:sldLayoutId id="2147483991" r:id="rId19"/>
    <p:sldLayoutId id="2147483853" r:id="rId20"/>
    <p:sldLayoutId id="2147483849" r:id="rId21"/>
    <p:sldLayoutId id="2147483996" r:id="rId22"/>
    <p:sldLayoutId id="2147483851" r:id="rId23"/>
    <p:sldLayoutId id="2147483995" r:id="rId24"/>
    <p:sldLayoutId id="2147483854" r:id="rId25"/>
    <p:sldLayoutId id="2147483997" r:id="rId26"/>
    <p:sldLayoutId id="2147483855" r:id="rId27"/>
    <p:sldLayoutId id="2147483856" r:id="rId28"/>
    <p:sldLayoutId id="2147483999" r:id="rId29"/>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800" kern="1200">
          <a:ln>
            <a:noFill/>
          </a:ln>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4497" y="268589"/>
            <a:ext cx="2733169" cy="1531053"/>
          </a:xfrm>
          <a:prstGeom prst="rect">
            <a:avLst/>
          </a:prstGeom>
          <a:ln w="12700">
            <a:noFill/>
          </a:ln>
        </p:spPr>
        <p:txBody>
          <a:bodyPr vert="horz" lIns="0" tIns="0" rIns="0" bIns="0" rtlCol="0" anchor="t" anchorCtr="0">
            <a:noAutofit/>
          </a:bodyPr>
          <a:lstStyle/>
          <a:p>
            <a:r>
              <a:rPr lang="en-US" dirty="0"/>
              <a:t>Click to edit Master title style</a:t>
            </a:r>
          </a:p>
        </p:txBody>
      </p:sp>
      <p:pic>
        <p:nvPicPr>
          <p:cNvPr id="8" name="Graphic 7">
            <a:extLst>
              <a:ext uri="{FF2B5EF4-FFF2-40B4-BE49-F238E27FC236}">
                <a16:creationId xmlns:a16="http://schemas.microsoft.com/office/drawing/2014/main" id="{C95E05A0-E71F-BF43-B4BD-38F301034068}"/>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2"/>
              </a:ext>
            </a:extLst>
          </a:blip>
          <a:stretch>
            <a:fillRect/>
          </a:stretch>
        </p:blipFill>
        <p:spPr>
          <a:xfrm>
            <a:off x="327905" y="6404039"/>
            <a:ext cx="1143000" cy="354330"/>
          </a:xfrm>
          <a:prstGeom prst="rect">
            <a:avLst/>
          </a:prstGeom>
        </p:spPr>
      </p:pic>
      <p:sp>
        <p:nvSpPr>
          <p:cNvPr id="10" name="Footer Placeholder 4">
            <a:extLst>
              <a:ext uri="{FF2B5EF4-FFF2-40B4-BE49-F238E27FC236}">
                <a16:creationId xmlns:a16="http://schemas.microsoft.com/office/drawing/2014/main" id="{46C91435-26B4-C74A-8BAF-292D956CE0DF}"/>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bg1"/>
                </a:solidFill>
              </a:defRPr>
            </a:lvl1pPr>
          </a:lstStyle>
          <a:p>
            <a:endParaRPr lang="en-US" dirty="0"/>
          </a:p>
        </p:txBody>
      </p:sp>
      <p:sp>
        <p:nvSpPr>
          <p:cNvPr id="11" name="Slide Number Placeholder 5">
            <a:extLst>
              <a:ext uri="{FF2B5EF4-FFF2-40B4-BE49-F238E27FC236}">
                <a16:creationId xmlns:a16="http://schemas.microsoft.com/office/drawing/2014/main" id="{F96E2593-46D0-774F-8813-5D956F8CEA7F}"/>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bg1"/>
                </a:solidFill>
              </a:defRPr>
            </a:lvl1pPr>
          </a:lstStyle>
          <a:p>
            <a:fld id="{762E77F0-FB5B-4E8E-9BC9-34F14560A017}" type="slidenum">
              <a:rPr lang="en-US" smtClean="0"/>
              <a:pPr/>
              <a:t>‹#›</a:t>
            </a:fld>
            <a:endParaRPr lang="en-US" dirty="0"/>
          </a:p>
        </p:txBody>
      </p:sp>
      <p:sp>
        <p:nvSpPr>
          <p:cNvPr id="9" name="Text Placeholder 2">
            <a:extLst>
              <a:ext uri="{FF2B5EF4-FFF2-40B4-BE49-F238E27FC236}">
                <a16:creationId xmlns:a16="http://schemas.microsoft.com/office/drawing/2014/main" id="{8D79F404-BCB4-4942-A594-6B1E63AEBB15}"/>
              </a:ext>
            </a:extLst>
          </p:cNvPr>
          <p:cNvSpPr>
            <a:spLocks noGrp="1"/>
          </p:cNvSpPr>
          <p:nvPr>
            <p:ph type="body" idx="1"/>
          </p:nvPr>
        </p:nvSpPr>
        <p:spPr>
          <a:xfrm>
            <a:off x="3238501" y="312485"/>
            <a:ext cx="8580301" cy="1744067"/>
          </a:xfrm>
          <a:prstGeom prst="rect">
            <a:avLst/>
          </a:prstGeom>
        </p:spPr>
        <p:txBody>
          <a:bodyPr vert="horz" lIns="182880" tIns="0" rIns="0" bIns="0" rtlCol="0">
            <a:sp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101594CF-9E60-FEE9-725B-28644E2BEFC6}"/>
              </a:ext>
            </a:extLst>
          </p:cNvPr>
          <p:cNvPicPr>
            <a:picLocks noChangeAspect="1"/>
          </p:cNvPicPr>
          <p:nvPr userDrawn="1"/>
        </p:nvPicPr>
        <p:blipFill>
          <a:blip r:embed="rId13"/>
          <a:stretch>
            <a:fillRect/>
          </a:stretch>
        </p:blipFill>
        <p:spPr>
          <a:xfrm>
            <a:off x="0" y="4745736"/>
            <a:ext cx="3226194" cy="2112264"/>
          </a:xfrm>
          <a:prstGeom prst="rect">
            <a:avLst/>
          </a:prstGeom>
        </p:spPr>
      </p:pic>
    </p:spTree>
    <p:extLst>
      <p:ext uri="{BB962C8B-B14F-4D97-AF65-F5344CB8AC3E}">
        <p14:creationId xmlns:p14="http://schemas.microsoft.com/office/powerpoint/2010/main" val="1305847445"/>
      </p:ext>
    </p:extLst>
  </p:cSld>
  <p:clrMap bg1="lt1" tx1="dk1" bg2="lt2" tx2="dk2" accent1="accent1" accent2="accent2" accent3="accent3" accent4="accent4" accent5="accent5" accent6="accent6" hlink="hlink" folHlink="folHlink"/>
  <p:sldLayoutIdLst>
    <p:sldLayoutId id="2147483945" r:id="rId1"/>
    <p:sldLayoutId id="2147483946" r:id="rId2"/>
    <p:sldLayoutId id="2147483947" r:id="rId3"/>
    <p:sldLayoutId id="2147483948" r:id="rId4"/>
    <p:sldLayoutId id="2147483949" r:id="rId5"/>
    <p:sldLayoutId id="2147483950" r:id="rId6"/>
    <p:sldLayoutId id="2147483951" r:id="rId7"/>
    <p:sldLayoutId id="2147483952" r:id="rId8"/>
    <p:sldLayoutId id="2147483953" r:id="rId9"/>
    <p:sldLayoutId id="2147483954" r:id="rId10"/>
  </p:sldLayoutIdLst>
  <p:hf hdr="0" ftr="0" dt="0"/>
  <p:txStyles>
    <p:titleStyle>
      <a:lvl1pPr algn="l" defTabSz="914400" rtl="0" eaLnBrk="1" fontAlgn="base" latinLnBrk="0" hangingPunct="1">
        <a:lnSpc>
          <a:spcPct val="110000"/>
        </a:lnSpc>
        <a:spcBef>
          <a:spcPct val="0"/>
        </a:spcBef>
        <a:buNone/>
        <a:defRPr sz="3100" kern="1200">
          <a:ln w="9525">
            <a:noFill/>
          </a:ln>
          <a:solidFill>
            <a:schemeClr val="bg1"/>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chemeClr val="bg1"/>
        </a:buClr>
        <a:buSzTx/>
        <a:buFont typeface="Arial" panose="020B0604020202020204" pitchFamily="34" charset="0"/>
        <a:buChar char="•"/>
        <a:tabLst/>
        <a:defRPr sz="1800" kern="1200">
          <a:ln>
            <a:noFill/>
          </a:ln>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52" userDrawn="1">
          <p15:clr>
            <a:srgbClr val="000000"/>
          </p15:clr>
        </p15:guide>
        <p15:guide id="5" orient="horz" pos="228" userDrawn="1">
          <p15:clr>
            <a:srgbClr val="000000"/>
          </p15:clr>
        </p15:guide>
        <p15:guide id="8" orient="horz" pos="1200" userDrawn="1">
          <p15:clr>
            <a:srgbClr val="000000"/>
          </p15:clr>
        </p15:guide>
        <p15:guide id="11" orient="horz" pos="2160" userDrawn="1">
          <p15:clr>
            <a:srgbClr val="000000"/>
          </p15:clr>
        </p15:guide>
        <p15:guide id="14" orient="horz" pos="4092" userDrawn="1">
          <p15:clr>
            <a:srgbClr val="000000"/>
          </p15:clr>
        </p15:guide>
        <p15:guide id="45" orient="horz" pos="3120" userDrawn="1">
          <p15:clr>
            <a:srgbClr val="000000"/>
          </p15:clr>
        </p15:guide>
        <p15:guide id="52" pos="2040" userDrawn="1">
          <p15:clr>
            <a:srgbClr val="000000"/>
          </p15:clr>
        </p15:guide>
        <p15:guide id="55" pos="3840" userDrawn="1">
          <p15:clr>
            <a:srgbClr val="000000"/>
          </p15:clr>
        </p15:guide>
        <p15:guide id="58" pos="5652" userDrawn="1">
          <p15:clr>
            <a:srgbClr val="000000"/>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7531EE93-37B4-654A-9329-82DE10157B02}"/>
              </a:ext>
            </a:extLst>
          </p:cNvPr>
          <p:cNvPicPr>
            <a:picLocks noChangeAspect="1"/>
          </p:cNvPicPr>
          <p:nvPr userDrawn="1"/>
        </p:nvPicPr>
        <p:blipFill>
          <a:blip cstate="screen">
            <a:extLst>
              <a:ext uri="{28A0092B-C50C-407E-A947-70E740481C1C}">
                <a14:useLocalDpi xmlns:a14="http://schemas.microsoft.com/office/drawing/2010/main"/>
              </a:ext>
              <a:ext uri="{96DAC541-7B7A-43D3-8B79-37D633B846F1}">
                <asvg:svgBlip xmlns:asvg="http://schemas.microsoft.com/office/drawing/2016/SVG/main" r:embed="rId15"/>
              </a:ext>
            </a:extLst>
          </a:blip>
          <a:stretch>
            <a:fillRect/>
          </a:stretch>
        </p:blipFill>
        <p:spPr>
          <a:xfrm>
            <a:off x="327905" y="6404039"/>
            <a:ext cx="1143000" cy="354330"/>
          </a:xfrm>
          <a:prstGeom prst="rect">
            <a:avLst/>
          </a:prstGeom>
        </p:spPr>
      </p:pic>
      <p:sp>
        <p:nvSpPr>
          <p:cNvPr id="8" name="Footer Placeholder 4">
            <a:extLst>
              <a:ext uri="{FF2B5EF4-FFF2-40B4-BE49-F238E27FC236}">
                <a16:creationId xmlns:a16="http://schemas.microsoft.com/office/drawing/2014/main" id="{82EB649D-E1E1-3E40-AA99-F9D272BD05A4}"/>
              </a:ext>
            </a:extLst>
          </p:cNvPr>
          <p:cNvSpPr>
            <a:spLocks noGrp="1"/>
          </p:cNvSpPr>
          <p:nvPr>
            <p:ph type="ftr" sz="quarter" idx="3"/>
          </p:nvPr>
        </p:nvSpPr>
        <p:spPr>
          <a:xfrm>
            <a:off x="6943725" y="6635750"/>
            <a:ext cx="4073182" cy="107722"/>
          </a:xfrm>
          <a:prstGeom prst="rect">
            <a:avLst/>
          </a:prstGeom>
        </p:spPr>
        <p:txBody>
          <a:bodyPr vert="horz" wrap="square" lIns="0" tIns="0" rIns="0" bIns="0" rtlCol="0" anchor="t" anchorCtr="0">
            <a:spAutoFit/>
          </a:bodyPr>
          <a:lstStyle>
            <a:lvl1pPr algn="r">
              <a:defRPr sz="700">
                <a:solidFill>
                  <a:schemeClr val="tx1"/>
                </a:solidFill>
              </a:defRPr>
            </a:lvl1pPr>
          </a:lstStyle>
          <a:p>
            <a:endParaRPr lang="en-US" dirty="0"/>
          </a:p>
        </p:txBody>
      </p:sp>
      <p:sp>
        <p:nvSpPr>
          <p:cNvPr id="10" name="Slide Number Placeholder 5">
            <a:extLst>
              <a:ext uri="{FF2B5EF4-FFF2-40B4-BE49-F238E27FC236}">
                <a16:creationId xmlns:a16="http://schemas.microsoft.com/office/drawing/2014/main" id="{0FC022FD-C77A-5448-9A3A-A5A3DCD8302E}"/>
              </a:ext>
            </a:extLst>
          </p:cNvPr>
          <p:cNvSpPr>
            <a:spLocks noGrp="1"/>
          </p:cNvSpPr>
          <p:nvPr>
            <p:ph type="sldNum" sz="quarter" idx="4"/>
          </p:nvPr>
        </p:nvSpPr>
        <p:spPr>
          <a:xfrm>
            <a:off x="11201401" y="6635750"/>
            <a:ext cx="617402" cy="107722"/>
          </a:xfrm>
          <a:prstGeom prst="rect">
            <a:avLst/>
          </a:prstGeom>
        </p:spPr>
        <p:txBody>
          <a:bodyPr vert="horz" lIns="0" tIns="0" rIns="0" bIns="0" rtlCol="0" anchor="t" anchorCtr="0">
            <a:spAutoFit/>
          </a:bodyPr>
          <a:lstStyle>
            <a:lvl1pPr algn="r">
              <a:defRPr sz="700">
                <a:solidFill>
                  <a:schemeClr val="tx1"/>
                </a:solidFill>
              </a:defRPr>
            </a:lvl1pPr>
          </a:lstStyle>
          <a:p>
            <a:fld id="{762E77F0-FB5B-4E8E-9BC9-34F14560A017}" type="slidenum">
              <a:rPr lang="en-US" smtClean="0"/>
              <a:pPr/>
              <a:t>‹#›</a:t>
            </a:fld>
            <a:endParaRPr lang="en-US" dirty="0"/>
          </a:p>
        </p:txBody>
      </p:sp>
    </p:spTree>
    <p:extLst>
      <p:ext uri="{BB962C8B-B14F-4D97-AF65-F5344CB8AC3E}">
        <p14:creationId xmlns:p14="http://schemas.microsoft.com/office/powerpoint/2010/main" val="1244359039"/>
      </p:ext>
    </p:extLst>
  </p:cSld>
  <p:clrMap bg1="lt1" tx1="dk1" bg2="lt2" tx2="dk2" accent1="accent1" accent2="accent2" accent3="accent3" accent4="accent4" accent5="accent5" accent6="accent6" hlink="hlink" folHlink="folHlink"/>
  <p:sldLayoutIdLst>
    <p:sldLayoutId id="2147483832" r:id="rId1"/>
    <p:sldLayoutId id="2147483833" r:id="rId2"/>
    <p:sldLayoutId id="2147483993" r:id="rId3"/>
    <p:sldLayoutId id="2147483994" r:id="rId4"/>
    <p:sldLayoutId id="2147483992" r:id="rId5"/>
    <p:sldLayoutId id="2147483836" r:id="rId6"/>
    <p:sldLayoutId id="2147483940" r:id="rId7"/>
    <p:sldLayoutId id="2147483838" r:id="rId8"/>
    <p:sldLayoutId id="2147483839" r:id="rId9"/>
    <p:sldLayoutId id="2147483840" r:id="rId10"/>
    <p:sldLayoutId id="2147483841" r:id="rId11"/>
    <p:sldLayoutId id="2147483985" r:id="rId12"/>
    <p:sldLayoutId id="2147484005" r:id="rId13"/>
  </p:sldLayoutIdLst>
  <p:hf hdr="0" ftr="0" dt="0"/>
  <p:txStyles>
    <p:titleStyle>
      <a:lvl1pPr algn="l" defTabSz="914400" rtl="0" eaLnBrk="1" fontAlgn="base" latinLnBrk="0" hangingPunct="1">
        <a:lnSpc>
          <a:spcPct val="112000"/>
        </a:lnSpc>
        <a:spcBef>
          <a:spcPct val="0"/>
        </a:spcBef>
        <a:buNone/>
        <a:defRPr lang="en-US" sz="4500" kern="1200" dirty="0">
          <a:ln w="9525">
            <a:noFill/>
          </a:ln>
          <a:solidFill>
            <a:schemeClr val="tx2"/>
          </a:solidFill>
          <a:latin typeface="+mj-lt"/>
          <a:ea typeface="+mj-ea"/>
          <a:cs typeface="+mj-cs"/>
        </a:defRPr>
      </a:lvl1pPr>
    </p:titleStyle>
    <p:bodyStyle>
      <a:lvl1pPr marL="142875" marR="0" indent="-142875"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1pPr>
      <a:lvl2pPr marL="428625" marR="0" indent="-145257"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2pPr>
      <a:lvl3pPr marL="714375" marR="0" indent="-147638"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3pPr>
      <a:lvl4pPr marL="1000125" marR="0" indent="-150019"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4pPr>
      <a:lvl5pPr marL="1285875" marR="0" indent="-152400" algn="l" defTabSz="914400" rtl="0" eaLnBrk="1" fontAlgn="t" latinLnBrk="0" hangingPunct="1">
        <a:lnSpc>
          <a:spcPct val="100000"/>
        </a:lnSpc>
        <a:spcBef>
          <a:spcPts val="0"/>
        </a:spcBef>
        <a:spcAft>
          <a:spcPts val="700"/>
        </a:spcAft>
        <a:buClr>
          <a:srgbClr val="EB0000"/>
        </a:buClr>
        <a:buSzTx/>
        <a:buFont typeface="Arial" panose="020B0604020202020204" pitchFamily="34" charset="0"/>
        <a:buChar char="•"/>
        <a:tabLst/>
        <a:defRPr sz="15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228" userDrawn="1">
          <p15:clr>
            <a:srgbClr val="000000"/>
          </p15:clr>
        </p15:guide>
        <p15:guide id="4" pos="7449" userDrawn="1">
          <p15:clr>
            <a:srgbClr val="000000"/>
          </p15:clr>
        </p15:guide>
        <p15:guide id="5" orient="horz" pos="228" userDrawn="1">
          <p15:clr>
            <a:srgbClr val="000000"/>
          </p15:clr>
        </p15:guide>
        <p15:guide id="11" orient="horz" pos="3120" userDrawn="1">
          <p15:clr>
            <a:srgbClr val="000000"/>
          </p15:clr>
        </p15:guide>
        <p15:guide id="14" orient="horz" pos="4092" userDrawn="1">
          <p15:clr>
            <a:srgbClr val="000000"/>
          </p15:clr>
        </p15:guide>
        <p15:guide id="34" pos="2040" userDrawn="1">
          <p15:clr>
            <a:srgbClr val="000000"/>
          </p15:clr>
        </p15:guide>
        <p15:guide id="36" pos="3840" userDrawn="1">
          <p15:clr>
            <a:srgbClr val="000000"/>
          </p15:clr>
        </p15:guide>
        <p15:guide id="38" pos="5652" userDrawn="1">
          <p15:clr>
            <a:srgbClr val="000000"/>
          </p15:clr>
        </p15:guide>
        <p15:guide id="40" orient="horz" pos="2163" userDrawn="1">
          <p15:clr>
            <a:srgbClr val="000000"/>
          </p15:clr>
        </p15:guide>
        <p15:guide id="41" orient="horz" pos="1201" userDrawn="1">
          <p15:clr>
            <a:srgbClr val="000000"/>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6.xml"/><Relationship Id="rId4" Type="http://schemas.openxmlformats.org/officeDocument/2006/relationships/image" Target="../media/image2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6.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6482542" y="72189"/>
            <a:ext cx="5669280" cy="3239047"/>
          </a:xfrm>
          <a:prstGeom prst="rect">
            <a:avLst/>
          </a:prstGeom>
        </p:spPr>
      </p:pic>
      <p:pic>
        <p:nvPicPr>
          <p:cNvPr id="4" name="Picture 3" descr="image.png"/>
          <p:cNvPicPr>
            <a:picLocks noChangeAspect="1"/>
          </p:cNvPicPr>
          <p:nvPr/>
        </p:nvPicPr>
        <p:blipFill>
          <a:blip r:embed="rId4"/>
          <a:stretch>
            <a:fillRect/>
          </a:stretch>
        </p:blipFill>
        <p:spPr>
          <a:xfrm>
            <a:off x="320040" y="6172200"/>
            <a:ext cx="1051560" cy="325984"/>
          </a:xfrm>
          <a:prstGeom prst="rect">
            <a:avLst/>
          </a:prstGeom>
        </p:spPr>
      </p:pic>
      <p:sp>
        <p:nvSpPr>
          <p:cNvPr id="5" name="TextBox 4"/>
          <p:cNvSpPr txBox="1"/>
          <p:nvPr/>
        </p:nvSpPr>
        <p:spPr>
          <a:xfrm>
            <a:off x="411480" y="1176392"/>
            <a:ext cx="6069676" cy="590931"/>
          </a:xfrm>
          <a:prstGeom prst="rect">
            <a:avLst/>
          </a:prstGeom>
          <a:noFill/>
        </p:spPr>
        <p:txBody>
          <a:bodyPr wrap="square" lIns="27432" tIns="18288" rIns="27432" bIns="18288">
            <a:spAutoFit/>
          </a:bodyPr>
          <a:lstStyle/>
          <a:p>
            <a:r>
              <a:rPr sz="3600" b="0" dirty="0">
                <a:solidFill>
                  <a:srgbClr val="FFFFFF"/>
                </a:solidFill>
                <a:latin typeface="Arial"/>
              </a:rPr>
              <a:t>Cloud Readiness Accelerator</a:t>
            </a:r>
          </a:p>
        </p:txBody>
      </p:sp>
      <p:sp>
        <p:nvSpPr>
          <p:cNvPr id="6" name="TextBox 5"/>
          <p:cNvSpPr txBox="1"/>
          <p:nvPr/>
        </p:nvSpPr>
        <p:spPr>
          <a:xfrm>
            <a:off x="502920" y="2400300"/>
            <a:ext cx="5903219" cy="313932"/>
          </a:xfrm>
          <a:prstGeom prst="rect">
            <a:avLst/>
          </a:prstGeom>
          <a:noFill/>
        </p:spPr>
        <p:txBody>
          <a:bodyPr wrap="none" lIns="27432" tIns="18288" rIns="27432" bIns="18288">
            <a:spAutoFit/>
          </a:bodyPr>
          <a:lstStyle/>
          <a:p>
            <a:r>
              <a:rPr sz="1800" b="0" dirty="0">
                <a:solidFill>
                  <a:srgbClr val="FFFFFF"/>
                </a:solidFill>
                <a:latin typeface="Arial"/>
              </a:rPr>
              <a:t>Reusable Enterprise Multi-Cloud Assessment Framework</a:t>
            </a:r>
          </a:p>
        </p:txBody>
      </p:sp>
      <p:sp>
        <p:nvSpPr>
          <p:cNvPr id="8" name="TextBox 7"/>
          <p:cNvSpPr txBox="1"/>
          <p:nvPr/>
        </p:nvSpPr>
        <p:spPr>
          <a:xfrm>
            <a:off x="502920" y="4026063"/>
            <a:ext cx="2770632" cy="313932"/>
          </a:xfrm>
          <a:prstGeom prst="rect">
            <a:avLst/>
          </a:prstGeom>
          <a:noFill/>
        </p:spPr>
        <p:txBody>
          <a:bodyPr wrap="square" lIns="27432" tIns="18288" rIns="27432" bIns="18288">
            <a:spAutoFit/>
          </a:bodyPr>
          <a:lstStyle/>
          <a:p>
            <a:r>
              <a:rPr sz="900" b="0" dirty="0">
                <a:solidFill>
                  <a:srgbClr val="FFFFFF"/>
                </a:solidFill>
                <a:latin typeface="Arial"/>
              </a:rPr>
              <a:t>Upendra Kumar
Delivery Architect</a:t>
            </a:r>
          </a:p>
        </p:txBody>
      </p:sp>
      <p:sp>
        <p:nvSpPr>
          <p:cNvPr id="9" name="TextBox 8"/>
          <p:cNvSpPr txBox="1"/>
          <p:nvPr/>
        </p:nvSpPr>
        <p:spPr>
          <a:xfrm>
            <a:off x="7980218" y="5320145"/>
            <a:ext cx="2581102" cy="652486"/>
          </a:xfrm>
          <a:prstGeom prst="rect">
            <a:avLst/>
          </a:prstGeom>
          <a:noFill/>
        </p:spPr>
        <p:txBody>
          <a:bodyPr wrap="square" lIns="27432" tIns="18288" rIns="27432" bIns="18288">
            <a:spAutoFit/>
          </a:bodyPr>
          <a:lstStyle/>
          <a:p>
            <a:pPr algn="r"/>
            <a:r>
              <a:rPr sz="2000" b="1" dirty="0">
                <a:solidFill>
                  <a:srgbClr val="FFFFFF"/>
                </a:solidFill>
                <a:latin typeface="Arial"/>
              </a:rPr>
              <a:t>Customer First.
Cloud First.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Executive Summary</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A repeatable, provider-neutral delivery framework for cloud readiness assessment and migration planning</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943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E11424"/>
                </a:solidFill>
                <a:latin typeface="Arial"/>
              </a:rPr>
              <a:t>60%</a:t>
            </a:r>
          </a:p>
          <a:p>
            <a:pPr algn="ctr"/>
            <a:r>
              <a:rPr sz="750" dirty="0">
                <a:solidFill>
                  <a:srgbClr val="5F5F5F"/>
                </a:solidFill>
                <a:latin typeface="Arial"/>
              </a:rPr>
              <a:t>Faster delivery</a:t>
            </a:r>
          </a:p>
        </p:txBody>
      </p:sp>
      <p:sp>
        <p:nvSpPr>
          <p:cNvPr id="6" name="Rounded Rectangle 5"/>
          <p:cNvSpPr/>
          <p:nvPr/>
        </p:nvSpPr>
        <p:spPr>
          <a:xfrm>
            <a:off x="26517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24+</a:t>
            </a:r>
          </a:p>
          <a:p>
            <a:pPr algn="ctr"/>
            <a:r>
              <a:rPr sz="750">
                <a:solidFill>
                  <a:srgbClr val="5F5F5F"/>
                </a:solidFill>
                <a:latin typeface="Arial"/>
              </a:rPr>
              <a:t>Reusable assets</a:t>
            </a:r>
          </a:p>
        </p:txBody>
      </p:sp>
      <p:sp>
        <p:nvSpPr>
          <p:cNvPr id="7" name="Rounded Rectangle 6"/>
          <p:cNvSpPr/>
          <p:nvPr/>
        </p:nvSpPr>
        <p:spPr>
          <a:xfrm>
            <a:off x="47091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009AAE"/>
                </a:solidFill>
                <a:latin typeface="Arial"/>
              </a:rPr>
              <a:t>3</a:t>
            </a:r>
          </a:p>
          <a:p>
            <a:pPr algn="ctr"/>
            <a:r>
              <a:rPr sz="750" dirty="0">
                <a:solidFill>
                  <a:srgbClr val="5F5F5F"/>
                </a:solidFill>
                <a:latin typeface="Arial"/>
              </a:rPr>
              <a:t>Cloud platforms</a:t>
            </a:r>
          </a:p>
        </p:txBody>
      </p:sp>
      <p:sp>
        <p:nvSpPr>
          <p:cNvPr id="8" name="Rounded Rectangle 7"/>
          <p:cNvSpPr/>
          <p:nvPr/>
        </p:nvSpPr>
        <p:spPr>
          <a:xfrm>
            <a:off x="67665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0062AE"/>
                </a:solidFill>
                <a:latin typeface="Arial"/>
              </a:rPr>
              <a:t>4</a:t>
            </a:r>
          </a:p>
          <a:p>
            <a:pPr algn="ctr"/>
            <a:r>
              <a:rPr sz="750" dirty="0">
                <a:solidFill>
                  <a:srgbClr val="5F5F5F"/>
                </a:solidFill>
                <a:latin typeface="Arial"/>
              </a:rPr>
              <a:t>Assessment phases</a:t>
            </a:r>
          </a:p>
        </p:txBody>
      </p:sp>
      <p:sp>
        <p:nvSpPr>
          <p:cNvPr id="9" name="Rounded Rectangle 8"/>
          <p:cNvSpPr/>
          <p:nvPr/>
        </p:nvSpPr>
        <p:spPr>
          <a:xfrm>
            <a:off x="8823960" y="132588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179467"/>
                </a:solidFill>
                <a:latin typeface="Arial"/>
              </a:rPr>
              <a:t>100%</a:t>
            </a:r>
          </a:p>
          <a:p>
            <a:pPr algn="ctr"/>
            <a:r>
              <a:rPr sz="750" dirty="0">
                <a:solidFill>
                  <a:srgbClr val="5F5F5F"/>
                </a:solidFill>
                <a:latin typeface="Arial"/>
              </a:rPr>
              <a:t>Provider neutral</a:t>
            </a:r>
          </a:p>
        </p:txBody>
      </p:sp>
      <p:sp>
        <p:nvSpPr>
          <p:cNvPr id="10" name="Rounded Rectangle 9"/>
          <p:cNvSpPr/>
          <p:nvPr/>
        </p:nvSpPr>
        <p:spPr>
          <a:xfrm>
            <a:off x="594360" y="2423160"/>
            <a:ext cx="2880360" cy="105156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dirty="0">
                <a:solidFill>
                  <a:srgbClr val="5C2684"/>
                </a:solidFill>
                <a:latin typeface="Arial"/>
              </a:rPr>
              <a:t>Delivery advantage</a:t>
            </a:r>
          </a:p>
          <a:p>
            <a:pPr>
              <a:spcBef>
                <a:spcPts val="400"/>
              </a:spcBef>
            </a:pPr>
            <a:r>
              <a:rPr sz="900" dirty="0">
                <a:solidFill>
                  <a:srgbClr val="2D2D2D"/>
                </a:solidFill>
                <a:latin typeface="Arial"/>
              </a:rPr>
              <a:t>Standardized methodology, templates, and scoring reduce setup effort and improve assessment consistency.</a:t>
            </a:r>
          </a:p>
        </p:txBody>
      </p:sp>
      <p:sp>
        <p:nvSpPr>
          <p:cNvPr id="11" name="Rounded Rectangle 10"/>
          <p:cNvSpPr/>
          <p:nvPr/>
        </p:nvSpPr>
        <p:spPr>
          <a:xfrm>
            <a:off x="3794760" y="2423160"/>
            <a:ext cx="2880360" cy="105156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dirty="0">
                <a:solidFill>
                  <a:srgbClr val="5C2684"/>
                </a:solidFill>
                <a:latin typeface="Arial"/>
              </a:rPr>
              <a:t>Commercial clarity</a:t>
            </a:r>
          </a:p>
          <a:p>
            <a:pPr>
              <a:spcBef>
                <a:spcPts val="400"/>
              </a:spcBef>
            </a:pPr>
            <a:r>
              <a:rPr sz="900" dirty="0">
                <a:solidFill>
                  <a:srgbClr val="2D2D2D"/>
                </a:solidFill>
                <a:latin typeface="Arial"/>
              </a:rPr>
              <a:t>Multi-cloud comparison, TCO modeling, and readiness scoring support fact-based decisions.</a:t>
            </a:r>
          </a:p>
        </p:txBody>
      </p:sp>
      <p:sp>
        <p:nvSpPr>
          <p:cNvPr id="12" name="Rounded Rectangle 11"/>
          <p:cNvSpPr/>
          <p:nvPr/>
        </p:nvSpPr>
        <p:spPr>
          <a:xfrm>
            <a:off x="6995160" y="2423160"/>
            <a:ext cx="2880360" cy="105156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Practice scalability</a:t>
            </a:r>
          </a:p>
          <a:p>
            <a:pPr>
              <a:spcBef>
                <a:spcPts val="400"/>
              </a:spcBef>
            </a:pPr>
            <a:r>
              <a:rPr sz="900">
                <a:solidFill>
                  <a:srgbClr val="2D2D2D"/>
                </a:solidFill>
                <a:latin typeface="Arial"/>
              </a:rPr>
              <a:t>Reusable assets help multiple teams run consistent assessments without reinventing the approach.</a:t>
            </a:r>
          </a:p>
        </p:txBody>
      </p:sp>
      <p:sp>
        <p:nvSpPr>
          <p:cNvPr id="13" name="TextBox 12"/>
          <p:cNvSpPr txBox="1"/>
          <p:nvPr/>
        </p:nvSpPr>
        <p:spPr>
          <a:xfrm>
            <a:off x="0" y="3886200"/>
            <a:ext cx="12192000" cy="896670"/>
          </a:xfrm>
          <a:prstGeom prst="rect">
            <a:avLst/>
          </a:prstGeom>
          <a:noFill/>
        </p:spPr>
        <p:txBody>
          <a:bodyPr wrap="square" lIns="45720" tIns="18288" rIns="45720" bIns="18288">
            <a:spAutoFit/>
          </a:bodyPr>
          <a:lstStyle/>
          <a:p>
            <a:pPr>
              <a:spcAft>
                <a:spcPts val="0"/>
              </a:spcAft>
            </a:pPr>
            <a:r>
              <a:rPr sz="1300" b="1" dirty="0">
                <a:solidFill>
                  <a:srgbClr val="5C2684"/>
                </a:solidFill>
                <a:latin typeface="Arial"/>
              </a:rPr>
              <a:t>• </a:t>
            </a:r>
            <a:r>
              <a:rPr sz="1400" dirty="0">
                <a:solidFill>
                  <a:srgbClr val="2D2D2D"/>
                </a:solidFill>
                <a:latin typeface="Arial"/>
              </a:rPr>
              <a:t>Framework standardizes how Rackspace evaluates enterprise estates, compares cloud options, and converts discovery into actionable migration </a:t>
            </a:r>
            <a:r>
              <a:rPr lang="en-IN" sz="1400" dirty="0">
                <a:solidFill>
                  <a:srgbClr val="2D2D2D"/>
                </a:solidFill>
                <a:latin typeface="Arial"/>
              </a:rPr>
              <a:t>  </a:t>
            </a:r>
            <a:r>
              <a:rPr sz="1400" dirty="0">
                <a:solidFill>
                  <a:srgbClr val="2D2D2D"/>
                </a:solidFill>
                <a:latin typeface="Arial"/>
              </a:rPr>
              <a:t>roadmaps.</a:t>
            </a:r>
          </a:p>
          <a:p>
            <a:pPr>
              <a:spcAft>
                <a:spcPts val="0"/>
              </a:spcAft>
            </a:pPr>
            <a:r>
              <a:rPr sz="1400" b="1" dirty="0">
                <a:solidFill>
                  <a:srgbClr val="5C2684"/>
                </a:solidFill>
                <a:latin typeface="Arial"/>
              </a:rPr>
              <a:t>• </a:t>
            </a:r>
            <a:r>
              <a:rPr sz="1400" dirty="0">
                <a:solidFill>
                  <a:srgbClr val="2D2D2D"/>
                </a:solidFill>
                <a:latin typeface="Arial"/>
              </a:rPr>
              <a:t>It is designed for client-ready delivery, not internal-only analysis.</a:t>
            </a:r>
          </a:p>
          <a:p>
            <a:pPr>
              <a:spcAft>
                <a:spcPts val="0"/>
              </a:spcAft>
            </a:pPr>
            <a:r>
              <a:rPr sz="1400" b="1" dirty="0">
                <a:solidFill>
                  <a:srgbClr val="5C2684"/>
                </a:solidFill>
                <a:latin typeface="Arial"/>
              </a:rPr>
              <a:t>• </a:t>
            </a:r>
            <a:r>
              <a:rPr sz="1400" dirty="0">
                <a:solidFill>
                  <a:srgbClr val="2D2D2D"/>
                </a:solidFill>
                <a:latin typeface="Arial"/>
              </a:rPr>
              <a:t>DMG Media proof point demonstrates production use at meaningful enterprise scale.</a:t>
            </a:r>
          </a:p>
        </p:txBody>
      </p:sp>
      <p:sp>
        <p:nvSpPr>
          <p:cNvPr id="14" name="Rounded Rectangle 13"/>
          <p:cNvSpPr/>
          <p:nvPr/>
        </p:nvSpPr>
        <p:spPr>
          <a:xfrm>
            <a:off x="329185" y="5349240"/>
            <a:ext cx="11488742" cy="758952"/>
          </a:xfrm>
          <a:prstGeom prst="roundRect">
            <a:avLst/>
          </a:prstGeom>
          <a:solidFill>
            <a:srgbClr val="F5FAFB"/>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2000" b="1" dirty="0">
                <a:solidFill>
                  <a:srgbClr val="5C2684"/>
                </a:solidFill>
                <a:latin typeface="Arial"/>
              </a:rPr>
              <a:t>Executive outcome: a structured, evidence-led path from discovery to migration planning.</a:t>
            </a:r>
          </a:p>
        </p:txBody>
      </p:sp>
      <p:sp>
        <p:nvSpPr>
          <p:cNvPr id="15" name="TextBox 14"/>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6" name="TextBox 15"/>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Why This Framework Was Created</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Traditional cloud readiness assessments often start from scratch and lose time before value is visible</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02920" y="1417320"/>
            <a:ext cx="4572000" cy="2057400"/>
          </a:xfrm>
          <a:prstGeom prst="rect">
            <a:avLst/>
          </a:prstGeom>
          <a:noFill/>
        </p:spPr>
        <p:txBody>
          <a:bodyPr wrap="none" lIns="45720" tIns="18288" rIns="45720" bIns="18288">
            <a:spAutoFit/>
          </a:bodyPr>
          <a:lstStyle/>
          <a:p>
            <a:pPr>
              <a:spcAft>
                <a:spcPts val="0"/>
              </a:spcAft>
            </a:pPr>
            <a:r>
              <a:rPr sz="1300" b="1">
                <a:solidFill>
                  <a:srgbClr val="5C2684"/>
                </a:solidFill>
                <a:latin typeface="Arial"/>
              </a:rPr>
              <a:t>• </a:t>
            </a:r>
            <a:r>
              <a:rPr sz="1300">
                <a:solidFill>
                  <a:srgbClr val="2D2D2D"/>
                </a:solidFill>
                <a:latin typeface="Arial"/>
              </a:rPr>
              <a:t>Manual discovery creates 8–12 week assessment timelines.</a:t>
            </a:r>
          </a:p>
          <a:p>
            <a:pPr>
              <a:spcAft>
                <a:spcPts val="0"/>
              </a:spcAft>
            </a:pPr>
            <a:r>
              <a:rPr sz="1300" b="1">
                <a:solidFill>
                  <a:srgbClr val="5C2684"/>
                </a:solidFill>
                <a:latin typeface="Arial"/>
              </a:rPr>
              <a:t>• </a:t>
            </a:r>
            <a:r>
              <a:rPr sz="1300">
                <a:solidFill>
                  <a:srgbClr val="2D2D2D"/>
                </a:solidFill>
                <a:latin typeface="Arial"/>
              </a:rPr>
              <a:t>Each engagement rebuilds templates, scoring, and analysis from scratch.</a:t>
            </a:r>
          </a:p>
          <a:p>
            <a:pPr>
              <a:spcAft>
                <a:spcPts val="0"/>
              </a:spcAft>
            </a:pPr>
            <a:r>
              <a:rPr sz="1300" b="1">
                <a:solidFill>
                  <a:srgbClr val="5C2684"/>
                </a:solidFill>
                <a:latin typeface="Arial"/>
              </a:rPr>
              <a:t>• </a:t>
            </a:r>
            <a:r>
              <a:rPr sz="1300">
                <a:solidFill>
                  <a:srgbClr val="2D2D2D"/>
                </a:solidFill>
                <a:latin typeface="Arial"/>
              </a:rPr>
              <a:t>Provider-specific tools can bias recommendations toward one cloud.</a:t>
            </a:r>
          </a:p>
          <a:p>
            <a:pPr>
              <a:spcAft>
                <a:spcPts val="0"/>
              </a:spcAft>
            </a:pPr>
            <a:r>
              <a:rPr sz="1300" b="1">
                <a:solidFill>
                  <a:srgbClr val="5C2684"/>
                </a:solidFill>
                <a:latin typeface="Arial"/>
              </a:rPr>
              <a:t>• </a:t>
            </a:r>
            <a:r>
              <a:rPr sz="1300">
                <a:solidFill>
                  <a:srgbClr val="2D2D2D"/>
                </a:solidFill>
                <a:latin typeface="Arial"/>
              </a:rPr>
              <a:t>No industrialized approach limits delivery scale and repeatability.</a:t>
            </a:r>
          </a:p>
        </p:txBody>
      </p:sp>
      <p:sp>
        <p:nvSpPr>
          <p:cNvPr id="6" name="TextBox 5"/>
          <p:cNvSpPr txBox="1"/>
          <p:nvPr/>
        </p:nvSpPr>
        <p:spPr>
          <a:xfrm>
            <a:off x="6220694" y="1289860"/>
            <a:ext cx="4754880" cy="228600"/>
          </a:xfrm>
          <a:prstGeom prst="rect">
            <a:avLst/>
          </a:prstGeom>
          <a:noFill/>
        </p:spPr>
        <p:txBody>
          <a:bodyPr wrap="none" lIns="27432" tIns="18288" rIns="27432" bIns="18288">
            <a:spAutoFit/>
          </a:bodyPr>
          <a:lstStyle/>
          <a:p>
            <a:pPr algn="ctr"/>
            <a:r>
              <a:rPr sz="1200" b="1">
                <a:solidFill>
                  <a:srgbClr val="2D2D2D"/>
                </a:solidFill>
                <a:latin typeface="Arial"/>
              </a:rPr>
              <a:t>Impact score of traditional CRA pain points</a:t>
            </a:r>
          </a:p>
        </p:txBody>
      </p:sp>
      <p:sp>
        <p:nvSpPr>
          <p:cNvPr id="7" name="Rectangle 6"/>
          <p:cNvSpPr/>
          <p:nvPr/>
        </p:nvSpPr>
        <p:spPr>
          <a:xfrm>
            <a:off x="6540734" y="2048811"/>
            <a:ext cx="442569" cy="1572768"/>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495014" y="1847643"/>
            <a:ext cx="534009" cy="146304"/>
          </a:xfrm>
          <a:prstGeom prst="rect">
            <a:avLst/>
          </a:prstGeom>
          <a:noFill/>
        </p:spPr>
        <p:txBody>
          <a:bodyPr wrap="none" lIns="27432" tIns="18288" rIns="27432" bIns="18288">
            <a:spAutoFit/>
          </a:bodyPr>
          <a:lstStyle/>
          <a:p>
            <a:pPr algn="ctr"/>
            <a:r>
              <a:rPr sz="750" b="0">
                <a:solidFill>
                  <a:srgbClr val="5F5F5F"/>
                </a:solidFill>
                <a:latin typeface="Arial"/>
              </a:rPr>
              <a:t>8</a:t>
            </a:r>
          </a:p>
        </p:txBody>
      </p:sp>
      <p:sp>
        <p:nvSpPr>
          <p:cNvPr id="9" name="TextBox 8"/>
          <p:cNvSpPr txBox="1"/>
          <p:nvPr/>
        </p:nvSpPr>
        <p:spPr>
          <a:xfrm>
            <a:off x="6339566"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Long
timelines</a:t>
            </a:r>
          </a:p>
        </p:txBody>
      </p:sp>
      <p:sp>
        <p:nvSpPr>
          <p:cNvPr id="10" name="Rectangle 9"/>
          <p:cNvSpPr/>
          <p:nvPr/>
        </p:nvSpPr>
        <p:spPr>
          <a:xfrm>
            <a:off x="7345406" y="2442003"/>
            <a:ext cx="442569" cy="1179575"/>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299686" y="2240835"/>
            <a:ext cx="534009" cy="146304"/>
          </a:xfrm>
          <a:prstGeom prst="rect">
            <a:avLst/>
          </a:prstGeom>
          <a:noFill/>
        </p:spPr>
        <p:txBody>
          <a:bodyPr wrap="none" lIns="27432" tIns="18288" rIns="27432" bIns="18288">
            <a:spAutoFit/>
          </a:bodyPr>
          <a:lstStyle/>
          <a:p>
            <a:pPr algn="ctr"/>
            <a:r>
              <a:rPr sz="750" b="0">
                <a:solidFill>
                  <a:srgbClr val="5F5F5F"/>
                </a:solidFill>
                <a:latin typeface="Arial"/>
              </a:rPr>
              <a:t>6</a:t>
            </a:r>
          </a:p>
        </p:txBody>
      </p:sp>
      <p:sp>
        <p:nvSpPr>
          <p:cNvPr id="12" name="TextBox 11"/>
          <p:cNvSpPr txBox="1"/>
          <p:nvPr/>
        </p:nvSpPr>
        <p:spPr>
          <a:xfrm>
            <a:off x="7144238"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Provider
bias</a:t>
            </a:r>
          </a:p>
        </p:txBody>
      </p:sp>
      <p:sp>
        <p:nvSpPr>
          <p:cNvPr id="13" name="Rectangle 12"/>
          <p:cNvSpPr/>
          <p:nvPr/>
        </p:nvSpPr>
        <p:spPr>
          <a:xfrm>
            <a:off x="8150077" y="2245407"/>
            <a:ext cx="442569" cy="1376172"/>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04357" y="2044239"/>
            <a:ext cx="534009" cy="146304"/>
          </a:xfrm>
          <a:prstGeom prst="rect">
            <a:avLst/>
          </a:prstGeom>
          <a:noFill/>
        </p:spPr>
        <p:txBody>
          <a:bodyPr wrap="none" lIns="27432" tIns="18288" rIns="27432" bIns="18288">
            <a:spAutoFit/>
          </a:bodyPr>
          <a:lstStyle/>
          <a:p>
            <a:pPr algn="ctr"/>
            <a:r>
              <a:rPr sz="750" b="0">
                <a:solidFill>
                  <a:srgbClr val="5F5F5F"/>
                </a:solidFill>
                <a:latin typeface="Arial"/>
              </a:rPr>
              <a:t>7</a:t>
            </a:r>
          </a:p>
        </p:txBody>
      </p:sp>
      <p:sp>
        <p:nvSpPr>
          <p:cNvPr id="15" name="TextBox 14"/>
          <p:cNvSpPr txBox="1"/>
          <p:nvPr/>
        </p:nvSpPr>
        <p:spPr>
          <a:xfrm>
            <a:off x="7948910"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No
templates</a:t>
            </a:r>
          </a:p>
        </p:txBody>
      </p:sp>
      <p:sp>
        <p:nvSpPr>
          <p:cNvPr id="16" name="Rectangle 15"/>
          <p:cNvSpPr/>
          <p:nvPr/>
        </p:nvSpPr>
        <p:spPr>
          <a:xfrm>
            <a:off x="8954750" y="1852215"/>
            <a:ext cx="442569" cy="1769364"/>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09030" y="1651047"/>
            <a:ext cx="534009" cy="146304"/>
          </a:xfrm>
          <a:prstGeom prst="rect">
            <a:avLst/>
          </a:prstGeom>
          <a:noFill/>
        </p:spPr>
        <p:txBody>
          <a:bodyPr wrap="none" lIns="27432" tIns="18288" rIns="27432" bIns="18288">
            <a:spAutoFit/>
          </a:bodyPr>
          <a:lstStyle/>
          <a:p>
            <a:pPr algn="ctr"/>
            <a:r>
              <a:rPr sz="750" b="0">
                <a:solidFill>
                  <a:srgbClr val="5F5F5F"/>
                </a:solidFill>
                <a:latin typeface="Arial"/>
              </a:rPr>
              <a:t>9</a:t>
            </a:r>
          </a:p>
        </p:txBody>
      </p:sp>
      <p:sp>
        <p:nvSpPr>
          <p:cNvPr id="18" name="TextBox 17"/>
          <p:cNvSpPr txBox="1"/>
          <p:nvPr/>
        </p:nvSpPr>
        <p:spPr>
          <a:xfrm>
            <a:off x="8753582"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Manual
analysis</a:t>
            </a:r>
          </a:p>
        </p:txBody>
      </p:sp>
      <p:sp>
        <p:nvSpPr>
          <p:cNvPr id="19" name="Rectangle 18"/>
          <p:cNvSpPr/>
          <p:nvPr/>
        </p:nvSpPr>
        <p:spPr>
          <a:xfrm>
            <a:off x="9759422" y="2048811"/>
            <a:ext cx="442569" cy="1572768"/>
          </a:xfrm>
          <a:prstGeom prst="rect">
            <a:avLst/>
          </a:prstGeom>
          <a:solidFill>
            <a:srgbClr val="E114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713702" y="1847643"/>
            <a:ext cx="534009" cy="146304"/>
          </a:xfrm>
          <a:prstGeom prst="rect">
            <a:avLst/>
          </a:prstGeom>
          <a:noFill/>
        </p:spPr>
        <p:txBody>
          <a:bodyPr wrap="none" lIns="27432" tIns="18288" rIns="27432" bIns="18288">
            <a:spAutoFit/>
          </a:bodyPr>
          <a:lstStyle/>
          <a:p>
            <a:pPr algn="ctr"/>
            <a:r>
              <a:rPr sz="750" b="0">
                <a:solidFill>
                  <a:srgbClr val="5F5F5F"/>
                </a:solidFill>
                <a:latin typeface="Arial"/>
              </a:rPr>
              <a:t>8</a:t>
            </a:r>
          </a:p>
        </p:txBody>
      </p:sp>
      <p:sp>
        <p:nvSpPr>
          <p:cNvPr id="21" name="TextBox 20"/>
          <p:cNvSpPr txBox="1"/>
          <p:nvPr/>
        </p:nvSpPr>
        <p:spPr>
          <a:xfrm>
            <a:off x="9558254" y="3694731"/>
            <a:ext cx="844905" cy="347472"/>
          </a:xfrm>
          <a:prstGeom prst="rect">
            <a:avLst/>
          </a:prstGeom>
          <a:noFill/>
        </p:spPr>
        <p:txBody>
          <a:bodyPr wrap="none" lIns="27432" tIns="18288" rIns="27432" bIns="18288">
            <a:spAutoFit/>
          </a:bodyPr>
          <a:lstStyle/>
          <a:p>
            <a:pPr algn="ctr"/>
            <a:r>
              <a:rPr sz="620" b="0">
                <a:solidFill>
                  <a:srgbClr val="5F5F5F"/>
                </a:solidFill>
                <a:latin typeface="Arial"/>
              </a:rPr>
              <a:t>Inconsistent
method</a:t>
            </a:r>
          </a:p>
        </p:txBody>
      </p:sp>
      <p:sp>
        <p:nvSpPr>
          <p:cNvPr id="22" name="Rectangle 21"/>
          <p:cNvSpPr/>
          <p:nvPr/>
        </p:nvSpPr>
        <p:spPr>
          <a:xfrm>
            <a:off x="6495014" y="3621579"/>
            <a:ext cx="4114800" cy="9144"/>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22"/>
          <p:cNvSpPr/>
          <p:nvPr/>
        </p:nvSpPr>
        <p:spPr>
          <a:xfrm>
            <a:off x="731520" y="4709160"/>
            <a:ext cx="9692640" cy="621792"/>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50" b="1">
                <a:solidFill>
                  <a:srgbClr val="E11424"/>
                </a:solidFill>
                <a:latin typeface="Arial"/>
              </a:rPr>
              <a:t>Assessment quality improves when methodology, scoring, templates, and reporting are standardized before the engagement starts.</a:t>
            </a:r>
          </a:p>
        </p:txBody>
      </p:sp>
      <p:sp>
        <p:nvSpPr>
          <p:cNvPr id="24" name="TextBox 23"/>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25" name="TextBox 24"/>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What the Cloud Readiness Accelerator Provides</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A reusable delivery model for consistent, multi-cloud assessment outcomes</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2331720" cy="114300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Standardized methodology</a:t>
            </a:r>
          </a:p>
          <a:p>
            <a:pPr>
              <a:spcBef>
                <a:spcPts val="400"/>
              </a:spcBef>
            </a:pPr>
            <a:r>
              <a:rPr sz="900">
                <a:solidFill>
                  <a:srgbClr val="2D2D2D"/>
                </a:solidFill>
                <a:latin typeface="Arial"/>
              </a:rPr>
              <a:t>Consistent assessment approach across engagements.</a:t>
            </a:r>
          </a:p>
        </p:txBody>
      </p:sp>
      <p:sp>
        <p:nvSpPr>
          <p:cNvPr id="6" name="Rounded Rectangle 5"/>
          <p:cNvSpPr/>
          <p:nvPr/>
        </p:nvSpPr>
        <p:spPr>
          <a:xfrm>
            <a:off x="3108960" y="1234440"/>
            <a:ext cx="2331720" cy="114300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Multi-cloud scoring</a:t>
            </a:r>
          </a:p>
          <a:p>
            <a:pPr>
              <a:spcBef>
                <a:spcPts val="400"/>
              </a:spcBef>
            </a:pPr>
            <a:r>
              <a:rPr sz="900">
                <a:solidFill>
                  <a:srgbClr val="2D2D2D"/>
                </a:solidFill>
                <a:latin typeface="Arial"/>
              </a:rPr>
              <a:t>Objective comparison of Azure, AWS, and GCP.</a:t>
            </a:r>
          </a:p>
        </p:txBody>
      </p:sp>
      <p:sp>
        <p:nvSpPr>
          <p:cNvPr id="7" name="Rounded Rectangle 6"/>
          <p:cNvSpPr/>
          <p:nvPr/>
        </p:nvSpPr>
        <p:spPr>
          <a:xfrm>
            <a:off x="5715000" y="1234440"/>
            <a:ext cx="2331720" cy="114300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Reusable templates</a:t>
            </a:r>
          </a:p>
          <a:p>
            <a:pPr>
              <a:spcBef>
                <a:spcPts val="400"/>
              </a:spcBef>
            </a:pPr>
            <a:r>
              <a:rPr sz="900">
                <a:solidFill>
                  <a:srgbClr val="2D2D2D"/>
                </a:solidFill>
                <a:latin typeface="Arial"/>
              </a:rPr>
              <a:t>Pre-built deliverables reduce time-to-value.</a:t>
            </a:r>
          </a:p>
        </p:txBody>
      </p:sp>
      <p:sp>
        <p:nvSpPr>
          <p:cNvPr id="8" name="Rounded Rectangle 7"/>
          <p:cNvSpPr/>
          <p:nvPr/>
        </p:nvSpPr>
        <p:spPr>
          <a:xfrm>
            <a:off x="8321040" y="1234440"/>
            <a:ext cx="2331720" cy="1143000"/>
          </a:xfrm>
          <a:prstGeom prst="roundRect">
            <a:avLst/>
          </a:prstGeom>
          <a:solidFill>
            <a:srgbClr val="F1F9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Production-ready assets</a:t>
            </a:r>
          </a:p>
          <a:p>
            <a:pPr>
              <a:spcBef>
                <a:spcPts val="400"/>
              </a:spcBef>
            </a:pPr>
            <a:r>
              <a:rPr sz="900">
                <a:solidFill>
                  <a:srgbClr val="2D2D2D"/>
                </a:solidFill>
                <a:latin typeface="Arial"/>
              </a:rPr>
              <a:t>Built from real enterprise assessment delivery.</a:t>
            </a:r>
          </a:p>
        </p:txBody>
      </p:sp>
      <p:sp>
        <p:nvSpPr>
          <p:cNvPr id="9" name="Rounded Rectangle 8"/>
          <p:cNvSpPr/>
          <p:nvPr/>
        </p:nvSpPr>
        <p:spPr>
          <a:xfrm>
            <a:off x="960120" y="283464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24+</a:t>
            </a:r>
          </a:p>
          <a:p>
            <a:pPr algn="ctr"/>
            <a:r>
              <a:rPr sz="750">
                <a:solidFill>
                  <a:srgbClr val="5F5F5F"/>
                </a:solidFill>
                <a:latin typeface="Arial"/>
              </a:rPr>
              <a:t>templates</a:t>
            </a:r>
          </a:p>
        </p:txBody>
      </p:sp>
      <p:sp>
        <p:nvSpPr>
          <p:cNvPr id="10" name="Rounded Rectangle 9"/>
          <p:cNvSpPr/>
          <p:nvPr/>
        </p:nvSpPr>
        <p:spPr>
          <a:xfrm>
            <a:off x="3337560" y="283464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009AAE"/>
                </a:solidFill>
                <a:latin typeface="Arial"/>
              </a:rPr>
              <a:t>3</a:t>
            </a:r>
          </a:p>
          <a:p>
            <a:pPr algn="ctr"/>
            <a:r>
              <a:rPr sz="750">
                <a:solidFill>
                  <a:srgbClr val="5F5F5F"/>
                </a:solidFill>
                <a:latin typeface="Arial"/>
              </a:rPr>
              <a:t>platforms</a:t>
            </a:r>
          </a:p>
        </p:txBody>
      </p:sp>
      <p:sp>
        <p:nvSpPr>
          <p:cNvPr id="11" name="Rounded Rectangle 10"/>
          <p:cNvSpPr/>
          <p:nvPr/>
        </p:nvSpPr>
        <p:spPr>
          <a:xfrm>
            <a:off x="5715000" y="283464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4</a:t>
            </a:r>
          </a:p>
          <a:p>
            <a:pPr algn="ctr"/>
            <a:r>
              <a:rPr sz="750">
                <a:solidFill>
                  <a:srgbClr val="5F5F5F"/>
                </a:solidFill>
                <a:latin typeface="Arial"/>
              </a:rPr>
              <a:t>phases</a:t>
            </a:r>
          </a:p>
        </p:txBody>
      </p:sp>
      <p:sp>
        <p:nvSpPr>
          <p:cNvPr id="12" name="Rounded Rectangle 11"/>
          <p:cNvSpPr/>
          <p:nvPr/>
        </p:nvSpPr>
        <p:spPr>
          <a:xfrm>
            <a:off x="8092440" y="2834640"/>
            <a:ext cx="150876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179467"/>
                </a:solidFill>
                <a:latin typeface="Arial"/>
              </a:rPr>
              <a:t>5</a:t>
            </a:r>
          </a:p>
          <a:p>
            <a:pPr algn="ctr"/>
            <a:r>
              <a:rPr sz="750">
                <a:solidFill>
                  <a:srgbClr val="5F5F5F"/>
                </a:solidFill>
                <a:latin typeface="Arial"/>
              </a:rPr>
              <a:t>readiness dimensions</a:t>
            </a:r>
          </a:p>
        </p:txBody>
      </p:sp>
      <p:sp>
        <p:nvSpPr>
          <p:cNvPr id="13" name="TextBox 12"/>
          <p:cNvSpPr txBox="1"/>
          <p:nvPr/>
        </p:nvSpPr>
        <p:spPr>
          <a:xfrm>
            <a:off x="685800" y="3977639"/>
            <a:ext cx="9875520" cy="1188720"/>
          </a:xfrm>
          <a:prstGeom prst="rect">
            <a:avLst/>
          </a:prstGeom>
          <a:noFill/>
        </p:spPr>
        <p:txBody>
          <a:bodyPr wrap="none" lIns="45720" tIns="18288" rIns="45720" bIns="18288">
            <a:spAutoFit/>
          </a:bodyPr>
          <a:lstStyle/>
          <a:p>
            <a:pPr>
              <a:spcAft>
                <a:spcPts val="0"/>
              </a:spcAft>
            </a:pPr>
            <a:r>
              <a:rPr sz="1250" b="1">
                <a:solidFill>
                  <a:srgbClr val="5C2684"/>
                </a:solidFill>
                <a:latin typeface="Arial"/>
              </a:rPr>
              <a:t>• </a:t>
            </a:r>
            <a:r>
              <a:rPr sz="1250">
                <a:solidFill>
                  <a:srgbClr val="2D2D2D"/>
                </a:solidFill>
                <a:latin typeface="Arial"/>
              </a:rPr>
              <a:t>Covers technical fit, cost analysis, migration readiness, and business alignment.</a:t>
            </a:r>
          </a:p>
          <a:p>
            <a:pPr>
              <a:spcAft>
                <a:spcPts val="0"/>
              </a:spcAft>
            </a:pPr>
            <a:r>
              <a:rPr sz="1250" b="1">
                <a:solidFill>
                  <a:srgbClr val="5C2684"/>
                </a:solidFill>
                <a:latin typeface="Arial"/>
              </a:rPr>
              <a:t>• </a:t>
            </a:r>
            <a:r>
              <a:rPr sz="1250">
                <a:solidFill>
                  <a:srgbClr val="2D2D2D"/>
                </a:solidFill>
                <a:latin typeface="Arial"/>
              </a:rPr>
              <a:t>Uses weighted criteria tailored to client priorities across Technical, Operations, Security, Business, and People readiness.</a:t>
            </a:r>
          </a:p>
          <a:p>
            <a:pPr>
              <a:spcAft>
                <a:spcPts val="0"/>
              </a:spcAft>
            </a:pPr>
            <a:r>
              <a:rPr sz="1250" b="1">
                <a:solidFill>
                  <a:srgbClr val="5C2684"/>
                </a:solidFill>
                <a:latin typeface="Arial"/>
              </a:rPr>
              <a:t>• </a:t>
            </a:r>
            <a:r>
              <a:rPr sz="1250">
                <a:solidFill>
                  <a:srgbClr val="2D2D2D"/>
                </a:solidFill>
                <a:latin typeface="Arial"/>
              </a:rPr>
              <a:t>Supports discovery questionnaires, application profiling, dependency mapping, TCO modeling, and executive reporting.</a:t>
            </a:r>
          </a:p>
        </p:txBody>
      </p:sp>
      <p:sp>
        <p:nvSpPr>
          <p:cNvPr id="14" name="TextBox 13"/>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5" name="TextBox 14"/>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Four-Phase Assessment Model</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Discovery moves into analysis, evaluation, and migration planning without losing delivery discipline</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2331720" cy="123444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1. Discovery</a:t>
            </a:r>
          </a:p>
          <a:p>
            <a:pPr>
              <a:spcBef>
                <a:spcPts val="400"/>
              </a:spcBef>
            </a:pPr>
            <a:r>
              <a:rPr sz="900">
                <a:solidFill>
                  <a:srgbClr val="2D2D2D"/>
                </a:solidFill>
                <a:latin typeface="Arial"/>
              </a:rPr>
              <a:t>Tooling, server profiling, dependency mapping, and application workshops.</a:t>
            </a:r>
          </a:p>
        </p:txBody>
      </p:sp>
      <p:sp>
        <p:nvSpPr>
          <p:cNvPr id="6" name="TextBox 5"/>
          <p:cNvSpPr txBox="1"/>
          <p:nvPr/>
        </p:nvSpPr>
        <p:spPr>
          <a:xfrm>
            <a:off x="2834639" y="1691640"/>
            <a:ext cx="320040" cy="320040"/>
          </a:xfrm>
          <a:prstGeom prst="rect">
            <a:avLst/>
          </a:prstGeom>
          <a:noFill/>
        </p:spPr>
        <p:txBody>
          <a:bodyPr wrap="none" lIns="27432" tIns="18288" rIns="27432" bIns="18288">
            <a:spAutoFit/>
          </a:bodyPr>
          <a:lstStyle/>
          <a:p>
            <a:pPr algn="ctr"/>
            <a:r>
              <a:rPr sz="2000" b="1">
                <a:solidFill>
                  <a:srgbClr val="5C2684"/>
                </a:solidFill>
                <a:latin typeface="Arial"/>
              </a:rPr>
              <a:t>→</a:t>
            </a:r>
          </a:p>
        </p:txBody>
      </p:sp>
      <p:sp>
        <p:nvSpPr>
          <p:cNvPr id="7" name="Rounded Rectangle 6"/>
          <p:cNvSpPr/>
          <p:nvPr/>
        </p:nvSpPr>
        <p:spPr>
          <a:xfrm>
            <a:off x="3108960" y="1234440"/>
            <a:ext cx="2331720" cy="123444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2. Analysis</a:t>
            </a:r>
          </a:p>
          <a:p>
            <a:pPr>
              <a:spcBef>
                <a:spcPts val="400"/>
              </a:spcBef>
            </a:pPr>
            <a:r>
              <a:rPr sz="900">
                <a:solidFill>
                  <a:srgbClr val="2D2D2D"/>
                </a:solidFill>
                <a:latin typeface="Arial"/>
              </a:rPr>
              <a:t>TCO modeling, technical assessment, readiness scoring, and gap identification.</a:t>
            </a:r>
          </a:p>
        </p:txBody>
      </p:sp>
      <p:sp>
        <p:nvSpPr>
          <p:cNvPr id="8" name="TextBox 7"/>
          <p:cNvSpPr txBox="1"/>
          <p:nvPr/>
        </p:nvSpPr>
        <p:spPr>
          <a:xfrm>
            <a:off x="5440680" y="1691640"/>
            <a:ext cx="320040" cy="320040"/>
          </a:xfrm>
          <a:prstGeom prst="rect">
            <a:avLst/>
          </a:prstGeom>
          <a:noFill/>
        </p:spPr>
        <p:txBody>
          <a:bodyPr wrap="none" lIns="27432" tIns="18288" rIns="27432" bIns="18288">
            <a:spAutoFit/>
          </a:bodyPr>
          <a:lstStyle/>
          <a:p>
            <a:pPr algn="ctr"/>
            <a:r>
              <a:rPr sz="2000" b="1">
                <a:solidFill>
                  <a:srgbClr val="5C2684"/>
                </a:solidFill>
                <a:latin typeface="Arial"/>
              </a:rPr>
              <a:t>→</a:t>
            </a:r>
          </a:p>
        </p:txBody>
      </p:sp>
      <p:sp>
        <p:nvSpPr>
          <p:cNvPr id="9" name="Rounded Rectangle 8"/>
          <p:cNvSpPr/>
          <p:nvPr/>
        </p:nvSpPr>
        <p:spPr>
          <a:xfrm>
            <a:off x="5715000" y="1234440"/>
            <a:ext cx="2331720" cy="123444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3. Evaluation</a:t>
            </a:r>
          </a:p>
          <a:p>
            <a:pPr>
              <a:spcBef>
                <a:spcPts val="400"/>
              </a:spcBef>
            </a:pPr>
            <a:r>
              <a:rPr sz="900">
                <a:solidFill>
                  <a:srgbClr val="2D2D2D"/>
                </a:solidFill>
                <a:latin typeface="Arial"/>
              </a:rPr>
              <a:t>Multi-cloud comparison, weighted scoring, and business-fit analysis.</a:t>
            </a:r>
          </a:p>
        </p:txBody>
      </p:sp>
      <p:sp>
        <p:nvSpPr>
          <p:cNvPr id="10" name="TextBox 9"/>
          <p:cNvSpPr txBox="1"/>
          <p:nvPr/>
        </p:nvSpPr>
        <p:spPr>
          <a:xfrm>
            <a:off x="8046720" y="1691640"/>
            <a:ext cx="320040" cy="320040"/>
          </a:xfrm>
          <a:prstGeom prst="rect">
            <a:avLst/>
          </a:prstGeom>
          <a:noFill/>
        </p:spPr>
        <p:txBody>
          <a:bodyPr wrap="none" lIns="27432" tIns="18288" rIns="27432" bIns="18288">
            <a:spAutoFit/>
          </a:bodyPr>
          <a:lstStyle/>
          <a:p>
            <a:pPr algn="ctr"/>
            <a:r>
              <a:rPr sz="2000" b="1">
                <a:solidFill>
                  <a:srgbClr val="5C2684"/>
                </a:solidFill>
                <a:latin typeface="Arial"/>
              </a:rPr>
              <a:t>→</a:t>
            </a:r>
          </a:p>
        </p:txBody>
      </p:sp>
      <p:sp>
        <p:nvSpPr>
          <p:cNvPr id="11" name="Rounded Rectangle 10"/>
          <p:cNvSpPr/>
          <p:nvPr/>
        </p:nvSpPr>
        <p:spPr>
          <a:xfrm>
            <a:off x="8321040" y="1234440"/>
            <a:ext cx="2331720" cy="1234440"/>
          </a:xfrm>
          <a:prstGeom prst="roundRect">
            <a:avLst/>
          </a:prstGeom>
          <a:solidFill>
            <a:srgbClr val="F1F9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4. Planning</a:t>
            </a:r>
          </a:p>
          <a:p>
            <a:pPr>
              <a:spcBef>
                <a:spcPts val="400"/>
              </a:spcBef>
            </a:pPr>
            <a:r>
              <a:rPr sz="900">
                <a:solidFill>
                  <a:srgbClr val="2D2D2D"/>
                </a:solidFill>
                <a:latin typeface="Arial"/>
              </a:rPr>
              <a:t>Migration runbooks, wave plans, governance design, and next steps.</a:t>
            </a:r>
          </a:p>
        </p:txBody>
      </p:sp>
      <p:sp>
        <p:nvSpPr>
          <p:cNvPr id="12" name="Rounded Rectangle 11"/>
          <p:cNvSpPr/>
          <p:nvPr/>
        </p:nvSpPr>
        <p:spPr>
          <a:xfrm>
            <a:off x="822960" y="3246120"/>
            <a:ext cx="2880360" cy="914400"/>
          </a:xfrm>
          <a:prstGeom prst="roundRect">
            <a:avLst/>
          </a:prstGeom>
          <a:solidFill>
            <a:srgbClr val="FAFAFC"/>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Engagement control</a:t>
            </a:r>
          </a:p>
          <a:p>
            <a:pPr>
              <a:spcBef>
                <a:spcPts val="400"/>
              </a:spcBef>
            </a:pPr>
            <a:r>
              <a:rPr sz="900">
                <a:solidFill>
                  <a:srgbClr val="2D2D2D"/>
                </a:solidFill>
                <a:latin typeface="Arial"/>
              </a:rPr>
              <a:t>Standard phases and clear responsibilities.</a:t>
            </a:r>
          </a:p>
        </p:txBody>
      </p:sp>
      <p:sp>
        <p:nvSpPr>
          <p:cNvPr id="13" name="Rounded Rectangle 12"/>
          <p:cNvSpPr/>
          <p:nvPr/>
        </p:nvSpPr>
        <p:spPr>
          <a:xfrm>
            <a:off x="4069080" y="3246120"/>
            <a:ext cx="2880360" cy="914400"/>
          </a:xfrm>
          <a:prstGeom prst="roundRect">
            <a:avLst/>
          </a:prstGeom>
          <a:solidFill>
            <a:srgbClr val="FAFAFC"/>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Client confidence</a:t>
            </a:r>
          </a:p>
          <a:p>
            <a:pPr>
              <a:spcBef>
                <a:spcPts val="400"/>
              </a:spcBef>
            </a:pPr>
            <a:r>
              <a:rPr sz="900">
                <a:solidFill>
                  <a:srgbClr val="2D2D2D"/>
                </a:solidFill>
                <a:latin typeface="Arial"/>
              </a:rPr>
              <a:t>Evidence-based outputs tied to business outcomes.</a:t>
            </a:r>
          </a:p>
        </p:txBody>
      </p:sp>
      <p:sp>
        <p:nvSpPr>
          <p:cNvPr id="14" name="Rounded Rectangle 13"/>
          <p:cNvSpPr/>
          <p:nvPr/>
        </p:nvSpPr>
        <p:spPr>
          <a:xfrm>
            <a:off x="7315200" y="3246120"/>
            <a:ext cx="2880360" cy="914400"/>
          </a:xfrm>
          <a:prstGeom prst="roundRect">
            <a:avLst/>
          </a:prstGeom>
          <a:solidFill>
            <a:srgbClr val="FAFAFC"/>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Delivery readiness</a:t>
            </a:r>
          </a:p>
          <a:p>
            <a:pPr>
              <a:spcBef>
                <a:spcPts val="400"/>
              </a:spcBef>
            </a:pPr>
            <a:r>
              <a:rPr sz="900">
                <a:solidFill>
                  <a:srgbClr val="2D2D2D"/>
                </a:solidFill>
                <a:latin typeface="Arial"/>
              </a:rPr>
              <a:t>Roadmap, waves, governance, and runbooks ready for execution.</a:t>
            </a:r>
          </a:p>
        </p:txBody>
      </p:sp>
      <p:sp>
        <p:nvSpPr>
          <p:cNvPr id="15" name="Rounded Rectangle 14"/>
          <p:cNvSpPr/>
          <p:nvPr/>
        </p:nvSpPr>
        <p:spPr>
          <a:xfrm>
            <a:off x="822960" y="4892040"/>
            <a:ext cx="9509760" cy="475488"/>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The model avoids a tool-only assessment by connecting discovery data to commercial, technical, operational, and migration decisions.</a:t>
            </a:r>
          </a:p>
        </p:txBody>
      </p:sp>
      <p:sp>
        <p:nvSpPr>
          <p:cNvPr id="16" name="TextBox 15"/>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7" name="TextBox 16"/>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5</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Multi-Dimensional Readiness and Scoring Model</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Recommendations become defensible when technical, commercial, security, and operating model factors are scored together</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325880"/>
            <a:ext cx="2697480" cy="86868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Technical</a:t>
            </a:r>
          </a:p>
          <a:p>
            <a:pPr>
              <a:spcBef>
                <a:spcPts val="400"/>
              </a:spcBef>
            </a:pPr>
            <a:r>
              <a:rPr sz="850">
                <a:solidFill>
                  <a:srgbClr val="2D2D2D"/>
                </a:solidFill>
                <a:latin typeface="Arial"/>
              </a:rPr>
              <a:t>Platform fit, app constraints, performance, dependencies</a:t>
            </a:r>
          </a:p>
        </p:txBody>
      </p:sp>
      <p:sp>
        <p:nvSpPr>
          <p:cNvPr id="6" name="Rounded Rectangle 5"/>
          <p:cNvSpPr/>
          <p:nvPr/>
        </p:nvSpPr>
        <p:spPr>
          <a:xfrm>
            <a:off x="3886200" y="1325880"/>
            <a:ext cx="2697480" cy="868680"/>
          </a:xfrm>
          <a:prstGeom prst="roundRect">
            <a:avLst/>
          </a:prstGeom>
          <a:solidFill>
            <a:srgbClr val="F4F1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Operations</a:t>
            </a:r>
          </a:p>
          <a:p>
            <a:pPr>
              <a:spcBef>
                <a:spcPts val="400"/>
              </a:spcBef>
            </a:pPr>
            <a:r>
              <a:rPr sz="850">
                <a:solidFill>
                  <a:srgbClr val="2D2D2D"/>
                </a:solidFill>
                <a:latin typeface="Arial"/>
              </a:rPr>
              <a:t>Run model, monitoring, automation, ITSM</a:t>
            </a:r>
          </a:p>
        </p:txBody>
      </p:sp>
      <p:sp>
        <p:nvSpPr>
          <p:cNvPr id="7" name="Rounded Rectangle 6"/>
          <p:cNvSpPr/>
          <p:nvPr/>
        </p:nvSpPr>
        <p:spPr>
          <a:xfrm>
            <a:off x="7086600" y="1325880"/>
            <a:ext cx="2697480" cy="868680"/>
          </a:xfrm>
          <a:prstGeom prst="roundRect">
            <a:avLst/>
          </a:prstGeom>
          <a:solidFill>
            <a:srgbClr val="F4F1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Security</a:t>
            </a:r>
          </a:p>
          <a:p>
            <a:pPr>
              <a:spcBef>
                <a:spcPts val="400"/>
              </a:spcBef>
            </a:pPr>
            <a:r>
              <a:rPr sz="850">
                <a:solidFill>
                  <a:srgbClr val="2D2D2D"/>
                </a:solidFill>
                <a:latin typeface="Arial"/>
              </a:rPr>
              <a:t>Identity, network controls, data protection, risk</a:t>
            </a:r>
          </a:p>
        </p:txBody>
      </p:sp>
      <p:sp>
        <p:nvSpPr>
          <p:cNvPr id="8" name="Rounded Rectangle 7"/>
          <p:cNvSpPr/>
          <p:nvPr/>
        </p:nvSpPr>
        <p:spPr>
          <a:xfrm>
            <a:off x="2286000" y="2743200"/>
            <a:ext cx="2697480" cy="868680"/>
          </a:xfrm>
          <a:prstGeom prst="roundRect">
            <a:avLst/>
          </a:prstGeom>
          <a:solidFill>
            <a:srgbClr val="F1F9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Business</a:t>
            </a:r>
          </a:p>
          <a:p>
            <a:pPr>
              <a:spcBef>
                <a:spcPts val="400"/>
              </a:spcBef>
            </a:pPr>
            <a:r>
              <a:rPr sz="850">
                <a:solidFill>
                  <a:srgbClr val="2D2D2D"/>
                </a:solidFill>
                <a:latin typeface="Arial"/>
              </a:rPr>
              <a:t>Criticality, value, constraints, timeline</a:t>
            </a:r>
          </a:p>
        </p:txBody>
      </p:sp>
      <p:sp>
        <p:nvSpPr>
          <p:cNvPr id="9" name="Rounded Rectangle 8"/>
          <p:cNvSpPr/>
          <p:nvPr/>
        </p:nvSpPr>
        <p:spPr>
          <a:xfrm>
            <a:off x="5486400" y="2743200"/>
            <a:ext cx="2697480" cy="868680"/>
          </a:xfrm>
          <a:prstGeom prst="roundRect">
            <a:avLst/>
          </a:prstGeom>
          <a:solidFill>
            <a:srgbClr val="F1F9FA"/>
          </a:solidFill>
          <a:ln w="16510">
            <a:solidFill>
              <a:srgbClr val="ECB11F"/>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People</a:t>
            </a:r>
          </a:p>
          <a:p>
            <a:pPr>
              <a:spcBef>
                <a:spcPts val="400"/>
              </a:spcBef>
            </a:pPr>
            <a:r>
              <a:rPr sz="850">
                <a:solidFill>
                  <a:srgbClr val="2D2D2D"/>
                </a:solidFill>
                <a:latin typeface="Arial"/>
              </a:rPr>
              <a:t>Skills, adoption, change readiness</a:t>
            </a:r>
          </a:p>
        </p:txBody>
      </p:sp>
      <p:sp>
        <p:nvSpPr>
          <p:cNvPr id="10" name="TextBox 9"/>
          <p:cNvSpPr txBox="1"/>
          <p:nvPr/>
        </p:nvSpPr>
        <p:spPr>
          <a:xfrm>
            <a:off x="914400" y="4343400"/>
            <a:ext cx="9326880" cy="960120"/>
          </a:xfrm>
          <a:prstGeom prst="rect">
            <a:avLst/>
          </a:prstGeom>
          <a:noFill/>
        </p:spPr>
        <p:txBody>
          <a:bodyPr wrap="none" lIns="45720" tIns="18288" rIns="45720" bIns="18288">
            <a:spAutoFit/>
          </a:bodyPr>
          <a:lstStyle/>
          <a:p>
            <a:pPr>
              <a:spcAft>
                <a:spcPts val="0"/>
              </a:spcAft>
            </a:pPr>
            <a:r>
              <a:rPr sz="1250" b="1">
                <a:solidFill>
                  <a:srgbClr val="5C2684"/>
                </a:solidFill>
                <a:latin typeface="Arial"/>
              </a:rPr>
              <a:t>• </a:t>
            </a:r>
            <a:r>
              <a:rPr sz="1250">
                <a:solidFill>
                  <a:srgbClr val="2D2D2D"/>
                </a:solidFill>
                <a:latin typeface="Arial"/>
              </a:rPr>
              <a:t>Client priorities drive weighting. Cost, speed, security, resilience, and innovation can be weighted differently by engagement.</a:t>
            </a:r>
          </a:p>
          <a:p>
            <a:pPr>
              <a:spcAft>
                <a:spcPts val="0"/>
              </a:spcAft>
            </a:pPr>
            <a:r>
              <a:rPr sz="1250" b="1">
                <a:solidFill>
                  <a:srgbClr val="5C2684"/>
                </a:solidFill>
                <a:latin typeface="Arial"/>
              </a:rPr>
              <a:t>• </a:t>
            </a:r>
            <a:r>
              <a:rPr sz="1250">
                <a:solidFill>
                  <a:srgbClr val="2D2D2D"/>
                </a:solidFill>
                <a:latin typeface="Arial"/>
              </a:rPr>
              <a:t>Scoring creates a repeatable recommendation basis across Azure, AWS, and GCP.</a:t>
            </a:r>
          </a:p>
          <a:p>
            <a:pPr>
              <a:spcAft>
                <a:spcPts val="0"/>
              </a:spcAft>
            </a:pPr>
            <a:r>
              <a:rPr sz="1250" b="1">
                <a:solidFill>
                  <a:srgbClr val="5C2684"/>
                </a:solidFill>
                <a:latin typeface="Arial"/>
              </a:rPr>
              <a:t>• </a:t>
            </a:r>
            <a:r>
              <a:rPr sz="1250">
                <a:solidFill>
                  <a:srgbClr val="2D2D2D"/>
                </a:solidFill>
                <a:latin typeface="Arial"/>
              </a:rPr>
              <a:t>A strong recommendation should survive executive, technical, and commercial scrutiny.</a:t>
            </a:r>
          </a:p>
        </p:txBody>
      </p:sp>
      <p:sp>
        <p:nvSpPr>
          <p:cNvPr id="11" name="Rounded Rectangle 10"/>
          <p:cNvSpPr/>
          <p:nvPr/>
        </p:nvSpPr>
        <p:spPr>
          <a:xfrm>
            <a:off x="914400" y="5532120"/>
            <a:ext cx="9326880" cy="420624"/>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 good CRA recommendation is not a cloud preference. It is a defensible decision model.</a:t>
            </a:r>
          </a:p>
        </p:txBody>
      </p:sp>
      <p:sp>
        <p:nvSpPr>
          <p:cNvPr id="12" name="TextBox 11"/>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3" name="TextBox 12"/>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Reusable Asset Library</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Template reuse shortens delivery while making quality and evidence consistent</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2971800" cy="96012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Discovery</a:t>
            </a:r>
          </a:p>
          <a:p>
            <a:pPr>
              <a:spcBef>
                <a:spcPts val="400"/>
              </a:spcBef>
            </a:pPr>
            <a:r>
              <a:rPr sz="850">
                <a:solidFill>
                  <a:srgbClr val="2D2D2D"/>
                </a:solidFill>
                <a:latin typeface="Arial"/>
              </a:rPr>
              <a:t>Inventory templates, profiling questionnaires, dependency tools, scripts</a:t>
            </a:r>
          </a:p>
        </p:txBody>
      </p:sp>
      <p:sp>
        <p:nvSpPr>
          <p:cNvPr id="6" name="Rounded Rectangle 5"/>
          <p:cNvSpPr/>
          <p:nvPr/>
        </p:nvSpPr>
        <p:spPr>
          <a:xfrm>
            <a:off x="3840480" y="1234440"/>
            <a:ext cx="2971800" cy="96012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Assessment</a:t>
            </a:r>
          </a:p>
          <a:p>
            <a:pPr>
              <a:spcBef>
                <a:spcPts val="400"/>
              </a:spcBef>
            </a:pPr>
            <a:r>
              <a:rPr sz="850">
                <a:solidFill>
                  <a:srgbClr val="2D2D2D"/>
                </a:solidFill>
                <a:latin typeface="Arial"/>
              </a:rPr>
              <a:t>Scoring models, readiness checklists, cloud affinity calculators</a:t>
            </a:r>
          </a:p>
        </p:txBody>
      </p:sp>
      <p:sp>
        <p:nvSpPr>
          <p:cNvPr id="7" name="Rounded Rectangle 6"/>
          <p:cNvSpPr/>
          <p:nvPr/>
        </p:nvSpPr>
        <p:spPr>
          <a:xfrm>
            <a:off x="7178040" y="1234440"/>
            <a:ext cx="2971800" cy="960120"/>
          </a:xfrm>
          <a:prstGeom prst="roundRect">
            <a:avLst/>
          </a:prstGeom>
          <a:solidFill>
            <a:srgbClr val="F4F1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TCO</a:t>
            </a:r>
          </a:p>
          <a:p>
            <a:pPr>
              <a:spcBef>
                <a:spcPts val="400"/>
              </a:spcBef>
            </a:pPr>
            <a:r>
              <a:rPr sz="850">
                <a:solidFill>
                  <a:srgbClr val="2D2D2D"/>
                </a:solidFill>
                <a:latin typeface="Arial"/>
              </a:rPr>
              <a:t>Live/API pricing, BYOL modeling, regional cost comparison, optimization</a:t>
            </a:r>
          </a:p>
        </p:txBody>
      </p:sp>
      <p:sp>
        <p:nvSpPr>
          <p:cNvPr id="8" name="Rounded Rectangle 7"/>
          <p:cNvSpPr/>
          <p:nvPr/>
        </p:nvSpPr>
        <p:spPr>
          <a:xfrm>
            <a:off x="502920" y="2651760"/>
            <a:ext cx="2971800" cy="960120"/>
          </a:xfrm>
          <a:prstGeom prst="roundRect">
            <a:avLst/>
          </a:prstGeom>
          <a:solidFill>
            <a:srgbClr val="F1F9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Planning</a:t>
            </a:r>
          </a:p>
          <a:p>
            <a:pPr>
              <a:spcBef>
                <a:spcPts val="400"/>
              </a:spcBef>
            </a:pPr>
            <a:r>
              <a:rPr sz="850">
                <a:solidFill>
                  <a:srgbClr val="2D2D2D"/>
                </a:solidFill>
                <a:latin typeface="Arial"/>
              </a:rPr>
              <a:t>Migration waves, project plans, governance frameworks, landing zone blueprints</a:t>
            </a:r>
          </a:p>
        </p:txBody>
      </p:sp>
      <p:sp>
        <p:nvSpPr>
          <p:cNvPr id="9" name="Rounded Rectangle 8"/>
          <p:cNvSpPr/>
          <p:nvPr/>
        </p:nvSpPr>
        <p:spPr>
          <a:xfrm>
            <a:off x="3840480" y="2651760"/>
            <a:ext cx="2971800" cy="960120"/>
          </a:xfrm>
          <a:prstGeom prst="roundRect">
            <a:avLst/>
          </a:prstGeom>
          <a:solidFill>
            <a:srgbClr val="F4F1FA"/>
          </a:solidFill>
          <a:ln w="16510">
            <a:solidFill>
              <a:srgbClr val="ECB11F"/>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Engagement</a:t>
            </a:r>
          </a:p>
          <a:p>
            <a:pPr>
              <a:spcBef>
                <a:spcPts val="400"/>
              </a:spcBef>
            </a:pPr>
            <a:r>
              <a:rPr sz="850">
                <a:solidFill>
                  <a:srgbClr val="2D2D2D"/>
                </a:solidFill>
                <a:latin typeface="Arial"/>
              </a:rPr>
              <a:t>Workshop decks, interview guides, hyperscaler scorecards, negotiation materials</a:t>
            </a:r>
          </a:p>
        </p:txBody>
      </p:sp>
      <p:sp>
        <p:nvSpPr>
          <p:cNvPr id="10" name="Rounded Rectangle 9"/>
          <p:cNvSpPr/>
          <p:nvPr/>
        </p:nvSpPr>
        <p:spPr>
          <a:xfrm>
            <a:off x="914400" y="4800600"/>
            <a:ext cx="9509760" cy="685800"/>
          </a:xfrm>
          <a:prstGeom prst="roundRect">
            <a:avLst/>
          </a:prstGeom>
          <a:solidFill>
            <a:srgbClr val="FAFAFC"/>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Reusable does not mean generic. The framework keeps the client-specific inputs, assumptions, and decisions traceable while standardizing the delivery mechanics.</a:t>
            </a:r>
          </a:p>
        </p:txBody>
      </p:sp>
      <p:sp>
        <p:nvSpPr>
          <p:cNvPr id="11" name="TextBox 10"/>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2" name="TextBox 11"/>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Key Differentiators</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accelerator is designed to produce recommendations that can survive executive, technical, and commercial scrutiny</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1508760" cy="62179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100%</a:t>
            </a:r>
          </a:p>
          <a:p>
            <a:pPr algn="ctr"/>
            <a:r>
              <a:rPr sz="750">
                <a:solidFill>
                  <a:srgbClr val="5F5F5F"/>
                </a:solidFill>
                <a:latin typeface="Arial"/>
              </a:rPr>
              <a:t>provider neutral</a:t>
            </a:r>
          </a:p>
        </p:txBody>
      </p:sp>
      <p:sp>
        <p:nvSpPr>
          <p:cNvPr id="6" name="Rounded Rectangle 5"/>
          <p:cNvSpPr/>
          <p:nvPr/>
        </p:nvSpPr>
        <p:spPr>
          <a:xfrm>
            <a:off x="2560320" y="1234440"/>
            <a:ext cx="1508760" cy="62179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5</a:t>
            </a:r>
          </a:p>
          <a:p>
            <a:pPr algn="ctr"/>
            <a:r>
              <a:rPr sz="750">
                <a:solidFill>
                  <a:srgbClr val="5F5F5F"/>
                </a:solidFill>
                <a:latin typeface="Arial"/>
              </a:rPr>
              <a:t>readiness dimensions</a:t>
            </a:r>
          </a:p>
        </p:txBody>
      </p:sp>
      <p:sp>
        <p:nvSpPr>
          <p:cNvPr id="8" name="Rounded Rectangle 7"/>
          <p:cNvSpPr/>
          <p:nvPr/>
        </p:nvSpPr>
        <p:spPr>
          <a:xfrm>
            <a:off x="5040284" y="1243584"/>
            <a:ext cx="1508760" cy="62179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dirty="0">
                <a:solidFill>
                  <a:srgbClr val="179467"/>
                </a:solidFill>
                <a:latin typeface="Arial"/>
              </a:rPr>
              <a:t>24+</a:t>
            </a:r>
          </a:p>
          <a:p>
            <a:pPr algn="ctr"/>
            <a:r>
              <a:rPr sz="750" dirty="0">
                <a:solidFill>
                  <a:srgbClr val="5F5F5F"/>
                </a:solidFill>
                <a:latin typeface="Arial"/>
              </a:rPr>
              <a:t>reusable assets</a:t>
            </a:r>
          </a:p>
        </p:txBody>
      </p:sp>
      <p:sp>
        <p:nvSpPr>
          <p:cNvPr id="9" name="Rounded Rectangle 8"/>
          <p:cNvSpPr/>
          <p:nvPr/>
        </p:nvSpPr>
        <p:spPr>
          <a:xfrm>
            <a:off x="7520248" y="1271016"/>
            <a:ext cx="1508760" cy="62179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CB11F"/>
                </a:solidFill>
                <a:latin typeface="Arial"/>
              </a:rPr>
              <a:t>60%</a:t>
            </a:r>
          </a:p>
          <a:p>
            <a:pPr algn="ctr"/>
            <a:r>
              <a:rPr sz="750">
                <a:solidFill>
                  <a:srgbClr val="5F5F5F"/>
                </a:solidFill>
                <a:latin typeface="Arial"/>
              </a:rPr>
              <a:t>time reduction</a:t>
            </a:r>
          </a:p>
        </p:txBody>
      </p:sp>
      <p:sp>
        <p:nvSpPr>
          <p:cNvPr id="10" name="Rounded Rectangle 9"/>
          <p:cNvSpPr/>
          <p:nvPr/>
        </p:nvSpPr>
        <p:spPr>
          <a:xfrm>
            <a:off x="685800" y="2423160"/>
            <a:ext cx="4526280" cy="91440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Provider-neutral evaluation</a:t>
            </a:r>
          </a:p>
          <a:p>
            <a:pPr>
              <a:spcBef>
                <a:spcPts val="400"/>
              </a:spcBef>
            </a:pPr>
            <a:r>
              <a:rPr sz="880">
                <a:solidFill>
                  <a:srgbClr val="2D2D2D"/>
                </a:solidFill>
                <a:latin typeface="Arial"/>
              </a:rPr>
              <a:t>Standardized scoring avoids single-platform bias and keeps recommendations objective.</a:t>
            </a:r>
          </a:p>
        </p:txBody>
      </p:sp>
      <p:sp>
        <p:nvSpPr>
          <p:cNvPr id="11" name="Rounded Rectangle 10"/>
          <p:cNvSpPr/>
          <p:nvPr/>
        </p:nvSpPr>
        <p:spPr>
          <a:xfrm>
            <a:off x="5669280" y="2423160"/>
            <a:ext cx="4526280" cy="914400"/>
          </a:xfrm>
          <a:prstGeom prst="roundRect">
            <a:avLst/>
          </a:prstGeom>
          <a:solidFill>
            <a:srgbClr val="F1F9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Licensing-aware TCO</a:t>
            </a:r>
          </a:p>
          <a:p>
            <a:pPr>
              <a:spcBef>
                <a:spcPts val="400"/>
              </a:spcBef>
            </a:pPr>
            <a:r>
              <a:rPr sz="880">
                <a:solidFill>
                  <a:srgbClr val="2D2D2D"/>
                </a:solidFill>
                <a:latin typeface="Arial"/>
              </a:rPr>
              <a:t>BYOL, Software Assurance, regional pricing, and optimization scenarios are modeled explicitly.</a:t>
            </a:r>
          </a:p>
        </p:txBody>
      </p:sp>
      <p:sp>
        <p:nvSpPr>
          <p:cNvPr id="12" name="Rounded Rectangle 11"/>
          <p:cNvSpPr/>
          <p:nvPr/>
        </p:nvSpPr>
        <p:spPr>
          <a:xfrm>
            <a:off x="685800" y="3657600"/>
            <a:ext cx="4526280" cy="914400"/>
          </a:xfrm>
          <a:prstGeom prst="roundRect">
            <a:avLst/>
          </a:prstGeom>
          <a:solidFill>
            <a:srgbClr val="F4F1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Governance-first design</a:t>
            </a:r>
          </a:p>
          <a:p>
            <a:pPr>
              <a:spcBef>
                <a:spcPts val="400"/>
              </a:spcBef>
            </a:pPr>
            <a:r>
              <a:rPr sz="880">
                <a:solidFill>
                  <a:srgbClr val="2D2D2D"/>
                </a:solidFill>
                <a:latin typeface="Arial"/>
              </a:rPr>
              <a:t>Landing zones, FinOps, security controls, and operating model considerations start early.</a:t>
            </a:r>
          </a:p>
        </p:txBody>
      </p:sp>
      <p:sp>
        <p:nvSpPr>
          <p:cNvPr id="13" name="Rounded Rectangle 12"/>
          <p:cNvSpPr/>
          <p:nvPr/>
        </p:nvSpPr>
        <p:spPr>
          <a:xfrm>
            <a:off x="5669280" y="3657600"/>
            <a:ext cx="4526280" cy="914400"/>
          </a:xfrm>
          <a:prstGeom prst="roundRect">
            <a:avLst/>
          </a:prstGeom>
          <a:solidFill>
            <a:srgbClr val="F1F9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Repeatable delivery model</a:t>
            </a:r>
          </a:p>
          <a:p>
            <a:pPr>
              <a:spcBef>
                <a:spcPts val="400"/>
              </a:spcBef>
            </a:pPr>
            <a:r>
              <a:rPr sz="880">
                <a:solidFill>
                  <a:srgbClr val="2D2D2D"/>
                </a:solidFill>
                <a:latin typeface="Arial"/>
              </a:rPr>
              <a:t>Templates, scoring, and reporting are reusable across client engagements and teams.</a:t>
            </a:r>
          </a:p>
        </p:txBody>
      </p:sp>
      <p:sp>
        <p:nvSpPr>
          <p:cNvPr id="14" name="Rounded Rectangle 13"/>
          <p:cNvSpPr/>
          <p:nvPr/>
        </p:nvSpPr>
        <p:spPr>
          <a:xfrm>
            <a:off x="914400" y="5349240"/>
            <a:ext cx="9326880" cy="438912"/>
          </a:xfrm>
          <a:prstGeom prst="roundRect">
            <a:avLst/>
          </a:prstGeom>
          <a:solidFill>
            <a:srgbClr val="FAFAFC"/>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E11424"/>
                </a:solidFill>
                <a:latin typeface="Arial"/>
              </a:rPr>
              <a:t>The value is not just speed. It is a defensible, consistent recommendation that supports executive, technical, and commercial routing.</a:t>
            </a:r>
          </a:p>
        </p:txBody>
      </p:sp>
      <p:sp>
        <p:nvSpPr>
          <p:cNvPr id="15" name="TextBox 14"/>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6" name="TextBox 15"/>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Proven in Production: DMG Media Case Study</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framework has been applied to a large enterprise estate with real migration and hyperscaler decision requirements</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5029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3,038</a:t>
            </a:r>
          </a:p>
          <a:p>
            <a:pPr algn="ctr"/>
            <a:r>
              <a:rPr sz="750">
                <a:solidFill>
                  <a:srgbClr val="5F5F5F"/>
                </a:solidFill>
                <a:latin typeface="Arial"/>
              </a:rPr>
              <a:t>servers assessed</a:t>
            </a:r>
          </a:p>
        </p:txBody>
      </p:sp>
      <p:sp>
        <p:nvSpPr>
          <p:cNvPr id="6" name="Rounded Rectangle 5"/>
          <p:cNvSpPr/>
          <p:nvPr/>
        </p:nvSpPr>
        <p:spPr>
          <a:xfrm>
            <a:off x="25603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009AAE"/>
                </a:solidFill>
                <a:latin typeface="Arial"/>
              </a:rPr>
              <a:t>39</a:t>
            </a:r>
          </a:p>
          <a:p>
            <a:pPr algn="ctr"/>
            <a:r>
              <a:rPr sz="750">
                <a:solidFill>
                  <a:srgbClr val="5F5F5F"/>
                </a:solidFill>
                <a:latin typeface="Arial"/>
              </a:rPr>
              <a:t>applications profiled</a:t>
            </a:r>
          </a:p>
        </p:txBody>
      </p:sp>
      <p:sp>
        <p:nvSpPr>
          <p:cNvPr id="7" name="Rounded Rectangle 6"/>
          <p:cNvSpPr/>
          <p:nvPr/>
        </p:nvSpPr>
        <p:spPr>
          <a:xfrm>
            <a:off x="46177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88</a:t>
            </a:r>
          </a:p>
          <a:p>
            <a:pPr algn="ctr"/>
            <a:r>
              <a:rPr sz="750">
                <a:solidFill>
                  <a:srgbClr val="5F5F5F"/>
                </a:solidFill>
                <a:latin typeface="Arial"/>
              </a:rPr>
              <a:t>databases evaluated</a:t>
            </a:r>
          </a:p>
        </p:txBody>
      </p:sp>
      <p:sp>
        <p:nvSpPr>
          <p:cNvPr id="8" name="Rounded Rectangle 7"/>
          <p:cNvSpPr/>
          <p:nvPr/>
        </p:nvSpPr>
        <p:spPr>
          <a:xfrm>
            <a:off x="66751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179467"/>
                </a:solidFill>
                <a:latin typeface="Arial"/>
              </a:rPr>
              <a:t>11</a:t>
            </a:r>
          </a:p>
          <a:p>
            <a:pPr algn="ctr"/>
            <a:r>
              <a:rPr sz="750">
                <a:solidFill>
                  <a:srgbClr val="5F5F5F"/>
                </a:solidFill>
                <a:latin typeface="Arial"/>
              </a:rPr>
              <a:t>weeks duration</a:t>
            </a:r>
          </a:p>
        </p:txBody>
      </p:sp>
      <p:sp>
        <p:nvSpPr>
          <p:cNvPr id="9" name="Rounded Rectangle 8"/>
          <p:cNvSpPr/>
          <p:nvPr/>
        </p:nvSpPr>
        <p:spPr>
          <a:xfrm>
            <a:off x="8732520" y="1234440"/>
            <a:ext cx="1508760" cy="658368"/>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CB11F"/>
                </a:solidFill>
                <a:latin typeface="Arial"/>
              </a:rPr>
              <a:t>3</a:t>
            </a:r>
          </a:p>
          <a:p>
            <a:pPr algn="ctr"/>
            <a:r>
              <a:rPr sz="750">
                <a:solidFill>
                  <a:srgbClr val="5F5F5F"/>
                </a:solidFill>
                <a:latin typeface="Arial"/>
              </a:rPr>
              <a:t>datacenters</a:t>
            </a:r>
          </a:p>
        </p:txBody>
      </p:sp>
      <p:sp>
        <p:nvSpPr>
          <p:cNvPr id="10" name="TextBox 9"/>
          <p:cNvSpPr txBox="1"/>
          <p:nvPr/>
        </p:nvSpPr>
        <p:spPr>
          <a:xfrm>
            <a:off x="822960" y="2331720"/>
            <a:ext cx="4297680" cy="228600"/>
          </a:xfrm>
          <a:prstGeom prst="rect">
            <a:avLst/>
          </a:prstGeom>
          <a:noFill/>
        </p:spPr>
        <p:txBody>
          <a:bodyPr wrap="none" lIns="27432" tIns="18288" rIns="27432" bIns="18288">
            <a:spAutoFit/>
          </a:bodyPr>
          <a:lstStyle/>
          <a:p>
            <a:pPr algn="ctr"/>
            <a:r>
              <a:rPr sz="1200" b="1">
                <a:solidFill>
                  <a:srgbClr val="2D2D2D"/>
                </a:solidFill>
                <a:latin typeface="Arial"/>
              </a:rPr>
              <a:t>DMG estate assessment scope</a:t>
            </a:r>
          </a:p>
        </p:txBody>
      </p:sp>
      <p:sp>
        <p:nvSpPr>
          <p:cNvPr id="11" name="Rectangle 10"/>
          <p:cNvSpPr/>
          <p:nvPr/>
        </p:nvSpPr>
        <p:spPr>
          <a:xfrm>
            <a:off x="1143000" y="2697479"/>
            <a:ext cx="490347" cy="1691640"/>
          </a:xfrm>
          <a:prstGeom prst="rect">
            <a:avLst/>
          </a:prstGeom>
          <a:solidFill>
            <a:srgbClr val="009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097280" y="2496311"/>
            <a:ext cx="581787" cy="146304"/>
          </a:xfrm>
          <a:prstGeom prst="rect">
            <a:avLst/>
          </a:prstGeom>
          <a:noFill/>
        </p:spPr>
        <p:txBody>
          <a:bodyPr wrap="none" lIns="27432" tIns="18288" rIns="27432" bIns="18288">
            <a:spAutoFit/>
          </a:bodyPr>
          <a:lstStyle/>
          <a:p>
            <a:pPr algn="ctr"/>
            <a:r>
              <a:rPr sz="750" b="0">
                <a:solidFill>
                  <a:srgbClr val="5F5F5F"/>
                </a:solidFill>
                <a:latin typeface="Arial"/>
              </a:rPr>
              <a:t>3038</a:t>
            </a:r>
          </a:p>
        </p:txBody>
      </p:sp>
      <p:sp>
        <p:nvSpPr>
          <p:cNvPr id="13" name="TextBox 12"/>
          <p:cNvSpPr txBox="1"/>
          <p:nvPr/>
        </p:nvSpPr>
        <p:spPr>
          <a:xfrm>
            <a:off x="941832" y="4462272"/>
            <a:ext cx="892683" cy="347472"/>
          </a:xfrm>
          <a:prstGeom prst="rect">
            <a:avLst/>
          </a:prstGeom>
          <a:noFill/>
        </p:spPr>
        <p:txBody>
          <a:bodyPr wrap="none" lIns="27432" tIns="18288" rIns="27432" bIns="18288">
            <a:spAutoFit/>
          </a:bodyPr>
          <a:lstStyle/>
          <a:p>
            <a:pPr algn="ctr"/>
            <a:r>
              <a:rPr sz="620" b="0">
                <a:solidFill>
                  <a:srgbClr val="5F5F5F"/>
                </a:solidFill>
                <a:latin typeface="Arial"/>
              </a:rPr>
              <a:t>Servers</a:t>
            </a:r>
          </a:p>
        </p:txBody>
      </p:sp>
      <p:sp>
        <p:nvSpPr>
          <p:cNvPr id="14" name="Rectangle 13"/>
          <p:cNvSpPr/>
          <p:nvPr/>
        </p:nvSpPr>
        <p:spPr>
          <a:xfrm>
            <a:off x="2034540" y="4367403"/>
            <a:ext cx="490347" cy="21716"/>
          </a:xfrm>
          <a:prstGeom prst="rect">
            <a:avLst/>
          </a:prstGeom>
          <a:solidFill>
            <a:srgbClr val="009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988820" y="4166235"/>
            <a:ext cx="581787" cy="146304"/>
          </a:xfrm>
          <a:prstGeom prst="rect">
            <a:avLst/>
          </a:prstGeom>
          <a:noFill/>
        </p:spPr>
        <p:txBody>
          <a:bodyPr wrap="none" lIns="27432" tIns="18288" rIns="27432" bIns="18288">
            <a:spAutoFit/>
          </a:bodyPr>
          <a:lstStyle/>
          <a:p>
            <a:pPr algn="ctr"/>
            <a:r>
              <a:rPr sz="750" b="0">
                <a:solidFill>
                  <a:srgbClr val="5F5F5F"/>
                </a:solidFill>
                <a:latin typeface="Arial"/>
              </a:rPr>
              <a:t>39</a:t>
            </a:r>
          </a:p>
        </p:txBody>
      </p:sp>
      <p:sp>
        <p:nvSpPr>
          <p:cNvPr id="16" name="TextBox 15"/>
          <p:cNvSpPr txBox="1"/>
          <p:nvPr/>
        </p:nvSpPr>
        <p:spPr>
          <a:xfrm>
            <a:off x="1833372" y="4462272"/>
            <a:ext cx="892683" cy="347472"/>
          </a:xfrm>
          <a:prstGeom prst="rect">
            <a:avLst/>
          </a:prstGeom>
          <a:noFill/>
        </p:spPr>
        <p:txBody>
          <a:bodyPr wrap="none" lIns="27432" tIns="18288" rIns="27432" bIns="18288">
            <a:spAutoFit/>
          </a:bodyPr>
          <a:lstStyle/>
          <a:p>
            <a:pPr algn="ctr"/>
            <a:r>
              <a:rPr sz="620" b="0">
                <a:solidFill>
                  <a:srgbClr val="5F5F5F"/>
                </a:solidFill>
                <a:latin typeface="Arial"/>
              </a:rPr>
              <a:t>Apps</a:t>
            </a:r>
          </a:p>
        </p:txBody>
      </p:sp>
      <p:sp>
        <p:nvSpPr>
          <p:cNvPr id="17" name="Rectangle 16"/>
          <p:cNvSpPr/>
          <p:nvPr/>
        </p:nvSpPr>
        <p:spPr>
          <a:xfrm>
            <a:off x="2926080" y="4340119"/>
            <a:ext cx="490347" cy="49000"/>
          </a:xfrm>
          <a:prstGeom prst="rect">
            <a:avLst/>
          </a:prstGeom>
          <a:solidFill>
            <a:srgbClr val="009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2880360" y="4138951"/>
            <a:ext cx="581787" cy="146304"/>
          </a:xfrm>
          <a:prstGeom prst="rect">
            <a:avLst/>
          </a:prstGeom>
          <a:noFill/>
        </p:spPr>
        <p:txBody>
          <a:bodyPr wrap="none" lIns="27432" tIns="18288" rIns="27432" bIns="18288">
            <a:spAutoFit/>
          </a:bodyPr>
          <a:lstStyle/>
          <a:p>
            <a:pPr algn="ctr"/>
            <a:r>
              <a:rPr sz="750" b="0">
                <a:solidFill>
                  <a:srgbClr val="5F5F5F"/>
                </a:solidFill>
                <a:latin typeface="Arial"/>
              </a:rPr>
              <a:t>88</a:t>
            </a:r>
          </a:p>
        </p:txBody>
      </p:sp>
      <p:sp>
        <p:nvSpPr>
          <p:cNvPr id="19" name="TextBox 18"/>
          <p:cNvSpPr txBox="1"/>
          <p:nvPr/>
        </p:nvSpPr>
        <p:spPr>
          <a:xfrm>
            <a:off x="2724912" y="4462272"/>
            <a:ext cx="892683" cy="347472"/>
          </a:xfrm>
          <a:prstGeom prst="rect">
            <a:avLst/>
          </a:prstGeom>
          <a:noFill/>
        </p:spPr>
        <p:txBody>
          <a:bodyPr wrap="none" lIns="27432" tIns="18288" rIns="27432" bIns="18288">
            <a:spAutoFit/>
          </a:bodyPr>
          <a:lstStyle/>
          <a:p>
            <a:pPr algn="ctr"/>
            <a:r>
              <a:rPr sz="620" b="0">
                <a:solidFill>
                  <a:srgbClr val="5F5F5F"/>
                </a:solidFill>
                <a:latin typeface="Arial"/>
              </a:rPr>
              <a:t>DBs</a:t>
            </a:r>
          </a:p>
        </p:txBody>
      </p:sp>
      <p:sp>
        <p:nvSpPr>
          <p:cNvPr id="20" name="Rectangle 19"/>
          <p:cNvSpPr/>
          <p:nvPr/>
        </p:nvSpPr>
        <p:spPr>
          <a:xfrm>
            <a:off x="3817620" y="4382994"/>
            <a:ext cx="490347" cy="6125"/>
          </a:xfrm>
          <a:prstGeom prst="rect">
            <a:avLst/>
          </a:prstGeom>
          <a:solidFill>
            <a:srgbClr val="009AA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3771900" y="4181826"/>
            <a:ext cx="581787" cy="146304"/>
          </a:xfrm>
          <a:prstGeom prst="rect">
            <a:avLst/>
          </a:prstGeom>
          <a:noFill/>
        </p:spPr>
        <p:txBody>
          <a:bodyPr wrap="none" lIns="27432" tIns="18288" rIns="27432" bIns="18288">
            <a:spAutoFit/>
          </a:bodyPr>
          <a:lstStyle/>
          <a:p>
            <a:pPr algn="ctr"/>
            <a:r>
              <a:rPr sz="750" b="0">
                <a:solidFill>
                  <a:srgbClr val="5F5F5F"/>
                </a:solidFill>
                <a:latin typeface="Arial"/>
              </a:rPr>
              <a:t>11</a:t>
            </a:r>
          </a:p>
        </p:txBody>
      </p:sp>
      <p:sp>
        <p:nvSpPr>
          <p:cNvPr id="22" name="TextBox 21"/>
          <p:cNvSpPr txBox="1"/>
          <p:nvPr/>
        </p:nvSpPr>
        <p:spPr>
          <a:xfrm>
            <a:off x="3616452" y="4462272"/>
            <a:ext cx="892683" cy="347472"/>
          </a:xfrm>
          <a:prstGeom prst="rect">
            <a:avLst/>
          </a:prstGeom>
          <a:noFill/>
        </p:spPr>
        <p:txBody>
          <a:bodyPr wrap="none" lIns="27432" tIns="18288" rIns="27432" bIns="18288">
            <a:spAutoFit/>
          </a:bodyPr>
          <a:lstStyle/>
          <a:p>
            <a:pPr algn="ctr"/>
            <a:r>
              <a:rPr sz="620" b="0">
                <a:solidFill>
                  <a:srgbClr val="5F5F5F"/>
                </a:solidFill>
                <a:latin typeface="Arial"/>
              </a:rPr>
              <a:t>Weeks</a:t>
            </a:r>
          </a:p>
        </p:txBody>
      </p:sp>
      <p:sp>
        <p:nvSpPr>
          <p:cNvPr id="23" name="Rectangle 22"/>
          <p:cNvSpPr/>
          <p:nvPr/>
        </p:nvSpPr>
        <p:spPr>
          <a:xfrm>
            <a:off x="1097280" y="4389120"/>
            <a:ext cx="3657600" cy="9144"/>
          </a:xfrm>
          <a:prstGeom prst="rect">
            <a:avLst/>
          </a:prstGeom>
          <a:solidFill>
            <a:srgbClr val="B4B4B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5532120" y="2487168"/>
            <a:ext cx="4937760" cy="1965960"/>
          </a:xfrm>
          <a:prstGeom prst="rect">
            <a:avLst/>
          </a:prstGeom>
          <a:noFill/>
        </p:spPr>
        <p:txBody>
          <a:bodyPr wrap="none" lIns="45720" tIns="18288" rIns="45720" bIns="18288">
            <a:spAutoFit/>
          </a:bodyPr>
          <a:lstStyle/>
          <a:p>
            <a:pPr>
              <a:spcAft>
                <a:spcPts val="0"/>
              </a:spcAft>
            </a:pPr>
            <a:r>
              <a:rPr sz="1150" b="1">
                <a:solidFill>
                  <a:srgbClr val="5C2684"/>
                </a:solidFill>
                <a:latin typeface="Arial"/>
              </a:rPr>
              <a:t>• </a:t>
            </a:r>
            <a:r>
              <a:rPr sz="1150">
                <a:solidFill>
                  <a:srgbClr val="2D2D2D"/>
                </a:solidFill>
                <a:latin typeface="Arial"/>
              </a:rPr>
              <a:t>Assessed Reading, Slough, and Sydney estate across infrastructure, applications, and databases.</a:t>
            </a:r>
          </a:p>
          <a:p>
            <a:pPr>
              <a:spcAft>
                <a:spcPts val="0"/>
              </a:spcAft>
            </a:pPr>
            <a:r>
              <a:rPr sz="1150" b="1">
                <a:solidFill>
                  <a:srgbClr val="5C2684"/>
                </a:solidFill>
                <a:latin typeface="Arial"/>
              </a:rPr>
              <a:t>• </a:t>
            </a:r>
            <a:r>
              <a:rPr sz="1150">
                <a:solidFill>
                  <a:srgbClr val="2D2D2D"/>
                </a:solidFill>
                <a:latin typeface="Arial"/>
              </a:rPr>
              <a:t>Ran application profiling workshops for Mail Online, Metro, and other DMG brands.</a:t>
            </a:r>
          </a:p>
          <a:p>
            <a:pPr>
              <a:spcAft>
                <a:spcPts val="0"/>
              </a:spcAft>
            </a:pPr>
            <a:r>
              <a:rPr sz="1150" b="1">
                <a:solidFill>
                  <a:srgbClr val="5C2684"/>
                </a:solidFill>
                <a:latin typeface="Arial"/>
              </a:rPr>
              <a:t>• </a:t>
            </a:r>
            <a:r>
              <a:rPr sz="1150">
                <a:solidFill>
                  <a:srgbClr val="2D2D2D"/>
                </a:solidFill>
                <a:latin typeface="Arial"/>
              </a:rPr>
              <a:t>Delivered Azure, AWS, and GCP comparison using weighted scoring tied to DMG business drivers.</a:t>
            </a:r>
          </a:p>
          <a:p>
            <a:pPr>
              <a:spcAft>
                <a:spcPts val="0"/>
              </a:spcAft>
            </a:pPr>
            <a:r>
              <a:rPr sz="1150" b="1">
                <a:solidFill>
                  <a:srgbClr val="5C2684"/>
                </a:solidFill>
                <a:latin typeface="Arial"/>
              </a:rPr>
              <a:t>• </a:t>
            </a:r>
            <a:r>
              <a:rPr sz="1150">
                <a:solidFill>
                  <a:srgbClr val="2D2D2D"/>
                </a:solidFill>
                <a:latin typeface="Arial"/>
              </a:rPr>
              <a:t>Recommendation was based on application fit, existing skills, migration risk, and commercial position.</a:t>
            </a:r>
          </a:p>
        </p:txBody>
      </p:sp>
      <p:sp>
        <p:nvSpPr>
          <p:cNvPr id="25" name="Rounded Rectangle 24"/>
          <p:cNvSpPr/>
          <p:nvPr/>
        </p:nvSpPr>
        <p:spPr>
          <a:xfrm>
            <a:off x="5532120" y="4800600"/>
            <a:ext cx="4937760" cy="676656"/>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Evidence point: the framework supports enterprise-scale analysis, executive recommendation, and repeatable delivery governance.</a:t>
            </a:r>
          </a:p>
        </p:txBody>
      </p:sp>
      <p:sp>
        <p:nvSpPr>
          <p:cNvPr id="26" name="TextBox 25"/>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27" name="TextBox 26"/>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Strategic Value Delivered to Rackspace</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accelerator creates a repeatable delivery capability, not just another assessment deck</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4400" y="1234440"/>
            <a:ext cx="160020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60%</a:t>
            </a:r>
          </a:p>
          <a:p>
            <a:pPr algn="ctr"/>
            <a:r>
              <a:rPr sz="750">
                <a:solidFill>
                  <a:srgbClr val="5F5F5F"/>
                </a:solidFill>
                <a:latin typeface="Arial"/>
              </a:rPr>
              <a:t>faster delivery</a:t>
            </a:r>
          </a:p>
        </p:txBody>
      </p:sp>
      <p:sp>
        <p:nvSpPr>
          <p:cNvPr id="6" name="Rounded Rectangle 5"/>
          <p:cNvSpPr/>
          <p:nvPr/>
        </p:nvSpPr>
        <p:spPr>
          <a:xfrm>
            <a:off x="3429000" y="1234440"/>
            <a:ext cx="160020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100%</a:t>
            </a:r>
          </a:p>
          <a:p>
            <a:pPr algn="ctr"/>
            <a:r>
              <a:rPr sz="750">
                <a:solidFill>
                  <a:srgbClr val="5F5F5F"/>
                </a:solidFill>
                <a:latin typeface="Arial"/>
              </a:rPr>
              <a:t>consistency</a:t>
            </a:r>
          </a:p>
        </p:txBody>
      </p:sp>
      <p:sp>
        <p:nvSpPr>
          <p:cNvPr id="7" name="Rounded Rectangle 6"/>
          <p:cNvSpPr/>
          <p:nvPr/>
        </p:nvSpPr>
        <p:spPr>
          <a:xfrm>
            <a:off x="5943600" y="1234440"/>
            <a:ext cx="160020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009AAE"/>
                </a:solidFill>
                <a:latin typeface="Arial"/>
              </a:rPr>
              <a:t>3x</a:t>
            </a:r>
          </a:p>
          <a:p>
            <a:pPr algn="ctr"/>
            <a:r>
              <a:rPr sz="750">
                <a:solidFill>
                  <a:srgbClr val="5F5F5F"/>
                </a:solidFill>
                <a:latin typeface="Arial"/>
              </a:rPr>
              <a:t>scalability</a:t>
            </a:r>
          </a:p>
        </p:txBody>
      </p:sp>
      <p:sp>
        <p:nvSpPr>
          <p:cNvPr id="8" name="Rounded Rectangle 7"/>
          <p:cNvSpPr/>
          <p:nvPr/>
        </p:nvSpPr>
        <p:spPr>
          <a:xfrm>
            <a:off x="8458200" y="1234440"/>
            <a:ext cx="160020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179467"/>
                </a:solidFill>
                <a:latin typeface="Arial"/>
              </a:rPr>
              <a:t>1</a:t>
            </a:r>
          </a:p>
          <a:p>
            <a:pPr algn="ctr"/>
            <a:r>
              <a:rPr sz="750">
                <a:solidFill>
                  <a:srgbClr val="5F5F5F"/>
                </a:solidFill>
                <a:latin typeface="Arial"/>
              </a:rPr>
              <a:t>common delivery model</a:t>
            </a:r>
          </a:p>
        </p:txBody>
      </p:sp>
      <p:sp>
        <p:nvSpPr>
          <p:cNvPr id="9" name="Rounded Rectangle 8"/>
          <p:cNvSpPr/>
          <p:nvPr/>
        </p:nvSpPr>
        <p:spPr>
          <a:xfrm>
            <a:off x="822960" y="2697480"/>
            <a:ext cx="2971800" cy="105156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Delivery speed</a:t>
            </a:r>
          </a:p>
          <a:p>
            <a:pPr>
              <a:spcBef>
                <a:spcPts val="400"/>
              </a:spcBef>
            </a:pPr>
            <a:r>
              <a:rPr sz="900">
                <a:solidFill>
                  <a:srgbClr val="2D2D2D"/>
                </a:solidFill>
                <a:latin typeface="Arial"/>
              </a:rPr>
              <a:t>Pre-built templates and methodology reduce repeated setup and analysis effort.</a:t>
            </a:r>
          </a:p>
        </p:txBody>
      </p:sp>
      <p:sp>
        <p:nvSpPr>
          <p:cNvPr id="10" name="Rounded Rectangle 9"/>
          <p:cNvSpPr/>
          <p:nvPr/>
        </p:nvSpPr>
        <p:spPr>
          <a:xfrm>
            <a:off x="4251960" y="2697480"/>
            <a:ext cx="2971800" cy="105156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Client confidence</a:t>
            </a:r>
          </a:p>
          <a:p>
            <a:pPr>
              <a:spcBef>
                <a:spcPts val="400"/>
              </a:spcBef>
            </a:pPr>
            <a:r>
              <a:rPr sz="900">
                <a:solidFill>
                  <a:srgbClr val="2D2D2D"/>
                </a:solidFill>
                <a:latin typeface="Arial"/>
              </a:rPr>
              <a:t>Consistent evidence base improves recommendation quality and executive communication.</a:t>
            </a:r>
          </a:p>
        </p:txBody>
      </p:sp>
      <p:sp>
        <p:nvSpPr>
          <p:cNvPr id="11" name="Rounded Rectangle 10"/>
          <p:cNvSpPr/>
          <p:nvPr/>
        </p:nvSpPr>
        <p:spPr>
          <a:xfrm>
            <a:off x="7680960" y="2697480"/>
            <a:ext cx="2971800" cy="105156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00" b="1">
                <a:solidFill>
                  <a:srgbClr val="5C2684"/>
                </a:solidFill>
                <a:latin typeface="Arial"/>
              </a:rPr>
              <a:t>Scale and efficiency</a:t>
            </a:r>
          </a:p>
          <a:p>
            <a:pPr>
              <a:spcBef>
                <a:spcPts val="400"/>
              </a:spcBef>
            </a:pPr>
            <a:r>
              <a:rPr sz="900">
                <a:solidFill>
                  <a:srgbClr val="2D2D2D"/>
                </a:solidFill>
                <a:latin typeface="Arial"/>
              </a:rPr>
              <a:t>Multiple delivery teams can execute the same high-quality assessment model.</a:t>
            </a:r>
          </a:p>
        </p:txBody>
      </p:sp>
      <p:sp>
        <p:nvSpPr>
          <p:cNvPr id="12" name="Rounded Rectangle 11"/>
          <p:cNvSpPr/>
          <p:nvPr/>
        </p:nvSpPr>
        <p:spPr>
          <a:xfrm>
            <a:off x="914400" y="4892040"/>
            <a:ext cx="9418320" cy="50292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This is a delivery accelerator and a market-differentiating capability.</a:t>
            </a:r>
          </a:p>
        </p:txBody>
      </p:sp>
      <p:sp>
        <p:nvSpPr>
          <p:cNvPr id="13" name="TextBox 12"/>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4" name="TextBox 13"/>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How This Framework Can Be Reused</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same delivery pattern can flex by industry, estate scale, cloud maturity, and geography</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85800" y="1280160"/>
            <a:ext cx="4572000" cy="100584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Any industry vertical</a:t>
            </a:r>
          </a:p>
          <a:p>
            <a:pPr>
              <a:spcBef>
                <a:spcPts val="400"/>
              </a:spcBef>
            </a:pPr>
            <a:r>
              <a:rPr sz="950">
                <a:solidFill>
                  <a:srgbClr val="2D2D2D"/>
                </a:solidFill>
                <a:latin typeface="Arial"/>
              </a:rPr>
              <a:t>Retail, media, financial services, healthcare, manufacturing</a:t>
            </a:r>
          </a:p>
        </p:txBody>
      </p:sp>
      <p:sp>
        <p:nvSpPr>
          <p:cNvPr id="6" name="Rounded Rectangle 5"/>
          <p:cNvSpPr/>
          <p:nvPr/>
        </p:nvSpPr>
        <p:spPr>
          <a:xfrm>
            <a:off x="5806440" y="1280160"/>
            <a:ext cx="4572000" cy="100584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Any estate size</a:t>
            </a:r>
          </a:p>
          <a:p>
            <a:pPr>
              <a:spcBef>
                <a:spcPts val="400"/>
              </a:spcBef>
            </a:pPr>
            <a:r>
              <a:rPr sz="950">
                <a:solidFill>
                  <a:srgbClr val="2D2D2D"/>
                </a:solidFill>
                <a:latin typeface="Arial"/>
              </a:rPr>
              <a:t>100 to 10,000+ servers with scalable methodology</a:t>
            </a:r>
          </a:p>
        </p:txBody>
      </p:sp>
      <p:sp>
        <p:nvSpPr>
          <p:cNvPr id="7" name="Rounded Rectangle 6"/>
          <p:cNvSpPr/>
          <p:nvPr/>
        </p:nvSpPr>
        <p:spPr>
          <a:xfrm>
            <a:off x="685800" y="2606039"/>
            <a:ext cx="4572000" cy="1005840"/>
          </a:xfrm>
          <a:prstGeom prst="roundRect">
            <a:avLst/>
          </a:prstGeom>
          <a:solidFill>
            <a:srgbClr val="F4F1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Any cloud maturity</a:t>
            </a:r>
          </a:p>
          <a:p>
            <a:pPr>
              <a:spcBef>
                <a:spcPts val="400"/>
              </a:spcBef>
            </a:pPr>
            <a:r>
              <a:rPr sz="950">
                <a:solidFill>
                  <a:srgbClr val="2D2D2D"/>
                </a:solidFill>
                <a:latin typeface="Arial"/>
              </a:rPr>
              <a:t>Greenfield, hybrid, or multi-cloud transformation scenarios</a:t>
            </a:r>
          </a:p>
        </p:txBody>
      </p:sp>
      <p:sp>
        <p:nvSpPr>
          <p:cNvPr id="8" name="Rounded Rectangle 7"/>
          <p:cNvSpPr/>
          <p:nvPr/>
        </p:nvSpPr>
        <p:spPr>
          <a:xfrm>
            <a:off x="5806440" y="2606039"/>
            <a:ext cx="4572000" cy="1005840"/>
          </a:xfrm>
          <a:prstGeom prst="roundRect">
            <a:avLst/>
          </a:prstGeom>
          <a:solidFill>
            <a:srgbClr val="F1F9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200" b="1">
                <a:solidFill>
                  <a:srgbClr val="5C2684"/>
                </a:solidFill>
                <a:latin typeface="Arial"/>
              </a:rPr>
              <a:t>Any geographic region</a:t>
            </a:r>
          </a:p>
          <a:p>
            <a:pPr>
              <a:spcBef>
                <a:spcPts val="400"/>
              </a:spcBef>
            </a:pPr>
            <a:r>
              <a:rPr sz="950">
                <a:solidFill>
                  <a:srgbClr val="2D2D2D"/>
                </a:solidFill>
                <a:latin typeface="Arial"/>
              </a:rPr>
              <a:t>Regional pricing and compliance requirements supported</a:t>
            </a:r>
          </a:p>
        </p:txBody>
      </p:sp>
      <p:sp>
        <p:nvSpPr>
          <p:cNvPr id="9" name="TextBox 8"/>
          <p:cNvSpPr txBox="1"/>
          <p:nvPr/>
        </p:nvSpPr>
        <p:spPr>
          <a:xfrm>
            <a:off x="868680" y="4251960"/>
            <a:ext cx="9601200" cy="1005840"/>
          </a:xfrm>
          <a:prstGeom prst="rect">
            <a:avLst/>
          </a:prstGeom>
          <a:noFill/>
        </p:spPr>
        <p:txBody>
          <a:bodyPr wrap="none" lIns="45720" tIns="18288" rIns="45720" bIns="18288">
            <a:spAutoFit/>
          </a:bodyPr>
          <a:lstStyle/>
          <a:p>
            <a:pPr>
              <a:spcAft>
                <a:spcPts val="0"/>
              </a:spcAft>
            </a:pPr>
            <a:r>
              <a:rPr sz="1250" b="1">
                <a:solidFill>
                  <a:srgbClr val="5C2684"/>
                </a:solidFill>
                <a:latin typeface="Arial"/>
              </a:rPr>
              <a:t>• </a:t>
            </a:r>
            <a:r>
              <a:rPr sz="1250">
                <a:solidFill>
                  <a:srgbClr val="2D2D2D"/>
                </a:solidFill>
                <a:latin typeface="Arial"/>
              </a:rPr>
              <a:t>Scoring weights can be adjusted based on client priorities: cost, resilience, security, innovation, speed, or risk.</a:t>
            </a:r>
          </a:p>
          <a:p>
            <a:pPr>
              <a:spcAft>
                <a:spcPts val="0"/>
              </a:spcAft>
            </a:pPr>
            <a:r>
              <a:rPr sz="1250" b="1">
                <a:solidFill>
                  <a:srgbClr val="5C2684"/>
                </a:solidFill>
                <a:latin typeface="Arial"/>
              </a:rPr>
              <a:t>• </a:t>
            </a:r>
            <a:r>
              <a:rPr sz="1250">
                <a:solidFill>
                  <a:srgbClr val="2D2D2D"/>
                </a:solidFill>
                <a:latin typeface="Arial"/>
              </a:rPr>
              <a:t>Regional adaptability supports localized pricing, compliance drivers, and country-specific constraints.</a:t>
            </a:r>
          </a:p>
          <a:p>
            <a:pPr>
              <a:spcAft>
                <a:spcPts val="0"/>
              </a:spcAft>
            </a:pPr>
            <a:r>
              <a:rPr sz="1250" b="1">
                <a:solidFill>
                  <a:srgbClr val="5C2684"/>
                </a:solidFill>
                <a:latin typeface="Arial"/>
              </a:rPr>
              <a:t>• </a:t>
            </a:r>
            <a:r>
              <a:rPr sz="1250">
                <a:solidFill>
                  <a:srgbClr val="2D2D2D"/>
                </a:solidFill>
                <a:latin typeface="Arial"/>
              </a:rPr>
              <a:t>Reusable does not mean one-size-fits-all. The model standardizes the process while adapting the decision criteria.</a:t>
            </a:r>
          </a:p>
        </p:txBody>
      </p:sp>
      <p:sp>
        <p:nvSpPr>
          <p:cNvPr id="10" name="TextBox 9"/>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1" name="TextBox 10"/>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11</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Leadership, Ownership, and Practice Adoption</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The framework creates reusable intellectual property and a scalable practice asset</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68680" y="1234440"/>
            <a:ext cx="164592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E11424"/>
                </a:solidFill>
                <a:latin typeface="Arial"/>
              </a:rPr>
              <a:t>24+</a:t>
            </a:r>
          </a:p>
          <a:p>
            <a:pPr algn="ctr"/>
            <a:r>
              <a:rPr sz="750">
                <a:solidFill>
                  <a:srgbClr val="5F5F5F"/>
                </a:solidFill>
                <a:latin typeface="Arial"/>
              </a:rPr>
              <a:t>deliverables created</a:t>
            </a:r>
          </a:p>
        </p:txBody>
      </p:sp>
      <p:sp>
        <p:nvSpPr>
          <p:cNvPr id="6" name="Rounded Rectangle 5"/>
          <p:cNvSpPr/>
          <p:nvPr/>
        </p:nvSpPr>
        <p:spPr>
          <a:xfrm>
            <a:off x="3337560" y="1234440"/>
            <a:ext cx="164592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5C2684"/>
                </a:solidFill>
                <a:latin typeface="Arial"/>
              </a:rPr>
              <a:t>GitHub</a:t>
            </a:r>
          </a:p>
          <a:p>
            <a:pPr algn="ctr"/>
            <a:r>
              <a:rPr sz="750">
                <a:solidFill>
                  <a:srgbClr val="5F5F5F"/>
                </a:solidFill>
                <a:latin typeface="Arial"/>
              </a:rPr>
              <a:t>published framework</a:t>
            </a:r>
          </a:p>
        </p:txBody>
      </p:sp>
      <p:sp>
        <p:nvSpPr>
          <p:cNvPr id="7" name="Rounded Rectangle 6"/>
          <p:cNvSpPr/>
          <p:nvPr/>
        </p:nvSpPr>
        <p:spPr>
          <a:xfrm>
            <a:off x="5806440" y="1234440"/>
            <a:ext cx="164592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009AAE"/>
                </a:solidFill>
                <a:latin typeface="Arial"/>
              </a:rPr>
              <a:t>Multi-team</a:t>
            </a:r>
          </a:p>
          <a:p>
            <a:pPr algn="ctr"/>
            <a:r>
              <a:rPr sz="750">
                <a:solidFill>
                  <a:srgbClr val="5F5F5F"/>
                </a:solidFill>
                <a:latin typeface="Arial"/>
              </a:rPr>
              <a:t>adoption model</a:t>
            </a:r>
          </a:p>
        </p:txBody>
      </p:sp>
      <p:sp>
        <p:nvSpPr>
          <p:cNvPr id="8" name="Rounded Rectangle 7"/>
          <p:cNvSpPr/>
          <p:nvPr/>
        </p:nvSpPr>
        <p:spPr>
          <a:xfrm>
            <a:off x="8275320" y="1234440"/>
            <a:ext cx="1645920" cy="713232"/>
          </a:xfrm>
          <a:prstGeom prst="roundRect">
            <a:avLst/>
          </a:prstGeom>
          <a:solidFill>
            <a:srgbClr val="F4F1FA"/>
          </a:solidFill>
          <a:ln w="10160">
            <a:solidFill>
              <a:srgbClr val="DBD3EE"/>
            </a:solidFill>
          </a:ln>
        </p:spPr>
        <p:style>
          <a:lnRef idx="1">
            <a:schemeClr val="accent1"/>
          </a:lnRef>
          <a:fillRef idx="3">
            <a:schemeClr val="accent1"/>
          </a:fillRef>
          <a:effectRef idx="2">
            <a:schemeClr val="accent1"/>
          </a:effectRef>
          <a:fontRef idx="minor">
            <a:schemeClr val="lt1"/>
          </a:fontRef>
        </p:style>
        <p:txBody>
          <a:bodyPr tIns="73152" bIns="36576" rtlCol="0" anchor="ctr"/>
          <a:lstStyle/>
          <a:p>
            <a:pPr algn="ctr"/>
            <a:r>
              <a:rPr sz="1800" b="1">
                <a:solidFill>
                  <a:srgbClr val="179467"/>
                </a:solidFill>
                <a:latin typeface="Arial"/>
              </a:rPr>
              <a:t>Reusable</a:t>
            </a:r>
          </a:p>
          <a:p>
            <a:pPr algn="ctr"/>
            <a:r>
              <a:rPr sz="750">
                <a:solidFill>
                  <a:srgbClr val="5F5F5F"/>
                </a:solidFill>
                <a:latin typeface="Arial"/>
              </a:rPr>
              <a:t>practice asset</a:t>
            </a:r>
          </a:p>
        </p:txBody>
      </p:sp>
      <p:sp>
        <p:nvSpPr>
          <p:cNvPr id="9" name="TextBox 8"/>
          <p:cNvSpPr txBox="1"/>
          <p:nvPr/>
        </p:nvSpPr>
        <p:spPr>
          <a:xfrm>
            <a:off x="868680" y="2514600"/>
            <a:ext cx="9784080" cy="1417320"/>
          </a:xfrm>
          <a:prstGeom prst="rect">
            <a:avLst/>
          </a:prstGeom>
          <a:noFill/>
        </p:spPr>
        <p:txBody>
          <a:bodyPr wrap="none" lIns="45720" tIns="18288" rIns="45720" bIns="18288">
            <a:spAutoFit/>
          </a:bodyPr>
          <a:lstStyle/>
          <a:p>
            <a:pPr>
              <a:spcAft>
                <a:spcPts val="0"/>
              </a:spcAft>
            </a:pPr>
            <a:r>
              <a:rPr sz="1250" b="1">
                <a:solidFill>
                  <a:srgbClr val="5C2684"/>
                </a:solidFill>
                <a:latin typeface="Arial"/>
              </a:rPr>
              <a:t>• </a:t>
            </a:r>
            <a:r>
              <a:rPr sz="1250">
                <a:solidFill>
                  <a:srgbClr val="2D2D2D"/>
                </a:solidFill>
                <a:latin typeface="Arial"/>
              </a:rPr>
              <a:t>Created framework architecture covering methodology design, template creation, scoring logic, and delivery workflows.</a:t>
            </a:r>
          </a:p>
          <a:p>
            <a:pPr>
              <a:spcAft>
                <a:spcPts val="0"/>
              </a:spcAft>
            </a:pPr>
            <a:r>
              <a:rPr sz="1250" b="1">
                <a:solidFill>
                  <a:srgbClr val="5C2684"/>
                </a:solidFill>
                <a:latin typeface="Arial"/>
              </a:rPr>
              <a:t>• </a:t>
            </a:r>
            <a:r>
              <a:rPr sz="1250">
                <a:solidFill>
                  <a:srgbClr val="2D2D2D"/>
                </a:solidFill>
                <a:latin typeface="Arial"/>
              </a:rPr>
              <a:t>Published framework to GitHub for version control, knowledge sharing, and repeatable practice adoption.</a:t>
            </a:r>
          </a:p>
          <a:p>
            <a:pPr>
              <a:spcAft>
                <a:spcPts val="0"/>
              </a:spcAft>
            </a:pPr>
            <a:r>
              <a:rPr sz="1250" b="1">
                <a:solidFill>
                  <a:srgbClr val="5C2684"/>
                </a:solidFill>
                <a:latin typeface="Arial"/>
              </a:rPr>
              <a:t>• </a:t>
            </a:r>
            <a:r>
              <a:rPr sz="1250">
                <a:solidFill>
                  <a:srgbClr val="2D2D2D"/>
                </a:solidFill>
                <a:latin typeface="Arial"/>
              </a:rPr>
              <a:t>Established a provider-neutral model where the market often relies on vendor-specific tooling.</a:t>
            </a:r>
          </a:p>
          <a:p>
            <a:pPr>
              <a:spcAft>
                <a:spcPts val="0"/>
              </a:spcAft>
            </a:pPr>
            <a:r>
              <a:rPr sz="1250" b="1">
                <a:solidFill>
                  <a:srgbClr val="5C2684"/>
                </a:solidFill>
                <a:latin typeface="Arial"/>
              </a:rPr>
              <a:t>• </a:t>
            </a:r>
            <a:r>
              <a:rPr sz="1250">
                <a:solidFill>
                  <a:srgbClr val="2D2D2D"/>
                </a:solidFill>
                <a:latin typeface="Arial"/>
              </a:rPr>
              <a:t>Enabled training, governance, and consistent client-facing delivery across multiple teams.</a:t>
            </a:r>
          </a:p>
        </p:txBody>
      </p:sp>
      <p:sp>
        <p:nvSpPr>
          <p:cNvPr id="10" name="Rounded Rectangle 9"/>
          <p:cNvSpPr/>
          <p:nvPr/>
        </p:nvSpPr>
        <p:spPr>
          <a:xfrm>
            <a:off x="868680" y="4709160"/>
            <a:ext cx="9784080" cy="68580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Recommended governance model: maintain the framework as a versioned practice asset with owners, release notes, review cadence, and approved client-facing templates.</a:t>
            </a:r>
          </a:p>
        </p:txBody>
      </p:sp>
      <p:sp>
        <p:nvSpPr>
          <p:cNvPr id="11" name="TextBox 10"/>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2" name="TextBox 11"/>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0040" y="292608"/>
            <a:ext cx="10607040" cy="420624"/>
          </a:xfrm>
          <a:prstGeom prst="rect">
            <a:avLst/>
          </a:prstGeom>
          <a:noFill/>
        </p:spPr>
        <p:txBody>
          <a:bodyPr wrap="none" lIns="27432" tIns="18288" rIns="27432" bIns="18288">
            <a:spAutoFit/>
          </a:bodyPr>
          <a:lstStyle/>
          <a:p>
            <a:r>
              <a:rPr sz="2100" b="1">
                <a:solidFill>
                  <a:srgbClr val="5C2684"/>
                </a:solidFill>
                <a:latin typeface="Arial"/>
              </a:rPr>
              <a:t>Recommended Adoption Path</a:t>
            </a:r>
          </a:p>
        </p:txBody>
      </p:sp>
      <p:sp>
        <p:nvSpPr>
          <p:cNvPr id="3" name="TextBox 2"/>
          <p:cNvSpPr txBox="1"/>
          <p:nvPr/>
        </p:nvSpPr>
        <p:spPr>
          <a:xfrm>
            <a:off x="329184" y="749808"/>
            <a:ext cx="9875520" cy="237744"/>
          </a:xfrm>
          <a:prstGeom prst="rect">
            <a:avLst/>
          </a:prstGeom>
          <a:noFill/>
        </p:spPr>
        <p:txBody>
          <a:bodyPr wrap="none" lIns="27432" tIns="18288" rIns="27432" bIns="18288">
            <a:spAutoFit/>
          </a:bodyPr>
          <a:lstStyle/>
          <a:p>
            <a:r>
              <a:rPr sz="850" b="0">
                <a:solidFill>
                  <a:srgbClr val="5F5F5F"/>
                </a:solidFill>
                <a:latin typeface="Arial"/>
              </a:rPr>
              <a:t>Move from reusable asset to standard operating model through controlled enablement</a:t>
            </a:r>
          </a:p>
        </p:txBody>
      </p:sp>
      <p:sp>
        <p:nvSpPr>
          <p:cNvPr id="4" name="Rectangle 3"/>
          <p:cNvSpPr/>
          <p:nvPr/>
        </p:nvSpPr>
        <p:spPr>
          <a:xfrm>
            <a:off x="320040" y="1024128"/>
            <a:ext cx="10515600" cy="27432"/>
          </a:xfrm>
          <a:prstGeom prst="rect">
            <a:avLst/>
          </a:prstGeom>
          <a:solidFill>
            <a:srgbClr val="00B3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411480" y="1234440"/>
            <a:ext cx="1874519" cy="1051560"/>
          </a:xfrm>
          <a:prstGeom prst="roundRect">
            <a:avLst/>
          </a:prstGeom>
          <a:solidFill>
            <a:srgbClr val="F4F1FA"/>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1. Approve baseline</a:t>
            </a:r>
          </a:p>
          <a:p>
            <a:pPr>
              <a:spcBef>
                <a:spcPts val="400"/>
              </a:spcBef>
            </a:pPr>
            <a:r>
              <a:rPr sz="830">
                <a:solidFill>
                  <a:srgbClr val="2D2D2D"/>
                </a:solidFill>
                <a:latin typeface="Arial"/>
              </a:rPr>
              <a:t>Agree framework scope, core templates, and quality bar.</a:t>
            </a:r>
          </a:p>
        </p:txBody>
      </p:sp>
      <p:sp>
        <p:nvSpPr>
          <p:cNvPr id="6" name="Rounded Rectangle 5"/>
          <p:cNvSpPr/>
          <p:nvPr/>
        </p:nvSpPr>
        <p:spPr>
          <a:xfrm>
            <a:off x="2542032" y="1234440"/>
            <a:ext cx="1874519" cy="1051560"/>
          </a:xfrm>
          <a:prstGeom prst="roundRect">
            <a:avLst/>
          </a:prstGeom>
          <a:solidFill>
            <a:srgbClr val="F1F9FA"/>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2. Package assets</a:t>
            </a:r>
          </a:p>
          <a:p>
            <a:pPr>
              <a:spcBef>
                <a:spcPts val="400"/>
              </a:spcBef>
            </a:pPr>
            <a:r>
              <a:rPr sz="830">
                <a:solidFill>
                  <a:srgbClr val="2D2D2D"/>
                </a:solidFill>
                <a:latin typeface="Arial"/>
              </a:rPr>
              <a:t>Centralize templates, scoring models, and guidance.</a:t>
            </a:r>
          </a:p>
        </p:txBody>
      </p:sp>
      <p:sp>
        <p:nvSpPr>
          <p:cNvPr id="7" name="Rounded Rectangle 6"/>
          <p:cNvSpPr/>
          <p:nvPr/>
        </p:nvSpPr>
        <p:spPr>
          <a:xfrm>
            <a:off x="4672584" y="1234440"/>
            <a:ext cx="1874519" cy="1051560"/>
          </a:xfrm>
          <a:prstGeom prst="roundRect">
            <a:avLst/>
          </a:prstGeom>
          <a:solidFill>
            <a:srgbClr val="F4F1FA"/>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3. Train teams</a:t>
            </a:r>
          </a:p>
          <a:p>
            <a:pPr>
              <a:spcBef>
                <a:spcPts val="400"/>
              </a:spcBef>
            </a:pPr>
            <a:r>
              <a:rPr sz="830">
                <a:solidFill>
                  <a:srgbClr val="2D2D2D"/>
                </a:solidFill>
                <a:latin typeface="Arial"/>
              </a:rPr>
              <a:t>Enable architects and PMs through examples and playbooks.</a:t>
            </a:r>
          </a:p>
        </p:txBody>
      </p:sp>
      <p:sp>
        <p:nvSpPr>
          <p:cNvPr id="8" name="Rounded Rectangle 7"/>
          <p:cNvSpPr/>
          <p:nvPr/>
        </p:nvSpPr>
        <p:spPr>
          <a:xfrm>
            <a:off x="6803136" y="1234440"/>
            <a:ext cx="1874519" cy="1051560"/>
          </a:xfrm>
          <a:prstGeom prst="roundRect">
            <a:avLst/>
          </a:prstGeom>
          <a:solidFill>
            <a:srgbClr val="F1F9FA"/>
          </a:solidFill>
          <a:ln w="16510">
            <a:solidFill>
              <a:srgbClr val="179467"/>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4. Pilot engagements</a:t>
            </a:r>
          </a:p>
          <a:p>
            <a:pPr>
              <a:spcBef>
                <a:spcPts val="400"/>
              </a:spcBef>
            </a:pPr>
            <a:r>
              <a:rPr sz="830">
                <a:solidFill>
                  <a:srgbClr val="2D2D2D"/>
                </a:solidFill>
                <a:latin typeface="Arial"/>
              </a:rPr>
              <a:t>Apply to selected opportunities and capture lessons learned.</a:t>
            </a:r>
          </a:p>
        </p:txBody>
      </p:sp>
      <p:sp>
        <p:nvSpPr>
          <p:cNvPr id="9" name="Rounded Rectangle 8"/>
          <p:cNvSpPr/>
          <p:nvPr/>
        </p:nvSpPr>
        <p:spPr>
          <a:xfrm>
            <a:off x="8933688" y="1234440"/>
            <a:ext cx="1874519" cy="1051560"/>
          </a:xfrm>
          <a:prstGeom prst="roundRect">
            <a:avLst/>
          </a:prstGeom>
          <a:solidFill>
            <a:srgbClr val="F4F1FA"/>
          </a:solidFill>
          <a:ln w="16510">
            <a:solidFill>
              <a:srgbClr val="ECB11F"/>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050" b="1">
                <a:solidFill>
                  <a:srgbClr val="5C2684"/>
                </a:solidFill>
                <a:latin typeface="Arial"/>
              </a:rPr>
              <a:t>5. Standardize</a:t>
            </a:r>
          </a:p>
          <a:p>
            <a:pPr>
              <a:spcBef>
                <a:spcPts val="400"/>
              </a:spcBef>
            </a:pPr>
            <a:r>
              <a:rPr sz="830">
                <a:solidFill>
                  <a:srgbClr val="2D2D2D"/>
                </a:solidFill>
                <a:latin typeface="Arial"/>
              </a:rPr>
              <a:t>Make the framework part of CRA delivery governance.</a:t>
            </a:r>
          </a:p>
        </p:txBody>
      </p:sp>
      <p:sp>
        <p:nvSpPr>
          <p:cNvPr id="10" name="Rounded Rectangle 9"/>
          <p:cNvSpPr/>
          <p:nvPr/>
        </p:nvSpPr>
        <p:spPr>
          <a:xfrm>
            <a:off x="685800" y="3337560"/>
            <a:ext cx="2971800" cy="1005840"/>
          </a:xfrm>
          <a:prstGeom prst="roundRect">
            <a:avLst/>
          </a:prstGeom>
          <a:solidFill>
            <a:srgbClr val="FAFAFC"/>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Quality gate</a:t>
            </a:r>
          </a:p>
          <a:p>
            <a:pPr>
              <a:spcBef>
                <a:spcPts val="400"/>
              </a:spcBef>
            </a:pPr>
            <a:r>
              <a:rPr sz="880">
                <a:solidFill>
                  <a:srgbClr val="2D2D2D"/>
                </a:solidFill>
                <a:latin typeface="Arial"/>
              </a:rPr>
              <a:t>Each engagement should have an evidence map, TCO assumptions, and recommendation logic.</a:t>
            </a:r>
          </a:p>
        </p:txBody>
      </p:sp>
      <p:sp>
        <p:nvSpPr>
          <p:cNvPr id="11" name="Rounded Rectangle 10"/>
          <p:cNvSpPr/>
          <p:nvPr/>
        </p:nvSpPr>
        <p:spPr>
          <a:xfrm>
            <a:off x="4023360" y="3337560"/>
            <a:ext cx="2971800" cy="1005840"/>
          </a:xfrm>
          <a:prstGeom prst="roundRect">
            <a:avLst/>
          </a:prstGeom>
          <a:solidFill>
            <a:srgbClr val="FAFAFC"/>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Commercial gate</a:t>
            </a:r>
          </a:p>
          <a:p>
            <a:pPr>
              <a:spcBef>
                <a:spcPts val="400"/>
              </a:spcBef>
            </a:pPr>
            <a:r>
              <a:rPr sz="880">
                <a:solidFill>
                  <a:srgbClr val="2D2D2D"/>
                </a:solidFill>
                <a:latin typeface="Arial"/>
              </a:rPr>
              <a:t>Validate assumptions, discounts, licensing levers, and hyperscaler comparison.</a:t>
            </a:r>
          </a:p>
        </p:txBody>
      </p:sp>
      <p:sp>
        <p:nvSpPr>
          <p:cNvPr id="12" name="Rounded Rectangle 11"/>
          <p:cNvSpPr/>
          <p:nvPr/>
        </p:nvSpPr>
        <p:spPr>
          <a:xfrm>
            <a:off x="7360920" y="3337560"/>
            <a:ext cx="2971800" cy="1005840"/>
          </a:xfrm>
          <a:prstGeom prst="roundRect">
            <a:avLst/>
          </a:prstGeom>
          <a:solidFill>
            <a:srgbClr val="FAFAFC"/>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1150" b="1">
                <a:solidFill>
                  <a:srgbClr val="5C2684"/>
                </a:solidFill>
                <a:latin typeface="Arial"/>
              </a:rPr>
              <a:t>Delivery gate</a:t>
            </a:r>
          </a:p>
          <a:p>
            <a:pPr>
              <a:spcBef>
                <a:spcPts val="400"/>
              </a:spcBef>
            </a:pPr>
            <a:r>
              <a:rPr sz="880">
                <a:solidFill>
                  <a:srgbClr val="2D2D2D"/>
                </a:solidFill>
                <a:latin typeface="Arial"/>
              </a:rPr>
              <a:t>Confirm outputs are ready for roadmap, runbooks, waves, owners, and next steps.</a:t>
            </a:r>
          </a:p>
        </p:txBody>
      </p:sp>
      <p:sp>
        <p:nvSpPr>
          <p:cNvPr id="13" name="TextBox 12"/>
          <p:cNvSpPr txBox="1"/>
          <p:nvPr/>
        </p:nvSpPr>
        <p:spPr>
          <a:xfrm>
            <a:off x="5212080" y="6592824"/>
            <a:ext cx="4297680" cy="109728"/>
          </a:xfrm>
          <a:prstGeom prst="rect">
            <a:avLst/>
          </a:prstGeom>
          <a:noFill/>
        </p:spPr>
        <p:txBody>
          <a:bodyPr wrap="none" lIns="27432" tIns="18288" rIns="27432" bIns="18288">
            <a:spAutoFit/>
          </a:bodyPr>
          <a:lstStyle/>
          <a:p>
            <a:r>
              <a:rPr sz="550" b="0">
                <a:solidFill>
                  <a:srgbClr val="5F5F5F"/>
                </a:solidFill>
                <a:latin typeface="Arial"/>
              </a:rPr>
              <a:t>Cloud Readiness Accelerator | Professional Services Delivery Architecture</a:t>
            </a:r>
          </a:p>
        </p:txBody>
      </p:sp>
      <p:sp>
        <p:nvSpPr>
          <p:cNvPr id="14" name="TextBox 13"/>
          <p:cNvSpPr txBox="1"/>
          <p:nvPr/>
        </p:nvSpPr>
        <p:spPr>
          <a:xfrm>
            <a:off x="10561320" y="6601968"/>
            <a:ext cx="228600" cy="109728"/>
          </a:xfrm>
          <a:prstGeom prst="rect">
            <a:avLst/>
          </a:prstGeom>
          <a:noFill/>
        </p:spPr>
        <p:txBody>
          <a:bodyPr wrap="none" lIns="27432" tIns="18288" rIns="27432" bIns="18288">
            <a:spAutoFit/>
          </a:bodyPr>
          <a:lstStyle/>
          <a:p>
            <a:pPr algn="r"/>
            <a:r>
              <a:rPr sz="550" b="0">
                <a:solidFill>
                  <a:srgbClr val="5F5F5F"/>
                </a:solidFill>
                <a:latin typeface="Arial"/>
              </a:rPr>
              <a:t>13</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5800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image.png"/>
          <p:cNvPicPr>
            <a:picLocks noChangeAspect="1"/>
          </p:cNvPicPr>
          <p:nvPr/>
        </p:nvPicPr>
        <p:blipFill>
          <a:blip r:embed="rId3"/>
          <a:stretch>
            <a:fillRect/>
          </a:stretch>
        </p:blipFill>
        <p:spPr>
          <a:xfrm>
            <a:off x="4389120" y="0"/>
            <a:ext cx="6217920" cy="3681663"/>
          </a:xfrm>
          <a:prstGeom prst="rect">
            <a:avLst/>
          </a:prstGeom>
        </p:spPr>
      </p:pic>
      <p:pic>
        <p:nvPicPr>
          <p:cNvPr id="4" name="Picture 3" descr="image.png"/>
          <p:cNvPicPr>
            <a:picLocks noChangeAspect="1"/>
          </p:cNvPicPr>
          <p:nvPr/>
        </p:nvPicPr>
        <p:blipFill>
          <a:blip r:embed="rId4"/>
          <a:stretch>
            <a:fillRect/>
          </a:stretch>
        </p:blipFill>
        <p:spPr>
          <a:xfrm>
            <a:off x="320040" y="6126480"/>
            <a:ext cx="1051560" cy="325984"/>
          </a:xfrm>
          <a:prstGeom prst="rect">
            <a:avLst/>
          </a:prstGeom>
        </p:spPr>
      </p:pic>
      <p:sp>
        <p:nvSpPr>
          <p:cNvPr id="5" name="TextBox 4"/>
          <p:cNvSpPr txBox="1"/>
          <p:nvPr/>
        </p:nvSpPr>
        <p:spPr>
          <a:xfrm>
            <a:off x="502920" y="868680"/>
            <a:ext cx="4114800" cy="548640"/>
          </a:xfrm>
          <a:prstGeom prst="rect">
            <a:avLst/>
          </a:prstGeom>
          <a:noFill/>
        </p:spPr>
        <p:txBody>
          <a:bodyPr wrap="none" lIns="27432" tIns="18288" rIns="27432" bIns="18288">
            <a:spAutoFit/>
          </a:bodyPr>
          <a:lstStyle/>
          <a:p>
            <a:r>
              <a:rPr sz="2800" b="0">
                <a:solidFill>
                  <a:srgbClr val="FFFFFF"/>
                </a:solidFill>
                <a:latin typeface="Arial"/>
              </a:rPr>
              <a:t>Thank you</a:t>
            </a:r>
          </a:p>
        </p:txBody>
      </p:sp>
      <p:sp>
        <p:nvSpPr>
          <p:cNvPr id="6" name="TextBox 5"/>
          <p:cNvSpPr txBox="1"/>
          <p:nvPr/>
        </p:nvSpPr>
        <p:spPr>
          <a:xfrm>
            <a:off x="530352" y="1828800"/>
            <a:ext cx="3840480" cy="320040"/>
          </a:xfrm>
          <a:prstGeom prst="rect">
            <a:avLst/>
          </a:prstGeom>
          <a:noFill/>
        </p:spPr>
        <p:txBody>
          <a:bodyPr wrap="none" lIns="27432" tIns="18288" rIns="27432" bIns="18288">
            <a:spAutoFit/>
          </a:bodyPr>
          <a:lstStyle/>
          <a:p>
            <a:r>
              <a:rPr sz="1200" b="0">
                <a:solidFill>
                  <a:srgbClr val="FFFFFF"/>
                </a:solidFill>
                <a:latin typeface="Arial"/>
              </a:rPr>
              <a:t>Cloud Readiness Accelerator</a:t>
            </a:r>
          </a:p>
        </p:txBody>
      </p:sp>
      <p:sp>
        <p:nvSpPr>
          <p:cNvPr id="7" name="TextBox 6"/>
          <p:cNvSpPr txBox="1"/>
          <p:nvPr/>
        </p:nvSpPr>
        <p:spPr>
          <a:xfrm>
            <a:off x="530352" y="2148840"/>
            <a:ext cx="4754880" cy="256032"/>
          </a:xfrm>
          <a:prstGeom prst="rect">
            <a:avLst/>
          </a:prstGeom>
          <a:noFill/>
        </p:spPr>
        <p:txBody>
          <a:bodyPr wrap="none" lIns="27432" tIns="18288" rIns="27432" bIns="18288">
            <a:spAutoFit/>
          </a:bodyPr>
          <a:lstStyle/>
          <a:p>
            <a:r>
              <a:rPr sz="869" b="0">
                <a:solidFill>
                  <a:srgbClr val="DCDCDC"/>
                </a:solidFill>
                <a:latin typeface="Arial"/>
              </a:rPr>
              <a:t>Reusable Enterprise Multi-Cloud Assessment Framework</a:t>
            </a:r>
          </a:p>
        </p:txBody>
      </p:sp>
      <p:sp>
        <p:nvSpPr>
          <p:cNvPr id="8" name="Rounded Rectangle 7"/>
          <p:cNvSpPr/>
          <p:nvPr/>
        </p:nvSpPr>
        <p:spPr>
          <a:xfrm>
            <a:off x="548640" y="3246120"/>
            <a:ext cx="2423160" cy="749808"/>
          </a:xfrm>
          <a:prstGeom prst="roundRect">
            <a:avLst/>
          </a:prstGeom>
          <a:solidFill>
            <a:srgbClr val="FFFFFF"/>
          </a:solidFill>
          <a:ln w="16510">
            <a:solidFill>
              <a:srgbClr val="E1142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919" b="1">
                <a:solidFill>
                  <a:srgbClr val="5C2684"/>
                </a:solidFill>
                <a:latin typeface="Arial"/>
              </a:rPr>
              <a:t>Framework Repository</a:t>
            </a:r>
          </a:p>
          <a:p>
            <a:pPr>
              <a:spcBef>
                <a:spcPts val="400"/>
              </a:spcBef>
            </a:pPr>
            <a:r>
              <a:rPr sz="680">
                <a:solidFill>
                  <a:srgbClr val="2D2D2D"/>
                </a:solidFill>
                <a:latin typeface="Arial"/>
              </a:rPr>
              <a:t>github.com/upendra-29003/Cloud-Readiness-Accelerator</a:t>
            </a:r>
          </a:p>
        </p:txBody>
      </p:sp>
      <p:sp>
        <p:nvSpPr>
          <p:cNvPr id="9" name="Rounded Rectangle 8"/>
          <p:cNvSpPr/>
          <p:nvPr/>
        </p:nvSpPr>
        <p:spPr>
          <a:xfrm>
            <a:off x="3429000" y="3246120"/>
            <a:ext cx="2423160" cy="749808"/>
          </a:xfrm>
          <a:prstGeom prst="roundRect">
            <a:avLst/>
          </a:prstGeom>
          <a:solidFill>
            <a:srgbClr val="FFFFFF"/>
          </a:solidFill>
          <a:ln w="16510">
            <a:solidFill>
              <a:srgbClr val="009AAE"/>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919" b="1">
                <a:solidFill>
                  <a:srgbClr val="5C2684"/>
                </a:solidFill>
                <a:latin typeface="Arial"/>
              </a:rPr>
              <a:t>Contact</a:t>
            </a:r>
          </a:p>
          <a:p>
            <a:pPr>
              <a:spcBef>
                <a:spcPts val="400"/>
              </a:spcBef>
            </a:pPr>
            <a:r>
              <a:rPr sz="680">
                <a:solidFill>
                  <a:srgbClr val="2D2D2D"/>
                </a:solidFill>
                <a:latin typeface="Arial"/>
              </a:rPr>
              <a:t>Upendra Kumar, Professional Services Delivery Architect</a:t>
            </a:r>
          </a:p>
        </p:txBody>
      </p:sp>
      <p:sp>
        <p:nvSpPr>
          <p:cNvPr id="10" name="Rounded Rectangle 9"/>
          <p:cNvSpPr/>
          <p:nvPr/>
        </p:nvSpPr>
        <p:spPr>
          <a:xfrm>
            <a:off x="6309359" y="3246120"/>
            <a:ext cx="2423160" cy="749808"/>
          </a:xfrm>
          <a:prstGeom prst="roundRect">
            <a:avLst/>
          </a:prstGeom>
          <a:solidFill>
            <a:srgbClr val="FFFFFF"/>
          </a:solidFill>
          <a:ln w="16510">
            <a:solidFill>
              <a:srgbClr val="5C2684"/>
            </a:solidFill>
          </a:ln>
        </p:spPr>
        <p:style>
          <a:lnRef idx="1">
            <a:schemeClr val="accent1"/>
          </a:lnRef>
          <a:fillRef idx="3">
            <a:schemeClr val="accent1"/>
          </a:fillRef>
          <a:effectRef idx="2">
            <a:schemeClr val="accent1"/>
          </a:effectRef>
          <a:fontRef idx="minor">
            <a:schemeClr val="lt1"/>
          </a:fontRef>
        </p:style>
        <p:txBody>
          <a:bodyPr lIns="109728" tIns="91440" rIns="109728" bIns="73152" rtlCol="0" anchor="ctr"/>
          <a:lstStyle/>
          <a:p>
            <a:pPr algn="ctr"/>
            <a:r>
              <a:rPr sz="919" b="1">
                <a:solidFill>
                  <a:srgbClr val="5C2684"/>
                </a:solidFill>
                <a:latin typeface="Arial"/>
              </a:rPr>
              <a:t>Practice</a:t>
            </a:r>
          </a:p>
          <a:p>
            <a:pPr>
              <a:spcBef>
                <a:spcPts val="400"/>
              </a:spcBef>
            </a:pPr>
            <a:r>
              <a:rPr sz="680">
                <a:solidFill>
                  <a:srgbClr val="2D2D2D"/>
                </a:solidFill>
                <a:latin typeface="Arial"/>
              </a:rPr>
              <a:t>Multi-Cloud Assessment &amp; Migration</a:t>
            </a:r>
          </a:p>
        </p:txBody>
      </p:sp>
      <p:sp>
        <p:nvSpPr>
          <p:cNvPr id="11" name="TextBox 10"/>
          <p:cNvSpPr txBox="1"/>
          <p:nvPr/>
        </p:nvSpPr>
        <p:spPr>
          <a:xfrm>
            <a:off x="548640" y="4937760"/>
            <a:ext cx="6309360" cy="548640"/>
          </a:xfrm>
          <a:prstGeom prst="rect">
            <a:avLst/>
          </a:prstGeom>
          <a:noFill/>
        </p:spPr>
        <p:txBody>
          <a:bodyPr wrap="none" lIns="27432" tIns="18288" rIns="27432" bIns="18288">
            <a:spAutoFit/>
          </a:bodyPr>
          <a:lstStyle/>
          <a:p>
            <a:r>
              <a:rPr sz="950" b="0">
                <a:solidFill>
                  <a:srgbClr val="FFFFFF"/>
                </a:solidFill>
                <a:latin typeface="Arial"/>
              </a:rPr>
              <a:t>Framework is ready for practice-wide adoption with reusable templates, documented methodology, and governance-ready delivery structure.</a:t>
            </a:r>
          </a:p>
        </p:txBody>
      </p:sp>
      <p:sp>
        <p:nvSpPr>
          <p:cNvPr id="12" name="TextBox 11"/>
          <p:cNvSpPr txBox="1"/>
          <p:nvPr/>
        </p:nvSpPr>
        <p:spPr>
          <a:xfrm>
            <a:off x="9372600" y="5806440"/>
            <a:ext cx="1188720" cy="411480"/>
          </a:xfrm>
          <a:prstGeom prst="rect">
            <a:avLst/>
          </a:prstGeom>
          <a:noFill/>
        </p:spPr>
        <p:txBody>
          <a:bodyPr wrap="none" lIns="27432" tIns="18288" rIns="27432" bIns="18288">
            <a:spAutoFit/>
          </a:bodyPr>
          <a:lstStyle/>
          <a:p>
            <a:pPr algn="r"/>
            <a:r>
              <a:rPr sz="850" b="1">
                <a:solidFill>
                  <a:srgbClr val="FFFFFF"/>
                </a:solidFill>
                <a:latin typeface="Arial"/>
              </a:rPr>
              <a:t>Customer First.
Cloud First.</a:t>
            </a:r>
          </a:p>
        </p:txBody>
      </p:sp>
    </p:spTree>
  </p:cSld>
  <p:clrMapOvr>
    <a:masterClrMapping/>
  </p:clrMapOvr>
</p:sld>
</file>

<file path=ppt/theme/theme1.xml><?xml version="1.0" encoding="utf-8"?>
<a:theme xmlns:a="http://schemas.openxmlformats.org/drawingml/2006/main" name="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0BAECED5-D2FA-4AB6-BDCE-7A4DC20C2143}"/>
    </a:ext>
  </a:extLst>
</a:theme>
</file>

<file path=ppt/theme/theme2.xml><?xml version="1.0" encoding="utf-8"?>
<a:theme xmlns:a="http://schemas.openxmlformats.org/drawingml/2006/main" name="1_Content Slides">
  <a:themeElements>
    <a:clrScheme name="RXT2020">
      <a:dk1>
        <a:srgbClr val="000000"/>
      </a:dk1>
      <a:lt1>
        <a:srgbClr val="FFFFFF"/>
      </a:lt1>
      <a:dk2>
        <a:srgbClr val="EB0000"/>
      </a:dk2>
      <a:lt2>
        <a:srgbClr val="EB0000"/>
      </a:lt2>
      <a:accent1>
        <a:srgbClr val="E6E6E6"/>
      </a:accent1>
      <a:accent2>
        <a:srgbClr val="95008A"/>
      </a:accent2>
      <a:accent3>
        <a:srgbClr val="F6D7F4"/>
      </a:accent3>
      <a:accent4>
        <a:srgbClr val="0059C8"/>
      </a:accent4>
      <a:accent5>
        <a:srgbClr val="D8EBF9"/>
      </a:accent5>
      <a:accent6>
        <a:srgbClr val="00BEBC"/>
      </a:accent6>
      <a:hlink>
        <a:srgbClr val="EB0000"/>
      </a:hlink>
      <a:folHlink>
        <a:srgbClr val="EB0000"/>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1800"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5E6EA557-0305-46A3-ADF1-D52C877C392A}"/>
    </a:ext>
  </a:extLst>
</a:theme>
</file>

<file path=ppt/theme/theme3.xml><?xml version="1.0" encoding="utf-8"?>
<a:theme xmlns:a="http://schemas.openxmlformats.org/drawingml/2006/main" name="1_Titles and Breakers">
  <a:themeElements>
    <a:clrScheme name="RACKSPACE COLORS">
      <a:dk1>
        <a:sysClr val="windowText" lastClr="000000"/>
      </a:dk1>
      <a:lt1>
        <a:sysClr val="window" lastClr="FFFFFF"/>
      </a:lt1>
      <a:dk2>
        <a:srgbClr val="EB0000"/>
      </a:dk2>
      <a:lt2>
        <a:srgbClr val="EB0000"/>
      </a:lt2>
      <a:accent1>
        <a:srgbClr val="E6E6E6"/>
      </a:accent1>
      <a:accent2>
        <a:srgbClr val="95008A"/>
      </a:accent2>
      <a:accent3>
        <a:srgbClr val="F6D7F4"/>
      </a:accent3>
      <a:accent4>
        <a:srgbClr val="3300FC"/>
      </a:accent4>
      <a:accent5>
        <a:srgbClr val="E8F2FD"/>
      </a:accent5>
      <a:accent6>
        <a:srgbClr val="00C8BC"/>
      </a:accent6>
      <a:hlink>
        <a:srgbClr val="EB0000"/>
      </a:hlink>
      <a:folHlink>
        <a:srgbClr val="4472C4"/>
      </a:folHlink>
    </a:clrScheme>
    <a:fontScheme name="Custom 17">
      <a:majorFont>
        <a:latin typeface="Arial"/>
        <a:ea typeface=""/>
        <a:cs typeface=""/>
      </a:majorFont>
      <a:minorFont>
        <a:latin typeface="Arial"/>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sz="36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3600" dirty="0" err="1" smtClean="0"/>
        </a:defPPr>
      </a:lstStyle>
    </a:txDef>
  </a:objectDefaults>
  <a:extraClrSchemeLst/>
  <a:extLst>
    <a:ext uri="{05A4C25C-085E-4340-85A3-A5531E510DB2}">
      <thm15:themeFamily xmlns:thm15="http://schemas.microsoft.com/office/thememl/2012/main" name="Rackspace Presentation Template-Updated_July 2021" id="{9DC0DFF7-4B98-4262-B9B0-4787C784AF89}" vid="{6BC1B7C2-A54B-4E6B-BC00-FBFF31B13FE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88EDB08-C564-D545-8C74-F0B6A2375E3B}">
  <we:reference id="wa104379997" version="2.0.0.0" store="en-US" storeType="OMEX"/>
  <we:alternateReferences>
    <we:reference id="wa104379997" version="2.0.0.0" store="WA10437999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FE635C2F985974BBE3352C31BC8AA9A" ma:contentTypeVersion="25" ma:contentTypeDescription="Create a new document." ma:contentTypeScope="" ma:versionID="26b046c95ade1aec96e195209e90c433">
  <xsd:schema xmlns:xsd="http://www.w3.org/2001/XMLSchema" xmlns:xs="http://www.w3.org/2001/XMLSchema" xmlns:p="http://schemas.microsoft.com/office/2006/metadata/properties" xmlns:ns2="f109a73b-17cb-4832-a9a9-365d35444d2b" xmlns:ns3="8837f82f-b140-48ff-8dc8-b79a3284d887" targetNamespace="http://schemas.microsoft.com/office/2006/metadata/properties" ma:root="true" ma:fieldsID="e0a05359a7c614a2dac603ba76419e8d" ns2:_="" ns3:_="">
    <xsd:import namespace="f109a73b-17cb-4832-a9a9-365d35444d2b"/>
    <xsd:import namespace="8837f82f-b140-48ff-8dc8-b79a3284d887"/>
    <xsd:element name="properties">
      <xsd:complexType>
        <xsd:sequence>
          <xsd:element name="documentManagement">
            <xsd:complexType>
              <xsd:all>
                <xsd:element ref="ns2:Notes0" minOccurs="0"/>
                <xsd:element ref="ns2:MediaServiceMetadata" minOccurs="0"/>
                <xsd:element ref="ns2:MediaServiceFastMetadata"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MediaServiceDateTaken" minOccurs="0"/>
                <xsd:element ref="ns2:MediaServiceLocation" minOccurs="0"/>
                <xsd:element ref="ns2:MediaServiceAutoKeyPoints" minOccurs="0"/>
                <xsd:element ref="ns2:MediaServiceKeyPoints" minOccurs="0"/>
                <xsd:element ref="ns2:MediaLengthInSeconds" minOccurs="0"/>
                <xsd:element ref="ns2:lcf76f155ced4ddcb4097134ff3c332f" minOccurs="0"/>
                <xsd:element ref="ns3:TaxCatchAll" minOccurs="0"/>
                <xsd:element ref="ns2:_Flow_SignoffStatus"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109a73b-17cb-4832-a9a9-365d35444d2b" elementFormDefault="qualified">
    <xsd:import namespace="http://schemas.microsoft.com/office/2006/documentManagement/types"/>
    <xsd:import namespace="http://schemas.microsoft.com/office/infopath/2007/PartnerControls"/>
    <xsd:element name="Notes0" ma:index="2" nillable="true" ma:displayName="Notes" ma:internalName="Notes0" ma:readOnly="false">
      <xsd:simpleType>
        <xsd:restriction base="dms:Note">
          <xsd:maxLength value="255"/>
        </xsd:restriction>
      </xsd:simpleType>
    </xsd:element>
    <xsd:element name="MediaServiceMetadata" ma:index="6" nillable="true" ma:displayName="MediaServiceMetadata" ma:hidden="true" ma:internalName="MediaServiceMetadata" ma:readOnly="true">
      <xsd:simpleType>
        <xsd:restriction base="dms:Note"/>
      </xsd:simpleType>
    </xsd:element>
    <xsd:element name="MediaServiceFastMetadata" ma:index="7" nillable="true" ma:displayName="MediaServiceFastMetadata" ma:hidden="true" ma:internalName="MediaServiceFastMetadata" ma:readOnly="true">
      <xsd:simpleType>
        <xsd:restriction base="dms:Note"/>
      </xsd:simpleType>
    </xsd:element>
    <xsd:element name="MediaServiceAutoTags" ma:index="10" nillable="true" ma:displayName="MediaServiceAutoTags" ma:hidden="true" ma:internalName="MediaServiceAutoTags" ma:readOnly="true">
      <xsd:simpleType>
        <xsd:restriction base="dms:Text"/>
      </xsd:simpleType>
    </xsd:element>
    <xsd:element name="MediaServiceOCR" ma:index="11" nillable="true" ma:displayName="MediaServiceOCR" ma:hidden="true" ma:internalName="MediaServiceOCR" ma:readOnly="true">
      <xsd:simpleType>
        <xsd:restriction base="dms:Note"/>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DateTaken" ma:index="15" nillable="true" ma:displayName="MediaServiceDateTaken" ma:hidden="true" ma:internalName="MediaServiceDateTaken" ma:readOnly="true">
      <xsd:simpleType>
        <xsd:restriction base="dms:Text"/>
      </xsd:simpleType>
    </xsd:element>
    <xsd:element name="MediaServiceLocation" ma:index="16" nillable="true" ma:displayName="Location" ma:hidden="true" ma:internalName="MediaServiceLocation"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hidden="true" ma:internalName="MediaServiceKeyPoints" ma:readOnly="true">
      <xsd:simpleType>
        <xsd:restriction base="dms:Note"/>
      </xsd:simpleType>
    </xsd:element>
    <xsd:element name="MediaLengthInSeconds" ma:index="19" nillable="true" ma:displayName="Length (seconds)" ma:hidden="true" ma:internalName="MediaLengthInSeconds" ma:readOnly="true">
      <xsd:simpleType>
        <xsd:restriction base="dms:Unknown"/>
      </xsd:simpleType>
    </xsd:element>
    <xsd:element name="lcf76f155ced4ddcb4097134ff3c332f" ma:index="23" nillable="true" ma:taxonomy="true" ma:internalName="lcf76f155ced4ddcb4097134ff3c332f" ma:taxonomyFieldName="MediaServiceImageTags" ma:displayName="Image Tags" ma:readOnly="false" ma:fieldId="{5cf76f15-5ced-4ddc-b409-7134ff3c332f}" ma:taxonomyMulti="true" ma:sspId="2de1bf74-4a37-48ce-b614-74b37de43851" ma:termSetId="09814cd3-568e-fe90-9814-8d621ff8fb84" ma:anchorId="fba54fb3-c3e1-fe81-a776-ca4b69148c4d" ma:open="true" ma:isKeyword="false">
      <xsd:complexType>
        <xsd:sequence>
          <xsd:element ref="pc:Terms" minOccurs="0" maxOccurs="1"/>
        </xsd:sequence>
      </xsd:complexType>
    </xsd:element>
    <xsd:element name="_Flow_SignoffStatus" ma:index="25" nillable="true" ma:displayName="Sign-off status" ma:internalName="Sign_x002d_off_x0020_status">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8837f82f-b140-48ff-8dc8-b79a3284d887" elementFormDefault="qualified">
    <xsd:import namespace="http://schemas.microsoft.com/office/2006/documentManagement/types"/>
    <xsd:import namespace="http://schemas.microsoft.com/office/infopath/2007/PartnerControls"/>
    <xsd:element name="SharedWithUsers" ma:index="8"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hidden="true" ma:internalName="SharedWithDetails" ma:readOnly="true">
      <xsd:simpleType>
        <xsd:restriction base="dms:Note"/>
      </xsd:simpleType>
    </xsd:element>
    <xsd:element name="TaxCatchAll" ma:index="24" nillable="true" ma:displayName="Taxonomy Catch All Column" ma:hidden="true" ma:list="{1056ef75-36ba-45c4-a822-6a4ed75eddf7}" ma:internalName="TaxCatchAll" ma:showField="CatchAllData" ma:web="8837f82f-b140-48ff-8dc8-b79a3284d88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Notes0 xmlns="f109a73b-17cb-4832-a9a9-365d35444d2b" xsi:nil="true"/>
    <TaxCatchAll xmlns="8837f82f-b140-48ff-8dc8-b79a3284d887" xsi:nil="true"/>
    <lcf76f155ced4ddcb4097134ff3c332f xmlns="f109a73b-17cb-4832-a9a9-365d35444d2b">
      <Terms xmlns="http://schemas.microsoft.com/office/infopath/2007/PartnerControls"/>
    </lcf76f155ced4ddcb4097134ff3c332f>
    <_Flow_SignoffStatus xmlns="f109a73b-17cb-4832-a9a9-365d35444d2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3FFCF9C-521E-42CE-B805-C010EDCD665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109a73b-17cb-4832-a9a9-365d35444d2b"/>
    <ds:schemaRef ds:uri="8837f82f-b140-48ff-8dc8-b79a3284d88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B89F961D-86E7-463C-B09D-E3314B2C6EB5}">
  <ds:schemaRefs>
    <ds:schemaRef ds:uri="http://purl.org/dc/elements/1.1/"/>
    <ds:schemaRef ds:uri="http://schemas.microsoft.com/office/2006/documentManagement/types"/>
    <ds:schemaRef ds:uri="http://schemas.microsoft.com/office/2006/metadata/properties"/>
    <ds:schemaRef ds:uri="http://schemas.openxmlformats.org/package/2006/metadata/core-properties"/>
    <ds:schemaRef ds:uri="f109a73b-17cb-4832-a9a9-365d35444d2b"/>
    <ds:schemaRef ds:uri="http://purl.org/dc/terms/"/>
    <ds:schemaRef ds:uri="http://schemas.microsoft.com/office/infopath/2007/PartnerControls"/>
    <ds:schemaRef ds:uri="http://www.w3.org/XML/1998/namespace"/>
    <ds:schemaRef ds:uri="8837f82f-b140-48ff-8dc8-b79a3284d887"/>
    <ds:schemaRef ds:uri="http://purl.org/dc/dcmitype/"/>
  </ds:schemaRefs>
</ds:datastoreItem>
</file>

<file path=customXml/itemProps3.xml><?xml version="1.0" encoding="utf-8"?>
<ds:datastoreItem xmlns:ds="http://schemas.openxmlformats.org/officeDocument/2006/customXml" ds:itemID="{8FAAEEFA-AAF2-4C9B-A431-2549B0747BF4}">
  <ds:schemaRefs>
    <ds:schemaRef ds:uri="http://schemas.microsoft.com/sharepoint/v3/contenttype/forms"/>
  </ds:schemaRefs>
</ds:datastoreItem>
</file>

<file path=docMetadata/LabelInfo.xml><?xml version="1.0" encoding="utf-8"?>
<clbl:labelList xmlns:clbl="http://schemas.microsoft.com/office/2020/mipLabelMetadata">
  <clbl:label id="{e7f09a8f-df31-4464-b100-d09a5dbff5c8}" enabled="1" method="Standard" siteId="{570057f4-73ef-41c8-bcbb-08db2fc15c2b}" removed="0"/>
</clbl:labelList>
</file>

<file path=docProps/app.xml><?xml version="1.0" encoding="utf-8"?>
<Properties xmlns="http://schemas.openxmlformats.org/officeDocument/2006/extended-properties" xmlns:vt="http://schemas.openxmlformats.org/officeDocument/2006/docPropsVTypes">
  <Template>Content Slides</Template>
  <TotalTime>1168</TotalTime>
  <Words>5978</Words>
  <Application>Microsoft Office PowerPoint</Application>
  <PresentationFormat>Widescreen</PresentationFormat>
  <Paragraphs>480</Paragraphs>
  <Slides>14</Slides>
  <Notes>14</Notes>
  <HiddenSlides>0</HiddenSlides>
  <MMClips>0</MMClips>
  <ScaleCrop>false</ScaleCrop>
  <HeadingPairs>
    <vt:vector size="6" baseType="variant">
      <vt:variant>
        <vt:lpstr>Fonts Used</vt:lpstr>
      </vt:variant>
      <vt:variant>
        <vt:i4>2</vt:i4>
      </vt:variant>
      <vt:variant>
        <vt:lpstr>Theme</vt:lpstr>
      </vt:variant>
      <vt:variant>
        <vt:i4>3</vt:i4>
      </vt:variant>
      <vt:variant>
        <vt:lpstr>Slide Titles</vt:lpstr>
      </vt:variant>
      <vt:variant>
        <vt:i4>14</vt:i4>
      </vt:variant>
    </vt:vector>
  </HeadingPairs>
  <TitlesOfParts>
    <vt:vector size="19" baseType="lpstr">
      <vt:lpstr>Arial</vt:lpstr>
      <vt:lpstr>Calibri</vt:lpstr>
      <vt:lpstr>Content Slides</vt:lpstr>
      <vt:lpstr>1_Content Slides</vt:lpstr>
      <vt:lpstr>1_Titles and Breakers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Rackspace Technology template</dc:title>
  <dc:subject/>
  <dc:creator>Upendra Kumar</dc:creator>
  <cp:keywords/>
  <dc:description/>
  <cp:lastModifiedBy>Upendra Kumar</cp:lastModifiedBy>
  <cp:revision>34</cp:revision>
  <dcterms:created xsi:type="dcterms:W3CDTF">2022-08-11T21:20:29Z</dcterms:created>
  <dcterms:modified xsi:type="dcterms:W3CDTF">2026-04-30T06:22:59Z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0x010100DFE635C2F985974BBE3352C31BC8AA9A</vt:lpwstr>
  </property>
</Properties>
</file>